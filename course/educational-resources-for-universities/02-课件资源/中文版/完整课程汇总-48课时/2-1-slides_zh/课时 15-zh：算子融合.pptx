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notesSlides/notesSlide1.xml" Type="http://schemas.openxmlformats.org/officeDocument/2006/relationships/notesSlide"/><Relationship Id="rId38" Target="notesSlides/notesSlide2.xml" Type="http://schemas.openxmlformats.org/officeDocument/2006/relationships/notesSlide"/><Relationship Id="rId39" Target="notesSlides/notesSlide3.xml" Type="http://schemas.openxmlformats.org/officeDocument/2006/relationships/notesSlide"/><Relationship Id="rId4" Target="slideMasters/slideMaster1.xml" Type="http://schemas.openxmlformats.org/officeDocument/2006/relationships/slideMaster"/><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notesMasters/notesMaster1.xml" Type="http://schemas.openxmlformats.org/officeDocument/2006/relationships/notesMaster"/><Relationship Id="rId60" Target="notesSlides/notesSlide24.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本讲聚焦于算子融合这一关键技术。在深度学习领域，算子融合正发挥着越来越重要的作用。它能对计算图进行优化，将多个独立算子合并为一个单一算子执行。这种技术不仅能带来减少内存带宽占用、降低Kernel Launch开销等显著优势，还能提升缓存利用率和计算密度。不过，算子融合也可能带来寄存器压力、指令缓存压力等问题。因此，深入研究算子融合，对推动深度学习发展意义重大。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今天的课程分为两部分。第一部分讲算子融合的基本概念和原理，包括算子在系统中的完整生命周期、算子融合的定义与收益、以及融合可能带来的副作用和反面案例。第二部分以Fused Softmax为具体例子，把算子融合的思想落地到一个完整的Triton实现上，深入讲解其中的若干工程优化技巧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讨论算子融合之前，我们先建立一个整体认知：一个算子，从用户写下的Python代码，到最终在GPU硬件上执行，中间经历了哪些层次的处理？先看框架层。第一步是图规范化。深度学习框架拿到用户定义的模型后，会将高层的复合算子——比如一整个TransformerBlock——拆解为细粒度的基础原语，如MatMul、Softmax、LayerNorm等，并建立标准的中间表示，也就是IR。常见的IR形式包括MLIR和XLA HLO。第二步，框架通过数据流分析计算每个张量的生命周期，也就是一个张量从被创建到最后一次被使用之间的时间窗口，以此来决定并行策略和内存复用方案。第三步，将优化后的计算图Lowering为设备相关的代码，并在必要的位置插入同步原语，确保计算的正确顺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接着看运行时层和硬件层。在运行时层，框架为每个算子准备好执行所需的上下文参数，包括设备内存指针、共享内存大小、Stream ID等，然后发起Kernel Launch，将执行请求提交给GPU驱动。到了硬件层，GPU的执行流程可以用一条简洁的数据流描述：从Global Memory读取输入数据，送入计算单元处理，再将结果写回Global Memory。这个流程看似简单，但从Nsight的时间线图中可以看到，实际运行中存在大量细碎的Kernel交替执行和Memcpy操作，CPU和GPU之间也有频繁的交互。这些开销，正是算子融合要解决的核心问题之一。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在讲算子融合之前，先介绍一个相关的系统优化手段——CUDA Graph。CUDA Graph的思路是：将一系列GPU操作，包括Kernel执行和Memcpy，录制为一个静态的拓扑图，分两个阶段来使用。Capture阶段：记录所有Kernel的执行顺序、参数、显存地址和调度路径，构建出完整的执行图。Replay阶段：CPU只需发起一次极其轻量的指令，就能触发整个图在GPU上自动、完整地流转执行，完全不需要CPU逐个提交Kernel。从图示中对比两种场景可以看得很清楚。对于极小的GPU Kernel，传统的Stream Launch方式下，CPU需要反复发起Launch A、B、C、D、E，每次Launch都有不可忽略的延迟，CPU和GPU之间的握手开销甚至超过了Kernel本身的执行时间。使用CUDA Graph后，这部分开销被大幅压缩。对于普通大小的Kernel，Graph Launch同样能将CPU的空闲等待时间几乎消除，让GPU的执行更加紧凑连续。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CUDA Graph解决的是Kernel Launch的开销，而算子融合解决的是另一个更根本的问题：算子之间的数据传输开销。来看一个具体的例子。有一个由Conv、Scale/Bias、Max Pool三个算子串联组成的计算序列。在默认执行模式下，Conv计算完成后，必须将结果张量写回全局显存；Scale/Bias算子启动后，再从全局显存把这个中间结果读出来进行计算；之后Max Pool同理。每个算子之间都要经历一次"写回显存 + 读出显存"的往返。而如果采用算子融合，Element-wise操作天然地可以与前后的算子衔接——Conv的输出数据还在寄存器或共享内存中，就可以直接被Scale/Bias计算使用，根本不需要落地到全局显存。整个计算序列变成一个单一的融合Kernel，从外部看只有一次数据读入和一次数据写出，显存带宽消耗和Kernel启动次数都大幅减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来正式定义算子融合。算子融合，是指将计算图中多个独立的算子合并为一个单一算子执行的技术。在深度学习中，算子融合有三种典型的模式：垂直融合是最常见的形式，将计算上存在先后依赖的算子链合并，典型例子是 Conv + Bias + ReLU，这三个算子的数据流是线性的，完全可以在一个Kernel内完成。水平融合是将多个具有相同输入但参数不同的算子并行合并，最典型的是多个作用在同一输入上的GEMM操作，通过批量执行来提升硬件利用率。Reduction融合专门针对含有归约操作的算子序列，比如LayerNorm中的均值计算、方差计算和最终的缩放变换，这三步可以在数据不离开片上缓存的情况下连续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算子融合带来的优势可以从四个维度来理解。减少内存带宽占用：这是最核心的收益。融合后，算子之间的中间结果无需写回全局显存再读出，数据可以在寄存器或共享内存中直接流转，彻底消除了这部分冗余的显存读写。降低Kernel Launch开销：多个Kernel合并为一个，CPU与GPU之间的握手次数减少，对于计算量较小的算子序列，Launch开销的占比往往不容忽视。提升缓存利用率：数据在片上SRAM中被连续复用，不需要在每个算子边界处将数据驱逐出缓存再重新加载，缓存的有效利用率显著提高。提升计算密度：融合后的Kernel拥有更长的指令流，更多的计算操作可以有效掩盖内存访问延迟，让计算单元保持更高的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算子融合并非没有代价，它也会引入新的问题，需要我们认真权衡。</a:t>
            </a:r>
            <a:br>
              <a:rPr lang="en-US" b="false" i="false" strike="noStrike" u="none" sz="1400">
                <a:solidFill>
                  <a:srgbClr val="000000"/>
                </a:solidFill>
              </a:rPr>
            </a:br>
            <a:r>
              <a:rPr lang="en-US" b="false" i="false" strike="noStrike" u="none" sz="1400">
                <a:solidFill>
                  <a:srgbClr val="000000"/>
                </a:solidFill>
              </a:rPr>
              <a:t>核心矛盾是寄存器压力。GPU每个SM的寄存器总量是固定的，以A100为例大约是256KB每SM。当多个算子融合进一个Kernel后，单个线程需要同时保存更多的中间状态，每个线程占用的寄存器数量增加，从而导致每个线程块占用的总寄存器量上升，SM上能并发运行的线程块数量下降，最终表现为SM占用率降低，也就是活跃Warp数减少，GPU的延迟隐藏能力变弱。</a:t>
            </a:r>
            <a:br>
              <a:rPr lang="en-US" b="false" i="false" strike="noStrike" u="none" sz="1400">
                <a:solidFill>
                  <a:srgbClr val="000000"/>
                </a:solidFill>
              </a:rPr>
            </a:br>
            <a:r>
              <a:rPr lang="en-US" b="false" i="false" strike="noStrike" u="none" sz="1400">
                <a:solidFill>
                  <a:srgbClr val="000000"/>
                </a:solidFill>
              </a:rPr>
              <a:t>指令缓存压力也是一个实际问题。融合后的Kernel代码体积更大，可能超出硬件的指令缓存容量，导致指令缓存频繁失效，引入额外的指令加载延迟。</a:t>
            </a:r>
            <a:br>
              <a:rPr lang="en-US" b="false" i="false" strike="noStrike" u="none" sz="1400">
                <a:solidFill>
                  <a:srgbClr val="000000"/>
                </a:solidFill>
              </a:rPr>
            </a:br>
            <a:r>
              <a:rPr lang="en-US" b="false" i="false" strike="noStrike" u="none" sz="1400">
                <a:solidFill>
                  <a:srgbClr val="000000"/>
                </a:solidFill>
              </a:rPr>
              <a:t>因此，算子融合的设计需要在节省访存带宽与保持足够的计算并行度之间寻找平衡点，而不是无脑地把所有算子都堆进一个Kernel。</a:t>
            </a:r>
            <a:br>
              <a:rPr lang="en-US" b="false" i="false" strike="noStrike" u="none" sz="1400">
                <a:solidFill>
                  <a:srgbClr val="000000"/>
                </a:solidFill>
              </a:rPr>
            </a:b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接下来看两个真实的反面案例，加深对融合副作用的理解。</a:t>
            </a:r>
            <a:br>
              <a:rPr lang="en-US" b="false" i="false" strike="noStrike" u="none" sz="1400">
                <a:solidFill>
                  <a:srgbClr val="000000"/>
                </a:solidFill>
              </a:rPr>
            </a:br>
            <a:r>
              <a:rPr lang="en-US" b="false" i="false" strike="noStrike" u="none" sz="1400">
                <a:solidFill>
                  <a:srgbClr val="000000"/>
                </a:solidFill>
              </a:rPr>
              <a:t>第一个例子来自XLA编译器。场景描述如下：输入张量的强制内存布局是 {3, 2, 1, 0}，而其后的Custom-call算子要求的布局是 {1, 0, 2, 3}。两者布局不一致，在执行Add操作时，XLA发现两个输入的内存排列方式不匹配，为了对齐数据，必须插入一个额外的Copy操作来做布局转换。</a:t>
            </a:r>
            <a:br>
              <a:rPr lang="en-US" b="false" i="false" strike="noStrike" u="none" sz="1400">
                <a:solidFill>
                  <a:srgbClr val="000000"/>
                </a:solidFill>
              </a:rPr>
            </a:br>
            <a:r>
              <a:rPr lang="en-US" b="false" i="false" strike="noStrike" u="none" sz="1400">
                <a:solidFill>
                  <a:srgbClr val="000000"/>
                </a:solidFill>
              </a:rPr>
              <a:t>XLA为了减少Kernel启动开销，将Add与Copy强制融合成了一个Kernel。然而，这个决策适得其反：由于I/O布局的不一致，融合后的Kernel在访问内存时无法做到连续的合并访问，访存模式变成了随机跳跃，性能相比正常布局直接回退了9倍，从2.43ms劣化到了21.63ms。</a:t>
            </a:r>
            <a:br>
              <a:rPr lang="en-US" b="false" i="false" strike="noStrike" u="none" sz="1400">
                <a:solidFill>
                  <a:srgbClr val="000000"/>
                </a:solidFill>
              </a:rPr>
            </a:br>
            <a:r>
              <a:rPr lang="en-US" b="false" i="false" strike="noStrike" u="none" sz="1400">
                <a:solidFill>
                  <a:srgbClr val="000000"/>
                </a:solidFill>
              </a:rPr>
              <a:t>这个案例说明，内存访问模式是影响访存密集型算子性能的决定性因素，盲目融合而不考虑内存布局的一致性，反而会造成严重的性能退化。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第二个反面案例来自PyTorch社区的真实issue。</a:t>
            </a:r>
            <a:br>
              <a:rPr lang="en-US" b="false" i="false" strike="noStrike" u="none" sz="1400">
                <a:solidFill>
                  <a:srgbClr val="000000"/>
                </a:solidFill>
              </a:rPr>
            </a:br>
            <a:r>
              <a:rPr lang="en-US" b="false" i="false" strike="noStrike" u="none" sz="1400">
                <a:solidFill>
                  <a:srgbClr val="000000"/>
                </a:solidFill>
              </a:rPr>
              <a:t>PyTorch支持自动的Fused AdamW优化器，理论上应该比朴素版更快，但实测在A40 GPU上出现了性能暴跌的现象。</a:t>
            </a:r>
            <a:br>
              <a:rPr lang="en-US" b="false" i="false" strike="noStrike" u="none" sz="1400">
                <a:solidFill>
                  <a:srgbClr val="000000"/>
                </a:solidFill>
              </a:rPr>
            </a:br>
            <a:r>
              <a:rPr lang="en-US" b="false" i="false" strike="noStrike" u="none" sz="1400">
                <a:solidFill>
                  <a:srgbClr val="000000"/>
                </a:solidFill>
              </a:rPr>
              <a:t>经过分析，可能的原因有两点：</a:t>
            </a:r>
            <a:br>
              <a:rPr lang="en-US" b="false" i="false" strike="noStrike" u="none" sz="1400">
                <a:solidFill>
                  <a:srgbClr val="000000"/>
                </a:solidFill>
              </a:rPr>
            </a:br>
            <a:r>
              <a:rPr lang="en-US" b="false" i="false" strike="noStrike" u="none" sz="1400">
                <a:solidFill>
                  <a:srgbClr val="000000"/>
                </a:solidFill>
              </a:rPr>
              <a:t>第一，Fuse模式下单个Kernel使用的寄存器数量约为普通模式的一倍，直接导致SM占用率大幅下降，这正是我们上一页讨论的寄存器压力问题在实践中的体现。</a:t>
            </a:r>
            <a:br>
              <a:rPr lang="en-US" b="false" i="false" strike="noStrike" u="none" sz="1400">
                <a:solidFill>
                  <a:srgbClr val="000000"/>
                </a:solidFill>
              </a:rPr>
            </a:br>
            <a:r>
              <a:rPr lang="en-US" b="false" i="false" strike="noStrike" u="none" sz="1400">
                <a:solidFill>
                  <a:srgbClr val="000000"/>
                </a:solidFill>
              </a:rPr>
              <a:t>第二，Fused AdamW的触发粒度是按张量的，也就是Per-tensor模式，每个参数张量都会独立触发一次Kernel Launch，导致Kernel启动次数依然过多，叠加了大量Launch开销。</a:t>
            </a:r>
            <a:br>
              <a:rPr lang="en-US" b="false" i="false" strike="noStrike" u="none" sz="1400">
                <a:solidFill>
                  <a:srgbClr val="000000"/>
                </a:solidFill>
              </a:rPr>
            </a:br>
            <a:r>
              <a:rPr lang="en-US" b="false" i="false" strike="noStrike" u="none" sz="1400">
                <a:solidFill>
                  <a:srgbClr val="000000"/>
                </a:solidFill>
              </a:rPr>
              <a:t>从Profiler的时间线对比图上可以直观看到，Fused版本的整体耗时反而显著高于未融合版本。这个案例提醒我们：融合策略必须结合实际的硬件资源约束和调度粒度来设计，工程实现的细节直接决定最终效果。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好，前半部分我们系统地讲了算子融合的概念、收益、代价以及典型的失败案例。</a:t>
            </a:r>
            <a:br>
              <a:rPr lang="en-US" b="false" i="false" strike="noStrike" u="none" sz="1400">
                <a:solidFill>
                  <a:srgbClr val="000000"/>
                </a:solidFill>
              </a:rPr>
            </a:br>
            <a:r>
              <a:rPr lang="en-US" b="false" i="false" strike="noStrike" u="none" sz="1400">
                <a:solidFill>
                  <a:srgbClr val="000000"/>
                </a:solidFill>
              </a:rPr>
              <a:t>接下来进入课程的第二部分，我们以Fused Softmax为例，把前面的理论落实到一个完整的、可以真正跑起来的Triton实现上，看看工程上如何把算子融合做好。</a:t>
            </a:r>
            <a:br>
              <a:rPr lang="en-US" b="false" i="false" strike="noStrike" u="none" sz="1400">
                <a:solidFill>
                  <a:srgbClr val="000000"/>
                </a:solidFill>
              </a:rPr>
            </a:b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来看Softmax的朴素实现及其性能问题。</a:t>
            </a:r>
            <a:br>
              <a:rPr lang="en-US" b="false" i="false" strike="noStrike" u="none" sz="1400">
                <a:solidFill>
                  <a:srgbClr val="000000"/>
                </a:solidFill>
              </a:rPr>
            </a:br>
            <a:r>
              <a:rPr lang="en-US" b="false" i="false" strike="noStrike" u="none" sz="1400">
                <a:solidFill>
                  <a:srgbClr val="000000"/>
                </a:solidFill>
              </a:rPr>
              <a:t>Softmax的标准数值稳定公式为：</a:t>
            </a:r>
            <a:br>
              <a:rPr lang="en-US" b="false" i="false" strike="noStrike" u="none" sz="1400">
                <a:solidFill>
                  <a:srgbClr val="000000"/>
                </a:solidFill>
              </a:rPr>
            </a:br>
            <a:r>
              <a:rPr lang="en-US" b="false" i="false" strike="noStrike" u="none" sz="1400">
                <a:solidFill>
                  <a:srgbClr val="000000"/>
                </a:solidFill>
              </a:rPr>
              <a:t/>
            </a:r>
            <a:br>
              <a:rPr lang="en-US" b="false" i="false" strike="noStrike" u="none" sz="1400">
                <a:solidFill>
                  <a:srgbClr val="000000"/>
                </a:solidFill>
              </a:rPr>
            </a:br>
            <a:r>
              <a:rPr lang="en-US" b="false" i="false" strike="noStrike" u="none" sz="1400">
                <a:solidFill>
                  <a:srgbClr val="000000"/>
                </a:solidFill>
              </a:rPr>
              <a:t>softmax(xᵢ) = exp(xᵢ − max(x)) / Σⱼ exp(xⱼ − max(x))</a:t>
            </a:r>
            <a:br>
              <a:rPr lang="en-US" b="false" i="false" strike="noStrike" u="none" sz="1400">
                <a:solidFill>
                  <a:srgbClr val="000000"/>
                </a:solidFill>
              </a:rPr>
            </a:br>
            <a:r>
              <a:rPr lang="en-US" b="false" i="false" strike="noStrike" u="none" sz="1400">
                <a:solidFill>
                  <a:srgbClr val="000000"/>
                </a:solidFill>
              </a:rPr>
              <a:t/>
            </a:r>
            <a:br>
              <a:rPr lang="en-US" b="false" i="false" strike="noStrike" u="none" sz="1400">
                <a:solidFill>
                  <a:srgbClr val="000000"/>
                </a:solidFill>
              </a:rPr>
            </a:br>
            <a:r>
              <a:rPr lang="en-US" b="false" i="false" strike="noStrike" u="none" sz="1400">
                <a:solidFill>
                  <a:srgbClr val="000000"/>
                </a:solidFill>
              </a:rPr>
              <a:t>减去最大值是为了避免exp运算的数值溢出，Softmax的输出对这个平移是不变的。</a:t>
            </a:r>
            <a:br>
              <a:rPr lang="en-US" b="false" i="false" strike="noStrike" u="none" sz="1400">
                <a:solidFill>
                  <a:srgbClr val="000000"/>
                </a:solidFill>
              </a:rPr>
            </a:br>
            <a:r>
              <a:rPr lang="en-US" b="false" i="false" strike="noStrike" u="none" sz="1400">
                <a:solidFill>
                  <a:srgbClr val="000000"/>
                </a:solidFill>
              </a:rPr>
              <a:t>看朴素的PyTorch实现，执行流程分为四步：先求每行的最大值（读取MN个元素，写出M个）；再做减法得到平移后的矩阵（读取MN+M个元素，写出MN个）；再逐元素做exp（读取MN个，写出MN个）；然后对每行求和（读取MN个，写出M个）；最后做除法归一化（读取MN+M个，写出MN个）。</a:t>
            </a:r>
            <a:br>
              <a:rPr lang="en-US" b="false" i="false" strike="noStrike" u="none" sz="1400">
                <a:solidFill>
                  <a:srgbClr val="000000"/>
                </a:solidFill>
              </a:rPr>
            </a:br>
            <a:r>
              <a:rPr lang="en-US" b="false" i="false" strike="noStrike" u="none" sz="1400">
                <a:solidFill>
                  <a:srgbClr val="000000"/>
                </a:solidFill>
              </a:rPr>
              <a:t>把所有的读写加起来：总计读取5MN+2M个元素，写入3MN+2M个元素。每一步都要将中间结果落地到全局显存，再被下一步重新读取，造成极其严重的带宽浪费。这是朴素实现的根本性能瓶颈。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明确了问题所在，算子融合的解法思路就很自然了。</a:t>
            </a:r>
            <a:br>
              <a:rPr lang="en-US" b="false" i="false" strike="noStrike" u="none" sz="1400">
                <a:solidFill>
                  <a:srgbClr val="000000"/>
                </a:solidFill>
              </a:rPr>
            </a:br>
            <a:r>
              <a:rPr lang="en-US" b="false" i="false" strike="noStrike" u="none" sz="1400">
                <a:solidFill>
                  <a:srgbClr val="000000"/>
                </a:solidFill>
              </a:rPr>
              <a:t>核心策略是SRAM Residency：让数据在片上尽量不离开，直到所有计算都完成再统一写回。</a:t>
            </a:r>
            <a:br>
              <a:rPr lang="en-US" b="false" i="false" strike="noStrike" u="none" sz="1400">
                <a:solidFill>
                  <a:srgbClr val="000000"/>
                </a:solidFill>
              </a:rPr>
            </a:br>
            <a:r>
              <a:rPr lang="en-US" b="false" i="false" strike="noStrike" u="none" sz="1400">
                <a:solidFill>
                  <a:srgbClr val="000000"/>
                </a:solidFill>
              </a:rPr>
              <a:t>具体分三步：</a:t>
            </a:r>
            <a:br>
              <a:rPr lang="en-US" b="false" i="false" strike="noStrike" u="none" sz="1400">
                <a:solidFill>
                  <a:srgbClr val="000000"/>
                </a:solidFill>
              </a:rPr>
            </a:br>
            <a:r>
              <a:rPr lang="en-US" b="false" i="false" strike="noStrike" u="none" sz="1400">
                <a:solidFill>
                  <a:srgbClr val="000000"/>
                </a:solidFill>
              </a:rPr>
              <a:t>Load阶段：所有线程并行协作，将一整行数据从Global Memory读取进来，存放在共享内存中。这一步是必须的Global Memory访问，无可避免。</a:t>
            </a:r>
            <a:br>
              <a:rPr lang="en-US" b="false" i="false" strike="noStrike" u="none" sz="1400">
                <a:solidFill>
                  <a:srgbClr val="000000"/>
                </a:solidFill>
              </a:rPr>
            </a:br>
            <a:r>
              <a:rPr lang="en-US" b="false" i="false" strike="noStrike" u="none" sz="1400">
                <a:solidFill>
                  <a:srgbClr val="000000"/>
                </a:solidFill>
              </a:rPr>
              <a:t>Sync &amp; Reduce阶段：在片上的共享内存内部，对这行数据进行多轮迭代——先求最大值，再做减法，再做exp，再求和。整个过程完全在片上高速完成，不消耗任何显存带宽。在CUDA中，每一步需要显式调用__syncthreads()来同步，而在Triton中这个同步是自动实现的。</a:t>
            </a:r>
            <a:br>
              <a:rPr lang="en-US" b="false" i="false" strike="noStrike" u="none" sz="1400">
                <a:solidFill>
                  <a:srgbClr val="000000"/>
                </a:solidFill>
              </a:rPr>
            </a:br>
            <a:r>
              <a:rPr lang="en-US" b="false" i="false" strike="noStrike" u="none" sz="1400">
                <a:solidFill>
                  <a:srgbClr val="000000"/>
                </a:solidFill>
              </a:rPr>
              <a:t>Write阶段：最终计算完成的归一化结果才会被写回Global Memory。对于每一行数据，从头到尾只有一次读入和一次写出，显存带宽消耗降到了理论下限。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现在来看具体的Triton代码实现，先关注数据的加载和写回流程。</a:t>
            </a:r>
            <a:br>
              <a:rPr lang="en-US" b="false" i="false" strike="noStrike" u="none" sz="1400">
                <a:solidFill>
                  <a:srgbClr val="000000"/>
                </a:solidFill>
              </a:rPr>
            </a:br>
            <a:r>
              <a:rPr lang="en-US" b="false" i="false" strike="noStrike" u="none" sz="1400">
                <a:solidFill>
                  <a:srgbClr val="000000"/>
                </a:solidFill>
              </a:rPr>
              <a:t>整个Kernel采用Grid-Stride Loop的方式，每个Program处理一行或多行数据。对于每一行：</a:t>
            </a:r>
            <a:br>
              <a:rPr lang="en-US" b="false" i="false" strike="noStrike" u="none" sz="1400">
                <a:solidFill>
                  <a:srgbClr val="000000"/>
                </a:solidFill>
              </a:rPr>
            </a:br>
            <a:r>
              <a:rPr lang="en-US" b="false" i="false" strike="noStrike" u="none" sz="1400">
                <a:solidFill>
                  <a:srgbClr val="000000"/>
                </a:solidFill>
              </a:rPr>
              <a:t>首先是内存指针计算。根据row_idx和input_row_stride计算出当前行的起始指针row_start_ptr，再用tl.arange(0, BLOCK_SIZE)生成列偏移，得到input_ptrs，这就是本行所有元素的地址向量。</a:t>
            </a:r>
            <a:br>
              <a:rPr lang="en-US" b="false" i="false" strike="noStrike" u="none" sz="1400">
                <a:solidFill>
                  <a:srgbClr val="000000"/>
                </a:solidFill>
              </a:rPr>
            </a:br>
            <a:r>
              <a:rPr lang="en-US" b="false" i="false" strike="noStrike" u="none" sz="1400">
                <a:solidFill>
                  <a:srgbClr val="000000"/>
                </a:solidFill>
              </a:rPr>
              <a:t>然后是加载。调用tl.load(input_ptrs, mask=mask, other=-float('inf'))将整行数据加载进来。注意这里用了mask来处理列数不是BLOCK_SIZE整数倍的边界情况，越界位置填充负无穷，确保后续的max操作不受干扰。</a:t>
            </a:r>
            <a:br>
              <a:rPr lang="en-US" b="false" i="false" strike="noStrike" u="none" sz="1400">
                <a:solidFill>
                  <a:srgbClr val="000000"/>
                </a:solidFill>
              </a:rPr>
            </a:br>
            <a:r>
              <a:rPr lang="en-US" b="false" i="false" strike="noStrike" u="none" sz="1400">
                <a:solidFill>
                  <a:srgbClr val="000000"/>
                </a:solidFill>
              </a:rPr>
              <a:t>数据加载进来后，立刻在片上完成max、sub、exp、sum等所有计算，这部分的细节我们下一页展开。</a:t>
            </a:r>
            <a:br>
              <a:rPr lang="en-US" b="false" i="false" strike="noStrike" u="none" sz="1400">
                <a:solidFill>
                  <a:srgbClr val="000000"/>
                </a:solidFill>
              </a:rPr>
            </a:br>
            <a:r>
              <a:rPr lang="en-US" b="false" i="false" strike="noStrike" u="none" sz="1400">
                <a:solidFill>
                  <a:srgbClr val="000000"/>
                </a:solidFill>
              </a:rPr>
              <a:t>最后是写回。同样先计算输出指针，再调用tl.store将最终结果写回Global Memory，整行只有这一次写操作。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这一页重点看Kernel中算子融合的具体实现。</a:t>
            </a:r>
            <a:br>
              <a:rPr lang="en-US" b="false" i="false" strike="noStrike" u="none" sz="1400">
                <a:solidFill>
                  <a:srgbClr val="000000"/>
                </a:solidFill>
              </a:rPr>
            </a:br>
            <a:r>
              <a:rPr lang="en-US" b="false" i="false" strike="noStrike" u="none" sz="1400">
                <a:solidFill>
                  <a:srgbClr val="000000"/>
                </a:solidFill>
              </a:rPr>
              <a:t>代码高亮的核心计算部分，短短四行就完成了原本需要多个独立Kernel才能做完的事情：tl.max、tl.exp、tl.sum以及最后的除法，对应的正是原来的Max、Sub、Exp、Sum四个独立操作，全部融合进了一个Kernel，数据始终在寄存器和共享内存中流转，没有任何中间落地的全局显存读写。</a:t>
            </a:r>
            <a:br>
              <a:rPr lang="en-US" b="false" i="false" strike="noStrike" u="none" sz="1400">
                <a:solidFill>
                  <a:srgbClr val="000000"/>
                </a:solidFill>
              </a:rPr>
            </a:br>
            <a:r>
              <a:rPr lang="en-US" b="false" i="false" strike="noStrike" u="none" sz="1400">
                <a:solidFill>
                  <a:srgbClr val="000000"/>
                </a:solidFill>
              </a:rPr>
              <a:t>右侧的图示展示了tl.sum内部的树状归约结构——Triton自动将这个求和操作实现为并行的归约树，开发者无需手写任何Warp Shuffle逻辑。这正是Triton在访存密集型算子开发上比手写CUDA更高效的重要原因。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光有Kernel还不够，Host端的启动代码同样有很多精心设计的优化点。我们分三页来讲，这一页先看静态内核特化。</a:t>
            </a:r>
            <a:br>
              <a:rPr lang="en-US" b="false" i="false" strike="noStrike" u="none" sz="1400">
                <a:solidFill>
                  <a:srgbClr val="000000"/>
                </a:solidFill>
              </a:rPr>
            </a:br>
            <a:r>
              <a:rPr lang="en-US" b="false" i="false" strike="noStrike" u="none" sz="1400">
                <a:solidFill>
                  <a:srgbClr val="000000"/>
                </a:solidFill>
              </a:rPr>
              <a:t>第一步，BLOCK_SIZE = triton.next_power_of_2(n_cols)，将输入的列数向上对齐到最近的2的幂次。这样做有两个好处：一是确保tl.arange生成的索引可以覆盖完整的数据行，用mask处理尾部；二是BLOCK_SIZE成为了编译时已知的常量。</a:t>
            </a:r>
            <a:br>
              <a:rPr lang="en-US" b="false" i="false" strike="noStrike" u="none" sz="1400">
                <a:solidFill>
                  <a:srgbClr val="000000"/>
                </a:solidFill>
              </a:rPr>
            </a:br>
            <a:r>
              <a:rPr lang="en-US" b="false" i="false" strike="noStrike" u="none" sz="1400">
                <a:solidFill>
                  <a:srgbClr val="000000"/>
                </a:solidFill>
              </a:rPr>
              <a:t>这一点非常关键。当BLOCK_SIZE是编译时常量时，Triton的JIT编译器可以对这个参数执行完全循环展开，将所有的循环迭代在编译阶段展开为直接的指令序列，彻底消除运行时的循环控制开销和分支预测压力。这是一个典型的以特化换性能的编译优化技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第二步关注占用率的精确计算。</a:t>
            </a:r>
            <a:br>
              <a:rPr lang="en-US" b="false" i="false" strike="noStrike" u="none" sz="1400">
                <a:solidFill>
                  <a:srgbClr val="000000"/>
                </a:solidFill>
              </a:rPr>
            </a:br>
            <a:r>
              <a:rPr lang="en-US" b="false" i="false" strike="noStrike" u="none" sz="1400">
                <a:solidFill>
                  <a:srgbClr val="000000"/>
                </a:solidFill>
              </a:rPr>
              <a:t>代码先通过softmax_kernel.warmup(...)对Kernel进行预热编译，探测其在当前BLOCK_SIZE和num_warps配置下实际消耗的寄存器数量n_regs和共享内存大小size_smem。</a:t>
            </a:r>
            <a:br>
              <a:rPr lang="en-US" b="false" i="false" strike="noStrike" u="none" sz="1400">
                <a:solidFill>
                  <a:srgbClr val="000000"/>
                </a:solidFill>
              </a:rPr>
            </a:br>
            <a:r>
              <a:rPr lang="en-US" b="false" i="false" strike="noStrike" u="none" sz="1400">
                <a:solidFill>
                  <a:srgbClr val="000000"/>
                </a:solidFill>
              </a:rPr>
              <a:t>然后据此计算出每个SM能并发运行多少个这样的Block，也就是Occupancy：这个计算同时考虑了寄存器约束和共享内存约束，取二者中的较小值，得到实际的并发Block数上限。</a:t>
            </a:r>
            <a:br>
              <a:rPr lang="en-US" b="false" i="false" strike="noStrike" u="none" sz="1400">
                <a:solidFill>
                  <a:srgbClr val="000000"/>
                </a:solidFill>
              </a:rPr>
            </a:br>
            <a:r>
              <a:rPr lang="en-US" b="false" i="false" strike="noStrike" u="none" sz="1400">
                <a:solidFill>
                  <a:srgbClr val="000000"/>
                </a:solidFill>
              </a:rPr>
              <a:t>为什么要做这一步而不是直接用一个经验值？因为不同的BLOCK_SIZE和num_warps配置会导致寄存器和共享内存消耗显著不同，只有通过实际探测才能得到准确的Occupancy，进而在第三步做出最优的Grid大小决策，最大化每个SM的活跃Warp数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第三步是持久化网格启动，也叫Grid-Stride Loop模式。</a:t>
            </a:r>
            <a:br>
              <a:rPr lang="en-US" b="false" i="false" strike="noStrike" u="none" sz="1400">
                <a:solidFill>
                  <a:srgbClr val="000000"/>
                </a:solidFill>
              </a:rPr>
            </a:br>
            <a:r>
              <a:rPr lang="en-US" b="false" i="false" strike="noStrike" u="none" sz="1400">
                <a:solidFill>
                  <a:srgbClr val="000000"/>
                </a:solidFill>
              </a:rPr>
              <a:t>传统做法是按行数启动对应数量的Block，有多少行就启动多少个Block。但这会带来两个问题：行数可能远超GPU的实际并发能力，导致Block排队等待的调度开销；行数较少时GPU又会大量空闲。</a:t>
            </a:r>
            <a:br>
              <a:rPr lang="en-US" b="false" i="false" strike="noStrike" u="none" sz="1400">
                <a:solidFill>
                  <a:srgbClr val="000000"/>
                </a:solidFill>
              </a:rPr>
            </a:br>
            <a:r>
              <a:rPr lang="en-US" b="false" i="false" strike="noStrike" u="none" sz="1400">
                <a:solidFill>
                  <a:srgbClr val="000000"/>
                </a:solidFill>
              </a:rPr>
              <a:t>这里采用的策略是将网格大小与数据量完全解耦，启动的Block总数固定为GPU满载时能并发运行的数量，既喂饱所有SM，又不产生排队等待。当数据行数多于Block数时，每个Block内部通过跨步循环依次处理多行数据，直到所有行都处理完毕。这就是Grid-Stride Loop的核心思想，它让GPU始终保持满负荷运转，同时避免了过量的Kernel Launch开销。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除了上述的显式设计外，Triton还自动帮我们处理了一些在CUDA中容易踩坑的优化点，第一个是连续寻址。</a:t>
            </a:r>
            <a:br>
              <a:rPr lang="en-US" b="false" i="false" strike="noStrike" u="none" sz="1400">
                <a:solidFill>
                  <a:srgbClr val="000000"/>
                </a:solidFill>
              </a:rPr>
            </a:br>
            <a:r>
              <a:rPr lang="en-US" b="false" i="false" strike="noStrike" u="none" sz="1400">
                <a:solidFill>
                  <a:srgbClr val="000000"/>
                </a:solidFill>
              </a:rPr>
              <a:t>在共享内存的树状归约过程中，如果采用交错寻址策略——也就是步长随着归约层数翻倍、活跃线程的间距不断扩大——会产生严重的共享内存Bank Conflict。</a:t>
            </a:r>
            <a:br>
              <a:rPr lang="en-US" b="false" i="false" strike="noStrike" u="none" sz="1400">
                <a:solidFill>
                  <a:srgbClr val="000000"/>
                </a:solidFill>
              </a:rPr>
            </a:br>
            <a:r>
              <a:rPr lang="en-US" b="false" i="false" strike="noStrike" u="none" sz="1400">
                <a:solidFill>
                  <a:srgbClr val="000000"/>
                </a:solidFill>
              </a:rPr>
              <a:t>Bank Conflict的原因是：共享内存在硬件上被划分为若干个等宽的Bank，同一个Warp内的多个线程如果在同一时钟周期内访问了同一个Bank的不同地址，访问请求就会被序列化，导致实际的共享内存带宽大幅下降。从图示中可以看到，交错寻址时随着步长增加，越来越多的线程会落在同一个Bank上，冲突越来越严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解决Bank Conflict的方法是改用连续寻址策略：确保在每一轮归约中，活跃线程访问的是地址连续的共享内存位置，不同线程被均匀分配到不同的Bank上，实现无冲突的并行访问，从而最大化共享内存带宽。</a:t>
            </a:r>
            <a:br>
              <a:rPr lang="en-US" b="false" i="false" strike="noStrike" u="none" sz="1400">
                <a:solidFill>
                  <a:srgbClr val="000000"/>
                </a:solidFill>
              </a:rPr>
            </a:br>
            <a:r>
              <a:rPr lang="en-US" b="false" i="false" strike="noStrike" u="none" sz="1400">
                <a:solidFill>
                  <a:srgbClr val="000000"/>
                </a:solidFill>
              </a:rPr>
              <a:t>从图示可以看出，连续寻址下每一步的活跃线程都是从低ID开始紧密排列的，每个线程访问的Bank彼此不同，不存在冲突。</a:t>
            </a:r>
            <a:br>
              <a:rPr lang="en-US" b="false" i="false" strike="noStrike" u="none" sz="1400">
                <a:solidFill>
                  <a:srgbClr val="000000"/>
                </a:solidFill>
              </a:rPr>
            </a:br>
            <a:r>
              <a:rPr lang="en-US" b="false" i="false" strike="noStrike" u="none" sz="1400">
                <a:solidFill>
                  <a:srgbClr val="000000"/>
                </a:solidFill>
              </a:rPr>
              <a:t>更值得关注的是Triton的编程模型设计：在Triton中，通过显式调用tl.arange(0, BLOCK_SIZE)来生成列偏移，再与行起始指针相加得到input_ptrs，这种方式强制生成了连续索引，从语言层面就避免了交错寻址的可能性。相比CUDA需要开发者手动选择正确的归约索引模式，Triton的抽象让正确的实现成为默认，大幅降低了出错的概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第二个隐藏优化是算法级联，这是一个来自并行算法理论的经典技巧。</a:t>
            </a:r>
            <a:br>
              <a:rPr lang="en-US" b="false" i="false" strike="noStrike" u="none" sz="1400">
                <a:solidFill>
                  <a:srgbClr val="000000"/>
                </a:solidFill>
              </a:rPr>
            </a:br>
            <a:r>
              <a:rPr lang="en-US" b="false" i="false" strike="noStrike" u="none" sz="1400">
                <a:solidFill>
                  <a:srgbClr val="000000"/>
                </a:solidFill>
              </a:rPr>
              <a:t>基本思路是：让每个物理线程承担更多的工作量，而不是让线程数与数据量严格一一对应。</a:t>
            </a:r>
            <a:br>
              <a:rPr lang="en-US" b="false" i="false" strike="noStrike" u="none" sz="1400">
                <a:solidFill>
                  <a:srgbClr val="000000"/>
                </a:solidFill>
              </a:rPr>
            </a:br>
            <a:r>
              <a:rPr lang="en-US" b="false" i="false" strike="noStrike" u="none" sz="1400">
                <a:solidFill>
                  <a:srgbClr val="000000"/>
                </a:solidFill>
              </a:rPr>
              <a:t>在Triton中，当BLOCK_SIZE远大于物理线程数时，编译器会自动让每个物理线程内部执行一个小循环，串行处理BLOCK_SIZE / thread_num个元素，再参与整体的并行归约。这相当于将"串行规约"和"并行规约"两个阶段级联起来。</a:t>
            </a:r>
            <a:br>
              <a:rPr lang="en-US" b="false" i="false" strike="noStrike" u="none" sz="1400">
                <a:solidFill>
                  <a:srgbClr val="000000"/>
                </a:solidFill>
              </a:rPr>
            </a:br>
            <a:r>
              <a:rPr lang="en-US" b="false" i="false" strike="noStrike" u="none" sz="1400">
                <a:solidFill>
                  <a:srgbClr val="000000"/>
                </a:solidFill>
              </a:rPr>
              <a:t>从理论层面用Brent定理来分析：</a:t>
            </a:r>
            <a:br>
              <a:rPr lang="en-US" b="false" i="false" strike="noStrike" u="none" sz="1400">
                <a:solidFill>
                  <a:srgbClr val="000000"/>
                </a:solidFill>
              </a:rPr>
            </a:br>
            <a:r>
              <a:rPr lang="en-US" b="false" i="false" strike="noStrike" u="none" sz="1400">
                <a:solidFill>
                  <a:srgbClr val="000000"/>
                </a:solidFill>
              </a:rPr>
              <a:t>朴素方案：分配O(N)个线程，并行归约深度O(log N)，总工作量O(N log N)，存在浪费。</a:t>
            </a:r>
            <a:br>
              <a:rPr lang="en-US" b="false" i="false" strike="noStrike" u="none" sz="1400">
                <a:solidFill>
                  <a:srgbClr val="000000"/>
                </a:solidFill>
              </a:rPr>
            </a:br>
            <a:r>
              <a:rPr lang="en-US" b="false" i="false" strike="noStrike" u="none" sz="1400">
                <a:solidFill>
                  <a:srgbClr val="000000"/>
                </a:solidFill>
              </a:rPr>
              <a:t>Brent定理优化方案：使用O(N/log N)个线程，每个线程先串行处理O(log N)个元素完成局部归约，然后O(N/log N)个线程协作进行O(log N)步并行归约。总工作量 = O(N/log N) × O(log N) = O(N)，达到了工作量最优，被称为"成本高效"。</a:t>
            </a:r>
            <a:br>
              <a:rPr lang="en-US" b="false" i="false" strike="noStrike" u="none" sz="1400">
                <a:solidFill>
                  <a:srgbClr val="000000"/>
                </a:solidFill>
              </a:rPr>
            </a:br>
            <a:r>
              <a:rPr lang="en-US" b="false" i="false" strike="noStrike" u="none" sz="1400">
                <a:solidFill>
                  <a:srgbClr val="000000"/>
                </a:solidFill>
              </a:rPr>
              <a:t>这个优化同时带来另一个好处：每个线程的工作量增加，使得算术操作对内存延迟的掩盖效果更好，GPU的延迟隐藏能力得到更充分的利用。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最后来看量化的性能对比结果，这是对前面所有优化工作的综合验证。</a:t>
            </a:r>
            <a:br>
              <a:rPr lang="en-US" b="false" i="false" strike="noStrike" u="none" sz="1400">
                <a:solidFill>
                  <a:srgbClr val="000000"/>
                </a:solidFill>
              </a:rPr>
            </a:br>
            <a:r>
              <a:rPr lang="en-US" b="false" i="false" strike="noStrike" u="none" sz="1400">
                <a:solidFill>
                  <a:srgbClr val="000000"/>
                </a:solidFill>
              </a:rPr>
              <a:t>图中对比了三条曲线：朴素Softmax实现（红线）、PyTorch原生Torch实现（绿线）和本节课讲解的Triton融合实现（蓝线），纵轴是显存带宽吞吐量，单位GB/s，横轴是序列长度N。</a:t>
            </a:r>
            <a:br>
              <a:rPr lang="en-US" b="false" i="false" strike="noStrike" u="none" sz="1400">
                <a:solidFill>
                  <a:srgbClr val="000000"/>
                </a:solidFill>
              </a:rPr>
            </a:br>
            <a:r>
              <a:rPr lang="en-US" b="false" i="false" strike="noStrike" u="none" sz="1400">
                <a:solidFill>
                  <a:srgbClr val="000000"/>
                </a:solidFill>
              </a:rPr>
              <a:t>从数据上可以清楚地看出几个规律：</a:t>
            </a:r>
            <a:br>
              <a:rPr lang="en-US" b="false" i="false" strike="noStrike" u="none" sz="1400">
                <a:solidFill>
                  <a:srgbClr val="000000"/>
                </a:solidFill>
              </a:rPr>
            </a:br>
            <a:r>
              <a:rPr lang="en-US" b="false" i="false" strike="noStrike" u="none" sz="1400">
                <a:solidFill>
                  <a:srgbClr val="000000"/>
                </a:solidFill>
              </a:rPr>
              <a:t>朴素实现始终维持在300-350 GB/s左右，远低于另外两者，这正是多次全局显存往返造成的带宽浪费。</a:t>
            </a:r>
            <a:br>
              <a:rPr lang="en-US" b="false" i="false" strike="noStrike" u="none" sz="1400">
                <a:solidFill>
                  <a:srgbClr val="000000"/>
                </a:solidFill>
              </a:rPr>
            </a:br>
            <a:r>
              <a:rPr lang="en-US" b="false" i="false" strike="noStrike" u="none" sz="1400">
                <a:solidFill>
                  <a:srgbClr val="000000"/>
                </a:solidFill>
              </a:rPr>
              <a:t>Triton实现在大多数序列长度下都能达到或超过1200 GB/s，峰值接近1400 GB/s，与Torch持平甚至在部分规格下略有超越，充分验证了算子融合配合连续寻址和算法级联等优化手段的有效性。</a:t>
            </a:r>
            <a:br>
              <a:rPr lang="en-US" b="false" i="false" strike="noStrike" u="none" sz="1400">
                <a:solidFill>
                  <a:srgbClr val="000000"/>
                </a:solidFill>
              </a:rPr>
            </a:br>
            <a:r>
              <a:rPr lang="en-US" b="false" i="false" strike="noStrike" u="none" sz="1400">
                <a:solidFill>
                  <a:srgbClr val="000000"/>
                </a:solidFill>
              </a:rPr>
              <a:t>Torch实现在某些特定序列长度处出现了明显的性能抖动，如N在1500附近的骤降，这很可能是PyTorch内部对不同BLOCK_SIZE分支选择不当或Kernel切换导致的，反映出通用库实现在极端情况下的鲁棒性不如专门优化的Kernel。</a:t>
            </a:r>
            <a:br>
              <a:rPr lang="en-US" b="false" i="false" strike="noStrike" u="none" sz="1400">
                <a:solidFill>
                  <a:srgbClr val="000000"/>
                </a:solidFill>
              </a:rPr>
            </a:br>
            <a:r>
              <a:rPr lang="en-US" b="false" i="false" strike="noStrike" u="none" sz="1400">
                <a:solidFill>
                  <a:srgbClr val="000000"/>
                </a:solidFill>
              </a:rPr>
              <a:t>整体来看，经过算子融合和精心调优的Triton Softmax实现，相比朴素实现有接近4倍的带宽吞吐提升，充分证明了本节课所讲优化方法的工程价值。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cxnSp>
        <p:nvCxnSpPr>
          <p:cNvPr name="Connector 3" id="3"/>
          <p:cNvCxnSpPr/>
          <p:nvPr/>
        </p:nvCxnSpPr>
        <p:spPr>
          <a:xfrm rot="0" flipH="false" flipV="false">
            <a:off x="3057525" y="31750"/>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sp>
        <p:nvSpPr>
          <p:cNvPr name="AutoShape 4" id="4"/>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7.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notesSlides/notesSlide23.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7.png" Type="http://schemas.openxmlformats.org/officeDocument/2006/relationships/image"/><Relationship Id="rId3" Target="../notesSlides/notesSlide24.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4.jpeg" Type="http://schemas.openxmlformats.org/officeDocument/2006/relationships/image"/><Relationship Id="rId13" Target="../media/image35.png" Type="http://schemas.openxmlformats.org/officeDocument/2006/relationships/image"/><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6.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15</a:t>
            </a:r>
            <a:r>
              <a:rPr lang="en-US" b="false" i="false" strike="noStrike" u="none" sz="5100">
                <a:solidFill>
                  <a:srgbClr val="262626"/>
                </a:solidFill>
                <a:latin typeface="微软雅黑"/>
                <a:ea typeface="微软雅黑"/>
                <a:cs typeface="微软雅黑"/>
                <a:sym typeface="微软雅黑"/>
              </a:rPr>
              <a:t>：算子融合</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算子融合</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例子：</a:t>
            </a:r>
            <a:r>
              <a:rPr lang="en-US" b="false" i="false" strike="noStrike" u="none" sz="2800">
                <a:solidFill>
                  <a:srgbClr val="404040"/>
                </a:solidFill>
                <a:latin typeface="Ebrima"/>
                <a:ea typeface="Ebrima"/>
                <a:cs typeface="Ebrima"/>
                <a:sym typeface="Ebrima"/>
              </a:rPr>
              <a:t>Fused Softmax</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从计算图到硬件执行：算子的生命周期内容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框架层：</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图规范化：将深度神经网络的高层复合算子（如</a:t>
            </a:r>
            <a:r>
              <a:rPr lang="en-US" b="false" i="false" strike="noStrike" u="none" sz="2000">
                <a:solidFill>
                  <a:srgbClr val="404040"/>
                </a:solidFill>
                <a:latin typeface="Calibri"/>
                <a:ea typeface="Calibri"/>
                <a:cs typeface="Calibri"/>
                <a:sym typeface="Calibri"/>
              </a:rPr>
              <a:t> TransformerBlock</a:t>
            </a:r>
            <a:r>
              <a:rPr lang="en-US" b="false" i="false" strike="noStrike" u="none" sz="2000">
                <a:solidFill>
                  <a:srgbClr val="404040"/>
                </a:solidFill>
                <a:latin typeface="微软雅黑"/>
                <a:ea typeface="微软雅黑"/>
                <a:cs typeface="微软雅黑"/>
                <a:sym typeface="微软雅黑"/>
              </a:rPr>
              <a:t>）拆解为细粒度原语（</a:t>
            </a:r>
            <a:r>
              <a:rPr lang="en-US" b="false" i="false" strike="noStrike" u="none" sz="2000">
                <a:solidFill>
                  <a:srgbClr val="404040"/>
                </a:solidFill>
                <a:latin typeface="Calibri"/>
                <a:ea typeface="Calibri"/>
                <a:cs typeface="Calibri"/>
                <a:sym typeface="Calibri"/>
              </a:rPr>
              <a:t>MatMul, Softmax, LayerNorm</a:t>
            </a:r>
            <a:r>
              <a:rPr lang="en-US" b="false" i="false" strike="noStrike" u="none" sz="2000">
                <a:solidFill>
                  <a:srgbClr val="404040"/>
                </a:solidFill>
                <a:latin typeface="微软雅黑"/>
                <a:ea typeface="微软雅黑"/>
                <a:cs typeface="微软雅黑"/>
                <a:sym typeface="微软雅黑"/>
              </a:rPr>
              <a:t>），建立标准</a:t>
            </a:r>
            <a:r>
              <a:rPr lang="en-US" b="false" i="false" strike="noStrike" u="none" sz="2000">
                <a:solidFill>
                  <a:srgbClr val="404040"/>
                </a:solidFill>
                <a:latin typeface="Calibri"/>
                <a:ea typeface="Calibri"/>
                <a:cs typeface="Calibri"/>
                <a:sym typeface="Calibri"/>
              </a:rPr>
              <a:t> IR</a:t>
            </a:r>
            <a:r>
              <a:rPr lang="en-US" b="false" i="false" strike="noStrike" u="none" sz="2000">
                <a:solidFill>
                  <a:srgbClr val="404040"/>
                </a:solidFill>
                <a:latin typeface="微软雅黑"/>
                <a:ea typeface="微软雅黑"/>
                <a:cs typeface="微软雅黑"/>
                <a:sym typeface="微软雅黑"/>
              </a:rPr>
              <a:t>（如</a:t>
            </a:r>
            <a:r>
              <a:rPr lang="en-US" b="false" i="false" strike="noStrike" u="none" sz="2000">
                <a:solidFill>
                  <a:srgbClr val="404040"/>
                </a:solidFill>
                <a:latin typeface="Calibri"/>
                <a:ea typeface="Calibri"/>
                <a:cs typeface="Calibri"/>
                <a:sym typeface="Calibri"/>
              </a:rPr>
              <a:t> MLIR</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XLA HLO</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通过数据流分析计算张量生命周期，决定并行策略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将优化后的计算图</a:t>
            </a:r>
            <a:r>
              <a:rPr lang="en-US" b="false" i="false" strike="noStrike" u="none" sz="2000">
                <a:solidFill>
                  <a:srgbClr val="404040"/>
                </a:solidFill>
                <a:latin typeface="Calibri"/>
                <a:ea typeface="Calibri"/>
                <a:cs typeface="Calibri"/>
                <a:sym typeface="Calibri"/>
              </a:rPr>
              <a:t>Lowering</a:t>
            </a:r>
            <a:r>
              <a:rPr lang="en-US" b="false" i="false" strike="noStrike" u="none" sz="2000">
                <a:solidFill>
                  <a:srgbClr val="404040"/>
                </a:solidFill>
                <a:latin typeface="微软雅黑"/>
                <a:ea typeface="微软雅黑"/>
                <a:cs typeface="微软雅黑"/>
                <a:sym typeface="微软雅黑"/>
              </a:rPr>
              <a:t>为设备相关代码，并插入必要的同步原语</a:t>
            </a:r>
          </a:p>
        </p:txBody>
      </p:sp>
      <p:pic>
        <p:nvPicPr>
          <p:cNvPr name="Picture 6" id="6"/>
          <p:cNvPicPr>
            <a:picLocks noChangeAspect="true"/>
          </p:cNvPicPr>
          <p:nvPr/>
        </p:nvPicPr>
        <p:blipFill>
          <a:blip r:embed="rId2"/>
          <a:srcRect l="0" r="0" t="0" b="0"/>
          <a:stretch>
            <a:fillRect/>
          </a:stretch>
        </p:blipFill>
        <p:spPr>
          <a:xfrm rot="0" flipH="false" flipV="false">
            <a:off x="1472565" y="3740150"/>
            <a:ext cx="3423920" cy="237426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176010" y="3574415"/>
            <a:ext cx="4042410" cy="270573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680" y="477520"/>
            <a:ext cx="9511665" cy="655320"/>
          </a:xfrm>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从计算图到硬件执行：算子的生命周期内容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运行时层：</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为每个算子准备参数（设备指针、共享内存大小、</a:t>
            </a:r>
            <a:r>
              <a:rPr lang="en-US" b="false" i="false" strike="noStrike" u="none" sz="2000">
                <a:solidFill>
                  <a:srgbClr val="404040"/>
                </a:solidFill>
                <a:latin typeface="Calibri"/>
                <a:ea typeface="Calibri"/>
                <a:cs typeface="Calibri"/>
                <a:sym typeface="Calibri"/>
              </a:rPr>
              <a:t>Stream ID </a:t>
            </a:r>
            <a:r>
              <a:rPr lang="en-US" b="false" i="false" strike="noStrike" u="none" sz="2000">
                <a:solidFill>
                  <a:srgbClr val="404040"/>
                </a:solidFill>
                <a:latin typeface="微软雅黑"/>
                <a:ea typeface="微软雅黑"/>
                <a:cs typeface="微软雅黑"/>
                <a:sym typeface="微软雅黑"/>
              </a:rPr>
              <a:t>等上下文）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发起</a:t>
            </a:r>
            <a:r>
              <a:rPr lang="en-US" b="false" i="false" strike="noStrike" u="none" sz="2000">
                <a:solidFill>
                  <a:srgbClr val="404040"/>
                </a:solidFill>
                <a:latin typeface="Calibri"/>
                <a:ea typeface="Calibri"/>
                <a:cs typeface="Calibri"/>
                <a:sym typeface="Calibri"/>
              </a:rPr>
              <a:t> Kernel Launch</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硬件层：</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从</a:t>
            </a:r>
            <a:r>
              <a:rPr lang="en-US" b="false" i="false" strike="noStrike" u="none" sz="2000">
                <a:solidFill>
                  <a:srgbClr val="404040"/>
                </a:solidFill>
                <a:latin typeface="Calibri"/>
                <a:ea typeface="Calibri"/>
                <a:cs typeface="Calibri"/>
                <a:sym typeface="Calibri"/>
              </a:rPr>
              <a:t> Global Memory </a:t>
            </a:r>
            <a:r>
              <a:rPr lang="en-US" b="false" i="false" strike="noStrike" u="none" sz="2000">
                <a:solidFill>
                  <a:srgbClr val="404040"/>
                </a:solidFill>
                <a:latin typeface="微软雅黑"/>
                <a:ea typeface="微软雅黑"/>
                <a:cs typeface="微软雅黑"/>
                <a:sym typeface="微软雅黑"/>
              </a:rPr>
              <a:t>读取数据</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计算单元处理</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结果写回</a:t>
            </a:r>
            <a:r>
              <a:rPr lang="en-US" b="false" i="false" strike="noStrike" u="none" sz="2000">
                <a:solidFill>
                  <a:srgbClr val="404040"/>
                </a:solidFill>
                <a:latin typeface="Calibri"/>
                <a:ea typeface="Calibri"/>
                <a:cs typeface="Calibri"/>
                <a:sym typeface="Calibri"/>
              </a:rPr>
              <a:t> Global Memory</a:t>
            </a:r>
          </a:p>
        </p:txBody>
      </p:sp>
      <p:pic>
        <p:nvPicPr>
          <p:cNvPr name="Picture 6" id="6"/>
          <p:cNvPicPr>
            <a:picLocks noChangeAspect="true"/>
          </p:cNvPicPr>
          <p:nvPr/>
        </p:nvPicPr>
        <p:blipFill>
          <a:blip r:embed="rId2"/>
          <a:srcRect l="0" r="0" t="0" b="0"/>
          <a:stretch>
            <a:fillRect/>
          </a:stretch>
        </p:blipFill>
        <p:spPr>
          <a:xfrm rot="0" flipH="false" flipV="false">
            <a:off x="2207895" y="3609340"/>
            <a:ext cx="6834505" cy="2675890"/>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Kernel Launch</a:t>
            </a:r>
            <a:r>
              <a:rPr lang="en-US" b="false" i="false" strike="noStrike" u="none" sz="3600">
                <a:solidFill>
                  <a:srgbClr val="262626"/>
                </a:solidFill>
                <a:latin typeface="微软雅黑"/>
                <a:ea typeface="微软雅黑"/>
                <a:cs typeface="微软雅黑"/>
                <a:sym typeface="微软雅黑"/>
              </a:rPr>
              <a:t>优化：</a:t>
            </a:r>
            <a:r>
              <a:rPr lang="en-US" b="false" i="false" strike="noStrike" u="none" sz="3600">
                <a:solidFill>
                  <a:srgbClr val="262626"/>
                </a:solidFill>
                <a:latin typeface="Calibri"/>
                <a:ea typeface="Calibri"/>
                <a:cs typeface="Calibri"/>
                <a:sym typeface="Calibri"/>
              </a:rPr>
              <a:t>CUDA Graph</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将一系列</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操作（</a:t>
            </a:r>
            <a:r>
              <a:rPr lang="en-US" b="false" i="false" strike="noStrike" u="none" sz="2400">
                <a:solidFill>
                  <a:srgbClr val="404040"/>
                </a:solidFill>
                <a:latin typeface="Calibri"/>
                <a:ea typeface="Calibri"/>
                <a:cs typeface="Calibri"/>
                <a:sym typeface="Calibri"/>
              </a:rPr>
              <a:t>Kernels, Memcpys</a:t>
            </a:r>
            <a:r>
              <a:rPr lang="en-US" b="false" i="false" strike="noStrike" u="none" sz="2400">
                <a:solidFill>
                  <a:srgbClr val="404040"/>
                </a:solidFill>
                <a:latin typeface="微软雅黑"/>
                <a:ea typeface="微软雅黑"/>
                <a:cs typeface="微软雅黑"/>
                <a:sym typeface="微软雅黑"/>
              </a:rPr>
              <a:t>）录制为一个静态拓扑图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Capture</a:t>
            </a:r>
            <a:r>
              <a:rPr lang="en-US" b="false" i="false" strike="noStrike" u="none" sz="2000">
                <a:solidFill>
                  <a:srgbClr val="404040"/>
                </a:solidFill>
                <a:latin typeface="微软雅黑"/>
                <a:ea typeface="微软雅黑"/>
                <a:cs typeface="微软雅黑"/>
                <a:sym typeface="微软雅黑"/>
              </a:rPr>
              <a:t>阶段记忆所有</a:t>
            </a:r>
            <a:r>
              <a:rPr lang="en-US" b="false" i="false" strike="noStrike" u="none" sz="2000">
                <a:solidFill>
                  <a:srgbClr val="404040"/>
                </a:solidFill>
                <a:latin typeface="Calibri"/>
                <a:ea typeface="Calibri"/>
                <a:cs typeface="Calibri"/>
                <a:sym typeface="Calibri"/>
              </a:rPr>
              <a:t> Kernel </a:t>
            </a:r>
            <a:r>
              <a:rPr lang="en-US" b="false" i="false" strike="noStrike" u="none" sz="2000">
                <a:solidFill>
                  <a:srgbClr val="404040"/>
                </a:solidFill>
                <a:latin typeface="微软雅黑"/>
                <a:ea typeface="微软雅黑"/>
                <a:cs typeface="微软雅黑"/>
                <a:sym typeface="微软雅黑"/>
              </a:rPr>
              <a:t>的执行顺序、参数、显存地址和调度路径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Replay</a:t>
            </a:r>
            <a:r>
              <a:rPr lang="en-US" b="false" i="false" strike="noStrike" u="none" sz="2000">
                <a:solidFill>
                  <a:srgbClr val="404040"/>
                </a:solidFill>
                <a:latin typeface="微软雅黑"/>
                <a:ea typeface="微软雅黑"/>
                <a:cs typeface="微软雅黑"/>
                <a:sym typeface="微软雅黑"/>
              </a:rPr>
              <a:t>阶段</a:t>
            </a:r>
            <a:r>
              <a:rPr lang="en-US" b="false" i="false" strike="noStrike" u="none" sz="2000">
                <a:solidFill>
                  <a:srgbClr val="404040"/>
                </a:solidFill>
                <a:latin typeface="Calibri"/>
                <a:ea typeface="Calibri"/>
                <a:cs typeface="Calibri"/>
                <a:sym typeface="Calibri"/>
              </a:rPr>
              <a:t>CPU </a:t>
            </a:r>
            <a:r>
              <a:rPr lang="en-US" b="false" i="false" strike="noStrike" u="none" sz="2000">
                <a:solidFill>
                  <a:srgbClr val="404040"/>
                </a:solidFill>
                <a:latin typeface="微软雅黑"/>
                <a:ea typeface="微软雅黑"/>
                <a:cs typeface="微软雅黑"/>
                <a:sym typeface="微软雅黑"/>
              </a:rPr>
              <a:t>仅需发起一次极轻量的指令，触发整个图在</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上自动流转</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956310" y="3905885"/>
            <a:ext cx="4911725" cy="1689100"/>
          </a:xfrm>
          <a:prstGeom prst="rect">
            <a:avLst/>
          </a:prstGeom>
          <a:ln w="12700">
            <a:noFill/>
            <a:prstDash val="solid"/>
          </a:ln>
        </p:spPr>
      </p:pic>
      <p:pic>
        <p:nvPicPr>
          <p:cNvPr name="Picture 7" id="7"/>
          <p:cNvPicPr>
            <a:picLocks noChangeAspect="true"/>
          </p:cNvPicPr>
          <p:nvPr/>
        </p:nvPicPr>
        <p:blipFill>
          <a:blip r:embed="rId3"/>
          <a:srcRect l="3763" r="3764" t="0" b="0"/>
          <a:stretch>
            <a:fillRect/>
          </a:stretch>
        </p:blipFill>
        <p:spPr>
          <a:xfrm rot="0" flipH="false" flipV="false">
            <a:off x="6106160" y="3721100"/>
            <a:ext cx="5332730" cy="1983105"/>
          </a:xfrm>
          <a:prstGeom prst="rect">
            <a:avLst/>
          </a:prstGeom>
          <a:ln w="12700">
            <a:noFill/>
            <a:prstDash val="solid"/>
          </a:ln>
        </p:spPr>
      </p:pic>
      <p:sp>
        <p:nvSpPr>
          <p:cNvPr name="AutoShape 8" id="8"/>
          <p:cNvSpPr/>
          <p:nvPr/>
        </p:nvSpPr>
        <p:spPr>
          <a:xfrm rot="0" flipH="false" flipV="false">
            <a:off x="914400" y="3388360"/>
            <a:ext cx="192341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404040"/>
                </a:solidFill>
                <a:latin typeface="微软雅黑"/>
                <a:ea typeface="微软雅黑"/>
                <a:cs typeface="微软雅黑"/>
                <a:sym typeface="微软雅黑"/>
              </a:rPr>
              <a:t>极小</a:t>
            </a:r>
            <a:r>
              <a:rPr lang="en-US" b="false" i="false" strike="noStrike" u="none" sz="1800">
                <a:solidFill>
                  <a:srgbClr val="404040"/>
                </a:solidFill>
                <a:latin typeface="Calibri"/>
                <a:ea typeface="Calibri"/>
                <a:cs typeface="Calibri"/>
                <a:sym typeface="Calibri"/>
              </a:rPr>
              <a:t>GPU kernel</a:t>
            </a:r>
            <a:endParaRPr lang="en-US" sz="1100"/>
          </a:p>
        </p:txBody>
      </p:sp>
      <p:sp>
        <p:nvSpPr>
          <p:cNvPr name="AutoShape 9" id="9"/>
          <p:cNvSpPr/>
          <p:nvPr/>
        </p:nvSpPr>
        <p:spPr>
          <a:xfrm rot="0" flipH="false" flipV="false">
            <a:off x="6106160" y="3387090"/>
            <a:ext cx="192341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404040"/>
                </a:solidFill>
                <a:latin typeface="微软雅黑"/>
                <a:ea typeface="微软雅黑"/>
                <a:cs typeface="微软雅黑"/>
                <a:sym typeface="微软雅黑"/>
              </a:rPr>
              <a:t>普通</a:t>
            </a:r>
            <a:r>
              <a:rPr lang="en-US" b="false" i="false" strike="noStrike" u="none" sz="1800">
                <a:solidFill>
                  <a:srgbClr val="404040"/>
                </a:solidFill>
                <a:latin typeface="Calibri"/>
                <a:ea typeface="Calibri"/>
                <a:cs typeface="Calibri"/>
                <a:sym typeface="Calibri"/>
              </a:rPr>
              <a:t>GPU kernel</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算子间的数据传输</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默认模式：</a:t>
            </a:r>
            <a:r>
              <a:rPr lang="en-US" b="false" i="false" strike="noStrike" u="none" sz="2400">
                <a:solidFill>
                  <a:srgbClr val="404040"/>
                </a:solidFill>
                <a:latin typeface="Calibri"/>
                <a:ea typeface="Calibri"/>
                <a:cs typeface="Calibri"/>
                <a:sym typeface="Calibri"/>
              </a:rPr>
              <a:t>Conv </a:t>
            </a:r>
            <a:r>
              <a:rPr lang="en-US" b="false" i="false" strike="noStrike" u="none" sz="2400">
                <a:solidFill>
                  <a:srgbClr val="404040"/>
                </a:solidFill>
                <a:latin typeface="微软雅黑"/>
                <a:ea typeface="微软雅黑"/>
                <a:cs typeface="微软雅黑"/>
                <a:sym typeface="微软雅黑"/>
              </a:rPr>
              <a:t>的结果必须写回全局显存，</a:t>
            </a:r>
            <a:r>
              <a:rPr lang="en-US" b="false" i="false" strike="noStrike" u="none" sz="2400">
                <a:solidFill>
                  <a:srgbClr val="404040"/>
                </a:solidFill>
                <a:latin typeface="Calibri"/>
                <a:ea typeface="Calibri"/>
                <a:cs typeface="Calibri"/>
                <a:sym typeface="Calibri"/>
              </a:rPr>
              <a:t>Scale </a:t>
            </a:r>
            <a:r>
              <a:rPr lang="en-US" b="false" i="false" strike="noStrike" u="none" sz="2400">
                <a:solidFill>
                  <a:srgbClr val="404040"/>
                </a:solidFill>
                <a:latin typeface="微软雅黑"/>
                <a:ea typeface="微软雅黑"/>
                <a:cs typeface="微软雅黑"/>
                <a:sym typeface="微软雅黑"/>
              </a:rPr>
              <a:t>再读出来</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算子融合：</a:t>
            </a:r>
            <a:r>
              <a:rPr lang="en-US" b="false" i="false" strike="noStrike" u="none" sz="2400">
                <a:solidFill>
                  <a:srgbClr val="404040"/>
                </a:solidFill>
                <a:latin typeface="Calibri"/>
                <a:ea typeface="Calibri"/>
                <a:cs typeface="Calibri"/>
                <a:sym typeface="Calibri"/>
              </a:rPr>
              <a:t>Element-wise</a:t>
            </a:r>
            <a:r>
              <a:rPr lang="en-US" b="false" i="false" strike="noStrike" u="none" sz="2400">
                <a:solidFill>
                  <a:srgbClr val="404040"/>
                </a:solidFill>
                <a:latin typeface="微软雅黑"/>
                <a:ea typeface="微软雅黑"/>
                <a:cs typeface="微软雅黑"/>
                <a:sym typeface="微软雅黑"/>
              </a:rPr>
              <a:t>操作可以很容易与其他算子衔接计算，有效降低了显存访问与</a:t>
            </a:r>
            <a:r>
              <a:rPr lang="en-US" b="false" i="false" strike="noStrike" u="none" sz="2400">
                <a:solidFill>
                  <a:srgbClr val="404040"/>
                </a:solidFill>
                <a:latin typeface="Calibri"/>
                <a:ea typeface="Calibri"/>
                <a:cs typeface="Calibri"/>
                <a:sym typeface="Calibri"/>
              </a:rPr>
              <a:t> Kernel </a:t>
            </a:r>
            <a:r>
              <a:rPr lang="en-US" b="false" i="false" strike="noStrike" u="none" sz="2400">
                <a:solidFill>
                  <a:srgbClr val="404040"/>
                </a:solidFill>
                <a:latin typeface="微软雅黑"/>
                <a:ea typeface="微软雅黑"/>
                <a:cs typeface="微软雅黑"/>
                <a:sym typeface="微软雅黑"/>
              </a:rPr>
              <a:t>启动开销</a:t>
            </a:r>
          </a:p>
        </p:txBody>
      </p:sp>
      <p:pic>
        <p:nvPicPr>
          <p:cNvPr name="Picture 6" id="6"/>
          <p:cNvPicPr>
            <a:picLocks noChangeAspect="true"/>
          </p:cNvPicPr>
          <p:nvPr/>
        </p:nvPicPr>
        <p:blipFill>
          <a:blip r:embed="rId2"/>
          <a:srcRect l="0" r="0" t="0" b="0"/>
          <a:stretch>
            <a:fillRect/>
          </a:stretch>
        </p:blipFill>
        <p:spPr>
          <a:xfrm rot="0" flipH="false" flipV="false">
            <a:off x="1738630" y="4667250"/>
            <a:ext cx="8534400" cy="121920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2186940" y="2046605"/>
            <a:ext cx="8086090" cy="1468120"/>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计算图整体优化：算子融合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定义：</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将计算图中的多个独立算子（</a:t>
            </a:r>
            <a:r>
              <a:rPr lang="en-US" b="false" i="false" strike="noStrike" u="none" sz="2400">
                <a:solidFill>
                  <a:srgbClr val="404040"/>
                </a:solidFill>
                <a:latin typeface="Calibri"/>
                <a:ea typeface="Calibri"/>
                <a:cs typeface="Calibri"/>
                <a:sym typeface="Calibri"/>
              </a:rPr>
              <a:t>Operator/Kernel</a:t>
            </a:r>
            <a:r>
              <a:rPr lang="en-US" b="false" i="false" strike="noStrike" u="none" sz="2400">
                <a:solidFill>
                  <a:srgbClr val="404040"/>
                </a:solidFill>
                <a:latin typeface="微软雅黑"/>
                <a:ea typeface="微软雅黑"/>
                <a:cs typeface="微软雅黑"/>
                <a:sym typeface="微软雅黑"/>
              </a:rPr>
              <a:t>）合并为一个单一算子执行的技术</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深度学习中的典型场景：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Vertical Fusion (</a:t>
            </a:r>
            <a:r>
              <a:rPr lang="en-US" b="false" i="false" strike="noStrike" u="none" sz="2000">
                <a:solidFill>
                  <a:srgbClr val="404040"/>
                </a:solidFill>
                <a:latin typeface="微软雅黑"/>
                <a:ea typeface="微软雅黑"/>
                <a:cs typeface="微软雅黑"/>
                <a:sym typeface="微软雅黑"/>
              </a:rPr>
              <a:t>垂直融合</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Conv + Bias + ReLU</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Horizontal Fusion (</a:t>
            </a:r>
            <a:r>
              <a:rPr lang="en-US" b="false" i="false" strike="noStrike" u="none" sz="2000">
                <a:solidFill>
                  <a:srgbClr val="404040"/>
                </a:solidFill>
                <a:latin typeface="微软雅黑"/>
                <a:ea typeface="微软雅黑"/>
                <a:cs typeface="微软雅黑"/>
                <a:sym typeface="微软雅黑"/>
              </a:rPr>
              <a:t>水平融合</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多个相同输入但参数不同的</a:t>
            </a:r>
            <a:r>
              <a:rPr lang="en-US" b="false" i="false" strike="noStrike" u="none" sz="2000">
                <a:solidFill>
                  <a:srgbClr val="404040"/>
                </a:solidFill>
                <a:latin typeface="Calibri"/>
                <a:ea typeface="Calibri"/>
                <a:cs typeface="Calibri"/>
                <a:sym typeface="Calibri"/>
              </a:rPr>
              <a:t> GEMM </a:t>
            </a:r>
            <a:r>
              <a:rPr lang="en-US" b="false" i="false" strike="noStrike" u="none" sz="2000">
                <a:solidFill>
                  <a:srgbClr val="404040"/>
                </a:solidFill>
                <a:latin typeface="微软雅黑"/>
                <a:ea typeface="微软雅黑"/>
                <a:cs typeface="微软雅黑"/>
                <a:sym typeface="微软雅黑"/>
              </a:rPr>
              <a:t>合并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Reduction Fusion</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LayerNorm </a:t>
            </a:r>
            <a:r>
              <a:rPr lang="en-US" b="false" i="false" strike="noStrike" u="none" sz="2000">
                <a:solidFill>
                  <a:srgbClr val="404040"/>
                </a:solidFill>
                <a:latin typeface="微软雅黑"/>
                <a:ea typeface="微软雅黑"/>
                <a:cs typeface="微软雅黑"/>
                <a:sym typeface="微软雅黑"/>
              </a:rPr>
              <a:t>中的</a:t>
            </a:r>
            <a:r>
              <a:rPr lang="en-US" b="false" i="false" strike="noStrike" u="none" sz="2000">
                <a:solidFill>
                  <a:srgbClr val="404040"/>
                </a:solidFill>
                <a:latin typeface="Calibri"/>
                <a:ea typeface="Calibri"/>
                <a:cs typeface="Calibri"/>
                <a:sym typeface="Calibri"/>
              </a:rPr>
              <a:t> Mean + Var + Scale</a:t>
            </a:r>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算子融合的优势</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减少内存带宽占用：</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消除中间结果在全局内存上的读写，数据保留在寄存器或共享内存中</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降低</a:t>
            </a:r>
            <a:r>
              <a:rPr lang="en-US" b="false" i="false" strike="noStrike" u="none" sz="2400">
                <a:solidFill>
                  <a:srgbClr val="404040"/>
                </a:solidFill>
                <a:latin typeface="Calibri"/>
                <a:ea typeface="Calibri"/>
                <a:cs typeface="Calibri"/>
                <a:sym typeface="Calibri"/>
              </a:rPr>
              <a:t> Kernel Launch </a:t>
            </a:r>
            <a:r>
              <a:rPr lang="en-US" b="false" i="false" strike="noStrike" u="none" sz="2400">
                <a:solidFill>
                  <a:srgbClr val="404040"/>
                </a:solidFill>
                <a:latin typeface="微软雅黑"/>
                <a:ea typeface="微软雅黑"/>
                <a:cs typeface="微软雅黑"/>
                <a:sym typeface="微软雅黑"/>
              </a:rPr>
              <a:t>开销：</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减少</a:t>
            </a:r>
            <a:r>
              <a:rPr lang="en-US" b="false" i="false" strike="noStrike" u="none" sz="2400">
                <a:solidFill>
                  <a:srgbClr val="404040"/>
                </a:solidFill>
                <a:latin typeface="Calibri"/>
                <a:ea typeface="Calibri"/>
                <a:cs typeface="Calibri"/>
                <a:sym typeface="Calibri"/>
              </a:rPr>
              <a:t> CPU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之间的握手次数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提升缓存利用率：数据在</a:t>
            </a:r>
            <a:r>
              <a:rPr lang="en-US" b="false" i="false" strike="noStrike" u="none" sz="2400">
                <a:solidFill>
                  <a:srgbClr val="404040"/>
                </a:solidFill>
                <a:latin typeface="Calibri"/>
                <a:ea typeface="Calibri"/>
                <a:cs typeface="Calibri"/>
                <a:sym typeface="Calibri"/>
              </a:rPr>
              <a:t>SRAM</a:t>
            </a:r>
            <a:r>
              <a:rPr lang="en-US" b="false" i="false" strike="noStrike" u="none" sz="2400">
                <a:solidFill>
                  <a:srgbClr val="404040"/>
                </a:solidFill>
                <a:latin typeface="微软雅黑"/>
                <a:ea typeface="微软雅黑"/>
                <a:cs typeface="微软雅黑"/>
                <a:sym typeface="微软雅黑"/>
              </a:rPr>
              <a:t>中被连续使用，效率更高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提升计算密度：</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增加单次任务的指令流，更好地掩盖内存延迟</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算子融合可能带来的问题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核心矛盾</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寄存器压力</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SM</a:t>
            </a:r>
            <a:r>
              <a:rPr lang="en-US" b="false" i="false" strike="noStrike" u="none" sz="2000">
                <a:solidFill>
                  <a:srgbClr val="404040"/>
                </a:solidFill>
                <a:latin typeface="微软雅黑"/>
                <a:ea typeface="微软雅黑"/>
                <a:cs typeface="微软雅黑"/>
                <a:sym typeface="微软雅黑"/>
              </a:rPr>
              <a:t>的寄存器总量固定（如</a:t>
            </a:r>
            <a:r>
              <a:rPr lang="en-US" b="false" i="false" strike="noStrike" u="none" sz="2000">
                <a:solidFill>
                  <a:srgbClr val="404040"/>
                </a:solidFill>
                <a:latin typeface="Calibri"/>
                <a:ea typeface="Calibri"/>
                <a:cs typeface="Calibri"/>
                <a:sym typeface="Calibri"/>
              </a:rPr>
              <a:t>A100</a:t>
            </a:r>
            <a:r>
              <a:rPr lang="en-US" b="false" i="false" strike="noStrike" u="none" sz="2000">
                <a:solidFill>
                  <a:srgbClr val="404040"/>
                </a:solidFill>
                <a:latin typeface="微软雅黑"/>
                <a:ea typeface="微软雅黑"/>
                <a:cs typeface="微软雅黑"/>
                <a:sym typeface="微软雅黑"/>
              </a:rPr>
              <a:t>为</a:t>
            </a:r>
            <a:r>
              <a:rPr lang="en-US" b="false" i="false" strike="noStrike" u="none" sz="2000">
                <a:solidFill>
                  <a:srgbClr val="404040"/>
                </a:solidFill>
                <a:latin typeface="Calibri"/>
                <a:ea typeface="Calibri"/>
                <a:cs typeface="Calibri"/>
                <a:sym typeface="Calibri"/>
              </a:rPr>
              <a:t>256KB/SM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单线程需保存更多中间状态</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单线程寄存器</a:t>
            </a:r>
            <a:r>
              <a:rPr lang="en-US" b="false" i="false" strike="noStrike" u="none" sz="2000">
                <a:solidFill>
                  <a:srgbClr val="404040"/>
                </a:solidFill>
                <a:latin typeface="Calibri"/>
                <a:ea typeface="Calibri"/>
                <a:cs typeface="Calibri"/>
                <a:sym typeface="Calibri"/>
              </a:rPr>
              <a:t> ↑ → </a:t>
            </a:r>
            <a:r>
              <a:rPr lang="en-US" b="false" i="false" strike="noStrike" u="none" sz="2000">
                <a:solidFill>
                  <a:srgbClr val="404040"/>
                </a:solidFill>
                <a:latin typeface="微软雅黑"/>
                <a:ea typeface="微软雅黑"/>
                <a:cs typeface="微软雅黑"/>
                <a:sym typeface="微软雅黑"/>
              </a:rPr>
              <a:t>每线程块占用寄存器</a:t>
            </a:r>
            <a:r>
              <a:rPr lang="en-US" b="false" i="false" strike="noStrike" u="none" sz="2000">
                <a:solidFill>
                  <a:srgbClr val="404040"/>
                </a:solidFill>
                <a:latin typeface="Calibri"/>
                <a:ea typeface="Calibri"/>
                <a:cs typeface="Calibri"/>
                <a:sym typeface="Calibri"/>
              </a:rPr>
              <a:t> ↑ → </a:t>
            </a:r>
            <a:r>
              <a:rPr lang="en-US" b="false" i="false" strike="noStrike" u="none" sz="2000">
                <a:solidFill>
                  <a:srgbClr val="404040"/>
                </a:solidFill>
                <a:latin typeface="微软雅黑"/>
                <a:ea typeface="微软雅黑"/>
                <a:cs typeface="微软雅黑"/>
                <a:sym typeface="微软雅黑"/>
              </a:rPr>
              <a:t>并发线程块数</a:t>
            </a:r>
            <a:r>
              <a:rPr lang="en-US" b="false" i="false" strike="noStrike" u="none" sz="2000">
                <a:solidFill>
                  <a:srgbClr val="404040"/>
                </a:solidFill>
                <a:latin typeface="Calibri"/>
                <a:ea typeface="Calibri"/>
                <a:cs typeface="Calibri"/>
                <a:sym typeface="Calibri"/>
              </a:rPr>
              <a:t> ↓ → </a:t>
            </a:r>
            <a:r>
              <a:rPr lang="en-US" b="false" i="false" strike="noStrike" u="none" sz="2000">
                <a:solidFill>
                  <a:srgbClr val="404040"/>
                </a:solidFill>
                <a:latin typeface="微软雅黑"/>
                <a:ea typeface="微软雅黑"/>
                <a:cs typeface="微软雅黑"/>
                <a:sym typeface="微软雅黑"/>
              </a:rPr>
              <a:t>降低</a:t>
            </a:r>
            <a:r>
              <a:rPr lang="en-US" b="false" i="false" strike="noStrike" u="none" sz="2000">
                <a:solidFill>
                  <a:srgbClr val="404040"/>
                </a:solidFill>
                <a:latin typeface="Calibri"/>
                <a:ea typeface="Calibri"/>
                <a:cs typeface="Calibri"/>
                <a:sym typeface="Calibri"/>
              </a:rPr>
              <a:t> SM </a:t>
            </a:r>
            <a:r>
              <a:rPr lang="en-US" b="false" i="false" strike="noStrike" u="none" sz="2000">
                <a:solidFill>
                  <a:srgbClr val="404040"/>
                </a:solidFill>
                <a:latin typeface="微软雅黑"/>
                <a:ea typeface="微软雅黑"/>
                <a:cs typeface="微软雅黑"/>
                <a:sym typeface="微软雅黑"/>
              </a:rPr>
              <a:t>的活跃</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数量（</a:t>
            </a:r>
            <a:r>
              <a:rPr lang="en-US" b="false" i="false" strike="noStrike" u="none" sz="2000">
                <a:solidFill>
                  <a:srgbClr val="404040"/>
                </a:solidFill>
                <a:latin typeface="Calibri"/>
                <a:ea typeface="Calibri"/>
                <a:cs typeface="Calibri"/>
                <a:sym typeface="Calibri"/>
              </a:rPr>
              <a:t>Occupancy </a:t>
            </a:r>
            <a:r>
              <a:rPr lang="en-US" b="false" i="false" strike="noStrike" u="none" sz="2000">
                <a:solidFill>
                  <a:srgbClr val="404040"/>
                </a:solidFill>
                <a:latin typeface="微软雅黑"/>
                <a:ea typeface="微软雅黑"/>
                <a:cs typeface="微软雅黑"/>
                <a:sym typeface="微软雅黑"/>
              </a:rPr>
              <a:t>降低）</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指令缓存压力：</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融合后的</a:t>
            </a:r>
            <a:r>
              <a:rPr lang="en-US" b="false" i="false" strike="noStrike" u="none" sz="2000">
                <a:solidFill>
                  <a:srgbClr val="404040"/>
                </a:solidFill>
                <a:latin typeface="Calibri"/>
                <a:ea typeface="Calibri"/>
                <a:cs typeface="Calibri"/>
                <a:sym typeface="Calibri"/>
              </a:rPr>
              <a:t> Kernel </a:t>
            </a:r>
            <a:r>
              <a:rPr lang="en-US" b="false" i="false" strike="noStrike" u="none" sz="2000">
                <a:solidFill>
                  <a:srgbClr val="404040"/>
                </a:solidFill>
                <a:latin typeface="微软雅黑"/>
                <a:ea typeface="微软雅黑"/>
                <a:cs typeface="微软雅黑"/>
                <a:sym typeface="微软雅黑"/>
              </a:rPr>
              <a:t>可能超出硬件的指令缓存限制</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需要在节省访存带宽与保持足够的计算并行度之间寻找甜点区</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一个反面例子：</a:t>
            </a:r>
            <a:r>
              <a:rPr lang="en-US" b="false" i="false" strike="noStrike" u="none" sz="3600">
                <a:solidFill>
                  <a:srgbClr val="262626"/>
                </a:solidFill>
                <a:latin typeface="Calibri"/>
                <a:ea typeface="Calibri"/>
                <a:cs typeface="Calibri"/>
                <a:sym typeface="Calibri"/>
              </a:rPr>
              <a:t>XLA</a:t>
            </a:r>
            <a:r>
              <a:rPr lang="en-US" b="false" i="false" strike="noStrike" u="none" sz="3600">
                <a:solidFill>
                  <a:srgbClr val="262626"/>
                </a:solidFill>
                <a:latin typeface="微软雅黑"/>
                <a:ea typeface="微软雅黑"/>
                <a:cs typeface="微软雅黑"/>
                <a:sym typeface="微软雅黑"/>
              </a:rPr>
              <a:t>的贪婪合并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https://github.com/openxla/xla/discussions/766</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场景描述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输入的强制布局是</a:t>
            </a:r>
            <a:r>
              <a:rPr lang="en-US" b="false" i="false" strike="noStrike" u="none" sz="2000">
                <a:solidFill>
                  <a:srgbClr val="404040"/>
                </a:solidFill>
                <a:latin typeface="Calibri"/>
                <a:ea typeface="Calibri"/>
                <a:cs typeface="Calibri"/>
                <a:sym typeface="Calibri"/>
              </a:rPr>
              <a:t> {3, 2, 1, 0}</a:t>
            </a:r>
            <a:r>
              <a:rPr lang="en-US" b="false" i="false" strike="noStrike" u="none" sz="2000">
                <a:solidFill>
                  <a:srgbClr val="404040"/>
                </a:solidFill>
                <a:latin typeface="微软雅黑"/>
                <a:ea typeface="微软雅黑"/>
                <a:cs typeface="微软雅黑"/>
                <a:sym typeface="微软雅黑"/>
              </a:rPr>
              <a:t>，算子</a:t>
            </a:r>
            <a:r>
              <a:rPr lang="en-US" b="false" i="false" strike="noStrike" u="none" sz="2000">
                <a:solidFill>
                  <a:srgbClr val="404040"/>
                </a:solidFill>
                <a:latin typeface="Calibri"/>
                <a:ea typeface="Calibri"/>
                <a:cs typeface="Calibri"/>
                <a:sym typeface="Calibri"/>
              </a:rPr>
              <a:t> (Custom-call) </a:t>
            </a:r>
            <a:r>
              <a:rPr lang="en-US" b="false" i="false" strike="noStrike" u="none" sz="2000">
                <a:solidFill>
                  <a:srgbClr val="404040"/>
                </a:solidFill>
                <a:latin typeface="微软雅黑"/>
                <a:ea typeface="微软雅黑"/>
                <a:cs typeface="微软雅黑"/>
                <a:sym typeface="微软雅黑"/>
              </a:rPr>
              <a:t>的强制布局是</a:t>
            </a:r>
            <a:r>
              <a:rPr lang="en-US" b="false" i="false" strike="noStrike" u="none" sz="2000">
                <a:solidFill>
                  <a:srgbClr val="404040"/>
                </a:solidFill>
                <a:latin typeface="Calibri"/>
                <a:ea typeface="Calibri"/>
                <a:cs typeface="Calibri"/>
                <a:sym typeface="Calibri"/>
              </a:rPr>
              <a:t> {1, 0, 2, 3}</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在计算</a:t>
            </a:r>
            <a:r>
              <a:rPr lang="en-US" b="false" i="false" strike="noStrike" u="none" sz="2000">
                <a:solidFill>
                  <a:srgbClr val="404040"/>
                </a:solidFill>
                <a:latin typeface="Calibri"/>
                <a:ea typeface="Calibri"/>
                <a:cs typeface="Calibri"/>
                <a:sym typeface="Calibri"/>
              </a:rPr>
              <a:t> Add </a:t>
            </a:r>
            <a:r>
              <a:rPr lang="en-US" b="false" i="false" strike="noStrike" u="none" sz="2000">
                <a:solidFill>
                  <a:srgbClr val="404040"/>
                </a:solidFill>
                <a:latin typeface="微软雅黑"/>
                <a:ea typeface="微软雅黑"/>
                <a:cs typeface="微软雅黑"/>
                <a:sym typeface="微软雅黑"/>
              </a:rPr>
              <a:t>时，</a:t>
            </a:r>
            <a:r>
              <a:rPr lang="en-US" b="false" i="false" strike="noStrike" u="none" sz="2000">
                <a:solidFill>
                  <a:srgbClr val="404040"/>
                </a:solidFill>
                <a:latin typeface="Calibri"/>
                <a:ea typeface="Calibri"/>
                <a:cs typeface="Calibri"/>
                <a:sym typeface="Calibri"/>
              </a:rPr>
              <a:t>XLA </a:t>
            </a:r>
            <a:r>
              <a:rPr lang="en-US" b="false" i="false" strike="noStrike" u="none" sz="2000">
                <a:solidFill>
                  <a:srgbClr val="404040"/>
                </a:solidFill>
                <a:latin typeface="微软雅黑"/>
                <a:ea typeface="微软雅黑"/>
                <a:cs typeface="微软雅黑"/>
                <a:sym typeface="微软雅黑"/>
              </a:rPr>
              <a:t>发现两个输入的布局不一样，为了对齐它必须插入一个</a:t>
            </a:r>
            <a:r>
              <a:rPr lang="en-US" b="false" i="false" strike="noStrike" u="none" sz="2000">
                <a:solidFill>
                  <a:srgbClr val="404040"/>
                </a:solidFill>
                <a:latin typeface="Calibri"/>
                <a:ea typeface="Calibri"/>
                <a:cs typeface="Calibri"/>
                <a:sym typeface="Calibri"/>
              </a:rPr>
              <a:t> Copy </a:t>
            </a:r>
            <a:r>
              <a:rPr lang="en-US" b="false" i="false" strike="noStrike" u="none" sz="2000">
                <a:solidFill>
                  <a:srgbClr val="404040"/>
                </a:solidFill>
                <a:latin typeface="微软雅黑"/>
                <a:ea typeface="微软雅黑"/>
                <a:cs typeface="微软雅黑"/>
                <a:sym typeface="微软雅黑"/>
              </a:rPr>
              <a:t>操作</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XLA </a:t>
            </a:r>
            <a:r>
              <a:rPr lang="en-US" b="false" i="false" strike="noStrike" u="none" sz="2400">
                <a:solidFill>
                  <a:srgbClr val="404040"/>
                </a:solidFill>
                <a:latin typeface="微软雅黑"/>
                <a:ea typeface="微软雅黑"/>
                <a:cs typeface="微软雅黑"/>
                <a:sym typeface="微软雅黑"/>
              </a:rPr>
              <a:t>为减少</a:t>
            </a:r>
            <a:r>
              <a:rPr lang="en-US" b="false" i="false" strike="noStrike" u="none" sz="2400">
                <a:solidFill>
                  <a:srgbClr val="404040"/>
                </a:solidFill>
                <a:latin typeface="Calibri"/>
                <a:ea typeface="Calibri"/>
                <a:cs typeface="Calibri"/>
                <a:sym typeface="Calibri"/>
              </a:rPr>
              <a:t> Kernel </a:t>
            </a:r>
            <a:r>
              <a:rPr lang="en-US" b="false" i="false" strike="noStrike" u="none" sz="2400">
                <a:solidFill>
                  <a:srgbClr val="404040"/>
                </a:solidFill>
                <a:latin typeface="微软雅黑"/>
                <a:ea typeface="微软雅黑"/>
                <a:cs typeface="微软雅黑"/>
                <a:sym typeface="微软雅黑"/>
              </a:rPr>
              <a:t>启动开销，将</a:t>
            </a:r>
            <a:r>
              <a:rPr lang="en-US" b="false" i="false" strike="noStrike" u="none" sz="2400">
                <a:solidFill>
                  <a:srgbClr val="404040"/>
                </a:solidFill>
                <a:latin typeface="Calibri"/>
                <a:ea typeface="Calibri"/>
                <a:cs typeface="Calibri"/>
                <a:sym typeface="Calibri"/>
              </a:rPr>
              <a:t> Add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Copy </a:t>
            </a:r>
            <a:r>
              <a:rPr lang="en-US" b="false" i="false" strike="noStrike" u="none" sz="2400">
                <a:solidFill>
                  <a:srgbClr val="404040"/>
                </a:solidFill>
                <a:latin typeface="微软雅黑"/>
                <a:ea typeface="微软雅黑"/>
                <a:cs typeface="微软雅黑"/>
                <a:sym typeface="微软雅黑"/>
              </a:rPr>
              <a:t>强制融合；但由于</a:t>
            </a:r>
            <a:r>
              <a:rPr lang="en-US" b="false" i="false" strike="noStrike" u="none" sz="2400">
                <a:solidFill>
                  <a:srgbClr val="404040"/>
                </a:solidFill>
                <a:latin typeface="Calibri"/>
                <a:ea typeface="Calibri"/>
                <a:cs typeface="Calibri"/>
                <a:sym typeface="Calibri"/>
              </a:rPr>
              <a:t> I/O </a:t>
            </a:r>
            <a:r>
              <a:rPr lang="en-US" b="false" i="false" strike="noStrike" u="none" sz="2400">
                <a:solidFill>
                  <a:srgbClr val="404040"/>
                </a:solidFill>
                <a:latin typeface="微软雅黑"/>
                <a:ea typeface="微软雅黑"/>
                <a:cs typeface="微软雅黑"/>
                <a:sym typeface="微软雅黑"/>
              </a:rPr>
              <a:t>布局不一致破坏了内存合并访问，导致访存变随机跳跃，性能大幅回退</a:t>
            </a:r>
            <a:r>
              <a:rPr lang="en-US" b="false" i="false" strike="noStrike" u="none" sz="2400">
                <a:solidFill>
                  <a:srgbClr val="404040"/>
                </a:solidFill>
                <a:latin typeface="Calibri"/>
                <a:ea typeface="Calibri"/>
                <a:cs typeface="Calibri"/>
                <a:sym typeface="Calibri"/>
              </a:rPr>
              <a:t> 9 </a:t>
            </a:r>
            <a:r>
              <a:rPr lang="en-US" b="false" i="false" strike="noStrike" u="none" sz="2400">
                <a:solidFill>
                  <a:srgbClr val="404040"/>
                </a:solidFill>
                <a:latin typeface="微软雅黑"/>
                <a:ea typeface="微软雅黑"/>
                <a:cs typeface="微软雅黑"/>
                <a:sym typeface="微软雅黑"/>
              </a:rPr>
              <a:t>倍</a:t>
            </a:r>
          </a:p>
        </p:txBody>
      </p:sp>
      <p:pic>
        <p:nvPicPr>
          <p:cNvPr name="Picture 6" id="6"/>
          <p:cNvPicPr>
            <a:picLocks noChangeAspect="true"/>
          </p:cNvPicPr>
          <p:nvPr/>
        </p:nvPicPr>
        <p:blipFill>
          <a:blip r:embed="rId2"/>
          <a:srcRect l="0" r="0" t="0" b="0"/>
          <a:stretch>
            <a:fillRect/>
          </a:stretch>
        </p:blipFill>
        <p:spPr>
          <a:xfrm rot="0" flipH="false" flipV="false">
            <a:off x="1074420" y="3700145"/>
            <a:ext cx="3021965" cy="258318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4197985" y="4533900"/>
            <a:ext cx="7413625" cy="915035"/>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一个反面例子：</a:t>
            </a:r>
            <a:r>
              <a:rPr lang="en-US" b="false" i="false" strike="noStrike" u="none" sz="3600">
                <a:solidFill>
                  <a:srgbClr val="262626"/>
                </a:solidFill>
                <a:latin typeface="Calibri"/>
                <a:ea typeface="Calibri"/>
                <a:cs typeface="Calibri"/>
                <a:sym typeface="Calibri"/>
              </a:rPr>
              <a:t>Fused Adam</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https://github.com/pytorch/pytorch/issues/121857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Pytorch</a:t>
            </a:r>
            <a:r>
              <a:rPr lang="en-US" b="false" i="false" strike="noStrike" u="none" sz="2400">
                <a:solidFill>
                  <a:srgbClr val="404040"/>
                </a:solidFill>
                <a:latin typeface="微软雅黑"/>
                <a:ea typeface="微软雅黑"/>
                <a:cs typeface="微软雅黑"/>
                <a:sym typeface="微软雅黑"/>
              </a:rPr>
              <a:t>支持的自动</a:t>
            </a:r>
            <a:r>
              <a:rPr lang="en-US" b="false" i="false" strike="noStrike" u="none" sz="2400">
                <a:solidFill>
                  <a:srgbClr val="404040"/>
                </a:solidFill>
                <a:latin typeface="Calibri"/>
                <a:ea typeface="Calibri"/>
                <a:cs typeface="Calibri"/>
                <a:sym typeface="Calibri"/>
              </a:rPr>
              <a:t>Fused AdamW</a:t>
            </a: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A40</a:t>
            </a:r>
            <a:r>
              <a:rPr lang="en-US" b="false" i="false" strike="noStrike" u="none" sz="2400">
                <a:solidFill>
                  <a:srgbClr val="404040"/>
                </a:solidFill>
                <a:latin typeface="微软雅黑"/>
                <a:ea typeface="微软雅黑"/>
                <a:cs typeface="微软雅黑"/>
                <a:sym typeface="微软雅黑"/>
              </a:rPr>
              <a:t>上性能暴跌，可能的原因分析：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Fuse</a:t>
            </a:r>
            <a:r>
              <a:rPr lang="en-US" b="false" i="false" strike="noStrike" u="none" sz="2000">
                <a:solidFill>
                  <a:srgbClr val="404040"/>
                </a:solidFill>
                <a:latin typeface="微软雅黑"/>
                <a:ea typeface="微软雅黑"/>
                <a:cs typeface="微软雅黑"/>
                <a:sym typeface="微软雅黑"/>
              </a:rPr>
              <a:t>模式下使用的寄存器数量约为普通的一倍</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Fused AdamW</a:t>
            </a:r>
            <a:r>
              <a:rPr lang="en-US" b="false" i="false" strike="noStrike" u="none" sz="2000">
                <a:solidFill>
                  <a:srgbClr val="404040"/>
                </a:solidFill>
                <a:latin typeface="微软雅黑"/>
                <a:ea typeface="微软雅黑"/>
                <a:cs typeface="微软雅黑"/>
                <a:sym typeface="微软雅黑"/>
              </a:rPr>
              <a:t>按张量（</a:t>
            </a:r>
            <a:r>
              <a:rPr lang="en-US" b="false" i="false" strike="noStrike" u="none" sz="2000">
                <a:solidFill>
                  <a:srgbClr val="404040"/>
                </a:solidFill>
                <a:latin typeface="Calibri"/>
                <a:ea typeface="Calibri"/>
                <a:cs typeface="Calibri"/>
                <a:sym typeface="Calibri"/>
              </a:rPr>
              <a:t>Per-tensor</a:t>
            </a:r>
            <a:r>
              <a:rPr lang="en-US" b="false" i="false" strike="noStrike" u="none" sz="2000">
                <a:solidFill>
                  <a:srgbClr val="404040"/>
                </a:solidFill>
                <a:latin typeface="微软雅黑"/>
                <a:ea typeface="微软雅黑"/>
                <a:cs typeface="微软雅黑"/>
                <a:sym typeface="微软雅黑"/>
              </a:rPr>
              <a:t>）触发，导致</a:t>
            </a:r>
            <a:r>
              <a:rPr lang="en-US" b="false" i="false" strike="noStrike" u="none" sz="2000">
                <a:solidFill>
                  <a:srgbClr val="404040"/>
                </a:solidFill>
                <a:latin typeface="Calibri"/>
                <a:ea typeface="Calibri"/>
                <a:cs typeface="Calibri"/>
                <a:sym typeface="Calibri"/>
              </a:rPr>
              <a:t>Kernel</a:t>
            </a:r>
            <a:r>
              <a:rPr lang="en-US" b="false" i="false" strike="noStrike" u="none" sz="2000">
                <a:solidFill>
                  <a:srgbClr val="404040"/>
                </a:solidFill>
                <a:latin typeface="微软雅黑"/>
                <a:ea typeface="微软雅黑"/>
                <a:cs typeface="微软雅黑"/>
                <a:sym typeface="微软雅黑"/>
              </a:rPr>
              <a:t>启动次数过多</a:t>
            </a:r>
          </a:p>
        </p:txBody>
      </p:sp>
      <p:pic>
        <p:nvPicPr>
          <p:cNvPr name="Picture 6" id="6"/>
          <p:cNvPicPr>
            <a:picLocks noChangeAspect="true"/>
          </p:cNvPicPr>
          <p:nvPr/>
        </p:nvPicPr>
        <p:blipFill>
          <a:blip r:embed="rId2"/>
          <a:srcRect l="0" r="0" t="0" b="0"/>
          <a:stretch>
            <a:fillRect/>
          </a:stretch>
        </p:blipFill>
        <p:spPr>
          <a:xfrm rot="0" flipH="false" flipV="false">
            <a:off x="1835150" y="2787015"/>
            <a:ext cx="7311390" cy="163893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1835785" y="4513580"/>
            <a:ext cx="7310755" cy="163893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算子融合</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例子：</a:t>
            </a:r>
            <a:r>
              <a:rPr lang="en-US" b="false" i="false" strike="noStrike" u="none" sz="2800">
                <a:solidFill>
                  <a:srgbClr val="404040"/>
                </a:solidFill>
                <a:latin typeface="Ebrima"/>
                <a:ea typeface="Ebrima"/>
                <a:cs typeface="Ebrima"/>
                <a:sym typeface="Ebrima"/>
              </a:rPr>
              <a:t>Fused Softmax</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例子：</a:t>
            </a:r>
            <a:r>
              <a:rPr lang="en-US" b="false" i="false" strike="noStrike" u="none" sz="3600">
                <a:solidFill>
                  <a:srgbClr val="262626"/>
                </a:solidFill>
                <a:latin typeface="Calibri"/>
                <a:ea typeface="Calibri"/>
                <a:cs typeface="Calibri"/>
                <a:sym typeface="Calibri"/>
              </a:rPr>
              <a:t>Softmax</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741680" y="1256030"/>
            <a:ext cx="7590155" cy="3648710"/>
          </a:xfrm>
          <a:prstGeom prst="rect">
            <a:avLst/>
          </a:prstGeom>
        </p:spPr>
      </p:pic>
      <p:sp>
        <p:nvSpPr>
          <p:cNvPr name="AutoShape 6" id="6"/>
          <p:cNvSpPr/>
          <p:nvPr/>
        </p:nvSpPr>
        <p:spPr>
          <a:xfrm rot="0" flipH="false" flipV="false">
            <a:off x="638810" y="5148580"/>
            <a:ext cx="10572115" cy="963930"/>
          </a:xfrm>
          <a:prstGeom prst="rect">
            <a:avLst/>
          </a:prstGeom>
          <a:noFill/>
          <a:ln w="12700">
            <a:noFill/>
            <a:prstDash val="solid"/>
          </a:ln>
        </p:spPr>
        <p:txBody>
          <a:bodyPr anchor="t" rtlCol="false" vert="horz" wrap="square" lIns="91440" rIns="91440" tIns="45720" bIns="45720">
            <a:normAutofit lnSpcReduction="0"/>
          </a:bodyPr>
          <a:lstStyle/>
          <a:p>
            <a:pPr algn="l" indent="-279400" marL="279400">
              <a:lnSpc>
                <a:spcPct val="116666"/>
              </a:lnSpc>
              <a:spcBef>
                <a:spcPts val="1500"/>
              </a:spcBef>
              <a:buClr>
                <a:srgbClr val="404040"/>
              </a:buClr>
              <a:buChar char="•"/>
              <a:defRPr/>
            </a:pPr>
            <a:r>
              <a:rPr lang="en-US" b="false" i="false" strike="noStrike" u="none" sz="2200">
                <a:solidFill>
                  <a:srgbClr val="404040"/>
                </a:solidFill>
                <a:latin typeface="微软雅黑"/>
                <a:ea typeface="微软雅黑"/>
                <a:cs typeface="微软雅黑"/>
                <a:sym typeface="微软雅黑"/>
              </a:rPr>
              <a:t>性能瓶颈：总计读取</a:t>
            </a:r>
            <a:r>
              <a:rPr lang="en-US" b="false" i="false" strike="noStrike" u="none" sz="2200">
                <a:solidFill>
                  <a:srgbClr val="404040"/>
                </a:solidFill>
                <a:latin typeface="Calibri"/>
                <a:ea typeface="Calibri"/>
                <a:cs typeface="Calibri"/>
                <a:sym typeface="Calibri"/>
              </a:rPr>
              <a:t> 5MN+2M </a:t>
            </a:r>
            <a:r>
              <a:rPr lang="en-US" b="false" i="false" strike="noStrike" u="none" sz="2200">
                <a:solidFill>
                  <a:srgbClr val="404040"/>
                </a:solidFill>
                <a:latin typeface="微软雅黑"/>
                <a:ea typeface="微软雅黑"/>
                <a:cs typeface="微软雅黑"/>
                <a:sym typeface="微软雅黑"/>
              </a:rPr>
              <a:t>元素，写入</a:t>
            </a:r>
            <a:r>
              <a:rPr lang="en-US" b="false" i="false" strike="noStrike" u="none" sz="2200">
                <a:solidFill>
                  <a:srgbClr val="404040"/>
                </a:solidFill>
                <a:latin typeface="Calibri"/>
                <a:ea typeface="Calibri"/>
                <a:cs typeface="Calibri"/>
                <a:sym typeface="Calibri"/>
              </a:rPr>
              <a:t> 3MN+2M </a:t>
            </a:r>
            <a:r>
              <a:rPr lang="en-US" b="false" i="false" strike="noStrike" u="none" sz="2200">
                <a:solidFill>
                  <a:srgbClr val="404040"/>
                </a:solidFill>
                <a:latin typeface="微软雅黑"/>
                <a:ea typeface="微软雅黑"/>
                <a:cs typeface="微软雅黑"/>
                <a:sym typeface="微软雅黑"/>
              </a:rPr>
              <a:t>元素，频繁的全局内存读写导致严重的带宽浪费</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8503285" y="2642235"/>
            <a:ext cx="3552825" cy="963930"/>
          </a:xfrm>
          <a:prstGeom prst="rect">
            <a:avLst/>
          </a:prstGeom>
          <a:ln w="12700">
            <a:noFill/>
            <a:prstDash val="solid"/>
          </a:ln>
        </p:spPr>
      </p:pic>
      <p:sp>
        <p:nvSpPr>
          <p:cNvPr name="AutoShape 8" id="8"/>
          <p:cNvSpPr/>
          <p:nvPr/>
        </p:nvSpPr>
        <p:spPr>
          <a:xfrm rot="0" flipH="false" flipV="false">
            <a:off x="8439785" y="1868805"/>
            <a:ext cx="2569845" cy="773430"/>
          </a:xfrm>
          <a:prstGeom prst="rect">
            <a:avLst/>
          </a:prstGeom>
          <a:noFill/>
          <a:ln w="12700">
            <a:noFill/>
            <a:prstDash val="solid"/>
          </a:ln>
        </p:spPr>
        <p:txBody>
          <a:bodyPr anchor="t" rtlCol="false" vert="horz" wrap="square" lIns="91440" rIns="91440" tIns="45720" bIns="45720">
            <a:normAutofit lnSpcReduction="0"/>
          </a:bodyPr>
          <a:lstStyle/>
          <a:p>
            <a:pPr algn="l" indent="-279400" marL="279400">
              <a:lnSpc>
                <a:spcPct val="116666"/>
              </a:lnSpc>
              <a:spcBef>
                <a:spcPts val="1500"/>
              </a:spcBef>
              <a:buClr>
                <a:srgbClr val="404040"/>
              </a:buClr>
              <a:buChar char="•"/>
              <a:defRPr/>
            </a:pPr>
            <a:r>
              <a:rPr lang="en-US" b="false" i="false" strike="noStrike" u="none" sz="2200">
                <a:solidFill>
                  <a:srgbClr val="404040"/>
                </a:solidFill>
                <a:latin typeface="微软雅黑"/>
                <a:ea typeface="微软雅黑"/>
                <a:cs typeface="微软雅黑"/>
                <a:sym typeface="微软雅黑"/>
              </a:rPr>
              <a:t>计算公式</a:t>
            </a:r>
            <a:endParaRPr lang="en-US" sz="1100"/>
          </a:p>
        </p:txBody>
      </p:sp>
      <p:sp>
        <p:nvSpPr>
          <p:cNvPr name="AutoShape 9" id="9"/>
          <p:cNvSpPr/>
          <p:nvPr/>
        </p:nvSpPr>
        <p:spPr>
          <a:xfrm rot="0" flipH="false" flipV="false">
            <a:off x="9658350" y="2333625"/>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例子：</a:t>
            </a:r>
            <a:r>
              <a:rPr lang="en-US" b="false" i="false" strike="noStrike" u="none" sz="3600">
                <a:solidFill>
                  <a:srgbClr val="262626"/>
                </a:solidFill>
                <a:latin typeface="Calibri"/>
                <a:ea typeface="Calibri"/>
                <a:cs typeface="Calibri"/>
                <a:sym typeface="Calibri"/>
              </a:rPr>
              <a:t>Softmax</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算子融合基本思路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Load </a:t>
            </a:r>
            <a:r>
              <a:rPr lang="en-US" b="false" i="false" strike="noStrike" u="none" sz="2000">
                <a:solidFill>
                  <a:srgbClr val="404040"/>
                </a:solidFill>
                <a:latin typeface="微软雅黑"/>
                <a:ea typeface="微软雅黑"/>
                <a:cs typeface="微软雅黑"/>
                <a:sym typeface="微软雅黑"/>
              </a:rPr>
              <a:t>：所有线程并行协作，将数据从</a:t>
            </a:r>
            <a:r>
              <a:rPr lang="en-US" b="false" i="false" strike="noStrike" u="none" sz="2000">
                <a:solidFill>
                  <a:srgbClr val="404040"/>
                </a:solidFill>
                <a:latin typeface="Calibri"/>
                <a:ea typeface="Calibri"/>
                <a:cs typeface="Calibri"/>
                <a:sym typeface="Calibri"/>
              </a:rPr>
              <a:t> Global Memory </a:t>
            </a:r>
            <a:r>
              <a:rPr lang="en-US" b="false" i="false" strike="noStrike" u="none" sz="2000">
                <a:solidFill>
                  <a:srgbClr val="404040"/>
                </a:solidFill>
                <a:latin typeface="微软雅黑"/>
                <a:ea typeface="微软雅黑"/>
                <a:cs typeface="微软雅黑"/>
                <a:sym typeface="微软雅黑"/>
              </a:rPr>
              <a:t>读取并写入</a:t>
            </a:r>
            <a:r>
              <a:rPr lang="en-US" b="false" i="false" strike="noStrike" u="none" sz="2000">
                <a:solidFill>
                  <a:srgbClr val="404040"/>
                </a:solidFill>
                <a:latin typeface="Calibri"/>
                <a:ea typeface="Calibri"/>
                <a:cs typeface="Calibri"/>
                <a:sym typeface="Calibri"/>
              </a:rPr>
              <a:t> Shared Memory</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Sync &amp; Reduce</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Shared Memory </a:t>
            </a:r>
            <a:r>
              <a:rPr lang="en-US" b="false" i="false" strike="noStrike" u="none" sz="2000">
                <a:solidFill>
                  <a:srgbClr val="404040"/>
                </a:solidFill>
                <a:latin typeface="微软雅黑"/>
                <a:ea typeface="微软雅黑"/>
                <a:cs typeface="微软雅黑"/>
                <a:sym typeface="微软雅黑"/>
              </a:rPr>
              <a:t>内部进行多次迭代，这一步完全在片上高速完成，不消耗显存带宽</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CUDA</a:t>
            </a:r>
            <a:r>
              <a:rPr lang="en-US" b="false" i="false" strike="noStrike" u="none" sz="1600">
                <a:solidFill>
                  <a:srgbClr val="404040"/>
                </a:solidFill>
                <a:latin typeface="微软雅黑"/>
                <a:ea typeface="微软雅黑"/>
                <a:cs typeface="微软雅黑"/>
                <a:sym typeface="微软雅黑"/>
              </a:rPr>
              <a:t>：每一步都要用</a:t>
            </a:r>
            <a:r>
              <a:rPr lang="en-US" b="false" i="false" strike="noStrike" u="none" sz="1600">
                <a:solidFill>
                  <a:srgbClr val="404040"/>
                </a:solidFill>
                <a:latin typeface="Calibri"/>
                <a:ea typeface="Calibri"/>
                <a:cs typeface="Calibri"/>
                <a:sym typeface="Calibri"/>
              </a:rPr>
              <a:t> __syncthreads() </a:t>
            </a:r>
            <a:r>
              <a:rPr lang="en-US" b="false" i="false" strike="noStrike" u="none" sz="1600">
                <a:solidFill>
                  <a:srgbClr val="404040"/>
                </a:solidFill>
                <a:latin typeface="微软雅黑"/>
                <a:ea typeface="微软雅黑"/>
                <a:cs typeface="微软雅黑"/>
                <a:sym typeface="微软雅黑"/>
              </a:rPr>
              <a:t>同步</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Triton</a:t>
            </a:r>
            <a:r>
              <a:rPr lang="en-US" b="false" i="false" strike="noStrike" u="none" sz="1600">
                <a:solidFill>
                  <a:srgbClr val="404040"/>
                </a:solidFill>
                <a:latin typeface="微软雅黑"/>
                <a:ea typeface="微软雅黑"/>
                <a:cs typeface="微软雅黑"/>
                <a:sym typeface="微软雅黑"/>
              </a:rPr>
              <a:t>：自动实现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Write</a:t>
            </a:r>
            <a:r>
              <a:rPr lang="en-US" b="false" i="false" strike="noStrike" u="none" sz="2000">
                <a:solidFill>
                  <a:srgbClr val="404040"/>
                </a:solidFill>
                <a:latin typeface="微软雅黑"/>
                <a:ea typeface="微软雅黑"/>
                <a:cs typeface="微软雅黑"/>
                <a:sym typeface="微软雅黑"/>
              </a:rPr>
              <a:t>：只有最终归约出的一个结果才会被写回</a:t>
            </a:r>
            <a:r>
              <a:rPr lang="en-US" b="false" i="false" strike="noStrike" u="none" sz="2000">
                <a:solidFill>
                  <a:srgbClr val="404040"/>
                </a:solidFill>
                <a:latin typeface="Calibri"/>
                <a:ea typeface="Calibri"/>
                <a:cs typeface="Calibri"/>
                <a:sym typeface="Calibri"/>
              </a:rPr>
              <a:t> Global Memory</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Softmax_kernel</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SRAM Residency</a:t>
            </a:r>
            <a:r>
              <a:rPr lang="en-US" b="false" i="false" strike="noStrike" u="none" sz="2400">
                <a:solidFill>
                  <a:srgbClr val="404040"/>
                </a:solidFill>
                <a:latin typeface="微软雅黑"/>
                <a:ea typeface="微软雅黑"/>
                <a:cs typeface="微软雅黑"/>
                <a:sym typeface="微软雅黑"/>
              </a:rPr>
              <a:t>：整行数据加载后常驻片上，直到计算结束</a:t>
            </a:r>
          </a:p>
        </p:txBody>
      </p:sp>
      <p:pic>
        <p:nvPicPr>
          <p:cNvPr name="Picture 6" id="6"/>
          <p:cNvPicPr>
            <a:picLocks noChangeAspect="true"/>
          </p:cNvPicPr>
          <p:nvPr/>
        </p:nvPicPr>
        <p:blipFill>
          <a:blip r:embed="rId2"/>
          <a:srcRect l="0" r="0" t="0" b="0"/>
          <a:stretch>
            <a:fillRect/>
          </a:stretch>
        </p:blipFill>
        <p:spPr>
          <a:xfrm rot="0" flipH="false" flipV="false">
            <a:off x="951230" y="1878330"/>
            <a:ext cx="8053705" cy="4301490"/>
          </a:xfrm>
          <a:prstGeom prst="rect">
            <a:avLst/>
          </a:prstGeom>
          <a:ln w="12700">
            <a:noFill/>
            <a:prstDash val="solid"/>
          </a:ln>
        </p:spPr>
      </p:pic>
      <p:sp>
        <p:nvSpPr>
          <p:cNvPr name="AutoShape 7" id="7"/>
          <p:cNvSpPr/>
          <p:nvPr/>
        </p:nvSpPr>
        <p:spPr>
          <a:xfrm rot="0" flipH="false" flipV="false">
            <a:off x="1482090" y="4338955"/>
            <a:ext cx="4272915" cy="179705"/>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1482090" y="3199765"/>
            <a:ext cx="5426075" cy="789305"/>
          </a:xfrm>
          <a:prstGeom prst="rect">
            <a:avLst/>
          </a:prstGeom>
          <a:no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6254750" y="4244340"/>
            <a:ext cx="65278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FFFF00"/>
                </a:solidFill>
                <a:latin typeface="微软雅黑"/>
                <a:ea typeface="微软雅黑"/>
                <a:cs typeface="微软雅黑"/>
                <a:sym typeface="微软雅黑"/>
              </a:rPr>
              <a:t>加载</a:t>
            </a:r>
            <a:endParaRPr lang="en-US" sz="1100"/>
          </a:p>
        </p:txBody>
      </p:sp>
      <p:sp>
        <p:nvSpPr>
          <p:cNvPr name="AutoShape 10" id="10"/>
          <p:cNvSpPr/>
          <p:nvPr/>
        </p:nvSpPr>
        <p:spPr>
          <a:xfrm rot="0" flipH="false" flipV="false">
            <a:off x="7048500" y="3410585"/>
            <a:ext cx="155511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FFFFFF"/>
                </a:solidFill>
                <a:latin typeface="微软雅黑"/>
                <a:ea typeface="微软雅黑"/>
                <a:cs typeface="微软雅黑"/>
                <a:sym typeface="微软雅黑"/>
              </a:rPr>
              <a:t>内存指针计算</a:t>
            </a:r>
            <a:endParaRPr lang="en-US" sz="1100"/>
          </a:p>
        </p:txBody>
      </p:sp>
      <p:sp>
        <p:nvSpPr>
          <p:cNvPr name="AutoShape 11" id="11"/>
          <p:cNvSpPr/>
          <p:nvPr/>
        </p:nvSpPr>
        <p:spPr>
          <a:xfrm rot="0" flipH="false" flipV="false">
            <a:off x="1482090" y="5940425"/>
            <a:ext cx="4272915" cy="179705"/>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6319520" y="5751830"/>
            <a:ext cx="117538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FFFF00"/>
                </a:solidFill>
                <a:latin typeface="微软雅黑"/>
                <a:ea typeface="微软雅黑"/>
                <a:cs typeface="微软雅黑"/>
                <a:sym typeface="微软雅黑"/>
              </a:rPr>
              <a:t>数据写回</a:t>
            </a:r>
            <a:endParaRPr lang="en-US" sz="1100"/>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Softmax_kernel</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算子融合：将</a:t>
            </a:r>
            <a:r>
              <a:rPr lang="en-US" b="false" i="false" strike="noStrike" u="none" sz="2400">
                <a:solidFill>
                  <a:srgbClr val="404040"/>
                </a:solidFill>
                <a:latin typeface="Calibri"/>
                <a:ea typeface="Calibri"/>
                <a:cs typeface="Calibri"/>
                <a:sym typeface="Calibri"/>
              </a:rPr>
              <a:t> Max, Sub, Exp, Sum </a:t>
            </a:r>
            <a:r>
              <a:rPr lang="en-US" b="false" i="false" strike="noStrike" u="none" sz="2400">
                <a:solidFill>
                  <a:srgbClr val="404040"/>
                </a:solidFill>
                <a:latin typeface="微软雅黑"/>
                <a:ea typeface="微软雅黑"/>
                <a:cs typeface="微软雅黑"/>
                <a:sym typeface="微软雅黑"/>
              </a:rPr>
              <a:t>合并为一个</a:t>
            </a:r>
            <a:r>
              <a:rPr lang="en-US" b="false" i="false" strike="noStrike" u="none" sz="2400">
                <a:solidFill>
                  <a:srgbClr val="404040"/>
                </a:solidFill>
                <a:latin typeface="Calibri"/>
                <a:ea typeface="Calibri"/>
                <a:cs typeface="Calibri"/>
                <a:sym typeface="Calibri"/>
              </a:rPr>
              <a:t> Kernel</a:t>
            </a:r>
          </a:p>
        </p:txBody>
      </p:sp>
      <p:pic>
        <p:nvPicPr>
          <p:cNvPr name="Picture 6" id="6"/>
          <p:cNvPicPr>
            <a:picLocks noChangeAspect="true"/>
          </p:cNvPicPr>
          <p:nvPr/>
        </p:nvPicPr>
        <p:blipFill>
          <a:blip r:embed="rId2"/>
          <a:srcRect l="0" r="0" t="0" b="0"/>
          <a:stretch>
            <a:fillRect/>
          </a:stretch>
        </p:blipFill>
        <p:spPr>
          <a:xfrm rot="0" flipH="false" flipV="false">
            <a:off x="951230" y="1878330"/>
            <a:ext cx="8053705" cy="4301490"/>
          </a:xfrm>
          <a:prstGeom prst="rect">
            <a:avLst/>
          </a:prstGeom>
          <a:ln w="12700">
            <a:noFill/>
            <a:prstDash val="solid"/>
          </a:ln>
        </p:spPr>
      </p:pic>
      <p:sp>
        <p:nvSpPr>
          <p:cNvPr name="AutoShape 7" id="7"/>
          <p:cNvSpPr/>
          <p:nvPr/>
        </p:nvSpPr>
        <p:spPr>
          <a:xfrm rot="0" flipH="false" flipV="false">
            <a:off x="1482090" y="4459605"/>
            <a:ext cx="6150610" cy="1006475"/>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7749540" y="4627880"/>
            <a:ext cx="122682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FFFF00"/>
                </a:solidFill>
                <a:latin typeface="微软雅黑"/>
                <a:ea typeface="微软雅黑"/>
                <a:cs typeface="微软雅黑"/>
                <a:sym typeface="微软雅黑"/>
              </a:rPr>
              <a:t>算子融合</a:t>
            </a:r>
            <a:endParaRPr lang="en-US" sz="1100"/>
          </a:p>
        </p:txBody>
      </p:sp>
      <p:pic>
        <p:nvPicPr>
          <p:cNvPr name="Picture 9" id="9"/>
          <p:cNvPicPr>
            <a:picLocks noChangeAspect="true"/>
          </p:cNvPicPr>
          <p:nvPr/>
        </p:nvPicPr>
        <p:blipFill>
          <a:blip r:embed="rId3"/>
          <a:srcRect l="0" r="0" t="0" b="0"/>
          <a:stretch>
            <a:fillRect/>
          </a:stretch>
        </p:blipFill>
        <p:spPr>
          <a:xfrm rot="0" flipH="false" flipV="false">
            <a:off x="9214485" y="4459605"/>
            <a:ext cx="2444750" cy="1160780"/>
          </a:xfrm>
          <a:prstGeom prst="rect">
            <a:avLst/>
          </a:prstGeom>
          <a:ln w="12700">
            <a:noFill/>
            <a:prstDash val="solid"/>
          </a:ln>
        </p:spPr>
      </p:pic>
      <p:sp>
        <p:nvSpPr>
          <p:cNvPr name="AutoShape 10" id="10"/>
          <p:cNvSpPr/>
          <p:nvPr/>
        </p:nvSpPr>
        <p:spPr>
          <a:xfrm rot="0" flipH="false" flipV="false">
            <a:off x="9371965" y="3429000"/>
            <a:ext cx="2199005" cy="902970"/>
          </a:xfrm>
          <a:prstGeom prst="rect">
            <a:avLst/>
          </a:prstGeom>
          <a:noFill/>
          <a:ln w="12700">
            <a:noFill/>
            <a:prstDash val="solid"/>
          </a:ln>
        </p:spPr>
        <p:txBody>
          <a:bodyPr anchor="t" rtlCol="false" wrap="square" lIns="91440" rIns="91440" tIns="45720" bIns="45720">
            <a:spAutoFit/>
          </a:bodyPr>
          <a:lstStyle/>
          <a:p>
            <a:pPr algn="l" indent="0">
              <a:lnSpc>
                <a:spcPct val="116666"/>
              </a:lnSpc>
              <a:defRPr/>
            </a:pPr>
            <a:r>
              <a:rPr lang="en-US" b="false" i="false" strike="noStrike" u="none" sz="2200">
                <a:solidFill>
                  <a:srgbClr val="404040"/>
                </a:solidFill>
                <a:latin typeface="微软雅黑"/>
                <a:ea typeface="微软雅黑"/>
                <a:cs typeface="微软雅黑"/>
                <a:sym typeface="微软雅黑"/>
              </a:rPr>
              <a:t>内部自动实现并行的树状结构</a:t>
            </a:r>
            <a:endParaRPr lang="en-US" sz="1100"/>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SoftMax Host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741482" y="1132840"/>
            <a:ext cx="7683896" cy="4852988"/>
          </a:xfrm>
          <a:prstGeom prst="rect">
            <a:avLst/>
          </a:prstGeom>
        </p:spPr>
      </p:pic>
      <p:sp>
        <p:nvSpPr>
          <p:cNvPr name="AutoShape 6" id="6"/>
          <p:cNvSpPr/>
          <p:nvPr/>
        </p:nvSpPr>
        <p:spPr>
          <a:xfrm rot="0" flipH="false" flipV="false">
            <a:off x="8393430" y="1619250"/>
            <a:ext cx="3298825" cy="3987800"/>
          </a:xfrm>
          <a:prstGeom prst="rect">
            <a:avLst/>
          </a:prstGeom>
          <a:noFill/>
          <a:ln w="12700">
            <a:noFill/>
            <a:prstDash val="solid"/>
          </a:ln>
        </p:spPr>
        <p:txBody>
          <a:bodyPr anchor="t" rtlCol="false" vert="horz" wrap="square" lIns="91440" rIns="91440" tIns="45720" bIns="45720">
            <a:normAutofit lnSpcReduction="10000"/>
          </a:bodyPr>
          <a:lstStyle/>
          <a:p>
            <a:pPr algn="l" indent="-254000" marL="254000">
              <a:lnSpc>
                <a:spcPct val="133333"/>
              </a:lnSpc>
              <a:spcBef>
                <a:spcPts val="1200"/>
              </a:spcBef>
              <a:buClr>
                <a:srgbClr val="404040"/>
              </a:buClr>
              <a:buChar char="•"/>
              <a:defRPr/>
            </a:pPr>
            <a:r>
              <a:rPr lang="en-US" b="false" i="false" strike="noStrike" u="none" sz="2000">
                <a:solidFill>
                  <a:srgbClr val="404040"/>
                </a:solidFill>
                <a:latin typeface="微软雅黑"/>
                <a:ea typeface="微软雅黑"/>
                <a:cs typeface="微软雅黑"/>
                <a:sym typeface="微软雅黑"/>
              </a:rPr>
              <a:t>静态内核特化</a:t>
            </a:r>
            <a:endParaRPr lang="en-US" sz="1100"/>
          </a:p>
          <a:p>
            <a:pPr algn="l" indent="-254000" lvl="1" marL="596900">
              <a:lnSpc>
                <a:spcPct val="133333"/>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将输入维度对齐到</a:t>
            </a:r>
            <a:r>
              <a:rPr lang="en-US" b="false" i="false" strike="noStrike" u="none" sz="2000">
                <a:solidFill>
                  <a:srgbClr val="404040"/>
                </a:solidFill>
                <a:latin typeface="Calibri"/>
                <a:ea typeface="Calibri"/>
                <a:cs typeface="Calibri"/>
                <a:sym typeface="Calibri"/>
              </a:rPr>
              <a:t> 2 </a:t>
            </a:r>
            <a:r>
              <a:rPr lang="en-US" b="false" i="false" strike="noStrike" u="none" sz="2000">
                <a:solidFill>
                  <a:srgbClr val="404040"/>
                </a:solidFill>
                <a:latin typeface="微软雅黑"/>
                <a:ea typeface="微软雅黑"/>
                <a:cs typeface="微软雅黑"/>
                <a:sym typeface="微软雅黑"/>
              </a:rPr>
              <a:t>幂次</a:t>
            </a:r>
          </a:p>
          <a:p>
            <a:pPr algn="l" indent="-254000" lvl="1" marL="596900">
              <a:lnSpc>
                <a:spcPct val="133333"/>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确保内核参数</a:t>
            </a:r>
            <a:r>
              <a:rPr lang="en-US" b="false" i="false" strike="noStrike" u="none" sz="2000">
                <a:solidFill>
                  <a:srgbClr val="404040"/>
                </a:solidFill>
                <a:latin typeface="Calibri"/>
                <a:ea typeface="Calibri"/>
                <a:cs typeface="Calibri"/>
                <a:sym typeface="Calibri"/>
              </a:rPr>
              <a:t> BLOCK_SIZE </a:t>
            </a:r>
            <a:r>
              <a:rPr lang="en-US" b="false" i="false" strike="noStrike" u="none" sz="2000">
                <a:solidFill>
                  <a:srgbClr val="404040"/>
                </a:solidFill>
                <a:latin typeface="微软雅黑"/>
                <a:ea typeface="微软雅黑"/>
                <a:cs typeface="微软雅黑"/>
                <a:sym typeface="微软雅黑"/>
              </a:rPr>
              <a:t>为编译时常量</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，允许编译器执行完全循环展开</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，消除运行时的分支判断开销</a:t>
            </a:r>
          </a:p>
        </p:txBody>
      </p:sp>
      <p:sp>
        <p:nvSpPr>
          <p:cNvPr name="AutoShape 7" id="7"/>
          <p:cNvSpPr/>
          <p:nvPr/>
        </p:nvSpPr>
        <p:spPr>
          <a:xfrm rot="0" flipH="false" flipV="false">
            <a:off x="854075" y="1837690"/>
            <a:ext cx="5713730" cy="596900"/>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SoftMax Host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741482" y="1070610"/>
            <a:ext cx="7683896" cy="4852988"/>
          </a:xfrm>
          <a:prstGeom prst="rect">
            <a:avLst/>
          </a:prstGeom>
        </p:spPr>
      </p:pic>
      <p:sp>
        <p:nvSpPr>
          <p:cNvPr name="AutoShape 6" id="6"/>
          <p:cNvSpPr/>
          <p:nvPr/>
        </p:nvSpPr>
        <p:spPr>
          <a:xfrm rot="0" flipH="false" flipV="false">
            <a:off x="8430895" y="1868170"/>
            <a:ext cx="3361690" cy="3738880"/>
          </a:xfrm>
          <a:prstGeom prst="rect">
            <a:avLst/>
          </a:prstGeom>
          <a:noFill/>
          <a:ln w="12700">
            <a:noFill/>
            <a:prstDash val="solid"/>
          </a:ln>
        </p:spPr>
        <p:txBody>
          <a:bodyPr anchor="t" rtlCol="false" vert="horz" wrap="square" lIns="91440" rIns="91440" tIns="45720" bIns="45720">
            <a:normAutofit lnSpcReduction="0"/>
          </a:bodyPr>
          <a:lstStyle/>
          <a:p>
            <a:pPr algn="l" indent="-254000" marL="254000">
              <a:lnSpc>
                <a:spcPct val="150000"/>
              </a:lnSpc>
              <a:spcBef>
                <a:spcPts val="1200"/>
              </a:spcBef>
              <a:buClr>
                <a:srgbClr val="404040"/>
              </a:buClr>
              <a:buChar char="•"/>
              <a:defRPr/>
            </a:pPr>
            <a:r>
              <a:rPr lang="en-US" b="false" i="false" strike="noStrike" u="none" sz="2000">
                <a:solidFill>
                  <a:srgbClr val="404040"/>
                </a:solidFill>
                <a:latin typeface="微软雅黑"/>
                <a:ea typeface="微软雅黑"/>
                <a:cs typeface="微软雅黑"/>
                <a:sym typeface="微软雅黑"/>
              </a:rPr>
              <a:t>硬件感知型占用率</a:t>
            </a:r>
            <a:endParaRPr lang="en-US" sz="1100"/>
          </a:p>
          <a:p>
            <a:pPr algn="l" indent="-254000" lvl="1" marL="596900">
              <a:lnSpc>
                <a:spcPct val="150000"/>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 warmup </a:t>
            </a:r>
            <a:r>
              <a:rPr lang="en-US" b="false" i="false" strike="noStrike" u="none" sz="2000">
                <a:solidFill>
                  <a:srgbClr val="404040"/>
                </a:solidFill>
                <a:latin typeface="微软雅黑"/>
                <a:ea typeface="微软雅黑"/>
                <a:cs typeface="微软雅黑"/>
                <a:sym typeface="微软雅黑"/>
              </a:rPr>
              <a:t>探测内核对寄存器和</a:t>
            </a:r>
            <a:r>
              <a:rPr lang="en-US" b="false" i="false" strike="noStrike" u="none" sz="2000">
                <a:solidFill>
                  <a:srgbClr val="404040"/>
                </a:solidFill>
                <a:latin typeface="Calibri"/>
                <a:ea typeface="Calibri"/>
                <a:cs typeface="Calibri"/>
                <a:sym typeface="Calibri"/>
              </a:rPr>
              <a:t>SRAM</a:t>
            </a:r>
            <a:r>
              <a:rPr lang="en-US" b="false" i="false" strike="noStrike" u="none" sz="2000">
                <a:solidFill>
                  <a:srgbClr val="404040"/>
                </a:solidFill>
                <a:latin typeface="微软雅黑"/>
                <a:ea typeface="微软雅黑"/>
                <a:cs typeface="微软雅黑"/>
                <a:sym typeface="微软雅黑"/>
              </a:rPr>
              <a:t>的实际消耗</a:t>
            </a:r>
          </a:p>
          <a:p>
            <a:pPr algn="l" indent="-254000" lvl="1" marL="596900">
              <a:lnSpc>
                <a:spcPct val="150000"/>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最大化每个</a:t>
            </a:r>
            <a:r>
              <a:rPr lang="en-US" b="false" i="false" strike="noStrike" u="none" sz="2000">
                <a:solidFill>
                  <a:srgbClr val="404040"/>
                </a:solidFill>
                <a:latin typeface="Calibri"/>
                <a:ea typeface="Calibri"/>
                <a:cs typeface="Calibri"/>
                <a:sym typeface="Calibri"/>
              </a:rPr>
              <a:t>SM</a:t>
            </a:r>
            <a:r>
              <a:rPr lang="en-US" b="false" i="false" strike="noStrike" u="none" sz="2000">
                <a:solidFill>
                  <a:srgbClr val="404040"/>
                </a:solidFill>
                <a:latin typeface="微软雅黑"/>
                <a:ea typeface="微软雅黑"/>
                <a:cs typeface="微软雅黑"/>
                <a:sym typeface="微软雅黑"/>
              </a:rPr>
              <a:t>的活跃</a:t>
            </a:r>
            <a:r>
              <a:rPr lang="en-US" b="false" i="false" strike="noStrike" u="none" sz="2000">
                <a:solidFill>
                  <a:srgbClr val="404040"/>
                </a:solidFill>
                <a:latin typeface="Calibri"/>
                <a:ea typeface="Calibri"/>
                <a:cs typeface="Calibri"/>
                <a:sym typeface="Calibri"/>
              </a:rPr>
              <a:t>warp</a:t>
            </a:r>
            <a:r>
              <a:rPr lang="en-US" b="false" i="false" strike="noStrike" u="none" sz="2000">
                <a:solidFill>
                  <a:srgbClr val="404040"/>
                </a:solidFill>
                <a:latin typeface="微软雅黑"/>
                <a:ea typeface="微软雅黑"/>
                <a:cs typeface="微软雅黑"/>
                <a:sym typeface="微软雅黑"/>
              </a:rPr>
              <a:t>数量</a:t>
            </a:r>
          </a:p>
        </p:txBody>
      </p:sp>
      <p:sp>
        <p:nvSpPr>
          <p:cNvPr name="AutoShape 7" id="7"/>
          <p:cNvSpPr/>
          <p:nvPr/>
        </p:nvSpPr>
        <p:spPr>
          <a:xfrm rot="0" flipH="false" flipV="false">
            <a:off x="854075" y="2434590"/>
            <a:ext cx="6724650" cy="1840230"/>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SoftMax Host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853242" y="1189990"/>
            <a:ext cx="7683896" cy="4852988"/>
          </a:xfrm>
          <a:prstGeom prst="rect">
            <a:avLst/>
          </a:prstGeom>
        </p:spPr>
      </p:pic>
      <p:sp>
        <p:nvSpPr>
          <p:cNvPr name="AutoShape 6" id="6"/>
          <p:cNvSpPr/>
          <p:nvPr/>
        </p:nvSpPr>
        <p:spPr>
          <a:xfrm rot="0" flipH="false" flipV="false">
            <a:off x="8649970" y="1802130"/>
            <a:ext cx="3142615" cy="3804920"/>
          </a:xfrm>
          <a:prstGeom prst="rect">
            <a:avLst/>
          </a:prstGeom>
          <a:noFill/>
          <a:ln w="12700">
            <a:noFill/>
            <a:prstDash val="solid"/>
          </a:ln>
        </p:spPr>
        <p:txBody>
          <a:bodyPr anchor="t" rtlCol="false" vert="horz" wrap="square" lIns="91440" rIns="91440" tIns="45720" bIns="45720">
            <a:normAutofit lnSpcReduction="0"/>
          </a:bodyPr>
          <a:lstStyle/>
          <a:p>
            <a:pPr algn="l" indent="-254000" marL="254000">
              <a:lnSpc>
                <a:spcPct val="150000"/>
              </a:lnSpc>
              <a:spcBef>
                <a:spcPts val="1200"/>
              </a:spcBef>
              <a:buClr>
                <a:srgbClr val="404040"/>
              </a:buClr>
              <a:buChar char="•"/>
              <a:defRPr/>
            </a:pPr>
            <a:r>
              <a:rPr lang="en-US" b="false" i="false" strike="noStrike" u="none" sz="2000">
                <a:solidFill>
                  <a:srgbClr val="404040"/>
                </a:solidFill>
                <a:latin typeface="微软雅黑"/>
                <a:ea typeface="微软雅黑"/>
                <a:cs typeface="微软雅黑"/>
                <a:sym typeface="微软雅黑"/>
              </a:rPr>
              <a:t>持久化网格启动</a:t>
            </a:r>
            <a:endParaRPr lang="en-US" sz="1100"/>
          </a:p>
          <a:p>
            <a:pPr algn="l" indent="-254000" lvl="1" marL="596900">
              <a:lnSpc>
                <a:spcPct val="116666"/>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将网格大小与数据量解耦</a:t>
            </a:r>
          </a:p>
          <a:p>
            <a:pPr algn="l" indent="-254000" lvl="1" marL="596900">
              <a:lnSpc>
                <a:spcPct val="116666"/>
              </a:lnSpc>
              <a:spcBef>
                <a:spcPts val="1200"/>
              </a:spcBef>
              <a:buClr>
                <a:srgbClr val="404040"/>
              </a:buClr>
              <a:buChar char="•"/>
            </a:pPr>
            <a:r>
              <a:rPr lang="en-US" b="false" i="false" strike="noStrike" u="none" sz="2000">
                <a:solidFill>
                  <a:srgbClr val="404040"/>
                </a:solidFill>
                <a:latin typeface="微软雅黑"/>
                <a:ea typeface="微软雅黑"/>
                <a:cs typeface="微软雅黑"/>
                <a:sym typeface="微软雅黑"/>
              </a:rPr>
              <a:t>每个</a:t>
            </a:r>
            <a:r>
              <a:rPr lang="en-US" b="false" i="false" strike="noStrike" u="none" sz="2000">
                <a:solidFill>
                  <a:srgbClr val="404040"/>
                </a:solidFill>
                <a:latin typeface="Calibri"/>
                <a:ea typeface="Calibri"/>
                <a:cs typeface="Calibri"/>
                <a:sym typeface="Calibri"/>
              </a:rPr>
              <a:t> Block </a:t>
            </a:r>
            <a:r>
              <a:rPr lang="en-US" b="false" i="false" strike="noStrike" u="none" sz="2000">
                <a:solidFill>
                  <a:srgbClr val="404040"/>
                </a:solidFill>
                <a:latin typeface="微软雅黑"/>
                <a:ea typeface="微软雅黑"/>
                <a:cs typeface="微软雅黑"/>
                <a:sym typeface="微软雅黑"/>
              </a:rPr>
              <a:t>会通过跨步循环</a:t>
            </a:r>
            <a:r>
              <a:rPr lang="en-US" b="false" i="false" strike="noStrike" u="none" sz="2000">
                <a:solidFill>
                  <a:srgbClr val="404040"/>
                </a:solidFill>
                <a:latin typeface="Calibri"/>
                <a:ea typeface="Calibri"/>
                <a:cs typeface="Calibri"/>
                <a:sym typeface="Calibri"/>
              </a:rPr>
              <a:t> (Grid-Stride Loop) </a:t>
            </a:r>
            <a:r>
              <a:rPr lang="en-US" b="false" i="false" strike="noStrike" u="none" sz="2000">
                <a:solidFill>
                  <a:srgbClr val="404040"/>
                </a:solidFill>
                <a:latin typeface="微软雅黑"/>
                <a:ea typeface="微软雅黑"/>
                <a:cs typeface="微软雅黑"/>
                <a:sym typeface="微软雅黑"/>
              </a:rPr>
              <a:t>串行处理多行数据</a:t>
            </a:r>
          </a:p>
        </p:txBody>
      </p:sp>
      <p:sp>
        <p:nvSpPr>
          <p:cNvPr name="AutoShape 7" id="7"/>
          <p:cNvSpPr/>
          <p:nvPr/>
        </p:nvSpPr>
        <p:spPr>
          <a:xfrm rot="0" flipH="false" flipV="false">
            <a:off x="854075" y="4369435"/>
            <a:ext cx="6724650" cy="940435"/>
          </a:xfrm>
          <a:prstGeom prst="rect">
            <a:avLst/>
          </a:prstGeom>
          <a:noFill/>
          <a:ln w="12700" cap="flat">
            <a:solidFill>
              <a:srgbClr val="FFFF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隐藏优化</a:t>
            </a:r>
            <a:r>
              <a:rPr lang="en-US" b="false" i="false" strike="noStrike" u="none" sz="3600">
                <a:solidFill>
                  <a:srgbClr val="262626"/>
                </a:solidFill>
                <a:latin typeface="Calibri"/>
                <a:ea typeface="Calibri"/>
                <a:cs typeface="Calibri"/>
                <a:sym typeface="Calibri"/>
              </a:rPr>
              <a:t>1</a:t>
            </a:r>
            <a:r>
              <a:rPr lang="en-US" b="false" i="false" strike="noStrike" u="none" sz="3600">
                <a:solidFill>
                  <a:srgbClr val="262626"/>
                </a:solidFill>
                <a:latin typeface="微软雅黑"/>
                <a:ea typeface="微软雅黑"/>
                <a:cs typeface="微软雅黑"/>
                <a:sym typeface="微软雅黑"/>
              </a:rPr>
              <a:t>：连续寻址</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交错寻址会产生共享内存冲突（</a:t>
            </a:r>
            <a:r>
              <a:rPr lang="en-US" b="false" i="false" strike="noStrike" u="none" sz="2400">
                <a:solidFill>
                  <a:srgbClr val="404040"/>
                </a:solidFill>
                <a:latin typeface="Calibri"/>
                <a:ea typeface="Calibri"/>
                <a:cs typeface="Calibri"/>
                <a:sym typeface="Calibri"/>
              </a:rPr>
              <a:t>Bank Conflict</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741680" y="1998980"/>
            <a:ext cx="6737985" cy="3708400"/>
          </a:xfrm>
          <a:prstGeom prst="rect">
            <a:avLst/>
          </a:prstGeom>
          <a:ln w="12700">
            <a:noFill/>
            <a:prstDash val="solid"/>
          </a:ln>
        </p:spPr>
      </p:pic>
      <p:pic>
        <p:nvPicPr>
          <p:cNvPr name="Picture 7" id="7"/>
          <p:cNvPicPr>
            <a:picLocks noChangeAspect="true"/>
          </p:cNvPicPr>
          <p:nvPr/>
        </p:nvPicPr>
        <p:blipFill>
          <a:blip r:embed="rId3"/>
          <a:srcRect l="0" r="31029" t="-12" b="0"/>
          <a:stretch>
            <a:fillRect/>
          </a:stretch>
        </p:blipFill>
        <p:spPr>
          <a:xfrm rot="0" flipH="false" flipV="false">
            <a:off x="7766050" y="866140"/>
            <a:ext cx="2546350" cy="5490210"/>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隐藏优化</a:t>
            </a:r>
            <a:r>
              <a:rPr lang="en-US" b="false" i="false" strike="noStrike" u="none" sz="3600">
                <a:solidFill>
                  <a:srgbClr val="262626"/>
                </a:solidFill>
                <a:latin typeface="Calibri"/>
                <a:ea typeface="Calibri"/>
                <a:cs typeface="Calibri"/>
                <a:sym typeface="Calibri"/>
              </a:rPr>
              <a:t>1</a:t>
            </a:r>
            <a:r>
              <a:rPr lang="en-US" b="false" i="false" strike="noStrike" u="none" sz="3600">
                <a:solidFill>
                  <a:srgbClr val="262626"/>
                </a:solidFill>
                <a:latin typeface="微软雅黑"/>
                <a:ea typeface="微软雅黑"/>
                <a:cs typeface="微软雅黑"/>
                <a:sym typeface="微软雅黑"/>
              </a:rPr>
              <a:t>：连续寻址</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连续寻址（相连的线程读取相连数据）可以最大化内存带宽</a:t>
            </a:r>
          </a:p>
        </p:txBody>
      </p:sp>
      <p:pic>
        <p:nvPicPr>
          <p:cNvPr name="Picture 6" id="6"/>
          <p:cNvPicPr>
            <a:picLocks noChangeAspect="true"/>
          </p:cNvPicPr>
          <p:nvPr/>
        </p:nvPicPr>
        <p:blipFill>
          <a:blip r:embed="rId2"/>
          <a:srcRect l="0" r="0" t="0" b="0"/>
          <a:stretch>
            <a:fillRect/>
          </a:stretch>
        </p:blipFill>
        <p:spPr>
          <a:xfrm rot="0" flipH="false" flipV="false">
            <a:off x="741680" y="2172970"/>
            <a:ext cx="6321425" cy="354901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219950" y="5067935"/>
            <a:ext cx="4279900" cy="553085"/>
          </a:xfrm>
          <a:prstGeom prst="rect">
            <a:avLst/>
          </a:prstGeom>
          <a:ln w="12700">
            <a:noFill/>
            <a:prstDash val="solid"/>
          </a:ln>
        </p:spPr>
      </p:pic>
      <p:sp>
        <p:nvSpPr>
          <p:cNvPr name="AutoShape 8" id="8"/>
          <p:cNvSpPr/>
          <p:nvPr/>
        </p:nvSpPr>
        <p:spPr>
          <a:xfrm rot="0" flipH="false" flipV="false">
            <a:off x="7219950" y="3613150"/>
            <a:ext cx="4397375" cy="1308735"/>
          </a:xfrm>
          <a:prstGeom prst="rect">
            <a:avLst/>
          </a:prstGeom>
          <a:noFill/>
          <a:ln w="12700">
            <a:noFill/>
            <a:prstDash val="solid"/>
          </a:ln>
        </p:spPr>
        <p:txBody>
          <a:bodyPr anchor="t" rtlCol="false" wrap="square" lIns="91440" rIns="91440" tIns="45720" bIns="45720">
            <a:spAutoFit/>
          </a:bodyPr>
          <a:lstStyle/>
          <a:p>
            <a:pPr algn="l" indent="0">
              <a:lnSpc>
                <a:spcPct val="116666"/>
              </a:lnSpc>
              <a:defRPr/>
            </a:pPr>
            <a:r>
              <a:rPr lang="en-US" b="false" i="false" strike="noStrike" u="none" sz="2200">
                <a:solidFill>
                  <a:srgbClr val="404040"/>
                </a:solidFill>
                <a:latin typeface="微软雅黑"/>
                <a:ea typeface="微软雅黑"/>
                <a:cs typeface="微软雅黑"/>
                <a:sym typeface="微软雅黑"/>
              </a:rPr>
              <a:t>相比</a:t>
            </a:r>
            <a:r>
              <a:rPr lang="en-US" b="false" i="false" strike="noStrike" u="none" sz="2200">
                <a:solidFill>
                  <a:srgbClr val="404040"/>
                </a:solidFill>
                <a:latin typeface="Calibri"/>
                <a:ea typeface="Calibri"/>
                <a:cs typeface="Calibri"/>
                <a:sym typeface="Calibri"/>
              </a:rPr>
              <a:t>CUDA</a:t>
            </a:r>
            <a:r>
              <a:rPr lang="en-US" b="false" i="false" strike="noStrike" u="none" sz="2200">
                <a:solidFill>
                  <a:srgbClr val="404040"/>
                </a:solidFill>
                <a:latin typeface="微软雅黑"/>
                <a:ea typeface="微软雅黑"/>
                <a:cs typeface="微软雅黑"/>
                <a:sym typeface="微软雅黑"/>
              </a:rPr>
              <a:t>，</a:t>
            </a:r>
            <a:r>
              <a:rPr lang="en-US" b="false" i="false" strike="noStrike" u="none" sz="2200">
                <a:solidFill>
                  <a:srgbClr val="404040"/>
                </a:solidFill>
                <a:latin typeface="Calibri"/>
                <a:ea typeface="Calibri"/>
                <a:cs typeface="Calibri"/>
                <a:sym typeface="Calibri"/>
              </a:rPr>
              <a:t>Triton</a:t>
            </a:r>
            <a:r>
              <a:rPr lang="en-US" b="false" i="false" strike="noStrike" u="none" sz="2200">
                <a:solidFill>
                  <a:srgbClr val="404040"/>
                </a:solidFill>
                <a:latin typeface="微软雅黑"/>
                <a:ea typeface="微软雅黑"/>
                <a:cs typeface="微软雅黑"/>
                <a:sym typeface="微软雅黑"/>
              </a:rPr>
              <a:t>很难写出错误代码，通过显式调用</a:t>
            </a:r>
            <a:r>
              <a:rPr lang="en-US" b="false" i="false" strike="noStrike" u="none" sz="2200">
                <a:solidFill>
                  <a:srgbClr val="404040"/>
                </a:solidFill>
                <a:latin typeface="Calibri"/>
                <a:ea typeface="Calibri"/>
                <a:cs typeface="Calibri"/>
                <a:sym typeface="Calibri"/>
              </a:rPr>
              <a:t> tl.arange() </a:t>
            </a:r>
            <a:endParaRPr lang="en-US" sz="1100"/>
          </a:p>
          <a:p>
            <a:pPr algn="l" indent="0">
              <a:lnSpc>
                <a:spcPct val="116666"/>
              </a:lnSpc>
            </a:pPr>
            <a:r>
              <a:rPr lang="en-US" b="false" i="false" strike="noStrike" u="none" sz="2200">
                <a:solidFill>
                  <a:srgbClr val="404040"/>
                </a:solidFill>
                <a:latin typeface="微软雅黑"/>
                <a:ea typeface="微软雅黑"/>
                <a:cs typeface="微软雅黑"/>
                <a:sym typeface="微软雅黑"/>
              </a:rPr>
              <a:t>强制生成了连续索引</a:t>
            </a:r>
          </a:p>
        </p:txBody>
      </p:sp>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隐形优化</a:t>
            </a:r>
            <a:r>
              <a:rPr lang="en-US" b="false" i="false" strike="noStrike" u="none" sz="3600">
                <a:solidFill>
                  <a:srgbClr val="262626"/>
                </a:solidFill>
                <a:latin typeface="Calibri"/>
                <a:ea typeface="Calibri"/>
                <a:cs typeface="Calibri"/>
                <a:sym typeface="Calibri"/>
              </a:rPr>
              <a:t>2</a:t>
            </a:r>
            <a:r>
              <a:rPr lang="en-US" b="false" i="false" strike="noStrike" u="none" sz="3600">
                <a:solidFill>
                  <a:srgbClr val="262626"/>
                </a:solidFill>
                <a:latin typeface="微软雅黑"/>
                <a:ea typeface="微软雅黑"/>
                <a:cs typeface="微软雅黑"/>
                <a:sym typeface="微软雅黑"/>
              </a:rPr>
              <a:t>：算法级联</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一个线程处理多个数据，增加每线程的工作量，隐藏延迟，减少</a:t>
            </a:r>
            <a:r>
              <a:rPr lang="en-US" b="false" i="false" strike="noStrike" u="none" sz="2400">
                <a:solidFill>
                  <a:srgbClr val="404040"/>
                </a:solidFill>
                <a:latin typeface="Calibri"/>
                <a:ea typeface="Calibri"/>
                <a:cs typeface="Calibri"/>
                <a:sym typeface="Calibri"/>
              </a:rPr>
              <a:t> Block </a:t>
            </a:r>
            <a:r>
              <a:rPr lang="en-US" b="false" i="false" strike="noStrike" u="none" sz="2400">
                <a:solidFill>
                  <a:srgbClr val="404040"/>
                </a:solidFill>
                <a:latin typeface="微软雅黑"/>
                <a:ea typeface="微软雅黑"/>
                <a:cs typeface="微软雅黑"/>
                <a:sym typeface="微软雅黑"/>
              </a:rPr>
              <a:t>启动开销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如果</a:t>
            </a:r>
            <a:r>
              <a:rPr lang="en-US" b="false" i="false" strike="noStrike" u="none" sz="2000">
                <a:solidFill>
                  <a:srgbClr val="404040"/>
                </a:solidFill>
                <a:latin typeface="Calibri"/>
                <a:ea typeface="Calibri"/>
                <a:cs typeface="Calibri"/>
                <a:sym typeface="Calibri"/>
              </a:rPr>
              <a:t> BLOCK_SIZE </a:t>
            </a:r>
            <a:r>
              <a:rPr lang="en-US" b="false" i="false" strike="noStrike" u="none" sz="2000">
                <a:solidFill>
                  <a:srgbClr val="404040"/>
                </a:solidFill>
                <a:latin typeface="微软雅黑"/>
                <a:ea typeface="微软雅黑"/>
                <a:cs typeface="微软雅黑"/>
                <a:sym typeface="微软雅黑"/>
              </a:rPr>
              <a:t>远大于物理线程数，</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编译器会自动让每个物理线程内部执行一个循环，处理</a:t>
            </a:r>
            <a:r>
              <a:rPr lang="en-US" b="false" i="false" strike="noStrike" u="none" sz="2000">
                <a:solidFill>
                  <a:srgbClr val="404040"/>
                </a:solidFill>
                <a:latin typeface="Calibri"/>
                <a:ea typeface="Calibri"/>
                <a:cs typeface="Calibri"/>
                <a:sym typeface="Calibri"/>
              </a:rPr>
              <a:t> BLOCK_SIZE / thread_num </a:t>
            </a:r>
            <a:r>
              <a:rPr lang="en-US" b="false" i="false" strike="noStrike" u="none" sz="2000">
                <a:solidFill>
                  <a:srgbClr val="404040"/>
                </a:solidFill>
                <a:latin typeface="微软雅黑"/>
                <a:ea typeface="微软雅黑"/>
                <a:cs typeface="微软雅黑"/>
                <a:sym typeface="微软雅黑"/>
              </a:rPr>
              <a:t>个元素</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理论分析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朴素方案：分配</a:t>
            </a:r>
            <a:r>
              <a:rPr lang="en-US" b="false" i="false" strike="noStrike" u="none" sz="2000">
                <a:solidFill>
                  <a:srgbClr val="404040"/>
                </a:solidFill>
                <a:latin typeface="Calibri"/>
                <a:ea typeface="Calibri"/>
                <a:cs typeface="Calibri"/>
                <a:sym typeface="Calibri"/>
              </a:rPr>
              <a:t> O(N) </a:t>
            </a:r>
            <a:r>
              <a:rPr lang="en-US" b="false" i="false" strike="noStrike" u="none" sz="2000">
                <a:solidFill>
                  <a:srgbClr val="404040"/>
                </a:solidFill>
                <a:latin typeface="微软雅黑"/>
                <a:ea typeface="微软雅黑"/>
                <a:cs typeface="微软雅黑"/>
                <a:sym typeface="微软雅黑"/>
              </a:rPr>
              <a:t>个线程，时间复杂度</a:t>
            </a:r>
            <a:r>
              <a:rPr lang="en-US" b="false" i="false" strike="noStrike" u="none" sz="2000">
                <a:solidFill>
                  <a:srgbClr val="404040"/>
                </a:solidFill>
                <a:latin typeface="Calibri"/>
                <a:ea typeface="Calibri"/>
                <a:cs typeface="Calibri"/>
                <a:sym typeface="Calibri"/>
              </a:rPr>
              <a:t> O(log N)</a:t>
            </a:r>
            <a:r>
              <a:rPr lang="en-US" b="false" i="false" strike="noStrike" u="none" sz="2000">
                <a:solidFill>
                  <a:srgbClr val="404040"/>
                </a:solidFill>
                <a:latin typeface="微软雅黑"/>
                <a:ea typeface="微软雅黑"/>
                <a:cs typeface="微软雅黑"/>
                <a:sym typeface="微软雅黑"/>
              </a:rPr>
              <a:t>，总成本为</a:t>
            </a:r>
            <a:r>
              <a:rPr lang="en-US" b="false" i="false" strike="noStrike" u="none" sz="2000">
                <a:solidFill>
                  <a:srgbClr val="404040"/>
                </a:solidFill>
                <a:latin typeface="Calibri"/>
                <a:ea typeface="Calibri"/>
                <a:cs typeface="Calibri"/>
                <a:sym typeface="Calibri"/>
              </a:rPr>
              <a:t> O(N log N)</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Brent </a:t>
            </a:r>
            <a:r>
              <a:rPr lang="en-US" b="false" i="false" strike="noStrike" u="none" sz="2000">
                <a:solidFill>
                  <a:srgbClr val="404040"/>
                </a:solidFill>
                <a:latin typeface="微软雅黑"/>
                <a:ea typeface="微软雅黑"/>
                <a:cs typeface="微软雅黑"/>
                <a:sym typeface="微软雅黑"/>
              </a:rPr>
              <a:t>定理优化：使用</a:t>
            </a:r>
            <a:r>
              <a:rPr lang="en-US" b="false" i="false" strike="noStrike" u="none" sz="2000">
                <a:solidFill>
                  <a:srgbClr val="404040"/>
                </a:solidFill>
                <a:latin typeface="Calibri"/>
                <a:ea typeface="Calibri"/>
                <a:cs typeface="Calibri"/>
                <a:sym typeface="Calibri"/>
              </a:rPr>
              <a:t> O(N/log N) </a:t>
            </a:r>
            <a:r>
              <a:rPr lang="en-US" b="false" i="false" strike="noStrike" u="none" sz="2000">
                <a:solidFill>
                  <a:srgbClr val="404040"/>
                </a:solidFill>
                <a:latin typeface="微软雅黑"/>
                <a:ea typeface="微软雅黑"/>
                <a:cs typeface="微软雅黑"/>
                <a:sym typeface="微软雅黑"/>
              </a:rPr>
              <a:t>个线程，每个线程先串行处理</a:t>
            </a:r>
            <a:r>
              <a:rPr lang="en-US" b="false" i="false" strike="noStrike" u="none" sz="2000">
                <a:solidFill>
                  <a:srgbClr val="404040"/>
                </a:solidFill>
                <a:latin typeface="Calibri"/>
                <a:ea typeface="Calibri"/>
                <a:cs typeface="Calibri"/>
                <a:sym typeface="Calibri"/>
              </a:rPr>
              <a:t> O(log N) </a:t>
            </a:r>
            <a:r>
              <a:rPr lang="en-US" b="false" i="false" strike="noStrike" u="none" sz="2000">
                <a:solidFill>
                  <a:srgbClr val="404040"/>
                </a:solidFill>
                <a:latin typeface="微软雅黑"/>
                <a:ea typeface="微软雅黑"/>
                <a:cs typeface="微软雅黑"/>
                <a:sym typeface="微软雅黑"/>
              </a:rPr>
              <a:t>个元素，然后所有线程协作进行</a:t>
            </a:r>
            <a:r>
              <a:rPr lang="en-US" b="false" i="false" strike="noStrike" u="none" sz="2000">
                <a:solidFill>
                  <a:srgbClr val="404040"/>
                </a:solidFill>
                <a:latin typeface="Calibri"/>
                <a:ea typeface="Calibri"/>
                <a:cs typeface="Calibri"/>
                <a:sym typeface="Calibri"/>
              </a:rPr>
              <a:t> O(log N) </a:t>
            </a:r>
            <a:r>
              <a:rPr lang="en-US" b="false" i="false" strike="noStrike" u="none" sz="2000">
                <a:solidFill>
                  <a:srgbClr val="404040"/>
                </a:solidFill>
                <a:latin typeface="微软雅黑"/>
                <a:ea typeface="微软雅黑"/>
                <a:cs typeface="微软雅黑"/>
                <a:sym typeface="微软雅黑"/>
              </a:rPr>
              <a:t>步并行归约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总成本</a:t>
            </a:r>
            <a:r>
              <a:rPr lang="en-US" b="false" i="false" strike="noStrike" u="none" sz="2000">
                <a:solidFill>
                  <a:srgbClr val="404040"/>
                </a:solidFill>
                <a:latin typeface="Calibri"/>
                <a:ea typeface="Calibri"/>
                <a:cs typeface="Calibri"/>
                <a:sym typeface="Calibri"/>
              </a:rPr>
              <a:t> = O(N/log N)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O(log N) = O(N) → </a:t>
            </a:r>
            <a:r>
              <a:rPr lang="en-US" b="false" i="false" strike="noStrike" u="none" sz="2000">
                <a:solidFill>
                  <a:srgbClr val="404040"/>
                </a:solidFill>
                <a:latin typeface="微软雅黑"/>
                <a:ea typeface="微软雅黑"/>
                <a:cs typeface="微软雅黑"/>
                <a:sym typeface="微软雅黑"/>
              </a:rPr>
              <a:t>成本高效</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性能对比</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24</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612775" y="2479040"/>
            <a:ext cx="4352925" cy="316801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150485" y="1375410"/>
            <a:ext cx="6461125" cy="4271645"/>
          </a:xfrm>
          <a:prstGeom prst="rect">
            <a:avLst/>
          </a:prstGeom>
          <a:ln w="12700">
            <a:noFill/>
            <a:prstDash val="solid"/>
          </a:ln>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References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https://docs.flagos.io</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https://developer.download.nvidia.com/assets/cuda/files/reduction.pdf</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https://www.bu.edu/pasi/files/2011/07/Lecture31.pdf</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http://fleetwood.dev/posts/layernorm-as-fast-as-possible</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https://gfxcourses.stanford.edu/cs149/fall25</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https://triton-lang.org/main/getting-started/tutorials/</a:t>
            </a:r>
          </a:p>
        </p:txBody>
      </p:sp>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