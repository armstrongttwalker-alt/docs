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这节课我们来学习内存层次结构优化，重点是 Shared Memory 与 Cache 优化技术。这一部分是 GPU 性能优化的硬核知识，需要大家对 GPU 的硬件结构有基本认识。我们将依次介绍 GPU 内存层次体系，然后深入讲解 Shared Memory 的使用方法、Bank Conflict 问题及其解决，以及 Memory Coalescing 和 Cache 局部性的概念，最后通过 Reduction Kernel 这个典型案例串联所有知识点。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GPU 的内存层次结构从快到慢依次是：Register（寄存器）、Shared Memory（共享内存）、L1 Cache（一级缓存）、L2 Cache（二级缓存）、Global Memory（全局内存）。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Register 是最快的存储，位于 GPU 核心内部，每个 thread 私有，访问延迟接近于零，但容量极小。Global Memory 是容量最大的存储，GB 级别，但访问延迟高达 400 到 800 个时钟周期。两者之间的性能差距约为 100 倍。理解这个层次结构，是所有 GPU 性能优化的出发点：尽量让数据留在速度快的存储层次中，减少对 Global Memory 的访问。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Register 是每个 thread 独享的最快存储。它位于 GPU 计算核心内部，访问速度极快，没有延迟。每个 thread 有自己的 register file，线程之间不可见，保证了数据独立性。Register 的主要用途是存储局部变量、循环计数器、中间计算结果等。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需要注意的是，当一个 Kernel 使用的 register 数量过多，会导致 SM 上能同时驻留的 thread 数减少（occupancy 下降），从而影响并行度。这就是 register 使用的权衡：多用 register 减少内存访问，但要控制总用量不超过硬件限制。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Global Memory 是 GPU 主存，容量 GB 级，所有 thread 均可访问，是存储大型张量（如模型权重、激活值）的地方。但它的延迟非常高，约为 400 到 800 个时钟周期。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这意味着如果一个 thread 访问 Global Memory，它需要等待数百个时钟周期才能拿到数据，在此期间 GPU 计算单元处于空闲。虽然 GPU 可以通过 warp 切换来隐藏部分延迟，但如果访存量太大，延迟无法被完全隐藏，性能就会严重下降。因此，优化 GPU Kernel 的核心策略之一，就是尽量减少 Global Memory 访问次数，或者改善访问模式使其对缓存更友好。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Shared Memory 是 SM（Streaming Multiprocessor）内部的高速片上内存。与 Global Memory 相比，它的访问延迟只有约 20 个时钟周期，速度快 20 到 40 倍，但每个 SM 的容量有限，通常为 48KB 或 96KB（不同架构有所不同）。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Shared Memory 的关键特性是：同一个 thread block 内的所有 thread 可以共享访问，因此可以用来在 thread 之间传递数据或共享计算结果。用途上，Shared Memory 主要作为用户自控的 L1 Cache 使用：程序员显式地将 Global Memory 中的数据加载到 Shared Memory，然后在 Shared Memory 中进行频繁的读写，计算完成后再将结果写回 Global Memory。这种用法可以大幅降低延迟、提高数据复用率。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 Shared Memory 比 Global Memory 快得多？物理上，Shared Memory 位于 SM 内部，紧邻计算单元；而 Global Memory 位于 GPU 芯片外的 DRAM 中，需要经过多级总线传输，物理距离远，传输延迟大。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一个形象的类比：Global Memory 相当于磁盘，Shared Memory 相当于 CPU 的 L1 缓存，Register 相当于寄存器。CPU 编程中我们都知道减少缓存 miss 的重要性——GPU 编程中的道理完全相同，只是层次更多、差距更大。速度对比：Global Memory 约 400-800 cycles，Shared Memory 约 20 cycles，相差 20 到 40 倍。这个差距值得我们花精力来充分利用 Shared Memory。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来看 Shared Memory 的 CUDA 使用示例。声明方式：在 Kernel 函数中用 __shared__ float tile[32][32] 声明一个 32×32 的共享内存数组，这块内存在同一 thread block 的所有 thread 之间共享。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使用流程分四步：第一步，每个 thread 根据自己的 threadIdx 将对应元素从 Global Memory 加载到 Shared Memory；第二步，调用 __syncthreads() 进行线程同步，确保所有 thread 都完成了数据加载——这一步非常关键，如果跳过，可能有的 thread 在其他 thread 还没加载完时就开始读数据；第三步，从 Shared Memory 读取数据进行计算；第四步，将计算结果写回 Global Memory。__syncthreads() 是 CUDA 中的 barrier 同步原语，不正确地使用或遗漏，是 CUDA 编程中非常常见的 bug 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通过与 Naive 方法的对比，我们来理解 Shared Memory 的优化原理。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Naive 方法：每次需要数据都直接从 Global Memory 读取，延迟高（400-800 cycles），数据利用率低，没有复用。优化方法：第一步，将数据从 Global Memory 加载到 Shared Memory（Global → Shared）；第二步，从 Shared Memory 读取数据到 Register 进行计算（Shared → Register）。加载一次后，同一 block 内的多个 thread 可以多次从 Shared Memory 中读取同一份数据，每次只需约 20 cycles。关键洞察：将 Naive 中的"每次算一个元素都去 Global Memory 取一次"，变为"批量取一次存到 Shared Memory，大家共用"。这就是 Shared Memory 的本质价值——协作缓存。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Shared Memory 的硬件结构是理解 Bank Conflict 的前提。Shared Memory 在硬件上被划分为多个 Bank（存储体），典型配置是 32 个 Bank。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Bank 结构的设计目的是实现并行访问：如果一个 warp 中的 32 个 thread 分别访问 32 个不同的 Bank，这 32 次访问可以并行完成，只需一个时钟周期。这是 Shared Memory 高效访问的理想情况。但是，如果多个 thread 同时访问同一个 Bank，就会产生 Bank Conflict——访问被串行化，性能下降。Bank Conflict 的严重程度取决于同时访问同一 Bank 的 thread 数量，2路冲突就慢2倍，32路冲突就慢32倍。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Bank Conflict 是 Shared Memory 的"性能杀手"。当多个 thread 同时访问同一个 Bank 时，这些访问不能并行，而是被串行化，导致完成时间增加了 N 倍（N 是访问同一 Bank 的 thread 数）。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为什么会发生 Bank Conflict？原因在于 Shared Memory 的地址到 Bank 的映射规则：地址 addr 对应的 Bank 编号 = (addr / 4) % 32（以4字节为粒度）。如果多个 thread 访问的地址映射到同一 Bank，就产生冲突。Bank Conflict 是很多初学者写出性能差的 CUDA 代码的重要原因之一。在做矩阵转置、规约等涉及 Shared Memory 访问的 Kernel 时，必须仔细分析访问模式，避免 Bank Conflict。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无 Bank Conflict 的理想情况：每个 thread 访问不同的 Bank。比如 thread 0 访问 Bank 0，thread 1 访问 Bank 1，……，thread 31 访问 Bank 31。这32次访问完全并行，性能最优，称为"perfect access pattern"。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在实际 Kernel 设计中，应该尽量让访问模式满足这一条件：一个 warp 内的相邻 thread，访问 Shared Memory 中地址连续但跨 Bank 的元素。比如，thread i 访问 sdata[i]，对于 32 个 thread 就分别访问 bank 0 到 bank 31，完全无冲突。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相反，如果多个 thread 都访问同一个 Bank，就产生冲突。最极端的情况是 32 个 thread 都访问同一个 Bank——称为 32-way conflict，访问被串行为 32 次，速度降低 32 倍，Shared Memory 的优势完全丧失。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一个常见的产生 Bank Conflict 的场景是：按列访问二维 Shared Memory 数组。例如 tile[32][32]，thread i 访问 tile[i][0]，对应 Bank 编号 = (i*32) % 32 = 0，32 个 thread 全部访问 Bank 0，产生 32-way conflict！这是矩阵转置 Kernel 的经典陷阱，下一页会给出解决方案。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避免 Bank Conflict 最常用的技术是 Padding（填充）。将 tile[32][32] 改为 tile[32][33]，即每行增加一个填充元素。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原因：加了 padding 后，thread i 访问 tile[i][0] 的 Bank 编号 = (i*33) % 32 = i（因为 33 与 32 互质），所以 thread 0 访问 Bank 0，thread 1 访问 Bank 1，……，thread 31 访问 Bank 31，完全无冲突。这一行 padding 代码几乎没有任何计算开销，但可以消除 Bank Conflict，在某些访问模式下带来显著的性能提升。这是一个非常值得掌握的 GPU 优化小技巧。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Memory Coalescing（内存合并访问）是 Global Memory 访问优化的关键技术。其核心概念是：如果一个 warp 中相邻的 thread 访问全局内存中连续的地址，硬件会将这些访问合并为一次（或少数几次）内存事务，效率最高；反之，如果各 thread 访问地址分散，就需要多次独立的内存事务，带宽利用率极低。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理想的访问模式是：thread i 访问 A[i]，相邻 thread 访问连续地址，构成 coalesced access。这种情况下，32 个 thread 的访问可以合并为 1 到 4 次 128-byte 的内存事务，带宽利用率接近 100%。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Non-coalesced（非合并）访问会导致严重的性能下降。典型的反例是跨步访问（stride access）：thread 0 访问 A[0]，thread 1 访问 A[1000]，thread 2 访问 A[2000]，……，每个 thread 访问的地址相差 1000 个元素，远超 cache line 大小。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结果是：这 32 次访问无法合并，需要 32 次独立的内存事务，带宽利用率只有约 3%，性能损失高达 32 倍。在矩阵运算中，按行访问通常是 coalesced 的（相邻 thread 访问同行相邻列），而按列访问（stride = 矩阵行宽）则是 non-coalesced 的。这就是为什么矩阵转置算子需要特别的优化处理——利用 Shared Memory 先做 coalesced 读，再做 coalesced 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Cache 局部性（Locality）是理解缓存性能的核心概念，分为两种：时间局部性（Temporal Locality）和空间局部性（Spatial Locality）。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时间局部性：最近访问过的数据，很快还会再次访问。典型例子是循环中反复使用的变量，利用时间局部性可以提高 cache hit rate。空间局部性：访问某个地址后，其邻近地址很快也会被访问。典型例子是顺序遍历数组，利用空间局部性，cache line 中不仅目标元素被加载，其邻近元素也一并缓存，后续访问就能命中。优化目标是提高 cache hit rate——使尽可能多的数据访问在缓存中命中，减少对慢速全局内存的请求。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Reduction（归约）是一类经典的并行计算问题——给定数组 A，计算 A[0] ⊕ A[1] ⊕ ... ⊕ A[n-1]，其中 ⊕ 可以是加法、乘法、取最大值、取最小值等任意结合运算。最常见的是求和：sum(A)。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Naive 方法性能差的原因：频繁的 Global Memory 访问——每次部分和的更新都需要读写全局内存，延迟高、带宽消耗大，成为严重的性能瓶颈。正确的做法是利用 Shared Memory 在块内先做局部归约，再将块间结果合并，这正是下一页要展示的优化方案。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4A4A4A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Shared Memory 优化 Reduction 的流程分三步：第一步，Load——将 Global Memory 中对应的数据块加载到 Shared Memory；第二步，Reduce——在 Shared Memory 内进行归约运算（折半归约法），所有中间结果都在 Shared Memory 中完成，不涉及 Global Memory；第三步，Write Back——每个 block 的最终归约结果由 thread 0 写回 Global Memory。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这种方式的优势：绝大部分的读写操作都发生在 Shared Memory（约 20 cycles）而非 Global Memory（400-800 cycles），全局内存访问量从 O(N) 次减少到只有一次写操作（每个 block），并行效率显著提升。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来看具体的 CUDA Reduction Kernel 实现。__shared__ float sdata[256] 声明 256 个元素的共享内存数组；将 Global Memory 数据加载到 sdata，越界的位置填 0；__syncthreads() 同步，确保所有数据加载完毕；核心归约循环：for(int s = blockDim.x/2; s &gt; 0; s &gt;&gt;= 1)，每次迭代将步长 s 折半，前半部分 thread 将自己位置的元素与 s 步之外的元素相加，经过 log2(blockDim.x) 次迭代后，sdata[0] 中存储了本 block 所有元素的和；每次迭代都需要 __syncthreads() 同步，防止数据竞争；最后由 thread 0 将 sdata[0] 写回 Global Memory。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折半归约的时间复杂度是 O(log N)，比串行 O(N) 高效得多，充分利用了 GPU 的并行性。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最后来看优化效果。与 Naive 实现相比，使用 Shared Memory 优化的 Reduction Kernel 可以获得 10 到 50 倍的性能提升，具体数字取决于数组大小和硬件配置。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性能提升的三个来源：第一，减少 Global Memory access 次数——从每次操作都读写全局内存，变为绝大部分操作在 Shared Memory 中完成；第二，提高并行效率——折半归约并行利用了所有 thread；第三，充分利用 Shared Memory 低延迟——块内归约极其高效。这个案例完美展示了 Shared Memory 在 GPU 优化中的巨大价值。本部分内容到此结束。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5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11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14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5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22.jpeg" Type="http://schemas.openxmlformats.org/officeDocument/2006/relationships/image"/><Relationship Id="rId13" Target="../media/image23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2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8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：内存层次结构优化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9136" y="616033"/>
            <a:ext cx="11607839" cy="3768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GPU Memory Hierarchy 概览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76834" y="1318809"/>
            <a:ext cx="5606059" cy="4447159"/>
          </a:xfrm>
          <a:custGeom>
            <a:avLst/>
            <a:gdLst/>
            <a:ahLst/>
            <a:cxnLst/>
            <a:rect r="r" b="b" t="t" l="l"/>
            <a:pathLst>
              <a:path h="4447159" w="5606059">
                <a:moveTo>
                  <a:pt x="75380" y="0"/>
                </a:moveTo>
                <a:lnTo>
                  <a:pt x="5530679" y="0"/>
                </a:lnTo>
                <a:cubicBezTo>
                  <a:pt x="5572310" y="0"/>
                  <a:pt x="5606059" y="33748"/>
                  <a:pt x="5606059" y="75380"/>
                </a:cubicBezTo>
                <a:lnTo>
                  <a:pt x="5606059" y="4371779"/>
                </a:lnTo>
                <a:cubicBezTo>
                  <a:pt x="5606059" y="4413411"/>
                  <a:pt x="5572310" y="4447159"/>
                  <a:pt x="5530679" y="4447159"/>
                </a:cubicBezTo>
                <a:lnTo>
                  <a:pt x="75380" y="4447159"/>
                </a:lnTo>
                <a:cubicBezTo>
                  <a:pt x="33748" y="4447159"/>
                  <a:pt x="0" y="4413411"/>
                  <a:pt x="0" y="4371779"/>
                </a:cubicBezTo>
                <a:lnTo>
                  <a:pt x="0" y="75380"/>
                </a:lnTo>
                <a:cubicBezTo>
                  <a:pt x="0" y="33776"/>
                  <a:pt x="33776" y="0"/>
                  <a:pt x="7538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88769" y="1544211"/>
            <a:ext cx="188439" cy="189691"/>
          </a:xfrm>
          <a:custGeom>
            <a:avLst/>
            <a:gdLst/>
            <a:ahLst/>
            <a:cxnLst/>
            <a:rect r="r" b="b" t="t" l="l"/>
            <a:pathLst>
              <a:path h="189691" w="188439">
                <a:moveTo>
                  <a:pt x="85570" y="2540"/>
                </a:moveTo>
                <a:cubicBezTo>
                  <a:pt x="91054" y="0"/>
                  <a:pt x="97385" y="0"/>
                  <a:pt x="102869" y="2540"/>
                </a:cubicBezTo>
                <a:lnTo>
                  <a:pt x="183323" y="39712"/>
                </a:lnTo>
                <a:cubicBezTo>
                  <a:pt x="186453" y="41148"/>
                  <a:pt x="188439" y="44276"/>
                  <a:pt x="188439" y="47735"/>
                </a:cubicBezTo>
                <a:cubicBezTo>
                  <a:pt x="188439" y="51195"/>
                  <a:pt x="186453" y="54324"/>
                  <a:pt x="183323" y="55759"/>
                </a:cubicBezTo>
                <a:lnTo>
                  <a:pt x="102869" y="92932"/>
                </a:lnTo>
                <a:cubicBezTo>
                  <a:pt x="97385" y="95471"/>
                  <a:pt x="91054" y="95471"/>
                  <a:pt x="85570" y="92932"/>
                </a:cubicBezTo>
                <a:lnTo>
                  <a:pt x="5116" y="55759"/>
                </a:lnTo>
                <a:cubicBezTo>
                  <a:pt x="1988" y="54287"/>
                  <a:pt x="0" y="51159"/>
                  <a:pt x="0" y="47735"/>
                </a:cubicBezTo>
                <a:cubicBezTo>
                  <a:pt x="0" y="44313"/>
                  <a:pt x="1988" y="41148"/>
                  <a:pt x="5116" y="39712"/>
                </a:cubicBezTo>
                <a:lnTo>
                  <a:pt x="85570" y="2540"/>
                </a:lnTo>
                <a:close/>
                <a:moveTo>
                  <a:pt x="17703" y="81007"/>
                </a:moveTo>
                <a:lnTo>
                  <a:pt x="78174" y="108942"/>
                </a:lnTo>
                <a:cubicBezTo>
                  <a:pt x="88368" y="113653"/>
                  <a:pt x="100108" y="113653"/>
                  <a:pt x="110303" y="108942"/>
                </a:cubicBezTo>
                <a:lnTo>
                  <a:pt x="170773" y="81007"/>
                </a:lnTo>
                <a:lnTo>
                  <a:pt x="183323" y="86822"/>
                </a:lnTo>
                <a:cubicBezTo>
                  <a:pt x="186453" y="88257"/>
                  <a:pt x="188439" y="91387"/>
                  <a:pt x="188439" y="94845"/>
                </a:cubicBezTo>
                <a:cubicBezTo>
                  <a:pt x="188439" y="98306"/>
                  <a:pt x="186453" y="101434"/>
                  <a:pt x="183323" y="102869"/>
                </a:cubicBezTo>
                <a:lnTo>
                  <a:pt x="102869" y="140042"/>
                </a:lnTo>
                <a:cubicBezTo>
                  <a:pt x="97385" y="142582"/>
                  <a:pt x="91054" y="142582"/>
                  <a:pt x="85570" y="140042"/>
                </a:cubicBezTo>
                <a:lnTo>
                  <a:pt x="5116" y="102869"/>
                </a:lnTo>
                <a:cubicBezTo>
                  <a:pt x="1988" y="101397"/>
                  <a:pt x="0" y="98267"/>
                  <a:pt x="0" y="94845"/>
                </a:cubicBezTo>
                <a:cubicBezTo>
                  <a:pt x="0" y="91423"/>
                  <a:pt x="1988" y="88257"/>
                  <a:pt x="5116" y="86822"/>
                </a:cubicBezTo>
                <a:lnTo>
                  <a:pt x="17666" y="81007"/>
                </a:lnTo>
                <a:close/>
                <a:moveTo>
                  <a:pt x="5116" y="133932"/>
                </a:moveTo>
                <a:lnTo>
                  <a:pt x="17666" y="128117"/>
                </a:lnTo>
                <a:lnTo>
                  <a:pt x="78135" y="156051"/>
                </a:lnTo>
                <a:cubicBezTo>
                  <a:pt x="88331" y="160762"/>
                  <a:pt x="100071" y="160762"/>
                  <a:pt x="110266" y="156051"/>
                </a:cubicBezTo>
                <a:lnTo>
                  <a:pt x="170736" y="128117"/>
                </a:lnTo>
                <a:lnTo>
                  <a:pt x="183286" y="133932"/>
                </a:lnTo>
                <a:cubicBezTo>
                  <a:pt x="186414" y="135367"/>
                  <a:pt x="188402" y="138496"/>
                  <a:pt x="188402" y="141955"/>
                </a:cubicBezTo>
                <a:cubicBezTo>
                  <a:pt x="188402" y="145415"/>
                  <a:pt x="186414" y="148543"/>
                  <a:pt x="183286" y="149979"/>
                </a:cubicBezTo>
                <a:lnTo>
                  <a:pt x="102832" y="187151"/>
                </a:lnTo>
                <a:cubicBezTo>
                  <a:pt x="97348" y="189691"/>
                  <a:pt x="91017" y="189691"/>
                  <a:pt x="85535" y="187151"/>
                </a:cubicBezTo>
                <a:lnTo>
                  <a:pt x="5116" y="149979"/>
                </a:lnTo>
                <a:cubicBezTo>
                  <a:pt x="1988" y="148506"/>
                  <a:pt x="0" y="145378"/>
                  <a:pt x="0" y="141955"/>
                </a:cubicBezTo>
                <a:cubicBezTo>
                  <a:pt x="0" y="138531"/>
                  <a:pt x="1988" y="135367"/>
                  <a:pt x="5116" y="13393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43722" y="1501053"/>
            <a:ext cx="5087852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内存结构（从快到慢）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83964" y="1921744"/>
            <a:ext cx="5210244" cy="640692"/>
          </a:xfrm>
          <a:custGeom>
            <a:avLst/>
            <a:gdLst/>
            <a:ahLst/>
            <a:cxnLst/>
            <a:rect r="r" b="b" t="t" l="l"/>
            <a:pathLst>
              <a:path h="640692" w="5210244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83964" y="1921744"/>
            <a:ext cx="37501" cy="640692"/>
          </a:xfrm>
          <a:custGeom>
            <a:avLst/>
            <a:gdLst/>
            <a:ahLst/>
            <a:cxnLst/>
            <a:rect r="r" b="b" t="t" l="l"/>
            <a:pathLst>
              <a:path h="640692" w="37501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715728" y="2091227"/>
            <a:ext cx="301502" cy="301502"/>
          </a:xfrm>
          <a:custGeom>
            <a:avLst/>
            <a:gdLst/>
            <a:ahLst/>
            <a:cxnLst/>
            <a:rect r="r" b="b" t="t" l="l"/>
            <a:pathLst>
              <a:path h="301502" w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78040" y="2091227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30209" y="2034757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Register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30209" y="2260858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最快，每个thread私有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83964" y="2675265"/>
            <a:ext cx="5210244" cy="640692"/>
          </a:xfrm>
          <a:custGeom>
            <a:avLst/>
            <a:gdLst/>
            <a:ahLst/>
            <a:cxnLst/>
            <a:rect r="r" b="b" t="t" l="l"/>
            <a:pathLst>
              <a:path h="640692" w="5210244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83964" y="2675265"/>
            <a:ext cx="37501" cy="640692"/>
          </a:xfrm>
          <a:custGeom>
            <a:avLst/>
            <a:gdLst/>
            <a:ahLst/>
            <a:cxnLst/>
            <a:rect r="r" b="b" t="t" l="l"/>
            <a:pathLst>
              <a:path h="640692" w="37501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715728" y="2844748"/>
            <a:ext cx="301502" cy="301502"/>
          </a:xfrm>
          <a:custGeom>
            <a:avLst/>
            <a:gdLst/>
            <a:ahLst/>
            <a:cxnLst/>
            <a:rect r="r" b="b" t="t" l="l"/>
            <a:pathLst>
              <a:path h="301502" w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8040" y="2844748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30209" y="2788279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Shared Memory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30209" y="3014379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SM内部高速内存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83964" y="3428786"/>
            <a:ext cx="5210244" cy="640692"/>
          </a:xfrm>
          <a:custGeom>
            <a:avLst/>
            <a:gdLst/>
            <a:ahLst/>
            <a:cxnLst/>
            <a:rect r="r" b="b" t="t" l="l"/>
            <a:pathLst>
              <a:path h="640692" w="5210244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83964" y="3428786"/>
            <a:ext cx="37501" cy="640692"/>
          </a:xfrm>
          <a:custGeom>
            <a:avLst/>
            <a:gdLst/>
            <a:ahLst/>
            <a:cxnLst/>
            <a:rect r="r" b="b" t="t" l="l"/>
            <a:pathLst>
              <a:path h="640692" w="37501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715728" y="3598270"/>
            <a:ext cx="301502" cy="301502"/>
          </a:xfrm>
          <a:custGeom>
            <a:avLst/>
            <a:gdLst/>
            <a:ahLst/>
            <a:cxnLst/>
            <a:rect r="r" b="b" t="t" l="l"/>
            <a:pathLst>
              <a:path h="301502" w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8040" y="3598270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130209" y="3541800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L1 Cache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30209" y="3767900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一级缓存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583964" y="4182307"/>
            <a:ext cx="5210244" cy="640692"/>
          </a:xfrm>
          <a:custGeom>
            <a:avLst/>
            <a:gdLst/>
            <a:ahLst/>
            <a:cxnLst/>
            <a:rect r="r" b="b" t="t" l="l"/>
            <a:pathLst>
              <a:path h="640692" w="5210244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583964" y="4182307"/>
            <a:ext cx="37501" cy="640692"/>
          </a:xfrm>
          <a:custGeom>
            <a:avLst/>
            <a:gdLst/>
            <a:ahLst/>
            <a:cxnLst/>
            <a:rect r="r" b="b" t="t" l="l"/>
            <a:pathLst>
              <a:path h="640692" w="37501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715728" y="4351792"/>
            <a:ext cx="301502" cy="301502"/>
          </a:xfrm>
          <a:custGeom>
            <a:avLst/>
            <a:gdLst/>
            <a:ahLst/>
            <a:cxnLst/>
            <a:rect r="r" b="b" t="t" l="l"/>
            <a:pathLst>
              <a:path h="301502" w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8040" y="4351792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4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130209" y="4295321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L2 Cache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30209" y="4521421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二级缓存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583964" y="4935830"/>
            <a:ext cx="5210244" cy="640692"/>
          </a:xfrm>
          <a:custGeom>
            <a:avLst/>
            <a:gdLst/>
            <a:ahLst/>
            <a:cxnLst/>
            <a:rect r="r" b="b" t="t" l="l"/>
            <a:pathLst>
              <a:path h="640692" w="5210244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583964" y="4935830"/>
            <a:ext cx="37501" cy="640692"/>
          </a:xfrm>
          <a:custGeom>
            <a:avLst/>
            <a:gdLst/>
            <a:ahLst/>
            <a:cxnLst/>
            <a:rect r="r" b="b" t="t" l="l"/>
            <a:pathLst>
              <a:path h="640692" w="37501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715728" y="5105313"/>
            <a:ext cx="301502" cy="301502"/>
          </a:xfrm>
          <a:custGeom>
            <a:avLst/>
            <a:gdLst/>
            <a:ahLst/>
            <a:cxnLst/>
            <a:rect r="r" b="b" t="t" l="l"/>
            <a:pathLst>
              <a:path h="301502" w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78040" y="5105313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5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130209" y="5048842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Global Memory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130209" y="5274943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最慢，容量最大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210033" y="1318809"/>
            <a:ext cx="5606059" cy="1846702"/>
          </a:xfrm>
          <a:custGeom>
            <a:avLst/>
            <a:gdLst/>
            <a:ahLst/>
            <a:cxnLst/>
            <a:rect r="r" b="b" t="t" l="l"/>
            <a:pathLst>
              <a:path h="1846702" w="5606059">
                <a:moveTo>
                  <a:pt x="75382" y="0"/>
                </a:moveTo>
                <a:lnTo>
                  <a:pt x="5530676" y="0"/>
                </a:lnTo>
                <a:cubicBezTo>
                  <a:pt x="5572309" y="0"/>
                  <a:pt x="5606059" y="33750"/>
                  <a:pt x="5606059" y="75382"/>
                </a:cubicBezTo>
                <a:lnTo>
                  <a:pt x="5606059" y="1771319"/>
                </a:lnTo>
                <a:cubicBezTo>
                  <a:pt x="5606059" y="1812952"/>
                  <a:pt x="5572309" y="1846702"/>
                  <a:pt x="5530676" y="1846702"/>
                </a:cubicBezTo>
                <a:lnTo>
                  <a:pt x="75382" y="1846702"/>
                </a:lnTo>
                <a:cubicBezTo>
                  <a:pt x="33750" y="1846702"/>
                  <a:pt x="0" y="1812952"/>
                  <a:pt x="0" y="1771319"/>
                </a:cubicBezTo>
                <a:lnTo>
                  <a:pt x="0" y="75382"/>
                </a:lnTo>
                <a:cubicBezTo>
                  <a:pt x="0" y="33778"/>
                  <a:pt x="33778" y="0"/>
                  <a:pt x="7538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6421968" y="1544837"/>
            <a:ext cx="188439" cy="188439"/>
          </a:xfrm>
          <a:custGeom>
            <a:avLst/>
            <a:gdLst/>
            <a:ahLst/>
            <a:cxnLst/>
            <a:rect r="r" b="b" t="t" l="l"/>
            <a:pathLst>
              <a:path h="188439" w="188439">
                <a:moveTo>
                  <a:pt x="0" y="94219"/>
                </a:moveTo>
                <a:cubicBezTo>
                  <a:pt x="0" y="42219"/>
                  <a:pt x="42219" y="0"/>
                  <a:pt x="94219" y="0"/>
                </a:cubicBezTo>
                <a:cubicBezTo>
                  <a:pt x="146221" y="0"/>
                  <a:pt x="188439" y="42219"/>
                  <a:pt x="188439" y="94219"/>
                </a:cubicBezTo>
                <a:cubicBezTo>
                  <a:pt x="188439" y="146221"/>
                  <a:pt x="146221" y="188439"/>
                  <a:pt x="94219" y="188439"/>
                </a:cubicBezTo>
                <a:cubicBezTo>
                  <a:pt x="42219" y="188439"/>
                  <a:pt x="0" y="146221"/>
                  <a:pt x="0" y="94219"/>
                </a:cubicBezTo>
                <a:close/>
                <a:moveTo>
                  <a:pt x="105997" y="35331"/>
                </a:moveTo>
                <a:cubicBezTo>
                  <a:pt x="105997" y="28832"/>
                  <a:pt x="100720" y="23555"/>
                  <a:pt x="94219" y="23555"/>
                </a:cubicBezTo>
                <a:cubicBezTo>
                  <a:pt x="87719" y="23555"/>
                  <a:pt x="82442" y="28832"/>
                  <a:pt x="82442" y="35331"/>
                </a:cubicBezTo>
                <a:cubicBezTo>
                  <a:pt x="82442" y="41833"/>
                  <a:pt x="87719" y="47109"/>
                  <a:pt x="94219" y="47109"/>
                </a:cubicBezTo>
                <a:cubicBezTo>
                  <a:pt x="100720" y="47109"/>
                  <a:pt x="105997" y="41833"/>
                  <a:pt x="105997" y="35331"/>
                </a:cubicBezTo>
                <a:close/>
                <a:moveTo>
                  <a:pt x="94219" y="153107"/>
                </a:moveTo>
                <a:cubicBezTo>
                  <a:pt x="107211" y="153107"/>
                  <a:pt x="117773" y="142544"/>
                  <a:pt x="117773" y="129551"/>
                </a:cubicBezTo>
                <a:cubicBezTo>
                  <a:pt x="117773" y="123589"/>
                  <a:pt x="115566" y="118106"/>
                  <a:pt x="111886" y="113983"/>
                </a:cubicBezTo>
                <a:lnTo>
                  <a:pt x="137465" y="62862"/>
                </a:lnTo>
                <a:cubicBezTo>
                  <a:pt x="139636" y="58482"/>
                  <a:pt x="137870" y="53183"/>
                  <a:pt x="133527" y="51011"/>
                </a:cubicBezTo>
                <a:cubicBezTo>
                  <a:pt x="129184" y="48840"/>
                  <a:pt x="123847" y="50606"/>
                  <a:pt x="121676" y="54949"/>
                </a:cubicBezTo>
                <a:lnTo>
                  <a:pt x="96097" y="106070"/>
                </a:lnTo>
                <a:cubicBezTo>
                  <a:pt x="95471" y="106034"/>
                  <a:pt x="94845" y="105997"/>
                  <a:pt x="94219" y="105997"/>
                </a:cubicBezTo>
                <a:cubicBezTo>
                  <a:pt x="81227" y="105997"/>
                  <a:pt x="70665" y="116561"/>
                  <a:pt x="70665" y="129551"/>
                </a:cubicBezTo>
                <a:cubicBezTo>
                  <a:pt x="70665" y="142544"/>
                  <a:pt x="81227" y="153107"/>
                  <a:pt x="94219" y="153107"/>
                </a:cubicBezTo>
                <a:close/>
                <a:moveTo>
                  <a:pt x="64776" y="52998"/>
                </a:moveTo>
                <a:cubicBezTo>
                  <a:pt x="64776" y="46499"/>
                  <a:pt x="59500" y="41220"/>
                  <a:pt x="52998" y="41220"/>
                </a:cubicBezTo>
                <a:cubicBezTo>
                  <a:pt x="46499" y="41220"/>
                  <a:pt x="41220" y="46499"/>
                  <a:pt x="41220" y="52998"/>
                </a:cubicBezTo>
                <a:cubicBezTo>
                  <a:pt x="41220" y="59500"/>
                  <a:pt x="46499" y="64776"/>
                  <a:pt x="52998" y="64776"/>
                </a:cubicBezTo>
                <a:cubicBezTo>
                  <a:pt x="59500" y="64776"/>
                  <a:pt x="64776" y="59500"/>
                  <a:pt x="64776" y="52998"/>
                </a:cubicBezTo>
                <a:close/>
                <a:moveTo>
                  <a:pt x="35331" y="105997"/>
                </a:moveTo>
                <a:cubicBezTo>
                  <a:pt x="41833" y="105997"/>
                  <a:pt x="47109" y="100720"/>
                  <a:pt x="47109" y="94219"/>
                </a:cubicBezTo>
                <a:cubicBezTo>
                  <a:pt x="47109" y="87719"/>
                  <a:pt x="41833" y="82442"/>
                  <a:pt x="35331" y="82442"/>
                </a:cubicBezTo>
                <a:cubicBezTo>
                  <a:pt x="28832" y="82442"/>
                  <a:pt x="23555" y="87719"/>
                  <a:pt x="23555" y="94219"/>
                </a:cubicBezTo>
                <a:cubicBezTo>
                  <a:pt x="23555" y="100720"/>
                  <a:pt x="28832" y="105997"/>
                  <a:pt x="35331" y="105997"/>
                </a:cubicBezTo>
                <a:close/>
                <a:moveTo>
                  <a:pt x="164884" y="94219"/>
                </a:moveTo>
                <a:cubicBezTo>
                  <a:pt x="164884" y="87719"/>
                  <a:pt x="159607" y="82442"/>
                  <a:pt x="153107" y="82442"/>
                </a:cubicBezTo>
                <a:cubicBezTo>
                  <a:pt x="146608" y="82442"/>
                  <a:pt x="141329" y="87719"/>
                  <a:pt x="141329" y="94219"/>
                </a:cubicBezTo>
                <a:cubicBezTo>
                  <a:pt x="141329" y="100720"/>
                  <a:pt x="146608" y="105997"/>
                  <a:pt x="153107" y="105997"/>
                </a:cubicBezTo>
                <a:cubicBezTo>
                  <a:pt x="159607" y="105997"/>
                  <a:pt x="164884" y="100720"/>
                  <a:pt x="164884" y="942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633962" y="1507190"/>
            <a:ext cx="5087852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速度差异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398413" y="1884023"/>
            <a:ext cx="5455308" cy="4522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100×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398413" y="2411664"/>
            <a:ext cx="5313978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Register vs Global Memory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398413" y="2750851"/>
            <a:ext cx="530455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可达100倍的性能差距</a:t>
            </a:r>
            <a:endParaRPr lang="en-US" sz="1100"/>
          </a:p>
        </p:txBody>
      </p:sp>
      <p:sp>
        <p:nvSpPr>
          <p:cNvPr name="Freeform 42" id="42"/>
          <p:cNvSpPr/>
          <p:nvPr/>
        </p:nvSpPr>
        <p:spPr>
          <a:xfrm rot="0" flipH="false" flipV="false">
            <a:off x="6210033" y="3316065"/>
            <a:ext cx="5606059" cy="3325947"/>
          </a:xfrm>
          <a:custGeom>
            <a:avLst/>
            <a:gdLst/>
            <a:ahLst/>
            <a:cxnLst/>
            <a:rect r="r" b="b" t="t" l="l"/>
            <a:pathLst>
              <a:path h="3325947" w="5606059">
                <a:moveTo>
                  <a:pt x="75366" y="0"/>
                </a:moveTo>
                <a:lnTo>
                  <a:pt x="5530693" y="0"/>
                </a:lnTo>
                <a:cubicBezTo>
                  <a:pt x="5572315" y="0"/>
                  <a:pt x="5606059" y="33743"/>
                  <a:pt x="5606059" y="75366"/>
                </a:cubicBezTo>
                <a:lnTo>
                  <a:pt x="5606059" y="3250582"/>
                </a:lnTo>
                <a:cubicBezTo>
                  <a:pt x="5606059" y="3292204"/>
                  <a:pt x="5572315" y="3325947"/>
                  <a:pt x="5530693" y="3325947"/>
                </a:cubicBezTo>
                <a:lnTo>
                  <a:pt x="75366" y="3325947"/>
                </a:lnTo>
                <a:cubicBezTo>
                  <a:pt x="33743" y="3325947"/>
                  <a:pt x="0" y="3292204"/>
                  <a:pt x="0" y="3250582"/>
                </a:cubicBezTo>
                <a:lnTo>
                  <a:pt x="0" y="75366"/>
                </a:lnTo>
                <a:cubicBezTo>
                  <a:pt x="0" y="33771"/>
                  <a:pt x="33771" y="0"/>
                  <a:pt x="75366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2"/>
          <a:srcRect l="87" r="87" t="0" b="0"/>
          <a:stretch>
            <a:fillRect/>
          </a:stretch>
        </p:blipFill>
        <p:spPr>
          <a:xfrm rot="0" flipH="false" flipV="false">
            <a:off x="6398487" y="3504446"/>
            <a:ext cx="5229181" cy="2949070"/>
          </a:xfrm>
          <a:prstGeom prst="roundRect">
            <a:avLst>
              <a:gd name="adj" fmla="val 1278"/>
            </a:avLst>
          </a:prstGeom>
          <a:ln w="12700">
            <a:noFill/>
            <a:prstDash val="solid"/>
          </a:ln>
        </p:spPr>
      </p:pic>
      <p:sp>
        <p:nvSpPr>
          <p:cNvPr name="AutoShape 44" id="44"/>
          <p:cNvSpPr/>
          <p:nvPr/>
        </p:nvSpPr>
        <p:spPr>
          <a:xfrm rot="0" flipH="false" flipV="false">
            <a:off x="310880" y="6669561"/>
            <a:ext cx="11504198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NVIDIA Developer Blog</a:t>
            </a:r>
            <a:endParaRPr lang="en-US" sz="1100"/>
          </a:p>
        </p:txBody>
      </p:sp>
      <p:sp>
        <p:nvSpPr>
          <p:cNvPr name="AutoShape 45" id="4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3258" y="58621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Register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333234"/>
            <a:ext cx="6762750" cy="4228632"/>
            <a:chOff x="380956" y="1333234"/>
            <a:chExt cx="6762750" cy="4228632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333234"/>
              <a:ext cx="6762750" cy="2590800"/>
            </a:xfrm>
            <a:custGeom>
              <a:avLst/>
              <a:gdLst/>
              <a:ahLst/>
              <a:cxnLst/>
              <a:rect r="r" b="b" t="t" l="l"/>
              <a:pathLst>
                <a:path h="2590800" w="6762750">
                  <a:moveTo>
                    <a:pt x="76195" y="0"/>
                  </a:moveTo>
                  <a:lnTo>
                    <a:pt x="6686555" y="0"/>
                  </a:lnTo>
                  <a:cubicBezTo>
                    <a:pt x="6728609" y="0"/>
                    <a:pt x="6762750" y="34141"/>
                    <a:pt x="6762750" y="76195"/>
                  </a:cubicBezTo>
                  <a:lnTo>
                    <a:pt x="6762750" y="2514605"/>
                  </a:lnTo>
                  <a:cubicBezTo>
                    <a:pt x="6762750" y="2556687"/>
                    <a:pt x="6728637" y="2590800"/>
                    <a:pt x="6686555" y="2590800"/>
                  </a:cubicBezTo>
                  <a:lnTo>
                    <a:pt x="76195" y="2590800"/>
                  </a:lnTo>
                  <a:cubicBezTo>
                    <a:pt x="34141" y="2590800"/>
                    <a:pt x="0" y="2556659"/>
                    <a:pt x="0" y="2514605"/>
                  </a:cubicBezTo>
                  <a:lnTo>
                    <a:pt x="0" y="76195"/>
                  </a:lnTo>
                  <a:cubicBezTo>
                    <a:pt x="0" y="34141"/>
                    <a:pt x="34141" y="0"/>
                    <a:pt x="76195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606110" y="1554850"/>
              <a:ext cx="168697" cy="204267"/>
            </a:xfrm>
            <a:custGeom>
              <a:avLst/>
              <a:gdLst/>
              <a:ahLst/>
              <a:cxnLst/>
              <a:rect r="r" b="b" t="t" l="l"/>
              <a:pathLst>
                <a:path h="204267" w="168697">
                  <a:moveTo>
                    <a:pt x="127061" y="3200"/>
                  </a:moveTo>
                  <a:cubicBezTo>
                    <a:pt x="131490" y="6399"/>
                    <a:pt x="133127" y="12204"/>
                    <a:pt x="131118" y="17264"/>
                  </a:cubicBezTo>
                  <a:lnTo>
                    <a:pt x="101948" y="90227"/>
                  </a:lnTo>
                  <a:lnTo>
                    <a:pt x="155786" y="90227"/>
                  </a:lnTo>
                  <a:cubicBezTo>
                    <a:pt x="160809" y="90227"/>
                    <a:pt x="165274" y="93352"/>
                    <a:pt x="166986" y="98077"/>
                  </a:cubicBezTo>
                  <a:cubicBezTo>
                    <a:pt x="168697" y="102804"/>
                    <a:pt x="167245" y="108085"/>
                    <a:pt x="163414" y="111286"/>
                  </a:cubicBezTo>
                  <a:lnTo>
                    <a:pt x="56258" y="200583"/>
                  </a:lnTo>
                  <a:cubicBezTo>
                    <a:pt x="52053" y="204080"/>
                    <a:pt x="46063" y="204266"/>
                    <a:pt x="41635" y="201066"/>
                  </a:cubicBezTo>
                  <a:cubicBezTo>
                    <a:pt x="37208" y="197867"/>
                    <a:pt x="35571" y="192062"/>
                    <a:pt x="37580" y="187002"/>
                  </a:cubicBezTo>
                  <a:lnTo>
                    <a:pt x="66750" y="114039"/>
                  </a:lnTo>
                  <a:lnTo>
                    <a:pt x="12911" y="114039"/>
                  </a:lnTo>
                  <a:cubicBezTo>
                    <a:pt x="7888" y="114039"/>
                    <a:pt x="3423" y="110914"/>
                    <a:pt x="1712" y="106189"/>
                  </a:cubicBezTo>
                  <a:cubicBezTo>
                    <a:pt x="0" y="101462"/>
                    <a:pt x="1451" y="96181"/>
                    <a:pt x="5284" y="92980"/>
                  </a:cubicBezTo>
                  <a:lnTo>
                    <a:pt x="112440" y="3683"/>
                  </a:lnTo>
                  <a:cubicBezTo>
                    <a:pt x="116644" y="186"/>
                    <a:pt x="122635" y="0"/>
                    <a:pt x="127061" y="320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09521" y="1523674"/>
              <a:ext cx="62388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Register 特点</a:t>
              </a:r>
              <a:endParaRPr lang="en-US" sz="1100"/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571396" y="2018954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761837" y="1942763"/>
              <a:ext cx="23717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最快的存储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61837" y="2209394"/>
              <a:ext cx="23717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位于GPU核心内部，访问速度极快</a:t>
              </a: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571396" y="2666541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761837" y="2590350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每个thread私有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761837" y="2856981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线程间不可见，保证数据独立性</a:t>
              </a:r>
              <a:endParaRPr lang="en-US" sz="1100"/>
            </a:p>
          </p:txBody>
        </p:sp>
        <p:sp>
          <p:nvSpPr>
            <p:cNvPr name="Freeform 13" id="13"/>
            <p:cNvSpPr/>
            <p:nvPr/>
          </p:nvSpPr>
          <p:spPr>
            <a:xfrm rot="0" flipH="false" flipV="false">
              <a:off x="571396" y="3314129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761837" y="3237937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容量小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761837" y="3504570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例如：64 KB per SM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380956" y="4075966"/>
              <a:ext cx="67627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762750">
                  <a:moveTo>
                    <a:pt x="76197" y="0"/>
                  </a:moveTo>
                  <a:lnTo>
                    <a:pt x="6686553" y="0"/>
                  </a:lnTo>
                  <a:cubicBezTo>
                    <a:pt x="6728635" y="0"/>
                    <a:pt x="6762750" y="34115"/>
                    <a:pt x="6762750" y="76197"/>
                  </a:cubicBezTo>
                  <a:lnTo>
                    <a:pt x="6762750" y="1409703"/>
                  </a:lnTo>
                  <a:cubicBezTo>
                    <a:pt x="6762750" y="1451785"/>
                    <a:pt x="6728635" y="1485900"/>
                    <a:pt x="668655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582150" y="4303088"/>
              <a:ext cx="216656" cy="193253"/>
            </a:xfrm>
            <a:custGeom>
              <a:avLst/>
              <a:gdLst/>
              <a:ahLst/>
              <a:cxnLst/>
              <a:rect r="r" b="b" t="t" l="l"/>
              <a:pathLst>
                <a:path h="193253" w="216656">
                  <a:moveTo>
                    <a:pt x="135396" y="1823"/>
                  </a:moveTo>
                  <a:cubicBezTo>
                    <a:pt x="129071" y="0"/>
                    <a:pt x="122485" y="3685"/>
                    <a:pt x="120663" y="10009"/>
                  </a:cubicBezTo>
                  <a:lnTo>
                    <a:pt x="73038" y="176697"/>
                  </a:lnTo>
                  <a:cubicBezTo>
                    <a:pt x="71214" y="183023"/>
                    <a:pt x="74897" y="189608"/>
                    <a:pt x="81223" y="191431"/>
                  </a:cubicBezTo>
                  <a:cubicBezTo>
                    <a:pt x="87549" y="193254"/>
                    <a:pt x="94134" y="189569"/>
                    <a:pt x="95957" y="183245"/>
                  </a:cubicBezTo>
                  <a:lnTo>
                    <a:pt x="143582" y="16557"/>
                  </a:lnTo>
                  <a:cubicBezTo>
                    <a:pt x="145405" y="10231"/>
                    <a:pt x="141720" y="3646"/>
                    <a:pt x="135396" y="1823"/>
                  </a:cubicBezTo>
                  <a:close/>
                  <a:moveTo>
                    <a:pt x="159432" y="52461"/>
                  </a:moveTo>
                  <a:cubicBezTo>
                    <a:pt x="154781" y="57113"/>
                    <a:pt x="154781" y="64666"/>
                    <a:pt x="159432" y="69317"/>
                  </a:cubicBezTo>
                  <a:lnTo>
                    <a:pt x="186742" y="96627"/>
                  </a:lnTo>
                  <a:lnTo>
                    <a:pt x="159432" y="123937"/>
                  </a:lnTo>
                  <a:cubicBezTo>
                    <a:pt x="154781" y="128588"/>
                    <a:pt x="154781" y="136141"/>
                    <a:pt x="159432" y="140793"/>
                  </a:cubicBezTo>
                  <a:cubicBezTo>
                    <a:pt x="164083" y="145443"/>
                    <a:pt x="171637" y="145443"/>
                    <a:pt x="176286" y="140793"/>
                  </a:cubicBezTo>
                  <a:lnTo>
                    <a:pt x="212005" y="105072"/>
                  </a:lnTo>
                  <a:cubicBezTo>
                    <a:pt x="216655" y="100422"/>
                    <a:pt x="216655" y="92869"/>
                    <a:pt x="212005" y="88218"/>
                  </a:cubicBezTo>
                  <a:lnTo>
                    <a:pt x="176286" y="52500"/>
                  </a:lnTo>
                  <a:cubicBezTo>
                    <a:pt x="171637" y="47849"/>
                    <a:pt x="164083" y="47849"/>
                    <a:pt x="159432" y="52500"/>
                  </a:cubicBezTo>
                  <a:close/>
                  <a:moveTo>
                    <a:pt x="57224" y="52461"/>
                  </a:moveTo>
                  <a:cubicBezTo>
                    <a:pt x="52573" y="47811"/>
                    <a:pt x="45020" y="47811"/>
                    <a:pt x="40369" y="52461"/>
                  </a:cubicBezTo>
                  <a:lnTo>
                    <a:pt x="4651" y="88182"/>
                  </a:lnTo>
                  <a:cubicBezTo>
                    <a:pt x="0" y="92832"/>
                    <a:pt x="0" y="100385"/>
                    <a:pt x="4651" y="105036"/>
                  </a:cubicBezTo>
                  <a:lnTo>
                    <a:pt x="40369" y="140754"/>
                  </a:lnTo>
                  <a:cubicBezTo>
                    <a:pt x="45020" y="145405"/>
                    <a:pt x="52573" y="145405"/>
                    <a:pt x="57224" y="140754"/>
                  </a:cubicBezTo>
                  <a:cubicBezTo>
                    <a:pt x="61876" y="136104"/>
                    <a:pt x="61876" y="128551"/>
                    <a:pt x="57224" y="123900"/>
                  </a:cubicBezTo>
                  <a:lnTo>
                    <a:pt x="29913" y="96627"/>
                  </a:lnTo>
                  <a:lnTo>
                    <a:pt x="57187" y="69317"/>
                  </a:lnTo>
                  <a:cubicBezTo>
                    <a:pt x="61837" y="64666"/>
                    <a:pt x="61837" y="57113"/>
                    <a:pt x="57187" y="5246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09521" y="4266407"/>
              <a:ext cx="62388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主要用途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571396" y="4685494"/>
              <a:ext cx="3133725" cy="685800"/>
            </a:xfrm>
            <a:custGeom>
              <a:avLst/>
              <a:gdLst/>
              <a:ahLst/>
              <a:cxnLst/>
              <a:rect r="r" b="b" t="t" l="l"/>
              <a:pathLst>
                <a:path h="685800" w="3133725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85646" y="4799745"/>
              <a:ext cx="29813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局部变量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85646" y="5066376"/>
              <a:ext cx="29718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FFFFFF">
                      <a:alpha val="90196"/>
                    </a:srgbClr>
                  </a:solidFill>
                  <a:latin typeface="MiSans"/>
                  <a:ea typeface="MiSans"/>
                  <a:cs typeface="MiSans"/>
                  <a:sym typeface="MiSans"/>
                </a:rPr>
                <a:t>存储临时计算结果</a:t>
              </a:r>
              <a:endParaRPr lang="en-US" sz="1100"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3821329" y="4685494"/>
              <a:ext cx="3133725" cy="685800"/>
            </a:xfrm>
            <a:custGeom>
              <a:avLst/>
              <a:gdLst/>
              <a:ahLst/>
              <a:cxnLst/>
              <a:rect r="r" b="b" t="t" l="l"/>
              <a:pathLst>
                <a:path h="685800" w="3133725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3935578" y="4799745"/>
              <a:ext cx="29813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临时结果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935578" y="5066376"/>
              <a:ext cx="29718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FFFFFF">
                      <a:alpha val="90196"/>
                    </a:srgbClr>
                  </a:solidFill>
                  <a:latin typeface="MiSans"/>
                  <a:ea typeface="MiSans"/>
                  <a:cs typeface="MiSans"/>
                  <a:sym typeface="MiSans"/>
                </a:rPr>
                <a:t>中间计算数据缓存</a:t>
              </a:r>
              <a:endParaRPr lang="en-US" sz="1100"/>
            </a:p>
          </p:txBody>
        </p:sp>
      </p:grpSp>
      <p:sp>
        <p:nvSpPr>
          <p:cNvPr name="Freeform 25" id="25"/>
          <p:cNvSpPr/>
          <p:nvPr/>
        </p:nvSpPr>
        <p:spPr>
          <a:xfrm rot="0" flipH="false" flipV="false">
            <a:off x="7376099" y="1333234"/>
            <a:ext cx="4438650" cy="4876800"/>
          </a:xfrm>
          <a:custGeom>
            <a:avLst/>
            <a:gdLst/>
            <a:ahLst/>
            <a:cxnLst/>
            <a:rect r="r" b="b" t="t" l="l"/>
            <a:pathLst>
              <a:path h="4876800" w="4438650">
                <a:moveTo>
                  <a:pt x="76211" y="0"/>
                </a:moveTo>
                <a:lnTo>
                  <a:pt x="4362439" y="0"/>
                </a:lnTo>
                <a:cubicBezTo>
                  <a:pt x="4404529" y="0"/>
                  <a:pt x="4438650" y="34121"/>
                  <a:pt x="4438650" y="76211"/>
                </a:cubicBezTo>
                <a:lnTo>
                  <a:pt x="4438650" y="4800589"/>
                </a:lnTo>
                <a:cubicBezTo>
                  <a:pt x="4438650" y="4842679"/>
                  <a:pt x="4404529" y="4876800"/>
                  <a:pt x="4362439" y="4876800"/>
                </a:cubicBezTo>
                <a:lnTo>
                  <a:pt x="76211" y="4876800"/>
                </a:lnTo>
                <a:cubicBezTo>
                  <a:pt x="34121" y="4876800"/>
                  <a:pt x="0" y="4842679"/>
                  <a:pt x="0" y="4800589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768725" y="2476544"/>
            <a:ext cx="164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Register per Thread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8412565" y="2971824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79227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R0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9022094" y="2971824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988757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R1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9631623" y="2971824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598286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R2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10241152" y="2971824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207814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R3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8412565" y="358135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79227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R4</a:t>
            </a:r>
            <a:endParaRPr lang="en-US" sz="1100"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9022094" y="358135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988757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R5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9631623" y="358135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598286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R6</a:t>
            </a:r>
            <a:endParaRPr lang="en-US" sz="1100"/>
          </a:p>
        </p:txBody>
      </p:sp>
      <p:sp>
        <p:nvSpPr>
          <p:cNvPr name="Freeform 41" id="41"/>
          <p:cNvSpPr/>
          <p:nvPr/>
        </p:nvSpPr>
        <p:spPr>
          <a:xfrm rot="0" flipH="false" flipV="false">
            <a:off x="10241152" y="3581352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207814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R7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8412565" y="419088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379227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R8</a:t>
            </a:r>
            <a:endParaRPr lang="en-US" sz="1100"/>
          </a:p>
        </p:txBody>
      </p:sp>
      <p:sp>
        <p:nvSpPr>
          <p:cNvPr name="Freeform 45" id="45"/>
          <p:cNvSpPr/>
          <p:nvPr/>
        </p:nvSpPr>
        <p:spPr>
          <a:xfrm rot="0" flipH="false" flipV="false">
            <a:off x="9022094" y="419088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988757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R9</a:t>
            </a:r>
            <a:endParaRPr lang="en-US" sz="1100"/>
          </a:p>
        </p:txBody>
      </p:sp>
      <p:sp>
        <p:nvSpPr>
          <p:cNvPr name="Freeform 47" id="47"/>
          <p:cNvSpPr/>
          <p:nvPr/>
        </p:nvSpPr>
        <p:spPr>
          <a:xfrm rot="0" flipH="false" flipV="false">
            <a:off x="9631623" y="419088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598286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R10</a:t>
            </a:r>
            <a:endParaRPr lang="en-US" sz="1100"/>
          </a:p>
        </p:txBody>
      </p:sp>
      <p:sp>
        <p:nvSpPr>
          <p:cNvPr name="Freeform 49" id="49"/>
          <p:cNvSpPr/>
          <p:nvPr/>
        </p:nvSpPr>
        <p:spPr>
          <a:xfrm rot="0" flipH="false" flipV="false">
            <a:off x="10241152" y="419088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10207814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R11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8626682" y="4876601"/>
            <a:ext cx="19335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每个线程拥有独立的寄存器集合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314281" y="6286545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微软雅黑"/>
                <a:ea typeface="微软雅黑"/>
                <a:cs typeface="微软雅黑"/>
                <a:sym typeface="微软雅黑"/>
              </a:rPr>
              <a:t>register per thread 示意图</a:t>
            </a:r>
            <a:endParaRPr lang="en-US" sz="1100"/>
          </a:p>
        </p:txBody>
      </p:sp>
      <p:sp>
        <p:nvSpPr>
          <p:cNvPr name="AutoShape 53" id="5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7596" y="60146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Global Memory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333233"/>
            <a:ext cx="5600700" cy="5180858"/>
            <a:chOff x="380956" y="1333233"/>
            <a:chExt cx="5600700" cy="5180858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333233"/>
              <a:ext cx="56007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6007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2438408"/>
                  </a:lnTo>
                  <a:cubicBezTo>
                    <a:pt x="5600700" y="2480488"/>
                    <a:pt x="5566588" y="2514600"/>
                    <a:pt x="5524508" y="2514600"/>
                  </a:cubicBezTo>
                  <a:lnTo>
                    <a:pt x="76192" y="2514600"/>
                  </a:lnTo>
                  <a:cubicBezTo>
                    <a:pt x="34112" y="2514600"/>
                    <a:pt x="0" y="2480488"/>
                    <a:pt x="0" y="24384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09521" y="1523674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Global Memory 特点</a:t>
              </a:r>
              <a:endParaRPr lang="en-US" sz="1100"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571396" y="2018954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761837" y="1942763"/>
              <a:ext cx="18097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容量大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761837" y="2209395"/>
              <a:ext cx="18097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GB级别，可存储大量数据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571396" y="2628409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761837" y="2552216"/>
              <a:ext cx="11906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延迟高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761837" y="2818849"/>
              <a:ext cx="11906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400-800 cycles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571396" y="3237863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761837" y="3161672"/>
              <a:ext cx="16002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所有thread可访问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761837" y="3428305"/>
              <a:ext cx="16002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全局可见，线程间共享</a:t>
              </a:r>
              <a:endParaRPr lang="en-US" sz="1100"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380956" y="3999700"/>
              <a:ext cx="56007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5600700">
                  <a:moveTo>
                    <a:pt x="76196" y="0"/>
                  </a:moveTo>
                  <a:lnTo>
                    <a:pt x="5524504" y="0"/>
                  </a:lnTo>
                  <a:cubicBezTo>
                    <a:pt x="5566587" y="0"/>
                    <a:pt x="5600700" y="34113"/>
                    <a:pt x="5600700" y="76196"/>
                  </a:cubicBezTo>
                  <a:lnTo>
                    <a:pt x="5600700" y="1257304"/>
                  </a:lnTo>
                  <a:cubicBezTo>
                    <a:pt x="5600700" y="1299387"/>
                    <a:pt x="5566587" y="1333500"/>
                    <a:pt x="5524504" y="1333500"/>
                  </a:cubicBezTo>
                  <a:lnTo>
                    <a:pt x="76196" y="1333500"/>
                  </a:lnTo>
                  <a:cubicBezTo>
                    <a:pt x="34113" y="1333500"/>
                    <a:pt x="0" y="1299387"/>
                    <a:pt x="0" y="1257304"/>
                  </a:cubicBezTo>
                  <a:lnTo>
                    <a:pt x="0" y="76196"/>
                  </a:lnTo>
                  <a:cubicBezTo>
                    <a:pt x="0" y="34141"/>
                    <a:pt x="34141" y="0"/>
                    <a:pt x="76196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09521" y="4190142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主要问题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571396" y="4571098"/>
              <a:ext cx="53054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访问速度慢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571396" y="4913993"/>
              <a:ext cx="52959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FFFFFF">
                      <a:alpha val="90196"/>
                    </a:srgbClr>
                  </a:solidFill>
                  <a:latin typeface="MiSans"/>
                  <a:ea typeface="MiSans"/>
                  <a:cs typeface="MiSans"/>
                  <a:sym typeface="MiSans"/>
                </a:rPr>
                <a:t>高延迟成为性能瓶颈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380956" y="5485391"/>
              <a:ext cx="5600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600700">
                  <a:moveTo>
                    <a:pt x="76196" y="0"/>
                  </a:moveTo>
                  <a:lnTo>
                    <a:pt x="5524504" y="0"/>
                  </a:lnTo>
                  <a:cubicBezTo>
                    <a:pt x="5566587" y="0"/>
                    <a:pt x="5600700" y="34113"/>
                    <a:pt x="5600700" y="76196"/>
                  </a:cubicBezTo>
                  <a:lnTo>
                    <a:pt x="5600700" y="952504"/>
                  </a:lnTo>
                  <a:cubicBezTo>
                    <a:pt x="5600700" y="994587"/>
                    <a:pt x="5566587" y="1028700"/>
                    <a:pt x="5524504" y="1028700"/>
                  </a:cubicBezTo>
                  <a:lnTo>
                    <a:pt x="76196" y="1028700"/>
                  </a:lnTo>
                  <a:cubicBezTo>
                    <a:pt x="34113" y="1028700"/>
                    <a:pt x="0" y="994587"/>
                    <a:pt x="0" y="952504"/>
                  </a:cubicBezTo>
                  <a:lnTo>
                    <a:pt x="0" y="76196"/>
                  </a:lnTo>
                  <a:cubicBezTo>
                    <a:pt x="0" y="34141"/>
                    <a:pt x="34141" y="0"/>
                    <a:pt x="76196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09521" y="5675830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优化目标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571396" y="6056786"/>
              <a:ext cx="53054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减少 Global Memory 访问</a:t>
              </a:r>
              <a:endParaRPr lang="en-US" sz="1100"/>
            </a:p>
          </p:txBody>
        </p:sp>
      </p:grpSp>
      <p:sp>
        <p:nvSpPr>
          <p:cNvPr name="Freeform 22" id="22"/>
          <p:cNvSpPr/>
          <p:nvPr/>
        </p:nvSpPr>
        <p:spPr>
          <a:xfrm rot="0" flipH="false" flipV="false">
            <a:off x="6210279" y="1333233"/>
            <a:ext cx="5600700" cy="4038600"/>
          </a:xfrm>
          <a:custGeom>
            <a:avLst/>
            <a:gdLst/>
            <a:ahLst/>
            <a:cxnLst/>
            <a:rect r="r" b="b" t="t" l="l"/>
            <a:pathLst>
              <a:path h="4038600" w="56007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962392"/>
                </a:lnTo>
                <a:cubicBezTo>
                  <a:pt x="5600700" y="4004480"/>
                  <a:pt x="5566580" y="4038600"/>
                  <a:pt x="5524492" y="4038600"/>
                </a:cubicBezTo>
                <a:lnTo>
                  <a:pt x="76208" y="4038600"/>
                </a:lnTo>
                <a:cubicBezTo>
                  <a:pt x="34120" y="4038600"/>
                  <a:pt x="0" y="4004480"/>
                  <a:pt x="0" y="39623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rcRect l="60" r="60" t="0" b="0"/>
          <a:stretch>
            <a:fillRect/>
          </a:stretch>
        </p:blipFill>
        <p:spPr>
          <a:xfrm rot="0" flipH="false" flipV="false">
            <a:off x="6400720" y="2343785"/>
            <a:ext cx="5219700" cy="2019300"/>
          </a:xfrm>
          <a:prstGeom prst="roundRect">
            <a:avLst>
              <a:gd name="adj" fmla="val 1886"/>
            </a:avLst>
          </a:prstGeom>
          <a:ln w="12700">
            <a:noFill/>
            <a:prstDash val="solid"/>
          </a:ln>
        </p:spPr>
      </p:pic>
      <p:sp>
        <p:nvSpPr>
          <p:cNvPr name="Freeform 24" id="24"/>
          <p:cNvSpPr/>
          <p:nvPr/>
        </p:nvSpPr>
        <p:spPr>
          <a:xfrm rot="0" flipH="false" flipV="false">
            <a:off x="6219757" y="5533147"/>
            <a:ext cx="5581555" cy="971455"/>
          </a:xfrm>
          <a:custGeom>
            <a:avLst/>
            <a:gdLst/>
            <a:ahLst/>
            <a:cxnLst/>
            <a:rect r="r" b="b" t="t" l="l"/>
            <a:pathLst>
              <a:path h="971455" w="55815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895253"/>
                </a:lnTo>
                <a:cubicBezTo>
                  <a:pt x="5581555" y="937339"/>
                  <a:pt x="5547439" y="971455"/>
                  <a:pt x="5505353" y="971455"/>
                </a:cubicBezTo>
                <a:lnTo>
                  <a:pt x="76201" y="971455"/>
                </a:lnTo>
                <a:cubicBezTo>
                  <a:pt x="34116" y="971455"/>
                  <a:pt x="0" y="937339"/>
                  <a:pt x="0" y="895253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95892" y="5695008"/>
            <a:ext cx="5429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400-800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43517" y="6114022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cycles latency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14281" y="6590123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图片来源：POP CoE</a:t>
            </a:r>
            <a:endParaRPr lang="en-US" sz="1100"/>
          </a:p>
        </p:txBody>
      </p:sp>
      <p:sp>
        <p:nvSpPr>
          <p:cNvPr name="AutoShape 28" id="2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7596" y="58966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Shared Memory 概念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333235"/>
            <a:ext cx="5600700" cy="1143000"/>
            <a:chOff x="380956" y="1333235"/>
            <a:chExt cx="5600700" cy="11430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333235"/>
              <a:ext cx="5600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600700">
                  <a:moveTo>
                    <a:pt x="76204" y="0"/>
                  </a:moveTo>
                  <a:lnTo>
                    <a:pt x="5524496" y="0"/>
                  </a:lnTo>
                  <a:cubicBezTo>
                    <a:pt x="5566581" y="0"/>
                    <a:pt x="5600700" y="34119"/>
                    <a:pt x="5600700" y="76204"/>
                  </a:cubicBezTo>
                  <a:lnTo>
                    <a:pt x="5600700" y="1066796"/>
                  </a:lnTo>
                  <a:cubicBezTo>
                    <a:pt x="5600700" y="1108881"/>
                    <a:pt x="5566581" y="1143000"/>
                    <a:pt x="5524496" y="1143000"/>
                  </a:cubicBezTo>
                  <a:lnTo>
                    <a:pt x="76204" y="1143000"/>
                  </a:lnTo>
                  <a:cubicBezTo>
                    <a:pt x="34119" y="1143000"/>
                    <a:pt x="0" y="1108881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609529" y="1561807"/>
              <a:ext cx="52578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Shared Memory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609529" y="1980749"/>
              <a:ext cx="52292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FFFFFF">
                      <a:alpha val="90196"/>
                    </a:srgbClr>
                  </a:solidFill>
                  <a:latin typeface="MiSans"/>
                  <a:ea typeface="MiSans"/>
                  <a:cs typeface="MiSans"/>
                  <a:sym typeface="MiSans"/>
                </a:rPr>
                <a:t>SM 内部高速内存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380956" y="2628409"/>
            <a:ext cx="5600700" cy="3714750"/>
            <a:chOff x="380956" y="2628409"/>
            <a:chExt cx="5600700" cy="3714750"/>
          </a:xfrm>
        </p:grpSpPr>
        <p:sp>
          <p:nvSpPr>
            <p:cNvPr name="Freeform 8" id="8"/>
            <p:cNvSpPr/>
            <p:nvPr/>
          </p:nvSpPr>
          <p:spPr>
            <a:xfrm rot="0" flipH="false" flipV="false">
              <a:off x="380956" y="2628409"/>
              <a:ext cx="5600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5600700">
                  <a:moveTo>
                    <a:pt x="76190" y="0"/>
                  </a:moveTo>
                  <a:lnTo>
                    <a:pt x="5524510" y="0"/>
                  </a:lnTo>
                  <a:cubicBezTo>
                    <a:pt x="5566589" y="0"/>
                    <a:pt x="5600700" y="34111"/>
                    <a:pt x="5600700" y="76190"/>
                  </a:cubicBezTo>
                  <a:lnTo>
                    <a:pt x="5600700" y="3638560"/>
                  </a:lnTo>
                  <a:cubicBezTo>
                    <a:pt x="5600700" y="3680639"/>
                    <a:pt x="5566589" y="3714750"/>
                    <a:pt x="5524510" y="3714750"/>
                  </a:cubicBezTo>
                  <a:lnTo>
                    <a:pt x="76190" y="3714750"/>
                  </a:lnTo>
                  <a:cubicBezTo>
                    <a:pt x="34111" y="3714750"/>
                    <a:pt x="0" y="3680639"/>
                    <a:pt x="0" y="3638560"/>
                  </a:cubicBezTo>
                  <a:lnTo>
                    <a:pt x="0" y="76190"/>
                  </a:lnTo>
                  <a:cubicBezTo>
                    <a:pt x="0" y="34111"/>
                    <a:pt x="34111" y="0"/>
                    <a:pt x="76190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587507" y="2845003"/>
              <a:ext cx="205904" cy="196118"/>
            </a:xfrm>
            <a:custGeom>
              <a:avLst/>
              <a:gdLst/>
              <a:ahLst/>
              <a:cxnLst/>
              <a:rect r="r" b="b" t="t" l="l"/>
              <a:pathLst>
                <a:path h="196118" w="205904">
                  <a:moveTo>
                    <a:pt x="110952" y="4874"/>
                  </a:moveTo>
                  <a:cubicBezTo>
                    <a:pt x="109425" y="1897"/>
                    <a:pt x="106338" y="0"/>
                    <a:pt x="102989" y="0"/>
                  </a:cubicBezTo>
                  <a:cubicBezTo>
                    <a:pt x="99641" y="0"/>
                    <a:pt x="96553" y="1897"/>
                    <a:pt x="95027" y="4874"/>
                  </a:cubicBezTo>
                  <a:lnTo>
                    <a:pt x="67642" y="58526"/>
                  </a:lnTo>
                  <a:lnTo>
                    <a:pt x="8149" y="67977"/>
                  </a:lnTo>
                  <a:cubicBezTo>
                    <a:pt x="4837" y="68498"/>
                    <a:pt x="2084" y="70842"/>
                    <a:pt x="1042" y="74042"/>
                  </a:cubicBezTo>
                  <a:cubicBezTo>
                    <a:pt x="0" y="77242"/>
                    <a:pt x="856" y="80739"/>
                    <a:pt x="3200" y="83120"/>
                  </a:cubicBezTo>
                  <a:lnTo>
                    <a:pt x="45765" y="125722"/>
                  </a:lnTo>
                  <a:lnTo>
                    <a:pt x="36389" y="185217"/>
                  </a:lnTo>
                  <a:cubicBezTo>
                    <a:pt x="35868" y="188527"/>
                    <a:pt x="37245" y="191876"/>
                    <a:pt x="39962" y="193847"/>
                  </a:cubicBezTo>
                  <a:cubicBezTo>
                    <a:pt x="42677" y="195820"/>
                    <a:pt x="46249" y="196118"/>
                    <a:pt x="49263" y="194593"/>
                  </a:cubicBezTo>
                  <a:lnTo>
                    <a:pt x="102989" y="167283"/>
                  </a:lnTo>
                  <a:lnTo>
                    <a:pt x="156680" y="194593"/>
                  </a:lnTo>
                  <a:cubicBezTo>
                    <a:pt x="159656" y="196118"/>
                    <a:pt x="163265" y="195820"/>
                    <a:pt x="165981" y="193847"/>
                  </a:cubicBezTo>
                  <a:cubicBezTo>
                    <a:pt x="168698" y="191876"/>
                    <a:pt x="170074" y="188566"/>
                    <a:pt x="169554" y="185217"/>
                  </a:cubicBezTo>
                  <a:lnTo>
                    <a:pt x="160139" y="125722"/>
                  </a:lnTo>
                  <a:lnTo>
                    <a:pt x="202704" y="83120"/>
                  </a:lnTo>
                  <a:cubicBezTo>
                    <a:pt x="205086" y="80739"/>
                    <a:pt x="205904" y="77242"/>
                    <a:pt x="204862" y="74042"/>
                  </a:cubicBezTo>
                  <a:cubicBezTo>
                    <a:pt x="203821" y="70842"/>
                    <a:pt x="201104" y="68498"/>
                    <a:pt x="197756" y="67977"/>
                  </a:cubicBezTo>
                  <a:lnTo>
                    <a:pt x="138299" y="58526"/>
                  </a:lnTo>
                  <a:lnTo>
                    <a:pt x="110952" y="4874"/>
                  </a:ln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09521" y="2818849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核心特点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571396" y="331413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761837" y="3237937"/>
              <a:ext cx="30384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低延迟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761837" y="3504570"/>
              <a:ext cx="30384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约 20 cycles，比Global Memory快20-40倍</a:t>
              </a: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 rot="0" flipH="false" flipV="false">
              <a:off x="571396" y="3923584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761837" y="3847393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Block 内共享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761837" y="4114026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同一线程块内的线程可共享访问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571396" y="453304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761837" y="4456849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容量有限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761837" y="4723479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例如：48 KB per SM</a:t>
              </a:r>
              <a:endParaRPr lang="en-US" sz="1100"/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6210279" y="1333235"/>
            <a:ext cx="5600700" cy="4996311"/>
            <a:chOff x="6210279" y="1333235"/>
            <a:chExt cx="5600700" cy="4996311"/>
          </a:xfrm>
        </p:grpSpPr>
        <p:sp>
          <p:nvSpPr>
            <p:cNvPr name="Freeform 21" id="21"/>
            <p:cNvSpPr/>
            <p:nvPr/>
          </p:nvSpPr>
          <p:spPr>
            <a:xfrm rot="0" flipH="false" flipV="false">
              <a:off x="6210279" y="1333235"/>
              <a:ext cx="5600700" cy="4019550"/>
            </a:xfrm>
            <a:custGeom>
              <a:avLst/>
              <a:gdLst/>
              <a:ahLst/>
              <a:cxnLst/>
              <a:rect r="r" b="b" t="t" l="l"/>
              <a:pathLst>
                <a:path h="4019550" w="5600700">
                  <a:moveTo>
                    <a:pt x="76211" y="0"/>
                  </a:moveTo>
                  <a:lnTo>
                    <a:pt x="5524489" y="0"/>
                  </a:lnTo>
                  <a:cubicBezTo>
                    <a:pt x="5566579" y="0"/>
                    <a:pt x="5600700" y="34121"/>
                    <a:pt x="5600700" y="76211"/>
                  </a:cubicBezTo>
                  <a:lnTo>
                    <a:pt x="5600700" y="3943339"/>
                  </a:lnTo>
                  <a:cubicBezTo>
                    <a:pt x="5600700" y="3985429"/>
                    <a:pt x="5566579" y="4019550"/>
                    <a:pt x="5524489" y="4019550"/>
                  </a:cubicBezTo>
                  <a:lnTo>
                    <a:pt x="76211" y="4019550"/>
                  </a:lnTo>
                  <a:cubicBezTo>
                    <a:pt x="34121" y="4019550"/>
                    <a:pt x="0" y="3985429"/>
                    <a:pt x="0" y="3943339"/>
                  </a:cubicBezTo>
                  <a:lnTo>
                    <a:pt x="0" y="76211"/>
                  </a:lnTo>
                  <a:cubicBezTo>
                    <a:pt x="0" y="34149"/>
                    <a:pt x="34149" y="0"/>
                    <a:pt x="76211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2"/>
            <a:srcRect l="57" r="56" t="0" b="0"/>
            <a:stretch>
              <a:fillRect/>
            </a:stretch>
          </p:blipFill>
          <p:spPr>
            <a:xfrm rot="0" flipH="false" flipV="false">
              <a:off x="6400720" y="1523674"/>
              <a:ext cx="5219700" cy="3638550"/>
            </a:xfrm>
            <a:prstGeom prst="roundRect">
              <a:avLst>
                <a:gd name="adj" fmla="val 1047"/>
              </a:avLst>
            </a:prstGeom>
            <a:ln w="12700">
              <a:noFill/>
              <a:prstDash val="solid"/>
            </a:ln>
          </p:spPr>
        </p:pic>
        <p:sp>
          <p:nvSpPr>
            <p:cNvPr name="Freeform 23" id="23"/>
            <p:cNvSpPr/>
            <p:nvPr/>
          </p:nvSpPr>
          <p:spPr>
            <a:xfrm rot="0" flipH="false" flipV="false">
              <a:off x="6219757" y="5510491"/>
              <a:ext cx="2724055" cy="819055"/>
            </a:xfrm>
            <a:custGeom>
              <a:avLst/>
              <a:gdLst/>
              <a:ahLst/>
              <a:cxnLst/>
              <a:rect r="r" b="b" t="t" l="l"/>
              <a:pathLst>
                <a:path h="819055" w="2724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6272047" y="5634219"/>
              <a:ext cx="2619375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true" i="false" strike="noStrike" u="none" sz="23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~20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310147" y="6015100"/>
              <a:ext cx="25431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cycles</a:t>
              </a:r>
              <a:endParaRPr lang="en-US" sz="1100"/>
            </a:p>
          </p:txBody>
        </p:sp>
        <p:sp>
          <p:nvSpPr>
            <p:cNvPr name="Freeform 26" id="26"/>
            <p:cNvSpPr/>
            <p:nvPr/>
          </p:nvSpPr>
          <p:spPr>
            <a:xfrm rot="0" flipH="false" flipV="false">
              <a:off x="9077257" y="5510491"/>
              <a:ext cx="2724055" cy="819055"/>
            </a:xfrm>
            <a:custGeom>
              <a:avLst/>
              <a:gdLst/>
              <a:ahLst/>
              <a:cxnLst/>
              <a:rect r="r" b="b" t="t" l="l"/>
              <a:pathLst>
                <a:path h="819055" w="2724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B89A6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9129546" y="5634219"/>
              <a:ext cx="2619375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true" i="false" strike="noStrike" u="none" sz="2300">
                  <a:solidFill>
                    <a:srgbClr val="B89A6A"/>
                  </a:solidFill>
                  <a:latin typeface="MiSans"/>
                  <a:ea typeface="MiSans"/>
                  <a:cs typeface="MiSans"/>
                  <a:sym typeface="MiSans"/>
                </a:rPr>
                <a:t>48KB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9167646" y="6015100"/>
              <a:ext cx="25431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11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per SM</a:t>
              </a:r>
              <a:endParaRPr lang="en-US" sz="1100"/>
            </a:p>
          </p:txBody>
        </p:sp>
      </p:grpSp>
      <p:sp>
        <p:nvSpPr>
          <p:cNvPr name="AutoShape 29" id="29"/>
          <p:cNvSpPr/>
          <p:nvPr/>
        </p:nvSpPr>
        <p:spPr>
          <a:xfrm rot="0" flipH="false" flipV="false">
            <a:off x="314281" y="6414936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图片来源：The Beard Sage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3235" y="63352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Shared Memory 更快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17514" y="1589087"/>
            <a:ext cx="5683250" cy="3555537"/>
            <a:chOff x="317514" y="1589087"/>
            <a:chExt cx="5683250" cy="3555537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33310" y="1589087"/>
              <a:ext cx="5667296" cy="1333500"/>
            </a:xfrm>
            <a:custGeom>
              <a:avLst/>
              <a:gdLst/>
              <a:ahLst/>
              <a:cxnLst/>
              <a:rect r="r" b="b" t="t" l="l"/>
              <a:pathLst>
                <a:path h="1333500" w="5667296">
                  <a:moveTo>
                    <a:pt x="31593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1269999"/>
                  </a:lnTo>
                  <a:cubicBezTo>
                    <a:pt x="5667296" y="1305070"/>
                    <a:pt x="5638866" y="1333500"/>
                    <a:pt x="5603795" y="1333500"/>
                  </a:cubicBezTo>
                  <a:lnTo>
                    <a:pt x="31593" y="1333500"/>
                  </a:lnTo>
                  <a:cubicBezTo>
                    <a:pt x="14144" y="1333500"/>
                    <a:pt x="0" y="1319356"/>
                    <a:pt x="0" y="13019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33310" y="1589087"/>
              <a:ext cx="31593" cy="1333500"/>
            </a:xfrm>
            <a:custGeom>
              <a:avLst/>
              <a:gdLst/>
              <a:ahLst/>
              <a:cxnLst/>
              <a:rect r="r" b="b" t="t" l="l"/>
              <a:pathLst>
                <a:path h="1333500" w="31593">
                  <a:moveTo>
                    <a:pt x="31593" y="0"/>
                  </a:moveTo>
                  <a:lnTo>
                    <a:pt x="31593" y="0"/>
                  </a:lnTo>
                  <a:lnTo>
                    <a:pt x="31593" y="1333500"/>
                  </a:lnTo>
                  <a:lnTo>
                    <a:pt x="31593" y="1333500"/>
                  </a:lnTo>
                  <a:cubicBezTo>
                    <a:pt x="14144" y="1333500"/>
                    <a:pt x="0" y="1319356"/>
                    <a:pt x="0" y="13019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528115" y="1779504"/>
              <a:ext cx="158068" cy="158750"/>
            </a:xfrm>
            <a:custGeom>
              <a:avLst/>
              <a:gdLst/>
              <a:ahLst/>
              <a:cxnLst/>
              <a:rect r="r" b="b" t="t" l="l"/>
              <a:pathLst>
                <a:path h="158750" w="158068">
                  <a:moveTo>
                    <a:pt x="108645" y="86816"/>
                  </a:moveTo>
                  <a:lnTo>
                    <a:pt x="49454" y="86816"/>
                  </a:lnTo>
                  <a:cubicBezTo>
                    <a:pt x="50354" y="106815"/>
                    <a:pt x="54788" y="125233"/>
                    <a:pt x="61082" y="138720"/>
                  </a:cubicBezTo>
                  <a:cubicBezTo>
                    <a:pt x="64616" y="146317"/>
                    <a:pt x="68430" y="151681"/>
                    <a:pt x="71964" y="154967"/>
                  </a:cubicBezTo>
                  <a:cubicBezTo>
                    <a:pt x="75437" y="158223"/>
                    <a:pt x="77825" y="158750"/>
                    <a:pt x="79065" y="158750"/>
                  </a:cubicBezTo>
                  <a:cubicBezTo>
                    <a:pt x="80304" y="158750"/>
                    <a:pt x="82693" y="158223"/>
                    <a:pt x="86166" y="154967"/>
                  </a:cubicBezTo>
                  <a:cubicBezTo>
                    <a:pt x="89700" y="151681"/>
                    <a:pt x="93514" y="146286"/>
                    <a:pt x="97048" y="138720"/>
                  </a:cubicBezTo>
                  <a:cubicBezTo>
                    <a:pt x="103344" y="125233"/>
                    <a:pt x="107776" y="106815"/>
                    <a:pt x="108676" y="86816"/>
                  </a:cubicBezTo>
                  <a:close/>
                  <a:moveTo>
                    <a:pt x="49423" y="71934"/>
                  </a:moveTo>
                  <a:lnTo>
                    <a:pt x="108614" y="71934"/>
                  </a:lnTo>
                  <a:cubicBezTo>
                    <a:pt x="107745" y="51935"/>
                    <a:pt x="103312" y="33517"/>
                    <a:pt x="97016" y="20030"/>
                  </a:cubicBezTo>
                  <a:cubicBezTo>
                    <a:pt x="93483" y="12464"/>
                    <a:pt x="89669" y="7069"/>
                    <a:pt x="86134" y="3783"/>
                  </a:cubicBezTo>
                  <a:cubicBezTo>
                    <a:pt x="82662" y="527"/>
                    <a:pt x="80274" y="0"/>
                    <a:pt x="79034" y="0"/>
                  </a:cubicBezTo>
                  <a:cubicBezTo>
                    <a:pt x="77794" y="0"/>
                    <a:pt x="75406" y="527"/>
                    <a:pt x="71934" y="3783"/>
                  </a:cubicBezTo>
                  <a:cubicBezTo>
                    <a:pt x="68399" y="7069"/>
                    <a:pt x="64584" y="12464"/>
                    <a:pt x="61051" y="20030"/>
                  </a:cubicBezTo>
                  <a:cubicBezTo>
                    <a:pt x="54756" y="33517"/>
                    <a:pt x="50324" y="51935"/>
                    <a:pt x="49423" y="71934"/>
                  </a:cubicBezTo>
                  <a:close/>
                  <a:moveTo>
                    <a:pt x="34541" y="71934"/>
                  </a:moveTo>
                  <a:cubicBezTo>
                    <a:pt x="35626" y="45394"/>
                    <a:pt x="42478" y="20743"/>
                    <a:pt x="52493" y="4558"/>
                  </a:cubicBezTo>
                  <a:cubicBezTo>
                    <a:pt x="23937" y="14666"/>
                    <a:pt x="2914" y="40679"/>
                    <a:pt x="0" y="71934"/>
                  </a:cubicBezTo>
                  <a:lnTo>
                    <a:pt x="34541" y="71934"/>
                  </a:lnTo>
                  <a:close/>
                  <a:moveTo>
                    <a:pt x="0" y="86816"/>
                  </a:moveTo>
                  <a:cubicBezTo>
                    <a:pt x="2914" y="118071"/>
                    <a:pt x="23937" y="144084"/>
                    <a:pt x="52493" y="154192"/>
                  </a:cubicBezTo>
                  <a:cubicBezTo>
                    <a:pt x="42478" y="138007"/>
                    <a:pt x="35626" y="113356"/>
                    <a:pt x="34541" y="86816"/>
                  </a:cubicBezTo>
                  <a:lnTo>
                    <a:pt x="0" y="86816"/>
                  </a:lnTo>
                  <a:close/>
                  <a:moveTo>
                    <a:pt x="123526" y="86816"/>
                  </a:moveTo>
                  <a:cubicBezTo>
                    <a:pt x="122442" y="113356"/>
                    <a:pt x="115590" y="138007"/>
                    <a:pt x="105575" y="154192"/>
                  </a:cubicBezTo>
                  <a:cubicBezTo>
                    <a:pt x="134131" y="144054"/>
                    <a:pt x="155153" y="118071"/>
                    <a:pt x="158068" y="86816"/>
                  </a:cubicBezTo>
                  <a:lnTo>
                    <a:pt x="123526" y="86816"/>
                  </a:lnTo>
                  <a:close/>
                  <a:moveTo>
                    <a:pt x="158068" y="71934"/>
                  </a:moveTo>
                  <a:cubicBezTo>
                    <a:pt x="155153" y="40679"/>
                    <a:pt x="134131" y="14666"/>
                    <a:pt x="105575" y="4558"/>
                  </a:cubicBezTo>
                  <a:cubicBezTo>
                    <a:pt x="115590" y="20743"/>
                    <a:pt x="122442" y="45394"/>
                    <a:pt x="123526" y="71934"/>
                  </a:cubicBezTo>
                  <a:lnTo>
                    <a:pt x="158068" y="71934"/>
                  </a:ln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706244" y="1747789"/>
              <a:ext cx="521493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Global Memory</a:t>
              </a:r>
              <a:endParaRPr lang="en-US" sz="1100"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507807" y="2128744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634792" y="2065252"/>
              <a:ext cx="8255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远离计算单元</a:t>
              </a: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507807" y="2382713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634792" y="2319221"/>
              <a:ext cx="6985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高延迟访问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507807" y="2636684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34792" y="2573192"/>
              <a:ext cx="9525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容量大但速度慢</a:t>
              </a: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 rot="0" flipH="false" flipV="false">
              <a:off x="317514" y="3049357"/>
              <a:ext cx="5683250" cy="1333500"/>
            </a:xfrm>
            <a:custGeom>
              <a:avLst/>
              <a:gdLst/>
              <a:ahLst/>
              <a:cxnLst/>
              <a:rect r="r" b="b" t="t" l="l"/>
              <a:pathLst>
                <a:path h="1333500" w="5683250">
                  <a:moveTo>
                    <a:pt x="63501" y="0"/>
                  </a:moveTo>
                  <a:lnTo>
                    <a:pt x="5619749" y="0"/>
                  </a:lnTo>
                  <a:cubicBezTo>
                    <a:pt x="5654820" y="0"/>
                    <a:pt x="5683250" y="28430"/>
                    <a:pt x="5683250" y="63501"/>
                  </a:cubicBezTo>
                  <a:lnTo>
                    <a:pt x="5683250" y="1269999"/>
                  </a:lnTo>
                  <a:cubicBezTo>
                    <a:pt x="5683250" y="1305070"/>
                    <a:pt x="5654820" y="1333500"/>
                    <a:pt x="5619749" y="1333500"/>
                  </a:cubicBezTo>
                  <a:lnTo>
                    <a:pt x="63501" y="1333500"/>
                  </a:lnTo>
                  <a:cubicBezTo>
                    <a:pt x="28430" y="1333500"/>
                    <a:pt x="0" y="1305070"/>
                    <a:pt x="0" y="1269999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496058" y="3239771"/>
              <a:ext cx="158750" cy="158750"/>
            </a:xfrm>
            <a:custGeom>
              <a:avLst/>
              <a:gdLst/>
              <a:ahLst/>
              <a:cxnLst/>
              <a:rect r="r" b="b" t="t" l="l"/>
              <a:pathLst>
                <a:path h="158750" w="158750">
                  <a:moveTo>
                    <a:pt x="54571" y="7441"/>
                  </a:moveTo>
                  <a:cubicBezTo>
                    <a:pt x="54571" y="3319"/>
                    <a:pt x="51253" y="0"/>
                    <a:pt x="47128" y="0"/>
                  </a:cubicBezTo>
                  <a:cubicBezTo>
                    <a:pt x="43005" y="0"/>
                    <a:pt x="39688" y="3319"/>
                    <a:pt x="39688" y="7441"/>
                  </a:cubicBezTo>
                  <a:lnTo>
                    <a:pt x="39688" y="19844"/>
                  </a:lnTo>
                  <a:cubicBezTo>
                    <a:pt x="28741" y="19844"/>
                    <a:pt x="19844" y="28741"/>
                    <a:pt x="19844" y="39687"/>
                  </a:cubicBezTo>
                  <a:lnTo>
                    <a:pt x="7441" y="39687"/>
                  </a:lnTo>
                  <a:cubicBezTo>
                    <a:pt x="3319" y="39687"/>
                    <a:pt x="0" y="43005"/>
                    <a:pt x="0" y="47128"/>
                  </a:cubicBezTo>
                  <a:cubicBezTo>
                    <a:pt x="0" y="51253"/>
                    <a:pt x="3319" y="54571"/>
                    <a:pt x="7441" y="54571"/>
                  </a:cubicBezTo>
                  <a:lnTo>
                    <a:pt x="19844" y="54571"/>
                  </a:lnTo>
                  <a:lnTo>
                    <a:pt x="19844" y="71934"/>
                  </a:lnTo>
                  <a:lnTo>
                    <a:pt x="7441" y="71934"/>
                  </a:lnTo>
                  <a:cubicBezTo>
                    <a:pt x="3319" y="71934"/>
                    <a:pt x="0" y="75251"/>
                    <a:pt x="0" y="79375"/>
                  </a:cubicBezTo>
                  <a:cubicBezTo>
                    <a:pt x="0" y="83499"/>
                    <a:pt x="3319" y="86816"/>
                    <a:pt x="7441" y="86816"/>
                  </a:cubicBezTo>
                  <a:lnTo>
                    <a:pt x="19844" y="86816"/>
                  </a:lnTo>
                  <a:lnTo>
                    <a:pt x="19844" y="104179"/>
                  </a:lnTo>
                  <a:lnTo>
                    <a:pt x="7441" y="104179"/>
                  </a:lnTo>
                  <a:cubicBezTo>
                    <a:pt x="3319" y="104179"/>
                    <a:pt x="0" y="107497"/>
                    <a:pt x="0" y="111622"/>
                  </a:cubicBezTo>
                  <a:cubicBezTo>
                    <a:pt x="0" y="115745"/>
                    <a:pt x="3319" y="119063"/>
                    <a:pt x="7441" y="119063"/>
                  </a:cubicBezTo>
                  <a:lnTo>
                    <a:pt x="19844" y="119063"/>
                  </a:lnTo>
                  <a:cubicBezTo>
                    <a:pt x="19844" y="130009"/>
                    <a:pt x="28741" y="138906"/>
                    <a:pt x="39688" y="138906"/>
                  </a:cubicBezTo>
                  <a:lnTo>
                    <a:pt x="39688" y="151309"/>
                  </a:lnTo>
                  <a:cubicBezTo>
                    <a:pt x="39688" y="155431"/>
                    <a:pt x="43005" y="158750"/>
                    <a:pt x="47128" y="158750"/>
                  </a:cubicBezTo>
                  <a:cubicBezTo>
                    <a:pt x="51253" y="158750"/>
                    <a:pt x="54571" y="155431"/>
                    <a:pt x="54571" y="151309"/>
                  </a:cubicBezTo>
                  <a:lnTo>
                    <a:pt x="54571" y="138906"/>
                  </a:lnTo>
                  <a:lnTo>
                    <a:pt x="71934" y="138906"/>
                  </a:lnTo>
                  <a:lnTo>
                    <a:pt x="71934" y="151309"/>
                  </a:lnTo>
                  <a:cubicBezTo>
                    <a:pt x="71934" y="155431"/>
                    <a:pt x="75251" y="158750"/>
                    <a:pt x="79375" y="158750"/>
                  </a:cubicBezTo>
                  <a:cubicBezTo>
                    <a:pt x="83499" y="158750"/>
                    <a:pt x="86816" y="155431"/>
                    <a:pt x="86816" y="151309"/>
                  </a:cubicBezTo>
                  <a:lnTo>
                    <a:pt x="86816" y="138906"/>
                  </a:lnTo>
                  <a:lnTo>
                    <a:pt x="104179" y="138906"/>
                  </a:lnTo>
                  <a:lnTo>
                    <a:pt x="104179" y="151309"/>
                  </a:lnTo>
                  <a:cubicBezTo>
                    <a:pt x="104179" y="155431"/>
                    <a:pt x="107497" y="158750"/>
                    <a:pt x="111622" y="158750"/>
                  </a:cubicBezTo>
                  <a:cubicBezTo>
                    <a:pt x="115745" y="158750"/>
                    <a:pt x="119062" y="155431"/>
                    <a:pt x="119062" y="151309"/>
                  </a:cubicBezTo>
                  <a:lnTo>
                    <a:pt x="119062" y="138906"/>
                  </a:lnTo>
                  <a:cubicBezTo>
                    <a:pt x="130009" y="138906"/>
                    <a:pt x="138906" y="130009"/>
                    <a:pt x="138906" y="119063"/>
                  </a:cubicBezTo>
                  <a:lnTo>
                    <a:pt x="151309" y="119063"/>
                  </a:lnTo>
                  <a:cubicBezTo>
                    <a:pt x="155431" y="119063"/>
                    <a:pt x="158750" y="115745"/>
                    <a:pt x="158750" y="111622"/>
                  </a:cubicBezTo>
                  <a:cubicBezTo>
                    <a:pt x="158750" y="107497"/>
                    <a:pt x="155431" y="104179"/>
                    <a:pt x="151309" y="104179"/>
                  </a:cubicBezTo>
                  <a:lnTo>
                    <a:pt x="138906" y="104179"/>
                  </a:lnTo>
                  <a:lnTo>
                    <a:pt x="138906" y="86816"/>
                  </a:lnTo>
                  <a:lnTo>
                    <a:pt x="151309" y="86816"/>
                  </a:lnTo>
                  <a:cubicBezTo>
                    <a:pt x="155431" y="86816"/>
                    <a:pt x="158750" y="83499"/>
                    <a:pt x="158750" y="79375"/>
                  </a:cubicBezTo>
                  <a:cubicBezTo>
                    <a:pt x="158750" y="75251"/>
                    <a:pt x="155431" y="71934"/>
                    <a:pt x="151309" y="71934"/>
                  </a:cubicBezTo>
                  <a:lnTo>
                    <a:pt x="138906" y="71934"/>
                  </a:lnTo>
                  <a:lnTo>
                    <a:pt x="138906" y="54571"/>
                  </a:lnTo>
                  <a:lnTo>
                    <a:pt x="151309" y="54571"/>
                  </a:lnTo>
                  <a:cubicBezTo>
                    <a:pt x="155431" y="54571"/>
                    <a:pt x="158750" y="51253"/>
                    <a:pt x="158750" y="47128"/>
                  </a:cubicBezTo>
                  <a:cubicBezTo>
                    <a:pt x="158750" y="43005"/>
                    <a:pt x="155431" y="39687"/>
                    <a:pt x="151309" y="39687"/>
                  </a:cubicBezTo>
                  <a:lnTo>
                    <a:pt x="138906" y="39687"/>
                  </a:lnTo>
                  <a:cubicBezTo>
                    <a:pt x="138906" y="28741"/>
                    <a:pt x="130009" y="19844"/>
                    <a:pt x="119062" y="19844"/>
                  </a:cubicBezTo>
                  <a:lnTo>
                    <a:pt x="119062" y="7441"/>
                  </a:lnTo>
                  <a:cubicBezTo>
                    <a:pt x="119062" y="3319"/>
                    <a:pt x="115745" y="0"/>
                    <a:pt x="111622" y="0"/>
                  </a:cubicBezTo>
                  <a:cubicBezTo>
                    <a:pt x="107497" y="0"/>
                    <a:pt x="104179" y="3319"/>
                    <a:pt x="104179" y="7441"/>
                  </a:cubicBezTo>
                  <a:lnTo>
                    <a:pt x="104179" y="19844"/>
                  </a:lnTo>
                  <a:lnTo>
                    <a:pt x="86816" y="19844"/>
                  </a:lnTo>
                  <a:lnTo>
                    <a:pt x="86816" y="7441"/>
                  </a:lnTo>
                  <a:cubicBezTo>
                    <a:pt x="86816" y="3319"/>
                    <a:pt x="83499" y="0"/>
                    <a:pt x="79375" y="0"/>
                  </a:cubicBezTo>
                  <a:cubicBezTo>
                    <a:pt x="75251" y="0"/>
                    <a:pt x="71934" y="3319"/>
                    <a:pt x="71934" y="7441"/>
                  </a:cubicBezTo>
                  <a:lnTo>
                    <a:pt x="71934" y="19844"/>
                  </a:lnTo>
                  <a:lnTo>
                    <a:pt x="54571" y="19844"/>
                  </a:lnTo>
                  <a:lnTo>
                    <a:pt x="54571" y="7441"/>
                  </a:lnTo>
                  <a:close/>
                  <a:moveTo>
                    <a:pt x="49609" y="39687"/>
                  </a:moveTo>
                  <a:lnTo>
                    <a:pt x="109141" y="39687"/>
                  </a:lnTo>
                  <a:cubicBezTo>
                    <a:pt x="114629" y="39687"/>
                    <a:pt x="119062" y="44121"/>
                    <a:pt x="119062" y="49609"/>
                  </a:cubicBezTo>
                  <a:lnTo>
                    <a:pt x="119062" y="109141"/>
                  </a:lnTo>
                  <a:cubicBezTo>
                    <a:pt x="119062" y="114629"/>
                    <a:pt x="114629" y="119063"/>
                    <a:pt x="109141" y="119063"/>
                  </a:cubicBezTo>
                  <a:lnTo>
                    <a:pt x="49609" y="119063"/>
                  </a:lnTo>
                  <a:cubicBezTo>
                    <a:pt x="44121" y="119063"/>
                    <a:pt x="39688" y="114629"/>
                    <a:pt x="39688" y="109141"/>
                  </a:cubicBezTo>
                  <a:lnTo>
                    <a:pt x="39688" y="49609"/>
                  </a:lnTo>
                  <a:cubicBezTo>
                    <a:pt x="39688" y="44121"/>
                    <a:pt x="44121" y="39687"/>
                    <a:pt x="49609" y="39687"/>
                  </a:cubicBezTo>
                  <a:close/>
                  <a:moveTo>
                    <a:pt x="54571" y="54571"/>
                  </a:moveTo>
                  <a:lnTo>
                    <a:pt x="54571" y="104179"/>
                  </a:lnTo>
                  <a:lnTo>
                    <a:pt x="104179" y="104179"/>
                  </a:lnTo>
                  <a:lnTo>
                    <a:pt x="104179" y="54571"/>
                  </a:lnTo>
                  <a:lnTo>
                    <a:pt x="54571" y="54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674652" y="3208056"/>
              <a:ext cx="5246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Shared Memory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476215" y="3589010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03200" y="3525517"/>
              <a:ext cx="706438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在 SM 内部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476215" y="3842983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03200" y="3779490"/>
              <a:ext cx="10795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距离近，访问更快</a:t>
              </a:r>
              <a:endParaRPr lang="en-US" sz="1100"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476215" y="4096952"/>
              <a:ext cx="63500" cy="63500"/>
            </a:xfrm>
            <a:custGeom>
              <a:avLst/>
              <a:gdLst/>
              <a:ahLst/>
              <a:cxnLst/>
              <a:rect r="r" b="b" t="t" l="l"/>
              <a:pathLst>
                <a:path h="635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03200" y="4033459"/>
              <a:ext cx="992188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类似 CPU cache</a:t>
              </a:r>
              <a:endParaRPr lang="en-US" sz="1100"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317514" y="4509624"/>
              <a:ext cx="5683250" cy="635000"/>
            </a:xfrm>
            <a:custGeom>
              <a:avLst/>
              <a:gdLst/>
              <a:ahLst/>
              <a:cxnLst/>
              <a:rect r="r" b="b" t="t" l="l"/>
              <a:pathLst>
                <a:path h="635000" w="5683250">
                  <a:moveTo>
                    <a:pt x="63500" y="0"/>
                  </a:moveTo>
                  <a:lnTo>
                    <a:pt x="5619750" y="0"/>
                  </a:lnTo>
                  <a:cubicBezTo>
                    <a:pt x="5654797" y="0"/>
                    <a:pt x="5683250" y="28453"/>
                    <a:pt x="5683250" y="63500"/>
                  </a:cubicBezTo>
                  <a:lnTo>
                    <a:pt x="5683250" y="571500"/>
                  </a:lnTo>
                  <a:cubicBezTo>
                    <a:pt x="5683250" y="606547"/>
                    <a:pt x="5654797" y="635000"/>
                    <a:pt x="5619750" y="635000"/>
                  </a:cubicBezTo>
                  <a:lnTo>
                    <a:pt x="63500" y="635000"/>
                  </a:lnTo>
                  <a:cubicBezTo>
                    <a:pt x="28453" y="635000"/>
                    <a:pt x="0" y="606547"/>
                    <a:pt x="0" y="5715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492124" y="4731816"/>
              <a:ext cx="142875" cy="196452"/>
            </a:xfrm>
            <a:custGeom>
              <a:avLst/>
              <a:gdLst/>
              <a:ahLst/>
              <a:cxnLst/>
              <a:rect r="r" b="b" t="t" l="l"/>
              <a:pathLst>
                <a:path h="196452" w="142875">
                  <a:moveTo>
                    <a:pt x="108979" y="142875"/>
                  </a:moveTo>
                  <a:cubicBezTo>
                    <a:pt x="111697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8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2"/>
                    <a:pt x="65484" y="196452"/>
                  </a:cubicBezTo>
                  <a:lnTo>
                    <a:pt x="77391" y="196452"/>
                  </a:lnTo>
                  <a:cubicBezTo>
                    <a:pt x="93836" y="196452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3"/>
                  </a:moveTo>
                  <a:cubicBezTo>
                    <a:pt x="53652" y="41673"/>
                    <a:pt x="41673" y="53652"/>
                    <a:pt x="41673" y="68461"/>
                  </a:cubicBezTo>
                  <a:cubicBezTo>
                    <a:pt x="41673" y="73409"/>
                    <a:pt x="37691" y="77391"/>
                    <a:pt x="32742" y="77391"/>
                  </a:cubicBezTo>
                  <a:cubicBezTo>
                    <a:pt x="27794" y="77391"/>
                    <a:pt x="23813" y="73409"/>
                    <a:pt x="23813" y="68461"/>
                  </a:cubicBezTo>
                  <a:cubicBezTo>
                    <a:pt x="23813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3"/>
                    <a:pt x="68461" y="4167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77820" y="4636608"/>
              <a:ext cx="117475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关键洞察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77820" y="4858800"/>
              <a:ext cx="1166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物理位置决定访问速度</a:t>
              </a:r>
              <a:endParaRPr lang="en-US" sz="1100"/>
            </a:p>
          </p:txBody>
        </p:sp>
      </p:grpSp>
      <p:sp>
        <p:nvSpPr>
          <p:cNvPr name="Freeform 27" id="27"/>
          <p:cNvSpPr/>
          <p:nvPr/>
        </p:nvSpPr>
        <p:spPr>
          <a:xfrm rot="0" flipH="false" flipV="false">
            <a:off x="6191237" y="1111027"/>
            <a:ext cx="5683250" cy="5498428"/>
          </a:xfrm>
          <a:custGeom>
            <a:avLst/>
            <a:gdLst/>
            <a:ahLst/>
            <a:cxnLst/>
            <a:rect r="r" b="b" t="t" l="l"/>
            <a:pathLst>
              <a:path h="5498428" w="5683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3664"/>
                  <a:pt x="5683250" y="52855"/>
                </a:cubicBezTo>
                <a:lnTo>
                  <a:pt x="5683250" y="5445573"/>
                </a:lnTo>
                <a:cubicBezTo>
                  <a:pt x="5683250" y="5474764"/>
                  <a:pt x="5654827" y="5498428"/>
                  <a:pt x="5619768" y="5498428"/>
                </a:cubicBezTo>
                <a:lnTo>
                  <a:pt x="63482" y="5498428"/>
                </a:lnTo>
                <a:cubicBezTo>
                  <a:pt x="28423" y="5498428"/>
                  <a:pt x="0" y="5474764"/>
                  <a:pt x="0" y="5445573"/>
                </a:cubicBezTo>
                <a:lnTo>
                  <a:pt x="0" y="52855"/>
                </a:lnTo>
                <a:cubicBezTo>
                  <a:pt x="0" y="23683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0" r="0" t="2" b="1"/>
          <a:stretch>
            <a:fillRect/>
          </a:stretch>
        </p:blipFill>
        <p:spPr>
          <a:xfrm rot="0" flipH="false" flipV="false">
            <a:off x="7286627" y="1234509"/>
            <a:ext cx="3420027" cy="4006896"/>
          </a:xfrm>
          <a:prstGeom prst="roundRect">
            <a:avLst>
              <a:gd name="adj" fmla="val 591"/>
            </a:avLst>
          </a:prstGeom>
          <a:ln w="12700">
            <a:noFill/>
            <a:prstDash val="solid"/>
          </a:ln>
        </p:spPr>
      </p:pic>
      <p:grpSp>
        <p:nvGrpSpPr>
          <p:cNvPr name="Group 29" id="29"/>
          <p:cNvGrpSpPr/>
          <p:nvPr/>
        </p:nvGrpSpPr>
        <p:grpSpPr>
          <a:xfrm>
            <a:off x="6207167" y="5381741"/>
            <a:ext cx="5667296" cy="1158796"/>
            <a:chOff x="6207167" y="5381741"/>
            <a:chExt cx="5667296" cy="1158796"/>
          </a:xfrm>
        </p:grpSpPr>
        <p:sp>
          <p:nvSpPr>
            <p:cNvPr name="Freeform 30" id="30"/>
            <p:cNvSpPr/>
            <p:nvPr/>
          </p:nvSpPr>
          <p:spPr>
            <a:xfrm rot="0" flipH="false" flipV="false">
              <a:off x="6207167" y="5381741"/>
              <a:ext cx="5667296" cy="1158796"/>
            </a:xfrm>
            <a:custGeom>
              <a:avLst/>
              <a:gdLst/>
              <a:ahLst/>
              <a:cxnLst/>
              <a:rect r="r" b="b" t="t" l="l"/>
              <a:pathLst>
                <a:path h="1158796" w="5667296">
                  <a:moveTo>
                    <a:pt x="63503" y="0"/>
                  </a:moveTo>
                  <a:lnTo>
                    <a:pt x="5603794" y="0"/>
                  </a:lnTo>
                  <a:cubicBezTo>
                    <a:pt x="5638865" y="0"/>
                    <a:pt x="5667296" y="28431"/>
                    <a:pt x="5667296" y="63503"/>
                  </a:cubicBezTo>
                  <a:lnTo>
                    <a:pt x="5667296" y="1095294"/>
                  </a:lnTo>
                  <a:cubicBezTo>
                    <a:pt x="5667296" y="1130365"/>
                    <a:pt x="5638865" y="1158796"/>
                    <a:pt x="5603794" y="1158796"/>
                  </a:cubicBezTo>
                  <a:lnTo>
                    <a:pt x="63503" y="1158796"/>
                  </a:lnTo>
                  <a:cubicBezTo>
                    <a:pt x="28431" y="1158796"/>
                    <a:pt x="0" y="1130365"/>
                    <a:pt x="0" y="1095294"/>
                  </a:cubicBezTo>
                  <a:lnTo>
                    <a:pt x="0" y="63503"/>
                  </a:lnTo>
                  <a:cubicBezTo>
                    <a:pt x="0" y="28454"/>
                    <a:pt x="28454" y="0"/>
                    <a:pt x="635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310301" y="5516621"/>
              <a:ext cx="54610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速度对比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8173474" y="5770594"/>
              <a:ext cx="8890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400-800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193317" y="6024501"/>
              <a:ext cx="8493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Global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9082179" y="5834024"/>
              <a:ext cx="349250" cy="285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9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vs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9452581" y="5770594"/>
              <a:ext cx="452438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~20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9472424" y="6024501"/>
              <a:ext cx="412750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Shared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314270" y="6246696"/>
              <a:ext cx="545306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cycles</a:t>
              </a:r>
              <a:endParaRPr lang="en-US" sz="1100"/>
            </a:p>
          </p:txBody>
        </p:sp>
      </p:grpSp>
      <p:sp>
        <p:nvSpPr>
          <p:cNvPr name="AutoShape 38" id="38"/>
          <p:cNvSpPr/>
          <p:nvPr/>
        </p:nvSpPr>
        <p:spPr>
          <a:xfrm rot="0" flipH="false" flipV="false">
            <a:off x="261900" y="9080182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图片来源：SLING Documentation</a:t>
            </a:r>
            <a:endParaRPr lang="en-US" sz="1100"/>
          </a:p>
        </p:txBody>
      </p:sp>
      <p:sp>
        <p:nvSpPr>
          <p:cNvPr name="AutoShape 39" id="39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5904" y="608970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Shared Memory 使用示例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48054" y="1218088"/>
            <a:ext cx="6813944" cy="5395460"/>
          </a:xfrm>
          <a:custGeom>
            <a:avLst/>
            <a:gdLst/>
            <a:ahLst/>
            <a:cxnLst/>
            <a:rect r="r" b="b" t="t" l="l"/>
            <a:pathLst>
              <a:path h="5395460" w="6813944">
                <a:moveTo>
                  <a:pt x="69601" y="0"/>
                </a:moveTo>
                <a:lnTo>
                  <a:pt x="6744343" y="0"/>
                </a:lnTo>
                <a:cubicBezTo>
                  <a:pt x="6782783" y="0"/>
                  <a:pt x="6813944" y="31162"/>
                  <a:pt x="6813944" y="69601"/>
                </a:cubicBezTo>
                <a:lnTo>
                  <a:pt x="6813944" y="5325859"/>
                </a:lnTo>
                <a:cubicBezTo>
                  <a:pt x="6813944" y="5364298"/>
                  <a:pt x="6782783" y="5395460"/>
                  <a:pt x="6744343" y="5395460"/>
                </a:cubicBezTo>
                <a:lnTo>
                  <a:pt x="69601" y="5395460"/>
                </a:lnTo>
                <a:cubicBezTo>
                  <a:pt x="31162" y="5395460"/>
                  <a:pt x="0" y="5364298"/>
                  <a:pt x="0" y="5325859"/>
                </a:cubicBezTo>
                <a:lnTo>
                  <a:pt x="0" y="69601"/>
                </a:lnTo>
                <a:cubicBezTo>
                  <a:pt x="0" y="31187"/>
                  <a:pt x="31187" y="0"/>
                  <a:pt x="6960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31871" y="1425592"/>
            <a:ext cx="197945" cy="176563"/>
          </a:xfrm>
          <a:custGeom>
            <a:avLst/>
            <a:gdLst/>
            <a:ahLst/>
            <a:cxnLst/>
            <a:rect r="r" b="b" t="t" l="l"/>
            <a:pathLst>
              <a:path h="176563" w="197945">
                <a:moveTo>
                  <a:pt x="123703" y="1667"/>
                </a:moveTo>
                <a:cubicBezTo>
                  <a:pt x="117924" y="0"/>
                  <a:pt x="111907" y="3367"/>
                  <a:pt x="110241" y="9146"/>
                </a:cubicBezTo>
                <a:lnTo>
                  <a:pt x="66730" y="161436"/>
                </a:lnTo>
                <a:cubicBezTo>
                  <a:pt x="65065" y="167216"/>
                  <a:pt x="68429" y="173234"/>
                  <a:pt x="74209" y="174898"/>
                </a:cubicBezTo>
                <a:cubicBezTo>
                  <a:pt x="79987" y="176563"/>
                  <a:pt x="86004" y="173199"/>
                  <a:pt x="87671" y="167419"/>
                </a:cubicBezTo>
                <a:lnTo>
                  <a:pt x="131181" y="15127"/>
                </a:lnTo>
                <a:cubicBezTo>
                  <a:pt x="132847" y="9349"/>
                  <a:pt x="129481" y="3333"/>
                  <a:pt x="123703" y="1667"/>
                </a:cubicBezTo>
                <a:close/>
                <a:moveTo>
                  <a:pt x="145663" y="47932"/>
                </a:moveTo>
                <a:cubicBezTo>
                  <a:pt x="141413" y="52181"/>
                  <a:pt x="141413" y="59082"/>
                  <a:pt x="145663" y="63332"/>
                </a:cubicBezTo>
                <a:lnTo>
                  <a:pt x="170614" y="88283"/>
                </a:lnTo>
                <a:lnTo>
                  <a:pt x="145663" y="113234"/>
                </a:lnTo>
                <a:cubicBezTo>
                  <a:pt x="141413" y="117483"/>
                  <a:pt x="141413" y="124384"/>
                  <a:pt x="145663" y="128632"/>
                </a:cubicBezTo>
                <a:cubicBezTo>
                  <a:pt x="149912" y="132882"/>
                  <a:pt x="156813" y="132882"/>
                  <a:pt x="161063" y="128632"/>
                </a:cubicBezTo>
                <a:lnTo>
                  <a:pt x="193696" y="95998"/>
                </a:lnTo>
                <a:cubicBezTo>
                  <a:pt x="197945" y="91750"/>
                  <a:pt x="197945" y="84849"/>
                  <a:pt x="193696" y="80600"/>
                </a:cubicBezTo>
                <a:lnTo>
                  <a:pt x="161063" y="47966"/>
                </a:lnTo>
                <a:cubicBezTo>
                  <a:pt x="156813" y="43716"/>
                  <a:pt x="149912" y="43716"/>
                  <a:pt x="145663" y="47966"/>
                </a:cubicBezTo>
                <a:close/>
                <a:moveTo>
                  <a:pt x="52282" y="47932"/>
                </a:moveTo>
                <a:cubicBezTo>
                  <a:pt x="48033" y="43683"/>
                  <a:pt x="41131" y="43683"/>
                  <a:pt x="36883" y="47932"/>
                </a:cubicBezTo>
                <a:lnTo>
                  <a:pt x="4249" y="80565"/>
                </a:lnTo>
                <a:cubicBezTo>
                  <a:pt x="0" y="84815"/>
                  <a:pt x="0" y="91716"/>
                  <a:pt x="4249" y="95965"/>
                </a:cubicBezTo>
                <a:lnTo>
                  <a:pt x="36883" y="128599"/>
                </a:lnTo>
                <a:cubicBezTo>
                  <a:pt x="41131" y="132848"/>
                  <a:pt x="48033" y="132848"/>
                  <a:pt x="52282" y="128599"/>
                </a:cubicBezTo>
                <a:cubicBezTo>
                  <a:pt x="56531" y="124350"/>
                  <a:pt x="56531" y="117449"/>
                  <a:pt x="52282" y="113201"/>
                </a:cubicBezTo>
                <a:lnTo>
                  <a:pt x="27332" y="88283"/>
                </a:lnTo>
                <a:lnTo>
                  <a:pt x="52248" y="63332"/>
                </a:lnTo>
                <a:cubicBezTo>
                  <a:pt x="56498" y="59082"/>
                  <a:pt x="56498" y="52181"/>
                  <a:pt x="52248" y="4793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9606" y="1392079"/>
            <a:ext cx="6335315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CUDA 示例代码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39365" y="1774970"/>
            <a:ext cx="6448359" cy="4664464"/>
          </a:xfrm>
          <a:custGeom>
            <a:avLst/>
            <a:gdLst/>
            <a:ahLst/>
            <a:cxnLst/>
            <a:rect r="r" b="b" t="t" l="l"/>
            <a:pathLst>
              <a:path h="4664464" w="6448359">
                <a:moveTo>
                  <a:pt x="34635" y="0"/>
                </a:moveTo>
                <a:lnTo>
                  <a:pt x="6378719" y="0"/>
                </a:lnTo>
                <a:cubicBezTo>
                  <a:pt x="6417180" y="0"/>
                  <a:pt x="6448359" y="31178"/>
                  <a:pt x="6448359" y="69640"/>
                </a:cubicBezTo>
                <a:lnTo>
                  <a:pt x="6448359" y="4594822"/>
                </a:lnTo>
                <a:cubicBezTo>
                  <a:pt x="6448359" y="4633283"/>
                  <a:pt x="6417180" y="4664464"/>
                  <a:pt x="6378719" y="4664464"/>
                </a:cubicBezTo>
                <a:lnTo>
                  <a:pt x="34635" y="4664464"/>
                </a:lnTo>
                <a:cubicBezTo>
                  <a:pt x="15507" y="4664464"/>
                  <a:pt x="0" y="4648954"/>
                  <a:pt x="0" y="4629826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39365" y="1774970"/>
            <a:ext cx="34635" cy="4664464"/>
          </a:xfrm>
          <a:custGeom>
            <a:avLst/>
            <a:gdLst/>
            <a:ahLst/>
            <a:cxnLst/>
            <a:rect r="r" b="b" t="t" l="l"/>
            <a:pathLst>
              <a:path h="4664464" w="34635">
                <a:moveTo>
                  <a:pt x="34635" y="0"/>
                </a:moveTo>
                <a:lnTo>
                  <a:pt x="34635" y="0"/>
                </a:lnTo>
                <a:lnTo>
                  <a:pt x="34635" y="4664464"/>
                </a:lnTo>
                <a:lnTo>
                  <a:pt x="34635" y="4664464"/>
                </a:lnTo>
                <a:cubicBezTo>
                  <a:pt x="15507" y="4664464"/>
                  <a:pt x="0" y="4648954"/>
                  <a:pt x="0" y="4629826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7850" y="1548109"/>
            <a:ext cx="6222184" cy="4385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// 声明 Shared Memory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__shared__ float tile[32][32];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// 在 kernel 函数中使用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__global__ void kernel(float* input, float* output) 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// 获取线程索引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int tx = threadIdx.x;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int ty = threadIdx.y;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// 从 Global Memory 加载数据到 Shared Memory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tile[ty][tx] = input[...];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// 同步线程，确保数据加载完成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__syncthreads();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// 使用 Shared Memory 中的数据进行计算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float result = tile[ty][tx] * 2.0f;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// 写回 Global Memory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    output[...] = result;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7370281" y="1218088"/>
            <a:ext cx="4473011" cy="2088565"/>
          </a:xfrm>
          <a:custGeom>
            <a:avLst/>
            <a:gdLst/>
            <a:ahLst/>
            <a:cxnLst/>
            <a:rect r="r" b="b" t="t" l="l"/>
            <a:pathLst>
              <a:path h="2088565" w="4473011">
                <a:moveTo>
                  <a:pt x="69613" y="0"/>
                </a:moveTo>
                <a:lnTo>
                  <a:pt x="4403399" y="0"/>
                </a:lnTo>
                <a:cubicBezTo>
                  <a:pt x="4441844" y="0"/>
                  <a:pt x="4473011" y="31166"/>
                  <a:pt x="4473011" y="69613"/>
                </a:cubicBezTo>
                <a:lnTo>
                  <a:pt x="4473011" y="2018953"/>
                </a:lnTo>
                <a:cubicBezTo>
                  <a:pt x="4473011" y="2057399"/>
                  <a:pt x="4441844" y="2088565"/>
                  <a:pt x="4403399" y="2088565"/>
                </a:cubicBezTo>
                <a:lnTo>
                  <a:pt x="69613" y="2088565"/>
                </a:lnTo>
                <a:cubicBezTo>
                  <a:pt x="31166" y="2088565"/>
                  <a:pt x="0" y="2057399"/>
                  <a:pt x="0" y="2018953"/>
                </a:cubicBezTo>
                <a:lnTo>
                  <a:pt x="0" y="69613"/>
                </a:lnTo>
                <a:cubicBezTo>
                  <a:pt x="0" y="31192"/>
                  <a:pt x="31192" y="0"/>
                  <a:pt x="6961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566029" y="1426851"/>
            <a:ext cx="174047" cy="174047"/>
          </a:xfrm>
          <a:custGeom>
            <a:avLst/>
            <a:gdLst/>
            <a:ahLst/>
            <a:cxnLst/>
            <a:rect r="r" b="b" t="t" l="l"/>
            <a:pathLst>
              <a:path h="174047" w="174047">
                <a:moveTo>
                  <a:pt x="152291" y="87024"/>
                </a:moveTo>
                <a:cubicBezTo>
                  <a:pt x="152291" y="51001"/>
                  <a:pt x="123046" y="21756"/>
                  <a:pt x="87024" y="21756"/>
                </a:cubicBezTo>
                <a:cubicBezTo>
                  <a:pt x="51001" y="21756"/>
                  <a:pt x="21756" y="51001"/>
                  <a:pt x="21756" y="87024"/>
                </a:cubicBezTo>
                <a:cubicBezTo>
                  <a:pt x="21756" y="123046"/>
                  <a:pt x="51001" y="152291"/>
                  <a:pt x="87024" y="152291"/>
                </a:cubicBezTo>
                <a:cubicBezTo>
                  <a:pt x="123046" y="152291"/>
                  <a:pt x="152291" y="123046"/>
                  <a:pt x="152291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  <a:moveTo>
                  <a:pt x="87024" y="114217"/>
                </a:moveTo>
                <a:cubicBezTo>
                  <a:pt x="102033" y="114217"/>
                  <a:pt x="114217" y="102033"/>
                  <a:pt x="114217" y="87024"/>
                </a:cubicBezTo>
                <a:cubicBezTo>
                  <a:pt x="114217" y="72014"/>
                  <a:pt x="102033" y="59828"/>
                  <a:pt x="87024" y="59828"/>
                </a:cubicBezTo>
                <a:cubicBezTo>
                  <a:pt x="72014" y="59828"/>
                  <a:pt x="59828" y="72014"/>
                  <a:pt x="59828" y="87024"/>
                </a:cubicBezTo>
                <a:cubicBezTo>
                  <a:pt x="59828" y="102033"/>
                  <a:pt x="72014" y="114217"/>
                  <a:pt x="87024" y="114217"/>
                </a:cubicBezTo>
                <a:close/>
                <a:moveTo>
                  <a:pt x="87024" y="38073"/>
                </a:moveTo>
                <a:cubicBezTo>
                  <a:pt x="114040" y="38073"/>
                  <a:pt x="135974" y="60007"/>
                  <a:pt x="135974" y="87024"/>
                </a:cubicBezTo>
                <a:cubicBezTo>
                  <a:pt x="135974" y="114040"/>
                  <a:pt x="114040" y="135974"/>
                  <a:pt x="87024" y="135974"/>
                </a:cubicBezTo>
                <a:cubicBezTo>
                  <a:pt x="60007" y="135974"/>
                  <a:pt x="38073" y="114040"/>
                  <a:pt x="38073" y="87024"/>
                </a:cubicBezTo>
                <a:cubicBezTo>
                  <a:pt x="38073" y="60007"/>
                  <a:pt x="60007" y="38073"/>
                  <a:pt x="87024" y="38073"/>
                </a:cubicBezTo>
                <a:close/>
                <a:moveTo>
                  <a:pt x="76145" y="87024"/>
                </a:moveTo>
                <a:cubicBezTo>
                  <a:pt x="76145" y="81020"/>
                  <a:pt x="81020" y="76145"/>
                  <a:pt x="87024" y="76145"/>
                </a:cubicBezTo>
                <a:cubicBezTo>
                  <a:pt x="93027" y="76145"/>
                  <a:pt x="97900" y="81020"/>
                  <a:pt x="97900" y="87024"/>
                </a:cubicBezTo>
                <a:cubicBezTo>
                  <a:pt x="97900" y="93027"/>
                  <a:pt x="93027" y="97900"/>
                  <a:pt x="87024" y="97900"/>
                </a:cubicBezTo>
                <a:cubicBezTo>
                  <a:pt x="81020" y="97900"/>
                  <a:pt x="76145" y="93027"/>
                  <a:pt x="76145" y="8702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61832" y="1392079"/>
            <a:ext cx="3994381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主要用途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544273" y="1774970"/>
            <a:ext cx="4124916" cy="626570"/>
          </a:xfrm>
          <a:custGeom>
            <a:avLst/>
            <a:gdLst/>
            <a:ahLst/>
            <a:cxnLst/>
            <a:rect r="r" b="b" t="t" l="l"/>
            <a:pathLst>
              <a:path h="626570" w="4124916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70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70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70"/>
                  <a:pt x="31170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48656" y="1879356"/>
            <a:ext cx="398567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缓存数据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48656" y="2122958"/>
            <a:ext cx="3976976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临时存储频繁访问的数据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544273" y="2505717"/>
            <a:ext cx="4124916" cy="626570"/>
          </a:xfrm>
          <a:custGeom>
            <a:avLst/>
            <a:gdLst/>
            <a:ahLst/>
            <a:cxnLst/>
            <a:rect r="r" b="b" t="t" l="l"/>
            <a:pathLst>
              <a:path h="626570" w="4124916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70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70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70"/>
                  <a:pt x="31170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48656" y="2610099"/>
            <a:ext cx="398567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减少 global memory 访问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48656" y="2853701"/>
            <a:ext cx="3976976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降低内存带宽压力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370281" y="3445291"/>
            <a:ext cx="4473011" cy="3167657"/>
          </a:xfrm>
          <a:custGeom>
            <a:avLst/>
            <a:gdLst/>
            <a:ahLst/>
            <a:cxnLst/>
            <a:rect r="r" b="b" t="t" l="l"/>
            <a:pathLst>
              <a:path h="3167657" w="4473011">
                <a:moveTo>
                  <a:pt x="69625" y="0"/>
                </a:moveTo>
                <a:lnTo>
                  <a:pt x="4403386" y="0"/>
                </a:lnTo>
                <a:cubicBezTo>
                  <a:pt x="4441838" y="0"/>
                  <a:pt x="4473011" y="31172"/>
                  <a:pt x="4473011" y="69625"/>
                </a:cubicBezTo>
                <a:lnTo>
                  <a:pt x="4473011" y="3098032"/>
                </a:lnTo>
                <a:cubicBezTo>
                  <a:pt x="4473011" y="3136485"/>
                  <a:pt x="4441838" y="3167657"/>
                  <a:pt x="4403386" y="3167657"/>
                </a:cubicBezTo>
                <a:lnTo>
                  <a:pt x="69625" y="3167657"/>
                </a:lnTo>
                <a:cubicBezTo>
                  <a:pt x="31172" y="3167657"/>
                  <a:pt x="0" y="3136485"/>
                  <a:pt x="0" y="3098032"/>
                </a:cubicBezTo>
                <a:lnTo>
                  <a:pt x="0" y="69625"/>
                </a:lnTo>
                <a:cubicBezTo>
                  <a:pt x="0" y="31198"/>
                  <a:pt x="31198" y="0"/>
                  <a:pt x="69625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7561678" y="3662782"/>
            <a:ext cx="156642" cy="156642"/>
          </a:xfrm>
          <a:custGeom>
            <a:avLst/>
            <a:gdLst/>
            <a:ahLst/>
            <a:cxnLst/>
            <a:rect r="r" b="b" t="t" l="l"/>
            <a:pathLst>
              <a:path h="156642" w="156642">
                <a:moveTo>
                  <a:pt x="102798" y="107692"/>
                </a:moveTo>
                <a:cubicBezTo>
                  <a:pt x="132533" y="107692"/>
                  <a:pt x="156642" y="83583"/>
                  <a:pt x="156642" y="53845"/>
                </a:cubicBezTo>
                <a:cubicBezTo>
                  <a:pt x="156642" y="24108"/>
                  <a:pt x="132533" y="0"/>
                  <a:pt x="102798" y="0"/>
                </a:cubicBezTo>
                <a:cubicBezTo>
                  <a:pt x="73059" y="0"/>
                  <a:pt x="48951" y="24108"/>
                  <a:pt x="48951" y="53845"/>
                </a:cubicBezTo>
                <a:cubicBezTo>
                  <a:pt x="48951" y="59567"/>
                  <a:pt x="49839" y="65104"/>
                  <a:pt x="51490" y="70275"/>
                </a:cubicBezTo>
                <a:lnTo>
                  <a:pt x="2142" y="119623"/>
                </a:lnTo>
                <a:cubicBezTo>
                  <a:pt x="765" y="121001"/>
                  <a:pt x="0" y="122866"/>
                  <a:pt x="0" y="124824"/>
                </a:cubicBezTo>
                <a:lnTo>
                  <a:pt x="0" y="149300"/>
                </a:lnTo>
                <a:cubicBezTo>
                  <a:pt x="0" y="153369"/>
                  <a:pt x="3274" y="156642"/>
                  <a:pt x="7343" y="156642"/>
                </a:cubicBezTo>
                <a:lnTo>
                  <a:pt x="31819" y="156642"/>
                </a:lnTo>
                <a:cubicBezTo>
                  <a:pt x="35886" y="156642"/>
                  <a:pt x="39160" y="153369"/>
                  <a:pt x="39160" y="149300"/>
                </a:cubicBezTo>
                <a:lnTo>
                  <a:pt x="39160" y="137062"/>
                </a:lnTo>
                <a:lnTo>
                  <a:pt x="51398" y="137062"/>
                </a:lnTo>
                <a:cubicBezTo>
                  <a:pt x="55467" y="137062"/>
                  <a:pt x="58741" y="133789"/>
                  <a:pt x="58741" y="129719"/>
                </a:cubicBezTo>
                <a:lnTo>
                  <a:pt x="58741" y="117483"/>
                </a:lnTo>
                <a:lnTo>
                  <a:pt x="70979" y="117483"/>
                </a:lnTo>
                <a:cubicBezTo>
                  <a:pt x="72937" y="117483"/>
                  <a:pt x="74803" y="116717"/>
                  <a:pt x="76180" y="115340"/>
                </a:cubicBezTo>
                <a:lnTo>
                  <a:pt x="86368" y="105152"/>
                </a:lnTo>
                <a:cubicBezTo>
                  <a:pt x="91538" y="106804"/>
                  <a:pt x="97075" y="107692"/>
                  <a:pt x="102798" y="107692"/>
                </a:cubicBezTo>
                <a:close/>
                <a:moveTo>
                  <a:pt x="115034" y="29370"/>
                </a:moveTo>
                <a:cubicBezTo>
                  <a:pt x="121788" y="29370"/>
                  <a:pt x="127272" y="34854"/>
                  <a:pt x="127272" y="41608"/>
                </a:cubicBezTo>
                <a:cubicBezTo>
                  <a:pt x="127272" y="48362"/>
                  <a:pt x="121788" y="53845"/>
                  <a:pt x="115034" y="53845"/>
                </a:cubicBezTo>
                <a:cubicBezTo>
                  <a:pt x="108280" y="53845"/>
                  <a:pt x="102798" y="48362"/>
                  <a:pt x="102798" y="41608"/>
                </a:cubicBezTo>
                <a:cubicBezTo>
                  <a:pt x="102798" y="34854"/>
                  <a:pt x="108280" y="29370"/>
                  <a:pt x="115034" y="2937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735725" y="3619283"/>
            <a:ext cx="4011786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关键字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7561592" y="3967339"/>
            <a:ext cx="4107425" cy="626570"/>
          </a:xfrm>
          <a:custGeom>
            <a:avLst/>
            <a:gdLst/>
            <a:ahLst/>
            <a:cxnLst/>
            <a:rect r="r" b="b" t="t" l="l"/>
            <a:pathLst>
              <a:path h="626570" w="4107425">
                <a:moveTo>
                  <a:pt x="34635" y="0"/>
                </a:moveTo>
                <a:lnTo>
                  <a:pt x="4037808" y="0"/>
                </a:lnTo>
                <a:cubicBezTo>
                  <a:pt x="4076256" y="0"/>
                  <a:pt x="4107425" y="31170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8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561592" y="3967339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83292" y="4071721"/>
            <a:ext cx="395086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__shared__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83292" y="4315323"/>
            <a:ext cx="394216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声明共享内存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7561592" y="4663311"/>
            <a:ext cx="4107425" cy="626570"/>
          </a:xfrm>
          <a:custGeom>
            <a:avLst/>
            <a:gdLst/>
            <a:ahLst/>
            <a:cxnLst/>
            <a:rect r="r" b="b" t="t" l="l"/>
            <a:pathLst>
              <a:path h="626570" w="4107425">
                <a:moveTo>
                  <a:pt x="34635" y="0"/>
                </a:moveTo>
                <a:lnTo>
                  <a:pt x="4037808" y="0"/>
                </a:lnTo>
                <a:cubicBezTo>
                  <a:pt x="4076256" y="0"/>
                  <a:pt x="4107425" y="31170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8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7561592" y="4663311"/>
            <a:ext cx="34635" cy="626570"/>
          </a:xfrm>
          <a:custGeom>
            <a:avLst/>
            <a:gdLst/>
            <a:ahLst/>
            <a:cxnLst/>
            <a:rect r="r" b="b" t="t" l="l"/>
            <a:pathLst>
              <a:path h="626570" w="34635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83292" y="4767693"/>
            <a:ext cx="395086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__syncthreads()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83292" y="5011295"/>
            <a:ext cx="394216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线程同步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87137" y="6682495"/>
            <a:ext cx="11556728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507" y="60912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Shared Memory 优化原理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99911" y="1333235"/>
            <a:ext cx="5581555" cy="1714500"/>
            <a:chOff x="399911" y="1333235"/>
            <a:chExt cx="5581555" cy="17145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99911" y="1333235"/>
              <a:ext cx="5581555" cy="1714500"/>
            </a:xfrm>
            <a:custGeom>
              <a:avLst/>
              <a:gdLst/>
              <a:ahLst/>
              <a:cxnLst/>
              <a:rect r="r" b="b" t="t" l="l"/>
              <a:pathLst>
                <a:path h="1714500" w="5581555">
                  <a:moveTo>
                    <a:pt x="37909" y="0"/>
                  </a:moveTo>
                  <a:lnTo>
                    <a:pt x="5505362" y="0"/>
                  </a:lnTo>
                  <a:cubicBezTo>
                    <a:pt x="5547443" y="0"/>
                    <a:pt x="5581555" y="34112"/>
                    <a:pt x="5581555" y="76192"/>
                  </a:cubicBezTo>
                  <a:lnTo>
                    <a:pt x="5581555" y="1638308"/>
                  </a:lnTo>
                  <a:cubicBezTo>
                    <a:pt x="5581555" y="1680388"/>
                    <a:pt x="5547443" y="1714500"/>
                    <a:pt x="5505362" y="1714500"/>
                  </a:cubicBezTo>
                  <a:lnTo>
                    <a:pt x="37909" y="1714500"/>
                  </a:lnTo>
                  <a:cubicBezTo>
                    <a:pt x="16974" y="1714500"/>
                    <a:pt x="0" y="1697526"/>
                    <a:pt x="0" y="16765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399911" y="1333235"/>
              <a:ext cx="37909" cy="1714500"/>
            </a:xfrm>
            <a:custGeom>
              <a:avLst/>
              <a:gdLst/>
              <a:ahLst/>
              <a:cxnLst/>
              <a:rect r="r" b="b" t="t" l="l"/>
              <a:pathLst>
                <a:path h="17145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1714500"/>
                  </a:lnTo>
                  <a:lnTo>
                    <a:pt x="37909" y="1714500"/>
                  </a:lnTo>
                  <a:cubicBezTo>
                    <a:pt x="16974" y="1714500"/>
                    <a:pt x="0" y="1697526"/>
                    <a:pt x="0" y="16765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633119" y="1561733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62136" y="62136"/>
                  </a:moveTo>
                  <a:cubicBezTo>
                    <a:pt x="65634" y="58638"/>
                    <a:pt x="71289" y="58638"/>
                    <a:pt x="74748" y="62136"/>
                  </a:cubicBezTo>
                  <a:lnTo>
                    <a:pt x="95213" y="82600"/>
                  </a:lnTo>
                  <a:lnTo>
                    <a:pt x="115677" y="62136"/>
                  </a:lnTo>
                  <a:cubicBezTo>
                    <a:pt x="119174" y="58638"/>
                    <a:pt x="124830" y="58638"/>
                    <a:pt x="128290" y="62136"/>
                  </a:cubicBezTo>
                  <a:cubicBezTo>
                    <a:pt x="131750" y="65634"/>
                    <a:pt x="131787" y="71289"/>
                    <a:pt x="128290" y="74748"/>
                  </a:cubicBezTo>
                  <a:lnTo>
                    <a:pt x="107826" y="95213"/>
                  </a:lnTo>
                  <a:lnTo>
                    <a:pt x="128290" y="115677"/>
                  </a:lnTo>
                  <a:cubicBezTo>
                    <a:pt x="131787" y="119174"/>
                    <a:pt x="131787" y="124830"/>
                    <a:pt x="128290" y="128290"/>
                  </a:cubicBezTo>
                  <a:cubicBezTo>
                    <a:pt x="124791" y="131750"/>
                    <a:pt x="119137" y="131787"/>
                    <a:pt x="115677" y="128290"/>
                  </a:cubicBezTo>
                  <a:lnTo>
                    <a:pt x="95213" y="107826"/>
                  </a:lnTo>
                  <a:lnTo>
                    <a:pt x="74748" y="128290"/>
                  </a:lnTo>
                  <a:cubicBezTo>
                    <a:pt x="71251" y="131787"/>
                    <a:pt x="65595" y="131787"/>
                    <a:pt x="62136" y="128290"/>
                  </a:cubicBezTo>
                  <a:cubicBezTo>
                    <a:pt x="58675" y="124791"/>
                    <a:pt x="58638" y="119137"/>
                    <a:pt x="62136" y="115677"/>
                  </a:cubicBezTo>
                  <a:lnTo>
                    <a:pt x="82600" y="95213"/>
                  </a:lnTo>
                  <a:lnTo>
                    <a:pt x="62136" y="74748"/>
                  </a:lnTo>
                  <a:cubicBezTo>
                    <a:pt x="58638" y="71251"/>
                    <a:pt x="58638" y="65595"/>
                    <a:pt x="62136" y="62136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47432" y="1523674"/>
              <a:ext cx="50387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Naive 方法</a:t>
              </a:r>
              <a:endParaRPr lang="en-US" sz="1100"/>
            </a:p>
          </p:txBody>
        </p:sp>
        <p:sp>
          <p:nvSpPr>
            <p:cNvPr name="Freeform 8" id="8"/>
            <p:cNvSpPr/>
            <p:nvPr/>
          </p:nvSpPr>
          <p:spPr>
            <a:xfrm rot="0" flipH="false" flipV="false">
              <a:off x="609307" y="2018956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761689" y="1942765"/>
              <a:ext cx="19716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每次从 global memory 读取</a:t>
              </a: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609307" y="2361777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761689" y="2285586"/>
              <a:ext cx="11430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高延迟，性能差</a:t>
              </a:r>
              <a:endParaRPr lang="en-US" sz="1100"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09307" y="2704602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761689" y="2628412"/>
              <a:ext cx="17716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频繁访问 global memory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210279" y="1333235"/>
            <a:ext cx="5600700" cy="1714500"/>
            <a:chOff x="6210279" y="1333235"/>
            <a:chExt cx="5600700" cy="1714500"/>
          </a:xfrm>
        </p:grpSpPr>
        <p:sp>
          <p:nvSpPr>
            <p:cNvPr name="Freeform 15" id="15"/>
            <p:cNvSpPr/>
            <p:nvPr/>
          </p:nvSpPr>
          <p:spPr>
            <a:xfrm rot="0" flipH="false" flipV="false">
              <a:off x="6210279" y="1333235"/>
              <a:ext cx="56007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56007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1638308"/>
                  </a:lnTo>
                  <a:cubicBezTo>
                    <a:pt x="5600700" y="1680388"/>
                    <a:pt x="5566588" y="1714500"/>
                    <a:pt x="5524508" y="1714500"/>
                  </a:cubicBezTo>
                  <a:lnTo>
                    <a:pt x="76192" y="1714500"/>
                  </a:lnTo>
                  <a:cubicBezTo>
                    <a:pt x="34112" y="1714500"/>
                    <a:pt x="0" y="1680388"/>
                    <a:pt x="0" y="16383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6424532" y="1561733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638845" y="1523674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优化方法</a:t>
              </a:r>
              <a:endParaRPr lang="en-US" sz="1100"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6400720" y="2018956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6553102" y="1942765"/>
              <a:ext cx="2149040" cy="2284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global → shared memory</a:t>
              </a:r>
              <a:endParaRPr lang="en-US" sz="1100"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400720" y="2361777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553102" y="2285586"/>
              <a:ext cx="19431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shared memory → register</a:t>
              </a:r>
              <a:endParaRPr lang="en-US" sz="1100"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6400720" y="2704602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6553102" y="2628412"/>
              <a:ext cx="18192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减少 global memory 访问</a:t>
              </a:r>
              <a:endParaRPr lang="en-US" sz="110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380956" y="3199805"/>
            <a:ext cx="11430000" cy="3390900"/>
            <a:chOff x="380956" y="3199805"/>
            <a:chExt cx="11430000" cy="3390900"/>
          </a:xfrm>
        </p:grpSpPr>
        <p:sp>
          <p:nvSpPr>
            <p:cNvPr name="Freeform 25" id="25"/>
            <p:cNvSpPr/>
            <p:nvPr/>
          </p:nvSpPr>
          <p:spPr>
            <a:xfrm rot="0" flipH="false" flipV="false">
              <a:off x="380956" y="3199805"/>
              <a:ext cx="11430000" cy="3390900"/>
            </a:xfrm>
            <a:custGeom>
              <a:avLst/>
              <a:gdLst/>
              <a:ahLst/>
              <a:cxnLst/>
              <a:rect r="r" b="b" t="t" l="l"/>
              <a:pathLst>
                <a:path h="3390900" w="11430000">
                  <a:moveTo>
                    <a:pt x="76194" y="0"/>
                  </a:moveTo>
                  <a:lnTo>
                    <a:pt x="11353806" y="0"/>
                  </a:lnTo>
                  <a:cubicBezTo>
                    <a:pt x="11395887" y="0"/>
                    <a:pt x="11430000" y="34113"/>
                    <a:pt x="11430000" y="76194"/>
                  </a:cubicBezTo>
                  <a:lnTo>
                    <a:pt x="11430000" y="3314706"/>
                  </a:lnTo>
                  <a:cubicBezTo>
                    <a:pt x="11430000" y="3356787"/>
                    <a:pt x="11395887" y="3390900"/>
                    <a:pt x="11353806" y="3390900"/>
                  </a:cubicBezTo>
                  <a:lnTo>
                    <a:pt x="76194" y="3390900"/>
                  </a:lnTo>
                  <a:cubicBezTo>
                    <a:pt x="34113" y="3390900"/>
                    <a:pt x="0" y="3356787"/>
                    <a:pt x="0" y="3314706"/>
                  </a:cubicBezTo>
                  <a:lnTo>
                    <a:pt x="0" y="76194"/>
                  </a:lnTo>
                  <a:cubicBezTo>
                    <a:pt x="0" y="34113"/>
                    <a:pt x="34113" y="0"/>
                    <a:pt x="76194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6" id="26"/>
            <p:cNvSpPr/>
            <p:nvPr/>
          </p:nvSpPr>
          <p:spPr>
            <a:xfrm rot="0" flipH="false" flipV="false">
              <a:off x="595209" y="3428307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190500" y="35719"/>
                  </a:moveTo>
                  <a:cubicBezTo>
                    <a:pt x="190500" y="54397"/>
                    <a:pt x="168511" y="82266"/>
                    <a:pt x="159023" y="93389"/>
                  </a:cubicBezTo>
                  <a:cubicBezTo>
                    <a:pt x="157610" y="95026"/>
                    <a:pt x="155525" y="95659"/>
                    <a:pt x="153628" y="95250"/>
                  </a:cubicBezTo>
                  <a:lnTo>
                    <a:pt x="119063" y="95250"/>
                  </a:lnTo>
                  <a:cubicBezTo>
                    <a:pt x="112478" y="95250"/>
                    <a:pt x="107156" y="100571"/>
                    <a:pt x="107156" y="107156"/>
                  </a:cubicBezTo>
                  <a:cubicBezTo>
                    <a:pt x="107156" y="113742"/>
                    <a:pt x="112478" y="119063"/>
                    <a:pt x="119063" y="119063"/>
                  </a:cubicBezTo>
                  <a:lnTo>
                    <a:pt x="154781" y="119063"/>
                  </a:lnTo>
                  <a:cubicBezTo>
                    <a:pt x="174501" y="119063"/>
                    <a:pt x="190500" y="135062"/>
                    <a:pt x="190500" y="154781"/>
                  </a:cubicBezTo>
                  <a:cubicBezTo>
                    <a:pt x="190500" y="174501"/>
                    <a:pt x="174501" y="190500"/>
                    <a:pt x="154781" y="190500"/>
                  </a:cubicBezTo>
                  <a:lnTo>
                    <a:pt x="51940" y="190500"/>
                  </a:lnTo>
                  <a:cubicBezTo>
                    <a:pt x="55178" y="186817"/>
                    <a:pt x="59122" y="182091"/>
                    <a:pt x="63102" y="176808"/>
                  </a:cubicBezTo>
                  <a:cubicBezTo>
                    <a:pt x="65447" y="173681"/>
                    <a:pt x="67866" y="170259"/>
                    <a:pt x="70173" y="166687"/>
                  </a:cubicBezTo>
                  <a:lnTo>
                    <a:pt x="154781" y="166687"/>
                  </a:lnTo>
                  <a:cubicBezTo>
                    <a:pt x="161367" y="166687"/>
                    <a:pt x="166687" y="161367"/>
                    <a:pt x="166687" y="154781"/>
                  </a:cubicBezTo>
                  <a:cubicBezTo>
                    <a:pt x="166687" y="148196"/>
                    <a:pt x="161367" y="142875"/>
                    <a:pt x="154781" y="142875"/>
                  </a:cubicBezTo>
                  <a:lnTo>
                    <a:pt x="119063" y="142875"/>
                  </a:lnTo>
                  <a:cubicBezTo>
                    <a:pt x="99343" y="142875"/>
                    <a:pt x="83344" y="126876"/>
                    <a:pt x="83344" y="107156"/>
                  </a:cubicBezTo>
                  <a:cubicBezTo>
                    <a:pt x="83344" y="87437"/>
                    <a:pt x="99343" y="71437"/>
                    <a:pt x="119063" y="71437"/>
                  </a:cubicBezTo>
                  <a:lnTo>
                    <a:pt x="133871" y="71437"/>
                  </a:lnTo>
                  <a:cubicBezTo>
                    <a:pt x="126056" y="59717"/>
                    <a:pt x="119063" y="46248"/>
                    <a:pt x="119063" y="35719"/>
                  </a:cubicBezTo>
                  <a:cubicBezTo>
                    <a:pt x="119063" y="15999"/>
                    <a:pt x="135062" y="0"/>
                    <a:pt x="154781" y="0"/>
                  </a:cubicBezTo>
                  <a:cubicBezTo>
                    <a:pt x="174501" y="0"/>
                    <a:pt x="190500" y="15999"/>
                    <a:pt x="190500" y="35719"/>
                  </a:cubicBezTo>
                  <a:close/>
                  <a:moveTo>
                    <a:pt x="43569" y="181980"/>
                  </a:moveTo>
                  <a:cubicBezTo>
                    <a:pt x="42156" y="183579"/>
                    <a:pt x="40891" y="184993"/>
                    <a:pt x="39812" y="186185"/>
                  </a:cubicBezTo>
                  <a:lnTo>
                    <a:pt x="39141" y="186927"/>
                  </a:lnTo>
                  <a:lnTo>
                    <a:pt x="39066" y="186854"/>
                  </a:lnTo>
                  <a:cubicBezTo>
                    <a:pt x="36835" y="188565"/>
                    <a:pt x="33635" y="188342"/>
                    <a:pt x="31626" y="186185"/>
                  </a:cubicBezTo>
                  <a:cubicBezTo>
                    <a:pt x="22250" y="175989"/>
                    <a:pt x="0" y="149758"/>
                    <a:pt x="0" y="130969"/>
                  </a:cubicBezTo>
                  <a:cubicBezTo>
                    <a:pt x="0" y="111249"/>
                    <a:pt x="15999" y="95250"/>
                    <a:pt x="35719" y="95250"/>
                  </a:cubicBezTo>
                  <a:cubicBezTo>
                    <a:pt x="55438" y="95250"/>
                    <a:pt x="71437" y="111249"/>
                    <a:pt x="71437" y="130969"/>
                  </a:cubicBezTo>
                  <a:cubicBezTo>
                    <a:pt x="71437" y="142131"/>
                    <a:pt x="63588" y="155898"/>
                    <a:pt x="55253" y="167394"/>
                  </a:cubicBezTo>
                  <a:cubicBezTo>
                    <a:pt x="51271" y="172864"/>
                    <a:pt x="47179" y="177811"/>
                    <a:pt x="43793" y="181719"/>
                  </a:cubicBezTo>
                  <a:lnTo>
                    <a:pt x="43569" y="181980"/>
                  </a:lnTo>
                  <a:close/>
                  <a:moveTo>
                    <a:pt x="47625" y="130969"/>
                  </a:moveTo>
                  <a:cubicBezTo>
                    <a:pt x="47625" y="124398"/>
                    <a:pt x="42290" y="119063"/>
                    <a:pt x="35719" y="119063"/>
                  </a:cubicBezTo>
                  <a:cubicBezTo>
                    <a:pt x="29148" y="119063"/>
                    <a:pt x="23813" y="124398"/>
                    <a:pt x="23813" y="130969"/>
                  </a:cubicBezTo>
                  <a:cubicBezTo>
                    <a:pt x="23813" y="137540"/>
                    <a:pt x="29148" y="142875"/>
                    <a:pt x="35719" y="142875"/>
                  </a:cubicBezTo>
                  <a:cubicBezTo>
                    <a:pt x="42290" y="142875"/>
                    <a:pt x="47625" y="137540"/>
                    <a:pt x="47625" y="130969"/>
                  </a:cubicBezTo>
                  <a:close/>
                  <a:moveTo>
                    <a:pt x="154781" y="47625"/>
                  </a:moveTo>
                  <a:cubicBezTo>
                    <a:pt x="161352" y="47625"/>
                    <a:pt x="166687" y="42290"/>
                    <a:pt x="166687" y="35719"/>
                  </a:cubicBezTo>
                  <a:cubicBezTo>
                    <a:pt x="166687" y="29148"/>
                    <a:pt x="161352" y="23813"/>
                    <a:pt x="154781" y="23813"/>
                  </a:cubicBezTo>
                  <a:cubicBezTo>
                    <a:pt x="148210" y="23813"/>
                    <a:pt x="142875" y="29148"/>
                    <a:pt x="142875" y="35719"/>
                  </a:cubicBezTo>
                  <a:cubicBezTo>
                    <a:pt x="142875" y="42290"/>
                    <a:pt x="148210" y="47625"/>
                    <a:pt x="154781" y="47625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809521" y="3390249"/>
              <a:ext cx="109061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内存访问流程对比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533296" y="3809335"/>
              <a:ext cx="5486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Naive</a:t>
              </a:r>
              <a:endParaRPr lang="en-US" sz="1100"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571396" y="4114098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47546" y="4228351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Global Memory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3162190" y="4647363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↓</a:t>
              </a:r>
              <a:endParaRPr lang="en-US" sz="1100"/>
            </a:p>
          </p:txBody>
        </p:sp>
        <p:sp>
          <p:nvSpPr>
            <p:cNvPr name="Freeform 32" id="32"/>
            <p:cNvSpPr/>
            <p:nvPr/>
          </p:nvSpPr>
          <p:spPr>
            <a:xfrm rot="0" flipH="false" flipV="false">
              <a:off x="571396" y="5028247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647546" y="5142495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Register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3162190" y="5561507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↓</a:t>
              </a:r>
              <a:endParaRPr lang="en-US" sz="1100"/>
            </a:p>
          </p:txBody>
        </p:sp>
        <p:sp>
          <p:nvSpPr>
            <p:cNvPr name="Freeform 35" id="35"/>
            <p:cNvSpPr/>
            <p:nvPr/>
          </p:nvSpPr>
          <p:spPr>
            <a:xfrm rot="0" flipH="false" flipV="false">
              <a:off x="571396" y="5942391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47546" y="6056640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Global Memory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172179" y="3809335"/>
              <a:ext cx="5486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Optimized</a:t>
              </a:r>
              <a:endParaRPr lang="en-US" sz="1100"/>
            </a:p>
          </p:txBody>
        </p:sp>
        <p:sp>
          <p:nvSpPr>
            <p:cNvPr name="Freeform 38" id="38"/>
            <p:cNvSpPr/>
            <p:nvPr/>
          </p:nvSpPr>
          <p:spPr>
            <a:xfrm rot="0" flipH="false" flipV="false">
              <a:off x="6210279" y="4114098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6286429" y="4228351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Global Memory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8801073" y="4647363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↓</a:t>
              </a:r>
              <a:endParaRPr lang="en-US" sz="1100"/>
            </a:p>
          </p:txBody>
        </p:sp>
        <p:sp>
          <p:nvSpPr>
            <p:cNvPr name="Freeform 41" id="41"/>
            <p:cNvSpPr/>
            <p:nvPr/>
          </p:nvSpPr>
          <p:spPr>
            <a:xfrm rot="0" flipH="false" flipV="false">
              <a:off x="6210279" y="5028247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6286429" y="5142495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Shared Memory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8801073" y="5561507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↓</a:t>
              </a:r>
              <a:endParaRPr lang="en-US" sz="1100"/>
            </a:p>
          </p:txBody>
        </p:sp>
        <p:sp>
          <p:nvSpPr>
            <p:cNvPr name="Freeform 44" id="44"/>
            <p:cNvSpPr/>
            <p:nvPr/>
          </p:nvSpPr>
          <p:spPr>
            <a:xfrm rot="0" flipH="false" flipV="false">
              <a:off x="6210279" y="5942391"/>
              <a:ext cx="54102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10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6286429" y="6056640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2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Register</a:t>
              </a:r>
              <a:endParaRPr lang="en-US" sz="1100"/>
            </a:p>
          </p:txBody>
        </p:sp>
      </p:grpSp>
      <p:sp>
        <p:nvSpPr>
          <p:cNvPr name="AutoShape 46" id="46"/>
          <p:cNvSpPr/>
          <p:nvPr/>
        </p:nvSpPr>
        <p:spPr>
          <a:xfrm rot="0" flipH="false" flipV="false">
            <a:off x="314281" y="6666095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4601" y="63473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Bank 结构介绍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53160" y="1341841"/>
            <a:ext cx="5683250" cy="952500"/>
            <a:chOff x="353160" y="1341841"/>
            <a:chExt cx="5683250" cy="9525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53160" y="1341841"/>
              <a:ext cx="5683250" cy="952500"/>
            </a:xfrm>
            <a:custGeom>
              <a:avLst/>
              <a:gdLst/>
              <a:ahLst/>
              <a:cxnLst/>
              <a:rect r="r" b="b" t="t" l="l"/>
              <a:pathLst>
                <a:path h="952500" w="5683250">
                  <a:moveTo>
                    <a:pt x="63503" y="0"/>
                  </a:moveTo>
                  <a:lnTo>
                    <a:pt x="5619747" y="0"/>
                  </a:lnTo>
                  <a:cubicBezTo>
                    <a:pt x="5654819" y="0"/>
                    <a:pt x="5683250" y="28431"/>
                    <a:pt x="5683250" y="63503"/>
                  </a:cubicBezTo>
                  <a:lnTo>
                    <a:pt x="5683250" y="888997"/>
                  </a:lnTo>
                  <a:cubicBezTo>
                    <a:pt x="5683250" y="924069"/>
                    <a:pt x="5654819" y="952500"/>
                    <a:pt x="5619747" y="952500"/>
                  </a:cubicBezTo>
                  <a:lnTo>
                    <a:pt x="63503" y="952500"/>
                  </a:lnTo>
                  <a:cubicBezTo>
                    <a:pt x="28431" y="952500"/>
                    <a:pt x="0" y="924069"/>
                    <a:pt x="0" y="888997"/>
                  </a:cubicBezTo>
                  <a:lnTo>
                    <a:pt x="0" y="63503"/>
                  </a:lnTo>
                  <a:cubicBezTo>
                    <a:pt x="0" y="28431"/>
                    <a:pt x="28431" y="0"/>
                    <a:pt x="635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543638" y="1532318"/>
              <a:ext cx="5397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Shared Memory 分为多个 Bank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43638" y="1881436"/>
              <a:ext cx="5373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100">
                  <a:solidFill>
                    <a:srgbClr val="FFFFFF">
                      <a:alpha val="90196"/>
                    </a:srgbClr>
                  </a:solidFill>
                  <a:latin typeface="MiSans"/>
                  <a:ea typeface="MiSans"/>
                  <a:cs typeface="MiSans"/>
                  <a:sym typeface="MiSans"/>
                </a:rPr>
                <a:t>实现并行访问的关键结构</a:t>
              </a:r>
              <a:endParaRPr lang="en-US" sz="1100"/>
            </a:p>
          </p:txBody>
        </p:sp>
      </p:grpSp>
      <p:sp>
        <p:nvSpPr>
          <p:cNvPr name="Freeform 7" id="7"/>
          <p:cNvSpPr/>
          <p:nvPr/>
        </p:nvSpPr>
        <p:spPr>
          <a:xfrm rot="0" flipH="false" flipV="false">
            <a:off x="353160" y="2542870"/>
            <a:ext cx="5683250" cy="4444985"/>
          </a:xfrm>
          <a:custGeom>
            <a:avLst/>
            <a:gdLst/>
            <a:ahLst/>
            <a:cxnLst/>
            <a:rect r="r" b="b" t="t" l="l"/>
            <a:pathLst>
              <a:path h="4444985" w="5683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1279"/>
                  <a:pt x="5683250" y="47526"/>
                </a:cubicBezTo>
                <a:lnTo>
                  <a:pt x="5683250" y="4397459"/>
                </a:lnTo>
                <a:cubicBezTo>
                  <a:pt x="5683250" y="4423707"/>
                  <a:pt x="5654827" y="4444985"/>
                  <a:pt x="5619768" y="4444985"/>
                </a:cubicBezTo>
                <a:lnTo>
                  <a:pt x="63482" y="4444985"/>
                </a:lnTo>
                <a:cubicBezTo>
                  <a:pt x="28423" y="4444985"/>
                  <a:pt x="0" y="4423707"/>
                  <a:pt x="0" y="4397459"/>
                </a:cubicBezTo>
                <a:lnTo>
                  <a:pt x="0" y="47526"/>
                </a:lnTo>
                <a:cubicBezTo>
                  <a:pt x="0" y="2129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grpSp>
        <p:nvGrpSpPr>
          <p:cNvPr name="Group 8" id="8"/>
          <p:cNvGrpSpPr/>
          <p:nvPr/>
        </p:nvGrpSpPr>
        <p:grpSpPr>
          <a:xfrm>
            <a:off x="545324" y="2793822"/>
            <a:ext cx="5445125" cy="1777690"/>
            <a:chOff x="545324" y="2793822"/>
            <a:chExt cx="5445125" cy="177769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743761" y="2793822"/>
              <a:ext cx="5246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3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Bank 特点</a:t>
              </a:r>
              <a:endParaRPr lang="en-US" sz="1100"/>
            </a:p>
          </p:txBody>
        </p:sp>
        <p:grpSp>
          <p:nvGrpSpPr>
            <p:cNvPr name="Group 10" id="10"/>
            <p:cNvGrpSpPr/>
            <p:nvPr/>
          </p:nvGrpSpPr>
          <p:grpSpPr>
            <a:xfrm>
              <a:off x="545324" y="2825537"/>
              <a:ext cx="1976388" cy="1745975"/>
              <a:chOff x="545324" y="2825537"/>
              <a:chExt cx="1976388" cy="1745975"/>
            </a:xfrm>
          </p:grpSpPr>
          <p:sp>
            <p:nvSpPr>
              <p:cNvPr name="Freeform 11" id="11"/>
              <p:cNvSpPr/>
              <p:nvPr/>
            </p:nvSpPr>
            <p:spPr>
              <a:xfrm rot="0" flipH="false" flipV="false">
                <a:off x="565167" y="2825537"/>
                <a:ext cx="158750" cy="158750"/>
              </a:xfrm>
              <a:custGeom>
                <a:avLst/>
                <a:gdLst/>
                <a:ahLst/>
                <a:cxnLst/>
                <a:rect r="r" b="b" t="t" l="l"/>
                <a:pathLst>
                  <a:path h="158750" w="158750">
                    <a:moveTo>
                      <a:pt x="79375" y="158750"/>
                    </a:moveTo>
                    <a:cubicBezTo>
                      <a:pt x="123182" y="158750"/>
                      <a:pt x="158750" y="123182"/>
                      <a:pt x="158750" y="79375"/>
                    </a:cubicBezTo>
                    <a:cubicBezTo>
                      <a:pt x="158750" y="35568"/>
                      <a:pt x="123182" y="0"/>
                      <a:pt x="79375" y="0"/>
                    </a:cubicBezTo>
                    <a:cubicBezTo>
                      <a:pt x="35568" y="0"/>
                      <a:pt x="0" y="35568"/>
                      <a:pt x="0" y="79375"/>
                    </a:cubicBezTo>
                    <a:cubicBezTo>
                      <a:pt x="0" y="123182"/>
                      <a:pt x="35568" y="158750"/>
                      <a:pt x="79375" y="158750"/>
                    </a:cubicBezTo>
                    <a:close/>
                    <a:moveTo>
                      <a:pt x="69452" y="49609"/>
                    </a:moveTo>
                    <a:cubicBezTo>
                      <a:pt x="69452" y="44133"/>
                      <a:pt x="73899" y="39687"/>
                      <a:pt x="79375" y="39687"/>
                    </a:cubicBezTo>
                    <a:cubicBezTo>
                      <a:pt x="84851" y="39687"/>
                      <a:pt x="89298" y="44133"/>
                      <a:pt x="89298" y="49609"/>
                    </a:cubicBezTo>
                    <a:cubicBezTo>
                      <a:pt x="89298" y="55085"/>
                      <a:pt x="84851" y="59531"/>
                      <a:pt x="79375" y="59531"/>
                    </a:cubicBezTo>
                    <a:cubicBezTo>
                      <a:pt x="73899" y="59531"/>
                      <a:pt x="69452" y="55085"/>
                      <a:pt x="69452" y="49609"/>
                    </a:cubicBezTo>
                    <a:close/>
                    <a:moveTo>
                      <a:pt x="66973" y="69452"/>
                    </a:moveTo>
                    <a:lnTo>
                      <a:pt x="81855" y="69452"/>
                    </a:lnTo>
                    <a:cubicBezTo>
                      <a:pt x="85979" y="69452"/>
                      <a:pt x="89298" y="72771"/>
                      <a:pt x="89298" y="76895"/>
                    </a:cubicBezTo>
                    <a:lnTo>
                      <a:pt x="89298" y="104179"/>
                    </a:lnTo>
                    <a:lnTo>
                      <a:pt x="91777" y="104179"/>
                    </a:lnTo>
                    <a:cubicBezTo>
                      <a:pt x="95902" y="104179"/>
                      <a:pt x="99219" y="107497"/>
                      <a:pt x="99219" y="111622"/>
                    </a:cubicBezTo>
                    <a:cubicBezTo>
                      <a:pt x="99219" y="115745"/>
                      <a:pt x="95902" y="119063"/>
                      <a:pt x="91777" y="119063"/>
                    </a:cubicBezTo>
                    <a:lnTo>
                      <a:pt x="66973" y="119063"/>
                    </a:lnTo>
                    <a:cubicBezTo>
                      <a:pt x="62848" y="119063"/>
                      <a:pt x="59531" y="115745"/>
                      <a:pt x="59531" y="111622"/>
                    </a:cubicBezTo>
                    <a:cubicBezTo>
                      <a:pt x="59531" y="107497"/>
                      <a:pt x="62848" y="104179"/>
                      <a:pt x="66973" y="104179"/>
                    </a:cubicBezTo>
                    <a:lnTo>
                      <a:pt x="74414" y="104179"/>
                    </a:lnTo>
                    <a:lnTo>
                      <a:pt x="74414" y="84336"/>
                    </a:lnTo>
                    <a:lnTo>
                      <a:pt x="66973" y="84336"/>
                    </a:lnTo>
                    <a:cubicBezTo>
                      <a:pt x="62848" y="84336"/>
                      <a:pt x="59531" y="81018"/>
                      <a:pt x="59531" y="76895"/>
                    </a:cubicBezTo>
                    <a:cubicBezTo>
                      <a:pt x="59531" y="72771"/>
                      <a:pt x="62848" y="69452"/>
                      <a:pt x="66973" y="69452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2" id="12"/>
              <p:cNvSpPr/>
              <p:nvPr/>
            </p:nvSpPr>
            <p:spPr>
              <a:xfrm rot="0" flipH="false" flipV="false">
                <a:off x="545324" y="3206552"/>
                <a:ext cx="635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3" id="13"/>
              <p:cNvSpPr/>
              <p:nvPr/>
            </p:nvSpPr>
            <p:spPr>
              <a:xfrm rot="0" flipH="false" flipV="false">
                <a:off x="704024" y="3143060"/>
                <a:ext cx="96837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true" i="false" strike="noStrike" u="none" sz="1000">
                    <a:solidFill>
                      <a:srgbClr val="1A1A1A"/>
                    </a:solidFill>
                    <a:latin typeface="MiSans"/>
                    <a:ea typeface="MiSans"/>
                    <a:cs typeface="MiSans"/>
                    <a:sym typeface="MiSans"/>
                  </a:rPr>
                  <a:t>多个 Bank</a:t>
                </a:r>
                <a:endParaRPr lang="en-US" sz="1100"/>
              </a:p>
            </p:txBody>
          </p:sp>
          <p:sp>
            <p:nvSpPr>
              <p:cNvPr name="AutoShape 14" id="14"/>
              <p:cNvSpPr/>
              <p:nvPr/>
            </p:nvSpPr>
            <p:spPr>
              <a:xfrm rot="0" flipH="false" flipV="false">
                <a:off x="704024" y="3365252"/>
                <a:ext cx="96837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000">
                    <a:solidFill>
                      <a:srgbClr val="4A4A4A"/>
                    </a:solidFill>
                    <a:latin typeface="MiSans"/>
                    <a:ea typeface="MiSans"/>
                    <a:cs typeface="MiSans"/>
                    <a:sym typeface="MiSans"/>
                  </a:rPr>
                  <a:t>例如：32 banks</a:t>
                </a:r>
                <a:endParaRPr lang="en-US" sz="1100"/>
              </a:p>
            </p:txBody>
          </p:sp>
          <p:sp>
            <p:nvSpPr>
              <p:cNvPr name="Freeform 15" id="15"/>
              <p:cNvSpPr/>
              <p:nvPr/>
            </p:nvSpPr>
            <p:spPr>
              <a:xfrm rot="0" flipH="false" flipV="false">
                <a:off x="545324" y="3714432"/>
                <a:ext cx="635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6" id="16"/>
              <p:cNvSpPr/>
              <p:nvPr/>
            </p:nvSpPr>
            <p:spPr>
              <a:xfrm rot="0" flipH="false" flipV="false">
                <a:off x="704024" y="3650940"/>
                <a:ext cx="1270000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true" i="false" strike="noStrike" u="none" sz="1000">
                    <a:solidFill>
                      <a:srgbClr val="1A1A1A"/>
                    </a:solidFill>
                    <a:latin typeface="MiSans"/>
                    <a:ea typeface="MiSans"/>
                    <a:cs typeface="MiSans"/>
                    <a:sym typeface="MiSans"/>
                  </a:rPr>
                  <a:t>每个 bank 独立访问</a:t>
                </a:r>
                <a:endParaRPr lang="en-US" sz="1100"/>
              </a:p>
            </p:txBody>
          </p:sp>
          <p:sp>
            <p:nvSpPr>
              <p:cNvPr name="AutoShape 17" id="17"/>
              <p:cNvSpPr/>
              <p:nvPr/>
            </p:nvSpPr>
            <p:spPr>
              <a:xfrm rot="0" flipH="false" flipV="false">
                <a:off x="704024" y="3873132"/>
                <a:ext cx="1270000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000">
                    <a:solidFill>
                      <a:srgbClr val="4A4A4A"/>
                    </a:solidFill>
                    <a:latin typeface="MiSans"/>
                    <a:ea typeface="MiSans"/>
                    <a:cs typeface="MiSans"/>
                    <a:sym typeface="MiSans"/>
                  </a:rPr>
                  <a:t>可同时访问不同 bank</a:t>
                </a:r>
                <a:endParaRPr lang="en-US" sz="1100"/>
              </a:p>
            </p:txBody>
          </p:sp>
          <p:sp>
            <p:nvSpPr>
              <p:cNvPr name="Freeform 18" id="18"/>
              <p:cNvSpPr/>
              <p:nvPr/>
            </p:nvSpPr>
            <p:spPr>
              <a:xfrm rot="0" flipH="false" flipV="false">
                <a:off x="545324" y="4222312"/>
                <a:ext cx="635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9" id="19"/>
              <p:cNvSpPr/>
              <p:nvPr/>
            </p:nvSpPr>
            <p:spPr>
              <a:xfrm rot="0" flipH="false" flipV="false">
                <a:off x="704024" y="4158820"/>
                <a:ext cx="1817688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true" i="false" strike="noStrike" u="none" sz="1000">
                    <a:solidFill>
                      <a:srgbClr val="1A1A1A"/>
                    </a:solidFill>
                    <a:latin typeface="MiSans"/>
                    <a:ea typeface="MiSans"/>
                    <a:cs typeface="MiSans"/>
                    <a:sym typeface="MiSans"/>
                  </a:rPr>
                  <a:t>Bank Conflict</a:t>
                </a:r>
                <a:endParaRPr lang="en-US" sz="1100"/>
              </a:p>
            </p:txBody>
          </p:sp>
          <p:sp>
            <p:nvSpPr>
              <p:cNvPr name="AutoShape 20" id="20"/>
              <p:cNvSpPr/>
              <p:nvPr/>
            </p:nvSpPr>
            <p:spPr>
              <a:xfrm rot="0" flipH="false" flipV="false">
                <a:off x="704024" y="4381012"/>
                <a:ext cx="1817688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0" rIns="0" tIns="0" bIns="0">
                <a:noAutofit/>
              </a:bodyPr>
              <a:lstStyle/>
              <a:p>
                <a:pPr algn="l" indent="0">
                  <a:lnSpc>
                    <a:spcPct val="133333"/>
                  </a:lnSpc>
                  <a:defRPr/>
                </a:pPr>
                <a:r>
                  <a:rPr lang="en-US" b="false" i="false" strike="noStrike" u="none" sz="1000">
                    <a:solidFill>
                      <a:srgbClr val="4A4A4A"/>
                    </a:solidFill>
                    <a:latin typeface="MiSans"/>
                    <a:ea typeface="MiSans"/>
                    <a:cs typeface="MiSans"/>
                    <a:sym typeface="MiSans"/>
                  </a:rPr>
                  <a:t>同时访问同一 bank 会导致冲突</a:t>
                </a:r>
                <a:endParaRPr lang="en-US" sz="1100"/>
              </a:p>
            </p:txBody>
          </p:sp>
        </p:grpSp>
      </p:grpSp>
      <p:sp>
        <p:nvSpPr>
          <p:cNvPr name="Freeform 21" id="21"/>
          <p:cNvSpPr/>
          <p:nvPr/>
        </p:nvSpPr>
        <p:spPr>
          <a:xfrm rot="0" flipH="false" flipV="false">
            <a:off x="6191237" y="1111029"/>
            <a:ext cx="5683250" cy="6064250"/>
          </a:xfrm>
          <a:custGeom>
            <a:avLst/>
            <a:gdLst/>
            <a:ahLst/>
            <a:cxnLst/>
            <a:rect r="r" b="b" t="t" l="l"/>
            <a:pathLst>
              <a:path h="6064250" w="5683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8423"/>
                  <a:pt x="5683250" y="63482"/>
                </a:cubicBezTo>
                <a:lnTo>
                  <a:pt x="5683250" y="6000768"/>
                </a:lnTo>
                <a:cubicBezTo>
                  <a:pt x="5683250" y="6035827"/>
                  <a:pt x="5654827" y="6064250"/>
                  <a:pt x="5619768" y="6064250"/>
                </a:cubicBezTo>
                <a:lnTo>
                  <a:pt x="63482" y="6064250"/>
                </a:lnTo>
                <a:cubicBezTo>
                  <a:pt x="28423" y="6064250"/>
                  <a:pt x="0" y="6035827"/>
                  <a:pt x="0" y="6000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00127" y="1269791"/>
            <a:ext cx="3001232" cy="4461790"/>
          </a:xfrm>
          <a:prstGeom prst="roundRect">
            <a:avLst>
              <a:gd name="adj" fmla="val 820"/>
            </a:avLst>
          </a:prstGeom>
          <a:ln w="12700">
            <a:noFill/>
            <a:prstDash val="solid"/>
          </a:ln>
        </p:spPr>
      </p:pic>
      <p:grpSp>
        <p:nvGrpSpPr>
          <p:cNvPr name="Group 23" id="23"/>
          <p:cNvGrpSpPr/>
          <p:nvPr/>
        </p:nvGrpSpPr>
        <p:grpSpPr>
          <a:xfrm>
            <a:off x="6207191" y="5894035"/>
            <a:ext cx="5667296" cy="809546"/>
            <a:chOff x="6207191" y="5894035"/>
            <a:chExt cx="5667296" cy="809546"/>
          </a:xfrm>
        </p:grpSpPr>
        <p:sp>
          <p:nvSpPr>
            <p:cNvPr name="Freeform 24" id="24"/>
            <p:cNvSpPr/>
            <p:nvPr/>
          </p:nvSpPr>
          <p:spPr>
            <a:xfrm rot="0" flipH="false" flipV="false">
              <a:off x="6207191" y="5894035"/>
              <a:ext cx="5667296" cy="809546"/>
            </a:xfrm>
            <a:custGeom>
              <a:avLst/>
              <a:gdLst/>
              <a:ahLst/>
              <a:cxnLst/>
              <a:rect r="r" b="b" t="t" l="l"/>
              <a:pathLst>
                <a:path h="809546" w="5667296">
                  <a:moveTo>
                    <a:pt x="63501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746045"/>
                  </a:lnTo>
                  <a:cubicBezTo>
                    <a:pt x="5667296" y="781116"/>
                    <a:pt x="5638866" y="809546"/>
                    <a:pt x="5603795" y="809546"/>
                  </a:cubicBezTo>
                  <a:lnTo>
                    <a:pt x="63501" y="809546"/>
                  </a:lnTo>
                  <a:cubicBezTo>
                    <a:pt x="28430" y="809546"/>
                    <a:pt x="0" y="781116"/>
                    <a:pt x="0" y="746045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270637" y="6028919"/>
              <a:ext cx="554037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91666"/>
                </a:lnSpc>
                <a:defRPr/>
              </a:pPr>
              <a:r>
                <a:rPr lang="en-US" b="true" i="false" strike="noStrike" u="none" sz="23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32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310325" y="6378096"/>
              <a:ext cx="54610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0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banks (典型配置)</a:t>
              </a:r>
              <a:endParaRPr lang="en-US" sz="1100"/>
            </a:p>
          </p:txBody>
        </p:sp>
      </p:grpSp>
      <p:sp>
        <p:nvSpPr>
          <p:cNvPr name="AutoShape 27" id="27"/>
          <p:cNvSpPr/>
          <p:nvPr/>
        </p:nvSpPr>
        <p:spPr>
          <a:xfrm rot="0" flipH="false" flipV="false">
            <a:off x="261900" y="8190791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图片来源：Lei Mao's Log Book</a:t>
            </a:r>
            <a:endParaRPr lang="en-US" sz="1100"/>
          </a:p>
        </p:txBody>
      </p:sp>
      <p:sp>
        <p:nvSpPr>
          <p:cNvPr name="AutoShape 28" id="2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4963" y="63381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Bank Conflict 定义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17463" y="1111029"/>
            <a:ext cx="4508500" cy="952500"/>
          </a:xfrm>
          <a:custGeom>
            <a:avLst/>
            <a:gdLst/>
            <a:ahLst/>
            <a:cxnLst/>
            <a:rect r="r" b="b" t="t" l="l"/>
            <a:pathLst>
              <a:path h="952500" w="4508500">
                <a:moveTo>
                  <a:pt x="63503" y="0"/>
                </a:moveTo>
                <a:lnTo>
                  <a:pt x="4444997" y="0"/>
                </a:lnTo>
                <a:cubicBezTo>
                  <a:pt x="4480069" y="0"/>
                  <a:pt x="4508500" y="28431"/>
                  <a:pt x="4508500" y="63503"/>
                </a:cubicBezTo>
                <a:lnTo>
                  <a:pt x="4508500" y="888997"/>
                </a:lnTo>
                <a:cubicBezTo>
                  <a:pt x="4508500" y="924069"/>
                  <a:pt x="4480069" y="952500"/>
                  <a:pt x="444499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7941" y="1301506"/>
            <a:ext cx="4222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Bank Conflict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7941" y="1650624"/>
            <a:ext cx="4198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Shared Memory 性能杀手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17463" y="2190339"/>
            <a:ext cx="4508500" cy="2984356"/>
          </a:xfrm>
          <a:custGeom>
            <a:avLst/>
            <a:gdLst/>
            <a:ahLst/>
            <a:cxnLst/>
            <a:rect r="r" b="b" t="t" l="l"/>
            <a:pathLst>
              <a:path h="2984356" w="4508500">
                <a:moveTo>
                  <a:pt x="63480" y="0"/>
                </a:moveTo>
                <a:lnTo>
                  <a:pt x="4445020" y="0"/>
                </a:lnTo>
                <a:cubicBezTo>
                  <a:pt x="4480079" y="0"/>
                  <a:pt x="4508500" y="16802"/>
                  <a:pt x="4508500" y="37527"/>
                </a:cubicBezTo>
                <a:lnTo>
                  <a:pt x="4508500" y="2946829"/>
                </a:lnTo>
                <a:cubicBezTo>
                  <a:pt x="4508500" y="2967554"/>
                  <a:pt x="4480079" y="2984356"/>
                  <a:pt x="4445020" y="2984356"/>
                </a:cubicBezTo>
                <a:lnTo>
                  <a:pt x="63480" y="2984356"/>
                </a:lnTo>
                <a:cubicBezTo>
                  <a:pt x="28421" y="2984356"/>
                  <a:pt x="0" y="2967554"/>
                  <a:pt x="0" y="2946829"/>
                </a:cubicBezTo>
                <a:lnTo>
                  <a:pt x="0" y="37527"/>
                </a:lnTo>
                <a:cubicBezTo>
                  <a:pt x="0" y="16815"/>
                  <a:pt x="28444" y="0"/>
                  <a:pt x="6348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495418" y="2380758"/>
            <a:ext cx="159929" cy="148827"/>
          </a:xfrm>
          <a:custGeom>
            <a:avLst/>
            <a:gdLst/>
            <a:ahLst/>
            <a:cxnLst/>
            <a:rect r="r" b="b" t="t" l="l"/>
            <a:pathLst>
              <a:path h="148827" w="159929">
                <a:moveTo>
                  <a:pt x="79964" y="0"/>
                </a:moveTo>
                <a:cubicBezTo>
                  <a:pt x="84522" y="0"/>
                  <a:pt x="88708" y="2511"/>
                  <a:pt x="90878" y="6511"/>
                </a:cubicBezTo>
                <a:lnTo>
                  <a:pt x="157851" y="130534"/>
                </a:lnTo>
                <a:cubicBezTo>
                  <a:pt x="159928" y="134379"/>
                  <a:pt x="159836" y="139029"/>
                  <a:pt x="157603" y="142782"/>
                </a:cubicBezTo>
                <a:cubicBezTo>
                  <a:pt x="155370" y="146534"/>
                  <a:pt x="151308" y="148827"/>
                  <a:pt x="146937" y="148827"/>
                </a:cubicBezTo>
                <a:lnTo>
                  <a:pt x="12991" y="148827"/>
                </a:lnTo>
                <a:cubicBezTo>
                  <a:pt x="8620" y="148827"/>
                  <a:pt x="4589" y="146534"/>
                  <a:pt x="2325" y="142782"/>
                </a:cubicBezTo>
                <a:cubicBezTo>
                  <a:pt x="62" y="139029"/>
                  <a:pt x="0" y="134379"/>
                  <a:pt x="2077" y="130534"/>
                </a:cubicBezTo>
                <a:lnTo>
                  <a:pt x="69050" y="6511"/>
                </a:lnTo>
                <a:cubicBezTo>
                  <a:pt x="71220" y="2511"/>
                  <a:pt x="75406" y="0"/>
                  <a:pt x="79964" y="0"/>
                </a:cubicBezTo>
                <a:close/>
                <a:moveTo>
                  <a:pt x="79964" y="52090"/>
                </a:moveTo>
                <a:cubicBezTo>
                  <a:pt x="75840" y="52090"/>
                  <a:pt x="72523" y="55408"/>
                  <a:pt x="72523" y="59531"/>
                </a:cubicBezTo>
                <a:lnTo>
                  <a:pt x="72523" y="94258"/>
                </a:lnTo>
                <a:cubicBezTo>
                  <a:pt x="72523" y="98382"/>
                  <a:pt x="75840" y="101699"/>
                  <a:pt x="79964" y="101699"/>
                </a:cubicBezTo>
                <a:cubicBezTo>
                  <a:pt x="84088" y="101699"/>
                  <a:pt x="87405" y="98382"/>
                  <a:pt x="87405" y="94258"/>
                </a:cubicBezTo>
                <a:lnTo>
                  <a:pt x="87405" y="59531"/>
                </a:lnTo>
                <a:cubicBezTo>
                  <a:pt x="87405" y="55408"/>
                  <a:pt x="84088" y="52090"/>
                  <a:pt x="79964" y="52090"/>
                </a:cubicBezTo>
                <a:close/>
                <a:moveTo>
                  <a:pt x="88243" y="119062"/>
                </a:moveTo>
                <a:cubicBezTo>
                  <a:pt x="88431" y="115990"/>
                  <a:pt x="86898" y="113066"/>
                  <a:pt x="84264" y="111473"/>
                </a:cubicBezTo>
                <a:cubicBezTo>
                  <a:pt x="81630" y="109879"/>
                  <a:pt x="78330" y="109879"/>
                  <a:pt x="75696" y="111473"/>
                </a:cubicBezTo>
                <a:cubicBezTo>
                  <a:pt x="73062" y="113066"/>
                  <a:pt x="71527" y="115990"/>
                  <a:pt x="71717" y="119062"/>
                </a:cubicBezTo>
                <a:cubicBezTo>
                  <a:pt x="71527" y="122135"/>
                  <a:pt x="73062" y="125059"/>
                  <a:pt x="75696" y="126652"/>
                </a:cubicBezTo>
                <a:cubicBezTo>
                  <a:pt x="78330" y="128246"/>
                  <a:pt x="81630" y="128246"/>
                  <a:pt x="84264" y="126652"/>
                </a:cubicBezTo>
                <a:cubicBezTo>
                  <a:pt x="86898" y="125059"/>
                  <a:pt x="88431" y="122135"/>
                  <a:pt x="88243" y="11906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4601" y="2349043"/>
            <a:ext cx="4071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问题定义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91960" y="2698281"/>
            <a:ext cx="4175046" cy="603250"/>
          </a:xfrm>
          <a:custGeom>
            <a:avLst/>
            <a:gdLst/>
            <a:ahLst/>
            <a:cxnLst/>
            <a:rect r="r" b="b" t="t" l="l"/>
            <a:pathLst>
              <a:path h="603250" w="4175046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91960" y="2698281"/>
            <a:ext cx="31593" cy="603250"/>
          </a:xfrm>
          <a:custGeom>
            <a:avLst/>
            <a:gdLst/>
            <a:ahLst/>
            <a:cxnLst/>
            <a:rect r="r" b="b" t="t" l="l"/>
            <a:pathLst>
              <a:path h="603250" w="31593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2964" y="2793488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多个 thread 同时访问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2964" y="3015684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同一个 bank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491960" y="3396576"/>
            <a:ext cx="4175046" cy="603250"/>
          </a:xfrm>
          <a:custGeom>
            <a:avLst/>
            <a:gdLst/>
            <a:ahLst/>
            <a:cxnLst/>
            <a:rect r="r" b="b" t="t" l="l"/>
            <a:pathLst>
              <a:path h="603250" w="4175046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491960" y="3396576"/>
            <a:ext cx="31593" cy="603250"/>
          </a:xfrm>
          <a:custGeom>
            <a:avLst/>
            <a:gdLst/>
            <a:ahLst/>
            <a:cxnLst/>
            <a:rect r="r" b="b" t="t" l="l"/>
            <a:pathLst>
              <a:path h="603250" w="31593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2964" y="3491783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导致访问串行化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2964" y="3713979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无法并行执行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491960" y="4094870"/>
            <a:ext cx="4175046" cy="603250"/>
          </a:xfrm>
          <a:custGeom>
            <a:avLst/>
            <a:gdLst/>
            <a:ahLst/>
            <a:cxnLst/>
            <a:rect r="r" b="b" t="t" l="l"/>
            <a:pathLst>
              <a:path h="603250" w="4175046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491960" y="4094870"/>
            <a:ext cx="31593" cy="603250"/>
          </a:xfrm>
          <a:custGeom>
            <a:avLst/>
            <a:gdLst/>
            <a:ahLst/>
            <a:cxnLst/>
            <a:rect r="r" b="b" t="t" l="l"/>
            <a:pathLst>
              <a:path h="603250" w="31593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2964" y="4190081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性能严重下降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2964" y="4412273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失去并行优势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5016470" y="1111029"/>
            <a:ext cx="6858000" cy="5334000"/>
          </a:xfrm>
          <a:custGeom>
            <a:avLst/>
            <a:gdLst/>
            <a:ahLst/>
            <a:cxnLst/>
            <a:rect r="r" b="b" t="t" l="l"/>
            <a:pathLst>
              <a:path h="5334000" w="6858000">
                <a:moveTo>
                  <a:pt x="63475" y="0"/>
                </a:moveTo>
                <a:lnTo>
                  <a:pt x="6794525" y="0"/>
                </a:lnTo>
                <a:cubicBezTo>
                  <a:pt x="6829581" y="0"/>
                  <a:pt x="6858000" y="28419"/>
                  <a:pt x="6858000" y="63475"/>
                </a:cubicBezTo>
                <a:lnTo>
                  <a:pt x="6858000" y="5270525"/>
                </a:lnTo>
                <a:cubicBezTo>
                  <a:pt x="6858000" y="5305581"/>
                  <a:pt x="6829581" y="5334000"/>
                  <a:pt x="6794525" y="5334000"/>
                </a:cubicBezTo>
                <a:lnTo>
                  <a:pt x="63475" y="5334000"/>
                </a:lnTo>
                <a:cubicBezTo>
                  <a:pt x="28419" y="5334000"/>
                  <a:pt x="0" y="5305581"/>
                  <a:pt x="0" y="5270525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691342" y="1269791"/>
            <a:ext cx="3213635" cy="4595062"/>
          </a:xfrm>
          <a:prstGeom prst="roundRect">
            <a:avLst>
              <a:gd name="adj" fmla="val 904"/>
            </a:avLst>
          </a:prstGeom>
          <a:ln w="12700">
            <a:noFill/>
            <a:prstDash val="solid"/>
          </a:ln>
        </p:spPr>
      </p:pic>
      <p:grpSp>
        <p:nvGrpSpPr>
          <p:cNvPr name="Group 23" id="23"/>
          <p:cNvGrpSpPr/>
          <p:nvPr/>
        </p:nvGrpSpPr>
        <p:grpSpPr>
          <a:xfrm>
            <a:off x="5024368" y="6039674"/>
            <a:ext cx="6842061" cy="650796"/>
            <a:chOff x="5024368" y="6039674"/>
            <a:chExt cx="6842061" cy="650796"/>
          </a:xfrm>
        </p:grpSpPr>
        <p:sp>
          <p:nvSpPr>
            <p:cNvPr name="Freeform 24" id="24"/>
            <p:cNvSpPr/>
            <p:nvPr/>
          </p:nvSpPr>
          <p:spPr>
            <a:xfrm rot="0" flipH="false" flipV="false">
              <a:off x="5024368" y="6039674"/>
              <a:ext cx="2206546" cy="650796"/>
            </a:xfrm>
            <a:custGeom>
              <a:avLst/>
              <a:gdLst/>
              <a:ahLst/>
              <a:cxnLst/>
              <a:rect r="r" b="b" t="t" l="l"/>
              <a:pathLst>
                <a:path h="650796" w="220654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5079849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N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5099693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threads</a:t>
              </a:r>
              <a:endParaRPr lang="en-US" sz="1100"/>
            </a:p>
          </p:txBody>
        </p:sp>
        <p:sp>
          <p:nvSpPr>
            <p:cNvPr name="Freeform 27" id="27"/>
            <p:cNvSpPr/>
            <p:nvPr/>
          </p:nvSpPr>
          <p:spPr>
            <a:xfrm rot="0" flipH="false" flipV="false">
              <a:off x="7342126" y="6039674"/>
              <a:ext cx="2206546" cy="650796"/>
            </a:xfrm>
            <a:custGeom>
              <a:avLst/>
              <a:gdLst/>
              <a:ahLst/>
              <a:cxnLst/>
              <a:rect r="r" b="b" t="t" l="l"/>
              <a:pathLst>
                <a:path h="650796" w="220654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397607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7417450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bank</a:t>
              </a:r>
              <a:endParaRPr lang="en-US" sz="1100"/>
            </a:p>
          </p:txBody>
        </p:sp>
        <p:sp>
          <p:nvSpPr>
            <p:cNvPr name="Freeform 30" id="30"/>
            <p:cNvSpPr/>
            <p:nvPr/>
          </p:nvSpPr>
          <p:spPr>
            <a:xfrm rot="0" flipH="false" flipV="false">
              <a:off x="9659883" y="6039674"/>
              <a:ext cx="2206546" cy="650796"/>
            </a:xfrm>
            <a:custGeom>
              <a:avLst/>
              <a:gdLst/>
              <a:ahLst/>
              <a:cxnLst/>
              <a:rect r="r" b="b" t="t" l="l"/>
              <a:pathLst>
                <a:path h="650796" w="220654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9715364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500">
                  <a:solidFill>
                    <a:srgbClr val="8B2635"/>
                  </a:solidFill>
                  <a:latin typeface="MiSans"/>
                  <a:ea typeface="MiSans"/>
                  <a:cs typeface="MiSans"/>
                  <a:sym typeface="MiSans"/>
                </a:rPr>
                <a:t>N×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9735208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16666"/>
                </a:lnSpc>
                <a:defRPr/>
              </a:pPr>
              <a:r>
                <a:rPr lang="en-US" b="false" i="false" strike="noStrike" u="none" sz="900">
                  <a:solidFill>
                    <a:srgbClr val="4A4A4A"/>
                  </a:solidFill>
                  <a:latin typeface="MiSans"/>
                  <a:ea typeface="MiSans"/>
                  <a:cs typeface="MiSans"/>
                  <a:sym typeface="MiSans"/>
                </a:rPr>
                <a:t>slower</a:t>
              </a:r>
              <a:endParaRPr lang="en-US" sz="1100"/>
            </a:p>
          </p:txBody>
        </p:sp>
      </p:grpSp>
      <p:sp>
        <p:nvSpPr>
          <p:cNvPr name="AutoShape 33" id="33"/>
          <p:cNvSpPr/>
          <p:nvPr/>
        </p:nvSpPr>
        <p:spPr>
          <a:xfrm rot="0" flipH="false" flipV="false">
            <a:off x="261900" y="7301647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图片来源：UIC Mathematics</a:t>
            </a:r>
            <a:endParaRPr lang="en-US" sz="1100"/>
          </a:p>
        </p:txBody>
      </p:sp>
      <p:sp>
        <p:nvSpPr>
          <p:cNvPr name="AutoShape 34" id="3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498" y="59879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无 Bank Conflict 情况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33235"/>
            <a:ext cx="5600700" cy="1143000"/>
          </a:xfrm>
          <a:custGeom>
            <a:avLst/>
            <a:gdLst/>
            <a:ahLst/>
            <a:cxnLst/>
            <a:rect r="r" b="b" t="t" l="l"/>
            <a:pathLst>
              <a:path h="1143000" w="56007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61807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理想情况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0749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每个 thread 访问不同的 bank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28412"/>
            <a:ext cx="5600700" cy="3581400"/>
          </a:xfrm>
          <a:custGeom>
            <a:avLst/>
            <a:gdLst/>
            <a:ahLst/>
            <a:cxnLst/>
            <a:rect r="r" b="b" t="t" l="l"/>
            <a:pathLst>
              <a:path h="3581400" w="56007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95209" y="2856909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7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9521" y="2818847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访问模式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90352" y="3237937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90352" y="3237937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498" y="335219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14115" y="331412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57012" y="335219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bank 0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90352" y="3771198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90352" y="3771198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498" y="388545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14115" y="384739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57012" y="388545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bank 1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90352" y="4304467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90352" y="4304467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498" y="4418712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115" y="438065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057012" y="4418712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bank 2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590352" y="4837728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590352" y="4837728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85498" y="495198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3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714115" y="4913919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057012" y="495198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bank 3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210279" y="1333235"/>
            <a:ext cx="5600700" cy="3657600"/>
          </a:xfrm>
          <a:custGeom>
            <a:avLst/>
            <a:gdLst/>
            <a:ahLst/>
            <a:cxnLst/>
            <a:rect r="r" b="b" t="t" l="l"/>
            <a:pathLst>
              <a:path h="3657600" w="5600700">
                <a:moveTo>
                  <a:pt x="76189" y="0"/>
                </a:moveTo>
                <a:lnTo>
                  <a:pt x="5524511" y="0"/>
                </a:lnTo>
                <a:cubicBezTo>
                  <a:pt x="5566590" y="0"/>
                  <a:pt x="5600700" y="34110"/>
                  <a:pt x="5600700" y="76189"/>
                </a:cubicBezTo>
                <a:lnTo>
                  <a:pt x="5600700" y="3581411"/>
                </a:lnTo>
                <a:cubicBezTo>
                  <a:pt x="5600700" y="3623490"/>
                  <a:pt x="5566590" y="3657600"/>
                  <a:pt x="5524511" y="3657600"/>
                </a:cubicBezTo>
                <a:lnTo>
                  <a:pt x="76189" y="3657600"/>
                </a:lnTo>
                <a:cubicBezTo>
                  <a:pt x="34110" y="3657600"/>
                  <a:pt x="0" y="3623490"/>
                  <a:pt x="0" y="3581411"/>
                </a:cubicBezTo>
                <a:lnTo>
                  <a:pt x="0" y="76189"/>
                </a:lnTo>
                <a:cubicBezTo>
                  <a:pt x="0" y="34110"/>
                  <a:pt x="34110" y="0"/>
                  <a:pt x="76189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210279" y="5143756"/>
            <a:ext cx="5600700" cy="1066800"/>
          </a:xfrm>
          <a:custGeom>
            <a:avLst/>
            <a:gdLst/>
            <a:ahLst/>
            <a:cxnLst/>
            <a:rect r="r" b="b" t="t" l="l"/>
            <a:pathLst>
              <a:path h="1066800" w="56007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990597"/>
                </a:lnTo>
                <a:cubicBezTo>
                  <a:pt x="5600700" y="1032683"/>
                  <a:pt x="5566583" y="1066800"/>
                  <a:pt x="55244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29282" y="5334191"/>
            <a:ext cx="5362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并行访问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57857" y="5753207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最大性能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14281" y="6286542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4757" y="61892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Bank Conflict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17463" y="1111033"/>
            <a:ext cx="5683250" cy="952500"/>
          </a:xfrm>
          <a:custGeom>
            <a:avLst/>
            <a:gdLst/>
            <a:ahLst/>
            <a:cxnLst/>
            <a:rect r="r" b="b" t="t" l="l"/>
            <a:pathLst>
              <a:path h="952500" w="568325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7941" y="1301510"/>
            <a:ext cx="5397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冲突情况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7941" y="1650628"/>
            <a:ext cx="53736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多个 thread 访问同一个 bank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17463" y="2190347"/>
            <a:ext cx="5683250" cy="6000750"/>
          </a:xfrm>
          <a:custGeom>
            <a:avLst/>
            <a:gdLst/>
            <a:ahLst/>
            <a:cxnLst/>
            <a:rect r="r" b="b" t="t" l="l"/>
            <a:pathLst>
              <a:path h="6000750" w="5683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8423"/>
                  <a:pt x="5683250" y="63482"/>
                </a:cubicBezTo>
                <a:lnTo>
                  <a:pt x="5683250" y="5937268"/>
                </a:lnTo>
                <a:cubicBezTo>
                  <a:pt x="5683250" y="5972327"/>
                  <a:pt x="5654827" y="6000750"/>
                  <a:pt x="5619768" y="6000750"/>
                </a:cubicBezTo>
                <a:lnTo>
                  <a:pt x="63482" y="6000750"/>
                </a:lnTo>
                <a:cubicBezTo>
                  <a:pt x="28423" y="6000750"/>
                  <a:pt x="0" y="5972327"/>
                  <a:pt x="0" y="59372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496007" y="2380762"/>
            <a:ext cx="158750" cy="158750"/>
          </a:xfrm>
          <a:custGeom>
            <a:avLst/>
            <a:gdLst/>
            <a:ahLst/>
            <a:cxnLst/>
            <a:rect r="r" b="b" t="t" l="l"/>
            <a:pathLst>
              <a:path h="158750" w="158750">
                <a:moveTo>
                  <a:pt x="79375" y="158750"/>
                </a:moveTo>
                <a:cubicBezTo>
                  <a:pt x="123182" y="158750"/>
                  <a:pt x="158750" y="123182"/>
                  <a:pt x="158750" y="79375"/>
                </a:cubicBezTo>
                <a:cubicBezTo>
                  <a:pt x="158750" y="35568"/>
                  <a:pt x="123182" y="0"/>
                  <a:pt x="79375" y="0"/>
                </a:cubicBezTo>
                <a:cubicBezTo>
                  <a:pt x="35568" y="0"/>
                  <a:pt x="0" y="35568"/>
                  <a:pt x="0" y="79375"/>
                </a:cubicBezTo>
                <a:cubicBezTo>
                  <a:pt x="0" y="123182"/>
                  <a:pt x="35568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5" y="68833"/>
                </a:lnTo>
                <a:lnTo>
                  <a:pt x="96397" y="51780"/>
                </a:lnTo>
                <a:cubicBezTo>
                  <a:pt x="99311" y="48865"/>
                  <a:pt x="104024" y="48865"/>
                  <a:pt x="106909" y="51780"/>
                </a:cubicBezTo>
                <a:cubicBezTo>
                  <a:pt x="109791" y="54694"/>
                  <a:pt x="109823" y="59407"/>
                  <a:pt x="106909" y="62291"/>
                </a:cubicBezTo>
                <a:lnTo>
                  <a:pt x="89855" y="79345"/>
                </a:lnTo>
                <a:lnTo>
                  <a:pt x="106909" y="96397"/>
                </a:lnTo>
                <a:cubicBezTo>
                  <a:pt x="109823" y="99311"/>
                  <a:pt x="109823" y="104024"/>
                  <a:pt x="106909" y="106909"/>
                </a:cubicBezTo>
                <a:cubicBezTo>
                  <a:pt x="103994" y="109792"/>
                  <a:pt x="99281" y="109823"/>
                  <a:pt x="96397" y="106909"/>
                </a:cubicBezTo>
                <a:lnTo>
                  <a:pt x="79345" y="89855"/>
                </a:lnTo>
                <a:lnTo>
                  <a:pt x="62291" y="106909"/>
                </a:lnTo>
                <a:cubicBezTo>
                  <a:pt x="59376" y="109823"/>
                  <a:pt x="54663" y="109823"/>
                  <a:pt x="51780" y="106909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5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4601" y="2349043"/>
            <a:ext cx="52466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访问模式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91960" y="2698285"/>
            <a:ext cx="5349796" cy="381000"/>
          </a:xfrm>
          <a:custGeom>
            <a:avLst/>
            <a:gdLst/>
            <a:ahLst/>
            <a:cxnLst/>
            <a:rect r="r" b="b" t="t" l="l"/>
            <a:pathLst>
              <a:path h="381000" w="5349796">
                <a:moveTo>
                  <a:pt x="31593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91960" y="2698285"/>
            <a:ext cx="31593" cy="381000"/>
          </a:xfrm>
          <a:custGeom>
            <a:avLst/>
            <a:gdLst/>
            <a:ahLst/>
            <a:cxnLst/>
            <a:rect r="r" b="b" t="t" l="l"/>
            <a:pathLst>
              <a:path h="381000" w="31593">
                <a:moveTo>
                  <a:pt x="31593" y="0"/>
                </a:moveTo>
                <a:lnTo>
                  <a:pt x="31593" y="0"/>
                </a:lnTo>
                <a:lnTo>
                  <a:pt x="31593" y="381000"/>
                </a:ln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248" y="2793496"/>
            <a:ext cx="825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28429" y="2761777"/>
            <a:ext cx="285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714177" y="2793496"/>
            <a:ext cx="48418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bank 0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491960" y="3142669"/>
            <a:ext cx="5349796" cy="381000"/>
          </a:xfrm>
          <a:custGeom>
            <a:avLst/>
            <a:gdLst/>
            <a:ahLst/>
            <a:cxnLst/>
            <a:rect r="r" b="b" t="t" l="l"/>
            <a:pathLst>
              <a:path h="381000" w="5349796">
                <a:moveTo>
                  <a:pt x="31593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491960" y="3142669"/>
            <a:ext cx="31593" cy="381000"/>
          </a:xfrm>
          <a:custGeom>
            <a:avLst/>
            <a:gdLst/>
            <a:ahLst/>
            <a:cxnLst/>
            <a:rect r="r" b="b" t="t" l="l"/>
            <a:pathLst>
              <a:path h="381000" w="31593">
                <a:moveTo>
                  <a:pt x="31593" y="0"/>
                </a:moveTo>
                <a:lnTo>
                  <a:pt x="31593" y="0"/>
                </a:lnTo>
                <a:lnTo>
                  <a:pt x="31593" y="381000"/>
                </a:ln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248" y="3237880"/>
            <a:ext cx="825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428429" y="3206161"/>
            <a:ext cx="285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14177" y="3237880"/>
            <a:ext cx="48418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bank 0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491960" y="3587060"/>
            <a:ext cx="5349796" cy="381000"/>
          </a:xfrm>
          <a:custGeom>
            <a:avLst/>
            <a:gdLst/>
            <a:ahLst/>
            <a:cxnLst/>
            <a:rect r="r" b="b" t="t" l="l"/>
            <a:pathLst>
              <a:path h="381000" w="5349796">
                <a:moveTo>
                  <a:pt x="31593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491960" y="3587060"/>
            <a:ext cx="31593" cy="381000"/>
          </a:xfrm>
          <a:custGeom>
            <a:avLst/>
            <a:gdLst/>
            <a:ahLst/>
            <a:cxnLst/>
            <a:rect r="r" b="b" t="t" l="l"/>
            <a:pathLst>
              <a:path h="381000" w="31593">
                <a:moveTo>
                  <a:pt x="31593" y="0"/>
                </a:moveTo>
                <a:lnTo>
                  <a:pt x="31593" y="0"/>
                </a:lnTo>
                <a:lnTo>
                  <a:pt x="31593" y="381000"/>
                </a:ln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1248" y="3682264"/>
            <a:ext cx="825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428429" y="3650552"/>
            <a:ext cx="285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714177" y="3682264"/>
            <a:ext cx="48418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bank 0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491960" y="4031444"/>
            <a:ext cx="5349796" cy="381000"/>
          </a:xfrm>
          <a:custGeom>
            <a:avLst/>
            <a:gdLst/>
            <a:ahLst/>
            <a:cxnLst/>
            <a:rect r="r" b="b" t="t" l="l"/>
            <a:pathLst>
              <a:path h="381000" w="5349796">
                <a:moveTo>
                  <a:pt x="31593" y="0"/>
                </a:moveTo>
                <a:lnTo>
                  <a:pt x="5286295" y="0"/>
                </a:lnTo>
                <a:cubicBezTo>
                  <a:pt x="5321366" y="0"/>
                  <a:pt x="5349796" y="28430"/>
                  <a:pt x="5349796" y="63501"/>
                </a:cubicBezTo>
                <a:lnTo>
                  <a:pt x="5349796" y="317499"/>
                </a:lnTo>
                <a:cubicBezTo>
                  <a:pt x="5349796" y="352570"/>
                  <a:pt x="5321366" y="381000"/>
                  <a:pt x="5286295" y="381000"/>
                </a:cubicBez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91960" y="4031444"/>
            <a:ext cx="31593" cy="381000"/>
          </a:xfrm>
          <a:custGeom>
            <a:avLst/>
            <a:gdLst/>
            <a:ahLst/>
            <a:cxnLst/>
            <a:rect r="r" b="b" t="t" l="l"/>
            <a:pathLst>
              <a:path h="381000" w="31593">
                <a:moveTo>
                  <a:pt x="31593" y="0"/>
                </a:moveTo>
                <a:lnTo>
                  <a:pt x="31593" y="0"/>
                </a:lnTo>
                <a:lnTo>
                  <a:pt x="31593" y="381000"/>
                </a:lnTo>
                <a:lnTo>
                  <a:pt x="31593" y="381000"/>
                </a:lnTo>
                <a:cubicBezTo>
                  <a:pt x="14144" y="381000"/>
                  <a:pt x="0" y="366856"/>
                  <a:pt x="0" y="349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1248" y="4126655"/>
            <a:ext cx="825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3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428429" y="4094936"/>
            <a:ext cx="285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714177" y="4126655"/>
            <a:ext cx="48418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bank 0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191237" y="1111033"/>
            <a:ext cx="5683250" cy="6064250"/>
          </a:xfrm>
          <a:custGeom>
            <a:avLst/>
            <a:gdLst/>
            <a:ahLst/>
            <a:cxnLst/>
            <a:rect r="r" b="b" t="t" l="l"/>
            <a:pathLst>
              <a:path h="6064250" w="5683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8423"/>
                  <a:pt x="5683250" y="63482"/>
                </a:cubicBezTo>
                <a:lnTo>
                  <a:pt x="5683250" y="6000768"/>
                </a:lnTo>
                <a:cubicBezTo>
                  <a:pt x="5683250" y="6035827"/>
                  <a:pt x="5654827" y="6064250"/>
                  <a:pt x="5619768" y="6064250"/>
                </a:cubicBezTo>
                <a:lnTo>
                  <a:pt x="63482" y="6064250"/>
                </a:lnTo>
                <a:cubicBezTo>
                  <a:pt x="28423" y="6064250"/>
                  <a:pt x="0" y="6035827"/>
                  <a:pt x="0" y="6000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00126" y="1269791"/>
            <a:ext cx="3865563" cy="5746750"/>
          </a:xfrm>
          <a:prstGeom prst="roundRect">
            <a:avLst>
              <a:gd name="adj" fmla="val 820"/>
            </a:avLst>
          </a:prstGeom>
          <a:ln w="12700">
            <a:noFill/>
            <a:prstDash val="solid"/>
          </a:ln>
        </p:spPr>
      </p:pic>
      <p:sp>
        <p:nvSpPr>
          <p:cNvPr name="Freeform 31" id="31"/>
          <p:cNvSpPr/>
          <p:nvPr/>
        </p:nvSpPr>
        <p:spPr>
          <a:xfrm rot="0" flipH="false" flipV="false">
            <a:off x="6191237" y="7302081"/>
            <a:ext cx="5683250" cy="889000"/>
          </a:xfrm>
          <a:custGeom>
            <a:avLst/>
            <a:gdLst/>
            <a:ahLst/>
            <a:cxnLst/>
            <a:rect r="r" b="b" t="t" l="l"/>
            <a:pathLst>
              <a:path h="889000" w="568325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825499"/>
                </a:lnTo>
                <a:cubicBezTo>
                  <a:pt x="5683250" y="860570"/>
                  <a:pt x="5654820" y="889000"/>
                  <a:pt x="56197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90407" y="7460785"/>
            <a:ext cx="5484813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串行执行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14219" y="7809965"/>
            <a:ext cx="54371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性能下降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61900" y="8254411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图片来源：Lei Mao's Log Book</a:t>
            </a:r>
            <a:endParaRPr lang="en-US" sz="1100"/>
          </a:p>
        </p:txBody>
      </p:sp>
      <p:sp>
        <p:nvSpPr>
          <p:cNvPr name="AutoShape 35" id="3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0459" y="61873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避免 Bank Conflict 方法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33230"/>
            <a:ext cx="6762750" cy="1143000"/>
          </a:xfrm>
          <a:custGeom>
            <a:avLst/>
            <a:gdLst/>
            <a:ahLst/>
            <a:cxnLst/>
            <a:rect r="r" b="b" t="t" l="l"/>
            <a:pathLst>
              <a:path h="1143000" w="6762750">
                <a:moveTo>
                  <a:pt x="76204" y="0"/>
                </a:moveTo>
                <a:lnTo>
                  <a:pt x="6686546" y="0"/>
                </a:lnTo>
                <a:cubicBezTo>
                  <a:pt x="6728631" y="0"/>
                  <a:pt x="6762750" y="34119"/>
                  <a:pt x="6762750" y="76204"/>
                </a:cubicBezTo>
                <a:lnTo>
                  <a:pt x="6762750" y="1066796"/>
                </a:lnTo>
                <a:cubicBezTo>
                  <a:pt x="6762750" y="1108881"/>
                  <a:pt x="6728631" y="1143000"/>
                  <a:pt x="668654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61812"/>
            <a:ext cx="64198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Padding 方法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0744"/>
            <a:ext cx="6391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通过增加 padding 避免冲突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28407"/>
            <a:ext cx="6762750" cy="3848100"/>
          </a:xfrm>
          <a:custGeom>
            <a:avLst/>
            <a:gdLst/>
            <a:ahLst/>
            <a:cxnLst/>
            <a:rect r="r" b="b" t="t" l="l"/>
            <a:pathLst>
              <a:path h="3848100" w="6762750">
                <a:moveTo>
                  <a:pt x="76192" y="0"/>
                </a:moveTo>
                <a:lnTo>
                  <a:pt x="6686558" y="0"/>
                </a:lnTo>
                <a:cubicBezTo>
                  <a:pt x="6728638" y="0"/>
                  <a:pt x="6762750" y="34112"/>
                  <a:pt x="6762750" y="76192"/>
                </a:cubicBezTo>
                <a:lnTo>
                  <a:pt x="6762750" y="3771908"/>
                </a:lnTo>
                <a:cubicBezTo>
                  <a:pt x="6762750" y="3813988"/>
                  <a:pt x="6728638" y="3848100"/>
                  <a:pt x="6686558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82150" y="2855528"/>
            <a:ext cx="216656" cy="193253"/>
          </a:xfrm>
          <a:custGeom>
            <a:avLst/>
            <a:gdLst/>
            <a:ahLst/>
            <a:cxnLst/>
            <a:rect r="r" b="b" t="t" l="l"/>
            <a:pathLst>
              <a:path h="193253" w="216656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2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2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9521" y="2818851"/>
            <a:ext cx="6238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代码示例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90352" y="3237942"/>
            <a:ext cx="6362605" cy="3048000"/>
          </a:xfrm>
          <a:custGeom>
            <a:avLst/>
            <a:gdLst/>
            <a:ahLst/>
            <a:cxnLst/>
            <a:rect r="r" b="b" t="t" l="l"/>
            <a:pathLst>
              <a:path h="3048000" w="6362605">
                <a:moveTo>
                  <a:pt x="37910" y="0"/>
                </a:moveTo>
                <a:lnTo>
                  <a:pt x="6286405" y="0"/>
                </a:lnTo>
                <a:cubicBezTo>
                  <a:pt x="6328461" y="0"/>
                  <a:pt x="6362605" y="34144"/>
                  <a:pt x="6362605" y="76200"/>
                </a:cubicBezTo>
                <a:lnTo>
                  <a:pt x="6362605" y="2971800"/>
                </a:lnTo>
                <a:cubicBezTo>
                  <a:pt x="6362605" y="3013856"/>
                  <a:pt x="6328461" y="3048000"/>
                  <a:pt x="6286405" y="3048000"/>
                </a:cubicBezTo>
                <a:lnTo>
                  <a:pt x="37910" y="3048000"/>
                </a:lnTo>
                <a:cubicBezTo>
                  <a:pt x="16974" y="3048000"/>
                  <a:pt x="0" y="3031026"/>
                  <a:pt x="0" y="3010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90352" y="3237942"/>
            <a:ext cx="37909" cy="3048000"/>
          </a:xfrm>
          <a:custGeom>
            <a:avLst/>
            <a:gdLst/>
            <a:ahLst/>
            <a:cxnLst/>
            <a:rect r="r" b="b" t="t" l="l"/>
            <a:pathLst>
              <a:path h="3048000" w="37909">
                <a:moveTo>
                  <a:pt x="37910" y="0"/>
                </a:moveTo>
                <a:lnTo>
                  <a:pt x="37910" y="0"/>
                </a:lnTo>
                <a:lnTo>
                  <a:pt x="37910" y="3048000"/>
                </a:lnTo>
                <a:lnTo>
                  <a:pt x="37910" y="3048000"/>
                </a:lnTo>
                <a:cubicBezTo>
                  <a:pt x="16974" y="3048000"/>
                  <a:pt x="0" y="3031026"/>
                  <a:pt x="0" y="3010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1689" y="3390323"/>
            <a:ext cx="6115050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原始声明（可能导致 bank conflict）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__shared__ float tile[32][32];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Padding 后（避免 bank conflict）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__shared__ float tile[32][33];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解释：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原始：每行 32 个 float，正好占用 32 个 bank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导致：同一列的元素都在同一个 bank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Padding：每行 33 个 float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// 结果：同一列的元素分布在不同 bank</a:t>
            </a:r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376099" y="1333230"/>
            <a:ext cx="4438650" cy="4229100"/>
          </a:xfrm>
          <a:custGeom>
            <a:avLst/>
            <a:gdLst/>
            <a:ahLst/>
            <a:cxnLst/>
            <a:rect r="r" b="b" t="t" l="l"/>
            <a:pathLst>
              <a:path h="4229100" w="4438650">
                <a:moveTo>
                  <a:pt x="76208" y="0"/>
                </a:moveTo>
                <a:lnTo>
                  <a:pt x="4362442" y="0"/>
                </a:lnTo>
                <a:cubicBezTo>
                  <a:pt x="4404530" y="0"/>
                  <a:pt x="4438650" y="34120"/>
                  <a:pt x="4438650" y="76208"/>
                </a:cubicBezTo>
                <a:lnTo>
                  <a:pt x="4438650" y="4152892"/>
                </a:lnTo>
                <a:cubicBezTo>
                  <a:pt x="4438650" y="4194980"/>
                  <a:pt x="4404530" y="4229100"/>
                  <a:pt x="4362442" y="4229100"/>
                </a:cubicBezTo>
                <a:lnTo>
                  <a:pt x="76208" y="4229100"/>
                </a:lnTo>
                <a:cubicBezTo>
                  <a:pt x="34120" y="4229100"/>
                  <a:pt x="0" y="4194980"/>
                  <a:pt x="0" y="4152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7607022" y="1571281"/>
            <a:ext cx="128588" cy="176808"/>
          </a:xfrm>
          <a:custGeom>
            <a:avLst/>
            <a:gdLst/>
            <a:ahLst/>
            <a:cxnLst/>
            <a:rect r="r" b="b" t="t" l="l"/>
            <a:pathLst>
              <a:path h="176808" w="128588">
                <a:moveTo>
                  <a:pt x="98081" y="128587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8" y="81439"/>
                  <a:pt x="128588" y="64294"/>
                </a:cubicBezTo>
                <a:cubicBezTo>
                  <a:pt x="128588" y="28799"/>
                  <a:pt x="99789" y="0"/>
                  <a:pt x="64294" y="0"/>
                </a:cubicBezTo>
                <a:cubicBezTo>
                  <a:pt x="28799" y="0"/>
                  <a:pt x="0" y="28799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2" y="114356"/>
                  <a:pt x="28095" y="121120"/>
                  <a:pt x="30505" y="128587"/>
                </a:cubicBezTo>
                <a:lnTo>
                  <a:pt x="98048" y="128587"/>
                </a:lnTo>
                <a:close/>
                <a:moveTo>
                  <a:pt x="96441" y="144661"/>
                </a:moveTo>
                <a:lnTo>
                  <a:pt x="32148" y="144661"/>
                </a:lnTo>
                <a:lnTo>
                  <a:pt x="32148" y="150019"/>
                </a:lnTo>
                <a:cubicBezTo>
                  <a:pt x="32148" y="164821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2" y="176808"/>
                  <a:pt x="96441" y="164821"/>
                  <a:pt x="96441" y="150019"/>
                </a:cubicBezTo>
                <a:lnTo>
                  <a:pt x="96441" y="144661"/>
                </a:lnTo>
                <a:close/>
                <a:moveTo>
                  <a:pt x="61615" y="37504"/>
                </a:moveTo>
                <a:cubicBezTo>
                  <a:pt x="48287" y="37504"/>
                  <a:pt x="37504" y="48287"/>
                  <a:pt x="37504" y="61615"/>
                </a:cubicBezTo>
                <a:cubicBezTo>
                  <a:pt x="37504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4"/>
                  <a:pt x="61615" y="37504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76090" y="1523674"/>
            <a:ext cx="3933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原理说明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585496" y="1904628"/>
            <a:ext cx="4038505" cy="914400"/>
          </a:xfrm>
          <a:custGeom>
            <a:avLst/>
            <a:gdLst/>
            <a:ahLst/>
            <a:cxnLst/>
            <a:rect r="r" b="b" t="t" l="l"/>
            <a:pathLst>
              <a:path h="914400" w="4038505">
                <a:moveTo>
                  <a:pt x="37909" y="0"/>
                </a:moveTo>
                <a:lnTo>
                  <a:pt x="3962309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9" y="914400"/>
                </a:cubicBez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7585496" y="1904628"/>
            <a:ext cx="37910" cy="914400"/>
          </a:xfrm>
          <a:custGeom>
            <a:avLst/>
            <a:gdLst/>
            <a:ahLst/>
            <a:cxnLst/>
            <a:rect r="r" b="b" t="t" l="l"/>
            <a:pathLst>
              <a:path h="914400" w="37910">
                <a:moveTo>
                  <a:pt x="37909" y="0"/>
                </a:moveTo>
                <a:lnTo>
                  <a:pt x="37909" y="0"/>
                </a:lnTo>
                <a:lnTo>
                  <a:pt x="37909" y="914400"/>
                </a:ln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18700" y="2018881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原始数组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718700" y="2285516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tile[32][32]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718700" y="2514014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每行32个元素，对齐到32 banks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7585496" y="2932947"/>
            <a:ext cx="4038505" cy="914400"/>
          </a:xfrm>
          <a:custGeom>
            <a:avLst/>
            <a:gdLst/>
            <a:ahLst/>
            <a:cxnLst/>
            <a:rect r="r" b="b" t="t" l="l"/>
            <a:pathLst>
              <a:path h="914400" w="4038505">
                <a:moveTo>
                  <a:pt x="37909" y="0"/>
                </a:moveTo>
                <a:lnTo>
                  <a:pt x="3962309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9" y="914400"/>
                </a:cubicBez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7585496" y="2932947"/>
            <a:ext cx="37910" cy="914400"/>
          </a:xfrm>
          <a:custGeom>
            <a:avLst/>
            <a:gdLst/>
            <a:ahLst/>
            <a:cxnLst/>
            <a:rect r="r" b="b" t="t" l="l"/>
            <a:pathLst>
              <a:path h="914400" w="37910">
                <a:moveTo>
                  <a:pt x="37909" y="0"/>
                </a:moveTo>
                <a:lnTo>
                  <a:pt x="37909" y="0"/>
                </a:lnTo>
                <a:lnTo>
                  <a:pt x="37909" y="914400"/>
                </a:ln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18700" y="3047200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Padding 后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718700" y="3313835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tile[32][33]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18700" y="3542333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每行33个元素，错开 bank 分布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7585496" y="3961274"/>
            <a:ext cx="4038505" cy="685800"/>
          </a:xfrm>
          <a:custGeom>
            <a:avLst/>
            <a:gdLst/>
            <a:ahLst/>
            <a:cxnLst/>
            <a:rect r="r" b="b" t="t" l="l"/>
            <a:pathLst>
              <a:path h="685800" w="4038505">
                <a:moveTo>
                  <a:pt x="37909" y="0"/>
                </a:moveTo>
                <a:lnTo>
                  <a:pt x="3962306" y="0"/>
                </a:lnTo>
                <a:cubicBezTo>
                  <a:pt x="4004390" y="0"/>
                  <a:pt x="4038505" y="34116"/>
                  <a:pt x="4038505" y="76199"/>
                </a:cubicBezTo>
                <a:lnTo>
                  <a:pt x="4038505" y="609601"/>
                </a:lnTo>
                <a:cubicBezTo>
                  <a:pt x="4038505" y="651684"/>
                  <a:pt x="4004390" y="685800"/>
                  <a:pt x="3962306" y="685800"/>
                </a:cubicBezTo>
                <a:lnTo>
                  <a:pt x="37909" y="685800"/>
                </a:lnTo>
                <a:cubicBezTo>
                  <a:pt x="16974" y="685800"/>
                  <a:pt x="0" y="668826"/>
                  <a:pt x="0" y="6478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7585496" y="3961274"/>
            <a:ext cx="37910" cy="685800"/>
          </a:xfrm>
          <a:custGeom>
            <a:avLst/>
            <a:gdLst/>
            <a:ahLst/>
            <a:cxnLst/>
            <a:rect r="r" b="b" t="t" l="l"/>
            <a:pathLst>
              <a:path h="685800" w="37910">
                <a:moveTo>
                  <a:pt x="37909" y="0"/>
                </a:moveTo>
                <a:lnTo>
                  <a:pt x="37909" y="0"/>
                </a:lnTo>
                <a:lnTo>
                  <a:pt x="37909" y="685800"/>
                </a:lnTo>
                <a:lnTo>
                  <a:pt x="37909" y="685800"/>
                </a:lnTo>
                <a:cubicBezTo>
                  <a:pt x="16974" y="685800"/>
                  <a:pt x="0" y="668826"/>
                  <a:pt x="0" y="6478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718700" y="4075519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效果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718700" y="4342154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同一列的元素分布在不同 bank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7376099" y="5714181"/>
            <a:ext cx="4438650" cy="762000"/>
          </a:xfrm>
          <a:custGeom>
            <a:avLst/>
            <a:gdLst/>
            <a:ahLst/>
            <a:cxnLst/>
            <a:rect r="r" b="b" t="t" l="l"/>
            <a:pathLst>
              <a:path h="762000" w="443865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685800"/>
                </a:lnTo>
                <a:cubicBezTo>
                  <a:pt x="4438650" y="727856"/>
                  <a:pt x="4404506" y="762000"/>
                  <a:pt x="4362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7557057" y="5980816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3"/>
                  <a:pt x="107646" y="157162"/>
                </a:cubicBezTo>
                <a:cubicBezTo>
                  <a:pt x="104120" y="157342"/>
                  <a:pt x="100728" y="155734"/>
                  <a:pt x="98628" y="152876"/>
                </a:cubicBezTo>
                <a:lnTo>
                  <a:pt x="77197" y="124301"/>
                </a:lnTo>
                <a:cubicBezTo>
                  <a:pt x="73624" y="119569"/>
                  <a:pt x="74607" y="112871"/>
                  <a:pt x="79339" y="109299"/>
                </a:cubicBezTo>
                <a:cubicBezTo>
                  <a:pt x="84073" y="105728"/>
                  <a:pt x="90769" y="106710"/>
                  <a:pt x="94342" y="111442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6" y="78626"/>
                  <a:pt x="143546" y="77064"/>
                  <a:pt x="148590" y="80234"/>
                </a:cubicBezTo>
                <a:cubicBezTo>
                  <a:pt x="153634" y="83403"/>
                  <a:pt x="155153" y="89967"/>
                  <a:pt x="151983" y="9501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928467" y="5866572"/>
            <a:ext cx="1981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关键技巧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928467" y="6133198"/>
            <a:ext cx="1971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增加一列 padding 即可避免冲突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14281" y="6552214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7596" y="61020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Memory Coalescing 概念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33230"/>
            <a:ext cx="5600700" cy="1143000"/>
          </a:xfrm>
          <a:custGeom>
            <a:avLst/>
            <a:gdLst/>
            <a:ahLst/>
            <a:cxnLst/>
            <a:rect r="r" b="b" t="t" l="l"/>
            <a:pathLst>
              <a:path h="1143000" w="56007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6180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Coalesced Access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Global Memory 优化关键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28407"/>
            <a:ext cx="5600700" cy="3581400"/>
          </a:xfrm>
          <a:custGeom>
            <a:avLst/>
            <a:gdLst/>
            <a:ahLst/>
            <a:cxnLst/>
            <a:rect r="r" b="b" t="t" l="l"/>
            <a:pathLst>
              <a:path h="3581400" w="56007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95209" y="285690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7"/>
                  <a:pt x="95250" y="71437"/>
                </a:cubicBezTo>
                <a:cubicBezTo>
                  <a:pt x="88679" y="71437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6"/>
                  <a:pt x="119063" y="133946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7" y="138894"/>
                  <a:pt x="71437" y="133946"/>
                </a:cubicBezTo>
                <a:cubicBezTo>
                  <a:pt x="71437" y="128996"/>
                  <a:pt x="75419" y="125016"/>
                  <a:pt x="80367" y="125016"/>
                </a:cubicBezTo>
                <a:lnTo>
                  <a:pt x="89298" y="125016"/>
                </a:lnTo>
                <a:lnTo>
                  <a:pt x="89298" y="101202"/>
                </a:lnTo>
                <a:lnTo>
                  <a:pt x="80367" y="101202"/>
                </a:lnTo>
                <a:cubicBezTo>
                  <a:pt x="75419" y="101202"/>
                  <a:pt x="71437" y="97222"/>
                  <a:pt x="71437" y="92273"/>
                </a:cubicBezTo>
                <a:cubicBezTo>
                  <a:pt x="71437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定义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71396" y="3314123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1837" y="3237933"/>
            <a:ext cx="87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连续 thread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1837" y="3504567"/>
            <a:ext cx="87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相邻的线程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71396" y="3923584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1837" y="3847393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访问连续地址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1837" y="4114019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内存地址连续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71396" y="4533035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1837" y="4456844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效率最高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1837" y="4723479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合并为一次内存事务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210279" y="1333230"/>
            <a:ext cx="5600700" cy="3543300"/>
          </a:xfrm>
          <a:custGeom>
            <a:avLst/>
            <a:gdLst/>
            <a:ahLst/>
            <a:cxnLst/>
            <a:rect r="r" b="b" t="t" l="l"/>
            <a:pathLst>
              <a:path h="3543300" w="5600700">
                <a:moveTo>
                  <a:pt x="76217" y="0"/>
                </a:moveTo>
                <a:lnTo>
                  <a:pt x="5524483" y="0"/>
                </a:lnTo>
                <a:cubicBezTo>
                  <a:pt x="5566576" y="0"/>
                  <a:pt x="5600700" y="34124"/>
                  <a:pt x="5600700" y="76217"/>
                </a:cubicBezTo>
                <a:lnTo>
                  <a:pt x="5600700" y="3467083"/>
                </a:lnTo>
                <a:cubicBezTo>
                  <a:pt x="5600700" y="3509176"/>
                  <a:pt x="5566576" y="3543300"/>
                  <a:pt x="5524483" y="3543300"/>
                </a:cubicBezTo>
                <a:lnTo>
                  <a:pt x="76217" y="3543300"/>
                </a:lnTo>
                <a:cubicBezTo>
                  <a:pt x="34124" y="3543300"/>
                  <a:pt x="0" y="3509176"/>
                  <a:pt x="0" y="3467083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0" r="0" t="58" b="57"/>
          <a:stretch>
            <a:fillRect/>
          </a:stretch>
        </p:blipFill>
        <p:spPr>
          <a:xfrm rot="0" flipH="false" flipV="false">
            <a:off x="6400720" y="1679535"/>
            <a:ext cx="5219700" cy="2847975"/>
          </a:xfrm>
          <a:prstGeom prst="roundRect">
            <a:avLst>
              <a:gd name="adj" fmla="val 1337"/>
            </a:avLst>
          </a:prstGeom>
          <a:ln w="12700">
            <a:noFill/>
            <a:prstDash val="solid"/>
          </a:ln>
        </p:spPr>
      </p:pic>
      <p:sp>
        <p:nvSpPr>
          <p:cNvPr name="Freeform 20" id="20"/>
          <p:cNvSpPr/>
          <p:nvPr/>
        </p:nvSpPr>
        <p:spPr>
          <a:xfrm rot="0" flipH="false" flipV="false">
            <a:off x="6219757" y="5039050"/>
            <a:ext cx="5581555" cy="1161955"/>
          </a:xfrm>
          <a:custGeom>
            <a:avLst/>
            <a:gdLst/>
            <a:ahLst/>
            <a:cxnLst/>
            <a:rect r="r" b="b" t="t" l="l"/>
            <a:pathLst>
              <a:path h="1161955" w="55815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3"/>
                </a:lnTo>
                <a:cubicBezTo>
                  <a:pt x="5581555" y="1127839"/>
                  <a:pt x="5547439" y="1161955"/>
                  <a:pt x="5505353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43517" y="5200910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示例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98316" y="5524705"/>
            <a:ext cx="7429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thread i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2958" y="5505673"/>
            <a:ext cx="285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387722" y="5524705"/>
            <a:ext cx="4095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A[i]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48279" y="5848573"/>
            <a:ext cx="532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连续线程访问连续地址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图片来源：LinkedIn - Mayur Jain</a:t>
            </a:r>
            <a:endParaRPr lang="en-US" sz="1100"/>
          </a:p>
        </p:txBody>
      </p:sp>
      <p:sp>
        <p:nvSpPr>
          <p:cNvPr name="AutoShape 27" id="27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498" y="59908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Non-coalesced access 问题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33230"/>
            <a:ext cx="5600700" cy="1143000"/>
          </a:xfrm>
          <a:custGeom>
            <a:avLst/>
            <a:gdLst/>
            <a:ahLst/>
            <a:cxnLst/>
            <a:rect r="r" b="b" t="t" l="l"/>
            <a:pathLst>
              <a:path h="1143000" w="56007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6180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错误访问模式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导致性能严重下降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28407"/>
            <a:ext cx="5600700" cy="3581400"/>
          </a:xfrm>
          <a:custGeom>
            <a:avLst/>
            <a:gdLst/>
            <a:ahLst/>
            <a:cxnLst/>
            <a:rect r="r" b="b" t="t" l="l"/>
            <a:pathLst>
              <a:path h="3581400" w="56007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95209" y="285690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4" y="58638"/>
                  <a:pt x="71289" y="58638"/>
                  <a:pt x="74748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4"/>
                  <a:pt x="131787" y="71289"/>
                  <a:pt x="128290" y="74748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1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8" y="128290"/>
                </a:lnTo>
                <a:cubicBezTo>
                  <a:pt x="71251" y="131787"/>
                  <a:pt x="65595" y="131787"/>
                  <a:pt x="62136" y="128290"/>
                </a:cubicBezTo>
                <a:cubicBezTo>
                  <a:pt x="58675" y="124791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8"/>
                </a:lnTo>
                <a:cubicBezTo>
                  <a:pt x="58638" y="71251"/>
                  <a:pt x="58638" y="65595"/>
                  <a:pt x="62136" y="62136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问题示例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90352" y="3237933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90352" y="3237933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498" y="3352186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14115" y="3314123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57012" y="3352186"/>
            <a:ext cx="4095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A[0]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90352" y="3809256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90352" y="3809256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498" y="3923509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14115" y="3885447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57012" y="3923509"/>
            <a:ext cx="66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A[1000]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90352" y="4380579"/>
            <a:ext cx="5200555" cy="457200"/>
          </a:xfrm>
          <a:custGeom>
            <a:avLst/>
            <a:gdLst/>
            <a:ahLst/>
            <a:cxnLst/>
            <a:rect r="r" b="b" t="t" l="l"/>
            <a:pathLst>
              <a:path h="4572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90352" y="4380579"/>
            <a:ext cx="37909" cy="457200"/>
          </a:xfrm>
          <a:custGeom>
            <a:avLst/>
            <a:gdLst/>
            <a:ahLst/>
            <a:cxnLst/>
            <a:rect r="r" b="b" t="t" l="l"/>
            <a:pathLst>
              <a:path h="457200" w="37909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498" y="4494833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thread 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115" y="4456770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057012" y="4494833"/>
            <a:ext cx="66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A[2000]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580874" y="4999508"/>
            <a:ext cx="5200555" cy="857155"/>
          </a:xfrm>
          <a:custGeom>
            <a:avLst/>
            <a:gdLst/>
            <a:ahLst/>
            <a:cxnLst/>
            <a:rect r="r" b="b" t="t" l="l"/>
            <a:pathLst>
              <a:path h="857155" w="5200555">
                <a:moveTo>
                  <a:pt x="76201" y="0"/>
                </a:moveTo>
                <a:lnTo>
                  <a:pt x="5124353" y="0"/>
                </a:lnTo>
                <a:cubicBezTo>
                  <a:pt x="5166439" y="0"/>
                  <a:pt x="5200555" y="34116"/>
                  <a:pt x="5200555" y="76201"/>
                </a:cubicBezTo>
                <a:lnTo>
                  <a:pt x="5200555" y="780953"/>
                </a:lnTo>
                <a:cubicBezTo>
                  <a:pt x="5200555" y="823039"/>
                  <a:pt x="5166439" y="857155"/>
                  <a:pt x="5124353" y="857155"/>
                </a:cubicBezTo>
                <a:lnTo>
                  <a:pt x="76201" y="857155"/>
                </a:lnTo>
                <a:cubicBezTo>
                  <a:pt x="34116" y="857155"/>
                  <a:pt x="0" y="823039"/>
                  <a:pt x="0" y="7809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6501" y="5123241"/>
            <a:ext cx="502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步长（stride）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3164" y="5389876"/>
            <a:ext cx="5095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1000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210279" y="1333230"/>
            <a:ext cx="5600700" cy="3429000"/>
          </a:xfrm>
          <a:custGeom>
            <a:avLst/>
            <a:gdLst/>
            <a:ahLst/>
            <a:cxnLst/>
            <a:rect r="r" b="b" t="t" l="l"/>
            <a:pathLst>
              <a:path h="3429000" w="56007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3352808"/>
                </a:lnTo>
                <a:cubicBezTo>
                  <a:pt x="5600700" y="3394888"/>
                  <a:pt x="5566588" y="3429000"/>
                  <a:pt x="5524508" y="3429000"/>
                </a:cubicBezTo>
                <a:lnTo>
                  <a:pt x="76192" y="3429000"/>
                </a:lnTo>
                <a:cubicBezTo>
                  <a:pt x="34112" y="3429000"/>
                  <a:pt x="0" y="3394888"/>
                  <a:pt x="0" y="3352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60" r="60" t="0" b="0"/>
          <a:stretch>
            <a:fillRect/>
          </a:stretch>
        </p:blipFill>
        <p:spPr>
          <a:xfrm rot="0" flipH="false" flipV="false">
            <a:off x="6400720" y="2039531"/>
            <a:ext cx="5219700" cy="2019300"/>
          </a:xfrm>
          <a:prstGeom prst="roundRect">
            <a:avLst>
              <a:gd name="adj" fmla="val 1886"/>
            </a:avLst>
          </a:prstGeom>
          <a:ln w="12700">
            <a:noFill/>
            <a:prstDash val="solid"/>
          </a:ln>
        </p:spPr>
      </p:pic>
      <p:sp>
        <p:nvSpPr>
          <p:cNvPr name="Freeform 29" id="29"/>
          <p:cNvSpPr/>
          <p:nvPr/>
        </p:nvSpPr>
        <p:spPr>
          <a:xfrm rot="0" flipH="false" flipV="false">
            <a:off x="6210279" y="4915179"/>
            <a:ext cx="5600700" cy="1295400"/>
          </a:xfrm>
          <a:custGeom>
            <a:avLst/>
            <a:gdLst/>
            <a:ahLst/>
            <a:cxnLst/>
            <a:rect r="r" b="b" t="t" l="l"/>
            <a:pathLst>
              <a:path h="1295400" w="56007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1219205"/>
                </a:lnTo>
                <a:cubicBezTo>
                  <a:pt x="5600700" y="1261287"/>
                  <a:pt x="5566587" y="1295400"/>
                  <a:pt x="5524505" y="1295400"/>
                </a:cubicBezTo>
                <a:lnTo>
                  <a:pt x="76195" y="1295400"/>
                </a:lnTo>
                <a:cubicBezTo>
                  <a:pt x="34141" y="1295400"/>
                  <a:pt x="0" y="1261259"/>
                  <a:pt x="0" y="12192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423825" y="5143677"/>
            <a:ext cx="191915" cy="178594"/>
          </a:xfrm>
          <a:custGeom>
            <a:avLst/>
            <a:gdLst/>
            <a:ahLst/>
            <a:cxnLst/>
            <a:rect r="r" b="b" t="t" l="l"/>
            <a:pathLst>
              <a:path h="178594" w="191915">
                <a:moveTo>
                  <a:pt x="95957" y="0"/>
                </a:moveTo>
                <a:cubicBezTo>
                  <a:pt x="101426" y="0"/>
                  <a:pt x="106448" y="3014"/>
                  <a:pt x="109055" y="7813"/>
                </a:cubicBezTo>
                <a:lnTo>
                  <a:pt x="189421" y="156642"/>
                </a:lnTo>
                <a:cubicBezTo>
                  <a:pt x="191914" y="161254"/>
                  <a:pt x="191803" y="166836"/>
                  <a:pt x="189123" y="171338"/>
                </a:cubicBezTo>
                <a:cubicBezTo>
                  <a:pt x="186444" y="175840"/>
                  <a:pt x="181570" y="178594"/>
                  <a:pt x="176324" y="178594"/>
                </a:cubicBezTo>
                <a:lnTo>
                  <a:pt x="15590" y="178594"/>
                </a:lnTo>
                <a:cubicBezTo>
                  <a:pt x="10344" y="178594"/>
                  <a:pt x="5508" y="175840"/>
                  <a:pt x="2791" y="171338"/>
                </a:cubicBezTo>
                <a:cubicBezTo>
                  <a:pt x="75" y="166836"/>
                  <a:pt x="0" y="161254"/>
                  <a:pt x="2493" y="156642"/>
                </a:cubicBezTo>
                <a:lnTo>
                  <a:pt x="82859" y="7813"/>
                </a:lnTo>
                <a:cubicBezTo>
                  <a:pt x="85466" y="3014"/>
                  <a:pt x="90488" y="0"/>
                  <a:pt x="95957" y="0"/>
                </a:cubicBezTo>
                <a:close/>
                <a:moveTo>
                  <a:pt x="95957" y="62508"/>
                </a:moveTo>
                <a:cubicBezTo>
                  <a:pt x="91008" y="62508"/>
                  <a:pt x="87028" y="66490"/>
                  <a:pt x="87028" y="71437"/>
                </a:cubicBezTo>
                <a:lnTo>
                  <a:pt x="87028" y="113109"/>
                </a:lnTo>
                <a:cubicBezTo>
                  <a:pt x="87028" y="118058"/>
                  <a:pt x="91008" y="122039"/>
                  <a:pt x="95957" y="122039"/>
                </a:cubicBezTo>
                <a:cubicBezTo>
                  <a:pt x="100906" y="122039"/>
                  <a:pt x="104886" y="118058"/>
                  <a:pt x="104886" y="113109"/>
                </a:cubicBezTo>
                <a:lnTo>
                  <a:pt x="104886" y="71437"/>
                </a:lnTo>
                <a:cubicBezTo>
                  <a:pt x="104886" y="66490"/>
                  <a:pt x="100906" y="62508"/>
                  <a:pt x="95957" y="62508"/>
                </a:cubicBezTo>
                <a:close/>
                <a:moveTo>
                  <a:pt x="105891" y="142875"/>
                </a:moveTo>
                <a:cubicBezTo>
                  <a:pt x="106117" y="139188"/>
                  <a:pt x="104278" y="135679"/>
                  <a:pt x="101117" y="133767"/>
                </a:cubicBezTo>
                <a:cubicBezTo>
                  <a:pt x="97956" y="131855"/>
                  <a:pt x="93995" y="131855"/>
                  <a:pt x="90834" y="133767"/>
                </a:cubicBezTo>
                <a:cubicBezTo>
                  <a:pt x="87673" y="135679"/>
                  <a:pt x="85834" y="139188"/>
                  <a:pt x="86060" y="142875"/>
                </a:cubicBezTo>
                <a:cubicBezTo>
                  <a:pt x="85834" y="146562"/>
                  <a:pt x="87673" y="150071"/>
                  <a:pt x="90834" y="151983"/>
                </a:cubicBezTo>
                <a:cubicBezTo>
                  <a:pt x="93995" y="153895"/>
                  <a:pt x="97956" y="153895"/>
                  <a:pt x="101117" y="151983"/>
                </a:cubicBezTo>
                <a:cubicBezTo>
                  <a:pt x="104278" y="150071"/>
                  <a:pt x="106117" y="146562"/>
                  <a:pt x="105891" y="1428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38845" y="5105614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导致问题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400720" y="556276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53102" y="5486577"/>
            <a:ext cx="18192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多次 memory transaction</a:t>
            </a:r>
            <a:endParaRPr lang="en-US" sz="1100"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6400720" y="5867530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53102" y="5791340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性能严重下降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图片来源：POP CoE</a:t>
            </a:r>
            <a:endParaRPr lang="en-US" sz="1100"/>
          </a:p>
        </p:txBody>
      </p:sp>
      <p:sp>
        <p:nvSpPr>
          <p:cNvPr name="AutoShape 37" id="37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7490" y="664612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Cache 局部性（Locality）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17463" y="1111025"/>
            <a:ext cx="5683250" cy="952500"/>
          </a:xfrm>
          <a:custGeom>
            <a:avLst/>
            <a:gdLst/>
            <a:ahLst/>
            <a:cxnLst/>
            <a:rect r="r" b="b" t="t" l="l"/>
            <a:pathLst>
              <a:path h="952500" w="568325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7941" y="1301502"/>
            <a:ext cx="5397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两种局部性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7941" y="1650620"/>
            <a:ext cx="53736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提高 cache hit rate 的关键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33259" y="2190339"/>
            <a:ext cx="2762171" cy="4330675"/>
          </a:xfrm>
          <a:custGeom>
            <a:avLst/>
            <a:gdLst/>
            <a:ahLst/>
            <a:cxnLst/>
            <a:rect r="r" b="b" t="t" l="l"/>
            <a:pathLst>
              <a:path h="4330675" w="2762171">
                <a:moveTo>
                  <a:pt x="31593" y="0"/>
                </a:moveTo>
                <a:lnTo>
                  <a:pt x="2698669" y="0"/>
                </a:lnTo>
                <a:cubicBezTo>
                  <a:pt x="2733740" y="0"/>
                  <a:pt x="2762171" y="18292"/>
                  <a:pt x="2762171" y="40857"/>
                </a:cubicBezTo>
                <a:lnTo>
                  <a:pt x="2762171" y="4289819"/>
                </a:lnTo>
                <a:cubicBezTo>
                  <a:pt x="2762171" y="4312383"/>
                  <a:pt x="2733740" y="4330675"/>
                  <a:pt x="2698669" y="4330675"/>
                </a:cubicBezTo>
                <a:lnTo>
                  <a:pt x="31593" y="4330675"/>
                </a:lnTo>
                <a:cubicBezTo>
                  <a:pt x="14144" y="4330675"/>
                  <a:pt x="0" y="4321575"/>
                  <a:pt x="0" y="4310350"/>
                </a:cubicBezTo>
                <a:lnTo>
                  <a:pt x="0" y="20326"/>
                </a:lnTo>
                <a:cubicBezTo>
                  <a:pt x="0" y="9108"/>
                  <a:pt x="14155" y="0"/>
                  <a:pt x="3159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33258" y="2190339"/>
            <a:ext cx="45719" cy="4350200"/>
          </a:xfrm>
          <a:custGeom>
            <a:avLst/>
            <a:gdLst/>
            <a:ahLst/>
            <a:cxnLst/>
            <a:rect r="r" b="b" t="t" l="l"/>
            <a:pathLst>
              <a:path h="4350200" w="45719">
                <a:moveTo>
                  <a:pt x="45719" y="0"/>
                </a:moveTo>
                <a:lnTo>
                  <a:pt x="45719" y="0"/>
                </a:lnTo>
                <a:lnTo>
                  <a:pt x="45719" y="4350200"/>
                </a:lnTo>
                <a:lnTo>
                  <a:pt x="45719" y="4350200"/>
                </a:lnTo>
                <a:cubicBezTo>
                  <a:pt x="20469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20486" y="0"/>
                  <a:pt x="4571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519848" y="2373003"/>
            <a:ext cx="166501" cy="174252"/>
          </a:xfrm>
          <a:custGeom>
            <a:avLst/>
            <a:gdLst/>
            <a:ahLst/>
            <a:cxnLst/>
            <a:rect r="r" b="b" t="t" l="l"/>
            <a:pathLst>
              <a:path h="174252" w="166501">
                <a:moveTo>
                  <a:pt x="143155" y="30912"/>
                </a:moveTo>
                <a:lnTo>
                  <a:pt x="146657" y="34231"/>
                </a:lnTo>
                <a:lnTo>
                  <a:pt x="146657" y="17674"/>
                </a:lnTo>
                <a:cubicBezTo>
                  <a:pt x="146657" y="12185"/>
                  <a:pt x="151091" y="7751"/>
                  <a:pt x="156578" y="7751"/>
                </a:cubicBezTo>
                <a:cubicBezTo>
                  <a:pt x="162067" y="7751"/>
                  <a:pt x="166501" y="12185"/>
                  <a:pt x="166501" y="17674"/>
                </a:cubicBezTo>
                <a:lnTo>
                  <a:pt x="166501" y="57360"/>
                </a:lnTo>
                <a:cubicBezTo>
                  <a:pt x="166501" y="62847"/>
                  <a:pt x="162067" y="67282"/>
                  <a:pt x="156578" y="67282"/>
                </a:cubicBezTo>
                <a:lnTo>
                  <a:pt x="116892" y="67282"/>
                </a:lnTo>
                <a:cubicBezTo>
                  <a:pt x="111405" y="67282"/>
                  <a:pt x="106970" y="62847"/>
                  <a:pt x="106970" y="57360"/>
                </a:cubicBezTo>
                <a:cubicBezTo>
                  <a:pt x="106970" y="51872"/>
                  <a:pt x="111405" y="47439"/>
                  <a:pt x="116892" y="47439"/>
                </a:cubicBezTo>
                <a:lnTo>
                  <a:pt x="131742" y="47439"/>
                </a:lnTo>
                <a:lnTo>
                  <a:pt x="129387" y="45206"/>
                </a:lnTo>
                <a:cubicBezTo>
                  <a:pt x="129326" y="45144"/>
                  <a:pt x="129263" y="45081"/>
                  <a:pt x="129201" y="45020"/>
                </a:cubicBezTo>
                <a:cubicBezTo>
                  <a:pt x="105947" y="21765"/>
                  <a:pt x="68274" y="21765"/>
                  <a:pt x="45020" y="45020"/>
                </a:cubicBezTo>
                <a:cubicBezTo>
                  <a:pt x="21765" y="68274"/>
                  <a:pt x="21765" y="105947"/>
                  <a:pt x="45020" y="129201"/>
                </a:cubicBezTo>
                <a:cubicBezTo>
                  <a:pt x="68274" y="152455"/>
                  <a:pt x="105947" y="152455"/>
                  <a:pt x="129201" y="129201"/>
                </a:cubicBezTo>
                <a:cubicBezTo>
                  <a:pt x="131742" y="126659"/>
                  <a:pt x="134007" y="123961"/>
                  <a:pt x="135991" y="121107"/>
                </a:cubicBezTo>
                <a:cubicBezTo>
                  <a:pt x="139124" y="116613"/>
                  <a:pt x="145324" y="115527"/>
                  <a:pt x="149820" y="118659"/>
                </a:cubicBezTo>
                <a:cubicBezTo>
                  <a:pt x="154317" y="121791"/>
                  <a:pt x="155401" y="127992"/>
                  <a:pt x="152269" y="132488"/>
                </a:cubicBezTo>
                <a:cubicBezTo>
                  <a:pt x="149634" y="136270"/>
                  <a:pt x="146626" y="139867"/>
                  <a:pt x="143247" y="143247"/>
                </a:cubicBezTo>
                <a:cubicBezTo>
                  <a:pt x="112242" y="174252"/>
                  <a:pt x="61980" y="174252"/>
                  <a:pt x="31005" y="143247"/>
                </a:cubicBezTo>
                <a:cubicBezTo>
                  <a:pt x="31" y="112242"/>
                  <a:pt x="0" y="62010"/>
                  <a:pt x="31005" y="31005"/>
                </a:cubicBezTo>
                <a:cubicBezTo>
                  <a:pt x="61980" y="31"/>
                  <a:pt x="112148" y="0"/>
                  <a:pt x="143155" y="3091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06193" y="2349035"/>
            <a:ext cx="23098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Temporal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07756" y="2761769"/>
            <a:ext cx="63500" cy="63500"/>
          </a:xfrm>
          <a:custGeom>
            <a:avLst/>
            <a:gdLst/>
            <a:ahLst/>
            <a:cxnLst/>
            <a:rect r="r" b="b" t="t" l="l"/>
            <a:pathLst>
              <a:path h="635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4741" y="2698277"/>
            <a:ext cx="1079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重复访问相同数据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07756" y="3047457"/>
            <a:ext cx="63500" cy="63500"/>
          </a:xfrm>
          <a:custGeom>
            <a:avLst/>
            <a:gdLst/>
            <a:ahLst/>
            <a:cxnLst/>
            <a:rect r="r" b="b" t="t" l="l"/>
            <a:pathLst>
              <a:path h="635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4741" y="2983965"/>
            <a:ext cx="698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时间局部性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07756" y="3269653"/>
            <a:ext cx="2428875" cy="349250"/>
          </a:xfrm>
          <a:custGeom>
            <a:avLst/>
            <a:gdLst/>
            <a:ahLst/>
            <a:cxnLst/>
            <a:rect r="r" b="b" t="t" l="l"/>
            <a:pathLst>
              <a:path h="349250" w="2428875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2964" y="3364857"/>
            <a:ext cx="2293938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示例：循环中重复使用的变量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238369" y="2190339"/>
            <a:ext cx="2762171" cy="4350200"/>
          </a:xfrm>
          <a:custGeom>
            <a:avLst/>
            <a:gdLst/>
            <a:ahLst/>
            <a:cxnLst/>
            <a:rect r="r" b="b" t="t" l="l"/>
            <a:pathLst>
              <a:path h="4350200" w="2762171">
                <a:moveTo>
                  <a:pt x="31593" y="0"/>
                </a:moveTo>
                <a:lnTo>
                  <a:pt x="2698669" y="0"/>
                </a:lnTo>
                <a:cubicBezTo>
                  <a:pt x="2733740" y="0"/>
                  <a:pt x="2762171" y="18374"/>
                  <a:pt x="2762171" y="41041"/>
                </a:cubicBezTo>
                <a:lnTo>
                  <a:pt x="2762171" y="4309160"/>
                </a:lnTo>
                <a:cubicBezTo>
                  <a:pt x="2762171" y="4331825"/>
                  <a:pt x="2733740" y="4350200"/>
                  <a:pt x="2698669" y="4350200"/>
                </a:cubicBezTo>
                <a:lnTo>
                  <a:pt x="31593" y="4350200"/>
                </a:lnTo>
                <a:cubicBezTo>
                  <a:pt x="14144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14155" y="0"/>
                  <a:pt x="3159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238369" y="2190339"/>
            <a:ext cx="51402" cy="4350200"/>
          </a:xfrm>
          <a:custGeom>
            <a:avLst/>
            <a:gdLst/>
            <a:ahLst/>
            <a:cxnLst/>
            <a:rect r="r" b="b" t="t" l="l"/>
            <a:pathLst>
              <a:path h="4350200" w="51402">
                <a:moveTo>
                  <a:pt x="51402" y="0"/>
                </a:moveTo>
                <a:lnTo>
                  <a:pt x="51402" y="0"/>
                </a:lnTo>
                <a:lnTo>
                  <a:pt x="51402" y="4350200"/>
                </a:lnTo>
                <a:lnTo>
                  <a:pt x="51402" y="4350200"/>
                </a:lnTo>
                <a:cubicBezTo>
                  <a:pt x="23014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23033" y="0"/>
                  <a:pt x="51402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3431749" y="2379948"/>
            <a:ext cx="160703" cy="160331"/>
          </a:xfrm>
          <a:custGeom>
            <a:avLst/>
            <a:gdLst/>
            <a:ahLst/>
            <a:cxnLst/>
            <a:rect r="r" b="b" t="t" l="l"/>
            <a:pathLst>
              <a:path h="160331" w="160703">
                <a:moveTo>
                  <a:pt x="156796" y="126876"/>
                </a:moveTo>
                <a:lnTo>
                  <a:pt x="127031" y="156641"/>
                </a:lnTo>
                <a:cubicBezTo>
                  <a:pt x="124178" y="159494"/>
                  <a:pt x="119930" y="160331"/>
                  <a:pt x="116210" y="158781"/>
                </a:cubicBezTo>
                <a:cubicBezTo>
                  <a:pt x="112489" y="157231"/>
                  <a:pt x="110102" y="153634"/>
                  <a:pt x="110102" y="149633"/>
                </a:cubicBezTo>
                <a:lnTo>
                  <a:pt x="110102" y="129790"/>
                </a:lnTo>
                <a:lnTo>
                  <a:pt x="10884" y="129790"/>
                </a:lnTo>
                <a:cubicBezTo>
                  <a:pt x="5395" y="129790"/>
                  <a:pt x="961" y="125357"/>
                  <a:pt x="961" y="119868"/>
                </a:cubicBezTo>
                <a:cubicBezTo>
                  <a:pt x="961" y="114380"/>
                  <a:pt x="5395" y="109947"/>
                  <a:pt x="10884" y="109947"/>
                </a:cubicBezTo>
                <a:lnTo>
                  <a:pt x="110102" y="109947"/>
                </a:lnTo>
                <a:lnTo>
                  <a:pt x="110102" y="90104"/>
                </a:lnTo>
                <a:cubicBezTo>
                  <a:pt x="110102" y="86103"/>
                  <a:pt x="112520" y="82475"/>
                  <a:pt x="116241" y="80925"/>
                </a:cubicBezTo>
                <a:cubicBezTo>
                  <a:pt x="119961" y="79375"/>
                  <a:pt x="124209" y="80243"/>
                  <a:pt x="127062" y="83065"/>
                </a:cubicBezTo>
                <a:lnTo>
                  <a:pt x="156827" y="112830"/>
                </a:lnTo>
                <a:cubicBezTo>
                  <a:pt x="160703" y="116706"/>
                  <a:pt x="160703" y="123000"/>
                  <a:pt x="156827" y="126876"/>
                </a:cubicBezTo>
                <a:close/>
                <a:moveTo>
                  <a:pt x="3876" y="47501"/>
                </a:moveTo>
                <a:cubicBezTo>
                  <a:pt x="0" y="43625"/>
                  <a:pt x="0" y="37331"/>
                  <a:pt x="3876" y="33455"/>
                </a:cubicBezTo>
                <a:lnTo>
                  <a:pt x="33641" y="3690"/>
                </a:lnTo>
                <a:cubicBezTo>
                  <a:pt x="36494" y="836"/>
                  <a:pt x="40742" y="0"/>
                  <a:pt x="44462" y="1550"/>
                </a:cubicBezTo>
                <a:cubicBezTo>
                  <a:pt x="48183" y="3100"/>
                  <a:pt x="50570" y="6728"/>
                  <a:pt x="50570" y="10729"/>
                </a:cubicBezTo>
                <a:lnTo>
                  <a:pt x="50570" y="30572"/>
                </a:lnTo>
                <a:lnTo>
                  <a:pt x="149788" y="30572"/>
                </a:lnTo>
                <a:cubicBezTo>
                  <a:pt x="155277" y="30572"/>
                  <a:pt x="159711" y="35005"/>
                  <a:pt x="159711" y="40494"/>
                </a:cubicBezTo>
                <a:cubicBezTo>
                  <a:pt x="159711" y="45982"/>
                  <a:pt x="155277" y="50415"/>
                  <a:pt x="149788" y="50415"/>
                </a:cubicBezTo>
                <a:lnTo>
                  <a:pt x="50570" y="50415"/>
                </a:lnTo>
                <a:lnTo>
                  <a:pt x="50570" y="70258"/>
                </a:lnTo>
                <a:cubicBezTo>
                  <a:pt x="50570" y="74259"/>
                  <a:pt x="48152" y="77887"/>
                  <a:pt x="44431" y="79437"/>
                </a:cubicBezTo>
                <a:cubicBezTo>
                  <a:pt x="40711" y="80987"/>
                  <a:pt x="36463" y="80119"/>
                  <a:pt x="33610" y="77297"/>
                </a:cubicBezTo>
                <a:lnTo>
                  <a:pt x="3845" y="47532"/>
                </a:ln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11303" y="2349035"/>
            <a:ext cx="23098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Spatial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412866" y="2761769"/>
            <a:ext cx="63500" cy="63500"/>
          </a:xfrm>
          <a:custGeom>
            <a:avLst/>
            <a:gdLst/>
            <a:ahLst/>
            <a:cxnLst/>
            <a:rect r="r" b="b" t="t" l="l"/>
            <a:pathLst>
              <a:path h="635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39851" y="2698277"/>
            <a:ext cx="825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访问邻近数据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412866" y="3047457"/>
            <a:ext cx="63500" cy="63500"/>
          </a:xfrm>
          <a:custGeom>
            <a:avLst/>
            <a:gdLst/>
            <a:ahLst/>
            <a:cxnLst/>
            <a:rect r="r" b="b" t="t" l="l"/>
            <a:pathLst>
              <a:path h="63500" w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539851" y="2983965"/>
            <a:ext cx="698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空间局部性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3412866" y="3269653"/>
            <a:ext cx="2428875" cy="349250"/>
          </a:xfrm>
          <a:custGeom>
            <a:avLst/>
            <a:gdLst/>
            <a:ahLst/>
            <a:cxnLst/>
            <a:rect r="r" b="b" t="t" l="l"/>
            <a:pathLst>
              <a:path h="349250" w="2428875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508074" y="3364857"/>
            <a:ext cx="2293938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示例：顺序访问数组元素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131560" y="652780"/>
            <a:ext cx="5688330" cy="5949950"/>
          </a:xfrm>
          <a:custGeom>
            <a:avLst/>
            <a:gdLst/>
            <a:ahLst/>
            <a:cxnLst/>
            <a:rect r="r" b="b" t="t" l="l"/>
            <a:pathLst>
              <a:path h="5949950" w="5688330">
                <a:moveTo>
                  <a:pt x="63539" y="0"/>
                </a:moveTo>
                <a:lnTo>
                  <a:pt x="5624791" y="0"/>
                </a:lnTo>
                <a:cubicBezTo>
                  <a:pt x="5659882" y="0"/>
                  <a:pt x="5688330" y="24210"/>
                  <a:pt x="5688330" y="54075"/>
                </a:cubicBezTo>
                <a:lnTo>
                  <a:pt x="5688330" y="5895875"/>
                </a:lnTo>
                <a:cubicBezTo>
                  <a:pt x="5688330" y="5925740"/>
                  <a:pt x="5659882" y="5949950"/>
                  <a:pt x="5624791" y="5949950"/>
                </a:cubicBezTo>
                <a:lnTo>
                  <a:pt x="63539" y="5949950"/>
                </a:lnTo>
                <a:cubicBezTo>
                  <a:pt x="28448" y="5949950"/>
                  <a:pt x="0" y="5925740"/>
                  <a:pt x="0" y="5895875"/>
                </a:cubicBezTo>
                <a:lnTo>
                  <a:pt x="0" y="54075"/>
                </a:lnTo>
                <a:cubicBezTo>
                  <a:pt x="0" y="24230"/>
                  <a:pt x="28471" y="0"/>
                  <a:pt x="63539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185535" y="635000"/>
            <a:ext cx="3919220" cy="5106670"/>
          </a:xfrm>
          <a:prstGeom prst="roundRect">
            <a:avLst>
              <a:gd name="adj" fmla="val 634"/>
            </a:avLst>
          </a:prstGeom>
          <a:ln w="12700">
            <a:noFill/>
            <a:prstDash val="solid"/>
          </a:ln>
        </p:spPr>
      </p:pic>
      <p:sp>
        <p:nvSpPr>
          <p:cNvPr name="Freeform 28" id="28"/>
          <p:cNvSpPr/>
          <p:nvPr/>
        </p:nvSpPr>
        <p:spPr>
          <a:xfrm rot="0" flipH="false" flipV="false">
            <a:off x="6191237" y="5822514"/>
            <a:ext cx="5683250" cy="698500"/>
          </a:xfrm>
          <a:custGeom>
            <a:avLst/>
            <a:gdLst/>
            <a:ahLst/>
            <a:cxnLst/>
            <a:rect r="r" b="b" t="t" l="l"/>
            <a:pathLst>
              <a:path h="698500" w="568325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634999"/>
                </a:lnTo>
                <a:cubicBezTo>
                  <a:pt x="5683250" y="670070"/>
                  <a:pt x="5654820" y="698500"/>
                  <a:pt x="5619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336928" y="6114011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166688" y="95250"/>
                </a:moveTo>
                <a:cubicBezTo>
                  <a:pt x="166688" y="55823"/>
                  <a:pt x="134677" y="23813"/>
                  <a:pt x="95250" y="23813"/>
                </a:cubicBezTo>
                <a:cubicBezTo>
                  <a:pt x="55823" y="23813"/>
                  <a:pt x="23812" y="55823"/>
                  <a:pt x="23812" y="95250"/>
                </a:cubicBezTo>
                <a:cubicBezTo>
                  <a:pt x="23812" y="134677"/>
                  <a:pt x="55823" y="166687"/>
                  <a:pt x="95250" y="166687"/>
                </a:cubicBezTo>
                <a:cubicBezTo>
                  <a:pt x="134677" y="166687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7" y="125016"/>
                  <a:pt x="125016" y="111677"/>
                  <a:pt x="125016" y="95250"/>
                </a:cubicBezTo>
                <a:cubicBezTo>
                  <a:pt x="125016" y="78823"/>
                  <a:pt x="111677" y="65484"/>
                  <a:pt x="95250" y="65484"/>
                </a:cubicBezTo>
                <a:cubicBezTo>
                  <a:pt x="78823" y="65484"/>
                  <a:pt x="65484" y="78823"/>
                  <a:pt x="65484" y="95250"/>
                </a:cubicBezTo>
                <a:cubicBezTo>
                  <a:pt x="65484" y="111677"/>
                  <a:pt x="78823" y="125016"/>
                  <a:pt x="95250" y="125016"/>
                </a:cubicBezTo>
                <a:close/>
                <a:moveTo>
                  <a:pt x="95250" y="41673"/>
                </a:moveTo>
                <a:cubicBezTo>
                  <a:pt x="124821" y="41673"/>
                  <a:pt x="148827" y="65679"/>
                  <a:pt x="148827" y="95250"/>
                </a:cubicBezTo>
                <a:cubicBezTo>
                  <a:pt x="148827" y="124821"/>
                  <a:pt x="124821" y="148827"/>
                  <a:pt x="95250" y="148827"/>
                </a:cubicBezTo>
                <a:cubicBezTo>
                  <a:pt x="65679" y="148827"/>
                  <a:pt x="41673" y="124821"/>
                  <a:pt x="41673" y="95250"/>
                </a:cubicBezTo>
                <a:cubicBezTo>
                  <a:pt x="41673" y="65679"/>
                  <a:pt x="65679" y="41673"/>
                  <a:pt x="95250" y="41673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46437" y="5975841"/>
            <a:ext cx="1016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优化目标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46437" y="6216447"/>
            <a:ext cx="1008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提高 cache hit rate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61900" y="8984599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图片来源：Medium - InterviewNoodle</a:t>
            </a:r>
            <a:endParaRPr lang="en-US" sz="1100"/>
          </a:p>
        </p:txBody>
      </p:sp>
      <p:sp>
        <p:nvSpPr>
          <p:cNvPr name="AutoShape 33" id="3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0458" y="59042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Reduction Kernel 问题定义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33230"/>
            <a:ext cx="5600700" cy="1143000"/>
          </a:xfrm>
          <a:custGeom>
            <a:avLst/>
            <a:gdLst/>
            <a:ahLst/>
            <a:cxnLst/>
            <a:rect r="r" b="b" t="t" l="l"/>
            <a:pathLst>
              <a:path h="1143000" w="56007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6181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Reduction 示例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计算数组元素之和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28407"/>
            <a:ext cx="5600700" cy="1866900"/>
          </a:xfrm>
          <a:custGeom>
            <a:avLst/>
            <a:gdLst/>
            <a:ahLst/>
            <a:cxnLst/>
            <a:rect r="r" b="b" t="t" l="l"/>
            <a:pathLst>
              <a:path h="1866900" w="5600700">
                <a:moveTo>
                  <a:pt x="76208" y="0"/>
                </a:moveTo>
                <a:lnTo>
                  <a:pt x="5524492" y="0"/>
                </a:lnTo>
                <a:cubicBezTo>
                  <a:pt x="5566581" y="0"/>
                  <a:pt x="5600700" y="34119"/>
                  <a:pt x="5600700" y="76208"/>
                </a:cubicBezTo>
                <a:lnTo>
                  <a:pt x="5600700" y="1790692"/>
                </a:lnTo>
                <a:cubicBezTo>
                  <a:pt x="5600700" y="1832781"/>
                  <a:pt x="5566581" y="1866900"/>
                  <a:pt x="5524492" y="1866900"/>
                </a:cubicBezTo>
                <a:lnTo>
                  <a:pt x="76208" y="1866900"/>
                </a:lnTo>
                <a:cubicBezTo>
                  <a:pt x="34119" y="1866900"/>
                  <a:pt x="0" y="1832781"/>
                  <a:pt x="0" y="1790692"/>
                </a:cubicBezTo>
                <a:lnTo>
                  <a:pt x="0" y="76208"/>
                </a:lnTo>
                <a:cubicBezTo>
                  <a:pt x="0" y="34146"/>
                  <a:pt x="34146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问题定义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590352" y="3237942"/>
            <a:ext cx="5200555" cy="1066800"/>
          </a:xfrm>
          <a:custGeom>
            <a:avLst/>
            <a:gdLst/>
            <a:ahLst/>
            <a:cxnLst/>
            <a:rect r="r" b="b" t="t" l="l"/>
            <a:pathLst>
              <a:path h="1066800" w="5200555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990597"/>
                </a:lnTo>
                <a:cubicBezTo>
                  <a:pt x="5200555" y="1032683"/>
                  <a:pt x="5166439" y="1066800"/>
                  <a:pt x="5124353" y="1066800"/>
                </a:cubicBezTo>
                <a:lnTo>
                  <a:pt x="37910" y="1066800"/>
                </a:lnTo>
                <a:cubicBezTo>
                  <a:pt x="16974" y="1066800"/>
                  <a:pt x="0" y="1049826"/>
                  <a:pt x="0" y="10288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90352" y="3237942"/>
            <a:ext cx="37909" cy="1066800"/>
          </a:xfrm>
          <a:custGeom>
            <a:avLst/>
            <a:gdLst/>
            <a:ahLst/>
            <a:cxnLst/>
            <a:rect r="r" b="b" t="t" l="l"/>
            <a:pathLst>
              <a:path h="1066800" w="37909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4" y="1066800"/>
                  <a:pt x="0" y="1049826"/>
                  <a:pt x="0" y="10288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1689" y="3390323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计算：sum(A)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1689" y="3695086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输入：数组 A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1689" y="3923658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输出：A[0] + A[1] + ... + A[n-1]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4647437"/>
            <a:ext cx="5600700" cy="1905000"/>
          </a:xfrm>
          <a:custGeom>
            <a:avLst/>
            <a:gdLst/>
            <a:ahLst/>
            <a:cxnLst/>
            <a:rect r="r" b="b" t="t" l="l"/>
            <a:pathLst>
              <a:path h="1905000" w="56007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9521" y="483788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Naive 方法的问题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71396" y="5333154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1837" y="5256963"/>
            <a:ext cx="21621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每个 thread 写 global memory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1837" y="5523598"/>
            <a:ext cx="21621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频繁访问全局内存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71396" y="5942614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1837" y="5866423"/>
            <a:ext cx="15144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大量 memory access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1837" y="6133049"/>
            <a:ext cx="15144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成为性能瓶颈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10279" y="1333230"/>
            <a:ext cx="5600700" cy="3886200"/>
          </a:xfrm>
          <a:custGeom>
            <a:avLst/>
            <a:gdLst/>
            <a:ahLst/>
            <a:cxnLst/>
            <a:rect r="r" b="b" t="t" l="l"/>
            <a:pathLst>
              <a:path h="3886200" w="56007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809992"/>
                </a:lnTo>
                <a:cubicBezTo>
                  <a:pt x="5600700" y="3852080"/>
                  <a:pt x="5566580" y="3886200"/>
                  <a:pt x="5524492" y="3886200"/>
                </a:cubicBezTo>
                <a:lnTo>
                  <a:pt x="76208" y="3886200"/>
                </a:lnTo>
                <a:cubicBezTo>
                  <a:pt x="34120" y="3886200"/>
                  <a:pt x="0" y="3852080"/>
                  <a:pt x="0" y="38099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80" r="80" t="0" b="0"/>
          <a:stretch>
            <a:fillRect/>
          </a:stretch>
        </p:blipFill>
        <p:spPr>
          <a:xfrm rot="0" flipH="false" flipV="false">
            <a:off x="6400720" y="1806820"/>
            <a:ext cx="5219700" cy="2943225"/>
          </a:xfrm>
          <a:prstGeom prst="roundRect">
            <a:avLst>
              <a:gd name="adj" fmla="val 1294"/>
            </a:avLst>
          </a:prstGeom>
          <a:ln w="12700">
            <a:noFill/>
            <a:prstDash val="solid"/>
          </a:ln>
        </p:spPr>
      </p:pic>
      <p:sp>
        <p:nvSpPr>
          <p:cNvPr name="Freeform 23" id="23"/>
          <p:cNvSpPr/>
          <p:nvPr/>
        </p:nvSpPr>
        <p:spPr>
          <a:xfrm rot="0" flipH="false" flipV="false">
            <a:off x="6219757" y="5380768"/>
            <a:ext cx="5581555" cy="1161955"/>
          </a:xfrm>
          <a:custGeom>
            <a:avLst/>
            <a:gdLst/>
            <a:ahLst/>
            <a:cxnLst/>
            <a:rect r="r" b="b" t="t" l="l"/>
            <a:pathLst>
              <a:path h="1161955" w="55815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3"/>
                </a:lnTo>
                <a:cubicBezTo>
                  <a:pt x="5581555" y="1127839"/>
                  <a:pt x="5547439" y="1161955"/>
                  <a:pt x="5505353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43517" y="5542629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Reduction 操作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38754" y="5847392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A[0] ⊕ A[1] ⊕ A[2] ⊕ ... ⊕ A[n-1]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48279" y="6190292"/>
            <a:ext cx="532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⊕ 可以是 +、×、max、min 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14281" y="6628256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图片来源：ENCCS CUDA Training</a:t>
            </a:r>
            <a:endParaRPr lang="en-US" sz="1100"/>
          </a:p>
        </p:txBody>
      </p:sp>
      <p:sp>
        <p:nvSpPr>
          <p:cNvPr name="AutoShape 28" id="2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0459" y="58530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Shared Memory 优化 Reduction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142795"/>
            <a:ext cx="762000" cy="38100"/>
          </a:xfrm>
          <a:custGeom>
            <a:avLst/>
            <a:gdLst/>
            <a:ahLst/>
            <a:cxnLst/>
            <a:rect r="r" b="b" t="t" l="l"/>
            <a:pathLst>
              <a:path h="38100" w="7620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1333230"/>
            <a:ext cx="3705225" cy="1104900"/>
          </a:xfrm>
          <a:custGeom>
            <a:avLst/>
            <a:gdLst/>
            <a:ahLst/>
            <a:cxnLst/>
            <a:rect r="r" b="b" t="t" l="l"/>
            <a:pathLst>
              <a:path h="1104900" w="3705225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71396" y="1523674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23771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602" y="1580759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加载数据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396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global → shared memory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241750" y="1333230"/>
            <a:ext cx="3705225" cy="1104900"/>
          </a:xfrm>
          <a:custGeom>
            <a:avLst/>
            <a:gdLst/>
            <a:ahLst/>
            <a:cxnLst/>
            <a:rect r="r" b="b" t="t" l="l"/>
            <a:pathLst>
              <a:path h="1104900" w="3705225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432190" y="1523674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4565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B89A6A"/>
                </a:solidFill>
                <a:latin typeface="MiSans"/>
                <a:ea typeface="MiSans"/>
                <a:cs typeface="MiSans"/>
                <a:sym typeface="MiSans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27396" y="1580759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归约计算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32190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shared memory 内 reduction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8102544" y="1333230"/>
            <a:ext cx="3705225" cy="1104900"/>
          </a:xfrm>
          <a:custGeom>
            <a:avLst/>
            <a:gdLst/>
            <a:ahLst/>
            <a:cxnLst/>
            <a:rect r="r" b="b" t="t" l="l"/>
            <a:pathLst>
              <a:path h="1104900" w="3705225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292985" y="1523674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5360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88190" y="1580759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写回结果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92985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最终写 global memory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80956" y="2590279"/>
            <a:ext cx="11430000" cy="2705100"/>
          </a:xfrm>
          <a:custGeom>
            <a:avLst/>
            <a:gdLst/>
            <a:ahLst/>
            <a:cxnLst/>
            <a:rect r="r" b="b" t="t" l="l"/>
            <a:pathLst>
              <a:path h="2705100" w="114300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2628897"/>
                </a:lnTo>
                <a:cubicBezTo>
                  <a:pt x="11430000" y="2670983"/>
                  <a:pt x="11395883" y="2705100"/>
                  <a:pt x="11353797" y="2705100"/>
                </a:cubicBezTo>
                <a:lnTo>
                  <a:pt x="76203" y="2705100"/>
                </a:lnTo>
                <a:cubicBezTo>
                  <a:pt x="34117" y="2705100"/>
                  <a:pt x="0" y="2670983"/>
                  <a:pt x="0" y="2628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95209" y="2818777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190500" y="35719"/>
                </a:moveTo>
                <a:cubicBezTo>
                  <a:pt x="190500" y="54397"/>
                  <a:pt x="168511" y="82266"/>
                  <a:pt x="159023" y="93389"/>
                </a:cubicBezTo>
                <a:cubicBezTo>
                  <a:pt x="157610" y="95026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8" y="95250"/>
                  <a:pt x="107156" y="100571"/>
                  <a:pt x="107156" y="107156"/>
                </a:cubicBezTo>
                <a:cubicBezTo>
                  <a:pt x="107156" y="113742"/>
                  <a:pt x="112478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0" y="190500"/>
                </a:lnTo>
                <a:cubicBezTo>
                  <a:pt x="55178" y="186817"/>
                  <a:pt x="59122" y="182091"/>
                  <a:pt x="63102" y="176808"/>
                </a:cubicBezTo>
                <a:cubicBezTo>
                  <a:pt x="65447" y="173681"/>
                  <a:pt x="67866" y="170259"/>
                  <a:pt x="70173" y="166687"/>
                </a:cubicBezTo>
                <a:lnTo>
                  <a:pt x="154781" y="166687"/>
                </a:lnTo>
                <a:cubicBezTo>
                  <a:pt x="161367" y="166687"/>
                  <a:pt x="166687" y="161367"/>
                  <a:pt x="166687" y="154781"/>
                </a:cubicBezTo>
                <a:cubicBezTo>
                  <a:pt x="166687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7"/>
                  <a:pt x="119063" y="71437"/>
                </a:cubicBezTo>
                <a:lnTo>
                  <a:pt x="133871" y="71437"/>
                </a:lnTo>
                <a:cubicBezTo>
                  <a:pt x="126056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5"/>
                </a:cubicBezTo>
                <a:lnTo>
                  <a:pt x="39141" y="186927"/>
                </a:lnTo>
                <a:lnTo>
                  <a:pt x="39066" y="186854"/>
                </a:lnTo>
                <a:cubicBezTo>
                  <a:pt x="36835" y="188565"/>
                  <a:pt x="33635" y="188342"/>
                  <a:pt x="31626" y="186185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7" y="111249"/>
                  <a:pt x="71437" y="130969"/>
                </a:cubicBezTo>
                <a:cubicBezTo>
                  <a:pt x="71437" y="142131"/>
                  <a:pt x="63588" y="155898"/>
                  <a:pt x="55253" y="167394"/>
                </a:cubicBezTo>
                <a:cubicBezTo>
                  <a:pt x="51271" y="172864"/>
                  <a:pt x="47179" y="177811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3" y="124398"/>
                  <a:pt x="23813" y="130969"/>
                </a:cubicBezTo>
                <a:cubicBezTo>
                  <a:pt x="23813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7" y="42290"/>
                  <a:pt x="166687" y="35719"/>
                </a:cubicBezTo>
                <a:cubicBezTo>
                  <a:pt x="166687" y="29148"/>
                  <a:pt x="161352" y="23813"/>
                  <a:pt x="154781" y="23813"/>
                </a:cubicBezTo>
                <a:cubicBezTo>
                  <a:pt x="148210" y="23813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9521" y="2780714"/>
            <a:ext cx="10906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优化流程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370624" y="3199805"/>
            <a:ext cx="1371600" cy="723900"/>
          </a:xfrm>
          <a:custGeom>
            <a:avLst/>
            <a:gdLst/>
            <a:ahLst/>
            <a:cxnLst/>
            <a:rect r="r" b="b" t="t" l="l"/>
            <a:pathLst>
              <a:path h="723900" w="1371600">
                <a:moveTo>
                  <a:pt x="76197" y="0"/>
                </a:moveTo>
                <a:lnTo>
                  <a:pt x="1295403" y="0"/>
                </a:lnTo>
                <a:cubicBezTo>
                  <a:pt x="1337457" y="0"/>
                  <a:pt x="1371600" y="34143"/>
                  <a:pt x="1371600" y="76197"/>
                </a:cubicBezTo>
                <a:lnTo>
                  <a:pt x="1371600" y="647703"/>
                </a:lnTo>
                <a:cubicBezTo>
                  <a:pt x="1371600" y="689757"/>
                  <a:pt x="1337457" y="723900"/>
                  <a:pt x="12954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484906" y="3352186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Global Memory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489668" y="3691224"/>
            <a:ext cx="1133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Input Data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37286" y="3999774"/>
            <a:ext cx="1438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原始数据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92003" y="3504493"/>
            <a:ext cx="5143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27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5387356" y="3199805"/>
            <a:ext cx="1419225" cy="723900"/>
          </a:xfrm>
          <a:custGeom>
            <a:avLst/>
            <a:gdLst/>
            <a:ahLst/>
            <a:cxnLst/>
            <a:rect r="r" b="b" t="t" l="l"/>
            <a:pathLst>
              <a:path h="723900" w="1419225">
                <a:moveTo>
                  <a:pt x="76197" y="0"/>
                </a:moveTo>
                <a:lnTo>
                  <a:pt x="1343028" y="0"/>
                </a:lnTo>
                <a:cubicBezTo>
                  <a:pt x="1385082" y="0"/>
                  <a:pt x="1419225" y="34143"/>
                  <a:pt x="1419225" y="76197"/>
                </a:cubicBezTo>
                <a:lnTo>
                  <a:pt x="1419225" y="647703"/>
                </a:lnTo>
                <a:cubicBezTo>
                  <a:pt x="1419225" y="689757"/>
                  <a:pt x="1385082" y="723900"/>
                  <a:pt x="1343028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501638" y="3352186"/>
            <a:ext cx="11906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Shared Memory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524812" y="3709635"/>
            <a:ext cx="11811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Load &amp; Reduce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354019" y="3999774"/>
            <a:ext cx="1485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加载并归约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956937" y="3504493"/>
            <a:ext cx="5143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2700">
                <a:solidFill>
                  <a:srgbClr val="8B2635"/>
                </a:solidFill>
                <a:latin typeface="MiSans"/>
                <a:ea typeface="MiSans"/>
                <a:cs typeface="MiSans"/>
                <a:sym typeface="MiSans"/>
              </a:rPr>
              <a:t>→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7452290" y="3199805"/>
            <a:ext cx="1371600" cy="723900"/>
          </a:xfrm>
          <a:custGeom>
            <a:avLst/>
            <a:gdLst/>
            <a:ahLst/>
            <a:cxnLst/>
            <a:rect r="r" b="b" t="t" l="l"/>
            <a:pathLst>
              <a:path h="723900" w="1371600">
                <a:moveTo>
                  <a:pt x="76197" y="0"/>
                </a:moveTo>
                <a:lnTo>
                  <a:pt x="1295403" y="0"/>
                </a:lnTo>
                <a:cubicBezTo>
                  <a:pt x="1337457" y="0"/>
                  <a:pt x="1371600" y="34143"/>
                  <a:pt x="1371600" y="76197"/>
                </a:cubicBezTo>
                <a:lnTo>
                  <a:pt x="1371600" y="647703"/>
                </a:lnTo>
                <a:cubicBezTo>
                  <a:pt x="1371600" y="689757"/>
                  <a:pt x="1337457" y="723900"/>
                  <a:pt x="12954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566573" y="3352186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Global Memory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571336" y="3709635"/>
            <a:ext cx="1133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Output Result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418953" y="3999774"/>
            <a:ext cx="1438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最终结果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380956" y="5448514"/>
            <a:ext cx="11430000" cy="762000"/>
          </a:xfrm>
          <a:custGeom>
            <a:avLst/>
            <a:gdLst/>
            <a:ahLst/>
            <a:cxnLst/>
            <a:rect r="r" b="b" t="t" l="l"/>
            <a:pathLst>
              <a:path h="7620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685800"/>
                </a:lnTo>
                <a:cubicBezTo>
                  <a:pt x="11430000" y="727856"/>
                  <a:pt x="11395856" y="762000"/>
                  <a:pt x="11353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561913" y="5715149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3"/>
                  <a:pt x="107646" y="157163"/>
                </a:cubicBezTo>
                <a:cubicBezTo>
                  <a:pt x="104120" y="157342"/>
                  <a:pt x="100728" y="155734"/>
                  <a:pt x="98628" y="152876"/>
                </a:cubicBezTo>
                <a:lnTo>
                  <a:pt x="77197" y="124301"/>
                </a:lnTo>
                <a:cubicBezTo>
                  <a:pt x="73624" y="119569"/>
                  <a:pt x="74607" y="112871"/>
                  <a:pt x="79339" y="109299"/>
                </a:cubicBezTo>
                <a:cubicBezTo>
                  <a:pt x="84073" y="105727"/>
                  <a:pt x="90769" y="106710"/>
                  <a:pt x="94342" y="111442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6" y="78626"/>
                  <a:pt x="143546" y="77064"/>
                  <a:pt x="148590" y="80234"/>
                </a:cubicBezTo>
                <a:cubicBezTo>
                  <a:pt x="153634" y="83403"/>
                  <a:pt x="155153" y="89967"/>
                  <a:pt x="151983" y="9501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33323" y="5600895"/>
            <a:ext cx="25336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优化优势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33323" y="5867530"/>
            <a:ext cx="25241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减少 global memory 访问，提高并行效率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4601" y="614805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Reduction Kernel 示例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17463" y="1111025"/>
            <a:ext cx="6858000" cy="5523973"/>
          </a:xfrm>
          <a:custGeom>
            <a:avLst/>
            <a:gdLst/>
            <a:ahLst/>
            <a:cxnLst/>
            <a:rect r="r" b="b" t="t" l="l"/>
            <a:pathLst>
              <a:path h="5523973" w="6858000">
                <a:moveTo>
                  <a:pt x="63492" y="0"/>
                </a:moveTo>
                <a:lnTo>
                  <a:pt x="6794508" y="0"/>
                </a:lnTo>
                <a:cubicBezTo>
                  <a:pt x="6829574" y="0"/>
                  <a:pt x="6858000" y="25894"/>
                  <a:pt x="6858000" y="57836"/>
                </a:cubicBezTo>
                <a:lnTo>
                  <a:pt x="6858000" y="5466137"/>
                </a:lnTo>
                <a:cubicBezTo>
                  <a:pt x="6858000" y="5498079"/>
                  <a:pt x="6829574" y="5523973"/>
                  <a:pt x="6794508" y="5523973"/>
                </a:cubicBezTo>
                <a:lnTo>
                  <a:pt x="63492" y="5523973"/>
                </a:lnTo>
                <a:cubicBezTo>
                  <a:pt x="28426" y="5523973"/>
                  <a:pt x="0" y="5498079"/>
                  <a:pt x="0" y="5466137"/>
                </a:cubicBezTo>
                <a:lnTo>
                  <a:pt x="0" y="57836"/>
                </a:lnTo>
                <a:cubicBezTo>
                  <a:pt x="0" y="25916"/>
                  <a:pt x="28451" y="0"/>
                  <a:pt x="634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485124" y="1300293"/>
            <a:ext cx="180547" cy="161044"/>
          </a:xfrm>
          <a:custGeom>
            <a:avLst/>
            <a:gdLst/>
            <a:ahLst/>
            <a:cxnLst/>
            <a:rect r="r" b="b" t="t" l="l"/>
            <a:pathLst>
              <a:path h="161044" w="180547">
                <a:moveTo>
                  <a:pt x="112830" y="1519"/>
                </a:moveTo>
                <a:cubicBezTo>
                  <a:pt x="107558" y="0"/>
                  <a:pt x="102071" y="3069"/>
                  <a:pt x="100552" y="8340"/>
                </a:cubicBezTo>
                <a:lnTo>
                  <a:pt x="60864" y="147247"/>
                </a:lnTo>
                <a:cubicBezTo>
                  <a:pt x="59345" y="152518"/>
                  <a:pt x="62415" y="158006"/>
                  <a:pt x="67686" y="159525"/>
                </a:cubicBezTo>
                <a:cubicBezTo>
                  <a:pt x="72957" y="161044"/>
                  <a:pt x="78445" y="157975"/>
                  <a:pt x="79964" y="152704"/>
                </a:cubicBezTo>
                <a:lnTo>
                  <a:pt x="119651" y="13797"/>
                </a:lnTo>
                <a:cubicBezTo>
                  <a:pt x="121172" y="8526"/>
                  <a:pt x="118101" y="3038"/>
                  <a:pt x="112830" y="1519"/>
                </a:cubicBezTo>
                <a:close/>
                <a:moveTo>
                  <a:pt x="132859" y="43717"/>
                </a:moveTo>
                <a:cubicBezTo>
                  <a:pt x="128985" y="47593"/>
                  <a:pt x="128985" y="53888"/>
                  <a:pt x="132859" y="57764"/>
                </a:cubicBezTo>
                <a:lnTo>
                  <a:pt x="155618" y="80522"/>
                </a:lnTo>
                <a:lnTo>
                  <a:pt x="132859" y="103280"/>
                </a:lnTo>
                <a:cubicBezTo>
                  <a:pt x="128985" y="107156"/>
                  <a:pt x="128985" y="113451"/>
                  <a:pt x="132859" y="117327"/>
                </a:cubicBezTo>
                <a:cubicBezTo>
                  <a:pt x="136735" y="121201"/>
                  <a:pt x="143030" y="121201"/>
                  <a:pt x="146906" y="117327"/>
                </a:cubicBezTo>
                <a:lnTo>
                  <a:pt x="176671" y="87560"/>
                </a:lnTo>
                <a:cubicBezTo>
                  <a:pt x="180547" y="83686"/>
                  <a:pt x="180547" y="77390"/>
                  <a:pt x="176671" y="73515"/>
                </a:cubicBezTo>
                <a:lnTo>
                  <a:pt x="146906" y="43749"/>
                </a:lnTo>
                <a:cubicBezTo>
                  <a:pt x="143030" y="39873"/>
                  <a:pt x="136735" y="39873"/>
                  <a:pt x="132859" y="43749"/>
                </a:cubicBezTo>
                <a:close/>
                <a:moveTo>
                  <a:pt x="47687" y="43717"/>
                </a:moveTo>
                <a:cubicBezTo>
                  <a:pt x="43811" y="39843"/>
                  <a:pt x="37517" y="39843"/>
                  <a:pt x="33641" y="43717"/>
                </a:cubicBezTo>
                <a:lnTo>
                  <a:pt x="3876" y="73484"/>
                </a:lnTo>
                <a:cubicBezTo>
                  <a:pt x="0" y="77358"/>
                  <a:pt x="0" y="83654"/>
                  <a:pt x="3876" y="87529"/>
                </a:cubicBezTo>
                <a:lnTo>
                  <a:pt x="33641" y="117295"/>
                </a:lnTo>
                <a:cubicBezTo>
                  <a:pt x="37517" y="121171"/>
                  <a:pt x="43811" y="121171"/>
                  <a:pt x="47687" y="117295"/>
                </a:cubicBezTo>
                <a:cubicBezTo>
                  <a:pt x="51563" y="113419"/>
                  <a:pt x="51563" y="107125"/>
                  <a:pt x="47687" y="103249"/>
                </a:cubicBezTo>
                <a:lnTo>
                  <a:pt x="24928" y="80522"/>
                </a:lnTo>
                <a:lnTo>
                  <a:pt x="47656" y="57764"/>
                </a:lnTo>
                <a:cubicBezTo>
                  <a:pt x="51532" y="53888"/>
                  <a:pt x="51532" y="47593"/>
                  <a:pt x="47656" y="43717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74601" y="1269729"/>
            <a:ext cx="64214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CUDA 实现代码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491960" y="1618971"/>
            <a:ext cx="6524546" cy="4952442"/>
          </a:xfrm>
          <a:custGeom>
            <a:avLst/>
            <a:gdLst/>
            <a:ahLst/>
            <a:cxnLst/>
            <a:rect r="r" b="b" t="t" l="l"/>
            <a:pathLst>
              <a:path h="4952442" w="6524546">
                <a:moveTo>
                  <a:pt x="31593" y="0"/>
                </a:moveTo>
                <a:lnTo>
                  <a:pt x="6461070" y="0"/>
                </a:lnTo>
                <a:cubicBezTo>
                  <a:pt x="6496127" y="0"/>
                  <a:pt x="6524546" y="26076"/>
                  <a:pt x="6524546" y="58241"/>
                </a:cubicBezTo>
                <a:lnTo>
                  <a:pt x="6524546" y="4894202"/>
                </a:lnTo>
                <a:cubicBezTo>
                  <a:pt x="6524546" y="4926367"/>
                  <a:pt x="6496127" y="4952442"/>
                  <a:pt x="6461070" y="4952442"/>
                </a:cubicBezTo>
                <a:lnTo>
                  <a:pt x="31593" y="4952442"/>
                </a:lnTo>
                <a:cubicBezTo>
                  <a:pt x="14144" y="4952442"/>
                  <a:pt x="0" y="4939464"/>
                  <a:pt x="0" y="4923455"/>
                </a:cubicBezTo>
                <a:lnTo>
                  <a:pt x="0" y="28986"/>
                </a:lnTo>
                <a:cubicBezTo>
                  <a:pt x="0" y="12988"/>
                  <a:pt x="14155" y="0"/>
                  <a:pt x="31593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491959" y="1618972"/>
            <a:ext cx="45719" cy="4990484"/>
          </a:xfrm>
          <a:custGeom>
            <a:avLst/>
            <a:gdLst/>
            <a:ahLst/>
            <a:cxnLst/>
            <a:rect r="r" b="b" t="t" l="l"/>
            <a:pathLst>
              <a:path h="4990484" w="45719">
                <a:moveTo>
                  <a:pt x="45719" y="0"/>
                </a:moveTo>
                <a:lnTo>
                  <a:pt x="45719" y="0"/>
                </a:lnTo>
                <a:lnTo>
                  <a:pt x="45719" y="4990484"/>
                </a:lnTo>
                <a:lnTo>
                  <a:pt x="45719" y="4990484"/>
                </a:lnTo>
                <a:cubicBezTo>
                  <a:pt x="20469" y="4990484"/>
                  <a:pt x="0" y="4977407"/>
                  <a:pt x="0" y="4961274"/>
                </a:cubicBezTo>
                <a:lnTo>
                  <a:pt x="0" y="29210"/>
                </a:lnTo>
                <a:cubicBezTo>
                  <a:pt x="0" y="13089"/>
                  <a:pt x="20486" y="0"/>
                  <a:pt x="4571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4741" y="1745955"/>
            <a:ext cx="631825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__global__ void reduction_kernel(float* input, float* output, int n) {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声明 Shared Memory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__shared__ float sdata[256];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获取线程索引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int tid = threadIdx.x;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int i = blockIdx.x * blockDim.x + threadIdx.x;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从 Global Memory 加载数据到 Shared Memory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sdata[tid] = (i &lt; n) ? input[i] : 0;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同步线程，确保数据加载完成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__syncthreads();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在 Shared Memory 中进行归约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for(int s = blockDim.x/2; s &gt; 0; s &gt;&gt;= 1) 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    if(tid &lt; s) 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        sdata[tid] += sdata[tid + s];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    }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    __syncthreads();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}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// 将结果写回 Global Memory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if(tid == 0) 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    output[blockIdx.x] = sdata[0];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    }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}</a:t>
            </a:r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7365943" y="1111025"/>
            <a:ext cx="4508500" cy="3238500"/>
          </a:xfrm>
          <a:custGeom>
            <a:avLst/>
            <a:gdLst/>
            <a:ahLst/>
            <a:cxnLst/>
            <a:rect r="r" b="b" t="t" l="l"/>
            <a:pathLst>
              <a:path h="3238500" w="4508500">
                <a:moveTo>
                  <a:pt x="63508" y="0"/>
                </a:moveTo>
                <a:lnTo>
                  <a:pt x="4444992" y="0"/>
                </a:lnTo>
                <a:cubicBezTo>
                  <a:pt x="4480067" y="0"/>
                  <a:pt x="4508500" y="28433"/>
                  <a:pt x="4508500" y="63508"/>
                </a:cubicBezTo>
                <a:lnTo>
                  <a:pt x="4508500" y="3174992"/>
                </a:lnTo>
                <a:cubicBezTo>
                  <a:pt x="4508500" y="3210067"/>
                  <a:pt x="4480067" y="3238500"/>
                  <a:pt x="4444992" y="3238500"/>
                </a:cubicBezTo>
                <a:lnTo>
                  <a:pt x="63508" y="3238500"/>
                </a:lnTo>
                <a:cubicBezTo>
                  <a:pt x="28433" y="3238500"/>
                  <a:pt x="0" y="3210067"/>
                  <a:pt x="0" y="31749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544488" y="1301440"/>
            <a:ext cx="158750" cy="158750"/>
          </a:xfrm>
          <a:custGeom>
            <a:avLst/>
            <a:gdLst/>
            <a:ahLst/>
            <a:cxnLst/>
            <a:rect r="r" b="b" t="t" l="l"/>
            <a:pathLst>
              <a:path h="158750" w="158750">
                <a:moveTo>
                  <a:pt x="79375" y="158750"/>
                </a:moveTo>
                <a:cubicBezTo>
                  <a:pt x="123182" y="158750"/>
                  <a:pt x="158750" y="123182"/>
                  <a:pt x="158750" y="79375"/>
                </a:cubicBezTo>
                <a:cubicBezTo>
                  <a:pt x="158750" y="35568"/>
                  <a:pt x="123182" y="0"/>
                  <a:pt x="79375" y="0"/>
                </a:cubicBezTo>
                <a:cubicBezTo>
                  <a:pt x="35568" y="0"/>
                  <a:pt x="0" y="35568"/>
                  <a:pt x="0" y="79375"/>
                </a:cubicBezTo>
                <a:cubicBezTo>
                  <a:pt x="0" y="123182"/>
                  <a:pt x="35568" y="158750"/>
                  <a:pt x="79375" y="158750"/>
                </a:cubicBezTo>
                <a:close/>
                <a:moveTo>
                  <a:pt x="69452" y="49609"/>
                </a:moveTo>
                <a:cubicBezTo>
                  <a:pt x="69452" y="44132"/>
                  <a:pt x="73899" y="39688"/>
                  <a:pt x="79375" y="39688"/>
                </a:cubicBezTo>
                <a:cubicBezTo>
                  <a:pt x="84851" y="39688"/>
                  <a:pt x="89298" y="44132"/>
                  <a:pt x="89298" y="49609"/>
                </a:cubicBezTo>
                <a:cubicBezTo>
                  <a:pt x="89298" y="55085"/>
                  <a:pt x="84851" y="59531"/>
                  <a:pt x="79375" y="59531"/>
                </a:cubicBezTo>
                <a:cubicBezTo>
                  <a:pt x="73899" y="59531"/>
                  <a:pt x="69452" y="55085"/>
                  <a:pt x="69452" y="49609"/>
                </a:cubicBezTo>
                <a:close/>
                <a:moveTo>
                  <a:pt x="66973" y="69452"/>
                </a:moveTo>
                <a:lnTo>
                  <a:pt x="81855" y="69452"/>
                </a:lnTo>
                <a:cubicBezTo>
                  <a:pt x="85979" y="69452"/>
                  <a:pt x="89298" y="72771"/>
                  <a:pt x="89298" y="76895"/>
                </a:cubicBezTo>
                <a:lnTo>
                  <a:pt x="89298" y="104179"/>
                </a:lnTo>
                <a:lnTo>
                  <a:pt x="91777" y="104179"/>
                </a:lnTo>
                <a:cubicBezTo>
                  <a:pt x="95902" y="104179"/>
                  <a:pt x="99219" y="107497"/>
                  <a:pt x="99219" y="111622"/>
                </a:cubicBezTo>
                <a:cubicBezTo>
                  <a:pt x="99219" y="115745"/>
                  <a:pt x="95902" y="119062"/>
                  <a:pt x="91777" y="119062"/>
                </a:cubicBezTo>
                <a:lnTo>
                  <a:pt x="66973" y="119062"/>
                </a:lnTo>
                <a:cubicBezTo>
                  <a:pt x="62848" y="119062"/>
                  <a:pt x="59531" y="115745"/>
                  <a:pt x="59531" y="111622"/>
                </a:cubicBezTo>
                <a:cubicBezTo>
                  <a:pt x="59531" y="107497"/>
                  <a:pt x="62848" y="104179"/>
                  <a:pt x="66973" y="104179"/>
                </a:cubicBezTo>
                <a:lnTo>
                  <a:pt x="74414" y="104179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8" y="84336"/>
                  <a:pt x="59531" y="81018"/>
                  <a:pt x="59531" y="76895"/>
                </a:cubicBezTo>
                <a:cubicBezTo>
                  <a:pt x="59531" y="72771"/>
                  <a:pt x="62848" y="69452"/>
                  <a:pt x="66973" y="694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23081" y="1269729"/>
            <a:ext cx="4071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代码说明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524644" y="1618971"/>
            <a:ext cx="4191000" cy="571500"/>
          </a:xfrm>
          <a:custGeom>
            <a:avLst/>
            <a:gdLst/>
            <a:ahLst/>
            <a:cxnLst/>
            <a:rect r="r" b="b" t="t" l="l"/>
            <a:pathLst>
              <a:path h="571500" w="41910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19852" y="1714174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声明共享内存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19852" y="1936370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__shared__ float sdata[256]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7524644" y="2285488"/>
            <a:ext cx="4191000" cy="571500"/>
          </a:xfrm>
          <a:custGeom>
            <a:avLst/>
            <a:gdLst/>
            <a:ahLst/>
            <a:cxnLst/>
            <a:rect r="r" b="b" t="t" l="l"/>
            <a:pathLst>
              <a:path h="571500" w="41910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19852" y="2380692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加载数据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19852" y="2602888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global → shared memory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524644" y="2952006"/>
            <a:ext cx="4191000" cy="571500"/>
          </a:xfrm>
          <a:custGeom>
            <a:avLst/>
            <a:gdLst/>
            <a:ahLst/>
            <a:cxnLst/>
            <a:rect r="r" b="b" t="t" l="l"/>
            <a:pathLst>
              <a:path h="571500" w="41910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19852" y="3047209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线程同步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19852" y="3269405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__syncthreads()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7524644" y="3618523"/>
            <a:ext cx="4191000" cy="571500"/>
          </a:xfrm>
          <a:custGeom>
            <a:avLst/>
            <a:gdLst/>
            <a:ahLst/>
            <a:cxnLst/>
            <a:rect r="r" b="b" t="t" l="l"/>
            <a:pathLst>
              <a:path h="571500" w="41910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19852" y="3713727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归约循环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19852" y="3935923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折半归约策略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61900" y="7238031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9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代码示例：CUDA Reduction Kernel 实现</a:t>
            </a:r>
            <a:endParaRPr lang="en-US" sz="1100"/>
          </a:p>
        </p:txBody>
      </p:sp>
      <p:sp>
        <p:nvSpPr>
          <p:cNvPr name="AutoShape 25" id="2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5142" y="633130"/>
            <a:ext cx="11631656" cy="3615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优化效果对比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61470" y="1265046"/>
            <a:ext cx="2738455" cy="1446049"/>
          </a:xfrm>
          <a:custGeom>
            <a:avLst/>
            <a:gdLst/>
            <a:ahLst/>
            <a:cxnLst/>
            <a:rect r="r" b="b" t="t" l="l"/>
            <a:pathLst>
              <a:path h="1446049" w="2738455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64764" y="1481856"/>
            <a:ext cx="180757" cy="180757"/>
          </a:xfrm>
          <a:custGeom>
            <a:avLst/>
            <a:gdLst/>
            <a:ahLst/>
            <a:cxnLst/>
            <a:rect r="r" b="b" t="t" l="l"/>
            <a:pathLst>
              <a:path h="180757" w="180757">
                <a:moveTo>
                  <a:pt x="90378" y="180757"/>
                </a:moveTo>
                <a:cubicBezTo>
                  <a:pt x="140259" y="180757"/>
                  <a:pt x="180757" y="140259"/>
                  <a:pt x="180757" y="90378"/>
                </a:cubicBezTo>
                <a:cubicBezTo>
                  <a:pt x="180757" y="40496"/>
                  <a:pt x="140259" y="0"/>
                  <a:pt x="90378" y="0"/>
                </a:cubicBezTo>
                <a:cubicBezTo>
                  <a:pt x="40496" y="0"/>
                  <a:pt x="0" y="40496"/>
                  <a:pt x="0" y="90378"/>
                </a:cubicBezTo>
                <a:cubicBezTo>
                  <a:pt x="0" y="140259"/>
                  <a:pt x="40496" y="180757"/>
                  <a:pt x="90378" y="180757"/>
                </a:cubicBezTo>
                <a:close/>
                <a:moveTo>
                  <a:pt x="58958" y="58958"/>
                </a:moveTo>
                <a:cubicBezTo>
                  <a:pt x="62276" y="55639"/>
                  <a:pt x="67641" y="55639"/>
                  <a:pt x="70926" y="58958"/>
                </a:cubicBezTo>
                <a:lnTo>
                  <a:pt x="90343" y="78376"/>
                </a:lnTo>
                <a:lnTo>
                  <a:pt x="109760" y="58958"/>
                </a:lnTo>
                <a:cubicBezTo>
                  <a:pt x="113078" y="55639"/>
                  <a:pt x="118445" y="55639"/>
                  <a:pt x="121728" y="58958"/>
                </a:cubicBezTo>
                <a:cubicBezTo>
                  <a:pt x="125011" y="62276"/>
                  <a:pt x="125047" y="67641"/>
                  <a:pt x="121728" y="70926"/>
                </a:cubicBezTo>
                <a:lnTo>
                  <a:pt x="102311" y="90343"/>
                </a:lnTo>
                <a:lnTo>
                  <a:pt x="121728" y="109760"/>
                </a:lnTo>
                <a:cubicBezTo>
                  <a:pt x="125047" y="113078"/>
                  <a:pt x="125047" y="118445"/>
                  <a:pt x="121728" y="121728"/>
                </a:cubicBezTo>
                <a:cubicBezTo>
                  <a:pt x="118408" y="125011"/>
                  <a:pt x="113043" y="125047"/>
                  <a:pt x="109760" y="121728"/>
                </a:cubicBezTo>
                <a:lnTo>
                  <a:pt x="90343" y="102311"/>
                </a:lnTo>
                <a:lnTo>
                  <a:pt x="70926" y="121728"/>
                </a:lnTo>
                <a:cubicBezTo>
                  <a:pt x="67607" y="125047"/>
                  <a:pt x="62241" y="125047"/>
                  <a:pt x="58958" y="121728"/>
                </a:cubicBezTo>
                <a:cubicBezTo>
                  <a:pt x="55674" y="118408"/>
                  <a:pt x="55639" y="113043"/>
                  <a:pt x="58958" y="109760"/>
                </a:cubicBezTo>
                <a:lnTo>
                  <a:pt x="78376" y="90343"/>
                </a:lnTo>
                <a:lnTo>
                  <a:pt x="58958" y="70926"/>
                </a:lnTo>
                <a:cubicBezTo>
                  <a:pt x="55639" y="67607"/>
                  <a:pt x="55639" y="62241"/>
                  <a:pt x="58958" y="5895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8115" y="1445740"/>
            <a:ext cx="224137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Naive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3716" y="1807217"/>
            <a:ext cx="2593850" cy="43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6019" y="2313343"/>
            <a:ext cx="2449245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频繁访问 global memory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247540" y="1265046"/>
            <a:ext cx="2738455" cy="1446049"/>
          </a:xfrm>
          <a:custGeom>
            <a:avLst/>
            <a:gdLst/>
            <a:ahLst/>
            <a:cxnLst/>
            <a:rect r="r" b="b" t="t" l="l"/>
            <a:pathLst>
              <a:path h="1446049" w="2738455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450834" y="1481856"/>
            <a:ext cx="180757" cy="180757"/>
          </a:xfrm>
          <a:custGeom>
            <a:avLst/>
            <a:gdLst/>
            <a:ahLst/>
            <a:cxnLst/>
            <a:rect r="r" b="b" t="t" l="l"/>
            <a:pathLst>
              <a:path h="180757" w="180757">
                <a:moveTo>
                  <a:pt x="90378" y="180757"/>
                </a:moveTo>
                <a:cubicBezTo>
                  <a:pt x="140259" y="180757"/>
                  <a:pt x="180757" y="140259"/>
                  <a:pt x="180757" y="90378"/>
                </a:cubicBezTo>
                <a:cubicBezTo>
                  <a:pt x="180757" y="40496"/>
                  <a:pt x="140259" y="0"/>
                  <a:pt x="90378" y="0"/>
                </a:cubicBezTo>
                <a:cubicBezTo>
                  <a:pt x="40496" y="0"/>
                  <a:pt x="0" y="40496"/>
                  <a:pt x="0" y="90378"/>
                </a:cubicBezTo>
                <a:cubicBezTo>
                  <a:pt x="0" y="140259"/>
                  <a:pt x="40496" y="180757"/>
                  <a:pt x="90378" y="180757"/>
                </a:cubicBezTo>
                <a:close/>
                <a:moveTo>
                  <a:pt x="120175" y="75091"/>
                </a:moveTo>
                <a:lnTo>
                  <a:pt x="91931" y="120280"/>
                </a:lnTo>
                <a:cubicBezTo>
                  <a:pt x="90449" y="122646"/>
                  <a:pt x="87907" y="124129"/>
                  <a:pt x="85118" y="124270"/>
                </a:cubicBezTo>
                <a:cubicBezTo>
                  <a:pt x="82329" y="124410"/>
                  <a:pt x="79646" y="123140"/>
                  <a:pt x="77986" y="120881"/>
                </a:cubicBezTo>
                <a:lnTo>
                  <a:pt x="61040" y="98287"/>
                </a:lnTo>
                <a:cubicBezTo>
                  <a:pt x="58216" y="94544"/>
                  <a:pt x="58993" y="89248"/>
                  <a:pt x="62735" y="86424"/>
                </a:cubicBezTo>
                <a:cubicBezTo>
                  <a:pt x="66477" y="83600"/>
                  <a:pt x="71773" y="84376"/>
                  <a:pt x="74597" y="88119"/>
                </a:cubicBezTo>
                <a:lnTo>
                  <a:pt x="84129" y="100828"/>
                </a:lnTo>
                <a:lnTo>
                  <a:pt x="105806" y="66124"/>
                </a:lnTo>
                <a:cubicBezTo>
                  <a:pt x="108276" y="62170"/>
                  <a:pt x="113502" y="60935"/>
                  <a:pt x="117492" y="63442"/>
                </a:cubicBezTo>
                <a:cubicBezTo>
                  <a:pt x="121481" y="65949"/>
                  <a:pt x="122681" y="71137"/>
                  <a:pt x="120175" y="751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54185" y="1445740"/>
            <a:ext cx="224137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Optimized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19786" y="1807217"/>
            <a:ext cx="2593850" cy="43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快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92089" y="2313343"/>
            <a:ext cx="2449245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使用 shared memory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61470" y="2834559"/>
            <a:ext cx="5630553" cy="3967597"/>
          </a:xfrm>
          <a:custGeom>
            <a:avLst/>
            <a:gdLst/>
            <a:ahLst/>
            <a:cxnLst/>
            <a:rect r="r" b="b" t="t" l="l"/>
            <a:pathLst>
              <a:path h="3967597" w="5630553">
                <a:moveTo>
                  <a:pt x="72290" y="0"/>
                </a:moveTo>
                <a:lnTo>
                  <a:pt x="5558263" y="0"/>
                </a:lnTo>
                <a:cubicBezTo>
                  <a:pt x="5598188" y="0"/>
                  <a:pt x="5630553" y="32365"/>
                  <a:pt x="5630553" y="72290"/>
                </a:cubicBezTo>
                <a:lnTo>
                  <a:pt x="5630553" y="3895307"/>
                </a:lnTo>
                <a:cubicBezTo>
                  <a:pt x="5630553" y="3935232"/>
                  <a:pt x="5598188" y="3967597"/>
                  <a:pt x="5558263" y="3967597"/>
                </a:cubicBezTo>
                <a:lnTo>
                  <a:pt x="72290" y="3967597"/>
                </a:lnTo>
                <a:cubicBezTo>
                  <a:pt x="32365" y="3967597"/>
                  <a:pt x="0" y="3935232"/>
                  <a:pt x="0" y="3895307"/>
                </a:cubicBezTo>
                <a:lnTo>
                  <a:pt x="0" y="72290"/>
                </a:lnTo>
                <a:cubicBezTo>
                  <a:pt x="0" y="32365"/>
                  <a:pt x="32365" y="0"/>
                  <a:pt x="7229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64764" y="3072324"/>
            <a:ext cx="180757" cy="180757"/>
          </a:xfrm>
          <a:custGeom>
            <a:avLst/>
            <a:gdLst/>
            <a:ahLst/>
            <a:cxnLst/>
            <a:rect r="r" b="b" t="t" l="l"/>
            <a:pathLst>
              <a:path h="180757" w="180757">
                <a:moveTo>
                  <a:pt x="0" y="90378"/>
                </a:moveTo>
                <a:cubicBezTo>
                  <a:pt x="0" y="40496"/>
                  <a:pt x="40496" y="0"/>
                  <a:pt x="90378" y="0"/>
                </a:cubicBezTo>
                <a:cubicBezTo>
                  <a:pt x="140259" y="0"/>
                  <a:pt x="180757" y="40496"/>
                  <a:pt x="180757" y="90378"/>
                </a:cubicBezTo>
                <a:cubicBezTo>
                  <a:pt x="180757" y="140259"/>
                  <a:pt x="140259" y="180757"/>
                  <a:pt x="90378" y="180757"/>
                </a:cubicBezTo>
                <a:cubicBezTo>
                  <a:pt x="40496" y="180757"/>
                  <a:pt x="0" y="140259"/>
                  <a:pt x="0" y="90378"/>
                </a:cubicBezTo>
                <a:close/>
                <a:moveTo>
                  <a:pt x="101675" y="33892"/>
                </a:moveTo>
                <a:cubicBezTo>
                  <a:pt x="101675" y="27657"/>
                  <a:pt x="96613" y="22595"/>
                  <a:pt x="90378" y="22595"/>
                </a:cubicBezTo>
                <a:cubicBezTo>
                  <a:pt x="84143" y="22595"/>
                  <a:pt x="79082" y="27657"/>
                  <a:pt x="79082" y="33892"/>
                </a:cubicBezTo>
                <a:cubicBezTo>
                  <a:pt x="79082" y="40127"/>
                  <a:pt x="84143" y="45189"/>
                  <a:pt x="90378" y="45189"/>
                </a:cubicBezTo>
                <a:cubicBezTo>
                  <a:pt x="96613" y="45189"/>
                  <a:pt x="101675" y="40127"/>
                  <a:pt x="101675" y="33892"/>
                </a:cubicBezTo>
                <a:close/>
                <a:moveTo>
                  <a:pt x="90378" y="146864"/>
                </a:moveTo>
                <a:cubicBezTo>
                  <a:pt x="102840" y="146864"/>
                  <a:pt x="112973" y="136732"/>
                  <a:pt x="112973" y="124270"/>
                </a:cubicBezTo>
                <a:cubicBezTo>
                  <a:pt x="112973" y="118551"/>
                  <a:pt x="110854" y="113290"/>
                  <a:pt x="107324" y="109336"/>
                </a:cubicBezTo>
                <a:lnTo>
                  <a:pt x="131860" y="60300"/>
                </a:lnTo>
                <a:cubicBezTo>
                  <a:pt x="133943" y="56098"/>
                  <a:pt x="132249" y="51015"/>
                  <a:pt x="128083" y="48931"/>
                </a:cubicBezTo>
                <a:cubicBezTo>
                  <a:pt x="123916" y="46848"/>
                  <a:pt x="118798" y="48543"/>
                  <a:pt x="116716" y="52709"/>
                </a:cubicBezTo>
                <a:lnTo>
                  <a:pt x="92179" y="101746"/>
                </a:lnTo>
                <a:cubicBezTo>
                  <a:pt x="91578" y="101710"/>
                  <a:pt x="90978" y="101675"/>
                  <a:pt x="90378" y="101675"/>
                </a:cubicBezTo>
                <a:cubicBezTo>
                  <a:pt x="77916" y="101675"/>
                  <a:pt x="67784" y="111808"/>
                  <a:pt x="67784" y="124270"/>
                </a:cubicBezTo>
                <a:cubicBezTo>
                  <a:pt x="67784" y="136732"/>
                  <a:pt x="77916" y="146864"/>
                  <a:pt x="90378" y="146864"/>
                </a:cubicBezTo>
                <a:close/>
                <a:moveTo>
                  <a:pt x="62135" y="50838"/>
                </a:moveTo>
                <a:cubicBezTo>
                  <a:pt x="62135" y="44602"/>
                  <a:pt x="57073" y="39540"/>
                  <a:pt x="50838" y="39540"/>
                </a:cubicBezTo>
                <a:cubicBezTo>
                  <a:pt x="44602" y="39540"/>
                  <a:pt x="39540" y="44602"/>
                  <a:pt x="39540" y="50838"/>
                </a:cubicBezTo>
                <a:cubicBezTo>
                  <a:pt x="39540" y="57073"/>
                  <a:pt x="44602" y="62135"/>
                  <a:pt x="50838" y="62135"/>
                </a:cubicBezTo>
                <a:cubicBezTo>
                  <a:pt x="57073" y="62135"/>
                  <a:pt x="62135" y="57073"/>
                  <a:pt x="62135" y="50838"/>
                </a:cubicBezTo>
                <a:close/>
                <a:moveTo>
                  <a:pt x="33892" y="101675"/>
                </a:moveTo>
                <a:cubicBezTo>
                  <a:pt x="40127" y="101675"/>
                  <a:pt x="45189" y="96613"/>
                  <a:pt x="45189" y="90378"/>
                </a:cubicBezTo>
                <a:cubicBezTo>
                  <a:pt x="45189" y="84143"/>
                  <a:pt x="40127" y="79082"/>
                  <a:pt x="33892" y="79082"/>
                </a:cubicBezTo>
                <a:cubicBezTo>
                  <a:pt x="27657" y="79082"/>
                  <a:pt x="22595" y="84143"/>
                  <a:pt x="22595" y="90378"/>
                </a:cubicBezTo>
                <a:cubicBezTo>
                  <a:pt x="22595" y="96613"/>
                  <a:pt x="27657" y="101675"/>
                  <a:pt x="33892" y="101675"/>
                </a:cubicBezTo>
                <a:close/>
                <a:moveTo>
                  <a:pt x="158162" y="90378"/>
                </a:moveTo>
                <a:cubicBezTo>
                  <a:pt x="158162" y="84143"/>
                  <a:pt x="153098" y="79082"/>
                  <a:pt x="146864" y="79082"/>
                </a:cubicBezTo>
                <a:cubicBezTo>
                  <a:pt x="140628" y="79082"/>
                  <a:pt x="135567" y="84143"/>
                  <a:pt x="135567" y="90378"/>
                </a:cubicBezTo>
                <a:cubicBezTo>
                  <a:pt x="135567" y="96613"/>
                  <a:pt x="140628" y="101675"/>
                  <a:pt x="146864" y="101675"/>
                </a:cubicBezTo>
                <a:cubicBezTo>
                  <a:pt x="153098" y="101675"/>
                  <a:pt x="158162" y="96613"/>
                  <a:pt x="158162" y="90378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8115" y="3036208"/>
            <a:ext cx="5133474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性能提升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542170" y="3433863"/>
            <a:ext cx="5269041" cy="1301444"/>
          </a:xfrm>
          <a:custGeom>
            <a:avLst/>
            <a:gdLst/>
            <a:ahLst/>
            <a:cxnLst/>
            <a:rect r="r" b="b" t="t" l="l"/>
            <a:pathLst>
              <a:path h="1301444" w="5269041">
                <a:moveTo>
                  <a:pt x="72307" y="0"/>
                </a:moveTo>
                <a:lnTo>
                  <a:pt x="5196733" y="0"/>
                </a:lnTo>
                <a:cubicBezTo>
                  <a:pt x="5236667" y="0"/>
                  <a:pt x="5269041" y="32374"/>
                  <a:pt x="5269041" y="72307"/>
                </a:cubicBezTo>
                <a:lnTo>
                  <a:pt x="5269041" y="1229136"/>
                </a:lnTo>
                <a:cubicBezTo>
                  <a:pt x="5269041" y="1269072"/>
                  <a:pt x="5236667" y="1301444"/>
                  <a:pt x="5196733" y="1301444"/>
                </a:cubicBezTo>
                <a:lnTo>
                  <a:pt x="72307" y="1301444"/>
                </a:lnTo>
                <a:cubicBezTo>
                  <a:pt x="32400" y="1301444"/>
                  <a:pt x="0" y="1269044"/>
                  <a:pt x="0" y="1229136"/>
                </a:cubicBezTo>
                <a:lnTo>
                  <a:pt x="0" y="72307"/>
                </a:lnTo>
                <a:cubicBezTo>
                  <a:pt x="0" y="32374"/>
                  <a:pt x="32374" y="0"/>
                  <a:pt x="72307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3485" y="3650744"/>
            <a:ext cx="5106360" cy="5422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4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10-50×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8382" y="4265279"/>
            <a:ext cx="491656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性能提升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205904" y="1265046"/>
            <a:ext cx="5630553" cy="3895294"/>
          </a:xfrm>
          <a:custGeom>
            <a:avLst/>
            <a:gdLst/>
            <a:ahLst/>
            <a:cxnLst/>
            <a:rect r="r" b="b" t="t" l="l"/>
            <a:pathLst>
              <a:path h="3895294" w="5630553">
                <a:moveTo>
                  <a:pt x="72297" y="0"/>
                </a:moveTo>
                <a:lnTo>
                  <a:pt x="5558257" y="0"/>
                </a:lnTo>
                <a:cubicBezTo>
                  <a:pt x="5598185" y="0"/>
                  <a:pt x="5630553" y="32368"/>
                  <a:pt x="5630553" y="72297"/>
                </a:cubicBezTo>
                <a:lnTo>
                  <a:pt x="5630553" y="3822998"/>
                </a:lnTo>
                <a:cubicBezTo>
                  <a:pt x="5630553" y="3862926"/>
                  <a:pt x="5598185" y="3895294"/>
                  <a:pt x="5558257" y="3895294"/>
                </a:cubicBezTo>
                <a:lnTo>
                  <a:pt x="72297" y="3895294"/>
                </a:lnTo>
                <a:cubicBezTo>
                  <a:pt x="32368" y="3895294"/>
                  <a:pt x="0" y="3862926"/>
                  <a:pt x="0" y="3822998"/>
                </a:cubicBezTo>
                <a:lnTo>
                  <a:pt x="0" y="72297"/>
                </a:lnTo>
                <a:cubicBezTo>
                  <a:pt x="0" y="32395"/>
                  <a:pt x="32395" y="0"/>
                  <a:pt x="72297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rcRect l="0" r="0" t="3" b="2"/>
          <a:stretch>
            <a:fillRect/>
          </a:stretch>
        </p:blipFill>
        <p:spPr>
          <a:xfrm rot="0" flipH="false" flipV="false">
            <a:off x="6386674" y="1445740"/>
            <a:ext cx="5269041" cy="3533782"/>
          </a:xfrm>
          <a:prstGeom prst="roundRect">
            <a:avLst>
              <a:gd name="adj" fmla="val 1023"/>
            </a:avLst>
          </a:prstGeom>
          <a:ln w="12700">
            <a:noFill/>
            <a:prstDash val="solid"/>
          </a:ln>
        </p:spPr>
      </p:pic>
      <p:sp>
        <p:nvSpPr>
          <p:cNvPr name="Freeform 21" id="21"/>
          <p:cNvSpPr/>
          <p:nvPr/>
        </p:nvSpPr>
        <p:spPr>
          <a:xfrm rot="0" flipH="false" flipV="false">
            <a:off x="6205904" y="5303109"/>
            <a:ext cx="5630553" cy="1518351"/>
          </a:xfrm>
          <a:custGeom>
            <a:avLst/>
            <a:gdLst/>
            <a:ahLst/>
            <a:cxnLst/>
            <a:rect r="r" b="b" t="t" l="l"/>
            <a:pathLst>
              <a:path h="1518351" w="5630553">
                <a:moveTo>
                  <a:pt x="72304" y="0"/>
                </a:moveTo>
                <a:lnTo>
                  <a:pt x="5558249" y="0"/>
                </a:lnTo>
                <a:cubicBezTo>
                  <a:pt x="5598182" y="0"/>
                  <a:pt x="5630553" y="32372"/>
                  <a:pt x="5630553" y="72304"/>
                </a:cubicBezTo>
                <a:lnTo>
                  <a:pt x="5630553" y="1446047"/>
                </a:lnTo>
                <a:cubicBezTo>
                  <a:pt x="5630553" y="1485980"/>
                  <a:pt x="5598182" y="1518351"/>
                  <a:pt x="5558249" y="1518351"/>
                </a:cubicBezTo>
                <a:lnTo>
                  <a:pt x="72304" y="1518351"/>
                </a:lnTo>
                <a:cubicBezTo>
                  <a:pt x="32372" y="1518351"/>
                  <a:pt x="0" y="1485980"/>
                  <a:pt x="0" y="1446047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431793" y="5519919"/>
            <a:ext cx="135567" cy="186406"/>
          </a:xfrm>
          <a:custGeom>
            <a:avLst/>
            <a:gdLst/>
            <a:ahLst/>
            <a:cxnLst/>
            <a:rect r="r" b="b" t="t" l="l"/>
            <a:pathLst>
              <a:path h="186406" w="135567">
                <a:moveTo>
                  <a:pt x="103405" y="135567"/>
                </a:moveTo>
                <a:cubicBezTo>
                  <a:pt x="105981" y="127693"/>
                  <a:pt x="111136" y="120562"/>
                  <a:pt x="116962" y="114419"/>
                </a:cubicBezTo>
                <a:cubicBezTo>
                  <a:pt x="128506" y="102274"/>
                  <a:pt x="135567" y="85860"/>
                  <a:pt x="135567" y="67784"/>
                </a:cubicBezTo>
                <a:cubicBezTo>
                  <a:pt x="135567" y="30361"/>
                  <a:pt x="105206" y="0"/>
                  <a:pt x="67784" y="0"/>
                </a:cubicBezTo>
                <a:cubicBezTo>
                  <a:pt x="30361" y="0"/>
                  <a:pt x="0" y="30361"/>
                  <a:pt x="0" y="67784"/>
                </a:cubicBezTo>
                <a:cubicBezTo>
                  <a:pt x="0" y="85860"/>
                  <a:pt x="7061" y="102274"/>
                  <a:pt x="18605" y="114419"/>
                </a:cubicBezTo>
                <a:cubicBezTo>
                  <a:pt x="24430" y="120562"/>
                  <a:pt x="29620" y="127693"/>
                  <a:pt x="32161" y="135567"/>
                </a:cubicBezTo>
                <a:lnTo>
                  <a:pt x="103370" y="135567"/>
                </a:lnTo>
                <a:close/>
                <a:moveTo>
                  <a:pt x="101675" y="152513"/>
                </a:moveTo>
                <a:lnTo>
                  <a:pt x="33892" y="152513"/>
                </a:lnTo>
                <a:lnTo>
                  <a:pt x="33892" y="158162"/>
                </a:lnTo>
                <a:cubicBezTo>
                  <a:pt x="33892" y="173766"/>
                  <a:pt x="46532" y="186406"/>
                  <a:pt x="62135" y="186406"/>
                </a:cubicBezTo>
                <a:lnTo>
                  <a:pt x="73431" y="186406"/>
                </a:lnTo>
                <a:cubicBezTo>
                  <a:pt x="89037" y="186406"/>
                  <a:pt x="101675" y="173766"/>
                  <a:pt x="101675" y="158162"/>
                </a:cubicBezTo>
                <a:lnTo>
                  <a:pt x="101675" y="152513"/>
                </a:lnTo>
                <a:close/>
                <a:moveTo>
                  <a:pt x="64959" y="39540"/>
                </a:moveTo>
                <a:cubicBezTo>
                  <a:pt x="50908" y="39540"/>
                  <a:pt x="39540" y="50908"/>
                  <a:pt x="39540" y="64959"/>
                </a:cubicBezTo>
                <a:cubicBezTo>
                  <a:pt x="39540" y="69654"/>
                  <a:pt x="35763" y="73431"/>
                  <a:pt x="31067" y="73431"/>
                </a:cubicBezTo>
                <a:cubicBezTo>
                  <a:pt x="26372" y="73431"/>
                  <a:pt x="22595" y="69654"/>
                  <a:pt x="22595" y="64959"/>
                </a:cubicBezTo>
                <a:cubicBezTo>
                  <a:pt x="22595" y="41553"/>
                  <a:pt x="41553" y="22595"/>
                  <a:pt x="64959" y="22595"/>
                </a:cubicBezTo>
                <a:cubicBezTo>
                  <a:pt x="69654" y="22595"/>
                  <a:pt x="73431" y="26372"/>
                  <a:pt x="73431" y="31067"/>
                </a:cubicBezTo>
                <a:cubicBezTo>
                  <a:pt x="73431" y="35763"/>
                  <a:pt x="69654" y="39540"/>
                  <a:pt x="64959" y="3954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12549" y="5483812"/>
            <a:ext cx="5133474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优化原因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386604" y="5917574"/>
            <a:ext cx="72302" cy="72302"/>
          </a:xfrm>
          <a:custGeom>
            <a:avLst/>
            <a:gdLst/>
            <a:ahLst/>
            <a:cxnLst/>
            <a:rect r="r" b="b" t="t" l="l"/>
            <a:pathLst>
              <a:path h="72302" w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31192" y="5845280"/>
            <a:ext cx="1879864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减少 global memory access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386604" y="6206748"/>
            <a:ext cx="72302" cy="72302"/>
          </a:xfrm>
          <a:custGeom>
            <a:avLst/>
            <a:gdLst/>
            <a:ahLst/>
            <a:cxnLst/>
            <a:rect r="r" b="b" t="t" l="l"/>
            <a:pathLst>
              <a:path h="72302" w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31192" y="6134455"/>
            <a:ext cx="939932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提高并行效率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6386604" y="6495923"/>
            <a:ext cx="72302" cy="72302"/>
          </a:xfrm>
          <a:custGeom>
            <a:avLst/>
            <a:gdLst/>
            <a:ahLst/>
            <a:cxnLst/>
            <a:rect r="r" b="b" t="t" l="l"/>
            <a:pathLst>
              <a:path h="72302" w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31192" y="6423629"/>
            <a:ext cx="2205225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充分利用 shared memory 低延迟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98205" y="6680312"/>
            <a:ext cx="11532240" cy="1807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4A4A"/>
                </a:solidFill>
                <a:latin typeface="MiSans"/>
                <a:ea typeface="MiSans"/>
                <a:cs typeface="MiSans"/>
                <a:sym typeface="MiSans"/>
              </a:rPr>
              <a:t>图片来源：Medium - Rimika Dhara</a:t>
            </a:r>
            <a:endParaRPr lang="en-US" sz="1100"/>
          </a:p>
        </p:txBody>
      </p:sp>
      <p:sp>
        <p:nvSpPr>
          <p:cNvPr name="AutoShape 31" id="31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