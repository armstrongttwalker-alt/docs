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56" Target="notesSlides/notesSlide22.xml" Type="http://schemas.openxmlformats.org/officeDocument/2006/relationships/notesSlide"/><Relationship Id="rId57" Target="notesSlides/notesSlide23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同学们，大家好。欢迎来到第25课时，我们将开始探讨编译器后端支持的多芯片适配问题。本讲的主题是“多芯片后端支持 I (Codegen)”，也就是代码生成部分。随着AI硬件加速器的多样化，同一个算法需要针对不同的芯片架构生成高效的机器码。编译器后端负责将中间表示（IR）转换为目标机器代码，这个过程包括指令选择、寄存器分配、指令调度和代码发射 等关键步骤。今天我们将以Triton编译器为例，深入剖析它是如何通过多层抽象和LLVM/MLIR基础设施，实现对NVIDIA、AMD、Intel等多种GPU后端的支持的。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先从宏观视角看多后端编译流程。编译器前端将源代码转换为平台无关的中间表示（IR），然后后端针对不同目标架构将IR转换为机器码。后端的核心任务包括：适配不同指令集、生成高效的目标代码、充分利用硬件特性（如向量单元、矩阵加速器）。 图中展示了从IR到目标代码的典型流程：指令选择、寄存器分配、指令调度、代码发射 。这些步骤环环相扣，共同决定了最终代码的性能。Triton的编译流程也遵循这一通用模式。Triton Python代码首先被解析为Triton IR（TTIR），然后经过一系列优化和布局转换，成为TritonGPU IR（TTGIR），接着lower到LLVM IR，最终生成PTX（针对NVIDIA GPU）或其它目标代码。这个分层设计使得Triton能够复用LLVM的强大后端，同时在前端和中间层加入针对GPU的特定优化，如内存布局分析和Warp调度。Triton的目标是支持多种AI加速芯片，包括NVIDIA GPU、AMD GPU、Intel GPU等。为了实现这一点，Triton在IR层保持硬件无关的抽象（如张量操作、块级并行），然后通过不同的后端Lowering路径，将统一的IR映射 到各硬件的原生指令上。例如，tt.dot操作在NVIDIA后端会被转换为mma.sync或wgmma指令，在AMD后端转换为v_mfma指令，在Intel后端转换为dpas指令。这种设计极大地提高了代码的可移植性。编译器后端的主要流程可以概括为四个阶段：指令选择、寄存器分配、指令调度、代码发射 。指令选择将IR节点映射 为目标机器指令；寄存器分配将无限的虚拟寄存器映射 到有限的物理寄存器；指令调度重新排列指令顺序以隐藏延迟、提高并行度；代码发射 则输出最终的汇编或二进制代码。每个阶段都需要考虑目标架构的特性，并在性能与编译时间之间做出权衡。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指令选择是后端的第一步，它将中间表示（IR）转换为目标机器指令。一条IR可能对应多种机器指令组合，编译器需要选择最优的指令序列。例如，一个加法操作可能对应寄存器加法、立即数加法，或者与乘法融合成乘加指令。指令选择通常基于树覆盖算法：将IR表示成树形结构，然后用目标指令模板（模式）去覆盖这棵树，选择代价最小的覆盖方案。树覆盖算法用动态规划求解最优覆盖。自底向上计算每个节点的最小代价：Cost(node) = min_{匹配模式} (pattern_cost + Σ Cost(子节点未覆盖部分))。模式匹配时，一条指令可能覆盖一个子树。这个算法保证了整体指令序列的代价最小，通常使用机器描述（如LLVM TableGen）自动生成匹配代码。LLVM使用SelectionDAG作为指令选择的中间表示。DAG节点包括操作码、值类型、操作数链等。通过TableGen定义的目标指令模式，编译器自动生成匹配代码，将DAG节点组合为目标指令。这个过程还支持复杂的指令融合，比如将乘法和加法融合为一条乘加指令。 图中给出了IR树与机器指令模板的对应关系，体现了模式匹配的思想。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寄存器分配将无限多的虚拟寄存器映射 到有限的物理寄存器。同时活跃的变量不能共用同一个物理寄存器，因此需要构建冲突 图：节点是变量，边表示它们同时活跃（冲突）。寄存器分配问题可以转化为 图着色问题：用k种颜色（k个物理寄存器）给冲突 图着色，相邻节点颜色不同。经典的Chaitin算法通过迭代简化 图并处理溢出（将变量spill到内存）来求解。对于JIT编译，常用线性扫描算法，复杂度更低。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PU的寄存器分配有其特殊性：GPU拥有大量寄存器（每个线程可用的寄存器数量多），因此溢出相对较少。但寄存器使用量直接影响Occupancy（活跃warp数量）。如果每个线程使用的寄存器过多，Occupancy会降低，可能导致延迟无法隐藏。Triton通过num_warps参数间接控制寄存器压力：增加warp数量会减少每个warp可用的寄存器，从而提高Occupancy，但可能导致寄存器溢出到Local Memory，反而降低性能。因此需要权衡： 图中展示了不同配置下的效果：64寄存器/线程（Occupancy 50%）无溢出，性能好；32寄存器/线程（Occupancy 100%）但溢出严重，性能差；200寄存器/线程（Occupancy 15%）无溢出但warp太少，无法隐藏延迟，性能也差。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指令调度旨在最小化执行时间，通过隐藏指令延迟和利用指令级并行（ILP）。调度器根据指令依赖 图，在不同周期并行发射 独立指令。 图中给出了一个例子：两条load指令（延迟300周期）互相独立，可以并行发射 ；后续的add依赖load结果，必须在300周期后执行。调度结果在cycle 0同时发射 load1和load2，cycle 300发射 add，从而隐藏了部分延迟。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软件流水是一种循环优化技术，通过重叠不同迭代的指令执行来提高利用率。图中展示了三级流水线：Stage1（加载）、Stage2（计算）、Stage3（存储）。在T=2时，迭代2加载数据，迭代1计算，迭代0存储，三者并行。Triton通过num_stages参数控制流水深度，并利用异步内存拷贝（cp.async）和Hopper TMA（Tensor Memory Accelerator）实现高效流水。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LLVM的代码生成框架分为多个阶段：LLVM IR首先被转换为SelectionDAG，然后经过类型合法化、操作合法化、DAG优化、指令选择、调度，生成Machine IR（MIR）。MIR是SSA形式的机器指令，随后进行寄存器分配、序言/尾声插入、后期优化，最终通过MC层汇编发射 ，生成目标文件。这个流程高度模块化，便于支持新架构。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electionDAG中的节点包含操作码（如ADD、MUL）、值类型（如i32、f32）、操作数链（用于维护内存依赖）以及调试信息。这些节点构成了有向无环图，指令选择就是在该图上进行模式匹配。类型合法化处理目标机器不支持的类型。例如，如果目标机器不支持i128类型，编译器会将其拆分为多个i64操作。图中展示了i128加法合法化为两个i64加法和进位处理。类似地，浮点类型可能需要扩展或缩减。合法化确保后续阶段只处理目标原生支持的类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Machine IR阶段仍然使用虚拟寄存器，在寄存器分配后替换为物理寄存器。同时，编译器会添加函数序言/尾声（如栈帧设置）。目标架构的描述通过TableGen文件（.td）完成，包括寄存器定义、寄存器类、指令定义等。例如，定义一个加法指令ADDrr，指定输入输出操作数、汇编字符串和匹配模式。这些描述用于生成指令选择器和汇编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LLVM的NVPTX后端将LLVM IR编译为NVIDIA GPU的PTX汇编。它通过内置函数（如llvm.nvvm.read.ptx.sreg.tid.x）获取线程ID，通过barrier0实现同步，通过shuffle指令支持warp通信。地址空间映射 ：addrspace(1)对应global memory，addrspace(3)对应shared memory。该后端还尝试匹配Tensor Core指令，最终输出.ptx文本文件。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为了调试和优化，我们可以使用一系列工具查看代码生成中间结果：triton-opt --dump-llir输出LLVM IR；llc -view-dag-combine1-dags可视化SelectionDAG；llc -print-after-all打印MIR各个阶段；triton-opt --dump-ptx输出最终PTX。这些工具帮助开发者理解编译器优化过程，定位性能问题。在Triton中，我们可以通过triton.compile返回的compiled.asm字典获取各阶段IR：'ttir'（Triton IR）、'ttgir'（TritonGPU IR）、'llir'（LLVM IR）、'ptx'（PTX）。这使得我们可以深入检查编译器的每一步转换，验证布局优化和代码生成是否正确。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LIR（多级中间表示）是LLVM项目下的一个子项目，旨在提供可扩展、多层次的IR基础设施。它允许定义方言（Dialect），每个方言包含一组操作、类型和属性。不同的方言可以共存，并通过Lowering逐步转换到更低层次。例如，Triton使用triton方言表示张量操作，然后Lower到tritongpu方言引入并行和布局信息，最终Lower到LLVM方言。这种分层设计使得优化可以专注于每一层的抽象，简化了多后端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LIR的核心是方言之间的转换。开发者只需关注当前层的优化和Lowering逻辑，下层由MLIR基础设施处理。例如，从triton方言到tritongpu方言的转换，需要添加布局属性；从tritongpu到LLVM的转换，需要生成具体的线程级代码。MLIR的扩展性使得支持新硬件变得更加容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MLIR中进行代码生成时，我们使用OpBuilder来创建操作。所有操作都必须通过Builder创建，MLIR管理内部类型。类型可以通过builder.getXXXType或XXXType::get获取。Builder还需要设置插入点（InsertionPoint），以确定操作在Block中的位置。这种设计保证了IR的正确性和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Triton完全基于MLIR构建。它定义了自己的方言：triton张量操）、tritongpu的GPU并行与布局。编译流程是从Python AST生成triton方言，然后逐步Lower到tritongpu、LLVM，最终生成PTX。图中展示了一个简单的向量加法示例：Python代码、TTIR、最终PTX的对照，可以看到Triton自动处理了线程ID映射 、向量化加载/存储等细节。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TTIR由Python AST解析而来，包含块级并行表示。例如，tt.get_program_id获取程序ID，tt.make_range生成索引范围，tt.load和tt.store执行向量化内存访问。这些操作都基于张量抽象，与具体硬件无关。TTIR还利用MLIR内置的arith、math等方言进行基本运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TGIR在TTIR的基础上添加了布局信息，如#triton_gpu.blocked指定了每个线程处理多少元素、warp配置等。同时，模块属性中指定了目标架构如cuda:80表示Ampere和warp数量。这些信息指导后续的代码生成，确保生成的PTX能够高效利用硬件资源。PTX是NVIDIA GPU的虚拟指令集，由ptxas编译为实际机器码。图中展示了一条Tensor Core指令wmma.mma.sync，它执行16x16x16的矩阵乘加操作，操作数分布在多个32位寄存器中。PTX代码包含了寄存器声明、线程ID计算、地址计算、条件分支等，与最终的SASS机器码一一对应。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Triton也支持AMD和Intel GPU。对于AMD，Triton通过LLVM AMDGPU后端生成GCN/CDNA汇编，利用v_mfma指令实现矩阵运算。对于Intel，Triton通过MLIR的SPIR-V方言，最终使用Intel Graphics Compiler（IGC）生成Gen ISA。虽然各后端的细节不同，但Triton在IR层保持统一，仅在后端Lowering时进行指令映射 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支持多后端面临的主要挑战包括：执行模型差异（NVIDIA warp大小为32，AMD wave为64，Intel SIMD宽度可变）、内存层次差异（共享内存大小、bank数不同）、矩阵加速单元差异（NVIDIA Tensor Core、AMD Matrix Core、Intel XMX）。Triton通过抽象层解决这些问题：在TTGIR中引入执行宽度参数、共享内存大小配置，以及统一的tt.dot接口，后端根据目标架构将其映射 到具体指令。图中展示了一个简化的后端类，根据架构版本选择不同的指令发射 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代码生成优化包括向量化和循环展开等。向量化将标量操作组合成向量操作，减少指令数量并利用SIMD单元。Triton通过张量操作天然支持向量化：tl.arange生成向量索引，加载/存储操作自动编译为向量指令。循环展开通过复制循环体减少循环开销，暴露更多指令级并行，并提高寄存器复用率。Triton的向量化是隐式的。用户使用tl.arange(0, BLOCK)生成连续索引，然后传递给tl.load。编译器会根据数据类型和BLOCK大小自动选择最优的向量宽度，生成相应的向量加载指令（如ld.global.v4.f32）。这极大地简化了编程，同时保证了高效。循环展开是另一种重要优化。图中展示了将K循环从步长16展开为步长64，一次迭代内执行4次dot操作。这样可以减少循环控制开销，并使多个dot指令并行执行（如果硬件资源允许）。Triton中可以通过手动或编译器自动实现循环展开，进一步提升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最后，我们留一个分组讨论题目：“Triton如何支持NVIDIA不同架构？”请大家结合今天所学内容，思考Triton如何通过目标属性（如triton_gpu.target）和版本判断，选择不同的Tensor Core指令（如Volta的mma、Ampere的wgmma），并调整流水深度和寄存器分配策略以适应不同架构的特性。讨论后请各组派代表分享观点。这节课的内容就到这里，谢谢大家。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3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23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20.jpeg" Type="http://schemas.openxmlformats.org/officeDocument/2006/relationships/image"/><Relationship Id="rId13" Target="../media/image21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6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22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25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：多芯片后端支持</a:t>
            </a: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b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Codegen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1748" b="27784"/>
          <a:stretch>
            <a:fillRect/>
          </a:stretch>
        </p:blipFill>
        <p:spPr>
          <a:xfrm rot="0" flipH="false" flipV="false">
            <a:off x="523873" y="1863090"/>
            <a:ext cx="6134962" cy="101727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3" id="3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多后端编译流程</a:t>
            </a:r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编译流程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的多后端支持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41404" y="3488405"/>
            <a:ext cx="5499376" cy="252895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6210297" y="1323977"/>
            <a:ext cx="5981703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  <a:defRPr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编译器后端：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IR-&gt;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机器码</a:t>
            </a:r>
            <a:endParaRPr lang="en-US" sz="1100"/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适配不同目标架构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生成高效的目标代码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利用硬件特性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主要流程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指令选择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指令调度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代码发射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计算硬件碎片化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同一个算法，需要针对不同硬件生成不同代码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指令选择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将中间表示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(IR)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转换为目标机器指令的过程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一条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IR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可能对应多种机器指令组合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选择最优的指令序列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树覆盖算法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用最少最快的指令覆盖整棵树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动态规划求解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代价模型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Cost(node) = min over all matching patterns {pattern_cost + Σ Cost(children not covered)}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自底向上计算每个节点的最优覆盖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SelectionDAG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匹配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TableGen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定义模式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自动生成匹配代码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支持复杂的指令融合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23873" y="4171950"/>
            <a:ext cx="5572127" cy="2008189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IR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树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			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机器指令模板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add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/ \ 		add r1, r2, r3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寄存器加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load mul 		add r1, r2, imm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立即数加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| 	 / \ 		madd r1,r2,r3,r4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乘加融合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ptr a   b 		ld.add r1, [ptr], r2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加载加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无限虚拟寄存器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有限物理寄存器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同时活跃的变量不能共用寄存器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冲突图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节点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变量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边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同时活跃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冲突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图着色算法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冲突图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G, 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个物理寄存器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k-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着色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相邻节点不同色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Chaitin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算法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移除度数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&lt; 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的节点入栈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若所有节点度数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&gt;= k,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选择一个溢出到内存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出栈时分配颜色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插入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load/store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处理溢出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线性扫描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O(n)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复杂度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JIT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编译常用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PBQP: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基于分区布尔二次规划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41404" y="4901566"/>
            <a:ext cx="3280410" cy="14516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a: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b: 		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████████████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c: 		  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d: 				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████████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e:					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████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1404" y="3922727"/>
            <a:ext cx="2263140" cy="883128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───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───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  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   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   d </a:t>
            </a:r>
            <a:r>
              <a:rPr lang="en-US" b="false" i="false" strike="noStrike" u="none" sz="18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───</a:t>
            </a: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e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- GPU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特殊考虑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寄存器分配的特殊性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更多寄存器（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warp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少）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更少溢出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可能降低并行度，所有数据都是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0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延迟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延迟无法隐藏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2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279400" marL="2794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</a:t>
            </a:r>
          </a:p>
          <a:p>
            <a:pPr algn="l" indent="-241300" lvl="1" marL="5842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通过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num_warps </a:t>
            </a: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间接控制寄存器压力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79400" marL="2794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配置</a:t>
            </a: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Tradeoff	</a:t>
            </a:r>
          </a:p>
          <a:p>
            <a:pPr algn="l" indent="-241300" lvl="1" marL="5842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每线程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64 </a:t>
            </a: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Occupancy 50%</a:t>
            </a:r>
          </a:p>
          <a:p>
            <a:pPr algn="l" indent="-190500" lvl="2" marL="8763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无溢出，足够的</a:t>
            </a:r>
            <a:r>
              <a:rPr lang="en-US" b="false" i="false" strike="noStrike" u="none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 </a:t>
            </a: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来隐藏延迟，性能好</a:t>
            </a:r>
          </a:p>
          <a:p>
            <a:pPr algn="l" indent="-241300" lvl="1" marL="5842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每线程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Occupancy 100%</a:t>
            </a:r>
          </a:p>
          <a:p>
            <a:pPr algn="l" indent="-190500" lvl="2" marL="8763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溢出部分数据在</a:t>
            </a:r>
            <a:r>
              <a:rPr lang="en-US" b="false" i="false" strike="noStrike" u="none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Local Memory</a:t>
            </a: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，虽然</a:t>
            </a:r>
            <a:r>
              <a:rPr lang="en-US" b="false" i="false" strike="noStrike" u="none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 </a:t>
            </a: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多，但溢出的惩罚大，性能差</a:t>
            </a:r>
          </a:p>
          <a:p>
            <a:pPr algn="l" indent="-241300" lvl="1" marL="5842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每线程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200 </a:t>
            </a:r>
            <a:r>
              <a:rPr lang="en-US" b="false" i="false" strike="noStrike" u="none" sz="19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</a:t>
            </a: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Occupancy 15%</a:t>
            </a:r>
          </a:p>
          <a:p>
            <a:pPr algn="l" indent="-190500" lvl="2" marL="8763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无溢出，但</a:t>
            </a:r>
            <a:r>
              <a:rPr lang="en-US" b="false" i="false" strike="noStrike" u="none" sz="15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Warp </a:t>
            </a:r>
            <a:r>
              <a:rPr lang="en-US" b="false" i="false" strike="noStrike" u="none" sz="15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太少，无法隐藏内存延迟，性能差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15790" y="1896270"/>
          <a:ext cx="5123181" cy="201556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07727"/>
                <a:gridCol w="1707727"/>
                <a:gridCol w="1707727"/>
              </a:tblGrid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特性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</a:tr>
              <a:tr h="532209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寄存器数量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~16-32 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每线程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~255 </a:t>
                      </a: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并发线程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少量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数千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溢出代价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较低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极高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</a:tr>
              <a:tr h="370840"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占用率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无影响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直接影响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6206967" y="2078075"/>
            <a:ext cx="4594860" cy="1171878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def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kernel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(...):</a:t>
            </a:r>
            <a:b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较多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warps →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每个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warp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寄存器较少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→ 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# Occupancy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较高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kernel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grid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](</a:t>
            </a:r>
            <a:r>
              <a:rPr lang="en-US" b="false" i="false" strike="noStrike" u="none" sz="1400">
                <a:solidFill>
                  <a:srgbClr val="CCCCCC"/>
                </a:solidFill>
                <a:latin typeface="Menlo"/>
                <a:ea typeface="Menlo"/>
                <a:cs typeface="Menlo"/>
                <a:sym typeface="Menlo"/>
              </a:rPr>
              <a:t>...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num_warps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8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指令调度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最小化执行时间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隐藏延迟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利用指令级并行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(ILP)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17220" y="2923382"/>
            <a:ext cx="3657600" cy="22288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指令序列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1: r1 = load [ptr1]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延迟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300 cycles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2: r2 = load [ptr2]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延迟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300 cycles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3: r3 = r1 + r2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依赖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1, 2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4: r4 = r3 * 2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依赖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3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5: store [ptr3], r4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依赖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4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69130" y="2923382"/>
            <a:ext cx="3131820" cy="22288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依赖图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load1 (300) load2 (300)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\ 			/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   add (4)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   |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mul (4)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   |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 store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772399" y="2923382"/>
            <a:ext cx="4122421" cy="22288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调度结果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(2-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发射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Cycle 0: load1, load2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并行发射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Cycle 300: add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等待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load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完成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Cycle 304: mul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Cycle 308: store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指令调度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列表调度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Priority Queue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调度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计算每条指令的优先级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关键路径长度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维护就绪队列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依赖已满足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每个周期选择最高优先级的就绪指令发射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更新依赖状态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软件流水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在循环中重叠不同迭代的指令执行。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中的流水实现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`num_stages`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参数控制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异步内存拷贝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(`cp.async`)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Hopper TMA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原生支持多级流水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1200" y="4928405"/>
            <a:ext cx="4973957" cy="156654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┌──────────────────────────────────────────────────┐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Iter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Stage1(Load)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Stage2(Compute)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Stage3(Store)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├──────┼────────────┼───────────────┼──────────────┤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T=0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load[0]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         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        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T=1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load[1]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compute[0]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        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T=2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load[2]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compute[1]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store[0]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T=3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load[3]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compute[2]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store[1]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...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...   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...      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...         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└──────────────────────────────────────────────────┘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2377" y="3786041"/>
            <a:ext cx="5211282" cy="270891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A8CC7C"/>
                </a:solidFill>
                <a:latin typeface="Menlo"/>
                <a:ea typeface="Menlo"/>
                <a:cs typeface="Menlo"/>
                <a:sym typeface="Menlo"/>
              </a:rPr>
              <a:t>@triton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8CC7C"/>
                </a:solidFill>
                <a:latin typeface="Menlo"/>
                <a:ea typeface="Menlo"/>
                <a:cs typeface="Menlo"/>
                <a:sym typeface="Menlo"/>
              </a:rPr>
              <a:t>jit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def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matmul_kernel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(...):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num_stages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控制流水深度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for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k </a:t>
            </a:r>
            <a:r>
              <a:rPr lang="en-US" b="false" i="true" strike="noStrike" u="none" sz="14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in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range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K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BLOCK_K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Stage 1: Prefetch next tile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tl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load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A_ptr_next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400">
                <a:solidFill>
                  <a:srgbClr val="CCCCCC"/>
                </a:solidFill>
                <a:latin typeface="Menlo"/>
                <a:ea typeface="Menlo"/>
                <a:cs typeface="Menlo"/>
                <a:sym typeface="Menlo"/>
              </a:rPr>
              <a:t>...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异步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Stage 2: Compute current tile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acc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tl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dot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acc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隐式流水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load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compute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重叠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LLVM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代码生成框架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 IR -&gt; SelectionDAG -&gt; Machine IR (MIR) -&gt; MC Layer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404" y="1953491"/>
            <a:ext cx="768741" cy="3990109"/>
          </a:xfrm>
          <a:prstGeom prst="rect">
            <a:avLst/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LLVM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32894" y="1953491"/>
            <a:ext cx="4163105" cy="3990109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SelectionDAG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DAG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构建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(Build DAG)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类型合法化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(Type Legalization) 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操作合法化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(Operation Legalization)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4. DAG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优化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(DAG Combine) 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指令选择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(Instruction Selection) 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调度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(Scheduling) 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518748" y="1953490"/>
            <a:ext cx="2999325" cy="3990109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Machine IR (MIR) </a:t>
            </a:r>
            <a:endParaRPr lang="en-US" sz="1100"/>
          </a:p>
          <a:p>
            <a:pPr algn="ctr" indent="-228600" marL="228600">
              <a:lnSpc>
                <a:spcPct val="10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SSA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形式的机器指令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Prologue/Epilogue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插入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后期机器代码优化</a:t>
            </a: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40823" y="1953490"/>
            <a:ext cx="1860652" cy="3990109"/>
          </a:xfrm>
          <a:prstGeom prst="rect">
            <a:avLst/>
          </a:prstGeom>
          <a:solidFill>
            <a:srgbClr val="FFC000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汇编发射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目标文件生成</a:t>
            </a:r>
          </a:p>
        </p:txBody>
      </p:sp>
      <p:cxnSp>
        <p:nvCxnSpPr>
          <p:cNvPr name="Connector 10" id="10"/>
          <p:cNvCxnSpPr/>
          <p:nvPr/>
        </p:nvCxnSpPr>
        <p:spPr>
          <a:xfrm rot="0" flipH="false" flipV="false">
            <a:off x="1510145" y="3948546"/>
            <a:ext cx="422749" cy="0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11" id="11"/>
          <p:cNvCxnSpPr/>
          <p:nvPr/>
        </p:nvCxnSpPr>
        <p:spPr>
          <a:xfrm rot="0" flipH="false" flipV="true">
            <a:off x="6095999" y="3948545"/>
            <a:ext cx="422749" cy="1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12" id="12"/>
          <p:cNvCxnSpPr/>
          <p:nvPr/>
        </p:nvCxnSpPr>
        <p:spPr>
          <a:xfrm rot="0" flipH="false" flipV="false">
            <a:off x="9518073" y="3948545"/>
            <a:ext cx="422750" cy="0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SelectionDAG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节点类型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(Opcode): ADD, MUL, LOAD, STORE, ...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值类型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(Value Type): i32, f32, v4f32, ...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操作数链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(Operand Chain):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依赖关系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调试信息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类型合法化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（目标机器不支持某些类型时）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原始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: add i128 %a, %b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合法化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拆分为两个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i64):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%lo = add i64 %a.lo, %b.lo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%carry = ...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%hi = add i64 %a.hi, %b.hi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%hi = add i64 %hi, %carry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097378" y="1325131"/>
            <a:ext cx="2114163" cy="242533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Machine IR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与目标描述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MIR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阶段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仍使用虚拟寄存器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(%vreg0, %vreg1, ...)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寄存器分配后变为物理寄存器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(%eax, %r0, ...)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添加函数序言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尾声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栈帧设置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2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279400" marL="2794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Target.td - </a:t>
            </a: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目标架构描述</a:t>
            </a:r>
          </a:p>
          <a:p>
            <a:pPr algn="l" indent="-279400" marL="2794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寄存器定义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def R0 : Register&lt;"r0"&gt;;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def R1 : Register&lt;"r1"&gt;; 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def GPR : RegisterClass&lt;"GPR", [i32], 32, (add R0, R1, R2, ...)&gt;;</a:t>
            </a:r>
          </a:p>
          <a:p>
            <a:pPr algn="l" indent="-279400" marL="2794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指令定义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def ADDrr : Instruction {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let OutOperandList = (outs GPR:$dst);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let InOperandList = (ins GPR:$src1, GPR:$src2);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let AsmString = "add $dst, $src1, $src2";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	let Pattern = [(set GPR:$dst, (add GPR:$src1, GPR:$src2))];}</a:t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19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00545" y="3429000"/>
            <a:ext cx="4156364" cy="46412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%1 = add i32 %a, %b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00545" y="4570918"/>
            <a:ext cx="4156364" cy="46412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ADD32rr %vreg1, %vreg2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867891" y="3948545"/>
            <a:ext cx="221672" cy="56695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LLVM NVPTX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后端架构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 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至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 GPU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的编译路线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400393" y="1995060"/>
            <a:ext cx="7391214" cy="1025237"/>
          </a:xfrm>
          <a:prstGeom prst="rect">
            <a:avLst/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LLVM IR      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特殊内置函数</a:t>
            </a: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llvm.nvvm.read.ptx.sreg.tid.x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线程</a:t>
            </a: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 ID)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llvm.nvvm.barrier0 (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同步</a:t>
            </a: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Arial"/>
                <a:ea typeface="Arial"/>
                <a:cs typeface="Arial"/>
                <a:sym typeface="Arial"/>
              </a:rPr>
              <a:t>llvm.nvvm.shfl.* (warp shuffle)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400393" y="3445674"/>
            <a:ext cx="7391214" cy="1025237"/>
          </a:xfrm>
          <a:prstGeom prst="rect">
            <a:avLst/>
          </a:prstGeom>
          <a:solidFill>
            <a:srgbClr val="ED7D31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NVPTX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指令选择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地址空间映射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addrspace(1)=global, addrspace(3)=shared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Tensor Core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指令匹配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特殊函数调用处理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400393" y="4896288"/>
            <a:ext cx="7391214" cy="1025237"/>
          </a:xfrm>
          <a:prstGeom prst="rect">
            <a:avLst/>
          </a:prstGeom>
          <a:solidFill>
            <a:srgbClr val="70AD47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PTX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汇编发射</a:t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寄存器以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%r, %f, %p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等为前缀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内存操作带地址空间限定符</a:t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输出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.ptx </a:t>
            </a:r>
            <a:r>
              <a:rPr lang="en-US" b="false" i="fals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文本文件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6096000" y="3020297"/>
            <a:ext cx="0" cy="425377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6096000" y="4470911"/>
            <a:ext cx="0" cy="425377"/>
          </a:xfrm>
          <a:prstGeom prst="straightConnector1">
            <a:avLst/>
          </a:prstGeom>
          <a:noFill/>
          <a:ln w="635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代码生成可视化工具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LLVM 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triton-opt --dump-llir kernel.py &gt; kernel.ll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SelectionDAG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llc -view-dag-combine1-dags kernel.ll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llc -print-after-all kernel.ll 2&gt;&amp;1 | less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查看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PTX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triton-opt --dump-ptx kernel.py &gt; kernel.ptx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编译产物查看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1404" y="4003964"/>
            <a:ext cx="7931541" cy="2050472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compiled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triton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compile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add_kernel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signature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394DC"/>
                </a:solidFill>
                <a:latin typeface="Menlo"/>
                <a:ea typeface="Menlo"/>
                <a:cs typeface="Menlo"/>
                <a:sym typeface="Menlo"/>
              </a:rPr>
              <a:t>"*fp32,*fp32,*fp32,i32"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tru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constants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{</a:t>
            </a:r>
            <a:r>
              <a:rPr lang="en-US" b="false" i="false" strike="noStrike" u="none" sz="1400">
                <a:solidFill>
                  <a:srgbClr val="E394DC"/>
                </a:solidFill>
                <a:latin typeface="Menlo"/>
                <a:ea typeface="Menlo"/>
                <a:cs typeface="Menlo"/>
                <a:sym typeface="Menlo"/>
              </a:rPr>
              <a:t>"BLOCK"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</a:t>
            </a:r>
            <a:r>
              <a:rPr lang="en-US" b="false" i="false" strike="noStrike" u="none" sz="14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1024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b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4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获取各阶段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IR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ttir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compiled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asm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b="false" i="false" strike="noStrike" u="none" sz="1400">
                <a:solidFill>
                  <a:srgbClr val="E394DC"/>
                </a:solidFill>
                <a:latin typeface="Menlo"/>
                <a:ea typeface="Menlo"/>
                <a:cs typeface="Menlo"/>
                <a:sym typeface="Menlo"/>
              </a:rPr>
              <a:t>'ttir'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Triton IR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ttgir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compiled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asm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b="false" i="false" strike="noStrike" u="none" sz="1400">
                <a:solidFill>
                  <a:srgbClr val="E394DC"/>
                </a:solidFill>
                <a:latin typeface="Menlo"/>
                <a:ea typeface="Menlo"/>
                <a:cs typeface="Menlo"/>
                <a:sym typeface="Menlo"/>
              </a:rPr>
              <a:t>'ttgir'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TritonGPU IR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llir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compiled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asm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b="false" i="false" strike="noStrike" u="none" sz="1400">
                <a:solidFill>
                  <a:srgbClr val="E394DC"/>
                </a:solidFill>
                <a:latin typeface="Menlo"/>
                <a:ea typeface="Menlo"/>
                <a:cs typeface="Menlo"/>
                <a:sym typeface="Menlo"/>
              </a:rPr>
              <a:t>'llir'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LLVM IR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ptx 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compiled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4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asm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[</a:t>
            </a:r>
            <a:r>
              <a:rPr lang="en-US" b="false" i="false" strike="noStrike" u="none" sz="1400">
                <a:solidFill>
                  <a:srgbClr val="E394DC"/>
                </a:solidFill>
                <a:latin typeface="Menlo"/>
                <a:ea typeface="Menlo"/>
                <a:cs typeface="Menlo"/>
                <a:sym typeface="Menlo"/>
              </a:rPr>
              <a:t>'ptx'</a:t>
            </a:r>
            <a:r>
              <a:rPr lang="en-US" b="false" i="false" strike="noStrike" u="none" sz="14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]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MLIR: Multi-Level Intermediate Representation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支持多层次、可扩展的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，适合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DSL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和加速器编译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方言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Dialect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为设计核心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一组相关的操作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(Operations)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类型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(Types)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属性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(Attributes)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Lowering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常见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MLIR dialect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arith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算术运算；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scf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结构化控制流；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编译器使用的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Dialect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张量操作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块级抽象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-&gt;TritonGPUGPU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并行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布局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内存层次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-&gt;LLVM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低级操作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接近机器码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277051" y="1929130"/>
            <a:ext cx="2597785" cy="2565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9109026" y="1918335"/>
            <a:ext cx="685800" cy="267335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993456" y="2410460"/>
            <a:ext cx="91757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277051" y="1929130"/>
            <a:ext cx="396875" cy="267335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35446" y="2360295"/>
            <a:ext cx="68008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969076" y="3077845"/>
            <a:ext cx="3759835" cy="889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8307656" y="3027045"/>
            <a:ext cx="2179955" cy="267335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10800000" flipH="false" flipV="false">
            <a:off x="9451926" y="2185670"/>
            <a:ext cx="635" cy="224790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0" flipH="false" flipV="true">
            <a:off x="9397951" y="2747645"/>
            <a:ext cx="54610" cy="279400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0" flipH="false" flipV="true">
            <a:off x="7475806" y="2196465"/>
            <a:ext cx="0" cy="163830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9109026" y="3952875"/>
            <a:ext cx="929005" cy="3371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operand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83551" y="3294380"/>
            <a:ext cx="1249045" cy="246380"/>
          </a:xfrm>
          <a:prstGeom prst="rect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10800000" flipH="false" flipV="false">
            <a:off x="9108391" y="3540760"/>
            <a:ext cx="465455" cy="412115"/>
          </a:xfrm>
          <a:prstGeom prst="line">
            <a:avLst/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main:dur="1000">
    <p:fade thruBlk="false"/>
  </p:transition>
  <p:timing>
    <p:tnLst>
      <p:par>
        <p:cTn id="1" nodeType="tmRoot" restart="never" dur="indefinite">
          <p:childTnLst>
            <p:seq concurrent="true" nextAc="seek">
              <p:cTn nodeType="mainSeq" dur="indefinite" id="2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childTnLst>
                        <p:par>
                          <p:cTn id="16" fill="hold">
                            <p:childTnLst>
                              <p:par>
                                <p:cTn fill="hold" id="17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childTnLst>
                        <p:par>
                          <p:cTn id="24" fill="hold">
                            <p:childTnLst>
                              <p:par>
                                <p:cTn fill="hold" id="25" nodeType="click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" presetSubtype="0" repeatCount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MLIR: Multi-Level Intermediate Representation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支持方言间的互相转换，用户只需要关注当前层的优化和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Lowering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逻辑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23873" y="1655266"/>
            <a:ext cx="7127462" cy="47711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MLIR: CodeGen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Create OpBuilder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All Op can Only be Created by Builder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MLIR will manage some internal types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Build Type by builder.getXXXType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Or XXXType::get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Set InsertionPoint in builder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To fill the Block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735157" y="350362"/>
            <a:ext cx="6301105" cy="59162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 and MLIR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Dialect-&gt;Triton IR-&gt;LLVM IR-&gt;PTX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样例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按照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自动并行化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89093" y="1735345"/>
            <a:ext cx="2080527" cy="11142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@jit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 add(X, Y, Z, N):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pid = program_id(0)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idx= pid * 512 + arange(512)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mask = idx &lt; 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x = load(X + idx, mask=mask)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y = load(Y + idx, mask=mask)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store(Z + idx, x + y, mask=mask)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89093" y="2958569"/>
            <a:ext cx="2961798" cy="33946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 void add(i32* X .aligned(16) , i32* Y .aligned(16) , i32* Z .aligned(16) , i32 N .multipleof(2) ) {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entry: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%0 = get_program_id[0] i32;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%1 = mul i32 %0, 512;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%3 = make_range[0 : 512] i32&lt;512&gt;;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%4 = splat i32&lt;512&gt; %1;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%6 = add i32&lt;512&gt; %4, %3;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%9 = splat i32&lt;512&gt; N;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%11 = icmp_slt i1&lt;512&gt; %6, %9;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%14 = splat i32*&lt;512&gt; X;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%16 = getelementptr i32*&lt;512&gt; %14, %6;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%19 = broadcast i1&lt;512&gt; %11;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%21 = splat i32&lt;512&gt; undef;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%22 = masked_load i32&lt;512&gt; %16, %19, %21;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%26 = splat i32*&lt;512&gt; Y;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%28 = getelementptr i32*&lt;512&gt; %26, %6;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%31 = broadcast i1&lt;512&gt; %11;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%33 = splat i32&lt;512&gt; undef;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%34 = masked_load i32&lt;512&gt; %28, %31, %33;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%38 = splat i32*&lt;512&gt; Z;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%40 = getelementptr i32*&lt;512&gt; %38, %6;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%43 = add i32&lt;512&gt; %22, %34;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%46 = broadcast i32&lt;512&gt; %43;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%48 = broadcast i1&lt;512&gt; %11;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masked_store void %40, %46, %48;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ret void;}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114419" y="1735328"/>
            <a:ext cx="3207101" cy="44236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visible .entry add(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.param .u64 add_param_0, .param .u64 add_param_1,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.param .u64 add_param_2, .param .u32 add_param_3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.maxntid 128, 1, 1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.reg .pred     %p&lt;4&gt;;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.reg .b32     %r&lt;18&gt;;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.reg .b64     %rd&lt;8&gt;;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ld.param.u64     %rd4, [add_param_0];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ld.param.u64     %rd5, [add_param_1];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mov.u32     %r13, %tid.x;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ld.param.u32     %r14, [add_param_3];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shl.b32     %r15, %r13, 2;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mov.u32     %r16, %ctaid.x;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mad.lo.s32     %r17, %r16, 512, %r15;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setp.ge.s32     %p3, %r17, %r14;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setp.lt.s32     %p1, %r17, %r14;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mul.wide.s32     %rd7, %r17, 4;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add.s64     %rd2, %rd4, %rd7;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@%p1 ld.global.cg.v4.b32 {%r5,%r6,%r7,%r8}, [ %rd2 + 0];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add.s64     %rd3, %rd5, %rd7;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@%p1 ld.global.cg.v4.b32 {%r9,%r10,%r11,%r12}, [ %rd3 + 0];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@%p3 bra     LBB0_2;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ld.param.u64     %rd6, [add_param_2];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add.s64     %rd1, %rd6, %rd7;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add.s32     %r1, %r5, %r9;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add.s32     %r2, %r6, %r10;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add.s32     %r3, %r7, %r11;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add.s32     %r4, %r8, %r12;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st.global.v4.u32     [%rd1], {%r1, %r2, %r3, %r4};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LBB0_2: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ret;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01086" y="2789237"/>
            <a:ext cx="105116" cy="1693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mpd="sng" cap="flat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-5400000" flipH="false" flipV="false">
            <a:off x="3032074" y="4442563"/>
            <a:ext cx="105116" cy="16933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mpd="sng" cap="flat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215297" y="2155362"/>
            <a:ext cx="5592486" cy="31902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方言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大多数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方言直接继承自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内置的方言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Arith: addf, addi, constant, cmpf, cmpi, ...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Math: exp, sin, cos, log, absi, absf, sqrt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StructuredControlFlow: for, if, while, yield, condition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Reduce effort to LLVM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Lowring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到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后利用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 optimizer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nvcc-like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优化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TTIR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：由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python AST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解析而来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张量操作抽象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块级并行表示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894173" y="2608883"/>
            <a:ext cx="5907301" cy="3656187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module {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tt.func @add_kernel(%arg0: !tt.ptr&lt;f32&gt;, 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	%arg1: !tt.ptr&lt;f32&gt;,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	%arg2: !tt.ptr&lt;f32&gt;, 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		%arg3: i32) {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%c1024 = arith.constant 1024 : i32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%pid = tt.get_program_id x : i32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%offset = arith.muli %pid, %c1024 : i32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%range = tt.make_range {end = 1024, start = 0} : tensor&lt;1024xi32&gt;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%offsets = arith.addi %offset_splat, %range : tensor&lt;1024xi32&gt;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//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加载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%x = tt.load %ptr_x : tensor&lt;1024x!tt.ptr&lt;f32&gt;&gt;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%y = tt.load %ptr_y : tensor&lt;1024x!tt.ptr&lt;f32&gt;&gt;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//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计算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%z = arith.addf %x, %y : tensor&lt;1024xf32&gt;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//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存储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tt.store %ptr_z, %z : tensor&lt;1024x!tt.ptr&lt;f32&gt;&gt;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tt.return}}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方言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TritonGPU 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TTGIR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添加布局信息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增加硬件目标和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Warp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配置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 PTX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的虚拟指令集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平台无关的中间表示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由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ptxas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编译为实际机器码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Streaming ASSembler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PTX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指令样例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90525" y="2594919"/>
            <a:ext cx="5705475" cy="358522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#blocked = #triton_gpu.blocked&lt;{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sizePerThread = [4],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threadsPerWarp = [32],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warpsPerCTA = [4],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order = [0]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}&gt;</a:t>
            </a:r>
            <a:b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</a:b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module attributes {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"triton_gpu.num-warps" = 4 : i32,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triton_gpu.target = "cuda:80" // Ampere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 {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tt.func @add_kernel(...) {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// </a:t>
            </a:r>
            <a:r>
              <a:rPr lang="en-US" b="false" i="false" strike="noStrike" u="none" sz="12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现在张量带有布局属性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%x = tt.load %ptr : tensor&lt;1024x!tt.ptr&lt;f32&gt;, #blocked&gt;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%y = tt.load %ptr : tensor&lt;1024x!tt.ptr&lt;f32&gt;, #blocked&gt;%z = arith.addf %x, %y : tensor&lt;1024xf32, #blocked&gt;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}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48398" y="3892378"/>
            <a:ext cx="5419729" cy="939114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wmma.mma.sync.aligned.m16n16k16.row.col.f32.f32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{%d0, %d1, %d2, %d3, %d4, %d5, %d6, %d7},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{%a0, %a1, %a2, %a3, %a4, %a5, %a6, %a7},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{%b0, %b1, %b2, %b3, %b4, %b5, %b6, %b7},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{%c0, %c1, %c2, %c3, %c4, %c5, %c6, %c7};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其他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后端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1000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 IR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AMDGPUISelDAGToDAG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指令选择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SIInstrInfo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指令信息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GCNRegisterInfo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寄存器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GCN/CDNA Assembly</a:t>
            </a:r>
          </a:p>
          <a:p>
            <a:pPr algn="l" indent="-254000" lvl="1" marL="596900">
              <a:lnSpc>
                <a:spcPct val="91666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llvm-mc/ROCM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 GPU Binary (ELF)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 Matrix Core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实现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Tensorcore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功能</a:t>
            </a:r>
          </a:p>
          <a:p>
            <a:pPr algn="l" indent="-304800" marL="304800">
              <a:lnSpc>
                <a:spcPct val="91666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层次无显著差异</a:t>
            </a:r>
          </a:p>
          <a:p>
            <a:pPr algn="l" indent="0">
              <a:lnSpc>
                <a:spcPct val="91666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91666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MLIR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SPIR-V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方言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spirv.Load, spirv.Store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spirv.GroupOperation (SIMD)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spirv.CooperativeMatrix (XMX)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SPIR-V Binary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 Graphics Compiler - IGC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Gen ISA Binary (ELF)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有部分特殊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SPIR-V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扩展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跨后端代码生成挑战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执行模型差异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NVIDIA: Warp = 32 threads, lockstep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执行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AMD: Wave = 64 threads (CDNA),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或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(RDNA)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Intel: SIMD width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可变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(8/16/32)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TritonGPU IR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层抽象为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执行宽度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参数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内存层次差异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NVIDIA: Shared Memory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显式管理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AMD: LDS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类似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但大小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/bank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数不同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Intel: SLM (Shared Local Memory,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更小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共享内存抽象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后端特定大小配置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矩阵加速单元差异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NVIDIA: Tensor Core (mma.sync, wgmma)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AMD: Matrix Core (v_mfma_*)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Intel: XMX (dpas, joint_matrix)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tt.dot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统一接口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后端映射到具体指令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60292" y="3680509"/>
            <a:ext cx="4893276" cy="1853514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class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87C3FF"/>
                </a:solidFill>
                <a:latin typeface="Menlo"/>
                <a:ea typeface="Menlo"/>
                <a:cs typeface="Menlo"/>
                <a:sym typeface="Menlo"/>
              </a:rPr>
              <a:t>NVIDIABackend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6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Backend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	def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get_wave_size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true" strike="noStrike" u="none" sz="16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self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): </a:t>
            </a:r>
            <a:r>
              <a:rPr lang="en-US" b="false" i="tru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return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32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def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lower_dot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true" strike="noStrike" u="none" sz="16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self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, </a:t>
            </a:r>
            <a:r>
              <a:rPr lang="en-US" b="false" i="true" strike="noStrike" u="none" sz="1600">
                <a:solidFill>
                  <a:srgbClr val="F8C762"/>
                </a:solidFill>
                <a:latin typeface="Menlo"/>
                <a:ea typeface="Menlo"/>
                <a:cs typeface="Menlo"/>
                <a:sym typeface="Menlo"/>
              </a:rPr>
              <a:t>op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):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if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CC7C8A"/>
                </a:solidFill>
                <a:latin typeface="Menlo"/>
                <a:ea typeface="Menlo"/>
                <a:cs typeface="Menlo"/>
                <a:sym typeface="Menlo"/>
              </a:rPr>
              <a:t>self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capability 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&gt;=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90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	return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emit_wgmma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op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else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</a:t>
            </a:r>
          </a:p>
          <a:p>
            <a:pPr algn="l" indent="0" lvl="2" marL="914400">
              <a:lnSpc>
                <a:spcPct val="100000"/>
              </a:lnSpc>
            </a:pPr>
            <a:r>
              <a:rPr lang="en-US" b="false" i="tru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	return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emit_mma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op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代码生成优化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向量化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标量代码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向量化代码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的向量化</a:t>
            </a:r>
          </a:p>
          <a:p>
            <a:pPr algn="l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循环展开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减少循环开销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计数器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暴露更多指令级并行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更好的寄存器复用</a:t>
            </a:r>
          </a:p>
          <a:p>
            <a:pPr algn="l" indent="0" lvl="1" marL="342900">
              <a:lnSpc>
                <a:spcPct val="100000"/>
              </a:lnSpc>
              <a:spcBef>
                <a:spcPts val="750"/>
              </a:spcBef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7270" y="2160270"/>
            <a:ext cx="5097780" cy="70866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for i in range(N):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c[i] = a[i] + b[i]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7270" y="3429000"/>
            <a:ext cx="5078730" cy="70866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for i in range(0, N, 4):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c[i:i+4] = a[i:i+4] + b[i:i+4]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23873" y="4712970"/>
            <a:ext cx="5591177" cy="1655416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A8CC7C"/>
                </a:solidFill>
                <a:latin typeface="Menlo"/>
                <a:ea typeface="Menlo"/>
                <a:cs typeface="Menlo"/>
                <a:sym typeface="Menlo"/>
              </a:rPr>
              <a:t>@triton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600">
                <a:solidFill>
                  <a:srgbClr val="A8CC7C"/>
                </a:solidFill>
                <a:latin typeface="Menlo"/>
                <a:ea typeface="Menlo"/>
                <a:cs typeface="Menlo"/>
                <a:sym typeface="Menlo"/>
              </a:rPr>
              <a:t>jit</a:t>
            </a:r>
            <a:endParaRPr lang="en-US" sz="1100"/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82D2CE"/>
                </a:solidFill>
                <a:latin typeface="Menlo"/>
                <a:ea typeface="Menlo"/>
                <a:cs typeface="Menlo"/>
                <a:sym typeface="Menlo"/>
              </a:rPr>
              <a:t>def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false" strike="noStrike" u="none" sz="1600">
                <a:solidFill>
                  <a:srgbClr val="EFB080"/>
                </a:solidFill>
                <a:latin typeface="Menlo"/>
                <a:ea typeface="Menlo"/>
                <a:cs typeface="Menlo"/>
                <a:sym typeface="Menlo"/>
              </a:rPr>
              <a:t>kernel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true" strike="noStrike" u="none" sz="1600">
                <a:solidFill>
                  <a:srgbClr val="F8C762"/>
                </a:solidFill>
                <a:latin typeface="Menlo"/>
                <a:ea typeface="Menlo"/>
                <a:cs typeface="Menlo"/>
                <a:sym typeface="Menlo"/>
              </a:rPr>
              <a:t>ptr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, </a:t>
            </a:r>
            <a:r>
              <a:rPr lang="en-US" b="false" i="true" strike="noStrike" u="none" sz="1600">
                <a:solidFill>
                  <a:srgbClr val="F8C762"/>
                </a:solidFill>
                <a:latin typeface="Menlo"/>
                <a:ea typeface="Menlo"/>
                <a:cs typeface="Menlo"/>
                <a:sym typeface="Menlo"/>
              </a:rPr>
              <a:t>N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, </a:t>
            </a:r>
            <a:r>
              <a:rPr lang="en-US" b="false" i="true" strike="noStrike" u="none" sz="1600">
                <a:solidFill>
                  <a:srgbClr val="F8C762"/>
                </a:solidFill>
                <a:latin typeface="Menlo"/>
                <a:ea typeface="Menlo"/>
                <a:cs typeface="Menlo"/>
                <a:sym typeface="Menlo"/>
              </a:rPr>
              <a:t>BLOCK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: tl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constexpr):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offs 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tl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6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arange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600">
                <a:solidFill>
                  <a:srgbClr val="EBC88D"/>
                </a:solidFill>
                <a:latin typeface="Menlo"/>
                <a:ea typeface="Menlo"/>
                <a:cs typeface="Menlo"/>
                <a:sym typeface="Menlo"/>
              </a:rPr>
              <a:t>0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,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BLOCK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生成向量索引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Triton </a:t>
            </a:r>
            <a:r>
              <a:rPr lang="en-US" b="false" i="tru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自动选择向量宽度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tru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根据</a:t>
            </a:r>
            <a:r>
              <a:rPr lang="en-US" b="false" i="tru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BLOCK </a:t>
            </a:r>
            <a:r>
              <a:rPr lang="en-US" b="false" i="tru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大小和数据类型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x 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=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tl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.</a:t>
            </a:r>
            <a:r>
              <a:rPr lang="en-US" b="false" i="false" strike="noStrike" u="none" sz="1600">
                <a:solidFill>
                  <a:srgbClr val="AAA0FA"/>
                </a:solidFill>
                <a:latin typeface="Menlo"/>
                <a:ea typeface="Menlo"/>
                <a:cs typeface="Menlo"/>
                <a:sym typeface="Menlo"/>
              </a:rPr>
              <a:t>load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(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ptr 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+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offs</a:t>
            </a:r>
            <a:r>
              <a:rPr lang="en-US" b="false" i="false" strike="noStrike" u="none" sz="1600">
                <a:solidFill>
                  <a:srgbClr val="D6D6DD"/>
                </a:solidFill>
                <a:latin typeface="Menlo"/>
                <a:ea typeface="Menlo"/>
                <a:cs typeface="Menlo"/>
                <a:sym typeface="Menlo"/>
              </a:rPr>
              <a:t>)</a:t>
            </a: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 </a:t>
            </a:r>
            <a:r>
              <a:rPr lang="en-US" b="false" i="tru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# </a:t>
            </a:r>
            <a:r>
              <a:rPr lang="en-US" b="false" i="true" strike="noStrike" u="none" sz="1600">
                <a:solidFill>
                  <a:srgbClr val="E4E4E4"/>
                </a:solidFill>
                <a:latin typeface="微软雅黑"/>
                <a:ea typeface="微软雅黑"/>
                <a:cs typeface="微软雅黑"/>
                <a:sym typeface="微软雅黑"/>
              </a:rPr>
              <a:t>编译为向量加载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90306" y="3041810"/>
            <a:ext cx="5791202" cy="70866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for k in range(0, K, 16):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	acc = dot(a[k:k+16], b[k:k+16], acc)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90306" y="4279901"/>
            <a:ext cx="5791202" cy="2076450"/>
          </a:xfrm>
          <a:prstGeom prst="rect">
            <a:avLst/>
          </a:prstGeom>
          <a:solidFill>
            <a:srgbClr val="000000">
              <a:alpha val="100000"/>
            </a:srgbClr>
          </a:solidFill>
          <a:ln w="12700" cap="flat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for k in range(0, K, 64):</a:t>
            </a:r>
            <a:endParaRPr lang="en-US" sz="1100"/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acc = dot(a[k:k+16], b[k:k+16], acc)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acc = dot(a[k+16:k+32], b[k+16:k+32], acc)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acc = dot(a[k+32:k+48], b[k+32:k+48], acc)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E4E4E4"/>
                </a:solidFill>
                <a:latin typeface="Menlo"/>
                <a:ea typeface="Menlo"/>
                <a:cs typeface="Menlo"/>
                <a:sym typeface="Menlo"/>
              </a:rPr>
              <a:t>acc = dot(a[k+48:k+64], b[k+48:k+64], acc)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045890" y="3783330"/>
            <a:ext cx="140017" cy="44577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100000"/>
            </a:srgbClr>
          </a:solidFill>
          <a:ln w="12700" cap="flat">
            <a:solidFill>
              <a:srgbClr val="172C51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分组讨论：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Triton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如何支持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NVIDIA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不同架构？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23</a:t>
            </a:r>
          </a:p>
        </p:txBody>
      </p:sp>
      <p:sp>
        <p:nvSpPr>
          <p:cNvPr name="AutoShape 4" id="4"/>
          <p:cNvSpPr/>
          <p:nvPr>
            <p:ph idx="12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