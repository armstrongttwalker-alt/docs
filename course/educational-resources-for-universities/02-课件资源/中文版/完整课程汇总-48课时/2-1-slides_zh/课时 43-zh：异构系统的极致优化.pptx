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同学们好，欢迎来到智能计算系统软硬件基础这门课。今天我们将深入探讨体系结构与系统软件栈的协同优化。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本节课是第四十三讲，主题是异构系统的极致优化。我们将聚焦在真实的复杂异构硬件环境下，如何打破通用编译器的局限，将底层硬件的性能压榨到极致。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异构系统的微架构。近年来，硬件架构正在经历深刻演进，从传统的单一单指令多线程模型，逐渐向融合张量引擎、引入异步内存以及海量片上缓存的复杂架构发展。这种演进带来了显著的生态差异，不同硬件在指令吞吐率、寄存器堆大小和内存拓扑上存在根本不同。因此，我们的优化要求也必须随之改变。仅仅依赖抽象的通用编译器往往会导致管线停顿或带宽闲置，我们必须进行针对硬件特性的特化优化。</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这里以典型的国产加速器为例。比如摩尔线程的第五代华刚架构，它不仅支持下一代异步编程模型，还原生支持 FP4 量化数据格式，能够支撑超十万卡的庞大集群。再比如壁仞科技的架构，它采用了极其激进的存储设计，配备了高达三百兆字节的海量片上缓存，以及六十四吉字节的高带宽内存二代，其核心设计理念就是极致规避全局访存带来的高昂延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为了具体说明优化过程，我们引入一个案例研究。目标是以 FlagTree 项目中的特殊指针原语为例，剖析如何实现针对特定架构的微架构优化。目前面临的核心挑战主要有四点。第一是通用优化难以触达底层硬件细节。第二是共享内存经常成为访存瓶颈。第三是不同算子间的性能差距非常明显，比如在处理专家混合对齐或 topk 这类算子时表现尤为突出。第四是整个软件栈存在严重的碎片化问题，从表格中我们可以看到，通用实现与特化优化在不同代际硬件上的执行时间存在显著差异。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要做好优化，必须深入理解硬件原理。重点在于共享内存。它通常分为三十二个 bank，只要每四个字节跨 bank 访问，就能实现无冲突并行。它在同一个线程块内是完全可见的，但需要显式的同步指令来保证一致性。与普通的缓存不同，共享内存需要显式管理。需要特别注意，部分国产芯片的 bank 宽度和地址映射机制与英伟达存在差异。这也是我们引入专属本地指针的核心意义，它能通过一层抽象，统一表达底层的共享内存指针操作。结合右侧的延迟金字塔，从一到几个周期的寄存器，到几百个周期的全局内存，我们的优化目标就是尽量将数据驻留在金字塔的顶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接下来介绍我们依赖的基础软件库 FlagGems。它基于 Triton 编写，天然具备跨硬件统一的能力，支持十多种硬件后端。它提供了矩阵运算、注意力机制等核心算子。在架构上，它自研了内核缓存调度层，大幅降低了编译开销。同时支持纯 Python 包与 C加加 扩展的双模式部署，消除调用开销。此外，它采用配置驱动调优，可以直接复用最优超参，避免冷启动时的重复搜索。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为了支撑上层算子，我们构建了统一多芯片编译器。它向下支持国内外十多种主流芯片，向上并行维护多个分支版本。它的编译管线非常清晰，从 Python 前端的即时编译出发，进入编译器中间层，再经过针对具体后端的代码生成阶段转化为底层汇编，最终通过统一硬件管理器完成运行时的加载。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就是我们在编译器中引入共享内存指针扩展的核心考量。它是一个专用的原语。核心思路是在语言层暴露一个专用接口，让编译器能够明确感知到当前的指针操作是针对共享内存的，从而生成特化指令。它的设计要点包括明确操作域、保持对编译器通道的可见性、在顶层统一定义并在各个后端独立实现，最重要的是保证零运行时开销。下方的代码示例展示了它如何直接操作原始地址，从而打破传统块指针的限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有了原语，我们需要在编译器中集成对应的通道来完成降级。关键环节就是本地指针到共享内存转换通道。流程是这样的，在上层源码调用该原语后，这个节点会原样保留在初始的中间表示中。当进入到 GPU 级别的中间表示时，特化通道会精准识别出这个节点，并将其替换为目标芯片专属的本地读写操作。最终在生成底层指令时，输出最优的访存指令序列。右侧展示了具体的代码实现逻辑，核心就是遍历和替换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后端集成这个通道后，优化效果非常显著。它不仅大幅减少了访问全局内存的往返开销，还充分利用了局部性，整体访存延迟能够降低五到十倍，同时也提升了指令级并行度。左侧代码展示了在后端流水线中注册该通道的过程，只有匹配到特定后端时才会激活特化。下方是具体的中间表示转换对比，可以看到，抽象的指令被精准映射成了加速器特有的高速共享内存读写指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这个特性如何集成到算子库中呢。从架构自上而下看，最顶层是算子注册层，接着是内核缓存与调优管理。关键的注入点在内核层，也就是具体的算子实现代码中，开发者在这里显式调用共享内存指针。随后移交给编译器进行特化处理。目前，这项优化已经应用在了诸如 topk、各类排序和中位数等多个核心算子中。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我们以 TopK 算子为例深入剖析。在这个实践中，我们遵循了四项微架构优化原则。第一是数据就近存放，中间排序结果全部留在共享内存。第二是 bank 访问优化，利用原语携带的偏移量信息，编译器在底层进行了访存重排以消除冲突。第三是指令融合，将地址计算与加载操作合并。第四是延迟隐藏，通过合理的调度掩盖共享内存访问延迟。右侧的代码清晰展示了优化后的共享内存读写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将前面的内容串联起来，这就是完整优化生命周期。第一步在注册层发起调用请求。第二步进入内核执行并遇到我们注入的原语指令。第三步，编译器接管，特定的降级通道将该原语精准转换为目标架构的专属写入指令。第四步生成极致优化的底层目标代码序列，实现了硬件性能的充分释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经过深度的软硬协同优化，性能提升立竿见影。在测试环境下，TopK 类算子的平均性能提升达到了百分之六十，排序类算子平均提升了百分之四十。这背后的核心物理逻辑就是将极慢的全局内存访问转化为了速度快五到十倍的片上共享内存访问。而且这种优化对上层模型代码的侵入量为零。具体的算子提升数据大家可以参考右侧的条形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种优化模式具有极强的扩展性。只要算子符合以下模式均可采用类似思路，比如中间结果需要反复读写的场景，同一个线程块内需要进行数据交换的场景，跨线程的归约操作，或者像基数排序这样的分块处理场景。新算子的接入步骤也非常标准化，从识别场景、替换原语、编译验证到测试回归，形成了一个闭环。最后，这一套优化方案也是我们统一系统软件栈的重要组成部分，支撑着从大模型到具身智能的广泛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以上就是本次课程关于异构系统极致优化的全部内容，感谢大家的聆听。如果对编译器优化细节或系统软件栈有疑问，欢迎扫码进一步交流，下课。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9.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1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6.jpeg" Type="http://schemas.openxmlformats.org/officeDocument/2006/relationships/image"/><Relationship Id="rId13" Target="../media/image17.png" Type="http://schemas.openxmlformats.org/officeDocument/2006/relationships/image"/><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8.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43</a:t>
            </a:r>
            <a:r>
              <a:rPr lang="en-US" b="false" i="false" strike="noStrike" u="none" sz="5100">
                <a:solidFill>
                  <a:srgbClr val="262626"/>
                </a:solidFill>
                <a:latin typeface="微软雅黑"/>
                <a:ea typeface="微软雅黑"/>
                <a:cs typeface="微软雅黑"/>
                <a:sym typeface="微软雅黑"/>
              </a:rPr>
              <a:t>：异构系统的极致优化</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异构系统的微架构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架构演进：从单一</a:t>
            </a:r>
            <a:r>
              <a:rPr lang="en-US" b="false" i="false" strike="noStrike" u="none" sz="2400">
                <a:solidFill>
                  <a:srgbClr val="404040"/>
                </a:solidFill>
                <a:latin typeface="Calibri"/>
                <a:ea typeface="Calibri"/>
                <a:cs typeface="Calibri"/>
                <a:sym typeface="Calibri"/>
              </a:rPr>
              <a:t> SIMT </a:t>
            </a:r>
            <a:r>
              <a:rPr lang="en-US" b="false" i="false" strike="noStrike" u="none" sz="2400">
                <a:solidFill>
                  <a:srgbClr val="404040"/>
                </a:solidFill>
                <a:latin typeface="微软雅黑"/>
                <a:ea typeface="微软雅黑"/>
                <a:cs typeface="微软雅黑"/>
                <a:sym typeface="微软雅黑"/>
              </a:rPr>
              <a:t>模型向融合张量引擎、异步内存和海量片上缓存的架构演进。</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生态差异：不同硬件的指令吞吐率、寄存器堆大小及内存拓扑存在根本差异。</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优化要求：依赖抽象通用编译器往往会导致管线停顿或带宽闲置，必须进行针对性特化。</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典型国产</a:t>
            </a:r>
            <a:r>
              <a:rPr lang="en-US" b="false" i="false" strike="noStrike" u="none" sz="3600">
                <a:solidFill>
                  <a:srgbClr val="262626"/>
                </a:solidFill>
                <a:latin typeface="Calibri"/>
                <a:ea typeface="Calibri"/>
                <a:cs typeface="Calibri"/>
                <a:sym typeface="Calibri"/>
              </a:rPr>
              <a:t> GPU </a:t>
            </a:r>
            <a:r>
              <a:rPr lang="en-US" b="false" i="false" strike="noStrike" u="none" sz="3600">
                <a:solidFill>
                  <a:srgbClr val="262626"/>
                </a:solidFill>
                <a:latin typeface="微软雅黑"/>
                <a:ea typeface="微软雅黑"/>
                <a:cs typeface="微软雅黑"/>
                <a:sym typeface="微软雅黑"/>
              </a:rPr>
              <a:t>微架构举例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摩尔线程（</a:t>
            </a:r>
            <a:r>
              <a:rPr lang="en-US" b="false" i="false" strike="noStrike" u="none" sz="2400">
                <a:solidFill>
                  <a:srgbClr val="404040"/>
                </a:solidFill>
                <a:latin typeface="Calibri"/>
                <a:ea typeface="Calibri"/>
                <a:cs typeface="Calibri"/>
                <a:sym typeface="Calibri"/>
              </a:rPr>
              <a:t>Moore Threads</a:t>
            </a:r>
            <a:r>
              <a:rPr lang="en-US" b="false" i="false" strike="noStrike" u="none" sz="2400">
                <a:solidFill>
                  <a:srgbClr val="404040"/>
                </a:solidFill>
                <a:latin typeface="微软雅黑"/>
                <a:ea typeface="微软雅黑"/>
                <a:cs typeface="微软雅黑"/>
                <a:sym typeface="微软雅黑"/>
              </a:rPr>
              <a:t>）：第五代</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华刚</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架构，支持下一代异步编程模型与</a:t>
            </a:r>
            <a:r>
              <a:rPr lang="en-US" b="false" i="false" strike="noStrike" u="none" sz="2400">
                <a:solidFill>
                  <a:srgbClr val="404040"/>
                </a:solidFill>
                <a:latin typeface="Calibri"/>
                <a:ea typeface="Calibri"/>
                <a:cs typeface="Calibri"/>
                <a:sym typeface="Calibri"/>
              </a:rPr>
              <a:t> FP4 </a:t>
            </a:r>
            <a:r>
              <a:rPr lang="en-US" b="false" i="false" strike="noStrike" u="none" sz="2400">
                <a:solidFill>
                  <a:srgbClr val="404040"/>
                </a:solidFill>
                <a:latin typeface="微软雅黑"/>
                <a:ea typeface="微软雅黑"/>
                <a:cs typeface="微软雅黑"/>
                <a:sym typeface="微软雅黑"/>
              </a:rPr>
              <a:t>量化数据格式，支持超十万卡集群</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壁仞科技（</a:t>
            </a:r>
            <a:r>
              <a:rPr lang="en-US" b="false" i="false" strike="noStrike" u="none" sz="2400">
                <a:solidFill>
                  <a:srgbClr val="404040"/>
                </a:solidFill>
                <a:latin typeface="Calibri"/>
                <a:ea typeface="Calibri"/>
                <a:cs typeface="Calibri"/>
                <a:sym typeface="Calibri"/>
              </a:rPr>
              <a:t>Biren</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BR100 </a:t>
            </a:r>
            <a:r>
              <a:rPr lang="en-US" b="false" i="false" strike="noStrike" u="none" sz="2400">
                <a:solidFill>
                  <a:srgbClr val="404040"/>
                </a:solidFill>
                <a:latin typeface="微软雅黑"/>
                <a:ea typeface="微软雅黑"/>
                <a:cs typeface="微软雅黑"/>
                <a:sym typeface="微软雅黑"/>
              </a:rPr>
              <a:t>架构，配备</a:t>
            </a:r>
            <a:r>
              <a:rPr lang="en-US" b="false" i="false" strike="noStrike" u="none" sz="2400">
                <a:solidFill>
                  <a:srgbClr val="404040"/>
                </a:solidFill>
                <a:latin typeface="Calibri"/>
                <a:ea typeface="Calibri"/>
                <a:cs typeface="Calibri"/>
                <a:sym typeface="Calibri"/>
              </a:rPr>
              <a:t> 300MB </a:t>
            </a:r>
            <a:r>
              <a:rPr lang="en-US" b="false" i="false" strike="noStrike" u="none" sz="2400">
                <a:solidFill>
                  <a:srgbClr val="404040"/>
                </a:solidFill>
                <a:latin typeface="微软雅黑"/>
                <a:ea typeface="微软雅黑"/>
                <a:cs typeface="微软雅黑"/>
                <a:sym typeface="微软雅黑"/>
              </a:rPr>
              <a:t>海量片上缓存与</a:t>
            </a:r>
            <a:r>
              <a:rPr lang="en-US" b="false" i="false" strike="noStrike" u="none" sz="2400">
                <a:solidFill>
                  <a:srgbClr val="404040"/>
                </a:solidFill>
                <a:latin typeface="Calibri"/>
                <a:ea typeface="Calibri"/>
                <a:cs typeface="Calibri"/>
                <a:sym typeface="Calibri"/>
              </a:rPr>
              <a:t> 64GB HBM2E</a:t>
            </a:r>
            <a:r>
              <a:rPr lang="en-US" b="false" i="false" strike="noStrike" u="none" sz="2400">
                <a:solidFill>
                  <a:srgbClr val="404040"/>
                </a:solidFill>
                <a:latin typeface="微软雅黑"/>
                <a:ea typeface="微软雅黑"/>
                <a:cs typeface="微软雅黑"/>
                <a:sym typeface="微软雅黑"/>
              </a:rPr>
              <a:t>，极致规避全局访存延迟</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964565" y="3093085"/>
            <a:ext cx="4956175" cy="349186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002655" y="3429000"/>
            <a:ext cx="5925820" cy="2607310"/>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案例研究：背景与挑战</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https://github.com/flagos-ai/FlagTree/pull/333</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目标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以</a:t>
            </a:r>
            <a:r>
              <a:rPr lang="en-US" b="false" i="false" strike="noStrike" u="none" sz="2000">
                <a:solidFill>
                  <a:srgbClr val="404040"/>
                </a:solidFill>
                <a:latin typeface="Calibri"/>
                <a:ea typeface="Calibri"/>
                <a:cs typeface="Calibri"/>
                <a:sym typeface="Calibri"/>
              </a:rPr>
              <a:t> tle.gpu.local_ptr </a:t>
            </a:r>
            <a:r>
              <a:rPr lang="en-US" b="false" i="false" strike="noStrike" u="none" sz="2000">
                <a:solidFill>
                  <a:srgbClr val="404040"/>
                </a:solidFill>
                <a:latin typeface="微软雅黑"/>
                <a:ea typeface="微软雅黑"/>
                <a:cs typeface="微软雅黑"/>
                <a:sym typeface="微软雅黑"/>
              </a:rPr>
              <a:t>为例，介绍如何实现针对特定架构的微架构优化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代码位置：</a:t>
            </a:r>
            <a:r>
              <a:rPr lang="en-US" b="false" i="false" strike="noStrike" u="none" sz="2000">
                <a:solidFill>
                  <a:srgbClr val="404040"/>
                </a:solidFill>
                <a:latin typeface="Calibri"/>
                <a:ea typeface="Calibri"/>
                <a:cs typeface="Calibri"/>
                <a:sym typeface="Calibri"/>
              </a:rPr>
              <a:t>https://github.com/flagos-ai/FlagTree/pull/333</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核心挑战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通用优化难以触达底层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共享内存访问瓶颈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算子性能差距明显</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如</a:t>
            </a:r>
            <a:r>
              <a:rPr lang="en-US" b="false" i="false" strike="noStrike" u="none" sz="1600">
                <a:solidFill>
                  <a:srgbClr val="404040"/>
                </a:solidFill>
                <a:latin typeface="Calibri"/>
                <a:ea typeface="Calibri"/>
                <a:cs typeface="Calibri"/>
                <a:sym typeface="Calibri"/>
              </a:rPr>
              <a:t>moe_align_block_size</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topk</a:t>
            </a:r>
            <a:r>
              <a:rPr lang="en-US" b="false" i="false" strike="noStrike" u="none" sz="1600">
                <a:solidFill>
                  <a:srgbClr val="404040"/>
                </a:solidFill>
                <a:latin typeface="微软雅黑"/>
                <a:ea typeface="微软雅黑"/>
                <a:cs typeface="微软雅黑"/>
                <a:sym typeface="微软雅黑"/>
              </a:rPr>
              <a:t>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软件栈碎片化</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4999355" y="2940050"/>
            <a:ext cx="6802120" cy="2640330"/>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硬件原理与访问优化基础</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xfrm rot="0" flipH="false" flipV="false">
            <a:off x="523875" y="1323975"/>
            <a:ext cx="6546850" cy="467487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Shared Memory </a:t>
            </a:r>
            <a:r>
              <a:rPr lang="en-US" b="false" i="false" strike="noStrike" u="none" sz="2400">
                <a:solidFill>
                  <a:srgbClr val="404040"/>
                </a:solidFill>
                <a:latin typeface="微软雅黑"/>
                <a:ea typeface="微软雅黑"/>
                <a:cs typeface="微软雅黑"/>
                <a:sym typeface="微软雅黑"/>
              </a:rPr>
              <a:t>核心特性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Bank </a:t>
            </a:r>
            <a:r>
              <a:rPr lang="en-US" b="false" i="false" strike="noStrike" u="none" sz="2000">
                <a:solidFill>
                  <a:srgbClr val="404040"/>
                </a:solidFill>
                <a:latin typeface="微软雅黑"/>
                <a:ea typeface="微软雅黑"/>
                <a:cs typeface="微软雅黑"/>
                <a:sym typeface="微软雅黑"/>
              </a:rPr>
              <a:t>结构：分为</a:t>
            </a:r>
            <a:r>
              <a:rPr lang="en-US" b="false" i="false" strike="noStrike" u="none" sz="2000">
                <a:solidFill>
                  <a:srgbClr val="404040"/>
                </a:solidFill>
                <a:latin typeface="Calibri"/>
                <a:ea typeface="Calibri"/>
                <a:cs typeface="Calibri"/>
                <a:sym typeface="Calibri"/>
              </a:rPr>
              <a:t> 32 </a:t>
            </a:r>
            <a:r>
              <a:rPr lang="en-US" b="false" i="false" strike="noStrike" u="none" sz="2000">
                <a:solidFill>
                  <a:srgbClr val="404040"/>
                </a:solidFill>
                <a:latin typeface="微软雅黑"/>
                <a:ea typeface="微软雅黑"/>
                <a:cs typeface="微软雅黑"/>
                <a:sym typeface="微软雅黑"/>
              </a:rPr>
              <a:t>个</a:t>
            </a:r>
            <a:r>
              <a:rPr lang="en-US" b="false" i="false" strike="noStrike" u="none" sz="2000">
                <a:solidFill>
                  <a:srgbClr val="404040"/>
                </a:solidFill>
                <a:latin typeface="Calibri"/>
                <a:ea typeface="Calibri"/>
                <a:cs typeface="Calibri"/>
                <a:sym typeface="Calibri"/>
              </a:rPr>
              <a:t> banks</a:t>
            </a:r>
            <a:r>
              <a:rPr lang="en-US" b="false" i="false" strike="noStrike" u="none" sz="2000">
                <a:solidFill>
                  <a:srgbClr val="404040"/>
                </a:solidFill>
                <a:latin typeface="微软雅黑"/>
                <a:ea typeface="微软雅黑"/>
                <a:cs typeface="微软雅黑"/>
                <a:sym typeface="微软雅黑"/>
              </a:rPr>
              <a:t>，每</a:t>
            </a:r>
            <a:r>
              <a:rPr lang="en-US" b="false" i="false" strike="noStrike" u="none" sz="2000">
                <a:solidFill>
                  <a:srgbClr val="404040"/>
                </a:solidFill>
                <a:latin typeface="Calibri"/>
                <a:ea typeface="Calibri"/>
                <a:cs typeface="Calibri"/>
                <a:sym typeface="Calibri"/>
              </a:rPr>
              <a:t> 4</a:t>
            </a:r>
            <a:r>
              <a:rPr lang="en-US" b="false" i="false" strike="noStrike" u="none" sz="2000">
                <a:solidFill>
                  <a:srgbClr val="404040"/>
                </a:solidFill>
                <a:latin typeface="微软雅黑"/>
                <a:ea typeface="微软雅黑"/>
                <a:cs typeface="微软雅黑"/>
                <a:sym typeface="微软雅黑"/>
              </a:rPr>
              <a:t>字节跨</a:t>
            </a:r>
            <a:r>
              <a:rPr lang="en-US" b="false" i="false" strike="noStrike" u="none" sz="2000">
                <a:solidFill>
                  <a:srgbClr val="404040"/>
                </a:solidFill>
                <a:latin typeface="Calibri"/>
                <a:ea typeface="Calibri"/>
                <a:cs typeface="Calibri"/>
                <a:sym typeface="Calibri"/>
              </a:rPr>
              <a:t> bank</a:t>
            </a:r>
            <a:r>
              <a:rPr lang="en-US" b="false" i="false" strike="noStrike" u="none" sz="2000">
                <a:solidFill>
                  <a:srgbClr val="404040"/>
                </a:solidFill>
                <a:latin typeface="微软雅黑"/>
                <a:ea typeface="微软雅黑"/>
                <a:cs typeface="微软雅黑"/>
                <a:sym typeface="微软雅黑"/>
              </a:rPr>
              <a:t>，并行访问无冲突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线程块可见：同一</a:t>
            </a:r>
            <a:r>
              <a:rPr lang="en-US" b="false" i="false" strike="noStrike" u="none" sz="2000">
                <a:solidFill>
                  <a:srgbClr val="404040"/>
                </a:solidFill>
                <a:latin typeface="Calibri"/>
                <a:ea typeface="Calibri"/>
                <a:cs typeface="Calibri"/>
                <a:sym typeface="Calibri"/>
              </a:rPr>
              <a:t> CTA </a:t>
            </a:r>
            <a:r>
              <a:rPr lang="en-US" b="false" i="false" strike="noStrike" u="none" sz="2000">
                <a:solidFill>
                  <a:srgbClr val="404040"/>
                </a:solidFill>
                <a:latin typeface="微软雅黑"/>
                <a:ea typeface="微软雅黑"/>
                <a:cs typeface="微软雅黑"/>
                <a:sym typeface="微软雅黑"/>
              </a:rPr>
              <a:t>内所有线程共享，需</a:t>
            </a:r>
            <a:r>
              <a:rPr lang="en-US" b="false" i="false" strike="noStrike" u="none" sz="2000">
                <a:solidFill>
                  <a:srgbClr val="404040"/>
                </a:solidFill>
                <a:latin typeface="Calibri"/>
                <a:ea typeface="Calibri"/>
                <a:cs typeface="Calibri"/>
                <a:sym typeface="Calibri"/>
              </a:rPr>
              <a:t> __syncthreads() </a:t>
            </a:r>
            <a:r>
              <a:rPr lang="en-US" b="false" i="false" strike="noStrike" u="none" sz="2000">
                <a:solidFill>
                  <a:srgbClr val="404040"/>
                </a:solidFill>
                <a:latin typeface="微软雅黑"/>
                <a:ea typeface="微软雅黑"/>
                <a:cs typeface="微软雅黑"/>
                <a:sym typeface="微软雅黑"/>
              </a:rPr>
              <a:t>同步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显式管理：程序员</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编译器显式控制分配，非透明</a:t>
            </a:r>
            <a:r>
              <a:rPr lang="en-US" b="false" i="false" strike="noStrike" u="none" sz="2000">
                <a:solidFill>
                  <a:srgbClr val="404040"/>
                </a:solidFill>
                <a:latin typeface="Calibri"/>
                <a:ea typeface="Calibri"/>
                <a:cs typeface="Calibri"/>
                <a:sym typeface="Calibri"/>
              </a:rPr>
              <a:t> cache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国产芯片差异：部分国产</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bank </a:t>
            </a:r>
            <a:r>
              <a:rPr lang="en-US" b="false" i="false" strike="noStrike" u="none" sz="2000">
                <a:solidFill>
                  <a:srgbClr val="404040"/>
                </a:solidFill>
                <a:latin typeface="微软雅黑"/>
                <a:ea typeface="微软雅黑"/>
                <a:cs typeface="微软雅黑"/>
                <a:sym typeface="微软雅黑"/>
              </a:rPr>
              <a:t>宽度、地址映射与</a:t>
            </a:r>
            <a:r>
              <a:rPr lang="en-US" b="false" i="false" strike="noStrike" u="none" sz="2000">
                <a:solidFill>
                  <a:srgbClr val="404040"/>
                </a:solidFill>
                <a:latin typeface="Calibri"/>
                <a:ea typeface="Calibri"/>
                <a:cs typeface="Calibri"/>
                <a:sym typeface="Calibri"/>
              </a:rPr>
              <a:t> NVIDIA </a:t>
            </a:r>
            <a:r>
              <a:rPr lang="en-US" b="false" i="false" strike="noStrike" u="none" sz="2000">
                <a:solidFill>
                  <a:srgbClr val="404040"/>
                </a:solidFill>
                <a:latin typeface="微软雅黑"/>
                <a:ea typeface="微软雅黑"/>
                <a:cs typeface="微软雅黑"/>
                <a:sym typeface="微软雅黑"/>
              </a:rPr>
              <a:t>不同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local_ptr </a:t>
            </a:r>
            <a:r>
              <a:rPr lang="en-US" b="false" i="false" strike="noStrike" u="none" sz="2000">
                <a:solidFill>
                  <a:srgbClr val="404040"/>
                </a:solidFill>
                <a:latin typeface="微软雅黑"/>
                <a:ea typeface="微软雅黑"/>
                <a:cs typeface="微软雅黑"/>
                <a:sym typeface="微软雅黑"/>
              </a:rPr>
              <a:t>意义：通过</a:t>
            </a:r>
            <a:r>
              <a:rPr lang="en-US" b="false" i="false" strike="noStrike" u="none" sz="2000">
                <a:solidFill>
                  <a:srgbClr val="404040"/>
                </a:solidFill>
                <a:latin typeface="Calibri"/>
                <a:ea typeface="Calibri"/>
                <a:cs typeface="Calibri"/>
                <a:sym typeface="Calibri"/>
              </a:rPr>
              <a:t> local_ptr </a:t>
            </a:r>
            <a:r>
              <a:rPr lang="en-US" b="false" i="false" strike="noStrike" u="none" sz="2000">
                <a:solidFill>
                  <a:srgbClr val="404040"/>
                </a:solidFill>
                <a:latin typeface="微软雅黑"/>
                <a:ea typeface="微软雅黑"/>
                <a:cs typeface="微软雅黑"/>
                <a:sym typeface="微软雅黑"/>
              </a:rPr>
              <a:t>抽象，统一表达</a:t>
            </a:r>
            <a:r>
              <a:rPr lang="en-US" b="false" i="false" strike="noStrike" u="none" sz="2000">
                <a:solidFill>
                  <a:srgbClr val="404040"/>
                </a:solidFill>
                <a:latin typeface="Calibri"/>
                <a:ea typeface="Calibri"/>
                <a:cs typeface="Calibri"/>
                <a:sym typeface="Calibri"/>
              </a:rPr>
              <a:t> shared mem </a:t>
            </a:r>
            <a:r>
              <a:rPr lang="en-US" b="false" i="false" strike="noStrike" u="none" sz="2000">
                <a:solidFill>
                  <a:srgbClr val="404040"/>
                </a:solidFill>
                <a:latin typeface="微软雅黑"/>
                <a:ea typeface="微软雅黑"/>
                <a:cs typeface="微软雅黑"/>
                <a:sym typeface="微软雅黑"/>
              </a:rPr>
              <a:t>指针操作</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grpSp>
        <p:nvGrpSpPr>
          <p:cNvPr name="Group 6" id="6"/>
          <p:cNvGrpSpPr/>
          <p:nvPr/>
        </p:nvGrpSpPr>
        <p:grpSpPr>
          <a:xfrm>
            <a:off x="7071366" y="2126956"/>
            <a:ext cx="4728706" cy="3424542"/>
            <a:chOff x="7071366" y="2126956"/>
            <a:chExt cx="4728706" cy="3424542"/>
          </a:xfrm>
        </p:grpSpPr>
        <p:sp>
          <p:nvSpPr>
            <p:cNvPr name="AutoShape 7" id="7"/>
            <p:cNvSpPr/>
            <p:nvPr/>
          </p:nvSpPr>
          <p:spPr>
            <a:xfrm rot="0" flipH="false" flipV="false">
              <a:off x="7071366" y="2126956"/>
              <a:ext cx="4727205" cy="457436"/>
            </a:xfrm>
            <a:prstGeom prst="rect">
              <a:avLst/>
            </a:prstGeom>
            <a:solidFill>
              <a:srgbClr val="C62828">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8" id="8"/>
            <p:cNvSpPr/>
            <p:nvPr/>
          </p:nvSpPr>
          <p:spPr>
            <a:xfrm rot="0" flipH="false" flipV="false">
              <a:off x="7248477" y="2191711"/>
              <a:ext cx="3308818" cy="327096"/>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true" i="false" strike="noStrike" u="none" sz="1600">
                  <a:solidFill>
                    <a:srgbClr val="FFFFFF"/>
                  </a:solidFill>
                  <a:latin typeface="微软雅黑"/>
                  <a:ea typeface="微软雅黑"/>
                  <a:cs typeface="微软雅黑"/>
                  <a:sym typeface="微软雅黑"/>
                </a:rPr>
                <a:t>寄存器</a:t>
              </a:r>
              <a:r>
                <a:rPr lang="en-US" b="true" i="false" strike="noStrike" u="none" sz="1600">
                  <a:solidFill>
                    <a:srgbClr val="FFFFFF"/>
                  </a:solidFill>
                  <a:latin typeface="Arial"/>
                  <a:ea typeface="Arial"/>
                  <a:cs typeface="Arial"/>
                  <a:sym typeface="Arial"/>
                </a:rPr>
                <a:t> (Register)</a:t>
              </a:r>
              <a:endParaRPr lang="en-US" sz="1100"/>
            </a:p>
          </p:txBody>
        </p:sp>
        <p:sp>
          <p:nvSpPr>
            <p:cNvPr name="AutoShape 9" id="9"/>
            <p:cNvSpPr/>
            <p:nvPr/>
          </p:nvSpPr>
          <p:spPr>
            <a:xfrm rot="0" flipH="false" flipV="false">
              <a:off x="10380935" y="2191711"/>
              <a:ext cx="1418387" cy="327096"/>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300">
                  <a:solidFill>
                    <a:srgbClr val="FFFFFF"/>
                  </a:solidFill>
                  <a:latin typeface="微软雅黑"/>
                  <a:ea typeface="微软雅黑"/>
                  <a:cs typeface="微软雅黑"/>
                  <a:sym typeface="微软雅黑"/>
                </a:rPr>
                <a:t>最快</a:t>
              </a:r>
              <a:r>
                <a:rPr lang="en-US" b="false" i="false" strike="noStrike" u="none" sz="1300">
                  <a:solidFill>
                    <a:srgbClr val="FFFFFF"/>
                  </a:solidFill>
                  <a:latin typeface="Arial"/>
                  <a:ea typeface="Arial"/>
                  <a:cs typeface="Arial"/>
                  <a:sym typeface="Arial"/>
                </a:rPr>
                <a:t> ~1 cycle</a:t>
              </a:r>
              <a:endParaRPr lang="en-US" sz="1100"/>
            </a:p>
          </p:txBody>
        </p:sp>
        <p:sp>
          <p:nvSpPr>
            <p:cNvPr name="AutoShape 10" id="10"/>
            <p:cNvSpPr/>
            <p:nvPr/>
          </p:nvSpPr>
          <p:spPr>
            <a:xfrm rot="0" flipH="false" flipV="false">
              <a:off x="7071366" y="2688996"/>
              <a:ext cx="4727205" cy="49645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1" id="11"/>
            <p:cNvSpPr/>
            <p:nvPr/>
          </p:nvSpPr>
          <p:spPr>
            <a:xfrm rot="0" flipH="false" flipV="false">
              <a:off x="7248477" y="2754581"/>
              <a:ext cx="3308818" cy="366115"/>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FFFFFF"/>
                  </a:solidFill>
                  <a:latin typeface="微软雅黑"/>
                  <a:ea typeface="微软雅黑"/>
                  <a:cs typeface="微软雅黑"/>
                  <a:sym typeface="微软雅黑"/>
                </a:rPr>
                <a:t>共享内存</a:t>
              </a:r>
              <a:r>
                <a:rPr lang="en-US" b="true" i="false" strike="noStrike" u="none" sz="1600">
                  <a:solidFill>
                    <a:srgbClr val="FFFFFF"/>
                  </a:solidFill>
                  <a:latin typeface="Arial"/>
                  <a:ea typeface="Arial"/>
                  <a:cs typeface="Arial"/>
                  <a:sym typeface="Arial"/>
                </a:rPr>
                <a:t> (Shared Memory)</a:t>
              </a:r>
              <a:endParaRPr lang="en-US" sz="1100"/>
            </a:p>
          </p:txBody>
        </p:sp>
        <p:sp>
          <p:nvSpPr>
            <p:cNvPr name="AutoShape 12" id="12"/>
            <p:cNvSpPr/>
            <p:nvPr/>
          </p:nvSpPr>
          <p:spPr>
            <a:xfrm rot="0" flipH="false" flipV="false">
              <a:off x="10380935" y="2786959"/>
              <a:ext cx="1418387" cy="366115"/>
            </a:xfrm>
            <a:prstGeom prst="rect">
              <a:avLst/>
            </a:prstGeom>
            <a:noFill/>
            <a:ln w="12700">
              <a:noFill/>
              <a:prstDash val="solid"/>
            </a:ln>
          </p:spPr>
          <p:txBody>
            <a:bodyPr anchor="t" rtlCol="false" wrap="square" lIns="91440" rIns="91440" tIns="45720" bIns="45720">
              <a:normAutofit lnSpcReduction="10000"/>
            </a:bodyPr>
            <a:lstStyle/>
            <a:p>
              <a:pPr algn="r" indent="0">
                <a:lnSpc>
                  <a:spcPct val="100000"/>
                </a:lnSpc>
                <a:defRPr/>
              </a:pPr>
              <a:r>
                <a:rPr lang="en-US" b="false" i="false" strike="noStrike" u="none" sz="1000">
                  <a:solidFill>
                    <a:srgbClr val="FFFFFF"/>
                  </a:solidFill>
                  <a:latin typeface="微软雅黑"/>
                  <a:ea typeface="微软雅黑"/>
                  <a:cs typeface="微软雅黑"/>
                  <a:sym typeface="微软雅黑"/>
                </a:rPr>
                <a:t>极快</a:t>
              </a:r>
              <a:r>
                <a:rPr lang="en-US" b="false" i="false" strike="noStrike" u="none" sz="1000">
                  <a:solidFill>
                    <a:srgbClr val="FFFFFF"/>
                  </a:solidFill>
                  <a:latin typeface="Arial"/>
                  <a:ea typeface="Arial"/>
                  <a:cs typeface="Arial"/>
                  <a:sym typeface="Arial"/>
                </a:rPr>
                <a:t> ~5 cycles, </a:t>
              </a:r>
              <a:r>
                <a:rPr lang="en-US" b="false" i="false" strike="noStrike" u="none" sz="1000">
                  <a:solidFill>
                    <a:srgbClr val="FFFFFF"/>
                  </a:solidFill>
                  <a:latin typeface="微软雅黑"/>
                  <a:ea typeface="微软雅黑"/>
                  <a:cs typeface="微软雅黑"/>
                  <a:sym typeface="微软雅黑"/>
                </a:rPr>
                <a:t>线程块共享</a:t>
              </a:r>
              <a:endParaRPr lang="en-US" sz="1100"/>
            </a:p>
          </p:txBody>
        </p:sp>
        <p:sp>
          <p:nvSpPr>
            <p:cNvPr name="AutoShape 13" id="13"/>
            <p:cNvSpPr/>
            <p:nvPr/>
          </p:nvSpPr>
          <p:spPr>
            <a:xfrm rot="0" flipH="false" flipV="false">
              <a:off x="7071366" y="3290055"/>
              <a:ext cx="4727205" cy="496455"/>
            </a:xfrm>
            <a:prstGeom prst="rect">
              <a:avLst/>
            </a:prstGeom>
            <a:solidFill>
              <a:srgbClr val="E57373">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4" id="14"/>
            <p:cNvSpPr/>
            <p:nvPr/>
          </p:nvSpPr>
          <p:spPr>
            <a:xfrm rot="0" flipH="false" flipV="false">
              <a:off x="7248477" y="3355640"/>
              <a:ext cx="3308818" cy="366115"/>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FFFFFF"/>
                  </a:solidFill>
                  <a:latin typeface="Arial"/>
                  <a:ea typeface="Arial"/>
                  <a:cs typeface="Arial"/>
                  <a:sym typeface="Arial"/>
                </a:rPr>
                <a:t>L1 Cache / Texture</a:t>
              </a:r>
              <a:endParaRPr lang="en-US" sz="1100"/>
            </a:p>
          </p:txBody>
        </p:sp>
        <p:sp>
          <p:nvSpPr>
            <p:cNvPr name="AutoShape 15" id="15"/>
            <p:cNvSpPr/>
            <p:nvPr/>
          </p:nvSpPr>
          <p:spPr>
            <a:xfrm rot="0" flipH="false" flipV="false">
              <a:off x="10380935" y="3355640"/>
              <a:ext cx="1418387" cy="366115"/>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300">
                  <a:solidFill>
                    <a:srgbClr val="FFFFFF"/>
                  </a:solidFill>
                  <a:latin typeface="微软雅黑"/>
                  <a:ea typeface="微软雅黑"/>
                  <a:cs typeface="微软雅黑"/>
                  <a:sym typeface="微软雅黑"/>
                </a:rPr>
                <a:t>快速</a:t>
              </a:r>
              <a:r>
                <a:rPr lang="en-US" b="false" i="false" strike="noStrike" u="none" sz="1300">
                  <a:solidFill>
                    <a:srgbClr val="FFFFFF"/>
                  </a:solidFill>
                  <a:latin typeface="Arial"/>
                  <a:ea typeface="Arial"/>
                  <a:cs typeface="Arial"/>
                  <a:sym typeface="Arial"/>
                </a:rPr>
                <a:t> ~30 cycles</a:t>
              </a:r>
              <a:endParaRPr lang="en-US" sz="1100"/>
            </a:p>
          </p:txBody>
        </p:sp>
        <p:sp>
          <p:nvSpPr>
            <p:cNvPr name="AutoShape 16" id="16"/>
            <p:cNvSpPr/>
            <p:nvPr/>
          </p:nvSpPr>
          <p:spPr>
            <a:xfrm rot="0" flipH="false" flipV="false">
              <a:off x="7071366" y="3891944"/>
              <a:ext cx="4727205" cy="496455"/>
            </a:xfrm>
            <a:prstGeom prst="rect">
              <a:avLst/>
            </a:prstGeom>
            <a:solidFill>
              <a:srgbClr val="EF9A9A">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7" id="17"/>
            <p:cNvSpPr/>
            <p:nvPr/>
          </p:nvSpPr>
          <p:spPr>
            <a:xfrm rot="0" flipH="false" flipV="false">
              <a:off x="7248477" y="3956699"/>
              <a:ext cx="3308818" cy="366115"/>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FFFFFF"/>
                  </a:solidFill>
                  <a:latin typeface="Arial"/>
                  <a:ea typeface="Arial"/>
                  <a:cs typeface="Arial"/>
                  <a:sym typeface="Arial"/>
                </a:rPr>
                <a:t>L2 Cache</a:t>
              </a:r>
              <a:endParaRPr lang="en-US" sz="1100"/>
            </a:p>
          </p:txBody>
        </p:sp>
        <p:sp>
          <p:nvSpPr>
            <p:cNvPr name="AutoShape 18" id="18"/>
            <p:cNvSpPr/>
            <p:nvPr/>
          </p:nvSpPr>
          <p:spPr>
            <a:xfrm rot="0" flipH="false" flipV="false">
              <a:off x="10380935" y="3956699"/>
              <a:ext cx="1418387" cy="366115"/>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200">
                  <a:solidFill>
                    <a:srgbClr val="FFFFFF"/>
                  </a:solidFill>
                  <a:latin typeface="微软雅黑"/>
                  <a:ea typeface="微软雅黑"/>
                  <a:cs typeface="微软雅黑"/>
                  <a:sym typeface="微软雅黑"/>
                </a:rPr>
                <a:t>较快</a:t>
              </a:r>
              <a:r>
                <a:rPr lang="en-US" b="false" i="false" strike="noStrike" u="none" sz="1200">
                  <a:solidFill>
                    <a:srgbClr val="FFFFFF"/>
                  </a:solidFill>
                  <a:latin typeface="Arial"/>
                  <a:ea typeface="Arial"/>
                  <a:cs typeface="Arial"/>
                  <a:sym typeface="Arial"/>
                </a:rPr>
                <a:t> ~100 cycles</a:t>
              </a:r>
              <a:endParaRPr lang="en-US" sz="1100"/>
            </a:p>
          </p:txBody>
        </p:sp>
        <p:sp>
          <p:nvSpPr>
            <p:cNvPr name="AutoShape 19" id="19"/>
            <p:cNvSpPr/>
            <p:nvPr/>
          </p:nvSpPr>
          <p:spPr>
            <a:xfrm rot="0" flipH="false" flipV="false">
              <a:off x="7071366" y="4493003"/>
              <a:ext cx="4727205" cy="496455"/>
            </a:xfrm>
            <a:prstGeom prst="rect">
              <a:avLst/>
            </a:prstGeom>
            <a:solidFill>
              <a:srgbClr val="FFCCBC">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0" id="20"/>
            <p:cNvSpPr/>
            <p:nvPr/>
          </p:nvSpPr>
          <p:spPr>
            <a:xfrm rot="0" flipH="false" flipV="false">
              <a:off x="7248477" y="4558588"/>
              <a:ext cx="3308818" cy="366115"/>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FFFFFF"/>
                  </a:solidFill>
                  <a:latin typeface="微软雅黑"/>
                  <a:ea typeface="微软雅黑"/>
                  <a:cs typeface="微软雅黑"/>
                  <a:sym typeface="微软雅黑"/>
                </a:rPr>
                <a:t>全局内存</a:t>
              </a:r>
              <a:r>
                <a:rPr lang="en-US" b="true" i="false" strike="noStrike" u="none" sz="1600">
                  <a:solidFill>
                    <a:srgbClr val="FFFFFF"/>
                  </a:solidFill>
                  <a:latin typeface="Arial"/>
                  <a:ea typeface="Arial"/>
                  <a:cs typeface="Arial"/>
                  <a:sym typeface="Arial"/>
                </a:rPr>
                <a:t> (Global Memory / HBM)</a:t>
              </a:r>
              <a:endParaRPr lang="en-US" sz="1100"/>
            </a:p>
          </p:txBody>
        </p:sp>
        <p:sp>
          <p:nvSpPr>
            <p:cNvPr name="AutoShape 21" id="21"/>
            <p:cNvSpPr/>
            <p:nvPr/>
          </p:nvSpPr>
          <p:spPr>
            <a:xfrm rot="0" flipH="false" flipV="false">
              <a:off x="10381685" y="4571871"/>
              <a:ext cx="1418387" cy="366115"/>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300">
                  <a:solidFill>
                    <a:srgbClr val="FFFFFF"/>
                  </a:solidFill>
                  <a:latin typeface="微软雅黑"/>
                  <a:ea typeface="微软雅黑"/>
                  <a:cs typeface="微软雅黑"/>
                  <a:sym typeface="微软雅黑"/>
                </a:rPr>
                <a:t>慢</a:t>
              </a:r>
              <a:r>
                <a:rPr lang="en-US" b="false" i="false" strike="noStrike" u="none" sz="1300">
                  <a:solidFill>
                    <a:srgbClr val="FFFFFF"/>
                  </a:solidFill>
                  <a:latin typeface="Arial"/>
                  <a:ea typeface="Arial"/>
                  <a:cs typeface="Arial"/>
                  <a:sym typeface="Arial"/>
                </a:rPr>
                <a:t> ~400+ cycles</a:t>
              </a:r>
              <a:endParaRPr lang="en-US" sz="1100"/>
            </a:p>
          </p:txBody>
        </p:sp>
        <p:sp>
          <p:nvSpPr>
            <p:cNvPr name="AutoShape 22" id="22"/>
            <p:cNvSpPr/>
            <p:nvPr/>
          </p:nvSpPr>
          <p:spPr>
            <a:xfrm rot="0" flipH="false" flipV="false">
              <a:off x="7071366" y="5159647"/>
              <a:ext cx="4727205" cy="391851"/>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false" i="false" strike="noStrike" u="none" sz="1400">
                  <a:solidFill>
                    <a:srgbClr val="666666"/>
                  </a:solidFill>
                  <a:latin typeface="微软雅黑"/>
                  <a:ea typeface="微软雅黑"/>
                  <a:cs typeface="微软雅黑"/>
                  <a:sym typeface="微软雅黑"/>
                </a:rPr>
                <a:t>延迟从上到下递增</a:t>
              </a:r>
              <a:r>
                <a:rPr lang="en-US" b="false" i="false" strike="noStrike" u="none" sz="1400">
                  <a:solidFill>
                    <a:srgbClr val="666666"/>
                  </a:solidFill>
                  <a:latin typeface="Arial"/>
                  <a:ea typeface="Arial"/>
                  <a:cs typeface="Arial"/>
                  <a:sym typeface="Arial"/>
                </a:rPr>
                <a:t>  </a:t>
              </a:r>
              <a:r>
                <a:rPr lang="en-US" b="false" i="false" strike="noStrike" u="none" sz="1400">
                  <a:solidFill>
                    <a:srgbClr val="666666"/>
                  </a:solidFill>
                  <a:latin typeface="微软雅黑"/>
                  <a:ea typeface="微软雅黑"/>
                  <a:cs typeface="微软雅黑"/>
                  <a:sym typeface="微软雅黑"/>
                </a:rPr>
                <a:t>▲</a:t>
              </a:r>
              <a:endParaRPr lang="en-US" sz="1100"/>
            </a:p>
          </p:txBody>
        </p:sp>
      </p:gr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xfrm rot="0" flipH="false" flipV="false">
            <a:off x="523875" y="1323975"/>
            <a:ext cx="6593205" cy="4935220"/>
          </a:xfrm>
          <a:prstGeom prst="rect">
            <a:avLst/>
          </a:prstGeom>
        </p:spPr>
        <p:txBody>
          <a:bodyPr anchor="t" wrap="square" lIns="91440" rIns="91440" tIns="45720" bIns="45720">
            <a:normAutofit lnSpcReduction="20000"/>
          </a:bodyPr>
          <a:lstStyle>
            <a:lvl1pPr algn="l">
              <a:lnSpc>
                <a:spcPct val="83333"/>
              </a:lnSpc>
              <a:defRPr sz="2100" b="false" i="false" u="none" strike="noStrike" spc="0">
                <a:solidFill>
                  <a:srgbClr val="404040">
                    <a:alpha val="100000"/>
                  </a:srgbClr>
                </a:solidFill>
                <a:latin typeface="Calibri"/>
              </a:defRPr>
            </a:lvl1pPr>
          </a:lstStyle>
          <a:p>
            <a:pPr algn="l" indent="-266700" marL="266700">
              <a:lnSpc>
                <a:spcPct val="83333"/>
              </a:lnSpc>
              <a:spcBef>
                <a:spcPts val="1500"/>
              </a:spcBef>
              <a:buClr>
                <a:srgbClr val="404040"/>
              </a:buClr>
              <a:buChar char="•"/>
            </a:pPr>
            <a:r>
              <a:rPr lang="en-US" b="false" i="false" strike="noStrike" u="none" sz="2100">
                <a:solidFill>
                  <a:srgbClr val="404040"/>
                </a:solidFill>
                <a:latin typeface="Calibri"/>
                <a:ea typeface="Calibri"/>
                <a:cs typeface="Calibri"/>
                <a:sym typeface="Calibri"/>
              </a:rPr>
              <a:t>Triton </a:t>
            </a:r>
            <a:r>
              <a:rPr lang="en-US" b="false" i="false" strike="noStrike" u="none" sz="2100">
                <a:solidFill>
                  <a:srgbClr val="404040"/>
                </a:solidFill>
                <a:latin typeface="微软雅黑"/>
                <a:ea typeface="微软雅黑"/>
                <a:cs typeface="微软雅黑"/>
                <a:sym typeface="微软雅黑"/>
              </a:rPr>
              <a:t>编写，跨硬件统一：</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天然支持</a:t>
            </a:r>
            <a:r>
              <a:rPr lang="en-US" b="false" i="false" strike="noStrike" u="none" sz="1800">
                <a:solidFill>
                  <a:srgbClr val="404040"/>
                </a:solidFill>
                <a:latin typeface="Calibri"/>
                <a:ea typeface="Calibri"/>
                <a:cs typeface="Calibri"/>
                <a:sym typeface="Calibri"/>
              </a:rPr>
              <a:t> CUDA</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MLU</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XPU</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NPU </a:t>
            </a:r>
            <a:r>
              <a:rPr lang="en-US" b="false" i="false" strike="noStrike" u="none" sz="1800">
                <a:solidFill>
                  <a:srgbClr val="404040"/>
                </a:solidFill>
                <a:latin typeface="微软雅黑"/>
                <a:ea typeface="微软雅黑"/>
                <a:cs typeface="微软雅黑"/>
                <a:sym typeface="微软雅黑"/>
              </a:rPr>
              <a:t>等</a:t>
            </a:r>
            <a:r>
              <a:rPr lang="en-US" b="false" i="false" strike="noStrike" u="none" sz="1800">
                <a:solidFill>
                  <a:srgbClr val="404040"/>
                </a:solidFill>
                <a:latin typeface="Calibri"/>
                <a:ea typeface="Calibri"/>
                <a:cs typeface="Calibri"/>
                <a:sym typeface="Calibri"/>
              </a:rPr>
              <a:t> 10+ </a:t>
            </a:r>
            <a:r>
              <a:rPr lang="en-US" b="false" i="false" strike="noStrike" u="none" sz="1800">
                <a:solidFill>
                  <a:srgbClr val="404040"/>
                </a:solidFill>
                <a:latin typeface="微软雅黑"/>
                <a:ea typeface="微软雅黑"/>
                <a:cs typeface="微软雅黑"/>
                <a:sym typeface="微软雅黑"/>
              </a:rPr>
              <a:t>硬件后端</a:t>
            </a:r>
          </a:p>
          <a:p>
            <a:pPr algn="l" indent="-266700" marL="266700">
              <a:lnSpc>
                <a:spcPct val="83333"/>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高性能算子：</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矩阵运算、注意力机制、归一化、激活函数等训练推理核心算子</a:t>
            </a:r>
          </a:p>
          <a:p>
            <a:pPr algn="l" indent="-266700" marL="266700">
              <a:lnSpc>
                <a:spcPct val="83333"/>
              </a:lnSpc>
              <a:spcBef>
                <a:spcPts val="1500"/>
              </a:spcBef>
              <a:buClr>
                <a:srgbClr val="404040"/>
              </a:buClr>
              <a:buChar char="•"/>
            </a:pPr>
            <a:r>
              <a:rPr lang="en-US" b="false" i="false" strike="noStrike" u="none" sz="2100">
                <a:solidFill>
                  <a:srgbClr val="404040"/>
                </a:solidFill>
                <a:latin typeface="Calibri"/>
                <a:ea typeface="Calibri"/>
                <a:cs typeface="Calibri"/>
                <a:sym typeface="Calibri"/>
              </a:rPr>
              <a:t>LibEntry </a:t>
            </a:r>
            <a:r>
              <a:rPr lang="en-US" b="false" i="false" strike="noStrike" u="none" sz="2100">
                <a:solidFill>
                  <a:srgbClr val="404040"/>
                </a:solidFill>
                <a:latin typeface="微软雅黑"/>
                <a:ea typeface="微软雅黑"/>
                <a:cs typeface="微软雅黑"/>
                <a:sym typeface="微软雅黑"/>
              </a:rPr>
              <a:t>内核缓存：</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自研调度层替代</a:t>
            </a:r>
            <a:r>
              <a:rPr lang="en-US" b="false" i="false" strike="noStrike" u="none" sz="1800">
                <a:solidFill>
                  <a:srgbClr val="404040"/>
                </a:solidFill>
                <a:latin typeface="Calibri"/>
                <a:ea typeface="Calibri"/>
                <a:cs typeface="Calibri"/>
                <a:sym typeface="Calibri"/>
              </a:rPr>
              <a:t> Triton </a:t>
            </a:r>
            <a:r>
              <a:rPr lang="en-US" b="false" i="false" strike="noStrike" u="none" sz="1800">
                <a:solidFill>
                  <a:srgbClr val="404040"/>
                </a:solidFill>
                <a:latin typeface="微软雅黑"/>
                <a:ea typeface="微软雅黑"/>
                <a:cs typeface="微软雅黑"/>
                <a:sym typeface="微软雅黑"/>
              </a:rPr>
              <a:t>原生</a:t>
            </a:r>
            <a:r>
              <a:rPr lang="en-US" b="false" i="false" strike="noStrike" u="none" sz="1800">
                <a:solidFill>
                  <a:srgbClr val="404040"/>
                </a:solidFill>
                <a:latin typeface="Calibri"/>
                <a:ea typeface="Calibri"/>
                <a:cs typeface="Calibri"/>
                <a:sym typeface="Calibri"/>
              </a:rPr>
              <a:t> Autotuner</a:t>
            </a:r>
            <a:r>
              <a:rPr lang="en-US" b="false" i="false" strike="noStrike" u="none" sz="1800">
                <a:solidFill>
                  <a:srgbClr val="404040"/>
                </a:solidFill>
                <a:latin typeface="微软雅黑"/>
                <a:ea typeface="微软雅黑"/>
                <a:cs typeface="微软雅黑"/>
                <a:sym typeface="微软雅黑"/>
              </a:rPr>
              <a:t>，显著降低首次编译开销与</a:t>
            </a:r>
            <a:r>
              <a:rPr lang="en-US" b="false" i="false" strike="noStrike" u="none" sz="1800">
                <a:solidFill>
                  <a:srgbClr val="404040"/>
                </a:solidFill>
                <a:latin typeface="Calibri"/>
                <a:ea typeface="Calibri"/>
                <a:cs typeface="Calibri"/>
                <a:sym typeface="Calibri"/>
              </a:rPr>
              <a:t> dispatch </a:t>
            </a:r>
            <a:r>
              <a:rPr lang="en-US" b="false" i="false" strike="noStrike" u="none" sz="1800">
                <a:solidFill>
                  <a:srgbClr val="404040"/>
                </a:solidFill>
                <a:latin typeface="微软雅黑"/>
                <a:ea typeface="微软雅黑"/>
                <a:cs typeface="微软雅黑"/>
                <a:sym typeface="微软雅黑"/>
              </a:rPr>
              <a:t>延迟</a:t>
            </a:r>
          </a:p>
          <a:p>
            <a:pPr algn="l" indent="-266700" marL="266700">
              <a:lnSpc>
                <a:spcPct val="83333"/>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双模式部署：</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纯</a:t>
            </a:r>
            <a:r>
              <a:rPr lang="en-US" b="false" i="false" strike="noStrike" u="none" sz="1800">
                <a:solidFill>
                  <a:srgbClr val="404040"/>
                </a:solidFill>
                <a:latin typeface="Calibri"/>
                <a:ea typeface="Calibri"/>
                <a:cs typeface="Calibri"/>
                <a:sym typeface="Calibri"/>
              </a:rPr>
              <a:t> Python </a:t>
            </a:r>
            <a:r>
              <a:rPr lang="en-US" b="false" i="false" strike="noStrike" u="none" sz="1800">
                <a:solidFill>
                  <a:srgbClr val="404040"/>
                </a:solidFill>
                <a:latin typeface="微软雅黑"/>
                <a:ea typeface="微软雅黑"/>
                <a:cs typeface="微软雅黑"/>
                <a:sym typeface="微软雅黑"/>
              </a:rPr>
              <a:t>包（快速验证）与</a:t>
            </a:r>
            <a:r>
              <a:rPr lang="en-US" b="false" i="false" strike="noStrike" u="none" sz="1800">
                <a:solidFill>
                  <a:srgbClr val="404040"/>
                </a:solidFill>
                <a:latin typeface="Calibri"/>
                <a:ea typeface="Calibri"/>
                <a:cs typeface="Calibri"/>
                <a:sym typeface="Calibri"/>
              </a:rPr>
              <a:t> C++ </a:t>
            </a:r>
            <a:r>
              <a:rPr lang="en-US" b="false" i="false" strike="noStrike" u="none" sz="1800">
                <a:solidFill>
                  <a:srgbClr val="404040"/>
                </a:solidFill>
                <a:latin typeface="微软雅黑"/>
                <a:ea typeface="微软雅黑"/>
                <a:cs typeface="微软雅黑"/>
                <a:sym typeface="微软雅黑"/>
              </a:rPr>
              <a:t>扩展（生产加速）自由切换，</a:t>
            </a:r>
            <a:r>
              <a:rPr lang="en-US" b="false" i="false" strike="noStrike" u="none" sz="1800">
                <a:solidFill>
                  <a:srgbClr val="404040"/>
                </a:solidFill>
                <a:latin typeface="Calibri"/>
                <a:ea typeface="Calibri"/>
                <a:cs typeface="Calibri"/>
                <a:sym typeface="Calibri"/>
              </a:rPr>
              <a:t>C++ </a:t>
            </a:r>
            <a:r>
              <a:rPr lang="en-US" b="false" i="false" strike="noStrike" u="none" sz="1800">
                <a:solidFill>
                  <a:srgbClr val="404040"/>
                </a:solidFill>
                <a:latin typeface="微软雅黑"/>
                <a:ea typeface="微软雅黑"/>
                <a:cs typeface="微软雅黑"/>
                <a:sym typeface="微软雅黑"/>
              </a:rPr>
              <a:t>路径消除</a:t>
            </a:r>
            <a:r>
              <a:rPr lang="en-US" b="false" i="false" strike="noStrike" u="none" sz="1800">
                <a:solidFill>
                  <a:srgbClr val="404040"/>
                </a:solidFill>
                <a:latin typeface="Calibri"/>
                <a:ea typeface="Calibri"/>
                <a:cs typeface="Calibri"/>
                <a:sym typeface="Calibri"/>
              </a:rPr>
              <a:t> Python </a:t>
            </a:r>
            <a:r>
              <a:rPr lang="en-US" b="false" i="false" strike="noStrike" u="none" sz="1800">
                <a:solidFill>
                  <a:srgbClr val="404040"/>
                </a:solidFill>
                <a:latin typeface="微软雅黑"/>
                <a:ea typeface="微软雅黑"/>
                <a:cs typeface="微软雅黑"/>
                <a:sym typeface="微软雅黑"/>
              </a:rPr>
              <a:t>调用帧开销</a:t>
            </a:r>
          </a:p>
          <a:p>
            <a:pPr algn="l" indent="-266700" marL="266700">
              <a:lnSpc>
                <a:spcPct val="83333"/>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配置驱动调优：</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LibTuner </a:t>
            </a:r>
            <a:r>
              <a:rPr lang="en-US" b="false" i="false" strike="noStrike" u="none" sz="1800">
                <a:solidFill>
                  <a:srgbClr val="404040"/>
                </a:solidFill>
                <a:latin typeface="微软雅黑"/>
                <a:ea typeface="微软雅黑"/>
                <a:cs typeface="微软雅黑"/>
                <a:sym typeface="微软雅黑"/>
              </a:rPr>
              <a:t>自动搜索最优超参并持久化为</a:t>
            </a:r>
            <a:r>
              <a:rPr lang="en-US" b="false" i="false" strike="noStrike" u="none" sz="1800">
                <a:solidFill>
                  <a:srgbClr val="404040"/>
                </a:solidFill>
                <a:latin typeface="Calibri"/>
                <a:ea typeface="Calibri"/>
                <a:cs typeface="Calibri"/>
                <a:sym typeface="Calibri"/>
              </a:rPr>
              <a:t> YAML</a:t>
            </a:r>
            <a:r>
              <a:rPr lang="en-US" b="false" i="false" strike="noStrike" u="none" sz="1800">
                <a:solidFill>
                  <a:srgbClr val="404040"/>
                </a:solidFill>
                <a:latin typeface="微软雅黑"/>
                <a:ea typeface="微软雅黑"/>
                <a:cs typeface="微软雅黑"/>
                <a:sym typeface="微软雅黑"/>
              </a:rPr>
              <a:t>，冷启动直接复用，无需每次重新</a:t>
            </a:r>
            <a:r>
              <a:rPr lang="en-US" b="false" i="false" strike="noStrike" u="none" sz="1800">
                <a:solidFill>
                  <a:srgbClr val="404040"/>
                </a:solidFill>
                <a:latin typeface="Calibri"/>
                <a:ea typeface="Calibri"/>
                <a:cs typeface="Calibri"/>
                <a:sym typeface="Calibri"/>
              </a:rPr>
              <a:t> benchmark</a:t>
            </a:r>
          </a:p>
        </p:txBody>
      </p:sp>
      <p:pic>
        <p:nvPicPr>
          <p:cNvPr name="Picture 6" id="6"/>
          <p:cNvPicPr>
            <a:picLocks noChangeAspect="true"/>
          </p:cNvPicPr>
          <p:nvPr/>
        </p:nvPicPr>
        <p:blipFill>
          <a:blip r:embed="rId2"/>
          <a:srcRect l="0" r="0" t="0" b="0"/>
          <a:stretch>
            <a:fillRect/>
          </a:stretch>
        </p:blipFill>
        <p:spPr>
          <a:xfrm rot="0" flipH="false" flipV="false">
            <a:off x="6990715" y="1323975"/>
            <a:ext cx="4810760" cy="4721860"/>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FlagTree </a:t>
            </a:r>
            <a:r>
              <a:rPr lang="en-US" b="false" i="false" strike="noStrike" u="none" sz="3600">
                <a:solidFill>
                  <a:srgbClr val="262626"/>
                </a:solidFill>
                <a:latin typeface="微软雅黑"/>
                <a:ea typeface="微软雅黑"/>
                <a:cs typeface="微软雅黑"/>
                <a:sym typeface="微软雅黑"/>
              </a:rPr>
              <a:t>系统总览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统一多芯片</a:t>
            </a:r>
            <a:r>
              <a:rPr lang="en-US" b="false" i="false" strike="noStrike" u="none" sz="2400">
                <a:solidFill>
                  <a:srgbClr val="404040"/>
                </a:solidFill>
                <a:latin typeface="Calibri"/>
                <a:ea typeface="Calibri"/>
                <a:cs typeface="Calibri"/>
                <a:sym typeface="Calibri"/>
              </a:rPr>
              <a:t> AI </a:t>
            </a:r>
            <a:r>
              <a:rPr lang="en-US" b="false" i="false" strike="noStrike" u="none" sz="2400">
                <a:solidFill>
                  <a:srgbClr val="404040"/>
                </a:solidFill>
                <a:latin typeface="微软雅黑"/>
                <a:ea typeface="微软雅黑"/>
                <a:cs typeface="微软雅黑"/>
                <a:sym typeface="微软雅黑"/>
              </a:rPr>
              <a:t>算子编译器</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基于</a:t>
            </a:r>
            <a:r>
              <a:rPr lang="en-US" b="false" i="false" strike="noStrike" u="none" sz="2400">
                <a:solidFill>
                  <a:srgbClr val="404040"/>
                </a:solidFill>
                <a:latin typeface="Calibri"/>
                <a:ea typeface="Calibri"/>
                <a:cs typeface="Calibri"/>
                <a:sym typeface="Calibri"/>
              </a:rPr>
              <a:t> Triton &amp; MLIR </a:t>
            </a:r>
            <a:r>
              <a:rPr lang="en-US" b="false" i="false" strike="noStrike" u="none" sz="2400">
                <a:solidFill>
                  <a:srgbClr val="404040"/>
                </a:solidFill>
                <a:latin typeface="微软雅黑"/>
                <a:ea typeface="微软雅黑"/>
                <a:cs typeface="微软雅黑"/>
                <a:sym typeface="微软雅黑"/>
              </a:rPr>
              <a:t>生态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支持的芯片后端（</a:t>
            </a:r>
            <a:r>
              <a:rPr lang="en-US" b="false" i="false" strike="noStrike" u="none" sz="2400">
                <a:solidFill>
                  <a:srgbClr val="404040"/>
                </a:solidFill>
                <a:latin typeface="Calibri"/>
                <a:ea typeface="Calibri"/>
                <a:cs typeface="Calibri"/>
                <a:sym typeface="Calibri"/>
              </a:rPr>
              <a:t>10+ </a:t>
            </a:r>
            <a:r>
              <a:rPr lang="en-US" b="false" i="false" strike="noStrike" u="none" sz="2400">
                <a:solidFill>
                  <a:srgbClr val="404040"/>
                </a:solidFill>
                <a:latin typeface="微软雅黑"/>
                <a:ea typeface="微软雅黑"/>
                <a:cs typeface="微软雅黑"/>
                <a:sym typeface="微软雅黑"/>
              </a:rPr>
              <a:t>国内外主流</a:t>
            </a:r>
            <a:r>
              <a:rPr lang="en-US" b="false" i="false" strike="noStrike" u="none" sz="2400">
                <a:solidFill>
                  <a:srgbClr val="404040"/>
                </a:solidFill>
                <a:latin typeface="Calibri"/>
                <a:ea typeface="Calibri"/>
                <a:cs typeface="Calibri"/>
                <a:sym typeface="Calibri"/>
              </a:rPr>
              <a:t> AI </a:t>
            </a:r>
            <a:r>
              <a:rPr lang="en-US" b="false" i="false" strike="noStrike" u="none" sz="2400">
                <a:solidFill>
                  <a:srgbClr val="404040"/>
                </a:solidFill>
                <a:latin typeface="微软雅黑"/>
                <a:ea typeface="微软雅黑"/>
                <a:cs typeface="微软雅黑"/>
                <a:sym typeface="微软雅黑"/>
              </a:rPr>
              <a:t>芯片）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NVIDIA</a:t>
            </a:r>
            <a:r>
              <a:rPr lang="en-US" b="false" i="false" strike="noStrike" u="none" sz="2000">
                <a:solidFill>
                  <a:srgbClr val="404040"/>
                </a:solidFill>
                <a:latin typeface="微软雅黑"/>
                <a:ea typeface="微软雅黑"/>
                <a:cs typeface="微软雅黑"/>
                <a:sym typeface="微软雅黑"/>
              </a:rPr>
              <a:t>、寒武纪、清微智能、华为昇腾、摩尔线程等等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多</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版本分支（</a:t>
            </a:r>
            <a:r>
              <a:rPr lang="en-US" b="false" i="false" strike="noStrike" u="none" sz="2000">
                <a:solidFill>
                  <a:srgbClr val="404040"/>
                </a:solidFill>
                <a:latin typeface="Calibri"/>
                <a:ea typeface="Calibri"/>
                <a:cs typeface="Calibri"/>
                <a:sym typeface="Calibri"/>
              </a:rPr>
              <a:t>v3.1 ~ v3.5</a:t>
            </a:r>
            <a:r>
              <a:rPr lang="en-US" b="false" i="false" strike="noStrike" u="none" sz="2000">
                <a:solidFill>
                  <a:srgbClr val="404040"/>
                </a:solidFill>
                <a:latin typeface="微软雅黑"/>
                <a:ea typeface="微软雅黑"/>
                <a:cs typeface="微软雅黑"/>
                <a:sym typeface="微软雅黑"/>
              </a:rPr>
              <a:t>）并行维护，各后端独立</a:t>
            </a:r>
            <a:r>
              <a:rPr lang="en-US" b="false" i="false" strike="noStrike" u="none" sz="2000">
                <a:solidFill>
                  <a:srgbClr val="404040"/>
                </a:solidFill>
                <a:latin typeface="Calibri"/>
                <a:ea typeface="Calibri"/>
                <a:cs typeface="Calibri"/>
                <a:sym typeface="Calibri"/>
              </a:rPr>
              <a:t> CI/CD</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grpSp>
        <p:nvGrpSpPr>
          <p:cNvPr name="Group 6" id="6"/>
          <p:cNvGrpSpPr/>
          <p:nvPr/>
        </p:nvGrpSpPr>
        <p:grpSpPr>
          <a:xfrm>
            <a:off x="741680" y="3359150"/>
            <a:ext cx="10964545" cy="2765907"/>
            <a:chOff x="741680" y="3359150"/>
            <a:chExt cx="10964545" cy="2765907"/>
          </a:xfrm>
        </p:grpSpPr>
        <p:sp>
          <p:nvSpPr>
            <p:cNvPr name="AutoShape 7" id="7"/>
            <p:cNvSpPr/>
            <p:nvPr/>
          </p:nvSpPr>
          <p:spPr>
            <a:xfrm rot="0" flipH="false" flipV="false">
              <a:off x="741680" y="3359150"/>
              <a:ext cx="2582578" cy="2765907"/>
            </a:xfrm>
            <a:prstGeom prst="rect">
              <a:avLst/>
            </a:prstGeom>
            <a:solidFill>
              <a:srgbClr val="FBF0F1">
                <a:alpha val="100000"/>
              </a:srgbClr>
            </a:solidFill>
            <a:ln w="25400">
              <a:solidFill>
                <a:srgbClr val="8B0012">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8" id="8"/>
            <p:cNvSpPr/>
            <p:nvPr/>
          </p:nvSpPr>
          <p:spPr>
            <a:xfrm rot="0" flipH="false" flipV="false">
              <a:off x="741680" y="3359150"/>
              <a:ext cx="2582578" cy="176428"/>
            </a:xfrm>
            <a:prstGeom prst="rect">
              <a:avLst/>
            </a:prstGeom>
            <a:solidFill>
              <a:srgbClr val="8B0012">
                <a:alpha val="100000"/>
              </a:srgbClr>
            </a:solidFill>
            <a:ln w="12700">
              <a:solidFill>
                <a:srgbClr val="8B0012">
                  <a:alpha val="100000"/>
                </a:srgbClr>
              </a:solidFill>
              <a:prstDash val="solid"/>
            </a:ln>
          </p:spPr>
          <p:txBody>
            <a:bodyPr anchor="t" rtlCol="false" wrap="square" lIns="91440" rIns="91440" tIns="45720" bIns="45720">
              <a:noAutofit/>
            </a:bodyPr>
            <a:lstStyle/>
            <a:p>
              <a:pPr algn="ctr">
                <a:defRPr/>
              </a:pPr>
              <a:endParaRPr/>
            </a:p>
          </p:txBody>
        </p:sp>
        <p:sp>
          <p:nvSpPr>
            <p:cNvPr name="AutoShape 9" id="9"/>
            <p:cNvSpPr/>
            <p:nvPr/>
          </p:nvSpPr>
          <p:spPr>
            <a:xfrm rot="0" flipH="false" flipV="false">
              <a:off x="741680"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Python 前端</a:t>
              </a:r>
              <a:endParaRPr lang="en-US" sz="1100"/>
            </a:p>
          </p:txBody>
        </p:sp>
        <p:sp>
          <p:nvSpPr>
            <p:cNvPr name="AutoShape 10" id="10"/>
            <p:cNvSpPr/>
            <p:nvPr/>
          </p:nvSpPr>
          <p:spPr>
            <a:xfrm rot="0" flipH="false" flipV="false">
              <a:off x="741680"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@triton.jit</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FlagGems LibEntry</a:t>
              </a:r>
            </a:p>
          </p:txBody>
        </p:sp>
        <p:sp>
          <p:nvSpPr>
            <p:cNvPr name="AutoShape 11" id="11"/>
            <p:cNvSpPr/>
            <p:nvPr/>
          </p:nvSpPr>
          <p:spPr>
            <a:xfrm rot="0" flipH="false" flipV="false">
              <a:off x="3324258" y="4645514"/>
              <a:ext cx="211139" cy="80398"/>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12" id="12"/>
            <p:cNvSpPr/>
            <p:nvPr/>
          </p:nvSpPr>
          <p:spPr>
            <a:xfrm rot="0" flipH="false" flipV="false">
              <a:off x="3465289" y="4509285"/>
              <a:ext cx="164672" cy="353974"/>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true" i="false" strike="noStrike" u="none" sz="1200">
                  <a:solidFill>
                    <a:srgbClr val="7A6065"/>
                  </a:solidFill>
                  <a:latin typeface="微软雅黑"/>
                  <a:ea typeface="微软雅黑"/>
                  <a:cs typeface="微软雅黑"/>
                  <a:sym typeface="微软雅黑"/>
                </a:rPr>
                <a:t>▶</a:t>
              </a:r>
              <a:endParaRPr lang="en-US" sz="1100"/>
            </a:p>
          </p:txBody>
        </p:sp>
        <p:sp>
          <p:nvSpPr>
            <p:cNvPr name="AutoShape 13" id="13"/>
            <p:cNvSpPr/>
            <p:nvPr/>
          </p:nvSpPr>
          <p:spPr>
            <a:xfrm rot="0" flipH="false" flipV="false">
              <a:off x="3535397" y="3359150"/>
              <a:ext cx="2582578" cy="2765907"/>
            </a:xfrm>
            <a:prstGeom prst="rect">
              <a:avLst/>
            </a:prstGeom>
            <a:solidFill>
              <a:srgbClr val="FBF0F1">
                <a:alpha val="100000"/>
              </a:srgbClr>
            </a:solidFill>
            <a:ln w="25400">
              <a:solidFill>
                <a:srgbClr val="B8860B">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14" id="14"/>
            <p:cNvSpPr/>
            <p:nvPr/>
          </p:nvSpPr>
          <p:spPr>
            <a:xfrm rot="0" flipH="false" flipV="false">
              <a:off x="3535397" y="3359150"/>
              <a:ext cx="2582578" cy="176428"/>
            </a:xfrm>
            <a:prstGeom prst="rect">
              <a:avLst/>
            </a:prstGeom>
            <a:solidFill>
              <a:srgbClr val="B8860B">
                <a:alpha val="100000"/>
              </a:srgbClr>
            </a:solidFill>
            <a:ln w="12700">
              <a:solidFill>
                <a:srgbClr val="B8860B">
                  <a:alpha val="100000"/>
                </a:srgbClr>
              </a:solidFill>
              <a:prstDash val="solid"/>
            </a:ln>
          </p:spPr>
          <p:txBody>
            <a:bodyPr anchor="t" rtlCol="false" wrap="square" lIns="91440" rIns="91440" tIns="45720" bIns="45720">
              <a:noAutofit/>
            </a:bodyPr>
            <a:lstStyle/>
            <a:p>
              <a:pPr algn="ctr">
                <a:defRPr/>
              </a:pPr>
              <a:endParaRPr/>
            </a:p>
          </p:txBody>
        </p:sp>
        <p:sp>
          <p:nvSpPr>
            <p:cNvPr name="AutoShape 15" id="15"/>
            <p:cNvSpPr/>
            <p:nvPr/>
          </p:nvSpPr>
          <p:spPr>
            <a:xfrm rot="0" flipH="false" flipV="false">
              <a:off x="3535397"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编译器中间层</a:t>
              </a:r>
              <a:endParaRPr lang="en-US" sz="1100"/>
            </a:p>
          </p:txBody>
        </p:sp>
        <p:sp>
          <p:nvSpPr>
            <p:cNvPr name="AutoShape 16" id="16"/>
            <p:cNvSpPr/>
            <p:nvPr/>
          </p:nvSpPr>
          <p:spPr>
            <a:xfrm rot="0" flipH="false" flipV="false">
              <a:off x="3535397"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MLIR Dialects</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Triton-IR / TTGIR</a:t>
              </a:r>
            </a:p>
          </p:txBody>
        </p:sp>
        <p:sp>
          <p:nvSpPr>
            <p:cNvPr name="AutoShape 17" id="17"/>
            <p:cNvSpPr/>
            <p:nvPr/>
          </p:nvSpPr>
          <p:spPr>
            <a:xfrm rot="0" flipH="false" flipV="false">
              <a:off x="6117975" y="4645514"/>
              <a:ext cx="211139" cy="80398"/>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18" id="18"/>
            <p:cNvSpPr/>
            <p:nvPr/>
          </p:nvSpPr>
          <p:spPr>
            <a:xfrm rot="0" flipH="false" flipV="false">
              <a:off x="6259006" y="4509285"/>
              <a:ext cx="164672" cy="353974"/>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true" i="false" strike="noStrike" u="none" sz="1200">
                  <a:solidFill>
                    <a:srgbClr val="7A6065"/>
                  </a:solidFill>
                  <a:latin typeface="微软雅黑"/>
                  <a:ea typeface="微软雅黑"/>
                  <a:cs typeface="微软雅黑"/>
                  <a:sym typeface="微软雅黑"/>
                </a:rPr>
                <a:t>▶</a:t>
              </a:r>
              <a:endParaRPr lang="en-US" sz="1100"/>
            </a:p>
          </p:txBody>
        </p:sp>
        <p:sp>
          <p:nvSpPr>
            <p:cNvPr name="AutoShape 19" id="19"/>
            <p:cNvSpPr/>
            <p:nvPr/>
          </p:nvSpPr>
          <p:spPr>
            <a:xfrm rot="0" flipH="false" flipV="false">
              <a:off x="6329930" y="3359150"/>
              <a:ext cx="2582578" cy="2765907"/>
            </a:xfrm>
            <a:prstGeom prst="rect">
              <a:avLst/>
            </a:prstGeom>
            <a:solidFill>
              <a:srgbClr val="FBF0F1">
                <a:alpha val="100000"/>
              </a:srgbClr>
            </a:solidFill>
            <a:ln w="25400">
              <a:solidFill>
                <a:srgbClr val="C4314A">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20" id="20"/>
            <p:cNvSpPr/>
            <p:nvPr/>
          </p:nvSpPr>
          <p:spPr>
            <a:xfrm rot="0" flipH="false" flipV="false">
              <a:off x="6329930" y="3359150"/>
              <a:ext cx="2582578" cy="176428"/>
            </a:xfrm>
            <a:prstGeom prst="rect">
              <a:avLst/>
            </a:prstGeom>
            <a:solidFill>
              <a:srgbClr val="C4314A">
                <a:alpha val="100000"/>
              </a:srgbClr>
            </a:solidFill>
            <a:ln w="12700">
              <a:solidFill>
                <a:srgbClr val="C4314A">
                  <a:alpha val="100000"/>
                </a:srgbClr>
              </a:solidFill>
              <a:prstDash val="solid"/>
            </a:ln>
          </p:spPr>
          <p:txBody>
            <a:bodyPr anchor="t" rtlCol="false" wrap="square" lIns="91440" rIns="91440" tIns="45720" bIns="45720">
              <a:noAutofit/>
            </a:bodyPr>
            <a:lstStyle/>
            <a:p>
              <a:pPr algn="ctr">
                <a:defRPr/>
              </a:pPr>
              <a:endParaRPr/>
            </a:p>
          </p:txBody>
        </p:sp>
        <p:sp>
          <p:nvSpPr>
            <p:cNvPr name="AutoShape 21" id="21"/>
            <p:cNvSpPr/>
            <p:nvPr/>
          </p:nvSpPr>
          <p:spPr>
            <a:xfrm rot="0" flipH="false" flipV="false">
              <a:off x="6329930"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后端代码生成</a:t>
              </a:r>
              <a:endParaRPr lang="en-US" sz="1100"/>
            </a:p>
          </p:txBody>
        </p:sp>
        <p:sp>
          <p:nvSpPr>
            <p:cNvPr name="AutoShape 22" id="22"/>
            <p:cNvSpPr/>
            <p:nvPr/>
          </p:nvSpPr>
          <p:spPr>
            <a:xfrm rot="0" flipH="false" flipV="false">
              <a:off x="6329930"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LLVM-IR → PTX</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ASM / 厂商工具链</a:t>
              </a:r>
            </a:p>
          </p:txBody>
        </p:sp>
        <p:sp>
          <p:nvSpPr>
            <p:cNvPr name="AutoShape 23" id="23"/>
            <p:cNvSpPr/>
            <p:nvPr/>
          </p:nvSpPr>
          <p:spPr>
            <a:xfrm rot="0" flipH="false" flipV="false">
              <a:off x="8912508" y="4645514"/>
              <a:ext cx="211139" cy="80398"/>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24" id="24"/>
            <p:cNvSpPr/>
            <p:nvPr/>
          </p:nvSpPr>
          <p:spPr>
            <a:xfrm rot="0" flipH="false" flipV="false">
              <a:off x="9052724" y="4509285"/>
              <a:ext cx="164672" cy="353974"/>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true" i="false" strike="noStrike" u="none" sz="1200">
                  <a:solidFill>
                    <a:srgbClr val="7A6065"/>
                  </a:solidFill>
                  <a:latin typeface="微软雅黑"/>
                  <a:ea typeface="微软雅黑"/>
                  <a:cs typeface="微软雅黑"/>
                  <a:sym typeface="微软雅黑"/>
                </a:rPr>
                <a:t>▶</a:t>
              </a:r>
              <a:endParaRPr lang="en-US" sz="1100"/>
            </a:p>
          </p:txBody>
        </p:sp>
        <p:sp>
          <p:nvSpPr>
            <p:cNvPr name="AutoShape 25" id="25"/>
            <p:cNvSpPr/>
            <p:nvPr/>
          </p:nvSpPr>
          <p:spPr>
            <a:xfrm rot="0" flipH="false" flipV="false">
              <a:off x="9123647" y="3359150"/>
              <a:ext cx="2582578" cy="2765907"/>
            </a:xfrm>
            <a:prstGeom prst="rect">
              <a:avLst/>
            </a:prstGeom>
            <a:solidFill>
              <a:srgbClr val="FBF0F1">
                <a:alpha val="100000"/>
              </a:srgbClr>
            </a:solidFill>
            <a:ln w="25400">
              <a:solidFill>
                <a:srgbClr val="5C0009">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26" id="26"/>
            <p:cNvSpPr/>
            <p:nvPr/>
          </p:nvSpPr>
          <p:spPr>
            <a:xfrm rot="0" flipH="false" flipV="false">
              <a:off x="9123647" y="3359150"/>
              <a:ext cx="2582578" cy="176428"/>
            </a:xfrm>
            <a:prstGeom prst="rect">
              <a:avLst/>
            </a:prstGeom>
            <a:solidFill>
              <a:srgbClr val="5C0009">
                <a:alpha val="100000"/>
              </a:srgbClr>
            </a:solidFill>
            <a:ln w="12700">
              <a:solidFill>
                <a:srgbClr val="5C0009">
                  <a:alpha val="100000"/>
                </a:srgbClr>
              </a:solidFill>
              <a:prstDash val="solid"/>
            </a:ln>
          </p:spPr>
          <p:txBody>
            <a:bodyPr anchor="t" rtlCol="false" wrap="square" lIns="91440" rIns="91440" tIns="45720" bIns="45720">
              <a:noAutofit/>
            </a:bodyPr>
            <a:lstStyle/>
            <a:p>
              <a:pPr algn="ctr">
                <a:defRPr/>
              </a:pPr>
              <a:endParaRPr/>
            </a:p>
          </p:txBody>
        </p:sp>
        <p:sp>
          <p:nvSpPr>
            <p:cNvPr name="AutoShape 27" id="27"/>
            <p:cNvSpPr/>
            <p:nvPr/>
          </p:nvSpPr>
          <p:spPr>
            <a:xfrm rot="0" flipH="false" flipV="false">
              <a:off x="9123647"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运行时加载</a:t>
              </a:r>
              <a:endParaRPr lang="en-US" sz="1100"/>
            </a:p>
          </p:txBody>
        </p:sp>
        <p:sp>
          <p:nvSpPr>
            <p:cNvPr name="AutoShape 28" id="28"/>
            <p:cNvSpPr/>
            <p:nvPr/>
          </p:nvSpPr>
          <p:spPr>
            <a:xfrm rot="0" flipH="false" flipV="false">
              <a:off x="9123647"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JIT 缓存</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Unified HW Manager</a:t>
              </a:r>
            </a:p>
          </p:txBody>
        </p:sp>
      </p:gr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tle.gpu.local_ptr </a:t>
            </a:r>
            <a:r>
              <a:rPr lang="en-US" b="false" i="false" strike="noStrike" u="none" sz="3600">
                <a:solidFill>
                  <a:srgbClr val="262626"/>
                </a:solidFill>
                <a:latin typeface="微软雅黑"/>
                <a:ea typeface="微软雅黑"/>
                <a:cs typeface="微软雅黑"/>
                <a:sym typeface="微软雅黑"/>
              </a:rPr>
              <a:t>设计</a:t>
            </a:r>
            <a:br>
              <a:rPr lang="en-US" b="false" i="false" strike="noStrike" u="none" sz="3600">
                <a:solidFill>
                  <a:srgbClr val="262626"/>
                </a:solidFill>
                <a:latin typeface="微软雅黑"/>
                <a:ea typeface="微软雅黑"/>
                <a:cs typeface="微软雅黑"/>
                <a:sym typeface="微软雅黑"/>
              </a:rPr>
            </a:b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FlagTree TLE </a:t>
            </a:r>
            <a:r>
              <a:rPr lang="en-US" b="false" i="false" strike="noStrike" u="none" sz="2400">
                <a:solidFill>
                  <a:srgbClr val="404040"/>
                </a:solidFill>
                <a:latin typeface="微软雅黑"/>
                <a:ea typeface="微软雅黑"/>
                <a:cs typeface="微软雅黑"/>
                <a:sym typeface="微软雅黑"/>
              </a:rPr>
              <a:t>扩展：</a:t>
            </a:r>
            <a:r>
              <a:rPr lang="en-US" b="false" i="false" strike="noStrike" u="none" sz="2400">
                <a:solidFill>
                  <a:srgbClr val="404040"/>
                </a:solidFill>
                <a:latin typeface="Calibri"/>
                <a:ea typeface="Calibri"/>
                <a:cs typeface="Calibri"/>
                <a:sym typeface="Calibri"/>
              </a:rPr>
              <a:t>Shared Memory </a:t>
            </a:r>
            <a:r>
              <a:rPr lang="en-US" b="false" i="false" strike="noStrike" u="none" sz="2400">
                <a:solidFill>
                  <a:srgbClr val="404040"/>
                </a:solidFill>
                <a:latin typeface="微软雅黑"/>
                <a:ea typeface="微软雅黑"/>
                <a:cs typeface="微软雅黑"/>
                <a:sym typeface="微软雅黑"/>
              </a:rPr>
              <a:t>指针原语</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核心思路：在</a:t>
            </a:r>
            <a:r>
              <a:rPr lang="en-US" b="false" i="false" strike="noStrike" u="none" sz="2400">
                <a:solidFill>
                  <a:srgbClr val="404040"/>
                </a:solidFill>
                <a:latin typeface="Calibri"/>
                <a:ea typeface="Calibri"/>
                <a:cs typeface="Calibri"/>
                <a:sym typeface="Calibri"/>
              </a:rPr>
              <a:t> Triton </a:t>
            </a:r>
            <a:r>
              <a:rPr lang="en-US" b="false" i="false" strike="noStrike" u="none" sz="2400">
                <a:solidFill>
                  <a:srgbClr val="404040"/>
                </a:solidFill>
                <a:latin typeface="微软雅黑"/>
                <a:ea typeface="微软雅黑"/>
                <a:cs typeface="微软雅黑"/>
                <a:sym typeface="微软雅黑"/>
              </a:rPr>
              <a:t>语言层引入专用原语，使编译器能感知</a:t>
            </a:r>
            <a:r>
              <a:rPr lang="en-US" b="false" i="false" strike="noStrike" u="none" sz="2400">
                <a:solidFill>
                  <a:srgbClr val="404040"/>
                </a:solidFill>
                <a:latin typeface="Calibri"/>
                <a:ea typeface="Calibri"/>
                <a:cs typeface="Calibri"/>
                <a:sym typeface="Calibri"/>
              </a:rPr>
              <a:t> shared memory </a:t>
            </a:r>
            <a:r>
              <a:rPr lang="en-US" b="false" i="false" strike="noStrike" u="none" sz="2400">
                <a:solidFill>
                  <a:srgbClr val="404040"/>
                </a:solidFill>
                <a:latin typeface="微软雅黑"/>
                <a:ea typeface="微软雅黑"/>
                <a:cs typeface="微软雅黑"/>
                <a:sym typeface="微软雅黑"/>
              </a:rPr>
              <a:t>指针操作并生成特化指令</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设计要点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明确声明操作的是</a:t>
            </a:r>
            <a:r>
              <a:rPr lang="en-US" b="false" i="false" strike="noStrike" u="none" sz="2000">
                <a:solidFill>
                  <a:srgbClr val="404040"/>
                </a:solidFill>
                <a:latin typeface="Calibri"/>
                <a:ea typeface="Calibri"/>
                <a:cs typeface="Calibri"/>
                <a:sym typeface="Calibri"/>
              </a:rPr>
              <a:t> shared memory</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编译器可见，</a:t>
            </a:r>
            <a:r>
              <a:rPr lang="en-US" b="false" i="false" strike="noStrike" u="none" sz="2000">
                <a:solidFill>
                  <a:srgbClr val="404040"/>
                </a:solidFill>
                <a:latin typeface="Calibri"/>
                <a:ea typeface="Calibri"/>
                <a:cs typeface="Calibri"/>
                <a:sym typeface="Calibri"/>
              </a:rPr>
              <a:t>lowering pass </a:t>
            </a:r>
            <a:r>
              <a:rPr lang="en-US" b="false" i="false" strike="noStrike" u="none" sz="2000">
                <a:solidFill>
                  <a:srgbClr val="404040"/>
                </a:solidFill>
                <a:latin typeface="微软雅黑"/>
                <a:ea typeface="微软雅黑"/>
                <a:cs typeface="微软雅黑"/>
                <a:sym typeface="微软雅黑"/>
              </a:rPr>
              <a:t>可识别</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TLE </a:t>
            </a:r>
            <a:r>
              <a:rPr lang="en-US" b="false" i="false" strike="noStrike" u="none" sz="2000">
                <a:solidFill>
                  <a:srgbClr val="404040"/>
                </a:solidFill>
                <a:latin typeface="微软雅黑"/>
                <a:ea typeface="微软雅黑"/>
                <a:cs typeface="微软雅黑"/>
                <a:sym typeface="微软雅黑"/>
              </a:rPr>
              <a:t>层统一定义，各芯片后端分</a:t>
            </a:r>
            <a:br>
              <a:rPr lang="en-US" b="false" i="false" strike="noStrike" u="none" sz="2000">
                <a:solidFill>
                  <a:srgbClr val="404040"/>
                </a:solidFill>
                <a:latin typeface="微软雅黑"/>
                <a:ea typeface="微软雅黑"/>
                <a:cs typeface="微软雅黑"/>
                <a:sym typeface="微软雅黑"/>
              </a:rPr>
            </a:br>
            <a:r>
              <a:rPr lang="en-US" b="false" i="false" strike="noStrike" u="none" sz="2000">
                <a:solidFill>
                  <a:srgbClr val="404040"/>
                </a:solidFill>
                <a:latin typeface="微软雅黑"/>
                <a:ea typeface="微软雅黑"/>
                <a:cs typeface="微软雅黑"/>
                <a:sym typeface="微软雅黑"/>
              </a:rPr>
              <a:t>别实现</a:t>
            </a:r>
            <a:r>
              <a:rPr lang="en-US" b="false" i="false" strike="noStrike" u="none" sz="2000">
                <a:solidFill>
                  <a:srgbClr val="404040"/>
                </a:solidFill>
                <a:latin typeface="Calibri"/>
                <a:ea typeface="Calibri"/>
                <a:cs typeface="Calibri"/>
                <a:sym typeface="Calibri"/>
              </a:rPr>
              <a:t> local_ptr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lowering</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零运行时开销</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
        <p:nvSpPr>
          <p:cNvPr name="AutoShape 6" id="6"/>
          <p:cNvSpPr/>
          <p:nvPr/>
        </p:nvSpPr>
        <p:spPr>
          <a:xfrm rot="0" flipH="false" flipV="false">
            <a:off x="5169535" y="3141345"/>
            <a:ext cx="6773545" cy="2149475"/>
          </a:xfrm>
          <a:prstGeom prst="rect">
            <a:avLst/>
          </a:prstGeom>
          <a:no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600">
                <a:solidFill>
                  <a:srgbClr val="000000"/>
                </a:solidFill>
                <a:latin typeface="Courier New Regular"/>
                <a:ea typeface="Courier New Regular"/>
                <a:cs typeface="Courier New Regular"/>
                <a:sym typeface="Courier New Regular"/>
              </a:rPr>
              <a:t># tle.gpu.local_ptr: </a:t>
            </a:r>
            <a:r>
              <a:rPr lang="en-US" b="false" i="false" strike="noStrike" u="none" sz="1600">
                <a:solidFill>
                  <a:srgbClr val="000000"/>
                </a:solidFill>
                <a:latin typeface="微软雅黑"/>
                <a:ea typeface="微软雅黑"/>
                <a:cs typeface="微软雅黑"/>
                <a:sym typeface="微软雅黑"/>
              </a:rPr>
              <a:t>获取</a:t>
            </a:r>
            <a:r>
              <a:rPr lang="en-US" b="false" i="false" strike="noStrike" u="none" sz="1600">
                <a:solidFill>
                  <a:srgbClr val="000000"/>
                </a:solidFill>
                <a:latin typeface="Courier New Regular"/>
                <a:ea typeface="Courier New Regular"/>
                <a:cs typeface="Courier New Regular"/>
                <a:sym typeface="Courier New Regular"/>
              </a:rPr>
              <a:t> shared memory </a:t>
            </a:r>
            <a:r>
              <a:rPr lang="en-US" b="false" i="false" strike="noStrike" u="none" sz="1600">
                <a:solidFill>
                  <a:srgbClr val="000000"/>
                </a:solidFill>
                <a:latin typeface="微软雅黑"/>
                <a:ea typeface="微软雅黑"/>
                <a:cs typeface="微软雅黑"/>
                <a:sym typeface="微软雅黑"/>
              </a:rPr>
              <a:t>中指定位置的指针</a:t>
            </a:r>
            <a:endParaRPr lang="en-US" sz="1100"/>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def local_ptr(ptr: tl.tensor, offset: tl.tensor) -&gt; tl.tensor:</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r>
              <a:rPr lang="en-US" b="false" i="false" strike="noStrike" u="none" sz="1600">
                <a:solidFill>
                  <a:srgbClr val="000000"/>
                </a:solidFill>
                <a:latin typeface="微软雅黑"/>
                <a:ea typeface="微软雅黑"/>
                <a:cs typeface="微软雅黑"/>
                <a:sym typeface="微软雅黑"/>
              </a:rPr>
              <a:t>返回指向</a:t>
            </a:r>
            <a:r>
              <a:rPr lang="en-US" b="false" i="false" strike="noStrike" u="none" sz="1600">
                <a:solidFill>
                  <a:srgbClr val="000000"/>
                </a:solidFill>
                <a:latin typeface="Courier New Regular"/>
                <a:ea typeface="Courier New Regular"/>
                <a:cs typeface="Courier New Regular"/>
                <a:sym typeface="Courier New Regular"/>
              </a:rPr>
              <a:t> GPU Shared Memory </a:t>
            </a:r>
            <a:r>
              <a:rPr lang="en-US" b="false" i="false" strike="noStrike" u="none" sz="1600">
                <a:solidFill>
                  <a:srgbClr val="000000"/>
                </a:solidFill>
                <a:latin typeface="微软雅黑"/>
                <a:ea typeface="微软雅黑"/>
                <a:cs typeface="微软雅黑"/>
                <a:sym typeface="微软雅黑"/>
              </a:rPr>
              <a:t>中</a:t>
            </a:r>
            <a:r>
              <a:rPr lang="en-US" b="false" i="false" strike="noStrike" u="none" sz="1600">
                <a:solidFill>
                  <a:srgbClr val="000000"/>
                </a:solidFill>
                <a:latin typeface="Courier New Regular"/>
                <a:ea typeface="Courier New Regular"/>
                <a:cs typeface="Courier New Regular"/>
                <a:sym typeface="Courier New Regular"/>
              </a:rPr>
              <a:t> (ptr + offset) </a:t>
            </a:r>
            <a:r>
              <a:rPr lang="en-US" b="false" i="false" strike="noStrike" u="none" sz="1600">
                <a:solidFill>
                  <a:srgbClr val="000000"/>
                </a:solidFill>
                <a:latin typeface="微软雅黑"/>
                <a:ea typeface="微软雅黑"/>
                <a:cs typeface="微软雅黑"/>
                <a:sym typeface="微软雅黑"/>
              </a:rPr>
              <a:t>位置的指针</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r>
              <a:rPr lang="en-US" b="false" i="false" strike="noStrike" u="none" sz="1600">
                <a:solidFill>
                  <a:srgbClr val="000000"/>
                </a:solidFill>
                <a:latin typeface="微软雅黑"/>
                <a:ea typeface="微软雅黑"/>
                <a:cs typeface="微软雅黑"/>
                <a:sym typeface="微软雅黑"/>
              </a:rPr>
              <a:t>与</a:t>
            </a:r>
            <a:r>
              <a:rPr lang="en-US" b="false" i="false" strike="noStrike" u="none" sz="1600">
                <a:solidFill>
                  <a:srgbClr val="000000"/>
                </a:solidFill>
                <a:latin typeface="Courier New Regular"/>
                <a:ea typeface="Courier New Regular"/>
                <a:cs typeface="Courier New Regular"/>
                <a:sym typeface="Courier New Regular"/>
              </a:rPr>
              <a:t> tl.make_block_ptr </a:t>
            </a:r>
            <a:r>
              <a:rPr lang="en-US" b="false" i="false" strike="noStrike" u="none" sz="1600">
                <a:solidFill>
                  <a:srgbClr val="000000"/>
                </a:solidFill>
                <a:latin typeface="微软雅黑"/>
                <a:ea typeface="微软雅黑"/>
                <a:cs typeface="微软雅黑"/>
                <a:sym typeface="微软雅黑"/>
              </a:rPr>
              <a:t>不同：直接操作原始</a:t>
            </a:r>
            <a:r>
              <a:rPr lang="en-US" b="false" i="false" strike="noStrike" u="none" sz="1600">
                <a:solidFill>
                  <a:srgbClr val="000000"/>
                </a:solidFill>
                <a:latin typeface="Courier New Regular"/>
                <a:ea typeface="Courier New Regular"/>
                <a:cs typeface="Courier New Regular"/>
                <a:sym typeface="Courier New Regular"/>
              </a:rPr>
              <a:t> shared memory </a:t>
            </a:r>
            <a:br>
              <a:rPr lang="en-US" b="false" i="false" strike="noStrike" u="none" sz="1600">
                <a:solidFill>
                  <a:srgbClr val="000000"/>
                </a:solidFill>
                <a:latin typeface="Courier New Regular"/>
                <a:ea typeface="Courier New Regular"/>
                <a:cs typeface="Courier New Regular"/>
                <a:sym typeface="Courier New Regular"/>
              </a:rPr>
            </a:br>
            <a:r>
              <a:rPr lang="en-US" b="false" i="false" strike="noStrike" u="none" sz="1600">
                <a:solidFill>
                  <a:srgbClr val="000000"/>
                </a:solidFill>
                <a:latin typeface="Courier New Regular"/>
                <a:ea typeface="Courier New Regular"/>
                <a:cs typeface="Courier New Regular"/>
                <a:sym typeface="Courier New Regular"/>
              </a:rPr>
              <a:t>  </a:t>
            </a:r>
            <a:r>
              <a:rPr lang="en-US" b="false" i="false" strike="noStrike" u="none" sz="1600">
                <a:solidFill>
                  <a:srgbClr val="000000"/>
                </a:solidFill>
                <a:latin typeface="微软雅黑"/>
                <a:ea typeface="微软雅黑"/>
                <a:cs typeface="微软雅黑"/>
                <a:sym typeface="微软雅黑"/>
              </a:rPr>
              <a:t>地址使编译器可以发出架构特定的</a:t>
            </a:r>
            <a:r>
              <a:rPr lang="en-US" b="false" i="false" strike="noStrike" u="none" sz="1600">
                <a:solidFill>
                  <a:srgbClr val="000000"/>
                </a:solidFill>
                <a:latin typeface="Courier New Regular"/>
                <a:ea typeface="Courier New Regular"/>
                <a:cs typeface="Courier New Regular"/>
                <a:sym typeface="Courier New Regular"/>
              </a:rPr>
              <a:t> local load/store </a:t>
            </a:r>
            <a:r>
              <a:rPr lang="en-US" b="false" i="false" strike="noStrike" u="none" sz="1600">
                <a:solidFill>
                  <a:srgbClr val="000000"/>
                </a:solidFill>
                <a:latin typeface="微软雅黑"/>
                <a:ea typeface="微软雅黑"/>
                <a:cs typeface="微软雅黑"/>
                <a:sym typeface="微软雅黑"/>
              </a:rPr>
              <a:t>指令</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p>
          <a:p>
            <a:pPr algn="l" indent="0">
              <a:lnSpc>
                <a:spcPct val="100000"/>
              </a:lnSpc>
            </a:pPr>
            <a:r>
              <a:rPr lang="en-US" b="false" i="false" strike="noStrike" u="none" sz="1600">
                <a:solidFill>
                  <a:srgbClr val="000000"/>
                </a:solidFill>
                <a:latin typeface="Arial"/>
                <a:ea typeface="Arial"/>
                <a:cs typeface="Arial"/>
                <a:sym typeface="Arial"/>
              </a:rPr>
              <a:t> </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编译器</a:t>
            </a:r>
            <a:r>
              <a:rPr lang="en-US" b="false" i="false" strike="noStrike" u="none" sz="3600">
                <a:solidFill>
                  <a:srgbClr val="262626"/>
                </a:solidFill>
                <a:latin typeface="Calibri"/>
                <a:ea typeface="Calibri"/>
                <a:cs typeface="Calibri"/>
                <a:sym typeface="Calibri"/>
              </a:rPr>
              <a:t> Pass </a:t>
            </a:r>
            <a:r>
              <a:rPr lang="en-US" b="false" i="false" strike="noStrike" u="none" sz="3600">
                <a:solidFill>
                  <a:srgbClr val="262626"/>
                </a:solidFill>
                <a:latin typeface="微软雅黑"/>
                <a:ea typeface="微软雅黑"/>
                <a:cs typeface="微软雅黑"/>
                <a:sym typeface="微软雅黑"/>
              </a:rPr>
              <a:t>集成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从</a:t>
            </a:r>
            <a:r>
              <a:rPr lang="en-US" b="false" i="false" strike="noStrike" u="none" sz="2400">
                <a:solidFill>
                  <a:srgbClr val="404040"/>
                </a:solidFill>
                <a:latin typeface="Calibri"/>
                <a:ea typeface="Calibri"/>
                <a:cs typeface="Calibri"/>
                <a:sym typeface="Calibri"/>
              </a:rPr>
              <a:t> tle.gpu.local_ptr </a:t>
            </a:r>
            <a:r>
              <a:rPr lang="en-US" b="false" i="false" strike="noStrike" u="none" sz="2400">
                <a:solidFill>
                  <a:srgbClr val="404040"/>
                </a:solidFill>
                <a:latin typeface="微软雅黑"/>
                <a:ea typeface="微软雅黑"/>
                <a:cs typeface="微软雅黑"/>
                <a:sym typeface="微软雅黑"/>
              </a:rPr>
              <a:t>到架构特化指令的转换流程</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关键</a:t>
            </a:r>
            <a:r>
              <a:rPr lang="en-US" b="false" i="false" strike="noStrike" u="none" sz="2400">
                <a:solidFill>
                  <a:srgbClr val="404040"/>
                </a:solidFill>
                <a:latin typeface="Calibri"/>
                <a:ea typeface="Calibri"/>
                <a:cs typeface="Calibri"/>
                <a:sym typeface="Calibri"/>
              </a:rPr>
              <a:t> Pass</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LocalPtrToSharedMemPass</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pSp>
        <p:nvGrpSpPr>
          <p:cNvPr name="Group 6" id="6"/>
          <p:cNvGrpSpPr/>
          <p:nvPr/>
        </p:nvGrpSpPr>
        <p:grpSpPr>
          <a:xfrm>
            <a:off x="1313180" y="2091055"/>
            <a:ext cx="9988568" cy="1191381"/>
            <a:chOff x="1313180" y="2091055"/>
            <a:chExt cx="9988568" cy="1191381"/>
          </a:xfrm>
        </p:grpSpPr>
        <p:sp>
          <p:nvSpPr>
            <p:cNvPr name="AutoShape 7" id="7"/>
            <p:cNvSpPr/>
            <p:nvPr/>
          </p:nvSpPr>
          <p:spPr>
            <a:xfrm rot="0" flipH="false" flipV="false">
              <a:off x="1313180" y="2091055"/>
              <a:ext cx="1750533" cy="1191381"/>
            </a:xfrm>
            <a:prstGeom prst="rect">
              <a:avLst/>
            </a:prstGeom>
            <a:solidFill>
              <a:srgbClr val="F5F5F5">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8" id="8"/>
            <p:cNvSpPr/>
            <p:nvPr/>
          </p:nvSpPr>
          <p:spPr>
            <a:xfrm rot="0" flipH="false" flipV="false">
              <a:off x="1313180" y="2150813"/>
              <a:ext cx="1750533" cy="476553"/>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1400">
                  <a:solidFill>
                    <a:srgbClr val="1A1A1A"/>
                  </a:solidFill>
                  <a:latin typeface="Arial"/>
                  <a:ea typeface="Arial"/>
                  <a:cs typeface="Arial"/>
                  <a:sym typeface="Arial"/>
                </a:rPr>
                <a:t>Triton Python</a:t>
              </a:r>
              <a:endParaRPr lang="en-US" sz="1100"/>
            </a:p>
            <a:p>
              <a:pPr algn="ctr" indent="0">
                <a:lnSpc>
                  <a:spcPct val="100000"/>
                </a:lnSpc>
              </a:pPr>
              <a:r>
                <a:rPr lang="en-US" b="true" i="false" strike="noStrike" u="none" sz="1400">
                  <a:solidFill>
                    <a:srgbClr val="1A1A1A"/>
                  </a:solidFill>
                  <a:latin typeface="微软雅黑"/>
                  <a:ea typeface="微软雅黑"/>
                  <a:cs typeface="微软雅黑"/>
                  <a:sym typeface="微软雅黑"/>
                </a:rPr>
                <a:t>源码</a:t>
              </a:r>
            </a:p>
          </p:txBody>
        </p:sp>
        <p:sp>
          <p:nvSpPr>
            <p:cNvPr name="AutoShape 9" id="9"/>
            <p:cNvSpPr/>
            <p:nvPr/>
          </p:nvSpPr>
          <p:spPr>
            <a:xfrm rot="0" flipH="false" flipV="false">
              <a:off x="1313180" y="2686368"/>
              <a:ext cx="1750533" cy="536311"/>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false" i="false" strike="noStrike" u="none" sz="1600">
                  <a:solidFill>
                    <a:srgbClr val="666666"/>
                  </a:solidFill>
                  <a:latin typeface="Arial"/>
                  <a:ea typeface="Arial"/>
                  <a:cs typeface="Arial"/>
                  <a:sym typeface="Arial"/>
                </a:rPr>
                <a:t>FlagGems </a:t>
              </a:r>
              <a:r>
                <a:rPr lang="en-US" b="false" i="false" strike="noStrike" u="none" sz="1600">
                  <a:solidFill>
                    <a:srgbClr val="666666"/>
                  </a:solidFill>
                  <a:latin typeface="微软雅黑"/>
                  <a:ea typeface="微软雅黑"/>
                  <a:cs typeface="微软雅黑"/>
                  <a:sym typeface="微软雅黑"/>
                </a:rPr>
                <a:t>算子</a:t>
              </a:r>
              <a:endParaRPr lang="en-US" sz="1100"/>
            </a:p>
            <a:p>
              <a:pPr algn="ctr" indent="0">
                <a:lnSpc>
                  <a:spcPct val="100000"/>
                </a:lnSpc>
              </a:pPr>
              <a:r>
                <a:rPr lang="en-US" b="false" i="false" strike="noStrike" u="none" sz="1600">
                  <a:solidFill>
                    <a:srgbClr val="666666"/>
                  </a:solidFill>
                  <a:latin typeface="微软雅黑"/>
                  <a:ea typeface="微软雅黑"/>
                  <a:cs typeface="微软雅黑"/>
                  <a:sym typeface="微软雅黑"/>
                </a:rPr>
                <a:t>调用</a:t>
              </a:r>
              <a:r>
                <a:rPr lang="en-US" b="false" i="false" strike="noStrike" u="none" sz="1600">
                  <a:solidFill>
                    <a:srgbClr val="666666"/>
                  </a:solidFill>
                  <a:latin typeface="Arial"/>
                  <a:ea typeface="Arial"/>
                  <a:cs typeface="Arial"/>
                  <a:sym typeface="Arial"/>
                </a:rPr>
                <a:t> local_ptr</a:t>
              </a:r>
            </a:p>
          </p:txBody>
        </p:sp>
        <p:sp>
          <p:nvSpPr>
            <p:cNvPr name="AutoShape 10" id="10"/>
            <p:cNvSpPr/>
            <p:nvPr/>
          </p:nvSpPr>
          <p:spPr>
            <a:xfrm rot="0" flipH="false" flipV="false">
              <a:off x="3115373" y="2567608"/>
              <a:ext cx="205984" cy="59758"/>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11" id="11"/>
            <p:cNvSpPr/>
            <p:nvPr/>
          </p:nvSpPr>
          <p:spPr>
            <a:xfrm rot="0" flipH="false" flipV="false">
              <a:off x="3373016" y="2091055"/>
              <a:ext cx="1750533" cy="1191381"/>
            </a:xfrm>
            <a:prstGeom prst="rect">
              <a:avLst/>
            </a:prstGeom>
            <a:solidFill>
              <a:srgbClr val="FFF3E0">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12" id="12"/>
            <p:cNvSpPr/>
            <p:nvPr/>
          </p:nvSpPr>
          <p:spPr>
            <a:xfrm rot="0" flipH="false" flipV="false">
              <a:off x="3373016" y="2150813"/>
              <a:ext cx="1750533" cy="476553"/>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1400">
                  <a:solidFill>
                    <a:srgbClr val="E65100"/>
                  </a:solidFill>
                  <a:latin typeface="Arial"/>
                  <a:ea typeface="Arial"/>
                  <a:cs typeface="Arial"/>
                  <a:sym typeface="Arial"/>
                </a:rPr>
                <a:t>Triton IR</a:t>
              </a:r>
              <a:endParaRPr lang="en-US" sz="1100"/>
            </a:p>
            <a:p>
              <a:pPr algn="ctr" indent="0">
                <a:lnSpc>
                  <a:spcPct val="100000"/>
                </a:lnSpc>
              </a:pPr>
              <a:r>
                <a:rPr lang="en-US" b="true" i="false" strike="noStrike" u="none" sz="1400">
                  <a:solidFill>
                    <a:srgbClr val="E65100"/>
                  </a:solidFill>
                  <a:latin typeface="Arial"/>
                  <a:ea typeface="Arial"/>
                  <a:cs typeface="Arial"/>
                  <a:sym typeface="Arial"/>
                </a:rPr>
                <a:t>(TTIR)</a:t>
              </a:r>
            </a:p>
          </p:txBody>
        </p:sp>
        <p:sp>
          <p:nvSpPr>
            <p:cNvPr name="AutoShape 13" id="13"/>
            <p:cNvSpPr/>
            <p:nvPr/>
          </p:nvSpPr>
          <p:spPr>
            <a:xfrm rot="0" flipH="false" flipV="false">
              <a:off x="3373016" y="2686368"/>
              <a:ext cx="1750533" cy="536311"/>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false" i="false" strike="noStrike" u="none" sz="1600">
                  <a:solidFill>
                    <a:srgbClr val="666666"/>
                  </a:solidFill>
                  <a:latin typeface="Arial"/>
                  <a:ea typeface="Arial"/>
                  <a:cs typeface="Arial"/>
                  <a:sym typeface="Arial"/>
                </a:rPr>
                <a:t>local_ptr </a:t>
              </a:r>
              <a:r>
                <a:rPr lang="en-US" b="false" i="false" strike="noStrike" u="none" sz="1600">
                  <a:solidFill>
                    <a:srgbClr val="666666"/>
                  </a:solidFill>
                  <a:latin typeface="微软雅黑"/>
                  <a:ea typeface="微软雅黑"/>
                  <a:cs typeface="微软雅黑"/>
                  <a:sym typeface="微软雅黑"/>
                </a:rPr>
                <a:t>节点</a:t>
              </a:r>
              <a:endParaRPr lang="en-US" sz="1100"/>
            </a:p>
            <a:p>
              <a:pPr algn="ctr" indent="0">
                <a:lnSpc>
                  <a:spcPct val="100000"/>
                </a:lnSpc>
              </a:pPr>
              <a:r>
                <a:rPr lang="en-US" b="false" i="false" strike="noStrike" u="none" sz="1600">
                  <a:solidFill>
                    <a:srgbClr val="666666"/>
                  </a:solidFill>
                  <a:latin typeface="微软雅黑"/>
                  <a:ea typeface="微软雅黑"/>
                  <a:cs typeface="微软雅黑"/>
                  <a:sym typeface="微软雅黑"/>
                </a:rPr>
                <a:t>保留在</a:t>
              </a:r>
              <a:r>
                <a:rPr lang="en-US" b="false" i="false" strike="noStrike" u="none" sz="1600">
                  <a:solidFill>
                    <a:srgbClr val="666666"/>
                  </a:solidFill>
                  <a:latin typeface="Arial"/>
                  <a:ea typeface="Arial"/>
                  <a:cs typeface="Arial"/>
                  <a:sym typeface="Arial"/>
                </a:rPr>
                <a:t> IR </a:t>
              </a:r>
              <a:r>
                <a:rPr lang="en-US" b="false" i="false" strike="noStrike" u="none" sz="1600">
                  <a:solidFill>
                    <a:srgbClr val="666666"/>
                  </a:solidFill>
                  <a:latin typeface="微软雅黑"/>
                  <a:ea typeface="微软雅黑"/>
                  <a:cs typeface="微软雅黑"/>
                  <a:sym typeface="微软雅黑"/>
                </a:rPr>
                <a:t>中</a:t>
              </a:r>
            </a:p>
          </p:txBody>
        </p:sp>
        <p:sp>
          <p:nvSpPr>
            <p:cNvPr name="AutoShape 14" id="14"/>
            <p:cNvSpPr/>
            <p:nvPr/>
          </p:nvSpPr>
          <p:spPr>
            <a:xfrm rot="0" flipH="false" flipV="false">
              <a:off x="5175209" y="2567608"/>
              <a:ext cx="205984" cy="59758"/>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15" id="15"/>
            <p:cNvSpPr/>
            <p:nvPr/>
          </p:nvSpPr>
          <p:spPr>
            <a:xfrm rot="0" flipH="false" flipV="false">
              <a:off x="5432198" y="2091055"/>
              <a:ext cx="1750533" cy="1191381"/>
            </a:xfrm>
            <a:prstGeom prst="rect">
              <a:avLst/>
            </a:prstGeom>
            <a:solidFill>
              <a:srgbClr val="FCE4EC">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16" id="16"/>
            <p:cNvSpPr/>
            <p:nvPr/>
          </p:nvSpPr>
          <p:spPr>
            <a:xfrm rot="0" flipH="false" flipV="false">
              <a:off x="5432198" y="2150813"/>
              <a:ext cx="1750533" cy="476553"/>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1400">
                  <a:solidFill>
                    <a:srgbClr val="8B0012"/>
                  </a:solidFill>
                  <a:latin typeface="Arial"/>
                  <a:ea typeface="Arial"/>
                  <a:cs typeface="Arial"/>
                  <a:sym typeface="Arial"/>
                </a:rPr>
                <a:t>TTGIR</a:t>
              </a:r>
              <a:endParaRPr lang="en-US" sz="1100"/>
            </a:p>
            <a:p>
              <a:pPr algn="ctr" indent="0">
                <a:lnSpc>
                  <a:spcPct val="100000"/>
                </a:lnSpc>
              </a:pPr>
              <a:r>
                <a:rPr lang="en-US" b="true" i="false" strike="noStrike" u="none" sz="1400">
                  <a:solidFill>
                    <a:srgbClr val="8B0012"/>
                  </a:solidFill>
                  <a:latin typeface="Arial"/>
                  <a:ea typeface="Arial"/>
                  <a:cs typeface="Arial"/>
                  <a:sym typeface="Arial"/>
                </a:rPr>
                <a:t>(Triton GPU IR)</a:t>
              </a:r>
            </a:p>
          </p:txBody>
        </p:sp>
        <p:sp>
          <p:nvSpPr>
            <p:cNvPr name="AutoShape 17" id="17"/>
            <p:cNvSpPr/>
            <p:nvPr/>
          </p:nvSpPr>
          <p:spPr>
            <a:xfrm rot="0" flipH="false" flipV="false">
              <a:off x="5432198" y="2686368"/>
              <a:ext cx="1750533" cy="536311"/>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false" i="false" strike="noStrike" u="none" sz="1600">
                  <a:solidFill>
                    <a:srgbClr val="666666"/>
                  </a:solidFill>
                  <a:latin typeface="Arial"/>
                  <a:ea typeface="Arial"/>
                  <a:cs typeface="Arial"/>
                  <a:sym typeface="Arial"/>
                </a:rPr>
                <a:t>Pass </a:t>
              </a:r>
              <a:r>
                <a:rPr lang="en-US" b="false" i="false" strike="noStrike" u="none" sz="1600">
                  <a:solidFill>
                    <a:srgbClr val="666666"/>
                  </a:solidFill>
                  <a:latin typeface="微软雅黑"/>
                  <a:ea typeface="微软雅黑"/>
                  <a:cs typeface="微软雅黑"/>
                  <a:sym typeface="微软雅黑"/>
                </a:rPr>
                <a:t>识别</a:t>
              </a:r>
              <a:endParaRPr lang="en-US" sz="1100"/>
            </a:p>
            <a:p>
              <a:pPr algn="ctr" indent="0">
                <a:lnSpc>
                  <a:spcPct val="100000"/>
                </a:lnSpc>
              </a:pPr>
              <a:r>
                <a:rPr lang="en-US" b="false" i="false" strike="noStrike" u="none" sz="1600">
                  <a:solidFill>
                    <a:srgbClr val="666666"/>
                  </a:solidFill>
                  <a:latin typeface="Arial"/>
                  <a:ea typeface="Arial"/>
                  <a:cs typeface="Arial"/>
                  <a:sym typeface="Arial"/>
                </a:rPr>
                <a:t>local_ptr </a:t>
              </a:r>
              <a:r>
                <a:rPr lang="en-US" b="false" i="false" strike="noStrike" u="none" sz="1600">
                  <a:solidFill>
                    <a:srgbClr val="666666"/>
                  </a:solidFill>
                  <a:latin typeface="微软雅黑"/>
                  <a:ea typeface="微软雅黑"/>
                  <a:cs typeface="微软雅黑"/>
                  <a:sym typeface="微软雅黑"/>
                </a:rPr>
                <a:t>节点</a:t>
              </a:r>
            </a:p>
          </p:txBody>
        </p:sp>
        <p:sp>
          <p:nvSpPr>
            <p:cNvPr name="AutoShape 18" id="18"/>
            <p:cNvSpPr/>
            <p:nvPr/>
          </p:nvSpPr>
          <p:spPr>
            <a:xfrm rot="0" flipH="false" flipV="false">
              <a:off x="7234391" y="2567608"/>
              <a:ext cx="205984" cy="59758"/>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19" id="19"/>
            <p:cNvSpPr/>
            <p:nvPr/>
          </p:nvSpPr>
          <p:spPr>
            <a:xfrm rot="0" flipH="false" flipV="false">
              <a:off x="7492034" y="2091055"/>
              <a:ext cx="1750533" cy="1191381"/>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20" id="20"/>
            <p:cNvSpPr/>
            <p:nvPr/>
          </p:nvSpPr>
          <p:spPr>
            <a:xfrm rot="0" flipH="false" flipV="false">
              <a:off x="7492034" y="2150813"/>
              <a:ext cx="1750533" cy="476553"/>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1400">
                  <a:solidFill>
                    <a:srgbClr val="FFFFFF"/>
                  </a:solidFill>
                  <a:latin typeface="微软雅黑"/>
                  <a:ea typeface="微软雅黑"/>
                  <a:cs typeface="微软雅黑"/>
                  <a:sym typeface="微软雅黑"/>
                </a:rPr>
                <a:t>特化</a:t>
              </a:r>
              <a:r>
                <a:rPr lang="en-US" b="true" i="false" strike="noStrike" u="none" sz="1400">
                  <a:solidFill>
                    <a:srgbClr val="FFFFFF"/>
                  </a:solidFill>
                  <a:latin typeface="Arial"/>
                  <a:ea typeface="Arial"/>
                  <a:cs typeface="Arial"/>
                  <a:sym typeface="Arial"/>
                </a:rPr>
                <a:t> Pass</a:t>
              </a:r>
              <a:endParaRPr lang="en-US" sz="1100"/>
            </a:p>
            <a:p>
              <a:pPr algn="ctr" indent="0">
                <a:lnSpc>
                  <a:spcPct val="100000"/>
                </a:lnSpc>
              </a:pPr>
              <a:r>
                <a:rPr lang="en-US" b="true" i="false" strike="noStrike" u="none" sz="1400">
                  <a:solidFill>
                    <a:srgbClr val="FFFFFF"/>
                  </a:solidFill>
                  <a:latin typeface="微软雅黑"/>
                  <a:ea typeface="微软雅黑"/>
                  <a:cs typeface="微软雅黑"/>
                  <a:sym typeface="微软雅黑"/>
                </a:rPr>
                <a:t>处理</a:t>
              </a:r>
            </a:p>
          </p:txBody>
        </p:sp>
        <p:sp>
          <p:nvSpPr>
            <p:cNvPr name="AutoShape 21" id="21"/>
            <p:cNvSpPr/>
            <p:nvPr/>
          </p:nvSpPr>
          <p:spPr>
            <a:xfrm rot="0" flipH="false" flipV="false">
              <a:off x="7492034" y="2686368"/>
              <a:ext cx="1750533" cy="536311"/>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替换为目标架构</a:t>
              </a:r>
              <a:endParaRPr lang="en-US" sz="1100"/>
            </a:p>
            <a:p>
              <a:pPr algn="ctr" indent="0">
                <a:lnSpc>
                  <a:spcPct val="100000"/>
                </a:lnSpc>
              </a:pPr>
              <a:r>
                <a:rPr lang="en-US" b="false" i="false" strike="noStrike" u="none" sz="1600">
                  <a:solidFill>
                    <a:srgbClr val="FFFFFF"/>
                  </a:solidFill>
                  <a:latin typeface="Arial"/>
                  <a:ea typeface="Arial"/>
                  <a:cs typeface="Arial"/>
                  <a:sym typeface="Arial"/>
                </a:rPr>
                <a:t>local load/store</a:t>
              </a:r>
            </a:p>
          </p:txBody>
        </p:sp>
        <p:sp>
          <p:nvSpPr>
            <p:cNvPr name="AutoShape 22" id="22"/>
            <p:cNvSpPr/>
            <p:nvPr/>
          </p:nvSpPr>
          <p:spPr>
            <a:xfrm rot="0" flipH="false" flipV="false">
              <a:off x="9294226" y="2567608"/>
              <a:ext cx="205984" cy="59758"/>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23" id="23"/>
            <p:cNvSpPr/>
            <p:nvPr/>
          </p:nvSpPr>
          <p:spPr>
            <a:xfrm rot="0" flipH="false" flipV="false">
              <a:off x="9551215" y="2091055"/>
              <a:ext cx="1750533" cy="1191381"/>
            </a:xfrm>
            <a:prstGeom prst="rect">
              <a:avLst/>
            </a:prstGeom>
            <a:solidFill>
              <a:srgbClr val="E8F5E9">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2000">
                  <a:solidFill>
                    <a:srgbClr val="000000"/>
                  </a:solidFill>
                  <a:latin typeface="Arial"/>
                  <a:ea typeface="Arial"/>
                  <a:cs typeface="Arial"/>
                  <a:sym typeface="Arial"/>
                </a:rPr>
                <a:t> </a:t>
              </a:r>
              <a:endParaRPr lang="en-US" sz="1100"/>
            </a:p>
          </p:txBody>
        </p:sp>
        <p:sp>
          <p:nvSpPr>
            <p:cNvPr name="AutoShape 24" id="24"/>
            <p:cNvSpPr/>
            <p:nvPr/>
          </p:nvSpPr>
          <p:spPr>
            <a:xfrm rot="0" flipH="false" flipV="false">
              <a:off x="9551215" y="2150813"/>
              <a:ext cx="1750533" cy="476553"/>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1400">
                  <a:solidFill>
                    <a:srgbClr val="2E7D32"/>
                  </a:solidFill>
                  <a:latin typeface="Arial"/>
                  <a:ea typeface="Arial"/>
                  <a:cs typeface="Arial"/>
                  <a:sym typeface="Arial"/>
                </a:rPr>
                <a:t>LLVM IR /</a:t>
              </a:r>
              <a:endParaRPr lang="en-US" sz="1100"/>
            </a:p>
            <a:p>
              <a:pPr algn="ctr" indent="0">
                <a:lnSpc>
                  <a:spcPct val="100000"/>
                </a:lnSpc>
              </a:pPr>
              <a:r>
                <a:rPr lang="en-US" b="true" i="false" strike="noStrike" u="none" sz="1400">
                  <a:solidFill>
                    <a:srgbClr val="2E7D32"/>
                  </a:solidFill>
                  <a:latin typeface="微软雅黑"/>
                  <a:ea typeface="微软雅黑"/>
                  <a:cs typeface="微软雅黑"/>
                  <a:sym typeface="微软雅黑"/>
                </a:rPr>
                <a:t>目标汇编</a:t>
              </a:r>
            </a:p>
          </p:txBody>
        </p:sp>
        <p:sp>
          <p:nvSpPr>
            <p:cNvPr name="AutoShape 25" id="25"/>
            <p:cNvSpPr/>
            <p:nvPr/>
          </p:nvSpPr>
          <p:spPr>
            <a:xfrm rot="0" flipH="false" flipV="false">
              <a:off x="9551215" y="2686368"/>
              <a:ext cx="1750533" cy="536311"/>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false" i="false" strike="noStrike" u="none" sz="1600">
                  <a:solidFill>
                    <a:srgbClr val="666666"/>
                  </a:solidFill>
                  <a:latin typeface="微软雅黑"/>
                  <a:ea typeface="微软雅黑"/>
                  <a:cs typeface="微软雅黑"/>
                  <a:sym typeface="微软雅黑"/>
                </a:rPr>
                <a:t>生成最优</a:t>
              </a:r>
              <a:endParaRPr lang="en-US" sz="1100"/>
            </a:p>
            <a:p>
              <a:pPr algn="ctr" indent="0">
                <a:lnSpc>
                  <a:spcPct val="100000"/>
                </a:lnSpc>
              </a:pPr>
              <a:r>
                <a:rPr lang="en-US" b="false" i="false" strike="noStrike" u="none" sz="1600">
                  <a:solidFill>
                    <a:srgbClr val="666666"/>
                  </a:solidFill>
                  <a:latin typeface="微软雅黑"/>
                  <a:ea typeface="微软雅黑"/>
                  <a:cs typeface="微软雅黑"/>
                  <a:sym typeface="微软雅黑"/>
                </a:rPr>
                <a:t>访存指令序列</a:t>
              </a:r>
            </a:p>
          </p:txBody>
        </p:sp>
      </p:grpSp>
      <p:sp>
        <p:nvSpPr>
          <p:cNvPr name="AutoShape 26" id="26"/>
          <p:cNvSpPr/>
          <p:nvPr/>
        </p:nvSpPr>
        <p:spPr>
          <a:xfrm rot="0" flipH="false" flipV="false">
            <a:off x="1241425" y="4070350"/>
            <a:ext cx="9761855" cy="2553335"/>
          </a:xfrm>
          <a:prstGeom prst="rect">
            <a:avLst/>
          </a:prstGeom>
          <a:noFill/>
          <a:ln w="12700">
            <a:solidFill>
              <a:srgbClr val="8B0012">
                <a:alpha val="100000"/>
              </a:srgbClr>
            </a:solidFill>
            <a:prstDash val="solid"/>
          </a:ln>
        </p:spPr>
        <p:txBody>
          <a:bodyPr anchor="t" rtlCol="false" wrap="square" lIns="91440" rIns="91440" tIns="45720" bIns="45720">
            <a:spAutoFit/>
          </a:bodyPr>
          <a:lstStyle/>
          <a:p>
            <a:pPr algn="l" indent="0">
              <a:lnSpc>
                <a:spcPct val="100000"/>
              </a:lnSpc>
              <a:defRPr/>
            </a:pPr>
            <a:r>
              <a:rPr lang="en-US" b="false" i="false" strike="noStrike" u="none" sz="1600">
                <a:solidFill>
                  <a:srgbClr val="000000"/>
                </a:solidFill>
                <a:latin typeface="Courier New Regular"/>
                <a:ea typeface="Courier New Regular"/>
                <a:cs typeface="Courier New Regular"/>
                <a:sym typeface="Courier New Regular"/>
              </a:rPr>
              <a:t>// FlagTree: lib/Dialect/TritonGPU/Transforms/LocalPtrToSharedMem.cpp</a:t>
            </a:r>
            <a:endParaRPr lang="en-US" sz="1100"/>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class LocalPtrToSharedMemPass : public ...&lt;LocalPtrToSharedMemPass&gt;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void runOnOperation() override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 </a:t>
            </a:r>
            <a:r>
              <a:rPr lang="en-US" b="false" i="false" strike="noStrike" u="none" sz="1600">
                <a:solidFill>
                  <a:srgbClr val="000000"/>
                </a:solidFill>
                <a:latin typeface="微软雅黑"/>
                <a:ea typeface="微软雅黑"/>
                <a:cs typeface="微软雅黑"/>
                <a:sym typeface="微软雅黑"/>
              </a:rPr>
              <a:t>遍历所有</a:t>
            </a:r>
            <a:r>
              <a:rPr lang="en-US" b="false" i="false" strike="noStrike" u="none" sz="1600">
                <a:solidFill>
                  <a:srgbClr val="000000"/>
                </a:solidFill>
                <a:latin typeface="Courier New Regular"/>
                <a:ea typeface="Courier New Regular"/>
                <a:cs typeface="Courier New Regular"/>
                <a:sym typeface="Courier New Regular"/>
              </a:rPr>
              <a:t> tle.gpu.local_ptr </a:t>
            </a:r>
            <a:r>
              <a:rPr lang="en-US" b="false" i="false" strike="noStrike" u="none" sz="1600">
                <a:solidFill>
                  <a:srgbClr val="000000"/>
                </a:solidFill>
                <a:latin typeface="微软雅黑"/>
                <a:ea typeface="微软雅黑"/>
                <a:cs typeface="微软雅黑"/>
                <a:sym typeface="微软雅黑"/>
              </a:rPr>
              <a:t>操作节点</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getOperation()-&gt;walk([&amp;](tle::gpu::LocalPtrOp op)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 </a:t>
            </a:r>
            <a:r>
              <a:rPr lang="en-US" b="false" i="false" strike="noStrike" u="none" sz="1600">
                <a:solidFill>
                  <a:srgbClr val="000000"/>
                </a:solidFill>
                <a:latin typeface="微软雅黑"/>
                <a:ea typeface="微软雅黑"/>
                <a:cs typeface="微软雅黑"/>
                <a:sym typeface="微软雅黑"/>
              </a:rPr>
              <a:t>将</a:t>
            </a:r>
            <a:r>
              <a:rPr lang="en-US" b="false" i="false" strike="noStrike" u="none" sz="1600">
                <a:solidFill>
                  <a:srgbClr val="000000"/>
                </a:solidFill>
                <a:latin typeface="Courier New Regular"/>
                <a:ea typeface="Courier New Regular"/>
                <a:cs typeface="Courier New Regular"/>
                <a:sym typeface="Courier New Regular"/>
              </a:rPr>
              <a:t> local_ptr </a:t>
            </a:r>
            <a:r>
              <a:rPr lang="en-US" b="false" i="false" strike="noStrike" u="none" sz="1600">
                <a:solidFill>
                  <a:srgbClr val="000000"/>
                </a:solidFill>
                <a:latin typeface="微软雅黑"/>
                <a:ea typeface="微软雅黑"/>
                <a:cs typeface="微软雅黑"/>
                <a:sym typeface="微软雅黑"/>
              </a:rPr>
              <a:t>替换为目标芯片的</a:t>
            </a:r>
            <a:r>
              <a:rPr lang="en-US" b="false" i="false" strike="noStrike" u="none" sz="1600">
                <a:solidFill>
                  <a:srgbClr val="000000"/>
                </a:solidFill>
                <a:latin typeface="Courier New Regular"/>
                <a:ea typeface="Courier New Regular"/>
                <a:cs typeface="Courier New Regular"/>
                <a:sym typeface="Courier New Regular"/>
              </a:rPr>
              <a:t> shared memory intrinsic</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rewriter.replaceOpWithNewOp&lt;gpu::SharedMemLoadOp&gt;(op,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Pass </a:t>
            </a:r>
            <a:r>
              <a:rPr lang="en-US" b="false" i="false" strike="noStrike" u="none" sz="3600">
                <a:solidFill>
                  <a:srgbClr val="262626"/>
                </a:solidFill>
                <a:latin typeface="微软雅黑"/>
                <a:ea typeface="微软雅黑"/>
                <a:cs typeface="微软雅黑"/>
                <a:sym typeface="微软雅黑"/>
              </a:rPr>
              <a:t>注册与后端集成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优化效果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减少</a:t>
            </a:r>
            <a:r>
              <a:rPr lang="en-US" b="false" i="false" strike="noStrike" u="none" sz="2000">
                <a:solidFill>
                  <a:srgbClr val="404040"/>
                </a:solidFill>
                <a:latin typeface="Calibri"/>
                <a:ea typeface="Calibri"/>
                <a:cs typeface="Calibri"/>
                <a:sym typeface="Calibri"/>
              </a:rPr>
              <a:t> global memory </a:t>
            </a:r>
            <a:r>
              <a:rPr lang="en-US" b="false" i="false" strike="noStrike" u="none" sz="2000">
                <a:solidFill>
                  <a:srgbClr val="404040"/>
                </a:solidFill>
                <a:latin typeface="微软雅黑"/>
                <a:ea typeface="微软雅黑"/>
                <a:cs typeface="微软雅黑"/>
                <a:sym typeface="微软雅黑"/>
              </a:rPr>
              <a:t>往返开销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命中</a:t>
            </a:r>
            <a:r>
              <a:rPr lang="en-US" b="false" i="false" strike="noStrike" u="none" sz="2000">
                <a:solidFill>
                  <a:srgbClr val="404040"/>
                </a:solidFill>
                <a:latin typeface="Calibri"/>
                <a:ea typeface="Calibri"/>
                <a:cs typeface="Calibri"/>
                <a:sym typeface="Calibri"/>
              </a:rPr>
              <a:t> shared mem bank </a:t>
            </a:r>
            <a:r>
              <a:rPr lang="en-US" b="false" i="false" strike="noStrike" u="none" sz="2000">
                <a:solidFill>
                  <a:srgbClr val="404040"/>
                </a:solidFill>
                <a:latin typeface="微软雅黑"/>
                <a:ea typeface="微软雅黑"/>
                <a:cs typeface="微软雅黑"/>
                <a:sym typeface="微软雅黑"/>
              </a:rPr>
              <a:t>局部性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降低访存延迟</a:t>
            </a:r>
            <a:r>
              <a:rPr lang="en-US" b="false" i="false" strike="noStrike" u="none" sz="2000">
                <a:solidFill>
                  <a:srgbClr val="404040"/>
                </a:solidFill>
                <a:latin typeface="Calibri"/>
                <a:ea typeface="Calibri"/>
                <a:cs typeface="Calibri"/>
                <a:sym typeface="Calibri"/>
              </a:rPr>
              <a:t> 5~10x</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提升</a:t>
            </a:r>
            <a:r>
              <a:rPr lang="en-US" b="false" i="false" strike="noStrike" u="none" sz="2000">
                <a:solidFill>
                  <a:srgbClr val="404040"/>
                </a:solidFill>
                <a:latin typeface="Calibri"/>
                <a:ea typeface="Calibri"/>
                <a:cs typeface="Calibri"/>
                <a:sym typeface="Calibri"/>
              </a:rPr>
              <a:t> warp </a:t>
            </a:r>
            <a:r>
              <a:rPr lang="en-US" b="false" i="false" strike="noStrike" u="none" sz="2000">
                <a:solidFill>
                  <a:srgbClr val="404040"/>
                </a:solidFill>
                <a:latin typeface="微软雅黑"/>
                <a:ea typeface="微软雅黑"/>
                <a:cs typeface="微软雅黑"/>
                <a:sym typeface="微软雅黑"/>
              </a:rPr>
              <a:t>指令级并行</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
        <p:nvSpPr>
          <p:cNvPr name="AutoShape 6" id="6"/>
          <p:cNvSpPr/>
          <p:nvPr/>
        </p:nvSpPr>
        <p:spPr>
          <a:xfrm rot="0" flipH="false" flipV="false">
            <a:off x="4584065" y="3544570"/>
            <a:ext cx="2007235" cy="40005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2000">
                <a:solidFill>
                  <a:srgbClr val="8B0012"/>
                </a:solidFill>
                <a:latin typeface="Arial"/>
                <a:ea typeface="Arial"/>
                <a:cs typeface="Arial"/>
                <a:sym typeface="Arial"/>
              </a:rPr>
              <a:t>Pass </a:t>
            </a:r>
            <a:r>
              <a:rPr lang="en-US" b="true" i="false" strike="noStrike" u="none" sz="2000">
                <a:solidFill>
                  <a:srgbClr val="8B0012"/>
                </a:solidFill>
                <a:latin typeface="微软雅黑"/>
                <a:ea typeface="微软雅黑"/>
                <a:cs typeface="微软雅黑"/>
                <a:sym typeface="微软雅黑"/>
              </a:rPr>
              <a:t>注册流程</a:t>
            </a:r>
            <a:endParaRPr lang="en-US" sz="1100"/>
          </a:p>
        </p:txBody>
      </p:sp>
      <p:sp>
        <p:nvSpPr>
          <p:cNvPr name="AutoShape 7" id="7"/>
          <p:cNvSpPr/>
          <p:nvPr/>
        </p:nvSpPr>
        <p:spPr>
          <a:xfrm rot="0" flipH="false" flipV="false">
            <a:off x="6798310" y="1258570"/>
            <a:ext cx="5003165" cy="3290570"/>
          </a:xfrm>
          <a:prstGeom prst="rect">
            <a:avLst/>
          </a:prstGeom>
          <a:no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600">
                <a:solidFill>
                  <a:srgbClr val="000000"/>
                </a:solidFill>
                <a:latin typeface="Courier New Regular"/>
                <a:ea typeface="Courier New Regular"/>
                <a:cs typeface="Courier New Regular"/>
                <a:sym typeface="Courier New Regular"/>
              </a:rPr>
              <a:t>// </a:t>
            </a:r>
            <a:r>
              <a:rPr lang="en-US" b="false" i="false" strike="noStrike" u="none" sz="1600">
                <a:solidFill>
                  <a:srgbClr val="000000"/>
                </a:solidFill>
                <a:latin typeface="微软雅黑"/>
                <a:ea typeface="微软雅黑"/>
                <a:cs typeface="微软雅黑"/>
                <a:sym typeface="微软雅黑"/>
              </a:rPr>
              <a:t>在后端</a:t>
            </a:r>
            <a:r>
              <a:rPr lang="en-US" b="false" i="false" strike="noStrike" u="none" sz="1600">
                <a:solidFill>
                  <a:srgbClr val="000000"/>
                </a:solidFill>
                <a:latin typeface="Courier New Regular"/>
                <a:ea typeface="Courier New Regular"/>
                <a:cs typeface="Courier New Regular"/>
                <a:sym typeface="Courier New Regular"/>
              </a:rPr>
              <a:t> pipeline </a:t>
            </a:r>
            <a:r>
              <a:rPr lang="en-US" b="false" i="false" strike="noStrike" u="none" sz="1600">
                <a:solidFill>
                  <a:srgbClr val="000000"/>
                </a:solidFill>
                <a:latin typeface="微软雅黑"/>
                <a:ea typeface="微软雅黑"/>
                <a:cs typeface="微软雅黑"/>
                <a:sym typeface="微软雅黑"/>
              </a:rPr>
              <a:t>中注册</a:t>
            </a:r>
            <a:r>
              <a:rPr lang="en-US" b="false" i="false" strike="noStrike" u="none" sz="1600">
                <a:solidFill>
                  <a:srgbClr val="000000"/>
                </a:solidFill>
                <a:latin typeface="Courier New Regular"/>
                <a:ea typeface="Courier New Regular"/>
                <a:cs typeface="Courier New Regular"/>
                <a:sym typeface="Courier New Regular"/>
              </a:rPr>
              <a:t> Pass</a:t>
            </a:r>
            <a:endParaRPr lang="en-US" sz="1100"/>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void addPasses(PassManager &amp;pm,</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BackendType backend)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 </a:t>
            </a:r>
            <a:r>
              <a:rPr lang="en-US" b="false" i="false" strike="noStrike" u="none" sz="1600">
                <a:solidFill>
                  <a:srgbClr val="000000"/>
                </a:solidFill>
                <a:latin typeface="微软雅黑"/>
                <a:ea typeface="微软雅黑"/>
                <a:cs typeface="微软雅黑"/>
                <a:sym typeface="微软雅黑"/>
              </a:rPr>
              <a:t>公共</a:t>
            </a:r>
            <a:r>
              <a:rPr lang="en-US" b="false" i="false" strike="noStrike" u="none" sz="1600">
                <a:solidFill>
                  <a:srgbClr val="000000"/>
                </a:solidFill>
                <a:latin typeface="Courier New Regular"/>
                <a:ea typeface="Courier New Regular"/>
                <a:cs typeface="Courier New Regular"/>
                <a:sym typeface="Courier New Regular"/>
              </a:rPr>
              <a:t> Pass</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pm.addPass(createTritonGPUIRPass());</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 </a:t>
            </a:r>
            <a:r>
              <a:rPr lang="en-US" b="false" i="false" strike="noStrike" u="none" sz="1600">
                <a:solidFill>
                  <a:srgbClr val="000000"/>
                </a:solidFill>
                <a:latin typeface="微软雅黑"/>
                <a:ea typeface="微软雅黑"/>
                <a:cs typeface="微软雅黑"/>
                <a:sym typeface="微软雅黑"/>
              </a:rPr>
              <a:t>特化</a:t>
            </a:r>
            <a:r>
              <a:rPr lang="en-US" b="false" i="false" strike="noStrike" u="none" sz="1600">
                <a:solidFill>
                  <a:srgbClr val="000000"/>
                </a:solidFill>
                <a:latin typeface="Courier New Regular"/>
                <a:ea typeface="Courier New Regular"/>
                <a:cs typeface="Courier New Regular"/>
                <a:sym typeface="Courier New Regular"/>
              </a:rPr>
              <a:t> Pass</a:t>
            </a:r>
            <a:r>
              <a:rPr lang="en-US" b="false" i="false" strike="noStrike" u="none" sz="1600">
                <a:solidFill>
                  <a:srgbClr val="000000"/>
                </a:solidFill>
                <a:latin typeface="微软雅黑"/>
                <a:ea typeface="微软雅黑"/>
                <a:cs typeface="微软雅黑"/>
                <a:sym typeface="微软雅黑"/>
              </a:rPr>
              <a:t>（仅目标后端）</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if (backend == BackendType::DCU)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pm.addPass(</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createLocalPtrToSharedMemPass()</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pm.addPass(createLLVMLoweringPass());</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a:t>
            </a:r>
          </a:p>
          <a:p>
            <a:pPr algn="l" indent="0">
              <a:lnSpc>
                <a:spcPct val="100000"/>
              </a:lnSpc>
            </a:pPr>
            <a:r>
              <a:rPr lang="en-US" b="false" i="false" strike="noStrike" u="none" sz="1600">
                <a:solidFill>
                  <a:srgbClr val="000000"/>
                </a:solidFill>
                <a:latin typeface="Arial"/>
                <a:ea typeface="Arial"/>
                <a:cs typeface="Arial"/>
                <a:sym typeface="Arial"/>
              </a:rPr>
              <a:t> </a:t>
            </a:r>
          </a:p>
        </p:txBody>
      </p:sp>
      <p:sp>
        <p:nvSpPr>
          <p:cNvPr name="AutoShape 8" id="8"/>
          <p:cNvSpPr/>
          <p:nvPr/>
        </p:nvSpPr>
        <p:spPr>
          <a:xfrm rot="0" flipH="false" flipV="false">
            <a:off x="168910" y="5271135"/>
            <a:ext cx="1759585" cy="40005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2000">
                <a:solidFill>
                  <a:srgbClr val="8B0012"/>
                </a:solidFill>
                <a:latin typeface="Arial"/>
                <a:ea typeface="Arial"/>
                <a:cs typeface="Arial"/>
                <a:sym typeface="Arial"/>
              </a:rPr>
              <a:t>IR </a:t>
            </a:r>
            <a:r>
              <a:rPr lang="en-US" b="true" i="false" strike="noStrike" u="none" sz="2000">
                <a:solidFill>
                  <a:srgbClr val="8B0012"/>
                </a:solidFill>
                <a:latin typeface="微软雅黑"/>
                <a:ea typeface="微软雅黑"/>
                <a:cs typeface="微软雅黑"/>
                <a:sym typeface="微软雅黑"/>
              </a:rPr>
              <a:t>转换示例</a:t>
            </a:r>
            <a:endParaRPr lang="en-US" sz="1100"/>
          </a:p>
        </p:txBody>
      </p:sp>
      <p:sp>
        <p:nvSpPr>
          <p:cNvPr name="AutoShape 9" id="9"/>
          <p:cNvSpPr/>
          <p:nvPr/>
        </p:nvSpPr>
        <p:spPr>
          <a:xfrm rot="0" flipH="false" flipV="false">
            <a:off x="1764665" y="4977130"/>
            <a:ext cx="4471670" cy="988060"/>
          </a:xfrm>
          <a:prstGeom prst="rect">
            <a:avLst/>
          </a:prstGeom>
          <a:no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600">
                <a:solidFill>
                  <a:srgbClr val="000000"/>
                </a:solidFill>
                <a:latin typeface="Courier New Regular"/>
                <a:ea typeface="Courier New Regular"/>
                <a:cs typeface="Courier New Regular"/>
                <a:sym typeface="Courier New Regular"/>
              </a:rPr>
              <a:t>%ptr = tle.gpu.local_ptr %base,</a:t>
            </a:r>
            <a:endParaRPr lang="en-US" sz="1100"/>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%offset : !tt.ptr&lt;f32&gt;</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%val = tt.load %ptr : f32</a:t>
            </a:r>
          </a:p>
          <a:p>
            <a:pPr algn="l" indent="0">
              <a:lnSpc>
                <a:spcPct val="100000"/>
              </a:lnSpc>
            </a:pPr>
            <a:r>
              <a:rPr lang="en-US" b="false" i="false" strike="noStrike" u="none" sz="1600">
                <a:solidFill>
                  <a:srgbClr val="000000"/>
                </a:solidFill>
                <a:latin typeface="Arial"/>
                <a:ea typeface="Arial"/>
                <a:cs typeface="Arial"/>
                <a:sym typeface="Arial"/>
              </a:rPr>
              <a:t> </a:t>
            </a:r>
          </a:p>
        </p:txBody>
      </p:sp>
      <p:sp>
        <p:nvSpPr>
          <p:cNvPr name="AutoShape 10" id="10"/>
          <p:cNvSpPr/>
          <p:nvPr/>
        </p:nvSpPr>
        <p:spPr>
          <a:xfrm rot="0" flipH="false" flipV="false">
            <a:off x="7148195" y="4947285"/>
            <a:ext cx="4653280" cy="1229360"/>
          </a:xfrm>
          <a:prstGeom prst="rect">
            <a:avLst/>
          </a:prstGeom>
          <a:no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600">
                <a:solidFill>
                  <a:srgbClr val="000000"/>
                </a:solidFill>
                <a:latin typeface="Courier New Regular"/>
                <a:ea typeface="Courier New Regular"/>
                <a:cs typeface="Courier New Regular"/>
                <a:sym typeface="Courier New Regular"/>
              </a:rPr>
              <a:t>// </a:t>
            </a:r>
            <a:r>
              <a:rPr lang="en-US" b="false" i="false" strike="noStrike" u="none" sz="1600">
                <a:solidFill>
                  <a:srgbClr val="000000"/>
                </a:solidFill>
                <a:latin typeface="微软雅黑"/>
                <a:ea typeface="微软雅黑"/>
                <a:cs typeface="微软雅黑"/>
                <a:sym typeface="微软雅黑"/>
              </a:rPr>
              <a:t>国产</a:t>
            </a:r>
            <a:r>
              <a:rPr lang="en-US" b="false" i="false" strike="noStrike" u="none" sz="1600">
                <a:solidFill>
                  <a:srgbClr val="000000"/>
                </a:solidFill>
                <a:latin typeface="Courier New Regular"/>
                <a:ea typeface="Courier New Regular"/>
                <a:cs typeface="Courier New Regular"/>
                <a:sym typeface="Courier New Regular"/>
              </a:rPr>
              <a:t> DCU </a:t>
            </a:r>
            <a:r>
              <a:rPr lang="en-US" b="false" i="false" strike="noStrike" u="none" sz="1600">
                <a:solidFill>
                  <a:srgbClr val="000000"/>
                </a:solidFill>
                <a:latin typeface="微软雅黑"/>
                <a:ea typeface="微软雅黑"/>
                <a:cs typeface="微软雅黑"/>
                <a:sym typeface="微软雅黑"/>
              </a:rPr>
              <a:t>架构</a:t>
            </a:r>
            <a:r>
              <a:rPr lang="en-US" b="false" i="false" strike="noStrike" u="none" sz="1600">
                <a:solidFill>
                  <a:srgbClr val="000000"/>
                </a:solidFill>
                <a:latin typeface="Courier New Regular"/>
                <a:ea typeface="Courier New Regular"/>
                <a:cs typeface="Courier New Regular"/>
                <a:sym typeface="Courier New Regular"/>
              </a:rPr>
              <a:t> shared mem </a:t>
            </a:r>
            <a:r>
              <a:rPr lang="en-US" b="false" i="false" strike="noStrike" u="none" sz="1600">
                <a:solidFill>
                  <a:srgbClr val="000000"/>
                </a:solidFill>
                <a:latin typeface="微软雅黑"/>
                <a:ea typeface="微软雅黑"/>
                <a:cs typeface="微软雅黑"/>
                <a:sym typeface="微软雅黑"/>
              </a:rPr>
              <a:t>访问</a:t>
            </a:r>
            <a:endParaRPr lang="en-US" sz="1100"/>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%ptr = gpu.shared_mem_ptr %base,</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%offset</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%val = gpu.ds_read_b32 %ptr : i32</a:t>
            </a:r>
          </a:p>
          <a:p>
            <a:pPr algn="l" indent="0">
              <a:lnSpc>
                <a:spcPct val="100000"/>
              </a:lnSpc>
            </a:pPr>
            <a:r>
              <a:rPr lang="en-US" b="false" i="false" strike="noStrike" u="none" sz="1600">
                <a:solidFill>
                  <a:srgbClr val="000000"/>
                </a:solidFill>
                <a:latin typeface="Arial"/>
                <a:ea typeface="Arial"/>
                <a:cs typeface="Arial"/>
                <a:sym typeface="Arial"/>
              </a:rPr>
              <a:t> </a:t>
            </a:r>
          </a:p>
        </p:txBody>
      </p:sp>
      <p:sp>
        <p:nvSpPr>
          <p:cNvPr name="AutoShape 11" id="11"/>
          <p:cNvSpPr/>
          <p:nvPr/>
        </p:nvSpPr>
        <p:spPr>
          <a:xfrm rot="0" flipH="false" flipV="false">
            <a:off x="6248400" y="5102225"/>
            <a:ext cx="899795" cy="70104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800">
                <a:solidFill>
                  <a:srgbClr val="8B0012"/>
                </a:solidFill>
                <a:latin typeface="Arial"/>
                <a:ea typeface="Arial"/>
                <a:cs typeface="Arial"/>
                <a:sym typeface="Arial"/>
              </a:rPr>
              <a:t> Pass</a:t>
            </a:r>
            <a:br>
              <a:rPr lang="en-US" b="true" i="false" strike="noStrike" u="none" sz="1800">
                <a:solidFill>
                  <a:srgbClr val="8B0012"/>
                </a:solidFill>
                <a:latin typeface="Arial"/>
                <a:ea typeface="Arial"/>
                <a:cs typeface="Arial"/>
                <a:sym typeface="Arial"/>
              </a:rPr>
            </a:br>
            <a:r>
              <a:rPr lang="en-US" b="true" i="false" strike="noStrike" u="none" sz="1800">
                <a:solidFill>
                  <a:srgbClr val="8B0012"/>
                </a:solidFill>
                <a:latin typeface="Arial"/>
                <a:ea typeface="Arial"/>
                <a:cs typeface="Arial"/>
                <a:sym typeface="Arial"/>
              </a:rPr>
              <a:t>==&gt;</a:t>
            </a:r>
            <a:endParaRPr lang="en-US" sz="1100"/>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a:t>
            </a:r>
            <a:r>
              <a:rPr lang="en-US" b="false" i="false" strike="noStrike" u="none" sz="3600">
                <a:solidFill>
                  <a:srgbClr val="262626"/>
                </a:solidFill>
                <a:latin typeface="微软雅黑"/>
                <a:ea typeface="微软雅黑"/>
                <a:cs typeface="微软雅黑"/>
                <a:sym typeface="微软雅黑"/>
              </a:rPr>
              <a:t>算子层架构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如何将</a:t>
            </a:r>
            <a:r>
              <a:rPr lang="en-US" b="false" i="false" strike="noStrike" u="none" sz="2400">
                <a:solidFill>
                  <a:srgbClr val="404040"/>
                </a:solidFill>
                <a:latin typeface="Calibri"/>
                <a:ea typeface="Calibri"/>
                <a:cs typeface="Calibri"/>
                <a:sym typeface="Calibri"/>
              </a:rPr>
              <a:t> local_ptr </a:t>
            </a:r>
            <a:r>
              <a:rPr lang="en-US" b="false" i="false" strike="noStrike" u="none" sz="2400">
                <a:solidFill>
                  <a:srgbClr val="404040"/>
                </a:solidFill>
                <a:latin typeface="微软雅黑"/>
                <a:ea typeface="微软雅黑"/>
                <a:cs typeface="微软雅黑"/>
                <a:sym typeface="微软雅黑"/>
              </a:rPr>
              <a:t>优化集成到</a:t>
            </a:r>
            <a:r>
              <a:rPr lang="en-US" b="false" i="false" strike="noStrike" u="none" sz="2400">
                <a:solidFill>
                  <a:srgbClr val="404040"/>
                </a:solidFill>
                <a:latin typeface="Calibri"/>
                <a:ea typeface="Calibri"/>
                <a:cs typeface="Calibri"/>
                <a:sym typeface="Calibri"/>
              </a:rPr>
              <a:t> FlagGems </a:t>
            </a:r>
            <a:r>
              <a:rPr lang="en-US" b="false" i="false" strike="noStrike" u="none" sz="2400">
                <a:solidFill>
                  <a:srgbClr val="404040"/>
                </a:solidFill>
                <a:latin typeface="微软雅黑"/>
                <a:ea typeface="微软雅黑"/>
                <a:cs typeface="微软雅黑"/>
                <a:sym typeface="微软雅黑"/>
              </a:rPr>
              <a:t>算子</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pSp>
        <p:nvGrpSpPr>
          <p:cNvPr name="Group 6" id="6"/>
          <p:cNvGrpSpPr/>
          <p:nvPr/>
        </p:nvGrpSpPr>
        <p:grpSpPr>
          <a:xfrm>
            <a:off x="1831340" y="1884680"/>
            <a:ext cx="9199880" cy="4350385"/>
            <a:chOff x="1831340" y="1884680"/>
            <a:chExt cx="9199880" cy="4350385"/>
          </a:xfrm>
        </p:grpSpPr>
        <p:sp>
          <p:nvSpPr>
            <p:cNvPr name="AutoShape 7" id="7"/>
            <p:cNvSpPr/>
            <p:nvPr/>
          </p:nvSpPr>
          <p:spPr>
            <a:xfrm rot="0" flipH="false" flipV="false">
              <a:off x="1831340" y="1884680"/>
              <a:ext cx="9199880" cy="699770"/>
            </a:xfrm>
            <a:prstGeom prst="rect">
              <a:avLst/>
            </a:prstGeom>
            <a:solidFill>
              <a:srgbClr val="1A237E">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8" id="8"/>
            <p:cNvSpPr/>
            <p:nvPr/>
          </p:nvSpPr>
          <p:spPr>
            <a:xfrm rot="0" flipH="false" flipV="false">
              <a:off x="1931035" y="1954530"/>
              <a:ext cx="8999855" cy="56007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2000">
                  <a:solidFill>
                    <a:srgbClr val="FFFFFF"/>
                  </a:solidFill>
                  <a:latin typeface="Arial"/>
                  <a:ea typeface="Arial"/>
                  <a:cs typeface="Arial"/>
                  <a:sym typeface="Arial"/>
                </a:rPr>
                <a:t>FlagGems  —  PyTorch ATen </a:t>
              </a:r>
              <a:r>
                <a:rPr lang="en-US" b="true" i="false" strike="noStrike" u="none" sz="2000">
                  <a:solidFill>
                    <a:srgbClr val="FFFFFF"/>
                  </a:solidFill>
                  <a:latin typeface="微软雅黑"/>
                  <a:ea typeface="微软雅黑"/>
                  <a:cs typeface="微软雅黑"/>
                  <a:sym typeface="微软雅黑"/>
                </a:rPr>
                <a:t>算子注册层</a:t>
              </a:r>
              <a:endParaRPr lang="en-US" sz="1100"/>
            </a:p>
          </p:txBody>
        </p:sp>
        <p:sp>
          <p:nvSpPr>
            <p:cNvPr name="AutoShape 9" id="9"/>
            <p:cNvSpPr/>
            <p:nvPr/>
          </p:nvSpPr>
          <p:spPr>
            <a:xfrm rot="0" flipH="false" flipV="false">
              <a:off x="1831340" y="2734310"/>
              <a:ext cx="9199880" cy="699770"/>
            </a:xfrm>
            <a:prstGeom prst="rect">
              <a:avLst/>
            </a:prstGeom>
            <a:solidFill>
              <a:srgbClr val="283593">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0" id="10"/>
            <p:cNvSpPr/>
            <p:nvPr/>
          </p:nvSpPr>
          <p:spPr>
            <a:xfrm rot="0" flipH="false" flipV="false">
              <a:off x="1931035" y="2804795"/>
              <a:ext cx="8999855" cy="56007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false" i="false" strike="noStrike" u="none" sz="1800">
                  <a:solidFill>
                    <a:srgbClr val="FFFFFF"/>
                  </a:solidFill>
                  <a:latin typeface="Arial"/>
                  <a:ea typeface="Arial"/>
                  <a:cs typeface="Arial"/>
                  <a:sym typeface="Arial"/>
                </a:rPr>
                <a:t>LibEntry / LibTuner  —  </a:t>
              </a:r>
              <a:r>
                <a:rPr lang="en-US" b="false" i="false" strike="noStrike" u="none" sz="1800">
                  <a:solidFill>
                    <a:srgbClr val="FFFFFF"/>
                  </a:solidFill>
                  <a:latin typeface="微软雅黑"/>
                  <a:ea typeface="微软雅黑"/>
                  <a:cs typeface="微软雅黑"/>
                  <a:sym typeface="微软雅黑"/>
                </a:rPr>
                <a:t>内核缓存与自动调优管理</a:t>
              </a:r>
              <a:endParaRPr lang="en-US" sz="1100"/>
            </a:p>
          </p:txBody>
        </p:sp>
        <p:sp>
          <p:nvSpPr>
            <p:cNvPr name="AutoShape 11" id="11"/>
            <p:cNvSpPr/>
            <p:nvPr/>
          </p:nvSpPr>
          <p:spPr>
            <a:xfrm rot="0" flipH="false" flipV="false">
              <a:off x="1831340" y="3584575"/>
              <a:ext cx="9199880" cy="69977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2" id="12"/>
            <p:cNvSpPr/>
            <p:nvPr/>
          </p:nvSpPr>
          <p:spPr>
            <a:xfrm rot="0" flipH="false" flipV="false">
              <a:off x="1931035" y="3654425"/>
              <a:ext cx="8999855" cy="56007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800">
                  <a:solidFill>
                    <a:srgbClr val="FFFFFF"/>
                  </a:solidFill>
                  <a:latin typeface="Arial"/>
                  <a:ea typeface="Arial"/>
                  <a:cs typeface="Arial"/>
                  <a:sym typeface="Arial"/>
                </a:rPr>
                <a:t>Triton </a:t>
              </a:r>
              <a:r>
                <a:rPr lang="en-US" b="true" i="false" strike="noStrike" u="none" sz="1800">
                  <a:solidFill>
                    <a:srgbClr val="FFFFFF"/>
                  </a:solidFill>
                  <a:latin typeface="微软雅黑"/>
                  <a:ea typeface="微软雅黑"/>
                  <a:cs typeface="微软雅黑"/>
                  <a:sym typeface="微软雅黑"/>
                </a:rPr>
                <a:t>内核</a:t>
              </a:r>
              <a:r>
                <a:rPr lang="en-US" b="true" i="false" strike="noStrike" u="none" sz="1800">
                  <a:solidFill>
                    <a:srgbClr val="FFFFFF"/>
                  </a:solidFill>
                  <a:latin typeface="Arial"/>
                  <a:ea typeface="Arial"/>
                  <a:cs typeface="Arial"/>
                  <a:sym typeface="Arial"/>
                </a:rPr>
                <a:t>  —  </a:t>
              </a:r>
              <a:r>
                <a:rPr lang="en-US" b="true" i="false" strike="noStrike" u="none" sz="1800">
                  <a:solidFill>
                    <a:srgbClr val="FFFFFF"/>
                  </a:solidFill>
                  <a:latin typeface="微软雅黑"/>
                  <a:ea typeface="微软雅黑"/>
                  <a:cs typeface="微软雅黑"/>
                  <a:sym typeface="微软雅黑"/>
                </a:rPr>
                <a:t>算子实现</a:t>
              </a:r>
              <a:r>
                <a:rPr lang="en-US" b="true" i="false" strike="noStrike" u="none" sz="1800">
                  <a:solidFill>
                    <a:srgbClr val="FFFFFF"/>
                  </a:solidFill>
                  <a:latin typeface="Arial"/>
                  <a:ea typeface="Arial"/>
                  <a:cs typeface="Arial"/>
                  <a:sym typeface="Arial"/>
                </a:rPr>
                <a:t> ( .py )  ←  tle.gpu.local_ptr </a:t>
              </a:r>
              <a:r>
                <a:rPr lang="en-US" b="true" i="false" strike="noStrike" u="none" sz="1800">
                  <a:solidFill>
                    <a:srgbClr val="FFFFFF"/>
                  </a:solidFill>
                  <a:latin typeface="微软雅黑"/>
                  <a:ea typeface="微软雅黑"/>
                  <a:cs typeface="微软雅黑"/>
                  <a:sym typeface="微软雅黑"/>
                </a:rPr>
                <a:t>注入点</a:t>
              </a:r>
              <a:endParaRPr lang="en-US" sz="1100"/>
            </a:p>
          </p:txBody>
        </p:sp>
        <p:sp>
          <p:nvSpPr>
            <p:cNvPr name="AutoShape 13" id="13"/>
            <p:cNvSpPr/>
            <p:nvPr/>
          </p:nvSpPr>
          <p:spPr>
            <a:xfrm rot="0" flipH="false" flipV="false">
              <a:off x="1831340" y="4434840"/>
              <a:ext cx="9199880" cy="699770"/>
            </a:xfrm>
            <a:prstGeom prst="rect">
              <a:avLst/>
            </a:prstGeom>
            <a:solidFill>
              <a:srgbClr val="B71C1C">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4" id="14"/>
            <p:cNvSpPr/>
            <p:nvPr/>
          </p:nvSpPr>
          <p:spPr>
            <a:xfrm rot="0" flipH="false" flipV="false">
              <a:off x="1931035" y="4504690"/>
              <a:ext cx="8999855" cy="56007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false" i="false" strike="noStrike" u="none" sz="1800">
                  <a:solidFill>
                    <a:srgbClr val="FFFFFF"/>
                  </a:solidFill>
                  <a:latin typeface="Arial"/>
                  <a:ea typeface="Arial"/>
                  <a:cs typeface="Arial"/>
                  <a:sym typeface="Arial"/>
                </a:rPr>
                <a:t>FlagTree </a:t>
              </a:r>
              <a:r>
                <a:rPr lang="en-US" b="false" i="false" strike="noStrike" u="none" sz="1800">
                  <a:solidFill>
                    <a:srgbClr val="FFFFFF"/>
                  </a:solidFill>
                  <a:latin typeface="微软雅黑"/>
                  <a:ea typeface="微软雅黑"/>
                  <a:cs typeface="微软雅黑"/>
                  <a:sym typeface="微软雅黑"/>
                </a:rPr>
                <a:t>编译器</a:t>
              </a:r>
              <a:r>
                <a:rPr lang="en-US" b="false" i="false" strike="noStrike" u="none" sz="1800">
                  <a:solidFill>
                    <a:srgbClr val="FFFFFF"/>
                  </a:solidFill>
                  <a:latin typeface="Arial"/>
                  <a:ea typeface="Arial"/>
                  <a:cs typeface="Arial"/>
                  <a:sym typeface="Arial"/>
                </a:rPr>
                <a:t>  —  </a:t>
              </a:r>
              <a:r>
                <a:rPr lang="en-US" b="false" i="false" strike="noStrike" u="none" sz="1800">
                  <a:solidFill>
                    <a:srgbClr val="FFFFFF"/>
                  </a:solidFill>
                  <a:latin typeface="微软雅黑"/>
                  <a:ea typeface="微软雅黑"/>
                  <a:cs typeface="微软雅黑"/>
                  <a:sym typeface="微软雅黑"/>
                </a:rPr>
                <a:t>特化</a:t>
              </a:r>
              <a:r>
                <a:rPr lang="en-US" b="false" i="false" strike="noStrike" u="none" sz="1800">
                  <a:solidFill>
                    <a:srgbClr val="FFFFFF"/>
                  </a:solidFill>
                  <a:latin typeface="Arial"/>
                  <a:ea typeface="Arial"/>
                  <a:cs typeface="Arial"/>
                  <a:sym typeface="Arial"/>
                </a:rPr>
                <a:t> Pass </a:t>
              </a:r>
              <a:r>
                <a:rPr lang="en-US" b="false" i="false" strike="noStrike" u="none" sz="1800">
                  <a:solidFill>
                    <a:srgbClr val="FFFFFF"/>
                  </a:solidFill>
                  <a:latin typeface="微软雅黑"/>
                  <a:ea typeface="微软雅黑"/>
                  <a:cs typeface="微软雅黑"/>
                  <a:sym typeface="微软雅黑"/>
                </a:rPr>
                <a:t>处理</a:t>
              </a:r>
              <a:r>
                <a:rPr lang="en-US" b="false" i="false" strike="noStrike" u="none" sz="1800">
                  <a:solidFill>
                    <a:srgbClr val="FFFFFF"/>
                  </a:solidFill>
                  <a:latin typeface="Arial"/>
                  <a:ea typeface="Arial"/>
                  <a:cs typeface="Arial"/>
                  <a:sym typeface="Arial"/>
                </a:rPr>
                <a:t> local_ptr → </a:t>
              </a:r>
              <a:r>
                <a:rPr lang="en-US" b="false" i="false" strike="noStrike" u="none" sz="1800">
                  <a:solidFill>
                    <a:srgbClr val="FFFFFF"/>
                  </a:solidFill>
                  <a:latin typeface="微软雅黑"/>
                  <a:ea typeface="微软雅黑"/>
                  <a:cs typeface="微软雅黑"/>
                  <a:sym typeface="微软雅黑"/>
                </a:rPr>
                <a:t>架构指令</a:t>
              </a:r>
              <a:endParaRPr lang="en-US" sz="1100"/>
            </a:p>
          </p:txBody>
        </p:sp>
        <p:sp>
          <p:nvSpPr>
            <p:cNvPr name="AutoShape 15" id="15"/>
            <p:cNvSpPr/>
            <p:nvPr/>
          </p:nvSpPr>
          <p:spPr>
            <a:xfrm rot="0" flipH="false" flipV="false">
              <a:off x="1831340" y="5334635"/>
              <a:ext cx="9199880" cy="37973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800">
                  <a:solidFill>
                    <a:srgbClr val="8B0012"/>
                  </a:solidFill>
                  <a:latin typeface="微软雅黑"/>
                  <a:ea typeface="微软雅黑"/>
                  <a:cs typeface="微软雅黑"/>
                  <a:sym typeface="微软雅黑"/>
                </a:rPr>
                <a:t>使用</a:t>
              </a:r>
              <a:r>
                <a:rPr lang="en-US" b="true" i="false" strike="noStrike" u="none" sz="1800">
                  <a:solidFill>
                    <a:srgbClr val="8B0012"/>
                  </a:solidFill>
                  <a:latin typeface="Arial"/>
                  <a:ea typeface="Arial"/>
                  <a:cs typeface="Arial"/>
                  <a:sym typeface="Arial"/>
                </a:rPr>
                <a:t> local_ptr </a:t>
              </a:r>
              <a:r>
                <a:rPr lang="en-US" b="true" i="false" strike="noStrike" u="none" sz="1800">
                  <a:solidFill>
                    <a:srgbClr val="8B0012"/>
                  </a:solidFill>
                  <a:latin typeface="微软雅黑"/>
                  <a:ea typeface="微软雅黑"/>
                  <a:cs typeface="微软雅黑"/>
                  <a:sym typeface="微软雅黑"/>
                </a:rPr>
                <a:t>优化的算子（</a:t>
              </a:r>
              <a:r>
                <a:rPr lang="en-US" b="true" i="false" strike="noStrike" u="none" sz="1800">
                  <a:solidFill>
                    <a:srgbClr val="8B0012"/>
                  </a:solidFill>
                  <a:latin typeface="Arial"/>
                  <a:ea typeface="Arial"/>
                  <a:cs typeface="Arial"/>
                  <a:sym typeface="Arial"/>
                </a:rPr>
                <a:t>PR #333 </a:t>
              </a:r>
              <a:r>
                <a:rPr lang="en-US" b="true" i="false" strike="noStrike" u="none" sz="1800">
                  <a:solidFill>
                    <a:srgbClr val="8B0012"/>
                  </a:solidFill>
                  <a:latin typeface="微软雅黑"/>
                  <a:ea typeface="微软雅黑"/>
                  <a:cs typeface="微软雅黑"/>
                  <a:sym typeface="微软雅黑"/>
                </a:rPr>
                <a:t>涉及）</a:t>
              </a:r>
              <a:endParaRPr lang="en-US" sz="1100"/>
            </a:p>
          </p:txBody>
        </p:sp>
        <p:sp>
          <p:nvSpPr>
            <p:cNvPr name="AutoShape 16" id="16"/>
            <p:cNvSpPr/>
            <p:nvPr/>
          </p:nvSpPr>
          <p:spPr>
            <a:xfrm rot="0" flipH="false" flipV="false">
              <a:off x="1831340" y="5784850"/>
              <a:ext cx="1449705" cy="45021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7" id="17"/>
            <p:cNvSpPr/>
            <p:nvPr/>
          </p:nvSpPr>
          <p:spPr>
            <a:xfrm rot="0" flipH="false" flipV="false">
              <a:off x="1831340" y="5814695"/>
              <a:ext cx="1449705" cy="38989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700">
                  <a:solidFill>
                    <a:srgbClr val="FFFFFF"/>
                  </a:solidFill>
                  <a:latin typeface="Arial"/>
                  <a:ea typeface="Arial"/>
                  <a:cs typeface="Arial"/>
                  <a:sym typeface="Arial"/>
                </a:rPr>
                <a:t>topk</a:t>
              </a:r>
              <a:endParaRPr lang="en-US" sz="1100"/>
            </a:p>
          </p:txBody>
        </p:sp>
        <p:sp>
          <p:nvSpPr>
            <p:cNvPr name="AutoShape 18" id="18"/>
            <p:cNvSpPr/>
            <p:nvPr/>
          </p:nvSpPr>
          <p:spPr>
            <a:xfrm rot="0" flipH="false" flipV="false">
              <a:off x="3371215" y="5784850"/>
              <a:ext cx="1449705" cy="45021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9" id="19"/>
            <p:cNvSpPr/>
            <p:nvPr/>
          </p:nvSpPr>
          <p:spPr>
            <a:xfrm rot="0" flipH="false" flipV="false">
              <a:off x="3371215" y="5814695"/>
              <a:ext cx="1449705" cy="38989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700">
                  <a:solidFill>
                    <a:srgbClr val="FFFFFF"/>
                  </a:solidFill>
                  <a:latin typeface="Arial"/>
                  <a:ea typeface="Arial"/>
                  <a:cs typeface="Arial"/>
                  <a:sym typeface="Arial"/>
                </a:rPr>
                <a:t>sort</a:t>
              </a:r>
              <a:endParaRPr lang="en-US" sz="1100"/>
            </a:p>
          </p:txBody>
        </p:sp>
        <p:sp>
          <p:nvSpPr>
            <p:cNvPr name="AutoShape 20" id="20"/>
            <p:cNvSpPr/>
            <p:nvPr/>
          </p:nvSpPr>
          <p:spPr>
            <a:xfrm rot="0" flipH="false" flipV="false">
              <a:off x="4911090" y="5784850"/>
              <a:ext cx="1449705" cy="45021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1" id="21"/>
            <p:cNvSpPr/>
            <p:nvPr/>
          </p:nvSpPr>
          <p:spPr>
            <a:xfrm rot="0" flipH="false" flipV="false">
              <a:off x="4911090" y="5814695"/>
              <a:ext cx="1449705" cy="38989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700">
                  <a:solidFill>
                    <a:srgbClr val="FFFFFF"/>
                  </a:solidFill>
                  <a:latin typeface="Arial"/>
                  <a:ea typeface="Arial"/>
                  <a:cs typeface="Arial"/>
                  <a:sym typeface="Arial"/>
                </a:rPr>
                <a:t>argsort</a:t>
              </a:r>
              <a:endParaRPr lang="en-US" sz="1100"/>
            </a:p>
          </p:txBody>
        </p:sp>
        <p:sp>
          <p:nvSpPr>
            <p:cNvPr name="AutoShape 22" id="22"/>
            <p:cNvSpPr/>
            <p:nvPr/>
          </p:nvSpPr>
          <p:spPr>
            <a:xfrm rot="0" flipH="false" flipV="false">
              <a:off x="6451600" y="5784850"/>
              <a:ext cx="1449705" cy="45021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3" id="23"/>
            <p:cNvSpPr/>
            <p:nvPr/>
          </p:nvSpPr>
          <p:spPr>
            <a:xfrm rot="0" flipH="false" flipV="false">
              <a:off x="6451600" y="5814695"/>
              <a:ext cx="1449705" cy="38989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700">
                  <a:solidFill>
                    <a:srgbClr val="FFFFFF"/>
                  </a:solidFill>
                  <a:latin typeface="Arial"/>
                  <a:ea typeface="Arial"/>
                  <a:cs typeface="Arial"/>
                  <a:sym typeface="Arial"/>
                </a:rPr>
                <a:t>median</a:t>
              </a:r>
              <a:endParaRPr lang="en-US" sz="1100"/>
            </a:p>
          </p:txBody>
        </p:sp>
        <p:sp>
          <p:nvSpPr>
            <p:cNvPr name="AutoShape 24" id="24"/>
            <p:cNvSpPr/>
            <p:nvPr/>
          </p:nvSpPr>
          <p:spPr>
            <a:xfrm rot="0" flipH="false" flipV="false">
              <a:off x="7991475" y="5784850"/>
              <a:ext cx="1449705" cy="45021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5" id="25"/>
            <p:cNvSpPr/>
            <p:nvPr/>
          </p:nvSpPr>
          <p:spPr>
            <a:xfrm rot="0" flipH="false" flipV="false">
              <a:off x="7991475" y="5814695"/>
              <a:ext cx="1449705" cy="38989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700">
                  <a:solidFill>
                    <a:srgbClr val="FFFFFF"/>
                  </a:solidFill>
                  <a:latin typeface="Arial"/>
                  <a:ea typeface="Arial"/>
                  <a:cs typeface="Arial"/>
                  <a:sym typeface="Arial"/>
                </a:rPr>
                <a:t>kthvalue</a:t>
              </a:r>
              <a:endParaRPr lang="en-US" sz="1100"/>
            </a:p>
          </p:txBody>
        </p:sp>
        <p:sp>
          <p:nvSpPr>
            <p:cNvPr name="AutoShape 26" id="26"/>
            <p:cNvSpPr/>
            <p:nvPr/>
          </p:nvSpPr>
          <p:spPr>
            <a:xfrm rot="0" flipH="false" flipV="false">
              <a:off x="9531350" y="5784850"/>
              <a:ext cx="1449705" cy="45021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7" id="27"/>
            <p:cNvSpPr/>
            <p:nvPr/>
          </p:nvSpPr>
          <p:spPr>
            <a:xfrm rot="0" flipH="false" flipV="false">
              <a:off x="9531350" y="5814695"/>
              <a:ext cx="1449705" cy="389890"/>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true" i="false" strike="noStrike" u="none" sz="1700">
                  <a:solidFill>
                    <a:srgbClr val="FFFFFF"/>
                  </a:solidFill>
                  <a:latin typeface="Arial"/>
                  <a:ea typeface="Arial"/>
                  <a:cs typeface="Arial"/>
                  <a:sym typeface="Arial"/>
                </a:rPr>
                <a:t>mode</a:t>
              </a:r>
              <a:endParaRPr lang="en-US" sz="1100"/>
            </a:p>
          </p:txBody>
        </p:sp>
      </p:gr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TopK </a:t>
            </a:r>
            <a:r>
              <a:rPr lang="en-US" b="false" i="false" strike="noStrike" u="none" sz="3600">
                <a:solidFill>
                  <a:srgbClr val="262626"/>
                </a:solidFill>
                <a:latin typeface="微软雅黑"/>
                <a:ea typeface="微软雅黑"/>
                <a:cs typeface="微软雅黑"/>
                <a:sym typeface="微软雅黑"/>
              </a:rPr>
              <a:t>算子优化案例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xfrm rot="0" flipH="false" flipV="false">
            <a:off x="523875" y="1323975"/>
            <a:ext cx="5942965" cy="4608195"/>
          </a:xfrm>
          <a:prstGeom prst="rect">
            <a:avLst/>
          </a:prstGeom>
        </p:spPr>
        <p:txBody>
          <a:bodyPr anchor="t" wrap="square" lIns="91440" rIns="91440" tIns="45720" bIns="45720">
            <a:normAutofit lnSpcReduction="10000"/>
          </a:bodyPr>
          <a:lstStyle>
            <a:lvl1pPr algn="l">
              <a:lnSpc>
                <a:spcPct val="133333"/>
              </a:lnSpc>
              <a:defRPr sz="2400" b="false" i="false" u="none" strike="noStrike" spc="0">
                <a:solidFill>
                  <a:srgbClr val="404040">
                    <a:alpha val="100000"/>
                  </a:srgbClr>
                </a:solidFill>
                <a:latin typeface="Calibri"/>
              </a:defRPr>
            </a:lvl1pPr>
          </a:lstStyle>
          <a:p>
            <a:pPr algn="l" indent="-304800" marL="304800">
              <a:lnSpc>
                <a:spcPct val="133333"/>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local_ptr </a:t>
            </a:r>
            <a:r>
              <a:rPr lang="en-US" b="false" i="false" strike="noStrike" u="none" sz="2400">
                <a:solidFill>
                  <a:srgbClr val="404040"/>
                </a:solidFill>
                <a:latin typeface="微软雅黑"/>
                <a:ea typeface="微软雅黑"/>
                <a:cs typeface="微软雅黑"/>
                <a:sym typeface="微软雅黑"/>
              </a:rPr>
              <a:t>微架构优化实践</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数据就近存放：中间排序结果存于</a:t>
            </a:r>
            <a:r>
              <a:rPr lang="en-US" b="false" i="false" strike="noStrike" u="none" sz="2000">
                <a:solidFill>
                  <a:srgbClr val="404040"/>
                </a:solidFill>
                <a:latin typeface="Calibri"/>
                <a:ea typeface="Calibri"/>
                <a:cs typeface="Calibri"/>
                <a:sym typeface="Calibri"/>
              </a:rPr>
              <a:t> shared memory</a:t>
            </a:r>
            <a:r>
              <a:rPr lang="en-US" b="false" i="false" strike="noStrike" u="none" sz="2000">
                <a:solidFill>
                  <a:srgbClr val="404040"/>
                </a:solidFill>
                <a:latin typeface="微软雅黑"/>
                <a:ea typeface="微软雅黑"/>
                <a:cs typeface="微软雅黑"/>
                <a:sym typeface="微软雅黑"/>
              </a:rPr>
              <a:t>，避免写回</a:t>
            </a:r>
            <a:r>
              <a:rPr lang="en-US" b="false" i="false" strike="noStrike" u="none" sz="2000">
                <a:solidFill>
                  <a:srgbClr val="404040"/>
                </a:solidFill>
                <a:latin typeface="Calibri"/>
                <a:ea typeface="Calibri"/>
                <a:cs typeface="Calibri"/>
                <a:sym typeface="Calibri"/>
              </a:rPr>
              <a:t> global memory </a:t>
            </a:r>
            <a:r>
              <a:rPr lang="en-US" b="false" i="false" strike="noStrike" u="none" sz="2000">
                <a:solidFill>
                  <a:srgbClr val="404040"/>
                </a:solidFill>
                <a:latin typeface="微软雅黑"/>
                <a:ea typeface="微软雅黑"/>
                <a:cs typeface="微软雅黑"/>
                <a:sym typeface="微软雅黑"/>
              </a:rPr>
              <a:t>再重读取</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Bank </a:t>
            </a:r>
            <a:r>
              <a:rPr lang="en-US" b="false" i="false" strike="noStrike" u="none" sz="2000">
                <a:solidFill>
                  <a:srgbClr val="404040"/>
                </a:solidFill>
                <a:latin typeface="微软雅黑"/>
                <a:ea typeface="微软雅黑"/>
                <a:cs typeface="微软雅黑"/>
                <a:sym typeface="微软雅黑"/>
              </a:rPr>
              <a:t>访问优化：</a:t>
            </a:r>
            <a:r>
              <a:rPr lang="en-US" b="false" i="false" strike="noStrike" u="none" sz="2000">
                <a:solidFill>
                  <a:srgbClr val="404040"/>
                </a:solidFill>
                <a:latin typeface="Calibri"/>
                <a:ea typeface="Calibri"/>
                <a:cs typeface="Calibri"/>
                <a:sym typeface="Calibri"/>
              </a:rPr>
              <a:t>local_ptr </a:t>
            </a:r>
            <a:r>
              <a:rPr lang="en-US" b="false" i="false" strike="noStrike" u="none" sz="2000">
                <a:solidFill>
                  <a:srgbClr val="404040"/>
                </a:solidFill>
                <a:latin typeface="微软雅黑"/>
                <a:ea typeface="微软雅黑"/>
                <a:cs typeface="微软雅黑"/>
                <a:sym typeface="微软雅黑"/>
              </a:rPr>
              <a:t>携带</a:t>
            </a:r>
            <a:r>
              <a:rPr lang="en-US" b="false" i="false" strike="noStrike" u="none" sz="2000">
                <a:solidFill>
                  <a:srgbClr val="404040"/>
                </a:solidFill>
                <a:latin typeface="Calibri"/>
                <a:ea typeface="Calibri"/>
                <a:cs typeface="Calibri"/>
                <a:sym typeface="Calibri"/>
              </a:rPr>
              <a:t> offset </a:t>
            </a:r>
            <a:r>
              <a:rPr lang="en-US" b="false" i="false" strike="noStrike" u="none" sz="2000">
                <a:solidFill>
                  <a:srgbClr val="404040"/>
                </a:solidFill>
                <a:latin typeface="微软雅黑"/>
                <a:ea typeface="微软雅黑"/>
                <a:cs typeface="微软雅黑"/>
                <a:sym typeface="微软雅黑"/>
              </a:rPr>
              <a:t>信息，编译器可分析</a:t>
            </a:r>
            <a:r>
              <a:rPr lang="en-US" b="false" i="false" strike="noStrike" u="none" sz="2000">
                <a:solidFill>
                  <a:srgbClr val="404040"/>
                </a:solidFill>
                <a:latin typeface="Calibri"/>
                <a:ea typeface="Calibri"/>
                <a:cs typeface="Calibri"/>
                <a:sym typeface="Calibri"/>
              </a:rPr>
              <a:t> bank conflict </a:t>
            </a:r>
            <a:r>
              <a:rPr lang="en-US" b="false" i="false" strike="noStrike" u="none" sz="2000">
                <a:solidFill>
                  <a:srgbClr val="404040"/>
                </a:solidFill>
                <a:latin typeface="微软雅黑"/>
                <a:ea typeface="微软雅黑"/>
                <a:cs typeface="微软雅黑"/>
                <a:sym typeface="微软雅黑"/>
              </a:rPr>
              <a:t>并重排访问顺序</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指令融合：</a:t>
            </a:r>
            <a:r>
              <a:rPr lang="en-US" b="false" i="false" strike="noStrike" u="none" sz="2000">
                <a:solidFill>
                  <a:srgbClr val="404040"/>
                </a:solidFill>
                <a:latin typeface="Calibri"/>
                <a:ea typeface="Calibri"/>
                <a:cs typeface="Calibri"/>
                <a:sym typeface="Calibri"/>
              </a:rPr>
              <a:t>Pass </a:t>
            </a:r>
            <a:r>
              <a:rPr lang="en-US" b="false" i="false" strike="noStrike" u="none" sz="2000">
                <a:solidFill>
                  <a:srgbClr val="404040"/>
                </a:solidFill>
                <a:latin typeface="微软雅黑"/>
                <a:ea typeface="微软雅黑"/>
                <a:cs typeface="微软雅黑"/>
                <a:sym typeface="微软雅黑"/>
              </a:rPr>
              <a:t>将</a:t>
            </a:r>
            <a:r>
              <a:rPr lang="en-US" b="false" i="false" strike="noStrike" u="none" sz="2000">
                <a:solidFill>
                  <a:srgbClr val="404040"/>
                </a:solidFill>
                <a:latin typeface="Calibri"/>
                <a:ea typeface="Calibri"/>
                <a:cs typeface="Calibri"/>
                <a:sym typeface="Calibri"/>
              </a:rPr>
              <a:t> local_ptr + load </a:t>
            </a:r>
            <a:r>
              <a:rPr lang="en-US" b="false" i="false" strike="noStrike" u="none" sz="2000">
                <a:solidFill>
                  <a:srgbClr val="404040"/>
                </a:solidFill>
                <a:latin typeface="微软雅黑"/>
                <a:ea typeface="微软雅黑"/>
                <a:cs typeface="微软雅黑"/>
                <a:sym typeface="微软雅黑"/>
              </a:rPr>
              <a:t>融合为单条</a:t>
            </a:r>
            <a:r>
              <a:rPr lang="en-US" b="false" i="false" strike="noStrike" u="none" sz="2000">
                <a:solidFill>
                  <a:srgbClr val="404040"/>
                </a:solidFill>
                <a:latin typeface="Calibri"/>
                <a:ea typeface="Calibri"/>
                <a:cs typeface="Calibri"/>
                <a:sym typeface="Calibri"/>
              </a:rPr>
              <a:t> ds_read </a:t>
            </a:r>
            <a:r>
              <a:rPr lang="en-US" b="false" i="false" strike="noStrike" u="none" sz="2000">
                <a:solidFill>
                  <a:srgbClr val="404040"/>
                </a:solidFill>
                <a:latin typeface="微软雅黑"/>
                <a:ea typeface="微软雅黑"/>
                <a:cs typeface="微软雅黑"/>
                <a:sym typeface="微软雅黑"/>
              </a:rPr>
              <a:t>指令，减少指令数</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延迟隐藏：</a:t>
            </a:r>
            <a:r>
              <a:rPr lang="en-US" b="false" i="false" strike="noStrike" u="none" sz="2000">
                <a:solidFill>
                  <a:srgbClr val="404040"/>
                </a:solidFill>
                <a:latin typeface="Calibri"/>
                <a:ea typeface="Calibri"/>
                <a:cs typeface="Calibri"/>
                <a:sym typeface="Calibri"/>
              </a:rPr>
              <a:t>shared memory </a:t>
            </a:r>
            <a:r>
              <a:rPr lang="en-US" b="false" i="false" strike="noStrike" u="none" sz="2000">
                <a:solidFill>
                  <a:srgbClr val="404040"/>
                </a:solidFill>
                <a:latin typeface="微软雅黑"/>
                <a:ea typeface="微软雅黑"/>
                <a:cs typeface="微软雅黑"/>
                <a:sym typeface="微软雅黑"/>
              </a:rPr>
              <a:t>延迟</a:t>
            </a:r>
            <a:r>
              <a:rPr lang="en-US" b="false" i="false" strike="noStrike" u="none" sz="2000">
                <a:solidFill>
                  <a:srgbClr val="404040"/>
                </a:solidFill>
                <a:latin typeface="Calibri"/>
                <a:ea typeface="Calibri"/>
                <a:cs typeface="Calibri"/>
                <a:sym typeface="Calibri"/>
              </a:rPr>
              <a:t>~5</a:t>
            </a:r>
            <a:r>
              <a:rPr lang="en-US" b="false" i="false" strike="noStrike" u="none" sz="2000">
                <a:solidFill>
                  <a:srgbClr val="404040"/>
                </a:solidFill>
                <a:latin typeface="微软雅黑"/>
                <a:ea typeface="微软雅黑"/>
                <a:cs typeface="微软雅黑"/>
                <a:sym typeface="微软雅黑"/>
              </a:rPr>
              <a:t>周期，</a:t>
            </a:r>
            <a:r>
              <a:rPr lang="en-US" b="false" i="false" strike="noStrike" u="none" sz="2000">
                <a:solidFill>
                  <a:srgbClr val="404040"/>
                </a:solidFill>
                <a:latin typeface="Calibri"/>
                <a:ea typeface="Calibri"/>
                <a:cs typeface="Calibri"/>
                <a:sym typeface="Calibri"/>
              </a:rPr>
              <a:t>warp </a:t>
            </a:r>
            <a:r>
              <a:rPr lang="en-US" b="false" i="false" strike="noStrike" u="none" sz="2000">
                <a:solidFill>
                  <a:srgbClr val="404040"/>
                </a:solidFill>
                <a:latin typeface="微软雅黑"/>
                <a:ea typeface="微软雅黑"/>
                <a:cs typeface="微软雅黑"/>
                <a:sym typeface="微软雅黑"/>
              </a:rPr>
              <a:t>切换可有效隐藏，吞吐大幅提升</a:t>
            </a:r>
          </a:p>
        </p:txBody>
      </p:sp>
      <p:sp>
        <p:nvSpPr>
          <p:cNvPr name="AutoShape 6" id="6"/>
          <p:cNvSpPr/>
          <p:nvPr/>
        </p:nvSpPr>
        <p:spPr>
          <a:xfrm rot="0" flipH="false" flipV="false">
            <a:off x="6466205" y="2042160"/>
            <a:ext cx="5324475" cy="3577590"/>
          </a:xfrm>
          <a:prstGeom prst="rect">
            <a:avLst/>
          </a:prstGeom>
          <a:no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600">
                <a:solidFill>
                  <a:srgbClr val="000000"/>
                </a:solidFill>
                <a:latin typeface="Courier New Regular"/>
                <a:ea typeface="Courier New Regular"/>
                <a:cs typeface="Courier New Regular"/>
                <a:sym typeface="Courier New Regular"/>
              </a:rPr>
              <a:t># local_ptr </a:t>
            </a:r>
            <a:r>
              <a:rPr lang="en-US" b="false" i="false" strike="noStrike" u="none" sz="1600">
                <a:solidFill>
                  <a:srgbClr val="000000"/>
                </a:solidFill>
                <a:latin typeface="微软雅黑"/>
                <a:ea typeface="微软雅黑"/>
                <a:cs typeface="微软雅黑"/>
                <a:sym typeface="微软雅黑"/>
              </a:rPr>
              <a:t>优化：走</a:t>
            </a:r>
            <a:r>
              <a:rPr lang="en-US" b="false" i="false" strike="noStrike" u="none" sz="1600">
                <a:solidFill>
                  <a:srgbClr val="000000"/>
                </a:solidFill>
                <a:latin typeface="Courier New Regular"/>
                <a:ea typeface="Courier New Regular"/>
                <a:cs typeface="Courier New Regular"/>
                <a:sym typeface="Courier New Regular"/>
              </a:rPr>
              <a:t> shared memory</a:t>
            </a:r>
            <a:endParaRPr lang="en-US" sz="1100"/>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@triton.jit</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def topk_kernel_opt(X, OUT_VAL, OUT_IDX,</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BLOCK: tl.constexpr):</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smem = tl.zeros([BLOCK], dtype=tl.float32)</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 </a:t>
            </a:r>
            <a:r>
              <a:rPr lang="en-US" b="false" i="false" strike="noStrike" u="none" sz="1600">
                <a:solidFill>
                  <a:srgbClr val="000000"/>
                </a:solidFill>
                <a:latin typeface="微软雅黑"/>
                <a:ea typeface="微软雅黑"/>
                <a:cs typeface="微软雅黑"/>
                <a:sym typeface="微软雅黑"/>
              </a:rPr>
              <a:t>使用</a:t>
            </a:r>
            <a:r>
              <a:rPr lang="en-US" b="false" i="false" strike="noStrike" u="none" sz="1600">
                <a:solidFill>
                  <a:srgbClr val="000000"/>
                </a:solidFill>
                <a:latin typeface="Courier New Regular"/>
                <a:ea typeface="Courier New Regular"/>
                <a:cs typeface="Courier New Regular"/>
                <a:sym typeface="Courier New Regular"/>
              </a:rPr>
              <a:t> local_ptr </a:t>
            </a:r>
            <a:r>
              <a:rPr lang="en-US" b="false" i="false" strike="noStrike" u="none" sz="1600">
                <a:solidFill>
                  <a:srgbClr val="000000"/>
                </a:solidFill>
                <a:latin typeface="微软雅黑"/>
                <a:ea typeface="微软雅黑"/>
                <a:cs typeface="微软雅黑"/>
                <a:sym typeface="微软雅黑"/>
              </a:rPr>
              <a:t>写入</a:t>
            </a:r>
            <a:r>
              <a:rPr lang="en-US" b="false" i="false" strike="noStrike" u="none" sz="1600">
                <a:solidFill>
                  <a:srgbClr val="000000"/>
                </a:solidFill>
                <a:latin typeface="Courier New Regular"/>
                <a:ea typeface="Courier New Regular"/>
                <a:cs typeface="Courier New Regular"/>
                <a:sym typeface="Courier New Regular"/>
              </a:rPr>
              <a:t> shared mem</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ptr = tle.gpu.local_ptr(smem, xidx)</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tl.store(ptr, tl.load(X + xidx))</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tl.debug_barrier()  # </a:t>
            </a:r>
            <a:r>
              <a:rPr lang="en-US" b="false" i="false" strike="noStrike" u="none" sz="1600">
                <a:solidFill>
                  <a:srgbClr val="000000"/>
                </a:solidFill>
                <a:latin typeface="微软雅黑"/>
                <a:ea typeface="微软雅黑"/>
                <a:cs typeface="微软雅黑"/>
                <a:sym typeface="微软雅黑"/>
              </a:rPr>
              <a:t>同步</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 </a:t>
            </a:r>
            <a:r>
              <a:rPr lang="en-US" b="false" i="false" strike="noStrike" u="none" sz="1600">
                <a:solidFill>
                  <a:srgbClr val="000000"/>
                </a:solidFill>
                <a:latin typeface="微软雅黑"/>
                <a:ea typeface="微软雅黑"/>
                <a:cs typeface="微软雅黑"/>
                <a:sym typeface="微软雅黑"/>
              </a:rPr>
              <a:t>从</a:t>
            </a:r>
            <a:r>
              <a:rPr lang="en-US" b="false" i="false" strike="noStrike" u="none" sz="1600">
                <a:solidFill>
                  <a:srgbClr val="000000"/>
                </a:solidFill>
                <a:latin typeface="Courier New Regular"/>
                <a:ea typeface="Courier New Regular"/>
                <a:cs typeface="Courier New Regular"/>
                <a:sym typeface="Courier New Regular"/>
              </a:rPr>
              <a:t> shared mem </a:t>
            </a:r>
            <a:r>
              <a:rPr lang="en-US" b="false" i="false" strike="noStrike" u="none" sz="1600">
                <a:solidFill>
                  <a:srgbClr val="000000"/>
                </a:solidFill>
                <a:latin typeface="微软雅黑"/>
                <a:ea typeface="微软雅黑"/>
                <a:cs typeface="微软雅黑"/>
                <a:sym typeface="微软雅黑"/>
              </a:rPr>
              <a:t>读取排序</a:t>
            </a:r>
          </a:p>
          <a:p>
            <a:pPr algn="l" indent="0">
              <a:lnSpc>
                <a:spcPct val="100000"/>
              </a:lnSpc>
            </a:pPr>
            <a:r>
              <a:rPr lang="en-US" b="false" i="false" strike="noStrike" u="none" sz="1600">
                <a:solidFill>
                  <a:srgbClr val="000000"/>
                </a:solidFill>
                <a:latin typeface="Courier New Regular"/>
                <a:ea typeface="Courier New Regular"/>
                <a:cs typeface="Courier New Regular"/>
                <a:sym typeface="Courier New Regular"/>
              </a:rPr>
              <a:t>    vals = tl.load(tle.gpu.local_ptr(smem, ...))</a:t>
            </a:r>
          </a:p>
          <a:p>
            <a:pPr algn="l" indent="0">
              <a:lnSpc>
                <a:spcPct val="100000"/>
              </a:lnSpc>
            </a:pPr>
            <a:r>
              <a:rPr lang="en-US" b="false" i="false" strike="noStrike" u="none" sz="1600">
                <a:solidFill>
                  <a:srgbClr val="000000"/>
                </a:solidFill>
                <a:latin typeface="Arial"/>
                <a:ea typeface="Arial"/>
                <a:cs typeface="Arial"/>
                <a:sym typeface="Arial"/>
              </a:rPr>
              <a:t> </a:t>
            </a:r>
          </a:p>
        </p:txBody>
      </p:sp>
      <p:sp>
        <p:nvSpPr>
          <p:cNvPr name="AutoShape 7" id="7"/>
          <p:cNvSpPr/>
          <p:nvPr/>
        </p:nvSpPr>
        <p:spPr>
          <a:xfrm rot="0" flipH="false" flipV="false">
            <a:off x="6728525" y="1662370"/>
            <a:ext cx="4800000" cy="380000"/>
          </a:xfrm>
          <a:prstGeom prst="rect">
            <a:avLst/>
          </a:prstGeom>
          <a:noFill/>
          <a:ln w="12700">
            <a:noFill/>
            <a:prstDash val="solid"/>
          </a:ln>
        </p:spPr>
        <p:txBody>
          <a:bodyPr anchor="t" rtlCol="false" wrap="square" lIns="91440" rIns="91440" tIns="45720" bIns="45720">
            <a:normAutofit lnSpcReduction="10000"/>
          </a:bodyPr>
          <a:lstStyle/>
          <a:p>
            <a:pPr algn="ctr" indent="0">
              <a:lnSpc>
                <a:spcPct val="100000"/>
              </a:lnSpc>
              <a:defRPr/>
            </a:pPr>
            <a:r>
              <a:rPr lang="en-US" b="true" i="false" strike="noStrike" u="none" sz="1900">
                <a:solidFill>
                  <a:srgbClr val="8B0012"/>
                </a:solidFill>
                <a:latin typeface="微软雅黑"/>
                <a:ea typeface="微软雅黑"/>
                <a:cs typeface="微软雅黑"/>
                <a:sym typeface="微软雅黑"/>
              </a:rPr>
              <a:t>优化后：</a:t>
            </a:r>
            <a:r>
              <a:rPr lang="en-US" b="true" i="false" strike="noStrike" u="none" sz="1900">
                <a:solidFill>
                  <a:srgbClr val="8B0012"/>
                </a:solidFill>
                <a:latin typeface="Arial"/>
                <a:ea typeface="Arial"/>
                <a:cs typeface="Arial"/>
                <a:sym typeface="Arial"/>
              </a:rPr>
              <a:t>local_ptr Shared Memory</a:t>
            </a:r>
            <a:endParaRPr lang="en-US" sz="1100"/>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TopK </a:t>
            </a:r>
            <a:r>
              <a:rPr lang="en-US" b="false" i="false" strike="noStrike" u="none" sz="3600">
                <a:solidFill>
                  <a:srgbClr val="262626"/>
                </a:solidFill>
                <a:latin typeface="微软雅黑"/>
                <a:ea typeface="微软雅黑"/>
                <a:cs typeface="微软雅黑"/>
                <a:sym typeface="微软雅黑"/>
              </a:rPr>
              <a:t>完整优化路径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pSp>
        <p:nvGrpSpPr>
          <p:cNvPr name="Group 6" id="6"/>
          <p:cNvGrpSpPr/>
          <p:nvPr/>
        </p:nvGrpSpPr>
        <p:grpSpPr>
          <a:xfrm>
            <a:off x="1429385" y="1750060"/>
            <a:ext cx="9299575" cy="4349750"/>
            <a:chOff x="1429385" y="1750060"/>
            <a:chExt cx="9299575" cy="4349750"/>
          </a:xfrm>
        </p:grpSpPr>
        <p:sp>
          <p:nvSpPr>
            <p:cNvPr name="AutoShape 7" id="7"/>
            <p:cNvSpPr/>
            <p:nvPr/>
          </p:nvSpPr>
          <p:spPr>
            <a:xfrm rot="0" flipH="false" flipV="false">
              <a:off x="1429385" y="1750060"/>
              <a:ext cx="299720" cy="89979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8" id="8"/>
            <p:cNvSpPr/>
            <p:nvPr/>
          </p:nvSpPr>
          <p:spPr>
            <a:xfrm rot="0" flipH="false" flipV="false">
              <a:off x="1429385" y="2000250"/>
              <a:ext cx="299720" cy="400050"/>
            </a:xfrm>
            <a:prstGeom prst="rect">
              <a:avLst/>
            </a:prstGeom>
            <a:noFill/>
            <a:ln w="12700">
              <a:noFill/>
              <a:prstDash val="solid"/>
            </a:ln>
          </p:spPr>
          <p:txBody>
            <a:bodyPr anchor="t" rtlCol="false" wrap="square" lIns="91440" rIns="91440" tIns="45720" bIns="45720">
              <a:normAutofit lnSpcReduction="10000"/>
            </a:bodyPr>
            <a:lstStyle/>
            <a:p>
              <a:pPr algn="ctr" indent="0">
                <a:lnSpc>
                  <a:spcPct val="100000"/>
                </a:lnSpc>
                <a:defRPr/>
              </a:pPr>
              <a:r>
                <a:rPr lang="en-US" b="true" i="false" strike="noStrike" u="none" sz="2200">
                  <a:solidFill>
                    <a:srgbClr val="FFFFFF"/>
                  </a:solidFill>
                  <a:latin typeface="Arial"/>
                  <a:ea typeface="Arial"/>
                  <a:cs typeface="Arial"/>
                  <a:sym typeface="Arial"/>
                </a:rPr>
                <a:t>1</a:t>
              </a:r>
              <a:endParaRPr lang="en-US" sz="1100"/>
            </a:p>
          </p:txBody>
        </p:sp>
        <p:sp>
          <p:nvSpPr>
            <p:cNvPr name="AutoShape 9" id="9"/>
            <p:cNvSpPr/>
            <p:nvPr/>
          </p:nvSpPr>
          <p:spPr>
            <a:xfrm rot="0" flipH="false" flipV="false">
              <a:off x="1809115" y="1800225"/>
              <a:ext cx="2999740" cy="34988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true" i="false" strike="noStrike" u="none" sz="1800">
                  <a:solidFill>
                    <a:srgbClr val="8B0012"/>
                  </a:solidFill>
                  <a:latin typeface="Arial"/>
                  <a:ea typeface="Arial"/>
                  <a:cs typeface="Arial"/>
                  <a:sym typeface="Arial"/>
                </a:rPr>
                <a:t>FlagGems </a:t>
              </a:r>
              <a:r>
                <a:rPr lang="en-US" b="true" i="false" strike="noStrike" u="none" sz="1800">
                  <a:solidFill>
                    <a:srgbClr val="8B0012"/>
                  </a:solidFill>
                  <a:latin typeface="微软雅黑"/>
                  <a:ea typeface="微软雅黑"/>
                  <a:cs typeface="微软雅黑"/>
                  <a:sym typeface="微软雅黑"/>
                </a:rPr>
                <a:t>注册层</a:t>
              </a:r>
              <a:endParaRPr lang="en-US" sz="1100"/>
            </a:p>
          </p:txBody>
        </p:sp>
        <p:sp>
          <p:nvSpPr>
            <p:cNvPr name="AutoShape 10" id="10"/>
            <p:cNvSpPr/>
            <p:nvPr/>
          </p:nvSpPr>
          <p:spPr>
            <a:xfrm rot="0" flipH="false" flipV="false">
              <a:off x="1809115" y="2129790"/>
              <a:ext cx="2999740" cy="29972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false" i="true" strike="noStrike" u="none" sz="1300">
                  <a:solidFill>
                    <a:srgbClr val="666666"/>
                  </a:solidFill>
                  <a:latin typeface="Arial"/>
                  <a:ea typeface="Arial"/>
                  <a:cs typeface="Arial"/>
                  <a:sym typeface="Arial"/>
                </a:rPr>
                <a:t>src/flag_gems/ops/topk.py</a:t>
              </a:r>
              <a:endParaRPr lang="en-US" sz="1100"/>
            </a:p>
          </p:txBody>
        </p:sp>
        <p:sp>
          <p:nvSpPr>
            <p:cNvPr name="AutoShape 11" id="11"/>
            <p:cNvSpPr/>
            <p:nvPr/>
          </p:nvSpPr>
          <p:spPr>
            <a:xfrm rot="0" flipH="false" flipV="false">
              <a:off x="5029200" y="1750060"/>
              <a:ext cx="5699760" cy="899795"/>
            </a:xfrm>
            <a:prstGeom prst="rect">
              <a:avLst/>
            </a:prstGeom>
            <a:solidFill>
              <a:srgbClr val="1E1E1E">
                <a:alpha val="100000"/>
              </a:srgbClr>
            </a:solidFill>
            <a:ln w="12700">
              <a:noFill/>
              <a:prstDash val="solid"/>
            </a:ln>
          </p:spPr>
          <p:txBody>
            <a:bodyPr anchor="t" rtlCol="false" wrap="square" lIns="182880" rIns="182880" tIns="182880" bIns="182880">
              <a:normAutofit lnSpcReduction="0"/>
            </a:bodyPr>
            <a:lstStyle/>
            <a:p>
              <a:pPr algn="l" indent="0">
                <a:lnSpc>
                  <a:spcPct val="100000"/>
                </a:lnSpc>
                <a:defRPr/>
              </a:pPr>
              <a:r>
                <a:rPr lang="en-US" b="false" i="false" strike="noStrike" u="none" sz="1300">
                  <a:solidFill>
                    <a:srgbClr val="D4D4D4"/>
                  </a:solidFill>
                  <a:latin typeface="Consolas"/>
                  <a:ea typeface="Consolas"/>
                  <a:cs typeface="Consolas"/>
                  <a:sym typeface="Consolas"/>
                </a:rPr>
                <a:t>def topk(input, k, dim=-1, largest=True, sorted=True):</a:t>
              </a:r>
              <a:endParaRPr lang="en-US" sz="1100"/>
            </a:p>
            <a:p>
              <a:pPr algn="l" indent="0">
                <a:lnSpc>
                  <a:spcPct val="100000"/>
                </a:lnSpc>
              </a:pPr>
              <a:r>
                <a:rPr lang="en-US" b="false" i="false" strike="noStrike" u="none" sz="1300">
                  <a:solidFill>
                    <a:srgbClr val="D4D4D4"/>
                  </a:solidFill>
                  <a:latin typeface="Consolas"/>
                  <a:ea typeface="Consolas"/>
                  <a:cs typeface="Consolas"/>
                  <a:sym typeface="Consolas"/>
                </a:rPr>
                <a:t>    ...</a:t>
              </a:r>
              <a:r>
                <a:rPr lang="en-US" b="false" i="false" strike="noStrike" u="none" sz="1300">
                  <a:solidFill>
                    <a:srgbClr val="D4D4D4"/>
                  </a:solidFill>
                  <a:latin typeface="微软雅黑"/>
                  <a:ea typeface="微软雅黑"/>
                  <a:cs typeface="微软雅黑"/>
                  <a:sym typeface="微软雅黑"/>
                </a:rPr>
                <a:t>调用</a:t>
              </a:r>
              <a:r>
                <a:rPr lang="en-US" b="false" i="false" strike="noStrike" u="none" sz="1300">
                  <a:solidFill>
                    <a:srgbClr val="D4D4D4"/>
                  </a:solidFill>
                  <a:latin typeface="Consolas"/>
                  <a:ea typeface="Consolas"/>
                  <a:cs typeface="Consolas"/>
                  <a:sym typeface="Consolas"/>
                </a:rPr>
                <a:t> Triton </a:t>
              </a:r>
              <a:r>
                <a:rPr lang="en-US" b="false" i="false" strike="noStrike" u="none" sz="1300">
                  <a:solidFill>
                    <a:srgbClr val="D4D4D4"/>
                  </a:solidFill>
                  <a:latin typeface="微软雅黑"/>
                  <a:ea typeface="微软雅黑"/>
                  <a:cs typeface="微软雅黑"/>
                  <a:sym typeface="微软雅黑"/>
                </a:rPr>
                <a:t>内核</a:t>
              </a:r>
              <a:r>
                <a:rPr lang="en-US" b="false" i="false" strike="noStrike" u="none" sz="1300">
                  <a:solidFill>
                    <a:srgbClr val="D4D4D4"/>
                  </a:solidFill>
                  <a:latin typeface="Consolas"/>
                  <a:ea typeface="Consolas"/>
                  <a:cs typeface="Consolas"/>
                  <a:sym typeface="Consolas"/>
                </a:rPr>
                <a:t>...</a:t>
              </a:r>
            </a:p>
          </p:txBody>
        </p:sp>
        <p:sp>
          <p:nvSpPr>
            <p:cNvPr name="AutoShape 12" id="12"/>
            <p:cNvSpPr/>
            <p:nvPr/>
          </p:nvSpPr>
          <p:spPr>
            <a:xfrm rot="0" flipH="false" flipV="false">
              <a:off x="1569085" y="2649855"/>
              <a:ext cx="19685" cy="14986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3" id="13"/>
            <p:cNvSpPr/>
            <p:nvPr/>
          </p:nvSpPr>
          <p:spPr>
            <a:xfrm rot="0" flipH="false" flipV="false">
              <a:off x="1429385" y="2900045"/>
              <a:ext cx="299720" cy="89979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4" id="14"/>
            <p:cNvSpPr/>
            <p:nvPr/>
          </p:nvSpPr>
          <p:spPr>
            <a:xfrm rot="0" flipH="false" flipV="false">
              <a:off x="1429385" y="3150235"/>
              <a:ext cx="299720" cy="400050"/>
            </a:xfrm>
            <a:prstGeom prst="rect">
              <a:avLst/>
            </a:prstGeom>
            <a:noFill/>
            <a:ln w="12700">
              <a:noFill/>
              <a:prstDash val="solid"/>
            </a:ln>
          </p:spPr>
          <p:txBody>
            <a:bodyPr anchor="t" rtlCol="false" wrap="square" lIns="91440" rIns="91440" tIns="45720" bIns="45720">
              <a:normAutofit lnSpcReduction="10000"/>
            </a:bodyPr>
            <a:lstStyle/>
            <a:p>
              <a:pPr algn="ctr" indent="0">
                <a:lnSpc>
                  <a:spcPct val="100000"/>
                </a:lnSpc>
                <a:defRPr/>
              </a:pPr>
              <a:r>
                <a:rPr lang="en-US" b="true" i="false" strike="noStrike" u="none" sz="2200">
                  <a:solidFill>
                    <a:srgbClr val="FFFFFF"/>
                  </a:solidFill>
                  <a:latin typeface="Arial"/>
                  <a:ea typeface="Arial"/>
                  <a:cs typeface="Arial"/>
                  <a:sym typeface="Arial"/>
                </a:rPr>
                <a:t>2</a:t>
              </a:r>
              <a:endParaRPr lang="en-US" sz="1100"/>
            </a:p>
          </p:txBody>
        </p:sp>
        <p:sp>
          <p:nvSpPr>
            <p:cNvPr name="AutoShape 15" id="15"/>
            <p:cNvSpPr/>
            <p:nvPr/>
          </p:nvSpPr>
          <p:spPr>
            <a:xfrm rot="0" flipH="false" flipV="false">
              <a:off x="1809115" y="2950210"/>
              <a:ext cx="2999740" cy="34988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true" i="false" strike="noStrike" u="none" sz="1800">
                  <a:solidFill>
                    <a:srgbClr val="8B0012"/>
                  </a:solidFill>
                  <a:latin typeface="Arial"/>
                  <a:ea typeface="Arial"/>
                  <a:cs typeface="Arial"/>
                  <a:sym typeface="Arial"/>
                </a:rPr>
                <a:t>Triton </a:t>
              </a:r>
              <a:r>
                <a:rPr lang="en-US" b="true" i="false" strike="noStrike" u="none" sz="1800">
                  <a:solidFill>
                    <a:srgbClr val="8B0012"/>
                  </a:solidFill>
                  <a:latin typeface="微软雅黑"/>
                  <a:ea typeface="微软雅黑"/>
                  <a:cs typeface="微软雅黑"/>
                  <a:sym typeface="微软雅黑"/>
                </a:rPr>
                <a:t>内核层</a:t>
              </a:r>
              <a:endParaRPr lang="en-US" sz="1100"/>
            </a:p>
          </p:txBody>
        </p:sp>
        <p:sp>
          <p:nvSpPr>
            <p:cNvPr name="AutoShape 16" id="16"/>
            <p:cNvSpPr/>
            <p:nvPr/>
          </p:nvSpPr>
          <p:spPr>
            <a:xfrm rot="0" flipH="false" flipV="false">
              <a:off x="1809115" y="3279775"/>
              <a:ext cx="2999740" cy="29972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false" i="true" strike="noStrike" u="none" sz="1300">
                  <a:solidFill>
                    <a:srgbClr val="666666"/>
                  </a:solidFill>
                  <a:latin typeface="微软雅黑"/>
                  <a:ea typeface="微软雅黑"/>
                  <a:cs typeface="微软雅黑"/>
                  <a:sym typeface="微软雅黑"/>
                </a:rPr>
                <a:t>引入</a:t>
              </a:r>
              <a:r>
                <a:rPr lang="en-US" b="false" i="true" strike="noStrike" u="none" sz="1300">
                  <a:solidFill>
                    <a:srgbClr val="666666"/>
                  </a:solidFill>
                  <a:latin typeface="Arial"/>
                  <a:ea typeface="Arial"/>
                  <a:cs typeface="Arial"/>
                  <a:sym typeface="Arial"/>
                </a:rPr>
                <a:t> tle.gpu.local_ptr</a:t>
              </a:r>
              <a:endParaRPr lang="en-US" sz="1100"/>
            </a:p>
          </p:txBody>
        </p:sp>
        <p:sp>
          <p:nvSpPr>
            <p:cNvPr name="AutoShape 17" id="17"/>
            <p:cNvSpPr/>
            <p:nvPr/>
          </p:nvSpPr>
          <p:spPr>
            <a:xfrm rot="0" flipH="false" flipV="false">
              <a:off x="5029200" y="2900045"/>
              <a:ext cx="5699760" cy="899795"/>
            </a:xfrm>
            <a:prstGeom prst="rect">
              <a:avLst/>
            </a:prstGeom>
            <a:solidFill>
              <a:srgbClr val="1E1E1E">
                <a:alpha val="100000"/>
              </a:srgbClr>
            </a:solidFill>
            <a:ln w="12700">
              <a:noFill/>
              <a:prstDash val="solid"/>
            </a:ln>
          </p:spPr>
          <p:txBody>
            <a:bodyPr anchor="t" rtlCol="false" wrap="square" lIns="182880" rIns="182880" tIns="182880" bIns="182880">
              <a:normAutofit lnSpcReduction="0"/>
            </a:bodyPr>
            <a:lstStyle/>
            <a:p>
              <a:pPr algn="l" indent="0">
                <a:lnSpc>
                  <a:spcPct val="100000"/>
                </a:lnSpc>
                <a:defRPr/>
              </a:pPr>
              <a:r>
                <a:rPr lang="en-US" b="false" i="false" strike="noStrike" u="none" sz="1300">
                  <a:solidFill>
                    <a:srgbClr val="D4D4D4"/>
                  </a:solidFill>
                  <a:latin typeface="Consolas"/>
                  <a:ea typeface="Consolas"/>
                  <a:cs typeface="Consolas"/>
                  <a:sym typeface="Consolas"/>
                </a:rPr>
                <a:t>ptr = tle.gpu.local_ptr(shared_buf, lane_offset)</a:t>
              </a:r>
              <a:endParaRPr lang="en-US" sz="1100"/>
            </a:p>
            <a:p>
              <a:pPr algn="l" indent="0">
                <a:lnSpc>
                  <a:spcPct val="100000"/>
                </a:lnSpc>
              </a:pPr>
              <a:r>
                <a:rPr lang="en-US" b="false" i="false" strike="noStrike" u="none" sz="1300">
                  <a:solidFill>
                    <a:srgbClr val="D4D4D4"/>
                  </a:solidFill>
                  <a:latin typeface="Consolas"/>
                  <a:ea typeface="Consolas"/>
                  <a:cs typeface="Consolas"/>
                  <a:sym typeface="Consolas"/>
                </a:rPr>
                <a:t>tl.store(ptr, val)  # → shared mem write</a:t>
              </a:r>
            </a:p>
          </p:txBody>
        </p:sp>
        <p:sp>
          <p:nvSpPr>
            <p:cNvPr name="AutoShape 18" id="18"/>
            <p:cNvSpPr/>
            <p:nvPr/>
          </p:nvSpPr>
          <p:spPr>
            <a:xfrm rot="0" flipH="false" flipV="false">
              <a:off x="1569085" y="3799840"/>
              <a:ext cx="19685" cy="14986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9" id="19"/>
            <p:cNvSpPr/>
            <p:nvPr/>
          </p:nvSpPr>
          <p:spPr>
            <a:xfrm rot="0" flipH="false" flipV="false">
              <a:off x="1429385" y="4050030"/>
              <a:ext cx="299720" cy="89979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0" id="20"/>
            <p:cNvSpPr/>
            <p:nvPr/>
          </p:nvSpPr>
          <p:spPr>
            <a:xfrm rot="0" flipH="false" flipV="false">
              <a:off x="1429385" y="4300220"/>
              <a:ext cx="299720" cy="400050"/>
            </a:xfrm>
            <a:prstGeom prst="rect">
              <a:avLst/>
            </a:prstGeom>
            <a:noFill/>
            <a:ln w="12700">
              <a:noFill/>
              <a:prstDash val="solid"/>
            </a:ln>
          </p:spPr>
          <p:txBody>
            <a:bodyPr anchor="t" rtlCol="false" wrap="square" lIns="91440" rIns="91440" tIns="45720" bIns="45720">
              <a:normAutofit lnSpcReduction="10000"/>
            </a:bodyPr>
            <a:lstStyle/>
            <a:p>
              <a:pPr algn="ctr" indent="0">
                <a:lnSpc>
                  <a:spcPct val="100000"/>
                </a:lnSpc>
                <a:defRPr/>
              </a:pPr>
              <a:r>
                <a:rPr lang="en-US" b="true" i="false" strike="noStrike" u="none" sz="2200">
                  <a:solidFill>
                    <a:srgbClr val="FFFFFF"/>
                  </a:solidFill>
                  <a:latin typeface="Arial"/>
                  <a:ea typeface="Arial"/>
                  <a:cs typeface="Arial"/>
                  <a:sym typeface="Arial"/>
                </a:rPr>
                <a:t>3</a:t>
              </a:r>
              <a:endParaRPr lang="en-US" sz="1100"/>
            </a:p>
          </p:txBody>
        </p:sp>
        <p:sp>
          <p:nvSpPr>
            <p:cNvPr name="AutoShape 21" id="21"/>
            <p:cNvSpPr/>
            <p:nvPr/>
          </p:nvSpPr>
          <p:spPr>
            <a:xfrm rot="0" flipH="false" flipV="false">
              <a:off x="1809115" y="4100195"/>
              <a:ext cx="2999740" cy="34988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true" i="false" strike="noStrike" u="none" sz="1800">
                  <a:solidFill>
                    <a:srgbClr val="8B0012"/>
                  </a:solidFill>
                  <a:latin typeface="Arial"/>
                  <a:ea typeface="Arial"/>
                  <a:cs typeface="Arial"/>
                  <a:sym typeface="Arial"/>
                </a:rPr>
                <a:t>FlagTree </a:t>
              </a:r>
              <a:r>
                <a:rPr lang="en-US" b="true" i="false" strike="noStrike" u="none" sz="1800">
                  <a:solidFill>
                    <a:srgbClr val="8B0012"/>
                  </a:solidFill>
                  <a:latin typeface="微软雅黑"/>
                  <a:ea typeface="微软雅黑"/>
                  <a:cs typeface="微软雅黑"/>
                  <a:sym typeface="微软雅黑"/>
                </a:rPr>
                <a:t>编译</a:t>
              </a:r>
              <a:endParaRPr lang="en-US" sz="1100"/>
            </a:p>
          </p:txBody>
        </p:sp>
        <p:sp>
          <p:nvSpPr>
            <p:cNvPr name="AutoShape 22" id="22"/>
            <p:cNvSpPr/>
            <p:nvPr/>
          </p:nvSpPr>
          <p:spPr>
            <a:xfrm rot="0" flipH="false" flipV="false">
              <a:off x="1809115" y="4429760"/>
              <a:ext cx="2999740" cy="29972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false" i="true" strike="noStrike" u="none" sz="1300">
                  <a:solidFill>
                    <a:srgbClr val="666666"/>
                  </a:solidFill>
                  <a:latin typeface="Arial"/>
                  <a:ea typeface="Arial"/>
                  <a:cs typeface="Arial"/>
                  <a:sym typeface="Arial"/>
                </a:rPr>
                <a:t>LocalPtrToSharedMemPass </a:t>
              </a:r>
              <a:r>
                <a:rPr lang="en-US" b="false" i="true" strike="noStrike" u="none" sz="1300">
                  <a:solidFill>
                    <a:srgbClr val="666666"/>
                  </a:solidFill>
                  <a:latin typeface="微软雅黑"/>
                  <a:ea typeface="微软雅黑"/>
                  <a:cs typeface="微软雅黑"/>
                  <a:sym typeface="微软雅黑"/>
                </a:rPr>
                <a:t>处理</a:t>
              </a:r>
              <a:endParaRPr lang="en-US" sz="1100"/>
            </a:p>
          </p:txBody>
        </p:sp>
        <p:sp>
          <p:nvSpPr>
            <p:cNvPr name="AutoShape 23" id="23"/>
            <p:cNvSpPr/>
            <p:nvPr/>
          </p:nvSpPr>
          <p:spPr>
            <a:xfrm rot="0" flipH="false" flipV="false">
              <a:off x="5029200" y="4050030"/>
              <a:ext cx="5699760" cy="899795"/>
            </a:xfrm>
            <a:prstGeom prst="rect">
              <a:avLst/>
            </a:prstGeom>
            <a:solidFill>
              <a:srgbClr val="1E1E1E">
                <a:alpha val="100000"/>
              </a:srgbClr>
            </a:solidFill>
            <a:ln w="12700">
              <a:noFill/>
              <a:prstDash val="solid"/>
            </a:ln>
          </p:spPr>
          <p:txBody>
            <a:bodyPr anchor="t" rtlCol="false" wrap="square" lIns="182880" rIns="182880" tIns="182880" bIns="182880">
              <a:normAutofit lnSpcReduction="0"/>
            </a:bodyPr>
            <a:lstStyle/>
            <a:p>
              <a:pPr algn="l" indent="0">
                <a:lnSpc>
                  <a:spcPct val="100000"/>
                </a:lnSpc>
                <a:defRPr/>
              </a:pPr>
              <a:r>
                <a:rPr lang="en-US" b="false" i="false" strike="noStrike" u="none" sz="1300">
                  <a:solidFill>
                    <a:srgbClr val="D4D4D4"/>
                  </a:solidFill>
                  <a:latin typeface="Consolas"/>
                  <a:ea typeface="Consolas"/>
                  <a:cs typeface="Consolas"/>
                  <a:sym typeface="Consolas"/>
                </a:rPr>
                <a:t>tle.gpu.local_ptr → gpu.ds_write_b32</a:t>
              </a:r>
              <a:endParaRPr lang="en-US" sz="1100"/>
            </a:p>
            <a:p>
              <a:pPr algn="l" indent="0">
                <a:lnSpc>
                  <a:spcPct val="100000"/>
                </a:lnSpc>
              </a:pPr>
              <a:r>
                <a:rPr lang="en-US" b="false" i="false" strike="noStrike" u="none" sz="1300">
                  <a:solidFill>
                    <a:srgbClr val="D4D4D4"/>
                  </a:solidFill>
                  <a:latin typeface="Consolas"/>
                  <a:ea typeface="Consolas"/>
                  <a:cs typeface="Consolas"/>
                  <a:sym typeface="Consolas"/>
                </a:rPr>
                <a:t>(</a:t>
              </a:r>
              <a:r>
                <a:rPr lang="en-US" b="false" i="false" strike="noStrike" u="none" sz="1300">
                  <a:solidFill>
                    <a:srgbClr val="D4D4D4"/>
                  </a:solidFill>
                  <a:latin typeface="微软雅黑"/>
                  <a:ea typeface="微软雅黑"/>
                  <a:cs typeface="微软雅黑"/>
                  <a:sym typeface="微软雅黑"/>
                </a:rPr>
                <a:t>国产</a:t>
              </a:r>
              <a:r>
                <a:rPr lang="en-US" b="false" i="false" strike="noStrike" u="none" sz="1300">
                  <a:solidFill>
                    <a:srgbClr val="D4D4D4"/>
                  </a:solidFill>
                  <a:latin typeface="Consolas"/>
                  <a:ea typeface="Consolas"/>
                  <a:cs typeface="Consolas"/>
                  <a:sym typeface="Consolas"/>
                </a:rPr>
                <a:t> DCU </a:t>
              </a:r>
              <a:r>
                <a:rPr lang="en-US" b="false" i="false" strike="noStrike" u="none" sz="1300">
                  <a:solidFill>
                    <a:srgbClr val="D4D4D4"/>
                  </a:solidFill>
                  <a:latin typeface="微软雅黑"/>
                  <a:ea typeface="微软雅黑"/>
                  <a:cs typeface="微软雅黑"/>
                  <a:sym typeface="微软雅黑"/>
                </a:rPr>
                <a:t>的</a:t>
              </a:r>
              <a:r>
                <a:rPr lang="en-US" b="false" i="false" strike="noStrike" u="none" sz="1300">
                  <a:solidFill>
                    <a:srgbClr val="D4D4D4"/>
                  </a:solidFill>
                  <a:latin typeface="Consolas"/>
                  <a:ea typeface="Consolas"/>
                  <a:cs typeface="Consolas"/>
                  <a:sym typeface="Consolas"/>
                </a:rPr>
                <a:t> shared memory </a:t>
              </a:r>
              <a:r>
                <a:rPr lang="en-US" b="false" i="false" strike="noStrike" u="none" sz="1300">
                  <a:solidFill>
                    <a:srgbClr val="D4D4D4"/>
                  </a:solidFill>
                  <a:latin typeface="微软雅黑"/>
                  <a:ea typeface="微软雅黑"/>
                  <a:cs typeface="微软雅黑"/>
                  <a:sym typeface="微软雅黑"/>
                </a:rPr>
                <a:t>写指令</a:t>
              </a:r>
              <a:r>
                <a:rPr lang="en-US" b="false" i="false" strike="noStrike" u="none" sz="1300">
                  <a:solidFill>
                    <a:srgbClr val="D4D4D4"/>
                  </a:solidFill>
                  <a:latin typeface="Consolas"/>
                  <a:ea typeface="Consolas"/>
                  <a:cs typeface="Consolas"/>
                  <a:sym typeface="Consolas"/>
                </a:rPr>
                <a:t>)</a:t>
              </a:r>
            </a:p>
          </p:txBody>
        </p:sp>
        <p:sp>
          <p:nvSpPr>
            <p:cNvPr name="AutoShape 24" id="24"/>
            <p:cNvSpPr/>
            <p:nvPr/>
          </p:nvSpPr>
          <p:spPr>
            <a:xfrm rot="0" flipH="false" flipV="false">
              <a:off x="1569085" y="4949825"/>
              <a:ext cx="19685" cy="14986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5" id="25"/>
            <p:cNvSpPr/>
            <p:nvPr/>
          </p:nvSpPr>
          <p:spPr>
            <a:xfrm rot="0" flipH="false" flipV="false">
              <a:off x="1429385" y="5200015"/>
              <a:ext cx="299720" cy="899795"/>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6" id="26"/>
            <p:cNvSpPr/>
            <p:nvPr/>
          </p:nvSpPr>
          <p:spPr>
            <a:xfrm rot="0" flipH="false" flipV="false">
              <a:off x="1429385" y="5450205"/>
              <a:ext cx="299720" cy="400050"/>
            </a:xfrm>
            <a:prstGeom prst="rect">
              <a:avLst/>
            </a:prstGeom>
            <a:noFill/>
            <a:ln w="12700">
              <a:noFill/>
              <a:prstDash val="solid"/>
            </a:ln>
          </p:spPr>
          <p:txBody>
            <a:bodyPr anchor="t" rtlCol="false" wrap="square" lIns="91440" rIns="91440" tIns="45720" bIns="45720">
              <a:normAutofit lnSpcReduction="10000"/>
            </a:bodyPr>
            <a:lstStyle/>
            <a:p>
              <a:pPr algn="ctr" indent="0">
                <a:lnSpc>
                  <a:spcPct val="100000"/>
                </a:lnSpc>
                <a:defRPr/>
              </a:pPr>
              <a:r>
                <a:rPr lang="en-US" b="true" i="false" strike="noStrike" u="none" sz="2200">
                  <a:solidFill>
                    <a:srgbClr val="FFFFFF"/>
                  </a:solidFill>
                  <a:latin typeface="Arial"/>
                  <a:ea typeface="Arial"/>
                  <a:cs typeface="Arial"/>
                  <a:sym typeface="Arial"/>
                </a:rPr>
                <a:t>4</a:t>
              </a:r>
              <a:endParaRPr lang="en-US" sz="1100"/>
            </a:p>
          </p:txBody>
        </p:sp>
        <p:sp>
          <p:nvSpPr>
            <p:cNvPr name="AutoShape 27" id="27"/>
            <p:cNvSpPr/>
            <p:nvPr/>
          </p:nvSpPr>
          <p:spPr>
            <a:xfrm rot="0" flipH="false" flipV="false">
              <a:off x="1809115" y="5250180"/>
              <a:ext cx="2999740" cy="34988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true" i="false" strike="noStrike" u="none" sz="1800">
                  <a:solidFill>
                    <a:srgbClr val="8B0012"/>
                  </a:solidFill>
                  <a:latin typeface="微软雅黑"/>
                  <a:ea typeface="微软雅黑"/>
                  <a:cs typeface="微软雅黑"/>
                  <a:sym typeface="微软雅黑"/>
                </a:rPr>
                <a:t>目标代码生成</a:t>
              </a:r>
              <a:endParaRPr lang="en-US" sz="1100"/>
            </a:p>
          </p:txBody>
        </p:sp>
        <p:sp>
          <p:nvSpPr>
            <p:cNvPr name="AutoShape 28" id="28"/>
            <p:cNvSpPr/>
            <p:nvPr/>
          </p:nvSpPr>
          <p:spPr>
            <a:xfrm rot="0" flipH="false" flipV="false">
              <a:off x="1809115" y="5579745"/>
              <a:ext cx="2999740" cy="29972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false" i="true" strike="noStrike" u="none" sz="1300">
                  <a:solidFill>
                    <a:srgbClr val="666666"/>
                  </a:solidFill>
                  <a:latin typeface="微软雅黑"/>
                  <a:ea typeface="微软雅黑"/>
                  <a:cs typeface="微软雅黑"/>
                  <a:sym typeface="微软雅黑"/>
                </a:rPr>
                <a:t>架构最优指令序列</a:t>
              </a:r>
              <a:endParaRPr lang="en-US" sz="1100"/>
            </a:p>
          </p:txBody>
        </p:sp>
        <p:sp>
          <p:nvSpPr>
            <p:cNvPr name="AutoShape 29" id="29"/>
            <p:cNvSpPr/>
            <p:nvPr/>
          </p:nvSpPr>
          <p:spPr>
            <a:xfrm rot="0" flipH="false" flipV="false">
              <a:off x="5029200" y="5200015"/>
              <a:ext cx="5699760" cy="899795"/>
            </a:xfrm>
            <a:prstGeom prst="rect">
              <a:avLst/>
            </a:prstGeom>
            <a:solidFill>
              <a:srgbClr val="1E1E1E">
                <a:alpha val="100000"/>
              </a:srgbClr>
            </a:solidFill>
            <a:ln w="12700">
              <a:noFill/>
              <a:prstDash val="solid"/>
            </a:ln>
          </p:spPr>
          <p:txBody>
            <a:bodyPr anchor="t" rtlCol="false" wrap="square" lIns="182880" rIns="182880" tIns="182880" bIns="182880">
              <a:normAutofit lnSpcReduction="0"/>
            </a:bodyPr>
            <a:lstStyle/>
            <a:p>
              <a:pPr algn="l" indent="0">
                <a:lnSpc>
                  <a:spcPct val="100000"/>
                </a:lnSpc>
                <a:defRPr/>
              </a:pPr>
              <a:r>
                <a:rPr lang="en-US" b="false" i="false" strike="noStrike" u="none" sz="1300">
                  <a:solidFill>
                    <a:srgbClr val="D4D4D4"/>
                  </a:solidFill>
                  <a:latin typeface="Consolas"/>
                  <a:ea typeface="Consolas"/>
                  <a:cs typeface="Consolas"/>
                  <a:sym typeface="Consolas"/>
                </a:rPr>
                <a:t>ds_write_b32 v[addr], v[data]</a:t>
              </a:r>
              <a:endParaRPr lang="en-US" sz="1100"/>
            </a:p>
            <a:p>
              <a:pPr algn="l" indent="0">
                <a:lnSpc>
                  <a:spcPct val="100000"/>
                </a:lnSpc>
              </a:pPr>
              <a:r>
                <a:rPr lang="en-US" b="false" i="false" strike="noStrike" u="none" sz="1300">
                  <a:solidFill>
                    <a:srgbClr val="D4D4D4"/>
                  </a:solidFill>
                  <a:latin typeface="Consolas"/>
                  <a:ea typeface="Consolas"/>
                  <a:cs typeface="Consolas"/>
                  <a:sym typeface="Consolas"/>
                </a:rPr>
                <a:t>ds_read_b32  v[out], v[addr]</a:t>
              </a:r>
            </a:p>
          </p:txBody>
        </p:sp>
      </p:gr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性能提升效果</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各算子性能提升（相对优化前，测试环境：国产</a:t>
            </a:r>
            <a:r>
              <a:rPr lang="en-US" b="false" i="false" strike="noStrike" u="none" sz="2400">
                <a:solidFill>
                  <a:srgbClr val="404040"/>
                </a:solidFill>
                <a:latin typeface="Calibri"/>
                <a:ea typeface="Calibri"/>
                <a:cs typeface="Calibri"/>
                <a:sym typeface="Calibri"/>
              </a:rPr>
              <a:t> DCU GPU</a:t>
            </a:r>
            <a:r>
              <a:rPr lang="en-US" b="false" i="false" strike="noStrike" u="none" sz="24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pSp>
        <p:nvGrpSpPr>
          <p:cNvPr name="Group 6" id="6"/>
          <p:cNvGrpSpPr/>
          <p:nvPr/>
        </p:nvGrpSpPr>
        <p:grpSpPr>
          <a:xfrm>
            <a:off x="7481570" y="2264410"/>
            <a:ext cx="4430395" cy="3243580"/>
            <a:chOff x="7481570" y="2264410"/>
            <a:chExt cx="4430395" cy="3243580"/>
          </a:xfrm>
        </p:grpSpPr>
        <p:sp>
          <p:nvSpPr>
            <p:cNvPr name="AutoShape 7" id="7"/>
            <p:cNvSpPr/>
            <p:nvPr/>
          </p:nvSpPr>
          <p:spPr>
            <a:xfrm rot="0" flipH="false" flipV="false">
              <a:off x="7481570" y="2264410"/>
              <a:ext cx="2150110" cy="1550035"/>
            </a:xfrm>
            <a:prstGeom prst="rect">
              <a:avLst/>
            </a:prstGeom>
            <a:solidFill>
              <a:srgbClr val="F8F8F8">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8" id="8"/>
            <p:cNvSpPr/>
            <p:nvPr/>
          </p:nvSpPr>
          <p:spPr>
            <a:xfrm rot="0" flipH="false" flipV="false">
              <a:off x="7481570" y="2364105"/>
              <a:ext cx="2150110" cy="774700"/>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4400">
                  <a:solidFill>
                    <a:srgbClr val="8B0012"/>
                  </a:solidFill>
                  <a:latin typeface="Arial Black"/>
                  <a:ea typeface="Arial Black"/>
                  <a:cs typeface="Arial Black"/>
                  <a:sym typeface="Arial Black"/>
                </a:rPr>
                <a:t>~60%</a:t>
              </a:r>
              <a:endParaRPr lang="en-US" sz="1100"/>
            </a:p>
          </p:txBody>
        </p:sp>
        <p:sp>
          <p:nvSpPr>
            <p:cNvPr name="AutoShape 9" id="9"/>
            <p:cNvSpPr/>
            <p:nvPr/>
          </p:nvSpPr>
          <p:spPr>
            <a:xfrm rot="0" flipH="false" flipV="false">
              <a:off x="7481570" y="3089275"/>
              <a:ext cx="2150110" cy="675005"/>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false" i="false" strike="noStrike" u="none" sz="1500">
                  <a:solidFill>
                    <a:srgbClr val="666666"/>
                  </a:solidFill>
                  <a:latin typeface="Arial"/>
                  <a:ea typeface="Arial"/>
                  <a:cs typeface="Arial"/>
                  <a:sym typeface="Arial"/>
                </a:rPr>
                <a:t>TopK </a:t>
              </a:r>
              <a:r>
                <a:rPr lang="en-US" b="false" i="false" strike="noStrike" u="none" sz="1500">
                  <a:solidFill>
                    <a:srgbClr val="666666"/>
                  </a:solidFill>
                  <a:latin typeface="微软雅黑"/>
                  <a:ea typeface="微软雅黑"/>
                  <a:cs typeface="微软雅黑"/>
                  <a:sym typeface="微软雅黑"/>
                </a:rPr>
                <a:t>类算子</a:t>
              </a:r>
              <a:r>
                <a:rPr lang="en-US" b="false" i="false" strike="noStrike" u="none" sz="1500">
                  <a:solidFill>
                    <a:srgbClr val="666666"/>
                  </a:solidFill>
                  <a:latin typeface="Arial"/>
                  <a:ea typeface="Arial"/>
                  <a:cs typeface="Arial"/>
                  <a:sym typeface="Arial"/>
                </a:rPr>
                <a:t/>
              </a:r>
              <a:endParaRPr lang="en-US" sz="1100"/>
            </a:p>
            <a:p>
              <a:pPr algn="ctr" indent="0">
                <a:lnSpc>
                  <a:spcPct val="125000"/>
                </a:lnSpc>
              </a:pPr>
              <a:r>
                <a:rPr lang="en-US" b="false" i="false" strike="noStrike" u="none" sz="1500">
                  <a:solidFill>
                    <a:srgbClr val="666666"/>
                  </a:solidFill>
                  <a:latin typeface="微软雅黑"/>
                  <a:ea typeface="微软雅黑"/>
                  <a:cs typeface="微软雅黑"/>
                  <a:sym typeface="微软雅黑"/>
                </a:rPr>
                <a:t>平均提升</a:t>
              </a:r>
            </a:p>
          </p:txBody>
        </p:sp>
        <p:sp>
          <p:nvSpPr>
            <p:cNvPr name="AutoShape 10" id="10"/>
            <p:cNvSpPr/>
            <p:nvPr/>
          </p:nvSpPr>
          <p:spPr>
            <a:xfrm rot="0" flipH="false" flipV="false">
              <a:off x="9761855" y="2264410"/>
              <a:ext cx="2150110" cy="1550035"/>
            </a:xfrm>
            <a:prstGeom prst="rect">
              <a:avLst/>
            </a:prstGeom>
            <a:solidFill>
              <a:srgbClr val="F8F8F8">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1" id="11"/>
            <p:cNvSpPr/>
            <p:nvPr/>
          </p:nvSpPr>
          <p:spPr>
            <a:xfrm rot="0" flipH="false" flipV="false">
              <a:off x="9761855" y="2364105"/>
              <a:ext cx="2150110" cy="774700"/>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4400">
                  <a:solidFill>
                    <a:srgbClr val="8B0012"/>
                  </a:solidFill>
                  <a:latin typeface="Arial Black"/>
                  <a:ea typeface="Arial Black"/>
                  <a:cs typeface="Arial Black"/>
                  <a:sym typeface="Arial Black"/>
                </a:rPr>
                <a:t>~40%</a:t>
              </a:r>
              <a:endParaRPr lang="en-US" sz="1100"/>
            </a:p>
          </p:txBody>
        </p:sp>
        <p:sp>
          <p:nvSpPr>
            <p:cNvPr name="AutoShape 12" id="12"/>
            <p:cNvSpPr/>
            <p:nvPr/>
          </p:nvSpPr>
          <p:spPr>
            <a:xfrm rot="0" flipH="false" flipV="false">
              <a:off x="9761855" y="3089275"/>
              <a:ext cx="2150110" cy="675005"/>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false" i="false" strike="noStrike" u="none" sz="1500">
                  <a:solidFill>
                    <a:srgbClr val="666666"/>
                  </a:solidFill>
                  <a:latin typeface="Arial"/>
                  <a:ea typeface="Arial"/>
                  <a:cs typeface="Arial"/>
                  <a:sym typeface="Arial"/>
                </a:rPr>
                <a:t>Sort </a:t>
              </a:r>
              <a:r>
                <a:rPr lang="en-US" b="false" i="false" strike="noStrike" u="none" sz="1500">
                  <a:solidFill>
                    <a:srgbClr val="666666"/>
                  </a:solidFill>
                  <a:latin typeface="微软雅黑"/>
                  <a:ea typeface="微软雅黑"/>
                  <a:cs typeface="微软雅黑"/>
                  <a:sym typeface="微软雅黑"/>
                </a:rPr>
                <a:t>类算子</a:t>
              </a:r>
              <a:r>
                <a:rPr lang="en-US" b="false" i="false" strike="noStrike" u="none" sz="1500">
                  <a:solidFill>
                    <a:srgbClr val="666666"/>
                  </a:solidFill>
                  <a:latin typeface="Arial"/>
                  <a:ea typeface="Arial"/>
                  <a:cs typeface="Arial"/>
                  <a:sym typeface="Arial"/>
                </a:rPr>
                <a:t/>
              </a:r>
              <a:endParaRPr lang="en-US" sz="1100"/>
            </a:p>
            <a:p>
              <a:pPr algn="ctr" indent="0">
                <a:lnSpc>
                  <a:spcPct val="125000"/>
                </a:lnSpc>
              </a:pPr>
              <a:r>
                <a:rPr lang="en-US" b="false" i="false" strike="noStrike" u="none" sz="1500">
                  <a:solidFill>
                    <a:srgbClr val="666666"/>
                  </a:solidFill>
                  <a:latin typeface="微软雅黑"/>
                  <a:ea typeface="微软雅黑"/>
                  <a:cs typeface="微软雅黑"/>
                  <a:sym typeface="微软雅黑"/>
                </a:rPr>
                <a:t>平均提升</a:t>
              </a:r>
            </a:p>
          </p:txBody>
        </p:sp>
        <p:sp>
          <p:nvSpPr>
            <p:cNvPr name="AutoShape 13" id="13"/>
            <p:cNvSpPr/>
            <p:nvPr/>
          </p:nvSpPr>
          <p:spPr>
            <a:xfrm rot="0" flipH="false" flipV="false">
              <a:off x="7481570" y="3957955"/>
              <a:ext cx="2150110" cy="1550035"/>
            </a:xfrm>
            <a:prstGeom prst="rect">
              <a:avLst/>
            </a:prstGeom>
            <a:solidFill>
              <a:srgbClr val="F8F8F8">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4" id="14"/>
            <p:cNvSpPr/>
            <p:nvPr/>
          </p:nvSpPr>
          <p:spPr>
            <a:xfrm rot="0" flipH="false" flipV="false">
              <a:off x="7481570" y="4057650"/>
              <a:ext cx="2150110" cy="774700"/>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4400">
                  <a:solidFill>
                    <a:srgbClr val="8B0012"/>
                  </a:solidFill>
                  <a:latin typeface="Arial Black"/>
                  <a:ea typeface="Arial Black"/>
                  <a:cs typeface="Arial Black"/>
                  <a:sym typeface="Arial Black"/>
                </a:rPr>
                <a:t>5~10x</a:t>
              </a:r>
              <a:endParaRPr lang="en-US" sz="1100"/>
            </a:p>
          </p:txBody>
        </p:sp>
        <p:sp>
          <p:nvSpPr>
            <p:cNvPr name="AutoShape 15" id="15"/>
            <p:cNvSpPr/>
            <p:nvPr/>
          </p:nvSpPr>
          <p:spPr>
            <a:xfrm rot="0" flipH="false" flipV="false">
              <a:off x="7481570" y="4782820"/>
              <a:ext cx="2150110" cy="675005"/>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false" i="false" strike="noStrike" u="none" sz="1500">
                  <a:solidFill>
                    <a:srgbClr val="666666"/>
                  </a:solidFill>
                  <a:latin typeface="Arial"/>
                  <a:ea typeface="Arial"/>
                  <a:cs typeface="Arial"/>
                  <a:sym typeface="Arial"/>
                </a:rPr>
                <a:t>shared mem vs</a:t>
              </a:r>
              <a:endParaRPr lang="en-US" sz="1100"/>
            </a:p>
            <a:p>
              <a:pPr algn="ctr" indent="0">
                <a:lnSpc>
                  <a:spcPct val="125000"/>
                </a:lnSpc>
              </a:pPr>
              <a:r>
                <a:rPr lang="en-US" b="false" i="false" strike="noStrike" u="none" sz="1500">
                  <a:solidFill>
                    <a:srgbClr val="666666"/>
                  </a:solidFill>
                  <a:latin typeface="Arial"/>
                  <a:ea typeface="Arial"/>
                  <a:cs typeface="Arial"/>
                  <a:sym typeface="Arial"/>
                </a:rPr>
                <a:t>global mem </a:t>
              </a:r>
              <a:r>
                <a:rPr lang="en-US" b="false" i="false" strike="noStrike" u="none" sz="1500">
                  <a:solidFill>
                    <a:srgbClr val="666666"/>
                  </a:solidFill>
                  <a:latin typeface="微软雅黑"/>
                  <a:ea typeface="微软雅黑"/>
                  <a:cs typeface="微软雅黑"/>
                  <a:sym typeface="微软雅黑"/>
                </a:rPr>
                <a:t>延迟比</a:t>
              </a:r>
            </a:p>
          </p:txBody>
        </p:sp>
        <p:sp>
          <p:nvSpPr>
            <p:cNvPr name="AutoShape 16" id="16"/>
            <p:cNvSpPr/>
            <p:nvPr/>
          </p:nvSpPr>
          <p:spPr>
            <a:xfrm rot="0" flipH="false" flipV="false">
              <a:off x="9761855" y="3957955"/>
              <a:ext cx="2150110" cy="1550035"/>
            </a:xfrm>
            <a:prstGeom prst="rect">
              <a:avLst/>
            </a:prstGeom>
            <a:solidFill>
              <a:srgbClr val="F8F8F8">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7" id="17"/>
            <p:cNvSpPr/>
            <p:nvPr/>
          </p:nvSpPr>
          <p:spPr>
            <a:xfrm rot="0" flipH="false" flipV="false">
              <a:off x="9761855" y="4057650"/>
              <a:ext cx="2150110" cy="774700"/>
            </a:xfrm>
            <a:prstGeom prst="rect">
              <a:avLst/>
            </a:prstGeom>
            <a:noFill/>
            <a:ln w="12700">
              <a:noFill/>
              <a:prstDash val="solid"/>
            </a:ln>
          </p:spPr>
          <p:txBody>
            <a:bodyPr anchor="t" rtlCol="false" wrap="square" lIns="91440" rIns="91440" tIns="45720" bIns="45720">
              <a:noAutofit/>
            </a:bodyPr>
            <a:lstStyle/>
            <a:p>
              <a:pPr algn="ctr" indent="0">
                <a:lnSpc>
                  <a:spcPct val="100000"/>
                </a:lnSpc>
                <a:defRPr/>
              </a:pPr>
              <a:r>
                <a:rPr lang="en-US" b="true" i="false" strike="noStrike" u="none" sz="4400">
                  <a:solidFill>
                    <a:srgbClr val="8B0012"/>
                  </a:solidFill>
                  <a:latin typeface="Arial Black"/>
                  <a:ea typeface="Arial Black"/>
                  <a:cs typeface="Arial Black"/>
                  <a:sym typeface="Arial Black"/>
                </a:rPr>
                <a:t>0</a:t>
              </a:r>
              <a:endParaRPr lang="en-US" sz="1100"/>
            </a:p>
          </p:txBody>
        </p:sp>
        <p:sp>
          <p:nvSpPr>
            <p:cNvPr name="AutoShape 18" id="18"/>
            <p:cNvSpPr/>
            <p:nvPr/>
          </p:nvSpPr>
          <p:spPr>
            <a:xfrm rot="0" flipH="false" flipV="false">
              <a:off x="9761855" y="4782820"/>
              <a:ext cx="2150110" cy="675005"/>
            </a:xfrm>
            <a:prstGeom prst="rect">
              <a:avLst/>
            </a:prstGeom>
            <a:noFill/>
            <a:ln w="12700">
              <a:noFill/>
              <a:prstDash val="solid"/>
            </a:ln>
          </p:spPr>
          <p:txBody>
            <a:bodyPr anchor="t" rtlCol="false" wrap="square" lIns="91440" rIns="91440" tIns="45720" bIns="45720">
              <a:normAutofit lnSpcReduction="0"/>
            </a:bodyPr>
            <a:lstStyle/>
            <a:p>
              <a:pPr algn="ctr" indent="0">
                <a:lnSpc>
                  <a:spcPct val="100000"/>
                </a:lnSpc>
                <a:defRPr/>
              </a:pPr>
              <a:r>
                <a:rPr lang="en-US" b="false" i="false" strike="noStrike" u="none" sz="1500">
                  <a:solidFill>
                    <a:srgbClr val="666666"/>
                  </a:solidFill>
                  <a:latin typeface="微软雅黑"/>
                  <a:ea typeface="微软雅黑"/>
                  <a:cs typeface="微软雅黑"/>
                  <a:sym typeface="微软雅黑"/>
                </a:rPr>
                <a:t>代码侵入量</a:t>
              </a:r>
              <a:r>
                <a:rPr lang="en-US" b="false" i="false" strike="noStrike" u="none" sz="1500">
                  <a:solidFill>
                    <a:srgbClr val="666666"/>
                  </a:solidFill>
                  <a:latin typeface="Arial"/>
                  <a:ea typeface="Arial"/>
                  <a:cs typeface="Arial"/>
                  <a:sym typeface="Arial"/>
                </a:rPr>
                <a:t/>
              </a:r>
              <a:endParaRPr lang="en-US" sz="1100"/>
            </a:p>
            <a:p>
              <a:pPr algn="ctr" indent="0">
                <a:lnSpc>
                  <a:spcPct val="125000"/>
                </a:lnSpc>
              </a:pPr>
              <a:r>
                <a:rPr lang="en-US" b="false" i="false" strike="noStrike" u="none" sz="1500">
                  <a:solidFill>
                    <a:srgbClr val="666666"/>
                  </a:solidFill>
                  <a:latin typeface="Arial"/>
                  <a:ea typeface="Arial"/>
                  <a:cs typeface="Arial"/>
                  <a:sym typeface="Arial"/>
                </a:rPr>
                <a:t>(</a:t>
              </a:r>
              <a:r>
                <a:rPr lang="en-US" b="false" i="false" strike="noStrike" u="none" sz="1500">
                  <a:solidFill>
                    <a:srgbClr val="666666"/>
                  </a:solidFill>
                  <a:latin typeface="微软雅黑"/>
                  <a:ea typeface="微软雅黑"/>
                  <a:cs typeface="微软雅黑"/>
                  <a:sym typeface="微软雅黑"/>
                </a:rPr>
                <a:t>算子代码不变</a:t>
              </a:r>
              <a:r>
                <a:rPr lang="en-US" b="false" i="false" strike="noStrike" u="none" sz="1500">
                  <a:solidFill>
                    <a:srgbClr val="666666"/>
                  </a:solidFill>
                  <a:latin typeface="Arial"/>
                  <a:ea typeface="Arial"/>
                  <a:cs typeface="Arial"/>
                  <a:sym typeface="Arial"/>
                </a:rPr>
                <a:t>)</a:t>
              </a:r>
            </a:p>
          </p:txBody>
        </p:sp>
      </p:grpSp>
      <p:grpSp>
        <p:nvGrpSpPr>
          <p:cNvPr name="Group 19" id="19"/>
          <p:cNvGrpSpPr/>
          <p:nvPr/>
        </p:nvGrpSpPr>
        <p:grpSpPr>
          <a:xfrm>
            <a:off x="249555" y="2304415"/>
            <a:ext cx="6800215" cy="3180080"/>
            <a:chOff x="249555" y="2304415"/>
            <a:chExt cx="6800215" cy="3180080"/>
          </a:xfrm>
        </p:grpSpPr>
        <p:sp>
          <p:nvSpPr>
            <p:cNvPr name="AutoShape 20" id="20"/>
            <p:cNvSpPr/>
            <p:nvPr/>
          </p:nvSpPr>
          <p:spPr>
            <a:xfrm rot="0" flipH="false" flipV="false">
              <a:off x="249555" y="2304415"/>
              <a:ext cx="2200275" cy="379730"/>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600">
                  <a:solidFill>
                    <a:srgbClr val="1A1A1A"/>
                  </a:solidFill>
                  <a:latin typeface="Arial"/>
                  <a:ea typeface="Arial"/>
                  <a:cs typeface="Arial"/>
                  <a:sym typeface="Arial"/>
                </a:rPr>
                <a:t>topk (K=10)</a:t>
              </a:r>
              <a:endParaRPr lang="en-US" sz="1100"/>
            </a:p>
          </p:txBody>
        </p:sp>
        <p:sp>
          <p:nvSpPr>
            <p:cNvPr name="AutoShape 21" id="21"/>
            <p:cNvSpPr/>
            <p:nvPr/>
          </p:nvSpPr>
          <p:spPr>
            <a:xfrm rot="0" flipH="false" flipV="false">
              <a:off x="2549525" y="2344420"/>
              <a:ext cx="4500245" cy="299720"/>
            </a:xfrm>
            <a:prstGeom prst="rect">
              <a:avLst/>
            </a:prstGeom>
            <a:solidFill>
              <a:srgbClr val="F0F0F0">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2" id="22"/>
            <p:cNvSpPr/>
            <p:nvPr/>
          </p:nvSpPr>
          <p:spPr>
            <a:xfrm rot="0" flipH="false" flipV="false">
              <a:off x="2549525" y="2344420"/>
              <a:ext cx="3060065" cy="29972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3" id="23"/>
            <p:cNvSpPr/>
            <p:nvPr/>
          </p:nvSpPr>
          <p:spPr>
            <a:xfrm rot="0" flipH="false" flipV="false">
              <a:off x="5709285" y="2304415"/>
              <a:ext cx="800100" cy="37973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700">
                  <a:solidFill>
                    <a:srgbClr val="8B0012"/>
                  </a:solidFill>
                  <a:latin typeface="Arial"/>
                  <a:ea typeface="Arial"/>
                  <a:cs typeface="Arial"/>
                  <a:sym typeface="Arial"/>
                </a:rPr>
                <a:t>+68%</a:t>
              </a:r>
              <a:endParaRPr lang="en-US" sz="1100"/>
            </a:p>
          </p:txBody>
        </p:sp>
        <p:sp>
          <p:nvSpPr>
            <p:cNvPr name="AutoShape 24" id="24"/>
            <p:cNvSpPr/>
            <p:nvPr/>
          </p:nvSpPr>
          <p:spPr>
            <a:xfrm rot="0" flipH="false" flipV="false">
              <a:off x="249555" y="2864485"/>
              <a:ext cx="2200275" cy="379730"/>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600">
                  <a:solidFill>
                    <a:srgbClr val="1A1A1A"/>
                  </a:solidFill>
                  <a:latin typeface="Arial"/>
                  <a:ea typeface="Arial"/>
                  <a:cs typeface="Arial"/>
                  <a:sym typeface="Arial"/>
                </a:rPr>
                <a:t>topk (K=100)</a:t>
              </a:r>
              <a:endParaRPr lang="en-US" sz="1100"/>
            </a:p>
          </p:txBody>
        </p:sp>
        <p:sp>
          <p:nvSpPr>
            <p:cNvPr name="AutoShape 25" id="25"/>
            <p:cNvSpPr/>
            <p:nvPr/>
          </p:nvSpPr>
          <p:spPr>
            <a:xfrm rot="0" flipH="false" flipV="false">
              <a:off x="2549525" y="2904490"/>
              <a:ext cx="4500245" cy="299720"/>
            </a:xfrm>
            <a:prstGeom prst="rect">
              <a:avLst/>
            </a:prstGeom>
            <a:solidFill>
              <a:srgbClr val="F0F0F0">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6" id="26"/>
            <p:cNvSpPr/>
            <p:nvPr/>
          </p:nvSpPr>
          <p:spPr>
            <a:xfrm rot="0" flipH="false" flipV="false">
              <a:off x="2549525" y="2904490"/>
              <a:ext cx="2339975" cy="29972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7" id="27"/>
            <p:cNvSpPr/>
            <p:nvPr/>
          </p:nvSpPr>
          <p:spPr>
            <a:xfrm rot="0" flipH="false" flipV="false">
              <a:off x="4989830" y="2864485"/>
              <a:ext cx="800100" cy="37973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700">
                  <a:solidFill>
                    <a:srgbClr val="8B0012"/>
                  </a:solidFill>
                  <a:latin typeface="Arial"/>
                  <a:ea typeface="Arial"/>
                  <a:cs typeface="Arial"/>
                  <a:sym typeface="Arial"/>
                </a:rPr>
                <a:t>+52%</a:t>
              </a:r>
              <a:endParaRPr lang="en-US" sz="1100"/>
            </a:p>
          </p:txBody>
        </p:sp>
        <p:sp>
          <p:nvSpPr>
            <p:cNvPr name="AutoShape 28" id="28"/>
            <p:cNvSpPr/>
            <p:nvPr/>
          </p:nvSpPr>
          <p:spPr>
            <a:xfrm rot="0" flipH="false" flipV="false">
              <a:off x="249555" y="3424555"/>
              <a:ext cx="2200275" cy="379730"/>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600">
                  <a:solidFill>
                    <a:srgbClr val="1A1A1A"/>
                  </a:solidFill>
                  <a:latin typeface="Arial"/>
                  <a:ea typeface="Arial"/>
                  <a:cs typeface="Arial"/>
                  <a:sym typeface="Arial"/>
                </a:rPr>
                <a:t>sort (BitonicSort)</a:t>
              </a:r>
              <a:endParaRPr lang="en-US" sz="1100"/>
            </a:p>
          </p:txBody>
        </p:sp>
        <p:sp>
          <p:nvSpPr>
            <p:cNvPr name="AutoShape 29" id="29"/>
            <p:cNvSpPr/>
            <p:nvPr/>
          </p:nvSpPr>
          <p:spPr>
            <a:xfrm rot="0" flipH="false" flipV="false">
              <a:off x="2549525" y="3464560"/>
              <a:ext cx="4500245" cy="299720"/>
            </a:xfrm>
            <a:prstGeom prst="rect">
              <a:avLst/>
            </a:prstGeom>
            <a:solidFill>
              <a:srgbClr val="F0F0F0">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30" id="30"/>
            <p:cNvSpPr/>
            <p:nvPr/>
          </p:nvSpPr>
          <p:spPr>
            <a:xfrm rot="0" flipH="false" flipV="false">
              <a:off x="2549525" y="3464560"/>
              <a:ext cx="2025015" cy="29972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31" id="31"/>
            <p:cNvSpPr/>
            <p:nvPr/>
          </p:nvSpPr>
          <p:spPr>
            <a:xfrm rot="0" flipH="false" flipV="false">
              <a:off x="4674870" y="3424555"/>
              <a:ext cx="800100" cy="37973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700">
                  <a:solidFill>
                    <a:srgbClr val="8B0012"/>
                  </a:solidFill>
                  <a:latin typeface="Arial"/>
                  <a:ea typeface="Arial"/>
                  <a:cs typeface="Arial"/>
                  <a:sym typeface="Arial"/>
                </a:rPr>
                <a:t>+45%</a:t>
              </a:r>
              <a:endParaRPr lang="en-US" sz="1100"/>
            </a:p>
          </p:txBody>
        </p:sp>
        <p:sp>
          <p:nvSpPr>
            <p:cNvPr name="AutoShape 32" id="32"/>
            <p:cNvSpPr/>
            <p:nvPr/>
          </p:nvSpPr>
          <p:spPr>
            <a:xfrm rot="0" flipH="false" flipV="false">
              <a:off x="249555" y="3984625"/>
              <a:ext cx="2200275" cy="379730"/>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600">
                  <a:solidFill>
                    <a:srgbClr val="1A1A1A"/>
                  </a:solidFill>
                  <a:latin typeface="Arial"/>
                  <a:ea typeface="Arial"/>
                  <a:cs typeface="Arial"/>
                  <a:sym typeface="Arial"/>
                </a:rPr>
                <a:t>argsort</a:t>
              </a:r>
              <a:endParaRPr lang="en-US" sz="1100"/>
            </a:p>
          </p:txBody>
        </p:sp>
        <p:sp>
          <p:nvSpPr>
            <p:cNvPr name="AutoShape 33" id="33"/>
            <p:cNvSpPr/>
            <p:nvPr/>
          </p:nvSpPr>
          <p:spPr>
            <a:xfrm rot="0" flipH="false" flipV="false">
              <a:off x="2549525" y="4024630"/>
              <a:ext cx="4500245" cy="299720"/>
            </a:xfrm>
            <a:prstGeom prst="rect">
              <a:avLst/>
            </a:prstGeom>
            <a:solidFill>
              <a:srgbClr val="F0F0F0">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34" id="34"/>
            <p:cNvSpPr/>
            <p:nvPr/>
          </p:nvSpPr>
          <p:spPr>
            <a:xfrm rot="0" flipH="false" flipV="false">
              <a:off x="2549525" y="4024630"/>
              <a:ext cx="1845310" cy="29972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35" id="35"/>
            <p:cNvSpPr/>
            <p:nvPr/>
          </p:nvSpPr>
          <p:spPr>
            <a:xfrm rot="0" flipH="false" flipV="false">
              <a:off x="4494530" y="3984625"/>
              <a:ext cx="800100" cy="37973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700">
                  <a:solidFill>
                    <a:srgbClr val="8B0012"/>
                  </a:solidFill>
                  <a:latin typeface="Arial"/>
                  <a:ea typeface="Arial"/>
                  <a:cs typeface="Arial"/>
                  <a:sym typeface="Arial"/>
                </a:rPr>
                <a:t>+41%</a:t>
              </a:r>
              <a:endParaRPr lang="en-US" sz="1100"/>
            </a:p>
          </p:txBody>
        </p:sp>
        <p:sp>
          <p:nvSpPr>
            <p:cNvPr name="AutoShape 36" id="36"/>
            <p:cNvSpPr/>
            <p:nvPr/>
          </p:nvSpPr>
          <p:spPr>
            <a:xfrm rot="0" flipH="false" flipV="false">
              <a:off x="249555" y="4544695"/>
              <a:ext cx="2200275" cy="379730"/>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600">
                  <a:solidFill>
                    <a:srgbClr val="1A1A1A"/>
                  </a:solidFill>
                  <a:latin typeface="Arial"/>
                  <a:ea typeface="Arial"/>
                  <a:cs typeface="Arial"/>
                  <a:sym typeface="Arial"/>
                </a:rPr>
                <a:t>median</a:t>
              </a:r>
              <a:endParaRPr lang="en-US" sz="1100"/>
            </a:p>
          </p:txBody>
        </p:sp>
        <p:sp>
          <p:nvSpPr>
            <p:cNvPr name="AutoShape 37" id="37"/>
            <p:cNvSpPr/>
            <p:nvPr/>
          </p:nvSpPr>
          <p:spPr>
            <a:xfrm rot="0" flipH="false" flipV="false">
              <a:off x="2549525" y="4584700"/>
              <a:ext cx="4500245" cy="299720"/>
            </a:xfrm>
            <a:prstGeom prst="rect">
              <a:avLst/>
            </a:prstGeom>
            <a:solidFill>
              <a:srgbClr val="F0F0F0">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38" id="38"/>
            <p:cNvSpPr/>
            <p:nvPr/>
          </p:nvSpPr>
          <p:spPr>
            <a:xfrm rot="0" flipH="false" flipV="false">
              <a:off x="2549525" y="4584700"/>
              <a:ext cx="1574800" cy="29972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39" id="39"/>
            <p:cNvSpPr/>
            <p:nvPr/>
          </p:nvSpPr>
          <p:spPr>
            <a:xfrm rot="0" flipH="false" flipV="false">
              <a:off x="4224655" y="4544695"/>
              <a:ext cx="800100" cy="37973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700">
                  <a:solidFill>
                    <a:srgbClr val="8B0012"/>
                  </a:solidFill>
                  <a:latin typeface="Arial"/>
                  <a:ea typeface="Arial"/>
                  <a:cs typeface="Arial"/>
                  <a:sym typeface="Arial"/>
                </a:rPr>
                <a:t>+35%</a:t>
              </a:r>
              <a:endParaRPr lang="en-US" sz="1100"/>
            </a:p>
          </p:txBody>
        </p:sp>
        <p:sp>
          <p:nvSpPr>
            <p:cNvPr name="AutoShape 40" id="40"/>
            <p:cNvSpPr/>
            <p:nvPr/>
          </p:nvSpPr>
          <p:spPr>
            <a:xfrm rot="0" flipH="false" flipV="false">
              <a:off x="249555" y="5104765"/>
              <a:ext cx="2200275" cy="379730"/>
            </a:xfrm>
            <a:prstGeom prst="rect">
              <a:avLst/>
            </a:prstGeom>
            <a:noFill/>
            <a:ln w="12700">
              <a:noFill/>
              <a:prstDash val="solid"/>
            </a:ln>
          </p:spPr>
          <p:txBody>
            <a:bodyPr anchor="t" rtlCol="false" wrap="square" lIns="91440" rIns="91440" tIns="45720" bIns="45720">
              <a:normAutofit lnSpcReduction="0"/>
            </a:bodyPr>
            <a:lstStyle/>
            <a:p>
              <a:pPr algn="r" indent="0">
                <a:lnSpc>
                  <a:spcPct val="100000"/>
                </a:lnSpc>
                <a:defRPr/>
              </a:pPr>
              <a:r>
                <a:rPr lang="en-US" b="false" i="false" strike="noStrike" u="none" sz="1600">
                  <a:solidFill>
                    <a:srgbClr val="1A1A1A"/>
                  </a:solidFill>
                  <a:latin typeface="Arial"/>
                  <a:ea typeface="Arial"/>
                  <a:cs typeface="Arial"/>
                  <a:sym typeface="Arial"/>
                </a:rPr>
                <a:t>kthvalue</a:t>
              </a:r>
              <a:endParaRPr lang="en-US" sz="1100"/>
            </a:p>
          </p:txBody>
        </p:sp>
        <p:sp>
          <p:nvSpPr>
            <p:cNvPr name="AutoShape 41" id="41"/>
            <p:cNvSpPr/>
            <p:nvPr/>
          </p:nvSpPr>
          <p:spPr>
            <a:xfrm rot="0" flipH="false" flipV="false">
              <a:off x="2549525" y="5144770"/>
              <a:ext cx="4500245" cy="299720"/>
            </a:xfrm>
            <a:prstGeom prst="rect">
              <a:avLst/>
            </a:prstGeom>
            <a:solidFill>
              <a:srgbClr val="F0F0F0">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42" id="42"/>
            <p:cNvSpPr/>
            <p:nvPr/>
          </p:nvSpPr>
          <p:spPr>
            <a:xfrm rot="0" flipH="false" flipV="false">
              <a:off x="2549525" y="5144770"/>
              <a:ext cx="1710055" cy="29972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43" id="43"/>
            <p:cNvSpPr/>
            <p:nvPr/>
          </p:nvSpPr>
          <p:spPr>
            <a:xfrm rot="0" flipH="false" flipV="false">
              <a:off x="4359275" y="5104765"/>
              <a:ext cx="800100" cy="37973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700">
                  <a:solidFill>
                    <a:srgbClr val="8B0012"/>
                  </a:solidFill>
                  <a:latin typeface="Arial"/>
                  <a:ea typeface="Arial"/>
                  <a:cs typeface="Arial"/>
                  <a:sym typeface="Arial"/>
                </a:rPr>
                <a:t>+38%</a:t>
              </a:r>
              <a:endParaRPr lang="en-US" sz="1100"/>
            </a:p>
          </p:txBody>
        </p:sp>
      </p:gr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扩展性：其他算子的优化模式</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pSp>
        <p:nvGrpSpPr>
          <p:cNvPr name="Group 6" id="6"/>
          <p:cNvGrpSpPr/>
          <p:nvPr/>
        </p:nvGrpSpPr>
        <p:grpSpPr>
          <a:xfrm>
            <a:off x="1612265" y="1531620"/>
            <a:ext cx="9399905" cy="4700270"/>
            <a:chOff x="1612265" y="1531620"/>
            <a:chExt cx="9399905" cy="4700270"/>
          </a:xfrm>
        </p:grpSpPr>
        <p:sp>
          <p:nvSpPr>
            <p:cNvPr name="AutoShape 7" id="7"/>
            <p:cNvSpPr/>
            <p:nvPr/>
          </p:nvSpPr>
          <p:spPr>
            <a:xfrm rot="0" flipH="false" flipV="false">
              <a:off x="1612265" y="1531620"/>
              <a:ext cx="4399915" cy="4700270"/>
            </a:xfrm>
            <a:prstGeom prst="rect">
              <a:avLst/>
            </a:prstGeom>
            <a:solidFill>
              <a:srgbClr val="FFF5F5">
                <a:alpha val="100000"/>
              </a:srgbClr>
            </a:solidFill>
            <a:ln w="12700">
              <a:solidFill>
                <a:srgbClr val="8B0012">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8" id="8"/>
            <p:cNvSpPr/>
            <p:nvPr/>
          </p:nvSpPr>
          <p:spPr>
            <a:xfrm rot="0" flipH="false" flipV="false">
              <a:off x="1612265" y="1531620"/>
              <a:ext cx="4399915" cy="560070"/>
            </a:xfrm>
            <a:prstGeom prst="rect">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9" id="9"/>
            <p:cNvSpPr/>
            <p:nvPr/>
          </p:nvSpPr>
          <p:spPr>
            <a:xfrm rot="0" flipH="false" flipV="false">
              <a:off x="1711960" y="1601470"/>
              <a:ext cx="4199890" cy="419735"/>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900">
                  <a:solidFill>
                    <a:srgbClr val="FFFFFF"/>
                  </a:solidFill>
                  <a:latin typeface="微软雅黑"/>
                  <a:ea typeface="微软雅黑"/>
                  <a:cs typeface="微软雅黑"/>
                  <a:sym typeface="微软雅黑"/>
                </a:rPr>
                <a:t>适合</a:t>
              </a:r>
              <a:r>
                <a:rPr lang="en-US" b="true" i="false" strike="noStrike" u="none" sz="1900">
                  <a:solidFill>
                    <a:srgbClr val="FFFFFF"/>
                  </a:solidFill>
                  <a:latin typeface="Arial"/>
                  <a:ea typeface="Arial"/>
                  <a:cs typeface="Arial"/>
                  <a:sym typeface="Arial"/>
                </a:rPr>
                <a:t> local_ptr </a:t>
              </a:r>
              <a:r>
                <a:rPr lang="en-US" b="true" i="false" strike="noStrike" u="none" sz="1900">
                  <a:solidFill>
                    <a:srgbClr val="FFFFFF"/>
                  </a:solidFill>
                  <a:latin typeface="微软雅黑"/>
                  <a:ea typeface="微软雅黑"/>
                  <a:cs typeface="微软雅黑"/>
                  <a:sym typeface="微软雅黑"/>
                </a:rPr>
                <a:t>优化的算子模式</a:t>
              </a:r>
              <a:endParaRPr lang="en-US" sz="1100"/>
            </a:p>
          </p:txBody>
        </p:sp>
        <p:sp>
          <p:nvSpPr>
            <p:cNvPr name="AutoShape 10" id="10"/>
            <p:cNvSpPr/>
            <p:nvPr/>
          </p:nvSpPr>
          <p:spPr>
            <a:xfrm rot="0" flipH="false" flipV="false">
              <a:off x="1711960" y="2311400"/>
              <a:ext cx="120015" cy="120015"/>
            </a:xfrm>
            <a:prstGeom prst="ellipse">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1" id="11"/>
            <p:cNvSpPr/>
            <p:nvPr/>
          </p:nvSpPr>
          <p:spPr>
            <a:xfrm rot="0" flipH="false" flipV="false">
              <a:off x="1951990" y="2211705"/>
              <a:ext cx="3930015" cy="349885"/>
            </a:xfrm>
            <a:prstGeom prst="rect">
              <a:avLst/>
            </a:prstGeom>
            <a:noFill/>
            <a:ln w="12700">
              <a:noFill/>
              <a:prstDash val="solid"/>
            </a:ln>
          </p:spPr>
          <p:txBody>
            <a:bodyPr anchor="t" rtlCol="false" wrap="square" lIns="0" rIns="91440" tIns="0" bIns="0">
              <a:normAutofit lnSpcReduction="0"/>
            </a:bodyPr>
            <a:lstStyle/>
            <a:p>
              <a:pPr algn="l" indent="0">
                <a:lnSpc>
                  <a:spcPct val="100000"/>
                </a:lnSpc>
                <a:defRPr/>
              </a:pPr>
              <a:r>
                <a:rPr lang="en-US" b="true" i="false" strike="noStrike" u="none" sz="1600">
                  <a:solidFill>
                    <a:srgbClr val="1A1A1A"/>
                  </a:solidFill>
                  <a:latin typeface="微软雅黑"/>
                  <a:ea typeface="微软雅黑"/>
                  <a:cs typeface="微软雅黑"/>
                  <a:sym typeface="微软雅黑"/>
                </a:rPr>
                <a:t>中间结果复用</a:t>
              </a:r>
              <a:endParaRPr lang="en-US" sz="1100"/>
            </a:p>
          </p:txBody>
        </p:sp>
        <p:sp>
          <p:nvSpPr>
            <p:cNvPr name="AutoShape 12" id="12"/>
            <p:cNvSpPr/>
            <p:nvPr/>
          </p:nvSpPr>
          <p:spPr>
            <a:xfrm rot="0" flipH="false" flipV="false">
              <a:off x="1892300" y="2521585"/>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微软雅黑"/>
                  <a:ea typeface="微软雅黑"/>
                  <a:cs typeface="微软雅黑"/>
                  <a:sym typeface="微软雅黑"/>
                </a:rPr>
                <a:t>算子内部多次读写同一数据</a:t>
              </a:r>
              <a:endParaRPr lang="en-US" sz="1100"/>
            </a:p>
          </p:txBody>
        </p:sp>
        <p:sp>
          <p:nvSpPr>
            <p:cNvPr name="AutoShape 13" id="13"/>
            <p:cNvSpPr/>
            <p:nvPr/>
          </p:nvSpPr>
          <p:spPr>
            <a:xfrm rot="0" flipH="false" flipV="false">
              <a:off x="1892300" y="2801620"/>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Arial"/>
                  <a:ea typeface="Arial"/>
                  <a:cs typeface="Arial"/>
                  <a:sym typeface="Arial"/>
                </a:rPr>
                <a:t>→ </a:t>
              </a:r>
              <a:r>
                <a:rPr lang="en-US" b="false" i="false" strike="noStrike" u="none" sz="1300">
                  <a:solidFill>
                    <a:srgbClr val="666666"/>
                  </a:solidFill>
                  <a:latin typeface="微软雅黑"/>
                  <a:ea typeface="微软雅黑"/>
                  <a:cs typeface="微软雅黑"/>
                  <a:sym typeface="微软雅黑"/>
                </a:rPr>
                <a:t>存于</a:t>
              </a:r>
              <a:r>
                <a:rPr lang="en-US" b="false" i="false" strike="noStrike" u="none" sz="1300">
                  <a:solidFill>
                    <a:srgbClr val="666666"/>
                  </a:solidFill>
                  <a:latin typeface="Arial"/>
                  <a:ea typeface="Arial"/>
                  <a:cs typeface="Arial"/>
                  <a:sym typeface="Arial"/>
                </a:rPr>
                <a:t> shared mem </a:t>
              </a:r>
              <a:r>
                <a:rPr lang="en-US" b="false" i="false" strike="noStrike" u="none" sz="1300">
                  <a:solidFill>
                    <a:srgbClr val="666666"/>
                  </a:solidFill>
                  <a:latin typeface="微软雅黑"/>
                  <a:ea typeface="微软雅黑"/>
                  <a:cs typeface="微软雅黑"/>
                  <a:sym typeface="微软雅黑"/>
                </a:rPr>
                <a:t>避免多次</a:t>
              </a:r>
              <a:r>
                <a:rPr lang="en-US" b="false" i="false" strike="noStrike" u="none" sz="1300">
                  <a:solidFill>
                    <a:srgbClr val="666666"/>
                  </a:solidFill>
                  <a:latin typeface="Arial"/>
                  <a:ea typeface="Arial"/>
                  <a:cs typeface="Arial"/>
                  <a:sym typeface="Arial"/>
                </a:rPr>
                <a:t> global </a:t>
              </a:r>
              <a:r>
                <a:rPr lang="en-US" b="false" i="false" strike="noStrike" u="none" sz="1300">
                  <a:solidFill>
                    <a:srgbClr val="666666"/>
                  </a:solidFill>
                  <a:latin typeface="微软雅黑"/>
                  <a:ea typeface="微软雅黑"/>
                  <a:cs typeface="微软雅黑"/>
                  <a:sym typeface="微软雅黑"/>
                </a:rPr>
                <a:t>访问</a:t>
              </a:r>
              <a:endParaRPr lang="en-US" sz="1100"/>
            </a:p>
          </p:txBody>
        </p:sp>
        <p:sp>
          <p:nvSpPr>
            <p:cNvPr name="AutoShape 14" id="14"/>
            <p:cNvSpPr/>
            <p:nvPr/>
          </p:nvSpPr>
          <p:spPr>
            <a:xfrm rot="0" flipH="false" flipV="false">
              <a:off x="1711960" y="3221355"/>
              <a:ext cx="120015" cy="120015"/>
            </a:xfrm>
            <a:prstGeom prst="ellipse">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5" id="15"/>
            <p:cNvSpPr/>
            <p:nvPr/>
          </p:nvSpPr>
          <p:spPr>
            <a:xfrm rot="0" flipH="false" flipV="false">
              <a:off x="1951990" y="3121660"/>
              <a:ext cx="3930015" cy="349885"/>
            </a:xfrm>
            <a:prstGeom prst="rect">
              <a:avLst/>
            </a:prstGeom>
            <a:noFill/>
            <a:ln w="12700">
              <a:noFill/>
              <a:prstDash val="solid"/>
            </a:ln>
          </p:spPr>
          <p:txBody>
            <a:bodyPr anchor="t" rtlCol="false" wrap="square" lIns="0" rIns="91440" tIns="0" bIns="0">
              <a:normAutofit lnSpcReduction="0"/>
            </a:bodyPr>
            <a:lstStyle/>
            <a:p>
              <a:pPr algn="l" indent="0">
                <a:lnSpc>
                  <a:spcPct val="100000"/>
                </a:lnSpc>
                <a:defRPr/>
              </a:pPr>
              <a:r>
                <a:rPr lang="en-US" b="true" i="false" strike="noStrike" u="none" sz="1600">
                  <a:solidFill>
                    <a:srgbClr val="1A1A1A"/>
                  </a:solidFill>
                  <a:latin typeface="Arial"/>
                  <a:ea typeface="Arial"/>
                  <a:cs typeface="Arial"/>
                  <a:sym typeface="Arial"/>
                </a:rPr>
                <a:t>Warp </a:t>
              </a:r>
              <a:r>
                <a:rPr lang="en-US" b="true" i="false" strike="noStrike" u="none" sz="1600">
                  <a:solidFill>
                    <a:srgbClr val="1A1A1A"/>
                  </a:solidFill>
                  <a:latin typeface="微软雅黑"/>
                  <a:ea typeface="微软雅黑"/>
                  <a:cs typeface="微软雅黑"/>
                  <a:sym typeface="微软雅黑"/>
                </a:rPr>
                <a:t>间通信</a:t>
              </a:r>
              <a:endParaRPr lang="en-US" sz="1100"/>
            </a:p>
          </p:txBody>
        </p:sp>
        <p:sp>
          <p:nvSpPr>
            <p:cNvPr name="AutoShape 16" id="16"/>
            <p:cNvSpPr/>
            <p:nvPr/>
          </p:nvSpPr>
          <p:spPr>
            <a:xfrm rot="0" flipH="false" flipV="false">
              <a:off x="1892300" y="3431540"/>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微软雅黑"/>
                  <a:ea typeface="微软雅黑"/>
                  <a:cs typeface="微软雅黑"/>
                  <a:sym typeface="微软雅黑"/>
                </a:rPr>
                <a:t>同</a:t>
              </a:r>
              <a:r>
                <a:rPr lang="en-US" b="false" i="false" strike="noStrike" u="none" sz="1300">
                  <a:solidFill>
                    <a:srgbClr val="666666"/>
                  </a:solidFill>
                  <a:latin typeface="Arial"/>
                  <a:ea typeface="Arial"/>
                  <a:cs typeface="Arial"/>
                  <a:sym typeface="Arial"/>
                </a:rPr>
                <a:t> CTA </a:t>
              </a:r>
              <a:r>
                <a:rPr lang="en-US" b="false" i="false" strike="noStrike" u="none" sz="1300">
                  <a:solidFill>
                    <a:srgbClr val="666666"/>
                  </a:solidFill>
                  <a:latin typeface="微软雅黑"/>
                  <a:ea typeface="微软雅黑"/>
                  <a:cs typeface="微软雅黑"/>
                  <a:sym typeface="微软雅黑"/>
                </a:rPr>
                <a:t>内</a:t>
              </a:r>
              <a:r>
                <a:rPr lang="en-US" b="false" i="false" strike="noStrike" u="none" sz="1300">
                  <a:solidFill>
                    <a:srgbClr val="666666"/>
                  </a:solidFill>
                  <a:latin typeface="Arial"/>
                  <a:ea typeface="Arial"/>
                  <a:cs typeface="Arial"/>
                  <a:sym typeface="Arial"/>
                </a:rPr>
                <a:t> warp </a:t>
              </a:r>
              <a:r>
                <a:rPr lang="en-US" b="false" i="false" strike="noStrike" u="none" sz="1300">
                  <a:solidFill>
                    <a:srgbClr val="666666"/>
                  </a:solidFill>
                  <a:latin typeface="微软雅黑"/>
                  <a:ea typeface="微软雅黑"/>
                  <a:cs typeface="微软雅黑"/>
                  <a:sym typeface="微软雅黑"/>
                </a:rPr>
                <a:t>间需要交换数据</a:t>
              </a:r>
              <a:endParaRPr lang="en-US" sz="1100"/>
            </a:p>
          </p:txBody>
        </p:sp>
        <p:sp>
          <p:nvSpPr>
            <p:cNvPr name="AutoShape 17" id="17"/>
            <p:cNvSpPr/>
            <p:nvPr/>
          </p:nvSpPr>
          <p:spPr>
            <a:xfrm rot="0" flipH="false" flipV="false">
              <a:off x="1892300" y="3711575"/>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Arial"/>
                  <a:ea typeface="Arial"/>
                  <a:cs typeface="Arial"/>
                  <a:sym typeface="Arial"/>
                </a:rPr>
                <a:t>→ </a:t>
              </a:r>
              <a:r>
                <a:rPr lang="en-US" b="false" i="false" strike="noStrike" u="none" sz="1300">
                  <a:solidFill>
                    <a:srgbClr val="666666"/>
                  </a:solidFill>
                  <a:latin typeface="微软雅黑"/>
                  <a:ea typeface="微软雅黑"/>
                  <a:cs typeface="微软雅黑"/>
                  <a:sym typeface="微软雅黑"/>
                </a:rPr>
                <a:t>通过</a:t>
              </a:r>
              <a:r>
                <a:rPr lang="en-US" b="false" i="false" strike="noStrike" u="none" sz="1300">
                  <a:solidFill>
                    <a:srgbClr val="666666"/>
                  </a:solidFill>
                  <a:latin typeface="Arial"/>
                  <a:ea typeface="Arial"/>
                  <a:cs typeface="Arial"/>
                  <a:sym typeface="Arial"/>
                </a:rPr>
                <a:t> shared mem </a:t>
              </a:r>
              <a:r>
                <a:rPr lang="en-US" b="false" i="false" strike="noStrike" u="none" sz="1300">
                  <a:solidFill>
                    <a:srgbClr val="666666"/>
                  </a:solidFill>
                  <a:latin typeface="微软雅黑"/>
                  <a:ea typeface="微软雅黑"/>
                  <a:cs typeface="微软雅黑"/>
                  <a:sym typeface="微软雅黑"/>
                </a:rPr>
                <a:t>实现高效通信</a:t>
              </a:r>
              <a:endParaRPr lang="en-US" sz="1100"/>
            </a:p>
          </p:txBody>
        </p:sp>
        <p:sp>
          <p:nvSpPr>
            <p:cNvPr name="AutoShape 18" id="18"/>
            <p:cNvSpPr/>
            <p:nvPr/>
          </p:nvSpPr>
          <p:spPr>
            <a:xfrm rot="0" flipH="false" flipV="false">
              <a:off x="1711960" y="4131310"/>
              <a:ext cx="120015" cy="120015"/>
            </a:xfrm>
            <a:prstGeom prst="ellipse">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19" id="19"/>
            <p:cNvSpPr/>
            <p:nvPr/>
          </p:nvSpPr>
          <p:spPr>
            <a:xfrm rot="0" flipH="false" flipV="false">
              <a:off x="1951990" y="4031615"/>
              <a:ext cx="3930015" cy="349885"/>
            </a:xfrm>
            <a:prstGeom prst="rect">
              <a:avLst/>
            </a:prstGeom>
            <a:noFill/>
            <a:ln w="12700">
              <a:noFill/>
              <a:prstDash val="solid"/>
            </a:ln>
          </p:spPr>
          <p:txBody>
            <a:bodyPr anchor="t" rtlCol="false" wrap="square" lIns="0" rIns="91440" tIns="0" bIns="0">
              <a:normAutofit lnSpcReduction="0"/>
            </a:bodyPr>
            <a:lstStyle/>
            <a:p>
              <a:pPr algn="l" indent="0">
                <a:lnSpc>
                  <a:spcPct val="100000"/>
                </a:lnSpc>
                <a:defRPr/>
              </a:pPr>
              <a:r>
                <a:rPr lang="en-US" b="true" i="false" strike="noStrike" u="none" sz="1600">
                  <a:solidFill>
                    <a:srgbClr val="1A1A1A"/>
                  </a:solidFill>
                  <a:latin typeface="微软雅黑"/>
                  <a:ea typeface="微软雅黑"/>
                  <a:cs typeface="微软雅黑"/>
                  <a:sym typeface="微软雅黑"/>
                </a:rPr>
                <a:t>归约操作</a:t>
              </a:r>
              <a:endParaRPr lang="en-US" sz="1100"/>
            </a:p>
          </p:txBody>
        </p:sp>
        <p:sp>
          <p:nvSpPr>
            <p:cNvPr name="AutoShape 20" id="20"/>
            <p:cNvSpPr/>
            <p:nvPr/>
          </p:nvSpPr>
          <p:spPr>
            <a:xfrm rot="0" flipH="false" flipV="false">
              <a:off x="1892300" y="4341495"/>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Arial"/>
                  <a:ea typeface="Arial"/>
                  <a:cs typeface="Arial"/>
                  <a:sym typeface="Arial"/>
                </a:rPr>
                <a:t>Sum / Max / Min </a:t>
              </a:r>
              <a:r>
                <a:rPr lang="en-US" b="false" i="false" strike="noStrike" u="none" sz="1300">
                  <a:solidFill>
                    <a:srgbClr val="666666"/>
                  </a:solidFill>
                  <a:latin typeface="微软雅黑"/>
                  <a:ea typeface="微软雅黑"/>
                  <a:cs typeface="微软雅黑"/>
                  <a:sym typeface="微软雅黑"/>
                </a:rPr>
                <a:t>等跨线程归约</a:t>
              </a:r>
              <a:endParaRPr lang="en-US" sz="1100"/>
            </a:p>
          </p:txBody>
        </p:sp>
        <p:sp>
          <p:nvSpPr>
            <p:cNvPr name="AutoShape 21" id="21"/>
            <p:cNvSpPr/>
            <p:nvPr/>
          </p:nvSpPr>
          <p:spPr>
            <a:xfrm rot="0" flipH="false" flipV="false">
              <a:off x="1892300" y="4621530"/>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Arial"/>
                  <a:ea typeface="Arial"/>
                  <a:cs typeface="Arial"/>
                  <a:sym typeface="Arial"/>
                </a:rPr>
                <a:t>→ </a:t>
              </a:r>
              <a:r>
                <a:rPr lang="en-US" b="false" i="false" strike="noStrike" u="none" sz="1300">
                  <a:solidFill>
                    <a:srgbClr val="666666"/>
                  </a:solidFill>
                  <a:latin typeface="微软雅黑"/>
                  <a:ea typeface="微软雅黑"/>
                  <a:cs typeface="微软雅黑"/>
                  <a:sym typeface="微软雅黑"/>
                </a:rPr>
                <a:t>传统</a:t>
              </a:r>
              <a:r>
                <a:rPr lang="en-US" b="false" i="false" strike="noStrike" u="none" sz="1300">
                  <a:solidFill>
                    <a:srgbClr val="666666"/>
                  </a:solidFill>
                  <a:latin typeface="Arial"/>
                  <a:ea typeface="Arial"/>
                  <a:cs typeface="Arial"/>
                  <a:sym typeface="Arial"/>
                </a:rPr>
                <a:t> shuffle </a:t>
              </a:r>
              <a:r>
                <a:rPr lang="en-US" b="false" i="false" strike="noStrike" u="none" sz="1300">
                  <a:solidFill>
                    <a:srgbClr val="666666"/>
                  </a:solidFill>
                  <a:latin typeface="微软雅黑"/>
                  <a:ea typeface="微软雅黑"/>
                  <a:cs typeface="微软雅黑"/>
                  <a:sym typeface="微软雅黑"/>
                </a:rPr>
                <a:t>外的替代方案</a:t>
              </a:r>
              <a:endParaRPr lang="en-US" sz="1100"/>
            </a:p>
          </p:txBody>
        </p:sp>
        <p:sp>
          <p:nvSpPr>
            <p:cNvPr name="AutoShape 22" id="22"/>
            <p:cNvSpPr/>
            <p:nvPr/>
          </p:nvSpPr>
          <p:spPr>
            <a:xfrm rot="0" flipH="false" flipV="false">
              <a:off x="1711960" y="5041265"/>
              <a:ext cx="120015" cy="120015"/>
            </a:xfrm>
            <a:prstGeom prst="ellipse">
              <a:avLst/>
            </a:pr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3" id="23"/>
            <p:cNvSpPr/>
            <p:nvPr/>
          </p:nvSpPr>
          <p:spPr>
            <a:xfrm rot="0" flipH="false" flipV="false">
              <a:off x="1951990" y="4941570"/>
              <a:ext cx="3930015" cy="349885"/>
            </a:xfrm>
            <a:prstGeom prst="rect">
              <a:avLst/>
            </a:prstGeom>
            <a:noFill/>
            <a:ln w="12700">
              <a:noFill/>
              <a:prstDash val="solid"/>
            </a:ln>
          </p:spPr>
          <p:txBody>
            <a:bodyPr anchor="t" rtlCol="false" wrap="square" lIns="0" rIns="91440" tIns="0" bIns="0">
              <a:normAutofit lnSpcReduction="0"/>
            </a:bodyPr>
            <a:lstStyle/>
            <a:p>
              <a:pPr algn="l" indent="0">
                <a:lnSpc>
                  <a:spcPct val="100000"/>
                </a:lnSpc>
                <a:defRPr/>
              </a:pPr>
              <a:r>
                <a:rPr lang="en-US" b="true" i="false" strike="noStrike" u="none" sz="1600">
                  <a:solidFill>
                    <a:srgbClr val="1A1A1A"/>
                  </a:solidFill>
                  <a:latin typeface="微软雅黑"/>
                  <a:ea typeface="微软雅黑"/>
                  <a:cs typeface="微软雅黑"/>
                  <a:sym typeface="微软雅黑"/>
                </a:rPr>
                <a:t>分块排序</a:t>
              </a:r>
              <a:endParaRPr lang="en-US" sz="1100"/>
            </a:p>
          </p:txBody>
        </p:sp>
        <p:sp>
          <p:nvSpPr>
            <p:cNvPr name="AutoShape 24" id="24"/>
            <p:cNvSpPr/>
            <p:nvPr/>
          </p:nvSpPr>
          <p:spPr>
            <a:xfrm rot="0" flipH="false" flipV="false">
              <a:off x="1892300" y="5251450"/>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Arial"/>
                  <a:ea typeface="Arial"/>
                  <a:cs typeface="Arial"/>
                  <a:sym typeface="Arial"/>
                </a:rPr>
                <a:t>Bitonic sort / Radix sort </a:t>
              </a:r>
              <a:r>
                <a:rPr lang="en-US" b="false" i="false" strike="noStrike" u="none" sz="1300">
                  <a:solidFill>
                    <a:srgbClr val="666666"/>
                  </a:solidFill>
                  <a:latin typeface="微软雅黑"/>
                  <a:ea typeface="微软雅黑"/>
                  <a:cs typeface="微软雅黑"/>
                  <a:sym typeface="微软雅黑"/>
                </a:rPr>
                <a:t>分块实现</a:t>
              </a:r>
              <a:endParaRPr lang="en-US" sz="1100"/>
            </a:p>
          </p:txBody>
        </p:sp>
        <p:sp>
          <p:nvSpPr>
            <p:cNvPr name="AutoShape 25" id="25"/>
            <p:cNvSpPr/>
            <p:nvPr/>
          </p:nvSpPr>
          <p:spPr>
            <a:xfrm rot="0" flipH="false" flipV="false">
              <a:off x="1892300" y="5531485"/>
              <a:ext cx="4050030"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666666"/>
                  </a:solidFill>
                  <a:latin typeface="Arial"/>
                  <a:ea typeface="Arial"/>
                  <a:cs typeface="Arial"/>
                  <a:sym typeface="Arial"/>
                </a:rPr>
                <a:t>→ local_ptr </a:t>
              </a:r>
              <a:r>
                <a:rPr lang="en-US" b="false" i="false" strike="noStrike" u="none" sz="1300">
                  <a:solidFill>
                    <a:srgbClr val="666666"/>
                  </a:solidFill>
                  <a:latin typeface="微软雅黑"/>
                  <a:ea typeface="微软雅黑"/>
                  <a:cs typeface="微软雅黑"/>
                  <a:sym typeface="微软雅黑"/>
                </a:rPr>
                <a:t>使分块数据保持</a:t>
              </a:r>
              <a:r>
                <a:rPr lang="en-US" b="false" i="false" strike="noStrike" u="none" sz="1300">
                  <a:solidFill>
                    <a:srgbClr val="666666"/>
                  </a:solidFill>
                  <a:latin typeface="Arial"/>
                  <a:ea typeface="Arial"/>
                  <a:cs typeface="Arial"/>
                  <a:sym typeface="Arial"/>
                </a:rPr>
                <a:t> shared mem</a:t>
              </a:r>
              <a:endParaRPr lang="en-US" sz="1100"/>
            </a:p>
          </p:txBody>
        </p:sp>
        <p:sp>
          <p:nvSpPr>
            <p:cNvPr name="AutoShape 26" id="26"/>
            <p:cNvSpPr/>
            <p:nvPr/>
          </p:nvSpPr>
          <p:spPr>
            <a:xfrm rot="0" flipH="false" flipV="false">
              <a:off x="6212205" y="1531620"/>
              <a:ext cx="4799965" cy="4700270"/>
            </a:xfrm>
            <a:prstGeom prst="rect">
              <a:avLst/>
            </a:prstGeom>
            <a:solidFill>
              <a:srgbClr val="F0F8FF">
                <a:alpha val="100000"/>
              </a:srgbClr>
            </a:solidFill>
            <a:ln w="12700">
              <a:solidFill>
                <a:srgbClr val="0066CC">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7" id="27"/>
            <p:cNvSpPr/>
            <p:nvPr/>
          </p:nvSpPr>
          <p:spPr>
            <a:xfrm rot="0" flipH="false" flipV="false">
              <a:off x="6212205" y="1531620"/>
              <a:ext cx="4799965" cy="560070"/>
            </a:xfrm>
            <a:prstGeom prst="rect">
              <a:avLst/>
            </a:prstGeom>
            <a:solidFill>
              <a:srgbClr val="0D47A1">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28" id="28"/>
            <p:cNvSpPr/>
            <p:nvPr/>
          </p:nvSpPr>
          <p:spPr>
            <a:xfrm rot="0" flipH="false" flipV="false">
              <a:off x="6312535" y="1601470"/>
              <a:ext cx="4599940" cy="419735"/>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900">
                  <a:solidFill>
                    <a:srgbClr val="FFFFFF"/>
                  </a:solidFill>
                  <a:latin typeface="微软雅黑"/>
                  <a:ea typeface="微软雅黑"/>
                  <a:cs typeface="微软雅黑"/>
                  <a:sym typeface="微软雅黑"/>
                </a:rPr>
                <a:t>新算子接入</a:t>
              </a:r>
              <a:r>
                <a:rPr lang="en-US" b="true" i="false" strike="noStrike" u="none" sz="1900">
                  <a:solidFill>
                    <a:srgbClr val="FFFFFF"/>
                  </a:solidFill>
                  <a:latin typeface="Arial"/>
                  <a:ea typeface="Arial"/>
                  <a:cs typeface="Arial"/>
                  <a:sym typeface="Arial"/>
                </a:rPr>
                <a:t> local_ptr </a:t>
              </a:r>
              <a:r>
                <a:rPr lang="en-US" b="true" i="false" strike="noStrike" u="none" sz="1900">
                  <a:solidFill>
                    <a:srgbClr val="FFFFFF"/>
                  </a:solidFill>
                  <a:latin typeface="微软雅黑"/>
                  <a:ea typeface="微软雅黑"/>
                  <a:cs typeface="微软雅黑"/>
                  <a:sym typeface="微软雅黑"/>
                </a:rPr>
                <a:t>步骤</a:t>
              </a:r>
              <a:endParaRPr lang="en-US" sz="1100"/>
            </a:p>
          </p:txBody>
        </p:sp>
        <p:sp>
          <p:nvSpPr>
            <p:cNvPr name="AutoShape 29" id="29"/>
            <p:cNvSpPr/>
            <p:nvPr/>
          </p:nvSpPr>
          <p:spPr>
            <a:xfrm rot="0" flipH="false" flipV="false">
              <a:off x="6312535" y="2211705"/>
              <a:ext cx="800100" cy="40005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0D47A1"/>
                  </a:solidFill>
                  <a:latin typeface="Arial"/>
                  <a:ea typeface="Arial"/>
                  <a:cs typeface="Arial"/>
                  <a:sym typeface="Arial"/>
                </a:rPr>
                <a:t>Step 1</a:t>
              </a:r>
              <a:endParaRPr lang="en-US" sz="1100"/>
            </a:p>
          </p:txBody>
        </p:sp>
        <p:sp>
          <p:nvSpPr>
            <p:cNvPr name="AutoShape 30" id="30"/>
            <p:cNvSpPr/>
            <p:nvPr/>
          </p:nvSpPr>
          <p:spPr>
            <a:xfrm rot="0" flipH="false" flipV="false">
              <a:off x="7212330" y="2211705"/>
              <a:ext cx="3700145"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1A1A1A"/>
                  </a:solidFill>
                  <a:latin typeface="微软雅黑"/>
                  <a:ea typeface="微软雅黑"/>
                  <a:cs typeface="微软雅黑"/>
                  <a:sym typeface="微软雅黑"/>
                </a:rPr>
                <a:t>识别算子中的</a:t>
              </a:r>
              <a:r>
                <a:rPr lang="en-US" b="false" i="false" strike="noStrike" u="none" sz="1300">
                  <a:solidFill>
                    <a:srgbClr val="1A1A1A"/>
                  </a:solidFill>
                  <a:latin typeface="Arial"/>
                  <a:ea typeface="Arial"/>
                  <a:cs typeface="Arial"/>
                  <a:sym typeface="Arial"/>
                </a:rPr>
                <a:t> shared memory </a:t>
              </a:r>
              <a:r>
                <a:rPr lang="en-US" b="false" i="false" strike="noStrike" u="none" sz="1300">
                  <a:solidFill>
                    <a:srgbClr val="1A1A1A"/>
                  </a:solidFill>
                  <a:latin typeface="微软雅黑"/>
                  <a:ea typeface="微软雅黑"/>
                  <a:cs typeface="微软雅黑"/>
                  <a:sym typeface="微软雅黑"/>
                </a:rPr>
                <a:t>使用场景</a:t>
              </a:r>
              <a:endParaRPr lang="en-US" sz="1100"/>
            </a:p>
          </p:txBody>
        </p:sp>
        <p:sp>
          <p:nvSpPr>
            <p:cNvPr name="AutoShape 31" id="31"/>
            <p:cNvSpPr/>
            <p:nvPr/>
          </p:nvSpPr>
          <p:spPr>
            <a:xfrm rot="0" flipH="false" flipV="false">
              <a:off x="6312535" y="2911475"/>
              <a:ext cx="800100" cy="40005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0D47A1"/>
                  </a:solidFill>
                  <a:latin typeface="Arial"/>
                  <a:ea typeface="Arial"/>
                  <a:cs typeface="Arial"/>
                  <a:sym typeface="Arial"/>
                </a:rPr>
                <a:t>Step 2</a:t>
              </a:r>
              <a:endParaRPr lang="en-US" sz="1100"/>
            </a:p>
          </p:txBody>
        </p:sp>
        <p:sp>
          <p:nvSpPr>
            <p:cNvPr name="AutoShape 32" id="32"/>
            <p:cNvSpPr/>
            <p:nvPr/>
          </p:nvSpPr>
          <p:spPr>
            <a:xfrm rot="0" flipH="false" flipV="false">
              <a:off x="7212330" y="2911475"/>
              <a:ext cx="3700145"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1A1A1A"/>
                  </a:solidFill>
                  <a:latin typeface="微软雅黑"/>
                  <a:ea typeface="微软雅黑"/>
                  <a:cs typeface="微软雅黑"/>
                  <a:sym typeface="微软雅黑"/>
                </a:rPr>
                <a:t>将</a:t>
              </a:r>
              <a:r>
                <a:rPr lang="en-US" b="false" i="false" strike="noStrike" u="none" sz="1300">
                  <a:solidFill>
                    <a:srgbClr val="1A1A1A"/>
                  </a:solidFill>
                  <a:latin typeface="Arial"/>
                  <a:ea typeface="Arial"/>
                  <a:cs typeface="Arial"/>
                  <a:sym typeface="Arial"/>
                </a:rPr>
                <a:t> tl.zeros / tl.full </a:t>
              </a:r>
              <a:r>
                <a:rPr lang="en-US" b="false" i="false" strike="noStrike" u="none" sz="1300">
                  <a:solidFill>
                    <a:srgbClr val="1A1A1A"/>
                  </a:solidFill>
                  <a:latin typeface="微软雅黑"/>
                  <a:ea typeface="微软雅黑"/>
                  <a:cs typeface="微软雅黑"/>
                  <a:sym typeface="微软雅黑"/>
                </a:rPr>
                <a:t>声明的</a:t>
              </a:r>
              <a:r>
                <a:rPr lang="en-US" b="false" i="false" strike="noStrike" u="none" sz="1300">
                  <a:solidFill>
                    <a:srgbClr val="1A1A1A"/>
                  </a:solidFill>
                  <a:latin typeface="Arial"/>
                  <a:ea typeface="Arial"/>
                  <a:cs typeface="Arial"/>
                  <a:sym typeface="Arial"/>
                </a:rPr>
                <a:t> shared buffer</a:t>
              </a:r>
              <a:endParaRPr lang="en-US" sz="1100"/>
            </a:p>
          </p:txBody>
        </p:sp>
        <p:sp>
          <p:nvSpPr>
            <p:cNvPr name="AutoShape 33" id="33"/>
            <p:cNvSpPr/>
            <p:nvPr/>
          </p:nvSpPr>
          <p:spPr>
            <a:xfrm rot="0" flipH="false" flipV="false">
              <a:off x="7212330" y="3191510"/>
              <a:ext cx="3700145"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1A1A1A"/>
                  </a:solidFill>
                  <a:latin typeface="微软雅黑"/>
                  <a:ea typeface="微软雅黑"/>
                  <a:cs typeface="微软雅黑"/>
                  <a:sym typeface="微软雅黑"/>
                </a:rPr>
                <a:t>改用</a:t>
              </a:r>
              <a:r>
                <a:rPr lang="en-US" b="false" i="false" strike="noStrike" u="none" sz="1300">
                  <a:solidFill>
                    <a:srgbClr val="1A1A1A"/>
                  </a:solidFill>
                  <a:latin typeface="Arial"/>
                  <a:ea typeface="Arial"/>
                  <a:cs typeface="Arial"/>
                  <a:sym typeface="Arial"/>
                </a:rPr>
                <a:t> tle.gpu.local_ptr </a:t>
              </a:r>
              <a:r>
                <a:rPr lang="en-US" b="false" i="false" strike="noStrike" u="none" sz="1300">
                  <a:solidFill>
                    <a:srgbClr val="1A1A1A"/>
                  </a:solidFill>
                  <a:latin typeface="微软雅黑"/>
                  <a:ea typeface="微软雅黑"/>
                  <a:cs typeface="微软雅黑"/>
                  <a:sym typeface="微软雅黑"/>
                </a:rPr>
                <a:t>引用</a:t>
              </a:r>
              <a:endParaRPr lang="en-US" sz="1100"/>
            </a:p>
          </p:txBody>
        </p:sp>
        <p:sp>
          <p:nvSpPr>
            <p:cNvPr name="AutoShape 34" id="34"/>
            <p:cNvSpPr/>
            <p:nvPr/>
          </p:nvSpPr>
          <p:spPr>
            <a:xfrm rot="0" flipH="false" flipV="false">
              <a:off x="6312535" y="3611245"/>
              <a:ext cx="800100" cy="40005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0D47A1"/>
                  </a:solidFill>
                  <a:latin typeface="Arial"/>
                  <a:ea typeface="Arial"/>
                  <a:cs typeface="Arial"/>
                  <a:sym typeface="Arial"/>
                </a:rPr>
                <a:t>Step 3</a:t>
              </a:r>
              <a:endParaRPr lang="en-US" sz="1100"/>
            </a:p>
          </p:txBody>
        </p:sp>
        <p:sp>
          <p:nvSpPr>
            <p:cNvPr name="AutoShape 35" id="35"/>
            <p:cNvSpPr/>
            <p:nvPr/>
          </p:nvSpPr>
          <p:spPr>
            <a:xfrm rot="0" flipH="false" flipV="false">
              <a:off x="7212330" y="3611245"/>
              <a:ext cx="3700145"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1A1A1A"/>
                  </a:solidFill>
                  <a:latin typeface="微软雅黑"/>
                  <a:ea typeface="微软雅黑"/>
                  <a:cs typeface="微软雅黑"/>
                  <a:sym typeface="微软雅黑"/>
                </a:rPr>
                <a:t>通过</a:t>
              </a:r>
              <a:r>
                <a:rPr lang="en-US" b="false" i="false" strike="noStrike" u="none" sz="1300">
                  <a:solidFill>
                    <a:srgbClr val="1A1A1A"/>
                  </a:solidFill>
                  <a:latin typeface="Arial"/>
                  <a:ea typeface="Arial"/>
                  <a:cs typeface="Arial"/>
                  <a:sym typeface="Arial"/>
                </a:rPr>
                <a:t> FlagTree </a:t>
              </a:r>
              <a:r>
                <a:rPr lang="en-US" b="false" i="false" strike="noStrike" u="none" sz="1300">
                  <a:solidFill>
                    <a:srgbClr val="1A1A1A"/>
                  </a:solidFill>
                  <a:latin typeface="微软雅黑"/>
                  <a:ea typeface="微软雅黑"/>
                  <a:cs typeface="微软雅黑"/>
                  <a:sym typeface="微软雅黑"/>
                </a:rPr>
                <a:t>编译验证</a:t>
              </a:r>
              <a:r>
                <a:rPr lang="en-US" b="false" i="false" strike="noStrike" u="none" sz="1300">
                  <a:solidFill>
                    <a:srgbClr val="1A1A1A"/>
                  </a:solidFill>
                  <a:latin typeface="Arial"/>
                  <a:ea typeface="Arial"/>
                  <a:cs typeface="Arial"/>
                  <a:sym typeface="Arial"/>
                </a:rPr>
                <a:t> Pass </a:t>
              </a:r>
              <a:r>
                <a:rPr lang="en-US" b="false" i="false" strike="noStrike" u="none" sz="1300">
                  <a:solidFill>
                    <a:srgbClr val="1A1A1A"/>
                  </a:solidFill>
                  <a:latin typeface="微软雅黑"/>
                  <a:ea typeface="微软雅黑"/>
                  <a:cs typeface="微软雅黑"/>
                  <a:sym typeface="微软雅黑"/>
                </a:rPr>
                <a:t>正确执行</a:t>
              </a:r>
              <a:endParaRPr lang="en-US" sz="1100"/>
            </a:p>
          </p:txBody>
        </p:sp>
        <p:sp>
          <p:nvSpPr>
            <p:cNvPr name="AutoShape 36" id="36"/>
            <p:cNvSpPr/>
            <p:nvPr/>
          </p:nvSpPr>
          <p:spPr>
            <a:xfrm rot="0" flipH="false" flipV="false">
              <a:off x="7212330" y="3891280"/>
              <a:ext cx="3700145"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1A1A1A"/>
                  </a:solidFill>
                  <a:latin typeface="微软雅黑"/>
                  <a:ea typeface="微软雅黑"/>
                  <a:cs typeface="微软雅黑"/>
                  <a:sym typeface="微软雅黑"/>
                </a:rPr>
                <a:t>（查看生成的</a:t>
              </a:r>
              <a:r>
                <a:rPr lang="en-US" b="false" i="false" strike="noStrike" u="none" sz="1300">
                  <a:solidFill>
                    <a:srgbClr val="1A1A1A"/>
                  </a:solidFill>
                  <a:latin typeface="Arial"/>
                  <a:ea typeface="Arial"/>
                  <a:cs typeface="Arial"/>
                  <a:sym typeface="Arial"/>
                </a:rPr>
                <a:t> PTX / ISA</a:t>
              </a:r>
              <a:r>
                <a:rPr lang="en-US" b="false" i="false" strike="noStrike" u="none" sz="1300">
                  <a:solidFill>
                    <a:srgbClr val="1A1A1A"/>
                  </a:solidFill>
                  <a:latin typeface="微软雅黑"/>
                  <a:ea typeface="微软雅黑"/>
                  <a:cs typeface="微软雅黑"/>
                  <a:sym typeface="微软雅黑"/>
                </a:rPr>
                <a:t>）</a:t>
              </a:r>
              <a:endParaRPr lang="en-US" sz="1100"/>
            </a:p>
          </p:txBody>
        </p:sp>
        <p:sp>
          <p:nvSpPr>
            <p:cNvPr name="AutoShape 37" id="37"/>
            <p:cNvSpPr/>
            <p:nvPr/>
          </p:nvSpPr>
          <p:spPr>
            <a:xfrm rot="0" flipH="false" flipV="false">
              <a:off x="6312535" y="4311650"/>
              <a:ext cx="800100" cy="40005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0D47A1"/>
                  </a:solidFill>
                  <a:latin typeface="Arial"/>
                  <a:ea typeface="Arial"/>
                  <a:cs typeface="Arial"/>
                  <a:sym typeface="Arial"/>
                </a:rPr>
                <a:t>Step 4</a:t>
              </a:r>
              <a:endParaRPr lang="en-US" sz="1100"/>
            </a:p>
          </p:txBody>
        </p:sp>
        <p:sp>
          <p:nvSpPr>
            <p:cNvPr name="AutoShape 38" id="38"/>
            <p:cNvSpPr/>
            <p:nvPr/>
          </p:nvSpPr>
          <p:spPr>
            <a:xfrm rot="0" flipH="false" flipV="false">
              <a:off x="7212330" y="4311650"/>
              <a:ext cx="3700145"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1A1A1A"/>
                  </a:solidFill>
                  <a:latin typeface="微软雅黑"/>
                  <a:ea typeface="微软雅黑"/>
                  <a:cs typeface="微软雅黑"/>
                  <a:sym typeface="微软雅黑"/>
                </a:rPr>
                <a:t>在</a:t>
              </a:r>
              <a:r>
                <a:rPr lang="en-US" b="false" i="false" strike="noStrike" u="none" sz="1300">
                  <a:solidFill>
                    <a:srgbClr val="1A1A1A"/>
                  </a:solidFill>
                  <a:latin typeface="Arial"/>
                  <a:ea typeface="Arial"/>
                  <a:cs typeface="Arial"/>
                  <a:sym typeface="Arial"/>
                </a:rPr>
                <a:t> FlagGems </a:t>
              </a:r>
              <a:r>
                <a:rPr lang="en-US" b="false" i="false" strike="noStrike" u="none" sz="1300">
                  <a:solidFill>
                    <a:srgbClr val="1A1A1A"/>
                  </a:solidFill>
                  <a:latin typeface="微软雅黑"/>
                  <a:ea typeface="微软雅黑"/>
                  <a:cs typeface="微软雅黑"/>
                  <a:sym typeface="微软雅黑"/>
                </a:rPr>
                <a:t>测试套件中验证结果正确性</a:t>
              </a:r>
              <a:endParaRPr lang="en-US" sz="1100"/>
            </a:p>
          </p:txBody>
        </p:sp>
        <p:sp>
          <p:nvSpPr>
            <p:cNvPr name="AutoShape 39" id="39"/>
            <p:cNvSpPr/>
            <p:nvPr/>
          </p:nvSpPr>
          <p:spPr>
            <a:xfrm rot="0" flipH="false" flipV="false">
              <a:off x="6312535" y="5011420"/>
              <a:ext cx="800100" cy="400050"/>
            </a:xfrm>
            <a:prstGeom prst="rect">
              <a:avLst/>
            </a:prstGeom>
            <a:noFill/>
            <a:ln w="12700">
              <a:noFill/>
              <a:prstDash val="solid"/>
            </a:ln>
          </p:spPr>
          <p:txBody>
            <a:bodyPr anchor="t" rtlCol="false" wrap="square" lIns="91440" rIns="91440" tIns="45720" bIns="45720">
              <a:normAutofit lnSpcReduction="0"/>
            </a:bodyPr>
            <a:lstStyle/>
            <a:p>
              <a:pPr algn="l" indent="0">
                <a:lnSpc>
                  <a:spcPct val="100000"/>
                </a:lnSpc>
                <a:defRPr/>
              </a:pPr>
              <a:r>
                <a:rPr lang="en-US" b="true" i="false" strike="noStrike" u="none" sz="1600">
                  <a:solidFill>
                    <a:srgbClr val="0D47A1"/>
                  </a:solidFill>
                  <a:latin typeface="Arial"/>
                  <a:ea typeface="Arial"/>
                  <a:cs typeface="Arial"/>
                  <a:sym typeface="Arial"/>
                </a:rPr>
                <a:t>Step 5</a:t>
              </a:r>
              <a:endParaRPr lang="en-US" sz="1100"/>
            </a:p>
          </p:txBody>
        </p:sp>
        <p:sp>
          <p:nvSpPr>
            <p:cNvPr name="AutoShape 40" id="40"/>
            <p:cNvSpPr/>
            <p:nvPr/>
          </p:nvSpPr>
          <p:spPr>
            <a:xfrm rot="0" flipH="false" flipV="false">
              <a:off x="7212330" y="5011420"/>
              <a:ext cx="3700145" cy="280035"/>
            </a:xfrm>
            <a:prstGeom prst="rect">
              <a:avLst/>
            </a:prstGeom>
            <a:noFill/>
            <a:ln w="12700">
              <a:noFill/>
              <a:prstDash val="solid"/>
            </a:ln>
          </p:spPr>
          <p:txBody>
            <a:bodyPr anchor="t" rtlCol="false" wrap="square" lIns="91440" rIns="91440" tIns="45720" bIns="45720">
              <a:normAutofit lnSpcReduction="10000"/>
            </a:bodyPr>
            <a:lstStyle/>
            <a:p>
              <a:pPr algn="l" indent="0">
                <a:lnSpc>
                  <a:spcPct val="100000"/>
                </a:lnSpc>
                <a:defRPr/>
              </a:pPr>
              <a:r>
                <a:rPr lang="en-US" b="false" i="false" strike="noStrike" u="none" sz="1300">
                  <a:solidFill>
                    <a:srgbClr val="1A1A1A"/>
                  </a:solidFill>
                  <a:latin typeface="微软雅黑"/>
                  <a:ea typeface="微软雅黑"/>
                  <a:cs typeface="微软雅黑"/>
                  <a:sym typeface="微软雅黑"/>
                </a:rPr>
                <a:t>提交</a:t>
              </a:r>
              <a:r>
                <a:rPr lang="en-US" b="false" i="false" strike="noStrike" u="none" sz="1300">
                  <a:solidFill>
                    <a:srgbClr val="1A1A1A"/>
                  </a:solidFill>
                  <a:latin typeface="Arial"/>
                  <a:ea typeface="Arial"/>
                  <a:cs typeface="Arial"/>
                  <a:sym typeface="Arial"/>
                </a:rPr>
                <a:t> PR</a:t>
              </a:r>
              <a:r>
                <a:rPr lang="en-US" b="false" i="false" strike="noStrike" u="none" sz="1300">
                  <a:solidFill>
                    <a:srgbClr val="1A1A1A"/>
                  </a:solidFill>
                  <a:latin typeface="微软雅黑"/>
                  <a:ea typeface="微软雅黑"/>
                  <a:cs typeface="微软雅黑"/>
                  <a:sym typeface="微软雅黑"/>
                </a:rPr>
                <a:t>，</a:t>
              </a:r>
              <a:r>
                <a:rPr lang="en-US" b="false" i="false" strike="noStrike" u="none" sz="1300">
                  <a:solidFill>
                    <a:srgbClr val="1A1A1A"/>
                  </a:solidFill>
                  <a:latin typeface="Arial"/>
                  <a:ea typeface="Arial"/>
                  <a:cs typeface="Arial"/>
                  <a:sym typeface="Arial"/>
                </a:rPr>
                <a:t>CI/CD </a:t>
              </a:r>
              <a:r>
                <a:rPr lang="en-US" b="false" i="false" strike="noStrike" u="none" sz="1300">
                  <a:solidFill>
                    <a:srgbClr val="1A1A1A"/>
                  </a:solidFill>
                  <a:latin typeface="微软雅黑"/>
                  <a:ea typeface="微软雅黑"/>
                  <a:cs typeface="微软雅黑"/>
                  <a:sym typeface="微软雅黑"/>
                </a:rPr>
                <a:t>自动回归测试</a:t>
              </a:r>
              <a:endParaRPr lang="en-US" sz="1100"/>
            </a:p>
          </p:txBody>
        </p:sp>
      </p:gr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