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767171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767171"/>
                </a:solidFill>
              </a:rPr>
              <a:t>这节课我们来学习向量计算基础，理解GPU kernel 执行模型和Triton编程模型。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我们为什么从向量加法开始？原因很简单：它是 GPU 编程中最经典的入门算子，每个元素的计算之间完全相互独立，天然适合并行。c[i] = a[i] + b[i]，对于每一个索引 i，将数组 A 和 B 的对应元素相加，结果写入数组 C。没有数据依赖，没有跨元素的通信，是最纯粹的"embarrassingly parallel"问题。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这一讲我们要解决四个核心问题：第一，如何把这个大规模向量运算分解为多个独立的并行子任务；第二，如何高效地访问 GPU 全局内存；第三，如何处理数据块边界——也就是越界控制；第四，用 Triton 如何优雅地表达这一切。这四个问题贯穿本讲全部内容。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在介绍具体代码之前，我们先来认识一下 Triton 这门语言。Triton 由 OpenAI 开源，是一种面向 GPU 的领域特定语言（DSL），采用 Python 风格的语法。它的核心设计目标只有一句话：性能接近 CUDA，开发成本接近 PyTorch。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Triton 的工作方式是：你用 Python 写出 Kernel 逻辑，Triton 的编译器自动将其转换为高性能的 GPU Kernel，无需手写 CUDA。它已经被广泛应用于 PyTorch 的深度学习框架中——很多 torch.compile 生成的 Kernel 底层就是 Triton。可以这样理解它的定位：CUDA 提供了最大的灵活性，但开发成本很高；PyTorch eager 模式开发成本最低，但性能有损；Triton 是中间那条路——兼顾性能与开发效率，是当前 AI 算子工程师的核心工具之一。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要理解 Triton 代码，最关键的是理解它的执行模型。Triton 中最基本的执行单元叫做 program。多个 program 组成一个 grid，每个 program 负责处理一个数据块。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与 CUDA 做个类比：CUDA 的 thread block 对应 Triton 的 program；CUDA 的 blockIdx 对应 Triton 的 program_id；CUDA 的 gridDim 对应 Triton 的 launch grid。这里有一个极其重要的概念差异：CUDA 的 thread block 里面有很多个 thread，每个 thread 处理一个标量元素；而 Triton 的 program 是以向量化方式操作数据的——一个 program 处理的是一个数据块，块内的所有元素并行计算。这个"向量操作 vs 标量操作"的差异，是理解 Triton 后续所有代码的关键。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好，现在我们来正式定义向量加法问题。给定两个向量 a 和 b，计算 c[i] = a[i] + b[i]，对所有 i 成立。并行策略分三步：第一，将整个向量按照固定大小 BLOCK_SIZE 划分为多个数据块；第二，每个 program 负责处理其中一个数据块；第三，块内的元素并行计算。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这个分块策略是 GPU 编程中的通用范式，后续不管是矩阵乘法还是 Softmax，都是这套思路的变体。这张图非常直观地展示了向量被切割成若干块、每块由一个并行单元独立处理的过程，大家可以结合图示理解分块的物理含义。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现在来看 Triton 官方的 Kernel 实现代码，请大家跟着我逐行分析。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装饰器 @triton.jit 告诉 Triton 编译器：这是一个需要编译为 GPU Kernel 的函数。函数接收三个指针 x_ptr、y_ptr、output_ptr，整数 n_elements 表示向量总长度，以及编译时常量 BLOCK_SIZE（类型 tl.constexpr）。第一行：pid = tl.program_id(axis=0)，获取当前 progam 编号。第二行：block_start = pid * BLOCK_SIZE，计算当前块的起始索引。第三行：offsets = block_start + tl.arange(0, BLOCK_SIZE)，生成全局偏移量数组。第四行：mask = offsets &lt; n_elements，生成越界防护布尔数组。然后 tl.load 读数据，执行加法，tl.store 写回结果。整个逻辑清晰，六个步骤对应六行代码。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我们来仔细看 tl.program_id 这个 API。pid = tl.program_id(axis=0) 返回当前 program 在 grid 第 0 维的编号，从 0 开始计数。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Grid 中的 program 分布如图所示：program 0 处理数据块 0，program 1 处理数据块 1，以此类推。所有 program 同时在 GPU 上并行执行。这里 axis=0 表示第一个维度，对于一维 grid 来说只有这一个维度。后面讲矩阵乘法时会用到二维 grid，届时会有 axis=0 和 axis=1 分别对应行方向和列方向。pid 的作用就是"让每个 program 知道自己是谁"，从而计算出自己负责的数据范围，这是 GPU 并行编程中最基础的模式。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理解了 pid 之后，我们来看偏移量（offset）的计算。代码分两步：第一步，block_start = pid * BLOCK_SIZE，计算当前块的起始全局索引；第二步，offsets = block_start + tl.arange(0, BLOCK_SIZE)，生成包含所有全局索引的数组。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tl.arange(0, BLOCK_SIZE) 生成 [0, 1, 2, ..., BLOCK_SIZE-1] 这个局部索引数组，加上 block_start 就得到全局索引。以 BLOCK_SIZE=256 为例：program 0 的 block_start=0，offsets=[0..255]，处理元素 0 到 255；program 1 的 block_start=256，offsets=[256..511]；program 2 的 block_start=512，offsets=[512..767]。每个 program 独立处理不重叠的数据范围，这就是并行划分的本质。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这一页对比 CUDA 和 Triton 的操作粒度，帮助大家理解 Triton 的向量化思维。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在 CUDA 中，每个线程处理一个标量：idx = blockIdx.x * blockDim.x + threadIdx.x 得到单一元素索引，读取一个 float，写入一个 float。在 Triton 中，每个 program 处理一个向量：offsets = block_start + tl.arange(0, BLOCK) 得到整个偏移量数组，x = tl.load(ptr + offsets) 一次读取 BLOCK_SIZE 个元素，x * 2.0 是逐元素向量乘法，tl.store 一次写入 BLOCK_SIZE 个元素。tl.arange 是 Triton 向量化的核心原语——生成连续整数数组，配合指针运算，实现对一段连续内存的向量化访问。记住：Triton 操作的基本单元是 tensor，而不是单个标量。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现在我们来讲越界防护——mask 机制，这是 GPU 编程中非常重要的安全保障。
问题来源：向量长度 n_elements 不一定是 BLOCK_SIZE 的整数倍。最后一个数据块可能只有部分元素是有效的，其余偏移量会超过 n_elements，如果不加保护，tl.load 和 tl.store 就会访问非法内存地址。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解决方案：mask = offsets &lt; n_elements，生成一个布尔数组。当 offsets &lt; n_elements 时 mask 为 True，load 正常读取，store 正常写入；当 offsets &gt;= n_elements 时 mask 为 False，load 不访问内存，store 不写入内存。一句话总结：mask 机制使得边界处理从程序员的显式责任变成了 Triton 的自动保障，代码更安全也更简洁。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我们通过一个具体数字例子来验证 mask 的工作原理。假设 n_elements=1000，BLOCK_SIZE=1024，那么只有一个 program（program_id=0）处理全部 1000 个元素。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offsets 数组是 [0, 1, 2, ..., 999, 1000, 1001, ..., 1023]，共 1024 个元素。mask = offsets &lt; 1000，所以 offsets 0 到 999 对应的 mask 值为 True，offsets 1000 到 1023 对应的 mask 值为 False。结果：只有索引 0 到 999 的位置会被实际读写，超出向量长度的 24 个位置被 mask 屏蔽，不进行任何内存访问。这保证了程序的正确性与内存安全性。大家可以在练习代码中故意去掉 mask，观察会发生什么——这是很好的理解方式。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下面详细介绍 tl.load 这个 API。x = tl.load(x_ptr + offsets, mask=mask) 的功能是：从以 x_ptr 为基地址、offsets 为偏移的内存地址数组中，批量读取数据，返回一个 tensor。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核心特性有三点：向量化读取（一次读取多个元素）、支持 mask（条件读取，mask 为 False 的位置不访问内存）、返回 tensor（可直接进行向量化运算）。完整参数中还有：other 参数是当 mask 为 False 时的填充值，默认为 0；cache_modifier 控制缓存策略，比如 ".ca" 表示缓存到 L1，".cg" 表示仅缓存到 L2。在做高性能 Kernel 开发时，合理选择 cache_modifier 能显著影响访问效率，这是进阶优化的方向。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与 tl.load 对应，tl.store 负责将结果写回全局内存。tl.store(output_ptr + offsets, output, mask=mask)：将 tensor output 中的数据，写入以 output_ptr 为基地址、offsets 为偏移的内存地址，mask 为 False 的位置不进行写入。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有一个关键提示：store 操作必须带 mask，否则一旦存在越界地址，轻则数据损坏，重则程序崩溃。这是 GPU 编程中非常容易踩坑的地方。tl.load 和 tl.store 是 Triton 中所有内存访问的基础原语，后续更复杂的 Kernel 中都会频繁使用它们。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Kernel 写完了，下一步是定义 grid 并启动 Kernel。grid 是一个 tuple，表示各维度上 program 的数量。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对于一维 grid：grid = lambda meta: (triton.cdiv(n_elements, meta['BLOCK_SIZE']),)。triton.cdiv(a, b) 是向上取整除法，等价于 ceil(a/b)。以 n_elements=10000、BLOCK_SIZE=1024 为例：ceil(10000/1024)=10，grid=(10,)，共启动 10 个 program。以 n_elements=5000、BLOCK_SIZE=256 为例：ceil(5000/256)=20，grid=(20,)，共启动 20 个 program。启动 Kernel 的语法是 add_kernel[grid](...)，下一页我们会详细解释这个方括号语法。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最后看启动语法：add_kernel[grid](x_ptr, y_ptr, output_ptr, n_elements)。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方括号 [grid] 的作用是指定 launch grid，即告诉 GPU 启动多少个 program。圆括号 (...) 的作用是传入 Kernel 的实际参数并触发执行。从 Python 语言机制层面来说，Triton 重载了 Python 的 __getitem__ 方法：kernel[grid] 等价于 kernel.__getitem__(grid)，返回配置好 grid 的可调用对象；再加上 (...) 调用，完成 Kernel 启动。初学者只需记住：方括号配置 grid，圆括号传参数，这就是 Triton Kernel 的启动方式。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最后看启动语法：add_kernel[grid](x_ptr, y_ptr, output_ptr, n_elements)。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方括号 [grid] 的作用是指定 launch grid，即告诉 GPU 启动多少个 program。圆括号 (...) 的作用是传入 Kernel 的实际参数并触发执行。从 Python 语言机制层面来说，Triton 重载了 Python 的 __getitem__ 方法：kernel[grid] 等价于 kernel.__getitem__(grid)，返回配置好 grid 的可调用对象；再加上 (...) 调用，完成 Kernel 启动。初学者只需记住：方括号配置 grid，圆括号传参数，这就是 Triton Kernel 的启动方式。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我们来做一个 Triton 与 CUDA 的全面对比，帮助大家建立对两种编程模型的系统性认识。
CUDA 方面：需要手动管理 thread、block、grid 三个层次，每个 thread 处理一个标量元素，需要显式进行边界检查。代码相对繁琐但控制力最强。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Triton 方面：以 program 为单位，屏蔽了 thread 层次的细节，编译器自动管理；向量化操作，一个 program 一次处理多个元素；mask 机制自动处理边界，代码更简洁。从工程角度看，这种抽象层次的提升是有代价的：你对 thread 级别的调度失去了直接控制。但对于大多数 AI 算子来说，这种控制并不必要，Triton 的自动优化已经足够好。这就是为什么 Triton 正在成为 AI 算子开发的主流工具。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Triton 的性能表现如何？官方 Benchmark 数据显示：在向量加法等访存密集型算子上，Triton 的性能可以达到手写 CUDA 的 95% 到 100%，显著优于 PyTorch eager 模式的 60% 到 80%。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这背后的原因是 Triton 编译器会自动进行多项优化：内存访问合并（Memory Coalescing）、向量化、适当的缓存策略等。对于开发者来说，你只需要关注算法逻辑，底层优化交给编译器。建议大家课后访问 Triton 官方教程页面，查看更详细的性能对比数据：https://triton-lang.org/main/getting-started/tutorials/01-vector-add.html。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这一页用流程图总结了 Vector Add Kernel 的执行步骤，我们来快速串联一遍：
第一步，tl.program_id(axis=0) 获取当前 program 编号 pid；第二步，block_start = pid * BLOCK_SIZE 计算块的起始位置；第三步，offsets = block_start + tl.arange(0, BLOCK_SIZE) 生成全局偏移量数组；第四步，mask = offsets &lt; n_elements 生成越界防护 mask；第五步，tl.load 从全局内存加载 x 和 y；第六步，output = x + y 执行向量加法；第七步，tl.store 将结果写回全局内存。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这七步是一个典型 Triton Kernel 的标准模板，大家要能够不看代码默写出这个流程。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最后我们来梳理本讲的核心概念，共八个，分为执行模型和内存操作两组。
执行模型组：program 是 Triton 的基本执行单元，对应 CUDA 的 thread block；program_id 是当前 program 在 grid 中的编号，类似 blockIdx.x；grid 是 program 的集合，定义并行规模；BLOCK_SIZE 是每个 program 处理的元素数量，是编译时常量。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内存操作组：tl.arange 生成向量索引，实现向量化操作；mask 是布尔数组，控制内存访问，防止越界；tl.load 从全局内存读取数据，支持 mask 和向量化；tl.store 向全局内存写入数据，支持 mask 保护。这八个概念构成了 Triton 编程的基础词汇，请大家牢固掌握。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本讲到此结束。掌握了 Vector Add 之后，推荐大家按照以下路径继续深入学习。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进阶算子方面：矩阵乘法（MatMul）涉及共享内存和分块计算；Softmax 涉及归约操作和数值稳定性；LayerNorm 涉及统计量计算和广播；Flash Attention 是高级内存优化的代表，也是目前工业界最重要的 Kernel 之一。学习资源方面：Triton 官方文档、官方教程、GitHub 仓库都是权威资料。最后一句话：从 Vector Add 出发，每多掌握一个算子，你对 GPU 计算的理解就加深一层。下节课我们将进入矩阵乘法优化，那才是 GPU 计算的真正主战场。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8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15.jpe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1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6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：向量计算基础</a:t>
            </a:r>
            <a:b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(Vector Add)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5528" y="60937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从Vector Add 开始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471854" y="2202376"/>
            <a:ext cx="5486400" cy="2597944"/>
            <a:chOff x="6471854" y="2202376"/>
            <a:chExt cx="5486400" cy="2597944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6518271" y="2202376"/>
              <a:ext cx="445602" cy="457200"/>
            </a:xfrm>
            <a:custGeom>
              <a:avLst/>
              <a:gdLst/>
              <a:ahLst/>
              <a:cxnLst/>
              <a:rect r="r" b="b" t="t" l="l"/>
              <a:pathLst>
                <a:path h="457200" w="445602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6471854" y="2202376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7112336" y="2202376"/>
              <a:ext cx="4845918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并行任务划分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7112336" y="2545273"/>
              <a:ext cx="4496025" cy="5619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将大规模向量加法运算分解为多个独立的子任务，每个子任务处理一部分数据</a:t>
              </a:r>
              <a:endParaRPr lang="en-US" sz="1100"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6518271" y="3331100"/>
              <a:ext cx="445602" cy="457200"/>
            </a:xfrm>
            <a:custGeom>
              <a:avLst/>
              <a:gdLst/>
              <a:ahLst/>
              <a:cxnLst/>
              <a:rect r="r" b="b" t="t" l="l"/>
              <a:pathLst>
                <a:path h="457200" w="445602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6471854" y="3331100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7112336" y="3331100"/>
              <a:ext cx="387116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全局内存访问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7112336" y="3673997"/>
              <a:ext cx="4164631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理解 GPU 全局内存的读写模式，优化内存访问效率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518271" y="4181197"/>
              <a:ext cx="445602" cy="457200"/>
            </a:xfrm>
            <a:custGeom>
              <a:avLst/>
              <a:gdLst/>
              <a:ahLst/>
              <a:cxnLst/>
              <a:rect r="r" b="b" t="t" l="l"/>
              <a:pathLst>
                <a:path h="457200" w="445602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471854" y="4181197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3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7112336" y="4181197"/>
              <a:ext cx="310064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越界控制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7112336" y="4524095"/>
              <a:ext cx="3091361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处理数据块边界情况，确保程序安全运行</a:t>
              </a:r>
              <a:endParaRPr lang="en-US" sz="110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494462" y="2084135"/>
            <a:ext cx="5486400" cy="2924175"/>
            <a:chOff x="494462" y="2084135"/>
            <a:chExt cx="5486400" cy="2924175"/>
          </a:xfrm>
        </p:grpSpPr>
        <p:sp>
          <p:nvSpPr>
            <p:cNvPr name="Freeform 17" id="17"/>
            <p:cNvSpPr/>
            <p:nvPr/>
          </p:nvSpPr>
          <p:spPr>
            <a:xfrm rot="0" flipH="false" flipV="false">
              <a:off x="494462" y="2084135"/>
              <a:ext cx="5486400" cy="2924175"/>
            </a:xfrm>
            <a:custGeom>
              <a:avLst/>
              <a:gdLst/>
              <a:ahLst/>
              <a:cxnLst/>
              <a:rect r="r" b="b" t="t" l="l"/>
              <a:pathLst>
                <a:path h="2924175" w="5486400">
                  <a:moveTo>
                    <a:pt x="114306" y="0"/>
                  </a:moveTo>
                  <a:lnTo>
                    <a:pt x="5372094" y="0"/>
                  </a:lnTo>
                  <a:cubicBezTo>
                    <a:pt x="5435223" y="0"/>
                    <a:pt x="5486400" y="51177"/>
                    <a:pt x="5486400" y="114306"/>
                  </a:cubicBezTo>
                  <a:lnTo>
                    <a:pt x="5486400" y="2809869"/>
                  </a:lnTo>
                  <a:cubicBezTo>
                    <a:pt x="5486400" y="2872998"/>
                    <a:pt x="5435223" y="2924175"/>
                    <a:pt x="5372094" y="2924175"/>
                  </a:cubicBezTo>
                  <a:lnTo>
                    <a:pt x="114306" y="2924175"/>
                  </a:lnTo>
                  <a:cubicBezTo>
                    <a:pt x="51177" y="2924175"/>
                    <a:pt x="0" y="2872998"/>
                    <a:pt x="0" y="2809869"/>
                  </a:cubicBezTo>
                  <a:lnTo>
                    <a:pt x="0" y="114306"/>
                  </a:lnTo>
                  <a:cubicBezTo>
                    <a:pt x="0" y="51177"/>
                    <a:pt x="51177" y="0"/>
                    <a:pt x="114306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2951962" y="2387002"/>
              <a:ext cx="571500" cy="575295"/>
            </a:xfrm>
            <a:custGeom>
              <a:avLst/>
              <a:gdLst/>
              <a:ahLst/>
              <a:cxnLst/>
              <a:rect r="r" b="b" t="t" l="l"/>
              <a:pathLst>
                <a:path h="575295" w="571500">
                  <a:moveTo>
                    <a:pt x="259519" y="7701"/>
                  </a:moveTo>
                  <a:cubicBezTo>
                    <a:pt x="276151" y="0"/>
                    <a:pt x="295349" y="0"/>
                    <a:pt x="311981" y="7701"/>
                  </a:cubicBezTo>
                  <a:lnTo>
                    <a:pt x="555984" y="120439"/>
                  </a:lnTo>
                  <a:cubicBezTo>
                    <a:pt x="565473" y="124792"/>
                    <a:pt x="571500" y="134281"/>
                    <a:pt x="571500" y="144772"/>
                  </a:cubicBezTo>
                  <a:cubicBezTo>
                    <a:pt x="571500" y="155263"/>
                    <a:pt x="565473" y="164752"/>
                    <a:pt x="555984" y="169105"/>
                  </a:cubicBezTo>
                  <a:lnTo>
                    <a:pt x="311981" y="281843"/>
                  </a:lnTo>
                  <a:cubicBezTo>
                    <a:pt x="295349" y="289544"/>
                    <a:pt x="276151" y="289544"/>
                    <a:pt x="259519" y="281843"/>
                  </a:cubicBezTo>
                  <a:lnTo>
                    <a:pt x="15516" y="169105"/>
                  </a:lnTo>
                  <a:cubicBezTo>
                    <a:pt x="6027" y="164641"/>
                    <a:pt x="0" y="155153"/>
                    <a:pt x="0" y="144772"/>
                  </a:cubicBezTo>
                  <a:cubicBezTo>
                    <a:pt x="0" y="134391"/>
                    <a:pt x="6027" y="124792"/>
                    <a:pt x="15516" y="120439"/>
                  </a:cubicBezTo>
                  <a:lnTo>
                    <a:pt x="259519" y="7701"/>
                  </a:lnTo>
                  <a:close/>
                  <a:moveTo>
                    <a:pt x="53691" y="245677"/>
                  </a:moveTo>
                  <a:lnTo>
                    <a:pt x="237084" y="330398"/>
                  </a:lnTo>
                  <a:cubicBezTo>
                    <a:pt x="268002" y="344685"/>
                    <a:pt x="303609" y="344685"/>
                    <a:pt x="334528" y="330398"/>
                  </a:cubicBezTo>
                  <a:lnTo>
                    <a:pt x="517923" y="245677"/>
                  </a:lnTo>
                  <a:lnTo>
                    <a:pt x="555984" y="263314"/>
                  </a:lnTo>
                  <a:cubicBezTo>
                    <a:pt x="565473" y="267667"/>
                    <a:pt x="571500" y="277156"/>
                    <a:pt x="571500" y="287647"/>
                  </a:cubicBezTo>
                  <a:cubicBezTo>
                    <a:pt x="571500" y="298138"/>
                    <a:pt x="565473" y="307627"/>
                    <a:pt x="555984" y="311980"/>
                  </a:cubicBezTo>
                  <a:lnTo>
                    <a:pt x="311981" y="424718"/>
                  </a:lnTo>
                  <a:cubicBezTo>
                    <a:pt x="295349" y="432419"/>
                    <a:pt x="276151" y="432419"/>
                    <a:pt x="259519" y="424718"/>
                  </a:cubicBezTo>
                  <a:lnTo>
                    <a:pt x="15516" y="311980"/>
                  </a:lnTo>
                  <a:cubicBezTo>
                    <a:pt x="6027" y="307516"/>
                    <a:pt x="0" y="298028"/>
                    <a:pt x="0" y="287647"/>
                  </a:cubicBezTo>
                  <a:cubicBezTo>
                    <a:pt x="0" y="277266"/>
                    <a:pt x="6027" y="267667"/>
                    <a:pt x="15516" y="263314"/>
                  </a:cubicBezTo>
                  <a:lnTo>
                    <a:pt x="53577" y="245677"/>
                  </a:lnTo>
                  <a:close/>
                  <a:moveTo>
                    <a:pt x="15516" y="406189"/>
                  </a:moveTo>
                  <a:lnTo>
                    <a:pt x="53577" y="388552"/>
                  </a:lnTo>
                  <a:lnTo>
                    <a:pt x="236972" y="473273"/>
                  </a:lnTo>
                  <a:cubicBezTo>
                    <a:pt x="267891" y="487560"/>
                    <a:pt x="303498" y="487560"/>
                    <a:pt x="334416" y="473273"/>
                  </a:cubicBezTo>
                  <a:lnTo>
                    <a:pt x="517809" y="388552"/>
                  </a:lnTo>
                  <a:lnTo>
                    <a:pt x="555873" y="406189"/>
                  </a:lnTo>
                  <a:cubicBezTo>
                    <a:pt x="565361" y="410542"/>
                    <a:pt x="571388" y="420031"/>
                    <a:pt x="571388" y="430522"/>
                  </a:cubicBezTo>
                  <a:cubicBezTo>
                    <a:pt x="571388" y="441013"/>
                    <a:pt x="565361" y="450502"/>
                    <a:pt x="555873" y="454855"/>
                  </a:cubicBezTo>
                  <a:lnTo>
                    <a:pt x="311869" y="567593"/>
                  </a:lnTo>
                  <a:cubicBezTo>
                    <a:pt x="295238" y="575294"/>
                    <a:pt x="276040" y="575294"/>
                    <a:pt x="259406" y="567593"/>
                  </a:cubicBezTo>
                  <a:lnTo>
                    <a:pt x="15516" y="454855"/>
                  </a:lnTo>
                  <a:cubicBezTo>
                    <a:pt x="6027" y="450391"/>
                    <a:pt x="0" y="440903"/>
                    <a:pt x="0" y="430522"/>
                  </a:cubicBezTo>
                  <a:cubicBezTo>
                    <a:pt x="0" y="420141"/>
                    <a:pt x="6027" y="410542"/>
                    <a:pt x="15516" y="406189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742076" y="3206195"/>
              <a:ext cx="49911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向量加法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56364" y="3663268"/>
              <a:ext cx="4962525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GPU 编程最经典的入门算子，每个元素的计算相互独立</a:t>
              </a:r>
              <a:endParaRPr lang="en-US" sz="1100"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818181" y="4170468"/>
              <a:ext cx="4857655" cy="533400"/>
            </a:xfrm>
            <a:custGeom>
              <a:avLst/>
              <a:gdLst/>
              <a:ahLst/>
              <a:cxnLst/>
              <a:rect r="r" b="b" t="t" l="l"/>
              <a:pathLst>
                <a:path h="533400" w="4857655">
                  <a:moveTo>
                    <a:pt x="37909" y="0"/>
                  </a:moveTo>
                  <a:lnTo>
                    <a:pt x="4781453" y="0"/>
                  </a:lnTo>
                  <a:cubicBezTo>
                    <a:pt x="4823539" y="0"/>
                    <a:pt x="4857655" y="34117"/>
                    <a:pt x="4857655" y="76203"/>
                  </a:cubicBezTo>
                  <a:lnTo>
                    <a:pt x="4857655" y="457197"/>
                  </a:lnTo>
                  <a:cubicBezTo>
                    <a:pt x="4857655" y="499283"/>
                    <a:pt x="4823539" y="533400"/>
                    <a:pt x="4781453" y="533400"/>
                  </a:cubicBezTo>
                  <a:lnTo>
                    <a:pt x="37909" y="533400"/>
                  </a:lnTo>
                  <a:cubicBezTo>
                    <a:pt x="16974" y="533400"/>
                    <a:pt x="0" y="516426"/>
                    <a:pt x="0" y="4954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818181" y="4170468"/>
              <a:ext cx="37909" cy="533400"/>
            </a:xfrm>
            <a:custGeom>
              <a:avLst/>
              <a:gdLst/>
              <a:ahLst/>
              <a:cxnLst/>
              <a:rect r="r" b="b" t="t" l="l"/>
              <a:pathLst>
                <a:path h="5334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533400"/>
                  </a:lnTo>
                  <a:lnTo>
                    <a:pt x="37909" y="533400"/>
                  </a:lnTo>
                  <a:cubicBezTo>
                    <a:pt x="16974" y="533400"/>
                    <a:pt x="0" y="516426"/>
                    <a:pt x="0" y="4954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989519" y="4322850"/>
              <a:ext cx="46101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c[i] = a[i] + b[i]</a:t>
              </a:r>
              <a:endParaRPr lang="en-US" sz="1100"/>
            </a:p>
          </p:txBody>
        </p:sp>
      </p:grpSp>
      <p:sp>
        <p:nvSpPr>
          <p:cNvPr name="AutoShape 24" id="24"/>
          <p:cNvSpPr/>
          <p:nvPr/>
        </p:nvSpPr>
        <p:spPr>
          <a:xfrm rot="0" flipH="false" flipV="false">
            <a:off x="989519" y="4717750"/>
            <a:ext cx="6140368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67171"/>
                </a:solidFill>
                <a:latin typeface="微软雅黑"/>
                <a:ea typeface="微软雅黑"/>
                <a:cs typeface="微软雅黑"/>
                <a:sym typeface="微软雅黑"/>
              </a:rPr>
              <a:t>对于每个索引 i，将数组 A 和 B 的对应元素相加，结果存入数组 C</a:t>
            </a:r>
            <a:endParaRPr lang="en-US" sz="1100"/>
          </a:p>
        </p:txBody>
      </p:sp>
      <p:sp>
        <p:nvSpPr>
          <p:cNvPr name="AutoShape 25" id="25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00080" y="629177"/>
            <a:ext cx="3724639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Triton 是什么？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4580898" y="1500393"/>
            <a:ext cx="3030203" cy="1295317"/>
            <a:chOff x="4580898" y="1500393"/>
            <a:chExt cx="3030203" cy="1295317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4629166" y="1500393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4934516" y="1806487"/>
              <a:ext cx="303855" cy="303521"/>
            </a:xfrm>
            <a:custGeom>
              <a:avLst/>
              <a:gdLst/>
              <a:ahLst/>
              <a:cxnLst/>
              <a:rect r="r" b="b" t="t" l="l"/>
              <a:pathLst>
                <a:path h="303521" w="303855">
                  <a:moveTo>
                    <a:pt x="296354" y="113921"/>
                  </a:moveTo>
                  <a:cubicBezTo>
                    <a:pt x="291197" y="93227"/>
                    <a:pt x="281419" y="77621"/>
                    <a:pt x="260590" y="77621"/>
                  </a:cubicBezTo>
                  <a:lnTo>
                    <a:pt x="233734" y="77621"/>
                  </a:lnTo>
                  <a:lnTo>
                    <a:pt x="233734" y="109366"/>
                  </a:lnTo>
                  <a:cubicBezTo>
                    <a:pt x="233734" y="134013"/>
                    <a:pt x="212839" y="154774"/>
                    <a:pt x="188997" y="154774"/>
                  </a:cubicBezTo>
                  <a:lnTo>
                    <a:pt x="117469" y="154774"/>
                  </a:lnTo>
                  <a:cubicBezTo>
                    <a:pt x="97914" y="154774"/>
                    <a:pt x="81706" y="171518"/>
                    <a:pt x="81706" y="191140"/>
                  </a:cubicBezTo>
                  <a:lnTo>
                    <a:pt x="81706" y="259319"/>
                  </a:lnTo>
                  <a:cubicBezTo>
                    <a:pt x="81706" y="278741"/>
                    <a:pt x="98583" y="290126"/>
                    <a:pt x="117469" y="295686"/>
                  </a:cubicBezTo>
                  <a:cubicBezTo>
                    <a:pt x="140107" y="302315"/>
                    <a:pt x="161872" y="303521"/>
                    <a:pt x="188997" y="295686"/>
                  </a:cubicBezTo>
                  <a:cubicBezTo>
                    <a:pt x="207012" y="290461"/>
                    <a:pt x="224760" y="279946"/>
                    <a:pt x="224760" y="259319"/>
                  </a:cubicBezTo>
                  <a:lnTo>
                    <a:pt x="224760" y="232061"/>
                  </a:lnTo>
                  <a:lnTo>
                    <a:pt x="153300" y="232061"/>
                  </a:lnTo>
                  <a:lnTo>
                    <a:pt x="153300" y="222953"/>
                  </a:lnTo>
                  <a:lnTo>
                    <a:pt x="260590" y="222953"/>
                  </a:lnTo>
                  <a:cubicBezTo>
                    <a:pt x="281419" y="222953"/>
                    <a:pt x="289121" y="208420"/>
                    <a:pt x="296354" y="186654"/>
                  </a:cubicBezTo>
                  <a:cubicBezTo>
                    <a:pt x="303855" y="164218"/>
                    <a:pt x="303521" y="142652"/>
                    <a:pt x="296354" y="113921"/>
                  </a:cubicBezTo>
                  <a:close/>
                  <a:moveTo>
                    <a:pt x="193484" y="277467"/>
                  </a:moveTo>
                  <a:cubicBezTo>
                    <a:pt x="188388" y="277826"/>
                    <a:pt x="183516" y="275308"/>
                    <a:pt x="180858" y="270945"/>
                  </a:cubicBezTo>
                  <a:cubicBezTo>
                    <a:pt x="178201" y="266581"/>
                    <a:pt x="178201" y="261098"/>
                    <a:pt x="180858" y="256733"/>
                  </a:cubicBezTo>
                  <a:cubicBezTo>
                    <a:pt x="183516" y="252370"/>
                    <a:pt x="188388" y="249853"/>
                    <a:pt x="193484" y="250211"/>
                  </a:cubicBezTo>
                  <a:cubicBezTo>
                    <a:pt x="198581" y="249853"/>
                    <a:pt x="203452" y="252370"/>
                    <a:pt x="206109" y="256733"/>
                  </a:cubicBezTo>
                  <a:cubicBezTo>
                    <a:pt x="208767" y="261098"/>
                    <a:pt x="208767" y="266581"/>
                    <a:pt x="206109" y="270945"/>
                  </a:cubicBezTo>
                  <a:cubicBezTo>
                    <a:pt x="203452" y="275308"/>
                    <a:pt x="198581" y="277826"/>
                    <a:pt x="193484" y="277467"/>
                  </a:cubicBezTo>
                  <a:close/>
                  <a:moveTo>
                    <a:pt x="114188" y="145800"/>
                  </a:moveTo>
                  <a:lnTo>
                    <a:pt x="185715" y="145800"/>
                  </a:lnTo>
                  <a:cubicBezTo>
                    <a:pt x="205606" y="145800"/>
                    <a:pt x="221479" y="129392"/>
                    <a:pt x="221479" y="109434"/>
                  </a:cubicBezTo>
                  <a:lnTo>
                    <a:pt x="221479" y="41189"/>
                  </a:lnTo>
                  <a:cubicBezTo>
                    <a:pt x="221479" y="21767"/>
                    <a:pt x="205138" y="7234"/>
                    <a:pt x="185715" y="3953"/>
                  </a:cubicBezTo>
                  <a:cubicBezTo>
                    <a:pt x="161739" y="0"/>
                    <a:pt x="135686" y="202"/>
                    <a:pt x="114188" y="4019"/>
                  </a:cubicBezTo>
                  <a:cubicBezTo>
                    <a:pt x="83916" y="9377"/>
                    <a:pt x="78425" y="20560"/>
                    <a:pt x="78425" y="41256"/>
                  </a:cubicBezTo>
                  <a:lnTo>
                    <a:pt x="78425" y="68514"/>
                  </a:lnTo>
                  <a:lnTo>
                    <a:pt x="150018" y="68514"/>
                  </a:lnTo>
                  <a:lnTo>
                    <a:pt x="150018" y="77621"/>
                  </a:lnTo>
                  <a:lnTo>
                    <a:pt x="51569" y="77621"/>
                  </a:lnTo>
                  <a:cubicBezTo>
                    <a:pt x="30740" y="77621"/>
                    <a:pt x="12524" y="90146"/>
                    <a:pt x="6831" y="113921"/>
                  </a:cubicBezTo>
                  <a:cubicBezTo>
                    <a:pt x="267" y="141179"/>
                    <a:pt x="0" y="158190"/>
                    <a:pt x="6831" y="186654"/>
                  </a:cubicBezTo>
                  <a:cubicBezTo>
                    <a:pt x="11921" y="207817"/>
                    <a:pt x="24043" y="222953"/>
                    <a:pt x="44871" y="222953"/>
                  </a:cubicBezTo>
                  <a:lnTo>
                    <a:pt x="69449" y="222953"/>
                  </a:lnTo>
                  <a:lnTo>
                    <a:pt x="69449" y="190271"/>
                  </a:lnTo>
                  <a:cubicBezTo>
                    <a:pt x="69449" y="166629"/>
                    <a:pt x="89877" y="145800"/>
                    <a:pt x="114188" y="145800"/>
                  </a:cubicBezTo>
                  <a:close/>
                  <a:moveTo>
                    <a:pt x="109768" y="22972"/>
                  </a:moveTo>
                  <a:cubicBezTo>
                    <a:pt x="117308" y="22972"/>
                    <a:pt x="123430" y="29094"/>
                    <a:pt x="123430" y="36635"/>
                  </a:cubicBezTo>
                  <a:cubicBezTo>
                    <a:pt x="123430" y="44175"/>
                    <a:pt x="117308" y="50297"/>
                    <a:pt x="109768" y="50297"/>
                  </a:cubicBezTo>
                  <a:cubicBezTo>
                    <a:pt x="102227" y="50297"/>
                    <a:pt x="96106" y="44175"/>
                    <a:pt x="96106" y="36635"/>
                  </a:cubicBezTo>
                  <a:cubicBezTo>
                    <a:pt x="96106" y="29094"/>
                    <a:pt x="102227" y="22972"/>
                    <a:pt x="109768" y="229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4580898" y="2529010"/>
              <a:ext cx="1009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Python DSL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5853703" y="1957540"/>
              <a:ext cx="51435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91666"/>
                </a:lnSpc>
                <a:defRPr/>
              </a:pPr>
              <a:r>
                <a:rPr lang="en-US" b="false" i="false" strike="noStrike" u="none" sz="2700">
                  <a:solidFill>
                    <a:srgbClr val="D1D5DC"/>
                  </a:solidFill>
                  <a:latin typeface="MiSans"/>
                  <a:ea typeface="MiSans"/>
                  <a:cs typeface="MiSans"/>
                  <a:sym typeface="MiSans"/>
                </a:rPr>
                <a:t>→</a:t>
              </a:r>
              <a:endParaRPr lang="en-US" sz="1100"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6579259" y="1500393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1E2939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864985" y="1786128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117873" y="16073"/>
                  </a:moveTo>
                  <a:cubicBezTo>
                    <a:pt x="117873" y="7167"/>
                    <a:pt x="110706" y="0"/>
                    <a:pt x="101798" y="0"/>
                  </a:cubicBezTo>
                  <a:cubicBezTo>
                    <a:pt x="92892" y="0"/>
                    <a:pt x="85725" y="7167"/>
                    <a:pt x="85725" y="16073"/>
                  </a:cubicBezTo>
                  <a:lnTo>
                    <a:pt x="85725" y="42862"/>
                  </a:lnTo>
                  <a:cubicBezTo>
                    <a:pt x="62084" y="42862"/>
                    <a:pt x="42862" y="62084"/>
                    <a:pt x="42862" y="85725"/>
                  </a:cubicBezTo>
                  <a:lnTo>
                    <a:pt x="16073" y="85725"/>
                  </a:lnTo>
                  <a:cubicBezTo>
                    <a:pt x="7167" y="85725"/>
                    <a:pt x="0" y="92892"/>
                    <a:pt x="0" y="101798"/>
                  </a:cubicBezTo>
                  <a:cubicBezTo>
                    <a:pt x="0" y="110706"/>
                    <a:pt x="7167" y="117873"/>
                    <a:pt x="16073" y="117873"/>
                  </a:cubicBezTo>
                  <a:lnTo>
                    <a:pt x="42862" y="117873"/>
                  </a:lnTo>
                  <a:lnTo>
                    <a:pt x="42862" y="155377"/>
                  </a:lnTo>
                  <a:lnTo>
                    <a:pt x="16073" y="155377"/>
                  </a:lnTo>
                  <a:cubicBezTo>
                    <a:pt x="7167" y="155377"/>
                    <a:pt x="0" y="162543"/>
                    <a:pt x="0" y="171450"/>
                  </a:cubicBezTo>
                  <a:cubicBezTo>
                    <a:pt x="0" y="180357"/>
                    <a:pt x="7167" y="187523"/>
                    <a:pt x="16073" y="187523"/>
                  </a:cubicBezTo>
                  <a:lnTo>
                    <a:pt x="42862" y="187523"/>
                  </a:lnTo>
                  <a:lnTo>
                    <a:pt x="42862" y="225027"/>
                  </a:lnTo>
                  <a:lnTo>
                    <a:pt x="16073" y="225027"/>
                  </a:lnTo>
                  <a:cubicBezTo>
                    <a:pt x="7167" y="225027"/>
                    <a:pt x="0" y="232194"/>
                    <a:pt x="0" y="241102"/>
                  </a:cubicBezTo>
                  <a:cubicBezTo>
                    <a:pt x="0" y="250008"/>
                    <a:pt x="7167" y="257175"/>
                    <a:pt x="16073" y="257175"/>
                  </a:cubicBezTo>
                  <a:lnTo>
                    <a:pt x="42862" y="257175"/>
                  </a:lnTo>
                  <a:cubicBezTo>
                    <a:pt x="42862" y="280816"/>
                    <a:pt x="62084" y="300037"/>
                    <a:pt x="85725" y="300037"/>
                  </a:cubicBezTo>
                  <a:lnTo>
                    <a:pt x="85725" y="326827"/>
                  </a:lnTo>
                  <a:cubicBezTo>
                    <a:pt x="85725" y="335733"/>
                    <a:pt x="92892" y="342900"/>
                    <a:pt x="101798" y="342900"/>
                  </a:cubicBezTo>
                  <a:cubicBezTo>
                    <a:pt x="110706" y="342900"/>
                    <a:pt x="117873" y="335733"/>
                    <a:pt x="117873" y="326827"/>
                  </a:cubicBezTo>
                  <a:lnTo>
                    <a:pt x="117873" y="300037"/>
                  </a:lnTo>
                  <a:lnTo>
                    <a:pt x="155377" y="300037"/>
                  </a:lnTo>
                  <a:lnTo>
                    <a:pt x="155377" y="326827"/>
                  </a:lnTo>
                  <a:cubicBezTo>
                    <a:pt x="155377" y="335733"/>
                    <a:pt x="162543" y="342900"/>
                    <a:pt x="171450" y="342900"/>
                  </a:cubicBezTo>
                  <a:cubicBezTo>
                    <a:pt x="180357" y="342900"/>
                    <a:pt x="187523" y="335733"/>
                    <a:pt x="187523" y="326827"/>
                  </a:cubicBezTo>
                  <a:lnTo>
                    <a:pt x="187523" y="300037"/>
                  </a:lnTo>
                  <a:lnTo>
                    <a:pt x="225027" y="300037"/>
                  </a:lnTo>
                  <a:lnTo>
                    <a:pt x="225027" y="326827"/>
                  </a:lnTo>
                  <a:cubicBezTo>
                    <a:pt x="225027" y="335733"/>
                    <a:pt x="232194" y="342900"/>
                    <a:pt x="241102" y="342900"/>
                  </a:cubicBezTo>
                  <a:cubicBezTo>
                    <a:pt x="250008" y="342900"/>
                    <a:pt x="257175" y="335733"/>
                    <a:pt x="257175" y="326827"/>
                  </a:cubicBezTo>
                  <a:lnTo>
                    <a:pt x="257175" y="300037"/>
                  </a:lnTo>
                  <a:cubicBezTo>
                    <a:pt x="280816" y="300037"/>
                    <a:pt x="300037" y="280816"/>
                    <a:pt x="300037" y="257175"/>
                  </a:cubicBezTo>
                  <a:lnTo>
                    <a:pt x="326827" y="257175"/>
                  </a:lnTo>
                  <a:cubicBezTo>
                    <a:pt x="335733" y="257175"/>
                    <a:pt x="342900" y="250008"/>
                    <a:pt x="342900" y="241102"/>
                  </a:cubicBezTo>
                  <a:cubicBezTo>
                    <a:pt x="342900" y="232194"/>
                    <a:pt x="335733" y="225027"/>
                    <a:pt x="326827" y="225027"/>
                  </a:cubicBezTo>
                  <a:lnTo>
                    <a:pt x="300037" y="225027"/>
                  </a:lnTo>
                  <a:lnTo>
                    <a:pt x="300037" y="187523"/>
                  </a:lnTo>
                  <a:lnTo>
                    <a:pt x="326827" y="187523"/>
                  </a:lnTo>
                  <a:cubicBezTo>
                    <a:pt x="335733" y="187523"/>
                    <a:pt x="342900" y="180357"/>
                    <a:pt x="342900" y="171450"/>
                  </a:cubicBezTo>
                  <a:cubicBezTo>
                    <a:pt x="342900" y="162543"/>
                    <a:pt x="335733" y="155377"/>
                    <a:pt x="326827" y="155377"/>
                  </a:cubicBezTo>
                  <a:lnTo>
                    <a:pt x="300037" y="155377"/>
                  </a:lnTo>
                  <a:lnTo>
                    <a:pt x="300037" y="117873"/>
                  </a:lnTo>
                  <a:lnTo>
                    <a:pt x="326827" y="117873"/>
                  </a:lnTo>
                  <a:cubicBezTo>
                    <a:pt x="335733" y="117873"/>
                    <a:pt x="342900" y="110706"/>
                    <a:pt x="342900" y="101798"/>
                  </a:cubicBezTo>
                  <a:cubicBezTo>
                    <a:pt x="342900" y="92892"/>
                    <a:pt x="335733" y="85725"/>
                    <a:pt x="326827" y="85725"/>
                  </a:cubicBezTo>
                  <a:lnTo>
                    <a:pt x="300037" y="85725"/>
                  </a:lnTo>
                  <a:cubicBezTo>
                    <a:pt x="300037" y="62084"/>
                    <a:pt x="280816" y="42862"/>
                    <a:pt x="257175" y="42862"/>
                  </a:cubicBezTo>
                  <a:lnTo>
                    <a:pt x="257175" y="16073"/>
                  </a:lnTo>
                  <a:cubicBezTo>
                    <a:pt x="257175" y="7167"/>
                    <a:pt x="250008" y="0"/>
                    <a:pt x="241102" y="0"/>
                  </a:cubicBezTo>
                  <a:cubicBezTo>
                    <a:pt x="232194" y="0"/>
                    <a:pt x="225027" y="7167"/>
                    <a:pt x="225027" y="16073"/>
                  </a:cubicBezTo>
                  <a:lnTo>
                    <a:pt x="225027" y="42862"/>
                  </a:lnTo>
                  <a:lnTo>
                    <a:pt x="187523" y="42862"/>
                  </a:lnTo>
                  <a:lnTo>
                    <a:pt x="187523" y="16073"/>
                  </a:lnTo>
                  <a:cubicBezTo>
                    <a:pt x="187523" y="7167"/>
                    <a:pt x="180357" y="0"/>
                    <a:pt x="171450" y="0"/>
                  </a:cubicBezTo>
                  <a:cubicBezTo>
                    <a:pt x="162543" y="0"/>
                    <a:pt x="155377" y="7167"/>
                    <a:pt x="155377" y="16073"/>
                  </a:cubicBezTo>
                  <a:lnTo>
                    <a:pt x="155377" y="42862"/>
                  </a:lnTo>
                  <a:lnTo>
                    <a:pt x="117873" y="42862"/>
                  </a:lnTo>
                  <a:lnTo>
                    <a:pt x="117873" y="16073"/>
                  </a:lnTo>
                  <a:close/>
                  <a:moveTo>
                    <a:pt x="107156" y="85725"/>
                  </a:moveTo>
                  <a:lnTo>
                    <a:pt x="235744" y="85725"/>
                  </a:lnTo>
                  <a:cubicBezTo>
                    <a:pt x="247598" y="85725"/>
                    <a:pt x="257175" y="95302"/>
                    <a:pt x="257175" y="107156"/>
                  </a:cubicBezTo>
                  <a:lnTo>
                    <a:pt x="257175" y="235744"/>
                  </a:lnTo>
                  <a:cubicBezTo>
                    <a:pt x="257175" y="247598"/>
                    <a:pt x="247598" y="257175"/>
                    <a:pt x="235744" y="257175"/>
                  </a:cubicBezTo>
                  <a:lnTo>
                    <a:pt x="107156" y="257175"/>
                  </a:lnTo>
                  <a:cubicBezTo>
                    <a:pt x="95302" y="257175"/>
                    <a:pt x="85725" y="247598"/>
                    <a:pt x="85725" y="235744"/>
                  </a:cubicBezTo>
                  <a:lnTo>
                    <a:pt x="85725" y="107156"/>
                  </a:lnTo>
                  <a:cubicBezTo>
                    <a:pt x="85725" y="95302"/>
                    <a:pt x="95302" y="85725"/>
                    <a:pt x="107156" y="85725"/>
                  </a:cubicBezTo>
                  <a:close/>
                  <a:moveTo>
                    <a:pt x="117873" y="117873"/>
                  </a:moveTo>
                  <a:lnTo>
                    <a:pt x="117873" y="225027"/>
                  </a:lnTo>
                  <a:lnTo>
                    <a:pt x="225027" y="225027"/>
                  </a:lnTo>
                  <a:lnTo>
                    <a:pt x="225027" y="117873"/>
                  </a:lnTo>
                  <a:lnTo>
                    <a:pt x="117873" y="1178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458576" y="2529010"/>
              <a:ext cx="11525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高性能 Kernel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1578762" y="3167710"/>
            <a:ext cx="3657600" cy="1371600"/>
            <a:chOff x="1578762" y="3167710"/>
            <a:chExt cx="3657600" cy="1371600"/>
          </a:xfrm>
        </p:grpSpPr>
        <p:sp>
          <p:nvSpPr>
            <p:cNvPr name="Freeform 12" id="12"/>
            <p:cNvSpPr/>
            <p:nvPr/>
          </p:nvSpPr>
          <p:spPr>
            <a:xfrm rot="0" flipH="false" flipV="false">
              <a:off x="1578762" y="316771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3" id="13"/>
            <p:cNvSpPr/>
            <p:nvPr/>
          </p:nvSpPr>
          <p:spPr>
            <a:xfrm rot="0" flipH="false" flipV="false">
              <a:off x="1820238" y="3413660"/>
              <a:ext cx="259988" cy="231905"/>
            </a:xfrm>
            <a:custGeom>
              <a:avLst/>
              <a:gdLst/>
              <a:ahLst/>
              <a:cxnLst/>
              <a:rect r="r" b="b" t="t" l="l"/>
              <a:pathLst>
                <a:path h="231905" w="259988">
                  <a:moveTo>
                    <a:pt x="162476" y="2188"/>
                  </a:moveTo>
                  <a:cubicBezTo>
                    <a:pt x="154885" y="0"/>
                    <a:pt x="146983" y="4421"/>
                    <a:pt x="144795" y="12010"/>
                  </a:cubicBezTo>
                  <a:lnTo>
                    <a:pt x="87645" y="212035"/>
                  </a:lnTo>
                  <a:cubicBezTo>
                    <a:pt x="85457" y="219626"/>
                    <a:pt x="89878" y="227528"/>
                    <a:pt x="97467" y="229716"/>
                  </a:cubicBezTo>
                  <a:cubicBezTo>
                    <a:pt x="105058" y="231904"/>
                    <a:pt x="112960" y="227483"/>
                    <a:pt x="115148" y="219894"/>
                  </a:cubicBezTo>
                  <a:lnTo>
                    <a:pt x="172298" y="19869"/>
                  </a:lnTo>
                  <a:cubicBezTo>
                    <a:pt x="174486" y="12278"/>
                    <a:pt x="170065" y="4376"/>
                    <a:pt x="162476" y="2188"/>
                  </a:cubicBezTo>
                  <a:close/>
                  <a:moveTo>
                    <a:pt x="191318" y="62954"/>
                  </a:moveTo>
                  <a:cubicBezTo>
                    <a:pt x="185737" y="68535"/>
                    <a:pt x="185737" y="77599"/>
                    <a:pt x="191318" y="83180"/>
                  </a:cubicBezTo>
                  <a:lnTo>
                    <a:pt x="224090" y="115952"/>
                  </a:lnTo>
                  <a:lnTo>
                    <a:pt x="191318" y="148724"/>
                  </a:lnTo>
                  <a:cubicBezTo>
                    <a:pt x="185737" y="154305"/>
                    <a:pt x="185737" y="163369"/>
                    <a:pt x="191318" y="168950"/>
                  </a:cubicBezTo>
                  <a:cubicBezTo>
                    <a:pt x="196900" y="174531"/>
                    <a:pt x="205963" y="174531"/>
                    <a:pt x="211544" y="168950"/>
                  </a:cubicBezTo>
                  <a:lnTo>
                    <a:pt x="254407" y="126087"/>
                  </a:lnTo>
                  <a:cubicBezTo>
                    <a:pt x="259988" y="120506"/>
                    <a:pt x="259988" y="111443"/>
                    <a:pt x="254407" y="105861"/>
                  </a:cubicBezTo>
                  <a:lnTo>
                    <a:pt x="211544" y="62999"/>
                  </a:lnTo>
                  <a:cubicBezTo>
                    <a:pt x="205963" y="57418"/>
                    <a:pt x="196900" y="57418"/>
                    <a:pt x="191318" y="62999"/>
                  </a:cubicBezTo>
                  <a:close/>
                  <a:moveTo>
                    <a:pt x="68669" y="62954"/>
                  </a:moveTo>
                  <a:cubicBezTo>
                    <a:pt x="63088" y="57373"/>
                    <a:pt x="54026" y="57373"/>
                    <a:pt x="48443" y="62954"/>
                  </a:cubicBezTo>
                  <a:lnTo>
                    <a:pt x="5581" y="105817"/>
                  </a:lnTo>
                  <a:cubicBezTo>
                    <a:pt x="0" y="111398"/>
                    <a:pt x="0" y="120460"/>
                    <a:pt x="5581" y="126043"/>
                  </a:cubicBezTo>
                  <a:lnTo>
                    <a:pt x="48443" y="168905"/>
                  </a:lnTo>
                  <a:cubicBezTo>
                    <a:pt x="54026" y="174486"/>
                    <a:pt x="63088" y="174486"/>
                    <a:pt x="68669" y="168905"/>
                  </a:cubicBezTo>
                  <a:cubicBezTo>
                    <a:pt x="74250" y="163324"/>
                    <a:pt x="74250" y="154260"/>
                    <a:pt x="68669" y="148679"/>
                  </a:cubicBezTo>
                  <a:lnTo>
                    <a:pt x="35898" y="115952"/>
                  </a:lnTo>
                  <a:lnTo>
                    <a:pt x="68625" y="83180"/>
                  </a:lnTo>
                  <a:cubicBezTo>
                    <a:pt x="74206" y="77599"/>
                    <a:pt x="74206" y="68535"/>
                    <a:pt x="68625" y="629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2207320" y="3396283"/>
              <a:ext cx="118110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OpenAI 开源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807335" y="3815371"/>
              <a:ext cx="3276600" cy="4953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由 OpenAI 开发的 GPU 编程语言，采用 Python 风格的领域特定语言（DSL）</a:t>
              </a:r>
              <a:endParaRPr lang="en-US" sz="110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6941929" y="3128128"/>
            <a:ext cx="3657600" cy="1371600"/>
            <a:chOff x="6941929" y="3128128"/>
            <a:chExt cx="3657600" cy="1371600"/>
          </a:xfrm>
        </p:grpSpPr>
        <p:sp>
          <p:nvSpPr>
            <p:cNvPr name="Freeform 17" id="17"/>
            <p:cNvSpPr/>
            <p:nvPr/>
          </p:nvSpPr>
          <p:spPr>
            <a:xfrm rot="0" flipH="false" flipV="false">
              <a:off x="6941929" y="3128128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7192067" y="3386714"/>
              <a:ext cx="224626" cy="224626"/>
            </a:xfrm>
            <a:custGeom>
              <a:avLst/>
              <a:gdLst/>
              <a:ahLst/>
              <a:cxnLst/>
              <a:rect r="r" b="b" t="t" l="l"/>
              <a:pathLst>
                <a:path h="224626" w="224626">
                  <a:moveTo>
                    <a:pt x="64160" y="131891"/>
                  </a:moveTo>
                  <a:lnTo>
                    <a:pt x="17949" y="131891"/>
                  </a:lnTo>
                  <a:cubicBezTo>
                    <a:pt x="6831" y="131891"/>
                    <a:pt x="0" y="119790"/>
                    <a:pt x="5715" y="110238"/>
                  </a:cubicBezTo>
                  <a:lnTo>
                    <a:pt x="29334" y="70857"/>
                  </a:lnTo>
                  <a:cubicBezTo>
                    <a:pt x="33219" y="64383"/>
                    <a:pt x="40184" y="60454"/>
                    <a:pt x="47729" y="60454"/>
                  </a:cubicBezTo>
                  <a:lnTo>
                    <a:pt x="90145" y="60454"/>
                  </a:lnTo>
                  <a:cubicBezTo>
                    <a:pt x="124123" y="2902"/>
                    <a:pt x="174799" y="0"/>
                    <a:pt x="208687" y="4954"/>
                  </a:cubicBezTo>
                  <a:cubicBezTo>
                    <a:pt x="214402" y="5804"/>
                    <a:pt x="218868" y="10269"/>
                    <a:pt x="219671" y="15939"/>
                  </a:cubicBezTo>
                  <a:cubicBezTo>
                    <a:pt x="224626" y="49827"/>
                    <a:pt x="221724" y="100503"/>
                    <a:pt x="164173" y="134481"/>
                  </a:cubicBezTo>
                  <a:lnTo>
                    <a:pt x="164173" y="176897"/>
                  </a:lnTo>
                  <a:cubicBezTo>
                    <a:pt x="164173" y="184442"/>
                    <a:pt x="160243" y="191407"/>
                    <a:pt x="153769" y="195292"/>
                  </a:cubicBezTo>
                  <a:lnTo>
                    <a:pt x="114389" y="218911"/>
                  </a:lnTo>
                  <a:cubicBezTo>
                    <a:pt x="104879" y="224626"/>
                    <a:pt x="92735" y="217751"/>
                    <a:pt x="92735" y="206677"/>
                  </a:cubicBezTo>
                  <a:lnTo>
                    <a:pt x="92735" y="160466"/>
                  </a:lnTo>
                  <a:cubicBezTo>
                    <a:pt x="92735" y="144705"/>
                    <a:pt x="79921" y="131891"/>
                    <a:pt x="64160" y="131891"/>
                  </a:cubicBezTo>
                  <a:lnTo>
                    <a:pt x="64116" y="131891"/>
                  </a:lnTo>
                  <a:close/>
                  <a:moveTo>
                    <a:pt x="185604" y="60454"/>
                  </a:moveTo>
                  <a:cubicBezTo>
                    <a:pt x="185604" y="48625"/>
                    <a:pt x="176001" y="39022"/>
                    <a:pt x="164173" y="39022"/>
                  </a:cubicBezTo>
                  <a:cubicBezTo>
                    <a:pt x="152344" y="39022"/>
                    <a:pt x="142741" y="48625"/>
                    <a:pt x="142741" y="60454"/>
                  </a:cubicBezTo>
                  <a:cubicBezTo>
                    <a:pt x="142741" y="72282"/>
                    <a:pt x="152344" y="81885"/>
                    <a:pt x="164173" y="81885"/>
                  </a:cubicBezTo>
                  <a:cubicBezTo>
                    <a:pt x="176001" y="81885"/>
                    <a:pt x="185604" y="72282"/>
                    <a:pt x="185604" y="604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7570487" y="3356701"/>
              <a:ext cx="14763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自动生成 Kernel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170502" y="3775789"/>
              <a:ext cx="3276600" cy="4953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编译器自动将 Python 代码转换为高性能 GPU kernel，无需手写 CUDA</a:t>
              </a:r>
              <a:endParaRPr lang="en-US" sz="110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6921729" y="5059591"/>
            <a:ext cx="3657600" cy="1371600"/>
            <a:chOff x="6921729" y="5059591"/>
            <a:chExt cx="3657600" cy="1371600"/>
          </a:xfrm>
        </p:grpSpPr>
        <p:sp>
          <p:nvSpPr>
            <p:cNvPr name="Freeform 22" id="22"/>
            <p:cNvSpPr/>
            <p:nvPr/>
          </p:nvSpPr>
          <p:spPr>
            <a:xfrm rot="0" flipH="false" flipV="false">
              <a:off x="6921729" y="5059591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7149543" y="5307193"/>
              <a:ext cx="286777" cy="228600"/>
            </a:xfrm>
            <a:custGeom>
              <a:avLst/>
              <a:gdLst/>
              <a:ahLst/>
              <a:cxnLst/>
              <a:rect r="r" b="b" t="t" l="l"/>
              <a:pathLst>
                <a:path h="228600" w="286777">
                  <a:moveTo>
                    <a:pt x="172209" y="14287"/>
                  </a:moveTo>
                  <a:lnTo>
                    <a:pt x="229359" y="14287"/>
                  </a:lnTo>
                  <a:cubicBezTo>
                    <a:pt x="237262" y="14287"/>
                    <a:pt x="243647" y="20672"/>
                    <a:pt x="243647" y="28575"/>
                  </a:cubicBezTo>
                  <a:cubicBezTo>
                    <a:pt x="243647" y="36478"/>
                    <a:pt x="237262" y="42863"/>
                    <a:pt x="229359" y="42863"/>
                  </a:cubicBezTo>
                  <a:lnTo>
                    <a:pt x="178638" y="42863"/>
                  </a:lnTo>
                  <a:cubicBezTo>
                    <a:pt x="176317" y="54381"/>
                    <a:pt x="168414" y="63892"/>
                    <a:pt x="157922" y="68445"/>
                  </a:cubicBezTo>
                  <a:lnTo>
                    <a:pt x="157922" y="200025"/>
                  </a:lnTo>
                  <a:lnTo>
                    <a:pt x="229359" y="200025"/>
                  </a:lnTo>
                  <a:cubicBezTo>
                    <a:pt x="237262" y="200025"/>
                    <a:pt x="243647" y="206411"/>
                    <a:pt x="243647" y="214313"/>
                  </a:cubicBezTo>
                  <a:cubicBezTo>
                    <a:pt x="243647" y="222214"/>
                    <a:pt x="237262" y="228600"/>
                    <a:pt x="229359" y="228600"/>
                  </a:cubicBezTo>
                  <a:lnTo>
                    <a:pt x="57909" y="228600"/>
                  </a:lnTo>
                  <a:cubicBezTo>
                    <a:pt x="50006" y="228600"/>
                    <a:pt x="43622" y="222214"/>
                    <a:pt x="43622" y="214313"/>
                  </a:cubicBezTo>
                  <a:cubicBezTo>
                    <a:pt x="43622" y="206411"/>
                    <a:pt x="50006" y="200025"/>
                    <a:pt x="57909" y="200025"/>
                  </a:cubicBezTo>
                  <a:lnTo>
                    <a:pt x="129347" y="200025"/>
                  </a:lnTo>
                  <a:lnTo>
                    <a:pt x="129347" y="68445"/>
                  </a:lnTo>
                  <a:cubicBezTo>
                    <a:pt x="118854" y="63847"/>
                    <a:pt x="110951" y="54337"/>
                    <a:pt x="108630" y="42863"/>
                  </a:cubicBezTo>
                  <a:lnTo>
                    <a:pt x="57909" y="42863"/>
                  </a:lnTo>
                  <a:cubicBezTo>
                    <a:pt x="50006" y="42863"/>
                    <a:pt x="43622" y="36478"/>
                    <a:pt x="43622" y="28575"/>
                  </a:cubicBezTo>
                  <a:cubicBezTo>
                    <a:pt x="43622" y="20672"/>
                    <a:pt x="50006" y="14287"/>
                    <a:pt x="57909" y="14287"/>
                  </a:cubicBezTo>
                  <a:lnTo>
                    <a:pt x="115059" y="14287"/>
                  </a:lnTo>
                  <a:cubicBezTo>
                    <a:pt x="121578" y="5626"/>
                    <a:pt x="131936" y="0"/>
                    <a:pt x="143634" y="0"/>
                  </a:cubicBezTo>
                  <a:cubicBezTo>
                    <a:pt x="155332" y="0"/>
                    <a:pt x="165690" y="5626"/>
                    <a:pt x="172209" y="14287"/>
                  </a:cubicBezTo>
                  <a:close/>
                  <a:moveTo>
                    <a:pt x="197034" y="142875"/>
                  </a:moveTo>
                  <a:lnTo>
                    <a:pt x="261684" y="142875"/>
                  </a:lnTo>
                  <a:lnTo>
                    <a:pt x="229359" y="87422"/>
                  </a:lnTo>
                  <a:lnTo>
                    <a:pt x="197034" y="142875"/>
                  </a:lnTo>
                  <a:close/>
                  <a:moveTo>
                    <a:pt x="229359" y="185737"/>
                  </a:moveTo>
                  <a:cubicBezTo>
                    <a:pt x="201275" y="185737"/>
                    <a:pt x="177924" y="170557"/>
                    <a:pt x="173102" y="150510"/>
                  </a:cubicBezTo>
                  <a:cubicBezTo>
                    <a:pt x="171941" y="145599"/>
                    <a:pt x="173548" y="140553"/>
                    <a:pt x="176093" y="136178"/>
                  </a:cubicBezTo>
                  <a:lnTo>
                    <a:pt x="218600" y="63311"/>
                  </a:lnTo>
                  <a:cubicBezTo>
                    <a:pt x="220831" y="59472"/>
                    <a:pt x="224939" y="57150"/>
                    <a:pt x="229359" y="57150"/>
                  </a:cubicBezTo>
                  <a:cubicBezTo>
                    <a:pt x="233779" y="57150"/>
                    <a:pt x="237887" y="59516"/>
                    <a:pt x="240118" y="63311"/>
                  </a:cubicBezTo>
                  <a:lnTo>
                    <a:pt x="282625" y="136178"/>
                  </a:lnTo>
                  <a:cubicBezTo>
                    <a:pt x="285170" y="140553"/>
                    <a:pt x="286777" y="145599"/>
                    <a:pt x="285616" y="150510"/>
                  </a:cubicBezTo>
                  <a:cubicBezTo>
                    <a:pt x="280794" y="170511"/>
                    <a:pt x="257443" y="185737"/>
                    <a:pt x="229359" y="185737"/>
                  </a:cubicBezTo>
                  <a:close/>
                  <a:moveTo>
                    <a:pt x="57373" y="87422"/>
                  </a:moveTo>
                  <a:lnTo>
                    <a:pt x="25048" y="142875"/>
                  </a:lnTo>
                  <a:lnTo>
                    <a:pt x="89743" y="142875"/>
                  </a:lnTo>
                  <a:lnTo>
                    <a:pt x="57373" y="87422"/>
                  </a:lnTo>
                  <a:close/>
                  <a:moveTo>
                    <a:pt x="1162" y="150510"/>
                  </a:moveTo>
                  <a:cubicBezTo>
                    <a:pt x="0" y="145599"/>
                    <a:pt x="1607" y="140553"/>
                    <a:pt x="4152" y="136178"/>
                  </a:cubicBezTo>
                  <a:lnTo>
                    <a:pt x="46658" y="63311"/>
                  </a:lnTo>
                  <a:cubicBezTo>
                    <a:pt x="48889" y="59472"/>
                    <a:pt x="52998" y="57150"/>
                    <a:pt x="57418" y="57150"/>
                  </a:cubicBezTo>
                  <a:cubicBezTo>
                    <a:pt x="61838" y="57150"/>
                    <a:pt x="65946" y="59516"/>
                    <a:pt x="68178" y="63311"/>
                  </a:cubicBezTo>
                  <a:lnTo>
                    <a:pt x="110683" y="136178"/>
                  </a:lnTo>
                  <a:cubicBezTo>
                    <a:pt x="113228" y="140553"/>
                    <a:pt x="114835" y="145599"/>
                    <a:pt x="113675" y="150510"/>
                  </a:cubicBezTo>
                  <a:cubicBezTo>
                    <a:pt x="108853" y="170511"/>
                    <a:pt x="85502" y="185737"/>
                    <a:pt x="57418" y="185737"/>
                  </a:cubicBezTo>
                  <a:cubicBezTo>
                    <a:pt x="29334" y="185737"/>
                    <a:pt x="5983" y="170557"/>
                    <a:pt x="1162" y="15051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550287" y="5288164"/>
              <a:ext cx="8572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设计目标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150302" y="5707252"/>
              <a:ext cx="3276600" cy="2476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2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性能接近 CUDA</a:t>
              </a: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，</a:t>
              </a:r>
              <a:r>
                <a:rPr lang="en-US" b="true" i="false" strike="noStrike" u="none" sz="12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开发成本接近 PyTorch</a:t>
              </a:r>
              <a:endParaRPr lang="en-US" sz="1100"/>
            </a:p>
          </p:txBody>
        </p:sp>
      </p:grpSp>
      <p:grpSp>
        <p:nvGrpSpPr>
          <p:cNvPr name="Group 26" id="26"/>
          <p:cNvGrpSpPr/>
          <p:nvPr/>
        </p:nvGrpSpPr>
        <p:grpSpPr>
          <a:xfrm>
            <a:off x="1408728" y="5059591"/>
            <a:ext cx="3827634" cy="1371600"/>
            <a:chOff x="1408728" y="5059591"/>
            <a:chExt cx="3827634" cy="1371600"/>
          </a:xfrm>
        </p:grpSpPr>
        <p:sp>
          <p:nvSpPr>
            <p:cNvPr name="Freeform 27" id="27"/>
            <p:cNvSpPr/>
            <p:nvPr/>
          </p:nvSpPr>
          <p:spPr>
            <a:xfrm rot="0" flipH="false" flipV="false">
              <a:off x="1578762" y="5059591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8" id="28"/>
            <p:cNvSpPr/>
            <p:nvPr/>
          </p:nvSpPr>
          <p:spPr>
            <a:xfrm rot="0" flipH="false" flipV="false">
              <a:off x="1895724" y="5238950"/>
              <a:ext cx="208490" cy="233362"/>
            </a:xfrm>
            <a:custGeom>
              <a:avLst/>
              <a:gdLst/>
              <a:ahLst/>
              <a:cxnLst/>
              <a:rect r="r" b="b" t="t" l="l"/>
              <a:pathLst>
                <a:path h="233362" w="208490">
                  <a:moveTo>
                    <a:pt x="13031" y="0"/>
                  </a:moveTo>
                  <a:cubicBezTo>
                    <a:pt x="5823" y="0"/>
                    <a:pt x="0" y="7448"/>
                    <a:pt x="0" y="16667"/>
                  </a:cubicBezTo>
                  <a:lnTo>
                    <a:pt x="0" y="208360"/>
                  </a:lnTo>
                  <a:cubicBezTo>
                    <a:pt x="0" y="222163"/>
                    <a:pt x="8755" y="233362"/>
                    <a:pt x="19547" y="233362"/>
                  </a:cubicBezTo>
                  <a:lnTo>
                    <a:pt x="188943" y="233362"/>
                  </a:lnTo>
                  <a:cubicBezTo>
                    <a:pt x="199734" y="233362"/>
                    <a:pt x="208490" y="222163"/>
                    <a:pt x="208490" y="208360"/>
                  </a:cubicBezTo>
                  <a:lnTo>
                    <a:pt x="208490" y="62612"/>
                  </a:lnTo>
                  <a:cubicBezTo>
                    <a:pt x="208490" y="53131"/>
                    <a:pt x="200589" y="47141"/>
                    <a:pt x="194075" y="51621"/>
                  </a:cubicBezTo>
                  <a:lnTo>
                    <a:pt x="130306" y="95533"/>
                  </a:lnTo>
                  <a:lnTo>
                    <a:pt x="130306" y="62612"/>
                  </a:lnTo>
                  <a:cubicBezTo>
                    <a:pt x="130306" y="53131"/>
                    <a:pt x="122405" y="47141"/>
                    <a:pt x="115890" y="51621"/>
                  </a:cubicBezTo>
                  <a:lnTo>
                    <a:pt x="52122" y="95533"/>
                  </a:lnTo>
                  <a:lnTo>
                    <a:pt x="52122" y="16667"/>
                  </a:lnTo>
                  <a:cubicBezTo>
                    <a:pt x="52122" y="7448"/>
                    <a:pt x="46299" y="0"/>
                    <a:pt x="39092" y="0"/>
                  </a:cubicBezTo>
                  <a:lnTo>
                    <a:pt x="13031" y="0"/>
                  </a:lnTo>
                  <a:close/>
                </a:path>
              </a:pathLst>
            </a:cu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2264535" y="5223533"/>
              <a:ext cx="118110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应用于</a:t>
              </a:r>
              <a:endParaRPr lang="en-US" sz="1100"/>
            </a:p>
          </p:txBody>
        </p:sp>
        <p:grpSp>
          <p:nvGrpSpPr>
            <p:cNvPr name="Group 30" id="30"/>
            <p:cNvGrpSpPr/>
            <p:nvPr/>
          </p:nvGrpSpPr>
          <p:grpSpPr>
            <a:xfrm>
              <a:off x="1408728" y="5746099"/>
              <a:ext cx="1571625" cy="444469"/>
              <a:chOff x="1408728" y="5746099"/>
              <a:chExt cx="1571625" cy="444469"/>
            </a:xfrm>
          </p:grpSpPr>
          <p:sp>
            <p:nvSpPr>
              <p:cNvPr name="Freeform 31" id="31"/>
              <p:cNvSpPr/>
              <p:nvPr/>
            </p:nvSpPr>
            <p:spPr>
              <a:xfrm rot="0" flipH="false" flipV="false">
                <a:off x="2099340" y="5746099"/>
                <a:ext cx="190500" cy="190500"/>
              </a:xfrm>
              <a:custGeom>
                <a:avLst/>
                <a:gdLst/>
                <a:ahLst/>
                <a:cxnLst/>
                <a:rect r="r" b="b" t="t" l="l"/>
                <a:pathLst>
                  <a:path h="190500" w="190500">
                    <a:moveTo>
                      <a:pt x="65484" y="8929"/>
                    </a:moveTo>
                    <a:cubicBezTo>
                      <a:pt x="65484" y="3981"/>
                      <a:pt x="61504" y="0"/>
                      <a:pt x="56554" y="0"/>
                    </a:cubicBezTo>
                    <a:cubicBezTo>
                      <a:pt x="51606" y="0"/>
                      <a:pt x="47625" y="3981"/>
                      <a:pt x="47625" y="8929"/>
                    </a:cubicBezTo>
                    <a:lnTo>
                      <a:pt x="47625" y="23813"/>
                    </a:lnTo>
                    <a:cubicBezTo>
                      <a:pt x="34491" y="23813"/>
                      <a:pt x="23812" y="34491"/>
                      <a:pt x="23812" y="47625"/>
                    </a:cubicBezTo>
                    <a:lnTo>
                      <a:pt x="8929" y="47625"/>
                    </a:lnTo>
                    <a:cubicBezTo>
                      <a:pt x="3981" y="47625"/>
                      <a:pt x="0" y="51606"/>
                      <a:pt x="0" y="56554"/>
                    </a:cubicBezTo>
                    <a:cubicBezTo>
                      <a:pt x="0" y="61504"/>
                      <a:pt x="3981" y="65484"/>
                      <a:pt x="8929" y="65484"/>
                    </a:cubicBezTo>
                    <a:lnTo>
                      <a:pt x="23812" y="65484"/>
                    </a:lnTo>
                    <a:lnTo>
                      <a:pt x="23812" y="86321"/>
                    </a:lnTo>
                    <a:lnTo>
                      <a:pt x="8929" y="86321"/>
                    </a:lnTo>
                    <a:cubicBezTo>
                      <a:pt x="3981" y="86321"/>
                      <a:pt x="0" y="90301"/>
                      <a:pt x="0" y="95250"/>
                    </a:cubicBezTo>
                    <a:cubicBezTo>
                      <a:pt x="0" y="100199"/>
                      <a:pt x="3981" y="104179"/>
                      <a:pt x="8929" y="104179"/>
                    </a:cubicBezTo>
                    <a:lnTo>
                      <a:pt x="23812" y="104179"/>
                    </a:lnTo>
                    <a:lnTo>
                      <a:pt x="23812" y="125016"/>
                    </a:lnTo>
                    <a:lnTo>
                      <a:pt x="8929" y="125016"/>
                    </a:lnTo>
                    <a:cubicBezTo>
                      <a:pt x="3981" y="125016"/>
                      <a:pt x="0" y="128996"/>
                      <a:pt x="0" y="133946"/>
                    </a:cubicBezTo>
                    <a:cubicBezTo>
                      <a:pt x="0" y="138894"/>
                      <a:pt x="3981" y="142875"/>
                      <a:pt x="8929" y="142875"/>
                    </a:cubicBezTo>
                    <a:lnTo>
                      <a:pt x="23812" y="142875"/>
                    </a:lnTo>
                    <a:cubicBezTo>
                      <a:pt x="23812" y="156009"/>
                      <a:pt x="34491" y="166687"/>
                      <a:pt x="47625" y="166687"/>
                    </a:cubicBezTo>
                    <a:lnTo>
                      <a:pt x="47625" y="181571"/>
                    </a:lnTo>
                    <a:cubicBezTo>
                      <a:pt x="47625" y="186519"/>
                      <a:pt x="51606" y="190500"/>
                      <a:pt x="56554" y="190500"/>
                    </a:cubicBezTo>
                    <a:cubicBezTo>
                      <a:pt x="61504" y="190500"/>
                      <a:pt x="65484" y="186519"/>
                      <a:pt x="65484" y="181571"/>
                    </a:cubicBezTo>
                    <a:lnTo>
                      <a:pt x="65484" y="166687"/>
                    </a:lnTo>
                    <a:lnTo>
                      <a:pt x="86321" y="166687"/>
                    </a:lnTo>
                    <a:lnTo>
                      <a:pt x="86321" y="181571"/>
                    </a:lnTo>
                    <a:cubicBezTo>
                      <a:pt x="86321" y="186519"/>
                      <a:pt x="90301" y="190500"/>
                      <a:pt x="95250" y="190500"/>
                    </a:cubicBezTo>
                    <a:cubicBezTo>
                      <a:pt x="100199" y="190500"/>
                      <a:pt x="104179" y="186519"/>
                      <a:pt x="104179" y="181571"/>
                    </a:cubicBezTo>
                    <a:lnTo>
                      <a:pt x="104179" y="166687"/>
                    </a:lnTo>
                    <a:lnTo>
                      <a:pt x="125016" y="166687"/>
                    </a:lnTo>
                    <a:lnTo>
                      <a:pt x="125016" y="181571"/>
                    </a:lnTo>
                    <a:cubicBezTo>
                      <a:pt x="125016" y="186519"/>
                      <a:pt x="128996" y="190500"/>
                      <a:pt x="133946" y="190500"/>
                    </a:cubicBezTo>
                    <a:cubicBezTo>
                      <a:pt x="138894" y="190500"/>
                      <a:pt x="142875" y="186519"/>
                      <a:pt x="142875" y="181571"/>
                    </a:cubicBezTo>
                    <a:lnTo>
                      <a:pt x="142875" y="166687"/>
                    </a:lnTo>
                    <a:cubicBezTo>
                      <a:pt x="156009" y="166687"/>
                      <a:pt x="166688" y="156009"/>
                      <a:pt x="166688" y="142875"/>
                    </a:cubicBezTo>
                    <a:lnTo>
                      <a:pt x="181571" y="142875"/>
                    </a:lnTo>
                    <a:cubicBezTo>
                      <a:pt x="186519" y="142875"/>
                      <a:pt x="190500" y="138894"/>
                      <a:pt x="190500" y="133946"/>
                    </a:cubicBezTo>
                    <a:cubicBezTo>
                      <a:pt x="190500" y="128996"/>
                      <a:pt x="186519" y="125016"/>
                      <a:pt x="181571" y="125016"/>
                    </a:cubicBezTo>
                    <a:lnTo>
                      <a:pt x="166688" y="125016"/>
                    </a:lnTo>
                    <a:lnTo>
                      <a:pt x="166688" y="104179"/>
                    </a:lnTo>
                    <a:lnTo>
                      <a:pt x="181571" y="104179"/>
                    </a:lnTo>
                    <a:cubicBezTo>
                      <a:pt x="186519" y="104179"/>
                      <a:pt x="190500" y="100199"/>
                      <a:pt x="190500" y="95250"/>
                    </a:cubicBezTo>
                    <a:cubicBezTo>
                      <a:pt x="190500" y="90301"/>
                      <a:pt x="186519" y="86321"/>
                      <a:pt x="181571" y="86321"/>
                    </a:cubicBezTo>
                    <a:lnTo>
                      <a:pt x="166688" y="86321"/>
                    </a:lnTo>
                    <a:lnTo>
                      <a:pt x="166688" y="65484"/>
                    </a:lnTo>
                    <a:lnTo>
                      <a:pt x="181571" y="65484"/>
                    </a:lnTo>
                    <a:cubicBezTo>
                      <a:pt x="186519" y="65484"/>
                      <a:pt x="190500" y="61504"/>
                      <a:pt x="190500" y="56554"/>
                    </a:cubicBezTo>
                    <a:cubicBezTo>
                      <a:pt x="190500" y="51606"/>
                      <a:pt x="186519" y="47625"/>
                      <a:pt x="181571" y="47625"/>
                    </a:cubicBezTo>
                    <a:lnTo>
                      <a:pt x="166688" y="47625"/>
                    </a:lnTo>
                    <a:cubicBezTo>
                      <a:pt x="166688" y="34491"/>
                      <a:pt x="156009" y="23813"/>
                      <a:pt x="142875" y="23813"/>
                    </a:cubicBezTo>
                    <a:lnTo>
                      <a:pt x="142875" y="8929"/>
                    </a:lnTo>
                    <a:cubicBezTo>
                      <a:pt x="142875" y="3981"/>
                      <a:pt x="138894" y="0"/>
                      <a:pt x="133946" y="0"/>
                    </a:cubicBezTo>
                    <a:cubicBezTo>
                      <a:pt x="128996" y="0"/>
                      <a:pt x="125016" y="3981"/>
                      <a:pt x="125016" y="8929"/>
                    </a:cubicBezTo>
                    <a:lnTo>
                      <a:pt x="125016" y="23813"/>
                    </a:lnTo>
                    <a:lnTo>
                      <a:pt x="104179" y="23813"/>
                    </a:lnTo>
                    <a:lnTo>
                      <a:pt x="104179" y="8929"/>
                    </a:lnTo>
                    <a:cubicBezTo>
                      <a:pt x="104179" y="3981"/>
                      <a:pt x="100199" y="0"/>
                      <a:pt x="95250" y="0"/>
                    </a:cubicBezTo>
                    <a:cubicBezTo>
                      <a:pt x="90301" y="0"/>
                      <a:pt x="86321" y="3981"/>
                      <a:pt x="86321" y="8929"/>
                    </a:cubicBezTo>
                    <a:lnTo>
                      <a:pt x="86321" y="23813"/>
                    </a:lnTo>
                    <a:lnTo>
                      <a:pt x="65484" y="23813"/>
                    </a:lnTo>
                    <a:lnTo>
                      <a:pt x="65484" y="8929"/>
                    </a:lnTo>
                    <a:close/>
                    <a:moveTo>
                      <a:pt x="59531" y="47625"/>
                    </a:moveTo>
                    <a:lnTo>
                      <a:pt x="130969" y="47625"/>
                    </a:lnTo>
                    <a:cubicBezTo>
                      <a:pt x="137554" y="47625"/>
                      <a:pt x="142875" y="52946"/>
                      <a:pt x="142875" y="59531"/>
                    </a:cubicBezTo>
                    <a:lnTo>
                      <a:pt x="142875" y="130969"/>
                    </a:lnTo>
                    <a:cubicBezTo>
                      <a:pt x="142875" y="137554"/>
                      <a:pt x="137554" y="142875"/>
                      <a:pt x="130969" y="142875"/>
                    </a:cubicBezTo>
                    <a:lnTo>
                      <a:pt x="59531" y="142875"/>
                    </a:lnTo>
                    <a:cubicBezTo>
                      <a:pt x="52946" y="142875"/>
                      <a:pt x="47625" y="137554"/>
                      <a:pt x="47625" y="130969"/>
                    </a:cubicBezTo>
                    <a:lnTo>
                      <a:pt x="47625" y="59531"/>
                    </a:lnTo>
                    <a:cubicBezTo>
                      <a:pt x="47625" y="52946"/>
                      <a:pt x="52946" y="47625"/>
                      <a:pt x="59531" y="47625"/>
                    </a:cubicBezTo>
                    <a:close/>
                    <a:moveTo>
                      <a:pt x="65484" y="65484"/>
                    </a:moveTo>
                    <a:lnTo>
                      <a:pt x="65484" y="125016"/>
                    </a:lnTo>
                    <a:lnTo>
                      <a:pt x="125016" y="125016"/>
                    </a:lnTo>
                    <a:lnTo>
                      <a:pt x="125016" y="65484"/>
                    </a:lnTo>
                    <a:lnTo>
                      <a:pt x="65484" y="65484"/>
                    </a:lnTo>
                    <a:close/>
                  </a:path>
                </a:pathLst>
              </a:custGeom>
              <a:solidFill>
                <a:srgbClr val="E07A5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32" id="32"/>
              <p:cNvSpPr/>
              <p:nvPr/>
            </p:nvSpPr>
            <p:spPr>
              <a:xfrm rot="0" flipH="false" flipV="false">
                <a:off x="1408728" y="6000068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ctr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100">
                    <a:solidFill>
                      <a:srgbClr val="767171"/>
                    </a:solidFill>
                    <a:latin typeface="MiSans"/>
                    <a:ea typeface="MiSans"/>
                    <a:cs typeface="MiSans"/>
                    <a:sym typeface="MiSans"/>
                  </a:rPr>
                  <a:t>Kernel</a:t>
                </a:r>
                <a:endParaRPr lang="en-US" sz="1100"/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>
              <a:off x="2515047" y="5756525"/>
              <a:ext cx="1571625" cy="444469"/>
              <a:chOff x="2515047" y="5756525"/>
              <a:chExt cx="1571625" cy="444469"/>
            </a:xfrm>
          </p:grpSpPr>
          <p:sp>
            <p:nvSpPr>
              <p:cNvPr name="Freeform 34" id="34"/>
              <p:cNvSpPr/>
              <p:nvPr/>
            </p:nvSpPr>
            <p:spPr>
              <a:xfrm rot="0" flipH="false" flipV="false">
                <a:off x="3208697" y="5756525"/>
                <a:ext cx="184546" cy="190500"/>
              </a:xfrm>
              <a:custGeom>
                <a:avLst/>
                <a:gdLst/>
                <a:ahLst/>
                <a:cxnLst/>
                <a:rect r="r" b="b" t="t" l="l"/>
                <a:pathLst>
                  <a:path h="190500" w="184546">
                    <a:moveTo>
                      <a:pt x="41671" y="20836"/>
                    </a:moveTo>
                    <a:cubicBezTo>
                      <a:pt x="41671" y="9340"/>
                      <a:pt x="51009" y="0"/>
                      <a:pt x="62507" y="0"/>
                    </a:cubicBezTo>
                    <a:lnTo>
                      <a:pt x="71437" y="0"/>
                    </a:lnTo>
                    <a:cubicBezTo>
                      <a:pt x="78024" y="0"/>
                      <a:pt x="83344" y="5321"/>
                      <a:pt x="83344" y="11906"/>
                    </a:cubicBezTo>
                    <a:lnTo>
                      <a:pt x="83344" y="178594"/>
                    </a:lnTo>
                    <a:cubicBezTo>
                      <a:pt x="83344" y="185179"/>
                      <a:pt x="78024" y="190500"/>
                      <a:pt x="71437" y="190500"/>
                    </a:cubicBezTo>
                    <a:lnTo>
                      <a:pt x="59531" y="190500"/>
                    </a:lnTo>
                    <a:cubicBezTo>
                      <a:pt x="48443" y="190500"/>
                      <a:pt x="39104" y="182910"/>
                      <a:pt x="36462" y="172641"/>
                    </a:cubicBezTo>
                    <a:cubicBezTo>
                      <a:pt x="36203" y="172641"/>
                      <a:pt x="35979" y="172641"/>
                      <a:pt x="35719" y="172641"/>
                    </a:cubicBezTo>
                    <a:cubicBezTo>
                      <a:pt x="19273" y="172641"/>
                      <a:pt x="5952" y="159321"/>
                      <a:pt x="5952" y="142875"/>
                    </a:cubicBezTo>
                    <a:cubicBezTo>
                      <a:pt x="5952" y="136178"/>
                      <a:pt x="8185" y="130001"/>
                      <a:pt x="11906" y="125016"/>
                    </a:cubicBezTo>
                    <a:cubicBezTo>
                      <a:pt x="4687" y="119583"/>
                      <a:pt x="0" y="110951"/>
                      <a:pt x="0" y="101202"/>
                    </a:cubicBezTo>
                    <a:cubicBezTo>
                      <a:pt x="0" y="89706"/>
                      <a:pt x="6548" y="79698"/>
                      <a:pt x="16073" y="74748"/>
                    </a:cubicBezTo>
                    <a:cubicBezTo>
                      <a:pt x="13431" y="70284"/>
                      <a:pt x="11906" y="65075"/>
                      <a:pt x="11906" y="59531"/>
                    </a:cubicBezTo>
                    <a:cubicBezTo>
                      <a:pt x="11906" y="43086"/>
                      <a:pt x="25226" y="29766"/>
                      <a:pt x="41671" y="29766"/>
                    </a:cubicBezTo>
                    <a:lnTo>
                      <a:pt x="41671" y="20836"/>
                    </a:lnTo>
                    <a:close/>
                    <a:moveTo>
                      <a:pt x="142875" y="20836"/>
                    </a:moveTo>
                    <a:lnTo>
                      <a:pt x="142875" y="29766"/>
                    </a:lnTo>
                    <a:cubicBezTo>
                      <a:pt x="159320" y="29766"/>
                      <a:pt x="172640" y="43086"/>
                      <a:pt x="172640" y="59531"/>
                    </a:cubicBezTo>
                    <a:cubicBezTo>
                      <a:pt x="172640" y="65112"/>
                      <a:pt x="171115" y="70321"/>
                      <a:pt x="168473" y="74748"/>
                    </a:cubicBezTo>
                    <a:cubicBezTo>
                      <a:pt x="178035" y="79698"/>
                      <a:pt x="184546" y="89670"/>
                      <a:pt x="184546" y="101202"/>
                    </a:cubicBezTo>
                    <a:cubicBezTo>
                      <a:pt x="184546" y="110951"/>
                      <a:pt x="179859" y="119583"/>
                      <a:pt x="172640" y="125016"/>
                    </a:cubicBezTo>
                    <a:cubicBezTo>
                      <a:pt x="176361" y="130001"/>
                      <a:pt x="178594" y="136178"/>
                      <a:pt x="178594" y="142875"/>
                    </a:cubicBezTo>
                    <a:cubicBezTo>
                      <a:pt x="178594" y="159321"/>
                      <a:pt x="165273" y="172641"/>
                      <a:pt x="148827" y="172641"/>
                    </a:cubicBezTo>
                    <a:cubicBezTo>
                      <a:pt x="148567" y="172641"/>
                      <a:pt x="148344" y="172641"/>
                      <a:pt x="148084" y="172641"/>
                    </a:cubicBezTo>
                    <a:cubicBezTo>
                      <a:pt x="145442" y="182910"/>
                      <a:pt x="136103" y="190500"/>
                      <a:pt x="125015" y="190500"/>
                    </a:cubicBezTo>
                    <a:lnTo>
                      <a:pt x="113109" y="190500"/>
                    </a:lnTo>
                    <a:cubicBezTo>
                      <a:pt x="106522" y="190500"/>
                      <a:pt x="101202" y="185179"/>
                      <a:pt x="101202" y="178594"/>
                    </a:cubicBezTo>
                    <a:lnTo>
                      <a:pt x="101202" y="11906"/>
                    </a:lnTo>
                    <a:cubicBezTo>
                      <a:pt x="101202" y="5321"/>
                      <a:pt x="106522" y="0"/>
                      <a:pt x="113109" y="0"/>
                    </a:cubicBezTo>
                    <a:lnTo>
                      <a:pt x="122039" y="0"/>
                    </a:lnTo>
                    <a:cubicBezTo>
                      <a:pt x="133537" y="0"/>
                      <a:pt x="142875" y="9340"/>
                      <a:pt x="142875" y="20836"/>
                    </a:cubicBezTo>
                    <a:close/>
                  </a:path>
                </a:pathLst>
              </a:custGeom>
              <a:solidFill>
                <a:srgbClr val="4A6C8C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35" id="35"/>
              <p:cNvSpPr/>
              <p:nvPr/>
            </p:nvSpPr>
            <p:spPr>
              <a:xfrm rot="0" flipH="false" flipV="false">
                <a:off x="2515047" y="6010494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ctr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100">
                    <a:solidFill>
                      <a:srgbClr val="767171"/>
                    </a:solidFill>
                    <a:latin typeface="MiSans"/>
                    <a:ea typeface="MiSans"/>
                    <a:cs typeface="MiSans"/>
                    <a:sym typeface="MiSans"/>
                  </a:rPr>
                  <a:t>Deep Learning</a:t>
                </a:r>
                <a:endParaRPr lang="en-US" sz="1100"/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>
              <a:off x="3577000" y="5756524"/>
              <a:ext cx="1571625" cy="457194"/>
              <a:chOff x="3577000" y="5756524"/>
              <a:chExt cx="1571625" cy="457194"/>
            </a:xfrm>
          </p:grpSpPr>
          <p:sp>
            <p:nvSpPr>
              <p:cNvPr name="Freeform 37" id="37"/>
              <p:cNvSpPr/>
              <p:nvPr/>
            </p:nvSpPr>
            <p:spPr>
              <a:xfrm rot="0" flipH="false" flipV="false">
                <a:off x="4279518" y="5756524"/>
                <a:ext cx="166649" cy="203189"/>
              </a:xfrm>
              <a:custGeom>
                <a:avLst/>
                <a:gdLst/>
                <a:ahLst/>
                <a:cxnLst/>
                <a:rect r="r" b="b" t="t" l="l"/>
                <a:pathLst>
                  <a:path h="203189" w="166649">
                    <a:moveTo>
                      <a:pt x="59717" y="2902"/>
                    </a:moveTo>
                    <a:cubicBezTo>
                      <a:pt x="63177" y="0"/>
                      <a:pt x="68275" y="113"/>
                      <a:pt x="71586" y="3237"/>
                    </a:cubicBezTo>
                    <a:cubicBezTo>
                      <a:pt x="76163" y="7554"/>
                      <a:pt x="80256" y="12316"/>
                      <a:pt x="84200" y="17153"/>
                    </a:cubicBezTo>
                    <a:cubicBezTo>
                      <a:pt x="89223" y="23291"/>
                      <a:pt x="95250" y="31403"/>
                      <a:pt x="101054" y="41040"/>
                    </a:cubicBezTo>
                    <a:cubicBezTo>
                      <a:pt x="102989" y="38509"/>
                      <a:pt x="104775" y="36277"/>
                      <a:pt x="106338" y="34378"/>
                    </a:cubicBezTo>
                    <a:cubicBezTo>
                      <a:pt x="106747" y="33896"/>
                      <a:pt x="107156" y="33375"/>
                      <a:pt x="107566" y="32854"/>
                    </a:cubicBezTo>
                    <a:cubicBezTo>
                      <a:pt x="110505" y="29208"/>
                      <a:pt x="114151" y="24631"/>
                      <a:pt x="119024" y="24631"/>
                    </a:cubicBezTo>
                    <a:cubicBezTo>
                      <a:pt x="124010" y="24631"/>
                      <a:pt x="127508" y="29058"/>
                      <a:pt x="130485" y="32854"/>
                    </a:cubicBezTo>
                    <a:cubicBezTo>
                      <a:pt x="130969" y="33487"/>
                      <a:pt x="131453" y="34083"/>
                      <a:pt x="131936" y="34640"/>
                    </a:cubicBezTo>
                    <a:cubicBezTo>
                      <a:pt x="135768" y="39254"/>
                      <a:pt x="140866" y="45914"/>
                      <a:pt x="145962" y="54136"/>
                    </a:cubicBezTo>
                    <a:cubicBezTo>
                      <a:pt x="156083" y="70471"/>
                      <a:pt x="166649" y="93726"/>
                      <a:pt x="166649" y="119844"/>
                    </a:cubicBezTo>
                    <a:cubicBezTo>
                      <a:pt x="166649" y="165869"/>
                      <a:pt x="129332" y="203188"/>
                      <a:pt x="83307" y="203188"/>
                    </a:cubicBezTo>
                    <a:cubicBezTo>
                      <a:pt x="37281" y="203188"/>
                      <a:pt x="0" y="165906"/>
                      <a:pt x="0" y="119881"/>
                    </a:cubicBezTo>
                    <a:cubicBezTo>
                      <a:pt x="0" y="85986"/>
                      <a:pt x="15292" y="56629"/>
                      <a:pt x="29952" y="36165"/>
                    </a:cubicBezTo>
                    <a:cubicBezTo>
                      <a:pt x="37356" y="25859"/>
                      <a:pt x="44723" y="17599"/>
                      <a:pt x="50267" y="11944"/>
                    </a:cubicBezTo>
                    <a:cubicBezTo>
                      <a:pt x="53318" y="8818"/>
                      <a:pt x="56406" y="5730"/>
                      <a:pt x="59754" y="2940"/>
                    </a:cubicBezTo>
                    <a:close/>
                    <a:moveTo>
                      <a:pt x="83976" y="167506"/>
                    </a:moveTo>
                    <a:cubicBezTo>
                      <a:pt x="93389" y="167506"/>
                      <a:pt x="101724" y="164901"/>
                      <a:pt x="109576" y="159693"/>
                    </a:cubicBezTo>
                    <a:cubicBezTo>
                      <a:pt x="125239" y="148753"/>
                      <a:pt x="129443" y="126876"/>
                      <a:pt x="120030" y="109687"/>
                    </a:cubicBezTo>
                    <a:cubicBezTo>
                      <a:pt x="118356" y="106338"/>
                      <a:pt x="114076" y="106114"/>
                      <a:pt x="111658" y="108941"/>
                    </a:cubicBezTo>
                    <a:lnTo>
                      <a:pt x="102282" y="119844"/>
                    </a:lnTo>
                    <a:cubicBezTo>
                      <a:pt x="99826" y="122671"/>
                      <a:pt x="95399" y="122597"/>
                      <a:pt x="93092" y="119658"/>
                    </a:cubicBezTo>
                    <a:cubicBezTo>
                      <a:pt x="86655" y="111434"/>
                      <a:pt x="74823" y="96441"/>
                      <a:pt x="68796" y="88776"/>
                    </a:cubicBezTo>
                    <a:cubicBezTo>
                      <a:pt x="66787" y="86208"/>
                      <a:pt x="63141" y="85800"/>
                      <a:pt x="60796" y="88069"/>
                    </a:cubicBezTo>
                    <a:cubicBezTo>
                      <a:pt x="53986" y="94692"/>
                      <a:pt x="41634" y="109203"/>
                      <a:pt x="41634" y="126876"/>
                    </a:cubicBezTo>
                    <a:cubicBezTo>
                      <a:pt x="41634" y="152400"/>
                      <a:pt x="60461" y="167506"/>
                      <a:pt x="83939" y="167506"/>
                    </a:cubicBezTo>
                    <a:close/>
                  </a:path>
                </a:pathLst>
              </a:custGeom>
              <a:solidFill>
                <a:srgbClr val="E07A5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38" id="38"/>
              <p:cNvSpPr/>
              <p:nvPr/>
            </p:nvSpPr>
            <p:spPr>
              <a:xfrm rot="0" flipH="false" flipV="false">
                <a:off x="3577000" y="6023218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ctr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100">
                    <a:solidFill>
                      <a:srgbClr val="767171"/>
                    </a:solidFill>
                    <a:latin typeface="MiSans"/>
                    <a:ea typeface="MiSans"/>
                    <a:cs typeface="MiSans"/>
                    <a:sym typeface="MiSans"/>
                  </a:rPr>
                  <a:t>PyTorch</a:t>
                </a:r>
                <a:endParaRPr lang="en-US" sz="1100"/>
              </a:p>
            </p:txBody>
          </p:sp>
        </p:grpSp>
      </p:grpSp>
      <p:sp>
        <p:nvSpPr>
          <p:cNvPr name="AutoShape 39" id="39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9796" y="623039"/>
            <a:ext cx="10529386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Triton 的执行模型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94493"/>
            <a:ext cx="115157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Triton 的基本执行单元 </a:t>
            </a:r>
            <a:r>
              <a:rPr lang="en-US" b="true" i="false" strike="noStrike" u="none" sz="15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program</a:t>
            </a: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，多个 program 组成 </a:t>
            </a:r>
            <a:r>
              <a:rPr lang="en-US" b="true" i="false" strike="noStrike" u="none" sz="15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grid</a:t>
            </a: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，每个 program 处理一个数据块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354076"/>
            <a:ext cx="11430000" cy="2771775"/>
          </a:xfrm>
          <a:custGeom>
            <a:avLst/>
            <a:gdLst/>
            <a:ahLst/>
            <a:cxnLst/>
            <a:rect r="r" b="b" t="t" l="l"/>
            <a:pathLst>
              <a:path h="2771775" w="11430000">
                <a:moveTo>
                  <a:pt x="114308" y="0"/>
                </a:moveTo>
                <a:lnTo>
                  <a:pt x="11315692" y="0"/>
                </a:lnTo>
                <a:cubicBezTo>
                  <a:pt x="11378823" y="0"/>
                  <a:pt x="11430000" y="51177"/>
                  <a:pt x="11430000" y="114308"/>
                </a:cubicBezTo>
                <a:lnTo>
                  <a:pt x="11430000" y="2657467"/>
                </a:lnTo>
                <a:cubicBezTo>
                  <a:pt x="11430000" y="2720598"/>
                  <a:pt x="11378823" y="2771775"/>
                  <a:pt x="11315692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09529" y="2582649"/>
          <a:ext cx="10972800" cy="231457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153025"/>
                <a:gridCol w="1733550"/>
                <a:gridCol w="4086225"/>
              </a:tblGrid>
              <a:tr h="57864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101828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CUDA 概念</a:t>
                      </a:r>
                      <a:endParaRPr lang="en-US" sz="1100"/>
                    </a:p>
                  </a:txBody>
                  <a:tcPr anchor="ctr" marL="152400" marR="152400" marT="114300" marB="1143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99A1A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⇄</a:t>
                      </a:r>
                      <a:endParaRPr lang="en-US" sz="1100"/>
                    </a:p>
                  </a:txBody>
                  <a:tcPr anchor="ctr" marL="152400" marR="152400" marT="114300" marB="1143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101828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Triton 概念</a:t>
                      </a:r>
                      <a:endParaRPr lang="en-US" sz="1100"/>
                    </a:p>
                  </a:txBody>
                  <a:tcPr anchor="ctr" marL="152400" marR="152400" marT="114300" marB="1143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thread block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99A1A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=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program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27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blockIdx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99A1A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=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program_id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gridDim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99A1A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=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64153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launch grid</a:t>
                      </a:r>
                      <a:endParaRPr lang="en-US" sz="1100"/>
                    </a:p>
                  </a:txBody>
                  <a:tcPr anchor="ctr" marL="152400" marR="152400" marT="152400" marB="15240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3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rot="0" flipH="false" flipV="false">
            <a:off x="380956" y="5353739"/>
            <a:ext cx="11430000" cy="533400"/>
          </a:xfrm>
          <a:custGeom>
            <a:avLst/>
            <a:gdLst/>
            <a:ahLst/>
            <a:cxnLst/>
            <a:rect r="r" b="b" t="t" l="l"/>
            <a:pathLst>
              <a:path h="533400" w="114300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457197"/>
                </a:lnTo>
                <a:cubicBezTo>
                  <a:pt x="11430000" y="499283"/>
                  <a:pt x="11395883" y="533400"/>
                  <a:pt x="11353797" y="533400"/>
                </a:cubicBezTo>
                <a:lnTo>
                  <a:pt x="76203" y="533400"/>
                </a:lnTo>
                <a:cubicBezTo>
                  <a:pt x="34117" y="533400"/>
                  <a:pt x="0" y="499283"/>
                  <a:pt x="0" y="4571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90488" y="5506123"/>
            <a:ext cx="171450" cy="235744"/>
          </a:xfrm>
          <a:custGeom>
            <a:avLst/>
            <a:gdLst/>
            <a:ahLst/>
            <a:cxnLst/>
            <a:rect r="r" b="b" t="t" l="l"/>
            <a:pathLst>
              <a:path h="235744" w="171450">
                <a:moveTo>
                  <a:pt x="130774" y="171450"/>
                </a:moveTo>
                <a:cubicBezTo>
                  <a:pt x="134035" y="161493"/>
                  <a:pt x="140553" y="152474"/>
                  <a:pt x="147919" y="144706"/>
                </a:cubicBezTo>
                <a:cubicBezTo>
                  <a:pt x="162521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29" y="129347"/>
                  <a:pt x="23531" y="144706"/>
                </a:cubicBezTo>
                <a:cubicBezTo>
                  <a:pt x="30897" y="152474"/>
                  <a:pt x="37460" y="161493"/>
                  <a:pt x="40676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2" y="192881"/>
                </a:lnTo>
                <a:lnTo>
                  <a:pt x="42862" y="200025"/>
                </a:lnTo>
                <a:cubicBezTo>
                  <a:pt x="42862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2" y="50006"/>
                </a:moveTo>
                <a:cubicBezTo>
                  <a:pt x="64383" y="50006"/>
                  <a:pt x="50006" y="64383"/>
                  <a:pt x="50006" y="82152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1" y="92869"/>
                  <a:pt x="28575" y="88091"/>
                  <a:pt x="28575" y="82152"/>
                </a:cubicBezTo>
                <a:cubicBezTo>
                  <a:pt x="28575" y="52551"/>
                  <a:pt x="52551" y="28575"/>
                  <a:pt x="82152" y="28575"/>
                </a:cubicBezTo>
                <a:cubicBezTo>
                  <a:pt x="88091" y="28575"/>
                  <a:pt x="92869" y="33351"/>
                  <a:pt x="92869" y="39291"/>
                </a:cubicBezTo>
                <a:cubicBezTo>
                  <a:pt x="92869" y="45229"/>
                  <a:pt x="88091" y="50006"/>
                  <a:pt x="82152" y="5000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71455" y="5506123"/>
            <a:ext cx="9565624" cy="15211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关键理解：</a:t>
            </a:r>
            <a:r>
              <a:rPr lang="en-US" b="fals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Triton 的 program 对应 CUDA 的 thread block，但 Triton 以向量化方式操作数据，而非单个线程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36897" y="62303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Vector Add 问题定义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56854"/>
            <a:ext cx="3916625" cy="1575526"/>
          </a:xfrm>
          <a:custGeom>
            <a:avLst/>
            <a:gdLst/>
            <a:ahLst/>
            <a:cxnLst/>
            <a:rect r="r" b="b" t="t" l="l"/>
            <a:pathLst>
              <a:path h="1575526" w="3916625">
                <a:moveTo>
                  <a:pt x="147805" y="0"/>
                </a:moveTo>
                <a:lnTo>
                  <a:pt x="3768822" y="0"/>
                </a:lnTo>
                <a:cubicBezTo>
                  <a:pt x="3850452" y="0"/>
                  <a:pt x="3916625" y="47028"/>
                  <a:pt x="3916625" y="105040"/>
                </a:cubicBezTo>
                <a:lnTo>
                  <a:pt x="3916625" y="1470486"/>
                </a:lnTo>
                <a:cubicBezTo>
                  <a:pt x="3916625" y="1528498"/>
                  <a:pt x="3850452" y="1575526"/>
                  <a:pt x="3768822" y="1575526"/>
                </a:cubicBezTo>
                <a:lnTo>
                  <a:pt x="147805" y="1575526"/>
                </a:lnTo>
                <a:cubicBezTo>
                  <a:pt x="66175" y="1575526"/>
                  <a:pt x="0" y="1528498"/>
                  <a:pt x="0" y="1470486"/>
                </a:cubicBezTo>
                <a:lnTo>
                  <a:pt x="0" y="105040"/>
                </a:lnTo>
                <a:cubicBezTo>
                  <a:pt x="0" y="47067"/>
                  <a:pt x="66229" y="0"/>
                  <a:pt x="14780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4" id="4"/>
          <p:cNvGrpSpPr/>
          <p:nvPr/>
        </p:nvGrpSpPr>
        <p:grpSpPr>
          <a:xfrm>
            <a:off x="494853" y="1522995"/>
            <a:ext cx="3514725" cy="1180919"/>
            <a:chOff x="494853" y="1522995"/>
            <a:chExt cx="3514725" cy="1180919"/>
          </a:xfrm>
        </p:grpSpPr>
        <p:sp>
          <p:nvSpPr>
            <p:cNvPr name="Freeform 5" id="5"/>
            <p:cNvSpPr/>
            <p:nvPr/>
          </p:nvSpPr>
          <p:spPr>
            <a:xfrm rot="0" flipH="false" flipV="false">
              <a:off x="556671" y="1522995"/>
              <a:ext cx="3409855" cy="762000"/>
            </a:xfrm>
            <a:custGeom>
              <a:avLst/>
              <a:gdLst/>
              <a:ahLst/>
              <a:cxnLst/>
              <a:rect r="r" b="b" t="t" l="l"/>
              <a:pathLst>
                <a:path h="762000" w="3409855">
                  <a:moveTo>
                    <a:pt x="37909" y="0"/>
                  </a:moveTo>
                  <a:lnTo>
                    <a:pt x="3333655" y="0"/>
                  </a:lnTo>
                  <a:cubicBezTo>
                    <a:pt x="3375711" y="0"/>
                    <a:pt x="3409855" y="34144"/>
                    <a:pt x="3409855" y="76200"/>
                  </a:cubicBezTo>
                  <a:lnTo>
                    <a:pt x="3409855" y="685800"/>
                  </a:lnTo>
                  <a:cubicBezTo>
                    <a:pt x="3409855" y="727856"/>
                    <a:pt x="3375711" y="762000"/>
                    <a:pt x="3333655" y="762000"/>
                  </a:cubicBezTo>
                  <a:lnTo>
                    <a:pt x="37909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556671" y="1522995"/>
              <a:ext cx="37909" cy="762000"/>
            </a:xfrm>
            <a:custGeom>
              <a:avLst/>
              <a:gdLst/>
              <a:ahLst/>
              <a:cxnLst/>
              <a:rect r="r" b="b" t="t" l="l"/>
              <a:pathLst>
                <a:path h="7620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762000"/>
                  </a:lnTo>
                  <a:lnTo>
                    <a:pt x="37909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747049" y="1751567"/>
              <a:ext cx="30480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c[i] = a[i] + b[i]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494853" y="2437214"/>
              <a:ext cx="35147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对两个向量逐元素相加，结果存入第三个向量</a:t>
              </a:r>
              <a:endParaRPr lang="en-US" sz="1100"/>
            </a:p>
          </p:txBody>
        </p:sp>
      </p:grpSp>
      <p:grpSp>
        <p:nvGrpSpPr>
          <p:cNvPr name="Group 9" id="9"/>
          <p:cNvGrpSpPr/>
          <p:nvPr/>
        </p:nvGrpSpPr>
        <p:grpSpPr>
          <a:xfrm>
            <a:off x="380956" y="3052629"/>
            <a:ext cx="5144185" cy="1485688"/>
            <a:chOff x="380956" y="3052629"/>
            <a:chExt cx="5144185" cy="1485688"/>
          </a:xfrm>
        </p:grpSpPr>
        <p:sp>
          <p:nvSpPr>
            <p:cNvPr name="Freeform 10" id="10"/>
            <p:cNvSpPr/>
            <p:nvPr/>
          </p:nvSpPr>
          <p:spPr>
            <a:xfrm rot="0" flipH="false" flipV="false">
              <a:off x="380956" y="3052629"/>
              <a:ext cx="5144185" cy="1485688"/>
            </a:xfrm>
            <a:custGeom>
              <a:avLst/>
              <a:gdLst/>
              <a:ahLst/>
              <a:cxnLst/>
              <a:rect r="r" b="b" t="t" l="l"/>
              <a:pathLst>
                <a:path h="1485688" w="5144185">
                  <a:moveTo>
                    <a:pt x="105694" y="0"/>
                  </a:moveTo>
                  <a:lnTo>
                    <a:pt x="5038489" y="0"/>
                  </a:lnTo>
                  <a:cubicBezTo>
                    <a:pt x="5096863" y="0"/>
                    <a:pt x="5144185" y="37648"/>
                    <a:pt x="5144185" y="84089"/>
                  </a:cubicBezTo>
                  <a:lnTo>
                    <a:pt x="5144185" y="1401599"/>
                  </a:lnTo>
                  <a:cubicBezTo>
                    <a:pt x="5144185" y="1448040"/>
                    <a:pt x="5096863" y="1485688"/>
                    <a:pt x="5038489" y="1485688"/>
                  </a:cubicBezTo>
                  <a:lnTo>
                    <a:pt x="105694" y="1485688"/>
                  </a:lnTo>
                  <a:cubicBezTo>
                    <a:pt x="47321" y="1485688"/>
                    <a:pt x="0" y="1448040"/>
                    <a:pt x="0" y="1401599"/>
                  </a:cubicBezTo>
                  <a:lnTo>
                    <a:pt x="0" y="84089"/>
                  </a:lnTo>
                  <a:cubicBezTo>
                    <a:pt x="0" y="37680"/>
                    <a:pt x="47361" y="0"/>
                    <a:pt x="10569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593091" y="3281201"/>
              <a:ext cx="249531" cy="228600"/>
            </a:xfrm>
            <a:custGeom>
              <a:avLst/>
              <a:gdLst/>
              <a:ahLst/>
              <a:cxnLst/>
              <a:rect r="r" b="b" t="t" l="l"/>
              <a:pathLst>
                <a:path h="228600" w="249531">
                  <a:moveTo>
                    <a:pt x="218340" y="114300"/>
                  </a:moveTo>
                  <a:cubicBezTo>
                    <a:pt x="218340" y="66987"/>
                    <a:pt x="176411" y="28575"/>
                    <a:pt x="124766" y="28575"/>
                  </a:cubicBezTo>
                  <a:cubicBezTo>
                    <a:pt x="73120" y="28575"/>
                    <a:pt x="31191" y="66987"/>
                    <a:pt x="31191" y="114300"/>
                  </a:cubicBezTo>
                  <a:cubicBezTo>
                    <a:pt x="31191" y="161613"/>
                    <a:pt x="73120" y="200025"/>
                    <a:pt x="124766" y="200025"/>
                  </a:cubicBezTo>
                  <a:cubicBezTo>
                    <a:pt x="176411" y="200025"/>
                    <a:pt x="218340" y="161613"/>
                    <a:pt x="218340" y="114300"/>
                  </a:cubicBezTo>
                  <a:close/>
                  <a:moveTo>
                    <a:pt x="0" y="114300"/>
                  </a:moveTo>
                  <a:cubicBezTo>
                    <a:pt x="0" y="51217"/>
                    <a:pt x="55905" y="0"/>
                    <a:pt x="124766" y="0"/>
                  </a:cubicBezTo>
                  <a:cubicBezTo>
                    <a:pt x="193625" y="0"/>
                    <a:pt x="249531" y="51217"/>
                    <a:pt x="249531" y="114300"/>
                  </a:cubicBezTo>
                  <a:cubicBezTo>
                    <a:pt x="249531" y="177383"/>
                    <a:pt x="193625" y="228600"/>
                    <a:pt x="124766" y="228600"/>
                  </a:cubicBezTo>
                  <a:cubicBezTo>
                    <a:pt x="55905" y="228600"/>
                    <a:pt x="0" y="177383"/>
                    <a:pt x="0" y="114300"/>
                  </a:cubicBezTo>
                  <a:close/>
                  <a:moveTo>
                    <a:pt x="124766" y="150019"/>
                  </a:moveTo>
                  <a:cubicBezTo>
                    <a:pt x="146285" y="150019"/>
                    <a:pt x="163755" y="134014"/>
                    <a:pt x="163755" y="114300"/>
                  </a:cubicBezTo>
                  <a:cubicBezTo>
                    <a:pt x="163755" y="94586"/>
                    <a:pt x="146285" y="78581"/>
                    <a:pt x="124766" y="78581"/>
                  </a:cubicBezTo>
                  <a:cubicBezTo>
                    <a:pt x="103246" y="78581"/>
                    <a:pt x="85776" y="94586"/>
                    <a:pt x="85776" y="114300"/>
                  </a:cubicBezTo>
                  <a:cubicBezTo>
                    <a:pt x="85776" y="134014"/>
                    <a:pt x="103246" y="150019"/>
                    <a:pt x="124766" y="150019"/>
                  </a:cubicBezTo>
                  <a:close/>
                  <a:moveTo>
                    <a:pt x="124766" y="50006"/>
                  </a:moveTo>
                  <a:cubicBezTo>
                    <a:pt x="163500" y="50006"/>
                    <a:pt x="194946" y="78815"/>
                    <a:pt x="194946" y="114300"/>
                  </a:cubicBezTo>
                  <a:cubicBezTo>
                    <a:pt x="194946" y="149785"/>
                    <a:pt x="163500" y="178594"/>
                    <a:pt x="124766" y="178594"/>
                  </a:cubicBezTo>
                  <a:cubicBezTo>
                    <a:pt x="86031" y="178594"/>
                    <a:pt x="54585" y="149785"/>
                    <a:pt x="54585" y="114300"/>
                  </a:cubicBezTo>
                  <a:cubicBezTo>
                    <a:pt x="54585" y="78815"/>
                    <a:pt x="86031" y="50006"/>
                    <a:pt x="124766" y="50006"/>
                  </a:cubicBezTo>
                  <a:close/>
                  <a:moveTo>
                    <a:pt x="109170" y="114300"/>
                  </a:moveTo>
                  <a:cubicBezTo>
                    <a:pt x="109170" y="106415"/>
                    <a:pt x="116158" y="100013"/>
                    <a:pt x="124766" y="100013"/>
                  </a:cubicBezTo>
                  <a:cubicBezTo>
                    <a:pt x="133373" y="100013"/>
                    <a:pt x="140362" y="106415"/>
                    <a:pt x="140362" y="114300"/>
                  </a:cubicBezTo>
                  <a:cubicBezTo>
                    <a:pt x="140362" y="122185"/>
                    <a:pt x="133373" y="128587"/>
                    <a:pt x="124766" y="128587"/>
                  </a:cubicBezTo>
                  <a:cubicBezTo>
                    <a:pt x="116158" y="128587"/>
                    <a:pt x="109170" y="122185"/>
                    <a:pt x="109170" y="11430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998508" y="3262172"/>
              <a:ext cx="519856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目标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561900" y="3681260"/>
              <a:ext cx="280722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•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32255" y="3681260"/>
              <a:ext cx="320231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并行化计算</a:t>
              </a: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：充分利用 GPU 并行能力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561900" y="4062216"/>
              <a:ext cx="280722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•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32255" y="4062216"/>
              <a:ext cx="437719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36415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分块处理</a:t>
              </a:r>
              <a:r>
                <a:rPr lang="en-US" b="false" i="false" strike="noStrike" u="none" sz="1400">
                  <a:solidFill>
                    <a:srgbClr val="36415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：每个 program 处理 BLOCK_SIZE 个元素</a:t>
              </a:r>
              <a:endParaRPr lang="en-US" sz="110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400685" y="4662170"/>
            <a:ext cx="5124450" cy="2019300"/>
            <a:chOff x="400685" y="4662170"/>
            <a:chExt cx="5124450" cy="2019300"/>
          </a:xfrm>
        </p:grpSpPr>
        <p:sp>
          <p:nvSpPr>
            <p:cNvPr name="Freeform 18" id="18"/>
            <p:cNvSpPr/>
            <p:nvPr/>
          </p:nvSpPr>
          <p:spPr>
            <a:xfrm rot="0" flipH="false" flipV="false">
              <a:off x="400685" y="4662170"/>
              <a:ext cx="5124450" cy="2019300"/>
            </a:xfrm>
            <a:custGeom>
              <a:avLst/>
              <a:gdLst/>
              <a:ahLst/>
              <a:cxnLst/>
              <a:rect r="r" b="b" t="t" l="l"/>
              <a:pathLst>
                <a:path h="2019300" w="5124450">
                  <a:moveTo>
                    <a:pt x="105289" y="0"/>
                  </a:moveTo>
                  <a:lnTo>
                    <a:pt x="5019161" y="0"/>
                  </a:lnTo>
                  <a:cubicBezTo>
                    <a:pt x="5077310" y="0"/>
                    <a:pt x="5124450" y="51170"/>
                    <a:pt x="5124450" y="114292"/>
                  </a:cubicBezTo>
                  <a:lnTo>
                    <a:pt x="5124450" y="1905008"/>
                  </a:lnTo>
                  <a:cubicBezTo>
                    <a:pt x="5124450" y="1968130"/>
                    <a:pt x="5077310" y="2019300"/>
                    <a:pt x="5019161" y="2019300"/>
                  </a:cubicBezTo>
                  <a:lnTo>
                    <a:pt x="105289" y="2019300"/>
                  </a:lnTo>
                  <a:cubicBezTo>
                    <a:pt x="4714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47179" y="0"/>
                    <a:pt x="10528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637579" y="4924058"/>
              <a:ext cx="210594" cy="200025"/>
            </a:xfrm>
            <a:custGeom>
              <a:avLst/>
              <a:gdLst/>
              <a:ahLst/>
              <a:cxnLst/>
              <a:rect r="r" b="b" t="t" l="l"/>
              <a:pathLst>
                <a:path h="200025" w="210594">
                  <a:moveTo>
                    <a:pt x="78972" y="14288"/>
                  </a:moveTo>
                  <a:cubicBezTo>
                    <a:pt x="78972" y="6385"/>
                    <a:pt x="84855" y="0"/>
                    <a:pt x="92136" y="0"/>
                  </a:cubicBezTo>
                  <a:lnTo>
                    <a:pt x="118459" y="0"/>
                  </a:lnTo>
                  <a:cubicBezTo>
                    <a:pt x="125739" y="0"/>
                    <a:pt x="131622" y="6385"/>
                    <a:pt x="131622" y="14288"/>
                  </a:cubicBezTo>
                  <a:lnTo>
                    <a:pt x="131622" y="42863"/>
                  </a:lnTo>
                  <a:cubicBezTo>
                    <a:pt x="131622" y="50766"/>
                    <a:pt x="125739" y="57150"/>
                    <a:pt x="118459" y="57150"/>
                  </a:cubicBezTo>
                  <a:lnTo>
                    <a:pt x="115169" y="57150"/>
                  </a:lnTo>
                  <a:lnTo>
                    <a:pt x="115169" y="85726"/>
                  </a:lnTo>
                  <a:lnTo>
                    <a:pt x="164527" y="85726"/>
                  </a:lnTo>
                  <a:cubicBezTo>
                    <a:pt x="180898" y="85726"/>
                    <a:pt x="194141" y="100102"/>
                    <a:pt x="194141" y="117872"/>
                  </a:cubicBezTo>
                  <a:lnTo>
                    <a:pt x="194141" y="142876"/>
                  </a:lnTo>
                  <a:lnTo>
                    <a:pt x="197433" y="142876"/>
                  </a:lnTo>
                  <a:cubicBezTo>
                    <a:pt x="204711" y="142876"/>
                    <a:pt x="210594" y="149260"/>
                    <a:pt x="210594" y="157163"/>
                  </a:cubicBezTo>
                  <a:lnTo>
                    <a:pt x="210594" y="185738"/>
                  </a:lnTo>
                  <a:cubicBezTo>
                    <a:pt x="210594" y="193641"/>
                    <a:pt x="204711" y="200026"/>
                    <a:pt x="197433" y="200026"/>
                  </a:cubicBezTo>
                  <a:lnTo>
                    <a:pt x="171108" y="200026"/>
                  </a:lnTo>
                  <a:cubicBezTo>
                    <a:pt x="163827" y="200026"/>
                    <a:pt x="157946" y="193641"/>
                    <a:pt x="157946" y="185738"/>
                  </a:cubicBezTo>
                  <a:lnTo>
                    <a:pt x="157946" y="157163"/>
                  </a:lnTo>
                  <a:cubicBezTo>
                    <a:pt x="157946" y="149260"/>
                    <a:pt x="163827" y="142876"/>
                    <a:pt x="171108" y="142876"/>
                  </a:cubicBezTo>
                  <a:lnTo>
                    <a:pt x="174398" y="142876"/>
                  </a:lnTo>
                  <a:lnTo>
                    <a:pt x="174398" y="117872"/>
                  </a:lnTo>
                  <a:cubicBezTo>
                    <a:pt x="174398" y="111934"/>
                    <a:pt x="169997" y="107157"/>
                    <a:pt x="164527" y="107157"/>
                  </a:cubicBezTo>
                  <a:lnTo>
                    <a:pt x="115169" y="107157"/>
                  </a:lnTo>
                  <a:lnTo>
                    <a:pt x="115169" y="142876"/>
                  </a:lnTo>
                  <a:lnTo>
                    <a:pt x="118459" y="142876"/>
                  </a:lnTo>
                  <a:cubicBezTo>
                    <a:pt x="125739" y="142876"/>
                    <a:pt x="131622" y="149260"/>
                    <a:pt x="131622" y="157163"/>
                  </a:cubicBezTo>
                  <a:lnTo>
                    <a:pt x="131622" y="185738"/>
                  </a:lnTo>
                  <a:cubicBezTo>
                    <a:pt x="131622" y="193641"/>
                    <a:pt x="125739" y="200026"/>
                    <a:pt x="118459" y="200026"/>
                  </a:cubicBezTo>
                  <a:lnTo>
                    <a:pt x="92136" y="200026"/>
                  </a:lnTo>
                  <a:cubicBezTo>
                    <a:pt x="84855" y="200026"/>
                    <a:pt x="78972" y="193641"/>
                    <a:pt x="78972" y="185738"/>
                  </a:cubicBezTo>
                  <a:lnTo>
                    <a:pt x="78972" y="157163"/>
                  </a:lnTo>
                  <a:cubicBezTo>
                    <a:pt x="78972" y="149260"/>
                    <a:pt x="84855" y="142876"/>
                    <a:pt x="92136" y="142876"/>
                  </a:cubicBezTo>
                  <a:lnTo>
                    <a:pt x="95425" y="142876"/>
                  </a:lnTo>
                  <a:lnTo>
                    <a:pt x="95425" y="107157"/>
                  </a:lnTo>
                  <a:lnTo>
                    <a:pt x="46067" y="107157"/>
                  </a:lnTo>
                  <a:cubicBezTo>
                    <a:pt x="40597" y="107157"/>
                    <a:pt x="36196" y="111934"/>
                    <a:pt x="36196" y="117872"/>
                  </a:cubicBezTo>
                  <a:lnTo>
                    <a:pt x="36196" y="142876"/>
                  </a:lnTo>
                  <a:lnTo>
                    <a:pt x="39487" y="142876"/>
                  </a:lnTo>
                  <a:cubicBezTo>
                    <a:pt x="46766" y="142876"/>
                    <a:pt x="52649" y="149260"/>
                    <a:pt x="52649" y="157163"/>
                  </a:cubicBezTo>
                  <a:lnTo>
                    <a:pt x="52649" y="185738"/>
                  </a:lnTo>
                  <a:cubicBezTo>
                    <a:pt x="52649" y="193641"/>
                    <a:pt x="46766" y="200026"/>
                    <a:pt x="39487" y="200026"/>
                  </a:cubicBezTo>
                  <a:lnTo>
                    <a:pt x="13162" y="200026"/>
                  </a:lnTo>
                  <a:cubicBezTo>
                    <a:pt x="5883" y="200026"/>
                    <a:pt x="0" y="193641"/>
                    <a:pt x="0" y="185738"/>
                  </a:cubicBezTo>
                  <a:lnTo>
                    <a:pt x="0" y="157163"/>
                  </a:lnTo>
                  <a:cubicBezTo>
                    <a:pt x="0" y="149260"/>
                    <a:pt x="5883" y="142876"/>
                    <a:pt x="13162" y="142876"/>
                  </a:cubicBezTo>
                  <a:lnTo>
                    <a:pt x="16453" y="142876"/>
                  </a:lnTo>
                  <a:lnTo>
                    <a:pt x="16453" y="117872"/>
                  </a:lnTo>
                  <a:cubicBezTo>
                    <a:pt x="16453" y="100102"/>
                    <a:pt x="29696" y="85726"/>
                    <a:pt x="46067" y="85726"/>
                  </a:cubicBezTo>
                  <a:lnTo>
                    <a:pt x="95425" y="85726"/>
                  </a:lnTo>
                  <a:lnTo>
                    <a:pt x="95425" y="57150"/>
                  </a:lnTo>
                  <a:lnTo>
                    <a:pt x="92136" y="57150"/>
                  </a:lnTo>
                  <a:cubicBezTo>
                    <a:pt x="84855" y="57150"/>
                    <a:pt x="78972" y="50766"/>
                    <a:pt x="78972" y="42863"/>
                  </a:cubicBezTo>
                  <a:lnTo>
                    <a:pt x="78972" y="14288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979734" y="4890742"/>
              <a:ext cx="789727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并行策略</a:t>
              </a:r>
              <a:endParaRPr lang="en-US" sz="1100"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611255" y="5309830"/>
              <a:ext cx="280792" cy="304800"/>
            </a:xfrm>
            <a:custGeom>
              <a:avLst/>
              <a:gdLst/>
              <a:ahLst/>
              <a:cxnLst/>
              <a:rect r="r" b="b" t="t" l="l"/>
              <a:pathLst>
                <a:path h="304800" w="280792">
                  <a:moveTo>
                    <a:pt x="35099" y="0"/>
                  </a:moveTo>
                  <a:lnTo>
                    <a:pt x="245693" y="0"/>
                  </a:lnTo>
                  <a:cubicBezTo>
                    <a:pt x="265064" y="0"/>
                    <a:pt x="280792" y="17073"/>
                    <a:pt x="280792" y="38100"/>
                  </a:cubicBezTo>
                  <a:lnTo>
                    <a:pt x="280792" y="266700"/>
                  </a:lnTo>
                  <a:cubicBezTo>
                    <a:pt x="280792" y="287727"/>
                    <a:pt x="265064" y="304800"/>
                    <a:pt x="245693" y="304800"/>
                  </a:cubicBezTo>
                  <a:lnTo>
                    <a:pt x="35099" y="304800"/>
                  </a:lnTo>
                  <a:cubicBezTo>
                    <a:pt x="15728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728" y="0"/>
                    <a:pt x="3509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580544" y="5309830"/>
              <a:ext cx="34221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1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997264" y="5328859"/>
              <a:ext cx="270274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将向量划分为多个数据块</a:t>
              </a:r>
              <a:endParaRPr lang="en-US" sz="1100"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611255" y="5728844"/>
              <a:ext cx="280792" cy="304800"/>
            </a:xfrm>
            <a:custGeom>
              <a:avLst/>
              <a:gdLst/>
              <a:ahLst/>
              <a:cxnLst/>
              <a:rect r="r" b="b" t="t" l="l"/>
              <a:pathLst>
                <a:path h="304800" w="280792">
                  <a:moveTo>
                    <a:pt x="35099" y="0"/>
                  </a:moveTo>
                  <a:lnTo>
                    <a:pt x="245693" y="0"/>
                  </a:lnTo>
                  <a:cubicBezTo>
                    <a:pt x="265064" y="0"/>
                    <a:pt x="280792" y="17073"/>
                    <a:pt x="280792" y="38100"/>
                  </a:cubicBezTo>
                  <a:lnTo>
                    <a:pt x="280792" y="266700"/>
                  </a:lnTo>
                  <a:cubicBezTo>
                    <a:pt x="280792" y="287727"/>
                    <a:pt x="265064" y="304800"/>
                    <a:pt x="245693" y="304800"/>
                  </a:cubicBezTo>
                  <a:lnTo>
                    <a:pt x="35099" y="304800"/>
                  </a:lnTo>
                  <a:cubicBezTo>
                    <a:pt x="15728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728" y="0"/>
                    <a:pt x="3509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580544" y="5728844"/>
              <a:ext cx="34221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1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997264" y="5747873"/>
              <a:ext cx="278464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每个 program 处理一个块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611255" y="6147858"/>
              <a:ext cx="280792" cy="304800"/>
            </a:xfrm>
            <a:custGeom>
              <a:avLst/>
              <a:gdLst/>
              <a:ahLst/>
              <a:cxnLst/>
              <a:rect r="r" b="b" t="t" l="l"/>
              <a:pathLst>
                <a:path h="304800" w="280792">
                  <a:moveTo>
                    <a:pt x="35099" y="0"/>
                  </a:moveTo>
                  <a:lnTo>
                    <a:pt x="245693" y="0"/>
                  </a:lnTo>
                  <a:cubicBezTo>
                    <a:pt x="265064" y="0"/>
                    <a:pt x="280792" y="17073"/>
                    <a:pt x="280792" y="38100"/>
                  </a:cubicBezTo>
                  <a:lnTo>
                    <a:pt x="280792" y="266700"/>
                  </a:lnTo>
                  <a:cubicBezTo>
                    <a:pt x="280792" y="287727"/>
                    <a:pt x="265064" y="304800"/>
                    <a:pt x="245693" y="304800"/>
                  </a:cubicBezTo>
                  <a:lnTo>
                    <a:pt x="35099" y="304800"/>
                  </a:lnTo>
                  <a:cubicBezTo>
                    <a:pt x="15728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728" y="0"/>
                    <a:pt x="3509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580544" y="6147858"/>
              <a:ext cx="34221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1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3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997264" y="6166887"/>
              <a:ext cx="2140313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块内元素并行计算</a:t>
              </a:r>
              <a:endParaRPr lang="en-US" sz="1100"/>
            </a:p>
          </p:txBody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991918" y="1352439"/>
            <a:ext cx="5638182" cy="44428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1" id="31"/>
          <p:cNvSpPr/>
          <p:nvPr/>
        </p:nvSpPr>
        <p:spPr>
          <a:xfrm rot="0" flipH="false" flipV="false">
            <a:off x="5806049" y="6542917"/>
            <a:ext cx="6799699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图片来源：https://www.learnpdc.org/PDCBeginners/4-cuda/6-VectorAddTiming.html</a:t>
            </a:r>
            <a:endParaRPr lang="en-US" sz="1100"/>
          </a:p>
        </p:txBody>
      </p:sp>
      <p:sp>
        <p:nvSpPr>
          <p:cNvPr name="AutoShape 32" id="32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7439" y="60945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官方 Kernel 示例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333235"/>
            <a:ext cx="11267980" cy="4953000"/>
          </a:xfrm>
          <a:custGeom>
            <a:avLst/>
            <a:gdLst/>
            <a:ahLst/>
            <a:cxnLst/>
            <a:rect r="r" b="b" t="t" l="l"/>
            <a:pathLst>
              <a:path h="4953000" w="11267980">
                <a:moveTo>
                  <a:pt x="37909" y="0"/>
                </a:moveTo>
                <a:lnTo>
                  <a:pt x="11153665" y="0"/>
                </a:lnTo>
                <a:cubicBezTo>
                  <a:pt x="11216800" y="0"/>
                  <a:pt x="11267980" y="51181"/>
                  <a:pt x="11267980" y="114315"/>
                </a:cubicBezTo>
                <a:lnTo>
                  <a:pt x="11267980" y="4838685"/>
                </a:lnTo>
                <a:cubicBezTo>
                  <a:pt x="11267980" y="4901819"/>
                  <a:pt x="11216800" y="4953000"/>
                  <a:pt x="11153665" y="4953000"/>
                </a:cubicBez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333235"/>
            <a:ext cx="37909" cy="4953000"/>
          </a:xfrm>
          <a:custGeom>
            <a:avLst/>
            <a:gdLst/>
            <a:ahLst/>
            <a:cxnLst/>
            <a:rect r="r" b="b" t="t" l="l"/>
            <a:pathLst>
              <a:path h="4953000" w="37909">
                <a:moveTo>
                  <a:pt x="37909" y="0"/>
                </a:moveTo>
                <a:lnTo>
                  <a:pt x="37909" y="0"/>
                </a:lnTo>
                <a:lnTo>
                  <a:pt x="37909" y="4953000"/>
                </a:ln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99888" y="704537"/>
            <a:ext cx="10868025" cy="594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@triton.jit </a:t>
            </a:r>
            <a:br>
              <a:rPr lang="en-US" b="true" i="false" strike="noStrike" u="none" sz="1200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true" i="false" strike="noStrike" u="none" sz="1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-US" b="true" i="false" strike="noStrike" u="none" sz="1200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add_kernel</a:t>
            </a: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(x_ptr, y_ptr, output_ptr, n_elements,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           BLOCK_SIZE: tl.constexpr):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获取当前 program 的 ID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pid = tl.program_id(axis=</a:t>
            </a:r>
            <a:r>
              <a:rPr lang="en-US" b="false" i="false" strike="noStrike" u="none" sz="12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计算当前 block 的起始位置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block_start = pid * BLOCK_SIZE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生成局部偏移量数组 [0, 1, 2, ..., BLOCK_SIZE-1]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offsets = block_start + tl.arange(</a:t>
            </a:r>
            <a:r>
              <a:rPr lang="en-US" b="false" i="false" strike="noStrike" u="none" sz="12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, BLOCK_SIZE)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创建 mask，防止越界访问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mask = offsets &lt; n_elements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从全局内存加载数据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x = tl.load(x_ptr + offsets, mask=mask)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y = tl.load(y_ptr + offsets, mask=mask)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执行向量加法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output = x + 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 将结果写回全局内存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tl.store(output_ptr + offsets, output, mask=mask)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0956" y="6571937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代码来源：Triton 官方教程 https://triton-lang.org/main/getting-started/tutorials/01-vector-add.html</a:t>
            </a:r>
            <a:endParaRPr lang="en-US" sz="1100"/>
          </a:p>
        </p:txBody>
      </p:sp>
      <p:sp>
        <p:nvSpPr>
          <p:cNvPr name="AutoShape 7" id="7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5532" y="62917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 program_id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78890" y="2830298"/>
            <a:ext cx="5505355" cy="2133540"/>
            <a:chOff x="378890" y="2830298"/>
            <a:chExt cx="5505355" cy="213354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78890" y="2830298"/>
              <a:ext cx="5505355" cy="762000"/>
            </a:xfrm>
            <a:custGeom>
              <a:avLst/>
              <a:gdLst/>
              <a:ahLst/>
              <a:cxnLst/>
              <a:rect r="r" b="b" t="t" l="l"/>
              <a:pathLst>
                <a:path h="762000" w="5505355">
                  <a:moveTo>
                    <a:pt x="37910" y="0"/>
                  </a:moveTo>
                  <a:lnTo>
                    <a:pt x="5391055" y="0"/>
                  </a:lnTo>
                  <a:cubicBezTo>
                    <a:pt x="5454139" y="0"/>
                    <a:pt x="5505355" y="51217"/>
                    <a:pt x="5505355" y="114300"/>
                  </a:cubicBezTo>
                  <a:lnTo>
                    <a:pt x="5505355" y="647700"/>
                  </a:lnTo>
                  <a:cubicBezTo>
                    <a:pt x="5505355" y="710783"/>
                    <a:pt x="5454139" y="762000"/>
                    <a:pt x="5391055" y="762000"/>
                  </a:cubicBezTo>
                  <a:lnTo>
                    <a:pt x="37910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78890" y="2830298"/>
              <a:ext cx="37909" cy="762000"/>
            </a:xfrm>
            <a:custGeom>
              <a:avLst/>
              <a:gdLst/>
              <a:ahLst/>
              <a:cxnLst/>
              <a:rect r="r" b="b" t="t" l="l"/>
              <a:pathLst>
                <a:path h="76200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762000"/>
                  </a:lnTo>
                  <a:lnTo>
                    <a:pt x="37910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626418" y="3058870"/>
              <a:ext cx="5124450" cy="3143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pid = tl.program_id(axis=0)</a:t>
              </a:r>
              <a:endParaRPr lang="en-US" sz="1100"/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383747" y="3863654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712309" y="3825596"/>
              <a:ext cx="3190875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返回当前 program 在 grid 第 0 维的编号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383747" y="429466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712309" y="4256602"/>
              <a:ext cx="2219325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类似 CUDA 的 </a:t>
              </a:r>
              <a:r>
                <a:rPr lang="en-US" b="false" i="false" strike="noStrike" u="none" sz="120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/>
                  <a:ea typeface="MiSans"/>
                  <a:cs typeface="MiSans"/>
                  <a:sym typeface="MiSans"/>
                </a:rPr>
                <a:t>blockIdx.x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383747" y="4725671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712309" y="4687613"/>
              <a:ext cx="3429000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用于确定当前 program 应该处理哪个数据块</a:t>
              </a:r>
              <a:endParaRPr lang="en-US" sz="1100"/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6415345" y="1494066"/>
            <a:ext cx="5524500" cy="3619500"/>
            <a:chOff x="6415345" y="1494066"/>
            <a:chExt cx="5524500" cy="3619500"/>
          </a:xfrm>
        </p:grpSpPr>
        <p:sp>
          <p:nvSpPr>
            <p:cNvPr name="Freeform 14" id="14"/>
            <p:cNvSpPr/>
            <p:nvPr/>
          </p:nvSpPr>
          <p:spPr>
            <a:xfrm rot="0" flipH="false" flipV="false">
              <a:off x="6415345" y="1494066"/>
              <a:ext cx="5524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5524500">
                  <a:moveTo>
                    <a:pt x="114304" y="0"/>
                  </a:moveTo>
                  <a:lnTo>
                    <a:pt x="5410196" y="0"/>
                  </a:lnTo>
                  <a:cubicBezTo>
                    <a:pt x="5473324" y="0"/>
                    <a:pt x="5524500" y="51176"/>
                    <a:pt x="5524500" y="114304"/>
                  </a:cubicBezTo>
                  <a:lnTo>
                    <a:pt x="5524500" y="3505196"/>
                  </a:lnTo>
                  <a:cubicBezTo>
                    <a:pt x="5524500" y="3568324"/>
                    <a:pt x="5473324" y="3619500"/>
                    <a:pt x="5410196" y="3619500"/>
                  </a:cubicBezTo>
                  <a:lnTo>
                    <a:pt x="114304" y="3619500"/>
                  </a:lnTo>
                  <a:cubicBezTo>
                    <a:pt x="51176" y="3619500"/>
                    <a:pt x="0" y="3568324"/>
                    <a:pt x="0" y="3505196"/>
                  </a:cubicBezTo>
                  <a:lnTo>
                    <a:pt x="0" y="114304"/>
                  </a:lnTo>
                  <a:cubicBezTo>
                    <a:pt x="0" y="51218"/>
                    <a:pt x="51218" y="0"/>
                    <a:pt x="11430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596294" y="1722641"/>
              <a:ext cx="51625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Grid 中的 program 分布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643919" y="2217922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605819" y="2217922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0</a:t>
              </a:r>
              <a:endParaRPr lang="en-US" sz="1100"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7215315" y="2217922"/>
              <a:ext cx="4495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4958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7215315" y="2217922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处理数据块 0</a:t>
              </a:r>
              <a:endParaRPr lang="en-US" sz="1100"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643919" y="2789315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605819" y="2789315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7215315" y="2789315"/>
              <a:ext cx="4495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4958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215315" y="2789315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处理数据块 1</a:t>
              </a:r>
              <a:endParaRPr lang="en-US" sz="1100"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6643919" y="3360713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605819" y="3360713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Freeform 26" id="26"/>
            <p:cNvSpPr/>
            <p:nvPr/>
          </p:nvSpPr>
          <p:spPr>
            <a:xfrm rot="0" flipH="false" flipV="false">
              <a:off x="7215315" y="3360713"/>
              <a:ext cx="4495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4958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215315" y="3360713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处理数据块 2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6605819" y="3932110"/>
              <a:ext cx="514350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76200" bIns="762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99A1AF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6643919" y="4427313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605819" y="4427313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N</a:t>
              </a:r>
              <a:endParaRPr lang="en-US" sz="1100"/>
            </a:p>
          </p:txBody>
        </p:sp>
        <p:sp>
          <p:nvSpPr>
            <p:cNvPr name="Freeform 31" id="31"/>
            <p:cNvSpPr/>
            <p:nvPr/>
          </p:nvSpPr>
          <p:spPr>
            <a:xfrm rot="0" flipH="false" flipV="false">
              <a:off x="7215315" y="4427313"/>
              <a:ext cx="4495800" cy="457200"/>
            </a:xfrm>
            <a:custGeom>
              <a:avLst/>
              <a:gdLst/>
              <a:ahLst/>
              <a:cxnLst/>
              <a:rect r="r" b="b" t="t" l="l"/>
              <a:pathLst>
                <a:path h="457200" w="44958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215315" y="4427313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处理数据块 N</a:t>
              </a:r>
              <a:endParaRPr lang="en-US" sz="1100"/>
            </a:p>
          </p:txBody>
        </p:sp>
      </p:grpSp>
      <p:sp>
        <p:nvSpPr>
          <p:cNvPr name="AutoShape 33" id="33"/>
          <p:cNvSpPr/>
          <p:nvPr/>
        </p:nvSpPr>
        <p:spPr>
          <a:xfrm rot="0" flipH="false" flipV="false">
            <a:off x="380956" y="6533258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图片来源：Triton 官方文档 https://triton-lang.org/main/python-api/generated/triton.language.program_id.html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80957" y="1494066"/>
            <a:ext cx="5715044" cy="97901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5" id="35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2349" y="63880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Offset 计算方式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570620"/>
            <a:ext cx="5543455" cy="1847850"/>
          </a:xfrm>
          <a:custGeom>
            <a:avLst/>
            <a:gdLst/>
            <a:ahLst/>
            <a:cxnLst/>
            <a:rect r="r" b="b" t="t" l="l"/>
            <a:pathLst>
              <a:path h="1847850" w="5543455">
                <a:moveTo>
                  <a:pt x="37909" y="0"/>
                </a:moveTo>
                <a:lnTo>
                  <a:pt x="5429147" y="0"/>
                </a:lnTo>
                <a:cubicBezTo>
                  <a:pt x="5492278" y="0"/>
                  <a:pt x="5543455" y="51177"/>
                  <a:pt x="5543455" y="114308"/>
                </a:cubicBezTo>
                <a:lnTo>
                  <a:pt x="5543455" y="1733542"/>
                </a:lnTo>
                <a:cubicBezTo>
                  <a:pt x="5543455" y="1796673"/>
                  <a:pt x="5492278" y="1847850"/>
                  <a:pt x="5429147" y="1847850"/>
                </a:cubicBezTo>
                <a:lnTo>
                  <a:pt x="37909" y="1847850"/>
                </a:lnTo>
                <a:cubicBezTo>
                  <a:pt x="16974" y="1847850"/>
                  <a:pt x="0" y="1830876"/>
                  <a:pt x="0" y="180994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570620"/>
            <a:ext cx="37909" cy="1847850"/>
          </a:xfrm>
          <a:custGeom>
            <a:avLst/>
            <a:gdLst/>
            <a:ahLst/>
            <a:cxnLst/>
            <a:rect r="r" b="b" t="t" l="l"/>
            <a:pathLst>
              <a:path h="1847850" w="37909">
                <a:moveTo>
                  <a:pt x="37909" y="0"/>
                </a:moveTo>
                <a:lnTo>
                  <a:pt x="37909" y="0"/>
                </a:lnTo>
                <a:lnTo>
                  <a:pt x="37909" y="1847850"/>
                </a:lnTo>
                <a:lnTo>
                  <a:pt x="37909" y="1847850"/>
                </a:lnTo>
                <a:cubicBezTo>
                  <a:pt x="16974" y="1847850"/>
                  <a:pt x="0" y="1830876"/>
                  <a:pt x="0" y="180994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439" y="1799193"/>
            <a:ext cx="5153025" cy="1390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计算当前 block 的起始位置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block_start = pid * BLOCK_SIZE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生成全局偏移量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offsets = block_start + tl.arange(</a:t>
            </a:r>
            <a:r>
              <a:rPr lang="en-US" b="false" i="false" strike="noStrike" u="none" sz="14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0</a:t>
            </a:r>
            <a:r>
              <a:rPr lang="en-US" b="false" i="false" strike="noStrike" u="none" sz="14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, BLOCK_SIZE)</a:t>
            </a:r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48338" y="1771948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10238" y="1771948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43543" y="1771948"/>
            <a:ext cx="3495675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3810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每个 program 处理 </a:t>
            </a:r>
            <a:r>
              <a:rPr lang="en-US" b="true" i="false" strike="noStrike" u="none" sz="14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BLOCK_SIZE</a:t>
            </a: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 个连续元素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48338" y="2305283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10238" y="2305283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43543" y="2305283"/>
            <a:ext cx="47244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3810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/>
                <a:ea typeface="MiSans"/>
                <a:cs typeface="MiSans"/>
                <a:sym typeface="MiSans"/>
              </a:rPr>
              <a:t>tl.arange </a:t>
            </a: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生成局部索引 </a:t>
            </a:r>
            <a:r>
              <a:rPr lang="en-US" b="false" i="false" strike="noStrike" u="none" sz="140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/>
                <a:ea typeface="MiSans"/>
                <a:cs typeface="MiSans"/>
                <a:sym typeface="MiSans"/>
              </a:rPr>
              <a:t>[0, 1, ..., BLOCK_SIZE-1]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48338" y="2838622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10238" y="283862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43543" y="2838622"/>
            <a:ext cx="27432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3810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加上 </a:t>
            </a:r>
            <a:r>
              <a:rPr lang="en-US" b="false" i="false" strike="noStrike" u="none" sz="140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/>
                <a:ea typeface="MiSans"/>
                <a:cs typeface="MiSans"/>
                <a:sym typeface="MiSans"/>
              </a:rPr>
              <a:t>block_start </a:t>
            </a:r>
            <a:r>
              <a:rPr lang="en-US" b="false" i="false" strike="noStrike" u="none" sz="14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得到全局索引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0956" y="3649475"/>
            <a:ext cx="11430000" cy="2362200"/>
          </a:xfrm>
          <a:custGeom>
            <a:avLst/>
            <a:gdLst/>
            <a:ahLst/>
            <a:cxnLst/>
            <a:rect r="r" b="b" t="t" l="l"/>
            <a:pathLst>
              <a:path h="2362200" w="11430000">
                <a:moveTo>
                  <a:pt x="114308" y="0"/>
                </a:moveTo>
                <a:lnTo>
                  <a:pt x="11315692" y="0"/>
                </a:lnTo>
                <a:cubicBezTo>
                  <a:pt x="11378781" y="0"/>
                  <a:pt x="11430000" y="51219"/>
                  <a:pt x="11430000" y="114308"/>
                </a:cubicBezTo>
                <a:lnTo>
                  <a:pt x="11430000" y="2247892"/>
                </a:lnTo>
                <a:cubicBezTo>
                  <a:pt x="11430000" y="2310981"/>
                  <a:pt x="11378781" y="2362200"/>
                  <a:pt x="11315692" y="2362200"/>
                </a:cubicBezTo>
                <a:lnTo>
                  <a:pt x="114308" y="2362200"/>
                </a:lnTo>
                <a:cubicBezTo>
                  <a:pt x="51219" y="2362200"/>
                  <a:pt x="0" y="2310981"/>
                  <a:pt x="0" y="2247892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529" y="387804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计算示例（BLOCK_SIZE = 256）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19007" y="4306615"/>
            <a:ext cx="3533680" cy="1466755"/>
          </a:xfrm>
          <a:custGeom>
            <a:avLst/>
            <a:gdLst/>
            <a:ahLst/>
            <a:cxnLst/>
            <a:rect r="r" b="b" t="t" l="l"/>
            <a:pathLst>
              <a:path h="1466755" w="3533680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0866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program_id = 0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799822" y="4735106"/>
            <a:ext cx="3190780" cy="609600"/>
          </a:xfrm>
          <a:custGeom>
            <a:avLst/>
            <a:gdLst/>
            <a:ahLst/>
            <a:cxnLst/>
            <a:rect r="r" b="b" t="t" l="l"/>
            <a:pathLst>
              <a:path h="609600" w="319078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799822" y="4735106"/>
            <a:ext cx="37909" cy="609600"/>
          </a:xfrm>
          <a:custGeom>
            <a:avLst/>
            <a:gdLst/>
            <a:ahLst/>
            <a:cxnLst/>
            <a:rect r="r" b="b" t="t" l="l"/>
            <a:pathLst>
              <a:path h="609600" w="37909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3026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block_start = 0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offsets = [0..255]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80866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处理元素 0-255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4327418" y="4306615"/>
            <a:ext cx="3533680" cy="1466755"/>
          </a:xfrm>
          <a:custGeom>
            <a:avLst/>
            <a:gdLst/>
            <a:ahLst/>
            <a:cxnLst/>
            <a:rect r="r" b="b" t="t" l="l"/>
            <a:pathLst>
              <a:path h="1466755" w="3533680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89278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program_id = 1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508233" y="4735106"/>
            <a:ext cx="3190780" cy="609600"/>
          </a:xfrm>
          <a:custGeom>
            <a:avLst/>
            <a:gdLst/>
            <a:ahLst/>
            <a:cxnLst/>
            <a:rect r="r" b="b" t="t" l="l"/>
            <a:pathLst>
              <a:path h="609600" w="319078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4508233" y="4735106"/>
            <a:ext cx="37910" cy="609600"/>
          </a:xfrm>
          <a:custGeom>
            <a:avLst/>
            <a:gdLst/>
            <a:ahLst/>
            <a:cxnLst/>
            <a:rect r="r" b="b" t="t" l="l"/>
            <a:pathLst>
              <a:path h="609600" w="37910">
                <a:moveTo>
                  <a:pt x="37909" y="0"/>
                </a:moveTo>
                <a:lnTo>
                  <a:pt x="37909" y="0"/>
                </a:lnTo>
                <a:lnTo>
                  <a:pt x="37909" y="609600"/>
                </a:ln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41438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block_start = 256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offsets = [256..511]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489278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处理元素 256-511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8035830" y="4306615"/>
            <a:ext cx="3533680" cy="1466755"/>
          </a:xfrm>
          <a:custGeom>
            <a:avLst/>
            <a:gdLst/>
            <a:ahLst/>
            <a:cxnLst/>
            <a:rect r="r" b="b" t="t" l="l"/>
            <a:pathLst>
              <a:path h="1466755" w="3533680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97690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program_id = 2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8216645" y="4735106"/>
            <a:ext cx="3190780" cy="609600"/>
          </a:xfrm>
          <a:custGeom>
            <a:avLst/>
            <a:gdLst/>
            <a:ahLst/>
            <a:cxnLst/>
            <a:rect r="r" b="b" t="t" l="l"/>
            <a:pathLst>
              <a:path h="609600" w="319078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8216645" y="4735106"/>
            <a:ext cx="37910" cy="609600"/>
          </a:xfrm>
          <a:custGeom>
            <a:avLst/>
            <a:gdLst/>
            <a:ahLst/>
            <a:cxnLst/>
            <a:rect r="r" b="b" t="t" l="l"/>
            <a:pathLst>
              <a:path h="609600" w="37910">
                <a:moveTo>
                  <a:pt x="37909" y="0"/>
                </a:moveTo>
                <a:lnTo>
                  <a:pt x="37909" y="0"/>
                </a:lnTo>
                <a:lnTo>
                  <a:pt x="37909" y="609600"/>
                </a:ln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49850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block_start = 512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offsets = [512..767]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97690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处理元素 512-767</a:t>
            </a:r>
            <a:endParaRPr lang="en-US" sz="1100"/>
          </a:p>
        </p:txBody>
      </p:sp>
      <p:sp>
        <p:nvSpPr>
          <p:cNvPr name="AutoShape 35" id="35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9260" y="615256"/>
            <a:ext cx="11665604" cy="3396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4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tl.arange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75935" y="3383603"/>
            <a:ext cx="5586585" cy="2943784"/>
            <a:chOff x="375935" y="3383603"/>
            <a:chExt cx="5586585" cy="2943784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92831" y="3383603"/>
              <a:ext cx="5569520" cy="679220"/>
            </a:xfrm>
            <a:custGeom>
              <a:avLst/>
              <a:gdLst/>
              <a:ahLst/>
              <a:cxnLst/>
              <a:rect r="r" b="b" t="t" l="l"/>
              <a:pathLst>
                <a:path h="679220" w="5569520">
                  <a:moveTo>
                    <a:pt x="33792" y="0"/>
                  </a:moveTo>
                  <a:lnTo>
                    <a:pt x="5467637" y="0"/>
                  </a:lnTo>
                  <a:cubicBezTo>
                    <a:pt x="5523904" y="0"/>
                    <a:pt x="5569520" y="45615"/>
                    <a:pt x="5569520" y="101883"/>
                  </a:cubicBezTo>
                  <a:lnTo>
                    <a:pt x="5569520" y="577337"/>
                  </a:lnTo>
                  <a:cubicBezTo>
                    <a:pt x="5569520" y="633606"/>
                    <a:pt x="5523904" y="679220"/>
                    <a:pt x="5467637" y="679220"/>
                  </a:cubicBezTo>
                  <a:lnTo>
                    <a:pt x="33792" y="679220"/>
                  </a:lnTo>
                  <a:cubicBezTo>
                    <a:pt x="15130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92831" y="3383603"/>
              <a:ext cx="33792" cy="679220"/>
            </a:xfrm>
            <a:custGeom>
              <a:avLst/>
              <a:gdLst/>
              <a:ahLst/>
              <a:cxnLst/>
              <a:rect r="r" b="b" t="t" l="l"/>
              <a:pathLst>
                <a:path h="679220" w="33792">
                  <a:moveTo>
                    <a:pt x="33792" y="0"/>
                  </a:moveTo>
                  <a:lnTo>
                    <a:pt x="33792" y="0"/>
                  </a:lnTo>
                  <a:lnTo>
                    <a:pt x="33792" y="679220"/>
                  </a:lnTo>
                  <a:lnTo>
                    <a:pt x="33792" y="679220"/>
                  </a:lnTo>
                  <a:cubicBezTo>
                    <a:pt x="15130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613470" y="3587345"/>
              <a:ext cx="5229994" cy="28017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3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tl.arange(</a:t>
              </a:r>
              <a:r>
                <a:rPr lang="en-US" b="false" i="false" strike="noStrike" u="none" sz="1300">
                  <a:solidFill>
                    <a:srgbClr val="0099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r>
                <a:rPr lang="en-US" b="false" i="false" strike="noStrike" u="none" sz="13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, BLOCK_SIZE)</a:t>
              </a:r>
              <a:endParaRPr lang="en-US" sz="1100"/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375935" y="4270777"/>
              <a:ext cx="5586585" cy="925438"/>
            </a:xfrm>
            <a:custGeom>
              <a:avLst/>
              <a:gdLst/>
              <a:ahLst/>
              <a:cxnLst/>
              <a:rect r="r" b="b" t="t" l="l"/>
              <a:pathLst>
                <a:path h="925438" w="5586585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5"/>
                    <a:pt x="5556152" y="925438"/>
                    <a:pt x="5518667" y="925438"/>
                  </a:cubicBezTo>
                  <a:lnTo>
                    <a:pt x="67918" y="925438"/>
                  </a:lnTo>
                  <a:cubicBezTo>
                    <a:pt x="30433" y="925438"/>
                    <a:pt x="0" y="895005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571119" y="4457487"/>
              <a:ext cx="203845" cy="203766"/>
            </a:xfrm>
            <a:custGeom>
              <a:avLst/>
              <a:gdLst/>
              <a:ahLst/>
              <a:cxnLst/>
              <a:rect r="r" b="b" t="t" l="l"/>
              <a:pathLst>
                <a:path h="203766" w="203845">
                  <a:moveTo>
                    <a:pt x="26266" y="90940"/>
                  </a:moveTo>
                  <a:cubicBezTo>
                    <a:pt x="31559" y="53925"/>
                    <a:pt x="63437" y="25471"/>
                    <a:pt x="101922" y="25471"/>
                  </a:cubicBezTo>
                  <a:cubicBezTo>
                    <a:pt x="123014" y="25471"/>
                    <a:pt x="142118" y="34027"/>
                    <a:pt x="155968" y="47837"/>
                  </a:cubicBezTo>
                  <a:cubicBezTo>
                    <a:pt x="156047" y="47917"/>
                    <a:pt x="156127" y="47996"/>
                    <a:pt x="156207" y="48076"/>
                  </a:cubicBezTo>
                  <a:lnTo>
                    <a:pt x="159231" y="50942"/>
                  </a:lnTo>
                  <a:lnTo>
                    <a:pt x="140168" y="50942"/>
                  </a:lnTo>
                  <a:cubicBezTo>
                    <a:pt x="133124" y="50942"/>
                    <a:pt x="127433" y="56633"/>
                    <a:pt x="127433" y="63677"/>
                  </a:cubicBezTo>
                  <a:cubicBezTo>
                    <a:pt x="127433" y="70721"/>
                    <a:pt x="133124" y="76412"/>
                    <a:pt x="140168" y="76412"/>
                  </a:cubicBezTo>
                  <a:lnTo>
                    <a:pt x="191109" y="76412"/>
                  </a:lnTo>
                  <a:cubicBezTo>
                    <a:pt x="198154" y="76412"/>
                    <a:pt x="203845" y="70721"/>
                    <a:pt x="203845" y="63677"/>
                  </a:cubicBezTo>
                  <a:lnTo>
                    <a:pt x="203845" y="12736"/>
                  </a:lnTo>
                  <a:cubicBezTo>
                    <a:pt x="203845" y="5691"/>
                    <a:pt x="198154" y="0"/>
                    <a:pt x="191109" y="0"/>
                  </a:cubicBezTo>
                  <a:cubicBezTo>
                    <a:pt x="184065" y="0"/>
                    <a:pt x="178374" y="5691"/>
                    <a:pt x="178374" y="12736"/>
                  </a:cubicBezTo>
                  <a:lnTo>
                    <a:pt x="178374" y="33988"/>
                  </a:lnTo>
                  <a:lnTo>
                    <a:pt x="173877" y="29729"/>
                  </a:lnTo>
                  <a:cubicBezTo>
                    <a:pt x="155450" y="11382"/>
                    <a:pt x="129980" y="0"/>
                    <a:pt x="101922" y="0"/>
                  </a:cubicBezTo>
                  <a:cubicBezTo>
                    <a:pt x="50582" y="0"/>
                    <a:pt x="8117" y="37967"/>
                    <a:pt x="1074" y="87357"/>
                  </a:cubicBezTo>
                  <a:cubicBezTo>
                    <a:pt x="78" y="94322"/>
                    <a:pt x="4894" y="100769"/>
                    <a:pt x="11859" y="101764"/>
                  </a:cubicBezTo>
                  <a:cubicBezTo>
                    <a:pt x="18824" y="102760"/>
                    <a:pt x="25271" y="97903"/>
                    <a:pt x="26266" y="90978"/>
                  </a:cubicBezTo>
                  <a:close/>
                  <a:moveTo>
                    <a:pt x="202770" y="116409"/>
                  </a:moveTo>
                  <a:cubicBezTo>
                    <a:pt x="203765" y="109445"/>
                    <a:pt x="198910" y="102997"/>
                    <a:pt x="191986" y="102003"/>
                  </a:cubicBezTo>
                  <a:cubicBezTo>
                    <a:pt x="185060" y="101007"/>
                    <a:pt x="178573" y="105863"/>
                    <a:pt x="177577" y="112787"/>
                  </a:cubicBezTo>
                  <a:cubicBezTo>
                    <a:pt x="172285" y="149800"/>
                    <a:pt x="140407" y="178255"/>
                    <a:pt x="101922" y="178255"/>
                  </a:cubicBezTo>
                  <a:cubicBezTo>
                    <a:pt x="80829" y="178255"/>
                    <a:pt x="61725" y="169699"/>
                    <a:pt x="47876" y="155889"/>
                  </a:cubicBezTo>
                  <a:cubicBezTo>
                    <a:pt x="47797" y="155809"/>
                    <a:pt x="47717" y="155730"/>
                    <a:pt x="47637" y="155650"/>
                  </a:cubicBezTo>
                  <a:lnTo>
                    <a:pt x="44613" y="152785"/>
                  </a:lnTo>
                  <a:lnTo>
                    <a:pt x="63676" y="152785"/>
                  </a:lnTo>
                  <a:cubicBezTo>
                    <a:pt x="70720" y="152785"/>
                    <a:pt x="76410" y="147094"/>
                    <a:pt x="76410" y="140049"/>
                  </a:cubicBezTo>
                  <a:cubicBezTo>
                    <a:pt x="76410" y="133005"/>
                    <a:pt x="70720" y="127314"/>
                    <a:pt x="63676" y="127314"/>
                  </a:cubicBezTo>
                  <a:lnTo>
                    <a:pt x="12775" y="127354"/>
                  </a:lnTo>
                  <a:cubicBezTo>
                    <a:pt x="9393" y="127354"/>
                    <a:pt x="6127" y="128707"/>
                    <a:pt x="3740" y="131135"/>
                  </a:cubicBezTo>
                  <a:cubicBezTo>
                    <a:pt x="1352" y="133562"/>
                    <a:pt x="0" y="136787"/>
                    <a:pt x="39" y="140209"/>
                  </a:cubicBezTo>
                  <a:lnTo>
                    <a:pt x="437" y="190751"/>
                  </a:lnTo>
                  <a:cubicBezTo>
                    <a:pt x="477" y="197796"/>
                    <a:pt x="6247" y="203448"/>
                    <a:pt x="13291" y="203368"/>
                  </a:cubicBezTo>
                  <a:cubicBezTo>
                    <a:pt x="20336" y="203288"/>
                    <a:pt x="25986" y="197557"/>
                    <a:pt x="25908" y="190513"/>
                  </a:cubicBezTo>
                  <a:lnTo>
                    <a:pt x="25749" y="170017"/>
                  </a:lnTo>
                  <a:lnTo>
                    <a:pt x="30007" y="174037"/>
                  </a:lnTo>
                  <a:cubicBezTo>
                    <a:pt x="48434" y="192383"/>
                    <a:pt x="73864" y="203766"/>
                    <a:pt x="101922" y="203766"/>
                  </a:cubicBezTo>
                  <a:cubicBezTo>
                    <a:pt x="153261" y="203766"/>
                    <a:pt x="195726" y="165799"/>
                    <a:pt x="202770" y="116409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902220" y="4440528"/>
              <a:ext cx="1103733" cy="23772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生成向量索引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545688" y="4780096"/>
              <a:ext cx="5323387" cy="24621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生成从 start 到 end-1 的连续整数数组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375935" y="5401949"/>
              <a:ext cx="5586585" cy="925438"/>
            </a:xfrm>
            <a:custGeom>
              <a:avLst/>
              <a:gdLst/>
              <a:ahLst/>
              <a:cxnLst/>
              <a:rect r="r" b="b" t="t" l="l"/>
              <a:pathLst>
                <a:path h="925438" w="5586585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5"/>
                    <a:pt x="5556152" y="925438"/>
                    <a:pt x="5518667" y="925438"/>
                  </a:cubicBezTo>
                  <a:lnTo>
                    <a:pt x="67918" y="925438"/>
                  </a:lnTo>
                  <a:cubicBezTo>
                    <a:pt x="30433" y="925438"/>
                    <a:pt x="0" y="895005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570959" y="5584167"/>
              <a:ext cx="204164" cy="204125"/>
            </a:xfrm>
            <a:custGeom>
              <a:avLst/>
              <a:gdLst/>
              <a:ahLst/>
              <a:cxnLst/>
              <a:rect r="r" b="b" t="t" l="l"/>
              <a:pathLst>
                <a:path h="204125" w="204164">
                  <a:moveTo>
                    <a:pt x="113225" y="3980"/>
                  </a:moveTo>
                  <a:cubicBezTo>
                    <a:pt x="106341" y="0"/>
                    <a:pt x="97824" y="0"/>
                    <a:pt x="90939" y="3980"/>
                  </a:cubicBezTo>
                  <a:lnTo>
                    <a:pt x="57429" y="23321"/>
                  </a:lnTo>
                  <a:cubicBezTo>
                    <a:pt x="50544" y="27301"/>
                    <a:pt x="46285" y="34665"/>
                    <a:pt x="46285" y="42624"/>
                  </a:cubicBezTo>
                  <a:lnTo>
                    <a:pt x="46285" y="83179"/>
                  </a:lnTo>
                  <a:lnTo>
                    <a:pt x="11143" y="103474"/>
                  </a:lnTo>
                  <a:cubicBezTo>
                    <a:pt x="4258" y="107455"/>
                    <a:pt x="0" y="114817"/>
                    <a:pt x="0" y="122777"/>
                  </a:cubicBezTo>
                  <a:lnTo>
                    <a:pt x="0" y="161499"/>
                  </a:lnTo>
                  <a:cubicBezTo>
                    <a:pt x="0" y="169460"/>
                    <a:pt x="4258" y="176823"/>
                    <a:pt x="11143" y="180802"/>
                  </a:cubicBezTo>
                  <a:lnTo>
                    <a:pt x="44693" y="200144"/>
                  </a:lnTo>
                  <a:cubicBezTo>
                    <a:pt x="51578" y="204124"/>
                    <a:pt x="60095" y="204124"/>
                    <a:pt x="66979" y="200144"/>
                  </a:cubicBezTo>
                  <a:lnTo>
                    <a:pt x="102122" y="179847"/>
                  </a:lnTo>
                  <a:lnTo>
                    <a:pt x="137262" y="200144"/>
                  </a:lnTo>
                  <a:cubicBezTo>
                    <a:pt x="144148" y="204124"/>
                    <a:pt x="152665" y="204124"/>
                    <a:pt x="159550" y="200144"/>
                  </a:cubicBezTo>
                  <a:lnTo>
                    <a:pt x="193021" y="180802"/>
                  </a:lnTo>
                  <a:cubicBezTo>
                    <a:pt x="199907" y="176823"/>
                    <a:pt x="204164" y="169460"/>
                    <a:pt x="204164" y="161499"/>
                  </a:cubicBezTo>
                  <a:lnTo>
                    <a:pt x="204164" y="122777"/>
                  </a:lnTo>
                  <a:cubicBezTo>
                    <a:pt x="204164" y="114817"/>
                    <a:pt x="199907" y="107455"/>
                    <a:pt x="193021" y="103474"/>
                  </a:cubicBezTo>
                  <a:lnTo>
                    <a:pt x="157878" y="83179"/>
                  </a:lnTo>
                  <a:lnTo>
                    <a:pt x="157878" y="42624"/>
                  </a:lnTo>
                  <a:cubicBezTo>
                    <a:pt x="157878" y="34665"/>
                    <a:pt x="153620" y="27301"/>
                    <a:pt x="146735" y="23321"/>
                  </a:cubicBezTo>
                  <a:lnTo>
                    <a:pt x="113225" y="3980"/>
                  </a:lnTo>
                  <a:close/>
                  <a:moveTo>
                    <a:pt x="92531" y="120946"/>
                  </a:moveTo>
                  <a:lnTo>
                    <a:pt x="92531" y="163331"/>
                  </a:lnTo>
                  <a:lnTo>
                    <a:pt x="57388" y="183628"/>
                  </a:lnTo>
                  <a:cubicBezTo>
                    <a:pt x="56911" y="183907"/>
                    <a:pt x="56355" y="184066"/>
                    <a:pt x="55797" y="184066"/>
                  </a:cubicBezTo>
                  <a:lnTo>
                    <a:pt x="55797" y="142157"/>
                  </a:lnTo>
                  <a:lnTo>
                    <a:pt x="92531" y="120946"/>
                  </a:lnTo>
                  <a:close/>
                  <a:moveTo>
                    <a:pt x="184623" y="121185"/>
                  </a:moveTo>
                  <a:cubicBezTo>
                    <a:pt x="184901" y="121662"/>
                    <a:pt x="185061" y="122220"/>
                    <a:pt x="185061" y="122777"/>
                  </a:cubicBezTo>
                  <a:lnTo>
                    <a:pt x="185061" y="161499"/>
                  </a:lnTo>
                  <a:cubicBezTo>
                    <a:pt x="185061" y="162654"/>
                    <a:pt x="184465" y="163689"/>
                    <a:pt x="183469" y="164246"/>
                  </a:cubicBezTo>
                  <a:lnTo>
                    <a:pt x="149919" y="183589"/>
                  </a:lnTo>
                  <a:cubicBezTo>
                    <a:pt x="149442" y="183867"/>
                    <a:pt x="148886" y="184025"/>
                    <a:pt x="148327" y="184025"/>
                  </a:cubicBezTo>
                  <a:lnTo>
                    <a:pt x="148327" y="142119"/>
                  </a:lnTo>
                  <a:lnTo>
                    <a:pt x="184623" y="121185"/>
                  </a:lnTo>
                  <a:close/>
                  <a:moveTo>
                    <a:pt x="138816" y="42624"/>
                  </a:moveTo>
                  <a:lnTo>
                    <a:pt x="138816" y="83179"/>
                  </a:lnTo>
                  <a:lnTo>
                    <a:pt x="102082" y="104390"/>
                  </a:lnTo>
                  <a:lnTo>
                    <a:pt x="102082" y="62005"/>
                  </a:lnTo>
                  <a:lnTo>
                    <a:pt x="138378" y="41070"/>
                  </a:lnTo>
                  <a:cubicBezTo>
                    <a:pt x="138656" y="41549"/>
                    <a:pt x="138816" y="42106"/>
                    <a:pt x="138816" y="4266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902220" y="5571704"/>
              <a:ext cx="1010340" cy="23772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Tensor 操作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545688" y="5911273"/>
              <a:ext cx="5323387" cy="24621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Triton 操作的是 </a:t>
              </a:r>
              <a:r>
                <a:rPr lang="en-US" b="true" i="false" strike="noStrike" u="none" sz="12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tensor</a:t>
              </a: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，而不是单个线程</a:t>
              </a:r>
              <a:endParaRPr lang="en-US" sz="1100"/>
            </a:p>
          </p:txBody>
        </p:sp>
      </p:grpSp>
      <p:sp>
        <p:nvSpPr>
          <p:cNvPr name="Freeform 15" id="15"/>
          <p:cNvSpPr/>
          <p:nvPr/>
        </p:nvSpPr>
        <p:spPr>
          <a:xfrm rot="0" flipH="false" flipV="false">
            <a:off x="6267632" y="1256313"/>
            <a:ext cx="5586585" cy="5331877"/>
          </a:xfrm>
          <a:custGeom>
            <a:avLst/>
            <a:gdLst/>
            <a:ahLst/>
            <a:cxnLst/>
            <a:rect r="r" b="b" t="t" l="l"/>
            <a:pathLst>
              <a:path h="5331877" w="5586585">
                <a:moveTo>
                  <a:pt x="101892" y="0"/>
                </a:moveTo>
                <a:lnTo>
                  <a:pt x="5484693" y="0"/>
                </a:lnTo>
                <a:cubicBezTo>
                  <a:pt x="5540966" y="0"/>
                  <a:pt x="5586585" y="45618"/>
                  <a:pt x="5586585" y="101892"/>
                </a:cubicBezTo>
                <a:lnTo>
                  <a:pt x="5586585" y="5229984"/>
                </a:lnTo>
                <a:cubicBezTo>
                  <a:pt x="5586585" y="5286259"/>
                  <a:pt x="5540966" y="5331877"/>
                  <a:pt x="5484693" y="5331877"/>
                </a:cubicBezTo>
                <a:lnTo>
                  <a:pt x="101892" y="5331877"/>
                </a:lnTo>
                <a:cubicBezTo>
                  <a:pt x="45618" y="5331877"/>
                  <a:pt x="0" y="5286259"/>
                  <a:pt x="0" y="5229984"/>
                </a:cubicBezTo>
                <a:lnTo>
                  <a:pt x="0" y="101892"/>
                </a:lnTo>
                <a:cubicBezTo>
                  <a:pt x="0" y="45618"/>
                  <a:pt x="45618" y="0"/>
                  <a:pt x="1018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28923" y="1460054"/>
            <a:ext cx="5263955" cy="2377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向量 vs 标量操作对比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488270" y="1901530"/>
            <a:ext cx="5161987" cy="2241426"/>
          </a:xfrm>
          <a:custGeom>
            <a:avLst/>
            <a:gdLst/>
            <a:ahLst/>
            <a:cxnLst/>
            <a:rect r="r" b="b" t="t" l="l"/>
            <a:pathLst>
              <a:path h="2241426" w="5161987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7" y="30408"/>
                  <a:pt x="5161987" y="67915"/>
                </a:cubicBezTo>
                <a:lnTo>
                  <a:pt x="5161987" y="2173511"/>
                </a:lnTo>
                <a:cubicBezTo>
                  <a:pt x="5161987" y="2211020"/>
                  <a:pt x="5131581" y="2241426"/>
                  <a:pt x="5094073" y="2241426"/>
                </a:cubicBezTo>
                <a:lnTo>
                  <a:pt x="33792" y="2241426"/>
                </a:lnTo>
                <a:cubicBezTo>
                  <a:pt x="15130" y="2241426"/>
                  <a:pt x="0" y="2226297"/>
                  <a:pt x="0" y="2207633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88270" y="1901530"/>
            <a:ext cx="33792" cy="2241426"/>
          </a:xfrm>
          <a:custGeom>
            <a:avLst/>
            <a:gdLst/>
            <a:ahLst/>
            <a:cxnLst/>
            <a:rect r="r" b="b" t="t" l="l"/>
            <a:pathLst>
              <a:path h="2241426" w="33792">
                <a:moveTo>
                  <a:pt x="33792" y="0"/>
                </a:moveTo>
                <a:lnTo>
                  <a:pt x="33792" y="0"/>
                </a:lnTo>
                <a:lnTo>
                  <a:pt x="33792" y="2241426"/>
                </a:lnTo>
                <a:lnTo>
                  <a:pt x="33792" y="2241426"/>
                </a:lnTo>
                <a:cubicBezTo>
                  <a:pt x="15130" y="2241426"/>
                  <a:pt x="0" y="2226297"/>
                  <a:pt x="0" y="2207633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99A1A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74918" y="2071281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9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CUDA（标量操作）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691814" y="2308946"/>
            <a:ext cx="4788417" cy="1426362"/>
          </a:xfrm>
          <a:custGeom>
            <a:avLst/>
            <a:gdLst/>
            <a:ahLst/>
            <a:cxnLst/>
            <a:rect r="r" b="b" t="t" l="l"/>
            <a:pathLst>
              <a:path h="1426362" w="4788417">
                <a:moveTo>
                  <a:pt x="33792" y="0"/>
                </a:moveTo>
                <a:lnTo>
                  <a:pt x="4754455" y="0"/>
                </a:lnTo>
                <a:cubicBezTo>
                  <a:pt x="4773212" y="0"/>
                  <a:pt x="4788417" y="15204"/>
                  <a:pt x="4788417" y="33962"/>
                </a:cubicBezTo>
                <a:lnTo>
                  <a:pt x="4788417" y="1392400"/>
                </a:lnTo>
                <a:cubicBezTo>
                  <a:pt x="4788417" y="1411157"/>
                  <a:pt x="4773212" y="1426362"/>
                  <a:pt x="4754455" y="1426362"/>
                </a:cubicBezTo>
                <a:lnTo>
                  <a:pt x="33792" y="1426362"/>
                </a:lnTo>
                <a:cubicBezTo>
                  <a:pt x="15130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691814" y="2308946"/>
            <a:ext cx="33792" cy="1426362"/>
          </a:xfrm>
          <a:custGeom>
            <a:avLst/>
            <a:gdLst/>
            <a:ahLst/>
            <a:cxnLst/>
            <a:rect r="r" b="b" t="t" l="l"/>
            <a:pathLst>
              <a:path h="1426362" w="33792">
                <a:moveTo>
                  <a:pt x="33792" y="0"/>
                </a:moveTo>
                <a:lnTo>
                  <a:pt x="33792" y="0"/>
                </a:lnTo>
                <a:lnTo>
                  <a:pt x="33792" y="1426362"/>
                </a:lnTo>
                <a:lnTo>
                  <a:pt x="33792" y="1426362"/>
                </a:lnTo>
                <a:cubicBezTo>
                  <a:pt x="15130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10549" y="2410788"/>
            <a:ext cx="4635677" cy="12225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// 每个线程处理一个元素</a:t>
            </a:r>
            <a:r>
              <a:rPr lang="en-US" b="true" i="false" strike="noStrike" u="none" sz="11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idx = blockIdx.x * blockDim.x 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         + threadIdx.x;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1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x = input[idx];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1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 y = x * </a:t>
            </a:r>
            <a:r>
              <a:rPr lang="en-US" b="false" i="false" strike="noStrike" u="none" sz="11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Calibri"/>
                <a:ea typeface="Calibri"/>
                <a:cs typeface="Calibri"/>
                <a:sym typeface="Calibri"/>
              </a:rPr>
              <a:t>output[idx] = y;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74918" y="3802990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每个线程处理一个标量值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488270" y="4346237"/>
            <a:ext cx="5161987" cy="2037660"/>
          </a:xfrm>
          <a:custGeom>
            <a:avLst/>
            <a:gdLst/>
            <a:ahLst/>
            <a:cxnLst/>
            <a:rect r="r" b="b" t="t" l="l"/>
            <a:pathLst>
              <a:path h="2037660" w="5161987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7" y="30408"/>
                  <a:pt x="5161987" y="67915"/>
                </a:cubicBezTo>
                <a:lnTo>
                  <a:pt x="5161987" y="1969745"/>
                </a:lnTo>
                <a:cubicBezTo>
                  <a:pt x="5161987" y="2007253"/>
                  <a:pt x="5131581" y="2037660"/>
                  <a:pt x="5094073" y="2037660"/>
                </a:cubicBezTo>
                <a:lnTo>
                  <a:pt x="33792" y="2037660"/>
                </a:lnTo>
                <a:cubicBezTo>
                  <a:pt x="15130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488270" y="4346237"/>
            <a:ext cx="33792" cy="2037660"/>
          </a:xfrm>
          <a:custGeom>
            <a:avLst/>
            <a:gdLst/>
            <a:ahLst/>
            <a:cxnLst/>
            <a:rect r="r" b="b" t="t" l="l"/>
            <a:pathLst>
              <a:path h="2037660" w="33792">
                <a:moveTo>
                  <a:pt x="33792" y="0"/>
                </a:moveTo>
                <a:lnTo>
                  <a:pt x="33792" y="0"/>
                </a:lnTo>
                <a:lnTo>
                  <a:pt x="33792" y="2037660"/>
                </a:lnTo>
                <a:lnTo>
                  <a:pt x="33792" y="2037660"/>
                </a:lnTo>
                <a:cubicBezTo>
                  <a:pt x="15130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74918" y="4515988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9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Triton（向量操作）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691814" y="4753657"/>
            <a:ext cx="4788417" cy="1222596"/>
          </a:xfrm>
          <a:custGeom>
            <a:avLst/>
            <a:gdLst/>
            <a:ahLst/>
            <a:cxnLst/>
            <a:rect r="r" b="b" t="t" l="l"/>
            <a:pathLst>
              <a:path h="1222596" w="4788417">
                <a:moveTo>
                  <a:pt x="33792" y="0"/>
                </a:moveTo>
                <a:lnTo>
                  <a:pt x="4754453" y="0"/>
                </a:lnTo>
                <a:cubicBezTo>
                  <a:pt x="4773211" y="0"/>
                  <a:pt x="4788417" y="15206"/>
                  <a:pt x="4788417" y="33964"/>
                </a:cubicBezTo>
                <a:lnTo>
                  <a:pt x="4788417" y="1188632"/>
                </a:lnTo>
                <a:cubicBezTo>
                  <a:pt x="4788417" y="1207390"/>
                  <a:pt x="4773211" y="1222596"/>
                  <a:pt x="4754453" y="1222596"/>
                </a:cubicBezTo>
                <a:lnTo>
                  <a:pt x="33792" y="1222596"/>
                </a:lnTo>
                <a:cubicBezTo>
                  <a:pt x="15130" y="1222596"/>
                  <a:pt x="0" y="1207466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691814" y="4753657"/>
            <a:ext cx="33792" cy="1222596"/>
          </a:xfrm>
          <a:custGeom>
            <a:avLst/>
            <a:gdLst/>
            <a:ahLst/>
            <a:cxnLst/>
            <a:rect r="r" b="b" t="t" l="l"/>
            <a:pathLst>
              <a:path h="1222596" w="33792">
                <a:moveTo>
                  <a:pt x="33792" y="0"/>
                </a:moveTo>
                <a:lnTo>
                  <a:pt x="33792" y="0"/>
                </a:lnTo>
                <a:lnTo>
                  <a:pt x="33792" y="1222596"/>
                </a:lnTo>
                <a:lnTo>
                  <a:pt x="33792" y="1222596"/>
                </a:lnTo>
                <a:cubicBezTo>
                  <a:pt x="15130" y="1222596"/>
                  <a:pt x="0" y="1207466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810549" y="4855495"/>
            <a:ext cx="4635677" cy="10188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每个 program 处理一个向量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offsets = block_start + tl.arange(</a:t>
            </a:r>
            <a:r>
              <a:rPr lang="en-US" b="false" i="false" strike="noStrike" u="none" sz="11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0</a:t>
            </a: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, BLOCK)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x = tl.load(ptr + offsets)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y = x * </a:t>
            </a:r>
            <a:r>
              <a:rPr lang="en-US" b="false" i="false" strike="noStrike" u="none" sz="11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2.0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tl.store(out_ptr + offsets, y)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74918" y="6043960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每个 program 处理一个向量（多个元素）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73213" y="1516155"/>
            <a:ext cx="5586585" cy="144986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2" id="32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8595" y="600050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mask 的作用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33259" y="1451391"/>
            <a:ext cx="5635546" cy="635000"/>
            <a:chOff x="333259" y="1451391"/>
            <a:chExt cx="5635546" cy="6350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33259" y="1451391"/>
              <a:ext cx="5635546" cy="635000"/>
            </a:xfrm>
            <a:custGeom>
              <a:avLst/>
              <a:gdLst/>
              <a:ahLst/>
              <a:cxnLst/>
              <a:rect r="r" b="b" t="t" l="l"/>
              <a:pathLst>
                <a:path h="635000" w="5635546">
                  <a:moveTo>
                    <a:pt x="31593" y="0"/>
                  </a:moveTo>
                  <a:lnTo>
                    <a:pt x="5540296" y="0"/>
                  </a:lnTo>
                  <a:cubicBezTo>
                    <a:pt x="5592865" y="0"/>
                    <a:pt x="5635546" y="42680"/>
                    <a:pt x="5635546" y="95250"/>
                  </a:cubicBezTo>
                  <a:lnTo>
                    <a:pt x="5635546" y="539750"/>
                  </a:lnTo>
                  <a:cubicBezTo>
                    <a:pt x="5635546" y="592320"/>
                    <a:pt x="5592865" y="635000"/>
                    <a:pt x="5540296" y="635000"/>
                  </a:cubicBezTo>
                  <a:lnTo>
                    <a:pt x="31593" y="635000"/>
                  </a:lnTo>
                  <a:cubicBezTo>
                    <a:pt x="14144" y="635000"/>
                    <a:pt x="0" y="620856"/>
                    <a:pt x="0" y="6034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33259" y="1451391"/>
              <a:ext cx="31593" cy="635000"/>
            </a:xfrm>
            <a:custGeom>
              <a:avLst/>
              <a:gdLst/>
              <a:ahLst/>
              <a:cxnLst/>
              <a:rect r="r" b="b" t="t" l="l"/>
              <a:pathLst>
                <a:path h="635000" w="31593">
                  <a:moveTo>
                    <a:pt x="31593" y="0"/>
                  </a:moveTo>
                  <a:lnTo>
                    <a:pt x="31593" y="0"/>
                  </a:lnTo>
                  <a:lnTo>
                    <a:pt x="31593" y="635000"/>
                  </a:lnTo>
                  <a:lnTo>
                    <a:pt x="31593" y="635000"/>
                  </a:lnTo>
                  <a:cubicBezTo>
                    <a:pt x="14144" y="635000"/>
                    <a:pt x="0" y="620856"/>
                    <a:pt x="0" y="6034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39533" y="1641872"/>
              <a:ext cx="5318125" cy="26193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3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mask = offsets &lt; n_elements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333259" y="2237056"/>
            <a:ext cx="5635546" cy="928688"/>
            <a:chOff x="333259" y="2237056"/>
            <a:chExt cx="5635546" cy="928688"/>
          </a:xfrm>
        </p:grpSpPr>
        <p:sp>
          <p:nvSpPr>
            <p:cNvPr name="Freeform 8" id="8"/>
            <p:cNvSpPr/>
            <p:nvPr/>
          </p:nvSpPr>
          <p:spPr>
            <a:xfrm rot="0" flipH="false" flipV="false">
              <a:off x="333259" y="2237056"/>
              <a:ext cx="5635546" cy="928688"/>
            </a:xfrm>
            <a:custGeom>
              <a:avLst/>
              <a:gdLst/>
              <a:ahLst/>
              <a:cxnLst/>
              <a:rect r="r" b="b" t="t" l="l"/>
              <a:pathLst>
                <a:path h="928688" w="5635546">
                  <a:moveTo>
                    <a:pt x="31593" y="0"/>
                  </a:moveTo>
                  <a:lnTo>
                    <a:pt x="5540300" y="0"/>
                  </a:lnTo>
                  <a:cubicBezTo>
                    <a:pt x="5592903" y="0"/>
                    <a:pt x="5635546" y="42643"/>
                    <a:pt x="5635546" y="95246"/>
                  </a:cubicBezTo>
                  <a:lnTo>
                    <a:pt x="5635546" y="833441"/>
                  </a:lnTo>
                  <a:cubicBezTo>
                    <a:pt x="5635546" y="886043"/>
                    <a:pt x="5592903" y="928688"/>
                    <a:pt x="5540300" y="928688"/>
                  </a:cubicBezTo>
                  <a:lnTo>
                    <a:pt x="31593" y="928688"/>
                  </a:lnTo>
                  <a:cubicBezTo>
                    <a:pt x="14144" y="928688"/>
                    <a:pt x="0" y="914544"/>
                    <a:pt x="0" y="897095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333259" y="2237056"/>
              <a:ext cx="31593" cy="928688"/>
            </a:xfrm>
            <a:custGeom>
              <a:avLst/>
              <a:gdLst/>
              <a:ahLst/>
              <a:cxnLst/>
              <a:rect r="r" b="b" t="t" l="l"/>
              <a:pathLst>
                <a:path h="928688" w="31593">
                  <a:moveTo>
                    <a:pt x="31593" y="0"/>
                  </a:moveTo>
                  <a:lnTo>
                    <a:pt x="31593" y="0"/>
                  </a:lnTo>
                  <a:lnTo>
                    <a:pt x="31593" y="928688"/>
                  </a:lnTo>
                  <a:lnTo>
                    <a:pt x="31593" y="928688"/>
                  </a:lnTo>
                  <a:cubicBezTo>
                    <a:pt x="14144" y="928688"/>
                    <a:pt x="0" y="914544"/>
                    <a:pt x="0" y="897095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569297" y="2443392"/>
              <a:ext cx="178669" cy="190202"/>
            </a:xfrm>
            <a:custGeom>
              <a:avLst/>
              <a:gdLst/>
              <a:ahLst/>
              <a:cxnLst/>
              <a:rect r="r" b="b" t="t" l="l"/>
              <a:pathLst>
                <a:path h="190202" w="178669">
                  <a:moveTo>
                    <a:pt x="89298" y="0"/>
                  </a:moveTo>
                  <a:cubicBezTo>
                    <a:pt x="91010" y="0"/>
                    <a:pt x="92721" y="372"/>
                    <a:pt x="94284" y="1080"/>
                  </a:cubicBezTo>
                  <a:lnTo>
                    <a:pt x="164382" y="30806"/>
                  </a:lnTo>
                  <a:cubicBezTo>
                    <a:pt x="172567" y="34268"/>
                    <a:pt x="178669" y="42342"/>
                    <a:pt x="178632" y="52090"/>
                  </a:cubicBezTo>
                  <a:cubicBezTo>
                    <a:pt x="178446" y="88999"/>
                    <a:pt x="163267" y="156530"/>
                    <a:pt x="99158" y="187226"/>
                  </a:cubicBezTo>
                  <a:cubicBezTo>
                    <a:pt x="92944" y="190202"/>
                    <a:pt x="85725" y="190202"/>
                    <a:pt x="79513" y="187226"/>
                  </a:cubicBezTo>
                  <a:cubicBezTo>
                    <a:pt x="15367" y="156530"/>
                    <a:pt x="224" y="88999"/>
                    <a:pt x="39" y="52090"/>
                  </a:cubicBezTo>
                  <a:cubicBezTo>
                    <a:pt x="0" y="42342"/>
                    <a:pt x="6103" y="34268"/>
                    <a:pt x="14289" y="30806"/>
                  </a:cubicBezTo>
                  <a:lnTo>
                    <a:pt x="84349" y="1080"/>
                  </a:lnTo>
                  <a:cubicBezTo>
                    <a:pt x="85912" y="372"/>
                    <a:pt x="87586" y="0"/>
                    <a:pt x="89298" y="0"/>
                  </a:cubicBezTo>
                  <a:close/>
                  <a:moveTo>
                    <a:pt x="89298" y="24854"/>
                  </a:moveTo>
                  <a:lnTo>
                    <a:pt x="89298" y="165534"/>
                  </a:lnTo>
                  <a:cubicBezTo>
                    <a:pt x="140644" y="140680"/>
                    <a:pt x="154448" y="85613"/>
                    <a:pt x="154782" y="52648"/>
                  </a:cubicBezTo>
                  <a:lnTo>
                    <a:pt x="89298" y="24892"/>
                  </a:lnTo>
                  <a:lnTo>
                    <a:pt x="89298" y="248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72854" y="2427537"/>
              <a:ext cx="714375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核心作用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539533" y="2744998"/>
              <a:ext cx="5310188" cy="23018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100">
                  <a:solidFill>
                    <a:srgbClr val="A6A6A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防止最后一个 block 越界</a:t>
              </a:r>
              <a:r>
                <a:rPr lang="en-US" b="false" i="false" strike="noStrike" u="none" sz="1100">
                  <a:solidFill>
                    <a:srgbClr val="A6A6A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访问内存</a:t>
              </a:r>
              <a:endParaRPr lang="en-US" sz="1100"/>
            </a:p>
          </p:txBody>
        </p:sp>
      </p:grpSp>
      <p:sp>
        <p:nvSpPr>
          <p:cNvPr name="Freeform 13" id="13"/>
          <p:cNvSpPr/>
          <p:nvPr/>
        </p:nvSpPr>
        <p:spPr>
          <a:xfrm rot="0" flipH="false" flipV="false">
            <a:off x="6222953" y="1174517"/>
            <a:ext cx="5651500" cy="1079500"/>
          </a:xfrm>
          <a:custGeom>
            <a:avLst/>
            <a:gdLst/>
            <a:ahLst/>
            <a:cxnLst/>
            <a:rect r="r" b="b" t="t" l="l"/>
            <a:pathLst>
              <a:path h="1079500" w="5651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05466" y="1349077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4" y="58638"/>
                  <a:pt x="71289" y="58638"/>
                  <a:pt x="74748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4"/>
                  <a:pt x="131787" y="71289"/>
                  <a:pt x="128290" y="74748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1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8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1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8"/>
                </a:lnTo>
                <a:cubicBezTo>
                  <a:pt x="58638" y="71251"/>
                  <a:pt x="58638" y="65595"/>
                  <a:pt x="62136" y="62136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14974" y="1333221"/>
            <a:ext cx="2576312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当 offsets ≥ n_elements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81654" y="1650682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• </a:t>
            </a:r>
            <a:r>
              <a:rPr lang="en-US" b="tru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load</a:t>
            </a: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 不访问内存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81654" y="1904655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• </a:t>
            </a:r>
            <a:r>
              <a:rPr lang="en-US" b="tru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store</a:t>
            </a: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 不写入内存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222953" y="2380816"/>
            <a:ext cx="5651500" cy="1079500"/>
          </a:xfrm>
          <a:custGeom>
            <a:avLst/>
            <a:gdLst/>
            <a:ahLst/>
            <a:cxnLst/>
            <a:rect r="r" b="b" t="t" l="l"/>
            <a:pathLst>
              <a:path h="1079500" w="5651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05466" y="255537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63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14974" y="2539516"/>
            <a:ext cx="21774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当 offsets &lt; n_elements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81654" y="2856981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• </a:t>
            </a:r>
            <a:r>
              <a:rPr lang="en-US" b="tru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load</a:t>
            </a: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 正常读取数据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81654" y="3110950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• </a:t>
            </a:r>
            <a:r>
              <a:rPr lang="en-US" b="tru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store</a:t>
            </a:r>
            <a:r>
              <a:rPr lang="en-US" b="false" i="false" strike="noStrike" u="none" sz="1000">
                <a:solidFill>
                  <a:srgbClr val="364153"/>
                </a:solidFill>
                <a:latin typeface="MiSans"/>
                <a:ea typeface="MiSans"/>
                <a:cs typeface="MiSans"/>
                <a:sym typeface="MiSans"/>
              </a:rPr>
              <a:t> 正常写入结果</a:t>
            </a:r>
            <a:endParaRPr lang="en-US" sz="1100"/>
          </a:p>
        </p:txBody>
      </p:sp>
      <p:grpSp>
        <p:nvGrpSpPr>
          <p:cNvPr name="Group 23" id="23"/>
          <p:cNvGrpSpPr/>
          <p:nvPr/>
        </p:nvGrpSpPr>
        <p:grpSpPr>
          <a:xfrm>
            <a:off x="317463" y="3650607"/>
            <a:ext cx="11557000" cy="2625938"/>
            <a:chOff x="317463" y="3650607"/>
            <a:chExt cx="11557000" cy="2625938"/>
          </a:xfrm>
        </p:grpSpPr>
        <p:sp>
          <p:nvSpPr>
            <p:cNvPr name="Freeform 24" id="24"/>
            <p:cNvSpPr/>
            <p:nvPr/>
          </p:nvSpPr>
          <p:spPr>
            <a:xfrm rot="0" flipH="false" flipV="false">
              <a:off x="317463" y="3650607"/>
              <a:ext cx="11557000" cy="2625938"/>
            </a:xfrm>
            <a:custGeom>
              <a:avLst/>
              <a:gdLst/>
              <a:ahLst/>
              <a:cxnLst/>
              <a:rect r="r" b="b" t="t" l="l"/>
              <a:pathLst>
                <a:path h="2625938" w="11557000">
                  <a:moveTo>
                    <a:pt x="95240" y="0"/>
                  </a:moveTo>
                  <a:lnTo>
                    <a:pt x="11461760" y="0"/>
                  </a:lnTo>
                  <a:cubicBezTo>
                    <a:pt x="11514360" y="0"/>
                    <a:pt x="11557000" y="32355"/>
                    <a:pt x="11557000" y="72266"/>
                  </a:cubicBezTo>
                  <a:lnTo>
                    <a:pt x="11557000" y="2553672"/>
                  </a:lnTo>
                  <a:cubicBezTo>
                    <a:pt x="11557000" y="2593584"/>
                    <a:pt x="11514360" y="2625938"/>
                    <a:pt x="11461760" y="2625938"/>
                  </a:cubicBezTo>
                  <a:lnTo>
                    <a:pt x="95240" y="2625938"/>
                  </a:lnTo>
                  <a:cubicBezTo>
                    <a:pt x="42640" y="2625938"/>
                    <a:pt x="0" y="2593584"/>
                    <a:pt x="0" y="2553672"/>
                  </a:cubicBezTo>
                  <a:lnTo>
                    <a:pt x="0" y="72266"/>
                  </a:lnTo>
                  <a:cubicBezTo>
                    <a:pt x="0" y="32381"/>
                    <a:pt x="42676" y="0"/>
                    <a:pt x="9524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507941" y="3841083"/>
              <a:ext cx="11255375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mask 使用示例</a:t>
              </a:r>
              <a:endParaRPr lang="en-US" sz="1100"/>
            </a:p>
          </p:txBody>
        </p:sp>
        <p:sp>
          <p:nvSpPr>
            <p:cNvPr name="Freeform 26" id="26"/>
            <p:cNvSpPr/>
            <p:nvPr/>
          </p:nvSpPr>
          <p:spPr>
            <a:xfrm rot="0" flipH="false" flipV="false">
              <a:off x="523737" y="4190326"/>
              <a:ext cx="11160046" cy="1903628"/>
            </a:xfrm>
            <a:custGeom>
              <a:avLst/>
              <a:gdLst/>
              <a:ahLst/>
              <a:cxnLst/>
              <a:rect r="r" b="b" t="t" l="l"/>
              <a:pathLst>
                <a:path h="1903628" w="11160046">
                  <a:moveTo>
                    <a:pt x="31593" y="0"/>
                  </a:moveTo>
                  <a:lnTo>
                    <a:pt x="11096535" y="0"/>
                  </a:lnTo>
                  <a:cubicBezTo>
                    <a:pt x="11131611" y="0"/>
                    <a:pt x="11160046" y="19825"/>
                    <a:pt x="11160046" y="44279"/>
                  </a:cubicBezTo>
                  <a:lnTo>
                    <a:pt x="11160046" y="1859350"/>
                  </a:lnTo>
                  <a:cubicBezTo>
                    <a:pt x="11160046" y="1883804"/>
                    <a:pt x="11131611" y="1903628"/>
                    <a:pt x="11096535" y="1903628"/>
                  </a:cubicBezTo>
                  <a:lnTo>
                    <a:pt x="31593" y="1903628"/>
                  </a:lnTo>
                  <a:cubicBezTo>
                    <a:pt x="14144" y="1903628"/>
                    <a:pt x="0" y="1893767"/>
                    <a:pt x="0" y="1881603"/>
                  </a:cubicBezTo>
                  <a:lnTo>
                    <a:pt x="0" y="22026"/>
                  </a:lnTo>
                  <a:cubicBezTo>
                    <a:pt x="0" y="9869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523736" y="4190326"/>
              <a:ext cx="45719" cy="1854533"/>
            </a:xfrm>
            <a:custGeom>
              <a:avLst/>
              <a:gdLst/>
              <a:ahLst/>
              <a:cxnLst/>
              <a:rect r="r" b="b" t="t" l="l"/>
              <a:pathLst>
                <a:path h="1854533" w="45719">
                  <a:moveTo>
                    <a:pt x="45719" y="0"/>
                  </a:moveTo>
                  <a:lnTo>
                    <a:pt x="45719" y="0"/>
                  </a:lnTo>
                  <a:lnTo>
                    <a:pt x="45719" y="1854533"/>
                  </a:lnTo>
                  <a:lnTo>
                    <a:pt x="45719" y="1854533"/>
                  </a:lnTo>
                  <a:cubicBezTo>
                    <a:pt x="20469" y="1854533"/>
                    <a:pt x="0" y="1844926"/>
                    <a:pt x="0" y="1833076"/>
                  </a:cubicBezTo>
                  <a:lnTo>
                    <a:pt x="0" y="21457"/>
                  </a:lnTo>
                  <a:cubicBezTo>
                    <a:pt x="0" y="9615"/>
                    <a:pt x="20486" y="0"/>
                    <a:pt x="4571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666518" y="3800045"/>
              <a:ext cx="10953750" cy="2476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0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# 创建 mask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mask = offsets &lt; n_elements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# 带 mask 的 load 操作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 = tl.load(x_ptr + offsets, </a:t>
              </a:r>
              <a:r>
                <a:rPr lang="en-US" b="true" i="false" strike="noStrike" u="none" sz="1000">
                  <a:solidFill>
                    <a:srgbClr val="8B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mask=mask</a:t>
              </a: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)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y = tl.load(y_ptr + offsets, </a:t>
              </a:r>
              <a:r>
                <a:rPr lang="en-US" b="true" i="false" strike="noStrike" u="none" sz="1000">
                  <a:solidFill>
                    <a:srgbClr val="8B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mask=mask</a:t>
              </a: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)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# 计算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output = x + y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# 带 mask 的 store 操作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tl.store(output_ptr + offsets, output, </a:t>
              </a:r>
              <a:r>
                <a:rPr lang="en-US" b="true" i="false" strike="noStrike" u="none" sz="1000">
                  <a:solidFill>
                    <a:srgbClr val="8B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mask=mask</a:t>
              </a:r>
              <a:r>
                <a:rPr lang="en-US" b="false" i="false" strike="noStrike" u="none" sz="1000">
                  <a:solidFill>
                    <a:srgbClr val="1E293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)</a:t>
              </a:r>
            </a:p>
          </p:txBody>
        </p:sp>
      </p:grpSp>
      <p:sp>
        <p:nvSpPr>
          <p:cNvPr name="AutoShape 29" id="29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0925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mask 工作原理示例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409793"/>
            <a:ext cx="11430000" cy="1714500"/>
            <a:chOff x="380956" y="1409793"/>
            <a:chExt cx="11430000" cy="17145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409793"/>
              <a:ext cx="11430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1430000">
                  <a:moveTo>
                    <a:pt x="114306" y="0"/>
                  </a:moveTo>
                  <a:lnTo>
                    <a:pt x="11315694" y="0"/>
                  </a:lnTo>
                  <a:cubicBezTo>
                    <a:pt x="11378824" y="0"/>
                    <a:pt x="11430000" y="51176"/>
                    <a:pt x="11430000" y="114306"/>
                  </a:cubicBezTo>
                  <a:lnTo>
                    <a:pt x="11430000" y="1600194"/>
                  </a:lnTo>
                  <a:cubicBezTo>
                    <a:pt x="11430000" y="1663324"/>
                    <a:pt x="11378824" y="1714500"/>
                    <a:pt x="11315694" y="1714500"/>
                  </a:cubicBezTo>
                  <a:lnTo>
                    <a:pt x="114306" y="1714500"/>
                  </a:lnTo>
                  <a:cubicBezTo>
                    <a:pt x="51176" y="1714500"/>
                    <a:pt x="0" y="1663324"/>
                    <a:pt x="0" y="1600194"/>
                  </a:cubicBezTo>
                  <a:lnTo>
                    <a:pt x="0" y="114306"/>
                  </a:lnTo>
                  <a:cubicBezTo>
                    <a:pt x="0" y="51176"/>
                    <a:pt x="51176" y="0"/>
                    <a:pt x="114306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609529" y="1638365"/>
              <a:ext cx="110680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假设条件</a:t>
              </a:r>
              <a:endParaRPr lang="en-US" sz="1100"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628484" y="2057456"/>
              <a:ext cx="5486305" cy="838200"/>
            </a:xfrm>
            <a:custGeom>
              <a:avLst/>
              <a:gdLst/>
              <a:ahLst/>
              <a:cxnLst/>
              <a:rect r="r" b="b" t="t" l="l"/>
              <a:pathLst>
                <a:path h="838200" w="5486305">
                  <a:moveTo>
                    <a:pt x="37910" y="0"/>
                  </a:moveTo>
                  <a:lnTo>
                    <a:pt x="5410103" y="0"/>
                  </a:lnTo>
                  <a:cubicBezTo>
                    <a:pt x="5452189" y="0"/>
                    <a:pt x="5486305" y="34116"/>
                    <a:pt x="5486305" y="76201"/>
                  </a:cubicBezTo>
                  <a:lnTo>
                    <a:pt x="5486305" y="761999"/>
                  </a:lnTo>
                  <a:cubicBezTo>
                    <a:pt x="5486305" y="804084"/>
                    <a:pt x="5452189" y="838200"/>
                    <a:pt x="5410103" y="838200"/>
                  </a:cubicBezTo>
                  <a:lnTo>
                    <a:pt x="37910" y="838200"/>
                  </a:lnTo>
                  <a:cubicBezTo>
                    <a:pt x="16974" y="838200"/>
                    <a:pt x="0" y="821226"/>
                    <a:pt x="0" y="8002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628484" y="2057456"/>
              <a:ext cx="37909" cy="838200"/>
            </a:xfrm>
            <a:custGeom>
              <a:avLst/>
              <a:gdLst/>
              <a:ahLst/>
              <a:cxnLst/>
              <a:rect r="r" b="b" t="t" l="l"/>
              <a:pathLst>
                <a:path h="83820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838200"/>
                  </a:lnTo>
                  <a:lnTo>
                    <a:pt x="37910" y="838200"/>
                  </a:lnTo>
                  <a:cubicBezTo>
                    <a:pt x="16974" y="838200"/>
                    <a:pt x="0" y="821226"/>
                    <a:pt x="0" y="8002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799822" y="2209837"/>
              <a:ext cx="524827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n_elements = </a:t>
              </a:r>
              <a:r>
                <a:rPr lang="en-US" b="true" i="false" strike="noStrike" u="none" sz="1400">
                  <a:solidFill>
                    <a:srgbClr val="009900"/>
                  </a:solidFill>
                  <a:latin typeface="MiSans"/>
                  <a:ea typeface="MiSans"/>
                  <a:cs typeface="MiSans"/>
                  <a:sym typeface="MiSans"/>
                </a:rPr>
                <a:t>1000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4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BLOCK_SIZE = </a:t>
              </a:r>
              <a:r>
                <a:rPr lang="en-US" b="true" i="false" strike="noStrike" u="none" sz="1400">
                  <a:solidFill>
                    <a:srgbClr val="009900"/>
                  </a:solidFill>
                  <a:latin typeface="MiSans"/>
                  <a:ea typeface="MiSans"/>
                  <a:cs typeface="MiSans"/>
                  <a:sym typeface="MiSans"/>
                </a:rPr>
                <a:t>1024</a:t>
              </a:r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6419675" y="2209837"/>
              <a:ext cx="524827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向量有 1000 个元素，但每个 block 处理 1024 个元素，最后一个 block 会超出边界</a:t>
              </a:r>
              <a:endParaRPr lang="en-US" sz="110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380956" y="3352777"/>
            <a:ext cx="11430000" cy="2819400"/>
            <a:chOff x="380956" y="3352777"/>
            <a:chExt cx="11430000" cy="2819400"/>
          </a:xfrm>
        </p:grpSpPr>
        <p:sp>
          <p:nvSpPr>
            <p:cNvPr name="Freeform 11" id="11"/>
            <p:cNvSpPr/>
            <p:nvPr/>
          </p:nvSpPr>
          <p:spPr>
            <a:xfrm rot="0" flipH="false" flipV="false">
              <a:off x="380956" y="3352777"/>
              <a:ext cx="114300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11430000">
                  <a:moveTo>
                    <a:pt x="114297" y="0"/>
                  </a:moveTo>
                  <a:lnTo>
                    <a:pt x="11315703" y="0"/>
                  </a:lnTo>
                  <a:cubicBezTo>
                    <a:pt x="11378827" y="0"/>
                    <a:pt x="11430000" y="51173"/>
                    <a:pt x="11430000" y="114297"/>
                  </a:cubicBezTo>
                  <a:lnTo>
                    <a:pt x="11430000" y="2705103"/>
                  </a:lnTo>
                  <a:cubicBezTo>
                    <a:pt x="11430000" y="2768227"/>
                    <a:pt x="11378827" y="2819400"/>
                    <a:pt x="11315703" y="2819400"/>
                  </a:cubicBezTo>
                  <a:lnTo>
                    <a:pt x="114297" y="2819400"/>
                  </a:lnTo>
                  <a:cubicBezTo>
                    <a:pt x="51173" y="2819400"/>
                    <a:pt x="0" y="2768227"/>
                    <a:pt x="0" y="2705103"/>
                  </a:cubicBezTo>
                  <a:lnTo>
                    <a:pt x="0" y="114297"/>
                  </a:lnTo>
                  <a:cubicBezTo>
                    <a:pt x="0" y="51173"/>
                    <a:pt x="51173" y="0"/>
                    <a:pt x="114297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609529" y="3581353"/>
              <a:ext cx="110680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最后一个 block （program_id = 0，只有一个 block）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09529" y="4000440"/>
              <a:ext cx="5457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offsets 数组</a:t>
              </a: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 rot="0" flipH="false" flipV="false">
              <a:off x="609529" y="4381398"/>
              <a:ext cx="53721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721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761911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72381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0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1400095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36199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2038279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2000179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2676463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2638363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3314647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276547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998</a:t>
              </a:r>
              <a:endParaRPr lang="en-US" sz="1100"/>
            </a:p>
          </p:txBody>
        </p:sp>
        <p:sp>
          <p:nvSpPr>
            <p:cNvPr name="Freeform 25" id="25"/>
            <p:cNvSpPr/>
            <p:nvPr/>
          </p:nvSpPr>
          <p:spPr>
            <a:xfrm rot="0" flipH="false" flipV="false">
              <a:off x="3952831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391473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999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4591014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4552914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1000</a:t>
              </a:r>
              <a:endParaRPr lang="en-US" sz="1100"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5229198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5191098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61911" y="4914658"/>
              <a:ext cx="51339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索引范围：[0 ... 1023]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6210279" y="4000440"/>
              <a:ext cx="5457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mask 数组</a:t>
              </a:r>
              <a:endParaRPr lang="en-US" sz="1100"/>
            </a:p>
          </p:txBody>
        </p:sp>
        <p:sp>
          <p:nvSpPr>
            <p:cNvPr name="Freeform 33" id="33"/>
            <p:cNvSpPr/>
            <p:nvPr/>
          </p:nvSpPr>
          <p:spPr>
            <a:xfrm rot="0" flipH="false" flipV="false">
              <a:off x="6210279" y="4381398"/>
              <a:ext cx="5372100" cy="876300"/>
            </a:xfrm>
            <a:custGeom>
              <a:avLst/>
              <a:gdLst/>
              <a:ahLst/>
              <a:cxnLst/>
              <a:rect r="r" b="b" t="t" l="l"/>
              <a:pathLst>
                <a:path h="876300" w="53721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34" id="34"/>
            <p:cNvSpPr/>
            <p:nvPr/>
          </p:nvSpPr>
          <p:spPr>
            <a:xfrm rot="0" flipH="false" flipV="false">
              <a:off x="6362662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324562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T</a:t>
              </a:r>
              <a:endParaRPr lang="en-US" sz="1100"/>
            </a:p>
          </p:txBody>
        </p:sp>
        <p:sp>
          <p:nvSpPr>
            <p:cNvPr name="Freeform 36" id="36"/>
            <p:cNvSpPr/>
            <p:nvPr/>
          </p:nvSpPr>
          <p:spPr>
            <a:xfrm rot="0" flipH="false" flipV="false">
              <a:off x="7000845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96274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T</a:t>
              </a:r>
              <a:endParaRPr lang="en-US" sz="1100"/>
            </a:p>
          </p:txBody>
        </p:sp>
        <p:sp>
          <p:nvSpPr>
            <p:cNvPr name="Freeform 38" id="38"/>
            <p:cNvSpPr/>
            <p:nvPr/>
          </p:nvSpPr>
          <p:spPr>
            <a:xfrm rot="0" flipH="false" flipV="false">
              <a:off x="7639029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600929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T</a:t>
              </a:r>
              <a:endParaRPr lang="en-US" sz="1100"/>
            </a:p>
          </p:txBody>
        </p:sp>
        <p:sp>
          <p:nvSpPr>
            <p:cNvPr name="Freeform 40" id="40"/>
            <p:cNvSpPr/>
            <p:nvPr/>
          </p:nvSpPr>
          <p:spPr>
            <a:xfrm rot="0" flipH="false" flipV="false">
              <a:off x="8277213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8239113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Freeform 42" id="42"/>
            <p:cNvSpPr/>
            <p:nvPr/>
          </p:nvSpPr>
          <p:spPr>
            <a:xfrm rot="0" flipH="false" flipV="false">
              <a:off x="8915397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8877297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T</a:t>
              </a:r>
              <a:endParaRPr lang="en-US" sz="1100"/>
            </a:p>
          </p:txBody>
        </p:sp>
        <p:sp>
          <p:nvSpPr>
            <p:cNvPr name="Freeform 44" id="44"/>
            <p:cNvSpPr/>
            <p:nvPr/>
          </p:nvSpPr>
          <p:spPr>
            <a:xfrm rot="0" flipH="false" flipV="false">
              <a:off x="9553581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951548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008236"/>
                  </a:solidFill>
                  <a:latin typeface="MiSans"/>
                  <a:ea typeface="MiSans"/>
                  <a:cs typeface="MiSans"/>
                  <a:sym typeface="MiSans"/>
                </a:rPr>
                <a:t>T</a:t>
              </a:r>
              <a:endParaRPr lang="en-US" sz="1100"/>
            </a:p>
          </p:txBody>
        </p:sp>
        <p:sp>
          <p:nvSpPr>
            <p:cNvPr name="Freeform 46" id="46"/>
            <p:cNvSpPr/>
            <p:nvPr/>
          </p:nvSpPr>
          <p:spPr>
            <a:xfrm rot="0" flipH="false" flipV="false">
              <a:off x="10191765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7" id="47"/>
            <p:cNvSpPr/>
            <p:nvPr/>
          </p:nvSpPr>
          <p:spPr>
            <a:xfrm rot="0" flipH="false" flipV="false">
              <a:off x="1015366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C10007"/>
                  </a:solidFill>
                  <a:latin typeface="MiSans"/>
                  <a:ea typeface="MiSans"/>
                  <a:cs typeface="MiSans"/>
                  <a:sym typeface="MiSans"/>
                </a:rPr>
                <a:t>F</a:t>
              </a:r>
              <a:endParaRPr lang="en-US" sz="1100"/>
            </a:p>
          </p:txBody>
        </p:sp>
        <p:sp>
          <p:nvSpPr>
            <p:cNvPr name="Freeform 48" id="48"/>
            <p:cNvSpPr/>
            <p:nvPr/>
          </p:nvSpPr>
          <p:spPr>
            <a:xfrm rot="0" flipH="false" flipV="false">
              <a:off x="10829948" y="4533779"/>
              <a:ext cx="600075" cy="304800"/>
            </a:xfrm>
            <a:custGeom>
              <a:avLst/>
              <a:gdLst/>
              <a:ahLst/>
              <a:cxnLst/>
              <a:rect r="r" b="b" t="t" l="l"/>
              <a:pathLst>
                <a:path h="304800" w="600075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9" id="49"/>
            <p:cNvSpPr/>
            <p:nvPr/>
          </p:nvSpPr>
          <p:spPr>
            <a:xfrm rot="0" flipH="false" flipV="false">
              <a:off x="10791848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38100" rIns="38100" tIns="38100" bIns="3810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C10007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AutoShape 50" id="50"/>
            <p:cNvSpPr/>
            <p:nvPr/>
          </p:nvSpPr>
          <p:spPr>
            <a:xfrm rot="0" flipH="false" flipV="false">
              <a:off x="6362662" y="4914658"/>
              <a:ext cx="51339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True = 访问，False = 跳过</a:t>
              </a:r>
              <a:endParaRPr lang="en-US" sz="1100"/>
            </a:p>
          </p:txBody>
        </p:sp>
        <p:sp>
          <p:nvSpPr>
            <p:cNvPr name="Freeform 51" id="51"/>
            <p:cNvSpPr/>
            <p:nvPr/>
          </p:nvSpPr>
          <p:spPr>
            <a:xfrm rot="0" flipH="false" flipV="false">
              <a:off x="609529" y="5409865"/>
              <a:ext cx="1097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972800">
                  <a:moveTo>
                    <a:pt x="76203" y="0"/>
                  </a:moveTo>
                  <a:lnTo>
                    <a:pt x="10896597" y="0"/>
                  </a:lnTo>
                  <a:cubicBezTo>
                    <a:pt x="10938683" y="0"/>
                    <a:pt x="10972800" y="34117"/>
                    <a:pt x="10972800" y="76203"/>
                  </a:cubicBezTo>
                  <a:lnTo>
                    <a:pt x="10972800" y="457197"/>
                  </a:lnTo>
                  <a:cubicBezTo>
                    <a:pt x="10972800" y="499283"/>
                    <a:pt x="10938683" y="533400"/>
                    <a:pt x="10896597" y="533400"/>
                  </a:cubicBezTo>
                  <a:lnTo>
                    <a:pt x="76203" y="533400"/>
                  </a:lnTo>
                  <a:cubicBezTo>
                    <a:pt x="34117" y="533400"/>
                    <a:pt x="0" y="499283"/>
                    <a:pt x="0" y="4571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2" id="52"/>
            <p:cNvSpPr/>
            <p:nvPr/>
          </p:nvSpPr>
          <p:spPr>
            <a:xfrm rot="0" flipH="false" flipV="false">
              <a:off x="790486" y="5562247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228600"/>
                  </a:moveTo>
                  <a:cubicBezTo>
                    <a:pt x="177383" y="228600"/>
                    <a:pt x="228600" y="177383"/>
                    <a:pt x="228600" y="114300"/>
                  </a:cubicBezTo>
                  <a:cubicBezTo>
                    <a:pt x="228600" y="51217"/>
                    <a:pt x="177383" y="0"/>
                    <a:pt x="114300" y="0"/>
                  </a:cubicBezTo>
                  <a:cubicBezTo>
                    <a:pt x="51217" y="0"/>
                    <a:pt x="0" y="51217"/>
                    <a:pt x="0" y="114300"/>
                  </a:cubicBezTo>
                  <a:cubicBezTo>
                    <a:pt x="0" y="177383"/>
                    <a:pt x="51217" y="228600"/>
                    <a:pt x="114300" y="228600"/>
                  </a:cubicBezTo>
                  <a:close/>
                  <a:moveTo>
                    <a:pt x="100012" y="71437"/>
                  </a:moveTo>
                  <a:cubicBezTo>
                    <a:pt x="100012" y="63552"/>
                    <a:pt x="106415" y="57150"/>
                    <a:pt x="114300" y="57150"/>
                  </a:cubicBezTo>
                  <a:cubicBezTo>
                    <a:pt x="122185" y="57150"/>
                    <a:pt x="128587" y="63552"/>
                    <a:pt x="128587" y="71437"/>
                  </a:cubicBezTo>
                  <a:cubicBezTo>
                    <a:pt x="128587" y="79323"/>
                    <a:pt x="122185" y="85725"/>
                    <a:pt x="114300" y="85725"/>
                  </a:cubicBezTo>
                  <a:cubicBezTo>
                    <a:pt x="106415" y="85725"/>
                    <a:pt x="100012" y="79323"/>
                    <a:pt x="100012" y="71437"/>
                  </a:cubicBezTo>
                  <a:close/>
                  <a:moveTo>
                    <a:pt x="96441" y="100013"/>
                  </a:moveTo>
                  <a:lnTo>
                    <a:pt x="117873" y="100013"/>
                  </a:lnTo>
                  <a:cubicBezTo>
                    <a:pt x="123810" y="100013"/>
                    <a:pt x="128587" y="104790"/>
                    <a:pt x="128587" y="110727"/>
                  </a:cubicBezTo>
                  <a:lnTo>
                    <a:pt x="128587" y="150019"/>
                  </a:lnTo>
                  <a:lnTo>
                    <a:pt x="132159" y="150019"/>
                  </a:lnTo>
                  <a:cubicBezTo>
                    <a:pt x="138099" y="150019"/>
                    <a:pt x="142875" y="154796"/>
                    <a:pt x="142875" y="160734"/>
                  </a:cubicBezTo>
                  <a:cubicBezTo>
                    <a:pt x="142875" y="166674"/>
                    <a:pt x="138099" y="171450"/>
                    <a:pt x="132159" y="171450"/>
                  </a:cubicBezTo>
                  <a:lnTo>
                    <a:pt x="96441" y="171450"/>
                  </a:lnTo>
                  <a:cubicBezTo>
                    <a:pt x="90501" y="171450"/>
                    <a:pt x="85725" y="166674"/>
                    <a:pt x="85725" y="160734"/>
                  </a:cubicBezTo>
                  <a:cubicBezTo>
                    <a:pt x="85725" y="154796"/>
                    <a:pt x="90501" y="150019"/>
                    <a:pt x="96441" y="150019"/>
                  </a:cubicBezTo>
                  <a:lnTo>
                    <a:pt x="107156" y="150019"/>
                  </a:lnTo>
                  <a:lnTo>
                    <a:pt x="107156" y="121444"/>
                  </a:lnTo>
                  <a:lnTo>
                    <a:pt x="96441" y="121444"/>
                  </a:lnTo>
                  <a:cubicBezTo>
                    <a:pt x="90501" y="121444"/>
                    <a:pt x="85725" y="116666"/>
                    <a:pt x="85725" y="110727"/>
                  </a:cubicBezTo>
                  <a:cubicBezTo>
                    <a:pt x="85725" y="104790"/>
                    <a:pt x="90501" y="100013"/>
                    <a:pt x="96441" y="10001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3" id="53"/>
            <p:cNvSpPr/>
            <p:nvPr/>
          </p:nvSpPr>
          <p:spPr>
            <a:xfrm rot="0" flipH="false" flipV="false">
              <a:off x="1200029" y="5562247"/>
              <a:ext cx="52768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结果：</a:t>
              </a:r>
              <a:r>
                <a:rPr lang="en-US" b="false" i="false" strike="noStrike" u="none" sz="12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只有 offsets &lt; 1000 的位置才会进行内存访问，超出部分被 mask 保护</a:t>
              </a:r>
              <a:endParaRPr lang="en-US" sz="1100"/>
            </a:p>
          </p:txBody>
        </p:sp>
      </p:grpSp>
      <p:sp>
        <p:nvSpPr>
          <p:cNvPr name="AutoShape 54" id="54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5791" y="604784"/>
            <a:ext cx="11617605" cy="3705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tl.load 详解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8971" y="1370870"/>
            <a:ext cx="8808452" cy="1649070"/>
            <a:chOff x="388971" y="1370870"/>
            <a:chExt cx="8808452" cy="164907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8971" y="1370870"/>
              <a:ext cx="5558570" cy="1649070"/>
            </a:xfrm>
            <a:custGeom>
              <a:avLst/>
              <a:gdLst/>
              <a:ahLst/>
              <a:cxnLst/>
              <a:rect r="r" b="b" t="t" l="l"/>
              <a:pathLst>
                <a:path h="1649070" w="5558570">
                  <a:moveTo>
                    <a:pt x="36873" y="0"/>
                  </a:moveTo>
                  <a:lnTo>
                    <a:pt x="5447389" y="0"/>
                  </a:lnTo>
                  <a:cubicBezTo>
                    <a:pt x="5508793" y="0"/>
                    <a:pt x="5558570" y="49776"/>
                    <a:pt x="5558570" y="111180"/>
                  </a:cubicBezTo>
                  <a:lnTo>
                    <a:pt x="5558570" y="1537890"/>
                  </a:lnTo>
                  <a:cubicBezTo>
                    <a:pt x="5558570" y="1599293"/>
                    <a:pt x="5508793" y="1649070"/>
                    <a:pt x="5447389" y="1649070"/>
                  </a:cubicBezTo>
                  <a:lnTo>
                    <a:pt x="36873" y="1649070"/>
                  </a:lnTo>
                  <a:cubicBezTo>
                    <a:pt x="16509" y="1649070"/>
                    <a:pt x="0" y="1632561"/>
                    <a:pt x="0" y="1612196"/>
                  </a:cubicBezTo>
                  <a:lnTo>
                    <a:pt x="0" y="36873"/>
                  </a:lnTo>
                  <a:cubicBezTo>
                    <a:pt x="0" y="16521"/>
                    <a:pt x="16521" y="0"/>
                    <a:pt x="3687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88971" y="1370870"/>
              <a:ext cx="36873" cy="1649070"/>
            </a:xfrm>
            <a:custGeom>
              <a:avLst/>
              <a:gdLst/>
              <a:ahLst/>
              <a:cxnLst/>
              <a:rect r="r" b="b" t="t" l="l"/>
              <a:pathLst>
                <a:path h="1649070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1649070"/>
                  </a:lnTo>
                  <a:lnTo>
                    <a:pt x="36873" y="1649070"/>
                  </a:lnTo>
                  <a:cubicBezTo>
                    <a:pt x="16509" y="1649070"/>
                    <a:pt x="0" y="1632561"/>
                    <a:pt x="0" y="1612196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629728" y="1593194"/>
              <a:ext cx="5188085" cy="12043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x = tl.load(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x_ptr + offsets, 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</a:t>
              </a:r>
              <a:r>
                <a:rPr lang="en-US" b="true" i="false" strike="noStrike" u="none" sz="1500">
                  <a:solidFill>
                    <a:srgbClr val="8B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mask=mask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)</a:t>
              </a:r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6265277" y="1407887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6584852" y="1370870"/>
              <a:ext cx="2529191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支持 mask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：条件读取，防止越界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265277" y="1827107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584852" y="1790090"/>
              <a:ext cx="2418018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向量化读取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：一次读取多个元素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265277" y="2246328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6584852" y="2209311"/>
              <a:ext cx="2612571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返回 tensor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：直接进行向量化运算</a:t>
              </a:r>
              <a:endParaRPr lang="en-US" sz="1100"/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370534" y="3242268"/>
            <a:ext cx="11450845" cy="3316669"/>
            <a:chOff x="370534" y="3242268"/>
            <a:chExt cx="11450845" cy="3316669"/>
          </a:xfrm>
        </p:grpSpPr>
        <p:sp>
          <p:nvSpPr>
            <p:cNvPr name="Freeform 14" id="14"/>
            <p:cNvSpPr/>
            <p:nvPr/>
          </p:nvSpPr>
          <p:spPr>
            <a:xfrm rot="0" flipH="false" flipV="false">
              <a:off x="370534" y="3242268"/>
              <a:ext cx="11450845" cy="3316669"/>
            </a:xfrm>
            <a:custGeom>
              <a:avLst/>
              <a:gdLst/>
              <a:ahLst/>
              <a:cxnLst/>
              <a:rect r="r" b="b" t="t" l="l"/>
              <a:pathLst>
                <a:path h="3316669" w="11450845">
                  <a:moveTo>
                    <a:pt x="111175" y="0"/>
                  </a:moveTo>
                  <a:lnTo>
                    <a:pt x="11339670" y="0"/>
                  </a:lnTo>
                  <a:cubicBezTo>
                    <a:pt x="11401069" y="0"/>
                    <a:pt x="11450845" y="49775"/>
                    <a:pt x="11450845" y="111175"/>
                  </a:cubicBezTo>
                  <a:lnTo>
                    <a:pt x="11450845" y="3205494"/>
                  </a:lnTo>
                  <a:cubicBezTo>
                    <a:pt x="11450845" y="3266893"/>
                    <a:pt x="11401069" y="3316668"/>
                    <a:pt x="11339670" y="3316668"/>
                  </a:cubicBezTo>
                  <a:lnTo>
                    <a:pt x="111175" y="3316668"/>
                  </a:lnTo>
                  <a:cubicBezTo>
                    <a:pt x="49775" y="3316668"/>
                    <a:pt x="0" y="3266893"/>
                    <a:pt x="0" y="3205494"/>
                  </a:cubicBezTo>
                  <a:lnTo>
                    <a:pt x="0" y="111175"/>
                  </a:lnTo>
                  <a:cubicBezTo>
                    <a:pt x="0" y="49816"/>
                    <a:pt x="49816" y="0"/>
                    <a:pt x="11117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592855" y="3464588"/>
              <a:ext cx="11098796" cy="25940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完整参数说明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11292" y="3872214"/>
              <a:ext cx="10987531" cy="537337"/>
            </a:xfrm>
            <a:custGeom>
              <a:avLst/>
              <a:gdLst/>
              <a:ahLst/>
              <a:cxnLst/>
              <a:rect r="r" b="b" t="t" l="l"/>
              <a:pathLst>
                <a:path h="537337" w="10987531">
                  <a:moveTo>
                    <a:pt x="36873" y="0"/>
                  </a:moveTo>
                  <a:lnTo>
                    <a:pt x="10913416" y="0"/>
                  </a:lnTo>
                  <a:cubicBezTo>
                    <a:pt x="10954349" y="0"/>
                    <a:pt x="10987531" y="33183"/>
                    <a:pt x="10987531" y="74115"/>
                  </a:cubicBezTo>
                  <a:lnTo>
                    <a:pt x="10987531" y="463222"/>
                  </a:lnTo>
                  <a:cubicBezTo>
                    <a:pt x="10987531" y="504154"/>
                    <a:pt x="10954349" y="537337"/>
                    <a:pt x="10913416" y="537337"/>
                  </a:cubicBezTo>
                  <a:lnTo>
                    <a:pt x="36873" y="537337"/>
                  </a:lnTo>
                  <a:cubicBezTo>
                    <a:pt x="16509" y="537337"/>
                    <a:pt x="0" y="520830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611292" y="3872214"/>
              <a:ext cx="36873" cy="537337"/>
            </a:xfrm>
            <a:custGeom>
              <a:avLst/>
              <a:gdLst/>
              <a:ahLst/>
              <a:cxnLst/>
              <a:rect r="r" b="b" t="t" l="l"/>
              <a:pathLst>
                <a:path h="537337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537337"/>
                  </a:lnTo>
                  <a:lnTo>
                    <a:pt x="36873" y="537337"/>
                  </a:lnTo>
                  <a:cubicBezTo>
                    <a:pt x="16509" y="537337"/>
                    <a:pt x="0" y="520830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777942" y="4020427"/>
              <a:ext cx="10746748" cy="2408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tl.load(ptr, mask=None, other=None, cache_modifier="", eviction_policy="", volatile=False)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611292" y="4557683"/>
              <a:ext cx="5410338" cy="815271"/>
            </a:xfrm>
            <a:custGeom>
              <a:avLst/>
              <a:gdLst/>
              <a:ahLst/>
              <a:cxnLst/>
              <a:rect r="r" b="b" t="t" l="l"/>
              <a:pathLst>
                <a:path h="815271" w="5410338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11292" y="4557683"/>
              <a:ext cx="36873" cy="815271"/>
            </a:xfrm>
            <a:custGeom>
              <a:avLst/>
              <a:gdLst/>
              <a:ahLst/>
              <a:cxnLst/>
              <a:rect r="r" b="b" t="t" l="l"/>
              <a:pathLst>
                <a:path h="815271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77942" y="4705896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ptr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77942" y="5002321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数据指针，可以是单个地址或地址数组</a:t>
              </a:r>
              <a:endParaRPr lang="en-US" sz="1100"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6186446" y="4557683"/>
              <a:ext cx="5410338" cy="815271"/>
            </a:xfrm>
            <a:custGeom>
              <a:avLst/>
              <a:gdLst/>
              <a:ahLst/>
              <a:cxnLst/>
              <a:rect r="r" b="b" t="t" l="l"/>
              <a:pathLst>
                <a:path h="815271" w="5410338">
                  <a:moveTo>
                    <a:pt x="36873" y="0"/>
                  </a:moveTo>
                  <a:lnTo>
                    <a:pt x="5336222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2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6186446" y="4557683"/>
              <a:ext cx="36873" cy="815271"/>
            </a:xfrm>
            <a:custGeom>
              <a:avLst/>
              <a:gdLst/>
              <a:ahLst/>
              <a:cxnLst/>
              <a:rect r="r" b="b" t="t" l="l"/>
              <a:pathLst>
                <a:path h="815271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353097" y="4705896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mask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353097" y="5002321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布尔数组，控制哪些位置需要读取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611292" y="5521076"/>
              <a:ext cx="5410338" cy="815271"/>
            </a:xfrm>
            <a:custGeom>
              <a:avLst/>
              <a:gdLst/>
              <a:ahLst/>
              <a:cxnLst/>
              <a:rect r="r" b="b" t="t" l="l"/>
              <a:pathLst>
                <a:path h="815271" w="5410338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8" id="28"/>
            <p:cNvSpPr/>
            <p:nvPr/>
          </p:nvSpPr>
          <p:spPr>
            <a:xfrm rot="0" flipH="false" flipV="false">
              <a:off x="611292" y="5521076"/>
              <a:ext cx="36873" cy="815271"/>
            </a:xfrm>
            <a:custGeom>
              <a:avLst/>
              <a:gdLst/>
              <a:ahLst/>
              <a:cxnLst/>
              <a:rect r="r" b="b" t="t" l="l"/>
              <a:pathLst>
                <a:path h="815271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777942" y="5669289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other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77942" y="5965714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mask 为 False 时的默认值</a:t>
              </a:r>
              <a:endParaRPr lang="en-US" sz="1100"/>
            </a:p>
          </p:txBody>
        </p:sp>
        <p:sp>
          <p:nvSpPr>
            <p:cNvPr name="Freeform 31" id="31"/>
            <p:cNvSpPr/>
            <p:nvPr/>
          </p:nvSpPr>
          <p:spPr>
            <a:xfrm rot="0" flipH="false" flipV="false">
              <a:off x="6186446" y="5521076"/>
              <a:ext cx="5410338" cy="815271"/>
            </a:xfrm>
            <a:custGeom>
              <a:avLst/>
              <a:gdLst/>
              <a:ahLst/>
              <a:cxnLst/>
              <a:rect r="r" b="b" t="t" l="l"/>
              <a:pathLst>
                <a:path h="815271" w="5410338">
                  <a:moveTo>
                    <a:pt x="36873" y="0"/>
                  </a:moveTo>
                  <a:lnTo>
                    <a:pt x="5336222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2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32" id="32"/>
            <p:cNvSpPr/>
            <p:nvPr/>
          </p:nvSpPr>
          <p:spPr>
            <a:xfrm rot="0" flipH="false" flipV="false">
              <a:off x="6186446" y="5521076"/>
              <a:ext cx="36873" cy="815271"/>
            </a:xfrm>
            <a:custGeom>
              <a:avLst/>
              <a:gdLst/>
              <a:ahLst/>
              <a:cxnLst/>
              <a:rect r="r" b="b" t="t" l="l"/>
              <a:pathLst>
                <a:path h="815271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6353097" y="5669289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cache_modifier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6353097" y="5965714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缓存修饰符（如 ".ca", ".cg"）</a:t>
              </a:r>
              <a:endParaRPr lang="en-US" sz="1100"/>
            </a:p>
          </p:txBody>
        </p:sp>
      </p:grpSp>
      <p:sp>
        <p:nvSpPr>
          <p:cNvPr name="AutoShape 35" id="35"/>
          <p:cNvSpPr/>
          <p:nvPr/>
        </p:nvSpPr>
        <p:spPr>
          <a:xfrm rot="0" flipH="false" flipV="false">
            <a:off x="370534" y="6706779"/>
            <a:ext cx="11506432" cy="1482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8165" y="585821"/>
            <a:ext cx="11617605" cy="3705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tl.store 详解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519504" y="1370874"/>
            <a:ext cx="9299468" cy="1954795"/>
            <a:chOff x="519504" y="1370874"/>
            <a:chExt cx="9299468" cy="1954795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519504" y="1370874"/>
              <a:ext cx="5558570" cy="1954795"/>
            </a:xfrm>
            <a:custGeom>
              <a:avLst/>
              <a:gdLst/>
              <a:ahLst/>
              <a:cxnLst/>
              <a:rect r="r" b="b" t="t" l="l"/>
              <a:pathLst>
                <a:path h="1954795" w="5558570">
                  <a:moveTo>
                    <a:pt x="36873" y="0"/>
                  </a:moveTo>
                  <a:lnTo>
                    <a:pt x="5447401" y="0"/>
                  </a:lnTo>
                  <a:cubicBezTo>
                    <a:pt x="5508798" y="0"/>
                    <a:pt x="5558570" y="49773"/>
                    <a:pt x="5558570" y="111169"/>
                  </a:cubicBezTo>
                  <a:lnTo>
                    <a:pt x="5558570" y="1843627"/>
                  </a:lnTo>
                  <a:cubicBezTo>
                    <a:pt x="5558570" y="1905024"/>
                    <a:pt x="5508798" y="1954795"/>
                    <a:pt x="5447401" y="1954795"/>
                  </a:cubicBezTo>
                  <a:lnTo>
                    <a:pt x="36873" y="1954795"/>
                  </a:lnTo>
                  <a:cubicBezTo>
                    <a:pt x="16509" y="1954795"/>
                    <a:pt x="0" y="1938288"/>
                    <a:pt x="0" y="1917924"/>
                  </a:cubicBezTo>
                  <a:lnTo>
                    <a:pt x="0" y="36873"/>
                  </a:lnTo>
                  <a:cubicBezTo>
                    <a:pt x="0" y="16521"/>
                    <a:pt x="16521" y="0"/>
                    <a:pt x="3687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519504" y="1370874"/>
              <a:ext cx="36873" cy="1954795"/>
            </a:xfrm>
            <a:custGeom>
              <a:avLst/>
              <a:gdLst/>
              <a:ahLst/>
              <a:cxnLst/>
              <a:rect r="r" b="b" t="t" l="l"/>
              <a:pathLst>
                <a:path h="1954795" w="36873">
                  <a:moveTo>
                    <a:pt x="36873" y="0"/>
                  </a:moveTo>
                  <a:lnTo>
                    <a:pt x="36873" y="0"/>
                  </a:lnTo>
                  <a:lnTo>
                    <a:pt x="36873" y="1954795"/>
                  </a:lnTo>
                  <a:lnTo>
                    <a:pt x="36873" y="1954795"/>
                  </a:lnTo>
                  <a:cubicBezTo>
                    <a:pt x="16509" y="1954795"/>
                    <a:pt x="0" y="1938288"/>
                    <a:pt x="0" y="191792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760261" y="1593194"/>
              <a:ext cx="5188085" cy="151010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tl.store(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output_ptr + offsets, 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output, 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</a:t>
              </a:r>
              <a:r>
                <a:rPr lang="en-US" b="true" i="false" strike="noStrike" u="none" sz="1500">
                  <a:solidFill>
                    <a:srgbClr val="8B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mask=mask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)</a:t>
              </a:r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6395810" y="1407887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6715385" y="1370874"/>
              <a:ext cx="2529191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支持 mask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：条件写入，防止越界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395810" y="1827103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715385" y="1790090"/>
              <a:ext cx="3029471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条件写入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：只写入 mask 为 True 的位置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395810" y="2246328"/>
              <a:ext cx="185289" cy="185289"/>
            </a:xfrm>
            <a:custGeom>
              <a:avLst/>
              <a:gdLst/>
              <a:ahLst/>
              <a:cxnLst/>
              <a:rect r="r" b="b" t="t" l="l"/>
              <a:pathLst>
                <a:path h="185289" w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6715385" y="2209306"/>
              <a:ext cx="3103587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true" i="false" strike="noStrike" u="none" sz="13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保证 memory safety</a:t>
              </a: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：避免非法内存写入</a:t>
              </a:r>
              <a:endParaRPr lang="en-US" sz="1100"/>
            </a:p>
          </p:txBody>
        </p:sp>
      </p:grpSp>
      <p:sp>
        <p:nvSpPr>
          <p:cNvPr name="Freeform 13" id="13"/>
          <p:cNvSpPr/>
          <p:nvPr/>
        </p:nvSpPr>
        <p:spPr>
          <a:xfrm rot="0" flipH="false" flipV="false">
            <a:off x="370534" y="3543376"/>
            <a:ext cx="11450845" cy="3020207"/>
          </a:xfrm>
          <a:custGeom>
            <a:avLst/>
            <a:gdLst/>
            <a:ahLst/>
            <a:cxnLst/>
            <a:rect r="r" b="b" t="t" l="l"/>
            <a:pathLst>
              <a:path h="3020207" w="11450845">
                <a:moveTo>
                  <a:pt x="111175" y="0"/>
                </a:moveTo>
                <a:lnTo>
                  <a:pt x="11339671" y="0"/>
                </a:lnTo>
                <a:cubicBezTo>
                  <a:pt x="11401071" y="0"/>
                  <a:pt x="11450845" y="49774"/>
                  <a:pt x="11450845" y="111175"/>
                </a:cubicBezTo>
                <a:lnTo>
                  <a:pt x="11450845" y="2909033"/>
                </a:lnTo>
                <a:cubicBezTo>
                  <a:pt x="11450845" y="2970392"/>
                  <a:pt x="11401030" y="3020207"/>
                  <a:pt x="11339671" y="3020207"/>
                </a:cubicBezTo>
                <a:lnTo>
                  <a:pt x="111175" y="3020207"/>
                </a:lnTo>
                <a:cubicBezTo>
                  <a:pt x="49774" y="3020207"/>
                  <a:pt x="0" y="2970432"/>
                  <a:pt x="0" y="2909033"/>
                </a:cubicBezTo>
                <a:lnTo>
                  <a:pt x="0" y="111175"/>
                </a:lnTo>
                <a:cubicBezTo>
                  <a:pt x="0" y="49774"/>
                  <a:pt x="49774" y="0"/>
                  <a:pt x="11117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2855" y="3765695"/>
            <a:ext cx="11098796" cy="2594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完整参数说明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11292" y="4173322"/>
            <a:ext cx="10987531" cy="537337"/>
          </a:xfrm>
          <a:custGeom>
            <a:avLst/>
            <a:gdLst/>
            <a:ahLst/>
            <a:cxnLst/>
            <a:rect r="r" b="b" t="t" l="l"/>
            <a:pathLst>
              <a:path h="537337" w="10987531">
                <a:moveTo>
                  <a:pt x="36873" y="0"/>
                </a:moveTo>
                <a:lnTo>
                  <a:pt x="10913416" y="0"/>
                </a:lnTo>
                <a:cubicBezTo>
                  <a:pt x="10954349" y="0"/>
                  <a:pt x="10987531" y="33183"/>
                  <a:pt x="10987531" y="74115"/>
                </a:cubicBezTo>
                <a:lnTo>
                  <a:pt x="10987531" y="463222"/>
                </a:lnTo>
                <a:cubicBezTo>
                  <a:pt x="10987531" y="504154"/>
                  <a:pt x="10954349" y="537337"/>
                  <a:pt x="10913416" y="537337"/>
                </a:cubicBezTo>
                <a:lnTo>
                  <a:pt x="36873" y="537337"/>
                </a:lnTo>
                <a:cubicBezTo>
                  <a:pt x="16509" y="537337"/>
                  <a:pt x="0" y="520830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11292" y="4173322"/>
            <a:ext cx="36873" cy="537337"/>
          </a:xfrm>
          <a:custGeom>
            <a:avLst/>
            <a:gdLst/>
            <a:ahLst/>
            <a:cxnLst/>
            <a:rect r="r" b="b" t="t" l="l"/>
            <a:pathLst>
              <a:path h="537337" w="36873">
                <a:moveTo>
                  <a:pt x="36873" y="0"/>
                </a:moveTo>
                <a:lnTo>
                  <a:pt x="36873" y="0"/>
                </a:lnTo>
                <a:lnTo>
                  <a:pt x="36873" y="537337"/>
                </a:lnTo>
                <a:lnTo>
                  <a:pt x="36873" y="537337"/>
                </a:lnTo>
                <a:cubicBezTo>
                  <a:pt x="16509" y="537337"/>
                  <a:pt x="0" y="520830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7942" y="4321534"/>
            <a:ext cx="10746748" cy="240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tl.store(ptr, value, mask=None, cache_modifier="", eviction_policy="")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11292" y="4858790"/>
            <a:ext cx="3548187" cy="815271"/>
          </a:xfrm>
          <a:custGeom>
            <a:avLst/>
            <a:gdLst/>
            <a:ahLst/>
            <a:cxnLst/>
            <a:rect r="r" b="b" t="t" l="l"/>
            <a:pathLst>
              <a:path h="815271" w="3548187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11292" y="4858790"/>
            <a:ext cx="36873" cy="815271"/>
          </a:xfrm>
          <a:custGeom>
            <a:avLst/>
            <a:gdLst/>
            <a:ahLst/>
            <a:cxnLst/>
            <a:rect r="r" b="b" t="t" l="l"/>
            <a:pathLst>
              <a:path h="815271" w="36873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77942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ptr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7942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目标内存地址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4328085" y="4858790"/>
            <a:ext cx="3548187" cy="815271"/>
          </a:xfrm>
          <a:custGeom>
            <a:avLst/>
            <a:gdLst/>
            <a:ahLst/>
            <a:cxnLst/>
            <a:rect r="r" b="b" t="t" l="l"/>
            <a:pathLst>
              <a:path h="815271" w="3548187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4328085" y="4858790"/>
            <a:ext cx="36873" cy="815271"/>
          </a:xfrm>
          <a:custGeom>
            <a:avLst/>
            <a:gdLst/>
            <a:ahLst/>
            <a:cxnLst/>
            <a:rect r="r" b="b" t="t" l="l"/>
            <a:pathLst>
              <a:path h="815271" w="36873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94736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value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94736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要写入的数据（tensor）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8044879" y="4858790"/>
            <a:ext cx="3548187" cy="815271"/>
          </a:xfrm>
          <a:custGeom>
            <a:avLst/>
            <a:gdLst/>
            <a:ahLst/>
            <a:cxnLst/>
            <a:rect r="r" b="b" t="t" l="l"/>
            <a:pathLst>
              <a:path h="815271" w="3548187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8044879" y="4858790"/>
            <a:ext cx="36873" cy="815271"/>
          </a:xfrm>
          <a:custGeom>
            <a:avLst/>
            <a:gdLst/>
            <a:ahLst/>
            <a:cxnLst/>
            <a:rect r="r" b="b" t="t" l="l"/>
            <a:pathLst>
              <a:path h="815271" w="36873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11530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mask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11530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控制写入位置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92855" y="5822183"/>
            <a:ext cx="11006151" cy="518809"/>
          </a:xfrm>
          <a:custGeom>
            <a:avLst/>
            <a:gdLst/>
            <a:ahLst/>
            <a:cxnLst/>
            <a:rect r="r" b="b" t="t" l="l"/>
            <a:pathLst>
              <a:path h="518809" w="11006151">
                <a:moveTo>
                  <a:pt x="74117" y="0"/>
                </a:moveTo>
                <a:lnTo>
                  <a:pt x="10932036" y="0"/>
                </a:lnTo>
                <a:cubicBezTo>
                  <a:pt x="10972969" y="0"/>
                  <a:pt x="11006151" y="33183"/>
                  <a:pt x="11006151" y="74117"/>
                </a:cubicBezTo>
                <a:lnTo>
                  <a:pt x="11006151" y="444692"/>
                </a:lnTo>
                <a:cubicBezTo>
                  <a:pt x="11006151" y="485625"/>
                  <a:pt x="10972969" y="518809"/>
                  <a:pt x="10932036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0" y="0"/>
                  <a:pt x="7411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763542" y="5988898"/>
            <a:ext cx="186665" cy="173708"/>
          </a:xfrm>
          <a:custGeom>
            <a:avLst/>
            <a:gdLst/>
            <a:ahLst/>
            <a:cxnLst/>
            <a:rect r="r" b="b" t="t" l="l"/>
            <a:pathLst>
              <a:path h="173708" w="186665">
                <a:moveTo>
                  <a:pt x="93332" y="0"/>
                </a:moveTo>
                <a:cubicBezTo>
                  <a:pt x="98652" y="0"/>
                  <a:pt x="103538" y="2931"/>
                  <a:pt x="106071" y="7600"/>
                </a:cubicBezTo>
                <a:lnTo>
                  <a:pt x="184240" y="152357"/>
                </a:lnTo>
                <a:cubicBezTo>
                  <a:pt x="186664" y="156844"/>
                  <a:pt x="186556" y="162272"/>
                  <a:pt x="183950" y="166651"/>
                </a:cubicBezTo>
                <a:cubicBezTo>
                  <a:pt x="181345" y="171030"/>
                  <a:pt x="176605" y="173708"/>
                  <a:pt x="171500" y="173708"/>
                </a:cubicBezTo>
                <a:lnTo>
                  <a:pt x="15163" y="173708"/>
                </a:lnTo>
                <a:cubicBezTo>
                  <a:pt x="10061" y="173708"/>
                  <a:pt x="5357" y="171030"/>
                  <a:pt x="2715" y="166651"/>
                </a:cubicBezTo>
                <a:cubicBezTo>
                  <a:pt x="73" y="162272"/>
                  <a:pt x="0" y="156844"/>
                  <a:pt x="2425" y="152357"/>
                </a:cubicBezTo>
                <a:lnTo>
                  <a:pt x="80594" y="7600"/>
                </a:lnTo>
                <a:cubicBezTo>
                  <a:pt x="83128" y="2931"/>
                  <a:pt x="88013" y="0"/>
                  <a:pt x="93332" y="0"/>
                </a:cubicBezTo>
                <a:close/>
                <a:moveTo>
                  <a:pt x="93332" y="60797"/>
                </a:moveTo>
                <a:cubicBezTo>
                  <a:pt x="88519" y="60797"/>
                  <a:pt x="84646" y="64670"/>
                  <a:pt x="84646" y="69483"/>
                </a:cubicBezTo>
                <a:lnTo>
                  <a:pt x="84646" y="110015"/>
                </a:lnTo>
                <a:cubicBezTo>
                  <a:pt x="84646" y="114828"/>
                  <a:pt x="88519" y="118701"/>
                  <a:pt x="93332" y="118701"/>
                </a:cubicBezTo>
                <a:cubicBezTo>
                  <a:pt x="98147" y="118701"/>
                  <a:pt x="102017" y="114828"/>
                  <a:pt x="102017" y="110015"/>
                </a:cubicBezTo>
                <a:lnTo>
                  <a:pt x="102017" y="69483"/>
                </a:lnTo>
                <a:cubicBezTo>
                  <a:pt x="102017" y="64670"/>
                  <a:pt x="98147" y="60797"/>
                  <a:pt x="93332" y="60797"/>
                </a:cubicBezTo>
                <a:close/>
                <a:moveTo>
                  <a:pt x="102995" y="138967"/>
                </a:moveTo>
                <a:cubicBezTo>
                  <a:pt x="103215" y="135379"/>
                  <a:pt x="101426" y="131968"/>
                  <a:pt x="98351" y="130108"/>
                </a:cubicBezTo>
                <a:cubicBezTo>
                  <a:pt x="95278" y="128248"/>
                  <a:pt x="91424" y="128248"/>
                  <a:pt x="88348" y="130108"/>
                </a:cubicBezTo>
                <a:cubicBezTo>
                  <a:pt x="85275" y="131968"/>
                  <a:pt x="83486" y="135379"/>
                  <a:pt x="83707" y="138967"/>
                </a:cubicBezTo>
                <a:cubicBezTo>
                  <a:pt x="83486" y="142552"/>
                  <a:pt x="85275" y="145966"/>
                  <a:pt x="88348" y="147825"/>
                </a:cubicBezTo>
                <a:cubicBezTo>
                  <a:pt x="91424" y="149685"/>
                  <a:pt x="95278" y="149685"/>
                  <a:pt x="98351" y="147825"/>
                </a:cubicBezTo>
                <a:cubicBezTo>
                  <a:pt x="101426" y="145966"/>
                  <a:pt x="103215" y="142552"/>
                  <a:pt x="102995" y="13896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83804" y="5970396"/>
            <a:ext cx="4419137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store 操作须带 mask，否则可能导致内存越界和数据损坏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70534" y="6711461"/>
            <a:ext cx="11506432" cy="1482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9218" y="626561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5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Grid 定义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65372" y="1287694"/>
            <a:ext cx="5586827" cy="2680325"/>
          </a:xfrm>
          <a:custGeom>
            <a:avLst/>
            <a:gdLst/>
            <a:ahLst/>
            <a:cxnLst/>
            <a:rect r="r" b="b" t="t" l="l"/>
            <a:pathLst>
              <a:path h="2680325" w="5586827">
                <a:moveTo>
                  <a:pt x="34635" y="0"/>
                </a:moveTo>
                <a:lnTo>
                  <a:pt x="5482400" y="0"/>
                </a:lnTo>
                <a:cubicBezTo>
                  <a:pt x="5540073" y="0"/>
                  <a:pt x="5586827" y="46753"/>
                  <a:pt x="5586827" y="104424"/>
                </a:cubicBezTo>
                <a:lnTo>
                  <a:pt x="5586827" y="2575900"/>
                </a:lnTo>
                <a:cubicBezTo>
                  <a:pt x="5586827" y="2633574"/>
                  <a:pt x="5540073" y="2680325"/>
                  <a:pt x="5482400" y="2680325"/>
                </a:cubicBezTo>
                <a:lnTo>
                  <a:pt x="34635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65372" y="1287694"/>
            <a:ext cx="34635" cy="2680325"/>
          </a:xfrm>
          <a:custGeom>
            <a:avLst/>
            <a:gdLst/>
            <a:ahLst/>
            <a:cxnLst/>
            <a:rect r="r" b="b" t="t" l="l"/>
            <a:pathLst>
              <a:path h="2680325" w="34635">
                <a:moveTo>
                  <a:pt x="34635" y="0"/>
                </a:moveTo>
                <a:lnTo>
                  <a:pt x="34635" y="0"/>
                </a:lnTo>
                <a:lnTo>
                  <a:pt x="34635" y="2680325"/>
                </a:lnTo>
                <a:lnTo>
                  <a:pt x="34635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91522" y="1496525"/>
            <a:ext cx="5230116" cy="17839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定义 grid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grid = </a:t>
            </a:r>
            <a:r>
              <a:rPr lang="en-US" b="true" i="false" strike="noStrike" u="none" sz="1200">
                <a:solidFill>
                  <a:srgbClr val="0066CC"/>
                </a:solidFill>
                <a:latin typeface="MiSans"/>
                <a:ea typeface="MiSans"/>
                <a:cs typeface="MiSans"/>
                <a:sym typeface="MiSans"/>
              </a:rPr>
              <a:t>lambda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 meta: (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    triton.cdiv(n_elements, meta[</a:t>
            </a:r>
            <a:r>
              <a:rPr lang="en-US" b="false" i="false" strike="noStrike" u="none" sz="12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'BLOCK_SIZE'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]),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启动 kernel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add_kernel[grid](...)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6234726" y="1287694"/>
            <a:ext cx="5604317" cy="2680172"/>
            <a:chOff x="6234726" y="1287694"/>
            <a:chExt cx="5604317" cy="2680172"/>
          </a:xfrm>
        </p:grpSpPr>
        <p:sp>
          <p:nvSpPr>
            <p:cNvPr name="Freeform 7" id="7"/>
            <p:cNvSpPr/>
            <p:nvPr/>
          </p:nvSpPr>
          <p:spPr>
            <a:xfrm rot="0" flipH="false" flipV="false">
              <a:off x="6234726" y="1287694"/>
              <a:ext cx="5604317" cy="800617"/>
            </a:xfrm>
            <a:custGeom>
              <a:avLst/>
              <a:gdLst/>
              <a:ahLst/>
              <a:cxnLst/>
              <a:rect r="r" b="b" t="t" l="l"/>
              <a:pathLst>
                <a:path h="800617" w="56043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6406581" y="1472568"/>
              <a:ext cx="152291" cy="152292"/>
            </a:xfrm>
            <a:custGeom>
              <a:avLst/>
              <a:gdLst/>
              <a:ahLst/>
              <a:cxnLst/>
              <a:rect r="r" b="b" t="t" l="l"/>
              <a:pathLst>
                <a:path h="152292" w="152291">
                  <a:moveTo>
                    <a:pt x="130534" y="21756"/>
                  </a:moveTo>
                  <a:lnTo>
                    <a:pt x="130534" y="43512"/>
                  </a:lnTo>
                  <a:lnTo>
                    <a:pt x="108779" y="43512"/>
                  </a:lnTo>
                  <a:lnTo>
                    <a:pt x="108779" y="21756"/>
                  </a:lnTo>
                  <a:lnTo>
                    <a:pt x="130534" y="21756"/>
                  </a:lnTo>
                  <a:close/>
                  <a:moveTo>
                    <a:pt x="130534" y="65267"/>
                  </a:moveTo>
                  <a:lnTo>
                    <a:pt x="130534" y="87022"/>
                  </a:lnTo>
                  <a:lnTo>
                    <a:pt x="108779" y="87022"/>
                  </a:lnTo>
                  <a:lnTo>
                    <a:pt x="108779" y="65267"/>
                  </a:lnTo>
                  <a:lnTo>
                    <a:pt x="130534" y="65267"/>
                  </a:lnTo>
                  <a:close/>
                  <a:moveTo>
                    <a:pt x="130534" y="108779"/>
                  </a:moveTo>
                  <a:lnTo>
                    <a:pt x="130534" y="130535"/>
                  </a:lnTo>
                  <a:lnTo>
                    <a:pt x="108779" y="130535"/>
                  </a:lnTo>
                  <a:lnTo>
                    <a:pt x="108779" y="108779"/>
                  </a:lnTo>
                  <a:lnTo>
                    <a:pt x="130534" y="108779"/>
                  </a:lnTo>
                  <a:close/>
                  <a:moveTo>
                    <a:pt x="87024" y="87022"/>
                  </a:moveTo>
                  <a:lnTo>
                    <a:pt x="65268" y="87022"/>
                  </a:lnTo>
                  <a:lnTo>
                    <a:pt x="65268" y="65267"/>
                  </a:lnTo>
                  <a:lnTo>
                    <a:pt x="87024" y="65267"/>
                  </a:lnTo>
                  <a:lnTo>
                    <a:pt x="87024" y="87022"/>
                  </a:lnTo>
                  <a:close/>
                  <a:moveTo>
                    <a:pt x="65268" y="108779"/>
                  </a:moveTo>
                  <a:lnTo>
                    <a:pt x="87024" y="108779"/>
                  </a:lnTo>
                  <a:lnTo>
                    <a:pt x="87024" y="130535"/>
                  </a:lnTo>
                  <a:lnTo>
                    <a:pt x="65268" y="130535"/>
                  </a:lnTo>
                  <a:lnTo>
                    <a:pt x="65268" y="108779"/>
                  </a:lnTo>
                  <a:close/>
                  <a:moveTo>
                    <a:pt x="43511" y="87022"/>
                  </a:moveTo>
                  <a:lnTo>
                    <a:pt x="21756" y="87022"/>
                  </a:lnTo>
                  <a:lnTo>
                    <a:pt x="21756" y="65267"/>
                  </a:lnTo>
                  <a:lnTo>
                    <a:pt x="43511" y="65267"/>
                  </a:lnTo>
                  <a:lnTo>
                    <a:pt x="43511" y="87022"/>
                  </a:lnTo>
                  <a:close/>
                  <a:moveTo>
                    <a:pt x="21756" y="108779"/>
                  </a:moveTo>
                  <a:lnTo>
                    <a:pt x="43511" y="108779"/>
                  </a:lnTo>
                  <a:lnTo>
                    <a:pt x="43511" y="130535"/>
                  </a:lnTo>
                  <a:lnTo>
                    <a:pt x="21756" y="130535"/>
                  </a:lnTo>
                  <a:lnTo>
                    <a:pt x="21756" y="108779"/>
                  </a:lnTo>
                  <a:close/>
                  <a:moveTo>
                    <a:pt x="21756" y="43512"/>
                  </a:moveTo>
                  <a:lnTo>
                    <a:pt x="21756" y="21756"/>
                  </a:lnTo>
                  <a:lnTo>
                    <a:pt x="43511" y="21756"/>
                  </a:lnTo>
                  <a:lnTo>
                    <a:pt x="43511" y="43512"/>
                  </a:lnTo>
                  <a:lnTo>
                    <a:pt x="21756" y="43512"/>
                  </a:lnTo>
                  <a:close/>
                  <a:moveTo>
                    <a:pt x="65268" y="43512"/>
                  </a:moveTo>
                  <a:lnTo>
                    <a:pt x="65268" y="21756"/>
                  </a:lnTo>
                  <a:lnTo>
                    <a:pt x="87024" y="21756"/>
                  </a:lnTo>
                  <a:lnTo>
                    <a:pt x="87024" y="43512"/>
                  </a:lnTo>
                  <a:lnTo>
                    <a:pt x="65268" y="43512"/>
                  </a:lnTo>
                  <a:close/>
                  <a:moveTo>
                    <a:pt x="21756" y="0"/>
                  </a:moveTo>
                  <a:cubicBezTo>
                    <a:pt x="9756" y="0"/>
                    <a:pt x="0" y="9756"/>
                    <a:pt x="0" y="21756"/>
                  </a:cubicBezTo>
                  <a:lnTo>
                    <a:pt x="0" y="130535"/>
                  </a:lnTo>
                  <a:cubicBezTo>
                    <a:pt x="0" y="142535"/>
                    <a:pt x="9756" y="152292"/>
                    <a:pt x="21756" y="152292"/>
                  </a:cubicBezTo>
                  <a:lnTo>
                    <a:pt x="130534" y="152292"/>
                  </a:lnTo>
                  <a:cubicBezTo>
                    <a:pt x="142535" y="152292"/>
                    <a:pt x="152291" y="142535"/>
                    <a:pt x="152291" y="130535"/>
                  </a:cubicBezTo>
                  <a:lnTo>
                    <a:pt x="152291" y="21756"/>
                  </a:lnTo>
                  <a:cubicBezTo>
                    <a:pt x="152291" y="9756"/>
                    <a:pt x="142535" y="0"/>
                    <a:pt x="130534" y="0"/>
                  </a:cubicBezTo>
                  <a:lnTo>
                    <a:pt x="21756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6695889" y="1426914"/>
              <a:ext cx="1889652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grid 是 tuple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373947" y="1740199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表示一维、二维或三维 grid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234726" y="2227472"/>
              <a:ext cx="5604317" cy="800617"/>
            </a:xfrm>
            <a:custGeom>
              <a:avLst/>
              <a:gdLst/>
              <a:ahLst/>
              <a:cxnLst/>
              <a:rect r="r" b="b" t="t" l="l"/>
              <a:pathLst>
                <a:path h="800617" w="56043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417459" y="2401468"/>
              <a:ext cx="130534" cy="174047"/>
            </a:xfrm>
            <a:custGeom>
              <a:avLst/>
              <a:gdLst/>
              <a:ahLst/>
              <a:cxnLst/>
              <a:rect r="r" b="b" t="t" l="l"/>
              <a:pathLst>
                <a:path h="174047" w="130534">
                  <a:moveTo>
                    <a:pt x="21756" y="0"/>
                  </a:moveTo>
                  <a:cubicBezTo>
                    <a:pt x="9756" y="0"/>
                    <a:pt x="0" y="9756"/>
                    <a:pt x="0" y="21756"/>
                  </a:cubicBezTo>
                  <a:lnTo>
                    <a:pt x="0" y="152291"/>
                  </a:lnTo>
                  <a:cubicBezTo>
                    <a:pt x="0" y="164291"/>
                    <a:pt x="9756" y="174047"/>
                    <a:pt x="21756" y="174047"/>
                  </a:cubicBezTo>
                  <a:lnTo>
                    <a:pt x="108779" y="174047"/>
                  </a:lnTo>
                  <a:cubicBezTo>
                    <a:pt x="120780" y="174047"/>
                    <a:pt x="130534" y="164291"/>
                    <a:pt x="130534" y="152291"/>
                  </a:cubicBezTo>
                  <a:lnTo>
                    <a:pt x="130534" y="21756"/>
                  </a:lnTo>
                  <a:cubicBezTo>
                    <a:pt x="130534" y="9756"/>
                    <a:pt x="120780" y="0"/>
                    <a:pt x="108779" y="0"/>
                  </a:cubicBezTo>
                  <a:lnTo>
                    <a:pt x="21756" y="0"/>
                  </a:lnTo>
                  <a:close/>
                  <a:moveTo>
                    <a:pt x="32634" y="21756"/>
                  </a:moveTo>
                  <a:lnTo>
                    <a:pt x="97900" y="21756"/>
                  </a:lnTo>
                  <a:cubicBezTo>
                    <a:pt x="103918" y="21756"/>
                    <a:pt x="108779" y="26617"/>
                    <a:pt x="108779" y="32634"/>
                  </a:cubicBezTo>
                  <a:lnTo>
                    <a:pt x="108779" y="43511"/>
                  </a:lnTo>
                  <a:cubicBezTo>
                    <a:pt x="108779" y="49529"/>
                    <a:pt x="103918" y="54390"/>
                    <a:pt x="97900" y="54390"/>
                  </a:cubicBezTo>
                  <a:lnTo>
                    <a:pt x="32634" y="54390"/>
                  </a:lnTo>
                  <a:cubicBezTo>
                    <a:pt x="26617" y="54390"/>
                    <a:pt x="21756" y="49529"/>
                    <a:pt x="21756" y="43511"/>
                  </a:cubicBezTo>
                  <a:lnTo>
                    <a:pt x="21756" y="32634"/>
                  </a:lnTo>
                  <a:cubicBezTo>
                    <a:pt x="21756" y="26617"/>
                    <a:pt x="26617" y="21756"/>
                    <a:pt x="32634" y="21756"/>
                  </a:cubicBezTo>
                  <a:close/>
                  <a:moveTo>
                    <a:pt x="38073" y="78864"/>
                  </a:moveTo>
                  <a:cubicBezTo>
                    <a:pt x="38073" y="83368"/>
                    <a:pt x="34417" y="87024"/>
                    <a:pt x="29914" y="87024"/>
                  </a:cubicBezTo>
                  <a:cubicBezTo>
                    <a:pt x="25411" y="87024"/>
                    <a:pt x="21756" y="83368"/>
                    <a:pt x="21756" y="78864"/>
                  </a:cubicBezTo>
                  <a:cubicBezTo>
                    <a:pt x="21756" y="74362"/>
                    <a:pt x="25411" y="70707"/>
                    <a:pt x="29914" y="70707"/>
                  </a:cubicBezTo>
                  <a:cubicBezTo>
                    <a:pt x="34417" y="70707"/>
                    <a:pt x="38073" y="74362"/>
                    <a:pt x="38073" y="78864"/>
                  </a:cubicBezTo>
                  <a:close/>
                  <a:moveTo>
                    <a:pt x="65268" y="87024"/>
                  </a:moveTo>
                  <a:cubicBezTo>
                    <a:pt x="60764" y="87024"/>
                    <a:pt x="57109" y="83368"/>
                    <a:pt x="57109" y="78864"/>
                  </a:cubicBezTo>
                  <a:cubicBezTo>
                    <a:pt x="57109" y="74362"/>
                    <a:pt x="60764" y="70707"/>
                    <a:pt x="65268" y="70707"/>
                  </a:cubicBezTo>
                  <a:cubicBezTo>
                    <a:pt x="69770" y="70707"/>
                    <a:pt x="73426" y="74362"/>
                    <a:pt x="73426" y="78864"/>
                  </a:cubicBezTo>
                  <a:cubicBezTo>
                    <a:pt x="73426" y="83368"/>
                    <a:pt x="69770" y="87024"/>
                    <a:pt x="65268" y="87024"/>
                  </a:cubicBezTo>
                  <a:close/>
                  <a:moveTo>
                    <a:pt x="108779" y="78864"/>
                  </a:moveTo>
                  <a:cubicBezTo>
                    <a:pt x="108779" y="83368"/>
                    <a:pt x="105124" y="87024"/>
                    <a:pt x="100621" y="87024"/>
                  </a:cubicBezTo>
                  <a:cubicBezTo>
                    <a:pt x="96117" y="87024"/>
                    <a:pt x="92464" y="83368"/>
                    <a:pt x="92464" y="78864"/>
                  </a:cubicBezTo>
                  <a:cubicBezTo>
                    <a:pt x="92464" y="74362"/>
                    <a:pt x="96117" y="70707"/>
                    <a:pt x="100621" y="70707"/>
                  </a:cubicBezTo>
                  <a:cubicBezTo>
                    <a:pt x="105124" y="70707"/>
                    <a:pt x="108779" y="74362"/>
                    <a:pt x="108779" y="78864"/>
                  </a:cubicBezTo>
                  <a:close/>
                  <a:moveTo>
                    <a:pt x="29914" y="119657"/>
                  </a:moveTo>
                  <a:cubicBezTo>
                    <a:pt x="25411" y="119657"/>
                    <a:pt x="21756" y="116002"/>
                    <a:pt x="21756" y="111498"/>
                  </a:cubicBezTo>
                  <a:cubicBezTo>
                    <a:pt x="21756" y="106996"/>
                    <a:pt x="25411" y="103340"/>
                    <a:pt x="29914" y="103340"/>
                  </a:cubicBezTo>
                  <a:cubicBezTo>
                    <a:pt x="34417" y="103340"/>
                    <a:pt x="38073" y="106996"/>
                    <a:pt x="38073" y="111498"/>
                  </a:cubicBezTo>
                  <a:cubicBezTo>
                    <a:pt x="38073" y="116002"/>
                    <a:pt x="34417" y="119657"/>
                    <a:pt x="29914" y="119657"/>
                  </a:cubicBezTo>
                  <a:close/>
                  <a:moveTo>
                    <a:pt x="73426" y="111498"/>
                  </a:moveTo>
                  <a:cubicBezTo>
                    <a:pt x="73426" y="116002"/>
                    <a:pt x="69770" y="119657"/>
                    <a:pt x="65268" y="119657"/>
                  </a:cubicBezTo>
                  <a:cubicBezTo>
                    <a:pt x="60764" y="119657"/>
                    <a:pt x="57109" y="116002"/>
                    <a:pt x="57109" y="111498"/>
                  </a:cubicBezTo>
                  <a:cubicBezTo>
                    <a:pt x="57109" y="106996"/>
                    <a:pt x="60764" y="103340"/>
                    <a:pt x="65268" y="103340"/>
                  </a:cubicBezTo>
                  <a:cubicBezTo>
                    <a:pt x="69770" y="103340"/>
                    <a:pt x="73426" y="106996"/>
                    <a:pt x="73426" y="111498"/>
                  </a:cubicBezTo>
                  <a:close/>
                  <a:moveTo>
                    <a:pt x="100621" y="119657"/>
                  </a:moveTo>
                  <a:cubicBezTo>
                    <a:pt x="96117" y="119657"/>
                    <a:pt x="92464" y="116002"/>
                    <a:pt x="92464" y="111498"/>
                  </a:cubicBezTo>
                  <a:cubicBezTo>
                    <a:pt x="92464" y="106996"/>
                    <a:pt x="96117" y="103340"/>
                    <a:pt x="100621" y="103340"/>
                  </a:cubicBezTo>
                  <a:cubicBezTo>
                    <a:pt x="105124" y="103340"/>
                    <a:pt x="108779" y="106996"/>
                    <a:pt x="108779" y="111498"/>
                  </a:cubicBezTo>
                  <a:cubicBezTo>
                    <a:pt x="108779" y="116002"/>
                    <a:pt x="105124" y="119657"/>
                    <a:pt x="100621" y="119657"/>
                  </a:cubicBezTo>
                  <a:close/>
                  <a:moveTo>
                    <a:pt x="21756" y="144134"/>
                  </a:moveTo>
                  <a:cubicBezTo>
                    <a:pt x="21756" y="139612"/>
                    <a:pt x="25392" y="135974"/>
                    <a:pt x="29914" y="135974"/>
                  </a:cubicBezTo>
                  <a:lnTo>
                    <a:pt x="67987" y="135974"/>
                  </a:lnTo>
                  <a:cubicBezTo>
                    <a:pt x="72508" y="135974"/>
                    <a:pt x="76145" y="139612"/>
                    <a:pt x="76145" y="144134"/>
                  </a:cubicBezTo>
                  <a:cubicBezTo>
                    <a:pt x="76145" y="148654"/>
                    <a:pt x="72508" y="152291"/>
                    <a:pt x="67987" y="152291"/>
                  </a:cubicBezTo>
                  <a:lnTo>
                    <a:pt x="29914" y="152291"/>
                  </a:lnTo>
                  <a:cubicBezTo>
                    <a:pt x="25392" y="152291"/>
                    <a:pt x="21756" y="148654"/>
                    <a:pt x="21756" y="144134"/>
                  </a:cubicBezTo>
                  <a:close/>
                  <a:moveTo>
                    <a:pt x="100621" y="135974"/>
                  </a:moveTo>
                  <a:cubicBezTo>
                    <a:pt x="105142" y="135974"/>
                    <a:pt x="108779" y="139612"/>
                    <a:pt x="108779" y="144134"/>
                  </a:cubicBezTo>
                  <a:cubicBezTo>
                    <a:pt x="108779" y="148654"/>
                    <a:pt x="105142" y="152291"/>
                    <a:pt x="100621" y="152291"/>
                  </a:cubicBezTo>
                  <a:cubicBezTo>
                    <a:pt x="96100" y="152291"/>
                    <a:pt x="92464" y="148654"/>
                    <a:pt x="92464" y="144134"/>
                  </a:cubicBezTo>
                  <a:cubicBezTo>
                    <a:pt x="92464" y="139612"/>
                    <a:pt x="96100" y="135974"/>
                    <a:pt x="100621" y="13597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695889" y="2366692"/>
              <a:ext cx="1035580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grid 大小计算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6373947" y="2679977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大小 = ceil(n_elements / BLOCK_SIZE)</a:t>
              </a:r>
              <a:endParaRPr lang="en-US" sz="1100"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6234726" y="3167249"/>
              <a:ext cx="5604317" cy="800617"/>
            </a:xfrm>
            <a:custGeom>
              <a:avLst/>
              <a:gdLst/>
              <a:ahLst/>
              <a:cxnLst/>
              <a:rect r="r" b="b" t="t" l="l"/>
              <a:pathLst>
                <a:path h="800617" w="56043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394649" y="3340362"/>
              <a:ext cx="176190" cy="175781"/>
            </a:xfrm>
            <a:custGeom>
              <a:avLst/>
              <a:gdLst/>
              <a:ahLst/>
              <a:cxnLst/>
              <a:rect r="r" b="b" t="t" l="l"/>
              <a:pathLst>
                <a:path h="175781" w="176190">
                  <a:moveTo>
                    <a:pt x="171906" y="139102"/>
                  </a:moveTo>
                  <a:lnTo>
                    <a:pt x="139272" y="171736"/>
                  </a:lnTo>
                  <a:cubicBezTo>
                    <a:pt x="136144" y="174863"/>
                    <a:pt x="131487" y="175781"/>
                    <a:pt x="127408" y="174082"/>
                  </a:cubicBezTo>
                  <a:cubicBezTo>
                    <a:pt x="123330" y="172382"/>
                    <a:pt x="120711" y="168438"/>
                    <a:pt x="120711" y="164054"/>
                  </a:cubicBezTo>
                  <a:lnTo>
                    <a:pt x="120711" y="142297"/>
                  </a:lnTo>
                  <a:lnTo>
                    <a:pt x="11932" y="142297"/>
                  </a:lnTo>
                  <a:cubicBezTo>
                    <a:pt x="5916" y="142297"/>
                    <a:pt x="1054" y="137436"/>
                    <a:pt x="1054" y="131418"/>
                  </a:cubicBezTo>
                  <a:cubicBezTo>
                    <a:pt x="1054" y="125402"/>
                    <a:pt x="5916" y="120541"/>
                    <a:pt x="11932" y="120541"/>
                  </a:cubicBezTo>
                  <a:lnTo>
                    <a:pt x="120711" y="120541"/>
                  </a:lnTo>
                  <a:lnTo>
                    <a:pt x="120711" y="98784"/>
                  </a:lnTo>
                  <a:cubicBezTo>
                    <a:pt x="120711" y="94400"/>
                    <a:pt x="123363" y="90423"/>
                    <a:pt x="127442" y="88724"/>
                  </a:cubicBezTo>
                  <a:cubicBezTo>
                    <a:pt x="131521" y="87024"/>
                    <a:pt x="136178" y="87976"/>
                    <a:pt x="139306" y="91069"/>
                  </a:cubicBezTo>
                  <a:lnTo>
                    <a:pt x="171940" y="123703"/>
                  </a:lnTo>
                  <a:cubicBezTo>
                    <a:pt x="176190" y="127953"/>
                    <a:pt x="176190" y="134852"/>
                    <a:pt x="171940" y="139102"/>
                  </a:cubicBezTo>
                  <a:close/>
                  <a:moveTo>
                    <a:pt x="4249" y="52078"/>
                  </a:moveTo>
                  <a:cubicBezTo>
                    <a:pt x="0" y="47830"/>
                    <a:pt x="0" y="40928"/>
                    <a:pt x="4249" y="36679"/>
                  </a:cubicBezTo>
                  <a:lnTo>
                    <a:pt x="36883" y="4045"/>
                  </a:lnTo>
                  <a:cubicBezTo>
                    <a:pt x="40011" y="918"/>
                    <a:pt x="44668" y="0"/>
                    <a:pt x="48748" y="1701"/>
                  </a:cubicBezTo>
                  <a:cubicBezTo>
                    <a:pt x="52826" y="3400"/>
                    <a:pt x="55444" y="7378"/>
                    <a:pt x="55444" y="11762"/>
                  </a:cubicBezTo>
                  <a:lnTo>
                    <a:pt x="55444" y="33518"/>
                  </a:lnTo>
                  <a:lnTo>
                    <a:pt x="164224" y="33518"/>
                  </a:lnTo>
                  <a:cubicBezTo>
                    <a:pt x="170240" y="33518"/>
                    <a:pt x="175101" y="38379"/>
                    <a:pt x="175101" y="44395"/>
                  </a:cubicBezTo>
                  <a:cubicBezTo>
                    <a:pt x="175101" y="50413"/>
                    <a:pt x="170240" y="55274"/>
                    <a:pt x="164224" y="55274"/>
                  </a:cubicBezTo>
                  <a:lnTo>
                    <a:pt x="55444" y="55274"/>
                  </a:lnTo>
                  <a:lnTo>
                    <a:pt x="55444" y="77029"/>
                  </a:lnTo>
                  <a:cubicBezTo>
                    <a:pt x="55444" y="81415"/>
                    <a:pt x="52793" y="85392"/>
                    <a:pt x="48713" y="87092"/>
                  </a:cubicBezTo>
                  <a:cubicBezTo>
                    <a:pt x="44634" y="88791"/>
                    <a:pt x="39977" y="87840"/>
                    <a:pt x="36849" y="84746"/>
                  </a:cubicBezTo>
                  <a:lnTo>
                    <a:pt x="4215" y="52112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695889" y="3306470"/>
              <a:ext cx="722296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一维 grid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373947" y="3619755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本例使用一维 grid，只有一个维度</a:t>
              </a:r>
              <a:endParaRPr lang="en-US" sz="1100"/>
            </a:p>
          </p:txBody>
        </p:sp>
      </p:grpSp>
      <p:grpSp>
        <p:nvGrpSpPr>
          <p:cNvPr name="Group 19" id="19"/>
          <p:cNvGrpSpPr/>
          <p:nvPr/>
        </p:nvGrpSpPr>
        <p:grpSpPr>
          <a:xfrm>
            <a:off x="348054" y="4176638"/>
            <a:ext cx="11495811" cy="2401849"/>
            <a:chOff x="348054" y="4176638"/>
            <a:chExt cx="11495811" cy="2401849"/>
          </a:xfrm>
        </p:grpSpPr>
        <p:sp>
          <p:nvSpPr>
            <p:cNvPr name="Freeform 20" id="20"/>
            <p:cNvSpPr/>
            <p:nvPr/>
          </p:nvSpPr>
          <p:spPr>
            <a:xfrm rot="0" flipH="false" flipV="false">
              <a:off x="348054" y="4176638"/>
              <a:ext cx="11495811" cy="2401849"/>
            </a:xfrm>
            <a:custGeom>
              <a:avLst/>
              <a:gdLst/>
              <a:ahLst/>
              <a:cxnLst/>
              <a:rect r="r" b="b" t="t" l="l"/>
              <a:pathLst>
                <a:path h="2401849" w="11495811">
                  <a:moveTo>
                    <a:pt x="104432" y="0"/>
                  </a:moveTo>
                  <a:lnTo>
                    <a:pt x="11391379" y="0"/>
                  </a:lnTo>
                  <a:cubicBezTo>
                    <a:pt x="11449056" y="0"/>
                    <a:pt x="11495811" y="46756"/>
                    <a:pt x="11495811" y="104432"/>
                  </a:cubicBezTo>
                  <a:lnTo>
                    <a:pt x="11495811" y="2297419"/>
                  </a:lnTo>
                  <a:cubicBezTo>
                    <a:pt x="11495811" y="2355094"/>
                    <a:pt x="11449056" y="2401849"/>
                    <a:pt x="11391379" y="2401849"/>
                  </a:cubicBezTo>
                  <a:lnTo>
                    <a:pt x="104432" y="2401849"/>
                  </a:lnTo>
                  <a:cubicBezTo>
                    <a:pt x="46756" y="2401849"/>
                    <a:pt x="0" y="2355094"/>
                    <a:pt x="0" y="2297419"/>
                  </a:cubicBezTo>
                  <a:lnTo>
                    <a:pt x="0" y="104432"/>
                  </a:lnTo>
                  <a:cubicBezTo>
                    <a:pt x="0" y="46794"/>
                    <a:pt x="46794" y="0"/>
                    <a:pt x="10443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556886" y="4385469"/>
              <a:ext cx="11165122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计算示例</a:t>
              </a:r>
              <a:endParaRPr lang="en-US" sz="1100"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565545" y="4777023"/>
              <a:ext cx="5412779" cy="1583742"/>
            </a:xfrm>
            <a:custGeom>
              <a:avLst/>
              <a:gdLst/>
              <a:ahLst/>
              <a:cxnLst/>
              <a:rect r="r" b="b" t="t" l="l"/>
              <a:pathLst>
                <a:path h="1583742" w="5412779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13425" y="4924904"/>
              <a:ext cx="5177901" cy="1740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示例 1</a:t>
              </a:r>
              <a:endParaRPr lang="en-US" sz="1100"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730743" y="5168511"/>
              <a:ext cx="5099494" cy="556951"/>
            </a:xfrm>
            <a:custGeom>
              <a:avLst/>
              <a:gdLst/>
              <a:ahLst/>
              <a:cxnLst/>
              <a:rect r="r" b="b" t="t" l="l"/>
              <a:pathLst>
                <a:path h="556951" w="5099494">
                  <a:moveTo>
                    <a:pt x="34635" y="0"/>
                  </a:moveTo>
                  <a:lnTo>
                    <a:pt x="5064684" y="0"/>
                  </a:lnTo>
                  <a:cubicBezTo>
                    <a:pt x="5083909" y="0"/>
                    <a:pt x="5099495" y="15585"/>
                    <a:pt x="5099495" y="34809"/>
                  </a:cubicBezTo>
                  <a:lnTo>
                    <a:pt x="5099495" y="522141"/>
                  </a:lnTo>
                  <a:cubicBezTo>
                    <a:pt x="5099495" y="541365"/>
                    <a:pt x="5083909" y="556951"/>
                    <a:pt x="5064684" y="556951"/>
                  </a:cubicBez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5" id="25"/>
            <p:cNvSpPr/>
            <p:nvPr/>
          </p:nvSpPr>
          <p:spPr>
            <a:xfrm rot="0" flipH="false" flipV="false">
              <a:off x="730743" y="5168511"/>
              <a:ext cx="34635" cy="556951"/>
            </a:xfrm>
            <a:custGeom>
              <a:avLst/>
              <a:gdLst/>
              <a:ahLst/>
              <a:cxnLst/>
              <a:rect r="r" b="b" t="t" l="l"/>
              <a:pathLst>
                <a:path h="556951" w="34635">
                  <a:moveTo>
                    <a:pt x="34635" y="0"/>
                  </a:moveTo>
                  <a:lnTo>
                    <a:pt x="34635" y="0"/>
                  </a:lnTo>
                  <a:lnTo>
                    <a:pt x="34635" y="556951"/>
                  </a:ln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52444" y="5272888"/>
              <a:ext cx="4942938" cy="3480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n_elements = 10000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BLOCK_SIZE = 1024</a:t>
              </a:r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13425" y="5794868"/>
              <a:ext cx="5186604" cy="41771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grid = (10,)</a:t>
              </a:r>
              <a:endParaRPr lang="en-US" sz="1100"/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ceil(10000/1024) = 10</a:t>
              </a:r>
            </a:p>
          </p:txBody>
        </p:sp>
        <p:sp>
          <p:nvSpPr>
            <p:cNvPr name="Freeform 28" id="28"/>
            <p:cNvSpPr/>
            <p:nvPr/>
          </p:nvSpPr>
          <p:spPr>
            <a:xfrm rot="0" flipH="false" flipV="false">
              <a:off x="6208546" y="4777023"/>
              <a:ext cx="5412779" cy="1583742"/>
            </a:xfrm>
            <a:custGeom>
              <a:avLst/>
              <a:gdLst/>
              <a:ahLst/>
              <a:cxnLst/>
              <a:rect r="r" b="b" t="t" l="l"/>
              <a:pathLst>
                <a:path h="1583742" w="5412779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6356426" y="4924904"/>
              <a:ext cx="5177901" cy="1740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示例 2</a:t>
              </a:r>
              <a:endParaRPr lang="en-US" sz="1100"/>
            </a:p>
          </p:txBody>
        </p:sp>
        <p:sp>
          <p:nvSpPr>
            <p:cNvPr name="Freeform 30" id="30"/>
            <p:cNvSpPr/>
            <p:nvPr/>
          </p:nvSpPr>
          <p:spPr>
            <a:xfrm rot="0" flipH="false" flipV="false">
              <a:off x="6373745" y="5168511"/>
              <a:ext cx="5099495" cy="556951"/>
            </a:xfrm>
            <a:custGeom>
              <a:avLst/>
              <a:gdLst/>
              <a:ahLst/>
              <a:cxnLst/>
              <a:rect r="r" b="b" t="t" l="l"/>
              <a:pathLst>
                <a:path h="556951" w="5099495">
                  <a:moveTo>
                    <a:pt x="34635" y="0"/>
                  </a:moveTo>
                  <a:lnTo>
                    <a:pt x="5064684" y="0"/>
                  </a:lnTo>
                  <a:cubicBezTo>
                    <a:pt x="5083909" y="0"/>
                    <a:pt x="5099495" y="15585"/>
                    <a:pt x="5099495" y="34809"/>
                  </a:cubicBezTo>
                  <a:lnTo>
                    <a:pt x="5099495" y="522141"/>
                  </a:lnTo>
                  <a:cubicBezTo>
                    <a:pt x="5099495" y="541365"/>
                    <a:pt x="5083909" y="556951"/>
                    <a:pt x="5064684" y="556951"/>
                  </a:cubicBez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31" id="31"/>
            <p:cNvSpPr/>
            <p:nvPr/>
          </p:nvSpPr>
          <p:spPr>
            <a:xfrm rot="0" flipH="false" flipV="false">
              <a:off x="6373745" y="5168511"/>
              <a:ext cx="34635" cy="556951"/>
            </a:xfrm>
            <a:custGeom>
              <a:avLst/>
              <a:gdLst/>
              <a:ahLst/>
              <a:cxnLst/>
              <a:rect r="r" b="b" t="t" l="l"/>
              <a:pathLst>
                <a:path h="556951" w="34635">
                  <a:moveTo>
                    <a:pt x="34635" y="0"/>
                  </a:moveTo>
                  <a:lnTo>
                    <a:pt x="34635" y="0"/>
                  </a:lnTo>
                  <a:lnTo>
                    <a:pt x="34635" y="556951"/>
                  </a:ln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6495445" y="5272888"/>
              <a:ext cx="4942938" cy="3480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n_elements = 5000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0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BLOCK_SIZE = 256</a:t>
              </a:r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6356426" y="5794868"/>
              <a:ext cx="5186604" cy="41771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grid = (20,)</a:t>
              </a:r>
              <a:endParaRPr lang="en-US" sz="1100"/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ceil(5000/256) = 20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0" flipH="false" flipV="false">
            <a:off x="348054" y="6717131"/>
            <a:ext cx="11548026" cy="1392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3087" y="614621"/>
            <a:ext cx="11670327" cy="336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为什么使用 lambda meta？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36524" y="1779537"/>
            <a:ext cx="5603693" cy="984447"/>
            <a:chOff x="336524" y="1779537"/>
            <a:chExt cx="5603693" cy="984447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36524" y="1779537"/>
              <a:ext cx="5603693" cy="984447"/>
            </a:xfrm>
            <a:custGeom>
              <a:avLst/>
              <a:gdLst/>
              <a:ahLst/>
              <a:cxnLst/>
              <a:rect r="r" b="b" t="t" l="l"/>
              <a:pathLst>
                <a:path h="984447" w="5603693">
                  <a:moveTo>
                    <a:pt x="33489" y="0"/>
                  </a:moveTo>
                  <a:lnTo>
                    <a:pt x="5502728" y="0"/>
                  </a:lnTo>
                  <a:cubicBezTo>
                    <a:pt x="5558489" y="0"/>
                    <a:pt x="5603693" y="45204"/>
                    <a:pt x="5603693" y="100965"/>
                  </a:cubicBezTo>
                  <a:lnTo>
                    <a:pt x="5603693" y="883482"/>
                  </a:lnTo>
                  <a:cubicBezTo>
                    <a:pt x="5603693" y="939244"/>
                    <a:pt x="5558489" y="984447"/>
                    <a:pt x="5502728" y="984447"/>
                  </a:cubicBezTo>
                  <a:lnTo>
                    <a:pt x="33489" y="984447"/>
                  </a:lnTo>
                  <a:cubicBezTo>
                    <a:pt x="14994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36524" y="1779537"/>
              <a:ext cx="33489" cy="984447"/>
            </a:xfrm>
            <a:custGeom>
              <a:avLst/>
              <a:gdLst/>
              <a:ahLst/>
              <a:cxnLst/>
              <a:rect r="r" b="b" t="t" l="l"/>
              <a:pathLst>
                <a:path h="984447" w="33489">
                  <a:moveTo>
                    <a:pt x="33489" y="0"/>
                  </a:moveTo>
                  <a:lnTo>
                    <a:pt x="33489" y="0"/>
                  </a:lnTo>
                  <a:lnTo>
                    <a:pt x="33489" y="984447"/>
                  </a:lnTo>
                  <a:lnTo>
                    <a:pt x="33489" y="984447"/>
                  </a:lnTo>
                  <a:cubicBezTo>
                    <a:pt x="14994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580425" y="1998262"/>
              <a:ext cx="201938" cy="201938"/>
            </a:xfrm>
            <a:custGeom>
              <a:avLst/>
              <a:gdLst/>
              <a:ahLst/>
              <a:cxnLst/>
              <a:rect r="r" b="b" t="t" l="l"/>
              <a:pathLst>
                <a:path h="201938" w="201938">
                  <a:moveTo>
                    <a:pt x="100969" y="201938"/>
                  </a:moveTo>
                  <a:cubicBezTo>
                    <a:pt x="156695" y="201938"/>
                    <a:pt x="201938" y="156695"/>
                    <a:pt x="201938" y="100969"/>
                  </a:cubicBezTo>
                  <a:cubicBezTo>
                    <a:pt x="201938" y="45242"/>
                    <a:pt x="156695" y="0"/>
                    <a:pt x="100969" y="0"/>
                  </a:cubicBezTo>
                  <a:cubicBezTo>
                    <a:pt x="45242" y="0"/>
                    <a:pt x="0" y="45242"/>
                    <a:pt x="0" y="100969"/>
                  </a:cubicBezTo>
                  <a:cubicBezTo>
                    <a:pt x="0" y="156695"/>
                    <a:pt x="45242" y="201938"/>
                    <a:pt x="100969" y="201938"/>
                  </a:cubicBezTo>
                  <a:close/>
                  <a:moveTo>
                    <a:pt x="100969" y="69416"/>
                  </a:moveTo>
                  <a:cubicBezTo>
                    <a:pt x="93988" y="69416"/>
                    <a:pt x="88348" y="75056"/>
                    <a:pt x="88348" y="82037"/>
                  </a:cubicBezTo>
                  <a:cubicBezTo>
                    <a:pt x="88348" y="87283"/>
                    <a:pt x="84129" y="91504"/>
                    <a:pt x="78882" y="91504"/>
                  </a:cubicBezTo>
                  <a:cubicBezTo>
                    <a:pt x="73636" y="91504"/>
                    <a:pt x="69416" y="87283"/>
                    <a:pt x="69416" y="82037"/>
                  </a:cubicBezTo>
                  <a:cubicBezTo>
                    <a:pt x="69416" y="64604"/>
                    <a:pt x="83536" y="50484"/>
                    <a:pt x="100969" y="50484"/>
                  </a:cubicBezTo>
                  <a:cubicBezTo>
                    <a:pt x="118402" y="50484"/>
                    <a:pt x="132522" y="64604"/>
                    <a:pt x="132522" y="82037"/>
                  </a:cubicBezTo>
                  <a:cubicBezTo>
                    <a:pt x="132522" y="100653"/>
                    <a:pt x="118323" y="108542"/>
                    <a:pt x="110435" y="111421"/>
                  </a:cubicBezTo>
                  <a:lnTo>
                    <a:pt x="110435" y="112920"/>
                  </a:lnTo>
                  <a:cubicBezTo>
                    <a:pt x="110435" y="118165"/>
                    <a:pt x="106215" y="122385"/>
                    <a:pt x="100969" y="122385"/>
                  </a:cubicBezTo>
                  <a:cubicBezTo>
                    <a:pt x="95722" y="122385"/>
                    <a:pt x="91503" y="118165"/>
                    <a:pt x="91503" y="112920"/>
                  </a:cubicBezTo>
                  <a:lnTo>
                    <a:pt x="91503" y="109725"/>
                  </a:lnTo>
                  <a:cubicBezTo>
                    <a:pt x="91503" y="101639"/>
                    <a:pt x="97340" y="95842"/>
                    <a:pt x="103375" y="93870"/>
                  </a:cubicBezTo>
                  <a:cubicBezTo>
                    <a:pt x="105899" y="93041"/>
                    <a:pt x="108581" y="91700"/>
                    <a:pt x="110553" y="89807"/>
                  </a:cubicBezTo>
                  <a:cubicBezTo>
                    <a:pt x="112249" y="88151"/>
                    <a:pt x="113590" y="85863"/>
                    <a:pt x="113590" y="82078"/>
                  </a:cubicBezTo>
                  <a:cubicBezTo>
                    <a:pt x="113590" y="75096"/>
                    <a:pt x="107950" y="69456"/>
                    <a:pt x="100969" y="69456"/>
                  </a:cubicBezTo>
                  <a:close/>
                  <a:moveTo>
                    <a:pt x="88348" y="145143"/>
                  </a:moveTo>
                  <a:cubicBezTo>
                    <a:pt x="88348" y="138177"/>
                    <a:pt x="94003" y="132522"/>
                    <a:pt x="100969" y="132522"/>
                  </a:cubicBezTo>
                  <a:cubicBezTo>
                    <a:pt x="107935" y="132522"/>
                    <a:pt x="113590" y="138177"/>
                    <a:pt x="113590" y="145143"/>
                  </a:cubicBezTo>
                  <a:cubicBezTo>
                    <a:pt x="113590" y="152109"/>
                    <a:pt x="107935" y="157764"/>
                    <a:pt x="100969" y="157764"/>
                  </a:cubicBezTo>
                  <a:cubicBezTo>
                    <a:pt x="94003" y="157764"/>
                    <a:pt x="88348" y="152109"/>
                    <a:pt x="88348" y="14514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557779" y="2004646"/>
              <a:ext cx="757267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核心问题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555183" y="2317973"/>
              <a:ext cx="5258799" cy="2440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BLOCK_SIZE 是 </a:t>
              </a:r>
              <a:r>
                <a:rPr lang="en-US" b="true" i="false" strike="noStrike" u="none" sz="12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constexpr</a:t>
              </a:r>
              <a:r>
                <a:rPr lang="en-US" b="false" i="false" strike="noStrike" u="none" sz="1200">
                  <a:solidFill>
                    <a:srgbClr val="A6A6A6"/>
                  </a:solidFill>
                  <a:latin typeface="MiSans"/>
                  <a:ea typeface="MiSans"/>
                  <a:cs typeface="MiSans"/>
                  <a:sym typeface="MiSans"/>
                </a:rPr>
                <a:t>（编译时常量），grid 需要根据 meta 动态计算</a:t>
              </a:r>
              <a:endParaRPr lang="en-US" sz="1100"/>
            </a:p>
          </p:txBody>
        </p:sp>
      </p:grpSp>
      <p:grpSp>
        <p:nvGrpSpPr>
          <p:cNvPr name="Group 9" id="9"/>
          <p:cNvGrpSpPr/>
          <p:nvPr/>
        </p:nvGrpSpPr>
        <p:grpSpPr>
          <a:xfrm>
            <a:off x="336524" y="3022371"/>
            <a:ext cx="5620605" cy="984447"/>
            <a:chOff x="336524" y="3022371"/>
            <a:chExt cx="5620605" cy="984447"/>
          </a:xfrm>
        </p:grpSpPr>
        <p:sp>
          <p:nvSpPr>
            <p:cNvPr name="Freeform 10" id="10"/>
            <p:cNvSpPr/>
            <p:nvPr/>
          </p:nvSpPr>
          <p:spPr>
            <a:xfrm rot="0" flipH="false" flipV="false">
              <a:off x="336524" y="3022371"/>
              <a:ext cx="5620605" cy="984447"/>
            </a:xfrm>
            <a:custGeom>
              <a:avLst/>
              <a:gdLst/>
              <a:ahLst/>
              <a:cxnLst/>
              <a:rect r="r" b="b" t="t" l="l"/>
              <a:pathLst>
                <a:path h="984447" w="5620605">
                  <a:moveTo>
                    <a:pt x="100965" y="0"/>
                  </a:moveTo>
                  <a:lnTo>
                    <a:pt x="5519640" y="0"/>
                  </a:lnTo>
                  <a:cubicBezTo>
                    <a:pt x="5575402" y="0"/>
                    <a:pt x="5620605" y="45204"/>
                    <a:pt x="5620605" y="100965"/>
                  </a:cubicBezTo>
                  <a:lnTo>
                    <a:pt x="5620605" y="883482"/>
                  </a:lnTo>
                  <a:cubicBezTo>
                    <a:pt x="5620605" y="939244"/>
                    <a:pt x="5575402" y="984447"/>
                    <a:pt x="5519640" y="984447"/>
                  </a:cubicBezTo>
                  <a:lnTo>
                    <a:pt x="100965" y="984447"/>
                  </a:lnTo>
                  <a:cubicBezTo>
                    <a:pt x="45204" y="984447"/>
                    <a:pt x="0" y="939244"/>
                    <a:pt x="0" y="883482"/>
                  </a:cubicBezTo>
                  <a:lnTo>
                    <a:pt x="0" y="100965"/>
                  </a:lnTo>
                  <a:cubicBezTo>
                    <a:pt x="0" y="45241"/>
                    <a:pt x="45241" y="0"/>
                    <a:pt x="10096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557779" y="3235975"/>
              <a:ext cx="757267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解决方案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538438" y="3560814"/>
              <a:ext cx="5292455" cy="2440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41666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使用 lambda 函数延迟计算，在 kernel 编译时获取 BLOCK_SIZE 的实际值</a:t>
              </a:r>
              <a:endParaRPr lang="en-US" sz="1100"/>
            </a:p>
          </p:txBody>
        </p:sp>
      </p:grpSp>
      <p:sp>
        <p:nvSpPr>
          <p:cNvPr name="Freeform 13" id="13"/>
          <p:cNvSpPr/>
          <p:nvPr/>
        </p:nvSpPr>
        <p:spPr>
          <a:xfrm rot="0" flipH="false" flipV="false">
            <a:off x="6246852" y="1245045"/>
            <a:ext cx="5603693" cy="3357217"/>
          </a:xfrm>
          <a:custGeom>
            <a:avLst/>
            <a:gdLst/>
            <a:ahLst/>
            <a:cxnLst/>
            <a:rect r="r" b="b" t="t" l="l"/>
            <a:pathLst>
              <a:path h="3357217" w="5603693">
                <a:moveTo>
                  <a:pt x="33489" y="0"/>
                </a:moveTo>
                <a:lnTo>
                  <a:pt x="5502708" y="0"/>
                </a:lnTo>
                <a:cubicBezTo>
                  <a:pt x="5558480" y="0"/>
                  <a:pt x="5603693" y="45213"/>
                  <a:pt x="5603693" y="100985"/>
                </a:cubicBezTo>
                <a:lnTo>
                  <a:pt x="5603693" y="3256232"/>
                </a:lnTo>
                <a:cubicBezTo>
                  <a:pt x="5603693" y="3312005"/>
                  <a:pt x="5558480" y="3357217"/>
                  <a:pt x="5502708" y="3357217"/>
                </a:cubicBezTo>
                <a:lnTo>
                  <a:pt x="33489" y="3357217"/>
                </a:lnTo>
                <a:cubicBezTo>
                  <a:pt x="14994" y="3357217"/>
                  <a:pt x="0" y="3342223"/>
                  <a:pt x="0" y="3323728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246852" y="1245045"/>
            <a:ext cx="33489" cy="3357217"/>
          </a:xfrm>
          <a:custGeom>
            <a:avLst/>
            <a:gdLst/>
            <a:ahLst/>
            <a:cxnLst/>
            <a:rect r="r" b="b" t="t" l="l"/>
            <a:pathLst>
              <a:path h="3357217" w="33489">
                <a:moveTo>
                  <a:pt x="33489" y="0"/>
                </a:moveTo>
                <a:lnTo>
                  <a:pt x="33489" y="0"/>
                </a:lnTo>
                <a:lnTo>
                  <a:pt x="33489" y="3357217"/>
                </a:lnTo>
                <a:lnTo>
                  <a:pt x="33489" y="3357217"/>
                </a:lnTo>
                <a:cubicBezTo>
                  <a:pt x="14994" y="3357217"/>
                  <a:pt x="0" y="3342223"/>
                  <a:pt x="0" y="3323728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65510" y="1446959"/>
            <a:ext cx="5258799" cy="295334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lambda meta 语法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grid = </a:t>
            </a:r>
            <a:r>
              <a:rPr lang="en-US" b="true" i="false" strike="noStrike" u="none" sz="1200">
                <a:solidFill>
                  <a:srgbClr val="0066CC"/>
                </a:solidFill>
                <a:latin typeface="MiSans"/>
                <a:ea typeface="MiSans"/>
                <a:cs typeface="MiSans"/>
                <a:sym typeface="MiSans"/>
              </a:rPr>
              <a:t>lambda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 meta: (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    triton.cdiv(n_elements,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                meta[</a:t>
            </a:r>
            <a:r>
              <a:rPr lang="en-US" b="false" i="false" strike="noStrike" u="none" sz="12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'BLOCK_SIZE'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]),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triton.cdiv 函数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triton.cdiv(a, b) = ceil(a / b)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示例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triton.cdiv(</a:t>
            </a:r>
            <a:r>
              <a:rPr lang="en-US" b="false" i="false" strike="noStrike" u="none" sz="12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1000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, </a:t>
            </a:r>
            <a:r>
              <a:rPr lang="en-US" b="false" i="false" strike="noStrike" u="none" sz="12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256</a:t>
            </a:r>
            <a:r>
              <a:rPr lang="en-US" b="false" i="false" strike="noStrike" u="none" sz="1200">
                <a:solidFill>
                  <a:srgbClr val="1E2939"/>
                </a:solidFill>
                <a:latin typeface="MiSans"/>
                <a:ea typeface="MiSans"/>
                <a:cs typeface="MiSans"/>
                <a:sym typeface="MiSans"/>
              </a:rPr>
              <a:t>) = </a:t>
            </a:r>
            <a:r>
              <a:rPr lang="en-US" b="false" i="false" strike="noStrike" u="none" sz="1200">
                <a:solidFill>
                  <a:srgbClr val="009900"/>
                </a:solidFill>
                <a:latin typeface="MiSans"/>
                <a:ea typeface="MiSans"/>
                <a:cs typeface="MiSans"/>
                <a:sym typeface="MiSans"/>
              </a:rPr>
              <a:t>4</a:t>
            </a:r>
            <a:r>
              <a:rPr lang="en-US" b="false" i="false" strike="noStrike" u="none" sz="1200">
                <a:solidFill>
                  <a:srgbClr val="666666"/>
                </a:solidFill>
                <a:latin typeface="MiSans"/>
                <a:ea typeface="MiSans"/>
                <a:cs typeface="MiSans"/>
                <a:sym typeface="MiSans"/>
              </a:rPr>
              <a:t># ceil(1000/256) = ceil(3.906) = 4</a:t>
            </a:r>
          </a:p>
        </p:txBody>
      </p:sp>
      <p:grpSp>
        <p:nvGrpSpPr>
          <p:cNvPr name="Group 16" id="16"/>
          <p:cNvGrpSpPr/>
          <p:nvPr/>
        </p:nvGrpSpPr>
        <p:grpSpPr>
          <a:xfrm>
            <a:off x="336524" y="4804349"/>
            <a:ext cx="11518875" cy="1783785"/>
            <a:chOff x="336524" y="4804349"/>
            <a:chExt cx="11518875" cy="1783785"/>
          </a:xfrm>
        </p:grpSpPr>
        <p:sp>
          <p:nvSpPr>
            <p:cNvPr name="Freeform 17" id="17"/>
            <p:cNvSpPr/>
            <p:nvPr/>
          </p:nvSpPr>
          <p:spPr>
            <a:xfrm rot="0" flipH="false" flipV="false">
              <a:off x="336524" y="4804349"/>
              <a:ext cx="11518875" cy="1783785"/>
            </a:xfrm>
            <a:custGeom>
              <a:avLst/>
              <a:gdLst/>
              <a:ahLst/>
              <a:cxnLst/>
              <a:rect r="r" b="b" t="t" l="l"/>
              <a:pathLst>
                <a:path h="1783785" w="11518875">
                  <a:moveTo>
                    <a:pt x="100962" y="0"/>
                  </a:moveTo>
                  <a:lnTo>
                    <a:pt x="11417911" y="0"/>
                  </a:lnTo>
                  <a:cubicBezTo>
                    <a:pt x="11473671" y="0"/>
                    <a:pt x="11518875" y="45202"/>
                    <a:pt x="11518875" y="100962"/>
                  </a:cubicBezTo>
                  <a:lnTo>
                    <a:pt x="11518875" y="1682822"/>
                  </a:lnTo>
                  <a:cubicBezTo>
                    <a:pt x="11518875" y="1738582"/>
                    <a:pt x="11473671" y="1783785"/>
                    <a:pt x="11417911" y="1783785"/>
                  </a:cubicBezTo>
                  <a:lnTo>
                    <a:pt x="100962" y="1783785"/>
                  </a:lnTo>
                  <a:cubicBezTo>
                    <a:pt x="45202" y="1783785"/>
                    <a:pt x="0" y="1738582"/>
                    <a:pt x="0" y="1682822"/>
                  </a:cubicBezTo>
                  <a:lnTo>
                    <a:pt x="0" y="100962"/>
                  </a:lnTo>
                  <a:cubicBezTo>
                    <a:pt x="0" y="45240"/>
                    <a:pt x="45240" y="0"/>
                    <a:pt x="10096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538438" y="5006262"/>
              <a:ext cx="11199139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执行流程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2037392" y="5376473"/>
              <a:ext cx="538502" cy="538502"/>
            </a:xfrm>
            <a:custGeom>
              <a:avLst/>
              <a:gdLst/>
              <a:ahLst/>
              <a:cxnLst/>
              <a:rect r="r" b="b" t="t" l="l"/>
              <a:pathLst>
                <a:path h="538502" w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995322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504782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定义 kernel</a:t>
              </a:r>
              <a:endParaRPr lang="en-US" sz="1100"/>
            </a:p>
            <a:p>
              <a:pPr algn="ctr" indent="0">
                <a:lnSpc>
                  <a:spcPct val="133333"/>
                </a:lnSpc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指定 BLOCK_SIZE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4074850" y="5729807"/>
              <a:ext cx="378634" cy="3029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D1D5DC"/>
                  </a:solidFill>
                  <a:latin typeface="MiSans"/>
                  <a:ea typeface="MiSans"/>
                  <a:cs typeface="MiSans"/>
                  <a:sym typeface="MiSans"/>
                </a:rPr>
                <a:t>→</a:t>
              </a:r>
              <a:endParaRPr lang="en-US" sz="1100"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5826279" y="5376473"/>
              <a:ext cx="538502" cy="538502"/>
            </a:xfrm>
            <a:custGeom>
              <a:avLst/>
              <a:gdLst/>
              <a:ahLst/>
              <a:cxnLst/>
              <a:rect r="r" b="b" t="t" l="l"/>
              <a:pathLst>
                <a:path h="538502" w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5784208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293668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lambda 获取</a:t>
              </a:r>
              <a:endParaRPr lang="en-US" sz="1100"/>
            </a:p>
            <a:p>
              <a:pPr algn="ctr" indent="0">
                <a:lnSpc>
                  <a:spcPct val="133333"/>
                </a:lnSpc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meta['BLOCK_SIZE']</a:t>
              </a:r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863736" y="5729807"/>
              <a:ext cx="378634" cy="3029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2000">
                  <a:solidFill>
                    <a:srgbClr val="D1D5DC"/>
                  </a:solidFill>
                  <a:latin typeface="MiSans"/>
                  <a:ea typeface="MiSans"/>
                  <a:cs typeface="MiSans"/>
                  <a:sym typeface="MiSans"/>
                </a:rPr>
                <a:t>→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9615165" y="5376473"/>
              <a:ext cx="538502" cy="538502"/>
            </a:xfrm>
            <a:custGeom>
              <a:avLst/>
              <a:gdLst/>
              <a:ahLst/>
              <a:cxnLst/>
              <a:rect r="r" b="b" t="t" l="l"/>
              <a:pathLst>
                <a:path h="538502" w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9573094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3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8082555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计算 grid</a:t>
              </a:r>
              <a:endParaRPr lang="en-US" sz="1100"/>
            </a:p>
            <a:p>
              <a:pPr algn="ctr" indent="0">
                <a:lnSpc>
                  <a:spcPct val="133333"/>
                </a:lnSpc>
              </a:pPr>
              <a:r>
                <a:rPr lang="en-US" b="false" i="false" strike="noStrike" u="none" sz="11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启动 kernel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0" flipH="false" flipV="false">
            <a:off x="336524" y="6722569"/>
            <a:ext cx="11569358" cy="134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8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图片来源：Triton 官方文档</a:t>
            </a:r>
            <a:endParaRPr lang="en-US" sz="1100"/>
          </a:p>
        </p:txBody>
      </p:sp>
      <p:sp>
        <p:nvSpPr>
          <p:cNvPr name="AutoShape 31" id="31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4392" y="610485"/>
            <a:ext cx="11614092" cy="372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[] 语法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91350" y="1379250"/>
            <a:ext cx="5555284" cy="2870898"/>
            <a:chOff x="391350" y="1379250"/>
            <a:chExt cx="5555284" cy="2870898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91350" y="1379250"/>
              <a:ext cx="5555284" cy="2870898"/>
            </a:xfrm>
            <a:custGeom>
              <a:avLst/>
              <a:gdLst/>
              <a:ahLst/>
              <a:cxnLst/>
              <a:rect r="r" b="b" t="t" l="l"/>
              <a:pathLst>
                <a:path h="2870898" w="5555284">
                  <a:moveTo>
                    <a:pt x="37099" y="0"/>
                  </a:moveTo>
                  <a:lnTo>
                    <a:pt x="5443433" y="0"/>
                  </a:lnTo>
                  <a:cubicBezTo>
                    <a:pt x="5505206" y="0"/>
                    <a:pt x="5555284" y="50077"/>
                    <a:pt x="5555284" y="111850"/>
                  </a:cubicBezTo>
                  <a:lnTo>
                    <a:pt x="5555284" y="2759050"/>
                  </a:lnTo>
                  <a:cubicBezTo>
                    <a:pt x="5555284" y="2820822"/>
                    <a:pt x="5505206" y="2870899"/>
                    <a:pt x="5443433" y="2870899"/>
                  </a:cubicBezTo>
                  <a:lnTo>
                    <a:pt x="37099" y="2870899"/>
                  </a:lnTo>
                  <a:cubicBezTo>
                    <a:pt x="16610" y="2870899"/>
                    <a:pt x="0" y="2854289"/>
                    <a:pt x="0" y="2833801"/>
                  </a:cubicBezTo>
                  <a:lnTo>
                    <a:pt x="0" y="37099"/>
                  </a:lnTo>
                  <a:cubicBezTo>
                    <a:pt x="0" y="16610"/>
                    <a:pt x="16610" y="0"/>
                    <a:pt x="3709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91350" y="1379250"/>
              <a:ext cx="37099" cy="2870898"/>
            </a:xfrm>
            <a:custGeom>
              <a:avLst/>
              <a:gdLst/>
              <a:ahLst/>
              <a:cxnLst/>
              <a:rect r="r" b="b" t="t" l="l"/>
              <a:pathLst>
                <a:path h="2870898" w="37099">
                  <a:moveTo>
                    <a:pt x="37099" y="0"/>
                  </a:moveTo>
                  <a:lnTo>
                    <a:pt x="37099" y="0"/>
                  </a:lnTo>
                  <a:lnTo>
                    <a:pt x="37099" y="2870899"/>
                  </a:lnTo>
                  <a:lnTo>
                    <a:pt x="37099" y="2870899"/>
                  </a:lnTo>
                  <a:cubicBezTo>
                    <a:pt x="16610" y="2870899"/>
                    <a:pt x="0" y="2854289"/>
                    <a:pt x="0" y="2833801"/>
                  </a:cubicBezTo>
                  <a:lnTo>
                    <a:pt x="0" y="37099"/>
                  </a:lnTo>
                  <a:cubicBezTo>
                    <a:pt x="0" y="16623"/>
                    <a:pt x="16623" y="0"/>
                    <a:pt x="3709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633580" y="1602929"/>
              <a:ext cx="5182532" cy="121174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add_kernel[grid](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x_ptr, y_ptr, 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    output_ptr, n_elements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500">
                  <a:solidFill>
                    <a:srgbClr val="1E293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6247181" y="1379250"/>
            <a:ext cx="5574019" cy="2875377"/>
            <a:chOff x="6247181" y="1379250"/>
            <a:chExt cx="5574019" cy="2875377"/>
          </a:xfrm>
        </p:grpSpPr>
        <p:sp>
          <p:nvSpPr>
            <p:cNvPr name="Freeform 8" id="8"/>
            <p:cNvSpPr/>
            <p:nvPr/>
          </p:nvSpPr>
          <p:spPr>
            <a:xfrm rot="0" flipH="false" flipV="false">
              <a:off x="6247181" y="1379250"/>
              <a:ext cx="5574019" cy="857541"/>
            </a:xfrm>
            <a:custGeom>
              <a:avLst/>
              <a:gdLst/>
              <a:ahLst/>
              <a:cxnLst/>
              <a:rect r="r" b="b" t="t" l="l"/>
              <a:pathLst>
                <a:path h="857541" w="5574019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406824" y="1564270"/>
              <a:ext cx="212019" cy="189117"/>
            </a:xfrm>
            <a:custGeom>
              <a:avLst/>
              <a:gdLst/>
              <a:ahLst/>
              <a:cxnLst/>
              <a:rect r="r" b="b" t="t" l="l"/>
              <a:pathLst>
                <a:path h="189117" w="212019">
                  <a:moveTo>
                    <a:pt x="132498" y="1784"/>
                  </a:moveTo>
                  <a:cubicBezTo>
                    <a:pt x="126308" y="0"/>
                    <a:pt x="119864" y="3604"/>
                    <a:pt x="118079" y="9794"/>
                  </a:cubicBezTo>
                  <a:lnTo>
                    <a:pt x="71474" y="172914"/>
                  </a:lnTo>
                  <a:cubicBezTo>
                    <a:pt x="69690" y="179103"/>
                    <a:pt x="73295" y="185548"/>
                    <a:pt x="79485" y="187332"/>
                  </a:cubicBezTo>
                  <a:cubicBezTo>
                    <a:pt x="85674" y="189117"/>
                    <a:pt x="92119" y="185512"/>
                    <a:pt x="93902" y="179322"/>
                  </a:cubicBezTo>
                  <a:lnTo>
                    <a:pt x="140509" y="16203"/>
                  </a:lnTo>
                  <a:cubicBezTo>
                    <a:pt x="142293" y="10013"/>
                    <a:pt x="138688" y="3568"/>
                    <a:pt x="132498" y="1784"/>
                  </a:cubicBezTo>
                  <a:close/>
                  <a:moveTo>
                    <a:pt x="156019" y="51339"/>
                  </a:moveTo>
                  <a:cubicBezTo>
                    <a:pt x="151468" y="55890"/>
                    <a:pt x="151468" y="63281"/>
                    <a:pt x="156019" y="67833"/>
                  </a:cubicBezTo>
                  <a:lnTo>
                    <a:pt x="182745" y="94557"/>
                  </a:lnTo>
                  <a:lnTo>
                    <a:pt x="156019" y="121283"/>
                  </a:lnTo>
                  <a:cubicBezTo>
                    <a:pt x="151468" y="125835"/>
                    <a:pt x="151468" y="133226"/>
                    <a:pt x="156019" y="137777"/>
                  </a:cubicBezTo>
                  <a:cubicBezTo>
                    <a:pt x="160571" y="142328"/>
                    <a:pt x="167963" y="142328"/>
                    <a:pt x="172513" y="137777"/>
                  </a:cubicBezTo>
                  <a:lnTo>
                    <a:pt x="207468" y="102823"/>
                  </a:lnTo>
                  <a:cubicBezTo>
                    <a:pt x="212019" y="98272"/>
                    <a:pt x="212019" y="90881"/>
                    <a:pt x="207468" y="86329"/>
                  </a:cubicBezTo>
                  <a:lnTo>
                    <a:pt x="172513" y="51375"/>
                  </a:lnTo>
                  <a:cubicBezTo>
                    <a:pt x="167963" y="46824"/>
                    <a:pt x="160571" y="46824"/>
                    <a:pt x="156019" y="51375"/>
                  </a:cubicBezTo>
                  <a:close/>
                  <a:moveTo>
                    <a:pt x="56001" y="51339"/>
                  </a:moveTo>
                  <a:cubicBezTo>
                    <a:pt x="51448" y="46788"/>
                    <a:pt x="44058" y="46788"/>
                    <a:pt x="39506" y="51339"/>
                  </a:cubicBezTo>
                  <a:lnTo>
                    <a:pt x="4552" y="86293"/>
                  </a:lnTo>
                  <a:cubicBezTo>
                    <a:pt x="0" y="90844"/>
                    <a:pt x="0" y="98235"/>
                    <a:pt x="4552" y="102787"/>
                  </a:cubicBezTo>
                  <a:lnTo>
                    <a:pt x="39506" y="137741"/>
                  </a:lnTo>
                  <a:cubicBezTo>
                    <a:pt x="44058" y="142292"/>
                    <a:pt x="51448" y="142292"/>
                    <a:pt x="56001" y="137741"/>
                  </a:cubicBezTo>
                  <a:cubicBezTo>
                    <a:pt x="60551" y="133190"/>
                    <a:pt x="60551" y="125798"/>
                    <a:pt x="56001" y="121246"/>
                  </a:cubicBezTo>
                  <a:lnTo>
                    <a:pt x="29273" y="94557"/>
                  </a:lnTo>
                  <a:lnTo>
                    <a:pt x="55963" y="67833"/>
                  </a:lnTo>
                  <a:cubicBezTo>
                    <a:pt x="60515" y="63281"/>
                    <a:pt x="60515" y="55890"/>
                    <a:pt x="55963" y="51339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741132" y="1528369"/>
              <a:ext cx="1360881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__getitem__ 重载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6396301" y="1863929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Triton 重载了 Python 的 </a:t>
              </a:r>
              <a:r>
                <a:rPr lang="en-US" b="false" i="false" strike="noStrike" u="none" sz="120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/>
                  <a:ea typeface="MiSans"/>
                  <a:cs typeface="MiSans"/>
                  <a:sym typeface="MiSans"/>
                </a:rPr>
                <a:t>__getitem__ </a:t>
              </a: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方法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247181" y="2390489"/>
              <a:ext cx="5574019" cy="857541"/>
            </a:xfrm>
            <a:custGeom>
              <a:avLst/>
              <a:gdLst/>
              <a:ahLst/>
              <a:cxnLst/>
              <a:rect r="r" b="b" t="t" l="l"/>
              <a:pathLst>
                <a:path h="857541" w="5574019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3" id="13"/>
            <p:cNvSpPr/>
            <p:nvPr/>
          </p:nvSpPr>
          <p:spPr>
            <a:xfrm rot="0" flipH="false" flipV="false">
              <a:off x="6419604" y="2576847"/>
              <a:ext cx="186422" cy="186422"/>
            </a:xfrm>
            <a:custGeom>
              <a:avLst/>
              <a:gdLst/>
              <a:ahLst/>
              <a:cxnLst/>
              <a:rect r="r" b="b" t="t" l="l"/>
              <a:pathLst>
                <a:path h="186422" w="186422">
                  <a:moveTo>
                    <a:pt x="163119" y="93210"/>
                  </a:moveTo>
                  <a:cubicBezTo>
                    <a:pt x="163119" y="54628"/>
                    <a:pt x="131794" y="23303"/>
                    <a:pt x="93210" y="23303"/>
                  </a:cubicBezTo>
                  <a:cubicBezTo>
                    <a:pt x="54628" y="23303"/>
                    <a:pt x="23303" y="54628"/>
                    <a:pt x="23303" y="93210"/>
                  </a:cubicBezTo>
                  <a:cubicBezTo>
                    <a:pt x="23303" y="131794"/>
                    <a:pt x="54628" y="163119"/>
                    <a:pt x="93210" y="163119"/>
                  </a:cubicBezTo>
                  <a:cubicBezTo>
                    <a:pt x="131794" y="163119"/>
                    <a:pt x="163119" y="131794"/>
                    <a:pt x="163119" y="93210"/>
                  </a:cubicBezTo>
                  <a:close/>
                  <a:moveTo>
                    <a:pt x="0" y="93210"/>
                  </a:moveTo>
                  <a:cubicBezTo>
                    <a:pt x="0" y="41766"/>
                    <a:pt x="41766" y="0"/>
                    <a:pt x="93210" y="0"/>
                  </a:cubicBezTo>
                  <a:cubicBezTo>
                    <a:pt x="144656" y="0"/>
                    <a:pt x="186422" y="41766"/>
                    <a:pt x="186422" y="93210"/>
                  </a:cubicBezTo>
                  <a:cubicBezTo>
                    <a:pt x="186422" y="144656"/>
                    <a:pt x="144656" y="186422"/>
                    <a:pt x="93210" y="186422"/>
                  </a:cubicBezTo>
                  <a:cubicBezTo>
                    <a:pt x="41766" y="186422"/>
                    <a:pt x="0" y="144656"/>
                    <a:pt x="0" y="93210"/>
                  </a:cubicBezTo>
                  <a:close/>
                  <a:moveTo>
                    <a:pt x="93210" y="122339"/>
                  </a:moveTo>
                  <a:cubicBezTo>
                    <a:pt x="109287" y="122339"/>
                    <a:pt x="122339" y="109287"/>
                    <a:pt x="122339" y="93210"/>
                  </a:cubicBezTo>
                  <a:cubicBezTo>
                    <a:pt x="122339" y="77135"/>
                    <a:pt x="109287" y="64083"/>
                    <a:pt x="93210" y="64083"/>
                  </a:cubicBezTo>
                  <a:cubicBezTo>
                    <a:pt x="77135" y="64083"/>
                    <a:pt x="64083" y="77135"/>
                    <a:pt x="64083" y="93210"/>
                  </a:cubicBezTo>
                  <a:cubicBezTo>
                    <a:pt x="64083" y="109287"/>
                    <a:pt x="77135" y="122339"/>
                    <a:pt x="93210" y="122339"/>
                  </a:cubicBezTo>
                  <a:close/>
                  <a:moveTo>
                    <a:pt x="93210" y="40780"/>
                  </a:moveTo>
                  <a:cubicBezTo>
                    <a:pt x="122149" y="40780"/>
                    <a:pt x="145642" y="64273"/>
                    <a:pt x="145642" y="93210"/>
                  </a:cubicBezTo>
                  <a:cubicBezTo>
                    <a:pt x="145642" y="122149"/>
                    <a:pt x="122149" y="145642"/>
                    <a:pt x="93210" y="145642"/>
                  </a:cubicBezTo>
                  <a:cubicBezTo>
                    <a:pt x="64273" y="145642"/>
                    <a:pt x="40780" y="122149"/>
                    <a:pt x="40780" y="93210"/>
                  </a:cubicBezTo>
                  <a:cubicBezTo>
                    <a:pt x="40780" y="64273"/>
                    <a:pt x="64273" y="40780"/>
                    <a:pt x="93210" y="40780"/>
                  </a:cubicBezTo>
                  <a:close/>
                  <a:moveTo>
                    <a:pt x="81559" y="93210"/>
                  </a:moveTo>
                  <a:cubicBezTo>
                    <a:pt x="81559" y="86780"/>
                    <a:pt x="86780" y="81559"/>
                    <a:pt x="93210" y="81559"/>
                  </a:cubicBezTo>
                  <a:cubicBezTo>
                    <a:pt x="99642" y="81559"/>
                    <a:pt x="104863" y="86780"/>
                    <a:pt x="104863" y="93210"/>
                  </a:cubicBezTo>
                  <a:cubicBezTo>
                    <a:pt x="104863" y="99642"/>
                    <a:pt x="99642" y="104863"/>
                    <a:pt x="93210" y="104863"/>
                  </a:cubicBezTo>
                  <a:cubicBezTo>
                    <a:pt x="86780" y="104863"/>
                    <a:pt x="81559" y="99642"/>
                    <a:pt x="81559" y="9321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6741132" y="2539609"/>
              <a:ext cx="1408688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kernel[grid]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396301" y="2875159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指定 launch grid，确定 program 数量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247181" y="3397086"/>
              <a:ext cx="5574019" cy="857541"/>
            </a:xfrm>
            <a:custGeom>
              <a:avLst/>
              <a:gdLst/>
              <a:ahLst/>
              <a:cxnLst/>
              <a:rect r="r" b="b" t="t" l="l"/>
              <a:pathLst>
                <a:path h="857541" w="5574019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6442906" y="3594404"/>
              <a:ext cx="151468" cy="164502"/>
            </a:xfrm>
            <a:custGeom>
              <a:avLst/>
              <a:gdLst/>
              <a:ahLst/>
              <a:cxnLst/>
              <a:rect r="r" b="b" t="t" l="l"/>
              <a:pathLst>
                <a:path h="164502" w="151468">
                  <a:moveTo>
                    <a:pt x="21554" y="2475"/>
                  </a:moveTo>
                  <a:cubicBezTo>
                    <a:pt x="17041" y="0"/>
                    <a:pt x="11579" y="109"/>
                    <a:pt x="7137" y="2731"/>
                  </a:cubicBezTo>
                  <a:cubicBezTo>
                    <a:pt x="2695" y="5352"/>
                    <a:pt x="0" y="10122"/>
                    <a:pt x="0" y="15257"/>
                  </a:cubicBezTo>
                  <a:lnTo>
                    <a:pt x="0" y="149245"/>
                  </a:lnTo>
                  <a:cubicBezTo>
                    <a:pt x="0" y="154380"/>
                    <a:pt x="2730" y="159150"/>
                    <a:pt x="7137" y="161771"/>
                  </a:cubicBezTo>
                  <a:cubicBezTo>
                    <a:pt x="11543" y="164393"/>
                    <a:pt x="17041" y="164502"/>
                    <a:pt x="21554" y="162027"/>
                  </a:cubicBezTo>
                  <a:lnTo>
                    <a:pt x="143895" y="95030"/>
                  </a:lnTo>
                  <a:cubicBezTo>
                    <a:pt x="148554" y="92481"/>
                    <a:pt x="151468" y="87567"/>
                    <a:pt x="151468" y="82250"/>
                  </a:cubicBezTo>
                  <a:cubicBezTo>
                    <a:pt x="151468" y="76935"/>
                    <a:pt x="148554" y="72021"/>
                    <a:pt x="143895" y="69470"/>
                  </a:cubicBezTo>
                  <a:lnTo>
                    <a:pt x="21554" y="2475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741132" y="3546206"/>
              <a:ext cx="689761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(...) 执行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6396301" y="3881756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传入参数，实际执行 kernel</a:t>
              </a:r>
              <a:endParaRPr lang="en-US" sz="1100"/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372801" y="4478243"/>
            <a:ext cx="11446312" cy="2087927"/>
            <a:chOff x="372801" y="4478243"/>
            <a:chExt cx="11446312" cy="2087927"/>
          </a:xfrm>
        </p:grpSpPr>
        <p:sp>
          <p:nvSpPr>
            <p:cNvPr name="Freeform 21" id="21"/>
            <p:cNvSpPr/>
            <p:nvPr/>
          </p:nvSpPr>
          <p:spPr>
            <a:xfrm rot="0" flipH="false" flipV="false">
              <a:off x="372801" y="4478243"/>
              <a:ext cx="11446312" cy="2087927"/>
            </a:xfrm>
            <a:custGeom>
              <a:avLst/>
              <a:gdLst/>
              <a:ahLst/>
              <a:cxnLst/>
              <a:rect r="r" b="b" t="t" l="l"/>
              <a:pathLst>
                <a:path h="2087927" w="11446312">
                  <a:moveTo>
                    <a:pt x="111850" y="0"/>
                  </a:moveTo>
                  <a:lnTo>
                    <a:pt x="11334462" y="0"/>
                  </a:lnTo>
                  <a:cubicBezTo>
                    <a:pt x="11396235" y="0"/>
                    <a:pt x="11446312" y="50077"/>
                    <a:pt x="11446312" y="111850"/>
                  </a:cubicBezTo>
                  <a:lnTo>
                    <a:pt x="11446312" y="1976076"/>
                  </a:lnTo>
                  <a:cubicBezTo>
                    <a:pt x="11446312" y="2037850"/>
                    <a:pt x="11396235" y="2087927"/>
                    <a:pt x="11334462" y="2087927"/>
                  </a:cubicBezTo>
                  <a:lnTo>
                    <a:pt x="111850" y="2087927"/>
                  </a:lnTo>
                  <a:cubicBezTo>
                    <a:pt x="50077" y="2087927"/>
                    <a:pt x="0" y="2037850"/>
                    <a:pt x="0" y="1976076"/>
                  </a:cubicBezTo>
                  <a:lnTo>
                    <a:pt x="0" y="111850"/>
                  </a:lnTo>
                  <a:cubicBezTo>
                    <a:pt x="0" y="50118"/>
                    <a:pt x="50118" y="0"/>
                    <a:pt x="11185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596481" y="4701922"/>
              <a:ext cx="11092110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语法拆解</a:t>
              </a:r>
              <a:endParaRPr lang="en-US" sz="1100"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4064649" y="5121316"/>
              <a:ext cx="1155724" cy="801522"/>
            </a:xfrm>
            <a:custGeom>
              <a:avLst/>
              <a:gdLst/>
              <a:ahLst/>
              <a:cxnLst/>
              <a:rect r="r" b="b" t="t" l="l"/>
              <a:pathLst>
                <a:path h="801522" w="1155724">
                  <a:moveTo>
                    <a:pt x="74566" y="0"/>
                  </a:moveTo>
                  <a:lnTo>
                    <a:pt x="1081159" y="0"/>
                  </a:lnTo>
                  <a:cubicBezTo>
                    <a:pt x="1122312" y="0"/>
                    <a:pt x="1155724" y="33412"/>
                    <a:pt x="1155724" y="74566"/>
                  </a:cubicBezTo>
                  <a:lnTo>
                    <a:pt x="1155724" y="726956"/>
                  </a:lnTo>
                  <a:cubicBezTo>
                    <a:pt x="1155724" y="768110"/>
                    <a:pt x="1122312" y="801522"/>
                    <a:pt x="1081159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4223044" y="5279712"/>
              <a:ext cx="904147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kernel 对象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223044" y="5503318"/>
              <a:ext cx="922789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add_kernel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5377458" y="5372886"/>
              <a:ext cx="186422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99A1AF"/>
                  </a:solidFill>
                  <a:latin typeface="MiSans"/>
                  <a:ea typeface="MiSans"/>
                  <a:cs typeface="MiSans"/>
                  <a:sym typeface="MiSans"/>
                </a:rPr>
                <a:t>[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5613311" y="5121316"/>
              <a:ext cx="848128" cy="801522"/>
            </a:xfrm>
            <a:custGeom>
              <a:avLst/>
              <a:gdLst/>
              <a:ahLst/>
              <a:cxnLst/>
              <a:rect r="r" b="b" t="t" l="l"/>
              <a:pathLst>
                <a:path h="801522" w="848128">
                  <a:moveTo>
                    <a:pt x="74566" y="0"/>
                  </a:moveTo>
                  <a:lnTo>
                    <a:pt x="773562" y="0"/>
                  </a:lnTo>
                  <a:cubicBezTo>
                    <a:pt x="814716" y="0"/>
                    <a:pt x="848128" y="33412"/>
                    <a:pt x="848128" y="74566"/>
                  </a:cubicBezTo>
                  <a:lnTo>
                    <a:pt x="848128" y="726956"/>
                  </a:lnTo>
                  <a:cubicBezTo>
                    <a:pt x="848128" y="768110"/>
                    <a:pt x="814716" y="801522"/>
                    <a:pt x="773562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5771706" y="5279712"/>
              <a:ext cx="596550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0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grid 配置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5771706" y="5503318"/>
              <a:ext cx="615193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grid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623315" y="5372886"/>
              <a:ext cx="186422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99A1AF"/>
                  </a:solidFill>
                  <a:latin typeface="MiSans"/>
                  <a:ea typeface="MiSans"/>
                  <a:cs typeface="MiSans"/>
                  <a:sym typeface="MiSans"/>
                </a:rPr>
                <a:t>]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849893" y="5372886"/>
              <a:ext cx="177101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99A1AF"/>
                  </a:solidFill>
                  <a:latin typeface="MiSans"/>
                  <a:ea typeface="MiSans"/>
                  <a:cs typeface="MiSans"/>
                  <a:sym typeface="MiSans"/>
                </a:rPr>
                <a:t>(</a:t>
              </a:r>
              <a:endParaRPr lang="en-US" sz="1100"/>
            </a:p>
          </p:txBody>
        </p:sp>
        <p:sp>
          <p:nvSpPr>
            <p:cNvPr name="Freeform 32" id="32"/>
            <p:cNvSpPr/>
            <p:nvPr/>
          </p:nvSpPr>
          <p:spPr>
            <a:xfrm rot="0" flipH="false" flipV="false">
              <a:off x="7075892" y="5121316"/>
              <a:ext cx="838806" cy="801522"/>
            </a:xfrm>
            <a:custGeom>
              <a:avLst/>
              <a:gdLst/>
              <a:ahLst/>
              <a:cxnLst/>
              <a:rect r="r" b="b" t="t" l="l"/>
              <a:pathLst>
                <a:path h="801522" w="838806">
                  <a:moveTo>
                    <a:pt x="74566" y="0"/>
                  </a:moveTo>
                  <a:lnTo>
                    <a:pt x="764242" y="0"/>
                  </a:lnTo>
                  <a:cubicBezTo>
                    <a:pt x="805395" y="0"/>
                    <a:pt x="838806" y="33412"/>
                    <a:pt x="838806" y="74566"/>
                  </a:cubicBezTo>
                  <a:lnTo>
                    <a:pt x="838806" y="726956"/>
                  </a:lnTo>
                  <a:cubicBezTo>
                    <a:pt x="838806" y="768110"/>
                    <a:pt x="805395" y="801522"/>
                    <a:pt x="764242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234287" y="5279712"/>
              <a:ext cx="587229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000">
                  <a:solidFill>
                    <a:srgbClr val="6A7282"/>
                  </a:solidFill>
                  <a:latin typeface="MiSans"/>
                  <a:ea typeface="MiSans"/>
                  <a:cs typeface="MiSans"/>
                  <a:sym typeface="MiSans"/>
                </a:rPr>
                <a:t>函数参数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234287" y="5503318"/>
              <a:ext cx="605872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3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...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8073070" y="5372886"/>
              <a:ext cx="177101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99A1AF"/>
                  </a:solidFill>
                  <a:latin typeface="MiSans"/>
                  <a:ea typeface="MiSans"/>
                  <a:cs typeface="MiSans"/>
                  <a:sym typeface="MiSans"/>
                </a:rPr>
                <a:t>)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554536" y="6081099"/>
              <a:ext cx="11082789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3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等价于：</a:t>
              </a:r>
              <a:r>
                <a:rPr lang="en-US" b="false" i="false" strike="noStrike" u="none" sz="120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/>
                  <a:ea typeface="MiSans"/>
                  <a:cs typeface="MiSans"/>
                  <a:sym typeface="MiSans"/>
                </a:rPr>
                <a:t> add_kernel.__getitem__(grid).__call__(...)</a:t>
              </a:r>
              <a:endParaRPr lang="en-US" sz="1100"/>
            </a:p>
          </p:txBody>
        </p:sp>
      </p:grpSp>
      <p:sp>
        <p:nvSpPr>
          <p:cNvPr name="AutoShape 37" id="37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9664" y="61885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Triton vs CUDA 对比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409421"/>
            <a:ext cx="5562600" cy="4876800"/>
            <a:chOff x="380956" y="1409421"/>
            <a:chExt cx="5562600" cy="48768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409421"/>
              <a:ext cx="55626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562600">
                  <a:moveTo>
                    <a:pt x="114311" y="0"/>
                  </a:moveTo>
                  <a:lnTo>
                    <a:pt x="5448289" y="0"/>
                  </a:lnTo>
                  <a:cubicBezTo>
                    <a:pt x="5511422" y="0"/>
                    <a:pt x="5562600" y="51178"/>
                    <a:pt x="5562600" y="114311"/>
                  </a:cubicBezTo>
                  <a:lnTo>
                    <a:pt x="5562600" y="4762489"/>
                  </a:lnTo>
                  <a:cubicBezTo>
                    <a:pt x="5562600" y="4825622"/>
                    <a:pt x="5511422" y="4876800"/>
                    <a:pt x="5448289" y="4876800"/>
                  </a:cubicBezTo>
                  <a:lnTo>
                    <a:pt x="114311" y="4876800"/>
                  </a:lnTo>
                  <a:cubicBezTo>
                    <a:pt x="51178" y="4876800"/>
                    <a:pt x="0" y="4825622"/>
                    <a:pt x="0" y="4762489"/>
                  </a:cubicBezTo>
                  <a:lnTo>
                    <a:pt x="0" y="114311"/>
                  </a:lnTo>
                  <a:cubicBezTo>
                    <a:pt x="0" y="51222"/>
                    <a:pt x="51222" y="0"/>
                    <a:pt x="11431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609529" y="1637993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76203" y="0"/>
                  </a:moveTo>
                  <a:lnTo>
                    <a:pt x="380997" y="0"/>
                  </a:lnTo>
                  <a:cubicBezTo>
                    <a:pt x="423055" y="0"/>
                    <a:pt x="457200" y="34145"/>
                    <a:pt x="457200" y="76203"/>
                  </a:cubicBezTo>
                  <a:lnTo>
                    <a:pt x="457200" y="380997"/>
                  </a:lnTo>
                  <a:cubicBezTo>
                    <a:pt x="457200" y="423055"/>
                    <a:pt x="423055" y="457200"/>
                    <a:pt x="380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364153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723773" y="1752247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78581" y="10716"/>
                  </a:moveTo>
                  <a:cubicBezTo>
                    <a:pt x="78581" y="4776"/>
                    <a:pt x="73804" y="0"/>
                    <a:pt x="67866" y="0"/>
                  </a:cubicBezTo>
                  <a:cubicBezTo>
                    <a:pt x="61926" y="0"/>
                    <a:pt x="57150" y="4776"/>
                    <a:pt x="57150" y="10716"/>
                  </a:cubicBezTo>
                  <a:lnTo>
                    <a:pt x="57150" y="28575"/>
                  </a:lnTo>
                  <a:cubicBezTo>
                    <a:pt x="41389" y="28575"/>
                    <a:pt x="28575" y="41389"/>
                    <a:pt x="28575" y="57150"/>
                  </a:cubicBezTo>
                  <a:lnTo>
                    <a:pt x="10716" y="57150"/>
                  </a:lnTo>
                  <a:cubicBezTo>
                    <a:pt x="4776" y="57150"/>
                    <a:pt x="0" y="61926"/>
                    <a:pt x="0" y="67866"/>
                  </a:cubicBezTo>
                  <a:cubicBezTo>
                    <a:pt x="0" y="73804"/>
                    <a:pt x="4776" y="78581"/>
                    <a:pt x="10716" y="78581"/>
                  </a:cubicBezTo>
                  <a:lnTo>
                    <a:pt x="28575" y="78581"/>
                  </a:lnTo>
                  <a:lnTo>
                    <a:pt x="28575" y="103584"/>
                  </a:lnTo>
                  <a:lnTo>
                    <a:pt x="10716" y="103584"/>
                  </a:lnTo>
                  <a:cubicBezTo>
                    <a:pt x="4776" y="103584"/>
                    <a:pt x="0" y="108361"/>
                    <a:pt x="0" y="114300"/>
                  </a:cubicBezTo>
                  <a:cubicBezTo>
                    <a:pt x="0" y="120239"/>
                    <a:pt x="4776" y="125016"/>
                    <a:pt x="10716" y="125016"/>
                  </a:cubicBezTo>
                  <a:lnTo>
                    <a:pt x="28575" y="125016"/>
                  </a:lnTo>
                  <a:lnTo>
                    <a:pt x="28575" y="150019"/>
                  </a:lnTo>
                  <a:lnTo>
                    <a:pt x="10716" y="150019"/>
                  </a:lnTo>
                  <a:cubicBezTo>
                    <a:pt x="4776" y="150019"/>
                    <a:pt x="0" y="154796"/>
                    <a:pt x="0" y="160734"/>
                  </a:cubicBezTo>
                  <a:cubicBezTo>
                    <a:pt x="0" y="166674"/>
                    <a:pt x="4776" y="171450"/>
                    <a:pt x="10716" y="171450"/>
                  </a:cubicBezTo>
                  <a:lnTo>
                    <a:pt x="28575" y="171450"/>
                  </a:lnTo>
                  <a:cubicBezTo>
                    <a:pt x="28575" y="187211"/>
                    <a:pt x="41389" y="200025"/>
                    <a:pt x="57150" y="200025"/>
                  </a:cubicBezTo>
                  <a:lnTo>
                    <a:pt x="57150" y="217884"/>
                  </a:lnTo>
                  <a:cubicBezTo>
                    <a:pt x="57150" y="223824"/>
                    <a:pt x="61926" y="228600"/>
                    <a:pt x="67866" y="228600"/>
                  </a:cubicBezTo>
                  <a:cubicBezTo>
                    <a:pt x="73804" y="228600"/>
                    <a:pt x="78581" y="223824"/>
                    <a:pt x="78581" y="217884"/>
                  </a:cubicBezTo>
                  <a:lnTo>
                    <a:pt x="78581" y="200025"/>
                  </a:lnTo>
                  <a:lnTo>
                    <a:pt x="103584" y="200025"/>
                  </a:lnTo>
                  <a:lnTo>
                    <a:pt x="103584" y="217884"/>
                  </a:lnTo>
                  <a:cubicBezTo>
                    <a:pt x="103584" y="223824"/>
                    <a:pt x="108361" y="228600"/>
                    <a:pt x="114300" y="228600"/>
                  </a:cubicBezTo>
                  <a:cubicBezTo>
                    <a:pt x="120239" y="228600"/>
                    <a:pt x="125016" y="223824"/>
                    <a:pt x="125016" y="217884"/>
                  </a:cubicBezTo>
                  <a:lnTo>
                    <a:pt x="125016" y="200025"/>
                  </a:lnTo>
                  <a:lnTo>
                    <a:pt x="150019" y="200025"/>
                  </a:lnTo>
                  <a:lnTo>
                    <a:pt x="150019" y="217884"/>
                  </a:lnTo>
                  <a:cubicBezTo>
                    <a:pt x="150019" y="223824"/>
                    <a:pt x="154796" y="228600"/>
                    <a:pt x="160734" y="228600"/>
                  </a:cubicBezTo>
                  <a:cubicBezTo>
                    <a:pt x="166674" y="228600"/>
                    <a:pt x="171450" y="223824"/>
                    <a:pt x="171450" y="217884"/>
                  </a:cubicBezTo>
                  <a:lnTo>
                    <a:pt x="171450" y="200025"/>
                  </a:lnTo>
                  <a:cubicBezTo>
                    <a:pt x="187211" y="200025"/>
                    <a:pt x="200025" y="187211"/>
                    <a:pt x="200025" y="171450"/>
                  </a:cubicBezTo>
                  <a:lnTo>
                    <a:pt x="217884" y="171450"/>
                  </a:lnTo>
                  <a:cubicBezTo>
                    <a:pt x="223824" y="171450"/>
                    <a:pt x="228600" y="166674"/>
                    <a:pt x="228600" y="160734"/>
                  </a:cubicBezTo>
                  <a:cubicBezTo>
                    <a:pt x="228600" y="154796"/>
                    <a:pt x="223824" y="150019"/>
                    <a:pt x="217884" y="150019"/>
                  </a:cubicBezTo>
                  <a:lnTo>
                    <a:pt x="200025" y="150019"/>
                  </a:lnTo>
                  <a:lnTo>
                    <a:pt x="200025" y="125016"/>
                  </a:lnTo>
                  <a:lnTo>
                    <a:pt x="217884" y="125016"/>
                  </a:lnTo>
                  <a:cubicBezTo>
                    <a:pt x="223824" y="125016"/>
                    <a:pt x="228600" y="120239"/>
                    <a:pt x="228600" y="114300"/>
                  </a:cubicBezTo>
                  <a:cubicBezTo>
                    <a:pt x="228600" y="108361"/>
                    <a:pt x="223824" y="103584"/>
                    <a:pt x="217884" y="103584"/>
                  </a:cubicBezTo>
                  <a:lnTo>
                    <a:pt x="200025" y="103584"/>
                  </a:lnTo>
                  <a:lnTo>
                    <a:pt x="200025" y="78581"/>
                  </a:lnTo>
                  <a:lnTo>
                    <a:pt x="217884" y="78581"/>
                  </a:lnTo>
                  <a:cubicBezTo>
                    <a:pt x="223824" y="78581"/>
                    <a:pt x="228600" y="73804"/>
                    <a:pt x="228600" y="67866"/>
                  </a:cubicBezTo>
                  <a:cubicBezTo>
                    <a:pt x="228600" y="61926"/>
                    <a:pt x="223824" y="57150"/>
                    <a:pt x="217884" y="57150"/>
                  </a:cubicBezTo>
                  <a:lnTo>
                    <a:pt x="200025" y="57150"/>
                  </a:lnTo>
                  <a:cubicBezTo>
                    <a:pt x="200025" y="41389"/>
                    <a:pt x="187211" y="28575"/>
                    <a:pt x="171450" y="28575"/>
                  </a:cubicBezTo>
                  <a:lnTo>
                    <a:pt x="171450" y="10716"/>
                  </a:lnTo>
                  <a:cubicBezTo>
                    <a:pt x="171450" y="4776"/>
                    <a:pt x="166674" y="0"/>
                    <a:pt x="160734" y="0"/>
                  </a:cubicBezTo>
                  <a:cubicBezTo>
                    <a:pt x="154796" y="0"/>
                    <a:pt x="150019" y="4776"/>
                    <a:pt x="150019" y="10716"/>
                  </a:cubicBezTo>
                  <a:lnTo>
                    <a:pt x="150019" y="28575"/>
                  </a:lnTo>
                  <a:lnTo>
                    <a:pt x="125016" y="28575"/>
                  </a:lnTo>
                  <a:lnTo>
                    <a:pt x="125016" y="10716"/>
                  </a:lnTo>
                  <a:cubicBezTo>
                    <a:pt x="125016" y="4776"/>
                    <a:pt x="120239" y="0"/>
                    <a:pt x="114300" y="0"/>
                  </a:cubicBezTo>
                  <a:cubicBezTo>
                    <a:pt x="108361" y="0"/>
                    <a:pt x="103584" y="4776"/>
                    <a:pt x="103584" y="10716"/>
                  </a:cubicBezTo>
                  <a:lnTo>
                    <a:pt x="103584" y="28575"/>
                  </a:lnTo>
                  <a:lnTo>
                    <a:pt x="78581" y="28575"/>
                  </a:lnTo>
                  <a:lnTo>
                    <a:pt x="78581" y="10716"/>
                  </a:lnTo>
                  <a:close/>
                  <a:moveTo>
                    <a:pt x="71438" y="57150"/>
                  </a:moveTo>
                  <a:lnTo>
                    <a:pt x="157163" y="57150"/>
                  </a:lnTo>
                  <a:cubicBezTo>
                    <a:pt x="165064" y="57150"/>
                    <a:pt x="171450" y="63536"/>
                    <a:pt x="171450" y="71437"/>
                  </a:cubicBezTo>
                  <a:lnTo>
                    <a:pt x="171450" y="157162"/>
                  </a:lnTo>
                  <a:cubicBezTo>
                    <a:pt x="171450" y="165064"/>
                    <a:pt x="165064" y="171450"/>
                    <a:pt x="157163" y="171450"/>
                  </a:cubicBezTo>
                  <a:lnTo>
                    <a:pt x="71438" y="171450"/>
                  </a:lnTo>
                  <a:cubicBezTo>
                    <a:pt x="63536" y="171450"/>
                    <a:pt x="57150" y="165064"/>
                    <a:pt x="57150" y="157162"/>
                  </a:cubicBezTo>
                  <a:lnTo>
                    <a:pt x="57150" y="71437"/>
                  </a:lnTo>
                  <a:cubicBezTo>
                    <a:pt x="57150" y="63536"/>
                    <a:pt x="63536" y="57150"/>
                    <a:pt x="71438" y="57150"/>
                  </a:cubicBezTo>
                  <a:close/>
                  <a:moveTo>
                    <a:pt x="78581" y="78581"/>
                  </a:moveTo>
                  <a:lnTo>
                    <a:pt x="78581" y="150019"/>
                  </a:lnTo>
                  <a:lnTo>
                    <a:pt x="150019" y="150019"/>
                  </a:lnTo>
                  <a:lnTo>
                    <a:pt x="150019" y="78581"/>
                  </a:lnTo>
                  <a:lnTo>
                    <a:pt x="78581" y="78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180925" y="1714184"/>
              <a:ext cx="7524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CUDA</a:t>
              </a:r>
              <a:endParaRPr lang="en-US" sz="1100"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628484" y="2247519"/>
              <a:ext cx="5086255" cy="2533650"/>
            </a:xfrm>
            <a:custGeom>
              <a:avLst/>
              <a:gdLst/>
              <a:ahLst/>
              <a:cxnLst/>
              <a:rect r="r" b="b" t="t" l="l"/>
              <a:pathLst>
                <a:path h="2533650" w="5086255">
                  <a:moveTo>
                    <a:pt x="37910" y="0"/>
                  </a:moveTo>
                  <a:lnTo>
                    <a:pt x="5010043" y="0"/>
                  </a:lnTo>
                  <a:cubicBezTo>
                    <a:pt x="5052134" y="0"/>
                    <a:pt x="5086255" y="34121"/>
                    <a:pt x="5086255" y="76211"/>
                  </a:cubicBezTo>
                  <a:lnTo>
                    <a:pt x="5086255" y="2457439"/>
                  </a:lnTo>
                  <a:cubicBezTo>
                    <a:pt x="5086255" y="2499529"/>
                    <a:pt x="5052134" y="2533650"/>
                    <a:pt x="5010043" y="2533650"/>
                  </a:cubicBezTo>
                  <a:lnTo>
                    <a:pt x="37910" y="2533650"/>
                  </a:lnTo>
                  <a:cubicBezTo>
                    <a:pt x="16974" y="2533650"/>
                    <a:pt x="0" y="2516676"/>
                    <a:pt x="0" y="249574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28484" y="2247519"/>
              <a:ext cx="37909" cy="2533650"/>
            </a:xfrm>
            <a:custGeom>
              <a:avLst/>
              <a:gdLst/>
              <a:ahLst/>
              <a:cxnLst/>
              <a:rect r="r" b="b" t="t" l="l"/>
              <a:pathLst>
                <a:path h="253365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2533650"/>
                  </a:lnTo>
                  <a:lnTo>
                    <a:pt x="37910" y="2533650"/>
                  </a:lnTo>
                  <a:cubicBezTo>
                    <a:pt x="16974" y="2533650"/>
                    <a:pt x="0" y="2516676"/>
                    <a:pt x="0" y="249574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799822" y="2399909"/>
              <a:ext cx="4838700" cy="22288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666666"/>
                  </a:solidFill>
                  <a:latin typeface="MiSans"/>
                  <a:ea typeface="MiSans"/>
                  <a:cs typeface="MiSans"/>
                  <a:sym typeface="MiSans"/>
                </a:rPr>
                <a:t>// 计算全局线程索引</a:t>
              </a:r>
              <a:r>
                <a:rPr lang="en-US" b="true" i="false" strike="noStrike" u="none" sz="1200">
                  <a:solidFill>
                    <a:srgbClr val="0066CC"/>
                  </a:solidFill>
                  <a:latin typeface="MiSans"/>
                  <a:ea typeface="MiSans"/>
                  <a:cs typeface="MiSans"/>
                  <a:sym typeface="MiSans"/>
                </a:rPr>
                <a:t>int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idx = blockIdx.x * blockDim.x 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         + threadIdx.x;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666666"/>
                  </a:solidFill>
                  <a:latin typeface="MiSans"/>
                  <a:ea typeface="MiSans"/>
                  <a:cs typeface="MiSans"/>
                  <a:sym typeface="MiSans"/>
                </a:rPr>
                <a:t>// 边界检查</a:t>
              </a:r>
              <a:r>
                <a:rPr lang="en-US" b="true" i="false" strike="noStrike" u="none" sz="1200">
                  <a:solidFill>
                    <a:srgbClr val="0066CC"/>
                  </a:solidFill>
                  <a:latin typeface="MiSans"/>
                  <a:ea typeface="MiSans"/>
                  <a:cs typeface="MiSans"/>
                  <a:sym typeface="MiSans"/>
                </a:rPr>
                <a:t>if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(idx &lt; n_elements) {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   </a:t>
              </a:r>
              <a:r>
                <a:rPr lang="en-US" b="true" i="false" strike="noStrike" u="none" sz="1200">
                  <a:solidFill>
                    <a:srgbClr val="0066CC"/>
                  </a:solidFill>
                  <a:latin typeface="MiSans"/>
                  <a:ea typeface="MiSans"/>
                  <a:cs typeface="MiSans"/>
                  <a:sym typeface="MiSans"/>
                </a:rPr>
                <a:t>float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x = input[idx];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   output[idx] = x * </a:t>
              </a:r>
              <a:r>
                <a:rPr lang="en-US" b="false" i="false" strike="noStrike" u="none" sz="1200">
                  <a:solidFill>
                    <a:srgbClr val="009900"/>
                  </a:solidFill>
                  <a:latin typeface="MiSans"/>
                  <a:ea typeface="MiSans"/>
                  <a:cs typeface="MiSans"/>
                  <a:sym typeface="MiSans"/>
                </a:rPr>
                <a:t>2.0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;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}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609529" y="4933094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需要手动管理 thread、block、grid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609529" y="5237857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每个线程处理一个元素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09529" y="5542620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需要显式边界检查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257815" y="1418899"/>
            <a:ext cx="5543455" cy="4857655"/>
            <a:chOff x="6257815" y="1418899"/>
            <a:chExt cx="5543455" cy="4857655"/>
          </a:xfrm>
        </p:grpSpPr>
        <p:sp>
          <p:nvSpPr>
            <p:cNvPr name="Freeform 15" id="15"/>
            <p:cNvSpPr/>
            <p:nvPr/>
          </p:nvSpPr>
          <p:spPr>
            <a:xfrm rot="0" flipH="false" flipV="false">
              <a:off x="6257815" y="1418899"/>
              <a:ext cx="5543455" cy="4857655"/>
            </a:xfrm>
            <a:custGeom>
              <a:avLst/>
              <a:gdLst/>
              <a:ahLst/>
              <a:cxnLst/>
              <a:rect r="r" b="b" t="t" l="l"/>
              <a:pathLst>
                <a:path h="4857655" w="5543455">
                  <a:moveTo>
                    <a:pt x="114301" y="0"/>
                  </a:moveTo>
                  <a:lnTo>
                    <a:pt x="5429155" y="0"/>
                  </a:lnTo>
                  <a:cubicBezTo>
                    <a:pt x="5492281" y="0"/>
                    <a:pt x="5543455" y="51173"/>
                    <a:pt x="5543455" y="114301"/>
                  </a:cubicBezTo>
                  <a:lnTo>
                    <a:pt x="5543455" y="4743355"/>
                  </a:lnTo>
                  <a:cubicBezTo>
                    <a:pt x="5543455" y="4806481"/>
                    <a:pt x="5492281" y="4857655"/>
                    <a:pt x="5429155" y="4857655"/>
                  </a:cubicBezTo>
                  <a:lnTo>
                    <a:pt x="114301" y="4857655"/>
                  </a:lnTo>
                  <a:cubicBezTo>
                    <a:pt x="51173" y="4857655"/>
                    <a:pt x="0" y="4806481"/>
                    <a:pt x="0" y="4743355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495866" y="165695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76203" y="0"/>
                  </a:moveTo>
                  <a:lnTo>
                    <a:pt x="380997" y="0"/>
                  </a:lnTo>
                  <a:cubicBezTo>
                    <a:pt x="423055" y="0"/>
                    <a:pt x="457200" y="34145"/>
                    <a:pt x="457200" y="76203"/>
                  </a:cubicBezTo>
                  <a:lnTo>
                    <a:pt x="457200" y="380997"/>
                  </a:lnTo>
                  <a:cubicBezTo>
                    <a:pt x="457200" y="423055"/>
                    <a:pt x="423055" y="457200"/>
                    <a:pt x="380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6623190" y="1784776"/>
              <a:ext cx="202570" cy="202348"/>
            </a:xfrm>
            <a:custGeom>
              <a:avLst/>
              <a:gdLst/>
              <a:ahLst/>
              <a:cxnLst/>
              <a:rect r="r" b="b" t="t" l="l"/>
              <a:pathLst>
                <a:path h="202348" w="202570">
                  <a:moveTo>
                    <a:pt x="197571" y="75948"/>
                  </a:moveTo>
                  <a:cubicBezTo>
                    <a:pt x="194133" y="62152"/>
                    <a:pt x="187614" y="51749"/>
                    <a:pt x="173729" y="51749"/>
                  </a:cubicBezTo>
                  <a:lnTo>
                    <a:pt x="155824" y="51749"/>
                  </a:lnTo>
                  <a:lnTo>
                    <a:pt x="155824" y="72912"/>
                  </a:lnTo>
                  <a:cubicBezTo>
                    <a:pt x="155824" y="89342"/>
                    <a:pt x="141894" y="103184"/>
                    <a:pt x="125998" y="103184"/>
                  </a:cubicBezTo>
                  <a:lnTo>
                    <a:pt x="78315" y="103184"/>
                  </a:lnTo>
                  <a:cubicBezTo>
                    <a:pt x="65278" y="103184"/>
                    <a:pt x="54473" y="114346"/>
                    <a:pt x="54473" y="127428"/>
                  </a:cubicBezTo>
                  <a:lnTo>
                    <a:pt x="54473" y="172881"/>
                  </a:lnTo>
                  <a:cubicBezTo>
                    <a:pt x="54473" y="185828"/>
                    <a:pt x="65724" y="193418"/>
                    <a:pt x="78315" y="197124"/>
                  </a:cubicBezTo>
                  <a:cubicBezTo>
                    <a:pt x="93406" y="201544"/>
                    <a:pt x="107917" y="202348"/>
                    <a:pt x="125998" y="197124"/>
                  </a:cubicBezTo>
                  <a:cubicBezTo>
                    <a:pt x="138010" y="193641"/>
                    <a:pt x="149841" y="186632"/>
                    <a:pt x="149841" y="172881"/>
                  </a:cubicBezTo>
                  <a:lnTo>
                    <a:pt x="149841" y="154708"/>
                  </a:lnTo>
                  <a:lnTo>
                    <a:pt x="102202" y="154708"/>
                  </a:lnTo>
                  <a:lnTo>
                    <a:pt x="102202" y="148636"/>
                  </a:lnTo>
                  <a:lnTo>
                    <a:pt x="173729" y="148636"/>
                  </a:lnTo>
                  <a:cubicBezTo>
                    <a:pt x="187614" y="148636"/>
                    <a:pt x="192748" y="138947"/>
                    <a:pt x="197571" y="124436"/>
                  </a:cubicBezTo>
                  <a:cubicBezTo>
                    <a:pt x="202571" y="109480"/>
                    <a:pt x="202348" y="95102"/>
                    <a:pt x="197571" y="75948"/>
                  </a:cubicBezTo>
                  <a:close/>
                  <a:moveTo>
                    <a:pt x="128991" y="184980"/>
                  </a:moveTo>
                  <a:cubicBezTo>
                    <a:pt x="125593" y="185219"/>
                    <a:pt x="122346" y="183540"/>
                    <a:pt x="120574" y="180631"/>
                  </a:cubicBezTo>
                  <a:cubicBezTo>
                    <a:pt x="118801" y="177720"/>
                    <a:pt x="118801" y="174065"/>
                    <a:pt x="120574" y="171157"/>
                  </a:cubicBezTo>
                  <a:cubicBezTo>
                    <a:pt x="122346" y="168248"/>
                    <a:pt x="125593" y="166569"/>
                    <a:pt x="128991" y="166807"/>
                  </a:cubicBezTo>
                  <a:cubicBezTo>
                    <a:pt x="132389" y="166569"/>
                    <a:pt x="135637" y="168248"/>
                    <a:pt x="137408" y="171157"/>
                  </a:cubicBezTo>
                  <a:cubicBezTo>
                    <a:pt x="139179" y="174065"/>
                    <a:pt x="139179" y="177720"/>
                    <a:pt x="137408" y="180631"/>
                  </a:cubicBezTo>
                  <a:cubicBezTo>
                    <a:pt x="135637" y="183540"/>
                    <a:pt x="132389" y="185219"/>
                    <a:pt x="128991" y="184980"/>
                  </a:cubicBezTo>
                  <a:close/>
                  <a:moveTo>
                    <a:pt x="76127" y="97201"/>
                  </a:moveTo>
                  <a:lnTo>
                    <a:pt x="123812" y="97201"/>
                  </a:lnTo>
                  <a:cubicBezTo>
                    <a:pt x="137072" y="97201"/>
                    <a:pt x="147655" y="86261"/>
                    <a:pt x="147655" y="72957"/>
                  </a:cubicBezTo>
                  <a:lnTo>
                    <a:pt x="147655" y="27460"/>
                  </a:lnTo>
                  <a:cubicBezTo>
                    <a:pt x="147655" y="14512"/>
                    <a:pt x="136760" y="4823"/>
                    <a:pt x="123812" y="2634"/>
                  </a:cubicBezTo>
                  <a:cubicBezTo>
                    <a:pt x="107827" y="0"/>
                    <a:pt x="90459" y="135"/>
                    <a:pt x="76127" y="2680"/>
                  </a:cubicBezTo>
                  <a:cubicBezTo>
                    <a:pt x="55947" y="6251"/>
                    <a:pt x="52285" y="13708"/>
                    <a:pt x="52285" y="27505"/>
                  </a:cubicBezTo>
                  <a:lnTo>
                    <a:pt x="52285" y="45676"/>
                  </a:lnTo>
                  <a:lnTo>
                    <a:pt x="100014" y="45676"/>
                  </a:lnTo>
                  <a:lnTo>
                    <a:pt x="100014" y="51749"/>
                  </a:lnTo>
                  <a:lnTo>
                    <a:pt x="34381" y="51749"/>
                  </a:lnTo>
                  <a:cubicBezTo>
                    <a:pt x="20494" y="51749"/>
                    <a:pt x="8351" y="60098"/>
                    <a:pt x="4556" y="75948"/>
                  </a:cubicBezTo>
                  <a:cubicBezTo>
                    <a:pt x="180" y="94120"/>
                    <a:pt x="0" y="105461"/>
                    <a:pt x="4556" y="124436"/>
                  </a:cubicBezTo>
                  <a:cubicBezTo>
                    <a:pt x="7949" y="138545"/>
                    <a:pt x="16030" y="148636"/>
                    <a:pt x="29917" y="148636"/>
                  </a:cubicBezTo>
                  <a:lnTo>
                    <a:pt x="46302" y="148636"/>
                  </a:lnTo>
                  <a:lnTo>
                    <a:pt x="46302" y="126847"/>
                  </a:lnTo>
                  <a:cubicBezTo>
                    <a:pt x="46302" y="111086"/>
                    <a:pt x="59920" y="97201"/>
                    <a:pt x="76127" y="97201"/>
                  </a:cubicBezTo>
                  <a:close/>
                  <a:moveTo>
                    <a:pt x="73180" y="15315"/>
                  </a:moveTo>
                  <a:cubicBezTo>
                    <a:pt x="78207" y="15315"/>
                    <a:pt x="82289" y="19397"/>
                    <a:pt x="82289" y="24424"/>
                  </a:cubicBezTo>
                  <a:cubicBezTo>
                    <a:pt x="82289" y="29451"/>
                    <a:pt x="78207" y="33532"/>
                    <a:pt x="73180" y="33532"/>
                  </a:cubicBezTo>
                  <a:cubicBezTo>
                    <a:pt x="68153" y="33532"/>
                    <a:pt x="64072" y="29451"/>
                    <a:pt x="64072" y="24424"/>
                  </a:cubicBezTo>
                  <a:cubicBezTo>
                    <a:pt x="64072" y="19397"/>
                    <a:pt x="68153" y="15315"/>
                    <a:pt x="73180" y="1531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7067263" y="1733141"/>
              <a:ext cx="73342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Triton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6514822" y="2266476"/>
              <a:ext cx="5048155" cy="2781300"/>
            </a:xfrm>
            <a:custGeom>
              <a:avLst/>
              <a:gdLst/>
              <a:ahLst/>
              <a:cxnLst/>
              <a:rect r="r" b="b" t="t" l="l"/>
              <a:pathLst>
                <a:path h="2781300" w="5048155">
                  <a:moveTo>
                    <a:pt x="37909" y="0"/>
                  </a:moveTo>
                  <a:lnTo>
                    <a:pt x="4971948" y="0"/>
                  </a:lnTo>
                  <a:cubicBezTo>
                    <a:pt x="5014036" y="0"/>
                    <a:pt x="5048155" y="34119"/>
                    <a:pt x="5048155" y="76208"/>
                  </a:cubicBezTo>
                  <a:lnTo>
                    <a:pt x="5048155" y="2705092"/>
                  </a:lnTo>
                  <a:cubicBezTo>
                    <a:pt x="5048155" y="2747181"/>
                    <a:pt x="5014036" y="2781300"/>
                    <a:pt x="4971948" y="2781300"/>
                  </a:cubicBezTo>
                  <a:lnTo>
                    <a:pt x="37909" y="2781300"/>
                  </a:lnTo>
                  <a:cubicBezTo>
                    <a:pt x="16974" y="2781300"/>
                    <a:pt x="0" y="2764326"/>
                    <a:pt x="0" y="27433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514822" y="2266476"/>
              <a:ext cx="37910" cy="2781300"/>
            </a:xfrm>
            <a:custGeom>
              <a:avLst/>
              <a:gdLst/>
              <a:ahLst/>
              <a:cxnLst/>
              <a:rect r="r" b="b" t="t" l="l"/>
              <a:pathLst>
                <a:path h="2781300" w="37910">
                  <a:moveTo>
                    <a:pt x="37910" y="0"/>
                  </a:moveTo>
                  <a:lnTo>
                    <a:pt x="37910" y="0"/>
                  </a:lnTo>
                  <a:lnTo>
                    <a:pt x="37910" y="2781300"/>
                  </a:lnTo>
                  <a:lnTo>
                    <a:pt x="37910" y="2781300"/>
                  </a:lnTo>
                  <a:cubicBezTo>
                    <a:pt x="16974" y="2781300"/>
                    <a:pt x="0" y="2764326"/>
                    <a:pt x="0" y="27433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686159" y="2418857"/>
              <a:ext cx="4800600" cy="2476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666666"/>
                  </a:solidFill>
                  <a:latin typeface="MiSans"/>
                  <a:ea typeface="MiSans"/>
                  <a:cs typeface="MiSans"/>
                  <a:sym typeface="MiSans"/>
                </a:rPr>
                <a:t># 获取 program ID</a:t>
              </a:r>
              <a:endParaRPr lang="en-US" sz="1100"/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pid = tl.program_id(</a:t>
              </a:r>
              <a:r>
                <a:rPr lang="en-US" b="false" i="false" strike="noStrike" u="none" sz="1200">
                  <a:solidFill>
                    <a:srgbClr val="009900"/>
                  </a:solidFill>
                  <a:latin typeface="MiSans"/>
                  <a:ea typeface="MiSans"/>
                  <a:cs typeface="MiSans"/>
                  <a:sym typeface="MiSans"/>
                </a:rPr>
                <a:t>0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)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666666"/>
                  </a:solidFill>
                  <a:latin typeface="MiSans"/>
                  <a:ea typeface="MiSans"/>
                  <a:cs typeface="MiSans"/>
                  <a:sym typeface="MiSans"/>
                </a:rPr>
                <a:t># 计算偏移量（向量化）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offsets = pid * BLOCK_SIZE \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          + tl.arange(</a:t>
              </a:r>
              <a:r>
                <a:rPr lang="en-US" b="false" i="false" strike="noStrike" u="none" sz="1200">
                  <a:solidFill>
                    <a:srgbClr val="009900"/>
                  </a:solidFill>
                  <a:latin typeface="MiSans"/>
                  <a:ea typeface="MiSans"/>
                  <a:cs typeface="MiSans"/>
                  <a:sym typeface="MiSans"/>
                </a:rPr>
                <a:t>0</a:t>
              </a: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, BLOCK_SIZE)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666666"/>
                  </a:solidFill>
                  <a:latin typeface="MiSans"/>
                  <a:ea typeface="MiSans"/>
                  <a:cs typeface="MiSans"/>
                  <a:sym typeface="MiSans"/>
                </a:rPr>
                <a:t># 带 mask 的内存操作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mask = offsets &lt; n_elements</a:t>
              </a:r>
            </a:p>
            <a:p>
              <a:pPr algn="l" indent="0">
                <a:lnSpc>
                  <a:spcPct val="100000"/>
                </a:lnSpc>
              </a:pPr>
              <a:r>
                <a:rPr lang="en-US" b="false" i="false" strike="noStrike" u="none" sz="1200">
                  <a:solidFill>
                    <a:srgbClr val="1E2939"/>
                  </a:solidFill>
                  <a:latin typeface="MiSans"/>
                  <a:ea typeface="MiSans"/>
                  <a:cs typeface="MiSans"/>
                  <a:sym typeface="MiSans"/>
                </a:rPr>
                <a:t>x = tl.load(ptr + offsets, mask=mask)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495866" y="5199655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以 program 为单位，自动管理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6495866" y="5504418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向量化操作，一次处理多个元素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6495866" y="5809180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• mask 机制简化边界处理</a:t>
              </a:r>
              <a:endParaRPr lang="en-US" sz="1100"/>
            </a:p>
          </p:txBody>
        </p:sp>
      </p:grpSp>
      <p:sp>
        <p:nvSpPr>
          <p:cNvPr name="AutoShape 25" id="25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1373" y="61892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官方 Benchmark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638374"/>
            <a:ext cx="5562600" cy="2781300"/>
            <a:chOff x="380956" y="1638374"/>
            <a:chExt cx="5562600" cy="27813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638374"/>
              <a:ext cx="5562600" cy="2781300"/>
            </a:xfrm>
            <a:custGeom>
              <a:avLst/>
              <a:gdLst/>
              <a:ahLst/>
              <a:cxnLst/>
              <a:rect r="r" b="b" t="t" l="l"/>
              <a:pathLst>
                <a:path h="2781300" w="5562600">
                  <a:moveTo>
                    <a:pt x="114311" y="0"/>
                  </a:moveTo>
                  <a:lnTo>
                    <a:pt x="5448289" y="0"/>
                  </a:lnTo>
                  <a:cubicBezTo>
                    <a:pt x="5511422" y="0"/>
                    <a:pt x="5562600" y="51178"/>
                    <a:pt x="5562600" y="114311"/>
                  </a:cubicBezTo>
                  <a:lnTo>
                    <a:pt x="5562600" y="2666989"/>
                  </a:lnTo>
                  <a:cubicBezTo>
                    <a:pt x="5562600" y="2730122"/>
                    <a:pt x="5511422" y="2781300"/>
                    <a:pt x="5448289" y="2781300"/>
                  </a:cubicBezTo>
                  <a:lnTo>
                    <a:pt x="114311" y="2781300"/>
                  </a:lnTo>
                  <a:cubicBezTo>
                    <a:pt x="51178" y="2781300"/>
                    <a:pt x="0" y="2730122"/>
                    <a:pt x="0" y="2666989"/>
                  </a:cubicBezTo>
                  <a:lnTo>
                    <a:pt x="0" y="114311"/>
                  </a:lnTo>
                  <a:cubicBezTo>
                    <a:pt x="0" y="51178"/>
                    <a:pt x="51178" y="0"/>
                    <a:pt x="11431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609529" y="1866947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Triton 性能优势</a:t>
              </a:r>
              <a:endParaRPr lang="en-US" sz="1100"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631094" y="2335075"/>
              <a:ext cx="224626" cy="224626"/>
            </a:xfrm>
            <a:custGeom>
              <a:avLst/>
              <a:gdLst/>
              <a:ahLst/>
              <a:cxnLst/>
              <a:rect r="r" b="b" t="t" l="l"/>
              <a:pathLst>
                <a:path h="224626" w="224626">
                  <a:moveTo>
                    <a:pt x="64160" y="131891"/>
                  </a:moveTo>
                  <a:lnTo>
                    <a:pt x="17949" y="131891"/>
                  </a:lnTo>
                  <a:cubicBezTo>
                    <a:pt x="6831" y="131891"/>
                    <a:pt x="0" y="119790"/>
                    <a:pt x="5715" y="110237"/>
                  </a:cubicBezTo>
                  <a:lnTo>
                    <a:pt x="29334" y="70857"/>
                  </a:lnTo>
                  <a:cubicBezTo>
                    <a:pt x="33219" y="64383"/>
                    <a:pt x="40184" y="60453"/>
                    <a:pt x="47729" y="60453"/>
                  </a:cubicBezTo>
                  <a:lnTo>
                    <a:pt x="90145" y="60453"/>
                  </a:lnTo>
                  <a:cubicBezTo>
                    <a:pt x="124123" y="2902"/>
                    <a:pt x="174799" y="0"/>
                    <a:pt x="208687" y="4955"/>
                  </a:cubicBezTo>
                  <a:cubicBezTo>
                    <a:pt x="214402" y="5804"/>
                    <a:pt x="218868" y="10269"/>
                    <a:pt x="219672" y="15939"/>
                  </a:cubicBezTo>
                  <a:cubicBezTo>
                    <a:pt x="224626" y="49827"/>
                    <a:pt x="221724" y="100503"/>
                    <a:pt x="164172" y="134481"/>
                  </a:cubicBezTo>
                  <a:lnTo>
                    <a:pt x="164172" y="176897"/>
                  </a:lnTo>
                  <a:cubicBezTo>
                    <a:pt x="164172" y="184442"/>
                    <a:pt x="160243" y="191407"/>
                    <a:pt x="153769" y="195292"/>
                  </a:cubicBezTo>
                  <a:lnTo>
                    <a:pt x="114388" y="218911"/>
                  </a:lnTo>
                  <a:cubicBezTo>
                    <a:pt x="104879" y="224626"/>
                    <a:pt x="92735" y="217751"/>
                    <a:pt x="92735" y="206677"/>
                  </a:cubicBezTo>
                  <a:lnTo>
                    <a:pt x="92735" y="160466"/>
                  </a:lnTo>
                  <a:cubicBezTo>
                    <a:pt x="92735" y="144705"/>
                    <a:pt x="79921" y="131891"/>
                    <a:pt x="64160" y="131891"/>
                  </a:cubicBezTo>
                  <a:lnTo>
                    <a:pt x="64116" y="131891"/>
                  </a:lnTo>
                  <a:close/>
                  <a:moveTo>
                    <a:pt x="185604" y="60453"/>
                  </a:moveTo>
                  <a:cubicBezTo>
                    <a:pt x="185604" y="48625"/>
                    <a:pt x="176001" y="39022"/>
                    <a:pt x="164172" y="39022"/>
                  </a:cubicBezTo>
                  <a:cubicBezTo>
                    <a:pt x="152344" y="39022"/>
                    <a:pt x="142741" y="48625"/>
                    <a:pt x="142741" y="60453"/>
                  </a:cubicBezTo>
                  <a:cubicBezTo>
                    <a:pt x="142741" y="72282"/>
                    <a:pt x="152344" y="81885"/>
                    <a:pt x="164172" y="81885"/>
                  </a:cubicBezTo>
                  <a:cubicBezTo>
                    <a:pt x="176001" y="81885"/>
                    <a:pt x="185604" y="72282"/>
                    <a:pt x="185604" y="6045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009514" y="2286037"/>
              <a:ext cx="28860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接近 CUDA 性能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009514" y="2590800"/>
              <a:ext cx="2876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通过自动优化达到手写 CUDA 的性能水平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622432" y="3008164"/>
              <a:ext cx="259988" cy="231905"/>
            </a:xfrm>
            <a:custGeom>
              <a:avLst/>
              <a:gdLst/>
              <a:ahLst/>
              <a:cxnLst/>
              <a:rect r="r" b="b" t="t" l="l"/>
              <a:pathLst>
                <a:path h="231905" w="259988">
                  <a:moveTo>
                    <a:pt x="162476" y="2188"/>
                  </a:moveTo>
                  <a:cubicBezTo>
                    <a:pt x="154885" y="0"/>
                    <a:pt x="146983" y="4421"/>
                    <a:pt x="144795" y="12010"/>
                  </a:cubicBezTo>
                  <a:lnTo>
                    <a:pt x="87645" y="212035"/>
                  </a:lnTo>
                  <a:cubicBezTo>
                    <a:pt x="85457" y="219626"/>
                    <a:pt x="89878" y="227528"/>
                    <a:pt x="97467" y="229716"/>
                  </a:cubicBezTo>
                  <a:cubicBezTo>
                    <a:pt x="105058" y="231904"/>
                    <a:pt x="112960" y="227483"/>
                    <a:pt x="115148" y="219894"/>
                  </a:cubicBezTo>
                  <a:lnTo>
                    <a:pt x="172298" y="19869"/>
                  </a:lnTo>
                  <a:cubicBezTo>
                    <a:pt x="174486" y="12278"/>
                    <a:pt x="170065" y="4376"/>
                    <a:pt x="162476" y="2188"/>
                  </a:cubicBezTo>
                  <a:close/>
                  <a:moveTo>
                    <a:pt x="191318" y="62954"/>
                  </a:moveTo>
                  <a:cubicBezTo>
                    <a:pt x="185737" y="68535"/>
                    <a:pt x="185737" y="77599"/>
                    <a:pt x="191318" y="83180"/>
                  </a:cubicBezTo>
                  <a:lnTo>
                    <a:pt x="224090" y="115952"/>
                  </a:lnTo>
                  <a:lnTo>
                    <a:pt x="191318" y="148724"/>
                  </a:lnTo>
                  <a:cubicBezTo>
                    <a:pt x="185737" y="154305"/>
                    <a:pt x="185737" y="163369"/>
                    <a:pt x="191318" y="168950"/>
                  </a:cubicBezTo>
                  <a:cubicBezTo>
                    <a:pt x="196900" y="174531"/>
                    <a:pt x="205963" y="174531"/>
                    <a:pt x="211544" y="168950"/>
                  </a:cubicBezTo>
                  <a:lnTo>
                    <a:pt x="254407" y="126087"/>
                  </a:lnTo>
                  <a:cubicBezTo>
                    <a:pt x="259988" y="120506"/>
                    <a:pt x="259988" y="111444"/>
                    <a:pt x="254407" y="105861"/>
                  </a:cubicBezTo>
                  <a:lnTo>
                    <a:pt x="211544" y="62999"/>
                  </a:lnTo>
                  <a:cubicBezTo>
                    <a:pt x="205963" y="57418"/>
                    <a:pt x="196900" y="57418"/>
                    <a:pt x="191318" y="62999"/>
                  </a:cubicBezTo>
                  <a:close/>
                  <a:moveTo>
                    <a:pt x="68669" y="62954"/>
                  </a:moveTo>
                  <a:cubicBezTo>
                    <a:pt x="63088" y="57373"/>
                    <a:pt x="54026" y="57373"/>
                    <a:pt x="48443" y="62954"/>
                  </a:cubicBezTo>
                  <a:lnTo>
                    <a:pt x="5581" y="105817"/>
                  </a:lnTo>
                  <a:cubicBezTo>
                    <a:pt x="0" y="111398"/>
                    <a:pt x="0" y="120460"/>
                    <a:pt x="5581" y="126043"/>
                  </a:cubicBezTo>
                  <a:lnTo>
                    <a:pt x="48443" y="168905"/>
                  </a:lnTo>
                  <a:cubicBezTo>
                    <a:pt x="54026" y="174486"/>
                    <a:pt x="63088" y="174486"/>
                    <a:pt x="68669" y="168905"/>
                  </a:cubicBezTo>
                  <a:cubicBezTo>
                    <a:pt x="74250" y="163324"/>
                    <a:pt x="74250" y="154260"/>
                    <a:pt x="68669" y="148679"/>
                  </a:cubicBezTo>
                  <a:lnTo>
                    <a:pt x="35898" y="115952"/>
                  </a:lnTo>
                  <a:lnTo>
                    <a:pt x="68625" y="83180"/>
                  </a:lnTo>
                  <a:cubicBezTo>
                    <a:pt x="74206" y="77599"/>
                    <a:pt x="74206" y="68535"/>
                    <a:pt x="68625" y="629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1009514" y="2971753"/>
              <a:ext cx="2600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开发效率高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1009514" y="3276516"/>
              <a:ext cx="2590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Python 语法简洁，开发成本大幅降低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16539" y="3673789"/>
              <a:ext cx="272132" cy="272132"/>
            </a:xfrm>
            <a:custGeom>
              <a:avLst/>
              <a:gdLst/>
              <a:ahLst/>
              <a:cxnLst/>
              <a:rect r="r" b="b" t="t" l="l"/>
              <a:pathLst>
                <a:path h="272132" w="272132">
                  <a:moveTo>
                    <a:pt x="178683" y="115729"/>
                  </a:moveTo>
                  <a:cubicBezTo>
                    <a:pt x="184130" y="114256"/>
                    <a:pt x="189845" y="116845"/>
                    <a:pt x="192301" y="121890"/>
                  </a:cubicBezTo>
                  <a:lnTo>
                    <a:pt x="200605" y="138678"/>
                  </a:lnTo>
                  <a:cubicBezTo>
                    <a:pt x="205204" y="139303"/>
                    <a:pt x="209714" y="140553"/>
                    <a:pt x="213955" y="142295"/>
                  </a:cubicBezTo>
                  <a:lnTo>
                    <a:pt x="229582" y="131892"/>
                  </a:lnTo>
                  <a:cubicBezTo>
                    <a:pt x="234270" y="128766"/>
                    <a:pt x="240476" y="129390"/>
                    <a:pt x="244450" y="133366"/>
                  </a:cubicBezTo>
                  <a:lnTo>
                    <a:pt x="253023" y="141938"/>
                  </a:lnTo>
                  <a:cubicBezTo>
                    <a:pt x="256996" y="145911"/>
                    <a:pt x="257621" y="152162"/>
                    <a:pt x="254496" y="156806"/>
                  </a:cubicBezTo>
                  <a:lnTo>
                    <a:pt x="244093" y="172388"/>
                  </a:lnTo>
                  <a:cubicBezTo>
                    <a:pt x="244941" y="174486"/>
                    <a:pt x="245700" y="176674"/>
                    <a:pt x="246325" y="178951"/>
                  </a:cubicBezTo>
                  <a:cubicBezTo>
                    <a:pt x="246951" y="181228"/>
                    <a:pt x="247352" y="183461"/>
                    <a:pt x="247664" y="185738"/>
                  </a:cubicBezTo>
                  <a:lnTo>
                    <a:pt x="264497" y="194042"/>
                  </a:lnTo>
                  <a:cubicBezTo>
                    <a:pt x="269541" y="196543"/>
                    <a:pt x="272132" y="202258"/>
                    <a:pt x="270659" y="207661"/>
                  </a:cubicBezTo>
                  <a:lnTo>
                    <a:pt x="267534" y="219359"/>
                  </a:lnTo>
                  <a:cubicBezTo>
                    <a:pt x="266060" y="224760"/>
                    <a:pt x="261015" y="228423"/>
                    <a:pt x="255389" y="228064"/>
                  </a:cubicBezTo>
                  <a:lnTo>
                    <a:pt x="236637" y="226859"/>
                  </a:lnTo>
                  <a:cubicBezTo>
                    <a:pt x="233824" y="230475"/>
                    <a:pt x="230564" y="233824"/>
                    <a:pt x="226859" y="236683"/>
                  </a:cubicBezTo>
                  <a:lnTo>
                    <a:pt x="228064" y="255388"/>
                  </a:lnTo>
                  <a:cubicBezTo>
                    <a:pt x="228421" y="261015"/>
                    <a:pt x="224760" y="266105"/>
                    <a:pt x="219359" y="267533"/>
                  </a:cubicBezTo>
                  <a:lnTo>
                    <a:pt x="207659" y="270659"/>
                  </a:lnTo>
                  <a:cubicBezTo>
                    <a:pt x="202214" y="272132"/>
                    <a:pt x="196542" y="269543"/>
                    <a:pt x="194042" y="264498"/>
                  </a:cubicBezTo>
                  <a:lnTo>
                    <a:pt x="185737" y="247710"/>
                  </a:lnTo>
                  <a:cubicBezTo>
                    <a:pt x="181139" y="247085"/>
                    <a:pt x="176629" y="245835"/>
                    <a:pt x="172386" y="244093"/>
                  </a:cubicBezTo>
                  <a:lnTo>
                    <a:pt x="156760" y="254496"/>
                  </a:lnTo>
                  <a:cubicBezTo>
                    <a:pt x="152071" y="257622"/>
                    <a:pt x="145866" y="256998"/>
                    <a:pt x="141892" y="253022"/>
                  </a:cubicBezTo>
                  <a:lnTo>
                    <a:pt x="133320" y="244450"/>
                  </a:lnTo>
                  <a:cubicBezTo>
                    <a:pt x="129346" y="240477"/>
                    <a:pt x="128721" y="234271"/>
                    <a:pt x="131847" y="229582"/>
                  </a:cubicBezTo>
                  <a:lnTo>
                    <a:pt x="142251" y="213956"/>
                  </a:lnTo>
                  <a:cubicBezTo>
                    <a:pt x="141401" y="211857"/>
                    <a:pt x="140641" y="209668"/>
                    <a:pt x="140017" y="207393"/>
                  </a:cubicBezTo>
                  <a:cubicBezTo>
                    <a:pt x="139392" y="205115"/>
                    <a:pt x="138990" y="202838"/>
                    <a:pt x="138678" y="200606"/>
                  </a:cubicBezTo>
                  <a:lnTo>
                    <a:pt x="121845" y="192301"/>
                  </a:lnTo>
                  <a:cubicBezTo>
                    <a:pt x="116800" y="189801"/>
                    <a:pt x="114255" y="184086"/>
                    <a:pt x="115683" y="178683"/>
                  </a:cubicBezTo>
                  <a:lnTo>
                    <a:pt x="118809" y="166985"/>
                  </a:lnTo>
                  <a:cubicBezTo>
                    <a:pt x="120283" y="161582"/>
                    <a:pt x="125328" y="157922"/>
                    <a:pt x="130954" y="158279"/>
                  </a:cubicBezTo>
                  <a:lnTo>
                    <a:pt x="149661" y="159484"/>
                  </a:lnTo>
                  <a:cubicBezTo>
                    <a:pt x="152474" y="155867"/>
                    <a:pt x="155734" y="152518"/>
                    <a:pt x="159439" y="149662"/>
                  </a:cubicBezTo>
                  <a:lnTo>
                    <a:pt x="158234" y="131000"/>
                  </a:lnTo>
                  <a:cubicBezTo>
                    <a:pt x="157877" y="125373"/>
                    <a:pt x="161538" y="120283"/>
                    <a:pt x="166941" y="118855"/>
                  </a:cubicBezTo>
                  <a:lnTo>
                    <a:pt x="178639" y="115729"/>
                  </a:lnTo>
                  <a:close/>
                  <a:moveTo>
                    <a:pt x="193194" y="173548"/>
                  </a:moveTo>
                  <a:cubicBezTo>
                    <a:pt x="182351" y="173561"/>
                    <a:pt x="173559" y="182374"/>
                    <a:pt x="173571" y="193216"/>
                  </a:cubicBezTo>
                  <a:cubicBezTo>
                    <a:pt x="173583" y="204059"/>
                    <a:pt x="182397" y="212852"/>
                    <a:pt x="193239" y="212840"/>
                  </a:cubicBezTo>
                  <a:cubicBezTo>
                    <a:pt x="204081" y="212827"/>
                    <a:pt x="212874" y="204014"/>
                    <a:pt x="212861" y="193172"/>
                  </a:cubicBezTo>
                  <a:cubicBezTo>
                    <a:pt x="212849" y="182329"/>
                    <a:pt x="204036" y="173536"/>
                    <a:pt x="193194" y="173548"/>
                  </a:cubicBezTo>
                  <a:close/>
                  <a:moveTo>
                    <a:pt x="93404" y="1429"/>
                  </a:moveTo>
                  <a:lnTo>
                    <a:pt x="105102" y="4555"/>
                  </a:lnTo>
                  <a:cubicBezTo>
                    <a:pt x="110504" y="6028"/>
                    <a:pt x="114166" y="11118"/>
                    <a:pt x="113809" y="16700"/>
                  </a:cubicBezTo>
                  <a:lnTo>
                    <a:pt x="112602" y="35362"/>
                  </a:lnTo>
                  <a:cubicBezTo>
                    <a:pt x="116310" y="38218"/>
                    <a:pt x="119568" y="41523"/>
                    <a:pt x="122381" y="45184"/>
                  </a:cubicBezTo>
                  <a:lnTo>
                    <a:pt x="141134" y="43979"/>
                  </a:lnTo>
                  <a:cubicBezTo>
                    <a:pt x="146715" y="43622"/>
                    <a:pt x="151803" y="47282"/>
                    <a:pt x="153278" y="52685"/>
                  </a:cubicBezTo>
                  <a:lnTo>
                    <a:pt x="156403" y="64383"/>
                  </a:lnTo>
                  <a:cubicBezTo>
                    <a:pt x="157832" y="69786"/>
                    <a:pt x="155287" y="75501"/>
                    <a:pt x="150241" y="78001"/>
                  </a:cubicBezTo>
                  <a:lnTo>
                    <a:pt x="133409" y="86306"/>
                  </a:lnTo>
                  <a:cubicBezTo>
                    <a:pt x="133096" y="88583"/>
                    <a:pt x="132651" y="90860"/>
                    <a:pt x="132070" y="93093"/>
                  </a:cubicBezTo>
                  <a:cubicBezTo>
                    <a:pt x="131489" y="95325"/>
                    <a:pt x="130686" y="97557"/>
                    <a:pt x="129838" y="99656"/>
                  </a:cubicBezTo>
                  <a:lnTo>
                    <a:pt x="140241" y="115282"/>
                  </a:lnTo>
                  <a:cubicBezTo>
                    <a:pt x="143366" y="119971"/>
                    <a:pt x="142741" y="126177"/>
                    <a:pt x="138767" y="130150"/>
                  </a:cubicBezTo>
                  <a:lnTo>
                    <a:pt x="130194" y="138722"/>
                  </a:lnTo>
                  <a:cubicBezTo>
                    <a:pt x="126221" y="142698"/>
                    <a:pt x="120015" y="143322"/>
                    <a:pt x="115327" y="140196"/>
                  </a:cubicBezTo>
                  <a:lnTo>
                    <a:pt x="99700" y="129793"/>
                  </a:lnTo>
                  <a:cubicBezTo>
                    <a:pt x="95457" y="131535"/>
                    <a:pt x="90949" y="132785"/>
                    <a:pt x="86350" y="133410"/>
                  </a:cubicBezTo>
                  <a:lnTo>
                    <a:pt x="78044" y="150198"/>
                  </a:lnTo>
                  <a:cubicBezTo>
                    <a:pt x="75545" y="155243"/>
                    <a:pt x="69830" y="157788"/>
                    <a:pt x="64427" y="156359"/>
                  </a:cubicBezTo>
                  <a:lnTo>
                    <a:pt x="52730" y="153233"/>
                  </a:lnTo>
                  <a:cubicBezTo>
                    <a:pt x="47283" y="151760"/>
                    <a:pt x="43666" y="146670"/>
                    <a:pt x="44022" y="141088"/>
                  </a:cubicBezTo>
                  <a:lnTo>
                    <a:pt x="45229" y="122383"/>
                  </a:lnTo>
                  <a:cubicBezTo>
                    <a:pt x="41523" y="119524"/>
                    <a:pt x="38264" y="116221"/>
                    <a:pt x="35451" y="112559"/>
                  </a:cubicBezTo>
                  <a:lnTo>
                    <a:pt x="16698" y="113764"/>
                  </a:lnTo>
                  <a:cubicBezTo>
                    <a:pt x="11117" y="114123"/>
                    <a:pt x="6027" y="110460"/>
                    <a:pt x="4555" y="105059"/>
                  </a:cubicBezTo>
                  <a:lnTo>
                    <a:pt x="1429" y="93361"/>
                  </a:lnTo>
                  <a:cubicBezTo>
                    <a:pt x="0" y="87958"/>
                    <a:pt x="2545" y="82243"/>
                    <a:pt x="7590" y="79742"/>
                  </a:cubicBezTo>
                  <a:lnTo>
                    <a:pt x="24423" y="71438"/>
                  </a:lnTo>
                  <a:cubicBezTo>
                    <a:pt x="24735" y="69161"/>
                    <a:pt x="25182" y="66928"/>
                    <a:pt x="25762" y="64651"/>
                  </a:cubicBezTo>
                  <a:cubicBezTo>
                    <a:pt x="26387" y="62374"/>
                    <a:pt x="27101" y="60186"/>
                    <a:pt x="27994" y="58088"/>
                  </a:cubicBezTo>
                  <a:lnTo>
                    <a:pt x="17591" y="42506"/>
                  </a:lnTo>
                  <a:cubicBezTo>
                    <a:pt x="14466" y="37817"/>
                    <a:pt x="15091" y="31611"/>
                    <a:pt x="19064" y="27638"/>
                  </a:cubicBezTo>
                  <a:lnTo>
                    <a:pt x="27637" y="19066"/>
                  </a:lnTo>
                  <a:cubicBezTo>
                    <a:pt x="31611" y="15090"/>
                    <a:pt x="37817" y="14466"/>
                    <a:pt x="42505" y="17592"/>
                  </a:cubicBezTo>
                  <a:lnTo>
                    <a:pt x="58132" y="27995"/>
                  </a:lnTo>
                  <a:cubicBezTo>
                    <a:pt x="62374" y="26253"/>
                    <a:pt x="66882" y="25003"/>
                    <a:pt x="71482" y="24378"/>
                  </a:cubicBezTo>
                  <a:lnTo>
                    <a:pt x="79787" y="7590"/>
                  </a:lnTo>
                  <a:cubicBezTo>
                    <a:pt x="82288" y="2545"/>
                    <a:pt x="87957" y="0"/>
                    <a:pt x="93404" y="1429"/>
                  </a:cubicBezTo>
                  <a:close/>
                  <a:moveTo>
                    <a:pt x="78894" y="59248"/>
                  </a:moveTo>
                  <a:cubicBezTo>
                    <a:pt x="68051" y="59248"/>
                    <a:pt x="59248" y="68051"/>
                    <a:pt x="59248" y="78894"/>
                  </a:cubicBezTo>
                  <a:cubicBezTo>
                    <a:pt x="59248" y="89737"/>
                    <a:pt x="68051" y="98540"/>
                    <a:pt x="78894" y="98540"/>
                  </a:cubicBezTo>
                  <a:cubicBezTo>
                    <a:pt x="89736" y="98540"/>
                    <a:pt x="98538" y="89737"/>
                    <a:pt x="98538" y="78894"/>
                  </a:cubicBezTo>
                  <a:cubicBezTo>
                    <a:pt x="98538" y="68051"/>
                    <a:pt x="89736" y="59248"/>
                    <a:pt x="78894" y="59248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009514" y="3657470"/>
              <a:ext cx="2828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自动优化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009514" y="3962242"/>
              <a:ext cx="2819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编译器自动进行内存访问优化、向量化等</a:t>
              </a:r>
              <a:endParaRPr lang="en-US" sz="1100"/>
            </a:p>
          </p:txBody>
        </p:sp>
      </p:grpSp>
      <p:sp>
        <p:nvSpPr>
          <p:cNvPr name="Freeform 15" id="15"/>
          <p:cNvSpPr/>
          <p:nvPr/>
        </p:nvSpPr>
        <p:spPr>
          <a:xfrm rot="0" flipH="false" flipV="false">
            <a:off x="6248338" y="1638374"/>
            <a:ext cx="5562600" cy="2781300"/>
          </a:xfrm>
          <a:custGeom>
            <a:avLst/>
            <a:gdLst/>
            <a:ahLst/>
            <a:cxnLst/>
            <a:rect r="r" b="b" t="t" l="l"/>
            <a:pathLst>
              <a:path h="2781300" w="5562600">
                <a:moveTo>
                  <a:pt x="114311" y="0"/>
                </a:moveTo>
                <a:lnTo>
                  <a:pt x="5448289" y="0"/>
                </a:lnTo>
                <a:cubicBezTo>
                  <a:pt x="5511422" y="0"/>
                  <a:pt x="5562600" y="51178"/>
                  <a:pt x="5562600" y="114311"/>
                </a:cubicBezTo>
                <a:lnTo>
                  <a:pt x="5562600" y="2666989"/>
                </a:lnTo>
                <a:cubicBezTo>
                  <a:pt x="5562600" y="2730122"/>
                  <a:pt x="5511422" y="2781300"/>
                  <a:pt x="5448289" y="2781300"/>
                </a:cubicBezTo>
                <a:lnTo>
                  <a:pt x="114311" y="2781300"/>
                </a:lnTo>
                <a:cubicBezTo>
                  <a:pt x="51178" y="2781300"/>
                  <a:pt x="0" y="2730122"/>
                  <a:pt x="0" y="2666989"/>
                </a:cubicBezTo>
                <a:lnTo>
                  <a:pt x="0" y="114311"/>
                </a:lnTo>
                <a:cubicBezTo>
                  <a:pt x="0" y="51178"/>
                  <a:pt x="51178" y="0"/>
                  <a:pt x="11431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grpSp>
        <p:nvGrpSpPr>
          <p:cNvPr name="Group 16" id="16"/>
          <p:cNvGrpSpPr/>
          <p:nvPr/>
        </p:nvGrpSpPr>
        <p:grpSpPr>
          <a:xfrm>
            <a:off x="6429286" y="1924106"/>
            <a:ext cx="5231906" cy="2209493"/>
            <a:chOff x="6429286" y="1924106"/>
            <a:chExt cx="5231906" cy="2209493"/>
          </a:xfrm>
        </p:grpSpPr>
        <p:sp>
          <p:nvSpPr>
            <p:cNvPr name="AutoShape 17" id="17"/>
            <p:cNvSpPr/>
            <p:nvPr/>
          </p:nvSpPr>
          <p:spPr>
            <a:xfrm rot="0" flipH="false" flipV="false">
              <a:off x="6429286" y="1924106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01828"/>
                  </a:solidFill>
                  <a:latin typeface="MiSans"/>
                  <a:ea typeface="MiSans"/>
                  <a:cs typeface="MiSans"/>
                  <a:sym typeface="MiSans"/>
                </a:rPr>
                <a:t>性能对比示意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476911" y="2343197"/>
              <a:ext cx="5048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CUDA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1206461" y="2343197"/>
              <a:ext cx="4476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100%</a:t>
              </a:r>
              <a:endParaRPr lang="en-US" sz="1100"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476911" y="2609831"/>
              <a:ext cx="5105400" cy="228600"/>
            </a:xfrm>
            <a:custGeom>
              <a:avLst/>
              <a:gdLst/>
              <a:ahLst/>
              <a:cxnLst/>
              <a:rect r="r" b="b" t="t" l="l"/>
              <a:pathLst>
                <a:path h="228600" w="51054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6476911" y="2609831"/>
              <a:ext cx="5105400" cy="228600"/>
            </a:xfrm>
            <a:custGeom>
              <a:avLst/>
              <a:gdLst/>
              <a:ahLst/>
              <a:cxnLst/>
              <a:rect r="r" b="b" t="t" l="l"/>
              <a:pathLst>
                <a:path h="228600" w="51054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4A556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476911" y="2990785"/>
              <a:ext cx="4857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Triton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0956342" y="2990785"/>
              <a:ext cx="7048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95-100%</a:t>
              </a:r>
              <a:endParaRPr lang="en-US" sz="1100"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6476911" y="3257410"/>
              <a:ext cx="5105400" cy="228600"/>
            </a:xfrm>
            <a:custGeom>
              <a:avLst/>
              <a:gdLst/>
              <a:ahLst/>
              <a:cxnLst/>
              <a:rect r="r" b="b" t="t" l="l"/>
              <a:pathLst>
                <a:path h="228600" w="51054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5" id="25"/>
            <p:cNvSpPr/>
            <p:nvPr/>
          </p:nvSpPr>
          <p:spPr>
            <a:xfrm rot="0" flipH="false" flipV="false">
              <a:off x="6476911" y="3257410"/>
              <a:ext cx="4848225" cy="228600"/>
            </a:xfrm>
            <a:custGeom>
              <a:avLst/>
              <a:gdLst/>
              <a:ahLst/>
              <a:cxnLst/>
              <a:rect r="r" b="b" t="t" l="l"/>
              <a:pathLst>
                <a:path h="228600" w="4848225">
                  <a:moveTo>
                    <a:pt x="114300" y="0"/>
                  </a:moveTo>
                  <a:lnTo>
                    <a:pt x="4733925" y="0"/>
                  </a:lnTo>
                  <a:cubicBezTo>
                    <a:pt x="4797008" y="0"/>
                    <a:pt x="4848225" y="51217"/>
                    <a:pt x="4848225" y="114300"/>
                  </a:cubicBezTo>
                  <a:lnTo>
                    <a:pt x="4848225" y="114300"/>
                  </a:lnTo>
                  <a:cubicBezTo>
                    <a:pt x="4848225" y="177383"/>
                    <a:pt x="4797008" y="228600"/>
                    <a:pt x="4733925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476911" y="3638373"/>
              <a:ext cx="1636088" cy="2094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364153"/>
                  </a:solidFill>
                  <a:latin typeface="MiSans"/>
                  <a:ea typeface="MiSans"/>
                  <a:cs typeface="MiSans"/>
                  <a:sym typeface="MiSans"/>
                </a:rPr>
                <a:t>PyTorch (eager)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1011356" y="3638373"/>
              <a:ext cx="6477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60-80%</a:t>
              </a:r>
              <a:endParaRPr lang="en-US" sz="1100"/>
            </a:p>
          </p:txBody>
        </p:sp>
        <p:sp>
          <p:nvSpPr>
            <p:cNvPr name="Freeform 28" id="28"/>
            <p:cNvSpPr/>
            <p:nvPr/>
          </p:nvSpPr>
          <p:spPr>
            <a:xfrm rot="0" flipH="false" flipV="false">
              <a:off x="6476911" y="3904999"/>
              <a:ext cx="5105400" cy="228600"/>
            </a:xfrm>
            <a:custGeom>
              <a:avLst/>
              <a:gdLst/>
              <a:ahLst/>
              <a:cxnLst/>
              <a:rect r="r" b="b" t="t" l="l"/>
              <a:pathLst>
                <a:path h="228600" w="51054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6476911" y="3904999"/>
              <a:ext cx="3571875" cy="228600"/>
            </a:xfrm>
            <a:custGeom>
              <a:avLst/>
              <a:gdLst/>
              <a:ahLst/>
              <a:cxnLst/>
              <a:rect r="r" b="b" t="t" l="l"/>
              <a:pathLst>
                <a:path h="228600" w="3571875">
                  <a:moveTo>
                    <a:pt x="114300" y="0"/>
                  </a:moveTo>
                  <a:lnTo>
                    <a:pt x="3457575" y="0"/>
                  </a:lnTo>
                  <a:cubicBezTo>
                    <a:pt x="3520658" y="0"/>
                    <a:pt x="3571875" y="51217"/>
                    <a:pt x="3571875" y="114300"/>
                  </a:cubicBezTo>
                  <a:lnTo>
                    <a:pt x="3571875" y="114300"/>
                  </a:lnTo>
                  <a:cubicBezTo>
                    <a:pt x="3571875" y="177383"/>
                    <a:pt x="3520658" y="228600"/>
                    <a:pt x="3457575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name="Freeform 30" id="30"/>
          <p:cNvSpPr/>
          <p:nvPr/>
        </p:nvSpPr>
        <p:spPr>
          <a:xfrm rot="0" flipH="false" flipV="false">
            <a:off x="399911" y="4647958"/>
            <a:ext cx="11410855" cy="1295400"/>
          </a:xfrm>
          <a:custGeom>
            <a:avLst/>
            <a:gdLst/>
            <a:ahLst/>
            <a:cxnLst/>
            <a:rect r="r" b="b" t="t" l="l"/>
            <a:pathLst>
              <a:path h="1295400" w="11410855">
                <a:moveTo>
                  <a:pt x="37909" y="0"/>
                </a:moveTo>
                <a:lnTo>
                  <a:pt x="11296548" y="0"/>
                </a:lnTo>
                <a:cubicBezTo>
                  <a:pt x="11359679" y="0"/>
                  <a:pt x="11410855" y="51177"/>
                  <a:pt x="11410855" y="114306"/>
                </a:cubicBezTo>
                <a:lnTo>
                  <a:pt x="11410855" y="1181094"/>
                </a:lnTo>
                <a:cubicBezTo>
                  <a:pt x="11410855" y="1244223"/>
                  <a:pt x="11359679" y="1295400"/>
                  <a:pt x="11296548" y="1295400"/>
                </a:cubicBezTo>
                <a:lnTo>
                  <a:pt x="37909" y="1295400"/>
                </a:lnTo>
                <a:cubicBezTo>
                  <a:pt x="16974" y="1295400"/>
                  <a:pt x="0" y="1278426"/>
                  <a:pt x="0" y="1257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399911" y="4647958"/>
            <a:ext cx="37909" cy="1295400"/>
          </a:xfrm>
          <a:custGeom>
            <a:avLst/>
            <a:gdLst/>
            <a:ahLst/>
            <a:cxnLst/>
            <a:rect r="r" b="b" t="t" l="l"/>
            <a:pathLst>
              <a:path h="1295400" w="37909">
                <a:moveTo>
                  <a:pt x="37909" y="0"/>
                </a:moveTo>
                <a:lnTo>
                  <a:pt x="37909" y="0"/>
                </a:lnTo>
                <a:lnTo>
                  <a:pt x="37909" y="1295400"/>
                </a:lnTo>
                <a:lnTo>
                  <a:pt x="37909" y="1295400"/>
                </a:lnTo>
                <a:cubicBezTo>
                  <a:pt x="16974" y="1295400"/>
                  <a:pt x="0" y="1278426"/>
                  <a:pt x="0" y="1257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85539" y="515271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142875" y="285750"/>
                </a:moveTo>
                <a:cubicBezTo>
                  <a:pt x="221731" y="285750"/>
                  <a:pt x="285750" y="221731"/>
                  <a:pt x="285750" y="142875"/>
                </a:cubicBezTo>
                <a:cubicBezTo>
                  <a:pt x="285750" y="64019"/>
                  <a:pt x="221731" y="0"/>
                  <a:pt x="142875" y="0"/>
                </a:cubicBezTo>
                <a:cubicBezTo>
                  <a:pt x="64019" y="0"/>
                  <a:pt x="0" y="64019"/>
                  <a:pt x="0" y="142875"/>
                </a:cubicBezTo>
                <a:cubicBezTo>
                  <a:pt x="0" y="221731"/>
                  <a:pt x="64019" y="285750"/>
                  <a:pt x="142875" y="285750"/>
                </a:cubicBezTo>
                <a:close/>
                <a:moveTo>
                  <a:pt x="125016" y="89298"/>
                </a:moveTo>
                <a:cubicBezTo>
                  <a:pt x="125016" y="79440"/>
                  <a:pt x="133019" y="71438"/>
                  <a:pt x="142875" y="71438"/>
                </a:cubicBezTo>
                <a:cubicBezTo>
                  <a:pt x="152731" y="71438"/>
                  <a:pt x="160734" y="79440"/>
                  <a:pt x="160734" y="89298"/>
                </a:cubicBezTo>
                <a:cubicBezTo>
                  <a:pt x="160734" y="99154"/>
                  <a:pt x="152731" y="107156"/>
                  <a:pt x="142875" y="107156"/>
                </a:cubicBezTo>
                <a:cubicBezTo>
                  <a:pt x="133019" y="107156"/>
                  <a:pt x="125016" y="99154"/>
                  <a:pt x="125016" y="89298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2"/>
                  <a:pt x="165199" y="214312"/>
                </a:cubicBezTo>
                <a:lnTo>
                  <a:pt x="120551" y="214312"/>
                </a:lnTo>
                <a:cubicBezTo>
                  <a:pt x="113128" y="214312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6" y="187523"/>
                </a:lnTo>
                <a:lnTo>
                  <a:pt x="133946" y="151804"/>
                </a:lnTo>
                <a:lnTo>
                  <a:pt x="120551" y="151804"/>
                </a:lnTo>
                <a:cubicBezTo>
                  <a:pt x="113128" y="151804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157009" y="4876530"/>
            <a:ext cx="6191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参考资源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157009" y="5219430"/>
            <a:ext cx="6172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Triton 官方教程页面底部提供详细的性能对比图，展示了不同算子在各种硬件上的性能表现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57009" y="5524193"/>
            <a:ext cx="6162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https://triton-lang.org/main/getting-started/tutorials/01-vector-add.html</a:t>
            </a:r>
            <a:endParaRPr lang="en-US" sz="1100"/>
          </a:p>
        </p:txBody>
      </p:sp>
      <p:sp>
        <p:nvSpPr>
          <p:cNvPr name="AutoShape 36" id="36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9540" y="65070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Vector Add 流程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5174739" y="1174525"/>
            <a:ext cx="1841500" cy="730250"/>
          </a:xfrm>
          <a:custGeom>
            <a:avLst/>
            <a:gdLst/>
            <a:ahLst/>
            <a:cxnLst/>
            <a:rect r="r" b="b" t="t" l="l"/>
            <a:pathLst>
              <a:path h="730250" w="1841500">
                <a:moveTo>
                  <a:pt x="95247" y="0"/>
                </a:moveTo>
                <a:lnTo>
                  <a:pt x="1746253" y="0"/>
                </a:lnTo>
                <a:cubicBezTo>
                  <a:pt x="1798857" y="0"/>
                  <a:pt x="1841500" y="42643"/>
                  <a:pt x="1841500" y="95247"/>
                </a:cubicBezTo>
                <a:lnTo>
                  <a:pt x="1841500" y="635003"/>
                </a:lnTo>
                <a:cubicBezTo>
                  <a:pt x="1841500" y="687607"/>
                  <a:pt x="1798857" y="730250"/>
                  <a:pt x="1746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76200" blurRad="1143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81084" y="1301510"/>
            <a:ext cx="1428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program_id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96959" y="1587136"/>
            <a:ext cx="139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获取当前 program 编号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007168" y="2031581"/>
            <a:ext cx="181571" cy="239566"/>
          </a:xfrm>
          <a:custGeom>
            <a:avLst/>
            <a:gdLst/>
            <a:ahLst/>
            <a:cxnLst/>
            <a:rect r="r" b="b" t="t" l="l"/>
            <a:pathLst>
              <a:path h="239566" w="181571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4926137" y="2396675"/>
            <a:ext cx="2341563" cy="730250"/>
          </a:xfrm>
          <a:custGeom>
            <a:avLst/>
            <a:gdLst/>
            <a:ahLst/>
            <a:cxnLst/>
            <a:rect r="r" b="b" t="t" l="l"/>
            <a:pathLst>
              <a:path h="730250" w="2341563">
                <a:moveTo>
                  <a:pt x="95247" y="0"/>
                </a:moveTo>
                <a:lnTo>
                  <a:pt x="2246316" y="0"/>
                </a:lnTo>
                <a:cubicBezTo>
                  <a:pt x="2298918" y="0"/>
                  <a:pt x="2341563" y="42643"/>
                  <a:pt x="2341563" y="95247"/>
                </a:cubicBezTo>
                <a:lnTo>
                  <a:pt x="2341563" y="635003"/>
                </a:lnTo>
                <a:cubicBezTo>
                  <a:pt x="2341563" y="687607"/>
                  <a:pt x="2298918" y="730250"/>
                  <a:pt x="2246316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dir="5400000" dist="76200" blurRad="1143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132482" y="2523660"/>
            <a:ext cx="192881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计算 block 起点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48357" y="2809286"/>
            <a:ext cx="1897063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block_start = pid * BLOCK_SIZE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07168" y="3253739"/>
            <a:ext cx="181571" cy="239566"/>
          </a:xfrm>
          <a:custGeom>
            <a:avLst/>
            <a:gdLst/>
            <a:ahLst/>
            <a:cxnLst/>
            <a:rect r="r" b="b" t="t" l="l"/>
            <a:pathLst>
              <a:path h="239566" w="181571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4442384" y="3618833"/>
            <a:ext cx="3309938" cy="730250"/>
          </a:xfrm>
          <a:custGeom>
            <a:avLst/>
            <a:gdLst/>
            <a:ahLst/>
            <a:cxnLst/>
            <a:rect r="r" b="b" t="t" l="l"/>
            <a:pathLst>
              <a:path h="730250" w="3309938">
                <a:moveTo>
                  <a:pt x="95247" y="0"/>
                </a:moveTo>
                <a:lnTo>
                  <a:pt x="3214691" y="0"/>
                </a:lnTo>
                <a:cubicBezTo>
                  <a:pt x="3267293" y="0"/>
                  <a:pt x="3309938" y="42643"/>
                  <a:pt x="3309938" y="95247"/>
                </a:cubicBezTo>
                <a:lnTo>
                  <a:pt x="3309938" y="635003"/>
                </a:lnTo>
                <a:cubicBezTo>
                  <a:pt x="3309938" y="687607"/>
                  <a:pt x="3267293" y="730250"/>
                  <a:pt x="32146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dir="5400000" dist="76200" blurRad="1143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48729" y="3745818"/>
            <a:ext cx="289718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生成 offsets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4604" y="4031444"/>
            <a:ext cx="3087718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offsets = block_start + tl.arange(0, BLOCK_SIZE)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007168" y="4475890"/>
            <a:ext cx="181571" cy="239566"/>
          </a:xfrm>
          <a:custGeom>
            <a:avLst/>
            <a:gdLst/>
            <a:ahLst/>
            <a:cxnLst/>
            <a:rect r="r" b="b" t="t" l="l"/>
            <a:pathLst>
              <a:path h="239566" w="181571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011534" y="4840991"/>
            <a:ext cx="2166938" cy="730250"/>
          </a:xfrm>
          <a:custGeom>
            <a:avLst/>
            <a:gdLst/>
            <a:ahLst/>
            <a:cxnLst/>
            <a:rect r="r" b="b" t="t" l="l"/>
            <a:pathLst>
              <a:path h="730250" w="2166938">
                <a:moveTo>
                  <a:pt x="95247" y="0"/>
                </a:moveTo>
                <a:lnTo>
                  <a:pt x="2071691" y="0"/>
                </a:lnTo>
                <a:cubicBezTo>
                  <a:pt x="2124293" y="0"/>
                  <a:pt x="2166938" y="42643"/>
                  <a:pt x="2166938" y="95247"/>
                </a:cubicBezTo>
                <a:lnTo>
                  <a:pt x="2166938" y="635003"/>
                </a:lnTo>
                <a:cubicBezTo>
                  <a:pt x="2166938" y="687607"/>
                  <a:pt x="2124293" y="730250"/>
                  <a:pt x="20716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dir="5400000" dist="76200" blurRad="1143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17880" y="4967976"/>
            <a:ext cx="175418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mask 防越界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33754" y="5253602"/>
            <a:ext cx="1891201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mask = offsets &lt; n_elements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007168" y="5698048"/>
            <a:ext cx="181571" cy="239566"/>
          </a:xfrm>
          <a:custGeom>
            <a:avLst/>
            <a:gdLst/>
            <a:ahLst/>
            <a:cxnLst/>
            <a:rect r="r" b="b" t="t" l="l"/>
            <a:pathLst>
              <a:path h="239566" w="181571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4730229" y="6063142"/>
            <a:ext cx="2730500" cy="730250"/>
          </a:xfrm>
          <a:custGeom>
            <a:avLst/>
            <a:gdLst/>
            <a:ahLst/>
            <a:cxnLst/>
            <a:rect r="r" b="b" t="t" l="l"/>
            <a:pathLst>
              <a:path h="730250" w="2730500">
                <a:moveTo>
                  <a:pt x="95247" y="0"/>
                </a:moveTo>
                <a:lnTo>
                  <a:pt x="2635253" y="0"/>
                </a:lnTo>
                <a:cubicBezTo>
                  <a:pt x="2687857" y="0"/>
                  <a:pt x="2730500" y="42643"/>
                  <a:pt x="2730500" y="95247"/>
                </a:cubicBezTo>
                <a:lnTo>
                  <a:pt x="2730500" y="635003"/>
                </a:lnTo>
                <a:cubicBezTo>
                  <a:pt x="2730500" y="687607"/>
                  <a:pt x="2687857" y="730250"/>
                  <a:pt x="2635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dir="5400000" dist="76200" blurRad="1143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36575" y="6190126"/>
            <a:ext cx="2317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load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952449" y="6475752"/>
            <a:ext cx="2508279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x = tl.load(x_ptr + offsets, mask=mask)</a:t>
            </a:r>
            <a:endParaRPr lang="en-US" sz="1100"/>
          </a:p>
        </p:txBody>
      </p:sp>
      <p:sp>
        <p:nvSpPr>
          <p:cNvPr name="AutoShape 22" id="22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5528" y="64758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核心概念总结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0433" y="1933946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1485838" y="213387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1645581" y="2280045"/>
            <a:ext cx="214179" cy="241013"/>
          </a:xfrm>
          <a:custGeom>
            <a:avLst/>
            <a:gdLst/>
            <a:ahLst/>
            <a:cxnLst/>
            <a:rect r="r" b="b" t="t" l="l"/>
            <a:pathLst>
              <a:path h="241013" w="214179">
                <a:moveTo>
                  <a:pt x="92779" y="5090"/>
                </a:moveTo>
                <a:cubicBezTo>
                  <a:pt x="101621" y="0"/>
                  <a:pt x="112513" y="0"/>
                  <a:pt x="121354" y="5090"/>
                </a:cubicBezTo>
                <a:lnTo>
                  <a:pt x="199891" y="50408"/>
                </a:lnTo>
                <a:cubicBezTo>
                  <a:pt x="208731" y="55499"/>
                  <a:pt x="214179" y="64963"/>
                  <a:pt x="214179" y="75143"/>
                </a:cubicBezTo>
                <a:lnTo>
                  <a:pt x="214179" y="165780"/>
                </a:lnTo>
                <a:cubicBezTo>
                  <a:pt x="214179" y="176004"/>
                  <a:pt x="208731" y="185425"/>
                  <a:pt x="199891" y="190515"/>
                </a:cubicBezTo>
                <a:lnTo>
                  <a:pt x="121354" y="235922"/>
                </a:lnTo>
                <a:cubicBezTo>
                  <a:pt x="112513" y="241012"/>
                  <a:pt x="101621" y="241012"/>
                  <a:pt x="92779" y="235922"/>
                </a:cubicBezTo>
                <a:lnTo>
                  <a:pt x="14287" y="190604"/>
                </a:lnTo>
                <a:cubicBezTo>
                  <a:pt x="5447" y="185513"/>
                  <a:pt x="0" y="176049"/>
                  <a:pt x="0" y="165869"/>
                </a:cubicBezTo>
                <a:lnTo>
                  <a:pt x="0" y="75232"/>
                </a:lnTo>
                <a:cubicBezTo>
                  <a:pt x="0" y="65008"/>
                  <a:pt x="5447" y="55587"/>
                  <a:pt x="14287" y="50497"/>
                </a:cubicBezTo>
                <a:lnTo>
                  <a:pt x="92779" y="5090"/>
                </a:lnTo>
                <a:close/>
                <a:moveTo>
                  <a:pt x="185559" y="165823"/>
                </a:moveTo>
                <a:lnTo>
                  <a:pt x="185559" y="91663"/>
                </a:lnTo>
                <a:lnTo>
                  <a:pt x="121354" y="128722"/>
                </a:lnTo>
                <a:lnTo>
                  <a:pt x="121354" y="202882"/>
                </a:lnTo>
                <a:lnTo>
                  <a:pt x="185559" y="16582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7489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program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7014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Triton 基本执行单元，对应 CUDA 的 thread block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285992" y="1933946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381470" y="213387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533847" y="2286251"/>
            <a:ext cx="228644" cy="226412"/>
          </a:xfrm>
          <a:custGeom>
            <a:avLst/>
            <a:gdLst/>
            <a:ahLst/>
            <a:cxnLst/>
            <a:rect r="r" b="b" t="t" l="l"/>
            <a:pathLst>
              <a:path h="226412" w="228644">
                <a:moveTo>
                  <a:pt x="21431" y="114300"/>
                </a:moveTo>
                <a:cubicBezTo>
                  <a:pt x="21431" y="63000"/>
                  <a:pt x="63000" y="21431"/>
                  <a:pt x="114300" y="21431"/>
                </a:cubicBezTo>
                <a:cubicBezTo>
                  <a:pt x="142472" y="21431"/>
                  <a:pt x="167700" y="33978"/>
                  <a:pt x="184755" y="53801"/>
                </a:cubicBezTo>
                <a:cubicBezTo>
                  <a:pt x="188595" y="58311"/>
                  <a:pt x="195382" y="58802"/>
                  <a:pt x="199846" y="54962"/>
                </a:cubicBezTo>
                <a:cubicBezTo>
                  <a:pt x="204311" y="51123"/>
                  <a:pt x="204847" y="44336"/>
                  <a:pt x="201007" y="39870"/>
                </a:cubicBezTo>
                <a:cubicBezTo>
                  <a:pt x="180067" y="15448"/>
                  <a:pt x="148993" y="0"/>
                  <a:pt x="114300" y="0"/>
                </a:cubicBezTo>
                <a:cubicBezTo>
                  <a:pt x="51167" y="0"/>
                  <a:pt x="0" y="51167"/>
                  <a:pt x="0" y="114300"/>
                </a:cubicBezTo>
                <a:lnTo>
                  <a:pt x="0" y="132159"/>
                </a:lnTo>
                <a:cubicBezTo>
                  <a:pt x="0" y="138099"/>
                  <a:pt x="4776" y="142875"/>
                  <a:pt x="10716" y="142875"/>
                </a:cubicBezTo>
                <a:cubicBezTo>
                  <a:pt x="16654" y="142875"/>
                  <a:pt x="21431" y="138099"/>
                  <a:pt x="21431" y="132159"/>
                </a:cubicBezTo>
                <a:lnTo>
                  <a:pt x="21431" y="114300"/>
                </a:lnTo>
                <a:close/>
                <a:moveTo>
                  <a:pt x="226144" y="90681"/>
                </a:moveTo>
                <a:cubicBezTo>
                  <a:pt x="224939" y="84877"/>
                  <a:pt x="219224" y="81171"/>
                  <a:pt x="213464" y="82420"/>
                </a:cubicBezTo>
                <a:cubicBezTo>
                  <a:pt x="207705" y="83671"/>
                  <a:pt x="203954" y="89342"/>
                  <a:pt x="205204" y="95101"/>
                </a:cubicBezTo>
                <a:cubicBezTo>
                  <a:pt x="206499" y="101307"/>
                  <a:pt x="207213" y="107737"/>
                  <a:pt x="207213" y="114344"/>
                </a:cubicBezTo>
                <a:lnTo>
                  <a:pt x="207213" y="132204"/>
                </a:lnTo>
                <a:cubicBezTo>
                  <a:pt x="207213" y="138142"/>
                  <a:pt x="211991" y="142919"/>
                  <a:pt x="217929" y="142919"/>
                </a:cubicBezTo>
                <a:cubicBezTo>
                  <a:pt x="223867" y="142919"/>
                  <a:pt x="228644" y="138142"/>
                  <a:pt x="228644" y="132204"/>
                </a:cubicBezTo>
                <a:lnTo>
                  <a:pt x="228644" y="114344"/>
                </a:lnTo>
                <a:cubicBezTo>
                  <a:pt x="228644" y="106263"/>
                  <a:pt x="227796" y="98361"/>
                  <a:pt x="226190" y="90726"/>
                </a:cubicBezTo>
                <a:close/>
                <a:moveTo>
                  <a:pt x="114300" y="35719"/>
                </a:moveTo>
                <a:cubicBezTo>
                  <a:pt x="105816" y="35719"/>
                  <a:pt x="97601" y="37059"/>
                  <a:pt x="89967" y="39559"/>
                </a:cubicBezTo>
                <a:cubicBezTo>
                  <a:pt x="83180" y="41791"/>
                  <a:pt x="81617" y="50140"/>
                  <a:pt x="86261" y="55587"/>
                </a:cubicBezTo>
                <a:cubicBezTo>
                  <a:pt x="89431" y="59292"/>
                  <a:pt x="94654" y="60409"/>
                  <a:pt x="99386" y="59115"/>
                </a:cubicBezTo>
                <a:cubicBezTo>
                  <a:pt x="104120" y="57821"/>
                  <a:pt x="109121" y="57150"/>
                  <a:pt x="114300" y="57150"/>
                </a:cubicBezTo>
                <a:cubicBezTo>
                  <a:pt x="145866" y="57150"/>
                  <a:pt x="171450" y="82734"/>
                  <a:pt x="171450" y="114300"/>
                </a:cubicBezTo>
                <a:lnTo>
                  <a:pt x="171450" y="125418"/>
                </a:lnTo>
                <a:cubicBezTo>
                  <a:pt x="171450" y="136669"/>
                  <a:pt x="170779" y="147876"/>
                  <a:pt x="169485" y="159038"/>
                </a:cubicBezTo>
                <a:cubicBezTo>
                  <a:pt x="168726" y="165556"/>
                  <a:pt x="173681" y="171450"/>
                  <a:pt x="180290" y="171450"/>
                </a:cubicBezTo>
                <a:cubicBezTo>
                  <a:pt x="185558" y="171450"/>
                  <a:pt x="190068" y="167610"/>
                  <a:pt x="190693" y="162386"/>
                </a:cubicBezTo>
                <a:cubicBezTo>
                  <a:pt x="192168" y="150153"/>
                  <a:pt x="192926" y="137831"/>
                  <a:pt x="192926" y="125462"/>
                </a:cubicBezTo>
                <a:lnTo>
                  <a:pt x="192926" y="114344"/>
                </a:lnTo>
                <a:cubicBezTo>
                  <a:pt x="192926" y="70946"/>
                  <a:pt x="157743" y="35763"/>
                  <a:pt x="114344" y="35763"/>
                </a:cubicBezTo>
                <a:close/>
                <a:moveTo>
                  <a:pt x="67285" y="66392"/>
                </a:moveTo>
                <a:cubicBezTo>
                  <a:pt x="63222" y="61659"/>
                  <a:pt x="55989" y="61302"/>
                  <a:pt x="52149" y="66214"/>
                </a:cubicBezTo>
                <a:cubicBezTo>
                  <a:pt x="41836" y="79519"/>
                  <a:pt x="35719" y="96173"/>
                  <a:pt x="35719" y="114300"/>
                </a:cubicBezTo>
                <a:lnTo>
                  <a:pt x="35719" y="125418"/>
                </a:lnTo>
                <a:cubicBezTo>
                  <a:pt x="35719" y="136221"/>
                  <a:pt x="34558" y="147027"/>
                  <a:pt x="32236" y="157519"/>
                </a:cubicBezTo>
                <a:cubicBezTo>
                  <a:pt x="30717" y="164485"/>
                  <a:pt x="35763" y="171406"/>
                  <a:pt x="42907" y="171406"/>
                </a:cubicBezTo>
                <a:cubicBezTo>
                  <a:pt x="47595" y="171406"/>
                  <a:pt x="51792" y="168280"/>
                  <a:pt x="52819" y="163681"/>
                </a:cubicBezTo>
                <a:cubicBezTo>
                  <a:pt x="55677" y="151135"/>
                  <a:pt x="57150" y="138321"/>
                  <a:pt x="57150" y="125373"/>
                </a:cubicBezTo>
                <a:lnTo>
                  <a:pt x="57150" y="114256"/>
                </a:lnTo>
                <a:cubicBezTo>
                  <a:pt x="57150" y="102111"/>
                  <a:pt x="60945" y="90860"/>
                  <a:pt x="67373" y="81617"/>
                </a:cubicBezTo>
                <a:cubicBezTo>
                  <a:pt x="70589" y="76973"/>
                  <a:pt x="70946" y="70634"/>
                  <a:pt x="67285" y="66349"/>
                </a:cubicBezTo>
                <a:close/>
                <a:moveTo>
                  <a:pt x="114300" y="71437"/>
                </a:moveTo>
                <a:cubicBezTo>
                  <a:pt x="90636" y="71437"/>
                  <a:pt x="71437" y="90636"/>
                  <a:pt x="71437" y="114300"/>
                </a:cubicBezTo>
                <a:lnTo>
                  <a:pt x="71437" y="125418"/>
                </a:lnTo>
                <a:cubicBezTo>
                  <a:pt x="71437" y="141446"/>
                  <a:pt x="69384" y="157342"/>
                  <a:pt x="65275" y="172789"/>
                </a:cubicBezTo>
                <a:cubicBezTo>
                  <a:pt x="63579" y="179174"/>
                  <a:pt x="68268" y="185737"/>
                  <a:pt x="74875" y="185737"/>
                </a:cubicBezTo>
                <a:cubicBezTo>
                  <a:pt x="79117" y="185737"/>
                  <a:pt x="82867" y="182969"/>
                  <a:pt x="83984" y="178862"/>
                </a:cubicBezTo>
                <a:cubicBezTo>
                  <a:pt x="88671" y="161449"/>
                  <a:pt x="91083" y="143500"/>
                  <a:pt x="91083" y="125418"/>
                </a:cubicBezTo>
                <a:lnTo>
                  <a:pt x="91083" y="114300"/>
                </a:lnTo>
                <a:cubicBezTo>
                  <a:pt x="91083" y="101486"/>
                  <a:pt x="101486" y="91083"/>
                  <a:pt x="114300" y="91083"/>
                </a:cubicBezTo>
                <a:cubicBezTo>
                  <a:pt x="127114" y="91083"/>
                  <a:pt x="137517" y="101486"/>
                  <a:pt x="137517" y="114300"/>
                </a:cubicBezTo>
                <a:lnTo>
                  <a:pt x="137517" y="125418"/>
                </a:lnTo>
                <a:cubicBezTo>
                  <a:pt x="137517" y="141625"/>
                  <a:pt x="135953" y="157743"/>
                  <a:pt x="132874" y="173592"/>
                </a:cubicBezTo>
                <a:cubicBezTo>
                  <a:pt x="131669" y="179799"/>
                  <a:pt x="136312" y="185737"/>
                  <a:pt x="142607" y="185737"/>
                </a:cubicBezTo>
                <a:cubicBezTo>
                  <a:pt x="147161" y="185737"/>
                  <a:pt x="151091" y="182612"/>
                  <a:pt x="151983" y="178147"/>
                </a:cubicBezTo>
                <a:cubicBezTo>
                  <a:pt x="155421" y="160824"/>
                  <a:pt x="157163" y="143187"/>
                  <a:pt x="157163" y="125418"/>
                </a:cubicBezTo>
                <a:lnTo>
                  <a:pt x="157163" y="114300"/>
                </a:lnTo>
                <a:cubicBezTo>
                  <a:pt x="157163" y="90636"/>
                  <a:pt x="137964" y="71437"/>
                  <a:pt x="114300" y="71437"/>
                </a:cubicBezTo>
                <a:close/>
                <a:moveTo>
                  <a:pt x="125016" y="114300"/>
                </a:moveTo>
                <a:cubicBezTo>
                  <a:pt x="125016" y="108361"/>
                  <a:pt x="120239" y="103584"/>
                  <a:pt x="114300" y="103584"/>
                </a:cubicBezTo>
                <a:cubicBezTo>
                  <a:pt x="108361" y="103584"/>
                  <a:pt x="103584" y="108361"/>
                  <a:pt x="103584" y="114300"/>
                </a:cubicBezTo>
                <a:lnTo>
                  <a:pt x="103584" y="125418"/>
                </a:lnTo>
                <a:cubicBezTo>
                  <a:pt x="103584" y="152163"/>
                  <a:pt x="98673" y="178683"/>
                  <a:pt x="89074" y="203642"/>
                </a:cubicBezTo>
                <a:lnTo>
                  <a:pt x="86439" y="210473"/>
                </a:lnTo>
                <a:cubicBezTo>
                  <a:pt x="84296" y="216009"/>
                  <a:pt x="87064" y="222214"/>
                  <a:pt x="92601" y="224314"/>
                </a:cubicBezTo>
                <a:cubicBezTo>
                  <a:pt x="98137" y="226412"/>
                  <a:pt x="104343" y="223689"/>
                  <a:pt x="106443" y="218152"/>
                </a:cubicBezTo>
                <a:lnTo>
                  <a:pt x="109076" y="211320"/>
                </a:lnTo>
                <a:cubicBezTo>
                  <a:pt x="119612" y="183907"/>
                  <a:pt x="125016" y="154796"/>
                  <a:pt x="125016" y="125418"/>
                </a:cubicBezTo>
                <a:lnTo>
                  <a:pt x="125016" y="1143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43047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program_id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52572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当前 program 在 grid 中的编号，类似 blockIdx.x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181624" y="1933946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277103" y="213387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443767" y="2300538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171450" y="28576"/>
                </a:moveTo>
                <a:lnTo>
                  <a:pt x="171450" y="57150"/>
                </a:lnTo>
                <a:lnTo>
                  <a:pt x="142875" y="57150"/>
                </a:lnTo>
                <a:lnTo>
                  <a:pt x="142875" y="28576"/>
                </a:lnTo>
                <a:lnTo>
                  <a:pt x="171450" y="28576"/>
                </a:lnTo>
                <a:close/>
                <a:moveTo>
                  <a:pt x="171450" y="85726"/>
                </a:moveTo>
                <a:lnTo>
                  <a:pt x="171450" y="114300"/>
                </a:lnTo>
                <a:lnTo>
                  <a:pt x="142875" y="114300"/>
                </a:lnTo>
                <a:lnTo>
                  <a:pt x="142875" y="85726"/>
                </a:lnTo>
                <a:lnTo>
                  <a:pt x="171450" y="85726"/>
                </a:lnTo>
                <a:close/>
                <a:moveTo>
                  <a:pt x="171450" y="142876"/>
                </a:moveTo>
                <a:lnTo>
                  <a:pt x="171450" y="171450"/>
                </a:lnTo>
                <a:lnTo>
                  <a:pt x="142875" y="171450"/>
                </a:lnTo>
                <a:lnTo>
                  <a:pt x="142875" y="142876"/>
                </a:lnTo>
                <a:lnTo>
                  <a:pt x="171450" y="142876"/>
                </a:lnTo>
                <a:close/>
                <a:moveTo>
                  <a:pt x="114300" y="114300"/>
                </a:moveTo>
                <a:lnTo>
                  <a:pt x="85725" y="114300"/>
                </a:lnTo>
                <a:lnTo>
                  <a:pt x="85725" y="85726"/>
                </a:lnTo>
                <a:lnTo>
                  <a:pt x="114300" y="85726"/>
                </a:lnTo>
                <a:lnTo>
                  <a:pt x="114300" y="114300"/>
                </a:lnTo>
                <a:close/>
                <a:moveTo>
                  <a:pt x="85725" y="142876"/>
                </a:moveTo>
                <a:lnTo>
                  <a:pt x="114300" y="142876"/>
                </a:lnTo>
                <a:lnTo>
                  <a:pt x="114300" y="171450"/>
                </a:lnTo>
                <a:lnTo>
                  <a:pt x="85725" y="171450"/>
                </a:lnTo>
                <a:lnTo>
                  <a:pt x="85725" y="142876"/>
                </a:lnTo>
                <a:close/>
                <a:moveTo>
                  <a:pt x="57150" y="114300"/>
                </a:moveTo>
                <a:lnTo>
                  <a:pt x="28575" y="114300"/>
                </a:lnTo>
                <a:lnTo>
                  <a:pt x="28575" y="85726"/>
                </a:lnTo>
                <a:lnTo>
                  <a:pt x="57150" y="85726"/>
                </a:lnTo>
                <a:lnTo>
                  <a:pt x="57150" y="114300"/>
                </a:lnTo>
                <a:close/>
                <a:moveTo>
                  <a:pt x="28575" y="142876"/>
                </a:moveTo>
                <a:lnTo>
                  <a:pt x="57150" y="142876"/>
                </a:lnTo>
                <a:lnTo>
                  <a:pt x="57150" y="171450"/>
                </a:lnTo>
                <a:lnTo>
                  <a:pt x="28575" y="171450"/>
                </a:lnTo>
                <a:lnTo>
                  <a:pt x="28575" y="142876"/>
                </a:lnTo>
                <a:close/>
                <a:moveTo>
                  <a:pt x="28575" y="57150"/>
                </a:moveTo>
                <a:lnTo>
                  <a:pt x="28575" y="28576"/>
                </a:lnTo>
                <a:lnTo>
                  <a:pt x="57150" y="28576"/>
                </a:lnTo>
                <a:lnTo>
                  <a:pt x="57150" y="57150"/>
                </a:lnTo>
                <a:lnTo>
                  <a:pt x="28575" y="57150"/>
                </a:lnTo>
                <a:close/>
                <a:moveTo>
                  <a:pt x="85725" y="57150"/>
                </a:moveTo>
                <a:lnTo>
                  <a:pt x="85725" y="28576"/>
                </a:lnTo>
                <a:lnTo>
                  <a:pt x="114300" y="28576"/>
                </a:lnTo>
                <a:lnTo>
                  <a:pt x="114300" y="57150"/>
                </a:lnTo>
                <a:lnTo>
                  <a:pt x="85725" y="57150"/>
                </a:lnTo>
                <a:close/>
                <a:moveTo>
                  <a:pt x="28575" y="0"/>
                </a:moveTo>
                <a:cubicBezTo>
                  <a:pt x="12814" y="0"/>
                  <a:pt x="0" y="12815"/>
                  <a:pt x="0" y="28576"/>
                </a:cubicBezTo>
                <a:lnTo>
                  <a:pt x="0" y="171450"/>
                </a:lnTo>
                <a:cubicBezTo>
                  <a:pt x="0" y="187211"/>
                  <a:pt x="12814" y="200026"/>
                  <a:pt x="28575" y="200026"/>
                </a:cubicBezTo>
                <a:lnTo>
                  <a:pt x="171450" y="200026"/>
                </a:lnTo>
                <a:cubicBezTo>
                  <a:pt x="187211" y="200026"/>
                  <a:pt x="200025" y="187211"/>
                  <a:pt x="200025" y="171450"/>
                </a:cubicBezTo>
                <a:lnTo>
                  <a:pt x="200025" y="28576"/>
                </a:lnTo>
                <a:cubicBezTo>
                  <a:pt x="200025" y="12815"/>
                  <a:pt x="187211" y="0"/>
                  <a:pt x="171450" y="0"/>
                </a:cubicBezTo>
                <a:lnTo>
                  <a:pt x="2857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38680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grid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48205" y="3124349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program 的集合，定义并行执行的规模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9077257" y="1933946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10172735" y="213387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10339399" y="2300538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75009" y="0"/>
                </a:moveTo>
                <a:lnTo>
                  <a:pt x="10716" y="0"/>
                </a:lnTo>
                <a:cubicBezTo>
                  <a:pt x="4776" y="0"/>
                  <a:pt x="0" y="4778"/>
                  <a:pt x="0" y="10715"/>
                </a:cubicBezTo>
                <a:lnTo>
                  <a:pt x="0" y="75011"/>
                </a:lnTo>
                <a:cubicBezTo>
                  <a:pt x="0" y="79341"/>
                  <a:pt x="2590" y="83271"/>
                  <a:pt x="6608" y="84922"/>
                </a:cubicBezTo>
                <a:cubicBezTo>
                  <a:pt x="10626" y="86574"/>
                  <a:pt x="15225" y="85637"/>
                  <a:pt x="18306" y="82600"/>
                </a:cubicBezTo>
                <a:lnTo>
                  <a:pt x="36165" y="64741"/>
                </a:lnTo>
                <a:lnTo>
                  <a:pt x="71437" y="100013"/>
                </a:lnTo>
                <a:lnTo>
                  <a:pt x="36165" y="135285"/>
                </a:lnTo>
                <a:lnTo>
                  <a:pt x="18306" y="117426"/>
                </a:lnTo>
                <a:cubicBezTo>
                  <a:pt x="15225" y="114345"/>
                  <a:pt x="10626" y="113452"/>
                  <a:pt x="6608" y="115104"/>
                </a:cubicBezTo>
                <a:cubicBezTo>
                  <a:pt x="2590" y="116755"/>
                  <a:pt x="0" y="120685"/>
                  <a:pt x="0" y="125015"/>
                </a:cubicBezTo>
                <a:lnTo>
                  <a:pt x="0" y="189311"/>
                </a:lnTo>
                <a:cubicBezTo>
                  <a:pt x="0" y="195248"/>
                  <a:pt x="4776" y="200026"/>
                  <a:pt x="10716" y="200026"/>
                </a:cubicBezTo>
                <a:lnTo>
                  <a:pt x="75009" y="200026"/>
                </a:lnTo>
                <a:cubicBezTo>
                  <a:pt x="79339" y="200026"/>
                  <a:pt x="83269" y="197436"/>
                  <a:pt x="84921" y="193418"/>
                </a:cubicBezTo>
                <a:cubicBezTo>
                  <a:pt x="86573" y="189399"/>
                  <a:pt x="85681" y="184799"/>
                  <a:pt x="82600" y="181720"/>
                </a:cubicBezTo>
                <a:lnTo>
                  <a:pt x="64740" y="163860"/>
                </a:lnTo>
                <a:lnTo>
                  <a:pt x="100013" y="128588"/>
                </a:lnTo>
                <a:lnTo>
                  <a:pt x="135285" y="163860"/>
                </a:lnTo>
                <a:lnTo>
                  <a:pt x="117425" y="181720"/>
                </a:lnTo>
                <a:cubicBezTo>
                  <a:pt x="114344" y="184799"/>
                  <a:pt x="113452" y="189399"/>
                  <a:pt x="115104" y="193418"/>
                </a:cubicBezTo>
                <a:cubicBezTo>
                  <a:pt x="116756" y="197436"/>
                  <a:pt x="120686" y="200026"/>
                  <a:pt x="125016" y="200026"/>
                </a:cubicBezTo>
                <a:lnTo>
                  <a:pt x="189309" y="200026"/>
                </a:lnTo>
                <a:cubicBezTo>
                  <a:pt x="195249" y="200026"/>
                  <a:pt x="200025" y="195248"/>
                  <a:pt x="200025" y="189311"/>
                </a:cubicBezTo>
                <a:lnTo>
                  <a:pt x="200025" y="125015"/>
                </a:lnTo>
                <a:cubicBezTo>
                  <a:pt x="200025" y="120685"/>
                  <a:pt x="197435" y="116755"/>
                  <a:pt x="193417" y="115104"/>
                </a:cubicBezTo>
                <a:cubicBezTo>
                  <a:pt x="189399" y="113452"/>
                  <a:pt x="184800" y="114345"/>
                  <a:pt x="181719" y="117426"/>
                </a:cubicBezTo>
                <a:lnTo>
                  <a:pt x="163860" y="135285"/>
                </a:lnTo>
                <a:lnTo>
                  <a:pt x="128587" y="100013"/>
                </a:lnTo>
                <a:lnTo>
                  <a:pt x="163860" y="64741"/>
                </a:lnTo>
                <a:lnTo>
                  <a:pt x="181719" y="82600"/>
                </a:lnTo>
                <a:cubicBezTo>
                  <a:pt x="184800" y="85681"/>
                  <a:pt x="189399" y="86574"/>
                  <a:pt x="193417" y="84922"/>
                </a:cubicBezTo>
                <a:cubicBezTo>
                  <a:pt x="197435" y="83271"/>
                  <a:pt x="200025" y="79341"/>
                  <a:pt x="200025" y="75011"/>
                </a:cubicBezTo>
                <a:lnTo>
                  <a:pt x="200025" y="10715"/>
                </a:lnTo>
                <a:cubicBezTo>
                  <a:pt x="200025" y="4778"/>
                  <a:pt x="195249" y="0"/>
                  <a:pt x="189309" y="0"/>
                </a:cubicBezTo>
                <a:lnTo>
                  <a:pt x="125016" y="0"/>
                </a:lnTo>
                <a:cubicBezTo>
                  <a:pt x="120686" y="0"/>
                  <a:pt x="116756" y="2590"/>
                  <a:pt x="115104" y="6608"/>
                </a:cubicBezTo>
                <a:cubicBezTo>
                  <a:pt x="113452" y="10627"/>
                  <a:pt x="114389" y="15227"/>
                  <a:pt x="117425" y="18306"/>
                </a:cubicBezTo>
                <a:lnTo>
                  <a:pt x="135285" y="36166"/>
                </a:lnTo>
                <a:lnTo>
                  <a:pt x="100013" y="71438"/>
                </a:lnTo>
                <a:lnTo>
                  <a:pt x="64740" y="36166"/>
                </a:lnTo>
                <a:lnTo>
                  <a:pt x="82600" y="18306"/>
                </a:lnTo>
                <a:cubicBezTo>
                  <a:pt x="85681" y="15227"/>
                  <a:pt x="86573" y="10627"/>
                  <a:pt x="84921" y="6608"/>
                </a:cubicBezTo>
                <a:cubicBezTo>
                  <a:pt x="83269" y="2590"/>
                  <a:pt x="79339" y="0"/>
                  <a:pt x="750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34313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BLOCK_SIZE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43838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每个 program 处理的元素数量，编译时常量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90433" y="3876488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1485838" y="407641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1636785" y="4250224"/>
            <a:ext cx="230029" cy="185738"/>
          </a:xfrm>
          <a:custGeom>
            <a:avLst/>
            <a:gdLst/>
            <a:ahLst/>
            <a:cxnLst/>
            <a:rect r="r" b="b" t="t" l="l"/>
            <a:pathLst>
              <a:path h="185738" w="230029">
                <a:moveTo>
                  <a:pt x="1429" y="10717"/>
                </a:moveTo>
                <a:cubicBezTo>
                  <a:pt x="1429" y="4822"/>
                  <a:pt x="6205" y="0"/>
                  <a:pt x="12145" y="0"/>
                </a:cubicBezTo>
                <a:lnTo>
                  <a:pt x="33577" y="0"/>
                </a:lnTo>
                <a:cubicBezTo>
                  <a:pt x="39514" y="0"/>
                  <a:pt x="44292" y="4778"/>
                  <a:pt x="44292" y="10717"/>
                </a:cubicBezTo>
                <a:lnTo>
                  <a:pt x="44292" y="57150"/>
                </a:lnTo>
                <a:lnTo>
                  <a:pt x="55006" y="57150"/>
                </a:lnTo>
                <a:cubicBezTo>
                  <a:pt x="60945" y="57150"/>
                  <a:pt x="65723" y="61928"/>
                  <a:pt x="65723" y="67867"/>
                </a:cubicBezTo>
                <a:cubicBezTo>
                  <a:pt x="65723" y="73804"/>
                  <a:pt x="60945" y="78582"/>
                  <a:pt x="55006" y="78582"/>
                </a:cubicBezTo>
                <a:lnTo>
                  <a:pt x="12145" y="78582"/>
                </a:lnTo>
                <a:cubicBezTo>
                  <a:pt x="6205" y="78582"/>
                  <a:pt x="1429" y="73804"/>
                  <a:pt x="1429" y="67867"/>
                </a:cubicBezTo>
                <a:cubicBezTo>
                  <a:pt x="1429" y="61928"/>
                  <a:pt x="6205" y="57150"/>
                  <a:pt x="12145" y="57150"/>
                </a:cubicBezTo>
                <a:lnTo>
                  <a:pt x="22860" y="57150"/>
                </a:lnTo>
                <a:lnTo>
                  <a:pt x="22860" y="21432"/>
                </a:lnTo>
                <a:lnTo>
                  <a:pt x="12145" y="21432"/>
                </a:lnTo>
                <a:cubicBezTo>
                  <a:pt x="6205" y="21432"/>
                  <a:pt x="1429" y="16654"/>
                  <a:pt x="1429" y="10717"/>
                </a:cubicBezTo>
                <a:close/>
                <a:moveTo>
                  <a:pt x="15001" y="113051"/>
                </a:moveTo>
                <a:cubicBezTo>
                  <a:pt x="20092" y="109210"/>
                  <a:pt x="26298" y="107156"/>
                  <a:pt x="32682" y="107156"/>
                </a:cubicBezTo>
                <a:lnTo>
                  <a:pt x="34871" y="107156"/>
                </a:lnTo>
                <a:cubicBezTo>
                  <a:pt x="49918" y="107156"/>
                  <a:pt x="62152" y="119390"/>
                  <a:pt x="62152" y="134437"/>
                </a:cubicBezTo>
                <a:cubicBezTo>
                  <a:pt x="62152" y="143188"/>
                  <a:pt x="57954" y="151358"/>
                  <a:pt x="50899" y="156493"/>
                </a:cubicBezTo>
                <a:lnTo>
                  <a:pt x="40184" y="164306"/>
                </a:lnTo>
                <a:lnTo>
                  <a:pt x="55006" y="164306"/>
                </a:lnTo>
                <a:cubicBezTo>
                  <a:pt x="60945" y="164306"/>
                  <a:pt x="65723" y="169084"/>
                  <a:pt x="65723" y="175021"/>
                </a:cubicBezTo>
                <a:cubicBezTo>
                  <a:pt x="65723" y="180960"/>
                  <a:pt x="60945" y="185738"/>
                  <a:pt x="55006" y="185738"/>
                </a:cubicBezTo>
                <a:lnTo>
                  <a:pt x="14511" y="185738"/>
                </a:lnTo>
                <a:cubicBezTo>
                  <a:pt x="7279" y="185738"/>
                  <a:pt x="1429" y="179889"/>
                  <a:pt x="1429" y="172655"/>
                </a:cubicBezTo>
                <a:cubicBezTo>
                  <a:pt x="1429" y="168459"/>
                  <a:pt x="3438" y="164530"/>
                  <a:pt x="6832" y="162074"/>
                </a:cubicBezTo>
                <a:lnTo>
                  <a:pt x="38309" y="139169"/>
                </a:lnTo>
                <a:cubicBezTo>
                  <a:pt x="39827" y="138053"/>
                  <a:pt x="40720" y="136312"/>
                  <a:pt x="40720" y="134437"/>
                </a:cubicBezTo>
                <a:cubicBezTo>
                  <a:pt x="40720" y="131222"/>
                  <a:pt x="38085" y="128588"/>
                  <a:pt x="34871" y="128588"/>
                </a:cubicBezTo>
                <a:lnTo>
                  <a:pt x="32682" y="128588"/>
                </a:lnTo>
                <a:cubicBezTo>
                  <a:pt x="30943" y="128588"/>
                  <a:pt x="29245" y="129168"/>
                  <a:pt x="27862" y="130196"/>
                </a:cubicBezTo>
                <a:lnTo>
                  <a:pt x="18574" y="137160"/>
                </a:lnTo>
                <a:cubicBezTo>
                  <a:pt x="13841" y="140731"/>
                  <a:pt x="7144" y="139750"/>
                  <a:pt x="3571" y="135016"/>
                </a:cubicBezTo>
                <a:cubicBezTo>
                  <a:pt x="0" y="130284"/>
                  <a:pt x="983" y="123586"/>
                  <a:pt x="5715" y="120015"/>
                </a:cubicBezTo>
                <a:lnTo>
                  <a:pt x="15001" y="113051"/>
                </a:lnTo>
                <a:close/>
                <a:moveTo>
                  <a:pt x="101442" y="7144"/>
                </a:moveTo>
                <a:lnTo>
                  <a:pt x="215742" y="7144"/>
                </a:lnTo>
                <a:cubicBezTo>
                  <a:pt x="223643" y="7144"/>
                  <a:pt x="230029" y="13530"/>
                  <a:pt x="230029" y="21432"/>
                </a:cubicBezTo>
                <a:cubicBezTo>
                  <a:pt x="230029" y="29333"/>
                  <a:pt x="223643" y="35719"/>
                  <a:pt x="215742" y="35719"/>
                </a:cubicBezTo>
                <a:lnTo>
                  <a:pt x="101442" y="35719"/>
                </a:lnTo>
                <a:cubicBezTo>
                  <a:pt x="93540" y="35719"/>
                  <a:pt x="87154" y="29333"/>
                  <a:pt x="87154" y="21432"/>
                </a:cubicBezTo>
                <a:cubicBezTo>
                  <a:pt x="87154" y="13530"/>
                  <a:pt x="93540" y="7144"/>
                  <a:pt x="101442" y="7144"/>
                </a:cubicBezTo>
                <a:close/>
                <a:moveTo>
                  <a:pt x="101442" y="78582"/>
                </a:moveTo>
                <a:lnTo>
                  <a:pt x="215742" y="78582"/>
                </a:lnTo>
                <a:cubicBezTo>
                  <a:pt x="223643" y="78582"/>
                  <a:pt x="230029" y="84966"/>
                  <a:pt x="230029" y="92869"/>
                </a:cubicBezTo>
                <a:cubicBezTo>
                  <a:pt x="230029" y="100772"/>
                  <a:pt x="223643" y="107156"/>
                  <a:pt x="215742" y="107156"/>
                </a:cubicBezTo>
                <a:lnTo>
                  <a:pt x="101442" y="107156"/>
                </a:lnTo>
                <a:cubicBezTo>
                  <a:pt x="93540" y="107156"/>
                  <a:pt x="87154" y="100772"/>
                  <a:pt x="87154" y="92869"/>
                </a:cubicBezTo>
                <a:cubicBezTo>
                  <a:pt x="87154" y="84966"/>
                  <a:pt x="93540" y="78582"/>
                  <a:pt x="101442" y="78582"/>
                </a:cubicBezTo>
                <a:close/>
                <a:moveTo>
                  <a:pt x="101442" y="150019"/>
                </a:moveTo>
                <a:lnTo>
                  <a:pt x="215742" y="150019"/>
                </a:lnTo>
                <a:cubicBezTo>
                  <a:pt x="223643" y="150019"/>
                  <a:pt x="230029" y="156405"/>
                  <a:pt x="230029" y="164306"/>
                </a:cubicBezTo>
                <a:cubicBezTo>
                  <a:pt x="230029" y="172208"/>
                  <a:pt x="223643" y="178594"/>
                  <a:pt x="215742" y="178594"/>
                </a:cubicBezTo>
                <a:lnTo>
                  <a:pt x="101442" y="178594"/>
                </a:lnTo>
                <a:cubicBezTo>
                  <a:pt x="93540" y="178594"/>
                  <a:pt x="87154" y="172208"/>
                  <a:pt x="87154" y="164306"/>
                </a:cubicBezTo>
                <a:cubicBezTo>
                  <a:pt x="87154" y="156405"/>
                  <a:pt x="93540" y="150019"/>
                  <a:pt x="101442" y="1500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47489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tl.arange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57014" y="506689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生成向量索引，实现向量化操作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3285992" y="3876488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4381470" y="407641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4540991" y="4228793"/>
            <a:ext cx="214403" cy="228243"/>
          </a:xfrm>
          <a:custGeom>
            <a:avLst/>
            <a:gdLst/>
            <a:ahLst/>
            <a:cxnLst/>
            <a:rect r="r" b="b" t="t" l="l"/>
            <a:pathLst>
              <a:path h="228243" w="214403">
                <a:moveTo>
                  <a:pt x="107156" y="0"/>
                </a:moveTo>
                <a:cubicBezTo>
                  <a:pt x="109210" y="0"/>
                  <a:pt x="111264" y="446"/>
                  <a:pt x="113139" y="1295"/>
                </a:cubicBezTo>
                <a:lnTo>
                  <a:pt x="197257" y="36968"/>
                </a:lnTo>
                <a:cubicBezTo>
                  <a:pt x="207080" y="41121"/>
                  <a:pt x="214402" y="50810"/>
                  <a:pt x="214357" y="62508"/>
                </a:cubicBezTo>
                <a:cubicBezTo>
                  <a:pt x="214134" y="106799"/>
                  <a:pt x="195918" y="187836"/>
                  <a:pt x="118989" y="224671"/>
                </a:cubicBezTo>
                <a:cubicBezTo>
                  <a:pt x="111532" y="228243"/>
                  <a:pt x="102870" y="228243"/>
                  <a:pt x="95414" y="224671"/>
                </a:cubicBezTo>
                <a:cubicBezTo>
                  <a:pt x="18440" y="187836"/>
                  <a:pt x="268" y="106799"/>
                  <a:pt x="44" y="62508"/>
                </a:cubicBezTo>
                <a:cubicBezTo>
                  <a:pt x="0" y="50810"/>
                  <a:pt x="7323" y="41121"/>
                  <a:pt x="17145" y="36968"/>
                </a:cubicBezTo>
                <a:lnTo>
                  <a:pt x="101217" y="1295"/>
                </a:lnTo>
                <a:cubicBezTo>
                  <a:pt x="103093" y="446"/>
                  <a:pt x="105102" y="0"/>
                  <a:pt x="107156" y="0"/>
                </a:cubicBezTo>
                <a:close/>
                <a:moveTo>
                  <a:pt x="107156" y="29825"/>
                </a:moveTo>
                <a:lnTo>
                  <a:pt x="107156" y="198641"/>
                </a:lnTo>
                <a:cubicBezTo>
                  <a:pt x="168771" y="168816"/>
                  <a:pt x="185335" y="102735"/>
                  <a:pt x="185737" y="63177"/>
                </a:cubicBezTo>
                <a:lnTo>
                  <a:pt x="107156" y="29870"/>
                </a:lnTo>
                <a:lnTo>
                  <a:pt x="107156" y="2987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43047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mask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452572" y="506689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布尔数组，控制内存访问，防止越界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6181624" y="3876488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7277103" y="407641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7443767" y="4228793"/>
            <a:ext cx="200025" cy="214312"/>
          </a:xfrm>
          <a:custGeom>
            <a:avLst/>
            <a:gdLst/>
            <a:ahLst/>
            <a:cxnLst/>
            <a:rect r="r" b="b" t="t" l="l"/>
            <a:pathLst>
              <a:path h="214312" w="200025">
                <a:moveTo>
                  <a:pt x="114300" y="14287"/>
                </a:moveTo>
                <a:cubicBezTo>
                  <a:pt x="114300" y="6386"/>
                  <a:pt x="107914" y="0"/>
                  <a:pt x="100013" y="0"/>
                </a:cubicBezTo>
                <a:cubicBezTo>
                  <a:pt x="92111" y="0"/>
                  <a:pt x="85725" y="6386"/>
                  <a:pt x="85725" y="14287"/>
                </a:cubicBezTo>
                <a:lnTo>
                  <a:pt x="85725" y="108361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1"/>
                </a:lnTo>
                <a:lnTo>
                  <a:pt x="114300" y="14287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7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7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5"/>
                </a:lnTo>
                <a:cubicBezTo>
                  <a:pt x="111309" y="182076"/>
                  <a:pt x="88671" y="182076"/>
                  <a:pt x="74741" y="168145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7"/>
                </a:moveTo>
                <a:cubicBezTo>
                  <a:pt x="170219" y="167877"/>
                  <a:pt x="175023" y="172681"/>
                  <a:pt x="175023" y="178594"/>
                </a:cubicBezTo>
                <a:cubicBezTo>
                  <a:pt x="175023" y="184508"/>
                  <a:pt x="170219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1"/>
                  <a:pt x="158392" y="167877"/>
                  <a:pt x="164306" y="16787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338680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tl.load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48205" y="5066891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从全局内存读取数据，支持 mask 和向量化</a:t>
            </a:r>
            <a:endParaRPr lang="en-US" sz="1100"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9077257" y="3876488"/>
            <a:ext cx="2724055" cy="1771555"/>
          </a:xfrm>
          <a:custGeom>
            <a:avLst/>
            <a:gdLst/>
            <a:ahLst/>
            <a:cxnLst/>
            <a:rect r="r" b="b" t="t" l="l"/>
            <a:pathLst>
              <a:path h="1771555" w="27240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10172735" y="407641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10339399" y="4227409"/>
            <a:ext cx="200025" cy="215697"/>
          </a:xfrm>
          <a:custGeom>
            <a:avLst/>
            <a:gdLst/>
            <a:ahLst/>
            <a:cxnLst/>
            <a:rect r="r" b="b" t="t" l="l"/>
            <a:pathLst>
              <a:path h="215697" w="200025">
                <a:moveTo>
                  <a:pt x="114300" y="50185"/>
                </a:moveTo>
                <a:lnTo>
                  <a:pt x="114300" y="144259"/>
                </a:lnTo>
                <a:cubicBezTo>
                  <a:pt x="114300" y="152162"/>
                  <a:pt x="107914" y="158547"/>
                  <a:pt x="100013" y="158547"/>
                </a:cubicBezTo>
                <a:cubicBezTo>
                  <a:pt x="92111" y="158547"/>
                  <a:pt x="85725" y="152162"/>
                  <a:pt x="85725" y="144259"/>
                </a:cubicBezTo>
                <a:lnTo>
                  <a:pt x="85725" y="50185"/>
                </a:lnTo>
                <a:lnTo>
                  <a:pt x="67241" y="68669"/>
                </a:lnTo>
                <a:cubicBezTo>
                  <a:pt x="61659" y="74250"/>
                  <a:pt x="52596" y="74250"/>
                  <a:pt x="47015" y="68669"/>
                </a:cubicBezTo>
                <a:cubicBezTo>
                  <a:pt x="41434" y="63088"/>
                  <a:pt x="41434" y="54025"/>
                  <a:pt x="47015" y="48443"/>
                </a:cubicBezTo>
                <a:lnTo>
                  <a:pt x="89877" y="5581"/>
                </a:lnTo>
                <a:cubicBezTo>
                  <a:pt x="95458" y="0"/>
                  <a:pt x="104522" y="0"/>
                  <a:pt x="110103" y="5581"/>
                </a:cubicBezTo>
                <a:lnTo>
                  <a:pt x="152966" y="48443"/>
                </a:lnTo>
                <a:cubicBezTo>
                  <a:pt x="158547" y="54025"/>
                  <a:pt x="158547" y="63088"/>
                  <a:pt x="152966" y="68669"/>
                </a:cubicBezTo>
                <a:cubicBezTo>
                  <a:pt x="147383" y="74250"/>
                  <a:pt x="138321" y="74250"/>
                  <a:pt x="132740" y="68669"/>
                </a:cubicBezTo>
                <a:lnTo>
                  <a:pt x="114300" y="50185"/>
                </a:lnTo>
                <a:close/>
                <a:moveTo>
                  <a:pt x="100013" y="179978"/>
                </a:moveTo>
                <a:cubicBezTo>
                  <a:pt x="119747" y="179978"/>
                  <a:pt x="135731" y="163994"/>
                  <a:pt x="135731" y="144259"/>
                </a:cubicBezTo>
                <a:lnTo>
                  <a:pt x="171450" y="144259"/>
                </a:lnTo>
                <a:cubicBezTo>
                  <a:pt x="187211" y="144259"/>
                  <a:pt x="200025" y="157073"/>
                  <a:pt x="200025" y="172834"/>
                </a:cubicBezTo>
                <a:lnTo>
                  <a:pt x="200025" y="187121"/>
                </a:lnTo>
                <a:cubicBezTo>
                  <a:pt x="200025" y="202882"/>
                  <a:pt x="187211" y="215697"/>
                  <a:pt x="171450" y="215697"/>
                </a:cubicBezTo>
                <a:lnTo>
                  <a:pt x="28575" y="215697"/>
                </a:lnTo>
                <a:cubicBezTo>
                  <a:pt x="12814" y="215697"/>
                  <a:pt x="0" y="202882"/>
                  <a:pt x="0" y="187121"/>
                </a:cubicBezTo>
                <a:lnTo>
                  <a:pt x="0" y="172834"/>
                </a:lnTo>
                <a:cubicBezTo>
                  <a:pt x="0" y="157073"/>
                  <a:pt x="12814" y="144259"/>
                  <a:pt x="28575" y="144259"/>
                </a:cubicBezTo>
                <a:lnTo>
                  <a:pt x="64294" y="144259"/>
                </a:lnTo>
                <a:cubicBezTo>
                  <a:pt x="64294" y="163994"/>
                  <a:pt x="80278" y="179978"/>
                  <a:pt x="100013" y="179978"/>
                </a:cubicBezTo>
                <a:close/>
                <a:moveTo>
                  <a:pt x="164306" y="190693"/>
                </a:moveTo>
                <a:cubicBezTo>
                  <a:pt x="170219" y="190693"/>
                  <a:pt x="175023" y="185892"/>
                  <a:pt x="175023" y="179978"/>
                </a:cubicBezTo>
                <a:cubicBezTo>
                  <a:pt x="175023" y="174065"/>
                  <a:pt x="170219" y="169261"/>
                  <a:pt x="164306" y="169261"/>
                </a:cubicBezTo>
                <a:cubicBezTo>
                  <a:pt x="158392" y="169261"/>
                  <a:pt x="153591" y="174065"/>
                  <a:pt x="153591" y="179978"/>
                </a:cubicBezTo>
                <a:cubicBezTo>
                  <a:pt x="153591" y="185892"/>
                  <a:pt x="158392" y="190693"/>
                  <a:pt x="164306" y="190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234313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tl.store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243838" y="506689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向全局内存写入数据，支持 mask 保护</a:t>
            </a:r>
            <a:endParaRPr lang="en-US" sz="1100"/>
          </a:p>
        </p:txBody>
      </p:sp>
      <p:sp>
        <p:nvSpPr>
          <p:cNvPr name="AutoShape 43" id="43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17331" y="591438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500">
                <a:solidFill>
                  <a:srgbClr val="101828"/>
                </a:solidFill>
                <a:latin typeface="微软雅黑"/>
                <a:ea typeface="微软雅黑"/>
                <a:cs typeface="微软雅黑"/>
                <a:sym typeface="微软雅黑"/>
              </a:rPr>
              <a:t>相关资料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48054" y="1287694"/>
            <a:ext cx="5604317" cy="3654989"/>
          </a:xfrm>
          <a:custGeom>
            <a:avLst/>
            <a:gdLst/>
            <a:ahLst/>
            <a:cxnLst/>
            <a:rect r="r" b="b" t="t" l="l"/>
            <a:pathLst>
              <a:path h="3654989" w="5604317">
                <a:moveTo>
                  <a:pt x="104423" y="0"/>
                </a:moveTo>
                <a:lnTo>
                  <a:pt x="5499894" y="0"/>
                </a:lnTo>
                <a:cubicBezTo>
                  <a:pt x="5557564" y="0"/>
                  <a:pt x="5604317" y="46753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4" y="3654989"/>
                  <a:pt x="5499894" y="3654989"/>
                </a:cubicBezTo>
                <a:lnTo>
                  <a:pt x="104423" y="3654989"/>
                </a:lnTo>
                <a:cubicBezTo>
                  <a:pt x="46753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1"/>
                  <a:pt x="46791" y="0"/>
                  <a:pt x="10442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6886" y="1496525"/>
            <a:ext cx="5291032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进阶主题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74204" y="1914127"/>
            <a:ext cx="5169113" cy="626570"/>
          </a:xfrm>
          <a:custGeom>
            <a:avLst/>
            <a:gdLst/>
            <a:ahLst/>
            <a:cxnLst/>
            <a:rect r="r" b="b" t="t" l="l"/>
            <a:pathLst>
              <a:path h="626570" w="5169113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74204" y="1914127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39416" y="2140270"/>
            <a:ext cx="130534" cy="174047"/>
          </a:xfrm>
          <a:custGeom>
            <a:avLst/>
            <a:gdLst/>
            <a:ahLst/>
            <a:cxnLst/>
            <a:rect r="r" b="b" t="t" l="l"/>
            <a:pathLst>
              <a:path h="174047" w="130534">
                <a:moveTo>
                  <a:pt x="21756" y="0"/>
                </a:moveTo>
                <a:cubicBezTo>
                  <a:pt x="9756" y="0"/>
                  <a:pt x="0" y="9756"/>
                  <a:pt x="0" y="21756"/>
                </a:cubicBezTo>
                <a:lnTo>
                  <a:pt x="0" y="152291"/>
                </a:lnTo>
                <a:cubicBezTo>
                  <a:pt x="0" y="164291"/>
                  <a:pt x="9756" y="174047"/>
                  <a:pt x="21756" y="174047"/>
                </a:cubicBezTo>
                <a:lnTo>
                  <a:pt x="108779" y="174047"/>
                </a:lnTo>
                <a:cubicBezTo>
                  <a:pt x="120780" y="174047"/>
                  <a:pt x="130534" y="164291"/>
                  <a:pt x="130534" y="152291"/>
                </a:cubicBezTo>
                <a:lnTo>
                  <a:pt x="130534" y="21756"/>
                </a:lnTo>
                <a:cubicBezTo>
                  <a:pt x="130534" y="9756"/>
                  <a:pt x="120780" y="0"/>
                  <a:pt x="108779" y="0"/>
                </a:cubicBezTo>
                <a:lnTo>
                  <a:pt x="21756" y="0"/>
                </a:lnTo>
                <a:close/>
                <a:moveTo>
                  <a:pt x="32634" y="21756"/>
                </a:moveTo>
                <a:lnTo>
                  <a:pt x="97900" y="21756"/>
                </a:lnTo>
                <a:cubicBezTo>
                  <a:pt x="103918" y="21756"/>
                  <a:pt x="108779" y="26617"/>
                  <a:pt x="108779" y="32634"/>
                </a:cubicBezTo>
                <a:lnTo>
                  <a:pt x="108779" y="43511"/>
                </a:lnTo>
                <a:cubicBezTo>
                  <a:pt x="108779" y="49529"/>
                  <a:pt x="103918" y="54390"/>
                  <a:pt x="97900" y="54390"/>
                </a:cubicBezTo>
                <a:lnTo>
                  <a:pt x="32634" y="54390"/>
                </a:lnTo>
                <a:cubicBezTo>
                  <a:pt x="26617" y="54390"/>
                  <a:pt x="21756" y="49529"/>
                  <a:pt x="21756" y="43511"/>
                </a:cubicBezTo>
                <a:lnTo>
                  <a:pt x="21756" y="32634"/>
                </a:lnTo>
                <a:cubicBezTo>
                  <a:pt x="21756" y="26617"/>
                  <a:pt x="26617" y="21756"/>
                  <a:pt x="32634" y="21756"/>
                </a:cubicBezTo>
                <a:close/>
                <a:moveTo>
                  <a:pt x="38073" y="78864"/>
                </a:moveTo>
                <a:cubicBezTo>
                  <a:pt x="38073" y="83368"/>
                  <a:pt x="34417" y="87024"/>
                  <a:pt x="29914" y="87024"/>
                </a:cubicBezTo>
                <a:cubicBezTo>
                  <a:pt x="25411" y="87024"/>
                  <a:pt x="21756" y="83368"/>
                  <a:pt x="21756" y="78864"/>
                </a:cubicBezTo>
                <a:cubicBezTo>
                  <a:pt x="21756" y="74362"/>
                  <a:pt x="25411" y="70707"/>
                  <a:pt x="29914" y="70707"/>
                </a:cubicBezTo>
                <a:cubicBezTo>
                  <a:pt x="34417" y="70707"/>
                  <a:pt x="38073" y="74362"/>
                  <a:pt x="38073" y="78864"/>
                </a:cubicBezTo>
                <a:close/>
                <a:moveTo>
                  <a:pt x="65268" y="87024"/>
                </a:moveTo>
                <a:cubicBezTo>
                  <a:pt x="60764" y="87024"/>
                  <a:pt x="57109" y="83368"/>
                  <a:pt x="57109" y="78864"/>
                </a:cubicBezTo>
                <a:cubicBezTo>
                  <a:pt x="57109" y="74362"/>
                  <a:pt x="60764" y="70707"/>
                  <a:pt x="65268" y="70707"/>
                </a:cubicBezTo>
                <a:cubicBezTo>
                  <a:pt x="69770" y="70707"/>
                  <a:pt x="73426" y="74362"/>
                  <a:pt x="73426" y="78864"/>
                </a:cubicBezTo>
                <a:cubicBezTo>
                  <a:pt x="73426" y="83368"/>
                  <a:pt x="69770" y="87024"/>
                  <a:pt x="65268" y="87024"/>
                </a:cubicBezTo>
                <a:close/>
                <a:moveTo>
                  <a:pt x="108779" y="78864"/>
                </a:moveTo>
                <a:cubicBezTo>
                  <a:pt x="108779" y="83368"/>
                  <a:pt x="105124" y="87024"/>
                  <a:pt x="100621" y="87024"/>
                </a:cubicBezTo>
                <a:cubicBezTo>
                  <a:pt x="96117" y="87024"/>
                  <a:pt x="92464" y="83368"/>
                  <a:pt x="92464" y="78864"/>
                </a:cubicBezTo>
                <a:cubicBezTo>
                  <a:pt x="92464" y="74362"/>
                  <a:pt x="96117" y="70707"/>
                  <a:pt x="100621" y="70707"/>
                </a:cubicBezTo>
                <a:cubicBezTo>
                  <a:pt x="105124" y="70707"/>
                  <a:pt x="108779" y="74362"/>
                  <a:pt x="108779" y="78864"/>
                </a:cubicBezTo>
                <a:close/>
                <a:moveTo>
                  <a:pt x="29914" y="119657"/>
                </a:moveTo>
                <a:cubicBezTo>
                  <a:pt x="25411" y="119657"/>
                  <a:pt x="21756" y="116002"/>
                  <a:pt x="21756" y="111498"/>
                </a:cubicBezTo>
                <a:cubicBezTo>
                  <a:pt x="21756" y="106996"/>
                  <a:pt x="25411" y="103340"/>
                  <a:pt x="29914" y="103340"/>
                </a:cubicBezTo>
                <a:cubicBezTo>
                  <a:pt x="34417" y="103340"/>
                  <a:pt x="38073" y="106996"/>
                  <a:pt x="38073" y="111498"/>
                </a:cubicBezTo>
                <a:cubicBezTo>
                  <a:pt x="38073" y="116002"/>
                  <a:pt x="34417" y="119657"/>
                  <a:pt x="29914" y="119657"/>
                </a:cubicBezTo>
                <a:close/>
                <a:moveTo>
                  <a:pt x="73426" y="111498"/>
                </a:moveTo>
                <a:cubicBezTo>
                  <a:pt x="73426" y="116002"/>
                  <a:pt x="69770" y="119657"/>
                  <a:pt x="65268" y="119657"/>
                </a:cubicBezTo>
                <a:cubicBezTo>
                  <a:pt x="60764" y="119657"/>
                  <a:pt x="57109" y="116002"/>
                  <a:pt x="57109" y="111498"/>
                </a:cubicBezTo>
                <a:cubicBezTo>
                  <a:pt x="57109" y="106996"/>
                  <a:pt x="60764" y="103340"/>
                  <a:pt x="65268" y="103340"/>
                </a:cubicBezTo>
                <a:cubicBezTo>
                  <a:pt x="69770" y="103340"/>
                  <a:pt x="73426" y="106996"/>
                  <a:pt x="73426" y="111498"/>
                </a:cubicBezTo>
                <a:close/>
                <a:moveTo>
                  <a:pt x="100621" y="119657"/>
                </a:moveTo>
                <a:cubicBezTo>
                  <a:pt x="96117" y="119657"/>
                  <a:pt x="92464" y="116002"/>
                  <a:pt x="92464" y="111498"/>
                </a:cubicBezTo>
                <a:cubicBezTo>
                  <a:pt x="92464" y="106996"/>
                  <a:pt x="96117" y="103340"/>
                  <a:pt x="100621" y="103340"/>
                </a:cubicBezTo>
                <a:cubicBezTo>
                  <a:pt x="105124" y="103340"/>
                  <a:pt x="108779" y="106996"/>
                  <a:pt x="108779" y="111498"/>
                </a:cubicBezTo>
                <a:cubicBezTo>
                  <a:pt x="108779" y="116002"/>
                  <a:pt x="105124" y="119657"/>
                  <a:pt x="100621" y="119657"/>
                </a:cubicBezTo>
                <a:close/>
                <a:moveTo>
                  <a:pt x="21756" y="144134"/>
                </a:moveTo>
                <a:cubicBezTo>
                  <a:pt x="21756" y="139612"/>
                  <a:pt x="25392" y="135974"/>
                  <a:pt x="29914" y="135974"/>
                </a:cubicBezTo>
                <a:lnTo>
                  <a:pt x="67987" y="135974"/>
                </a:lnTo>
                <a:cubicBezTo>
                  <a:pt x="72508" y="135974"/>
                  <a:pt x="76145" y="139612"/>
                  <a:pt x="76145" y="144134"/>
                </a:cubicBezTo>
                <a:cubicBezTo>
                  <a:pt x="76145" y="148654"/>
                  <a:pt x="72508" y="152291"/>
                  <a:pt x="67987" y="152291"/>
                </a:cubicBezTo>
                <a:lnTo>
                  <a:pt x="29914" y="152291"/>
                </a:lnTo>
                <a:cubicBezTo>
                  <a:pt x="25392" y="152291"/>
                  <a:pt x="21756" y="148654"/>
                  <a:pt x="21756" y="144134"/>
                </a:cubicBezTo>
                <a:close/>
                <a:moveTo>
                  <a:pt x="100621" y="135974"/>
                </a:moveTo>
                <a:cubicBezTo>
                  <a:pt x="105142" y="135974"/>
                  <a:pt x="108779" y="139612"/>
                  <a:pt x="108779" y="144134"/>
                </a:cubicBezTo>
                <a:cubicBezTo>
                  <a:pt x="108779" y="148654"/>
                  <a:pt x="105142" y="152291"/>
                  <a:pt x="100621" y="152291"/>
                </a:cubicBezTo>
                <a:cubicBezTo>
                  <a:pt x="96100" y="152291"/>
                  <a:pt x="92464" y="148654"/>
                  <a:pt x="92464" y="144134"/>
                </a:cubicBezTo>
                <a:cubicBezTo>
                  <a:pt x="92464" y="139612"/>
                  <a:pt x="96100" y="135974"/>
                  <a:pt x="100621" y="13597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7845" y="2018505"/>
            <a:ext cx="1557722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矩阵乘法（MatMul）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7845" y="2262179"/>
            <a:ext cx="154031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学习共享内存、分块计算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74204" y="2644938"/>
            <a:ext cx="5169113" cy="626570"/>
          </a:xfrm>
          <a:custGeom>
            <a:avLst/>
            <a:gdLst/>
            <a:ahLst/>
            <a:cxnLst/>
            <a:rect r="r" b="b" t="t" l="l"/>
            <a:pathLst>
              <a:path h="626570" w="5169113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74204" y="2644938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17660" y="2892845"/>
            <a:ext cx="174047" cy="130534"/>
          </a:xfrm>
          <a:custGeom>
            <a:avLst/>
            <a:gdLst/>
            <a:ahLst/>
            <a:cxnLst/>
            <a:rect r="r" b="b" t="t" l="l"/>
            <a:pathLst>
              <a:path h="130534" w="174047">
                <a:moveTo>
                  <a:pt x="21756" y="10878"/>
                </a:moveTo>
                <a:cubicBezTo>
                  <a:pt x="21756" y="4861"/>
                  <a:pt x="26617" y="0"/>
                  <a:pt x="32634" y="0"/>
                </a:cubicBezTo>
                <a:lnTo>
                  <a:pt x="87024" y="0"/>
                </a:lnTo>
                <a:cubicBezTo>
                  <a:pt x="93040" y="0"/>
                  <a:pt x="97900" y="4861"/>
                  <a:pt x="97900" y="10878"/>
                </a:cubicBezTo>
                <a:lnTo>
                  <a:pt x="97900" y="108778"/>
                </a:lnTo>
                <a:lnTo>
                  <a:pt x="130534" y="108778"/>
                </a:lnTo>
                <a:lnTo>
                  <a:pt x="130534" y="65268"/>
                </a:lnTo>
                <a:cubicBezTo>
                  <a:pt x="130534" y="59251"/>
                  <a:pt x="135396" y="54389"/>
                  <a:pt x="141413" y="54389"/>
                </a:cubicBezTo>
                <a:lnTo>
                  <a:pt x="163170" y="54389"/>
                </a:lnTo>
                <a:cubicBezTo>
                  <a:pt x="169186" y="54389"/>
                  <a:pt x="174047" y="59251"/>
                  <a:pt x="174047" y="65268"/>
                </a:cubicBezTo>
                <a:cubicBezTo>
                  <a:pt x="174047" y="71284"/>
                  <a:pt x="169186" y="76144"/>
                  <a:pt x="163170" y="76144"/>
                </a:cubicBezTo>
                <a:lnTo>
                  <a:pt x="152291" y="76144"/>
                </a:lnTo>
                <a:lnTo>
                  <a:pt x="152291" y="119657"/>
                </a:lnTo>
                <a:cubicBezTo>
                  <a:pt x="152291" y="125674"/>
                  <a:pt x="147430" y="130535"/>
                  <a:pt x="141413" y="130535"/>
                </a:cubicBezTo>
                <a:lnTo>
                  <a:pt x="87024" y="130535"/>
                </a:lnTo>
                <a:cubicBezTo>
                  <a:pt x="81007" y="130535"/>
                  <a:pt x="76145" y="125674"/>
                  <a:pt x="76145" y="119657"/>
                </a:cubicBezTo>
                <a:lnTo>
                  <a:pt x="76145" y="21755"/>
                </a:lnTo>
                <a:lnTo>
                  <a:pt x="43511" y="21755"/>
                </a:lnTo>
                <a:lnTo>
                  <a:pt x="43511" y="65268"/>
                </a:lnTo>
                <a:cubicBezTo>
                  <a:pt x="43511" y="71284"/>
                  <a:pt x="38651" y="76144"/>
                  <a:pt x="32634" y="76144"/>
                </a:cubicBezTo>
                <a:lnTo>
                  <a:pt x="10878" y="76144"/>
                </a:lnTo>
                <a:cubicBezTo>
                  <a:pt x="4862" y="76144"/>
                  <a:pt x="0" y="71284"/>
                  <a:pt x="0" y="65268"/>
                </a:cubicBezTo>
                <a:cubicBezTo>
                  <a:pt x="0" y="59251"/>
                  <a:pt x="4862" y="54389"/>
                  <a:pt x="10878" y="54389"/>
                </a:cubicBezTo>
                <a:lnTo>
                  <a:pt x="21756" y="54389"/>
                </a:lnTo>
                <a:lnTo>
                  <a:pt x="21756" y="1087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7845" y="2749315"/>
            <a:ext cx="1540317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Softmax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7845" y="2992990"/>
            <a:ext cx="1522912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理解归约操作、数值稳定性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74204" y="3375749"/>
            <a:ext cx="5169113" cy="626570"/>
          </a:xfrm>
          <a:custGeom>
            <a:avLst/>
            <a:gdLst/>
            <a:ahLst/>
            <a:cxnLst/>
            <a:rect r="r" b="b" t="t" l="l"/>
            <a:pathLst>
              <a:path h="626570" w="5169113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74204" y="3375749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717660" y="3601322"/>
            <a:ext cx="174047" cy="175203"/>
          </a:xfrm>
          <a:custGeom>
            <a:avLst/>
            <a:gdLst/>
            <a:ahLst/>
            <a:cxnLst/>
            <a:rect r="r" b="b" t="t" l="l"/>
            <a:pathLst>
              <a:path h="175203" w="174047">
                <a:moveTo>
                  <a:pt x="79035" y="2346"/>
                </a:moveTo>
                <a:cubicBezTo>
                  <a:pt x="84099" y="0"/>
                  <a:pt x="89946" y="0"/>
                  <a:pt x="95013" y="2346"/>
                </a:cubicBezTo>
                <a:lnTo>
                  <a:pt x="169321" y="36679"/>
                </a:lnTo>
                <a:cubicBezTo>
                  <a:pt x="172211" y="38005"/>
                  <a:pt x="174047" y="40894"/>
                  <a:pt x="174047" y="44089"/>
                </a:cubicBezTo>
                <a:cubicBezTo>
                  <a:pt x="174047" y="47285"/>
                  <a:pt x="172211" y="50175"/>
                  <a:pt x="169321" y="51500"/>
                </a:cubicBezTo>
                <a:lnTo>
                  <a:pt x="95013" y="85834"/>
                </a:lnTo>
                <a:cubicBezTo>
                  <a:pt x="89946" y="88179"/>
                  <a:pt x="84099" y="88179"/>
                  <a:pt x="79035" y="85834"/>
                </a:cubicBezTo>
                <a:lnTo>
                  <a:pt x="4724" y="51500"/>
                </a:lnTo>
                <a:cubicBezTo>
                  <a:pt x="1836" y="50141"/>
                  <a:pt x="0" y="47250"/>
                  <a:pt x="0" y="44089"/>
                </a:cubicBezTo>
                <a:cubicBezTo>
                  <a:pt x="0" y="40928"/>
                  <a:pt x="1836" y="38005"/>
                  <a:pt x="4724" y="36679"/>
                </a:cubicBezTo>
                <a:lnTo>
                  <a:pt x="79035" y="2346"/>
                </a:lnTo>
                <a:close/>
                <a:moveTo>
                  <a:pt x="16351" y="74820"/>
                </a:moveTo>
                <a:lnTo>
                  <a:pt x="72202" y="100621"/>
                </a:lnTo>
                <a:cubicBezTo>
                  <a:pt x="81619" y="104972"/>
                  <a:pt x="92464" y="104972"/>
                  <a:pt x="101879" y="100621"/>
                </a:cubicBezTo>
                <a:lnTo>
                  <a:pt x="157730" y="74820"/>
                </a:lnTo>
                <a:lnTo>
                  <a:pt x="169321" y="80190"/>
                </a:lnTo>
                <a:cubicBezTo>
                  <a:pt x="172211" y="81516"/>
                  <a:pt x="174047" y="84406"/>
                  <a:pt x="174047" y="87602"/>
                </a:cubicBezTo>
                <a:cubicBezTo>
                  <a:pt x="174047" y="90798"/>
                  <a:pt x="172211" y="93686"/>
                  <a:pt x="169321" y="95011"/>
                </a:cubicBezTo>
                <a:lnTo>
                  <a:pt x="95013" y="129346"/>
                </a:lnTo>
                <a:cubicBezTo>
                  <a:pt x="89946" y="131692"/>
                  <a:pt x="84099" y="131692"/>
                  <a:pt x="79035" y="129346"/>
                </a:cubicBezTo>
                <a:lnTo>
                  <a:pt x="4724" y="95011"/>
                </a:lnTo>
                <a:cubicBezTo>
                  <a:pt x="1836" y="93652"/>
                  <a:pt x="0" y="90763"/>
                  <a:pt x="0" y="87602"/>
                </a:cubicBezTo>
                <a:cubicBezTo>
                  <a:pt x="0" y="84440"/>
                  <a:pt x="1836" y="81516"/>
                  <a:pt x="4724" y="80190"/>
                </a:cubicBezTo>
                <a:lnTo>
                  <a:pt x="16317" y="74820"/>
                </a:lnTo>
                <a:close/>
                <a:moveTo>
                  <a:pt x="4724" y="123703"/>
                </a:moveTo>
                <a:lnTo>
                  <a:pt x="16317" y="118332"/>
                </a:lnTo>
                <a:lnTo>
                  <a:pt x="72168" y="144132"/>
                </a:lnTo>
                <a:cubicBezTo>
                  <a:pt x="81585" y="148483"/>
                  <a:pt x="92429" y="148483"/>
                  <a:pt x="101845" y="144132"/>
                </a:cubicBezTo>
                <a:lnTo>
                  <a:pt x="157696" y="118332"/>
                </a:lnTo>
                <a:lnTo>
                  <a:pt x="169288" y="123703"/>
                </a:lnTo>
                <a:cubicBezTo>
                  <a:pt x="172176" y="125028"/>
                  <a:pt x="174013" y="127918"/>
                  <a:pt x="174013" y="131112"/>
                </a:cubicBezTo>
                <a:cubicBezTo>
                  <a:pt x="174013" y="134309"/>
                  <a:pt x="172176" y="137198"/>
                  <a:pt x="169288" y="138524"/>
                </a:cubicBezTo>
                <a:lnTo>
                  <a:pt x="94978" y="172857"/>
                </a:lnTo>
                <a:cubicBezTo>
                  <a:pt x="89913" y="175203"/>
                  <a:pt x="84066" y="175203"/>
                  <a:pt x="79002" y="172857"/>
                </a:cubicBezTo>
                <a:lnTo>
                  <a:pt x="4724" y="138524"/>
                </a:lnTo>
                <a:cubicBezTo>
                  <a:pt x="1836" y="137164"/>
                  <a:pt x="0" y="134275"/>
                  <a:pt x="0" y="131112"/>
                </a:cubicBezTo>
                <a:cubicBezTo>
                  <a:pt x="0" y="127951"/>
                  <a:pt x="1836" y="125028"/>
                  <a:pt x="4724" y="12370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7845" y="3480126"/>
            <a:ext cx="1540317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LayerNorm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7845" y="3723801"/>
            <a:ext cx="1522912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学习统计量计算、广播操作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74204" y="4106560"/>
            <a:ext cx="5169113" cy="626570"/>
          </a:xfrm>
          <a:custGeom>
            <a:avLst/>
            <a:gdLst/>
            <a:ahLst/>
            <a:cxnLst/>
            <a:rect r="r" b="b" t="t" l="l"/>
            <a:pathLst>
              <a:path h="626570" w="5169113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574204" y="4106560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27620" y="4326422"/>
            <a:ext cx="154127" cy="186625"/>
          </a:xfrm>
          <a:custGeom>
            <a:avLst/>
            <a:gdLst/>
            <a:ahLst/>
            <a:cxnLst/>
            <a:rect r="r" b="b" t="t" l="l"/>
            <a:pathLst>
              <a:path h="186625" w="154127">
                <a:moveTo>
                  <a:pt x="116088" y="2924"/>
                </a:moveTo>
                <a:cubicBezTo>
                  <a:pt x="120133" y="5847"/>
                  <a:pt x="121629" y="11151"/>
                  <a:pt x="119794" y="15773"/>
                </a:cubicBezTo>
                <a:lnTo>
                  <a:pt x="93143" y="82434"/>
                </a:lnTo>
                <a:lnTo>
                  <a:pt x="142331" y="82434"/>
                </a:lnTo>
                <a:cubicBezTo>
                  <a:pt x="146920" y="82434"/>
                  <a:pt x="151000" y="85291"/>
                  <a:pt x="152564" y="89607"/>
                </a:cubicBezTo>
                <a:cubicBezTo>
                  <a:pt x="154127" y="93924"/>
                  <a:pt x="152801" y="98753"/>
                  <a:pt x="149300" y="101675"/>
                </a:cubicBezTo>
                <a:lnTo>
                  <a:pt x="51398" y="183260"/>
                </a:lnTo>
                <a:cubicBezTo>
                  <a:pt x="47557" y="186455"/>
                  <a:pt x="42084" y="186625"/>
                  <a:pt x="38039" y="183700"/>
                </a:cubicBezTo>
                <a:cubicBezTo>
                  <a:pt x="33994" y="180778"/>
                  <a:pt x="32498" y="175475"/>
                  <a:pt x="34334" y="170852"/>
                </a:cubicBezTo>
                <a:lnTo>
                  <a:pt x="60985" y="104189"/>
                </a:lnTo>
                <a:lnTo>
                  <a:pt x="11796" y="104189"/>
                </a:lnTo>
                <a:cubicBezTo>
                  <a:pt x="7207" y="104189"/>
                  <a:pt x="3128" y="101335"/>
                  <a:pt x="1564" y="97018"/>
                </a:cubicBezTo>
                <a:cubicBezTo>
                  <a:pt x="0" y="92701"/>
                  <a:pt x="1326" y="87874"/>
                  <a:pt x="4827" y="84950"/>
                </a:cubicBezTo>
                <a:lnTo>
                  <a:pt x="102729" y="3365"/>
                </a:lnTo>
                <a:cubicBezTo>
                  <a:pt x="106571" y="170"/>
                  <a:pt x="112043" y="0"/>
                  <a:pt x="116088" y="292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7845" y="4210937"/>
            <a:ext cx="1549019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Flash Attention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7845" y="4454612"/>
            <a:ext cx="1531615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高级内存优化、融合 kernel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234726" y="1287694"/>
            <a:ext cx="5604317" cy="3654989"/>
          </a:xfrm>
          <a:custGeom>
            <a:avLst/>
            <a:gdLst/>
            <a:ahLst/>
            <a:cxnLst/>
            <a:rect r="r" b="b" t="t" l="l"/>
            <a:pathLst>
              <a:path h="3654989" w="5604317">
                <a:moveTo>
                  <a:pt x="104423" y="0"/>
                </a:moveTo>
                <a:lnTo>
                  <a:pt x="5499894" y="0"/>
                </a:lnTo>
                <a:cubicBezTo>
                  <a:pt x="5557564" y="0"/>
                  <a:pt x="5604317" y="46753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4" y="3654989"/>
                  <a:pt x="5499894" y="3654989"/>
                </a:cubicBezTo>
                <a:lnTo>
                  <a:pt x="104423" y="3654989"/>
                </a:lnTo>
                <a:cubicBezTo>
                  <a:pt x="46753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1"/>
                  <a:pt x="46791" y="0"/>
                  <a:pt x="10442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43558" y="1565863"/>
            <a:ext cx="5291032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推荐资源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443558" y="1983466"/>
            <a:ext cx="5186604" cy="800617"/>
          </a:xfrm>
          <a:custGeom>
            <a:avLst/>
            <a:gdLst/>
            <a:ahLst/>
            <a:cxnLst/>
            <a:rect r="r" b="b" t="t" l="l"/>
            <a:pathLst>
              <a:path h="800617" w="5186604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615414" y="2157453"/>
            <a:ext cx="152291" cy="174047"/>
          </a:xfrm>
          <a:custGeom>
            <a:avLst/>
            <a:gdLst/>
            <a:ahLst/>
            <a:cxnLst/>
            <a:rect r="r" b="b" t="t" l="l"/>
            <a:pathLst>
              <a:path h="174047" w="152291">
                <a:moveTo>
                  <a:pt x="130534" y="174047"/>
                </a:moveTo>
                <a:lnTo>
                  <a:pt x="32634" y="174047"/>
                </a:lnTo>
                <a:cubicBezTo>
                  <a:pt x="14616" y="174047"/>
                  <a:pt x="0" y="159429"/>
                  <a:pt x="0" y="141413"/>
                </a:cubicBezTo>
                <a:lnTo>
                  <a:pt x="0" y="32634"/>
                </a:lnTo>
                <a:cubicBezTo>
                  <a:pt x="0" y="14616"/>
                  <a:pt x="14616" y="0"/>
                  <a:pt x="32634" y="0"/>
                </a:cubicBezTo>
                <a:lnTo>
                  <a:pt x="135974" y="0"/>
                </a:lnTo>
                <a:cubicBezTo>
                  <a:pt x="144983" y="0"/>
                  <a:pt x="152291" y="7309"/>
                  <a:pt x="152291" y="16317"/>
                </a:cubicBezTo>
                <a:lnTo>
                  <a:pt x="152291" y="114217"/>
                </a:lnTo>
                <a:cubicBezTo>
                  <a:pt x="152291" y="121323"/>
                  <a:pt x="147737" y="127373"/>
                  <a:pt x="141413" y="129617"/>
                </a:cubicBezTo>
                <a:lnTo>
                  <a:pt x="141413" y="152291"/>
                </a:lnTo>
                <a:cubicBezTo>
                  <a:pt x="147430" y="152291"/>
                  <a:pt x="152291" y="157152"/>
                  <a:pt x="152291" y="163170"/>
                </a:cubicBezTo>
                <a:cubicBezTo>
                  <a:pt x="152291" y="169186"/>
                  <a:pt x="147430" y="174047"/>
                  <a:pt x="141413" y="174047"/>
                </a:cubicBezTo>
                <a:lnTo>
                  <a:pt x="130534" y="174047"/>
                </a:lnTo>
                <a:close/>
                <a:moveTo>
                  <a:pt x="32634" y="130534"/>
                </a:moveTo>
                <a:cubicBezTo>
                  <a:pt x="26617" y="130534"/>
                  <a:pt x="21756" y="135396"/>
                  <a:pt x="21756" y="141413"/>
                </a:cubicBezTo>
                <a:cubicBezTo>
                  <a:pt x="21756" y="147430"/>
                  <a:pt x="26617" y="152291"/>
                  <a:pt x="32634" y="152291"/>
                </a:cubicBezTo>
                <a:lnTo>
                  <a:pt x="119657" y="152291"/>
                </a:lnTo>
                <a:lnTo>
                  <a:pt x="119657" y="130534"/>
                </a:lnTo>
                <a:lnTo>
                  <a:pt x="32634" y="130534"/>
                </a:lnTo>
                <a:close/>
                <a:moveTo>
                  <a:pt x="43511" y="51670"/>
                </a:moveTo>
                <a:cubicBezTo>
                  <a:pt x="43511" y="56191"/>
                  <a:pt x="47149" y="59828"/>
                  <a:pt x="51670" y="59828"/>
                </a:cubicBezTo>
                <a:lnTo>
                  <a:pt x="111498" y="59828"/>
                </a:lnTo>
                <a:cubicBezTo>
                  <a:pt x="116020" y="59828"/>
                  <a:pt x="119657" y="56191"/>
                  <a:pt x="119657" y="51670"/>
                </a:cubicBezTo>
                <a:cubicBezTo>
                  <a:pt x="119657" y="47149"/>
                  <a:pt x="116020" y="43511"/>
                  <a:pt x="111498" y="43511"/>
                </a:cubicBezTo>
                <a:lnTo>
                  <a:pt x="51670" y="43511"/>
                </a:lnTo>
                <a:cubicBezTo>
                  <a:pt x="47149" y="43511"/>
                  <a:pt x="43511" y="47149"/>
                  <a:pt x="43511" y="51670"/>
                </a:cubicBezTo>
                <a:close/>
                <a:moveTo>
                  <a:pt x="51670" y="76145"/>
                </a:moveTo>
                <a:cubicBezTo>
                  <a:pt x="47149" y="76145"/>
                  <a:pt x="43511" y="79783"/>
                  <a:pt x="43511" y="84304"/>
                </a:cubicBezTo>
                <a:cubicBezTo>
                  <a:pt x="43511" y="88825"/>
                  <a:pt x="47149" y="92464"/>
                  <a:pt x="51670" y="92464"/>
                </a:cubicBezTo>
                <a:lnTo>
                  <a:pt x="111498" y="92464"/>
                </a:lnTo>
                <a:cubicBezTo>
                  <a:pt x="116020" y="92464"/>
                  <a:pt x="119657" y="88825"/>
                  <a:pt x="119657" y="84304"/>
                </a:cubicBezTo>
                <a:cubicBezTo>
                  <a:pt x="119657" y="79783"/>
                  <a:pt x="116020" y="76145"/>
                  <a:pt x="111498" y="76145"/>
                </a:cubicBezTo>
                <a:lnTo>
                  <a:pt x="51670" y="7614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904721" y="2122686"/>
            <a:ext cx="704891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官方文档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582780" y="2435971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https://triton-lang.org/main/index.html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6443558" y="2923244"/>
            <a:ext cx="5186604" cy="800617"/>
          </a:xfrm>
          <a:custGeom>
            <a:avLst/>
            <a:gdLst/>
            <a:ahLst/>
            <a:cxnLst/>
            <a:rect r="r" b="b" t="t" l="l"/>
            <a:pathLst>
              <a:path h="800617" w="5186604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593658" y="3108109"/>
            <a:ext cx="195804" cy="152292"/>
          </a:xfrm>
          <a:custGeom>
            <a:avLst/>
            <a:gdLst/>
            <a:ahLst/>
            <a:cxnLst/>
            <a:rect r="r" b="b" t="t" l="l"/>
            <a:pathLst>
              <a:path h="152292" w="195804">
                <a:moveTo>
                  <a:pt x="16317" y="55681"/>
                </a:moveTo>
                <a:lnTo>
                  <a:pt x="87431" y="84950"/>
                </a:lnTo>
                <a:cubicBezTo>
                  <a:pt x="90763" y="86310"/>
                  <a:pt x="94298" y="87022"/>
                  <a:pt x="97900" y="87022"/>
                </a:cubicBezTo>
                <a:cubicBezTo>
                  <a:pt x="101505" y="87022"/>
                  <a:pt x="105040" y="86310"/>
                  <a:pt x="108372" y="84950"/>
                </a:cubicBezTo>
                <a:lnTo>
                  <a:pt x="190772" y="51024"/>
                </a:lnTo>
                <a:cubicBezTo>
                  <a:pt x="193831" y="49767"/>
                  <a:pt x="195804" y="46809"/>
                  <a:pt x="195804" y="43512"/>
                </a:cubicBezTo>
                <a:cubicBezTo>
                  <a:pt x="195804" y="40214"/>
                  <a:pt x="193831" y="37258"/>
                  <a:pt x="190772" y="35999"/>
                </a:cubicBezTo>
                <a:lnTo>
                  <a:pt x="108372" y="2073"/>
                </a:lnTo>
                <a:cubicBezTo>
                  <a:pt x="105040" y="715"/>
                  <a:pt x="101505" y="0"/>
                  <a:pt x="97900" y="0"/>
                </a:cubicBezTo>
                <a:cubicBezTo>
                  <a:pt x="94298" y="0"/>
                  <a:pt x="90763" y="715"/>
                  <a:pt x="87431" y="2073"/>
                </a:cubicBezTo>
                <a:lnTo>
                  <a:pt x="5030" y="35999"/>
                </a:lnTo>
                <a:cubicBezTo>
                  <a:pt x="1972" y="37258"/>
                  <a:pt x="0" y="40214"/>
                  <a:pt x="0" y="43512"/>
                </a:cubicBezTo>
                <a:lnTo>
                  <a:pt x="0" y="144133"/>
                </a:lnTo>
                <a:cubicBezTo>
                  <a:pt x="0" y="148654"/>
                  <a:pt x="3637" y="152292"/>
                  <a:pt x="8158" y="152292"/>
                </a:cubicBezTo>
                <a:cubicBezTo>
                  <a:pt x="12680" y="152292"/>
                  <a:pt x="16317" y="148654"/>
                  <a:pt x="16317" y="144133"/>
                </a:cubicBezTo>
                <a:lnTo>
                  <a:pt x="16317" y="55681"/>
                </a:lnTo>
                <a:close/>
                <a:moveTo>
                  <a:pt x="32634" y="80055"/>
                </a:moveTo>
                <a:lnTo>
                  <a:pt x="32634" y="119656"/>
                </a:lnTo>
                <a:cubicBezTo>
                  <a:pt x="32634" y="137674"/>
                  <a:pt x="61868" y="152292"/>
                  <a:pt x="97900" y="152292"/>
                </a:cubicBezTo>
                <a:cubicBezTo>
                  <a:pt x="133935" y="152292"/>
                  <a:pt x="163170" y="137674"/>
                  <a:pt x="163170" y="119656"/>
                </a:cubicBezTo>
                <a:lnTo>
                  <a:pt x="163170" y="80021"/>
                </a:lnTo>
                <a:lnTo>
                  <a:pt x="114592" y="100043"/>
                </a:lnTo>
                <a:cubicBezTo>
                  <a:pt x="109289" y="102219"/>
                  <a:pt x="103646" y="103339"/>
                  <a:pt x="97900" y="103339"/>
                </a:cubicBezTo>
                <a:cubicBezTo>
                  <a:pt x="92158" y="103339"/>
                  <a:pt x="86514" y="102219"/>
                  <a:pt x="81211" y="100043"/>
                </a:cubicBezTo>
                <a:lnTo>
                  <a:pt x="32634" y="8002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904721" y="3062464"/>
            <a:ext cx="704891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官方教程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582780" y="3375749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https://triton-lang.org/main/getting-started/tutorials/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6443558" y="3863021"/>
            <a:ext cx="5186604" cy="800617"/>
          </a:xfrm>
          <a:custGeom>
            <a:avLst/>
            <a:gdLst/>
            <a:ahLst/>
            <a:cxnLst/>
            <a:rect r="r" b="b" t="t" l="l"/>
            <a:pathLst>
              <a:path h="800617" w="5186604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607255" y="4039737"/>
            <a:ext cx="168609" cy="165039"/>
          </a:xfrm>
          <a:custGeom>
            <a:avLst/>
            <a:gdLst/>
            <a:ahLst/>
            <a:cxnLst/>
            <a:rect r="r" b="b" t="t" l="l"/>
            <a:pathLst>
              <a:path h="165039" w="168609">
                <a:moveTo>
                  <a:pt x="56396" y="132371"/>
                </a:moveTo>
                <a:cubicBezTo>
                  <a:pt x="56396" y="133052"/>
                  <a:pt x="55613" y="133595"/>
                  <a:pt x="54628" y="133595"/>
                </a:cubicBezTo>
                <a:cubicBezTo>
                  <a:pt x="53506" y="133697"/>
                  <a:pt x="52725" y="133153"/>
                  <a:pt x="52725" y="132371"/>
                </a:cubicBezTo>
                <a:cubicBezTo>
                  <a:pt x="52725" y="131691"/>
                  <a:pt x="53506" y="131148"/>
                  <a:pt x="54492" y="131148"/>
                </a:cubicBezTo>
                <a:cubicBezTo>
                  <a:pt x="55512" y="131046"/>
                  <a:pt x="56396" y="131590"/>
                  <a:pt x="56396" y="132371"/>
                </a:cubicBezTo>
                <a:close/>
                <a:moveTo>
                  <a:pt x="45824" y="130842"/>
                </a:moveTo>
                <a:cubicBezTo>
                  <a:pt x="45585" y="131523"/>
                  <a:pt x="46266" y="132304"/>
                  <a:pt x="47286" y="132507"/>
                </a:cubicBezTo>
                <a:cubicBezTo>
                  <a:pt x="48169" y="132847"/>
                  <a:pt x="49188" y="132507"/>
                  <a:pt x="49393" y="131829"/>
                </a:cubicBezTo>
                <a:cubicBezTo>
                  <a:pt x="49597" y="131148"/>
                  <a:pt x="48951" y="130366"/>
                  <a:pt x="47931" y="130059"/>
                </a:cubicBezTo>
                <a:cubicBezTo>
                  <a:pt x="47048" y="129822"/>
                  <a:pt x="46062" y="130162"/>
                  <a:pt x="45824" y="130842"/>
                </a:cubicBezTo>
                <a:close/>
                <a:moveTo>
                  <a:pt x="60850" y="130264"/>
                </a:moveTo>
                <a:cubicBezTo>
                  <a:pt x="59863" y="130501"/>
                  <a:pt x="59183" y="131148"/>
                  <a:pt x="59285" y="131930"/>
                </a:cubicBezTo>
                <a:cubicBezTo>
                  <a:pt x="59387" y="132608"/>
                  <a:pt x="60270" y="133052"/>
                  <a:pt x="61292" y="132813"/>
                </a:cubicBezTo>
                <a:cubicBezTo>
                  <a:pt x="62277" y="132575"/>
                  <a:pt x="62957" y="131930"/>
                  <a:pt x="62855" y="131249"/>
                </a:cubicBezTo>
                <a:cubicBezTo>
                  <a:pt x="62753" y="130604"/>
                  <a:pt x="61835" y="130162"/>
                  <a:pt x="60850" y="130264"/>
                </a:cubicBezTo>
                <a:close/>
                <a:moveTo>
                  <a:pt x="83217" y="0"/>
                </a:moveTo>
                <a:cubicBezTo>
                  <a:pt x="36068" y="0"/>
                  <a:pt x="0" y="35796"/>
                  <a:pt x="0" y="82945"/>
                </a:cubicBezTo>
                <a:cubicBezTo>
                  <a:pt x="0" y="120644"/>
                  <a:pt x="23727" y="152904"/>
                  <a:pt x="57620" y="164257"/>
                </a:cubicBezTo>
                <a:cubicBezTo>
                  <a:pt x="61971" y="165039"/>
                  <a:pt x="63500" y="162354"/>
                  <a:pt x="63500" y="160145"/>
                </a:cubicBezTo>
                <a:cubicBezTo>
                  <a:pt x="63500" y="158038"/>
                  <a:pt x="63398" y="146411"/>
                  <a:pt x="63398" y="139272"/>
                </a:cubicBezTo>
                <a:cubicBezTo>
                  <a:pt x="63398" y="139272"/>
                  <a:pt x="39602" y="144371"/>
                  <a:pt x="34606" y="129143"/>
                </a:cubicBezTo>
                <a:cubicBezTo>
                  <a:pt x="34606" y="129143"/>
                  <a:pt x="30732" y="119251"/>
                  <a:pt x="25156" y="116700"/>
                </a:cubicBezTo>
                <a:cubicBezTo>
                  <a:pt x="25156" y="116700"/>
                  <a:pt x="17371" y="111363"/>
                  <a:pt x="25700" y="111465"/>
                </a:cubicBezTo>
                <a:cubicBezTo>
                  <a:pt x="25700" y="111465"/>
                  <a:pt x="34164" y="112145"/>
                  <a:pt x="38821" y="120236"/>
                </a:cubicBezTo>
                <a:cubicBezTo>
                  <a:pt x="46266" y="133356"/>
                  <a:pt x="58741" y="129585"/>
                  <a:pt x="63602" y="127340"/>
                </a:cubicBezTo>
                <a:cubicBezTo>
                  <a:pt x="64384" y="121901"/>
                  <a:pt x="66594" y="118128"/>
                  <a:pt x="69041" y="115885"/>
                </a:cubicBezTo>
                <a:cubicBezTo>
                  <a:pt x="50039" y="113777"/>
                  <a:pt x="30867" y="111023"/>
                  <a:pt x="30867" y="78322"/>
                </a:cubicBezTo>
                <a:cubicBezTo>
                  <a:pt x="30867" y="68973"/>
                  <a:pt x="33451" y="64282"/>
                  <a:pt x="38889" y="58299"/>
                </a:cubicBezTo>
                <a:cubicBezTo>
                  <a:pt x="38005" y="56090"/>
                  <a:pt x="35116" y="46980"/>
                  <a:pt x="39773" y="35218"/>
                </a:cubicBezTo>
                <a:cubicBezTo>
                  <a:pt x="46878" y="33007"/>
                  <a:pt x="63230" y="44395"/>
                  <a:pt x="63230" y="44395"/>
                </a:cubicBezTo>
                <a:cubicBezTo>
                  <a:pt x="70027" y="42492"/>
                  <a:pt x="77335" y="41507"/>
                  <a:pt x="84577" y="41507"/>
                </a:cubicBezTo>
                <a:cubicBezTo>
                  <a:pt x="91817" y="41507"/>
                  <a:pt x="99126" y="42492"/>
                  <a:pt x="105924" y="44395"/>
                </a:cubicBezTo>
                <a:cubicBezTo>
                  <a:pt x="105924" y="44395"/>
                  <a:pt x="122274" y="32974"/>
                  <a:pt x="129380" y="35218"/>
                </a:cubicBezTo>
                <a:cubicBezTo>
                  <a:pt x="134037" y="47014"/>
                  <a:pt x="131148" y="56090"/>
                  <a:pt x="130264" y="58299"/>
                </a:cubicBezTo>
                <a:cubicBezTo>
                  <a:pt x="135703" y="64315"/>
                  <a:pt x="139035" y="69007"/>
                  <a:pt x="139035" y="78322"/>
                </a:cubicBezTo>
                <a:cubicBezTo>
                  <a:pt x="139035" y="111125"/>
                  <a:pt x="119012" y="113743"/>
                  <a:pt x="100010" y="115885"/>
                </a:cubicBezTo>
                <a:cubicBezTo>
                  <a:pt x="103137" y="118570"/>
                  <a:pt x="105789" y="123669"/>
                  <a:pt x="105789" y="131658"/>
                </a:cubicBezTo>
                <a:cubicBezTo>
                  <a:pt x="105789" y="143113"/>
                  <a:pt x="105687" y="157290"/>
                  <a:pt x="105687" y="160076"/>
                </a:cubicBezTo>
                <a:cubicBezTo>
                  <a:pt x="105687" y="162286"/>
                  <a:pt x="107250" y="164971"/>
                  <a:pt x="111567" y="164189"/>
                </a:cubicBezTo>
                <a:cubicBezTo>
                  <a:pt x="145561" y="152904"/>
                  <a:pt x="168609" y="120644"/>
                  <a:pt x="168609" y="82945"/>
                </a:cubicBezTo>
                <a:cubicBezTo>
                  <a:pt x="168609" y="35796"/>
                  <a:pt x="130366" y="0"/>
                  <a:pt x="83217" y="0"/>
                </a:cubicBezTo>
                <a:close/>
                <a:moveTo>
                  <a:pt x="33042" y="117244"/>
                </a:moveTo>
                <a:cubicBezTo>
                  <a:pt x="32600" y="117584"/>
                  <a:pt x="32703" y="118367"/>
                  <a:pt x="33280" y="119012"/>
                </a:cubicBezTo>
                <a:cubicBezTo>
                  <a:pt x="33824" y="119557"/>
                  <a:pt x="34606" y="119794"/>
                  <a:pt x="35048" y="119352"/>
                </a:cubicBezTo>
                <a:cubicBezTo>
                  <a:pt x="35490" y="119012"/>
                  <a:pt x="35389" y="118229"/>
                  <a:pt x="34809" y="117584"/>
                </a:cubicBezTo>
                <a:cubicBezTo>
                  <a:pt x="34266" y="117039"/>
                  <a:pt x="33484" y="116802"/>
                  <a:pt x="33042" y="117244"/>
                </a:cubicBezTo>
                <a:close/>
                <a:moveTo>
                  <a:pt x="29371" y="114491"/>
                </a:moveTo>
                <a:cubicBezTo>
                  <a:pt x="29133" y="114933"/>
                  <a:pt x="29473" y="115477"/>
                  <a:pt x="30152" y="115816"/>
                </a:cubicBezTo>
                <a:cubicBezTo>
                  <a:pt x="30697" y="116157"/>
                  <a:pt x="31377" y="116055"/>
                  <a:pt x="31615" y="115579"/>
                </a:cubicBezTo>
                <a:cubicBezTo>
                  <a:pt x="31852" y="115137"/>
                  <a:pt x="31513" y="114593"/>
                  <a:pt x="30833" y="114253"/>
                </a:cubicBezTo>
                <a:cubicBezTo>
                  <a:pt x="30152" y="114049"/>
                  <a:pt x="29609" y="114151"/>
                  <a:pt x="29371" y="114491"/>
                </a:cubicBezTo>
                <a:close/>
                <a:moveTo>
                  <a:pt x="40385" y="126592"/>
                </a:moveTo>
                <a:cubicBezTo>
                  <a:pt x="39841" y="127034"/>
                  <a:pt x="40044" y="128054"/>
                  <a:pt x="40827" y="128701"/>
                </a:cubicBezTo>
                <a:cubicBezTo>
                  <a:pt x="41609" y="129482"/>
                  <a:pt x="42595" y="129585"/>
                  <a:pt x="43037" y="129040"/>
                </a:cubicBezTo>
                <a:cubicBezTo>
                  <a:pt x="43479" y="128598"/>
                  <a:pt x="43274" y="127578"/>
                  <a:pt x="42595" y="126931"/>
                </a:cubicBezTo>
                <a:cubicBezTo>
                  <a:pt x="41847" y="126150"/>
                  <a:pt x="40827" y="126049"/>
                  <a:pt x="40385" y="126592"/>
                </a:cubicBezTo>
                <a:close/>
                <a:moveTo>
                  <a:pt x="36510" y="121596"/>
                </a:moveTo>
                <a:cubicBezTo>
                  <a:pt x="35966" y="121935"/>
                  <a:pt x="35966" y="122819"/>
                  <a:pt x="36510" y="123602"/>
                </a:cubicBezTo>
                <a:cubicBezTo>
                  <a:pt x="37054" y="124383"/>
                  <a:pt x="37971" y="124723"/>
                  <a:pt x="38412" y="124383"/>
                </a:cubicBezTo>
                <a:cubicBezTo>
                  <a:pt x="38957" y="123941"/>
                  <a:pt x="38957" y="123057"/>
                  <a:pt x="38412" y="122274"/>
                </a:cubicBezTo>
                <a:cubicBezTo>
                  <a:pt x="37938" y="121495"/>
                  <a:pt x="37054" y="121154"/>
                  <a:pt x="36510" y="12159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904721" y="4002242"/>
            <a:ext cx="939854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1828"/>
                </a:solidFill>
                <a:latin typeface="MiSans"/>
                <a:ea typeface="MiSans"/>
                <a:cs typeface="MiSans"/>
                <a:sym typeface="MiSans"/>
              </a:rPr>
              <a:t>GitHub 仓库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582780" y="4315527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https://github.com/triton-lang/triton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348054" y="5150647"/>
            <a:ext cx="11495811" cy="1427187"/>
          </a:xfrm>
          <a:custGeom>
            <a:avLst/>
            <a:gdLst/>
            <a:ahLst/>
            <a:cxnLst/>
            <a:rect r="r" b="b" t="t" l="l"/>
            <a:pathLst>
              <a:path h="1427187" w="11495811">
                <a:moveTo>
                  <a:pt x="104427" y="0"/>
                </a:moveTo>
                <a:lnTo>
                  <a:pt x="11391384" y="0"/>
                </a:lnTo>
                <a:cubicBezTo>
                  <a:pt x="11449058" y="0"/>
                  <a:pt x="11495811" y="46754"/>
                  <a:pt x="11495811" y="104427"/>
                </a:cubicBezTo>
                <a:lnTo>
                  <a:pt x="11495811" y="1322760"/>
                </a:lnTo>
                <a:cubicBezTo>
                  <a:pt x="11495811" y="1380433"/>
                  <a:pt x="11449058" y="1427187"/>
                  <a:pt x="11391384" y="1427187"/>
                </a:cubicBezTo>
                <a:lnTo>
                  <a:pt x="104427" y="1427187"/>
                </a:lnTo>
                <a:cubicBezTo>
                  <a:pt x="46754" y="1427187"/>
                  <a:pt x="0" y="1380433"/>
                  <a:pt x="0" y="1322760"/>
                </a:cubicBezTo>
                <a:lnTo>
                  <a:pt x="0" y="104427"/>
                </a:lnTo>
                <a:cubicBezTo>
                  <a:pt x="0" y="46792"/>
                  <a:pt x="46792" y="0"/>
                  <a:pt x="10442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5929281" y="5374530"/>
            <a:ext cx="307839" cy="307839"/>
          </a:xfrm>
          <a:custGeom>
            <a:avLst/>
            <a:gdLst/>
            <a:ahLst/>
            <a:cxnLst/>
            <a:rect r="r" b="b" t="t" l="l"/>
            <a:pathLst>
              <a:path h="307839" w="307839">
                <a:moveTo>
                  <a:pt x="87929" y="180752"/>
                </a:moveTo>
                <a:lnTo>
                  <a:pt x="24599" y="180752"/>
                </a:lnTo>
                <a:cubicBezTo>
                  <a:pt x="9363" y="180752"/>
                  <a:pt x="0" y="164169"/>
                  <a:pt x="7834" y="151075"/>
                </a:cubicBezTo>
                <a:lnTo>
                  <a:pt x="40202" y="97106"/>
                </a:lnTo>
                <a:cubicBezTo>
                  <a:pt x="45526" y="88235"/>
                  <a:pt x="55071" y="82848"/>
                  <a:pt x="65412" y="82848"/>
                </a:cubicBezTo>
                <a:lnTo>
                  <a:pt x="123541" y="82848"/>
                </a:lnTo>
                <a:cubicBezTo>
                  <a:pt x="170106" y="3978"/>
                  <a:pt x="239554" y="0"/>
                  <a:pt x="285996" y="6792"/>
                </a:cubicBezTo>
                <a:cubicBezTo>
                  <a:pt x="293828" y="7955"/>
                  <a:pt x="299947" y="14074"/>
                  <a:pt x="301049" y="21845"/>
                </a:cubicBezTo>
                <a:cubicBezTo>
                  <a:pt x="307840" y="68287"/>
                  <a:pt x="303863" y="137737"/>
                  <a:pt x="224991" y="184300"/>
                </a:cubicBezTo>
                <a:lnTo>
                  <a:pt x="224991" y="242429"/>
                </a:lnTo>
                <a:cubicBezTo>
                  <a:pt x="224991" y="252769"/>
                  <a:pt x="219608" y="262315"/>
                  <a:pt x="210734" y="267639"/>
                </a:cubicBezTo>
                <a:lnTo>
                  <a:pt x="156765" y="300007"/>
                </a:lnTo>
                <a:cubicBezTo>
                  <a:pt x="143733" y="307839"/>
                  <a:pt x="127091" y="298416"/>
                  <a:pt x="127091" y="283242"/>
                </a:cubicBezTo>
                <a:lnTo>
                  <a:pt x="127091" y="219912"/>
                </a:lnTo>
                <a:cubicBezTo>
                  <a:pt x="127091" y="198312"/>
                  <a:pt x="109529" y="180752"/>
                  <a:pt x="87929" y="180752"/>
                </a:cubicBezTo>
                <a:lnTo>
                  <a:pt x="87868" y="180752"/>
                </a:lnTo>
                <a:close/>
                <a:moveTo>
                  <a:pt x="254362" y="82848"/>
                </a:moveTo>
                <a:cubicBezTo>
                  <a:pt x="254362" y="66639"/>
                  <a:pt x="241201" y="53478"/>
                  <a:pt x="224991" y="53478"/>
                </a:cubicBezTo>
                <a:cubicBezTo>
                  <a:pt x="208781" y="53478"/>
                  <a:pt x="195621" y="66639"/>
                  <a:pt x="195621" y="82848"/>
                </a:cubicBezTo>
                <a:cubicBezTo>
                  <a:pt x="195621" y="99059"/>
                  <a:pt x="208781" y="112220"/>
                  <a:pt x="224991" y="112220"/>
                </a:cubicBezTo>
                <a:cubicBezTo>
                  <a:pt x="241201" y="112220"/>
                  <a:pt x="254362" y="99059"/>
                  <a:pt x="254362" y="828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504672" y="5777149"/>
            <a:ext cx="11182527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开始你的 Triton 之旅！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17725" y="6125132"/>
            <a:ext cx="11156420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从 Vector Add 出发，探索 GPU 编程的无限可能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348054" y="6716859"/>
            <a:ext cx="11548026" cy="1392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8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图片来源：Triton 官方文档</a:t>
            </a:r>
            <a:endParaRPr lang="en-US" sz="1100"/>
          </a:p>
        </p:txBody>
      </p:sp>
      <p:sp>
        <p:nvSpPr>
          <p:cNvPr name="AutoShape 44" id="44"/>
          <p:cNvSpPr/>
          <p:nvPr>
            <p:ph idx="4294967295" type="body" sz="quarter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