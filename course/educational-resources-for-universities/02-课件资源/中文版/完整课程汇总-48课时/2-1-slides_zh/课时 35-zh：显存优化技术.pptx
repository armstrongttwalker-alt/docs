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今天我们开始第35课的学习，主题是“显存优化技术”。在深度学习，特别是大语言模型的训练过程中，显存往往是制约模型规模和训练效率的最核心瓶颈。今天我们将深入探讨如何通过软件算法和系统架构的协同优化，来突破硬件显存容量的物理极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节课的内容主要分为三个模块。首先，我们会分析大模型训练中显存开销的背景。接着，我们将介绍两种主流的优化路径：第一种是激活重算，其核心逻辑是通过“时间换空间”，丢弃中间激活值并在需要时重算；第二种是 数据卸载，利用 CPU 内存甚至 NVMe SSD 作为显存的延伸，包括业界著名的 ZeRO-Offload 和 ZeRO-Infinity 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随着模型规模从 GPT-3 的 1750 亿参数跨越到 GPT-4 的万亿级，显存需求呈指数级增长。例如，一个 100B 的模型，仅参数本身就占 200GB，全量训练则需要 1.6TB 到 2TB 的显存。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显存开销主要由四部分组成：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模型参数：约占 20-30%，通常以 FP16/BF16 存储。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优化器状态：占比最高，达 40-60%。像 Adam 优化器需要为每个参数存储动量和二阶矩的 FP32 副本。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梯度：约占 20-30%。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激活值：随序列长度平方增长，在长文本训练中占主导地位。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这导致了训练不可行、成本飙升以及序列长度受限等现实困境。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标准反向传播中，内存需求随层数线性增长。这是因为在执行前向传播时，每一层产生的中间激活值都必须保留在显存中，直到反向传播计算该层的梯度时，这些激活值作为输入或输出被消耗掉。只有当所有依赖项处理完毕，内存才会被释放。这种机制在大规模网络中会迅速撑爆显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为了降低显存占用，一种极端的思路是“低内存反向传播”：前向传播时不存储任何中间激活值。当反向传播需要某层数据时，从输入端重新运行前向计算。虽然这极大地节省了显存，但代价是计算复杂度从 O(n) 激增到 O(n^2)，在实际训练中效率过低。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梯度检查点技术是上述两种方案的折中。它的策略是：只存储部分关键层（即“检查点”）的激活值，而其余非检查点节点在反向传播时，从最近的检查点开始进行局部重算。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数学证明显示，最优策略是每隔 \sqrt{n} 个节点设置一个检查点。这样可以将显存复杂度从 O(n) 降低到 O(\sqrt{n})，而计算量仅增加约 50%。这是一种典型的以少量时间开销换取巨大显存收益的优化手段。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在工程实践中，主流框架都集成了该技术。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原生 PyTorch：提供了 torch.utils.checkpoint 模块。对于通用模型可以使用 checkpoint 函数；对于顺序架构模型，checkpoint_sequential 可以实现自动分段。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Hugging Face：集成非常简单，只需在 TrainingArguments 中将 gradient_checkpointing 标志设为 True 即可开启。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Offloading 的原理是将暂时不活跃的模型状态（如参数、优化器状态或激活值）从 GPU 显存迁移到容量更大但速度较慢的 CPU 内存或 NVMe 存储中。</a:t>
            </a:r>
            <a:br>
              <a:rPr lang="en-US" b="false" i="false" strike="noStrike" u="none" sz="1200">
                <a:solidFill>
                  <a:srgbClr val="000000"/>
                </a:solidFill>
              </a:rPr>
            </a:br>
            <a:r>
              <a:rPr lang="en-US" b="false" i="false" strike="noStrike" u="none" sz="1200">
                <a:solidFill>
                  <a:srgbClr val="000000"/>
                </a:solidFill>
              </a:rPr>
              <a:t>其核心动机在于利用存储的分层特性。虽然 PCIe 带宽远低于显存带宽，但通过 预取和 计算通信重叠，可以掩盖数据传输的延迟，从而支持 TB 级模型的单节点或小规模集群训练。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Generated by Kimi 2.5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这张表对比了目前主流的卸载技术：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ZeRO-Offload：主要卸载优化器状态和梯度到 CPU，参数保留在 GPU，适合单节点 100B 以下模型。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ZeRO-Infinity：将范围扩大到参数，并支持卸载到 NVMe，专为多节点扩展设计。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PyTorch FSDP：基于分片的数据并行，提供灵活的 CPU 卸载策略。</a:t>
            </a:r>
            <a:b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性能损失方面，ZeRO-Infinity 由于引入 SSD 延迟，损失约 20-40%，但在有限资源下实现了“能跑通”的从 0 到 1 的突破。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ZeRO-Offload 的设计遵循两个核心策略：限制 CPU 计算：由于 CPU 算力远弱于 GPU，它只处理复杂度为 O(M) 的参数更新（如 Norm、Adam 更新），而将复杂度为 O(MB) 的前向和反向传播留在 GPU。最小化通信量：通过将 FP32 参数更新与状态合并，确保每个 Step 的最小通信量维持在 4M，避免频繁的 PCIe 往返。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在单卡运行中，调度逻辑非常精巧：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前向阶段：FP16 参数已在显存，无通信。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反向阶段：梯度计算后立即以小组为单位异步传回 CPU。通过流水线并行，使梯度回传与后续反向计算重叠，隐藏带宽瓶颈。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更新阶段：CPU 并行更新 FP32 状态，完成后仅将 FP32 参数转回 GPU 并转为 FP16，准备下一个 Step。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多卡环境下，ZeRO-Offload 将 ZeRO-2 的“状态分片”与卸载路径结合。每个 GPU 仅维护并卸载其负责的那一部分参数分片到对应的 CPU 内存。这种设计的优势在于：总通信量不随 GPU 数量增加而增加，且 CPU 端的更新由多个 CPU 核心并行处理，具备极强的扩展性。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ZeRO-Infinity 是对 Offloading 的终极演进。它将 HBM、DRAM 和 NVMe 视为统一的异构内存层级。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核心功能包括：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ZeRO-3 全方位优化：彻底消除冗余分片。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NVMe 内存扩展：打破 DRAM 容量限制，支持单节点万亿参数训练。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高效预取机制：在计算当前层时，提前从慢速存储拉取下一层参数。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算子拆分：支持单张显卡放下超大规模的单个算子层。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其运行流程分为四步：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参数获取：各 GPU 从慢速存储获取其负责的层分片。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All-Gather：在显存中临时凑齐该层完整参数，进行前向/反向计算。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梯度计算与聚合：反向传播生成梯度，各 GPU 仅保留其分片部分。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梯度写回：将聚合后的梯度分片从显存写回到 CPU 或 NVMe 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为了在低带宽设备上实现高效率，ZeRO-Infinity 进行了三项深度优化：以带宽为中心的并行分片：利用所有节点的 PCIe 通道并行读取，使有效带宽随数据并行度线性增长。全链路流水线重叠：三级预取引擎。例如执行第 i 个算子时，异步执行 i+1 的通信、i+2 的拷贝和 i+3 的磁盘读取。DeepNVMe 与锁页内存：通过异步 I/O 库和原地计算，消除不必要的内存拷贝，将吞吐量推向极限。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最后，我们看下代码实现。在 DeepSpeed 的 JSON 配置文件中，开启卸载非常简单。对于 ZeRO-Offload，在 zero_optimization 中设置 offload_optimizer 到 cpu。对于 ZeRO-Infinity，则需开启 stage: 3 并在 offload_param 中指定 nvme_path。这种配置化的设计极大地降低了大模型开发的门槛。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2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4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5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6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29.jpeg" Type="http://schemas.openxmlformats.org/officeDocument/2006/relationships/image"/><Relationship Id="rId13" Target="../media/image30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3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35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：显存优化技术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主要内容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背景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超大语言模型训练中显存开销巨大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显存优化方法：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Gradient Checkpointing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（激活重算）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丢弃前向传播（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）中的大部分中间激活值，在反向传播（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Backward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）需要时，临时从最近的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检查点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重新计算。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显存优化方法：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Offloading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（数据卸载）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利用计算频率较低、但容量巨大的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Host Memory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作为显存的延伸。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ZeRO-Offload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将优化器状态和梯度卸载到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。利用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进行权重更新，因为这部分操作对算力要求相对较低，但显存占比极大。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ZeRO-Infinity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进一步支持将模型参数卸载至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NVMe SSD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。通过异步预取（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Prefetching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）和带宽优化，支持训练万亿级模型。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训练中的显存开销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http://deepseekpro.org/guide/the-carbon-footprint-of-gpt-4/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19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41300" marL="2413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模型规模指数级增长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GPT-3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1750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亿参数）到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GPT-4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（万亿级参数）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100B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模型，参数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200GB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，全量训练需显存约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1.6TB ~ 2TB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41300" marL="2413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显存不足导致的现实困境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训练不可行：单卡无法装载模型，必须依赖分布式训练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成本飙升：多卡并行增加通信开销，线性加速比难以实现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序列长度受限：长上下文（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&gt;8K tokens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）显存开销平方增长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实验迭代慢：无法快速验证新架构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新数据</a:t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41680" y="2465070"/>
          <a:ext cx="6187440" cy="19119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77290"/>
                <a:gridCol w="1061085"/>
                <a:gridCol w="3949065"/>
              </a:tblGrid>
              <a:tr h="38798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组件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占比估算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说明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模型参数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~20-30%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权重矩阵（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FP16/BF16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精度）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优化器状态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~40-60%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需存储动量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二阶矩（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FP32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梯度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~20-30%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反向传播梯度缓存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激活值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可变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ts val="825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lang="en-US" sz="1100"/>
                    </a:p>
                    <a:p>
                      <a:pPr algn="l" indent="0">
                        <a:lnSpc>
                          <a:spcPts val="825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长序列时占主导（与序列长度平方成正比）</a:t>
                      </a:r>
                    </a:p>
                  </a:txBody>
                  <a:tcPr anchor="t" marL="47942" marR="47942" marT="47942" marB="47942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368540" y="595630"/>
          <a:ext cx="3606165" cy="2560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95425"/>
                <a:gridCol w="2110740"/>
              </a:tblGrid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维度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GPT-3 (175B)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规模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~10,000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块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A100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训练时长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~34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天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总耗电量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~128.7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万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kWh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碳排放量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~502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吨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CO2e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显存基础开销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~350 GB (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参数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训练总显存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~2.8 TB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预估总成本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~$1,000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万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$2,000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万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383145" y="3671570"/>
          <a:ext cx="3871595" cy="38671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10995"/>
                <a:gridCol w="2260600"/>
              </a:tblGrid>
              <a:tr h="38671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维度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 (1.8T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传闻规模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规模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~25,000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块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A100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训练时长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90 - 100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天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总耗电量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~5,177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万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- 6,231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万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kWh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碳排放量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~1,035 - 14,994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吨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CO2e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显存基础开销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~3,600 GB (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参数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训练总显存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 TB+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预估总成本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亿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$5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亿美元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867015" y="3148965"/>
            <a:ext cx="279019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GPT-3 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训练成本估计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994015" y="6356985"/>
            <a:ext cx="279019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GPT-4 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训练成本估计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背景：反向传播的内存机制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标准反向传播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Vanilla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内存需求随网络层数的增加呈线性增长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原因分析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节点保留：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前向传播产生的所有中间激活值必须保存在内存中。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依赖关系：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在计算第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层的梯度时，通常需要第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层的输入和输出。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释放条件：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只有当所有的子节点（依赖项）都处理完毕，对应的内存才会被释放。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70815" y="4032250"/>
            <a:ext cx="6080760" cy="16414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22264" b="0"/>
          <a:stretch>
            <a:fillRect/>
          </a:stretch>
        </p:blipFill>
        <p:spPr>
          <a:xfrm rot="0" flipH="false" flipV="false">
            <a:off x="6376035" y="4210050"/>
            <a:ext cx="5694045" cy="14636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55245" y="5817235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所有中间激活值必须保存在内存中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31840" y="5817235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子节点处理完毕，对应的内存才会被释放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背景：反向传播的内存机制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低内存反向传播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丢弃中间值，按需重新计算。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基本流程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不再在内存中存储前向传播的所有激活值。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在反向传播需要某一层的数据时，从最近的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检查点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重新运行前向计算。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计算复杂度从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O(n)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增加到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O(n^2)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5090" y="5806440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不在内存中存储前向传播的激活值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3785" y="5827395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最近的</a:t>
            </a: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检查点</a:t>
            </a: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重新运行前向计算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5090" y="3839210"/>
            <a:ext cx="6132830" cy="15989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17920" y="3860165"/>
            <a:ext cx="5688965" cy="16713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梯度检查点（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Gradient Checkpointing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介于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标准反向传播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低内存反向传播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之间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通过存储部分关键层，将计算量控制在合理范围，同时显著降低内存。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非检查点节点在反向传播需要时，从最近的检查点开始局部重算。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最优选择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为了平衡内存与计算量，</a:t>
            </a:r>
            <a:r>
              <a:rPr lang="en-US" b="tru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数学最优解是每隔</a:t>
            </a:r>
            <a:r>
              <a:rPr lang="en-US" b="tru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tru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个节点设置一个检查点。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内存复杂度：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O()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；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计算复杂度：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O(n)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，约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1.5x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标准反向传播计算量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多花</a:t>
            </a:r>
            <a:r>
              <a:rPr lang="en-US" b="tru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50% </a:t>
            </a:r>
            <a:r>
              <a:rPr lang="en-US" b="tru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时间，换取显存占用从</a:t>
            </a:r>
            <a:r>
              <a:rPr lang="en-US" b="tru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tru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降低到的巨大收益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97815" y="4655185"/>
            <a:ext cx="6009640" cy="15684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307455" y="4755515"/>
            <a:ext cx="5761990" cy="17151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-43180" y="6407785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存储部分关键层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25515" y="6428740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反向传播：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从最近的检查点开始局部重算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Gradient Checkpoint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代码实现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664325" y="4195445"/>
            <a:ext cx="5062220" cy="221678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523875" y="1390650"/>
            <a:ext cx="5923915" cy="48533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rmAutofit lnSpcReduction="0"/>
          </a:bodyPr>
          <a:lstStyle/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原生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PyTorch 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自定义实现</a:t>
            </a:r>
            <a:endParaRPr lang="en-US" sz="1100"/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核心模块：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torch.utils.checkpoint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针对通用模型：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checkpoint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函数，可包裹任意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nn.Module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针对顺序模型：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checkpoint_sequential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，专为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nn.Sequential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架构设计，支持自动分段。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Hugging Face 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模型简单集成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在训练参数中开启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gradient_checkpointing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标志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276465" y="626745"/>
            <a:ext cx="3451225" cy="3315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330315" y="3921125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原生</a:t>
            </a: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47765" y="6438900"/>
            <a:ext cx="555371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HF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模型简单集成</a:t>
            </a: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Offloading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（卸载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换出）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Ren J, Rajbhandari S, Aminabadi R Y, et al. {Zero-offload}: Democratizing {billion-scale} model training[C]//2021 USENIX Annual Technical Conference (USENIX ATC 21). 2021: 551-564.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[2] Rajbhandari S, Ruwase O, Rasley J, et al. Zero-infinity: Breaking the gpu memory wall for extreme scale deep learning[C]//Proceedings of the international conference for high performance computing, networking, storage and analysis. 2021: 1-14.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原理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通过将模型参数、优化器状态或激活值从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显存临时迁移到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内存或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存储，以突破显存容量限制，实现更大模型的训练。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核心动机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将不活跃的参数卸载到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CPU/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磁盘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计算与存储分层，动态换入换出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79400" marL="2794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关键技术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ZeRO-Offload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DeepSpeed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将优化器状态和梯度卸载至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ZeRO-Infinity: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扩展至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 SSD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，支持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TB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级模型训练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FSDP + CPU Offload (PyTorch)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：基于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Fully Sharded Data Parallel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，支持参数分片后部分卸载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799330" y="2449830"/>
          <a:ext cx="7011670" cy="152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77265"/>
                <a:gridCol w="2807970"/>
                <a:gridCol w="3226435"/>
              </a:tblGrid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维度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影响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优化策略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通信开销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CPU↔GPU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带宽远低于显存带宽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预取（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Prefetching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）、计算通信重叠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计算延迟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计算慢于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仅卸载优化器状态（如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Adam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计算），保留前向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反向在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扩展性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NVMe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带宽限制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多路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SSD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并行、异步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I/O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大模型训练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Offloading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技术对比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10951" b="0"/>
          <a:stretch>
            <a:fillRect/>
          </a:stretch>
        </p:blipFill>
        <p:spPr>
          <a:xfrm rot="0" flipH="false" flipV="false">
            <a:off x="1024255" y="1327785"/>
            <a:ext cx="10276205" cy="5530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DeepSpeed ZeRO-Offloading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策略一：限制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计算速度远慢于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，仅外派低复杂度的任务。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保留：前向和反向传播（复杂度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O(MB)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，其中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Batch Size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承担：参数更新（复杂度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O(M)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），如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Norm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计算、权重更新等。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策略二：最小化通信量</a:t>
            </a:r>
          </a:p>
          <a:p>
            <a:pPr algn="l" indent="-215900" lvl="1" marL="558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任何模型状态离线方案的最小通信量为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4M</a:t>
            </a:r>
          </a:p>
          <a:p>
            <a:pPr algn="l" indent="-215900" lvl="1" marL="558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p32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m32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v32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与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参数更新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计算合并</a:t>
            </a:r>
          </a:p>
          <a:p>
            <a:pPr algn="l" indent="-215900" lvl="1" marL="558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p16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与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FWD-BWD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超节点共同留在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754370" y="2967355"/>
            <a:ext cx="6322060" cy="375412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98450" y="4525645"/>
          <a:ext cx="5455920" cy="255813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90040"/>
                <a:gridCol w="1066165"/>
                <a:gridCol w="2799715"/>
              </a:tblGrid>
              <a:tr h="36893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节点类型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分配设备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理由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998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FWD-BWD </a:t>
                      </a:r>
                      <a:endParaRPr lang="en-US" sz="1100"/>
                    </a:p>
                    <a:p>
                      <a:pPr algn="l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超节点</a:t>
                      </a:r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算力要求极高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O(MB)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07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p16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减少与计算节点间的通信开销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0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 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超节点</a:t>
                      </a:r>
                      <a:endParaRPr lang="en-US" sz="1100"/>
                    </a:p>
                    <a:p>
                      <a:pPr algn="l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(p32, m32, v32)</a:t>
                      </a:r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内存占用最大，</a:t>
                      </a:r>
                      <a:endParaRPr lang="en-US" sz="1100"/>
                    </a:p>
                    <a:p>
                      <a:pPr algn="l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且计算复杂度低</a:t>
                      </a: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(O(M)</a:t>
                      </a:r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07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g16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减少与计算节点间的通信开销</a:t>
                      </a:r>
                      <a:endParaRPr lang="en-US" sz="1100"/>
                    </a:p>
                  </a:txBody>
                  <a:tcPr anchor="ctr" marL="57467" marR="57467" marT="38417" marB="38417">
                    <a:lnL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ZeRO-Offloading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单卡调度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计算与通信重叠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前向传播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(FWD)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FP16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参数已在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，无需与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通信。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反向传播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(BWD)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即时传输：梯度（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Gradient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）计算后立即以小组为单位传向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流水线并行：利用异步传输，使梯度回传与剩余的反向计算重叠（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Overlap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），隐藏通信开销。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更新阶段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(Update)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上直接更新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FP32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状态（参数、动量、方差）。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更新后，仅将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FP32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参数转回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并更新为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FP16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27370" y="1428750"/>
            <a:ext cx="6174105" cy="20948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ZeRO-Offloading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多卡拓展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核心思路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ZeRO-2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状态分片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与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Offload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路径转换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结合。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数据布局：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仅负责维护一部分参数、梯度和优化器状态。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对应的分片被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Offload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到其连接的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内存中。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并行优势：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通信恒定：总通信量不随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数量增加而增加。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计算加速：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端的优化器更新由多个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核心并行处理。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越多，单卡分担的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计算越少，扩展性极强。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64705" y="2257425"/>
            <a:ext cx="4989195" cy="25514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ZeRO-Infinity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特点及功能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主要特点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无限规模：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支持在有限的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资源上训练具有数十万亿参数的模型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例如，在单个</a:t>
            </a:r>
            <a:r>
              <a:rPr lang="en-US" b="false" i="false" strike="noStrike" u="none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节点上训练超过</a:t>
            </a:r>
            <a:r>
              <a:rPr lang="en-US" b="false" i="false" strike="noStrike" u="none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万亿参数的模型。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极致异构利用：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将显存（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HBM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）、内存（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DRAM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）和固态硬盘（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）视为统一的内存层级。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计算与通信重叠：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Infinity Offload Engine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抵消了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NVMe/PCIe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的低带宽影响。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易用性：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无需模型重构，开发者可以像编写普通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PyTorch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代码一样训练超大模型。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核心功能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ZeRO-3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全方位优化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彻底消除冗余，将参数、梯度和优化器状态分布到所有异构存储介质中。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 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内存扩展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NVMe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存储优化器状态和权重，打破了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DRAM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的容量限制。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高效预取机制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在计算下一层之前，提前从慢速存储（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NVMe/CPU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）拉取所需参数。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数据并行与算子拆分：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支持超大规模算子的自动拆分，确保单张显卡放下巨型网络层。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ZeRO-Infinity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总体流程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：参数获取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只拥有该层参数的一小部分。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分片后的参数从慢速存储移动到对应的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显存中。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All-Gather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在每个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的显存中都临时凑齐了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Layer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的完整参数。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：梯度计算与聚合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利用完整的参数进行反向传播计算，生成梯度。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最终只保留自己负责的那一部分梯度分片。</a:t>
            </a:r>
          </a:p>
          <a:p>
            <a:pPr algn="l" indent="-254000" marL="2540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：梯度写回</a:t>
            </a:r>
          </a:p>
          <a:p>
            <a:pPr algn="l" indent="-228600" lvl="1" marL="5715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聚合后的梯度分片从</a:t>
            </a:r>
            <a:r>
              <a:rPr lang="en-US" b="false" i="false" strike="noStrike" u="none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显存写回到慢速存储中。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443980" y="1071245"/>
            <a:ext cx="5357495" cy="52851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ZeRO-Infinity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效率优化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1900" b="tru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241300" marL="2413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b="tru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以带宽为中心的并行分片</a:t>
            </a:r>
            <a:r>
              <a:rPr lang="en-US" b="tru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(Bandwidth-Centric Partitioning)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放弃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ZeRO-Offload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的单点拥有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广播模式，将每个参数分片存储在所有数据并行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(DP) Rank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上。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并行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PCIe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吞吐：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激活所有节点的全部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PCIe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通道并行读取，有效带宽随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DP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程度线性增长。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41300" marL="2413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b="tru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全链路流水线重叠设计</a:t>
            </a:r>
            <a:r>
              <a:rPr lang="en-US" b="tru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(Overlap Centric Design)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三级预取引擎：</a:t>
            </a:r>
            <a:r>
              <a:rPr lang="en-US" b="tru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tru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  <a:r>
              <a:rPr lang="en-US" b="tru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NVMe→CPU</a:t>
            </a:r>
            <a:r>
              <a:rPr lang="en-US" b="tru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tru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CPU→GPU </a:t>
            </a:r>
            <a:r>
              <a:rPr lang="en-US" b="tru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tru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GPU↔GPU </a:t>
            </a:r>
            <a:r>
              <a:rPr lang="en-US" b="tru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三种传输的异步并行。</a:t>
            </a:r>
          </a:p>
          <a:p>
            <a:pPr algn="l" indent="-165100" lvl="2" marL="850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示例：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在执行第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个算子时，同步预取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i+1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通信、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i+2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的显存拷贝和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i+3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的磁盘读取。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动态流感知：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实时构建算子映射表，支持复杂或动态变化的计算图，掩盖数据移动开销。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41300" marL="2413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3. Infinity Offload </a:t>
            </a:r>
            <a:r>
              <a:rPr lang="en-US" b="tru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引擎与底层优化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DeepNVMe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库：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高性能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异步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I/O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库，通过请求并行化、智能调度和零拷贝技术，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NVMe 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最大读写性能。</a:t>
            </a:r>
          </a:p>
          <a:p>
            <a:pPr algn="l" indent="-215900" lvl="1" marL="5588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锁页内存管理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(Pinned Memory Management)</a:t>
            </a:r>
            <a:r>
              <a:rPr lang="en-US" b="false" i="false" strike="noStrike" u="none" sz="17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l" indent="-165100" lvl="2" marL="850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极简内存足迹：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仅需数十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GB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的锁页缓冲区即可管理数十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TB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的模型状态，彻底避免内存碎片。</a:t>
            </a:r>
          </a:p>
          <a:p>
            <a:pPr algn="l" indent="-165100" lvl="2" marL="850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原地计算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(In-place)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支持在缓冲区进行优化器更新，消除不必要的内存拷贝，提升端到端吞吐。</a:t>
            </a:r>
          </a:p>
          <a:p>
            <a:pPr algn="l" indent="0" lvl="2" marL="6858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047605" y="2437765"/>
            <a:ext cx="2049145" cy="24866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DeepSpeed ZeRO-Offloading &amp; Infinity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代码示例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4" id="4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3595" y="1751330"/>
            <a:ext cx="2653665" cy="41148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910330" y="2318385"/>
            <a:ext cx="3242945" cy="29813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586345" y="1219200"/>
            <a:ext cx="3828415" cy="48139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89635" y="5996940"/>
            <a:ext cx="2521585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DeepSpeed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ZeRO-Offload (Stage 2)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10330" y="5996940"/>
            <a:ext cx="3220085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DeepSpeed 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ZeRO-Infinity (Stage 3 + NVMe)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780655" y="6155690"/>
            <a:ext cx="322008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训练代码示例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