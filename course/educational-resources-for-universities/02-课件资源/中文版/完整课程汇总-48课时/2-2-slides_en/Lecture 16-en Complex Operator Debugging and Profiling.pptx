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handoutMasterIdLst>
    <p:handoutMasterId r:id="rId27"/>
  </p:handoutMasterIdLst>
  <p:sldIdLst>
    <p:sldId id="337"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001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7"/>
    <p:restoredTop sz="91912" autoAdjust="0"/>
  </p:normalViewPr>
  <p:slideViewPr>
    <p:cSldViewPr snapToGrid="0" snapToObjects="1">
      <p:cViewPr varScale="1">
        <p:scale>
          <a:sx n="56" d="100"/>
          <a:sy n="56" d="100"/>
        </p:scale>
        <p:origin x="856" y="4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79"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t>2026/3/17</a:t>
            </a:fld>
            <a:endParaRPr lang="zh-CN" altLang="en-US"/>
          </a:p>
        </p:txBody>
      </p:sp>
      <p:sp>
        <p:nvSpPr>
          <p:cNvPr id="1048780"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81"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7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t>3/17/2026</a:t>
            </a:fld>
            <a:endParaRPr lang="en-US"/>
          </a:p>
        </p:txBody>
      </p:sp>
      <p:sp>
        <p:nvSpPr>
          <p:cNvPr id="104877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7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7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9" name="幻灯片图像占位符 1"/>
          <p:cNvSpPr>
            <a:spLocks noGrp="1" noRot="1" noChangeAspect="1"/>
          </p:cNvSpPr>
          <p:nvPr>
            <p:ph type="sldImg"/>
          </p:nvPr>
        </p:nvSpPr>
        <p:spPr/>
      </p:sp>
      <p:sp>
        <p:nvSpPr>
          <p:cNvPr id="1048680" name="备注占位符 2"/>
          <p:cNvSpPr>
            <a:spLocks noGrp="1"/>
          </p:cNvSpPr>
          <p:nvPr>
            <p:ph type="body" idx="1"/>
          </p:nvPr>
        </p:nvSpPr>
        <p:spPr/>
        <p:txBody>
          <a:bodyPr/>
          <a:lstStyle/>
          <a:p>
            <a:r>
              <a:rPr kumimoji="1" lang="en-GB" altLang="zh-CN" dirty="0"/>
              <a:t>https://</a:t>
            </a:r>
            <a:r>
              <a:rPr kumimoji="1" lang="en-GB" altLang="zh-CN" dirty="0" err="1"/>
              <a:t>developer.download.nvidia.cn</a:t>
            </a:r>
            <a:r>
              <a:rPr kumimoji="1" lang="en-GB" altLang="zh-CN" dirty="0"/>
              <a:t>/video/</a:t>
            </a:r>
            <a:r>
              <a:rPr kumimoji="1" lang="en-GB" altLang="zh-CN" dirty="0" err="1"/>
              <a:t>gputechconf</a:t>
            </a:r>
            <a:r>
              <a:rPr kumimoji="1" lang="en-GB" altLang="zh-CN" dirty="0"/>
              <a:t>/</a:t>
            </a:r>
            <a:r>
              <a:rPr kumimoji="1" lang="en-GB" altLang="zh-CN" dirty="0" err="1"/>
              <a:t>gtc</a:t>
            </a:r>
            <a:r>
              <a:rPr kumimoji="1" lang="en-GB" altLang="zh-CN" dirty="0"/>
              <a:t>/2019/presentation/s9345-cuda-kernel-profiling-using-nvidia-nsight-compute.pdf</a:t>
            </a:r>
            <a:endParaRPr kumimoji="1" lang="zh-CN" altLang="en-US" dirty="0"/>
          </a:p>
        </p:txBody>
      </p:sp>
      <p:sp>
        <p:nvSpPr>
          <p:cNvPr id="1048681" name="灯片编号占位符 3"/>
          <p:cNvSpPr>
            <a:spLocks noGrp="1"/>
          </p:cNvSpPr>
          <p:nvPr>
            <p:ph type="sldNum" sz="quarter" idx="5"/>
          </p:nvPr>
        </p:nvSpPr>
        <p:spPr/>
        <p:txBody>
          <a:bodyPr/>
          <a:lstStyle/>
          <a:p>
            <a:fld id="{AB44C98A-D9C5-894D-9A13-8F52E37846C0}" type="slidenum">
              <a:rPr lang="en-US" smtClean="0"/>
              <a:t>9</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6" name="幻灯片图像占位符 1"/>
          <p:cNvSpPr>
            <a:spLocks noGrp="1" noRot="1" noChangeAspect="1"/>
          </p:cNvSpPr>
          <p:nvPr>
            <p:ph type="sldImg"/>
          </p:nvPr>
        </p:nvSpPr>
        <p:spPr/>
      </p:sp>
      <p:sp>
        <p:nvSpPr>
          <p:cNvPr id="1048687" name="备注占位符 2"/>
          <p:cNvSpPr>
            <a:spLocks noGrp="1"/>
          </p:cNvSpPr>
          <p:nvPr>
            <p:ph type="body" idx="1"/>
          </p:nvPr>
        </p:nvSpPr>
        <p:spPr/>
        <p:txBody>
          <a:bodyPr/>
          <a:lstStyle/>
          <a:p>
            <a:r>
              <a:rPr kumimoji="1" lang="en-GB" altLang="zh-CN" dirty="0"/>
              <a:t>https://</a:t>
            </a:r>
            <a:r>
              <a:rPr kumimoji="1" lang="en-GB" altLang="zh-CN" dirty="0" err="1"/>
              <a:t>www.slideshare.net</a:t>
            </a:r>
            <a:r>
              <a:rPr kumimoji="1" lang="en-GB" altLang="zh-CN" dirty="0"/>
              <a:t>/slideshow/profiling-deep-learning-network-using-</a:t>
            </a:r>
            <a:r>
              <a:rPr kumimoji="1" lang="en-GB" altLang="zh-CN" dirty="0" err="1"/>
              <a:t>nvidia</a:t>
            </a:r>
            <a:r>
              <a:rPr kumimoji="1" lang="en-GB" altLang="zh-CN" dirty="0"/>
              <a:t>-</a:t>
            </a:r>
            <a:r>
              <a:rPr kumimoji="1" lang="en-GB" altLang="zh-CN" dirty="0" err="1"/>
              <a:t>nsight</a:t>
            </a:r>
            <a:r>
              <a:rPr kumimoji="1" lang="en-GB" altLang="zh-CN" dirty="0"/>
              <a:t>-systems/170158704</a:t>
            </a:r>
            <a:endParaRPr kumimoji="1" lang="zh-CN" altLang="en-US" dirty="0"/>
          </a:p>
        </p:txBody>
      </p:sp>
      <p:sp>
        <p:nvSpPr>
          <p:cNvPr id="1048688" name="灯片编号占位符 3"/>
          <p:cNvSpPr>
            <a:spLocks noGrp="1"/>
          </p:cNvSpPr>
          <p:nvPr>
            <p:ph type="sldNum" sz="quarter" idx="5"/>
          </p:nvPr>
        </p:nvSpPr>
        <p:spPr/>
        <p:txBody>
          <a:bodyPr/>
          <a:lstStyle/>
          <a:p>
            <a:fld id="{AB44C98A-D9C5-894D-9A13-8F52E37846C0}" type="slidenum">
              <a:rPr lang="en-US" smtClean="0"/>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7" name="幻灯片图像占位符 1"/>
          <p:cNvSpPr>
            <a:spLocks noGrp="1" noRot="1" noChangeAspect="1"/>
          </p:cNvSpPr>
          <p:nvPr>
            <p:ph type="sldImg"/>
          </p:nvPr>
        </p:nvSpPr>
        <p:spPr/>
      </p:sp>
      <p:sp>
        <p:nvSpPr>
          <p:cNvPr id="1048698" name="备注占位符 2"/>
          <p:cNvSpPr>
            <a:spLocks noGrp="1"/>
          </p:cNvSpPr>
          <p:nvPr>
            <p:ph type="body" idx="1"/>
          </p:nvPr>
        </p:nvSpPr>
        <p:spPr/>
        <p:txBody>
          <a:bodyPr/>
          <a:lstStyle/>
          <a:p>
            <a:endParaRPr kumimoji="1" lang="zh-CN" altLang="en-US" dirty="0"/>
          </a:p>
        </p:txBody>
      </p:sp>
      <p:sp>
        <p:nvSpPr>
          <p:cNvPr id="1048699" name="灯片编号占位符 3"/>
          <p:cNvSpPr>
            <a:spLocks noGrp="1"/>
          </p:cNvSpPr>
          <p:nvPr>
            <p:ph type="sldNum" sz="quarter" idx="5"/>
          </p:nvPr>
        </p:nvSpPr>
        <p:spPr/>
        <p:txBody>
          <a:bodyPr/>
          <a:lstStyle/>
          <a:p>
            <a:fld id="{AB44C98A-D9C5-894D-9A13-8F52E37846C0}" type="slidenum">
              <a:rPr lang="en-US" smtClean="0"/>
              <a:t>12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幻灯片图像占位符 1"/>
          <p:cNvSpPr>
            <a:spLocks noGrp="1" noRot="1" noChangeAspect="1"/>
          </p:cNvSpPr>
          <p:nvPr>
            <p:ph type="sldImg"/>
          </p:nvPr>
        </p:nvSpPr>
        <p:spPr/>
      </p:sp>
      <p:sp>
        <p:nvSpPr>
          <p:cNvPr id="1048705"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kumimoji="1" lang="en-GB" altLang="zh-CN" dirty="0"/>
              <a:t>https://</a:t>
            </a:r>
            <a:r>
              <a:rPr kumimoji="1" lang="en-GB" altLang="zh-CN" dirty="0" err="1"/>
              <a:t>developer.download.nvidia.cn</a:t>
            </a:r>
            <a:r>
              <a:rPr kumimoji="1" lang="en-GB" altLang="zh-CN" dirty="0"/>
              <a:t>/video/</a:t>
            </a:r>
            <a:r>
              <a:rPr kumimoji="1" lang="en-GB" altLang="zh-CN" dirty="0" err="1"/>
              <a:t>gputechconf</a:t>
            </a:r>
            <a:r>
              <a:rPr kumimoji="1" lang="en-GB" altLang="zh-CN" dirty="0"/>
              <a:t>/</a:t>
            </a:r>
            <a:r>
              <a:rPr kumimoji="1" lang="en-GB" altLang="zh-CN" dirty="0" err="1"/>
              <a:t>gtc</a:t>
            </a:r>
            <a:r>
              <a:rPr kumimoji="1" lang="en-GB" altLang="zh-CN" dirty="0"/>
              <a:t>/2019/presentation/s9345-cuda-kernel-profiling-using-nvidia-nsight-compute.pdf</a:t>
            </a:r>
            <a:endParaRPr kumimoji="1" lang="zh-CN" altLang="en-US" dirty="0"/>
          </a:p>
          <a:p>
            <a:endParaRPr kumimoji="1" lang="zh-CN" altLang="en-US" dirty="0"/>
          </a:p>
        </p:txBody>
      </p:sp>
      <p:sp>
        <p:nvSpPr>
          <p:cNvPr id="1048706" name="灯片编号占位符 3"/>
          <p:cNvSpPr>
            <a:spLocks noGrp="1"/>
          </p:cNvSpPr>
          <p:nvPr>
            <p:ph type="sldNum" sz="quarter" idx="5"/>
          </p:nvPr>
        </p:nvSpPr>
        <p:spPr/>
        <p:txBody>
          <a:bodyPr/>
          <a:lstStyle/>
          <a:p>
            <a:fld id="{AB44C98A-D9C5-894D-9A13-8F52E37846C0}" type="slidenum">
              <a:rPr lang="en-US" smtClean="0"/>
              <a:t>13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幻灯片图像占位符 1"/>
          <p:cNvSpPr>
            <a:spLocks noGrp="1" noRot="1" noChangeAspect="1"/>
          </p:cNvSpPr>
          <p:nvPr>
            <p:ph type="sldImg"/>
          </p:nvPr>
        </p:nvSpPr>
        <p:spPr/>
      </p:sp>
      <p:sp>
        <p:nvSpPr>
          <p:cNvPr id="1048712" name="备注占位符 2"/>
          <p:cNvSpPr>
            <a:spLocks noGrp="1"/>
          </p:cNvSpPr>
          <p:nvPr>
            <p:ph type="body" idx="1"/>
          </p:nvPr>
        </p:nvSpPr>
        <p:spPr/>
        <p:txBody>
          <a:bodyPr/>
          <a:lstStyle/>
          <a:p>
            <a:endParaRPr kumimoji="1" lang="zh-CN" altLang="en-US" dirty="0"/>
          </a:p>
        </p:txBody>
      </p:sp>
      <p:sp>
        <p:nvSpPr>
          <p:cNvPr id="1048713" name="灯片编号占位符 3"/>
          <p:cNvSpPr>
            <a:spLocks noGrp="1"/>
          </p:cNvSpPr>
          <p:nvPr>
            <p:ph type="sldNum" sz="quarter" idx="5"/>
          </p:nvPr>
        </p:nvSpPr>
        <p:spPr/>
        <p:txBody>
          <a:bodyPr/>
          <a:lstStyle/>
          <a:p>
            <a:fld id="{AB44C98A-D9C5-894D-9A13-8F52E37846C0}" type="slidenum">
              <a:rPr lang="en-US" smtClean="0"/>
              <a:t>14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幻灯片图像占位符 1"/>
          <p:cNvSpPr>
            <a:spLocks noGrp="1" noRot="1" noChangeAspect="1"/>
          </p:cNvSpPr>
          <p:nvPr>
            <p:ph type="sldImg"/>
          </p:nvPr>
        </p:nvSpPr>
        <p:spPr/>
      </p:sp>
      <p:sp>
        <p:nvSpPr>
          <p:cNvPr id="1048719" name="备注占位符 2"/>
          <p:cNvSpPr>
            <a:spLocks noGrp="1"/>
          </p:cNvSpPr>
          <p:nvPr>
            <p:ph type="body" idx="1"/>
          </p:nvPr>
        </p:nvSpPr>
        <p:spPr/>
        <p:txBody>
          <a:bodyPr/>
          <a:lstStyle/>
          <a:p>
            <a:endParaRPr kumimoji="1" lang="zh-CN" altLang="en-US" dirty="0"/>
          </a:p>
        </p:txBody>
      </p:sp>
      <p:sp>
        <p:nvSpPr>
          <p:cNvPr id="1048720" name="灯片编号占位符 3"/>
          <p:cNvSpPr>
            <a:spLocks noGrp="1"/>
          </p:cNvSpPr>
          <p:nvPr>
            <p:ph type="sldNum" sz="quarter" idx="5"/>
          </p:nvPr>
        </p:nvSpPr>
        <p:spPr/>
        <p:txBody>
          <a:bodyPr/>
          <a:lstStyle/>
          <a:p>
            <a:fld id="{AB44C98A-D9C5-894D-9A13-8F52E37846C0}" type="slidenum">
              <a:rPr lang="en-US" smtClean="0"/>
              <a:t>15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幻灯片图像占位符 1"/>
          <p:cNvSpPr>
            <a:spLocks noGrp="1" noRot="1" noChangeAspect="1"/>
          </p:cNvSpPr>
          <p:nvPr>
            <p:ph type="sldImg"/>
          </p:nvPr>
        </p:nvSpPr>
        <p:spPr/>
      </p:sp>
      <p:sp>
        <p:nvSpPr>
          <p:cNvPr id="1048726" name="备注占位符 2"/>
          <p:cNvSpPr>
            <a:spLocks noGrp="1"/>
          </p:cNvSpPr>
          <p:nvPr>
            <p:ph type="body" idx="1"/>
          </p:nvPr>
        </p:nvSpPr>
        <p:spPr/>
        <p:txBody>
          <a:bodyPr/>
          <a:lstStyle/>
          <a:p>
            <a:endParaRPr kumimoji="1" lang="zh-CN" altLang="en-US" dirty="0"/>
          </a:p>
        </p:txBody>
      </p:sp>
      <p:sp>
        <p:nvSpPr>
          <p:cNvPr id="1048727" name="灯片编号占位符 3"/>
          <p:cNvSpPr>
            <a:spLocks noGrp="1"/>
          </p:cNvSpPr>
          <p:nvPr>
            <p:ph type="sldNum" sz="quarter" idx="5"/>
          </p:nvPr>
        </p:nvSpPr>
        <p:spPr/>
        <p:txBody>
          <a:bodyPr/>
          <a:lstStyle/>
          <a:p>
            <a:fld id="{AB44C98A-D9C5-894D-9A13-8F52E37846C0}" type="slidenum">
              <a:rPr lang="en-US" smtClean="0"/>
              <a:t>16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2" name="幻灯片图像占位符 1"/>
          <p:cNvSpPr>
            <a:spLocks noGrp="1" noRot="1" noChangeAspect="1"/>
          </p:cNvSpPr>
          <p:nvPr>
            <p:ph type="sldImg"/>
          </p:nvPr>
        </p:nvSpPr>
        <p:spPr/>
      </p:sp>
      <p:sp>
        <p:nvSpPr>
          <p:cNvPr id="1048733" name="备注占位符 2"/>
          <p:cNvSpPr>
            <a:spLocks noGrp="1"/>
          </p:cNvSpPr>
          <p:nvPr>
            <p:ph type="body" idx="1"/>
          </p:nvPr>
        </p:nvSpPr>
        <p:spPr/>
        <p:txBody>
          <a:bodyPr/>
          <a:lstStyle/>
          <a:p>
            <a:endParaRPr kumimoji="1" lang="zh-CN" altLang="en-US" dirty="0"/>
          </a:p>
        </p:txBody>
      </p:sp>
      <p:sp>
        <p:nvSpPr>
          <p:cNvPr id="1048734" name="灯片编号占位符 3"/>
          <p:cNvSpPr>
            <a:spLocks noGrp="1"/>
          </p:cNvSpPr>
          <p:nvPr>
            <p:ph type="sldNum" sz="quarter" idx="5"/>
          </p:nvPr>
        </p:nvSpPr>
        <p:spPr/>
        <p:txBody>
          <a:bodyPr/>
          <a:lstStyle/>
          <a:p>
            <a:fld id="{AB44C98A-D9C5-894D-9A13-8F52E37846C0}" type="slidenum">
              <a:rPr lang="en-US" smtClean="0"/>
              <a:t>17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幻灯片图像占位符 1"/>
          <p:cNvSpPr>
            <a:spLocks noGrp="1" noRot="1" noChangeAspect="1"/>
          </p:cNvSpPr>
          <p:nvPr>
            <p:ph type="sldImg"/>
          </p:nvPr>
        </p:nvSpPr>
        <p:spPr/>
      </p:sp>
      <p:sp>
        <p:nvSpPr>
          <p:cNvPr id="1048740" name="备注占位符 2"/>
          <p:cNvSpPr>
            <a:spLocks noGrp="1"/>
          </p:cNvSpPr>
          <p:nvPr>
            <p:ph type="body" idx="1"/>
          </p:nvPr>
        </p:nvSpPr>
        <p:spPr/>
        <p:txBody>
          <a:bodyPr/>
          <a:lstStyle/>
          <a:p>
            <a:endParaRPr kumimoji="1" lang="zh-CN" altLang="en-US" dirty="0"/>
          </a:p>
        </p:txBody>
      </p:sp>
      <p:sp>
        <p:nvSpPr>
          <p:cNvPr id="1048741" name="灯片编号占位符 3"/>
          <p:cNvSpPr>
            <a:spLocks noGrp="1"/>
          </p:cNvSpPr>
          <p:nvPr>
            <p:ph type="sldNum" sz="quarter" idx="5"/>
          </p:nvPr>
        </p:nvSpPr>
        <p:spPr/>
        <p:txBody>
          <a:bodyPr/>
          <a:lstStyle/>
          <a:p>
            <a:fld id="{AB44C98A-D9C5-894D-9A13-8F52E37846C0}" type="slidenum">
              <a:rPr lang="en-US" smtClean="0"/>
              <a:t>18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6" name="幻灯片图像占位符 1"/>
          <p:cNvSpPr>
            <a:spLocks noGrp="1" noRot="1" noChangeAspect="1"/>
          </p:cNvSpPr>
          <p:nvPr>
            <p:ph type="sldImg"/>
          </p:nvPr>
        </p:nvSpPr>
        <p:spPr/>
      </p:sp>
      <p:sp>
        <p:nvSpPr>
          <p:cNvPr id="1048747" name="备注占位符 2"/>
          <p:cNvSpPr>
            <a:spLocks noGrp="1"/>
          </p:cNvSpPr>
          <p:nvPr>
            <p:ph type="body" idx="1"/>
          </p:nvPr>
        </p:nvSpPr>
        <p:spPr/>
        <p:txBody>
          <a:bodyPr/>
          <a:lstStyle/>
          <a:p>
            <a:endParaRPr kumimoji="1" lang="zh-CN" altLang="en-US" dirty="0"/>
          </a:p>
        </p:txBody>
      </p:sp>
      <p:sp>
        <p:nvSpPr>
          <p:cNvPr id="1048748" name="灯片编号占位符 3"/>
          <p:cNvSpPr>
            <a:spLocks noGrp="1"/>
          </p:cNvSpPr>
          <p:nvPr>
            <p:ph type="sldNum" sz="quarter" idx="5"/>
          </p:nvPr>
        </p:nvSpPr>
        <p:spPr/>
        <p:txBody>
          <a:bodyPr/>
          <a:lstStyle/>
          <a:p>
            <a:fld id="{AB44C98A-D9C5-894D-9A13-8F52E37846C0}" type="slidenum">
              <a:rPr lang="en-US" smtClean="0"/>
              <a:t>19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幻灯片图像占位符 1"/>
          <p:cNvSpPr>
            <a:spLocks noGrp="1" noRot="1" noChangeAspect="1"/>
          </p:cNvSpPr>
          <p:nvPr>
            <p:ph type="sldImg"/>
          </p:nvPr>
        </p:nvSpPr>
        <p:spPr/>
      </p:sp>
      <p:sp>
        <p:nvSpPr>
          <p:cNvPr id="1048754" name="备注占位符 2"/>
          <p:cNvSpPr>
            <a:spLocks noGrp="1"/>
          </p:cNvSpPr>
          <p:nvPr>
            <p:ph type="body" idx="1"/>
          </p:nvPr>
        </p:nvSpPr>
        <p:spPr/>
        <p:txBody>
          <a:bodyPr/>
          <a:lstStyle/>
          <a:p>
            <a:endParaRPr kumimoji="1" lang="zh-CN" altLang="en-US" dirty="0"/>
          </a:p>
        </p:txBody>
      </p:sp>
      <p:sp>
        <p:nvSpPr>
          <p:cNvPr id="1048755" name="灯片编号占位符 3"/>
          <p:cNvSpPr>
            <a:spLocks noGrp="1"/>
          </p:cNvSpPr>
          <p:nvPr>
            <p:ph type="sldNum" sz="quarter" idx="5"/>
          </p:nvPr>
        </p:nvSpPr>
        <p:spPr/>
        <p:txBody>
          <a:bodyPr/>
          <a:lstStyle/>
          <a:p>
            <a:fld id="{AB44C98A-D9C5-894D-9A13-8F52E37846C0}" type="slidenum">
              <a:rPr lang="en-US" smtClean="0"/>
              <a:t>20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0" name="幻灯片图像占位符 1"/>
          <p:cNvSpPr>
            <a:spLocks noGrp="1" noRot="1" noChangeAspect="1"/>
          </p:cNvSpPr>
          <p:nvPr>
            <p:ph type="sldImg"/>
          </p:nvPr>
        </p:nvSpPr>
        <p:spPr/>
      </p:sp>
      <p:sp>
        <p:nvSpPr>
          <p:cNvPr id="1048761" name="备注占位符 2"/>
          <p:cNvSpPr>
            <a:spLocks noGrp="1"/>
          </p:cNvSpPr>
          <p:nvPr>
            <p:ph type="body" idx="1"/>
          </p:nvPr>
        </p:nvSpPr>
        <p:spPr/>
        <p:txBody>
          <a:bodyPr/>
          <a:lstStyle/>
          <a:p>
            <a:endParaRPr kumimoji="1" lang="zh-CN" altLang="en-US" dirty="0"/>
          </a:p>
        </p:txBody>
      </p:sp>
      <p:sp>
        <p:nvSpPr>
          <p:cNvPr id="1048762" name="灯片编号占位符 3"/>
          <p:cNvSpPr>
            <a:spLocks noGrp="1"/>
          </p:cNvSpPr>
          <p:nvPr>
            <p:ph type="sldNum" sz="quarter" idx="5"/>
          </p:nvPr>
        </p:nvSpPr>
        <p:spPr/>
        <p:txBody>
          <a:bodyPr/>
          <a:lstStyle/>
          <a:p>
            <a:fld id="{AB44C98A-D9C5-894D-9A13-8F52E37846C0}" type="slidenum">
              <a:rPr lang="en-US" smtClean="0"/>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325102483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793295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eveloper.nvidia.com/nsight-systems/get-starte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docs.nvidia.com/nsight-compute/ProfilingGuide/index.html" TargetMode="External"/><Relationship Id="rId4" Type="http://schemas.openxmlformats.org/officeDocument/2006/relationships/hyperlink" Target="https://docs.nvidia.com/nsight-systems/index.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image" Target="../media/image22.png"/><Relationship Id="rId26" Type="http://schemas.openxmlformats.org/officeDocument/2006/relationships/hyperlink" Target="https://www.zhihu.com/people/95-22-20-18/posts" TargetMode="External"/><Relationship Id="rId3" Type="http://schemas.openxmlformats.org/officeDocument/2006/relationships/tags" Target="../tags/tag5.xml"/><Relationship Id="rId21" Type="http://schemas.openxmlformats.org/officeDocument/2006/relationships/image" Target="../media/image25.png"/><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image" Target="../media/image24.png"/><Relationship Id="rId29" Type="http://schemas.openxmlformats.org/officeDocument/2006/relationships/image" Target="../media/image29.pn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hyperlink" Target="https://github.com/flagos-ai" TargetMode="Externa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image" Target="../media/image27.png"/><Relationship Id="rId28" Type="http://schemas.openxmlformats.org/officeDocument/2006/relationships/image" Target="../media/image28.jpeg"/><Relationship Id="rId10" Type="http://schemas.openxmlformats.org/officeDocument/2006/relationships/tags" Target="../tags/tag12.xml"/><Relationship Id="rId19" Type="http://schemas.openxmlformats.org/officeDocument/2006/relationships/image" Target="../media/image23.png"/><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image" Target="../media/image26.png"/><Relationship Id="rId27" Type="http://schemas.openxmlformats.org/officeDocument/2006/relationships/hyperlink" Target="https://flagos.io/Home"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标题 1"/>
          <p:cNvSpPr>
            <a:spLocks noGrp="1"/>
          </p:cNvSpPr>
          <p:nvPr>
            <p:ph type="ctrTitle"/>
          </p:nvPr>
        </p:nvSpPr>
        <p:spPr/>
        <p:txBody>
          <a:bodyPr>
            <a:normAutofit/>
          </a:bodyPr>
          <a:lstStyle/>
          <a:p>
            <a:r>
              <a:rPr lang="en-US" altLang="zh-CN" dirty="0"/>
              <a:t>Lecture 16: Complex Operator Debugging and Profiling</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内容占位符 1"/>
          <p:cNvSpPr>
            <a:spLocks noGrp="1"/>
          </p:cNvSpPr>
          <p:nvPr>
            <p:ph sz="quarter" idx="10"/>
          </p:nvPr>
        </p:nvSpPr>
        <p:spPr/>
        <p:txBody>
          <a:bodyPr/>
          <a:lstStyle/>
          <a:p>
            <a:r>
              <a:rPr lang="en-US" altLang="zh-CN" dirty="0"/>
              <a:t>Overview</a:t>
            </a:r>
          </a:p>
          <a:p>
            <a:r>
              <a:rPr lang="en-US" altLang="zh-CN" dirty="0"/>
              <a:t>Nsight System</a:t>
            </a:r>
          </a:p>
          <a:p>
            <a:r>
              <a:rPr lang="en-US" altLang="zh-CN" dirty="0"/>
              <a:t>Nsight Compute</a:t>
            </a:r>
          </a:p>
          <a:p>
            <a:r>
              <a:rPr lang="en-US" altLang="zh-CN" dirty="0"/>
              <a:t>Case Study</a:t>
            </a:r>
            <a:endParaRPr lang="zh-CN" altLang="en-US" dirty="0"/>
          </a:p>
        </p:txBody>
      </p:sp>
      <p:sp>
        <p:nvSpPr>
          <p:cNvPr id="1048652" name="内容占位符 2"/>
          <p:cNvSpPr>
            <a:spLocks noGrp="1"/>
          </p:cNvSpPr>
          <p:nvPr>
            <p:ph sz="quarter" idx="11"/>
          </p:nvPr>
        </p:nvSpPr>
        <p:spPr/>
        <p:txBody>
          <a:bodyPr/>
          <a:lstStyle/>
          <a:p>
            <a:r>
              <a:rPr lang="en-US" altLang="zh-CN"/>
              <a:t>Outline</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标题 1"/>
          <p:cNvSpPr>
            <a:spLocks noGrp="1"/>
          </p:cNvSpPr>
          <p:nvPr>
            <p:ph type="title"/>
          </p:nvPr>
        </p:nvSpPr>
        <p:spPr/>
        <p:txBody>
          <a:bodyPr/>
          <a:lstStyle/>
          <a:p>
            <a:pPr fontAlgn="base"/>
            <a:r>
              <a:rPr lang="en-GB" altLang="zh-CN" dirty="0"/>
              <a:t>NVIDIA Nsight Developer Tools</a:t>
            </a:r>
          </a:p>
        </p:txBody>
      </p:sp>
      <p:sp>
        <p:nvSpPr>
          <p:cNvPr id="1048659" name="页脚占位符 3"/>
          <p:cNvSpPr>
            <a:spLocks noGrp="1"/>
          </p:cNvSpPr>
          <p:nvPr>
            <p:ph type="ftr" sz="quarter" idx="11"/>
          </p:nvPr>
        </p:nvSpPr>
        <p:spPr/>
        <p:txBody>
          <a:bodyPr/>
          <a:lstStyle/>
          <a:p>
            <a:r>
              <a:rPr lang="en-GB" altLang="zh-CN" dirty="0"/>
              <a:t>https://</a:t>
            </a:r>
            <a:r>
              <a:rPr lang="en-GB" altLang="zh-CN" dirty="0" err="1"/>
              <a:t>developer.nvidia.com</a:t>
            </a:r>
            <a:r>
              <a:rPr lang="en-GB" altLang="zh-CN" dirty="0"/>
              <a:t>/tools-overview</a:t>
            </a:r>
            <a:endParaRPr lang="zh-CN" altLang="en-US" dirty="0"/>
          </a:p>
        </p:txBody>
      </p:sp>
      <p:sp>
        <p:nvSpPr>
          <p:cNvPr id="1048660" name="灯片编号占位符 4"/>
          <p:cNvSpPr>
            <a:spLocks noGrp="1"/>
          </p:cNvSpPr>
          <p:nvPr>
            <p:ph type="sldNum" sz="quarter" idx="12"/>
          </p:nvPr>
        </p:nvSpPr>
        <p:spPr/>
        <p:txBody>
          <a:bodyPr/>
          <a:lstStyle/>
          <a:p>
            <a:fld id="{B33F7469-D28B-482F-B1B6-3B8E7CF51519}" type="slidenum">
              <a:rPr lang="zh-CN" altLang="en-US" smtClean="0"/>
              <a:t>4</a:t>
            </a:fld>
            <a:endParaRPr lang="zh-CN" altLang="en-US" dirty="0"/>
          </a:p>
        </p:txBody>
      </p:sp>
      <p:sp>
        <p:nvSpPr>
          <p:cNvPr id="1048658" name="内容占位符 2"/>
          <p:cNvSpPr>
            <a:spLocks noGrp="1"/>
          </p:cNvSpPr>
          <p:nvPr>
            <p:ph sz="quarter" idx="13"/>
          </p:nvPr>
        </p:nvSpPr>
        <p:spPr/>
        <p:txBody>
          <a:bodyPr/>
          <a:lstStyle/>
          <a:p>
            <a:r>
              <a:rPr lang="en-GB" altLang="zh-CN" dirty="0"/>
              <a:t>NVIDIA Nsight™ tools are a powerful set of libraries, SDKs, and developer tools spanning across desktop and mobile targets that enable developers to build, debug, profile, and develop software that utilizes the latest accelerated computing hardware.</a:t>
            </a:r>
            <a:endParaRPr lang="zh-CN" altLang="en-US" dirty="0"/>
          </a:p>
        </p:txBody>
      </p:sp>
      <p:pic>
        <p:nvPicPr>
          <p:cNvPr id="2097152" name="图片 5"/>
          <p:cNvPicPr>
            <a:picLocks noChangeAspect="1"/>
          </p:cNvPicPr>
          <p:nvPr/>
        </p:nvPicPr>
        <p:blipFill>
          <a:blip r:embed="rId2"/>
          <a:stretch>
            <a:fillRect/>
          </a:stretch>
        </p:blipFill>
        <p:spPr>
          <a:xfrm>
            <a:off x="1173550" y="2658706"/>
            <a:ext cx="9393637" cy="3767665"/>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标题 1"/>
          <p:cNvSpPr>
            <a:spLocks noGrp="1"/>
          </p:cNvSpPr>
          <p:nvPr>
            <p:ph type="title"/>
          </p:nvPr>
        </p:nvSpPr>
        <p:spPr/>
        <p:txBody>
          <a:bodyPr/>
          <a:lstStyle/>
          <a:p>
            <a:r>
              <a:rPr lang="en-GB" altLang="zh-CN" dirty="0"/>
              <a:t>Nsight Product Family</a:t>
            </a:r>
            <a:r>
              <a:rPr lang="zh-CN" altLang="en-US" dirty="0"/>
              <a:t> </a:t>
            </a:r>
            <a:r>
              <a:rPr lang="en-US" altLang="zh-CN" dirty="0"/>
              <a:t>(for CUDA Profiling)</a:t>
            </a:r>
            <a:endParaRPr lang="zh-CN" altLang="en-US" dirty="0"/>
          </a:p>
        </p:txBody>
      </p:sp>
      <p:sp>
        <p:nvSpPr>
          <p:cNvPr id="1048662" name="页脚占位符 3"/>
          <p:cNvSpPr>
            <a:spLocks noGrp="1"/>
          </p:cNvSpPr>
          <p:nvPr>
            <p:ph type="ftr" sz="quarter" idx="11"/>
          </p:nvPr>
        </p:nvSpPr>
        <p:spPr/>
        <p:txBody>
          <a:bodyPr/>
          <a:lstStyle/>
          <a:p>
            <a:endParaRPr lang="zh-CN" altLang="en-US" dirty="0"/>
          </a:p>
        </p:txBody>
      </p:sp>
      <p:sp>
        <p:nvSpPr>
          <p:cNvPr id="1048663" name="灯片编号占位符 4"/>
          <p:cNvSpPr>
            <a:spLocks noGrp="1"/>
          </p:cNvSpPr>
          <p:nvPr>
            <p:ph type="sldNum" sz="quarter" idx="12"/>
          </p:nvPr>
        </p:nvSpPr>
        <p:spPr/>
        <p:txBody>
          <a:bodyPr/>
          <a:lstStyle/>
          <a:p>
            <a:fld id="{B33F7469-D28B-482F-B1B6-3B8E7CF51519}" type="slidenum">
              <a:rPr lang="zh-CN" altLang="en-US" smtClean="0"/>
              <a:t>5</a:t>
            </a:fld>
            <a:endParaRPr lang="zh-CN" altLang="en-US" dirty="0"/>
          </a:p>
        </p:txBody>
      </p:sp>
      <p:sp>
        <p:nvSpPr>
          <p:cNvPr id="2" name="内容占位符 1"/>
          <p:cNvSpPr>
            <a:spLocks noGrp="1"/>
          </p:cNvSpPr>
          <p:nvPr>
            <p:ph sz="quarter" idx="13"/>
          </p:nvPr>
        </p:nvSpPr>
        <p:spPr/>
        <p:txBody>
          <a:bodyPr/>
          <a:lstStyle/>
          <a:p>
            <a:endParaRPr lang="zh-CN" altLang="en-US"/>
          </a:p>
        </p:txBody>
      </p:sp>
      <p:graphicFrame>
        <p:nvGraphicFramePr>
          <p:cNvPr id="4194304" name="内容占位符 6"/>
          <p:cNvGraphicFramePr/>
          <p:nvPr/>
        </p:nvGraphicFramePr>
        <p:xfrm>
          <a:off x="669656" y="1511176"/>
          <a:ext cx="10852688" cy="3987098"/>
        </p:xfrm>
        <a:graphic>
          <a:graphicData uri="http://schemas.openxmlformats.org/drawingml/2006/table">
            <a:tbl>
              <a:tblPr firstRow="1" bandRow="1">
                <a:tableStyleId>{5C22544A-7EE6-4342-B048-85BDC9FD1C3A}</a:tableStyleId>
              </a:tblPr>
              <a:tblGrid>
                <a:gridCol w="2204173">
                  <a:extLst>
                    <a:ext uri="{9D8B030D-6E8A-4147-A177-3AD203B41FA5}">
                      <a16:colId xmlns:a16="http://schemas.microsoft.com/office/drawing/2014/main" val="20000"/>
                    </a:ext>
                  </a:extLst>
                </a:gridCol>
                <a:gridCol w="2066306">
                  <a:extLst>
                    <a:ext uri="{9D8B030D-6E8A-4147-A177-3AD203B41FA5}">
                      <a16:colId xmlns:a16="http://schemas.microsoft.com/office/drawing/2014/main" val="20001"/>
                    </a:ext>
                  </a:extLst>
                </a:gridCol>
                <a:gridCol w="3503221">
                  <a:extLst>
                    <a:ext uri="{9D8B030D-6E8A-4147-A177-3AD203B41FA5}">
                      <a16:colId xmlns:a16="http://schemas.microsoft.com/office/drawing/2014/main" val="20002"/>
                    </a:ext>
                  </a:extLst>
                </a:gridCol>
                <a:gridCol w="3078988">
                  <a:extLst>
                    <a:ext uri="{9D8B030D-6E8A-4147-A177-3AD203B41FA5}">
                      <a16:colId xmlns:a16="http://schemas.microsoft.com/office/drawing/2014/main" val="20003"/>
                    </a:ext>
                  </a:extLst>
                </a:gridCol>
              </a:tblGrid>
              <a:tr h="468951">
                <a:tc>
                  <a:txBody>
                    <a:bodyPr/>
                    <a:lstStyle/>
                    <a:p>
                      <a:r>
                        <a:rPr lang="en-GB" altLang="zh-CN" sz="2000" b="0" i="0" u="none" strike="noStrike" kern="1200" dirty="0">
                          <a:solidFill>
                            <a:schemeClr val="lt1"/>
                          </a:solidFill>
                          <a:effectLst/>
                          <a:latin typeface="+mn-lt"/>
                          <a:ea typeface="+mn-ea"/>
                          <a:cs typeface="+mn-cs"/>
                        </a:rPr>
                        <a:t>Tool Name</a:t>
                      </a:r>
                      <a:endParaRPr lang="zh-CN" altLang="en-US" sz="2000" dirty="0"/>
                    </a:p>
                  </a:txBody>
                  <a:tcPr/>
                </a:tc>
                <a:tc>
                  <a:txBody>
                    <a:bodyPr/>
                    <a:lstStyle/>
                    <a:p>
                      <a:r>
                        <a:rPr lang="en-GB" altLang="zh-CN" sz="2000" b="0" i="0" u="none" strike="noStrike" kern="1200" dirty="0">
                          <a:solidFill>
                            <a:schemeClr val="lt1"/>
                          </a:solidFill>
                          <a:effectLst/>
                          <a:latin typeface="+mn-lt"/>
                          <a:ea typeface="+mn-ea"/>
                          <a:cs typeface="+mn-cs"/>
                        </a:rPr>
                        <a:t>Analysis Level</a:t>
                      </a:r>
                      <a:endParaRPr lang="zh-CN" altLang="en-US" sz="2000" dirty="0"/>
                    </a:p>
                  </a:txBody>
                  <a:tcPr/>
                </a:tc>
                <a:tc>
                  <a:txBody>
                    <a:bodyPr/>
                    <a:lstStyle/>
                    <a:p>
                      <a:r>
                        <a:rPr lang="en-GB" altLang="zh-CN" sz="2000" b="0" i="0" u="none" strike="noStrike" kern="1200" dirty="0">
                          <a:solidFill>
                            <a:schemeClr val="lt1"/>
                          </a:solidFill>
                          <a:effectLst/>
                          <a:latin typeface="+mn-lt"/>
                          <a:ea typeface="+mn-ea"/>
                          <a:cs typeface="+mn-cs"/>
                        </a:rPr>
                        <a:t>Primary Features</a:t>
                      </a:r>
                      <a:endParaRPr lang="zh-CN" altLang="en-US" sz="2000" dirty="0"/>
                    </a:p>
                  </a:txBody>
                  <a:tcPr/>
                </a:tc>
                <a:tc>
                  <a:txBody>
                    <a:bodyPr/>
                    <a:lstStyle/>
                    <a:p>
                      <a:r>
                        <a:rPr lang="en-GB" altLang="zh-CN" sz="2000" b="0" i="0" u="none" strike="noStrike" kern="1200" dirty="0">
                          <a:solidFill>
                            <a:schemeClr val="lt1"/>
                          </a:solidFill>
                          <a:effectLst/>
                          <a:latin typeface="+mn-lt"/>
                          <a:ea typeface="+mn-ea"/>
                          <a:cs typeface="+mn-cs"/>
                        </a:rPr>
                        <a:t>Typical Use Cases</a:t>
                      </a:r>
                      <a:endParaRPr lang="zh-CN" altLang="en-US" sz="2000" dirty="0"/>
                    </a:p>
                  </a:txBody>
                  <a:tcPr/>
                </a:tc>
                <a:extLst>
                  <a:ext uri="{0D108BD9-81ED-4DB2-BD59-A6C34878D82A}">
                    <a16:rowId xmlns:a16="http://schemas.microsoft.com/office/drawing/2014/main" val="10000"/>
                  </a:ext>
                </a:extLst>
              </a:tr>
              <a:tr h="1550762">
                <a:tc>
                  <a:txBody>
                    <a:bodyPr/>
                    <a:lstStyle/>
                    <a:p>
                      <a:r>
                        <a:rPr lang="en-GB" altLang="zh-CN" sz="2000" b="0" i="0" u="none" strike="noStrike" kern="1200" dirty="0">
                          <a:solidFill>
                            <a:schemeClr val="dk1"/>
                          </a:solidFill>
                          <a:effectLst/>
                          <a:latin typeface="+mn-lt"/>
                          <a:ea typeface="+mn-ea"/>
                          <a:cs typeface="+mn-cs"/>
                        </a:rPr>
                        <a:t>Nsight Systems</a:t>
                      </a:r>
                      <a:endParaRPr lang="zh-CN" altLang="en-US" sz="2000" dirty="0"/>
                    </a:p>
                  </a:txBody>
                  <a:tcPr/>
                </a:tc>
                <a:tc>
                  <a:txBody>
                    <a:bodyPr/>
                    <a:lstStyle/>
                    <a:p>
                      <a:r>
                        <a:rPr lang="en-GB" altLang="zh-CN" sz="2000" b="0" i="0" u="none" strike="noStrike" kern="1200" dirty="0">
                          <a:solidFill>
                            <a:schemeClr val="dk1"/>
                          </a:solidFill>
                          <a:effectLst/>
                          <a:latin typeface="+mn-lt"/>
                          <a:ea typeface="+mn-ea"/>
                          <a:cs typeface="+mn-cs"/>
                        </a:rPr>
                        <a:t>System-level</a:t>
                      </a:r>
                      <a:endParaRPr lang="zh-CN" altLang="en-US" sz="2000" dirty="0"/>
                    </a:p>
                  </a:txBody>
                  <a:tcPr/>
                </a:tc>
                <a:tc>
                  <a:txBody>
                    <a:bodyPr/>
                    <a:lstStyle/>
                    <a:p>
                      <a:r>
                        <a:rPr lang="en-GB" altLang="zh-CN" sz="2000" b="0" i="0" u="none" strike="noStrike" kern="1200" dirty="0">
                          <a:solidFill>
                            <a:schemeClr val="dk1"/>
                          </a:solidFill>
                          <a:effectLst/>
                          <a:latin typeface="+mn-lt"/>
                          <a:ea typeface="+mn-ea"/>
                          <a:cs typeface="+mn-cs"/>
                        </a:rPr>
                        <a:t>Cross CPU/GPU timeline analysis, API tracing, multi-process tracking</a:t>
                      </a:r>
                      <a:endParaRPr lang="zh-CN" altLang="en-US" sz="2000" dirty="0"/>
                    </a:p>
                  </a:txBody>
                  <a:tcPr/>
                </a:tc>
                <a:tc>
                  <a:txBody>
                    <a:bodyPr/>
                    <a:lstStyle/>
                    <a:p>
                      <a:r>
                        <a:rPr lang="en-GB" altLang="zh-CN" sz="2000" b="0" i="0" u="none" strike="noStrike" kern="1200" dirty="0">
                          <a:solidFill>
                            <a:schemeClr val="dk1"/>
                          </a:solidFill>
                          <a:effectLst/>
                          <a:latin typeface="+mn-lt"/>
                          <a:ea typeface="+mn-ea"/>
                          <a:cs typeface="+mn-cs"/>
                        </a:rPr>
                        <a:t>Low GPU utilization, multi-GPU load imbalance, CPU-GPU coordination issues</a:t>
                      </a:r>
                      <a:endParaRPr lang="zh-CN" altLang="en-US" sz="2000" dirty="0"/>
                    </a:p>
                  </a:txBody>
                  <a:tcPr/>
                </a:tc>
                <a:extLst>
                  <a:ext uri="{0D108BD9-81ED-4DB2-BD59-A6C34878D82A}">
                    <a16:rowId xmlns:a16="http://schemas.microsoft.com/office/drawing/2014/main" val="10001"/>
                  </a:ext>
                </a:extLst>
              </a:tr>
              <a:tr h="1967385">
                <a:tc>
                  <a:txBody>
                    <a:bodyPr/>
                    <a:lstStyle/>
                    <a:p>
                      <a:r>
                        <a:rPr lang="en-GB" altLang="zh-CN" sz="2000" b="0" i="0" u="none" strike="noStrike" kern="1200" dirty="0">
                          <a:solidFill>
                            <a:schemeClr val="dk1"/>
                          </a:solidFill>
                          <a:effectLst/>
                          <a:latin typeface="+mn-lt"/>
                          <a:ea typeface="+mn-ea"/>
                          <a:cs typeface="+mn-cs"/>
                        </a:rPr>
                        <a:t>Nsight Compute</a:t>
                      </a:r>
                      <a:endParaRPr lang="zh-CN" altLang="en-US" sz="2000" dirty="0"/>
                    </a:p>
                  </a:txBody>
                  <a:tcPr/>
                </a:tc>
                <a:tc>
                  <a:txBody>
                    <a:bodyPr/>
                    <a:lstStyle/>
                    <a:p>
                      <a:r>
                        <a:rPr lang="en-GB" altLang="zh-CN" sz="2000" b="0" i="0" u="none" strike="noStrike" kern="1200" dirty="0">
                          <a:solidFill>
                            <a:schemeClr val="dk1"/>
                          </a:solidFill>
                          <a:effectLst/>
                          <a:latin typeface="+mn-lt"/>
                          <a:ea typeface="+mn-ea"/>
                          <a:cs typeface="+mn-cs"/>
                        </a:rPr>
                        <a:t>Kernel-level</a:t>
                      </a:r>
                      <a:endParaRPr lang="zh-CN" altLang="en-US" sz="2000" dirty="0"/>
                    </a:p>
                  </a:txBody>
                  <a:tcPr/>
                </a:tc>
                <a:tc>
                  <a:txBody>
                    <a:bodyPr/>
                    <a:lstStyle/>
                    <a:p>
                      <a:r>
                        <a:rPr lang="en-GB" altLang="zh-CN" sz="2000" b="0" i="0" u="none" strike="noStrike" kern="1200" dirty="0">
                          <a:solidFill>
                            <a:schemeClr val="dk1"/>
                          </a:solidFill>
                          <a:effectLst/>
                          <a:latin typeface="+mn-lt"/>
                          <a:ea typeface="+mn-ea"/>
                          <a:cs typeface="+mn-cs"/>
                        </a:rPr>
                        <a:t>CUDA kernel microarchitecture analysis, instruction-level performance metrics,</a:t>
                      </a:r>
                      <a:r>
                        <a:rPr lang="zh-CN" altLang="en-US" sz="2000" b="0" i="0" u="none" strike="noStrike" kern="1200" dirty="0">
                          <a:solidFill>
                            <a:schemeClr val="dk1"/>
                          </a:solidFill>
                          <a:effectLst/>
                          <a:latin typeface="+mn-lt"/>
                          <a:ea typeface="+mn-ea"/>
                          <a:cs typeface="+mn-cs"/>
                        </a:rPr>
                        <a:t> </a:t>
                      </a:r>
                      <a:r>
                        <a:rPr lang="en-GB" altLang="zh-CN" sz="2000" b="0" i="0" u="none" strike="noStrike" kern="1200" dirty="0">
                          <a:solidFill>
                            <a:schemeClr val="dk1"/>
                          </a:solidFill>
                          <a:effectLst/>
                          <a:latin typeface="+mn-lt"/>
                          <a:ea typeface="+mn-ea"/>
                          <a:cs typeface="+mn-cs"/>
                        </a:rPr>
                        <a:t>optimization recommendations</a:t>
                      </a:r>
                      <a:endParaRPr lang="zh-CN" altLang="en-US" sz="2000" dirty="0"/>
                    </a:p>
                  </a:txBody>
                  <a:tcPr/>
                </a:tc>
                <a:tc>
                  <a:txBody>
                    <a:bodyPr/>
                    <a:lstStyle/>
                    <a:p>
                      <a:r>
                        <a:rPr lang="en-GB" altLang="zh-CN" sz="2000" b="0" i="0" u="none" strike="noStrike" kern="1200" dirty="0">
                          <a:solidFill>
                            <a:schemeClr val="dk1"/>
                          </a:solidFill>
                          <a:effectLst/>
                          <a:latin typeface="+mn-lt"/>
                          <a:ea typeface="+mn-ea"/>
                          <a:cs typeface="+mn-cs"/>
                        </a:rPr>
                        <a:t>Kernel performance bottleneck analysis, memory access optimization, register usage tuning</a:t>
                      </a:r>
                      <a:endParaRPr lang="zh-CN" altLang="en-US" sz="2000" dirty="0"/>
                    </a:p>
                  </a:txBody>
                  <a:tcPr/>
                </a:tc>
                <a:extLst>
                  <a:ext uri="{0D108BD9-81ED-4DB2-BD59-A6C34878D82A}">
                    <a16:rowId xmlns:a16="http://schemas.microsoft.com/office/drawing/2014/main" val="10002"/>
                  </a:ext>
                </a:extLst>
              </a:tr>
            </a:tbl>
          </a:graphicData>
        </a:graphic>
      </p:graphicFrame>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标题 1"/>
          <p:cNvSpPr>
            <a:spLocks noGrp="1"/>
          </p:cNvSpPr>
          <p:nvPr>
            <p:ph type="title"/>
          </p:nvPr>
        </p:nvSpPr>
        <p:spPr/>
        <p:txBody>
          <a:bodyPr/>
          <a:lstStyle/>
          <a:p>
            <a:r>
              <a:rPr lang="en-GB" altLang="zh-CN" dirty="0"/>
              <a:t>Optimization Workflow for CUDA Applications</a:t>
            </a:r>
            <a:endParaRPr lang="zh-CN" altLang="en-US" dirty="0"/>
          </a:p>
        </p:txBody>
      </p:sp>
      <p:sp>
        <p:nvSpPr>
          <p:cNvPr id="1048666" name="页脚占位符 3"/>
          <p:cNvSpPr>
            <a:spLocks noGrp="1"/>
          </p:cNvSpPr>
          <p:nvPr>
            <p:ph type="ftr" sz="quarter" idx="11"/>
          </p:nvPr>
        </p:nvSpPr>
        <p:spPr/>
        <p:txBody>
          <a:bodyPr/>
          <a:lstStyle/>
          <a:p>
            <a:endParaRPr lang="zh-CN" altLang="en-US" dirty="0"/>
          </a:p>
        </p:txBody>
      </p:sp>
      <p:sp>
        <p:nvSpPr>
          <p:cNvPr id="1048667"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1048665" name="内容占位符 2"/>
          <p:cNvSpPr>
            <a:spLocks noGrp="1"/>
          </p:cNvSpPr>
          <p:nvPr>
            <p:ph sz="quarter" idx="13"/>
          </p:nvPr>
        </p:nvSpPr>
        <p:spPr/>
        <p:txBody>
          <a:bodyPr/>
          <a:lstStyle/>
          <a:p>
            <a:r>
              <a:rPr lang="en-GB" altLang="zh-CN" b="1" dirty="0"/>
              <a:t>Nsight Systems</a:t>
            </a:r>
            <a:r>
              <a:rPr lang="en-GB" altLang="zh-CN" dirty="0"/>
              <a:t>: System-wide application algorithm tuning</a:t>
            </a:r>
          </a:p>
          <a:p>
            <a:r>
              <a:rPr lang="en-GB" altLang="zh-CN" b="1" dirty="0"/>
              <a:t>Nsight Compute</a:t>
            </a:r>
            <a:r>
              <a:rPr lang="en-GB" altLang="zh-CN" dirty="0"/>
              <a:t>: Debug/optimize specific CUDA kernel</a:t>
            </a:r>
            <a:endParaRPr lang="zh-CN" altLang="en-US" dirty="0"/>
          </a:p>
        </p:txBody>
      </p:sp>
      <p:pic>
        <p:nvPicPr>
          <p:cNvPr id="2097153" name="图片 8" descr="图示&#10;&#10;AI 生成的内容可能不正确。"/>
          <p:cNvPicPr>
            <a:picLocks noChangeAspect="1"/>
          </p:cNvPicPr>
          <p:nvPr/>
        </p:nvPicPr>
        <p:blipFill>
          <a:blip r:embed="rId2"/>
          <a:stretch>
            <a:fillRect/>
          </a:stretch>
        </p:blipFill>
        <p:spPr>
          <a:xfrm>
            <a:off x="348279" y="2980706"/>
            <a:ext cx="11495442" cy="2327688"/>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标题 1"/>
          <p:cNvSpPr>
            <a:spLocks noGrp="1"/>
          </p:cNvSpPr>
          <p:nvPr>
            <p:ph type="title"/>
          </p:nvPr>
        </p:nvSpPr>
        <p:spPr/>
        <p:txBody>
          <a:bodyPr/>
          <a:lstStyle/>
          <a:p>
            <a:r>
              <a:rPr lang="en-GB" altLang="zh-CN" dirty="0"/>
              <a:t>NVIDIA Nsight Systems</a:t>
            </a:r>
          </a:p>
        </p:txBody>
      </p:sp>
      <p:sp>
        <p:nvSpPr>
          <p:cNvPr id="1048670" name="页脚占位符 3"/>
          <p:cNvSpPr>
            <a:spLocks noGrp="1"/>
          </p:cNvSpPr>
          <p:nvPr>
            <p:ph type="ftr" sz="quarter" idx="11"/>
          </p:nvPr>
        </p:nvSpPr>
        <p:spPr/>
        <p:txBody>
          <a:bodyPr/>
          <a:lstStyle/>
          <a:p>
            <a:r>
              <a:rPr lang="en-GB" altLang="zh-CN" dirty="0"/>
              <a:t>https://</a:t>
            </a:r>
            <a:r>
              <a:rPr lang="en-GB" altLang="zh-CN" dirty="0" err="1"/>
              <a:t>developer.nvidia.com</a:t>
            </a:r>
            <a:r>
              <a:rPr lang="en-GB" altLang="zh-CN" dirty="0"/>
              <a:t>/</a:t>
            </a:r>
            <a:r>
              <a:rPr lang="en-GB" altLang="zh-CN" dirty="0" err="1"/>
              <a:t>nsight</a:t>
            </a:r>
            <a:r>
              <a:rPr lang="en-GB" altLang="zh-CN" dirty="0"/>
              <a:t>-systems</a:t>
            </a:r>
            <a:endParaRPr lang="zh-CN" altLang="en-US" dirty="0"/>
          </a:p>
        </p:txBody>
      </p:sp>
      <p:sp>
        <p:nvSpPr>
          <p:cNvPr id="1048671" name="灯片编号占位符 4"/>
          <p:cNvSpPr>
            <a:spLocks noGrp="1"/>
          </p:cNvSpPr>
          <p:nvPr>
            <p:ph type="sldNum" sz="quarter" idx="12"/>
          </p:nvPr>
        </p:nvSpPr>
        <p:spPr/>
        <p:txBody>
          <a:bodyPr/>
          <a:lstStyle/>
          <a:p>
            <a:fld id="{B33F7469-D28B-482F-B1B6-3B8E7CF51519}" type="slidenum">
              <a:rPr lang="zh-CN" altLang="en-US" smtClean="0"/>
              <a:t>7</a:t>
            </a:fld>
            <a:endParaRPr lang="zh-CN" altLang="en-US" dirty="0"/>
          </a:p>
        </p:txBody>
      </p:sp>
      <p:sp>
        <p:nvSpPr>
          <p:cNvPr id="1048669" name="内容占位符 2"/>
          <p:cNvSpPr>
            <a:spLocks noGrp="1"/>
          </p:cNvSpPr>
          <p:nvPr>
            <p:ph sz="quarter" idx="13"/>
          </p:nvPr>
        </p:nvSpPr>
        <p:spPr/>
        <p:txBody>
          <a:bodyPr/>
          <a:lstStyle/>
          <a:p>
            <a:r>
              <a:rPr lang="en-GB" altLang="zh-CN" dirty="0"/>
              <a:t>NVIDIA Nsight™ Systems is a system-wide performance analysis tool designed to:</a:t>
            </a:r>
          </a:p>
          <a:p>
            <a:pPr lvl="1"/>
            <a:r>
              <a:rPr lang="en-GB" altLang="zh-CN" dirty="0"/>
              <a:t> Visualize an application’s algorithms</a:t>
            </a:r>
          </a:p>
          <a:p>
            <a:pPr lvl="1"/>
            <a:r>
              <a:rPr lang="en-GB" altLang="zh-CN" dirty="0"/>
              <a:t> Identify the largest opportunities to optimize</a:t>
            </a:r>
          </a:p>
          <a:p>
            <a:pPr lvl="1"/>
            <a:r>
              <a:rPr lang="en-GB" altLang="zh-CN" dirty="0"/>
              <a:t> Tune to scale efficiently across any quantity or size of CPUs and GPUs</a:t>
            </a:r>
            <a:endParaRPr lang="zh-CN" altLang="en-US" dirty="0"/>
          </a:p>
        </p:txBody>
      </p:sp>
      <p:pic>
        <p:nvPicPr>
          <p:cNvPr id="2097154" name="图片 6"/>
          <p:cNvPicPr>
            <a:picLocks noChangeAspect="1"/>
          </p:cNvPicPr>
          <p:nvPr/>
        </p:nvPicPr>
        <p:blipFill>
          <a:blip r:embed="rId2"/>
          <a:stretch>
            <a:fillRect/>
          </a:stretch>
        </p:blipFill>
        <p:spPr>
          <a:xfrm>
            <a:off x="9091765" y="3750469"/>
            <a:ext cx="2071040" cy="205645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标题 1"/>
          <p:cNvSpPr>
            <a:spLocks noGrp="1"/>
          </p:cNvSpPr>
          <p:nvPr>
            <p:ph type="title"/>
          </p:nvPr>
        </p:nvSpPr>
        <p:spPr/>
        <p:txBody>
          <a:bodyPr/>
          <a:lstStyle/>
          <a:p>
            <a:r>
              <a:rPr lang="en-GB" altLang="zh-CN" dirty="0"/>
              <a:t>NVIDIA Nsight Systems - Features</a:t>
            </a:r>
          </a:p>
        </p:txBody>
      </p:sp>
      <p:sp>
        <p:nvSpPr>
          <p:cNvPr id="1048674" name="页脚占位符 3"/>
          <p:cNvSpPr>
            <a:spLocks noGrp="1"/>
          </p:cNvSpPr>
          <p:nvPr>
            <p:ph type="ftr" sz="quarter" idx="11"/>
          </p:nvPr>
        </p:nvSpPr>
        <p:spPr/>
        <p:txBody>
          <a:bodyPr/>
          <a:lstStyle/>
          <a:p>
            <a:r>
              <a:rPr lang="en-GB" altLang="zh-CN" dirty="0"/>
              <a:t>https://</a:t>
            </a:r>
            <a:r>
              <a:rPr lang="en-GB" altLang="zh-CN" dirty="0" err="1"/>
              <a:t>developer.nvidia.com</a:t>
            </a:r>
            <a:r>
              <a:rPr lang="en-GB" altLang="zh-CN" dirty="0"/>
              <a:t>/</a:t>
            </a:r>
            <a:r>
              <a:rPr lang="en-GB" altLang="zh-CN" dirty="0" err="1"/>
              <a:t>nsight</a:t>
            </a:r>
            <a:r>
              <a:rPr lang="en-GB" altLang="zh-CN" dirty="0"/>
              <a:t>-systems/get-started</a:t>
            </a:r>
            <a:endParaRPr lang="zh-CN" altLang="en-US" dirty="0"/>
          </a:p>
        </p:txBody>
      </p:sp>
      <p:sp>
        <p:nvSpPr>
          <p:cNvPr id="1048675" name="灯片编号占位符 4"/>
          <p:cNvSpPr>
            <a:spLocks noGrp="1"/>
          </p:cNvSpPr>
          <p:nvPr>
            <p:ph type="sldNum" sz="quarter" idx="12"/>
          </p:nvPr>
        </p:nvSpPr>
        <p:spPr/>
        <p:txBody>
          <a:bodyPr/>
          <a:lstStyle/>
          <a:p>
            <a:fld id="{B33F7469-D28B-482F-B1B6-3B8E7CF51519}" type="slidenum">
              <a:rPr lang="zh-CN" altLang="en-US" smtClean="0"/>
              <a:t>8</a:t>
            </a:fld>
            <a:endParaRPr lang="zh-CN" altLang="en-US" dirty="0"/>
          </a:p>
        </p:txBody>
      </p:sp>
      <p:sp>
        <p:nvSpPr>
          <p:cNvPr id="1048673" name="内容占位符 2"/>
          <p:cNvSpPr>
            <a:spLocks noGrp="1"/>
          </p:cNvSpPr>
          <p:nvPr>
            <p:ph sz="quarter" idx="13"/>
          </p:nvPr>
        </p:nvSpPr>
        <p:spPr/>
        <p:txBody>
          <a:bodyPr/>
          <a:lstStyle/>
          <a:p>
            <a:r>
              <a:rPr lang="en-GB" altLang="zh-CN" dirty="0"/>
              <a:t>View system-wide application behavior across CPUs and GPUs</a:t>
            </a:r>
          </a:p>
          <a:p>
            <a:pPr lvl="1"/>
            <a:r>
              <a:rPr lang="en-GB" altLang="zh-CN" dirty="0"/>
              <a:t>CPU cores utilization, process &amp; thread activities, thread backtraces</a:t>
            </a:r>
            <a:r>
              <a:rPr lang="en-US" altLang="zh-CN" dirty="0"/>
              <a:t>, </a:t>
            </a:r>
            <a:r>
              <a:rPr lang="en-GB" altLang="zh-CN" dirty="0"/>
              <a:t>CPU performance metrics</a:t>
            </a:r>
          </a:p>
          <a:p>
            <a:pPr lvl="1"/>
            <a:r>
              <a:rPr lang="en-GB" altLang="zh-CN" dirty="0"/>
              <a:t>GPU workload trace, GPU context switch trace.</a:t>
            </a:r>
          </a:p>
          <a:p>
            <a:pPr lvl="1"/>
            <a:r>
              <a:rPr lang="en-GB" altLang="zh-CN" dirty="0"/>
              <a:t>SOC traces (hypervisor, memory bandwidth, accelerators)</a:t>
            </a:r>
          </a:p>
          <a:p>
            <a:pPr lvl="1"/>
            <a:r>
              <a:rPr lang="en-GB" altLang="zh-CN" dirty="0"/>
              <a:t>OS Event Trace (</a:t>
            </a:r>
            <a:r>
              <a:rPr lang="en-GB" altLang="zh-CN" dirty="0" err="1"/>
              <a:t>ftrace</a:t>
            </a:r>
            <a:r>
              <a:rPr lang="en-GB" altLang="zh-CN" dirty="0"/>
              <a:t>, ETW)</a:t>
            </a:r>
          </a:p>
          <a:p>
            <a:r>
              <a:rPr lang="en-GB" altLang="zh-CN" dirty="0"/>
              <a:t>Investigate CPU-GPU interactions and bubbles</a:t>
            </a:r>
          </a:p>
          <a:p>
            <a:pPr lvl="1"/>
            <a:r>
              <a:rPr lang="en-GB" altLang="zh-CN" dirty="0"/>
              <a:t>Compute &amp; AI APIs: CUDA API, CUDA libraries trace</a:t>
            </a:r>
            <a:r>
              <a:rPr lang="en-US" altLang="zh-CN" dirty="0"/>
              <a:t>, </a:t>
            </a:r>
            <a:r>
              <a:rPr lang="en-GB" altLang="zh-CN" dirty="0"/>
              <a:t>Bidirectional correlation of API and GPU workload.</a:t>
            </a:r>
          </a:p>
          <a:p>
            <a:pPr lvl="1"/>
            <a:r>
              <a:rPr lang="en-GB" altLang="zh-CN" dirty="0"/>
              <a:t>Graphics &amp; Rendering: OpenGL API, Vulkan API, etc.</a:t>
            </a:r>
          </a:p>
          <a:p>
            <a:pPr lvl="1"/>
            <a:r>
              <a:rPr lang="en-GB" altLang="zh-CN" dirty="0"/>
              <a:t>Workflow &amp; Resource Analysis: User annotations API trace, Identify GPU idle and sparse usage</a:t>
            </a:r>
          </a:p>
          <a:p>
            <a:pPr lvl="1"/>
            <a:endParaRPr lang="en-GB" altLang="zh-CN"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标题 1"/>
          <p:cNvSpPr>
            <a:spLocks noGrp="1"/>
          </p:cNvSpPr>
          <p:nvPr>
            <p:ph type="title"/>
          </p:nvPr>
        </p:nvSpPr>
        <p:spPr/>
        <p:txBody>
          <a:bodyPr/>
          <a:lstStyle/>
          <a:p>
            <a:r>
              <a:rPr lang="en-GB" altLang="zh-CN" dirty="0"/>
              <a:t>NVIDIA Nsight Systems</a:t>
            </a:r>
          </a:p>
        </p:txBody>
      </p:sp>
      <p:sp>
        <p:nvSpPr>
          <p:cNvPr id="1048677" name="页脚占位符 3"/>
          <p:cNvSpPr>
            <a:spLocks noGrp="1"/>
          </p:cNvSpPr>
          <p:nvPr>
            <p:ph type="ftr" sz="quarter" idx="11"/>
          </p:nvPr>
        </p:nvSpPr>
        <p:spPr/>
        <p:txBody>
          <a:bodyPr/>
          <a:lstStyle/>
          <a:p>
            <a:endParaRPr lang="zh-CN" altLang="en-US" dirty="0"/>
          </a:p>
        </p:txBody>
      </p:sp>
      <p:sp>
        <p:nvSpPr>
          <p:cNvPr id="1048678" name="灯片编号占位符 4"/>
          <p:cNvSpPr>
            <a:spLocks noGrp="1"/>
          </p:cNvSpPr>
          <p:nvPr>
            <p:ph type="sldNum" sz="quarter" idx="12"/>
          </p:nvPr>
        </p:nvSpPr>
        <p:spPr/>
        <p:txBody>
          <a:bodyPr/>
          <a:lstStyle/>
          <a:p>
            <a:fld id="{B33F7469-D28B-482F-B1B6-3B8E7CF51519}" type="slidenum">
              <a:rPr lang="zh-CN" altLang="en-US" smtClean="0"/>
              <a:t>9</a:t>
            </a:fld>
            <a:endParaRPr lang="zh-CN" altLang="en-US" dirty="0"/>
          </a:p>
        </p:txBody>
      </p:sp>
      <p:sp>
        <p:nvSpPr>
          <p:cNvPr id="2" name="内容占位符 1"/>
          <p:cNvSpPr>
            <a:spLocks noGrp="1"/>
          </p:cNvSpPr>
          <p:nvPr>
            <p:ph sz="quarter" idx="13"/>
          </p:nvPr>
        </p:nvSpPr>
        <p:spPr/>
        <p:txBody>
          <a:bodyPr/>
          <a:lstStyle/>
          <a:p>
            <a:endParaRPr lang="zh-CN" altLang="en-US"/>
          </a:p>
        </p:txBody>
      </p:sp>
      <p:pic>
        <p:nvPicPr>
          <p:cNvPr id="2097155" name="图片 5"/>
          <p:cNvPicPr>
            <a:picLocks noChangeAspect="1"/>
          </p:cNvPicPr>
          <p:nvPr/>
        </p:nvPicPr>
        <p:blipFill>
          <a:blip r:embed="rId3"/>
          <a:stretch>
            <a:fillRect/>
          </a:stretch>
        </p:blipFill>
        <p:spPr>
          <a:xfrm>
            <a:off x="594247" y="1132763"/>
            <a:ext cx="9987506" cy="5638242"/>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标题 1"/>
          <p:cNvSpPr>
            <a:spLocks noGrp="1"/>
          </p:cNvSpPr>
          <p:nvPr>
            <p:ph type="title"/>
          </p:nvPr>
        </p:nvSpPr>
        <p:spPr/>
        <p:txBody>
          <a:bodyPr/>
          <a:lstStyle/>
          <a:p>
            <a:r>
              <a:rPr lang="en-GB" altLang="zh-CN" dirty="0"/>
              <a:t>NVIDIA Nsight Systems</a:t>
            </a:r>
          </a:p>
        </p:txBody>
      </p:sp>
      <p:sp>
        <p:nvSpPr>
          <p:cNvPr id="1048683" name="页脚占位符 3"/>
          <p:cNvSpPr>
            <a:spLocks noGrp="1"/>
          </p:cNvSpPr>
          <p:nvPr>
            <p:ph type="ftr" sz="quarter" idx="11"/>
          </p:nvPr>
        </p:nvSpPr>
        <p:spPr/>
        <p:txBody>
          <a:bodyPr/>
          <a:lstStyle/>
          <a:p>
            <a:endParaRPr lang="zh-CN" altLang="en-US" dirty="0"/>
          </a:p>
        </p:txBody>
      </p:sp>
      <p:sp>
        <p:nvSpPr>
          <p:cNvPr id="1048684" name="灯片编号占位符 4"/>
          <p:cNvSpPr>
            <a:spLocks noGrp="1"/>
          </p:cNvSpPr>
          <p:nvPr>
            <p:ph type="sldNum" sz="quarter" idx="12"/>
          </p:nvPr>
        </p:nvSpPr>
        <p:spPr/>
        <p:txBody>
          <a:bodyPr/>
          <a:lstStyle/>
          <a:p>
            <a:fld id="{B33F7469-D28B-482F-B1B6-3B8E7CF51519}" type="slidenum">
              <a:rPr lang="zh-CN" altLang="en-US" smtClean="0"/>
              <a:t>10</a:t>
            </a:fld>
            <a:endParaRPr lang="zh-CN" altLang="en-US" dirty="0"/>
          </a:p>
        </p:txBody>
      </p:sp>
      <p:sp>
        <p:nvSpPr>
          <p:cNvPr id="1048685" name="内容占位符 6"/>
          <p:cNvSpPr>
            <a:spLocks noGrp="1"/>
          </p:cNvSpPr>
          <p:nvPr>
            <p:ph sz="quarter" idx="13"/>
          </p:nvPr>
        </p:nvSpPr>
        <p:spPr/>
        <p:txBody>
          <a:bodyPr/>
          <a:lstStyle/>
          <a:p>
            <a:r>
              <a:rPr lang="en-GB" altLang="zh-CN" dirty="0"/>
              <a:t>NVTX: A profiling API that annotates performance timelines with custom event markers</a:t>
            </a:r>
            <a:endParaRPr lang="zh-CN" altLang="en-US" dirty="0"/>
          </a:p>
        </p:txBody>
      </p:sp>
      <p:pic>
        <p:nvPicPr>
          <p:cNvPr id="2097156" name="图片 7"/>
          <p:cNvPicPr>
            <a:picLocks noChangeAspect="1"/>
          </p:cNvPicPr>
          <p:nvPr/>
        </p:nvPicPr>
        <p:blipFill>
          <a:blip r:embed="rId3"/>
          <a:stretch>
            <a:fillRect/>
          </a:stretch>
        </p:blipFill>
        <p:spPr>
          <a:xfrm>
            <a:off x="4792377" y="1323975"/>
            <a:ext cx="7137375" cy="4435557"/>
          </a:xfrm>
          <a:prstGeom prst="rect">
            <a:avLst/>
          </a:prstGeom>
        </p:spPr>
      </p:pic>
      <p:pic>
        <p:nvPicPr>
          <p:cNvPr id="2097157" name="图片 12"/>
          <p:cNvPicPr>
            <a:picLocks noChangeAspect="1"/>
          </p:cNvPicPr>
          <p:nvPr/>
        </p:nvPicPr>
        <p:blipFill>
          <a:blip r:embed="rId4"/>
          <a:stretch>
            <a:fillRect/>
          </a:stretch>
        </p:blipFill>
        <p:spPr>
          <a:xfrm>
            <a:off x="639999" y="3892972"/>
            <a:ext cx="3715618" cy="782235"/>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标题 1"/>
          <p:cNvSpPr>
            <a:spLocks noGrp="1"/>
          </p:cNvSpPr>
          <p:nvPr>
            <p:ph type="title"/>
          </p:nvPr>
        </p:nvSpPr>
        <p:spPr/>
        <p:txBody>
          <a:bodyPr/>
          <a:lstStyle/>
          <a:p>
            <a:r>
              <a:rPr lang="en-GB" altLang="zh-CN" dirty="0"/>
              <a:t>NVIDIA Nsight Compute</a:t>
            </a:r>
          </a:p>
        </p:txBody>
      </p:sp>
      <p:sp>
        <p:nvSpPr>
          <p:cNvPr id="1048691" name="页脚占位符 3"/>
          <p:cNvSpPr>
            <a:spLocks noGrp="1"/>
          </p:cNvSpPr>
          <p:nvPr>
            <p:ph type="ftr" sz="quarter" idx="11"/>
          </p:nvPr>
        </p:nvSpPr>
        <p:spPr/>
        <p:txBody>
          <a:bodyPr/>
          <a:lstStyle/>
          <a:p>
            <a:r>
              <a:rPr lang="en-GB" altLang="zh-CN" dirty="0"/>
              <a:t>https://</a:t>
            </a:r>
            <a:r>
              <a:rPr lang="en-GB" altLang="zh-CN" dirty="0" err="1"/>
              <a:t>developer.nvidia.com</a:t>
            </a:r>
            <a:r>
              <a:rPr lang="en-GB" altLang="zh-CN" dirty="0"/>
              <a:t>/</a:t>
            </a:r>
            <a:r>
              <a:rPr lang="en-GB" altLang="zh-CN" dirty="0" err="1"/>
              <a:t>nsight</a:t>
            </a:r>
            <a:r>
              <a:rPr lang="en-GB" altLang="zh-CN" dirty="0"/>
              <a:t>-compute</a:t>
            </a:r>
          </a:p>
          <a:p>
            <a:r>
              <a:rPr lang="en-GB" altLang="zh-CN" dirty="0"/>
              <a:t>https://</a:t>
            </a:r>
            <a:r>
              <a:rPr lang="en-GB" altLang="zh-CN" dirty="0" err="1"/>
              <a:t>docs.nvidia.com</a:t>
            </a:r>
            <a:r>
              <a:rPr lang="en-GB" altLang="zh-CN" dirty="0"/>
              <a:t>/</a:t>
            </a:r>
            <a:r>
              <a:rPr lang="en-GB" altLang="zh-CN" dirty="0" err="1"/>
              <a:t>nsight</a:t>
            </a:r>
            <a:r>
              <a:rPr lang="en-GB" altLang="zh-CN" dirty="0"/>
              <a:t>-compute/</a:t>
            </a:r>
            <a:r>
              <a:rPr lang="en-GB" altLang="zh-CN" dirty="0" err="1"/>
              <a:t>ProfilingGuide</a:t>
            </a:r>
            <a:r>
              <a:rPr lang="en-GB" altLang="zh-CN" dirty="0"/>
              <a:t>/</a:t>
            </a:r>
            <a:r>
              <a:rPr lang="en-GB" altLang="zh-CN" dirty="0" err="1"/>
              <a:t>index.html</a:t>
            </a:r>
            <a:endParaRPr lang="zh-CN" altLang="en-US" dirty="0"/>
          </a:p>
        </p:txBody>
      </p:sp>
      <p:sp>
        <p:nvSpPr>
          <p:cNvPr id="1048692" name="灯片编号占位符 4"/>
          <p:cNvSpPr>
            <a:spLocks noGrp="1"/>
          </p:cNvSpPr>
          <p:nvPr>
            <p:ph type="sldNum" sz="quarter" idx="12"/>
          </p:nvPr>
        </p:nvSpPr>
        <p:spPr/>
        <p:txBody>
          <a:bodyPr/>
          <a:lstStyle/>
          <a:p>
            <a:fld id="{B33F7469-D28B-482F-B1B6-3B8E7CF51519}" type="slidenum">
              <a:rPr lang="zh-CN" altLang="en-US" smtClean="0"/>
              <a:t>11</a:t>
            </a:fld>
            <a:endParaRPr lang="zh-CN" altLang="en-US" dirty="0"/>
          </a:p>
        </p:txBody>
      </p:sp>
      <p:sp>
        <p:nvSpPr>
          <p:cNvPr id="1048690" name="内容占位符 2"/>
          <p:cNvSpPr>
            <a:spLocks noGrp="1"/>
          </p:cNvSpPr>
          <p:nvPr>
            <p:ph sz="quarter" idx="13"/>
          </p:nvPr>
        </p:nvSpPr>
        <p:spPr/>
        <p:txBody>
          <a:bodyPr/>
          <a:lstStyle/>
          <a:p>
            <a:r>
              <a:rPr lang="en-GB" altLang="zh-CN" dirty="0"/>
              <a:t>NVIDIA Nsight™ Compute is an interactive profiler for CUDA® and NVIDIA </a:t>
            </a:r>
            <a:r>
              <a:rPr lang="en-GB" altLang="zh-CN" dirty="0" err="1"/>
              <a:t>OptiX</a:t>
            </a:r>
            <a:r>
              <a:rPr lang="en-GB" altLang="zh-CN" dirty="0"/>
              <a:t>™ that provides detailed performance metrics and API debugging via a user interface and command-line tool.</a:t>
            </a:r>
            <a:endParaRPr lang="zh-CN" altLang="en-US" dirty="0"/>
          </a:p>
        </p:txBody>
      </p:sp>
      <p:pic>
        <p:nvPicPr>
          <p:cNvPr id="2097158" name="图片 7"/>
          <p:cNvPicPr>
            <a:picLocks noChangeAspect="1"/>
          </p:cNvPicPr>
          <p:nvPr/>
        </p:nvPicPr>
        <p:blipFill>
          <a:blip r:embed="rId2"/>
          <a:stretch>
            <a:fillRect/>
          </a:stretch>
        </p:blipFill>
        <p:spPr>
          <a:xfrm>
            <a:off x="2094896" y="3016332"/>
            <a:ext cx="8135553" cy="2970625"/>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标题 1"/>
          <p:cNvSpPr>
            <a:spLocks noGrp="1"/>
          </p:cNvSpPr>
          <p:nvPr>
            <p:ph type="title"/>
          </p:nvPr>
        </p:nvSpPr>
        <p:spPr/>
        <p:txBody>
          <a:bodyPr/>
          <a:lstStyle/>
          <a:p>
            <a:r>
              <a:rPr lang="en-GB" altLang="zh-CN" dirty="0"/>
              <a:t>NVIDIA Nsight Compute</a:t>
            </a:r>
            <a:r>
              <a:rPr lang="zh-CN" altLang="en-US" dirty="0"/>
              <a:t> </a:t>
            </a:r>
            <a:r>
              <a:rPr lang="en-US" altLang="zh-CN" dirty="0"/>
              <a:t>-</a:t>
            </a:r>
            <a:r>
              <a:rPr lang="zh-CN" altLang="en-US" dirty="0"/>
              <a:t> </a:t>
            </a:r>
            <a:r>
              <a:rPr lang="en-US" altLang="zh-CN" dirty="0"/>
              <a:t>Features</a:t>
            </a:r>
            <a:endParaRPr lang="en-GB" altLang="zh-CN" dirty="0"/>
          </a:p>
        </p:txBody>
      </p:sp>
      <p:sp>
        <p:nvSpPr>
          <p:cNvPr id="1048695" name="页脚占位符 3"/>
          <p:cNvSpPr>
            <a:spLocks noGrp="1"/>
          </p:cNvSpPr>
          <p:nvPr>
            <p:ph type="ftr" sz="quarter" idx="11"/>
          </p:nvPr>
        </p:nvSpPr>
        <p:spPr/>
        <p:txBody>
          <a:bodyPr/>
          <a:lstStyle/>
          <a:p>
            <a:r>
              <a:rPr kumimoji="1" lang="en-GB" altLang="zh-CN" dirty="0"/>
              <a:t>https://</a:t>
            </a:r>
            <a:r>
              <a:rPr kumimoji="1" lang="en-GB" altLang="zh-CN" dirty="0" err="1"/>
              <a:t>developer.download.nvidia.cn</a:t>
            </a:r>
            <a:r>
              <a:rPr kumimoji="1" lang="en-GB" altLang="zh-CN" dirty="0"/>
              <a:t>/video/</a:t>
            </a:r>
            <a:r>
              <a:rPr kumimoji="1" lang="en-GB" altLang="zh-CN" dirty="0" err="1"/>
              <a:t>gputechconf</a:t>
            </a:r>
            <a:r>
              <a:rPr kumimoji="1" lang="en-GB" altLang="zh-CN" dirty="0"/>
              <a:t>/</a:t>
            </a:r>
            <a:r>
              <a:rPr kumimoji="1" lang="en-GB" altLang="zh-CN" dirty="0" err="1"/>
              <a:t>gtc</a:t>
            </a:r>
            <a:r>
              <a:rPr kumimoji="1" lang="en-GB" altLang="zh-CN" dirty="0"/>
              <a:t>/2019/presentation/s9345-cuda-kernel-profiling-using-nvidia-nsight-compute.pdf</a:t>
            </a:r>
            <a:endParaRPr kumimoji="1" lang="zh-CN" altLang="en-US" dirty="0"/>
          </a:p>
        </p:txBody>
      </p:sp>
      <p:sp>
        <p:nvSpPr>
          <p:cNvPr id="1048696" name="灯片编号占位符 4"/>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1048694" name="内容占位符 2"/>
          <p:cNvSpPr>
            <a:spLocks noGrp="1"/>
          </p:cNvSpPr>
          <p:nvPr>
            <p:ph sz="quarter" idx="13"/>
          </p:nvPr>
        </p:nvSpPr>
        <p:spPr>
          <a:xfrm>
            <a:off x="523875" y="1323975"/>
            <a:ext cx="6184900" cy="4853305"/>
          </a:xfrm>
        </p:spPr>
        <p:txBody>
          <a:bodyPr>
            <a:normAutofit/>
          </a:bodyPr>
          <a:lstStyle/>
          <a:p>
            <a:r>
              <a:rPr lang="en-GB" altLang="zh-CN" dirty="0"/>
              <a:t>Interactive CUDA API debugging and kernel profiling</a:t>
            </a:r>
          </a:p>
          <a:p>
            <a:r>
              <a:rPr lang="en-GB" altLang="zh-CN" dirty="0"/>
              <a:t>Graphical profile report</a:t>
            </a:r>
          </a:p>
          <a:p>
            <a:r>
              <a:rPr lang="en-GB" altLang="zh-CN" dirty="0"/>
              <a:t>Comparison of multiple kernel reports</a:t>
            </a:r>
          </a:p>
          <a:p>
            <a:r>
              <a:rPr lang="en-GB" altLang="zh-CN" dirty="0"/>
              <a:t>Fully Customizable (Reports and Analysis Rules)</a:t>
            </a:r>
          </a:p>
          <a:p>
            <a:r>
              <a:rPr lang="en-GB" altLang="zh-CN" dirty="0"/>
              <a:t>Command Line, Standalone, IDE Integration</a:t>
            </a:r>
          </a:p>
        </p:txBody>
      </p:sp>
      <p:pic>
        <p:nvPicPr>
          <p:cNvPr id="2097159" name="图片 5"/>
          <p:cNvPicPr>
            <a:picLocks noChangeAspect="1"/>
          </p:cNvPicPr>
          <p:nvPr/>
        </p:nvPicPr>
        <p:blipFill>
          <a:blip r:embed="rId3"/>
          <a:stretch>
            <a:fillRect/>
          </a:stretch>
        </p:blipFill>
        <p:spPr>
          <a:xfrm>
            <a:off x="8075930" y="981710"/>
            <a:ext cx="3725545" cy="519557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048701" name="页脚占位符 3"/>
          <p:cNvSpPr>
            <a:spLocks noGrp="1"/>
          </p:cNvSpPr>
          <p:nvPr>
            <p:ph type="ftr" sz="quarter" idx="11"/>
          </p:nvPr>
        </p:nvSpPr>
        <p:spPr/>
        <p:txBody>
          <a:bodyPr/>
          <a:lstStyle/>
          <a:p>
            <a:endParaRPr lang="zh-CN" altLang="en-US" dirty="0"/>
          </a:p>
        </p:txBody>
      </p:sp>
      <p:sp>
        <p:nvSpPr>
          <p:cNvPr id="1048702" name="灯片编号占位符 4"/>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3" name="内容占位符 2"/>
          <p:cNvSpPr>
            <a:spLocks noGrp="1"/>
          </p:cNvSpPr>
          <p:nvPr>
            <p:ph sz="quarter" idx="13"/>
          </p:nvPr>
        </p:nvSpPr>
        <p:spPr/>
        <p:txBody>
          <a:bodyPr/>
          <a:lstStyle/>
          <a:p>
            <a:endParaRPr lang="zh-CN" altLang="en-US"/>
          </a:p>
        </p:txBody>
      </p:sp>
      <p:pic>
        <p:nvPicPr>
          <p:cNvPr id="2097160" name="图片 8"/>
          <p:cNvPicPr>
            <a:picLocks noChangeAspect="1"/>
          </p:cNvPicPr>
          <p:nvPr/>
        </p:nvPicPr>
        <p:blipFill>
          <a:blip r:embed="rId3"/>
          <a:stretch>
            <a:fillRect/>
          </a:stretch>
        </p:blipFill>
        <p:spPr>
          <a:xfrm>
            <a:off x="1" y="127524"/>
            <a:ext cx="12191999" cy="6593952"/>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标题 1"/>
          <p:cNvSpPr>
            <a:spLocks noGrp="1"/>
          </p:cNvSpPr>
          <p:nvPr>
            <p:ph type="title"/>
          </p:nvPr>
        </p:nvSpPr>
        <p:spPr/>
        <p:txBody>
          <a:bodyPr/>
          <a:lstStyle/>
          <a:p>
            <a:r>
              <a:rPr lang="en-GB" altLang="zh-CN" dirty="0"/>
              <a:t>Key Metrics for Warp-Level Analysis</a:t>
            </a:r>
          </a:p>
        </p:txBody>
      </p:sp>
      <p:sp>
        <p:nvSpPr>
          <p:cNvPr id="1048709" name="页脚占位符 3"/>
          <p:cNvSpPr>
            <a:spLocks noGrp="1"/>
          </p:cNvSpPr>
          <p:nvPr>
            <p:ph type="ftr" sz="quarter" idx="11"/>
          </p:nvPr>
        </p:nvSpPr>
        <p:spPr/>
        <p:txBody>
          <a:bodyPr/>
          <a:lstStyle/>
          <a:p>
            <a:r>
              <a:rPr kumimoji="1" lang="en-GB" altLang="zh-CN" dirty="0"/>
              <a:t>https://</a:t>
            </a:r>
            <a:r>
              <a:rPr kumimoji="1" lang="en-GB" altLang="zh-CN" dirty="0" err="1"/>
              <a:t>developer.download.nvidia.cn</a:t>
            </a:r>
            <a:r>
              <a:rPr kumimoji="1" lang="en-GB" altLang="zh-CN" dirty="0"/>
              <a:t>/video/</a:t>
            </a:r>
            <a:r>
              <a:rPr kumimoji="1" lang="en-GB" altLang="zh-CN" dirty="0" err="1"/>
              <a:t>gputechconf</a:t>
            </a:r>
            <a:r>
              <a:rPr kumimoji="1" lang="en-GB" altLang="zh-CN" dirty="0"/>
              <a:t>/</a:t>
            </a:r>
            <a:r>
              <a:rPr kumimoji="1" lang="en-GB" altLang="zh-CN" dirty="0" err="1"/>
              <a:t>gtc</a:t>
            </a:r>
            <a:r>
              <a:rPr kumimoji="1" lang="en-GB" altLang="zh-CN" dirty="0"/>
              <a:t>/2019/presentation/s9345-cuda-kernel-profiling-using-nvidia-nsight-compute.pdf</a:t>
            </a:r>
            <a:endParaRPr kumimoji="1" lang="zh-CN" altLang="en-US" dirty="0"/>
          </a:p>
        </p:txBody>
      </p:sp>
      <p:sp>
        <p:nvSpPr>
          <p:cNvPr id="1048710" name="灯片编号占位符 4"/>
          <p:cNvSpPr>
            <a:spLocks noGrp="1"/>
          </p:cNvSpPr>
          <p:nvPr>
            <p:ph type="sldNum" sz="quarter" idx="12"/>
          </p:nvPr>
        </p:nvSpPr>
        <p:spPr/>
        <p:txBody>
          <a:bodyPr/>
          <a:lstStyle/>
          <a:p>
            <a:fld id="{B33F7469-D28B-482F-B1B6-3B8E7CF51519}" type="slidenum">
              <a:rPr lang="zh-CN" altLang="en-US" smtClean="0"/>
              <a:t>14</a:t>
            </a:fld>
            <a:endParaRPr lang="zh-CN" altLang="en-US" dirty="0"/>
          </a:p>
        </p:txBody>
      </p:sp>
      <p:sp>
        <p:nvSpPr>
          <p:cNvPr id="1048708" name="内容占位符 2"/>
          <p:cNvSpPr>
            <a:spLocks noGrp="1"/>
          </p:cNvSpPr>
          <p:nvPr>
            <p:ph sz="quarter" idx="13"/>
          </p:nvPr>
        </p:nvSpPr>
        <p:spPr/>
        <p:txBody>
          <a:bodyPr>
            <a:normAutofit/>
          </a:bodyPr>
          <a:lstStyle/>
          <a:p>
            <a:r>
              <a:rPr lang="en-GB" altLang="zh-CN" dirty="0"/>
              <a:t>Scheduler Statistics</a:t>
            </a:r>
          </a:p>
          <a:p>
            <a:pPr lvl="1"/>
            <a:r>
              <a:rPr lang="en-GB" altLang="zh-CN" dirty="0"/>
              <a:t>Nsight Compute tracks active and eligible warps per cycle to evaluate instruction issue efficiency and latency-hiding performance.</a:t>
            </a:r>
          </a:p>
          <a:p>
            <a:r>
              <a:rPr lang="en-GB" altLang="zh-CN" dirty="0"/>
              <a:t>Warp State Statistics</a:t>
            </a:r>
          </a:p>
          <a:p>
            <a:pPr lvl="1"/>
            <a:r>
              <a:rPr lang="en-GB" altLang="zh-CN" dirty="0"/>
              <a:t>Nsight Compute profiles warp stall cycles to identify the specific hardware bottlenecks delaying instruction execution.</a:t>
            </a:r>
          </a:p>
          <a:p>
            <a:r>
              <a:rPr lang="en-GB" altLang="zh-CN" dirty="0"/>
              <a:t>Occupancy</a:t>
            </a:r>
          </a:p>
          <a:p>
            <a:pPr lvl="1"/>
            <a:r>
              <a:rPr lang="en-GB" altLang="zh-CN" dirty="0"/>
              <a:t>Nsight Compute compares actual versus theoretical active warps to assess overall GPU resource utilization and workload balance.</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标题 1"/>
          <p:cNvSpPr>
            <a:spLocks noGrp="1"/>
          </p:cNvSpPr>
          <p:nvPr>
            <p:ph type="title"/>
          </p:nvPr>
        </p:nvSpPr>
        <p:spPr/>
        <p:txBody>
          <a:bodyPr/>
          <a:lstStyle/>
          <a:p>
            <a:r>
              <a:rPr lang="en-US" altLang="zh-CN" dirty="0"/>
              <a:t>Case Study: Vector Averaging &amp; Matrix Multiply</a:t>
            </a:r>
          </a:p>
        </p:txBody>
      </p:sp>
      <p:sp>
        <p:nvSpPr>
          <p:cNvPr id="1048716" name="页脚占位符 3"/>
          <p:cNvSpPr>
            <a:spLocks noGrp="1"/>
          </p:cNvSpPr>
          <p:nvPr>
            <p:ph type="ftr" sz="quarter" idx="11"/>
          </p:nvPr>
        </p:nvSpPr>
        <p:spPr/>
        <p:txBody>
          <a:bodyPr/>
          <a:lstStyle/>
          <a:p>
            <a:r>
              <a:rPr kumimoji="1" lang="en-US" altLang="zh-CN" dirty="0"/>
              <a:t>https://developer.nvidia.com/blog/analysis-driven-optimization-preparing-for-analysis-with-nvidia-nsight-compute-part-1/</a:t>
            </a:r>
          </a:p>
        </p:txBody>
      </p:sp>
      <p:sp>
        <p:nvSpPr>
          <p:cNvPr id="1048717" name="灯片编号占位符 4"/>
          <p:cNvSpPr>
            <a:spLocks noGrp="1"/>
          </p:cNvSpPr>
          <p:nvPr>
            <p:ph type="sldNum" sz="quarter" idx="12"/>
          </p:nvPr>
        </p:nvSpPr>
        <p:spPr/>
        <p:txBody>
          <a:bodyPr/>
          <a:lstStyle/>
          <a:p>
            <a:fld id="{B33F7469-D28B-482F-B1B6-3B8E7CF51519}" type="slidenum">
              <a:rPr lang="zh-CN" altLang="en-US" smtClean="0"/>
              <a:t>15</a:t>
            </a:fld>
            <a:endParaRPr lang="zh-CN" altLang="en-US" dirty="0"/>
          </a:p>
        </p:txBody>
      </p:sp>
      <p:sp>
        <p:nvSpPr>
          <p:cNvPr id="1048715" name="内容占位符 2"/>
          <p:cNvSpPr>
            <a:spLocks noGrp="1"/>
          </p:cNvSpPr>
          <p:nvPr>
            <p:ph sz="quarter" idx="13"/>
          </p:nvPr>
        </p:nvSpPr>
        <p:spPr/>
        <p:txBody>
          <a:bodyPr>
            <a:normAutofit/>
          </a:bodyPr>
          <a:lstStyle/>
          <a:p>
            <a:r>
              <a:rPr lang="en-US" altLang="zh-CN" dirty="0"/>
              <a:t>Some highlights:</a:t>
            </a:r>
          </a:p>
          <a:p>
            <a:pPr lvl="1"/>
            <a:r>
              <a:rPr lang="en-US" altLang="zh-CN" dirty="0"/>
              <a:t>OpenMP</a:t>
            </a:r>
          </a:p>
          <a:p>
            <a:pPr lvl="1"/>
            <a:r>
              <a:rPr lang="en-US" altLang="zh-CN" dirty="0"/>
              <a:t>Initial port</a:t>
            </a:r>
          </a:p>
          <a:p>
            <a:pPr lvl="1"/>
            <a:r>
              <a:rPr lang="en-US" altLang="zh-CN" dirty="0"/>
              <a:t>Kernel Design</a:t>
            </a:r>
          </a:p>
          <a:p>
            <a:pPr lvl="1"/>
            <a:r>
              <a:rPr lang="en-US" altLang="zh-CN" dirty="0"/>
              <a:t>Shared memory</a:t>
            </a:r>
          </a:p>
        </p:txBody>
      </p:sp>
      <p:pic>
        <p:nvPicPr>
          <p:cNvPr id="2" name="图片 1" descr="post_object_image_2576775928"/>
          <p:cNvPicPr>
            <a:picLocks noChangeAspect="1"/>
          </p:cNvPicPr>
          <p:nvPr/>
        </p:nvPicPr>
        <p:blipFill>
          <a:blip r:embed="rId3"/>
          <a:stretch>
            <a:fillRect/>
          </a:stretch>
        </p:blipFill>
        <p:spPr>
          <a:xfrm>
            <a:off x="5052695" y="1323975"/>
            <a:ext cx="7139305" cy="505333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标题 1"/>
          <p:cNvSpPr>
            <a:spLocks noGrp="1"/>
          </p:cNvSpPr>
          <p:nvPr>
            <p:ph type="title"/>
          </p:nvPr>
        </p:nvSpPr>
        <p:spPr/>
        <p:txBody>
          <a:bodyPr/>
          <a:lstStyle/>
          <a:p>
            <a:r>
              <a:rPr lang="en-US" altLang="zh-CN" dirty="0"/>
              <a:t>Iteration 1: Maximizing Grid Size</a:t>
            </a:r>
          </a:p>
        </p:txBody>
      </p:sp>
      <p:sp>
        <p:nvSpPr>
          <p:cNvPr id="1048723" name="页脚占位符 3"/>
          <p:cNvSpPr>
            <a:spLocks noGrp="1"/>
          </p:cNvSpPr>
          <p:nvPr>
            <p:ph type="ftr" sz="quarter" idx="11"/>
          </p:nvPr>
        </p:nvSpPr>
        <p:spPr/>
        <p:txBody>
          <a:bodyPr/>
          <a:lstStyle/>
          <a:p>
            <a:endParaRPr kumimoji="1" lang="zh-CN" altLang="en-US" dirty="0"/>
          </a:p>
        </p:txBody>
      </p:sp>
      <p:sp>
        <p:nvSpPr>
          <p:cNvPr id="1048724" name="灯片编号占位符 4"/>
          <p:cNvSpPr>
            <a:spLocks noGrp="1"/>
          </p:cNvSpPr>
          <p:nvPr>
            <p:ph type="sldNum" sz="quarter" idx="12"/>
          </p:nvPr>
        </p:nvSpPr>
        <p:spPr/>
        <p:txBody>
          <a:bodyPr/>
          <a:lstStyle/>
          <a:p>
            <a:fld id="{B33F7469-D28B-482F-B1B6-3B8E7CF51519}" type="slidenum">
              <a:rPr lang="zh-CN" altLang="en-US" smtClean="0"/>
              <a:t>16</a:t>
            </a:fld>
            <a:endParaRPr lang="zh-CN" altLang="en-US" dirty="0"/>
          </a:p>
        </p:txBody>
      </p:sp>
      <p:sp>
        <p:nvSpPr>
          <p:cNvPr id="1048722" name="内容占位符 2"/>
          <p:cNvSpPr>
            <a:spLocks noGrp="1"/>
          </p:cNvSpPr>
          <p:nvPr>
            <p:ph sz="quarter" idx="13"/>
          </p:nvPr>
        </p:nvSpPr>
        <p:spPr/>
        <p:txBody>
          <a:bodyPr>
            <a:normAutofit/>
          </a:bodyPr>
          <a:lstStyle/>
          <a:p>
            <a:r>
              <a:rPr lang="en-US" altLang="zh-CN" dirty="0"/>
              <a:t>Issue: Indicates kernel grid too small to utilize device resources efficiently.</a:t>
            </a:r>
          </a:p>
          <a:p>
            <a:r>
              <a:rPr lang="en-US" altLang="zh-CN" dirty="0"/>
              <a:t>Action: Distribute work across N blocks instead of a single block (&lt;&lt;&lt;N, L&gt;&gt;&gt;).</a:t>
            </a:r>
          </a:p>
          <a:p>
            <a:r>
              <a:rPr lang="en-US" altLang="zh-CN" dirty="0"/>
              <a:t>Result: Drops execution time from 2.92s to 0.0789s</a:t>
            </a:r>
          </a:p>
          <a:p>
            <a:endParaRPr lang="en-US" altLang="zh-CN" dirty="0"/>
          </a:p>
        </p:txBody>
      </p:sp>
      <p:pic>
        <p:nvPicPr>
          <p:cNvPr id="2" name="图片 1" descr="post_object_image_4211657540"/>
          <p:cNvPicPr>
            <a:picLocks noChangeAspect="1"/>
          </p:cNvPicPr>
          <p:nvPr/>
        </p:nvPicPr>
        <p:blipFill>
          <a:blip r:embed="rId3"/>
          <a:stretch>
            <a:fillRect/>
          </a:stretch>
        </p:blipFill>
        <p:spPr>
          <a:xfrm>
            <a:off x="252763" y="3451723"/>
            <a:ext cx="11686526" cy="2595557"/>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标题 1"/>
          <p:cNvSpPr>
            <a:spLocks noGrp="1"/>
          </p:cNvSpPr>
          <p:nvPr>
            <p:ph type="title"/>
          </p:nvPr>
        </p:nvSpPr>
        <p:spPr/>
        <p:txBody>
          <a:bodyPr/>
          <a:lstStyle/>
          <a:p>
            <a:r>
              <a:rPr lang="en-US" altLang="zh-CN" dirty="0"/>
              <a:t>Iteration 2: Global Memory Coalescing</a:t>
            </a:r>
          </a:p>
        </p:txBody>
      </p:sp>
      <p:sp>
        <p:nvSpPr>
          <p:cNvPr id="1048730" name="页脚占位符 3"/>
          <p:cNvSpPr>
            <a:spLocks noGrp="1"/>
          </p:cNvSpPr>
          <p:nvPr>
            <p:ph type="ftr" sz="quarter" idx="11"/>
          </p:nvPr>
        </p:nvSpPr>
        <p:spPr/>
        <p:txBody>
          <a:bodyPr/>
          <a:lstStyle/>
          <a:p>
            <a:endParaRPr kumimoji="1" lang="zh-CN" altLang="en-US" dirty="0"/>
          </a:p>
        </p:txBody>
      </p:sp>
      <p:sp>
        <p:nvSpPr>
          <p:cNvPr id="1048731" name="灯片编号占位符 4"/>
          <p:cNvSpPr>
            <a:spLocks noGrp="1"/>
          </p:cNvSpPr>
          <p:nvPr>
            <p:ph type="sldNum" sz="quarter" idx="12"/>
          </p:nvPr>
        </p:nvSpPr>
        <p:spPr/>
        <p:txBody>
          <a:bodyPr/>
          <a:lstStyle/>
          <a:p>
            <a:fld id="{B33F7469-D28B-482F-B1B6-3B8E7CF51519}" type="slidenum">
              <a:rPr lang="zh-CN" altLang="en-US" smtClean="0"/>
              <a:t>17</a:t>
            </a:fld>
            <a:endParaRPr lang="zh-CN" altLang="en-US" dirty="0"/>
          </a:p>
        </p:txBody>
      </p:sp>
      <p:sp>
        <p:nvSpPr>
          <p:cNvPr id="1048729" name="内容占位符 2"/>
          <p:cNvSpPr>
            <a:spLocks noGrp="1"/>
          </p:cNvSpPr>
          <p:nvPr>
            <p:ph sz="quarter" idx="13"/>
          </p:nvPr>
        </p:nvSpPr>
        <p:spPr/>
        <p:txBody>
          <a:bodyPr>
            <a:normAutofit/>
          </a:bodyPr>
          <a:lstStyle/>
          <a:p>
            <a:r>
              <a:rPr lang="en-US" altLang="zh-CN" dirty="0"/>
              <a:t>Issue: Reveals LSU queue full; shows 8:1 ratio of actual to ideal L2 transactions (uncoalesced access).</a:t>
            </a:r>
          </a:p>
          <a:p>
            <a:r>
              <a:rPr lang="en-US" altLang="zh-CN" dirty="0"/>
              <a:t>Action: Implement warp-stride and block-stride loops for contiguous memory reads.</a:t>
            </a:r>
          </a:p>
          <a:p>
            <a:r>
              <a:rPr lang="en-US" altLang="zh-CN" dirty="0"/>
              <a:t>Result: Improves execution time to 0.0216s.</a:t>
            </a:r>
          </a:p>
          <a:p>
            <a:endParaRPr lang="en-US" altLang="zh-CN" dirty="0"/>
          </a:p>
        </p:txBody>
      </p:sp>
      <p:pic>
        <p:nvPicPr>
          <p:cNvPr id="2" name="图片 1" descr="post_object_image_1997916283"/>
          <p:cNvPicPr>
            <a:picLocks noChangeAspect="1"/>
          </p:cNvPicPr>
          <p:nvPr/>
        </p:nvPicPr>
        <p:blipFill>
          <a:blip r:embed="rId3"/>
          <a:stretch>
            <a:fillRect/>
          </a:stretch>
        </p:blipFill>
        <p:spPr>
          <a:xfrm>
            <a:off x="247417" y="3539828"/>
            <a:ext cx="11697219" cy="2637096"/>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标题 1"/>
          <p:cNvSpPr>
            <a:spLocks noGrp="1"/>
          </p:cNvSpPr>
          <p:nvPr>
            <p:ph type="title"/>
          </p:nvPr>
        </p:nvSpPr>
        <p:spPr/>
        <p:txBody>
          <a:bodyPr/>
          <a:lstStyle/>
          <a:p>
            <a:r>
              <a:rPr lang="en-US" altLang="zh-CN" dirty="0"/>
              <a:t>Iteration 3: Shared Memory Pressure</a:t>
            </a:r>
          </a:p>
        </p:txBody>
      </p:sp>
      <p:sp>
        <p:nvSpPr>
          <p:cNvPr id="1048737" name="页脚占位符 3"/>
          <p:cNvSpPr>
            <a:spLocks noGrp="1"/>
          </p:cNvSpPr>
          <p:nvPr>
            <p:ph type="ftr" sz="quarter" idx="11"/>
          </p:nvPr>
        </p:nvSpPr>
        <p:spPr/>
        <p:txBody>
          <a:bodyPr/>
          <a:lstStyle/>
          <a:p>
            <a:endParaRPr kumimoji="1" lang="zh-CN" altLang="en-US" dirty="0"/>
          </a:p>
        </p:txBody>
      </p:sp>
      <p:sp>
        <p:nvSpPr>
          <p:cNvPr id="1048738" name="灯片编号占位符 4"/>
          <p:cNvSpPr>
            <a:spLocks noGrp="1"/>
          </p:cNvSpPr>
          <p:nvPr>
            <p:ph type="sldNum" sz="quarter" idx="12"/>
          </p:nvPr>
        </p:nvSpPr>
        <p:spPr/>
        <p:txBody>
          <a:bodyPr/>
          <a:lstStyle/>
          <a:p>
            <a:fld id="{B33F7469-D28B-482F-B1B6-3B8E7CF51519}" type="slidenum">
              <a:rPr lang="zh-CN" altLang="en-US" smtClean="0"/>
              <a:t>18</a:t>
            </a:fld>
            <a:endParaRPr lang="zh-CN" altLang="en-US" dirty="0"/>
          </a:p>
        </p:txBody>
      </p:sp>
      <p:sp>
        <p:nvSpPr>
          <p:cNvPr id="1048736" name="内容占位符 2"/>
          <p:cNvSpPr>
            <a:spLocks noGrp="1"/>
          </p:cNvSpPr>
          <p:nvPr>
            <p:ph sz="quarter" idx="13"/>
          </p:nvPr>
        </p:nvSpPr>
        <p:spPr/>
        <p:txBody>
          <a:bodyPr>
            <a:normAutofit/>
          </a:bodyPr>
          <a:lstStyle/>
          <a:p>
            <a:r>
              <a:rPr lang="en-US" altLang="zh-CN" dirty="0"/>
              <a:t>Issue: Shows high shared memory usage; pinpoints warp stalls caused by sweep reduction.</a:t>
            </a:r>
          </a:p>
          <a:p>
            <a:r>
              <a:rPr lang="en-US" altLang="zh-CN" dirty="0"/>
              <a:t>Action: Replace shared memory operations with two-stage warp-shuffle reduction (__shfl_down_sync).</a:t>
            </a:r>
          </a:p>
          <a:p>
            <a:r>
              <a:rPr lang="en-US" altLang="zh-CN" dirty="0"/>
              <a:t>Result: Decreases execution time further to 0.0126s.</a:t>
            </a:r>
          </a:p>
          <a:p>
            <a:endParaRPr lang="en-US" altLang="zh-CN" dirty="0"/>
          </a:p>
        </p:txBody>
      </p:sp>
      <p:pic>
        <p:nvPicPr>
          <p:cNvPr id="2" name="图片 1" descr="post_object_image_2734698228"/>
          <p:cNvPicPr>
            <a:picLocks noChangeAspect="1"/>
          </p:cNvPicPr>
          <p:nvPr/>
        </p:nvPicPr>
        <p:blipFill>
          <a:blip r:embed="rId3"/>
          <a:stretch>
            <a:fillRect/>
          </a:stretch>
        </p:blipFill>
        <p:spPr>
          <a:xfrm>
            <a:off x="2632623" y="3688316"/>
            <a:ext cx="6926805" cy="3169632"/>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2" name="标题 1"/>
          <p:cNvSpPr>
            <a:spLocks noGrp="1"/>
          </p:cNvSpPr>
          <p:nvPr>
            <p:ph type="title"/>
          </p:nvPr>
        </p:nvSpPr>
        <p:spPr/>
        <p:txBody>
          <a:bodyPr/>
          <a:lstStyle/>
          <a:p>
            <a:r>
              <a:rPr lang="en-US" altLang="zh-CN" dirty="0"/>
              <a:t>Iteration 4: Overcoming Memory Latency</a:t>
            </a:r>
          </a:p>
        </p:txBody>
      </p:sp>
      <p:sp>
        <p:nvSpPr>
          <p:cNvPr id="1048744" name="页脚占位符 3"/>
          <p:cNvSpPr>
            <a:spLocks noGrp="1"/>
          </p:cNvSpPr>
          <p:nvPr>
            <p:ph type="ftr" sz="quarter" idx="11"/>
          </p:nvPr>
        </p:nvSpPr>
        <p:spPr/>
        <p:txBody>
          <a:bodyPr/>
          <a:lstStyle/>
          <a:p>
            <a:endParaRPr kumimoji="1" lang="zh-CN" altLang="en-US" dirty="0"/>
          </a:p>
        </p:txBody>
      </p:sp>
      <p:sp>
        <p:nvSpPr>
          <p:cNvPr id="1048745" name="灯片编号占位符 4"/>
          <p:cNvSpPr>
            <a:spLocks noGrp="1"/>
          </p:cNvSpPr>
          <p:nvPr>
            <p:ph type="sldNum" sz="quarter" idx="12"/>
          </p:nvPr>
        </p:nvSpPr>
        <p:spPr/>
        <p:txBody>
          <a:bodyPr/>
          <a:lstStyle/>
          <a:p>
            <a:fld id="{B33F7469-D28B-482F-B1B6-3B8E7CF51519}" type="slidenum">
              <a:rPr lang="zh-CN" altLang="en-US" smtClean="0"/>
              <a:t>19</a:t>
            </a:fld>
            <a:endParaRPr lang="zh-CN" altLang="en-US" dirty="0"/>
          </a:p>
        </p:txBody>
      </p:sp>
      <p:sp>
        <p:nvSpPr>
          <p:cNvPr id="1048743" name="内容占位符 2"/>
          <p:cNvSpPr>
            <a:spLocks noGrp="1"/>
          </p:cNvSpPr>
          <p:nvPr>
            <p:ph sz="quarter" idx="13"/>
          </p:nvPr>
        </p:nvSpPr>
        <p:spPr/>
        <p:txBody>
          <a:bodyPr>
            <a:normAutofit/>
          </a:bodyPr>
          <a:lstStyle/>
          <a:p>
            <a:r>
              <a:rPr lang="en-US" altLang="zh-CN" dirty="0"/>
              <a:t>Issue: Identifies Stall Long Scoreboard as primary bottleneck (46.1%), indicating L1TEX data dependency.</a:t>
            </a:r>
          </a:p>
          <a:p>
            <a:r>
              <a:rPr lang="en-US" altLang="zh-CN" dirty="0"/>
              <a:t>Action: Split into two kernels: custom vector averaging and highly optimized cuBLAS SGEMM for matrix multiplication.</a:t>
            </a:r>
          </a:p>
          <a:p>
            <a:r>
              <a:rPr lang="en-US" altLang="zh-CN" dirty="0"/>
              <a:t>Result: Reaches 0.0055s execution time (nearly 100x speedup over CPU OpenMP)</a:t>
            </a:r>
          </a:p>
          <a:p>
            <a:endParaRPr lang="en-US" altLang="zh-CN" dirty="0"/>
          </a:p>
        </p:txBody>
      </p:sp>
      <p:pic>
        <p:nvPicPr>
          <p:cNvPr id="2" name="图片 1" descr="post_object_image_4008708085"/>
          <p:cNvPicPr>
            <a:picLocks noChangeAspect="1"/>
          </p:cNvPicPr>
          <p:nvPr/>
        </p:nvPicPr>
        <p:blipFill>
          <a:blip r:embed="rId3"/>
          <a:stretch>
            <a:fillRect/>
          </a:stretch>
        </p:blipFill>
        <p:spPr>
          <a:xfrm>
            <a:off x="1389503" y="3780052"/>
            <a:ext cx="9192650" cy="3077896"/>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标题 1"/>
          <p:cNvSpPr>
            <a:spLocks noGrp="1"/>
          </p:cNvSpPr>
          <p:nvPr>
            <p:ph type="title"/>
          </p:nvPr>
        </p:nvSpPr>
        <p:spPr/>
        <p:txBody>
          <a:bodyPr/>
          <a:lstStyle/>
          <a:p>
            <a:r>
              <a:rPr lang="en-US" altLang="zh-CN" dirty="0"/>
              <a:t>Estimation of Optimization Space</a:t>
            </a:r>
          </a:p>
        </p:txBody>
      </p:sp>
      <p:sp>
        <p:nvSpPr>
          <p:cNvPr id="1048751" name="页脚占位符 3"/>
          <p:cNvSpPr>
            <a:spLocks noGrp="1"/>
          </p:cNvSpPr>
          <p:nvPr>
            <p:ph type="ftr" sz="quarter" idx="11"/>
          </p:nvPr>
        </p:nvSpPr>
        <p:spPr/>
        <p:txBody>
          <a:bodyPr/>
          <a:lstStyle/>
          <a:p>
            <a:endParaRPr kumimoji="1" lang="zh-CN" altLang="en-US" dirty="0"/>
          </a:p>
        </p:txBody>
      </p:sp>
      <p:sp>
        <p:nvSpPr>
          <p:cNvPr id="1048752" name="灯片编号占位符 4"/>
          <p:cNvSpPr>
            <a:spLocks noGrp="1"/>
          </p:cNvSpPr>
          <p:nvPr>
            <p:ph type="sldNum" sz="quarter" idx="12"/>
          </p:nvPr>
        </p:nvSpPr>
        <p:spPr/>
        <p:txBody>
          <a:bodyPr/>
          <a:lstStyle/>
          <a:p>
            <a:fld id="{B33F7469-D28B-482F-B1B6-3B8E7CF51519}" type="slidenum">
              <a:rPr lang="zh-CN" altLang="en-US" smtClean="0"/>
              <a:t>20</a:t>
            </a:fld>
            <a:endParaRPr lang="zh-CN" altLang="en-US" dirty="0"/>
          </a:p>
        </p:txBody>
      </p:sp>
      <p:sp>
        <p:nvSpPr>
          <p:cNvPr id="1048750" name="内容占位符 2"/>
          <p:cNvSpPr>
            <a:spLocks noGrp="1"/>
          </p:cNvSpPr>
          <p:nvPr>
            <p:ph sz="quarter" idx="13"/>
          </p:nvPr>
        </p:nvSpPr>
        <p:spPr/>
        <p:txBody>
          <a:bodyPr>
            <a:normAutofit/>
          </a:bodyPr>
          <a:lstStyle/>
          <a:p>
            <a:r>
              <a:rPr lang="en-US" altLang="zh-CN" dirty="0"/>
              <a:t>Bound by hardware bandwidth</a:t>
            </a:r>
          </a:p>
          <a:p>
            <a:r>
              <a:rPr lang="en-US" altLang="zh-CN" dirty="0"/>
              <a:t>~823 GB/s achieved throughput </a:t>
            </a:r>
          </a:p>
          <a:p>
            <a:r>
              <a:rPr lang="en-US" altLang="zh-CN" dirty="0"/>
              <a:t>Near-optimal global loading </a:t>
            </a:r>
          </a:p>
          <a:p>
            <a:r>
              <a:rPr lang="en-US" altLang="zh-CN" dirty="0"/>
              <a:t>Require algorithmic redesign</a:t>
            </a:r>
          </a:p>
          <a:p>
            <a:endParaRPr lang="en-US" altLang="zh-CN" dirty="0"/>
          </a:p>
        </p:txBody>
      </p:sp>
      <p:pic>
        <p:nvPicPr>
          <p:cNvPr id="2" name="图片 1" descr="post_object_image_3798488554"/>
          <p:cNvPicPr>
            <a:picLocks noChangeAspect="1"/>
          </p:cNvPicPr>
          <p:nvPr/>
        </p:nvPicPr>
        <p:blipFill>
          <a:blip r:embed="rId3"/>
          <a:stretch>
            <a:fillRect/>
          </a:stretch>
        </p:blipFill>
        <p:spPr>
          <a:xfrm>
            <a:off x="5238802" y="1376324"/>
            <a:ext cx="6953250" cy="4800600"/>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标题 1"/>
          <p:cNvSpPr>
            <a:spLocks noGrp="1"/>
          </p:cNvSpPr>
          <p:nvPr>
            <p:ph type="title"/>
          </p:nvPr>
        </p:nvSpPr>
        <p:spPr/>
        <p:txBody>
          <a:bodyPr/>
          <a:lstStyle/>
          <a:p>
            <a:r>
              <a:rPr lang="en-GB" altLang="zh-CN" dirty="0"/>
              <a:t>References</a:t>
            </a:r>
          </a:p>
        </p:txBody>
      </p:sp>
      <p:sp>
        <p:nvSpPr>
          <p:cNvPr id="1048758" name="页脚占位符 3"/>
          <p:cNvSpPr>
            <a:spLocks noGrp="1"/>
          </p:cNvSpPr>
          <p:nvPr>
            <p:ph type="ftr" sz="quarter" idx="11"/>
          </p:nvPr>
        </p:nvSpPr>
        <p:spPr/>
        <p:txBody>
          <a:bodyPr/>
          <a:lstStyle/>
          <a:p>
            <a:endParaRPr kumimoji="1" lang="zh-CN" altLang="en-US" dirty="0"/>
          </a:p>
        </p:txBody>
      </p:sp>
      <p:sp>
        <p:nvSpPr>
          <p:cNvPr id="1048759" name="灯片编号占位符 4"/>
          <p:cNvSpPr>
            <a:spLocks noGrp="1"/>
          </p:cNvSpPr>
          <p:nvPr>
            <p:ph type="sldNum" sz="quarter" idx="12"/>
          </p:nvPr>
        </p:nvSpPr>
        <p:spPr/>
        <p:txBody>
          <a:bodyPr/>
          <a:lstStyle/>
          <a:p>
            <a:fld id="{B33F7469-D28B-482F-B1B6-3B8E7CF51519}" type="slidenum">
              <a:rPr lang="zh-CN" altLang="en-US" smtClean="0"/>
              <a:t>21</a:t>
            </a:fld>
            <a:endParaRPr lang="zh-CN" altLang="en-US" dirty="0"/>
          </a:p>
        </p:txBody>
      </p:sp>
      <p:sp>
        <p:nvSpPr>
          <p:cNvPr id="1048757" name="内容占位符 2"/>
          <p:cNvSpPr>
            <a:spLocks noGrp="1"/>
          </p:cNvSpPr>
          <p:nvPr>
            <p:ph sz="quarter" idx="13"/>
          </p:nvPr>
        </p:nvSpPr>
        <p:spPr/>
        <p:txBody>
          <a:bodyPr>
            <a:normAutofit/>
          </a:bodyPr>
          <a:lstStyle/>
          <a:p>
            <a:r>
              <a:rPr lang="en-GB" altLang="zh-CN" dirty="0">
                <a:hlinkClick r:id="rId3"/>
              </a:rPr>
              <a:t>Get Started With Nsight Systems</a:t>
            </a:r>
            <a:endParaRPr lang="en-GB" altLang="zh-CN" dirty="0"/>
          </a:p>
          <a:p>
            <a:r>
              <a:rPr lang="en-GB" altLang="zh-CN" dirty="0">
                <a:hlinkClick r:id="rId3"/>
              </a:rPr>
              <a:t>Getting Started</a:t>
            </a:r>
            <a:r>
              <a:rPr lang="zh-CN" altLang="en-US" dirty="0">
                <a:hlinkClick r:id="rId3"/>
              </a:rPr>
              <a:t> </a:t>
            </a:r>
            <a:r>
              <a:rPr lang="en-GB" altLang="zh-CN" dirty="0">
                <a:hlinkClick r:id="rId3"/>
              </a:rPr>
              <a:t>with Nsight</a:t>
            </a:r>
            <a:r>
              <a:rPr lang="zh-CN" altLang="en-US" dirty="0">
                <a:hlinkClick r:id="rId3"/>
              </a:rPr>
              <a:t> </a:t>
            </a:r>
            <a:r>
              <a:rPr lang="en-GB" altLang="zh-CN" dirty="0">
                <a:hlinkClick r:id="rId3"/>
              </a:rPr>
              <a:t>Compute</a:t>
            </a:r>
            <a:endParaRPr lang="en-GB" altLang="zh-CN" dirty="0"/>
          </a:p>
          <a:p>
            <a:r>
              <a:rPr lang="en-GB" altLang="zh-CN" dirty="0">
                <a:hlinkClick r:id="rId4"/>
              </a:rPr>
              <a:t>Nsight Systems Documentation</a:t>
            </a:r>
            <a:endParaRPr lang="en-GB" altLang="zh-CN" dirty="0"/>
          </a:p>
          <a:p>
            <a:r>
              <a:rPr lang="en-GB" altLang="zh-CN" dirty="0">
                <a:hlinkClick r:id="rId5"/>
              </a:rPr>
              <a:t>Nsight Compute profiling guide</a:t>
            </a:r>
            <a:endParaRPr lang="en-GB" altLang="zh-CN"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967</Words>
  <Application>Microsoft Office PowerPoint</Application>
  <PresentationFormat>宽屏</PresentationFormat>
  <Paragraphs>137</Paragraphs>
  <Slides>24</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等线</vt:lpstr>
      <vt:lpstr>微软雅黑</vt:lpstr>
      <vt:lpstr>文泉驿微米黑</vt:lpstr>
      <vt:lpstr>Arial</vt:lpstr>
      <vt:lpstr>Calibri</vt:lpstr>
      <vt:lpstr>Calibri Light</vt:lpstr>
      <vt:lpstr>Ebrima</vt:lpstr>
      <vt:lpstr>Garamond</vt:lpstr>
      <vt:lpstr>Montserrat SemiBold</vt:lpstr>
      <vt:lpstr>Wingdings 3</vt:lpstr>
      <vt:lpstr>母版</vt:lpstr>
      <vt:lpstr>Hardware and Software Fundamentals of  Intelligent Computing  Systems</vt:lpstr>
      <vt:lpstr>Lecture 16: Complex Operator Debugging and Profiling</vt:lpstr>
      <vt:lpstr>PowerPoint 演示文稿</vt:lpstr>
      <vt:lpstr>NVIDIA Nsight Developer Tools</vt:lpstr>
      <vt:lpstr>Nsight Product Family (for CUDA Profiling)</vt:lpstr>
      <vt:lpstr>Optimization Workflow for CUDA Applications</vt:lpstr>
      <vt:lpstr>NVIDIA Nsight Systems</vt:lpstr>
      <vt:lpstr>NVIDIA Nsight Systems - Features</vt:lpstr>
      <vt:lpstr>NVIDIA Nsight Systems</vt:lpstr>
      <vt:lpstr>NVIDIA Nsight Systems</vt:lpstr>
      <vt:lpstr>NVIDIA Nsight Compute</vt:lpstr>
      <vt:lpstr>NVIDIA Nsight Compute - Features</vt:lpstr>
      <vt:lpstr>PowerPoint 演示文稿</vt:lpstr>
      <vt:lpstr>Key Metrics for Warp-Level Analysis</vt:lpstr>
      <vt:lpstr>Case Study: Vector Averaging &amp; Matrix Multiply</vt:lpstr>
      <vt:lpstr>Iteration 1: Maximizing Grid Size</vt:lpstr>
      <vt:lpstr>Iteration 2: Global Memory Coalescing</vt:lpstr>
      <vt:lpstr>Iteration 3: Shared Memory Pressure</vt:lpstr>
      <vt:lpstr>Iteration 4: Overcoming Memory Latency</vt:lpstr>
      <vt:lpstr>Estimation of Optimization Space</vt:lpstr>
      <vt:lpstr>References</vt:lpstr>
      <vt:lpstr>The Solution: FlagOS, a Unified AI Software Stack</vt:lpstr>
      <vt:lpstr>PowerPoint 演示文稿</vt:lpstr>
      <vt:lpstr>Thanks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16: Complex Operator Debugging and Profiling</dc:title>
  <dc:creator>王丰</dc:creator>
  <cp:lastModifiedBy>Xiang Li</cp:lastModifiedBy>
  <cp:revision>4</cp:revision>
  <dcterms:created xsi:type="dcterms:W3CDTF">2026-03-12T02:51:00Z</dcterms:created>
  <dcterms:modified xsi:type="dcterms:W3CDTF">2026-03-17T14:54:02Z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040664076e4f4528ae10d8a4ea24c83b_23</vt:lpwstr>
  </property>
  <property fmtid="{D5CDD505-2E9C-101B-9397-08002B2CF9AE}" pid="3" name="KSOProductBuildVer">
    <vt:lpwstr>2052-12.1.0.19302</vt:lpwstr>
  </property>
</Properties>
</file>