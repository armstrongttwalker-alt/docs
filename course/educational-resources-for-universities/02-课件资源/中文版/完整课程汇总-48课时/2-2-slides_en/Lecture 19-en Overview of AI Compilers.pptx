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37" r:id="rId2"/>
    <p:sldId id="257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74" r:id="rId16"/>
    <p:sldId id="275" r:id="rId17"/>
    <p:sldId id="276" r:id="rId18"/>
    <p:sldId id="277" r:id="rId19"/>
    <p:sldId id="285" r:id="rId20"/>
    <p:sldId id="286" r:id="rId21"/>
    <p:sldId id="287" r:id="rId22"/>
    <p:sldId id="288" r:id="rId23"/>
    <p:sldId id="33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91926" autoAdjust="0"/>
  </p:normalViewPr>
  <p:slideViewPr>
    <p:cSldViewPr snapToGrid="0" snapToObjects="1">
      <p:cViewPr varScale="1">
        <p:scale>
          <a:sx n="56" d="100"/>
          <a:sy n="56" d="100"/>
        </p:scale>
        <p:origin x="8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6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7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9008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9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01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900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900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0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0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x-none" altLang="zh-CN"/>
              <a:t>为什么需要AI编译器？</a:t>
            </a:r>
          </a:p>
          <a:p>
            <a:r>
              <a:rPr lang="x-none" altLang="zh-CN">
                <a:sym typeface="+mn-ea"/>
              </a:rPr>
              <a:t>* </a:t>
            </a:r>
            <a:r>
              <a:rPr lang="zh-CN" altLang="en-US">
                <a:sym typeface="+mn-ea"/>
              </a:rPr>
              <a:t>内存墙</a:t>
            </a:r>
            <a:r>
              <a:rPr lang="en-US" altLang="zh-CN">
                <a:sym typeface="+mn-ea"/>
              </a:rPr>
              <a:t> (Memory Wall) </a:t>
            </a:r>
            <a:r>
              <a:rPr lang="zh-CN" altLang="en-US">
                <a:sym typeface="+mn-ea"/>
              </a:rPr>
              <a:t>危机：近</a:t>
            </a:r>
            <a:r>
              <a:rPr lang="en-US" altLang="zh-CN">
                <a:sym typeface="+mn-ea"/>
              </a:rPr>
              <a:t> 20 </a:t>
            </a:r>
            <a:r>
              <a:rPr lang="zh-CN" altLang="en-US">
                <a:sym typeface="+mn-ea"/>
              </a:rPr>
              <a:t>年来，硬件算力（</a:t>
            </a:r>
            <a:r>
              <a:rPr lang="en-US" altLang="zh-CN">
                <a:sym typeface="+mn-ea"/>
              </a:rPr>
              <a:t>FLOPS</a:t>
            </a:r>
            <a:r>
              <a:rPr lang="zh-CN" altLang="en-US">
                <a:sym typeface="+mn-ea"/>
              </a:rPr>
              <a:t>）的增长速度远超内存带宽的增长，导致</a:t>
            </a:r>
            <a:r>
              <a:rPr lang="en-US" altLang="zh-CN">
                <a:sym typeface="+mn-ea"/>
              </a:rPr>
              <a:t> AI </a:t>
            </a:r>
            <a:r>
              <a:rPr lang="zh-CN" altLang="en-US">
                <a:sym typeface="+mn-ea"/>
              </a:rPr>
              <a:t>模型（特别是大模型推理）在执行时受限于内存读写而非计算能力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。</a:t>
            </a:r>
            <a:endParaRPr lang="en-US" altLang="zh-CN"/>
          </a:p>
          <a:p>
            <a:r>
              <a:rPr lang="x-none" altLang="zh-CN">
                <a:sym typeface="+mn-ea"/>
              </a:rPr>
              <a:t>* </a:t>
            </a:r>
            <a:r>
              <a:rPr lang="zh-CN" altLang="en-US">
                <a:sym typeface="+mn-ea"/>
              </a:rPr>
              <a:t>算子爆炸问题：深度学习框架中的算子数量呈指数级增长（</a:t>
            </a:r>
            <a:r>
              <a:rPr lang="en-US" altLang="zh-CN">
                <a:sym typeface="+mn-ea"/>
              </a:rPr>
              <a:t>PyTorch </a:t>
            </a:r>
            <a:r>
              <a:rPr lang="zh-CN" altLang="en-US">
                <a:sym typeface="+mn-ea"/>
              </a:rPr>
              <a:t>算子已达数千个），依靠硬件厂商（如</a:t>
            </a:r>
            <a:r>
              <a:rPr lang="en-US" altLang="zh-CN">
                <a:sym typeface="+mn-ea"/>
              </a:rPr>
              <a:t> NVIDIA cuDNN</a:t>
            </a:r>
            <a:r>
              <a:rPr lang="zh-CN" altLang="en-US">
                <a:sym typeface="+mn-ea"/>
              </a:rPr>
              <a:t>）手工编写和优化每一个算子变得不再现实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x-none" altLang="zh-CN">
                <a:sym typeface="+mn-ea"/>
              </a:rPr>
              <a:t>* </a:t>
            </a:r>
            <a:r>
              <a:rPr lang="zh-CN" altLang="en-US">
                <a:sym typeface="+mn-ea"/>
              </a:rPr>
              <a:t>传统框架的困境：动态图（</a:t>
            </a:r>
            <a:r>
              <a:rPr lang="en-US" altLang="zh-CN">
                <a:sym typeface="+mn-ea"/>
              </a:rPr>
              <a:t>Eager Mode</a:t>
            </a:r>
            <a:r>
              <a:rPr lang="zh-CN" altLang="en-US">
                <a:sym typeface="+mn-ea"/>
              </a:rPr>
              <a:t>）易于调试但存在</a:t>
            </a:r>
            <a:r>
              <a:rPr lang="en-US" altLang="zh-CN">
                <a:sym typeface="+mn-ea"/>
              </a:rPr>
              <a:t> Python </a:t>
            </a:r>
            <a:r>
              <a:rPr lang="zh-CN" altLang="en-US">
                <a:sym typeface="+mn-ea"/>
              </a:rPr>
              <a:t>解释器开销大、难以进行全局图优化等性能瓶颈；静态图（</a:t>
            </a:r>
            <a:r>
              <a:rPr lang="en-US" altLang="zh-CN">
                <a:sym typeface="+mn-ea"/>
              </a:rPr>
              <a:t>Graph Mode</a:t>
            </a:r>
            <a:r>
              <a:rPr lang="zh-CN" altLang="en-US">
                <a:sym typeface="+mn-ea"/>
              </a:rPr>
              <a:t>）性能高但缺乏灵活性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x-none" altLang="zh-CN"/>
          </a:p>
          <a:p>
            <a:endParaRPr lang="x-none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7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061667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276750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29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2.xml"/><Relationship Id="rId21" Type="http://schemas.openxmlformats.org/officeDocument/2006/relationships/image" Target="../media/image32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31.png"/><Relationship Id="rId29" Type="http://schemas.openxmlformats.org/officeDocument/2006/relationships/image" Target="../media/image36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image" Target="../media/image34.png"/><Relationship Id="rId28" Type="http://schemas.openxmlformats.org/officeDocument/2006/relationships/image" Target="../media/image35.jpeg"/><Relationship Id="rId10" Type="http://schemas.openxmlformats.org/officeDocument/2006/relationships/tags" Target="../tags/tag19.xml"/><Relationship Id="rId19" Type="http://schemas.openxmlformats.org/officeDocument/2006/relationships/image" Target="../media/image30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image" Target="../media/image33.png"/><Relationship Id="rId27" Type="http://schemas.openxmlformats.org/officeDocument/2006/relationships/hyperlink" Target="https://flagos.io/Home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Lecture 19: Overview of AI Compilers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Memory Wall Crisis and Idle Compute</a:t>
            </a:r>
            <a:endParaRPr lang="zh-CN" altLang="en-US"/>
          </a:p>
        </p:txBody>
      </p:sp>
      <p:sp>
        <p:nvSpPr>
          <p:cNvPr id="104866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Gholami, A., Yao, Z., Kim, S., Hooper, C., Mahoney, M. W., &amp; Keutzer, K. (2024). Ai and memory wall. IEEE Micro, 44(3), 33-39.</a:t>
            </a:r>
          </a:p>
        </p:txBody>
      </p:sp>
      <p:sp>
        <p:nvSpPr>
          <p:cNvPr id="104866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1048665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867400" cy="485330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Imbalanced Hardware Development: </a:t>
            </a:r>
          </a:p>
          <a:p>
            <a:pPr lvl="1">
              <a:lnSpc>
                <a:spcPct val="10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Over the past 20  years, peak server compute has grown 3.0 x every two years, while DRAM  memory bandwidth has only grown 1.6 x.</a:t>
            </a:r>
          </a:p>
          <a:p>
            <a:pPr>
              <a:lnSpc>
                <a:spcPct val="10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Large Language Model (LLM)  Performance Bottleneck:  </a:t>
            </a:r>
          </a:p>
          <a:p>
            <a:pPr lvl="1">
              <a:lnSpc>
                <a:spcPct val="10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In autoregressive decoding operations, arithmetic intensity is extremely low, GPU massive tensor cores are left data-starved.</a:t>
            </a:r>
          </a:p>
          <a:p>
            <a:pPr>
              <a:lnSpc>
                <a:spcPct val="10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The Only Way Out:  </a:t>
            </a:r>
          </a:p>
          <a:p>
            <a:pPr lvl="1">
              <a:lnSpc>
                <a:spcPct val="10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Cannot rely solely on arithmetic instructions; compiler-level scheduling is needed to merge multiple memory accesses and reduce intermediate activation tensor reads/writes toHBM .</a:t>
            </a:r>
            <a:endParaRPr lang="zh-CN" altLang="en-US">
              <a:ea typeface="微软雅黑" panose="020B0503020204020204" charset="-122"/>
            </a:endParaRPr>
          </a:p>
        </p:txBody>
      </p:sp>
      <p:pic>
        <p:nvPicPr>
          <p:cNvPr id="2097152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984250"/>
            <a:ext cx="5289550" cy="2787650"/>
          </a:xfrm>
          <a:prstGeom prst="rect">
            <a:avLst/>
          </a:prstGeom>
        </p:spPr>
      </p:pic>
      <p:pic>
        <p:nvPicPr>
          <p:cNvPr id="2097153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325" y="3601720"/>
            <a:ext cx="5196840" cy="27565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Operator Explosion and Hand-written Kernel Crisis</a:t>
            </a:r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4867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https://docs.google.com/spreadsheets/d/e/2PACX-1vQQFW0T_bucT5KZn0BHYTC1KYhkL6ZMG5ZxQWc6UmAkHUDYpqkpzXnsb59uv2TB0Jgc1Q6qO63bx6WQ/pubhtml#gid=1944851651</a:t>
            </a:r>
          </a:p>
        </p:txBody>
      </p:sp>
      <p:sp>
        <p:nvSpPr>
          <p:cNvPr id="104867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1048669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026785" cy="4853305"/>
          </a:xfrm>
        </p:spPr>
        <p:txBody>
          <a:bodyPr>
            <a:normAutofit fontScale="97500"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Operator Scale is Massive: </a:t>
            </a:r>
          </a:p>
          <a:p>
            <a:pPr lvl="1">
              <a:lnSpc>
                <a:spcPct val="110000"/>
              </a:lnSpc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I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n PyTorch  framework, the number of core operators has exceeded 1200, including all overloads and variants reaching 3500+ </a:t>
            </a:r>
          </a:p>
          <a:p>
            <a:pPr>
              <a:lnSpc>
                <a:spcPct val="11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Enormous Implementation Matrix:  </a:t>
            </a:r>
          </a:p>
          <a:p>
            <a:pPr lvl="1">
              <a:lnSpc>
                <a:spcPct val="11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Over a thousand operators ×  multiple numeric types ×  fragmented target hardware (GPU, TPU, NPU） </a:t>
            </a:r>
          </a:p>
          <a:p>
            <a:pPr>
              <a:lnSpc>
                <a:spcPct val="11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Unsustainable Manual Optimization:  </a:t>
            </a:r>
          </a:p>
          <a:p>
            <a:pPr lvl="1">
              <a:lnSpc>
                <a:spcPct val="11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Relying on hardware vendor engineers to hand-write CUDA C++  kernels to cover all combinations is not practically feasible at engineering scale</a:t>
            </a:r>
            <a:endParaRPr lang="zh-CN" altLang="en-US">
              <a:ea typeface="微软雅黑" panose="020B0503020204020204" charset="-122"/>
            </a:endParaRPr>
          </a:p>
        </p:txBody>
      </p:sp>
      <p:pic>
        <p:nvPicPr>
          <p:cNvPr id="209715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145" y="3614420"/>
            <a:ext cx="4799330" cy="2792730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6747170" y="1208012"/>
          <a:ext cx="5309235" cy="2209800"/>
        </p:xfrm>
        <a:graphic>
          <a:graphicData uri="http://schemas.openxmlformats.org/drawingml/2006/table">
            <a:tbl>
              <a:tblPr/>
              <a:tblGrid>
                <a:gridCol w="311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OperatorCategory</a:t>
                      </a:r>
                      <a:endParaRPr lang="zh-CN" altLang="en-US"/>
                    </a:p>
                  </a:txBody>
                  <a:tcPr marL="152717" marR="152717" marT="101917" marB="101917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B001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NumberofBaseOperators</a:t>
                      </a:r>
                      <a:endParaRPr lang="zh-CN" altLang="en-US"/>
                    </a:p>
                  </a:txBody>
                  <a:tcPr marL="152717" marR="152717" marT="101917" marB="101917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B00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TensorIterator(Pointwise&amp;Reduction)</a:t>
                      </a:r>
                      <a:endParaRPr lang="zh-CN" altLang="en-US"/>
                    </a:p>
                  </a:txBody>
                  <a:tcPr marL="152717" marR="152717" marT="101917" marB="101917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AD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505</a:t>
                      </a:r>
                      <a:endParaRPr lang="zh-CN" altLang="en-US"/>
                    </a:p>
                  </a:txBody>
                  <a:tcPr marL="152717" marR="152717" marT="101917" marB="101917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Fixed(Fixed-dimensionComputation)</a:t>
                      </a:r>
                      <a:endParaRPr lang="zh-CN" altLang="en-US"/>
                    </a:p>
                  </a:txBody>
                  <a:tcPr marL="152717" marR="152717" marT="101917" marB="101917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AD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273</a:t>
                      </a:r>
                      <a:endParaRPr lang="zh-CN" altLang="en-US"/>
                    </a:p>
                  </a:txBody>
                  <a:tcPr marL="152717" marR="152717" marT="101917" marB="101917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Convolution(ConvolutionVariants)</a:t>
                      </a:r>
                      <a:endParaRPr lang="zh-CN" altLang="en-US"/>
                    </a:p>
                  </a:txBody>
                  <a:tcPr marL="152717" marR="152717" marT="101917" marB="101917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AD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67</a:t>
                      </a:r>
                      <a:endParaRPr lang="zh-CN" altLang="en-US"/>
                    </a:p>
                  </a:txBody>
                  <a:tcPr marL="152717" marR="152717" marT="101917" marB="101917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Pooling/BatchNorm</a:t>
                      </a:r>
                      <a:endParaRPr lang="zh-CN" altLang="en-US"/>
                    </a:p>
                  </a:txBody>
                  <a:tcPr marL="152717" marR="152717" marT="101917" marB="101917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AD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57</a:t>
                      </a:r>
                      <a:endParaRPr lang="zh-CN" altLang="en-US"/>
                    </a:p>
                  </a:txBody>
                  <a:tcPr marL="152717" marR="152717" marT="101917" marB="101917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Private/Foreach</a:t>
                      </a:r>
                      <a:endParaRPr lang="zh-CN" altLang="en-US"/>
                    </a:p>
                  </a:txBody>
                  <a:tcPr marL="152717" marR="152717" marT="101917" marB="101917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AD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233</a:t>
                      </a:r>
                      <a:endParaRPr lang="zh-CN" altLang="en-US"/>
                    </a:p>
                  </a:txBody>
                  <a:tcPr marL="152717" marR="152717" marT="101917" marB="101917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The Dilemma of Traditional Frameworks</a:t>
            </a:r>
            <a:endParaRPr lang="zh-CN" altLang="en-US"/>
          </a:p>
        </p:txBody>
      </p:sp>
      <p:sp>
        <p:nvSpPr>
          <p:cNvPr id="104867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https://docs.pytorch.org/assets/pytorch2-2.pdf</a:t>
            </a:r>
          </a:p>
        </p:txBody>
      </p:sp>
      <p:sp>
        <p:nvSpPr>
          <p:cNvPr id="104867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1048675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7620635" cy="48533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Eager Mode Performance Bottleneck: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Highly flexible and easy to debug, but each operator call must traverse the massive Python  interpreter overhead; the framework can only see a single operator, losing the ability for global graph optimization (e.g., operator fusion).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Graph Mode Lacks Flexibility: 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To eliminate interpreter overhead, users must sacrifice Python  native control flow, even requiring code rewrites.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Recompilation Problem: 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Early static tracing systems easily trigger repeated recompilation when facing dynamic shapes, negating the benefits of low-level optimizations.</a:t>
            </a:r>
            <a:endParaRPr lang="zh-CN" altLang="en-US">
              <a:ea typeface="微软雅黑" panose="020B0503020204020204" charset="-122"/>
            </a:endParaRPr>
          </a:p>
        </p:txBody>
      </p:sp>
      <p:pic>
        <p:nvPicPr>
          <p:cNvPr id="2097155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416" y="2187233"/>
            <a:ext cx="3630654" cy="2911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AI Model Development Facing Crises</a:t>
            </a:r>
            <a:endParaRPr lang="zh-CN" altLang="en-US"/>
          </a:p>
        </p:txBody>
      </p:sp>
      <p:sp>
        <p:nvSpPr>
          <p:cNvPr id="10486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1048679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Shift of the Core Contradiction in Computing:  </a:t>
            </a:r>
          </a:p>
          <a:p>
            <a:pPr lvl="1">
              <a:lnSpc>
                <a:spcPct val="15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As large model parameters scale beyond trillions, the bottleneck shifts from pure algorithm design to the gap between hardware physical limits and software framework abstractions.</a:t>
            </a:r>
          </a:p>
          <a:p>
            <a:pPr>
              <a:lnSpc>
                <a:spcPct val="15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Three Intertwined Underlying Crises:  </a:t>
            </a:r>
          </a:p>
          <a:p>
            <a:pPr lvl="1">
              <a:lnSpc>
                <a:spcPct val="15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Deep learning systems currently face </a:t>
            </a:r>
            <a:r>
              <a:rPr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"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Memory Wal</a:t>
            </a:r>
            <a:r>
              <a:rPr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"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 problem, </a:t>
            </a:r>
            <a:r>
              <a:rPr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"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Operator Explosion</a:t>
            </a:r>
            <a:r>
              <a:rPr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"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 problem, and the traditional execution mode dilemma between eager and graph modes problem.</a:t>
            </a:r>
          </a:p>
          <a:p>
            <a:pPr>
              <a:lnSpc>
                <a:spcPct val="15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AI The Rise of Compilers:  </a:t>
            </a:r>
          </a:p>
          <a:p>
            <a:pPr lvl="1">
              <a:lnSpc>
                <a:spcPct val="15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AI Compiler technology has evolved from early graph optimization auxiliary tools into the core infrastructure that dominates computation graph capture, hardware scheduling, and machine code generation.</a:t>
            </a:r>
            <a:endParaRPr lang="zh-CN" altLang="en-US"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TensorFlow Introduction</a:t>
            </a:r>
          </a:p>
        </p:txBody>
      </p:sp>
      <p:sp>
        <p:nvSpPr>
          <p:cNvPr id="104868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参考自：《智能计算系统》</a:t>
            </a:r>
          </a:p>
        </p:txBody>
      </p:sp>
      <p:sp>
        <p:nvSpPr>
          <p:cNvPr id="104868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048687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8006715" cy="485330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Multiple Language Bindings</a:t>
            </a:r>
          </a:p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C/C++  Interface</a:t>
            </a:r>
          </a:p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TensorFlowBackend</a:t>
            </a:r>
          </a:p>
          <a:p>
            <a:pPr lvl="1">
              <a:lnSpc>
                <a:spcPct val="12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Runtime, Framework, Computation Graph, Graph Optimization, Compute Kernels, Compute Nodes</a:t>
            </a:r>
          </a:p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Different underlying hardwareOpKernel have different implementations</a:t>
            </a:r>
          </a:p>
          <a:p>
            <a:pPr lvl="1">
              <a:lnSpc>
                <a:spcPct val="12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CPU, GPU, Deep Learning Processor</a:t>
            </a:r>
            <a:endParaRPr lang="zh-CN" altLang="en-US">
              <a:ea typeface="微软雅黑" panose="020B0503020204020204" charset="-122"/>
            </a:endParaRPr>
          </a:p>
        </p:txBody>
      </p:sp>
      <p:pic>
        <p:nvPicPr>
          <p:cNvPr id="2097156" name="图片 5"/>
          <p:cNvPicPr>
            <a:picLocks noChangeAspect="1"/>
          </p:cNvPicPr>
          <p:nvPr/>
        </p:nvPicPr>
        <p:blipFill>
          <a:blip r:embed="rId2"/>
          <a:srcRect b="6189"/>
          <a:stretch>
            <a:fillRect/>
          </a:stretch>
        </p:blipFill>
        <p:spPr>
          <a:xfrm>
            <a:off x="8552180" y="1049020"/>
            <a:ext cx="3249295" cy="490202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TensorFlow XLA Overview</a:t>
            </a:r>
            <a:endParaRPr lang="zh-CN" altLang="en-US"/>
          </a:p>
        </p:txBody>
      </p:sp>
      <p:sp>
        <p:nvSpPr>
          <p:cNvPr id="104869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https://openxla.org/xla/architecture?hl=zh-cn</a:t>
            </a:r>
          </a:p>
        </p:txBody>
      </p:sp>
      <p:sp>
        <p:nvSpPr>
          <p:cNvPr id="104869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048691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490335" cy="4853305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Core Objective:  </a:t>
            </a:r>
          </a:p>
          <a:p>
            <a:pPr lvl="1">
              <a:lnSpc>
                <a:spcPct val="13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Targeting TPU/GPU  and other hardware platforms, performing extreme low-level hardware graph fusion on highly regular static computation graphs .</a:t>
            </a:r>
          </a:p>
          <a:p>
            <a:pPr>
              <a:lnSpc>
                <a:spcPct val="13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UnifiedFrontend-Backend Ecosystem: </a:t>
            </a:r>
          </a:p>
          <a:p>
            <a:pPr lvl="1">
              <a:lnSpc>
                <a:spcPct val="13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Aiming to provide PyTorch, JAX  and TensorFlow  with a unified high-performance backend featuring portability.</a:t>
            </a:r>
          </a:p>
          <a:p>
            <a:pPr>
              <a:lnSpc>
                <a:spcPct val="13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DesignGoals: </a:t>
            </a:r>
          </a:p>
          <a:p>
            <a:pPr lvl="1">
              <a:lnSpc>
                <a:spcPct val="13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Breaking free from frontend framework syntax constraints, building high-level graph abstractions to achieve mathematical semantic fidelity and global optimization.</a:t>
            </a:r>
            <a:endParaRPr lang="zh-CN" altLang="en-US">
              <a:ea typeface="微软雅黑" panose="020B0503020204020204" charset="-122"/>
            </a:endParaRPr>
          </a:p>
        </p:txBody>
      </p:sp>
      <p:pic>
        <p:nvPicPr>
          <p:cNvPr id="209715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131" y="3527425"/>
            <a:ext cx="4771344" cy="2550556"/>
          </a:xfrm>
          <a:prstGeom prst="rect">
            <a:avLst/>
          </a:prstGeom>
        </p:spPr>
      </p:pic>
      <p:pic>
        <p:nvPicPr>
          <p:cNvPr id="209715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081" y="1377315"/>
            <a:ext cx="4772664" cy="19068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Multi-level IR  Architecture and Graph Transformation</a:t>
            </a:r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48696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413501"/>
            <a:ext cx="11277601" cy="365125"/>
          </a:xfrm>
        </p:spPr>
        <p:txBody>
          <a:bodyPr/>
          <a:lstStyle/>
          <a:p>
            <a:r>
              <a:rPr lang="en-US" altLang="zh-CN" dirty="0"/>
              <a:t>https://hku-systems.github.io/events/iscas2021/1-2-Hongbin%20Zhang%20MLIR.pdf</a:t>
            </a:r>
          </a:p>
        </p:txBody>
      </p:sp>
      <p:sp>
        <p:nvSpPr>
          <p:cNvPr id="104869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1048695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279525"/>
            <a:ext cx="6591300" cy="485330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Hierarchical Lowering Mechanism:  </a:t>
            </a: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StableHLO (Cross-framework Protocol Layer) --&gt; HLO (High-Level Optimizer Internal Representation) --&gt; LLVM IR --&gt;  low-level machine code.</a:t>
            </a:r>
          </a:p>
          <a:p>
            <a:pPr>
              <a:lnSpc>
                <a:spcPct val="11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Hardware-Independent High-Level Graph Optimization:  </a:t>
            </a: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Performing algebraic simplification (Algebraic Simplifier, e.g., division to reciprocal multiplication), dead code elimination (CSE)  etc..</a:t>
            </a:r>
          </a:p>
          <a:p>
            <a:pPr>
              <a:lnSpc>
                <a:spcPct val="11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HloRematerialization: </a:t>
            </a: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Trading compute time for GPU memory space, proactively discarding inexpensive intermediate tensors and recomputing when needed, reducing peak GPU memory consumption for large models.</a:t>
            </a:r>
            <a:endParaRPr lang="zh-CN" altLang="en-US">
              <a:ea typeface="微软雅黑" panose="020B0503020204020204" charset="-122"/>
            </a:endParaRPr>
          </a:p>
        </p:txBody>
      </p:sp>
      <p:pic>
        <p:nvPicPr>
          <p:cNvPr id="2097159" name="图片 6" descr="/Users/jieran/Library/Containers/com.kingsoft.wpsoffice.mac/Data/tmp/photoeditapp/20260223100401/temp.pngte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578" y="2189526"/>
            <a:ext cx="4683705" cy="267157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Core Optimization Technique: Operator Fusion</a:t>
            </a:r>
            <a:endParaRPr lang="en-US" altLang="zh-CN"/>
          </a:p>
        </p:txBody>
      </p:sp>
      <p:sp>
        <p:nvSpPr>
          <p:cNvPr id="104870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https://openxla.org/xla/gpu_architecture?hl=zh-cn</a:t>
            </a:r>
          </a:p>
        </p:txBody>
      </p:sp>
      <p:sp>
        <p:nvSpPr>
          <p:cNvPr id="104870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1048699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478905" cy="485330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XLA  can merge multiple HLO  instructions and compile them into a single GPU Kernel,  reducing kernel launch overhead.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inFusion Computation, intermediate temporary tensors typically do not need to be written back to off-chipHBM.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Data flows only within the GPU  extremely fast registers or shared memory, bypassing memory access limitations.</a:t>
            </a:r>
            <a:endParaRPr lang="zh-CN" altLang="en-US">
              <a:ea typeface="微软雅黑" panose="020B0503020204020204" charset="-122"/>
            </a:endParaRPr>
          </a:p>
        </p:txBody>
      </p:sp>
      <p:pic>
        <p:nvPicPr>
          <p:cNvPr id="2097160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595" y="1210310"/>
            <a:ext cx="4500880" cy="53949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XLA Optimization Pipeline</a:t>
            </a:r>
          </a:p>
        </p:txBody>
      </p:sp>
      <p:sp>
        <p:nvSpPr>
          <p:cNvPr id="104870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0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104870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1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HLO  Fusion Analysis</a:t>
            </a:r>
          </a:p>
          <a:p>
            <a:pPr lvl="1">
              <a:lnSpc>
                <a:spcPct val="11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kLoop (Loop Fusion):  For element-wise operations with identical output shapes, chaining pure mathematical mappings per element and dispatching to parallel thread grids .</a:t>
            </a:r>
          </a:p>
          <a:p>
            <a:pPr lvl="1">
              <a:lnSpc>
                <a:spcPct val="11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kInput (Input Fusion):  Allows reduction operators that significantly reshape data (Reduction)  to pull upstream input operators for merging, mandating the reduction output as the computation endpoint .</a:t>
            </a:r>
          </a:p>
          <a:p>
            <a:pPr lvl="1">
              <a:lnSpc>
                <a:spcPct val="11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kOutput (Output Fusion):  Specifically for merging high compute-density matrix multiplication operations with subsequent operators, maximizing cache utilization .</a:t>
            </a:r>
          </a:p>
          <a:p>
            <a:pPr>
              <a:lnSpc>
                <a:spcPct val="11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Hero Op  Emitter Mechanism</a:t>
            </a:r>
          </a:p>
          <a:p>
            <a:pPr lvl="1">
              <a:lnSpc>
                <a:spcPct val="11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The compiler identifies the instruction with the greatest global performance impact and strictest scheduling requirements as the Hero Op，, which dominates the code generation strategy for the entire fused body.</a:t>
            </a:r>
          </a:p>
          <a:p>
            <a:pPr lvl="1">
              <a:lnSpc>
                <a:spcPct val="11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After emitter processing, it is converted to low-level LLVM IR, , and micro-architecture optimizations are performed based on specific hardware ISAs, including instruction pipeline scheduling and vectorization, ultimately generating executable PTX  assembly or SPIR-V  binary code .</a:t>
            </a:r>
            <a:endParaRPr lang="zh-CN" altLang="en-US"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Using XLA to Accelerate TensorFlow</a:t>
            </a:r>
            <a:endParaRPr lang="en-US" altLang="zh-CN"/>
          </a:p>
        </p:txBody>
      </p:sp>
      <p:sp>
        <p:nvSpPr>
          <p:cNvPr id="104870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XLA: TensorFlow, Compiled!, TensorFlow Dev Summit 2017.</a:t>
            </a:r>
          </a:p>
        </p:txBody>
      </p:sp>
      <p:sp>
        <p:nvSpPr>
          <p:cNvPr id="104870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2097161" name="内容占位符 7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65430" y="1381125"/>
            <a:ext cx="6638290" cy="3310255"/>
          </a:xfrm>
          <a:prstGeom prst="rect">
            <a:avLst/>
          </a:prstGeom>
        </p:spPr>
      </p:pic>
      <p:pic>
        <p:nvPicPr>
          <p:cNvPr id="2097162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185" y="1381125"/>
            <a:ext cx="5123815" cy="22910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 of optimizations using Tensorflow XLA</a:t>
            </a:r>
          </a:p>
        </p:txBody>
      </p:sp>
      <p:sp>
        <p:nvSpPr>
          <p:cNvPr id="104871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Li, Mingzhen, et al. "The deep learning compiler: A comprehensive survey." IEEE Transactions on Parallel and Distributed Systems 32.3 (2020): 708-727.</a:t>
            </a:r>
            <a:endParaRPr lang="zh-CN" altLang="en-US" dirty="0"/>
          </a:p>
        </p:txBody>
      </p:sp>
      <p:sp>
        <p:nvSpPr>
          <p:cNvPr id="104871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pic>
        <p:nvPicPr>
          <p:cNvPr id="2097163" name="内容占位符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514236" y="1407198"/>
            <a:ext cx="9296878" cy="468654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Apache TVM Overview</a:t>
            </a:r>
            <a:endParaRPr lang="zh-CN" altLang="en-US"/>
          </a:p>
        </p:txBody>
      </p:sp>
      <p:sp>
        <p:nvSpPr>
          <p:cNvPr id="104871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Chen, T., Moreau, T., Jiang, Z., Zheng, L., Yan, E., Shen, H., ... &amp; Krishnamurthy, A. (2018). {TVM}: An automated {End-to-End} optimizing compiler for deep learning. In 13th USENIX symposium on operating systems design and implementation (OSDI 18) (pp. 578-594).</a:t>
            </a:r>
          </a:p>
        </p:txBody>
      </p:sp>
      <p:sp>
        <p:nvSpPr>
          <p:cNvPr id="104871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1048717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579235" cy="485330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Addressing Full-Spectrum Hardware Fragmentation:  </a:t>
            </a:r>
          </a:p>
          <a:p>
            <a:pPr lvl="1">
              <a:lnSpc>
                <a:spcPct val="12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XLA  which targets cloud-scale clusters, TVM  is committed to bridging the gap between CPU, ARM, GPU  and various heterogeneous edge NPU  architecture barriers.</a:t>
            </a:r>
          </a:p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Write once, run anywhere: </a:t>
            </a:r>
          </a:p>
          <a:p>
            <a:pPr lvl="1">
              <a:lnSpc>
                <a:spcPct val="12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Providing a unified compiler frontend framework, achieving seamless cross-platform high-performance deployment through hardware-specialized code generation.</a:t>
            </a:r>
          </a:p>
          <a:p>
            <a:pPr>
              <a:lnSpc>
                <a:spcPct val="12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Scheduling NP -Hard Challenge:  </a:t>
            </a:r>
          </a:p>
          <a:p>
            <a:pPr lvl="1">
              <a:lnSpc>
                <a:spcPct val="12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Any tensor operation on specific hardware has nearly infinite loop unrolling and tiling strategy combinations, making it impossible to exhaustively find the optimal solution.</a:t>
            </a:r>
            <a:endParaRPr lang="zh-CN" altLang="en-US">
              <a:ea typeface="微软雅黑" panose="020B0503020204020204" charset="-122"/>
            </a:endParaRPr>
          </a:p>
        </p:txBody>
      </p:sp>
      <p:pic>
        <p:nvPicPr>
          <p:cNvPr id="2097164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860" y="1430020"/>
            <a:ext cx="4539615" cy="46437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TVM Multi-level IR  Architecture System</a:t>
            </a:r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4872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2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048721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433185" cy="4853305"/>
          </a:xfrm>
        </p:spPr>
        <p:txBody>
          <a:bodyPr>
            <a:noAutofit/>
          </a:bodyPr>
          <a:lstStyle/>
          <a:p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High-level  Relay IR: </a:t>
            </a:r>
          </a:p>
          <a:p>
            <a:pPr lvl="1"/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Incorporating functional programming paradigms, managing coarse-grained dead code elimination, high-order operator fusion, and complex control flow graph optimization.</a:t>
            </a:r>
          </a:p>
          <a:p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Low-level  TIR (Tensor IR): </a:t>
            </a:r>
          </a:p>
          <a:p>
            <a:pPr lvl="1"/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Abandoning graph-layer concepts, translating operations into microscopic low-level nested loop structures, with fine-grained register and instruction mapping management .</a:t>
            </a:r>
          </a:p>
          <a:p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TVM Unity and Relax Architecture:  </a:t>
            </a:r>
          </a:p>
          <a:p>
            <a:pPr lvl="1"/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The next-generation system introduces symbolic shapes and allows high-level graph derivation and low-level loop primitives to coexist in the same module, enabling cross-level joint optimization.</a:t>
            </a:r>
            <a:endParaRPr lang="zh-CN" altLang="en-US">
              <a:ea typeface="微软雅黑" panose="020B0503020204020204" charset="-122"/>
            </a:endParaRPr>
          </a:p>
        </p:txBody>
      </p:sp>
      <p:pic>
        <p:nvPicPr>
          <p:cNvPr id="2097165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6957367" y="1323975"/>
            <a:ext cx="5079058" cy="346288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TVM  Automated Scheduling</a:t>
            </a:r>
          </a:p>
        </p:txBody>
      </p:sp>
      <p:sp>
        <p:nvSpPr>
          <p:cNvPr id="10487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Zheng, Lianmin, et al. "Ansor: Generating {High-Performance} tensor programs for deep learning." 14th USENIX symposium on operating systems design and implementation (OSDI 20). 2020.</a:t>
            </a:r>
          </a:p>
        </p:txBody>
      </p:sp>
      <p:sp>
        <p:nvSpPr>
          <p:cNvPr id="10487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1048725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AutoTVM: </a:t>
            </a:r>
          </a:p>
          <a:p>
            <a:pPr lvl="1">
              <a:lnSpc>
                <a:spcPct val="8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Highly dependent on top hardware experts hand-writing scheduling templates; when encountering undefined new operators, development cost is very high.</a:t>
            </a:r>
          </a:p>
          <a:p>
            <a:pPr>
              <a:lnSpc>
                <a:spcPct val="80000"/>
              </a:lnSpc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Ansor (AutoScheduler) Architecture:  </a:t>
            </a:r>
          </a:p>
          <a:p>
            <a:pPr lvl="1">
              <a:lnSpc>
                <a:spcPct val="8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Abandoning manual templates, automatically generating operator loop architecture frameworks from fundamental mathematical expression derivation rules.</a:t>
            </a:r>
            <a:endParaRPr lang="zh-CN" altLang="en-US">
              <a:ea typeface="微软雅黑" panose="020B0503020204020204" charset="-122"/>
            </a:endParaRPr>
          </a:p>
        </p:txBody>
      </p:sp>
      <p:pic>
        <p:nvPicPr>
          <p:cNvPr id="209716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416" y="3287171"/>
            <a:ext cx="8070535" cy="30692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Ansor Hierarchical Search Space Construction</a:t>
            </a:r>
            <a:endParaRPr lang="zh-CN" altLang="en-US"/>
          </a:p>
        </p:txBody>
      </p:sp>
      <p:sp>
        <p:nvSpPr>
          <p:cNvPr id="104873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Zheng, Lianmin, et al. "Ansor: Generating {High-Performance} tensor programs for deep learning." 14th USENIX symposium on operating systems design and implementation (OSDI 20). 2020.</a:t>
            </a:r>
            <a:endParaRPr lang="zh-CN" altLang="en-US" dirty="0"/>
          </a:p>
        </p:txBody>
      </p:sp>
      <p:sp>
        <p:nvSpPr>
          <p:cNvPr id="104873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1048729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076950" cy="4853305"/>
          </a:xfrm>
        </p:spPr>
        <p:txBody>
          <a:bodyPr>
            <a:noAutofit/>
          </a:bodyPr>
          <a:lstStyle/>
          <a:p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Sketch Generation: Ansor Constructing the program's macro-level skeleton by reverse topological traversal of the computation graph, recursively applying derivation rules.</a:t>
            </a:r>
          </a:p>
          <a:p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Annotation Sampling: Building on sketches, Ansor performing random sampling in the annotation space to determine specific tile sizes, parallelization boundaries, loop unrolling limits, and other low-level configurations.</a:t>
            </a:r>
          </a:p>
          <a:p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Introducing a machine learning GBDT  cost model to rapidly predict and evaluate hardware throughput for scheduling strategies.</a:t>
            </a:r>
          </a:p>
          <a:p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Employing evolutionary search algorithms: GBDT  filters the Top-K  Scheduling candidates and dispatches them to target hardware for actual benchmarking. Measured data is then used to fine-tune the GBDT  model, progressively adapting it to the target hardware.</a:t>
            </a:r>
            <a:endParaRPr lang="zh-CN" altLang="en-US" sz="1800">
              <a:ea typeface="微软雅黑" panose="020B0503020204020204" charset="-122"/>
            </a:endParaRPr>
          </a:p>
        </p:txBody>
      </p:sp>
      <p:pic>
        <p:nvPicPr>
          <p:cNvPr id="2097167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120" y="1385570"/>
            <a:ext cx="4895850" cy="42481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Examples of generated sketches and sampled programs</a:t>
            </a:r>
          </a:p>
        </p:txBody>
      </p:sp>
      <p:sp>
        <p:nvSpPr>
          <p:cNvPr id="104873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Zheng, Lianmin, et al. "Ansor: Generating {High-Performance} tensor programs for deep learning." 14th USENIX symposium on operating systems design and implementation (OSDI 20). 2020.</a:t>
            </a:r>
            <a:endParaRPr lang="zh-CN" altLang="en-US" dirty="0"/>
          </a:p>
        </p:txBody>
      </p:sp>
      <p:sp>
        <p:nvSpPr>
          <p:cNvPr id="104873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18</a:t>
            </a:fld>
            <a:endParaRPr lang="zh-CN" altLang="en-US" dirty="0"/>
          </a:p>
        </p:txBody>
      </p:sp>
      <p:pic>
        <p:nvPicPr>
          <p:cNvPr id="2097168" name="内容占位符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13103" y="1362075"/>
            <a:ext cx="6444643" cy="485298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TorchDynamo </a:t>
            </a:r>
            <a:r>
              <a:t>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Ansel, Jason, et al. "Pytorch 2: Faster machine learning through dynamic python bytecode transformation and graph compilation." Proceedings of the 29th ACM international conference on architectural support for programming languages and operating systems, volume 2. 2024.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19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altLang="zh-CN" sz="2000"/>
              <a:t>Eager </a:t>
            </a:r>
            <a:r>
              <a:rPr lang="en-US" altLang="en-US" sz="2000"/>
              <a:t> Mode Pros and Cons: </a:t>
            </a:r>
          </a:p>
          <a:p>
            <a:pPr lvl="1"/>
            <a:r>
              <a:rPr lang="en-US" altLang="zh-CN" sz="1800"/>
              <a:t>PyTorch </a:t>
            </a:r>
            <a:r>
              <a:rPr lang="en-US" altLang="en-US" sz="1800"/>
              <a:t> </a:t>
            </a:r>
            <a:r>
              <a:rPr lang="en-US" altLang="zh-CN" sz="1800"/>
              <a:t> define-by-run </a:t>
            </a:r>
            <a:r>
              <a:rPr lang="en-US" altLang="en-US" sz="1800"/>
              <a:t> mechanism is highly flexible and well-loved by researchers</a:t>
            </a:r>
            <a:r>
              <a:rPr lang="en-US" altLang="zh-CN" sz="1800"/>
              <a:t> </a:t>
            </a:r>
            <a:r>
              <a:rPr lang="en-US" altLang="en-US" sz="1800"/>
              <a:t>. However, the framework can only see one operator at a time, making cross-operator graph-level optimization (e.g., operator fusion, memory scheduling) difficult.</a:t>
            </a:r>
          </a:p>
          <a:p>
            <a:pPr lvl="0"/>
            <a:r>
              <a:rPr lang="en-US" altLang="en-US" sz="2000"/>
              <a:t>Compromises of Previous Approaches: </a:t>
            </a:r>
            <a:endParaRPr lang="en-US" altLang="zh-CN" sz="2000"/>
          </a:p>
          <a:p>
            <a:pPr lvl="1"/>
            <a:r>
              <a:rPr lang="en-US" altLang="zh-CN" sz="1800"/>
              <a:t>TorchScript</a:t>
            </a:r>
            <a:r>
              <a:rPr lang="en-US" altLang="en-US" sz="1800"/>
              <a:t>: Attempts static parsing of</a:t>
            </a:r>
            <a:r>
              <a:rPr lang="en-US" altLang="zh-CN" sz="1800"/>
              <a:t> Python AST</a:t>
            </a:r>
            <a:r>
              <a:rPr lang="en-US" altLang="en-US" sz="1800"/>
              <a:t>, facing</a:t>
            </a:r>
            <a:r>
              <a:rPr lang="en-US" altLang="zh-CN" sz="1800"/>
              <a:t>“</a:t>
            </a:r>
            <a:r>
              <a:rPr lang="en-US" altLang="en-US" sz="1800"/>
              <a:t>all-or-nothing</a:t>
            </a:r>
            <a:r>
              <a:rPr lang="en-US" altLang="zh-CN" sz="1800"/>
              <a:t>”</a:t>
            </a:r>
            <a:r>
              <a:rPr lang="en-US" altLang="en-US" sz="1800"/>
              <a:t> dilemma, easily failing because it doesn't support complete</a:t>
            </a:r>
            <a:r>
              <a:rPr lang="en-US" altLang="zh-CN" sz="1800"/>
              <a:t> Python </a:t>
            </a:r>
            <a:r>
              <a:rPr lang="en-US" altLang="en-US" sz="1800"/>
              <a:t> semantics</a:t>
            </a:r>
            <a:r>
              <a:rPr lang="en-US" altLang="zh-CN" sz="1800"/>
              <a:t> </a:t>
            </a:r>
            <a:r>
              <a:rPr lang="en-US" altLang="en-US" sz="1800"/>
              <a:t>.</a:t>
            </a:r>
            <a:endParaRPr lang="en-US" altLang="zh-CN" sz="1800"/>
          </a:p>
          <a:p>
            <a:pPr lvl="1"/>
            <a:r>
              <a:rPr lang="en-US" altLang="zh-CN" sz="1800"/>
              <a:t>Lazy Tensors</a:t>
            </a:r>
            <a:r>
              <a:rPr lang="en-US" altLang="en-US" sz="1800"/>
              <a:t>: High runtime overhead, delaying low-level kernel launch and causing frequent recompilation</a:t>
            </a:r>
            <a:r>
              <a:rPr lang="en-US" altLang="zh-CN" sz="1800"/>
              <a:t> </a:t>
            </a:r>
            <a:r>
              <a:rPr lang="en-US" altLang="en-US" sz="1800"/>
              <a:t>.</a:t>
            </a:r>
          </a:p>
          <a:p>
            <a:pPr lvl="0"/>
            <a:r>
              <a:rPr lang="en-US" altLang="zh-CN" sz="2000"/>
              <a:t>TorchDynamo </a:t>
            </a:r>
            <a:r>
              <a:rPr lang="en-US" altLang="en-US" sz="2000"/>
              <a:t> Core Motivation: </a:t>
            </a:r>
          </a:p>
          <a:p>
            <a:pPr lvl="1"/>
            <a:r>
              <a:rPr lang="en-US" altLang="en-US" sz="1800"/>
              <a:t>As a</a:t>
            </a:r>
            <a:r>
              <a:rPr lang="en-US" altLang="zh-CN" sz="1800"/>
              <a:t> Python </a:t>
            </a:r>
            <a:r>
              <a:rPr lang="en-US" altLang="en-US" sz="1800"/>
              <a:t>-level Just-In-Time compiler, the goal is to achieve</a:t>
            </a:r>
            <a:r>
              <a:rPr lang="en-US" altLang="zh-CN" sz="1800"/>
              <a:t> Python </a:t>
            </a:r>
            <a:r>
              <a:rPr lang="en-US" altLang="en-US" sz="1800"/>
              <a:t>graph compilation without sacrificing any</a:t>
            </a:r>
            <a:r>
              <a:rPr lang="en-US" altLang="zh-CN" sz="1800"/>
              <a:t> PyTorch </a:t>
            </a:r>
            <a:r>
              <a:rPr lang="en-US" altLang="en-US" sz="1800"/>
              <a:t>flexibility</a:t>
            </a:r>
            <a:r>
              <a:rPr lang="en-US" altLang="zh-CN" sz="1800"/>
              <a:t> </a:t>
            </a:r>
            <a:r>
              <a:rPr lang="en-US" altLang="en-US" sz="1800"/>
              <a:t>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360" y="2263140"/>
            <a:ext cx="3735705" cy="29743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TorchDynamo </a:t>
            </a:r>
            <a:r>
              <a:rPr>
                <a:sym typeface="+mn-ea"/>
              </a:rPr>
              <a:t>Example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https://chips-compilers-mlsys-22.github.io/assets/slides/PyTorch%20Compilers%20(Compiler%20&amp;%20Chips%20Symposium%202022).pdf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20</a:t>
            </a:fld>
            <a:endParaRPr lang="en-US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566459" y="1323975"/>
            <a:ext cx="9192432" cy="485298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Frame Evaluation Bytecode Transformation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Ansel, Jason, et al. "Pytorch 2: Faster machine learning through dynamic python bytecode transformation and graph compilation." Proceedings of the 29th ACM international conference on architectural support for programming languages and operating systems, volume 2. 2024.</a:t>
            </a:r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21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604635" cy="485330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/>
              <a:t>PEP 523 </a:t>
            </a:r>
            <a:r>
              <a:rPr lang="en-US" altLang="en-US" sz="2000"/>
              <a:t>Extension Point: </a:t>
            </a:r>
          </a:p>
          <a:p>
            <a:pPr lvl="1">
              <a:lnSpc>
                <a:spcPct val="120000"/>
              </a:lnSpc>
            </a:pPr>
            <a:r>
              <a:rPr lang="en-US" altLang="zh-CN" sz="1800"/>
              <a:t>TorchDynamo </a:t>
            </a:r>
            <a:r>
              <a:rPr lang="en-US" altLang="en-US" sz="1800"/>
              <a:t> delves deep into</a:t>
            </a:r>
            <a:r>
              <a:rPr lang="en-US" altLang="zh-CN" sz="1800"/>
              <a:t> CPython </a:t>
            </a:r>
            <a:r>
              <a:rPr lang="en-US" altLang="en-US" sz="1800"/>
              <a:t> internals, leveraging the</a:t>
            </a:r>
            <a:r>
              <a:rPr lang="en-US" altLang="zh-CN" sz="1800"/>
              <a:t> PEP 523 </a:t>
            </a:r>
            <a:r>
              <a:rPr lang="en-US" altLang="en-US" sz="1800"/>
              <a:t>-introduced frame evaluation</a:t>
            </a:r>
            <a:r>
              <a:rPr lang="en-US" altLang="zh-CN" sz="1800"/>
              <a:t> API eval_frame </a:t>
            </a:r>
            <a:r>
              <a:rPr lang="en-US" altLang="en-US" sz="1800"/>
              <a:t>.</a:t>
            </a:r>
            <a:endParaRPr lang="en-US" altLang="zh-CN" sz="1800"/>
          </a:p>
          <a:p>
            <a:pPr>
              <a:lnSpc>
                <a:spcPct val="120000"/>
              </a:lnSpc>
            </a:pPr>
            <a:r>
              <a:rPr lang="en-US" altLang="en-US" sz="2000"/>
              <a:t>DynamicInterpretation and Rewriting: </a:t>
            </a:r>
          </a:p>
          <a:p>
            <a:pPr lvl="1">
              <a:lnSpc>
                <a:spcPct val="120000"/>
              </a:lnSpc>
            </a:pPr>
            <a:r>
              <a:rPr lang="en-US" altLang="en-US" sz="1800"/>
              <a:t>in</a:t>
            </a:r>
            <a:r>
              <a:rPr lang="en-US" altLang="zh-CN" sz="1800"/>
              <a:t> CPython </a:t>
            </a:r>
            <a:r>
              <a:rPr lang="en-US" altLang="en-US" sz="1800"/>
              <a:t> to create</a:t>
            </a:r>
            <a:r>
              <a:rPr lang="en-US" altLang="zh-CN" sz="1800"/>
              <a:t> PyFrameObject </a:t>
            </a:r>
            <a:r>
              <a:rPr lang="en-US" altLang="en-US" sz="1800"/>
              <a:t>, </a:t>
            </a:r>
            <a:r>
              <a:rPr lang="en-US" altLang="zh-CN" sz="1800"/>
              <a:t>TorchDynamo </a:t>
            </a:r>
            <a:r>
              <a:rPr lang="en-US" altLang="en-US" sz="1800"/>
              <a:t> replaces the default interpreter loop, instead performing JIT compilation on the</a:t>
            </a:r>
            <a:r>
              <a:rPr lang="en-US" altLang="zh-CN" sz="1800"/>
              <a:t> Python </a:t>
            </a:r>
            <a:r>
              <a:rPr lang="en-US" altLang="en-US" sz="1800"/>
              <a:t> bytecode about to be executed</a:t>
            </a:r>
            <a:r>
              <a:rPr lang="en-US" altLang="zh-CN" sz="1800"/>
              <a:t> JIT </a:t>
            </a:r>
            <a:r>
              <a:rPr lang="en-US" altLang="en-US" sz="1800"/>
              <a:t> compilation</a:t>
            </a:r>
            <a:r>
              <a:rPr lang="en-US" altLang="zh-CN" sz="1800"/>
              <a:t> </a:t>
            </a:r>
            <a:r>
              <a:rPr lang="en-US" altLang="en-US" sz="1800"/>
              <a:t>.</a:t>
            </a:r>
            <a:endParaRPr lang="en-US" altLang="zh-CN" sz="1800"/>
          </a:p>
          <a:p>
            <a:pPr>
              <a:lnSpc>
                <a:spcPct val="120000"/>
              </a:lnSpc>
            </a:pPr>
            <a:r>
              <a:rPr lang="en-US" altLang="zh-CN" sz="2000"/>
              <a:t>FX </a:t>
            </a:r>
            <a:r>
              <a:rPr lang="en-US" altLang="en-US" sz="2000"/>
              <a:t>Graph Extraction: </a:t>
            </a:r>
          </a:p>
          <a:p>
            <a:pPr lvl="1">
              <a:lnSpc>
                <a:spcPct val="120000"/>
              </a:lnSpc>
            </a:pPr>
            <a:r>
              <a:rPr lang="en-US" altLang="en-US" sz="1800"/>
              <a:t>By rewriting bytecode, </a:t>
            </a:r>
            <a:r>
              <a:rPr lang="en-US" altLang="zh-CN" sz="1800"/>
              <a:t> PyTorch</a:t>
            </a:r>
            <a:r>
              <a:rPr lang="en-US" altLang="en-US" sz="1800"/>
              <a:t> operation sequences are extracted as backend input (</a:t>
            </a:r>
            <a:r>
              <a:rPr lang="en-US" altLang="zh-CN" sz="1800"/>
              <a:t>FX Graph)</a:t>
            </a:r>
            <a:r>
              <a:rPr lang="en-US" altLang="en-US" sz="1800"/>
              <a:t>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520" y="1250950"/>
            <a:ext cx="4066540" cy="26371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520" y="3608070"/>
            <a:ext cx="4126865" cy="25692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Solving Dynamism Issues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22</a:t>
            </a:fld>
            <a:endParaRPr lang="en-US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post_object_image_18664416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92" y="1250950"/>
            <a:ext cx="8524875" cy="4800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2195</Words>
  <Application>Microsoft Office PowerPoint</Application>
  <PresentationFormat>宽屏</PresentationFormat>
  <Paragraphs>165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19: Overview of AI Compilers</vt:lpstr>
      <vt:lpstr>Memory Wall Crisis and Idle Compute</vt:lpstr>
      <vt:lpstr>Operator Explosion and Hand-written Kernel Crisis</vt:lpstr>
      <vt:lpstr>The Dilemma of Traditional Frameworks</vt:lpstr>
      <vt:lpstr>AI Model Development Facing Crises</vt:lpstr>
      <vt:lpstr>TensorFlow Introduction</vt:lpstr>
      <vt:lpstr>TensorFlow XLA Overview</vt:lpstr>
      <vt:lpstr>Multi-level IR  Architecture and Graph Transformation</vt:lpstr>
      <vt:lpstr>Core Optimization Technique: Operator Fusion</vt:lpstr>
      <vt:lpstr>XLA Optimization Pipeline</vt:lpstr>
      <vt:lpstr>Using XLA to Accelerate TensorFlow</vt:lpstr>
      <vt:lpstr>Example of optimizations using Tensorflow XLA</vt:lpstr>
      <vt:lpstr>Apache TVM Overview</vt:lpstr>
      <vt:lpstr>TVM Multi-level IR  Architecture System</vt:lpstr>
      <vt:lpstr>TVM  Automated Scheduling</vt:lpstr>
      <vt:lpstr>Ansor Hierarchical Search Space Construction</vt:lpstr>
      <vt:lpstr>Examples of generated sketches and sampled programs</vt:lpstr>
      <vt:lpstr>TorchDynamo Overview</vt:lpstr>
      <vt:lpstr>TorchDynamo Example</vt:lpstr>
      <vt:lpstr>Frame Evaluation Bytecode Transformation</vt:lpstr>
      <vt:lpstr>Solving Dynamism Issues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19: Overview of AI Compilers</dc:title>
  <dc:creator>王丰</dc:creator>
  <cp:lastModifiedBy>Xiang Li</cp:lastModifiedBy>
  <cp:revision>4</cp:revision>
  <dcterms:created xsi:type="dcterms:W3CDTF">2026-03-12T02:52:00Z</dcterms:created>
  <dcterms:modified xsi:type="dcterms:W3CDTF">2026-03-17T14:54:10Z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5c219163d81546ca98407b16b34f85e0_23</vt:lpwstr>
  </property>
  <property fmtid="{D5CDD505-2E9C-101B-9397-08002B2CF9AE}" pid="3" name="KSOProductBuildVer">
    <vt:lpwstr>2052-12.1.0.19302</vt:lpwstr>
  </property>
</Properties>
</file>