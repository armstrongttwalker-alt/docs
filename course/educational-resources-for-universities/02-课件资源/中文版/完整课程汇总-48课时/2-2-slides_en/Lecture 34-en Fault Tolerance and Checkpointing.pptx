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337" r:id="rId2"/>
    <p:sldId id="1928" r:id="rId3"/>
    <p:sldId id="1940" r:id="rId4"/>
    <p:sldId id="1932" r:id="rId5"/>
    <p:sldId id="1942" r:id="rId6"/>
    <p:sldId id="1941" r:id="rId7"/>
    <p:sldId id="1949" r:id="rId8"/>
    <p:sldId id="1943" r:id="rId9"/>
    <p:sldId id="1946" r:id="rId10"/>
    <p:sldId id="1933" r:id="rId11"/>
    <p:sldId id="1950" r:id="rId12"/>
    <p:sldId id="1947" r:id="rId13"/>
    <p:sldId id="1953" r:id="rId14"/>
    <p:sldId id="1945" r:id="rId15"/>
    <p:sldId id="1952" r:id="rId16"/>
    <p:sldId id="1954" r:id="rId17"/>
    <p:sldId id="1955" r:id="rId18"/>
    <p:sldId id="1956" r:id="rId19"/>
    <p:sldId id="1958" r:id="rId20"/>
    <p:sldId id="1959" r:id="rId21"/>
    <p:sldId id="1957" r:id="rId22"/>
    <p:sldId id="1934" r:id="rId23"/>
    <p:sldId id="277" r:id="rId24"/>
    <p:sldId id="279" r:id="rId25"/>
    <p:sldId id="280" r:id="rId26"/>
  </p:sldIdLst>
  <p:sldSz cx="12192000" cy="6858000"/>
  <p:notesSz cx="6858000" cy="9144000"/>
  <p:custDataLst>
    <p:tags r:id="rId2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章 嘉玺" initials="章" lastIdx="1" clrIdx="0"/>
  <p:cmAuthor id="2" name="webuser" initials="webuser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B0012"/>
    <a:srgbClr val="70AD47"/>
    <a:srgbClr val="2774AE"/>
    <a:srgbClr val="70AE47"/>
    <a:srgbClr val="549E39"/>
    <a:srgbClr val="90B085"/>
    <a:srgbClr val="2D2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15"/>
    <p:restoredTop sz="91926" autoAdjust="0"/>
  </p:normalViewPr>
  <p:slideViewPr>
    <p:cSldViewPr snapToGrid="0" snapToObjects="1">
      <p:cViewPr varScale="1">
        <p:scale>
          <a:sx n="56" d="100"/>
          <a:sy n="56" d="100"/>
        </p:scale>
        <p:origin x="896" y="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81" d="100"/>
          <a:sy n="81" d="100"/>
        </p:scale>
        <p:origin x="3384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commentAuthors" Target="commentAuthor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AD35F3-BE5B-41CC-A973-5F94E77F22B3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6126E5-09CE-4398-8EB0-4AC849D0A1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AE8E16-D6C5-3248-816C-85B3C8E8792E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44C98A-D9C5-894D-9A13-8F52E37846C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Fault tolerance and</a:t>
            </a:r>
            <a:r>
              <a:rPr lang="en-US" altLang="zh-CN">
                <a:sym typeface="+mn-ea"/>
              </a:rPr>
              <a:t> Checkpointing</a:t>
            </a:r>
            <a:r>
              <a:rPr lang="zh-CN" altLang="en-US">
                <a:sym typeface="+mn-ea"/>
              </a:rPr>
              <a:t>: fault handling in Distributed Training, with asynchronous saving of model weights.</a:t>
            </a:r>
            <a:endParaRPr lang="zh-CN" altLang="en-US"/>
          </a:p>
          <a:p>
            <a:r>
              <a:rPr lang="en-US" altLang="zh-CN">
                <a:sym typeface="+mn-ea"/>
              </a:rPr>
              <a:t>Efficient Training of Large Language Models on Distributed Infrastructures: A Survey</a:t>
            </a:r>
            <a:endParaRPr lang="en-US" altLang="zh-CN"/>
          </a:p>
          <a:p>
            <a:pPr lvl="1"/>
            <a:r>
              <a:rPr lang="en-US" altLang="zh-CN">
                <a:sym typeface="+mn-ea"/>
              </a:rPr>
              <a:t>https://arxiv.org/pdf/2407.20018   Chapter 8</a:t>
            </a:r>
            <a:endParaRPr lang="en-US" altLang="zh-CN"/>
          </a:p>
          <a:p>
            <a:pPr lvl="0"/>
            <a:r>
              <a:rPr lang="zh-CN" altLang="en-US">
                <a:sym typeface="+mn-ea"/>
              </a:rPr>
              <a:t>Checkpoint and Fault tolerance mechanisms</a:t>
            </a:r>
            <a:endParaRPr lang="zh-CN" altLang="en-US"/>
          </a:p>
          <a:p>
            <a:pPr lvl="1"/>
            <a:r>
              <a:rPr lang="en-US" altLang="zh-CN">
                <a:sym typeface="+mn-ea"/>
              </a:rPr>
              <a:t>https://apxml.com/zh/courses/mlops-for-large-models-llmops/chapter-3-llm-training-finetuning-ops/checkpointing-fault-tolerance</a:t>
            </a:r>
            <a:endParaRPr lang="en-US" altLang="zh-CN"/>
          </a:p>
          <a:p>
            <a:pPr lvl="1"/>
            <a:r>
              <a:rPr lang="en-US" altLang="zh-CN">
                <a:sym typeface="+mn-ea"/>
              </a:rPr>
              <a:t>https://apxml.com/zh/courses/how-to-build-a-large-language-model/chapter-19-checkpointing-fault-tolerance</a:t>
            </a:r>
            <a:endParaRPr lang="en-US" altLang="zh-CN"/>
          </a:p>
          <a:p>
            <a:pPr lvl="0"/>
            <a:r>
              <a:rPr lang="en-US" altLang="zh-CN">
                <a:sym typeface="+mn-ea"/>
              </a:rPr>
              <a:t>Megatron-LM</a:t>
            </a:r>
            <a:endParaRPr lang="en-US" altLang="zh-CN"/>
          </a:p>
          <a:p>
            <a:pPr lvl="1"/>
            <a:r>
              <a:rPr lang="en-US" altLang="zh-CN">
                <a:sym typeface="+mn-ea"/>
              </a:rPr>
              <a:t>https://github.com/NVIDIA/Megatron-LM</a:t>
            </a:r>
            <a:endParaRPr lang="en-US" altLang="zh-CN"/>
          </a:p>
          <a:p>
            <a:pPr lvl="1"/>
            <a:r>
              <a:rPr lang="en-US" altLang="zh-CN">
                <a:sym typeface="+mn-ea"/>
              </a:rPr>
              <a:t>https://developer.nvidia.com/megatron-core</a:t>
            </a:r>
            <a:endParaRPr lang="en-US" altLang="zh-CN"/>
          </a:p>
          <a:p>
            <a:pPr lvl="0"/>
            <a:r>
              <a:rPr lang="en-US" altLang="zh-CN">
                <a:sym typeface="+mn-ea"/>
              </a:rPr>
              <a:t>Robust LLM Training Infrastructure at ByteDance [SOSP’25]</a:t>
            </a:r>
            <a:endParaRPr lang="en-US" altLang="zh-CN"/>
          </a:p>
          <a:p>
            <a:pPr lvl="1"/>
            <a:r>
              <a:rPr lang="en-US" altLang="zh-CN">
                <a:sym typeface="+mn-ea"/>
              </a:rPr>
              <a:t>https://dl.acm.org/doi/10.1145/3731569.3764838</a:t>
            </a:r>
            <a:endParaRPr lang="en-US" altLang="zh-CN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data src: </a:t>
            </a:r>
          </a:p>
          <a:p>
            <a:r>
              <a:rPr lang="en-US" altLang="zh-CN"/>
              <a:t>https://nebius.com/blog/posts/how-we-build-reliable-clusters</a:t>
            </a:r>
          </a:p>
          <a:p>
            <a:r>
              <a:rPr lang="en-US" altLang="zh-CN"/>
              <a:t>https://arxiv.org/abs/2512.13488</a:t>
            </a:r>
          </a:p>
          <a:p>
            <a:r>
              <a:rPr lang="en-US" altLang="zh-CN"/>
              <a:t>https://www.datacenterdynamics.com/en/news/meta-report-details-hundreds-of-gpu-and-hbm3-related-interruptions-to-llama-3-training-run/</a:t>
            </a:r>
            <a:br>
              <a:rPr lang="en-US" altLang="zh-CN"/>
            </a:br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https://apxml.com/zh/courses/mlops-for-large-models-llmops/chapter-3-llm-training-finetuning-ops/checkpointing-fault-tolerance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https://www.vastdata.com/blog/a-checkpoint-on-checkpoints-in-llms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Phase 1: real-time self-checks and rapid response</a:t>
            </a:r>
            <a:r>
              <a:rPr lang="en-US" altLang="zh-CN"/>
              <a:t> (Proactive Real-time Checks)</a:t>
            </a:r>
          </a:p>
          <a:p>
            <a:r>
              <a:rPr lang="zh-CN" altLang="en-US"/>
              <a:t>Step</a:t>
            </a:r>
            <a:r>
              <a:rPr lang="en-US" altLang="zh-CN"/>
              <a:t> </a:t>
            </a:r>
            <a:r>
              <a:rPr lang="en-US" altLang="en-US"/>
              <a:t>①</a:t>
            </a:r>
            <a:r>
              <a:rPr lang="en-US" altLang="zh-CN"/>
              <a:t> </a:t>
            </a:r>
            <a:r>
              <a:rPr lang="zh-CN" altLang="en-US"/>
              <a:t>: Detection &amp; Eviction</a:t>
            </a:r>
            <a:r>
              <a:rPr lang="en-US" altLang="zh-CN"/>
              <a:t> (Detection &amp; Eviction)</a:t>
            </a:r>
          </a:p>
          <a:p>
            <a:r>
              <a:rPr lang="zh-CN" altLang="en-US"/>
              <a:t>The monitor performs real-time checks on hardware (</a:t>
            </a:r>
            <a:r>
              <a:rPr lang="en-US" altLang="zh-CN"/>
              <a:t> GPU</a:t>
            </a:r>
            <a:r>
              <a:rPr lang="zh-CN" altLang="en-US"/>
              <a:t>, network cards, kernel events). Once a confirmed hardware failure is detected (e.g., </a:t>
            </a:r>
            <a:r>
              <a:rPr lang="en-US" altLang="zh-CN"/>
              <a:t> GPU </a:t>
            </a:r>
            <a:r>
              <a:rPr lang="zh-CN" altLang="en-US"/>
              <a:t>damage), the system immediately shuts down and evicts the faulty machine.</a:t>
            </a:r>
          </a:p>
          <a:p>
            <a:endParaRPr lang="en-US" altLang="zh-CN"/>
          </a:p>
          <a:p>
            <a:r>
              <a:rPr lang="zh-CN" altLang="en-US"/>
              <a:t>Step</a:t>
            </a:r>
            <a:r>
              <a:rPr lang="en-US" altLang="zh-CN"/>
              <a:t> </a:t>
            </a:r>
            <a:r>
              <a:rPr lang="en-US" altLang="en-US"/>
              <a:t>②</a:t>
            </a:r>
            <a:r>
              <a:rPr lang="en-US" altLang="zh-CN"/>
              <a:t> </a:t>
            </a:r>
            <a:r>
              <a:rPr lang="zh-CN" altLang="en-US"/>
              <a:t>: Code rollback</a:t>
            </a:r>
            <a:r>
              <a:rPr lang="en-US" altLang="zh-CN"/>
              <a:t> (Code Rollback)</a:t>
            </a:r>
          </a:p>
          <a:p>
            <a:r>
              <a:rPr lang="zh-CN" altLang="en-US"/>
              <a:t>If a clear user-space error is detected during runtime (e.g., </a:t>
            </a:r>
            <a:r>
              <a:rPr lang="en-US" altLang="zh-CN"/>
              <a:t> Python </a:t>
            </a:r>
            <a:r>
              <a:rPr lang="zh-CN" altLang="en-US"/>
              <a:t> </a:t>
            </a:r>
            <a:r>
              <a:rPr lang="en-US" altLang="zh-CN"/>
              <a:t> TypeError </a:t>
            </a:r>
            <a:r>
              <a:rPr lang="zh-CN" altLang="en-US"/>
              <a:t>or</a:t>
            </a:r>
            <a:r>
              <a:rPr lang="en-US" altLang="zh-CN"/>
              <a:t> IndexError</a:t>
            </a:r>
            <a:r>
              <a:rPr lang="zh-CN" altLang="en-US"/>
              <a:t> ), the system automatically triggers Code rollback and undoes the most recent updates.</a:t>
            </a:r>
          </a:p>
          <a:p>
            <a:endParaRPr lang="en-US" altLang="zh-CN"/>
          </a:p>
          <a:p>
            <a:r>
              <a:rPr lang="zh-CN" altLang="en-US"/>
              <a:t>Step</a:t>
            </a:r>
            <a:r>
              <a:rPr lang="en-US" altLang="zh-CN"/>
              <a:t> </a:t>
            </a:r>
            <a:r>
              <a:rPr lang="en-US" altLang="en-US"/>
              <a:t>③</a:t>
            </a:r>
            <a:r>
              <a:rPr lang="en-US" altLang="zh-CN"/>
              <a:t> </a:t>
            </a:r>
            <a:r>
              <a:rPr lang="zh-CN" altLang="en-US"/>
              <a:t>: Suspend for diagnostics</a:t>
            </a:r>
            <a:r>
              <a:rPr lang="en-US" altLang="zh-CN"/>
              <a:t> (Suspend for Diagnostics)</a:t>
            </a:r>
          </a:p>
          <a:p>
            <a:r>
              <a:rPr lang="zh-CN" altLang="en-US"/>
              <a:t>If abnormal metrics occur (e.g.,</a:t>
            </a:r>
            <a:r>
              <a:rPr lang="en-US" altLang="zh-CN"/>
              <a:t> Loss </a:t>
            </a:r>
            <a:r>
              <a:rPr lang="zh-CN" altLang="en-US"/>
              <a:t>becomes</a:t>
            </a:r>
            <a:r>
              <a:rPr lang="en-US" altLang="zh-CN"/>
              <a:t> NaN</a:t>
            </a:r>
            <a:r>
              <a:rPr lang="zh-CN" altLang="en-US"/>
              <a:t> ) or training crashes for unknown reasons, the system suspends training and enters in-depth</a:t>
            </a:r>
            <a:r>
              <a:rPr lang="en-US" altLang="zh-CN"/>
              <a:t> “</a:t>
            </a:r>
            <a:r>
              <a:rPr lang="zh-CN" altLang="en-US"/>
              <a:t> Downtime diagnostics</a:t>
            </a:r>
            <a:r>
              <a:rPr lang="en-US" altLang="zh-CN"/>
              <a:t> ”</a:t>
            </a:r>
            <a:r>
              <a:rPr lang="zh-CN" altLang="en-US"/>
              <a:t>.</a:t>
            </a:r>
          </a:p>
          <a:p>
            <a:endParaRPr lang="en-US" altLang="zh-CN"/>
          </a:p>
          <a:p>
            <a:r>
              <a:rPr lang="zh-CN" altLang="en-US"/>
              <a:t>Phase 2: Tiered downtime diagnostics</a:t>
            </a:r>
            <a:r>
              <a:rPr lang="en-US" altLang="zh-CN"/>
              <a:t> (Hierarchical Downtime Diagnostics)</a:t>
            </a:r>
          </a:p>
          <a:p>
            <a:r>
              <a:rPr lang="zh-CN" altLang="en-US"/>
              <a:t>Step</a:t>
            </a:r>
            <a:r>
              <a:rPr lang="en-US" altLang="zh-CN"/>
              <a:t> </a:t>
            </a:r>
            <a:r>
              <a:rPr lang="en-US" altLang="en-US"/>
              <a:t>④</a:t>
            </a:r>
            <a:r>
              <a:rPr lang="en-US" altLang="zh-CN"/>
              <a:t> </a:t>
            </a:r>
            <a:r>
              <a:rPr lang="zh-CN" altLang="en-US"/>
              <a:t>: Locate and evict</a:t>
            </a:r>
            <a:r>
              <a:rPr lang="en-US" altLang="zh-CN"/>
              <a:t> (Locate &amp; Evict)</a:t>
            </a:r>
          </a:p>
          <a:p>
            <a:r>
              <a:rPr lang="zh-CN" altLang="en-US"/>
              <a:t>The Diagnostic tool pinpoints the root cause by running targeted tests such as</a:t>
            </a:r>
            <a:r>
              <a:rPr lang="en-US" altLang="zh-CN"/>
              <a:t> NCCL</a:t>
            </a:r>
            <a:r>
              <a:rPr lang="zh-CN" altLang="en-US"/>
              <a:t>. After confirming the Faulty point, remove it and lock the</a:t>
            </a:r>
            <a:r>
              <a:rPr lang="en-US" altLang="zh-CN"/>
              <a:t> IP</a:t>
            </a:r>
            <a:r>
              <a:rPr lang="zh-CN" altLang="en-US"/>
              <a:t>, then bring the Warm standby machine online to take over.</a:t>
            </a:r>
          </a:p>
          <a:p>
            <a:endParaRPr lang="en-US" altLang="zh-CN"/>
          </a:p>
          <a:p>
            <a:r>
              <a:rPr lang="zh-CN" altLang="en-US"/>
              <a:t>Step</a:t>
            </a:r>
            <a:r>
              <a:rPr lang="en-US" altLang="zh-CN"/>
              <a:t> </a:t>
            </a:r>
            <a:r>
              <a:rPr lang="en-US" altLang="en-US"/>
              <a:t>⑤</a:t>
            </a:r>
            <a:r>
              <a:rPr lang="en-US" altLang="zh-CN"/>
              <a:t> </a:t>
            </a:r>
            <a:r>
              <a:rPr lang="zh-CN" altLang="en-US"/>
              <a:t>: Reattempt</a:t>
            </a:r>
            <a:r>
              <a:rPr lang="en-US" altLang="zh-CN"/>
              <a:t> (Reattempt)</a:t>
            </a:r>
          </a:p>
          <a:p>
            <a:r>
              <a:rPr lang="zh-CN" altLang="en-US"/>
              <a:t>If all tests pass and the system determines the fault is transient jitter (e.g., a temporary network fluctuation), training is restarted in place.</a:t>
            </a:r>
          </a:p>
          <a:p>
            <a:endParaRPr lang="en-US" altLang="zh-CN"/>
          </a:p>
          <a:p>
            <a:r>
              <a:rPr lang="zh-CN" altLang="en-US"/>
              <a:t>Step</a:t>
            </a:r>
            <a:r>
              <a:rPr lang="en-US" altLang="zh-CN"/>
              <a:t> </a:t>
            </a:r>
            <a:r>
              <a:rPr lang="en-US" altLang="en-US"/>
              <a:t>⑥</a:t>
            </a:r>
            <a:r>
              <a:rPr lang="en-US" altLang="zh-CN"/>
              <a:t> </a:t>
            </a:r>
            <a:r>
              <a:rPr lang="zh-CN" altLang="en-US"/>
              <a:t>: Restart failure reporting</a:t>
            </a:r>
            <a:r>
              <a:rPr lang="en-US" altLang="zh-CN"/>
              <a:t> (Retry Failure)</a:t>
            </a:r>
          </a:p>
          <a:p>
            <a:r>
              <a:rPr lang="zh-CN" altLang="en-US"/>
              <a:t>If the issue persists after the in-place restart, the system will suspect the most recent Code changes.</a:t>
            </a:r>
          </a:p>
          <a:p>
            <a:endParaRPr lang="en-US" altLang="zh-CN"/>
          </a:p>
          <a:p>
            <a:r>
              <a:rPr lang="zh-CN" altLang="en-US"/>
              <a:t>Step</a:t>
            </a:r>
            <a:r>
              <a:rPr lang="en-US" altLang="zh-CN"/>
              <a:t> </a:t>
            </a:r>
            <a:r>
              <a:rPr lang="en-US" altLang="en-US"/>
              <a:t>⑦</a:t>
            </a:r>
            <a:r>
              <a:rPr lang="en-US" altLang="zh-CN"/>
              <a:t> </a:t>
            </a:r>
            <a:r>
              <a:rPr lang="zh-CN" altLang="en-US"/>
              <a:t>: Still fails after eviction</a:t>
            </a:r>
            <a:r>
              <a:rPr lang="en-US" altLang="zh-CN"/>
              <a:t> (Eviction Failure)</a:t>
            </a:r>
          </a:p>
          <a:p>
            <a:r>
              <a:rPr lang="zh-CN" altLang="en-US"/>
              <a:t>Even after the machine is evicted, if errors still occur after the restart, this further confirms the issue is with the user code logic or environment configuration, rather than a purely hardware fault.</a:t>
            </a:r>
          </a:p>
          <a:p>
            <a:endParaRPr lang="en-US" altLang="zh-CN"/>
          </a:p>
          <a:p>
            <a:r>
              <a:rPr lang="zh-CN" altLang="en-US"/>
              <a:t>Phase 3: Complex fault isolation</a:t>
            </a:r>
            <a:r>
              <a:rPr lang="en-US" altLang="zh-CN"/>
              <a:t> (Advanced Localization)</a:t>
            </a:r>
          </a:p>
          <a:p>
            <a:r>
              <a:rPr lang="zh-CN" altLang="en-US"/>
              <a:t>Step</a:t>
            </a:r>
            <a:r>
              <a:rPr lang="en-US" altLang="zh-CN"/>
              <a:t> </a:t>
            </a:r>
            <a:r>
              <a:rPr lang="en-US" altLang="en-US"/>
              <a:t>⑧</a:t>
            </a:r>
            <a:r>
              <a:rPr lang="en-US" altLang="zh-CN"/>
              <a:t> </a:t>
            </a:r>
            <a:r>
              <a:rPr lang="zh-CN" altLang="en-US"/>
              <a:t>: Two-phase replay</a:t>
            </a:r>
            <a:r>
              <a:rPr lang="en-US" altLang="zh-CN"/>
              <a:t> (Dual-Phase Replay)</a:t>
            </a:r>
          </a:p>
          <a:p>
            <a:r>
              <a:rPr lang="zh-CN" altLang="en-US"/>
              <a:t>To address the most hard-to-detect faults (such as Silent data corruption</a:t>
            </a:r>
            <a:r>
              <a:rPr lang="en-US" altLang="zh-CN"/>
              <a:t> SDC</a:t>
            </a:r>
            <a:r>
              <a:rPr lang="zh-CN" altLang="en-US"/>
              <a:t> ), the system performs replay tests by splitting machines into horizontal and vertical groups while keeping variables controlled.</a:t>
            </a:r>
          </a:p>
          <a:p>
            <a:endParaRPr lang="en-US" altLang="zh-CN"/>
          </a:p>
          <a:p>
            <a:r>
              <a:rPr lang="zh-CN" altLang="en-US"/>
              <a:t>Step</a:t>
            </a:r>
            <a:r>
              <a:rPr lang="en-US" altLang="zh-CN"/>
              <a:t> </a:t>
            </a:r>
            <a:r>
              <a:rPr lang="en-US" altLang="en-US"/>
              <a:t>⑨</a:t>
            </a:r>
            <a:r>
              <a:rPr lang="en-US" altLang="zh-CN"/>
              <a:t> </a:t>
            </a:r>
            <a:r>
              <a:rPr lang="zh-CN" altLang="en-US"/>
              <a:t>: Precise exclusion</a:t>
            </a:r>
            <a:r>
              <a:rPr lang="en-US" altLang="zh-CN"/>
              <a:t> (Intersection Eviction)</a:t>
            </a:r>
          </a:p>
          <a:p>
            <a:r>
              <a:rPr lang="zh-CN" altLang="en-US"/>
              <a:t>By comparing the overlap in error reports between the horizontal and vertical tests, it precisely identifies a single</a:t>
            </a:r>
            <a:r>
              <a:rPr lang="en-US" altLang="zh-CN"/>
              <a:t> SDC </a:t>
            </a:r>
            <a:r>
              <a:rPr lang="zh-CN" altLang="en-US"/>
              <a:t>faulty machine and excludes it, ensuring the training environment is fully restored to a healthy state.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Phase 1: real-time self-checks and rapid response</a:t>
            </a:r>
            <a:r>
              <a:rPr lang="en-US" altLang="zh-CN"/>
              <a:t> (Proactive Real-time Checks)</a:t>
            </a:r>
          </a:p>
          <a:p>
            <a:r>
              <a:rPr lang="zh-CN" altLang="en-US"/>
              <a:t>Step</a:t>
            </a:r>
            <a:r>
              <a:rPr lang="en-US" altLang="zh-CN"/>
              <a:t> </a:t>
            </a:r>
            <a:r>
              <a:rPr lang="en-US" altLang="en-US"/>
              <a:t>①</a:t>
            </a:r>
            <a:r>
              <a:rPr lang="en-US" altLang="zh-CN"/>
              <a:t> </a:t>
            </a:r>
            <a:r>
              <a:rPr lang="zh-CN" altLang="en-US"/>
              <a:t>: Detection &amp; Eviction</a:t>
            </a:r>
            <a:r>
              <a:rPr lang="en-US" altLang="zh-CN"/>
              <a:t> (Detection &amp; Eviction)</a:t>
            </a:r>
          </a:p>
          <a:p>
            <a:r>
              <a:rPr lang="zh-CN" altLang="en-US"/>
              <a:t>The monitor performs real-time checks on hardware (</a:t>
            </a:r>
            <a:r>
              <a:rPr lang="en-US" altLang="zh-CN"/>
              <a:t> GPU</a:t>
            </a:r>
            <a:r>
              <a:rPr lang="zh-CN" altLang="en-US"/>
              <a:t>, network cards, kernel events). Once a confirmed hardware failure is detected (e.g., </a:t>
            </a:r>
            <a:r>
              <a:rPr lang="en-US" altLang="zh-CN"/>
              <a:t> GPU </a:t>
            </a:r>
            <a:r>
              <a:rPr lang="zh-CN" altLang="en-US"/>
              <a:t>damage), the system immediately shuts down and evicts the faulty machine.</a:t>
            </a:r>
          </a:p>
          <a:p>
            <a:endParaRPr lang="en-US" altLang="zh-CN"/>
          </a:p>
          <a:p>
            <a:r>
              <a:rPr lang="zh-CN" altLang="en-US"/>
              <a:t>Step</a:t>
            </a:r>
            <a:r>
              <a:rPr lang="en-US" altLang="zh-CN"/>
              <a:t> </a:t>
            </a:r>
            <a:r>
              <a:rPr lang="en-US" altLang="en-US"/>
              <a:t>②</a:t>
            </a:r>
            <a:r>
              <a:rPr lang="en-US" altLang="zh-CN"/>
              <a:t> </a:t>
            </a:r>
            <a:r>
              <a:rPr lang="zh-CN" altLang="en-US"/>
              <a:t>: Code rollback</a:t>
            </a:r>
            <a:r>
              <a:rPr lang="en-US" altLang="zh-CN"/>
              <a:t> (Code Rollback)</a:t>
            </a:r>
          </a:p>
          <a:p>
            <a:r>
              <a:rPr lang="zh-CN" altLang="en-US"/>
              <a:t>If a clear user-space error is detected during runtime (e.g., </a:t>
            </a:r>
            <a:r>
              <a:rPr lang="en-US" altLang="zh-CN"/>
              <a:t> Python </a:t>
            </a:r>
            <a:r>
              <a:rPr lang="zh-CN" altLang="en-US"/>
              <a:t> </a:t>
            </a:r>
            <a:r>
              <a:rPr lang="en-US" altLang="zh-CN"/>
              <a:t> TypeError </a:t>
            </a:r>
            <a:r>
              <a:rPr lang="zh-CN" altLang="en-US"/>
              <a:t>or</a:t>
            </a:r>
            <a:r>
              <a:rPr lang="en-US" altLang="zh-CN"/>
              <a:t> IndexError</a:t>
            </a:r>
            <a:r>
              <a:rPr lang="zh-CN" altLang="en-US"/>
              <a:t> ), the system automatically triggers Code rollback and undoes the most recent updates.</a:t>
            </a:r>
          </a:p>
          <a:p>
            <a:endParaRPr lang="en-US" altLang="zh-CN"/>
          </a:p>
          <a:p>
            <a:r>
              <a:rPr lang="zh-CN" altLang="en-US"/>
              <a:t>Step</a:t>
            </a:r>
            <a:r>
              <a:rPr lang="en-US" altLang="zh-CN"/>
              <a:t> </a:t>
            </a:r>
            <a:r>
              <a:rPr lang="en-US" altLang="en-US"/>
              <a:t>③</a:t>
            </a:r>
            <a:r>
              <a:rPr lang="en-US" altLang="zh-CN"/>
              <a:t> </a:t>
            </a:r>
            <a:r>
              <a:rPr lang="zh-CN" altLang="en-US"/>
              <a:t>: Suspend for diagnostics</a:t>
            </a:r>
            <a:r>
              <a:rPr lang="en-US" altLang="zh-CN"/>
              <a:t> (Suspend for Diagnostics)</a:t>
            </a:r>
          </a:p>
          <a:p>
            <a:r>
              <a:rPr lang="zh-CN" altLang="en-US"/>
              <a:t>If abnormal metrics occur (e.g.,</a:t>
            </a:r>
            <a:r>
              <a:rPr lang="en-US" altLang="zh-CN"/>
              <a:t> Loss </a:t>
            </a:r>
            <a:r>
              <a:rPr lang="zh-CN" altLang="en-US"/>
              <a:t>becomes</a:t>
            </a:r>
            <a:r>
              <a:rPr lang="en-US" altLang="zh-CN"/>
              <a:t> NaN</a:t>
            </a:r>
            <a:r>
              <a:rPr lang="zh-CN" altLang="en-US"/>
              <a:t> ) or training crashes for unknown reasons, the system suspends training and enters in-depth</a:t>
            </a:r>
            <a:r>
              <a:rPr lang="en-US" altLang="zh-CN"/>
              <a:t> “</a:t>
            </a:r>
            <a:r>
              <a:rPr lang="zh-CN" altLang="en-US"/>
              <a:t> Downtime diagnostics</a:t>
            </a:r>
            <a:r>
              <a:rPr lang="en-US" altLang="zh-CN"/>
              <a:t> ”</a:t>
            </a:r>
            <a:r>
              <a:rPr lang="zh-CN" altLang="en-US"/>
              <a:t>.</a:t>
            </a:r>
          </a:p>
          <a:p>
            <a:endParaRPr lang="en-US" altLang="zh-CN"/>
          </a:p>
          <a:p>
            <a:r>
              <a:rPr lang="zh-CN" altLang="en-US"/>
              <a:t>Phase 2: Tiered downtime diagnostics</a:t>
            </a:r>
            <a:r>
              <a:rPr lang="en-US" altLang="zh-CN"/>
              <a:t> (Hierarchical Downtime Diagnostics)</a:t>
            </a:r>
          </a:p>
          <a:p>
            <a:r>
              <a:rPr lang="zh-CN" altLang="en-US"/>
              <a:t>Step</a:t>
            </a:r>
            <a:r>
              <a:rPr lang="en-US" altLang="zh-CN"/>
              <a:t> </a:t>
            </a:r>
            <a:r>
              <a:rPr lang="en-US" altLang="en-US"/>
              <a:t>④</a:t>
            </a:r>
            <a:r>
              <a:rPr lang="en-US" altLang="zh-CN"/>
              <a:t> </a:t>
            </a:r>
            <a:r>
              <a:rPr lang="zh-CN" altLang="en-US"/>
              <a:t>: Locate and evict</a:t>
            </a:r>
            <a:r>
              <a:rPr lang="en-US" altLang="zh-CN"/>
              <a:t> (Locate &amp; Evict)</a:t>
            </a:r>
          </a:p>
          <a:p>
            <a:r>
              <a:rPr lang="zh-CN" altLang="en-US"/>
              <a:t>The Diagnostic tool pinpoints the root cause by running targeted tests such as</a:t>
            </a:r>
            <a:r>
              <a:rPr lang="en-US" altLang="zh-CN"/>
              <a:t> NCCL</a:t>
            </a:r>
            <a:r>
              <a:rPr lang="zh-CN" altLang="en-US"/>
              <a:t>. After confirming the Faulty point, remove it and lock the</a:t>
            </a:r>
            <a:r>
              <a:rPr lang="en-US" altLang="zh-CN"/>
              <a:t> IP</a:t>
            </a:r>
            <a:r>
              <a:rPr lang="zh-CN" altLang="en-US"/>
              <a:t>, then bring the Warm standby machine online to take over.</a:t>
            </a:r>
          </a:p>
          <a:p>
            <a:endParaRPr lang="en-US" altLang="zh-CN"/>
          </a:p>
          <a:p>
            <a:r>
              <a:rPr lang="zh-CN" altLang="en-US"/>
              <a:t>Step</a:t>
            </a:r>
            <a:r>
              <a:rPr lang="en-US" altLang="zh-CN"/>
              <a:t> </a:t>
            </a:r>
            <a:r>
              <a:rPr lang="en-US" altLang="en-US"/>
              <a:t>⑤</a:t>
            </a:r>
            <a:r>
              <a:rPr lang="en-US" altLang="zh-CN"/>
              <a:t> </a:t>
            </a:r>
            <a:r>
              <a:rPr lang="zh-CN" altLang="en-US"/>
              <a:t>: Reattempt</a:t>
            </a:r>
            <a:r>
              <a:rPr lang="en-US" altLang="zh-CN"/>
              <a:t> (Reattempt)</a:t>
            </a:r>
          </a:p>
          <a:p>
            <a:r>
              <a:rPr lang="zh-CN" altLang="en-US"/>
              <a:t>If all tests pass and the system determines the fault is transient jitter (e.g., a temporary network fluctuation), training is restarted in place.</a:t>
            </a:r>
          </a:p>
          <a:p>
            <a:endParaRPr lang="en-US" altLang="zh-CN"/>
          </a:p>
          <a:p>
            <a:r>
              <a:rPr lang="zh-CN" altLang="en-US"/>
              <a:t>Step</a:t>
            </a:r>
            <a:r>
              <a:rPr lang="en-US" altLang="zh-CN"/>
              <a:t> </a:t>
            </a:r>
            <a:r>
              <a:rPr lang="en-US" altLang="en-US"/>
              <a:t>⑥</a:t>
            </a:r>
            <a:r>
              <a:rPr lang="en-US" altLang="zh-CN"/>
              <a:t> </a:t>
            </a:r>
            <a:r>
              <a:rPr lang="zh-CN" altLang="en-US"/>
              <a:t>: Restart failure reporting</a:t>
            </a:r>
            <a:r>
              <a:rPr lang="en-US" altLang="zh-CN"/>
              <a:t> (Retry Failure)</a:t>
            </a:r>
          </a:p>
          <a:p>
            <a:r>
              <a:rPr lang="zh-CN" altLang="en-US"/>
              <a:t>If the issue persists after the in-place restart, the system will suspect the most recent Code changes.</a:t>
            </a:r>
          </a:p>
          <a:p>
            <a:endParaRPr lang="en-US" altLang="zh-CN"/>
          </a:p>
          <a:p>
            <a:r>
              <a:rPr lang="zh-CN" altLang="en-US"/>
              <a:t>Step</a:t>
            </a:r>
            <a:r>
              <a:rPr lang="en-US" altLang="zh-CN"/>
              <a:t> </a:t>
            </a:r>
            <a:r>
              <a:rPr lang="en-US" altLang="en-US"/>
              <a:t>⑦</a:t>
            </a:r>
            <a:r>
              <a:rPr lang="en-US" altLang="zh-CN"/>
              <a:t> </a:t>
            </a:r>
            <a:r>
              <a:rPr lang="zh-CN" altLang="en-US"/>
              <a:t>: Still fails after eviction</a:t>
            </a:r>
            <a:r>
              <a:rPr lang="en-US" altLang="zh-CN"/>
              <a:t> (Eviction Failure)</a:t>
            </a:r>
          </a:p>
          <a:p>
            <a:r>
              <a:rPr lang="zh-CN" altLang="en-US"/>
              <a:t>Even after the machine is evicted, if errors still occur after the restart, this further confirms the issue is with the user code logic or environment configuration, rather than a purely hardware fault.</a:t>
            </a:r>
          </a:p>
          <a:p>
            <a:endParaRPr lang="en-US" altLang="zh-CN"/>
          </a:p>
          <a:p>
            <a:r>
              <a:rPr lang="zh-CN" altLang="en-US"/>
              <a:t>Phase 3: Complex fault isolation</a:t>
            </a:r>
            <a:r>
              <a:rPr lang="en-US" altLang="zh-CN"/>
              <a:t> (Advanced Localization)</a:t>
            </a:r>
          </a:p>
          <a:p>
            <a:r>
              <a:rPr lang="zh-CN" altLang="en-US"/>
              <a:t>Step</a:t>
            </a:r>
            <a:r>
              <a:rPr lang="en-US" altLang="zh-CN"/>
              <a:t> </a:t>
            </a:r>
            <a:r>
              <a:rPr lang="en-US" altLang="en-US"/>
              <a:t>⑧</a:t>
            </a:r>
            <a:r>
              <a:rPr lang="en-US" altLang="zh-CN"/>
              <a:t> </a:t>
            </a:r>
            <a:r>
              <a:rPr lang="zh-CN" altLang="en-US"/>
              <a:t>: Two-phase replay</a:t>
            </a:r>
            <a:r>
              <a:rPr lang="en-US" altLang="zh-CN"/>
              <a:t> (Dual-Phase Replay)</a:t>
            </a:r>
          </a:p>
          <a:p>
            <a:r>
              <a:rPr lang="zh-CN" altLang="en-US"/>
              <a:t>To address the most hard-to-detect faults (such as Silent data corruption</a:t>
            </a:r>
            <a:r>
              <a:rPr lang="en-US" altLang="zh-CN"/>
              <a:t> SDC</a:t>
            </a:r>
            <a:r>
              <a:rPr lang="zh-CN" altLang="en-US"/>
              <a:t> ), the system performs replay tests by splitting machines into horizontal and vertical groups while keeping variables controlled.</a:t>
            </a:r>
          </a:p>
          <a:p>
            <a:endParaRPr lang="en-US" altLang="zh-CN"/>
          </a:p>
          <a:p>
            <a:r>
              <a:rPr lang="zh-CN" altLang="en-US"/>
              <a:t>Step</a:t>
            </a:r>
            <a:r>
              <a:rPr lang="en-US" altLang="zh-CN"/>
              <a:t> </a:t>
            </a:r>
            <a:r>
              <a:rPr lang="en-US" altLang="en-US"/>
              <a:t>⑨</a:t>
            </a:r>
            <a:r>
              <a:rPr lang="en-US" altLang="zh-CN"/>
              <a:t> </a:t>
            </a:r>
            <a:r>
              <a:rPr lang="zh-CN" altLang="en-US"/>
              <a:t>: Precise exclusion</a:t>
            </a:r>
            <a:r>
              <a:rPr lang="en-US" altLang="zh-CN"/>
              <a:t> (Intersection Eviction)</a:t>
            </a:r>
          </a:p>
          <a:p>
            <a:r>
              <a:rPr lang="zh-CN" altLang="en-US"/>
              <a:t>By comparing the overlap in error reports between the horizontal and vertical tests, it precisely identifies a single</a:t>
            </a:r>
            <a:r>
              <a:rPr lang="en-US" altLang="zh-CN"/>
              <a:t> SDC </a:t>
            </a:r>
            <a:r>
              <a:rPr lang="zh-CN" altLang="en-US"/>
              <a:t>faulty machine and excludes it, ensuring the training environment is fully restored to a healthy state.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5.xml"/><Relationship Id="rId9" Type="http://schemas.openxmlformats.org/officeDocument/2006/relationships/tags" Target="../tags/tag10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标题 1"/>
          <p:cNvSpPr>
            <a:spLocks noGrp="1"/>
          </p:cNvSpPr>
          <p:nvPr>
            <p:ph type="ctrTitle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1500"/>
              </a:spcBef>
              <a:defRPr sz="5100" b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9221415" y="158476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43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4864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48645" name="内容占位符 3"/>
          <p:cNvSpPr>
            <a:spLocks noGrp="1"/>
          </p:cNvSpPr>
          <p:nvPr>
            <p:ph sz="quarter" idx="13" hasCustomPrompt="1"/>
          </p:nvPr>
        </p:nvSpPr>
        <p:spPr>
          <a:xfrm>
            <a:off x="523874" y="1323975"/>
            <a:ext cx="11277601" cy="4852988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50439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50440" name="内容占位符 3"/>
          <p:cNvSpPr>
            <a:spLocks noGrp="1"/>
          </p:cNvSpPr>
          <p:nvPr>
            <p:ph sz="quarter" idx="13" hasCustomPrompt="1"/>
          </p:nvPr>
        </p:nvSpPr>
        <p:spPr>
          <a:xfrm>
            <a:off x="523873" y="1323976"/>
            <a:ext cx="5591177" cy="4852988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50441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50442" name="内容占位符 3"/>
          <p:cNvSpPr>
            <a:spLocks noGrp="1"/>
          </p:cNvSpPr>
          <p:nvPr>
            <p:ph sz="quarter" idx="14" hasCustomPrompt="1"/>
          </p:nvPr>
        </p:nvSpPr>
        <p:spPr>
          <a:xfrm>
            <a:off x="6210297" y="1323977"/>
            <a:ext cx="5591177" cy="4856162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43" name="标题 1"/>
          <p:cNvSpPr>
            <a:spLocks noGrp="1"/>
          </p:cNvSpPr>
          <p:nvPr>
            <p:ph type="title"/>
          </p:nvPr>
        </p:nvSpPr>
        <p:spPr>
          <a:xfrm>
            <a:off x="666749" y="457201"/>
            <a:ext cx="2771775" cy="5719762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sp>
        <p:nvSpPr>
          <p:cNvPr id="1050444" name="幻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50445" name="内容占位符 3"/>
          <p:cNvSpPr>
            <a:spLocks noGrp="1"/>
          </p:cNvSpPr>
          <p:nvPr>
            <p:ph sz="quarter" idx="14" hasCustomPrompt="1"/>
          </p:nvPr>
        </p:nvSpPr>
        <p:spPr>
          <a:xfrm>
            <a:off x="3657600" y="457201"/>
            <a:ext cx="8001000" cy="5719763"/>
          </a:xfrm>
        </p:spPr>
        <p:txBody>
          <a:bodyPr anchor="t"/>
          <a:lstStyle>
            <a:lvl1pPr algn="l"/>
            <a:lvl2pPr algn="l"/>
            <a:lvl3pPr algn="l"/>
            <a:lvl4pPr algn="l"/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50446" name="页脚占位符 3"/>
          <p:cNvSpPr>
            <a:spLocks noGrp="1"/>
          </p:cNvSpPr>
          <p:nvPr>
            <p:ph type="ftr" sz="quarter" idx="15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内容占位符 2"/>
          <p:cNvSpPr>
            <a:spLocks noGrp="1"/>
          </p:cNvSpPr>
          <p:nvPr>
            <p:ph sz="quarter" idx="10" hasCustomPrompt="1"/>
            <p:custDataLst>
              <p:tags r:id="rId1"/>
            </p:custDataLst>
          </p:nvPr>
        </p:nvSpPr>
        <p:spPr>
          <a:xfrm>
            <a:off x="5452216" y="0"/>
            <a:ext cx="6110447" cy="6858000"/>
          </a:xfrm>
        </p:spPr>
        <p:txBody>
          <a:bodyPr anchor="ctr"/>
          <a:lstStyle>
            <a:lvl1pPr algn="l">
              <a:lnSpc>
                <a:spcPct val="100000"/>
              </a:lnSpc>
              <a:spcBef>
                <a:spcPts val="3000"/>
              </a:spcBef>
              <a:defRPr sz="2800" baseline="0">
                <a:latin typeface="Ebrima" panose="02000000000000000000" charset="0"/>
              </a:defRPr>
            </a:lvl1pPr>
            <a:lvl2pPr algn="l">
              <a:lnSpc>
                <a:spcPct val="100000"/>
              </a:lnSpc>
              <a:defRPr sz="2400" baseline="0">
                <a:latin typeface="Ebrima" panose="02000000000000000000" charset="0"/>
              </a:defRPr>
            </a:lvl2pPr>
            <a:lvl3pPr algn="l">
              <a:lnSpc>
                <a:spcPct val="100000"/>
              </a:lnSpc>
              <a:defRPr sz="2000" baseline="0">
                <a:latin typeface="Ebrima" panose="02000000000000000000" charset="0"/>
              </a:defRPr>
            </a:lvl3pPr>
            <a:lvl4pPr algn="l">
              <a:lnSpc>
                <a:spcPct val="100000"/>
              </a:lnSpc>
              <a:defRPr sz="1600" baseline="0">
                <a:latin typeface="Ebrima" panose="02000000000000000000" charset="0"/>
              </a:defRPr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grpSp>
        <p:nvGrpSpPr>
          <p:cNvPr id="83" name="Group 7"/>
          <p:cNvGrpSpPr/>
          <p:nvPr/>
        </p:nvGrpSpPr>
        <p:grpSpPr>
          <a:xfrm>
            <a:off x="3057633" y="31667"/>
            <a:ext cx="9134367" cy="6838951"/>
            <a:chOff x="-4763" y="9525"/>
            <a:chExt cx="9032249" cy="6838951"/>
          </a:xfrm>
          <a:solidFill>
            <a:srgbClr val="549E39"/>
          </a:solidFill>
        </p:grpSpPr>
        <p:sp>
          <p:nvSpPr>
            <p:cNvPr id="1048651" name="Line 16"/>
            <p:cNvSpPr>
              <a:spLocks noChangeShapeType="1"/>
            </p:cNvSpPr>
            <p:nvPr>
              <p:custDataLst>
                <p:tags r:id="rId3"/>
              </p:custData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</a:ln>
          </p:spPr>
        </p:sp>
        <p:grpSp>
          <p:nvGrpSpPr>
            <p:cNvPr id="84" name="Group 9"/>
            <p:cNvGrpSpPr/>
            <p:nvPr/>
          </p:nvGrpSpPr>
          <p:grpSpPr>
            <a:xfrm>
              <a:off x="8428998" y="4867275"/>
              <a:ext cx="598488" cy="1981201"/>
              <a:chOff x="11441112" y="4867275"/>
              <a:chExt cx="598488" cy="1981201"/>
            </a:xfrm>
            <a:grpFill/>
          </p:grpSpPr>
          <p:sp>
            <p:nvSpPr>
              <p:cNvPr id="1048652" name="Freeform 35"/>
              <p:cNvSpPr/>
              <p:nvPr>
                <p:custDataLst>
                  <p:tags r:id="rId4"/>
                </p:custData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3" name="Freeform 36"/>
              <p:cNvSpPr>
                <a:spLocks noEditPoint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4" name="Freeform 38"/>
              <p:cNvSpPr>
                <a:spLocks noEditPoint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5" name="Freeform 39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6" name="Freeform 40"/>
              <p:cNvSpPr>
                <a:spLocks noEditPoint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7" name="Rectangle 41"/>
              <p:cNvSpPr>
                <a:spLocks noChangeArrowhead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</p:spPr>
          </p:sp>
        </p:grpSp>
      </p:grpSp>
      <p:sp>
        <p:nvSpPr>
          <p:cNvPr id="1048658" name="内容占位符 22"/>
          <p:cNvSpPr>
            <a:spLocks noGrp="1"/>
          </p:cNvSpPr>
          <p:nvPr>
            <p:ph sz="quarter" idx="11" hasCustomPrompt="1"/>
            <p:custDataLst>
              <p:tags r:id="rId2"/>
            </p:custDataLst>
          </p:nvPr>
        </p:nvSpPr>
        <p:spPr>
          <a:xfrm>
            <a:off x="0" y="0"/>
            <a:ext cx="4659313" cy="6858000"/>
          </a:xfrm>
          <a:solidFill>
            <a:srgbClr val="8B001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 dirty="0"/>
              <a:t>Outline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Unnamed Layou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1256418" y="5448300"/>
            <a:ext cx="10396122" cy="447675"/>
          </a:xfrm>
          <a:prstGeom prst="rect">
            <a:avLst/>
          </a:prstGeom>
        </p:spPr>
        <p:txBody>
          <a:bodyPr/>
          <a:lstStyle>
            <a:lvl1pPr algn="ctr">
              <a:defRPr lang="zh-CN" altLang="en-US" sz="2400" b="0" i="0" kern="1200" baseline="0" smtClean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微软雅黑" panose="020B0503020204020204" charset="-122"/>
                <a:cs typeface="Calibri Light" panose="020F03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1256418" y="6356351"/>
            <a:ext cx="10396122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ctrTitle" hasCustomPrompt="1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1500"/>
              </a:spcBef>
              <a:defRPr sz="5100" b="0"/>
            </a:lvl1pPr>
          </a:lstStyle>
          <a:p>
            <a:r>
              <a:rPr lang="zh-CN" altLang="en-US"/>
              <a:t>Click here to edit the master title style</a:t>
            </a:r>
            <a:endParaRPr lang="zh-CN" altLang="en-US" dirty="0"/>
          </a:p>
        </p:txBody>
      </p:sp>
      <p:sp>
        <p:nvSpPr>
          <p:cNvPr id="6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260390" y="4846320"/>
            <a:ext cx="10392032" cy="47498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24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here to edit the master subtitle style</a:t>
            </a:r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ctrTitle" hasCustomPrompt="1"/>
          </p:nvPr>
        </p:nvSpPr>
        <p:spPr>
          <a:xfrm>
            <a:off x="727587" y="1622323"/>
            <a:ext cx="10943800" cy="3028335"/>
          </a:xfrm>
        </p:spPr>
        <p:txBody>
          <a:bodyPr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altLang="en-US" sz="4400" b="0" i="0" kern="1200">
                <a:solidFill>
                  <a:schemeClr val="tx2"/>
                </a:solidFill>
                <a:latin typeface="Montserrat SemiBold" panose="00000700000000000000" pitchFamily="2" charset="0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en-US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34184001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ctrTitle" hasCustomPrompt="1"/>
          </p:nvPr>
        </p:nvSpPr>
        <p:spPr>
          <a:xfrm>
            <a:off x="3136489" y="3716594"/>
            <a:ext cx="8534897" cy="2664541"/>
          </a:xfrm>
        </p:spPr>
        <p:txBody>
          <a:bodyPr anchor="ctr">
            <a:noAutofit/>
          </a:bodyPr>
          <a:lstStyle>
            <a:lvl1pPr algn="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altLang="en-US" sz="4400" b="0" i="0" kern="1200">
                <a:solidFill>
                  <a:schemeClr val="tx2"/>
                </a:solidFill>
                <a:latin typeface="Montserrat SemiBold" panose="00000700000000000000" pitchFamily="2" charset="0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en-US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32669405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1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文本占位符 2"/>
          <p:cNvSpPr>
            <a:spLocks noGrp="1"/>
          </p:cNvSpPr>
          <p:nvPr>
            <p:ph type="body" idx="1"/>
          </p:nvPr>
        </p:nvSpPr>
        <p:spPr>
          <a:xfrm>
            <a:off x="523874" y="1323975"/>
            <a:ext cx="11277601" cy="48325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48638" name="标题占位符 1"/>
          <p:cNvSpPr>
            <a:spLocks noGrp="1"/>
          </p:cNvSpPr>
          <p:nvPr>
            <p:ph type="title"/>
          </p:nvPr>
        </p:nvSpPr>
        <p:spPr>
          <a:xfrm>
            <a:off x="741404" y="431629"/>
            <a:ext cx="9987507" cy="7009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48639" name="页脚占位符 4"/>
          <p:cNvSpPr>
            <a:spLocks noGrp="1"/>
          </p:cNvSpPr>
          <p:nvPr>
            <p:ph type="ftr" sz="quarter" idx="3"/>
          </p:nvPr>
        </p:nvSpPr>
        <p:spPr>
          <a:xfrm>
            <a:off x="523874" y="6356351"/>
            <a:ext cx="112776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aseline="0">
                <a:solidFill>
                  <a:schemeClr val="accent3"/>
                </a:solidFill>
                <a:latin typeface="Garamond" panose="02020404030301010803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048640" name="Freeform 5"/>
          <p:cNvSpPr/>
          <p:nvPr/>
        </p:nvSpPr>
        <p:spPr bwMode="auto">
          <a:xfrm flipV="1">
            <a:off x="-4185" y="529393"/>
            <a:ext cx="564624" cy="507999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rgbClr val="8B0012"/>
          </a:solidFill>
          <a:ln>
            <a:noFill/>
          </a:ln>
        </p:spPr>
        <p:txBody>
          <a:bodyPr/>
          <a:lstStyle/>
          <a:p>
            <a:endParaRPr lang="en-US" sz="1350" dirty="0"/>
          </a:p>
        </p:txBody>
      </p:sp>
      <p:sp>
        <p:nvSpPr>
          <p:cNvPr id="104864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" y="593458"/>
            <a:ext cx="4190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0" baseline="0">
                <a:solidFill>
                  <a:schemeClr val="bg1"/>
                </a:solidFill>
                <a:latin typeface="Garamond" panose="02020404030301010803" charset="0"/>
                <a:ea typeface="微软雅黑" panose="020B0503020204020204" charset="-122"/>
                <a:cs typeface="Calibri" panose="020F0502020204030204" charset="0"/>
              </a:defRPr>
            </a:lvl1pPr>
          </a:lstStyle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9221415" y="158476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5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hf hdr="0" dt="0"/>
  <p:txStyles>
    <p:titleStyle>
      <a:lvl1pPr algn="l" defTabSz="342900" rtl="0" eaLnBrk="1" latinLnBrk="0" hangingPunct="1">
        <a:spcBef>
          <a:spcPct val="0"/>
        </a:spcBef>
        <a:buNone/>
        <a:defRPr lang="zh-CN" altLang="en-US" sz="3600" b="0" i="0" kern="1200" baseline="0" dirty="0">
          <a:solidFill>
            <a:schemeClr val="tx1">
              <a:lumMod val="85000"/>
              <a:lumOff val="15000"/>
            </a:schemeClr>
          </a:solidFill>
          <a:latin typeface="Calibri" panose="020F0502020204030204" charset="0"/>
          <a:ea typeface="微软雅黑" panose="020B0503020204020204" charset="-122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0045" marR="0" indent="-360045" algn="l" defTabSz="342900" rtl="0" eaLnBrk="1" fontAlgn="auto" latinLnBrk="0" hangingPunct="1">
        <a:lnSpc>
          <a:spcPct val="100000"/>
        </a:lnSpc>
        <a:spcBef>
          <a:spcPts val="150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■"/>
        <a:defRPr sz="2400" b="0" i="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1pPr>
      <a:lvl2pPr marL="557530" marR="0" indent="-21463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Pct val="75000"/>
        <a:buFont typeface="文泉驿微米黑" panose="020B0606030804020204" charset="-122"/>
        <a:buChar char="♦"/>
        <a:defRPr sz="20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2pPr>
      <a:lvl3pPr marL="8572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▶"/>
        <a:defRPr sz="16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3pPr>
      <a:lvl4pPr marL="12001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●"/>
        <a:defRPr sz="12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4pPr>
      <a:lvl5pPr marL="15430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549E39"/>
        </a:buClr>
        <a:buSzTx/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tags" Target="../tags/tag19.xml"/><Relationship Id="rId13" Type="http://schemas.openxmlformats.org/officeDocument/2006/relationships/tags" Target="../tags/tag24.xml"/><Relationship Id="rId18" Type="http://schemas.openxmlformats.org/officeDocument/2006/relationships/image" Target="../media/image20.png"/><Relationship Id="rId26" Type="http://schemas.openxmlformats.org/officeDocument/2006/relationships/hyperlink" Target="https://www.zhihu.com/people/95-22-20-18/posts" TargetMode="External"/><Relationship Id="rId3" Type="http://schemas.openxmlformats.org/officeDocument/2006/relationships/tags" Target="../tags/tag14.xml"/><Relationship Id="rId21" Type="http://schemas.openxmlformats.org/officeDocument/2006/relationships/image" Target="../media/image23.png"/><Relationship Id="rId7" Type="http://schemas.openxmlformats.org/officeDocument/2006/relationships/tags" Target="../tags/tag18.xml"/><Relationship Id="rId12" Type="http://schemas.openxmlformats.org/officeDocument/2006/relationships/tags" Target="../tags/tag23.xml"/><Relationship Id="rId17" Type="http://schemas.openxmlformats.org/officeDocument/2006/relationships/slideLayout" Target="../slideLayouts/slideLayout6.xml"/><Relationship Id="rId25" Type="http://schemas.openxmlformats.org/officeDocument/2006/relationships/hyperlink" Target="https://space.bilibili.com/3546791834290849" TargetMode="External"/><Relationship Id="rId2" Type="http://schemas.openxmlformats.org/officeDocument/2006/relationships/tags" Target="../tags/tag13.xml"/><Relationship Id="rId16" Type="http://schemas.openxmlformats.org/officeDocument/2006/relationships/tags" Target="../tags/tag27.xml"/><Relationship Id="rId20" Type="http://schemas.openxmlformats.org/officeDocument/2006/relationships/image" Target="../media/image22.png"/><Relationship Id="rId29" Type="http://schemas.openxmlformats.org/officeDocument/2006/relationships/image" Target="../media/image27.png"/><Relationship Id="rId1" Type="http://schemas.openxmlformats.org/officeDocument/2006/relationships/tags" Target="../tags/tag12.xml"/><Relationship Id="rId6" Type="http://schemas.openxmlformats.org/officeDocument/2006/relationships/tags" Target="../tags/tag17.xml"/><Relationship Id="rId11" Type="http://schemas.openxmlformats.org/officeDocument/2006/relationships/tags" Target="../tags/tag22.xml"/><Relationship Id="rId24" Type="http://schemas.openxmlformats.org/officeDocument/2006/relationships/hyperlink" Target="https://github.com/flagos-ai" TargetMode="External"/><Relationship Id="rId5" Type="http://schemas.openxmlformats.org/officeDocument/2006/relationships/tags" Target="../tags/tag16.xml"/><Relationship Id="rId15" Type="http://schemas.openxmlformats.org/officeDocument/2006/relationships/tags" Target="../tags/tag26.xml"/><Relationship Id="rId23" Type="http://schemas.openxmlformats.org/officeDocument/2006/relationships/image" Target="../media/image25.png"/><Relationship Id="rId28" Type="http://schemas.openxmlformats.org/officeDocument/2006/relationships/image" Target="../media/image26.jpeg"/><Relationship Id="rId10" Type="http://schemas.openxmlformats.org/officeDocument/2006/relationships/tags" Target="../tags/tag21.xml"/><Relationship Id="rId19" Type="http://schemas.openxmlformats.org/officeDocument/2006/relationships/image" Target="../media/image21.png"/><Relationship Id="rId4" Type="http://schemas.openxmlformats.org/officeDocument/2006/relationships/tags" Target="../tags/tag15.xml"/><Relationship Id="rId9" Type="http://schemas.openxmlformats.org/officeDocument/2006/relationships/tags" Target="../tags/tag20.xml"/><Relationship Id="rId14" Type="http://schemas.openxmlformats.org/officeDocument/2006/relationships/tags" Target="../tags/tag25.xml"/><Relationship Id="rId22" Type="http://schemas.openxmlformats.org/officeDocument/2006/relationships/image" Target="../media/image24.png"/><Relationship Id="rId27" Type="http://schemas.openxmlformats.org/officeDocument/2006/relationships/hyperlink" Target="https://flagos.io/Home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개체 틀 3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350" b="350"/>
          <a:stretch>
            <a:fillRect/>
          </a:stretch>
        </p:blipFill>
        <p:spPr>
          <a:xfrm>
            <a:off x="0" y="1"/>
            <a:ext cx="12192000" cy="6858000"/>
          </a:xfrm>
        </p:spPr>
      </p:pic>
      <p:sp>
        <p:nvSpPr>
          <p:cNvPr id="6" name="제목 5"/>
          <p:cNvSpPr>
            <a:spLocks noGrp="1"/>
          </p:cNvSpPr>
          <p:nvPr>
            <p:ph type="ctrTitle"/>
          </p:nvPr>
        </p:nvSpPr>
        <p:spPr>
          <a:xfrm>
            <a:off x="727710" y="1622425"/>
            <a:ext cx="5553710" cy="3028315"/>
          </a:xfrm>
        </p:spPr>
        <p:txBody>
          <a:bodyPr/>
          <a:lstStyle/>
          <a:p>
            <a:pPr algn="l"/>
            <a:r>
              <a:rPr lang="en-US" altLang="zh-CN" sz="4000">
                <a:latin typeface="+mj-cs"/>
                <a:cs typeface="+mj-cs"/>
              </a:rPr>
              <a:t>Hardware and Software Fundamentals of </a:t>
            </a:r>
            <a:br>
              <a:rPr lang="en-US" altLang="zh-CN" sz="4000">
                <a:latin typeface="+mj-cs"/>
                <a:cs typeface="+mj-cs"/>
              </a:rPr>
            </a:br>
            <a:r>
              <a:rPr lang="en-US" altLang="zh-CN" sz="4000">
                <a:latin typeface="+mj-cs"/>
                <a:cs typeface="+mj-cs"/>
              </a:rPr>
              <a:t>Intelligent Computing </a:t>
            </a:r>
            <a:br>
              <a:rPr lang="en-US" altLang="zh-CN" sz="4000">
                <a:latin typeface="+mj-cs"/>
                <a:cs typeface="+mj-cs"/>
              </a:rPr>
            </a:br>
            <a:r>
              <a:rPr lang="en-US" altLang="zh-CN" sz="4000">
                <a:latin typeface="+mj-cs"/>
                <a:cs typeface="+mj-cs"/>
              </a:rPr>
              <a:t>Systems</a:t>
            </a:r>
          </a:p>
        </p:txBody>
      </p:sp>
      <p:grpSp>
        <p:nvGrpSpPr>
          <p:cNvPr id="9" name="그룹 8"/>
          <p:cNvGrpSpPr/>
          <p:nvPr/>
        </p:nvGrpSpPr>
        <p:grpSpPr>
          <a:xfrm>
            <a:off x="364100" y="6255612"/>
            <a:ext cx="409904" cy="409904"/>
            <a:chOff x="11591418" y="6255612"/>
            <a:chExt cx="409904" cy="409904"/>
          </a:xfrm>
        </p:grpSpPr>
        <p:sp>
          <p:nvSpPr>
            <p:cNvPr id="10" name="타원 9"/>
            <p:cNvSpPr/>
            <p:nvPr/>
          </p:nvSpPr>
          <p:spPr>
            <a:xfrm>
              <a:off x="11591418" y="6255612"/>
              <a:ext cx="409904" cy="4099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1" name="갈매기형 수장[C] 10"/>
            <p:cNvSpPr/>
            <p:nvPr/>
          </p:nvSpPr>
          <p:spPr>
            <a:xfrm>
              <a:off x="11732864" y="6397058"/>
              <a:ext cx="127012" cy="127012"/>
            </a:xfrm>
            <a:prstGeom prst="chevron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x-none" altLang="en-US"/>
              <a:t>Lecture</a:t>
            </a:r>
            <a:r>
              <a:rPr lang="en-US" altLang="zh-CN"/>
              <a:t> 34: Fault Tolerance and Checkpointing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Outlines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3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Autofit/>
          </a:bodyPr>
          <a:lstStyle/>
          <a:p>
            <a:r>
              <a:rPr lang="zh-CN" altLang="en-US"/>
              <a:t>Background</a:t>
            </a:r>
            <a:endParaRPr lang="en-US" altLang="zh-CN"/>
          </a:p>
          <a:p>
            <a:pPr lvl="1"/>
            <a:r>
              <a:rPr lang="zh-CN" altLang="en-US">
                <a:sym typeface="+mn-ea"/>
              </a:rPr>
              <a:t>Fault in Large-Scale Training</a:t>
            </a:r>
          </a:p>
          <a:p>
            <a:pPr lvl="1"/>
            <a:r>
              <a:rPr lang="zh-CN" altLang="en-US">
                <a:sym typeface="+mn-ea"/>
              </a:rPr>
              <a:t>Fault Types and Impact Analysis</a:t>
            </a:r>
          </a:p>
          <a:p>
            <a:pPr lvl="0"/>
            <a:r>
              <a:rPr lang="zh-CN" altLang="en-US">
                <a:sym typeface="+mn-ea"/>
              </a:rPr>
              <a:t>Checkpoint-Based Fault Tolerance System</a:t>
            </a:r>
            <a:endParaRPr lang="zh-CN" altLang="en-US"/>
          </a:p>
          <a:p>
            <a:pPr lvl="1"/>
            <a:r>
              <a:rPr lang="zh-CN" altLang="en-US"/>
              <a:t>Anomaly Detection</a:t>
            </a:r>
          </a:p>
          <a:p>
            <a:pPr lvl="1"/>
            <a:r>
              <a:rPr lang="zh-CN" altLang="en-US"/>
              <a:t>Checkpoint</a:t>
            </a:r>
          </a:p>
          <a:p>
            <a:pPr lvl="2"/>
            <a:r>
              <a:rPr lang="zh-CN" altLang="en-US"/>
              <a:t>Checkpoints in Distributed Training</a:t>
            </a:r>
          </a:p>
          <a:p>
            <a:pPr lvl="2"/>
            <a:r>
              <a:rPr lang="zh-CN" altLang="en-US"/>
              <a:t>Synchronous</a:t>
            </a:r>
            <a:r>
              <a:rPr lang="en-US" altLang="zh-CN"/>
              <a:t>/</a:t>
            </a:r>
            <a:r>
              <a:rPr lang="zh-CN" altLang="en-US"/>
              <a:t> Asynchronous Checkpoints</a:t>
            </a:r>
            <a:endParaRPr lang="en-US" altLang="zh-CN"/>
          </a:p>
          <a:p>
            <a:pPr lvl="2"/>
            <a:r>
              <a:rPr lang="zh-CN" altLang="en-US"/>
              <a:t>Checkpoint Strategies</a:t>
            </a:r>
          </a:p>
          <a:p>
            <a:pPr lvl="2"/>
            <a:r>
              <a:rPr lang="zh-CN" altLang="en-US"/>
              <a:t>Checkpoint Storage Optimization Techniques</a:t>
            </a:r>
            <a:endParaRPr lang="en-US" altLang="zh-CN"/>
          </a:p>
          <a:p>
            <a:pPr lvl="0"/>
            <a:r>
              <a:rPr lang="zh-CN" altLang="en-US"/>
              <a:t>Industrial Case Studies</a:t>
            </a:r>
            <a:endParaRPr lang="en-US" altLang="zh-CN"/>
          </a:p>
          <a:p>
            <a:pPr lvl="1"/>
            <a:r>
              <a:rPr lang="en-US" altLang="zh-CN">
                <a:sym typeface="+mn-ea"/>
              </a:rPr>
              <a:t>Robust LLM Training Infrastructure at ByteDance</a:t>
            </a:r>
          </a:p>
          <a:p>
            <a:pPr lvl="1"/>
            <a:endParaRPr lang="en-US" altLang="zh-CN">
              <a:sym typeface="+mn-ea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Background:</a:t>
            </a:r>
            <a:r>
              <a:rPr lang="en-US" sz="3200">
                <a:solidFill>
                  <a:schemeClr val="tx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  <a:sym typeface="+mn-ea"/>
              </a:rPr>
              <a:t> </a:t>
            </a:r>
            <a:r>
              <a:rPr sz="3200">
                <a:sym typeface="+mn-ea"/>
              </a:rPr>
              <a:t>Fault Conditions in Large-Scale Training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4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sz="2000" b="1" dirty="0">
                <a:solidFill>
                  <a:schemeClr val="tx1"/>
                </a:solidFill>
                <a:ea typeface="Noto Sans SC" panose="020B0200000000000000" pitchFamily="34" charset="-122"/>
                <a:cs typeface="Calibri" panose="020F0502020204030204" charset="0"/>
                <a:sym typeface="+mn-ea"/>
              </a:rPr>
              <a:t>Failure Rates Exhibit Exponential Growth with Cluster Size</a:t>
            </a:r>
          </a:p>
          <a:p>
            <a:pPr lvl="1"/>
            <a:r>
              <a:rPr lang="en-US" altLang="zh-CN" sz="1800" b="1" dirty="0">
                <a:solidFill>
                  <a:schemeClr val="tx1"/>
                </a:solidFill>
                <a:cs typeface="Calibri" panose="020F0502020204030204" charset="0"/>
              </a:rPr>
              <a:t>Mean Time Between Failures (MTBF) </a:t>
            </a:r>
            <a:r>
              <a:rPr lang="zh-CN" altLang="en-US" sz="1800" dirty="0">
                <a:solidFill>
                  <a:schemeClr val="tx1"/>
                </a:solidFill>
                <a:cs typeface="Calibri" panose="020F0502020204030204" charset="0"/>
              </a:rPr>
              <a:t>is a critical metric for evaluating cluster reliability</a:t>
            </a:r>
          </a:p>
          <a:p>
            <a:pPr lvl="1"/>
            <a:r>
              <a:rPr lang="en-US" sz="1800" dirty="0">
                <a:solidFill>
                  <a:schemeClr val="tx1">
                    <a:alpha val="80000"/>
                  </a:schemeClr>
                </a:solidFill>
                <a:ea typeface="Noto Sans SC" panose="020B0200000000000000" pitchFamily="34" charset="-122"/>
                <a:cs typeface="Calibri" panose="020F0502020204030204" charset="0"/>
                <a:sym typeface="+mn-ea"/>
              </a:rPr>
              <a:t>As the number of GPUs (N) increases, the probability of completing training without interruption decreases exponentially.</a:t>
            </a:r>
          </a:p>
          <a:p>
            <a:pPr lvl="1"/>
            <a:r>
              <a:rPr lang="en-US" sz="1800" dirty="0">
                <a:solidFill>
                  <a:schemeClr val="tx1">
                    <a:alpha val="80000"/>
                  </a:schemeClr>
                </a:solidFill>
                <a:ea typeface="Noto Sans SC" panose="020B0200000000000000" pitchFamily="34" charset="-122"/>
                <a:cs typeface="Calibri" panose="020F0502020204030204" charset="0"/>
                <a:sym typeface="+mn-ea"/>
              </a:rPr>
              <a:t>If the probability of a single GPU failure within a specified interval is p, then the probability of the entire cluster remaining stable is </a:t>
            </a:r>
            <a:r>
              <a:rPr lang="en-US" sz="1800" b="1" dirty="0">
                <a:solidFill>
                  <a:schemeClr val="tx1"/>
                </a:solidFill>
                <a:ea typeface="Noto Sans SC" panose="020B0200000000000000" pitchFamily="34" charset="-122"/>
                <a:cs typeface="Calibri" panose="020F0502020204030204" charset="0"/>
                <a:sym typeface="+mn-ea"/>
              </a:rPr>
              <a:t>(1-p)^N</a:t>
            </a:r>
            <a:r>
              <a:rPr lang="en-US" sz="1800" dirty="0">
                <a:solidFill>
                  <a:schemeClr val="tx1">
                    <a:alpha val="80000"/>
                  </a:schemeClr>
                </a:solidFill>
                <a:ea typeface="Noto Sans SC" panose="020B0200000000000000" pitchFamily="34" charset="-122"/>
                <a:cs typeface="Calibri" panose="020F0502020204030204" charset="0"/>
                <a:sym typeface="+mn-ea"/>
              </a:rPr>
              <a:t>.</a:t>
            </a:r>
            <a:endParaRPr lang="en-US" sz="1800" dirty="0">
              <a:cs typeface="Calibri" panose="020F0502020204030204" charset="0"/>
            </a:endParaRPr>
          </a:p>
          <a:p>
            <a:pPr lvl="2"/>
            <a:r>
              <a:rPr lang="zh-CN" altLang="en-US" sz="1400">
                <a:cs typeface="Calibri" panose="020F0502020204030204" charset="0"/>
              </a:rPr>
              <a:t>Qianka Cluster (</a:t>
            </a:r>
            <a:r>
              <a:rPr lang="en-US" altLang="zh-CN" sz="1400">
                <a:cs typeface="Calibri" panose="020F0502020204030204" charset="0"/>
              </a:rPr>
              <a:t> p=0.001</a:t>
            </a:r>
            <a:r>
              <a:rPr lang="zh-CN" altLang="en-US" sz="1400">
                <a:cs typeface="Calibri" panose="020F0502020204030204" charset="0"/>
              </a:rPr>
              <a:t> ) </a:t>
            </a:r>
            <a:r>
              <a:rPr lang="en-US" altLang="zh-CN" sz="1400">
                <a:cs typeface="Calibri" panose="020F0502020204030204" charset="0"/>
              </a:rPr>
              <a:t>=&gt; </a:t>
            </a:r>
            <a:r>
              <a:rPr lang="zh-CN" altLang="en-US" sz="1400">
                <a:cs typeface="Calibri" panose="020F0502020204030204" charset="0"/>
              </a:rPr>
              <a:t>Success Rate </a:t>
            </a:r>
            <a:r>
              <a:rPr lang="en-US" altLang="zh-CN" sz="1400">
                <a:cs typeface="Calibri" panose="020F0502020204030204" charset="0"/>
              </a:rPr>
              <a:t>~36%</a:t>
            </a:r>
          </a:p>
          <a:p>
            <a:pPr lvl="2"/>
            <a:r>
              <a:rPr lang="zh-CN" altLang="en-US" sz="1400"/>
              <a:t>Wanka Cluster (</a:t>
            </a:r>
            <a:r>
              <a:rPr lang="en-US" altLang="zh-CN" sz="1400"/>
              <a:t> p=0.001</a:t>
            </a:r>
            <a:r>
              <a:rPr lang="zh-CN" altLang="en-US" sz="1400"/>
              <a:t> ) </a:t>
            </a:r>
            <a:r>
              <a:rPr lang="en-US" altLang="zh-CN" sz="1400"/>
              <a:t>=&gt; </a:t>
            </a:r>
            <a:r>
              <a:rPr lang="zh-CN" altLang="en-US" sz="1400"/>
              <a:t>Success Rate </a:t>
            </a:r>
            <a:r>
              <a:rPr lang="en-US" altLang="zh-CN" sz="1400"/>
              <a:t>~0.0045%</a:t>
            </a:r>
          </a:p>
          <a:p>
            <a:pPr lvl="0"/>
            <a:r>
              <a:rPr lang="zh-CN" altLang="en-US" sz="2000"/>
              <a:t>Cluster</a:t>
            </a:r>
            <a:r>
              <a:rPr lang="en-US" altLang="zh-CN" sz="2000"/>
              <a:t> MTBF</a:t>
            </a:r>
            <a:r>
              <a:rPr lang="zh-CN" altLang="en-US" sz="2000"/>
              <a:t> Data Comparison</a:t>
            </a:r>
          </a:p>
          <a:p>
            <a:pPr lvl="8"/>
            <a:endParaRPr lang="zh-CN" altLang="en-US" sz="2000"/>
          </a:p>
        </p:txBody>
      </p:sp>
      <p:sp>
        <p:nvSpPr>
          <p:cNvPr id="35" name="Text 33"/>
          <p:cNvSpPr/>
          <p:nvPr/>
        </p:nvSpPr>
        <p:spPr>
          <a:xfrm>
            <a:off x="7607860" y="4262903"/>
            <a:ext cx="4280950" cy="2566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chemeClr val="tx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Cluster Size vs</a:t>
            </a:r>
            <a:r>
              <a:rPr lang="zh-CN" altLang="en-US" sz="1200" b="1" dirty="0">
                <a:solidFill>
                  <a:schemeClr val="tx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Probability of Failure-Free Operation</a:t>
            </a:r>
            <a:r>
              <a:rPr lang="en-US" sz="1200" b="1" dirty="0">
                <a:solidFill>
                  <a:schemeClr val="tx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Within a Specified Timeframe</a:t>
            </a:r>
          </a:p>
        </p:txBody>
      </p:sp>
      <p:pic>
        <p:nvPicPr>
          <p:cNvPr id="36" name="Image 0" descr="https://kimi-img.moonshot.cn/pub/slides/26-02-10-13:41:31-d65ca2p09tp4hvc3tvi0.png"/>
          <p:cNvPicPr>
            <a:picLocks noChangeAspect="1"/>
          </p:cNvPicPr>
          <p:nvPr/>
        </p:nvPicPr>
        <p:blipFill>
          <a:blip r:embed="rId4"/>
          <a:srcRect t="10109" b="14"/>
          <a:stretch>
            <a:fillRect/>
          </a:stretch>
        </p:blipFill>
        <p:spPr>
          <a:xfrm>
            <a:off x="7686040" y="4607560"/>
            <a:ext cx="4055745" cy="1835785"/>
          </a:xfrm>
          <a:prstGeom prst="roundRect">
            <a:avLst>
              <a:gd name="adj" fmla="val 45215"/>
            </a:avLst>
          </a:prstGeom>
        </p:spPr>
      </p:pic>
      <p:graphicFrame>
        <p:nvGraphicFramePr>
          <p:cNvPr id="7" name="表格 6"/>
          <p:cNvGraphicFramePr/>
          <p:nvPr>
            <p:custDataLst>
              <p:tags r:id="rId1"/>
            </p:custDataLst>
          </p:nvPr>
        </p:nvGraphicFramePr>
        <p:xfrm>
          <a:off x="770890" y="4519295"/>
          <a:ext cx="6743065" cy="1924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692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810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8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CN" altLang="en-US" sz="1400" b="0" i="0">
                        <a:latin typeface="Calibri" panose="020F0502020204030204" charset="0"/>
                        <a:ea typeface="-apple-system"/>
                      </a:endParaRPr>
                    </a:p>
                    <a:p>
                      <a:pPr marL="0" indent="0" algn="l" fontAlgn="base">
                        <a:lnSpc>
                          <a:spcPts val="8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latin typeface="Calibri" panose="020F0502020204030204" charset="0"/>
                          <a:ea typeface="-apple-system"/>
                        </a:rPr>
                        <a:t>Cluster Size</a:t>
                      </a:r>
                      <a:endParaRPr lang="zh-CN" altLang="en-US" sz="1400" b="0" i="0">
                        <a:latin typeface="Calibri" panose="020F0502020204030204" charset="0"/>
                        <a:ea typeface="-apple-system"/>
                      </a:endParaRPr>
                    </a:p>
                  </a:txBody>
                  <a:tcPr marL="47942" marR="47942" marT="47942" marB="47942"/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8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altLang="zh-CN" sz="1400" b="0" i="0">
                        <a:latin typeface="Calibri" panose="020F0502020204030204" charset="0"/>
                        <a:ea typeface="-apple-system"/>
                        <a:cs typeface="Calibri" panose="020F0502020204030204" charset="0"/>
                      </a:endParaRPr>
                    </a:p>
                    <a:p>
                      <a:pPr marL="0" indent="0" algn="l" fontAlgn="base">
                        <a:lnSpc>
                          <a:spcPts val="8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0" i="0">
                          <a:latin typeface="Calibri" panose="020F0502020204030204" charset="0"/>
                          <a:ea typeface="-apple-system"/>
                          <a:cs typeface="Calibri" panose="020F0502020204030204" charset="0"/>
                        </a:rPr>
                        <a:t>MTBF</a:t>
                      </a:r>
                    </a:p>
                  </a:txBody>
                  <a:tcPr marL="47942" marR="47942" marT="47942" marB="47942"/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8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CN" altLang="en-US" sz="1400" b="0" i="0">
                        <a:latin typeface="Calibri" panose="020F0502020204030204" charset="0"/>
                        <a:ea typeface="-apple-system"/>
                      </a:endParaRPr>
                    </a:p>
                    <a:p>
                      <a:pPr marL="0" indent="0" algn="l" fontAlgn="base">
                        <a:lnSpc>
                          <a:spcPts val="8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200" b="0" i="0">
                          <a:latin typeface="Calibri" panose="020F0502020204030204" charset="0"/>
                          <a:ea typeface="-apple-system"/>
                        </a:rPr>
                        <a:t>Data Source</a:t>
                      </a:r>
                      <a:endParaRPr lang="zh-CN" altLang="en-US" sz="1400" b="0" i="0">
                        <a:latin typeface="Calibri" panose="020F0502020204030204" charset="0"/>
                        <a:ea typeface="-apple-system"/>
                      </a:endParaRPr>
                    </a:p>
                  </a:txBody>
                  <a:tcPr marL="47942" marR="47942" marT="47942" marB="4794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810">
                <a:tc>
                  <a:txBody>
                    <a:bodyPr/>
                    <a:lstStyle/>
                    <a:p>
                      <a:pPr marL="0" algn="l" fontAlgn="base">
                        <a:lnSpc>
                          <a:spcPts val="825"/>
                        </a:lnSpc>
                        <a:buClrTx/>
                        <a:buSzTx/>
                        <a:buNone/>
                      </a:pPr>
                      <a:endParaRPr lang="en-US" altLang="zh-CN" sz="1400" b="0" i="0">
                        <a:latin typeface="Calibri" panose="020F0502020204030204" charset="0"/>
                        <a:ea typeface="-apple-system"/>
                        <a:cs typeface="Calibri" panose="020F0502020204030204" charset="0"/>
                      </a:endParaRPr>
                    </a:p>
                    <a:p>
                      <a:pPr marL="0" algn="l" fontAlgn="base">
                        <a:lnSpc>
                          <a:spcPts val="825"/>
                        </a:lnSpc>
                        <a:buClrTx/>
                        <a:buSzTx/>
                        <a:buNone/>
                      </a:pPr>
                      <a:r>
                        <a:rPr lang="en-US" altLang="zh-CN" sz="1400" b="0" i="0">
                          <a:latin typeface="Calibri" panose="020F0502020204030204" charset="0"/>
                          <a:ea typeface="-apple-system"/>
                          <a:cs typeface="Calibri" panose="020F0502020204030204" charset="0"/>
                        </a:rPr>
                        <a:t>1,024 GPUs</a:t>
                      </a:r>
                    </a:p>
                  </a:txBody>
                  <a:tcPr marL="47942" marR="47942" marT="47942" marB="47942"/>
                </a:tc>
                <a:tc>
                  <a:txBody>
                    <a:bodyPr/>
                    <a:lstStyle/>
                    <a:p>
                      <a:pPr marL="0" algn="l" fontAlgn="base">
                        <a:lnSpc>
                          <a:spcPts val="825"/>
                        </a:lnSpc>
                        <a:buClrTx/>
                        <a:buSzTx/>
                        <a:buNone/>
                      </a:pPr>
                      <a:endParaRPr lang="en-US" altLang="zh-CN" sz="1400" b="0" i="0">
                        <a:latin typeface="Calibri" panose="020F0502020204030204" charset="0"/>
                        <a:ea typeface="-apple-system"/>
                        <a:cs typeface="Calibri" panose="020F0502020204030204" charset="0"/>
                      </a:endParaRPr>
                    </a:p>
                    <a:p>
                      <a:pPr marL="0" algn="l" fontAlgn="base">
                        <a:lnSpc>
                          <a:spcPts val="825"/>
                        </a:lnSpc>
                        <a:buClrTx/>
                        <a:buSzTx/>
                        <a:buNone/>
                      </a:pPr>
                      <a:r>
                        <a:rPr lang="en-US" altLang="zh-CN" sz="1400" b="0" i="0">
                          <a:latin typeface="Calibri" panose="020F0502020204030204" charset="0"/>
                          <a:ea typeface="-apple-system"/>
                          <a:cs typeface="Calibri" panose="020F0502020204030204" charset="0"/>
                        </a:rPr>
                        <a:t>7.9–25.8 hours</a:t>
                      </a:r>
                    </a:p>
                  </a:txBody>
                  <a:tcPr marL="47942" marR="47942" marT="47942" marB="47942"/>
                </a:tc>
                <a:tc>
                  <a:txBody>
                    <a:bodyPr/>
                    <a:lstStyle/>
                    <a:p>
                      <a:pPr marL="0" algn="l" fontAlgn="base">
                        <a:lnSpc>
                          <a:spcPts val="825"/>
                        </a:lnSpc>
                        <a:buClrTx/>
                        <a:buSzTx/>
                        <a:buNone/>
                      </a:pPr>
                      <a:endParaRPr lang="en-US" altLang="zh-CN" sz="1400" b="0" i="0">
                        <a:latin typeface="Calibri" panose="020F0502020204030204" charset="0"/>
                        <a:ea typeface="-apple-system"/>
                        <a:cs typeface="Calibri" panose="020F0502020204030204" charset="0"/>
                      </a:endParaRPr>
                    </a:p>
                    <a:p>
                      <a:pPr marL="0" algn="l" fontAlgn="base">
                        <a:lnSpc>
                          <a:spcPts val="825"/>
                        </a:lnSpc>
                        <a:buClrTx/>
                        <a:buSzTx/>
                        <a:buNone/>
                      </a:pPr>
                      <a:r>
                        <a:rPr lang="en-US" altLang="zh-CN" sz="1400" b="0" i="0">
                          <a:latin typeface="Calibri" panose="020F0502020204030204" charset="0"/>
                          <a:ea typeface="-apple-system"/>
                          <a:cs typeface="Calibri" panose="020F0502020204030204" charset="0"/>
                        </a:rPr>
                        <a:t>Google Borg Cluster Analysis</a:t>
                      </a:r>
                    </a:p>
                  </a:txBody>
                  <a:tcPr marL="47942" marR="47942" marT="47942" marB="4794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810">
                <a:tc>
                  <a:txBody>
                    <a:bodyPr/>
                    <a:lstStyle/>
                    <a:p>
                      <a:pPr marL="0" algn="l" fontAlgn="base">
                        <a:lnSpc>
                          <a:spcPts val="825"/>
                        </a:lnSpc>
                        <a:buClrTx/>
                        <a:buSzTx/>
                        <a:buNone/>
                      </a:pPr>
                      <a:endParaRPr lang="en-US" altLang="zh-CN" sz="1400" b="0" i="0">
                        <a:latin typeface="Calibri" panose="020F0502020204030204" charset="0"/>
                        <a:ea typeface="-apple-system"/>
                        <a:cs typeface="Calibri" panose="020F0502020204030204" charset="0"/>
                      </a:endParaRPr>
                    </a:p>
                    <a:p>
                      <a:pPr marL="0" algn="l" fontAlgn="base">
                        <a:lnSpc>
                          <a:spcPts val="825"/>
                        </a:lnSpc>
                        <a:buClrTx/>
                        <a:buSzTx/>
                        <a:buNone/>
                      </a:pPr>
                      <a:r>
                        <a:rPr lang="en-US" altLang="zh-CN" sz="1400" b="0" i="0">
                          <a:latin typeface="Calibri" panose="020F0502020204030204" charset="0"/>
                          <a:ea typeface="-apple-system"/>
                          <a:cs typeface="Calibri" panose="020F0502020204030204" charset="0"/>
                        </a:rPr>
                        <a:t>1,440+ GPUs</a:t>
                      </a:r>
                    </a:p>
                  </a:txBody>
                  <a:tcPr marL="47942" marR="47942" marT="47942" marB="47942"/>
                </a:tc>
                <a:tc>
                  <a:txBody>
                    <a:bodyPr/>
                    <a:lstStyle/>
                    <a:p>
                      <a:pPr marL="0" algn="l" fontAlgn="base">
                        <a:lnSpc>
                          <a:spcPts val="825"/>
                        </a:lnSpc>
                        <a:buClrTx/>
                        <a:buSzTx/>
                        <a:buNone/>
                      </a:pPr>
                      <a:endParaRPr lang="en-US" altLang="zh-CN" sz="1400" b="0" i="0">
                        <a:latin typeface="Calibri" panose="020F0502020204030204" charset="0"/>
                        <a:ea typeface="-apple-system"/>
                        <a:cs typeface="Calibri" panose="020F0502020204030204" charset="0"/>
                      </a:endParaRPr>
                    </a:p>
                    <a:p>
                      <a:pPr marL="0" algn="l" fontAlgn="base">
                        <a:lnSpc>
                          <a:spcPts val="825"/>
                        </a:lnSpc>
                        <a:buClrTx/>
                        <a:buSzTx/>
                        <a:buNone/>
                      </a:pPr>
                      <a:r>
                        <a:rPr lang="en-US" altLang="zh-CN" sz="1400" b="0" i="0">
                          <a:latin typeface="Calibri" panose="020F0502020204030204" charset="0"/>
                          <a:ea typeface="-apple-system"/>
                          <a:cs typeface="Calibri" panose="020F0502020204030204" charset="0"/>
                        </a:rPr>
                        <a:t>2.67 hours</a:t>
                      </a:r>
                    </a:p>
                  </a:txBody>
                  <a:tcPr marL="47942" marR="47942" marT="47942" marB="47942"/>
                </a:tc>
                <a:tc>
                  <a:txBody>
                    <a:bodyPr/>
                    <a:lstStyle/>
                    <a:p>
                      <a:pPr marL="0" algn="l" fontAlgn="base">
                        <a:lnSpc>
                          <a:spcPts val="825"/>
                        </a:lnSpc>
                        <a:buClrTx/>
                        <a:buSzTx/>
                        <a:buNone/>
                      </a:pPr>
                      <a:endParaRPr lang="en-US" altLang="zh-CN" sz="1400" b="0" i="0">
                        <a:latin typeface="Calibri" panose="020F0502020204030204" charset="0"/>
                        <a:ea typeface="-apple-system"/>
                        <a:cs typeface="Calibri" panose="020F0502020204030204" charset="0"/>
                      </a:endParaRPr>
                    </a:p>
                    <a:p>
                      <a:pPr marL="0" algn="l" fontAlgn="base">
                        <a:lnSpc>
                          <a:spcPts val="825"/>
                        </a:lnSpc>
                        <a:buClrTx/>
                        <a:buSzTx/>
                        <a:buNone/>
                      </a:pPr>
                      <a:r>
                        <a:rPr lang="en-US" altLang="zh-CN" sz="1400" b="0" i="0">
                          <a:latin typeface="Calibri" panose="020F0502020204030204" charset="0"/>
                          <a:ea typeface="-apple-system"/>
                          <a:cs typeface="Calibri" panose="020F0502020204030204" charset="0"/>
                        </a:rPr>
                        <a:t>Microsoft GPU Cluster Report</a:t>
                      </a:r>
                    </a:p>
                  </a:txBody>
                  <a:tcPr marL="47942" marR="47942" marT="47942" marB="4794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810">
                <a:tc>
                  <a:txBody>
                    <a:bodyPr/>
                    <a:lstStyle/>
                    <a:p>
                      <a:pPr marL="0" algn="l" fontAlgn="base">
                        <a:lnSpc>
                          <a:spcPts val="825"/>
                        </a:lnSpc>
                        <a:buClrTx/>
                        <a:buSzTx/>
                        <a:buNone/>
                      </a:pPr>
                      <a:endParaRPr lang="en-US" altLang="zh-CN" sz="1400" b="0" i="0">
                        <a:latin typeface="Calibri" panose="020F0502020204030204" charset="0"/>
                        <a:ea typeface="-apple-system"/>
                        <a:cs typeface="Calibri" panose="020F0502020204030204" charset="0"/>
                      </a:endParaRPr>
                    </a:p>
                    <a:p>
                      <a:pPr marL="0" algn="l" fontAlgn="base">
                        <a:lnSpc>
                          <a:spcPts val="825"/>
                        </a:lnSpc>
                        <a:buClrTx/>
                        <a:buSzTx/>
                        <a:buNone/>
                      </a:pPr>
                      <a:r>
                        <a:rPr lang="en-US" altLang="zh-CN" sz="1400" b="0" i="0">
                          <a:latin typeface="Calibri" panose="020F0502020204030204" charset="0"/>
                          <a:ea typeface="-apple-system"/>
                          <a:cs typeface="Calibri" panose="020F0502020204030204" charset="0"/>
                        </a:rPr>
                        <a:t>16,384 GPUs (Llama 3)</a:t>
                      </a:r>
                    </a:p>
                  </a:txBody>
                  <a:tcPr marL="47942" marR="47942" marT="47942" marB="47942"/>
                </a:tc>
                <a:tc>
                  <a:txBody>
                    <a:bodyPr/>
                    <a:lstStyle/>
                    <a:p>
                      <a:pPr marL="0" algn="l" fontAlgn="base">
                        <a:lnSpc>
                          <a:spcPts val="825"/>
                        </a:lnSpc>
                        <a:buClrTx/>
                        <a:buSzTx/>
                        <a:buNone/>
                      </a:pPr>
                      <a:endParaRPr lang="en-US" altLang="zh-CN" sz="1400" b="0" i="0">
                        <a:latin typeface="Calibri" panose="020F0502020204030204" charset="0"/>
                        <a:ea typeface="-apple-system"/>
                        <a:cs typeface="Calibri" panose="020F0502020204030204" charset="0"/>
                      </a:endParaRPr>
                    </a:p>
                    <a:p>
                      <a:pPr marL="0" algn="l" fontAlgn="base">
                        <a:lnSpc>
                          <a:spcPts val="825"/>
                        </a:lnSpc>
                        <a:buClrTx/>
                        <a:buSzTx/>
                        <a:buNone/>
                      </a:pPr>
                      <a:r>
                        <a:rPr lang="en-US" altLang="zh-CN" sz="1400" b="0" i="0">
                          <a:latin typeface="Calibri" panose="020F0502020204030204" charset="0"/>
                          <a:ea typeface="-apple-system"/>
                          <a:cs typeface="Calibri" panose="020F0502020204030204" charset="0"/>
                        </a:rPr>
                        <a:t>1.8–3 hours</a:t>
                      </a:r>
                    </a:p>
                  </a:txBody>
                  <a:tcPr marL="47942" marR="47942" marT="47942" marB="47942"/>
                </a:tc>
                <a:tc>
                  <a:txBody>
                    <a:bodyPr/>
                    <a:lstStyle/>
                    <a:p>
                      <a:pPr marL="0" algn="l" fontAlgn="base">
                        <a:lnSpc>
                          <a:spcPts val="825"/>
                        </a:lnSpc>
                        <a:buClrTx/>
                        <a:buSzTx/>
                        <a:buNone/>
                      </a:pPr>
                      <a:endParaRPr lang="en-US" altLang="zh-CN" sz="1400" b="0" i="0">
                        <a:latin typeface="Calibri" panose="020F0502020204030204" charset="0"/>
                        <a:ea typeface="-apple-system"/>
                        <a:cs typeface="Calibri" panose="020F0502020204030204" charset="0"/>
                      </a:endParaRPr>
                    </a:p>
                    <a:p>
                      <a:pPr marL="0" algn="l" fontAlgn="base">
                        <a:lnSpc>
                          <a:spcPts val="825"/>
                        </a:lnSpc>
                        <a:buClrTx/>
                        <a:buSzTx/>
                        <a:buNone/>
                      </a:pPr>
                      <a:r>
                        <a:rPr lang="en-US" altLang="zh-CN" sz="1400" b="0" i="0">
                          <a:latin typeface="Calibri" panose="020F0502020204030204" charset="0"/>
                          <a:ea typeface="-apple-system"/>
                          <a:cs typeface="Calibri" panose="020F0502020204030204" charset="0"/>
                        </a:rPr>
                        <a:t>Llama 3 Training Empirical Statistics</a:t>
                      </a:r>
                    </a:p>
                  </a:txBody>
                  <a:tcPr marL="47942" marR="47942" marT="47942" marB="4794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810">
                <a:tc>
                  <a:txBody>
                    <a:bodyPr/>
                    <a:lstStyle/>
                    <a:p>
                      <a:pPr marL="0" algn="l" fontAlgn="base">
                        <a:lnSpc>
                          <a:spcPts val="825"/>
                        </a:lnSpc>
                        <a:buClrTx/>
                        <a:buSzTx/>
                        <a:buNone/>
                      </a:pPr>
                      <a:endParaRPr lang="en-US" altLang="zh-CN" sz="1400" b="0" i="0">
                        <a:latin typeface="Calibri" panose="020F0502020204030204" charset="0"/>
                        <a:ea typeface="-apple-system"/>
                        <a:cs typeface="Calibri" panose="020F0502020204030204" charset="0"/>
                      </a:endParaRPr>
                    </a:p>
                    <a:p>
                      <a:pPr marL="0" algn="l" fontAlgn="base">
                        <a:lnSpc>
                          <a:spcPts val="825"/>
                        </a:lnSpc>
                        <a:buClrTx/>
                        <a:buSzTx/>
                        <a:buNone/>
                      </a:pPr>
                      <a:r>
                        <a:rPr lang="en-US" altLang="zh-CN" sz="1400" b="0" i="0">
                          <a:latin typeface="Calibri" panose="020F0502020204030204" charset="0"/>
                          <a:ea typeface="-apple-system"/>
                          <a:cs typeface="Calibri" panose="020F0502020204030204" charset="0"/>
                        </a:rPr>
                        <a:t>131,072 GPUs</a:t>
                      </a:r>
                    </a:p>
                  </a:txBody>
                  <a:tcPr marL="47942" marR="47942" marT="47942" marB="47942"/>
                </a:tc>
                <a:tc>
                  <a:txBody>
                    <a:bodyPr/>
                    <a:lstStyle/>
                    <a:p>
                      <a:pPr marL="0" algn="l" fontAlgn="base">
                        <a:lnSpc>
                          <a:spcPts val="825"/>
                        </a:lnSpc>
                        <a:buClrTx/>
                        <a:buSzTx/>
                        <a:buNone/>
                      </a:pPr>
                      <a:endParaRPr lang="en-US" altLang="zh-CN" sz="1400" b="0" i="0">
                        <a:latin typeface="Calibri" panose="020F0502020204030204" charset="0"/>
                        <a:ea typeface="-apple-system"/>
                        <a:cs typeface="Calibri" panose="020F0502020204030204" charset="0"/>
                      </a:endParaRPr>
                    </a:p>
                    <a:p>
                      <a:pPr marL="0" algn="l" fontAlgn="base">
                        <a:lnSpc>
                          <a:spcPts val="825"/>
                        </a:lnSpc>
                        <a:buClrTx/>
                        <a:buSzTx/>
                        <a:buNone/>
                      </a:pPr>
                      <a:r>
                        <a:rPr lang="en-US" altLang="zh-CN" sz="1400" b="0" i="0">
                          <a:latin typeface="Calibri" panose="020F0502020204030204" charset="0"/>
                          <a:ea typeface="-apple-system"/>
                          <a:cs typeface="Calibri" panose="020F0502020204030204" charset="0"/>
                        </a:rPr>
                        <a:t>14 minutes</a:t>
                      </a:r>
                    </a:p>
                  </a:txBody>
                  <a:tcPr marL="47942" marR="47942" marT="47942" marB="47942"/>
                </a:tc>
                <a:tc>
                  <a:txBody>
                    <a:bodyPr/>
                    <a:lstStyle/>
                    <a:p>
                      <a:pPr marL="0" algn="l" fontAlgn="base">
                        <a:lnSpc>
                          <a:spcPts val="825"/>
                        </a:lnSpc>
                        <a:buClrTx/>
                        <a:buSzTx/>
                        <a:buNone/>
                      </a:pPr>
                      <a:endParaRPr lang="en-US" altLang="zh-CN" sz="1400" b="0" i="0">
                        <a:latin typeface="Calibri" panose="020F0502020204030204" charset="0"/>
                        <a:ea typeface="-apple-system"/>
                        <a:cs typeface="Calibri" panose="020F0502020204030204" charset="0"/>
                      </a:endParaRPr>
                    </a:p>
                    <a:p>
                      <a:pPr marL="0" algn="l" fontAlgn="base">
                        <a:lnSpc>
                          <a:spcPts val="825"/>
                        </a:lnSpc>
                        <a:buClrTx/>
                        <a:buSzTx/>
                        <a:buNone/>
                      </a:pPr>
                      <a:r>
                        <a:rPr lang="en-US" altLang="zh-CN" sz="1400" b="0" i="0">
                          <a:latin typeface="Calibri" panose="020F0502020204030204" charset="0"/>
                          <a:ea typeface="-apple-system"/>
                          <a:cs typeface="Calibri" panose="020F0502020204030204" charset="0"/>
                        </a:rPr>
                        <a:t>Google Large-Scale Cluster Study</a:t>
                      </a:r>
                    </a:p>
                  </a:txBody>
                  <a:tcPr marL="47942" marR="47942" marT="47942" marB="47942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cs typeface="Calibri" panose="020F0502020204030204" charset="0"/>
                <a:sym typeface="+mn-ea"/>
              </a:rPr>
              <a:t>Background:</a:t>
            </a:r>
            <a:r>
              <a:rPr lang="en-US" sz="3200">
                <a:solidFill>
                  <a:schemeClr val="tx1"/>
                </a:solidFill>
                <a:ea typeface="Noto Sans SC" panose="020B0200000000000000" pitchFamily="34" charset="-122"/>
                <a:cs typeface="Calibri" panose="020F0502020204030204" charset="0"/>
                <a:sym typeface="+mn-ea"/>
              </a:rPr>
              <a:t> Fault Conditions in Large-Scale Training</a:t>
            </a:r>
            <a:endParaRPr lang="en-US" altLang="en-US" sz="3200">
              <a:solidFill>
                <a:schemeClr val="tx1"/>
              </a:solidFill>
              <a:ea typeface="Noto Sans SC" panose="020B0200000000000000" pitchFamily="34" charset="-122"/>
              <a:cs typeface="Calibri" panose="020F0502020204030204" charset="0"/>
              <a:sym typeface="+mn-ea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Duan J, Zhang S, Wang Z, et al. Efficient training of large language models on distributed infrastructures: a survey[J]. arXiv preprint arXiv:2407.20018, 2024.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5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Autofit/>
          </a:bodyPr>
          <a:lstStyle/>
          <a:p>
            <a:r>
              <a:rPr lang="zh-CN" altLang="en-US" sz="1800" b="1">
                <a:cs typeface="Calibri" panose="020F0502020204030204" charset="0"/>
              </a:rPr>
              <a:t>Failure Cause Analysis</a:t>
            </a:r>
            <a:endParaRPr lang="zh-CN" altLang="en-US" b="1">
              <a:cs typeface="Calibri" panose="020F0502020204030204" charset="0"/>
            </a:endParaRPr>
          </a:p>
          <a:p>
            <a:pPr lvl="1"/>
            <a:r>
              <a:rPr lang="zh-CN" altLang="en-US" sz="1600" b="1">
                <a:cs typeface="Calibri" panose="020F0502020204030204" charset="0"/>
              </a:rPr>
              <a:t>System </a:t>
            </a:r>
            <a:r>
              <a:rPr lang="en-US" altLang="zh-CN" sz="1600" b="1">
                <a:cs typeface="Calibri" panose="020F0502020204030204" charset="0"/>
              </a:rPr>
              <a:t>c</a:t>
            </a:r>
            <a:r>
              <a:rPr lang="zh-CN" altLang="en-US" sz="1600" b="1">
                <a:cs typeface="Calibri" panose="020F0502020204030204" charset="0"/>
              </a:rPr>
              <a:t>omplexity: </a:t>
            </a:r>
            <a:r>
              <a:rPr lang="en-US" altLang="zh-CN" sz="1600">
                <a:cs typeface="Calibri" panose="020F0502020204030204" charset="0"/>
              </a:rPr>
              <a:t>T</a:t>
            </a:r>
            <a:r>
              <a:rPr lang="zh-CN" altLang="en-US" sz="1600">
                <a:cs typeface="Calibri" panose="020F0502020204030204" charset="0"/>
              </a:rPr>
              <a:t>raining system comprises an extensive componen</a:t>
            </a:r>
            <a:r>
              <a:rPr lang="en-US" altLang="zh-CN" sz="1600">
                <a:cs typeface="Calibri" panose="020F0502020204030204" charset="0"/>
              </a:rPr>
              <a:t>t</a:t>
            </a:r>
            <a:r>
              <a:rPr lang="zh-CN" altLang="en-US" sz="1600">
                <a:cs typeface="Calibri" panose="020F0502020204030204" charset="0"/>
              </a:rPr>
              <a:t>, whereby weaknesses in any segment are magnified.</a:t>
            </a:r>
            <a:endParaRPr lang="en-US" altLang="zh-CN" sz="1600">
              <a:cs typeface="Calibri" panose="020F0502020204030204" charset="0"/>
            </a:endParaRPr>
          </a:p>
          <a:p>
            <a:pPr lvl="1"/>
            <a:r>
              <a:rPr lang="zh-CN" altLang="en-US" sz="1600" b="1">
                <a:cs typeface="Calibri" panose="020F0502020204030204" charset="0"/>
              </a:rPr>
              <a:t>Extended time span:</a:t>
            </a:r>
            <a:r>
              <a:rPr lang="en-US" altLang="zh-CN" sz="1600" b="1">
                <a:cs typeface="Calibri" panose="020F0502020204030204" charset="0"/>
              </a:rPr>
              <a:t> </a:t>
            </a:r>
            <a:r>
              <a:rPr lang="zh-CN" altLang="en-US" sz="1600">
                <a:cs typeface="Calibri" panose="020F0502020204030204" charset="0"/>
              </a:rPr>
              <a:t>Model training often extends over several months, thereby increasing the window for fault occurrence.</a:t>
            </a:r>
            <a:endParaRPr lang="en-US" altLang="zh-CN" sz="1600">
              <a:cs typeface="Calibri" panose="020F0502020204030204" charset="0"/>
            </a:endParaRPr>
          </a:p>
          <a:p>
            <a:pPr lvl="1"/>
            <a:r>
              <a:rPr lang="zh-CN" altLang="en-US" sz="1600" b="1">
                <a:cs typeface="Calibri" panose="020F0502020204030204" charset="0"/>
              </a:rPr>
              <a:t>Failure propagation in training:</a:t>
            </a:r>
            <a:r>
              <a:rPr lang="zh-CN" altLang="en-US" sz="1600">
                <a:cs typeface="Calibri" panose="020F0502020204030204" charset="0"/>
              </a:rPr>
              <a:t> Under synchronous training paradigms, a failure in a single node results in the termination of the entire training job, rendering the system highly susceptible to localized faults.</a:t>
            </a:r>
          </a:p>
          <a:p>
            <a:pPr lvl="0"/>
            <a:r>
              <a:rPr lang="zh-CN" altLang="en-US" sz="1800" b="1">
                <a:cs typeface="Calibri" panose="020F0502020204030204" charset="0"/>
                <a:sym typeface="+mn-ea"/>
              </a:rPr>
              <a:t>Real-world examples</a:t>
            </a:r>
            <a:endParaRPr lang="zh-CN" altLang="en-US" sz="2800">
              <a:cs typeface="Calibri" panose="020F0502020204030204" charset="0"/>
            </a:endParaRPr>
          </a:p>
          <a:p>
            <a:pPr lvl="1"/>
            <a:r>
              <a:rPr lang="en-US" altLang="zh-CN" sz="1600">
                <a:cs typeface="Calibri" panose="020F0502020204030204" charset="0"/>
                <a:sym typeface="+mn-ea"/>
              </a:rPr>
              <a:t>Meta OPT-175B (992 A100 GPUs): Over 40 failures occurred within a two-week period.</a:t>
            </a:r>
            <a:endParaRPr lang="en-US" altLang="zh-CN">
              <a:cs typeface="Calibri" panose="020F0502020204030204" charset="0"/>
            </a:endParaRPr>
          </a:p>
          <a:p>
            <a:pPr lvl="1"/>
            <a:r>
              <a:rPr lang="en-US" altLang="zh-CN" sz="1600">
                <a:cs typeface="Calibri" panose="020F0502020204030204" charset="0"/>
                <a:sym typeface="+mn-ea"/>
              </a:rPr>
              <a:t>Acme (1000+ A100 GPUs): On average, one fault occurs every 1–2 days during training.</a:t>
            </a:r>
            <a:endParaRPr lang="zh-CN" altLang="en-US">
              <a:cs typeface="Calibri" panose="020F0502020204030204" charset="0"/>
            </a:endParaRPr>
          </a:p>
          <a:p>
            <a:pPr lvl="1"/>
            <a:r>
              <a:rPr lang="en-US" altLang="zh-CN" sz="1600">
                <a:cs typeface="Calibri" panose="020F0502020204030204" charset="0"/>
                <a:sym typeface="+mn-ea"/>
              </a:rPr>
              <a:t>ByteDance MegaScale (12,288 GPUs): Experienced over 100 faults within several weeks.</a:t>
            </a:r>
            <a:endParaRPr lang="en-US" altLang="zh-CN" sz="1600">
              <a:cs typeface="Calibri" panose="020F0502020204030204" charset="0"/>
            </a:endParaRPr>
          </a:p>
          <a:p>
            <a:pPr lvl="0"/>
            <a:r>
              <a:rPr lang="zh-CN" altLang="en-US" sz="1800" b="1">
                <a:cs typeface="Calibri" panose="020F0502020204030204" charset="0"/>
              </a:rPr>
              <a:t>Economic cost impact</a:t>
            </a:r>
            <a:endParaRPr lang="zh-CN" altLang="en-US" b="1">
              <a:cs typeface="Calibri" panose="020F0502020204030204" charset="0"/>
            </a:endParaRPr>
          </a:p>
          <a:p>
            <a:pPr lvl="1"/>
            <a:r>
              <a:rPr lang="zh-CN" altLang="en-US" sz="1600">
                <a:cs typeface="Calibri" panose="020F0502020204030204" charset="0"/>
              </a:rPr>
              <a:t>Time loss: Each Fault recovery takes</a:t>
            </a:r>
            <a:r>
              <a:rPr lang="en-US" altLang="zh-CN" sz="1600">
                <a:cs typeface="Calibri" panose="020F0502020204030204" charset="0"/>
              </a:rPr>
              <a:t> 10-30</a:t>
            </a:r>
            <a:r>
              <a:rPr lang="zh-CN" altLang="en-US" sz="1600">
                <a:cs typeface="Calibri" panose="020F0502020204030204" charset="0"/>
              </a:rPr>
              <a:t> minutes; frequent interruptions severely slow progress.</a:t>
            </a:r>
            <a:endParaRPr lang="zh-CN" altLang="en-US">
              <a:cs typeface="Calibri" panose="020F0502020204030204" charset="0"/>
            </a:endParaRPr>
          </a:p>
          <a:p>
            <a:pPr lvl="1"/>
            <a:r>
              <a:rPr lang="zh-CN" altLang="en-US" sz="1600">
                <a:cs typeface="Calibri" panose="020F0502020204030204" charset="0"/>
              </a:rPr>
              <a:t>Compute resource waste: The Wanka Cluster costs tens of thousands of dollars per hour, and failures leave resources idle.</a:t>
            </a:r>
          </a:p>
          <a:p>
            <a:pPr lvl="1"/>
            <a:r>
              <a:rPr lang="zh-CN" altLang="en-US" sz="1600">
                <a:cs typeface="Calibri" panose="020F0502020204030204" charset="0"/>
              </a:rPr>
              <a:t>Retraining overhead: Resuming from the previous Checkpoint requires recomputing unsaved iterations.</a:t>
            </a:r>
            <a:endParaRPr lang="zh-CN" altLang="en-US">
              <a:cs typeface="Calibri" panose="020F0502020204030204" charset="0"/>
            </a:endParaRPr>
          </a:p>
          <a:p>
            <a:pPr lvl="1"/>
            <a:endParaRPr lang="zh-CN" altLang="en-US">
              <a:cs typeface="Calibri" panose="020F0502020204030204" charset="0"/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Background: Analysis of </a:t>
            </a:r>
            <a:r>
              <a:rPr lang="en-US" altLang="zh-CN"/>
              <a:t>F</a:t>
            </a:r>
            <a:r>
              <a:rPr lang="zh-CN" altLang="en-US"/>
              <a:t>ault </a:t>
            </a:r>
            <a:r>
              <a:rPr lang="en-US" altLang="zh-CN"/>
              <a:t>T</a:t>
            </a:r>
            <a:r>
              <a:rPr lang="zh-CN" altLang="en-US"/>
              <a:t>ypes and </a:t>
            </a:r>
            <a:r>
              <a:rPr lang="en-US" altLang="zh-CN"/>
              <a:t>I</a:t>
            </a:r>
            <a:r>
              <a:rPr lang="zh-CN" altLang="en-US"/>
              <a:t>mpacts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https://www.datacenterdynamics.com/en/news/meta-report-details-hundreds-of-gpu-and-hbm3-related-interruptions-to-llama-3-training-run/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6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altLang="zh-CN" sz="2200">
                <a:cs typeface="Calibri" panose="020F0502020204030204" charset="0"/>
              </a:rPr>
              <a:t>Meta Llama 3 405B</a:t>
            </a:r>
            <a:r>
              <a:rPr lang="zh-CN" altLang="en-US" sz="2200">
                <a:cs typeface="Calibri" panose="020F0502020204030204" charset="0"/>
              </a:rPr>
              <a:t> Training Report</a:t>
            </a:r>
          </a:p>
          <a:p>
            <a:pPr lvl="1"/>
            <a:r>
              <a:rPr lang="en-US" altLang="zh-CN" b="1">
                <a:cs typeface="Calibri" panose="020F0502020204030204" charset="0"/>
                <a:sym typeface="+mn-ea"/>
              </a:rPr>
              <a:t>54 days, 16,384 H100 GPU, 419 unexpected interruptions </a:t>
            </a:r>
            <a:r>
              <a:rPr lang="en-US" altLang="zh-CN">
                <a:cs typeface="Calibri" panose="020F0502020204030204" charset="0"/>
                <a:sym typeface="+mn-ea"/>
              </a:rPr>
              <a:t>(average of one failure every 3 hours)</a:t>
            </a:r>
            <a:br>
              <a:rPr lang="zh-CN" altLang="en-US" b="1">
                <a:cs typeface="Calibri" panose="020F0502020204030204" charset="0"/>
                <a:sym typeface="+mn-ea"/>
              </a:rPr>
            </a:br>
            <a:endParaRPr lang="zh-CN" altLang="en-US" b="1">
              <a:cs typeface="Calibri" panose="020F0502020204030204" charset="0"/>
            </a:endParaRPr>
          </a:p>
          <a:p>
            <a:pPr lvl="1"/>
            <a:r>
              <a:rPr lang="zh-CN" altLang="en-US" b="1">
                <a:cs typeface="Calibri" panose="020F0502020204030204" charset="0"/>
              </a:rPr>
              <a:t>Hardware level (</a:t>
            </a:r>
            <a:r>
              <a:rPr lang="en-US" altLang="zh-CN" b="1">
                <a:cs typeface="Calibri" panose="020F0502020204030204" charset="0"/>
              </a:rPr>
              <a:t>58.7%</a:t>
            </a:r>
            <a:r>
              <a:rPr lang="zh-CN" altLang="en-US" b="1">
                <a:cs typeface="Calibri" panose="020F0502020204030204" charset="0"/>
              </a:rPr>
              <a:t>)</a:t>
            </a:r>
            <a:endParaRPr lang="en-US" altLang="zh-CN" b="1">
              <a:cs typeface="Calibri" panose="020F0502020204030204" charset="0"/>
            </a:endParaRPr>
          </a:p>
          <a:p>
            <a:pPr lvl="2"/>
            <a:r>
              <a:rPr lang="en-US" altLang="zh-CN">
                <a:cs typeface="Calibri" panose="020F0502020204030204" charset="0"/>
              </a:rPr>
              <a:t>GPU</a:t>
            </a:r>
            <a:r>
              <a:rPr lang="zh-CN" altLang="en-US">
                <a:cs typeface="Calibri" panose="020F0502020204030204" charset="0"/>
              </a:rPr>
              <a:t> Hardware</a:t>
            </a:r>
            <a:r>
              <a:rPr lang="en-US" altLang="zh-CN">
                <a:cs typeface="Calibri" panose="020F0502020204030204" charset="0"/>
              </a:rPr>
              <a:t>/NVLink (30.1%): 148 </a:t>
            </a:r>
            <a:r>
              <a:rPr lang="zh-CN" altLang="en-US">
                <a:cs typeface="Calibri" panose="020F0502020204030204" charset="0"/>
              </a:rPr>
              <a:t>failures, physical challenges arising from hyperscale interconnects.</a:t>
            </a:r>
          </a:p>
          <a:p>
            <a:pPr lvl="2"/>
            <a:r>
              <a:rPr lang="en-US" altLang="zh-CN">
                <a:cs typeface="Calibri" panose="020F0502020204030204" charset="0"/>
              </a:rPr>
              <a:t>HBM3 </a:t>
            </a:r>
            <a:r>
              <a:rPr lang="zh-CN" altLang="en-US">
                <a:cs typeface="Calibri" panose="020F0502020204030204" charset="0"/>
              </a:rPr>
              <a:t>VRAM</a:t>
            </a:r>
            <a:r>
              <a:rPr lang="en-US" altLang="zh-CN">
                <a:cs typeface="Calibri" panose="020F0502020204030204" charset="0"/>
              </a:rPr>
              <a:t> (17.2%): 72 </a:t>
            </a:r>
            <a:r>
              <a:rPr lang="zh-CN" altLang="en-US">
                <a:cs typeface="Calibri" panose="020F0502020204030204" charset="0"/>
              </a:rPr>
              <a:t>failures, mainly because the thermal stress from</a:t>
            </a:r>
            <a:r>
              <a:rPr lang="en-US" altLang="zh-CN">
                <a:cs typeface="Calibri" panose="020F0502020204030204" charset="0"/>
              </a:rPr>
              <a:t> </a:t>
            </a:r>
            <a:r>
              <a:rPr lang="zh-CN" altLang="en-US">
                <a:cs typeface="Calibri" panose="020F0502020204030204" charset="0"/>
              </a:rPr>
              <a:t>high power draw leads to semiconductor fatigue.</a:t>
            </a:r>
            <a:endParaRPr lang="en-US" altLang="zh-CN">
              <a:cs typeface="Calibri" panose="020F0502020204030204" charset="0"/>
            </a:endParaRPr>
          </a:p>
          <a:p>
            <a:pPr lvl="2"/>
            <a:r>
              <a:rPr lang="en-US" altLang="zh-CN">
                <a:cs typeface="Calibri" panose="020F0502020204030204" charset="0"/>
              </a:rPr>
              <a:t>SRAM </a:t>
            </a:r>
            <a:r>
              <a:rPr lang="zh-CN" altLang="en-US">
                <a:cs typeface="Calibri" panose="020F0502020204030204" charset="0"/>
              </a:rPr>
              <a:t>and processors</a:t>
            </a:r>
            <a:r>
              <a:rPr lang="en-US" altLang="zh-CN">
                <a:cs typeface="Calibri" panose="020F0502020204030204" charset="0"/>
              </a:rPr>
              <a:t> (8.6%): 36 </a:t>
            </a:r>
            <a:r>
              <a:rPr lang="zh-CN" altLang="en-US">
                <a:cs typeface="Calibri" panose="020F0502020204030204" charset="0"/>
              </a:rPr>
              <a:t>failures, with fragile low-level circuitry failing under heavy workloads.</a:t>
            </a:r>
          </a:p>
          <a:p>
            <a:pPr lvl="2"/>
            <a:r>
              <a:rPr lang="en-US" altLang="zh-CN">
                <a:cs typeface="Calibri" panose="020F0502020204030204" charset="0"/>
              </a:rPr>
              <a:t>CPU</a:t>
            </a:r>
            <a:r>
              <a:rPr lang="zh-CN" altLang="en-US">
                <a:cs typeface="Calibri" panose="020F0502020204030204" charset="0"/>
              </a:rPr>
              <a:t> Failures: only</a:t>
            </a:r>
            <a:r>
              <a:rPr lang="en-US" altLang="zh-CN">
                <a:cs typeface="Calibri" panose="020F0502020204030204" charset="0"/>
              </a:rPr>
              <a:t> 2 </a:t>
            </a:r>
            <a:r>
              <a:rPr lang="zh-CN" altLang="en-US">
                <a:cs typeface="Calibri" panose="020F0502020204030204" charset="0"/>
              </a:rPr>
              <a:t>failures (a stark contrast, showing</a:t>
            </a:r>
            <a:r>
              <a:rPr lang="en-US" altLang="zh-CN">
                <a:cs typeface="Calibri" panose="020F0502020204030204" charset="0"/>
              </a:rPr>
              <a:t> GPU </a:t>
            </a:r>
            <a:r>
              <a:rPr lang="zh-CN" altLang="en-US">
                <a:cs typeface="Calibri" panose="020F0502020204030204" charset="0"/>
              </a:rPr>
              <a:t>clusters are far less stable than traditional</a:t>
            </a:r>
            <a:r>
              <a:rPr lang="en-US" altLang="zh-CN">
                <a:cs typeface="Calibri" panose="020F0502020204030204" charset="0"/>
              </a:rPr>
              <a:t> CPU </a:t>
            </a:r>
            <a:r>
              <a:rPr lang="zh-CN" altLang="en-US">
                <a:cs typeface="Calibri" panose="020F0502020204030204" charset="0"/>
              </a:rPr>
              <a:t>clusters)</a:t>
            </a:r>
          </a:p>
          <a:p>
            <a:pPr lvl="1"/>
            <a:r>
              <a:rPr lang="zh-CN" altLang="en-US" b="1">
                <a:cs typeface="Calibri" panose="020F0502020204030204" charset="0"/>
              </a:rPr>
              <a:t>Connection layer: network and infrastructure</a:t>
            </a:r>
            <a:r>
              <a:rPr lang="en-US" altLang="zh-CN" b="1">
                <a:cs typeface="Calibri" panose="020F0502020204030204" charset="0"/>
              </a:rPr>
              <a:t> (8.4%)</a:t>
            </a:r>
          </a:p>
          <a:p>
            <a:pPr lvl="2"/>
            <a:r>
              <a:rPr lang="zh-CN" altLang="en-US">
                <a:cs typeface="Calibri" panose="020F0502020204030204" charset="0"/>
              </a:rPr>
              <a:t>Key points</a:t>
            </a:r>
            <a:r>
              <a:rPr lang="en-US" altLang="zh-CN">
                <a:cs typeface="Calibri" panose="020F0502020204030204" charset="0"/>
              </a:rPr>
              <a:t>: </a:t>
            </a:r>
            <a:r>
              <a:rPr lang="zh-CN" altLang="en-US">
                <a:cs typeface="Calibri" panose="020F0502020204030204" charset="0"/>
              </a:rPr>
              <a:t>switch and cable failures (</a:t>
            </a:r>
            <a:r>
              <a:rPr lang="en-US" altLang="zh-CN">
                <a:cs typeface="Calibri" panose="020F0502020204030204" charset="0"/>
              </a:rPr>
              <a:t>35 </a:t>
            </a:r>
            <a:r>
              <a:rPr lang="zh-CN" altLang="en-US">
                <a:cs typeface="Calibri" panose="020F0502020204030204" charset="0"/>
              </a:rPr>
              <a:t>occurrences), involving</a:t>
            </a:r>
            <a:r>
              <a:rPr lang="en-US" altLang="zh-CN">
                <a:cs typeface="Calibri" panose="020F0502020204030204" charset="0"/>
              </a:rPr>
              <a:t> RoCE/IB </a:t>
            </a:r>
            <a:r>
              <a:rPr lang="zh-CN" altLang="en-US">
                <a:cs typeface="Calibri" panose="020F0502020204030204" charset="0"/>
              </a:rPr>
              <a:t>network protocols and</a:t>
            </a:r>
            <a:r>
              <a:rPr lang="en-US" altLang="zh-CN">
                <a:cs typeface="Calibri" panose="020F0502020204030204" charset="0"/>
              </a:rPr>
              <a:t> NCCL </a:t>
            </a:r>
            <a:r>
              <a:rPr lang="zh-CN" altLang="en-US">
                <a:cs typeface="Calibri" panose="020F0502020204030204" charset="0"/>
              </a:rPr>
              <a:t>communication.</a:t>
            </a:r>
            <a:endParaRPr lang="en-US" altLang="zh-CN">
              <a:cs typeface="Calibri" panose="020F0502020204030204" charset="0"/>
            </a:endParaRPr>
          </a:p>
          <a:p>
            <a:pPr lvl="1"/>
            <a:r>
              <a:rPr lang="zh-CN" altLang="en-US" b="1">
                <a:cs typeface="Calibri" panose="020F0502020204030204" charset="0"/>
              </a:rPr>
              <a:t>System and environment layer</a:t>
            </a:r>
            <a:r>
              <a:rPr lang="en-US" altLang="zh-CN" b="1">
                <a:cs typeface="Calibri" panose="020F0502020204030204" charset="0"/>
              </a:rPr>
              <a:t> (33%)</a:t>
            </a:r>
          </a:p>
          <a:p>
            <a:pPr lvl="2"/>
            <a:r>
              <a:rPr lang="zh-CN" altLang="en-US">
                <a:cs typeface="Calibri" panose="020F0502020204030204" charset="0"/>
              </a:rPr>
              <a:t>Uncontrollable variables</a:t>
            </a:r>
            <a:r>
              <a:rPr lang="en-US" altLang="zh-CN">
                <a:cs typeface="Calibri" panose="020F0502020204030204" charset="0"/>
              </a:rPr>
              <a:t>: </a:t>
            </a:r>
            <a:r>
              <a:rPr lang="zh-CN" altLang="en-US">
                <a:cs typeface="Calibri" panose="020F0502020204030204" charset="0"/>
              </a:rPr>
              <a:t>software</a:t>
            </a:r>
            <a:r>
              <a:rPr lang="en-US" altLang="zh-CN">
                <a:cs typeface="Calibri" panose="020F0502020204030204" charset="0"/>
              </a:rPr>
              <a:t> Bug</a:t>
            </a:r>
            <a:r>
              <a:rPr lang="zh-CN" altLang="en-US">
                <a:cs typeface="Calibri" panose="020F0502020204030204" charset="0"/>
              </a:rPr>
              <a:t>, configuration errors, and</a:t>
            </a:r>
            <a:r>
              <a:rPr lang="en-US" altLang="zh-CN">
                <a:cs typeface="Calibri" panose="020F0502020204030204" charset="0"/>
              </a:rPr>
              <a:t> 1-2% </a:t>
            </a:r>
            <a:r>
              <a:rPr lang="zh-CN" altLang="en-US">
                <a:cs typeface="Calibri" panose="020F0502020204030204" charset="0"/>
              </a:rPr>
              <a:t>throughput fluctuations due to ambient temperature (triggering</a:t>
            </a:r>
            <a:r>
              <a:rPr lang="en-US" altLang="zh-CN">
                <a:cs typeface="Calibri" panose="020F0502020204030204" charset="0"/>
              </a:rPr>
              <a:t> GPU </a:t>
            </a:r>
            <a:r>
              <a:rPr lang="zh-CN" altLang="en-US">
                <a:cs typeface="Calibri" panose="020F0502020204030204" charset="0"/>
              </a:rPr>
              <a:t>thermal protection or frequency throttling).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Checkpoint-based Fault Tolerance System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7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Autofit/>
          </a:bodyPr>
          <a:lstStyle/>
          <a:p>
            <a:r>
              <a:rPr lang="en-US" altLang="zh-CN" sz="1800" b="1"/>
              <a:t>1. A</a:t>
            </a:r>
            <a:r>
              <a:rPr lang="zh-CN" altLang="en-US" sz="1800" b="1"/>
              <a:t>utomat</a:t>
            </a:r>
            <a:r>
              <a:rPr lang="en-US" altLang="zh-CN" sz="1800" b="1"/>
              <a:t>ed </a:t>
            </a:r>
            <a:r>
              <a:rPr lang="zh-CN" altLang="en-US" sz="1800" b="1"/>
              <a:t>fault detection</a:t>
            </a:r>
            <a:endParaRPr lang="en-US" altLang="zh-CN" sz="1800" b="1"/>
          </a:p>
          <a:p>
            <a:pPr lvl="1"/>
            <a:r>
              <a:rPr lang="zh-CN" altLang="en-US" sz="1600"/>
              <a:t>Function:</a:t>
            </a:r>
            <a:r>
              <a:rPr lang="en-US" altLang="zh-CN" sz="1600"/>
              <a:t> </a:t>
            </a:r>
            <a:r>
              <a:rPr lang="zh-CN" altLang="en-US" sz="1600"/>
              <a:t>real-time monitoring, capturing node crashes, process exits, or network interruptions at second-level granularity.</a:t>
            </a:r>
            <a:endParaRPr lang="en-US" altLang="zh-CN" sz="1600"/>
          </a:p>
          <a:p>
            <a:r>
              <a:rPr lang="en-US" altLang="zh-CN" sz="1800" b="1"/>
              <a:t>2. </a:t>
            </a:r>
            <a:r>
              <a:rPr lang="zh-CN" altLang="en-US" sz="1800" b="1"/>
              <a:t>Automated task recovery</a:t>
            </a:r>
            <a:endParaRPr lang="en-US" altLang="zh-CN" sz="1800" b="1"/>
          </a:p>
          <a:p>
            <a:pPr lvl="1"/>
            <a:r>
              <a:rPr lang="zh-CN" altLang="en-US" sz="1600"/>
              <a:t>Action:</a:t>
            </a:r>
            <a:r>
              <a:rPr lang="en-US" altLang="zh-CN" sz="1600"/>
              <a:t> </a:t>
            </a:r>
            <a:r>
              <a:rPr lang="zh-CN" altLang="en-US" sz="1600"/>
              <a:t>After a failure is detected, the system automatically restarts the failed process or schedules a new node to replace the faulty node.</a:t>
            </a:r>
            <a:endParaRPr lang="en-US" altLang="zh-CN" sz="1600"/>
          </a:p>
          <a:p>
            <a:pPr lvl="1"/>
            <a:r>
              <a:rPr lang="zh-CN" altLang="en-US" sz="1600"/>
              <a:t>Seamless </a:t>
            </a:r>
            <a:r>
              <a:rPr lang="en-US" altLang="zh-CN" sz="1600"/>
              <a:t>relaunch</a:t>
            </a:r>
            <a:r>
              <a:rPr lang="zh-CN" altLang="en-US" sz="1600"/>
              <a:t>:</a:t>
            </a:r>
            <a:r>
              <a:rPr lang="en-US" altLang="zh-CN" sz="1600"/>
              <a:t> </a:t>
            </a:r>
            <a:r>
              <a:rPr lang="zh-CN" altLang="en-US" sz="1600"/>
              <a:t>Configure startup script so that after a restart, they automatically detect and load the latest valid </a:t>
            </a:r>
            <a:r>
              <a:rPr lang="en-US" altLang="zh-CN" sz="1600"/>
              <a:t>c</a:t>
            </a:r>
            <a:r>
              <a:rPr lang="zh-CN" altLang="en-US" sz="1600"/>
              <a:t>heckpoint.</a:t>
            </a:r>
            <a:endParaRPr lang="en-US" altLang="zh-CN" sz="1600"/>
          </a:p>
          <a:p>
            <a:r>
              <a:rPr lang="en-US" altLang="zh-CN" sz="1800" b="1"/>
              <a:t>3. </a:t>
            </a:r>
            <a:r>
              <a:rPr lang="zh-CN" altLang="en-US" sz="1800" b="1"/>
              <a:t>Deep integration with distributed frameworks</a:t>
            </a:r>
            <a:endParaRPr lang="en-US" altLang="zh-CN" sz="1800" b="1"/>
          </a:p>
          <a:p>
            <a:pPr lvl="1"/>
            <a:r>
              <a:rPr lang="en-US" altLang="zh-CN" sz="1600"/>
              <a:t>DeepSpeed</a:t>
            </a:r>
            <a:r>
              <a:rPr lang="zh-CN" altLang="en-US" sz="1600"/>
              <a:t>:</a:t>
            </a:r>
            <a:r>
              <a:rPr lang="en-US" altLang="zh-CN" sz="1600"/>
              <a:t> </a:t>
            </a:r>
            <a:r>
              <a:rPr lang="zh-CN" altLang="en-US" sz="1600"/>
              <a:t>Built-in node-failure handling supports reintegrating new nodes into the communication group and automatically reconstructing sharded data.</a:t>
            </a:r>
            <a:endParaRPr lang="en-US" altLang="zh-CN" sz="1600"/>
          </a:p>
          <a:p>
            <a:pPr lvl="1"/>
            <a:r>
              <a:rPr lang="en-US" altLang="zh-CN" sz="1600"/>
              <a:t>PyTorch FSDP</a:t>
            </a:r>
            <a:r>
              <a:rPr lang="zh-CN" altLang="en-US" sz="1600"/>
              <a:t>:</a:t>
            </a:r>
            <a:r>
              <a:rPr lang="en-US" altLang="zh-CN" sz="1600"/>
              <a:t> </a:t>
            </a:r>
            <a:r>
              <a:rPr lang="zh-CN" altLang="en-US" sz="1600"/>
              <a:t>Provides a dedicated distributed</a:t>
            </a:r>
            <a:r>
              <a:rPr lang="en-US" altLang="zh-CN" sz="1600"/>
              <a:t> Checkpoint API</a:t>
            </a:r>
            <a:r>
              <a:rPr lang="zh-CN" altLang="en-US" sz="1600"/>
              <a:t>, simplifying the logic for saving and loading large-scale sharded weights.</a:t>
            </a:r>
            <a:endParaRPr lang="en-US" altLang="zh-CN" sz="1600"/>
          </a:p>
          <a:p>
            <a:r>
              <a:rPr lang="en-US" altLang="zh-CN" sz="1800" b="1"/>
              <a:t>4. </a:t>
            </a:r>
            <a:r>
              <a:rPr lang="zh-CN" altLang="en-US" sz="1800" b="1"/>
              <a:t>Flexible handling of partial failures</a:t>
            </a:r>
            <a:endParaRPr lang="en-US" altLang="zh-CN" sz="1800" b="1"/>
          </a:p>
          <a:p>
            <a:pPr lvl="1"/>
            <a:r>
              <a:rPr lang="zh-CN" altLang="en-US" sz="1600"/>
              <a:t>Elastic scaling:</a:t>
            </a:r>
            <a:r>
              <a:rPr lang="en-US" altLang="zh-CN" sz="1600"/>
              <a:t> </a:t>
            </a:r>
            <a:r>
              <a:rPr lang="zh-CN" altLang="en-US" sz="1600"/>
              <a:t>If some nodes fail, the system can continue training using the remaining nodes, or pause smoothly while waiting for resources to be restored.</a:t>
            </a:r>
            <a:endParaRPr lang="en-US" altLang="zh-CN" sz="1600"/>
          </a:p>
          <a:p>
            <a:pPr lvl="1"/>
            <a:r>
              <a:rPr lang="zh-CN" altLang="en-US" sz="1600"/>
              <a:t>Dynamic reconfiguration:</a:t>
            </a:r>
            <a:r>
              <a:rPr lang="en-US" altLang="zh-CN" sz="1600"/>
              <a:t> </a:t>
            </a:r>
            <a:r>
              <a:rPr lang="zh-CN" altLang="en-US" sz="1600"/>
              <a:t>Ensures the training topology remains communication-efficient after node changes.</a:t>
            </a: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Anomaly </a:t>
            </a:r>
            <a:r>
              <a:rPr lang="en-US" altLang="zh-CN"/>
              <a:t>D</a:t>
            </a:r>
            <a:r>
              <a:rPr lang="zh-CN" altLang="en-US"/>
              <a:t>etection </a:t>
            </a:r>
            <a:r>
              <a:rPr lang="en-US" altLang="zh-CN"/>
              <a:t>M</a:t>
            </a:r>
            <a:r>
              <a:rPr lang="zh-CN" altLang="en-US"/>
              <a:t>ethods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8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CN" altLang="en-US" sz="2000" b="1"/>
              <a:t>Statistical </a:t>
            </a:r>
            <a:r>
              <a:rPr lang="en-US" altLang="zh-CN" sz="2000" b="1"/>
              <a:t>M</a:t>
            </a:r>
            <a:r>
              <a:rPr lang="zh-CN" altLang="en-US" sz="2000" b="1"/>
              <a:t>onitoring: </a:t>
            </a:r>
            <a:r>
              <a:rPr lang="en-US" altLang="zh-CN" sz="2000" b="1"/>
              <a:t>R</a:t>
            </a:r>
            <a:r>
              <a:rPr lang="zh-CN" altLang="en-US" sz="2000" b="1"/>
              <a:t>eal-time fault handling</a:t>
            </a:r>
            <a:endParaRPr lang="zh-CN" altLang="en-US" sz="2800" b="1"/>
          </a:p>
          <a:p>
            <a:pPr lvl="1"/>
            <a:r>
              <a:rPr lang="zh-CN" altLang="en-US" sz="1800"/>
              <a:t>Continuous observation based on system-level metrics enables fault detection within seconds.</a:t>
            </a:r>
            <a:endParaRPr lang="en-US" altLang="zh-CN" sz="1800"/>
          </a:p>
          <a:p>
            <a:pPr lvl="1"/>
            <a:r>
              <a:rPr lang="zh-CN" altLang="en-US" sz="1800"/>
              <a:t>Monitoring architecture:</a:t>
            </a:r>
            <a:r>
              <a:rPr lang="en-US" altLang="zh-CN" sz="1800"/>
              <a:t> “</a:t>
            </a:r>
            <a:r>
              <a:rPr lang="zh-CN" altLang="en-US" sz="1800"/>
              <a:t>Single-GPU independent process</a:t>
            </a:r>
            <a:r>
              <a:rPr lang="en-US" altLang="zh-CN" sz="1800"/>
              <a:t> + </a:t>
            </a:r>
            <a:r>
              <a:rPr lang="zh-CN" altLang="en-US" sz="1800"/>
              <a:t>central-node heartbeat</a:t>
            </a:r>
            <a:r>
              <a:rPr lang="en-US" altLang="zh-CN" sz="1800"/>
              <a:t>”</a:t>
            </a:r>
          </a:p>
          <a:p>
            <a:pPr lvl="1"/>
            <a:r>
              <a:rPr lang="zh-CN" altLang="en-US" sz="1800"/>
              <a:t>Hardware dimension</a:t>
            </a:r>
            <a:r>
              <a:rPr lang="en-US" altLang="zh-CN" sz="1800"/>
              <a:t> (NVIDIA DCGM)</a:t>
            </a:r>
            <a:r>
              <a:rPr lang="zh-CN" altLang="en-US" sz="1800"/>
              <a:t>:</a:t>
            </a:r>
            <a:endParaRPr lang="en-US" altLang="zh-CN" sz="2400"/>
          </a:p>
          <a:p>
            <a:pPr lvl="2"/>
            <a:r>
              <a:rPr lang="zh-CN" altLang="en-US" sz="1400"/>
              <a:t>Compute performance:</a:t>
            </a:r>
            <a:r>
              <a:rPr lang="en-US" altLang="zh-CN" sz="1400"/>
              <a:t> </a:t>
            </a:r>
            <a:r>
              <a:rPr lang="zh-CN" altLang="en-US" sz="1400"/>
              <a:t>Monitor</a:t>
            </a:r>
            <a:r>
              <a:rPr lang="en-US" altLang="zh-CN" sz="1400"/>
              <a:t> SM </a:t>
            </a:r>
            <a:r>
              <a:rPr lang="zh-CN" altLang="en-US" sz="1400"/>
              <a:t>utilization and pipeline saturation.</a:t>
            </a:r>
            <a:endParaRPr lang="en-US" altLang="zh-CN" sz="1800"/>
          </a:p>
          <a:p>
            <a:pPr lvl="2"/>
            <a:r>
              <a:rPr lang="zh-CN" altLang="en-US" sz="1400"/>
              <a:t>GPU memory health:</a:t>
            </a:r>
            <a:r>
              <a:rPr lang="en-US" altLang="zh-CN" sz="1400"/>
              <a:t> </a:t>
            </a:r>
            <a:r>
              <a:rPr lang="zh-CN" altLang="en-US" sz="1400"/>
              <a:t>Prioritize monitoring</a:t>
            </a:r>
            <a:r>
              <a:rPr lang="en-US" altLang="zh-CN" sz="1400"/>
              <a:t> Row-remapping </a:t>
            </a:r>
            <a:r>
              <a:rPr lang="zh-CN" altLang="en-US" sz="1400"/>
              <a:t>metrics to anticipate</a:t>
            </a:r>
            <a:r>
              <a:rPr lang="en-US" altLang="zh-CN" sz="1400"/>
              <a:t> HBM3 </a:t>
            </a:r>
            <a:r>
              <a:rPr lang="zh-CN" altLang="en-US" sz="1400"/>
              <a:t>memory-cell degradation.</a:t>
            </a:r>
            <a:endParaRPr lang="zh-CN" altLang="en-US" sz="1800"/>
          </a:p>
          <a:p>
            <a:pPr lvl="2"/>
            <a:r>
              <a:rPr lang="zh-CN" altLang="en-US" sz="1400"/>
              <a:t>Interconnect:</a:t>
            </a:r>
            <a:r>
              <a:rPr lang="en-US" altLang="zh-CN" sz="1400"/>
              <a:t> </a:t>
            </a:r>
            <a:r>
              <a:rPr lang="zh-CN" altLang="en-US" sz="1400"/>
              <a:t>Track</a:t>
            </a:r>
            <a:r>
              <a:rPr lang="en-US" altLang="zh-CN" sz="1400"/>
              <a:t> PCIe </a:t>
            </a:r>
            <a:r>
              <a:rPr lang="zh-CN" altLang="en-US" sz="1400"/>
              <a:t>and</a:t>
            </a:r>
            <a:r>
              <a:rPr lang="en-US" altLang="zh-CN" sz="1400"/>
              <a:t> NVLink </a:t>
            </a:r>
            <a:r>
              <a:rPr lang="zh-CN" altLang="en-US" sz="1400"/>
              <a:t>traffic throughput in real time.</a:t>
            </a:r>
            <a:endParaRPr lang="en-US" altLang="zh-CN" sz="1800"/>
          </a:p>
          <a:p>
            <a:pPr lvl="1"/>
            <a:r>
              <a:rPr lang="zh-CN" altLang="en-US" sz="1800"/>
              <a:t>Communication dimension</a:t>
            </a:r>
            <a:r>
              <a:rPr lang="en-US" altLang="zh-CN" sz="1800"/>
              <a:t> (</a:t>
            </a:r>
            <a:r>
              <a:rPr lang="zh-CN" altLang="en-US" sz="1800"/>
              <a:t>network performance</a:t>
            </a:r>
            <a:r>
              <a:rPr lang="en-US" altLang="zh-CN" sz="1800"/>
              <a:t>)</a:t>
            </a:r>
            <a:r>
              <a:rPr lang="zh-CN" altLang="en-US" sz="1800"/>
              <a:t>:</a:t>
            </a:r>
            <a:endParaRPr lang="en-US" altLang="zh-CN" sz="2800"/>
          </a:p>
          <a:p>
            <a:pPr lvl="2"/>
            <a:r>
              <a:rPr lang="zh-CN" altLang="en-US"/>
              <a:t>Traffic analysis:</a:t>
            </a:r>
            <a:r>
              <a:rPr lang="en-US" altLang="zh-CN"/>
              <a:t> </a:t>
            </a:r>
            <a:r>
              <a:rPr lang="zh-CN" altLang="en-US"/>
              <a:t>Monitor</a:t>
            </a:r>
            <a:r>
              <a:rPr lang="en-US" altLang="zh-CN"/>
              <a:t> RDMA </a:t>
            </a:r>
            <a:r>
              <a:rPr lang="zh-CN" altLang="en-US"/>
              <a:t>traffic,</a:t>
            </a:r>
            <a:r>
              <a:rPr lang="en-US" altLang="zh-CN"/>
              <a:t> NCCL/TCP </a:t>
            </a:r>
            <a:r>
              <a:rPr lang="zh-CN" altLang="en-US"/>
              <a:t>timeouts, and task hangs.</a:t>
            </a:r>
            <a:endParaRPr lang="en-US" altLang="zh-CN" sz="1800"/>
          </a:p>
          <a:p>
            <a:pPr lvl="2"/>
            <a:r>
              <a:rPr lang="zh-CN" altLang="en-US"/>
              <a:t>Deep diagnostics:</a:t>
            </a:r>
            <a:r>
              <a:rPr lang="en-US" altLang="zh-CN"/>
              <a:t> </a:t>
            </a:r>
            <a:r>
              <a:rPr lang="zh-CN" altLang="en-US"/>
              <a:t>Combine</a:t>
            </a:r>
            <a:r>
              <a:rPr lang="en-US" altLang="zh-CN"/>
              <a:t> Meta NCCLX </a:t>
            </a:r>
            <a:r>
              <a:rPr lang="zh-CN" altLang="en-US"/>
              <a:t>and</a:t>
            </a:r>
            <a:r>
              <a:rPr lang="en-US" altLang="zh-CN"/>
              <a:t> PyTorch Flight Recorder</a:t>
            </a:r>
            <a:r>
              <a:rPr lang="zh-CN" altLang="en-US"/>
              <a:t> to enable retrospective tracing of kernel activity and communication metadata.</a:t>
            </a:r>
            <a:endParaRPr lang="zh-CN" altLang="en-US" sz="2000"/>
          </a:p>
          <a:p>
            <a:pPr lvl="0"/>
            <a:r>
              <a:rPr lang="zh-CN" altLang="en-US" sz="2000" b="1"/>
              <a:t>Proactive </a:t>
            </a:r>
            <a:r>
              <a:rPr lang="en-US" altLang="zh-CN" sz="2000" b="1"/>
              <a:t>V</a:t>
            </a:r>
            <a:r>
              <a:rPr lang="zh-CN" altLang="en-US" sz="2000" b="1"/>
              <a:t>alidation: Preventive checks</a:t>
            </a:r>
            <a:endParaRPr lang="zh-CN" altLang="en-US" sz="2800" b="1"/>
          </a:p>
          <a:p>
            <a:pPr lvl="1"/>
            <a:r>
              <a:rPr lang="zh-CN" altLang="en-US" sz="1600"/>
              <a:t>Filter out anomalous nodes via automated testing before failures occur.</a:t>
            </a:r>
            <a:endParaRPr lang="en-US" altLang="zh-CN" sz="2800"/>
          </a:p>
          <a:p>
            <a:pPr lvl="2"/>
            <a:r>
              <a:rPr lang="zh-CN" altLang="en-US" sz="1400"/>
              <a:t>Preflight:</a:t>
            </a:r>
            <a:r>
              <a:rPr lang="en-US" altLang="zh-CN" sz="1400"/>
              <a:t> </a:t>
            </a:r>
            <a:r>
              <a:rPr lang="zh-CN" altLang="en-US" sz="1400"/>
              <a:t>Run end-to-end connectivity and hardware health checks before the task starts.</a:t>
            </a:r>
            <a:endParaRPr lang="en-US" altLang="zh-CN" sz="2000"/>
          </a:p>
          <a:p>
            <a:pPr lvl="2"/>
            <a:r>
              <a:rPr lang="zh-CN" altLang="en-US" sz="1400"/>
              <a:t>Layered validation</a:t>
            </a:r>
            <a:r>
              <a:rPr lang="en-US" altLang="zh-CN" sz="1400"/>
              <a:t> (Vela)</a:t>
            </a:r>
            <a:r>
              <a:rPr lang="zh-CN" altLang="en-US" sz="1400"/>
              <a:t>:</a:t>
            </a:r>
            <a:r>
              <a:rPr lang="en-US" altLang="zh-CN" sz="1400"/>
              <a:t> </a:t>
            </a:r>
            <a:r>
              <a:rPr lang="zh-CN" altLang="en-US" sz="1400"/>
              <a:t>Run periodic lightweight tests at runtime; run deep, intrusive stress tests when idle.</a:t>
            </a:r>
            <a:endParaRPr lang="en-US" altLang="zh-CN" sz="2000"/>
          </a:p>
          <a:p>
            <a:pPr lvl="2"/>
            <a:r>
              <a:rPr lang="zh-CN" altLang="en-US" sz="1400"/>
              <a:t>Standardized tools:</a:t>
            </a:r>
            <a:r>
              <a:rPr lang="en-US" altLang="zh-CN" sz="1400"/>
              <a:t> </a:t>
            </a:r>
            <a:r>
              <a:rPr lang="zh-CN" altLang="en-US" sz="1400"/>
              <a:t>Use benchmark suites such as</a:t>
            </a:r>
            <a:r>
              <a:rPr lang="en-US" altLang="zh-CN" sz="1400"/>
              <a:t> SuperBench </a:t>
            </a:r>
            <a:r>
              <a:rPr lang="zh-CN" altLang="en-US" sz="1400"/>
              <a:t>to evaluate each hardware component independently.</a:t>
            </a: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LLM T</a:t>
            </a:r>
            <a:r>
              <a:t>raining Checkpoint</a:t>
            </a:r>
            <a:r>
              <a:rPr lang="en-US" altLang="zh-CN"/>
              <a:t> 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9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85000" lnSpcReduction="20000"/>
          </a:bodyPr>
          <a:lstStyle/>
          <a:p>
            <a:r>
              <a:rPr lang="zh-CN" altLang="en-US" b="1"/>
              <a:t>Checkpoint</a:t>
            </a:r>
            <a:r>
              <a:rPr lang="en-US" altLang="zh-CN" b="1"/>
              <a:t>: P</a:t>
            </a:r>
            <a:r>
              <a:rPr lang="zh-CN" altLang="en-US" b="1"/>
              <a:t>eriodically saving the state of a training job</a:t>
            </a:r>
          </a:p>
          <a:p>
            <a:pPr lvl="1"/>
            <a:r>
              <a:rPr lang="zh-CN" altLang="en-US"/>
              <a:t>Checkpoint components: model parameters, weights, optimizer state, current training epoch or step</a:t>
            </a:r>
            <a:r>
              <a:rPr lang="en-US" altLang="zh-CN"/>
              <a:t>...</a:t>
            </a:r>
          </a:p>
          <a:p>
            <a:pPr lvl="0"/>
            <a:r>
              <a:rPr lang="zh-CN" altLang="en-US"/>
              <a:t>The Importance of Checkpoints</a:t>
            </a:r>
            <a:endParaRPr lang="en-US" altLang="zh-CN"/>
          </a:p>
          <a:p>
            <a:pPr lvl="1"/>
            <a:r>
              <a:rPr lang="en-US" altLang="zh-CN" b="1"/>
              <a:t>1. </a:t>
            </a:r>
            <a:r>
              <a:rPr lang="zh-CN" altLang="en-US" b="1"/>
              <a:t>Training Resilience and Fault tolerance</a:t>
            </a:r>
            <a:r>
              <a:rPr lang="en-US" altLang="zh-CN" b="1"/>
              <a:t> </a:t>
            </a:r>
          </a:p>
          <a:p>
            <a:pPr lvl="2"/>
            <a:r>
              <a:rPr lang="zh-CN" altLang="en-US"/>
              <a:t>Core function:</a:t>
            </a:r>
            <a:r>
              <a:rPr lang="en-US" altLang="zh-CN"/>
              <a:t> </a:t>
            </a:r>
            <a:r>
              <a:rPr lang="zh-CN" altLang="en-US"/>
              <a:t>Handle hardware failures, preemptible instance</a:t>
            </a:r>
            <a:r>
              <a:rPr lang="en-US" altLang="zh-CN"/>
              <a:t> </a:t>
            </a:r>
            <a:r>
              <a:rPr lang="zh-CN" altLang="en-US"/>
              <a:t>termination, or system crashes.</a:t>
            </a:r>
            <a:endParaRPr lang="en-US" altLang="zh-CN"/>
          </a:p>
          <a:p>
            <a:pPr lvl="2"/>
            <a:r>
              <a:rPr lang="zh-CN" altLang="en-US"/>
              <a:t>Use cases: Automatically restart from the latest progress to minimize wasted compute time and computing costs.</a:t>
            </a:r>
            <a:endParaRPr lang="en-US" altLang="zh-CN"/>
          </a:p>
          <a:p>
            <a:pPr lvl="1"/>
            <a:r>
              <a:rPr lang="en-US" altLang="zh-CN" b="1"/>
              <a:t>2. </a:t>
            </a:r>
            <a:r>
              <a:rPr lang="zh-CN" altLang="en-US" b="1"/>
              <a:t>Efficient Experiment Branching</a:t>
            </a:r>
            <a:r>
              <a:rPr lang="en-US" altLang="zh-CN" b="1"/>
              <a:t> </a:t>
            </a:r>
          </a:p>
          <a:p>
            <a:pPr lvl="2"/>
            <a:r>
              <a:rPr lang="zh-CN" altLang="en-US"/>
              <a:t>Core function:</a:t>
            </a:r>
            <a:r>
              <a:rPr lang="en-US" altLang="zh-CN"/>
              <a:t> </a:t>
            </a:r>
            <a:r>
              <a:rPr lang="zh-CN" altLang="en-US"/>
              <a:t>Use Checkpoints as</a:t>
            </a:r>
            <a:r>
              <a:rPr lang="en-US" altLang="zh-CN"/>
              <a:t> “</a:t>
            </a:r>
            <a:r>
              <a:rPr lang="zh-CN" altLang="en-US"/>
              <a:t>save points</a:t>
            </a:r>
            <a:r>
              <a:rPr lang="en-US" altLang="zh-CN"/>
              <a:t>”</a:t>
            </a:r>
            <a:r>
              <a:rPr lang="zh-CN" altLang="en-US"/>
              <a:t> to start new tasks from an intermediate state.</a:t>
            </a:r>
            <a:endParaRPr lang="en-US" altLang="zh-CN"/>
          </a:p>
          <a:p>
            <a:pPr lvl="2"/>
            <a:r>
              <a:rPr lang="zh-CN" altLang="en-US"/>
              <a:t>Use cases:</a:t>
            </a:r>
            <a:r>
              <a:rPr lang="en-US" altLang="zh-CN"/>
              <a:t> </a:t>
            </a:r>
            <a:r>
              <a:rPr lang="zh-CN" altLang="en-US"/>
              <a:t>Try different hyperparameters, fine-tuning strategies, or learning-rate schedules without training from scratch.</a:t>
            </a:r>
            <a:endParaRPr lang="en-US" altLang="zh-CN"/>
          </a:p>
          <a:p>
            <a:pPr lvl="1"/>
            <a:r>
              <a:rPr lang="en-US" altLang="zh-CN" b="1"/>
              <a:t>3. </a:t>
            </a:r>
            <a:r>
              <a:rPr lang="zh-CN" altLang="en-US" b="1"/>
              <a:t>Model Evaluation and Version Selection</a:t>
            </a:r>
            <a:r>
              <a:rPr lang="en-US" altLang="zh-CN" b="1"/>
              <a:t> </a:t>
            </a:r>
          </a:p>
          <a:p>
            <a:pPr lvl="2"/>
            <a:r>
              <a:rPr lang="zh-CN" altLang="en-US"/>
              <a:t>Core function:</a:t>
            </a:r>
            <a:r>
              <a:rPr lang="en-US" altLang="zh-CN"/>
              <a:t> </a:t>
            </a:r>
            <a:r>
              <a:rPr lang="zh-CN" altLang="en-US"/>
              <a:t>Evaluate multiple intermediate checkpoints on the validation set during training.</a:t>
            </a:r>
            <a:endParaRPr lang="en-US" altLang="zh-CN"/>
          </a:p>
          <a:p>
            <a:pPr lvl="2"/>
            <a:r>
              <a:rPr lang="zh-CN" altLang="en-US"/>
              <a:t>Use cases:</a:t>
            </a:r>
            <a:r>
              <a:rPr lang="en-US" altLang="zh-CN"/>
              <a:t> </a:t>
            </a:r>
            <a:r>
              <a:rPr lang="zh-CN" altLang="en-US"/>
              <a:t>Monitor performance fluctuations, accurately select the best model version, or trigger early stopping.</a:t>
            </a:r>
            <a:endParaRPr lang="en-US" altLang="zh-CN"/>
          </a:p>
          <a:p>
            <a:pPr lvl="1"/>
            <a:r>
              <a:rPr lang="en-US" altLang="zh-CN" b="1"/>
              <a:t>4.</a:t>
            </a:r>
            <a:r>
              <a:rPr lang="zh-CN" altLang="en-US" b="1"/>
              <a:t> Fault </a:t>
            </a:r>
            <a:r>
              <a:rPr lang="en-US" altLang="zh-CN" b="1"/>
              <a:t>D</a:t>
            </a:r>
            <a:r>
              <a:rPr lang="zh-CN" altLang="en-US" b="1"/>
              <a:t>iagnosis and </a:t>
            </a:r>
            <a:r>
              <a:rPr lang="en-US" altLang="zh-CN" b="1"/>
              <a:t>D</a:t>
            </a:r>
            <a:r>
              <a:rPr lang="zh-CN" altLang="en-US" b="1"/>
              <a:t>ebugging</a:t>
            </a:r>
            <a:endParaRPr lang="en-US" altLang="zh-CN" b="1"/>
          </a:p>
          <a:p>
            <a:pPr lvl="2"/>
            <a:r>
              <a:rPr lang="zh-CN" altLang="en-US"/>
              <a:t>Core function:</a:t>
            </a:r>
            <a:r>
              <a:rPr lang="en-US" altLang="zh-CN"/>
              <a:t> </a:t>
            </a:r>
            <a:r>
              <a:rPr lang="zh-CN" altLang="en-US"/>
              <a:t>Roll back to the state right before issues such as training divergence or </a:t>
            </a:r>
            <a:r>
              <a:rPr lang="en-US" altLang="zh-CN"/>
              <a:t>Loss </a:t>
            </a:r>
            <a:r>
              <a:rPr lang="zh-CN" altLang="en-US"/>
              <a:t>turning into</a:t>
            </a:r>
            <a:r>
              <a:rPr lang="en-US" altLang="zh-CN"/>
              <a:t> NaN </a:t>
            </a:r>
            <a:r>
              <a:rPr lang="zh-CN" altLang="en-US"/>
              <a:t>occur.</a:t>
            </a:r>
            <a:endParaRPr lang="en-US" altLang="zh-CN"/>
          </a:p>
          <a:p>
            <a:pPr lvl="2"/>
            <a:r>
              <a:rPr lang="zh-CN" altLang="en-US"/>
              <a:t>Use cases:</a:t>
            </a:r>
            <a:r>
              <a:rPr lang="en-US" altLang="zh-CN"/>
              <a:t> </a:t>
            </a:r>
            <a:r>
              <a:rPr lang="zh-CN" altLang="en-US"/>
              <a:t>Closely inspect model parameters and optimizer state to pinpoint the root cause of training failure.</a:t>
            </a: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Core Components of an LLM training Checkpoint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10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75000" lnSpcReduction="20000"/>
          </a:bodyPr>
          <a:lstStyle/>
          <a:p>
            <a:r>
              <a:rPr lang="en-US" altLang="zh-CN" b="1"/>
              <a:t>1.</a:t>
            </a:r>
            <a:r>
              <a:rPr lang="zh-CN" altLang="en-US" b="1"/>
              <a:t> Model weights</a:t>
            </a:r>
            <a:endParaRPr lang="en-US" altLang="zh-CN" b="1"/>
          </a:p>
          <a:p>
            <a:pPr lvl="1"/>
            <a:r>
              <a:rPr lang="zh-CN" altLang="en-US"/>
              <a:t>Core parameters</a:t>
            </a:r>
            <a:r>
              <a:rPr lang="en-US" altLang="zh-CN"/>
              <a:t>:</a:t>
            </a:r>
            <a:r>
              <a:rPr lang="zh-CN" altLang="en-US"/>
              <a:t> The weight matrices in each </a:t>
            </a:r>
            <a:r>
              <a:rPr lang="en-US" altLang="zh-CN"/>
              <a:t>Transformer</a:t>
            </a:r>
            <a:r>
              <a:rPr lang="zh-CN" altLang="en-US"/>
              <a:t> layer (</a:t>
            </a:r>
            <a:r>
              <a:rPr lang="en-US" altLang="zh-CN"/>
              <a:t> Attention Q/K/V/O, FFN, LayerNorm, Embedding</a:t>
            </a:r>
            <a:r>
              <a:rPr lang="zh-CN" altLang="en-US"/>
              <a:t>, etc.)</a:t>
            </a:r>
          </a:p>
          <a:p>
            <a:pPr lvl="1"/>
            <a:r>
              <a:rPr lang="zh-CN" altLang="en-US"/>
              <a:t>Distributed storage</a:t>
            </a:r>
            <a:r>
              <a:rPr lang="en-US" altLang="zh-CN"/>
              <a:t>: </a:t>
            </a:r>
            <a:r>
              <a:rPr lang="zh-CN" altLang="en-US"/>
              <a:t>In data parallel</a:t>
            </a:r>
            <a:r>
              <a:rPr lang="en-US" altLang="zh-CN"/>
              <a:t> (DP)</a:t>
            </a:r>
            <a:r>
              <a:rPr lang="zh-CN" altLang="en-US"/>
              <a:t> each</a:t>
            </a:r>
            <a:r>
              <a:rPr lang="en-US" altLang="zh-CN"/>
              <a:t> rank</a:t>
            </a:r>
            <a:r>
              <a:rPr lang="zh-CN" altLang="en-US"/>
              <a:t> stores the same full replica; In tensor parallel</a:t>
            </a:r>
            <a:r>
              <a:rPr lang="en-US" altLang="zh-CN"/>
              <a:t> (TP)/</a:t>
            </a:r>
            <a:r>
              <a:rPr lang="zh-CN" altLang="en-US"/>
              <a:t> pipeline parallel</a:t>
            </a:r>
            <a:r>
              <a:rPr lang="en-US" altLang="zh-CN"/>
              <a:t> (PP)</a:t>
            </a:r>
            <a:r>
              <a:rPr lang="zh-CN" altLang="en-US"/>
              <a:t> only the corresponding shard is stored</a:t>
            </a:r>
          </a:p>
          <a:p>
            <a:r>
              <a:rPr lang="en-US" altLang="zh-CN" b="1"/>
              <a:t>2. </a:t>
            </a:r>
            <a:r>
              <a:rPr lang="zh-CN" altLang="en-US" b="1"/>
              <a:t>Optimizer state</a:t>
            </a:r>
            <a:endParaRPr lang="en-US" altLang="zh-CN" b="1"/>
          </a:p>
          <a:p>
            <a:pPr lvl="1"/>
            <a:r>
              <a:rPr lang="en-US" altLang="zh-CN" b="1"/>
              <a:t>Checkpoint</a:t>
            </a:r>
            <a:r>
              <a:rPr lang="zh-CN" altLang="en-US" b="1"/>
              <a:t> The largest component, typically</a:t>
            </a:r>
            <a:r>
              <a:rPr lang="en-US" altLang="zh-CN" b="1"/>
              <a:t> 2-4</a:t>
            </a:r>
            <a:r>
              <a:rPr lang="zh-CN" altLang="en-US" b="1"/>
              <a:t> × the model size:</a:t>
            </a:r>
          </a:p>
          <a:p>
            <a:pPr lvl="1"/>
            <a:r>
              <a:rPr lang="en-US" altLang="zh-CN"/>
              <a:t>Adam/AdamW: </a:t>
            </a:r>
            <a:r>
              <a:rPr lang="zh-CN" altLang="en-US"/>
              <a:t>first </a:t>
            </a:r>
            <a:r>
              <a:rPr lang="en-US" altLang="zh-CN"/>
              <a:t>momentum + </a:t>
            </a:r>
            <a:r>
              <a:rPr lang="zh-CN" altLang="en-US"/>
              <a:t>second </a:t>
            </a:r>
            <a:r>
              <a:rPr lang="en-US" altLang="zh-CN"/>
              <a:t>variance</a:t>
            </a:r>
          </a:p>
          <a:p>
            <a:pPr lvl="1"/>
            <a:r>
              <a:rPr lang="zh-CN" altLang="en-US"/>
              <a:t>Learning rate scheduler state</a:t>
            </a:r>
            <a:r>
              <a:rPr lang="en-US" altLang="zh-CN"/>
              <a:t>: </a:t>
            </a:r>
            <a:r>
              <a:rPr lang="zh-CN" altLang="en-US"/>
              <a:t>current</a:t>
            </a:r>
            <a:r>
              <a:rPr lang="en-US" altLang="zh-CN"/>
              <a:t> step</a:t>
            </a:r>
            <a:r>
              <a:rPr lang="zh-CN" altLang="en-US"/>
              <a:t>, </a:t>
            </a:r>
            <a:r>
              <a:rPr lang="en-US" altLang="zh-CN"/>
              <a:t>warmup</a:t>
            </a:r>
            <a:r>
              <a:rPr lang="zh-CN" altLang="en-US"/>
              <a:t> progress, </a:t>
            </a:r>
            <a:r>
              <a:rPr lang="en-US" altLang="zh-CN"/>
              <a:t>decay</a:t>
            </a:r>
            <a:r>
              <a:rPr lang="zh-CN" altLang="en-US"/>
              <a:t> state</a:t>
            </a:r>
          </a:p>
          <a:p>
            <a:r>
              <a:rPr lang="en-US" altLang="zh-CN" b="1"/>
              <a:t>3. </a:t>
            </a:r>
            <a:r>
              <a:rPr lang="zh-CN" altLang="en-US" b="1"/>
              <a:t>Training state</a:t>
            </a:r>
            <a:endParaRPr lang="en-US" altLang="zh-CN" b="1"/>
          </a:p>
          <a:p>
            <a:pPr lvl="1"/>
            <a:r>
              <a:rPr lang="zh-CN" altLang="en-US"/>
              <a:t>Global step</a:t>
            </a:r>
            <a:r>
              <a:rPr lang="en-US" altLang="zh-CN"/>
              <a:t>: </a:t>
            </a:r>
            <a:r>
              <a:rPr lang="zh-CN" altLang="en-US"/>
              <a:t>the number of training iterations completed</a:t>
            </a:r>
          </a:p>
          <a:p>
            <a:pPr lvl="1"/>
            <a:r>
              <a:rPr lang="zh-CN" altLang="en-US"/>
              <a:t>Data loader state</a:t>
            </a:r>
            <a:r>
              <a:rPr lang="en-US" altLang="zh-CN"/>
              <a:t>: </a:t>
            </a:r>
            <a:r>
              <a:rPr lang="zh-CN" altLang="en-US"/>
              <a:t>current</a:t>
            </a:r>
            <a:r>
              <a:rPr lang="en-US" altLang="zh-CN"/>
              <a:t> epoch</a:t>
            </a:r>
            <a:r>
              <a:rPr lang="zh-CN" altLang="en-US"/>
              <a:t>, data sampler random seed, current read position</a:t>
            </a:r>
          </a:p>
          <a:p>
            <a:pPr lvl="1"/>
            <a:r>
              <a:rPr lang="en-US" altLang="zh-CN"/>
              <a:t>Random number generator state: Python/NumPy/PyTorch/CUDA RNG states (to ensure reproducibility)</a:t>
            </a:r>
            <a:endParaRPr lang="zh-CN" altLang="en-US"/>
          </a:p>
          <a:p>
            <a:r>
              <a:rPr lang="en-US" altLang="zh-CN" b="1"/>
              <a:t>4. </a:t>
            </a:r>
            <a:r>
              <a:rPr lang="zh-CN" altLang="en-US" b="1"/>
              <a:t>Distributed Training-specific information and other metadata</a:t>
            </a:r>
          </a:p>
          <a:p>
            <a:pPr lvl="1"/>
            <a:r>
              <a:rPr lang="zh-CN" altLang="en-US"/>
              <a:t>Parallel group configuration (TP/PP/DP rank mapping and process group information), ZeRO optimizer state (DeepSpeed), FSDP state</a:t>
            </a:r>
          </a:p>
          <a:p>
            <a:pPr lvl="1"/>
            <a:r>
              <a:rPr lang="zh-CN" altLang="en-US"/>
              <a:t>Model architecture configuration and training hyperparameters</a:t>
            </a:r>
          </a:p>
        </p:txBody>
      </p:sp>
      <p:pic>
        <p:nvPicPr>
          <p:cNvPr id="10" name="图片 9" descr="521_2023_8568_Figa_HTM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4155" y="2404110"/>
            <a:ext cx="3957320" cy="268097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Checkpoint </a:t>
            </a:r>
            <a:r>
              <a:rPr lang="en-US" altLang="zh-CN"/>
              <a:t>C</a:t>
            </a:r>
            <a:r>
              <a:t>ode </a:t>
            </a:r>
            <a:r>
              <a:rPr lang="en-US" altLang="zh-CN"/>
              <a:t>E</a:t>
            </a:r>
            <a:r>
              <a:t>xample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11</a:t>
            </a:fld>
            <a:endParaRPr lang="zh-CN" altLang="en-US" dirty="0"/>
          </a:p>
        </p:txBody>
      </p:sp>
      <p:pic>
        <p:nvPicPr>
          <p:cNvPr id="6" name="内容占位符 5"/>
          <p:cNvPicPr>
            <a:picLocks noGrp="1" noChangeAspect="1"/>
          </p:cNvPicPr>
          <p:nvPr>
            <p:ph sz="quarter" idx="13"/>
          </p:nvPr>
        </p:nvPicPr>
        <p:blipFill>
          <a:blip r:embed="rId3"/>
          <a:stretch>
            <a:fillRect/>
          </a:stretch>
        </p:blipFill>
        <p:spPr>
          <a:xfrm>
            <a:off x="941070" y="1697990"/>
            <a:ext cx="4770120" cy="440753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rcRect t="4275"/>
          <a:stretch>
            <a:fillRect/>
          </a:stretch>
        </p:blipFill>
        <p:spPr>
          <a:xfrm>
            <a:off x="6525895" y="1064895"/>
            <a:ext cx="4593590" cy="3071495"/>
          </a:xfrm>
          <a:prstGeom prst="rect">
            <a:avLst/>
          </a:prstGeom>
        </p:spPr>
      </p:pic>
      <p:pic>
        <p:nvPicPr>
          <p:cNvPr id="8" name="内容占位符 7"/>
          <p:cNvPicPr>
            <a:picLocks noChangeAspect="1"/>
          </p:cNvPicPr>
          <p:nvPr/>
        </p:nvPicPr>
        <p:blipFill>
          <a:blip r:embed="rId5"/>
          <a:srcRect t="21830" r="10883" b="25491"/>
          <a:stretch>
            <a:fillRect/>
          </a:stretch>
        </p:blipFill>
        <p:spPr>
          <a:xfrm>
            <a:off x="6525895" y="4404995"/>
            <a:ext cx="4593590" cy="2105025"/>
          </a:xfrm>
          <a:prstGeom prst="rect">
            <a:avLst/>
          </a:prstGeom>
        </p:spPr>
      </p:pic>
      <p:sp>
        <p:nvSpPr>
          <p:cNvPr id="9" name="内容占位符 2"/>
          <p:cNvSpPr>
            <a:spLocks noGrp="1"/>
          </p:cNvSpPr>
          <p:nvPr/>
        </p:nvSpPr>
        <p:spPr>
          <a:xfrm>
            <a:off x="523875" y="1323975"/>
            <a:ext cx="5572125" cy="53975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60045" marR="0" indent="-360045" algn="l" defTabSz="3429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8B0012"/>
              </a:buClr>
              <a:buSzTx/>
              <a:buFont typeface="文泉驿微米黑" panose="020B0606030804020204" charset="-122"/>
              <a:buChar char="■"/>
              <a:defRPr sz="2400" b="0" i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微软雅黑" panose="020B0503020204020204" charset="-122"/>
                <a:cs typeface="+mn-cs"/>
              </a:defRPr>
            </a:lvl1pPr>
            <a:lvl2pPr marL="557530" marR="0" indent="-214630" algn="l" defTabSz="3429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8B0012"/>
              </a:buClr>
              <a:buSzPct val="75000"/>
              <a:buFont typeface="文泉驿微米黑" panose="020B0606030804020204" charset="-122"/>
              <a:buChar char="♦"/>
              <a:defRPr sz="20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微软雅黑" panose="020B0503020204020204" charset="-122"/>
                <a:cs typeface="+mn-cs"/>
              </a:defRPr>
            </a:lvl2pPr>
            <a:lvl3pPr marL="857250" marR="0" indent="-171450" algn="l" defTabSz="3429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8B0012"/>
              </a:buClr>
              <a:buSzTx/>
              <a:buFont typeface="文泉驿微米黑" panose="020B0606030804020204" charset="-122"/>
              <a:buChar char="▶"/>
              <a:defRPr sz="16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微软雅黑" panose="020B0503020204020204" charset="-122"/>
                <a:cs typeface="+mn-cs"/>
              </a:defRPr>
            </a:lvl3pPr>
            <a:lvl4pPr marL="1200150" marR="0" indent="-171450" algn="l" defTabSz="3429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8B0012"/>
              </a:buClr>
              <a:buSzTx/>
              <a:buFont typeface="文泉驿微米黑" panose="020B0606030804020204" charset="-122"/>
              <a:buChar char="●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微软雅黑" panose="020B0503020204020204" charset="-122"/>
                <a:cs typeface="+mn-cs"/>
              </a:defRPr>
            </a:lvl4pPr>
            <a:lvl5pPr marL="1543050" marR="0" indent="-171450" algn="l" defTabSz="3429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49E39"/>
              </a:buClr>
              <a:buSzTx/>
              <a:buFont typeface="Wingdings 3" panose="05040102010807070707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800">
                <a:sym typeface="+mn-ea"/>
              </a:rPr>
              <a:t>PyTorch Checkpoint</a:t>
            </a:r>
            <a:r>
              <a:rPr lang="zh-CN" altLang="en-US" sz="1800">
                <a:sym typeface="+mn-ea"/>
              </a:rPr>
              <a:t> </a:t>
            </a:r>
            <a:r>
              <a:rPr lang="en-US" altLang="zh-CN" sz="1800">
                <a:sym typeface="+mn-ea"/>
              </a:rPr>
              <a:t>E</a:t>
            </a:r>
            <a:r>
              <a:rPr lang="zh-CN" altLang="en-US" sz="1800">
                <a:sym typeface="+mn-ea"/>
              </a:rPr>
              <a:t>xample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1920240" y="6221095"/>
            <a:ext cx="277939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300"/>
              <a:t>Save Checkpoint</a:t>
            </a:r>
            <a:endParaRPr lang="zh-CN" altLang="en-US" sz="1600"/>
          </a:p>
        </p:txBody>
      </p:sp>
      <p:sp>
        <p:nvSpPr>
          <p:cNvPr id="11" name="文本框 10"/>
          <p:cNvSpPr txBox="1"/>
          <p:nvPr/>
        </p:nvSpPr>
        <p:spPr>
          <a:xfrm>
            <a:off x="7433310" y="4142105"/>
            <a:ext cx="277939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300"/>
              <a:t>Load Checkpoint</a:t>
            </a:r>
            <a:endParaRPr lang="zh-CN" altLang="en-US" sz="1600"/>
          </a:p>
        </p:txBody>
      </p:sp>
      <p:sp>
        <p:nvSpPr>
          <p:cNvPr id="12" name="文本框 11"/>
          <p:cNvSpPr txBox="1"/>
          <p:nvPr/>
        </p:nvSpPr>
        <p:spPr>
          <a:xfrm>
            <a:off x="7433310" y="6510020"/>
            <a:ext cx="3060700" cy="2914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300"/>
              <a:t>Examples</a:t>
            </a:r>
            <a:r>
              <a:rPr lang="en-US" altLang="zh-CN" sz="1300"/>
              <a:t> </a:t>
            </a:r>
            <a:r>
              <a:rPr lang="zh-CN" altLang="en-US" sz="1300"/>
              <a:t>in the </a:t>
            </a:r>
            <a:r>
              <a:rPr lang="en-US" altLang="zh-CN" sz="1300"/>
              <a:t>T</a:t>
            </a:r>
            <a:r>
              <a:rPr lang="zh-CN" altLang="en-US" sz="1300"/>
              <a:t>raining </a:t>
            </a:r>
            <a:r>
              <a:rPr lang="en-US" altLang="zh-CN" sz="1300"/>
              <a:t>L</a:t>
            </a:r>
            <a:r>
              <a:rPr lang="zh-CN" altLang="en-US" sz="1300"/>
              <a:t>oop</a:t>
            </a: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Checkpoint Management in LLM Distributed Training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12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lvl="0"/>
            <a:r>
              <a:rPr lang="zh-CN" altLang="en-US" sz="2000" b="1"/>
              <a:t>Parallel </a:t>
            </a:r>
            <a:r>
              <a:rPr lang="en-US" altLang="zh-CN" sz="2000" b="1"/>
              <a:t>S</a:t>
            </a:r>
            <a:r>
              <a:rPr lang="zh-CN" altLang="en-US" sz="2000" b="1"/>
              <a:t>aving</a:t>
            </a:r>
            <a:endParaRPr lang="en-US" altLang="zh-CN" sz="2000" b="1"/>
          </a:p>
          <a:p>
            <a:pPr lvl="1"/>
            <a:r>
              <a:rPr lang="zh-CN" altLang="en-US" sz="1600">
                <a:sym typeface="+mn-ea"/>
              </a:rPr>
              <a:t>Save </a:t>
            </a:r>
            <a:r>
              <a:rPr lang="en-US" altLang="zh-CN" sz="1600">
                <a:sym typeface="+mn-ea"/>
              </a:rPr>
              <a:t>c</a:t>
            </a:r>
            <a:r>
              <a:rPr lang="zh-CN" altLang="en-US" sz="1600">
                <a:sym typeface="+mn-ea"/>
              </a:rPr>
              <a:t>heckpoints in sharded format, enabling parallel saving and loading.</a:t>
            </a:r>
            <a:endParaRPr lang="zh-CN" altLang="en-US" sz="1600"/>
          </a:p>
          <a:p>
            <a:pPr lvl="1"/>
            <a:r>
              <a:rPr lang="zh-CN" altLang="en-US" sz="1600" b="1"/>
              <a:t>Tensor parallelism (</a:t>
            </a:r>
            <a:r>
              <a:rPr lang="en-US" altLang="zh-CN" sz="1600" b="1"/>
              <a:t>TP</a:t>
            </a:r>
            <a:r>
              <a:rPr lang="zh-CN" altLang="en-US" sz="1600" b="1"/>
              <a:t>):</a:t>
            </a:r>
            <a:r>
              <a:rPr lang="en-US" altLang="zh-CN" sz="1600"/>
              <a:t> </a:t>
            </a:r>
            <a:r>
              <a:rPr lang="zh-CN" altLang="en-US" sz="1600"/>
              <a:t>In</a:t>
            </a:r>
            <a:r>
              <a:rPr lang="en-US" altLang="zh-CN" sz="1600"/>
              <a:t> TP</a:t>
            </a:r>
            <a:r>
              <a:rPr lang="zh-CN" altLang="en-US" sz="1600"/>
              <a:t>, model layers are split across different devices. Each</a:t>
            </a:r>
            <a:r>
              <a:rPr lang="en-US" altLang="zh-CN" sz="1600"/>
              <a:t> rank</a:t>
            </a:r>
            <a:r>
              <a:rPr lang="zh-CN" altLang="en-US" sz="1600"/>
              <a:t> retains only a shard of the weights for certain layers. Saving a </a:t>
            </a:r>
            <a:r>
              <a:rPr lang="en-US" altLang="zh-CN" sz="1600"/>
              <a:t>c</a:t>
            </a:r>
            <a:r>
              <a:rPr lang="zh-CN" altLang="en-US" sz="1600"/>
              <a:t>heckpoint requires each rank to save its specific weight shard.</a:t>
            </a:r>
          </a:p>
          <a:p>
            <a:pPr lvl="1"/>
            <a:r>
              <a:rPr lang="zh-CN" altLang="en-US" sz="1600" b="1"/>
              <a:t>Pipeline parallelism</a:t>
            </a:r>
            <a:r>
              <a:rPr lang="en-US" altLang="zh-CN" sz="1600" b="1"/>
              <a:t> (PP): </a:t>
            </a:r>
            <a:r>
              <a:rPr lang="zh-CN" altLang="en-US" sz="1600"/>
              <a:t>In</a:t>
            </a:r>
            <a:r>
              <a:rPr lang="en-US" altLang="zh-CN" sz="1600"/>
              <a:t> PP</a:t>
            </a:r>
            <a:r>
              <a:rPr lang="zh-CN" altLang="en-US" sz="1600"/>
              <a:t>, different model layers reside on different</a:t>
            </a:r>
            <a:r>
              <a:rPr lang="en-US" altLang="zh-CN" sz="1600"/>
              <a:t> rank</a:t>
            </a:r>
            <a:r>
              <a:rPr lang="zh-CN" altLang="en-US" sz="1600"/>
              <a:t>. Each</a:t>
            </a:r>
            <a:r>
              <a:rPr lang="en-US" altLang="zh-CN" sz="1600"/>
              <a:t> rank</a:t>
            </a:r>
            <a:r>
              <a:rPr lang="zh-CN" altLang="en-US" sz="1600"/>
              <a:t> stores the state for the layers it manages.</a:t>
            </a:r>
          </a:p>
          <a:p>
            <a:pPr lvl="0"/>
            <a:r>
              <a:rPr lang="zh-CN" altLang="en-US" sz="2000" b="1"/>
              <a:t>Metadata </a:t>
            </a:r>
            <a:r>
              <a:rPr lang="en-US" altLang="zh-CN" sz="2000" b="1"/>
              <a:t>M</a:t>
            </a:r>
            <a:r>
              <a:rPr lang="zh-CN" altLang="en-US" sz="2000" b="1"/>
              <a:t>apping</a:t>
            </a:r>
            <a:r>
              <a:rPr lang="en-US" altLang="zh-CN" sz="2000"/>
              <a:t> </a:t>
            </a:r>
          </a:p>
          <a:p>
            <a:pPr lvl="1"/>
            <a:r>
              <a:rPr lang="zh-CN" altLang="en-US" sz="1600"/>
              <a:t>The system generates an index file</a:t>
            </a:r>
            <a:r>
              <a:rPr lang="en-US" altLang="zh-CN" sz="1600"/>
              <a:t>.</a:t>
            </a:r>
            <a:endParaRPr lang="zh-CN" altLang="en-US" sz="1600"/>
          </a:p>
          <a:p>
            <a:pPr lvl="1"/>
            <a:r>
              <a:rPr lang="zh-CN" altLang="en-US" sz="1600"/>
              <a:t>Records</a:t>
            </a:r>
            <a:r>
              <a:rPr lang="en-US" altLang="zh-CN" sz="1600"/>
              <a:t> “</a:t>
            </a:r>
            <a:r>
              <a:rPr lang="zh-CN" altLang="en-US" sz="1600"/>
              <a:t>which portion of the parameters is stored in the snapshot on which GPU</a:t>
            </a:r>
            <a:r>
              <a:rPr lang="en-US" altLang="zh-CN" sz="1600"/>
              <a:t>”</a:t>
            </a:r>
            <a:r>
              <a:rPr lang="zh-CN" altLang="en-US" sz="1600"/>
              <a:t>.</a:t>
            </a:r>
          </a:p>
          <a:p>
            <a:pPr lvl="1"/>
            <a:r>
              <a:rPr lang="zh-CN" altLang="en-US" sz="1600"/>
              <a:t>Flexibility during loading</a:t>
            </a:r>
          </a:p>
          <a:p>
            <a:pPr lvl="2"/>
            <a:r>
              <a:rPr lang="zh-CN" altLang="en-US" sz="1400"/>
              <a:t>Even if the</a:t>
            </a:r>
            <a:r>
              <a:rPr lang="en-US" altLang="zh-CN" sz="1400"/>
              <a:t> GPU </a:t>
            </a:r>
            <a:r>
              <a:rPr lang="zh-CN" altLang="en-US" sz="1400"/>
              <a:t>number changes when resuming training (e.g., from</a:t>
            </a:r>
            <a:r>
              <a:rPr lang="en-US" altLang="zh-CN" sz="1400"/>
              <a:t> 64 </a:t>
            </a:r>
            <a:r>
              <a:rPr lang="zh-CN" altLang="en-US" sz="1400"/>
              <a:t>to</a:t>
            </a:r>
            <a:r>
              <a:rPr lang="en-US" altLang="zh-CN" sz="1400"/>
              <a:t> 128</a:t>
            </a:r>
            <a:r>
              <a:rPr lang="zh-CN" altLang="en-US" sz="1400"/>
              <a:t>), the framework recomputes offsets based on the index file, enabling non-uniform loading.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2245" y="1016635"/>
            <a:ext cx="3876040" cy="466598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238365" y="5748020"/>
            <a:ext cx="479171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/>
              <a:t>Diagram of sharded Checkpoint saving. </a:t>
            </a:r>
            <a:r>
              <a:rPr lang="zh-CN" altLang="en-US" sz="1200"/>
              <a:t>Each</a:t>
            </a:r>
            <a:r>
              <a:rPr lang="en-US" altLang="zh-CN" sz="1200"/>
              <a:t> Rank</a:t>
            </a:r>
            <a:r>
              <a:rPr lang="zh-CN" altLang="en-US" sz="1200"/>
              <a:t> saves its portion of the model and optimizer state to a dedicated file in the Checkpoint directory on shared storage. Metadata coordinates these shards.</a:t>
            </a:r>
            <a:endParaRPr lang="zh-CN" altLang="en-US" sz="160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Checkpoint </a:t>
            </a:r>
            <a:r>
              <a:rPr lang="en-US" altLang="zh-CN"/>
              <a:t>C</a:t>
            </a:r>
            <a:r>
              <a:rPr lang="zh-CN" altLang="en-US"/>
              <a:t>ode </a:t>
            </a:r>
            <a:r>
              <a:rPr lang="en-US" altLang="zh-CN"/>
              <a:t>E</a:t>
            </a:r>
            <a:r>
              <a:rPr lang="zh-CN" altLang="en-US"/>
              <a:t>xample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13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DeepSpeed </a:t>
            </a:r>
            <a:r>
              <a:rPr lang="en-US" altLang="zh-CN"/>
              <a:t>Checkpoint </a:t>
            </a:r>
            <a:r>
              <a:rPr lang="zh-CN" altLang="en-US"/>
              <a:t>Example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1838960"/>
            <a:ext cx="5004435" cy="407162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7315" y="1844040"/>
            <a:ext cx="5049520" cy="406654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71170" y="6028055"/>
            <a:ext cx="55537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b="1"/>
              <a:t>Sharded checkpoint saving:</a:t>
            </a:r>
            <a:r>
              <a:rPr lang="en-US" altLang="zh-CN" sz="1100"/>
              <a:t> DeepSpeed </a:t>
            </a:r>
            <a:r>
              <a:rPr lang="zh-CN" altLang="en-US" sz="1100"/>
              <a:t>and</a:t>
            </a:r>
            <a:r>
              <a:rPr lang="en-US" altLang="zh-CN" sz="1100"/>
              <a:t> Megatron-LM </a:t>
            </a:r>
            <a:r>
              <a:rPr lang="zh-CN" altLang="en-US" sz="1100"/>
              <a:t>and other libraries provide high-level</a:t>
            </a:r>
            <a:r>
              <a:rPr lang="en-US" altLang="zh-CN" sz="1100"/>
              <a:t> API</a:t>
            </a:r>
            <a:r>
              <a:rPr lang="zh-CN" altLang="en-US" sz="1100"/>
              <a:t> that simplify the complexity of managing sharded checkpoints and handling synchronization.</a:t>
            </a:r>
            <a:endParaRPr lang="zh-CN" altLang="en-US" sz="1600"/>
          </a:p>
        </p:txBody>
      </p:sp>
      <p:sp>
        <p:nvSpPr>
          <p:cNvPr id="9" name="文本框 8"/>
          <p:cNvSpPr txBox="1"/>
          <p:nvPr/>
        </p:nvSpPr>
        <p:spPr>
          <a:xfrm>
            <a:off x="6151880" y="6028055"/>
            <a:ext cx="5553710" cy="598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b="1"/>
              <a:t>Sharded checkpoint loading:</a:t>
            </a:r>
            <a:r>
              <a:rPr lang="zh-CN" altLang="en-US" sz="1100"/>
              <a:t> In DeepSpeed and similar libraries, the loading functions read the appropriate shard for each Rank and reconstruct the distributed state.</a:t>
            </a:r>
            <a:endParaRPr lang="zh-CN" altLang="en-US" sz="160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LLM T</a:t>
            </a:r>
            <a:r>
              <a:rPr>
                <a:sym typeface="+mn-ea"/>
              </a:rPr>
              <a:t>raining</a:t>
            </a:r>
            <a:r>
              <a:rPr lang="en-US" altLang="zh-CN">
                <a:sym typeface="+mn-ea"/>
              </a:rPr>
              <a:t> Checkpoint S</a:t>
            </a:r>
            <a:r>
              <a:rPr>
                <a:sym typeface="+mn-ea"/>
              </a:rPr>
              <a:t>torage </a:t>
            </a:r>
            <a:r>
              <a:rPr lang="en-US" altLang="zh-CN">
                <a:sym typeface="+mn-ea"/>
              </a:rPr>
              <a:t>E</a:t>
            </a:r>
            <a:r>
              <a:rPr>
                <a:sym typeface="+mn-ea"/>
              </a:rPr>
              <a:t>xample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14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523875" y="1323975"/>
            <a:ext cx="5572125" cy="4853305"/>
          </a:xfrm>
        </p:spPr>
        <p:txBody>
          <a:bodyPr>
            <a:normAutofit lnSpcReduction="10000"/>
          </a:bodyPr>
          <a:lstStyle/>
          <a:p>
            <a:pPr lvl="0"/>
            <a:r>
              <a:rPr lang="en-US" altLang="zh-CN" sz="1800" b="1">
                <a:sym typeface="+mn-ea"/>
              </a:rPr>
              <a:t>Checkpoint </a:t>
            </a:r>
            <a:r>
              <a:rPr lang="zh-CN" altLang="en-US" sz="1800" b="1">
                <a:sym typeface="+mn-ea"/>
              </a:rPr>
              <a:t>requires enormous storage capacity</a:t>
            </a:r>
            <a:endParaRPr lang="zh-CN" altLang="en-US" sz="1800" b="1"/>
          </a:p>
          <a:p>
            <a:pPr lvl="1"/>
            <a:r>
              <a:rPr lang="en-US" altLang="zh-CN" sz="1800">
                <a:sym typeface="+mn-ea"/>
              </a:rPr>
              <a:t>GPT-3: 175B =&gt; 2.4 TB Checkpoint</a:t>
            </a:r>
          </a:p>
          <a:p>
            <a:pPr lvl="1"/>
            <a:r>
              <a:rPr lang="en-US" altLang="zh-CN" sz="1800">
                <a:sym typeface="+mn-ea"/>
              </a:rPr>
              <a:t>LLaMA: 544B =&gt; 6~7 TB Checkpoint</a:t>
            </a:r>
          </a:p>
          <a:p>
            <a:pPr lvl="1"/>
            <a:r>
              <a:rPr lang="en-US" altLang="zh-CN" sz="1800">
                <a:sym typeface="+mn-ea"/>
              </a:rPr>
              <a:t>GPT-4: &gt; 1 Trillion =&gt; 13.8 TB </a:t>
            </a:r>
          </a:p>
          <a:p>
            <a:pPr lvl="0"/>
            <a:r>
              <a:rPr lang="zh-CN" altLang="en-US" sz="1800" b="1">
                <a:sym typeface="+mn-ea"/>
              </a:rPr>
              <a:t>Checkpoint requires enormous storage bandwidth</a:t>
            </a:r>
          </a:p>
          <a:p>
            <a:pPr lvl="1"/>
            <a:r>
              <a:rPr lang="zh-CN" altLang="en-US" sz="1600" b="1">
                <a:sym typeface="+mn-ea"/>
              </a:rPr>
              <a:t>Write bandwidth</a:t>
            </a:r>
          </a:p>
          <a:p>
            <a:pPr lvl="2"/>
            <a:r>
              <a:rPr lang="en-US" altLang="zh-CN" sz="1300">
                <a:sym typeface="+mn-ea"/>
              </a:rPr>
              <a:t>Checkpoint </a:t>
            </a:r>
            <a:r>
              <a:rPr lang="zh-CN" altLang="en-US" sz="1300">
                <a:sym typeface="+mn-ea"/>
              </a:rPr>
              <a:t>save time should be kept within</a:t>
            </a:r>
            <a:r>
              <a:rPr lang="en-US" altLang="zh-CN" sz="1300">
                <a:sym typeface="+mn-ea"/>
              </a:rPr>
              <a:t> 5% </a:t>
            </a:r>
            <a:r>
              <a:rPr lang="zh-CN" altLang="en-US" sz="1300">
                <a:sym typeface="+mn-ea"/>
              </a:rPr>
              <a:t>of the total time</a:t>
            </a:r>
            <a:r>
              <a:rPr lang="en-US" altLang="zh-CN" sz="1300">
                <a:sym typeface="+mn-ea"/>
              </a:rPr>
              <a:t>.</a:t>
            </a:r>
          </a:p>
          <a:p>
            <a:pPr lvl="2"/>
            <a:r>
              <a:rPr lang="en-US" altLang="zh-CN" sz="1300">
                <a:sym typeface="+mn-ea"/>
              </a:rPr>
              <a:t>Requirement: If a 2.4 TB  Checkpoint must be written within 60 seconds, at least 40 GB/s of sustained write bandwidth is required.</a:t>
            </a:r>
          </a:p>
          <a:p>
            <a:pPr lvl="2"/>
            <a:r>
              <a:rPr lang="zh-CN" altLang="en-US" sz="1300">
                <a:sym typeface="+mn-ea"/>
              </a:rPr>
              <a:t>Large-scale cluster challenges</a:t>
            </a:r>
            <a:r>
              <a:rPr lang="en-US" altLang="zh-CN" sz="1300">
                <a:sym typeface="+mn-ea"/>
              </a:rPr>
              <a:t>: </a:t>
            </a:r>
            <a:r>
              <a:rPr lang="zh-CN" altLang="en-US" sz="1300">
                <a:sym typeface="+mn-ea"/>
              </a:rPr>
              <a:t>As</a:t>
            </a:r>
            <a:r>
              <a:rPr lang="en-US" altLang="zh-CN" sz="1300">
                <a:sym typeface="+mn-ea"/>
              </a:rPr>
              <a:t> the </a:t>
            </a:r>
            <a:r>
              <a:rPr lang="zh-CN" altLang="en-US" sz="1300">
                <a:sym typeface="+mn-ea"/>
              </a:rPr>
              <a:t>number of GPUs increases, having each</a:t>
            </a:r>
            <a:r>
              <a:rPr lang="en-US" altLang="zh-CN" sz="1300">
                <a:sym typeface="+mn-ea"/>
              </a:rPr>
              <a:t> GPU </a:t>
            </a:r>
            <a:r>
              <a:rPr lang="zh-CN" altLang="en-US" sz="1300">
                <a:sym typeface="+mn-ea"/>
              </a:rPr>
              <a:t>write independently in parallel creates massive</a:t>
            </a:r>
            <a:r>
              <a:rPr lang="en-US" altLang="zh-CN" sz="1300">
                <a:sym typeface="+mn-ea"/>
              </a:rPr>
              <a:t> I/O </a:t>
            </a:r>
            <a:r>
              <a:rPr lang="zh-CN" altLang="en-US" sz="1300">
                <a:sym typeface="+mn-ea"/>
              </a:rPr>
              <a:t>concurrency pressure on parallel file systems (such as</a:t>
            </a:r>
            <a:r>
              <a:rPr lang="en-US" altLang="zh-CN" sz="1300">
                <a:sym typeface="+mn-ea"/>
              </a:rPr>
              <a:t> Lustre, GPFS, JuiceFS</a:t>
            </a:r>
            <a:r>
              <a:rPr lang="zh-CN" altLang="en-US" sz="1300">
                <a:sym typeface="+mn-ea"/>
              </a:rPr>
              <a:t>).</a:t>
            </a:r>
          </a:p>
          <a:p>
            <a:pPr lvl="1"/>
            <a:r>
              <a:rPr lang="zh-CN" altLang="en-US" sz="1600" b="1">
                <a:sym typeface="+mn-ea"/>
              </a:rPr>
              <a:t>Read bandwidth</a:t>
            </a:r>
          </a:p>
          <a:p>
            <a:pPr lvl="2"/>
            <a:r>
              <a:rPr lang="zh-CN" altLang="en-US" sz="1300">
                <a:sym typeface="+mn-ea"/>
              </a:rPr>
              <a:t>Although reads are infrequent (only during training recovery or task startup), high read bandwidth can significantly reduce </a:t>
            </a:r>
            <a:r>
              <a:rPr lang="en-US" altLang="zh-CN" sz="1300">
                <a:sym typeface="+mn-ea"/>
              </a:rPr>
              <a:t>f</a:t>
            </a:r>
            <a:r>
              <a:rPr lang="zh-CN" altLang="en-US" sz="1300">
                <a:sym typeface="+mn-ea"/>
              </a:rPr>
              <a:t>ault recovery time, preventing thousands of</a:t>
            </a:r>
            <a:r>
              <a:rPr lang="en-US" altLang="zh-CN" sz="1300">
                <a:sym typeface="+mn-ea"/>
              </a:rPr>
              <a:t> GPU </a:t>
            </a:r>
            <a:r>
              <a:rPr lang="zh-CN" altLang="en-US" sz="1300">
                <a:sym typeface="+mn-ea"/>
              </a:rPr>
              <a:t>from sitting idle while waiting for data to load.</a:t>
            </a:r>
          </a:p>
          <a:p>
            <a:pPr marL="685800" lvl="2" indent="0">
              <a:buNone/>
            </a:pPr>
            <a:endParaRPr lang="zh-CN" altLang="en-US" sz="1330">
              <a:sym typeface="+mn-ea"/>
            </a:endParaRPr>
          </a:p>
          <a:p>
            <a:pPr lvl="1"/>
            <a:endParaRPr lang="zh-CN" altLang="en-US" sz="1800"/>
          </a:p>
          <a:p>
            <a:pPr lvl="1"/>
            <a:endParaRPr lang="en-US" altLang="zh-CN" sz="1800"/>
          </a:p>
          <a:p>
            <a:pPr lvl="1"/>
            <a:endParaRPr lang="en-US" altLang="zh-CN" sz="1800"/>
          </a:p>
          <a:p>
            <a:pPr lvl="1"/>
            <a:endParaRPr lang="en-US" altLang="zh-CN" sz="1800">
              <a:latin typeface="Calibri" panose="020F0502020204030204" charset="0"/>
              <a:ea typeface="微软雅黑" panose="020B0503020204020204" charset="-122"/>
            </a:endParaRPr>
          </a:p>
        </p:txBody>
      </p:sp>
      <p:graphicFrame>
        <p:nvGraphicFramePr>
          <p:cNvPr id="6" name="表格 5"/>
          <p:cNvGraphicFramePr/>
          <p:nvPr/>
        </p:nvGraphicFramePr>
        <p:xfrm>
          <a:off x="6217285" y="3041650"/>
          <a:ext cx="5630545" cy="30333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40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8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6395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8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CN" altLang="en-US" sz="1600" b="0" i="0">
                        <a:solidFill>
                          <a:schemeClr val="bg1"/>
                        </a:solidFill>
                        <a:latin typeface="Calibri" panose="020F0502020204030204" charset="0"/>
                        <a:ea typeface="微软雅黑" panose="020B0503020204020204" charset="-122"/>
                      </a:endParaRPr>
                    </a:p>
                    <a:p>
                      <a:pPr marL="0" indent="0" algn="l" fontAlgn="base">
                        <a:lnSpc>
                          <a:spcPts val="8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0" i="0">
                          <a:solidFill>
                            <a:schemeClr val="bg1"/>
                          </a:solidFill>
                          <a:latin typeface="Calibri" panose="020F0502020204030204" charset="0"/>
                          <a:ea typeface="微软雅黑" panose="020B0503020204020204" charset="-122"/>
                        </a:rPr>
                        <a:t>Components</a:t>
                      </a:r>
                    </a:p>
                  </a:txBody>
                  <a:tcPr marL="47942" marR="47942" marT="47942" marB="47942"/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8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CN" altLang="en-US" sz="1600" b="0" i="0">
                        <a:solidFill>
                          <a:schemeClr val="bg1"/>
                        </a:solidFill>
                        <a:latin typeface="Calibri" panose="020F0502020204030204" charset="0"/>
                        <a:ea typeface="微软雅黑" panose="020B0503020204020204" charset="-122"/>
                      </a:endParaRPr>
                    </a:p>
                    <a:p>
                      <a:pPr marL="0" indent="0" algn="l" fontAlgn="base">
                        <a:lnSpc>
                          <a:spcPts val="8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0" i="0">
                          <a:solidFill>
                            <a:schemeClr val="bg1"/>
                          </a:solidFill>
                          <a:latin typeface="Calibri" panose="020F0502020204030204" charset="0"/>
                          <a:ea typeface="微软雅黑" panose="020B0503020204020204" charset="-122"/>
                        </a:rPr>
                        <a:t>Compute</a:t>
                      </a:r>
                      <a:endParaRPr lang="zh-CN" altLang="en-US" sz="1600" b="0" i="0">
                        <a:solidFill>
                          <a:schemeClr val="bg1"/>
                        </a:solidFill>
                        <a:latin typeface="Calibri" panose="020F0502020204030204" charset="0"/>
                        <a:ea typeface="微软雅黑" panose="020B0503020204020204" charset="-122"/>
                      </a:endParaRPr>
                    </a:p>
                  </a:txBody>
                  <a:tcPr marL="47942" marR="47942" marT="47942" marB="47942"/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8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CN" altLang="en-US" sz="1400" b="0" i="0">
                        <a:solidFill>
                          <a:schemeClr val="bg1"/>
                        </a:solidFill>
                        <a:latin typeface="Calibri" panose="020F0502020204030204" charset="0"/>
                        <a:ea typeface="微软雅黑" panose="020B0503020204020204" charset="-122"/>
                      </a:endParaRPr>
                    </a:p>
                    <a:p>
                      <a:pPr marL="0" indent="0" algn="l" fontAlgn="base">
                        <a:lnSpc>
                          <a:spcPts val="8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0" i="0">
                          <a:solidFill>
                            <a:schemeClr val="bg1"/>
                          </a:solidFill>
                          <a:latin typeface="Calibri" panose="020F0502020204030204" charset="0"/>
                          <a:ea typeface="微软雅黑" panose="020B0503020204020204" charset="-122"/>
                        </a:rPr>
                        <a:t>Size</a:t>
                      </a:r>
                    </a:p>
                  </a:txBody>
                  <a:tcPr marL="47942" marR="47942" marT="47942" marB="4794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8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CN" altLang="en-US" sz="1600" b="0" i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libri" panose="020F0502020204030204" charset="0"/>
                        <a:ea typeface="微软雅黑" panose="020B0503020204020204" charset="-122"/>
                      </a:endParaRPr>
                    </a:p>
                    <a:p>
                      <a:pPr marL="0" indent="0" algn="l" fontAlgn="base">
                        <a:lnSpc>
                          <a:spcPts val="8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300" b="0" i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</a:rPr>
                        <a:t>Model parameters (BF16)</a:t>
                      </a:r>
                      <a:endParaRPr lang="zh-CN" altLang="en-US" sz="1600" b="0" i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libri" panose="020F0502020204030204" charset="0"/>
                        <a:ea typeface="微软雅黑" panose="020B0503020204020204" charset="-122"/>
                      </a:endParaRPr>
                    </a:p>
                  </a:txBody>
                  <a:tcPr marL="47942" marR="47942" marT="47942" marB="47942"/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8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CN" altLang="en-US" sz="1600" b="0" i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libri" panose="020F0502020204030204" charset="0"/>
                        <a:ea typeface="微软雅黑" panose="020B0503020204020204" charset="-122"/>
                      </a:endParaRPr>
                    </a:p>
                    <a:p>
                      <a:pPr marL="0" indent="0" algn="l" fontAlgn="base">
                        <a:lnSpc>
                          <a:spcPts val="8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0" i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</a:rPr>
                        <a:t>175</a:t>
                      </a:r>
                      <a:r>
                        <a:rPr lang="zh-CN" altLang="en-US" sz="1600" b="0" i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</a:rPr>
                        <a:t> B × 2B</a:t>
                      </a:r>
                    </a:p>
                  </a:txBody>
                  <a:tcPr marL="47942" marR="47942" marT="47942" marB="47942"/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8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CN" altLang="en-US" sz="1600" b="0" i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libri" panose="020F0502020204030204" charset="0"/>
                        <a:ea typeface="微软雅黑" panose="020B0503020204020204" charset="-122"/>
                      </a:endParaRPr>
                    </a:p>
                    <a:p>
                      <a:pPr marL="0" indent="0" algn="l" fontAlgn="base">
                        <a:lnSpc>
                          <a:spcPts val="8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0" i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</a:rPr>
                        <a:t>350 </a:t>
                      </a:r>
                      <a:r>
                        <a:rPr lang="zh-CN" altLang="en-US" sz="1600" b="0" i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</a:rPr>
                        <a:t>GB</a:t>
                      </a:r>
                    </a:p>
                  </a:txBody>
                  <a:tcPr marL="47942" marR="47942" marT="47942" marB="4794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8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CN" altLang="en-US" sz="1600" b="0" i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libri" panose="020F0502020204030204" charset="0"/>
                        <a:ea typeface="微软雅黑" panose="020B0503020204020204" charset="-122"/>
                      </a:endParaRPr>
                    </a:p>
                    <a:p>
                      <a:pPr marL="0" indent="0" algn="l" fontAlgn="base">
                        <a:lnSpc>
                          <a:spcPts val="8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200" b="0" i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</a:rPr>
                        <a:t>Optimizer master parameters (FP32)</a:t>
                      </a:r>
                      <a:endParaRPr lang="zh-CN" altLang="en-US" sz="1600" b="0" i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libri" panose="020F0502020204030204" charset="0"/>
                        <a:ea typeface="微软雅黑" panose="020B0503020204020204" charset="-122"/>
                      </a:endParaRPr>
                    </a:p>
                  </a:txBody>
                  <a:tcPr marL="47942" marR="47942" marT="47942" marB="47942"/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8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CN" altLang="en-US" sz="1600" b="0" i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libri" panose="020F0502020204030204" charset="0"/>
                        <a:ea typeface="微软雅黑" panose="020B0503020204020204" charset="-122"/>
                      </a:endParaRPr>
                    </a:p>
                    <a:p>
                      <a:pPr marL="0" indent="0" algn="l" fontAlgn="base">
                        <a:lnSpc>
                          <a:spcPts val="8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0" i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</a:rPr>
                        <a:t>175</a:t>
                      </a:r>
                      <a:r>
                        <a:rPr lang="zh-CN" altLang="en-US" sz="1600" b="0" i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</a:rPr>
                        <a:t> B × 4B</a:t>
                      </a:r>
                    </a:p>
                  </a:txBody>
                  <a:tcPr marL="47942" marR="47942" marT="47942" marB="47942"/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8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CN" altLang="en-US" sz="1600" b="0" i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libri" panose="020F0502020204030204" charset="0"/>
                        <a:ea typeface="微软雅黑" panose="020B0503020204020204" charset="-122"/>
                      </a:endParaRPr>
                    </a:p>
                    <a:p>
                      <a:pPr marL="0" indent="0" algn="l" fontAlgn="base">
                        <a:lnSpc>
                          <a:spcPts val="8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0" i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</a:rPr>
                        <a:t>700 </a:t>
                      </a:r>
                      <a:r>
                        <a:rPr lang="zh-CN" altLang="en-US" sz="1600" b="0" i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</a:rPr>
                        <a:t>GB</a:t>
                      </a:r>
                    </a:p>
                  </a:txBody>
                  <a:tcPr marL="47942" marR="47942" marT="47942" marB="4794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8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CN" altLang="en-US" sz="1600" b="0" i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libri" panose="020F0502020204030204" charset="0"/>
                        <a:ea typeface="微软雅黑" panose="020B0503020204020204" charset="-122"/>
                      </a:endParaRPr>
                    </a:p>
                    <a:p>
                      <a:pPr marL="0" indent="0" algn="l" fontAlgn="base">
                        <a:lnSpc>
                          <a:spcPts val="8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300" b="0" i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</a:rPr>
                        <a:t>First moment m_t (FP32)</a:t>
                      </a:r>
                      <a:endParaRPr lang="zh-CN" altLang="en-US" sz="1600" b="0" i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libri" panose="020F0502020204030204" charset="0"/>
                        <a:ea typeface="微软雅黑" panose="020B0503020204020204" charset="-122"/>
                      </a:endParaRPr>
                    </a:p>
                  </a:txBody>
                  <a:tcPr marL="47942" marR="47942" marT="47942" marB="47942"/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8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CN" altLang="en-US" sz="1600" b="0" i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libri" panose="020F0502020204030204" charset="0"/>
                        <a:ea typeface="微软雅黑" panose="020B0503020204020204" charset="-122"/>
                      </a:endParaRPr>
                    </a:p>
                    <a:p>
                      <a:pPr marL="0" indent="0" algn="l" fontAlgn="base">
                        <a:lnSpc>
                          <a:spcPts val="8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0" i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</a:rPr>
                        <a:t>175</a:t>
                      </a:r>
                      <a:r>
                        <a:rPr lang="zh-CN" altLang="en-US" sz="1600" b="0" i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</a:rPr>
                        <a:t> B × 4B</a:t>
                      </a:r>
                    </a:p>
                  </a:txBody>
                  <a:tcPr marL="47942" marR="47942" marT="47942" marB="47942"/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8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CN" altLang="en-US" sz="1600" b="0" i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libri" panose="020F0502020204030204" charset="0"/>
                        <a:ea typeface="微软雅黑" panose="020B0503020204020204" charset="-122"/>
                      </a:endParaRPr>
                    </a:p>
                    <a:p>
                      <a:pPr marL="0" indent="0" algn="l" fontAlgn="base">
                        <a:lnSpc>
                          <a:spcPts val="8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0" i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</a:rPr>
                        <a:t>700</a:t>
                      </a:r>
                      <a:r>
                        <a:rPr lang="zh-CN" altLang="en-US" sz="1600" b="0" i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</a:rPr>
                        <a:t> GB</a:t>
                      </a:r>
                    </a:p>
                  </a:txBody>
                  <a:tcPr marL="47942" marR="47942" marT="47942" marB="4794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8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CN" altLang="en-US" sz="1600" b="0" i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libri" panose="020F0502020204030204" charset="0"/>
                        <a:ea typeface="微软雅黑" panose="020B0503020204020204" charset="-122"/>
                      </a:endParaRPr>
                    </a:p>
                    <a:p>
                      <a:pPr marL="0" indent="0" algn="l" fontAlgn="base">
                        <a:lnSpc>
                          <a:spcPts val="8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300" b="0" i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</a:rPr>
                        <a:t>Second moment v_t (FP32)</a:t>
                      </a:r>
                      <a:endParaRPr lang="zh-CN" altLang="en-US" sz="1600" b="0" i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libri" panose="020F0502020204030204" charset="0"/>
                        <a:ea typeface="微软雅黑" panose="020B0503020204020204" charset="-122"/>
                      </a:endParaRPr>
                    </a:p>
                  </a:txBody>
                  <a:tcPr marL="47942" marR="47942" marT="47942" marB="47942"/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8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CN" altLang="en-US" sz="1600" b="0" i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libri" panose="020F0502020204030204" charset="0"/>
                        <a:ea typeface="微软雅黑" panose="020B0503020204020204" charset="-122"/>
                      </a:endParaRPr>
                    </a:p>
                    <a:p>
                      <a:pPr marL="0" indent="0" algn="l" fontAlgn="base">
                        <a:lnSpc>
                          <a:spcPts val="8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0" i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</a:rPr>
                        <a:t>175</a:t>
                      </a:r>
                      <a:r>
                        <a:rPr lang="zh-CN" altLang="en-US" sz="1600" b="0" i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</a:rPr>
                        <a:t> B × 4B</a:t>
                      </a:r>
                    </a:p>
                  </a:txBody>
                  <a:tcPr marL="47942" marR="47942" marT="47942" marB="47942"/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8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CN" altLang="en-US" sz="1600" b="0" i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libri" panose="020F0502020204030204" charset="0"/>
                        <a:ea typeface="微软雅黑" panose="020B0503020204020204" charset="-122"/>
                      </a:endParaRPr>
                    </a:p>
                    <a:p>
                      <a:pPr marL="0" indent="0" algn="l" fontAlgn="base">
                        <a:lnSpc>
                          <a:spcPts val="8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0" i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</a:rPr>
                        <a:t>700</a:t>
                      </a:r>
                      <a:r>
                        <a:rPr lang="zh-CN" altLang="en-US" sz="1600" b="0" i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</a:rPr>
                        <a:t> GB</a:t>
                      </a:r>
                    </a:p>
                  </a:txBody>
                  <a:tcPr marL="47942" marR="47942" marT="47942" marB="47942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8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CN" altLang="en-US" sz="1600" b="0" i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libri" panose="020F0502020204030204" charset="0"/>
                        <a:ea typeface="微软雅黑" panose="020B0503020204020204" charset="-122"/>
                      </a:endParaRPr>
                    </a:p>
                    <a:p>
                      <a:pPr marL="0" indent="0" algn="l" fontAlgn="base">
                        <a:lnSpc>
                          <a:spcPts val="8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300" b="0" i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</a:rPr>
                        <a:t>Other states (steps, RNG, etc.)</a:t>
                      </a:r>
                      <a:endParaRPr lang="zh-CN" altLang="en-US" sz="1600" b="0" i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libri" panose="020F0502020204030204" charset="0"/>
                        <a:ea typeface="微软雅黑" panose="020B0503020204020204" charset="-122"/>
                      </a:endParaRPr>
                    </a:p>
                  </a:txBody>
                  <a:tcPr marL="47942" marR="47942" marT="47942" marB="47942"/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8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CN" altLang="en-US" sz="1600" b="0" i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libri" panose="020F0502020204030204" charset="0"/>
                        <a:ea typeface="微软雅黑" panose="020B0503020204020204" charset="-122"/>
                      </a:endParaRPr>
                    </a:p>
                    <a:p>
                      <a:pPr marL="0" indent="0" algn="l" fontAlgn="base">
                        <a:lnSpc>
                          <a:spcPts val="8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0" i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</a:rPr>
                        <a:t>~</a:t>
                      </a:r>
                    </a:p>
                  </a:txBody>
                  <a:tcPr marL="47942" marR="47942" marT="47942" marB="47942"/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8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CN" altLang="en-US" sz="1600" b="0" i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libri" panose="020F0502020204030204" charset="0"/>
                        <a:ea typeface="微软雅黑" panose="020B0503020204020204" charset="-122"/>
                      </a:endParaRPr>
                    </a:p>
                    <a:p>
                      <a:pPr marL="0" indent="0" algn="l" fontAlgn="base">
                        <a:lnSpc>
                          <a:spcPts val="8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0" i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</a:rPr>
                        <a:t>~</a:t>
                      </a:r>
                    </a:p>
                  </a:txBody>
                  <a:tcPr marL="47942" marR="47942" marT="47942" marB="47942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8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CN" altLang="en-US" sz="1400" b="1" i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libri" panose="020F0502020204030204" charset="0"/>
                        <a:ea typeface="微软雅黑" panose="020B0503020204020204" charset="-122"/>
                      </a:endParaRPr>
                    </a:p>
                    <a:p>
                      <a:pPr marL="0" indent="0" algn="l" fontAlgn="base">
                        <a:lnSpc>
                          <a:spcPts val="8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i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</a:rPr>
                        <a:t>Total</a:t>
                      </a:r>
                    </a:p>
                  </a:txBody>
                  <a:tcPr marL="47942" marR="47942" marT="47942" marB="47942"/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8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CN" altLang="en-US" sz="1600" b="0" i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libri" panose="020F0502020204030204" charset="0"/>
                        <a:ea typeface="微软雅黑" panose="020B0503020204020204" charset="-122"/>
                      </a:endParaRPr>
                    </a:p>
                  </a:txBody>
                  <a:tcPr marL="47942" marR="47942" marT="47942" marB="47942"/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8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CN" altLang="en-US" sz="1600" b="1" i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libri" panose="020F0502020204030204" charset="0"/>
                        <a:ea typeface="微软雅黑" panose="020B0503020204020204" charset="-122"/>
                      </a:endParaRPr>
                    </a:p>
                    <a:p>
                      <a:pPr marL="0" indent="0" algn="l" fontAlgn="base">
                        <a:lnSpc>
                          <a:spcPts val="8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</a:rPr>
                        <a:t>~</a:t>
                      </a:r>
                      <a:r>
                        <a:rPr lang="en-US" altLang="zh-CN" sz="1600" b="1" i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</a:rPr>
                        <a:t> 2.4TB</a:t>
                      </a:r>
                    </a:p>
                  </a:txBody>
                  <a:tcPr marL="47942" marR="47942" marT="47942" marB="47942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8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zh-CN" altLang="en-US" sz="1600" b="1" i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libri" panose="020F0502020204030204" charset="0"/>
                        <a:ea typeface="微软雅黑" panose="020B0503020204020204" charset="-122"/>
                      </a:endParaRPr>
                    </a:p>
                    <a:p>
                      <a:pPr marL="0" indent="0" algn="l" fontAlgn="base">
                        <a:lnSpc>
                          <a:spcPts val="8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altLang="en-US" sz="1400" b="1" i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</a:rPr>
                        <a:t>Per-rank total</a:t>
                      </a:r>
                      <a:r>
                        <a:rPr lang="en-US" altLang="zh-CN" sz="1400" b="1" i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</a:rPr>
                        <a:t> after </a:t>
                      </a:r>
                      <a:r>
                        <a:rPr lang="zh-CN" altLang="en-US" sz="1400" b="1" i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</a:rPr>
                        <a:t>sharding</a:t>
                      </a:r>
                    </a:p>
                  </a:txBody>
                  <a:tcPr marL="47942" marR="47942" marT="47942" marB="47942"/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8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zh-CN" altLang="en-US" sz="1600" b="0" i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libri" panose="020F0502020204030204" charset="0"/>
                        <a:ea typeface="微软雅黑" panose="020B0503020204020204" charset="-122"/>
                      </a:endParaRPr>
                    </a:p>
                    <a:p>
                      <a:pPr marL="0" indent="0" algn="l" fontAlgn="base">
                        <a:lnSpc>
                          <a:spcPts val="8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1600" b="0" i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</a:rPr>
                        <a:t>2.4 TB / 8</a:t>
                      </a:r>
                    </a:p>
                  </a:txBody>
                  <a:tcPr marL="47942" marR="47942" marT="47942" marB="47942"/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8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en-US" altLang="zh-CN" sz="1600" b="1" i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libri" panose="020F0502020204030204" charset="0"/>
                        <a:ea typeface="微软雅黑" panose="020B0503020204020204" charset="-122"/>
                      </a:endParaRPr>
                    </a:p>
                    <a:p>
                      <a:pPr marL="0" indent="0" algn="l" fontAlgn="base">
                        <a:lnSpc>
                          <a:spcPts val="8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1600" b="1" i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</a:rPr>
                        <a:t>~300GB</a:t>
                      </a:r>
                    </a:p>
                  </a:txBody>
                  <a:tcPr marL="47942" marR="47942" marT="47942" marB="47942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内容占位符 2"/>
          <p:cNvSpPr>
            <a:spLocks noGrp="1"/>
          </p:cNvSpPr>
          <p:nvPr/>
        </p:nvSpPr>
        <p:spPr>
          <a:xfrm>
            <a:off x="6333490" y="1323975"/>
            <a:ext cx="5572125" cy="17176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60045" marR="0" indent="-360045" algn="l" defTabSz="3429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8B0012"/>
              </a:buClr>
              <a:buSzTx/>
              <a:buFont typeface="文泉驿微米黑" panose="020B0606030804020204" charset="-122"/>
              <a:buChar char="■"/>
              <a:defRPr sz="2400" b="0" i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微软雅黑" panose="020B0503020204020204" charset="-122"/>
                <a:cs typeface="+mn-cs"/>
              </a:defRPr>
            </a:lvl1pPr>
            <a:lvl2pPr marL="557530" marR="0" indent="-214630" algn="l" defTabSz="3429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8B0012"/>
              </a:buClr>
              <a:buSzPct val="75000"/>
              <a:buFont typeface="文泉驿微米黑" panose="020B0606030804020204" charset="-122"/>
              <a:buChar char="♦"/>
              <a:defRPr sz="20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微软雅黑" panose="020B0503020204020204" charset="-122"/>
                <a:cs typeface="+mn-cs"/>
              </a:defRPr>
            </a:lvl2pPr>
            <a:lvl3pPr marL="857250" marR="0" indent="-171450" algn="l" defTabSz="3429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8B0012"/>
              </a:buClr>
              <a:buSzTx/>
              <a:buFont typeface="文泉驿微米黑" panose="020B0606030804020204" charset="-122"/>
              <a:buChar char="▶"/>
              <a:defRPr sz="16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微软雅黑" panose="020B0503020204020204" charset="-122"/>
                <a:cs typeface="+mn-cs"/>
              </a:defRPr>
            </a:lvl3pPr>
            <a:lvl4pPr marL="1200150" marR="0" indent="-171450" algn="l" defTabSz="3429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8B0012"/>
              </a:buClr>
              <a:buSzTx/>
              <a:buFont typeface="文泉驿微米黑" panose="020B0606030804020204" charset="-122"/>
              <a:buChar char="●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微软雅黑" panose="020B0503020204020204" charset="-122"/>
                <a:cs typeface="+mn-cs"/>
              </a:defRPr>
            </a:lvl4pPr>
            <a:lvl5pPr marL="1543050" marR="0" indent="-171450" algn="l" defTabSz="3429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49E39"/>
              </a:buClr>
              <a:buSzTx/>
              <a:buFont typeface="Wingdings 3" panose="05040102010807070707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/>
              <a:t>Using the</a:t>
            </a:r>
            <a:r>
              <a:rPr lang="en-US" altLang="zh-CN" sz="1800"/>
              <a:t> GPT-3 175B </a:t>
            </a:r>
            <a:r>
              <a:rPr lang="zh-CN" altLang="en-US" sz="1800"/>
              <a:t>model as an example</a:t>
            </a:r>
          </a:p>
          <a:p>
            <a:pPr lvl="1" algn="l"/>
            <a:r>
              <a:rPr lang="en-US" altLang="zh-CN" sz="1800"/>
              <a:t>Optimizer: AdamW;</a:t>
            </a:r>
          </a:p>
          <a:p>
            <a:pPr lvl="1" algn="l"/>
            <a:r>
              <a:rPr lang="en-US" altLang="zh-CN" sz="1800"/>
              <a:t>Training precision: BF16;</a:t>
            </a:r>
          </a:p>
          <a:p>
            <a:pPr lvl="1" algn="l"/>
            <a:r>
              <a:rPr lang="en-US" altLang="zh-CN" sz="1800"/>
              <a:t>Distributed: ZeRO-3 (8 GPUs)</a:t>
            </a:r>
          </a:p>
          <a:p>
            <a:pPr lvl="1"/>
            <a:endParaRPr lang="zh-CN" altLang="en-US" sz="1800">
              <a:latin typeface="Calibri" panose="020F0502020204030204" charset="0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Synchronized checkpoint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15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en-US" sz="1800"/>
              <a:t>Principle</a:t>
            </a:r>
            <a:endParaRPr lang="zh-CN" altLang="en-US" sz="2800"/>
          </a:p>
          <a:p>
            <a:pPr lvl="1"/>
            <a:r>
              <a:rPr lang="zh-CN" altLang="en-US" sz="1400" b="1"/>
              <a:t>When a Checkpoint is triggered, the training process explicitly pauses all computation and gathers the required state components.</a:t>
            </a:r>
            <a:endParaRPr lang="zh-CN" altLang="en-US" b="1"/>
          </a:p>
          <a:p>
            <a:pPr lvl="1"/>
            <a:r>
              <a:rPr lang="zh-CN" altLang="en-US" sz="1400"/>
              <a:t>In a </a:t>
            </a:r>
            <a:r>
              <a:rPr lang="en-US" altLang="zh-CN" sz="1400"/>
              <a:t>d</a:t>
            </a:r>
            <a:r>
              <a:rPr lang="zh-CN" altLang="en-US" sz="1400"/>
              <a:t>istributed </a:t>
            </a:r>
            <a:r>
              <a:rPr lang="en-US" altLang="zh-CN" sz="1400"/>
              <a:t>t</a:t>
            </a:r>
            <a:r>
              <a:rPr lang="zh-CN" altLang="en-US" sz="1400"/>
              <a:t>raining environment, a </a:t>
            </a:r>
            <a:r>
              <a:rPr lang="en-US" altLang="zh-CN" sz="1400"/>
              <a:t>s</a:t>
            </a:r>
            <a:r>
              <a:rPr lang="zh-CN" altLang="en-US" sz="1400"/>
              <a:t>ynchronized checkpoint requires coordination across all participating worker nodes; a</a:t>
            </a:r>
            <a:r>
              <a:rPr lang="en-US" altLang="zh-CN" sz="1400"/>
              <a:t> barrier</a:t>
            </a:r>
            <a:r>
              <a:rPr lang="zh-CN" altLang="en-US" sz="1400"/>
              <a:t> synchronization is used before saving.</a:t>
            </a:r>
            <a:endParaRPr lang="zh-CN" altLang="en-US"/>
          </a:p>
          <a:p>
            <a:pPr lvl="0"/>
            <a:r>
              <a:rPr lang="zh-CN" altLang="en-US" sz="1600"/>
              <a:t>Advantages</a:t>
            </a:r>
            <a:endParaRPr lang="zh-CN" altLang="en-US" sz="2800"/>
          </a:p>
          <a:p>
            <a:pPr lvl="1"/>
            <a:r>
              <a:rPr lang="zh-CN" altLang="en-US" sz="1400" b="1"/>
              <a:t>Simplicity:</a:t>
            </a:r>
            <a:r>
              <a:rPr lang="en-US" altLang="zh-CN" sz="1400"/>
              <a:t> </a:t>
            </a:r>
            <a:r>
              <a:rPr lang="zh-CN" altLang="en-US" sz="1400"/>
              <a:t>Easy to implement and understand. Save a clear point in time during training to ensure consistency across all worker nodes.</a:t>
            </a:r>
            <a:endParaRPr lang="zh-CN" altLang="en-US"/>
          </a:p>
          <a:p>
            <a:pPr lvl="1"/>
            <a:r>
              <a:rPr lang="zh-CN" altLang="en-US" sz="1400" b="1"/>
              <a:t>Consistency guarantee:</a:t>
            </a:r>
            <a:r>
              <a:rPr lang="en-US" altLang="zh-CN" sz="1400"/>
              <a:t> </a:t>
            </a:r>
            <a:r>
              <a:rPr lang="zh-CN" altLang="en-US" sz="1400"/>
              <a:t>The </a:t>
            </a:r>
            <a:r>
              <a:rPr lang="en-US" altLang="zh-CN" sz="1400"/>
              <a:t>c</a:t>
            </a:r>
            <a:r>
              <a:rPr lang="zh-CN" altLang="en-US" sz="1400"/>
              <a:t>heckpoint reflects the exact state of the training job at the moment it is triggered. If restored, training resumes exactly from that point.</a:t>
            </a:r>
            <a:endParaRPr lang="zh-CN" altLang="en-US"/>
          </a:p>
          <a:p>
            <a:pPr lvl="0"/>
            <a:r>
              <a:rPr lang="zh-CN" altLang="en-US" sz="1600"/>
              <a:t>Disadvantages</a:t>
            </a:r>
            <a:endParaRPr lang="zh-CN" altLang="en-US" sz="2800"/>
          </a:p>
          <a:p>
            <a:pPr lvl="1"/>
            <a:r>
              <a:rPr lang="zh-CN" altLang="en-US" sz="1400" b="1"/>
              <a:t>Performance overhead:</a:t>
            </a:r>
            <a:r>
              <a:rPr lang="en-US" altLang="zh-CN" sz="1400"/>
              <a:t> </a:t>
            </a:r>
            <a:r>
              <a:rPr lang="zh-CN" altLang="en-US" sz="1400"/>
              <a:t>Training stops during saving. Writing large Checkpoints to storage can take a long time, leaving substantial compute resources idle.</a:t>
            </a:r>
            <a:endParaRPr lang="zh-CN" altLang="en-US"/>
          </a:p>
          <a:p>
            <a:pPr lvl="1"/>
            <a:r>
              <a:rPr lang="zh-CN" altLang="en-US" sz="1400" b="1"/>
              <a:t>Blocking:</a:t>
            </a:r>
            <a:r>
              <a:rPr lang="en-US" altLang="zh-CN" sz="1400"/>
              <a:t> </a:t>
            </a:r>
            <a:r>
              <a:rPr lang="zh-CN" altLang="en-US" sz="1400"/>
              <a:t>the entire training process is blocked, reducing overall training throughput.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490" y="5040630"/>
            <a:ext cx="10579735" cy="156845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Asynchronous Checkpoint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16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lvl="0"/>
            <a:r>
              <a:rPr lang="zh-CN" altLang="en-US" sz="1920" b="1"/>
              <a:t>To reduce the performance overhead of synchronous saving, separate the compute-intensive</a:t>
            </a:r>
            <a:r>
              <a:rPr lang="en-US" altLang="zh-CN" sz="1920" b="1"/>
              <a:t> I/O</a:t>
            </a:r>
            <a:r>
              <a:rPr lang="zh-CN" altLang="en-US" sz="1920" b="1"/>
              <a:t> work of writing </a:t>
            </a:r>
            <a:r>
              <a:rPr lang="en-US" altLang="zh-CN" sz="1920" b="1"/>
              <a:t>c</a:t>
            </a:r>
            <a:r>
              <a:rPr lang="zh-CN" altLang="en-US" sz="1920" b="1"/>
              <a:t>heckpoints from the main training loop.</a:t>
            </a:r>
          </a:p>
          <a:p>
            <a:pPr lvl="1"/>
            <a:r>
              <a:rPr lang="zh-CN" altLang="en-US" sz="1800"/>
              <a:t>When a </a:t>
            </a:r>
            <a:r>
              <a:rPr lang="en-US" altLang="zh-CN" sz="1800"/>
              <a:t>c</a:t>
            </a:r>
            <a:r>
              <a:rPr lang="zh-CN" altLang="en-US" sz="1800"/>
              <a:t>heckpoint is triggered, the main process initiates the save operation but does not wait for it to finish.</a:t>
            </a:r>
            <a:endParaRPr lang="en-US" altLang="zh-CN" sz="1800"/>
          </a:p>
          <a:p>
            <a:pPr lvl="2"/>
            <a:r>
              <a:rPr lang="en-US" altLang="zh-CN" sz="1400" b="1"/>
              <a:t>1&gt; </a:t>
            </a:r>
            <a:r>
              <a:rPr lang="zh-CN" altLang="en-US" sz="1400" b="1"/>
              <a:t>Copy state:</a:t>
            </a:r>
            <a:r>
              <a:rPr lang="en-US" altLang="zh-CN" sz="1400"/>
              <a:t> </a:t>
            </a:r>
            <a:r>
              <a:rPr lang="zh-CN" altLang="en-US" sz="1400"/>
              <a:t>quickly copy the required state in memory. This copy should be faster than disk</a:t>
            </a:r>
            <a:r>
              <a:rPr lang="en-US" altLang="zh-CN" sz="1400"/>
              <a:t> I/O</a:t>
            </a:r>
            <a:r>
              <a:rPr lang="zh-CN" altLang="en-US" sz="1400"/>
              <a:t>.</a:t>
            </a:r>
          </a:p>
          <a:p>
            <a:pPr lvl="2"/>
            <a:r>
              <a:rPr lang="en-US" altLang="zh-CN" sz="1400" b="1"/>
              <a:t>2&gt; </a:t>
            </a:r>
            <a:r>
              <a:rPr lang="zh-CN" altLang="en-US" sz="1400" b="1"/>
              <a:t>Offload</a:t>
            </a:r>
            <a:r>
              <a:rPr lang="en-US" altLang="zh-CN" sz="1400" b="1"/>
              <a:t> I/O</a:t>
            </a:r>
            <a:r>
              <a:rPr lang="zh-CN" altLang="en-US" sz="1400" b="1"/>
              <a:t>:</a:t>
            </a:r>
            <a:r>
              <a:rPr lang="en-US" altLang="zh-CN" sz="1400"/>
              <a:t> </a:t>
            </a:r>
            <a:r>
              <a:rPr lang="zh-CN" altLang="en-US" sz="1400"/>
              <a:t>hand the copied state off to an independent thread</a:t>
            </a:r>
            <a:r>
              <a:rPr lang="en-US" altLang="zh-CN" sz="1400"/>
              <a:t>/</a:t>
            </a:r>
            <a:r>
              <a:rPr lang="zh-CN" altLang="en-US" sz="1400"/>
              <a:t> process</a:t>
            </a:r>
            <a:r>
              <a:rPr lang="en-US" altLang="zh-CN" sz="1400"/>
              <a:t>/</a:t>
            </a:r>
            <a:r>
              <a:rPr lang="zh-CN" altLang="en-US" sz="1400"/>
              <a:t> dedicated</a:t>
            </a:r>
            <a:r>
              <a:rPr lang="en-US" altLang="zh-CN" sz="1400"/>
              <a:t> IO</a:t>
            </a:r>
            <a:r>
              <a:rPr lang="zh-CN" altLang="en-US" sz="1400"/>
              <a:t> node, which performs the actual serialization and writes to persistent storage in the background.</a:t>
            </a:r>
          </a:p>
          <a:p>
            <a:pPr lvl="2"/>
            <a:r>
              <a:rPr lang="en-US" altLang="zh-CN" sz="1400" b="1"/>
              <a:t>3&gt; </a:t>
            </a:r>
            <a:r>
              <a:rPr lang="zh-CN" altLang="en-US" sz="1400" b="1"/>
              <a:t>Continue training:</a:t>
            </a:r>
            <a:r>
              <a:rPr lang="en-US" altLang="zh-CN" sz="1400"/>
              <a:t> </a:t>
            </a:r>
            <a:r>
              <a:rPr lang="zh-CN" altLang="en-US" sz="1400"/>
              <a:t>The main training loop resumes computation almost immediately after replication or handoff begins, overlapping Checkpoint</a:t>
            </a:r>
            <a:r>
              <a:rPr lang="en-US" altLang="zh-CN" sz="1400"/>
              <a:t> I/O</a:t>
            </a:r>
            <a:r>
              <a:rPr lang="zh-CN" altLang="en-US" sz="1400"/>
              <a:t> with computation.</a:t>
            </a:r>
          </a:p>
          <a:p>
            <a:pPr lvl="0"/>
            <a:endParaRPr lang="zh-CN" altLang="en-US" sz="14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130" y="3737610"/>
            <a:ext cx="9991725" cy="298386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/>
              <a:t>Synchronized </a:t>
            </a:r>
            <a:r>
              <a:rPr lang="en-US" altLang="zh-CN" sz="3200"/>
              <a:t>C</a:t>
            </a:r>
            <a:r>
              <a:rPr lang="zh-CN" altLang="en-US" sz="3200"/>
              <a:t>heckpoint</a:t>
            </a:r>
            <a:r>
              <a:rPr lang="en-US" altLang="zh-CN" sz="3200"/>
              <a:t> vs </a:t>
            </a:r>
            <a:r>
              <a:rPr sz="3200"/>
              <a:t>Asynchronous </a:t>
            </a:r>
            <a:r>
              <a:rPr lang="en-US" altLang="zh-CN" sz="3200"/>
              <a:t>C</a:t>
            </a:r>
            <a:r>
              <a:rPr sz="3200"/>
              <a:t>heckpoint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17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Autofit/>
          </a:bodyPr>
          <a:lstStyle/>
          <a:p>
            <a:r>
              <a:rPr lang="zh-CN" altLang="en-US" sz="1800"/>
              <a:t>The best approach depends on the specific training setup and priorities.</a:t>
            </a:r>
            <a:endParaRPr lang="en-US" altLang="zh-CN" sz="2800"/>
          </a:p>
          <a:p>
            <a:pPr lvl="1"/>
            <a:r>
              <a:rPr lang="zh-CN" altLang="en-US" sz="1600" b="1"/>
              <a:t>Simplicity vs. performance:</a:t>
            </a:r>
            <a:r>
              <a:rPr lang="en-US" altLang="zh-CN" sz="1600"/>
              <a:t> </a:t>
            </a:r>
            <a:r>
              <a:rPr lang="zh-CN" altLang="en-US" sz="1600"/>
              <a:t>The synchronized approach is simpler but incurs higher overhead. The asynchronous approach is more complex but significantly reduces idle time.</a:t>
            </a:r>
            <a:endParaRPr lang="zh-CN" altLang="en-US" sz="2400"/>
          </a:p>
          <a:p>
            <a:pPr lvl="1"/>
            <a:r>
              <a:rPr lang="zh-CN" altLang="en-US" sz="1600" b="1"/>
              <a:t>Storage speed:</a:t>
            </a:r>
            <a:r>
              <a:rPr lang="en-US" altLang="zh-CN" sz="1600"/>
              <a:t> </a:t>
            </a:r>
            <a:r>
              <a:rPr lang="zh-CN" altLang="en-US" sz="1600"/>
              <a:t>If Checkpoint storage is extremely fast (e.g., a high-performance parallel file system), the overhead of synchronized saving may be acceptable. If storage</a:t>
            </a:r>
            <a:r>
              <a:rPr lang="en-US" altLang="zh-CN" sz="1600"/>
              <a:t> I/O</a:t>
            </a:r>
            <a:r>
              <a:rPr lang="zh-CN" altLang="en-US" sz="1600"/>
              <a:t> is the bottleneck, asynchronous saving is more appealing.</a:t>
            </a:r>
            <a:endParaRPr lang="zh-CN" altLang="en-US" sz="2400"/>
          </a:p>
          <a:p>
            <a:pPr lvl="1"/>
            <a:r>
              <a:rPr lang="zh-CN" altLang="en-US" sz="1600" b="1"/>
              <a:t>Failure sensitivity:</a:t>
            </a:r>
            <a:r>
              <a:rPr lang="en-US" altLang="zh-CN" sz="1600" b="1"/>
              <a:t> </a:t>
            </a:r>
            <a:r>
              <a:rPr lang="zh-CN" altLang="en-US" sz="1600"/>
              <a:t>If it is critical to recover to the absolute latest state when a failure occurs, the consistency guaranteed by a Synchronized checkpoint may be preferable. If it</a:t>
            </a:r>
            <a:r>
              <a:rPr lang="en-US" altLang="zh-CN" sz="1600"/>
              <a:t>’</a:t>
            </a:r>
            <a:r>
              <a:rPr lang="zh-CN" altLang="en-US" sz="1600"/>
              <a:t>s acceptable to lose a small amount of iteration progress in exchange for higher throughput, the asynchronous approach is a solid choice.</a:t>
            </a:r>
            <a:endParaRPr lang="zh-CN" altLang="en-US" sz="2400"/>
          </a:p>
          <a:p>
            <a:pPr lvl="1"/>
            <a:r>
              <a:rPr lang="zh-CN" altLang="en-US" sz="1600" b="1"/>
              <a:t>Framework support:</a:t>
            </a:r>
            <a:r>
              <a:rPr lang="en-US" altLang="zh-CN" sz="1600"/>
              <a:t> </a:t>
            </a:r>
            <a:r>
              <a:rPr lang="zh-CN" altLang="en-US" sz="1600"/>
              <a:t>Modern Distributed Training frameworks (such as</a:t>
            </a:r>
            <a:r>
              <a:rPr lang="en-US" altLang="zh-CN" sz="1600"/>
              <a:t> DeepSpeed</a:t>
            </a:r>
            <a:r>
              <a:rPr lang="zh-CN" altLang="en-US" sz="1600"/>
              <a:t> or</a:t>
            </a:r>
            <a:r>
              <a:rPr lang="en-US" altLang="zh-CN" sz="1600"/>
              <a:t> PyTorch FSDP</a:t>
            </a:r>
            <a:r>
              <a:rPr lang="zh-CN" altLang="en-US" sz="1600"/>
              <a:t>) typically provide built-in, optimized Checkpoint support—sometimes including asynchronous options or highly optimized synchronized methods—to minimize blocking time.</a:t>
            </a:r>
          </a:p>
          <a:p>
            <a:pPr lvl="2"/>
            <a:endParaRPr lang="zh-CN" altLang="en-US" sz="1920"/>
          </a:p>
          <a:p>
            <a:pPr lvl="0"/>
            <a:r>
              <a:rPr lang="zh-CN" altLang="en-US" sz="1600"/>
              <a:t>Practical implementation</a:t>
            </a:r>
            <a:endParaRPr lang="zh-CN" altLang="en-US" sz="2800"/>
          </a:p>
          <a:p>
            <a:pPr lvl="1"/>
            <a:r>
              <a:rPr lang="zh-CN" altLang="en-US" sz="1600"/>
              <a:t>For ultra-large models where Checkpointing takes a long time (several minutes or more), asynchronous Checkpoint is often preferred to maximize utilization of expensive</a:t>
            </a:r>
            <a:r>
              <a:rPr lang="en-US" altLang="zh-CN" sz="1600"/>
              <a:t> GPU</a:t>
            </a:r>
            <a:r>
              <a:rPr lang="zh-CN" altLang="en-US" sz="1600"/>
              <a:t> resources; careful implementation and testing are essential to ensure the reliability of the asynchronous saving process.</a:t>
            </a:r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Checkpoint Strategy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18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523875" y="1323975"/>
            <a:ext cx="8784590" cy="4853305"/>
          </a:xfrm>
        </p:spPr>
        <p:txBody>
          <a:bodyPr>
            <a:normAutofit lnSpcReduction="10000"/>
          </a:bodyPr>
          <a:lstStyle/>
          <a:p>
            <a:r>
              <a:rPr lang="zh-CN" altLang="en-US" sz="1600" b="1"/>
              <a:t>Trade-off: minimize work lost during failures</a:t>
            </a:r>
            <a:r>
              <a:rPr lang="en-US" altLang="zh-CN" sz="1600" b="1"/>
              <a:t> vs </a:t>
            </a:r>
            <a:r>
              <a:rPr lang="zh-CN" altLang="en-US" sz="1600" b="1"/>
              <a:t>minimize the overhead of saving checkpoints</a:t>
            </a:r>
            <a:endParaRPr lang="zh-CN" altLang="en-US" b="1"/>
          </a:p>
          <a:p>
            <a:pPr lvl="1"/>
            <a:r>
              <a:rPr lang="zh-CN" altLang="en-US" sz="1400"/>
              <a:t>High frequency (e.g., every few hundred steps):</a:t>
            </a:r>
          </a:p>
          <a:p>
            <a:pPr lvl="2"/>
            <a:r>
              <a:rPr lang="zh-CN" altLang="en-US" sz="1200"/>
              <a:t>Pros:</a:t>
            </a:r>
            <a:r>
              <a:rPr lang="en-US" altLang="zh-CN" sz="1200"/>
              <a:t> </a:t>
            </a:r>
            <a:r>
              <a:rPr lang="zh-CN" altLang="en-US" sz="1200"/>
              <a:t>Reduces the loss of training progress when interruptions occur. You can resume from a point closer to the failure.</a:t>
            </a:r>
          </a:p>
          <a:p>
            <a:pPr lvl="2"/>
            <a:r>
              <a:rPr lang="zh-CN" altLang="en-US" sz="1200">
                <a:sym typeface="+mn-ea"/>
              </a:rPr>
              <a:t>Drawback</a:t>
            </a:r>
            <a:r>
              <a:rPr lang="zh-CN" altLang="en-US" sz="1200"/>
              <a:t>:</a:t>
            </a:r>
            <a:r>
              <a:rPr lang="en-US" altLang="zh-CN" sz="1200"/>
              <a:t> </a:t>
            </a:r>
            <a:r>
              <a:rPr lang="zh-CN" altLang="en-US" sz="1200"/>
              <a:t>The cumulative overhead of frequent saves increases total training time. It can quickly generate a large number of Checkpoint files.</a:t>
            </a:r>
          </a:p>
          <a:p>
            <a:pPr lvl="1" algn="l"/>
            <a:r>
              <a:rPr lang="zh-CN" altLang="en-US" sz="1400"/>
              <a:t>Low frequency (e.g., every few thousand steps or every few hours):</a:t>
            </a:r>
          </a:p>
          <a:p>
            <a:pPr lvl="2" algn="l"/>
            <a:r>
              <a:rPr lang="zh-CN" altLang="en-US" sz="1200"/>
              <a:t>Pros: Minimizes the impact of Checkpoint overhead on overall training throughput. Slows the rate of storage usage.</a:t>
            </a:r>
          </a:p>
          <a:p>
            <a:pPr lvl="2" algn="l"/>
            <a:r>
              <a:rPr lang="zh-CN" altLang="en-US" sz="1200"/>
              <a:t>Drawback: If a failure occurs between checkpoints, a large amount of progress will be lost. Restarting may require recomputing hours of work.</a:t>
            </a:r>
          </a:p>
          <a:p>
            <a:pPr lvl="0" algn="l"/>
            <a:r>
              <a:rPr lang="zh-CN" altLang="en-US" sz="1600" b="1"/>
              <a:t>Checkpoint Trigger strategy</a:t>
            </a:r>
          </a:p>
          <a:p>
            <a:pPr lvl="1" algn="l"/>
            <a:r>
              <a:rPr lang="zh-CN" altLang="en-US" sz="1400" b="1"/>
              <a:t>Iteration-based: </a:t>
            </a:r>
            <a:r>
              <a:rPr lang="zh-CN" altLang="en-US" sz="1400"/>
              <a:t>Save once every N training steps;</a:t>
            </a:r>
          </a:p>
          <a:p>
            <a:pPr lvl="1" algn="l"/>
            <a:r>
              <a:rPr lang="zh-CN" altLang="en-US" sz="1400" b="1"/>
              <a:t>Time-based: </a:t>
            </a:r>
            <a:r>
              <a:rPr lang="zh-CN" altLang="en-US" sz="1400"/>
              <a:t>Save once every H hours.</a:t>
            </a:r>
          </a:p>
          <a:p>
            <a:pPr lvl="0" algn="l"/>
            <a:r>
              <a:rPr lang="zh-CN" altLang="en-US" sz="1600" b="1"/>
              <a:t>Checkpoint retention strategy</a:t>
            </a:r>
          </a:p>
          <a:p>
            <a:pPr lvl="1" algn="l"/>
            <a:r>
              <a:rPr lang="zh-CN" altLang="en-US" sz="1400" b="1"/>
              <a:t>Keep only the latest:</a:t>
            </a:r>
            <a:r>
              <a:rPr lang="zh-CN" altLang="en-US" sz="1400"/>
              <a:t> The simplest strategy. After saving a new checkpoint, delete the previous one.</a:t>
            </a:r>
          </a:p>
          <a:p>
            <a:pPr lvl="1" algn="l"/>
            <a:r>
              <a:rPr lang="zh-CN" altLang="en-US" sz="1400" b="1"/>
              <a:t>Keep the last K:</a:t>
            </a:r>
            <a:r>
              <a:rPr lang="zh-CN" altLang="en-US" sz="1400"/>
              <a:t> Keep the most recent K checkpoints. When saving checkpoint N, delete checkpoint N-K.</a:t>
            </a:r>
          </a:p>
          <a:p>
            <a:pPr lvl="1" algn="l"/>
            <a:r>
              <a:rPr lang="zh-CN" altLang="en-US" sz="1400" b="1"/>
              <a:t>Keep the best M based on validation: </a:t>
            </a:r>
            <a:r>
              <a:rPr lang="zh-CN" altLang="en-US" sz="1400"/>
              <a:t>Regularly monitor validation metrics (e.g., perplexity) and keep the best M.</a:t>
            </a:r>
          </a:p>
          <a:p>
            <a:pPr marL="685800" lvl="2" indent="0">
              <a:buNone/>
            </a:pPr>
            <a:endParaRPr lang="zh-CN" altLang="en-US" sz="144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7675" y="1436370"/>
            <a:ext cx="2627630" cy="502031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/>
              <a:t>Checkpoint </a:t>
            </a:r>
            <a:r>
              <a:rPr lang="en-US" altLang="zh-CN" sz="2800"/>
              <a:t>S</a:t>
            </a:r>
            <a:r>
              <a:rPr lang="zh-CN" altLang="en-US" sz="2800"/>
              <a:t>torage </a:t>
            </a:r>
            <a:r>
              <a:rPr lang="en-US" altLang="zh-CN" sz="2800"/>
              <a:t>O</a:t>
            </a:r>
            <a:r>
              <a:rPr lang="zh-CN" altLang="en-US" sz="2800"/>
              <a:t>ptimization </a:t>
            </a:r>
            <a:r>
              <a:rPr lang="en-US" altLang="zh-CN" sz="2800"/>
              <a:t>T</a:t>
            </a:r>
            <a:r>
              <a:rPr lang="zh-CN" altLang="en-US" sz="2800"/>
              <a:t>echniques: Checkpoint </a:t>
            </a:r>
            <a:r>
              <a:rPr lang="en-US" altLang="zh-CN" sz="2800"/>
              <a:t>C</a:t>
            </a:r>
            <a:r>
              <a:rPr lang="zh-CN" altLang="en-US" sz="2800"/>
              <a:t>ompression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19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Autofit/>
          </a:bodyPr>
          <a:lstStyle/>
          <a:p>
            <a:r>
              <a:rPr lang="zh-CN" altLang="en-US" sz="2000" b="1"/>
              <a:t>Numeric quantization and bit-plane compression</a:t>
            </a:r>
            <a:r>
              <a:rPr lang="en-US" altLang="zh-CN" sz="2000" b="1"/>
              <a:t> </a:t>
            </a:r>
          </a:p>
          <a:p>
            <a:pPr lvl="1"/>
            <a:r>
              <a:rPr lang="zh-CN" altLang="en-US" sz="1800"/>
              <a:t>Low-bit quantization:</a:t>
            </a:r>
            <a:r>
              <a:rPr lang="en-US" altLang="zh-CN" sz="1800"/>
              <a:t> </a:t>
            </a:r>
            <a:r>
              <a:rPr lang="zh-CN" altLang="en-US" sz="1800"/>
              <a:t>Compress the training state from</a:t>
            </a:r>
            <a:r>
              <a:rPr lang="en-US" altLang="zh-CN" sz="1800"/>
              <a:t> BF16/FP32 </a:t>
            </a:r>
            <a:r>
              <a:rPr lang="zh-CN" altLang="en-US" sz="1800"/>
              <a:t>to</a:t>
            </a:r>
            <a:r>
              <a:rPr lang="en-US" altLang="zh-CN" sz="1800"/>
              <a:t> INT8</a:t>
            </a:r>
            <a:r>
              <a:rPr lang="zh-CN" altLang="en-US" sz="1800"/>
              <a:t>,</a:t>
            </a:r>
            <a:r>
              <a:rPr lang="en-US" altLang="zh-CN" sz="1800"/>
              <a:t> FP8 </a:t>
            </a:r>
            <a:r>
              <a:rPr lang="zh-CN" altLang="en-US" sz="1800"/>
              <a:t>or even</a:t>
            </a:r>
            <a:r>
              <a:rPr lang="en-US" altLang="zh-CN" sz="1800"/>
              <a:t> NF4</a:t>
            </a:r>
            <a:r>
              <a:rPr lang="zh-CN" altLang="en-US" sz="1800"/>
              <a:t> (</a:t>
            </a:r>
            <a:r>
              <a:rPr lang="en-US" altLang="zh-CN" sz="1800"/>
              <a:t>NormalFloat</a:t>
            </a:r>
            <a:r>
              <a:rPr lang="zh-CN" altLang="en-US" sz="1800"/>
              <a:t>).</a:t>
            </a:r>
          </a:p>
          <a:p>
            <a:pPr lvl="1"/>
            <a:r>
              <a:rPr lang="zh-CN" altLang="en-US" sz="1800"/>
              <a:t>Exponent sharing:</a:t>
            </a:r>
            <a:r>
              <a:rPr lang="en-US" altLang="zh-CN" sz="1800"/>
              <a:t> </a:t>
            </a:r>
            <a:r>
              <a:rPr lang="zh-CN" altLang="en-US" sz="1800"/>
              <a:t>Share an exponent across tensor blocks and store only mantissas, reducing memory usage.</a:t>
            </a:r>
          </a:p>
          <a:p>
            <a:pPr lvl="1"/>
            <a:r>
              <a:rPr lang="zh-CN" altLang="en-US" sz="1800"/>
              <a:t>Mixed-precision snapshots:</a:t>
            </a:r>
            <a:r>
              <a:rPr lang="en-US" altLang="zh-CN" sz="1800"/>
              <a:t> </a:t>
            </a:r>
            <a:r>
              <a:rPr lang="zh-CN" altLang="en-US" sz="1800"/>
              <a:t>Keep model weights at high precision, applying lossy compression to optimizer states.</a:t>
            </a:r>
          </a:p>
          <a:p>
            <a:pPr lvl="0"/>
            <a:r>
              <a:rPr lang="zh-CN" altLang="en-US" sz="2000" b="1"/>
              <a:t>Differential and </a:t>
            </a:r>
            <a:r>
              <a:rPr lang="en-US" altLang="zh-CN" sz="2000" b="1"/>
              <a:t>delta </a:t>
            </a:r>
            <a:r>
              <a:rPr lang="zh-CN" altLang="en-US" sz="2000" b="1"/>
              <a:t>encoding</a:t>
            </a:r>
            <a:r>
              <a:rPr lang="en-US" altLang="zh-CN" sz="2000" b="1"/>
              <a:t> </a:t>
            </a:r>
          </a:p>
          <a:p>
            <a:pPr lvl="1"/>
            <a:r>
              <a:rPr lang="zh-CN" altLang="en-US" sz="1800"/>
              <a:t>Residual storage:</a:t>
            </a:r>
            <a:r>
              <a:rPr lang="en-US" altLang="zh-CN" sz="1800"/>
              <a:t> </a:t>
            </a:r>
            <a:r>
              <a:rPr lang="zh-CN" altLang="en-US" sz="1800"/>
              <a:t>Record only the delta between the current step and the previous step.</a:t>
            </a:r>
          </a:p>
          <a:p>
            <a:pPr lvl="1"/>
            <a:r>
              <a:rPr lang="zh-CN" altLang="en-US" sz="1800"/>
              <a:t>Low-rank decomposition</a:t>
            </a:r>
            <a:r>
              <a:rPr lang="en-US" altLang="zh-CN" sz="1800"/>
              <a:t> (LoRA-style)</a:t>
            </a:r>
            <a:r>
              <a:rPr lang="zh-CN" altLang="en-US" sz="1800"/>
              <a:t>:</a:t>
            </a:r>
            <a:r>
              <a:rPr lang="en-US" altLang="zh-CN" sz="1800"/>
              <a:t> </a:t>
            </a:r>
            <a:r>
              <a:rPr lang="zh-CN" altLang="en-US" sz="1800"/>
              <a:t>Model weight changes as a product of low-rank matrices, and save only these small matrices.</a:t>
            </a:r>
          </a:p>
          <a:p>
            <a:pPr lvl="0"/>
            <a:r>
              <a:rPr lang="en-US" altLang="zh-CN" sz="2000" b="1"/>
              <a:t>Sparsity </a:t>
            </a:r>
            <a:r>
              <a:rPr lang="zh-CN" altLang="en-US" sz="2000" b="1"/>
              <a:t>and masking techniques</a:t>
            </a:r>
            <a:endParaRPr lang="en-US" altLang="zh-CN" sz="2000" b="1"/>
          </a:p>
          <a:p>
            <a:pPr lvl="1"/>
            <a:r>
              <a:rPr lang="en-US" altLang="zh-CN" sz="1800"/>
              <a:t>Top-K </a:t>
            </a:r>
            <a:r>
              <a:rPr lang="zh-CN" altLang="en-US" sz="1800"/>
              <a:t>filtering:</a:t>
            </a:r>
            <a:r>
              <a:rPr lang="en-US" altLang="zh-CN" sz="1800"/>
              <a:t> </a:t>
            </a:r>
            <a:r>
              <a:rPr lang="zh-CN" altLang="en-US" sz="1800"/>
              <a:t>Identify the parameters with the smallest updates and set them to zero, storing only gradient updates above the threshold.</a:t>
            </a:r>
          </a:p>
          <a:p>
            <a:pPr lvl="1"/>
            <a:r>
              <a:rPr lang="zh-CN" altLang="en-US" sz="1800"/>
              <a:t>Structured pruning:</a:t>
            </a:r>
            <a:r>
              <a:rPr lang="en-US" altLang="zh-CN" sz="1800"/>
              <a:t> </a:t>
            </a:r>
            <a:r>
              <a:rPr lang="zh-CN" altLang="en-US" sz="1800"/>
              <a:t>When saving, remove entire rows or columns of neurons that contribute little to the output.</a:t>
            </a:r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/>
              <a:t>Checkpoint </a:t>
            </a:r>
            <a:r>
              <a:rPr lang="en-US" altLang="zh-CN" sz="2800"/>
              <a:t>S</a:t>
            </a:r>
            <a:r>
              <a:rPr lang="zh-CN" altLang="en-US" sz="2800"/>
              <a:t>torage </a:t>
            </a:r>
            <a:r>
              <a:rPr lang="en-US" altLang="zh-CN" sz="2800"/>
              <a:t>O</a:t>
            </a:r>
            <a:r>
              <a:rPr lang="zh-CN" altLang="en-US" sz="2800"/>
              <a:t>ptimization </a:t>
            </a:r>
            <a:r>
              <a:rPr lang="en-US" altLang="zh-CN" sz="2800"/>
              <a:t>T</a:t>
            </a:r>
            <a:r>
              <a:rPr lang="zh-CN" altLang="en-US" sz="2800"/>
              <a:t>echniques: </a:t>
            </a:r>
            <a:r>
              <a:rPr lang="en-US" altLang="zh-CN" sz="2800"/>
              <a:t>T</a:t>
            </a:r>
            <a:r>
              <a:rPr lang="zh-CN" altLang="en-US" sz="2800"/>
              <a:t>iered </a:t>
            </a:r>
            <a:r>
              <a:rPr lang="en-US" altLang="zh-CN" sz="2800"/>
              <a:t>S</a:t>
            </a:r>
            <a:r>
              <a:rPr lang="zh-CN" altLang="en-US" sz="2800"/>
              <a:t>torage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20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sz="1800" b="1">
                <a:cs typeface="Calibri" panose="020F0502020204030204" charset="0"/>
              </a:rPr>
              <a:t>Logical architecture of tiered storage</a:t>
            </a:r>
          </a:p>
          <a:p>
            <a:pPr lvl="1"/>
            <a:r>
              <a:rPr lang="zh-CN" altLang="en-US" sz="1600">
                <a:cs typeface="Calibri" panose="020F0502020204030204" charset="0"/>
              </a:rPr>
              <a:t>Different storage media differ by orders of magnitude in bandwidth and latency, evolving</a:t>
            </a:r>
            <a:r>
              <a:rPr lang="en-US" altLang="zh-CN" sz="1600">
                <a:cs typeface="Calibri" panose="020F0502020204030204" charset="0"/>
              </a:rPr>
              <a:t> Checkpoint </a:t>
            </a:r>
            <a:r>
              <a:rPr lang="zh-CN" altLang="en-US" sz="1600">
                <a:cs typeface="Calibri" panose="020F0502020204030204" charset="0"/>
              </a:rPr>
              <a:t>from</a:t>
            </a:r>
            <a:r>
              <a:rPr lang="en-US" altLang="zh-CN" sz="1600">
                <a:cs typeface="Calibri" panose="020F0502020204030204" charset="0"/>
              </a:rPr>
              <a:t> “</a:t>
            </a:r>
            <a:r>
              <a:rPr lang="zh-CN" altLang="en-US" sz="1600">
                <a:cs typeface="Calibri" panose="020F0502020204030204" charset="0"/>
              </a:rPr>
              <a:t>writing to disk in a single step</a:t>
            </a:r>
            <a:r>
              <a:rPr lang="en-US" altLang="zh-CN" sz="1600">
                <a:cs typeface="Calibri" panose="020F0502020204030204" charset="0"/>
              </a:rPr>
              <a:t>”</a:t>
            </a:r>
            <a:r>
              <a:rPr lang="zh-CN" altLang="en-US" sz="1600">
                <a:cs typeface="Calibri" panose="020F0502020204030204" charset="0"/>
              </a:rPr>
              <a:t> to</a:t>
            </a:r>
            <a:r>
              <a:rPr lang="en-US" altLang="zh-CN" sz="1600">
                <a:cs typeface="Calibri" panose="020F0502020204030204" charset="0"/>
              </a:rPr>
              <a:t> “</a:t>
            </a:r>
            <a:r>
              <a:rPr lang="zh-CN" altLang="en-US" sz="1600">
                <a:cs typeface="Calibri" panose="020F0502020204030204" charset="0"/>
              </a:rPr>
              <a:t>multi-level buffering</a:t>
            </a:r>
            <a:r>
              <a:rPr lang="en-US" altLang="zh-CN" sz="1600">
                <a:cs typeface="Calibri" panose="020F0502020204030204" charset="0"/>
              </a:rPr>
              <a:t>”</a:t>
            </a:r>
          </a:p>
          <a:p>
            <a:pPr lvl="1"/>
            <a:endParaRPr lang="en-US" altLang="zh-CN" sz="1800">
              <a:cs typeface="Calibri" panose="020F0502020204030204" charset="0"/>
            </a:endParaRPr>
          </a:p>
          <a:p>
            <a:pPr lvl="1"/>
            <a:endParaRPr lang="en-US" altLang="zh-CN" sz="1800">
              <a:cs typeface="Calibri" panose="020F0502020204030204" charset="0"/>
            </a:endParaRPr>
          </a:p>
          <a:p>
            <a:pPr lvl="1"/>
            <a:endParaRPr lang="en-US" altLang="zh-CN" sz="1800">
              <a:cs typeface="Calibri" panose="020F0502020204030204" charset="0"/>
            </a:endParaRPr>
          </a:p>
          <a:p>
            <a:pPr lvl="1"/>
            <a:endParaRPr lang="en-US" altLang="zh-CN" sz="1800">
              <a:cs typeface="Calibri" panose="020F0502020204030204" charset="0"/>
            </a:endParaRPr>
          </a:p>
          <a:p>
            <a:pPr lvl="1"/>
            <a:endParaRPr lang="en-US" altLang="zh-CN" sz="1800">
              <a:cs typeface="Calibri" panose="020F0502020204030204" charset="0"/>
            </a:endParaRPr>
          </a:p>
          <a:p>
            <a:pPr lvl="0" algn="l"/>
            <a:r>
              <a:rPr lang="zh-CN" altLang="en-US" sz="1800" b="1">
                <a:cs typeface="Calibri" panose="020F0502020204030204" charset="0"/>
              </a:rPr>
              <a:t>DeepSpeed</a:t>
            </a:r>
          </a:p>
          <a:p>
            <a:pPr lvl="1" algn="l"/>
            <a:r>
              <a:rPr lang="zh-CN" altLang="en-US" sz="1600">
                <a:cs typeface="Calibri" panose="020F0502020204030204" charset="0"/>
              </a:rPr>
              <a:t>Focuses on leveraging the multi-tier storage media within a single node to overcome memory capacity bottlenecks.</a:t>
            </a:r>
          </a:p>
          <a:p>
            <a:pPr lvl="1" algn="l"/>
            <a:r>
              <a:rPr lang="zh-CN" altLang="en-US" sz="1600" b="1">
                <a:cs typeface="Calibri" panose="020F0502020204030204" charset="0"/>
              </a:rPr>
              <a:t>ZeRO-Infinity + NVMe Offload: GPU memory → host memory (CPU DRAM)</a:t>
            </a:r>
            <a:r>
              <a:rPr lang="zh-CN" altLang="en-US" sz="1600" b="1">
                <a:cs typeface="Calibri" panose="020F0502020204030204" charset="0"/>
                <a:sym typeface="+mn-ea"/>
              </a:rPr>
              <a:t> →</a:t>
            </a:r>
            <a:r>
              <a:rPr lang="zh-CN" altLang="en-US" sz="1600" b="1">
                <a:cs typeface="Calibri" panose="020F0502020204030204" charset="0"/>
              </a:rPr>
              <a:t> local high-speed SSD (NVMe)</a:t>
            </a:r>
            <a:r>
              <a:rPr lang="zh-CN" altLang="en-US" sz="1600" b="1">
                <a:cs typeface="Calibri" panose="020F0502020204030204" charset="0"/>
                <a:sym typeface="+mn-ea"/>
              </a:rPr>
              <a:t> →</a:t>
            </a:r>
            <a:r>
              <a:rPr lang="zh-CN" altLang="en-US" sz="1600" b="1">
                <a:cs typeface="Calibri" panose="020F0502020204030204" charset="0"/>
              </a:rPr>
              <a:t> remote PFS</a:t>
            </a:r>
          </a:p>
          <a:p>
            <a:pPr lvl="0" algn="l"/>
            <a:r>
              <a:rPr lang="zh-CN" altLang="en-US" sz="1800" b="1">
                <a:cs typeface="Calibri" panose="020F0502020204030204" charset="0"/>
              </a:rPr>
              <a:t>Megatron-LM</a:t>
            </a:r>
          </a:p>
          <a:p>
            <a:pPr lvl="1" algn="l"/>
            <a:r>
              <a:rPr lang="zh-CN" altLang="en-US" sz="1600">
                <a:cs typeface="Calibri" panose="020F0502020204030204" charset="0"/>
              </a:rPr>
              <a:t>Focuses on mitigating the network and disk strain caused by concurrent writes from thousands of nodes in large-scale clusters.</a:t>
            </a:r>
          </a:p>
          <a:p>
            <a:pPr lvl="1" algn="l"/>
            <a:r>
              <a:rPr lang="zh-CN" altLang="en-US" sz="1600" b="1">
                <a:cs typeface="Calibri" panose="020F0502020204030204" charset="0"/>
              </a:rPr>
              <a:t>Distributed Checkpoint: node-local Buffer → parallel file system (Lustre/GPFS) → remote cold backup</a:t>
            </a:r>
          </a:p>
        </p:txBody>
      </p:sp>
      <p:graphicFrame>
        <p:nvGraphicFramePr>
          <p:cNvPr id="6" name="表格 5"/>
          <p:cNvGraphicFramePr/>
          <p:nvPr/>
        </p:nvGraphicFramePr>
        <p:xfrm>
          <a:off x="913765" y="2193290"/>
          <a:ext cx="10483850" cy="1798320"/>
        </p:xfrm>
        <a:graphic>
          <a:graphicData uri="http://schemas.openxmlformats.org/drawingml/2006/table">
            <a:tbl>
              <a:tblPr/>
              <a:tblGrid>
                <a:gridCol w="1496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68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5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6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683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</a:rPr>
                        <a:t>Storage hierarchy</a:t>
                      </a:r>
                    </a:p>
                  </a:txBody>
                  <a:tcPr marL="57467" marR="57467" marT="38417" marB="38417" anchor="ctr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</a:rPr>
                        <a:t>Storage medium</a:t>
                      </a:r>
                    </a:p>
                  </a:txBody>
                  <a:tcPr marL="57467" marR="57467" marT="38417" marB="38417" anchor="ctr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</a:rPr>
                        <a:t>Speed (Bandwidth)</a:t>
                      </a:r>
                    </a:p>
                  </a:txBody>
                  <a:tcPr marL="57467" marR="57467" marT="38417" marB="38417" anchor="ctr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</a:rPr>
                        <a:t>Capacity</a:t>
                      </a:r>
                    </a:p>
                  </a:txBody>
                  <a:tcPr marL="57467" marR="57467" marT="38417" marB="38417" anchor="ctr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</a:rPr>
                        <a:t>Role</a:t>
                      </a:r>
                    </a:p>
                  </a:txBody>
                  <a:tcPr marL="57467" marR="57467" marT="38417" marB="38417" anchor="ctr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</a:rPr>
                        <a:t>L1: Memory tier</a:t>
                      </a:r>
                    </a:p>
                  </a:txBody>
                  <a:tcPr marL="57467" marR="57467" marT="38417" marB="38417" anchor="ctr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</a:rPr>
                        <a:t>GPU HBM / Host RAM</a:t>
                      </a:r>
                    </a:p>
                  </a:txBody>
                  <a:tcPr marL="57467" marR="57467" marT="38417" marB="38417" anchor="ctr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</a:rPr>
                        <a:t>Blazing fast</a:t>
                      </a:r>
                    </a:p>
                  </a:txBody>
                  <a:tcPr marL="57467" marR="57467" marT="38417" marB="38417" anchor="ctr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</a:rPr>
                        <a:t>Constrained</a:t>
                      </a:r>
                    </a:p>
                  </a:txBody>
                  <a:tcPr marL="57467" marR="57467" marT="38417" marB="38417" anchor="ctr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</a:rPr>
                        <a:t>Fault recovery:</a:t>
                      </a:r>
                      <a:r>
                        <a:rPr lang="zh-CN" alt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</a:rPr>
                        <a:t> For rapid, seconds-level hot reboot</a:t>
                      </a:r>
                    </a:p>
                  </a:txBody>
                  <a:tcPr marL="57467" marR="57467" marT="38417" marB="38417" anchor="ctr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</a:rPr>
                        <a:t>L2: Local tier</a:t>
                      </a:r>
                    </a:p>
                  </a:txBody>
                  <a:tcPr marL="57467" marR="57467" marT="38417" marB="38417" anchor="ctr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</a:rPr>
                        <a:t>Node-local NVMe SSD</a:t>
                      </a:r>
                    </a:p>
                  </a:txBody>
                  <a:tcPr marL="57467" marR="57467" marT="38417" marB="38417" anchor="ctr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</a:rPr>
                        <a:t>Fast</a:t>
                      </a:r>
                    </a:p>
                  </a:txBody>
                  <a:tcPr marL="57467" marR="57467" marT="38417" marB="38417" anchor="ctr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</a:rPr>
                        <a:t>Moderate</a:t>
                      </a:r>
                    </a:p>
                  </a:txBody>
                  <a:tcPr marL="57467" marR="57467" marT="38417" marB="38417" anchor="ctr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</a:rPr>
                        <a:t>Staging buffer:</a:t>
                      </a:r>
                      <a:r>
                        <a:rPr lang="zh-CN" alt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</a:rPr>
                        <a:t> A buffer layer for asynchronously writing to remote storage</a:t>
                      </a:r>
                    </a:p>
                  </a:txBody>
                  <a:tcPr marL="57467" marR="57467" marT="38417" marB="38417" anchor="ctr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</a:rPr>
                        <a:t>L3: Persistent tier</a:t>
                      </a:r>
                    </a:p>
                  </a:txBody>
                  <a:tcPr marL="57467" marR="57467" marT="38417" marB="38417" anchor="ctr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</a:rPr>
                        <a:t>PFS (Lustre/HDFS) / Object storage</a:t>
                      </a:r>
                    </a:p>
                  </a:txBody>
                  <a:tcPr marL="57467" marR="57467" marT="38417" marB="38417" anchor="ctr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</a:rPr>
                        <a:t>Slow</a:t>
                      </a:r>
                    </a:p>
                  </a:txBody>
                  <a:tcPr marL="57467" marR="57467" marT="38417" marB="38417" anchor="ctr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</a:rPr>
                        <a:t>Unlimited</a:t>
                      </a:r>
                    </a:p>
                  </a:txBody>
                  <a:tcPr marL="57467" marR="57467" marT="38417" marB="38417" anchor="ctr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</a:rPr>
                        <a:t>Final archiving:</a:t>
                      </a:r>
                      <a:r>
                        <a:rPr lang="zh-CN" alt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charset="0"/>
                          <a:ea typeface="微软雅黑" panose="020B0503020204020204" charset="-122"/>
                        </a:rPr>
                        <a:t> For long-term backups and model publishing</a:t>
                      </a:r>
                    </a:p>
                  </a:txBody>
                  <a:tcPr marL="57467" marR="57467" marT="38417" marB="38417" anchor="ctr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/>
              <a:t>I</a:t>
            </a:r>
            <a:r>
              <a:rPr sz="2800"/>
              <a:t>ndustry case</a:t>
            </a:r>
            <a:r>
              <a:rPr lang="en-US" altLang="zh-CN" sz="2800"/>
              <a:t>: Robust LLM Training Infrastructure at ByteDance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z="1200" dirty="0"/>
              <a:t>Wan B, Liu G, Song Z, et al. Robust llm training infrastructure at bytedance[C]//Proceedings of the ACM SIGOPS 31st Symposium on Operating Systems Principles. 2025: 186-203.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21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altLang="zh-CN" sz="2000" b="1"/>
              <a:t>Control Plane</a:t>
            </a:r>
          </a:p>
          <a:p>
            <a:pPr lvl="1"/>
            <a:r>
              <a:rPr lang="en-US" altLang="zh-CN" sz="1600"/>
              <a:t>Robust Controller</a:t>
            </a:r>
            <a:r>
              <a:rPr lang="zh-CN" altLang="en-US" sz="1600"/>
              <a:t>: The core scheduler for fault mitigation. Runs automated mitigation algorithms based on multidimensional telemetry data</a:t>
            </a:r>
            <a:r>
              <a:rPr lang="en-US" sz="1600"/>
              <a:t>,</a:t>
            </a:r>
            <a:r>
              <a:rPr lang="zh-CN" altLang="en-US" sz="1600"/>
              <a:t> such as node eviction, warm-backup scheduling, and hot-update restarts.</a:t>
            </a:r>
            <a:endParaRPr lang="en-US" altLang="zh-CN"/>
          </a:p>
          <a:p>
            <a:pPr lvl="1"/>
            <a:r>
              <a:rPr lang="en-US" altLang="zh-CN" sz="1600"/>
              <a:t>Runtime Analyzer</a:t>
            </a:r>
            <a:r>
              <a:rPr lang="zh-CN" altLang="en-US" sz="1600"/>
              <a:t>: A deep analysis engine for non-deterministic exceptions (e.g.,</a:t>
            </a:r>
            <a:r>
              <a:rPr lang="en-US" altLang="zh-CN" sz="1600"/>
              <a:t> Job Hang</a:t>
            </a:r>
            <a:r>
              <a:rPr lang="zh-CN" altLang="en-US" sz="1600"/>
              <a:t>). By aggregating global stack information, it enables</a:t>
            </a:r>
            <a:r>
              <a:rPr lang="en-US" altLang="zh-CN" sz="1600"/>
              <a:t> “</a:t>
            </a:r>
            <a:r>
              <a:rPr lang="zh-CN" altLang="en-US" sz="1600"/>
              <a:t>precise isolation</a:t>
            </a:r>
            <a:r>
              <a:rPr lang="en-US" altLang="zh-CN" sz="1600"/>
              <a:t>”</a:t>
            </a:r>
            <a:r>
              <a:rPr lang="zh-CN" altLang="en-US" sz="1600"/>
              <a:t> and</a:t>
            </a:r>
            <a:r>
              <a:rPr lang="en-US" altLang="zh-CN" sz="1600"/>
              <a:t> “</a:t>
            </a:r>
            <a:r>
              <a:rPr lang="zh-CN" altLang="en-US" sz="1600"/>
              <a:t>aggressive removal</a:t>
            </a:r>
            <a:r>
              <a:rPr lang="en-US" altLang="zh-CN" sz="1600"/>
              <a:t>”</a:t>
            </a:r>
            <a:r>
              <a:rPr lang="zh-CN" altLang="en-US" sz="1600"/>
              <a:t> of faulty nodes.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325" y="3352165"/>
            <a:ext cx="4319905" cy="2389505"/>
          </a:xfrm>
          <a:prstGeom prst="rect">
            <a:avLst/>
          </a:prstGeom>
        </p:spPr>
      </p:pic>
      <p:sp>
        <p:nvSpPr>
          <p:cNvPr id="8" name="内容占位符 2"/>
          <p:cNvSpPr>
            <a:spLocks noGrp="1"/>
          </p:cNvSpPr>
          <p:nvPr/>
        </p:nvSpPr>
        <p:spPr>
          <a:xfrm>
            <a:off x="523875" y="2903855"/>
            <a:ext cx="7167245" cy="358775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0000"/>
          </a:bodyPr>
          <a:lstStyle>
            <a:lvl1pPr marL="360045" marR="0" indent="-360045" algn="l" defTabSz="3429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8B0012"/>
              </a:buClr>
              <a:buSzTx/>
              <a:buFont typeface="文泉驿微米黑" panose="020B0606030804020204" charset="-122"/>
              <a:buChar char="■"/>
              <a:defRPr sz="2400" b="0" i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微软雅黑" panose="020B0503020204020204" charset="-122"/>
                <a:cs typeface="+mn-cs"/>
              </a:defRPr>
            </a:lvl1pPr>
            <a:lvl2pPr marL="557530" marR="0" indent="-214630" algn="l" defTabSz="3429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8B0012"/>
              </a:buClr>
              <a:buSzPct val="75000"/>
              <a:buFont typeface="文泉驿微米黑" panose="020B0606030804020204" charset="-122"/>
              <a:buChar char="♦"/>
              <a:defRPr sz="20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微软雅黑" panose="020B0503020204020204" charset="-122"/>
                <a:cs typeface="+mn-cs"/>
              </a:defRPr>
            </a:lvl2pPr>
            <a:lvl3pPr marL="857250" marR="0" indent="-171450" algn="l" defTabSz="3429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8B0012"/>
              </a:buClr>
              <a:buSzTx/>
              <a:buFont typeface="文泉驿微米黑" panose="020B0606030804020204" charset="-122"/>
              <a:buChar char="▶"/>
              <a:defRPr sz="16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微软雅黑" panose="020B0503020204020204" charset="-122"/>
                <a:cs typeface="+mn-cs"/>
              </a:defRPr>
            </a:lvl3pPr>
            <a:lvl4pPr marL="1200150" marR="0" indent="-171450" algn="l" defTabSz="3429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8B0012"/>
              </a:buClr>
              <a:buSzTx/>
              <a:buFont typeface="文泉驿微米黑" panose="020B0606030804020204" charset="-122"/>
              <a:buChar char="●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微软雅黑" panose="020B0503020204020204" charset="-122"/>
                <a:cs typeface="+mn-cs"/>
              </a:defRPr>
            </a:lvl4pPr>
            <a:lvl5pPr marL="1543050" marR="0" indent="-171450" algn="l" defTabSz="3429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49E39"/>
              </a:buClr>
              <a:buSzTx/>
              <a:buFont typeface="Wingdings 3" panose="05040102010807070707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>
                <a:cs typeface="Calibri" panose="020F0502020204030204" charset="0"/>
              </a:rPr>
              <a:t>Data Plane</a:t>
            </a:r>
          </a:p>
          <a:p>
            <a:pPr lvl="1" algn="l"/>
            <a:r>
              <a:rPr lang="zh-CN" altLang="en-US" sz="1800">
                <a:cs typeface="Calibri" panose="020F0502020204030204" charset="0"/>
              </a:rPr>
              <a:t>Robust Agent: Runs as a daemon in each compute container.</a:t>
            </a:r>
          </a:p>
          <a:p>
            <a:pPr lvl="1" algn="l"/>
            <a:r>
              <a:rPr lang="zh-CN" altLang="en-US" sz="1800">
                <a:cs typeface="Calibri" panose="020F0502020204030204" charset="0"/>
              </a:rPr>
              <a:t>Monitor: Fine-grained, real-time self-checks with sub-second fault alerting.</a:t>
            </a:r>
          </a:p>
          <a:p>
            <a:pPr lvl="1" algn="l"/>
            <a:r>
              <a:rPr lang="zh-CN" altLang="en-US" sz="1800">
                <a:cs typeface="Calibri" panose="020F0502020204030204" charset="0"/>
              </a:rPr>
              <a:t>Diagnoser: An in-situ diagnostic toolchain integrating multi-level Benchmark .</a:t>
            </a:r>
          </a:p>
          <a:p>
            <a:pPr lvl="1" algn="l"/>
            <a:r>
              <a:rPr lang="zh-CN" altLang="en-US" sz="1800">
                <a:cs typeface="Calibri" panose="020F0502020204030204" charset="0"/>
              </a:rPr>
              <a:t>CKPT Manager: A high-performance, asynchronous Checkpoint manager for cross-parallel-group backups.</a:t>
            </a:r>
          </a:p>
          <a:p>
            <a:pPr lvl="1" algn="l"/>
            <a:r>
              <a:rPr lang="zh-CN" altLang="en-US" sz="1800" b="1">
                <a:cs typeface="Calibri" panose="020F0502020204030204" charset="0"/>
              </a:rPr>
              <a:t>Warm Standby Pods</a:t>
            </a:r>
            <a:r>
              <a:rPr lang="en-US" altLang="zh-CN" sz="1800" b="1">
                <a:cs typeface="Calibri" panose="020F0502020204030204" charset="0"/>
              </a:rPr>
              <a:t>:</a:t>
            </a:r>
            <a:r>
              <a:rPr lang="zh-CN" altLang="en-US" sz="1800">
                <a:cs typeface="Calibri" panose="020F0502020204030204" charset="0"/>
              </a:rPr>
              <a:t> A pool of standby nodes pre-launched and health-checked in the cluster. By eliminating the</a:t>
            </a:r>
            <a:r>
              <a:rPr lang="en-US" altLang="zh-CN" sz="1800">
                <a:cs typeface="Calibri" panose="020F0502020204030204" charset="0"/>
              </a:rPr>
              <a:t> “</a:t>
            </a:r>
            <a:r>
              <a:rPr lang="zh-CN" altLang="en-US" sz="1800">
                <a:cs typeface="Calibri" panose="020F0502020204030204" charset="0"/>
              </a:rPr>
              <a:t>cold start</a:t>
            </a:r>
            <a:r>
              <a:rPr lang="en-US" altLang="zh-CN" sz="1800">
                <a:cs typeface="Calibri" panose="020F0502020204030204" charset="0"/>
              </a:rPr>
              <a:t>”</a:t>
            </a:r>
            <a:r>
              <a:rPr lang="zh-CN" altLang="en-US" sz="1800">
                <a:cs typeface="Calibri" panose="020F0502020204030204" charset="0"/>
              </a:rPr>
              <a:t> time spent on resource scheduling and environment initialization, and working with a hot-update mechanism, it enables seamless, minute-level replacement of faulty nodes.</a:t>
            </a:r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/>
              <a:t>I</a:t>
            </a:r>
            <a:r>
              <a:rPr sz="2800"/>
              <a:t>ndustry case</a:t>
            </a:r>
            <a:r>
              <a:rPr lang="en-US" altLang="zh-CN" sz="2800"/>
              <a:t>: Robust LLM Training Infrastructure at ByteDance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z="1200" dirty="0"/>
              <a:t>Wan B, Liu G, Song Z, et al. Robust llm training infrastructure at bytedance[C]//Proceedings of the ACM SIGOPS 31st Symposium on Operating Systems Principles. 2025: 186-203.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22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en-US" sz="2000" b="1"/>
              <a:t>Multilevel</a:t>
            </a:r>
            <a:r>
              <a:rPr lang="en-US" altLang="zh-CN" sz="2000" b="1"/>
              <a:t> Checkpoint (Tiered Storage)</a:t>
            </a:r>
            <a:endParaRPr lang="zh-CN" altLang="en-US" sz="2000" b="1"/>
          </a:p>
          <a:p>
            <a:pPr lvl="1"/>
            <a:r>
              <a:rPr lang="zh-CN" altLang="en-US" sz="1400"/>
              <a:t>In-memory</a:t>
            </a:r>
            <a:r>
              <a:rPr lang="en-US" altLang="zh-CN" sz="1400"/>
              <a:t>/</a:t>
            </a:r>
            <a:r>
              <a:rPr lang="zh-CN" altLang="en-US" sz="1400"/>
              <a:t> local-disk backup: Store</a:t>
            </a:r>
            <a:r>
              <a:rPr lang="en-US" altLang="zh-CN" sz="1400"/>
              <a:t> Checkpoint</a:t>
            </a:r>
            <a:r>
              <a:rPr lang="zh-CN" altLang="en-US" sz="1400"/>
              <a:t> first in the memory or local</a:t>
            </a:r>
            <a:r>
              <a:rPr lang="en-US" altLang="zh-CN" sz="1400"/>
              <a:t> SSD</a:t>
            </a:r>
            <a:r>
              <a:rPr lang="zh-CN" altLang="en-US" sz="1400"/>
              <a:t> of a nearby machine to enable writes in seconds.</a:t>
            </a:r>
            <a:endParaRPr lang="en-US" altLang="zh-CN" sz="1800"/>
          </a:p>
          <a:p>
            <a:pPr lvl="1"/>
            <a:r>
              <a:rPr lang="zh-CN" altLang="en-US" sz="1400"/>
              <a:t>Remote backup: Asynchronously transfer data to persistent storage.</a:t>
            </a:r>
            <a:endParaRPr lang="zh-CN" altLang="en-US" sz="1800"/>
          </a:p>
          <a:p>
            <a:r>
              <a:rPr lang="zh-CN" altLang="en-US" sz="2000" b="1"/>
              <a:t>Warm backup and hot-update (Warm Standby &amp; Hot-update)</a:t>
            </a:r>
          </a:p>
          <a:p>
            <a:pPr lvl="1"/>
            <a:r>
              <a:rPr lang="zh-CN" altLang="en-US" sz="1400"/>
              <a:t>If only one machine fails, don</a:t>
            </a:r>
            <a:r>
              <a:rPr lang="en-US" altLang="zh-CN" sz="1400"/>
              <a:t>’</a:t>
            </a:r>
            <a:r>
              <a:rPr lang="zh-CN" altLang="en-US" sz="1400"/>
              <a:t>t restart the entire 10,000-GPU job. </a:t>
            </a:r>
            <a:r>
              <a:rPr lang="en-US" altLang="zh-CN" sz="1400"/>
              <a:t>The ByteRobust</a:t>
            </a:r>
            <a:r>
              <a:rPr lang="zh-CN" altLang="en-US" sz="1400"/>
              <a:t> system reserves a small number of</a:t>
            </a:r>
            <a:r>
              <a:rPr lang="en-US" altLang="zh-CN" sz="1400"/>
              <a:t> “</a:t>
            </a:r>
            <a:r>
              <a:rPr lang="zh-CN" altLang="en-US" sz="1400"/>
              <a:t>standby machines</a:t>
            </a:r>
            <a:r>
              <a:rPr lang="en-US" altLang="zh-CN" sz="1400"/>
              <a:t>”</a:t>
            </a:r>
            <a:r>
              <a:rPr lang="zh-CN" altLang="en-US" sz="1400"/>
              <a:t> and replaces only the failed one, enabling</a:t>
            </a:r>
            <a:r>
              <a:rPr lang="en-US" altLang="zh-CN" sz="1400"/>
              <a:t> “</a:t>
            </a:r>
            <a:r>
              <a:rPr lang="zh-CN" altLang="en-US" sz="1400"/>
              <a:t>hot-</a:t>
            </a:r>
            <a:r>
              <a:rPr lang="en-US" altLang="zh-CN" sz="1400"/>
              <a:t>pluggable” </a:t>
            </a:r>
            <a:r>
              <a:rPr lang="zh-CN" altLang="en-US" sz="1400"/>
              <a:t>style rapid recovery.</a:t>
            </a:r>
          </a:p>
          <a:p>
            <a:pPr lvl="0" algn="l"/>
            <a:r>
              <a:rPr lang="zh-CN" altLang="en-US" sz="2000"/>
              <a:t>Results:</a:t>
            </a:r>
            <a:r>
              <a:rPr lang="en-US" altLang="zh-CN" sz="2000"/>
              <a:t> </a:t>
            </a:r>
            <a:r>
              <a:rPr lang="zh-CN" altLang="en-US" sz="2000"/>
              <a:t>Fault recovery speed improved by more than 10 times, and the effective training time ratio (ETTR) reached 97%.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255" y="4175760"/>
            <a:ext cx="9768840" cy="237871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The Solution:</a:t>
            </a:r>
            <a:r>
              <a:rPr lang="x-none" altLang="zh-CN">
                <a:sym typeface="+mn-ea"/>
              </a:rPr>
              <a:t> </a:t>
            </a:r>
            <a:r>
              <a:rPr>
                <a:sym typeface="+mn-ea"/>
              </a:rPr>
              <a:t>FlagOS,</a:t>
            </a:r>
            <a:r>
              <a:rPr lang="x-none" altLang="zh-CN">
                <a:sym typeface="+mn-ea"/>
              </a:rPr>
              <a:t> </a:t>
            </a:r>
            <a:r>
              <a:rPr>
                <a:sym typeface="+mn-ea"/>
              </a:rPr>
              <a:t>a Unified AI Software Stack</a:t>
            </a:r>
            <a:endParaRPr lang="zh-CN" altLang="en-US"/>
          </a:p>
        </p:txBody>
      </p:sp>
      <p:pic>
        <p:nvPicPr>
          <p:cNvPr id="7" name="内容占位符 6" descr="flagos-architecture-e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2170" y="1318260"/>
            <a:ext cx="9408795" cy="485330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사각형: 둥근 모서리 832"/>
          <p:cNvSpPr/>
          <p:nvPr>
            <p:custDataLst>
              <p:tags r:id="rId1"/>
            </p:custDataLst>
          </p:nvPr>
        </p:nvSpPr>
        <p:spPr>
          <a:xfrm>
            <a:off x="89535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832"/>
          <p:cNvSpPr/>
          <p:nvPr>
            <p:custDataLst>
              <p:tags r:id="rId2"/>
            </p:custDataLst>
          </p:nvPr>
        </p:nvSpPr>
        <p:spPr>
          <a:xfrm>
            <a:off x="440023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832"/>
          <p:cNvSpPr/>
          <p:nvPr>
            <p:custDataLst>
              <p:tags r:id="rId3"/>
            </p:custDataLst>
          </p:nvPr>
        </p:nvSpPr>
        <p:spPr>
          <a:xfrm>
            <a:off x="790511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832"/>
          <p:cNvSpPr/>
          <p:nvPr>
            <p:custDataLst>
              <p:tags r:id="rId4"/>
            </p:custDataLst>
          </p:nvPr>
        </p:nvSpPr>
        <p:spPr>
          <a:xfrm>
            <a:off x="89535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832"/>
          <p:cNvSpPr/>
          <p:nvPr>
            <p:custDataLst>
              <p:tags r:id="rId5"/>
            </p:custDataLst>
          </p:nvPr>
        </p:nvSpPr>
        <p:spPr>
          <a:xfrm>
            <a:off x="440023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832"/>
          <p:cNvSpPr/>
          <p:nvPr>
            <p:custDataLst>
              <p:tags r:id="rId6"/>
            </p:custDataLst>
          </p:nvPr>
        </p:nvSpPr>
        <p:spPr>
          <a:xfrm>
            <a:off x="790511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72"/>
          <p:cNvSpPr/>
          <p:nvPr>
            <p:custDataLst>
              <p:tags r:id="rId7"/>
            </p:custDataLst>
          </p:nvPr>
        </p:nvSpPr>
        <p:spPr>
          <a:xfrm>
            <a:off x="2298364" y="1689569"/>
            <a:ext cx="356915" cy="356915"/>
          </a:xfrm>
          <a:prstGeom prst="ellipse">
            <a:avLst/>
          </a:prstGeom>
          <a:blipFill rotWithShape="1">
            <a:blip r:embed="rId18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1" name="사각형: 둥근 모서리 72"/>
          <p:cNvSpPr/>
          <p:nvPr>
            <p:custDataLst>
              <p:tags r:id="rId8"/>
            </p:custDataLst>
          </p:nvPr>
        </p:nvSpPr>
        <p:spPr>
          <a:xfrm>
            <a:off x="5803244" y="1689569"/>
            <a:ext cx="356915" cy="356915"/>
          </a:xfrm>
          <a:prstGeom prst="ellipse">
            <a:avLst/>
          </a:prstGeom>
          <a:blipFill rotWithShape="1">
            <a:blip r:embed="rId19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2" name="사각형: 둥근 모서리 72"/>
          <p:cNvSpPr/>
          <p:nvPr>
            <p:custDataLst>
              <p:tags r:id="rId9"/>
            </p:custDataLst>
          </p:nvPr>
        </p:nvSpPr>
        <p:spPr>
          <a:xfrm>
            <a:off x="9308124" y="1689569"/>
            <a:ext cx="356915" cy="356915"/>
          </a:xfrm>
          <a:prstGeom prst="ellipse">
            <a:avLst/>
          </a:prstGeom>
          <a:blipFill rotWithShape="1">
            <a:blip r:embed="rId20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5" name="사각형: 둥근 모서리 72"/>
          <p:cNvSpPr/>
          <p:nvPr>
            <p:custDataLst>
              <p:tags r:id="rId10"/>
            </p:custDataLst>
          </p:nvPr>
        </p:nvSpPr>
        <p:spPr>
          <a:xfrm>
            <a:off x="2298364" y="3577269"/>
            <a:ext cx="356915" cy="356915"/>
          </a:xfrm>
          <a:prstGeom prst="ellipse">
            <a:avLst/>
          </a:prstGeom>
          <a:blipFill rotWithShape="1">
            <a:blip r:embed="rId21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6" name="사각형: 둥근 모서리 72"/>
          <p:cNvSpPr/>
          <p:nvPr>
            <p:custDataLst>
              <p:tags r:id="rId11"/>
            </p:custDataLst>
          </p:nvPr>
        </p:nvSpPr>
        <p:spPr>
          <a:xfrm>
            <a:off x="5803244" y="3577269"/>
            <a:ext cx="356915" cy="356915"/>
          </a:xfrm>
          <a:prstGeom prst="ellipse">
            <a:avLst/>
          </a:prstGeom>
          <a:blipFill rotWithShape="1">
            <a:blip r:embed="rId2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7" name="사각형: 둥근 모서리 72"/>
          <p:cNvSpPr/>
          <p:nvPr>
            <p:custDataLst>
              <p:tags r:id="rId12"/>
            </p:custDataLst>
          </p:nvPr>
        </p:nvSpPr>
        <p:spPr>
          <a:xfrm>
            <a:off x="9308124" y="3577269"/>
            <a:ext cx="356915" cy="356915"/>
          </a:xfrm>
          <a:prstGeom prst="ellipse">
            <a:avLst/>
          </a:prstGeom>
          <a:blipFill rotWithShape="1">
            <a:blip r:embed="rId2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8" name="object 3"/>
          <p:cNvSpPr txBox="1"/>
          <p:nvPr>
            <p:custDataLst>
              <p:tags r:id="rId13"/>
            </p:custDataLst>
          </p:nvPr>
        </p:nvSpPr>
        <p:spPr>
          <a:xfrm>
            <a:off x="1219842" y="2517904"/>
            <a:ext cx="2513958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zh-CN" sz="1600" dirty="0">
                <a:hlinkClick r:id="rId24" action="ppaction://hlinkfile"/>
              </a:rPr>
              <a:t>https://github.com/flagos-ai</a:t>
            </a:r>
          </a:p>
          <a:p>
            <a:endParaRPr lang="en-US" altLang="ko-KR" sz="1600" dirty="0"/>
          </a:p>
        </p:txBody>
      </p:sp>
      <p:sp>
        <p:nvSpPr>
          <p:cNvPr id="36" name="object 3"/>
          <p:cNvSpPr txBox="1"/>
          <p:nvPr>
            <p:custDataLst>
              <p:tags r:id="rId14"/>
            </p:custDataLst>
          </p:nvPr>
        </p:nvSpPr>
        <p:spPr>
          <a:xfrm>
            <a:off x="8015605" y="2341245"/>
            <a:ext cx="2882265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zh-CN" sz="1600" dirty="0">
                <a:hlinkClick r:id="rId25" action="ppaction://hlinkfile"/>
              </a:rPr>
              <a:t>https://space.bilibili.com/3546791834290849</a:t>
            </a:r>
            <a:endParaRPr lang="en-US" altLang="zh-CN" sz="1600" dirty="0"/>
          </a:p>
        </p:txBody>
      </p:sp>
      <p:sp>
        <p:nvSpPr>
          <p:cNvPr id="42" name="object 3"/>
          <p:cNvSpPr txBox="1"/>
          <p:nvPr>
            <p:custDataLst>
              <p:tags r:id="rId15"/>
            </p:custDataLst>
          </p:nvPr>
        </p:nvSpPr>
        <p:spPr>
          <a:xfrm>
            <a:off x="1219842" y="4403854"/>
            <a:ext cx="2513958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ko-KR" sz="1600" dirty="0">
                <a:hlinkClick r:id="rId26" action="ppaction://hlinkfile"/>
              </a:rPr>
              <a:t>https://www.zhihu.com/people/95-22-20-18/posts</a:t>
            </a:r>
            <a:endParaRPr lang="en-US" altLang="ko-KR" sz="1600" dirty="0"/>
          </a:p>
        </p:txBody>
      </p:sp>
      <p:sp>
        <p:nvSpPr>
          <p:cNvPr id="45" name="object 3"/>
          <p:cNvSpPr txBox="1"/>
          <p:nvPr>
            <p:custDataLst>
              <p:tags r:id="rId16"/>
            </p:custDataLst>
          </p:nvPr>
        </p:nvSpPr>
        <p:spPr>
          <a:xfrm>
            <a:off x="4724722" y="4403854"/>
            <a:ext cx="2513958" cy="39687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ko-KR" sz="1600" dirty="0">
                <a:hlinkClick r:id="rId27" action="ppaction://hlinkfile"/>
              </a:rPr>
              <a:t>https://flagos.io/Home</a:t>
            </a:r>
            <a:endParaRPr lang="en-US" altLang="ko-KR" sz="1600" dirty="0"/>
          </a:p>
        </p:txBody>
      </p:sp>
      <p:pic>
        <p:nvPicPr>
          <p:cNvPr id="54" name="图片 53" descr="weixin-DL0TqDNO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408930" y="2046605"/>
            <a:ext cx="1255395" cy="1255395"/>
          </a:xfrm>
          <a:prstGeom prst="rect">
            <a:avLst/>
          </a:prstGeom>
        </p:spPr>
      </p:pic>
      <p:pic>
        <p:nvPicPr>
          <p:cNvPr id="55" name="图片 54" descr="feishu-qrcode-C75xQn56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903970" y="3953510"/>
            <a:ext cx="1299210" cy="130873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개체 틀 4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306" r="2306"/>
          <a:stretch>
            <a:fillRect/>
          </a:stretch>
        </p:blipFill>
        <p:spPr/>
      </p:pic>
      <p:sp>
        <p:nvSpPr>
          <p:cNvPr id="3" name="제목 2"/>
          <p:cNvSpPr>
            <a:spLocks noGrp="1"/>
          </p:cNvSpPr>
          <p:nvPr>
            <p:ph type="ctrTitle"/>
          </p:nvPr>
        </p:nvSpPr>
        <p:spPr>
          <a:xfrm>
            <a:off x="5625465" y="2373630"/>
            <a:ext cx="5739130" cy="2664460"/>
          </a:xfrm>
        </p:spPr>
        <p:txBody>
          <a:bodyPr/>
          <a:lstStyle/>
          <a:p>
            <a:pPr algn="l"/>
            <a:r>
              <a:rPr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Thanks for your time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！</a:t>
            </a:r>
            <a:endParaRPr kumimoji="1" lang="ko-KR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GVjMjNiN2ZkZTMzMDA4ZWE3OTY1NzI2MTg5NDIzY2IifQ=="/>
  <p:tag name="KSO_WPP_MARK_KEY" val="bcc4c946-421a-4a56-a7c9-e84bf867b56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570*151"/>
  <p:tag name="TABLE_ENDDRAG_RECT" val="54*336*570*15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heme/theme1.xml><?xml version="1.0" encoding="utf-8"?>
<a:theme xmlns:a="http://schemas.openxmlformats.org/drawingml/2006/main" name="母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+Arial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极端阴影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封面</Template>
  <TotalTime>0</TotalTime>
  <Words>4736</Words>
  <Application>Microsoft Office PowerPoint</Application>
  <PresentationFormat>宽屏</PresentationFormat>
  <Paragraphs>430</Paragraphs>
  <Slides>25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7" baseType="lpstr">
      <vt:lpstr>Noto Sans SC</vt:lpstr>
      <vt:lpstr>等线</vt:lpstr>
      <vt:lpstr>微软雅黑</vt:lpstr>
      <vt:lpstr>文泉驿微米黑</vt:lpstr>
      <vt:lpstr>Arial</vt:lpstr>
      <vt:lpstr>Calibri</vt:lpstr>
      <vt:lpstr>Calibri Light</vt:lpstr>
      <vt:lpstr>Ebrima</vt:lpstr>
      <vt:lpstr>Garamond</vt:lpstr>
      <vt:lpstr>Montserrat SemiBold</vt:lpstr>
      <vt:lpstr>Wingdings 3</vt:lpstr>
      <vt:lpstr>母版</vt:lpstr>
      <vt:lpstr>Hardware and Software Fundamentals of  Intelligent Computing  Systems</vt:lpstr>
      <vt:lpstr>Lecture 34: Fault Tolerance and Checkpointing</vt:lpstr>
      <vt:lpstr>Outlines</vt:lpstr>
      <vt:lpstr>Background: Fault Conditions in Large-Scale Training</vt:lpstr>
      <vt:lpstr>Background: Fault Conditions in Large-Scale Training</vt:lpstr>
      <vt:lpstr>Background: Analysis of Fault Types and Impacts</vt:lpstr>
      <vt:lpstr>Checkpoint-based Fault Tolerance System</vt:lpstr>
      <vt:lpstr>Anomaly Detection Methods</vt:lpstr>
      <vt:lpstr>LLM Training Checkpoint </vt:lpstr>
      <vt:lpstr>Core Components of an LLM training Checkpoint</vt:lpstr>
      <vt:lpstr>Checkpoint Code Example</vt:lpstr>
      <vt:lpstr>Checkpoint Management in LLM Distributed Training</vt:lpstr>
      <vt:lpstr>Checkpoint Code Example</vt:lpstr>
      <vt:lpstr>LLM Training Checkpoint Storage Example</vt:lpstr>
      <vt:lpstr>Synchronized checkpoint</vt:lpstr>
      <vt:lpstr>Asynchronous Checkpoint</vt:lpstr>
      <vt:lpstr>Synchronized Checkpoint vs Asynchronous Checkpoint</vt:lpstr>
      <vt:lpstr>Checkpoint Strategy</vt:lpstr>
      <vt:lpstr>Checkpoint Storage Optimization Techniques: Checkpoint Compression</vt:lpstr>
      <vt:lpstr>Checkpoint Storage Optimization Techniques: Tiered Storage</vt:lpstr>
      <vt:lpstr>Industry case: Robust LLM Training Infrastructure at ByteDance</vt:lpstr>
      <vt:lpstr>Industry case: Robust LLM Training Infrastructure at ByteDance</vt:lpstr>
      <vt:lpstr>The Solution: FlagOS, a Unified AI Software Stack</vt:lpstr>
      <vt:lpstr>PowerPoint 演示文稿</vt:lpstr>
      <vt:lpstr>Thanks for your time！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容错域量子EDA研究</dc:title>
  <dc:creator>王丰</dc:creator>
  <cp:lastModifiedBy>Xiang Li</cp:lastModifiedBy>
  <cp:revision>2502</cp:revision>
  <dcterms:created xsi:type="dcterms:W3CDTF">2026-02-16T00:43:00Z</dcterms:created>
  <dcterms:modified xsi:type="dcterms:W3CDTF">2026-03-17T14:54:52Z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5A1B8D5FDD5B31E36B679269490C2DB4_43</vt:lpwstr>
  </property>
  <property fmtid="{D5CDD505-2E9C-101B-9397-08002B2CF9AE}" pid="3" name="KSOProductBuildVer">
    <vt:lpwstr>2052-12.1.0.19302</vt:lpwstr>
  </property>
</Properties>
</file>