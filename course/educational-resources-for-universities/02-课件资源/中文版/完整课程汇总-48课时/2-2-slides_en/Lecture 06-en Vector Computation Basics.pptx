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37" r:id="rId2"/>
    <p:sldId id="1974" r:id="rId3"/>
    <p:sldId id="1954" r:id="rId4"/>
    <p:sldId id="1955" r:id="rId5"/>
    <p:sldId id="1956" r:id="rId6"/>
    <p:sldId id="1957" r:id="rId7"/>
    <p:sldId id="1958" r:id="rId8"/>
    <p:sldId id="1959" r:id="rId9"/>
    <p:sldId id="1960" r:id="rId10"/>
    <p:sldId id="1961" r:id="rId11"/>
    <p:sldId id="1962" r:id="rId12"/>
    <p:sldId id="1963" r:id="rId13"/>
    <p:sldId id="1964" r:id="rId14"/>
    <p:sldId id="1965" r:id="rId15"/>
    <p:sldId id="1966" r:id="rId16"/>
    <p:sldId id="1967" r:id="rId17"/>
    <p:sldId id="1968" r:id="rId18"/>
    <p:sldId id="1969" r:id="rId19"/>
    <p:sldId id="1970" r:id="rId20"/>
    <p:sldId id="1971" r:id="rId21"/>
    <p:sldId id="1972" r:id="rId22"/>
    <p:sldId id="1973" r:id="rId23"/>
    <p:sldId id="277" r:id="rId24"/>
    <p:sldId id="279" r:id="rId25"/>
    <p:sldId id="280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  <p:cmAuthor id="3" name="王 家琦" initials="王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E3A7A8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2019" autoAdjust="0"/>
  </p:normalViewPr>
  <p:slideViewPr>
    <p:cSldViewPr snapToGrid="0" snapToObjects="1">
      <p:cViewPr varScale="1">
        <p:scale>
          <a:sx n="56" d="100"/>
          <a:sy n="56" d="100"/>
        </p:scale>
        <p:origin x="89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图片来源：Triton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官方文档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图片来源：向量加法并行计算示意图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图片来源：Triton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官方文档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https://triton-lang.org/main/python-api/generated/triton.language.load.html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图片来源：Triton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r>
              <a:rPr lang="en-US" altLang="zh-CN" sz="1200" dirty="0" err="1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官方文档</a:t>
            </a:r>
            <a:r>
              <a:rPr lang="en-US" altLang="zh-CN" sz="12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https://triton-lang.org/main/python-api/generated/triton.language.store.html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867327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122167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10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3.xml"/><Relationship Id="rId21" Type="http://schemas.openxmlformats.org/officeDocument/2006/relationships/image" Target="../media/image13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12.png"/><Relationship Id="rId29" Type="http://schemas.openxmlformats.org/officeDocument/2006/relationships/image" Target="../media/image17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15.png"/><Relationship Id="rId28" Type="http://schemas.openxmlformats.org/officeDocument/2006/relationships/image" Target="../media/image16.jpeg"/><Relationship Id="rId10" Type="http://schemas.openxmlformats.org/officeDocument/2006/relationships/tags" Target="../tags/tag20.xml"/><Relationship Id="rId19" Type="http://schemas.openxmlformats.org/officeDocument/2006/relationships/image" Target="../media/image11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14.png"/><Relationship Id="rId27" Type="http://schemas.openxmlformats.org/officeDocument/2006/relationships/hyperlink" Target="https://flagos.io/Hom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Lecture 06: </a:t>
            </a:r>
            <a:r>
              <a:rPr lang="zh-CN" altLang="en-US" dirty="0">
                <a:effectLst/>
              </a:rPr>
              <a:t>Vector Computation Basics </a:t>
            </a:r>
            <a:br>
              <a:rPr lang="en-US" altLang="zh-CN" b="1" dirty="0">
                <a:effectLst/>
              </a:rPr>
            </a:br>
            <a:br>
              <a:rPr lang="en-US" altLang="zh-CN" sz="1200" b="1" dirty="0">
                <a:effectLst/>
              </a:rPr>
            </a:br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effectLst/>
              </a:rPr>
              <a:t>Vector Add in Triton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1800225" y="4846638"/>
            <a:ext cx="10391775" cy="474662"/>
          </a:xfrm>
        </p:spPr>
        <p:txBody>
          <a:bodyPr/>
          <a:lstStyle/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</a:rPr>
              <a:t>Understanding the 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</a:rPr>
              <a:t>GPU Kernel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</a:rPr>
              <a:t>Execution Model and 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</a:rPr>
              <a:t>Triton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</a:rPr>
              <a:t>Programming Model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5528" y="609375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Starting with </a:t>
            </a:r>
            <a:r>
              <a:rPr lang="en-US" sz="270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Vector Add </a:t>
            </a:r>
            <a:endParaRPr lang="en-US" sz="16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6471854" y="2202376"/>
            <a:ext cx="5720146" cy="2693813"/>
            <a:chOff x="333331" y="2328605"/>
            <a:chExt cx="5869033" cy="2693813"/>
          </a:xfrm>
        </p:grpSpPr>
        <p:sp>
          <p:nvSpPr>
            <p:cNvPr id="5" name="Shape 3"/>
            <p:cNvSpPr/>
            <p:nvPr/>
          </p:nvSpPr>
          <p:spPr>
            <a:xfrm>
              <a:off x="380956" y="232860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333331" y="2328605"/>
              <a:ext cx="55245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990484" y="2328605"/>
              <a:ext cx="49720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Parallel Task Partitioning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90484" y="2671502"/>
              <a:ext cx="5211880" cy="5619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5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Decompose large-scale vector addition into multiple independent subtasks, each processing a portion of the data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80956" y="345732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0" name="Text 8"/>
            <p:cNvSpPr/>
            <p:nvPr/>
          </p:nvSpPr>
          <p:spPr>
            <a:xfrm>
              <a:off x="333331" y="3457329"/>
              <a:ext cx="55245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990484" y="3457329"/>
              <a:ext cx="39719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Global Memory Access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990484" y="3800226"/>
              <a:ext cx="4880256" cy="2762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5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Understand GPU global memory read/write patterns and optimize memory access efficiency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80956" y="436986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333331" y="4307426"/>
              <a:ext cx="55245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33406" y="4369862"/>
              <a:ext cx="31813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Bounds Control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90484" y="4746193"/>
              <a:ext cx="5043970" cy="2762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5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Handle data block boundary cases to ensure safe program execution</a:t>
              </a:r>
              <a:endParaRPr lang="en-US" sz="16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94462" y="2084135"/>
            <a:ext cx="5486400" cy="3169062"/>
            <a:chOff x="6324529" y="2328605"/>
            <a:chExt cx="5486400" cy="2924175"/>
          </a:xfrm>
        </p:grpSpPr>
        <p:sp>
          <p:nvSpPr>
            <p:cNvPr id="17" name="Shape 15"/>
            <p:cNvSpPr/>
            <p:nvPr/>
          </p:nvSpPr>
          <p:spPr>
            <a:xfrm>
              <a:off x="6324529" y="2328605"/>
              <a:ext cx="5486400" cy="2924175"/>
            </a:xfrm>
            <a:custGeom>
              <a:avLst/>
              <a:gdLst/>
              <a:ahLst/>
              <a:cxnLst/>
              <a:rect l="l" t="t" r="r" b="b"/>
              <a:pathLst>
                <a:path w="5486400" h="2924175">
                  <a:moveTo>
                    <a:pt x="114306" y="0"/>
                  </a:moveTo>
                  <a:lnTo>
                    <a:pt x="5372094" y="0"/>
                  </a:lnTo>
                  <a:cubicBezTo>
                    <a:pt x="5435223" y="0"/>
                    <a:pt x="5486400" y="51177"/>
                    <a:pt x="5486400" y="114306"/>
                  </a:cubicBezTo>
                  <a:lnTo>
                    <a:pt x="5486400" y="2809869"/>
                  </a:lnTo>
                  <a:cubicBezTo>
                    <a:pt x="5486400" y="2872998"/>
                    <a:pt x="5435223" y="2924175"/>
                    <a:pt x="5372094" y="2924175"/>
                  </a:cubicBezTo>
                  <a:lnTo>
                    <a:pt x="114306" y="2924175"/>
                  </a:lnTo>
                  <a:cubicBezTo>
                    <a:pt x="51177" y="2924175"/>
                    <a:pt x="0" y="2872998"/>
                    <a:pt x="0" y="2809869"/>
                  </a:cubicBezTo>
                  <a:lnTo>
                    <a:pt x="0" y="114306"/>
                  </a:lnTo>
                  <a:cubicBezTo>
                    <a:pt x="0" y="51177"/>
                    <a:pt x="51177" y="0"/>
                    <a:pt x="114306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8" name="Shape 16"/>
            <p:cNvSpPr/>
            <p:nvPr/>
          </p:nvSpPr>
          <p:spPr>
            <a:xfrm>
              <a:off x="8782029" y="263336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59519" y="5804"/>
                  </a:moveTo>
                  <a:cubicBezTo>
                    <a:pt x="276151" y="-1898"/>
                    <a:pt x="295349" y="-1898"/>
                    <a:pt x="311981" y="5804"/>
                  </a:cubicBezTo>
                  <a:lnTo>
                    <a:pt x="555985" y="118542"/>
                  </a:lnTo>
                  <a:cubicBezTo>
                    <a:pt x="565472" y="122895"/>
                    <a:pt x="571500" y="132383"/>
                    <a:pt x="571500" y="142875"/>
                  </a:cubicBezTo>
                  <a:cubicBezTo>
                    <a:pt x="571500" y="153367"/>
                    <a:pt x="565472" y="162855"/>
                    <a:pt x="555985" y="167208"/>
                  </a:cubicBezTo>
                  <a:lnTo>
                    <a:pt x="311981" y="279946"/>
                  </a:lnTo>
                  <a:cubicBezTo>
                    <a:pt x="295349" y="287648"/>
                    <a:pt x="276151" y="287648"/>
                    <a:pt x="259519" y="279946"/>
                  </a:cubicBezTo>
                  <a:lnTo>
                    <a:pt x="15515" y="167208"/>
                  </a:lnTo>
                  <a:cubicBezTo>
                    <a:pt x="6028" y="162744"/>
                    <a:pt x="0" y="153256"/>
                    <a:pt x="0" y="142875"/>
                  </a:cubicBezTo>
                  <a:cubicBezTo>
                    <a:pt x="0" y="132494"/>
                    <a:pt x="6028" y="122895"/>
                    <a:pt x="15515" y="118542"/>
                  </a:cubicBezTo>
                  <a:lnTo>
                    <a:pt x="259519" y="5804"/>
                  </a:lnTo>
                  <a:close/>
                  <a:moveTo>
                    <a:pt x="53690" y="243780"/>
                  </a:moveTo>
                  <a:lnTo>
                    <a:pt x="237083" y="328501"/>
                  </a:lnTo>
                  <a:cubicBezTo>
                    <a:pt x="268002" y="342788"/>
                    <a:pt x="303609" y="342788"/>
                    <a:pt x="334528" y="328501"/>
                  </a:cubicBezTo>
                  <a:lnTo>
                    <a:pt x="517922" y="243780"/>
                  </a:lnTo>
                  <a:lnTo>
                    <a:pt x="555985" y="261417"/>
                  </a:lnTo>
                  <a:cubicBezTo>
                    <a:pt x="565472" y="265770"/>
                    <a:pt x="571500" y="275258"/>
                    <a:pt x="571500" y="285750"/>
                  </a:cubicBezTo>
                  <a:cubicBezTo>
                    <a:pt x="571500" y="296242"/>
                    <a:pt x="565472" y="305730"/>
                    <a:pt x="555985" y="310083"/>
                  </a:cubicBezTo>
                  <a:lnTo>
                    <a:pt x="311981" y="422821"/>
                  </a:lnTo>
                  <a:cubicBezTo>
                    <a:pt x="295349" y="430523"/>
                    <a:pt x="276151" y="430523"/>
                    <a:pt x="259519" y="422821"/>
                  </a:cubicBezTo>
                  <a:lnTo>
                    <a:pt x="15515" y="310083"/>
                  </a:lnTo>
                  <a:cubicBezTo>
                    <a:pt x="6028" y="305619"/>
                    <a:pt x="0" y="296131"/>
                    <a:pt x="0" y="285750"/>
                  </a:cubicBezTo>
                  <a:cubicBezTo>
                    <a:pt x="0" y="275369"/>
                    <a:pt x="6028" y="265770"/>
                    <a:pt x="15515" y="261417"/>
                  </a:cubicBezTo>
                  <a:lnTo>
                    <a:pt x="53578" y="243780"/>
                  </a:lnTo>
                  <a:close/>
                  <a:moveTo>
                    <a:pt x="15515" y="404292"/>
                  </a:moveTo>
                  <a:lnTo>
                    <a:pt x="53578" y="386655"/>
                  </a:lnTo>
                  <a:lnTo>
                    <a:pt x="236972" y="471376"/>
                  </a:lnTo>
                  <a:cubicBezTo>
                    <a:pt x="267891" y="485663"/>
                    <a:pt x="303498" y="485663"/>
                    <a:pt x="334417" y="471376"/>
                  </a:cubicBezTo>
                  <a:lnTo>
                    <a:pt x="517810" y="386655"/>
                  </a:lnTo>
                  <a:lnTo>
                    <a:pt x="555873" y="404292"/>
                  </a:lnTo>
                  <a:cubicBezTo>
                    <a:pt x="565361" y="408645"/>
                    <a:pt x="571388" y="418133"/>
                    <a:pt x="571388" y="428625"/>
                  </a:cubicBezTo>
                  <a:cubicBezTo>
                    <a:pt x="571388" y="439117"/>
                    <a:pt x="565361" y="448605"/>
                    <a:pt x="555873" y="452958"/>
                  </a:cubicBezTo>
                  <a:lnTo>
                    <a:pt x="311869" y="565696"/>
                  </a:lnTo>
                  <a:cubicBezTo>
                    <a:pt x="295238" y="573398"/>
                    <a:pt x="276039" y="573398"/>
                    <a:pt x="259407" y="565696"/>
                  </a:cubicBezTo>
                  <a:lnTo>
                    <a:pt x="15515" y="452958"/>
                  </a:lnTo>
                  <a:cubicBezTo>
                    <a:pt x="6028" y="448494"/>
                    <a:pt x="0" y="439006"/>
                    <a:pt x="0" y="428625"/>
                  </a:cubicBezTo>
                  <a:cubicBezTo>
                    <a:pt x="0" y="418244"/>
                    <a:pt x="6028" y="408645"/>
                    <a:pt x="15515" y="404292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6572143" y="3450665"/>
              <a:ext cx="49911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Vector addition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586431" y="3907738"/>
              <a:ext cx="4962525" cy="2762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40000"/>
                </a:lnSpc>
              </a:pPr>
              <a:r>
                <a:rPr lang="en-US" sz="135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GPU </a:t>
              </a:r>
              <a:r>
                <a:rPr lang="en-US" sz="1350" dirty="0" err="1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the most classic introductory GPU programming operator</a:t>
              </a:r>
              <a:r>
                <a:rPr lang="zh-CN" altLang="en-US" sz="135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, where each element's computation is independent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648248" y="4414938"/>
              <a:ext cx="4857655" cy="533400"/>
            </a:xfrm>
            <a:custGeom>
              <a:avLst/>
              <a:gdLst/>
              <a:ahLst/>
              <a:cxnLst/>
              <a:rect l="l" t="t" r="r" b="b"/>
              <a:pathLst>
                <a:path w="4857655" h="533400">
                  <a:moveTo>
                    <a:pt x="37910" y="0"/>
                  </a:moveTo>
                  <a:lnTo>
                    <a:pt x="4781454" y="0"/>
                  </a:lnTo>
                  <a:cubicBezTo>
                    <a:pt x="4823539" y="0"/>
                    <a:pt x="4857655" y="34117"/>
                    <a:pt x="4857655" y="76202"/>
                  </a:cubicBezTo>
                  <a:lnTo>
                    <a:pt x="4857655" y="457198"/>
                  </a:lnTo>
                  <a:cubicBezTo>
                    <a:pt x="4857655" y="499283"/>
                    <a:pt x="4823539" y="533400"/>
                    <a:pt x="4781454" y="533400"/>
                  </a:cubicBezTo>
                  <a:lnTo>
                    <a:pt x="37910" y="533400"/>
                  </a:lnTo>
                  <a:cubicBezTo>
                    <a:pt x="16973" y="533400"/>
                    <a:pt x="0" y="516427"/>
                    <a:pt x="0" y="4954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22" name="Shape 20"/>
            <p:cNvSpPr/>
            <p:nvPr/>
          </p:nvSpPr>
          <p:spPr>
            <a:xfrm>
              <a:off x="6648248" y="4414938"/>
              <a:ext cx="37910" cy="533400"/>
            </a:xfrm>
            <a:custGeom>
              <a:avLst/>
              <a:gdLst/>
              <a:ahLst/>
              <a:cxnLst/>
              <a:rect l="l" t="t" r="r" b="b"/>
              <a:pathLst>
                <a:path w="37910" h="533400">
                  <a:moveTo>
                    <a:pt x="37910" y="0"/>
                  </a:moveTo>
                  <a:lnTo>
                    <a:pt x="37910" y="0"/>
                  </a:lnTo>
                  <a:lnTo>
                    <a:pt x="37910" y="533400"/>
                  </a:lnTo>
                  <a:lnTo>
                    <a:pt x="37910" y="533400"/>
                  </a:lnTo>
                  <a:cubicBezTo>
                    <a:pt x="16973" y="533400"/>
                    <a:pt x="0" y="516427"/>
                    <a:pt x="0" y="4954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3" name="Text 21"/>
            <p:cNvSpPr/>
            <p:nvPr/>
          </p:nvSpPr>
          <p:spPr>
            <a:xfrm>
              <a:off x="6819586" y="4567320"/>
              <a:ext cx="46101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c[i] = a[i] + b[i]</a:t>
              </a:r>
              <a:endParaRPr lang="en-US" sz="1600" dirty="0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931857" y="4846517"/>
            <a:ext cx="47254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For each index </a:t>
            </a:r>
            <a:r>
              <a:rPr lang="en-US" altLang="zh-CN" sz="1200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i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add the corresponding elements of arrays 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A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and 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B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storing results in array 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C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00080" y="629177"/>
            <a:ext cx="3724639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What is Triton?</a:t>
            </a:r>
            <a:endParaRPr lang="en-US" sz="16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4580898" y="1500393"/>
            <a:ext cx="3423285" cy="1295400"/>
            <a:chOff x="4579250" y="2305059"/>
            <a:chExt cx="3423285" cy="1295400"/>
          </a:xfrm>
        </p:grpSpPr>
        <p:sp>
          <p:nvSpPr>
            <p:cNvPr id="5" name="Shape 3"/>
            <p:cNvSpPr/>
            <p:nvPr/>
          </p:nvSpPr>
          <p:spPr>
            <a:xfrm>
              <a:off x="4627518" y="23050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57200" y="0"/>
                  </a:lnTo>
                  <a:cubicBezTo>
                    <a:pt x="709536" y="0"/>
                    <a:pt x="914400" y="204864"/>
                    <a:pt x="914400" y="457200"/>
                  </a:cubicBezTo>
                  <a:lnTo>
                    <a:pt x="914400" y="457200"/>
                  </a:lnTo>
                  <a:cubicBezTo>
                    <a:pt x="914400" y="709536"/>
                    <a:pt x="709536" y="914400"/>
                    <a:pt x="457200" y="914400"/>
                  </a:cubicBezTo>
                  <a:lnTo>
                    <a:pt x="457200" y="914400"/>
                  </a:lnTo>
                  <a:cubicBezTo>
                    <a:pt x="204864" y="914400"/>
                    <a:pt x="0" y="709536"/>
                    <a:pt x="0" y="457200"/>
                  </a:cubicBezTo>
                  <a:lnTo>
                    <a:pt x="0" y="457200"/>
                  </a:lnTo>
                  <a:cubicBezTo>
                    <a:pt x="0" y="204864"/>
                    <a:pt x="204864" y="0"/>
                    <a:pt x="4572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4934676" y="2590794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294546" y="134280"/>
                  </a:moveTo>
                  <a:cubicBezTo>
                    <a:pt x="289389" y="113586"/>
                    <a:pt x="279611" y="97981"/>
                    <a:pt x="258782" y="97981"/>
                  </a:cubicBezTo>
                  <a:lnTo>
                    <a:pt x="231926" y="97981"/>
                  </a:lnTo>
                  <a:lnTo>
                    <a:pt x="231926" y="129726"/>
                  </a:lnTo>
                  <a:cubicBezTo>
                    <a:pt x="231926" y="154372"/>
                    <a:pt x="211031" y="175133"/>
                    <a:pt x="187189" y="175133"/>
                  </a:cubicBezTo>
                  <a:lnTo>
                    <a:pt x="115662" y="175133"/>
                  </a:lnTo>
                  <a:cubicBezTo>
                    <a:pt x="96106" y="175133"/>
                    <a:pt x="79898" y="191877"/>
                    <a:pt x="79898" y="211500"/>
                  </a:cubicBezTo>
                  <a:lnTo>
                    <a:pt x="79898" y="279678"/>
                  </a:lnTo>
                  <a:cubicBezTo>
                    <a:pt x="79898" y="299100"/>
                    <a:pt x="96775" y="310485"/>
                    <a:pt x="115662" y="316044"/>
                  </a:cubicBezTo>
                  <a:cubicBezTo>
                    <a:pt x="138299" y="322674"/>
                    <a:pt x="160065" y="323880"/>
                    <a:pt x="187189" y="316044"/>
                  </a:cubicBezTo>
                  <a:cubicBezTo>
                    <a:pt x="205204" y="310820"/>
                    <a:pt x="222952" y="300305"/>
                    <a:pt x="222952" y="279678"/>
                  </a:cubicBezTo>
                  <a:lnTo>
                    <a:pt x="222952" y="252420"/>
                  </a:lnTo>
                  <a:lnTo>
                    <a:pt x="151492" y="252420"/>
                  </a:lnTo>
                  <a:lnTo>
                    <a:pt x="151492" y="243312"/>
                  </a:lnTo>
                  <a:lnTo>
                    <a:pt x="258782" y="243312"/>
                  </a:lnTo>
                  <a:cubicBezTo>
                    <a:pt x="279611" y="243312"/>
                    <a:pt x="287313" y="228779"/>
                    <a:pt x="294546" y="207012"/>
                  </a:cubicBezTo>
                  <a:cubicBezTo>
                    <a:pt x="302047" y="184577"/>
                    <a:pt x="301712" y="163011"/>
                    <a:pt x="294546" y="134280"/>
                  </a:cubicBezTo>
                  <a:close/>
                  <a:moveTo>
                    <a:pt x="191676" y="297827"/>
                  </a:moveTo>
                  <a:cubicBezTo>
                    <a:pt x="186579" y="298185"/>
                    <a:pt x="181708" y="295668"/>
                    <a:pt x="179050" y="291304"/>
                  </a:cubicBezTo>
                  <a:cubicBezTo>
                    <a:pt x="176393" y="286940"/>
                    <a:pt x="176393" y="281457"/>
                    <a:pt x="179050" y="277093"/>
                  </a:cubicBezTo>
                  <a:cubicBezTo>
                    <a:pt x="181708" y="272729"/>
                    <a:pt x="186579" y="270212"/>
                    <a:pt x="191676" y="270570"/>
                  </a:cubicBezTo>
                  <a:cubicBezTo>
                    <a:pt x="196773" y="270212"/>
                    <a:pt x="201644" y="272729"/>
                    <a:pt x="204301" y="277093"/>
                  </a:cubicBezTo>
                  <a:cubicBezTo>
                    <a:pt x="206959" y="281457"/>
                    <a:pt x="206959" y="286940"/>
                    <a:pt x="204301" y="291304"/>
                  </a:cubicBezTo>
                  <a:cubicBezTo>
                    <a:pt x="201644" y="295668"/>
                    <a:pt x="196773" y="298185"/>
                    <a:pt x="191676" y="297827"/>
                  </a:cubicBezTo>
                  <a:close/>
                  <a:moveTo>
                    <a:pt x="112380" y="166159"/>
                  </a:moveTo>
                  <a:lnTo>
                    <a:pt x="183907" y="166159"/>
                  </a:lnTo>
                  <a:cubicBezTo>
                    <a:pt x="203798" y="166159"/>
                    <a:pt x="219670" y="149751"/>
                    <a:pt x="219670" y="129793"/>
                  </a:cubicBezTo>
                  <a:lnTo>
                    <a:pt x="219670" y="61548"/>
                  </a:lnTo>
                  <a:cubicBezTo>
                    <a:pt x="219670" y="42126"/>
                    <a:pt x="203329" y="27593"/>
                    <a:pt x="183907" y="24311"/>
                  </a:cubicBezTo>
                  <a:cubicBezTo>
                    <a:pt x="159931" y="20360"/>
                    <a:pt x="133878" y="20561"/>
                    <a:pt x="112380" y="24378"/>
                  </a:cubicBezTo>
                  <a:cubicBezTo>
                    <a:pt x="82108" y="29736"/>
                    <a:pt x="76617" y="40920"/>
                    <a:pt x="76617" y="61615"/>
                  </a:cubicBezTo>
                  <a:lnTo>
                    <a:pt x="76617" y="88873"/>
                  </a:lnTo>
                  <a:lnTo>
                    <a:pt x="148210" y="88873"/>
                  </a:lnTo>
                  <a:lnTo>
                    <a:pt x="148210" y="97981"/>
                  </a:lnTo>
                  <a:lnTo>
                    <a:pt x="49761" y="97981"/>
                  </a:lnTo>
                  <a:cubicBezTo>
                    <a:pt x="28932" y="97981"/>
                    <a:pt x="10716" y="110505"/>
                    <a:pt x="5023" y="134280"/>
                  </a:cubicBezTo>
                  <a:cubicBezTo>
                    <a:pt x="-1540" y="161538"/>
                    <a:pt x="-1808" y="178549"/>
                    <a:pt x="5023" y="207012"/>
                  </a:cubicBezTo>
                  <a:cubicBezTo>
                    <a:pt x="10113" y="228176"/>
                    <a:pt x="22235" y="243312"/>
                    <a:pt x="43063" y="243312"/>
                  </a:cubicBezTo>
                  <a:lnTo>
                    <a:pt x="67642" y="243312"/>
                  </a:lnTo>
                  <a:lnTo>
                    <a:pt x="67642" y="210629"/>
                  </a:lnTo>
                  <a:cubicBezTo>
                    <a:pt x="67642" y="186988"/>
                    <a:pt x="88069" y="166159"/>
                    <a:pt x="112380" y="166159"/>
                  </a:cubicBezTo>
                  <a:close/>
                  <a:moveTo>
                    <a:pt x="107960" y="43331"/>
                  </a:moveTo>
                  <a:cubicBezTo>
                    <a:pt x="115500" y="43331"/>
                    <a:pt x="121622" y="49453"/>
                    <a:pt x="121622" y="56994"/>
                  </a:cubicBezTo>
                  <a:cubicBezTo>
                    <a:pt x="121622" y="64534"/>
                    <a:pt x="115500" y="70656"/>
                    <a:pt x="107960" y="70656"/>
                  </a:cubicBezTo>
                  <a:cubicBezTo>
                    <a:pt x="100419" y="70656"/>
                    <a:pt x="94297" y="64534"/>
                    <a:pt x="94297" y="56994"/>
                  </a:cubicBezTo>
                  <a:cubicBezTo>
                    <a:pt x="94297" y="49453"/>
                    <a:pt x="100419" y="43331"/>
                    <a:pt x="107960" y="433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4579250" y="3333676"/>
              <a:ext cx="10096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Python DSL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852055" y="2762206"/>
              <a:ext cx="514350" cy="38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dirty="0">
                  <a:solidFill>
                    <a:srgbClr val="D1D5DC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577611" y="230505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57200" y="0"/>
                  </a:lnTo>
                  <a:cubicBezTo>
                    <a:pt x="709536" y="0"/>
                    <a:pt x="914400" y="204864"/>
                    <a:pt x="914400" y="457200"/>
                  </a:cubicBezTo>
                  <a:lnTo>
                    <a:pt x="914400" y="457200"/>
                  </a:lnTo>
                  <a:cubicBezTo>
                    <a:pt x="914400" y="709536"/>
                    <a:pt x="709536" y="914400"/>
                    <a:pt x="457200" y="914400"/>
                  </a:cubicBezTo>
                  <a:lnTo>
                    <a:pt x="457200" y="914400"/>
                  </a:lnTo>
                  <a:cubicBezTo>
                    <a:pt x="204864" y="914400"/>
                    <a:pt x="0" y="709536"/>
                    <a:pt x="0" y="457200"/>
                  </a:cubicBezTo>
                  <a:lnTo>
                    <a:pt x="0" y="457200"/>
                  </a:lnTo>
                  <a:cubicBezTo>
                    <a:pt x="0" y="204864"/>
                    <a:pt x="204864" y="0"/>
                    <a:pt x="457200" y="0"/>
                  </a:cubicBezTo>
                  <a:close/>
                </a:path>
              </a:pathLst>
            </a:custGeom>
            <a:solidFill>
              <a:srgbClr val="1E2939"/>
            </a:solidFill>
          </p:spPr>
        </p:sp>
        <p:sp>
          <p:nvSpPr>
            <p:cNvPr id="10" name="Shape 8"/>
            <p:cNvSpPr/>
            <p:nvPr/>
          </p:nvSpPr>
          <p:spPr>
            <a:xfrm>
              <a:off x="6863337" y="259079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17872" y="16073"/>
                  </a:moveTo>
                  <a:cubicBezTo>
                    <a:pt x="117872" y="7166"/>
                    <a:pt x="110706" y="0"/>
                    <a:pt x="101798" y="0"/>
                  </a:cubicBezTo>
                  <a:cubicBezTo>
                    <a:pt x="92891" y="0"/>
                    <a:pt x="85725" y="7166"/>
                    <a:pt x="85725" y="16073"/>
                  </a:cubicBezTo>
                  <a:lnTo>
                    <a:pt x="85725" y="42863"/>
                  </a:lnTo>
                  <a:cubicBezTo>
                    <a:pt x="62084" y="42863"/>
                    <a:pt x="42863" y="62084"/>
                    <a:pt x="42863" y="85725"/>
                  </a:cubicBezTo>
                  <a:lnTo>
                    <a:pt x="16073" y="85725"/>
                  </a:lnTo>
                  <a:cubicBezTo>
                    <a:pt x="7166" y="85725"/>
                    <a:pt x="0" y="92891"/>
                    <a:pt x="0" y="101798"/>
                  </a:cubicBezTo>
                  <a:cubicBezTo>
                    <a:pt x="0" y="110706"/>
                    <a:pt x="7166" y="117872"/>
                    <a:pt x="16073" y="117872"/>
                  </a:cubicBezTo>
                  <a:lnTo>
                    <a:pt x="42863" y="117872"/>
                  </a:lnTo>
                  <a:lnTo>
                    <a:pt x="42863" y="155377"/>
                  </a:lnTo>
                  <a:lnTo>
                    <a:pt x="16073" y="155377"/>
                  </a:lnTo>
                  <a:cubicBezTo>
                    <a:pt x="7166" y="155377"/>
                    <a:pt x="0" y="162543"/>
                    <a:pt x="0" y="171450"/>
                  </a:cubicBezTo>
                  <a:cubicBezTo>
                    <a:pt x="0" y="180357"/>
                    <a:pt x="7166" y="187523"/>
                    <a:pt x="16073" y="187523"/>
                  </a:cubicBezTo>
                  <a:lnTo>
                    <a:pt x="42863" y="187523"/>
                  </a:lnTo>
                  <a:lnTo>
                    <a:pt x="42863" y="225028"/>
                  </a:lnTo>
                  <a:lnTo>
                    <a:pt x="16073" y="225028"/>
                  </a:lnTo>
                  <a:cubicBezTo>
                    <a:pt x="7166" y="225028"/>
                    <a:pt x="0" y="232194"/>
                    <a:pt x="0" y="241102"/>
                  </a:cubicBezTo>
                  <a:cubicBezTo>
                    <a:pt x="0" y="250009"/>
                    <a:pt x="7166" y="257175"/>
                    <a:pt x="16073" y="257175"/>
                  </a:cubicBezTo>
                  <a:lnTo>
                    <a:pt x="42863" y="257175"/>
                  </a:lnTo>
                  <a:cubicBezTo>
                    <a:pt x="42863" y="280816"/>
                    <a:pt x="62084" y="300038"/>
                    <a:pt x="85725" y="300038"/>
                  </a:cubicBezTo>
                  <a:lnTo>
                    <a:pt x="85725" y="326827"/>
                  </a:lnTo>
                  <a:cubicBezTo>
                    <a:pt x="85725" y="335734"/>
                    <a:pt x="92891" y="342900"/>
                    <a:pt x="101798" y="342900"/>
                  </a:cubicBezTo>
                  <a:cubicBezTo>
                    <a:pt x="110706" y="342900"/>
                    <a:pt x="117872" y="335734"/>
                    <a:pt x="117872" y="326827"/>
                  </a:cubicBezTo>
                  <a:lnTo>
                    <a:pt x="117872" y="300038"/>
                  </a:lnTo>
                  <a:lnTo>
                    <a:pt x="155377" y="300038"/>
                  </a:lnTo>
                  <a:lnTo>
                    <a:pt x="155377" y="326827"/>
                  </a:lnTo>
                  <a:cubicBezTo>
                    <a:pt x="155377" y="335734"/>
                    <a:pt x="162543" y="342900"/>
                    <a:pt x="171450" y="342900"/>
                  </a:cubicBezTo>
                  <a:cubicBezTo>
                    <a:pt x="180357" y="342900"/>
                    <a:pt x="187523" y="335734"/>
                    <a:pt x="187523" y="326827"/>
                  </a:cubicBezTo>
                  <a:lnTo>
                    <a:pt x="187523" y="300038"/>
                  </a:lnTo>
                  <a:lnTo>
                    <a:pt x="225028" y="300038"/>
                  </a:lnTo>
                  <a:lnTo>
                    <a:pt x="225028" y="326827"/>
                  </a:lnTo>
                  <a:cubicBezTo>
                    <a:pt x="225028" y="335734"/>
                    <a:pt x="232194" y="342900"/>
                    <a:pt x="241102" y="342900"/>
                  </a:cubicBezTo>
                  <a:cubicBezTo>
                    <a:pt x="250009" y="342900"/>
                    <a:pt x="257175" y="335734"/>
                    <a:pt x="257175" y="326827"/>
                  </a:cubicBezTo>
                  <a:lnTo>
                    <a:pt x="257175" y="300038"/>
                  </a:lnTo>
                  <a:cubicBezTo>
                    <a:pt x="280816" y="300038"/>
                    <a:pt x="300038" y="280816"/>
                    <a:pt x="300038" y="257175"/>
                  </a:cubicBezTo>
                  <a:lnTo>
                    <a:pt x="326827" y="257175"/>
                  </a:lnTo>
                  <a:cubicBezTo>
                    <a:pt x="335734" y="257175"/>
                    <a:pt x="342900" y="250009"/>
                    <a:pt x="342900" y="241102"/>
                  </a:cubicBezTo>
                  <a:cubicBezTo>
                    <a:pt x="342900" y="232194"/>
                    <a:pt x="335734" y="225028"/>
                    <a:pt x="326827" y="225028"/>
                  </a:cubicBezTo>
                  <a:lnTo>
                    <a:pt x="300038" y="225028"/>
                  </a:lnTo>
                  <a:lnTo>
                    <a:pt x="300038" y="187523"/>
                  </a:lnTo>
                  <a:lnTo>
                    <a:pt x="326827" y="187523"/>
                  </a:lnTo>
                  <a:cubicBezTo>
                    <a:pt x="335734" y="187523"/>
                    <a:pt x="342900" y="180357"/>
                    <a:pt x="342900" y="171450"/>
                  </a:cubicBezTo>
                  <a:cubicBezTo>
                    <a:pt x="342900" y="162543"/>
                    <a:pt x="335734" y="155377"/>
                    <a:pt x="326827" y="155377"/>
                  </a:cubicBezTo>
                  <a:lnTo>
                    <a:pt x="300038" y="155377"/>
                  </a:lnTo>
                  <a:lnTo>
                    <a:pt x="300038" y="117872"/>
                  </a:lnTo>
                  <a:lnTo>
                    <a:pt x="326827" y="117872"/>
                  </a:lnTo>
                  <a:cubicBezTo>
                    <a:pt x="335734" y="117872"/>
                    <a:pt x="342900" y="110706"/>
                    <a:pt x="342900" y="101798"/>
                  </a:cubicBezTo>
                  <a:cubicBezTo>
                    <a:pt x="342900" y="92891"/>
                    <a:pt x="335734" y="85725"/>
                    <a:pt x="326827" y="85725"/>
                  </a:cubicBezTo>
                  <a:lnTo>
                    <a:pt x="300038" y="85725"/>
                  </a:lnTo>
                  <a:cubicBezTo>
                    <a:pt x="300038" y="62084"/>
                    <a:pt x="280816" y="42863"/>
                    <a:pt x="257175" y="42863"/>
                  </a:cubicBezTo>
                  <a:lnTo>
                    <a:pt x="257175" y="16073"/>
                  </a:lnTo>
                  <a:cubicBezTo>
                    <a:pt x="257175" y="7166"/>
                    <a:pt x="250009" y="0"/>
                    <a:pt x="241102" y="0"/>
                  </a:cubicBezTo>
                  <a:cubicBezTo>
                    <a:pt x="232194" y="0"/>
                    <a:pt x="225028" y="7166"/>
                    <a:pt x="225028" y="16073"/>
                  </a:cubicBezTo>
                  <a:lnTo>
                    <a:pt x="225028" y="42863"/>
                  </a:lnTo>
                  <a:lnTo>
                    <a:pt x="187523" y="42863"/>
                  </a:lnTo>
                  <a:lnTo>
                    <a:pt x="187523" y="16073"/>
                  </a:lnTo>
                  <a:cubicBezTo>
                    <a:pt x="187523" y="7166"/>
                    <a:pt x="180357" y="0"/>
                    <a:pt x="171450" y="0"/>
                  </a:cubicBezTo>
                  <a:cubicBezTo>
                    <a:pt x="162543" y="0"/>
                    <a:pt x="155377" y="7166"/>
                    <a:pt x="155377" y="16073"/>
                  </a:cubicBezTo>
                  <a:lnTo>
                    <a:pt x="155377" y="42863"/>
                  </a:lnTo>
                  <a:lnTo>
                    <a:pt x="117872" y="42863"/>
                  </a:lnTo>
                  <a:lnTo>
                    <a:pt x="117872" y="16073"/>
                  </a:lnTo>
                  <a:close/>
                  <a:moveTo>
                    <a:pt x="107156" y="85725"/>
                  </a:moveTo>
                  <a:lnTo>
                    <a:pt x="235744" y="85725"/>
                  </a:lnTo>
                  <a:cubicBezTo>
                    <a:pt x="247598" y="85725"/>
                    <a:pt x="257175" y="95302"/>
                    <a:pt x="257175" y="107156"/>
                  </a:cubicBezTo>
                  <a:lnTo>
                    <a:pt x="257175" y="235744"/>
                  </a:lnTo>
                  <a:cubicBezTo>
                    <a:pt x="257175" y="247598"/>
                    <a:pt x="247598" y="257175"/>
                    <a:pt x="235744" y="257175"/>
                  </a:cubicBezTo>
                  <a:lnTo>
                    <a:pt x="107156" y="257175"/>
                  </a:lnTo>
                  <a:cubicBezTo>
                    <a:pt x="95302" y="257175"/>
                    <a:pt x="85725" y="247598"/>
                    <a:pt x="85725" y="235744"/>
                  </a:cubicBezTo>
                  <a:lnTo>
                    <a:pt x="85725" y="107156"/>
                  </a:lnTo>
                  <a:cubicBezTo>
                    <a:pt x="85725" y="95302"/>
                    <a:pt x="95302" y="85725"/>
                    <a:pt x="107156" y="85725"/>
                  </a:cubicBezTo>
                  <a:close/>
                  <a:moveTo>
                    <a:pt x="117872" y="117872"/>
                  </a:moveTo>
                  <a:lnTo>
                    <a:pt x="117872" y="225028"/>
                  </a:lnTo>
                  <a:lnTo>
                    <a:pt x="225028" y="225028"/>
                  </a:lnTo>
                  <a:lnTo>
                    <a:pt x="225028" y="117872"/>
                  </a:lnTo>
                  <a:lnTo>
                    <a:pt x="117872" y="1178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6456945" y="3333759"/>
              <a:ext cx="154559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High-Performance Kernel</a:t>
              </a:r>
              <a:endParaRPr lang="en-US" sz="16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578762" y="3167710"/>
            <a:ext cx="3657600" cy="1371600"/>
            <a:chOff x="380956" y="3905147"/>
            <a:chExt cx="3657600" cy="1371600"/>
          </a:xfrm>
        </p:grpSpPr>
        <p:sp>
          <p:nvSpPr>
            <p:cNvPr id="12" name="Shape 10"/>
            <p:cNvSpPr/>
            <p:nvPr/>
          </p:nvSpPr>
          <p:spPr>
            <a:xfrm>
              <a:off x="380956" y="3905147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623816" y="4152749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61092" y="536"/>
                  </a:moveTo>
                  <a:cubicBezTo>
                    <a:pt x="153501" y="-1652"/>
                    <a:pt x="145599" y="2768"/>
                    <a:pt x="143411" y="10358"/>
                  </a:cubicBezTo>
                  <a:lnTo>
                    <a:pt x="86261" y="210383"/>
                  </a:lnTo>
                  <a:cubicBezTo>
                    <a:pt x="84073" y="217974"/>
                    <a:pt x="88493" y="225876"/>
                    <a:pt x="96083" y="228064"/>
                  </a:cubicBezTo>
                  <a:cubicBezTo>
                    <a:pt x="103674" y="230252"/>
                    <a:pt x="111576" y="225832"/>
                    <a:pt x="113764" y="218242"/>
                  </a:cubicBezTo>
                  <a:lnTo>
                    <a:pt x="170914" y="18217"/>
                  </a:lnTo>
                  <a:cubicBezTo>
                    <a:pt x="173102" y="10626"/>
                    <a:pt x="168682" y="2724"/>
                    <a:pt x="161092" y="536"/>
                  </a:cubicBezTo>
                  <a:close/>
                  <a:moveTo>
                    <a:pt x="189934" y="61302"/>
                  </a:moveTo>
                  <a:cubicBezTo>
                    <a:pt x="184353" y="66883"/>
                    <a:pt x="184353" y="75947"/>
                    <a:pt x="189934" y="81528"/>
                  </a:cubicBezTo>
                  <a:lnTo>
                    <a:pt x="222706" y="114300"/>
                  </a:lnTo>
                  <a:lnTo>
                    <a:pt x="189934" y="147072"/>
                  </a:lnTo>
                  <a:cubicBezTo>
                    <a:pt x="184353" y="152653"/>
                    <a:pt x="184353" y="161717"/>
                    <a:pt x="189934" y="167298"/>
                  </a:cubicBezTo>
                  <a:cubicBezTo>
                    <a:pt x="195516" y="172879"/>
                    <a:pt x="204579" y="172879"/>
                    <a:pt x="210160" y="167298"/>
                  </a:cubicBezTo>
                  <a:lnTo>
                    <a:pt x="253023" y="124435"/>
                  </a:lnTo>
                  <a:cubicBezTo>
                    <a:pt x="258604" y="118854"/>
                    <a:pt x="258604" y="109791"/>
                    <a:pt x="253023" y="104209"/>
                  </a:cubicBezTo>
                  <a:lnTo>
                    <a:pt x="210160" y="61347"/>
                  </a:lnTo>
                  <a:cubicBezTo>
                    <a:pt x="204579" y="55766"/>
                    <a:pt x="195516" y="55766"/>
                    <a:pt x="189934" y="61347"/>
                  </a:cubicBezTo>
                  <a:close/>
                  <a:moveTo>
                    <a:pt x="67285" y="61302"/>
                  </a:moveTo>
                  <a:cubicBezTo>
                    <a:pt x="61704" y="55721"/>
                    <a:pt x="52641" y="55721"/>
                    <a:pt x="47059" y="61302"/>
                  </a:cubicBezTo>
                  <a:lnTo>
                    <a:pt x="4197" y="104165"/>
                  </a:lnTo>
                  <a:cubicBezTo>
                    <a:pt x="-1384" y="109746"/>
                    <a:pt x="-1384" y="118809"/>
                    <a:pt x="4197" y="124391"/>
                  </a:cubicBezTo>
                  <a:lnTo>
                    <a:pt x="47059" y="167253"/>
                  </a:lnTo>
                  <a:cubicBezTo>
                    <a:pt x="52641" y="172834"/>
                    <a:pt x="61704" y="172834"/>
                    <a:pt x="67285" y="167253"/>
                  </a:cubicBezTo>
                  <a:cubicBezTo>
                    <a:pt x="72866" y="161672"/>
                    <a:pt x="72866" y="152608"/>
                    <a:pt x="67285" y="147027"/>
                  </a:cubicBezTo>
                  <a:lnTo>
                    <a:pt x="34513" y="114300"/>
                  </a:lnTo>
                  <a:lnTo>
                    <a:pt x="67241" y="81528"/>
                  </a:lnTo>
                  <a:cubicBezTo>
                    <a:pt x="72822" y="75947"/>
                    <a:pt x="72822" y="66883"/>
                    <a:pt x="67241" y="61302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1009513" y="4133720"/>
              <a:ext cx="2610157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 err="1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OpenAI</a:t>
              </a: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 </a:t>
              </a:r>
              <a:r>
                <a:rPr lang="zh-CN" alt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Open Source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09529" y="4552808"/>
              <a:ext cx="3276600" cy="495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A GPU programming language developed by OpenAI, using a Python-style Domain Specific Language (DSL)</a:t>
              </a:r>
              <a:endParaRPr lang="en-US" sz="1600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941929" y="3128128"/>
            <a:ext cx="3657600" cy="1371600"/>
            <a:chOff x="4267147" y="3905147"/>
            <a:chExt cx="3657600" cy="1371600"/>
          </a:xfrm>
        </p:grpSpPr>
        <p:sp>
          <p:nvSpPr>
            <p:cNvPr id="16" name="Shape 14"/>
            <p:cNvSpPr/>
            <p:nvPr/>
          </p:nvSpPr>
          <p:spPr>
            <a:xfrm>
              <a:off x="4267147" y="3905147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7" name="Shape 15"/>
            <p:cNvSpPr/>
            <p:nvPr/>
          </p:nvSpPr>
          <p:spPr>
            <a:xfrm>
              <a:off x="4524295" y="415274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7150" y="142875"/>
                  </a:moveTo>
                  <a:lnTo>
                    <a:pt x="10939" y="142875"/>
                  </a:lnTo>
                  <a:cubicBezTo>
                    <a:pt x="-179" y="142875"/>
                    <a:pt x="-7010" y="130775"/>
                    <a:pt x="-1295" y="121221"/>
                  </a:cubicBezTo>
                  <a:lnTo>
                    <a:pt x="22324" y="81841"/>
                  </a:lnTo>
                  <a:cubicBezTo>
                    <a:pt x="26209" y="75367"/>
                    <a:pt x="33174" y="71438"/>
                    <a:pt x="40719" y="71438"/>
                  </a:cubicBezTo>
                  <a:lnTo>
                    <a:pt x="83135" y="71438"/>
                  </a:lnTo>
                  <a:cubicBezTo>
                    <a:pt x="117113" y="13886"/>
                    <a:pt x="167789" y="10984"/>
                    <a:pt x="201677" y="15939"/>
                  </a:cubicBezTo>
                  <a:cubicBezTo>
                    <a:pt x="207392" y="16788"/>
                    <a:pt x="211857" y="21253"/>
                    <a:pt x="212661" y="26923"/>
                  </a:cubicBezTo>
                  <a:cubicBezTo>
                    <a:pt x="217616" y="60811"/>
                    <a:pt x="214714" y="111487"/>
                    <a:pt x="157163" y="145465"/>
                  </a:cubicBezTo>
                  <a:lnTo>
                    <a:pt x="157163" y="187881"/>
                  </a:lnTo>
                  <a:cubicBezTo>
                    <a:pt x="157163" y="195426"/>
                    <a:pt x="153233" y="202391"/>
                    <a:pt x="146759" y="206276"/>
                  </a:cubicBezTo>
                  <a:lnTo>
                    <a:pt x="107379" y="229895"/>
                  </a:lnTo>
                  <a:cubicBezTo>
                    <a:pt x="97869" y="235610"/>
                    <a:pt x="85725" y="228734"/>
                    <a:pt x="85725" y="217661"/>
                  </a:cubicBezTo>
                  <a:lnTo>
                    <a:pt x="85725" y="171450"/>
                  </a:lnTo>
                  <a:cubicBezTo>
                    <a:pt x="85725" y="155689"/>
                    <a:pt x="72911" y="142875"/>
                    <a:pt x="57150" y="142875"/>
                  </a:cubicBezTo>
                  <a:lnTo>
                    <a:pt x="57105" y="142875"/>
                  </a:lnTo>
                  <a:close/>
                  <a:moveTo>
                    <a:pt x="178594" y="71438"/>
                  </a:moveTo>
                  <a:cubicBezTo>
                    <a:pt x="178594" y="59609"/>
                    <a:pt x="168991" y="50006"/>
                    <a:pt x="157163" y="50006"/>
                  </a:cubicBezTo>
                  <a:cubicBezTo>
                    <a:pt x="145334" y="50006"/>
                    <a:pt x="135731" y="59609"/>
                    <a:pt x="135731" y="71438"/>
                  </a:cubicBezTo>
                  <a:cubicBezTo>
                    <a:pt x="135731" y="83266"/>
                    <a:pt x="145334" y="92869"/>
                    <a:pt x="157163" y="92869"/>
                  </a:cubicBezTo>
                  <a:cubicBezTo>
                    <a:pt x="168991" y="92869"/>
                    <a:pt x="178594" y="83266"/>
                    <a:pt x="178594" y="71438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4895705" y="4133720"/>
              <a:ext cx="2799891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Auto-generate Kernels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495720" y="4552808"/>
              <a:ext cx="3276600" cy="495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Compiler automatically converts Python code into high-performance GPU kernels — no handwritten CUDA required</a:t>
              </a:r>
              <a:endParaRPr lang="en-US" sz="1600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921729" y="5059591"/>
            <a:ext cx="3657600" cy="1371600"/>
            <a:chOff x="8153338" y="3905147"/>
            <a:chExt cx="3657600" cy="1371600"/>
          </a:xfrm>
        </p:grpSpPr>
        <p:sp>
          <p:nvSpPr>
            <p:cNvPr id="20" name="Shape 18"/>
            <p:cNvSpPr/>
            <p:nvPr/>
          </p:nvSpPr>
          <p:spPr>
            <a:xfrm>
              <a:off x="8153338" y="3905147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21" name="Shape 19"/>
            <p:cNvSpPr/>
            <p:nvPr/>
          </p:nvSpPr>
          <p:spPr>
            <a:xfrm>
              <a:off x="8381911" y="4152749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71450" y="14288"/>
                  </a:moveTo>
                  <a:lnTo>
                    <a:pt x="228600" y="14288"/>
                  </a:lnTo>
                  <a:cubicBezTo>
                    <a:pt x="236503" y="14288"/>
                    <a:pt x="242888" y="20672"/>
                    <a:pt x="242888" y="28575"/>
                  </a:cubicBezTo>
                  <a:cubicBezTo>
                    <a:pt x="242888" y="36478"/>
                    <a:pt x="236503" y="42863"/>
                    <a:pt x="228600" y="42863"/>
                  </a:cubicBezTo>
                  <a:lnTo>
                    <a:pt x="177879" y="42863"/>
                  </a:lnTo>
                  <a:cubicBezTo>
                    <a:pt x="175558" y="54382"/>
                    <a:pt x="167655" y="63892"/>
                    <a:pt x="157163" y="68446"/>
                  </a:cubicBezTo>
                  <a:lnTo>
                    <a:pt x="157163" y="200025"/>
                  </a:lnTo>
                  <a:lnTo>
                    <a:pt x="228600" y="200025"/>
                  </a:lnTo>
                  <a:cubicBezTo>
                    <a:pt x="236503" y="200025"/>
                    <a:pt x="242888" y="206410"/>
                    <a:pt x="242888" y="214313"/>
                  </a:cubicBezTo>
                  <a:cubicBezTo>
                    <a:pt x="242888" y="222215"/>
                    <a:pt x="236503" y="228600"/>
                    <a:pt x="228600" y="228600"/>
                  </a:cubicBezTo>
                  <a:lnTo>
                    <a:pt x="57150" y="228600"/>
                  </a:lnTo>
                  <a:cubicBezTo>
                    <a:pt x="49247" y="228600"/>
                    <a:pt x="42863" y="222215"/>
                    <a:pt x="42863" y="214313"/>
                  </a:cubicBezTo>
                  <a:cubicBezTo>
                    <a:pt x="42863" y="206410"/>
                    <a:pt x="49247" y="200025"/>
                    <a:pt x="57150" y="200025"/>
                  </a:cubicBezTo>
                  <a:lnTo>
                    <a:pt x="128588" y="200025"/>
                  </a:lnTo>
                  <a:lnTo>
                    <a:pt x="128588" y="68446"/>
                  </a:lnTo>
                  <a:cubicBezTo>
                    <a:pt x="118095" y="63847"/>
                    <a:pt x="110192" y="54337"/>
                    <a:pt x="107871" y="42863"/>
                  </a:cubicBezTo>
                  <a:lnTo>
                    <a:pt x="57150" y="42863"/>
                  </a:lnTo>
                  <a:cubicBezTo>
                    <a:pt x="49247" y="42863"/>
                    <a:pt x="42863" y="36478"/>
                    <a:pt x="42863" y="28575"/>
                  </a:cubicBezTo>
                  <a:cubicBezTo>
                    <a:pt x="42863" y="20672"/>
                    <a:pt x="49247" y="14288"/>
                    <a:pt x="57150" y="14288"/>
                  </a:cubicBezTo>
                  <a:lnTo>
                    <a:pt x="114300" y="14288"/>
                  </a:lnTo>
                  <a:cubicBezTo>
                    <a:pt x="120819" y="5626"/>
                    <a:pt x="131177" y="0"/>
                    <a:pt x="142875" y="0"/>
                  </a:cubicBezTo>
                  <a:cubicBezTo>
                    <a:pt x="154573" y="0"/>
                    <a:pt x="164931" y="5626"/>
                    <a:pt x="171450" y="14288"/>
                  </a:cubicBezTo>
                  <a:close/>
                  <a:moveTo>
                    <a:pt x="196275" y="142875"/>
                  </a:moveTo>
                  <a:lnTo>
                    <a:pt x="260925" y="142875"/>
                  </a:lnTo>
                  <a:lnTo>
                    <a:pt x="228600" y="87422"/>
                  </a:lnTo>
                  <a:lnTo>
                    <a:pt x="196275" y="142875"/>
                  </a:lnTo>
                  <a:close/>
                  <a:moveTo>
                    <a:pt x="228600" y="185738"/>
                  </a:moveTo>
                  <a:cubicBezTo>
                    <a:pt x="200516" y="185738"/>
                    <a:pt x="177165" y="170557"/>
                    <a:pt x="172343" y="150510"/>
                  </a:cubicBezTo>
                  <a:cubicBezTo>
                    <a:pt x="171182" y="145599"/>
                    <a:pt x="172789" y="140553"/>
                    <a:pt x="175334" y="136178"/>
                  </a:cubicBezTo>
                  <a:lnTo>
                    <a:pt x="217840" y="63311"/>
                  </a:lnTo>
                  <a:cubicBezTo>
                    <a:pt x="220072" y="59472"/>
                    <a:pt x="224180" y="57150"/>
                    <a:pt x="228600" y="57150"/>
                  </a:cubicBezTo>
                  <a:cubicBezTo>
                    <a:pt x="233020" y="57150"/>
                    <a:pt x="237128" y="59516"/>
                    <a:pt x="239360" y="63311"/>
                  </a:cubicBezTo>
                  <a:lnTo>
                    <a:pt x="281866" y="136178"/>
                  </a:lnTo>
                  <a:cubicBezTo>
                    <a:pt x="284411" y="140553"/>
                    <a:pt x="286018" y="145599"/>
                    <a:pt x="284857" y="150510"/>
                  </a:cubicBezTo>
                  <a:cubicBezTo>
                    <a:pt x="280035" y="170512"/>
                    <a:pt x="256684" y="185738"/>
                    <a:pt x="228600" y="185738"/>
                  </a:cubicBezTo>
                  <a:close/>
                  <a:moveTo>
                    <a:pt x="56614" y="87422"/>
                  </a:moveTo>
                  <a:lnTo>
                    <a:pt x="24289" y="142875"/>
                  </a:lnTo>
                  <a:lnTo>
                    <a:pt x="88984" y="142875"/>
                  </a:lnTo>
                  <a:lnTo>
                    <a:pt x="56614" y="87422"/>
                  </a:lnTo>
                  <a:close/>
                  <a:moveTo>
                    <a:pt x="402" y="150510"/>
                  </a:moveTo>
                  <a:cubicBezTo>
                    <a:pt x="-759" y="145599"/>
                    <a:pt x="848" y="140553"/>
                    <a:pt x="3393" y="136178"/>
                  </a:cubicBezTo>
                  <a:lnTo>
                    <a:pt x="45899" y="63311"/>
                  </a:lnTo>
                  <a:cubicBezTo>
                    <a:pt x="48131" y="59472"/>
                    <a:pt x="52239" y="57150"/>
                    <a:pt x="56659" y="57150"/>
                  </a:cubicBezTo>
                  <a:cubicBezTo>
                    <a:pt x="61079" y="57150"/>
                    <a:pt x="65187" y="59516"/>
                    <a:pt x="67419" y="63311"/>
                  </a:cubicBezTo>
                  <a:lnTo>
                    <a:pt x="109924" y="136178"/>
                  </a:lnTo>
                  <a:cubicBezTo>
                    <a:pt x="112469" y="140553"/>
                    <a:pt x="114077" y="145599"/>
                    <a:pt x="112916" y="150510"/>
                  </a:cubicBezTo>
                  <a:cubicBezTo>
                    <a:pt x="108094" y="170512"/>
                    <a:pt x="84743" y="185738"/>
                    <a:pt x="56659" y="185738"/>
                  </a:cubicBezTo>
                  <a:cubicBezTo>
                    <a:pt x="28575" y="185738"/>
                    <a:pt x="5224" y="170557"/>
                    <a:pt x="402" y="15051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8781896" y="4133720"/>
              <a:ext cx="8572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Design Goals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381911" y="4648022"/>
              <a:ext cx="3276600" cy="2476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Performance close to CUDA</a:t>
              </a: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，</a:t>
              </a:r>
              <a:r>
                <a:rPr lang="en-US" sz="1200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Development cost close to PyTorch</a:t>
              </a:r>
              <a:endParaRPr lang="en-US" sz="1600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408728" y="5059591"/>
            <a:ext cx="3827634" cy="1371600"/>
            <a:chOff x="4254685" y="3067076"/>
            <a:chExt cx="3827634" cy="1371600"/>
          </a:xfrm>
        </p:grpSpPr>
        <p:sp>
          <p:nvSpPr>
            <p:cNvPr id="29" name="Shape 18"/>
            <p:cNvSpPr/>
            <p:nvPr/>
          </p:nvSpPr>
          <p:spPr>
            <a:xfrm>
              <a:off x="4424719" y="3067076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30" name="Shape 47"/>
            <p:cNvSpPr/>
            <p:nvPr/>
          </p:nvSpPr>
          <p:spPr>
            <a:xfrm>
              <a:off x="4741681" y="3229766"/>
              <a:ext cx="208489" cy="266700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8930" y="8930"/>
                  </a:moveTo>
                  <a:cubicBezTo>
                    <a:pt x="3990" y="8930"/>
                    <a:pt x="0" y="12920"/>
                    <a:pt x="0" y="17859"/>
                  </a:cubicBezTo>
                  <a:lnTo>
                    <a:pt x="0" y="120551"/>
                  </a:lnTo>
                  <a:cubicBezTo>
                    <a:pt x="0" y="127946"/>
                    <a:pt x="6000" y="133945"/>
                    <a:pt x="13395" y="133945"/>
                  </a:cubicBezTo>
                  <a:lnTo>
                    <a:pt x="129480" y="133945"/>
                  </a:lnTo>
                  <a:cubicBezTo>
                    <a:pt x="136875" y="133945"/>
                    <a:pt x="142875" y="127946"/>
                    <a:pt x="142875" y="120551"/>
                  </a:cubicBezTo>
                  <a:lnTo>
                    <a:pt x="142875" y="42472"/>
                  </a:lnTo>
                  <a:cubicBezTo>
                    <a:pt x="142875" y="37393"/>
                    <a:pt x="137461" y="34184"/>
                    <a:pt x="132997" y="36584"/>
                  </a:cubicBezTo>
                  <a:lnTo>
                    <a:pt x="89297" y="60108"/>
                  </a:lnTo>
                  <a:lnTo>
                    <a:pt x="89297" y="42472"/>
                  </a:lnTo>
                  <a:cubicBezTo>
                    <a:pt x="89297" y="37393"/>
                    <a:pt x="83883" y="34184"/>
                    <a:pt x="79418" y="36584"/>
                  </a:cubicBezTo>
                  <a:lnTo>
                    <a:pt x="35719" y="60108"/>
                  </a:lnTo>
                  <a:lnTo>
                    <a:pt x="35719" y="17859"/>
                  </a:lnTo>
                  <a:cubicBezTo>
                    <a:pt x="35719" y="12920"/>
                    <a:pt x="31728" y="8930"/>
                    <a:pt x="26789" y="8930"/>
                  </a:cubicBezTo>
                  <a:lnTo>
                    <a:pt x="8930" y="8930"/>
                  </a:lnTo>
                  <a:close/>
                </a:path>
              </a:pathLst>
            </a:custGeom>
            <a:solidFill>
              <a:srgbClr val="8B0012"/>
            </a:solidFill>
          </p:spPr>
        </p:sp>
        <p:sp>
          <p:nvSpPr>
            <p:cNvPr id="31" name="Text 12"/>
            <p:cNvSpPr/>
            <p:nvPr/>
          </p:nvSpPr>
          <p:spPr>
            <a:xfrm>
              <a:off x="5110492" y="3231018"/>
              <a:ext cx="118110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Applied to</a:t>
              </a:r>
              <a:endParaRPr lang="en-US" sz="1600" dirty="0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4254685" y="3753584"/>
              <a:ext cx="1571625" cy="444469"/>
              <a:chOff x="10072705" y="4991726"/>
              <a:chExt cx="1571625" cy="444469"/>
            </a:xfrm>
          </p:grpSpPr>
          <p:sp>
            <p:nvSpPr>
              <p:cNvPr id="33" name="Shape 56"/>
              <p:cNvSpPr/>
              <p:nvPr/>
            </p:nvSpPr>
            <p:spPr>
              <a:xfrm>
                <a:off x="10763317" y="4991726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65484" y="8930"/>
                    </a:moveTo>
                    <a:cubicBezTo>
                      <a:pt x="65484" y="3981"/>
                      <a:pt x="61503" y="0"/>
                      <a:pt x="56555" y="0"/>
                    </a:cubicBezTo>
                    <a:cubicBezTo>
                      <a:pt x="51606" y="0"/>
                      <a:pt x="47625" y="3981"/>
                      <a:pt x="47625" y="8930"/>
                    </a:cubicBezTo>
                    <a:lnTo>
                      <a:pt x="47625" y="23812"/>
                    </a:lnTo>
                    <a:cubicBezTo>
                      <a:pt x="34491" y="23812"/>
                      <a:pt x="23812" y="34491"/>
                      <a:pt x="23812" y="47625"/>
                    </a:cubicBezTo>
                    <a:lnTo>
                      <a:pt x="8930" y="47625"/>
                    </a:lnTo>
                    <a:cubicBezTo>
                      <a:pt x="3981" y="47625"/>
                      <a:pt x="0" y="51606"/>
                      <a:pt x="0" y="56555"/>
                    </a:cubicBezTo>
                    <a:cubicBezTo>
                      <a:pt x="0" y="61503"/>
                      <a:pt x="3981" y="65484"/>
                      <a:pt x="8930" y="65484"/>
                    </a:cubicBezTo>
                    <a:lnTo>
                      <a:pt x="23812" y="65484"/>
                    </a:lnTo>
                    <a:lnTo>
                      <a:pt x="23812" y="86320"/>
                    </a:lnTo>
                    <a:lnTo>
                      <a:pt x="8930" y="86320"/>
                    </a:lnTo>
                    <a:cubicBezTo>
                      <a:pt x="3981" y="86320"/>
                      <a:pt x="0" y="90301"/>
                      <a:pt x="0" y="95250"/>
                    </a:cubicBezTo>
                    <a:cubicBezTo>
                      <a:pt x="0" y="100199"/>
                      <a:pt x="3981" y="104180"/>
                      <a:pt x="8930" y="104180"/>
                    </a:cubicBezTo>
                    <a:lnTo>
                      <a:pt x="23812" y="104180"/>
                    </a:lnTo>
                    <a:lnTo>
                      <a:pt x="23812" y="125016"/>
                    </a:lnTo>
                    <a:lnTo>
                      <a:pt x="8930" y="125016"/>
                    </a:lnTo>
                    <a:cubicBezTo>
                      <a:pt x="3981" y="125016"/>
                      <a:pt x="0" y="128997"/>
                      <a:pt x="0" y="133945"/>
                    </a:cubicBezTo>
                    <a:cubicBezTo>
                      <a:pt x="0" y="138894"/>
                      <a:pt x="3981" y="142875"/>
                      <a:pt x="8930" y="142875"/>
                    </a:cubicBezTo>
                    <a:lnTo>
                      <a:pt x="23812" y="142875"/>
                    </a:lnTo>
                    <a:cubicBezTo>
                      <a:pt x="23812" y="156009"/>
                      <a:pt x="34491" y="166688"/>
                      <a:pt x="47625" y="166688"/>
                    </a:cubicBezTo>
                    <a:lnTo>
                      <a:pt x="47625" y="181570"/>
                    </a:lnTo>
                    <a:cubicBezTo>
                      <a:pt x="47625" y="186519"/>
                      <a:pt x="51606" y="190500"/>
                      <a:pt x="56555" y="190500"/>
                    </a:cubicBezTo>
                    <a:cubicBezTo>
                      <a:pt x="61503" y="190500"/>
                      <a:pt x="65484" y="186519"/>
                      <a:pt x="65484" y="181570"/>
                    </a:cubicBezTo>
                    <a:lnTo>
                      <a:pt x="65484" y="166688"/>
                    </a:lnTo>
                    <a:lnTo>
                      <a:pt x="86320" y="166688"/>
                    </a:lnTo>
                    <a:lnTo>
                      <a:pt x="86320" y="181570"/>
                    </a:lnTo>
                    <a:cubicBezTo>
                      <a:pt x="86320" y="186519"/>
                      <a:pt x="90301" y="190500"/>
                      <a:pt x="95250" y="190500"/>
                    </a:cubicBezTo>
                    <a:cubicBezTo>
                      <a:pt x="100199" y="190500"/>
                      <a:pt x="104180" y="186519"/>
                      <a:pt x="104180" y="181570"/>
                    </a:cubicBezTo>
                    <a:lnTo>
                      <a:pt x="104180" y="166688"/>
                    </a:lnTo>
                    <a:lnTo>
                      <a:pt x="125016" y="166688"/>
                    </a:lnTo>
                    <a:lnTo>
                      <a:pt x="125016" y="181570"/>
                    </a:lnTo>
                    <a:cubicBezTo>
                      <a:pt x="125016" y="186519"/>
                      <a:pt x="128997" y="190500"/>
                      <a:pt x="133945" y="190500"/>
                    </a:cubicBezTo>
                    <a:cubicBezTo>
                      <a:pt x="138894" y="190500"/>
                      <a:pt x="142875" y="186519"/>
                      <a:pt x="142875" y="181570"/>
                    </a:cubicBezTo>
                    <a:lnTo>
                      <a:pt x="142875" y="166688"/>
                    </a:lnTo>
                    <a:cubicBezTo>
                      <a:pt x="156009" y="166688"/>
                      <a:pt x="166688" y="156009"/>
                      <a:pt x="166688" y="142875"/>
                    </a:cubicBezTo>
                    <a:lnTo>
                      <a:pt x="181570" y="142875"/>
                    </a:lnTo>
                    <a:cubicBezTo>
                      <a:pt x="186519" y="142875"/>
                      <a:pt x="190500" y="138894"/>
                      <a:pt x="190500" y="133945"/>
                    </a:cubicBezTo>
                    <a:cubicBezTo>
                      <a:pt x="190500" y="128997"/>
                      <a:pt x="186519" y="125016"/>
                      <a:pt x="181570" y="125016"/>
                    </a:cubicBezTo>
                    <a:lnTo>
                      <a:pt x="166688" y="125016"/>
                    </a:lnTo>
                    <a:lnTo>
                      <a:pt x="166688" y="104180"/>
                    </a:lnTo>
                    <a:lnTo>
                      <a:pt x="181570" y="104180"/>
                    </a:lnTo>
                    <a:cubicBezTo>
                      <a:pt x="186519" y="104180"/>
                      <a:pt x="190500" y="100199"/>
                      <a:pt x="190500" y="95250"/>
                    </a:cubicBezTo>
                    <a:cubicBezTo>
                      <a:pt x="190500" y="90301"/>
                      <a:pt x="186519" y="86320"/>
                      <a:pt x="181570" y="86320"/>
                    </a:cubicBezTo>
                    <a:lnTo>
                      <a:pt x="166688" y="86320"/>
                    </a:lnTo>
                    <a:lnTo>
                      <a:pt x="166688" y="65484"/>
                    </a:lnTo>
                    <a:lnTo>
                      <a:pt x="181570" y="65484"/>
                    </a:lnTo>
                    <a:cubicBezTo>
                      <a:pt x="186519" y="65484"/>
                      <a:pt x="190500" y="61503"/>
                      <a:pt x="190500" y="56555"/>
                    </a:cubicBezTo>
                    <a:cubicBezTo>
                      <a:pt x="190500" y="51606"/>
                      <a:pt x="186519" y="47625"/>
                      <a:pt x="181570" y="47625"/>
                    </a:cubicBezTo>
                    <a:lnTo>
                      <a:pt x="166688" y="47625"/>
                    </a:lnTo>
                    <a:cubicBezTo>
                      <a:pt x="166688" y="34491"/>
                      <a:pt x="156009" y="23812"/>
                      <a:pt x="142875" y="23812"/>
                    </a:cubicBezTo>
                    <a:lnTo>
                      <a:pt x="142875" y="8930"/>
                    </a:lnTo>
                    <a:cubicBezTo>
                      <a:pt x="142875" y="3981"/>
                      <a:pt x="138894" y="0"/>
                      <a:pt x="133945" y="0"/>
                    </a:cubicBezTo>
                    <a:cubicBezTo>
                      <a:pt x="128997" y="0"/>
                      <a:pt x="125016" y="3981"/>
                      <a:pt x="125016" y="8930"/>
                    </a:cubicBezTo>
                    <a:lnTo>
                      <a:pt x="125016" y="23812"/>
                    </a:lnTo>
                    <a:lnTo>
                      <a:pt x="104180" y="23812"/>
                    </a:lnTo>
                    <a:lnTo>
                      <a:pt x="104180" y="8930"/>
                    </a:lnTo>
                    <a:cubicBezTo>
                      <a:pt x="104180" y="3981"/>
                      <a:pt x="100199" y="0"/>
                      <a:pt x="95250" y="0"/>
                    </a:cubicBezTo>
                    <a:cubicBezTo>
                      <a:pt x="90301" y="0"/>
                      <a:pt x="86320" y="3981"/>
                      <a:pt x="86320" y="8930"/>
                    </a:cubicBezTo>
                    <a:lnTo>
                      <a:pt x="86320" y="23812"/>
                    </a:lnTo>
                    <a:lnTo>
                      <a:pt x="65484" y="23812"/>
                    </a:lnTo>
                    <a:lnTo>
                      <a:pt x="65484" y="8930"/>
                    </a:lnTo>
                    <a:close/>
                    <a:moveTo>
                      <a:pt x="59531" y="47625"/>
                    </a:moveTo>
                    <a:lnTo>
                      <a:pt x="130969" y="47625"/>
                    </a:lnTo>
                    <a:cubicBezTo>
                      <a:pt x="137554" y="47625"/>
                      <a:pt x="142875" y="52946"/>
                      <a:pt x="142875" y="59531"/>
                    </a:cubicBezTo>
                    <a:lnTo>
                      <a:pt x="142875" y="130969"/>
                    </a:lnTo>
                    <a:cubicBezTo>
                      <a:pt x="142875" y="137554"/>
                      <a:pt x="137554" y="142875"/>
                      <a:pt x="130969" y="142875"/>
                    </a:cubicBezTo>
                    <a:lnTo>
                      <a:pt x="59531" y="142875"/>
                    </a:lnTo>
                    <a:cubicBezTo>
                      <a:pt x="52946" y="142875"/>
                      <a:pt x="47625" y="137554"/>
                      <a:pt x="47625" y="130969"/>
                    </a:cubicBezTo>
                    <a:lnTo>
                      <a:pt x="47625" y="59531"/>
                    </a:lnTo>
                    <a:cubicBezTo>
                      <a:pt x="47625" y="52946"/>
                      <a:pt x="52946" y="47625"/>
                      <a:pt x="59531" y="47625"/>
                    </a:cubicBezTo>
                    <a:close/>
                    <a:moveTo>
                      <a:pt x="65484" y="65484"/>
                    </a:moveTo>
                    <a:lnTo>
                      <a:pt x="65484" y="125016"/>
                    </a:lnTo>
                    <a:lnTo>
                      <a:pt x="125016" y="125016"/>
                    </a:lnTo>
                    <a:lnTo>
                      <a:pt x="125016" y="65484"/>
                    </a:lnTo>
                    <a:lnTo>
                      <a:pt x="65484" y="65484"/>
                    </a:lnTo>
                    <a:close/>
                  </a:path>
                </a:pathLst>
              </a:custGeom>
              <a:solidFill>
                <a:srgbClr val="E07A5F"/>
              </a:solidFill>
            </p:spPr>
          </p:sp>
          <p:sp>
            <p:nvSpPr>
              <p:cNvPr id="34" name="Text 57"/>
              <p:cNvSpPr/>
              <p:nvPr/>
            </p:nvSpPr>
            <p:spPr>
              <a:xfrm>
                <a:off x="10072705" y="5245695"/>
                <a:ext cx="1571625" cy="190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100" dirty="0">
                    <a:solidFill>
                      <a:schemeClr val="bg2">
                        <a:lumMod val="50000"/>
                      </a:schemeClr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Kernel</a:t>
                </a:r>
                <a:endParaRPr lang="en-US" sz="11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5361004" y="3764010"/>
              <a:ext cx="1571625" cy="444469"/>
              <a:chOff x="8246969" y="4991726"/>
              <a:chExt cx="1571625" cy="444469"/>
            </a:xfrm>
          </p:grpSpPr>
          <p:sp>
            <p:nvSpPr>
              <p:cNvPr id="36" name="Shape 53"/>
              <p:cNvSpPr/>
              <p:nvPr/>
            </p:nvSpPr>
            <p:spPr>
              <a:xfrm>
                <a:off x="8937642" y="4991726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44648" y="20836"/>
                    </a:moveTo>
                    <a:cubicBezTo>
                      <a:pt x="44648" y="9339"/>
                      <a:pt x="53987" y="0"/>
                      <a:pt x="65484" y="0"/>
                    </a:cubicBezTo>
                    <a:lnTo>
                      <a:pt x="74414" y="0"/>
                    </a:lnTo>
                    <a:cubicBezTo>
                      <a:pt x="81000" y="0"/>
                      <a:pt x="86320" y="5321"/>
                      <a:pt x="86320" y="11906"/>
                    </a:cubicBezTo>
                    <a:lnTo>
                      <a:pt x="86320" y="178594"/>
                    </a:lnTo>
                    <a:cubicBezTo>
                      <a:pt x="86320" y="185179"/>
                      <a:pt x="81000" y="190500"/>
                      <a:pt x="74414" y="190500"/>
                    </a:cubicBezTo>
                    <a:lnTo>
                      <a:pt x="62508" y="190500"/>
                    </a:lnTo>
                    <a:cubicBezTo>
                      <a:pt x="51420" y="190500"/>
                      <a:pt x="42081" y="182910"/>
                      <a:pt x="39439" y="172641"/>
                    </a:cubicBezTo>
                    <a:cubicBezTo>
                      <a:pt x="39179" y="172641"/>
                      <a:pt x="38956" y="172641"/>
                      <a:pt x="38695" y="172641"/>
                    </a:cubicBezTo>
                    <a:cubicBezTo>
                      <a:pt x="22250" y="172641"/>
                      <a:pt x="8930" y="159321"/>
                      <a:pt x="8930" y="142875"/>
                    </a:cubicBezTo>
                    <a:cubicBezTo>
                      <a:pt x="8930" y="136178"/>
                      <a:pt x="11162" y="130001"/>
                      <a:pt x="14883" y="125016"/>
                    </a:cubicBezTo>
                    <a:cubicBezTo>
                      <a:pt x="7665" y="119583"/>
                      <a:pt x="2977" y="110951"/>
                      <a:pt x="2977" y="101203"/>
                    </a:cubicBezTo>
                    <a:cubicBezTo>
                      <a:pt x="2977" y="89706"/>
                      <a:pt x="9525" y="79697"/>
                      <a:pt x="19050" y="74749"/>
                    </a:cubicBezTo>
                    <a:cubicBezTo>
                      <a:pt x="16408" y="70284"/>
                      <a:pt x="14883" y="65075"/>
                      <a:pt x="14883" y="59531"/>
                    </a:cubicBezTo>
                    <a:cubicBezTo>
                      <a:pt x="14883" y="43086"/>
                      <a:pt x="28203" y="29766"/>
                      <a:pt x="44648" y="29766"/>
                    </a:cubicBezTo>
                    <a:lnTo>
                      <a:pt x="44648" y="20836"/>
                    </a:lnTo>
                    <a:close/>
                    <a:moveTo>
                      <a:pt x="145852" y="20836"/>
                    </a:moveTo>
                    <a:lnTo>
                      <a:pt x="145852" y="29766"/>
                    </a:lnTo>
                    <a:cubicBezTo>
                      <a:pt x="162297" y="29766"/>
                      <a:pt x="175617" y="43086"/>
                      <a:pt x="175617" y="59531"/>
                    </a:cubicBezTo>
                    <a:cubicBezTo>
                      <a:pt x="175617" y="65112"/>
                      <a:pt x="174092" y="70321"/>
                      <a:pt x="171450" y="74749"/>
                    </a:cubicBezTo>
                    <a:cubicBezTo>
                      <a:pt x="181012" y="79697"/>
                      <a:pt x="187523" y="89669"/>
                      <a:pt x="187523" y="101203"/>
                    </a:cubicBezTo>
                    <a:cubicBezTo>
                      <a:pt x="187523" y="110951"/>
                      <a:pt x="182835" y="119583"/>
                      <a:pt x="175617" y="125016"/>
                    </a:cubicBezTo>
                    <a:cubicBezTo>
                      <a:pt x="179338" y="130001"/>
                      <a:pt x="181570" y="136178"/>
                      <a:pt x="181570" y="142875"/>
                    </a:cubicBezTo>
                    <a:cubicBezTo>
                      <a:pt x="181570" y="159321"/>
                      <a:pt x="168250" y="172641"/>
                      <a:pt x="151805" y="172641"/>
                    </a:cubicBezTo>
                    <a:cubicBezTo>
                      <a:pt x="151544" y="172641"/>
                      <a:pt x="151321" y="172641"/>
                      <a:pt x="151061" y="172641"/>
                    </a:cubicBezTo>
                    <a:cubicBezTo>
                      <a:pt x="148419" y="182910"/>
                      <a:pt x="139080" y="190500"/>
                      <a:pt x="127992" y="190500"/>
                    </a:cubicBezTo>
                    <a:lnTo>
                      <a:pt x="116086" y="190500"/>
                    </a:lnTo>
                    <a:cubicBezTo>
                      <a:pt x="109500" y="190500"/>
                      <a:pt x="104180" y="185179"/>
                      <a:pt x="104180" y="178594"/>
                    </a:cubicBezTo>
                    <a:lnTo>
                      <a:pt x="104180" y="11906"/>
                    </a:lnTo>
                    <a:cubicBezTo>
                      <a:pt x="104180" y="5321"/>
                      <a:pt x="109500" y="0"/>
                      <a:pt x="116086" y="0"/>
                    </a:cubicBezTo>
                    <a:lnTo>
                      <a:pt x="125016" y="0"/>
                    </a:lnTo>
                    <a:cubicBezTo>
                      <a:pt x="136513" y="0"/>
                      <a:pt x="145852" y="9339"/>
                      <a:pt x="145852" y="20836"/>
                    </a:cubicBezTo>
                    <a:close/>
                  </a:path>
                </a:pathLst>
              </a:custGeom>
              <a:solidFill>
                <a:srgbClr val="4A6C8C"/>
              </a:solidFill>
            </p:spPr>
          </p:sp>
          <p:sp>
            <p:nvSpPr>
              <p:cNvPr id="37" name="Text 54"/>
              <p:cNvSpPr/>
              <p:nvPr/>
            </p:nvSpPr>
            <p:spPr>
              <a:xfrm>
                <a:off x="8246969" y="5245695"/>
                <a:ext cx="1571625" cy="190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100" dirty="0">
                    <a:solidFill>
                      <a:schemeClr val="bg2">
                        <a:lumMod val="50000"/>
                      </a:schemeClr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Deep Learning</a:t>
                </a:r>
                <a:endParaRPr lang="en-US" sz="11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6422957" y="3776734"/>
              <a:ext cx="1571625" cy="444469"/>
              <a:chOff x="6421294" y="4991726"/>
              <a:chExt cx="1571625" cy="444469"/>
            </a:xfrm>
          </p:grpSpPr>
          <p:sp>
            <p:nvSpPr>
              <p:cNvPr id="39" name="Shape 50"/>
              <p:cNvSpPr/>
              <p:nvPr/>
            </p:nvSpPr>
            <p:spPr>
              <a:xfrm>
                <a:off x="7123812" y="4991726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59717" y="-9823"/>
                    </a:moveTo>
                    <a:cubicBezTo>
                      <a:pt x="63178" y="-12725"/>
                      <a:pt x="68275" y="-12613"/>
                      <a:pt x="71586" y="-9488"/>
                    </a:cubicBezTo>
                    <a:cubicBezTo>
                      <a:pt x="76163" y="-5172"/>
                      <a:pt x="80256" y="-409"/>
                      <a:pt x="84200" y="4428"/>
                    </a:cubicBezTo>
                    <a:cubicBezTo>
                      <a:pt x="89222" y="10567"/>
                      <a:pt x="95250" y="18678"/>
                      <a:pt x="101054" y="28315"/>
                    </a:cubicBezTo>
                    <a:cubicBezTo>
                      <a:pt x="102989" y="25784"/>
                      <a:pt x="104775" y="23552"/>
                      <a:pt x="106338" y="21654"/>
                    </a:cubicBezTo>
                    <a:cubicBezTo>
                      <a:pt x="106747" y="21171"/>
                      <a:pt x="107156" y="20650"/>
                      <a:pt x="107566" y="20129"/>
                    </a:cubicBezTo>
                    <a:cubicBezTo>
                      <a:pt x="110505" y="16483"/>
                      <a:pt x="114151" y="11906"/>
                      <a:pt x="119025" y="11906"/>
                    </a:cubicBezTo>
                    <a:cubicBezTo>
                      <a:pt x="124011" y="11906"/>
                      <a:pt x="127508" y="16334"/>
                      <a:pt x="130485" y="20129"/>
                    </a:cubicBezTo>
                    <a:cubicBezTo>
                      <a:pt x="130969" y="20762"/>
                      <a:pt x="131452" y="21357"/>
                      <a:pt x="131936" y="21915"/>
                    </a:cubicBezTo>
                    <a:cubicBezTo>
                      <a:pt x="135768" y="26529"/>
                      <a:pt x="140866" y="33189"/>
                      <a:pt x="145963" y="41411"/>
                    </a:cubicBezTo>
                    <a:cubicBezTo>
                      <a:pt x="156083" y="57745"/>
                      <a:pt x="166650" y="81000"/>
                      <a:pt x="166650" y="107119"/>
                    </a:cubicBezTo>
                    <a:cubicBezTo>
                      <a:pt x="166650" y="153144"/>
                      <a:pt x="129332" y="190463"/>
                      <a:pt x="83307" y="190463"/>
                    </a:cubicBezTo>
                    <a:cubicBezTo>
                      <a:pt x="37281" y="190463"/>
                      <a:pt x="0" y="153181"/>
                      <a:pt x="0" y="107156"/>
                    </a:cubicBezTo>
                    <a:cubicBezTo>
                      <a:pt x="0" y="73261"/>
                      <a:pt x="15292" y="43904"/>
                      <a:pt x="29952" y="23440"/>
                    </a:cubicBezTo>
                    <a:cubicBezTo>
                      <a:pt x="37356" y="13134"/>
                      <a:pt x="44723" y="4874"/>
                      <a:pt x="50267" y="-781"/>
                    </a:cubicBezTo>
                    <a:cubicBezTo>
                      <a:pt x="53318" y="-3907"/>
                      <a:pt x="56406" y="-6995"/>
                      <a:pt x="59754" y="-9785"/>
                    </a:cubicBezTo>
                    <a:close/>
                    <a:moveTo>
                      <a:pt x="83976" y="154781"/>
                    </a:moveTo>
                    <a:cubicBezTo>
                      <a:pt x="93390" y="154781"/>
                      <a:pt x="101724" y="152177"/>
                      <a:pt x="109575" y="146968"/>
                    </a:cubicBezTo>
                    <a:cubicBezTo>
                      <a:pt x="125239" y="136029"/>
                      <a:pt x="129443" y="114151"/>
                      <a:pt x="120030" y="96962"/>
                    </a:cubicBezTo>
                    <a:cubicBezTo>
                      <a:pt x="118356" y="93613"/>
                      <a:pt x="114077" y="93390"/>
                      <a:pt x="111658" y="96217"/>
                    </a:cubicBezTo>
                    <a:lnTo>
                      <a:pt x="102282" y="107119"/>
                    </a:lnTo>
                    <a:cubicBezTo>
                      <a:pt x="99826" y="109947"/>
                      <a:pt x="95399" y="109872"/>
                      <a:pt x="93092" y="106933"/>
                    </a:cubicBezTo>
                    <a:cubicBezTo>
                      <a:pt x="86655" y="98710"/>
                      <a:pt x="74823" y="83716"/>
                      <a:pt x="68796" y="76051"/>
                    </a:cubicBezTo>
                    <a:cubicBezTo>
                      <a:pt x="66787" y="73484"/>
                      <a:pt x="63140" y="73075"/>
                      <a:pt x="60796" y="75344"/>
                    </a:cubicBezTo>
                    <a:cubicBezTo>
                      <a:pt x="53987" y="81967"/>
                      <a:pt x="41635" y="96478"/>
                      <a:pt x="41635" y="114151"/>
                    </a:cubicBezTo>
                    <a:cubicBezTo>
                      <a:pt x="41635" y="139675"/>
                      <a:pt x="60461" y="154781"/>
                      <a:pt x="83939" y="154781"/>
                    </a:cubicBezTo>
                    <a:close/>
                  </a:path>
                </a:pathLst>
              </a:custGeom>
              <a:solidFill>
                <a:srgbClr val="E07A5F"/>
              </a:solidFill>
            </p:spPr>
          </p:sp>
          <p:sp>
            <p:nvSpPr>
              <p:cNvPr id="40" name="Text 51"/>
              <p:cNvSpPr/>
              <p:nvPr/>
            </p:nvSpPr>
            <p:spPr>
              <a:xfrm>
                <a:off x="6421294" y="5245695"/>
                <a:ext cx="1571625" cy="190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bg2">
                        <a:lumMod val="50000"/>
                      </a:schemeClr>
                    </a:solidFill>
                    <a:latin typeface="MiSans" panose="00000500000000000000" pitchFamily="34" charset="-122"/>
                    <a:ea typeface="MiSans" panose="00000500000000000000" pitchFamily="34" charset="-122"/>
                    <a:cs typeface="MiSans" panose="00000500000000000000" pitchFamily="34" charset="-120"/>
                  </a:rPr>
                  <a:t>PyTorch</a:t>
                </a:r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9796" y="623039"/>
            <a:ext cx="10529386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Triton Execution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0956" y="1694493"/>
            <a:ext cx="115157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Triton </a:t>
            </a:r>
            <a:r>
              <a:rPr lang="en-US" sz="1350" dirty="0" err="1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basic execution unit</a:t>
            </a:r>
            <a:r>
              <a:rPr lang="en-US" sz="135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r>
              <a:rPr lang="en-US" sz="150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program</a:t>
            </a:r>
            <a:r>
              <a:rPr lang="en-US" sz="135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multiple programs form a </a:t>
            </a:r>
            <a:r>
              <a:rPr lang="en-US" sz="150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grid</a:t>
            </a:r>
            <a:r>
              <a:rPr lang="en-US" sz="135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each program handles one data block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956" y="2354076"/>
            <a:ext cx="11430000" cy="2771775"/>
          </a:xfrm>
          <a:custGeom>
            <a:avLst/>
            <a:gdLst/>
            <a:ahLst/>
            <a:cxnLst/>
            <a:rect l="l" t="t" r="r" b="b"/>
            <a:pathLst>
              <a:path w="11430000" h="2771775">
                <a:moveTo>
                  <a:pt x="114308" y="0"/>
                </a:moveTo>
                <a:lnTo>
                  <a:pt x="11315692" y="0"/>
                </a:lnTo>
                <a:cubicBezTo>
                  <a:pt x="11378823" y="0"/>
                  <a:pt x="11430000" y="51177"/>
                  <a:pt x="11430000" y="114308"/>
                </a:cubicBezTo>
                <a:lnTo>
                  <a:pt x="11430000" y="2657467"/>
                </a:lnTo>
                <a:cubicBezTo>
                  <a:pt x="11430000" y="2720598"/>
                  <a:pt x="11378823" y="2771775"/>
                  <a:pt x="11315692" y="2771775"/>
                </a:cubicBezTo>
                <a:lnTo>
                  <a:pt x="114308" y="2771775"/>
                </a:lnTo>
                <a:cubicBezTo>
                  <a:pt x="51177" y="2771775"/>
                  <a:pt x="0" y="2720598"/>
                  <a:pt x="0" y="26574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9FAFB"/>
          </a:solidFill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09529" y="2582649"/>
          <a:ext cx="10972800" cy="2314576"/>
        </p:xfrm>
        <a:graphic>
          <a:graphicData uri="http://schemas.openxmlformats.org/drawingml/2006/table">
            <a:tbl>
              <a:tblPr/>
              <a:tblGrid>
                <a:gridCol w="515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64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01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CUDA Concept</a:t>
                      </a:r>
                      <a:endParaRPr lang="en-US"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dirty="0">
                          <a:solidFill>
                            <a:srgbClr val="99A1A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⇄</a:t>
                      </a:r>
                      <a:endParaRPr lang="en-US"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01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Triton Concept</a:t>
                      </a:r>
                      <a:endParaRPr lang="en-US"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thread block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99A1A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=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program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blockIdx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99A1A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=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program_id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44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gridDim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99A1A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=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launch grid</a:t>
                      </a:r>
                      <a:endParaRPr lang="en-US" sz="1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80956" y="5353739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457198"/>
                </a:lnTo>
                <a:cubicBezTo>
                  <a:pt x="11430000" y="499283"/>
                  <a:pt x="11395883" y="533400"/>
                  <a:pt x="113537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Shape 6"/>
          <p:cNvSpPr/>
          <p:nvPr/>
        </p:nvSpPr>
        <p:spPr>
          <a:xfrm>
            <a:off x="590488" y="550612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7"/>
          <p:cNvSpPr/>
          <p:nvPr/>
        </p:nvSpPr>
        <p:spPr>
          <a:xfrm>
            <a:off x="971455" y="5506123"/>
            <a:ext cx="9565624" cy="15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Key Insight:</a:t>
            </a: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Triton's program corresponds to CUDA's thread block, but Triton operates on data in a vectorized manner rather than per-thread</a:t>
            </a:r>
            <a:endParaRPr 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80956" y="6324603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6897" y="623038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+mj-ea"/>
                <a:ea typeface="+mj-ea"/>
                <a:cs typeface="MiSans" panose="00000500000000000000" pitchFamily="34" charset="-120"/>
              </a:rPr>
              <a:t>Vector Add Problem Definition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0956" y="1356854"/>
            <a:ext cx="3916626" cy="1575527"/>
          </a:xfrm>
          <a:custGeom>
            <a:avLst/>
            <a:gdLst/>
            <a:ahLst/>
            <a:cxnLst/>
            <a:rect l="l" t="t" r="r" b="b"/>
            <a:pathLst>
              <a:path w="4038600" h="2286000">
                <a:moveTo>
                  <a:pt x="152408" y="0"/>
                </a:moveTo>
                <a:lnTo>
                  <a:pt x="3886192" y="0"/>
                </a:lnTo>
                <a:cubicBezTo>
                  <a:pt x="3970365" y="0"/>
                  <a:pt x="4038600" y="68235"/>
                  <a:pt x="4038600" y="152408"/>
                </a:cubicBezTo>
                <a:lnTo>
                  <a:pt x="4038600" y="2133592"/>
                </a:lnTo>
                <a:cubicBezTo>
                  <a:pt x="4038600" y="2217765"/>
                  <a:pt x="3970365" y="2286000"/>
                  <a:pt x="3886192" y="2286000"/>
                </a:cubicBezTo>
                <a:lnTo>
                  <a:pt x="152408" y="2286000"/>
                </a:lnTo>
                <a:cubicBezTo>
                  <a:pt x="68235" y="2286000"/>
                  <a:pt x="0" y="2217765"/>
                  <a:pt x="0" y="21335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9FAFB"/>
          </a:solidFill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35" name="组合 34"/>
          <p:cNvGrpSpPr/>
          <p:nvPr/>
        </p:nvGrpSpPr>
        <p:grpSpPr>
          <a:xfrm>
            <a:off x="494853" y="1522995"/>
            <a:ext cx="3514725" cy="1180919"/>
            <a:chOff x="623728" y="1611246"/>
            <a:chExt cx="3514725" cy="1180919"/>
          </a:xfrm>
        </p:grpSpPr>
        <p:sp>
          <p:nvSpPr>
            <p:cNvPr id="7" name="Shape 5"/>
            <p:cNvSpPr/>
            <p:nvPr/>
          </p:nvSpPr>
          <p:spPr>
            <a:xfrm>
              <a:off x="685546" y="1611246"/>
              <a:ext cx="3409855" cy="762000"/>
            </a:xfrm>
            <a:custGeom>
              <a:avLst/>
              <a:gdLst/>
              <a:ahLst/>
              <a:cxnLst/>
              <a:rect l="l" t="t" r="r" b="b"/>
              <a:pathLst>
                <a:path w="3409855" h="762000">
                  <a:moveTo>
                    <a:pt x="37910" y="0"/>
                  </a:moveTo>
                  <a:lnTo>
                    <a:pt x="3333655" y="0"/>
                  </a:lnTo>
                  <a:cubicBezTo>
                    <a:pt x="3375711" y="0"/>
                    <a:pt x="3409855" y="34144"/>
                    <a:pt x="3409855" y="76200"/>
                  </a:cubicBezTo>
                  <a:lnTo>
                    <a:pt x="3409855" y="685800"/>
                  </a:lnTo>
                  <a:cubicBezTo>
                    <a:pt x="3409855" y="727856"/>
                    <a:pt x="3375711" y="762000"/>
                    <a:pt x="3333655" y="762000"/>
                  </a:cubicBezTo>
                  <a:lnTo>
                    <a:pt x="37910" y="762000"/>
                  </a:lnTo>
                  <a:cubicBezTo>
                    <a:pt x="16973" y="762000"/>
                    <a:pt x="0" y="745027"/>
                    <a:pt x="0" y="7240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8" name="Shape 6"/>
            <p:cNvSpPr/>
            <p:nvPr/>
          </p:nvSpPr>
          <p:spPr>
            <a:xfrm>
              <a:off x="685546" y="1611246"/>
              <a:ext cx="37910" cy="762000"/>
            </a:xfrm>
            <a:custGeom>
              <a:avLst/>
              <a:gdLst/>
              <a:ahLst/>
              <a:cxnLst/>
              <a:rect l="l" t="t" r="r" b="b"/>
              <a:pathLst>
                <a:path w="37910" h="762000">
                  <a:moveTo>
                    <a:pt x="37910" y="0"/>
                  </a:moveTo>
                  <a:lnTo>
                    <a:pt x="37910" y="0"/>
                  </a:lnTo>
                  <a:lnTo>
                    <a:pt x="37910" y="762000"/>
                  </a:lnTo>
                  <a:lnTo>
                    <a:pt x="37910" y="762000"/>
                  </a:lnTo>
                  <a:cubicBezTo>
                    <a:pt x="16973" y="762000"/>
                    <a:pt x="0" y="745027"/>
                    <a:pt x="0" y="7240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9" name="Text 7"/>
            <p:cNvSpPr/>
            <p:nvPr/>
          </p:nvSpPr>
          <p:spPr>
            <a:xfrm>
              <a:off x="875924" y="1839818"/>
              <a:ext cx="30480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c[i] = a[i] + b[i]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23728" y="2525465"/>
              <a:ext cx="35147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Element-wise addition of two vectors, storing results in a third vector</a:t>
              </a:r>
              <a:endParaRPr lang="en-US" sz="1600" dirty="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80956" y="3052629"/>
            <a:ext cx="5325128" cy="1575128"/>
            <a:chOff x="443763" y="4095513"/>
            <a:chExt cx="4878448" cy="1575128"/>
          </a:xfrm>
        </p:grpSpPr>
        <p:sp>
          <p:nvSpPr>
            <p:cNvPr id="11" name="Shape 9"/>
            <p:cNvSpPr/>
            <p:nvPr/>
          </p:nvSpPr>
          <p:spPr>
            <a:xfrm>
              <a:off x="443763" y="4095513"/>
              <a:ext cx="4712682" cy="1485688"/>
            </a:xfrm>
            <a:custGeom>
              <a:avLst/>
              <a:gdLst/>
              <a:ahLst/>
              <a:cxnLst/>
              <a:rect l="l" t="t" r="r" b="b"/>
              <a:pathLst>
                <a:path w="5562600" h="2019300">
                  <a:moveTo>
                    <a:pt x="114292" y="0"/>
                  </a:moveTo>
                  <a:lnTo>
                    <a:pt x="5448308" y="0"/>
                  </a:lnTo>
                  <a:cubicBezTo>
                    <a:pt x="5511430" y="0"/>
                    <a:pt x="5562600" y="51170"/>
                    <a:pt x="5562600" y="114292"/>
                  </a:cubicBezTo>
                  <a:lnTo>
                    <a:pt x="5562600" y="1905008"/>
                  </a:lnTo>
                  <a:cubicBezTo>
                    <a:pt x="5562600" y="1968130"/>
                    <a:pt x="5511430" y="2019300"/>
                    <a:pt x="5448308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638104" y="432408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0025" y="114300"/>
                  </a:moveTo>
                  <a:cubicBezTo>
                    <a:pt x="200025" y="66987"/>
                    <a:pt x="161613" y="28575"/>
                    <a:pt x="114300" y="28575"/>
                  </a:cubicBezTo>
                  <a:cubicBezTo>
                    <a:pt x="66987" y="28575"/>
                    <a:pt x="28575" y="66987"/>
                    <a:pt x="28575" y="114300"/>
                  </a:cubicBezTo>
                  <a:cubicBezTo>
                    <a:pt x="28575" y="161613"/>
                    <a:pt x="66987" y="200025"/>
                    <a:pt x="114300" y="200025"/>
                  </a:cubicBezTo>
                  <a:cubicBezTo>
                    <a:pt x="161613" y="200025"/>
                    <a:pt x="200025" y="161613"/>
                    <a:pt x="200025" y="114300"/>
                  </a:cubicBezTo>
                  <a:close/>
                  <a:moveTo>
                    <a:pt x="0" y="114300"/>
                  </a:moveTo>
                  <a:cubicBezTo>
                    <a:pt x="0" y="51216"/>
                    <a:pt x="51216" y="0"/>
                    <a:pt x="114300" y="0"/>
                  </a:cubicBezTo>
                  <a:cubicBezTo>
                    <a:pt x="177384" y="0"/>
                    <a:pt x="228600" y="51216"/>
                    <a:pt x="228600" y="114300"/>
                  </a:cubicBezTo>
                  <a:cubicBezTo>
                    <a:pt x="228600" y="177384"/>
                    <a:pt x="177384" y="228600"/>
                    <a:pt x="114300" y="228600"/>
                  </a:cubicBezTo>
                  <a:cubicBezTo>
                    <a:pt x="51216" y="228600"/>
                    <a:pt x="0" y="177384"/>
                    <a:pt x="0" y="114300"/>
                  </a:cubicBezTo>
                  <a:close/>
                  <a:moveTo>
                    <a:pt x="114300" y="150019"/>
                  </a:moveTo>
                  <a:cubicBezTo>
                    <a:pt x="134014" y="150019"/>
                    <a:pt x="150019" y="134014"/>
                    <a:pt x="150019" y="114300"/>
                  </a:cubicBezTo>
                  <a:cubicBezTo>
                    <a:pt x="150019" y="94586"/>
                    <a:pt x="134014" y="78581"/>
                    <a:pt x="114300" y="78581"/>
                  </a:cubicBezTo>
                  <a:cubicBezTo>
                    <a:pt x="94586" y="78581"/>
                    <a:pt x="78581" y="94586"/>
                    <a:pt x="78581" y="114300"/>
                  </a:cubicBezTo>
                  <a:cubicBezTo>
                    <a:pt x="78581" y="134014"/>
                    <a:pt x="94586" y="150019"/>
                    <a:pt x="114300" y="150019"/>
                  </a:cubicBezTo>
                  <a:close/>
                  <a:moveTo>
                    <a:pt x="114300" y="50006"/>
                  </a:moveTo>
                  <a:cubicBezTo>
                    <a:pt x="149785" y="50006"/>
                    <a:pt x="178594" y="78815"/>
                    <a:pt x="178594" y="114300"/>
                  </a:cubicBezTo>
                  <a:cubicBezTo>
                    <a:pt x="178594" y="149785"/>
                    <a:pt x="149785" y="178594"/>
                    <a:pt x="114300" y="178594"/>
                  </a:cubicBezTo>
                  <a:cubicBezTo>
                    <a:pt x="78815" y="178594"/>
                    <a:pt x="50006" y="149785"/>
                    <a:pt x="50006" y="114300"/>
                  </a:cubicBezTo>
                  <a:cubicBezTo>
                    <a:pt x="50006" y="78815"/>
                    <a:pt x="78815" y="50006"/>
                    <a:pt x="114300" y="50006"/>
                  </a:cubicBezTo>
                  <a:close/>
                  <a:moveTo>
                    <a:pt x="100013" y="114300"/>
                  </a:moveTo>
                  <a:cubicBezTo>
                    <a:pt x="100013" y="106415"/>
                    <a:pt x="106415" y="100013"/>
                    <a:pt x="114300" y="100013"/>
                  </a:cubicBezTo>
                  <a:cubicBezTo>
                    <a:pt x="122185" y="100013"/>
                    <a:pt x="128588" y="106415"/>
                    <a:pt x="128588" y="114300"/>
                  </a:cubicBezTo>
                  <a:cubicBezTo>
                    <a:pt x="128588" y="122185"/>
                    <a:pt x="122185" y="128588"/>
                    <a:pt x="114300" y="128588"/>
                  </a:cubicBezTo>
                  <a:cubicBezTo>
                    <a:pt x="106415" y="128588"/>
                    <a:pt x="100013" y="122185"/>
                    <a:pt x="100013" y="11430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1009514" y="4305056"/>
              <a:ext cx="659448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Goals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09529" y="4724144"/>
              <a:ext cx="25717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857206" y="4724144"/>
              <a:ext cx="446500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Parallel computation</a:t>
              </a:r>
              <a:r>
                <a:rPr lang="en-US" sz="135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: fully leverage GPU parallel capabilities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09529" y="5105100"/>
              <a:ext cx="25717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52456" y="5184954"/>
              <a:ext cx="4299239" cy="4856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364153"/>
                  </a:solidFill>
                  <a:latin typeface="+mn-ea"/>
                  <a:cs typeface="MiSans" panose="00000500000000000000" pitchFamily="34" charset="-120"/>
                </a:rPr>
                <a:t>Block processing</a:t>
              </a:r>
              <a:r>
                <a:rPr lang="en-US" sz="1350" dirty="0">
                  <a:solidFill>
                    <a:srgbClr val="364153"/>
                  </a:solidFill>
                  <a:latin typeface="+mn-ea"/>
                  <a:cs typeface="MiSans" panose="00000500000000000000" pitchFamily="34" charset="-120"/>
                </a:rPr>
                <a:t>: each program handles BLOCK_SIZE elements</a:t>
              </a:r>
              <a:endParaRPr lang="en-US" sz="1600" dirty="0">
                <a:latin typeface="+mn-ea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00803" y="4662117"/>
            <a:ext cx="5202197" cy="2019300"/>
            <a:chOff x="6248337" y="4076484"/>
            <a:chExt cx="5562599" cy="2019300"/>
          </a:xfrm>
        </p:grpSpPr>
        <p:sp>
          <p:nvSpPr>
            <p:cNvPr id="18" name="Shape 16"/>
            <p:cNvSpPr/>
            <p:nvPr/>
          </p:nvSpPr>
          <p:spPr>
            <a:xfrm>
              <a:off x="6248337" y="4076484"/>
              <a:ext cx="5562599" cy="2019300"/>
            </a:xfrm>
            <a:custGeom>
              <a:avLst/>
              <a:gdLst/>
              <a:ahLst/>
              <a:cxnLst/>
              <a:rect l="l" t="t" r="r" b="b"/>
              <a:pathLst>
                <a:path w="5562600" h="2019300">
                  <a:moveTo>
                    <a:pt x="114292" y="0"/>
                  </a:moveTo>
                  <a:lnTo>
                    <a:pt x="5448308" y="0"/>
                  </a:lnTo>
                  <a:cubicBezTo>
                    <a:pt x="5511430" y="0"/>
                    <a:pt x="5562600" y="51170"/>
                    <a:pt x="5562600" y="114292"/>
                  </a:cubicBezTo>
                  <a:lnTo>
                    <a:pt x="5562600" y="1905008"/>
                  </a:lnTo>
                  <a:cubicBezTo>
                    <a:pt x="5562600" y="1968130"/>
                    <a:pt x="5511430" y="2019300"/>
                    <a:pt x="5448308" y="2019300"/>
                  </a:cubicBezTo>
                  <a:lnTo>
                    <a:pt x="114292" y="2019300"/>
                  </a:lnTo>
                  <a:cubicBezTo>
                    <a:pt x="51170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51213" y="0"/>
                    <a:pt x="11429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9" name="Shape 17"/>
            <p:cNvSpPr/>
            <p:nvPr/>
          </p:nvSpPr>
          <p:spPr>
            <a:xfrm>
              <a:off x="6505486" y="432408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85725" y="28575"/>
                  </a:moveTo>
                  <a:cubicBezTo>
                    <a:pt x="85725" y="20672"/>
                    <a:pt x="92110" y="14288"/>
                    <a:pt x="100013" y="14288"/>
                  </a:cubicBezTo>
                  <a:lnTo>
                    <a:pt x="128588" y="14288"/>
                  </a:lnTo>
                  <a:cubicBezTo>
                    <a:pt x="136490" y="14288"/>
                    <a:pt x="142875" y="20672"/>
                    <a:pt x="142875" y="28575"/>
                  </a:cubicBezTo>
                  <a:lnTo>
                    <a:pt x="142875" y="57150"/>
                  </a:lnTo>
                  <a:cubicBezTo>
                    <a:pt x="142875" y="65053"/>
                    <a:pt x="136490" y="71438"/>
                    <a:pt x="128588" y="71438"/>
                  </a:cubicBezTo>
                  <a:lnTo>
                    <a:pt x="125016" y="71438"/>
                  </a:lnTo>
                  <a:lnTo>
                    <a:pt x="125016" y="100013"/>
                  </a:lnTo>
                  <a:lnTo>
                    <a:pt x="178594" y="100013"/>
                  </a:lnTo>
                  <a:cubicBezTo>
                    <a:pt x="196364" y="100013"/>
                    <a:pt x="210741" y="114389"/>
                    <a:pt x="210741" y="132159"/>
                  </a:cubicBezTo>
                  <a:lnTo>
                    <a:pt x="210741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lnTo>
                    <a:pt x="228600" y="200025"/>
                  </a:lnTo>
                  <a:cubicBezTo>
                    <a:pt x="228600" y="207928"/>
                    <a:pt x="222215" y="214313"/>
                    <a:pt x="214313" y="214313"/>
                  </a:cubicBezTo>
                  <a:lnTo>
                    <a:pt x="185738" y="214313"/>
                  </a:lnTo>
                  <a:cubicBezTo>
                    <a:pt x="177835" y="214313"/>
                    <a:pt x="171450" y="207928"/>
                    <a:pt x="171450" y="200025"/>
                  </a:cubicBezTo>
                  <a:lnTo>
                    <a:pt x="171450" y="171450"/>
                  </a:lnTo>
                  <a:cubicBezTo>
                    <a:pt x="171450" y="163547"/>
                    <a:pt x="177835" y="157163"/>
                    <a:pt x="185738" y="157163"/>
                  </a:cubicBezTo>
                  <a:lnTo>
                    <a:pt x="189309" y="157163"/>
                  </a:lnTo>
                  <a:lnTo>
                    <a:pt x="189309" y="132159"/>
                  </a:lnTo>
                  <a:cubicBezTo>
                    <a:pt x="189309" y="126221"/>
                    <a:pt x="184532" y="121444"/>
                    <a:pt x="178594" y="121444"/>
                  </a:cubicBezTo>
                  <a:lnTo>
                    <a:pt x="125016" y="121444"/>
                  </a:lnTo>
                  <a:lnTo>
                    <a:pt x="125016" y="157163"/>
                  </a:lnTo>
                  <a:lnTo>
                    <a:pt x="128588" y="157163"/>
                  </a:lnTo>
                  <a:cubicBezTo>
                    <a:pt x="136490" y="157163"/>
                    <a:pt x="142875" y="163547"/>
                    <a:pt x="142875" y="171450"/>
                  </a:cubicBezTo>
                  <a:lnTo>
                    <a:pt x="142875" y="200025"/>
                  </a:lnTo>
                  <a:cubicBezTo>
                    <a:pt x="142875" y="207928"/>
                    <a:pt x="136490" y="214313"/>
                    <a:pt x="128588" y="214313"/>
                  </a:cubicBezTo>
                  <a:lnTo>
                    <a:pt x="100013" y="214313"/>
                  </a:lnTo>
                  <a:cubicBezTo>
                    <a:pt x="92110" y="214313"/>
                    <a:pt x="85725" y="207928"/>
                    <a:pt x="85725" y="200025"/>
                  </a:cubicBezTo>
                  <a:lnTo>
                    <a:pt x="85725" y="171450"/>
                  </a:lnTo>
                  <a:cubicBezTo>
                    <a:pt x="85725" y="163547"/>
                    <a:pt x="92110" y="157163"/>
                    <a:pt x="100013" y="157163"/>
                  </a:cubicBezTo>
                  <a:lnTo>
                    <a:pt x="103584" y="157163"/>
                  </a:lnTo>
                  <a:lnTo>
                    <a:pt x="103584" y="121444"/>
                  </a:lnTo>
                  <a:lnTo>
                    <a:pt x="50006" y="121444"/>
                  </a:lnTo>
                  <a:cubicBezTo>
                    <a:pt x="44068" y="121444"/>
                    <a:pt x="39291" y="126221"/>
                    <a:pt x="39291" y="132159"/>
                  </a:cubicBezTo>
                  <a:lnTo>
                    <a:pt x="39291" y="157163"/>
                  </a:lnTo>
                  <a:lnTo>
                    <a:pt x="42863" y="157163"/>
                  </a:lnTo>
                  <a:cubicBezTo>
                    <a:pt x="50765" y="157163"/>
                    <a:pt x="57150" y="163547"/>
                    <a:pt x="57150" y="171450"/>
                  </a:cubicBezTo>
                  <a:lnTo>
                    <a:pt x="57150" y="200025"/>
                  </a:lnTo>
                  <a:cubicBezTo>
                    <a:pt x="57150" y="207928"/>
                    <a:pt x="50765" y="214313"/>
                    <a:pt x="42863" y="214313"/>
                  </a:cubicBezTo>
                  <a:lnTo>
                    <a:pt x="14288" y="214313"/>
                  </a:lnTo>
                  <a:cubicBezTo>
                    <a:pt x="6385" y="214313"/>
                    <a:pt x="0" y="207928"/>
                    <a:pt x="0" y="200025"/>
                  </a:cubicBezTo>
                  <a:lnTo>
                    <a:pt x="0" y="171450"/>
                  </a:lnTo>
                  <a:cubicBezTo>
                    <a:pt x="0" y="163547"/>
                    <a:pt x="6385" y="157163"/>
                    <a:pt x="14288" y="157163"/>
                  </a:cubicBezTo>
                  <a:lnTo>
                    <a:pt x="17859" y="157163"/>
                  </a:lnTo>
                  <a:lnTo>
                    <a:pt x="17859" y="132159"/>
                  </a:lnTo>
                  <a:cubicBezTo>
                    <a:pt x="17859" y="114389"/>
                    <a:pt x="32236" y="100013"/>
                    <a:pt x="50006" y="100013"/>
                  </a:cubicBezTo>
                  <a:lnTo>
                    <a:pt x="103584" y="100013"/>
                  </a:lnTo>
                  <a:lnTo>
                    <a:pt x="103584" y="71438"/>
                  </a:lnTo>
                  <a:lnTo>
                    <a:pt x="100013" y="71438"/>
                  </a:lnTo>
                  <a:cubicBezTo>
                    <a:pt x="92110" y="71438"/>
                    <a:pt x="85725" y="65053"/>
                    <a:pt x="85725" y="57150"/>
                  </a:cubicBezTo>
                  <a:lnTo>
                    <a:pt x="85725" y="28575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0" name="Text 18"/>
            <p:cNvSpPr/>
            <p:nvPr/>
          </p:nvSpPr>
          <p:spPr>
            <a:xfrm>
              <a:off x="6876897" y="4305056"/>
              <a:ext cx="2499513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Parallel Strategy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476911" y="472414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8100" y="0"/>
                  </a:moveTo>
                  <a:lnTo>
                    <a:pt x="266700" y="0"/>
                  </a:lnTo>
                  <a:cubicBezTo>
                    <a:pt x="287728" y="0"/>
                    <a:pt x="304800" y="17072"/>
                    <a:pt x="304800" y="38100"/>
                  </a:cubicBezTo>
                  <a:lnTo>
                    <a:pt x="304800" y="266700"/>
                  </a:lnTo>
                  <a:cubicBezTo>
                    <a:pt x="304800" y="287728"/>
                    <a:pt x="287728" y="304800"/>
                    <a:pt x="266700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6443574" y="4724144"/>
              <a:ext cx="371475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895925" y="4743173"/>
              <a:ext cx="2933833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Divide the vector into multiple data blocks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476911" y="514315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8100" y="0"/>
                  </a:moveTo>
                  <a:lnTo>
                    <a:pt x="266700" y="0"/>
                  </a:lnTo>
                  <a:cubicBezTo>
                    <a:pt x="287728" y="0"/>
                    <a:pt x="304800" y="17072"/>
                    <a:pt x="304800" y="38100"/>
                  </a:cubicBezTo>
                  <a:lnTo>
                    <a:pt x="304800" y="266700"/>
                  </a:lnTo>
                  <a:cubicBezTo>
                    <a:pt x="304800" y="287728"/>
                    <a:pt x="287728" y="304800"/>
                    <a:pt x="266700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5" name="Text 23"/>
            <p:cNvSpPr/>
            <p:nvPr/>
          </p:nvSpPr>
          <p:spPr>
            <a:xfrm>
              <a:off x="6443574" y="5143158"/>
              <a:ext cx="371475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895925" y="5162187"/>
              <a:ext cx="3022736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Each program handles one block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476911" y="556217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8100" y="0"/>
                  </a:moveTo>
                  <a:lnTo>
                    <a:pt x="266700" y="0"/>
                  </a:lnTo>
                  <a:cubicBezTo>
                    <a:pt x="287728" y="0"/>
                    <a:pt x="304800" y="17072"/>
                    <a:pt x="304800" y="38100"/>
                  </a:cubicBezTo>
                  <a:lnTo>
                    <a:pt x="304800" y="266700"/>
                  </a:lnTo>
                  <a:cubicBezTo>
                    <a:pt x="304800" y="287728"/>
                    <a:pt x="287728" y="304800"/>
                    <a:pt x="266700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8" name="Text 26"/>
            <p:cNvSpPr/>
            <p:nvPr/>
          </p:nvSpPr>
          <p:spPr>
            <a:xfrm>
              <a:off x="6443574" y="5562172"/>
              <a:ext cx="371475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895924" y="5581201"/>
              <a:ext cx="2323313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Elements within a block computed in parallel</a:t>
              </a:r>
              <a:endParaRPr lang="en-US" sz="1600" dirty="0"/>
            </a:p>
          </p:txBody>
        </p:sp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918" y="1352439"/>
            <a:ext cx="5638182" cy="444284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5806049" y="6542917"/>
            <a:ext cx="6799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Image source: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https://www.learnpdc.org/PDCBeginners/4-cuda/6-VectorAddTiming.html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7439" y="609451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err="1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Official</a:t>
            </a:r>
            <a:r>
              <a:rPr lang="en-US" sz="2700" b="1" dirty="0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 Kernel </a:t>
            </a:r>
            <a:r>
              <a:rPr lang="zh-CN" altLang="en-US" sz="2700" b="1" dirty="0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Example</a:t>
            </a:r>
            <a:r>
              <a:rPr lang="en-US" sz="2700" b="1" dirty="0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 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99911" y="1333235"/>
            <a:ext cx="11267980" cy="4953000"/>
          </a:xfrm>
          <a:custGeom>
            <a:avLst/>
            <a:gdLst/>
            <a:ahLst/>
            <a:cxnLst/>
            <a:rect l="l" t="t" r="r" b="b"/>
            <a:pathLst>
              <a:path w="11267980" h="4953000">
                <a:moveTo>
                  <a:pt x="37910" y="0"/>
                </a:moveTo>
                <a:lnTo>
                  <a:pt x="11153665" y="0"/>
                </a:lnTo>
                <a:cubicBezTo>
                  <a:pt x="11216800" y="0"/>
                  <a:pt x="11267980" y="51181"/>
                  <a:pt x="11267980" y="114315"/>
                </a:cubicBezTo>
                <a:lnTo>
                  <a:pt x="11267980" y="4838685"/>
                </a:lnTo>
                <a:cubicBezTo>
                  <a:pt x="11267980" y="4901819"/>
                  <a:pt x="11216800" y="4953000"/>
                  <a:pt x="11153665" y="4953000"/>
                </a:cubicBezTo>
                <a:lnTo>
                  <a:pt x="37910" y="4953000"/>
                </a:lnTo>
                <a:cubicBezTo>
                  <a:pt x="16973" y="4953000"/>
                  <a:pt x="0" y="4936027"/>
                  <a:pt x="0" y="4915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6" name="Shape 4"/>
          <p:cNvSpPr/>
          <p:nvPr/>
        </p:nvSpPr>
        <p:spPr>
          <a:xfrm>
            <a:off x="399911" y="1333235"/>
            <a:ext cx="37910" cy="4953000"/>
          </a:xfrm>
          <a:custGeom>
            <a:avLst/>
            <a:gdLst/>
            <a:ahLst/>
            <a:cxnLst/>
            <a:rect l="l" t="t" r="r" b="b"/>
            <a:pathLst>
              <a:path w="37910" h="4953000">
                <a:moveTo>
                  <a:pt x="37910" y="0"/>
                </a:moveTo>
                <a:lnTo>
                  <a:pt x="37910" y="0"/>
                </a:lnTo>
                <a:lnTo>
                  <a:pt x="37910" y="4953000"/>
                </a:lnTo>
                <a:lnTo>
                  <a:pt x="37910" y="4953000"/>
                </a:lnTo>
                <a:cubicBezTo>
                  <a:pt x="16973" y="4953000"/>
                  <a:pt x="0" y="4936027"/>
                  <a:pt x="0" y="4915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599888" y="704537"/>
            <a:ext cx="10868025" cy="594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8B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@triton.jit </a:t>
            </a:r>
            <a:br>
              <a:rPr lang="en-US" sz="1200" b="1" dirty="0">
                <a:solidFill>
                  <a:srgbClr val="8B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</a:br>
            <a:r>
              <a:rPr lang="en-US" sz="1200" b="1" dirty="0">
                <a:solidFill>
                  <a:srgbClr val="0066CC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def </a:t>
            </a:r>
            <a:r>
              <a:rPr lang="en-US" sz="1200" b="1" dirty="0" err="1">
                <a:solidFill>
                  <a:srgbClr val="8B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add_kernel</a:t>
            </a: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(x_ptr, y_ptr, output_ptr, n_elements,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           BLOCK_SIZE: tl.constexpr):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r>
              <a:rPr lang="en-US" sz="1200" dirty="0">
                <a:solidFill>
                  <a:srgbClr val="6666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# Get the ID of the current program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pid = tl.program_id(axis=</a:t>
            </a:r>
            <a:r>
              <a:rPr lang="en-US" sz="1200" dirty="0">
                <a:solidFill>
                  <a:srgbClr val="0099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0</a:t>
            </a: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)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r>
              <a:rPr lang="en-US" sz="1200" dirty="0">
                <a:solidFill>
                  <a:srgbClr val="6666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# Calculate the starting position of the current block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block_start = pid * BLOCK_SIZE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r>
              <a:rPr lang="en-US" sz="1200" dirty="0">
                <a:solidFill>
                  <a:srgbClr val="6666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# Generate local offset array [0, 1, 2, ..., BLOCK_SIZE-1]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offsets = block_start + tl.arange(</a:t>
            </a:r>
            <a:r>
              <a:rPr lang="en-US" sz="1200" dirty="0">
                <a:solidFill>
                  <a:srgbClr val="0099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0</a:t>
            </a: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, BLOCK_SIZE)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r>
              <a:rPr lang="en-US" sz="1200" dirty="0">
                <a:solidFill>
                  <a:srgbClr val="6666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# Create mask to prevent out-of-bounds access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mask = offsets &lt; n_elements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r>
              <a:rPr lang="en-US" sz="1200" dirty="0">
                <a:solidFill>
                  <a:srgbClr val="6666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# Load data from global memory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x = tl.load(x_ptr + offsets, mask=mask)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y = tl.load(y_ptr + offsets, mask=mask)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r>
              <a:rPr lang="en-US" sz="1200" dirty="0">
                <a:solidFill>
                  <a:srgbClr val="6666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# Perform vector addition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output = x + y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</a:t>
            </a:r>
            <a:r>
              <a:rPr lang="en-US" sz="1200" dirty="0">
                <a:solidFill>
                  <a:srgbClr val="6666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# Write results back to global memory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tl.store(output_ptr + offsets, output, mask=mask)</a:t>
            </a:r>
            <a:endParaRPr lang="en-US" sz="12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0956" y="6571937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Source: Triton Official Tutorial https://triton-lang.org/main/getting-started/tutorials/01-vector-add.html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5532" y="629175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+mj-ea"/>
                <a:ea typeface="+mj-ea"/>
                <a:cs typeface="MiSans" panose="00000500000000000000" pitchFamily="34" charset="-120"/>
              </a:rPr>
              <a:t> </a:t>
            </a:r>
            <a:r>
              <a:rPr lang="en-US" sz="2700" b="1" dirty="0" err="1">
                <a:solidFill>
                  <a:srgbClr val="101828"/>
                </a:solidFill>
                <a:latin typeface="+mj-ea"/>
                <a:ea typeface="+mj-ea"/>
                <a:cs typeface="MiSans" panose="00000500000000000000" pitchFamily="34" charset="-120"/>
              </a:rPr>
              <a:t>program_id</a:t>
            </a:r>
            <a:endParaRPr lang="en-US" sz="1600" dirty="0">
              <a:latin typeface="+mj-ea"/>
              <a:ea typeface="+mj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78890" y="2830298"/>
            <a:ext cx="5505355" cy="2133540"/>
            <a:chOff x="399911" y="2722815"/>
            <a:chExt cx="5505355" cy="2133540"/>
          </a:xfrm>
        </p:grpSpPr>
        <p:sp>
          <p:nvSpPr>
            <p:cNvPr id="5" name="Shape 3"/>
            <p:cNvSpPr/>
            <p:nvPr/>
          </p:nvSpPr>
          <p:spPr>
            <a:xfrm>
              <a:off x="399911" y="2722815"/>
              <a:ext cx="5505355" cy="762000"/>
            </a:xfrm>
            <a:custGeom>
              <a:avLst/>
              <a:gdLst/>
              <a:ahLst/>
              <a:cxnLst/>
              <a:rect l="l" t="t" r="r" b="b"/>
              <a:pathLst>
                <a:path w="5505355" h="762000">
                  <a:moveTo>
                    <a:pt x="37910" y="0"/>
                  </a:moveTo>
                  <a:lnTo>
                    <a:pt x="5391055" y="0"/>
                  </a:lnTo>
                  <a:cubicBezTo>
                    <a:pt x="5454139" y="0"/>
                    <a:pt x="5505355" y="51216"/>
                    <a:pt x="5505355" y="114300"/>
                  </a:cubicBezTo>
                  <a:lnTo>
                    <a:pt x="5505355" y="647700"/>
                  </a:lnTo>
                  <a:cubicBezTo>
                    <a:pt x="5505355" y="710784"/>
                    <a:pt x="5454139" y="762000"/>
                    <a:pt x="5391055" y="762000"/>
                  </a:cubicBezTo>
                  <a:lnTo>
                    <a:pt x="37910" y="762000"/>
                  </a:lnTo>
                  <a:cubicBezTo>
                    <a:pt x="16973" y="762000"/>
                    <a:pt x="0" y="745027"/>
                    <a:pt x="0" y="7240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399911" y="2722815"/>
              <a:ext cx="37910" cy="762000"/>
            </a:xfrm>
            <a:custGeom>
              <a:avLst/>
              <a:gdLst/>
              <a:ahLst/>
              <a:cxnLst/>
              <a:rect l="l" t="t" r="r" b="b"/>
              <a:pathLst>
                <a:path w="37910" h="762000">
                  <a:moveTo>
                    <a:pt x="37910" y="0"/>
                  </a:moveTo>
                  <a:lnTo>
                    <a:pt x="37910" y="0"/>
                  </a:lnTo>
                  <a:lnTo>
                    <a:pt x="37910" y="762000"/>
                  </a:lnTo>
                  <a:lnTo>
                    <a:pt x="37910" y="762000"/>
                  </a:lnTo>
                  <a:cubicBezTo>
                    <a:pt x="16973" y="762000"/>
                    <a:pt x="0" y="745027"/>
                    <a:pt x="0" y="7240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647439" y="2951387"/>
              <a:ext cx="5124450" cy="3143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50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pid = tl.program_id(axis=0)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04768" y="3756171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9" name="Text 7"/>
            <p:cNvSpPr/>
            <p:nvPr/>
          </p:nvSpPr>
          <p:spPr>
            <a:xfrm>
              <a:off x="733330" y="3718113"/>
              <a:ext cx="3190875" cy="2762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5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Returns the index of the current program in dimension 0 of the grid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04768" y="4187177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733330" y="4149119"/>
              <a:ext cx="2219325" cy="2762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5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Similar to CUDA's </a:t>
              </a:r>
              <a:r>
                <a:rPr lang="en-US" sz="1200" dirty="0">
                  <a:solidFill>
                    <a:srgbClr val="364153"/>
                  </a:solidFill>
                  <a:highlight>
                    <a:srgbClr val="E5E7EB">
                      <a:alpha val="100000"/>
                    </a:srgbClr>
                  </a:highlight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blockIdx.x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04768" y="46181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7" y="131118"/>
                    <a:pt x="83939" y="129778"/>
                    <a:pt x="82190" y="127397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4" y="65522"/>
                    <a:pt x="119621" y="64219"/>
                    <a:pt x="123825" y="66861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733330" y="4580130"/>
              <a:ext cx="3429000" cy="27622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50" dirty="0">
                  <a:solidFill>
                    <a:srgbClr val="364153"/>
                  </a:solidFill>
                  <a:latin typeface="+mn-ea"/>
                  <a:cs typeface="MiSans" panose="00000500000000000000" pitchFamily="34" charset="-120"/>
                </a:rPr>
                <a:t>Used to determine which data block the current program should handle</a:t>
              </a:r>
              <a:endParaRPr lang="en-US" sz="1600" dirty="0">
                <a:latin typeface="+mn-ea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415345" y="1494066"/>
            <a:ext cx="5524500" cy="3619500"/>
            <a:chOff x="6286470" y="1981337"/>
            <a:chExt cx="5524500" cy="3619500"/>
          </a:xfrm>
        </p:grpSpPr>
        <p:sp>
          <p:nvSpPr>
            <p:cNvPr id="14" name="Shape 12"/>
            <p:cNvSpPr/>
            <p:nvPr/>
          </p:nvSpPr>
          <p:spPr>
            <a:xfrm>
              <a:off x="6286470" y="1981337"/>
              <a:ext cx="5524500" cy="3619500"/>
            </a:xfrm>
            <a:custGeom>
              <a:avLst/>
              <a:gdLst/>
              <a:ahLst/>
              <a:cxnLst/>
              <a:rect l="l" t="t" r="r" b="b"/>
              <a:pathLst>
                <a:path w="5524500" h="3619500">
                  <a:moveTo>
                    <a:pt x="114304" y="0"/>
                  </a:moveTo>
                  <a:lnTo>
                    <a:pt x="5410196" y="0"/>
                  </a:lnTo>
                  <a:cubicBezTo>
                    <a:pt x="5473324" y="0"/>
                    <a:pt x="5524500" y="51176"/>
                    <a:pt x="5524500" y="114304"/>
                  </a:cubicBezTo>
                  <a:lnTo>
                    <a:pt x="5524500" y="3505196"/>
                  </a:lnTo>
                  <a:cubicBezTo>
                    <a:pt x="5524500" y="3568324"/>
                    <a:pt x="5473324" y="3619500"/>
                    <a:pt x="5410196" y="3619500"/>
                  </a:cubicBezTo>
                  <a:lnTo>
                    <a:pt x="114304" y="3619500"/>
                  </a:lnTo>
                  <a:cubicBezTo>
                    <a:pt x="51176" y="3619500"/>
                    <a:pt x="0" y="3568324"/>
                    <a:pt x="0" y="3505196"/>
                  </a:cubicBezTo>
                  <a:lnTo>
                    <a:pt x="0" y="114304"/>
                  </a:lnTo>
                  <a:cubicBezTo>
                    <a:pt x="0" y="51218"/>
                    <a:pt x="51218" y="0"/>
                    <a:pt x="114304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6467419" y="2209912"/>
              <a:ext cx="51625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Program distribution in the Grid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515044" y="270519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098" y="0"/>
                  </a:moveTo>
                  <a:lnTo>
                    <a:pt x="419102" y="0"/>
                  </a:lnTo>
                  <a:cubicBezTo>
                    <a:pt x="440143" y="0"/>
                    <a:pt x="457200" y="17057"/>
                    <a:pt x="457200" y="38098"/>
                  </a:cubicBezTo>
                  <a:lnTo>
                    <a:pt x="457200" y="419102"/>
                  </a:lnTo>
                  <a:cubicBezTo>
                    <a:pt x="457200" y="440143"/>
                    <a:pt x="440143" y="457200"/>
                    <a:pt x="419102" y="457200"/>
                  </a:cubicBezTo>
                  <a:lnTo>
                    <a:pt x="38098" y="457200"/>
                  </a:lnTo>
                  <a:cubicBezTo>
                    <a:pt x="17057" y="457200"/>
                    <a:pt x="0" y="440143"/>
                    <a:pt x="0" y="419102"/>
                  </a:cubicBezTo>
                  <a:lnTo>
                    <a:pt x="0" y="38098"/>
                  </a:lnTo>
                  <a:cubicBezTo>
                    <a:pt x="0" y="17071"/>
                    <a:pt x="17071" y="0"/>
                    <a:pt x="38098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6476944" y="2705193"/>
              <a:ext cx="533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0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086440" y="2705193"/>
              <a:ext cx="4495800" cy="457200"/>
            </a:xfrm>
            <a:custGeom>
              <a:avLst/>
              <a:gdLst/>
              <a:ahLst/>
              <a:cxnLst/>
              <a:rect l="l" t="t" r="r" b="b"/>
              <a:pathLst>
                <a:path w="4495800" h="457200">
                  <a:moveTo>
                    <a:pt x="38098" y="0"/>
                  </a:moveTo>
                  <a:lnTo>
                    <a:pt x="4457702" y="0"/>
                  </a:lnTo>
                  <a:cubicBezTo>
                    <a:pt x="4478743" y="0"/>
                    <a:pt x="4495800" y="17057"/>
                    <a:pt x="4495800" y="38098"/>
                  </a:cubicBezTo>
                  <a:lnTo>
                    <a:pt x="4495800" y="419102"/>
                  </a:lnTo>
                  <a:cubicBezTo>
                    <a:pt x="4495800" y="440143"/>
                    <a:pt x="4478743" y="457200"/>
                    <a:pt x="4457702" y="457200"/>
                  </a:cubicBezTo>
                  <a:lnTo>
                    <a:pt x="38098" y="457200"/>
                  </a:lnTo>
                  <a:cubicBezTo>
                    <a:pt x="17057" y="457200"/>
                    <a:pt x="0" y="440143"/>
                    <a:pt x="0" y="419102"/>
                  </a:cubicBezTo>
                  <a:lnTo>
                    <a:pt x="0" y="38098"/>
                  </a:lnTo>
                  <a:cubicBezTo>
                    <a:pt x="0" y="17071"/>
                    <a:pt x="17071" y="0"/>
                    <a:pt x="38098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19" name="Text 17"/>
            <p:cNvSpPr/>
            <p:nvPr/>
          </p:nvSpPr>
          <p:spPr>
            <a:xfrm>
              <a:off x="7086440" y="2705193"/>
              <a:ext cx="4572000" cy="457200"/>
            </a:xfrm>
            <a:prstGeom prst="rect">
              <a:avLst/>
            </a:prstGeom>
            <a:noFill/>
          </p:spPr>
          <p:txBody>
            <a:bodyPr wrap="square" lIns="152400" tIns="0" rIns="15240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Handles data block 0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515044" y="32765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098" y="0"/>
                  </a:moveTo>
                  <a:lnTo>
                    <a:pt x="419102" y="0"/>
                  </a:lnTo>
                  <a:cubicBezTo>
                    <a:pt x="440143" y="0"/>
                    <a:pt x="457200" y="17057"/>
                    <a:pt x="457200" y="38098"/>
                  </a:cubicBezTo>
                  <a:lnTo>
                    <a:pt x="457200" y="419102"/>
                  </a:lnTo>
                  <a:cubicBezTo>
                    <a:pt x="457200" y="440143"/>
                    <a:pt x="440143" y="457200"/>
                    <a:pt x="419102" y="457200"/>
                  </a:cubicBezTo>
                  <a:lnTo>
                    <a:pt x="38098" y="457200"/>
                  </a:lnTo>
                  <a:cubicBezTo>
                    <a:pt x="17057" y="457200"/>
                    <a:pt x="0" y="440143"/>
                    <a:pt x="0" y="419102"/>
                  </a:cubicBezTo>
                  <a:lnTo>
                    <a:pt x="0" y="38098"/>
                  </a:lnTo>
                  <a:cubicBezTo>
                    <a:pt x="0" y="17071"/>
                    <a:pt x="17071" y="0"/>
                    <a:pt x="38098" y="0"/>
                  </a:cubicBezTo>
                  <a:close/>
                </a:path>
              </a:pathLst>
            </a:custGeom>
            <a:solidFill>
              <a:srgbClr val="99A1AF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6476944" y="3276586"/>
              <a:ext cx="533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086440" y="3276586"/>
              <a:ext cx="4495800" cy="457200"/>
            </a:xfrm>
            <a:custGeom>
              <a:avLst/>
              <a:gdLst/>
              <a:ahLst/>
              <a:cxnLst/>
              <a:rect l="l" t="t" r="r" b="b"/>
              <a:pathLst>
                <a:path w="4495800" h="457200">
                  <a:moveTo>
                    <a:pt x="38098" y="0"/>
                  </a:moveTo>
                  <a:lnTo>
                    <a:pt x="4457702" y="0"/>
                  </a:lnTo>
                  <a:cubicBezTo>
                    <a:pt x="4478743" y="0"/>
                    <a:pt x="4495800" y="17057"/>
                    <a:pt x="4495800" y="38098"/>
                  </a:cubicBezTo>
                  <a:lnTo>
                    <a:pt x="4495800" y="419102"/>
                  </a:lnTo>
                  <a:cubicBezTo>
                    <a:pt x="4495800" y="440143"/>
                    <a:pt x="4478743" y="457200"/>
                    <a:pt x="4457702" y="457200"/>
                  </a:cubicBezTo>
                  <a:lnTo>
                    <a:pt x="38098" y="457200"/>
                  </a:lnTo>
                  <a:cubicBezTo>
                    <a:pt x="17057" y="457200"/>
                    <a:pt x="0" y="440143"/>
                    <a:pt x="0" y="419102"/>
                  </a:cubicBezTo>
                  <a:lnTo>
                    <a:pt x="0" y="38098"/>
                  </a:lnTo>
                  <a:cubicBezTo>
                    <a:pt x="0" y="17071"/>
                    <a:pt x="17071" y="0"/>
                    <a:pt x="38098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23" name="Text 21"/>
            <p:cNvSpPr/>
            <p:nvPr/>
          </p:nvSpPr>
          <p:spPr>
            <a:xfrm>
              <a:off x="7086440" y="3276586"/>
              <a:ext cx="4572000" cy="457200"/>
            </a:xfrm>
            <a:prstGeom prst="rect">
              <a:avLst/>
            </a:prstGeom>
            <a:noFill/>
          </p:spPr>
          <p:txBody>
            <a:bodyPr wrap="square" lIns="152400" tIns="0" rIns="15240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Handles data block 1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515044" y="384798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098" y="0"/>
                  </a:moveTo>
                  <a:lnTo>
                    <a:pt x="419102" y="0"/>
                  </a:lnTo>
                  <a:cubicBezTo>
                    <a:pt x="440143" y="0"/>
                    <a:pt x="457200" y="17057"/>
                    <a:pt x="457200" y="38098"/>
                  </a:cubicBezTo>
                  <a:lnTo>
                    <a:pt x="457200" y="419102"/>
                  </a:lnTo>
                  <a:cubicBezTo>
                    <a:pt x="457200" y="440143"/>
                    <a:pt x="440143" y="457200"/>
                    <a:pt x="419102" y="457200"/>
                  </a:cubicBezTo>
                  <a:lnTo>
                    <a:pt x="38098" y="457200"/>
                  </a:lnTo>
                  <a:cubicBezTo>
                    <a:pt x="17057" y="457200"/>
                    <a:pt x="0" y="440143"/>
                    <a:pt x="0" y="419102"/>
                  </a:cubicBezTo>
                  <a:lnTo>
                    <a:pt x="0" y="38098"/>
                  </a:lnTo>
                  <a:cubicBezTo>
                    <a:pt x="0" y="17071"/>
                    <a:pt x="17071" y="0"/>
                    <a:pt x="38098" y="0"/>
                  </a:cubicBezTo>
                  <a:close/>
                </a:path>
              </a:pathLst>
            </a:custGeom>
            <a:solidFill>
              <a:srgbClr val="99A1AF"/>
            </a:solidFill>
          </p:spPr>
        </p:sp>
        <p:sp>
          <p:nvSpPr>
            <p:cNvPr id="25" name="Text 23"/>
            <p:cNvSpPr/>
            <p:nvPr/>
          </p:nvSpPr>
          <p:spPr>
            <a:xfrm>
              <a:off x="6476944" y="3847984"/>
              <a:ext cx="533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7086440" y="3847984"/>
              <a:ext cx="4495800" cy="457200"/>
            </a:xfrm>
            <a:custGeom>
              <a:avLst/>
              <a:gdLst/>
              <a:ahLst/>
              <a:cxnLst/>
              <a:rect l="l" t="t" r="r" b="b"/>
              <a:pathLst>
                <a:path w="4495800" h="457200">
                  <a:moveTo>
                    <a:pt x="38098" y="0"/>
                  </a:moveTo>
                  <a:lnTo>
                    <a:pt x="4457702" y="0"/>
                  </a:lnTo>
                  <a:cubicBezTo>
                    <a:pt x="4478743" y="0"/>
                    <a:pt x="4495800" y="17057"/>
                    <a:pt x="4495800" y="38098"/>
                  </a:cubicBezTo>
                  <a:lnTo>
                    <a:pt x="4495800" y="419102"/>
                  </a:lnTo>
                  <a:cubicBezTo>
                    <a:pt x="4495800" y="440143"/>
                    <a:pt x="4478743" y="457200"/>
                    <a:pt x="4457702" y="457200"/>
                  </a:cubicBezTo>
                  <a:lnTo>
                    <a:pt x="38098" y="457200"/>
                  </a:lnTo>
                  <a:cubicBezTo>
                    <a:pt x="17057" y="457200"/>
                    <a:pt x="0" y="440143"/>
                    <a:pt x="0" y="419102"/>
                  </a:cubicBezTo>
                  <a:lnTo>
                    <a:pt x="0" y="38098"/>
                  </a:lnTo>
                  <a:cubicBezTo>
                    <a:pt x="0" y="17071"/>
                    <a:pt x="17071" y="0"/>
                    <a:pt x="38098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27" name="Text 25"/>
            <p:cNvSpPr/>
            <p:nvPr/>
          </p:nvSpPr>
          <p:spPr>
            <a:xfrm>
              <a:off x="7086440" y="3847984"/>
              <a:ext cx="4572000" cy="457200"/>
            </a:xfrm>
            <a:prstGeom prst="rect">
              <a:avLst/>
            </a:prstGeom>
            <a:noFill/>
          </p:spPr>
          <p:txBody>
            <a:bodyPr wrap="square" lIns="152400" tIns="0" rIns="15240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Handles data block 2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476944" y="4419381"/>
              <a:ext cx="5143500" cy="381000"/>
            </a:xfrm>
            <a:prstGeom prst="rect">
              <a:avLst/>
            </a:prstGeom>
            <a:noFill/>
          </p:spPr>
          <p:txBody>
            <a:bodyPr wrap="square" lIns="0" tIns="76200" rIns="0" bIns="762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99A1A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...</a:t>
              </a:r>
              <a:endParaRPr lang="en-US" sz="1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515044" y="491458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098" y="0"/>
                  </a:moveTo>
                  <a:lnTo>
                    <a:pt x="419102" y="0"/>
                  </a:lnTo>
                  <a:cubicBezTo>
                    <a:pt x="440143" y="0"/>
                    <a:pt x="457200" y="17057"/>
                    <a:pt x="457200" y="38098"/>
                  </a:cubicBezTo>
                  <a:lnTo>
                    <a:pt x="457200" y="419102"/>
                  </a:lnTo>
                  <a:cubicBezTo>
                    <a:pt x="457200" y="440143"/>
                    <a:pt x="440143" y="457200"/>
                    <a:pt x="419102" y="457200"/>
                  </a:cubicBezTo>
                  <a:lnTo>
                    <a:pt x="38098" y="457200"/>
                  </a:lnTo>
                  <a:cubicBezTo>
                    <a:pt x="17057" y="457200"/>
                    <a:pt x="0" y="440143"/>
                    <a:pt x="0" y="419102"/>
                  </a:cubicBezTo>
                  <a:lnTo>
                    <a:pt x="0" y="38098"/>
                  </a:lnTo>
                  <a:cubicBezTo>
                    <a:pt x="0" y="17071"/>
                    <a:pt x="17071" y="0"/>
                    <a:pt x="38098" y="0"/>
                  </a:cubicBezTo>
                  <a:close/>
                </a:path>
              </a:pathLst>
            </a:custGeom>
            <a:solidFill>
              <a:srgbClr val="99A1AF"/>
            </a:solidFill>
          </p:spPr>
        </p:sp>
        <p:sp>
          <p:nvSpPr>
            <p:cNvPr id="30" name="Text 28"/>
            <p:cNvSpPr/>
            <p:nvPr/>
          </p:nvSpPr>
          <p:spPr>
            <a:xfrm>
              <a:off x="6476944" y="4914584"/>
              <a:ext cx="533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N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086440" y="4914584"/>
              <a:ext cx="4495800" cy="457200"/>
            </a:xfrm>
            <a:custGeom>
              <a:avLst/>
              <a:gdLst/>
              <a:ahLst/>
              <a:cxnLst/>
              <a:rect l="l" t="t" r="r" b="b"/>
              <a:pathLst>
                <a:path w="4495800" h="457200">
                  <a:moveTo>
                    <a:pt x="38098" y="0"/>
                  </a:moveTo>
                  <a:lnTo>
                    <a:pt x="4457702" y="0"/>
                  </a:lnTo>
                  <a:cubicBezTo>
                    <a:pt x="4478743" y="0"/>
                    <a:pt x="4495800" y="17057"/>
                    <a:pt x="4495800" y="38098"/>
                  </a:cubicBezTo>
                  <a:lnTo>
                    <a:pt x="4495800" y="419102"/>
                  </a:lnTo>
                  <a:cubicBezTo>
                    <a:pt x="4495800" y="440143"/>
                    <a:pt x="4478743" y="457200"/>
                    <a:pt x="4457702" y="457200"/>
                  </a:cubicBezTo>
                  <a:lnTo>
                    <a:pt x="38098" y="457200"/>
                  </a:lnTo>
                  <a:cubicBezTo>
                    <a:pt x="17057" y="457200"/>
                    <a:pt x="0" y="440143"/>
                    <a:pt x="0" y="419102"/>
                  </a:cubicBezTo>
                  <a:lnTo>
                    <a:pt x="0" y="38098"/>
                  </a:lnTo>
                  <a:cubicBezTo>
                    <a:pt x="0" y="17071"/>
                    <a:pt x="17071" y="0"/>
                    <a:pt x="38098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32" name="Text 30"/>
            <p:cNvSpPr/>
            <p:nvPr/>
          </p:nvSpPr>
          <p:spPr>
            <a:xfrm>
              <a:off x="7086440" y="4914584"/>
              <a:ext cx="4572000" cy="457200"/>
            </a:xfrm>
            <a:prstGeom prst="rect">
              <a:avLst/>
            </a:prstGeom>
            <a:noFill/>
          </p:spPr>
          <p:txBody>
            <a:bodyPr wrap="square" lIns="152400" tIns="0" rIns="15240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Handles data block N</a:t>
              </a:r>
              <a:endParaRPr lang="en-US" sz="1600" dirty="0"/>
            </a:p>
          </p:txBody>
        </p:sp>
      </p:grpSp>
      <p:sp>
        <p:nvSpPr>
          <p:cNvPr id="33" name="Text 31"/>
          <p:cNvSpPr/>
          <p:nvPr/>
        </p:nvSpPr>
        <p:spPr>
          <a:xfrm>
            <a:off x="380956" y="6533258"/>
            <a:ext cx="11487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Triton Official Docs https://triton-lang.org/main/python-api/generated/triton.language.program_id.html</a:t>
            </a:r>
            <a:endParaRPr lang="en-US" sz="1600" dirty="0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57" y="1494066"/>
            <a:ext cx="5715044" cy="97901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2349" y="638805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700" b="1" dirty="0">
                <a:solidFill>
                  <a:srgbClr val="101828"/>
                </a:solidFill>
                <a:latin typeface="+mj-ea"/>
                <a:ea typeface="+mj-ea"/>
              </a:rPr>
              <a:t>Offset </a:t>
            </a:r>
            <a:r>
              <a:rPr lang="zh-CN" altLang="en-US" sz="2700" b="1" dirty="0">
                <a:solidFill>
                  <a:srgbClr val="101828"/>
                </a:solidFill>
                <a:latin typeface="+mj-ea"/>
                <a:ea typeface="+mj-ea"/>
              </a:rPr>
              <a:t>Calculation Method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99911" y="1570620"/>
            <a:ext cx="5543455" cy="1847850"/>
          </a:xfrm>
          <a:custGeom>
            <a:avLst/>
            <a:gdLst/>
            <a:ahLst/>
            <a:cxnLst/>
            <a:rect l="l" t="t" r="r" b="b"/>
            <a:pathLst>
              <a:path w="5543455" h="1847850">
                <a:moveTo>
                  <a:pt x="37910" y="0"/>
                </a:moveTo>
                <a:lnTo>
                  <a:pt x="5429147" y="0"/>
                </a:lnTo>
                <a:cubicBezTo>
                  <a:pt x="5492278" y="0"/>
                  <a:pt x="5543455" y="51177"/>
                  <a:pt x="5543455" y="114308"/>
                </a:cubicBezTo>
                <a:lnTo>
                  <a:pt x="5543455" y="1733542"/>
                </a:lnTo>
                <a:cubicBezTo>
                  <a:pt x="5543455" y="1796673"/>
                  <a:pt x="5492278" y="1847850"/>
                  <a:pt x="5429147" y="1847850"/>
                </a:cubicBezTo>
                <a:lnTo>
                  <a:pt x="37910" y="1847850"/>
                </a:lnTo>
                <a:cubicBezTo>
                  <a:pt x="16973" y="1847850"/>
                  <a:pt x="0" y="1830877"/>
                  <a:pt x="0" y="180994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6" name="Shape 4"/>
          <p:cNvSpPr/>
          <p:nvPr/>
        </p:nvSpPr>
        <p:spPr>
          <a:xfrm>
            <a:off x="399911" y="1570620"/>
            <a:ext cx="37910" cy="1847850"/>
          </a:xfrm>
          <a:custGeom>
            <a:avLst/>
            <a:gdLst/>
            <a:ahLst/>
            <a:cxnLst/>
            <a:rect l="l" t="t" r="r" b="b"/>
            <a:pathLst>
              <a:path w="37910" h="1847850">
                <a:moveTo>
                  <a:pt x="37910" y="0"/>
                </a:moveTo>
                <a:lnTo>
                  <a:pt x="37910" y="0"/>
                </a:lnTo>
                <a:lnTo>
                  <a:pt x="37910" y="1847850"/>
                </a:lnTo>
                <a:lnTo>
                  <a:pt x="37910" y="1847850"/>
                </a:lnTo>
                <a:cubicBezTo>
                  <a:pt x="16973" y="1847850"/>
                  <a:pt x="0" y="1830877"/>
                  <a:pt x="0" y="180994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647439" y="1799193"/>
            <a:ext cx="5153025" cy="1390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dirty="0">
                <a:solidFill>
                  <a:srgbClr val="66666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Calculate the starting position of the current block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5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block_start = pid * BLOCK_SIZE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50" dirty="0">
                <a:solidFill>
                  <a:srgbClr val="66666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Generate global offsets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5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offsets = block_start + tl.arange(</a:t>
            </a:r>
            <a:r>
              <a:rPr lang="en-US" sz="1350" dirty="0">
                <a:solidFill>
                  <a:srgbClr val="0099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</a:t>
            </a:r>
            <a:r>
              <a:rPr lang="en-US" sz="135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 BLOCK_SIZE)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338" y="177194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7"/>
          <p:cNvSpPr/>
          <p:nvPr/>
        </p:nvSpPr>
        <p:spPr>
          <a:xfrm>
            <a:off x="6210238" y="1771948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43543" y="1771948"/>
            <a:ext cx="3495675" cy="314325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Each program handles </a:t>
            </a:r>
            <a:r>
              <a:rPr lang="en-US" sz="135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BLOCK_SIZE</a:t>
            </a:r>
            <a:r>
              <a:rPr lang="en-US" sz="135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consecutive elements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48338" y="230528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6210238" y="2305283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43543" y="2305283"/>
            <a:ext cx="4724400" cy="323850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64153"/>
                </a:solidFill>
                <a:highlight>
                  <a:srgbClr val="E5E7EB">
                    <a:alpha val="10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tl.arange </a:t>
            </a:r>
            <a:r>
              <a:rPr lang="en-US" sz="135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Generates local indices </a:t>
            </a:r>
            <a:r>
              <a:rPr lang="en-US" sz="1350" dirty="0">
                <a:solidFill>
                  <a:srgbClr val="364153"/>
                </a:solidFill>
                <a:highlight>
                  <a:srgbClr val="E5E7EB">
                    <a:alpha val="10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[0, 1, ..., BLOCK_SIZE-1]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338" y="28386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6210238" y="2838622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43543" y="2838622"/>
            <a:ext cx="2743200" cy="323850"/>
          </a:xfrm>
          <a:prstGeom prst="rect">
            <a:avLst/>
          </a:prstGeom>
          <a:noFill/>
        </p:spPr>
        <p:txBody>
          <a:bodyPr wrap="square" lIns="0" tIns="3810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Adding </a:t>
            </a:r>
            <a:r>
              <a:rPr lang="en-US" sz="1350" dirty="0">
                <a:solidFill>
                  <a:srgbClr val="364153"/>
                </a:solidFill>
                <a:highlight>
                  <a:srgbClr val="E5E7EB">
                    <a:alpha val="10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block_start </a:t>
            </a:r>
            <a:r>
              <a:rPr lang="en-US" sz="135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to get global indices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0956" y="3649475"/>
            <a:ext cx="11430000" cy="2362200"/>
          </a:xfrm>
          <a:custGeom>
            <a:avLst/>
            <a:gdLst/>
            <a:ahLst/>
            <a:cxnLst/>
            <a:rect l="l" t="t" r="r" b="b"/>
            <a:pathLst>
              <a:path w="11430000" h="2362200">
                <a:moveTo>
                  <a:pt x="114307" y="0"/>
                </a:moveTo>
                <a:lnTo>
                  <a:pt x="11315693" y="0"/>
                </a:lnTo>
                <a:cubicBezTo>
                  <a:pt x="11378781" y="0"/>
                  <a:pt x="11430000" y="51219"/>
                  <a:pt x="11430000" y="114307"/>
                </a:cubicBezTo>
                <a:lnTo>
                  <a:pt x="11430000" y="2247893"/>
                </a:lnTo>
                <a:cubicBezTo>
                  <a:pt x="11430000" y="2310981"/>
                  <a:pt x="11378781" y="2362200"/>
                  <a:pt x="11315693" y="2362200"/>
                </a:cubicBezTo>
                <a:lnTo>
                  <a:pt x="114307" y="2362200"/>
                </a:lnTo>
                <a:cubicBezTo>
                  <a:pt x="51219" y="2362200"/>
                  <a:pt x="0" y="2310981"/>
                  <a:pt x="0" y="224789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8" name="Text 16"/>
          <p:cNvSpPr/>
          <p:nvPr/>
        </p:nvSpPr>
        <p:spPr>
          <a:xfrm>
            <a:off x="609529" y="3878047"/>
            <a:ext cx="1106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Calculation Example (BLOCK_SIZE = 256)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007" y="4306615"/>
            <a:ext cx="3533680" cy="1466755"/>
          </a:xfrm>
          <a:custGeom>
            <a:avLst/>
            <a:gdLst/>
            <a:ahLst/>
            <a:cxnLst/>
            <a:rect l="l" t="t" r="r" b="b"/>
            <a:pathLst>
              <a:path w="3533680" h="1466755">
                <a:moveTo>
                  <a:pt x="76198" y="0"/>
                </a:moveTo>
                <a:lnTo>
                  <a:pt x="3457482" y="0"/>
                </a:lnTo>
                <a:cubicBezTo>
                  <a:pt x="3499565" y="0"/>
                  <a:pt x="3533680" y="34115"/>
                  <a:pt x="3533680" y="76198"/>
                </a:cubicBezTo>
                <a:lnTo>
                  <a:pt x="3533680" y="1390557"/>
                </a:lnTo>
                <a:cubicBezTo>
                  <a:pt x="3533680" y="1432640"/>
                  <a:pt x="3499565" y="1466755"/>
                  <a:pt x="3457482" y="1466755"/>
                </a:cubicBezTo>
                <a:lnTo>
                  <a:pt x="76198" y="1466755"/>
                </a:lnTo>
                <a:cubicBezTo>
                  <a:pt x="34115" y="1466755"/>
                  <a:pt x="0" y="1432640"/>
                  <a:pt x="0" y="139055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0866" y="4468476"/>
            <a:ext cx="3276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program_id = 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9822" y="4735106"/>
            <a:ext cx="3190780" cy="609600"/>
          </a:xfrm>
          <a:custGeom>
            <a:avLst/>
            <a:gdLst/>
            <a:ahLst/>
            <a:cxnLst/>
            <a:rect l="l" t="t" r="r" b="b"/>
            <a:pathLst>
              <a:path w="3190780" h="609600">
                <a:moveTo>
                  <a:pt x="37910" y="0"/>
                </a:moveTo>
                <a:lnTo>
                  <a:pt x="3152680" y="0"/>
                </a:lnTo>
                <a:cubicBezTo>
                  <a:pt x="3173708" y="0"/>
                  <a:pt x="3190780" y="17072"/>
                  <a:pt x="3190780" y="38100"/>
                </a:cubicBezTo>
                <a:lnTo>
                  <a:pt x="3190780" y="571500"/>
                </a:lnTo>
                <a:cubicBezTo>
                  <a:pt x="3190780" y="592528"/>
                  <a:pt x="3173708" y="609600"/>
                  <a:pt x="3152680" y="609600"/>
                </a:cubicBez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22" name="Shape 20"/>
          <p:cNvSpPr/>
          <p:nvPr/>
        </p:nvSpPr>
        <p:spPr>
          <a:xfrm>
            <a:off x="799822" y="4735106"/>
            <a:ext cx="37910" cy="609600"/>
          </a:xfrm>
          <a:custGeom>
            <a:avLst/>
            <a:gdLst/>
            <a:ahLst/>
            <a:cxnLst/>
            <a:rect l="l" t="t" r="r" b="b"/>
            <a:pathLst>
              <a:path w="37910" h="609600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933026" y="4849355"/>
            <a:ext cx="3009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block_start = 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offsets = [0..255]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0866" y="5420678"/>
            <a:ext cx="3276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Handles elements 0–255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27418" y="4306615"/>
            <a:ext cx="3533680" cy="1466755"/>
          </a:xfrm>
          <a:custGeom>
            <a:avLst/>
            <a:gdLst/>
            <a:ahLst/>
            <a:cxnLst/>
            <a:rect l="l" t="t" r="r" b="b"/>
            <a:pathLst>
              <a:path w="3533680" h="1466755">
                <a:moveTo>
                  <a:pt x="76198" y="0"/>
                </a:moveTo>
                <a:lnTo>
                  <a:pt x="3457482" y="0"/>
                </a:lnTo>
                <a:cubicBezTo>
                  <a:pt x="3499565" y="0"/>
                  <a:pt x="3533680" y="34115"/>
                  <a:pt x="3533680" y="76198"/>
                </a:cubicBezTo>
                <a:lnTo>
                  <a:pt x="3533680" y="1390557"/>
                </a:lnTo>
                <a:cubicBezTo>
                  <a:pt x="3533680" y="1432640"/>
                  <a:pt x="3499565" y="1466755"/>
                  <a:pt x="3457482" y="1466755"/>
                </a:cubicBezTo>
                <a:lnTo>
                  <a:pt x="76198" y="1466755"/>
                </a:lnTo>
                <a:cubicBezTo>
                  <a:pt x="34115" y="1466755"/>
                  <a:pt x="0" y="1432640"/>
                  <a:pt x="0" y="139055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D1D5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278" y="4468476"/>
            <a:ext cx="3276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program_id = 1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08233" y="4735106"/>
            <a:ext cx="3190780" cy="609600"/>
          </a:xfrm>
          <a:custGeom>
            <a:avLst/>
            <a:gdLst/>
            <a:ahLst/>
            <a:cxnLst/>
            <a:rect l="l" t="t" r="r" b="b"/>
            <a:pathLst>
              <a:path w="3190780" h="609600">
                <a:moveTo>
                  <a:pt x="37910" y="0"/>
                </a:moveTo>
                <a:lnTo>
                  <a:pt x="3152680" y="0"/>
                </a:lnTo>
                <a:cubicBezTo>
                  <a:pt x="3173708" y="0"/>
                  <a:pt x="3190780" y="17072"/>
                  <a:pt x="3190780" y="38100"/>
                </a:cubicBezTo>
                <a:lnTo>
                  <a:pt x="3190780" y="571500"/>
                </a:lnTo>
                <a:cubicBezTo>
                  <a:pt x="3190780" y="592528"/>
                  <a:pt x="3173708" y="609600"/>
                  <a:pt x="3152680" y="609600"/>
                </a:cubicBez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28" name="Shape 26"/>
          <p:cNvSpPr/>
          <p:nvPr/>
        </p:nvSpPr>
        <p:spPr>
          <a:xfrm>
            <a:off x="4508233" y="4735106"/>
            <a:ext cx="37910" cy="609600"/>
          </a:xfrm>
          <a:custGeom>
            <a:avLst/>
            <a:gdLst/>
            <a:ahLst/>
            <a:cxnLst/>
            <a:rect l="l" t="t" r="r" b="b"/>
            <a:pathLst>
              <a:path w="37910" h="609600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9" name="Text 27"/>
          <p:cNvSpPr/>
          <p:nvPr/>
        </p:nvSpPr>
        <p:spPr>
          <a:xfrm>
            <a:off x="4641438" y="4849355"/>
            <a:ext cx="3009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block_start = 256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offsets = [256..511]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89278" y="5420678"/>
            <a:ext cx="3276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Handles elements 256–511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35830" y="4306615"/>
            <a:ext cx="3533680" cy="1466755"/>
          </a:xfrm>
          <a:custGeom>
            <a:avLst/>
            <a:gdLst/>
            <a:ahLst/>
            <a:cxnLst/>
            <a:rect l="l" t="t" r="r" b="b"/>
            <a:pathLst>
              <a:path w="3533680" h="1466755">
                <a:moveTo>
                  <a:pt x="76198" y="0"/>
                </a:moveTo>
                <a:lnTo>
                  <a:pt x="3457482" y="0"/>
                </a:lnTo>
                <a:cubicBezTo>
                  <a:pt x="3499565" y="0"/>
                  <a:pt x="3533680" y="34115"/>
                  <a:pt x="3533680" y="76198"/>
                </a:cubicBezTo>
                <a:lnTo>
                  <a:pt x="3533680" y="1390557"/>
                </a:lnTo>
                <a:cubicBezTo>
                  <a:pt x="3533680" y="1432640"/>
                  <a:pt x="3499565" y="1466755"/>
                  <a:pt x="3457482" y="1466755"/>
                </a:cubicBezTo>
                <a:lnTo>
                  <a:pt x="76198" y="1466755"/>
                </a:lnTo>
                <a:cubicBezTo>
                  <a:pt x="34115" y="1466755"/>
                  <a:pt x="0" y="1432640"/>
                  <a:pt x="0" y="139055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 w="25274">
            <a:solidFill>
              <a:srgbClr val="D1D5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7690" y="4468476"/>
            <a:ext cx="3276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program_id = 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16645" y="4735106"/>
            <a:ext cx="3190780" cy="609600"/>
          </a:xfrm>
          <a:custGeom>
            <a:avLst/>
            <a:gdLst/>
            <a:ahLst/>
            <a:cxnLst/>
            <a:rect l="l" t="t" r="r" b="b"/>
            <a:pathLst>
              <a:path w="3190780" h="609600">
                <a:moveTo>
                  <a:pt x="37910" y="0"/>
                </a:moveTo>
                <a:lnTo>
                  <a:pt x="3152680" y="0"/>
                </a:lnTo>
                <a:cubicBezTo>
                  <a:pt x="3173708" y="0"/>
                  <a:pt x="3190780" y="17072"/>
                  <a:pt x="3190780" y="38100"/>
                </a:cubicBezTo>
                <a:lnTo>
                  <a:pt x="3190780" y="571500"/>
                </a:lnTo>
                <a:cubicBezTo>
                  <a:pt x="3190780" y="592528"/>
                  <a:pt x="3173708" y="609600"/>
                  <a:pt x="3152680" y="609600"/>
                </a:cubicBez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34" name="Shape 32"/>
          <p:cNvSpPr/>
          <p:nvPr/>
        </p:nvSpPr>
        <p:spPr>
          <a:xfrm>
            <a:off x="8216645" y="4735106"/>
            <a:ext cx="37910" cy="609600"/>
          </a:xfrm>
          <a:custGeom>
            <a:avLst/>
            <a:gdLst/>
            <a:ahLst/>
            <a:cxnLst/>
            <a:rect l="l" t="t" r="r" b="b"/>
            <a:pathLst>
              <a:path w="37910" h="609600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3" y="609600"/>
                  <a:pt x="0" y="592627"/>
                  <a:pt x="0" y="571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5" name="Text 33"/>
          <p:cNvSpPr/>
          <p:nvPr/>
        </p:nvSpPr>
        <p:spPr>
          <a:xfrm>
            <a:off x="8349850" y="4849355"/>
            <a:ext cx="3009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block_start = 512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offsets = [512..767]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97690" y="5420678"/>
            <a:ext cx="3276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Handles elements 512–767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9260" y="615256"/>
            <a:ext cx="11665604" cy="33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5" b="1" dirty="0" err="1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tl.arange</a:t>
            </a:r>
            <a:endParaRPr lang="en-US" sz="1600" dirty="0">
              <a:latin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75935" y="3383603"/>
            <a:ext cx="5586585" cy="2943783"/>
            <a:chOff x="339570" y="2448869"/>
            <a:chExt cx="5586585" cy="2943783"/>
          </a:xfrm>
        </p:grpSpPr>
        <p:sp>
          <p:nvSpPr>
            <p:cNvPr id="5" name="Shape 3"/>
            <p:cNvSpPr/>
            <p:nvPr/>
          </p:nvSpPr>
          <p:spPr>
            <a:xfrm>
              <a:off x="356466" y="2448869"/>
              <a:ext cx="5569520" cy="679220"/>
            </a:xfrm>
            <a:custGeom>
              <a:avLst/>
              <a:gdLst/>
              <a:ahLst/>
              <a:cxnLst/>
              <a:rect l="l" t="t" r="r" b="b"/>
              <a:pathLst>
                <a:path w="5569520" h="679220">
                  <a:moveTo>
                    <a:pt x="33792" y="0"/>
                  </a:moveTo>
                  <a:lnTo>
                    <a:pt x="5467637" y="0"/>
                  </a:lnTo>
                  <a:cubicBezTo>
                    <a:pt x="5523905" y="0"/>
                    <a:pt x="5569520" y="45615"/>
                    <a:pt x="5569520" y="101883"/>
                  </a:cubicBezTo>
                  <a:lnTo>
                    <a:pt x="5569520" y="577337"/>
                  </a:lnTo>
                  <a:cubicBezTo>
                    <a:pt x="5569520" y="633605"/>
                    <a:pt x="5523905" y="679220"/>
                    <a:pt x="5467637" y="679220"/>
                  </a:cubicBezTo>
                  <a:lnTo>
                    <a:pt x="33792" y="679220"/>
                  </a:lnTo>
                  <a:cubicBezTo>
                    <a:pt x="15129" y="679220"/>
                    <a:pt x="0" y="664091"/>
                    <a:pt x="0" y="645428"/>
                  </a:cubicBezTo>
                  <a:lnTo>
                    <a:pt x="0" y="33792"/>
                  </a:lnTo>
                  <a:cubicBezTo>
                    <a:pt x="0" y="15142"/>
                    <a:pt x="15142" y="0"/>
                    <a:pt x="33792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356466" y="2448869"/>
              <a:ext cx="33792" cy="679220"/>
            </a:xfrm>
            <a:custGeom>
              <a:avLst/>
              <a:gdLst/>
              <a:ahLst/>
              <a:cxnLst/>
              <a:rect l="l" t="t" r="r" b="b"/>
              <a:pathLst>
                <a:path w="33792" h="679220">
                  <a:moveTo>
                    <a:pt x="33792" y="0"/>
                  </a:moveTo>
                  <a:lnTo>
                    <a:pt x="33792" y="0"/>
                  </a:lnTo>
                  <a:lnTo>
                    <a:pt x="33792" y="679220"/>
                  </a:lnTo>
                  <a:lnTo>
                    <a:pt x="33792" y="679220"/>
                  </a:lnTo>
                  <a:cubicBezTo>
                    <a:pt x="15129" y="679220"/>
                    <a:pt x="0" y="664091"/>
                    <a:pt x="0" y="645428"/>
                  </a:cubicBezTo>
                  <a:lnTo>
                    <a:pt x="0" y="33792"/>
                  </a:lnTo>
                  <a:cubicBezTo>
                    <a:pt x="0" y="15142"/>
                    <a:pt x="15142" y="0"/>
                    <a:pt x="3379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577105" y="2652611"/>
              <a:ext cx="5229994" cy="28017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335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tl.arange(</a:t>
              </a:r>
              <a:r>
                <a:rPr lang="en-US" sz="1335" dirty="0">
                  <a:solidFill>
                    <a:srgbClr val="009900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0</a:t>
              </a:r>
              <a:r>
                <a:rPr lang="en-US" sz="1335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, BLOCK_SIZE)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39570" y="3336043"/>
              <a:ext cx="5586585" cy="925437"/>
            </a:xfrm>
            <a:custGeom>
              <a:avLst/>
              <a:gdLst/>
              <a:ahLst/>
              <a:cxnLst/>
              <a:rect l="l" t="t" r="r" b="b"/>
              <a:pathLst>
                <a:path w="5586585" h="925437">
                  <a:moveTo>
                    <a:pt x="67918" y="0"/>
                  </a:moveTo>
                  <a:lnTo>
                    <a:pt x="5518667" y="0"/>
                  </a:lnTo>
                  <a:cubicBezTo>
                    <a:pt x="5556152" y="0"/>
                    <a:pt x="5586585" y="30433"/>
                    <a:pt x="5586585" y="67918"/>
                  </a:cubicBezTo>
                  <a:lnTo>
                    <a:pt x="5586585" y="857519"/>
                  </a:lnTo>
                  <a:cubicBezTo>
                    <a:pt x="5586585" y="895004"/>
                    <a:pt x="5556152" y="925437"/>
                    <a:pt x="5518667" y="925437"/>
                  </a:cubicBezTo>
                  <a:lnTo>
                    <a:pt x="67918" y="925437"/>
                  </a:lnTo>
                  <a:cubicBezTo>
                    <a:pt x="30433" y="925437"/>
                    <a:pt x="0" y="895004"/>
                    <a:pt x="0" y="857519"/>
                  </a:cubicBezTo>
                  <a:lnTo>
                    <a:pt x="0" y="67918"/>
                  </a:lnTo>
                  <a:cubicBezTo>
                    <a:pt x="0" y="30433"/>
                    <a:pt x="30433" y="0"/>
                    <a:pt x="67918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9" name="Shape 7"/>
            <p:cNvSpPr/>
            <p:nvPr/>
          </p:nvSpPr>
          <p:spPr>
            <a:xfrm>
              <a:off x="534793" y="3522753"/>
              <a:ext cx="203766" cy="203766"/>
            </a:xfrm>
            <a:custGeom>
              <a:avLst/>
              <a:gdLst/>
              <a:ahLst/>
              <a:cxnLst/>
              <a:rect l="l" t="t" r="r" b="b"/>
              <a:pathLst>
                <a:path w="203766" h="203766">
                  <a:moveTo>
                    <a:pt x="26227" y="90939"/>
                  </a:moveTo>
                  <a:cubicBezTo>
                    <a:pt x="31520" y="53926"/>
                    <a:pt x="63398" y="25471"/>
                    <a:pt x="101883" y="25471"/>
                  </a:cubicBezTo>
                  <a:cubicBezTo>
                    <a:pt x="122976" y="25471"/>
                    <a:pt x="142079" y="34027"/>
                    <a:pt x="155929" y="47837"/>
                  </a:cubicBezTo>
                  <a:cubicBezTo>
                    <a:pt x="156008" y="47917"/>
                    <a:pt x="156088" y="47996"/>
                    <a:pt x="156168" y="48076"/>
                  </a:cubicBezTo>
                  <a:lnTo>
                    <a:pt x="159192" y="50942"/>
                  </a:lnTo>
                  <a:lnTo>
                    <a:pt x="140129" y="50942"/>
                  </a:lnTo>
                  <a:cubicBezTo>
                    <a:pt x="133085" y="50942"/>
                    <a:pt x="127394" y="56633"/>
                    <a:pt x="127394" y="63677"/>
                  </a:cubicBezTo>
                  <a:cubicBezTo>
                    <a:pt x="127394" y="70721"/>
                    <a:pt x="133085" y="76412"/>
                    <a:pt x="140129" y="76412"/>
                  </a:cubicBezTo>
                  <a:lnTo>
                    <a:pt x="191070" y="76412"/>
                  </a:lnTo>
                  <a:cubicBezTo>
                    <a:pt x="198115" y="76412"/>
                    <a:pt x="203806" y="70721"/>
                    <a:pt x="203806" y="63677"/>
                  </a:cubicBezTo>
                  <a:lnTo>
                    <a:pt x="203806" y="12735"/>
                  </a:lnTo>
                  <a:cubicBezTo>
                    <a:pt x="203806" y="5691"/>
                    <a:pt x="198115" y="0"/>
                    <a:pt x="191070" y="0"/>
                  </a:cubicBezTo>
                  <a:cubicBezTo>
                    <a:pt x="184026" y="0"/>
                    <a:pt x="178335" y="5691"/>
                    <a:pt x="178335" y="12735"/>
                  </a:cubicBezTo>
                  <a:lnTo>
                    <a:pt x="178335" y="33988"/>
                  </a:lnTo>
                  <a:lnTo>
                    <a:pt x="173838" y="29729"/>
                  </a:lnTo>
                  <a:cubicBezTo>
                    <a:pt x="155411" y="11382"/>
                    <a:pt x="129941" y="0"/>
                    <a:pt x="101883" y="0"/>
                  </a:cubicBezTo>
                  <a:cubicBezTo>
                    <a:pt x="50544" y="0"/>
                    <a:pt x="8079" y="37967"/>
                    <a:pt x="1035" y="87357"/>
                  </a:cubicBezTo>
                  <a:cubicBezTo>
                    <a:pt x="40" y="94321"/>
                    <a:pt x="4855" y="100769"/>
                    <a:pt x="11820" y="101764"/>
                  </a:cubicBezTo>
                  <a:cubicBezTo>
                    <a:pt x="18785" y="102759"/>
                    <a:pt x="25232" y="97903"/>
                    <a:pt x="26227" y="90978"/>
                  </a:cubicBezTo>
                  <a:close/>
                  <a:moveTo>
                    <a:pt x="202731" y="116409"/>
                  </a:moveTo>
                  <a:cubicBezTo>
                    <a:pt x="203726" y="109445"/>
                    <a:pt x="198871" y="102997"/>
                    <a:pt x="191946" y="102002"/>
                  </a:cubicBezTo>
                  <a:cubicBezTo>
                    <a:pt x="185021" y="101007"/>
                    <a:pt x="178534" y="105863"/>
                    <a:pt x="177539" y="112788"/>
                  </a:cubicBezTo>
                  <a:cubicBezTo>
                    <a:pt x="172246" y="149800"/>
                    <a:pt x="140368" y="178255"/>
                    <a:pt x="101883" y="178255"/>
                  </a:cubicBezTo>
                  <a:cubicBezTo>
                    <a:pt x="80790" y="178255"/>
                    <a:pt x="61687" y="169699"/>
                    <a:pt x="47837" y="155889"/>
                  </a:cubicBezTo>
                  <a:cubicBezTo>
                    <a:pt x="47758" y="155809"/>
                    <a:pt x="47678" y="155730"/>
                    <a:pt x="47598" y="155650"/>
                  </a:cubicBezTo>
                  <a:lnTo>
                    <a:pt x="44574" y="152785"/>
                  </a:lnTo>
                  <a:lnTo>
                    <a:pt x="63637" y="152785"/>
                  </a:lnTo>
                  <a:cubicBezTo>
                    <a:pt x="70681" y="152785"/>
                    <a:pt x="76372" y="147094"/>
                    <a:pt x="76372" y="140049"/>
                  </a:cubicBezTo>
                  <a:cubicBezTo>
                    <a:pt x="76372" y="133005"/>
                    <a:pt x="70681" y="127314"/>
                    <a:pt x="63637" y="127314"/>
                  </a:cubicBezTo>
                  <a:lnTo>
                    <a:pt x="12735" y="127354"/>
                  </a:lnTo>
                  <a:cubicBezTo>
                    <a:pt x="9353" y="127354"/>
                    <a:pt x="6089" y="128707"/>
                    <a:pt x="3701" y="131135"/>
                  </a:cubicBezTo>
                  <a:cubicBezTo>
                    <a:pt x="1313" y="133562"/>
                    <a:pt x="-40" y="136786"/>
                    <a:pt x="0" y="140209"/>
                  </a:cubicBezTo>
                  <a:lnTo>
                    <a:pt x="398" y="190752"/>
                  </a:lnTo>
                  <a:cubicBezTo>
                    <a:pt x="438" y="197796"/>
                    <a:pt x="6208" y="203448"/>
                    <a:pt x="13253" y="203368"/>
                  </a:cubicBezTo>
                  <a:cubicBezTo>
                    <a:pt x="20297" y="203288"/>
                    <a:pt x="25948" y="197558"/>
                    <a:pt x="25869" y="190513"/>
                  </a:cubicBezTo>
                  <a:lnTo>
                    <a:pt x="25710" y="170017"/>
                  </a:lnTo>
                  <a:lnTo>
                    <a:pt x="29968" y="174037"/>
                  </a:lnTo>
                  <a:cubicBezTo>
                    <a:pt x="48394" y="192384"/>
                    <a:pt x="73825" y="203766"/>
                    <a:pt x="101883" y="203766"/>
                  </a:cubicBezTo>
                  <a:cubicBezTo>
                    <a:pt x="153222" y="203766"/>
                    <a:pt x="195687" y="165799"/>
                    <a:pt x="202731" y="116409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0" name="Text 8"/>
            <p:cNvSpPr/>
            <p:nvPr/>
          </p:nvSpPr>
          <p:spPr>
            <a:xfrm>
              <a:off x="865855" y="3505794"/>
              <a:ext cx="1103733" cy="23772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3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Generates vector indices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09323" y="3845362"/>
              <a:ext cx="5323387" cy="2462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Generates a contiguous integer array from start to end-1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39570" y="4467215"/>
              <a:ext cx="5586585" cy="925437"/>
            </a:xfrm>
            <a:custGeom>
              <a:avLst/>
              <a:gdLst/>
              <a:ahLst/>
              <a:cxnLst/>
              <a:rect l="l" t="t" r="r" b="b"/>
              <a:pathLst>
                <a:path w="5586585" h="925437">
                  <a:moveTo>
                    <a:pt x="67918" y="0"/>
                  </a:moveTo>
                  <a:lnTo>
                    <a:pt x="5518667" y="0"/>
                  </a:lnTo>
                  <a:cubicBezTo>
                    <a:pt x="5556152" y="0"/>
                    <a:pt x="5586585" y="30433"/>
                    <a:pt x="5586585" y="67918"/>
                  </a:cubicBezTo>
                  <a:lnTo>
                    <a:pt x="5586585" y="857519"/>
                  </a:lnTo>
                  <a:cubicBezTo>
                    <a:pt x="5586585" y="895004"/>
                    <a:pt x="5556152" y="925437"/>
                    <a:pt x="5518667" y="925437"/>
                  </a:cubicBezTo>
                  <a:lnTo>
                    <a:pt x="67918" y="925437"/>
                  </a:lnTo>
                  <a:cubicBezTo>
                    <a:pt x="30433" y="925437"/>
                    <a:pt x="0" y="895004"/>
                    <a:pt x="0" y="857519"/>
                  </a:cubicBezTo>
                  <a:lnTo>
                    <a:pt x="0" y="67918"/>
                  </a:lnTo>
                  <a:cubicBezTo>
                    <a:pt x="0" y="30433"/>
                    <a:pt x="30433" y="0"/>
                    <a:pt x="67918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534793" y="4653930"/>
              <a:ext cx="203766" cy="203766"/>
            </a:xfrm>
            <a:custGeom>
              <a:avLst/>
              <a:gdLst/>
              <a:ahLst/>
              <a:cxnLst/>
              <a:rect l="l" t="t" r="r" b="b"/>
              <a:pathLst>
                <a:path w="203766" h="203766">
                  <a:moveTo>
                    <a:pt x="113026" y="-517"/>
                  </a:moveTo>
                  <a:cubicBezTo>
                    <a:pt x="106141" y="-4497"/>
                    <a:pt x="97625" y="-4497"/>
                    <a:pt x="90740" y="-517"/>
                  </a:cubicBezTo>
                  <a:lnTo>
                    <a:pt x="57230" y="18824"/>
                  </a:lnTo>
                  <a:cubicBezTo>
                    <a:pt x="50345" y="22804"/>
                    <a:pt x="46086" y="30167"/>
                    <a:pt x="46086" y="38127"/>
                  </a:cubicBezTo>
                  <a:lnTo>
                    <a:pt x="46086" y="78681"/>
                  </a:lnTo>
                  <a:lnTo>
                    <a:pt x="10944" y="98978"/>
                  </a:lnTo>
                  <a:cubicBezTo>
                    <a:pt x="4059" y="102958"/>
                    <a:pt x="-199" y="110320"/>
                    <a:pt x="-199" y="118280"/>
                  </a:cubicBezTo>
                  <a:lnTo>
                    <a:pt x="-199" y="157003"/>
                  </a:lnTo>
                  <a:cubicBezTo>
                    <a:pt x="-199" y="164963"/>
                    <a:pt x="4059" y="172326"/>
                    <a:pt x="10944" y="176305"/>
                  </a:cubicBezTo>
                  <a:lnTo>
                    <a:pt x="44494" y="195647"/>
                  </a:lnTo>
                  <a:cubicBezTo>
                    <a:pt x="51379" y="199627"/>
                    <a:pt x="59896" y="199627"/>
                    <a:pt x="66781" y="195647"/>
                  </a:cubicBezTo>
                  <a:lnTo>
                    <a:pt x="101923" y="175350"/>
                  </a:lnTo>
                  <a:lnTo>
                    <a:pt x="137064" y="195647"/>
                  </a:lnTo>
                  <a:cubicBezTo>
                    <a:pt x="143950" y="199627"/>
                    <a:pt x="152466" y="199627"/>
                    <a:pt x="159351" y="195647"/>
                  </a:cubicBezTo>
                  <a:lnTo>
                    <a:pt x="192822" y="176305"/>
                  </a:lnTo>
                  <a:cubicBezTo>
                    <a:pt x="199707" y="172326"/>
                    <a:pt x="203965" y="164963"/>
                    <a:pt x="203965" y="157003"/>
                  </a:cubicBezTo>
                  <a:lnTo>
                    <a:pt x="203965" y="118280"/>
                  </a:lnTo>
                  <a:cubicBezTo>
                    <a:pt x="203965" y="110320"/>
                    <a:pt x="199707" y="102958"/>
                    <a:pt x="192822" y="98978"/>
                  </a:cubicBezTo>
                  <a:lnTo>
                    <a:pt x="157680" y="78681"/>
                  </a:lnTo>
                  <a:lnTo>
                    <a:pt x="157680" y="38127"/>
                  </a:lnTo>
                  <a:cubicBezTo>
                    <a:pt x="157680" y="30167"/>
                    <a:pt x="153421" y="22804"/>
                    <a:pt x="146536" y="18824"/>
                  </a:cubicBezTo>
                  <a:lnTo>
                    <a:pt x="113026" y="-517"/>
                  </a:lnTo>
                  <a:close/>
                  <a:moveTo>
                    <a:pt x="92331" y="116449"/>
                  </a:moveTo>
                  <a:lnTo>
                    <a:pt x="92331" y="158834"/>
                  </a:lnTo>
                  <a:lnTo>
                    <a:pt x="57190" y="179131"/>
                  </a:lnTo>
                  <a:cubicBezTo>
                    <a:pt x="56712" y="179410"/>
                    <a:pt x="56155" y="179569"/>
                    <a:pt x="55598" y="179569"/>
                  </a:cubicBezTo>
                  <a:lnTo>
                    <a:pt x="55598" y="137661"/>
                  </a:lnTo>
                  <a:lnTo>
                    <a:pt x="92331" y="116449"/>
                  </a:lnTo>
                  <a:close/>
                  <a:moveTo>
                    <a:pt x="184424" y="116688"/>
                  </a:moveTo>
                  <a:cubicBezTo>
                    <a:pt x="184703" y="117165"/>
                    <a:pt x="184862" y="117723"/>
                    <a:pt x="184862" y="118280"/>
                  </a:cubicBezTo>
                  <a:lnTo>
                    <a:pt x="184862" y="157003"/>
                  </a:lnTo>
                  <a:cubicBezTo>
                    <a:pt x="184862" y="158157"/>
                    <a:pt x="184265" y="159192"/>
                    <a:pt x="183270" y="159749"/>
                  </a:cubicBezTo>
                  <a:lnTo>
                    <a:pt x="149720" y="179091"/>
                  </a:lnTo>
                  <a:cubicBezTo>
                    <a:pt x="149243" y="179370"/>
                    <a:pt x="148686" y="179529"/>
                    <a:pt x="148128" y="179529"/>
                  </a:cubicBezTo>
                  <a:lnTo>
                    <a:pt x="148128" y="137622"/>
                  </a:lnTo>
                  <a:lnTo>
                    <a:pt x="184424" y="116688"/>
                  </a:lnTo>
                  <a:close/>
                  <a:moveTo>
                    <a:pt x="138617" y="38127"/>
                  </a:moveTo>
                  <a:lnTo>
                    <a:pt x="138617" y="78681"/>
                  </a:lnTo>
                  <a:lnTo>
                    <a:pt x="101883" y="99893"/>
                  </a:lnTo>
                  <a:lnTo>
                    <a:pt x="101883" y="57508"/>
                  </a:lnTo>
                  <a:lnTo>
                    <a:pt x="138179" y="36574"/>
                  </a:lnTo>
                  <a:cubicBezTo>
                    <a:pt x="138457" y="37052"/>
                    <a:pt x="138617" y="37609"/>
                    <a:pt x="138617" y="38166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865855" y="4636970"/>
              <a:ext cx="1010340" cy="23772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3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Tensor Operations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09323" y="4976539"/>
              <a:ext cx="5323387" cy="2462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Triton operates on </a:t>
              </a:r>
              <a:r>
                <a:rPr lang="en-US" sz="1205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tensor</a:t>
              </a:r>
              <a:r>
                <a:rPr lang="en-US" sz="120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, not individual threads</a:t>
              </a:r>
              <a:endParaRPr lang="en-US" sz="16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6267632" y="1256313"/>
            <a:ext cx="5586585" cy="5331877"/>
          </a:xfrm>
          <a:custGeom>
            <a:avLst/>
            <a:gdLst/>
            <a:ahLst/>
            <a:cxnLst/>
            <a:rect l="l" t="t" r="r" b="b"/>
            <a:pathLst>
              <a:path w="5586585" h="5331877">
                <a:moveTo>
                  <a:pt x="101892" y="0"/>
                </a:moveTo>
                <a:lnTo>
                  <a:pt x="5484693" y="0"/>
                </a:lnTo>
                <a:cubicBezTo>
                  <a:pt x="5540966" y="0"/>
                  <a:pt x="5586585" y="45619"/>
                  <a:pt x="5586585" y="101892"/>
                </a:cubicBezTo>
                <a:lnTo>
                  <a:pt x="5586585" y="5229985"/>
                </a:lnTo>
                <a:cubicBezTo>
                  <a:pt x="5586585" y="5286259"/>
                  <a:pt x="5540966" y="5331877"/>
                  <a:pt x="5484693" y="5331877"/>
                </a:cubicBezTo>
                <a:lnTo>
                  <a:pt x="101892" y="5331877"/>
                </a:lnTo>
                <a:cubicBezTo>
                  <a:pt x="45619" y="5331877"/>
                  <a:pt x="0" y="5286259"/>
                  <a:pt x="0" y="5229985"/>
                </a:cubicBezTo>
                <a:lnTo>
                  <a:pt x="0" y="101892"/>
                </a:lnTo>
                <a:cubicBezTo>
                  <a:pt x="0" y="45619"/>
                  <a:pt x="45619" y="0"/>
                  <a:pt x="10189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7" name="Text 15"/>
          <p:cNvSpPr/>
          <p:nvPr/>
        </p:nvSpPr>
        <p:spPr>
          <a:xfrm>
            <a:off x="6428923" y="1460054"/>
            <a:ext cx="5263955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Vector vs Scalar Operation Comparison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88270" y="1901530"/>
            <a:ext cx="5161988" cy="2241426"/>
          </a:xfrm>
          <a:custGeom>
            <a:avLst/>
            <a:gdLst/>
            <a:ahLst/>
            <a:cxnLst/>
            <a:rect l="l" t="t" r="r" b="b"/>
            <a:pathLst>
              <a:path w="5161988" h="2241426">
                <a:moveTo>
                  <a:pt x="33792" y="0"/>
                </a:moveTo>
                <a:lnTo>
                  <a:pt x="5094073" y="0"/>
                </a:lnTo>
                <a:cubicBezTo>
                  <a:pt x="5131581" y="0"/>
                  <a:pt x="5161988" y="30407"/>
                  <a:pt x="5161988" y="67915"/>
                </a:cubicBezTo>
                <a:lnTo>
                  <a:pt x="5161988" y="2173511"/>
                </a:lnTo>
                <a:cubicBezTo>
                  <a:pt x="5161988" y="2211020"/>
                  <a:pt x="5131581" y="2241426"/>
                  <a:pt x="5094073" y="2241426"/>
                </a:cubicBezTo>
                <a:lnTo>
                  <a:pt x="33792" y="2241426"/>
                </a:lnTo>
                <a:cubicBezTo>
                  <a:pt x="15129" y="2241426"/>
                  <a:pt x="0" y="2226297"/>
                  <a:pt x="0" y="2207634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6488270" y="1901530"/>
            <a:ext cx="33792" cy="2241426"/>
          </a:xfrm>
          <a:custGeom>
            <a:avLst/>
            <a:gdLst/>
            <a:ahLst/>
            <a:cxnLst/>
            <a:rect l="l" t="t" r="r" b="b"/>
            <a:pathLst>
              <a:path w="33792" h="2241426">
                <a:moveTo>
                  <a:pt x="33792" y="0"/>
                </a:moveTo>
                <a:lnTo>
                  <a:pt x="33792" y="0"/>
                </a:lnTo>
                <a:lnTo>
                  <a:pt x="33792" y="2241426"/>
                </a:lnTo>
                <a:lnTo>
                  <a:pt x="33792" y="2241426"/>
                </a:lnTo>
                <a:cubicBezTo>
                  <a:pt x="15129" y="2241426"/>
                  <a:pt x="0" y="2226297"/>
                  <a:pt x="0" y="2207634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99A1AF"/>
          </a:solidFill>
        </p:spPr>
      </p:sp>
      <p:sp>
        <p:nvSpPr>
          <p:cNvPr id="20" name="Text 18"/>
          <p:cNvSpPr/>
          <p:nvPr/>
        </p:nvSpPr>
        <p:spPr>
          <a:xfrm>
            <a:off x="6674918" y="2071281"/>
            <a:ext cx="4864914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CUDA (Scalar Operations)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91814" y="2308946"/>
            <a:ext cx="4788417" cy="1426362"/>
          </a:xfrm>
          <a:custGeom>
            <a:avLst/>
            <a:gdLst/>
            <a:ahLst/>
            <a:cxnLst/>
            <a:rect l="l" t="t" r="r" b="b"/>
            <a:pathLst>
              <a:path w="4788417" h="1426362">
                <a:moveTo>
                  <a:pt x="33792" y="0"/>
                </a:moveTo>
                <a:lnTo>
                  <a:pt x="4754455" y="0"/>
                </a:lnTo>
                <a:cubicBezTo>
                  <a:pt x="4773212" y="0"/>
                  <a:pt x="4788417" y="15205"/>
                  <a:pt x="4788417" y="33962"/>
                </a:cubicBezTo>
                <a:lnTo>
                  <a:pt x="4788417" y="1392400"/>
                </a:lnTo>
                <a:cubicBezTo>
                  <a:pt x="4788417" y="1411157"/>
                  <a:pt x="4773212" y="1426362"/>
                  <a:pt x="4754455" y="1426362"/>
                </a:cubicBezTo>
                <a:lnTo>
                  <a:pt x="33792" y="1426362"/>
                </a:lnTo>
                <a:cubicBezTo>
                  <a:pt x="15129" y="1426362"/>
                  <a:pt x="0" y="1411233"/>
                  <a:pt x="0" y="1392570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22" name="Shape 20"/>
          <p:cNvSpPr/>
          <p:nvPr/>
        </p:nvSpPr>
        <p:spPr>
          <a:xfrm>
            <a:off x="6691814" y="2308946"/>
            <a:ext cx="33792" cy="1426362"/>
          </a:xfrm>
          <a:custGeom>
            <a:avLst/>
            <a:gdLst/>
            <a:ahLst/>
            <a:cxnLst/>
            <a:rect l="l" t="t" r="r" b="b"/>
            <a:pathLst>
              <a:path w="33792" h="1426362">
                <a:moveTo>
                  <a:pt x="33792" y="0"/>
                </a:moveTo>
                <a:lnTo>
                  <a:pt x="33792" y="0"/>
                </a:lnTo>
                <a:lnTo>
                  <a:pt x="33792" y="1426362"/>
                </a:lnTo>
                <a:lnTo>
                  <a:pt x="33792" y="1426362"/>
                </a:lnTo>
                <a:cubicBezTo>
                  <a:pt x="15129" y="1426362"/>
                  <a:pt x="0" y="1411233"/>
                  <a:pt x="0" y="1392570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6810549" y="2410788"/>
            <a:ext cx="4635677" cy="12225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0" dirty="0">
                <a:solidFill>
                  <a:srgbClr val="6666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// Each thread handles one element</a:t>
            </a:r>
            <a:r>
              <a:rPr lang="en-US" sz="1070" b="1" dirty="0">
                <a:solidFill>
                  <a:srgbClr val="0066CC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int</a:t>
            </a:r>
            <a:r>
              <a:rPr lang="en-US" sz="107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idx = blockIdx.x * blockDim.x 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7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         + threadIdx.x;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70" b="1" dirty="0">
                <a:solidFill>
                  <a:srgbClr val="0066CC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float</a:t>
            </a:r>
            <a:r>
              <a:rPr lang="en-US" sz="107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x = input[idx];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70" b="1" dirty="0">
                <a:solidFill>
                  <a:srgbClr val="0066CC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float</a:t>
            </a:r>
            <a:r>
              <a:rPr lang="en-US" sz="107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 y = x * </a:t>
            </a:r>
            <a:r>
              <a:rPr lang="en-US" sz="1070" dirty="0">
                <a:solidFill>
                  <a:srgbClr val="0099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2.0</a:t>
            </a:r>
            <a:r>
              <a:rPr lang="en-US" sz="107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sz="1070" dirty="0">
                <a:solidFill>
                  <a:srgbClr val="1E2939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output[idx] = y;</a:t>
            </a:r>
            <a:endParaRPr lang="en-US" sz="1600" dirty="0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74918" y="3802990"/>
            <a:ext cx="4864914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Each thread handles one scalar value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88270" y="4346237"/>
            <a:ext cx="5161988" cy="2037660"/>
          </a:xfrm>
          <a:custGeom>
            <a:avLst/>
            <a:gdLst/>
            <a:ahLst/>
            <a:cxnLst/>
            <a:rect l="l" t="t" r="r" b="b"/>
            <a:pathLst>
              <a:path w="5161988" h="2037660">
                <a:moveTo>
                  <a:pt x="33792" y="0"/>
                </a:moveTo>
                <a:lnTo>
                  <a:pt x="5094073" y="0"/>
                </a:lnTo>
                <a:cubicBezTo>
                  <a:pt x="5131581" y="0"/>
                  <a:pt x="5161988" y="30407"/>
                  <a:pt x="5161988" y="67915"/>
                </a:cubicBezTo>
                <a:lnTo>
                  <a:pt x="5161988" y="1969745"/>
                </a:lnTo>
                <a:cubicBezTo>
                  <a:pt x="5161988" y="2007253"/>
                  <a:pt x="5131581" y="2037660"/>
                  <a:pt x="5094073" y="2037660"/>
                </a:cubicBezTo>
                <a:lnTo>
                  <a:pt x="33792" y="2037660"/>
                </a:lnTo>
                <a:cubicBezTo>
                  <a:pt x="15129" y="2037660"/>
                  <a:pt x="0" y="2022531"/>
                  <a:pt x="0" y="2003868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6488270" y="4346237"/>
            <a:ext cx="33792" cy="2037660"/>
          </a:xfrm>
          <a:custGeom>
            <a:avLst/>
            <a:gdLst/>
            <a:ahLst/>
            <a:cxnLst/>
            <a:rect l="l" t="t" r="r" b="b"/>
            <a:pathLst>
              <a:path w="33792" h="2037660">
                <a:moveTo>
                  <a:pt x="33792" y="0"/>
                </a:moveTo>
                <a:lnTo>
                  <a:pt x="33792" y="0"/>
                </a:lnTo>
                <a:lnTo>
                  <a:pt x="33792" y="2037660"/>
                </a:lnTo>
                <a:lnTo>
                  <a:pt x="33792" y="2037660"/>
                </a:lnTo>
                <a:cubicBezTo>
                  <a:pt x="15129" y="2037660"/>
                  <a:pt x="0" y="2022531"/>
                  <a:pt x="0" y="2003868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Text 25"/>
          <p:cNvSpPr/>
          <p:nvPr/>
        </p:nvSpPr>
        <p:spPr>
          <a:xfrm>
            <a:off x="6674918" y="4515988"/>
            <a:ext cx="4864914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Triton (Vector Operations)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91814" y="4753657"/>
            <a:ext cx="4788417" cy="1222596"/>
          </a:xfrm>
          <a:custGeom>
            <a:avLst/>
            <a:gdLst/>
            <a:ahLst/>
            <a:cxnLst/>
            <a:rect l="l" t="t" r="r" b="b"/>
            <a:pathLst>
              <a:path w="4788417" h="1222596">
                <a:moveTo>
                  <a:pt x="33792" y="0"/>
                </a:moveTo>
                <a:lnTo>
                  <a:pt x="4754453" y="0"/>
                </a:lnTo>
                <a:cubicBezTo>
                  <a:pt x="4773211" y="0"/>
                  <a:pt x="4788417" y="15206"/>
                  <a:pt x="4788417" y="33964"/>
                </a:cubicBezTo>
                <a:lnTo>
                  <a:pt x="4788417" y="1188632"/>
                </a:lnTo>
                <a:cubicBezTo>
                  <a:pt x="4788417" y="1207390"/>
                  <a:pt x="4773211" y="1222596"/>
                  <a:pt x="4754453" y="1222596"/>
                </a:cubicBezTo>
                <a:lnTo>
                  <a:pt x="33792" y="1222596"/>
                </a:lnTo>
                <a:cubicBezTo>
                  <a:pt x="15129" y="1222596"/>
                  <a:pt x="0" y="1207467"/>
                  <a:pt x="0" y="1188804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29" name="Shape 27"/>
          <p:cNvSpPr/>
          <p:nvPr/>
        </p:nvSpPr>
        <p:spPr>
          <a:xfrm>
            <a:off x="6691814" y="4753657"/>
            <a:ext cx="33792" cy="1222596"/>
          </a:xfrm>
          <a:custGeom>
            <a:avLst/>
            <a:gdLst/>
            <a:ahLst/>
            <a:cxnLst/>
            <a:rect l="l" t="t" r="r" b="b"/>
            <a:pathLst>
              <a:path w="33792" h="1222596">
                <a:moveTo>
                  <a:pt x="33792" y="0"/>
                </a:moveTo>
                <a:lnTo>
                  <a:pt x="33792" y="0"/>
                </a:lnTo>
                <a:lnTo>
                  <a:pt x="33792" y="1222596"/>
                </a:lnTo>
                <a:lnTo>
                  <a:pt x="33792" y="1222596"/>
                </a:lnTo>
                <a:cubicBezTo>
                  <a:pt x="15129" y="1222596"/>
                  <a:pt x="0" y="1207467"/>
                  <a:pt x="0" y="1188804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Text 28"/>
          <p:cNvSpPr/>
          <p:nvPr/>
        </p:nvSpPr>
        <p:spPr>
          <a:xfrm>
            <a:off x="6810549" y="4855495"/>
            <a:ext cx="4635677" cy="101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70" dirty="0">
                <a:solidFill>
                  <a:srgbClr val="66666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Each program handles one vector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7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offsets = block_start + tl.arange(</a:t>
            </a:r>
            <a:r>
              <a:rPr lang="en-US" sz="1070" dirty="0">
                <a:solidFill>
                  <a:srgbClr val="0099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</a:t>
            </a:r>
            <a:r>
              <a:rPr lang="en-US" sz="107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 BLOCK)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7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x = tl.load(ptr + offsets)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7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y = x * </a:t>
            </a:r>
            <a:r>
              <a:rPr lang="en-US" sz="1070" dirty="0">
                <a:solidFill>
                  <a:srgbClr val="0099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2.0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70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tl.store(out_ptr + offsets, y)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4918" y="6043960"/>
            <a:ext cx="4864914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Each program handles one vector (multiple elements)</a:t>
            </a:r>
            <a:endParaRPr lang="en-US" sz="1600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13" y="1516155"/>
            <a:ext cx="5586585" cy="144986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595" y="6000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mask </a:t>
            </a:r>
            <a:r>
              <a:rPr lang="zh-CN" altLang="en-US" sz="2250" b="1" dirty="0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 Role</a:t>
            </a:r>
            <a:endParaRPr lang="en-US" sz="1600" dirty="0">
              <a:latin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33259" y="1451391"/>
            <a:ext cx="5635546" cy="635000"/>
            <a:chOff x="333259" y="1174517"/>
            <a:chExt cx="5635546" cy="635000"/>
          </a:xfrm>
        </p:grpSpPr>
        <p:sp>
          <p:nvSpPr>
            <p:cNvPr id="5" name="Shape 3"/>
            <p:cNvSpPr/>
            <p:nvPr/>
          </p:nvSpPr>
          <p:spPr>
            <a:xfrm>
              <a:off x="333259" y="1174517"/>
              <a:ext cx="5635546" cy="635000"/>
            </a:xfrm>
            <a:custGeom>
              <a:avLst/>
              <a:gdLst/>
              <a:ahLst/>
              <a:cxnLst/>
              <a:rect l="l" t="t" r="r" b="b"/>
              <a:pathLst>
                <a:path w="5635546" h="635000">
                  <a:moveTo>
                    <a:pt x="31592" y="0"/>
                  </a:moveTo>
                  <a:lnTo>
                    <a:pt x="5540296" y="0"/>
                  </a:lnTo>
                  <a:cubicBezTo>
                    <a:pt x="5592866" y="0"/>
                    <a:pt x="5635546" y="42680"/>
                    <a:pt x="5635546" y="95250"/>
                  </a:cubicBezTo>
                  <a:lnTo>
                    <a:pt x="5635546" y="539750"/>
                  </a:lnTo>
                  <a:cubicBezTo>
                    <a:pt x="5635546" y="592320"/>
                    <a:pt x="5592866" y="635000"/>
                    <a:pt x="5540296" y="635000"/>
                  </a:cubicBezTo>
                  <a:lnTo>
                    <a:pt x="31592" y="635000"/>
                  </a:lnTo>
                  <a:cubicBezTo>
                    <a:pt x="14144" y="635000"/>
                    <a:pt x="0" y="620856"/>
                    <a:pt x="0" y="603408"/>
                  </a:cubicBezTo>
                  <a:lnTo>
                    <a:pt x="0" y="31592"/>
                  </a:lnTo>
                  <a:cubicBezTo>
                    <a:pt x="0" y="14156"/>
                    <a:pt x="14156" y="0"/>
                    <a:pt x="31592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333259" y="1174517"/>
              <a:ext cx="31592" cy="635000"/>
            </a:xfrm>
            <a:custGeom>
              <a:avLst/>
              <a:gdLst/>
              <a:ahLst/>
              <a:cxnLst/>
              <a:rect l="l" t="t" r="r" b="b"/>
              <a:pathLst>
                <a:path w="31592" h="635000">
                  <a:moveTo>
                    <a:pt x="31592" y="0"/>
                  </a:moveTo>
                  <a:lnTo>
                    <a:pt x="31592" y="0"/>
                  </a:lnTo>
                  <a:lnTo>
                    <a:pt x="31592" y="635000"/>
                  </a:lnTo>
                  <a:lnTo>
                    <a:pt x="31592" y="635000"/>
                  </a:lnTo>
                  <a:cubicBezTo>
                    <a:pt x="14144" y="635000"/>
                    <a:pt x="0" y="620856"/>
                    <a:pt x="0" y="603408"/>
                  </a:cubicBezTo>
                  <a:lnTo>
                    <a:pt x="0" y="31592"/>
                  </a:lnTo>
                  <a:cubicBezTo>
                    <a:pt x="0" y="14156"/>
                    <a:pt x="14156" y="0"/>
                    <a:pt x="3159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539533" y="1364998"/>
              <a:ext cx="5318125" cy="26193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5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mask = offsets &lt; n_elements</a:t>
              </a:r>
              <a:endParaRPr lang="en-US" sz="1600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33259" y="2237056"/>
            <a:ext cx="5635546" cy="928688"/>
            <a:chOff x="333259" y="2003932"/>
            <a:chExt cx="5635546" cy="928688"/>
          </a:xfrm>
        </p:grpSpPr>
        <p:sp>
          <p:nvSpPr>
            <p:cNvPr id="8" name="Shape 6"/>
            <p:cNvSpPr/>
            <p:nvPr/>
          </p:nvSpPr>
          <p:spPr>
            <a:xfrm>
              <a:off x="333259" y="2003932"/>
              <a:ext cx="5635546" cy="928688"/>
            </a:xfrm>
            <a:custGeom>
              <a:avLst/>
              <a:gdLst/>
              <a:ahLst/>
              <a:cxnLst/>
              <a:rect l="l" t="t" r="r" b="b"/>
              <a:pathLst>
                <a:path w="5635546" h="928688">
                  <a:moveTo>
                    <a:pt x="31592" y="0"/>
                  </a:moveTo>
                  <a:lnTo>
                    <a:pt x="5540300" y="0"/>
                  </a:lnTo>
                  <a:cubicBezTo>
                    <a:pt x="5592903" y="0"/>
                    <a:pt x="5635546" y="42643"/>
                    <a:pt x="5635546" y="95246"/>
                  </a:cubicBezTo>
                  <a:lnTo>
                    <a:pt x="5635546" y="833441"/>
                  </a:lnTo>
                  <a:cubicBezTo>
                    <a:pt x="5635546" y="886044"/>
                    <a:pt x="5592903" y="928688"/>
                    <a:pt x="5540300" y="928688"/>
                  </a:cubicBezTo>
                  <a:lnTo>
                    <a:pt x="31592" y="928688"/>
                  </a:lnTo>
                  <a:cubicBezTo>
                    <a:pt x="14144" y="928688"/>
                    <a:pt x="0" y="914543"/>
                    <a:pt x="0" y="897095"/>
                  </a:cubicBezTo>
                  <a:lnTo>
                    <a:pt x="0" y="31592"/>
                  </a:lnTo>
                  <a:cubicBezTo>
                    <a:pt x="0" y="14156"/>
                    <a:pt x="14156" y="0"/>
                    <a:pt x="3159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9" name="Shape 7"/>
            <p:cNvSpPr/>
            <p:nvPr/>
          </p:nvSpPr>
          <p:spPr>
            <a:xfrm>
              <a:off x="333259" y="2003932"/>
              <a:ext cx="31592" cy="928688"/>
            </a:xfrm>
            <a:custGeom>
              <a:avLst/>
              <a:gdLst/>
              <a:ahLst/>
              <a:cxnLst/>
              <a:rect l="l" t="t" r="r" b="b"/>
              <a:pathLst>
                <a:path w="31592" h="928688">
                  <a:moveTo>
                    <a:pt x="31592" y="0"/>
                  </a:moveTo>
                  <a:lnTo>
                    <a:pt x="31592" y="0"/>
                  </a:lnTo>
                  <a:lnTo>
                    <a:pt x="31592" y="928688"/>
                  </a:lnTo>
                  <a:lnTo>
                    <a:pt x="31592" y="928688"/>
                  </a:lnTo>
                  <a:cubicBezTo>
                    <a:pt x="14144" y="928688"/>
                    <a:pt x="0" y="914543"/>
                    <a:pt x="0" y="897095"/>
                  </a:cubicBezTo>
                  <a:lnTo>
                    <a:pt x="0" y="31592"/>
                  </a:lnTo>
                  <a:cubicBezTo>
                    <a:pt x="0" y="14156"/>
                    <a:pt x="14156" y="0"/>
                    <a:pt x="3159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0" name="Shape 8"/>
            <p:cNvSpPr/>
            <p:nvPr/>
          </p:nvSpPr>
          <p:spPr>
            <a:xfrm>
              <a:off x="563345" y="221026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96962" y="0"/>
                    <a:pt x="98673" y="372"/>
                    <a:pt x="100236" y="1079"/>
                  </a:cubicBezTo>
                  <a:lnTo>
                    <a:pt x="170334" y="30807"/>
                  </a:lnTo>
                  <a:cubicBezTo>
                    <a:pt x="178519" y="34268"/>
                    <a:pt x="184621" y="42342"/>
                    <a:pt x="184584" y="52090"/>
                  </a:cubicBezTo>
                  <a:cubicBezTo>
                    <a:pt x="184398" y="88999"/>
                    <a:pt x="169218" y="156530"/>
                    <a:pt x="105110" y="187226"/>
                  </a:cubicBezTo>
                  <a:cubicBezTo>
                    <a:pt x="98896" y="190202"/>
                    <a:pt x="91678" y="190202"/>
                    <a:pt x="85465" y="187226"/>
                  </a:cubicBezTo>
                  <a:cubicBezTo>
                    <a:pt x="21320" y="156530"/>
                    <a:pt x="6176" y="88999"/>
                    <a:pt x="5990" y="52090"/>
                  </a:cubicBezTo>
                  <a:cubicBezTo>
                    <a:pt x="5953" y="42342"/>
                    <a:pt x="12055" y="34268"/>
                    <a:pt x="20241" y="30807"/>
                  </a:cubicBezTo>
                  <a:lnTo>
                    <a:pt x="90301" y="1079"/>
                  </a:lnTo>
                  <a:cubicBezTo>
                    <a:pt x="91864" y="372"/>
                    <a:pt x="93538" y="0"/>
                    <a:pt x="95250" y="0"/>
                  </a:cubicBezTo>
                  <a:close/>
                  <a:moveTo>
                    <a:pt x="95250" y="24854"/>
                  </a:moveTo>
                  <a:lnTo>
                    <a:pt x="95250" y="165534"/>
                  </a:lnTo>
                  <a:cubicBezTo>
                    <a:pt x="146596" y="140680"/>
                    <a:pt x="160400" y="85613"/>
                    <a:pt x="160734" y="52648"/>
                  </a:cubicBezTo>
                  <a:lnTo>
                    <a:pt x="95250" y="24892"/>
                  </a:lnTo>
                  <a:lnTo>
                    <a:pt x="95250" y="24892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72854" y="2194413"/>
              <a:ext cx="714375" cy="2222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0" b="1" dirty="0">
                  <a:solidFill>
                    <a:schemeClr val="bg1">
                      <a:lumMod val="65000"/>
                    </a:scheme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Core Role</a:t>
              </a:r>
              <a:endParaRPr 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39533" y="2511874"/>
              <a:ext cx="5310188" cy="2301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00" b="1" dirty="0">
                  <a:solidFill>
                    <a:schemeClr val="bg1">
                      <a:lumMod val="65000"/>
                    </a:schemeClr>
                  </a:solidFill>
                  <a:latin typeface="+mn-ea"/>
                  <a:cs typeface="MiSans" panose="00000500000000000000" pitchFamily="34" charset="-120"/>
                </a:rPr>
                <a:t>Prevent the last block from going out of bounds</a:t>
              </a:r>
              <a:r>
                <a:rPr lang="en-US" sz="1100" dirty="0">
                  <a:solidFill>
                    <a:schemeClr val="bg1">
                      <a:lumMod val="65000"/>
                    </a:schemeClr>
                  </a:solidFill>
                  <a:latin typeface="+mn-ea"/>
                  <a:cs typeface="MiSans" panose="00000500000000000000" pitchFamily="34" charset="-120"/>
                </a:rPr>
                <a:t>accessing memory</a:t>
              </a:r>
              <a:endParaRPr lang="en-US" sz="11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</p:grpSp>
      <p:sp>
        <p:nvSpPr>
          <p:cNvPr id="13" name="Shape 11"/>
          <p:cNvSpPr/>
          <p:nvPr/>
        </p:nvSpPr>
        <p:spPr>
          <a:xfrm>
            <a:off x="6222953" y="1174517"/>
            <a:ext cx="5651500" cy="1079500"/>
          </a:xfrm>
          <a:custGeom>
            <a:avLst/>
            <a:gdLst/>
            <a:ahLst/>
            <a:cxnLst/>
            <a:rect l="l" t="t" r="r" b="b"/>
            <a:pathLst>
              <a:path w="5651500" h="1079500">
                <a:moveTo>
                  <a:pt x="63496" y="0"/>
                </a:moveTo>
                <a:lnTo>
                  <a:pt x="5588004" y="0"/>
                </a:lnTo>
                <a:cubicBezTo>
                  <a:pt x="5623072" y="0"/>
                  <a:pt x="5651500" y="28428"/>
                  <a:pt x="5651500" y="63496"/>
                </a:cubicBezTo>
                <a:lnTo>
                  <a:pt x="5651500" y="1016004"/>
                </a:lnTo>
                <a:cubicBezTo>
                  <a:pt x="5651500" y="1051072"/>
                  <a:pt x="5623072" y="1079500"/>
                  <a:pt x="55880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4" name="Shape 12"/>
          <p:cNvSpPr/>
          <p:nvPr/>
        </p:nvSpPr>
        <p:spPr>
          <a:xfrm>
            <a:off x="6405466" y="13490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15" name="Text 13"/>
          <p:cNvSpPr/>
          <p:nvPr/>
        </p:nvSpPr>
        <p:spPr>
          <a:xfrm>
            <a:off x="6714974" y="1333221"/>
            <a:ext cx="2576312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When offsets ≥ </a:t>
            </a:r>
            <a:r>
              <a:rPr lang="en-US" sz="1125" b="1" dirty="0" err="1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n_elements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1654" y="1650682"/>
            <a:ext cx="539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</a:t>
            </a:r>
            <a:r>
              <a:rPr lang="en-US" sz="1000" b="1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load</a:t>
            </a:r>
            <a:r>
              <a:rPr lang="en-US" sz="10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does not access memory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81654" y="1904655"/>
            <a:ext cx="539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</a:t>
            </a:r>
            <a:r>
              <a:rPr lang="en-US" sz="1000" b="1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store</a:t>
            </a:r>
            <a:r>
              <a:rPr lang="en-US" sz="10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does not write to memory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2953" y="2380816"/>
            <a:ext cx="5651500" cy="1079500"/>
          </a:xfrm>
          <a:custGeom>
            <a:avLst/>
            <a:gdLst/>
            <a:ahLst/>
            <a:cxnLst/>
            <a:rect l="l" t="t" r="r" b="b"/>
            <a:pathLst>
              <a:path w="5651500" h="1079500">
                <a:moveTo>
                  <a:pt x="63496" y="0"/>
                </a:moveTo>
                <a:lnTo>
                  <a:pt x="5588004" y="0"/>
                </a:lnTo>
                <a:cubicBezTo>
                  <a:pt x="5623072" y="0"/>
                  <a:pt x="5651500" y="28428"/>
                  <a:pt x="5651500" y="63496"/>
                </a:cubicBezTo>
                <a:lnTo>
                  <a:pt x="5651500" y="1016004"/>
                </a:lnTo>
                <a:cubicBezTo>
                  <a:pt x="5651500" y="1051072"/>
                  <a:pt x="5623072" y="1079500"/>
                  <a:pt x="55880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9" name="Shape 17"/>
          <p:cNvSpPr/>
          <p:nvPr/>
        </p:nvSpPr>
        <p:spPr>
          <a:xfrm>
            <a:off x="6405466" y="2555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20" name="Text 18"/>
          <p:cNvSpPr/>
          <p:nvPr/>
        </p:nvSpPr>
        <p:spPr>
          <a:xfrm>
            <a:off x="6714974" y="2539516"/>
            <a:ext cx="21774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When offsets &lt; n_elements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1654" y="2856981"/>
            <a:ext cx="539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</a:t>
            </a:r>
            <a:r>
              <a:rPr lang="en-US" sz="1000" b="1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load</a:t>
            </a:r>
            <a:r>
              <a:rPr lang="en-US" sz="10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reads data normally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1654" y="3110950"/>
            <a:ext cx="539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</a:t>
            </a:r>
            <a:r>
              <a:rPr lang="en-US" sz="1000" b="1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store</a:t>
            </a:r>
            <a:r>
              <a:rPr lang="en-US" sz="10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writes results normally</a:t>
            </a:r>
            <a:endParaRPr lang="en-US" sz="160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317463" y="3650607"/>
            <a:ext cx="11557000" cy="2625938"/>
            <a:chOff x="317463" y="3650607"/>
            <a:chExt cx="11557000" cy="2625938"/>
          </a:xfrm>
        </p:grpSpPr>
        <p:sp>
          <p:nvSpPr>
            <p:cNvPr id="23" name="Shape 21"/>
            <p:cNvSpPr/>
            <p:nvPr/>
          </p:nvSpPr>
          <p:spPr>
            <a:xfrm>
              <a:off x="317463" y="3650607"/>
              <a:ext cx="11557000" cy="2625938"/>
            </a:xfrm>
            <a:custGeom>
              <a:avLst/>
              <a:gdLst/>
              <a:ahLst/>
              <a:cxnLst/>
              <a:rect l="l" t="t" r="r" b="b"/>
              <a:pathLst>
                <a:path w="11557000" h="3460750">
                  <a:moveTo>
                    <a:pt x="95240" y="0"/>
                  </a:moveTo>
                  <a:lnTo>
                    <a:pt x="11461760" y="0"/>
                  </a:lnTo>
                  <a:cubicBezTo>
                    <a:pt x="11514360" y="0"/>
                    <a:pt x="11557000" y="42640"/>
                    <a:pt x="11557000" y="95240"/>
                  </a:cubicBezTo>
                  <a:lnTo>
                    <a:pt x="11557000" y="3365510"/>
                  </a:lnTo>
                  <a:cubicBezTo>
                    <a:pt x="11557000" y="3418110"/>
                    <a:pt x="11514360" y="3460750"/>
                    <a:pt x="11461760" y="3460750"/>
                  </a:cubicBezTo>
                  <a:lnTo>
                    <a:pt x="95240" y="3460750"/>
                  </a:lnTo>
                  <a:cubicBezTo>
                    <a:pt x="42640" y="3460750"/>
                    <a:pt x="0" y="3418110"/>
                    <a:pt x="0" y="3365510"/>
                  </a:cubicBezTo>
                  <a:lnTo>
                    <a:pt x="0" y="95240"/>
                  </a:lnTo>
                  <a:cubicBezTo>
                    <a:pt x="0" y="42676"/>
                    <a:pt x="42676" y="0"/>
                    <a:pt x="95240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507941" y="3841083"/>
              <a:ext cx="11255375" cy="2222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mask Usage Example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23737" y="4190326"/>
              <a:ext cx="11160046" cy="1903628"/>
            </a:xfrm>
            <a:custGeom>
              <a:avLst/>
              <a:gdLst/>
              <a:ahLst/>
              <a:cxnLst/>
              <a:rect l="l" t="t" r="r" b="b"/>
              <a:pathLst>
                <a:path w="11160046" h="2730500">
                  <a:moveTo>
                    <a:pt x="31592" y="0"/>
                  </a:moveTo>
                  <a:lnTo>
                    <a:pt x="11096535" y="0"/>
                  </a:lnTo>
                  <a:cubicBezTo>
                    <a:pt x="11131611" y="0"/>
                    <a:pt x="11160046" y="28435"/>
                    <a:pt x="11160046" y="63511"/>
                  </a:cubicBezTo>
                  <a:lnTo>
                    <a:pt x="11160046" y="2666989"/>
                  </a:lnTo>
                  <a:cubicBezTo>
                    <a:pt x="11160046" y="2702065"/>
                    <a:pt x="11131611" y="2730500"/>
                    <a:pt x="11096535" y="2730500"/>
                  </a:cubicBezTo>
                  <a:lnTo>
                    <a:pt x="31592" y="2730500"/>
                  </a:lnTo>
                  <a:cubicBezTo>
                    <a:pt x="14144" y="2730500"/>
                    <a:pt x="0" y="2716356"/>
                    <a:pt x="0" y="2698908"/>
                  </a:cubicBezTo>
                  <a:lnTo>
                    <a:pt x="0" y="31592"/>
                  </a:lnTo>
                  <a:cubicBezTo>
                    <a:pt x="0" y="14156"/>
                    <a:pt x="14156" y="0"/>
                    <a:pt x="31592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23736" y="4190326"/>
              <a:ext cx="45719" cy="1854533"/>
            </a:xfrm>
            <a:custGeom>
              <a:avLst/>
              <a:gdLst/>
              <a:ahLst/>
              <a:cxnLst/>
              <a:rect l="l" t="t" r="r" b="b"/>
              <a:pathLst>
                <a:path w="31592" h="2730500">
                  <a:moveTo>
                    <a:pt x="31592" y="0"/>
                  </a:moveTo>
                  <a:lnTo>
                    <a:pt x="31592" y="0"/>
                  </a:lnTo>
                  <a:lnTo>
                    <a:pt x="31592" y="2730500"/>
                  </a:lnTo>
                  <a:lnTo>
                    <a:pt x="31592" y="2730500"/>
                  </a:lnTo>
                  <a:cubicBezTo>
                    <a:pt x="14144" y="2730500"/>
                    <a:pt x="0" y="2716356"/>
                    <a:pt x="0" y="2698908"/>
                  </a:cubicBezTo>
                  <a:lnTo>
                    <a:pt x="0" y="31592"/>
                  </a:lnTo>
                  <a:cubicBezTo>
                    <a:pt x="0" y="14156"/>
                    <a:pt x="14156" y="0"/>
                    <a:pt x="3159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7" name="Text 25"/>
            <p:cNvSpPr/>
            <p:nvPr/>
          </p:nvSpPr>
          <p:spPr>
            <a:xfrm>
              <a:off x="666518" y="3800045"/>
              <a:ext cx="10953750" cy="2476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rgbClr val="666666"/>
                  </a:solidFill>
                  <a:latin typeface="+mn-ea"/>
                  <a:cs typeface="MiSans" panose="00000500000000000000" pitchFamily="34" charset="-120"/>
                </a:rPr>
                <a:t># Create mask</a:t>
              </a:r>
              <a:endParaRPr lang="en-US" sz="1600" dirty="0">
                <a:latin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rgbClr val="1E2939"/>
                  </a:solidFill>
                  <a:latin typeface="+mn-ea"/>
                  <a:cs typeface="MiSans" panose="00000500000000000000" pitchFamily="34" charset="-120"/>
                </a:rPr>
                <a:t>mask = offsets &lt; n_elements</a:t>
              </a:r>
              <a:endParaRPr lang="en-US" sz="1600" dirty="0">
                <a:latin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rgbClr val="666666"/>
                  </a:solidFill>
                  <a:latin typeface="+mn-ea"/>
                  <a:cs typeface="MiSans" panose="00000500000000000000" pitchFamily="34" charset="-120"/>
                </a:rPr>
                <a:t># load operation with mask</a:t>
              </a:r>
              <a:endParaRPr lang="en-US" sz="1600" dirty="0">
                <a:latin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rgbClr val="1E2939"/>
                  </a:solidFill>
                  <a:latin typeface="+mn-ea"/>
                  <a:cs typeface="MiSans" panose="00000500000000000000" pitchFamily="34" charset="-120"/>
                </a:rPr>
                <a:t>x = tl.load(x_ptr + offsets, </a:t>
              </a:r>
              <a:r>
                <a:rPr lang="en-US" sz="1000" b="1" dirty="0">
                  <a:solidFill>
                    <a:srgbClr val="8B0000"/>
                  </a:solidFill>
                  <a:latin typeface="+mn-ea"/>
                  <a:cs typeface="MiSans" panose="00000500000000000000" pitchFamily="34" charset="-120"/>
                </a:rPr>
                <a:t>mask=mask</a:t>
              </a:r>
              <a:r>
                <a:rPr lang="en-US" sz="1000" dirty="0">
                  <a:solidFill>
                    <a:srgbClr val="1E2939"/>
                  </a:solidFill>
                  <a:latin typeface="+mn-ea"/>
                  <a:cs typeface="MiSans" panose="00000500000000000000" pitchFamily="34" charset="-120"/>
                </a:rPr>
                <a:t>)</a:t>
              </a:r>
              <a:endParaRPr lang="en-US" sz="1600" dirty="0">
                <a:latin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rgbClr val="1E2939"/>
                  </a:solidFill>
                  <a:latin typeface="+mn-ea"/>
                  <a:cs typeface="MiSans" panose="00000500000000000000" pitchFamily="34" charset="-120"/>
                </a:rPr>
                <a:t>y = tl.load(y_ptr + offsets, </a:t>
              </a:r>
              <a:r>
                <a:rPr lang="en-US" sz="1000" b="1" dirty="0">
                  <a:solidFill>
                    <a:srgbClr val="8B0000"/>
                  </a:solidFill>
                  <a:latin typeface="+mn-ea"/>
                  <a:cs typeface="MiSans" panose="00000500000000000000" pitchFamily="34" charset="-120"/>
                </a:rPr>
                <a:t>mask=mask</a:t>
              </a:r>
              <a:r>
                <a:rPr lang="en-US" sz="1000" dirty="0">
                  <a:solidFill>
                    <a:srgbClr val="1E2939"/>
                  </a:solidFill>
                  <a:latin typeface="+mn-ea"/>
                  <a:cs typeface="MiSans" panose="00000500000000000000" pitchFamily="34" charset="-120"/>
                </a:rPr>
                <a:t>)</a:t>
              </a:r>
              <a:endParaRPr lang="en-US" sz="1600" dirty="0">
                <a:latin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rgbClr val="666666"/>
                  </a:solidFill>
                  <a:latin typeface="+mn-ea"/>
                  <a:cs typeface="MiSans" panose="00000500000000000000" pitchFamily="34" charset="-120"/>
                </a:rPr>
                <a:t># Compute</a:t>
              </a:r>
              <a:endParaRPr lang="en-US" sz="1600" dirty="0">
                <a:latin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rgbClr val="1E2939"/>
                  </a:solidFill>
                  <a:latin typeface="+mn-ea"/>
                  <a:cs typeface="MiSans" panose="00000500000000000000" pitchFamily="34" charset="-120"/>
                </a:rPr>
                <a:t>output = x + y</a:t>
              </a:r>
              <a:endParaRPr lang="en-US" sz="1600" dirty="0">
                <a:latin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rgbClr val="666666"/>
                  </a:solidFill>
                  <a:latin typeface="+mn-ea"/>
                  <a:cs typeface="MiSans" panose="00000500000000000000" pitchFamily="34" charset="-120"/>
                </a:rPr>
                <a:t># store operation with mask</a:t>
              </a:r>
              <a:endParaRPr lang="en-US" sz="1600" dirty="0">
                <a:latin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sz="1000" dirty="0">
                  <a:solidFill>
                    <a:srgbClr val="1E2939"/>
                  </a:solidFill>
                  <a:latin typeface="+mn-ea"/>
                  <a:cs typeface="MiSans" panose="00000500000000000000" pitchFamily="34" charset="-120"/>
                </a:rPr>
                <a:t>tl.store(output_ptr + offsets, output, </a:t>
              </a:r>
              <a:r>
                <a:rPr lang="en-US" sz="1000" b="1" dirty="0">
                  <a:solidFill>
                    <a:srgbClr val="8B0000"/>
                  </a:solidFill>
                  <a:latin typeface="+mn-ea"/>
                  <a:cs typeface="MiSans" panose="00000500000000000000" pitchFamily="34" charset="-120"/>
                </a:rPr>
                <a:t>mask=mask</a:t>
              </a:r>
              <a:r>
                <a:rPr lang="en-US" sz="1000" dirty="0">
                  <a:solidFill>
                    <a:srgbClr val="1E2939"/>
                  </a:solidFill>
                  <a:latin typeface="+mn-ea"/>
                  <a:cs typeface="MiSans" panose="00000500000000000000" pitchFamily="34" charset="-120"/>
                </a:rPr>
                <a:t>)</a:t>
              </a:r>
              <a:endParaRPr lang="en-US" sz="1600" dirty="0">
                <a:latin typeface="+mn-ea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6394" y="609251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mask </a:t>
            </a:r>
            <a:r>
              <a:rPr lang="en-US" sz="2700" b="1" dirty="0" err="1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How It Works</a:t>
            </a:r>
            <a:r>
              <a:rPr lang="zh-CN" altLang="en-US" sz="270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Example</a:t>
            </a:r>
            <a:endParaRPr lang="en-US" sz="1600" dirty="0"/>
          </a:p>
        </p:txBody>
      </p:sp>
      <p:grpSp>
        <p:nvGrpSpPr>
          <p:cNvPr id="56" name="组合 55"/>
          <p:cNvGrpSpPr/>
          <p:nvPr/>
        </p:nvGrpSpPr>
        <p:grpSpPr>
          <a:xfrm>
            <a:off x="380956" y="1409793"/>
            <a:ext cx="11430000" cy="1714500"/>
            <a:chOff x="380956" y="1409793"/>
            <a:chExt cx="11430000" cy="1714500"/>
          </a:xfrm>
        </p:grpSpPr>
        <p:sp>
          <p:nvSpPr>
            <p:cNvPr id="5" name="Shape 3"/>
            <p:cNvSpPr/>
            <p:nvPr/>
          </p:nvSpPr>
          <p:spPr>
            <a:xfrm>
              <a:off x="380956" y="1409793"/>
              <a:ext cx="11430000" cy="1714500"/>
            </a:xfrm>
            <a:custGeom>
              <a:avLst/>
              <a:gdLst/>
              <a:ahLst/>
              <a:cxnLst/>
              <a:rect l="l" t="t" r="r" b="b"/>
              <a:pathLst>
                <a:path w="11430000" h="1714500">
                  <a:moveTo>
                    <a:pt x="114306" y="0"/>
                  </a:moveTo>
                  <a:lnTo>
                    <a:pt x="11315694" y="0"/>
                  </a:lnTo>
                  <a:cubicBezTo>
                    <a:pt x="11378824" y="0"/>
                    <a:pt x="11430000" y="51176"/>
                    <a:pt x="11430000" y="114306"/>
                  </a:cubicBezTo>
                  <a:lnTo>
                    <a:pt x="11430000" y="1600194"/>
                  </a:lnTo>
                  <a:cubicBezTo>
                    <a:pt x="11430000" y="1663324"/>
                    <a:pt x="11378824" y="1714500"/>
                    <a:pt x="11315694" y="1714500"/>
                  </a:cubicBezTo>
                  <a:lnTo>
                    <a:pt x="114306" y="1714500"/>
                  </a:lnTo>
                  <a:cubicBezTo>
                    <a:pt x="51176" y="1714500"/>
                    <a:pt x="0" y="1663324"/>
                    <a:pt x="0" y="1600194"/>
                  </a:cubicBezTo>
                  <a:lnTo>
                    <a:pt x="0" y="114306"/>
                  </a:lnTo>
                  <a:cubicBezTo>
                    <a:pt x="0" y="51176"/>
                    <a:pt x="51176" y="0"/>
                    <a:pt x="114306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609529" y="1638365"/>
              <a:ext cx="110680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Assumed Conditions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28484" y="2057456"/>
              <a:ext cx="5486305" cy="838200"/>
            </a:xfrm>
            <a:custGeom>
              <a:avLst/>
              <a:gdLst/>
              <a:ahLst/>
              <a:cxnLst/>
              <a:rect l="l" t="t" r="r" b="b"/>
              <a:pathLst>
                <a:path w="5486305" h="838200">
                  <a:moveTo>
                    <a:pt x="37910" y="0"/>
                  </a:moveTo>
                  <a:lnTo>
                    <a:pt x="5410104" y="0"/>
                  </a:lnTo>
                  <a:cubicBezTo>
                    <a:pt x="5452189" y="0"/>
                    <a:pt x="5486305" y="34116"/>
                    <a:pt x="5486305" y="76201"/>
                  </a:cubicBezTo>
                  <a:lnTo>
                    <a:pt x="5486305" y="761999"/>
                  </a:lnTo>
                  <a:cubicBezTo>
                    <a:pt x="5486305" y="804084"/>
                    <a:pt x="5452189" y="838200"/>
                    <a:pt x="5410104" y="838200"/>
                  </a:cubicBezTo>
                  <a:lnTo>
                    <a:pt x="37910" y="838200"/>
                  </a:lnTo>
                  <a:cubicBezTo>
                    <a:pt x="16973" y="838200"/>
                    <a:pt x="0" y="821227"/>
                    <a:pt x="0" y="8002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8" name="Shape 6"/>
            <p:cNvSpPr/>
            <p:nvPr/>
          </p:nvSpPr>
          <p:spPr>
            <a:xfrm>
              <a:off x="628484" y="2057456"/>
              <a:ext cx="37910" cy="838200"/>
            </a:xfrm>
            <a:custGeom>
              <a:avLst/>
              <a:gdLst/>
              <a:ahLst/>
              <a:cxnLst/>
              <a:rect l="l" t="t" r="r" b="b"/>
              <a:pathLst>
                <a:path w="37910" h="838200">
                  <a:moveTo>
                    <a:pt x="37910" y="0"/>
                  </a:moveTo>
                  <a:lnTo>
                    <a:pt x="37910" y="0"/>
                  </a:lnTo>
                  <a:lnTo>
                    <a:pt x="37910" y="838200"/>
                  </a:lnTo>
                  <a:lnTo>
                    <a:pt x="37910" y="838200"/>
                  </a:lnTo>
                  <a:cubicBezTo>
                    <a:pt x="16973" y="838200"/>
                    <a:pt x="0" y="821227"/>
                    <a:pt x="0" y="8002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9" name="Text 7"/>
            <p:cNvSpPr/>
            <p:nvPr/>
          </p:nvSpPr>
          <p:spPr>
            <a:xfrm>
              <a:off x="799822" y="2209837"/>
              <a:ext cx="5248275" cy="533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35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n_elements = </a:t>
              </a:r>
              <a:r>
                <a:rPr lang="en-US" sz="1350" b="1" dirty="0">
                  <a:solidFill>
                    <a:srgbClr val="0099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1000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35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BLOCK_SIZE = </a:t>
              </a:r>
              <a:r>
                <a:rPr lang="en-US" sz="1350" b="1" dirty="0">
                  <a:solidFill>
                    <a:srgbClr val="0099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1024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19675" y="2209837"/>
              <a:ext cx="5248275" cy="5334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Vector has 1000 elements, but each block processes 1024 — the last block exceeds the boundary</a:t>
              </a:r>
              <a:endParaRPr lang="en-US" sz="1600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80956" y="3352777"/>
            <a:ext cx="11430000" cy="2819400"/>
            <a:chOff x="380956" y="3352777"/>
            <a:chExt cx="11430000" cy="2819400"/>
          </a:xfrm>
        </p:grpSpPr>
        <p:sp>
          <p:nvSpPr>
            <p:cNvPr id="11" name="Shape 9"/>
            <p:cNvSpPr/>
            <p:nvPr/>
          </p:nvSpPr>
          <p:spPr>
            <a:xfrm>
              <a:off x="380956" y="3352777"/>
              <a:ext cx="11430000" cy="2819400"/>
            </a:xfrm>
            <a:custGeom>
              <a:avLst/>
              <a:gdLst/>
              <a:ahLst/>
              <a:cxnLst/>
              <a:rect l="l" t="t" r="r" b="b"/>
              <a:pathLst>
                <a:path w="11430000" h="2819400">
                  <a:moveTo>
                    <a:pt x="114298" y="0"/>
                  </a:moveTo>
                  <a:lnTo>
                    <a:pt x="11315702" y="0"/>
                  </a:lnTo>
                  <a:cubicBezTo>
                    <a:pt x="11378827" y="0"/>
                    <a:pt x="11430000" y="51173"/>
                    <a:pt x="11430000" y="114298"/>
                  </a:cubicBezTo>
                  <a:lnTo>
                    <a:pt x="11430000" y="2705102"/>
                  </a:lnTo>
                  <a:cubicBezTo>
                    <a:pt x="11430000" y="2768227"/>
                    <a:pt x="11378827" y="2819400"/>
                    <a:pt x="11315702" y="2819400"/>
                  </a:cubicBezTo>
                  <a:lnTo>
                    <a:pt x="114298" y="2819400"/>
                  </a:lnTo>
                  <a:cubicBezTo>
                    <a:pt x="51173" y="2819400"/>
                    <a:pt x="0" y="2768227"/>
                    <a:pt x="0" y="2705102"/>
                  </a:cubicBezTo>
                  <a:lnTo>
                    <a:pt x="0" y="114298"/>
                  </a:lnTo>
                  <a:cubicBezTo>
                    <a:pt x="0" y="51173"/>
                    <a:pt x="51173" y="0"/>
                    <a:pt x="114298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2" name="Text 10"/>
            <p:cNvSpPr/>
            <p:nvPr/>
          </p:nvSpPr>
          <p:spPr>
            <a:xfrm>
              <a:off x="609529" y="3581353"/>
              <a:ext cx="110680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Last block (program_id = 0, only one block)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09529" y="4000440"/>
              <a:ext cx="54578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offsets array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09529" y="4381398"/>
              <a:ext cx="5372100" cy="876300"/>
            </a:xfrm>
            <a:custGeom>
              <a:avLst/>
              <a:gdLst/>
              <a:ahLst/>
              <a:cxnLst/>
              <a:rect l="l" t="t" r="r" b="b"/>
              <a:pathLst>
                <a:path w="5372100" h="876300">
                  <a:moveTo>
                    <a:pt x="76203" y="0"/>
                  </a:moveTo>
                  <a:lnTo>
                    <a:pt x="5295897" y="0"/>
                  </a:lnTo>
                  <a:cubicBezTo>
                    <a:pt x="5337983" y="0"/>
                    <a:pt x="5372100" y="34117"/>
                    <a:pt x="5372100" y="76203"/>
                  </a:cubicBezTo>
                  <a:lnTo>
                    <a:pt x="5372100" y="800097"/>
                  </a:lnTo>
                  <a:cubicBezTo>
                    <a:pt x="5372100" y="842183"/>
                    <a:pt x="5337983" y="876300"/>
                    <a:pt x="5295897" y="876300"/>
                  </a:cubicBezTo>
                  <a:lnTo>
                    <a:pt x="76203" y="876300"/>
                  </a:lnTo>
                  <a:cubicBezTo>
                    <a:pt x="34117" y="876300"/>
                    <a:pt x="0" y="842183"/>
                    <a:pt x="0" y="8000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Shape 13"/>
            <p:cNvSpPr/>
            <p:nvPr/>
          </p:nvSpPr>
          <p:spPr>
            <a:xfrm>
              <a:off x="761911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723811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0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400095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1361995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038279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0" name="Text 18"/>
            <p:cNvSpPr/>
            <p:nvPr/>
          </p:nvSpPr>
          <p:spPr>
            <a:xfrm>
              <a:off x="2000179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76463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2638363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...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314647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3276547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998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952831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3914731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999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591014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E2E2"/>
            </a:solidFill>
          </p:spPr>
        </p:sp>
        <p:sp>
          <p:nvSpPr>
            <p:cNvPr id="28" name="Text 26"/>
            <p:cNvSpPr/>
            <p:nvPr/>
          </p:nvSpPr>
          <p:spPr>
            <a:xfrm>
              <a:off x="4552914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1000</a:t>
              </a:r>
              <a:endParaRPr lang="en-US" sz="1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229198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E2E2"/>
            </a:solidFill>
          </p:spPr>
        </p:sp>
        <p:sp>
          <p:nvSpPr>
            <p:cNvPr id="30" name="Text 28"/>
            <p:cNvSpPr/>
            <p:nvPr/>
          </p:nvSpPr>
          <p:spPr>
            <a:xfrm>
              <a:off x="5191098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1A1A1A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...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61911" y="4914658"/>
              <a:ext cx="5133975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6A7282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Index range: [0 ... 1023]</a:t>
              </a:r>
              <a:endParaRPr lang="en-US" sz="16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210279" y="4000440"/>
              <a:ext cx="54578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mask array</a:t>
              </a:r>
              <a:endParaRPr lang="en-US" sz="16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6210279" y="4381398"/>
              <a:ext cx="5372100" cy="876300"/>
            </a:xfrm>
            <a:custGeom>
              <a:avLst/>
              <a:gdLst/>
              <a:ahLst/>
              <a:cxnLst/>
              <a:rect l="l" t="t" r="r" b="b"/>
              <a:pathLst>
                <a:path w="5372100" h="876300">
                  <a:moveTo>
                    <a:pt x="76203" y="0"/>
                  </a:moveTo>
                  <a:lnTo>
                    <a:pt x="5295897" y="0"/>
                  </a:lnTo>
                  <a:cubicBezTo>
                    <a:pt x="5337983" y="0"/>
                    <a:pt x="5372100" y="34117"/>
                    <a:pt x="5372100" y="76203"/>
                  </a:cubicBezTo>
                  <a:lnTo>
                    <a:pt x="5372100" y="800097"/>
                  </a:lnTo>
                  <a:cubicBezTo>
                    <a:pt x="5372100" y="842183"/>
                    <a:pt x="5337983" y="876300"/>
                    <a:pt x="5295897" y="876300"/>
                  </a:cubicBezTo>
                  <a:lnTo>
                    <a:pt x="76203" y="876300"/>
                  </a:lnTo>
                  <a:cubicBezTo>
                    <a:pt x="34117" y="876300"/>
                    <a:pt x="0" y="842183"/>
                    <a:pt x="0" y="8000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Shape 32"/>
            <p:cNvSpPr/>
            <p:nvPr/>
          </p:nvSpPr>
          <p:spPr>
            <a:xfrm>
              <a:off x="6362662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35" name="Text 33"/>
            <p:cNvSpPr/>
            <p:nvPr/>
          </p:nvSpPr>
          <p:spPr>
            <a:xfrm>
              <a:off x="6324562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00823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</a:t>
              </a:r>
              <a:endParaRPr lang="en-US" sz="16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7000845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37" name="Text 35"/>
            <p:cNvSpPr/>
            <p:nvPr/>
          </p:nvSpPr>
          <p:spPr>
            <a:xfrm>
              <a:off x="6962745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00823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</a:t>
              </a:r>
              <a:endParaRPr lang="en-US" sz="16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7639029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39" name="Text 37"/>
            <p:cNvSpPr/>
            <p:nvPr/>
          </p:nvSpPr>
          <p:spPr>
            <a:xfrm>
              <a:off x="7600929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00823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</a:t>
              </a:r>
              <a:endParaRPr lang="en-US" sz="16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8277213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41" name="Text 39"/>
            <p:cNvSpPr/>
            <p:nvPr/>
          </p:nvSpPr>
          <p:spPr>
            <a:xfrm>
              <a:off x="8239113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00823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...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8915397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43" name="Text 41"/>
            <p:cNvSpPr/>
            <p:nvPr/>
          </p:nvSpPr>
          <p:spPr>
            <a:xfrm>
              <a:off x="8877297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00823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</a:t>
              </a:r>
              <a:endParaRPr lang="en-US" sz="16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9553581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45" name="Text 43"/>
            <p:cNvSpPr/>
            <p:nvPr/>
          </p:nvSpPr>
          <p:spPr>
            <a:xfrm>
              <a:off x="9515481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00823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</a:t>
              </a:r>
              <a:endParaRPr lang="en-US" sz="16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10191765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E2E2"/>
            </a:solidFill>
          </p:spPr>
        </p:sp>
        <p:sp>
          <p:nvSpPr>
            <p:cNvPr id="47" name="Text 45"/>
            <p:cNvSpPr/>
            <p:nvPr/>
          </p:nvSpPr>
          <p:spPr>
            <a:xfrm>
              <a:off x="10153665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C10007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</a:t>
              </a:r>
              <a:endParaRPr lang="en-US" sz="16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10829948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3" y="0"/>
                    <a:pt x="600075" y="17072"/>
                    <a:pt x="600075" y="38100"/>
                  </a:cubicBezTo>
                  <a:lnTo>
                    <a:pt x="600075" y="266700"/>
                  </a:lnTo>
                  <a:cubicBezTo>
                    <a:pt x="600075" y="287728"/>
                    <a:pt x="583003" y="304800"/>
                    <a:pt x="561975" y="304800"/>
                  </a:cubicBezTo>
                  <a:lnTo>
                    <a:pt x="38100" y="304800"/>
                  </a:lnTo>
                  <a:cubicBezTo>
                    <a:pt x="17072" y="304800"/>
                    <a:pt x="0" y="287728"/>
                    <a:pt x="0" y="2667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E2E2"/>
            </a:solidFill>
          </p:spPr>
        </p:sp>
        <p:sp>
          <p:nvSpPr>
            <p:cNvPr id="49" name="Text 47"/>
            <p:cNvSpPr/>
            <p:nvPr/>
          </p:nvSpPr>
          <p:spPr>
            <a:xfrm>
              <a:off x="10791848" y="4533779"/>
              <a:ext cx="676275" cy="304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C10007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...</a:t>
              </a:r>
              <a:endParaRPr lang="en-US" sz="16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6362662" y="4914658"/>
              <a:ext cx="5133975" cy="190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6A7282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True = access, False = skip</a:t>
              </a:r>
              <a:endParaRPr lang="en-US" sz="16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09529" y="5409865"/>
              <a:ext cx="10972800" cy="533400"/>
            </a:xfrm>
            <a:custGeom>
              <a:avLst/>
              <a:gdLst/>
              <a:ahLst/>
              <a:cxnLst/>
              <a:rect l="l" t="t" r="r" b="b"/>
              <a:pathLst>
                <a:path w="10972800" h="533400">
                  <a:moveTo>
                    <a:pt x="76202" y="0"/>
                  </a:moveTo>
                  <a:lnTo>
                    <a:pt x="10896598" y="0"/>
                  </a:lnTo>
                  <a:cubicBezTo>
                    <a:pt x="10938683" y="0"/>
                    <a:pt x="10972800" y="34117"/>
                    <a:pt x="10972800" y="76202"/>
                  </a:cubicBezTo>
                  <a:lnTo>
                    <a:pt x="10972800" y="457198"/>
                  </a:lnTo>
                  <a:cubicBezTo>
                    <a:pt x="10972800" y="499283"/>
                    <a:pt x="10938683" y="533400"/>
                    <a:pt x="10896598" y="533400"/>
                  </a:cubicBezTo>
                  <a:lnTo>
                    <a:pt x="76202" y="533400"/>
                  </a:lnTo>
                  <a:cubicBezTo>
                    <a:pt x="34117" y="533400"/>
                    <a:pt x="0" y="499283"/>
                    <a:pt x="0" y="4571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52" name="Shape 50"/>
            <p:cNvSpPr/>
            <p:nvPr/>
          </p:nvSpPr>
          <p:spPr>
            <a:xfrm>
              <a:off x="790486" y="556224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4" y="228600"/>
                    <a:pt x="228600" y="177384"/>
                    <a:pt x="228600" y="114300"/>
                  </a:cubicBezTo>
                  <a:cubicBezTo>
                    <a:pt x="228600" y="51216"/>
                    <a:pt x="177384" y="0"/>
                    <a:pt x="114300" y="0"/>
                  </a:cubicBezTo>
                  <a:cubicBezTo>
                    <a:pt x="51216" y="0"/>
                    <a:pt x="0" y="51216"/>
                    <a:pt x="0" y="114300"/>
                  </a:cubicBezTo>
                  <a:cubicBezTo>
                    <a:pt x="0" y="177384"/>
                    <a:pt x="51216" y="228600"/>
                    <a:pt x="114300" y="228600"/>
                  </a:cubicBezTo>
                  <a:close/>
                  <a:moveTo>
                    <a:pt x="100013" y="71438"/>
                  </a:moveTo>
                  <a:cubicBezTo>
                    <a:pt x="100013" y="63552"/>
                    <a:pt x="106415" y="57150"/>
                    <a:pt x="114300" y="57150"/>
                  </a:cubicBezTo>
                  <a:cubicBezTo>
                    <a:pt x="122185" y="57150"/>
                    <a:pt x="128588" y="63552"/>
                    <a:pt x="128588" y="71438"/>
                  </a:cubicBezTo>
                  <a:cubicBezTo>
                    <a:pt x="128588" y="79323"/>
                    <a:pt x="122185" y="85725"/>
                    <a:pt x="114300" y="85725"/>
                  </a:cubicBezTo>
                  <a:cubicBezTo>
                    <a:pt x="106415" y="85725"/>
                    <a:pt x="100013" y="79323"/>
                    <a:pt x="100013" y="71438"/>
                  </a:cubicBezTo>
                  <a:close/>
                  <a:moveTo>
                    <a:pt x="96441" y="100013"/>
                  </a:moveTo>
                  <a:lnTo>
                    <a:pt x="117872" y="100013"/>
                  </a:lnTo>
                  <a:cubicBezTo>
                    <a:pt x="123810" y="100013"/>
                    <a:pt x="128588" y="104790"/>
                    <a:pt x="128588" y="110728"/>
                  </a:cubicBezTo>
                  <a:lnTo>
                    <a:pt x="128588" y="150019"/>
                  </a:lnTo>
                  <a:lnTo>
                    <a:pt x="132159" y="150019"/>
                  </a:lnTo>
                  <a:cubicBezTo>
                    <a:pt x="138098" y="150019"/>
                    <a:pt x="142875" y="154796"/>
                    <a:pt x="142875" y="160734"/>
                  </a:cubicBezTo>
                  <a:cubicBezTo>
                    <a:pt x="142875" y="166673"/>
                    <a:pt x="138098" y="171450"/>
                    <a:pt x="132159" y="171450"/>
                  </a:cubicBezTo>
                  <a:lnTo>
                    <a:pt x="96441" y="171450"/>
                  </a:lnTo>
                  <a:cubicBezTo>
                    <a:pt x="90502" y="171450"/>
                    <a:pt x="85725" y="166673"/>
                    <a:pt x="85725" y="160734"/>
                  </a:cubicBezTo>
                  <a:cubicBezTo>
                    <a:pt x="85725" y="154796"/>
                    <a:pt x="90502" y="150019"/>
                    <a:pt x="96441" y="150019"/>
                  </a:cubicBezTo>
                  <a:lnTo>
                    <a:pt x="107156" y="150019"/>
                  </a:lnTo>
                  <a:lnTo>
                    <a:pt x="107156" y="121444"/>
                  </a:lnTo>
                  <a:lnTo>
                    <a:pt x="96441" y="121444"/>
                  </a:lnTo>
                  <a:cubicBezTo>
                    <a:pt x="90502" y="121444"/>
                    <a:pt x="85725" y="116666"/>
                    <a:pt x="85725" y="110728"/>
                  </a:cubicBezTo>
                  <a:cubicBezTo>
                    <a:pt x="85725" y="104790"/>
                    <a:pt x="90502" y="100013"/>
                    <a:pt x="96441" y="100013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53" name="Text 51"/>
            <p:cNvSpPr/>
            <p:nvPr/>
          </p:nvSpPr>
          <p:spPr>
            <a:xfrm>
              <a:off x="1200029" y="5562247"/>
              <a:ext cx="527685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bg1">
                      <a:lumMod val="65000"/>
                    </a:scheme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Result:</a:t>
              </a: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Only positions where offsets &lt; 1000 are accessed; out-of-bounds positions are protected by the mask</a:t>
              </a:r>
              <a:endParaRPr 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95791" y="604784"/>
            <a:ext cx="11617605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tl.load Details</a:t>
            </a:r>
            <a:endParaRPr lang="en-US" sz="1600" dirty="0"/>
          </a:p>
        </p:txBody>
      </p:sp>
      <p:grpSp>
        <p:nvGrpSpPr>
          <p:cNvPr id="36" name="组合 35"/>
          <p:cNvGrpSpPr/>
          <p:nvPr/>
        </p:nvGrpSpPr>
        <p:grpSpPr>
          <a:xfrm>
            <a:off x="388971" y="1370870"/>
            <a:ext cx="11414058" cy="1649070"/>
            <a:chOff x="388971" y="1370870"/>
            <a:chExt cx="11671855" cy="1649070"/>
          </a:xfrm>
        </p:grpSpPr>
        <p:sp>
          <p:nvSpPr>
            <p:cNvPr id="5" name="Shape 3"/>
            <p:cNvSpPr/>
            <p:nvPr/>
          </p:nvSpPr>
          <p:spPr>
            <a:xfrm>
              <a:off x="388971" y="1370870"/>
              <a:ext cx="5558570" cy="1649070"/>
            </a:xfrm>
            <a:custGeom>
              <a:avLst/>
              <a:gdLst/>
              <a:ahLst/>
              <a:cxnLst/>
              <a:rect l="l" t="t" r="r" b="b"/>
              <a:pathLst>
                <a:path w="5558570" h="1649070">
                  <a:moveTo>
                    <a:pt x="36873" y="0"/>
                  </a:moveTo>
                  <a:lnTo>
                    <a:pt x="5447390" y="0"/>
                  </a:lnTo>
                  <a:cubicBezTo>
                    <a:pt x="5508793" y="0"/>
                    <a:pt x="5558570" y="49777"/>
                    <a:pt x="5558570" y="111180"/>
                  </a:cubicBezTo>
                  <a:lnTo>
                    <a:pt x="5558570" y="1537890"/>
                  </a:lnTo>
                  <a:cubicBezTo>
                    <a:pt x="5558570" y="1599293"/>
                    <a:pt x="5508793" y="1649070"/>
                    <a:pt x="5447390" y="1649070"/>
                  </a:cubicBezTo>
                  <a:lnTo>
                    <a:pt x="36873" y="1649070"/>
                  </a:lnTo>
                  <a:cubicBezTo>
                    <a:pt x="16509" y="1649070"/>
                    <a:pt x="0" y="1632561"/>
                    <a:pt x="0" y="1612197"/>
                  </a:cubicBezTo>
                  <a:lnTo>
                    <a:pt x="0" y="36873"/>
                  </a:lnTo>
                  <a:cubicBezTo>
                    <a:pt x="0" y="16522"/>
                    <a:pt x="16522" y="0"/>
                    <a:pt x="36873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388971" y="1370870"/>
              <a:ext cx="36873" cy="1649070"/>
            </a:xfrm>
            <a:custGeom>
              <a:avLst/>
              <a:gdLst/>
              <a:ahLst/>
              <a:cxnLst/>
              <a:rect l="l" t="t" r="r" b="b"/>
              <a:pathLst>
                <a:path w="36873" h="1649070">
                  <a:moveTo>
                    <a:pt x="36873" y="0"/>
                  </a:moveTo>
                  <a:lnTo>
                    <a:pt x="36873" y="0"/>
                  </a:lnTo>
                  <a:lnTo>
                    <a:pt x="36873" y="1649070"/>
                  </a:lnTo>
                  <a:lnTo>
                    <a:pt x="36873" y="1649070"/>
                  </a:lnTo>
                  <a:cubicBezTo>
                    <a:pt x="16509" y="1649070"/>
                    <a:pt x="0" y="1632561"/>
                    <a:pt x="0" y="16121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629728" y="1593194"/>
              <a:ext cx="5188085" cy="1204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46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x = tl.load(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46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    x_ptr + offsets, 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46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    </a:t>
              </a:r>
              <a:r>
                <a:rPr lang="en-US" sz="1460" b="1" dirty="0">
                  <a:solidFill>
                    <a:srgbClr val="8B0000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mask=mask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46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)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265277" y="1407887"/>
              <a:ext cx="185289" cy="185289"/>
            </a:xfrm>
            <a:custGeom>
              <a:avLst/>
              <a:gdLst/>
              <a:ahLst/>
              <a:cxnLst/>
              <a:rect l="l" t="t" r="r" b="b"/>
              <a:pathLst>
                <a:path w="185289" h="185289">
                  <a:moveTo>
                    <a:pt x="92644" y="185289"/>
                  </a:moveTo>
                  <a:cubicBezTo>
                    <a:pt x="143776" y="185289"/>
                    <a:pt x="185289" y="143776"/>
                    <a:pt x="185289" y="92644"/>
                  </a:cubicBezTo>
                  <a:cubicBezTo>
                    <a:pt x="185289" y="41513"/>
                    <a:pt x="143776" y="0"/>
                    <a:pt x="92644" y="0"/>
                  </a:cubicBezTo>
                  <a:cubicBezTo>
                    <a:pt x="41513" y="0"/>
                    <a:pt x="0" y="41513"/>
                    <a:pt x="0" y="92644"/>
                  </a:cubicBezTo>
                  <a:cubicBezTo>
                    <a:pt x="0" y="143776"/>
                    <a:pt x="41513" y="185289"/>
                    <a:pt x="92644" y="185289"/>
                  </a:cubicBezTo>
                  <a:close/>
                  <a:moveTo>
                    <a:pt x="123188" y="76974"/>
                  </a:moveTo>
                  <a:lnTo>
                    <a:pt x="94237" y="123297"/>
                  </a:lnTo>
                  <a:cubicBezTo>
                    <a:pt x="92717" y="125721"/>
                    <a:pt x="90111" y="127241"/>
                    <a:pt x="87252" y="127386"/>
                  </a:cubicBezTo>
                  <a:cubicBezTo>
                    <a:pt x="84393" y="127531"/>
                    <a:pt x="81643" y="126228"/>
                    <a:pt x="79942" y="123912"/>
                  </a:cubicBezTo>
                  <a:lnTo>
                    <a:pt x="62571" y="100751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3" y="86492"/>
                    <a:pt x="76468" y="90328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8" y="62463"/>
                    <a:pt x="120438" y="65032"/>
                  </a:cubicBezTo>
                  <a:cubicBezTo>
                    <a:pt x="124527" y="67601"/>
                    <a:pt x="125758" y="72921"/>
                    <a:pt x="123188" y="77011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9" name="Text 7"/>
            <p:cNvSpPr/>
            <p:nvPr/>
          </p:nvSpPr>
          <p:spPr>
            <a:xfrm>
              <a:off x="6584852" y="1370870"/>
              <a:ext cx="5475974" cy="26866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15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Supports mask</a:t>
              </a:r>
              <a:r>
                <a:rPr lang="en-US" sz="131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: conditional read, prevents out-of-bounds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265277" y="1827107"/>
              <a:ext cx="185289" cy="185289"/>
            </a:xfrm>
            <a:custGeom>
              <a:avLst/>
              <a:gdLst/>
              <a:ahLst/>
              <a:cxnLst/>
              <a:rect l="l" t="t" r="r" b="b"/>
              <a:pathLst>
                <a:path w="185289" h="185289">
                  <a:moveTo>
                    <a:pt x="92644" y="185289"/>
                  </a:moveTo>
                  <a:cubicBezTo>
                    <a:pt x="143776" y="185289"/>
                    <a:pt x="185289" y="143776"/>
                    <a:pt x="185289" y="92644"/>
                  </a:cubicBezTo>
                  <a:cubicBezTo>
                    <a:pt x="185289" y="41513"/>
                    <a:pt x="143776" y="0"/>
                    <a:pt x="92644" y="0"/>
                  </a:cubicBezTo>
                  <a:cubicBezTo>
                    <a:pt x="41513" y="0"/>
                    <a:pt x="0" y="41513"/>
                    <a:pt x="0" y="92644"/>
                  </a:cubicBezTo>
                  <a:cubicBezTo>
                    <a:pt x="0" y="143776"/>
                    <a:pt x="41513" y="185289"/>
                    <a:pt x="92644" y="185289"/>
                  </a:cubicBezTo>
                  <a:close/>
                  <a:moveTo>
                    <a:pt x="123188" y="76974"/>
                  </a:moveTo>
                  <a:lnTo>
                    <a:pt x="94237" y="123297"/>
                  </a:lnTo>
                  <a:cubicBezTo>
                    <a:pt x="92717" y="125721"/>
                    <a:pt x="90111" y="127241"/>
                    <a:pt x="87252" y="127386"/>
                  </a:cubicBezTo>
                  <a:cubicBezTo>
                    <a:pt x="84393" y="127531"/>
                    <a:pt x="81643" y="126228"/>
                    <a:pt x="79942" y="123912"/>
                  </a:cubicBezTo>
                  <a:lnTo>
                    <a:pt x="62571" y="100751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3" y="86492"/>
                    <a:pt x="76468" y="90328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8" y="62463"/>
                    <a:pt x="120438" y="65032"/>
                  </a:cubicBezTo>
                  <a:cubicBezTo>
                    <a:pt x="124527" y="67601"/>
                    <a:pt x="125758" y="72921"/>
                    <a:pt x="123188" y="77011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6584852" y="1790090"/>
              <a:ext cx="4796433" cy="26866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15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Vectorized read</a:t>
              </a:r>
              <a:r>
                <a:rPr lang="en-US" sz="131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: reads multiple elements at once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265277" y="2246328"/>
              <a:ext cx="185289" cy="185289"/>
            </a:xfrm>
            <a:custGeom>
              <a:avLst/>
              <a:gdLst/>
              <a:ahLst/>
              <a:cxnLst/>
              <a:rect l="l" t="t" r="r" b="b"/>
              <a:pathLst>
                <a:path w="185289" h="185289">
                  <a:moveTo>
                    <a:pt x="92644" y="185289"/>
                  </a:moveTo>
                  <a:cubicBezTo>
                    <a:pt x="143776" y="185289"/>
                    <a:pt x="185289" y="143776"/>
                    <a:pt x="185289" y="92644"/>
                  </a:cubicBezTo>
                  <a:cubicBezTo>
                    <a:pt x="185289" y="41513"/>
                    <a:pt x="143776" y="0"/>
                    <a:pt x="92644" y="0"/>
                  </a:cubicBezTo>
                  <a:cubicBezTo>
                    <a:pt x="41513" y="0"/>
                    <a:pt x="0" y="41513"/>
                    <a:pt x="0" y="92644"/>
                  </a:cubicBezTo>
                  <a:cubicBezTo>
                    <a:pt x="0" y="143776"/>
                    <a:pt x="41513" y="185289"/>
                    <a:pt x="92644" y="185289"/>
                  </a:cubicBezTo>
                  <a:close/>
                  <a:moveTo>
                    <a:pt x="123188" y="76974"/>
                  </a:moveTo>
                  <a:lnTo>
                    <a:pt x="94237" y="123297"/>
                  </a:lnTo>
                  <a:cubicBezTo>
                    <a:pt x="92717" y="125721"/>
                    <a:pt x="90111" y="127241"/>
                    <a:pt x="87252" y="127386"/>
                  </a:cubicBezTo>
                  <a:cubicBezTo>
                    <a:pt x="84393" y="127531"/>
                    <a:pt x="81643" y="126228"/>
                    <a:pt x="79942" y="123912"/>
                  </a:cubicBezTo>
                  <a:lnTo>
                    <a:pt x="62571" y="100751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3" y="86492"/>
                    <a:pt x="76468" y="90328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8" y="62463"/>
                    <a:pt x="120438" y="65032"/>
                  </a:cubicBezTo>
                  <a:cubicBezTo>
                    <a:pt x="124527" y="67601"/>
                    <a:pt x="125758" y="72921"/>
                    <a:pt x="123188" y="77011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6584852" y="2209311"/>
              <a:ext cx="5122760" cy="26866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15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Returns tensor</a:t>
              </a:r>
              <a:r>
                <a:rPr lang="en-US" sz="131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: enables direct vectorized computation</a:t>
              </a:r>
              <a:endParaRPr lang="en-US" sz="1600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70534" y="3242268"/>
            <a:ext cx="11450845" cy="3316669"/>
            <a:chOff x="370534" y="3242268"/>
            <a:chExt cx="11450845" cy="3316669"/>
          </a:xfrm>
        </p:grpSpPr>
        <p:sp>
          <p:nvSpPr>
            <p:cNvPr id="14" name="Shape 12"/>
            <p:cNvSpPr/>
            <p:nvPr/>
          </p:nvSpPr>
          <p:spPr>
            <a:xfrm>
              <a:off x="370534" y="3242268"/>
              <a:ext cx="11450845" cy="3316669"/>
            </a:xfrm>
            <a:custGeom>
              <a:avLst/>
              <a:gdLst/>
              <a:ahLst/>
              <a:cxnLst/>
              <a:rect l="l" t="t" r="r" b="b"/>
              <a:pathLst>
                <a:path w="11450845" h="3316669">
                  <a:moveTo>
                    <a:pt x="111175" y="0"/>
                  </a:moveTo>
                  <a:lnTo>
                    <a:pt x="11339670" y="0"/>
                  </a:lnTo>
                  <a:cubicBezTo>
                    <a:pt x="11401070" y="0"/>
                    <a:pt x="11450845" y="49775"/>
                    <a:pt x="11450845" y="111175"/>
                  </a:cubicBezTo>
                  <a:lnTo>
                    <a:pt x="11450845" y="3205494"/>
                  </a:lnTo>
                  <a:cubicBezTo>
                    <a:pt x="11450845" y="3266894"/>
                    <a:pt x="11401070" y="3316669"/>
                    <a:pt x="11339670" y="3316669"/>
                  </a:cubicBezTo>
                  <a:lnTo>
                    <a:pt x="111175" y="3316669"/>
                  </a:lnTo>
                  <a:cubicBezTo>
                    <a:pt x="49775" y="3316669"/>
                    <a:pt x="0" y="3266894"/>
                    <a:pt x="0" y="3205494"/>
                  </a:cubicBezTo>
                  <a:lnTo>
                    <a:pt x="0" y="111175"/>
                  </a:lnTo>
                  <a:cubicBezTo>
                    <a:pt x="0" y="49816"/>
                    <a:pt x="49816" y="0"/>
                    <a:pt x="111175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5" name="Text 13"/>
            <p:cNvSpPr/>
            <p:nvPr/>
          </p:nvSpPr>
          <p:spPr>
            <a:xfrm>
              <a:off x="592855" y="3464588"/>
              <a:ext cx="11098796" cy="2594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6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Full Parameter Description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11292" y="3872214"/>
              <a:ext cx="10987531" cy="537337"/>
            </a:xfrm>
            <a:custGeom>
              <a:avLst/>
              <a:gdLst/>
              <a:ahLst/>
              <a:cxnLst/>
              <a:rect l="l" t="t" r="r" b="b"/>
              <a:pathLst>
                <a:path w="10987531" h="537337">
                  <a:moveTo>
                    <a:pt x="36873" y="0"/>
                  </a:moveTo>
                  <a:lnTo>
                    <a:pt x="10913416" y="0"/>
                  </a:lnTo>
                  <a:cubicBezTo>
                    <a:pt x="10954349" y="0"/>
                    <a:pt x="10987531" y="33182"/>
                    <a:pt x="10987531" y="74115"/>
                  </a:cubicBezTo>
                  <a:lnTo>
                    <a:pt x="10987531" y="463222"/>
                  </a:lnTo>
                  <a:cubicBezTo>
                    <a:pt x="10987531" y="504155"/>
                    <a:pt x="10954349" y="537337"/>
                    <a:pt x="10913416" y="537337"/>
                  </a:cubicBezTo>
                  <a:lnTo>
                    <a:pt x="36873" y="537337"/>
                  </a:lnTo>
                  <a:cubicBezTo>
                    <a:pt x="16509" y="537337"/>
                    <a:pt x="0" y="520829"/>
                    <a:pt x="0" y="500464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7" name="Shape 15"/>
            <p:cNvSpPr/>
            <p:nvPr/>
          </p:nvSpPr>
          <p:spPr>
            <a:xfrm>
              <a:off x="611292" y="3872214"/>
              <a:ext cx="36873" cy="537337"/>
            </a:xfrm>
            <a:custGeom>
              <a:avLst/>
              <a:gdLst/>
              <a:ahLst/>
              <a:cxnLst/>
              <a:rect l="l" t="t" r="r" b="b"/>
              <a:pathLst>
                <a:path w="36873" h="537337">
                  <a:moveTo>
                    <a:pt x="36873" y="0"/>
                  </a:moveTo>
                  <a:lnTo>
                    <a:pt x="36873" y="0"/>
                  </a:lnTo>
                  <a:lnTo>
                    <a:pt x="36873" y="537337"/>
                  </a:lnTo>
                  <a:lnTo>
                    <a:pt x="36873" y="537337"/>
                  </a:lnTo>
                  <a:cubicBezTo>
                    <a:pt x="16509" y="537337"/>
                    <a:pt x="0" y="520829"/>
                    <a:pt x="0" y="500464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777942" y="4020427"/>
              <a:ext cx="10746748" cy="2408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165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tl.load(ptr, mask=None, other=None, cache_modifier="", eviction_policy="", volatile=False)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11292" y="4557683"/>
              <a:ext cx="5410339" cy="815271"/>
            </a:xfrm>
            <a:custGeom>
              <a:avLst/>
              <a:gdLst/>
              <a:ahLst/>
              <a:cxnLst/>
              <a:rect l="l" t="t" r="r" b="b"/>
              <a:pathLst>
                <a:path w="5410339" h="815271">
                  <a:moveTo>
                    <a:pt x="36873" y="0"/>
                  </a:moveTo>
                  <a:lnTo>
                    <a:pt x="5336223" y="0"/>
                  </a:lnTo>
                  <a:cubicBezTo>
                    <a:pt x="5377156" y="0"/>
                    <a:pt x="5410339" y="33183"/>
                    <a:pt x="5410339" y="74116"/>
                  </a:cubicBezTo>
                  <a:lnTo>
                    <a:pt x="5410339" y="741154"/>
                  </a:lnTo>
                  <a:cubicBezTo>
                    <a:pt x="5410339" y="782088"/>
                    <a:pt x="5377156" y="815271"/>
                    <a:pt x="5336223" y="815271"/>
                  </a:cubicBezTo>
                  <a:lnTo>
                    <a:pt x="36873" y="815271"/>
                  </a:lnTo>
                  <a:cubicBezTo>
                    <a:pt x="16509" y="815271"/>
                    <a:pt x="0" y="798762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Shape 18"/>
            <p:cNvSpPr/>
            <p:nvPr/>
          </p:nvSpPr>
          <p:spPr>
            <a:xfrm>
              <a:off x="611292" y="4557683"/>
              <a:ext cx="36873" cy="815271"/>
            </a:xfrm>
            <a:custGeom>
              <a:avLst/>
              <a:gdLst/>
              <a:ahLst/>
              <a:cxnLst/>
              <a:rect l="l" t="t" r="r" b="b"/>
              <a:pathLst>
                <a:path w="36873" h="815271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2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777942" y="4705896"/>
              <a:ext cx="5169556" cy="2223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ptr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77942" y="5002321"/>
              <a:ext cx="5169556" cy="2223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Data pointer, can be a single address or array of addresses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186446" y="4557683"/>
              <a:ext cx="5410339" cy="815271"/>
            </a:xfrm>
            <a:custGeom>
              <a:avLst/>
              <a:gdLst/>
              <a:ahLst/>
              <a:cxnLst/>
              <a:rect l="l" t="t" r="r" b="b"/>
              <a:pathLst>
                <a:path w="5410339" h="815271">
                  <a:moveTo>
                    <a:pt x="36873" y="0"/>
                  </a:moveTo>
                  <a:lnTo>
                    <a:pt x="5336223" y="0"/>
                  </a:lnTo>
                  <a:cubicBezTo>
                    <a:pt x="5377156" y="0"/>
                    <a:pt x="5410339" y="33183"/>
                    <a:pt x="5410339" y="74116"/>
                  </a:cubicBezTo>
                  <a:lnTo>
                    <a:pt x="5410339" y="741154"/>
                  </a:lnTo>
                  <a:cubicBezTo>
                    <a:pt x="5410339" y="782088"/>
                    <a:pt x="5377156" y="815271"/>
                    <a:pt x="5336223" y="815271"/>
                  </a:cubicBezTo>
                  <a:lnTo>
                    <a:pt x="36873" y="815271"/>
                  </a:lnTo>
                  <a:cubicBezTo>
                    <a:pt x="16509" y="815271"/>
                    <a:pt x="0" y="798762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Shape 22"/>
            <p:cNvSpPr/>
            <p:nvPr/>
          </p:nvSpPr>
          <p:spPr>
            <a:xfrm>
              <a:off x="6186446" y="4557683"/>
              <a:ext cx="36873" cy="815271"/>
            </a:xfrm>
            <a:custGeom>
              <a:avLst/>
              <a:gdLst/>
              <a:ahLst/>
              <a:cxnLst/>
              <a:rect l="l" t="t" r="r" b="b"/>
              <a:pathLst>
                <a:path w="36873" h="815271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2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5" name="Text 23"/>
            <p:cNvSpPr/>
            <p:nvPr/>
          </p:nvSpPr>
          <p:spPr>
            <a:xfrm>
              <a:off x="6353097" y="4705896"/>
              <a:ext cx="5169556" cy="2223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mask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353097" y="5002321"/>
              <a:ext cx="5169556" cy="2223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Boolean array controlling which positions to read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11292" y="5521076"/>
              <a:ext cx="5410339" cy="815271"/>
            </a:xfrm>
            <a:custGeom>
              <a:avLst/>
              <a:gdLst/>
              <a:ahLst/>
              <a:cxnLst/>
              <a:rect l="l" t="t" r="r" b="b"/>
              <a:pathLst>
                <a:path w="5410339" h="815271">
                  <a:moveTo>
                    <a:pt x="36873" y="0"/>
                  </a:moveTo>
                  <a:lnTo>
                    <a:pt x="5336223" y="0"/>
                  </a:lnTo>
                  <a:cubicBezTo>
                    <a:pt x="5377156" y="0"/>
                    <a:pt x="5410339" y="33183"/>
                    <a:pt x="5410339" y="74116"/>
                  </a:cubicBezTo>
                  <a:lnTo>
                    <a:pt x="5410339" y="741154"/>
                  </a:lnTo>
                  <a:cubicBezTo>
                    <a:pt x="5410339" y="782088"/>
                    <a:pt x="5377156" y="815271"/>
                    <a:pt x="5336223" y="815271"/>
                  </a:cubicBezTo>
                  <a:lnTo>
                    <a:pt x="36873" y="815271"/>
                  </a:lnTo>
                  <a:cubicBezTo>
                    <a:pt x="16509" y="815271"/>
                    <a:pt x="0" y="798762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Shape 26"/>
            <p:cNvSpPr/>
            <p:nvPr/>
          </p:nvSpPr>
          <p:spPr>
            <a:xfrm>
              <a:off x="611292" y="5521076"/>
              <a:ext cx="36873" cy="815271"/>
            </a:xfrm>
            <a:custGeom>
              <a:avLst/>
              <a:gdLst/>
              <a:ahLst/>
              <a:cxnLst/>
              <a:rect l="l" t="t" r="r" b="b"/>
              <a:pathLst>
                <a:path w="36873" h="815271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2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D1D5DC"/>
            </a:solidFill>
          </p:spPr>
        </p:sp>
        <p:sp>
          <p:nvSpPr>
            <p:cNvPr id="29" name="Text 27"/>
            <p:cNvSpPr/>
            <p:nvPr/>
          </p:nvSpPr>
          <p:spPr>
            <a:xfrm>
              <a:off x="777942" y="5669289"/>
              <a:ext cx="5169556" cy="2223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other</a:t>
              </a:r>
              <a:endParaRPr lang="en-US" sz="16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77942" y="5965714"/>
              <a:ext cx="5169556" cy="2223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Default value when mask is False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6186446" y="5521076"/>
              <a:ext cx="5410339" cy="815271"/>
            </a:xfrm>
            <a:custGeom>
              <a:avLst/>
              <a:gdLst/>
              <a:ahLst/>
              <a:cxnLst/>
              <a:rect l="l" t="t" r="r" b="b"/>
              <a:pathLst>
                <a:path w="5410339" h="815271">
                  <a:moveTo>
                    <a:pt x="36873" y="0"/>
                  </a:moveTo>
                  <a:lnTo>
                    <a:pt x="5336223" y="0"/>
                  </a:lnTo>
                  <a:cubicBezTo>
                    <a:pt x="5377156" y="0"/>
                    <a:pt x="5410339" y="33183"/>
                    <a:pt x="5410339" y="74116"/>
                  </a:cubicBezTo>
                  <a:lnTo>
                    <a:pt x="5410339" y="741154"/>
                  </a:lnTo>
                  <a:cubicBezTo>
                    <a:pt x="5410339" y="782088"/>
                    <a:pt x="5377156" y="815271"/>
                    <a:pt x="5336223" y="815271"/>
                  </a:cubicBezTo>
                  <a:lnTo>
                    <a:pt x="36873" y="815271"/>
                  </a:lnTo>
                  <a:cubicBezTo>
                    <a:pt x="16509" y="815271"/>
                    <a:pt x="0" y="798762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Shape 30"/>
            <p:cNvSpPr/>
            <p:nvPr/>
          </p:nvSpPr>
          <p:spPr>
            <a:xfrm>
              <a:off x="6186446" y="5521076"/>
              <a:ext cx="36873" cy="815271"/>
            </a:xfrm>
            <a:custGeom>
              <a:avLst/>
              <a:gdLst/>
              <a:ahLst/>
              <a:cxnLst/>
              <a:rect l="l" t="t" r="r" b="b"/>
              <a:pathLst>
                <a:path w="36873" h="815271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2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D1D5DC"/>
            </a:solidFill>
          </p:spPr>
        </p:sp>
        <p:sp>
          <p:nvSpPr>
            <p:cNvPr id="33" name="Text 31"/>
            <p:cNvSpPr/>
            <p:nvPr/>
          </p:nvSpPr>
          <p:spPr>
            <a:xfrm>
              <a:off x="6353097" y="5669289"/>
              <a:ext cx="5169556" cy="2223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cache_modifier</a:t>
              </a:r>
              <a:endParaRPr lang="en-US" sz="16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353097" y="5965714"/>
              <a:ext cx="5169556" cy="2223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Cache modifier (e.g., ".ca", ".cg")</a:t>
              </a:r>
              <a:endParaRPr lang="en-US" sz="1600" dirty="0"/>
            </a:p>
          </p:txBody>
        </p:sp>
      </p:grpSp>
      <p:sp>
        <p:nvSpPr>
          <p:cNvPr id="35" name="Text 33"/>
          <p:cNvSpPr/>
          <p:nvPr/>
        </p:nvSpPr>
        <p:spPr>
          <a:xfrm>
            <a:off x="370534" y="6706779"/>
            <a:ext cx="11506432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8165" y="585821"/>
            <a:ext cx="11617605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tl.store Details</a:t>
            </a:r>
            <a:endParaRPr lang="en-US" sz="1600" dirty="0"/>
          </a:p>
        </p:txBody>
      </p:sp>
      <p:grpSp>
        <p:nvGrpSpPr>
          <p:cNvPr id="35" name="组合 34"/>
          <p:cNvGrpSpPr/>
          <p:nvPr/>
        </p:nvGrpSpPr>
        <p:grpSpPr>
          <a:xfrm>
            <a:off x="519504" y="1370874"/>
            <a:ext cx="12128673" cy="1954796"/>
            <a:chOff x="388971" y="1370874"/>
            <a:chExt cx="12128673" cy="1954796"/>
          </a:xfrm>
        </p:grpSpPr>
        <p:sp>
          <p:nvSpPr>
            <p:cNvPr id="5" name="Shape 3"/>
            <p:cNvSpPr/>
            <p:nvPr/>
          </p:nvSpPr>
          <p:spPr>
            <a:xfrm>
              <a:off x="388971" y="1370874"/>
              <a:ext cx="5558570" cy="1954796"/>
            </a:xfrm>
            <a:custGeom>
              <a:avLst/>
              <a:gdLst/>
              <a:ahLst/>
              <a:cxnLst/>
              <a:rect l="l" t="t" r="r" b="b"/>
              <a:pathLst>
                <a:path w="5558570" h="1954796">
                  <a:moveTo>
                    <a:pt x="36873" y="0"/>
                  </a:moveTo>
                  <a:lnTo>
                    <a:pt x="5447401" y="0"/>
                  </a:lnTo>
                  <a:cubicBezTo>
                    <a:pt x="5508798" y="0"/>
                    <a:pt x="5558570" y="49772"/>
                    <a:pt x="5558570" y="111169"/>
                  </a:cubicBezTo>
                  <a:lnTo>
                    <a:pt x="5558570" y="1843627"/>
                  </a:lnTo>
                  <a:cubicBezTo>
                    <a:pt x="5558570" y="1905024"/>
                    <a:pt x="5508798" y="1954796"/>
                    <a:pt x="5447401" y="1954796"/>
                  </a:cubicBezTo>
                  <a:lnTo>
                    <a:pt x="36873" y="1954796"/>
                  </a:lnTo>
                  <a:cubicBezTo>
                    <a:pt x="16509" y="1954796"/>
                    <a:pt x="0" y="1938288"/>
                    <a:pt x="0" y="1917923"/>
                  </a:cubicBezTo>
                  <a:lnTo>
                    <a:pt x="0" y="36873"/>
                  </a:lnTo>
                  <a:cubicBezTo>
                    <a:pt x="0" y="16522"/>
                    <a:pt x="16522" y="0"/>
                    <a:pt x="36873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388971" y="1370874"/>
              <a:ext cx="36873" cy="1954796"/>
            </a:xfrm>
            <a:custGeom>
              <a:avLst/>
              <a:gdLst/>
              <a:ahLst/>
              <a:cxnLst/>
              <a:rect l="l" t="t" r="r" b="b"/>
              <a:pathLst>
                <a:path w="36873" h="1954796">
                  <a:moveTo>
                    <a:pt x="36873" y="0"/>
                  </a:moveTo>
                  <a:lnTo>
                    <a:pt x="36873" y="0"/>
                  </a:lnTo>
                  <a:lnTo>
                    <a:pt x="36873" y="1954796"/>
                  </a:lnTo>
                  <a:lnTo>
                    <a:pt x="36873" y="1954796"/>
                  </a:lnTo>
                  <a:cubicBezTo>
                    <a:pt x="16509" y="1954796"/>
                    <a:pt x="0" y="1938288"/>
                    <a:pt x="0" y="1917923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629728" y="1593194"/>
              <a:ext cx="5188085" cy="15101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46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tl.store(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46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    output_ptr + offsets, 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46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    output, 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46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    </a:t>
              </a:r>
              <a:r>
                <a:rPr lang="en-US" sz="1460" b="1" dirty="0">
                  <a:solidFill>
                    <a:srgbClr val="8B0000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mask=mask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46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)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265277" y="1407887"/>
              <a:ext cx="185289" cy="185289"/>
            </a:xfrm>
            <a:custGeom>
              <a:avLst/>
              <a:gdLst/>
              <a:ahLst/>
              <a:cxnLst/>
              <a:rect l="l" t="t" r="r" b="b"/>
              <a:pathLst>
                <a:path w="185289" h="185289">
                  <a:moveTo>
                    <a:pt x="92644" y="185289"/>
                  </a:moveTo>
                  <a:cubicBezTo>
                    <a:pt x="143776" y="185289"/>
                    <a:pt x="185289" y="143776"/>
                    <a:pt x="185289" y="92644"/>
                  </a:cubicBezTo>
                  <a:cubicBezTo>
                    <a:pt x="185289" y="41513"/>
                    <a:pt x="143776" y="0"/>
                    <a:pt x="92644" y="0"/>
                  </a:cubicBezTo>
                  <a:cubicBezTo>
                    <a:pt x="41513" y="0"/>
                    <a:pt x="0" y="41513"/>
                    <a:pt x="0" y="92644"/>
                  </a:cubicBezTo>
                  <a:cubicBezTo>
                    <a:pt x="0" y="143776"/>
                    <a:pt x="41513" y="185289"/>
                    <a:pt x="92644" y="185289"/>
                  </a:cubicBezTo>
                  <a:close/>
                  <a:moveTo>
                    <a:pt x="123188" y="76974"/>
                  </a:moveTo>
                  <a:lnTo>
                    <a:pt x="94237" y="123297"/>
                  </a:lnTo>
                  <a:cubicBezTo>
                    <a:pt x="92717" y="125721"/>
                    <a:pt x="90111" y="127241"/>
                    <a:pt x="87252" y="127386"/>
                  </a:cubicBezTo>
                  <a:cubicBezTo>
                    <a:pt x="84393" y="127531"/>
                    <a:pt x="81643" y="126228"/>
                    <a:pt x="79942" y="123912"/>
                  </a:cubicBezTo>
                  <a:lnTo>
                    <a:pt x="62571" y="100751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3" y="86492"/>
                    <a:pt x="76468" y="90328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8" y="62463"/>
                    <a:pt x="120438" y="65032"/>
                  </a:cubicBezTo>
                  <a:cubicBezTo>
                    <a:pt x="124527" y="67601"/>
                    <a:pt x="125758" y="72921"/>
                    <a:pt x="123188" y="77011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9" name="Text 7"/>
            <p:cNvSpPr/>
            <p:nvPr/>
          </p:nvSpPr>
          <p:spPr>
            <a:xfrm>
              <a:off x="6584852" y="1370874"/>
              <a:ext cx="5932792" cy="26866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15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Supports mask</a:t>
              </a:r>
              <a:r>
                <a:rPr lang="en-US" sz="131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: conditional write, prevents out-of-bounds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265277" y="1827103"/>
              <a:ext cx="185289" cy="185289"/>
            </a:xfrm>
            <a:custGeom>
              <a:avLst/>
              <a:gdLst/>
              <a:ahLst/>
              <a:cxnLst/>
              <a:rect l="l" t="t" r="r" b="b"/>
              <a:pathLst>
                <a:path w="185289" h="185289">
                  <a:moveTo>
                    <a:pt x="92644" y="185289"/>
                  </a:moveTo>
                  <a:cubicBezTo>
                    <a:pt x="143776" y="185289"/>
                    <a:pt x="185289" y="143776"/>
                    <a:pt x="185289" y="92644"/>
                  </a:cubicBezTo>
                  <a:cubicBezTo>
                    <a:pt x="185289" y="41513"/>
                    <a:pt x="143776" y="0"/>
                    <a:pt x="92644" y="0"/>
                  </a:cubicBezTo>
                  <a:cubicBezTo>
                    <a:pt x="41513" y="0"/>
                    <a:pt x="0" y="41513"/>
                    <a:pt x="0" y="92644"/>
                  </a:cubicBezTo>
                  <a:cubicBezTo>
                    <a:pt x="0" y="143776"/>
                    <a:pt x="41513" y="185289"/>
                    <a:pt x="92644" y="185289"/>
                  </a:cubicBezTo>
                  <a:close/>
                  <a:moveTo>
                    <a:pt x="123188" y="76974"/>
                  </a:moveTo>
                  <a:lnTo>
                    <a:pt x="94237" y="123297"/>
                  </a:lnTo>
                  <a:cubicBezTo>
                    <a:pt x="92717" y="125721"/>
                    <a:pt x="90111" y="127241"/>
                    <a:pt x="87252" y="127386"/>
                  </a:cubicBezTo>
                  <a:cubicBezTo>
                    <a:pt x="84393" y="127531"/>
                    <a:pt x="81643" y="126228"/>
                    <a:pt x="79942" y="123912"/>
                  </a:cubicBezTo>
                  <a:lnTo>
                    <a:pt x="62571" y="100751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3" y="86492"/>
                    <a:pt x="76468" y="90328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8" y="62463"/>
                    <a:pt x="120438" y="65032"/>
                  </a:cubicBezTo>
                  <a:cubicBezTo>
                    <a:pt x="124527" y="67601"/>
                    <a:pt x="125758" y="72921"/>
                    <a:pt x="123188" y="77011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6584852" y="1790090"/>
              <a:ext cx="5343649" cy="26866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15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Conditional write</a:t>
              </a:r>
              <a:r>
                <a:rPr lang="en-US" sz="131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: only writes to positions where mask is True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265277" y="2246328"/>
              <a:ext cx="185289" cy="185289"/>
            </a:xfrm>
            <a:custGeom>
              <a:avLst/>
              <a:gdLst/>
              <a:ahLst/>
              <a:cxnLst/>
              <a:rect l="l" t="t" r="r" b="b"/>
              <a:pathLst>
                <a:path w="185289" h="185289">
                  <a:moveTo>
                    <a:pt x="92644" y="185289"/>
                  </a:moveTo>
                  <a:cubicBezTo>
                    <a:pt x="143776" y="185289"/>
                    <a:pt x="185289" y="143776"/>
                    <a:pt x="185289" y="92644"/>
                  </a:cubicBezTo>
                  <a:cubicBezTo>
                    <a:pt x="185289" y="41513"/>
                    <a:pt x="143776" y="0"/>
                    <a:pt x="92644" y="0"/>
                  </a:cubicBezTo>
                  <a:cubicBezTo>
                    <a:pt x="41513" y="0"/>
                    <a:pt x="0" y="41513"/>
                    <a:pt x="0" y="92644"/>
                  </a:cubicBezTo>
                  <a:cubicBezTo>
                    <a:pt x="0" y="143776"/>
                    <a:pt x="41513" y="185289"/>
                    <a:pt x="92644" y="185289"/>
                  </a:cubicBezTo>
                  <a:close/>
                  <a:moveTo>
                    <a:pt x="123188" y="76974"/>
                  </a:moveTo>
                  <a:lnTo>
                    <a:pt x="94237" y="123297"/>
                  </a:lnTo>
                  <a:cubicBezTo>
                    <a:pt x="92717" y="125721"/>
                    <a:pt x="90111" y="127241"/>
                    <a:pt x="87252" y="127386"/>
                  </a:cubicBezTo>
                  <a:cubicBezTo>
                    <a:pt x="84393" y="127531"/>
                    <a:pt x="81643" y="126228"/>
                    <a:pt x="79942" y="123912"/>
                  </a:cubicBezTo>
                  <a:lnTo>
                    <a:pt x="62571" y="100751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3" y="86492"/>
                    <a:pt x="76468" y="90328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8" y="62463"/>
                    <a:pt x="120438" y="65032"/>
                  </a:cubicBezTo>
                  <a:cubicBezTo>
                    <a:pt x="124527" y="67601"/>
                    <a:pt x="125758" y="72921"/>
                    <a:pt x="123188" y="77011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6584852" y="2209306"/>
              <a:ext cx="5161581" cy="26866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15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Guarantees memory safety</a:t>
              </a:r>
              <a:r>
                <a:rPr lang="en-US" sz="131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: avoids illegal memory writes</a:t>
              </a:r>
              <a:endParaRPr lang="en-US" sz="16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370534" y="3543376"/>
            <a:ext cx="11450845" cy="3020207"/>
          </a:xfrm>
          <a:custGeom>
            <a:avLst/>
            <a:gdLst/>
            <a:ahLst/>
            <a:cxnLst/>
            <a:rect l="l" t="t" r="r" b="b"/>
            <a:pathLst>
              <a:path w="11450845" h="3020207">
                <a:moveTo>
                  <a:pt x="111174" y="0"/>
                </a:moveTo>
                <a:lnTo>
                  <a:pt x="11339671" y="0"/>
                </a:lnTo>
                <a:cubicBezTo>
                  <a:pt x="11401071" y="0"/>
                  <a:pt x="11450845" y="49774"/>
                  <a:pt x="11450845" y="111174"/>
                </a:cubicBezTo>
                <a:lnTo>
                  <a:pt x="11450845" y="2909033"/>
                </a:lnTo>
                <a:cubicBezTo>
                  <a:pt x="11450845" y="2970391"/>
                  <a:pt x="11401030" y="3020207"/>
                  <a:pt x="11339671" y="3020207"/>
                </a:cubicBezTo>
                <a:lnTo>
                  <a:pt x="111174" y="3020207"/>
                </a:lnTo>
                <a:cubicBezTo>
                  <a:pt x="49774" y="3020207"/>
                  <a:pt x="0" y="2970432"/>
                  <a:pt x="0" y="2909033"/>
                </a:cubicBezTo>
                <a:lnTo>
                  <a:pt x="0" y="111174"/>
                </a:lnTo>
                <a:cubicBezTo>
                  <a:pt x="0" y="49774"/>
                  <a:pt x="49774" y="0"/>
                  <a:pt x="111174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5" name="Text 13"/>
          <p:cNvSpPr/>
          <p:nvPr/>
        </p:nvSpPr>
        <p:spPr>
          <a:xfrm>
            <a:off x="592855" y="3765695"/>
            <a:ext cx="11098796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Full Parameter Description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1292" y="4173322"/>
            <a:ext cx="10987531" cy="537337"/>
          </a:xfrm>
          <a:custGeom>
            <a:avLst/>
            <a:gdLst/>
            <a:ahLst/>
            <a:cxnLst/>
            <a:rect l="l" t="t" r="r" b="b"/>
            <a:pathLst>
              <a:path w="10987531" h="537337">
                <a:moveTo>
                  <a:pt x="36873" y="0"/>
                </a:moveTo>
                <a:lnTo>
                  <a:pt x="10913416" y="0"/>
                </a:lnTo>
                <a:cubicBezTo>
                  <a:pt x="10954349" y="0"/>
                  <a:pt x="10987531" y="33182"/>
                  <a:pt x="10987531" y="74115"/>
                </a:cubicBezTo>
                <a:lnTo>
                  <a:pt x="10987531" y="463222"/>
                </a:lnTo>
                <a:cubicBezTo>
                  <a:pt x="10987531" y="504155"/>
                  <a:pt x="10954349" y="537337"/>
                  <a:pt x="10913416" y="537337"/>
                </a:cubicBezTo>
                <a:lnTo>
                  <a:pt x="36873" y="537337"/>
                </a:lnTo>
                <a:cubicBezTo>
                  <a:pt x="16509" y="537337"/>
                  <a:pt x="0" y="520829"/>
                  <a:pt x="0" y="500464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7" name="Shape 15"/>
          <p:cNvSpPr/>
          <p:nvPr/>
        </p:nvSpPr>
        <p:spPr>
          <a:xfrm>
            <a:off x="611292" y="4173322"/>
            <a:ext cx="36873" cy="537337"/>
          </a:xfrm>
          <a:custGeom>
            <a:avLst/>
            <a:gdLst/>
            <a:ahLst/>
            <a:cxnLst/>
            <a:rect l="l" t="t" r="r" b="b"/>
            <a:pathLst>
              <a:path w="36873" h="537337">
                <a:moveTo>
                  <a:pt x="36873" y="0"/>
                </a:moveTo>
                <a:lnTo>
                  <a:pt x="36873" y="0"/>
                </a:lnTo>
                <a:lnTo>
                  <a:pt x="36873" y="537337"/>
                </a:lnTo>
                <a:lnTo>
                  <a:pt x="36873" y="537337"/>
                </a:lnTo>
                <a:cubicBezTo>
                  <a:pt x="16509" y="537337"/>
                  <a:pt x="0" y="520829"/>
                  <a:pt x="0" y="500464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Text 16"/>
          <p:cNvSpPr/>
          <p:nvPr/>
        </p:nvSpPr>
        <p:spPr>
          <a:xfrm>
            <a:off x="777942" y="4321534"/>
            <a:ext cx="10746748" cy="240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6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tl.store(ptr, value, mask=None, cache_modifier="", eviction_policy="")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1292" y="4858790"/>
            <a:ext cx="3548187" cy="815271"/>
          </a:xfrm>
          <a:custGeom>
            <a:avLst/>
            <a:gdLst/>
            <a:ahLst/>
            <a:cxnLst/>
            <a:rect l="l" t="t" r="r" b="b"/>
            <a:pathLst>
              <a:path w="3548187" h="815271">
                <a:moveTo>
                  <a:pt x="36873" y="0"/>
                </a:moveTo>
                <a:lnTo>
                  <a:pt x="3474071" y="0"/>
                </a:lnTo>
                <a:cubicBezTo>
                  <a:pt x="3515004" y="0"/>
                  <a:pt x="3548187" y="33183"/>
                  <a:pt x="3548187" y="74116"/>
                </a:cubicBezTo>
                <a:lnTo>
                  <a:pt x="3548187" y="741154"/>
                </a:lnTo>
                <a:cubicBezTo>
                  <a:pt x="3548187" y="782088"/>
                  <a:pt x="3515004" y="815271"/>
                  <a:pt x="3474071" y="815271"/>
                </a:cubicBezTo>
                <a:lnTo>
                  <a:pt x="36873" y="815271"/>
                </a:lnTo>
                <a:cubicBezTo>
                  <a:pt x="16509" y="815271"/>
                  <a:pt x="0" y="798762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611292" y="4858790"/>
            <a:ext cx="36873" cy="815271"/>
          </a:xfrm>
          <a:custGeom>
            <a:avLst/>
            <a:gdLst/>
            <a:ahLst/>
            <a:cxnLst/>
            <a:rect l="l" t="t" r="r" b="b"/>
            <a:pathLst>
              <a:path w="36873" h="815271">
                <a:moveTo>
                  <a:pt x="36873" y="0"/>
                </a:moveTo>
                <a:lnTo>
                  <a:pt x="36873" y="0"/>
                </a:lnTo>
                <a:lnTo>
                  <a:pt x="36873" y="815271"/>
                </a:lnTo>
                <a:lnTo>
                  <a:pt x="36873" y="815271"/>
                </a:lnTo>
                <a:cubicBezTo>
                  <a:pt x="16509" y="815271"/>
                  <a:pt x="0" y="798762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Text 19"/>
          <p:cNvSpPr/>
          <p:nvPr/>
        </p:nvSpPr>
        <p:spPr>
          <a:xfrm>
            <a:off x="777942" y="5007003"/>
            <a:ext cx="3307404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ptr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942" y="5303429"/>
            <a:ext cx="3307404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Target memory address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28085" y="4858790"/>
            <a:ext cx="3548187" cy="815271"/>
          </a:xfrm>
          <a:custGeom>
            <a:avLst/>
            <a:gdLst/>
            <a:ahLst/>
            <a:cxnLst/>
            <a:rect l="l" t="t" r="r" b="b"/>
            <a:pathLst>
              <a:path w="3548187" h="815271">
                <a:moveTo>
                  <a:pt x="36873" y="0"/>
                </a:moveTo>
                <a:lnTo>
                  <a:pt x="3474071" y="0"/>
                </a:lnTo>
                <a:cubicBezTo>
                  <a:pt x="3515004" y="0"/>
                  <a:pt x="3548187" y="33183"/>
                  <a:pt x="3548187" y="74116"/>
                </a:cubicBezTo>
                <a:lnTo>
                  <a:pt x="3548187" y="741154"/>
                </a:lnTo>
                <a:cubicBezTo>
                  <a:pt x="3548187" y="782088"/>
                  <a:pt x="3515004" y="815271"/>
                  <a:pt x="3474071" y="815271"/>
                </a:cubicBezTo>
                <a:lnTo>
                  <a:pt x="36873" y="815271"/>
                </a:lnTo>
                <a:cubicBezTo>
                  <a:pt x="16509" y="815271"/>
                  <a:pt x="0" y="798762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4328085" y="4858790"/>
            <a:ext cx="36873" cy="815271"/>
          </a:xfrm>
          <a:custGeom>
            <a:avLst/>
            <a:gdLst/>
            <a:ahLst/>
            <a:cxnLst/>
            <a:rect l="l" t="t" r="r" b="b"/>
            <a:pathLst>
              <a:path w="36873" h="815271">
                <a:moveTo>
                  <a:pt x="36873" y="0"/>
                </a:moveTo>
                <a:lnTo>
                  <a:pt x="36873" y="0"/>
                </a:lnTo>
                <a:lnTo>
                  <a:pt x="36873" y="815271"/>
                </a:lnTo>
                <a:lnTo>
                  <a:pt x="36873" y="815271"/>
                </a:lnTo>
                <a:cubicBezTo>
                  <a:pt x="16509" y="815271"/>
                  <a:pt x="0" y="798762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4494736" y="5007003"/>
            <a:ext cx="3307404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value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94736" y="5303429"/>
            <a:ext cx="3307404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 to write (tensor)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44879" y="4858790"/>
            <a:ext cx="3548187" cy="815271"/>
          </a:xfrm>
          <a:custGeom>
            <a:avLst/>
            <a:gdLst/>
            <a:ahLst/>
            <a:cxnLst/>
            <a:rect l="l" t="t" r="r" b="b"/>
            <a:pathLst>
              <a:path w="3548187" h="815271">
                <a:moveTo>
                  <a:pt x="36873" y="0"/>
                </a:moveTo>
                <a:lnTo>
                  <a:pt x="3474071" y="0"/>
                </a:lnTo>
                <a:cubicBezTo>
                  <a:pt x="3515004" y="0"/>
                  <a:pt x="3548187" y="33183"/>
                  <a:pt x="3548187" y="74116"/>
                </a:cubicBezTo>
                <a:lnTo>
                  <a:pt x="3548187" y="741154"/>
                </a:lnTo>
                <a:cubicBezTo>
                  <a:pt x="3548187" y="782088"/>
                  <a:pt x="3515004" y="815271"/>
                  <a:pt x="3474071" y="815271"/>
                </a:cubicBezTo>
                <a:lnTo>
                  <a:pt x="36873" y="815271"/>
                </a:lnTo>
                <a:cubicBezTo>
                  <a:pt x="16509" y="815271"/>
                  <a:pt x="0" y="798762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Shape 26"/>
          <p:cNvSpPr/>
          <p:nvPr/>
        </p:nvSpPr>
        <p:spPr>
          <a:xfrm>
            <a:off x="8044879" y="4858790"/>
            <a:ext cx="36873" cy="815271"/>
          </a:xfrm>
          <a:custGeom>
            <a:avLst/>
            <a:gdLst/>
            <a:ahLst/>
            <a:cxnLst/>
            <a:rect l="l" t="t" r="r" b="b"/>
            <a:pathLst>
              <a:path w="36873" h="815271">
                <a:moveTo>
                  <a:pt x="36873" y="0"/>
                </a:moveTo>
                <a:lnTo>
                  <a:pt x="36873" y="0"/>
                </a:lnTo>
                <a:lnTo>
                  <a:pt x="36873" y="815271"/>
                </a:lnTo>
                <a:lnTo>
                  <a:pt x="36873" y="815271"/>
                </a:lnTo>
                <a:cubicBezTo>
                  <a:pt x="16509" y="815271"/>
                  <a:pt x="0" y="798762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9" name="Text 27"/>
          <p:cNvSpPr/>
          <p:nvPr/>
        </p:nvSpPr>
        <p:spPr>
          <a:xfrm>
            <a:off x="8211530" y="5007003"/>
            <a:ext cx="3307404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mask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11530" y="5303429"/>
            <a:ext cx="3307404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Controls write positions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2855" y="5822183"/>
            <a:ext cx="11006152" cy="518809"/>
          </a:xfrm>
          <a:custGeom>
            <a:avLst/>
            <a:gdLst/>
            <a:ahLst/>
            <a:cxnLst/>
            <a:rect l="l" t="t" r="r" b="b"/>
            <a:pathLst>
              <a:path w="11006152" h="518809">
                <a:moveTo>
                  <a:pt x="74117" y="0"/>
                </a:moveTo>
                <a:lnTo>
                  <a:pt x="10932035" y="0"/>
                </a:lnTo>
                <a:cubicBezTo>
                  <a:pt x="10972969" y="0"/>
                  <a:pt x="11006152" y="33183"/>
                  <a:pt x="11006152" y="74117"/>
                </a:cubicBezTo>
                <a:lnTo>
                  <a:pt x="11006152" y="444692"/>
                </a:lnTo>
                <a:cubicBezTo>
                  <a:pt x="11006152" y="485625"/>
                  <a:pt x="10972969" y="518809"/>
                  <a:pt x="10932035" y="518809"/>
                </a:cubicBezTo>
                <a:lnTo>
                  <a:pt x="74117" y="518809"/>
                </a:lnTo>
                <a:cubicBezTo>
                  <a:pt x="33183" y="518809"/>
                  <a:pt x="0" y="485625"/>
                  <a:pt x="0" y="444692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2" name="Shape 30"/>
          <p:cNvSpPr/>
          <p:nvPr/>
        </p:nvSpPr>
        <p:spPr>
          <a:xfrm>
            <a:off x="764230" y="5988898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92644" y="0"/>
                </a:moveTo>
                <a:cubicBezTo>
                  <a:pt x="97964" y="0"/>
                  <a:pt x="102850" y="2931"/>
                  <a:pt x="105383" y="7600"/>
                </a:cubicBezTo>
                <a:lnTo>
                  <a:pt x="183552" y="152357"/>
                </a:lnTo>
                <a:cubicBezTo>
                  <a:pt x="185976" y="156844"/>
                  <a:pt x="185868" y="162272"/>
                  <a:pt x="183262" y="166651"/>
                </a:cubicBezTo>
                <a:cubicBezTo>
                  <a:pt x="180657" y="171030"/>
                  <a:pt x="175916" y="173708"/>
                  <a:pt x="170813" y="173708"/>
                </a:cubicBezTo>
                <a:lnTo>
                  <a:pt x="14476" y="173708"/>
                </a:lnTo>
                <a:cubicBezTo>
                  <a:pt x="9373" y="173708"/>
                  <a:pt x="4668" y="171030"/>
                  <a:pt x="2027" y="166651"/>
                </a:cubicBezTo>
                <a:cubicBezTo>
                  <a:pt x="-615" y="162272"/>
                  <a:pt x="-688" y="156844"/>
                  <a:pt x="1737" y="152357"/>
                </a:cubicBezTo>
                <a:lnTo>
                  <a:pt x="79906" y="7600"/>
                </a:lnTo>
                <a:cubicBezTo>
                  <a:pt x="82439" y="2931"/>
                  <a:pt x="87325" y="0"/>
                  <a:pt x="92644" y="0"/>
                </a:cubicBezTo>
                <a:close/>
                <a:moveTo>
                  <a:pt x="92644" y="60798"/>
                </a:moveTo>
                <a:cubicBezTo>
                  <a:pt x="87831" y="60798"/>
                  <a:pt x="83959" y="64670"/>
                  <a:pt x="83959" y="69483"/>
                </a:cubicBezTo>
                <a:lnTo>
                  <a:pt x="83959" y="110015"/>
                </a:lnTo>
                <a:cubicBezTo>
                  <a:pt x="83959" y="114828"/>
                  <a:pt x="87831" y="118701"/>
                  <a:pt x="92644" y="118701"/>
                </a:cubicBezTo>
                <a:cubicBezTo>
                  <a:pt x="97458" y="118701"/>
                  <a:pt x="101330" y="114828"/>
                  <a:pt x="101330" y="110015"/>
                </a:cubicBezTo>
                <a:lnTo>
                  <a:pt x="101330" y="69483"/>
                </a:lnTo>
                <a:cubicBezTo>
                  <a:pt x="101330" y="64670"/>
                  <a:pt x="97458" y="60798"/>
                  <a:pt x="92644" y="60798"/>
                </a:cubicBezTo>
                <a:close/>
                <a:moveTo>
                  <a:pt x="102307" y="138967"/>
                </a:moveTo>
                <a:cubicBezTo>
                  <a:pt x="102527" y="135380"/>
                  <a:pt x="100738" y="131968"/>
                  <a:pt x="97663" y="130108"/>
                </a:cubicBezTo>
                <a:cubicBezTo>
                  <a:pt x="94589" y="128248"/>
                  <a:pt x="90736" y="128248"/>
                  <a:pt x="87661" y="130108"/>
                </a:cubicBezTo>
                <a:cubicBezTo>
                  <a:pt x="84587" y="131968"/>
                  <a:pt x="82798" y="135380"/>
                  <a:pt x="83018" y="138967"/>
                </a:cubicBezTo>
                <a:cubicBezTo>
                  <a:pt x="82798" y="142553"/>
                  <a:pt x="84587" y="145966"/>
                  <a:pt x="87661" y="147825"/>
                </a:cubicBezTo>
                <a:cubicBezTo>
                  <a:pt x="90736" y="149685"/>
                  <a:pt x="94589" y="149685"/>
                  <a:pt x="97663" y="147825"/>
                </a:cubicBezTo>
                <a:cubicBezTo>
                  <a:pt x="100738" y="145966"/>
                  <a:pt x="102527" y="142553"/>
                  <a:pt x="102307" y="13896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3" name="Text 31"/>
          <p:cNvSpPr/>
          <p:nvPr/>
        </p:nvSpPr>
        <p:spPr>
          <a:xfrm>
            <a:off x="1083804" y="5970396"/>
            <a:ext cx="10177431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store </a:t>
            </a:r>
            <a:r>
              <a:rPr lang="en-US" sz="1165" dirty="0" err="1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operation must include</a:t>
            </a:r>
            <a:r>
              <a:rPr lang="en-US" sz="1165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mask, otherwise it may cause out-of-bounds memory access and data corruption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70534" y="6711461"/>
            <a:ext cx="11506432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9218" y="626561"/>
            <a:ext cx="11652454" cy="3480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5" b="1" dirty="0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Grid </a:t>
            </a:r>
            <a:r>
              <a:rPr lang="zh-CN" altLang="en-US" sz="2465" b="1" dirty="0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Definition</a:t>
            </a:r>
            <a:r>
              <a:rPr lang="en-US" sz="2465" b="1" dirty="0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 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372" y="1287694"/>
            <a:ext cx="5586826" cy="2680325"/>
          </a:xfrm>
          <a:custGeom>
            <a:avLst/>
            <a:gdLst/>
            <a:ahLst/>
            <a:cxnLst/>
            <a:rect l="l" t="t" r="r" b="b"/>
            <a:pathLst>
              <a:path w="5586826" h="2680325">
                <a:moveTo>
                  <a:pt x="34636" y="0"/>
                </a:moveTo>
                <a:lnTo>
                  <a:pt x="5482400" y="0"/>
                </a:lnTo>
                <a:cubicBezTo>
                  <a:pt x="5540073" y="0"/>
                  <a:pt x="5586826" y="46753"/>
                  <a:pt x="5586826" y="104425"/>
                </a:cubicBezTo>
                <a:lnTo>
                  <a:pt x="5586826" y="2575900"/>
                </a:lnTo>
                <a:cubicBezTo>
                  <a:pt x="5586826" y="2633573"/>
                  <a:pt x="5540073" y="2680325"/>
                  <a:pt x="5482400" y="2680325"/>
                </a:cubicBezTo>
                <a:lnTo>
                  <a:pt x="34636" y="2680325"/>
                </a:lnTo>
                <a:cubicBezTo>
                  <a:pt x="15507" y="2680325"/>
                  <a:pt x="0" y="2664818"/>
                  <a:pt x="0" y="2645689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6" name="Shape 4"/>
          <p:cNvSpPr/>
          <p:nvPr/>
        </p:nvSpPr>
        <p:spPr>
          <a:xfrm>
            <a:off x="365372" y="1287694"/>
            <a:ext cx="34636" cy="2680325"/>
          </a:xfrm>
          <a:custGeom>
            <a:avLst/>
            <a:gdLst/>
            <a:ahLst/>
            <a:cxnLst/>
            <a:rect l="l" t="t" r="r" b="b"/>
            <a:pathLst>
              <a:path w="34636" h="2680325">
                <a:moveTo>
                  <a:pt x="34636" y="0"/>
                </a:moveTo>
                <a:lnTo>
                  <a:pt x="34636" y="0"/>
                </a:lnTo>
                <a:lnTo>
                  <a:pt x="34636" y="2680325"/>
                </a:lnTo>
                <a:lnTo>
                  <a:pt x="34636" y="2680325"/>
                </a:lnTo>
                <a:cubicBezTo>
                  <a:pt x="15507" y="2680325"/>
                  <a:pt x="0" y="2664818"/>
                  <a:pt x="0" y="2645689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Text 5"/>
          <p:cNvSpPr/>
          <p:nvPr/>
        </p:nvSpPr>
        <p:spPr>
          <a:xfrm>
            <a:off x="591522" y="1496525"/>
            <a:ext cx="5230116" cy="17839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35" dirty="0">
                <a:solidFill>
                  <a:srgbClr val="66666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Define grid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3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grid = </a:t>
            </a:r>
            <a:r>
              <a:rPr lang="en-US" sz="1235" b="1" dirty="0">
                <a:solidFill>
                  <a:srgbClr val="0066C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lambda</a:t>
            </a:r>
            <a:r>
              <a:rPr lang="en-US" sz="123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meta: 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3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triton.cdiv(n_elements, meta[</a:t>
            </a:r>
            <a:r>
              <a:rPr lang="en-US" sz="1235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'BLOCK_SIZE'</a:t>
            </a:r>
            <a:r>
              <a:rPr lang="en-US" sz="123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]),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3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35" dirty="0">
                <a:solidFill>
                  <a:srgbClr val="66666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Launch kernel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3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add_kernel[grid](...)</a:t>
            </a:r>
            <a:endParaRPr lang="en-US" sz="1600" dirty="0"/>
          </a:p>
        </p:txBody>
      </p:sp>
      <p:grpSp>
        <p:nvGrpSpPr>
          <p:cNvPr id="35" name="组合 34"/>
          <p:cNvGrpSpPr/>
          <p:nvPr/>
        </p:nvGrpSpPr>
        <p:grpSpPr>
          <a:xfrm>
            <a:off x="6234726" y="1287694"/>
            <a:ext cx="5604317" cy="2680172"/>
            <a:chOff x="6234726" y="1287694"/>
            <a:chExt cx="5604317" cy="2680172"/>
          </a:xfrm>
        </p:grpSpPr>
        <p:sp>
          <p:nvSpPr>
            <p:cNvPr id="8" name="Shape 6"/>
            <p:cNvSpPr/>
            <p:nvPr/>
          </p:nvSpPr>
          <p:spPr>
            <a:xfrm>
              <a:off x="6234726" y="1287694"/>
              <a:ext cx="5604317" cy="800617"/>
            </a:xfrm>
            <a:custGeom>
              <a:avLst/>
              <a:gdLst/>
              <a:ahLst/>
              <a:cxnLst/>
              <a:rect l="l" t="t" r="r" b="b"/>
              <a:pathLst>
                <a:path w="5604317" h="800617">
                  <a:moveTo>
                    <a:pt x="69622" y="0"/>
                  </a:moveTo>
                  <a:lnTo>
                    <a:pt x="5534695" y="0"/>
                  </a:lnTo>
                  <a:cubicBezTo>
                    <a:pt x="5573146" y="0"/>
                    <a:pt x="5604317" y="31171"/>
                    <a:pt x="5604317" y="69622"/>
                  </a:cubicBezTo>
                  <a:lnTo>
                    <a:pt x="5604317" y="730995"/>
                  </a:lnTo>
                  <a:cubicBezTo>
                    <a:pt x="5604317" y="769446"/>
                    <a:pt x="5573146" y="800617"/>
                    <a:pt x="5534695" y="800617"/>
                  </a:cubicBezTo>
                  <a:lnTo>
                    <a:pt x="69622" y="800617"/>
                  </a:lnTo>
                  <a:cubicBezTo>
                    <a:pt x="31196" y="800617"/>
                    <a:pt x="0" y="769420"/>
                    <a:pt x="0" y="730995"/>
                  </a:cubicBezTo>
                  <a:lnTo>
                    <a:pt x="0" y="69622"/>
                  </a:lnTo>
                  <a:cubicBezTo>
                    <a:pt x="0" y="31196"/>
                    <a:pt x="31196" y="0"/>
                    <a:pt x="6962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9" name="Shape 7"/>
            <p:cNvSpPr/>
            <p:nvPr/>
          </p:nvSpPr>
          <p:spPr>
            <a:xfrm>
              <a:off x="6406581" y="1461690"/>
              <a:ext cx="152291" cy="174047"/>
            </a:xfrm>
            <a:custGeom>
              <a:avLst/>
              <a:gdLst/>
              <a:ahLst/>
              <a:cxnLst/>
              <a:rect l="l" t="t" r="r" b="b"/>
              <a:pathLst>
                <a:path w="152291" h="174047">
                  <a:moveTo>
                    <a:pt x="130535" y="32634"/>
                  </a:moveTo>
                  <a:lnTo>
                    <a:pt x="130535" y="54390"/>
                  </a:lnTo>
                  <a:lnTo>
                    <a:pt x="108779" y="54390"/>
                  </a:lnTo>
                  <a:lnTo>
                    <a:pt x="108779" y="32634"/>
                  </a:lnTo>
                  <a:lnTo>
                    <a:pt x="130535" y="32634"/>
                  </a:lnTo>
                  <a:close/>
                  <a:moveTo>
                    <a:pt x="130535" y="76146"/>
                  </a:moveTo>
                  <a:lnTo>
                    <a:pt x="130535" y="97901"/>
                  </a:lnTo>
                  <a:lnTo>
                    <a:pt x="108779" y="97901"/>
                  </a:lnTo>
                  <a:lnTo>
                    <a:pt x="108779" y="76146"/>
                  </a:lnTo>
                  <a:lnTo>
                    <a:pt x="130535" y="76146"/>
                  </a:lnTo>
                  <a:close/>
                  <a:moveTo>
                    <a:pt x="130535" y="119657"/>
                  </a:moveTo>
                  <a:lnTo>
                    <a:pt x="130535" y="141413"/>
                  </a:lnTo>
                  <a:lnTo>
                    <a:pt x="108779" y="141413"/>
                  </a:lnTo>
                  <a:lnTo>
                    <a:pt x="108779" y="119657"/>
                  </a:lnTo>
                  <a:lnTo>
                    <a:pt x="130535" y="119657"/>
                  </a:lnTo>
                  <a:close/>
                  <a:moveTo>
                    <a:pt x="87024" y="97901"/>
                  </a:moveTo>
                  <a:lnTo>
                    <a:pt x="65268" y="97901"/>
                  </a:lnTo>
                  <a:lnTo>
                    <a:pt x="65268" y="76146"/>
                  </a:lnTo>
                  <a:lnTo>
                    <a:pt x="87024" y="76146"/>
                  </a:lnTo>
                  <a:lnTo>
                    <a:pt x="87024" y="97901"/>
                  </a:lnTo>
                  <a:close/>
                  <a:moveTo>
                    <a:pt x="65268" y="119657"/>
                  </a:moveTo>
                  <a:lnTo>
                    <a:pt x="87024" y="119657"/>
                  </a:lnTo>
                  <a:lnTo>
                    <a:pt x="87024" y="141413"/>
                  </a:lnTo>
                  <a:lnTo>
                    <a:pt x="65268" y="141413"/>
                  </a:lnTo>
                  <a:lnTo>
                    <a:pt x="65268" y="119657"/>
                  </a:lnTo>
                  <a:close/>
                  <a:moveTo>
                    <a:pt x="43512" y="97901"/>
                  </a:moveTo>
                  <a:lnTo>
                    <a:pt x="21756" y="97901"/>
                  </a:lnTo>
                  <a:lnTo>
                    <a:pt x="21756" y="76146"/>
                  </a:lnTo>
                  <a:lnTo>
                    <a:pt x="43512" y="76146"/>
                  </a:lnTo>
                  <a:lnTo>
                    <a:pt x="43512" y="97901"/>
                  </a:lnTo>
                  <a:close/>
                  <a:moveTo>
                    <a:pt x="21756" y="119657"/>
                  </a:moveTo>
                  <a:lnTo>
                    <a:pt x="43512" y="119657"/>
                  </a:lnTo>
                  <a:lnTo>
                    <a:pt x="43512" y="141413"/>
                  </a:lnTo>
                  <a:lnTo>
                    <a:pt x="21756" y="141413"/>
                  </a:lnTo>
                  <a:lnTo>
                    <a:pt x="21756" y="119657"/>
                  </a:lnTo>
                  <a:close/>
                  <a:moveTo>
                    <a:pt x="21756" y="54390"/>
                  </a:moveTo>
                  <a:lnTo>
                    <a:pt x="21756" y="32634"/>
                  </a:lnTo>
                  <a:lnTo>
                    <a:pt x="43512" y="32634"/>
                  </a:lnTo>
                  <a:lnTo>
                    <a:pt x="43512" y="54390"/>
                  </a:lnTo>
                  <a:lnTo>
                    <a:pt x="21756" y="54390"/>
                  </a:lnTo>
                  <a:close/>
                  <a:moveTo>
                    <a:pt x="65268" y="54390"/>
                  </a:moveTo>
                  <a:lnTo>
                    <a:pt x="65268" y="32634"/>
                  </a:lnTo>
                  <a:lnTo>
                    <a:pt x="87024" y="32634"/>
                  </a:lnTo>
                  <a:lnTo>
                    <a:pt x="87024" y="54390"/>
                  </a:lnTo>
                  <a:lnTo>
                    <a:pt x="65268" y="54390"/>
                  </a:lnTo>
                  <a:close/>
                  <a:moveTo>
                    <a:pt x="21756" y="10878"/>
                  </a:moveTo>
                  <a:cubicBezTo>
                    <a:pt x="9756" y="10878"/>
                    <a:pt x="0" y="20634"/>
                    <a:pt x="0" y="32634"/>
                  </a:cubicBezTo>
                  <a:lnTo>
                    <a:pt x="0" y="141413"/>
                  </a:lnTo>
                  <a:cubicBezTo>
                    <a:pt x="0" y="153413"/>
                    <a:pt x="9756" y="163169"/>
                    <a:pt x="21756" y="163169"/>
                  </a:cubicBezTo>
                  <a:lnTo>
                    <a:pt x="130535" y="163169"/>
                  </a:lnTo>
                  <a:cubicBezTo>
                    <a:pt x="142535" y="163169"/>
                    <a:pt x="152291" y="153413"/>
                    <a:pt x="152291" y="141413"/>
                  </a:cubicBezTo>
                  <a:lnTo>
                    <a:pt x="152291" y="32634"/>
                  </a:lnTo>
                  <a:cubicBezTo>
                    <a:pt x="152291" y="20634"/>
                    <a:pt x="142535" y="10878"/>
                    <a:pt x="130535" y="10878"/>
                  </a:cubicBezTo>
                  <a:lnTo>
                    <a:pt x="21756" y="10878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0" name="Text 8"/>
            <p:cNvSpPr/>
            <p:nvPr/>
          </p:nvSpPr>
          <p:spPr>
            <a:xfrm>
              <a:off x="6695889" y="1426914"/>
              <a:ext cx="1889652" cy="24366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3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grid is a tuple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373947" y="1740199"/>
              <a:ext cx="5395460" cy="20885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Represents a 1D, 2D, or 3D grid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234726" y="2227472"/>
              <a:ext cx="5604317" cy="800617"/>
            </a:xfrm>
            <a:custGeom>
              <a:avLst/>
              <a:gdLst/>
              <a:ahLst/>
              <a:cxnLst/>
              <a:rect l="l" t="t" r="r" b="b"/>
              <a:pathLst>
                <a:path w="5604317" h="800617">
                  <a:moveTo>
                    <a:pt x="69622" y="0"/>
                  </a:moveTo>
                  <a:lnTo>
                    <a:pt x="5534695" y="0"/>
                  </a:lnTo>
                  <a:cubicBezTo>
                    <a:pt x="5573146" y="0"/>
                    <a:pt x="5604317" y="31171"/>
                    <a:pt x="5604317" y="69622"/>
                  </a:cubicBezTo>
                  <a:lnTo>
                    <a:pt x="5604317" y="730995"/>
                  </a:lnTo>
                  <a:cubicBezTo>
                    <a:pt x="5604317" y="769446"/>
                    <a:pt x="5573146" y="800617"/>
                    <a:pt x="5534695" y="800617"/>
                  </a:cubicBezTo>
                  <a:lnTo>
                    <a:pt x="69622" y="800617"/>
                  </a:lnTo>
                  <a:cubicBezTo>
                    <a:pt x="31196" y="800617"/>
                    <a:pt x="0" y="769420"/>
                    <a:pt x="0" y="730995"/>
                  </a:cubicBezTo>
                  <a:lnTo>
                    <a:pt x="0" y="69622"/>
                  </a:lnTo>
                  <a:cubicBezTo>
                    <a:pt x="0" y="31196"/>
                    <a:pt x="31196" y="0"/>
                    <a:pt x="6962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6417459" y="2401468"/>
              <a:ext cx="130535" cy="174047"/>
            </a:xfrm>
            <a:custGeom>
              <a:avLst/>
              <a:gdLst/>
              <a:ahLst/>
              <a:cxnLst/>
              <a:rect l="l" t="t" r="r" b="b"/>
              <a:pathLst>
                <a:path w="130535" h="174047">
                  <a:moveTo>
                    <a:pt x="21756" y="0"/>
                  </a:moveTo>
                  <a:cubicBezTo>
                    <a:pt x="9756" y="0"/>
                    <a:pt x="0" y="9756"/>
                    <a:pt x="0" y="21756"/>
                  </a:cubicBezTo>
                  <a:lnTo>
                    <a:pt x="0" y="152291"/>
                  </a:lnTo>
                  <a:cubicBezTo>
                    <a:pt x="0" y="164291"/>
                    <a:pt x="9756" y="174047"/>
                    <a:pt x="21756" y="174047"/>
                  </a:cubicBezTo>
                  <a:lnTo>
                    <a:pt x="108779" y="174047"/>
                  </a:lnTo>
                  <a:cubicBezTo>
                    <a:pt x="120779" y="174047"/>
                    <a:pt x="130535" y="164291"/>
                    <a:pt x="130535" y="152291"/>
                  </a:cubicBezTo>
                  <a:lnTo>
                    <a:pt x="130535" y="21756"/>
                  </a:lnTo>
                  <a:cubicBezTo>
                    <a:pt x="130535" y="9756"/>
                    <a:pt x="120779" y="0"/>
                    <a:pt x="108779" y="0"/>
                  </a:cubicBezTo>
                  <a:lnTo>
                    <a:pt x="21756" y="0"/>
                  </a:lnTo>
                  <a:close/>
                  <a:moveTo>
                    <a:pt x="32634" y="21756"/>
                  </a:moveTo>
                  <a:lnTo>
                    <a:pt x="97901" y="21756"/>
                  </a:lnTo>
                  <a:cubicBezTo>
                    <a:pt x="103918" y="21756"/>
                    <a:pt x="108779" y="26617"/>
                    <a:pt x="108779" y="32634"/>
                  </a:cubicBezTo>
                  <a:lnTo>
                    <a:pt x="108779" y="43512"/>
                  </a:lnTo>
                  <a:cubicBezTo>
                    <a:pt x="108779" y="49529"/>
                    <a:pt x="103918" y="54390"/>
                    <a:pt x="97901" y="54390"/>
                  </a:cubicBezTo>
                  <a:lnTo>
                    <a:pt x="32634" y="54390"/>
                  </a:lnTo>
                  <a:cubicBezTo>
                    <a:pt x="26617" y="54390"/>
                    <a:pt x="21756" y="49529"/>
                    <a:pt x="21756" y="43512"/>
                  </a:cubicBezTo>
                  <a:lnTo>
                    <a:pt x="21756" y="32634"/>
                  </a:lnTo>
                  <a:cubicBezTo>
                    <a:pt x="21756" y="26617"/>
                    <a:pt x="26617" y="21756"/>
                    <a:pt x="32634" y="21756"/>
                  </a:cubicBezTo>
                  <a:close/>
                  <a:moveTo>
                    <a:pt x="38073" y="78865"/>
                  </a:moveTo>
                  <a:cubicBezTo>
                    <a:pt x="38073" y="83368"/>
                    <a:pt x="34417" y="87024"/>
                    <a:pt x="29914" y="87024"/>
                  </a:cubicBezTo>
                  <a:cubicBezTo>
                    <a:pt x="25412" y="87024"/>
                    <a:pt x="21756" y="83368"/>
                    <a:pt x="21756" y="78865"/>
                  </a:cubicBezTo>
                  <a:cubicBezTo>
                    <a:pt x="21756" y="74362"/>
                    <a:pt x="25412" y="70707"/>
                    <a:pt x="29914" y="70707"/>
                  </a:cubicBezTo>
                  <a:cubicBezTo>
                    <a:pt x="34417" y="70707"/>
                    <a:pt x="38073" y="74362"/>
                    <a:pt x="38073" y="78865"/>
                  </a:cubicBezTo>
                  <a:close/>
                  <a:moveTo>
                    <a:pt x="65268" y="87024"/>
                  </a:moveTo>
                  <a:cubicBezTo>
                    <a:pt x="60765" y="87024"/>
                    <a:pt x="57109" y="83368"/>
                    <a:pt x="57109" y="78865"/>
                  </a:cubicBezTo>
                  <a:cubicBezTo>
                    <a:pt x="57109" y="74362"/>
                    <a:pt x="60765" y="70707"/>
                    <a:pt x="65268" y="70707"/>
                  </a:cubicBezTo>
                  <a:cubicBezTo>
                    <a:pt x="69770" y="70707"/>
                    <a:pt x="73426" y="74362"/>
                    <a:pt x="73426" y="78865"/>
                  </a:cubicBezTo>
                  <a:cubicBezTo>
                    <a:pt x="73426" y="83368"/>
                    <a:pt x="69770" y="87024"/>
                    <a:pt x="65268" y="87024"/>
                  </a:cubicBezTo>
                  <a:close/>
                  <a:moveTo>
                    <a:pt x="108779" y="78865"/>
                  </a:moveTo>
                  <a:cubicBezTo>
                    <a:pt x="108779" y="83368"/>
                    <a:pt x="105124" y="87024"/>
                    <a:pt x="100621" y="87024"/>
                  </a:cubicBezTo>
                  <a:cubicBezTo>
                    <a:pt x="96118" y="87024"/>
                    <a:pt x="92463" y="83368"/>
                    <a:pt x="92463" y="78865"/>
                  </a:cubicBezTo>
                  <a:cubicBezTo>
                    <a:pt x="92463" y="74362"/>
                    <a:pt x="96118" y="70707"/>
                    <a:pt x="100621" y="70707"/>
                  </a:cubicBezTo>
                  <a:cubicBezTo>
                    <a:pt x="105124" y="70707"/>
                    <a:pt x="108779" y="74362"/>
                    <a:pt x="108779" y="78865"/>
                  </a:cubicBezTo>
                  <a:close/>
                  <a:moveTo>
                    <a:pt x="29914" y="119657"/>
                  </a:moveTo>
                  <a:cubicBezTo>
                    <a:pt x="25412" y="119657"/>
                    <a:pt x="21756" y="116002"/>
                    <a:pt x="21756" y="111499"/>
                  </a:cubicBezTo>
                  <a:cubicBezTo>
                    <a:pt x="21756" y="106996"/>
                    <a:pt x="25412" y="103340"/>
                    <a:pt x="29914" y="103340"/>
                  </a:cubicBezTo>
                  <a:cubicBezTo>
                    <a:pt x="34417" y="103340"/>
                    <a:pt x="38073" y="106996"/>
                    <a:pt x="38073" y="111499"/>
                  </a:cubicBezTo>
                  <a:cubicBezTo>
                    <a:pt x="38073" y="116002"/>
                    <a:pt x="34417" y="119657"/>
                    <a:pt x="29914" y="119657"/>
                  </a:cubicBezTo>
                  <a:close/>
                  <a:moveTo>
                    <a:pt x="73426" y="111499"/>
                  </a:moveTo>
                  <a:cubicBezTo>
                    <a:pt x="73426" y="116002"/>
                    <a:pt x="69770" y="119657"/>
                    <a:pt x="65268" y="119657"/>
                  </a:cubicBezTo>
                  <a:cubicBezTo>
                    <a:pt x="60765" y="119657"/>
                    <a:pt x="57109" y="116002"/>
                    <a:pt x="57109" y="111499"/>
                  </a:cubicBezTo>
                  <a:cubicBezTo>
                    <a:pt x="57109" y="106996"/>
                    <a:pt x="60765" y="103340"/>
                    <a:pt x="65268" y="103340"/>
                  </a:cubicBezTo>
                  <a:cubicBezTo>
                    <a:pt x="69770" y="103340"/>
                    <a:pt x="73426" y="106996"/>
                    <a:pt x="73426" y="111499"/>
                  </a:cubicBezTo>
                  <a:close/>
                  <a:moveTo>
                    <a:pt x="100621" y="119657"/>
                  </a:moveTo>
                  <a:cubicBezTo>
                    <a:pt x="96118" y="119657"/>
                    <a:pt x="92463" y="116002"/>
                    <a:pt x="92463" y="111499"/>
                  </a:cubicBezTo>
                  <a:cubicBezTo>
                    <a:pt x="92463" y="106996"/>
                    <a:pt x="96118" y="103340"/>
                    <a:pt x="100621" y="103340"/>
                  </a:cubicBezTo>
                  <a:cubicBezTo>
                    <a:pt x="105124" y="103340"/>
                    <a:pt x="108779" y="106996"/>
                    <a:pt x="108779" y="111499"/>
                  </a:cubicBezTo>
                  <a:cubicBezTo>
                    <a:pt x="108779" y="116002"/>
                    <a:pt x="105124" y="119657"/>
                    <a:pt x="100621" y="119657"/>
                  </a:cubicBezTo>
                  <a:close/>
                  <a:moveTo>
                    <a:pt x="21756" y="144133"/>
                  </a:moveTo>
                  <a:cubicBezTo>
                    <a:pt x="21756" y="139612"/>
                    <a:pt x="25393" y="135974"/>
                    <a:pt x="29914" y="135974"/>
                  </a:cubicBezTo>
                  <a:lnTo>
                    <a:pt x="67987" y="135974"/>
                  </a:lnTo>
                  <a:cubicBezTo>
                    <a:pt x="72508" y="135974"/>
                    <a:pt x="76146" y="139612"/>
                    <a:pt x="76146" y="144133"/>
                  </a:cubicBezTo>
                  <a:cubicBezTo>
                    <a:pt x="76146" y="148654"/>
                    <a:pt x="72508" y="152291"/>
                    <a:pt x="67987" y="152291"/>
                  </a:cubicBezTo>
                  <a:lnTo>
                    <a:pt x="29914" y="152291"/>
                  </a:lnTo>
                  <a:cubicBezTo>
                    <a:pt x="25393" y="152291"/>
                    <a:pt x="21756" y="148654"/>
                    <a:pt x="21756" y="144133"/>
                  </a:cubicBezTo>
                  <a:close/>
                  <a:moveTo>
                    <a:pt x="100621" y="135974"/>
                  </a:moveTo>
                  <a:cubicBezTo>
                    <a:pt x="105142" y="135974"/>
                    <a:pt x="108779" y="139612"/>
                    <a:pt x="108779" y="144133"/>
                  </a:cubicBezTo>
                  <a:cubicBezTo>
                    <a:pt x="108779" y="148654"/>
                    <a:pt x="105142" y="152291"/>
                    <a:pt x="100621" y="152291"/>
                  </a:cubicBezTo>
                  <a:cubicBezTo>
                    <a:pt x="96100" y="152291"/>
                    <a:pt x="92463" y="148654"/>
                    <a:pt x="92463" y="144133"/>
                  </a:cubicBezTo>
                  <a:cubicBezTo>
                    <a:pt x="92463" y="139612"/>
                    <a:pt x="96100" y="135974"/>
                    <a:pt x="100621" y="135974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6695889" y="2366692"/>
              <a:ext cx="2484932" cy="1651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3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Grid Size Calculation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373947" y="2679977"/>
              <a:ext cx="5395460" cy="20885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Size = ceil(n_elements / BLOCK_SIZE)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234726" y="3167249"/>
              <a:ext cx="5604317" cy="800617"/>
            </a:xfrm>
            <a:custGeom>
              <a:avLst/>
              <a:gdLst/>
              <a:ahLst/>
              <a:cxnLst/>
              <a:rect l="l" t="t" r="r" b="b"/>
              <a:pathLst>
                <a:path w="5604317" h="800617">
                  <a:moveTo>
                    <a:pt x="69622" y="0"/>
                  </a:moveTo>
                  <a:lnTo>
                    <a:pt x="5534695" y="0"/>
                  </a:lnTo>
                  <a:cubicBezTo>
                    <a:pt x="5573146" y="0"/>
                    <a:pt x="5604317" y="31171"/>
                    <a:pt x="5604317" y="69622"/>
                  </a:cubicBezTo>
                  <a:lnTo>
                    <a:pt x="5604317" y="730995"/>
                  </a:lnTo>
                  <a:cubicBezTo>
                    <a:pt x="5604317" y="769446"/>
                    <a:pt x="5573146" y="800617"/>
                    <a:pt x="5534695" y="800617"/>
                  </a:cubicBezTo>
                  <a:lnTo>
                    <a:pt x="69622" y="800617"/>
                  </a:lnTo>
                  <a:cubicBezTo>
                    <a:pt x="31196" y="800617"/>
                    <a:pt x="0" y="769420"/>
                    <a:pt x="0" y="730995"/>
                  </a:cubicBezTo>
                  <a:lnTo>
                    <a:pt x="0" y="69622"/>
                  </a:lnTo>
                  <a:cubicBezTo>
                    <a:pt x="0" y="31196"/>
                    <a:pt x="31196" y="0"/>
                    <a:pt x="6962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7" name="Shape 15"/>
            <p:cNvSpPr/>
            <p:nvPr/>
          </p:nvSpPr>
          <p:spPr>
            <a:xfrm>
              <a:off x="6395703" y="3341246"/>
              <a:ext cx="174047" cy="174047"/>
            </a:xfrm>
            <a:custGeom>
              <a:avLst/>
              <a:gdLst/>
              <a:ahLst/>
              <a:cxnLst/>
              <a:rect l="l" t="t" r="r" b="b"/>
              <a:pathLst>
                <a:path w="174047" h="174047">
                  <a:moveTo>
                    <a:pt x="170852" y="138218"/>
                  </a:moveTo>
                  <a:lnTo>
                    <a:pt x="138218" y="170852"/>
                  </a:lnTo>
                  <a:cubicBezTo>
                    <a:pt x="135090" y="173979"/>
                    <a:pt x="130433" y="174897"/>
                    <a:pt x="126354" y="173197"/>
                  </a:cubicBezTo>
                  <a:cubicBezTo>
                    <a:pt x="122275" y="171498"/>
                    <a:pt x="119657" y="167554"/>
                    <a:pt x="119657" y="163169"/>
                  </a:cubicBezTo>
                  <a:lnTo>
                    <a:pt x="119657" y="141413"/>
                  </a:lnTo>
                  <a:lnTo>
                    <a:pt x="10878" y="141413"/>
                  </a:lnTo>
                  <a:cubicBezTo>
                    <a:pt x="4861" y="141413"/>
                    <a:pt x="0" y="136552"/>
                    <a:pt x="0" y="130535"/>
                  </a:cubicBezTo>
                  <a:cubicBezTo>
                    <a:pt x="0" y="124518"/>
                    <a:pt x="4861" y="119657"/>
                    <a:pt x="10878" y="119657"/>
                  </a:cubicBezTo>
                  <a:lnTo>
                    <a:pt x="119657" y="119657"/>
                  </a:lnTo>
                  <a:lnTo>
                    <a:pt x="119657" y="97901"/>
                  </a:lnTo>
                  <a:cubicBezTo>
                    <a:pt x="119657" y="93516"/>
                    <a:pt x="122309" y="89539"/>
                    <a:pt x="126388" y="87839"/>
                  </a:cubicBezTo>
                  <a:cubicBezTo>
                    <a:pt x="130467" y="86140"/>
                    <a:pt x="135124" y="87092"/>
                    <a:pt x="138252" y="90185"/>
                  </a:cubicBezTo>
                  <a:lnTo>
                    <a:pt x="170886" y="122819"/>
                  </a:lnTo>
                  <a:cubicBezTo>
                    <a:pt x="175135" y="127068"/>
                    <a:pt x="175135" y="133969"/>
                    <a:pt x="170886" y="138218"/>
                  </a:cubicBezTo>
                  <a:close/>
                  <a:moveTo>
                    <a:pt x="3195" y="51194"/>
                  </a:moveTo>
                  <a:cubicBezTo>
                    <a:pt x="-1054" y="46945"/>
                    <a:pt x="-1054" y="40044"/>
                    <a:pt x="3195" y="35795"/>
                  </a:cubicBezTo>
                  <a:lnTo>
                    <a:pt x="35829" y="3161"/>
                  </a:lnTo>
                  <a:cubicBezTo>
                    <a:pt x="38957" y="34"/>
                    <a:pt x="43614" y="-884"/>
                    <a:pt x="47693" y="816"/>
                  </a:cubicBezTo>
                  <a:cubicBezTo>
                    <a:pt x="51772" y="2516"/>
                    <a:pt x="54390" y="6493"/>
                    <a:pt x="54390" y="10878"/>
                  </a:cubicBezTo>
                  <a:lnTo>
                    <a:pt x="54390" y="32634"/>
                  </a:lnTo>
                  <a:lnTo>
                    <a:pt x="163169" y="32634"/>
                  </a:lnTo>
                  <a:cubicBezTo>
                    <a:pt x="169186" y="32634"/>
                    <a:pt x="174047" y="37495"/>
                    <a:pt x="174047" y="43512"/>
                  </a:cubicBezTo>
                  <a:cubicBezTo>
                    <a:pt x="174047" y="49529"/>
                    <a:pt x="169186" y="54390"/>
                    <a:pt x="163169" y="54390"/>
                  </a:cubicBezTo>
                  <a:lnTo>
                    <a:pt x="54390" y="54390"/>
                  </a:lnTo>
                  <a:lnTo>
                    <a:pt x="54390" y="76146"/>
                  </a:lnTo>
                  <a:cubicBezTo>
                    <a:pt x="54390" y="80531"/>
                    <a:pt x="51738" y="84508"/>
                    <a:pt x="47659" y="86208"/>
                  </a:cubicBezTo>
                  <a:cubicBezTo>
                    <a:pt x="43580" y="87907"/>
                    <a:pt x="38923" y="86956"/>
                    <a:pt x="35795" y="83862"/>
                  </a:cubicBezTo>
                  <a:lnTo>
                    <a:pt x="3161" y="51228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6695889" y="3306470"/>
              <a:ext cx="722296" cy="24366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3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1D grid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373947" y="3619755"/>
              <a:ext cx="5395460" cy="20885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This example uses a 1D grid with only one dimension</a:t>
              </a:r>
              <a:endParaRPr lang="en-US" sz="1600" dirty="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48054" y="4176638"/>
            <a:ext cx="11495812" cy="2401850"/>
            <a:chOff x="348054" y="4176638"/>
            <a:chExt cx="11495812" cy="2401850"/>
          </a:xfrm>
        </p:grpSpPr>
        <p:sp>
          <p:nvSpPr>
            <p:cNvPr id="20" name="Shape 18"/>
            <p:cNvSpPr/>
            <p:nvPr/>
          </p:nvSpPr>
          <p:spPr>
            <a:xfrm>
              <a:off x="348054" y="4176638"/>
              <a:ext cx="11495812" cy="2401850"/>
            </a:xfrm>
            <a:custGeom>
              <a:avLst/>
              <a:gdLst/>
              <a:ahLst/>
              <a:cxnLst/>
              <a:rect l="l" t="t" r="r" b="b"/>
              <a:pathLst>
                <a:path w="11495812" h="2401850">
                  <a:moveTo>
                    <a:pt x="104432" y="0"/>
                  </a:moveTo>
                  <a:lnTo>
                    <a:pt x="11391379" y="0"/>
                  </a:lnTo>
                  <a:cubicBezTo>
                    <a:pt x="11449056" y="0"/>
                    <a:pt x="11495812" y="46756"/>
                    <a:pt x="11495812" y="104432"/>
                  </a:cubicBezTo>
                  <a:lnTo>
                    <a:pt x="11495812" y="2297418"/>
                  </a:lnTo>
                  <a:cubicBezTo>
                    <a:pt x="11495812" y="2355094"/>
                    <a:pt x="11449056" y="2401850"/>
                    <a:pt x="11391379" y="2401850"/>
                  </a:cubicBezTo>
                  <a:lnTo>
                    <a:pt x="104432" y="2401850"/>
                  </a:lnTo>
                  <a:cubicBezTo>
                    <a:pt x="46756" y="2401850"/>
                    <a:pt x="0" y="2355094"/>
                    <a:pt x="0" y="2297418"/>
                  </a:cubicBezTo>
                  <a:lnTo>
                    <a:pt x="0" y="104432"/>
                  </a:lnTo>
                  <a:cubicBezTo>
                    <a:pt x="0" y="46795"/>
                    <a:pt x="46795" y="0"/>
                    <a:pt x="10443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556886" y="4385469"/>
              <a:ext cx="11165122" cy="24366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7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Calculation Example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65545" y="4777023"/>
              <a:ext cx="5412779" cy="1583742"/>
            </a:xfrm>
            <a:custGeom>
              <a:avLst/>
              <a:gdLst/>
              <a:ahLst/>
              <a:cxnLst/>
              <a:rect l="l" t="t" r="r" b="b"/>
              <a:pathLst>
                <a:path w="5412779" h="1583742">
                  <a:moveTo>
                    <a:pt x="69621" y="0"/>
                  </a:moveTo>
                  <a:lnTo>
                    <a:pt x="5343157" y="0"/>
                  </a:lnTo>
                  <a:cubicBezTo>
                    <a:pt x="5381608" y="0"/>
                    <a:pt x="5412779" y="31171"/>
                    <a:pt x="5412779" y="69621"/>
                  </a:cubicBezTo>
                  <a:lnTo>
                    <a:pt x="5412779" y="1514121"/>
                  </a:lnTo>
                  <a:cubicBezTo>
                    <a:pt x="5412779" y="1552572"/>
                    <a:pt x="5381608" y="1583742"/>
                    <a:pt x="5343157" y="1583742"/>
                  </a:cubicBezTo>
                  <a:lnTo>
                    <a:pt x="69621" y="1583742"/>
                  </a:lnTo>
                  <a:cubicBezTo>
                    <a:pt x="31171" y="1583742"/>
                    <a:pt x="0" y="1552572"/>
                    <a:pt x="0" y="1514121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8B000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13425" y="4924904"/>
              <a:ext cx="5177901" cy="1740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0" dirty="0">
                  <a:solidFill>
                    <a:srgbClr val="6A7282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Example 1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30743" y="5168511"/>
              <a:ext cx="5099494" cy="556951"/>
            </a:xfrm>
            <a:custGeom>
              <a:avLst/>
              <a:gdLst/>
              <a:ahLst/>
              <a:cxnLst/>
              <a:rect l="l" t="t" r="r" b="b"/>
              <a:pathLst>
                <a:path w="5099494" h="556951">
                  <a:moveTo>
                    <a:pt x="34636" y="0"/>
                  </a:moveTo>
                  <a:lnTo>
                    <a:pt x="5064684" y="0"/>
                  </a:lnTo>
                  <a:cubicBezTo>
                    <a:pt x="5083909" y="0"/>
                    <a:pt x="5099494" y="15585"/>
                    <a:pt x="5099494" y="34809"/>
                  </a:cubicBezTo>
                  <a:lnTo>
                    <a:pt x="5099494" y="522141"/>
                  </a:lnTo>
                  <a:cubicBezTo>
                    <a:pt x="5099494" y="541366"/>
                    <a:pt x="5083909" y="556951"/>
                    <a:pt x="5064684" y="556951"/>
                  </a:cubicBezTo>
                  <a:lnTo>
                    <a:pt x="34636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6"/>
                  </a:lnTo>
                  <a:cubicBezTo>
                    <a:pt x="0" y="15520"/>
                    <a:pt x="15520" y="0"/>
                    <a:pt x="34636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730743" y="5168511"/>
              <a:ext cx="34636" cy="556951"/>
            </a:xfrm>
            <a:custGeom>
              <a:avLst/>
              <a:gdLst/>
              <a:ahLst/>
              <a:cxnLst/>
              <a:rect l="l" t="t" r="r" b="b"/>
              <a:pathLst>
                <a:path w="34636" h="556951">
                  <a:moveTo>
                    <a:pt x="34636" y="0"/>
                  </a:moveTo>
                  <a:lnTo>
                    <a:pt x="34636" y="0"/>
                  </a:lnTo>
                  <a:lnTo>
                    <a:pt x="34636" y="556951"/>
                  </a:lnTo>
                  <a:lnTo>
                    <a:pt x="34636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6"/>
                  </a:lnTo>
                  <a:cubicBezTo>
                    <a:pt x="0" y="15520"/>
                    <a:pt x="15520" y="0"/>
                    <a:pt x="34636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852444" y="5272888"/>
              <a:ext cx="4942938" cy="3480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96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n_elements = 10000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96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BLOCK_SIZE = 1024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13425" y="5794868"/>
              <a:ext cx="5186604" cy="41771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grid = (10,)</a:t>
              </a:r>
              <a:endParaRPr lang="en-US" sz="1600" dirty="0"/>
            </a:p>
            <a:p>
              <a:pPr>
                <a:lnSpc>
                  <a:spcPct val="130000"/>
                </a:lnSpc>
              </a:pPr>
              <a:r>
                <a:rPr lang="en-US" sz="960" dirty="0">
                  <a:solidFill>
                    <a:srgbClr val="6A7282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ceil(10000/1024) = 10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208546" y="4777023"/>
              <a:ext cx="5412779" cy="1583742"/>
            </a:xfrm>
            <a:custGeom>
              <a:avLst/>
              <a:gdLst/>
              <a:ahLst/>
              <a:cxnLst/>
              <a:rect l="l" t="t" r="r" b="b"/>
              <a:pathLst>
                <a:path w="5412779" h="1583742">
                  <a:moveTo>
                    <a:pt x="69621" y="0"/>
                  </a:moveTo>
                  <a:lnTo>
                    <a:pt x="5343157" y="0"/>
                  </a:lnTo>
                  <a:cubicBezTo>
                    <a:pt x="5381608" y="0"/>
                    <a:pt x="5412779" y="31171"/>
                    <a:pt x="5412779" y="69621"/>
                  </a:cubicBezTo>
                  <a:lnTo>
                    <a:pt x="5412779" y="1514121"/>
                  </a:lnTo>
                  <a:cubicBezTo>
                    <a:pt x="5412779" y="1552572"/>
                    <a:pt x="5381608" y="1583742"/>
                    <a:pt x="5343157" y="1583742"/>
                  </a:cubicBezTo>
                  <a:lnTo>
                    <a:pt x="69621" y="1583742"/>
                  </a:lnTo>
                  <a:cubicBezTo>
                    <a:pt x="31171" y="1583742"/>
                    <a:pt x="0" y="1552572"/>
                    <a:pt x="0" y="1514121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D1D5DC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356426" y="4924904"/>
              <a:ext cx="5177901" cy="1740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0" dirty="0">
                  <a:solidFill>
                    <a:srgbClr val="6A7282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Example 2</a:t>
              </a:r>
              <a:endParaRPr lang="en-US" sz="16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373745" y="5168511"/>
              <a:ext cx="5099494" cy="556951"/>
            </a:xfrm>
            <a:custGeom>
              <a:avLst/>
              <a:gdLst/>
              <a:ahLst/>
              <a:cxnLst/>
              <a:rect l="l" t="t" r="r" b="b"/>
              <a:pathLst>
                <a:path w="5099494" h="556951">
                  <a:moveTo>
                    <a:pt x="34636" y="0"/>
                  </a:moveTo>
                  <a:lnTo>
                    <a:pt x="5064684" y="0"/>
                  </a:lnTo>
                  <a:cubicBezTo>
                    <a:pt x="5083909" y="0"/>
                    <a:pt x="5099494" y="15585"/>
                    <a:pt x="5099494" y="34809"/>
                  </a:cubicBezTo>
                  <a:lnTo>
                    <a:pt x="5099494" y="522141"/>
                  </a:lnTo>
                  <a:cubicBezTo>
                    <a:pt x="5099494" y="541366"/>
                    <a:pt x="5083909" y="556951"/>
                    <a:pt x="5064684" y="556951"/>
                  </a:cubicBezTo>
                  <a:lnTo>
                    <a:pt x="34636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6"/>
                  </a:lnTo>
                  <a:cubicBezTo>
                    <a:pt x="0" y="15520"/>
                    <a:pt x="15520" y="0"/>
                    <a:pt x="34636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31" name="Shape 29"/>
            <p:cNvSpPr/>
            <p:nvPr/>
          </p:nvSpPr>
          <p:spPr>
            <a:xfrm>
              <a:off x="6373745" y="5168511"/>
              <a:ext cx="34636" cy="556951"/>
            </a:xfrm>
            <a:custGeom>
              <a:avLst/>
              <a:gdLst/>
              <a:ahLst/>
              <a:cxnLst/>
              <a:rect l="l" t="t" r="r" b="b"/>
              <a:pathLst>
                <a:path w="34636" h="556951">
                  <a:moveTo>
                    <a:pt x="34636" y="0"/>
                  </a:moveTo>
                  <a:lnTo>
                    <a:pt x="34636" y="0"/>
                  </a:lnTo>
                  <a:lnTo>
                    <a:pt x="34636" y="556951"/>
                  </a:lnTo>
                  <a:lnTo>
                    <a:pt x="34636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6"/>
                  </a:lnTo>
                  <a:cubicBezTo>
                    <a:pt x="0" y="15520"/>
                    <a:pt x="15520" y="0"/>
                    <a:pt x="34636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32" name="Text 30"/>
            <p:cNvSpPr/>
            <p:nvPr/>
          </p:nvSpPr>
          <p:spPr>
            <a:xfrm>
              <a:off x="6495445" y="5272888"/>
              <a:ext cx="4942938" cy="3480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96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n_elements = 5000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96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BLOCK_SIZE = 256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356426" y="5794868"/>
              <a:ext cx="5186604" cy="41771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grid = (20,)</a:t>
              </a:r>
              <a:endParaRPr lang="en-US" sz="1600" dirty="0"/>
            </a:p>
            <a:p>
              <a:pPr>
                <a:lnSpc>
                  <a:spcPct val="130000"/>
                </a:lnSpc>
              </a:pPr>
              <a:r>
                <a:rPr lang="en-US" sz="960" dirty="0">
                  <a:solidFill>
                    <a:srgbClr val="6A7282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ceil(5000/256) = 20</a:t>
              </a:r>
              <a:endParaRPr lang="en-US" sz="160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348054" y="6717131"/>
            <a:ext cx="11548026" cy="139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3087" y="614621"/>
            <a:ext cx="11670327" cy="336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Why Use lambda meta?</a:t>
            </a:r>
            <a:endParaRPr lang="en-US" sz="160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36524" y="1779537"/>
            <a:ext cx="5603693" cy="984447"/>
            <a:chOff x="353268" y="1245045"/>
            <a:chExt cx="5603693" cy="984447"/>
          </a:xfrm>
        </p:grpSpPr>
        <p:sp>
          <p:nvSpPr>
            <p:cNvPr id="5" name="Shape 3"/>
            <p:cNvSpPr/>
            <p:nvPr/>
          </p:nvSpPr>
          <p:spPr>
            <a:xfrm>
              <a:off x="353268" y="1245045"/>
              <a:ext cx="5603693" cy="984447"/>
            </a:xfrm>
            <a:custGeom>
              <a:avLst/>
              <a:gdLst/>
              <a:ahLst/>
              <a:cxnLst/>
              <a:rect l="l" t="t" r="r" b="b"/>
              <a:pathLst>
                <a:path w="5603693" h="984447">
                  <a:moveTo>
                    <a:pt x="33489" y="0"/>
                  </a:moveTo>
                  <a:lnTo>
                    <a:pt x="5502728" y="0"/>
                  </a:lnTo>
                  <a:cubicBezTo>
                    <a:pt x="5558489" y="0"/>
                    <a:pt x="5603693" y="45204"/>
                    <a:pt x="5603693" y="100965"/>
                  </a:cubicBezTo>
                  <a:lnTo>
                    <a:pt x="5603693" y="883482"/>
                  </a:lnTo>
                  <a:cubicBezTo>
                    <a:pt x="5603693" y="939244"/>
                    <a:pt x="5558489" y="984447"/>
                    <a:pt x="5502728" y="984447"/>
                  </a:cubicBezTo>
                  <a:lnTo>
                    <a:pt x="33489" y="984447"/>
                  </a:lnTo>
                  <a:cubicBezTo>
                    <a:pt x="14993" y="984447"/>
                    <a:pt x="0" y="969454"/>
                    <a:pt x="0" y="950958"/>
                  </a:cubicBezTo>
                  <a:lnTo>
                    <a:pt x="0" y="33489"/>
                  </a:lnTo>
                  <a:cubicBezTo>
                    <a:pt x="0" y="15006"/>
                    <a:pt x="15006" y="0"/>
                    <a:pt x="33489" y="0"/>
                  </a:cubicBezTo>
                  <a:close/>
                </a:path>
              </a:pathLst>
            </a:custGeom>
            <a:solidFill>
              <a:srgbClr val="8B0000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53268" y="1245045"/>
              <a:ext cx="33489" cy="984447"/>
            </a:xfrm>
            <a:custGeom>
              <a:avLst/>
              <a:gdLst/>
              <a:ahLst/>
              <a:cxnLst/>
              <a:rect l="l" t="t" r="r" b="b"/>
              <a:pathLst>
                <a:path w="33489" h="984447">
                  <a:moveTo>
                    <a:pt x="33489" y="0"/>
                  </a:moveTo>
                  <a:lnTo>
                    <a:pt x="33489" y="0"/>
                  </a:lnTo>
                  <a:lnTo>
                    <a:pt x="33489" y="984447"/>
                  </a:lnTo>
                  <a:lnTo>
                    <a:pt x="33489" y="984447"/>
                  </a:lnTo>
                  <a:cubicBezTo>
                    <a:pt x="14993" y="984447"/>
                    <a:pt x="0" y="969454"/>
                    <a:pt x="0" y="950958"/>
                  </a:cubicBezTo>
                  <a:lnTo>
                    <a:pt x="0" y="33489"/>
                  </a:lnTo>
                  <a:cubicBezTo>
                    <a:pt x="0" y="15006"/>
                    <a:pt x="15006" y="0"/>
                    <a:pt x="33489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597169" y="1463770"/>
              <a:ext cx="201938" cy="201938"/>
            </a:xfrm>
            <a:custGeom>
              <a:avLst/>
              <a:gdLst/>
              <a:ahLst/>
              <a:cxnLst/>
              <a:rect l="l" t="t" r="r" b="b"/>
              <a:pathLst>
                <a:path w="201938" h="201938">
                  <a:moveTo>
                    <a:pt x="100969" y="201938"/>
                  </a:moveTo>
                  <a:cubicBezTo>
                    <a:pt x="156695" y="201938"/>
                    <a:pt x="201938" y="156695"/>
                    <a:pt x="201938" y="100969"/>
                  </a:cubicBezTo>
                  <a:cubicBezTo>
                    <a:pt x="201938" y="45243"/>
                    <a:pt x="156695" y="0"/>
                    <a:pt x="100969" y="0"/>
                  </a:cubicBezTo>
                  <a:cubicBezTo>
                    <a:pt x="45243" y="0"/>
                    <a:pt x="0" y="45243"/>
                    <a:pt x="0" y="100969"/>
                  </a:cubicBezTo>
                  <a:cubicBezTo>
                    <a:pt x="0" y="156695"/>
                    <a:pt x="45243" y="201938"/>
                    <a:pt x="100969" y="201938"/>
                  </a:cubicBezTo>
                  <a:close/>
                  <a:moveTo>
                    <a:pt x="100969" y="69416"/>
                  </a:moveTo>
                  <a:cubicBezTo>
                    <a:pt x="93988" y="69416"/>
                    <a:pt x="88348" y="75056"/>
                    <a:pt x="88348" y="82037"/>
                  </a:cubicBezTo>
                  <a:cubicBezTo>
                    <a:pt x="88348" y="87283"/>
                    <a:pt x="84128" y="91503"/>
                    <a:pt x="78882" y="91503"/>
                  </a:cubicBezTo>
                  <a:cubicBezTo>
                    <a:pt x="73636" y="91503"/>
                    <a:pt x="69416" y="87283"/>
                    <a:pt x="69416" y="82037"/>
                  </a:cubicBezTo>
                  <a:cubicBezTo>
                    <a:pt x="69416" y="64604"/>
                    <a:pt x="83536" y="50484"/>
                    <a:pt x="100969" y="50484"/>
                  </a:cubicBezTo>
                  <a:cubicBezTo>
                    <a:pt x="118402" y="50484"/>
                    <a:pt x="132522" y="64604"/>
                    <a:pt x="132522" y="82037"/>
                  </a:cubicBezTo>
                  <a:cubicBezTo>
                    <a:pt x="132522" y="100653"/>
                    <a:pt x="118323" y="108542"/>
                    <a:pt x="110435" y="111421"/>
                  </a:cubicBezTo>
                  <a:lnTo>
                    <a:pt x="110435" y="112920"/>
                  </a:lnTo>
                  <a:cubicBezTo>
                    <a:pt x="110435" y="118165"/>
                    <a:pt x="106215" y="122385"/>
                    <a:pt x="100969" y="122385"/>
                  </a:cubicBezTo>
                  <a:cubicBezTo>
                    <a:pt x="95723" y="122385"/>
                    <a:pt x="91503" y="118165"/>
                    <a:pt x="91503" y="112920"/>
                  </a:cubicBezTo>
                  <a:lnTo>
                    <a:pt x="91503" y="109725"/>
                  </a:lnTo>
                  <a:cubicBezTo>
                    <a:pt x="91503" y="101639"/>
                    <a:pt x="97340" y="95842"/>
                    <a:pt x="103375" y="93870"/>
                  </a:cubicBezTo>
                  <a:cubicBezTo>
                    <a:pt x="105899" y="93041"/>
                    <a:pt x="108581" y="91700"/>
                    <a:pt x="110553" y="89807"/>
                  </a:cubicBezTo>
                  <a:cubicBezTo>
                    <a:pt x="112249" y="88151"/>
                    <a:pt x="113590" y="85863"/>
                    <a:pt x="113590" y="82077"/>
                  </a:cubicBezTo>
                  <a:cubicBezTo>
                    <a:pt x="113590" y="75096"/>
                    <a:pt x="107950" y="69456"/>
                    <a:pt x="100969" y="69456"/>
                  </a:cubicBezTo>
                  <a:close/>
                  <a:moveTo>
                    <a:pt x="88348" y="145143"/>
                  </a:moveTo>
                  <a:cubicBezTo>
                    <a:pt x="88348" y="138177"/>
                    <a:pt x="94003" y="132522"/>
                    <a:pt x="100969" y="132522"/>
                  </a:cubicBezTo>
                  <a:cubicBezTo>
                    <a:pt x="107935" y="132522"/>
                    <a:pt x="113590" y="138177"/>
                    <a:pt x="113590" y="145143"/>
                  </a:cubicBezTo>
                  <a:cubicBezTo>
                    <a:pt x="113590" y="152109"/>
                    <a:pt x="107935" y="157764"/>
                    <a:pt x="100969" y="157764"/>
                  </a:cubicBezTo>
                  <a:cubicBezTo>
                    <a:pt x="94003" y="157764"/>
                    <a:pt x="88348" y="152109"/>
                    <a:pt x="88348" y="145143"/>
                  </a:cubicBezTo>
                  <a:close/>
                </a:path>
              </a:pathLst>
            </a:custGeom>
            <a:solidFill>
              <a:srgbClr val="8B0000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74523" y="1470154"/>
              <a:ext cx="2060185" cy="2355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25" b="1" dirty="0">
                  <a:solidFill>
                    <a:schemeClr val="bg1">
                      <a:lumMod val="65000"/>
                    </a:scheme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Core Problem</a:t>
              </a:r>
              <a:endParaRPr 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71927" y="1783481"/>
              <a:ext cx="5258799" cy="244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95" dirty="0">
                  <a:solidFill>
                    <a:schemeClr val="bg1">
                      <a:lumMod val="65000"/>
                    </a:scheme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BLOCK_SIZE is a </a:t>
              </a:r>
              <a:r>
                <a:rPr lang="en-US" sz="1195" b="1" dirty="0">
                  <a:solidFill>
                    <a:schemeClr val="bg1">
                      <a:lumMod val="65000"/>
                    </a:scheme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constexpr</a:t>
              </a:r>
              <a:r>
                <a:rPr lang="en-US" sz="1195" dirty="0">
                  <a:solidFill>
                    <a:schemeClr val="bg1">
                      <a:lumMod val="65000"/>
                    </a:schemeClr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(compile-time constant), and grid must be computed dynamically from meta</a:t>
              </a:r>
              <a:endParaRPr lang="en-US" sz="16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36524" y="3022371"/>
            <a:ext cx="5620605" cy="984447"/>
            <a:chOff x="336524" y="2366131"/>
            <a:chExt cx="5620605" cy="984447"/>
          </a:xfrm>
        </p:grpSpPr>
        <p:sp>
          <p:nvSpPr>
            <p:cNvPr id="10" name="Shape 8"/>
            <p:cNvSpPr/>
            <p:nvPr/>
          </p:nvSpPr>
          <p:spPr>
            <a:xfrm>
              <a:off x="336524" y="2366131"/>
              <a:ext cx="5620605" cy="984447"/>
            </a:xfrm>
            <a:custGeom>
              <a:avLst/>
              <a:gdLst/>
              <a:ahLst/>
              <a:cxnLst/>
              <a:rect l="l" t="t" r="r" b="b"/>
              <a:pathLst>
                <a:path w="5620605" h="984447">
                  <a:moveTo>
                    <a:pt x="100965" y="0"/>
                  </a:moveTo>
                  <a:lnTo>
                    <a:pt x="5519640" y="0"/>
                  </a:lnTo>
                  <a:cubicBezTo>
                    <a:pt x="5575401" y="0"/>
                    <a:pt x="5620605" y="45204"/>
                    <a:pt x="5620605" y="100965"/>
                  </a:cubicBezTo>
                  <a:lnTo>
                    <a:pt x="5620605" y="883482"/>
                  </a:lnTo>
                  <a:cubicBezTo>
                    <a:pt x="5620605" y="939244"/>
                    <a:pt x="5575401" y="984447"/>
                    <a:pt x="5519640" y="984447"/>
                  </a:cubicBezTo>
                  <a:lnTo>
                    <a:pt x="100965" y="984447"/>
                  </a:lnTo>
                  <a:cubicBezTo>
                    <a:pt x="45204" y="984447"/>
                    <a:pt x="0" y="939244"/>
                    <a:pt x="0" y="883482"/>
                  </a:cubicBezTo>
                  <a:lnTo>
                    <a:pt x="0" y="100965"/>
                  </a:lnTo>
                  <a:cubicBezTo>
                    <a:pt x="0" y="45241"/>
                    <a:pt x="45241" y="0"/>
                    <a:pt x="100965" y="0"/>
                  </a:cubicBezTo>
                  <a:close/>
                </a:path>
              </a:pathLst>
            </a:custGeom>
            <a:solidFill>
              <a:srgbClr val="F9FAFB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57779" y="2579735"/>
              <a:ext cx="757267" cy="2355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2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Solution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38438" y="2904574"/>
              <a:ext cx="5292455" cy="244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95" dirty="0">
                  <a:solidFill>
                    <a:srgbClr val="364153"/>
                  </a:solidFill>
                  <a:latin typeface="+mn-ea"/>
                  <a:cs typeface="MiSans" panose="00000500000000000000" pitchFamily="34" charset="-120"/>
                </a:rPr>
                <a:t>Use a lambda function to defer computation and retrieve the actual BLOCK_SIZE value at kernel compile time</a:t>
              </a:r>
              <a:endParaRPr lang="en-US" sz="1600" dirty="0">
                <a:latin typeface="+mn-ea"/>
              </a:endParaRPr>
            </a:p>
          </p:txBody>
        </p:sp>
      </p:grpSp>
      <p:sp>
        <p:nvSpPr>
          <p:cNvPr id="14" name="Shape 12"/>
          <p:cNvSpPr/>
          <p:nvPr/>
        </p:nvSpPr>
        <p:spPr>
          <a:xfrm>
            <a:off x="6246852" y="1245045"/>
            <a:ext cx="5603693" cy="3357217"/>
          </a:xfrm>
          <a:custGeom>
            <a:avLst/>
            <a:gdLst/>
            <a:ahLst/>
            <a:cxnLst/>
            <a:rect l="l" t="t" r="r" b="b"/>
            <a:pathLst>
              <a:path w="5603693" h="3357217">
                <a:moveTo>
                  <a:pt x="33489" y="0"/>
                </a:moveTo>
                <a:lnTo>
                  <a:pt x="5502708" y="0"/>
                </a:lnTo>
                <a:cubicBezTo>
                  <a:pt x="5558480" y="0"/>
                  <a:pt x="5603693" y="45213"/>
                  <a:pt x="5603693" y="100985"/>
                </a:cubicBezTo>
                <a:lnTo>
                  <a:pt x="5603693" y="3256232"/>
                </a:lnTo>
                <a:cubicBezTo>
                  <a:pt x="5603693" y="3312005"/>
                  <a:pt x="5558480" y="3357217"/>
                  <a:pt x="5502708" y="3357217"/>
                </a:cubicBezTo>
                <a:lnTo>
                  <a:pt x="33489" y="3357217"/>
                </a:lnTo>
                <a:cubicBezTo>
                  <a:pt x="14993" y="3357217"/>
                  <a:pt x="0" y="3342224"/>
                  <a:pt x="0" y="3323729"/>
                </a:cubicBezTo>
                <a:lnTo>
                  <a:pt x="0" y="33489"/>
                </a:lnTo>
                <a:cubicBezTo>
                  <a:pt x="0" y="15006"/>
                  <a:pt x="15006" y="0"/>
                  <a:pt x="33489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5" name="Shape 13"/>
          <p:cNvSpPr/>
          <p:nvPr/>
        </p:nvSpPr>
        <p:spPr>
          <a:xfrm>
            <a:off x="6246852" y="1245045"/>
            <a:ext cx="33489" cy="3357217"/>
          </a:xfrm>
          <a:custGeom>
            <a:avLst/>
            <a:gdLst/>
            <a:ahLst/>
            <a:cxnLst/>
            <a:rect l="l" t="t" r="r" b="b"/>
            <a:pathLst>
              <a:path w="33489" h="3357217">
                <a:moveTo>
                  <a:pt x="33489" y="0"/>
                </a:moveTo>
                <a:lnTo>
                  <a:pt x="33489" y="0"/>
                </a:lnTo>
                <a:lnTo>
                  <a:pt x="33489" y="3357217"/>
                </a:lnTo>
                <a:lnTo>
                  <a:pt x="33489" y="3357217"/>
                </a:lnTo>
                <a:cubicBezTo>
                  <a:pt x="14993" y="3357217"/>
                  <a:pt x="0" y="3342224"/>
                  <a:pt x="0" y="3323729"/>
                </a:cubicBezTo>
                <a:lnTo>
                  <a:pt x="0" y="33489"/>
                </a:lnTo>
                <a:cubicBezTo>
                  <a:pt x="0" y="15006"/>
                  <a:pt x="15006" y="0"/>
                  <a:pt x="33489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6465510" y="1446959"/>
            <a:ext cx="5258799" cy="2953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95" dirty="0">
                <a:solidFill>
                  <a:srgbClr val="66666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lambda meta syntax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9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grid = </a:t>
            </a:r>
            <a:r>
              <a:rPr lang="en-US" sz="1195" b="1" dirty="0">
                <a:solidFill>
                  <a:srgbClr val="0066C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lambda</a:t>
            </a:r>
            <a:r>
              <a:rPr lang="en-US" sz="119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meta: 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9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triton.cdiv(n_elements,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9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        meta[</a:t>
            </a:r>
            <a:r>
              <a:rPr lang="en-US" sz="1195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'BLOCK_SIZE'</a:t>
            </a:r>
            <a:r>
              <a:rPr lang="en-US" sz="119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]),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9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95" dirty="0">
                <a:solidFill>
                  <a:srgbClr val="66666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triton.cdiv function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9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triton.cdiv(a, b) = ceil(a / b)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95" dirty="0">
                <a:solidFill>
                  <a:srgbClr val="66666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 Example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9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triton.cdiv(</a:t>
            </a:r>
            <a:r>
              <a:rPr lang="en-US" sz="1195" dirty="0">
                <a:solidFill>
                  <a:srgbClr val="0099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1000</a:t>
            </a:r>
            <a:r>
              <a:rPr lang="en-US" sz="119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 </a:t>
            </a:r>
            <a:r>
              <a:rPr lang="en-US" sz="1195" dirty="0">
                <a:solidFill>
                  <a:srgbClr val="0099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256</a:t>
            </a:r>
            <a:r>
              <a:rPr lang="en-US" sz="1195" dirty="0">
                <a:solidFill>
                  <a:srgbClr val="1E293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) = </a:t>
            </a:r>
            <a:r>
              <a:rPr lang="en-US" sz="1195" dirty="0">
                <a:solidFill>
                  <a:srgbClr val="0099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r>
              <a:rPr lang="en-US" sz="1195" dirty="0">
                <a:solidFill>
                  <a:srgbClr val="66666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# ceil(1000/256) = ceil(3.906) = 4</a:t>
            </a:r>
            <a:endParaRPr lang="en-US" sz="16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336524" y="4804349"/>
            <a:ext cx="11518874" cy="1783785"/>
            <a:chOff x="336524" y="4804349"/>
            <a:chExt cx="11518874" cy="1783785"/>
          </a:xfrm>
        </p:grpSpPr>
        <p:sp>
          <p:nvSpPr>
            <p:cNvPr id="17" name="Shape 15"/>
            <p:cNvSpPr/>
            <p:nvPr/>
          </p:nvSpPr>
          <p:spPr>
            <a:xfrm>
              <a:off x="336524" y="4804349"/>
              <a:ext cx="11518874" cy="1783785"/>
            </a:xfrm>
            <a:custGeom>
              <a:avLst/>
              <a:gdLst/>
              <a:ahLst/>
              <a:cxnLst/>
              <a:rect l="l" t="t" r="r" b="b"/>
              <a:pathLst>
                <a:path w="11518874" h="1783785">
                  <a:moveTo>
                    <a:pt x="100962" y="0"/>
                  </a:moveTo>
                  <a:lnTo>
                    <a:pt x="11417911" y="0"/>
                  </a:lnTo>
                  <a:cubicBezTo>
                    <a:pt x="11473671" y="0"/>
                    <a:pt x="11518874" y="45202"/>
                    <a:pt x="11518874" y="100962"/>
                  </a:cubicBezTo>
                  <a:lnTo>
                    <a:pt x="11518874" y="1682822"/>
                  </a:lnTo>
                  <a:cubicBezTo>
                    <a:pt x="11518874" y="1738582"/>
                    <a:pt x="11473671" y="1783785"/>
                    <a:pt x="11417911" y="1783785"/>
                  </a:cubicBezTo>
                  <a:lnTo>
                    <a:pt x="100962" y="1783785"/>
                  </a:lnTo>
                  <a:cubicBezTo>
                    <a:pt x="45202" y="1783785"/>
                    <a:pt x="0" y="1738582"/>
                    <a:pt x="0" y="1682822"/>
                  </a:cubicBezTo>
                  <a:lnTo>
                    <a:pt x="0" y="100962"/>
                  </a:lnTo>
                  <a:cubicBezTo>
                    <a:pt x="0" y="45240"/>
                    <a:pt x="45240" y="0"/>
                    <a:pt x="100962" y="0"/>
                  </a:cubicBezTo>
                  <a:close/>
                </a:path>
              </a:pathLst>
            </a:custGeom>
            <a:solidFill>
              <a:srgbClr val="F9FAFB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38438" y="5006262"/>
              <a:ext cx="11199139" cy="2355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25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Execution Flow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037392" y="5376473"/>
              <a:ext cx="538501" cy="538501"/>
            </a:xfrm>
            <a:custGeom>
              <a:avLst/>
              <a:gdLst/>
              <a:ahLst/>
              <a:cxnLst/>
              <a:rect l="l" t="t" r="r" b="b"/>
              <a:pathLst>
                <a:path w="538501" h="538501">
                  <a:moveTo>
                    <a:pt x="269251" y="0"/>
                  </a:moveTo>
                  <a:lnTo>
                    <a:pt x="269251" y="0"/>
                  </a:lnTo>
                  <a:cubicBezTo>
                    <a:pt x="417854" y="0"/>
                    <a:pt x="538501" y="120647"/>
                    <a:pt x="538501" y="269251"/>
                  </a:cubicBezTo>
                  <a:lnTo>
                    <a:pt x="538501" y="269251"/>
                  </a:lnTo>
                  <a:cubicBezTo>
                    <a:pt x="538501" y="417854"/>
                    <a:pt x="417854" y="538501"/>
                    <a:pt x="269251" y="538501"/>
                  </a:cubicBezTo>
                  <a:lnTo>
                    <a:pt x="269251" y="538501"/>
                  </a:lnTo>
                  <a:cubicBezTo>
                    <a:pt x="120647" y="538501"/>
                    <a:pt x="0" y="417854"/>
                    <a:pt x="0" y="269251"/>
                  </a:cubicBezTo>
                  <a:lnTo>
                    <a:pt x="0" y="269251"/>
                  </a:lnTo>
                  <a:cubicBezTo>
                    <a:pt x="0" y="120647"/>
                    <a:pt x="120647" y="0"/>
                    <a:pt x="269251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0" name="Text 18"/>
            <p:cNvSpPr/>
            <p:nvPr/>
          </p:nvSpPr>
          <p:spPr>
            <a:xfrm>
              <a:off x="1995322" y="5376473"/>
              <a:ext cx="622642" cy="5385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25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04782" y="5982213"/>
              <a:ext cx="3601226" cy="4038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6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Define kernel</a:t>
              </a:r>
              <a:endParaRPr lang="en-US" sz="1600" dirty="0"/>
            </a:p>
            <a:p>
              <a:pPr algn="ctr">
                <a:lnSpc>
                  <a:spcPct val="130000"/>
                </a:lnSpc>
              </a:pPr>
              <a:r>
                <a:rPr lang="en-US" sz="106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Specify BLOCK_SIZE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074850" y="5729807"/>
              <a:ext cx="378634" cy="30290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990" dirty="0">
                  <a:solidFill>
                    <a:srgbClr val="D1D5DC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26279" y="5376473"/>
              <a:ext cx="538501" cy="538501"/>
            </a:xfrm>
            <a:custGeom>
              <a:avLst/>
              <a:gdLst/>
              <a:ahLst/>
              <a:cxnLst/>
              <a:rect l="l" t="t" r="r" b="b"/>
              <a:pathLst>
                <a:path w="538501" h="538501">
                  <a:moveTo>
                    <a:pt x="269251" y="0"/>
                  </a:moveTo>
                  <a:lnTo>
                    <a:pt x="269251" y="0"/>
                  </a:lnTo>
                  <a:cubicBezTo>
                    <a:pt x="417854" y="0"/>
                    <a:pt x="538501" y="120647"/>
                    <a:pt x="538501" y="269251"/>
                  </a:cubicBezTo>
                  <a:lnTo>
                    <a:pt x="538501" y="269251"/>
                  </a:lnTo>
                  <a:cubicBezTo>
                    <a:pt x="538501" y="417854"/>
                    <a:pt x="417854" y="538501"/>
                    <a:pt x="269251" y="538501"/>
                  </a:cubicBezTo>
                  <a:lnTo>
                    <a:pt x="269251" y="538501"/>
                  </a:lnTo>
                  <a:cubicBezTo>
                    <a:pt x="120647" y="538501"/>
                    <a:pt x="0" y="417854"/>
                    <a:pt x="0" y="269251"/>
                  </a:cubicBezTo>
                  <a:lnTo>
                    <a:pt x="0" y="269251"/>
                  </a:lnTo>
                  <a:cubicBezTo>
                    <a:pt x="0" y="120647"/>
                    <a:pt x="120647" y="0"/>
                    <a:pt x="269251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4" name="Text 22"/>
            <p:cNvSpPr/>
            <p:nvPr/>
          </p:nvSpPr>
          <p:spPr>
            <a:xfrm>
              <a:off x="5784208" y="5376473"/>
              <a:ext cx="622642" cy="5385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25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293668" y="5982213"/>
              <a:ext cx="3601226" cy="4038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6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lambda retrieves</a:t>
              </a:r>
              <a:endParaRPr lang="en-US" sz="1600" dirty="0"/>
            </a:p>
            <a:p>
              <a:pPr algn="ctr">
                <a:lnSpc>
                  <a:spcPct val="130000"/>
                </a:lnSpc>
              </a:pPr>
              <a:r>
                <a:rPr lang="en-US" sz="106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meta['BLOCK_SIZE']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863736" y="5729807"/>
              <a:ext cx="378634" cy="30290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990" dirty="0">
                  <a:solidFill>
                    <a:srgbClr val="D1D5DC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9615165" y="5376473"/>
              <a:ext cx="538501" cy="538501"/>
            </a:xfrm>
            <a:custGeom>
              <a:avLst/>
              <a:gdLst/>
              <a:ahLst/>
              <a:cxnLst/>
              <a:rect l="l" t="t" r="r" b="b"/>
              <a:pathLst>
                <a:path w="538501" h="538501">
                  <a:moveTo>
                    <a:pt x="269251" y="0"/>
                  </a:moveTo>
                  <a:lnTo>
                    <a:pt x="269251" y="0"/>
                  </a:lnTo>
                  <a:cubicBezTo>
                    <a:pt x="417854" y="0"/>
                    <a:pt x="538501" y="120647"/>
                    <a:pt x="538501" y="269251"/>
                  </a:cubicBezTo>
                  <a:lnTo>
                    <a:pt x="538501" y="269251"/>
                  </a:lnTo>
                  <a:cubicBezTo>
                    <a:pt x="538501" y="417854"/>
                    <a:pt x="417854" y="538501"/>
                    <a:pt x="269251" y="538501"/>
                  </a:cubicBezTo>
                  <a:lnTo>
                    <a:pt x="269251" y="538501"/>
                  </a:lnTo>
                  <a:cubicBezTo>
                    <a:pt x="120647" y="538501"/>
                    <a:pt x="0" y="417854"/>
                    <a:pt x="0" y="269251"/>
                  </a:cubicBezTo>
                  <a:lnTo>
                    <a:pt x="0" y="269251"/>
                  </a:lnTo>
                  <a:cubicBezTo>
                    <a:pt x="0" y="120647"/>
                    <a:pt x="120647" y="0"/>
                    <a:pt x="269251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8" name="Text 26"/>
            <p:cNvSpPr/>
            <p:nvPr/>
          </p:nvSpPr>
          <p:spPr>
            <a:xfrm>
              <a:off x="9573094" y="5376473"/>
              <a:ext cx="622642" cy="53850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25" b="1" dirty="0">
                  <a:solidFill>
                    <a:srgbClr val="FFFFF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082555" y="5982213"/>
              <a:ext cx="3601226" cy="4038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6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Compute grid</a:t>
              </a:r>
              <a:endParaRPr lang="en-US" sz="1600" dirty="0"/>
            </a:p>
            <a:p>
              <a:pPr algn="ctr">
                <a:lnSpc>
                  <a:spcPct val="130000"/>
                </a:lnSpc>
              </a:pPr>
              <a:r>
                <a:rPr lang="en-US" sz="106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Launch kernel</a:t>
              </a:r>
              <a:endParaRPr lang="en-US" sz="1600" dirty="0"/>
            </a:p>
          </p:txBody>
        </p:sp>
      </p:grpSp>
      <p:sp>
        <p:nvSpPr>
          <p:cNvPr id="30" name="Text 28"/>
          <p:cNvSpPr/>
          <p:nvPr/>
        </p:nvSpPr>
        <p:spPr>
          <a:xfrm>
            <a:off x="336524" y="6722569"/>
            <a:ext cx="11569358" cy="13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5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Triton Official Docs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4392" y="610485"/>
            <a:ext cx="11614092" cy="372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0" b="1" dirty="0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[] </a:t>
            </a:r>
            <a:r>
              <a:rPr lang="zh-CN" altLang="en-US" sz="2640" b="1" dirty="0">
                <a:solidFill>
                  <a:srgbClr val="101828"/>
                </a:solidFill>
                <a:latin typeface="+mn-ea"/>
                <a:cs typeface="MiSans" panose="00000500000000000000" pitchFamily="34" charset="-120"/>
              </a:rPr>
              <a:t> Syntax</a:t>
            </a:r>
            <a:endParaRPr lang="en-US" sz="1600" dirty="0">
              <a:latin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391350" y="1379250"/>
            <a:ext cx="5555283" cy="2870899"/>
            <a:chOff x="391350" y="1379250"/>
            <a:chExt cx="5555283" cy="2870899"/>
          </a:xfrm>
        </p:grpSpPr>
        <p:sp>
          <p:nvSpPr>
            <p:cNvPr id="5" name="Shape 3"/>
            <p:cNvSpPr/>
            <p:nvPr/>
          </p:nvSpPr>
          <p:spPr>
            <a:xfrm>
              <a:off x="391350" y="1379250"/>
              <a:ext cx="5555283" cy="2870899"/>
            </a:xfrm>
            <a:custGeom>
              <a:avLst/>
              <a:gdLst/>
              <a:ahLst/>
              <a:cxnLst/>
              <a:rect l="l" t="t" r="r" b="b"/>
              <a:pathLst>
                <a:path w="5555283" h="2870899">
                  <a:moveTo>
                    <a:pt x="37099" y="0"/>
                  </a:moveTo>
                  <a:lnTo>
                    <a:pt x="5443433" y="0"/>
                  </a:lnTo>
                  <a:cubicBezTo>
                    <a:pt x="5505206" y="0"/>
                    <a:pt x="5555283" y="50077"/>
                    <a:pt x="5555283" y="111850"/>
                  </a:cubicBezTo>
                  <a:lnTo>
                    <a:pt x="5555283" y="2759049"/>
                  </a:lnTo>
                  <a:cubicBezTo>
                    <a:pt x="5555283" y="2820822"/>
                    <a:pt x="5505206" y="2870899"/>
                    <a:pt x="5443433" y="2870899"/>
                  </a:cubicBezTo>
                  <a:lnTo>
                    <a:pt x="37099" y="2870899"/>
                  </a:lnTo>
                  <a:cubicBezTo>
                    <a:pt x="16610" y="2870899"/>
                    <a:pt x="0" y="2854289"/>
                    <a:pt x="0" y="2833800"/>
                  </a:cubicBezTo>
                  <a:lnTo>
                    <a:pt x="0" y="37099"/>
                  </a:lnTo>
                  <a:cubicBezTo>
                    <a:pt x="0" y="16610"/>
                    <a:pt x="16610" y="0"/>
                    <a:pt x="3709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391350" y="1379250"/>
              <a:ext cx="37099" cy="2870899"/>
            </a:xfrm>
            <a:custGeom>
              <a:avLst/>
              <a:gdLst/>
              <a:ahLst/>
              <a:cxnLst/>
              <a:rect l="l" t="t" r="r" b="b"/>
              <a:pathLst>
                <a:path w="37099" h="2870899">
                  <a:moveTo>
                    <a:pt x="37099" y="0"/>
                  </a:moveTo>
                  <a:lnTo>
                    <a:pt x="37099" y="0"/>
                  </a:lnTo>
                  <a:lnTo>
                    <a:pt x="37099" y="2870899"/>
                  </a:lnTo>
                  <a:lnTo>
                    <a:pt x="37099" y="2870899"/>
                  </a:lnTo>
                  <a:cubicBezTo>
                    <a:pt x="16610" y="2870899"/>
                    <a:pt x="0" y="2854289"/>
                    <a:pt x="0" y="2833800"/>
                  </a:cubicBezTo>
                  <a:lnTo>
                    <a:pt x="0" y="37099"/>
                  </a:lnTo>
                  <a:cubicBezTo>
                    <a:pt x="0" y="16623"/>
                    <a:pt x="16623" y="0"/>
                    <a:pt x="37099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633580" y="1602929"/>
              <a:ext cx="5182532" cy="121174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47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add_kernel[grid](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47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    x_ptr, y_ptr, 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47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    output_ptr, n_elements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470" dirty="0">
                  <a:solidFill>
                    <a:srgbClr val="1E2939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)</a:t>
              </a:r>
              <a:endParaRPr lang="en-US" sz="1600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247181" y="1379250"/>
            <a:ext cx="5574018" cy="2875377"/>
            <a:chOff x="6247181" y="1379250"/>
            <a:chExt cx="5574018" cy="2875377"/>
          </a:xfrm>
        </p:grpSpPr>
        <p:sp>
          <p:nvSpPr>
            <p:cNvPr id="8" name="Shape 6"/>
            <p:cNvSpPr/>
            <p:nvPr/>
          </p:nvSpPr>
          <p:spPr>
            <a:xfrm>
              <a:off x="6247181" y="1379250"/>
              <a:ext cx="5574018" cy="857541"/>
            </a:xfrm>
            <a:custGeom>
              <a:avLst/>
              <a:gdLst/>
              <a:ahLst/>
              <a:cxnLst/>
              <a:rect l="l" t="t" r="r" b="b"/>
              <a:pathLst>
                <a:path w="5574018" h="857541">
                  <a:moveTo>
                    <a:pt x="74572" y="0"/>
                  </a:moveTo>
                  <a:lnTo>
                    <a:pt x="5499447" y="0"/>
                  </a:lnTo>
                  <a:cubicBezTo>
                    <a:pt x="5540631" y="0"/>
                    <a:pt x="5574018" y="33387"/>
                    <a:pt x="5574018" y="74572"/>
                  </a:cubicBezTo>
                  <a:lnTo>
                    <a:pt x="5574018" y="782969"/>
                  </a:lnTo>
                  <a:cubicBezTo>
                    <a:pt x="5574018" y="824154"/>
                    <a:pt x="5540631" y="857541"/>
                    <a:pt x="5499447" y="857541"/>
                  </a:cubicBezTo>
                  <a:lnTo>
                    <a:pt x="74572" y="857541"/>
                  </a:lnTo>
                  <a:cubicBezTo>
                    <a:pt x="33414" y="857541"/>
                    <a:pt x="0" y="824127"/>
                    <a:pt x="0" y="782969"/>
                  </a:cubicBezTo>
                  <a:lnTo>
                    <a:pt x="0" y="74572"/>
                  </a:lnTo>
                  <a:cubicBezTo>
                    <a:pt x="0" y="33387"/>
                    <a:pt x="33387" y="0"/>
                    <a:pt x="7457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9" name="Shape 7"/>
            <p:cNvSpPr/>
            <p:nvPr/>
          </p:nvSpPr>
          <p:spPr>
            <a:xfrm>
              <a:off x="6407953" y="1565617"/>
              <a:ext cx="209725" cy="186422"/>
            </a:xfrm>
            <a:custGeom>
              <a:avLst/>
              <a:gdLst/>
              <a:ahLst/>
              <a:cxnLst/>
              <a:rect l="l" t="t" r="r" b="b"/>
              <a:pathLst>
                <a:path w="209725" h="186422">
                  <a:moveTo>
                    <a:pt x="131369" y="437"/>
                  </a:moveTo>
                  <a:cubicBezTo>
                    <a:pt x="125179" y="-1347"/>
                    <a:pt x="118735" y="2257"/>
                    <a:pt x="116951" y="8447"/>
                  </a:cubicBezTo>
                  <a:lnTo>
                    <a:pt x="70345" y="171567"/>
                  </a:lnTo>
                  <a:cubicBezTo>
                    <a:pt x="68561" y="177756"/>
                    <a:pt x="72166" y="184201"/>
                    <a:pt x="78356" y="185985"/>
                  </a:cubicBezTo>
                  <a:cubicBezTo>
                    <a:pt x="84545" y="187769"/>
                    <a:pt x="90990" y="184165"/>
                    <a:pt x="92774" y="177975"/>
                  </a:cubicBezTo>
                  <a:lnTo>
                    <a:pt x="139380" y="14856"/>
                  </a:lnTo>
                  <a:cubicBezTo>
                    <a:pt x="141164" y="8666"/>
                    <a:pt x="137559" y="2221"/>
                    <a:pt x="131369" y="437"/>
                  </a:cubicBezTo>
                  <a:close/>
                  <a:moveTo>
                    <a:pt x="154890" y="49992"/>
                  </a:moveTo>
                  <a:cubicBezTo>
                    <a:pt x="150339" y="54543"/>
                    <a:pt x="150339" y="61934"/>
                    <a:pt x="154890" y="66486"/>
                  </a:cubicBezTo>
                  <a:lnTo>
                    <a:pt x="181616" y="93211"/>
                  </a:lnTo>
                  <a:lnTo>
                    <a:pt x="154890" y="119936"/>
                  </a:lnTo>
                  <a:cubicBezTo>
                    <a:pt x="150339" y="124488"/>
                    <a:pt x="150339" y="131879"/>
                    <a:pt x="154890" y="136430"/>
                  </a:cubicBezTo>
                  <a:cubicBezTo>
                    <a:pt x="159442" y="140982"/>
                    <a:pt x="166833" y="140982"/>
                    <a:pt x="171384" y="136430"/>
                  </a:cubicBezTo>
                  <a:lnTo>
                    <a:pt x="206339" y="101476"/>
                  </a:lnTo>
                  <a:cubicBezTo>
                    <a:pt x="210890" y="96925"/>
                    <a:pt x="210890" y="89534"/>
                    <a:pt x="206339" y="84982"/>
                  </a:cubicBezTo>
                  <a:lnTo>
                    <a:pt x="171384" y="50028"/>
                  </a:lnTo>
                  <a:cubicBezTo>
                    <a:pt x="166833" y="45477"/>
                    <a:pt x="159442" y="45477"/>
                    <a:pt x="154890" y="50028"/>
                  </a:cubicBezTo>
                  <a:close/>
                  <a:moveTo>
                    <a:pt x="54871" y="49992"/>
                  </a:moveTo>
                  <a:cubicBezTo>
                    <a:pt x="50319" y="45440"/>
                    <a:pt x="42928" y="45440"/>
                    <a:pt x="38377" y="49992"/>
                  </a:cubicBezTo>
                  <a:lnTo>
                    <a:pt x="3423" y="84946"/>
                  </a:lnTo>
                  <a:cubicBezTo>
                    <a:pt x="-1129" y="89497"/>
                    <a:pt x="-1129" y="96888"/>
                    <a:pt x="3423" y="101440"/>
                  </a:cubicBezTo>
                  <a:lnTo>
                    <a:pt x="38377" y="136394"/>
                  </a:lnTo>
                  <a:cubicBezTo>
                    <a:pt x="42928" y="140945"/>
                    <a:pt x="50319" y="140945"/>
                    <a:pt x="54871" y="136394"/>
                  </a:cubicBezTo>
                  <a:cubicBezTo>
                    <a:pt x="59422" y="131843"/>
                    <a:pt x="59422" y="124451"/>
                    <a:pt x="54871" y="119900"/>
                  </a:cubicBezTo>
                  <a:lnTo>
                    <a:pt x="28145" y="93211"/>
                  </a:lnTo>
                  <a:lnTo>
                    <a:pt x="54834" y="66486"/>
                  </a:lnTo>
                  <a:cubicBezTo>
                    <a:pt x="59386" y="61934"/>
                    <a:pt x="59386" y="54543"/>
                    <a:pt x="54834" y="49992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0" name="Text 8"/>
            <p:cNvSpPr/>
            <p:nvPr/>
          </p:nvSpPr>
          <p:spPr>
            <a:xfrm>
              <a:off x="6741132" y="1528369"/>
              <a:ext cx="2617660" cy="2609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2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__getitem__ Override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396301" y="1863929"/>
              <a:ext cx="5350312" cy="22370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7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Triton overrides Python's </a:t>
              </a:r>
              <a:r>
                <a:rPr lang="en-US" sz="1175" dirty="0">
                  <a:solidFill>
                    <a:srgbClr val="364153"/>
                  </a:solidFill>
                  <a:highlight>
                    <a:srgbClr val="E5E7EB">
                      <a:alpha val="100000"/>
                    </a:srgbClr>
                  </a:highlight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__getitem__ </a:t>
              </a:r>
              <a:r>
                <a:rPr lang="en-US" sz="117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 method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247181" y="2390489"/>
              <a:ext cx="5574018" cy="857541"/>
            </a:xfrm>
            <a:custGeom>
              <a:avLst/>
              <a:gdLst/>
              <a:ahLst/>
              <a:cxnLst/>
              <a:rect l="l" t="t" r="r" b="b"/>
              <a:pathLst>
                <a:path w="5574018" h="857541">
                  <a:moveTo>
                    <a:pt x="74572" y="0"/>
                  </a:moveTo>
                  <a:lnTo>
                    <a:pt x="5499447" y="0"/>
                  </a:lnTo>
                  <a:cubicBezTo>
                    <a:pt x="5540631" y="0"/>
                    <a:pt x="5574018" y="33387"/>
                    <a:pt x="5574018" y="74572"/>
                  </a:cubicBezTo>
                  <a:lnTo>
                    <a:pt x="5574018" y="782969"/>
                  </a:lnTo>
                  <a:cubicBezTo>
                    <a:pt x="5574018" y="824154"/>
                    <a:pt x="5540631" y="857541"/>
                    <a:pt x="5499447" y="857541"/>
                  </a:cubicBezTo>
                  <a:lnTo>
                    <a:pt x="74572" y="857541"/>
                  </a:lnTo>
                  <a:cubicBezTo>
                    <a:pt x="33414" y="857541"/>
                    <a:pt x="0" y="824127"/>
                    <a:pt x="0" y="782969"/>
                  </a:cubicBezTo>
                  <a:lnTo>
                    <a:pt x="0" y="74572"/>
                  </a:lnTo>
                  <a:cubicBezTo>
                    <a:pt x="0" y="33387"/>
                    <a:pt x="33387" y="0"/>
                    <a:pt x="7457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6419604" y="2576847"/>
              <a:ext cx="186422" cy="186422"/>
            </a:xfrm>
            <a:custGeom>
              <a:avLst/>
              <a:gdLst/>
              <a:ahLst/>
              <a:cxnLst/>
              <a:rect l="l" t="t" r="r" b="b"/>
              <a:pathLst>
                <a:path w="186422" h="186422">
                  <a:moveTo>
                    <a:pt x="163119" y="93211"/>
                  </a:moveTo>
                  <a:cubicBezTo>
                    <a:pt x="163119" y="54628"/>
                    <a:pt x="131794" y="23303"/>
                    <a:pt x="93211" y="23303"/>
                  </a:cubicBezTo>
                  <a:cubicBezTo>
                    <a:pt x="54628" y="23303"/>
                    <a:pt x="23303" y="54628"/>
                    <a:pt x="23303" y="93211"/>
                  </a:cubicBezTo>
                  <a:cubicBezTo>
                    <a:pt x="23303" y="131794"/>
                    <a:pt x="54628" y="163119"/>
                    <a:pt x="93211" y="163119"/>
                  </a:cubicBezTo>
                  <a:cubicBezTo>
                    <a:pt x="131794" y="163119"/>
                    <a:pt x="163119" y="131794"/>
                    <a:pt x="163119" y="93211"/>
                  </a:cubicBezTo>
                  <a:close/>
                  <a:moveTo>
                    <a:pt x="0" y="93211"/>
                  </a:moveTo>
                  <a:cubicBezTo>
                    <a:pt x="0" y="41766"/>
                    <a:pt x="41766" y="0"/>
                    <a:pt x="93211" y="0"/>
                  </a:cubicBezTo>
                  <a:cubicBezTo>
                    <a:pt x="144656" y="0"/>
                    <a:pt x="186422" y="41766"/>
                    <a:pt x="186422" y="93211"/>
                  </a:cubicBezTo>
                  <a:cubicBezTo>
                    <a:pt x="186422" y="144656"/>
                    <a:pt x="144656" y="186422"/>
                    <a:pt x="93211" y="186422"/>
                  </a:cubicBezTo>
                  <a:cubicBezTo>
                    <a:pt x="41766" y="186422"/>
                    <a:pt x="0" y="144656"/>
                    <a:pt x="0" y="93211"/>
                  </a:cubicBezTo>
                  <a:close/>
                  <a:moveTo>
                    <a:pt x="93211" y="122339"/>
                  </a:moveTo>
                  <a:cubicBezTo>
                    <a:pt x="109287" y="122339"/>
                    <a:pt x="122339" y="109287"/>
                    <a:pt x="122339" y="93211"/>
                  </a:cubicBezTo>
                  <a:cubicBezTo>
                    <a:pt x="122339" y="77135"/>
                    <a:pt x="109287" y="64083"/>
                    <a:pt x="93211" y="64083"/>
                  </a:cubicBezTo>
                  <a:cubicBezTo>
                    <a:pt x="77135" y="64083"/>
                    <a:pt x="64083" y="77135"/>
                    <a:pt x="64083" y="93211"/>
                  </a:cubicBezTo>
                  <a:cubicBezTo>
                    <a:pt x="64083" y="109287"/>
                    <a:pt x="77135" y="122339"/>
                    <a:pt x="93211" y="122339"/>
                  </a:cubicBezTo>
                  <a:close/>
                  <a:moveTo>
                    <a:pt x="93211" y="40780"/>
                  </a:moveTo>
                  <a:cubicBezTo>
                    <a:pt x="122149" y="40780"/>
                    <a:pt x="145642" y="64273"/>
                    <a:pt x="145642" y="93211"/>
                  </a:cubicBezTo>
                  <a:cubicBezTo>
                    <a:pt x="145642" y="122149"/>
                    <a:pt x="122149" y="145642"/>
                    <a:pt x="93211" y="145642"/>
                  </a:cubicBezTo>
                  <a:cubicBezTo>
                    <a:pt x="64273" y="145642"/>
                    <a:pt x="40780" y="122149"/>
                    <a:pt x="40780" y="93211"/>
                  </a:cubicBezTo>
                  <a:cubicBezTo>
                    <a:pt x="40780" y="64273"/>
                    <a:pt x="64273" y="40780"/>
                    <a:pt x="93211" y="40780"/>
                  </a:cubicBezTo>
                  <a:close/>
                  <a:moveTo>
                    <a:pt x="81560" y="93211"/>
                  </a:moveTo>
                  <a:cubicBezTo>
                    <a:pt x="81560" y="86780"/>
                    <a:pt x="86780" y="81560"/>
                    <a:pt x="93211" y="81560"/>
                  </a:cubicBezTo>
                  <a:cubicBezTo>
                    <a:pt x="99642" y="81560"/>
                    <a:pt x="104862" y="86780"/>
                    <a:pt x="104862" y="93211"/>
                  </a:cubicBezTo>
                  <a:cubicBezTo>
                    <a:pt x="104862" y="99642"/>
                    <a:pt x="99642" y="104862"/>
                    <a:pt x="93211" y="104862"/>
                  </a:cubicBezTo>
                  <a:cubicBezTo>
                    <a:pt x="86780" y="104862"/>
                    <a:pt x="81560" y="99642"/>
                    <a:pt x="81560" y="93211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6741132" y="2539609"/>
              <a:ext cx="1408688" cy="2609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2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kernel[grid]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396301" y="2875159"/>
              <a:ext cx="5350312" cy="22370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7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Specifies the launch grid, determines number of programs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247181" y="3397086"/>
              <a:ext cx="5574018" cy="857541"/>
            </a:xfrm>
            <a:custGeom>
              <a:avLst/>
              <a:gdLst/>
              <a:ahLst/>
              <a:cxnLst/>
              <a:rect l="l" t="t" r="r" b="b"/>
              <a:pathLst>
                <a:path w="5574018" h="857541">
                  <a:moveTo>
                    <a:pt x="74572" y="0"/>
                  </a:moveTo>
                  <a:lnTo>
                    <a:pt x="5499447" y="0"/>
                  </a:lnTo>
                  <a:cubicBezTo>
                    <a:pt x="5540631" y="0"/>
                    <a:pt x="5574018" y="33387"/>
                    <a:pt x="5574018" y="74572"/>
                  </a:cubicBezTo>
                  <a:lnTo>
                    <a:pt x="5574018" y="782969"/>
                  </a:lnTo>
                  <a:cubicBezTo>
                    <a:pt x="5574018" y="824154"/>
                    <a:pt x="5540631" y="857541"/>
                    <a:pt x="5499447" y="857541"/>
                  </a:cubicBezTo>
                  <a:lnTo>
                    <a:pt x="74572" y="857541"/>
                  </a:lnTo>
                  <a:cubicBezTo>
                    <a:pt x="33414" y="857541"/>
                    <a:pt x="0" y="824127"/>
                    <a:pt x="0" y="782969"/>
                  </a:cubicBezTo>
                  <a:lnTo>
                    <a:pt x="0" y="74572"/>
                  </a:lnTo>
                  <a:cubicBezTo>
                    <a:pt x="0" y="33387"/>
                    <a:pt x="33387" y="0"/>
                    <a:pt x="7457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17" name="Shape 15"/>
            <p:cNvSpPr/>
            <p:nvPr/>
          </p:nvSpPr>
          <p:spPr>
            <a:xfrm>
              <a:off x="6431255" y="3583444"/>
              <a:ext cx="163119" cy="186422"/>
            </a:xfrm>
            <a:custGeom>
              <a:avLst/>
              <a:gdLst/>
              <a:ahLst/>
              <a:cxnLst/>
              <a:rect l="l" t="t" r="r" b="b"/>
              <a:pathLst>
                <a:path w="163119" h="186422">
                  <a:moveTo>
                    <a:pt x="33206" y="13435"/>
                  </a:moveTo>
                  <a:cubicBezTo>
                    <a:pt x="28692" y="10960"/>
                    <a:pt x="23230" y="11069"/>
                    <a:pt x="18788" y="13690"/>
                  </a:cubicBezTo>
                  <a:cubicBezTo>
                    <a:pt x="14346" y="16312"/>
                    <a:pt x="11651" y="21082"/>
                    <a:pt x="11651" y="26216"/>
                  </a:cubicBezTo>
                  <a:lnTo>
                    <a:pt x="11651" y="160206"/>
                  </a:lnTo>
                  <a:cubicBezTo>
                    <a:pt x="11651" y="165340"/>
                    <a:pt x="14382" y="170110"/>
                    <a:pt x="18788" y="172732"/>
                  </a:cubicBezTo>
                  <a:cubicBezTo>
                    <a:pt x="23194" y="175353"/>
                    <a:pt x="28692" y="175462"/>
                    <a:pt x="33206" y="172987"/>
                  </a:cubicBezTo>
                  <a:lnTo>
                    <a:pt x="155546" y="105991"/>
                  </a:lnTo>
                  <a:cubicBezTo>
                    <a:pt x="160206" y="103442"/>
                    <a:pt x="163119" y="98527"/>
                    <a:pt x="163119" y="93211"/>
                  </a:cubicBezTo>
                  <a:cubicBezTo>
                    <a:pt x="163119" y="87895"/>
                    <a:pt x="160206" y="82980"/>
                    <a:pt x="155546" y="80431"/>
                  </a:cubicBezTo>
                  <a:lnTo>
                    <a:pt x="33206" y="13435"/>
                  </a:ln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6741132" y="3546206"/>
              <a:ext cx="689761" cy="2609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2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(...) Execute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396301" y="3881756"/>
              <a:ext cx="5350312" cy="22370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75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Pass arguments to actually execute the kernel</a:t>
              </a:r>
              <a:endParaRPr lang="en-US" sz="1600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72801" y="4478243"/>
            <a:ext cx="11446312" cy="2087927"/>
            <a:chOff x="372801" y="4478243"/>
            <a:chExt cx="11446312" cy="2087927"/>
          </a:xfrm>
        </p:grpSpPr>
        <p:sp>
          <p:nvSpPr>
            <p:cNvPr id="20" name="Shape 18"/>
            <p:cNvSpPr/>
            <p:nvPr/>
          </p:nvSpPr>
          <p:spPr>
            <a:xfrm>
              <a:off x="372801" y="4478243"/>
              <a:ext cx="11446312" cy="2087927"/>
            </a:xfrm>
            <a:custGeom>
              <a:avLst/>
              <a:gdLst/>
              <a:ahLst/>
              <a:cxnLst/>
              <a:rect l="l" t="t" r="r" b="b"/>
              <a:pathLst>
                <a:path w="11446312" h="2087927">
                  <a:moveTo>
                    <a:pt x="111850" y="0"/>
                  </a:moveTo>
                  <a:lnTo>
                    <a:pt x="11334462" y="0"/>
                  </a:lnTo>
                  <a:cubicBezTo>
                    <a:pt x="11396235" y="0"/>
                    <a:pt x="11446312" y="50077"/>
                    <a:pt x="11446312" y="111850"/>
                  </a:cubicBezTo>
                  <a:lnTo>
                    <a:pt x="11446312" y="1976076"/>
                  </a:lnTo>
                  <a:cubicBezTo>
                    <a:pt x="11446312" y="2037850"/>
                    <a:pt x="11396235" y="2087927"/>
                    <a:pt x="11334462" y="2087927"/>
                  </a:cubicBezTo>
                  <a:lnTo>
                    <a:pt x="111850" y="2087927"/>
                  </a:lnTo>
                  <a:cubicBezTo>
                    <a:pt x="50077" y="2087927"/>
                    <a:pt x="0" y="2037850"/>
                    <a:pt x="0" y="1976076"/>
                  </a:cubicBezTo>
                  <a:lnTo>
                    <a:pt x="0" y="111850"/>
                  </a:lnTo>
                  <a:cubicBezTo>
                    <a:pt x="0" y="50118"/>
                    <a:pt x="50118" y="0"/>
                    <a:pt x="111850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596481" y="4701922"/>
              <a:ext cx="11092110" cy="2609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7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Syntax Breakdown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064649" y="5121316"/>
              <a:ext cx="1155724" cy="801522"/>
            </a:xfrm>
            <a:custGeom>
              <a:avLst/>
              <a:gdLst/>
              <a:ahLst/>
              <a:cxnLst/>
              <a:rect l="l" t="t" r="r" b="b"/>
              <a:pathLst>
                <a:path w="1155724" h="801522">
                  <a:moveTo>
                    <a:pt x="74566" y="0"/>
                  </a:moveTo>
                  <a:lnTo>
                    <a:pt x="1081158" y="0"/>
                  </a:lnTo>
                  <a:cubicBezTo>
                    <a:pt x="1122312" y="0"/>
                    <a:pt x="1155724" y="33412"/>
                    <a:pt x="1155724" y="74566"/>
                  </a:cubicBezTo>
                  <a:lnTo>
                    <a:pt x="1155724" y="726956"/>
                  </a:lnTo>
                  <a:cubicBezTo>
                    <a:pt x="1155724" y="768110"/>
                    <a:pt x="1122312" y="801522"/>
                    <a:pt x="1081158" y="801522"/>
                  </a:cubicBezTo>
                  <a:lnTo>
                    <a:pt x="74566" y="801522"/>
                  </a:lnTo>
                  <a:cubicBezTo>
                    <a:pt x="33412" y="801522"/>
                    <a:pt x="0" y="768110"/>
                    <a:pt x="0" y="726956"/>
                  </a:cubicBezTo>
                  <a:lnTo>
                    <a:pt x="0" y="74566"/>
                  </a:lnTo>
                  <a:cubicBezTo>
                    <a:pt x="0" y="33412"/>
                    <a:pt x="33412" y="0"/>
                    <a:pt x="74566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D1D5DC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4223044" y="5279712"/>
              <a:ext cx="904147" cy="186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30" dirty="0">
                  <a:solidFill>
                    <a:srgbClr val="6A7282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kernel object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223044" y="5503318"/>
              <a:ext cx="922789" cy="2609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2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add_kernel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377458" y="5372886"/>
              <a:ext cx="186422" cy="2982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760" dirty="0">
                  <a:solidFill>
                    <a:srgbClr val="99A1A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[</a:t>
              </a:r>
              <a:endParaRPr lang="en-US" sz="16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613311" y="5121316"/>
              <a:ext cx="848127" cy="801522"/>
            </a:xfrm>
            <a:custGeom>
              <a:avLst/>
              <a:gdLst/>
              <a:ahLst/>
              <a:cxnLst/>
              <a:rect l="l" t="t" r="r" b="b"/>
              <a:pathLst>
                <a:path w="848127" h="801522">
                  <a:moveTo>
                    <a:pt x="74566" y="0"/>
                  </a:moveTo>
                  <a:lnTo>
                    <a:pt x="773562" y="0"/>
                  </a:lnTo>
                  <a:cubicBezTo>
                    <a:pt x="814716" y="0"/>
                    <a:pt x="848127" y="33412"/>
                    <a:pt x="848127" y="74566"/>
                  </a:cubicBezTo>
                  <a:lnTo>
                    <a:pt x="848127" y="726956"/>
                  </a:lnTo>
                  <a:cubicBezTo>
                    <a:pt x="848127" y="768110"/>
                    <a:pt x="814716" y="801522"/>
                    <a:pt x="773562" y="801522"/>
                  </a:cubicBezTo>
                  <a:lnTo>
                    <a:pt x="74566" y="801522"/>
                  </a:lnTo>
                  <a:cubicBezTo>
                    <a:pt x="33412" y="801522"/>
                    <a:pt x="0" y="768110"/>
                    <a:pt x="0" y="726956"/>
                  </a:cubicBezTo>
                  <a:lnTo>
                    <a:pt x="0" y="74566"/>
                  </a:lnTo>
                  <a:cubicBezTo>
                    <a:pt x="0" y="33412"/>
                    <a:pt x="33412" y="0"/>
                    <a:pt x="74566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8B000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771706" y="5279712"/>
              <a:ext cx="596550" cy="186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30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grid config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771706" y="5503318"/>
              <a:ext cx="615193" cy="2609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2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grid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623315" y="5372886"/>
              <a:ext cx="186422" cy="2982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760" dirty="0">
                  <a:solidFill>
                    <a:srgbClr val="99A1A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]</a:t>
              </a:r>
              <a:endParaRPr lang="en-US" sz="16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849893" y="5372886"/>
              <a:ext cx="177101" cy="2982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760" dirty="0">
                  <a:solidFill>
                    <a:srgbClr val="99A1A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(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075892" y="5121316"/>
              <a:ext cx="838806" cy="801522"/>
            </a:xfrm>
            <a:custGeom>
              <a:avLst/>
              <a:gdLst/>
              <a:ahLst/>
              <a:cxnLst/>
              <a:rect l="l" t="t" r="r" b="b"/>
              <a:pathLst>
                <a:path w="838806" h="801522">
                  <a:moveTo>
                    <a:pt x="74566" y="0"/>
                  </a:moveTo>
                  <a:lnTo>
                    <a:pt x="764241" y="0"/>
                  </a:lnTo>
                  <a:cubicBezTo>
                    <a:pt x="805395" y="0"/>
                    <a:pt x="838806" y="33412"/>
                    <a:pt x="838806" y="74566"/>
                  </a:cubicBezTo>
                  <a:lnTo>
                    <a:pt x="838806" y="726956"/>
                  </a:lnTo>
                  <a:cubicBezTo>
                    <a:pt x="838806" y="768110"/>
                    <a:pt x="805395" y="801522"/>
                    <a:pt x="764241" y="801522"/>
                  </a:cubicBezTo>
                  <a:lnTo>
                    <a:pt x="74566" y="801522"/>
                  </a:lnTo>
                  <a:cubicBezTo>
                    <a:pt x="33412" y="801522"/>
                    <a:pt x="0" y="768110"/>
                    <a:pt x="0" y="726956"/>
                  </a:cubicBezTo>
                  <a:lnTo>
                    <a:pt x="0" y="74566"/>
                  </a:lnTo>
                  <a:cubicBezTo>
                    <a:pt x="0" y="33412"/>
                    <a:pt x="33412" y="0"/>
                    <a:pt x="74566" y="0"/>
                  </a:cubicBezTo>
                  <a:close/>
                </a:path>
              </a:pathLst>
            </a:custGeom>
            <a:solidFill>
              <a:srgbClr val="FFFFFF"/>
            </a:solidFill>
            <a:ln w="25274">
              <a:solidFill>
                <a:srgbClr val="D1D5DC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7234287" y="5279712"/>
              <a:ext cx="587229" cy="186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30" dirty="0">
                  <a:solidFill>
                    <a:srgbClr val="6A7282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function args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234287" y="5503318"/>
              <a:ext cx="605872" cy="2609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2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...</a:t>
              </a:r>
              <a:endParaRPr lang="en-US" sz="16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073070" y="5372886"/>
              <a:ext cx="177101" cy="2982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760" dirty="0">
                  <a:solidFill>
                    <a:srgbClr val="99A1AF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)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554536" y="6081099"/>
              <a:ext cx="11082789" cy="2609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2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Equivalent to:</a:t>
              </a:r>
              <a:r>
                <a:rPr lang="en-US" sz="1175" dirty="0">
                  <a:solidFill>
                    <a:srgbClr val="364153"/>
                  </a:solidFill>
                  <a:highlight>
                    <a:srgbClr val="E5E7EB">
                      <a:alpha val="100000"/>
                    </a:srgbClr>
                  </a:highlight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 add_kernel.__getitem__(grid).__call__(...)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9664" y="61885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Triton vs CUDA Comparison</a:t>
            </a:r>
            <a:endParaRPr lang="en-US" sz="16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380956" y="1409421"/>
            <a:ext cx="5562600" cy="4876800"/>
            <a:chOff x="380956" y="1409421"/>
            <a:chExt cx="5562600" cy="4876800"/>
          </a:xfrm>
        </p:grpSpPr>
        <p:sp>
          <p:nvSpPr>
            <p:cNvPr id="5" name="Shape 3"/>
            <p:cNvSpPr/>
            <p:nvPr/>
          </p:nvSpPr>
          <p:spPr>
            <a:xfrm>
              <a:off x="380956" y="1409421"/>
              <a:ext cx="5562600" cy="4876800"/>
            </a:xfrm>
            <a:custGeom>
              <a:avLst/>
              <a:gdLst/>
              <a:ahLst/>
              <a:cxnLst/>
              <a:rect l="l" t="t" r="r" b="b"/>
              <a:pathLst>
                <a:path w="5562600" h="4876800">
                  <a:moveTo>
                    <a:pt x="114312" y="0"/>
                  </a:moveTo>
                  <a:lnTo>
                    <a:pt x="5448288" y="0"/>
                  </a:lnTo>
                  <a:cubicBezTo>
                    <a:pt x="5511421" y="0"/>
                    <a:pt x="5562600" y="51179"/>
                    <a:pt x="5562600" y="114312"/>
                  </a:cubicBezTo>
                  <a:lnTo>
                    <a:pt x="5562600" y="4762488"/>
                  </a:lnTo>
                  <a:cubicBezTo>
                    <a:pt x="5562600" y="4825621"/>
                    <a:pt x="5511421" y="4876800"/>
                    <a:pt x="5448288" y="4876800"/>
                  </a:cubicBezTo>
                  <a:lnTo>
                    <a:pt x="114312" y="4876800"/>
                  </a:lnTo>
                  <a:cubicBezTo>
                    <a:pt x="51179" y="4876800"/>
                    <a:pt x="0" y="4825621"/>
                    <a:pt x="0" y="4762488"/>
                  </a:cubicBezTo>
                  <a:lnTo>
                    <a:pt x="0" y="114312"/>
                  </a:lnTo>
                  <a:cubicBezTo>
                    <a:pt x="0" y="51222"/>
                    <a:pt x="51222" y="0"/>
                    <a:pt x="114312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6" name="Shape 4"/>
            <p:cNvSpPr/>
            <p:nvPr/>
          </p:nvSpPr>
          <p:spPr>
            <a:xfrm>
              <a:off x="609529" y="163799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364153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723773" y="175224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78581" y="10716"/>
                  </a:moveTo>
                  <a:cubicBezTo>
                    <a:pt x="78581" y="4777"/>
                    <a:pt x="73804" y="0"/>
                    <a:pt x="67866" y="0"/>
                  </a:cubicBezTo>
                  <a:cubicBezTo>
                    <a:pt x="61927" y="0"/>
                    <a:pt x="57150" y="4777"/>
                    <a:pt x="57150" y="10716"/>
                  </a:cubicBezTo>
                  <a:lnTo>
                    <a:pt x="57150" y="28575"/>
                  </a:lnTo>
                  <a:cubicBezTo>
                    <a:pt x="41389" y="28575"/>
                    <a:pt x="28575" y="41389"/>
                    <a:pt x="28575" y="57150"/>
                  </a:cubicBezTo>
                  <a:lnTo>
                    <a:pt x="10716" y="57150"/>
                  </a:lnTo>
                  <a:cubicBezTo>
                    <a:pt x="4777" y="57150"/>
                    <a:pt x="0" y="61927"/>
                    <a:pt x="0" y="67866"/>
                  </a:cubicBezTo>
                  <a:cubicBezTo>
                    <a:pt x="0" y="73804"/>
                    <a:pt x="4777" y="78581"/>
                    <a:pt x="10716" y="78581"/>
                  </a:cubicBezTo>
                  <a:lnTo>
                    <a:pt x="28575" y="78581"/>
                  </a:lnTo>
                  <a:lnTo>
                    <a:pt x="28575" y="103584"/>
                  </a:lnTo>
                  <a:lnTo>
                    <a:pt x="10716" y="103584"/>
                  </a:lnTo>
                  <a:cubicBezTo>
                    <a:pt x="4777" y="103584"/>
                    <a:pt x="0" y="108362"/>
                    <a:pt x="0" y="114300"/>
                  </a:cubicBezTo>
                  <a:cubicBezTo>
                    <a:pt x="0" y="120238"/>
                    <a:pt x="4777" y="125016"/>
                    <a:pt x="10716" y="125016"/>
                  </a:cubicBezTo>
                  <a:lnTo>
                    <a:pt x="28575" y="125016"/>
                  </a:lnTo>
                  <a:lnTo>
                    <a:pt x="28575" y="150019"/>
                  </a:lnTo>
                  <a:lnTo>
                    <a:pt x="10716" y="150019"/>
                  </a:lnTo>
                  <a:cubicBezTo>
                    <a:pt x="4777" y="150019"/>
                    <a:pt x="0" y="154796"/>
                    <a:pt x="0" y="160734"/>
                  </a:cubicBezTo>
                  <a:cubicBezTo>
                    <a:pt x="0" y="166673"/>
                    <a:pt x="4777" y="171450"/>
                    <a:pt x="10716" y="171450"/>
                  </a:cubicBezTo>
                  <a:lnTo>
                    <a:pt x="28575" y="171450"/>
                  </a:lnTo>
                  <a:cubicBezTo>
                    <a:pt x="28575" y="187211"/>
                    <a:pt x="41389" y="200025"/>
                    <a:pt x="57150" y="200025"/>
                  </a:cubicBezTo>
                  <a:lnTo>
                    <a:pt x="57150" y="217884"/>
                  </a:lnTo>
                  <a:cubicBezTo>
                    <a:pt x="57150" y="223823"/>
                    <a:pt x="61927" y="228600"/>
                    <a:pt x="67866" y="228600"/>
                  </a:cubicBezTo>
                  <a:cubicBezTo>
                    <a:pt x="73804" y="228600"/>
                    <a:pt x="78581" y="223823"/>
                    <a:pt x="78581" y="217884"/>
                  </a:cubicBezTo>
                  <a:lnTo>
                    <a:pt x="78581" y="200025"/>
                  </a:lnTo>
                  <a:lnTo>
                    <a:pt x="103584" y="200025"/>
                  </a:lnTo>
                  <a:lnTo>
                    <a:pt x="103584" y="217884"/>
                  </a:lnTo>
                  <a:cubicBezTo>
                    <a:pt x="103584" y="223823"/>
                    <a:pt x="108362" y="228600"/>
                    <a:pt x="114300" y="228600"/>
                  </a:cubicBezTo>
                  <a:cubicBezTo>
                    <a:pt x="120238" y="228600"/>
                    <a:pt x="125016" y="223823"/>
                    <a:pt x="125016" y="217884"/>
                  </a:cubicBezTo>
                  <a:lnTo>
                    <a:pt x="125016" y="200025"/>
                  </a:lnTo>
                  <a:lnTo>
                    <a:pt x="150019" y="200025"/>
                  </a:lnTo>
                  <a:lnTo>
                    <a:pt x="150019" y="217884"/>
                  </a:lnTo>
                  <a:cubicBezTo>
                    <a:pt x="150019" y="223823"/>
                    <a:pt x="154796" y="228600"/>
                    <a:pt x="160734" y="228600"/>
                  </a:cubicBezTo>
                  <a:cubicBezTo>
                    <a:pt x="166673" y="228600"/>
                    <a:pt x="171450" y="223823"/>
                    <a:pt x="171450" y="217884"/>
                  </a:cubicBezTo>
                  <a:lnTo>
                    <a:pt x="171450" y="200025"/>
                  </a:lnTo>
                  <a:cubicBezTo>
                    <a:pt x="187211" y="200025"/>
                    <a:pt x="200025" y="187211"/>
                    <a:pt x="200025" y="171450"/>
                  </a:cubicBezTo>
                  <a:lnTo>
                    <a:pt x="217884" y="171450"/>
                  </a:lnTo>
                  <a:cubicBezTo>
                    <a:pt x="223823" y="171450"/>
                    <a:pt x="228600" y="166673"/>
                    <a:pt x="228600" y="160734"/>
                  </a:cubicBezTo>
                  <a:cubicBezTo>
                    <a:pt x="228600" y="154796"/>
                    <a:pt x="223823" y="150019"/>
                    <a:pt x="217884" y="150019"/>
                  </a:cubicBezTo>
                  <a:lnTo>
                    <a:pt x="200025" y="150019"/>
                  </a:lnTo>
                  <a:lnTo>
                    <a:pt x="200025" y="125016"/>
                  </a:lnTo>
                  <a:lnTo>
                    <a:pt x="217884" y="125016"/>
                  </a:lnTo>
                  <a:cubicBezTo>
                    <a:pt x="223823" y="125016"/>
                    <a:pt x="228600" y="120238"/>
                    <a:pt x="228600" y="114300"/>
                  </a:cubicBezTo>
                  <a:cubicBezTo>
                    <a:pt x="228600" y="108362"/>
                    <a:pt x="223823" y="103584"/>
                    <a:pt x="217884" y="103584"/>
                  </a:cubicBezTo>
                  <a:lnTo>
                    <a:pt x="200025" y="103584"/>
                  </a:lnTo>
                  <a:lnTo>
                    <a:pt x="200025" y="78581"/>
                  </a:lnTo>
                  <a:lnTo>
                    <a:pt x="217884" y="78581"/>
                  </a:lnTo>
                  <a:cubicBezTo>
                    <a:pt x="223823" y="78581"/>
                    <a:pt x="228600" y="73804"/>
                    <a:pt x="228600" y="67866"/>
                  </a:cubicBezTo>
                  <a:cubicBezTo>
                    <a:pt x="228600" y="61927"/>
                    <a:pt x="223823" y="57150"/>
                    <a:pt x="217884" y="57150"/>
                  </a:cubicBezTo>
                  <a:lnTo>
                    <a:pt x="200025" y="57150"/>
                  </a:lnTo>
                  <a:cubicBezTo>
                    <a:pt x="200025" y="41389"/>
                    <a:pt x="187211" y="28575"/>
                    <a:pt x="171450" y="28575"/>
                  </a:cubicBezTo>
                  <a:lnTo>
                    <a:pt x="171450" y="10716"/>
                  </a:lnTo>
                  <a:cubicBezTo>
                    <a:pt x="171450" y="4777"/>
                    <a:pt x="166673" y="0"/>
                    <a:pt x="160734" y="0"/>
                  </a:cubicBezTo>
                  <a:cubicBezTo>
                    <a:pt x="154796" y="0"/>
                    <a:pt x="150019" y="4777"/>
                    <a:pt x="150019" y="10716"/>
                  </a:cubicBezTo>
                  <a:lnTo>
                    <a:pt x="150019" y="28575"/>
                  </a:lnTo>
                  <a:lnTo>
                    <a:pt x="125016" y="28575"/>
                  </a:lnTo>
                  <a:lnTo>
                    <a:pt x="125016" y="10716"/>
                  </a:lnTo>
                  <a:cubicBezTo>
                    <a:pt x="125016" y="4777"/>
                    <a:pt x="120238" y="0"/>
                    <a:pt x="114300" y="0"/>
                  </a:cubicBezTo>
                  <a:cubicBezTo>
                    <a:pt x="108362" y="0"/>
                    <a:pt x="103584" y="4777"/>
                    <a:pt x="103584" y="10716"/>
                  </a:cubicBezTo>
                  <a:lnTo>
                    <a:pt x="103584" y="28575"/>
                  </a:lnTo>
                  <a:lnTo>
                    <a:pt x="78581" y="28575"/>
                  </a:lnTo>
                  <a:lnTo>
                    <a:pt x="78581" y="10716"/>
                  </a:lnTo>
                  <a:close/>
                  <a:moveTo>
                    <a:pt x="71438" y="57150"/>
                  </a:moveTo>
                  <a:lnTo>
                    <a:pt x="157163" y="57150"/>
                  </a:lnTo>
                  <a:cubicBezTo>
                    <a:pt x="165065" y="57150"/>
                    <a:pt x="171450" y="63535"/>
                    <a:pt x="171450" y="71438"/>
                  </a:cubicBezTo>
                  <a:lnTo>
                    <a:pt x="171450" y="157163"/>
                  </a:lnTo>
                  <a:cubicBezTo>
                    <a:pt x="171450" y="165065"/>
                    <a:pt x="165065" y="171450"/>
                    <a:pt x="157163" y="171450"/>
                  </a:cubicBezTo>
                  <a:lnTo>
                    <a:pt x="71438" y="171450"/>
                  </a:lnTo>
                  <a:cubicBezTo>
                    <a:pt x="63535" y="171450"/>
                    <a:pt x="57150" y="165065"/>
                    <a:pt x="57150" y="157163"/>
                  </a:cubicBezTo>
                  <a:lnTo>
                    <a:pt x="57150" y="71438"/>
                  </a:lnTo>
                  <a:cubicBezTo>
                    <a:pt x="57150" y="63535"/>
                    <a:pt x="63535" y="57150"/>
                    <a:pt x="71438" y="57150"/>
                  </a:cubicBezTo>
                  <a:close/>
                  <a:moveTo>
                    <a:pt x="78581" y="78581"/>
                  </a:moveTo>
                  <a:lnTo>
                    <a:pt x="78581" y="150019"/>
                  </a:lnTo>
                  <a:lnTo>
                    <a:pt x="150019" y="150019"/>
                  </a:lnTo>
                  <a:lnTo>
                    <a:pt x="150019" y="78581"/>
                  </a:lnTo>
                  <a:lnTo>
                    <a:pt x="78581" y="785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180925" y="1714184"/>
              <a:ext cx="752475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CUDA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28484" y="2247519"/>
              <a:ext cx="5086255" cy="2533650"/>
            </a:xfrm>
            <a:custGeom>
              <a:avLst/>
              <a:gdLst/>
              <a:ahLst/>
              <a:cxnLst/>
              <a:rect l="l" t="t" r="r" b="b"/>
              <a:pathLst>
                <a:path w="5086255" h="2533650">
                  <a:moveTo>
                    <a:pt x="37910" y="0"/>
                  </a:moveTo>
                  <a:lnTo>
                    <a:pt x="5010043" y="0"/>
                  </a:lnTo>
                  <a:cubicBezTo>
                    <a:pt x="5052134" y="0"/>
                    <a:pt x="5086255" y="34121"/>
                    <a:pt x="5086255" y="76212"/>
                  </a:cubicBezTo>
                  <a:lnTo>
                    <a:pt x="5086255" y="2457438"/>
                  </a:lnTo>
                  <a:cubicBezTo>
                    <a:pt x="5086255" y="2499529"/>
                    <a:pt x="5052134" y="2533650"/>
                    <a:pt x="5010043" y="2533650"/>
                  </a:cubicBezTo>
                  <a:lnTo>
                    <a:pt x="37910" y="2533650"/>
                  </a:lnTo>
                  <a:cubicBezTo>
                    <a:pt x="16973" y="2533650"/>
                    <a:pt x="0" y="2516677"/>
                    <a:pt x="0" y="249574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0" name="Shape 8"/>
            <p:cNvSpPr/>
            <p:nvPr/>
          </p:nvSpPr>
          <p:spPr>
            <a:xfrm>
              <a:off x="628484" y="2247519"/>
              <a:ext cx="37910" cy="2533650"/>
            </a:xfrm>
            <a:custGeom>
              <a:avLst/>
              <a:gdLst/>
              <a:ahLst/>
              <a:cxnLst/>
              <a:rect l="l" t="t" r="r" b="b"/>
              <a:pathLst>
                <a:path w="37910" h="2533650">
                  <a:moveTo>
                    <a:pt x="37910" y="0"/>
                  </a:moveTo>
                  <a:lnTo>
                    <a:pt x="37910" y="0"/>
                  </a:lnTo>
                  <a:lnTo>
                    <a:pt x="37910" y="2533650"/>
                  </a:lnTo>
                  <a:lnTo>
                    <a:pt x="37910" y="2533650"/>
                  </a:lnTo>
                  <a:cubicBezTo>
                    <a:pt x="16973" y="2533650"/>
                    <a:pt x="0" y="2516677"/>
                    <a:pt x="0" y="249574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799822" y="2399909"/>
              <a:ext cx="4838700" cy="22288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66666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// Compute global thread index</a:t>
              </a:r>
              <a:r>
                <a:rPr lang="en-US" sz="1200" b="1" dirty="0">
                  <a:solidFill>
                    <a:srgbClr val="0066CC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int</a:t>
              </a: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 idx = blockIdx.x * blockDim.x 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          + threadIdx.x;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66666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// Bounds check</a:t>
              </a:r>
              <a:r>
                <a:rPr lang="en-US" sz="1200" b="1" dirty="0">
                  <a:solidFill>
                    <a:srgbClr val="0066CC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if</a:t>
              </a: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 (idx &lt; n_elements) {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    </a:t>
              </a:r>
              <a:r>
                <a:rPr lang="en-US" sz="1200" b="1" dirty="0">
                  <a:solidFill>
                    <a:srgbClr val="0066CC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float</a:t>
              </a: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 x = input[idx];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    output[idx] = x * </a:t>
              </a:r>
              <a:r>
                <a:rPr lang="en-US" sz="1200" dirty="0">
                  <a:solidFill>
                    <a:srgbClr val="0099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2.0</a:t>
              </a: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;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}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09529" y="4933094"/>
              <a:ext cx="51816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 Requires manual management of thread, block, grid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09529" y="5237857"/>
              <a:ext cx="51816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 Each thread handles one element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09529" y="5542620"/>
              <a:ext cx="51816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 Requires explicit bounds checking</a:t>
              </a:r>
              <a:endParaRPr lang="en-US" sz="1600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257815" y="1418899"/>
            <a:ext cx="5543455" cy="4857655"/>
            <a:chOff x="6257815" y="1418899"/>
            <a:chExt cx="5543455" cy="4857655"/>
          </a:xfrm>
        </p:grpSpPr>
        <p:sp>
          <p:nvSpPr>
            <p:cNvPr id="15" name="Shape 13"/>
            <p:cNvSpPr/>
            <p:nvPr/>
          </p:nvSpPr>
          <p:spPr>
            <a:xfrm>
              <a:off x="6257815" y="1418899"/>
              <a:ext cx="5543455" cy="4857655"/>
            </a:xfrm>
            <a:custGeom>
              <a:avLst/>
              <a:gdLst/>
              <a:ahLst/>
              <a:cxnLst/>
              <a:rect l="l" t="t" r="r" b="b"/>
              <a:pathLst>
                <a:path w="5543455" h="4857655">
                  <a:moveTo>
                    <a:pt x="114301" y="0"/>
                  </a:moveTo>
                  <a:lnTo>
                    <a:pt x="5429155" y="0"/>
                  </a:lnTo>
                  <a:cubicBezTo>
                    <a:pt x="5492281" y="0"/>
                    <a:pt x="5543455" y="51174"/>
                    <a:pt x="5543455" y="114301"/>
                  </a:cubicBezTo>
                  <a:lnTo>
                    <a:pt x="5543455" y="4743355"/>
                  </a:lnTo>
                  <a:cubicBezTo>
                    <a:pt x="5543455" y="4806481"/>
                    <a:pt x="5492281" y="4857655"/>
                    <a:pt x="5429155" y="4857655"/>
                  </a:cubicBezTo>
                  <a:lnTo>
                    <a:pt x="114301" y="4857655"/>
                  </a:lnTo>
                  <a:cubicBezTo>
                    <a:pt x="51174" y="4857655"/>
                    <a:pt x="0" y="4806481"/>
                    <a:pt x="0" y="4743355"/>
                  </a:cubicBezTo>
                  <a:lnTo>
                    <a:pt x="0" y="114301"/>
                  </a:lnTo>
                  <a:cubicBezTo>
                    <a:pt x="0" y="51216"/>
                    <a:pt x="51216" y="0"/>
                    <a:pt x="114301" y="0"/>
                  </a:cubicBezTo>
                  <a:close/>
                </a:path>
              </a:pathLst>
            </a:custGeom>
            <a:solidFill>
              <a:srgbClr val="F9FAFB"/>
            </a:solidFill>
            <a:ln w="25274">
              <a:solidFill>
                <a:srgbClr val="8B0000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6495866" y="16569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2" y="0"/>
                  </a:moveTo>
                  <a:lnTo>
                    <a:pt x="380998" y="0"/>
                  </a:lnTo>
                  <a:cubicBezTo>
                    <a:pt x="423055" y="0"/>
                    <a:pt x="457200" y="34145"/>
                    <a:pt x="457200" y="76202"/>
                  </a:cubicBezTo>
                  <a:lnTo>
                    <a:pt x="457200" y="380998"/>
                  </a:lnTo>
                  <a:cubicBezTo>
                    <a:pt x="457200" y="423055"/>
                    <a:pt x="423055" y="457200"/>
                    <a:pt x="380998" y="457200"/>
                  </a:cubicBezTo>
                  <a:lnTo>
                    <a:pt x="76202" y="457200"/>
                  </a:lnTo>
                  <a:cubicBezTo>
                    <a:pt x="34145" y="457200"/>
                    <a:pt x="0" y="423055"/>
                    <a:pt x="0" y="380998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7" name="Shape 15"/>
            <p:cNvSpPr/>
            <p:nvPr/>
          </p:nvSpPr>
          <p:spPr>
            <a:xfrm>
              <a:off x="6624397" y="1771204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96364" y="89520"/>
                  </a:moveTo>
                  <a:cubicBezTo>
                    <a:pt x="192926" y="75724"/>
                    <a:pt x="186407" y="65321"/>
                    <a:pt x="172522" y="65321"/>
                  </a:cubicBezTo>
                  <a:lnTo>
                    <a:pt x="154618" y="65321"/>
                  </a:lnTo>
                  <a:lnTo>
                    <a:pt x="154618" y="86484"/>
                  </a:lnTo>
                  <a:cubicBezTo>
                    <a:pt x="154618" y="102915"/>
                    <a:pt x="140687" y="116756"/>
                    <a:pt x="124792" y="116756"/>
                  </a:cubicBezTo>
                  <a:lnTo>
                    <a:pt x="77108" y="116756"/>
                  </a:lnTo>
                  <a:cubicBezTo>
                    <a:pt x="64071" y="116756"/>
                    <a:pt x="53266" y="127918"/>
                    <a:pt x="53266" y="141000"/>
                  </a:cubicBezTo>
                  <a:lnTo>
                    <a:pt x="53266" y="186452"/>
                  </a:lnTo>
                  <a:cubicBezTo>
                    <a:pt x="53266" y="199400"/>
                    <a:pt x="64517" y="206990"/>
                    <a:pt x="77108" y="210696"/>
                  </a:cubicBezTo>
                  <a:cubicBezTo>
                    <a:pt x="92199" y="215116"/>
                    <a:pt x="106710" y="215920"/>
                    <a:pt x="124792" y="210696"/>
                  </a:cubicBezTo>
                  <a:cubicBezTo>
                    <a:pt x="136803" y="207213"/>
                    <a:pt x="148635" y="200204"/>
                    <a:pt x="148635" y="186452"/>
                  </a:cubicBezTo>
                  <a:lnTo>
                    <a:pt x="148635" y="168280"/>
                  </a:lnTo>
                  <a:lnTo>
                    <a:pt x="100995" y="168280"/>
                  </a:lnTo>
                  <a:lnTo>
                    <a:pt x="100995" y="162208"/>
                  </a:lnTo>
                  <a:lnTo>
                    <a:pt x="172522" y="162208"/>
                  </a:lnTo>
                  <a:cubicBezTo>
                    <a:pt x="186407" y="162208"/>
                    <a:pt x="191542" y="152519"/>
                    <a:pt x="196364" y="138008"/>
                  </a:cubicBezTo>
                  <a:cubicBezTo>
                    <a:pt x="201364" y="123051"/>
                    <a:pt x="201141" y="108674"/>
                    <a:pt x="196364" y="89520"/>
                  </a:cubicBezTo>
                  <a:close/>
                  <a:moveTo>
                    <a:pt x="127784" y="198552"/>
                  </a:moveTo>
                  <a:cubicBezTo>
                    <a:pt x="124386" y="198790"/>
                    <a:pt x="121139" y="197112"/>
                    <a:pt x="119367" y="194203"/>
                  </a:cubicBezTo>
                  <a:cubicBezTo>
                    <a:pt x="117595" y="191293"/>
                    <a:pt x="117595" y="187638"/>
                    <a:pt x="119367" y="184729"/>
                  </a:cubicBezTo>
                  <a:cubicBezTo>
                    <a:pt x="121139" y="181819"/>
                    <a:pt x="124386" y="180141"/>
                    <a:pt x="127784" y="180380"/>
                  </a:cubicBezTo>
                  <a:cubicBezTo>
                    <a:pt x="131182" y="180141"/>
                    <a:pt x="134429" y="181819"/>
                    <a:pt x="136201" y="184729"/>
                  </a:cubicBezTo>
                  <a:cubicBezTo>
                    <a:pt x="137972" y="187638"/>
                    <a:pt x="137972" y="191293"/>
                    <a:pt x="136201" y="194203"/>
                  </a:cubicBezTo>
                  <a:cubicBezTo>
                    <a:pt x="134429" y="197112"/>
                    <a:pt x="131182" y="198790"/>
                    <a:pt x="127784" y="198552"/>
                  </a:cubicBezTo>
                  <a:close/>
                  <a:moveTo>
                    <a:pt x="74920" y="110773"/>
                  </a:moveTo>
                  <a:lnTo>
                    <a:pt x="122605" y="110773"/>
                  </a:lnTo>
                  <a:cubicBezTo>
                    <a:pt x="135865" y="110773"/>
                    <a:pt x="146447" y="99834"/>
                    <a:pt x="146447" y="86529"/>
                  </a:cubicBezTo>
                  <a:lnTo>
                    <a:pt x="146447" y="41032"/>
                  </a:lnTo>
                  <a:cubicBezTo>
                    <a:pt x="146447" y="28084"/>
                    <a:pt x="135553" y="18395"/>
                    <a:pt x="122605" y="16207"/>
                  </a:cubicBezTo>
                  <a:cubicBezTo>
                    <a:pt x="106620" y="13573"/>
                    <a:pt x="89252" y="13707"/>
                    <a:pt x="74920" y="16252"/>
                  </a:cubicBezTo>
                  <a:cubicBezTo>
                    <a:pt x="54739" y="19824"/>
                    <a:pt x="51078" y="27280"/>
                    <a:pt x="51078" y="41077"/>
                  </a:cubicBezTo>
                  <a:lnTo>
                    <a:pt x="51078" y="59248"/>
                  </a:lnTo>
                  <a:lnTo>
                    <a:pt x="98807" y="59248"/>
                  </a:lnTo>
                  <a:lnTo>
                    <a:pt x="98807" y="65321"/>
                  </a:lnTo>
                  <a:lnTo>
                    <a:pt x="33174" y="65321"/>
                  </a:lnTo>
                  <a:cubicBezTo>
                    <a:pt x="19288" y="65321"/>
                    <a:pt x="7144" y="73670"/>
                    <a:pt x="3349" y="89520"/>
                  </a:cubicBezTo>
                  <a:cubicBezTo>
                    <a:pt x="-1027" y="107692"/>
                    <a:pt x="-1206" y="119033"/>
                    <a:pt x="3349" y="138008"/>
                  </a:cubicBezTo>
                  <a:cubicBezTo>
                    <a:pt x="6742" y="152117"/>
                    <a:pt x="14823" y="162208"/>
                    <a:pt x="28709" y="162208"/>
                  </a:cubicBezTo>
                  <a:lnTo>
                    <a:pt x="45095" y="162208"/>
                  </a:lnTo>
                  <a:lnTo>
                    <a:pt x="45095" y="140419"/>
                  </a:lnTo>
                  <a:cubicBezTo>
                    <a:pt x="45095" y="124658"/>
                    <a:pt x="58713" y="110773"/>
                    <a:pt x="74920" y="110773"/>
                  </a:cubicBezTo>
                  <a:close/>
                  <a:moveTo>
                    <a:pt x="71973" y="28888"/>
                  </a:moveTo>
                  <a:cubicBezTo>
                    <a:pt x="77000" y="28888"/>
                    <a:pt x="81082" y="32969"/>
                    <a:pt x="81082" y="37996"/>
                  </a:cubicBezTo>
                  <a:cubicBezTo>
                    <a:pt x="81082" y="43023"/>
                    <a:pt x="77000" y="47104"/>
                    <a:pt x="71973" y="47104"/>
                  </a:cubicBezTo>
                  <a:cubicBezTo>
                    <a:pt x="66946" y="47104"/>
                    <a:pt x="62865" y="43023"/>
                    <a:pt x="62865" y="37996"/>
                  </a:cubicBezTo>
                  <a:cubicBezTo>
                    <a:pt x="62865" y="32969"/>
                    <a:pt x="66946" y="28888"/>
                    <a:pt x="71973" y="288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7067263" y="1733141"/>
              <a:ext cx="733425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Triton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514822" y="2266476"/>
              <a:ext cx="5048155" cy="2781300"/>
            </a:xfrm>
            <a:custGeom>
              <a:avLst/>
              <a:gdLst/>
              <a:ahLst/>
              <a:cxnLst/>
              <a:rect l="l" t="t" r="r" b="b"/>
              <a:pathLst>
                <a:path w="5048155" h="2781300">
                  <a:moveTo>
                    <a:pt x="37910" y="0"/>
                  </a:moveTo>
                  <a:lnTo>
                    <a:pt x="4971948" y="0"/>
                  </a:lnTo>
                  <a:cubicBezTo>
                    <a:pt x="5014036" y="0"/>
                    <a:pt x="5048155" y="34119"/>
                    <a:pt x="5048155" y="76208"/>
                  </a:cubicBezTo>
                  <a:lnTo>
                    <a:pt x="5048155" y="2705092"/>
                  </a:lnTo>
                  <a:cubicBezTo>
                    <a:pt x="5048155" y="2747181"/>
                    <a:pt x="5014036" y="2781300"/>
                    <a:pt x="4971948" y="2781300"/>
                  </a:cubicBezTo>
                  <a:lnTo>
                    <a:pt x="37910" y="2781300"/>
                  </a:lnTo>
                  <a:cubicBezTo>
                    <a:pt x="16973" y="2781300"/>
                    <a:pt x="0" y="2764327"/>
                    <a:pt x="0" y="27433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20" name="Shape 18"/>
            <p:cNvSpPr/>
            <p:nvPr/>
          </p:nvSpPr>
          <p:spPr>
            <a:xfrm>
              <a:off x="6514822" y="2266476"/>
              <a:ext cx="37910" cy="2781300"/>
            </a:xfrm>
            <a:custGeom>
              <a:avLst/>
              <a:gdLst/>
              <a:ahLst/>
              <a:cxnLst/>
              <a:rect l="l" t="t" r="r" b="b"/>
              <a:pathLst>
                <a:path w="37910" h="2781300">
                  <a:moveTo>
                    <a:pt x="37910" y="0"/>
                  </a:moveTo>
                  <a:lnTo>
                    <a:pt x="37910" y="0"/>
                  </a:lnTo>
                  <a:lnTo>
                    <a:pt x="37910" y="2781300"/>
                  </a:lnTo>
                  <a:lnTo>
                    <a:pt x="37910" y="2781300"/>
                  </a:lnTo>
                  <a:cubicBezTo>
                    <a:pt x="16973" y="2781300"/>
                    <a:pt x="0" y="2764327"/>
                    <a:pt x="0" y="2743390"/>
                  </a:cubicBezTo>
                  <a:lnTo>
                    <a:pt x="0" y="37910"/>
                  </a:lnTo>
                  <a:cubicBezTo>
                    <a:pt x="0" y="16987"/>
                    <a:pt x="16987" y="0"/>
                    <a:pt x="3791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6686159" y="2418857"/>
              <a:ext cx="4800600" cy="24765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66666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# Get program ID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pid = tl.program_id(</a:t>
              </a:r>
              <a:r>
                <a:rPr lang="en-US" sz="1200" dirty="0">
                  <a:solidFill>
                    <a:srgbClr val="0099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0</a:t>
              </a: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)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66666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# Compute offsets (vectorized)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offsets = pid * BLOCK_SIZE \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          + tl.arange(</a:t>
              </a:r>
              <a:r>
                <a:rPr lang="en-US" sz="1200" dirty="0">
                  <a:solidFill>
                    <a:srgbClr val="0099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0</a:t>
              </a: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, BLOCK_SIZE)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666666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# Memory operations with mask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mask = offsets &lt; n_elements</a:t>
              </a:r>
              <a:endParaRPr lang="en-US" sz="1600" dirty="0"/>
            </a:p>
            <a:p>
              <a:pPr>
                <a:lnSpc>
                  <a:spcPct val="100000"/>
                </a:lnSpc>
              </a:pPr>
              <a:r>
                <a:rPr lang="en-US" sz="1200" dirty="0">
                  <a:solidFill>
                    <a:srgbClr val="1E2939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x = tl.load(ptr + offsets, mask=mask)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495866" y="5199655"/>
              <a:ext cx="51435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 Program-level abstraction, auto-managed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495866" y="5504418"/>
              <a:ext cx="51435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 Vectorized operations, processes multiple elements at once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495866" y="5809180"/>
              <a:ext cx="51435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• mask mechanism simplifies bounds handling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1373" y="618929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Official Benchmark</a:t>
            </a:r>
            <a:endParaRPr lang="en-US" sz="1600" dirty="0"/>
          </a:p>
        </p:txBody>
      </p:sp>
      <p:grpSp>
        <p:nvGrpSpPr>
          <p:cNvPr id="37" name="组合 36"/>
          <p:cNvGrpSpPr/>
          <p:nvPr/>
        </p:nvGrpSpPr>
        <p:grpSpPr>
          <a:xfrm>
            <a:off x="380956" y="1638374"/>
            <a:ext cx="5715044" cy="2781300"/>
            <a:chOff x="380956" y="1638374"/>
            <a:chExt cx="5715044" cy="2781300"/>
          </a:xfrm>
        </p:grpSpPr>
        <p:sp>
          <p:nvSpPr>
            <p:cNvPr id="5" name="Shape 3"/>
            <p:cNvSpPr/>
            <p:nvPr/>
          </p:nvSpPr>
          <p:spPr>
            <a:xfrm>
              <a:off x="380956" y="1638374"/>
              <a:ext cx="5562600" cy="2781300"/>
            </a:xfrm>
            <a:custGeom>
              <a:avLst/>
              <a:gdLst/>
              <a:ahLst/>
              <a:cxnLst/>
              <a:rect l="l" t="t" r="r" b="b"/>
              <a:pathLst>
                <a:path w="5562600" h="2781300">
                  <a:moveTo>
                    <a:pt x="114311" y="0"/>
                  </a:moveTo>
                  <a:lnTo>
                    <a:pt x="5448289" y="0"/>
                  </a:lnTo>
                  <a:cubicBezTo>
                    <a:pt x="5511421" y="0"/>
                    <a:pt x="5562600" y="51179"/>
                    <a:pt x="5562600" y="114311"/>
                  </a:cubicBezTo>
                  <a:lnTo>
                    <a:pt x="5562600" y="2666989"/>
                  </a:lnTo>
                  <a:cubicBezTo>
                    <a:pt x="5562600" y="2730121"/>
                    <a:pt x="5511421" y="2781300"/>
                    <a:pt x="5448289" y="2781300"/>
                  </a:cubicBezTo>
                  <a:lnTo>
                    <a:pt x="114311" y="2781300"/>
                  </a:lnTo>
                  <a:cubicBezTo>
                    <a:pt x="51179" y="2781300"/>
                    <a:pt x="0" y="2730121"/>
                    <a:pt x="0" y="2666989"/>
                  </a:cubicBezTo>
                  <a:lnTo>
                    <a:pt x="0" y="114311"/>
                  </a:lnTo>
                  <a:cubicBezTo>
                    <a:pt x="0" y="51179"/>
                    <a:pt x="51179" y="0"/>
                    <a:pt x="114311" y="0"/>
                  </a:cubicBez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609529" y="1866947"/>
              <a:ext cx="52006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Triton Performance Advantages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38104" y="232409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7150" y="142875"/>
                  </a:moveTo>
                  <a:lnTo>
                    <a:pt x="10939" y="142875"/>
                  </a:lnTo>
                  <a:cubicBezTo>
                    <a:pt x="-179" y="142875"/>
                    <a:pt x="-7010" y="130775"/>
                    <a:pt x="-1295" y="121221"/>
                  </a:cubicBezTo>
                  <a:lnTo>
                    <a:pt x="22324" y="81841"/>
                  </a:lnTo>
                  <a:cubicBezTo>
                    <a:pt x="26209" y="75367"/>
                    <a:pt x="33174" y="71438"/>
                    <a:pt x="40719" y="71438"/>
                  </a:cubicBezTo>
                  <a:lnTo>
                    <a:pt x="83135" y="71438"/>
                  </a:lnTo>
                  <a:cubicBezTo>
                    <a:pt x="117113" y="13886"/>
                    <a:pt x="167789" y="10984"/>
                    <a:pt x="201677" y="15939"/>
                  </a:cubicBezTo>
                  <a:cubicBezTo>
                    <a:pt x="207392" y="16788"/>
                    <a:pt x="211857" y="21253"/>
                    <a:pt x="212661" y="26923"/>
                  </a:cubicBezTo>
                  <a:cubicBezTo>
                    <a:pt x="217616" y="60811"/>
                    <a:pt x="214714" y="111487"/>
                    <a:pt x="157163" y="145465"/>
                  </a:cubicBezTo>
                  <a:lnTo>
                    <a:pt x="157163" y="187881"/>
                  </a:lnTo>
                  <a:cubicBezTo>
                    <a:pt x="157163" y="195426"/>
                    <a:pt x="153233" y="202391"/>
                    <a:pt x="146759" y="206276"/>
                  </a:cubicBezTo>
                  <a:lnTo>
                    <a:pt x="107379" y="229895"/>
                  </a:lnTo>
                  <a:cubicBezTo>
                    <a:pt x="97869" y="235610"/>
                    <a:pt x="85725" y="228734"/>
                    <a:pt x="85725" y="217661"/>
                  </a:cubicBezTo>
                  <a:lnTo>
                    <a:pt x="85725" y="171450"/>
                  </a:lnTo>
                  <a:cubicBezTo>
                    <a:pt x="85725" y="155689"/>
                    <a:pt x="72911" y="142875"/>
                    <a:pt x="57150" y="142875"/>
                  </a:cubicBezTo>
                  <a:lnTo>
                    <a:pt x="57105" y="142875"/>
                  </a:lnTo>
                  <a:close/>
                  <a:moveTo>
                    <a:pt x="178594" y="71438"/>
                  </a:moveTo>
                  <a:cubicBezTo>
                    <a:pt x="178594" y="59609"/>
                    <a:pt x="168991" y="50006"/>
                    <a:pt x="157163" y="50006"/>
                  </a:cubicBezTo>
                  <a:cubicBezTo>
                    <a:pt x="145334" y="50006"/>
                    <a:pt x="135731" y="59609"/>
                    <a:pt x="135731" y="71438"/>
                  </a:cubicBezTo>
                  <a:cubicBezTo>
                    <a:pt x="135731" y="83266"/>
                    <a:pt x="145334" y="92869"/>
                    <a:pt x="157163" y="92869"/>
                  </a:cubicBezTo>
                  <a:cubicBezTo>
                    <a:pt x="168991" y="92869"/>
                    <a:pt x="178594" y="83266"/>
                    <a:pt x="178594" y="71438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009514" y="2187118"/>
              <a:ext cx="288607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Performance close to CUDA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04797" y="2528715"/>
              <a:ext cx="4800665" cy="24763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Achieves handwritten CUDA performance levels through automatic optimization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23816" y="3009816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61092" y="536"/>
                  </a:moveTo>
                  <a:cubicBezTo>
                    <a:pt x="153501" y="-1652"/>
                    <a:pt x="145599" y="2768"/>
                    <a:pt x="143411" y="10358"/>
                  </a:cubicBezTo>
                  <a:lnTo>
                    <a:pt x="86261" y="210383"/>
                  </a:lnTo>
                  <a:cubicBezTo>
                    <a:pt x="84073" y="217974"/>
                    <a:pt x="88493" y="225876"/>
                    <a:pt x="96083" y="228064"/>
                  </a:cubicBezTo>
                  <a:cubicBezTo>
                    <a:pt x="103674" y="230252"/>
                    <a:pt x="111576" y="225832"/>
                    <a:pt x="113764" y="218242"/>
                  </a:cubicBezTo>
                  <a:lnTo>
                    <a:pt x="170914" y="18217"/>
                  </a:lnTo>
                  <a:cubicBezTo>
                    <a:pt x="173102" y="10626"/>
                    <a:pt x="168682" y="2724"/>
                    <a:pt x="161092" y="536"/>
                  </a:cubicBezTo>
                  <a:close/>
                  <a:moveTo>
                    <a:pt x="189934" y="61302"/>
                  </a:moveTo>
                  <a:cubicBezTo>
                    <a:pt x="184353" y="66883"/>
                    <a:pt x="184353" y="75947"/>
                    <a:pt x="189934" y="81528"/>
                  </a:cubicBezTo>
                  <a:lnTo>
                    <a:pt x="222706" y="114300"/>
                  </a:lnTo>
                  <a:lnTo>
                    <a:pt x="189934" y="147072"/>
                  </a:lnTo>
                  <a:cubicBezTo>
                    <a:pt x="184353" y="152653"/>
                    <a:pt x="184353" y="161717"/>
                    <a:pt x="189934" y="167298"/>
                  </a:cubicBezTo>
                  <a:cubicBezTo>
                    <a:pt x="195516" y="172879"/>
                    <a:pt x="204579" y="172879"/>
                    <a:pt x="210160" y="167298"/>
                  </a:cubicBezTo>
                  <a:lnTo>
                    <a:pt x="253023" y="124435"/>
                  </a:lnTo>
                  <a:cubicBezTo>
                    <a:pt x="258604" y="118854"/>
                    <a:pt x="258604" y="109791"/>
                    <a:pt x="253023" y="104209"/>
                  </a:cubicBezTo>
                  <a:lnTo>
                    <a:pt x="210160" y="61347"/>
                  </a:lnTo>
                  <a:cubicBezTo>
                    <a:pt x="204579" y="55766"/>
                    <a:pt x="195516" y="55766"/>
                    <a:pt x="189934" y="61347"/>
                  </a:cubicBezTo>
                  <a:close/>
                  <a:moveTo>
                    <a:pt x="67285" y="61302"/>
                  </a:moveTo>
                  <a:cubicBezTo>
                    <a:pt x="61704" y="55721"/>
                    <a:pt x="52641" y="55721"/>
                    <a:pt x="47059" y="61302"/>
                  </a:cubicBezTo>
                  <a:lnTo>
                    <a:pt x="4197" y="104165"/>
                  </a:lnTo>
                  <a:cubicBezTo>
                    <a:pt x="-1384" y="109746"/>
                    <a:pt x="-1384" y="118809"/>
                    <a:pt x="4197" y="124391"/>
                  </a:cubicBezTo>
                  <a:lnTo>
                    <a:pt x="47059" y="167253"/>
                  </a:lnTo>
                  <a:cubicBezTo>
                    <a:pt x="52641" y="172834"/>
                    <a:pt x="61704" y="172834"/>
                    <a:pt x="67285" y="167253"/>
                  </a:cubicBezTo>
                  <a:cubicBezTo>
                    <a:pt x="72866" y="161672"/>
                    <a:pt x="72866" y="152608"/>
                    <a:pt x="67285" y="147027"/>
                  </a:cubicBezTo>
                  <a:lnTo>
                    <a:pt x="34513" y="114300"/>
                  </a:lnTo>
                  <a:lnTo>
                    <a:pt x="67241" y="81528"/>
                  </a:lnTo>
                  <a:cubicBezTo>
                    <a:pt x="72822" y="75947"/>
                    <a:pt x="72822" y="66883"/>
                    <a:pt x="67241" y="61302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1009514" y="2971753"/>
              <a:ext cx="26003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High Development Efficiency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09514" y="3276515"/>
              <a:ext cx="5086486" cy="24763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Concise Python syntax significantly reduces development cost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09529" y="3695533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85693" y="93985"/>
                  </a:moveTo>
                  <a:cubicBezTo>
                    <a:pt x="191140" y="92512"/>
                    <a:pt x="196855" y="95101"/>
                    <a:pt x="199311" y="100146"/>
                  </a:cubicBezTo>
                  <a:lnTo>
                    <a:pt x="207615" y="116934"/>
                  </a:lnTo>
                  <a:cubicBezTo>
                    <a:pt x="212214" y="117559"/>
                    <a:pt x="216724" y="118809"/>
                    <a:pt x="220965" y="120551"/>
                  </a:cubicBezTo>
                  <a:lnTo>
                    <a:pt x="236592" y="110148"/>
                  </a:lnTo>
                  <a:cubicBezTo>
                    <a:pt x="241280" y="107022"/>
                    <a:pt x="247486" y="107647"/>
                    <a:pt x="251460" y="111621"/>
                  </a:cubicBezTo>
                  <a:lnTo>
                    <a:pt x="260033" y="120194"/>
                  </a:lnTo>
                  <a:cubicBezTo>
                    <a:pt x="264006" y="124167"/>
                    <a:pt x="264631" y="130418"/>
                    <a:pt x="261506" y="135062"/>
                  </a:cubicBezTo>
                  <a:lnTo>
                    <a:pt x="251103" y="150644"/>
                  </a:lnTo>
                  <a:cubicBezTo>
                    <a:pt x="251951" y="152742"/>
                    <a:pt x="252710" y="154930"/>
                    <a:pt x="253335" y="157207"/>
                  </a:cubicBezTo>
                  <a:cubicBezTo>
                    <a:pt x="253960" y="159484"/>
                    <a:pt x="254362" y="161717"/>
                    <a:pt x="254675" y="163994"/>
                  </a:cubicBezTo>
                  <a:lnTo>
                    <a:pt x="271507" y="172298"/>
                  </a:lnTo>
                  <a:cubicBezTo>
                    <a:pt x="276552" y="174799"/>
                    <a:pt x="279142" y="180514"/>
                    <a:pt x="277669" y="185916"/>
                  </a:cubicBezTo>
                  <a:lnTo>
                    <a:pt x="274543" y="197614"/>
                  </a:lnTo>
                  <a:cubicBezTo>
                    <a:pt x="273070" y="203016"/>
                    <a:pt x="268025" y="206678"/>
                    <a:pt x="262399" y="206320"/>
                  </a:cubicBezTo>
                  <a:lnTo>
                    <a:pt x="243647" y="205115"/>
                  </a:lnTo>
                  <a:cubicBezTo>
                    <a:pt x="240834" y="208731"/>
                    <a:pt x="237574" y="212080"/>
                    <a:pt x="233869" y="214938"/>
                  </a:cubicBezTo>
                  <a:lnTo>
                    <a:pt x="235074" y="233645"/>
                  </a:lnTo>
                  <a:cubicBezTo>
                    <a:pt x="235431" y="239271"/>
                    <a:pt x="231770" y="244361"/>
                    <a:pt x="226368" y="245790"/>
                  </a:cubicBezTo>
                  <a:lnTo>
                    <a:pt x="214670" y="248915"/>
                  </a:lnTo>
                  <a:cubicBezTo>
                    <a:pt x="209223" y="250388"/>
                    <a:pt x="203552" y="247799"/>
                    <a:pt x="201052" y="242754"/>
                  </a:cubicBezTo>
                  <a:lnTo>
                    <a:pt x="192747" y="225966"/>
                  </a:lnTo>
                  <a:cubicBezTo>
                    <a:pt x="188149" y="225341"/>
                    <a:pt x="183639" y="224091"/>
                    <a:pt x="179397" y="222349"/>
                  </a:cubicBezTo>
                  <a:lnTo>
                    <a:pt x="163770" y="232752"/>
                  </a:lnTo>
                  <a:cubicBezTo>
                    <a:pt x="159082" y="235878"/>
                    <a:pt x="152876" y="235253"/>
                    <a:pt x="148903" y="231279"/>
                  </a:cubicBezTo>
                  <a:lnTo>
                    <a:pt x="140330" y="222706"/>
                  </a:lnTo>
                  <a:cubicBezTo>
                    <a:pt x="136356" y="218733"/>
                    <a:pt x="135731" y="212527"/>
                    <a:pt x="138857" y="207838"/>
                  </a:cubicBezTo>
                  <a:lnTo>
                    <a:pt x="149260" y="192212"/>
                  </a:lnTo>
                  <a:cubicBezTo>
                    <a:pt x="148411" y="190113"/>
                    <a:pt x="147652" y="187925"/>
                    <a:pt x="147027" y="185648"/>
                  </a:cubicBezTo>
                  <a:cubicBezTo>
                    <a:pt x="146402" y="183371"/>
                    <a:pt x="146000" y="181094"/>
                    <a:pt x="145688" y="178862"/>
                  </a:cubicBezTo>
                  <a:lnTo>
                    <a:pt x="128855" y="170557"/>
                  </a:lnTo>
                  <a:cubicBezTo>
                    <a:pt x="123810" y="168057"/>
                    <a:pt x="121265" y="162342"/>
                    <a:pt x="122694" y="156939"/>
                  </a:cubicBezTo>
                  <a:lnTo>
                    <a:pt x="125819" y="145241"/>
                  </a:lnTo>
                  <a:cubicBezTo>
                    <a:pt x="127293" y="139839"/>
                    <a:pt x="132338" y="136178"/>
                    <a:pt x="137964" y="136535"/>
                  </a:cubicBezTo>
                  <a:lnTo>
                    <a:pt x="156671" y="137740"/>
                  </a:lnTo>
                  <a:cubicBezTo>
                    <a:pt x="159484" y="134124"/>
                    <a:pt x="162744" y="130775"/>
                    <a:pt x="166449" y="127918"/>
                  </a:cubicBezTo>
                  <a:lnTo>
                    <a:pt x="165244" y="109255"/>
                  </a:lnTo>
                  <a:cubicBezTo>
                    <a:pt x="164887" y="103629"/>
                    <a:pt x="168548" y="98539"/>
                    <a:pt x="173950" y="97110"/>
                  </a:cubicBezTo>
                  <a:lnTo>
                    <a:pt x="185648" y="93985"/>
                  </a:lnTo>
                  <a:close/>
                  <a:moveTo>
                    <a:pt x="200204" y="151805"/>
                  </a:moveTo>
                  <a:cubicBezTo>
                    <a:pt x="189361" y="151817"/>
                    <a:pt x="180568" y="160630"/>
                    <a:pt x="180581" y="171472"/>
                  </a:cubicBezTo>
                  <a:cubicBezTo>
                    <a:pt x="180593" y="182315"/>
                    <a:pt x="189406" y="191108"/>
                    <a:pt x="200248" y="191095"/>
                  </a:cubicBezTo>
                  <a:cubicBezTo>
                    <a:pt x="211091" y="191083"/>
                    <a:pt x="219884" y="182270"/>
                    <a:pt x="219871" y="171428"/>
                  </a:cubicBezTo>
                  <a:cubicBezTo>
                    <a:pt x="219859" y="160585"/>
                    <a:pt x="211046" y="151792"/>
                    <a:pt x="200204" y="151805"/>
                  </a:cubicBezTo>
                  <a:close/>
                  <a:moveTo>
                    <a:pt x="100414" y="-20315"/>
                  </a:moveTo>
                  <a:lnTo>
                    <a:pt x="112112" y="-17190"/>
                  </a:lnTo>
                  <a:cubicBezTo>
                    <a:pt x="117515" y="-15716"/>
                    <a:pt x="121176" y="-10626"/>
                    <a:pt x="120819" y="-5045"/>
                  </a:cubicBezTo>
                  <a:lnTo>
                    <a:pt x="119613" y="13618"/>
                  </a:lnTo>
                  <a:cubicBezTo>
                    <a:pt x="123319" y="16475"/>
                    <a:pt x="126578" y="19779"/>
                    <a:pt x="129391" y="23440"/>
                  </a:cubicBezTo>
                  <a:lnTo>
                    <a:pt x="148144" y="22235"/>
                  </a:lnTo>
                  <a:cubicBezTo>
                    <a:pt x="153725" y="21878"/>
                    <a:pt x="158814" y="25539"/>
                    <a:pt x="160288" y="30941"/>
                  </a:cubicBezTo>
                  <a:lnTo>
                    <a:pt x="163413" y="42639"/>
                  </a:lnTo>
                  <a:cubicBezTo>
                    <a:pt x="164842" y="48042"/>
                    <a:pt x="162297" y="53757"/>
                    <a:pt x="157252" y="56257"/>
                  </a:cubicBezTo>
                  <a:lnTo>
                    <a:pt x="140419" y="64562"/>
                  </a:lnTo>
                  <a:cubicBezTo>
                    <a:pt x="140107" y="66839"/>
                    <a:pt x="139660" y="69116"/>
                    <a:pt x="139080" y="71348"/>
                  </a:cubicBezTo>
                  <a:cubicBezTo>
                    <a:pt x="138499" y="73581"/>
                    <a:pt x="137696" y="75813"/>
                    <a:pt x="136847" y="77912"/>
                  </a:cubicBezTo>
                  <a:lnTo>
                    <a:pt x="147251" y="93538"/>
                  </a:lnTo>
                  <a:cubicBezTo>
                    <a:pt x="150376" y="98227"/>
                    <a:pt x="149751" y="104433"/>
                    <a:pt x="145777" y="108406"/>
                  </a:cubicBezTo>
                  <a:lnTo>
                    <a:pt x="137205" y="116979"/>
                  </a:lnTo>
                  <a:cubicBezTo>
                    <a:pt x="133231" y="120953"/>
                    <a:pt x="127025" y="121578"/>
                    <a:pt x="122337" y="118452"/>
                  </a:cubicBezTo>
                  <a:lnTo>
                    <a:pt x="106710" y="108049"/>
                  </a:lnTo>
                  <a:cubicBezTo>
                    <a:pt x="102468" y="109791"/>
                    <a:pt x="97959" y="111041"/>
                    <a:pt x="93360" y="111666"/>
                  </a:cubicBezTo>
                  <a:lnTo>
                    <a:pt x="85055" y="128454"/>
                  </a:lnTo>
                  <a:cubicBezTo>
                    <a:pt x="82555" y="133499"/>
                    <a:pt x="76840" y="136044"/>
                    <a:pt x="71438" y="134615"/>
                  </a:cubicBezTo>
                  <a:lnTo>
                    <a:pt x="59740" y="131490"/>
                  </a:lnTo>
                  <a:cubicBezTo>
                    <a:pt x="54293" y="130016"/>
                    <a:pt x="50676" y="124926"/>
                    <a:pt x="51033" y="119345"/>
                  </a:cubicBezTo>
                  <a:lnTo>
                    <a:pt x="52239" y="100638"/>
                  </a:lnTo>
                  <a:cubicBezTo>
                    <a:pt x="48533" y="97780"/>
                    <a:pt x="45274" y="94476"/>
                    <a:pt x="42461" y="90815"/>
                  </a:cubicBezTo>
                  <a:lnTo>
                    <a:pt x="23708" y="92020"/>
                  </a:lnTo>
                  <a:cubicBezTo>
                    <a:pt x="18127" y="92378"/>
                    <a:pt x="13037" y="88716"/>
                    <a:pt x="11564" y="83314"/>
                  </a:cubicBezTo>
                  <a:lnTo>
                    <a:pt x="8439" y="71616"/>
                  </a:lnTo>
                  <a:cubicBezTo>
                    <a:pt x="7010" y="66214"/>
                    <a:pt x="9555" y="60499"/>
                    <a:pt x="14600" y="57998"/>
                  </a:cubicBezTo>
                  <a:lnTo>
                    <a:pt x="31433" y="49694"/>
                  </a:lnTo>
                  <a:cubicBezTo>
                    <a:pt x="31745" y="47417"/>
                    <a:pt x="32192" y="45184"/>
                    <a:pt x="32772" y="42907"/>
                  </a:cubicBezTo>
                  <a:cubicBezTo>
                    <a:pt x="33397" y="40630"/>
                    <a:pt x="34111" y="38442"/>
                    <a:pt x="35004" y="36344"/>
                  </a:cubicBezTo>
                  <a:lnTo>
                    <a:pt x="24601" y="20762"/>
                  </a:lnTo>
                  <a:cubicBezTo>
                    <a:pt x="21476" y="16073"/>
                    <a:pt x="22101" y="9867"/>
                    <a:pt x="26075" y="5894"/>
                  </a:cubicBezTo>
                  <a:lnTo>
                    <a:pt x="34647" y="-2679"/>
                  </a:lnTo>
                  <a:cubicBezTo>
                    <a:pt x="38621" y="-6653"/>
                    <a:pt x="44827" y="-7278"/>
                    <a:pt x="49515" y="-4152"/>
                  </a:cubicBezTo>
                  <a:lnTo>
                    <a:pt x="65142" y="6251"/>
                  </a:lnTo>
                  <a:cubicBezTo>
                    <a:pt x="69384" y="4509"/>
                    <a:pt x="73893" y="3259"/>
                    <a:pt x="78492" y="2634"/>
                  </a:cubicBezTo>
                  <a:lnTo>
                    <a:pt x="86797" y="-14154"/>
                  </a:lnTo>
                  <a:cubicBezTo>
                    <a:pt x="89297" y="-19199"/>
                    <a:pt x="94967" y="-21744"/>
                    <a:pt x="100414" y="-20315"/>
                  </a:cubicBezTo>
                  <a:close/>
                  <a:moveTo>
                    <a:pt x="85904" y="37505"/>
                  </a:moveTo>
                  <a:cubicBezTo>
                    <a:pt x="75061" y="37505"/>
                    <a:pt x="66258" y="46307"/>
                    <a:pt x="66258" y="57150"/>
                  </a:cubicBezTo>
                  <a:cubicBezTo>
                    <a:pt x="66258" y="67993"/>
                    <a:pt x="75061" y="76795"/>
                    <a:pt x="85904" y="76795"/>
                  </a:cubicBezTo>
                  <a:cubicBezTo>
                    <a:pt x="96746" y="76795"/>
                    <a:pt x="105549" y="67993"/>
                    <a:pt x="105549" y="57150"/>
                  </a:cubicBezTo>
                  <a:cubicBezTo>
                    <a:pt x="105549" y="46307"/>
                    <a:pt x="96746" y="37505"/>
                    <a:pt x="85904" y="37505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1009514" y="3657470"/>
              <a:ext cx="2828925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Automatic Optimization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009514" y="3962241"/>
              <a:ext cx="5086380" cy="40002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Compiler automatically performs memory access optimization, vectorization, and more</a:t>
              </a:r>
              <a:endParaRPr lang="en-US" sz="16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6248338" y="1638374"/>
            <a:ext cx="5562600" cy="2781300"/>
          </a:xfrm>
          <a:custGeom>
            <a:avLst/>
            <a:gdLst/>
            <a:ahLst/>
            <a:cxnLst/>
            <a:rect l="l" t="t" r="r" b="b"/>
            <a:pathLst>
              <a:path w="5562600" h="2781300">
                <a:moveTo>
                  <a:pt x="114311" y="0"/>
                </a:moveTo>
                <a:lnTo>
                  <a:pt x="5448289" y="0"/>
                </a:lnTo>
                <a:cubicBezTo>
                  <a:pt x="5511421" y="0"/>
                  <a:pt x="5562600" y="51179"/>
                  <a:pt x="5562600" y="114311"/>
                </a:cubicBezTo>
                <a:lnTo>
                  <a:pt x="5562600" y="2666989"/>
                </a:lnTo>
                <a:cubicBezTo>
                  <a:pt x="5562600" y="2730121"/>
                  <a:pt x="5511421" y="2781300"/>
                  <a:pt x="5448289" y="2781300"/>
                </a:cubicBezTo>
                <a:lnTo>
                  <a:pt x="114311" y="2781300"/>
                </a:lnTo>
                <a:cubicBezTo>
                  <a:pt x="51179" y="2781300"/>
                  <a:pt x="0" y="2730121"/>
                  <a:pt x="0" y="26669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9FAFB"/>
          </a:solidFill>
        </p:spPr>
      </p:sp>
      <p:grpSp>
        <p:nvGrpSpPr>
          <p:cNvPr id="38" name="组合 37"/>
          <p:cNvGrpSpPr/>
          <p:nvPr/>
        </p:nvGrpSpPr>
        <p:grpSpPr>
          <a:xfrm>
            <a:off x="6429286" y="1924106"/>
            <a:ext cx="5231906" cy="2209493"/>
            <a:chOff x="6429286" y="1924106"/>
            <a:chExt cx="5231906" cy="2209493"/>
          </a:xfrm>
        </p:grpSpPr>
        <p:sp>
          <p:nvSpPr>
            <p:cNvPr id="17" name="Text 15"/>
            <p:cNvSpPr/>
            <p:nvPr/>
          </p:nvSpPr>
          <p:spPr>
            <a:xfrm>
              <a:off x="6429286" y="1924106"/>
              <a:ext cx="520065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101828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Performance Comparison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476911" y="2343197"/>
              <a:ext cx="50482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CUDA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1206461" y="2343197"/>
              <a:ext cx="44767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100%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476911" y="2609831"/>
              <a:ext cx="5105400" cy="228600"/>
            </a:xfrm>
            <a:custGeom>
              <a:avLst/>
              <a:gdLst/>
              <a:ahLst/>
              <a:cxnLst/>
              <a:rect l="l" t="t" r="r" b="b"/>
              <a:pathLst>
                <a:path w="5105400" h="228600">
                  <a:moveTo>
                    <a:pt x="114300" y="0"/>
                  </a:moveTo>
                  <a:lnTo>
                    <a:pt x="4991100" y="0"/>
                  </a:lnTo>
                  <a:cubicBezTo>
                    <a:pt x="5054184" y="0"/>
                    <a:pt x="5105400" y="51216"/>
                    <a:pt x="5105400" y="114300"/>
                  </a:cubicBezTo>
                  <a:lnTo>
                    <a:pt x="5105400" y="114300"/>
                  </a:lnTo>
                  <a:cubicBezTo>
                    <a:pt x="5105400" y="177384"/>
                    <a:pt x="5054184" y="228600"/>
                    <a:pt x="4991100" y="228600"/>
                  </a:cubicBezTo>
                  <a:lnTo>
                    <a:pt x="114300" y="228600"/>
                  </a:lnTo>
                  <a:cubicBezTo>
                    <a:pt x="51216" y="228600"/>
                    <a:pt x="0" y="177384"/>
                    <a:pt x="0" y="114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21" name="Shape 19"/>
            <p:cNvSpPr/>
            <p:nvPr/>
          </p:nvSpPr>
          <p:spPr>
            <a:xfrm>
              <a:off x="6476911" y="2609831"/>
              <a:ext cx="5105400" cy="228600"/>
            </a:xfrm>
            <a:custGeom>
              <a:avLst/>
              <a:gdLst/>
              <a:ahLst/>
              <a:cxnLst/>
              <a:rect l="l" t="t" r="r" b="b"/>
              <a:pathLst>
                <a:path w="5105400" h="228600">
                  <a:moveTo>
                    <a:pt x="114300" y="0"/>
                  </a:moveTo>
                  <a:lnTo>
                    <a:pt x="4991100" y="0"/>
                  </a:lnTo>
                  <a:cubicBezTo>
                    <a:pt x="5054184" y="0"/>
                    <a:pt x="5105400" y="51216"/>
                    <a:pt x="5105400" y="114300"/>
                  </a:cubicBezTo>
                  <a:lnTo>
                    <a:pt x="5105400" y="114300"/>
                  </a:lnTo>
                  <a:cubicBezTo>
                    <a:pt x="5105400" y="177384"/>
                    <a:pt x="5054184" y="228600"/>
                    <a:pt x="4991100" y="228600"/>
                  </a:cubicBezTo>
                  <a:lnTo>
                    <a:pt x="114300" y="228600"/>
                  </a:lnTo>
                  <a:cubicBezTo>
                    <a:pt x="51216" y="228600"/>
                    <a:pt x="0" y="177384"/>
                    <a:pt x="0" y="114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4A5565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6476911" y="2990785"/>
              <a:ext cx="485775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Triton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0956342" y="2990785"/>
              <a:ext cx="70485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8B0000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95-100%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476911" y="3257410"/>
              <a:ext cx="5105400" cy="228600"/>
            </a:xfrm>
            <a:custGeom>
              <a:avLst/>
              <a:gdLst/>
              <a:ahLst/>
              <a:cxnLst/>
              <a:rect l="l" t="t" r="r" b="b"/>
              <a:pathLst>
                <a:path w="5105400" h="228600">
                  <a:moveTo>
                    <a:pt x="114300" y="0"/>
                  </a:moveTo>
                  <a:lnTo>
                    <a:pt x="4991100" y="0"/>
                  </a:lnTo>
                  <a:cubicBezTo>
                    <a:pt x="5054184" y="0"/>
                    <a:pt x="5105400" y="51216"/>
                    <a:pt x="5105400" y="114300"/>
                  </a:cubicBezTo>
                  <a:lnTo>
                    <a:pt x="5105400" y="114300"/>
                  </a:lnTo>
                  <a:cubicBezTo>
                    <a:pt x="5105400" y="177384"/>
                    <a:pt x="5054184" y="228600"/>
                    <a:pt x="4991100" y="228600"/>
                  </a:cubicBezTo>
                  <a:lnTo>
                    <a:pt x="114300" y="228600"/>
                  </a:lnTo>
                  <a:cubicBezTo>
                    <a:pt x="51216" y="228600"/>
                    <a:pt x="0" y="177384"/>
                    <a:pt x="0" y="114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6476911" y="3257410"/>
              <a:ext cx="4848225" cy="228600"/>
            </a:xfrm>
            <a:custGeom>
              <a:avLst/>
              <a:gdLst/>
              <a:ahLst/>
              <a:cxnLst/>
              <a:rect l="l" t="t" r="r" b="b"/>
              <a:pathLst>
                <a:path w="4848225" h="228600">
                  <a:moveTo>
                    <a:pt x="114300" y="0"/>
                  </a:moveTo>
                  <a:lnTo>
                    <a:pt x="4733925" y="0"/>
                  </a:lnTo>
                  <a:cubicBezTo>
                    <a:pt x="4797009" y="0"/>
                    <a:pt x="4848225" y="51216"/>
                    <a:pt x="4848225" y="114300"/>
                  </a:cubicBezTo>
                  <a:lnTo>
                    <a:pt x="4848225" y="114300"/>
                  </a:lnTo>
                  <a:cubicBezTo>
                    <a:pt x="4848225" y="177384"/>
                    <a:pt x="4797009" y="228600"/>
                    <a:pt x="4733925" y="228600"/>
                  </a:cubicBezTo>
                  <a:lnTo>
                    <a:pt x="114300" y="228600"/>
                  </a:lnTo>
                  <a:cubicBezTo>
                    <a:pt x="51216" y="228600"/>
                    <a:pt x="0" y="177384"/>
                    <a:pt x="0" y="114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8B0000"/>
            </a:solidFill>
          </p:spPr>
        </p:sp>
        <p:sp>
          <p:nvSpPr>
            <p:cNvPr id="26" name="Text 24"/>
            <p:cNvSpPr/>
            <p:nvPr/>
          </p:nvSpPr>
          <p:spPr>
            <a:xfrm>
              <a:off x="6476911" y="3638373"/>
              <a:ext cx="1636088" cy="20945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364153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PyTorch (eager)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1011356" y="3638373"/>
              <a:ext cx="6477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4A5565"/>
                  </a:solidFill>
                  <a:latin typeface="MiSans" panose="00000500000000000000" pitchFamily="34" charset="-122"/>
                  <a:ea typeface="MiSans" panose="00000500000000000000" pitchFamily="34" charset="-122"/>
                  <a:cs typeface="MiSans" panose="00000500000000000000" pitchFamily="34" charset="-120"/>
                </a:rPr>
                <a:t>60-80%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476911" y="3904999"/>
              <a:ext cx="5105400" cy="228600"/>
            </a:xfrm>
            <a:custGeom>
              <a:avLst/>
              <a:gdLst/>
              <a:ahLst/>
              <a:cxnLst/>
              <a:rect l="l" t="t" r="r" b="b"/>
              <a:pathLst>
                <a:path w="5105400" h="228600">
                  <a:moveTo>
                    <a:pt x="114300" y="0"/>
                  </a:moveTo>
                  <a:lnTo>
                    <a:pt x="4991100" y="0"/>
                  </a:lnTo>
                  <a:cubicBezTo>
                    <a:pt x="5054184" y="0"/>
                    <a:pt x="5105400" y="51216"/>
                    <a:pt x="5105400" y="114300"/>
                  </a:cubicBezTo>
                  <a:lnTo>
                    <a:pt x="5105400" y="114300"/>
                  </a:lnTo>
                  <a:cubicBezTo>
                    <a:pt x="5105400" y="177384"/>
                    <a:pt x="5054184" y="228600"/>
                    <a:pt x="4991100" y="228600"/>
                  </a:cubicBezTo>
                  <a:lnTo>
                    <a:pt x="114300" y="228600"/>
                  </a:lnTo>
                  <a:cubicBezTo>
                    <a:pt x="51216" y="228600"/>
                    <a:pt x="0" y="177384"/>
                    <a:pt x="0" y="114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id="29" name="Shape 27"/>
            <p:cNvSpPr/>
            <p:nvPr/>
          </p:nvSpPr>
          <p:spPr>
            <a:xfrm>
              <a:off x="6476911" y="3904999"/>
              <a:ext cx="3571875" cy="228600"/>
            </a:xfrm>
            <a:custGeom>
              <a:avLst/>
              <a:gdLst/>
              <a:ahLst/>
              <a:cxnLst/>
              <a:rect l="l" t="t" r="r" b="b"/>
              <a:pathLst>
                <a:path w="3571875" h="228600">
                  <a:moveTo>
                    <a:pt x="114300" y="0"/>
                  </a:moveTo>
                  <a:lnTo>
                    <a:pt x="3457575" y="0"/>
                  </a:lnTo>
                  <a:cubicBezTo>
                    <a:pt x="3520659" y="0"/>
                    <a:pt x="3571875" y="51216"/>
                    <a:pt x="3571875" y="114300"/>
                  </a:cubicBezTo>
                  <a:lnTo>
                    <a:pt x="3571875" y="114300"/>
                  </a:lnTo>
                  <a:cubicBezTo>
                    <a:pt x="3571875" y="177384"/>
                    <a:pt x="3520659" y="228600"/>
                    <a:pt x="3457575" y="228600"/>
                  </a:cubicBezTo>
                  <a:lnTo>
                    <a:pt x="114300" y="228600"/>
                  </a:lnTo>
                  <a:cubicBezTo>
                    <a:pt x="51216" y="228600"/>
                    <a:pt x="0" y="177384"/>
                    <a:pt x="0" y="1143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99A1AF"/>
            </a:solidFill>
          </p:spPr>
        </p:sp>
      </p:grpSp>
      <p:sp>
        <p:nvSpPr>
          <p:cNvPr id="30" name="Shape 28"/>
          <p:cNvSpPr/>
          <p:nvPr/>
        </p:nvSpPr>
        <p:spPr>
          <a:xfrm>
            <a:off x="399911" y="4647958"/>
            <a:ext cx="11410855" cy="1295400"/>
          </a:xfrm>
          <a:custGeom>
            <a:avLst/>
            <a:gdLst/>
            <a:ahLst/>
            <a:cxnLst/>
            <a:rect l="l" t="t" r="r" b="b"/>
            <a:pathLst>
              <a:path w="11410855" h="1295400">
                <a:moveTo>
                  <a:pt x="37910" y="0"/>
                </a:moveTo>
                <a:lnTo>
                  <a:pt x="11296549" y="0"/>
                </a:lnTo>
                <a:cubicBezTo>
                  <a:pt x="11359679" y="0"/>
                  <a:pt x="11410855" y="51177"/>
                  <a:pt x="11410855" y="114306"/>
                </a:cubicBezTo>
                <a:lnTo>
                  <a:pt x="11410855" y="1181094"/>
                </a:lnTo>
                <a:cubicBezTo>
                  <a:pt x="11410855" y="1244223"/>
                  <a:pt x="11359679" y="1295400"/>
                  <a:pt x="11296549" y="1295400"/>
                </a:cubicBezTo>
                <a:lnTo>
                  <a:pt x="37910" y="1295400"/>
                </a:lnTo>
                <a:cubicBezTo>
                  <a:pt x="16973" y="1295400"/>
                  <a:pt x="0" y="1278427"/>
                  <a:pt x="0" y="1257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Shape 29"/>
          <p:cNvSpPr/>
          <p:nvPr/>
        </p:nvSpPr>
        <p:spPr>
          <a:xfrm>
            <a:off x="399911" y="4647958"/>
            <a:ext cx="37910" cy="1295400"/>
          </a:xfrm>
          <a:custGeom>
            <a:avLst/>
            <a:gdLst/>
            <a:ahLst/>
            <a:cxnLst/>
            <a:rect l="l" t="t" r="r" b="b"/>
            <a:pathLst>
              <a:path w="37910" h="1295400">
                <a:moveTo>
                  <a:pt x="37910" y="0"/>
                </a:moveTo>
                <a:lnTo>
                  <a:pt x="37910" y="0"/>
                </a:lnTo>
                <a:lnTo>
                  <a:pt x="37910" y="1295400"/>
                </a:lnTo>
                <a:lnTo>
                  <a:pt x="37910" y="1295400"/>
                </a:lnTo>
                <a:cubicBezTo>
                  <a:pt x="16973" y="1295400"/>
                  <a:pt x="0" y="1278427"/>
                  <a:pt x="0" y="1257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2" name="Shape 30"/>
          <p:cNvSpPr/>
          <p:nvPr/>
        </p:nvSpPr>
        <p:spPr>
          <a:xfrm>
            <a:off x="685539" y="515271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25016" y="89297"/>
                </a:moveTo>
                <a:cubicBezTo>
                  <a:pt x="125016" y="79440"/>
                  <a:pt x="133018" y="71438"/>
                  <a:pt x="142875" y="71438"/>
                </a:cubicBezTo>
                <a:cubicBezTo>
                  <a:pt x="152732" y="71438"/>
                  <a:pt x="160734" y="79440"/>
                  <a:pt x="160734" y="89297"/>
                </a:cubicBezTo>
                <a:cubicBezTo>
                  <a:pt x="160734" y="99154"/>
                  <a:pt x="152732" y="107156"/>
                  <a:pt x="142875" y="107156"/>
                </a:cubicBezTo>
                <a:cubicBezTo>
                  <a:pt x="133018" y="107156"/>
                  <a:pt x="125016" y="99154"/>
                  <a:pt x="125016" y="89297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3"/>
                  <a:pt x="165199" y="214313"/>
                </a:cubicBezTo>
                <a:lnTo>
                  <a:pt x="120551" y="214313"/>
                </a:lnTo>
                <a:cubicBezTo>
                  <a:pt x="113128" y="214313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5" y="187523"/>
                </a:lnTo>
                <a:lnTo>
                  <a:pt x="133945" y="151805"/>
                </a:lnTo>
                <a:lnTo>
                  <a:pt x="120551" y="151805"/>
                </a:lnTo>
                <a:cubicBezTo>
                  <a:pt x="113128" y="151805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3" name="Text 31"/>
          <p:cNvSpPr/>
          <p:nvPr/>
        </p:nvSpPr>
        <p:spPr>
          <a:xfrm>
            <a:off x="1157009" y="4876530"/>
            <a:ext cx="6191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Reference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57009" y="5219430"/>
            <a:ext cx="10635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The bottom of the official Triton tutorial page provides detailed performance comparison charts for various operators across different hardware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57009" y="5524193"/>
            <a:ext cx="6162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https://triton-lang.org/main/getting-started/tutorials/01-vector-add.html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9540" y="650704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Vector Add </a:t>
            </a:r>
            <a:r>
              <a:rPr lang="en-US" sz="2250" b="1" dirty="0" err="1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Workflow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74739" y="1174525"/>
            <a:ext cx="1841500" cy="730250"/>
          </a:xfrm>
          <a:custGeom>
            <a:avLst/>
            <a:gdLst/>
            <a:ahLst/>
            <a:cxnLst/>
            <a:rect l="l" t="t" r="r" b="b"/>
            <a:pathLst>
              <a:path w="1841500" h="730250">
                <a:moveTo>
                  <a:pt x="95247" y="0"/>
                </a:moveTo>
                <a:lnTo>
                  <a:pt x="1746253" y="0"/>
                </a:lnTo>
                <a:cubicBezTo>
                  <a:pt x="1798857" y="0"/>
                  <a:pt x="1841500" y="42643"/>
                  <a:pt x="1841500" y="95247"/>
                </a:cubicBezTo>
                <a:lnTo>
                  <a:pt x="1841500" y="635003"/>
                </a:lnTo>
                <a:cubicBezTo>
                  <a:pt x="1841500" y="687607"/>
                  <a:pt x="1798857" y="730250"/>
                  <a:pt x="1746253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81084" y="1301510"/>
            <a:ext cx="1428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program_id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6959" y="1587136"/>
            <a:ext cx="1397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Get the current program 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08656" y="2031581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Shape 7"/>
          <p:cNvSpPr/>
          <p:nvPr/>
        </p:nvSpPr>
        <p:spPr>
          <a:xfrm>
            <a:off x="4926137" y="2396675"/>
            <a:ext cx="2341563" cy="730250"/>
          </a:xfrm>
          <a:custGeom>
            <a:avLst/>
            <a:gdLst/>
            <a:ahLst/>
            <a:cxnLst/>
            <a:rect l="l" t="t" r="r" b="b"/>
            <a:pathLst>
              <a:path w="2341563" h="730250">
                <a:moveTo>
                  <a:pt x="95247" y="0"/>
                </a:moveTo>
                <a:lnTo>
                  <a:pt x="2246316" y="0"/>
                </a:lnTo>
                <a:cubicBezTo>
                  <a:pt x="2298919" y="0"/>
                  <a:pt x="2341563" y="42643"/>
                  <a:pt x="2341563" y="95247"/>
                </a:cubicBezTo>
                <a:lnTo>
                  <a:pt x="2341563" y="635003"/>
                </a:lnTo>
                <a:cubicBezTo>
                  <a:pt x="2341563" y="687607"/>
                  <a:pt x="2298919" y="730250"/>
                  <a:pt x="2246316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364153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11534" y="2540943"/>
            <a:ext cx="221340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block start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48357" y="2872859"/>
            <a:ext cx="1897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block_start = pid * BLOCK_SIZE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8656" y="3253739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Shape 11"/>
          <p:cNvSpPr/>
          <p:nvPr/>
        </p:nvSpPr>
        <p:spPr>
          <a:xfrm>
            <a:off x="4442384" y="3618833"/>
            <a:ext cx="3309938" cy="730250"/>
          </a:xfrm>
          <a:custGeom>
            <a:avLst/>
            <a:gdLst/>
            <a:ahLst/>
            <a:cxnLst/>
            <a:rect l="l" t="t" r="r" b="b"/>
            <a:pathLst>
              <a:path w="3309938" h="730250">
                <a:moveTo>
                  <a:pt x="95247" y="0"/>
                </a:moveTo>
                <a:lnTo>
                  <a:pt x="3214691" y="0"/>
                </a:lnTo>
                <a:cubicBezTo>
                  <a:pt x="3267294" y="0"/>
                  <a:pt x="3309938" y="42643"/>
                  <a:pt x="3309938" y="95247"/>
                </a:cubicBezTo>
                <a:lnTo>
                  <a:pt x="3309938" y="635003"/>
                </a:lnTo>
                <a:cubicBezTo>
                  <a:pt x="3309938" y="687607"/>
                  <a:pt x="3267294" y="730250"/>
                  <a:pt x="3214691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364153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8729" y="3745818"/>
            <a:ext cx="28971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Generate offsets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4604" y="4031444"/>
            <a:ext cx="308771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offsets = block_start + tl.arange(0, BLOCK_SIZE)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8656" y="4475890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Shape 15"/>
          <p:cNvSpPr/>
          <p:nvPr/>
        </p:nvSpPr>
        <p:spPr>
          <a:xfrm>
            <a:off x="5011534" y="4840990"/>
            <a:ext cx="2166938" cy="825431"/>
          </a:xfrm>
          <a:custGeom>
            <a:avLst/>
            <a:gdLst/>
            <a:ahLst/>
            <a:cxnLst/>
            <a:rect l="l" t="t" r="r" b="b"/>
            <a:pathLst>
              <a:path w="2166938" h="730250">
                <a:moveTo>
                  <a:pt x="95247" y="0"/>
                </a:moveTo>
                <a:lnTo>
                  <a:pt x="2071691" y="0"/>
                </a:lnTo>
                <a:cubicBezTo>
                  <a:pt x="2124294" y="0"/>
                  <a:pt x="2166938" y="42643"/>
                  <a:pt x="2166938" y="95247"/>
                </a:cubicBezTo>
                <a:lnTo>
                  <a:pt x="2166938" y="635003"/>
                </a:lnTo>
                <a:cubicBezTo>
                  <a:pt x="2166938" y="687607"/>
                  <a:pt x="2124294" y="730250"/>
                  <a:pt x="2071691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7880" y="5004342"/>
            <a:ext cx="17541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mask prevents out-of-bounds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74739" y="5418054"/>
            <a:ext cx="1891201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mask = offsets &lt; n_elements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8656" y="5698048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Shape 19"/>
          <p:cNvSpPr/>
          <p:nvPr/>
        </p:nvSpPr>
        <p:spPr>
          <a:xfrm>
            <a:off x="4730229" y="6063142"/>
            <a:ext cx="2730500" cy="730250"/>
          </a:xfrm>
          <a:custGeom>
            <a:avLst/>
            <a:gdLst/>
            <a:ahLst/>
            <a:cxnLst/>
            <a:rect l="l" t="t" r="r" b="b"/>
            <a:pathLst>
              <a:path w="2730500" h="730250">
                <a:moveTo>
                  <a:pt x="95247" y="0"/>
                </a:moveTo>
                <a:lnTo>
                  <a:pt x="2635253" y="0"/>
                </a:lnTo>
                <a:cubicBezTo>
                  <a:pt x="2687857" y="0"/>
                  <a:pt x="2730500" y="42643"/>
                  <a:pt x="2730500" y="95247"/>
                </a:cubicBezTo>
                <a:lnTo>
                  <a:pt x="2730500" y="635003"/>
                </a:lnTo>
                <a:cubicBezTo>
                  <a:pt x="2730500" y="687607"/>
                  <a:pt x="2687857" y="730250"/>
                  <a:pt x="2635253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364153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6575" y="6190126"/>
            <a:ext cx="2317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52449" y="6475752"/>
            <a:ext cx="2508279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x = tl.load(x_ptr + offsets, mask=mask)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5528" y="647588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err="1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Core Concepts: </a:t>
            </a:r>
            <a:r>
              <a:rPr lang="zh-CN" altLang="en-US" sz="270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433" y="1933946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4" y="0"/>
                </a:lnTo>
                <a:cubicBezTo>
                  <a:pt x="2672881" y="0"/>
                  <a:pt x="2724055" y="51174"/>
                  <a:pt x="2724055" y="114301"/>
                </a:cubicBezTo>
                <a:lnTo>
                  <a:pt x="2724055" y="1657254"/>
                </a:lnTo>
                <a:cubicBezTo>
                  <a:pt x="2724055" y="1720381"/>
                  <a:pt x="2672881" y="1771555"/>
                  <a:pt x="2609754" y="1771555"/>
                </a:cubicBezTo>
                <a:lnTo>
                  <a:pt x="114301" y="1771555"/>
                </a:lnTo>
                <a:cubicBezTo>
                  <a:pt x="51174" y="1771555"/>
                  <a:pt x="0" y="1720381"/>
                  <a:pt x="0" y="16572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5838" y="21338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Shape 5"/>
          <p:cNvSpPr/>
          <p:nvPr/>
        </p:nvSpPr>
        <p:spPr>
          <a:xfrm>
            <a:off x="1638214" y="22862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146" y="-1116"/>
                </a:moveTo>
                <a:cubicBezTo>
                  <a:pt x="108987" y="-6206"/>
                  <a:pt x="119881" y="-6206"/>
                  <a:pt x="128721" y="-1116"/>
                </a:cubicBezTo>
                <a:lnTo>
                  <a:pt x="207258" y="44202"/>
                </a:lnTo>
                <a:cubicBezTo>
                  <a:pt x="216098" y="49292"/>
                  <a:pt x="221546" y="58757"/>
                  <a:pt x="221546" y="68937"/>
                </a:cubicBezTo>
                <a:lnTo>
                  <a:pt x="221546" y="159574"/>
                </a:lnTo>
                <a:cubicBezTo>
                  <a:pt x="221546" y="169798"/>
                  <a:pt x="216098" y="179219"/>
                  <a:pt x="207258" y="184309"/>
                </a:cubicBezTo>
                <a:lnTo>
                  <a:pt x="128721" y="229716"/>
                </a:lnTo>
                <a:cubicBezTo>
                  <a:pt x="119881" y="234806"/>
                  <a:pt x="108987" y="234806"/>
                  <a:pt x="100146" y="229716"/>
                </a:cubicBezTo>
                <a:lnTo>
                  <a:pt x="21654" y="184398"/>
                </a:lnTo>
                <a:cubicBezTo>
                  <a:pt x="12814" y="179308"/>
                  <a:pt x="7367" y="169843"/>
                  <a:pt x="7367" y="159663"/>
                </a:cubicBezTo>
                <a:lnTo>
                  <a:pt x="7367" y="69026"/>
                </a:lnTo>
                <a:cubicBezTo>
                  <a:pt x="7367" y="58802"/>
                  <a:pt x="12814" y="49381"/>
                  <a:pt x="21654" y="44291"/>
                </a:cubicBezTo>
                <a:lnTo>
                  <a:pt x="100146" y="-1116"/>
                </a:lnTo>
                <a:close/>
                <a:moveTo>
                  <a:pt x="192926" y="159618"/>
                </a:moveTo>
                <a:lnTo>
                  <a:pt x="192926" y="85457"/>
                </a:lnTo>
                <a:lnTo>
                  <a:pt x="128721" y="122515"/>
                </a:lnTo>
                <a:lnTo>
                  <a:pt x="128721" y="196676"/>
                </a:lnTo>
                <a:lnTo>
                  <a:pt x="192926" y="15961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547489" y="2781458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program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014" y="3124349"/>
            <a:ext cx="2390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Triton's basic execution unit, corresponds to CUDA's thread block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85992" y="1933946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4" y="0"/>
                </a:lnTo>
                <a:cubicBezTo>
                  <a:pt x="2672881" y="0"/>
                  <a:pt x="2724055" y="51174"/>
                  <a:pt x="2724055" y="114301"/>
                </a:cubicBezTo>
                <a:lnTo>
                  <a:pt x="2724055" y="1657254"/>
                </a:lnTo>
                <a:cubicBezTo>
                  <a:pt x="2724055" y="1720381"/>
                  <a:pt x="2672881" y="1771555"/>
                  <a:pt x="2609754" y="1771555"/>
                </a:cubicBezTo>
                <a:lnTo>
                  <a:pt x="114301" y="1771555"/>
                </a:lnTo>
                <a:cubicBezTo>
                  <a:pt x="51174" y="1771555"/>
                  <a:pt x="0" y="1720381"/>
                  <a:pt x="0" y="16572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1470" y="21338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Shape 10"/>
          <p:cNvSpPr/>
          <p:nvPr/>
        </p:nvSpPr>
        <p:spPr>
          <a:xfrm>
            <a:off x="4533847" y="22862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114300"/>
                </a:moveTo>
                <a:cubicBezTo>
                  <a:pt x="21431" y="62999"/>
                  <a:pt x="62999" y="21431"/>
                  <a:pt x="114300" y="21431"/>
                </a:cubicBezTo>
                <a:cubicBezTo>
                  <a:pt x="142473" y="21431"/>
                  <a:pt x="167700" y="33977"/>
                  <a:pt x="184755" y="53801"/>
                </a:cubicBezTo>
                <a:cubicBezTo>
                  <a:pt x="188595" y="58311"/>
                  <a:pt x="195382" y="58802"/>
                  <a:pt x="199846" y="54962"/>
                </a:cubicBezTo>
                <a:cubicBezTo>
                  <a:pt x="204311" y="51122"/>
                  <a:pt x="204847" y="44336"/>
                  <a:pt x="201007" y="39871"/>
                </a:cubicBezTo>
                <a:cubicBezTo>
                  <a:pt x="180067" y="15448"/>
                  <a:pt x="148992" y="0"/>
                  <a:pt x="114300" y="0"/>
                </a:cubicBezTo>
                <a:cubicBezTo>
                  <a:pt x="51167" y="0"/>
                  <a:pt x="0" y="51167"/>
                  <a:pt x="0" y="114300"/>
                </a:cubicBezTo>
                <a:lnTo>
                  <a:pt x="0" y="132159"/>
                </a:lnTo>
                <a:cubicBezTo>
                  <a:pt x="0" y="138098"/>
                  <a:pt x="4777" y="142875"/>
                  <a:pt x="10716" y="142875"/>
                </a:cubicBezTo>
                <a:cubicBezTo>
                  <a:pt x="16654" y="142875"/>
                  <a:pt x="21431" y="138098"/>
                  <a:pt x="21431" y="132159"/>
                </a:cubicBezTo>
                <a:lnTo>
                  <a:pt x="21431" y="114300"/>
                </a:lnTo>
                <a:close/>
                <a:moveTo>
                  <a:pt x="226144" y="90681"/>
                </a:moveTo>
                <a:cubicBezTo>
                  <a:pt x="224939" y="84877"/>
                  <a:pt x="219224" y="81171"/>
                  <a:pt x="213464" y="82421"/>
                </a:cubicBezTo>
                <a:cubicBezTo>
                  <a:pt x="207705" y="83671"/>
                  <a:pt x="203954" y="89342"/>
                  <a:pt x="205204" y="95101"/>
                </a:cubicBezTo>
                <a:cubicBezTo>
                  <a:pt x="206499" y="101307"/>
                  <a:pt x="207213" y="107737"/>
                  <a:pt x="207213" y="114345"/>
                </a:cubicBezTo>
                <a:lnTo>
                  <a:pt x="207213" y="132204"/>
                </a:lnTo>
                <a:cubicBezTo>
                  <a:pt x="207213" y="138142"/>
                  <a:pt x="211991" y="142920"/>
                  <a:pt x="217929" y="142920"/>
                </a:cubicBezTo>
                <a:cubicBezTo>
                  <a:pt x="223867" y="142920"/>
                  <a:pt x="228645" y="138142"/>
                  <a:pt x="228645" y="132204"/>
                </a:cubicBezTo>
                <a:lnTo>
                  <a:pt x="228645" y="114345"/>
                </a:lnTo>
                <a:cubicBezTo>
                  <a:pt x="228645" y="106263"/>
                  <a:pt x="227796" y="98361"/>
                  <a:pt x="226189" y="90726"/>
                </a:cubicBezTo>
                <a:close/>
                <a:moveTo>
                  <a:pt x="114300" y="35719"/>
                </a:moveTo>
                <a:cubicBezTo>
                  <a:pt x="105817" y="35719"/>
                  <a:pt x="97601" y="37058"/>
                  <a:pt x="89967" y="39559"/>
                </a:cubicBezTo>
                <a:cubicBezTo>
                  <a:pt x="83180" y="41791"/>
                  <a:pt x="81617" y="50140"/>
                  <a:pt x="86261" y="55587"/>
                </a:cubicBezTo>
                <a:cubicBezTo>
                  <a:pt x="89431" y="59293"/>
                  <a:pt x="94655" y="60409"/>
                  <a:pt x="99387" y="59115"/>
                </a:cubicBezTo>
                <a:cubicBezTo>
                  <a:pt x="104120" y="57820"/>
                  <a:pt x="109121" y="57150"/>
                  <a:pt x="114300" y="57150"/>
                </a:cubicBezTo>
                <a:cubicBezTo>
                  <a:pt x="145866" y="57150"/>
                  <a:pt x="171450" y="82734"/>
                  <a:pt x="171450" y="114300"/>
                </a:cubicBezTo>
                <a:lnTo>
                  <a:pt x="171450" y="125417"/>
                </a:lnTo>
                <a:cubicBezTo>
                  <a:pt x="171450" y="136669"/>
                  <a:pt x="170780" y="147876"/>
                  <a:pt x="169485" y="159038"/>
                </a:cubicBezTo>
                <a:cubicBezTo>
                  <a:pt x="168726" y="165556"/>
                  <a:pt x="173682" y="171450"/>
                  <a:pt x="180290" y="171450"/>
                </a:cubicBezTo>
                <a:cubicBezTo>
                  <a:pt x="185559" y="171450"/>
                  <a:pt x="190068" y="167610"/>
                  <a:pt x="190693" y="162386"/>
                </a:cubicBezTo>
                <a:cubicBezTo>
                  <a:pt x="192167" y="150153"/>
                  <a:pt x="192926" y="137830"/>
                  <a:pt x="192926" y="125462"/>
                </a:cubicBezTo>
                <a:lnTo>
                  <a:pt x="192926" y="114345"/>
                </a:lnTo>
                <a:cubicBezTo>
                  <a:pt x="192926" y="70946"/>
                  <a:pt x="157743" y="35763"/>
                  <a:pt x="114345" y="35763"/>
                </a:cubicBezTo>
                <a:close/>
                <a:moveTo>
                  <a:pt x="67285" y="66392"/>
                </a:moveTo>
                <a:cubicBezTo>
                  <a:pt x="63222" y="61659"/>
                  <a:pt x="55989" y="61302"/>
                  <a:pt x="52149" y="66214"/>
                </a:cubicBezTo>
                <a:cubicBezTo>
                  <a:pt x="41836" y="79519"/>
                  <a:pt x="35719" y="96173"/>
                  <a:pt x="35719" y="114300"/>
                </a:cubicBezTo>
                <a:lnTo>
                  <a:pt x="35719" y="125417"/>
                </a:lnTo>
                <a:cubicBezTo>
                  <a:pt x="35719" y="136222"/>
                  <a:pt x="34558" y="147027"/>
                  <a:pt x="32236" y="157520"/>
                </a:cubicBezTo>
                <a:cubicBezTo>
                  <a:pt x="30718" y="164485"/>
                  <a:pt x="35763" y="171405"/>
                  <a:pt x="42907" y="171405"/>
                </a:cubicBezTo>
                <a:cubicBezTo>
                  <a:pt x="47595" y="171405"/>
                  <a:pt x="51792" y="168280"/>
                  <a:pt x="52819" y="163681"/>
                </a:cubicBezTo>
                <a:cubicBezTo>
                  <a:pt x="55677" y="151135"/>
                  <a:pt x="57150" y="138321"/>
                  <a:pt x="57150" y="125373"/>
                </a:cubicBezTo>
                <a:lnTo>
                  <a:pt x="57150" y="114255"/>
                </a:lnTo>
                <a:cubicBezTo>
                  <a:pt x="57150" y="102111"/>
                  <a:pt x="60945" y="90860"/>
                  <a:pt x="67374" y="81617"/>
                </a:cubicBezTo>
                <a:cubicBezTo>
                  <a:pt x="70589" y="76974"/>
                  <a:pt x="70946" y="70634"/>
                  <a:pt x="67285" y="66348"/>
                </a:cubicBezTo>
                <a:close/>
                <a:moveTo>
                  <a:pt x="114300" y="71438"/>
                </a:moveTo>
                <a:cubicBezTo>
                  <a:pt x="90636" y="71438"/>
                  <a:pt x="71438" y="90636"/>
                  <a:pt x="71438" y="114300"/>
                </a:cubicBezTo>
                <a:lnTo>
                  <a:pt x="71438" y="125417"/>
                </a:lnTo>
                <a:cubicBezTo>
                  <a:pt x="71438" y="141446"/>
                  <a:pt x="69384" y="157341"/>
                  <a:pt x="65276" y="172789"/>
                </a:cubicBezTo>
                <a:cubicBezTo>
                  <a:pt x="63579" y="179174"/>
                  <a:pt x="68267" y="185738"/>
                  <a:pt x="74875" y="185738"/>
                </a:cubicBezTo>
                <a:cubicBezTo>
                  <a:pt x="79117" y="185738"/>
                  <a:pt x="82867" y="182969"/>
                  <a:pt x="83984" y="178862"/>
                </a:cubicBezTo>
                <a:cubicBezTo>
                  <a:pt x="88672" y="161449"/>
                  <a:pt x="91083" y="143500"/>
                  <a:pt x="91083" y="125417"/>
                </a:cubicBezTo>
                <a:lnTo>
                  <a:pt x="91083" y="114300"/>
                </a:lnTo>
                <a:cubicBezTo>
                  <a:pt x="91083" y="101486"/>
                  <a:pt x="101486" y="91083"/>
                  <a:pt x="114300" y="91083"/>
                </a:cubicBezTo>
                <a:cubicBezTo>
                  <a:pt x="127114" y="91083"/>
                  <a:pt x="137517" y="101486"/>
                  <a:pt x="137517" y="114300"/>
                </a:cubicBezTo>
                <a:lnTo>
                  <a:pt x="137517" y="125417"/>
                </a:lnTo>
                <a:cubicBezTo>
                  <a:pt x="137517" y="141625"/>
                  <a:pt x="135954" y="157743"/>
                  <a:pt x="132874" y="173593"/>
                </a:cubicBezTo>
                <a:cubicBezTo>
                  <a:pt x="131668" y="179799"/>
                  <a:pt x="136312" y="185738"/>
                  <a:pt x="142607" y="185738"/>
                </a:cubicBezTo>
                <a:cubicBezTo>
                  <a:pt x="147161" y="185738"/>
                  <a:pt x="151090" y="182612"/>
                  <a:pt x="151983" y="178147"/>
                </a:cubicBezTo>
                <a:cubicBezTo>
                  <a:pt x="155421" y="160824"/>
                  <a:pt x="157163" y="143188"/>
                  <a:pt x="157163" y="125417"/>
                </a:cubicBezTo>
                <a:lnTo>
                  <a:pt x="157163" y="114300"/>
                </a:lnTo>
                <a:cubicBezTo>
                  <a:pt x="157163" y="90636"/>
                  <a:pt x="137964" y="71438"/>
                  <a:pt x="114300" y="71438"/>
                </a:cubicBezTo>
                <a:close/>
                <a:moveTo>
                  <a:pt x="125016" y="114300"/>
                </a:moveTo>
                <a:cubicBezTo>
                  <a:pt x="125016" y="108362"/>
                  <a:pt x="120238" y="103584"/>
                  <a:pt x="114300" y="103584"/>
                </a:cubicBezTo>
                <a:cubicBezTo>
                  <a:pt x="108362" y="103584"/>
                  <a:pt x="103584" y="108362"/>
                  <a:pt x="103584" y="114300"/>
                </a:cubicBezTo>
                <a:lnTo>
                  <a:pt x="103584" y="125417"/>
                </a:lnTo>
                <a:cubicBezTo>
                  <a:pt x="103584" y="152162"/>
                  <a:pt x="98673" y="178683"/>
                  <a:pt x="89074" y="203642"/>
                </a:cubicBezTo>
                <a:lnTo>
                  <a:pt x="86439" y="210473"/>
                </a:lnTo>
                <a:cubicBezTo>
                  <a:pt x="84296" y="216009"/>
                  <a:pt x="87064" y="222215"/>
                  <a:pt x="92601" y="224314"/>
                </a:cubicBezTo>
                <a:cubicBezTo>
                  <a:pt x="98137" y="226412"/>
                  <a:pt x="104343" y="223689"/>
                  <a:pt x="106442" y="218152"/>
                </a:cubicBezTo>
                <a:lnTo>
                  <a:pt x="109076" y="211321"/>
                </a:lnTo>
                <a:cubicBezTo>
                  <a:pt x="119613" y="183907"/>
                  <a:pt x="125016" y="154796"/>
                  <a:pt x="125016" y="125417"/>
                </a:cubicBezTo>
                <a:lnTo>
                  <a:pt x="125016" y="11430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3443047" y="2781458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program_id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52572" y="3124349"/>
            <a:ext cx="2390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Index of the current program in the grid, similar to blockIdx.x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81624" y="1933946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4" y="0"/>
                </a:lnTo>
                <a:cubicBezTo>
                  <a:pt x="2672881" y="0"/>
                  <a:pt x="2724055" y="51174"/>
                  <a:pt x="2724055" y="114301"/>
                </a:cubicBezTo>
                <a:lnTo>
                  <a:pt x="2724055" y="1657254"/>
                </a:lnTo>
                <a:cubicBezTo>
                  <a:pt x="2724055" y="1720381"/>
                  <a:pt x="2672881" y="1771555"/>
                  <a:pt x="2609754" y="1771555"/>
                </a:cubicBezTo>
                <a:lnTo>
                  <a:pt x="114301" y="1771555"/>
                </a:lnTo>
                <a:cubicBezTo>
                  <a:pt x="51174" y="1771555"/>
                  <a:pt x="0" y="1720381"/>
                  <a:pt x="0" y="16572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77103" y="21338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Shape 15"/>
          <p:cNvSpPr/>
          <p:nvPr/>
        </p:nvSpPr>
        <p:spPr>
          <a:xfrm>
            <a:off x="7443767" y="228625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42863"/>
                </a:moveTo>
                <a:lnTo>
                  <a:pt x="171450" y="71438"/>
                </a:lnTo>
                <a:lnTo>
                  <a:pt x="142875" y="71438"/>
                </a:lnTo>
                <a:lnTo>
                  <a:pt x="142875" y="42863"/>
                </a:lnTo>
                <a:lnTo>
                  <a:pt x="171450" y="42863"/>
                </a:lnTo>
                <a:close/>
                <a:moveTo>
                  <a:pt x="171450" y="100013"/>
                </a:moveTo>
                <a:lnTo>
                  <a:pt x="171450" y="128588"/>
                </a:lnTo>
                <a:lnTo>
                  <a:pt x="142875" y="128588"/>
                </a:lnTo>
                <a:lnTo>
                  <a:pt x="142875" y="100013"/>
                </a:lnTo>
                <a:lnTo>
                  <a:pt x="171450" y="100013"/>
                </a:lnTo>
                <a:close/>
                <a:moveTo>
                  <a:pt x="171450" y="157163"/>
                </a:moveTo>
                <a:lnTo>
                  <a:pt x="171450" y="185738"/>
                </a:lnTo>
                <a:lnTo>
                  <a:pt x="142875" y="185738"/>
                </a:lnTo>
                <a:lnTo>
                  <a:pt x="142875" y="157163"/>
                </a:lnTo>
                <a:lnTo>
                  <a:pt x="171450" y="157163"/>
                </a:lnTo>
                <a:close/>
                <a:moveTo>
                  <a:pt x="114300" y="128588"/>
                </a:moveTo>
                <a:lnTo>
                  <a:pt x="85725" y="128588"/>
                </a:lnTo>
                <a:lnTo>
                  <a:pt x="85725" y="100013"/>
                </a:lnTo>
                <a:lnTo>
                  <a:pt x="114300" y="100013"/>
                </a:lnTo>
                <a:lnTo>
                  <a:pt x="114300" y="128588"/>
                </a:lnTo>
                <a:close/>
                <a:moveTo>
                  <a:pt x="85725" y="157163"/>
                </a:moveTo>
                <a:lnTo>
                  <a:pt x="114300" y="157163"/>
                </a:lnTo>
                <a:lnTo>
                  <a:pt x="114300" y="185738"/>
                </a:lnTo>
                <a:lnTo>
                  <a:pt x="85725" y="185738"/>
                </a:lnTo>
                <a:lnTo>
                  <a:pt x="85725" y="157163"/>
                </a:lnTo>
                <a:close/>
                <a:moveTo>
                  <a:pt x="57150" y="128588"/>
                </a:moveTo>
                <a:lnTo>
                  <a:pt x="28575" y="128588"/>
                </a:lnTo>
                <a:lnTo>
                  <a:pt x="28575" y="100013"/>
                </a:lnTo>
                <a:lnTo>
                  <a:pt x="57150" y="100013"/>
                </a:lnTo>
                <a:lnTo>
                  <a:pt x="57150" y="128588"/>
                </a:lnTo>
                <a:close/>
                <a:moveTo>
                  <a:pt x="28575" y="157163"/>
                </a:moveTo>
                <a:lnTo>
                  <a:pt x="57150" y="157163"/>
                </a:lnTo>
                <a:lnTo>
                  <a:pt x="57150" y="185738"/>
                </a:lnTo>
                <a:lnTo>
                  <a:pt x="28575" y="185738"/>
                </a:lnTo>
                <a:lnTo>
                  <a:pt x="28575" y="157163"/>
                </a:lnTo>
                <a:close/>
                <a:moveTo>
                  <a:pt x="28575" y="71438"/>
                </a:moveTo>
                <a:lnTo>
                  <a:pt x="28575" y="42863"/>
                </a:lnTo>
                <a:lnTo>
                  <a:pt x="57150" y="42863"/>
                </a:lnTo>
                <a:lnTo>
                  <a:pt x="57150" y="71438"/>
                </a:lnTo>
                <a:lnTo>
                  <a:pt x="28575" y="71438"/>
                </a:lnTo>
                <a:close/>
                <a:moveTo>
                  <a:pt x="85725" y="71438"/>
                </a:moveTo>
                <a:lnTo>
                  <a:pt x="85725" y="42863"/>
                </a:lnTo>
                <a:lnTo>
                  <a:pt x="114300" y="42863"/>
                </a:lnTo>
                <a:lnTo>
                  <a:pt x="114300" y="71438"/>
                </a:lnTo>
                <a:lnTo>
                  <a:pt x="85725" y="71438"/>
                </a:lnTo>
                <a:close/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6338680" y="2781458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grid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8205" y="3124348"/>
            <a:ext cx="2390775" cy="3904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Collection of programs defining the scale of parallel execution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77257" y="1933946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4" y="0"/>
                </a:lnTo>
                <a:cubicBezTo>
                  <a:pt x="2672881" y="0"/>
                  <a:pt x="2724055" y="51174"/>
                  <a:pt x="2724055" y="114301"/>
                </a:cubicBezTo>
                <a:lnTo>
                  <a:pt x="2724055" y="1657254"/>
                </a:lnTo>
                <a:cubicBezTo>
                  <a:pt x="2724055" y="1720381"/>
                  <a:pt x="2672881" y="1771555"/>
                  <a:pt x="2609754" y="1771555"/>
                </a:cubicBezTo>
                <a:lnTo>
                  <a:pt x="114301" y="1771555"/>
                </a:lnTo>
                <a:cubicBezTo>
                  <a:pt x="51174" y="1771555"/>
                  <a:pt x="0" y="1720381"/>
                  <a:pt x="0" y="16572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8B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72735" y="21338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Shape 20"/>
          <p:cNvSpPr/>
          <p:nvPr/>
        </p:nvSpPr>
        <p:spPr>
          <a:xfrm>
            <a:off x="10339399" y="228625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9234313" y="2781458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BLOCK_SIZE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43838" y="3124349"/>
            <a:ext cx="2390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Number of elements each program handles, a compile-time constant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0433" y="3876488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4" y="0"/>
                </a:lnTo>
                <a:cubicBezTo>
                  <a:pt x="2672881" y="0"/>
                  <a:pt x="2724055" y="51174"/>
                  <a:pt x="2724055" y="114301"/>
                </a:cubicBezTo>
                <a:lnTo>
                  <a:pt x="2724055" y="1657254"/>
                </a:lnTo>
                <a:cubicBezTo>
                  <a:pt x="2724055" y="1720381"/>
                  <a:pt x="2672881" y="1771555"/>
                  <a:pt x="2609754" y="1771555"/>
                </a:cubicBezTo>
                <a:lnTo>
                  <a:pt x="114301" y="1771555"/>
                </a:lnTo>
                <a:cubicBezTo>
                  <a:pt x="51174" y="1771555"/>
                  <a:pt x="0" y="1720381"/>
                  <a:pt x="0" y="16572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D1D5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85838" y="407641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/>
          </a:solidFill>
        </p:spPr>
      </p:sp>
      <p:sp>
        <p:nvSpPr>
          <p:cNvPr id="27" name="Shape 25"/>
          <p:cNvSpPr/>
          <p:nvPr/>
        </p:nvSpPr>
        <p:spPr>
          <a:xfrm>
            <a:off x="1638214" y="422879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2147"/>
                </a:moveTo>
                <a:cubicBezTo>
                  <a:pt x="0" y="26253"/>
                  <a:pt x="4777" y="21431"/>
                  <a:pt x="10716" y="21431"/>
                </a:cubicBezTo>
                <a:lnTo>
                  <a:pt x="32147" y="21431"/>
                </a:lnTo>
                <a:cubicBezTo>
                  <a:pt x="38085" y="21431"/>
                  <a:pt x="42863" y="26209"/>
                  <a:pt x="42863" y="32147"/>
                </a:cubicBezTo>
                <a:lnTo>
                  <a:pt x="42863" y="78581"/>
                </a:lnTo>
                <a:lnTo>
                  <a:pt x="53578" y="78581"/>
                </a:lnTo>
                <a:cubicBezTo>
                  <a:pt x="59516" y="78581"/>
                  <a:pt x="64294" y="83359"/>
                  <a:pt x="64294" y="89297"/>
                </a:cubicBezTo>
                <a:cubicBezTo>
                  <a:pt x="64294" y="95235"/>
                  <a:pt x="59516" y="100013"/>
                  <a:pt x="53578" y="100013"/>
                </a:cubicBezTo>
                <a:lnTo>
                  <a:pt x="10716" y="100013"/>
                </a:lnTo>
                <a:cubicBezTo>
                  <a:pt x="4777" y="100013"/>
                  <a:pt x="0" y="95235"/>
                  <a:pt x="0" y="89297"/>
                </a:cubicBezTo>
                <a:cubicBezTo>
                  <a:pt x="0" y="83359"/>
                  <a:pt x="4777" y="78581"/>
                  <a:pt x="10716" y="78581"/>
                </a:cubicBezTo>
                <a:lnTo>
                  <a:pt x="21431" y="78581"/>
                </a:lnTo>
                <a:lnTo>
                  <a:pt x="21431" y="42863"/>
                </a:lnTo>
                <a:lnTo>
                  <a:pt x="10716" y="42863"/>
                </a:lnTo>
                <a:cubicBezTo>
                  <a:pt x="4777" y="42863"/>
                  <a:pt x="0" y="38085"/>
                  <a:pt x="0" y="32147"/>
                </a:cubicBezTo>
                <a:close/>
                <a:moveTo>
                  <a:pt x="13573" y="134481"/>
                </a:moveTo>
                <a:cubicBezTo>
                  <a:pt x="18663" y="130641"/>
                  <a:pt x="24869" y="128588"/>
                  <a:pt x="31254" y="128588"/>
                </a:cubicBezTo>
                <a:lnTo>
                  <a:pt x="33442" y="128588"/>
                </a:lnTo>
                <a:cubicBezTo>
                  <a:pt x="48488" y="128588"/>
                  <a:pt x="60722" y="140821"/>
                  <a:pt x="60722" y="155868"/>
                </a:cubicBezTo>
                <a:cubicBezTo>
                  <a:pt x="60722" y="164619"/>
                  <a:pt x="56525" y="172789"/>
                  <a:pt x="49470" y="177924"/>
                </a:cubicBezTo>
                <a:lnTo>
                  <a:pt x="38755" y="185738"/>
                </a:lnTo>
                <a:lnTo>
                  <a:pt x="53578" y="185738"/>
                </a:lnTo>
                <a:cubicBezTo>
                  <a:pt x="59516" y="185738"/>
                  <a:pt x="64294" y="190515"/>
                  <a:pt x="64294" y="196453"/>
                </a:cubicBezTo>
                <a:cubicBezTo>
                  <a:pt x="64294" y="202391"/>
                  <a:pt x="59516" y="207169"/>
                  <a:pt x="53578" y="207169"/>
                </a:cubicBezTo>
                <a:lnTo>
                  <a:pt x="13082" y="207169"/>
                </a:lnTo>
                <a:cubicBezTo>
                  <a:pt x="5849" y="207169"/>
                  <a:pt x="0" y="201320"/>
                  <a:pt x="0" y="194087"/>
                </a:cubicBezTo>
                <a:cubicBezTo>
                  <a:pt x="0" y="189890"/>
                  <a:pt x="2009" y="185961"/>
                  <a:pt x="5402" y="183505"/>
                </a:cubicBezTo>
                <a:lnTo>
                  <a:pt x="36880" y="160600"/>
                </a:lnTo>
                <a:cubicBezTo>
                  <a:pt x="38398" y="159484"/>
                  <a:pt x="39291" y="157743"/>
                  <a:pt x="39291" y="155868"/>
                </a:cubicBezTo>
                <a:cubicBezTo>
                  <a:pt x="39291" y="152653"/>
                  <a:pt x="36656" y="150019"/>
                  <a:pt x="33442" y="150019"/>
                </a:cubicBezTo>
                <a:lnTo>
                  <a:pt x="31254" y="150019"/>
                </a:lnTo>
                <a:cubicBezTo>
                  <a:pt x="29513" y="150019"/>
                  <a:pt x="27816" y="150599"/>
                  <a:pt x="26432" y="151626"/>
                </a:cubicBezTo>
                <a:lnTo>
                  <a:pt x="17145" y="158591"/>
                </a:lnTo>
                <a:cubicBezTo>
                  <a:pt x="12412" y="162163"/>
                  <a:pt x="5715" y="161181"/>
                  <a:pt x="2143" y="156448"/>
                </a:cubicBezTo>
                <a:cubicBezTo>
                  <a:pt x="-1429" y="151715"/>
                  <a:pt x="-446" y="145018"/>
                  <a:pt x="4286" y="141446"/>
                </a:cubicBezTo>
                <a:lnTo>
                  <a:pt x="13573" y="134481"/>
                </a:lnTo>
                <a:close/>
                <a:moveTo>
                  <a:pt x="100013" y="28575"/>
                </a:move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00013" y="57150"/>
                </a:lnTo>
                <a:cubicBezTo>
                  <a:pt x="92110" y="57150"/>
                  <a:pt x="85725" y="50765"/>
                  <a:pt x="85725" y="42863"/>
                </a:cubicBezTo>
                <a:cubicBezTo>
                  <a:pt x="85725" y="34960"/>
                  <a:pt x="92110" y="28575"/>
                  <a:pt x="100013" y="28575"/>
                </a:cubicBezTo>
                <a:close/>
                <a:moveTo>
                  <a:pt x="100013" y="100013"/>
                </a:move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00013" y="128588"/>
                </a:lnTo>
                <a:cubicBezTo>
                  <a:pt x="92110" y="128588"/>
                  <a:pt x="85725" y="122203"/>
                  <a:pt x="85725" y="114300"/>
                </a:cubicBezTo>
                <a:cubicBezTo>
                  <a:pt x="85725" y="106397"/>
                  <a:pt x="92110" y="100013"/>
                  <a:pt x="100013" y="100013"/>
                </a:cubicBezTo>
                <a:close/>
                <a:moveTo>
                  <a:pt x="100013" y="171450"/>
                </a:move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100013" y="200025"/>
                </a:lnTo>
                <a:cubicBezTo>
                  <a:pt x="92110" y="200025"/>
                  <a:pt x="85725" y="193640"/>
                  <a:pt x="85725" y="185738"/>
                </a:cubicBezTo>
                <a:cubicBezTo>
                  <a:pt x="85725" y="177835"/>
                  <a:pt x="92110" y="171450"/>
                  <a:pt x="100013" y="1714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547489" y="4724000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tl.arange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014" y="5066891"/>
            <a:ext cx="2400300" cy="4808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Generates vector indices for vectorized operations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85992" y="3876488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4" y="0"/>
                </a:lnTo>
                <a:cubicBezTo>
                  <a:pt x="2672881" y="0"/>
                  <a:pt x="2724055" y="51174"/>
                  <a:pt x="2724055" y="114301"/>
                </a:cubicBezTo>
                <a:lnTo>
                  <a:pt x="2724055" y="1657254"/>
                </a:lnTo>
                <a:cubicBezTo>
                  <a:pt x="2724055" y="1720381"/>
                  <a:pt x="2672881" y="1771555"/>
                  <a:pt x="2609754" y="1771555"/>
                </a:cubicBezTo>
                <a:lnTo>
                  <a:pt x="114301" y="1771555"/>
                </a:lnTo>
                <a:cubicBezTo>
                  <a:pt x="51174" y="1771555"/>
                  <a:pt x="0" y="1720381"/>
                  <a:pt x="0" y="16572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D1D5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1470" y="407641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/>
          </a:solidFill>
        </p:spPr>
      </p:sp>
      <p:sp>
        <p:nvSpPr>
          <p:cNvPr id="32" name="Shape 30"/>
          <p:cNvSpPr/>
          <p:nvPr/>
        </p:nvSpPr>
        <p:spPr>
          <a:xfrm>
            <a:off x="4533847" y="422879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3443047" y="4724000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mask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452572" y="5066891"/>
            <a:ext cx="2390775" cy="581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Boolean array controlling memory access and preventing out-of-bounds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81624" y="3876488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4" y="0"/>
                </a:lnTo>
                <a:cubicBezTo>
                  <a:pt x="2672881" y="0"/>
                  <a:pt x="2724055" y="51174"/>
                  <a:pt x="2724055" y="114301"/>
                </a:cubicBezTo>
                <a:lnTo>
                  <a:pt x="2724055" y="1657254"/>
                </a:lnTo>
                <a:cubicBezTo>
                  <a:pt x="2724055" y="1720381"/>
                  <a:pt x="2672881" y="1771555"/>
                  <a:pt x="2609754" y="1771555"/>
                </a:cubicBezTo>
                <a:lnTo>
                  <a:pt x="114301" y="1771555"/>
                </a:lnTo>
                <a:cubicBezTo>
                  <a:pt x="51174" y="1771555"/>
                  <a:pt x="0" y="1720381"/>
                  <a:pt x="0" y="16572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D1D5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77103" y="407641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/>
          </a:solidFill>
        </p:spPr>
      </p:sp>
      <p:sp>
        <p:nvSpPr>
          <p:cNvPr id="37" name="Shape 35"/>
          <p:cNvSpPr/>
          <p:nvPr/>
        </p:nvSpPr>
        <p:spPr>
          <a:xfrm>
            <a:off x="7443767" y="422879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14288"/>
                </a:moveTo>
                <a:cubicBezTo>
                  <a:pt x="114300" y="6385"/>
                  <a:pt x="107915" y="0"/>
                  <a:pt x="100013" y="0"/>
                </a:cubicBezTo>
                <a:cubicBezTo>
                  <a:pt x="92110" y="0"/>
                  <a:pt x="85725" y="6385"/>
                  <a:pt x="85725" y="14288"/>
                </a:cubicBezTo>
                <a:lnTo>
                  <a:pt x="85725" y="108362"/>
                </a:lnTo>
                <a:lnTo>
                  <a:pt x="67241" y="89877"/>
                </a:lnTo>
                <a:cubicBezTo>
                  <a:pt x="61659" y="84296"/>
                  <a:pt x="52596" y="84296"/>
                  <a:pt x="47015" y="89877"/>
                </a:cubicBezTo>
                <a:cubicBezTo>
                  <a:pt x="41434" y="95458"/>
                  <a:pt x="41434" y="104522"/>
                  <a:pt x="47015" y="110103"/>
                </a:cubicBezTo>
                <a:lnTo>
                  <a:pt x="89877" y="152966"/>
                </a:lnTo>
                <a:cubicBezTo>
                  <a:pt x="95458" y="158547"/>
                  <a:pt x="104522" y="158547"/>
                  <a:pt x="110103" y="152966"/>
                </a:cubicBezTo>
                <a:lnTo>
                  <a:pt x="152966" y="110103"/>
                </a:lnTo>
                <a:cubicBezTo>
                  <a:pt x="158547" y="104522"/>
                  <a:pt x="158547" y="95458"/>
                  <a:pt x="152966" y="89877"/>
                </a:cubicBezTo>
                <a:cubicBezTo>
                  <a:pt x="147384" y="84296"/>
                  <a:pt x="138321" y="84296"/>
                  <a:pt x="132740" y="89877"/>
                </a:cubicBezTo>
                <a:lnTo>
                  <a:pt x="114300" y="108362"/>
                </a:lnTo>
                <a:lnTo>
                  <a:pt x="114300" y="14288"/>
                </a:lnTo>
                <a:close/>
                <a:moveTo>
                  <a:pt x="28575" y="142875"/>
                </a:moveTo>
                <a:cubicBezTo>
                  <a:pt x="12814" y="142875"/>
                  <a:pt x="0" y="155689"/>
                  <a:pt x="0" y="171450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71450"/>
                </a:lnTo>
                <a:cubicBezTo>
                  <a:pt x="200025" y="155689"/>
                  <a:pt x="187211" y="142875"/>
                  <a:pt x="171450" y="142875"/>
                </a:cubicBezTo>
                <a:lnTo>
                  <a:pt x="150510" y="142875"/>
                </a:lnTo>
                <a:lnTo>
                  <a:pt x="125239" y="168146"/>
                </a:lnTo>
                <a:cubicBezTo>
                  <a:pt x="111309" y="182076"/>
                  <a:pt x="88672" y="182076"/>
                  <a:pt x="74741" y="168146"/>
                </a:cubicBezTo>
                <a:lnTo>
                  <a:pt x="49515" y="142875"/>
                </a:lnTo>
                <a:lnTo>
                  <a:pt x="28575" y="142875"/>
                </a:lnTo>
                <a:close/>
                <a:moveTo>
                  <a:pt x="164306" y="167878"/>
                </a:moveTo>
                <a:cubicBezTo>
                  <a:pt x="170220" y="167878"/>
                  <a:pt x="175022" y="172680"/>
                  <a:pt x="175022" y="178594"/>
                </a:cubicBezTo>
                <a:cubicBezTo>
                  <a:pt x="175022" y="184508"/>
                  <a:pt x="170220" y="189309"/>
                  <a:pt x="164306" y="189309"/>
                </a:cubicBezTo>
                <a:cubicBezTo>
                  <a:pt x="158392" y="189309"/>
                  <a:pt x="153591" y="184508"/>
                  <a:pt x="153591" y="178594"/>
                </a:cubicBezTo>
                <a:cubicBezTo>
                  <a:pt x="153591" y="172680"/>
                  <a:pt x="158392" y="167878"/>
                  <a:pt x="164306" y="16787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6338680" y="4724000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tl.load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48205" y="5066891"/>
            <a:ext cx="2390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Reads data from global memory, supports mask and vectorization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77257" y="3876488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4" y="0"/>
                </a:lnTo>
                <a:cubicBezTo>
                  <a:pt x="2672881" y="0"/>
                  <a:pt x="2724055" y="51174"/>
                  <a:pt x="2724055" y="114301"/>
                </a:cubicBezTo>
                <a:lnTo>
                  <a:pt x="2724055" y="1657254"/>
                </a:lnTo>
                <a:cubicBezTo>
                  <a:pt x="2724055" y="1720381"/>
                  <a:pt x="2672881" y="1771555"/>
                  <a:pt x="2609754" y="1771555"/>
                </a:cubicBezTo>
                <a:lnTo>
                  <a:pt x="114301" y="1771555"/>
                </a:lnTo>
                <a:cubicBezTo>
                  <a:pt x="51174" y="1771555"/>
                  <a:pt x="0" y="1720381"/>
                  <a:pt x="0" y="16572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9FAFB"/>
          </a:solidFill>
          <a:ln w="25274">
            <a:solidFill>
              <a:srgbClr val="D1D5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72735" y="407641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/>
          </a:solidFill>
        </p:spPr>
      </p:sp>
      <p:sp>
        <p:nvSpPr>
          <p:cNvPr id="42" name="Shape 40"/>
          <p:cNvSpPr/>
          <p:nvPr/>
        </p:nvSpPr>
        <p:spPr>
          <a:xfrm>
            <a:off x="10339399" y="422879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48801"/>
                </a:moveTo>
                <a:lnTo>
                  <a:pt x="114300" y="142875"/>
                </a:lnTo>
                <a:cubicBezTo>
                  <a:pt x="114300" y="150778"/>
                  <a:pt x="107915" y="157163"/>
                  <a:pt x="100013" y="157163"/>
                </a:cubicBezTo>
                <a:cubicBezTo>
                  <a:pt x="92110" y="157163"/>
                  <a:pt x="85725" y="150778"/>
                  <a:pt x="85725" y="142875"/>
                </a:cubicBezTo>
                <a:lnTo>
                  <a:pt x="85725" y="48801"/>
                </a:lnTo>
                <a:lnTo>
                  <a:pt x="67241" y="67285"/>
                </a:lnTo>
                <a:cubicBezTo>
                  <a:pt x="61659" y="72866"/>
                  <a:pt x="52596" y="72866"/>
                  <a:pt x="47015" y="67285"/>
                </a:cubicBezTo>
                <a:cubicBezTo>
                  <a:pt x="41434" y="61704"/>
                  <a:pt x="41434" y="52641"/>
                  <a:pt x="47015" y="47059"/>
                </a:cubicBezTo>
                <a:lnTo>
                  <a:pt x="89877" y="4197"/>
                </a:lnTo>
                <a:cubicBezTo>
                  <a:pt x="95458" y="-1384"/>
                  <a:pt x="104522" y="-1384"/>
                  <a:pt x="110103" y="4197"/>
                </a:cubicBezTo>
                <a:lnTo>
                  <a:pt x="152966" y="47059"/>
                </a:lnTo>
                <a:cubicBezTo>
                  <a:pt x="158547" y="52641"/>
                  <a:pt x="158547" y="61704"/>
                  <a:pt x="152966" y="67285"/>
                </a:cubicBezTo>
                <a:cubicBezTo>
                  <a:pt x="147384" y="72866"/>
                  <a:pt x="138321" y="72866"/>
                  <a:pt x="132740" y="67285"/>
                </a:cubicBezTo>
                <a:lnTo>
                  <a:pt x="114300" y="48801"/>
                </a:lnTo>
                <a:close/>
                <a:moveTo>
                  <a:pt x="100013" y="178594"/>
                </a:moveTo>
                <a:cubicBezTo>
                  <a:pt x="119747" y="178594"/>
                  <a:pt x="135731" y="162610"/>
                  <a:pt x="135731" y="142875"/>
                </a:cubicBezTo>
                <a:lnTo>
                  <a:pt x="171450" y="142875"/>
                </a:lnTo>
                <a:cubicBezTo>
                  <a:pt x="187211" y="142875"/>
                  <a:pt x="200025" y="155689"/>
                  <a:pt x="200025" y="1714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71450"/>
                </a:lnTo>
                <a:cubicBezTo>
                  <a:pt x="0" y="155689"/>
                  <a:pt x="12814" y="142875"/>
                  <a:pt x="28575" y="142875"/>
                </a:cubicBezTo>
                <a:lnTo>
                  <a:pt x="64294" y="142875"/>
                </a:lnTo>
                <a:cubicBezTo>
                  <a:pt x="64294" y="162610"/>
                  <a:pt x="80278" y="178594"/>
                  <a:pt x="100013" y="178594"/>
                </a:cubicBezTo>
                <a:close/>
                <a:moveTo>
                  <a:pt x="164306" y="189309"/>
                </a:moveTo>
                <a:cubicBezTo>
                  <a:pt x="170220" y="189309"/>
                  <a:pt x="175022" y="184508"/>
                  <a:pt x="175022" y="178594"/>
                </a:cubicBezTo>
                <a:cubicBezTo>
                  <a:pt x="175022" y="172680"/>
                  <a:pt x="170220" y="167878"/>
                  <a:pt x="164306" y="167878"/>
                </a:cubicBezTo>
                <a:cubicBezTo>
                  <a:pt x="158392" y="167878"/>
                  <a:pt x="153591" y="172680"/>
                  <a:pt x="153591" y="178594"/>
                </a:cubicBezTo>
                <a:cubicBezTo>
                  <a:pt x="153591" y="184508"/>
                  <a:pt x="158392" y="189309"/>
                  <a:pt x="164306" y="18930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9234313" y="4724000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tl.store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43838" y="5066891"/>
            <a:ext cx="2409825" cy="4808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Writes data to global memory, supports mask protection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17331" y="591438"/>
            <a:ext cx="11652454" cy="3480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465" b="1" dirty="0">
                <a:solidFill>
                  <a:srgbClr val="101828"/>
                </a:solidFill>
                <a:latin typeface="+mj-ea"/>
                <a:ea typeface="+mj-ea"/>
                <a:cs typeface="MiSans" panose="00000500000000000000" pitchFamily="34" charset="-120"/>
              </a:rPr>
              <a:t>Resources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8054" y="1287694"/>
            <a:ext cx="5604317" cy="3654989"/>
          </a:xfrm>
          <a:custGeom>
            <a:avLst/>
            <a:gdLst/>
            <a:ahLst/>
            <a:cxnLst/>
            <a:rect l="l" t="t" r="r" b="b"/>
            <a:pathLst>
              <a:path w="5604317" h="3654989">
                <a:moveTo>
                  <a:pt x="104423" y="0"/>
                </a:moveTo>
                <a:lnTo>
                  <a:pt x="5499894" y="0"/>
                </a:lnTo>
                <a:cubicBezTo>
                  <a:pt x="5557565" y="0"/>
                  <a:pt x="5604317" y="46752"/>
                  <a:pt x="5604317" y="104423"/>
                </a:cubicBezTo>
                <a:lnTo>
                  <a:pt x="5604317" y="3550566"/>
                </a:lnTo>
                <a:cubicBezTo>
                  <a:pt x="5604317" y="3608238"/>
                  <a:pt x="5557565" y="3654989"/>
                  <a:pt x="5499894" y="3654989"/>
                </a:cubicBezTo>
                <a:lnTo>
                  <a:pt x="104423" y="3654989"/>
                </a:lnTo>
                <a:cubicBezTo>
                  <a:pt x="46752" y="3654989"/>
                  <a:pt x="0" y="3608238"/>
                  <a:pt x="0" y="3550566"/>
                </a:cubicBezTo>
                <a:lnTo>
                  <a:pt x="0" y="104423"/>
                </a:lnTo>
                <a:cubicBezTo>
                  <a:pt x="0" y="46790"/>
                  <a:pt x="46790" y="0"/>
                  <a:pt x="104423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6" name="Text 4"/>
          <p:cNvSpPr/>
          <p:nvPr/>
        </p:nvSpPr>
        <p:spPr>
          <a:xfrm>
            <a:off x="556886" y="1496525"/>
            <a:ext cx="5291032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Advanced Topics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4204" y="1914127"/>
            <a:ext cx="5169113" cy="626570"/>
          </a:xfrm>
          <a:custGeom>
            <a:avLst/>
            <a:gdLst/>
            <a:ahLst/>
            <a:cxnLst/>
            <a:rect l="l" t="t" r="r" b="b"/>
            <a:pathLst>
              <a:path w="5169113" h="626570">
                <a:moveTo>
                  <a:pt x="34636" y="0"/>
                </a:moveTo>
                <a:lnTo>
                  <a:pt x="5099494" y="0"/>
                </a:lnTo>
                <a:cubicBezTo>
                  <a:pt x="5137943" y="0"/>
                  <a:pt x="5169113" y="31169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3" y="626570"/>
                  <a:pt x="5099494" y="626570"/>
                </a:cubicBez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574204" y="1914127"/>
            <a:ext cx="34636" cy="626570"/>
          </a:xfrm>
          <a:custGeom>
            <a:avLst/>
            <a:gdLst/>
            <a:ahLst/>
            <a:cxnLst/>
            <a:rect l="l" t="t" r="r" b="b"/>
            <a:pathLst>
              <a:path w="34636" h="626570">
                <a:moveTo>
                  <a:pt x="34636" y="0"/>
                </a:moveTo>
                <a:lnTo>
                  <a:pt x="34636" y="0"/>
                </a:lnTo>
                <a:lnTo>
                  <a:pt x="34636" y="626570"/>
                </a:ln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Shape 7"/>
          <p:cNvSpPr/>
          <p:nvPr/>
        </p:nvSpPr>
        <p:spPr>
          <a:xfrm>
            <a:off x="739416" y="2140270"/>
            <a:ext cx="130535" cy="174047"/>
          </a:xfrm>
          <a:custGeom>
            <a:avLst/>
            <a:gdLst/>
            <a:ahLst/>
            <a:cxnLst/>
            <a:rect l="l" t="t" r="r" b="b"/>
            <a:pathLst>
              <a:path w="130535" h="174047">
                <a:moveTo>
                  <a:pt x="21756" y="0"/>
                </a:moveTo>
                <a:cubicBezTo>
                  <a:pt x="9756" y="0"/>
                  <a:pt x="0" y="9756"/>
                  <a:pt x="0" y="21756"/>
                </a:cubicBezTo>
                <a:lnTo>
                  <a:pt x="0" y="152291"/>
                </a:lnTo>
                <a:cubicBezTo>
                  <a:pt x="0" y="164291"/>
                  <a:pt x="9756" y="174047"/>
                  <a:pt x="21756" y="174047"/>
                </a:cubicBezTo>
                <a:lnTo>
                  <a:pt x="108779" y="174047"/>
                </a:lnTo>
                <a:cubicBezTo>
                  <a:pt x="120779" y="174047"/>
                  <a:pt x="130535" y="164291"/>
                  <a:pt x="130535" y="152291"/>
                </a:cubicBezTo>
                <a:lnTo>
                  <a:pt x="130535" y="21756"/>
                </a:lnTo>
                <a:cubicBezTo>
                  <a:pt x="130535" y="9756"/>
                  <a:pt x="120779" y="0"/>
                  <a:pt x="108779" y="0"/>
                </a:cubicBezTo>
                <a:lnTo>
                  <a:pt x="21756" y="0"/>
                </a:lnTo>
                <a:close/>
                <a:moveTo>
                  <a:pt x="32634" y="21756"/>
                </a:moveTo>
                <a:lnTo>
                  <a:pt x="97901" y="21756"/>
                </a:lnTo>
                <a:cubicBezTo>
                  <a:pt x="103918" y="21756"/>
                  <a:pt x="108779" y="26617"/>
                  <a:pt x="108779" y="32634"/>
                </a:cubicBezTo>
                <a:lnTo>
                  <a:pt x="108779" y="43512"/>
                </a:lnTo>
                <a:cubicBezTo>
                  <a:pt x="108779" y="49529"/>
                  <a:pt x="103918" y="54390"/>
                  <a:pt x="97901" y="54390"/>
                </a:cubicBezTo>
                <a:lnTo>
                  <a:pt x="32634" y="54390"/>
                </a:lnTo>
                <a:cubicBezTo>
                  <a:pt x="26617" y="54390"/>
                  <a:pt x="21756" y="49529"/>
                  <a:pt x="21756" y="43512"/>
                </a:cubicBezTo>
                <a:lnTo>
                  <a:pt x="21756" y="32634"/>
                </a:lnTo>
                <a:cubicBezTo>
                  <a:pt x="21756" y="26617"/>
                  <a:pt x="26617" y="21756"/>
                  <a:pt x="32634" y="21756"/>
                </a:cubicBezTo>
                <a:close/>
                <a:moveTo>
                  <a:pt x="38073" y="78865"/>
                </a:moveTo>
                <a:cubicBezTo>
                  <a:pt x="38073" y="83368"/>
                  <a:pt x="34417" y="87024"/>
                  <a:pt x="29914" y="87024"/>
                </a:cubicBezTo>
                <a:cubicBezTo>
                  <a:pt x="25412" y="87024"/>
                  <a:pt x="21756" y="83368"/>
                  <a:pt x="21756" y="78865"/>
                </a:cubicBezTo>
                <a:cubicBezTo>
                  <a:pt x="21756" y="74362"/>
                  <a:pt x="25412" y="70707"/>
                  <a:pt x="29914" y="70707"/>
                </a:cubicBezTo>
                <a:cubicBezTo>
                  <a:pt x="34417" y="70707"/>
                  <a:pt x="38073" y="74362"/>
                  <a:pt x="38073" y="78865"/>
                </a:cubicBezTo>
                <a:close/>
                <a:moveTo>
                  <a:pt x="65268" y="87024"/>
                </a:moveTo>
                <a:cubicBezTo>
                  <a:pt x="60765" y="87024"/>
                  <a:pt x="57109" y="83368"/>
                  <a:pt x="57109" y="78865"/>
                </a:cubicBezTo>
                <a:cubicBezTo>
                  <a:pt x="57109" y="74362"/>
                  <a:pt x="60765" y="70707"/>
                  <a:pt x="65268" y="70707"/>
                </a:cubicBezTo>
                <a:cubicBezTo>
                  <a:pt x="69770" y="70707"/>
                  <a:pt x="73426" y="74362"/>
                  <a:pt x="73426" y="78865"/>
                </a:cubicBezTo>
                <a:cubicBezTo>
                  <a:pt x="73426" y="83368"/>
                  <a:pt x="69770" y="87024"/>
                  <a:pt x="65268" y="87024"/>
                </a:cubicBezTo>
                <a:close/>
                <a:moveTo>
                  <a:pt x="108779" y="78865"/>
                </a:moveTo>
                <a:cubicBezTo>
                  <a:pt x="108779" y="83368"/>
                  <a:pt x="105124" y="87024"/>
                  <a:pt x="100621" y="87024"/>
                </a:cubicBezTo>
                <a:cubicBezTo>
                  <a:pt x="96118" y="87024"/>
                  <a:pt x="92463" y="83368"/>
                  <a:pt x="92463" y="78865"/>
                </a:cubicBezTo>
                <a:cubicBezTo>
                  <a:pt x="92463" y="74362"/>
                  <a:pt x="96118" y="70707"/>
                  <a:pt x="100621" y="70707"/>
                </a:cubicBezTo>
                <a:cubicBezTo>
                  <a:pt x="105124" y="70707"/>
                  <a:pt x="108779" y="74362"/>
                  <a:pt x="108779" y="78865"/>
                </a:cubicBezTo>
                <a:close/>
                <a:moveTo>
                  <a:pt x="29914" y="119657"/>
                </a:moveTo>
                <a:cubicBezTo>
                  <a:pt x="25412" y="119657"/>
                  <a:pt x="21756" y="116002"/>
                  <a:pt x="21756" y="111499"/>
                </a:cubicBezTo>
                <a:cubicBezTo>
                  <a:pt x="21756" y="106996"/>
                  <a:pt x="25412" y="103340"/>
                  <a:pt x="29914" y="103340"/>
                </a:cubicBezTo>
                <a:cubicBezTo>
                  <a:pt x="34417" y="103340"/>
                  <a:pt x="38073" y="106996"/>
                  <a:pt x="38073" y="111499"/>
                </a:cubicBezTo>
                <a:cubicBezTo>
                  <a:pt x="38073" y="116002"/>
                  <a:pt x="34417" y="119657"/>
                  <a:pt x="29914" y="119657"/>
                </a:cubicBezTo>
                <a:close/>
                <a:moveTo>
                  <a:pt x="73426" y="111499"/>
                </a:moveTo>
                <a:cubicBezTo>
                  <a:pt x="73426" y="116002"/>
                  <a:pt x="69770" y="119657"/>
                  <a:pt x="65268" y="119657"/>
                </a:cubicBezTo>
                <a:cubicBezTo>
                  <a:pt x="60765" y="119657"/>
                  <a:pt x="57109" y="116002"/>
                  <a:pt x="57109" y="111499"/>
                </a:cubicBezTo>
                <a:cubicBezTo>
                  <a:pt x="57109" y="106996"/>
                  <a:pt x="60765" y="103340"/>
                  <a:pt x="65268" y="103340"/>
                </a:cubicBezTo>
                <a:cubicBezTo>
                  <a:pt x="69770" y="103340"/>
                  <a:pt x="73426" y="106996"/>
                  <a:pt x="73426" y="111499"/>
                </a:cubicBezTo>
                <a:close/>
                <a:moveTo>
                  <a:pt x="100621" y="119657"/>
                </a:moveTo>
                <a:cubicBezTo>
                  <a:pt x="96118" y="119657"/>
                  <a:pt x="92463" y="116002"/>
                  <a:pt x="92463" y="111499"/>
                </a:cubicBezTo>
                <a:cubicBezTo>
                  <a:pt x="92463" y="106996"/>
                  <a:pt x="96118" y="103340"/>
                  <a:pt x="100621" y="103340"/>
                </a:cubicBezTo>
                <a:cubicBezTo>
                  <a:pt x="105124" y="103340"/>
                  <a:pt x="108779" y="106996"/>
                  <a:pt x="108779" y="111499"/>
                </a:cubicBezTo>
                <a:cubicBezTo>
                  <a:pt x="108779" y="116002"/>
                  <a:pt x="105124" y="119657"/>
                  <a:pt x="100621" y="119657"/>
                </a:cubicBezTo>
                <a:close/>
                <a:moveTo>
                  <a:pt x="21756" y="144133"/>
                </a:moveTo>
                <a:cubicBezTo>
                  <a:pt x="21756" y="139612"/>
                  <a:pt x="25393" y="135974"/>
                  <a:pt x="29914" y="135974"/>
                </a:cubicBezTo>
                <a:lnTo>
                  <a:pt x="67987" y="135974"/>
                </a:lnTo>
                <a:cubicBezTo>
                  <a:pt x="72508" y="135974"/>
                  <a:pt x="76146" y="139612"/>
                  <a:pt x="76146" y="144133"/>
                </a:cubicBezTo>
                <a:cubicBezTo>
                  <a:pt x="76146" y="148654"/>
                  <a:pt x="72508" y="152291"/>
                  <a:pt x="67987" y="152291"/>
                </a:cubicBezTo>
                <a:lnTo>
                  <a:pt x="29914" y="152291"/>
                </a:lnTo>
                <a:cubicBezTo>
                  <a:pt x="25393" y="152291"/>
                  <a:pt x="21756" y="148654"/>
                  <a:pt x="21756" y="144133"/>
                </a:cubicBezTo>
                <a:close/>
                <a:moveTo>
                  <a:pt x="100621" y="135974"/>
                </a:moveTo>
                <a:cubicBezTo>
                  <a:pt x="105142" y="135974"/>
                  <a:pt x="108779" y="139612"/>
                  <a:pt x="108779" y="144133"/>
                </a:cubicBezTo>
                <a:cubicBezTo>
                  <a:pt x="108779" y="148654"/>
                  <a:pt x="105142" y="152291"/>
                  <a:pt x="100621" y="152291"/>
                </a:cubicBezTo>
                <a:cubicBezTo>
                  <a:pt x="96100" y="152291"/>
                  <a:pt x="92463" y="148654"/>
                  <a:pt x="92463" y="144133"/>
                </a:cubicBezTo>
                <a:cubicBezTo>
                  <a:pt x="92463" y="139612"/>
                  <a:pt x="96100" y="135974"/>
                  <a:pt x="100621" y="13597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1017845" y="2018505"/>
            <a:ext cx="3120620" cy="208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Matrix Multiplication (MatMul)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7845" y="2262179"/>
            <a:ext cx="3359959" cy="208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Learn shared memory and tiled computation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4204" y="2644938"/>
            <a:ext cx="5169113" cy="626570"/>
          </a:xfrm>
          <a:custGeom>
            <a:avLst/>
            <a:gdLst/>
            <a:ahLst/>
            <a:cxnLst/>
            <a:rect l="l" t="t" r="r" b="b"/>
            <a:pathLst>
              <a:path w="5169113" h="626570">
                <a:moveTo>
                  <a:pt x="34636" y="0"/>
                </a:moveTo>
                <a:lnTo>
                  <a:pt x="5099494" y="0"/>
                </a:lnTo>
                <a:cubicBezTo>
                  <a:pt x="5137943" y="0"/>
                  <a:pt x="5169113" y="31169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3" y="626570"/>
                  <a:pt x="5099494" y="626570"/>
                </a:cubicBez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574204" y="2644938"/>
            <a:ext cx="34636" cy="626570"/>
          </a:xfrm>
          <a:custGeom>
            <a:avLst/>
            <a:gdLst/>
            <a:ahLst/>
            <a:cxnLst/>
            <a:rect l="l" t="t" r="r" b="b"/>
            <a:pathLst>
              <a:path w="34636" h="626570">
                <a:moveTo>
                  <a:pt x="34636" y="0"/>
                </a:moveTo>
                <a:lnTo>
                  <a:pt x="34636" y="0"/>
                </a:lnTo>
                <a:lnTo>
                  <a:pt x="34636" y="626570"/>
                </a:ln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Shape 12"/>
          <p:cNvSpPr/>
          <p:nvPr/>
        </p:nvSpPr>
        <p:spPr>
          <a:xfrm>
            <a:off x="717660" y="2871089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21756" y="32634"/>
                </a:moveTo>
                <a:cubicBezTo>
                  <a:pt x="21756" y="26617"/>
                  <a:pt x="26617" y="21756"/>
                  <a:pt x="32634" y="21756"/>
                </a:cubicBezTo>
                <a:lnTo>
                  <a:pt x="87024" y="21756"/>
                </a:lnTo>
                <a:cubicBezTo>
                  <a:pt x="93040" y="21756"/>
                  <a:pt x="97901" y="26617"/>
                  <a:pt x="97901" y="32634"/>
                </a:cubicBezTo>
                <a:lnTo>
                  <a:pt x="97901" y="130535"/>
                </a:lnTo>
                <a:lnTo>
                  <a:pt x="130535" y="130535"/>
                </a:lnTo>
                <a:lnTo>
                  <a:pt x="130535" y="87024"/>
                </a:lnTo>
                <a:cubicBezTo>
                  <a:pt x="130535" y="81007"/>
                  <a:pt x="135396" y="76146"/>
                  <a:pt x="141413" y="76146"/>
                </a:cubicBezTo>
                <a:lnTo>
                  <a:pt x="163169" y="76146"/>
                </a:lnTo>
                <a:cubicBezTo>
                  <a:pt x="169186" y="76146"/>
                  <a:pt x="174047" y="81007"/>
                  <a:pt x="174047" y="87024"/>
                </a:cubicBezTo>
                <a:cubicBezTo>
                  <a:pt x="174047" y="93040"/>
                  <a:pt x="169186" y="97901"/>
                  <a:pt x="163169" y="97901"/>
                </a:cubicBezTo>
                <a:lnTo>
                  <a:pt x="152291" y="97901"/>
                </a:lnTo>
                <a:lnTo>
                  <a:pt x="152291" y="141413"/>
                </a:lnTo>
                <a:cubicBezTo>
                  <a:pt x="152291" y="147430"/>
                  <a:pt x="147430" y="152291"/>
                  <a:pt x="141413" y="152291"/>
                </a:cubicBezTo>
                <a:lnTo>
                  <a:pt x="87024" y="152291"/>
                </a:lnTo>
                <a:cubicBezTo>
                  <a:pt x="81007" y="152291"/>
                  <a:pt x="76146" y="147430"/>
                  <a:pt x="76146" y="141413"/>
                </a:cubicBezTo>
                <a:lnTo>
                  <a:pt x="76146" y="43512"/>
                </a:lnTo>
                <a:lnTo>
                  <a:pt x="43512" y="43512"/>
                </a:lnTo>
                <a:lnTo>
                  <a:pt x="43512" y="87024"/>
                </a:lnTo>
                <a:cubicBezTo>
                  <a:pt x="43512" y="93040"/>
                  <a:pt x="38651" y="97901"/>
                  <a:pt x="32634" y="97901"/>
                </a:cubicBezTo>
                <a:lnTo>
                  <a:pt x="10878" y="97901"/>
                </a:lnTo>
                <a:cubicBezTo>
                  <a:pt x="4861" y="97901"/>
                  <a:pt x="0" y="93040"/>
                  <a:pt x="0" y="87024"/>
                </a:cubicBezTo>
                <a:cubicBezTo>
                  <a:pt x="0" y="81007"/>
                  <a:pt x="4861" y="76146"/>
                  <a:pt x="10878" y="76146"/>
                </a:cubicBezTo>
                <a:lnTo>
                  <a:pt x="21756" y="76146"/>
                </a:lnTo>
                <a:lnTo>
                  <a:pt x="21756" y="32634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1017845" y="2749315"/>
            <a:ext cx="1540317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Softmax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7844" y="2992990"/>
            <a:ext cx="3768947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Understand reduction operations and numerical stability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4204" y="3375749"/>
            <a:ext cx="5169113" cy="626570"/>
          </a:xfrm>
          <a:custGeom>
            <a:avLst/>
            <a:gdLst/>
            <a:ahLst/>
            <a:cxnLst/>
            <a:rect l="l" t="t" r="r" b="b"/>
            <a:pathLst>
              <a:path w="5169113" h="626570">
                <a:moveTo>
                  <a:pt x="34636" y="0"/>
                </a:moveTo>
                <a:lnTo>
                  <a:pt x="5099494" y="0"/>
                </a:lnTo>
                <a:cubicBezTo>
                  <a:pt x="5137943" y="0"/>
                  <a:pt x="5169113" y="31169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3" y="626570"/>
                  <a:pt x="5099494" y="626570"/>
                </a:cubicBez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574204" y="3375749"/>
            <a:ext cx="34636" cy="626570"/>
          </a:xfrm>
          <a:custGeom>
            <a:avLst/>
            <a:gdLst/>
            <a:ahLst/>
            <a:cxnLst/>
            <a:rect l="l" t="t" r="r" b="b"/>
            <a:pathLst>
              <a:path w="34636" h="626570">
                <a:moveTo>
                  <a:pt x="34636" y="0"/>
                </a:moveTo>
                <a:lnTo>
                  <a:pt x="34636" y="0"/>
                </a:lnTo>
                <a:lnTo>
                  <a:pt x="34636" y="626570"/>
                </a:ln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Shape 17"/>
          <p:cNvSpPr/>
          <p:nvPr/>
        </p:nvSpPr>
        <p:spPr>
          <a:xfrm>
            <a:off x="717660" y="3601900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79035" y="1768"/>
                </a:moveTo>
                <a:cubicBezTo>
                  <a:pt x="84100" y="-578"/>
                  <a:pt x="89947" y="-578"/>
                  <a:pt x="95012" y="1768"/>
                </a:cubicBezTo>
                <a:lnTo>
                  <a:pt x="169322" y="36101"/>
                </a:lnTo>
                <a:cubicBezTo>
                  <a:pt x="172211" y="37427"/>
                  <a:pt x="174047" y="40316"/>
                  <a:pt x="174047" y="43512"/>
                </a:cubicBezTo>
                <a:cubicBezTo>
                  <a:pt x="174047" y="46707"/>
                  <a:pt x="172211" y="49597"/>
                  <a:pt x="169322" y="50922"/>
                </a:cubicBezTo>
                <a:lnTo>
                  <a:pt x="95012" y="85256"/>
                </a:lnTo>
                <a:cubicBezTo>
                  <a:pt x="89947" y="87601"/>
                  <a:pt x="84100" y="87601"/>
                  <a:pt x="79035" y="85256"/>
                </a:cubicBezTo>
                <a:lnTo>
                  <a:pt x="4725" y="50922"/>
                </a:lnTo>
                <a:cubicBezTo>
                  <a:pt x="1836" y="49563"/>
                  <a:pt x="0" y="46673"/>
                  <a:pt x="0" y="43512"/>
                </a:cubicBezTo>
                <a:cubicBezTo>
                  <a:pt x="0" y="40350"/>
                  <a:pt x="1836" y="37427"/>
                  <a:pt x="4725" y="36101"/>
                </a:cubicBezTo>
                <a:lnTo>
                  <a:pt x="79035" y="1768"/>
                </a:lnTo>
                <a:close/>
                <a:moveTo>
                  <a:pt x="16351" y="74242"/>
                </a:moveTo>
                <a:lnTo>
                  <a:pt x="72202" y="100043"/>
                </a:lnTo>
                <a:cubicBezTo>
                  <a:pt x="81619" y="104394"/>
                  <a:pt x="92463" y="104394"/>
                  <a:pt x="101879" y="100043"/>
                </a:cubicBezTo>
                <a:lnTo>
                  <a:pt x="157730" y="74242"/>
                </a:lnTo>
                <a:lnTo>
                  <a:pt x="169322" y="79613"/>
                </a:lnTo>
                <a:cubicBezTo>
                  <a:pt x="172211" y="80939"/>
                  <a:pt x="174047" y="83828"/>
                  <a:pt x="174047" y="87024"/>
                </a:cubicBezTo>
                <a:cubicBezTo>
                  <a:pt x="174047" y="90219"/>
                  <a:pt x="172211" y="93108"/>
                  <a:pt x="169322" y="94434"/>
                </a:cubicBezTo>
                <a:lnTo>
                  <a:pt x="95012" y="128768"/>
                </a:lnTo>
                <a:cubicBezTo>
                  <a:pt x="89947" y="131113"/>
                  <a:pt x="84100" y="131113"/>
                  <a:pt x="79035" y="128768"/>
                </a:cubicBezTo>
                <a:lnTo>
                  <a:pt x="4725" y="94434"/>
                </a:lnTo>
                <a:cubicBezTo>
                  <a:pt x="1836" y="93074"/>
                  <a:pt x="0" y="90185"/>
                  <a:pt x="0" y="87024"/>
                </a:cubicBezTo>
                <a:cubicBezTo>
                  <a:pt x="0" y="83862"/>
                  <a:pt x="1836" y="80939"/>
                  <a:pt x="4725" y="79613"/>
                </a:cubicBezTo>
                <a:lnTo>
                  <a:pt x="16317" y="74242"/>
                </a:lnTo>
                <a:close/>
                <a:moveTo>
                  <a:pt x="4725" y="123125"/>
                </a:moveTo>
                <a:lnTo>
                  <a:pt x="16317" y="117754"/>
                </a:lnTo>
                <a:lnTo>
                  <a:pt x="72168" y="143555"/>
                </a:lnTo>
                <a:cubicBezTo>
                  <a:pt x="81585" y="147906"/>
                  <a:pt x="92429" y="147906"/>
                  <a:pt x="101845" y="143555"/>
                </a:cubicBezTo>
                <a:lnTo>
                  <a:pt x="157696" y="117754"/>
                </a:lnTo>
                <a:lnTo>
                  <a:pt x="169288" y="123125"/>
                </a:lnTo>
                <a:cubicBezTo>
                  <a:pt x="172177" y="124450"/>
                  <a:pt x="174013" y="127340"/>
                  <a:pt x="174013" y="130535"/>
                </a:cubicBezTo>
                <a:cubicBezTo>
                  <a:pt x="174013" y="133731"/>
                  <a:pt x="172177" y="136620"/>
                  <a:pt x="169288" y="137946"/>
                </a:cubicBezTo>
                <a:lnTo>
                  <a:pt x="94978" y="172279"/>
                </a:lnTo>
                <a:cubicBezTo>
                  <a:pt x="89913" y="174625"/>
                  <a:pt x="84066" y="174625"/>
                  <a:pt x="79001" y="172279"/>
                </a:cubicBezTo>
                <a:lnTo>
                  <a:pt x="4725" y="137946"/>
                </a:lnTo>
                <a:cubicBezTo>
                  <a:pt x="1836" y="136586"/>
                  <a:pt x="0" y="133697"/>
                  <a:pt x="0" y="130535"/>
                </a:cubicBezTo>
                <a:cubicBezTo>
                  <a:pt x="0" y="127374"/>
                  <a:pt x="1836" y="124450"/>
                  <a:pt x="4725" y="12312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1017845" y="3480126"/>
            <a:ext cx="1540317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LayerNorm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7845" y="3723801"/>
            <a:ext cx="3768946" cy="207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Learn statistics computation and broadcast operations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4204" y="4106560"/>
            <a:ext cx="5169113" cy="626570"/>
          </a:xfrm>
          <a:custGeom>
            <a:avLst/>
            <a:gdLst/>
            <a:ahLst/>
            <a:cxnLst/>
            <a:rect l="l" t="t" r="r" b="b"/>
            <a:pathLst>
              <a:path w="5169113" h="626570">
                <a:moveTo>
                  <a:pt x="34636" y="0"/>
                </a:moveTo>
                <a:lnTo>
                  <a:pt x="5099494" y="0"/>
                </a:lnTo>
                <a:cubicBezTo>
                  <a:pt x="5137943" y="0"/>
                  <a:pt x="5169113" y="31169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3" y="626570"/>
                  <a:pt x="5099494" y="626570"/>
                </a:cubicBez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574204" y="4106560"/>
            <a:ext cx="34636" cy="626570"/>
          </a:xfrm>
          <a:custGeom>
            <a:avLst/>
            <a:gdLst/>
            <a:ahLst/>
            <a:cxnLst/>
            <a:rect l="l" t="t" r="r" b="b"/>
            <a:pathLst>
              <a:path w="34636" h="626570">
                <a:moveTo>
                  <a:pt x="34636" y="0"/>
                </a:moveTo>
                <a:lnTo>
                  <a:pt x="34636" y="0"/>
                </a:lnTo>
                <a:lnTo>
                  <a:pt x="34636" y="626570"/>
                </a:lnTo>
                <a:lnTo>
                  <a:pt x="34636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4" name="Shape 22"/>
          <p:cNvSpPr/>
          <p:nvPr/>
        </p:nvSpPr>
        <p:spPr>
          <a:xfrm>
            <a:off x="728538" y="4332711"/>
            <a:ext cx="152291" cy="174047"/>
          </a:xfrm>
          <a:custGeom>
            <a:avLst/>
            <a:gdLst/>
            <a:ahLst/>
            <a:cxnLst/>
            <a:rect l="l" t="t" r="r" b="b"/>
            <a:pathLst>
              <a:path w="152291" h="174047">
                <a:moveTo>
                  <a:pt x="115170" y="-3365"/>
                </a:moveTo>
                <a:cubicBezTo>
                  <a:pt x="119215" y="-442"/>
                  <a:pt x="120711" y="4861"/>
                  <a:pt x="118876" y="9484"/>
                </a:cubicBezTo>
                <a:lnTo>
                  <a:pt x="92225" y="76146"/>
                </a:lnTo>
                <a:lnTo>
                  <a:pt x="141413" y="76146"/>
                </a:lnTo>
                <a:cubicBezTo>
                  <a:pt x="146002" y="76146"/>
                  <a:pt x="150082" y="79001"/>
                  <a:pt x="151645" y="83318"/>
                </a:cubicBezTo>
                <a:cubicBezTo>
                  <a:pt x="153209" y="87635"/>
                  <a:pt x="151883" y="92463"/>
                  <a:pt x="148382" y="95386"/>
                </a:cubicBezTo>
                <a:lnTo>
                  <a:pt x="50480" y="176971"/>
                </a:lnTo>
                <a:cubicBezTo>
                  <a:pt x="46639" y="180166"/>
                  <a:pt x="41166" y="180336"/>
                  <a:pt x="37121" y="177412"/>
                </a:cubicBezTo>
                <a:cubicBezTo>
                  <a:pt x="33076" y="174489"/>
                  <a:pt x="31580" y="169186"/>
                  <a:pt x="33416" y="164563"/>
                </a:cubicBezTo>
                <a:lnTo>
                  <a:pt x="60067" y="97901"/>
                </a:lnTo>
                <a:lnTo>
                  <a:pt x="10878" y="97901"/>
                </a:lnTo>
                <a:cubicBezTo>
                  <a:pt x="6289" y="97901"/>
                  <a:pt x="2210" y="95046"/>
                  <a:pt x="646" y="90729"/>
                </a:cubicBezTo>
                <a:cubicBezTo>
                  <a:pt x="-918" y="86412"/>
                  <a:pt x="408" y="81585"/>
                  <a:pt x="3909" y="78661"/>
                </a:cubicBezTo>
                <a:lnTo>
                  <a:pt x="101811" y="-2923"/>
                </a:lnTo>
                <a:cubicBezTo>
                  <a:pt x="105652" y="-6119"/>
                  <a:pt x="111125" y="-6289"/>
                  <a:pt x="115170" y="-336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1017845" y="4210937"/>
            <a:ext cx="1549019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Flash Attention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7845" y="4454612"/>
            <a:ext cx="3633935" cy="2785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Advanced memory optimization and kernel fusion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34726" y="1287694"/>
            <a:ext cx="5604317" cy="3654989"/>
          </a:xfrm>
          <a:custGeom>
            <a:avLst/>
            <a:gdLst/>
            <a:ahLst/>
            <a:cxnLst/>
            <a:rect l="l" t="t" r="r" b="b"/>
            <a:pathLst>
              <a:path w="5604317" h="3654989">
                <a:moveTo>
                  <a:pt x="104423" y="0"/>
                </a:moveTo>
                <a:lnTo>
                  <a:pt x="5499894" y="0"/>
                </a:lnTo>
                <a:cubicBezTo>
                  <a:pt x="5557565" y="0"/>
                  <a:pt x="5604317" y="46752"/>
                  <a:pt x="5604317" y="104423"/>
                </a:cubicBezTo>
                <a:lnTo>
                  <a:pt x="5604317" y="3550566"/>
                </a:lnTo>
                <a:cubicBezTo>
                  <a:pt x="5604317" y="3608238"/>
                  <a:pt x="5557565" y="3654989"/>
                  <a:pt x="5499894" y="3654989"/>
                </a:cubicBezTo>
                <a:lnTo>
                  <a:pt x="104423" y="3654989"/>
                </a:lnTo>
                <a:cubicBezTo>
                  <a:pt x="46752" y="3654989"/>
                  <a:pt x="0" y="3608238"/>
                  <a:pt x="0" y="3550566"/>
                </a:cubicBezTo>
                <a:lnTo>
                  <a:pt x="0" y="104423"/>
                </a:lnTo>
                <a:cubicBezTo>
                  <a:pt x="0" y="46790"/>
                  <a:pt x="46790" y="0"/>
                  <a:pt x="104423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8" name="Text 26"/>
          <p:cNvSpPr/>
          <p:nvPr/>
        </p:nvSpPr>
        <p:spPr>
          <a:xfrm>
            <a:off x="6443558" y="1565863"/>
            <a:ext cx="5291032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Recommended Resources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3558" y="1983466"/>
            <a:ext cx="5186604" cy="800617"/>
          </a:xfrm>
          <a:custGeom>
            <a:avLst/>
            <a:gdLst/>
            <a:ahLst/>
            <a:cxnLst/>
            <a:rect l="l" t="t" r="r" b="b"/>
            <a:pathLst>
              <a:path w="5186604" h="800617">
                <a:moveTo>
                  <a:pt x="69622" y="0"/>
                </a:moveTo>
                <a:lnTo>
                  <a:pt x="5116982" y="0"/>
                </a:lnTo>
                <a:cubicBezTo>
                  <a:pt x="5155433" y="0"/>
                  <a:pt x="5186604" y="31171"/>
                  <a:pt x="5186604" y="69622"/>
                </a:cubicBezTo>
                <a:lnTo>
                  <a:pt x="5186604" y="730995"/>
                </a:lnTo>
                <a:cubicBezTo>
                  <a:pt x="5186604" y="769446"/>
                  <a:pt x="5155433" y="800617"/>
                  <a:pt x="5116982" y="800617"/>
                </a:cubicBezTo>
                <a:lnTo>
                  <a:pt x="69622" y="800617"/>
                </a:lnTo>
                <a:cubicBezTo>
                  <a:pt x="31196" y="800617"/>
                  <a:pt x="0" y="769420"/>
                  <a:pt x="0" y="730995"/>
                </a:cubicBezTo>
                <a:lnTo>
                  <a:pt x="0" y="69622"/>
                </a:lnTo>
                <a:cubicBezTo>
                  <a:pt x="0" y="31196"/>
                  <a:pt x="31196" y="0"/>
                  <a:pt x="6962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6615414" y="2157453"/>
            <a:ext cx="152291" cy="174047"/>
          </a:xfrm>
          <a:custGeom>
            <a:avLst/>
            <a:gdLst/>
            <a:ahLst/>
            <a:cxnLst/>
            <a:rect l="l" t="t" r="r" b="b"/>
            <a:pathLst>
              <a:path w="152291" h="174047">
                <a:moveTo>
                  <a:pt x="130535" y="174047"/>
                </a:moveTo>
                <a:lnTo>
                  <a:pt x="32634" y="174047"/>
                </a:lnTo>
                <a:cubicBezTo>
                  <a:pt x="14617" y="174047"/>
                  <a:pt x="0" y="159430"/>
                  <a:pt x="0" y="141413"/>
                </a:cubicBezTo>
                <a:lnTo>
                  <a:pt x="0" y="32634"/>
                </a:lnTo>
                <a:cubicBezTo>
                  <a:pt x="0" y="14617"/>
                  <a:pt x="14617" y="0"/>
                  <a:pt x="32634" y="0"/>
                </a:cubicBezTo>
                <a:lnTo>
                  <a:pt x="135974" y="0"/>
                </a:lnTo>
                <a:cubicBezTo>
                  <a:pt x="144983" y="0"/>
                  <a:pt x="152291" y="7309"/>
                  <a:pt x="152291" y="16317"/>
                </a:cubicBezTo>
                <a:lnTo>
                  <a:pt x="152291" y="114218"/>
                </a:lnTo>
                <a:cubicBezTo>
                  <a:pt x="152291" y="121323"/>
                  <a:pt x="147736" y="127374"/>
                  <a:pt x="141413" y="129618"/>
                </a:cubicBezTo>
                <a:lnTo>
                  <a:pt x="141413" y="152291"/>
                </a:lnTo>
                <a:cubicBezTo>
                  <a:pt x="147430" y="152291"/>
                  <a:pt x="152291" y="157152"/>
                  <a:pt x="152291" y="163169"/>
                </a:cubicBezTo>
                <a:cubicBezTo>
                  <a:pt x="152291" y="169186"/>
                  <a:pt x="147430" y="174047"/>
                  <a:pt x="141413" y="174047"/>
                </a:cubicBezTo>
                <a:lnTo>
                  <a:pt x="130535" y="174047"/>
                </a:lnTo>
                <a:close/>
                <a:moveTo>
                  <a:pt x="32634" y="130535"/>
                </a:moveTo>
                <a:cubicBezTo>
                  <a:pt x="26617" y="130535"/>
                  <a:pt x="21756" y="135396"/>
                  <a:pt x="21756" y="141413"/>
                </a:cubicBezTo>
                <a:cubicBezTo>
                  <a:pt x="21756" y="147430"/>
                  <a:pt x="26617" y="152291"/>
                  <a:pt x="32634" y="152291"/>
                </a:cubicBezTo>
                <a:lnTo>
                  <a:pt x="119657" y="152291"/>
                </a:lnTo>
                <a:lnTo>
                  <a:pt x="119657" y="130535"/>
                </a:lnTo>
                <a:lnTo>
                  <a:pt x="32634" y="130535"/>
                </a:lnTo>
                <a:close/>
                <a:moveTo>
                  <a:pt x="43512" y="51670"/>
                </a:moveTo>
                <a:cubicBezTo>
                  <a:pt x="43512" y="56191"/>
                  <a:pt x="47149" y="59829"/>
                  <a:pt x="51670" y="59829"/>
                </a:cubicBezTo>
                <a:lnTo>
                  <a:pt x="111499" y="59829"/>
                </a:lnTo>
                <a:cubicBezTo>
                  <a:pt x="116020" y="59829"/>
                  <a:pt x="119657" y="56191"/>
                  <a:pt x="119657" y="51670"/>
                </a:cubicBezTo>
                <a:cubicBezTo>
                  <a:pt x="119657" y="47149"/>
                  <a:pt x="116020" y="43512"/>
                  <a:pt x="111499" y="43512"/>
                </a:cubicBezTo>
                <a:lnTo>
                  <a:pt x="51670" y="43512"/>
                </a:lnTo>
                <a:cubicBezTo>
                  <a:pt x="47149" y="43512"/>
                  <a:pt x="43512" y="47149"/>
                  <a:pt x="43512" y="51670"/>
                </a:cubicBezTo>
                <a:close/>
                <a:moveTo>
                  <a:pt x="51670" y="76146"/>
                </a:moveTo>
                <a:cubicBezTo>
                  <a:pt x="47149" y="76146"/>
                  <a:pt x="43512" y="79783"/>
                  <a:pt x="43512" y="84304"/>
                </a:cubicBezTo>
                <a:cubicBezTo>
                  <a:pt x="43512" y="88825"/>
                  <a:pt x="47149" y="92463"/>
                  <a:pt x="51670" y="92463"/>
                </a:cubicBezTo>
                <a:lnTo>
                  <a:pt x="111499" y="92463"/>
                </a:lnTo>
                <a:cubicBezTo>
                  <a:pt x="116020" y="92463"/>
                  <a:pt x="119657" y="88825"/>
                  <a:pt x="119657" y="84304"/>
                </a:cubicBezTo>
                <a:cubicBezTo>
                  <a:pt x="119657" y="79783"/>
                  <a:pt x="116020" y="76146"/>
                  <a:pt x="111499" y="76146"/>
                </a:cubicBezTo>
                <a:lnTo>
                  <a:pt x="51670" y="7614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6904721" y="2122686"/>
            <a:ext cx="1576492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Official Docs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2780" y="2435971"/>
            <a:ext cx="4977747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https://triton-lang.org/main/index.html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43558" y="2923244"/>
            <a:ext cx="5186604" cy="800617"/>
          </a:xfrm>
          <a:custGeom>
            <a:avLst/>
            <a:gdLst/>
            <a:ahLst/>
            <a:cxnLst/>
            <a:rect l="l" t="t" r="r" b="b"/>
            <a:pathLst>
              <a:path w="5186604" h="800617">
                <a:moveTo>
                  <a:pt x="69622" y="0"/>
                </a:moveTo>
                <a:lnTo>
                  <a:pt x="5116982" y="0"/>
                </a:lnTo>
                <a:cubicBezTo>
                  <a:pt x="5155433" y="0"/>
                  <a:pt x="5186604" y="31171"/>
                  <a:pt x="5186604" y="69622"/>
                </a:cubicBezTo>
                <a:lnTo>
                  <a:pt x="5186604" y="730995"/>
                </a:lnTo>
                <a:cubicBezTo>
                  <a:pt x="5186604" y="769446"/>
                  <a:pt x="5155433" y="800617"/>
                  <a:pt x="5116982" y="800617"/>
                </a:cubicBezTo>
                <a:lnTo>
                  <a:pt x="69622" y="800617"/>
                </a:lnTo>
                <a:cubicBezTo>
                  <a:pt x="31196" y="800617"/>
                  <a:pt x="0" y="769420"/>
                  <a:pt x="0" y="730995"/>
                </a:cubicBezTo>
                <a:lnTo>
                  <a:pt x="0" y="69622"/>
                </a:lnTo>
                <a:cubicBezTo>
                  <a:pt x="0" y="31196"/>
                  <a:pt x="31196" y="0"/>
                  <a:pt x="6962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Shape 32"/>
          <p:cNvSpPr/>
          <p:nvPr/>
        </p:nvSpPr>
        <p:spPr>
          <a:xfrm>
            <a:off x="6593658" y="3097231"/>
            <a:ext cx="195803" cy="174047"/>
          </a:xfrm>
          <a:custGeom>
            <a:avLst/>
            <a:gdLst/>
            <a:ahLst/>
            <a:cxnLst/>
            <a:rect l="l" t="t" r="r" b="b"/>
            <a:pathLst>
              <a:path w="195803" h="174047">
                <a:moveTo>
                  <a:pt x="16317" y="66559"/>
                </a:moveTo>
                <a:lnTo>
                  <a:pt x="87431" y="95828"/>
                </a:lnTo>
                <a:cubicBezTo>
                  <a:pt x="90763" y="97188"/>
                  <a:pt x="94298" y="97901"/>
                  <a:pt x="97901" y="97901"/>
                </a:cubicBezTo>
                <a:cubicBezTo>
                  <a:pt x="101505" y="97901"/>
                  <a:pt x="105040" y="97188"/>
                  <a:pt x="108372" y="95828"/>
                </a:cubicBezTo>
                <a:lnTo>
                  <a:pt x="190772" y="61902"/>
                </a:lnTo>
                <a:cubicBezTo>
                  <a:pt x="193831" y="60645"/>
                  <a:pt x="195803" y="57687"/>
                  <a:pt x="195803" y="54390"/>
                </a:cubicBezTo>
                <a:cubicBezTo>
                  <a:pt x="195803" y="51092"/>
                  <a:pt x="193831" y="48135"/>
                  <a:pt x="190772" y="46877"/>
                </a:cubicBezTo>
                <a:lnTo>
                  <a:pt x="108372" y="12952"/>
                </a:lnTo>
                <a:cubicBezTo>
                  <a:pt x="105040" y="11592"/>
                  <a:pt x="101505" y="10878"/>
                  <a:pt x="97901" y="10878"/>
                </a:cubicBezTo>
                <a:cubicBezTo>
                  <a:pt x="94298" y="10878"/>
                  <a:pt x="90763" y="11592"/>
                  <a:pt x="87431" y="12952"/>
                </a:cubicBezTo>
                <a:lnTo>
                  <a:pt x="5031" y="46877"/>
                </a:lnTo>
                <a:cubicBezTo>
                  <a:pt x="1972" y="48135"/>
                  <a:pt x="0" y="51092"/>
                  <a:pt x="0" y="54390"/>
                </a:cubicBezTo>
                <a:lnTo>
                  <a:pt x="0" y="155011"/>
                </a:lnTo>
                <a:cubicBezTo>
                  <a:pt x="0" y="159532"/>
                  <a:pt x="3637" y="163169"/>
                  <a:pt x="8158" y="163169"/>
                </a:cubicBezTo>
                <a:cubicBezTo>
                  <a:pt x="12680" y="163169"/>
                  <a:pt x="16317" y="159532"/>
                  <a:pt x="16317" y="155011"/>
                </a:cubicBezTo>
                <a:lnTo>
                  <a:pt x="16317" y="66559"/>
                </a:lnTo>
                <a:close/>
                <a:moveTo>
                  <a:pt x="32634" y="90933"/>
                </a:moveTo>
                <a:lnTo>
                  <a:pt x="32634" y="130535"/>
                </a:lnTo>
                <a:cubicBezTo>
                  <a:pt x="32634" y="148552"/>
                  <a:pt x="61868" y="163169"/>
                  <a:pt x="97901" y="163169"/>
                </a:cubicBezTo>
                <a:cubicBezTo>
                  <a:pt x="133935" y="163169"/>
                  <a:pt x="163169" y="148552"/>
                  <a:pt x="163169" y="130535"/>
                </a:cubicBezTo>
                <a:lnTo>
                  <a:pt x="163169" y="90899"/>
                </a:lnTo>
                <a:lnTo>
                  <a:pt x="114592" y="110921"/>
                </a:lnTo>
                <a:cubicBezTo>
                  <a:pt x="109289" y="113097"/>
                  <a:pt x="103646" y="114218"/>
                  <a:pt x="97901" y="114218"/>
                </a:cubicBezTo>
                <a:cubicBezTo>
                  <a:pt x="92157" y="114218"/>
                  <a:pt x="86514" y="113097"/>
                  <a:pt x="81211" y="110921"/>
                </a:cubicBezTo>
                <a:lnTo>
                  <a:pt x="32634" y="90899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5" name="Text 33"/>
          <p:cNvSpPr/>
          <p:nvPr/>
        </p:nvSpPr>
        <p:spPr>
          <a:xfrm>
            <a:off x="6904721" y="3062464"/>
            <a:ext cx="1846517" cy="20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Official Tutorials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2780" y="3375749"/>
            <a:ext cx="4977747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https://triton-lang.org/main/getting-started/tutorials/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3558" y="3863021"/>
            <a:ext cx="5186604" cy="800617"/>
          </a:xfrm>
          <a:custGeom>
            <a:avLst/>
            <a:gdLst/>
            <a:ahLst/>
            <a:cxnLst/>
            <a:rect l="l" t="t" r="r" b="b"/>
            <a:pathLst>
              <a:path w="5186604" h="800617">
                <a:moveTo>
                  <a:pt x="69622" y="0"/>
                </a:moveTo>
                <a:lnTo>
                  <a:pt x="5116982" y="0"/>
                </a:lnTo>
                <a:cubicBezTo>
                  <a:pt x="5155433" y="0"/>
                  <a:pt x="5186604" y="31171"/>
                  <a:pt x="5186604" y="69622"/>
                </a:cubicBezTo>
                <a:lnTo>
                  <a:pt x="5186604" y="730995"/>
                </a:lnTo>
                <a:cubicBezTo>
                  <a:pt x="5186604" y="769446"/>
                  <a:pt x="5155433" y="800617"/>
                  <a:pt x="5116982" y="800617"/>
                </a:cubicBezTo>
                <a:lnTo>
                  <a:pt x="69622" y="800617"/>
                </a:lnTo>
                <a:cubicBezTo>
                  <a:pt x="31196" y="800617"/>
                  <a:pt x="0" y="769420"/>
                  <a:pt x="0" y="730995"/>
                </a:cubicBezTo>
                <a:lnTo>
                  <a:pt x="0" y="69622"/>
                </a:lnTo>
                <a:cubicBezTo>
                  <a:pt x="0" y="31196"/>
                  <a:pt x="31196" y="0"/>
                  <a:pt x="6962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Shape 36"/>
          <p:cNvSpPr/>
          <p:nvPr/>
        </p:nvSpPr>
        <p:spPr>
          <a:xfrm>
            <a:off x="6604536" y="4037018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59115" y="135090"/>
                </a:moveTo>
                <a:cubicBezTo>
                  <a:pt x="59115" y="135770"/>
                  <a:pt x="58333" y="136314"/>
                  <a:pt x="57347" y="136314"/>
                </a:cubicBezTo>
                <a:cubicBezTo>
                  <a:pt x="56225" y="136416"/>
                  <a:pt x="55444" y="135872"/>
                  <a:pt x="55444" y="135090"/>
                </a:cubicBezTo>
                <a:cubicBezTo>
                  <a:pt x="55444" y="134411"/>
                  <a:pt x="56225" y="133867"/>
                  <a:pt x="57211" y="133867"/>
                </a:cubicBezTo>
                <a:cubicBezTo>
                  <a:pt x="58231" y="133765"/>
                  <a:pt x="59115" y="134309"/>
                  <a:pt x="59115" y="135090"/>
                </a:cubicBezTo>
                <a:close/>
                <a:moveTo>
                  <a:pt x="48543" y="133561"/>
                </a:moveTo>
                <a:cubicBezTo>
                  <a:pt x="48305" y="134241"/>
                  <a:pt x="48985" y="135022"/>
                  <a:pt x="50005" y="135226"/>
                </a:cubicBezTo>
                <a:cubicBezTo>
                  <a:pt x="50888" y="135566"/>
                  <a:pt x="51908" y="135226"/>
                  <a:pt x="52112" y="134547"/>
                </a:cubicBezTo>
                <a:cubicBezTo>
                  <a:pt x="52316" y="133867"/>
                  <a:pt x="51670" y="133085"/>
                  <a:pt x="50650" y="132779"/>
                </a:cubicBezTo>
                <a:cubicBezTo>
                  <a:pt x="49767" y="132541"/>
                  <a:pt x="48781" y="132881"/>
                  <a:pt x="48543" y="133561"/>
                </a:cubicBezTo>
                <a:close/>
                <a:moveTo>
                  <a:pt x="63568" y="132983"/>
                </a:moveTo>
                <a:cubicBezTo>
                  <a:pt x="62582" y="133221"/>
                  <a:pt x="61902" y="133867"/>
                  <a:pt x="62004" y="134649"/>
                </a:cubicBezTo>
                <a:cubicBezTo>
                  <a:pt x="62106" y="135328"/>
                  <a:pt x="62990" y="135770"/>
                  <a:pt x="64010" y="135532"/>
                </a:cubicBezTo>
                <a:cubicBezTo>
                  <a:pt x="64996" y="135294"/>
                  <a:pt x="65676" y="134649"/>
                  <a:pt x="65574" y="133969"/>
                </a:cubicBezTo>
                <a:cubicBezTo>
                  <a:pt x="65472" y="133323"/>
                  <a:pt x="64554" y="132881"/>
                  <a:pt x="63568" y="132983"/>
                </a:cubicBezTo>
                <a:close/>
                <a:moveTo>
                  <a:pt x="85936" y="2719"/>
                </a:moveTo>
                <a:cubicBezTo>
                  <a:pt x="38787" y="2719"/>
                  <a:pt x="2719" y="38515"/>
                  <a:pt x="2719" y="85664"/>
                </a:cubicBezTo>
                <a:cubicBezTo>
                  <a:pt x="2719" y="123363"/>
                  <a:pt x="26447" y="155623"/>
                  <a:pt x="60339" y="166976"/>
                </a:cubicBezTo>
                <a:cubicBezTo>
                  <a:pt x="64690" y="167758"/>
                  <a:pt x="66219" y="165073"/>
                  <a:pt x="66219" y="162863"/>
                </a:cubicBezTo>
                <a:cubicBezTo>
                  <a:pt x="66219" y="160756"/>
                  <a:pt x="66118" y="149130"/>
                  <a:pt x="66118" y="141991"/>
                </a:cubicBezTo>
                <a:cubicBezTo>
                  <a:pt x="66118" y="141991"/>
                  <a:pt x="42322" y="147090"/>
                  <a:pt x="37325" y="131861"/>
                </a:cubicBezTo>
                <a:cubicBezTo>
                  <a:pt x="37325" y="131861"/>
                  <a:pt x="33450" y="121969"/>
                  <a:pt x="27875" y="119419"/>
                </a:cubicBezTo>
                <a:cubicBezTo>
                  <a:pt x="27875" y="119419"/>
                  <a:pt x="20090" y="114082"/>
                  <a:pt x="28419" y="114184"/>
                </a:cubicBezTo>
                <a:cubicBezTo>
                  <a:pt x="28419" y="114184"/>
                  <a:pt x="36883" y="114864"/>
                  <a:pt x="41540" y="122955"/>
                </a:cubicBezTo>
                <a:cubicBezTo>
                  <a:pt x="48985" y="136076"/>
                  <a:pt x="61460" y="132303"/>
                  <a:pt x="66321" y="130059"/>
                </a:cubicBezTo>
                <a:cubicBezTo>
                  <a:pt x="67103" y="124620"/>
                  <a:pt x="69313" y="120847"/>
                  <a:pt x="71760" y="118604"/>
                </a:cubicBezTo>
                <a:cubicBezTo>
                  <a:pt x="52758" y="116496"/>
                  <a:pt x="33586" y="113743"/>
                  <a:pt x="33586" y="81041"/>
                </a:cubicBezTo>
                <a:cubicBezTo>
                  <a:pt x="33586" y="71692"/>
                  <a:pt x="36169" y="67001"/>
                  <a:pt x="41608" y="61018"/>
                </a:cubicBezTo>
                <a:cubicBezTo>
                  <a:pt x="40724" y="58809"/>
                  <a:pt x="37835" y="49699"/>
                  <a:pt x="42492" y="37937"/>
                </a:cubicBezTo>
                <a:cubicBezTo>
                  <a:pt x="49597" y="35727"/>
                  <a:pt x="65948" y="47115"/>
                  <a:pt x="65948" y="47115"/>
                </a:cubicBezTo>
                <a:cubicBezTo>
                  <a:pt x="72746" y="45211"/>
                  <a:pt x="80055" y="44226"/>
                  <a:pt x="87296" y="44226"/>
                </a:cubicBezTo>
                <a:cubicBezTo>
                  <a:pt x="94536" y="44226"/>
                  <a:pt x="101845" y="45211"/>
                  <a:pt x="108643" y="47115"/>
                </a:cubicBezTo>
                <a:cubicBezTo>
                  <a:pt x="108643" y="47115"/>
                  <a:pt x="124994" y="35693"/>
                  <a:pt x="132099" y="37937"/>
                </a:cubicBezTo>
                <a:cubicBezTo>
                  <a:pt x="136756" y="49733"/>
                  <a:pt x="133867" y="58809"/>
                  <a:pt x="132983" y="61018"/>
                </a:cubicBezTo>
                <a:cubicBezTo>
                  <a:pt x="138422" y="67035"/>
                  <a:pt x="141753" y="71726"/>
                  <a:pt x="141753" y="81041"/>
                </a:cubicBezTo>
                <a:cubicBezTo>
                  <a:pt x="141753" y="113844"/>
                  <a:pt x="121731" y="116462"/>
                  <a:pt x="102729" y="118604"/>
                </a:cubicBezTo>
                <a:cubicBezTo>
                  <a:pt x="105856" y="121289"/>
                  <a:pt x="108507" y="126388"/>
                  <a:pt x="108507" y="134377"/>
                </a:cubicBezTo>
                <a:cubicBezTo>
                  <a:pt x="108507" y="145832"/>
                  <a:pt x="108406" y="160008"/>
                  <a:pt x="108406" y="162795"/>
                </a:cubicBezTo>
                <a:cubicBezTo>
                  <a:pt x="108406" y="165005"/>
                  <a:pt x="109969" y="167690"/>
                  <a:pt x="114286" y="166908"/>
                </a:cubicBezTo>
                <a:cubicBezTo>
                  <a:pt x="148280" y="155623"/>
                  <a:pt x="171328" y="123363"/>
                  <a:pt x="171328" y="85664"/>
                </a:cubicBezTo>
                <a:cubicBezTo>
                  <a:pt x="171328" y="38515"/>
                  <a:pt x="133085" y="2719"/>
                  <a:pt x="85936" y="2719"/>
                </a:cubicBezTo>
                <a:close/>
                <a:moveTo>
                  <a:pt x="35761" y="119963"/>
                </a:moveTo>
                <a:cubicBezTo>
                  <a:pt x="35319" y="120303"/>
                  <a:pt x="35421" y="121085"/>
                  <a:pt x="35999" y="121731"/>
                </a:cubicBezTo>
                <a:cubicBezTo>
                  <a:pt x="36543" y="122275"/>
                  <a:pt x="37325" y="122513"/>
                  <a:pt x="37767" y="122071"/>
                </a:cubicBezTo>
                <a:cubicBezTo>
                  <a:pt x="38209" y="121731"/>
                  <a:pt x="38107" y="120949"/>
                  <a:pt x="37529" y="120303"/>
                </a:cubicBezTo>
                <a:cubicBezTo>
                  <a:pt x="36985" y="119759"/>
                  <a:pt x="36203" y="119521"/>
                  <a:pt x="35761" y="119963"/>
                </a:cubicBezTo>
                <a:close/>
                <a:moveTo>
                  <a:pt x="32090" y="117210"/>
                </a:moveTo>
                <a:cubicBezTo>
                  <a:pt x="31852" y="117652"/>
                  <a:pt x="32192" y="118196"/>
                  <a:pt x="32872" y="118536"/>
                </a:cubicBezTo>
                <a:cubicBezTo>
                  <a:pt x="33416" y="118876"/>
                  <a:pt x="34096" y="118774"/>
                  <a:pt x="34334" y="118298"/>
                </a:cubicBezTo>
                <a:cubicBezTo>
                  <a:pt x="34571" y="117856"/>
                  <a:pt x="34232" y="117312"/>
                  <a:pt x="33552" y="116972"/>
                </a:cubicBezTo>
                <a:cubicBezTo>
                  <a:pt x="32872" y="116768"/>
                  <a:pt x="32328" y="116870"/>
                  <a:pt x="32090" y="117210"/>
                </a:cubicBezTo>
                <a:close/>
                <a:moveTo>
                  <a:pt x="43104" y="129312"/>
                </a:moveTo>
                <a:cubicBezTo>
                  <a:pt x="42560" y="129753"/>
                  <a:pt x="42764" y="130773"/>
                  <a:pt x="43546" y="131419"/>
                </a:cubicBezTo>
                <a:cubicBezTo>
                  <a:pt x="44328" y="132201"/>
                  <a:pt x="45313" y="132303"/>
                  <a:pt x="45755" y="131759"/>
                </a:cubicBezTo>
                <a:cubicBezTo>
                  <a:pt x="46197" y="131317"/>
                  <a:pt x="45993" y="130297"/>
                  <a:pt x="45313" y="129651"/>
                </a:cubicBezTo>
                <a:cubicBezTo>
                  <a:pt x="44566" y="128870"/>
                  <a:pt x="43546" y="128768"/>
                  <a:pt x="43104" y="129312"/>
                </a:cubicBezTo>
                <a:close/>
                <a:moveTo>
                  <a:pt x="39229" y="124315"/>
                </a:moveTo>
                <a:cubicBezTo>
                  <a:pt x="38685" y="124654"/>
                  <a:pt x="38685" y="125538"/>
                  <a:pt x="39229" y="126320"/>
                </a:cubicBezTo>
                <a:cubicBezTo>
                  <a:pt x="39772" y="127102"/>
                  <a:pt x="40690" y="127442"/>
                  <a:pt x="41132" y="127102"/>
                </a:cubicBezTo>
                <a:cubicBezTo>
                  <a:pt x="41676" y="126660"/>
                  <a:pt x="41676" y="125776"/>
                  <a:pt x="41132" y="124994"/>
                </a:cubicBezTo>
                <a:cubicBezTo>
                  <a:pt x="40656" y="124213"/>
                  <a:pt x="39772" y="123873"/>
                  <a:pt x="39229" y="12431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9" name="Text 37"/>
          <p:cNvSpPr/>
          <p:nvPr/>
        </p:nvSpPr>
        <p:spPr>
          <a:xfrm>
            <a:off x="6904720" y="4002242"/>
            <a:ext cx="1674683" cy="2088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10182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82780" y="4315527"/>
            <a:ext cx="4977747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https://github.com/triton-lang/triton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8054" y="5150647"/>
            <a:ext cx="11495812" cy="1427186"/>
          </a:xfrm>
          <a:custGeom>
            <a:avLst/>
            <a:gdLst/>
            <a:ahLst/>
            <a:cxnLst/>
            <a:rect l="l" t="t" r="r" b="b"/>
            <a:pathLst>
              <a:path w="11495812" h="1427186">
                <a:moveTo>
                  <a:pt x="104427" y="0"/>
                </a:moveTo>
                <a:lnTo>
                  <a:pt x="11391384" y="0"/>
                </a:lnTo>
                <a:cubicBezTo>
                  <a:pt x="11449058" y="0"/>
                  <a:pt x="11495812" y="46754"/>
                  <a:pt x="11495812" y="104427"/>
                </a:cubicBezTo>
                <a:lnTo>
                  <a:pt x="11495812" y="1322759"/>
                </a:lnTo>
                <a:cubicBezTo>
                  <a:pt x="11495812" y="1380433"/>
                  <a:pt x="11449058" y="1427186"/>
                  <a:pt x="11391384" y="1427186"/>
                </a:cubicBezTo>
                <a:lnTo>
                  <a:pt x="104427" y="1427186"/>
                </a:lnTo>
                <a:cubicBezTo>
                  <a:pt x="46754" y="1427186"/>
                  <a:pt x="0" y="1380433"/>
                  <a:pt x="0" y="1322759"/>
                </a:cubicBezTo>
                <a:lnTo>
                  <a:pt x="0" y="104427"/>
                </a:lnTo>
                <a:cubicBezTo>
                  <a:pt x="0" y="46792"/>
                  <a:pt x="46792" y="0"/>
                  <a:pt x="104427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2" name="Shape 40"/>
          <p:cNvSpPr/>
          <p:nvPr/>
        </p:nvSpPr>
        <p:spPr>
          <a:xfrm>
            <a:off x="5938889" y="5359478"/>
            <a:ext cx="313285" cy="313285"/>
          </a:xfrm>
          <a:custGeom>
            <a:avLst/>
            <a:gdLst/>
            <a:ahLst/>
            <a:cxnLst/>
            <a:rect l="l" t="t" r="r" b="b"/>
            <a:pathLst>
              <a:path w="313285" h="313285">
                <a:moveTo>
                  <a:pt x="78321" y="195803"/>
                </a:moveTo>
                <a:lnTo>
                  <a:pt x="14991" y="195803"/>
                </a:lnTo>
                <a:cubicBezTo>
                  <a:pt x="-245" y="195803"/>
                  <a:pt x="-9607" y="179221"/>
                  <a:pt x="-1774" y="166127"/>
                </a:cubicBezTo>
                <a:lnTo>
                  <a:pt x="30594" y="112158"/>
                </a:lnTo>
                <a:cubicBezTo>
                  <a:pt x="35918" y="103286"/>
                  <a:pt x="45463" y="97901"/>
                  <a:pt x="55804" y="97901"/>
                </a:cubicBezTo>
                <a:lnTo>
                  <a:pt x="113933" y="97901"/>
                </a:lnTo>
                <a:cubicBezTo>
                  <a:pt x="160497" y="19030"/>
                  <a:pt x="229946" y="15052"/>
                  <a:pt x="276388" y="21844"/>
                </a:cubicBezTo>
                <a:cubicBezTo>
                  <a:pt x="284220" y="23007"/>
                  <a:pt x="290339" y="29126"/>
                  <a:pt x="291441" y="36897"/>
                </a:cubicBezTo>
                <a:cubicBezTo>
                  <a:pt x="298232" y="83339"/>
                  <a:pt x="294255" y="152788"/>
                  <a:pt x="215383" y="199352"/>
                </a:cubicBezTo>
                <a:lnTo>
                  <a:pt x="215383" y="257481"/>
                </a:lnTo>
                <a:cubicBezTo>
                  <a:pt x="215383" y="267822"/>
                  <a:pt x="209999" y="277367"/>
                  <a:pt x="201126" y="282691"/>
                </a:cubicBezTo>
                <a:lnTo>
                  <a:pt x="147158" y="315059"/>
                </a:lnTo>
                <a:cubicBezTo>
                  <a:pt x="134125" y="322891"/>
                  <a:pt x="117482" y="313468"/>
                  <a:pt x="117482" y="298294"/>
                </a:cubicBezTo>
                <a:lnTo>
                  <a:pt x="117482" y="234964"/>
                </a:lnTo>
                <a:cubicBezTo>
                  <a:pt x="117482" y="213364"/>
                  <a:pt x="99921" y="195803"/>
                  <a:pt x="78321" y="195803"/>
                </a:cubicBezTo>
                <a:lnTo>
                  <a:pt x="78260" y="195803"/>
                </a:lnTo>
                <a:close/>
                <a:moveTo>
                  <a:pt x="244754" y="97901"/>
                </a:moveTo>
                <a:cubicBezTo>
                  <a:pt x="244754" y="81692"/>
                  <a:pt x="231593" y="68531"/>
                  <a:pt x="215383" y="68531"/>
                </a:cubicBezTo>
                <a:cubicBezTo>
                  <a:pt x="199173" y="68531"/>
                  <a:pt x="186013" y="81692"/>
                  <a:pt x="186013" y="97901"/>
                </a:cubicBezTo>
                <a:cubicBezTo>
                  <a:pt x="186013" y="114111"/>
                  <a:pt x="199173" y="127272"/>
                  <a:pt x="215383" y="127272"/>
                </a:cubicBezTo>
                <a:cubicBezTo>
                  <a:pt x="231593" y="127272"/>
                  <a:pt x="244754" y="114111"/>
                  <a:pt x="244754" y="9790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504672" y="5777149"/>
            <a:ext cx="11182527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Start Your Triton Journey!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7725" y="6125132"/>
            <a:ext cx="11156420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5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Starting from Vector Add, explore the limitless possibilities of GPU programming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48054" y="6716859"/>
            <a:ext cx="11548026" cy="1392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0" dirty="0">
                <a:solidFill>
                  <a:srgbClr val="99A1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Triton Official Docs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封面</Template>
  <TotalTime>0</TotalTime>
  <Words>2446</Words>
  <Application>Microsoft Office PowerPoint</Application>
  <PresentationFormat>宽屏</PresentationFormat>
  <Paragraphs>424</Paragraphs>
  <Slides>25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MiSans</vt:lpstr>
      <vt:lpstr>Noto Sans SC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06: Vector Computation Basics   Vector Add in Triton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容错域量子EDA研究</dc:title>
  <dc:creator>王丰</dc:creator>
  <cp:lastModifiedBy>Xiang Li</cp:lastModifiedBy>
  <cp:revision>1619</cp:revision>
  <dcterms:created xsi:type="dcterms:W3CDTF">2026-03-12T02:41:00Z</dcterms:created>
  <dcterms:modified xsi:type="dcterms:W3CDTF">2026-03-17T14:53:20Z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F7191C2708FD07F82CD87F6915CBD24F_43</vt:lpwstr>
  </property>
  <property fmtid="{D5CDD505-2E9C-101B-9397-08002B2CF9AE}" pid="3" name="KSOProductBuildVer">
    <vt:lpwstr>2052-12.1.0.19302</vt:lpwstr>
  </property>
</Properties>
</file>