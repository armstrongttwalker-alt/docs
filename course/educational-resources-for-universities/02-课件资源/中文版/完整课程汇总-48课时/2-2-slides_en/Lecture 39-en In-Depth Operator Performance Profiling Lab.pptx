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33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18"/>
    <p:sldId id="279" r:id="rId19"/>
    <p:sldId id="280" r:id="rId20"/>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442" autoAdjust="0"/>
  </p:normalViewPr>
  <p:slideViewPr>
    <p:cSldViewPr snapToGrid="0" snapToObjects="1">
      <p:cViewPr varScale="1">
        <p:scale>
          <a:sx n="50" d="100"/>
          <a:sy n="50" d="100"/>
        </p:scale>
        <p:origin x="10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4"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5"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872432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277814425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image" Target="../media/image21.png"/><Relationship Id="rId26" Type="http://schemas.openxmlformats.org/officeDocument/2006/relationships/hyperlink" Target="https://www.zhihu.com/people/95-22-20-18/posts" TargetMode="External"/><Relationship Id="rId3" Type="http://schemas.openxmlformats.org/officeDocument/2006/relationships/tags" Target="../tags/tag12.xml"/><Relationship Id="rId21" Type="http://schemas.openxmlformats.org/officeDocument/2006/relationships/image" Target="../media/image24.png"/><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23.png"/><Relationship Id="rId29" Type="http://schemas.openxmlformats.org/officeDocument/2006/relationships/image" Target="../media/image28.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hyperlink" Target="https://github.com/flagos-ai" TargetMode="Externa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image" Target="../media/image26.png"/><Relationship Id="rId28" Type="http://schemas.openxmlformats.org/officeDocument/2006/relationships/image" Target="../media/image27.jpeg"/><Relationship Id="rId10" Type="http://schemas.openxmlformats.org/officeDocument/2006/relationships/tags" Target="../tags/tag19.xml"/><Relationship Id="rId19" Type="http://schemas.openxmlformats.org/officeDocument/2006/relationships/image" Target="../media/image22.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image" Target="../media/image25.png"/><Relationship Id="rId27" Type="http://schemas.openxmlformats.org/officeDocument/2006/relationships/hyperlink" Target="https://flagos.io/Hom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Lecture 39: In-Depth Operator Performance Profiling Lab</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GPU Architecture</a:t>
            </a:r>
          </a:p>
        </p:txBody>
      </p:sp>
      <p:sp>
        <p:nvSpPr>
          <p:cNvPr id="5" name="灯片编号占位符 4"/>
          <p:cNvSpPr>
            <a:spLocks noGrp="1"/>
          </p:cNvSpPr>
          <p:nvPr>
            <p:ph type="sldNum" sz="quarter" idx="12"/>
          </p:nvPr>
        </p:nvSpPr>
        <p:spPr/>
        <p:txBody>
          <a:bodyPr/>
          <a:lstStyle/>
          <a:p>
            <a:fld id="{B33F7469-D28B-482F-B1B6-3B8E7CF51519}" type="slidenum">
              <a:rPr lang="zh-CN" altLang="en-US" smtClean="0"/>
              <a:t>3</a:t>
            </a:fld>
            <a:endParaRPr lang="zh-CN" altLang="en-US" dirty="0"/>
          </a:p>
        </p:txBody>
      </p:sp>
      <p:sp>
        <p:nvSpPr>
          <p:cNvPr id="3" name="内容占位符 2"/>
          <p:cNvSpPr>
            <a:spLocks noGrp="1"/>
          </p:cNvSpPr>
          <p:nvPr>
            <p:ph sz="quarter" idx="13"/>
          </p:nvPr>
        </p:nvSpPr>
        <p:spPr/>
        <p:txBody>
          <a:bodyPr/>
          <a:lstStyle/>
          <a:p>
            <a:r>
              <a:rPr lang="en-US" altLang="zh-CN" sz="2400">
                <a:sym typeface="+mn-ea"/>
              </a:rPr>
              <a:t>Execution model</a:t>
            </a:r>
            <a:endParaRPr lang="en-US" altLang="zh-CN" sz="2400"/>
          </a:p>
          <a:p>
            <a:pPr lvl="1"/>
            <a:r>
              <a:rPr lang="en-US" altLang="zh-CN" sz="2400">
                <a:sym typeface="+mn-ea"/>
              </a:rPr>
              <a:t>GPU execution without/with batched thread groups</a:t>
            </a:r>
            <a:endParaRPr lang="en-US" altLang="zh-CN" sz="2400"/>
          </a:p>
          <a:p>
            <a:pPr lvl="1"/>
            <a:r>
              <a:rPr lang="en-US" altLang="zh-CN" sz="2400">
                <a:sym typeface="+mn-ea"/>
              </a:rPr>
              <a:t>Single-instruction multiple threads (SIMT) </a:t>
            </a:r>
            <a:endParaRPr lang="en-US" altLang="zh-CN" sz="2400"/>
          </a:p>
          <a:p>
            <a:pPr lvl="1"/>
            <a:r>
              <a:rPr lang="en-US" altLang="zh-CN" sz="2400">
                <a:sym typeface="+mn-ea"/>
              </a:rPr>
              <a:t>Hierachical thread execution model</a:t>
            </a:r>
            <a:endParaRPr lang="en-US" altLang="zh-CN" sz="2400"/>
          </a:p>
          <a:p>
            <a:endParaRPr lang="zh-CN" altLang="en-US"/>
          </a:p>
        </p:txBody>
      </p:sp>
      <p:pic>
        <p:nvPicPr>
          <p:cNvPr id="6" name="图片 5"/>
          <p:cNvPicPr>
            <a:picLocks noChangeAspect="1"/>
          </p:cNvPicPr>
          <p:nvPr/>
        </p:nvPicPr>
        <p:blipFill>
          <a:blip r:embed="rId2"/>
          <a:stretch>
            <a:fillRect/>
          </a:stretch>
        </p:blipFill>
        <p:spPr>
          <a:xfrm>
            <a:off x="5814695" y="2959735"/>
            <a:ext cx="5760000" cy="3070468"/>
          </a:xfrm>
          <a:prstGeom prst="rect">
            <a:avLst/>
          </a:prstGeom>
        </p:spPr>
      </p:pic>
      <p:pic>
        <p:nvPicPr>
          <p:cNvPr id="7" name="图片 6"/>
          <p:cNvPicPr>
            <a:picLocks noChangeAspect="1"/>
          </p:cNvPicPr>
          <p:nvPr/>
        </p:nvPicPr>
        <p:blipFill>
          <a:blip r:embed="rId3"/>
          <a:stretch>
            <a:fillRect/>
          </a:stretch>
        </p:blipFill>
        <p:spPr>
          <a:xfrm>
            <a:off x="984250" y="3527425"/>
            <a:ext cx="4320000" cy="1933961"/>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sym typeface="+mn-ea"/>
              </a:rPr>
              <a:t>Occupancy – Registers</a:t>
            </a:r>
            <a:endParaRPr lang="zh-CN" altLang="en-US"/>
          </a:p>
        </p:txBody>
      </p:sp>
      <p:sp>
        <p:nvSpPr>
          <p:cNvPr id="3" name="灯片编号占位符 2"/>
          <p:cNvSpPr>
            <a:spLocks noGrp="1"/>
          </p:cNvSpPr>
          <p:nvPr>
            <p:ph type="sldNum" sz="quarter" idx="12"/>
          </p:nvPr>
        </p:nvSpPr>
        <p:spPr/>
        <p:txBody>
          <a:bodyPr/>
          <a:lstStyle/>
          <a:p>
            <a:fld id="{B33F7469-D28B-482F-B1B6-3B8E7CF51519}" type="slidenum">
              <a:rPr lang="zh-CN" altLang="en-US" smtClean="0"/>
              <a:t>4</a:t>
            </a:fld>
            <a:endParaRPr lang="zh-CN" altLang="en-US" dirty="0"/>
          </a:p>
        </p:txBody>
      </p:sp>
      <p:sp>
        <p:nvSpPr>
          <p:cNvPr id="5" name="内容占位符 4"/>
          <p:cNvSpPr>
            <a:spLocks noGrp="1"/>
          </p:cNvSpPr>
          <p:nvPr>
            <p:ph sz="quarter" idx="13"/>
          </p:nvPr>
        </p:nvSpPr>
        <p:spPr/>
        <p:txBody>
          <a:bodyPr>
            <a:normAutofit/>
          </a:bodyPr>
          <a:lstStyle/>
          <a:p>
            <a:r>
              <a:rPr lang="en-US" sz="2400" dirty="0">
                <a:sym typeface="+mn-ea"/>
              </a:rPr>
              <a:t>The availability of registers is one of the major limiting factor for larger kernels</a:t>
            </a:r>
            <a:endParaRPr lang="en-US" sz="2400" dirty="0"/>
          </a:p>
          <a:p>
            <a:pPr lvl="0"/>
            <a:r>
              <a:rPr lang="en-US" sz="2400" dirty="0">
                <a:sym typeface="+mn-ea"/>
              </a:rPr>
              <a:t>Example: Consider a GPU with 16384 registers per SM running a kernel that requires 35 registers per thread </a:t>
            </a:r>
            <a:endParaRPr lang="en-US" sz="2400" dirty="0"/>
          </a:p>
          <a:p>
            <a:pPr lvl="1"/>
            <a:r>
              <a:rPr lang="en-US" sz="2400" dirty="0">
                <a:solidFill>
                  <a:srgbClr val="8B0012"/>
                </a:solidFill>
                <a:sym typeface="+mn-ea"/>
              </a:rPr>
              <a:t>Each SM can execute at most 468 threads</a:t>
            </a:r>
            <a:endParaRPr lang="en-US" sz="2400" dirty="0">
              <a:solidFill>
                <a:srgbClr val="8B0012"/>
              </a:solidFill>
            </a:endParaRPr>
          </a:p>
          <a:p>
            <a:pPr lvl="1"/>
            <a:r>
              <a:rPr lang="en-US" sz="2400" dirty="0">
                <a:solidFill>
                  <a:srgbClr val="8B0012"/>
                </a:solidFill>
                <a:sym typeface="+mn-ea"/>
              </a:rPr>
              <a:t>This affects the choice of block size</a:t>
            </a:r>
          </a:p>
          <a:p>
            <a:pPr lvl="2"/>
            <a:r>
              <a:rPr lang="en-US" dirty="0">
                <a:sym typeface="+mn-ea"/>
              </a:rPr>
              <a:t>A block size of 512 is not possible</a:t>
            </a:r>
            <a:endParaRPr lang="en-US" dirty="0"/>
          </a:p>
          <a:p>
            <a:pPr lvl="2"/>
            <a:r>
              <a:rPr lang="en-US" dirty="0">
                <a:sym typeface="+mn-ea"/>
              </a:rPr>
              <a:t>Only 1 block of 256 threads is allowed at a time, even though 212 more threads could be running</a:t>
            </a:r>
            <a:endParaRPr lang="en-US" dirty="0"/>
          </a:p>
          <a:p>
            <a:pPr lvl="2"/>
            <a:r>
              <a:rPr lang="en-US" dirty="0">
                <a:sym typeface="+mn-ea"/>
              </a:rPr>
              <a:t>3 blockss of 128 threads are allowed, providing 384 threads to be scheduled, etc.</a:t>
            </a:r>
            <a:endParaRPr lang="zh-CN" alt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Occupancy – Registers</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3" name="内容占位符 2"/>
          <p:cNvSpPr>
            <a:spLocks noGrp="1"/>
          </p:cNvSpPr>
          <p:nvPr>
            <p:ph sz="quarter" idx="13"/>
          </p:nvPr>
        </p:nvSpPr>
        <p:spPr/>
        <p:txBody>
          <a:bodyPr/>
          <a:lstStyle/>
          <a:p>
            <a:r>
              <a:rPr lang="en-US" sz="2400" dirty="0">
                <a:sym typeface="+mn-ea"/>
              </a:rPr>
              <a:t>Consider another example: </a:t>
            </a:r>
            <a:endParaRPr lang="en-US" sz="2400" dirty="0"/>
          </a:p>
          <a:p>
            <a:pPr lvl="1"/>
            <a:r>
              <a:rPr lang="en-US" sz="2400" dirty="0">
                <a:solidFill>
                  <a:srgbClr val="8B0012"/>
                </a:solidFill>
                <a:sym typeface="+mn-ea"/>
              </a:rPr>
              <a:t>A GPU has 16384 registers per SM</a:t>
            </a:r>
            <a:endParaRPr lang="en-US" sz="2400" dirty="0">
              <a:solidFill>
                <a:srgbClr val="8B0012"/>
              </a:solidFill>
            </a:endParaRPr>
          </a:p>
          <a:p>
            <a:pPr lvl="1"/>
            <a:r>
              <a:rPr lang="en-US" sz="2400" dirty="0">
                <a:solidFill>
                  <a:srgbClr val="8B0012"/>
                </a:solidFill>
                <a:sym typeface="+mn-ea"/>
              </a:rPr>
              <a:t>The block size of a kernel is fixed at 256 threads</a:t>
            </a:r>
            <a:endParaRPr lang="en-US" sz="2400" dirty="0">
              <a:solidFill>
                <a:srgbClr val="8B0012"/>
              </a:solidFill>
            </a:endParaRPr>
          </a:p>
          <a:p>
            <a:pPr lvl="1"/>
            <a:r>
              <a:rPr lang="en-US" sz="2400" dirty="0">
                <a:solidFill>
                  <a:srgbClr val="8B0012"/>
                </a:solidFill>
                <a:sym typeface="+mn-ea"/>
              </a:rPr>
              <a:t>The kernel currently requires 17 registers per thread</a:t>
            </a:r>
            <a:endParaRPr lang="en-US" sz="2400" dirty="0">
              <a:solidFill>
                <a:srgbClr val="8B0012"/>
              </a:solidFill>
            </a:endParaRPr>
          </a:p>
          <a:p>
            <a:r>
              <a:rPr lang="en-US" sz="2400" dirty="0">
                <a:sym typeface="+mn-ea"/>
              </a:rPr>
              <a:t>Given the information, each block requires 4352 registers</a:t>
            </a:r>
            <a:endParaRPr lang="en-US" sz="2400" dirty="0"/>
          </a:p>
          <a:p>
            <a:pPr lvl="1"/>
            <a:r>
              <a:rPr lang="en-US" sz="2400" dirty="0">
                <a:solidFill>
                  <a:srgbClr val="8B0012"/>
                </a:solidFill>
                <a:sym typeface="+mn-ea"/>
              </a:rPr>
              <a:t>This allows for 3 active blocks if registers are the only limiting factor</a:t>
            </a:r>
            <a:endParaRPr lang="en-US" sz="2400" dirty="0">
              <a:solidFill>
                <a:srgbClr val="8B0012"/>
              </a:solidFill>
            </a:endParaRPr>
          </a:p>
          <a:p>
            <a:r>
              <a:rPr lang="en-US" sz="2400" dirty="0">
                <a:sym typeface="+mn-ea"/>
              </a:rPr>
              <a:t>If the code can be restructured to only use 16 registers, then 4 active blocks would be possible</a:t>
            </a:r>
            <a:endParaRPr lang="zh-CN" alt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Occupancy – Shared Memory</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3" name="内容占位符 2"/>
          <p:cNvSpPr>
            <a:spLocks noGrp="1"/>
          </p:cNvSpPr>
          <p:nvPr>
            <p:ph sz="quarter" idx="13"/>
          </p:nvPr>
        </p:nvSpPr>
        <p:spPr/>
        <p:txBody>
          <a:bodyPr/>
          <a:lstStyle/>
          <a:p>
            <a:r>
              <a:rPr lang="en-US" sz="2400" dirty="0" err="1">
                <a:sym typeface="+mn-ea"/>
              </a:rPr>
              <a:t>GPUs</a:t>
            </a:r>
            <a:r>
              <a:rPr lang="en-US" sz="2400" dirty="0">
                <a:sym typeface="+mn-ea"/>
              </a:rPr>
              <a:t> have a limited amount of shared memory on each SM</a:t>
            </a:r>
            <a:endParaRPr lang="en-US" sz="2400" dirty="0"/>
          </a:p>
          <a:p>
            <a:pPr lvl="1"/>
            <a:r>
              <a:rPr lang="en-US" sz="2400" dirty="0">
                <a:solidFill>
                  <a:srgbClr val="8B0012"/>
                </a:solidFill>
                <a:sym typeface="+mn-ea"/>
              </a:rPr>
              <a:t>tens or a hundred KB of shared memory on recent </a:t>
            </a:r>
            <a:r>
              <a:rPr lang="en-US" sz="2400" dirty="0" err="1">
                <a:solidFill>
                  <a:srgbClr val="8B0012"/>
                </a:solidFill>
                <a:sym typeface="+mn-ea"/>
              </a:rPr>
              <a:t>GPUs</a:t>
            </a:r>
            <a:endParaRPr lang="en-US" sz="2400" dirty="0">
              <a:solidFill>
                <a:srgbClr val="8B0012"/>
              </a:solidFill>
            </a:endParaRPr>
          </a:p>
          <a:p>
            <a:r>
              <a:rPr lang="en-US" sz="2400" dirty="0">
                <a:sym typeface="+mn-ea"/>
              </a:rPr>
              <a:t>Shared memory limits the number of active blocks per SM</a:t>
            </a:r>
            <a:endParaRPr lang="en-US" sz="2400" dirty="0"/>
          </a:p>
          <a:p>
            <a:r>
              <a:rPr lang="en-US" sz="2400" dirty="0">
                <a:sym typeface="+mn-ea"/>
              </a:rPr>
              <a:t>Depending on the kernel, the data per block may be fixed regardless of number of threads (e.g., histograms), or may vary based on the number of threads (e.g., matrix multiplication, convolution)</a:t>
            </a:r>
            <a:endParaRPr lang="en-US" sz="2400" dirty="0"/>
          </a:p>
          <a:p>
            <a:endParaRPr lang="en-US" sz="2400" dirty="0"/>
          </a:p>
          <a:p>
            <a:endParaRPr lang="zh-CN" alt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Occupancy – Threads</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3" name="内容占位符 2"/>
          <p:cNvSpPr>
            <a:spLocks noGrp="1"/>
          </p:cNvSpPr>
          <p:nvPr>
            <p:ph sz="quarter" idx="13"/>
          </p:nvPr>
        </p:nvSpPr>
        <p:spPr/>
        <p:txBody>
          <a:bodyPr/>
          <a:lstStyle/>
          <a:p>
            <a:r>
              <a:rPr lang="en-US" sz="2400" dirty="0" err="1">
                <a:sym typeface="+mn-ea"/>
              </a:rPr>
              <a:t>GPUs</a:t>
            </a:r>
            <a:r>
              <a:rPr lang="en-US" sz="2400" dirty="0">
                <a:sym typeface="+mn-ea"/>
              </a:rPr>
              <a:t> have hardware limitations on the maximum number of threads per block</a:t>
            </a:r>
            <a:endParaRPr lang="en-US" sz="2400" dirty="0"/>
          </a:p>
          <a:p>
            <a:pPr lvl="1"/>
            <a:r>
              <a:rPr lang="en-US" sz="2400" dirty="0">
                <a:solidFill>
                  <a:srgbClr val="8B0012"/>
                </a:solidFill>
                <a:sym typeface="+mn-ea"/>
              </a:rPr>
              <a:t>256 threads per block on AMD </a:t>
            </a:r>
            <a:r>
              <a:rPr lang="en-US" sz="2400" dirty="0" err="1">
                <a:solidFill>
                  <a:srgbClr val="8B0012"/>
                </a:solidFill>
                <a:sym typeface="+mn-ea"/>
              </a:rPr>
              <a:t>GPUs</a:t>
            </a:r>
            <a:endParaRPr lang="en-US" sz="2400" dirty="0">
              <a:solidFill>
                <a:srgbClr val="8B0012"/>
              </a:solidFill>
            </a:endParaRPr>
          </a:p>
          <a:p>
            <a:pPr lvl="1"/>
            <a:r>
              <a:rPr lang="en-US" sz="2400" dirty="0">
                <a:solidFill>
                  <a:srgbClr val="8B0012"/>
                </a:solidFill>
                <a:sym typeface="+mn-ea"/>
              </a:rPr>
              <a:t>512 threads per block on NVIDIA </a:t>
            </a:r>
            <a:r>
              <a:rPr lang="en-US" sz="2400" dirty="0" err="1">
                <a:solidFill>
                  <a:srgbClr val="8B0012"/>
                </a:solidFill>
                <a:sym typeface="+mn-ea"/>
              </a:rPr>
              <a:t>GPUs</a:t>
            </a:r>
            <a:endParaRPr lang="en-US" sz="2400" dirty="0">
              <a:solidFill>
                <a:srgbClr val="8B0012"/>
              </a:solidFill>
            </a:endParaRPr>
          </a:p>
          <a:p>
            <a:r>
              <a:rPr lang="en-US" sz="2400" dirty="0">
                <a:sym typeface="+mn-ea"/>
              </a:rPr>
              <a:t>NVIDIA </a:t>
            </a:r>
            <a:r>
              <a:rPr lang="en-US" sz="2400" dirty="0" err="1">
                <a:sym typeface="+mn-ea"/>
              </a:rPr>
              <a:t>GPUs</a:t>
            </a:r>
            <a:r>
              <a:rPr lang="en-US" sz="2400" dirty="0">
                <a:sym typeface="+mn-ea"/>
              </a:rPr>
              <a:t> have per-SM limits on the number of active threads and blocks (depending on the GPU model)</a:t>
            </a:r>
            <a:endParaRPr lang="en-US" sz="2400" dirty="0"/>
          </a:p>
          <a:p>
            <a:pPr lvl="1"/>
            <a:r>
              <a:rPr lang="en-US" sz="2400" dirty="0">
                <a:solidFill>
                  <a:srgbClr val="8B0012"/>
                </a:solidFill>
                <a:sym typeface="+mn-ea"/>
              </a:rPr>
              <a:t>for example, 768 or 1024 threads per SM</a:t>
            </a:r>
            <a:endParaRPr lang="en-US" sz="2400" dirty="0">
              <a:solidFill>
                <a:srgbClr val="8B0012"/>
              </a:solidFill>
            </a:endParaRPr>
          </a:p>
          <a:p>
            <a:pPr lvl="1"/>
            <a:r>
              <a:rPr lang="en-US" sz="2400" dirty="0">
                <a:solidFill>
                  <a:srgbClr val="8B0012"/>
                </a:solidFill>
                <a:sym typeface="+mn-ea"/>
              </a:rPr>
              <a:t>for example, 8 or 16 warps per SM</a:t>
            </a:r>
            <a:endParaRPr lang="en-US" sz="2400" dirty="0">
              <a:solidFill>
                <a:srgbClr val="8B0012"/>
              </a:solidFill>
            </a:endParaRPr>
          </a:p>
          <a:p>
            <a:r>
              <a:rPr lang="en-US" sz="2400" dirty="0">
                <a:sym typeface="+mn-ea"/>
              </a:rPr>
              <a:t>AMD </a:t>
            </a:r>
            <a:r>
              <a:rPr lang="en-US" sz="2400" dirty="0" err="1">
                <a:sym typeface="+mn-ea"/>
              </a:rPr>
              <a:t>GPUs</a:t>
            </a:r>
            <a:r>
              <a:rPr lang="en-US" sz="2400" dirty="0">
                <a:sym typeface="+mn-ea"/>
              </a:rPr>
              <a:t> have GPU-wide limits on the number of </a:t>
            </a:r>
            <a:r>
              <a:rPr lang="en-US" sz="2400" dirty="0" err="1">
                <a:sym typeface="+mn-ea"/>
              </a:rPr>
              <a:t>wavefronts</a:t>
            </a:r>
            <a:endParaRPr lang="en-US" sz="2400" dirty="0"/>
          </a:p>
          <a:p>
            <a:pPr lvl="1"/>
            <a:r>
              <a:rPr lang="en-US" sz="2400" dirty="0">
                <a:solidFill>
                  <a:srgbClr val="8B0012"/>
                </a:solidFill>
                <a:sym typeface="+mn-ea"/>
              </a:rPr>
              <a:t>496 </a:t>
            </a:r>
            <a:r>
              <a:rPr lang="en-US" sz="2400" dirty="0" err="1">
                <a:solidFill>
                  <a:srgbClr val="8B0012"/>
                </a:solidFill>
                <a:sym typeface="+mn-ea"/>
              </a:rPr>
              <a:t>wavefronts</a:t>
            </a:r>
            <a:r>
              <a:rPr lang="en-US" sz="2400" dirty="0">
                <a:solidFill>
                  <a:srgbClr val="8B0012"/>
                </a:solidFill>
                <a:sym typeface="+mn-ea"/>
              </a:rPr>
              <a:t> on the 5870 GPU (~25 </a:t>
            </a:r>
            <a:r>
              <a:rPr lang="en-US" sz="2400" dirty="0" err="1">
                <a:solidFill>
                  <a:srgbClr val="8B0012"/>
                </a:solidFill>
                <a:sym typeface="+mn-ea"/>
              </a:rPr>
              <a:t>wavefronts</a:t>
            </a:r>
            <a:r>
              <a:rPr lang="en-US" sz="2400" dirty="0">
                <a:solidFill>
                  <a:srgbClr val="8B0012"/>
                </a:solidFill>
                <a:sym typeface="+mn-ea"/>
              </a:rPr>
              <a:t> or ~1600 threads per compute unit)</a:t>
            </a:r>
            <a:endParaRPr lang="en-US" sz="2400" dirty="0">
              <a:solidFill>
                <a:srgbClr val="8B0012"/>
              </a:solidFill>
            </a:endParaRPr>
          </a:p>
          <a:p>
            <a:endParaRPr lang="en-US" altLang="en-US" sz="2400" dirty="0">
              <a:solidFill>
                <a:srgbClr val="8B0012"/>
              </a:solidFil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Occupancy – Limiting Factors</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8</a:t>
            </a:fld>
            <a:endParaRPr lang="zh-CN" altLang="en-US" dirty="0"/>
          </a:p>
        </p:txBody>
      </p:sp>
      <p:sp>
        <p:nvSpPr>
          <p:cNvPr id="3" name="内容占位符 2"/>
          <p:cNvSpPr>
            <a:spLocks noGrp="1"/>
          </p:cNvSpPr>
          <p:nvPr>
            <p:ph sz="quarter" idx="13"/>
          </p:nvPr>
        </p:nvSpPr>
        <p:spPr/>
        <p:txBody>
          <a:bodyPr>
            <a:normAutofit/>
          </a:bodyPr>
          <a:lstStyle/>
          <a:p>
            <a:r>
              <a:rPr lang="en-US" sz="2400" dirty="0">
                <a:sym typeface="+mn-ea"/>
              </a:rPr>
              <a:t>The minimum of these three factors is what limits the active number of threads (or occupancy) of a compute unit </a:t>
            </a:r>
            <a:endParaRPr lang="en-US" sz="2400" dirty="0"/>
          </a:p>
          <a:p>
            <a:r>
              <a:rPr lang="en-US" sz="2400" dirty="0">
                <a:sym typeface="+mn-ea"/>
              </a:rPr>
              <a:t>The interactions between the factors are complex</a:t>
            </a:r>
            <a:endParaRPr lang="en-US" sz="2400" dirty="0"/>
          </a:p>
          <a:p>
            <a:pPr lvl="1"/>
            <a:r>
              <a:rPr lang="en-US" sz="2400" dirty="0">
                <a:solidFill>
                  <a:srgbClr val="8B0012"/>
                </a:solidFill>
                <a:sym typeface="+mn-ea"/>
              </a:rPr>
              <a:t>The limiting factor may have either thread or </a:t>
            </a:r>
            <a:r>
              <a:rPr lang="en-US" sz="2400" dirty="0" err="1">
                <a:solidFill>
                  <a:srgbClr val="8B0012"/>
                </a:solidFill>
                <a:sym typeface="+mn-ea"/>
              </a:rPr>
              <a:t>wavefront</a:t>
            </a:r>
            <a:r>
              <a:rPr lang="en-US" sz="2400" dirty="0">
                <a:solidFill>
                  <a:srgbClr val="8B0012"/>
                </a:solidFill>
                <a:sym typeface="+mn-ea"/>
              </a:rPr>
              <a:t> granularity</a:t>
            </a:r>
            <a:endParaRPr lang="en-US" sz="2400" dirty="0">
              <a:solidFill>
                <a:srgbClr val="8B0012"/>
              </a:solidFill>
            </a:endParaRPr>
          </a:p>
          <a:p>
            <a:pPr lvl="1"/>
            <a:r>
              <a:rPr lang="en-US" sz="2400" dirty="0">
                <a:solidFill>
                  <a:srgbClr val="8B0012"/>
                </a:solidFill>
                <a:sym typeface="+mn-ea"/>
              </a:rPr>
              <a:t>Changing work group size may affect register or shared memory usage</a:t>
            </a:r>
            <a:endParaRPr lang="en-US" sz="2400" dirty="0">
              <a:solidFill>
                <a:srgbClr val="8B0012"/>
              </a:solidFill>
            </a:endParaRPr>
          </a:p>
          <a:p>
            <a:pPr lvl="1"/>
            <a:r>
              <a:rPr lang="en-US" sz="2400" dirty="0">
                <a:solidFill>
                  <a:srgbClr val="8B0012"/>
                </a:solidFill>
                <a:sym typeface="+mn-ea"/>
              </a:rPr>
              <a:t>Reducing any factor (such as register usage) slightly may have allow another work group to be active</a:t>
            </a:r>
            <a:endParaRPr lang="en-US" sz="2400" dirty="0">
              <a:solidFill>
                <a:srgbClr val="8B0012"/>
              </a:solidFill>
            </a:endParaRPr>
          </a:p>
          <a:p>
            <a:r>
              <a:rPr lang="en-US" sz="2400" dirty="0">
                <a:sym typeface="+mn-ea"/>
              </a:rPr>
              <a:t>The Nsight occupancy calculator from NVIDIA plots these factors visually allowing the tradeoffs to be visualized</a:t>
            </a:r>
            <a:endParaRPr lang="zh-CN" altLang="en-US"/>
          </a:p>
        </p:txBody>
      </p:sp>
      <p:pic>
        <p:nvPicPr>
          <p:cNvPr id="101" name="图片 100"/>
          <p:cNvPicPr/>
          <p:nvPr/>
        </p:nvPicPr>
        <p:blipFill>
          <a:blip r:embed="rId2"/>
          <a:stretch>
            <a:fillRect/>
          </a:stretch>
        </p:blipFill>
        <p:spPr>
          <a:xfrm>
            <a:off x="7623175" y="4791075"/>
            <a:ext cx="3486150" cy="18859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Occupancy: Tradeoffs</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9</a:t>
            </a:fld>
            <a:endParaRPr lang="zh-CN" altLang="en-US" dirty="0"/>
          </a:p>
        </p:txBody>
      </p:sp>
      <p:sp>
        <p:nvSpPr>
          <p:cNvPr id="3" name="内容占位符 2"/>
          <p:cNvSpPr>
            <a:spLocks noGrp="1"/>
          </p:cNvSpPr>
          <p:nvPr>
            <p:ph sz="quarter" idx="13"/>
          </p:nvPr>
        </p:nvSpPr>
        <p:spPr>
          <a:xfrm>
            <a:off x="523875" y="1323975"/>
            <a:ext cx="8452485" cy="4853305"/>
          </a:xfrm>
        </p:spPr>
        <p:txBody>
          <a:bodyPr>
            <a:normAutofit lnSpcReduction="10000"/>
          </a:bodyPr>
          <a:lstStyle/>
          <a:p>
            <a:r>
              <a:rPr lang="en-US" sz="2400">
                <a:sym typeface="+mn-ea"/>
              </a:rPr>
              <a:t>Shared memory and registers are persistent within SM when other warps execute</a:t>
            </a:r>
            <a:endParaRPr lang="en-US" sz="2400"/>
          </a:p>
          <a:p>
            <a:pPr lvl="1"/>
            <a:r>
              <a:rPr lang="en-US" sz="2400">
                <a:sym typeface="+mn-ea"/>
              </a:rPr>
              <a:t>Allows for lower overhead context switch</a:t>
            </a:r>
            <a:endParaRPr lang="en-US" sz="2400"/>
          </a:p>
          <a:p>
            <a:r>
              <a:rPr lang="en-US" sz="2400">
                <a:sym typeface="+mn-ea"/>
              </a:rPr>
              <a:t>The number of active warps that can be supported per SM is limited</a:t>
            </a:r>
            <a:endParaRPr lang="en-US" sz="2400"/>
          </a:p>
          <a:p>
            <a:pPr lvl="1"/>
            <a:r>
              <a:rPr lang="en-US" sz="2400">
                <a:sym typeface="+mn-ea"/>
              </a:rPr>
              <a:t>Decided by the </a:t>
            </a:r>
            <a:r>
              <a:rPr lang="en-US" sz="2400" u="sng">
                <a:sym typeface="+mn-ea"/>
              </a:rPr>
              <a:t>shared memory per block</a:t>
            </a:r>
            <a:r>
              <a:rPr lang="en-US" sz="2400">
                <a:sym typeface="+mn-ea"/>
              </a:rPr>
              <a:t> and </a:t>
            </a:r>
            <a:r>
              <a:rPr lang="en-US" sz="2400" u="sng">
                <a:sym typeface="+mn-ea"/>
              </a:rPr>
              <a:t>register usage per thread</a:t>
            </a:r>
            <a:endParaRPr lang="en-US" sz="2400"/>
          </a:p>
          <a:p>
            <a:r>
              <a:rPr lang="en-US" sz="2400">
                <a:sym typeface="+mn-ea"/>
              </a:rPr>
              <a:t>The number of active warps possible on an SM can be expressed using a metric called utilization</a:t>
            </a:r>
            <a:endParaRPr lang="en-US" sz="2400"/>
          </a:p>
          <a:p>
            <a:r>
              <a:rPr lang="en-US" sz="2400">
                <a:sym typeface="+mn-ea"/>
              </a:rPr>
              <a:t>Larger numbers of active warps allow for better latency hiding on both NV and AMD hardware</a:t>
            </a:r>
            <a:endParaRPr lang="zh-CN" altLang="en-US"/>
          </a:p>
        </p:txBody>
      </p:sp>
      <p:pic>
        <p:nvPicPr>
          <p:cNvPr id="8" name="图片 7"/>
          <p:cNvPicPr>
            <a:picLocks noChangeAspect="1"/>
          </p:cNvPicPr>
          <p:nvPr/>
        </p:nvPicPr>
        <p:blipFill>
          <a:blip r:embed="rId2"/>
          <a:stretch>
            <a:fillRect/>
          </a:stretch>
        </p:blipFill>
        <p:spPr>
          <a:xfrm>
            <a:off x="9150350" y="1370330"/>
            <a:ext cx="2520000" cy="4117936"/>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Nsight Compute</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10</a:t>
            </a:fld>
            <a:endParaRPr lang="zh-CN" altLang="en-US" dirty="0"/>
          </a:p>
        </p:txBody>
      </p:sp>
      <p:sp>
        <p:nvSpPr>
          <p:cNvPr id="3" name="内容占位符 2"/>
          <p:cNvSpPr>
            <a:spLocks noGrp="1"/>
          </p:cNvSpPr>
          <p:nvPr>
            <p:ph sz="quarter" idx="13"/>
          </p:nvPr>
        </p:nvSpPr>
        <p:spPr/>
        <p:txBody>
          <a:bodyPr/>
          <a:lstStyle/>
          <a:p>
            <a:r>
              <a:rPr lang="en-US" altLang="zh-CN">
                <a:sym typeface="+mn-ea"/>
              </a:rPr>
              <a:t>CUDA kernel profiler.</a:t>
            </a:r>
            <a:endParaRPr lang="en-US" altLang="zh-CN"/>
          </a:p>
          <a:p>
            <a:r>
              <a:rPr lang="en-US" altLang="zh-CN">
                <a:sym typeface="+mn-ea"/>
              </a:rPr>
              <a:t>Curates performance statistics into targeted metrics.</a:t>
            </a:r>
            <a:endParaRPr lang="en-US" altLang="zh-CN"/>
          </a:p>
          <a:p>
            <a:r>
              <a:rPr lang="en-US" altLang="zh-CN">
                <a:sym typeface="+mn-ea"/>
              </a:rPr>
              <a:t>Able to select amount of data to collect and how it’s presented</a:t>
            </a:r>
            <a:endParaRPr lang="en-US" altLang="zh-CN"/>
          </a:p>
          <a:p>
            <a:r>
              <a:rPr lang="en-US" altLang="zh-CN">
                <a:sym typeface="+mn-ea"/>
              </a:rPr>
              <a:t>Fully featured Command Line and User Friendly GUI interfaces</a:t>
            </a:r>
            <a:endParaRPr lang="en-US" altLang="zh-CN"/>
          </a:p>
          <a:p>
            <a:endParaRPr lang="zh-CN" altLang="en-US"/>
          </a:p>
        </p:txBody>
      </p:sp>
      <p:pic>
        <p:nvPicPr>
          <p:cNvPr id="6" name="图片 5"/>
          <p:cNvPicPr>
            <a:picLocks noChangeAspect="1"/>
          </p:cNvPicPr>
          <p:nvPr/>
        </p:nvPicPr>
        <p:blipFill>
          <a:blip r:embed="rId2"/>
          <a:stretch>
            <a:fillRect/>
          </a:stretch>
        </p:blipFill>
        <p:spPr>
          <a:xfrm>
            <a:off x="2228850" y="3741420"/>
            <a:ext cx="7734300" cy="261493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Nsight Compute</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11</a:t>
            </a:fld>
            <a:endParaRPr lang="zh-CN" altLang="en-US" dirty="0"/>
          </a:p>
        </p:txBody>
      </p:sp>
      <p:sp>
        <p:nvSpPr>
          <p:cNvPr id="3" name="内容占位符 2"/>
          <p:cNvSpPr>
            <a:spLocks noGrp="1"/>
          </p:cNvSpPr>
          <p:nvPr>
            <p:ph sz="quarter" idx="13"/>
          </p:nvPr>
        </p:nvSpPr>
        <p:spPr/>
        <p:txBody>
          <a:bodyPr/>
          <a:lstStyle/>
          <a:p>
            <a:r>
              <a:rPr lang="en-US" altLang="zh-CN">
                <a:sym typeface="+mn-ea"/>
              </a:rPr>
              <a:t> Nsight Compute CLI Options</a:t>
            </a:r>
            <a:endParaRPr lang="en-US" altLang="zh-CN"/>
          </a:p>
          <a:p>
            <a:endParaRPr lang="zh-CN" altLang="en-US"/>
          </a:p>
        </p:txBody>
      </p:sp>
      <p:pic>
        <p:nvPicPr>
          <p:cNvPr id="6" name="图片 5"/>
          <p:cNvPicPr>
            <a:picLocks noChangeAspect="1"/>
          </p:cNvPicPr>
          <p:nvPr/>
        </p:nvPicPr>
        <p:blipFill>
          <a:blip r:embed="rId2"/>
          <a:stretch>
            <a:fillRect/>
          </a:stretch>
        </p:blipFill>
        <p:spPr>
          <a:xfrm>
            <a:off x="523875" y="2557780"/>
            <a:ext cx="5751195" cy="1214755"/>
          </a:xfrm>
          <a:prstGeom prst="rect">
            <a:avLst/>
          </a:prstGeom>
        </p:spPr>
      </p:pic>
      <p:pic>
        <p:nvPicPr>
          <p:cNvPr id="7" name="图片 6"/>
          <p:cNvPicPr>
            <a:picLocks noChangeAspect="1"/>
          </p:cNvPicPr>
          <p:nvPr/>
        </p:nvPicPr>
        <p:blipFill>
          <a:blip r:embed="rId3"/>
          <a:stretch>
            <a:fillRect/>
          </a:stretch>
        </p:blipFill>
        <p:spPr>
          <a:xfrm>
            <a:off x="523875" y="3772535"/>
            <a:ext cx="5295265" cy="1522730"/>
          </a:xfrm>
          <a:prstGeom prst="rect">
            <a:avLst/>
          </a:prstGeom>
        </p:spPr>
      </p:pic>
      <p:pic>
        <p:nvPicPr>
          <p:cNvPr id="8" name="图片 7"/>
          <p:cNvPicPr>
            <a:picLocks noChangeAspect="1"/>
          </p:cNvPicPr>
          <p:nvPr/>
        </p:nvPicPr>
        <p:blipFill>
          <a:blip r:embed="rId4"/>
          <a:stretch>
            <a:fillRect/>
          </a:stretch>
        </p:blipFill>
        <p:spPr>
          <a:xfrm>
            <a:off x="6275070" y="2571115"/>
            <a:ext cx="5321935" cy="2656840"/>
          </a:xfrm>
          <a:prstGeom prst="rect">
            <a:avLst/>
          </a:prstGeom>
        </p:spPr>
      </p:pic>
      <p:sp>
        <p:nvSpPr>
          <p:cNvPr id="9" name="内容占位符 2"/>
          <p:cNvSpPr>
            <a:spLocks noGrp="1"/>
          </p:cNvSpPr>
          <p:nvPr/>
        </p:nvSpPr>
        <p:spPr>
          <a:xfrm>
            <a:off x="6096000" y="1323975"/>
            <a:ext cx="5893435" cy="4853305"/>
          </a:xfrm>
          <a:prstGeom prst="rect">
            <a:avLst/>
          </a:prstGeom>
        </p:spPr>
        <p:txBody>
          <a:bodyPr vert="horz" lIns="91440" tIns="45720" rIns="91440" bIns="45720" rtlCol="0" anchor="t">
            <a:norm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r>
              <a:rPr lang="en-US" altLang="zh-CN">
                <a:sym typeface="+mn-ea"/>
              </a:rPr>
              <a:t> Nsight Compute - GPU Speed of Light</a:t>
            </a:r>
            <a:endParaRPr lang="en-US" altLang="zh-CN"/>
          </a:p>
          <a:p>
            <a:endParaRPr lang="zh-CN" alt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Nsight Compute</a:t>
            </a:r>
            <a:endParaRPr lang="zh-CN" altLang="en-US"/>
          </a:p>
        </p:txBody>
      </p:sp>
      <p:sp>
        <p:nvSpPr>
          <p:cNvPr id="3" name="灯片编号占位符 2"/>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5" name="内容占位符 4"/>
          <p:cNvSpPr>
            <a:spLocks noGrp="1"/>
          </p:cNvSpPr>
          <p:nvPr>
            <p:ph sz="quarter" idx="13"/>
          </p:nvPr>
        </p:nvSpPr>
        <p:spPr/>
        <p:txBody>
          <a:bodyPr/>
          <a:lstStyle/>
          <a:p>
            <a:r>
              <a:rPr lang="en-US" altLang="zh-CN">
                <a:sym typeface="+mn-ea"/>
              </a:rPr>
              <a:t> Nsight Compute - Roofline Analysis</a:t>
            </a:r>
            <a:endParaRPr lang="en-US" altLang="zh-CN"/>
          </a:p>
          <a:p>
            <a:endParaRPr lang="zh-CN" altLang="en-US"/>
          </a:p>
        </p:txBody>
      </p:sp>
      <p:sp>
        <p:nvSpPr>
          <p:cNvPr id="6" name="内容占位符 5"/>
          <p:cNvSpPr>
            <a:spLocks noGrp="1"/>
          </p:cNvSpPr>
          <p:nvPr>
            <p:ph sz="quarter" idx="14"/>
          </p:nvPr>
        </p:nvSpPr>
        <p:spPr/>
        <p:txBody>
          <a:bodyPr/>
          <a:lstStyle/>
          <a:p>
            <a:r>
              <a:rPr lang="en-US" altLang="zh-CN">
                <a:sym typeface="+mn-ea"/>
              </a:rPr>
              <a:t> Nsight Compute - Memory Workload Analysis</a:t>
            </a:r>
            <a:endParaRPr lang="en-US" altLang="zh-CN"/>
          </a:p>
          <a:p>
            <a:endParaRPr lang="zh-CN" altLang="en-US"/>
          </a:p>
        </p:txBody>
      </p:sp>
      <p:pic>
        <p:nvPicPr>
          <p:cNvPr id="7" name="图片 6"/>
          <p:cNvPicPr>
            <a:picLocks noChangeAspect="1"/>
          </p:cNvPicPr>
          <p:nvPr/>
        </p:nvPicPr>
        <p:blipFill>
          <a:blip r:embed="rId2"/>
          <a:stretch>
            <a:fillRect/>
          </a:stretch>
        </p:blipFill>
        <p:spPr>
          <a:xfrm>
            <a:off x="523875" y="2514600"/>
            <a:ext cx="5306060" cy="3124835"/>
          </a:xfrm>
          <a:prstGeom prst="rect">
            <a:avLst/>
          </a:prstGeom>
        </p:spPr>
      </p:pic>
      <p:pic>
        <p:nvPicPr>
          <p:cNvPr id="8" name="图片 7"/>
          <p:cNvPicPr>
            <a:picLocks noChangeAspect="1"/>
          </p:cNvPicPr>
          <p:nvPr/>
        </p:nvPicPr>
        <p:blipFill>
          <a:blip r:embed="rId3"/>
          <a:stretch>
            <a:fillRect/>
          </a:stretch>
        </p:blipFill>
        <p:spPr>
          <a:xfrm>
            <a:off x="6115050" y="2549525"/>
            <a:ext cx="5641975" cy="308991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Nsight Compute</a:t>
            </a:r>
            <a:endParaRPr lang="zh-CN" altLang="en-US"/>
          </a:p>
        </p:txBody>
      </p:sp>
      <p:sp>
        <p:nvSpPr>
          <p:cNvPr id="3" name="灯片编号占位符 2"/>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5" name="内容占位符 4"/>
          <p:cNvSpPr>
            <a:spLocks noGrp="1"/>
          </p:cNvSpPr>
          <p:nvPr>
            <p:ph sz="quarter" idx="13"/>
          </p:nvPr>
        </p:nvSpPr>
        <p:spPr>
          <a:xfrm>
            <a:off x="523875" y="1323975"/>
            <a:ext cx="10632440" cy="4853305"/>
          </a:xfrm>
        </p:spPr>
        <p:txBody>
          <a:bodyPr/>
          <a:lstStyle/>
          <a:p>
            <a:r>
              <a:rPr lang="en-US" altLang="zh-CN">
                <a:sym typeface="+mn-ea"/>
              </a:rPr>
              <a:t> Nsight Compute - Source/SASS and Instruction Hotspots</a:t>
            </a:r>
            <a:endParaRPr lang="en-US" altLang="zh-CN"/>
          </a:p>
          <a:p>
            <a:endParaRPr lang="zh-CN" altLang="en-US"/>
          </a:p>
        </p:txBody>
      </p:sp>
      <p:pic>
        <p:nvPicPr>
          <p:cNvPr id="7" name="图片 6"/>
          <p:cNvPicPr>
            <a:picLocks noChangeAspect="1"/>
          </p:cNvPicPr>
          <p:nvPr/>
        </p:nvPicPr>
        <p:blipFill>
          <a:blip r:embed="rId2"/>
          <a:stretch>
            <a:fillRect/>
          </a:stretch>
        </p:blipFill>
        <p:spPr>
          <a:xfrm>
            <a:off x="1016000" y="2025650"/>
            <a:ext cx="7567930" cy="429704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Nsight Compute Profiling Report Example (1/3)</a:t>
            </a:r>
            <a:endParaRPr lang="zh-CN" altLang="en-US"/>
          </a:p>
        </p:txBody>
      </p:sp>
      <p:sp>
        <p:nvSpPr>
          <p:cNvPr id="3" name="灯片编号占位符 2"/>
          <p:cNvSpPr>
            <a:spLocks noGrp="1"/>
          </p:cNvSpPr>
          <p:nvPr>
            <p:ph type="sldNum" sz="quarter" idx="12"/>
          </p:nvPr>
        </p:nvSpPr>
        <p:spPr/>
        <p:txBody>
          <a:bodyPr/>
          <a:lstStyle/>
          <a:p>
            <a:fld id="{B33F7469-D28B-482F-B1B6-3B8E7CF51519}" type="slidenum">
              <a:rPr lang="zh-CN" altLang="en-US" smtClean="0"/>
              <a:t>14</a:t>
            </a:fld>
            <a:endParaRPr lang="zh-CN" altLang="en-US" dirty="0"/>
          </a:p>
        </p:txBody>
      </p:sp>
      <p:pic>
        <p:nvPicPr>
          <p:cNvPr id="6" name="图片 5"/>
          <p:cNvPicPr>
            <a:picLocks noChangeAspect="1"/>
          </p:cNvPicPr>
          <p:nvPr/>
        </p:nvPicPr>
        <p:blipFill>
          <a:blip r:embed="rId2"/>
          <a:stretch>
            <a:fillRect/>
          </a:stretch>
        </p:blipFill>
        <p:spPr>
          <a:xfrm>
            <a:off x="402590" y="1913890"/>
            <a:ext cx="11520000" cy="3673694"/>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Nsight Compute Profiling Report Example (2/3)</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15</a:t>
            </a:fld>
            <a:endParaRPr lang="zh-CN" altLang="en-US" dirty="0"/>
          </a:p>
        </p:txBody>
      </p:sp>
      <p:pic>
        <p:nvPicPr>
          <p:cNvPr id="6" name="图片 5"/>
          <p:cNvPicPr>
            <a:picLocks noChangeAspect="1"/>
          </p:cNvPicPr>
          <p:nvPr/>
        </p:nvPicPr>
        <p:blipFill>
          <a:blip r:embed="rId2"/>
          <a:stretch>
            <a:fillRect/>
          </a:stretch>
        </p:blipFill>
        <p:spPr>
          <a:xfrm>
            <a:off x="2022475" y="1323975"/>
            <a:ext cx="8280000" cy="518107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Nsight Compute Profiling Report Example (3/3)</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pic>
        <p:nvPicPr>
          <p:cNvPr id="6" name="图片 5"/>
          <p:cNvPicPr>
            <a:picLocks noChangeAspect="1"/>
          </p:cNvPicPr>
          <p:nvPr/>
        </p:nvPicPr>
        <p:blipFill>
          <a:blip r:embed="rId2"/>
          <a:stretch>
            <a:fillRect/>
          </a:stretch>
        </p:blipFill>
        <p:spPr>
          <a:xfrm>
            <a:off x="1955800" y="1323975"/>
            <a:ext cx="8280000" cy="5131964"/>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716</Words>
  <Application>Microsoft Office PowerPoint</Application>
  <PresentationFormat>宽屏</PresentationFormat>
  <Paragraphs>87</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微软雅黑</vt:lpstr>
      <vt:lpstr>文泉驿微米黑</vt:lpstr>
      <vt:lpstr>Arial</vt:lpstr>
      <vt:lpstr>Calibri</vt:lpstr>
      <vt:lpstr>Calibri Light</vt:lpstr>
      <vt:lpstr>Ebrima</vt:lpstr>
      <vt:lpstr>Garamond</vt:lpstr>
      <vt:lpstr>Montserrat SemiBold</vt:lpstr>
      <vt:lpstr>Wingdings 3</vt:lpstr>
      <vt:lpstr>母版</vt:lpstr>
      <vt:lpstr>Hardware and Software Fundamentals of  Intelligent Computing  Systems</vt:lpstr>
      <vt:lpstr>Lecture 39: In-Depth Operator Performance Profiling Lab</vt:lpstr>
      <vt:lpstr>GPU Architecture</vt:lpstr>
      <vt:lpstr>Occupancy – Registers</vt:lpstr>
      <vt:lpstr>Occupancy – Registers</vt:lpstr>
      <vt:lpstr>Occupancy – Shared Memory</vt:lpstr>
      <vt:lpstr>Occupancy – Threads</vt:lpstr>
      <vt:lpstr>Occupancy – Limiting Factors</vt:lpstr>
      <vt:lpstr>Occupancy: Tradeoffs</vt:lpstr>
      <vt:lpstr>Nsight Compute</vt:lpstr>
      <vt:lpstr>Nsight Compute</vt:lpstr>
      <vt:lpstr>Nsight Compute</vt:lpstr>
      <vt:lpstr>Nsight Compute</vt:lpstr>
      <vt:lpstr>Nsight Compute Profiling Report Example (1/3)</vt:lpstr>
      <vt:lpstr>Nsight Compute Profiling Report Example (2/3)</vt:lpstr>
      <vt:lpstr>Nsight Compute Profiling Report Example (3/3)</vt:lpstr>
      <vt:lpstr>The Solution: FlagOS, a Unified AI Software Stack</vt:lpstr>
      <vt:lpstr>PowerPoint 演示文稿</vt:lpstr>
      <vt:lpstr>Thanks for your time！</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开源社区与AI系统软件贡献</dc:title>
  <dc:subject>开源社区与AI系统软件贡献</dc:subject>
  <dc:creator>Kimi</dc:creator>
  <cp:lastModifiedBy>Xiang Li</cp:lastModifiedBy>
  <cp:revision>9</cp:revision>
  <dcterms:created xsi:type="dcterms:W3CDTF">2026-03-12T03:04:00Z</dcterms:created>
  <dcterms:modified xsi:type="dcterms:W3CDTF">2026-03-17T14:55:06Z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开源社区与AI系统软件贡献","ContentProducer":"001191110108MACG2KBH8F10000","ProduceID":"19cbf9a2-ac82-8bf3-8000-00008c4ccf4f","ReservedCode1":"","ContentPropagator":"001191110108MACG2KBH8F20000","PropagateID":"19cbf9a2-ac82-8bf3-8000-00008c4ccf4f","ReservedCode2":""}</vt:lpwstr>
  </property>
  <property fmtid="{D5CDD505-2E9C-101B-9397-08002B2CF9AE}" pid="3" name="ICV">
    <vt:lpwstr>423D73E912CD1A00385CAA69CA7CE0B6_42</vt:lpwstr>
  </property>
  <property fmtid="{D5CDD505-2E9C-101B-9397-08002B2CF9AE}" pid="4" name="KSOProductBuildVer">
    <vt:lpwstr>2052-12.1.0.19302</vt:lpwstr>
  </property>
</Properties>
</file>