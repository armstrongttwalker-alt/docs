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37" r:id="rId2"/>
    <p:sldId id="1953" r:id="rId3"/>
    <p:sldId id="1933" r:id="rId4"/>
    <p:sldId id="1934" r:id="rId5"/>
    <p:sldId id="1935" r:id="rId6"/>
    <p:sldId id="1936" r:id="rId7"/>
    <p:sldId id="1937" r:id="rId8"/>
    <p:sldId id="1938" r:id="rId9"/>
    <p:sldId id="1939" r:id="rId10"/>
    <p:sldId id="1940" r:id="rId11"/>
    <p:sldId id="1941" r:id="rId12"/>
    <p:sldId id="1942" r:id="rId13"/>
    <p:sldId id="1943" r:id="rId14"/>
    <p:sldId id="1944" r:id="rId15"/>
    <p:sldId id="1945" r:id="rId16"/>
    <p:sldId id="1946" r:id="rId17"/>
    <p:sldId id="1947" r:id="rId18"/>
    <p:sldId id="1948" r:id="rId19"/>
    <p:sldId id="1949" r:id="rId20"/>
    <p:sldId id="1950" r:id="rId21"/>
    <p:sldId id="1951" r:id="rId22"/>
    <p:sldId id="1952" r:id="rId23"/>
    <p:sldId id="277" r:id="rId24"/>
    <p:sldId id="279" r:id="rId25"/>
    <p:sldId id="280" r:id="rId26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  <p:cmAuthor id="3" name="王 家琦" initials="王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12"/>
    <a:srgbClr val="E3A7A8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92019" autoAdjust="0"/>
  </p:normalViewPr>
  <p:slideViewPr>
    <p:cSldViewPr snapToGrid="0" snapToObjects="1">
      <p:cViewPr varScale="1">
        <p:scale>
          <a:sx n="56" d="100"/>
          <a:sy n="56" d="100"/>
        </p:scale>
        <p:origin x="896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配图建议：Naive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memory access </a:t>
            </a: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示意图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配图建议：GPU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bandwidth vs compute 图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配图建议：矩阵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tile </a:t>
            </a: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分块图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配图建议：矩阵分块乘法示意图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配图建议：Tile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multiply animation 图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配图建议：Data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reuse </a:t>
            </a: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示意图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配图建议：compute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vs memory 图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配图建议：Arithmetic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intensity 图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配图建议：Roofline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model 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配图建议：Roofline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</a:t>
            </a: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提升示意图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配图建议：Triton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tile mapping 图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配图建议：2D tile grid 图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配图建议：Streaming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tile 图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678069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572350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image" Target="../media/image8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3.xml"/><Relationship Id="rId21" Type="http://schemas.openxmlformats.org/officeDocument/2006/relationships/image" Target="../media/image11.png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image" Target="../media/image10.png"/><Relationship Id="rId29" Type="http://schemas.openxmlformats.org/officeDocument/2006/relationships/image" Target="../media/image15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23" Type="http://schemas.openxmlformats.org/officeDocument/2006/relationships/image" Target="../media/image13.png"/><Relationship Id="rId28" Type="http://schemas.openxmlformats.org/officeDocument/2006/relationships/image" Target="../media/image14.jpeg"/><Relationship Id="rId10" Type="http://schemas.openxmlformats.org/officeDocument/2006/relationships/tags" Target="../tags/tag20.xml"/><Relationship Id="rId19" Type="http://schemas.openxmlformats.org/officeDocument/2006/relationships/image" Target="../media/image9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image" Target="../media/image12.png"/><Relationship Id="rId27" Type="http://schemas.openxmlformats.org/officeDocument/2006/relationships/hyperlink" Target="https://flagos.io/Home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Lecture 07: Matrix Multiplication Optimization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6186" y="638524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 err="1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Matrix Multiplication</a:t>
            </a:r>
            <a:r>
              <a:rPr lang="zh-CN" alt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Fundamentals</a:t>
            </a:r>
            <a:endParaRPr lang="en-US" sz="1600" dirty="0"/>
          </a:p>
        </p:txBody>
      </p:sp>
      <p:grpSp>
        <p:nvGrpSpPr>
          <p:cNvPr id="25" name="组合 24"/>
          <p:cNvGrpSpPr/>
          <p:nvPr/>
        </p:nvGrpSpPr>
        <p:grpSpPr>
          <a:xfrm>
            <a:off x="380956" y="1962236"/>
            <a:ext cx="5562600" cy="3504963"/>
            <a:chOff x="380956" y="1962236"/>
            <a:chExt cx="5562600" cy="3504963"/>
          </a:xfrm>
        </p:grpSpPr>
        <p:sp>
          <p:nvSpPr>
            <p:cNvPr id="4" name="Shape 2"/>
            <p:cNvSpPr/>
            <p:nvPr/>
          </p:nvSpPr>
          <p:spPr>
            <a:xfrm>
              <a:off x="380956" y="1962236"/>
              <a:ext cx="5562600" cy="1485900"/>
            </a:xfrm>
            <a:custGeom>
              <a:avLst/>
              <a:gdLst/>
              <a:ahLst/>
              <a:cxnLst/>
              <a:rect l="l" t="t" r="r" b="b"/>
              <a:pathLst>
                <a:path w="5562600" h="1485900">
                  <a:moveTo>
                    <a:pt x="76197" y="0"/>
                  </a:moveTo>
                  <a:lnTo>
                    <a:pt x="5486403" y="0"/>
                  </a:lnTo>
                  <a:cubicBezTo>
                    <a:pt x="5528485" y="0"/>
                    <a:pt x="5562600" y="34115"/>
                    <a:pt x="5562600" y="76197"/>
                  </a:cubicBezTo>
                  <a:lnTo>
                    <a:pt x="5562600" y="1409703"/>
                  </a:lnTo>
                  <a:cubicBezTo>
                    <a:pt x="5562600" y="1451785"/>
                    <a:pt x="5528485" y="1485900"/>
                    <a:pt x="5486403" y="1485900"/>
                  </a:cubicBezTo>
                  <a:lnTo>
                    <a:pt x="76197" y="1485900"/>
                  </a:lnTo>
                  <a:cubicBezTo>
                    <a:pt x="34115" y="1485900"/>
                    <a:pt x="0" y="1451785"/>
                    <a:pt x="0" y="1409703"/>
                  </a:cubicBezTo>
                  <a:lnTo>
                    <a:pt x="0" y="76197"/>
                  </a:lnTo>
                  <a:cubicBezTo>
                    <a:pt x="0" y="34143"/>
                    <a:pt x="34143" y="0"/>
                    <a:pt x="76197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5" name="Text 3"/>
            <p:cNvSpPr/>
            <p:nvPr/>
          </p:nvSpPr>
          <p:spPr>
            <a:xfrm>
              <a:off x="609529" y="2190809"/>
              <a:ext cx="520065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Matrix Multiplication Definition</a:t>
              </a:r>
              <a:endParaRPr lang="en-US" sz="16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628484" y="2609897"/>
              <a:ext cx="5086255" cy="609600"/>
            </a:xfrm>
            <a:custGeom>
              <a:avLst/>
              <a:gdLst/>
              <a:ahLst/>
              <a:cxnLst/>
              <a:rect l="l" t="t" r="r" b="b"/>
              <a:pathLst>
                <a:path w="5086255" h="609600">
                  <a:moveTo>
                    <a:pt x="37910" y="0"/>
                  </a:moveTo>
                  <a:lnTo>
                    <a:pt x="5048155" y="0"/>
                  </a:lnTo>
                  <a:cubicBezTo>
                    <a:pt x="5069183" y="0"/>
                    <a:pt x="5086255" y="17072"/>
                    <a:pt x="5086255" y="38100"/>
                  </a:cubicBezTo>
                  <a:lnTo>
                    <a:pt x="5086255" y="571500"/>
                  </a:lnTo>
                  <a:cubicBezTo>
                    <a:pt x="5086255" y="592528"/>
                    <a:pt x="5069183" y="609600"/>
                    <a:pt x="5048155" y="609600"/>
                  </a:cubicBezTo>
                  <a:lnTo>
                    <a:pt x="37910" y="609600"/>
                  </a:lnTo>
                  <a:cubicBezTo>
                    <a:pt x="16973" y="609600"/>
                    <a:pt x="0" y="592627"/>
                    <a:pt x="0" y="5716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Shape 5"/>
            <p:cNvSpPr/>
            <p:nvPr/>
          </p:nvSpPr>
          <p:spPr>
            <a:xfrm>
              <a:off x="628484" y="2609897"/>
              <a:ext cx="37910" cy="609600"/>
            </a:xfrm>
            <a:custGeom>
              <a:avLst/>
              <a:gdLst/>
              <a:ahLst/>
              <a:cxnLst/>
              <a:rect l="l" t="t" r="r" b="b"/>
              <a:pathLst>
                <a:path w="37910" h="609600">
                  <a:moveTo>
                    <a:pt x="37910" y="0"/>
                  </a:moveTo>
                  <a:lnTo>
                    <a:pt x="37910" y="0"/>
                  </a:lnTo>
                  <a:lnTo>
                    <a:pt x="37910" y="609600"/>
                  </a:lnTo>
                  <a:lnTo>
                    <a:pt x="37910" y="609600"/>
                  </a:lnTo>
                  <a:cubicBezTo>
                    <a:pt x="16973" y="609600"/>
                    <a:pt x="0" y="592627"/>
                    <a:pt x="0" y="5716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8" name="Text 6"/>
            <p:cNvSpPr/>
            <p:nvPr/>
          </p:nvSpPr>
          <p:spPr>
            <a:xfrm>
              <a:off x="609529" y="2609897"/>
              <a:ext cx="5181600" cy="609600"/>
            </a:xfrm>
            <a:prstGeom prst="rect">
              <a:avLst/>
            </a:prstGeom>
            <a:noFill/>
          </p:spPr>
          <p:txBody>
            <a:bodyPr wrap="square" lIns="152400" tIns="152400" rIns="152400" bIns="15240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dirty="0">
                  <a:solidFill>
                    <a:srgbClr val="1A1A1A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C[M, N] = A[M, K] × B[K, N]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80956" y="3676499"/>
              <a:ext cx="5562600" cy="1790700"/>
            </a:xfrm>
            <a:custGeom>
              <a:avLst/>
              <a:gdLst/>
              <a:ahLst/>
              <a:cxnLst/>
              <a:rect l="l" t="t" r="r" b="b"/>
              <a:pathLst>
                <a:path w="5562600" h="1790700">
                  <a:moveTo>
                    <a:pt x="76194" y="0"/>
                  </a:moveTo>
                  <a:lnTo>
                    <a:pt x="5486406" y="0"/>
                  </a:lnTo>
                  <a:cubicBezTo>
                    <a:pt x="5528458" y="0"/>
                    <a:pt x="5562600" y="34142"/>
                    <a:pt x="5562600" y="76194"/>
                  </a:cubicBezTo>
                  <a:lnTo>
                    <a:pt x="5562600" y="1714506"/>
                  </a:lnTo>
                  <a:cubicBezTo>
                    <a:pt x="5562600" y="1756587"/>
                    <a:pt x="5528487" y="1790700"/>
                    <a:pt x="5486406" y="1790700"/>
                  </a:cubicBezTo>
                  <a:lnTo>
                    <a:pt x="76194" y="1790700"/>
                  </a:lnTo>
                  <a:cubicBezTo>
                    <a:pt x="34142" y="1790700"/>
                    <a:pt x="0" y="1756558"/>
                    <a:pt x="0" y="1714506"/>
                  </a:cubicBezTo>
                  <a:lnTo>
                    <a:pt x="0" y="76194"/>
                  </a:lnTo>
                  <a:cubicBezTo>
                    <a:pt x="0" y="34142"/>
                    <a:pt x="34142" y="0"/>
                    <a:pt x="76194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0" name="Text 8"/>
            <p:cNvSpPr/>
            <p:nvPr/>
          </p:nvSpPr>
          <p:spPr>
            <a:xfrm>
              <a:off x="609529" y="3905072"/>
              <a:ext cx="520065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Computation Formula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28484" y="4324160"/>
              <a:ext cx="5086255" cy="571500"/>
            </a:xfrm>
            <a:custGeom>
              <a:avLst/>
              <a:gdLst/>
              <a:ahLst/>
              <a:cxnLst/>
              <a:rect l="l" t="t" r="r" b="b"/>
              <a:pathLst>
                <a:path w="5086255" h="571500">
                  <a:moveTo>
                    <a:pt x="37910" y="0"/>
                  </a:moveTo>
                  <a:lnTo>
                    <a:pt x="5048153" y="0"/>
                  </a:lnTo>
                  <a:cubicBezTo>
                    <a:pt x="5069196" y="0"/>
                    <a:pt x="5086255" y="17059"/>
                    <a:pt x="5086255" y="38102"/>
                  </a:cubicBezTo>
                  <a:lnTo>
                    <a:pt x="5086255" y="533398"/>
                  </a:lnTo>
                  <a:cubicBezTo>
                    <a:pt x="5086255" y="554441"/>
                    <a:pt x="5069196" y="571500"/>
                    <a:pt x="5048153" y="571500"/>
                  </a:cubicBezTo>
                  <a:lnTo>
                    <a:pt x="37910" y="571500"/>
                  </a:lnTo>
                  <a:cubicBezTo>
                    <a:pt x="16973" y="571500"/>
                    <a:pt x="0" y="554527"/>
                    <a:pt x="0" y="5335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Shape 10"/>
            <p:cNvSpPr/>
            <p:nvPr/>
          </p:nvSpPr>
          <p:spPr>
            <a:xfrm>
              <a:off x="628484" y="4324160"/>
              <a:ext cx="37910" cy="571500"/>
            </a:xfrm>
            <a:custGeom>
              <a:avLst/>
              <a:gdLst/>
              <a:ahLst/>
              <a:cxnLst/>
              <a:rect l="l" t="t" r="r" b="b"/>
              <a:pathLst>
                <a:path w="37910" h="571500">
                  <a:moveTo>
                    <a:pt x="37910" y="0"/>
                  </a:moveTo>
                  <a:lnTo>
                    <a:pt x="37910" y="0"/>
                  </a:lnTo>
                  <a:lnTo>
                    <a:pt x="37910" y="571500"/>
                  </a:lnTo>
                  <a:lnTo>
                    <a:pt x="37910" y="571500"/>
                  </a:lnTo>
                  <a:cubicBezTo>
                    <a:pt x="16973" y="571500"/>
                    <a:pt x="0" y="554527"/>
                    <a:pt x="0" y="5335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609529" y="4324160"/>
              <a:ext cx="5162550" cy="571500"/>
            </a:xfrm>
            <a:prstGeom prst="rect">
              <a:avLst/>
            </a:prstGeom>
            <a:noFill/>
          </p:spPr>
          <p:txBody>
            <a:bodyPr wrap="square" lIns="152400" tIns="152400" rIns="152400" bIns="15240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dirty="0">
                  <a:solidFill>
                    <a:srgbClr val="1A1A1A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C[i, j] = Σ A[i, k] × B[k, j]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09529" y="5009880"/>
              <a:ext cx="51816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Sum over k from 0 to K-1</a:t>
              </a:r>
              <a:endParaRPr lang="en-US" sz="16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305506" y="1052973"/>
            <a:ext cx="5562600" cy="3228619"/>
            <a:chOff x="6248338" y="2095663"/>
            <a:chExt cx="5562600" cy="3228619"/>
          </a:xfrm>
        </p:grpSpPr>
        <p:sp>
          <p:nvSpPr>
            <p:cNvPr id="15" name="Shape 13"/>
            <p:cNvSpPr/>
            <p:nvPr/>
          </p:nvSpPr>
          <p:spPr>
            <a:xfrm>
              <a:off x="6248338" y="2095663"/>
              <a:ext cx="5562600" cy="1600200"/>
            </a:xfrm>
            <a:custGeom>
              <a:avLst/>
              <a:gdLst/>
              <a:ahLst/>
              <a:cxnLst/>
              <a:rect l="l" t="t" r="r" b="b"/>
              <a:pathLst>
                <a:path w="5562600" h="1600200">
                  <a:moveTo>
                    <a:pt x="76202" y="0"/>
                  </a:moveTo>
                  <a:lnTo>
                    <a:pt x="5486398" y="0"/>
                  </a:lnTo>
                  <a:cubicBezTo>
                    <a:pt x="5528483" y="0"/>
                    <a:pt x="5562600" y="34117"/>
                    <a:pt x="5562600" y="76202"/>
                  </a:cubicBezTo>
                  <a:lnTo>
                    <a:pt x="5562600" y="1523998"/>
                  </a:lnTo>
                  <a:cubicBezTo>
                    <a:pt x="5562600" y="1566083"/>
                    <a:pt x="5528483" y="1600200"/>
                    <a:pt x="5486398" y="1600200"/>
                  </a:cubicBezTo>
                  <a:lnTo>
                    <a:pt x="76202" y="1600200"/>
                  </a:lnTo>
                  <a:cubicBezTo>
                    <a:pt x="34117" y="1600200"/>
                    <a:pt x="0" y="1566083"/>
                    <a:pt x="0" y="1523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6" name="Text 14"/>
            <p:cNvSpPr/>
            <p:nvPr/>
          </p:nvSpPr>
          <p:spPr>
            <a:xfrm>
              <a:off x="6476911" y="2324236"/>
              <a:ext cx="520065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Computational Complexity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476911" y="2743325"/>
              <a:ext cx="5276850" cy="38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O(M × N × K)</a:t>
              </a:r>
              <a:endParaRPr lang="en-US" sz="16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257815" y="3933727"/>
              <a:ext cx="5543455" cy="1390555"/>
            </a:xfrm>
            <a:custGeom>
              <a:avLst/>
              <a:gdLst/>
              <a:ahLst/>
              <a:cxnLst/>
              <a:rect l="l" t="t" r="r" b="b"/>
              <a:pathLst>
                <a:path w="5543455" h="1390555">
                  <a:moveTo>
                    <a:pt x="76202" y="0"/>
                  </a:moveTo>
                  <a:lnTo>
                    <a:pt x="5467253" y="0"/>
                  </a:lnTo>
                  <a:cubicBezTo>
                    <a:pt x="5509338" y="0"/>
                    <a:pt x="5543455" y="34117"/>
                    <a:pt x="5543455" y="76202"/>
                  </a:cubicBezTo>
                  <a:lnTo>
                    <a:pt x="5543455" y="1314353"/>
                  </a:lnTo>
                  <a:cubicBezTo>
                    <a:pt x="5543455" y="1356438"/>
                    <a:pt x="5509338" y="1390555"/>
                    <a:pt x="5467253" y="1390555"/>
                  </a:cubicBezTo>
                  <a:lnTo>
                    <a:pt x="76202" y="1390555"/>
                  </a:lnTo>
                  <a:cubicBezTo>
                    <a:pt x="34117" y="1390555"/>
                    <a:pt x="0" y="1356438"/>
                    <a:pt x="0" y="1314353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F9FAFB"/>
            </a:solidFill>
            <a:ln w="25274">
              <a:solidFill>
                <a:srgbClr val="8B0000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465883" y="4171778"/>
              <a:ext cx="486727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Characteristics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495866" y="4552734"/>
              <a:ext cx="5153025" cy="533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8B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Compute-intensive task</a:t>
              </a:r>
              <a:endParaRPr lang="en-US" sz="1600" dirty="0"/>
            </a:p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Computation far exceeds data volume</a:t>
              </a:r>
              <a:endParaRPr lang="en-US" sz="1600" dirty="0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983" y="4443615"/>
            <a:ext cx="447675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8486" y="590396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+mn-ea"/>
                <a:cs typeface="MiSans" panose="00000500000000000000" pitchFamily="34" charset="-120"/>
              </a:rPr>
              <a:t>Problems with Naive GPU MatMul</a:t>
            </a:r>
            <a:endParaRPr lang="en-US" sz="16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0956" y="2171928"/>
            <a:ext cx="4438650" cy="1524000"/>
          </a:xfrm>
          <a:custGeom>
            <a:avLst/>
            <a:gdLst/>
            <a:ahLst/>
            <a:cxnLst/>
            <a:rect l="l" t="t" r="r" b="b"/>
            <a:pathLst>
              <a:path w="4438650" h="1524000">
                <a:moveTo>
                  <a:pt x="76200" y="0"/>
                </a:moveTo>
                <a:lnTo>
                  <a:pt x="4362450" y="0"/>
                </a:lnTo>
                <a:cubicBezTo>
                  <a:pt x="4404506" y="0"/>
                  <a:pt x="4438650" y="34144"/>
                  <a:pt x="4438650" y="76200"/>
                </a:cubicBezTo>
                <a:lnTo>
                  <a:pt x="4438650" y="1447800"/>
                </a:lnTo>
                <a:cubicBezTo>
                  <a:pt x="4438650" y="1489856"/>
                  <a:pt x="4404506" y="1524000"/>
                  <a:pt x="436245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Text 3"/>
          <p:cNvSpPr/>
          <p:nvPr/>
        </p:nvSpPr>
        <p:spPr>
          <a:xfrm>
            <a:off x="571396" y="2362369"/>
            <a:ext cx="4143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Naive Kernel Implementation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0352" y="2743324"/>
            <a:ext cx="4038505" cy="762000"/>
          </a:xfrm>
          <a:custGeom>
            <a:avLst/>
            <a:gdLst/>
            <a:ahLst/>
            <a:cxnLst/>
            <a:rect l="l" t="t" r="r" b="b"/>
            <a:pathLst>
              <a:path w="4038505" h="762000">
                <a:moveTo>
                  <a:pt x="37910" y="0"/>
                </a:moveTo>
                <a:lnTo>
                  <a:pt x="4000405" y="0"/>
                </a:lnTo>
                <a:cubicBezTo>
                  <a:pt x="4021433" y="0"/>
                  <a:pt x="4038505" y="17072"/>
                  <a:pt x="4038505" y="38100"/>
                </a:cubicBezTo>
                <a:lnTo>
                  <a:pt x="4038505" y="723900"/>
                </a:lnTo>
                <a:cubicBezTo>
                  <a:pt x="4038505" y="744928"/>
                  <a:pt x="4021433" y="762000"/>
                  <a:pt x="4000405" y="762000"/>
                </a:cubicBezTo>
                <a:lnTo>
                  <a:pt x="37910" y="762000"/>
                </a:lnTo>
                <a:cubicBezTo>
                  <a:pt x="16973" y="762000"/>
                  <a:pt x="0" y="745027"/>
                  <a:pt x="0" y="7240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7" name="Shape 5"/>
          <p:cNvSpPr/>
          <p:nvPr/>
        </p:nvSpPr>
        <p:spPr>
          <a:xfrm>
            <a:off x="590352" y="2743324"/>
            <a:ext cx="37910" cy="762000"/>
          </a:xfrm>
          <a:custGeom>
            <a:avLst/>
            <a:gdLst/>
            <a:ahLst/>
            <a:cxnLst/>
            <a:rect l="l" t="t" r="r" b="b"/>
            <a:pathLst>
              <a:path w="37910" h="762000">
                <a:moveTo>
                  <a:pt x="37910" y="0"/>
                </a:moveTo>
                <a:lnTo>
                  <a:pt x="37910" y="0"/>
                </a:lnTo>
                <a:lnTo>
                  <a:pt x="37910" y="762000"/>
                </a:lnTo>
                <a:lnTo>
                  <a:pt x="37910" y="762000"/>
                </a:lnTo>
                <a:cubicBezTo>
                  <a:pt x="16973" y="762000"/>
                  <a:pt x="0" y="745027"/>
                  <a:pt x="0" y="7240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6"/>
          <p:cNvSpPr/>
          <p:nvPr/>
        </p:nvSpPr>
        <p:spPr>
          <a:xfrm>
            <a:off x="571396" y="2743324"/>
            <a:ext cx="4095750" cy="762000"/>
          </a:xfrm>
          <a:prstGeom prst="rect">
            <a:avLst/>
          </a:prstGeom>
          <a:noFill/>
        </p:spPr>
        <p:txBody>
          <a:bodyPr wrap="square" lIns="152400" tIns="152400" rIns="152400" bIns="1524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Each thread computes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one C[i, j]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0956" y="3886117"/>
            <a:ext cx="4438650" cy="1371600"/>
          </a:xfrm>
          <a:custGeom>
            <a:avLst/>
            <a:gdLst/>
            <a:ahLst/>
            <a:cxnLst/>
            <a:rect l="l" t="t" r="r" b="b"/>
            <a:pathLst>
              <a:path w="4438650" h="1371600">
                <a:moveTo>
                  <a:pt x="76206" y="0"/>
                </a:moveTo>
                <a:lnTo>
                  <a:pt x="4362444" y="0"/>
                </a:lnTo>
                <a:cubicBezTo>
                  <a:pt x="4404531" y="0"/>
                  <a:pt x="4438650" y="34119"/>
                  <a:pt x="4438650" y="76206"/>
                </a:cubicBezTo>
                <a:lnTo>
                  <a:pt x="4438650" y="1295394"/>
                </a:lnTo>
                <a:cubicBezTo>
                  <a:pt x="4438650" y="1337481"/>
                  <a:pt x="4404531" y="1371600"/>
                  <a:pt x="436244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571396" y="4076558"/>
            <a:ext cx="4143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Core 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396" y="4457514"/>
            <a:ext cx="417195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Repeated reads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Global Memory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44385" y="1257116"/>
            <a:ext cx="6762750" cy="4914900"/>
          </a:xfrm>
          <a:custGeom>
            <a:avLst/>
            <a:gdLst/>
            <a:ahLst/>
            <a:cxnLst/>
            <a:rect l="l" t="t" r="r" b="b"/>
            <a:pathLst>
              <a:path w="6762750" h="4914900">
                <a:moveTo>
                  <a:pt x="76181" y="0"/>
                </a:moveTo>
                <a:lnTo>
                  <a:pt x="6686569" y="0"/>
                </a:lnTo>
                <a:cubicBezTo>
                  <a:pt x="6728643" y="0"/>
                  <a:pt x="6762750" y="34107"/>
                  <a:pt x="6762750" y="76181"/>
                </a:cubicBezTo>
                <a:lnTo>
                  <a:pt x="6762750" y="4838719"/>
                </a:lnTo>
                <a:cubicBezTo>
                  <a:pt x="6762750" y="4880793"/>
                  <a:pt x="6728643" y="4914900"/>
                  <a:pt x="6686569" y="4914900"/>
                </a:cubicBezTo>
                <a:lnTo>
                  <a:pt x="76181" y="4914900"/>
                </a:lnTo>
                <a:cubicBezTo>
                  <a:pt x="34107" y="4914900"/>
                  <a:pt x="0" y="4880793"/>
                  <a:pt x="0" y="4838719"/>
                </a:cubicBezTo>
                <a:lnTo>
                  <a:pt x="0" y="76181"/>
                </a:lnTo>
                <a:cubicBezTo>
                  <a:pt x="0" y="34136"/>
                  <a:pt x="34136" y="0"/>
                  <a:pt x="76181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3" name="Text 11"/>
          <p:cNvSpPr/>
          <p:nvPr/>
        </p:nvSpPr>
        <p:spPr>
          <a:xfrm>
            <a:off x="5272958" y="1485690"/>
            <a:ext cx="6400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Access Example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91914" y="2419605"/>
            <a:ext cx="6286405" cy="952500"/>
          </a:xfrm>
          <a:custGeom>
            <a:avLst/>
            <a:gdLst/>
            <a:ahLst/>
            <a:cxnLst/>
            <a:rect l="l" t="t" r="r" b="b"/>
            <a:pathLst>
              <a:path w="6286405" h="952500">
                <a:moveTo>
                  <a:pt x="37910" y="0"/>
                </a:moveTo>
                <a:lnTo>
                  <a:pt x="6210205" y="0"/>
                </a:lnTo>
                <a:cubicBezTo>
                  <a:pt x="6252261" y="0"/>
                  <a:pt x="6286405" y="34144"/>
                  <a:pt x="6286405" y="76200"/>
                </a:cubicBezTo>
                <a:lnTo>
                  <a:pt x="6286405" y="876300"/>
                </a:lnTo>
                <a:cubicBezTo>
                  <a:pt x="6286405" y="918356"/>
                  <a:pt x="6252261" y="952500"/>
                  <a:pt x="6210205" y="952500"/>
                </a:cubicBezTo>
                <a:lnTo>
                  <a:pt x="37910" y="952500"/>
                </a:lnTo>
                <a:cubicBezTo>
                  <a:pt x="16973" y="952500"/>
                  <a:pt x="0" y="935527"/>
                  <a:pt x="0" y="914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91914" y="2419605"/>
            <a:ext cx="37910" cy="952500"/>
          </a:xfrm>
          <a:custGeom>
            <a:avLst/>
            <a:gdLst/>
            <a:ahLst/>
            <a:cxnLst/>
            <a:rect l="l" t="t" r="r" b="b"/>
            <a:pathLst>
              <a:path w="37910" h="952500">
                <a:moveTo>
                  <a:pt x="37910" y="0"/>
                </a:moveTo>
                <a:lnTo>
                  <a:pt x="37910" y="0"/>
                </a:lnTo>
                <a:lnTo>
                  <a:pt x="37910" y="952500"/>
                </a:lnTo>
                <a:lnTo>
                  <a:pt x="37910" y="952500"/>
                </a:lnTo>
                <a:cubicBezTo>
                  <a:pt x="16973" y="952500"/>
                  <a:pt x="0" y="935527"/>
                  <a:pt x="0" y="914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Text 14"/>
          <p:cNvSpPr/>
          <p:nvPr/>
        </p:nvSpPr>
        <p:spPr>
          <a:xfrm>
            <a:off x="5501310" y="2629074"/>
            <a:ext cx="1257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A[i, k]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01310" y="2933839"/>
            <a:ext cx="3151737" cy="342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 single element of Matrix 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87008" y="2610045"/>
            <a:ext cx="904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 times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53683" y="2952869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is read repeatedly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91914" y="3562323"/>
            <a:ext cx="6286405" cy="952500"/>
          </a:xfrm>
          <a:custGeom>
            <a:avLst/>
            <a:gdLst/>
            <a:ahLst/>
            <a:cxnLst/>
            <a:rect l="l" t="t" r="r" b="b"/>
            <a:pathLst>
              <a:path w="6286405" h="952500">
                <a:moveTo>
                  <a:pt x="37910" y="0"/>
                </a:moveTo>
                <a:lnTo>
                  <a:pt x="6210205" y="0"/>
                </a:lnTo>
                <a:cubicBezTo>
                  <a:pt x="6252261" y="0"/>
                  <a:pt x="6286405" y="34144"/>
                  <a:pt x="6286405" y="76200"/>
                </a:cubicBezTo>
                <a:lnTo>
                  <a:pt x="6286405" y="876300"/>
                </a:lnTo>
                <a:cubicBezTo>
                  <a:pt x="6286405" y="918356"/>
                  <a:pt x="6252261" y="952500"/>
                  <a:pt x="6210205" y="952500"/>
                </a:cubicBezTo>
                <a:lnTo>
                  <a:pt x="37910" y="952500"/>
                </a:lnTo>
                <a:cubicBezTo>
                  <a:pt x="16973" y="952500"/>
                  <a:pt x="0" y="935527"/>
                  <a:pt x="0" y="914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91914" y="3562323"/>
            <a:ext cx="37910" cy="952500"/>
          </a:xfrm>
          <a:custGeom>
            <a:avLst/>
            <a:gdLst/>
            <a:ahLst/>
            <a:cxnLst/>
            <a:rect l="l" t="t" r="r" b="b"/>
            <a:pathLst>
              <a:path w="37910" h="952500">
                <a:moveTo>
                  <a:pt x="37910" y="0"/>
                </a:moveTo>
                <a:lnTo>
                  <a:pt x="37910" y="0"/>
                </a:lnTo>
                <a:lnTo>
                  <a:pt x="37910" y="952500"/>
                </a:lnTo>
                <a:lnTo>
                  <a:pt x="37910" y="952500"/>
                </a:lnTo>
                <a:cubicBezTo>
                  <a:pt x="16973" y="952500"/>
                  <a:pt x="0" y="935527"/>
                  <a:pt x="0" y="914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Text 20"/>
          <p:cNvSpPr/>
          <p:nvPr/>
        </p:nvSpPr>
        <p:spPr>
          <a:xfrm>
            <a:off x="5501310" y="3771793"/>
            <a:ext cx="1257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B[k, j]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01310" y="4076557"/>
            <a:ext cx="2881713" cy="304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 single element of Matrix 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87008" y="3752764"/>
            <a:ext cx="904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 times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53683" y="4095587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is read repeatedly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72958" y="4857424"/>
            <a:ext cx="6305550" cy="647700"/>
          </a:xfrm>
          <a:custGeom>
            <a:avLst/>
            <a:gdLst/>
            <a:ahLst/>
            <a:cxnLst/>
            <a:rect l="l" t="t" r="r" b="b"/>
            <a:pathLst>
              <a:path w="6305550" h="647700">
                <a:moveTo>
                  <a:pt x="76202" y="0"/>
                </a:moveTo>
                <a:lnTo>
                  <a:pt x="6229348" y="0"/>
                </a:lnTo>
                <a:cubicBezTo>
                  <a:pt x="6271433" y="0"/>
                  <a:pt x="6305550" y="34117"/>
                  <a:pt x="6305550" y="76202"/>
                </a:cubicBezTo>
                <a:lnTo>
                  <a:pt x="6305550" y="571498"/>
                </a:lnTo>
                <a:cubicBezTo>
                  <a:pt x="6305550" y="613583"/>
                  <a:pt x="6271433" y="647700"/>
                  <a:pt x="62293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8" name="Text 26"/>
          <p:cNvSpPr/>
          <p:nvPr/>
        </p:nvSpPr>
        <p:spPr>
          <a:xfrm>
            <a:off x="5758674" y="5047865"/>
            <a:ext cx="5724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Problem</a:t>
            </a: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: severe memory bandwidth waste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0956" y="6324603"/>
            <a:ext cx="11487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6394" y="62847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+mn-ea"/>
                <a:cs typeface="MiSans" panose="00000500000000000000" pitchFamily="34" charset="-120"/>
              </a:rPr>
              <a:t>GPU Memory Bandwidth is the Main Bottleneck</a:t>
            </a:r>
            <a:endParaRPr lang="en-US" sz="16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0956" y="1371736"/>
            <a:ext cx="11430000" cy="1219200"/>
          </a:xfrm>
          <a:custGeom>
            <a:avLst/>
            <a:gdLst/>
            <a:ahLst/>
            <a:cxnLst/>
            <a:rect l="l" t="t" r="r" b="b"/>
            <a:pathLst>
              <a:path w="11430000" h="12192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143000"/>
                </a:lnTo>
                <a:cubicBezTo>
                  <a:pt x="11430000" y="1185056"/>
                  <a:pt x="11395856" y="1219200"/>
                  <a:pt x="113538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609529" y="1600309"/>
            <a:ext cx="11087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GPU performance is limited by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29" y="1981191"/>
            <a:ext cx="11144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Bandwidth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0956" y="2819293"/>
            <a:ext cx="5600700" cy="1562100"/>
          </a:xfrm>
          <a:custGeom>
            <a:avLst/>
            <a:gdLst/>
            <a:ahLst/>
            <a:cxnLst/>
            <a:rect l="l" t="t" r="r" b="b"/>
            <a:pathLst>
              <a:path w="5600700" h="1562100">
                <a:moveTo>
                  <a:pt x="76199" y="0"/>
                </a:moveTo>
                <a:lnTo>
                  <a:pt x="5524501" y="0"/>
                </a:lnTo>
                <a:cubicBezTo>
                  <a:pt x="5566584" y="0"/>
                  <a:pt x="5600700" y="34116"/>
                  <a:pt x="5600700" y="76199"/>
                </a:cubicBezTo>
                <a:lnTo>
                  <a:pt x="5600700" y="1485901"/>
                </a:lnTo>
                <a:cubicBezTo>
                  <a:pt x="5600700" y="1527984"/>
                  <a:pt x="5566584" y="1562100"/>
                  <a:pt x="55245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8" name="Text 6"/>
          <p:cNvSpPr/>
          <p:nvPr/>
        </p:nvSpPr>
        <p:spPr>
          <a:xfrm>
            <a:off x="571429" y="3047866"/>
            <a:ext cx="5219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GPU Compute Capacity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5229" y="3352631"/>
            <a:ext cx="5372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1904" y="3886043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TFLOPS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0279" y="2819293"/>
            <a:ext cx="5600700" cy="1562100"/>
          </a:xfrm>
          <a:custGeom>
            <a:avLst/>
            <a:gdLst/>
            <a:ahLst/>
            <a:cxnLst/>
            <a:rect l="l" t="t" r="r" b="b"/>
            <a:pathLst>
              <a:path w="5600700" h="1562100">
                <a:moveTo>
                  <a:pt x="76199" y="0"/>
                </a:moveTo>
                <a:lnTo>
                  <a:pt x="5524501" y="0"/>
                </a:lnTo>
                <a:cubicBezTo>
                  <a:pt x="5566584" y="0"/>
                  <a:pt x="5600700" y="34116"/>
                  <a:pt x="5600700" y="76199"/>
                </a:cubicBezTo>
                <a:lnTo>
                  <a:pt x="5600700" y="1485901"/>
                </a:lnTo>
                <a:cubicBezTo>
                  <a:pt x="5600700" y="1527984"/>
                  <a:pt x="5566584" y="1562100"/>
                  <a:pt x="55245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2" name="Text 10"/>
          <p:cNvSpPr/>
          <p:nvPr/>
        </p:nvSpPr>
        <p:spPr>
          <a:xfrm>
            <a:off x="6400752" y="3047866"/>
            <a:ext cx="5219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Bandwidth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24552" y="3352631"/>
            <a:ext cx="5372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900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91227" y="3886043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GB/s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0956" y="4609895"/>
            <a:ext cx="11430000" cy="1447800"/>
          </a:xfrm>
          <a:custGeom>
            <a:avLst/>
            <a:gdLst/>
            <a:ahLst/>
            <a:cxnLst/>
            <a:rect l="l" t="t" r="r" b="b"/>
            <a:pathLst>
              <a:path w="11430000" h="1447800">
                <a:moveTo>
                  <a:pt x="76198" y="0"/>
                </a:moveTo>
                <a:lnTo>
                  <a:pt x="11353802" y="0"/>
                </a:lnTo>
                <a:cubicBezTo>
                  <a:pt x="11395857" y="0"/>
                  <a:pt x="11430000" y="34143"/>
                  <a:pt x="11430000" y="76198"/>
                </a:cubicBezTo>
                <a:lnTo>
                  <a:pt x="11430000" y="1371602"/>
                </a:lnTo>
                <a:cubicBezTo>
                  <a:pt x="11430000" y="1413657"/>
                  <a:pt x="11395857" y="1447800"/>
                  <a:pt x="11353802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6" name="Shape 14"/>
          <p:cNvSpPr/>
          <p:nvPr/>
        </p:nvSpPr>
        <p:spPr>
          <a:xfrm>
            <a:off x="657154" y="486690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7" name="Text 15"/>
          <p:cNvSpPr/>
          <p:nvPr/>
        </p:nvSpPr>
        <p:spPr>
          <a:xfrm>
            <a:off x="904804" y="4838469"/>
            <a:ext cx="10772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If memory access is excessive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8484" y="5257557"/>
            <a:ext cx="5391055" cy="571500"/>
          </a:xfrm>
          <a:custGeom>
            <a:avLst/>
            <a:gdLst/>
            <a:ahLst/>
            <a:cxnLst/>
            <a:rect l="l" t="t" r="r" b="b"/>
            <a:pathLst>
              <a:path w="5391055" h="571500">
                <a:moveTo>
                  <a:pt x="37910" y="0"/>
                </a:moveTo>
                <a:lnTo>
                  <a:pt x="5352953" y="0"/>
                </a:lnTo>
                <a:cubicBezTo>
                  <a:pt x="5373996" y="0"/>
                  <a:pt x="5391055" y="17059"/>
                  <a:pt x="5391055" y="38102"/>
                </a:cubicBezTo>
                <a:lnTo>
                  <a:pt x="5391055" y="533398"/>
                </a:lnTo>
                <a:cubicBezTo>
                  <a:pt x="5391055" y="554441"/>
                  <a:pt x="5373996" y="571500"/>
                  <a:pt x="5352953" y="571500"/>
                </a:cubicBez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628484" y="5257557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0" name="Text 18"/>
          <p:cNvSpPr/>
          <p:nvPr/>
        </p:nvSpPr>
        <p:spPr>
          <a:xfrm>
            <a:off x="799822" y="5409938"/>
            <a:ext cx="5153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Compute Units sit idle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1102" y="5257557"/>
            <a:ext cx="5391055" cy="571500"/>
          </a:xfrm>
          <a:custGeom>
            <a:avLst/>
            <a:gdLst/>
            <a:ahLst/>
            <a:cxnLst/>
            <a:rect l="l" t="t" r="r" b="b"/>
            <a:pathLst>
              <a:path w="5391055" h="571500">
                <a:moveTo>
                  <a:pt x="37910" y="0"/>
                </a:moveTo>
                <a:lnTo>
                  <a:pt x="5352953" y="0"/>
                </a:lnTo>
                <a:cubicBezTo>
                  <a:pt x="5373996" y="0"/>
                  <a:pt x="5391055" y="17059"/>
                  <a:pt x="5391055" y="38102"/>
                </a:cubicBezTo>
                <a:lnTo>
                  <a:pt x="5391055" y="533398"/>
                </a:lnTo>
                <a:cubicBezTo>
                  <a:pt x="5391055" y="554441"/>
                  <a:pt x="5373996" y="571500"/>
                  <a:pt x="5352953" y="571500"/>
                </a:cubicBez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Shape 20"/>
          <p:cNvSpPr/>
          <p:nvPr/>
        </p:nvSpPr>
        <p:spPr>
          <a:xfrm>
            <a:off x="6191102" y="5257557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3" name="Text 21"/>
          <p:cNvSpPr/>
          <p:nvPr/>
        </p:nvSpPr>
        <p:spPr>
          <a:xfrm>
            <a:off x="6362440" y="5409938"/>
            <a:ext cx="5153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Performance drops significantly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0956" y="6324603"/>
            <a:ext cx="11487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7083" y="62897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Why Tiling Is Needed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1276664"/>
            <a:ext cx="11430000" cy="1181100"/>
          </a:xfrm>
          <a:custGeom>
            <a:avLst/>
            <a:gdLst/>
            <a:ahLst/>
            <a:cxnLst/>
            <a:rect l="l" t="t" r="r" b="b"/>
            <a:pathLst>
              <a:path w="11430000" h="1181100">
                <a:moveTo>
                  <a:pt x="76205" y="0"/>
                </a:moveTo>
                <a:lnTo>
                  <a:pt x="11353795" y="0"/>
                </a:lnTo>
                <a:cubicBezTo>
                  <a:pt x="11395854" y="0"/>
                  <a:pt x="11430000" y="34146"/>
                  <a:pt x="11430000" y="76205"/>
                </a:cubicBezTo>
                <a:lnTo>
                  <a:pt x="11430000" y="1104895"/>
                </a:lnTo>
                <a:cubicBezTo>
                  <a:pt x="11430000" y="1146982"/>
                  <a:pt x="11395882" y="1181100"/>
                  <a:pt x="11353795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609529" y="1505236"/>
            <a:ext cx="11087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Goal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29" y="1886117"/>
            <a:ext cx="111156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+mn-ea"/>
                <a:cs typeface="MiSans" panose="00000500000000000000" pitchFamily="34" charset="-120"/>
              </a:rPr>
              <a:t>Reduce the number of Global Memory accesses</a:t>
            </a:r>
            <a:endParaRPr lang="en-US" sz="1600" dirty="0">
              <a:latin typeface="+mn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0956" y="2686087"/>
            <a:ext cx="5600700" cy="2590800"/>
          </a:xfrm>
          <a:custGeom>
            <a:avLst/>
            <a:gdLst/>
            <a:ahLst/>
            <a:cxnLst/>
            <a:rect l="l" t="t" r="r" b="b"/>
            <a:pathLst>
              <a:path w="5600700" h="2590800">
                <a:moveTo>
                  <a:pt x="76195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2514605"/>
                </a:lnTo>
                <a:cubicBezTo>
                  <a:pt x="5600700" y="2556686"/>
                  <a:pt x="5566586" y="2590800"/>
                  <a:pt x="5524505" y="2590800"/>
                </a:cubicBezTo>
                <a:lnTo>
                  <a:pt x="76195" y="2590800"/>
                </a:lnTo>
                <a:cubicBezTo>
                  <a:pt x="34142" y="2590800"/>
                  <a:pt x="0" y="2556658"/>
                  <a:pt x="0" y="25146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 7"/>
          <p:cNvSpPr/>
          <p:nvPr/>
        </p:nvSpPr>
        <p:spPr>
          <a:xfrm>
            <a:off x="904804" y="2914662"/>
            <a:ext cx="4943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007" y="3343228"/>
            <a:ext cx="5124355" cy="742855"/>
          </a:xfrm>
          <a:custGeom>
            <a:avLst/>
            <a:gdLst/>
            <a:ahLst/>
            <a:cxnLst/>
            <a:rect l="l" t="t" r="r" b="b"/>
            <a:pathLst>
              <a:path w="5124355" h="742855">
                <a:moveTo>
                  <a:pt x="38101" y="0"/>
                </a:moveTo>
                <a:lnTo>
                  <a:pt x="5086254" y="0"/>
                </a:lnTo>
                <a:cubicBezTo>
                  <a:pt x="5107297" y="0"/>
                  <a:pt x="5124355" y="17058"/>
                  <a:pt x="5124355" y="38101"/>
                </a:cubicBezTo>
                <a:lnTo>
                  <a:pt x="5124355" y="704754"/>
                </a:lnTo>
                <a:cubicBezTo>
                  <a:pt x="5124355" y="725797"/>
                  <a:pt x="5107297" y="742855"/>
                  <a:pt x="5086254" y="742855"/>
                </a:cubicBezTo>
                <a:lnTo>
                  <a:pt x="38101" y="742855"/>
                </a:lnTo>
                <a:cubicBezTo>
                  <a:pt x="17058" y="742855"/>
                  <a:pt x="0" y="725797"/>
                  <a:pt x="0" y="70475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487" y="3543147"/>
            <a:ext cx="48672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Data reuse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0279" y="2686087"/>
            <a:ext cx="5600700" cy="2590800"/>
          </a:xfrm>
          <a:custGeom>
            <a:avLst/>
            <a:gdLst/>
            <a:ahLst/>
            <a:cxnLst/>
            <a:rect l="l" t="t" r="r" b="b"/>
            <a:pathLst>
              <a:path w="5600700" h="2590800">
                <a:moveTo>
                  <a:pt x="76195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2514605"/>
                </a:lnTo>
                <a:cubicBezTo>
                  <a:pt x="5600700" y="2556686"/>
                  <a:pt x="5566586" y="2590800"/>
                  <a:pt x="5524505" y="2590800"/>
                </a:cubicBezTo>
                <a:lnTo>
                  <a:pt x="76195" y="2590800"/>
                </a:lnTo>
                <a:cubicBezTo>
                  <a:pt x="34142" y="2590800"/>
                  <a:pt x="0" y="2556658"/>
                  <a:pt x="0" y="25146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4" name="Text 12"/>
          <p:cNvSpPr/>
          <p:nvPr/>
        </p:nvSpPr>
        <p:spPr>
          <a:xfrm>
            <a:off x="6734127" y="2914662"/>
            <a:ext cx="4943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Method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57808" y="3333750"/>
            <a:ext cx="5124355" cy="495300"/>
          </a:xfrm>
          <a:custGeom>
            <a:avLst/>
            <a:gdLst/>
            <a:ahLst/>
            <a:cxnLst/>
            <a:rect l="l" t="t" r="r" b="b"/>
            <a:pathLst>
              <a:path w="5124355" h="495300">
                <a:moveTo>
                  <a:pt x="37910" y="0"/>
                </a:moveTo>
                <a:lnTo>
                  <a:pt x="5086257" y="0"/>
                </a:lnTo>
                <a:cubicBezTo>
                  <a:pt x="5107298" y="0"/>
                  <a:pt x="5124355" y="17057"/>
                  <a:pt x="5124355" y="38098"/>
                </a:cubicBezTo>
                <a:lnTo>
                  <a:pt x="5124355" y="457202"/>
                </a:lnTo>
                <a:cubicBezTo>
                  <a:pt x="5124355" y="478243"/>
                  <a:pt x="5107298" y="495300"/>
                  <a:pt x="5086257" y="495300"/>
                </a:cubicBezTo>
                <a:lnTo>
                  <a:pt x="37910" y="495300"/>
                </a:lnTo>
                <a:cubicBezTo>
                  <a:pt x="16973" y="495300"/>
                  <a:pt x="0" y="478327"/>
                  <a:pt x="0" y="457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6457808" y="3333750"/>
            <a:ext cx="37910" cy="495300"/>
          </a:xfrm>
          <a:custGeom>
            <a:avLst/>
            <a:gdLst/>
            <a:ahLst/>
            <a:cxnLst/>
            <a:rect l="l" t="t" r="r" b="b"/>
            <a:pathLst>
              <a:path w="37910" h="495300">
                <a:moveTo>
                  <a:pt x="37910" y="0"/>
                </a:moveTo>
                <a:lnTo>
                  <a:pt x="37910" y="0"/>
                </a:lnTo>
                <a:lnTo>
                  <a:pt x="37910" y="495300"/>
                </a:lnTo>
                <a:lnTo>
                  <a:pt x="37910" y="495300"/>
                </a:lnTo>
                <a:cubicBezTo>
                  <a:pt x="16973" y="495300"/>
                  <a:pt x="0" y="478327"/>
                  <a:pt x="0" y="457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7" name="Text 15"/>
          <p:cNvSpPr/>
          <p:nvPr/>
        </p:nvSpPr>
        <p:spPr>
          <a:xfrm>
            <a:off x="6591013" y="3447999"/>
            <a:ext cx="4962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Partition the matrix into tiles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57808" y="3943203"/>
            <a:ext cx="5124355" cy="495300"/>
          </a:xfrm>
          <a:custGeom>
            <a:avLst/>
            <a:gdLst/>
            <a:ahLst/>
            <a:cxnLst/>
            <a:rect l="l" t="t" r="r" b="b"/>
            <a:pathLst>
              <a:path w="5124355" h="495300">
                <a:moveTo>
                  <a:pt x="37910" y="0"/>
                </a:moveTo>
                <a:lnTo>
                  <a:pt x="5086257" y="0"/>
                </a:lnTo>
                <a:cubicBezTo>
                  <a:pt x="5107298" y="0"/>
                  <a:pt x="5124355" y="17057"/>
                  <a:pt x="5124355" y="38098"/>
                </a:cubicBezTo>
                <a:lnTo>
                  <a:pt x="5124355" y="457202"/>
                </a:lnTo>
                <a:cubicBezTo>
                  <a:pt x="5124355" y="478243"/>
                  <a:pt x="5107298" y="495300"/>
                  <a:pt x="5086257" y="495300"/>
                </a:cubicBezTo>
                <a:lnTo>
                  <a:pt x="37910" y="495300"/>
                </a:lnTo>
                <a:cubicBezTo>
                  <a:pt x="16973" y="495300"/>
                  <a:pt x="0" y="478327"/>
                  <a:pt x="0" y="457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6457808" y="3943203"/>
            <a:ext cx="37910" cy="495300"/>
          </a:xfrm>
          <a:custGeom>
            <a:avLst/>
            <a:gdLst/>
            <a:ahLst/>
            <a:cxnLst/>
            <a:rect l="l" t="t" r="r" b="b"/>
            <a:pathLst>
              <a:path w="37910" h="495300">
                <a:moveTo>
                  <a:pt x="37910" y="0"/>
                </a:moveTo>
                <a:lnTo>
                  <a:pt x="37910" y="0"/>
                </a:lnTo>
                <a:lnTo>
                  <a:pt x="37910" y="495300"/>
                </a:lnTo>
                <a:lnTo>
                  <a:pt x="37910" y="495300"/>
                </a:lnTo>
                <a:cubicBezTo>
                  <a:pt x="16973" y="495300"/>
                  <a:pt x="0" y="478327"/>
                  <a:pt x="0" y="457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0" name="Text 18"/>
          <p:cNvSpPr/>
          <p:nvPr/>
        </p:nvSpPr>
        <p:spPr>
          <a:xfrm>
            <a:off x="6591013" y="4057455"/>
            <a:ext cx="4962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Load small blocks at a time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57808" y="4552659"/>
            <a:ext cx="5124355" cy="495300"/>
          </a:xfrm>
          <a:custGeom>
            <a:avLst/>
            <a:gdLst/>
            <a:ahLst/>
            <a:cxnLst/>
            <a:rect l="l" t="t" r="r" b="b"/>
            <a:pathLst>
              <a:path w="5124355" h="495300">
                <a:moveTo>
                  <a:pt x="37910" y="0"/>
                </a:moveTo>
                <a:lnTo>
                  <a:pt x="5086257" y="0"/>
                </a:lnTo>
                <a:cubicBezTo>
                  <a:pt x="5107298" y="0"/>
                  <a:pt x="5124355" y="17057"/>
                  <a:pt x="5124355" y="38098"/>
                </a:cubicBezTo>
                <a:lnTo>
                  <a:pt x="5124355" y="457202"/>
                </a:lnTo>
                <a:cubicBezTo>
                  <a:pt x="5124355" y="478243"/>
                  <a:pt x="5107298" y="495300"/>
                  <a:pt x="5086257" y="495300"/>
                </a:cubicBezTo>
                <a:lnTo>
                  <a:pt x="37910" y="495300"/>
                </a:lnTo>
                <a:cubicBezTo>
                  <a:pt x="16973" y="495300"/>
                  <a:pt x="0" y="478327"/>
                  <a:pt x="0" y="457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Shape 20"/>
          <p:cNvSpPr/>
          <p:nvPr/>
        </p:nvSpPr>
        <p:spPr>
          <a:xfrm>
            <a:off x="6457808" y="4552659"/>
            <a:ext cx="37910" cy="495300"/>
          </a:xfrm>
          <a:custGeom>
            <a:avLst/>
            <a:gdLst/>
            <a:ahLst/>
            <a:cxnLst/>
            <a:rect l="l" t="t" r="r" b="b"/>
            <a:pathLst>
              <a:path w="37910" h="495300">
                <a:moveTo>
                  <a:pt x="37910" y="0"/>
                </a:moveTo>
                <a:lnTo>
                  <a:pt x="37910" y="0"/>
                </a:lnTo>
                <a:lnTo>
                  <a:pt x="37910" y="495300"/>
                </a:lnTo>
                <a:lnTo>
                  <a:pt x="37910" y="495300"/>
                </a:lnTo>
                <a:cubicBezTo>
                  <a:pt x="16973" y="495300"/>
                  <a:pt x="0" y="478327"/>
                  <a:pt x="0" y="457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3" name="Text 21"/>
          <p:cNvSpPr/>
          <p:nvPr/>
        </p:nvSpPr>
        <p:spPr>
          <a:xfrm>
            <a:off x="6591013" y="4666908"/>
            <a:ext cx="4962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Reuse them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0956" y="5505010"/>
            <a:ext cx="11430000" cy="647700"/>
          </a:xfrm>
          <a:custGeom>
            <a:avLst/>
            <a:gdLst/>
            <a:ahLst/>
            <a:cxnLst/>
            <a:rect l="l" t="t" r="r" b="b"/>
            <a:pathLst>
              <a:path w="11430000" h="6477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571498"/>
                </a:lnTo>
                <a:cubicBezTo>
                  <a:pt x="11430000" y="613583"/>
                  <a:pt x="11395883" y="647700"/>
                  <a:pt x="113537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5" name="Shape 23"/>
          <p:cNvSpPr/>
          <p:nvPr/>
        </p:nvSpPr>
        <p:spPr>
          <a:xfrm>
            <a:off x="4316185" y="573336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Text 24"/>
          <p:cNvSpPr/>
          <p:nvPr/>
        </p:nvSpPr>
        <p:spPr>
          <a:xfrm>
            <a:off x="795234" y="5695452"/>
            <a:ext cx="10868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Data reuse dramatically reduces unnecessary memory accesses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0956" y="6324602"/>
            <a:ext cx="11487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6186" y="604683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Basic Idea of Tiling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1257116"/>
            <a:ext cx="11430000" cy="1219200"/>
          </a:xfrm>
          <a:custGeom>
            <a:avLst/>
            <a:gdLst/>
            <a:ahLst/>
            <a:cxnLst/>
            <a:rect l="l" t="t" r="r" b="b"/>
            <a:pathLst>
              <a:path w="11430000" h="12192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143000"/>
                </a:lnTo>
                <a:cubicBezTo>
                  <a:pt x="11430000" y="1185056"/>
                  <a:pt x="11395856" y="1219200"/>
                  <a:pt x="113538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609529" y="1485691"/>
            <a:ext cx="11087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Partition the matrix into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29" y="1866572"/>
            <a:ext cx="11144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small tiles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0956" y="2704674"/>
            <a:ext cx="5562600" cy="1638300"/>
          </a:xfrm>
          <a:custGeom>
            <a:avLst/>
            <a:gdLst/>
            <a:ahLst/>
            <a:cxnLst/>
            <a:rect l="l" t="t" r="r" b="b"/>
            <a:pathLst>
              <a:path w="5562600" h="16383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1562103"/>
                </a:lnTo>
                <a:cubicBezTo>
                  <a:pt x="5562600" y="1604185"/>
                  <a:pt x="5528485" y="1638300"/>
                  <a:pt x="5486403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8" name="Text 6"/>
          <p:cNvSpPr/>
          <p:nvPr/>
        </p:nvSpPr>
        <p:spPr>
          <a:xfrm>
            <a:off x="609529" y="2933247"/>
            <a:ext cx="520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Matrix A tile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007" y="3361813"/>
            <a:ext cx="5086255" cy="742855"/>
          </a:xfrm>
          <a:custGeom>
            <a:avLst/>
            <a:gdLst/>
            <a:ahLst/>
            <a:cxnLst/>
            <a:rect l="l" t="t" r="r" b="b"/>
            <a:pathLst>
              <a:path w="5086255" h="742855">
                <a:moveTo>
                  <a:pt x="38101" y="0"/>
                </a:moveTo>
                <a:lnTo>
                  <a:pt x="5048154" y="0"/>
                </a:lnTo>
                <a:cubicBezTo>
                  <a:pt x="5069197" y="0"/>
                  <a:pt x="5086255" y="17058"/>
                  <a:pt x="5086255" y="38101"/>
                </a:cubicBezTo>
                <a:lnTo>
                  <a:pt x="5086255" y="704754"/>
                </a:lnTo>
                <a:cubicBezTo>
                  <a:pt x="5086255" y="725797"/>
                  <a:pt x="5069197" y="742855"/>
                  <a:pt x="5048154" y="742855"/>
                </a:cubicBezTo>
                <a:lnTo>
                  <a:pt x="38101" y="742855"/>
                </a:lnTo>
                <a:cubicBezTo>
                  <a:pt x="17058" y="742855"/>
                  <a:pt x="0" y="725797"/>
                  <a:pt x="0" y="70475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7487" y="3561731"/>
            <a:ext cx="48291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BLOCK_M × BLOCK_K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48338" y="2704674"/>
            <a:ext cx="5562600" cy="1638300"/>
          </a:xfrm>
          <a:custGeom>
            <a:avLst/>
            <a:gdLst/>
            <a:ahLst/>
            <a:cxnLst/>
            <a:rect l="l" t="t" r="r" b="b"/>
            <a:pathLst>
              <a:path w="5562600" h="16383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1562103"/>
                </a:lnTo>
                <a:cubicBezTo>
                  <a:pt x="5562600" y="1604185"/>
                  <a:pt x="5528485" y="1638300"/>
                  <a:pt x="5486403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2" name="Text 10"/>
          <p:cNvSpPr/>
          <p:nvPr/>
        </p:nvSpPr>
        <p:spPr>
          <a:xfrm>
            <a:off x="6476911" y="2933247"/>
            <a:ext cx="520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Matrix B tile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86389" y="3361813"/>
            <a:ext cx="5086255" cy="742855"/>
          </a:xfrm>
          <a:custGeom>
            <a:avLst/>
            <a:gdLst/>
            <a:ahLst/>
            <a:cxnLst/>
            <a:rect l="l" t="t" r="r" b="b"/>
            <a:pathLst>
              <a:path w="5086255" h="742855">
                <a:moveTo>
                  <a:pt x="38101" y="0"/>
                </a:moveTo>
                <a:lnTo>
                  <a:pt x="5048154" y="0"/>
                </a:lnTo>
                <a:cubicBezTo>
                  <a:pt x="5069197" y="0"/>
                  <a:pt x="5086255" y="17058"/>
                  <a:pt x="5086255" y="38101"/>
                </a:cubicBezTo>
                <a:lnTo>
                  <a:pt x="5086255" y="704754"/>
                </a:lnTo>
                <a:cubicBezTo>
                  <a:pt x="5086255" y="725797"/>
                  <a:pt x="5069197" y="742855"/>
                  <a:pt x="5048154" y="742855"/>
                </a:cubicBezTo>
                <a:lnTo>
                  <a:pt x="38101" y="742855"/>
                </a:lnTo>
                <a:cubicBezTo>
                  <a:pt x="17058" y="742855"/>
                  <a:pt x="0" y="725797"/>
                  <a:pt x="0" y="70475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4869" y="3561731"/>
            <a:ext cx="48291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BLOCK_K × BLOCK_N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0956" y="4571098"/>
            <a:ext cx="11430000" cy="1638300"/>
          </a:xfrm>
          <a:custGeom>
            <a:avLst/>
            <a:gdLst/>
            <a:ahLst/>
            <a:cxnLst/>
            <a:rect l="l" t="t" r="r" b="b"/>
            <a:pathLst>
              <a:path w="11430000" h="16383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562103"/>
                </a:lnTo>
                <a:cubicBezTo>
                  <a:pt x="11430000" y="1604185"/>
                  <a:pt x="11395885" y="1638300"/>
                  <a:pt x="11353803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6" name="Shape 14"/>
          <p:cNvSpPr/>
          <p:nvPr/>
        </p:nvSpPr>
        <p:spPr>
          <a:xfrm>
            <a:off x="657154" y="482810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7" name="Text 15"/>
          <p:cNvSpPr/>
          <p:nvPr/>
        </p:nvSpPr>
        <p:spPr>
          <a:xfrm>
            <a:off x="904804" y="4799670"/>
            <a:ext cx="10772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Output tile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007" y="5228236"/>
            <a:ext cx="10953655" cy="742855"/>
          </a:xfrm>
          <a:custGeom>
            <a:avLst/>
            <a:gdLst/>
            <a:ahLst/>
            <a:cxnLst/>
            <a:rect l="l" t="t" r="r" b="b"/>
            <a:pathLst>
              <a:path w="10953655" h="742855">
                <a:moveTo>
                  <a:pt x="38101" y="0"/>
                </a:moveTo>
                <a:lnTo>
                  <a:pt x="10915554" y="0"/>
                </a:lnTo>
                <a:cubicBezTo>
                  <a:pt x="10936597" y="0"/>
                  <a:pt x="10953655" y="17058"/>
                  <a:pt x="10953655" y="38101"/>
                </a:cubicBezTo>
                <a:lnTo>
                  <a:pt x="10953655" y="704754"/>
                </a:lnTo>
                <a:cubicBezTo>
                  <a:pt x="10953655" y="725797"/>
                  <a:pt x="10936597" y="742855"/>
                  <a:pt x="10915554" y="742855"/>
                </a:cubicBezTo>
                <a:lnTo>
                  <a:pt x="38101" y="742855"/>
                </a:lnTo>
                <a:cubicBezTo>
                  <a:pt x="17058" y="742855"/>
                  <a:pt x="0" y="725797"/>
                  <a:pt x="0" y="70475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487" y="5428155"/>
            <a:ext cx="106965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BLOCK_M × BLOCK_N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0956" y="6361328"/>
            <a:ext cx="11487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2033" y="647586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Tile Computation Workflow</a:t>
            </a:r>
            <a:endParaRPr lang="en-US" sz="1600" dirty="0"/>
          </a:p>
        </p:txBody>
      </p:sp>
      <p:grpSp>
        <p:nvGrpSpPr>
          <p:cNvPr id="34" name="组合 33"/>
          <p:cNvGrpSpPr/>
          <p:nvPr/>
        </p:nvGrpSpPr>
        <p:grpSpPr>
          <a:xfrm>
            <a:off x="380956" y="2057530"/>
            <a:ext cx="11430023" cy="1600200"/>
            <a:chOff x="380956" y="2057530"/>
            <a:chExt cx="11430023" cy="1600200"/>
          </a:xfrm>
        </p:grpSpPr>
        <p:sp>
          <p:nvSpPr>
            <p:cNvPr id="4" name="Shape 2"/>
            <p:cNvSpPr/>
            <p:nvPr/>
          </p:nvSpPr>
          <p:spPr>
            <a:xfrm>
              <a:off x="380956" y="2057530"/>
              <a:ext cx="2743200" cy="1600200"/>
            </a:xfrm>
            <a:custGeom>
              <a:avLst/>
              <a:gdLst/>
              <a:ahLst/>
              <a:cxnLst/>
              <a:rect l="l" t="t" r="r" b="b"/>
              <a:pathLst>
                <a:path w="2743200" h="1600200">
                  <a:moveTo>
                    <a:pt x="76202" y="0"/>
                  </a:moveTo>
                  <a:lnTo>
                    <a:pt x="2666998" y="0"/>
                  </a:lnTo>
                  <a:cubicBezTo>
                    <a:pt x="2709083" y="0"/>
                    <a:pt x="2743200" y="34117"/>
                    <a:pt x="2743200" y="76202"/>
                  </a:cubicBezTo>
                  <a:lnTo>
                    <a:pt x="2743200" y="1523998"/>
                  </a:lnTo>
                  <a:cubicBezTo>
                    <a:pt x="2743200" y="1566083"/>
                    <a:pt x="2709083" y="1600200"/>
                    <a:pt x="2666998" y="1600200"/>
                  </a:cubicBezTo>
                  <a:lnTo>
                    <a:pt x="76202" y="1600200"/>
                  </a:lnTo>
                  <a:cubicBezTo>
                    <a:pt x="34117" y="1600200"/>
                    <a:pt x="0" y="1566083"/>
                    <a:pt x="0" y="1523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5" name="Shape 3"/>
            <p:cNvSpPr/>
            <p:nvPr/>
          </p:nvSpPr>
          <p:spPr>
            <a:xfrm>
              <a:off x="1485838" y="224797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66700" y="0"/>
                  </a:lnTo>
                  <a:cubicBezTo>
                    <a:pt x="413896" y="0"/>
                    <a:pt x="533400" y="119504"/>
                    <a:pt x="533400" y="266700"/>
                  </a:cubicBezTo>
                  <a:lnTo>
                    <a:pt x="533400" y="266700"/>
                  </a:lnTo>
                  <a:cubicBezTo>
                    <a:pt x="533400" y="413896"/>
                    <a:pt x="413896" y="533400"/>
                    <a:pt x="266700" y="533400"/>
                  </a:cubicBezTo>
                  <a:lnTo>
                    <a:pt x="266700" y="533400"/>
                  </a:lnTo>
                  <a:cubicBezTo>
                    <a:pt x="119504" y="533400"/>
                    <a:pt x="0" y="413896"/>
                    <a:pt x="0" y="266700"/>
                  </a:cubicBezTo>
                  <a:lnTo>
                    <a:pt x="0" y="266700"/>
                  </a:lnTo>
                  <a:cubicBezTo>
                    <a:pt x="0" y="119504"/>
                    <a:pt x="119504" y="0"/>
                    <a:pt x="26670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6" name="Text 4"/>
            <p:cNvSpPr/>
            <p:nvPr/>
          </p:nvSpPr>
          <p:spPr>
            <a:xfrm>
              <a:off x="1428688" y="2247970"/>
              <a:ext cx="647700" cy="533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28534" y="2895558"/>
              <a:ext cx="24479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Load Tile A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33296" y="3238453"/>
              <a:ext cx="24384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from Global Memory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76514" y="2057530"/>
              <a:ext cx="2743200" cy="1600200"/>
            </a:xfrm>
            <a:custGeom>
              <a:avLst/>
              <a:gdLst/>
              <a:ahLst/>
              <a:cxnLst/>
              <a:rect l="l" t="t" r="r" b="b"/>
              <a:pathLst>
                <a:path w="2743200" h="1600200">
                  <a:moveTo>
                    <a:pt x="76202" y="0"/>
                  </a:moveTo>
                  <a:lnTo>
                    <a:pt x="2666998" y="0"/>
                  </a:lnTo>
                  <a:cubicBezTo>
                    <a:pt x="2709083" y="0"/>
                    <a:pt x="2743200" y="34117"/>
                    <a:pt x="2743200" y="76202"/>
                  </a:cubicBezTo>
                  <a:lnTo>
                    <a:pt x="2743200" y="1523998"/>
                  </a:lnTo>
                  <a:cubicBezTo>
                    <a:pt x="2743200" y="1566083"/>
                    <a:pt x="2709083" y="1600200"/>
                    <a:pt x="2666998" y="1600200"/>
                  </a:cubicBezTo>
                  <a:lnTo>
                    <a:pt x="76202" y="1600200"/>
                  </a:lnTo>
                  <a:cubicBezTo>
                    <a:pt x="34117" y="1600200"/>
                    <a:pt x="0" y="1566083"/>
                    <a:pt x="0" y="1523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0" name="Shape 8"/>
            <p:cNvSpPr/>
            <p:nvPr/>
          </p:nvSpPr>
          <p:spPr>
            <a:xfrm>
              <a:off x="4381470" y="224797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66700" y="0"/>
                  </a:lnTo>
                  <a:cubicBezTo>
                    <a:pt x="413896" y="0"/>
                    <a:pt x="533400" y="119504"/>
                    <a:pt x="533400" y="266700"/>
                  </a:cubicBezTo>
                  <a:lnTo>
                    <a:pt x="533400" y="266700"/>
                  </a:lnTo>
                  <a:cubicBezTo>
                    <a:pt x="533400" y="413896"/>
                    <a:pt x="413896" y="533400"/>
                    <a:pt x="266700" y="533400"/>
                  </a:cubicBezTo>
                  <a:lnTo>
                    <a:pt x="266700" y="533400"/>
                  </a:lnTo>
                  <a:cubicBezTo>
                    <a:pt x="119504" y="533400"/>
                    <a:pt x="0" y="413896"/>
                    <a:pt x="0" y="266700"/>
                  </a:cubicBezTo>
                  <a:lnTo>
                    <a:pt x="0" y="266700"/>
                  </a:lnTo>
                  <a:cubicBezTo>
                    <a:pt x="0" y="119504"/>
                    <a:pt x="119504" y="0"/>
                    <a:pt x="26670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1" name="Text 9"/>
            <p:cNvSpPr/>
            <p:nvPr/>
          </p:nvSpPr>
          <p:spPr>
            <a:xfrm>
              <a:off x="4324320" y="2247970"/>
              <a:ext cx="647700" cy="533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424092" y="2895558"/>
              <a:ext cx="24479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Load Tile B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428855" y="3238453"/>
              <a:ext cx="24384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from Global Memory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172147" y="2057530"/>
              <a:ext cx="2743200" cy="1600200"/>
            </a:xfrm>
            <a:custGeom>
              <a:avLst/>
              <a:gdLst/>
              <a:ahLst/>
              <a:cxnLst/>
              <a:rect l="l" t="t" r="r" b="b"/>
              <a:pathLst>
                <a:path w="2743200" h="1600200">
                  <a:moveTo>
                    <a:pt x="76202" y="0"/>
                  </a:moveTo>
                  <a:lnTo>
                    <a:pt x="2666998" y="0"/>
                  </a:lnTo>
                  <a:cubicBezTo>
                    <a:pt x="2709083" y="0"/>
                    <a:pt x="2743200" y="34117"/>
                    <a:pt x="2743200" y="76202"/>
                  </a:cubicBezTo>
                  <a:lnTo>
                    <a:pt x="2743200" y="1523998"/>
                  </a:lnTo>
                  <a:cubicBezTo>
                    <a:pt x="2743200" y="1566083"/>
                    <a:pt x="2709083" y="1600200"/>
                    <a:pt x="2666998" y="1600200"/>
                  </a:cubicBezTo>
                  <a:lnTo>
                    <a:pt x="76202" y="1600200"/>
                  </a:lnTo>
                  <a:cubicBezTo>
                    <a:pt x="34117" y="1600200"/>
                    <a:pt x="0" y="1566083"/>
                    <a:pt x="0" y="1523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5" name="Shape 13"/>
            <p:cNvSpPr/>
            <p:nvPr/>
          </p:nvSpPr>
          <p:spPr>
            <a:xfrm>
              <a:off x="7277103" y="224797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66700" y="0"/>
                  </a:lnTo>
                  <a:cubicBezTo>
                    <a:pt x="413896" y="0"/>
                    <a:pt x="533400" y="119504"/>
                    <a:pt x="533400" y="266700"/>
                  </a:cubicBezTo>
                  <a:lnTo>
                    <a:pt x="533400" y="266700"/>
                  </a:lnTo>
                  <a:cubicBezTo>
                    <a:pt x="533400" y="413896"/>
                    <a:pt x="413896" y="533400"/>
                    <a:pt x="266700" y="533400"/>
                  </a:cubicBezTo>
                  <a:lnTo>
                    <a:pt x="266700" y="533400"/>
                  </a:lnTo>
                  <a:cubicBezTo>
                    <a:pt x="119504" y="533400"/>
                    <a:pt x="0" y="413896"/>
                    <a:pt x="0" y="266700"/>
                  </a:cubicBezTo>
                  <a:lnTo>
                    <a:pt x="0" y="266700"/>
                  </a:lnTo>
                  <a:cubicBezTo>
                    <a:pt x="0" y="119504"/>
                    <a:pt x="119504" y="0"/>
                    <a:pt x="26670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6" name="Text 14"/>
            <p:cNvSpPr/>
            <p:nvPr/>
          </p:nvSpPr>
          <p:spPr>
            <a:xfrm>
              <a:off x="7219953" y="2247970"/>
              <a:ext cx="647700" cy="533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319725" y="2895558"/>
              <a:ext cx="24479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Compute Partial Sum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324487" y="3238453"/>
              <a:ext cx="24384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Local matrix multiply</a:t>
              </a:r>
              <a:endParaRPr lang="en-US" sz="16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9067779" y="2057530"/>
              <a:ext cx="2743200" cy="1600200"/>
            </a:xfrm>
            <a:custGeom>
              <a:avLst/>
              <a:gdLst/>
              <a:ahLst/>
              <a:cxnLst/>
              <a:rect l="l" t="t" r="r" b="b"/>
              <a:pathLst>
                <a:path w="2743200" h="1600200">
                  <a:moveTo>
                    <a:pt x="76202" y="0"/>
                  </a:moveTo>
                  <a:lnTo>
                    <a:pt x="2666998" y="0"/>
                  </a:lnTo>
                  <a:cubicBezTo>
                    <a:pt x="2709083" y="0"/>
                    <a:pt x="2743200" y="34117"/>
                    <a:pt x="2743200" y="76202"/>
                  </a:cubicBezTo>
                  <a:lnTo>
                    <a:pt x="2743200" y="1523998"/>
                  </a:lnTo>
                  <a:cubicBezTo>
                    <a:pt x="2743200" y="1566083"/>
                    <a:pt x="2709083" y="1600200"/>
                    <a:pt x="2666998" y="1600200"/>
                  </a:cubicBezTo>
                  <a:lnTo>
                    <a:pt x="76202" y="1600200"/>
                  </a:lnTo>
                  <a:cubicBezTo>
                    <a:pt x="34117" y="1600200"/>
                    <a:pt x="0" y="1566083"/>
                    <a:pt x="0" y="1523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20" name="Shape 18"/>
            <p:cNvSpPr/>
            <p:nvPr/>
          </p:nvSpPr>
          <p:spPr>
            <a:xfrm>
              <a:off x="10172735" y="224797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66700" y="0"/>
                  </a:lnTo>
                  <a:cubicBezTo>
                    <a:pt x="413896" y="0"/>
                    <a:pt x="533400" y="119504"/>
                    <a:pt x="533400" y="266700"/>
                  </a:cubicBezTo>
                  <a:lnTo>
                    <a:pt x="533400" y="266700"/>
                  </a:lnTo>
                  <a:cubicBezTo>
                    <a:pt x="533400" y="413896"/>
                    <a:pt x="413896" y="533400"/>
                    <a:pt x="266700" y="533400"/>
                  </a:cubicBezTo>
                  <a:lnTo>
                    <a:pt x="266700" y="533400"/>
                  </a:lnTo>
                  <a:cubicBezTo>
                    <a:pt x="119504" y="533400"/>
                    <a:pt x="0" y="413896"/>
                    <a:pt x="0" y="266700"/>
                  </a:cubicBezTo>
                  <a:lnTo>
                    <a:pt x="0" y="266700"/>
                  </a:lnTo>
                  <a:cubicBezTo>
                    <a:pt x="0" y="119504"/>
                    <a:pt x="119504" y="0"/>
                    <a:pt x="26670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10115585" y="2247970"/>
              <a:ext cx="647700" cy="533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9215357" y="2895558"/>
              <a:ext cx="24479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Repeat along K dimension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9220120" y="3238453"/>
              <a:ext cx="24384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Loop until complete</a:t>
              </a:r>
              <a:endParaRPr lang="en-US" sz="1600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380956" y="3886042"/>
            <a:ext cx="11430000" cy="1485900"/>
          </a:xfrm>
          <a:custGeom>
            <a:avLst/>
            <a:gdLst/>
            <a:ahLst/>
            <a:cxnLst/>
            <a:rect l="l" t="t" r="r" b="b"/>
            <a:pathLst>
              <a:path w="11430000" h="14859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409703"/>
                </a:lnTo>
                <a:cubicBezTo>
                  <a:pt x="11430000" y="1451785"/>
                  <a:pt x="11395885" y="1485900"/>
                  <a:pt x="113538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Text 24"/>
          <p:cNvSpPr/>
          <p:nvPr/>
        </p:nvSpPr>
        <p:spPr>
          <a:xfrm>
            <a:off x="952429" y="4114614"/>
            <a:ext cx="10744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9529" y="4571688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8102" y="0"/>
                </a:moveTo>
                <a:lnTo>
                  <a:pt x="3514723" y="0"/>
                </a:lnTo>
                <a:cubicBezTo>
                  <a:pt x="3535766" y="0"/>
                  <a:pt x="3552825" y="17059"/>
                  <a:pt x="3552825" y="38102"/>
                </a:cubicBezTo>
                <a:lnTo>
                  <a:pt x="3552825" y="533398"/>
                </a:lnTo>
                <a:cubicBezTo>
                  <a:pt x="3552825" y="554441"/>
                  <a:pt x="3535766" y="571500"/>
                  <a:pt x="35147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714286" y="4724070"/>
            <a:ext cx="3343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Reduce memory access count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317941" y="4571688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8102" y="0"/>
                </a:moveTo>
                <a:lnTo>
                  <a:pt x="3514723" y="0"/>
                </a:lnTo>
                <a:cubicBezTo>
                  <a:pt x="3535766" y="0"/>
                  <a:pt x="3552825" y="17059"/>
                  <a:pt x="3552825" y="38102"/>
                </a:cubicBezTo>
                <a:lnTo>
                  <a:pt x="3552825" y="533398"/>
                </a:lnTo>
                <a:cubicBezTo>
                  <a:pt x="3552825" y="554441"/>
                  <a:pt x="3535766" y="571500"/>
                  <a:pt x="35147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4422698" y="4724070"/>
            <a:ext cx="3343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Increase data reuse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026353" y="4571688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8102" y="0"/>
                </a:moveTo>
                <a:lnTo>
                  <a:pt x="3514723" y="0"/>
                </a:lnTo>
                <a:cubicBezTo>
                  <a:pt x="3535766" y="0"/>
                  <a:pt x="3552825" y="17059"/>
                  <a:pt x="3552825" y="38102"/>
                </a:cubicBezTo>
                <a:lnTo>
                  <a:pt x="3552825" y="533398"/>
                </a:lnTo>
                <a:cubicBezTo>
                  <a:pt x="3552825" y="554441"/>
                  <a:pt x="3535766" y="571500"/>
                  <a:pt x="35147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8131110" y="4724070"/>
            <a:ext cx="3343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Improve cache utilization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380956" y="6324600"/>
            <a:ext cx="11487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6186" y="620428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Data Reuse Principle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433" y="1266596"/>
            <a:ext cx="5543455" cy="2952655"/>
          </a:xfrm>
          <a:custGeom>
            <a:avLst/>
            <a:gdLst/>
            <a:ahLst/>
            <a:cxnLst/>
            <a:rect l="l" t="t" r="r" b="b"/>
            <a:pathLst>
              <a:path w="5543455" h="2952655">
                <a:moveTo>
                  <a:pt x="76208" y="0"/>
                </a:moveTo>
                <a:lnTo>
                  <a:pt x="5467247" y="0"/>
                </a:lnTo>
                <a:cubicBezTo>
                  <a:pt x="5509336" y="0"/>
                  <a:pt x="5543455" y="34119"/>
                  <a:pt x="5543455" y="76208"/>
                </a:cubicBezTo>
                <a:lnTo>
                  <a:pt x="5543455" y="2876447"/>
                </a:lnTo>
                <a:cubicBezTo>
                  <a:pt x="5543455" y="2918536"/>
                  <a:pt x="5509336" y="2952655"/>
                  <a:pt x="5467247" y="2952655"/>
                </a:cubicBezTo>
                <a:lnTo>
                  <a:pt x="76208" y="2952655"/>
                </a:lnTo>
                <a:cubicBezTo>
                  <a:pt x="34119" y="2952655"/>
                  <a:pt x="0" y="2918536"/>
                  <a:pt x="0" y="2876447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3F4F6"/>
          </a:solidFill>
          <a:ln w="25274">
            <a:solidFill>
              <a:srgbClr val="D1D5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8484" y="1504648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Naive Approach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8484" y="1961717"/>
            <a:ext cx="5067300" cy="571500"/>
          </a:xfrm>
          <a:custGeom>
            <a:avLst/>
            <a:gdLst/>
            <a:ahLst/>
            <a:cxnLst/>
            <a:rect l="l" t="t" r="r" b="b"/>
            <a:pathLst>
              <a:path w="5067300" h="571500">
                <a:moveTo>
                  <a:pt x="38102" y="0"/>
                </a:moveTo>
                <a:lnTo>
                  <a:pt x="5029198" y="0"/>
                </a:lnTo>
                <a:cubicBezTo>
                  <a:pt x="5050241" y="0"/>
                  <a:pt x="5067300" y="17059"/>
                  <a:pt x="5067300" y="38102"/>
                </a:cubicBezTo>
                <a:lnTo>
                  <a:pt x="5067300" y="533398"/>
                </a:lnTo>
                <a:cubicBezTo>
                  <a:pt x="5067300" y="554441"/>
                  <a:pt x="5050241" y="571500"/>
                  <a:pt x="50291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780866" y="2114104"/>
            <a:ext cx="4848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Data read on every computation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8484" y="2685571"/>
            <a:ext cx="5067300" cy="571500"/>
          </a:xfrm>
          <a:custGeom>
            <a:avLst/>
            <a:gdLst/>
            <a:ahLst/>
            <a:cxnLst/>
            <a:rect l="l" t="t" r="r" b="b"/>
            <a:pathLst>
              <a:path w="5067300" h="571500">
                <a:moveTo>
                  <a:pt x="38102" y="0"/>
                </a:moveTo>
                <a:lnTo>
                  <a:pt x="5029198" y="0"/>
                </a:lnTo>
                <a:cubicBezTo>
                  <a:pt x="5050241" y="0"/>
                  <a:pt x="5067300" y="17059"/>
                  <a:pt x="5067300" y="38102"/>
                </a:cubicBezTo>
                <a:lnTo>
                  <a:pt x="5067300" y="533398"/>
                </a:lnTo>
                <a:cubicBezTo>
                  <a:pt x="5067300" y="554441"/>
                  <a:pt x="5050241" y="571500"/>
                  <a:pt x="50291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780866" y="2837952"/>
            <a:ext cx="4848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No data reuse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8484" y="3409424"/>
            <a:ext cx="5067300" cy="571500"/>
          </a:xfrm>
          <a:custGeom>
            <a:avLst/>
            <a:gdLst/>
            <a:ahLst/>
            <a:cxnLst/>
            <a:rect l="l" t="t" r="r" b="b"/>
            <a:pathLst>
              <a:path w="5067300" h="571500">
                <a:moveTo>
                  <a:pt x="38102" y="0"/>
                </a:moveTo>
                <a:lnTo>
                  <a:pt x="5029198" y="0"/>
                </a:lnTo>
                <a:cubicBezTo>
                  <a:pt x="5050241" y="0"/>
                  <a:pt x="5067300" y="17059"/>
                  <a:pt x="5067300" y="38102"/>
                </a:cubicBezTo>
                <a:lnTo>
                  <a:pt x="5067300" y="533398"/>
                </a:lnTo>
                <a:cubicBezTo>
                  <a:pt x="5067300" y="554441"/>
                  <a:pt x="5050241" y="571500"/>
                  <a:pt x="50291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780866" y="3561806"/>
            <a:ext cx="4848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High memory bandwidth consumption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33706" y="4380807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13452" y="336605"/>
                </a:moveTo>
                <a:cubicBezTo>
                  <a:pt x="121823" y="344976"/>
                  <a:pt x="135419" y="344976"/>
                  <a:pt x="143790" y="336605"/>
                </a:cubicBezTo>
                <a:lnTo>
                  <a:pt x="250947" y="229448"/>
                </a:lnTo>
                <a:cubicBezTo>
                  <a:pt x="259318" y="221077"/>
                  <a:pt x="259318" y="207481"/>
                  <a:pt x="250947" y="199110"/>
                </a:cubicBezTo>
                <a:cubicBezTo>
                  <a:pt x="242575" y="190738"/>
                  <a:pt x="228980" y="190738"/>
                  <a:pt x="220608" y="199110"/>
                </a:cubicBezTo>
                <a:lnTo>
                  <a:pt x="150019" y="269699"/>
                </a:lnTo>
                <a:lnTo>
                  <a:pt x="150019" y="21431"/>
                </a:lnTo>
                <a:cubicBezTo>
                  <a:pt x="150019" y="9577"/>
                  <a:pt x="140442" y="0"/>
                  <a:pt x="128588" y="0"/>
                </a:cubicBezTo>
                <a:cubicBezTo>
                  <a:pt x="116733" y="0"/>
                  <a:pt x="107156" y="9577"/>
                  <a:pt x="107156" y="21431"/>
                </a:cubicBezTo>
                <a:lnTo>
                  <a:pt x="107156" y="269699"/>
                </a:lnTo>
                <a:lnTo>
                  <a:pt x="36567" y="199110"/>
                </a:lnTo>
                <a:cubicBezTo>
                  <a:pt x="28195" y="190738"/>
                  <a:pt x="14600" y="190738"/>
                  <a:pt x="6228" y="199110"/>
                </a:cubicBezTo>
                <a:cubicBezTo>
                  <a:pt x="-2143" y="207481"/>
                  <a:pt x="-2143" y="221077"/>
                  <a:pt x="6228" y="229448"/>
                </a:cubicBezTo>
                <a:lnTo>
                  <a:pt x="113385" y="336605"/>
                </a:lnTo>
                <a:close/>
              </a:path>
            </a:pathLst>
          </a:custGeom>
          <a:solidFill>
            <a:srgbClr val="99A1AF"/>
          </a:solidFill>
        </p:spPr>
      </p:sp>
      <p:sp>
        <p:nvSpPr>
          <p:cNvPr id="13" name="Shape 11"/>
          <p:cNvSpPr/>
          <p:nvPr/>
        </p:nvSpPr>
        <p:spPr>
          <a:xfrm>
            <a:off x="6248338" y="1276076"/>
            <a:ext cx="5562600" cy="2933700"/>
          </a:xfrm>
          <a:custGeom>
            <a:avLst/>
            <a:gdLst/>
            <a:ahLst/>
            <a:cxnLst/>
            <a:rect l="l" t="t" r="r" b="b"/>
            <a:pathLst>
              <a:path w="5562600" h="2933700">
                <a:moveTo>
                  <a:pt x="76188" y="0"/>
                </a:moveTo>
                <a:lnTo>
                  <a:pt x="5486412" y="0"/>
                </a:lnTo>
                <a:cubicBezTo>
                  <a:pt x="5528489" y="0"/>
                  <a:pt x="5562600" y="34111"/>
                  <a:pt x="5562600" y="76188"/>
                </a:cubicBezTo>
                <a:lnTo>
                  <a:pt x="5562600" y="2857512"/>
                </a:lnTo>
                <a:cubicBezTo>
                  <a:pt x="5562600" y="2899589"/>
                  <a:pt x="5528489" y="2933700"/>
                  <a:pt x="5486412" y="2933700"/>
                </a:cubicBezTo>
                <a:lnTo>
                  <a:pt x="76188" y="2933700"/>
                </a:lnTo>
                <a:cubicBezTo>
                  <a:pt x="34111" y="2933700"/>
                  <a:pt x="0" y="2899589"/>
                  <a:pt x="0" y="2857512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Text 12"/>
          <p:cNvSpPr/>
          <p:nvPr/>
        </p:nvSpPr>
        <p:spPr>
          <a:xfrm>
            <a:off x="6476911" y="1504648"/>
            <a:ext cx="5219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Tiled Approach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76911" y="1961717"/>
            <a:ext cx="5105400" cy="571500"/>
          </a:xfrm>
          <a:custGeom>
            <a:avLst/>
            <a:gdLst/>
            <a:ahLst/>
            <a:cxnLst/>
            <a:rect l="l" t="t" r="r" b="b"/>
            <a:pathLst>
              <a:path w="5105400" h="571500">
                <a:moveTo>
                  <a:pt x="38102" y="0"/>
                </a:moveTo>
                <a:lnTo>
                  <a:pt x="5067298" y="0"/>
                </a:lnTo>
                <a:cubicBezTo>
                  <a:pt x="5088341" y="0"/>
                  <a:pt x="5105400" y="17059"/>
                  <a:pt x="5105400" y="38102"/>
                </a:cubicBezTo>
                <a:lnTo>
                  <a:pt x="5105400" y="533398"/>
                </a:lnTo>
                <a:cubicBezTo>
                  <a:pt x="5105400" y="554441"/>
                  <a:pt x="5088341" y="571500"/>
                  <a:pt x="50672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Text 14"/>
          <p:cNvSpPr/>
          <p:nvPr/>
        </p:nvSpPr>
        <p:spPr>
          <a:xfrm>
            <a:off x="6629293" y="2114104"/>
            <a:ext cx="4886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Read once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76911" y="2685571"/>
            <a:ext cx="5105400" cy="571500"/>
          </a:xfrm>
          <a:custGeom>
            <a:avLst/>
            <a:gdLst/>
            <a:ahLst/>
            <a:cxnLst/>
            <a:rect l="l" t="t" r="r" b="b"/>
            <a:pathLst>
              <a:path w="5105400" h="571500">
                <a:moveTo>
                  <a:pt x="38102" y="0"/>
                </a:moveTo>
                <a:lnTo>
                  <a:pt x="5067298" y="0"/>
                </a:lnTo>
                <a:cubicBezTo>
                  <a:pt x="5088341" y="0"/>
                  <a:pt x="5105400" y="17059"/>
                  <a:pt x="5105400" y="38102"/>
                </a:cubicBezTo>
                <a:lnTo>
                  <a:pt x="5105400" y="533398"/>
                </a:lnTo>
                <a:cubicBezTo>
                  <a:pt x="5105400" y="554441"/>
                  <a:pt x="5088341" y="571500"/>
                  <a:pt x="50672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6629293" y="2837952"/>
            <a:ext cx="4886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Used multiple times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76911" y="3409424"/>
            <a:ext cx="5105400" cy="571500"/>
          </a:xfrm>
          <a:custGeom>
            <a:avLst/>
            <a:gdLst/>
            <a:ahLst/>
            <a:cxnLst/>
            <a:rect l="l" t="t" r="r" b="b"/>
            <a:pathLst>
              <a:path w="5105400" h="571500">
                <a:moveTo>
                  <a:pt x="38102" y="0"/>
                </a:moveTo>
                <a:lnTo>
                  <a:pt x="5067298" y="0"/>
                </a:lnTo>
                <a:cubicBezTo>
                  <a:pt x="5088341" y="0"/>
                  <a:pt x="5105400" y="17059"/>
                  <a:pt x="5105400" y="38102"/>
                </a:cubicBezTo>
                <a:lnTo>
                  <a:pt x="5105400" y="533398"/>
                </a:lnTo>
                <a:cubicBezTo>
                  <a:pt x="5105400" y="554441"/>
                  <a:pt x="5088341" y="571500"/>
                  <a:pt x="50672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6629293" y="3561806"/>
            <a:ext cx="4886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Efficient data reuse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901089" y="436185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43723" y="11653"/>
                </a:moveTo>
                <a:cubicBezTo>
                  <a:pt x="135352" y="3282"/>
                  <a:pt x="121756" y="3282"/>
                  <a:pt x="113385" y="11653"/>
                </a:cubicBezTo>
                <a:lnTo>
                  <a:pt x="6228" y="118809"/>
                </a:lnTo>
                <a:cubicBezTo>
                  <a:pt x="-2143" y="127181"/>
                  <a:pt x="-2143" y="140777"/>
                  <a:pt x="6228" y="149148"/>
                </a:cubicBezTo>
                <a:cubicBezTo>
                  <a:pt x="14600" y="157520"/>
                  <a:pt x="28195" y="157520"/>
                  <a:pt x="36567" y="149148"/>
                </a:cubicBezTo>
                <a:lnTo>
                  <a:pt x="107156" y="78559"/>
                </a:lnTo>
                <a:lnTo>
                  <a:pt x="107156" y="326827"/>
                </a:lnTo>
                <a:cubicBezTo>
                  <a:pt x="107156" y="338681"/>
                  <a:pt x="116733" y="348258"/>
                  <a:pt x="128588" y="348258"/>
                </a:cubicBezTo>
                <a:cubicBezTo>
                  <a:pt x="140442" y="348258"/>
                  <a:pt x="150019" y="338681"/>
                  <a:pt x="150019" y="326827"/>
                </a:cubicBezTo>
                <a:lnTo>
                  <a:pt x="150019" y="78559"/>
                </a:lnTo>
                <a:lnTo>
                  <a:pt x="220608" y="149148"/>
                </a:lnTo>
                <a:cubicBezTo>
                  <a:pt x="228980" y="157520"/>
                  <a:pt x="242575" y="157520"/>
                  <a:pt x="250947" y="149148"/>
                </a:cubicBezTo>
                <a:cubicBezTo>
                  <a:pt x="259318" y="140777"/>
                  <a:pt x="259318" y="127181"/>
                  <a:pt x="250947" y="118809"/>
                </a:cubicBezTo>
                <a:lnTo>
                  <a:pt x="143790" y="1165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Shape 20"/>
          <p:cNvSpPr/>
          <p:nvPr/>
        </p:nvSpPr>
        <p:spPr>
          <a:xfrm>
            <a:off x="380956" y="4908663"/>
            <a:ext cx="11430000" cy="1524000"/>
          </a:xfrm>
          <a:custGeom>
            <a:avLst/>
            <a:gdLst/>
            <a:ahLst/>
            <a:cxnLst/>
            <a:rect l="l" t="t" r="r" b="b"/>
            <a:pathLst>
              <a:path w="11430000" h="1524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447800"/>
                </a:lnTo>
                <a:cubicBezTo>
                  <a:pt x="11430000" y="1489856"/>
                  <a:pt x="11395856" y="1524000"/>
                  <a:pt x="1135380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3" name="Text 21"/>
          <p:cNvSpPr/>
          <p:nvPr/>
        </p:nvSpPr>
        <p:spPr>
          <a:xfrm>
            <a:off x="609529" y="5137240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Reuse Effect Example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8484" y="5556326"/>
            <a:ext cx="5352955" cy="647700"/>
          </a:xfrm>
          <a:custGeom>
            <a:avLst/>
            <a:gdLst/>
            <a:ahLst/>
            <a:cxnLst/>
            <a:rect l="l" t="t" r="r" b="b"/>
            <a:pathLst>
              <a:path w="5352955" h="647700">
                <a:moveTo>
                  <a:pt x="37910" y="0"/>
                </a:moveTo>
                <a:lnTo>
                  <a:pt x="5314858" y="0"/>
                </a:lnTo>
                <a:cubicBezTo>
                  <a:pt x="5335884" y="0"/>
                  <a:pt x="5352955" y="17071"/>
                  <a:pt x="5352955" y="38098"/>
                </a:cubicBezTo>
                <a:lnTo>
                  <a:pt x="5352955" y="609602"/>
                </a:lnTo>
                <a:cubicBezTo>
                  <a:pt x="5352955" y="630643"/>
                  <a:pt x="5335898" y="647700"/>
                  <a:pt x="5314858" y="647700"/>
                </a:cubicBezTo>
                <a:lnTo>
                  <a:pt x="37910" y="647700"/>
                </a:lnTo>
                <a:cubicBezTo>
                  <a:pt x="16973" y="647700"/>
                  <a:pt x="0" y="630727"/>
                  <a:pt x="0" y="609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Shape 23"/>
          <p:cNvSpPr/>
          <p:nvPr/>
        </p:nvSpPr>
        <p:spPr>
          <a:xfrm>
            <a:off x="628484" y="5556326"/>
            <a:ext cx="37910" cy="647700"/>
          </a:xfrm>
          <a:custGeom>
            <a:avLst/>
            <a:gdLst/>
            <a:ahLst/>
            <a:cxnLst/>
            <a:rect l="l" t="t" r="r" b="b"/>
            <a:pathLst>
              <a:path w="37910" h="647700">
                <a:moveTo>
                  <a:pt x="37910" y="0"/>
                </a:moveTo>
                <a:lnTo>
                  <a:pt x="37910" y="0"/>
                </a:lnTo>
                <a:lnTo>
                  <a:pt x="37910" y="647700"/>
                </a:lnTo>
                <a:lnTo>
                  <a:pt x="37910" y="647700"/>
                </a:lnTo>
                <a:cubicBezTo>
                  <a:pt x="16973" y="647700"/>
                  <a:pt x="0" y="630727"/>
                  <a:pt x="0" y="609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Text 24"/>
          <p:cNvSpPr/>
          <p:nvPr/>
        </p:nvSpPr>
        <p:spPr>
          <a:xfrm>
            <a:off x="799822" y="5708707"/>
            <a:ext cx="51149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Tile reused </a:t>
            </a:r>
            <a:r>
              <a:rPr lang="en-US" sz="2250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32</a:t>
            </a: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times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29234" y="5556326"/>
            <a:ext cx="5352955" cy="647700"/>
          </a:xfrm>
          <a:custGeom>
            <a:avLst/>
            <a:gdLst/>
            <a:ahLst/>
            <a:cxnLst/>
            <a:rect l="l" t="t" r="r" b="b"/>
            <a:pathLst>
              <a:path w="5352955" h="647700">
                <a:moveTo>
                  <a:pt x="37910" y="0"/>
                </a:moveTo>
                <a:lnTo>
                  <a:pt x="5314858" y="0"/>
                </a:lnTo>
                <a:cubicBezTo>
                  <a:pt x="5335884" y="0"/>
                  <a:pt x="5352955" y="17071"/>
                  <a:pt x="5352955" y="38098"/>
                </a:cubicBezTo>
                <a:lnTo>
                  <a:pt x="5352955" y="609602"/>
                </a:lnTo>
                <a:cubicBezTo>
                  <a:pt x="5352955" y="630643"/>
                  <a:pt x="5335898" y="647700"/>
                  <a:pt x="5314858" y="647700"/>
                </a:cubicBezTo>
                <a:lnTo>
                  <a:pt x="37910" y="647700"/>
                </a:lnTo>
                <a:cubicBezTo>
                  <a:pt x="16973" y="647700"/>
                  <a:pt x="0" y="630727"/>
                  <a:pt x="0" y="609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Shape 26"/>
          <p:cNvSpPr/>
          <p:nvPr/>
        </p:nvSpPr>
        <p:spPr>
          <a:xfrm>
            <a:off x="6229234" y="5556326"/>
            <a:ext cx="37910" cy="647700"/>
          </a:xfrm>
          <a:custGeom>
            <a:avLst/>
            <a:gdLst/>
            <a:ahLst/>
            <a:cxnLst/>
            <a:rect l="l" t="t" r="r" b="b"/>
            <a:pathLst>
              <a:path w="37910" h="647700">
                <a:moveTo>
                  <a:pt x="37910" y="0"/>
                </a:moveTo>
                <a:lnTo>
                  <a:pt x="37910" y="0"/>
                </a:lnTo>
                <a:lnTo>
                  <a:pt x="37910" y="647700"/>
                </a:lnTo>
                <a:lnTo>
                  <a:pt x="37910" y="647700"/>
                </a:lnTo>
                <a:cubicBezTo>
                  <a:pt x="16973" y="647700"/>
                  <a:pt x="0" y="630727"/>
                  <a:pt x="0" y="609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9" name="Text 27"/>
          <p:cNvSpPr/>
          <p:nvPr/>
        </p:nvSpPr>
        <p:spPr>
          <a:xfrm>
            <a:off x="6400572" y="5708707"/>
            <a:ext cx="51149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access reduced by </a:t>
            </a:r>
            <a:r>
              <a:rPr lang="en-US" sz="2250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32×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0956" y="6589314"/>
            <a:ext cx="11487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664" y="614928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+mn-ea"/>
                <a:cs typeface="MiSans" panose="00000500000000000000" pitchFamily="34" charset="-120"/>
              </a:rPr>
              <a:t>Compute vs Memory Access Ratio</a:t>
            </a:r>
            <a:endParaRPr lang="en-US" sz="16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0956" y="1257119"/>
            <a:ext cx="5562600" cy="2095500"/>
          </a:xfrm>
          <a:custGeom>
            <a:avLst/>
            <a:gdLst/>
            <a:ahLst/>
            <a:cxnLst/>
            <a:rect l="l" t="t" r="r" b="b"/>
            <a:pathLst>
              <a:path w="5562600" h="2095500">
                <a:moveTo>
                  <a:pt x="76192" y="0"/>
                </a:moveTo>
                <a:lnTo>
                  <a:pt x="5486408" y="0"/>
                </a:lnTo>
                <a:cubicBezTo>
                  <a:pt x="5528488" y="0"/>
                  <a:pt x="5562600" y="34112"/>
                  <a:pt x="5562600" y="76192"/>
                </a:cubicBezTo>
                <a:lnTo>
                  <a:pt x="5562600" y="2019308"/>
                </a:lnTo>
                <a:cubicBezTo>
                  <a:pt x="5562600" y="2061388"/>
                  <a:pt x="5528488" y="2095500"/>
                  <a:pt x="5486408" y="2095500"/>
                </a:cubicBezTo>
                <a:lnTo>
                  <a:pt x="76192" y="2095500"/>
                </a:lnTo>
                <a:cubicBezTo>
                  <a:pt x="34112" y="2095500"/>
                  <a:pt x="0" y="2061388"/>
                  <a:pt x="0" y="2019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638104" y="15093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952429" y="1485691"/>
            <a:ext cx="4876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Compute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007" y="1952243"/>
            <a:ext cx="5086255" cy="1161955"/>
          </a:xfrm>
          <a:custGeom>
            <a:avLst/>
            <a:gdLst/>
            <a:ahLst/>
            <a:cxnLst/>
            <a:rect l="l" t="t" r="r" b="b"/>
            <a:pathLst>
              <a:path w="5086255" h="1161955">
                <a:moveTo>
                  <a:pt x="38101" y="0"/>
                </a:moveTo>
                <a:lnTo>
                  <a:pt x="5048155" y="0"/>
                </a:lnTo>
                <a:cubicBezTo>
                  <a:pt x="5069197" y="0"/>
                  <a:pt x="5086255" y="17058"/>
                  <a:pt x="5086255" y="38101"/>
                </a:cubicBezTo>
                <a:lnTo>
                  <a:pt x="5086255" y="1123855"/>
                </a:lnTo>
                <a:cubicBezTo>
                  <a:pt x="5086255" y="1144897"/>
                  <a:pt x="5069197" y="1161955"/>
                  <a:pt x="5048155" y="1161955"/>
                </a:cubicBezTo>
                <a:lnTo>
                  <a:pt x="38101" y="1161955"/>
                </a:lnTo>
                <a:cubicBezTo>
                  <a:pt x="17058" y="1161955"/>
                  <a:pt x="0" y="1144897"/>
                  <a:pt x="0" y="1123855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1332" y="2190290"/>
            <a:ext cx="4781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FLOPs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8957" y="2647438"/>
            <a:ext cx="4686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Number of floating-point operations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48338" y="1257119"/>
            <a:ext cx="5562600" cy="2095500"/>
          </a:xfrm>
          <a:custGeom>
            <a:avLst/>
            <a:gdLst/>
            <a:ahLst/>
            <a:cxnLst/>
            <a:rect l="l" t="t" r="r" b="b"/>
            <a:pathLst>
              <a:path w="5562600" h="2095500">
                <a:moveTo>
                  <a:pt x="76192" y="0"/>
                </a:moveTo>
                <a:lnTo>
                  <a:pt x="5486408" y="0"/>
                </a:lnTo>
                <a:cubicBezTo>
                  <a:pt x="5528488" y="0"/>
                  <a:pt x="5562600" y="34112"/>
                  <a:pt x="5562600" y="76192"/>
                </a:cubicBezTo>
                <a:lnTo>
                  <a:pt x="5562600" y="2019308"/>
                </a:lnTo>
                <a:cubicBezTo>
                  <a:pt x="5562600" y="2061388"/>
                  <a:pt x="5528488" y="2095500"/>
                  <a:pt x="5486408" y="2095500"/>
                </a:cubicBezTo>
                <a:lnTo>
                  <a:pt x="76192" y="2095500"/>
                </a:lnTo>
                <a:cubicBezTo>
                  <a:pt x="34112" y="2095500"/>
                  <a:pt x="0" y="2061388"/>
                  <a:pt x="0" y="2019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1" name="Shape 9"/>
          <p:cNvSpPr/>
          <p:nvPr/>
        </p:nvSpPr>
        <p:spPr>
          <a:xfrm>
            <a:off x="6505486" y="15093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60454"/>
                </a:lnTo>
                <a:cubicBezTo>
                  <a:pt x="0" y="63490"/>
                  <a:pt x="1965" y="66080"/>
                  <a:pt x="4509" y="67732"/>
                </a:cubicBezTo>
                <a:cubicBezTo>
                  <a:pt x="10403" y="71571"/>
                  <a:pt x="14288" y="78179"/>
                  <a:pt x="14288" y="85725"/>
                </a:cubicBezTo>
                <a:cubicBezTo>
                  <a:pt x="14288" y="93271"/>
                  <a:pt x="10403" y="99879"/>
                  <a:pt x="4509" y="103718"/>
                </a:cubicBezTo>
                <a:cubicBezTo>
                  <a:pt x="1965" y="105370"/>
                  <a:pt x="0" y="107960"/>
                  <a:pt x="0" y="110996"/>
                </a:cubicBezTo>
                <a:lnTo>
                  <a:pt x="0" y="135731"/>
                </a:lnTo>
                <a:lnTo>
                  <a:pt x="228600" y="135731"/>
                </a:lnTo>
                <a:lnTo>
                  <a:pt x="228600" y="110996"/>
                </a:lnTo>
                <a:cubicBezTo>
                  <a:pt x="228600" y="107960"/>
                  <a:pt x="226635" y="105370"/>
                  <a:pt x="224091" y="103718"/>
                </a:cubicBezTo>
                <a:cubicBezTo>
                  <a:pt x="218197" y="99879"/>
                  <a:pt x="214313" y="93271"/>
                  <a:pt x="214313" y="85725"/>
                </a:cubicBezTo>
                <a:cubicBezTo>
                  <a:pt x="214313" y="78179"/>
                  <a:pt x="218197" y="71571"/>
                  <a:pt x="224091" y="67732"/>
                </a:cubicBezTo>
                <a:cubicBezTo>
                  <a:pt x="226635" y="66080"/>
                  <a:pt x="228600" y="63490"/>
                  <a:pt x="228600" y="60454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228600" y="185738"/>
                </a:moveTo>
                <a:lnTo>
                  <a:pt x="228600" y="157163"/>
                </a:lnTo>
                <a:lnTo>
                  <a:pt x="0" y="157163"/>
                </a:lnTo>
                <a:lnTo>
                  <a:pt x="0" y="185738"/>
                </a:lnTo>
                <a:cubicBezTo>
                  <a:pt x="0" y="193640"/>
                  <a:pt x="6385" y="200025"/>
                  <a:pt x="14288" y="200025"/>
                </a:cubicBezTo>
                <a:lnTo>
                  <a:pt x="42863" y="200025"/>
                </a:lnTo>
                <a:lnTo>
                  <a:pt x="42863" y="189309"/>
                </a:lnTo>
                <a:cubicBezTo>
                  <a:pt x="42863" y="183371"/>
                  <a:pt x="47640" y="178594"/>
                  <a:pt x="53578" y="178594"/>
                </a:cubicBezTo>
                <a:cubicBezTo>
                  <a:pt x="59516" y="178594"/>
                  <a:pt x="64294" y="183371"/>
                  <a:pt x="64294" y="189309"/>
                </a:cubicBezTo>
                <a:lnTo>
                  <a:pt x="64294" y="200025"/>
                </a:lnTo>
                <a:lnTo>
                  <a:pt x="103584" y="200025"/>
                </a:lnTo>
                <a:lnTo>
                  <a:pt x="103584" y="189309"/>
                </a:lnTo>
                <a:cubicBezTo>
                  <a:pt x="103584" y="183371"/>
                  <a:pt x="108362" y="178594"/>
                  <a:pt x="114300" y="178594"/>
                </a:cubicBezTo>
                <a:cubicBezTo>
                  <a:pt x="120238" y="178594"/>
                  <a:pt x="125016" y="183371"/>
                  <a:pt x="125016" y="189309"/>
                </a:cubicBezTo>
                <a:lnTo>
                  <a:pt x="125016" y="200025"/>
                </a:lnTo>
                <a:lnTo>
                  <a:pt x="164306" y="200025"/>
                </a:lnTo>
                <a:lnTo>
                  <a:pt x="164306" y="189309"/>
                </a:lnTo>
                <a:cubicBezTo>
                  <a:pt x="164306" y="183371"/>
                  <a:pt x="169084" y="178594"/>
                  <a:pt x="175022" y="178594"/>
                </a:cubicBezTo>
                <a:cubicBezTo>
                  <a:pt x="180960" y="178594"/>
                  <a:pt x="185738" y="183371"/>
                  <a:pt x="185738" y="189309"/>
                </a:cubicBezTo>
                <a:lnTo>
                  <a:pt x="185738" y="200025"/>
                </a:ln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lose/>
                <a:moveTo>
                  <a:pt x="71438" y="71438"/>
                </a:moveTo>
                <a:lnTo>
                  <a:pt x="71438" y="100013"/>
                </a:lnTo>
                <a:cubicBezTo>
                  <a:pt x="71438" y="107915"/>
                  <a:pt x="65053" y="114300"/>
                  <a:pt x="57150" y="114300"/>
                </a:cubicBezTo>
                <a:cubicBezTo>
                  <a:pt x="49247" y="114300"/>
                  <a:pt x="42863" y="107915"/>
                  <a:pt x="42863" y="100013"/>
                </a:cubicBezTo>
                <a:lnTo>
                  <a:pt x="42863" y="71438"/>
                </a:lnTo>
                <a:cubicBezTo>
                  <a:pt x="42863" y="63535"/>
                  <a:pt x="49247" y="57150"/>
                  <a:pt x="57150" y="57150"/>
                </a:cubicBezTo>
                <a:cubicBezTo>
                  <a:pt x="65053" y="57150"/>
                  <a:pt x="71438" y="63535"/>
                  <a:pt x="71438" y="71438"/>
                </a:cubicBezTo>
                <a:close/>
                <a:moveTo>
                  <a:pt x="128588" y="71438"/>
                </a:moveTo>
                <a:lnTo>
                  <a:pt x="128588" y="100013"/>
                </a:lnTo>
                <a:cubicBezTo>
                  <a:pt x="128588" y="107915"/>
                  <a:pt x="122203" y="114300"/>
                  <a:pt x="114300" y="114300"/>
                </a:cubicBezTo>
                <a:cubicBezTo>
                  <a:pt x="106397" y="114300"/>
                  <a:pt x="100013" y="107915"/>
                  <a:pt x="100013" y="100013"/>
                </a:cubicBezTo>
                <a:lnTo>
                  <a:pt x="100013" y="71438"/>
                </a:lnTo>
                <a:cubicBezTo>
                  <a:pt x="100013" y="63535"/>
                  <a:pt x="106397" y="57150"/>
                  <a:pt x="114300" y="57150"/>
                </a:cubicBezTo>
                <a:cubicBezTo>
                  <a:pt x="122203" y="57150"/>
                  <a:pt x="128588" y="63535"/>
                  <a:pt x="128588" y="71438"/>
                </a:cubicBezTo>
                <a:close/>
                <a:moveTo>
                  <a:pt x="185738" y="71438"/>
                </a:moveTo>
                <a:lnTo>
                  <a:pt x="185738" y="100013"/>
                </a:lnTo>
                <a:cubicBezTo>
                  <a:pt x="185738" y="107915"/>
                  <a:pt x="179353" y="114300"/>
                  <a:pt x="171450" y="114300"/>
                </a:cubicBezTo>
                <a:cubicBezTo>
                  <a:pt x="163547" y="114300"/>
                  <a:pt x="157163" y="107915"/>
                  <a:pt x="157163" y="100013"/>
                </a:cubicBezTo>
                <a:lnTo>
                  <a:pt x="157163" y="71438"/>
                </a:lnTo>
                <a:cubicBezTo>
                  <a:pt x="157163" y="63535"/>
                  <a:pt x="163547" y="57150"/>
                  <a:pt x="171450" y="57150"/>
                </a:cubicBezTo>
                <a:cubicBezTo>
                  <a:pt x="179353" y="57150"/>
                  <a:pt x="185738" y="63535"/>
                  <a:pt x="185738" y="7143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Text 10"/>
          <p:cNvSpPr/>
          <p:nvPr/>
        </p:nvSpPr>
        <p:spPr>
          <a:xfrm>
            <a:off x="6819811" y="1485691"/>
            <a:ext cx="4876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Access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86389" y="1952243"/>
            <a:ext cx="5086255" cy="1161955"/>
          </a:xfrm>
          <a:custGeom>
            <a:avLst/>
            <a:gdLst/>
            <a:ahLst/>
            <a:cxnLst/>
            <a:rect l="l" t="t" r="r" b="b"/>
            <a:pathLst>
              <a:path w="5086255" h="1161955">
                <a:moveTo>
                  <a:pt x="38101" y="0"/>
                </a:moveTo>
                <a:lnTo>
                  <a:pt x="5048155" y="0"/>
                </a:lnTo>
                <a:cubicBezTo>
                  <a:pt x="5069197" y="0"/>
                  <a:pt x="5086255" y="17058"/>
                  <a:pt x="5086255" y="38101"/>
                </a:cubicBezTo>
                <a:lnTo>
                  <a:pt x="5086255" y="1123855"/>
                </a:lnTo>
                <a:cubicBezTo>
                  <a:pt x="5086255" y="1144897"/>
                  <a:pt x="5069197" y="1161955"/>
                  <a:pt x="5048155" y="1161955"/>
                </a:cubicBezTo>
                <a:lnTo>
                  <a:pt x="38101" y="1161955"/>
                </a:lnTo>
                <a:cubicBezTo>
                  <a:pt x="17058" y="1161955"/>
                  <a:pt x="0" y="1144897"/>
                  <a:pt x="0" y="1123855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8715" y="2190290"/>
            <a:ext cx="4781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Bytes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86340" y="2647438"/>
            <a:ext cx="4686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Bytes of memory accessed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0956" y="3580688"/>
            <a:ext cx="11430000" cy="2057400"/>
          </a:xfrm>
          <a:custGeom>
            <a:avLst/>
            <a:gdLst/>
            <a:ahLst/>
            <a:cxnLst/>
            <a:rect l="l" t="t" r="r" b="b"/>
            <a:pathLst>
              <a:path w="11430000" h="2057400">
                <a:moveTo>
                  <a:pt x="76206" y="0"/>
                </a:moveTo>
                <a:lnTo>
                  <a:pt x="11353794" y="0"/>
                </a:lnTo>
                <a:cubicBezTo>
                  <a:pt x="11395881" y="0"/>
                  <a:pt x="11430000" y="34119"/>
                  <a:pt x="11430000" y="76206"/>
                </a:cubicBezTo>
                <a:lnTo>
                  <a:pt x="11430000" y="1981194"/>
                </a:lnTo>
                <a:cubicBezTo>
                  <a:pt x="11430000" y="2023281"/>
                  <a:pt x="11395881" y="2057400"/>
                  <a:pt x="11353794" y="2057400"/>
                </a:cubicBezTo>
                <a:lnTo>
                  <a:pt x="76206" y="2057400"/>
                </a:lnTo>
                <a:cubicBezTo>
                  <a:pt x="34119" y="2057400"/>
                  <a:pt x="0" y="2023281"/>
                  <a:pt x="0" y="19811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7" name="Text 15"/>
          <p:cNvSpPr/>
          <p:nvPr/>
        </p:nvSpPr>
        <p:spPr>
          <a:xfrm>
            <a:off x="609529" y="3809261"/>
            <a:ext cx="11087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Optimization Goal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529" y="4266335"/>
            <a:ext cx="10972800" cy="1143000"/>
          </a:xfrm>
          <a:custGeom>
            <a:avLst/>
            <a:gdLst/>
            <a:ahLst/>
            <a:cxnLst/>
            <a:rect l="l" t="t" r="r" b="b"/>
            <a:pathLst>
              <a:path w="10972800" h="1143000">
                <a:moveTo>
                  <a:pt x="38096" y="0"/>
                </a:moveTo>
                <a:lnTo>
                  <a:pt x="10934704" y="0"/>
                </a:lnTo>
                <a:cubicBezTo>
                  <a:pt x="10955744" y="0"/>
                  <a:pt x="10972800" y="17056"/>
                  <a:pt x="10972800" y="38096"/>
                </a:cubicBezTo>
                <a:lnTo>
                  <a:pt x="10972800" y="1104904"/>
                </a:lnTo>
                <a:cubicBezTo>
                  <a:pt x="10972800" y="1125944"/>
                  <a:pt x="10955744" y="1143000"/>
                  <a:pt x="10934704" y="1143000"/>
                </a:cubicBezTo>
                <a:lnTo>
                  <a:pt x="38096" y="1143000"/>
                </a:lnTo>
                <a:cubicBezTo>
                  <a:pt x="17056" y="1143000"/>
                  <a:pt x="0" y="1125944"/>
                  <a:pt x="0" y="11049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9" name="Text 17"/>
          <p:cNvSpPr/>
          <p:nvPr/>
        </p:nvSpPr>
        <p:spPr>
          <a:xfrm>
            <a:off x="742820" y="4456774"/>
            <a:ext cx="10706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Maximize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4245" y="4837654"/>
            <a:ext cx="10763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Compute / Memory ratio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80956" y="5866200"/>
            <a:ext cx="11430000" cy="685800"/>
          </a:xfrm>
          <a:custGeom>
            <a:avLst/>
            <a:gdLst/>
            <a:ahLst/>
            <a:cxnLst/>
            <a:rect l="l" t="t" r="r" b="b"/>
            <a:pathLst>
              <a:path w="11430000" h="6858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609601"/>
                </a:lnTo>
                <a:cubicBezTo>
                  <a:pt x="11430000" y="651684"/>
                  <a:pt x="11395884" y="685800"/>
                  <a:pt x="11353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2" name="Shape 20"/>
          <p:cNvSpPr/>
          <p:nvPr/>
        </p:nvSpPr>
        <p:spPr>
          <a:xfrm>
            <a:off x="4221802" y="61182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3" name="Text 21"/>
          <p:cNvSpPr/>
          <p:nvPr/>
        </p:nvSpPr>
        <p:spPr>
          <a:xfrm>
            <a:off x="819046" y="6056640"/>
            <a:ext cx="108489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              This ratio is known as </a:t>
            </a:r>
            <a:r>
              <a:rPr lang="en-US" sz="1800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Arithmetic Intensity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0956" y="6704154"/>
            <a:ext cx="11487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4023" y="598559"/>
            <a:ext cx="11629571" cy="362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Arithmetic Intensity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2815" y="1197251"/>
            <a:ext cx="11466286" cy="1632857"/>
          </a:xfrm>
          <a:custGeom>
            <a:avLst/>
            <a:gdLst/>
            <a:ahLst/>
            <a:cxnLst/>
            <a:rect l="l" t="t" r="r" b="b"/>
            <a:pathLst>
              <a:path w="11466286" h="1632857">
                <a:moveTo>
                  <a:pt x="72564" y="0"/>
                </a:moveTo>
                <a:lnTo>
                  <a:pt x="11393722" y="0"/>
                </a:lnTo>
                <a:cubicBezTo>
                  <a:pt x="11433798" y="0"/>
                  <a:pt x="11466286" y="32488"/>
                  <a:pt x="11466286" y="72564"/>
                </a:cubicBezTo>
                <a:lnTo>
                  <a:pt x="11466286" y="1560293"/>
                </a:lnTo>
                <a:cubicBezTo>
                  <a:pt x="11466286" y="1600369"/>
                  <a:pt x="11433798" y="1632857"/>
                  <a:pt x="11393722" y="1632857"/>
                </a:cubicBezTo>
                <a:lnTo>
                  <a:pt x="72564" y="1632857"/>
                </a:lnTo>
                <a:cubicBezTo>
                  <a:pt x="32488" y="1632857"/>
                  <a:pt x="0" y="1600369"/>
                  <a:pt x="0" y="1560293"/>
                </a:cubicBezTo>
                <a:lnTo>
                  <a:pt x="0" y="72564"/>
                </a:lnTo>
                <a:cubicBezTo>
                  <a:pt x="0" y="32515"/>
                  <a:pt x="32515" y="0"/>
                  <a:pt x="72564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580504" y="1414944"/>
            <a:ext cx="11139714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0504" y="1850248"/>
            <a:ext cx="11030857" cy="762000"/>
          </a:xfrm>
          <a:custGeom>
            <a:avLst/>
            <a:gdLst/>
            <a:ahLst/>
            <a:cxnLst/>
            <a:rect l="l" t="t" r="r" b="b"/>
            <a:pathLst>
              <a:path w="11030857" h="762000">
                <a:moveTo>
                  <a:pt x="36286" y="0"/>
                </a:moveTo>
                <a:lnTo>
                  <a:pt x="10994571" y="0"/>
                </a:lnTo>
                <a:cubicBezTo>
                  <a:pt x="11014611" y="0"/>
                  <a:pt x="11030857" y="16246"/>
                  <a:pt x="11030857" y="36286"/>
                </a:cubicBezTo>
                <a:lnTo>
                  <a:pt x="11030857" y="725714"/>
                </a:lnTo>
                <a:cubicBezTo>
                  <a:pt x="11030857" y="745754"/>
                  <a:pt x="11014611" y="762000"/>
                  <a:pt x="10994571" y="762000"/>
                </a:cubicBezTo>
                <a:lnTo>
                  <a:pt x="36286" y="762000"/>
                </a:lnTo>
                <a:cubicBezTo>
                  <a:pt x="16246" y="762000"/>
                  <a:pt x="0" y="745754"/>
                  <a:pt x="0" y="725714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730157" y="2067940"/>
            <a:ext cx="10731500" cy="3265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5" b="1" dirty="0">
                <a:solidFill>
                  <a:schemeClr val="bg1">
                    <a:lumMod val="6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Arithmetic Intensity = FLOPs / Bytes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71841" y="3056530"/>
            <a:ext cx="5569767" cy="1832338"/>
          </a:xfrm>
          <a:custGeom>
            <a:avLst/>
            <a:gdLst/>
            <a:ahLst/>
            <a:cxnLst/>
            <a:rect l="l" t="t" r="r" b="b"/>
            <a:pathLst>
              <a:path w="5569767" h="1832338">
                <a:moveTo>
                  <a:pt x="72579" y="0"/>
                </a:moveTo>
                <a:lnTo>
                  <a:pt x="5497188" y="0"/>
                </a:lnTo>
                <a:cubicBezTo>
                  <a:pt x="5537272" y="0"/>
                  <a:pt x="5569767" y="32495"/>
                  <a:pt x="5569767" y="72579"/>
                </a:cubicBezTo>
                <a:lnTo>
                  <a:pt x="5569767" y="1759759"/>
                </a:lnTo>
                <a:cubicBezTo>
                  <a:pt x="5569767" y="1799844"/>
                  <a:pt x="5537272" y="1832338"/>
                  <a:pt x="5497188" y="1832338"/>
                </a:cubicBezTo>
                <a:lnTo>
                  <a:pt x="72579" y="1832338"/>
                </a:lnTo>
                <a:cubicBezTo>
                  <a:pt x="32495" y="1832338"/>
                  <a:pt x="0" y="1799844"/>
                  <a:pt x="0" y="1759759"/>
                </a:cubicBezTo>
                <a:lnTo>
                  <a:pt x="0" y="72579"/>
                </a:lnTo>
                <a:cubicBezTo>
                  <a:pt x="0" y="32522"/>
                  <a:pt x="32522" y="0"/>
                  <a:pt x="72579" y="0"/>
                </a:cubicBezTo>
                <a:close/>
              </a:path>
            </a:pathLst>
          </a:custGeom>
          <a:solidFill>
            <a:srgbClr val="F3F4F6"/>
          </a:solidFill>
          <a:ln w="25274">
            <a:solidFill>
              <a:srgbClr val="D1D5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556" y="3283246"/>
            <a:ext cx="5207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Naive MatMul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8556" y="3682375"/>
            <a:ext cx="5116286" cy="979714"/>
          </a:xfrm>
          <a:custGeom>
            <a:avLst/>
            <a:gdLst/>
            <a:ahLst/>
            <a:cxnLst/>
            <a:rect l="l" t="t" r="r" b="b"/>
            <a:pathLst>
              <a:path w="5116286" h="979714">
                <a:moveTo>
                  <a:pt x="36289" y="0"/>
                </a:moveTo>
                <a:lnTo>
                  <a:pt x="5079997" y="0"/>
                </a:lnTo>
                <a:cubicBezTo>
                  <a:pt x="5100039" y="0"/>
                  <a:pt x="5116286" y="16247"/>
                  <a:pt x="5116286" y="36289"/>
                </a:cubicBezTo>
                <a:lnTo>
                  <a:pt x="5116286" y="943426"/>
                </a:lnTo>
                <a:cubicBezTo>
                  <a:pt x="5116286" y="963467"/>
                  <a:pt x="5100039" y="979714"/>
                  <a:pt x="5079997" y="979714"/>
                </a:cubicBezTo>
                <a:lnTo>
                  <a:pt x="36289" y="979714"/>
                </a:lnTo>
                <a:cubicBezTo>
                  <a:pt x="16247" y="979714"/>
                  <a:pt x="0" y="963467"/>
                  <a:pt x="0" y="943426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711893" y="3863746"/>
            <a:ext cx="4889500" cy="3265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5" b="1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Low intensity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3643" y="4262810"/>
            <a:ext cx="4826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5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Low compute-to-memory ratio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1120" y="3047504"/>
            <a:ext cx="5588000" cy="1850571"/>
          </a:xfrm>
          <a:custGeom>
            <a:avLst/>
            <a:gdLst/>
            <a:ahLst/>
            <a:cxnLst/>
            <a:rect l="l" t="t" r="r" b="b"/>
            <a:pathLst>
              <a:path w="5588000" h="1850571">
                <a:moveTo>
                  <a:pt x="72579" y="0"/>
                </a:moveTo>
                <a:lnTo>
                  <a:pt x="5515421" y="0"/>
                </a:lnTo>
                <a:cubicBezTo>
                  <a:pt x="5555505" y="0"/>
                  <a:pt x="5588000" y="32495"/>
                  <a:pt x="5588000" y="72579"/>
                </a:cubicBezTo>
                <a:lnTo>
                  <a:pt x="5588000" y="1777992"/>
                </a:lnTo>
                <a:cubicBezTo>
                  <a:pt x="5588000" y="1818077"/>
                  <a:pt x="5555505" y="1850571"/>
                  <a:pt x="5515421" y="1850571"/>
                </a:cubicBezTo>
                <a:lnTo>
                  <a:pt x="72579" y="1850571"/>
                </a:lnTo>
                <a:cubicBezTo>
                  <a:pt x="32522" y="1850571"/>
                  <a:pt x="0" y="1818050"/>
                  <a:pt x="0" y="1777992"/>
                </a:cubicBezTo>
                <a:lnTo>
                  <a:pt x="0" y="72579"/>
                </a:lnTo>
                <a:cubicBezTo>
                  <a:pt x="0" y="32522"/>
                  <a:pt x="32522" y="0"/>
                  <a:pt x="72579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Text 12"/>
          <p:cNvSpPr/>
          <p:nvPr/>
        </p:nvSpPr>
        <p:spPr>
          <a:xfrm>
            <a:off x="6458809" y="3265192"/>
            <a:ext cx="5243286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Tiled MatMul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58809" y="3664321"/>
            <a:ext cx="5152571" cy="979714"/>
          </a:xfrm>
          <a:custGeom>
            <a:avLst/>
            <a:gdLst/>
            <a:ahLst/>
            <a:cxnLst/>
            <a:rect l="l" t="t" r="r" b="b"/>
            <a:pathLst>
              <a:path w="5152571" h="979714">
                <a:moveTo>
                  <a:pt x="36289" y="0"/>
                </a:moveTo>
                <a:lnTo>
                  <a:pt x="5116283" y="0"/>
                </a:lnTo>
                <a:cubicBezTo>
                  <a:pt x="5136324" y="0"/>
                  <a:pt x="5152571" y="16247"/>
                  <a:pt x="5152571" y="36289"/>
                </a:cubicBezTo>
                <a:lnTo>
                  <a:pt x="5152571" y="943426"/>
                </a:lnTo>
                <a:cubicBezTo>
                  <a:pt x="5152571" y="963467"/>
                  <a:pt x="5136324" y="979714"/>
                  <a:pt x="5116283" y="979714"/>
                </a:cubicBezTo>
                <a:lnTo>
                  <a:pt x="36289" y="979714"/>
                </a:lnTo>
                <a:cubicBezTo>
                  <a:pt x="16247" y="979714"/>
                  <a:pt x="0" y="963467"/>
                  <a:pt x="0" y="943426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6572145" y="3845697"/>
            <a:ext cx="4925786" cy="3265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5" b="1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High intensity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03895" y="4244755"/>
            <a:ext cx="4862286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5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High compute-to-memory ratio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2815" y="5115302"/>
            <a:ext cx="11466286" cy="1451429"/>
          </a:xfrm>
          <a:custGeom>
            <a:avLst/>
            <a:gdLst/>
            <a:ahLst/>
            <a:cxnLst/>
            <a:rect l="l" t="t" r="r" b="b"/>
            <a:pathLst>
              <a:path w="11466286" h="1451429">
                <a:moveTo>
                  <a:pt x="72571" y="0"/>
                </a:moveTo>
                <a:lnTo>
                  <a:pt x="11393714" y="0"/>
                </a:lnTo>
                <a:cubicBezTo>
                  <a:pt x="11433794" y="0"/>
                  <a:pt x="11466286" y="32491"/>
                  <a:pt x="11466286" y="72571"/>
                </a:cubicBezTo>
                <a:lnTo>
                  <a:pt x="11466286" y="1378857"/>
                </a:lnTo>
                <a:cubicBezTo>
                  <a:pt x="11466286" y="1418937"/>
                  <a:pt x="11433794" y="1451429"/>
                  <a:pt x="11393714" y="1451429"/>
                </a:cubicBezTo>
                <a:lnTo>
                  <a:pt x="72571" y="1451429"/>
                </a:lnTo>
                <a:cubicBezTo>
                  <a:pt x="32491" y="1451429"/>
                  <a:pt x="0" y="1418937"/>
                  <a:pt x="0" y="1378857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0" name="Text 18"/>
          <p:cNvSpPr/>
          <p:nvPr/>
        </p:nvSpPr>
        <p:spPr>
          <a:xfrm>
            <a:off x="859126" y="5332990"/>
            <a:ext cx="10842949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8556" y="5695803"/>
            <a:ext cx="11012624" cy="653143"/>
          </a:xfrm>
          <a:custGeom>
            <a:avLst/>
            <a:gdLst/>
            <a:ahLst/>
            <a:cxnLst/>
            <a:rect l="l" t="t" r="r" b="b"/>
            <a:pathLst>
              <a:path w="11012624" h="653143">
                <a:moveTo>
                  <a:pt x="36105" y="0"/>
                </a:moveTo>
                <a:lnTo>
                  <a:pt x="10976335" y="0"/>
                </a:lnTo>
                <a:cubicBezTo>
                  <a:pt x="10996377" y="0"/>
                  <a:pt x="11012624" y="16247"/>
                  <a:pt x="11012624" y="36289"/>
                </a:cubicBezTo>
                <a:lnTo>
                  <a:pt x="11012624" y="616854"/>
                </a:lnTo>
                <a:cubicBezTo>
                  <a:pt x="11012624" y="636896"/>
                  <a:pt x="10996377" y="653143"/>
                  <a:pt x="10976335" y="653143"/>
                </a:cubicBezTo>
                <a:lnTo>
                  <a:pt x="36105" y="653143"/>
                </a:lnTo>
                <a:cubicBezTo>
                  <a:pt x="16165" y="653143"/>
                  <a:pt x="0" y="636978"/>
                  <a:pt x="0" y="617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Shape 20"/>
          <p:cNvSpPr/>
          <p:nvPr/>
        </p:nvSpPr>
        <p:spPr>
          <a:xfrm>
            <a:off x="598556" y="5695803"/>
            <a:ext cx="36105" cy="653143"/>
          </a:xfrm>
          <a:custGeom>
            <a:avLst/>
            <a:gdLst/>
            <a:ahLst/>
            <a:cxnLst/>
            <a:rect l="l" t="t" r="r" b="b"/>
            <a:pathLst>
              <a:path w="36105" h="653143">
                <a:moveTo>
                  <a:pt x="36105" y="0"/>
                </a:moveTo>
                <a:lnTo>
                  <a:pt x="36105" y="0"/>
                </a:lnTo>
                <a:lnTo>
                  <a:pt x="36105" y="653143"/>
                </a:lnTo>
                <a:lnTo>
                  <a:pt x="36105" y="653143"/>
                </a:lnTo>
                <a:cubicBezTo>
                  <a:pt x="16165" y="653143"/>
                  <a:pt x="0" y="636978"/>
                  <a:pt x="0" y="617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3" name="Text 21"/>
          <p:cNvSpPr/>
          <p:nvPr/>
        </p:nvSpPr>
        <p:spPr>
          <a:xfrm>
            <a:off x="743552" y="5877178"/>
            <a:ext cx="10740571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5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Higher Arithmetic Intensity = Higher Performance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2815" y="6711546"/>
            <a:ext cx="11520714" cy="1451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6394" y="610349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+mn-ea"/>
                <a:cs typeface="MiSans" panose="00000500000000000000" pitchFamily="34" charset="-120"/>
              </a:rPr>
              <a:t>Introduction to the Roofline Model</a:t>
            </a:r>
            <a:endParaRPr lang="en-US" sz="16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0956" y="1257114"/>
            <a:ext cx="11430000" cy="1562100"/>
          </a:xfrm>
          <a:custGeom>
            <a:avLst/>
            <a:gdLst/>
            <a:ahLst/>
            <a:cxnLst/>
            <a:rect l="l" t="t" r="r" b="b"/>
            <a:pathLst>
              <a:path w="11430000" h="15621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1485901"/>
                </a:lnTo>
                <a:cubicBezTo>
                  <a:pt x="11430000" y="1527984"/>
                  <a:pt x="11395884" y="1562100"/>
                  <a:pt x="113538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Text 3"/>
          <p:cNvSpPr/>
          <p:nvPr/>
        </p:nvSpPr>
        <p:spPr>
          <a:xfrm>
            <a:off x="609529" y="1485691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Roofline Model Description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29" y="1904777"/>
            <a:ext cx="10972800" cy="685800"/>
          </a:xfrm>
          <a:custGeom>
            <a:avLst/>
            <a:gdLst/>
            <a:ahLst/>
            <a:cxnLst/>
            <a:rect l="l" t="t" r="r" b="b"/>
            <a:pathLst>
              <a:path w="10972800" h="685800">
                <a:moveTo>
                  <a:pt x="76199" y="0"/>
                </a:moveTo>
                <a:lnTo>
                  <a:pt x="10896601" y="0"/>
                </a:lnTo>
                <a:cubicBezTo>
                  <a:pt x="10938684" y="0"/>
                  <a:pt x="10972800" y="34116"/>
                  <a:pt x="10972800" y="76199"/>
                </a:cubicBezTo>
                <a:lnTo>
                  <a:pt x="10972800" y="609601"/>
                </a:lnTo>
                <a:cubicBezTo>
                  <a:pt x="10972800" y="651684"/>
                  <a:pt x="10938684" y="685800"/>
                  <a:pt x="10896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742820" y="2095216"/>
            <a:ext cx="10706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Performance ceiling limited by Compute or Memory</a:t>
            </a:r>
            <a:endParaRPr lang="en-US" sz="1600" dirty="0"/>
          </a:p>
        </p:txBody>
      </p:sp>
      <p:grpSp>
        <p:nvGrpSpPr>
          <p:cNvPr id="23" name="组合 22"/>
          <p:cNvGrpSpPr/>
          <p:nvPr/>
        </p:nvGrpSpPr>
        <p:grpSpPr>
          <a:xfrm>
            <a:off x="380956" y="3047498"/>
            <a:ext cx="11430000" cy="2324100"/>
            <a:chOff x="380956" y="3047498"/>
            <a:chExt cx="11430000" cy="2324100"/>
          </a:xfrm>
        </p:grpSpPr>
        <p:sp>
          <p:nvSpPr>
            <p:cNvPr id="8" name="Shape 6"/>
            <p:cNvSpPr/>
            <p:nvPr/>
          </p:nvSpPr>
          <p:spPr>
            <a:xfrm>
              <a:off x="380956" y="3047498"/>
              <a:ext cx="11430000" cy="2324100"/>
            </a:xfrm>
            <a:custGeom>
              <a:avLst/>
              <a:gdLst/>
              <a:ahLst/>
              <a:cxnLst/>
              <a:rect l="l" t="t" r="r" b="b"/>
              <a:pathLst>
                <a:path w="11430000" h="2324100">
                  <a:moveTo>
                    <a:pt x="76207" y="0"/>
                  </a:moveTo>
                  <a:lnTo>
                    <a:pt x="11353793" y="0"/>
                  </a:lnTo>
                  <a:cubicBezTo>
                    <a:pt x="11395881" y="0"/>
                    <a:pt x="11430000" y="34119"/>
                    <a:pt x="11430000" y="76207"/>
                  </a:cubicBezTo>
                  <a:lnTo>
                    <a:pt x="11430000" y="2247893"/>
                  </a:lnTo>
                  <a:cubicBezTo>
                    <a:pt x="11430000" y="2289981"/>
                    <a:pt x="11395881" y="2324100"/>
                    <a:pt x="11353793" y="2324100"/>
                  </a:cubicBezTo>
                  <a:lnTo>
                    <a:pt x="76207" y="2324100"/>
                  </a:lnTo>
                  <a:cubicBezTo>
                    <a:pt x="34119" y="2324100"/>
                    <a:pt x="0" y="2289981"/>
                    <a:pt x="0" y="2247893"/>
                  </a:cubicBezTo>
                  <a:lnTo>
                    <a:pt x="0" y="76207"/>
                  </a:lnTo>
                  <a:cubicBezTo>
                    <a:pt x="0" y="34119"/>
                    <a:pt x="34119" y="0"/>
                    <a:pt x="76207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0" name="Text 8"/>
            <p:cNvSpPr/>
            <p:nvPr/>
          </p:nvSpPr>
          <p:spPr>
            <a:xfrm>
              <a:off x="904804" y="3276070"/>
              <a:ext cx="1077277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Formula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28484" y="3695156"/>
              <a:ext cx="10953655" cy="1447800"/>
            </a:xfrm>
            <a:custGeom>
              <a:avLst/>
              <a:gdLst/>
              <a:ahLst/>
              <a:cxnLst/>
              <a:rect l="l" t="t" r="r" b="b"/>
              <a:pathLst>
                <a:path w="10953655" h="1447800">
                  <a:moveTo>
                    <a:pt x="37910" y="0"/>
                  </a:moveTo>
                  <a:lnTo>
                    <a:pt x="10915549" y="0"/>
                  </a:lnTo>
                  <a:cubicBezTo>
                    <a:pt x="10936595" y="0"/>
                    <a:pt x="10953655" y="17061"/>
                    <a:pt x="10953655" y="38106"/>
                  </a:cubicBezTo>
                  <a:lnTo>
                    <a:pt x="10953655" y="1409694"/>
                  </a:lnTo>
                  <a:cubicBezTo>
                    <a:pt x="10953655" y="1430739"/>
                    <a:pt x="10936595" y="1447800"/>
                    <a:pt x="10915549" y="1447800"/>
                  </a:cubicBezTo>
                  <a:lnTo>
                    <a:pt x="37910" y="1447800"/>
                  </a:lnTo>
                  <a:cubicBezTo>
                    <a:pt x="16973" y="1447800"/>
                    <a:pt x="0" y="1430827"/>
                    <a:pt x="0" y="14098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2" name="Shape 10"/>
            <p:cNvSpPr/>
            <p:nvPr/>
          </p:nvSpPr>
          <p:spPr>
            <a:xfrm>
              <a:off x="628484" y="3695156"/>
              <a:ext cx="37910" cy="1447800"/>
            </a:xfrm>
            <a:custGeom>
              <a:avLst/>
              <a:gdLst/>
              <a:ahLst/>
              <a:cxnLst/>
              <a:rect l="l" t="t" r="r" b="b"/>
              <a:pathLst>
                <a:path w="37910" h="1447800">
                  <a:moveTo>
                    <a:pt x="37910" y="0"/>
                  </a:moveTo>
                  <a:lnTo>
                    <a:pt x="37910" y="0"/>
                  </a:lnTo>
                  <a:lnTo>
                    <a:pt x="37910" y="1447800"/>
                  </a:lnTo>
                  <a:lnTo>
                    <a:pt x="37910" y="1447800"/>
                  </a:lnTo>
                  <a:cubicBezTo>
                    <a:pt x="16973" y="1447800"/>
                    <a:pt x="0" y="1430827"/>
                    <a:pt x="0" y="14098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609529" y="3695156"/>
              <a:ext cx="11020425" cy="1447800"/>
            </a:xfrm>
            <a:prstGeom prst="rect">
              <a:avLst/>
            </a:prstGeom>
            <a:noFill/>
          </p:spPr>
          <p:txBody>
            <a:bodyPr wrap="square" lIns="190500" tIns="190500" rIns="190500" bIns="19050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Performance = min(</a:t>
              </a:r>
              <a:endParaRPr lang="en-US" sz="1600" dirty="0"/>
            </a:p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Compute Peak,</a:t>
              </a:r>
              <a:endParaRPr lang="en-US" sz="1600" dirty="0"/>
            </a:p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Bandwidth × Arithmetic Intensity</a:t>
              </a:r>
              <a:endParaRPr lang="en-US" sz="1600" dirty="0"/>
            </a:p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)</a:t>
              </a:r>
              <a:endParaRPr lang="en-US" sz="160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399911" y="5600012"/>
            <a:ext cx="5581555" cy="952500"/>
          </a:xfrm>
          <a:custGeom>
            <a:avLst/>
            <a:gdLst/>
            <a:ahLst/>
            <a:cxnLst/>
            <a:rect l="l" t="t" r="r" b="b"/>
            <a:pathLst>
              <a:path w="5581555" h="952500">
                <a:moveTo>
                  <a:pt x="37910" y="0"/>
                </a:moveTo>
                <a:lnTo>
                  <a:pt x="5543455" y="0"/>
                </a:lnTo>
                <a:cubicBezTo>
                  <a:pt x="5564483" y="0"/>
                  <a:pt x="5581555" y="17072"/>
                  <a:pt x="5581555" y="38100"/>
                </a:cubicBezTo>
                <a:lnTo>
                  <a:pt x="5581555" y="914400"/>
                </a:lnTo>
                <a:cubicBezTo>
                  <a:pt x="5581555" y="935428"/>
                  <a:pt x="5564483" y="952500"/>
                  <a:pt x="5543455" y="952500"/>
                </a:cubicBezTo>
                <a:lnTo>
                  <a:pt x="37910" y="952500"/>
                </a:lnTo>
                <a:cubicBezTo>
                  <a:pt x="16973" y="952500"/>
                  <a:pt x="0" y="935527"/>
                  <a:pt x="0" y="914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grpSp>
        <p:nvGrpSpPr>
          <p:cNvPr id="24" name="组合 23"/>
          <p:cNvGrpSpPr/>
          <p:nvPr/>
        </p:nvGrpSpPr>
        <p:grpSpPr>
          <a:xfrm>
            <a:off x="399911" y="5600012"/>
            <a:ext cx="5476721" cy="952500"/>
            <a:chOff x="399911" y="5600012"/>
            <a:chExt cx="5476721" cy="952500"/>
          </a:xfrm>
        </p:grpSpPr>
        <p:sp>
          <p:nvSpPr>
            <p:cNvPr id="15" name="Shape 13"/>
            <p:cNvSpPr/>
            <p:nvPr/>
          </p:nvSpPr>
          <p:spPr>
            <a:xfrm>
              <a:off x="399911" y="5600012"/>
              <a:ext cx="37910" cy="952500"/>
            </a:xfrm>
            <a:custGeom>
              <a:avLst/>
              <a:gdLst/>
              <a:ahLst/>
              <a:cxnLst/>
              <a:rect l="l" t="t" r="r" b="b"/>
              <a:pathLst>
                <a:path w="37910" h="952500">
                  <a:moveTo>
                    <a:pt x="37910" y="0"/>
                  </a:moveTo>
                  <a:lnTo>
                    <a:pt x="37910" y="0"/>
                  </a:lnTo>
                  <a:lnTo>
                    <a:pt x="37910" y="952500"/>
                  </a:lnTo>
                  <a:lnTo>
                    <a:pt x="37910" y="952500"/>
                  </a:lnTo>
                  <a:cubicBezTo>
                    <a:pt x="16973" y="952500"/>
                    <a:pt x="0" y="935527"/>
                    <a:pt x="0" y="9145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6" name="Text 14"/>
            <p:cNvSpPr/>
            <p:nvPr/>
          </p:nvSpPr>
          <p:spPr>
            <a:xfrm>
              <a:off x="609307" y="5790451"/>
              <a:ext cx="52673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Memory-Bound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09307" y="6133347"/>
              <a:ext cx="52578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Low Arithmetic Intensity region</a:t>
              </a:r>
              <a:endParaRPr lang="en-US" sz="1600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229234" y="5600012"/>
            <a:ext cx="5581555" cy="952500"/>
            <a:chOff x="6229234" y="5600012"/>
            <a:chExt cx="5581555" cy="952500"/>
          </a:xfrm>
        </p:grpSpPr>
        <p:sp>
          <p:nvSpPr>
            <p:cNvPr id="18" name="Shape 16"/>
            <p:cNvSpPr/>
            <p:nvPr/>
          </p:nvSpPr>
          <p:spPr>
            <a:xfrm>
              <a:off x="6229234" y="5600012"/>
              <a:ext cx="5581555" cy="952500"/>
            </a:xfrm>
            <a:custGeom>
              <a:avLst/>
              <a:gdLst/>
              <a:ahLst/>
              <a:cxnLst/>
              <a:rect l="l" t="t" r="r" b="b"/>
              <a:pathLst>
                <a:path w="5581555" h="952500">
                  <a:moveTo>
                    <a:pt x="37910" y="0"/>
                  </a:moveTo>
                  <a:lnTo>
                    <a:pt x="5543455" y="0"/>
                  </a:lnTo>
                  <a:cubicBezTo>
                    <a:pt x="5564483" y="0"/>
                    <a:pt x="5581555" y="17072"/>
                    <a:pt x="5581555" y="38100"/>
                  </a:cubicBezTo>
                  <a:lnTo>
                    <a:pt x="5581555" y="914400"/>
                  </a:lnTo>
                  <a:cubicBezTo>
                    <a:pt x="5581555" y="935428"/>
                    <a:pt x="5564483" y="952500"/>
                    <a:pt x="5543455" y="952500"/>
                  </a:cubicBezTo>
                  <a:lnTo>
                    <a:pt x="37910" y="952500"/>
                  </a:lnTo>
                  <a:cubicBezTo>
                    <a:pt x="16973" y="952500"/>
                    <a:pt x="0" y="935527"/>
                    <a:pt x="0" y="9145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Shape 17"/>
            <p:cNvSpPr/>
            <p:nvPr/>
          </p:nvSpPr>
          <p:spPr>
            <a:xfrm>
              <a:off x="6229234" y="5600012"/>
              <a:ext cx="37910" cy="952500"/>
            </a:xfrm>
            <a:custGeom>
              <a:avLst/>
              <a:gdLst/>
              <a:ahLst/>
              <a:cxnLst/>
              <a:rect l="l" t="t" r="r" b="b"/>
              <a:pathLst>
                <a:path w="37910" h="952500">
                  <a:moveTo>
                    <a:pt x="37910" y="0"/>
                  </a:moveTo>
                  <a:lnTo>
                    <a:pt x="37910" y="0"/>
                  </a:lnTo>
                  <a:lnTo>
                    <a:pt x="37910" y="952500"/>
                  </a:lnTo>
                  <a:lnTo>
                    <a:pt x="37910" y="952500"/>
                  </a:lnTo>
                  <a:cubicBezTo>
                    <a:pt x="16973" y="952500"/>
                    <a:pt x="0" y="935527"/>
                    <a:pt x="0" y="9145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0" name="Text 18"/>
            <p:cNvSpPr/>
            <p:nvPr/>
          </p:nvSpPr>
          <p:spPr>
            <a:xfrm>
              <a:off x="6438630" y="5790451"/>
              <a:ext cx="52673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Compute-Bound</a:t>
              </a:r>
              <a:endParaRPr lang="en-US" sz="1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438630" y="6133347"/>
              <a:ext cx="52578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High Arithmetic Intensity region</a:t>
              </a:r>
              <a:endParaRPr lang="en-US" sz="1600" dirty="0"/>
            </a:p>
          </p:txBody>
        </p:sp>
      </p:grpSp>
      <p:sp>
        <p:nvSpPr>
          <p:cNvPr id="22" name="Text 20"/>
          <p:cNvSpPr/>
          <p:nvPr/>
        </p:nvSpPr>
        <p:spPr>
          <a:xfrm>
            <a:off x="380956" y="6704744"/>
            <a:ext cx="11487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2341" y="609979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+mn-ea"/>
                <a:cs typeface="MiSans" panose="00000500000000000000" pitchFamily="34" charset="-120"/>
              </a:rPr>
              <a:t>How Tiling Improves Performance</a:t>
            </a:r>
            <a:endParaRPr lang="en-US" sz="16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0956" y="1295767"/>
            <a:ext cx="11430000" cy="1447800"/>
          </a:xfrm>
          <a:custGeom>
            <a:avLst/>
            <a:gdLst/>
            <a:ahLst/>
            <a:cxnLst/>
            <a:rect l="l" t="t" r="r" b="b"/>
            <a:pathLst>
              <a:path w="11430000" h="1447800">
                <a:moveTo>
                  <a:pt x="76198" y="0"/>
                </a:moveTo>
                <a:lnTo>
                  <a:pt x="11353802" y="0"/>
                </a:lnTo>
                <a:cubicBezTo>
                  <a:pt x="11395857" y="0"/>
                  <a:pt x="11430000" y="34143"/>
                  <a:pt x="11430000" y="76198"/>
                </a:cubicBezTo>
                <a:lnTo>
                  <a:pt x="11430000" y="1371602"/>
                </a:lnTo>
                <a:cubicBezTo>
                  <a:pt x="11430000" y="1413657"/>
                  <a:pt x="11395857" y="1447800"/>
                  <a:pt x="11353802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Text 3"/>
          <p:cNvSpPr/>
          <p:nvPr/>
        </p:nvSpPr>
        <p:spPr>
          <a:xfrm>
            <a:off x="571396" y="1486207"/>
            <a:ext cx="11144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Tiling increases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1396" y="1905293"/>
            <a:ext cx="11049000" cy="647700"/>
          </a:xfrm>
          <a:custGeom>
            <a:avLst/>
            <a:gdLst/>
            <a:ahLst/>
            <a:cxnLst/>
            <a:rect l="l" t="t" r="r" b="b"/>
            <a:pathLst>
              <a:path w="11049000" h="647700">
                <a:moveTo>
                  <a:pt x="76202" y="0"/>
                </a:moveTo>
                <a:lnTo>
                  <a:pt x="10972798" y="0"/>
                </a:lnTo>
                <a:cubicBezTo>
                  <a:pt x="11014883" y="0"/>
                  <a:pt x="11049000" y="34117"/>
                  <a:pt x="11049000" y="76202"/>
                </a:cubicBezTo>
                <a:lnTo>
                  <a:pt x="11049000" y="571498"/>
                </a:lnTo>
                <a:cubicBezTo>
                  <a:pt x="11049000" y="613583"/>
                  <a:pt x="11014883" y="647700"/>
                  <a:pt x="109727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652341" y="2057674"/>
            <a:ext cx="108870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Arithmetic Intensity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56" y="2933765"/>
            <a:ext cx="5600700" cy="1333500"/>
          </a:xfrm>
          <a:custGeom>
            <a:avLst/>
            <a:gdLst/>
            <a:ahLst/>
            <a:cxnLst/>
            <a:rect l="l" t="t" r="r" b="b"/>
            <a:pathLst>
              <a:path w="5600700" h="1333500">
                <a:moveTo>
                  <a:pt x="76196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257304"/>
                </a:lnTo>
                <a:cubicBezTo>
                  <a:pt x="5600700" y="1299386"/>
                  <a:pt x="5566586" y="1333500"/>
                  <a:pt x="5524504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9" name="Shape 7"/>
          <p:cNvSpPr/>
          <p:nvPr/>
        </p:nvSpPr>
        <p:spPr>
          <a:xfrm>
            <a:off x="611878" y="3162114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838096" y="3124205"/>
            <a:ext cx="503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352" y="3505158"/>
            <a:ext cx="5200555" cy="571500"/>
          </a:xfrm>
          <a:custGeom>
            <a:avLst/>
            <a:gdLst/>
            <a:ahLst/>
            <a:cxnLst/>
            <a:rect l="l" t="t" r="r" b="b"/>
            <a:pathLst>
              <a:path w="5200555" h="571500">
                <a:moveTo>
                  <a:pt x="37910" y="0"/>
                </a:moveTo>
                <a:lnTo>
                  <a:pt x="5162453" y="0"/>
                </a:lnTo>
                <a:cubicBezTo>
                  <a:pt x="5183496" y="0"/>
                  <a:pt x="5200555" y="17059"/>
                  <a:pt x="5200555" y="38102"/>
                </a:cubicBezTo>
                <a:lnTo>
                  <a:pt x="5200555" y="533398"/>
                </a:lnTo>
                <a:cubicBezTo>
                  <a:pt x="5200555" y="554441"/>
                  <a:pt x="5183496" y="571500"/>
                  <a:pt x="5162453" y="571500"/>
                </a:cubicBez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590352" y="3505158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Text 11"/>
          <p:cNvSpPr/>
          <p:nvPr/>
        </p:nvSpPr>
        <p:spPr>
          <a:xfrm>
            <a:off x="761689" y="3657540"/>
            <a:ext cx="4972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bandwidth pressure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0279" y="2933765"/>
            <a:ext cx="5600700" cy="1333500"/>
          </a:xfrm>
          <a:custGeom>
            <a:avLst/>
            <a:gdLst/>
            <a:ahLst/>
            <a:cxnLst/>
            <a:rect l="l" t="t" r="r" b="b"/>
            <a:pathLst>
              <a:path w="5600700" h="1333500">
                <a:moveTo>
                  <a:pt x="76196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257304"/>
                </a:lnTo>
                <a:cubicBezTo>
                  <a:pt x="5600700" y="1299386"/>
                  <a:pt x="5566586" y="1333500"/>
                  <a:pt x="5524504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5" name="Shape 13"/>
          <p:cNvSpPr/>
          <p:nvPr/>
        </p:nvSpPr>
        <p:spPr>
          <a:xfrm>
            <a:off x="6441201" y="3162114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71862" y="5827"/>
                </a:moveTo>
                <a:cubicBezTo>
                  <a:pt x="67676" y="1641"/>
                  <a:pt x="60878" y="1641"/>
                  <a:pt x="56692" y="5827"/>
                </a:cubicBezTo>
                <a:lnTo>
                  <a:pt x="3114" y="59405"/>
                </a:lnTo>
                <a:cubicBezTo>
                  <a:pt x="-1072" y="63591"/>
                  <a:pt x="-1072" y="70388"/>
                  <a:pt x="3114" y="74574"/>
                </a:cubicBezTo>
                <a:cubicBezTo>
                  <a:pt x="7300" y="78760"/>
                  <a:pt x="14098" y="78760"/>
                  <a:pt x="18284" y="74574"/>
                </a:cubicBezTo>
                <a:lnTo>
                  <a:pt x="53578" y="39279"/>
                </a:lnTo>
                <a:lnTo>
                  <a:pt x="53578" y="163413"/>
                </a:lnTo>
                <a:cubicBezTo>
                  <a:pt x="53578" y="169340"/>
                  <a:pt x="58367" y="174129"/>
                  <a:pt x="64294" y="174129"/>
                </a:cubicBezTo>
                <a:cubicBezTo>
                  <a:pt x="70221" y="174129"/>
                  <a:pt x="75009" y="169340"/>
                  <a:pt x="75009" y="163413"/>
                </a:cubicBezTo>
                <a:lnTo>
                  <a:pt x="75009" y="39279"/>
                </a:lnTo>
                <a:lnTo>
                  <a:pt x="110304" y="74574"/>
                </a:lnTo>
                <a:cubicBezTo>
                  <a:pt x="114490" y="78760"/>
                  <a:pt x="121287" y="78760"/>
                  <a:pt x="125473" y="74574"/>
                </a:cubicBezTo>
                <a:cubicBezTo>
                  <a:pt x="129659" y="70388"/>
                  <a:pt x="129659" y="63591"/>
                  <a:pt x="125473" y="59405"/>
                </a:cubicBezTo>
                <a:lnTo>
                  <a:pt x="71895" y="582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Text 14"/>
          <p:cNvSpPr/>
          <p:nvPr/>
        </p:nvSpPr>
        <p:spPr>
          <a:xfrm>
            <a:off x="6667420" y="3124205"/>
            <a:ext cx="503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Increases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19675" y="3505158"/>
            <a:ext cx="5200555" cy="571500"/>
          </a:xfrm>
          <a:custGeom>
            <a:avLst/>
            <a:gdLst/>
            <a:ahLst/>
            <a:cxnLst/>
            <a:rect l="l" t="t" r="r" b="b"/>
            <a:pathLst>
              <a:path w="5200555" h="571500">
                <a:moveTo>
                  <a:pt x="37910" y="0"/>
                </a:moveTo>
                <a:lnTo>
                  <a:pt x="5162453" y="0"/>
                </a:lnTo>
                <a:cubicBezTo>
                  <a:pt x="5183496" y="0"/>
                  <a:pt x="5200555" y="17059"/>
                  <a:pt x="5200555" y="38102"/>
                </a:cubicBezTo>
                <a:lnTo>
                  <a:pt x="5200555" y="533398"/>
                </a:lnTo>
                <a:cubicBezTo>
                  <a:pt x="5200555" y="554441"/>
                  <a:pt x="5183496" y="571500"/>
                  <a:pt x="5162453" y="571500"/>
                </a:cubicBez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6419675" y="3505158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Text 17"/>
          <p:cNvSpPr/>
          <p:nvPr/>
        </p:nvSpPr>
        <p:spPr>
          <a:xfrm>
            <a:off x="6591013" y="3657540"/>
            <a:ext cx="4972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Cache utilization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0956" y="4457509"/>
            <a:ext cx="11430000" cy="1676400"/>
          </a:xfrm>
          <a:custGeom>
            <a:avLst/>
            <a:gdLst/>
            <a:ahLst/>
            <a:cxnLst/>
            <a:rect l="l" t="t" r="r" b="b"/>
            <a:pathLst>
              <a:path w="11430000" h="1676400">
                <a:moveTo>
                  <a:pt x="76192" y="0"/>
                </a:moveTo>
                <a:lnTo>
                  <a:pt x="11353808" y="0"/>
                </a:lnTo>
                <a:cubicBezTo>
                  <a:pt x="11395888" y="0"/>
                  <a:pt x="11430000" y="34112"/>
                  <a:pt x="11430000" y="76192"/>
                </a:cubicBezTo>
                <a:lnTo>
                  <a:pt x="11430000" y="1600208"/>
                </a:lnTo>
                <a:cubicBezTo>
                  <a:pt x="11430000" y="1642288"/>
                  <a:pt x="11395888" y="1676400"/>
                  <a:pt x="11353808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Text 20"/>
          <p:cNvSpPr/>
          <p:nvPr/>
        </p:nvSpPr>
        <p:spPr>
          <a:xfrm>
            <a:off x="895279" y="4686086"/>
            <a:ext cx="10744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Final Result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9529" y="5143160"/>
            <a:ext cx="10972800" cy="762000"/>
          </a:xfrm>
          <a:custGeom>
            <a:avLst/>
            <a:gdLst/>
            <a:ahLst/>
            <a:cxnLst/>
            <a:rect l="l" t="t" r="r" b="b"/>
            <a:pathLst>
              <a:path w="10972800" h="762000">
                <a:moveTo>
                  <a:pt x="38100" y="0"/>
                </a:moveTo>
                <a:lnTo>
                  <a:pt x="10934700" y="0"/>
                </a:lnTo>
                <a:cubicBezTo>
                  <a:pt x="10955728" y="0"/>
                  <a:pt x="10972800" y="17072"/>
                  <a:pt x="10972800" y="38100"/>
                </a:cubicBezTo>
                <a:lnTo>
                  <a:pt x="10972800" y="723900"/>
                </a:lnTo>
                <a:cubicBezTo>
                  <a:pt x="10972800" y="744928"/>
                  <a:pt x="10955728" y="762000"/>
                  <a:pt x="109347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714245" y="5333595"/>
            <a:ext cx="10763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 err="1">
                <a:solidFill>
                  <a:schemeClr val="bg1">
                    <a:lumMod val="65000"/>
                  </a:schemeClr>
                </a:solidFill>
                <a:latin typeface="+mn-ea"/>
                <a:cs typeface="MiSans" panose="00000500000000000000" pitchFamily="34" charset="-120"/>
              </a:rPr>
              <a:t>Performance</a:t>
            </a:r>
            <a:r>
              <a:rPr lang="zh-CN" altLang="en-US" sz="2700" b="1" dirty="0">
                <a:solidFill>
                  <a:schemeClr val="bg1">
                    <a:lumMod val="65000"/>
                  </a:schemeClr>
                </a:solidFill>
                <a:latin typeface="+mn-ea"/>
                <a:cs typeface="MiSans" panose="00000500000000000000" pitchFamily="34" charset="-120"/>
              </a:rPr>
              <a:t>improvement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80956" y="6324605"/>
            <a:ext cx="11487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6394" y="604685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+mn-ea"/>
                <a:cs typeface="MiSans" panose="00000500000000000000" pitchFamily="34" charset="-120"/>
              </a:rPr>
              <a:t>Tiling in Triton</a:t>
            </a:r>
            <a:endParaRPr lang="en-US" sz="16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0956" y="1257114"/>
            <a:ext cx="11430000" cy="1600200"/>
          </a:xfrm>
          <a:custGeom>
            <a:avLst/>
            <a:gdLst/>
            <a:ahLst/>
            <a:cxnLst/>
            <a:rect l="l" t="t" r="r" b="b"/>
            <a:pathLst>
              <a:path w="11430000" h="16002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1523998"/>
                </a:lnTo>
                <a:cubicBezTo>
                  <a:pt x="11430000" y="1566083"/>
                  <a:pt x="11395883" y="1600200"/>
                  <a:pt x="11353798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Text 3"/>
          <p:cNvSpPr/>
          <p:nvPr/>
        </p:nvSpPr>
        <p:spPr>
          <a:xfrm>
            <a:off x="609529" y="1485695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Triton uses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29" y="1904777"/>
            <a:ext cx="10972800" cy="723900"/>
          </a:xfrm>
          <a:custGeom>
            <a:avLst/>
            <a:gdLst/>
            <a:ahLst/>
            <a:cxnLst/>
            <a:rect l="l" t="t" r="r" b="b"/>
            <a:pathLst>
              <a:path w="10972800" h="723900">
                <a:moveTo>
                  <a:pt x="76198" y="0"/>
                </a:moveTo>
                <a:lnTo>
                  <a:pt x="10896602" y="0"/>
                </a:lnTo>
                <a:cubicBezTo>
                  <a:pt x="10938657" y="0"/>
                  <a:pt x="10972800" y="34143"/>
                  <a:pt x="10972800" y="76198"/>
                </a:cubicBezTo>
                <a:lnTo>
                  <a:pt x="10972800" y="647702"/>
                </a:lnTo>
                <a:cubicBezTo>
                  <a:pt x="10972800" y="689757"/>
                  <a:pt x="10938657" y="723900"/>
                  <a:pt x="108966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728532" y="2095221"/>
            <a:ext cx="107346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block-based programming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56" y="3085635"/>
            <a:ext cx="11430000" cy="1638300"/>
          </a:xfrm>
          <a:custGeom>
            <a:avLst/>
            <a:gdLst/>
            <a:ahLst/>
            <a:cxnLst/>
            <a:rect l="l" t="t" r="r" b="b"/>
            <a:pathLst>
              <a:path w="11430000" h="16383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562103"/>
                </a:lnTo>
                <a:cubicBezTo>
                  <a:pt x="11430000" y="1604185"/>
                  <a:pt x="11395885" y="1638300"/>
                  <a:pt x="11353803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9" name="Text 7"/>
          <p:cNvSpPr/>
          <p:nvPr/>
        </p:nvSpPr>
        <p:spPr>
          <a:xfrm>
            <a:off x="609529" y="3314207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Each program computes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007" y="3742766"/>
            <a:ext cx="10953655" cy="742855"/>
          </a:xfrm>
          <a:custGeom>
            <a:avLst/>
            <a:gdLst/>
            <a:ahLst/>
            <a:cxnLst/>
            <a:rect l="l" t="t" r="r" b="b"/>
            <a:pathLst>
              <a:path w="10953655" h="742855">
                <a:moveTo>
                  <a:pt x="38101" y="0"/>
                </a:moveTo>
                <a:lnTo>
                  <a:pt x="10915554" y="0"/>
                </a:lnTo>
                <a:cubicBezTo>
                  <a:pt x="10936597" y="0"/>
                  <a:pt x="10953655" y="17058"/>
                  <a:pt x="10953655" y="38101"/>
                </a:cubicBezTo>
                <a:lnTo>
                  <a:pt x="10953655" y="704754"/>
                </a:lnTo>
                <a:cubicBezTo>
                  <a:pt x="10953655" y="725797"/>
                  <a:pt x="10936597" y="742855"/>
                  <a:pt x="10915554" y="742855"/>
                </a:cubicBezTo>
                <a:lnTo>
                  <a:pt x="38101" y="742855"/>
                </a:lnTo>
                <a:cubicBezTo>
                  <a:pt x="17058" y="742855"/>
                  <a:pt x="0" y="725797"/>
                  <a:pt x="0" y="70475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487" y="3942690"/>
            <a:ext cx="106965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BLOCK_M × BLOCK_N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0956" y="4952051"/>
            <a:ext cx="11430000" cy="1447800"/>
          </a:xfrm>
          <a:custGeom>
            <a:avLst/>
            <a:gdLst/>
            <a:ahLst/>
            <a:cxnLst/>
            <a:rect l="l" t="t" r="r" b="b"/>
            <a:pathLst>
              <a:path w="11430000" h="1447800">
                <a:moveTo>
                  <a:pt x="76198" y="0"/>
                </a:moveTo>
                <a:lnTo>
                  <a:pt x="11353802" y="0"/>
                </a:lnTo>
                <a:cubicBezTo>
                  <a:pt x="11395857" y="0"/>
                  <a:pt x="11430000" y="34143"/>
                  <a:pt x="11430000" y="76198"/>
                </a:cubicBezTo>
                <a:lnTo>
                  <a:pt x="11430000" y="1371602"/>
                </a:lnTo>
                <a:cubicBezTo>
                  <a:pt x="11430000" y="1413657"/>
                  <a:pt x="11395857" y="1447800"/>
                  <a:pt x="11353802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3" name="Shape 11"/>
          <p:cNvSpPr/>
          <p:nvPr/>
        </p:nvSpPr>
        <p:spPr>
          <a:xfrm>
            <a:off x="621435" y="520905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Text 12"/>
          <p:cNvSpPr/>
          <p:nvPr/>
        </p:nvSpPr>
        <p:spPr>
          <a:xfrm>
            <a:off x="904804" y="5180623"/>
            <a:ext cx="10772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Example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484" y="5599714"/>
            <a:ext cx="5391055" cy="571500"/>
          </a:xfrm>
          <a:custGeom>
            <a:avLst/>
            <a:gdLst/>
            <a:ahLst/>
            <a:cxnLst/>
            <a:rect l="l" t="t" r="r" b="b"/>
            <a:pathLst>
              <a:path w="5391055" h="571500">
                <a:moveTo>
                  <a:pt x="37910" y="0"/>
                </a:moveTo>
                <a:lnTo>
                  <a:pt x="5352953" y="0"/>
                </a:lnTo>
                <a:cubicBezTo>
                  <a:pt x="5373996" y="0"/>
                  <a:pt x="5391055" y="17059"/>
                  <a:pt x="5391055" y="38102"/>
                </a:cubicBezTo>
                <a:lnTo>
                  <a:pt x="5391055" y="533398"/>
                </a:lnTo>
                <a:cubicBezTo>
                  <a:pt x="5391055" y="554441"/>
                  <a:pt x="5373996" y="571500"/>
                  <a:pt x="5352953" y="571500"/>
                </a:cubicBez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628484" y="5599714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7" name="Text 15"/>
          <p:cNvSpPr/>
          <p:nvPr/>
        </p:nvSpPr>
        <p:spPr>
          <a:xfrm>
            <a:off x="799822" y="5752095"/>
            <a:ext cx="5153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BLOCK_M = 128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1102" y="5599714"/>
            <a:ext cx="5391055" cy="571500"/>
          </a:xfrm>
          <a:custGeom>
            <a:avLst/>
            <a:gdLst/>
            <a:ahLst/>
            <a:cxnLst/>
            <a:rect l="l" t="t" r="r" b="b"/>
            <a:pathLst>
              <a:path w="5391055" h="571500">
                <a:moveTo>
                  <a:pt x="37910" y="0"/>
                </a:moveTo>
                <a:lnTo>
                  <a:pt x="5352953" y="0"/>
                </a:lnTo>
                <a:cubicBezTo>
                  <a:pt x="5373996" y="0"/>
                  <a:pt x="5391055" y="17059"/>
                  <a:pt x="5391055" y="38102"/>
                </a:cubicBezTo>
                <a:lnTo>
                  <a:pt x="5391055" y="533398"/>
                </a:lnTo>
                <a:cubicBezTo>
                  <a:pt x="5391055" y="554441"/>
                  <a:pt x="5373996" y="571500"/>
                  <a:pt x="5352953" y="571500"/>
                </a:cubicBez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6191102" y="5599714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0" name="Text 18"/>
          <p:cNvSpPr/>
          <p:nvPr/>
        </p:nvSpPr>
        <p:spPr>
          <a:xfrm>
            <a:off x="6362440" y="5752095"/>
            <a:ext cx="5153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BLOCK_N = 128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0956" y="6552140"/>
            <a:ext cx="11487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6394" y="60933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Multi-dimensional program_id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1257114"/>
            <a:ext cx="11430000" cy="1714500"/>
          </a:xfrm>
          <a:custGeom>
            <a:avLst/>
            <a:gdLst/>
            <a:ahLst/>
            <a:cxnLst/>
            <a:rect l="l" t="t" r="r" b="b"/>
            <a:pathLst>
              <a:path w="11430000" h="1714500">
                <a:moveTo>
                  <a:pt x="76192" y="0"/>
                </a:moveTo>
                <a:lnTo>
                  <a:pt x="11353808" y="0"/>
                </a:lnTo>
                <a:cubicBezTo>
                  <a:pt x="11395888" y="0"/>
                  <a:pt x="11430000" y="34112"/>
                  <a:pt x="11430000" y="76192"/>
                </a:cubicBezTo>
                <a:lnTo>
                  <a:pt x="11430000" y="1638308"/>
                </a:lnTo>
                <a:cubicBezTo>
                  <a:pt x="11430000" y="1680388"/>
                  <a:pt x="11395888" y="1714500"/>
                  <a:pt x="11353808" y="1714500"/>
                </a:cubicBezTo>
                <a:lnTo>
                  <a:pt x="76192" y="1714500"/>
                </a:lnTo>
                <a:cubicBezTo>
                  <a:pt x="34112" y="1714500"/>
                  <a:pt x="0" y="1680388"/>
                  <a:pt x="0" y="1638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Text 3"/>
          <p:cNvSpPr/>
          <p:nvPr/>
        </p:nvSpPr>
        <p:spPr>
          <a:xfrm>
            <a:off x="609529" y="1485686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Get program ID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8484" y="1904777"/>
            <a:ext cx="10953655" cy="838200"/>
          </a:xfrm>
          <a:custGeom>
            <a:avLst/>
            <a:gdLst/>
            <a:ahLst/>
            <a:cxnLst/>
            <a:rect l="l" t="t" r="r" b="b"/>
            <a:pathLst>
              <a:path w="10953655" h="838200">
                <a:moveTo>
                  <a:pt x="37910" y="0"/>
                </a:moveTo>
                <a:lnTo>
                  <a:pt x="10915559" y="0"/>
                </a:lnTo>
                <a:cubicBezTo>
                  <a:pt x="10936599" y="0"/>
                  <a:pt x="10953655" y="17056"/>
                  <a:pt x="10953655" y="38096"/>
                </a:cubicBezTo>
                <a:lnTo>
                  <a:pt x="10953655" y="800104"/>
                </a:lnTo>
                <a:cubicBezTo>
                  <a:pt x="10953655" y="821144"/>
                  <a:pt x="10936599" y="838200"/>
                  <a:pt x="10915559" y="838200"/>
                </a:cubicBezTo>
                <a:lnTo>
                  <a:pt x="37910" y="838200"/>
                </a:lnTo>
                <a:cubicBezTo>
                  <a:pt x="16973" y="838200"/>
                  <a:pt x="0" y="821227"/>
                  <a:pt x="0" y="800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7" name="Shape 5"/>
          <p:cNvSpPr/>
          <p:nvPr/>
        </p:nvSpPr>
        <p:spPr>
          <a:xfrm>
            <a:off x="628484" y="1904777"/>
            <a:ext cx="37910" cy="838200"/>
          </a:xfrm>
          <a:custGeom>
            <a:avLst/>
            <a:gdLst/>
            <a:ahLst/>
            <a:cxnLst/>
            <a:rect l="l" t="t" r="r" b="b"/>
            <a:pathLst>
              <a:path w="37910" h="838200">
                <a:moveTo>
                  <a:pt x="37910" y="0"/>
                </a:moveTo>
                <a:lnTo>
                  <a:pt x="37910" y="0"/>
                </a:lnTo>
                <a:lnTo>
                  <a:pt x="37910" y="838200"/>
                </a:lnTo>
                <a:lnTo>
                  <a:pt x="37910" y="838200"/>
                </a:lnTo>
                <a:cubicBezTo>
                  <a:pt x="16973" y="838200"/>
                  <a:pt x="0" y="821227"/>
                  <a:pt x="0" y="8002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6"/>
          <p:cNvSpPr/>
          <p:nvPr/>
        </p:nvSpPr>
        <p:spPr>
          <a:xfrm>
            <a:off x="609529" y="1904777"/>
            <a:ext cx="11010900" cy="838200"/>
          </a:xfrm>
          <a:prstGeom prst="rect">
            <a:avLst/>
          </a:prstGeom>
          <a:noFill/>
        </p:spPr>
        <p:txBody>
          <a:bodyPr wrap="square" lIns="190500" tIns="190500" rIns="190500" bIns="1905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pid_m = tl.program_id(0)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pid_n = tl.program_id(1)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0956" y="3199954"/>
            <a:ext cx="11430000" cy="1905000"/>
          </a:xfrm>
          <a:custGeom>
            <a:avLst/>
            <a:gdLst/>
            <a:ahLst/>
            <a:cxnLst/>
            <a:rect l="l" t="t" r="r" b="b"/>
            <a:pathLst>
              <a:path w="11430000" h="1905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828800"/>
                </a:lnTo>
                <a:cubicBezTo>
                  <a:pt x="11430000" y="1870856"/>
                  <a:pt x="11395856" y="1905000"/>
                  <a:pt x="11353800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609529" y="3428526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Purpose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529" y="3847616"/>
            <a:ext cx="10972800" cy="1028700"/>
          </a:xfrm>
          <a:custGeom>
            <a:avLst/>
            <a:gdLst/>
            <a:ahLst/>
            <a:cxnLst/>
            <a:rect l="l" t="t" r="r" b="b"/>
            <a:pathLst>
              <a:path w="10972800" h="1028700">
                <a:moveTo>
                  <a:pt x="38103" y="0"/>
                </a:moveTo>
                <a:lnTo>
                  <a:pt x="10934697" y="0"/>
                </a:lnTo>
                <a:cubicBezTo>
                  <a:pt x="10955741" y="0"/>
                  <a:pt x="10972800" y="17059"/>
                  <a:pt x="10972800" y="38103"/>
                </a:cubicBezTo>
                <a:lnTo>
                  <a:pt x="10972800" y="990597"/>
                </a:lnTo>
                <a:cubicBezTo>
                  <a:pt x="10972800" y="1011641"/>
                  <a:pt x="10955741" y="1028700"/>
                  <a:pt x="10934697" y="1028700"/>
                </a:cubicBezTo>
                <a:lnTo>
                  <a:pt x="38103" y="1028700"/>
                </a:lnTo>
                <a:cubicBezTo>
                  <a:pt x="17059" y="1028700"/>
                  <a:pt x="0" y="1011641"/>
                  <a:pt x="0" y="9905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Text 10"/>
          <p:cNvSpPr/>
          <p:nvPr/>
        </p:nvSpPr>
        <p:spPr>
          <a:xfrm>
            <a:off x="742820" y="4038051"/>
            <a:ext cx="10706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Determine tile position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2345" y="4418940"/>
            <a:ext cx="10687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 block index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0956" y="5333228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5" name="Text 13"/>
          <p:cNvSpPr/>
          <p:nvPr/>
        </p:nvSpPr>
        <p:spPr>
          <a:xfrm>
            <a:off x="571396" y="5523672"/>
            <a:ext cx="530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pid_m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396" y="5866563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Program ID in the M dimension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0279" y="5333228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8" name="Text 16"/>
          <p:cNvSpPr/>
          <p:nvPr/>
        </p:nvSpPr>
        <p:spPr>
          <a:xfrm>
            <a:off x="6400720" y="5523672"/>
            <a:ext cx="530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pid_n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720" y="5866563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Program ID in the N dimension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0956" y="6437961"/>
            <a:ext cx="11487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6394" y="647588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Compute Tile Indices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1409942"/>
            <a:ext cx="11430000" cy="1943100"/>
          </a:xfrm>
          <a:custGeom>
            <a:avLst/>
            <a:gdLst/>
            <a:ahLst/>
            <a:cxnLst/>
            <a:rect l="l" t="t" r="r" b="b"/>
            <a:pathLst>
              <a:path w="11430000" h="1943100">
                <a:moveTo>
                  <a:pt x="76208" y="0"/>
                </a:moveTo>
                <a:lnTo>
                  <a:pt x="11353792" y="0"/>
                </a:lnTo>
                <a:cubicBezTo>
                  <a:pt x="11395880" y="0"/>
                  <a:pt x="11430000" y="34120"/>
                  <a:pt x="11430000" y="76208"/>
                </a:cubicBezTo>
                <a:lnTo>
                  <a:pt x="11430000" y="1866892"/>
                </a:lnTo>
                <a:cubicBezTo>
                  <a:pt x="11430000" y="1908980"/>
                  <a:pt x="11395880" y="1943100"/>
                  <a:pt x="113537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Text 3"/>
          <p:cNvSpPr/>
          <p:nvPr/>
        </p:nvSpPr>
        <p:spPr>
          <a:xfrm>
            <a:off x="609529" y="1638514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Compute offsets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8484" y="2057605"/>
            <a:ext cx="10953655" cy="1066800"/>
          </a:xfrm>
          <a:custGeom>
            <a:avLst/>
            <a:gdLst/>
            <a:ahLst/>
            <a:cxnLst/>
            <a:rect l="l" t="t" r="r" b="b"/>
            <a:pathLst>
              <a:path w="10953655" h="1066800">
                <a:moveTo>
                  <a:pt x="37910" y="0"/>
                </a:moveTo>
                <a:lnTo>
                  <a:pt x="10915560" y="0"/>
                </a:lnTo>
                <a:cubicBezTo>
                  <a:pt x="10936585" y="0"/>
                  <a:pt x="10953655" y="17070"/>
                  <a:pt x="10953655" y="38095"/>
                </a:cubicBezTo>
                <a:lnTo>
                  <a:pt x="10953655" y="1028705"/>
                </a:lnTo>
                <a:cubicBezTo>
                  <a:pt x="10953655" y="1049730"/>
                  <a:pt x="10936585" y="1066800"/>
                  <a:pt x="10915560" y="1066800"/>
                </a:cubicBezTo>
                <a:lnTo>
                  <a:pt x="37910" y="1066800"/>
                </a:lnTo>
                <a:cubicBezTo>
                  <a:pt x="16973" y="1066800"/>
                  <a:pt x="0" y="1049827"/>
                  <a:pt x="0" y="10288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7" name="Shape 5"/>
          <p:cNvSpPr/>
          <p:nvPr/>
        </p:nvSpPr>
        <p:spPr>
          <a:xfrm>
            <a:off x="628484" y="2057605"/>
            <a:ext cx="37910" cy="1066800"/>
          </a:xfrm>
          <a:custGeom>
            <a:avLst/>
            <a:gdLst/>
            <a:ahLst/>
            <a:cxnLst/>
            <a:rect l="l" t="t" r="r" b="b"/>
            <a:pathLst>
              <a:path w="37910" h="1066800">
                <a:moveTo>
                  <a:pt x="37910" y="0"/>
                </a:moveTo>
                <a:lnTo>
                  <a:pt x="37910" y="0"/>
                </a:lnTo>
                <a:lnTo>
                  <a:pt x="37910" y="1066800"/>
                </a:lnTo>
                <a:lnTo>
                  <a:pt x="37910" y="1066800"/>
                </a:lnTo>
                <a:cubicBezTo>
                  <a:pt x="16973" y="1066800"/>
                  <a:pt x="0" y="1049827"/>
                  <a:pt x="0" y="10288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6"/>
          <p:cNvSpPr/>
          <p:nvPr/>
        </p:nvSpPr>
        <p:spPr>
          <a:xfrm>
            <a:off x="609529" y="2057605"/>
            <a:ext cx="11010900" cy="1066800"/>
          </a:xfrm>
          <a:prstGeom prst="rect">
            <a:avLst/>
          </a:prstGeom>
          <a:noFill/>
        </p:spPr>
        <p:txBody>
          <a:bodyPr wrap="square" lIns="190500" tIns="190500" rIns="190500" bIns="1905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offs_m = pid_m * BLOCK_M + tl.arange(0, BLOCK_M)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offs_n = pid_n * BLOCK_N + tl.arange(0, BLOCK_N)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0956" y="3581353"/>
            <a:ext cx="11430000" cy="1562100"/>
          </a:xfrm>
          <a:custGeom>
            <a:avLst/>
            <a:gdLst/>
            <a:ahLst/>
            <a:cxnLst/>
            <a:rect l="l" t="t" r="r" b="b"/>
            <a:pathLst>
              <a:path w="11430000" h="15621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1485901"/>
                </a:lnTo>
                <a:cubicBezTo>
                  <a:pt x="11430000" y="1527984"/>
                  <a:pt x="11395884" y="1562100"/>
                  <a:pt x="113538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609529" y="3809926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Represents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529" y="4229016"/>
            <a:ext cx="10972800" cy="685800"/>
          </a:xfrm>
          <a:custGeom>
            <a:avLst/>
            <a:gdLst/>
            <a:ahLst/>
            <a:cxnLst/>
            <a:rect l="l" t="t" r="r" b="b"/>
            <a:pathLst>
              <a:path w="10972800" h="685800">
                <a:moveTo>
                  <a:pt x="38103" y="0"/>
                </a:moveTo>
                <a:lnTo>
                  <a:pt x="10934697" y="0"/>
                </a:lnTo>
                <a:cubicBezTo>
                  <a:pt x="10955741" y="0"/>
                  <a:pt x="10972800" y="17059"/>
                  <a:pt x="10972800" y="38103"/>
                </a:cubicBezTo>
                <a:lnTo>
                  <a:pt x="10972800" y="647697"/>
                </a:lnTo>
                <a:cubicBezTo>
                  <a:pt x="10972800" y="668741"/>
                  <a:pt x="10955741" y="685800"/>
                  <a:pt x="1093469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Text 10"/>
          <p:cNvSpPr/>
          <p:nvPr/>
        </p:nvSpPr>
        <p:spPr>
          <a:xfrm>
            <a:off x="742820" y="4419451"/>
            <a:ext cx="10706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Current tile row/column position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0956" y="5371728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4" name="Text 12"/>
          <p:cNvSpPr/>
          <p:nvPr/>
        </p:nvSpPr>
        <p:spPr>
          <a:xfrm>
            <a:off x="571396" y="5562172"/>
            <a:ext cx="530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offs_m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396" y="5905072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Offset array in M dimension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0279" y="5371728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7" name="Text 15"/>
          <p:cNvSpPr/>
          <p:nvPr/>
        </p:nvSpPr>
        <p:spPr>
          <a:xfrm>
            <a:off x="6400720" y="5562172"/>
            <a:ext cx="530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offs_n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720" y="5905072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Offset array in N dimension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6394" y="609842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Loop over K Dimension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1447921"/>
            <a:ext cx="11430000" cy="1524000"/>
          </a:xfrm>
          <a:custGeom>
            <a:avLst/>
            <a:gdLst/>
            <a:ahLst/>
            <a:cxnLst/>
            <a:rect l="l" t="t" r="r" b="b"/>
            <a:pathLst>
              <a:path w="11430000" h="1524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447800"/>
                </a:lnTo>
                <a:cubicBezTo>
                  <a:pt x="11430000" y="1489856"/>
                  <a:pt x="11395856" y="1524000"/>
                  <a:pt x="1135380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Text 3"/>
          <p:cNvSpPr/>
          <p:nvPr/>
        </p:nvSpPr>
        <p:spPr>
          <a:xfrm>
            <a:off x="609529" y="1676493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Core Loop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8484" y="2095584"/>
            <a:ext cx="10953655" cy="647700"/>
          </a:xfrm>
          <a:custGeom>
            <a:avLst/>
            <a:gdLst/>
            <a:ahLst/>
            <a:cxnLst/>
            <a:rect l="l" t="t" r="r" b="b"/>
            <a:pathLst>
              <a:path w="10953655" h="647700">
                <a:moveTo>
                  <a:pt x="37910" y="0"/>
                </a:moveTo>
                <a:lnTo>
                  <a:pt x="10915558" y="0"/>
                </a:lnTo>
                <a:cubicBezTo>
                  <a:pt x="10936584" y="0"/>
                  <a:pt x="10953655" y="17071"/>
                  <a:pt x="10953655" y="38098"/>
                </a:cubicBezTo>
                <a:lnTo>
                  <a:pt x="10953655" y="609602"/>
                </a:lnTo>
                <a:cubicBezTo>
                  <a:pt x="10953655" y="630643"/>
                  <a:pt x="10936598" y="647700"/>
                  <a:pt x="10915558" y="647700"/>
                </a:cubicBezTo>
                <a:lnTo>
                  <a:pt x="37910" y="647700"/>
                </a:lnTo>
                <a:cubicBezTo>
                  <a:pt x="16973" y="647700"/>
                  <a:pt x="0" y="630727"/>
                  <a:pt x="0" y="609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7" name="Shape 5"/>
          <p:cNvSpPr/>
          <p:nvPr/>
        </p:nvSpPr>
        <p:spPr>
          <a:xfrm>
            <a:off x="628484" y="2095584"/>
            <a:ext cx="37910" cy="647700"/>
          </a:xfrm>
          <a:custGeom>
            <a:avLst/>
            <a:gdLst/>
            <a:ahLst/>
            <a:cxnLst/>
            <a:rect l="l" t="t" r="r" b="b"/>
            <a:pathLst>
              <a:path w="37910" h="647700">
                <a:moveTo>
                  <a:pt x="37910" y="0"/>
                </a:moveTo>
                <a:lnTo>
                  <a:pt x="37910" y="0"/>
                </a:lnTo>
                <a:lnTo>
                  <a:pt x="37910" y="647700"/>
                </a:lnTo>
                <a:lnTo>
                  <a:pt x="37910" y="647700"/>
                </a:lnTo>
                <a:cubicBezTo>
                  <a:pt x="16973" y="647700"/>
                  <a:pt x="0" y="630727"/>
                  <a:pt x="0" y="609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6"/>
          <p:cNvSpPr/>
          <p:nvPr/>
        </p:nvSpPr>
        <p:spPr>
          <a:xfrm>
            <a:off x="609529" y="2095584"/>
            <a:ext cx="11020425" cy="647700"/>
          </a:xfrm>
          <a:prstGeom prst="rect">
            <a:avLst/>
          </a:prstGeom>
          <a:noFill/>
        </p:spPr>
        <p:txBody>
          <a:bodyPr wrap="square" lIns="190500" tIns="190500" rIns="190500" bIns="19050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for k in range(0, K, BLOCK_K):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0956" y="3200316"/>
            <a:ext cx="11430000" cy="1447800"/>
          </a:xfrm>
          <a:custGeom>
            <a:avLst/>
            <a:gdLst/>
            <a:ahLst/>
            <a:cxnLst/>
            <a:rect l="l" t="t" r="r" b="b"/>
            <a:pathLst>
              <a:path w="11430000" h="1447800">
                <a:moveTo>
                  <a:pt x="76198" y="0"/>
                </a:moveTo>
                <a:lnTo>
                  <a:pt x="11353802" y="0"/>
                </a:lnTo>
                <a:cubicBezTo>
                  <a:pt x="11395857" y="0"/>
                  <a:pt x="11430000" y="34143"/>
                  <a:pt x="11430000" y="76198"/>
                </a:cubicBezTo>
                <a:lnTo>
                  <a:pt x="11430000" y="1371602"/>
                </a:lnTo>
                <a:cubicBezTo>
                  <a:pt x="11430000" y="1413657"/>
                  <a:pt x="11395857" y="1447800"/>
                  <a:pt x="11353802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609529" y="3428898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Each iteration performs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529" y="3847979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8102" y="0"/>
                </a:moveTo>
                <a:lnTo>
                  <a:pt x="3514723" y="0"/>
                </a:lnTo>
                <a:cubicBezTo>
                  <a:pt x="3535766" y="0"/>
                  <a:pt x="3552825" y="17059"/>
                  <a:pt x="3552825" y="38102"/>
                </a:cubicBezTo>
                <a:lnTo>
                  <a:pt x="3552825" y="533398"/>
                </a:lnTo>
                <a:cubicBezTo>
                  <a:pt x="3552825" y="554441"/>
                  <a:pt x="3535766" y="571500"/>
                  <a:pt x="35147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719049" y="4000360"/>
            <a:ext cx="3333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bg1">
                    <a:lumMod val="65000"/>
                  </a:schemeClr>
                </a:solidFill>
                <a:latin typeface="+mn-ea"/>
                <a:cs typeface="MiSans" panose="00000500000000000000" pitchFamily="34" charset="-120"/>
              </a:rPr>
              <a:t>Load Tile A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17941" y="3847979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8102" y="0"/>
                </a:moveTo>
                <a:lnTo>
                  <a:pt x="3514723" y="0"/>
                </a:lnTo>
                <a:cubicBezTo>
                  <a:pt x="3535766" y="0"/>
                  <a:pt x="3552825" y="17059"/>
                  <a:pt x="3552825" y="38102"/>
                </a:cubicBezTo>
                <a:lnTo>
                  <a:pt x="3552825" y="533398"/>
                </a:lnTo>
                <a:cubicBezTo>
                  <a:pt x="3552825" y="554441"/>
                  <a:pt x="3535766" y="571500"/>
                  <a:pt x="35147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4427461" y="4000360"/>
            <a:ext cx="3333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bg1">
                    <a:lumMod val="65000"/>
                  </a:schemeClr>
                </a:solidFill>
                <a:latin typeface="+mn-ea"/>
                <a:cs typeface="MiSans" panose="00000500000000000000" pitchFamily="34" charset="-120"/>
              </a:rPr>
              <a:t>Load Tile B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26353" y="3847979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8102" y="0"/>
                </a:moveTo>
                <a:lnTo>
                  <a:pt x="3514723" y="0"/>
                </a:lnTo>
                <a:cubicBezTo>
                  <a:pt x="3535766" y="0"/>
                  <a:pt x="3552825" y="17059"/>
                  <a:pt x="3552825" y="38102"/>
                </a:cubicBezTo>
                <a:lnTo>
                  <a:pt x="3552825" y="533398"/>
                </a:lnTo>
                <a:cubicBezTo>
                  <a:pt x="3552825" y="554441"/>
                  <a:pt x="3535766" y="571500"/>
                  <a:pt x="35147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8135872" y="4000360"/>
            <a:ext cx="3333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bg1">
                    <a:lumMod val="65000"/>
                  </a:schemeClr>
                </a:solidFill>
                <a:latin typeface="+mn-ea"/>
                <a:cs typeface="MiSans" panose="00000500000000000000" pitchFamily="34" charset="-120"/>
              </a:rPr>
              <a:t>Accumulate result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80956" y="4876595"/>
            <a:ext cx="11430000" cy="1409700"/>
          </a:xfrm>
          <a:custGeom>
            <a:avLst/>
            <a:gdLst/>
            <a:ahLst/>
            <a:cxnLst/>
            <a:rect l="l" t="t" r="r" b="b"/>
            <a:pathLst>
              <a:path w="11430000" h="1409700">
                <a:moveTo>
                  <a:pt x="76194" y="0"/>
                </a:moveTo>
                <a:lnTo>
                  <a:pt x="11353806" y="0"/>
                </a:lnTo>
                <a:cubicBezTo>
                  <a:pt x="11395858" y="0"/>
                  <a:pt x="11430000" y="34142"/>
                  <a:pt x="11430000" y="76194"/>
                </a:cubicBezTo>
                <a:lnTo>
                  <a:pt x="11430000" y="1333506"/>
                </a:lnTo>
                <a:cubicBezTo>
                  <a:pt x="11430000" y="1375587"/>
                  <a:pt x="11395887" y="1409700"/>
                  <a:pt x="1135380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8" name="Shape 16"/>
          <p:cNvSpPr/>
          <p:nvPr/>
        </p:nvSpPr>
        <p:spPr>
          <a:xfrm>
            <a:off x="633341" y="51336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Text 17"/>
          <p:cNvSpPr/>
          <p:nvPr/>
        </p:nvSpPr>
        <p:spPr>
          <a:xfrm>
            <a:off x="904804" y="5105167"/>
            <a:ext cx="10772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Loop Characteristics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8484" y="5524258"/>
            <a:ext cx="5391055" cy="533400"/>
          </a:xfrm>
          <a:custGeom>
            <a:avLst/>
            <a:gdLst/>
            <a:ahLst/>
            <a:cxnLst/>
            <a:rect l="l" t="t" r="r" b="b"/>
            <a:pathLst>
              <a:path w="5391055" h="533400">
                <a:moveTo>
                  <a:pt x="37910" y="0"/>
                </a:moveTo>
                <a:lnTo>
                  <a:pt x="5352954" y="0"/>
                </a:lnTo>
                <a:cubicBezTo>
                  <a:pt x="5373997" y="0"/>
                  <a:pt x="5391055" y="17058"/>
                  <a:pt x="5391055" y="38101"/>
                </a:cubicBezTo>
                <a:lnTo>
                  <a:pt x="5391055" y="495299"/>
                </a:lnTo>
                <a:cubicBezTo>
                  <a:pt x="5391055" y="516342"/>
                  <a:pt x="5373997" y="533400"/>
                  <a:pt x="5352954" y="533400"/>
                </a:cubicBezTo>
                <a:lnTo>
                  <a:pt x="37910" y="533400"/>
                </a:lnTo>
                <a:cubicBezTo>
                  <a:pt x="16973" y="533400"/>
                  <a:pt x="0" y="516427"/>
                  <a:pt x="0" y="495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Shape 19"/>
          <p:cNvSpPr/>
          <p:nvPr/>
        </p:nvSpPr>
        <p:spPr>
          <a:xfrm>
            <a:off x="628484" y="5524258"/>
            <a:ext cx="37910" cy="533400"/>
          </a:xfrm>
          <a:custGeom>
            <a:avLst/>
            <a:gdLst/>
            <a:ahLst/>
            <a:cxnLst/>
            <a:rect l="l" t="t" r="r" b="b"/>
            <a:pathLst>
              <a:path w="37910" h="533400">
                <a:moveTo>
                  <a:pt x="37910" y="0"/>
                </a:moveTo>
                <a:lnTo>
                  <a:pt x="37910" y="0"/>
                </a:lnTo>
                <a:lnTo>
                  <a:pt x="37910" y="533400"/>
                </a:lnTo>
                <a:lnTo>
                  <a:pt x="37910" y="533400"/>
                </a:lnTo>
                <a:cubicBezTo>
                  <a:pt x="16973" y="533400"/>
                  <a:pt x="0" y="516427"/>
                  <a:pt x="0" y="495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Text 20"/>
          <p:cNvSpPr/>
          <p:nvPr/>
        </p:nvSpPr>
        <p:spPr>
          <a:xfrm>
            <a:off x="799822" y="5676640"/>
            <a:ext cx="5143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Step size is BLOCK_K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102" y="5524258"/>
            <a:ext cx="5391055" cy="533400"/>
          </a:xfrm>
          <a:custGeom>
            <a:avLst/>
            <a:gdLst/>
            <a:ahLst/>
            <a:cxnLst/>
            <a:rect l="l" t="t" r="r" b="b"/>
            <a:pathLst>
              <a:path w="5391055" h="533400">
                <a:moveTo>
                  <a:pt x="37910" y="0"/>
                </a:moveTo>
                <a:lnTo>
                  <a:pt x="5352954" y="0"/>
                </a:lnTo>
                <a:cubicBezTo>
                  <a:pt x="5373997" y="0"/>
                  <a:pt x="5391055" y="17058"/>
                  <a:pt x="5391055" y="38101"/>
                </a:cubicBezTo>
                <a:lnTo>
                  <a:pt x="5391055" y="495299"/>
                </a:lnTo>
                <a:cubicBezTo>
                  <a:pt x="5391055" y="516342"/>
                  <a:pt x="5373997" y="533400"/>
                  <a:pt x="5352954" y="533400"/>
                </a:cubicBezTo>
                <a:lnTo>
                  <a:pt x="37910" y="533400"/>
                </a:lnTo>
                <a:cubicBezTo>
                  <a:pt x="16973" y="533400"/>
                  <a:pt x="0" y="516427"/>
                  <a:pt x="0" y="495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6191102" y="5524258"/>
            <a:ext cx="37910" cy="533400"/>
          </a:xfrm>
          <a:custGeom>
            <a:avLst/>
            <a:gdLst/>
            <a:ahLst/>
            <a:cxnLst/>
            <a:rect l="l" t="t" r="r" b="b"/>
            <a:pathLst>
              <a:path w="37910" h="533400">
                <a:moveTo>
                  <a:pt x="37910" y="0"/>
                </a:moveTo>
                <a:lnTo>
                  <a:pt x="37910" y="0"/>
                </a:lnTo>
                <a:lnTo>
                  <a:pt x="37910" y="533400"/>
                </a:lnTo>
                <a:lnTo>
                  <a:pt x="37910" y="533400"/>
                </a:lnTo>
                <a:cubicBezTo>
                  <a:pt x="16973" y="533400"/>
                  <a:pt x="0" y="516427"/>
                  <a:pt x="0" y="495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5" name="Text 23"/>
          <p:cNvSpPr/>
          <p:nvPr/>
        </p:nvSpPr>
        <p:spPr>
          <a:xfrm>
            <a:off x="6362440" y="5676640"/>
            <a:ext cx="5143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Covers the entire K dimension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6394" y="590355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Local Accumulation (Accumulator)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1257114"/>
            <a:ext cx="11430000" cy="1485900"/>
          </a:xfrm>
          <a:custGeom>
            <a:avLst/>
            <a:gdLst/>
            <a:ahLst/>
            <a:cxnLst/>
            <a:rect l="l" t="t" r="r" b="b"/>
            <a:pathLst>
              <a:path w="11430000" h="14859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409703"/>
                </a:lnTo>
                <a:cubicBezTo>
                  <a:pt x="11430000" y="1451785"/>
                  <a:pt x="11395885" y="1485900"/>
                  <a:pt x="113538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Text 3"/>
          <p:cNvSpPr/>
          <p:nvPr/>
        </p:nvSpPr>
        <p:spPr>
          <a:xfrm>
            <a:off x="609529" y="1485686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Use an accumulator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8484" y="1904777"/>
            <a:ext cx="10953655" cy="609600"/>
          </a:xfrm>
          <a:custGeom>
            <a:avLst/>
            <a:gdLst/>
            <a:ahLst/>
            <a:cxnLst/>
            <a:rect l="l" t="t" r="r" b="b"/>
            <a:pathLst>
              <a:path w="10953655" h="609600">
                <a:moveTo>
                  <a:pt x="37910" y="0"/>
                </a:moveTo>
                <a:lnTo>
                  <a:pt x="10915555" y="0"/>
                </a:lnTo>
                <a:cubicBezTo>
                  <a:pt x="10936583" y="0"/>
                  <a:pt x="10953655" y="17072"/>
                  <a:pt x="10953655" y="38100"/>
                </a:cubicBezTo>
                <a:lnTo>
                  <a:pt x="10953655" y="571500"/>
                </a:lnTo>
                <a:cubicBezTo>
                  <a:pt x="10953655" y="592528"/>
                  <a:pt x="10936583" y="609600"/>
                  <a:pt x="10915555" y="609600"/>
                </a:cubicBezTo>
                <a:lnTo>
                  <a:pt x="37910" y="609600"/>
                </a:lnTo>
                <a:cubicBezTo>
                  <a:pt x="16973" y="609600"/>
                  <a:pt x="0" y="592627"/>
                  <a:pt x="0" y="5716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7" name="Shape 5"/>
          <p:cNvSpPr/>
          <p:nvPr/>
        </p:nvSpPr>
        <p:spPr>
          <a:xfrm>
            <a:off x="628484" y="1904777"/>
            <a:ext cx="37910" cy="609600"/>
          </a:xfrm>
          <a:custGeom>
            <a:avLst/>
            <a:gdLst/>
            <a:ahLst/>
            <a:cxnLst/>
            <a:rect l="l" t="t" r="r" b="b"/>
            <a:pathLst>
              <a:path w="37910" h="609600">
                <a:moveTo>
                  <a:pt x="37910" y="0"/>
                </a:moveTo>
                <a:lnTo>
                  <a:pt x="37910" y="0"/>
                </a:lnTo>
                <a:lnTo>
                  <a:pt x="37910" y="609600"/>
                </a:lnTo>
                <a:lnTo>
                  <a:pt x="37910" y="609600"/>
                </a:lnTo>
                <a:cubicBezTo>
                  <a:pt x="16973" y="609600"/>
                  <a:pt x="0" y="592627"/>
                  <a:pt x="0" y="5716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6"/>
          <p:cNvSpPr/>
          <p:nvPr/>
        </p:nvSpPr>
        <p:spPr>
          <a:xfrm>
            <a:off x="609529" y="1904777"/>
            <a:ext cx="11010900" cy="609600"/>
          </a:xfrm>
          <a:prstGeom prst="rect">
            <a:avLst/>
          </a:prstGeom>
          <a:noFill/>
        </p:spPr>
        <p:txBody>
          <a:bodyPr wrap="square" lIns="190500" tIns="190500" rIns="190500" bIns="1905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acc = tl.zeros((BLOCK_M, BLOCK_N))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0956" y="2971372"/>
            <a:ext cx="11430000" cy="1485900"/>
          </a:xfrm>
          <a:custGeom>
            <a:avLst/>
            <a:gdLst/>
            <a:ahLst/>
            <a:cxnLst/>
            <a:rect l="l" t="t" r="r" b="b"/>
            <a:pathLst>
              <a:path w="11430000" h="14859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409703"/>
                </a:lnTo>
                <a:cubicBezTo>
                  <a:pt x="11430000" y="1451785"/>
                  <a:pt x="11395885" y="1485900"/>
                  <a:pt x="113538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0" name="Text 8"/>
          <p:cNvSpPr/>
          <p:nvPr/>
        </p:nvSpPr>
        <p:spPr>
          <a:xfrm>
            <a:off x="609529" y="3199944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Update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484" y="3619035"/>
            <a:ext cx="10953655" cy="609600"/>
          </a:xfrm>
          <a:custGeom>
            <a:avLst/>
            <a:gdLst/>
            <a:ahLst/>
            <a:cxnLst/>
            <a:rect l="l" t="t" r="r" b="b"/>
            <a:pathLst>
              <a:path w="10953655" h="609600">
                <a:moveTo>
                  <a:pt x="37910" y="0"/>
                </a:moveTo>
                <a:lnTo>
                  <a:pt x="10915555" y="0"/>
                </a:lnTo>
                <a:cubicBezTo>
                  <a:pt x="10936583" y="0"/>
                  <a:pt x="10953655" y="17072"/>
                  <a:pt x="10953655" y="38100"/>
                </a:cubicBezTo>
                <a:lnTo>
                  <a:pt x="10953655" y="571500"/>
                </a:lnTo>
                <a:cubicBezTo>
                  <a:pt x="10953655" y="592528"/>
                  <a:pt x="10936583" y="609600"/>
                  <a:pt x="10915555" y="609600"/>
                </a:cubicBezTo>
                <a:lnTo>
                  <a:pt x="37910" y="609600"/>
                </a:lnTo>
                <a:cubicBezTo>
                  <a:pt x="16973" y="609600"/>
                  <a:pt x="0" y="592627"/>
                  <a:pt x="0" y="5716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12" name="Shape 10"/>
          <p:cNvSpPr/>
          <p:nvPr/>
        </p:nvSpPr>
        <p:spPr>
          <a:xfrm>
            <a:off x="628484" y="3619035"/>
            <a:ext cx="37910" cy="609600"/>
          </a:xfrm>
          <a:custGeom>
            <a:avLst/>
            <a:gdLst/>
            <a:ahLst/>
            <a:cxnLst/>
            <a:rect l="l" t="t" r="r" b="b"/>
            <a:pathLst>
              <a:path w="37910" h="609600">
                <a:moveTo>
                  <a:pt x="37910" y="0"/>
                </a:moveTo>
                <a:lnTo>
                  <a:pt x="37910" y="0"/>
                </a:lnTo>
                <a:lnTo>
                  <a:pt x="37910" y="609600"/>
                </a:lnTo>
                <a:lnTo>
                  <a:pt x="37910" y="609600"/>
                </a:lnTo>
                <a:cubicBezTo>
                  <a:pt x="16973" y="609600"/>
                  <a:pt x="0" y="592627"/>
                  <a:pt x="0" y="5716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Text 11"/>
          <p:cNvSpPr/>
          <p:nvPr/>
        </p:nvSpPr>
        <p:spPr>
          <a:xfrm>
            <a:off x="609529" y="3619035"/>
            <a:ext cx="11010900" cy="609600"/>
          </a:xfrm>
          <a:prstGeom prst="rect">
            <a:avLst/>
          </a:prstGeom>
          <a:noFill/>
        </p:spPr>
        <p:txBody>
          <a:bodyPr wrap="square" lIns="190500" tIns="190500" rIns="190500" bIns="1905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acc += tl.dot(a, b)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0956" y="4685640"/>
            <a:ext cx="11430000" cy="1905000"/>
          </a:xfrm>
          <a:custGeom>
            <a:avLst/>
            <a:gdLst/>
            <a:ahLst/>
            <a:cxnLst/>
            <a:rect l="l" t="t" r="r" b="b"/>
            <a:pathLst>
              <a:path w="11430000" h="1905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828800"/>
                </a:lnTo>
                <a:cubicBezTo>
                  <a:pt x="11430000" y="1870856"/>
                  <a:pt x="11395856" y="1905000"/>
                  <a:pt x="11353800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Text 14"/>
          <p:cNvSpPr/>
          <p:nvPr/>
        </p:nvSpPr>
        <p:spPr>
          <a:xfrm>
            <a:off x="904804" y="4914212"/>
            <a:ext cx="10772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529" y="5333302"/>
            <a:ext cx="10972800" cy="1028700"/>
          </a:xfrm>
          <a:custGeom>
            <a:avLst/>
            <a:gdLst/>
            <a:ahLst/>
            <a:cxnLst/>
            <a:rect l="l" t="t" r="r" b="b"/>
            <a:pathLst>
              <a:path w="10972800" h="1028700">
                <a:moveTo>
                  <a:pt x="38103" y="0"/>
                </a:moveTo>
                <a:lnTo>
                  <a:pt x="10934697" y="0"/>
                </a:lnTo>
                <a:cubicBezTo>
                  <a:pt x="10955741" y="0"/>
                  <a:pt x="10972800" y="17059"/>
                  <a:pt x="10972800" y="38103"/>
                </a:cubicBezTo>
                <a:lnTo>
                  <a:pt x="10972800" y="990597"/>
                </a:lnTo>
                <a:cubicBezTo>
                  <a:pt x="10972800" y="1011641"/>
                  <a:pt x="10955741" y="1028700"/>
                  <a:pt x="10934697" y="1028700"/>
                </a:cubicBezTo>
                <a:lnTo>
                  <a:pt x="38103" y="1028700"/>
                </a:lnTo>
                <a:cubicBezTo>
                  <a:pt x="17059" y="1028700"/>
                  <a:pt x="0" y="1011641"/>
                  <a:pt x="0" y="9905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Text 16"/>
          <p:cNvSpPr/>
          <p:nvPr/>
        </p:nvSpPr>
        <p:spPr>
          <a:xfrm>
            <a:off x="742820" y="5523737"/>
            <a:ext cx="10706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Avoids frequent writes to Global Memory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7107" y="5904626"/>
            <a:ext cx="10677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Reduces memory access count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6394" y="638138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Write Back to Global Memory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1390845"/>
            <a:ext cx="11430000" cy="1562100"/>
          </a:xfrm>
          <a:custGeom>
            <a:avLst/>
            <a:gdLst/>
            <a:ahLst/>
            <a:cxnLst/>
            <a:rect l="l" t="t" r="r" b="b"/>
            <a:pathLst>
              <a:path w="11430000" h="15621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1485901"/>
                </a:lnTo>
                <a:cubicBezTo>
                  <a:pt x="11430000" y="1527984"/>
                  <a:pt x="11395884" y="1562100"/>
                  <a:pt x="113538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Text 3"/>
          <p:cNvSpPr/>
          <p:nvPr/>
        </p:nvSpPr>
        <p:spPr>
          <a:xfrm>
            <a:off x="609529" y="1619417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After computation completes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29" y="2038508"/>
            <a:ext cx="10972800" cy="685800"/>
          </a:xfrm>
          <a:custGeom>
            <a:avLst/>
            <a:gdLst/>
            <a:ahLst/>
            <a:cxnLst/>
            <a:rect l="l" t="t" r="r" b="b"/>
            <a:pathLst>
              <a:path w="10972800" h="685800">
                <a:moveTo>
                  <a:pt x="76199" y="0"/>
                </a:moveTo>
                <a:lnTo>
                  <a:pt x="10896601" y="0"/>
                </a:lnTo>
                <a:cubicBezTo>
                  <a:pt x="10938684" y="0"/>
                  <a:pt x="10972800" y="34116"/>
                  <a:pt x="10972800" y="76199"/>
                </a:cubicBezTo>
                <a:lnTo>
                  <a:pt x="10972800" y="609601"/>
                </a:lnTo>
                <a:cubicBezTo>
                  <a:pt x="10972800" y="651684"/>
                  <a:pt x="10938684" y="685800"/>
                  <a:pt x="10896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742820" y="2228943"/>
            <a:ext cx="10706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Write back results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56" y="3181220"/>
            <a:ext cx="11430000" cy="1485900"/>
          </a:xfrm>
          <a:custGeom>
            <a:avLst/>
            <a:gdLst/>
            <a:ahLst/>
            <a:cxnLst/>
            <a:rect l="l" t="t" r="r" b="b"/>
            <a:pathLst>
              <a:path w="11430000" h="14859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409703"/>
                </a:lnTo>
                <a:cubicBezTo>
                  <a:pt x="11430000" y="1451785"/>
                  <a:pt x="11395885" y="1485900"/>
                  <a:pt x="113538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9" name="Text 7"/>
          <p:cNvSpPr/>
          <p:nvPr/>
        </p:nvSpPr>
        <p:spPr>
          <a:xfrm>
            <a:off x="609529" y="3409792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8484" y="3828883"/>
            <a:ext cx="10953655" cy="609600"/>
          </a:xfrm>
          <a:custGeom>
            <a:avLst/>
            <a:gdLst/>
            <a:ahLst/>
            <a:cxnLst/>
            <a:rect l="l" t="t" r="r" b="b"/>
            <a:pathLst>
              <a:path w="10953655" h="609600">
                <a:moveTo>
                  <a:pt x="37910" y="0"/>
                </a:moveTo>
                <a:lnTo>
                  <a:pt x="10915555" y="0"/>
                </a:lnTo>
                <a:cubicBezTo>
                  <a:pt x="10936583" y="0"/>
                  <a:pt x="10953655" y="17072"/>
                  <a:pt x="10953655" y="38100"/>
                </a:cubicBezTo>
                <a:lnTo>
                  <a:pt x="10953655" y="571500"/>
                </a:lnTo>
                <a:cubicBezTo>
                  <a:pt x="10953655" y="592528"/>
                  <a:pt x="10936583" y="609600"/>
                  <a:pt x="10915555" y="609600"/>
                </a:cubicBezTo>
                <a:lnTo>
                  <a:pt x="37910" y="609600"/>
                </a:lnTo>
                <a:cubicBezTo>
                  <a:pt x="16973" y="609600"/>
                  <a:pt x="0" y="592627"/>
                  <a:pt x="0" y="5716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11" name="Shape 9"/>
          <p:cNvSpPr/>
          <p:nvPr/>
        </p:nvSpPr>
        <p:spPr>
          <a:xfrm>
            <a:off x="628484" y="3828883"/>
            <a:ext cx="37910" cy="609600"/>
          </a:xfrm>
          <a:custGeom>
            <a:avLst/>
            <a:gdLst/>
            <a:ahLst/>
            <a:cxnLst/>
            <a:rect l="l" t="t" r="r" b="b"/>
            <a:pathLst>
              <a:path w="37910" h="609600">
                <a:moveTo>
                  <a:pt x="37910" y="0"/>
                </a:moveTo>
                <a:lnTo>
                  <a:pt x="37910" y="0"/>
                </a:lnTo>
                <a:lnTo>
                  <a:pt x="37910" y="609600"/>
                </a:lnTo>
                <a:lnTo>
                  <a:pt x="37910" y="609600"/>
                </a:lnTo>
                <a:cubicBezTo>
                  <a:pt x="16973" y="609600"/>
                  <a:pt x="0" y="592627"/>
                  <a:pt x="0" y="5716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Text 10"/>
          <p:cNvSpPr/>
          <p:nvPr/>
        </p:nvSpPr>
        <p:spPr>
          <a:xfrm>
            <a:off x="609529" y="3828883"/>
            <a:ext cx="11010900" cy="609600"/>
          </a:xfrm>
          <a:prstGeom prst="rect">
            <a:avLst/>
          </a:prstGeom>
          <a:noFill/>
        </p:spPr>
        <p:txBody>
          <a:bodyPr wrap="square" lIns="190500" tIns="190500" rIns="190500" bIns="1905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tl.store(C_ptr, acc)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0956" y="4895487"/>
            <a:ext cx="11430000" cy="1447800"/>
          </a:xfrm>
          <a:custGeom>
            <a:avLst/>
            <a:gdLst/>
            <a:ahLst/>
            <a:cxnLst/>
            <a:rect l="l" t="t" r="r" b="b"/>
            <a:pathLst>
              <a:path w="11430000" h="1447800">
                <a:moveTo>
                  <a:pt x="76198" y="0"/>
                </a:moveTo>
                <a:lnTo>
                  <a:pt x="11353802" y="0"/>
                </a:lnTo>
                <a:cubicBezTo>
                  <a:pt x="11395857" y="0"/>
                  <a:pt x="11430000" y="34143"/>
                  <a:pt x="11430000" y="76198"/>
                </a:cubicBezTo>
                <a:lnTo>
                  <a:pt x="11430000" y="1371602"/>
                </a:lnTo>
                <a:cubicBezTo>
                  <a:pt x="11430000" y="1413657"/>
                  <a:pt x="11395857" y="1447800"/>
                  <a:pt x="11353802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Text 13"/>
          <p:cNvSpPr/>
          <p:nvPr/>
        </p:nvSpPr>
        <p:spPr>
          <a:xfrm>
            <a:off x="904804" y="5124059"/>
            <a:ext cx="10772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529" y="5543150"/>
            <a:ext cx="5410200" cy="571500"/>
          </a:xfrm>
          <a:custGeom>
            <a:avLst/>
            <a:gdLst/>
            <a:ahLst/>
            <a:cxnLst/>
            <a:rect l="l" t="t" r="r" b="b"/>
            <a:pathLst>
              <a:path w="5410200" h="571500">
                <a:moveTo>
                  <a:pt x="38102" y="0"/>
                </a:moveTo>
                <a:lnTo>
                  <a:pt x="5372098" y="0"/>
                </a:lnTo>
                <a:cubicBezTo>
                  <a:pt x="5393141" y="0"/>
                  <a:pt x="5410200" y="17059"/>
                  <a:pt x="5410200" y="38102"/>
                </a:cubicBezTo>
                <a:lnTo>
                  <a:pt x="5410200" y="533398"/>
                </a:lnTo>
                <a:cubicBezTo>
                  <a:pt x="5410200" y="554441"/>
                  <a:pt x="5393141" y="571500"/>
                  <a:pt x="53720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Text 15"/>
          <p:cNvSpPr/>
          <p:nvPr/>
        </p:nvSpPr>
        <p:spPr>
          <a:xfrm>
            <a:off x="714286" y="5695531"/>
            <a:ext cx="520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Written only once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72147" y="5543150"/>
            <a:ext cx="5410200" cy="571500"/>
          </a:xfrm>
          <a:custGeom>
            <a:avLst/>
            <a:gdLst/>
            <a:ahLst/>
            <a:cxnLst/>
            <a:rect l="l" t="t" r="r" b="b"/>
            <a:pathLst>
              <a:path w="5410200" h="571500">
                <a:moveTo>
                  <a:pt x="38102" y="0"/>
                </a:moveTo>
                <a:lnTo>
                  <a:pt x="5372098" y="0"/>
                </a:lnTo>
                <a:cubicBezTo>
                  <a:pt x="5393141" y="0"/>
                  <a:pt x="5410200" y="17059"/>
                  <a:pt x="5410200" y="38102"/>
                </a:cubicBezTo>
                <a:lnTo>
                  <a:pt x="5410200" y="533398"/>
                </a:lnTo>
                <a:cubicBezTo>
                  <a:pt x="5410200" y="554441"/>
                  <a:pt x="5393141" y="571500"/>
                  <a:pt x="53720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9" name="Text 17"/>
          <p:cNvSpPr/>
          <p:nvPr/>
        </p:nvSpPr>
        <p:spPr>
          <a:xfrm>
            <a:off x="6276904" y="5695531"/>
            <a:ext cx="520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Reduces memory accesses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95141" y="619265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GPU Memory Limits and Streaming Computation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1657471"/>
            <a:ext cx="5562600" cy="2438400"/>
          </a:xfrm>
          <a:custGeom>
            <a:avLst/>
            <a:gdLst/>
            <a:ahLst/>
            <a:cxnLst/>
            <a:rect l="l" t="t" r="r" b="b"/>
            <a:pathLst>
              <a:path w="5562600" h="2438400">
                <a:moveTo>
                  <a:pt x="76200" y="0"/>
                </a:moveTo>
                <a:lnTo>
                  <a:pt x="5486400" y="0"/>
                </a:lnTo>
                <a:cubicBezTo>
                  <a:pt x="5528456" y="0"/>
                  <a:pt x="5562600" y="34144"/>
                  <a:pt x="5562600" y="76200"/>
                </a:cubicBezTo>
                <a:lnTo>
                  <a:pt x="5562600" y="2362200"/>
                </a:lnTo>
                <a:cubicBezTo>
                  <a:pt x="5562600" y="2404256"/>
                  <a:pt x="5528456" y="2438400"/>
                  <a:pt x="5486400" y="2438400"/>
                </a:cubicBezTo>
                <a:lnTo>
                  <a:pt x="76200" y="2438400"/>
                </a:lnTo>
                <a:cubicBezTo>
                  <a:pt x="34144" y="2438400"/>
                  <a:pt x="0" y="2404256"/>
                  <a:pt x="0" y="2362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6" name="Text 4"/>
          <p:cNvSpPr/>
          <p:nvPr/>
        </p:nvSpPr>
        <p:spPr>
          <a:xfrm>
            <a:off x="609529" y="1895480"/>
            <a:ext cx="4905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Problem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8484" y="2305134"/>
            <a:ext cx="5086255" cy="571500"/>
          </a:xfrm>
          <a:custGeom>
            <a:avLst/>
            <a:gdLst/>
            <a:ahLst/>
            <a:cxnLst/>
            <a:rect l="l" t="t" r="r" b="b"/>
            <a:pathLst>
              <a:path w="5086255" h="571500">
                <a:moveTo>
                  <a:pt x="37910" y="0"/>
                </a:moveTo>
                <a:lnTo>
                  <a:pt x="5048153" y="0"/>
                </a:lnTo>
                <a:cubicBezTo>
                  <a:pt x="5069196" y="0"/>
                  <a:pt x="5086255" y="17059"/>
                  <a:pt x="5086255" y="38102"/>
                </a:cubicBezTo>
                <a:lnTo>
                  <a:pt x="5086255" y="533398"/>
                </a:lnTo>
                <a:cubicBezTo>
                  <a:pt x="5086255" y="554441"/>
                  <a:pt x="5069196" y="571500"/>
                  <a:pt x="5048153" y="571500"/>
                </a:cubicBez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Shape 6"/>
          <p:cNvSpPr/>
          <p:nvPr/>
        </p:nvSpPr>
        <p:spPr>
          <a:xfrm>
            <a:off x="628484" y="2305134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Text 7"/>
          <p:cNvSpPr/>
          <p:nvPr/>
        </p:nvSpPr>
        <p:spPr>
          <a:xfrm>
            <a:off x="799822" y="2457515"/>
            <a:ext cx="4848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Large matrices cannot be fully loaded at once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29" y="2990859"/>
            <a:ext cx="5105400" cy="876300"/>
          </a:xfrm>
          <a:custGeom>
            <a:avLst/>
            <a:gdLst/>
            <a:ahLst/>
            <a:cxnLst/>
            <a:rect l="l" t="t" r="r" b="b"/>
            <a:pathLst>
              <a:path w="5105400" h="876300">
                <a:moveTo>
                  <a:pt x="38102" y="0"/>
                </a:moveTo>
                <a:lnTo>
                  <a:pt x="5067298" y="0"/>
                </a:lnTo>
                <a:cubicBezTo>
                  <a:pt x="5088341" y="0"/>
                  <a:pt x="5105400" y="17059"/>
                  <a:pt x="5105400" y="38102"/>
                </a:cubicBezTo>
                <a:lnTo>
                  <a:pt x="5105400" y="838198"/>
                </a:lnTo>
                <a:cubicBezTo>
                  <a:pt x="5105400" y="859241"/>
                  <a:pt x="5088341" y="876300"/>
                  <a:pt x="5067298" y="876300"/>
                </a:cubicBezTo>
                <a:lnTo>
                  <a:pt x="38102" y="876300"/>
                </a:lnTo>
                <a:cubicBezTo>
                  <a:pt x="17059" y="876300"/>
                  <a:pt x="0" y="859241"/>
                  <a:pt x="0" y="8381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761911" y="3143241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Example: 4096 × 4096 matrix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1911" y="3448003"/>
            <a:ext cx="4886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Requires 64MB+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0956" y="4286101"/>
            <a:ext cx="5562600" cy="1485900"/>
          </a:xfrm>
          <a:custGeom>
            <a:avLst/>
            <a:gdLst/>
            <a:ahLst/>
            <a:cxnLst/>
            <a:rect l="l" t="t" r="r" b="b"/>
            <a:pathLst>
              <a:path w="5562600" h="14859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1409703"/>
                </a:lnTo>
                <a:cubicBezTo>
                  <a:pt x="5562600" y="1451785"/>
                  <a:pt x="5528485" y="1485900"/>
                  <a:pt x="54864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Text 12"/>
          <p:cNvSpPr/>
          <p:nvPr/>
        </p:nvSpPr>
        <p:spPr>
          <a:xfrm>
            <a:off x="609529" y="4514673"/>
            <a:ext cx="520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529" y="4933764"/>
            <a:ext cx="5105400" cy="609600"/>
          </a:xfrm>
          <a:custGeom>
            <a:avLst/>
            <a:gdLst/>
            <a:ahLst/>
            <a:cxnLst/>
            <a:rect l="l" t="t" r="r" b="b"/>
            <a:pathLst>
              <a:path w="5105400" h="609600">
                <a:moveTo>
                  <a:pt x="38100" y="0"/>
                </a:moveTo>
                <a:lnTo>
                  <a:pt x="5067300" y="0"/>
                </a:lnTo>
                <a:cubicBezTo>
                  <a:pt x="5088328" y="0"/>
                  <a:pt x="5105400" y="17072"/>
                  <a:pt x="5105400" y="38100"/>
                </a:cubicBezTo>
                <a:lnTo>
                  <a:pt x="5105400" y="571500"/>
                </a:lnTo>
                <a:cubicBezTo>
                  <a:pt x="5105400" y="592528"/>
                  <a:pt x="5088328" y="609600"/>
                  <a:pt x="50673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Text 14"/>
          <p:cNvSpPr/>
          <p:nvPr/>
        </p:nvSpPr>
        <p:spPr>
          <a:xfrm>
            <a:off x="704761" y="5086145"/>
            <a:ext cx="4914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Chunk</a:t>
            </a: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</a:t>
            </a:r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processing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48338" y="1886043"/>
            <a:ext cx="5562600" cy="2819400"/>
          </a:xfrm>
          <a:custGeom>
            <a:avLst/>
            <a:gdLst/>
            <a:ahLst/>
            <a:cxnLst/>
            <a:rect l="l" t="t" r="r" b="b"/>
            <a:pathLst>
              <a:path w="5562600" h="281940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2743192"/>
                </a:lnTo>
                <a:cubicBezTo>
                  <a:pt x="5562600" y="2785280"/>
                  <a:pt x="5528480" y="2819400"/>
                  <a:pt x="5486392" y="2819400"/>
                </a:cubicBezTo>
                <a:lnTo>
                  <a:pt x="76208" y="2819400"/>
                </a:lnTo>
                <a:cubicBezTo>
                  <a:pt x="34120" y="2819400"/>
                  <a:pt x="0" y="2785280"/>
                  <a:pt x="0" y="27431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8" name="Shape 16"/>
          <p:cNvSpPr/>
          <p:nvPr/>
        </p:nvSpPr>
        <p:spPr>
          <a:xfrm>
            <a:off x="6500724" y="21430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154781" y="23812"/>
                </a:lnTo>
                <a:cubicBezTo>
                  <a:pt x="161367" y="23812"/>
                  <a:pt x="166688" y="29133"/>
                  <a:pt x="166688" y="35719"/>
                </a:cubicBezTo>
                <a:cubicBezTo>
                  <a:pt x="166688" y="42304"/>
                  <a:pt x="161367" y="47625"/>
                  <a:pt x="154781" y="47625"/>
                </a:cubicBezTo>
                <a:lnTo>
                  <a:pt x="11906" y="47625"/>
                </a:lnTo>
                <a:cubicBezTo>
                  <a:pt x="5321" y="47625"/>
                  <a:pt x="0" y="42304"/>
                  <a:pt x="0" y="35719"/>
                </a:cubicBezTo>
                <a:close/>
                <a:moveTo>
                  <a:pt x="23812" y="95250"/>
                </a:moveTo>
                <a:cubicBezTo>
                  <a:pt x="23812" y="88664"/>
                  <a:pt x="29133" y="83344"/>
                  <a:pt x="35719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35719" y="107156"/>
                </a:lnTo>
                <a:cubicBezTo>
                  <a:pt x="29133" y="107156"/>
                  <a:pt x="23812" y="101836"/>
                  <a:pt x="23812" y="95250"/>
                </a:cubicBezTo>
                <a:close/>
                <a:moveTo>
                  <a:pt x="166688" y="154781"/>
                </a:moveTo>
                <a:cubicBezTo>
                  <a:pt x="166688" y="161367"/>
                  <a:pt x="161367" y="166688"/>
                  <a:pt x="154781" y="166688"/>
                </a:cubicBezTo>
                <a:lnTo>
                  <a:pt x="11906" y="166688"/>
                </a:lnTo>
                <a:cubicBezTo>
                  <a:pt x="5321" y="166688"/>
                  <a:pt x="0" y="161367"/>
                  <a:pt x="0" y="154781"/>
                </a:cubicBezTo>
                <a:cubicBezTo>
                  <a:pt x="0" y="148196"/>
                  <a:pt x="5321" y="142875"/>
                  <a:pt x="11906" y="142875"/>
                </a:cubicBezTo>
                <a:lnTo>
                  <a:pt x="154781" y="142875"/>
                </a:lnTo>
                <a:cubicBezTo>
                  <a:pt x="161367" y="142875"/>
                  <a:pt x="166688" y="148196"/>
                  <a:pt x="166688" y="154781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Text 17"/>
          <p:cNvSpPr/>
          <p:nvPr/>
        </p:nvSpPr>
        <p:spPr>
          <a:xfrm>
            <a:off x="6772186" y="2114624"/>
            <a:ext cx="4905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Streaming Computation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5866" y="2533706"/>
            <a:ext cx="5086255" cy="571500"/>
          </a:xfrm>
          <a:custGeom>
            <a:avLst/>
            <a:gdLst/>
            <a:ahLst/>
            <a:cxnLst/>
            <a:rect l="l" t="t" r="r" b="b"/>
            <a:pathLst>
              <a:path w="5086255" h="571500">
                <a:moveTo>
                  <a:pt x="37910" y="0"/>
                </a:moveTo>
                <a:lnTo>
                  <a:pt x="5048153" y="0"/>
                </a:lnTo>
                <a:cubicBezTo>
                  <a:pt x="5069196" y="0"/>
                  <a:pt x="5086255" y="17059"/>
                  <a:pt x="5086255" y="38102"/>
                </a:cubicBezTo>
                <a:lnTo>
                  <a:pt x="5086255" y="533398"/>
                </a:lnTo>
                <a:cubicBezTo>
                  <a:pt x="5086255" y="554441"/>
                  <a:pt x="5069196" y="571500"/>
                  <a:pt x="5048153" y="571500"/>
                </a:cubicBez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Shape 19"/>
          <p:cNvSpPr/>
          <p:nvPr/>
        </p:nvSpPr>
        <p:spPr>
          <a:xfrm>
            <a:off x="6495866" y="2533706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Text 20"/>
          <p:cNvSpPr/>
          <p:nvPr/>
        </p:nvSpPr>
        <p:spPr>
          <a:xfrm>
            <a:off x="6667204" y="2686087"/>
            <a:ext cx="4848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Load block by block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5866" y="3219431"/>
            <a:ext cx="5086255" cy="571500"/>
          </a:xfrm>
          <a:custGeom>
            <a:avLst/>
            <a:gdLst/>
            <a:ahLst/>
            <a:cxnLst/>
            <a:rect l="l" t="t" r="r" b="b"/>
            <a:pathLst>
              <a:path w="5086255" h="571500">
                <a:moveTo>
                  <a:pt x="37910" y="0"/>
                </a:moveTo>
                <a:lnTo>
                  <a:pt x="5048153" y="0"/>
                </a:lnTo>
                <a:cubicBezTo>
                  <a:pt x="5069196" y="0"/>
                  <a:pt x="5086255" y="17059"/>
                  <a:pt x="5086255" y="38102"/>
                </a:cubicBezTo>
                <a:lnTo>
                  <a:pt x="5086255" y="533398"/>
                </a:lnTo>
                <a:cubicBezTo>
                  <a:pt x="5086255" y="554441"/>
                  <a:pt x="5069196" y="571500"/>
                  <a:pt x="5048153" y="571500"/>
                </a:cubicBez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6495866" y="3219431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5" name="Text 23"/>
          <p:cNvSpPr/>
          <p:nvPr/>
        </p:nvSpPr>
        <p:spPr>
          <a:xfrm>
            <a:off x="6667204" y="3371813"/>
            <a:ext cx="4848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Compute block by block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95866" y="3905148"/>
            <a:ext cx="5086255" cy="571500"/>
          </a:xfrm>
          <a:custGeom>
            <a:avLst/>
            <a:gdLst/>
            <a:ahLst/>
            <a:cxnLst/>
            <a:rect l="l" t="t" r="r" b="b"/>
            <a:pathLst>
              <a:path w="5086255" h="571500">
                <a:moveTo>
                  <a:pt x="37910" y="0"/>
                </a:moveTo>
                <a:lnTo>
                  <a:pt x="5048153" y="0"/>
                </a:lnTo>
                <a:cubicBezTo>
                  <a:pt x="5069196" y="0"/>
                  <a:pt x="5086255" y="17059"/>
                  <a:pt x="5086255" y="38102"/>
                </a:cubicBezTo>
                <a:lnTo>
                  <a:pt x="5086255" y="533398"/>
                </a:lnTo>
                <a:cubicBezTo>
                  <a:pt x="5086255" y="554441"/>
                  <a:pt x="5069196" y="571500"/>
                  <a:pt x="5048153" y="571500"/>
                </a:cubicBez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6495866" y="3905148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8" name="Text 26"/>
          <p:cNvSpPr/>
          <p:nvPr/>
        </p:nvSpPr>
        <p:spPr>
          <a:xfrm>
            <a:off x="6667204" y="4057529"/>
            <a:ext cx="4848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Write back block by block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48338" y="4895636"/>
            <a:ext cx="5562600" cy="647700"/>
          </a:xfrm>
          <a:custGeom>
            <a:avLst/>
            <a:gdLst/>
            <a:ahLst/>
            <a:cxnLst/>
            <a:rect l="l" t="t" r="r" b="b"/>
            <a:pathLst>
              <a:path w="5562600" h="6477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571498"/>
                </a:lnTo>
                <a:cubicBezTo>
                  <a:pt x="5562600" y="613583"/>
                  <a:pt x="5528483" y="647700"/>
                  <a:pt x="54863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30" name="Text 28"/>
          <p:cNvSpPr/>
          <p:nvPr/>
        </p:nvSpPr>
        <p:spPr>
          <a:xfrm>
            <a:off x="6395916" y="5086071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Known as: Streaming computation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0956" y="6324609"/>
            <a:ext cx="11487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9391" y="580969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Triton MatMul Kernel Example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9911" y="1352485"/>
            <a:ext cx="11267980" cy="4953000"/>
          </a:xfrm>
          <a:custGeom>
            <a:avLst/>
            <a:gdLst/>
            <a:ahLst/>
            <a:cxnLst/>
            <a:rect l="l" t="t" r="r" b="b"/>
            <a:pathLst>
              <a:path w="11267980" h="4953000">
                <a:moveTo>
                  <a:pt x="37910" y="0"/>
                </a:moveTo>
                <a:lnTo>
                  <a:pt x="11229892" y="0"/>
                </a:lnTo>
                <a:cubicBezTo>
                  <a:pt x="11250927" y="0"/>
                  <a:pt x="11267980" y="17053"/>
                  <a:pt x="11267980" y="38089"/>
                </a:cubicBezTo>
                <a:lnTo>
                  <a:pt x="11267980" y="4914911"/>
                </a:lnTo>
                <a:cubicBezTo>
                  <a:pt x="11267980" y="4935947"/>
                  <a:pt x="11250927" y="4953000"/>
                  <a:pt x="11229892" y="4953000"/>
                </a:cubicBezTo>
                <a:lnTo>
                  <a:pt x="37910" y="4953000"/>
                </a:lnTo>
                <a:cubicBezTo>
                  <a:pt x="16973" y="4953000"/>
                  <a:pt x="0" y="4936027"/>
                  <a:pt x="0" y="49150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5" name="Shape 3"/>
          <p:cNvSpPr/>
          <p:nvPr/>
        </p:nvSpPr>
        <p:spPr>
          <a:xfrm>
            <a:off x="399911" y="1352485"/>
            <a:ext cx="37910" cy="4953000"/>
          </a:xfrm>
          <a:custGeom>
            <a:avLst/>
            <a:gdLst/>
            <a:ahLst/>
            <a:cxnLst/>
            <a:rect l="l" t="t" r="r" b="b"/>
            <a:pathLst>
              <a:path w="37910" h="4953000">
                <a:moveTo>
                  <a:pt x="37910" y="0"/>
                </a:moveTo>
                <a:lnTo>
                  <a:pt x="37910" y="0"/>
                </a:lnTo>
                <a:lnTo>
                  <a:pt x="37910" y="4953000"/>
                </a:lnTo>
                <a:lnTo>
                  <a:pt x="37910" y="4953000"/>
                </a:lnTo>
                <a:cubicBezTo>
                  <a:pt x="16973" y="4953000"/>
                  <a:pt x="0" y="4936027"/>
                  <a:pt x="0" y="49150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380956" y="1352485"/>
            <a:ext cx="11325225" cy="4953000"/>
          </a:xfrm>
          <a:prstGeom prst="rect">
            <a:avLst/>
          </a:prstGeom>
          <a:noFill/>
        </p:spPr>
        <p:txBody>
          <a:bodyPr wrap="square" lIns="152400" tIns="152400" rIns="152400" bIns="15240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@triton.jit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def matmul_kernel(A, B, C,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M, N, K,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BLOCK_M: tl.constexpr,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BLOCK_N: tl.constexpr,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BLOCK_K: tl.constexpr):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pid_m = tl.program_id(0)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pid_n = tl.program_id(1)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acc = tl.zeros((BLOCK_M, BLOCK_N))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for k in range(0, K, BLOCK_K):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 = tl.load(...)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 = tl.load(...)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acc += tl.dot(a, b)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tl.store(C, acc)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5528" y="628557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Section Summary</a:t>
            </a:r>
            <a:endParaRPr lang="en-US" sz="1600" dirty="0"/>
          </a:p>
        </p:txBody>
      </p:sp>
      <p:grpSp>
        <p:nvGrpSpPr>
          <p:cNvPr id="39" name="组合 38"/>
          <p:cNvGrpSpPr/>
          <p:nvPr/>
        </p:nvGrpSpPr>
        <p:grpSpPr>
          <a:xfrm>
            <a:off x="437821" y="1466663"/>
            <a:ext cx="11410855" cy="3695105"/>
            <a:chOff x="399911" y="2209316"/>
            <a:chExt cx="11410855" cy="3695105"/>
          </a:xfrm>
        </p:grpSpPr>
        <p:sp>
          <p:nvSpPr>
            <p:cNvPr id="6" name="Shape 4"/>
            <p:cNvSpPr/>
            <p:nvPr/>
          </p:nvSpPr>
          <p:spPr>
            <a:xfrm>
              <a:off x="399911" y="2209316"/>
              <a:ext cx="5600605" cy="1104900"/>
            </a:xfrm>
            <a:custGeom>
              <a:avLst/>
              <a:gdLst/>
              <a:ahLst/>
              <a:cxnLst/>
              <a:rect l="l" t="t" r="r" b="b"/>
              <a:pathLst>
                <a:path w="5600605" h="1104900">
                  <a:moveTo>
                    <a:pt x="37910" y="0"/>
                  </a:moveTo>
                  <a:lnTo>
                    <a:pt x="5524400" y="0"/>
                  </a:lnTo>
                  <a:cubicBezTo>
                    <a:pt x="5566487" y="0"/>
                    <a:pt x="5600605" y="34118"/>
                    <a:pt x="5600605" y="76205"/>
                  </a:cubicBezTo>
                  <a:lnTo>
                    <a:pt x="5600605" y="1028695"/>
                  </a:lnTo>
                  <a:cubicBezTo>
                    <a:pt x="5600605" y="1070782"/>
                    <a:pt x="5566487" y="1104900"/>
                    <a:pt x="5524400" y="1104900"/>
                  </a:cubicBezTo>
                  <a:lnTo>
                    <a:pt x="37910" y="1104900"/>
                  </a:lnTo>
                  <a:cubicBezTo>
                    <a:pt x="16973" y="1104900"/>
                    <a:pt x="0" y="1087927"/>
                    <a:pt x="0" y="10669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7" name="Shape 5"/>
            <p:cNvSpPr/>
            <p:nvPr/>
          </p:nvSpPr>
          <p:spPr>
            <a:xfrm>
              <a:off x="399911" y="2209316"/>
              <a:ext cx="37910" cy="1104900"/>
            </a:xfrm>
            <a:custGeom>
              <a:avLst/>
              <a:gdLst/>
              <a:ahLst/>
              <a:cxnLst/>
              <a:rect l="l" t="t" r="r" b="b"/>
              <a:pathLst>
                <a:path w="37910" h="1104900">
                  <a:moveTo>
                    <a:pt x="37910" y="0"/>
                  </a:moveTo>
                  <a:lnTo>
                    <a:pt x="37910" y="0"/>
                  </a:lnTo>
                  <a:lnTo>
                    <a:pt x="37910" y="1104900"/>
                  </a:lnTo>
                  <a:lnTo>
                    <a:pt x="37910" y="1104900"/>
                  </a:lnTo>
                  <a:cubicBezTo>
                    <a:pt x="16973" y="1104900"/>
                    <a:pt x="0" y="1087927"/>
                    <a:pt x="0" y="10669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8" name="Shape 6"/>
            <p:cNvSpPr/>
            <p:nvPr/>
          </p:nvSpPr>
          <p:spPr>
            <a:xfrm>
              <a:off x="609307" y="239976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9" name="Text 7"/>
            <p:cNvSpPr/>
            <p:nvPr/>
          </p:nvSpPr>
          <p:spPr>
            <a:xfrm>
              <a:off x="566444" y="2399760"/>
              <a:ext cx="466725" cy="38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104512" y="2456845"/>
              <a:ext cx="2947996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Why Naive MatMul is Slow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104586" y="2894967"/>
              <a:ext cx="478155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Repeated Global Memory reads, memory bandwidth bottleneck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210131" y="2209316"/>
              <a:ext cx="5600605" cy="1104900"/>
            </a:xfrm>
            <a:custGeom>
              <a:avLst/>
              <a:gdLst/>
              <a:ahLst/>
              <a:cxnLst/>
              <a:rect l="l" t="t" r="r" b="b"/>
              <a:pathLst>
                <a:path w="5600605" h="1104900">
                  <a:moveTo>
                    <a:pt x="37910" y="0"/>
                  </a:moveTo>
                  <a:lnTo>
                    <a:pt x="5524400" y="0"/>
                  </a:lnTo>
                  <a:cubicBezTo>
                    <a:pt x="5566487" y="0"/>
                    <a:pt x="5600605" y="34118"/>
                    <a:pt x="5600605" y="76205"/>
                  </a:cubicBezTo>
                  <a:lnTo>
                    <a:pt x="5600605" y="1028695"/>
                  </a:lnTo>
                  <a:cubicBezTo>
                    <a:pt x="5600605" y="1070782"/>
                    <a:pt x="5566487" y="1104900"/>
                    <a:pt x="5524400" y="1104900"/>
                  </a:cubicBezTo>
                  <a:lnTo>
                    <a:pt x="37910" y="1104900"/>
                  </a:lnTo>
                  <a:cubicBezTo>
                    <a:pt x="16973" y="1104900"/>
                    <a:pt x="0" y="1087927"/>
                    <a:pt x="0" y="10669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3" name="Shape 11"/>
            <p:cNvSpPr/>
            <p:nvPr/>
          </p:nvSpPr>
          <p:spPr>
            <a:xfrm>
              <a:off x="6210131" y="2209316"/>
              <a:ext cx="37910" cy="1104900"/>
            </a:xfrm>
            <a:custGeom>
              <a:avLst/>
              <a:gdLst/>
              <a:ahLst/>
              <a:cxnLst/>
              <a:rect l="l" t="t" r="r" b="b"/>
              <a:pathLst>
                <a:path w="37910" h="1104900">
                  <a:moveTo>
                    <a:pt x="37910" y="0"/>
                  </a:moveTo>
                  <a:lnTo>
                    <a:pt x="37910" y="0"/>
                  </a:lnTo>
                  <a:lnTo>
                    <a:pt x="37910" y="1104900"/>
                  </a:lnTo>
                  <a:lnTo>
                    <a:pt x="37910" y="1104900"/>
                  </a:lnTo>
                  <a:cubicBezTo>
                    <a:pt x="16973" y="1104900"/>
                    <a:pt x="0" y="1087927"/>
                    <a:pt x="0" y="10669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4" name="Shape 12"/>
            <p:cNvSpPr/>
            <p:nvPr/>
          </p:nvSpPr>
          <p:spPr>
            <a:xfrm>
              <a:off x="6419527" y="239976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5" name="Text 13"/>
            <p:cNvSpPr/>
            <p:nvPr/>
          </p:nvSpPr>
          <p:spPr>
            <a:xfrm>
              <a:off x="6376665" y="2399760"/>
              <a:ext cx="466725" cy="38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914732" y="2456845"/>
              <a:ext cx="2571847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Tiling Principle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914806" y="2894967"/>
              <a:ext cx="478155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Data reuse, block-based computation, reduced memory access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99911" y="3504419"/>
              <a:ext cx="5600605" cy="1104900"/>
            </a:xfrm>
            <a:custGeom>
              <a:avLst/>
              <a:gdLst/>
              <a:ahLst/>
              <a:cxnLst/>
              <a:rect l="l" t="t" r="r" b="b"/>
              <a:pathLst>
                <a:path w="5600605" h="1104900">
                  <a:moveTo>
                    <a:pt x="37910" y="0"/>
                  </a:moveTo>
                  <a:lnTo>
                    <a:pt x="5524400" y="0"/>
                  </a:lnTo>
                  <a:cubicBezTo>
                    <a:pt x="5566487" y="0"/>
                    <a:pt x="5600605" y="34118"/>
                    <a:pt x="5600605" y="76205"/>
                  </a:cubicBezTo>
                  <a:lnTo>
                    <a:pt x="5600605" y="1028695"/>
                  </a:lnTo>
                  <a:cubicBezTo>
                    <a:pt x="5600605" y="1070782"/>
                    <a:pt x="5566487" y="1104900"/>
                    <a:pt x="5524400" y="1104900"/>
                  </a:cubicBezTo>
                  <a:lnTo>
                    <a:pt x="37910" y="1104900"/>
                  </a:lnTo>
                  <a:cubicBezTo>
                    <a:pt x="16973" y="1104900"/>
                    <a:pt x="0" y="1087927"/>
                    <a:pt x="0" y="10669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9" name="Shape 17"/>
            <p:cNvSpPr/>
            <p:nvPr/>
          </p:nvSpPr>
          <p:spPr>
            <a:xfrm>
              <a:off x="399911" y="3504419"/>
              <a:ext cx="37910" cy="1104900"/>
            </a:xfrm>
            <a:custGeom>
              <a:avLst/>
              <a:gdLst/>
              <a:ahLst/>
              <a:cxnLst/>
              <a:rect l="l" t="t" r="r" b="b"/>
              <a:pathLst>
                <a:path w="37910" h="1104900">
                  <a:moveTo>
                    <a:pt x="37910" y="0"/>
                  </a:moveTo>
                  <a:lnTo>
                    <a:pt x="37910" y="0"/>
                  </a:lnTo>
                  <a:lnTo>
                    <a:pt x="37910" y="1104900"/>
                  </a:lnTo>
                  <a:lnTo>
                    <a:pt x="37910" y="1104900"/>
                  </a:lnTo>
                  <a:cubicBezTo>
                    <a:pt x="16973" y="1104900"/>
                    <a:pt x="0" y="1087927"/>
                    <a:pt x="0" y="10669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0" name="Shape 18"/>
            <p:cNvSpPr/>
            <p:nvPr/>
          </p:nvSpPr>
          <p:spPr>
            <a:xfrm>
              <a:off x="609307" y="3694863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566444" y="3694863"/>
              <a:ext cx="466725" cy="38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104512" y="3751948"/>
              <a:ext cx="2999994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Arithmetic Intensity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104586" y="4190070"/>
              <a:ext cx="478155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Compute-to-memory ratio, key performance metric</a:t>
              </a:r>
              <a:endParaRPr lang="en-US" sz="16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210131" y="3504419"/>
              <a:ext cx="5600605" cy="1104900"/>
            </a:xfrm>
            <a:custGeom>
              <a:avLst/>
              <a:gdLst/>
              <a:ahLst/>
              <a:cxnLst/>
              <a:rect l="l" t="t" r="r" b="b"/>
              <a:pathLst>
                <a:path w="5600605" h="1104900">
                  <a:moveTo>
                    <a:pt x="37910" y="0"/>
                  </a:moveTo>
                  <a:lnTo>
                    <a:pt x="5524400" y="0"/>
                  </a:lnTo>
                  <a:cubicBezTo>
                    <a:pt x="5566487" y="0"/>
                    <a:pt x="5600605" y="34118"/>
                    <a:pt x="5600605" y="76205"/>
                  </a:cubicBezTo>
                  <a:lnTo>
                    <a:pt x="5600605" y="1028695"/>
                  </a:lnTo>
                  <a:cubicBezTo>
                    <a:pt x="5600605" y="1070782"/>
                    <a:pt x="5566487" y="1104900"/>
                    <a:pt x="5524400" y="1104900"/>
                  </a:cubicBezTo>
                  <a:lnTo>
                    <a:pt x="37910" y="1104900"/>
                  </a:lnTo>
                  <a:cubicBezTo>
                    <a:pt x="16973" y="1104900"/>
                    <a:pt x="0" y="1087927"/>
                    <a:pt x="0" y="10669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25" name="Shape 23"/>
            <p:cNvSpPr/>
            <p:nvPr/>
          </p:nvSpPr>
          <p:spPr>
            <a:xfrm>
              <a:off x="6210131" y="3504419"/>
              <a:ext cx="37910" cy="1104900"/>
            </a:xfrm>
            <a:custGeom>
              <a:avLst/>
              <a:gdLst/>
              <a:ahLst/>
              <a:cxnLst/>
              <a:rect l="l" t="t" r="r" b="b"/>
              <a:pathLst>
                <a:path w="37910" h="1104900">
                  <a:moveTo>
                    <a:pt x="37910" y="0"/>
                  </a:moveTo>
                  <a:lnTo>
                    <a:pt x="37910" y="0"/>
                  </a:lnTo>
                  <a:lnTo>
                    <a:pt x="37910" y="1104900"/>
                  </a:lnTo>
                  <a:lnTo>
                    <a:pt x="37910" y="1104900"/>
                  </a:lnTo>
                  <a:cubicBezTo>
                    <a:pt x="16973" y="1104900"/>
                    <a:pt x="0" y="1087927"/>
                    <a:pt x="0" y="10669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6" name="Shape 24"/>
            <p:cNvSpPr/>
            <p:nvPr/>
          </p:nvSpPr>
          <p:spPr>
            <a:xfrm>
              <a:off x="6419527" y="3694863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7" name="Text 25"/>
            <p:cNvSpPr/>
            <p:nvPr/>
          </p:nvSpPr>
          <p:spPr>
            <a:xfrm>
              <a:off x="6376665" y="3694863"/>
              <a:ext cx="466725" cy="38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914732" y="3751948"/>
              <a:ext cx="2933924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Roofline Model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914806" y="4190070"/>
              <a:ext cx="478155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Performance ceiling analysis model</a:t>
              </a:r>
              <a:endParaRPr lang="en-US" sz="16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99911" y="4799521"/>
              <a:ext cx="11410855" cy="1104900"/>
            </a:xfrm>
            <a:custGeom>
              <a:avLst/>
              <a:gdLst/>
              <a:ahLst/>
              <a:cxnLst/>
              <a:rect l="l" t="t" r="r" b="b"/>
              <a:pathLst>
                <a:path w="11410855" h="1104900">
                  <a:moveTo>
                    <a:pt x="37910" y="0"/>
                  </a:moveTo>
                  <a:lnTo>
                    <a:pt x="11334650" y="0"/>
                  </a:lnTo>
                  <a:cubicBezTo>
                    <a:pt x="11376737" y="0"/>
                    <a:pt x="11410855" y="34118"/>
                    <a:pt x="11410855" y="76205"/>
                  </a:cubicBezTo>
                  <a:lnTo>
                    <a:pt x="11410855" y="1028695"/>
                  </a:lnTo>
                  <a:cubicBezTo>
                    <a:pt x="11410855" y="1070782"/>
                    <a:pt x="11376737" y="1104900"/>
                    <a:pt x="11334650" y="1104900"/>
                  </a:cubicBezTo>
                  <a:lnTo>
                    <a:pt x="37910" y="1104900"/>
                  </a:lnTo>
                  <a:cubicBezTo>
                    <a:pt x="16973" y="1104900"/>
                    <a:pt x="0" y="1087927"/>
                    <a:pt x="0" y="10669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31" name="Shape 29"/>
            <p:cNvSpPr/>
            <p:nvPr/>
          </p:nvSpPr>
          <p:spPr>
            <a:xfrm>
              <a:off x="399911" y="4799521"/>
              <a:ext cx="37910" cy="1104900"/>
            </a:xfrm>
            <a:custGeom>
              <a:avLst/>
              <a:gdLst/>
              <a:ahLst/>
              <a:cxnLst/>
              <a:rect l="l" t="t" r="r" b="b"/>
              <a:pathLst>
                <a:path w="37910" h="1104900">
                  <a:moveTo>
                    <a:pt x="37910" y="0"/>
                  </a:moveTo>
                  <a:lnTo>
                    <a:pt x="37910" y="0"/>
                  </a:lnTo>
                  <a:lnTo>
                    <a:pt x="37910" y="1104900"/>
                  </a:lnTo>
                  <a:lnTo>
                    <a:pt x="37910" y="1104900"/>
                  </a:lnTo>
                  <a:cubicBezTo>
                    <a:pt x="16973" y="1104900"/>
                    <a:pt x="0" y="1087927"/>
                    <a:pt x="0" y="10669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32" name="Shape 30"/>
            <p:cNvSpPr/>
            <p:nvPr/>
          </p:nvSpPr>
          <p:spPr>
            <a:xfrm>
              <a:off x="609307" y="498996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33" name="Text 31"/>
            <p:cNvSpPr/>
            <p:nvPr/>
          </p:nvSpPr>
          <p:spPr>
            <a:xfrm>
              <a:off x="566444" y="4989965"/>
              <a:ext cx="466725" cy="38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5</a:t>
              </a:r>
              <a:endParaRPr lang="en-US" sz="16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104512" y="5047050"/>
              <a:ext cx="340503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Triton Tiled MatMul Implementation</a:t>
              </a:r>
              <a:endParaRPr lang="en-US" sz="16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104586" y="5485163"/>
              <a:ext cx="105918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Block-based programming, program_id, accumulator, Streaming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VjMjNiN2ZkZTMzMDA4ZWE3OTY1NzI2MTg5NDIzY2IifQ=="/>
  <p:tag name="KSO_WPP_MARK_KEY" val="bcc4c946-421a-4a56-a7c9-e84bf867b5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封面</Template>
  <TotalTime>0</TotalTime>
  <Words>1120</Words>
  <Application>Microsoft Office PowerPoint</Application>
  <PresentationFormat>宽屏</PresentationFormat>
  <Paragraphs>269</Paragraphs>
  <Slides>25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MiSans</vt:lpstr>
      <vt:lpstr>Noto Sans SC</vt:lpstr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07: Matrix Multiplication Optimization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容错域量子EDA研究</dc:title>
  <dc:creator>王丰</dc:creator>
  <cp:lastModifiedBy>Xiang Li</cp:lastModifiedBy>
  <cp:revision>1620</cp:revision>
  <dcterms:created xsi:type="dcterms:W3CDTF">2026-03-12T02:44:00Z</dcterms:created>
  <dcterms:modified xsi:type="dcterms:W3CDTF">2026-03-17T14:53:22Z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F7191C2708FD07F82CD87F6915CBD24F_43</vt:lpwstr>
  </property>
  <property fmtid="{D5CDD505-2E9C-101B-9397-08002B2CF9AE}" pid="3" name="KSOProductBuildVer">
    <vt:lpwstr>2052-12.1.0.19302</vt:lpwstr>
  </property>
</Properties>
</file>