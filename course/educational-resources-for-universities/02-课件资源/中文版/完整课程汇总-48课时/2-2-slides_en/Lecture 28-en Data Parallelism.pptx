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3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33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1913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75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875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75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874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4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551763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420282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23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5.xml"/><Relationship Id="rId21" Type="http://schemas.openxmlformats.org/officeDocument/2006/relationships/image" Target="../media/image26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25.png"/><Relationship Id="rId29" Type="http://schemas.openxmlformats.org/officeDocument/2006/relationships/image" Target="../media/image30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28.png"/><Relationship Id="rId28" Type="http://schemas.openxmlformats.org/officeDocument/2006/relationships/image" Target="../media/image29.jpeg"/><Relationship Id="rId10" Type="http://schemas.openxmlformats.org/officeDocument/2006/relationships/tags" Target="../tags/tag12.xml"/><Relationship Id="rId19" Type="http://schemas.openxmlformats.org/officeDocument/2006/relationships/image" Target="../media/image24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image" Target="../media/image27.png"/><Relationship Id="rId27" Type="http://schemas.openxmlformats.org/officeDocument/2006/relationships/hyperlink" Target="https://flagos.io/Hom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Lecture 28: Data Parallelism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Introduction to DP/DDP</a:t>
            </a:r>
          </a:p>
          <a:p>
            <a:r>
              <a:rPr lang="en-US" altLang="zh-CN" dirty="0"/>
              <a:t>ZeRO-1/2/3, FSDP</a:t>
            </a:r>
          </a:p>
          <a:p>
            <a:r>
              <a:rPr lang="en-US" altLang="zh-CN" dirty="0"/>
              <a:t>Memory/Communication Comparison</a:t>
            </a:r>
          </a:p>
          <a:p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to Distributed LLM Training</a:t>
            </a:r>
            <a:endParaRPr lang="zh-CN" altLang="en-US" dirty="0"/>
          </a:p>
        </p:txBody>
      </p:sp>
      <p:sp>
        <p:nvSpPr>
          <p:cNvPr id="104866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048658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670550" cy="4853305"/>
          </a:xfrm>
        </p:spPr>
        <p:txBody>
          <a:bodyPr>
            <a:normAutofit fontScale="95000" lnSpcReduction="10000"/>
          </a:bodyPr>
          <a:lstStyle/>
          <a:p>
            <a:r>
              <a:rPr lang="en-US" altLang="zh-CN" dirty="0"/>
              <a:t>Transition from foundational LLM inference to the computational realities of training.</a:t>
            </a:r>
          </a:p>
          <a:p>
            <a:pPr lvl="1"/>
            <a:r>
              <a:rPr lang="en-US" altLang="zh-CN" dirty="0"/>
              <a:t>Inference memory is dominated by model weights and transient KV cache.</a:t>
            </a:r>
          </a:p>
          <a:p>
            <a:pPr lvl="1"/>
            <a:r>
              <a:rPr lang="en-US" altLang="zh-CN" dirty="0"/>
              <a:t>Training introduces a massive memory footprint due to the need to preserve the entire computational graph and maintain high-precision optimizer states.</a:t>
            </a:r>
          </a:p>
          <a:p>
            <a:pPr lvl="1"/>
            <a:r>
              <a:rPr lang="en-US" altLang="zh-CN" dirty="0"/>
              <a:t>A single hardware accelerator is insufficient; computation and memory must scale horizontally.</a:t>
            </a:r>
          </a:p>
          <a:p>
            <a:r>
              <a:rPr lang="en-US" altLang="zh-CN" dirty="0"/>
              <a:t>Introduction to the three core paradigms</a:t>
            </a:r>
          </a:p>
          <a:p>
            <a:pPr lvl="1"/>
            <a:r>
              <a:rPr lang="en-US" altLang="zh-CN" dirty="0"/>
              <a:t>Data Parallelism, Tensor Parallelism, and Pipeline Parallelism.</a:t>
            </a:r>
          </a:p>
          <a:p>
            <a:endParaRPr lang="zh-CN" altLang="en-US" dirty="0"/>
          </a:p>
        </p:txBody>
      </p:sp>
      <p:sp>
        <p:nvSpPr>
          <p:cNvPr id="1048661" name="TextBox 14"/>
          <p:cNvSpPr txBox="1"/>
          <p:nvPr/>
        </p:nvSpPr>
        <p:spPr>
          <a:xfrm>
            <a:off x="6558844" y="4861782"/>
            <a:ext cx="5396089" cy="624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Split memory/compute across GPUs and machines</a:t>
            </a:r>
          </a:p>
        </p:txBody>
      </p:sp>
      <p:pic>
        <p:nvPicPr>
          <p:cNvPr id="209715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333" y="1873956"/>
            <a:ext cx="5714667" cy="29878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Data Parallelism (DP)</a:t>
            </a:r>
          </a:p>
        </p:txBody>
      </p:sp>
      <p:sp>
        <p:nvSpPr>
          <p:cNvPr id="104866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6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4866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Data Parallelism (DP) is the foundational distributed training strategy.</a:t>
            </a:r>
          </a:p>
          <a:p>
            <a:pPr lvl="1"/>
            <a:r>
              <a:rPr lang="en-US" dirty="0"/>
              <a:t>Operates under the Single-Program Multiple-Data (SPMD) paradigm.   </a:t>
            </a:r>
          </a:p>
          <a:p>
            <a:pPr lvl="1"/>
            <a:r>
              <a:rPr lang="en-US" dirty="0"/>
              <a:t>The training dataset is partitioned into non-overlapping mini-batches.</a:t>
            </a:r>
          </a:p>
          <a:p>
            <a:pPr lvl="1"/>
            <a:r>
              <a:rPr lang="en-US" dirty="0"/>
              <a:t>Every GPU receives a complete, identical replica of the model weight and optimizer states.</a:t>
            </a:r>
          </a:p>
          <a:p>
            <a:pPr lvl="1"/>
            <a:r>
              <a:rPr lang="en-US" dirty="0"/>
              <a:t>Each accelerator computes forward and backward passes independently on its respective data shard.</a:t>
            </a:r>
          </a:p>
          <a:p>
            <a:r>
              <a:rPr lang="en-US" dirty="0" err="1"/>
              <a:t>DistributedDataParallel</a:t>
            </a:r>
            <a:r>
              <a:rPr lang="en-US" dirty="0"/>
              <a:t> (DDP) is the standard module for DP in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2097153" name="Picture 2" descr="Distributed Data Parallel - GeeksforGeeks"/>
          <p:cNvPicPr>
            <a:picLocks noChangeAspect="1" noChangeArrowheads="1"/>
          </p:cNvPicPr>
          <p:nvPr/>
        </p:nvPicPr>
        <p:blipFill rotWithShape="1">
          <a:blip r:embed="rId2"/>
          <a:srcRect t="16511" b="4797"/>
          <a:stretch>
            <a:fillRect/>
          </a:stretch>
        </p:blipFill>
        <p:spPr bwMode="auto">
          <a:xfrm>
            <a:off x="1986844" y="4026870"/>
            <a:ext cx="6908800" cy="272514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Data Parallelism (DP)</a:t>
            </a:r>
          </a:p>
        </p:txBody>
      </p:sp>
      <p:sp>
        <p:nvSpPr>
          <p:cNvPr id="104866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048669" name="Content Placeholder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4673600" cy="4853305"/>
          </a:xfrm>
        </p:spPr>
        <p:txBody>
          <a:bodyPr/>
          <a:lstStyle/>
          <a:p>
            <a:r>
              <a:rPr lang="en-US" dirty="0"/>
              <a:t>Because each GPU computes gradients based on a different data shard, replicas would diverge without synchronization.</a:t>
            </a:r>
          </a:p>
          <a:p>
            <a:pPr lvl="1"/>
            <a:r>
              <a:rPr lang="en-US" dirty="0"/>
              <a:t>The gradients computed by each GPU must be aggregated and averaged after every step.</a:t>
            </a:r>
          </a:p>
          <a:p>
            <a:r>
              <a:rPr lang="en-US" dirty="0"/>
              <a:t>All-Reduce efficiently sums the gradients across all nodes and broadcasts the result back, ensuring all replicas update identically.</a:t>
            </a:r>
          </a:p>
          <a:p>
            <a:endParaRPr lang="en-US" dirty="0"/>
          </a:p>
        </p:txBody>
      </p:sp>
      <p:pic>
        <p:nvPicPr>
          <p:cNvPr id="2097154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353" y="1715910"/>
            <a:ext cx="6974647" cy="41256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Bucketing in DDP</a:t>
            </a:r>
          </a:p>
        </p:txBody>
      </p:sp>
      <p:sp>
        <p:nvSpPr>
          <p:cNvPr id="104867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docs.pytorch.org</a:t>
            </a:r>
            <a:r>
              <a:rPr lang="en-US" altLang="zh-CN" dirty="0"/>
              <a:t>/docs/stable/notes/</a:t>
            </a:r>
            <a:r>
              <a:rPr lang="en-US" altLang="zh-CN" dirty="0" err="1"/>
              <a:t>ddp.html</a:t>
            </a:r>
            <a:endParaRPr lang="zh-CN" altLang="en-US" dirty="0"/>
          </a:p>
        </p:txBody>
      </p:sp>
      <p:sp>
        <p:nvSpPr>
          <p:cNvPr id="104867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48673" name="Content Placeholder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048250" cy="48533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Launching independent All-Reduce operations for every individual parameter tensor results in network congestion.</a:t>
            </a:r>
          </a:p>
          <a:p>
            <a:r>
              <a:rPr lang="en-US" dirty="0"/>
              <a:t>DDP mitigates this via gradient bucketing.</a:t>
            </a:r>
          </a:p>
          <a:p>
            <a:pPr lvl="1"/>
            <a:r>
              <a:rPr lang="en-US" dirty="0"/>
              <a:t>Parameter gradients are organized into configurable memory buckets</a:t>
            </a:r>
          </a:p>
          <a:p>
            <a:pPr lvl="1"/>
            <a:r>
              <a:rPr lang="en-US" dirty="0"/>
              <a:t>The All-Reduce is only triggered when a bucket is completely filled during the backward pass.   </a:t>
            </a:r>
          </a:p>
          <a:p>
            <a:pPr lvl="1"/>
            <a:r>
              <a:rPr lang="en-US" dirty="0"/>
              <a:t>This dramatically reduces the total number of network calls and optimizes bandwidth.</a:t>
            </a:r>
          </a:p>
          <a:p>
            <a:endParaRPr lang="en-US" dirty="0"/>
          </a:p>
        </p:txBody>
      </p:sp>
      <p:pic>
        <p:nvPicPr>
          <p:cNvPr id="209715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35157" y="2096382"/>
            <a:ext cx="6203282" cy="2927173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Compute-Communication Overlap in DDP</a:t>
            </a:r>
          </a:p>
        </p:txBody>
      </p:sp>
      <p:sp>
        <p:nvSpPr>
          <p:cNvPr id="104867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7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48677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Communications (red blocks) are not on the backward compute critical path (blue blocks). Thus good compute communication </a:t>
            </a:r>
            <a:r>
              <a:rPr lang="en-US" b="1" dirty="0"/>
              <a:t>overlap capability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1. </a:t>
            </a:r>
            <a:r>
              <a:rPr lang="en-US" dirty="0" err="1"/>
              <a:t>grad_calc</a:t>
            </a:r>
            <a:r>
              <a:rPr lang="en-US" dirty="0"/>
              <a:t>(layer 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gpu</a:t>
            </a:r>
            <a:r>
              <a:rPr lang="en-US" dirty="0"/>
              <a:t> k) depends only on </a:t>
            </a:r>
            <a:r>
              <a:rPr lang="en-US" dirty="0" err="1"/>
              <a:t>grad_calc</a:t>
            </a:r>
            <a:r>
              <a:rPr lang="en-US" dirty="0"/>
              <a:t>(layer </a:t>
            </a:r>
            <a:r>
              <a:rPr lang="en-US" dirty="0" err="1"/>
              <a:t>i</a:t>
            </a:r>
            <a:r>
              <a:rPr lang="en-US" dirty="0"/>
              <a:t> -1, </a:t>
            </a:r>
            <a:r>
              <a:rPr lang="en-US" dirty="0" err="1"/>
              <a:t>gpu</a:t>
            </a:r>
            <a:r>
              <a:rPr lang="en-US" dirty="0"/>
              <a:t> k)</a:t>
            </a:r>
          </a:p>
          <a:p>
            <a:pPr lvl="1"/>
            <a:r>
              <a:rPr lang="en-US" dirty="0"/>
              <a:t>2. All-reduce(layer 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gpu</a:t>
            </a:r>
            <a:r>
              <a:rPr lang="en-US" dirty="0"/>
              <a:t> k) depends on </a:t>
            </a:r>
            <a:r>
              <a:rPr lang="en-US" dirty="0" err="1"/>
              <a:t>grad_calc</a:t>
            </a:r>
            <a:r>
              <a:rPr lang="en-US" dirty="0"/>
              <a:t>(layer </a:t>
            </a:r>
            <a:r>
              <a:rPr lang="en-US" dirty="0" err="1"/>
              <a:t>i</a:t>
            </a:r>
            <a:r>
              <a:rPr lang="en-US" dirty="0"/>
              <a:t>, all </a:t>
            </a:r>
            <a:r>
              <a:rPr lang="en-US" dirty="0" err="1"/>
              <a:t>gpus</a:t>
            </a:r>
            <a:r>
              <a:rPr lang="en-US" dirty="0"/>
              <a:t>)</a:t>
            </a:r>
          </a:p>
        </p:txBody>
      </p:sp>
      <p:pic>
        <p:nvPicPr>
          <p:cNvPr id="209715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037" y="3146242"/>
            <a:ext cx="9105553" cy="328012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Memory Crisis in LLM Training</a:t>
            </a:r>
          </a:p>
        </p:txBody>
      </p:sp>
      <p:sp>
        <p:nvSpPr>
          <p:cNvPr id="104867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8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048681" name="Content Placeholder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072630" cy="4853305"/>
          </a:xfrm>
        </p:spPr>
        <p:txBody>
          <a:bodyPr>
            <a:normAutofit/>
          </a:bodyPr>
          <a:lstStyle/>
          <a:p>
            <a:r>
              <a:rPr lang="en-US" dirty="0"/>
              <a:t>Memory consumption comes from two folds:</a:t>
            </a:r>
          </a:p>
          <a:p>
            <a:pPr lvl="1"/>
            <a:r>
              <a:rPr lang="en-US" dirty="0"/>
              <a:t>Storing the models weights in memory (usually in FP16)</a:t>
            </a:r>
          </a:p>
          <a:p>
            <a:pPr lvl="1"/>
            <a:r>
              <a:rPr lang="en-US" dirty="0"/>
              <a:t>Storing the optimizer states (momentum and variance) in memory (usually inFP32, for accuracy purpose)</a:t>
            </a:r>
          </a:p>
          <a:p>
            <a:r>
              <a:rPr lang="en-US" dirty="0"/>
              <a:t>For a 7B model, storing the model’s weights in FP16 requires 14GB memory. The backward pass generates gradients requiring an additional 14GB.</a:t>
            </a:r>
          </a:p>
          <a:p>
            <a:r>
              <a:rPr lang="en-US" dirty="0"/>
              <a:t>Storing the optimizer states in FP32 requires 56G memory.</a:t>
            </a:r>
          </a:p>
          <a:p>
            <a:r>
              <a:rPr lang="en-US" dirty="0"/>
              <a:t>In total 70G memory used! Note that H100 GPU only has 80G memory</a:t>
            </a:r>
          </a:p>
        </p:txBody>
      </p:sp>
      <p:pic>
        <p:nvPicPr>
          <p:cNvPr id="2097157" name="Picture 2" descr="大模型训练显存估算- 知乎"/>
          <p:cNvPicPr>
            <a:picLocks noChangeAspect="1" noChangeArrowheads="1"/>
          </p:cNvPicPr>
          <p:nvPr/>
        </p:nvPicPr>
        <p:blipFill rotWithShape="1">
          <a:blip r:embed="rId2"/>
          <a:srcRect r="47076"/>
          <a:stretch>
            <a:fillRect/>
          </a:stretch>
        </p:blipFill>
        <p:spPr bwMode="auto">
          <a:xfrm>
            <a:off x="7851838" y="1209280"/>
            <a:ext cx="3816287" cy="4732020"/>
          </a:xfrm>
          <a:prstGeom prst="rect">
            <a:avLst/>
          </a:prstGeom>
          <a:noFill/>
        </p:spPr>
      </p:pic>
      <p:sp>
        <p:nvSpPr>
          <p:cNvPr id="1048682" name="TextBox 6"/>
          <p:cNvSpPr txBox="1"/>
          <p:nvPr/>
        </p:nvSpPr>
        <p:spPr>
          <a:xfrm>
            <a:off x="7583745" y="5987019"/>
            <a:ext cx="4352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composition during LLM training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Memory Crisis in LLM Training</a:t>
            </a:r>
          </a:p>
        </p:txBody>
      </p:sp>
      <p:sp>
        <p:nvSpPr>
          <p:cNvPr id="104868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8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48686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Standard DDP suffers from severe memory redundancy.   </a:t>
            </a:r>
          </a:p>
          <a:p>
            <a:r>
              <a:rPr lang="en-US" dirty="0"/>
              <a:t>Training across 8 GPUs forces the cluster to maintain 8 complete copies of model weights, gradients, and massive FP32 optimizer states.   </a:t>
            </a:r>
          </a:p>
          <a:p>
            <a:r>
              <a:rPr lang="en-US" dirty="0"/>
              <a:t>Redundant replication consumes High Bandwidth Memory without providing additional computational capacity.</a:t>
            </a:r>
          </a:p>
          <a:p>
            <a:r>
              <a:rPr lang="en-US" dirty="0"/>
              <a:t>Strictly limits the maximum trainable model size to the capacity of a single GPU, creating an insurmountable barrier for LLMs.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ZeRO</a:t>
            </a:r>
            <a:r>
              <a:rPr lang="en-US" dirty="0"/>
              <a:t> – Solving the Memory Overhead Issue of DP</a:t>
            </a:r>
          </a:p>
        </p:txBody>
      </p:sp>
      <p:sp>
        <p:nvSpPr>
          <p:cNvPr id="104868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8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690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Core idea of ZeRO (Zero Redundancy Optimizer)</a:t>
            </a:r>
          </a:p>
          <a:p>
            <a:pPr lvl="1"/>
            <a:r>
              <a:rPr lang="en-US" dirty="0"/>
              <a:t>Split up the expensive parts (state) and use the reduce-scatter equivalence.</a:t>
            </a:r>
          </a:p>
        </p:txBody>
      </p:sp>
      <p:pic>
        <p:nvPicPr>
          <p:cNvPr id="209715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54" y="2360120"/>
            <a:ext cx="9482668" cy="40859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Stage 1: Optimizer State Sharding (P</a:t>
            </a:r>
            <a:r>
              <a:rPr lang="en-US" baseline="-25000" dirty="0"/>
              <a:t>os</a:t>
            </a:r>
            <a:r>
              <a:rPr lang="en-US" dirty="0"/>
              <a:t>)</a:t>
            </a:r>
          </a:p>
        </p:txBody>
      </p:sp>
      <p:sp>
        <p:nvSpPr>
          <p:cNvPr id="104869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9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048694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Split up the optimizer state (first + second moments) across GPUs</a:t>
            </a:r>
          </a:p>
          <a:p>
            <a:r>
              <a:rPr lang="en-US" dirty="0"/>
              <a:t>Each worker has the full parameters, and computes gradient on its subset of data.</a:t>
            </a:r>
          </a:p>
          <a:p>
            <a:r>
              <a:rPr lang="en-US" dirty="0"/>
              <a:t>Each worker is responsible for updating a shard of the full parameters</a:t>
            </a:r>
          </a:p>
          <a:p>
            <a:endParaRPr lang="en-US" dirty="0"/>
          </a:p>
        </p:txBody>
      </p:sp>
      <p:pic>
        <p:nvPicPr>
          <p:cNvPr id="209715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968" y="3280745"/>
            <a:ext cx="9976064" cy="211534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Stage 1: Optimizer State Sharding (P</a:t>
            </a:r>
            <a:r>
              <a:rPr lang="en-US" baseline="-25000" dirty="0"/>
              <a:t>os</a:t>
            </a:r>
            <a:r>
              <a:rPr lang="en-US" dirty="0"/>
              <a:t>)</a:t>
            </a:r>
          </a:p>
        </p:txBody>
      </p:sp>
      <p:sp>
        <p:nvSpPr>
          <p:cNvPr id="104869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048698" name="Content Placeholder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795770" cy="4853305"/>
          </a:xfrm>
        </p:spPr>
        <p:txBody>
          <a:bodyPr/>
          <a:lstStyle/>
          <a:p>
            <a:r>
              <a:rPr lang="en-US" dirty="0"/>
              <a:t> Each worker computes a full gradient on their subset of the data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ReduceScatter</a:t>
            </a:r>
            <a:r>
              <a:rPr lang="en-US" dirty="0"/>
              <a:t> the gradients: each worker gets the full gradient corresponding to their parameter shard (#params communication cost).</a:t>
            </a:r>
          </a:p>
          <a:p>
            <a:r>
              <a:rPr lang="en-US" dirty="0"/>
              <a:t>Each worker updates their param using their gradient + state.</a:t>
            </a:r>
          </a:p>
          <a:p>
            <a:r>
              <a:rPr lang="en-US" dirty="0"/>
              <a:t>Perform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AllGather</a:t>
            </a:r>
            <a:r>
              <a:rPr lang="en-US" dirty="0"/>
              <a:t> to synchronize params</a:t>
            </a:r>
          </a:p>
          <a:p>
            <a:pPr lvl="1"/>
            <a:r>
              <a:rPr lang="en-US" dirty="0"/>
              <a:t>#params communication cost</a:t>
            </a:r>
          </a:p>
        </p:txBody>
      </p:sp>
      <p:pic>
        <p:nvPicPr>
          <p:cNvPr id="2097160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245" y="2205569"/>
            <a:ext cx="4601282" cy="1493205"/>
          </a:xfrm>
          <a:prstGeom prst="rect">
            <a:avLst/>
          </a:prstGeom>
        </p:spPr>
      </p:pic>
      <p:pic>
        <p:nvPicPr>
          <p:cNvPr id="2097161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487" y="4368800"/>
            <a:ext cx="4865513" cy="167075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Na</a:t>
            </a:r>
            <a:r>
              <a:rPr lang="en-US" dirty="0" err="1"/>
              <a:t>ï</a:t>
            </a:r>
            <a:r>
              <a:rPr lang="en-US" dirty="0"/>
              <a:t>ve DP with ZeRO-1</a:t>
            </a:r>
          </a:p>
        </p:txBody>
      </p:sp>
      <p:sp>
        <p:nvSpPr>
          <p:cNvPr id="104870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0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48702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ZeRO</a:t>
            </a:r>
            <a:r>
              <a:rPr lang="en-US" dirty="0"/>
              <a:t> stage 1 is free (in the bandwidth limited regime) memory wins.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194304" name="Table 5"/>
          <p:cNvGraphicFramePr>
            <a:graphicFrameLocks noGrp="1"/>
          </p:cNvGraphicFramePr>
          <p:nvPr/>
        </p:nvGraphicFramePr>
        <p:xfrm>
          <a:off x="694996" y="1930401"/>
          <a:ext cx="10802007" cy="387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504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</a:t>
                      </a:r>
                      <a:r>
                        <a:rPr lang="en-US" sz="2400" dirty="0" err="1"/>
                        <a:t>ï</a:t>
                      </a:r>
                      <a:r>
                        <a:rPr lang="en-US" sz="2400" dirty="0"/>
                        <a:t>ve DDP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ZeRO-1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915">
                <a:tc>
                  <a:txBody>
                    <a:bodyPr/>
                    <a:lstStyle/>
                    <a:p>
                      <a:r>
                        <a:rPr lang="en-US" sz="2400" dirty="0"/>
                        <a:t>Communication Primitive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One all-reduce (full gradients)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One reduce-scatter (collect gradient slices) + one all-gather (sync the params)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04">
                <a:tc>
                  <a:txBody>
                    <a:bodyPr/>
                    <a:lstStyle/>
                    <a:p>
                      <a:r>
                        <a:rPr lang="en-US" sz="2400" dirty="0"/>
                        <a:t>Communication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2x #params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2x #params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307">
                <a:tc>
                  <a:txBody>
                    <a:bodyPr/>
                    <a:lstStyle/>
                    <a:p>
                      <a:r>
                        <a:rPr lang="en-US" sz="2400" dirty="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(4 + K) x #params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(4 + K / nGPUs) x #params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703" name="TextBox 6"/>
          <p:cNvSpPr txBox="1"/>
          <p:nvPr/>
        </p:nvSpPr>
        <p:spPr>
          <a:xfrm>
            <a:off x="2614344" y="5897325"/>
            <a:ext cx="918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is the bytes used by optimizer states for each param (typically 12 for FP32 momentum)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ZeRO Stage-2: Optimizer State + Gradient Sharding (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os+g</a:t>
            </a:r>
            <a:r>
              <a:rPr lang="en-US" altLang="en-US" dirty="0"/>
              <a:t>)</a:t>
            </a:r>
            <a:endParaRPr lang="en-US" dirty="0"/>
          </a:p>
        </p:txBody>
      </p:sp>
      <p:sp>
        <p:nvSpPr>
          <p:cNvPr id="104870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0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048707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High-level idea:</a:t>
            </a:r>
          </a:p>
          <a:p>
            <a:pPr lvl="1"/>
            <a:r>
              <a:rPr lang="en-US" dirty="0"/>
              <a:t>Also keep the gradients (pink slices) sharded across the machines.</a:t>
            </a:r>
          </a:p>
          <a:p>
            <a:pPr lvl="1"/>
            <a:r>
              <a:rPr lang="en-US" dirty="0"/>
              <a:t>Use the same (rough) tricks as stage 1.</a:t>
            </a:r>
          </a:p>
          <a:p>
            <a:r>
              <a:rPr lang="en-US" dirty="0"/>
              <a:t>Complexity: we can never instantiate a full gradient vector, but each worker must compute a full gradient (since we’re data parallel)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209716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515" y="3518694"/>
            <a:ext cx="9098811" cy="274796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ZeRO</a:t>
            </a:r>
            <a:r>
              <a:rPr lang="en-US" altLang="en-US" dirty="0"/>
              <a:t> Stage-2: Optimizer State + Gradient Sharding (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os+g</a:t>
            </a:r>
            <a:r>
              <a:rPr lang="en-US" altLang="en-US" dirty="0"/>
              <a:t>)</a:t>
            </a:r>
            <a:endParaRPr lang="en-US" dirty="0"/>
          </a:p>
        </p:txBody>
      </p:sp>
      <p:sp>
        <p:nvSpPr>
          <p:cNvPr id="104870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048711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Step 1. Everyone incrementally goes backward on the computation graph</a:t>
            </a:r>
          </a:p>
          <a:p>
            <a:pPr lvl="1"/>
            <a:r>
              <a:rPr lang="en-US" dirty="0"/>
              <a:t>Step 1a. After computing a layer’s gradients, immediately reduce to send this to the right worker.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Step 1b. Once gradients are not needed in the backward graph, immediately free it.</a:t>
            </a:r>
          </a:p>
          <a:p>
            <a:r>
              <a:rPr lang="en-US" dirty="0"/>
              <a:t>Step 2. Each machine updates their param using their gradient + state.</a:t>
            </a:r>
          </a:p>
          <a:p>
            <a:r>
              <a:rPr lang="en-US" dirty="0"/>
              <a:t>Step 3. All Gather the parameters.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2097163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772" y="2184401"/>
            <a:ext cx="5126714" cy="1597377"/>
          </a:xfrm>
          <a:prstGeom prst="rect">
            <a:avLst/>
          </a:prstGeom>
        </p:spPr>
      </p:pic>
      <p:pic>
        <p:nvPicPr>
          <p:cNvPr id="2097164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157" y="4812987"/>
            <a:ext cx="5126714" cy="17259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ZeRO</a:t>
            </a:r>
            <a:r>
              <a:rPr lang="en-US" altLang="en-US" dirty="0"/>
              <a:t> Stage-3 (aka FSDP) Shard </a:t>
            </a:r>
            <a:r>
              <a:rPr lang="en-US" altLang="en-US" i="1" dirty="0"/>
              <a:t>Everything</a:t>
            </a:r>
            <a:endParaRPr lang="en-US" i="1" dirty="0"/>
          </a:p>
        </p:txBody>
      </p:sp>
      <p:sp>
        <p:nvSpPr>
          <p:cNvPr id="104871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04871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High-level ideas</a:t>
            </a:r>
          </a:p>
          <a:p>
            <a:pPr lvl="1"/>
            <a:r>
              <a:rPr lang="en-US" dirty="0"/>
              <a:t>Shard everything, including parameters!</a:t>
            </a:r>
          </a:p>
          <a:p>
            <a:pPr lvl="1"/>
            <a:r>
              <a:rPr lang="en-US" dirty="0"/>
              <a:t>Use the same “incremental communication / computation” ideas</a:t>
            </a:r>
          </a:p>
          <a:p>
            <a:pPr lvl="1"/>
            <a:r>
              <a:rPr lang="en-US" dirty="0"/>
              <a:t>Send and request parameters on demand while stepping through the compute graph.</a:t>
            </a:r>
          </a:p>
          <a:p>
            <a:pPr lvl="1"/>
            <a:endParaRPr lang="en-US" dirty="0"/>
          </a:p>
        </p:txBody>
      </p:sp>
      <p:pic>
        <p:nvPicPr>
          <p:cNvPr id="209716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3" y="3147761"/>
            <a:ext cx="10858884" cy="180806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ZeRO</a:t>
            </a:r>
            <a:r>
              <a:rPr lang="en-US" altLang="en-US" dirty="0"/>
              <a:t> Stage-3 (aka FSDP) Shard </a:t>
            </a:r>
            <a:r>
              <a:rPr lang="en-US" altLang="en-US" i="1" dirty="0"/>
              <a:t>Everything</a:t>
            </a:r>
            <a:endParaRPr lang="en-US" dirty="0"/>
          </a:p>
        </p:txBody>
      </p:sp>
      <p:sp>
        <p:nvSpPr>
          <p:cNvPr id="104871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pytorch.org</a:t>
            </a:r>
            <a:r>
              <a:rPr lang="en-US" dirty="0"/>
              <a:t>/tutorials/intermediate/</a:t>
            </a:r>
            <a:r>
              <a:rPr lang="en-US" dirty="0" err="1"/>
              <a:t>FSDP_tutorial.html</a:t>
            </a:r>
            <a:endParaRPr lang="en-US" dirty="0"/>
          </a:p>
        </p:txBody>
      </p:sp>
      <p:sp>
        <p:nvSpPr>
          <p:cNvPr id="10487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1048719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Communication cost – 2 all gather (#param), 1 reduce-scatter (#param).</a:t>
            </a:r>
          </a:p>
        </p:txBody>
      </p:sp>
      <p:pic>
        <p:nvPicPr>
          <p:cNvPr id="2097166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82" y="1788388"/>
            <a:ext cx="9892729" cy="447826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FSDP / ZeRO-3: Actual Picture</a:t>
            </a:r>
          </a:p>
        </p:txBody>
      </p:sp>
      <p:sp>
        <p:nvSpPr>
          <p:cNvPr id="104872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/pdf/2304.11277.pdf</a:t>
            </a:r>
          </a:p>
        </p:txBody>
      </p:sp>
      <p:sp>
        <p:nvSpPr>
          <p:cNvPr id="10487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1048723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Incremental computation / communication</a:t>
            </a:r>
          </a:p>
          <a:p>
            <a:pPr lvl="1"/>
            <a:r>
              <a:rPr lang="en-US" dirty="0"/>
              <a:t>Parameters / gradients are requested / sent and then immediately freed</a:t>
            </a:r>
          </a:p>
          <a:p>
            <a:r>
              <a:rPr lang="en-US" dirty="0"/>
              <a:t>Overlapping communication and computation (𝑾𝟏𝑾𝟎 + 𝑾𝟐𝑾𝟎)𝒙 = 𝒚</a:t>
            </a:r>
          </a:p>
          <a:p>
            <a:pPr lvl="1"/>
            <a:r>
              <a:rPr lang="en-US" dirty="0"/>
              <a:t>The all-gathers happen all at once while forward happens, masking the comm cost.</a:t>
            </a:r>
          </a:p>
          <a:p>
            <a:endParaRPr lang="en-US" dirty="0"/>
          </a:p>
        </p:txBody>
      </p:sp>
      <p:pic>
        <p:nvPicPr>
          <p:cNvPr id="209716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11" y="3283384"/>
            <a:ext cx="8800850" cy="28935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Overhead Recap</a:t>
            </a:r>
          </a:p>
        </p:txBody>
      </p:sp>
      <p:sp>
        <p:nvSpPr>
          <p:cNvPr id="104872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1048727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DDP (All reduce): 2x #params</a:t>
            </a:r>
          </a:p>
          <a:p>
            <a:r>
              <a:rPr lang="en-US" dirty="0" err="1"/>
              <a:t>ZeRO</a:t>
            </a:r>
            <a:r>
              <a:rPr lang="en-US" dirty="0"/>
              <a:t> Stage-1 / 2 (Reduce-Scatter + All-gather): 2x #params</a:t>
            </a:r>
          </a:p>
          <a:p>
            <a:pPr lvl="1"/>
            <a:r>
              <a:rPr lang="en-US" dirty="0"/>
              <a:t>Memory saved for free</a:t>
            </a:r>
          </a:p>
          <a:p>
            <a:r>
              <a:rPr lang="en-US" dirty="0" err="1"/>
              <a:t>ZeRO</a:t>
            </a:r>
            <a:r>
              <a:rPr lang="en-US" dirty="0"/>
              <a:t> Stage-3 / FSDP (All-gather + Reduce-scatter + All-gather): 3x #params</a:t>
            </a:r>
          </a:p>
          <a:p>
            <a:pPr lvl="1"/>
            <a:r>
              <a:rPr lang="en-US" dirty="0"/>
              <a:t>More overhead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Revisiting GPU Memory Calculation</a:t>
            </a:r>
            <a:endParaRPr lang="en-US" dirty="0"/>
          </a:p>
        </p:txBody>
      </p:sp>
      <p:sp>
        <p:nvSpPr>
          <p:cNvPr id="104872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3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1048731" name="TextBox 5"/>
          <p:cNvSpPr txBox="1"/>
          <p:nvPr/>
        </p:nvSpPr>
        <p:spPr>
          <a:xfrm>
            <a:off x="2400316" y="1519684"/>
            <a:ext cx="78182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GPU memory consumption :=</a:t>
            </a:r>
          </a:p>
          <a:p>
            <a:r>
              <a:rPr lang="en-US" sz="2400" dirty="0"/>
              <a:t>	Model parameters (in FP16) +</a:t>
            </a:r>
          </a:p>
          <a:p>
            <a:r>
              <a:rPr lang="en-US" sz="2400" dirty="0"/>
              <a:t>	Gradients (FP16) +</a:t>
            </a:r>
          </a:p>
          <a:p>
            <a:r>
              <a:rPr lang="en-US" sz="2400" dirty="0"/>
              <a:t>	Master weights (FP32) +</a:t>
            </a:r>
          </a:p>
          <a:p>
            <a:r>
              <a:rPr lang="en-US" sz="2400" dirty="0"/>
              <a:t>	Adam momentum (FP32) +</a:t>
            </a:r>
          </a:p>
          <a:p>
            <a:r>
              <a:rPr lang="en-US" sz="2400" dirty="0"/>
              <a:t>	Adam variance (FP32) +</a:t>
            </a:r>
          </a:p>
          <a:p>
            <a:r>
              <a:rPr lang="en-US" sz="2400" dirty="0">
                <a:highlight>
                  <a:srgbClr val="FFFF00"/>
                </a:highlight>
              </a:rPr>
              <a:t>	Model Activations (This scales with the batch size)!</a:t>
            </a:r>
          </a:p>
        </p:txBody>
      </p:sp>
      <p:sp>
        <p:nvSpPr>
          <p:cNvPr id="1048732" name="TextBox 6"/>
          <p:cNvSpPr txBox="1"/>
          <p:nvPr/>
        </p:nvSpPr>
        <p:spPr>
          <a:xfrm>
            <a:off x="2027470" y="4584470"/>
            <a:ext cx="8270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We will go through activation consumption more in the coming chapters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104873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3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1048736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Summary: Training massive LLMs requires breaking the single-GPU memory barrier via state sharding.</a:t>
            </a:r>
          </a:p>
          <a:p>
            <a:r>
              <a:rPr lang="en-US" dirty="0" err="1"/>
              <a:t>ZeRO</a:t>
            </a:r>
            <a:r>
              <a:rPr lang="en-US" dirty="0"/>
              <a:t> and FSDP elegantly solve capacity issues by partitioning states without sacrificing data-parallel simplicity.</a:t>
            </a:r>
          </a:p>
          <a:p>
            <a:r>
              <a:rPr lang="en-US" dirty="0"/>
              <a:t>The Next Bottleneck: As models reach hundreds of billions of parameters, even the pipelined layer-by-layer communication of FSDP bottlenecks the training cluster.</a:t>
            </a:r>
          </a:p>
          <a:p>
            <a:r>
              <a:rPr lang="en-US" dirty="0"/>
              <a:t>Solution: We must slice the actual matrix mathematics themselves -&gt; Tensor Parallelism.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1350</Words>
  <Application>Microsoft Office PowerPoint</Application>
  <PresentationFormat>宽屏</PresentationFormat>
  <Paragraphs>150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等线</vt:lpstr>
      <vt:lpstr>微软雅黑</vt:lpstr>
      <vt:lpstr>文泉驿微米黑</vt:lpstr>
      <vt:lpstr>Arial</vt:lpstr>
      <vt:lpstr>Calibri</vt:lpstr>
      <vt:lpstr>Calibri Light</vt:lpstr>
      <vt:lpstr>Courier New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28: Data Parallelism</vt:lpstr>
      <vt:lpstr>PowerPoint 演示文稿</vt:lpstr>
      <vt:lpstr>Introduction to Distributed LLM Training</vt:lpstr>
      <vt:lpstr>Introduction to Data Parallelism (DP)</vt:lpstr>
      <vt:lpstr>Introduction to Data Parallelism (DP)</vt:lpstr>
      <vt:lpstr>Gradient Bucketing in DDP</vt:lpstr>
      <vt:lpstr>Compute-Communication Overlap in DDP</vt:lpstr>
      <vt:lpstr>The Memory Crisis in LLM Training</vt:lpstr>
      <vt:lpstr>The Memory Crisis in LLM Training</vt:lpstr>
      <vt:lpstr>ZeRO – Solving the Memory Overhead Issue of DP</vt:lpstr>
      <vt:lpstr>ZeRO Stage 1: Optimizer State Sharding (Pos)</vt:lpstr>
      <vt:lpstr>ZeRO Stage 1: Optimizer State Sharding (Pos)</vt:lpstr>
      <vt:lpstr>Compare Naïve DP with ZeRO-1</vt:lpstr>
      <vt:lpstr>ZeRO Stage-2: Optimizer State + Gradient Sharding (Pos+g)</vt:lpstr>
      <vt:lpstr>ZeRO Stage-2: Optimizer State + Gradient Sharding (Pos+g)</vt:lpstr>
      <vt:lpstr>ZeRO Stage-3 (aka FSDP) Shard Everything</vt:lpstr>
      <vt:lpstr>ZeRO Stage-3 (aka FSDP) Shard Everything</vt:lpstr>
      <vt:lpstr>FSDP / ZeRO-3: Actual Picture</vt:lpstr>
      <vt:lpstr>Communication Overhead Recap</vt:lpstr>
      <vt:lpstr>Revisiting GPU Memory Calculation</vt:lpstr>
      <vt:lpstr>Conclusion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28：数据并行 (Data Parallelism)</dc:title>
  <dc:creator>王丰</dc:creator>
  <cp:lastModifiedBy>Xiang Li</cp:lastModifiedBy>
  <cp:revision>5</cp:revision>
  <dcterms:created xsi:type="dcterms:W3CDTF">2026-03-12T02:58:00Z</dcterms:created>
  <dcterms:modified xsi:type="dcterms:W3CDTF">2026-03-17T14:54:35Z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bbeaa40a725446bd836732f22e1f8264_23</vt:lpwstr>
  </property>
  <property fmtid="{D5CDD505-2E9C-101B-9397-08002B2CF9AE}" pid="3" name="KSOProductBuildVer">
    <vt:lpwstr>2052-12.1.0.19302</vt:lpwstr>
  </property>
</Properties>
</file>