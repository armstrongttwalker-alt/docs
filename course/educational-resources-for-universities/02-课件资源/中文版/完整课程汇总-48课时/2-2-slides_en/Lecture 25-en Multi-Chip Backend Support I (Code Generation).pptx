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37" r:id="rId2"/>
    <p:sldId id="1928" r:id="rId3"/>
    <p:sldId id="1946" r:id="rId4"/>
    <p:sldId id="1975" r:id="rId5"/>
    <p:sldId id="1976" r:id="rId6"/>
    <p:sldId id="1977" r:id="rId7"/>
    <p:sldId id="1978" r:id="rId8"/>
    <p:sldId id="1979" r:id="rId9"/>
    <p:sldId id="1981" r:id="rId10"/>
    <p:sldId id="1982" r:id="rId11"/>
    <p:sldId id="1983" r:id="rId12"/>
    <p:sldId id="1984" r:id="rId13"/>
    <p:sldId id="1985" r:id="rId14"/>
    <p:sldId id="1986" r:id="rId15"/>
    <p:sldId id="1987" r:id="rId16"/>
    <p:sldId id="1988" r:id="rId17"/>
    <p:sldId id="1989" r:id="rId18"/>
    <p:sldId id="1990" r:id="rId19"/>
    <p:sldId id="1991" r:id="rId20"/>
    <p:sldId id="1992" r:id="rId21"/>
    <p:sldId id="1993" r:id="rId22"/>
    <p:sldId id="1980" r:id="rId23"/>
    <p:sldId id="1952" r:id="rId24"/>
    <p:sldId id="277" r:id="rId25"/>
    <p:sldId id="279" r:id="rId26"/>
    <p:sldId id="280" r:id="rId27"/>
  </p:sldIdLst>
  <p:sldSz cx="12192000" cy="6858000"/>
  <p:notesSz cx="6858000" cy="9144000"/>
  <p:custDataLst>
    <p:tags r:id="rId3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7"/>
    <p:restoredTop sz="91944" autoAdjust="0"/>
  </p:normalViewPr>
  <p:slideViewPr>
    <p:cSldViewPr snapToGrid="0" snapToObjects="1">
      <p:cViewPr varScale="1">
        <p:scale>
          <a:sx n="56" d="100"/>
          <a:sy n="56" d="100"/>
        </p:scale>
        <p:origin x="896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3613445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278867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image" Target="../media/image15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3.xml"/><Relationship Id="rId21" Type="http://schemas.openxmlformats.org/officeDocument/2006/relationships/image" Target="../media/image18.png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image" Target="../media/image17.png"/><Relationship Id="rId29" Type="http://schemas.openxmlformats.org/officeDocument/2006/relationships/image" Target="../media/image22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23" Type="http://schemas.openxmlformats.org/officeDocument/2006/relationships/image" Target="../media/image20.png"/><Relationship Id="rId28" Type="http://schemas.openxmlformats.org/officeDocument/2006/relationships/image" Target="../media/image21.jpeg"/><Relationship Id="rId10" Type="http://schemas.openxmlformats.org/officeDocument/2006/relationships/tags" Target="../tags/tag20.xml"/><Relationship Id="rId19" Type="http://schemas.openxmlformats.org/officeDocument/2006/relationships/image" Target="../media/image16.png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image" Target="../media/image19.png"/><Relationship Id="rId27" Type="http://schemas.openxmlformats.org/officeDocument/2006/relationships/hyperlink" Target="https://flagos.io/Home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x-none" altLang="ja-JP"/>
              <a:t>Lecture 25：</a:t>
            </a:r>
            <a:r>
              <a:rPr lang="x-none" altLang="ja-JP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M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ulti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-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end Support</a:t>
            </a:r>
            <a:r>
              <a:rPr lang="ja-JP" altLang="en-US"/>
              <a:t> </a:t>
            </a:r>
            <a:r>
              <a:rPr lang="en-US" altLang="ja-JP" dirty="0"/>
              <a:t>I</a:t>
            </a:r>
            <a:br>
              <a:rPr lang="en-US" altLang="ja-JP" dirty="0"/>
            </a:br>
            <a:r>
              <a:rPr lang="x-none" altLang="en-US" dirty="0" err="1"/>
              <a:t>（</a:t>
            </a:r>
            <a:r>
              <a:rPr lang="en-US" altLang="ja-JP" dirty="0" err="1"/>
              <a:t>Codegen</a:t>
            </a:r>
            <a:r>
              <a:rPr lang="x-none" altLang="en-US" dirty="0" err="1"/>
              <a:t>）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t="21748" b="27785"/>
          <a:stretch>
            <a:fillRect/>
          </a:stretch>
        </p:blipFill>
        <p:spPr>
          <a:xfrm>
            <a:off x="523875" y="1863090"/>
            <a:ext cx="5531485" cy="9169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Multi</a:t>
            </a:r>
            <a:r>
              <a:rPr dirty="0" err="1"/>
              <a:t>-</a:t>
            </a:r>
            <a:r>
              <a:rPr lang="en-US" altLang="zh-CN" dirty="0" err="1"/>
              <a:t>end Compilation Flow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Triton </a:t>
            </a:r>
            <a:r>
              <a:rPr lang="en-US" altLang="zh-CN" dirty="0" err="1">
                <a:cs typeface="Arial" panose="020B0604020202020204" pitchFamily="34" charset="0"/>
              </a:rPr>
              <a:t>Compilation Flow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altLang="zh-CN" dirty="0" err="1"/>
              <a:t>Multi</a:t>
            </a:r>
            <a:r>
              <a:rPr lang="zh-CN" altLang="en-US" dirty="0" err="1"/>
              <a:t>-</a:t>
            </a:r>
            <a:r>
              <a:rPr lang="en-US" altLang="zh-CN" dirty="0" err="1"/>
              <a:t>end Support in </a:t>
            </a:r>
            <a:r>
              <a:rPr lang="en-US" dirty="0" err="1"/>
              <a:t>Triton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04" y="3488405"/>
            <a:ext cx="5499376" cy="2528953"/>
          </a:xfrm>
          <a:prstGeom prst="rect">
            <a:avLst/>
          </a:prstGeom>
        </p:spPr>
      </p:pic>
      <p:sp>
        <p:nvSpPr>
          <p:cNvPr id="9" name="Content Placeholder 5"/>
          <p:cNvSpPr txBox="1"/>
          <p:nvPr/>
        </p:nvSpPr>
        <p:spPr>
          <a:xfrm>
            <a:off x="6210297" y="1323977"/>
            <a:ext cx="5981703" cy="4856162"/>
          </a:xfrm>
          <a:prstGeom prst="rect">
            <a:avLst/>
          </a:prstGeom>
        </p:spPr>
        <p:txBody>
          <a:bodyPr/>
          <a:lstStyle>
            <a:lvl1pPr marL="360045" marR="0" indent="-360045" algn="l" defTabSz="3429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■"/>
              <a:defRPr sz="2400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1pPr>
            <a:lvl2pPr marL="557530" marR="0" indent="-21463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Pct val="75000"/>
              <a:buFont typeface="文泉驿微米黑" panose="020B0606030804020204" charset="-122"/>
              <a:buChar char="♦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2pPr>
            <a:lvl3pPr marL="8572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▶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3pPr>
            <a:lvl4pPr marL="12001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●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4pPr>
            <a:lvl5pPr marL="15430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Compiler</a:t>
            </a:r>
            <a:r>
              <a:rPr lang="zh-CN" altLang="en-US" dirty="0"/>
              <a:t> </a:t>
            </a:r>
            <a:r>
              <a:rPr lang="en-US" altLang="zh-CN" dirty="0"/>
              <a:t>Backend</a:t>
            </a:r>
            <a:r>
              <a:rPr lang="zh-CN" altLang="en-US" dirty="0"/>
              <a:t>：</a:t>
            </a:r>
            <a:r>
              <a:rPr lang="en-US" altLang="zh-CN" dirty="0"/>
              <a:t>IR-&gt;Machine Code</a:t>
            </a:r>
          </a:p>
          <a:p>
            <a:pPr lvl="1"/>
            <a:r>
              <a:rPr lang="en-US" altLang="zh-CN"/>
              <a:t>Adapting to different target architectures</a:t>
            </a:r>
          </a:p>
          <a:p>
            <a:pPr lvl="1"/>
            <a:r>
              <a:rPr lang="en-US" altLang="zh-CN"/>
              <a:t>Generating efficient target code</a:t>
            </a:r>
          </a:p>
          <a:p>
            <a:pPr lvl="1"/>
            <a:r>
              <a:rPr lang="en-US" altLang="zh-CN"/>
              <a:t>Leveraging hardware features</a:t>
            </a:r>
          </a:p>
          <a:p>
            <a:pPr lvl="0"/>
            <a:r>
              <a:rPr lang="en-US" altLang="zh-CN"/>
              <a:t>Main Pipeline</a:t>
            </a:r>
          </a:p>
          <a:p>
            <a:pPr lvl="1"/>
            <a:r>
              <a:rPr lang="en-US" altLang="zh-CN"/>
              <a:t>Instruction Selection</a:t>
            </a:r>
          </a:p>
          <a:p>
            <a:pPr lvl="1"/>
            <a:r>
              <a:rPr lang="en-US" altLang="zh-CN"/>
              <a:t>Register Allocation</a:t>
            </a:r>
          </a:p>
          <a:p>
            <a:pPr lvl="1"/>
            <a:r>
              <a:rPr lang="en-US" altLang="zh-CN"/>
              <a:t>Instruction Scheduling</a:t>
            </a:r>
          </a:p>
          <a:p>
            <a:pPr lvl="1"/>
            <a:r>
              <a:rPr lang="en-US" altLang="zh-CN"/>
              <a:t>Code Emission</a:t>
            </a:r>
          </a:p>
          <a:p>
            <a:pPr lvl="0"/>
            <a:r>
              <a:rPr lang="en-US" altLang="zh-CN"/>
              <a:t>Fragmentation of AI Computing Hardware</a:t>
            </a:r>
          </a:p>
          <a:p>
            <a:pPr lvl="1"/>
            <a:r>
              <a:rPr lang="en-US" altLang="zh-CN"/>
              <a:t>The same algorithm requires generating different code for different hardware targets</a:t>
            </a:r>
            <a:endParaRPr lang="ja-JP" altLang="en-US"/>
          </a:p>
          <a:p>
            <a:pPr lvl="1"/>
            <a:endParaRPr lang="ja-JP" altLang="en-US"/>
          </a:p>
          <a:p>
            <a:pPr lvl="1"/>
            <a:endParaRPr lang="ja-JP" altLang="en-US"/>
          </a:p>
          <a:p>
            <a:pPr lvl="1"/>
            <a:endParaRPr lang="ja-JP" altLang="en-US"/>
          </a:p>
          <a:p>
            <a:pPr lvl="1"/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I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nstruction Selection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altLang="zh-CN" dirty="0"/>
              <a:t>The process of translating IR into target machine instructions</a:t>
            </a:r>
          </a:p>
          <a:p>
            <a:pPr lvl="1"/>
            <a:r>
              <a:rPr lang="en-US" altLang="zh-CN" dirty="0"/>
              <a:t>A single IR instruction may correspond to multiple machine instruction combinations</a:t>
            </a:r>
          </a:p>
          <a:p>
            <a:pPr lvl="1"/>
            <a:r>
              <a:rPr lang="en-US" altLang="zh-CN" dirty="0"/>
              <a:t>Selecting the optimal instruction sequence</a:t>
            </a:r>
          </a:p>
          <a:p>
            <a:pPr lvl="0"/>
            <a:r>
              <a:rPr lang="en-US" altLang="zh-CN" dirty="0"/>
              <a:t>Tree Covering Algorithm</a:t>
            </a:r>
          </a:p>
          <a:p>
            <a:pPr lvl="1"/>
            <a:r>
              <a:rPr lang="en-US" altLang="zh-CN" dirty="0"/>
              <a:t>Cover the entire tree with the fewest and fastest instructions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Dynamic Programming</a:t>
            </a:r>
            <a:endParaRPr lang="ja-JP" altLang="en-US"/>
          </a:p>
          <a:p>
            <a:r>
              <a:rPr lang="en-US" altLang="zh-CN" dirty="0"/>
              <a:t>Cost Model</a:t>
            </a:r>
            <a:r>
              <a:rPr lang="en-US" altLang="ja-JP" dirty="0"/>
              <a:t>:</a:t>
            </a:r>
          </a:p>
          <a:p>
            <a:pPr lvl="1"/>
            <a:r>
              <a:rPr lang="en-US" dirty="0"/>
              <a:t>Cost(node) = min over all matching patterns {</a:t>
            </a:r>
            <a:r>
              <a:rPr lang="en-US" dirty="0" err="1"/>
              <a:t>pattern_cost</a:t>
            </a:r>
            <a:r>
              <a:rPr lang="en-US" dirty="0"/>
              <a:t> + </a:t>
            </a:r>
            <a:r>
              <a:rPr lang="el-GR" dirty="0"/>
              <a:t>Σ </a:t>
            </a:r>
            <a:r>
              <a:rPr lang="en-US" dirty="0"/>
              <a:t>Cost(children not covered)}</a:t>
            </a:r>
          </a:p>
          <a:p>
            <a:r>
              <a:rPr lang="en-US" altLang="zh-CN"/>
              <a:t>Calculate Optimal Coverage Bottom</a:t>
            </a:r>
            <a:r>
              <a:rPr lang="zh-CN" altLang="en-US"/>
              <a:t>-</a:t>
            </a:r>
            <a:r>
              <a:rPr lang="en-US" altLang="zh-CN"/>
              <a:t>Up</a:t>
            </a:r>
            <a:endParaRPr lang="ja-JP" altLang="en-US"/>
          </a:p>
          <a:p>
            <a:r>
              <a:rPr lang="en-US" dirty="0" err="1"/>
              <a:t>SelectionDAG</a:t>
            </a:r>
            <a:r>
              <a:rPr lang="en-US" dirty="0"/>
              <a:t> </a:t>
            </a:r>
            <a:r>
              <a:rPr lang="en-US" altLang="zh-CN" dirty="0"/>
              <a:t>Matching in LLVM</a:t>
            </a:r>
            <a:endParaRPr lang="en-US" dirty="0"/>
          </a:p>
          <a:p>
            <a:pPr lvl="1"/>
            <a:r>
              <a:rPr lang="en-US" altLang="zh-CN" dirty="0"/>
              <a:t>Define patterns using TableGen</a:t>
            </a:r>
          </a:p>
          <a:p>
            <a:pPr lvl="1"/>
            <a:r>
              <a:rPr lang="en-US" altLang="zh-CN" dirty="0"/>
              <a:t>Automatically generate matching code</a:t>
            </a:r>
          </a:p>
          <a:p>
            <a:pPr lvl="1"/>
            <a:r>
              <a:rPr lang="en-US" altLang="zh-CN" dirty="0"/>
              <a:t>Support complex instruction fusion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23847" y="4509916"/>
            <a:ext cx="5572127" cy="20081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IR </a:t>
            </a:r>
            <a:r>
              <a:rPr lang="en-US" altLang="zh-CN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Tree</a:t>
            </a:r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 		</a:t>
            </a:r>
            <a:r>
              <a:rPr lang="en-US" altLang="zh-CN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Machine Code</a:t>
            </a:r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add </a:t>
            </a: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/ \ 		add r1, r2, r3</a:t>
            </a:r>
            <a:endParaRPr lang="en-US" altLang="ja-JP" sz="16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load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mul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		add r1, r2,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imm</a:t>
            </a:r>
            <a:endParaRPr lang="en-US" altLang="ja-JP" sz="16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zh-CN" alt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| 	</a:t>
            </a:r>
            <a:r>
              <a:rPr lang="zh-CN" alt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/ \ 		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madd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r1,r2,r3,r4</a:t>
            </a:r>
            <a:endParaRPr lang="en-US" altLang="ja-JP" sz="16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ptr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a</a:t>
            </a:r>
            <a:r>
              <a:rPr lang="zh-CN" alt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b 		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ld.add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r1, [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ptr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]</a:t>
            </a:r>
            <a:endParaRPr lang="en-US" altLang="ja-JP" sz="16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R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egister Allocation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I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nifinite Virtual Register</a:t>
            </a:r>
            <a:r>
              <a:rPr lang="ja-JP" altLang="en-US"/>
              <a:t> →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F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inite Physical Registers</a:t>
            </a:r>
          </a:p>
          <a:p>
            <a:pPr lvl="1"/>
            <a:r>
              <a:rPr lang="en-US" altLang="zh-CN" dirty="0"/>
              <a:t>Variables that are live simultaneously cannot share a register</a:t>
            </a:r>
          </a:p>
          <a:p>
            <a:r>
              <a:rPr lang="en-US" altLang="zh-CN" dirty="0"/>
              <a:t>Interference Graph</a:t>
            </a:r>
          </a:p>
          <a:p>
            <a:pPr lvl="1"/>
            <a:r>
              <a:rPr lang="en-US" altLang="zh-CN" dirty="0"/>
              <a:t>Nodes = Variables</a:t>
            </a:r>
          </a:p>
          <a:p>
            <a:pPr lvl="1"/>
            <a:r>
              <a:rPr lang="en-US" altLang="zh-CN" dirty="0"/>
              <a:t>Edges = Simultaneously live (conflicting)</a:t>
            </a:r>
            <a:endParaRPr lang="en-US" altLang="ja-JP" dirty="0"/>
          </a:p>
          <a:p>
            <a:pPr lvl="1"/>
            <a:endParaRPr lang="en-US" altLang="ja-JP" dirty="0"/>
          </a:p>
          <a:p>
            <a:endParaRPr lang="ja-JP" altLang="en-US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 dirty="0"/>
              <a:t>Graph Coloring Algorithm</a:t>
            </a:r>
          </a:p>
          <a:p>
            <a:pPr lvl="1"/>
            <a:r>
              <a:rPr lang="en-US" altLang="zh-CN" dirty="0"/>
              <a:t>Input: Interference graph G, k physical registers</a:t>
            </a:r>
          </a:p>
          <a:p>
            <a:pPr lvl="1"/>
            <a:r>
              <a:rPr lang="en-US" altLang="zh-CN" dirty="0"/>
              <a:t>Goal: k-coloring (adjacent nodes get different colors)</a:t>
            </a:r>
          </a:p>
          <a:p>
            <a:r>
              <a:rPr lang="en-US" altLang="zh-CN" dirty="0"/>
              <a:t>Chaitin's Algorithm:</a:t>
            </a:r>
          </a:p>
          <a:p>
            <a:pPr lvl="1"/>
            <a:r>
              <a:rPr lang="en-US" altLang="zh-CN" dirty="0"/>
              <a:t>Remove nodes with degree &lt; k onto the stack</a:t>
            </a:r>
          </a:p>
          <a:p>
            <a:pPr lvl="1"/>
            <a:r>
              <a:rPr lang="en-US" altLang="zh-CN" dirty="0"/>
              <a:t>If all nodes have degree &gt;= k, select one to spill to memory</a:t>
            </a:r>
          </a:p>
          <a:p>
            <a:pPr lvl="1"/>
            <a:r>
              <a:rPr lang="en-US" altLang="zh-CN" dirty="0"/>
              <a:t>Pop stack and assign colors</a:t>
            </a:r>
          </a:p>
          <a:p>
            <a:pPr lvl="1"/>
            <a:r>
              <a:rPr lang="en-US" altLang="zh-CN" dirty="0"/>
              <a:t>Insert load/store to handle spills</a:t>
            </a:r>
          </a:p>
          <a:p>
            <a:r>
              <a:rPr lang="en-US" altLang="zh-CN" dirty="0"/>
              <a:t>Linear Scan: O(n) complexity, commonly used in JIT compilation</a:t>
            </a:r>
          </a:p>
          <a:p>
            <a:r>
              <a:rPr lang="en-US" altLang="zh-CN" dirty="0"/>
              <a:t>PBQP: Partitioned Boolean Quadratic Programming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682180" y="4243981"/>
            <a:ext cx="3280410" cy="14516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a: ████████</a:t>
            </a:r>
          </a:p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b: 		████████████</a:t>
            </a:r>
          </a:p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c: 		</a:t>
            </a:r>
            <a:r>
              <a:rPr lang="zh-CN" alt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████</a:t>
            </a:r>
          </a:p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d: 				</a:t>
            </a:r>
            <a:r>
              <a:rPr lang="zh-CN" alt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████████</a:t>
            </a:r>
          </a:p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e:					 ████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077" y="4528249"/>
            <a:ext cx="2263140" cy="88312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 ─── b ─── c</a:t>
            </a:r>
          </a:p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zh-CN" alt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</a:t>
            </a:r>
            <a:r>
              <a:rPr lang="zh-CN" alt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│</a:t>
            </a:r>
          </a:p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zh-CN" alt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 ─── e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Register Allocation</a:t>
            </a:r>
            <a:r>
              <a:rPr dirty="0"/>
              <a:t>-</a:t>
            </a:r>
            <a:r>
              <a:rPr lang="en-US" altLang="zh-CN" dirty="0"/>
              <a:t>GPU Cases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Unique Characteristics of GPU Register Allocation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More registers (fewer warps)</a:t>
            </a:r>
          </a:p>
          <a:p>
            <a:pPr lvl="1"/>
            <a:r>
              <a:rPr lang="en-US" altLang="zh-CN" dirty="0"/>
              <a:t>Fewer spills</a:t>
            </a:r>
          </a:p>
          <a:p>
            <a:pPr lvl="1"/>
            <a:r>
              <a:rPr lang="en-US" altLang="zh-CN" dirty="0"/>
              <a:t>May reduce parallelism; all data has zero latency</a:t>
            </a:r>
          </a:p>
          <a:p>
            <a:pPr lvl="1"/>
            <a:r>
              <a:rPr lang="en-US" altLang="zh-CN" dirty="0"/>
              <a:t>Latency cannot be hidden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altLang="zh-CN" dirty="0"/>
              <a:t>Triton Register Allocation</a:t>
            </a:r>
          </a:p>
          <a:p>
            <a:pPr lvl="1"/>
            <a:r>
              <a:rPr lang="en-US" altLang="zh-CN" dirty="0"/>
              <a:t>Indirectly controls register pressure via num_warps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0"/>
            <a:r>
              <a:rPr lang="en-US" altLang="zh-CN" dirty="0"/>
              <a:t>Configuration Tradeoffs</a:t>
            </a:r>
          </a:p>
          <a:p>
            <a:pPr lvl="1"/>
            <a:r>
              <a:rPr lang="en-US" altLang="zh-CN" dirty="0"/>
              <a:t>64 registers per thread, Occupancy 50%</a:t>
            </a:r>
          </a:p>
          <a:p>
            <a:pPr lvl="2"/>
            <a:r>
              <a:rPr lang="en-US" altLang="zh-CN" dirty="0"/>
              <a:t>No spills, sufficient warps to hide latency, good performance</a:t>
            </a:r>
          </a:p>
          <a:p>
            <a:pPr lvl="1"/>
            <a:r>
              <a:rPr lang="en-US" altLang="zh-CN" dirty="0"/>
              <a:t>32 registers per thread, Occupancy 100%</a:t>
            </a:r>
          </a:p>
          <a:p>
            <a:pPr lvl="2"/>
            <a:r>
              <a:rPr lang="en-US" altLang="zh-CN" dirty="0"/>
              <a:t>Some data spills to Local Memory; although more warps, the spill penalty is large, poor performance</a:t>
            </a:r>
          </a:p>
          <a:p>
            <a:pPr lvl="1"/>
            <a:r>
              <a:rPr lang="en-US" altLang="zh-CN" dirty="0"/>
              <a:t>200 registers per thread, Occupancy 15%</a:t>
            </a:r>
          </a:p>
          <a:p>
            <a:pPr lvl="2"/>
            <a:r>
              <a:rPr lang="en-US" altLang="zh-CN" dirty="0"/>
              <a:t>No spills, but too few warps to hide memory latency, poor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1412" y="2290563"/>
          <a:ext cx="512318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350" b="1" dirty="0" err="1">
                          <a:solidFill>
                            <a:schemeClr val="lt1"/>
                          </a:solidFill>
                        </a:rPr>
                        <a:t>F</a:t>
                      </a:r>
                      <a:r>
                        <a:rPr lang="en-US" altLang="zh-CN" sz="1350" b="1" dirty="0" err="1">
                          <a:solidFill>
                            <a:schemeClr val="lt1"/>
                          </a:solidFill>
                        </a:rPr>
                        <a:t>eature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Register</a:t>
                      </a:r>
                      <a:r>
                        <a:rPr lang="ja-JP" altLang="en-US"/>
                        <a:t> </a:t>
                      </a:r>
                      <a:r>
                        <a:rPr lang="en-US" altLang="zh-CN"/>
                        <a:t>Size</a:t>
                      </a:r>
                      <a:endParaRPr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~16-32</a:t>
                      </a:r>
                      <a:endParaRPr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~255 </a:t>
                      </a:r>
                      <a:r>
                        <a:rPr lang="en-US" altLang="zh-CN" dirty="0"/>
                        <a:t>per thread</a:t>
                      </a:r>
                      <a:r>
                        <a:rPr lang="en-US" altLang="ja-JP" dirty="0"/>
                        <a:t> </a:t>
                      </a:r>
                      <a:endParaRPr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Parallelism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Small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Thousands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Overflow Cost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High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Occupation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No harm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Direct Influence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311509" y="2290563"/>
            <a:ext cx="4594860" cy="11718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kernel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(...):</a:t>
            </a:r>
            <a:b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Many</a:t>
            </a:r>
            <a:r>
              <a:rPr lang="ja-JP" altLang="en-US" sz="14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warps → </a:t>
            </a:r>
            <a:r>
              <a:rPr lang="en-US" altLang="zh-CN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each</a:t>
            </a:r>
            <a:r>
              <a:rPr lang="ja-JP" altLang="en-US" sz="14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warp </a:t>
            </a:r>
            <a:r>
              <a:rPr lang="en-US" altLang="zh-CN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has fewer register</a:t>
            </a:r>
            <a:r>
              <a:rPr lang="ja-JP" altLang="en-US" sz="14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→ </a:t>
            </a:r>
            <a:r>
              <a:rPr lang="en-US" altLang="zh-CN" sz="14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High 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Occupancy</a:t>
            </a:r>
            <a:endParaRPr lang="ja-JP" altLang="en-US" sz="14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kernel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grid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](</a:t>
            </a:r>
            <a:r>
              <a:rPr lang="en-US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...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i="1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num_warps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BC88D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Instruction Scheduling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Minimize execution time</a:t>
            </a:r>
          </a:p>
          <a:p>
            <a:r>
              <a:rPr lang="en-US" altLang="zh-CN" dirty="0"/>
              <a:t>Hide latency</a:t>
            </a:r>
          </a:p>
          <a:p>
            <a:r>
              <a:rPr lang="en-US" altLang="zh-CN" dirty="0"/>
              <a:t>Exploit Instruction-Level Parallelism (ILP)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090" y="2923382"/>
            <a:ext cx="4133592" cy="22288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Instruction</a:t>
            </a:r>
            <a:r>
              <a:rPr lang="ja-JP" altLang="en-US" sz="160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60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Sequence</a:t>
            </a:r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1: 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r1 = load [ptr1] </a:t>
            </a:r>
            <a:r>
              <a:rPr lang="en-US" altLang="zh-CN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Delay</a:t>
            </a:r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 300 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cycles</a:t>
            </a: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2: r2 = load [ptr2] </a:t>
            </a:r>
            <a:r>
              <a:rPr lang="en-US" altLang="zh-CN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Delay</a:t>
            </a:r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 300 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cycles</a:t>
            </a: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3: r3 = r1 + r2 </a:t>
            </a:r>
            <a:r>
              <a:rPr lang="en-US" altLang="zh-CN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depend on</a:t>
            </a:r>
            <a:r>
              <a:rPr lang="ja-JP" altLang="en-US" sz="16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1, 2</a:t>
            </a:r>
          </a:p>
          <a:p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4: 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r4 = r3 * 2 </a:t>
            </a:r>
            <a:r>
              <a:rPr lang="en-US" altLang="zh-CN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depend on</a:t>
            </a:r>
            <a:r>
              <a:rPr lang="ja-JP" altLang="en-US" sz="16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3</a:t>
            </a:r>
          </a:p>
          <a:p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5: 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store [ptr3], r4 </a:t>
            </a:r>
            <a:r>
              <a:rPr lang="en-US" altLang="zh-CN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depend on</a:t>
            </a:r>
            <a:r>
              <a:rPr lang="ja-JP" altLang="en-US" sz="16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469130" y="2923382"/>
            <a:ext cx="3131820" cy="22288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Dependency graph</a:t>
            </a:r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load1 (300) load2 (300)</a:t>
            </a: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\ 			/</a:t>
            </a: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zh-CN" alt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add (4)</a:t>
            </a: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zh-CN" alt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|</a:t>
            </a: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mul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(4)</a:t>
            </a: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zh-CN" alt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|</a:t>
            </a: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zh-CN" alt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store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399" y="2923382"/>
            <a:ext cx="4122421" cy="22288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Scheduling</a:t>
            </a:r>
            <a:r>
              <a:rPr lang="ja-JP" altLang="en-US" sz="160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60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Result</a:t>
            </a:r>
            <a:r>
              <a:rPr lang="ja-JP" altLang="en-US" sz="16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(2-</a:t>
            </a:r>
            <a:r>
              <a:rPr lang="en-US" altLang="zh-CN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issue</a:t>
            </a:r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Cycle 0: load1, load2 (</a:t>
            </a:r>
            <a:r>
              <a:rPr lang="en-US" altLang="zh-CN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parallel</a:t>
            </a:r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Cycle 300: add (</a:t>
            </a:r>
            <a:r>
              <a:rPr lang="en-US" altLang="zh-CN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wait</a:t>
            </a:r>
            <a:r>
              <a:rPr lang="ja-JP" altLang="en-US" sz="16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load</a:t>
            </a:r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Cycle 304: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mul</a:t>
            </a:r>
            <a:endParaRPr lang="en-US" sz="16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Cycle 308: store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Instruction Scheduling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7500"/>
          </a:bodyPr>
          <a:lstStyle/>
          <a:p>
            <a:r>
              <a:rPr lang="en-US" altLang="zh-CN" dirty="0"/>
              <a:t>List Scheduling</a:t>
            </a:r>
          </a:p>
          <a:p>
            <a:r>
              <a:rPr lang="en-US" altLang="zh-CN" dirty="0"/>
              <a:t>Priority Queue Scheduling</a:t>
            </a:r>
          </a:p>
          <a:p>
            <a:pPr lvl="1"/>
            <a:r>
              <a:rPr lang="en-US" altLang="zh-CN" dirty="0"/>
              <a:t>Compute the priority of each instruction (critical path length)</a:t>
            </a:r>
          </a:p>
          <a:p>
            <a:pPr lvl="1"/>
            <a:r>
              <a:rPr lang="en-US" altLang="zh-CN" dirty="0"/>
              <a:t>Maintain a ready queue (dependencies satisfied)</a:t>
            </a:r>
          </a:p>
          <a:p>
            <a:pPr lvl="1"/>
            <a:r>
              <a:rPr lang="en-US" altLang="zh-CN" dirty="0"/>
              <a:t>Each cycle, select the highest-priority ready instruction to issue</a:t>
            </a:r>
          </a:p>
          <a:p>
            <a:pPr lvl="1"/>
            <a:r>
              <a:rPr lang="en-US" altLang="zh-CN" dirty="0"/>
              <a:t>Update dependency state</a:t>
            </a:r>
          </a:p>
          <a:p>
            <a:r>
              <a:rPr lang="en-US" altLang="zh-CN" dirty="0"/>
              <a:t>Software Pipelining</a:t>
            </a:r>
          </a:p>
          <a:p>
            <a:pPr lvl="1"/>
            <a:r>
              <a:rPr lang="en-US" altLang="zh-CN" dirty="0"/>
              <a:t>Overlap instruction execution from different iterations within a loop.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0"/>
            <a:r>
              <a:rPr lang="en-US" altLang="zh-CN" dirty="0"/>
              <a:t>Software Pipelining Implementation on GPU</a:t>
            </a:r>
          </a:p>
          <a:p>
            <a:pPr lvl="1"/>
            <a:r>
              <a:rPr lang="en-US" altLang="zh-CN" dirty="0"/>
              <a:t>Triton uses the num_stages parameter to control pipelining</a:t>
            </a:r>
          </a:p>
          <a:p>
            <a:pPr lvl="1"/>
            <a:r>
              <a:rPr lang="en-US" altLang="zh-CN" dirty="0"/>
              <a:t>Asynchronous memory copy (cp.async)</a:t>
            </a:r>
          </a:p>
          <a:p>
            <a:pPr lvl="1"/>
            <a:r>
              <a:rPr lang="en-US" altLang="zh-CN" dirty="0"/>
              <a:t>Hopper TMA natively supports multi-stage pipelining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23847" y="4789744"/>
            <a:ext cx="4973957" cy="156654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┌──────────────────────────────────────────────────┐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Iter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│Stage1(Load)│Stage2(Compute)│Stage3(Store) │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├──────┼────────────┼───────────────┼──────────────┤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 T=0 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 load[0] 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 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          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 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         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 T=1 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 load[1] 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 compute[0]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│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         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│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 T=2 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 load[2] 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 compute[1]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│ store[0] 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 T=3 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 load[3] 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 compute[2]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│ store[1] 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 ... 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 ... 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   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 ... 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      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 ... </a:t>
            </a:r>
            <a:r>
              <a:rPr lang="zh-CN" alt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└──────────────────────────────────────────────────┘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0131" y="4012524"/>
            <a:ext cx="5211282" cy="27089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0" dirty="0">
                <a:solidFill>
                  <a:srgbClr val="A8CC7C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0" dirty="0" err="1">
                <a:solidFill>
                  <a:srgbClr val="A8CC7C"/>
                </a:solidFill>
                <a:effectLst/>
                <a:latin typeface="Menlo" panose="020B0609030804020204" pitchFamily="49" charset="0"/>
              </a:rPr>
              <a:t>triton</a:t>
            </a:r>
            <a:r>
              <a:rPr lang="en-US" sz="14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A8CC7C"/>
                </a:solidFill>
                <a:effectLst/>
                <a:latin typeface="Menlo" panose="020B0609030804020204" pitchFamily="49" charset="0"/>
              </a:rPr>
              <a:t>jit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matmul_kernel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(...):</a:t>
            </a:r>
          </a:p>
          <a:p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sz="1400" b="0" i="1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num_stages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control pipeline depth</a:t>
            </a:r>
            <a:endParaRPr lang="ja-JP" altLang="en-US" sz="14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k </a:t>
            </a:r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EBC88D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K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BLOCK_K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/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Stage 1: Prefetch next tile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tl</a:t>
            </a:r>
            <a:r>
              <a:rPr lang="en-US" sz="14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load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A_ptr_next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...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asynchrous</a:t>
            </a:r>
            <a:endParaRPr lang="en-US" altLang="ja-JP" sz="1400" b="0" i="1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2"/>
            <a:endParaRPr lang="ja-JP" altLang="en-US" sz="14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altLang="ja-JP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Stage 2: Compute current tile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acc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tl</a:t>
            </a:r>
            <a:r>
              <a:rPr lang="en-US" sz="14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dot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b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acc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Hidden pipeline</a:t>
            </a:r>
            <a:r>
              <a:rPr lang="en-US" altLang="ja-JP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load </a:t>
            </a:r>
            <a:r>
              <a:rPr lang="en-US" altLang="zh-CN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and 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compute</a:t>
            </a:r>
            <a:endParaRPr lang="ja-JP" altLang="en-US" sz="14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LLVM </a:t>
            </a:r>
            <a:r>
              <a:rPr lang="en-US" altLang="zh-CN" dirty="0"/>
              <a:t>Code </a:t>
            </a:r>
            <a:r>
              <a:rPr lang="en-US" altLang="zh-CN" dirty="0">
                <a:cs typeface="Arial" panose="020B0604020202020204" pitchFamily="34" charset="0"/>
              </a:rPr>
              <a:t>Generation Framework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LLVM IR -&gt; </a:t>
            </a:r>
            <a:r>
              <a:rPr lang="en-US" dirty="0" err="1"/>
              <a:t>SelectionDAG</a:t>
            </a:r>
            <a:r>
              <a:rPr lang="en-US" dirty="0"/>
              <a:t> -&gt; Machine IR (MIR) -&gt; MC Layer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41404" y="1953491"/>
            <a:ext cx="768741" cy="39901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LLVM</a:t>
            </a:r>
          </a:p>
          <a:p>
            <a:pPr algn="ctr"/>
            <a:r>
              <a:rPr lang="en-US" dirty="0"/>
              <a:t>IR</a:t>
            </a:r>
          </a:p>
        </p:txBody>
      </p:sp>
      <p:sp>
        <p:nvSpPr>
          <p:cNvPr id="7" name="Rectangle 6"/>
          <p:cNvSpPr/>
          <p:nvPr/>
        </p:nvSpPr>
        <p:spPr>
          <a:xfrm>
            <a:off x="1932894" y="1953491"/>
            <a:ext cx="4163105" cy="39901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SelectionDAG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altLang="zh-CN" dirty="0"/>
              <a:t>1. DAG Construction (Build DAG)</a:t>
            </a:r>
          </a:p>
          <a:p>
            <a:pPr algn="ctr"/>
            <a:r>
              <a:rPr lang="en-US" altLang="zh-CN" dirty="0"/>
              <a:t>2. Type Legalization</a:t>
            </a:r>
          </a:p>
          <a:p>
            <a:pPr algn="ctr"/>
            <a:r>
              <a:rPr lang="en-US" altLang="zh-CN" dirty="0"/>
              <a:t>3. Operation Legalization</a:t>
            </a:r>
          </a:p>
          <a:p>
            <a:pPr algn="ctr"/>
            <a:r>
              <a:rPr lang="en-US" altLang="zh-CN" dirty="0"/>
              <a:t>4. DAG Optimization (DAG Combine)</a:t>
            </a:r>
          </a:p>
          <a:p>
            <a:pPr algn="ctr"/>
            <a:r>
              <a:rPr lang="en-US" altLang="zh-CN" dirty="0"/>
              <a:t>5. Instruction Selection</a:t>
            </a:r>
          </a:p>
          <a:p>
            <a:pPr algn="ctr"/>
            <a:r>
              <a:rPr lang="en-US" altLang="zh-CN" dirty="0"/>
              <a:t>6. Scheduling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18748" y="1953490"/>
            <a:ext cx="2999325" cy="399010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Machine IR (MIR) </a:t>
            </a:r>
          </a:p>
          <a:p>
            <a:pPr marL="342900" indent="-342900" algn="ctr">
              <a:buAutoNum type="arabicPeriod"/>
            </a:pPr>
            <a:r>
              <a:rPr lang="en-US" altLang="zh-CN" dirty="0"/>
              <a:t>Machine Instructions in SSA Form</a:t>
            </a:r>
          </a:p>
          <a:p>
            <a:pPr marL="342900" indent="-342900" algn="ctr">
              <a:buAutoNum type="arabicPeriod"/>
            </a:pPr>
            <a:r>
              <a:rPr lang="en-US" altLang="zh-CN" dirty="0"/>
              <a:t>Register Allocation</a:t>
            </a:r>
          </a:p>
          <a:p>
            <a:pPr marL="342900" indent="-342900" algn="ctr">
              <a:buAutoNum type="arabicPeriod"/>
            </a:pPr>
            <a:r>
              <a:rPr lang="en-US" altLang="zh-CN" dirty="0"/>
              <a:t>Prologue/Epilogue Insertion</a:t>
            </a:r>
          </a:p>
          <a:p>
            <a:pPr marL="342900" indent="-342900" algn="ctr">
              <a:buAutoNum type="arabicPeriod"/>
            </a:pPr>
            <a:r>
              <a:rPr lang="en-US" altLang="zh-CN" dirty="0"/>
              <a:t>Late Machine Code Optimization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940823" y="1953490"/>
            <a:ext cx="1860652" cy="399010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Assembly Emission</a:t>
            </a:r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Object File Generation</a:t>
            </a:r>
          </a:p>
        </p:txBody>
      </p:sp>
      <p:cxnSp>
        <p:nvCxnSpPr>
          <p:cNvPr id="11" name="Straight Arrow Connector 10"/>
          <p:cNvCxnSpPr>
            <a:stCxn id="6" idx="3"/>
            <a:endCxn id="7" idx="1"/>
          </p:cNvCxnSpPr>
          <p:nvPr/>
        </p:nvCxnSpPr>
        <p:spPr>
          <a:xfrm>
            <a:off x="1510145" y="3948546"/>
            <a:ext cx="422749" cy="0"/>
          </a:xfrm>
          <a:prstGeom prst="straightConnector1">
            <a:avLst/>
          </a:prstGeom>
          <a:ln w="698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3"/>
            <a:endCxn id="8" idx="1"/>
          </p:cNvCxnSpPr>
          <p:nvPr/>
        </p:nvCxnSpPr>
        <p:spPr>
          <a:xfrm flipV="1">
            <a:off x="6095999" y="3948545"/>
            <a:ext cx="422749" cy="1"/>
          </a:xfrm>
          <a:prstGeom prst="straightConnector1">
            <a:avLst/>
          </a:prstGeom>
          <a:ln w="698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>
          <a:xfrm>
            <a:off x="9518073" y="3948545"/>
            <a:ext cx="422750" cy="0"/>
          </a:xfrm>
          <a:prstGeom prst="straightConnector1">
            <a:avLst/>
          </a:prstGeom>
          <a:ln w="698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SelectionDAG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 err="1"/>
              <a:t>Node Types</a:t>
            </a:r>
          </a:p>
          <a:p>
            <a:pPr lvl="1"/>
            <a:r>
              <a:rPr lang="en-US" altLang="zh-CN" dirty="0" err="1"/>
              <a:t>Opcode: ADD, MUL, LOAD, STORE, ...</a:t>
            </a:r>
          </a:p>
          <a:p>
            <a:pPr lvl="1"/>
            <a:r>
              <a:rPr lang="en-US" altLang="zh-CN" dirty="0" err="1"/>
              <a:t>Value Type: i32, f32, v4f32, ...</a:t>
            </a:r>
          </a:p>
          <a:p>
            <a:pPr lvl="1"/>
            <a:r>
              <a:rPr lang="en-US" altLang="zh-CN" dirty="0" err="1"/>
              <a:t>Operand Chain: Dependency relationships</a:t>
            </a:r>
          </a:p>
          <a:p>
            <a:pPr lvl="1"/>
            <a:r>
              <a:rPr lang="en-US" altLang="zh-CN" dirty="0" err="1"/>
              <a:t>Debug Information</a:t>
            </a:r>
          </a:p>
          <a:p>
            <a:r>
              <a:rPr lang="en-US" altLang="zh-CN" dirty="0" err="1"/>
              <a:t>Type Legalization (when the target machine does not support certain types)</a:t>
            </a:r>
          </a:p>
          <a:p>
            <a:pPr lvl="1"/>
            <a:r>
              <a:rPr lang="en-US" altLang="zh-CN" dirty="0" err="1"/>
              <a:t>Original: add i128 %a, %b</a:t>
            </a:r>
          </a:p>
          <a:p>
            <a:pPr lvl="1"/>
            <a:r>
              <a:rPr lang="en-US" altLang="zh-CN" dirty="0" err="1"/>
              <a:t>Legalized (split into two i64s):</a:t>
            </a:r>
            <a:endParaRPr lang="en-US" dirty="0"/>
          </a:p>
          <a:p>
            <a:pPr marL="342900" lvl="1" indent="0">
              <a:buNone/>
            </a:pPr>
            <a:r>
              <a:rPr lang="en-US" altLang="ja-JP" dirty="0"/>
              <a:t>	%lo = add i64 %</a:t>
            </a:r>
            <a:r>
              <a:rPr lang="en-US" altLang="ja-JP" dirty="0" err="1"/>
              <a:t>a.lo</a:t>
            </a:r>
            <a:r>
              <a:rPr lang="en-US" altLang="ja-JP" dirty="0"/>
              <a:t>, %</a:t>
            </a:r>
            <a:r>
              <a:rPr lang="en-US" altLang="ja-JP" dirty="0" err="1"/>
              <a:t>b.lo</a:t>
            </a:r>
            <a:endParaRPr lang="en-US" altLang="ja-JP" dirty="0"/>
          </a:p>
          <a:p>
            <a:pPr marL="342900" lvl="1" indent="0">
              <a:buNone/>
            </a:pPr>
            <a:r>
              <a:rPr lang="en-US" altLang="ja-JP" dirty="0"/>
              <a:t>	%carry = ...</a:t>
            </a:r>
          </a:p>
          <a:p>
            <a:pPr marL="342900" lvl="1" indent="0">
              <a:buNone/>
            </a:pPr>
            <a:r>
              <a:rPr lang="en-US" altLang="ja-JP" dirty="0"/>
              <a:t>	%hi = add i64 %</a:t>
            </a:r>
            <a:r>
              <a:rPr lang="en-US" altLang="ja-JP" dirty="0" err="1"/>
              <a:t>a.hi</a:t>
            </a:r>
            <a:r>
              <a:rPr lang="en-US" altLang="ja-JP" dirty="0"/>
              <a:t>, %</a:t>
            </a:r>
            <a:r>
              <a:rPr lang="en-US" altLang="ja-JP" dirty="0" err="1"/>
              <a:t>b.hi</a:t>
            </a:r>
            <a:endParaRPr lang="en-US" altLang="ja-JP" dirty="0"/>
          </a:p>
          <a:p>
            <a:pPr marL="342900" lvl="1" indent="0">
              <a:buNone/>
            </a:pPr>
            <a:r>
              <a:rPr lang="en-US" altLang="ja-JP" dirty="0"/>
              <a:t>	%hi = add i64 %hi, %carry</a:t>
            </a:r>
          </a:p>
          <a:p>
            <a:pPr lvl="1"/>
            <a:endParaRPr lang="en-US" altLang="ja-JP" dirty="0"/>
          </a:p>
          <a:p>
            <a:pPr lvl="1"/>
            <a:endParaRPr lang="ja-JP" altLang="en-US"/>
          </a:p>
          <a:p>
            <a:pPr lvl="1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227" y="1132608"/>
            <a:ext cx="2114163" cy="242533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Machine IR and Target Description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altLang="zh-CN" dirty="0"/>
              <a:t>MIR Stage</a:t>
            </a:r>
          </a:p>
          <a:p>
            <a:pPr lvl="1"/>
            <a:r>
              <a:rPr lang="en-US" altLang="zh-CN" dirty="0"/>
              <a:t>Still uses virtual registers (%vreg0, %vreg1, ...)</a:t>
            </a:r>
          </a:p>
          <a:p>
            <a:pPr lvl="1"/>
            <a:r>
              <a:rPr lang="en-US" altLang="zh-CN" dirty="0"/>
              <a:t>After register allocation, converted to physical registers (%eax, %r0, ...)</a:t>
            </a:r>
          </a:p>
          <a:p>
            <a:pPr lvl="1"/>
            <a:r>
              <a:rPr lang="en-US" altLang="zh-CN" dirty="0"/>
              <a:t>Add function prologue/epilogue (stack frame setup)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dirty="0" err="1"/>
              <a:t>Target.td</a:t>
            </a:r>
            <a:r>
              <a:rPr lang="en-US" dirty="0"/>
              <a:t> - 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T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arget Architecture Description</a:t>
            </a:r>
          </a:p>
          <a:p>
            <a:r>
              <a:rPr lang="en-US" altLang="zh-CN"/>
              <a:t>Register Defination</a:t>
            </a:r>
            <a:endParaRPr lang="ja-JP" altLang="en-US"/>
          </a:p>
          <a:p>
            <a:pPr marL="342900" lvl="1" indent="0">
              <a:buNone/>
            </a:pPr>
            <a:r>
              <a:rPr lang="en-US" dirty="0"/>
              <a:t>def R0 : Register&lt;"r0"&gt;;</a:t>
            </a:r>
          </a:p>
          <a:p>
            <a:pPr marL="342900" lvl="1" indent="0">
              <a:buNone/>
            </a:pPr>
            <a:r>
              <a:rPr lang="en-US" dirty="0"/>
              <a:t>def R1 : Register&lt;"r1"&gt;; </a:t>
            </a:r>
          </a:p>
          <a:p>
            <a:pPr marL="342900" lvl="1" indent="0">
              <a:buNone/>
            </a:pPr>
            <a:r>
              <a:rPr lang="en-US" dirty="0"/>
              <a:t>def GPR : </a:t>
            </a:r>
            <a:r>
              <a:rPr lang="en-US" dirty="0" err="1"/>
              <a:t>RegisterClass</a:t>
            </a:r>
            <a:r>
              <a:rPr lang="en-US" dirty="0"/>
              <a:t>&lt;"GPR", [i32], 32, (add R0, R1, R2, ...)&gt;;</a:t>
            </a:r>
          </a:p>
          <a:p>
            <a:r>
              <a:rPr lang="en-US" altLang="zh-CN"/>
              <a:t>Instruction</a:t>
            </a:r>
            <a:r>
              <a:rPr lang="ja-JP" altLang="en-US"/>
              <a:t> </a:t>
            </a:r>
            <a:r>
              <a:rPr lang="en-US" altLang="zh-CN"/>
              <a:t>Defination</a:t>
            </a:r>
            <a:endParaRPr lang="ja-JP" altLang="en-US"/>
          </a:p>
          <a:p>
            <a:pPr marL="342900" lvl="1" indent="0">
              <a:buNone/>
            </a:pPr>
            <a:r>
              <a:rPr lang="en-US" dirty="0"/>
              <a:t>def </a:t>
            </a:r>
            <a:r>
              <a:rPr lang="en-US" dirty="0" err="1"/>
              <a:t>ADDrr</a:t>
            </a:r>
            <a:r>
              <a:rPr lang="en-US" dirty="0"/>
              <a:t> : Instruction {</a:t>
            </a:r>
          </a:p>
          <a:p>
            <a:pPr marL="342900" lvl="1" indent="0">
              <a:buNone/>
            </a:pPr>
            <a:r>
              <a:rPr lang="en-US" dirty="0"/>
              <a:t>	let </a:t>
            </a:r>
            <a:r>
              <a:rPr lang="en-US" dirty="0" err="1"/>
              <a:t>OutOperandList</a:t>
            </a:r>
            <a:r>
              <a:rPr lang="en-US" dirty="0"/>
              <a:t> = (outs GPR:$</a:t>
            </a:r>
            <a:r>
              <a:rPr lang="en-US" dirty="0" err="1"/>
              <a:t>dst</a:t>
            </a:r>
            <a:r>
              <a:rPr lang="en-US" dirty="0"/>
              <a:t>);</a:t>
            </a:r>
          </a:p>
          <a:p>
            <a:pPr marL="342900" lvl="1" indent="0">
              <a:buNone/>
            </a:pPr>
            <a:r>
              <a:rPr lang="en-US" dirty="0"/>
              <a:t>	let </a:t>
            </a:r>
            <a:r>
              <a:rPr lang="en-US" dirty="0" err="1"/>
              <a:t>InOperandList</a:t>
            </a:r>
            <a:r>
              <a:rPr lang="en-US" dirty="0"/>
              <a:t> = (ins GPR:$src1, GPR:$src2);</a:t>
            </a:r>
          </a:p>
          <a:p>
            <a:pPr marL="342900" lvl="1" indent="0">
              <a:buNone/>
            </a:pPr>
            <a:r>
              <a:rPr lang="en-US" dirty="0"/>
              <a:t>	let </a:t>
            </a:r>
            <a:r>
              <a:rPr lang="en-US" dirty="0" err="1"/>
              <a:t>AsmString</a:t>
            </a:r>
            <a:r>
              <a:rPr lang="en-US" dirty="0"/>
              <a:t> = "add $</a:t>
            </a:r>
            <a:r>
              <a:rPr lang="en-US" dirty="0" err="1"/>
              <a:t>dst</a:t>
            </a:r>
            <a:r>
              <a:rPr lang="en-US" dirty="0"/>
              <a:t>, $src1, $src2";</a:t>
            </a:r>
          </a:p>
          <a:p>
            <a:pPr marL="342900" lvl="1" indent="0">
              <a:buNone/>
            </a:pPr>
            <a:r>
              <a:rPr lang="en-US" dirty="0"/>
              <a:t>	let Pattern = [(set GPR:$</a:t>
            </a:r>
            <a:r>
              <a:rPr lang="en-US" dirty="0" err="1"/>
              <a:t>dst</a:t>
            </a:r>
            <a:r>
              <a:rPr lang="en-US" dirty="0"/>
              <a:t>, (add GPR:$src1, GPR:$src2))];}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00545" y="3612065"/>
            <a:ext cx="4156364" cy="4641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%1 = add i32 %a, %b</a:t>
            </a:r>
          </a:p>
        </p:txBody>
      </p:sp>
      <p:sp>
        <p:nvSpPr>
          <p:cNvPr id="8" name="Rectangle 7"/>
          <p:cNvSpPr/>
          <p:nvPr/>
        </p:nvSpPr>
        <p:spPr>
          <a:xfrm>
            <a:off x="900545" y="4753983"/>
            <a:ext cx="4156364" cy="4641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ADD32rr %vreg1, %vreg2</a:t>
            </a:r>
          </a:p>
        </p:txBody>
      </p:sp>
      <p:sp>
        <p:nvSpPr>
          <p:cNvPr id="9" name="Down Arrow 8"/>
          <p:cNvSpPr/>
          <p:nvPr/>
        </p:nvSpPr>
        <p:spPr>
          <a:xfrm>
            <a:off x="2867891" y="4131610"/>
            <a:ext cx="221672" cy="5669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LLVM NVPTX </a:t>
            </a:r>
            <a:r>
              <a:rPr lang="en-US" altLang="zh-CN" dirty="0"/>
              <a:t>Backend Structure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Copilation from </a:t>
            </a:r>
            <a:r>
              <a:rPr lang="en-US" dirty="0"/>
              <a:t>LLVM</a:t>
            </a:r>
            <a:r>
              <a:rPr lang="zh-CN" altLang="en-US" dirty="0"/>
              <a:t> </a:t>
            </a:r>
            <a:r>
              <a:rPr lang="en-US" altLang="zh-CN" dirty="0" err="1"/>
              <a:t>IR to </a:t>
            </a:r>
            <a:r>
              <a:rPr lang="en-US" dirty="0" err="1"/>
              <a:t>NVIDIA</a:t>
            </a:r>
            <a:r>
              <a:rPr lang="zh-CN" altLang="en-US" dirty="0"/>
              <a:t> </a:t>
            </a:r>
            <a:r>
              <a:rPr lang="en-US" altLang="zh-CN" dirty="0"/>
              <a:t>GPU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611815" y="1995060"/>
            <a:ext cx="8968483" cy="1025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0" dirty="0">
                <a:solidFill>
                  <a:srgbClr val="E4E4E4"/>
                </a:solidFill>
                <a:effectLst/>
              </a:rPr>
              <a:t>LLVM IR</a:t>
            </a:r>
            <a:r>
              <a:rPr lang="zh-CN" altLang="en-US" sz="1600" b="0" dirty="0">
                <a:solidFill>
                  <a:srgbClr val="E4E4E4"/>
                </a:solidFill>
                <a:effectLst/>
              </a:rPr>
              <a:t>       </a:t>
            </a:r>
            <a:r>
              <a:rPr lang="en-US" altLang="zh-CN" sz="1600" b="0" dirty="0">
                <a:solidFill>
                  <a:srgbClr val="E4E4E4"/>
                </a:solidFill>
                <a:effectLst/>
              </a:rPr>
              <a:t>Internal Functions</a:t>
            </a:r>
            <a:r>
              <a:rPr lang="en-US" altLang="ja-JP" sz="1600" b="0" dirty="0">
                <a:solidFill>
                  <a:srgbClr val="E4E4E4"/>
                </a:solidFill>
                <a:effectLst/>
              </a:rPr>
              <a:t>:</a:t>
            </a:r>
          </a:p>
          <a:p>
            <a:pPr algn="ctr"/>
            <a:r>
              <a:rPr lang="en-US" sz="1600" b="0" dirty="0" err="1">
                <a:solidFill>
                  <a:srgbClr val="E4E4E4"/>
                </a:solidFill>
                <a:effectLst/>
              </a:rPr>
              <a:t>llvm.nvvm.read.ptx.sreg.tid.x</a:t>
            </a:r>
            <a:r>
              <a:rPr lang="en-US" sz="1600" b="0" dirty="0">
                <a:solidFill>
                  <a:srgbClr val="E4E4E4"/>
                </a:solidFill>
                <a:effectLst/>
              </a:rPr>
              <a:t> (</a:t>
            </a:r>
            <a:r>
              <a:rPr lang="en-US" altLang="zh-CN" sz="1600" b="0" dirty="0">
                <a:solidFill>
                  <a:srgbClr val="E4E4E4"/>
                </a:solidFill>
                <a:effectLst/>
              </a:rPr>
              <a:t>Thread</a:t>
            </a:r>
            <a:r>
              <a:rPr lang="ja-JP" altLang="en-US" sz="1600" b="0">
                <a:solidFill>
                  <a:srgbClr val="E4E4E4"/>
                </a:solidFill>
                <a:effectLst/>
              </a:rPr>
              <a:t> </a:t>
            </a:r>
            <a:r>
              <a:rPr lang="en-US" sz="1600" b="0" dirty="0">
                <a:solidFill>
                  <a:srgbClr val="E4E4E4"/>
                </a:solidFill>
                <a:effectLst/>
              </a:rPr>
              <a:t>ID)</a:t>
            </a:r>
          </a:p>
          <a:p>
            <a:pPr algn="ctr"/>
            <a:r>
              <a:rPr lang="en-US" sz="1600" b="0" dirty="0">
                <a:solidFill>
                  <a:srgbClr val="E4E4E4"/>
                </a:solidFill>
                <a:effectLst/>
              </a:rPr>
              <a:t>llvm.nvvm.barrier0 (</a:t>
            </a:r>
            <a:r>
              <a:rPr lang="en-US" altLang="zh-CN" sz="1600" b="0" dirty="0">
                <a:solidFill>
                  <a:srgbClr val="E4E4E4"/>
                </a:solidFill>
                <a:effectLst/>
              </a:rPr>
              <a:t>Sychronization</a:t>
            </a:r>
            <a:r>
              <a:rPr lang="en-US" altLang="ja-JP" sz="1600" b="0" dirty="0">
                <a:solidFill>
                  <a:srgbClr val="E4E4E4"/>
                </a:solidFill>
                <a:effectLst/>
              </a:rPr>
              <a:t>)</a:t>
            </a:r>
          </a:p>
          <a:p>
            <a:pPr algn="ctr"/>
            <a:r>
              <a:rPr lang="en-US" sz="1600" b="0" dirty="0" err="1">
                <a:solidFill>
                  <a:srgbClr val="E4E4E4"/>
                </a:solidFill>
                <a:effectLst/>
              </a:rPr>
              <a:t>llvm.nvvm.shfl</a:t>
            </a:r>
            <a:r>
              <a:rPr lang="en-US" sz="1600" b="0" dirty="0">
                <a:solidFill>
                  <a:srgbClr val="E4E4E4"/>
                </a:solidFill>
                <a:effectLst/>
              </a:rPr>
              <a:t>.* (warp shuffle) </a:t>
            </a:r>
          </a:p>
        </p:txBody>
      </p:sp>
      <p:sp>
        <p:nvSpPr>
          <p:cNvPr id="7" name="Rectangle 6"/>
          <p:cNvSpPr/>
          <p:nvPr/>
        </p:nvSpPr>
        <p:spPr>
          <a:xfrm>
            <a:off x="1611863" y="3442754"/>
            <a:ext cx="8968387" cy="102523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NVPTX </a:t>
            </a:r>
            <a:r>
              <a:rPr lang="en-US" altLang="zh-CN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Instrution Selection</a:t>
            </a:r>
            <a:endParaRPr lang="ja-JP" altLang="en-US" sz="16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algn="ctr"/>
            <a:r>
              <a:rPr lang="en-US" altLang="zh-CN" sz="160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Memory</a:t>
            </a:r>
            <a:r>
              <a:rPr lang="ja-JP" altLang="en-US" sz="160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60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Address</a:t>
            </a:r>
            <a:r>
              <a:rPr lang="ja-JP" altLang="en-US" sz="160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60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Mapping</a:t>
            </a:r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addrspace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(1)=global,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addrspace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(3)=shared</a:t>
            </a:r>
          </a:p>
          <a:p>
            <a:pPr algn="ctr"/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Tensor Core </a:t>
            </a:r>
            <a:r>
              <a:rPr lang="en-US" altLang="zh-CN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Instruction Mapping</a:t>
            </a:r>
            <a:endParaRPr lang="ja-JP" altLang="en-US" sz="16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algn="ctr"/>
            <a:r>
              <a:rPr lang="en-US" altLang="zh-CN" sz="160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Special</a:t>
            </a:r>
            <a:r>
              <a:rPr lang="ja-JP" altLang="en-US" sz="160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60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ja-JP" altLang="en-US" sz="160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60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Calls</a:t>
            </a:r>
            <a:r>
              <a:rPr lang="ja-JP" altLang="en-US" sz="16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1611815" y="4896288"/>
            <a:ext cx="8968483" cy="102523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PTX </a:t>
            </a:r>
            <a:r>
              <a:rPr lang="en-US" altLang="zh-CN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Assembly Issue</a:t>
            </a:r>
            <a:endParaRPr lang="ja-JP" altLang="en-US" sz="16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algn="ctr"/>
            <a:r>
              <a:rPr lang="en-US" altLang="zh-CN" sz="160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Registers Prefixed with</a:t>
            </a:r>
            <a:r>
              <a:rPr lang="ja-JP" altLang="en-US" sz="16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r, %f, %p</a:t>
            </a:r>
            <a:endParaRPr lang="ja-JP" altLang="en-US" sz="16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algn="ctr"/>
            <a:r>
              <a:rPr lang="en-US" altLang="zh-CN" sz="160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Memory operations with address space qualifiers</a:t>
            </a:r>
          </a:p>
          <a:p>
            <a:pPr algn="ctr"/>
            <a:r>
              <a:rPr lang="en-US" altLang="zh-CN" sz="160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Output</a:t>
            </a:r>
            <a:r>
              <a:rPr lang="ja-JP" altLang="en-US" sz="16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ja-JP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ptx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file</a:t>
            </a:r>
            <a:endParaRPr lang="ja-JP" altLang="en-US" sz="16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  <p:cxnSp>
        <p:nvCxnSpPr>
          <p:cNvPr id="10" name="Straight Arrow Connector 9"/>
          <p:cNvCxnSpPr>
            <a:stCxn id="6" idx="2"/>
            <a:endCxn id="7" idx="0"/>
          </p:cNvCxnSpPr>
          <p:nvPr/>
        </p:nvCxnSpPr>
        <p:spPr>
          <a:xfrm>
            <a:off x="6096000" y="3020932"/>
            <a:ext cx="0" cy="42227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2"/>
            <a:endCxn id="8" idx="0"/>
          </p:cNvCxnSpPr>
          <p:nvPr/>
        </p:nvCxnSpPr>
        <p:spPr>
          <a:xfrm>
            <a:off x="6096000" y="4468371"/>
            <a:ext cx="0" cy="42799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Code Generation Visualization Tools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LLVM IR</a:t>
            </a:r>
            <a:r>
              <a:rPr lang="zh-CN" altLang="en-US" dirty="0"/>
              <a:t>：</a:t>
            </a:r>
            <a:r>
              <a:rPr lang="en-US" altLang="zh-CN" dirty="0"/>
              <a:t>triton-opt --dump-</a:t>
            </a:r>
            <a:r>
              <a:rPr lang="en-US" altLang="zh-CN" dirty="0" err="1"/>
              <a:t>llir</a:t>
            </a:r>
            <a:r>
              <a:rPr lang="en-US" altLang="zh-CN" dirty="0"/>
              <a:t> </a:t>
            </a:r>
            <a:r>
              <a:rPr lang="en-US" altLang="zh-CN" dirty="0" err="1"/>
              <a:t>kernel.py</a:t>
            </a:r>
            <a:r>
              <a:rPr lang="en-US" altLang="zh-CN" dirty="0"/>
              <a:t> &gt; </a:t>
            </a:r>
            <a:r>
              <a:rPr lang="en-US" altLang="zh-CN" dirty="0" err="1"/>
              <a:t>kernel.ll</a:t>
            </a:r>
            <a:endParaRPr lang="en-US" altLang="zh-CN" dirty="0"/>
          </a:p>
          <a:p>
            <a:r>
              <a:rPr lang="en-US" dirty="0" err="1"/>
              <a:t>SelectionDAG</a:t>
            </a:r>
            <a:r>
              <a:rPr lang="zh-CN" altLang="en-US" dirty="0"/>
              <a:t>：</a:t>
            </a:r>
            <a:r>
              <a:rPr lang="en-US" altLang="zh-CN" dirty="0" err="1"/>
              <a:t>llc</a:t>
            </a:r>
            <a:r>
              <a:rPr lang="en-US" altLang="zh-CN" dirty="0"/>
              <a:t> -view-dag-combine1-dags </a:t>
            </a:r>
            <a:r>
              <a:rPr lang="en-US" altLang="zh-CN" dirty="0" err="1"/>
              <a:t>kernel.ll</a:t>
            </a:r>
            <a:endParaRPr lang="en-US" altLang="zh-CN" dirty="0"/>
          </a:p>
          <a:p>
            <a:r>
              <a:rPr lang="en-US" altLang="ja-JP" dirty="0"/>
              <a:t>MIR</a:t>
            </a:r>
            <a:r>
              <a:rPr lang="zh-CN" altLang="en-US" dirty="0"/>
              <a:t>：</a:t>
            </a:r>
            <a:r>
              <a:rPr lang="en-US" altLang="zh-CN" dirty="0" err="1"/>
              <a:t>llc</a:t>
            </a:r>
            <a:r>
              <a:rPr lang="en-US" altLang="zh-CN" dirty="0"/>
              <a:t> -print-after-all </a:t>
            </a:r>
            <a:r>
              <a:rPr lang="en-US" altLang="zh-CN" dirty="0" err="1"/>
              <a:t>kernel.ll</a:t>
            </a:r>
            <a:r>
              <a:rPr lang="en-US" altLang="zh-CN" dirty="0"/>
              <a:t> 2&gt;&amp;1 | less</a:t>
            </a:r>
          </a:p>
          <a:p>
            <a:r>
              <a:rPr lang="en-US" altLang="zh-CN" dirty="0"/>
              <a:t>PTX</a:t>
            </a:r>
            <a:r>
              <a:rPr lang="zh-CN" altLang="en-US" dirty="0"/>
              <a:t>：</a:t>
            </a:r>
            <a:r>
              <a:rPr lang="en-US" altLang="zh-CN" dirty="0"/>
              <a:t>triton-opt --dump-</a:t>
            </a:r>
            <a:r>
              <a:rPr lang="en-US" altLang="zh-CN" dirty="0" err="1"/>
              <a:t>ptx</a:t>
            </a:r>
            <a:r>
              <a:rPr lang="en-US" altLang="zh-CN" dirty="0"/>
              <a:t> </a:t>
            </a:r>
            <a:r>
              <a:rPr lang="en-US" altLang="zh-CN" dirty="0" err="1"/>
              <a:t>kernel.py</a:t>
            </a:r>
            <a:r>
              <a:rPr lang="en-US" altLang="zh-CN" dirty="0"/>
              <a:t> &gt; </a:t>
            </a:r>
            <a:r>
              <a:rPr lang="en-US" altLang="zh-CN" dirty="0" err="1"/>
              <a:t>kernel.ptx</a:t>
            </a:r>
            <a:endParaRPr lang="en-US" altLang="zh-CN" dirty="0"/>
          </a:p>
          <a:p>
            <a:r>
              <a:rPr lang="en-US" altLang="zh-CN" dirty="0"/>
              <a:t>Triton Compilation Results</a:t>
            </a:r>
          </a:p>
          <a:p>
            <a:endParaRPr lang="ja-JP" altLang="en-US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41404" y="4003964"/>
            <a:ext cx="7931541" cy="20504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compiled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triton</a:t>
            </a:r>
            <a:r>
              <a:rPr lang="en-US" sz="14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compile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add_kernel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i="1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signature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394DC"/>
                </a:solidFill>
                <a:effectLst/>
                <a:latin typeface="Menlo" panose="020B0609030804020204" pitchFamily="49" charset="0"/>
              </a:rPr>
              <a:t>"*fp32,*fp32,*fp32,i32"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r>
              <a:rPr lang="en-US" sz="1400" b="0" i="1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constants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sz="1400" b="0" dirty="0">
                <a:solidFill>
                  <a:srgbClr val="E394DC"/>
                </a:solidFill>
                <a:effectLst/>
                <a:latin typeface="Menlo" panose="020B0609030804020204" pitchFamily="49" charset="0"/>
              </a:rPr>
              <a:t>"BLOCK"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400" b="0" dirty="0">
                <a:solidFill>
                  <a:srgbClr val="EBC88D"/>
                </a:solidFill>
                <a:effectLst/>
                <a:latin typeface="Menlo" panose="020B0609030804020204" pitchFamily="49" charset="0"/>
              </a:rPr>
              <a:t>1024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b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Obtain 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IR </a:t>
            </a:r>
            <a:r>
              <a:rPr lang="en-US" altLang="zh-CN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of different stages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ttir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compiled</a:t>
            </a:r>
            <a:r>
              <a:rPr lang="en-US" sz="14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asm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E394DC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400" b="0" dirty="0" err="1">
                <a:solidFill>
                  <a:srgbClr val="E394DC"/>
                </a:solidFill>
                <a:effectLst/>
                <a:latin typeface="Menlo" panose="020B0609030804020204" pitchFamily="49" charset="0"/>
              </a:rPr>
              <a:t>ttir</a:t>
            </a:r>
            <a:r>
              <a:rPr lang="en-US" sz="1400" b="0" dirty="0">
                <a:solidFill>
                  <a:srgbClr val="E394DC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Triton IR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ttgir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compiled</a:t>
            </a:r>
            <a:r>
              <a:rPr lang="en-US" sz="14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asm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E394DC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400" b="0" dirty="0" err="1">
                <a:solidFill>
                  <a:srgbClr val="E394DC"/>
                </a:solidFill>
                <a:effectLst/>
                <a:latin typeface="Menlo" panose="020B0609030804020204" pitchFamily="49" charset="0"/>
              </a:rPr>
              <a:t>ttgir</a:t>
            </a:r>
            <a:r>
              <a:rPr lang="en-US" sz="1400" b="0" dirty="0">
                <a:solidFill>
                  <a:srgbClr val="E394DC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sz="1400" b="0" i="1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TritonGPU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IR 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llir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compiled</a:t>
            </a:r>
            <a:r>
              <a:rPr lang="en-US" sz="14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asm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E394DC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400" b="0" dirty="0" err="1">
                <a:solidFill>
                  <a:srgbClr val="E394DC"/>
                </a:solidFill>
                <a:effectLst/>
                <a:latin typeface="Menlo" panose="020B0609030804020204" pitchFamily="49" charset="0"/>
              </a:rPr>
              <a:t>llir</a:t>
            </a:r>
            <a:r>
              <a:rPr lang="en-US" sz="1400" b="0" dirty="0">
                <a:solidFill>
                  <a:srgbClr val="E394DC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LLVM IR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ptx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compiled</a:t>
            </a:r>
            <a:r>
              <a:rPr lang="en-US" sz="14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asm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E394DC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400" b="0" dirty="0" err="1">
                <a:solidFill>
                  <a:srgbClr val="E394DC"/>
                </a:solidFill>
                <a:effectLst/>
                <a:latin typeface="Menlo" panose="020B0609030804020204" pitchFamily="49" charset="0"/>
              </a:rPr>
              <a:t>ptx</a:t>
            </a:r>
            <a:r>
              <a:rPr lang="en-US" sz="1400" b="0" dirty="0">
                <a:solidFill>
                  <a:srgbClr val="E394DC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]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MLIR: Multi-Level Intermediate Representation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7500" lnSpcReduction="10000"/>
          </a:bodyPr>
          <a:lstStyle/>
          <a:p>
            <a:pPr lvl="0"/>
            <a:r>
              <a:rPr lang="en-US" altLang="zh-CN" dirty="0"/>
              <a:t>Supports multi-level, extensible IR, suitable for DSL and accelerator compilation</a:t>
            </a:r>
          </a:p>
          <a:p>
            <a:pPr lvl="0"/>
            <a:r>
              <a:rPr lang="en-US" altLang="zh-CN" dirty="0"/>
              <a:t>Dialect is the core design unit</a:t>
            </a:r>
          </a:p>
          <a:p>
            <a:pPr lvl="1"/>
            <a:r>
              <a:rPr lang="en-US" altLang="zh-CN" dirty="0"/>
              <a:t>A set of related Operations</a:t>
            </a:r>
          </a:p>
          <a:p>
            <a:pPr lvl="1"/>
            <a:r>
              <a:rPr lang="en-US" altLang="zh-CN" dirty="0"/>
              <a:t>Types</a:t>
            </a:r>
          </a:p>
          <a:p>
            <a:pPr lvl="1"/>
            <a:r>
              <a:rPr lang="en-US" altLang="zh-CN" dirty="0"/>
              <a:t>Attributes</a:t>
            </a:r>
          </a:p>
          <a:p>
            <a:pPr lvl="1"/>
            <a:r>
              <a:rPr lang="en-US" altLang="zh-CN" dirty="0"/>
              <a:t>Lowering implementation</a:t>
            </a:r>
          </a:p>
          <a:p>
            <a:pPr lvl="0"/>
            <a:r>
              <a:rPr lang="en-US" altLang="zh-CN" dirty="0"/>
              <a:t>Common MLIR Dialects:</a:t>
            </a:r>
          </a:p>
          <a:p>
            <a:pPr lvl="1"/>
            <a:r>
              <a:rPr lang="en-US" altLang="zh-CN" dirty="0"/>
              <a:t>arith — arithmetic operations; scf — structured control flow; triton</a:t>
            </a:r>
          </a:p>
          <a:p>
            <a:pPr lvl="1"/>
            <a:r>
              <a:rPr lang="en-US" altLang="zh-CN" dirty="0"/>
              <a:t>Dialects used by the Triton compiler</a:t>
            </a:r>
          </a:p>
          <a:p>
            <a:pPr lvl="0"/>
            <a:r>
              <a:rPr lang="en-US" altLang="zh-CN" dirty="0"/>
              <a:t>Triton — tensor operations, block-level abstraction </a:t>
            </a:r>
            <a:r>
              <a:rPr lang="en-US" altLang="en-US" dirty="0"/>
              <a:t>→</a:t>
            </a:r>
            <a:r>
              <a:rPr lang="en-US" altLang="zh-CN" dirty="0"/>
              <a:t>TritonGPU — GPU parallelism, layout, memory hierarchy </a:t>
            </a:r>
            <a:r>
              <a:rPr lang="en-US" altLang="en-US" dirty="0"/>
              <a:t>→</a:t>
            </a:r>
            <a:r>
              <a:rPr lang="en-US" altLang="zh-CN" dirty="0"/>
              <a:t>LLVM — low-level operations, close to machine code</a:t>
            </a:r>
            <a:endParaRPr lang="zh-CN" altLang="en-US" dirty="0"/>
          </a:p>
          <a:p>
            <a:endParaRPr lang="zh-CN" alt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051" y="1929130"/>
            <a:ext cx="2597785" cy="256540"/>
          </a:xfrm>
          <a:prstGeom prst="rect">
            <a:avLst/>
          </a:prstGeom>
        </p:spPr>
      </p:pic>
      <p:sp>
        <p:nvSpPr>
          <p:cNvPr id="10" name="Rectangles 6"/>
          <p:cNvSpPr/>
          <p:nvPr/>
        </p:nvSpPr>
        <p:spPr>
          <a:xfrm>
            <a:off x="9109026" y="1918335"/>
            <a:ext cx="685800" cy="26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Box 7"/>
          <p:cNvSpPr txBox="1"/>
          <p:nvPr/>
        </p:nvSpPr>
        <p:spPr>
          <a:xfrm>
            <a:off x="8993456" y="2410460"/>
            <a:ext cx="91757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attribute</a:t>
            </a:r>
          </a:p>
        </p:txBody>
      </p:sp>
      <p:sp>
        <p:nvSpPr>
          <p:cNvPr id="12" name="Rectangles 8"/>
          <p:cNvSpPr/>
          <p:nvPr/>
        </p:nvSpPr>
        <p:spPr>
          <a:xfrm>
            <a:off x="7277051" y="1929130"/>
            <a:ext cx="396875" cy="26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9"/>
          <p:cNvSpPr txBox="1"/>
          <p:nvPr/>
        </p:nvSpPr>
        <p:spPr>
          <a:xfrm>
            <a:off x="7135446" y="2360295"/>
            <a:ext cx="68008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result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076" y="3077845"/>
            <a:ext cx="3759835" cy="889000"/>
          </a:xfrm>
          <a:prstGeom prst="rect">
            <a:avLst/>
          </a:prstGeom>
        </p:spPr>
      </p:pic>
      <p:sp>
        <p:nvSpPr>
          <p:cNvPr id="15" name="Rectangles 11"/>
          <p:cNvSpPr/>
          <p:nvPr/>
        </p:nvSpPr>
        <p:spPr>
          <a:xfrm>
            <a:off x="8307656" y="3027045"/>
            <a:ext cx="2179955" cy="26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>
            <a:stCxn id="11" idx="0"/>
            <a:endCxn id="10" idx="2"/>
          </p:cNvCxnSpPr>
          <p:nvPr/>
        </p:nvCxnSpPr>
        <p:spPr>
          <a:xfrm flipH="1" flipV="1">
            <a:off x="9451926" y="2185670"/>
            <a:ext cx="635" cy="2247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5" idx="0"/>
            <a:endCxn id="11" idx="2"/>
          </p:cNvCxnSpPr>
          <p:nvPr/>
        </p:nvCxnSpPr>
        <p:spPr>
          <a:xfrm flipV="1">
            <a:off x="9397951" y="2747645"/>
            <a:ext cx="54610" cy="279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3" idx="0"/>
            <a:endCxn id="12" idx="2"/>
          </p:cNvCxnSpPr>
          <p:nvPr/>
        </p:nvCxnSpPr>
        <p:spPr>
          <a:xfrm flipV="1">
            <a:off x="7475806" y="2196465"/>
            <a:ext cx="0" cy="163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5"/>
          <p:cNvSpPr txBox="1"/>
          <p:nvPr/>
        </p:nvSpPr>
        <p:spPr>
          <a:xfrm>
            <a:off x="9109026" y="3952875"/>
            <a:ext cx="9290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operand</a:t>
            </a:r>
          </a:p>
        </p:txBody>
      </p:sp>
      <p:sp>
        <p:nvSpPr>
          <p:cNvPr id="20" name="Rectangles 16"/>
          <p:cNvSpPr/>
          <p:nvPr/>
        </p:nvSpPr>
        <p:spPr>
          <a:xfrm>
            <a:off x="8483551" y="3294380"/>
            <a:ext cx="1249045" cy="246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stCxn id="19" idx="0"/>
            <a:endCxn id="20" idx="2"/>
          </p:cNvCxnSpPr>
          <p:nvPr/>
        </p:nvCxnSpPr>
        <p:spPr>
          <a:xfrm flipH="1" flipV="1">
            <a:off x="9108391" y="3540760"/>
            <a:ext cx="465455" cy="4121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3" grpId="0"/>
      <p:bldP spid="15" grpId="0" animBg="1"/>
      <p:bldP spid="19" grpId="0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MLIR: Multi-Level Intermediate Representation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Supports conversions between dialects, allowing users to focus only on the optimization and lowering logic at the current level</a:t>
            </a:r>
          </a:p>
        </p:txBody>
      </p:sp>
      <p:pic>
        <p:nvPicPr>
          <p:cNvPr id="6" name="Picture 5" descr="MLIR Dialect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3847" y="1950329"/>
            <a:ext cx="7127462" cy="47711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MLIR: </a:t>
            </a:r>
            <a:r>
              <a:rPr lang="en-US" dirty="0" err="1"/>
              <a:t>CodeGen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</a:t>
            </a:r>
            <a:r>
              <a:rPr lang="en-US" dirty="0" err="1"/>
              <a:t>OpBuilder</a:t>
            </a:r>
            <a:endParaRPr lang="en-US" dirty="0"/>
          </a:p>
          <a:p>
            <a:r>
              <a:rPr lang="en-US" dirty="0"/>
              <a:t>All Op can Only be Created by Builder</a:t>
            </a:r>
          </a:p>
          <a:p>
            <a:pPr lvl="1"/>
            <a:r>
              <a:rPr lang="en-US" dirty="0"/>
              <a:t>MLIR will manage some internal types</a:t>
            </a:r>
          </a:p>
          <a:p>
            <a:r>
              <a:rPr lang="en-US" dirty="0"/>
              <a:t>Build Type by </a:t>
            </a:r>
            <a:r>
              <a:rPr lang="en-US" dirty="0" err="1"/>
              <a:t>builder.getXXXType</a:t>
            </a:r>
            <a:endParaRPr lang="en-US" dirty="0"/>
          </a:p>
          <a:p>
            <a:pPr lvl="1"/>
            <a:r>
              <a:rPr lang="en-US" dirty="0"/>
              <a:t>Or </a:t>
            </a:r>
            <a:r>
              <a:rPr lang="en-US" dirty="0" err="1"/>
              <a:t>XXXType</a:t>
            </a:r>
            <a:r>
              <a:rPr lang="en-US" dirty="0"/>
              <a:t>::get</a:t>
            </a:r>
          </a:p>
          <a:p>
            <a:r>
              <a:rPr lang="en-US" dirty="0"/>
              <a:t>Set </a:t>
            </a:r>
            <a:r>
              <a:rPr lang="en-US" dirty="0" err="1"/>
              <a:t>InsertionPoint</a:t>
            </a:r>
            <a:r>
              <a:rPr lang="en-US" dirty="0"/>
              <a:t> in builder</a:t>
            </a:r>
          </a:p>
          <a:p>
            <a:pPr lvl="1"/>
            <a:r>
              <a:rPr lang="en-US" dirty="0"/>
              <a:t>To fill the Block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35157" y="350362"/>
            <a:ext cx="6301105" cy="59162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Triton and MLIR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Dialect-&gt;Triton IR-&gt;LLVM IR-&gt;</a:t>
            </a:r>
            <a:r>
              <a:rPr lang="en-US" dirty="0" err="1"/>
              <a:t>PTX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err="1"/>
              <a:t>Triton </a:t>
            </a:r>
            <a:r>
              <a:rPr lang="en-US" altLang="zh-CN" dirty="0" err="1"/>
              <a:t>Automatic Parallelism by </a:t>
            </a:r>
            <a:r>
              <a:rPr lang="en-US" dirty="0" err="1"/>
              <a:t>S</a:t>
            </a:r>
            <a:r>
              <a:rPr lang="en-US" altLang="zh-CN" dirty="0" err="1"/>
              <a:t>M and by </a:t>
            </a:r>
            <a:r>
              <a:rPr lang="en-US" dirty="0" err="1"/>
              <a:t>Instance</a:t>
            </a:r>
            <a:endParaRPr lang="en-US" dirty="0"/>
          </a:p>
        </p:txBody>
      </p:sp>
      <p:sp>
        <p:nvSpPr>
          <p:cNvPr id="7" name="Text Box 8"/>
          <p:cNvSpPr txBox="1"/>
          <p:nvPr/>
        </p:nvSpPr>
        <p:spPr>
          <a:xfrm>
            <a:off x="289093" y="1735345"/>
            <a:ext cx="2080527" cy="1114204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800" dirty="0"/>
              <a:t>@</a:t>
            </a:r>
            <a:r>
              <a:rPr lang="en-US" altLang="zh-CN" sz="800" dirty="0" err="1"/>
              <a:t>jit</a:t>
            </a:r>
            <a:endParaRPr lang="en-US" altLang="zh-CN" sz="800" dirty="0"/>
          </a:p>
          <a:p>
            <a:r>
              <a:rPr lang="en-US" altLang="zh-CN" sz="800" dirty="0"/>
              <a:t>def add(X, Y, Z, N):</a:t>
            </a:r>
          </a:p>
          <a:p>
            <a:r>
              <a:rPr lang="en-US" altLang="zh-CN" sz="800" dirty="0"/>
              <a:t>   </a:t>
            </a:r>
            <a:r>
              <a:rPr lang="en-US" altLang="zh-CN" sz="800" dirty="0" err="1"/>
              <a:t>pid</a:t>
            </a:r>
            <a:r>
              <a:rPr lang="en-US" altLang="zh-CN" sz="800" dirty="0"/>
              <a:t> = </a:t>
            </a:r>
            <a:r>
              <a:rPr lang="en-US" altLang="zh-CN" sz="800" dirty="0" err="1"/>
              <a:t>program_id</a:t>
            </a:r>
            <a:r>
              <a:rPr lang="en-US" altLang="zh-CN" sz="800" dirty="0"/>
              <a:t>(0)</a:t>
            </a:r>
          </a:p>
          <a:p>
            <a:r>
              <a:rPr lang="en-US" altLang="zh-CN" sz="800" dirty="0"/>
              <a:t>   </a:t>
            </a:r>
            <a:r>
              <a:rPr lang="en-US" altLang="zh-CN" sz="800" dirty="0" err="1"/>
              <a:t>idx</a:t>
            </a:r>
            <a:r>
              <a:rPr lang="en-US" altLang="zh-CN" sz="800" dirty="0"/>
              <a:t>= </a:t>
            </a:r>
            <a:r>
              <a:rPr lang="en-US" altLang="zh-CN" sz="800" dirty="0" err="1"/>
              <a:t>pid</a:t>
            </a:r>
            <a:r>
              <a:rPr lang="en-US" altLang="zh-CN" sz="800" dirty="0"/>
              <a:t> * 512 + </a:t>
            </a:r>
            <a:r>
              <a:rPr lang="en-US" altLang="zh-CN" sz="800" dirty="0" err="1"/>
              <a:t>arange</a:t>
            </a:r>
            <a:r>
              <a:rPr lang="en-US" altLang="zh-CN" sz="800" dirty="0"/>
              <a:t>(512)</a:t>
            </a:r>
          </a:p>
          <a:p>
            <a:r>
              <a:rPr lang="en-US" altLang="zh-CN" sz="800" dirty="0"/>
              <a:t>   mask = </a:t>
            </a:r>
            <a:r>
              <a:rPr lang="en-US" altLang="zh-CN" sz="800" dirty="0" err="1"/>
              <a:t>idx</a:t>
            </a:r>
            <a:r>
              <a:rPr lang="en-US" altLang="zh-CN" sz="800" dirty="0"/>
              <a:t> &lt; N</a:t>
            </a:r>
          </a:p>
          <a:p>
            <a:r>
              <a:rPr lang="en-US" altLang="zh-CN" sz="800" dirty="0"/>
              <a:t>   x = load(X + </a:t>
            </a:r>
            <a:r>
              <a:rPr lang="en-US" altLang="zh-CN" sz="800" dirty="0" err="1"/>
              <a:t>idx</a:t>
            </a:r>
            <a:r>
              <a:rPr lang="en-US" altLang="zh-CN" sz="800" dirty="0"/>
              <a:t>, mask=mask)</a:t>
            </a:r>
          </a:p>
          <a:p>
            <a:r>
              <a:rPr lang="en-US" altLang="zh-CN" sz="800" dirty="0"/>
              <a:t>   y = load(Y + </a:t>
            </a:r>
            <a:r>
              <a:rPr lang="en-US" altLang="zh-CN" sz="800" dirty="0" err="1"/>
              <a:t>idx</a:t>
            </a:r>
            <a:r>
              <a:rPr lang="en-US" altLang="zh-CN" sz="800" dirty="0"/>
              <a:t>, mask=mask)</a:t>
            </a:r>
          </a:p>
          <a:p>
            <a:r>
              <a:rPr lang="en-US" altLang="zh-CN" sz="800" dirty="0"/>
              <a:t>   store(Z + </a:t>
            </a:r>
            <a:r>
              <a:rPr lang="en-US" altLang="zh-CN" sz="800" dirty="0" err="1"/>
              <a:t>idx</a:t>
            </a:r>
            <a:r>
              <a:rPr lang="en-US" altLang="zh-CN" sz="800" dirty="0"/>
              <a:t>, x + y, mask=mask)</a:t>
            </a:r>
          </a:p>
        </p:txBody>
      </p:sp>
      <p:sp>
        <p:nvSpPr>
          <p:cNvPr id="8" name="Text Box 9"/>
          <p:cNvSpPr txBox="1"/>
          <p:nvPr/>
        </p:nvSpPr>
        <p:spPr>
          <a:xfrm>
            <a:off x="289093" y="2958569"/>
            <a:ext cx="2961798" cy="3394607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800" dirty="0"/>
              <a:t>def void add(i32* X .aligned(16) , i32* Y .aligned(16) , i32* Z .aligned(16) , i32 N .</a:t>
            </a:r>
            <a:r>
              <a:rPr lang="en-US" altLang="zh-CN" sz="800" dirty="0" err="1"/>
              <a:t>multipleof</a:t>
            </a:r>
            <a:r>
              <a:rPr lang="en-US" altLang="zh-CN" sz="800" dirty="0"/>
              <a:t>(2) ) {</a:t>
            </a:r>
          </a:p>
          <a:p>
            <a:r>
              <a:rPr lang="en-US" altLang="zh-CN" sz="800" dirty="0"/>
              <a:t>entry:</a:t>
            </a:r>
          </a:p>
          <a:p>
            <a:r>
              <a:rPr lang="en-US" altLang="zh-CN" sz="800" dirty="0"/>
              <a:t>  %0 = </a:t>
            </a:r>
            <a:r>
              <a:rPr lang="en-US" altLang="zh-CN" sz="800" dirty="0" err="1"/>
              <a:t>get_program_id</a:t>
            </a:r>
            <a:r>
              <a:rPr lang="en-US" altLang="zh-CN" sz="800" dirty="0"/>
              <a:t>[0] i32;</a:t>
            </a:r>
          </a:p>
          <a:p>
            <a:r>
              <a:rPr lang="en-US" altLang="zh-CN" sz="800" dirty="0"/>
              <a:t>  %1 = </a:t>
            </a:r>
            <a:r>
              <a:rPr lang="en-US" altLang="zh-CN" sz="800" dirty="0" err="1"/>
              <a:t>mul</a:t>
            </a:r>
            <a:r>
              <a:rPr lang="en-US" altLang="zh-CN" sz="800" dirty="0"/>
              <a:t> i32 %0, 512;</a:t>
            </a:r>
          </a:p>
          <a:p>
            <a:r>
              <a:rPr lang="en-US" altLang="zh-CN" sz="800" dirty="0"/>
              <a:t>  %3 = </a:t>
            </a:r>
            <a:r>
              <a:rPr lang="en-US" altLang="zh-CN" sz="800" dirty="0" err="1"/>
              <a:t>make_range</a:t>
            </a:r>
            <a:r>
              <a:rPr lang="en-US" altLang="zh-CN" sz="800" dirty="0"/>
              <a:t>[0 : 512] i32&lt;512&gt;;</a:t>
            </a:r>
          </a:p>
          <a:p>
            <a:r>
              <a:rPr lang="en-US" altLang="zh-CN" sz="800" dirty="0"/>
              <a:t>  %4 = splat i32&lt;512&gt; %1;</a:t>
            </a:r>
          </a:p>
          <a:p>
            <a:r>
              <a:rPr lang="en-US" altLang="zh-CN" sz="800" dirty="0"/>
              <a:t>  %6 = add i32&lt;512&gt; %4, %3;</a:t>
            </a:r>
          </a:p>
          <a:p>
            <a:r>
              <a:rPr lang="en-US" altLang="zh-CN" sz="800" dirty="0"/>
              <a:t>  %9 = splat i32&lt;512&gt; N;</a:t>
            </a:r>
          </a:p>
          <a:p>
            <a:r>
              <a:rPr lang="en-US" altLang="zh-CN" sz="800" dirty="0"/>
              <a:t>  %11 = </a:t>
            </a:r>
            <a:r>
              <a:rPr lang="en-US" altLang="zh-CN" sz="800" dirty="0" err="1"/>
              <a:t>icmp_slt</a:t>
            </a:r>
            <a:r>
              <a:rPr lang="en-US" altLang="zh-CN" sz="800" dirty="0"/>
              <a:t> i1&lt;512&gt; %6, %9;</a:t>
            </a:r>
          </a:p>
          <a:p>
            <a:r>
              <a:rPr lang="en-US" altLang="zh-CN" sz="800" dirty="0"/>
              <a:t>  %14 = splat i32*&lt;512&gt; X;</a:t>
            </a:r>
          </a:p>
          <a:p>
            <a:r>
              <a:rPr lang="en-US" altLang="zh-CN" sz="800" dirty="0"/>
              <a:t>  %16 = </a:t>
            </a:r>
            <a:r>
              <a:rPr lang="en-US" altLang="zh-CN" sz="800" dirty="0" err="1"/>
              <a:t>getelementptr</a:t>
            </a:r>
            <a:r>
              <a:rPr lang="en-US" altLang="zh-CN" sz="800" dirty="0"/>
              <a:t> i32*&lt;512&gt; %14, %6;</a:t>
            </a:r>
          </a:p>
          <a:p>
            <a:r>
              <a:rPr lang="en-US" altLang="zh-CN" sz="800" dirty="0"/>
              <a:t>  %19 = broadcast i1&lt;512&gt; %11;</a:t>
            </a:r>
          </a:p>
          <a:p>
            <a:r>
              <a:rPr lang="en-US" altLang="zh-CN" sz="800" dirty="0"/>
              <a:t>  %21 = splat i32&lt;512&gt; </a:t>
            </a:r>
            <a:r>
              <a:rPr lang="en-US" altLang="zh-CN" sz="800" dirty="0" err="1"/>
              <a:t>undef</a:t>
            </a:r>
            <a:r>
              <a:rPr lang="en-US" altLang="zh-CN" sz="800" dirty="0"/>
              <a:t>;</a:t>
            </a:r>
          </a:p>
          <a:p>
            <a:r>
              <a:rPr lang="en-US" altLang="zh-CN" sz="800" dirty="0"/>
              <a:t>  %22 = </a:t>
            </a:r>
            <a:r>
              <a:rPr lang="en-US" altLang="zh-CN" sz="800" dirty="0" err="1"/>
              <a:t>masked_load</a:t>
            </a:r>
            <a:r>
              <a:rPr lang="en-US" altLang="zh-CN" sz="800" dirty="0"/>
              <a:t> i32&lt;512&gt; %16, %19, %21;</a:t>
            </a:r>
          </a:p>
          <a:p>
            <a:r>
              <a:rPr lang="en-US" altLang="zh-CN" sz="800" dirty="0"/>
              <a:t>  %26 = splat i32*&lt;512&gt; Y;</a:t>
            </a:r>
          </a:p>
          <a:p>
            <a:r>
              <a:rPr lang="en-US" altLang="zh-CN" sz="800" dirty="0"/>
              <a:t>  %28 = </a:t>
            </a:r>
            <a:r>
              <a:rPr lang="en-US" altLang="zh-CN" sz="800" dirty="0" err="1"/>
              <a:t>getelementptr</a:t>
            </a:r>
            <a:r>
              <a:rPr lang="en-US" altLang="zh-CN" sz="800" dirty="0"/>
              <a:t> i32*&lt;512&gt; %26, %6;</a:t>
            </a:r>
          </a:p>
          <a:p>
            <a:r>
              <a:rPr lang="en-US" altLang="zh-CN" sz="800" dirty="0"/>
              <a:t>  %31 = broadcast i1&lt;512&gt; %11;</a:t>
            </a:r>
          </a:p>
          <a:p>
            <a:r>
              <a:rPr lang="en-US" altLang="zh-CN" sz="800" dirty="0"/>
              <a:t>  %33 = splat i32&lt;512&gt; </a:t>
            </a:r>
            <a:r>
              <a:rPr lang="en-US" altLang="zh-CN" sz="800" dirty="0" err="1"/>
              <a:t>undef</a:t>
            </a:r>
            <a:r>
              <a:rPr lang="en-US" altLang="zh-CN" sz="800" dirty="0"/>
              <a:t>;</a:t>
            </a:r>
          </a:p>
          <a:p>
            <a:r>
              <a:rPr lang="en-US" altLang="zh-CN" sz="800" dirty="0"/>
              <a:t>  %34 = </a:t>
            </a:r>
            <a:r>
              <a:rPr lang="en-US" altLang="zh-CN" sz="800" dirty="0" err="1"/>
              <a:t>masked_load</a:t>
            </a:r>
            <a:r>
              <a:rPr lang="en-US" altLang="zh-CN" sz="800" dirty="0"/>
              <a:t> i32&lt;512&gt; %28, %31, %33;</a:t>
            </a:r>
          </a:p>
          <a:p>
            <a:r>
              <a:rPr lang="en-US" altLang="zh-CN" sz="800" dirty="0"/>
              <a:t>  %38 = splat i32*&lt;512&gt; Z;</a:t>
            </a:r>
          </a:p>
          <a:p>
            <a:r>
              <a:rPr lang="en-US" altLang="zh-CN" sz="800" dirty="0"/>
              <a:t>  %40 = </a:t>
            </a:r>
            <a:r>
              <a:rPr lang="en-US" altLang="zh-CN" sz="800" dirty="0" err="1"/>
              <a:t>getelementptr</a:t>
            </a:r>
            <a:r>
              <a:rPr lang="en-US" altLang="zh-CN" sz="800" dirty="0"/>
              <a:t> i32*&lt;512&gt; %38, %6;</a:t>
            </a:r>
          </a:p>
          <a:p>
            <a:r>
              <a:rPr lang="en-US" altLang="zh-CN" sz="800" dirty="0"/>
              <a:t>  %43 = add i32&lt;512&gt; %22, %34;</a:t>
            </a:r>
          </a:p>
          <a:p>
            <a:r>
              <a:rPr lang="en-US" altLang="zh-CN" sz="800" dirty="0"/>
              <a:t>  %46 = broadcast i32&lt;512&gt; %43;</a:t>
            </a:r>
          </a:p>
          <a:p>
            <a:r>
              <a:rPr lang="en-US" altLang="zh-CN" sz="800" dirty="0"/>
              <a:t>  %48 = broadcast i1&lt;512&gt; %11;</a:t>
            </a:r>
          </a:p>
          <a:p>
            <a:r>
              <a:rPr lang="en-US" altLang="zh-CN" sz="800" dirty="0"/>
              <a:t>  </a:t>
            </a:r>
            <a:r>
              <a:rPr lang="en-US" altLang="zh-CN" sz="800" dirty="0" err="1"/>
              <a:t>masked_store</a:t>
            </a:r>
            <a:r>
              <a:rPr lang="en-US" altLang="zh-CN" sz="800" dirty="0"/>
              <a:t> void %40, %46, %48;</a:t>
            </a:r>
          </a:p>
          <a:p>
            <a:r>
              <a:rPr lang="en-US" altLang="zh-CN" sz="800" dirty="0"/>
              <a:t>  ret void;}</a:t>
            </a:r>
          </a:p>
        </p:txBody>
      </p:sp>
      <p:sp>
        <p:nvSpPr>
          <p:cNvPr id="9" name="Text Box 10"/>
          <p:cNvSpPr txBox="1"/>
          <p:nvPr/>
        </p:nvSpPr>
        <p:spPr>
          <a:xfrm>
            <a:off x="3114419" y="1735328"/>
            <a:ext cx="3207101" cy="4423619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800"/>
              <a:t>visible .entry add(</a:t>
            </a:r>
          </a:p>
          <a:p>
            <a:r>
              <a:rPr lang="en-US" altLang="zh-CN" sz="800"/>
              <a:t>    .param .u64 add_param_0, .param .u64 add_param_1,</a:t>
            </a:r>
          </a:p>
          <a:p>
            <a:r>
              <a:rPr lang="en-US" altLang="zh-CN" sz="800"/>
              <a:t>    .param .u64 add_param_2, .param .u32 add_param_3</a:t>
            </a:r>
          </a:p>
          <a:p>
            <a:r>
              <a:rPr lang="en-US" altLang="zh-CN" sz="800"/>
              <a:t>)</a:t>
            </a:r>
          </a:p>
          <a:p>
            <a:r>
              <a:rPr lang="en-US" altLang="zh-CN" sz="800"/>
              <a:t>.maxntid 128, 1, 1</a:t>
            </a:r>
          </a:p>
          <a:p>
            <a:r>
              <a:rPr lang="en-US" altLang="zh-CN" sz="800"/>
              <a:t>{</a:t>
            </a:r>
          </a:p>
          <a:p>
            <a:r>
              <a:rPr lang="en-US" altLang="zh-CN" sz="800"/>
              <a:t>    .reg .pred     %p&lt;4&gt;;</a:t>
            </a:r>
          </a:p>
          <a:p>
            <a:r>
              <a:rPr lang="en-US" altLang="zh-CN" sz="800"/>
              <a:t>    .reg .b32     %r&lt;18&gt;;</a:t>
            </a:r>
          </a:p>
          <a:p>
            <a:r>
              <a:rPr lang="en-US" altLang="zh-CN" sz="800"/>
              <a:t>    .reg .b64     %rd&lt;8&gt;;</a:t>
            </a:r>
          </a:p>
          <a:p>
            <a:r>
              <a:rPr lang="en-US" altLang="zh-CN" sz="800"/>
              <a:t>    ld.param.u64     %rd4, [add_param_0];</a:t>
            </a:r>
          </a:p>
          <a:p>
            <a:r>
              <a:rPr lang="en-US" altLang="zh-CN" sz="800"/>
              <a:t>    ld.param.u64     %rd5, [add_param_1];</a:t>
            </a:r>
          </a:p>
          <a:p>
            <a:r>
              <a:rPr lang="en-US" altLang="zh-CN" sz="800"/>
              <a:t>    mov.u32     %r13, %tid.x;</a:t>
            </a:r>
          </a:p>
          <a:p>
            <a:r>
              <a:rPr lang="en-US" altLang="zh-CN" sz="800"/>
              <a:t>    ld.param.u32     %r14, [add_param_3];</a:t>
            </a:r>
          </a:p>
          <a:p>
            <a:r>
              <a:rPr lang="en-US" altLang="zh-CN" sz="800"/>
              <a:t>    shl.b32     %r15, %r13, 2;</a:t>
            </a:r>
          </a:p>
          <a:p>
            <a:r>
              <a:rPr lang="en-US" altLang="zh-CN" sz="800"/>
              <a:t>    mov.u32     %r16, %ctaid.x;</a:t>
            </a:r>
          </a:p>
          <a:p>
            <a:r>
              <a:rPr lang="en-US" altLang="zh-CN" sz="800"/>
              <a:t>    mad.lo.s32     %r17, %r16, 512, %r15;</a:t>
            </a:r>
          </a:p>
          <a:p>
            <a:r>
              <a:rPr lang="en-US" altLang="zh-CN" sz="800"/>
              <a:t>    setp.ge.s32     %p3, %r17, %r14;</a:t>
            </a:r>
          </a:p>
          <a:p>
            <a:r>
              <a:rPr lang="en-US" altLang="zh-CN" sz="800"/>
              <a:t>    setp.lt.s32     %p1, %r17, %r14;</a:t>
            </a:r>
          </a:p>
          <a:p>
            <a:r>
              <a:rPr lang="en-US" altLang="zh-CN" sz="800"/>
              <a:t>    mul.wide.s32     %rd7, %r17, 4;</a:t>
            </a:r>
          </a:p>
          <a:p>
            <a:r>
              <a:rPr lang="en-US" altLang="zh-CN" sz="800"/>
              <a:t>    add.s64     %rd2, %rd4, %rd7;</a:t>
            </a:r>
          </a:p>
          <a:p>
            <a:r>
              <a:rPr lang="en-US" altLang="zh-CN" sz="800"/>
              <a:t>    @%p1 ld.global.cg.v4.b32 {%r5,%r6,%r7,%r8}, [ %rd2 + 0];</a:t>
            </a:r>
          </a:p>
          <a:p>
            <a:r>
              <a:rPr lang="en-US" altLang="zh-CN" sz="800"/>
              <a:t>    add.s64     %rd3, %rd5, %rd7;</a:t>
            </a:r>
          </a:p>
          <a:p>
            <a:r>
              <a:rPr lang="en-US" altLang="zh-CN" sz="800"/>
              <a:t>    @%p1 ld.global.cg.v4.b32 {%r9,%r10,%r11,%r12}, [ %rd3 + 0];</a:t>
            </a:r>
          </a:p>
          <a:p>
            <a:r>
              <a:rPr lang="en-US" altLang="zh-CN" sz="800"/>
              <a:t>    @%p3 bra     LBB0_2;</a:t>
            </a:r>
          </a:p>
          <a:p>
            <a:r>
              <a:rPr lang="en-US" altLang="zh-CN" sz="800"/>
              <a:t>    ld.param.u64     %rd6, [add_param_2];</a:t>
            </a:r>
          </a:p>
          <a:p>
            <a:r>
              <a:rPr lang="en-US" altLang="zh-CN" sz="800"/>
              <a:t>    add.s64     %rd1, %rd6, %rd7;</a:t>
            </a:r>
          </a:p>
          <a:p>
            <a:r>
              <a:rPr lang="en-US" altLang="zh-CN" sz="800"/>
              <a:t>    add.s32     %r1, %r5, %r9;</a:t>
            </a:r>
          </a:p>
          <a:p>
            <a:r>
              <a:rPr lang="en-US" altLang="zh-CN" sz="800"/>
              <a:t>    add.s32     %r2, %r6, %r10;</a:t>
            </a:r>
          </a:p>
          <a:p>
            <a:r>
              <a:rPr lang="en-US" altLang="zh-CN" sz="800"/>
              <a:t>    add.s32     %r3, %r7, %r11;</a:t>
            </a:r>
          </a:p>
          <a:p>
            <a:r>
              <a:rPr lang="en-US" altLang="zh-CN" sz="800"/>
              <a:t>    add.s32     %r4, %r8, %r12;</a:t>
            </a:r>
          </a:p>
          <a:p>
            <a:r>
              <a:rPr lang="en-US" altLang="zh-CN" sz="800"/>
              <a:t>    st.global.v4.u32     [%rd1], {%r1, %r2, %r3, %r4};</a:t>
            </a:r>
          </a:p>
          <a:p>
            <a:r>
              <a:rPr lang="en-US" altLang="zh-CN" sz="800"/>
              <a:t>LBB0_2:</a:t>
            </a:r>
          </a:p>
          <a:p>
            <a:r>
              <a:rPr lang="en-US" altLang="zh-CN" sz="800"/>
              <a:t>    ret;</a:t>
            </a:r>
          </a:p>
          <a:p>
            <a:r>
              <a:rPr lang="en-US" altLang="zh-CN" sz="800"/>
              <a:t>}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601086" y="2789237"/>
            <a:ext cx="105116" cy="169332"/>
          </a:xfrm>
          <a:prstGeom prst="downArrow">
            <a:avLst/>
          </a:prstGeom>
          <a:ln w="19050" cap="flat" cmpd="sng" algn="ctr">
            <a:solidFill>
              <a:schemeClr val="phClr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1" name="Down Arrow 10"/>
          <p:cNvSpPr/>
          <p:nvPr/>
        </p:nvSpPr>
        <p:spPr>
          <a:xfrm rot="16200000">
            <a:off x="3032074" y="4442563"/>
            <a:ext cx="105116" cy="169332"/>
          </a:xfrm>
          <a:prstGeom prst="downArrow">
            <a:avLst/>
          </a:prstGeom>
          <a:ln w="19050" cap="flat" cmpd="sng" algn="ctr">
            <a:solidFill>
              <a:schemeClr val="phClr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297" y="2155362"/>
            <a:ext cx="5592486" cy="31902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Triton </a:t>
            </a:r>
            <a:r>
              <a:rPr lang="en-US" altLang="zh-CN" dirty="0" err="1"/>
              <a:t>Dialects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M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ost </a:t>
            </a:r>
            <a:r>
              <a:rPr lang="en-US" dirty="0" err="1"/>
              <a:t>Triton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 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dialects inherits from MLIR native dialects</a:t>
            </a:r>
          </a:p>
          <a:p>
            <a:pPr lvl="1"/>
            <a:r>
              <a:rPr lang="en-US" dirty="0" err="1"/>
              <a:t>Arith</a:t>
            </a:r>
            <a:r>
              <a:rPr lang="en-US" dirty="0"/>
              <a:t>: </a:t>
            </a:r>
            <a:r>
              <a:rPr lang="en-US" dirty="0" err="1"/>
              <a:t>addf</a:t>
            </a:r>
            <a:r>
              <a:rPr lang="en-US" dirty="0"/>
              <a:t>, </a:t>
            </a:r>
            <a:r>
              <a:rPr lang="en-US" dirty="0" err="1"/>
              <a:t>addi</a:t>
            </a:r>
            <a:r>
              <a:rPr lang="en-US" dirty="0"/>
              <a:t>, constant, </a:t>
            </a:r>
            <a:r>
              <a:rPr lang="en-US" dirty="0" err="1"/>
              <a:t>cmpf</a:t>
            </a:r>
            <a:r>
              <a:rPr lang="en-US" dirty="0"/>
              <a:t>, </a:t>
            </a:r>
            <a:r>
              <a:rPr lang="en-US" dirty="0" err="1"/>
              <a:t>cmpi</a:t>
            </a:r>
            <a:r>
              <a:rPr lang="en-US" dirty="0"/>
              <a:t>, ...</a:t>
            </a:r>
          </a:p>
          <a:p>
            <a:pPr lvl="1"/>
            <a:r>
              <a:rPr lang="en-US" dirty="0"/>
              <a:t>Math: exp, sin, cos, log, </a:t>
            </a:r>
            <a:r>
              <a:rPr lang="en-US" dirty="0" err="1"/>
              <a:t>absi</a:t>
            </a:r>
            <a:r>
              <a:rPr lang="en-US" dirty="0"/>
              <a:t>, </a:t>
            </a:r>
            <a:r>
              <a:rPr lang="en-US" dirty="0" err="1"/>
              <a:t>absf</a:t>
            </a:r>
            <a:r>
              <a:rPr lang="en-US" dirty="0"/>
              <a:t>, sqrt</a:t>
            </a:r>
          </a:p>
          <a:p>
            <a:pPr lvl="1"/>
            <a:r>
              <a:rPr lang="en-US" dirty="0" err="1"/>
              <a:t>StructuredControlFlow</a:t>
            </a:r>
            <a:r>
              <a:rPr lang="en-US" dirty="0"/>
              <a:t>: for, if, while, yield, condition</a:t>
            </a:r>
          </a:p>
          <a:p>
            <a:pPr lvl="1"/>
            <a:r>
              <a:rPr lang="en-US" dirty="0"/>
              <a:t>Reduce effort to LLVM</a:t>
            </a:r>
          </a:p>
          <a:p>
            <a:r>
              <a:rPr lang="en-US" altLang="zh-CN" dirty="0" err="1"/>
              <a:t>Leverage LLVM</a:t>
            </a:r>
            <a:r>
              <a:rPr lang="en-US" altLang="zh-CN" dirty="0"/>
              <a:t> optimizer for </a:t>
            </a:r>
            <a:r>
              <a:rPr lang="en-US" altLang="zh-CN" dirty="0" err="1"/>
              <a:t>nvcc</a:t>
            </a:r>
            <a:r>
              <a:rPr lang="en-US" altLang="zh-CN" dirty="0"/>
              <a:t>-like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 optimization after l</a:t>
            </a:r>
            <a:r>
              <a:rPr lang="en-US" altLang="zh-CN"/>
              <a:t>owring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 to </a:t>
            </a:r>
            <a:r>
              <a:rPr lang="en-US" altLang="zh-CN"/>
              <a:t>LLVM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TTIR</a:t>
            </a:r>
            <a:r>
              <a:rPr lang="en-US" altLang="zh-CN" dirty="0"/>
              <a:t>: From python</a:t>
            </a:r>
            <a:r>
              <a:rPr lang="zh-CN" altLang="en-US" dirty="0"/>
              <a:t> </a:t>
            </a:r>
            <a:r>
              <a:rPr lang="en-US" altLang="zh-CN" dirty="0"/>
              <a:t>AST</a:t>
            </a:r>
          </a:p>
          <a:p>
            <a:pPr lvl="1"/>
            <a:r>
              <a:rPr lang="en-US" altLang="zh-CN" dirty="0"/>
              <a:t>Tensor operation abstraction</a:t>
            </a:r>
          </a:p>
          <a:p>
            <a:pPr lvl="1"/>
            <a:r>
              <a:rPr lang="en-US" altLang="zh-CN" dirty="0"/>
              <a:t>Block-level parallelism representation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894173" y="2608883"/>
            <a:ext cx="5907301" cy="365618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module {</a:t>
            </a:r>
          </a:p>
          <a:p>
            <a:r>
              <a:rPr lang="en-US" sz="1200" dirty="0">
                <a:solidFill>
                  <a:srgbClr val="E4E4E4"/>
                </a:solidFill>
                <a:latin typeface="Menlo" panose="020B0609030804020204" pitchFamily="49" charset="0"/>
              </a:rPr>
              <a:t>	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tt.func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@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add_kernel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(%arg0: !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tt.ptr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&lt;f32&gt;, </a:t>
            </a:r>
          </a:p>
          <a:p>
            <a:pPr lvl="2"/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		%arg1: !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tt.ptr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&lt;f32&gt;,</a:t>
            </a:r>
          </a:p>
          <a:p>
            <a:pPr lvl="2"/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		%arg2: !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tt.ptr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&lt;f32&gt;, </a:t>
            </a:r>
          </a:p>
          <a:p>
            <a:pPr lvl="2"/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		%arg3: i32) {</a:t>
            </a:r>
          </a:p>
          <a:p>
            <a:pPr lvl="2"/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%c1024 =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arith.constant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1024 : i32</a:t>
            </a:r>
          </a:p>
          <a:p>
            <a:pPr lvl="2"/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pid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tt.get_program_id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x : i32</a:t>
            </a:r>
          </a:p>
          <a:p>
            <a:pPr lvl="2"/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%offset =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arith.muli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%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pid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, %c1024 : i32</a:t>
            </a:r>
          </a:p>
          <a:p>
            <a:pPr lvl="2"/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%range =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tt.make_range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{end = 1024, start = 0} : tensor&lt;1024xi32&gt;</a:t>
            </a:r>
          </a:p>
          <a:p>
            <a:pPr lvl="2"/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%offsets =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arith.addi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%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offset_splat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, %range : tensor&lt;1024xi32&gt;</a:t>
            </a:r>
          </a:p>
          <a:p>
            <a:pPr lvl="2"/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加载</a:t>
            </a:r>
          </a:p>
          <a:p>
            <a:pPr lvl="2"/>
            <a:r>
              <a:rPr lang="en-US" altLang="ja-JP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x =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tt.load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%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ptr_x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: tensor&lt;1024x!tt.ptr&lt;f32&gt;&gt;</a:t>
            </a:r>
          </a:p>
          <a:p>
            <a:pPr lvl="2"/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%y =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tt.load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%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ptr_y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: tensor&lt;1024x!tt.ptr&lt;f32&gt;&gt;</a:t>
            </a:r>
          </a:p>
          <a:p>
            <a:pPr lvl="2"/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计算</a:t>
            </a:r>
          </a:p>
          <a:p>
            <a:pPr lvl="2"/>
            <a:r>
              <a:rPr lang="en-US" altLang="ja-JP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z =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arith.addf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%x, %y : tensor&lt;1024xf32&gt;</a:t>
            </a:r>
          </a:p>
          <a:p>
            <a:pPr lvl="2"/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存储</a:t>
            </a:r>
          </a:p>
          <a:p>
            <a:pPr lvl="2"/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tt.store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%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ptr_z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, %z : tensor&lt;1024x!tt.ptr&lt;f32&gt;&gt;</a:t>
            </a:r>
          </a:p>
          <a:p>
            <a:pPr lvl="2"/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tt.return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}}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Triton </a:t>
            </a:r>
            <a:r>
              <a:rPr lang="en-US" altLang="zh-CN" dirty="0" err="1">
                <a:cs typeface="Arial" panose="020B0604020202020204" pitchFamily="34" charset="0"/>
              </a:rPr>
              <a:t>Dialect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TritonGPU</a:t>
            </a:r>
            <a:r>
              <a:rPr lang="en-US" dirty="0"/>
              <a:t> IR</a:t>
            </a:r>
            <a:r>
              <a:rPr lang="zh-CN" altLang="en-US" dirty="0"/>
              <a:t>（</a:t>
            </a:r>
            <a:r>
              <a:rPr lang="en-US" altLang="zh-CN" dirty="0"/>
              <a:t>TTGIR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/>
              <a:t>Add layout information</a:t>
            </a:r>
          </a:p>
          <a:p>
            <a:pPr lvl="1"/>
            <a:r>
              <a:rPr lang="en-US" altLang="zh-CN"/>
              <a:t>Incorporate hardware target and warp configuration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NVIDIA PTX</a:t>
            </a:r>
          </a:p>
          <a:p>
            <a:pPr lvl="1"/>
            <a:r>
              <a:rPr lang="en-US" altLang="zh-CN" dirty="0"/>
              <a:t>Virtual instruction set for NVIDIA GPUs</a:t>
            </a:r>
          </a:p>
          <a:p>
            <a:pPr lvl="1"/>
            <a:r>
              <a:rPr lang="en-US" altLang="zh-CN" dirty="0"/>
              <a:t>Platform-independent intermediate representation</a:t>
            </a:r>
          </a:p>
          <a:p>
            <a:pPr lvl="1"/>
            <a:r>
              <a:rPr lang="en-US" altLang="zh-CN" dirty="0"/>
              <a:t>Compiled into actual machine code by ptxas (Streaming ASSembler)</a:t>
            </a:r>
          </a:p>
          <a:p>
            <a:pPr lvl="0"/>
            <a:r>
              <a:rPr lang="en-US" altLang="zh-CN" dirty="0"/>
              <a:t>PTX Instruction 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90525" y="2594919"/>
            <a:ext cx="5705475" cy="35852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#blocked = #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triton_gpu.blocked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&lt;{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sizePerThread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= [4], 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threadsPerWarp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= [32], 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warpsPerCTA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= [4], 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order = [0]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}&gt;</a:t>
            </a:r>
          </a:p>
          <a:p>
            <a:b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module attributes {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triton_gpu.num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-warps" = 4 : i32,</a:t>
            </a:r>
          </a:p>
          <a:p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triton_gpu.target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= "cuda:80" // Ampere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} {</a:t>
            </a:r>
          </a:p>
          <a:p>
            <a:pPr lvl="1"/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tt.func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@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add_kernel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(...) {</a:t>
            </a:r>
          </a:p>
          <a:p>
            <a:pPr lvl="1"/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现在张量带有布局属性</a:t>
            </a:r>
            <a:endParaRPr lang="en-US" altLang="ja-JP" sz="12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altLang="ja-JP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x =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tt.load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%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ptr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: tensor&lt;1024x!tt.ptr&lt;f32&gt;, #blocked&gt;</a:t>
            </a:r>
          </a:p>
          <a:p>
            <a:pPr lvl="1"/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%y =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tt.load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%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ptr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: tensor&lt;1024x!tt.ptr&lt;f32&gt;, #blocked&gt;%z =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arith.addf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%x, %y : tensor&lt;1024xf32, #blocked&gt;</a:t>
            </a:r>
          </a:p>
          <a:p>
            <a:pPr lvl="1"/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96077" y="4244426"/>
            <a:ext cx="5419729" cy="93911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wmma.mma.sync.aligned.m16n16k16.row.col.f32.f32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{%d0, %d1, %d2, %d3, %d4, %d5, %d6, %d7},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{%a0, %a1, %a2, %a3, %a4, %a5, %a6, %a7},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{%b0, %b1, %b2, %b3, %b4, %b5, %b6, %b7},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{%c0, %c1, %c2, %c3, %c4, %c5, %c6, %c7};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</a:t>
            </a:r>
            <a:r>
              <a:rPr lang="en-US" altLang="zh-CN" dirty="0" err="1">
                <a:cs typeface="Arial" panose="020B0604020202020204" pitchFamily="34" charset="0"/>
              </a:rPr>
              <a:t>t</a:t>
            </a:r>
            <a:r>
              <a:rPr lang="en-US" altLang="zh-CN" dirty="0" err="1"/>
              <a:t>her </a:t>
            </a:r>
            <a:r>
              <a:rPr lang="en-US" dirty="0" err="1"/>
              <a:t>GPU </a:t>
            </a:r>
            <a:r>
              <a:rPr lang="en-US" altLang="zh-CN" dirty="0" err="1"/>
              <a:t>Backend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AMD</a:t>
            </a:r>
          </a:p>
          <a:p>
            <a:r>
              <a:rPr lang="en-US" dirty="0"/>
              <a:t>LLVM</a:t>
            </a:r>
            <a:r>
              <a:rPr lang="zh-CN" altLang="en-US" dirty="0"/>
              <a:t> </a:t>
            </a:r>
            <a:r>
              <a:rPr lang="en-US" altLang="zh-CN" dirty="0"/>
              <a:t>IR</a:t>
            </a:r>
            <a:endParaRPr lang="en-US" dirty="0"/>
          </a:p>
          <a:p>
            <a:pPr lvl="1"/>
            <a:r>
              <a:rPr lang="en-US" dirty="0" err="1"/>
              <a:t>AMDGPUISelDAGToDAG</a:t>
            </a:r>
            <a:endParaRPr lang="en-US" dirty="0"/>
          </a:p>
          <a:p>
            <a:pPr lvl="1"/>
            <a:r>
              <a:rPr lang="en-US" dirty="0" err="1"/>
              <a:t>SIInstrInfo</a:t>
            </a:r>
            <a:endParaRPr lang="en-US" altLang="ja-JP" dirty="0"/>
          </a:p>
          <a:p>
            <a:pPr lvl="1"/>
            <a:r>
              <a:rPr lang="en-US" dirty="0" err="1"/>
              <a:t>GCNRegisterInfo</a:t>
            </a:r>
            <a:endParaRPr lang="en-US" altLang="ja-JP" dirty="0"/>
          </a:p>
          <a:p>
            <a:r>
              <a:rPr lang="en-US" altLang="ja-JP" dirty="0"/>
              <a:t>GCN/CDNA Assembly</a:t>
            </a:r>
          </a:p>
          <a:p>
            <a:pPr lvl="1"/>
            <a:r>
              <a:rPr lang="en-US" altLang="ja-JP" dirty="0" err="1"/>
              <a:t>llvm</a:t>
            </a:r>
            <a:r>
              <a:rPr lang="en-US" altLang="ja-JP" dirty="0"/>
              <a:t>-mc</a:t>
            </a:r>
            <a:r>
              <a:rPr lang="en-US" altLang="zh-CN" dirty="0"/>
              <a:t>/ROCM</a:t>
            </a:r>
          </a:p>
          <a:p>
            <a:r>
              <a:rPr lang="en-US" altLang="ja-JP" dirty="0"/>
              <a:t>AMD GPU Binary (ELF)</a:t>
            </a:r>
          </a:p>
          <a:p>
            <a:r>
              <a:rPr lang="en-US" altLang="ja-JP" dirty="0"/>
              <a:t>AMD Matrix Core</a:t>
            </a:r>
            <a:r>
              <a:rPr lang="en-US" altLang="zh-CN" dirty="0"/>
              <a:t>: Like </a:t>
            </a:r>
            <a:r>
              <a:rPr lang="en-US" altLang="ja-JP" dirty="0" err="1"/>
              <a:t>Tensorcore</a:t>
            </a:r>
            <a:endParaRPr lang="en-US" altLang="ja-JP" dirty="0"/>
          </a:p>
          <a:p>
            <a:r>
              <a:rPr lang="en-US" altLang="zh-CN" dirty="0" err="1"/>
              <a:t>No Significant Difference at </a:t>
            </a:r>
            <a:r>
              <a:rPr lang="en-US" altLang="ja-JP" dirty="0" err="1"/>
              <a:t>TritonIR</a:t>
            </a:r>
            <a:endParaRPr lang="en-US" altLang="ja-JP" dirty="0"/>
          </a:p>
          <a:p>
            <a:endParaRPr lang="en-US" altLang="ja-JP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Intel</a:t>
            </a:r>
          </a:p>
          <a:p>
            <a:r>
              <a:rPr lang="en-US" dirty="0" err="1"/>
              <a:t>MLIR SPIR-V </a:t>
            </a:r>
            <a:r>
              <a:rPr lang="en-US" altLang="zh-CN" dirty="0" err="1"/>
              <a:t>Dialects</a:t>
            </a:r>
            <a:endParaRPr lang="en-US" dirty="0"/>
          </a:p>
          <a:p>
            <a:pPr lvl="1"/>
            <a:r>
              <a:rPr lang="en-US" dirty="0" err="1"/>
              <a:t>spirv.Load</a:t>
            </a:r>
            <a:r>
              <a:rPr lang="en-US" dirty="0"/>
              <a:t>, </a:t>
            </a:r>
            <a:r>
              <a:rPr lang="en-US" dirty="0" err="1"/>
              <a:t>spirv.Store</a:t>
            </a:r>
            <a:endParaRPr lang="en-US" dirty="0"/>
          </a:p>
          <a:p>
            <a:pPr lvl="1"/>
            <a:r>
              <a:rPr lang="en-US" dirty="0" err="1"/>
              <a:t>spirv.GroupOperation</a:t>
            </a:r>
            <a:r>
              <a:rPr lang="en-US" dirty="0"/>
              <a:t> (SIMD)</a:t>
            </a:r>
          </a:p>
          <a:p>
            <a:pPr lvl="1"/>
            <a:r>
              <a:rPr lang="en-US" dirty="0" err="1"/>
              <a:t>spirv.CooperativeMatrix</a:t>
            </a:r>
            <a:r>
              <a:rPr lang="en-US" dirty="0"/>
              <a:t> (XMX)</a:t>
            </a:r>
          </a:p>
          <a:p>
            <a:r>
              <a:rPr lang="en-US" dirty="0"/>
              <a:t>SPIR-V Binary</a:t>
            </a:r>
          </a:p>
          <a:p>
            <a:pPr lvl="1"/>
            <a:r>
              <a:rPr lang="en-US" dirty="0"/>
              <a:t>Intel Graphics Compiler - IGC</a:t>
            </a:r>
          </a:p>
          <a:p>
            <a:r>
              <a:rPr lang="en-US" dirty="0"/>
              <a:t>Gen ISA Binary (ELF)</a:t>
            </a:r>
          </a:p>
          <a:p>
            <a:r>
              <a:rPr lang="en-US" altLang="zh-CN" dirty="0" err="1"/>
              <a:t>Special </a:t>
            </a:r>
            <a:r>
              <a:rPr lang="en-US" dirty="0" err="1"/>
              <a:t>SPIR-V </a:t>
            </a:r>
            <a:r>
              <a:rPr lang="en-US" altLang="zh-CN" dirty="0" err="1"/>
              <a:t>extentions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Cross-Backend Code Generation Challenges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0000"/>
          </a:bodyPr>
          <a:lstStyle/>
          <a:p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E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xecution Model Difference</a:t>
            </a:r>
            <a:endParaRPr lang="ja-JP" altLang="en-US"/>
          </a:p>
          <a:p>
            <a:pPr lvl="1"/>
            <a:r>
              <a:rPr lang="en-US" dirty="0"/>
              <a:t>NVIDIA: Warp = 32 threads, lockstep </a:t>
            </a:r>
            <a:r>
              <a:rPr lang="en-US" altLang="zh-CN" dirty="0"/>
              <a:t>execution</a:t>
            </a:r>
            <a:endParaRPr lang="ja-JP" altLang="en-US"/>
          </a:p>
          <a:p>
            <a:pPr lvl="1"/>
            <a:r>
              <a:rPr lang="en-US" dirty="0"/>
              <a:t>AMD: Wave = 64 threads (CDNA)</a:t>
            </a:r>
            <a:r>
              <a:rPr lang="en-US" altLang="zh-CN" dirty="0"/>
              <a:t>, or</a:t>
            </a:r>
            <a:r>
              <a:rPr lang="ja-JP" altLang="en-US"/>
              <a:t> </a:t>
            </a:r>
            <a:r>
              <a:rPr lang="en-US" altLang="ja-JP" dirty="0"/>
              <a:t>32 (</a:t>
            </a:r>
            <a:r>
              <a:rPr lang="en-US" dirty="0"/>
              <a:t>RDNA)</a:t>
            </a:r>
          </a:p>
          <a:p>
            <a:pPr lvl="1"/>
            <a:r>
              <a:rPr lang="en-US" dirty="0"/>
              <a:t>Intel: SIMD width </a:t>
            </a:r>
            <a:r>
              <a:rPr lang="en-US" altLang="zh-CN" dirty="0"/>
              <a:t>editable</a:t>
            </a:r>
            <a:r>
              <a:rPr lang="en-US" altLang="ja-JP" dirty="0"/>
              <a:t>(8/16/32)</a:t>
            </a:r>
          </a:p>
          <a:p>
            <a:pPr lvl="1"/>
            <a:r>
              <a:rPr lang="en-US" altLang="zh-CN"/>
              <a:t>Abstracted as an "execution width" parameter at the TritonGPU IR level</a:t>
            </a:r>
          </a:p>
          <a:p>
            <a:r>
              <a:rPr lang="en-US" altLang="zh-CN"/>
              <a:t>Memory</a:t>
            </a:r>
            <a:r>
              <a:rPr lang="ja-JP" altLang="en-US"/>
              <a:t> </a:t>
            </a:r>
            <a:r>
              <a:rPr lang="en-US" altLang="zh-CN"/>
              <a:t>Hierarchy Difference</a:t>
            </a:r>
            <a:endParaRPr lang="ja-JP" altLang="en-US"/>
          </a:p>
          <a:p>
            <a:pPr lvl="1"/>
            <a:r>
              <a:rPr lang="en-US" altLang="zh-CN" dirty="0"/>
              <a:t>NVIDIA: Shared Memory (explicitly managed)</a:t>
            </a:r>
          </a:p>
          <a:p>
            <a:pPr lvl="1"/>
            <a:r>
              <a:rPr lang="en-US" altLang="zh-CN" dirty="0"/>
              <a:t>AMD: LDS (similar, but different size/bank count)</a:t>
            </a:r>
          </a:p>
          <a:p>
            <a:pPr lvl="1"/>
            <a:r>
              <a:rPr lang="en-US" altLang="zh-CN" dirty="0"/>
              <a:t>Intel: SLM (Shared Local Memory, smaller)</a:t>
            </a:r>
          </a:p>
          <a:p>
            <a:pPr lvl="1"/>
            <a:r>
              <a:rPr lang="en-US" altLang="zh-CN" dirty="0"/>
              <a:t>Shared memory abstraction + backend-specific size configuration</a:t>
            </a:r>
            <a:endParaRPr lang="en-US" altLang="ja-JP" dirty="0"/>
          </a:p>
          <a:p>
            <a:pPr lvl="2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0"/>
            <a:r>
              <a:rPr lang="en-US" altLang="zh-CN" dirty="0"/>
              <a:t>Differences in Matrix Acceleration Units</a:t>
            </a:r>
          </a:p>
          <a:p>
            <a:pPr lvl="1"/>
            <a:r>
              <a:rPr lang="en-US" dirty="0"/>
              <a:t>NVIDIA: Tensor Core (</a:t>
            </a:r>
            <a:r>
              <a:rPr lang="en-US" dirty="0" err="1"/>
              <a:t>mma.sync</a:t>
            </a:r>
            <a:r>
              <a:rPr lang="en-US" dirty="0"/>
              <a:t>, </a:t>
            </a:r>
            <a:r>
              <a:rPr lang="en-US" dirty="0" err="1"/>
              <a:t>wgmma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AMD: Matrix Core (</a:t>
            </a:r>
            <a:r>
              <a:rPr lang="en-US" dirty="0" err="1"/>
              <a:t>v_mfma</a:t>
            </a:r>
            <a:r>
              <a:rPr lang="en-US" dirty="0"/>
              <a:t>_*)</a:t>
            </a:r>
          </a:p>
          <a:p>
            <a:pPr lvl="1"/>
            <a:r>
              <a:rPr lang="en-US" dirty="0"/>
              <a:t>Intel: XMX (</a:t>
            </a:r>
            <a:r>
              <a:rPr lang="en-US" dirty="0" err="1"/>
              <a:t>dpas</a:t>
            </a:r>
            <a:r>
              <a:rPr lang="en-US" dirty="0"/>
              <a:t>, </a:t>
            </a:r>
            <a:r>
              <a:rPr lang="en-US" dirty="0" err="1"/>
              <a:t>joint_matrix</a:t>
            </a:r>
            <a:r>
              <a:rPr lang="en-US" dirty="0"/>
              <a:t>)</a:t>
            </a:r>
          </a:p>
          <a:p>
            <a:pPr lvl="1"/>
            <a:r>
              <a:rPr lang="en-US" altLang="zh-CN" dirty="0"/>
              <a:t>tt.dot unified interface, backend maps to specific instructions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0292" y="3680509"/>
            <a:ext cx="4893276" cy="185351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87C3FF"/>
                </a:solidFill>
                <a:effectLst/>
                <a:latin typeface="Menlo" panose="020B0609030804020204" pitchFamily="49" charset="0"/>
              </a:rPr>
              <a:t>NVIDIABackend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Backend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r>
              <a:rPr lang="en-US" sz="16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	def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get_wave_size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i="1" dirty="0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): </a:t>
            </a:r>
            <a:r>
              <a:rPr lang="en-US" sz="16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EBC88D"/>
                </a:solidFill>
                <a:effectLst/>
                <a:latin typeface="Menlo" panose="020B0609030804020204" pitchFamily="49" charset="0"/>
              </a:rPr>
              <a:t>32</a:t>
            </a:r>
            <a:endParaRPr lang="en-US" sz="16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6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lower_dot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i="1" dirty="0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i="1" dirty="0">
                <a:solidFill>
                  <a:srgbClr val="F8C762"/>
                </a:solidFill>
                <a:effectLst/>
                <a:latin typeface="Menlo" panose="020B0609030804020204" pitchFamily="49" charset="0"/>
              </a:rPr>
              <a:t>op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2"/>
            <a:r>
              <a:rPr lang="en-US" sz="16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CC7C8A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sz="16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capability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&gt;=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EBC88D"/>
                </a:solidFill>
                <a:effectLst/>
                <a:latin typeface="Menlo" panose="020B0609030804020204" pitchFamily="49" charset="0"/>
              </a:rPr>
              <a:t>90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/>
            <a:r>
              <a:rPr lang="en-US" sz="16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emit_wgmma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op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6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sz="16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/>
            <a:r>
              <a:rPr lang="en-US" sz="16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emit_mma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op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6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C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ode Generation Optimizations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Vector</a:t>
            </a:r>
            <a:r>
              <a:rPr lang="en-US" altLang="zh-CN">
                <a:cs typeface="Arial" panose="020B0604020202020204" pitchFamily="34" charset="0"/>
              </a:rPr>
              <a:t>ization</a:t>
            </a:r>
          </a:p>
          <a:p>
            <a:pPr lvl="1"/>
            <a:r>
              <a:rPr lang="en-US" altLang="zh-CN" dirty="0"/>
              <a:t>Scalar</a:t>
            </a:r>
            <a:r>
              <a:rPr lang="ja-JP" altLang="en-US" dirty="0"/>
              <a:t> </a:t>
            </a:r>
            <a:r>
              <a:rPr lang="en-US" altLang="zh-CN" dirty="0"/>
              <a:t>version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r>
              <a:rPr lang="en-US" altLang="zh-CN" dirty="0"/>
              <a:t>Vector</a:t>
            </a:r>
            <a:r>
              <a:rPr lang="ja-JP" altLang="en-US" dirty="0"/>
              <a:t> </a:t>
            </a:r>
            <a:r>
              <a:rPr lang="en-US" altLang="zh-CN" dirty="0"/>
              <a:t>version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r>
              <a:rPr lang="en-US" altLang="zh-CN" dirty="0"/>
              <a:t>Vectorization in </a:t>
            </a:r>
            <a:r>
              <a:rPr lang="en-US" altLang="ja-JP" dirty="0"/>
              <a:t>Triton</a:t>
            </a:r>
            <a:endParaRPr lang="ja-JP" altLang="en-US"/>
          </a:p>
          <a:p>
            <a:endParaRPr lang="ja-JP" altLang="en-US"/>
          </a:p>
          <a:p>
            <a:pPr lvl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0"/>
            <a:r>
              <a:rPr lang="en-US" altLang="zh-CN" dirty="0"/>
              <a:t>Loop Unrolling</a:t>
            </a:r>
          </a:p>
          <a:p>
            <a:pPr lvl="1"/>
            <a:r>
              <a:rPr lang="en-US" altLang="zh-CN" dirty="0"/>
              <a:t>Reduce loop overhead (branches, counters)</a:t>
            </a:r>
          </a:p>
          <a:p>
            <a:pPr lvl="1"/>
            <a:r>
              <a:rPr lang="en-US" altLang="zh-CN" dirty="0"/>
              <a:t>Expose more instruction-level parallelism</a:t>
            </a:r>
          </a:p>
          <a:p>
            <a:pPr lvl="1"/>
            <a:r>
              <a:rPr lang="en-US" altLang="zh-CN" dirty="0"/>
              <a:t>Better register reuse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7270" y="2160270"/>
            <a:ext cx="5097780" cy="7086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for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in range(N):</a:t>
            </a: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c[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] = a[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] + b[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]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7270" y="3429000"/>
            <a:ext cx="5078730" cy="7086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for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in range(0, N, 4):</a:t>
            </a: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c[i:i+4] = a[i:i+4] + b[i:i+4]</a:t>
            </a:r>
          </a:p>
        </p:txBody>
      </p:sp>
      <p:sp>
        <p:nvSpPr>
          <p:cNvPr id="9" name="Rectangle 8"/>
          <p:cNvSpPr/>
          <p:nvPr/>
        </p:nvSpPr>
        <p:spPr>
          <a:xfrm>
            <a:off x="185924" y="4712970"/>
            <a:ext cx="5929143" cy="2145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0" dirty="0">
                <a:solidFill>
                  <a:srgbClr val="A8CC7C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600" b="0" dirty="0" err="1">
                <a:solidFill>
                  <a:srgbClr val="A8CC7C"/>
                </a:solidFill>
                <a:effectLst/>
                <a:latin typeface="Menlo" panose="020B0609030804020204" pitchFamily="49" charset="0"/>
              </a:rPr>
              <a:t>triton</a:t>
            </a:r>
            <a:r>
              <a:rPr lang="en-US" sz="16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A8CC7C"/>
                </a:solidFill>
                <a:effectLst/>
                <a:latin typeface="Menlo" panose="020B0609030804020204" pitchFamily="49" charset="0"/>
              </a:rPr>
              <a:t>jit</a:t>
            </a:r>
            <a:endParaRPr lang="en-US" sz="16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6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kernel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i="1" dirty="0" err="1">
                <a:solidFill>
                  <a:srgbClr val="F8C762"/>
                </a:solidFill>
                <a:effectLst/>
                <a:latin typeface="Menlo" panose="020B0609030804020204" pitchFamily="49" charset="0"/>
              </a:rPr>
              <a:t>ptr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i="1" dirty="0">
                <a:solidFill>
                  <a:srgbClr val="F8C762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i="1" dirty="0">
                <a:solidFill>
                  <a:srgbClr val="F8C762"/>
                </a:solidFill>
                <a:effectLst/>
                <a:latin typeface="Menlo" panose="020B0609030804020204" pitchFamily="49" charset="0"/>
              </a:rPr>
              <a:t>BLOCK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tl</a:t>
            </a:r>
            <a:r>
              <a:rPr lang="en-US" sz="16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constexpr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/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offs 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tl</a:t>
            </a:r>
            <a:r>
              <a:rPr lang="en-US" sz="16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arange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EBC88D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BLOCK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Generate vector index</a:t>
            </a:r>
            <a:endParaRPr lang="ja-JP" altLang="en-US" sz="16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altLang="ja-JP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Triton 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select vector size automatically</a:t>
            </a:r>
            <a:endParaRPr lang="ja-JP" altLang="en-US" sz="16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altLang="ja-JP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based on</a:t>
            </a:r>
            <a:r>
              <a:rPr lang="ja-JP" altLang="en-US" sz="16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BLOCK </a:t>
            </a:r>
            <a:r>
              <a:rPr lang="en-US" sz="160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-US" altLang="zh-CN" sz="160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ize and data type</a:t>
            </a:r>
          </a:p>
          <a:p>
            <a:pPr lvl="1"/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x 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tl</a:t>
            </a:r>
            <a:r>
              <a:rPr lang="en-US" sz="16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load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ptr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offs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lvl="1"/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Compile as vector oprtation</a:t>
            </a:r>
            <a:endParaRPr lang="ja-JP" altLang="en-US" sz="16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90306" y="3041810"/>
            <a:ext cx="5791202" cy="7086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for k in range(0, K, 16):</a:t>
            </a: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acc = dot(a[k:k+16], b[k:k+16], acc)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0306" y="4279901"/>
            <a:ext cx="5791202" cy="20764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for k in range(0, K, 64):</a:t>
            </a:r>
          </a:p>
          <a:p>
            <a:pPr lvl="1"/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acc = dot(a[k:k+16], b[k:k+16], acc)</a:t>
            </a:r>
          </a:p>
          <a:p>
            <a:pPr lvl="1"/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acc = dot(a[k+16:k+32], b[k+16:k+32], acc)</a:t>
            </a:r>
          </a:p>
          <a:p>
            <a:pPr lvl="1"/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acc = dot(a[k+32:k+48], b[k+32:k+48], acc)</a:t>
            </a:r>
          </a:p>
          <a:p>
            <a:pPr lvl="1"/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acc = dot(a[k+48:k+64], b[k+48:k+64], acc)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045890" y="3783330"/>
            <a:ext cx="140017" cy="4457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Group Discussion: How does Triton support different NVIDIA architectures?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23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VjMjNiN2ZkZTMzMDA4ZWE3OTY1NzI2MTg5NDIzY2IifQ=="/>
  <p:tag name="KSO_WPP_MARK_KEY" val="bcc4c946-421a-4a56-a7c9-e84bf867b56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3757</Words>
  <Application>Microsoft Office PowerPoint</Application>
  <PresentationFormat>宽屏</PresentationFormat>
  <Paragraphs>497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Menlo</vt:lpstr>
      <vt:lpstr>等线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25：Multi-end Support I （Codegen）</vt:lpstr>
      <vt:lpstr>Multi-end Compilation Flow</vt:lpstr>
      <vt:lpstr>Instruction Selection</vt:lpstr>
      <vt:lpstr>Register Allocation</vt:lpstr>
      <vt:lpstr>Register Allocation-GPU Cases</vt:lpstr>
      <vt:lpstr>Instruction Scheduling</vt:lpstr>
      <vt:lpstr>Instruction Scheduling</vt:lpstr>
      <vt:lpstr>LLVM Code Generation Framework</vt:lpstr>
      <vt:lpstr>SelectionDAG</vt:lpstr>
      <vt:lpstr>Machine IR and Target Description</vt:lpstr>
      <vt:lpstr>LLVM NVPTX Backend Structure</vt:lpstr>
      <vt:lpstr>Code Generation Visualization Tools</vt:lpstr>
      <vt:lpstr>MLIR: Multi-Level Intermediate Representation</vt:lpstr>
      <vt:lpstr>MLIR: Multi-Level Intermediate Representation</vt:lpstr>
      <vt:lpstr>MLIR: CodeGen</vt:lpstr>
      <vt:lpstr>Triton and MLIR</vt:lpstr>
      <vt:lpstr>Triton Dialects</vt:lpstr>
      <vt:lpstr>Triton Dialect</vt:lpstr>
      <vt:lpstr>Other GPU Backend</vt:lpstr>
      <vt:lpstr>Cross-Backend Code Generation Challenges</vt:lpstr>
      <vt:lpstr>Code Generation Optimizations</vt:lpstr>
      <vt:lpstr>Group Discussion: How does Triton support different NVIDIA architectures?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25：Multi-end Support I （Codegen）</dc:title>
  <dc:creator>王丰</dc:creator>
  <cp:lastModifiedBy>Xiang Li</cp:lastModifiedBy>
  <cp:revision>3</cp:revision>
  <dcterms:created xsi:type="dcterms:W3CDTF">2026-03-12T07:17:00Z</dcterms:created>
  <dcterms:modified xsi:type="dcterms:W3CDTF">2026-03-17T14:54:26Z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821DF2FADA038F04BAE18F69A6D9C1FA_43</vt:lpwstr>
  </property>
  <property fmtid="{D5CDD505-2E9C-101B-9397-08002B2CF9AE}" pid="3" name="KSOProductBuildVer">
    <vt:lpwstr>2052-12.1.0.19302</vt:lpwstr>
  </property>
</Properties>
</file>