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7"/>
  </p:notesMasterIdLst>
  <p:sldIdLst>
    <p:sldId id="337" r:id="rId2"/>
    <p:sldId id="276" r:id="rId3"/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7" r:id="rId24"/>
    <p:sldId id="279" r:id="rId25"/>
    <p:sldId id="280" r:id="rId26"/>
  </p:sldIdLst>
  <p:sldSz cx="12192000" cy="6858000"/>
  <p:notesSz cx="6858000" cy="12192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1" d="100"/>
          <a:sy n="61" d="100"/>
        </p:scale>
        <p:origin x="63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10" Type="http://schemas.openxmlformats.org/officeDocument/2006/relationships/slideMaster" Target="../slideMasters/slideMaster1.xml"/><Relationship Id="rId4" Type="http://schemas.openxmlformats.org/officeDocument/2006/relationships/tags" Target="../tags/tag4.xml"/><Relationship Id="rId9" Type="http://schemas.openxmlformats.org/officeDocument/2006/relationships/tags" Target="../tags/tag9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幻灯片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2" name="标题 1"/>
          <p:cNvSpPr>
            <a:spLocks noGrp="1"/>
          </p:cNvSpPr>
          <p:nvPr>
            <p:ph type="ctrTitle"/>
          </p:nvPr>
        </p:nvSpPr>
        <p:spPr>
          <a:xfrm>
            <a:off x="1260390" y="1895447"/>
            <a:ext cx="10392032" cy="2387600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lnSpc>
                <a:spcPct val="100000"/>
              </a:lnSpc>
              <a:spcBef>
                <a:spcPts val="1500"/>
              </a:spcBef>
              <a:defRPr sz="5100" b="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grpSp>
        <p:nvGrpSpPr>
          <p:cNvPr id="2" name="组合 1"/>
          <p:cNvGrpSpPr/>
          <p:nvPr/>
        </p:nvGrpSpPr>
        <p:grpSpPr>
          <a:xfrm>
            <a:off x="9221415" y="158476"/>
            <a:ext cx="2580450" cy="547850"/>
            <a:chOff x="9247450" y="217531"/>
            <a:chExt cx="2580450" cy="547850"/>
          </a:xfrm>
        </p:grpSpPr>
        <p:pic>
          <p:nvPicPr>
            <p:cNvPr id="3" name="图片 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247450" y="319584"/>
              <a:ext cx="1096400" cy="336123"/>
            </a:xfrm>
            <a:prstGeom prst="rect">
              <a:avLst/>
            </a:prstGeom>
          </p:spPr>
        </p:pic>
        <p:pic>
          <p:nvPicPr>
            <p:cNvPr id="4" name="图片 3"/>
            <p:cNvPicPr>
              <a:picLocks noChangeAspect="1"/>
            </p:cNvPicPr>
            <p:nvPr/>
          </p:nvPicPr>
          <p:blipFill>
            <a:blip r:embed="rId4"/>
            <a:srcRect l="13229" t="29812" r="10431" b="29796"/>
            <a:stretch>
              <a:fillRect/>
            </a:stretch>
          </p:blipFill>
          <p:spPr>
            <a:xfrm>
              <a:off x="10553199" y="217531"/>
              <a:ext cx="1274701" cy="547850"/>
            </a:xfrm>
            <a:prstGeom prst="rect">
              <a:avLst/>
            </a:prstGeom>
          </p:spPr>
        </p:pic>
      </p:grpSp>
    </p:spTree>
  </p:cSld>
  <p:clrMapOvr>
    <a:masterClrMapping/>
  </p:clrMapOvr>
  <p:transition>
    <p:fade/>
  </p:transition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上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1048643" name="页脚占位符 3"/>
          <p:cNvSpPr>
            <a:spLocks noGrp="1"/>
          </p:cNvSpPr>
          <p:nvPr>
            <p:ph type="ftr" sz="quarter" idx="11"/>
          </p:nvPr>
        </p:nvSpPr>
        <p:spPr>
          <a:xfrm>
            <a:off x="523873" y="6356351"/>
            <a:ext cx="11277601" cy="365125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1048644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1048645" name="内容占位符 3"/>
          <p:cNvSpPr>
            <a:spLocks noGrp="1"/>
          </p:cNvSpPr>
          <p:nvPr>
            <p:ph sz="quarter" idx="13" hasCustomPrompt="1"/>
          </p:nvPr>
        </p:nvSpPr>
        <p:spPr>
          <a:xfrm>
            <a:off x="523874" y="1323975"/>
            <a:ext cx="11277601" cy="4852988"/>
          </a:xfrm>
        </p:spPr>
        <p:txBody>
          <a:bodyPr anchor="t"/>
          <a:lstStyle>
            <a:lvl1pPr algn="l"/>
            <a:lvl2pPr algn="l">
              <a:buSzPct val="75000"/>
              <a:buFont typeface="文泉驿微米黑" panose="020B0606030804020204" charset="-122"/>
              <a:buChar char="♦"/>
            </a:lvl2pPr>
            <a:lvl3pPr algn="l">
              <a:buFont typeface="文泉驿微米黑" panose="020B0606030804020204" charset="-122"/>
              <a:buChar char="▶"/>
            </a:lvl3pPr>
            <a:lvl4pPr algn="l">
              <a:buFont typeface="文泉驿微米黑" panose="020B0606030804020204" charset="-122"/>
              <a:buChar char="●"/>
            </a:lvl4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</p:txBody>
      </p:sp>
    </p:spTree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43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1050439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1050440" name="内容占位符 3"/>
          <p:cNvSpPr>
            <a:spLocks noGrp="1"/>
          </p:cNvSpPr>
          <p:nvPr>
            <p:ph sz="quarter" idx="13" hasCustomPrompt="1"/>
          </p:nvPr>
        </p:nvSpPr>
        <p:spPr>
          <a:xfrm>
            <a:off x="523873" y="1323976"/>
            <a:ext cx="5591177" cy="4852988"/>
          </a:xfrm>
        </p:spPr>
        <p:txBody>
          <a:bodyPr anchor="t"/>
          <a:lstStyle>
            <a:lvl1pPr algn="l"/>
            <a:lvl2pPr algn="l">
              <a:buSzPct val="75000"/>
              <a:buFont typeface="文泉驿微米黑" panose="020B0606030804020204" charset="-122"/>
              <a:buChar char="♦"/>
            </a:lvl2pPr>
            <a:lvl3pPr algn="l">
              <a:buFont typeface="文泉驿微米黑" panose="020B0606030804020204" charset="-122"/>
              <a:buChar char="▶"/>
            </a:lvl3pPr>
            <a:lvl4pPr algn="l">
              <a:buFont typeface="文泉驿微米黑" panose="020B0606030804020204" charset="-122"/>
              <a:buChar char="●"/>
            </a:lvl4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</p:txBody>
      </p:sp>
      <p:sp>
        <p:nvSpPr>
          <p:cNvPr id="1050441" name="页脚占位符 3"/>
          <p:cNvSpPr>
            <a:spLocks noGrp="1"/>
          </p:cNvSpPr>
          <p:nvPr>
            <p:ph type="ftr" sz="quarter" idx="11"/>
          </p:nvPr>
        </p:nvSpPr>
        <p:spPr>
          <a:xfrm>
            <a:off x="523873" y="6356351"/>
            <a:ext cx="11277601" cy="365125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1050442" name="内容占位符 3"/>
          <p:cNvSpPr>
            <a:spLocks noGrp="1"/>
          </p:cNvSpPr>
          <p:nvPr>
            <p:ph sz="quarter" idx="14" hasCustomPrompt="1"/>
          </p:nvPr>
        </p:nvSpPr>
        <p:spPr>
          <a:xfrm>
            <a:off x="6210297" y="1323977"/>
            <a:ext cx="5591177" cy="4856162"/>
          </a:xfrm>
        </p:spPr>
        <p:txBody>
          <a:bodyPr anchor="t"/>
          <a:lstStyle>
            <a:lvl1pPr algn="l"/>
            <a:lvl2pPr algn="l">
              <a:buSzPct val="75000"/>
              <a:buFont typeface="文泉驿微米黑" panose="020B0606030804020204" charset="-122"/>
              <a:buChar char="♦"/>
            </a:lvl2pPr>
            <a:lvl3pPr algn="l">
              <a:buFont typeface="文泉驿微米黑" panose="020B0606030804020204" charset="-122"/>
              <a:buChar char="▶"/>
            </a:lvl3pPr>
            <a:lvl4pPr algn="l">
              <a:buFont typeface="文泉驿微米黑" panose="020B0606030804020204" charset="-122"/>
              <a:buChar char="●"/>
            </a:lvl4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</p:txBody>
      </p:sp>
    </p:spTree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左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443" name="标题 1"/>
          <p:cNvSpPr>
            <a:spLocks noGrp="1"/>
          </p:cNvSpPr>
          <p:nvPr>
            <p:ph type="title"/>
          </p:nvPr>
        </p:nvSpPr>
        <p:spPr>
          <a:xfrm>
            <a:off x="666749" y="457201"/>
            <a:ext cx="2771775" cy="5719762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 dirty="0"/>
          </a:p>
        </p:txBody>
      </p:sp>
      <p:sp>
        <p:nvSpPr>
          <p:cNvPr id="1050444" name="幻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1050445" name="内容占位符 3"/>
          <p:cNvSpPr>
            <a:spLocks noGrp="1"/>
          </p:cNvSpPr>
          <p:nvPr>
            <p:ph sz="quarter" idx="14" hasCustomPrompt="1"/>
          </p:nvPr>
        </p:nvSpPr>
        <p:spPr>
          <a:xfrm>
            <a:off x="3657600" y="457201"/>
            <a:ext cx="8001000" cy="5719763"/>
          </a:xfrm>
        </p:spPr>
        <p:txBody>
          <a:bodyPr anchor="t"/>
          <a:lstStyle>
            <a:lvl1pPr algn="l"/>
            <a:lvl2pPr algn="l"/>
            <a:lvl3pPr algn="l"/>
            <a:lvl4pPr algn="l"/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</p:txBody>
      </p:sp>
      <p:sp>
        <p:nvSpPr>
          <p:cNvPr id="1050446" name="页脚占位符 3"/>
          <p:cNvSpPr>
            <a:spLocks noGrp="1"/>
          </p:cNvSpPr>
          <p:nvPr>
            <p:ph type="ftr" sz="quarter" idx="15"/>
          </p:nvPr>
        </p:nvSpPr>
        <p:spPr>
          <a:xfrm>
            <a:off x="523873" y="6356351"/>
            <a:ext cx="11277601" cy="365125"/>
          </a:xfrm>
        </p:spPr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大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0" name="内容占位符 2"/>
          <p:cNvSpPr>
            <a:spLocks noGrp="1"/>
          </p:cNvSpPr>
          <p:nvPr>
            <p:ph sz="quarter" idx="10" hasCustomPrompt="1"/>
            <p:custDataLst>
              <p:tags r:id="rId1"/>
            </p:custDataLst>
          </p:nvPr>
        </p:nvSpPr>
        <p:spPr>
          <a:xfrm>
            <a:off x="5452216" y="0"/>
            <a:ext cx="6110447" cy="6858000"/>
          </a:xfrm>
        </p:spPr>
        <p:txBody>
          <a:bodyPr anchor="ctr"/>
          <a:lstStyle>
            <a:lvl1pPr algn="l">
              <a:lnSpc>
                <a:spcPct val="100000"/>
              </a:lnSpc>
              <a:spcBef>
                <a:spcPts val="3000"/>
              </a:spcBef>
              <a:defRPr sz="2800" baseline="0">
                <a:latin typeface="Ebrima" panose="02000000000000000000" charset="0"/>
              </a:defRPr>
            </a:lvl1pPr>
            <a:lvl2pPr algn="l">
              <a:lnSpc>
                <a:spcPct val="100000"/>
              </a:lnSpc>
              <a:defRPr sz="2400" baseline="0">
                <a:latin typeface="Ebrima" panose="02000000000000000000" charset="0"/>
              </a:defRPr>
            </a:lvl2pPr>
            <a:lvl3pPr algn="l">
              <a:lnSpc>
                <a:spcPct val="100000"/>
              </a:lnSpc>
              <a:defRPr sz="2000" baseline="0">
                <a:latin typeface="Ebrima" panose="02000000000000000000" charset="0"/>
              </a:defRPr>
            </a:lvl3pPr>
            <a:lvl4pPr algn="l">
              <a:lnSpc>
                <a:spcPct val="100000"/>
              </a:lnSpc>
              <a:defRPr sz="1600" baseline="0">
                <a:latin typeface="Ebrima" panose="02000000000000000000" charset="0"/>
              </a:defRPr>
            </a:lvl4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</p:txBody>
      </p:sp>
      <p:grpSp>
        <p:nvGrpSpPr>
          <p:cNvPr id="83" name="Group 7"/>
          <p:cNvGrpSpPr/>
          <p:nvPr/>
        </p:nvGrpSpPr>
        <p:grpSpPr>
          <a:xfrm>
            <a:off x="3057633" y="31667"/>
            <a:ext cx="9134367" cy="6838951"/>
            <a:chOff x="-4763" y="9525"/>
            <a:chExt cx="9032249" cy="6838951"/>
          </a:xfrm>
          <a:solidFill>
            <a:srgbClr val="549E39"/>
          </a:solidFill>
        </p:grpSpPr>
        <p:sp>
          <p:nvSpPr>
            <p:cNvPr id="1048651" name="Line 16"/>
            <p:cNvSpPr>
              <a:spLocks noChangeShapeType="1"/>
            </p:cNvSpPr>
            <p:nvPr>
              <p:custDataLst>
                <p:tags r:id="rId3"/>
              </p:custDataLst>
            </p:nvPr>
          </p:nvSpPr>
          <p:spPr bwMode="auto">
            <a:xfrm>
              <a:off x="-4763" y="9525"/>
              <a:ext cx="0" cy="0"/>
            </a:xfrm>
            <a:prstGeom prst="line">
              <a:avLst/>
            </a:prstGeom>
            <a:grpFill/>
            <a:ln w="15" cap="flat">
              <a:solidFill>
                <a:srgbClr val="FFFFFF"/>
              </a:solidFill>
              <a:prstDash val="solid"/>
              <a:miter lim="800000"/>
            </a:ln>
          </p:spPr>
        </p:sp>
        <p:grpSp>
          <p:nvGrpSpPr>
            <p:cNvPr id="84" name="Group 9"/>
            <p:cNvGrpSpPr/>
            <p:nvPr/>
          </p:nvGrpSpPr>
          <p:grpSpPr>
            <a:xfrm>
              <a:off x="8428998" y="4867275"/>
              <a:ext cx="598488" cy="1981201"/>
              <a:chOff x="11441112" y="4867275"/>
              <a:chExt cx="598488" cy="1981201"/>
            </a:xfrm>
            <a:grpFill/>
          </p:grpSpPr>
          <p:sp>
            <p:nvSpPr>
              <p:cNvPr id="1048652" name="Freeform 35"/>
              <p:cNvSpPr/>
              <p:nvPr>
                <p:custDataLst>
                  <p:tags r:id="rId4"/>
                </p:custDataLst>
              </p:nvPr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1048653" name="Freeform 36"/>
              <p:cNvSpPr>
                <a:spLocks noEditPoints="1"/>
              </p:cNvSpPr>
              <p:nvPr>
                <p:custDataLst>
                  <p:tags r:id="rId5"/>
                </p:custDataLst>
              </p:nvPr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1048654" name="Freeform 38"/>
              <p:cNvSpPr>
                <a:spLocks noEditPoints="1"/>
              </p:cNvSpPr>
              <p:nvPr>
                <p:custDataLst>
                  <p:tags r:id="rId6"/>
                </p:custDataLst>
              </p:nvPr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1048655" name="Freeform 39"/>
              <p:cNvSpPr/>
              <p:nvPr>
                <p:custDataLst>
                  <p:tags r:id="rId7"/>
                </p:custDataLst>
              </p:nvPr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1048656" name="Freeform 40"/>
              <p:cNvSpPr>
                <a:spLocks noEditPoints="1"/>
              </p:cNvSpPr>
              <p:nvPr>
                <p:custDataLst>
                  <p:tags r:id="rId8"/>
                </p:custDataLst>
              </p:nvPr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1048657" name="Rectangle 41"/>
              <p:cNvSpPr>
                <a:spLocks noChangeArrowheads="1"/>
              </p:cNvSpPr>
              <p:nvPr>
                <p:custDataLst>
                  <p:tags r:id="rId9"/>
                </p:custDataLst>
              </p:nvPr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</p:spPr>
          </p:sp>
        </p:grpSp>
      </p:grpSp>
      <p:sp>
        <p:nvSpPr>
          <p:cNvPr id="1048658" name="内容占位符 22"/>
          <p:cNvSpPr>
            <a:spLocks noGrp="1"/>
          </p:cNvSpPr>
          <p:nvPr>
            <p:ph sz="quarter" idx="11" hasCustomPrompt="1"/>
            <p:custDataLst>
              <p:tags r:id="rId2"/>
            </p:custDataLst>
          </p:nvPr>
        </p:nvSpPr>
        <p:spPr>
          <a:xfrm>
            <a:off x="0" y="0"/>
            <a:ext cx="4659313" cy="6858000"/>
          </a:xfrm>
          <a:solidFill>
            <a:srgbClr val="8B0012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3200" b="1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altLang="zh-CN" dirty="0"/>
              <a:t>Outline</a:t>
            </a:r>
            <a:endParaRPr lang="zh-CN" altLang="en-US" dirty="0"/>
          </a:p>
        </p:txBody>
      </p:sp>
    </p:spTree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自定义版式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Unnamed Layout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fade/>
  </p:transition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1256418" y="5448300"/>
            <a:ext cx="10396122" cy="447675"/>
          </a:xfrm>
          <a:prstGeom prst="rect">
            <a:avLst/>
          </a:prstGeom>
        </p:spPr>
        <p:txBody>
          <a:bodyPr/>
          <a:lstStyle>
            <a:lvl1pPr algn="ctr">
              <a:defRPr lang="zh-CN" altLang="en-US" sz="2400" b="0" i="0" kern="1200" baseline="0" smtClean="0">
                <a:solidFill>
                  <a:schemeClr val="tx1">
                    <a:lumMod val="85000"/>
                    <a:lumOff val="15000"/>
                  </a:schemeClr>
                </a:solidFill>
                <a:latin typeface="Calibri Light" panose="020F0302020204030204" pitchFamily="34" charset="0"/>
                <a:ea typeface="微软雅黑" panose="020B0503020204020204" charset="-122"/>
                <a:cs typeface="Calibri Light" panose="020F030202020403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1256418" y="6356351"/>
            <a:ext cx="10396122" cy="365125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ctrTitle"/>
          </p:nvPr>
        </p:nvSpPr>
        <p:spPr>
          <a:xfrm>
            <a:off x="1260390" y="1895447"/>
            <a:ext cx="10392032" cy="2387600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lnSpc>
                <a:spcPct val="100000"/>
              </a:lnSpc>
              <a:spcBef>
                <a:spcPts val="1500"/>
              </a:spcBef>
              <a:defRPr sz="5100" b="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6" name="副标题 2"/>
          <p:cNvSpPr>
            <a:spLocks noGrp="1"/>
          </p:cNvSpPr>
          <p:nvPr>
            <p:ph type="subTitle" idx="1"/>
          </p:nvPr>
        </p:nvSpPr>
        <p:spPr>
          <a:xfrm>
            <a:off x="1260390" y="4846320"/>
            <a:ext cx="10392032" cy="47498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sz="24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</p:spTree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그림 개체 틀 2"/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12192000" cy="6858000"/>
          </a:xfrm>
        </p:spPr>
        <p:txBody>
          <a:bodyPr/>
          <a:lstStyle/>
          <a:p>
            <a:endParaRPr kumimoji="1" lang="ko-KR" altLang="en-US"/>
          </a:p>
        </p:txBody>
      </p:sp>
      <p:sp>
        <p:nvSpPr>
          <p:cNvPr id="4" name="제목 1"/>
          <p:cNvSpPr>
            <a:spLocks noGrp="1"/>
          </p:cNvSpPr>
          <p:nvPr>
            <p:ph type="ctrTitle" hasCustomPrompt="1"/>
          </p:nvPr>
        </p:nvSpPr>
        <p:spPr>
          <a:xfrm>
            <a:off x="727587" y="1622323"/>
            <a:ext cx="10943800" cy="3028335"/>
          </a:xfrm>
        </p:spPr>
        <p:txBody>
          <a:bodyPr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lang="en-US" altLang="en-US" sz="4400" b="0" i="0" kern="1200">
                <a:solidFill>
                  <a:schemeClr val="tx2"/>
                </a:solidFill>
                <a:latin typeface="Montserrat SemiBold" panose="00000700000000000000" pitchFamily="2" charset="0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kumimoji="1" lang="ko-KR" altLang="en-US"/>
              <a:t>마스터 제목 스타일 편집</a:t>
            </a:r>
            <a:endParaRPr kumimoji="1" lang="en-US" altLang="en-US"/>
          </a:p>
        </p:txBody>
      </p:sp>
      <p:grpSp>
        <p:nvGrpSpPr>
          <p:cNvPr id="2" name="组合 1"/>
          <p:cNvGrpSpPr/>
          <p:nvPr userDrawn="1"/>
        </p:nvGrpSpPr>
        <p:grpSpPr>
          <a:xfrm>
            <a:off x="9247450" y="217531"/>
            <a:ext cx="2580450" cy="547850"/>
            <a:chOff x="9247450" y="217531"/>
            <a:chExt cx="2580450" cy="547850"/>
          </a:xfrm>
        </p:grpSpPr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247450" y="319584"/>
              <a:ext cx="1096400" cy="336123"/>
            </a:xfrm>
            <a:prstGeom prst="rect">
              <a:avLst/>
            </a:prstGeom>
          </p:spPr>
        </p:pic>
        <p:pic>
          <p:nvPicPr>
            <p:cNvPr id="6" name="图片 5"/>
            <p:cNvPicPr>
              <a:picLocks noChangeAspect="1"/>
            </p:cNvPicPr>
            <p:nvPr/>
          </p:nvPicPr>
          <p:blipFill>
            <a:blip r:embed="rId3"/>
            <a:srcRect l="13229" t="29812" r="10431" b="29796"/>
            <a:stretch>
              <a:fillRect/>
            </a:stretch>
          </p:blipFill>
          <p:spPr>
            <a:xfrm>
              <a:off x="10553199" y="217531"/>
              <a:ext cx="1274701" cy="54785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192814441"/>
      </p:ext>
    </p:extLst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그림 개체 틀 2"/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12192000" cy="6858000"/>
          </a:xfrm>
        </p:spPr>
        <p:txBody>
          <a:bodyPr/>
          <a:lstStyle/>
          <a:p>
            <a:endParaRPr kumimoji="1" lang="ko-KR" altLang="en-US"/>
          </a:p>
        </p:txBody>
      </p:sp>
      <p:sp>
        <p:nvSpPr>
          <p:cNvPr id="4" name="제목 1"/>
          <p:cNvSpPr>
            <a:spLocks noGrp="1"/>
          </p:cNvSpPr>
          <p:nvPr>
            <p:ph type="ctrTitle" hasCustomPrompt="1"/>
          </p:nvPr>
        </p:nvSpPr>
        <p:spPr>
          <a:xfrm>
            <a:off x="3136489" y="3716594"/>
            <a:ext cx="8534897" cy="2664541"/>
          </a:xfrm>
        </p:spPr>
        <p:txBody>
          <a:bodyPr anchor="ctr">
            <a:noAutofit/>
          </a:bodyPr>
          <a:lstStyle>
            <a:lvl1pPr algn="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lang="en-US" altLang="en-US" sz="4400" b="0" i="0" kern="1200">
                <a:solidFill>
                  <a:schemeClr val="tx2"/>
                </a:solidFill>
                <a:latin typeface="Montserrat SemiBold" panose="00000700000000000000" pitchFamily="2" charset="0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kumimoji="1" lang="ko-KR" altLang="en-US"/>
              <a:t>마스터 제목 스타일 편집</a:t>
            </a:r>
            <a:endParaRPr kumimoji="1" lang="en-US" altLang="en-US"/>
          </a:p>
        </p:txBody>
      </p:sp>
      <p:grpSp>
        <p:nvGrpSpPr>
          <p:cNvPr id="2" name="组合 1"/>
          <p:cNvGrpSpPr/>
          <p:nvPr userDrawn="1"/>
        </p:nvGrpSpPr>
        <p:grpSpPr>
          <a:xfrm>
            <a:off x="9247450" y="217531"/>
            <a:ext cx="2580450" cy="547850"/>
            <a:chOff x="9247450" y="217531"/>
            <a:chExt cx="2580450" cy="547850"/>
          </a:xfrm>
        </p:grpSpPr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247450" y="319584"/>
              <a:ext cx="1096400" cy="336123"/>
            </a:xfrm>
            <a:prstGeom prst="rect">
              <a:avLst/>
            </a:prstGeom>
          </p:spPr>
        </p:pic>
        <p:pic>
          <p:nvPicPr>
            <p:cNvPr id="6" name="图片 5"/>
            <p:cNvPicPr>
              <a:picLocks noChangeAspect="1"/>
            </p:cNvPicPr>
            <p:nvPr/>
          </p:nvPicPr>
          <p:blipFill>
            <a:blip r:embed="rId3"/>
            <a:srcRect l="13229" t="29812" r="10431" b="29796"/>
            <a:stretch>
              <a:fillRect/>
            </a:stretch>
          </p:blipFill>
          <p:spPr>
            <a:xfrm>
              <a:off x="10553199" y="217531"/>
              <a:ext cx="1274701" cy="54785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042832773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rotWithShape="1">
          <a:blip r:embed="rId1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7" name="文本占位符 2"/>
          <p:cNvSpPr>
            <a:spLocks noGrp="1"/>
          </p:cNvSpPr>
          <p:nvPr>
            <p:ph type="body" idx="1"/>
          </p:nvPr>
        </p:nvSpPr>
        <p:spPr>
          <a:xfrm>
            <a:off x="523874" y="1323975"/>
            <a:ext cx="11277601" cy="48325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</p:txBody>
      </p:sp>
      <p:sp>
        <p:nvSpPr>
          <p:cNvPr id="1048638" name="标题占位符 1"/>
          <p:cNvSpPr>
            <a:spLocks noGrp="1"/>
          </p:cNvSpPr>
          <p:nvPr>
            <p:ph type="title"/>
          </p:nvPr>
        </p:nvSpPr>
        <p:spPr>
          <a:xfrm>
            <a:off x="741404" y="431629"/>
            <a:ext cx="9987507" cy="7009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1048639" name="页脚占位符 4"/>
          <p:cNvSpPr>
            <a:spLocks noGrp="1"/>
          </p:cNvSpPr>
          <p:nvPr>
            <p:ph type="ftr" sz="quarter" idx="3"/>
          </p:nvPr>
        </p:nvSpPr>
        <p:spPr>
          <a:xfrm>
            <a:off x="523874" y="6356351"/>
            <a:ext cx="1127760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aseline="0">
                <a:solidFill>
                  <a:schemeClr val="accent3"/>
                </a:solidFill>
                <a:latin typeface="Garamond" panose="02020404030301010803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1048640" name="Freeform 5"/>
          <p:cNvSpPr/>
          <p:nvPr/>
        </p:nvSpPr>
        <p:spPr bwMode="auto">
          <a:xfrm flipV="1">
            <a:off x="-4185" y="529393"/>
            <a:ext cx="564624" cy="507999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rgbClr val="8B0012"/>
          </a:solidFill>
          <a:ln>
            <a:noFill/>
          </a:ln>
        </p:spPr>
        <p:txBody>
          <a:bodyPr/>
          <a:lstStyle/>
          <a:p>
            <a:endParaRPr lang="en-US" sz="1350" dirty="0"/>
          </a:p>
        </p:txBody>
      </p:sp>
      <p:sp>
        <p:nvSpPr>
          <p:cNvPr id="1048641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" y="593458"/>
            <a:ext cx="4190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 b="0" baseline="0">
                <a:solidFill>
                  <a:schemeClr val="bg1"/>
                </a:solidFill>
                <a:latin typeface="Garamond" panose="02020404030301010803" charset="0"/>
                <a:ea typeface="微软雅黑" panose="020B0503020204020204" charset="-122"/>
                <a:cs typeface="Calibri" panose="020F0502020204030204" charset="0"/>
              </a:defRPr>
            </a:lvl1pPr>
          </a:lstStyle>
          <a:p>
            <a:fld id="{B33F7469-D28B-482F-B1B6-3B8E7CF51519}" type="slidenum">
              <a:rPr lang="zh-CN" altLang="en-US" smtClean="0"/>
              <a:t>‹#›</a:t>
            </a:fld>
            <a:endParaRPr lang="zh-CN" altLang="en-US" dirty="0"/>
          </a:p>
        </p:txBody>
      </p:sp>
      <p:grpSp>
        <p:nvGrpSpPr>
          <p:cNvPr id="2" name="组合 1"/>
          <p:cNvGrpSpPr/>
          <p:nvPr/>
        </p:nvGrpSpPr>
        <p:grpSpPr>
          <a:xfrm>
            <a:off x="9221415" y="158476"/>
            <a:ext cx="2580450" cy="547850"/>
            <a:chOff x="9247450" y="217531"/>
            <a:chExt cx="2580450" cy="547850"/>
          </a:xfrm>
        </p:grpSpPr>
        <p:pic>
          <p:nvPicPr>
            <p:cNvPr id="3" name="图片 2"/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9247450" y="319584"/>
              <a:ext cx="1096400" cy="336123"/>
            </a:xfrm>
            <a:prstGeom prst="rect">
              <a:avLst/>
            </a:prstGeom>
          </p:spPr>
        </p:pic>
        <p:pic>
          <p:nvPicPr>
            <p:cNvPr id="4" name="图片 3"/>
            <p:cNvPicPr>
              <a:picLocks noChangeAspect="1"/>
            </p:cNvPicPr>
            <p:nvPr/>
          </p:nvPicPr>
          <p:blipFill>
            <a:blip r:embed="rId15"/>
            <a:srcRect l="13229" t="29812" r="10431" b="29796"/>
            <a:stretch>
              <a:fillRect/>
            </a:stretch>
          </p:blipFill>
          <p:spPr>
            <a:xfrm>
              <a:off x="10553199" y="217531"/>
              <a:ext cx="1274701" cy="547850"/>
            </a:xfrm>
            <a:prstGeom prst="rect">
              <a:avLst/>
            </a:prstGeom>
          </p:spPr>
        </p:pic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>
    <p:fade/>
  </p:transition>
  <p:hf hdr="0" ftr="0" dt="0"/>
  <p:txStyles>
    <p:titleStyle>
      <a:lvl1pPr algn="l" defTabSz="342900" rtl="0" eaLnBrk="1" latinLnBrk="0" hangingPunct="1">
        <a:spcBef>
          <a:spcPct val="0"/>
        </a:spcBef>
        <a:buNone/>
        <a:defRPr lang="zh-CN" altLang="en-US" sz="3600" b="0" i="0" kern="1200" baseline="0" dirty="0">
          <a:solidFill>
            <a:schemeClr val="tx1">
              <a:lumMod val="85000"/>
              <a:lumOff val="15000"/>
            </a:schemeClr>
          </a:solidFill>
          <a:latin typeface="Calibri" panose="020F0502020204030204" charset="0"/>
          <a:ea typeface="微软雅黑" panose="020B0503020204020204" charset="-122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60045" marR="0" indent="-360045" algn="l" defTabSz="342900" rtl="0" eaLnBrk="1" fontAlgn="auto" latinLnBrk="0" hangingPunct="1">
        <a:lnSpc>
          <a:spcPct val="100000"/>
        </a:lnSpc>
        <a:spcBef>
          <a:spcPts val="1500"/>
        </a:spcBef>
        <a:spcAft>
          <a:spcPts val="0"/>
        </a:spcAft>
        <a:buClr>
          <a:srgbClr val="8B0012"/>
        </a:buClr>
        <a:buSzTx/>
        <a:buFont typeface="文泉驿微米黑" panose="020B0606030804020204" charset="-122"/>
        <a:buChar char="■"/>
        <a:defRPr sz="2400" b="0" i="0" kern="1200" baseline="0">
          <a:solidFill>
            <a:schemeClr val="tx1">
              <a:lumMod val="75000"/>
              <a:lumOff val="25000"/>
            </a:schemeClr>
          </a:solidFill>
          <a:latin typeface="Calibri" panose="020F0502020204030204" charset="0"/>
          <a:ea typeface="微软雅黑" panose="020B0503020204020204" charset="-122"/>
          <a:cs typeface="+mn-cs"/>
        </a:defRPr>
      </a:lvl1pPr>
      <a:lvl2pPr marL="557530" marR="0" indent="-214630" algn="l" defTabSz="342900" rtl="0" eaLnBrk="1" fontAlgn="auto" latinLnBrk="0" hangingPunct="1">
        <a:lnSpc>
          <a:spcPct val="100000"/>
        </a:lnSpc>
        <a:spcBef>
          <a:spcPts val="750"/>
        </a:spcBef>
        <a:spcAft>
          <a:spcPts val="0"/>
        </a:spcAft>
        <a:buClr>
          <a:srgbClr val="8B0012"/>
        </a:buClr>
        <a:buSzPct val="75000"/>
        <a:buFont typeface="文泉驿微米黑" panose="020B0606030804020204" charset="-122"/>
        <a:buChar char="♦"/>
        <a:defRPr sz="2000" kern="1200" baseline="0">
          <a:solidFill>
            <a:schemeClr val="tx1">
              <a:lumMod val="75000"/>
              <a:lumOff val="25000"/>
            </a:schemeClr>
          </a:solidFill>
          <a:latin typeface="Calibri" panose="020F0502020204030204" charset="0"/>
          <a:ea typeface="微软雅黑" panose="020B0503020204020204" charset="-122"/>
          <a:cs typeface="+mn-cs"/>
        </a:defRPr>
      </a:lvl2pPr>
      <a:lvl3pPr marL="857250" marR="0" indent="-171450" algn="l" defTabSz="342900" rtl="0" eaLnBrk="1" fontAlgn="auto" latinLnBrk="0" hangingPunct="1">
        <a:lnSpc>
          <a:spcPct val="100000"/>
        </a:lnSpc>
        <a:spcBef>
          <a:spcPts val="750"/>
        </a:spcBef>
        <a:spcAft>
          <a:spcPts val="0"/>
        </a:spcAft>
        <a:buClr>
          <a:srgbClr val="8B0012"/>
        </a:buClr>
        <a:buSzTx/>
        <a:buFont typeface="文泉驿微米黑" panose="020B0606030804020204" charset="-122"/>
        <a:buChar char="▶"/>
        <a:defRPr sz="1600" kern="1200" baseline="0">
          <a:solidFill>
            <a:schemeClr val="tx1">
              <a:lumMod val="75000"/>
              <a:lumOff val="25000"/>
            </a:schemeClr>
          </a:solidFill>
          <a:latin typeface="Calibri" panose="020F0502020204030204" charset="0"/>
          <a:ea typeface="微软雅黑" panose="020B0503020204020204" charset="-122"/>
          <a:cs typeface="+mn-cs"/>
        </a:defRPr>
      </a:lvl3pPr>
      <a:lvl4pPr marL="1200150" marR="0" indent="-171450" algn="l" defTabSz="342900" rtl="0" eaLnBrk="1" fontAlgn="auto" latinLnBrk="0" hangingPunct="1">
        <a:lnSpc>
          <a:spcPct val="100000"/>
        </a:lnSpc>
        <a:spcBef>
          <a:spcPts val="750"/>
        </a:spcBef>
        <a:spcAft>
          <a:spcPts val="0"/>
        </a:spcAft>
        <a:buClr>
          <a:srgbClr val="8B0012"/>
        </a:buClr>
        <a:buSzTx/>
        <a:buFont typeface="文泉驿微米黑" panose="020B0606030804020204" charset="-122"/>
        <a:buChar char="●"/>
        <a:defRPr sz="1200" kern="1200" baseline="0">
          <a:solidFill>
            <a:schemeClr val="tx1">
              <a:lumMod val="75000"/>
              <a:lumOff val="25000"/>
            </a:schemeClr>
          </a:solidFill>
          <a:latin typeface="Calibri" panose="020F0502020204030204" charset="0"/>
          <a:ea typeface="微软雅黑" panose="020B0503020204020204" charset="-122"/>
          <a:cs typeface="+mn-cs"/>
        </a:defRPr>
      </a:lvl4pPr>
      <a:lvl5pPr marL="1543050" marR="0" indent="-171450" algn="l" defTabSz="342900" rtl="0" eaLnBrk="1" fontAlgn="auto" latinLnBrk="0" hangingPunct="1">
        <a:lnSpc>
          <a:spcPct val="100000"/>
        </a:lnSpc>
        <a:spcBef>
          <a:spcPts val="750"/>
        </a:spcBef>
        <a:spcAft>
          <a:spcPts val="0"/>
        </a:spcAft>
        <a:buClr>
          <a:srgbClr val="549E39"/>
        </a:buClr>
        <a:buSzTx/>
        <a:buFont typeface="Wingdings 3" panose="05040102010807070707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859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panose="05040102010807070707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panose="05040102010807070707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panose="05040102010807070707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panose="05040102010807070707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GI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tags" Target="../tags/tag17.xml"/><Relationship Id="rId13" Type="http://schemas.openxmlformats.org/officeDocument/2006/relationships/tags" Target="../tags/tag22.xml"/><Relationship Id="rId18" Type="http://schemas.openxmlformats.org/officeDocument/2006/relationships/image" Target="../media/image21.png"/><Relationship Id="rId26" Type="http://schemas.openxmlformats.org/officeDocument/2006/relationships/hyperlink" Target="https://www.zhihu.com/people/95-22-20-18/posts" TargetMode="External"/><Relationship Id="rId3" Type="http://schemas.openxmlformats.org/officeDocument/2006/relationships/tags" Target="../tags/tag12.xml"/><Relationship Id="rId21" Type="http://schemas.openxmlformats.org/officeDocument/2006/relationships/image" Target="../media/image24.png"/><Relationship Id="rId7" Type="http://schemas.openxmlformats.org/officeDocument/2006/relationships/tags" Target="../tags/tag16.xml"/><Relationship Id="rId12" Type="http://schemas.openxmlformats.org/officeDocument/2006/relationships/tags" Target="../tags/tag21.xml"/><Relationship Id="rId17" Type="http://schemas.openxmlformats.org/officeDocument/2006/relationships/slideLayout" Target="../slideLayouts/slideLayout6.xml"/><Relationship Id="rId25" Type="http://schemas.openxmlformats.org/officeDocument/2006/relationships/hyperlink" Target="https://space.bilibili.com/3546791834290849" TargetMode="External"/><Relationship Id="rId2" Type="http://schemas.openxmlformats.org/officeDocument/2006/relationships/tags" Target="../tags/tag11.xml"/><Relationship Id="rId16" Type="http://schemas.openxmlformats.org/officeDocument/2006/relationships/tags" Target="../tags/tag25.xml"/><Relationship Id="rId20" Type="http://schemas.openxmlformats.org/officeDocument/2006/relationships/image" Target="../media/image23.png"/><Relationship Id="rId29" Type="http://schemas.openxmlformats.org/officeDocument/2006/relationships/image" Target="../media/image28.png"/><Relationship Id="rId1" Type="http://schemas.openxmlformats.org/officeDocument/2006/relationships/tags" Target="../tags/tag10.xml"/><Relationship Id="rId6" Type="http://schemas.openxmlformats.org/officeDocument/2006/relationships/tags" Target="../tags/tag15.xml"/><Relationship Id="rId11" Type="http://schemas.openxmlformats.org/officeDocument/2006/relationships/tags" Target="../tags/tag20.xml"/><Relationship Id="rId24" Type="http://schemas.openxmlformats.org/officeDocument/2006/relationships/hyperlink" Target="https://github.com/flagos-ai" TargetMode="External"/><Relationship Id="rId5" Type="http://schemas.openxmlformats.org/officeDocument/2006/relationships/tags" Target="../tags/tag14.xml"/><Relationship Id="rId15" Type="http://schemas.openxmlformats.org/officeDocument/2006/relationships/tags" Target="../tags/tag24.xml"/><Relationship Id="rId23" Type="http://schemas.openxmlformats.org/officeDocument/2006/relationships/image" Target="../media/image26.png"/><Relationship Id="rId28" Type="http://schemas.openxmlformats.org/officeDocument/2006/relationships/image" Target="../media/image27.jpeg"/><Relationship Id="rId10" Type="http://schemas.openxmlformats.org/officeDocument/2006/relationships/tags" Target="../tags/tag19.xml"/><Relationship Id="rId19" Type="http://schemas.openxmlformats.org/officeDocument/2006/relationships/image" Target="../media/image22.png"/><Relationship Id="rId4" Type="http://schemas.openxmlformats.org/officeDocument/2006/relationships/tags" Target="../tags/tag13.xml"/><Relationship Id="rId9" Type="http://schemas.openxmlformats.org/officeDocument/2006/relationships/tags" Target="../tags/tag18.xml"/><Relationship Id="rId14" Type="http://schemas.openxmlformats.org/officeDocument/2006/relationships/tags" Target="../tags/tag23.xml"/><Relationship Id="rId22" Type="http://schemas.openxmlformats.org/officeDocument/2006/relationships/image" Target="../media/image25.png"/><Relationship Id="rId27" Type="http://schemas.openxmlformats.org/officeDocument/2006/relationships/hyperlink" Target="https://flagos.io/Home" TargetMode="Externa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개체 틀 3"/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 t="350" b="350"/>
          <a:stretch>
            <a:fillRect/>
          </a:stretch>
        </p:blipFill>
        <p:spPr>
          <a:xfrm>
            <a:off x="0" y="1"/>
            <a:ext cx="12192000" cy="6858000"/>
          </a:xfrm>
        </p:spPr>
      </p:pic>
      <p:sp>
        <p:nvSpPr>
          <p:cNvPr id="6" name="제목 5"/>
          <p:cNvSpPr>
            <a:spLocks noGrp="1"/>
          </p:cNvSpPr>
          <p:nvPr>
            <p:ph type="ctrTitle"/>
          </p:nvPr>
        </p:nvSpPr>
        <p:spPr>
          <a:xfrm>
            <a:off x="727710" y="1622425"/>
            <a:ext cx="5553710" cy="3028315"/>
          </a:xfrm>
        </p:spPr>
        <p:txBody>
          <a:bodyPr/>
          <a:lstStyle/>
          <a:p>
            <a:pPr algn="l"/>
            <a:r>
              <a:rPr lang="en-US" altLang="zh-CN" sz="4000">
                <a:latin typeface="+mj-cs"/>
                <a:cs typeface="+mj-cs"/>
              </a:rPr>
              <a:t>Hardware and Software Fundamentals of </a:t>
            </a:r>
            <a:br>
              <a:rPr lang="en-US" altLang="zh-CN" sz="4000">
                <a:latin typeface="+mj-cs"/>
                <a:cs typeface="+mj-cs"/>
              </a:rPr>
            </a:br>
            <a:r>
              <a:rPr lang="en-US" altLang="zh-CN" sz="4000">
                <a:latin typeface="+mj-cs"/>
                <a:cs typeface="+mj-cs"/>
              </a:rPr>
              <a:t>Intelligent Computing </a:t>
            </a:r>
            <a:br>
              <a:rPr lang="en-US" altLang="zh-CN" sz="4000">
                <a:latin typeface="+mj-cs"/>
                <a:cs typeface="+mj-cs"/>
              </a:rPr>
            </a:br>
            <a:r>
              <a:rPr lang="en-US" altLang="zh-CN" sz="4000">
                <a:latin typeface="+mj-cs"/>
                <a:cs typeface="+mj-cs"/>
              </a:rPr>
              <a:t>Systems</a:t>
            </a:r>
          </a:p>
        </p:txBody>
      </p:sp>
      <p:grpSp>
        <p:nvGrpSpPr>
          <p:cNvPr id="9" name="그룹 8"/>
          <p:cNvGrpSpPr/>
          <p:nvPr/>
        </p:nvGrpSpPr>
        <p:grpSpPr>
          <a:xfrm>
            <a:off x="364100" y="6255612"/>
            <a:ext cx="409904" cy="409904"/>
            <a:chOff x="11591418" y="6255612"/>
            <a:chExt cx="409904" cy="409904"/>
          </a:xfrm>
        </p:grpSpPr>
        <p:sp>
          <p:nvSpPr>
            <p:cNvPr id="10" name="타원 9"/>
            <p:cNvSpPr/>
            <p:nvPr/>
          </p:nvSpPr>
          <p:spPr>
            <a:xfrm>
              <a:off x="11591418" y="6255612"/>
              <a:ext cx="409904" cy="409904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11" name="갈매기형 수장[C] 10"/>
            <p:cNvSpPr/>
            <p:nvPr/>
          </p:nvSpPr>
          <p:spPr>
            <a:xfrm>
              <a:off x="11732864" y="6397058"/>
              <a:ext cx="127012" cy="127012"/>
            </a:xfrm>
            <a:prstGeom prst="chevron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13" name="组合 12"/>
          <p:cNvGrpSpPr/>
          <p:nvPr/>
        </p:nvGrpSpPr>
        <p:grpSpPr>
          <a:xfrm>
            <a:off x="9247450" y="217531"/>
            <a:ext cx="2580450" cy="547850"/>
            <a:chOff x="9247450" y="217531"/>
            <a:chExt cx="2580450" cy="547850"/>
          </a:xfrm>
        </p:grpSpPr>
        <p:pic>
          <p:nvPicPr>
            <p:cNvPr id="3" name="图片 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247450" y="319584"/>
              <a:ext cx="1096400" cy="336123"/>
            </a:xfrm>
            <a:prstGeom prst="rect">
              <a:avLst/>
            </a:prstGeom>
          </p:spPr>
        </p:pic>
        <p:pic>
          <p:nvPicPr>
            <p:cNvPr id="12" name="图片 11"/>
            <p:cNvPicPr>
              <a:picLocks noChangeAspect="1"/>
            </p:cNvPicPr>
            <p:nvPr/>
          </p:nvPicPr>
          <p:blipFill>
            <a:blip r:embed="rId4"/>
            <a:srcRect l="13229" t="29812" r="10431" b="29796"/>
            <a:stretch>
              <a:fillRect/>
            </a:stretch>
          </p:blipFill>
          <p:spPr>
            <a:xfrm>
              <a:off x="10553199" y="217531"/>
              <a:ext cx="1274701" cy="547850"/>
            </a:xfrm>
            <a:prstGeom prst="rect">
              <a:avLst/>
            </a:prstGeom>
          </p:spPr>
        </p:pic>
      </p:grp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/>
              <a:t>Lecture 37: Performances Metrics</a:t>
            </a:r>
            <a:endParaRPr lang="zh-CN" altLang="en-US" dirty="0"/>
          </a:p>
        </p:txBody>
      </p:sp>
      <p:sp>
        <p:nvSpPr>
          <p:cNvPr id="4" name="副标题 3"/>
          <p:cNvSpPr>
            <a:spLocks noGrp="1"/>
          </p:cNvSpPr>
          <p:nvPr>
            <p:ph type="subTitle" idx="4294967295"/>
          </p:nvPr>
        </p:nvSpPr>
        <p:spPr>
          <a:xfrm>
            <a:off x="1800225" y="4846638"/>
            <a:ext cx="10391775" cy="474662"/>
          </a:xfrm>
        </p:spPr>
        <p:txBody>
          <a:bodyPr/>
          <a:lstStyle/>
          <a:p>
            <a:r>
              <a:rPr lang="en-US" altLang="zh-CN" dirty="0">
                <a:effectLst/>
              </a:rPr>
              <a:t>FLOPS, Bandwidth, Latency, Utilization, Roofline Model</a:t>
            </a:r>
            <a:endParaRPr lang="en-US" altLang="zh-CN" dirty="0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1878" y="628223"/>
            <a:ext cx="11601450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00000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Why Do We Need Performance Metrics?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0956" y="1206068"/>
            <a:ext cx="56769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8B000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In High-Performance Computing (HPC) and system optimization,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0956" y="1575916"/>
            <a:ext cx="5657850" cy="99607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00000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we need to </a:t>
            </a:r>
            <a:r>
              <a:rPr lang="en-US" sz="1500" b="1" dirty="0">
                <a:solidFill>
                  <a:srgbClr val="8B000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quantify </a:t>
            </a:r>
            <a:r>
              <a:rPr lang="en-US" sz="1500" dirty="0">
                <a:solidFill>
                  <a:srgbClr val="00000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program and hardware performance — different metrics reveal bottlenecks at different levels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0956" y="3124280"/>
            <a:ext cx="5562600" cy="2895600"/>
          </a:xfrm>
          <a:custGeom>
            <a:avLst/>
            <a:gdLst/>
            <a:ahLst/>
            <a:cxnLst/>
            <a:rect l="l" t="t" r="r" b="b"/>
            <a:pathLst>
              <a:path w="5562600" h="2895600">
                <a:moveTo>
                  <a:pt x="76212" y="0"/>
                </a:moveTo>
                <a:lnTo>
                  <a:pt x="5486388" y="0"/>
                </a:lnTo>
                <a:cubicBezTo>
                  <a:pt x="5528479" y="0"/>
                  <a:pt x="5562600" y="34121"/>
                  <a:pt x="5562600" y="76212"/>
                </a:cubicBezTo>
                <a:lnTo>
                  <a:pt x="5562600" y="2819388"/>
                </a:lnTo>
                <a:cubicBezTo>
                  <a:pt x="5562600" y="2861479"/>
                  <a:pt x="5528479" y="2895600"/>
                  <a:pt x="5486388" y="2895600"/>
                </a:cubicBezTo>
                <a:lnTo>
                  <a:pt x="76212" y="2895600"/>
                </a:lnTo>
                <a:cubicBezTo>
                  <a:pt x="34121" y="2895600"/>
                  <a:pt x="0" y="2861479"/>
                  <a:pt x="0" y="2819388"/>
                </a:cubicBezTo>
                <a:lnTo>
                  <a:pt x="0" y="76212"/>
                </a:lnTo>
                <a:cubicBezTo>
                  <a:pt x="0" y="34150"/>
                  <a:pt x="34150" y="0"/>
                  <a:pt x="76212" y="0"/>
                </a:cubicBezTo>
                <a:close/>
              </a:path>
            </a:pathLst>
          </a:custGeom>
          <a:solidFill>
            <a:srgbClr val="F9FAFB"/>
          </a:solidFill>
        </p:spPr>
      </p:sp>
      <p:sp>
        <p:nvSpPr>
          <p:cNvPr id="6" name="Text 4"/>
          <p:cNvSpPr/>
          <p:nvPr/>
        </p:nvSpPr>
        <p:spPr>
          <a:xfrm>
            <a:off x="609529" y="3352853"/>
            <a:ext cx="52006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00000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Common Performance Metrics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09529" y="3829103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8B0000"/>
          </a:solidFill>
        </p:spPr>
      </p:sp>
      <p:sp>
        <p:nvSpPr>
          <p:cNvPr id="8" name="Shape 6"/>
          <p:cNvSpPr/>
          <p:nvPr/>
        </p:nvSpPr>
        <p:spPr>
          <a:xfrm>
            <a:off x="733309" y="3933801"/>
            <a:ext cx="128588" cy="171450"/>
          </a:xfrm>
          <a:custGeom>
            <a:avLst/>
            <a:gdLst/>
            <a:ahLst/>
            <a:cxnLst/>
            <a:rect l="l" t="t" r="r" b="b"/>
            <a:pathLst>
              <a:path w="128588" h="171450">
                <a:moveTo>
                  <a:pt x="21431" y="0"/>
                </a:moveTo>
                <a:cubicBezTo>
                  <a:pt x="9611" y="0"/>
                  <a:pt x="0" y="9611"/>
                  <a:pt x="0" y="21431"/>
                </a:cubicBezTo>
                <a:lnTo>
                  <a:pt x="0" y="150019"/>
                </a:lnTo>
                <a:cubicBezTo>
                  <a:pt x="0" y="161839"/>
                  <a:pt x="9611" y="171450"/>
                  <a:pt x="21431" y="171450"/>
                </a:cubicBezTo>
                <a:lnTo>
                  <a:pt x="107156" y="171450"/>
                </a:lnTo>
                <a:cubicBezTo>
                  <a:pt x="118977" y="171450"/>
                  <a:pt x="128588" y="161839"/>
                  <a:pt x="128588" y="150019"/>
                </a:cubicBezTo>
                <a:lnTo>
                  <a:pt x="128588" y="21431"/>
                </a:lnTo>
                <a:cubicBezTo>
                  <a:pt x="128588" y="9611"/>
                  <a:pt x="118977" y="0"/>
                  <a:pt x="107156" y="0"/>
                </a:cubicBezTo>
                <a:lnTo>
                  <a:pt x="21431" y="0"/>
                </a:lnTo>
                <a:close/>
                <a:moveTo>
                  <a:pt x="32147" y="21431"/>
                </a:moveTo>
                <a:lnTo>
                  <a:pt x="96441" y="21431"/>
                </a:lnTo>
                <a:cubicBezTo>
                  <a:pt x="102368" y="21431"/>
                  <a:pt x="107156" y="26220"/>
                  <a:pt x="107156" y="32147"/>
                </a:cubicBezTo>
                <a:lnTo>
                  <a:pt x="107156" y="42863"/>
                </a:lnTo>
                <a:cubicBezTo>
                  <a:pt x="107156" y="48790"/>
                  <a:pt x="102368" y="53578"/>
                  <a:pt x="96441" y="53578"/>
                </a:cubicBezTo>
                <a:lnTo>
                  <a:pt x="32147" y="53578"/>
                </a:lnTo>
                <a:cubicBezTo>
                  <a:pt x="26220" y="53578"/>
                  <a:pt x="21431" y="48790"/>
                  <a:pt x="21431" y="42863"/>
                </a:cubicBezTo>
                <a:lnTo>
                  <a:pt x="21431" y="32147"/>
                </a:lnTo>
                <a:cubicBezTo>
                  <a:pt x="21431" y="26220"/>
                  <a:pt x="26220" y="21431"/>
                  <a:pt x="32147" y="21431"/>
                </a:cubicBezTo>
                <a:close/>
                <a:moveTo>
                  <a:pt x="37505" y="77688"/>
                </a:moveTo>
                <a:cubicBezTo>
                  <a:pt x="37505" y="82124"/>
                  <a:pt x="33904" y="85725"/>
                  <a:pt x="29468" y="85725"/>
                </a:cubicBezTo>
                <a:cubicBezTo>
                  <a:pt x="25032" y="85725"/>
                  <a:pt x="21431" y="82124"/>
                  <a:pt x="21431" y="77688"/>
                </a:cubicBezTo>
                <a:cubicBezTo>
                  <a:pt x="21431" y="73253"/>
                  <a:pt x="25032" y="69652"/>
                  <a:pt x="29468" y="69652"/>
                </a:cubicBezTo>
                <a:cubicBezTo>
                  <a:pt x="33904" y="69652"/>
                  <a:pt x="37505" y="73253"/>
                  <a:pt x="37505" y="77688"/>
                </a:cubicBezTo>
                <a:close/>
                <a:moveTo>
                  <a:pt x="64294" y="85725"/>
                </a:moveTo>
                <a:cubicBezTo>
                  <a:pt x="59858" y="85725"/>
                  <a:pt x="56257" y="82124"/>
                  <a:pt x="56257" y="77688"/>
                </a:cubicBezTo>
                <a:cubicBezTo>
                  <a:pt x="56257" y="73253"/>
                  <a:pt x="59858" y="69652"/>
                  <a:pt x="64294" y="69652"/>
                </a:cubicBezTo>
                <a:cubicBezTo>
                  <a:pt x="68729" y="69652"/>
                  <a:pt x="72330" y="73253"/>
                  <a:pt x="72330" y="77688"/>
                </a:cubicBezTo>
                <a:cubicBezTo>
                  <a:pt x="72330" y="82124"/>
                  <a:pt x="68729" y="85725"/>
                  <a:pt x="64294" y="85725"/>
                </a:cubicBezTo>
                <a:close/>
                <a:moveTo>
                  <a:pt x="107156" y="77688"/>
                </a:moveTo>
                <a:cubicBezTo>
                  <a:pt x="107156" y="82124"/>
                  <a:pt x="103555" y="85725"/>
                  <a:pt x="99120" y="85725"/>
                </a:cubicBezTo>
                <a:cubicBezTo>
                  <a:pt x="94684" y="85725"/>
                  <a:pt x="91083" y="82124"/>
                  <a:pt x="91083" y="77688"/>
                </a:cubicBezTo>
                <a:cubicBezTo>
                  <a:pt x="91083" y="73253"/>
                  <a:pt x="94684" y="69652"/>
                  <a:pt x="99120" y="69652"/>
                </a:cubicBezTo>
                <a:cubicBezTo>
                  <a:pt x="103555" y="69652"/>
                  <a:pt x="107156" y="73253"/>
                  <a:pt x="107156" y="77688"/>
                </a:cubicBezTo>
                <a:close/>
                <a:moveTo>
                  <a:pt x="29468" y="117872"/>
                </a:moveTo>
                <a:cubicBezTo>
                  <a:pt x="25032" y="117872"/>
                  <a:pt x="21431" y="114271"/>
                  <a:pt x="21431" y="109835"/>
                </a:cubicBezTo>
                <a:cubicBezTo>
                  <a:pt x="21431" y="105400"/>
                  <a:pt x="25032" y="101798"/>
                  <a:pt x="29468" y="101798"/>
                </a:cubicBezTo>
                <a:cubicBezTo>
                  <a:pt x="33904" y="101798"/>
                  <a:pt x="37505" y="105400"/>
                  <a:pt x="37505" y="109835"/>
                </a:cubicBezTo>
                <a:cubicBezTo>
                  <a:pt x="37505" y="114271"/>
                  <a:pt x="33904" y="117872"/>
                  <a:pt x="29468" y="117872"/>
                </a:cubicBezTo>
                <a:close/>
                <a:moveTo>
                  <a:pt x="72330" y="109835"/>
                </a:moveTo>
                <a:cubicBezTo>
                  <a:pt x="72330" y="114271"/>
                  <a:pt x="68729" y="117872"/>
                  <a:pt x="64294" y="117872"/>
                </a:cubicBezTo>
                <a:cubicBezTo>
                  <a:pt x="59858" y="117872"/>
                  <a:pt x="56257" y="114271"/>
                  <a:pt x="56257" y="109835"/>
                </a:cubicBezTo>
                <a:cubicBezTo>
                  <a:pt x="56257" y="105400"/>
                  <a:pt x="59858" y="101798"/>
                  <a:pt x="64294" y="101798"/>
                </a:cubicBezTo>
                <a:cubicBezTo>
                  <a:pt x="68729" y="101798"/>
                  <a:pt x="72330" y="105400"/>
                  <a:pt x="72330" y="109835"/>
                </a:cubicBezTo>
                <a:close/>
                <a:moveTo>
                  <a:pt x="99120" y="117872"/>
                </a:moveTo>
                <a:cubicBezTo>
                  <a:pt x="94684" y="117872"/>
                  <a:pt x="91083" y="114271"/>
                  <a:pt x="91083" y="109835"/>
                </a:cubicBezTo>
                <a:cubicBezTo>
                  <a:pt x="91083" y="105400"/>
                  <a:pt x="94684" y="101798"/>
                  <a:pt x="99120" y="101798"/>
                </a:cubicBezTo>
                <a:cubicBezTo>
                  <a:pt x="103555" y="101798"/>
                  <a:pt x="107156" y="105400"/>
                  <a:pt x="107156" y="109835"/>
                </a:cubicBezTo>
                <a:cubicBezTo>
                  <a:pt x="107156" y="114271"/>
                  <a:pt x="103555" y="117872"/>
                  <a:pt x="99120" y="117872"/>
                </a:cubicBezTo>
                <a:close/>
                <a:moveTo>
                  <a:pt x="21431" y="141982"/>
                </a:moveTo>
                <a:cubicBezTo>
                  <a:pt x="21431" y="137528"/>
                  <a:pt x="25014" y="133945"/>
                  <a:pt x="29468" y="133945"/>
                </a:cubicBezTo>
                <a:lnTo>
                  <a:pt x="66973" y="133945"/>
                </a:lnTo>
                <a:cubicBezTo>
                  <a:pt x="71426" y="133945"/>
                  <a:pt x="75009" y="137528"/>
                  <a:pt x="75009" y="141982"/>
                </a:cubicBezTo>
                <a:cubicBezTo>
                  <a:pt x="75009" y="146436"/>
                  <a:pt x="71426" y="150019"/>
                  <a:pt x="66973" y="150019"/>
                </a:cubicBezTo>
                <a:lnTo>
                  <a:pt x="29468" y="150019"/>
                </a:lnTo>
                <a:cubicBezTo>
                  <a:pt x="25014" y="150019"/>
                  <a:pt x="21431" y="146436"/>
                  <a:pt x="21431" y="141982"/>
                </a:cubicBezTo>
                <a:close/>
                <a:moveTo>
                  <a:pt x="99120" y="133945"/>
                </a:moveTo>
                <a:cubicBezTo>
                  <a:pt x="103573" y="133945"/>
                  <a:pt x="107156" y="137528"/>
                  <a:pt x="107156" y="141982"/>
                </a:cubicBezTo>
                <a:cubicBezTo>
                  <a:pt x="107156" y="146436"/>
                  <a:pt x="103573" y="150019"/>
                  <a:pt x="99120" y="150019"/>
                </a:cubicBezTo>
                <a:cubicBezTo>
                  <a:pt x="94666" y="150019"/>
                  <a:pt x="91083" y="146436"/>
                  <a:pt x="91083" y="141982"/>
                </a:cubicBezTo>
                <a:cubicBezTo>
                  <a:pt x="91083" y="137528"/>
                  <a:pt x="94666" y="133945"/>
                  <a:pt x="99120" y="133945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9" name="Text 7"/>
          <p:cNvSpPr/>
          <p:nvPr/>
        </p:nvSpPr>
        <p:spPr>
          <a:xfrm>
            <a:off x="1104734" y="3771941"/>
            <a:ext cx="6953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00000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FLOPS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04733" y="4038647"/>
            <a:ext cx="1374697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4A5565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Compute Capacity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238456" y="3829103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8B0000"/>
          </a:solidFill>
        </p:spPr>
      </p:sp>
      <p:sp>
        <p:nvSpPr>
          <p:cNvPr id="12" name="Shape 10"/>
          <p:cNvSpPr/>
          <p:nvPr/>
        </p:nvSpPr>
        <p:spPr>
          <a:xfrm>
            <a:off x="3340805" y="3933801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0" y="85725"/>
                </a:moveTo>
                <a:cubicBezTo>
                  <a:pt x="0" y="38412"/>
                  <a:pt x="38412" y="0"/>
                  <a:pt x="85725" y="0"/>
                </a:cubicBezTo>
                <a:cubicBezTo>
                  <a:pt x="133038" y="0"/>
                  <a:pt x="171450" y="38412"/>
                  <a:pt x="171450" y="85725"/>
                </a:cubicBezTo>
                <a:cubicBezTo>
                  <a:pt x="171450" y="133038"/>
                  <a:pt x="133038" y="171450"/>
                  <a:pt x="85725" y="171450"/>
                </a:cubicBezTo>
                <a:cubicBezTo>
                  <a:pt x="38412" y="171450"/>
                  <a:pt x="0" y="133038"/>
                  <a:pt x="0" y="85725"/>
                </a:cubicBezTo>
                <a:close/>
                <a:moveTo>
                  <a:pt x="96441" y="32147"/>
                </a:moveTo>
                <a:cubicBezTo>
                  <a:pt x="96441" y="26233"/>
                  <a:pt x="91639" y="21431"/>
                  <a:pt x="85725" y="21431"/>
                </a:cubicBezTo>
                <a:cubicBezTo>
                  <a:pt x="79811" y="21431"/>
                  <a:pt x="75009" y="26233"/>
                  <a:pt x="75009" y="32147"/>
                </a:cubicBezTo>
                <a:cubicBezTo>
                  <a:pt x="75009" y="38061"/>
                  <a:pt x="79811" y="42863"/>
                  <a:pt x="85725" y="42863"/>
                </a:cubicBezTo>
                <a:cubicBezTo>
                  <a:pt x="91639" y="42863"/>
                  <a:pt x="96441" y="38061"/>
                  <a:pt x="96441" y="32147"/>
                </a:cubicBezTo>
                <a:close/>
                <a:moveTo>
                  <a:pt x="85725" y="139303"/>
                </a:moveTo>
                <a:cubicBezTo>
                  <a:pt x="97546" y="139303"/>
                  <a:pt x="107156" y="129693"/>
                  <a:pt x="107156" y="117872"/>
                </a:cubicBezTo>
                <a:cubicBezTo>
                  <a:pt x="107156" y="112447"/>
                  <a:pt x="105147" y="107458"/>
                  <a:pt x="101798" y="103707"/>
                </a:cubicBezTo>
                <a:lnTo>
                  <a:pt x="125071" y="57195"/>
                </a:lnTo>
                <a:cubicBezTo>
                  <a:pt x="127047" y="53210"/>
                  <a:pt x="125440" y="48388"/>
                  <a:pt x="121488" y="46412"/>
                </a:cubicBezTo>
                <a:cubicBezTo>
                  <a:pt x="117537" y="44436"/>
                  <a:pt x="112681" y="46044"/>
                  <a:pt x="110706" y="49995"/>
                </a:cubicBezTo>
                <a:lnTo>
                  <a:pt x="87433" y="96508"/>
                </a:lnTo>
                <a:cubicBezTo>
                  <a:pt x="86864" y="96474"/>
                  <a:pt x="86294" y="96441"/>
                  <a:pt x="85725" y="96441"/>
                </a:cubicBezTo>
                <a:cubicBezTo>
                  <a:pt x="73904" y="96441"/>
                  <a:pt x="64294" y="106051"/>
                  <a:pt x="64294" y="117872"/>
                </a:cubicBezTo>
                <a:cubicBezTo>
                  <a:pt x="64294" y="129693"/>
                  <a:pt x="73904" y="139303"/>
                  <a:pt x="85725" y="139303"/>
                </a:cubicBezTo>
                <a:close/>
                <a:moveTo>
                  <a:pt x="58936" y="48220"/>
                </a:moveTo>
                <a:cubicBezTo>
                  <a:pt x="58936" y="42306"/>
                  <a:pt x="54134" y="37505"/>
                  <a:pt x="48220" y="37505"/>
                </a:cubicBezTo>
                <a:cubicBezTo>
                  <a:pt x="42306" y="37505"/>
                  <a:pt x="37505" y="42306"/>
                  <a:pt x="37505" y="48220"/>
                </a:cubicBezTo>
                <a:cubicBezTo>
                  <a:pt x="37505" y="54134"/>
                  <a:pt x="42306" y="58936"/>
                  <a:pt x="48220" y="58936"/>
                </a:cubicBezTo>
                <a:cubicBezTo>
                  <a:pt x="54134" y="58936"/>
                  <a:pt x="58936" y="54134"/>
                  <a:pt x="58936" y="48220"/>
                </a:cubicBezTo>
                <a:close/>
                <a:moveTo>
                  <a:pt x="32147" y="96441"/>
                </a:moveTo>
                <a:cubicBezTo>
                  <a:pt x="38061" y="96441"/>
                  <a:pt x="42863" y="91639"/>
                  <a:pt x="42863" y="85725"/>
                </a:cubicBezTo>
                <a:cubicBezTo>
                  <a:pt x="42863" y="79811"/>
                  <a:pt x="38061" y="75009"/>
                  <a:pt x="32147" y="75009"/>
                </a:cubicBezTo>
                <a:cubicBezTo>
                  <a:pt x="26233" y="75009"/>
                  <a:pt x="21431" y="79811"/>
                  <a:pt x="21431" y="85725"/>
                </a:cubicBezTo>
                <a:cubicBezTo>
                  <a:pt x="21431" y="91639"/>
                  <a:pt x="26233" y="96441"/>
                  <a:pt x="32147" y="96441"/>
                </a:cubicBezTo>
                <a:close/>
                <a:moveTo>
                  <a:pt x="150019" y="85725"/>
                </a:moveTo>
                <a:cubicBezTo>
                  <a:pt x="150019" y="79811"/>
                  <a:pt x="145217" y="75009"/>
                  <a:pt x="139303" y="75009"/>
                </a:cubicBezTo>
                <a:cubicBezTo>
                  <a:pt x="133389" y="75009"/>
                  <a:pt x="128588" y="79811"/>
                  <a:pt x="128588" y="85725"/>
                </a:cubicBezTo>
                <a:cubicBezTo>
                  <a:pt x="128588" y="91639"/>
                  <a:pt x="133389" y="96441"/>
                  <a:pt x="139303" y="96441"/>
                </a:cubicBezTo>
                <a:cubicBezTo>
                  <a:pt x="145217" y="96441"/>
                  <a:pt x="150019" y="91639"/>
                  <a:pt x="150019" y="85725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13" name="Text 11"/>
          <p:cNvSpPr/>
          <p:nvPr/>
        </p:nvSpPr>
        <p:spPr>
          <a:xfrm>
            <a:off x="3733661" y="3771941"/>
            <a:ext cx="101917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00000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Bandwidth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733661" y="4038647"/>
            <a:ext cx="10096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4A5565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Bandwidth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09529" y="447676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8B0000"/>
          </a:solidFill>
        </p:spPr>
      </p:sp>
      <p:sp>
        <p:nvSpPr>
          <p:cNvPr id="16" name="Shape 14"/>
          <p:cNvSpPr/>
          <p:nvPr/>
        </p:nvSpPr>
        <p:spPr>
          <a:xfrm>
            <a:off x="711878" y="4581463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85725" y="0"/>
                </a:moveTo>
                <a:cubicBezTo>
                  <a:pt x="133038" y="0"/>
                  <a:pt x="171450" y="38412"/>
                  <a:pt x="171450" y="85725"/>
                </a:cubicBezTo>
                <a:cubicBezTo>
                  <a:pt x="171450" y="133038"/>
                  <a:pt x="133038" y="171450"/>
                  <a:pt x="85725" y="171450"/>
                </a:cubicBezTo>
                <a:cubicBezTo>
                  <a:pt x="38412" y="171450"/>
                  <a:pt x="0" y="133038"/>
                  <a:pt x="0" y="85725"/>
                </a:cubicBezTo>
                <a:cubicBezTo>
                  <a:pt x="0" y="38412"/>
                  <a:pt x="38412" y="0"/>
                  <a:pt x="85725" y="0"/>
                </a:cubicBezTo>
                <a:close/>
                <a:moveTo>
                  <a:pt x="77688" y="40184"/>
                </a:moveTo>
                <a:lnTo>
                  <a:pt x="77688" y="85725"/>
                </a:lnTo>
                <a:cubicBezTo>
                  <a:pt x="77688" y="88404"/>
                  <a:pt x="79028" y="90915"/>
                  <a:pt x="81271" y="92422"/>
                </a:cubicBezTo>
                <a:lnTo>
                  <a:pt x="113418" y="113854"/>
                </a:lnTo>
                <a:cubicBezTo>
                  <a:pt x="117102" y="116332"/>
                  <a:pt x="122091" y="115327"/>
                  <a:pt x="124569" y="111610"/>
                </a:cubicBezTo>
                <a:cubicBezTo>
                  <a:pt x="127047" y="107893"/>
                  <a:pt x="126043" y="102937"/>
                  <a:pt x="122326" y="100459"/>
                </a:cubicBezTo>
                <a:lnTo>
                  <a:pt x="93762" y="81439"/>
                </a:lnTo>
                <a:lnTo>
                  <a:pt x="93762" y="40184"/>
                </a:lnTo>
                <a:cubicBezTo>
                  <a:pt x="93762" y="35730"/>
                  <a:pt x="90179" y="32147"/>
                  <a:pt x="85725" y="32147"/>
                </a:cubicBezTo>
                <a:cubicBezTo>
                  <a:pt x="81271" y="32147"/>
                  <a:pt x="77688" y="35730"/>
                  <a:pt x="77688" y="40184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17" name="Text 15"/>
          <p:cNvSpPr/>
          <p:nvPr/>
        </p:nvSpPr>
        <p:spPr>
          <a:xfrm>
            <a:off x="1104734" y="4419603"/>
            <a:ext cx="7429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00000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Latency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104734" y="4686309"/>
            <a:ext cx="73342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4A5565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Latency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3238456" y="447676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8B0000"/>
          </a:solidFill>
        </p:spPr>
      </p:sp>
      <p:sp>
        <p:nvSpPr>
          <p:cNvPr id="20" name="Shape 18"/>
          <p:cNvSpPr/>
          <p:nvPr/>
        </p:nvSpPr>
        <p:spPr>
          <a:xfrm>
            <a:off x="3340805" y="4581463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21431" y="21431"/>
                </a:moveTo>
                <a:cubicBezTo>
                  <a:pt x="21431" y="15504"/>
                  <a:pt x="16643" y="10716"/>
                  <a:pt x="10716" y="10716"/>
                </a:cubicBezTo>
                <a:cubicBezTo>
                  <a:pt x="4789" y="10716"/>
                  <a:pt x="0" y="15504"/>
                  <a:pt x="0" y="21431"/>
                </a:cubicBezTo>
                <a:lnTo>
                  <a:pt x="0" y="133945"/>
                </a:lnTo>
                <a:cubicBezTo>
                  <a:pt x="0" y="148746"/>
                  <a:pt x="11988" y="160734"/>
                  <a:pt x="26789" y="160734"/>
                </a:cubicBezTo>
                <a:lnTo>
                  <a:pt x="160734" y="160734"/>
                </a:lnTo>
                <a:cubicBezTo>
                  <a:pt x="166661" y="160734"/>
                  <a:pt x="171450" y="155946"/>
                  <a:pt x="171450" y="150019"/>
                </a:cubicBezTo>
                <a:cubicBezTo>
                  <a:pt x="171450" y="144092"/>
                  <a:pt x="166661" y="139303"/>
                  <a:pt x="160734" y="139303"/>
                </a:cubicBezTo>
                <a:lnTo>
                  <a:pt x="26789" y="139303"/>
                </a:lnTo>
                <a:cubicBezTo>
                  <a:pt x="23842" y="139303"/>
                  <a:pt x="21431" y="136892"/>
                  <a:pt x="21431" y="133945"/>
                </a:cubicBezTo>
                <a:lnTo>
                  <a:pt x="21431" y="21431"/>
                </a:lnTo>
                <a:close/>
                <a:moveTo>
                  <a:pt x="157587" y="50430"/>
                </a:moveTo>
                <a:cubicBezTo>
                  <a:pt x="161772" y="46245"/>
                  <a:pt x="161772" y="39447"/>
                  <a:pt x="157587" y="35261"/>
                </a:cubicBezTo>
                <a:cubicBezTo>
                  <a:pt x="153401" y="31075"/>
                  <a:pt x="146603" y="31075"/>
                  <a:pt x="142417" y="35261"/>
                </a:cubicBezTo>
                <a:lnTo>
                  <a:pt x="107156" y="70556"/>
                </a:lnTo>
                <a:lnTo>
                  <a:pt x="87935" y="51368"/>
                </a:lnTo>
                <a:cubicBezTo>
                  <a:pt x="83749" y="47182"/>
                  <a:pt x="76952" y="47182"/>
                  <a:pt x="72766" y="51368"/>
                </a:cubicBezTo>
                <a:lnTo>
                  <a:pt x="40619" y="83515"/>
                </a:lnTo>
                <a:cubicBezTo>
                  <a:pt x="36433" y="87701"/>
                  <a:pt x="36433" y="94498"/>
                  <a:pt x="40619" y="98684"/>
                </a:cubicBezTo>
                <a:cubicBezTo>
                  <a:pt x="44805" y="102870"/>
                  <a:pt x="51602" y="102870"/>
                  <a:pt x="55788" y="98684"/>
                </a:cubicBezTo>
                <a:lnTo>
                  <a:pt x="80367" y="74105"/>
                </a:lnTo>
                <a:lnTo>
                  <a:pt x="99588" y="93326"/>
                </a:lnTo>
                <a:cubicBezTo>
                  <a:pt x="103774" y="97512"/>
                  <a:pt x="110572" y="97512"/>
                  <a:pt x="114758" y="93326"/>
                </a:cubicBezTo>
                <a:lnTo>
                  <a:pt x="157620" y="50464"/>
                </a:lnTo>
                <a:close/>
              </a:path>
            </a:pathLst>
          </a:custGeom>
          <a:solidFill>
            <a:srgbClr val="FFFFFF"/>
          </a:solidFill>
        </p:spPr>
      </p:sp>
      <p:sp>
        <p:nvSpPr>
          <p:cNvPr id="21" name="Text 19"/>
          <p:cNvSpPr/>
          <p:nvPr/>
        </p:nvSpPr>
        <p:spPr>
          <a:xfrm>
            <a:off x="3733661" y="4419603"/>
            <a:ext cx="9715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00000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Utilization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3733661" y="4686309"/>
            <a:ext cx="1981078" cy="26661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4A5565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Resource Utilization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28484" y="5067265"/>
            <a:ext cx="5086255" cy="723900"/>
          </a:xfrm>
          <a:custGeom>
            <a:avLst/>
            <a:gdLst/>
            <a:ahLst/>
            <a:cxnLst/>
            <a:rect l="l" t="t" r="r" b="b"/>
            <a:pathLst>
              <a:path w="5086255" h="723900">
                <a:moveTo>
                  <a:pt x="37910" y="0"/>
                </a:moveTo>
                <a:lnTo>
                  <a:pt x="5048156" y="0"/>
                </a:lnTo>
                <a:cubicBezTo>
                  <a:pt x="5069184" y="0"/>
                  <a:pt x="5086255" y="17072"/>
                  <a:pt x="5086255" y="38099"/>
                </a:cubicBezTo>
                <a:lnTo>
                  <a:pt x="5086255" y="685801"/>
                </a:lnTo>
                <a:cubicBezTo>
                  <a:pt x="5086255" y="706828"/>
                  <a:pt x="5069184" y="723900"/>
                  <a:pt x="5048156" y="723900"/>
                </a:cubicBezTo>
                <a:lnTo>
                  <a:pt x="37910" y="723900"/>
                </a:lnTo>
                <a:cubicBezTo>
                  <a:pt x="16973" y="723900"/>
                  <a:pt x="0" y="706927"/>
                  <a:pt x="0" y="685990"/>
                </a:cubicBezTo>
                <a:lnTo>
                  <a:pt x="0" y="37910"/>
                </a:lnTo>
                <a:cubicBezTo>
                  <a:pt x="0" y="16987"/>
                  <a:pt x="16987" y="0"/>
                  <a:pt x="37910" y="0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24" name="Shape 22"/>
          <p:cNvSpPr/>
          <p:nvPr/>
        </p:nvSpPr>
        <p:spPr>
          <a:xfrm>
            <a:off x="628484" y="5067265"/>
            <a:ext cx="37910" cy="723900"/>
          </a:xfrm>
          <a:custGeom>
            <a:avLst/>
            <a:gdLst/>
            <a:ahLst/>
            <a:cxnLst/>
            <a:rect l="l" t="t" r="r" b="b"/>
            <a:pathLst>
              <a:path w="37910" h="723900">
                <a:moveTo>
                  <a:pt x="37910" y="0"/>
                </a:moveTo>
                <a:lnTo>
                  <a:pt x="37910" y="0"/>
                </a:lnTo>
                <a:lnTo>
                  <a:pt x="37910" y="723900"/>
                </a:lnTo>
                <a:lnTo>
                  <a:pt x="37910" y="723900"/>
                </a:lnTo>
                <a:cubicBezTo>
                  <a:pt x="16973" y="723900"/>
                  <a:pt x="0" y="706927"/>
                  <a:pt x="0" y="685990"/>
                </a:cubicBezTo>
                <a:lnTo>
                  <a:pt x="0" y="37910"/>
                </a:lnTo>
                <a:cubicBezTo>
                  <a:pt x="0" y="16987"/>
                  <a:pt x="16987" y="0"/>
                  <a:pt x="37910" y="0"/>
                </a:cubicBezTo>
                <a:close/>
              </a:path>
            </a:pathLst>
          </a:custGeom>
          <a:solidFill>
            <a:srgbClr val="8B0000"/>
          </a:solidFill>
        </p:spPr>
      </p:sp>
      <p:sp>
        <p:nvSpPr>
          <p:cNvPr id="25" name="Text 23"/>
          <p:cNvSpPr/>
          <p:nvPr/>
        </p:nvSpPr>
        <p:spPr>
          <a:xfrm>
            <a:off x="761689" y="5181514"/>
            <a:ext cx="49244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00000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Roofline Model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61689" y="5448220"/>
            <a:ext cx="49149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4A5565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Performance Ceiling Model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248338" y="1066676"/>
            <a:ext cx="5562600" cy="4648200"/>
          </a:xfrm>
          <a:custGeom>
            <a:avLst/>
            <a:gdLst/>
            <a:ahLst/>
            <a:cxnLst/>
            <a:rect l="l" t="t" r="r" b="b"/>
            <a:pathLst>
              <a:path w="5562600" h="4648200">
                <a:moveTo>
                  <a:pt x="76184" y="0"/>
                </a:moveTo>
                <a:lnTo>
                  <a:pt x="5486416" y="0"/>
                </a:lnTo>
                <a:cubicBezTo>
                  <a:pt x="5528463" y="0"/>
                  <a:pt x="5562600" y="34137"/>
                  <a:pt x="5562600" y="76184"/>
                </a:cubicBezTo>
                <a:lnTo>
                  <a:pt x="5562600" y="4572016"/>
                </a:lnTo>
                <a:cubicBezTo>
                  <a:pt x="5562600" y="4614091"/>
                  <a:pt x="5528491" y="4648200"/>
                  <a:pt x="5486416" y="4648200"/>
                </a:cubicBezTo>
                <a:lnTo>
                  <a:pt x="76184" y="4648200"/>
                </a:lnTo>
                <a:cubicBezTo>
                  <a:pt x="34137" y="4648200"/>
                  <a:pt x="0" y="4614063"/>
                  <a:pt x="0" y="4572016"/>
                </a:cubicBezTo>
                <a:lnTo>
                  <a:pt x="0" y="76184"/>
                </a:lnTo>
                <a:cubicBezTo>
                  <a:pt x="0" y="34109"/>
                  <a:pt x="34109" y="0"/>
                  <a:pt x="76184" y="0"/>
                </a:cubicBezTo>
                <a:close/>
              </a:path>
            </a:pathLst>
          </a:custGeom>
          <a:solidFill>
            <a:srgbClr val="F9FAFB"/>
          </a:solidFill>
        </p:spPr>
      </p:sp>
      <p:pic>
        <p:nvPicPr>
          <p:cNvPr id="28" name="Image 0" descr="https://kimi-web-img.moonshot.cn/img/miro.medium.com/a15ef6b081afbbe850cb766edfee97f4e0fe1f9b"/>
          <p:cNvPicPr>
            <a:picLocks noChangeAspect="1"/>
          </p:cNvPicPr>
          <p:nvPr/>
        </p:nvPicPr>
        <p:blipFill>
          <a:blip r:embed="rId4"/>
          <a:srcRect t="5" b="5"/>
          <a:stretch>
            <a:fillRect/>
          </a:stretch>
        </p:blipFill>
        <p:spPr>
          <a:xfrm>
            <a:off x="6400720" y="1771351"/>
            <a:ext cx="5257800" cy="3238500"/>
          </a:xfrm>
          <a:prstGeom prst="roundRect">
            <a:avLst>
              <a:gd name="adj" fmla="val 0"/>
            </a:avLst>
          </a:prstGeom>
        </p:spPr>
      </p:pic>
      <p:sp>
        <p:nvSpPr>
          <p:cNvPr id="29" name="Text 26"/>
          <p:cNvSpPr/>
          <p:nvPr/>
        </p:nvSpPr>
        <p:spPr>
          <a:xfrm>
            <a:off x="6210238" y="5791043"/>
            <a:ext cx="5638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6A7282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Image source: Medium - CPU vs GPU Architecture</a:t>
            </a:r>
            <a:endParaRPr lang="en-US" sz="1600" dirty="0"/>
          </a:p>
        </p:txBody>
      </p:sp>
      <p:sp>
        <p:nvSpPr>
          <p:cNvPr id="37" name="灯片编号占位符 36"/>
          <p:cNvSpPr>
            <a:spLocks noGrp="1"/>
          </p:cNvSpPr>
          <p:nvPr>
            <p:ph type="sldNum" sz="quarter" idx="4294967295"/>
          </p:nvPr>
        </p:nvSpPr>
        <p:spPr>
          <a:xfrm>
            <a:off x="0" y="593725"/>
            <a:ext cx="419100" cy="365125"/>
          </a:xfrm>
        </p:spPr>
        <p:txBody>
          <a:bodyPr/>
          <a:lstStyle/>
          <a:p>
            <a:fld id="{B33F7469-D28B-482F-B1B6-3B8E7CF51519}" type="slidenum">
              <a:rPr lang="zh-CN" altLang="en-US" smtClean="0"/>
              <a:t>3</a:t>
            </a:fld>
            <a:endParaRPr lang="zh-CN" altLang="en-US" dirty="0"/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6233" y="607604"/>
            <a:ext cx="11629571" cy="36285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600" b="1" dirty="0">
                <a:solidFill>
                  <a:srgbClr val="00000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Classification of Performance Metrics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71841" y="1194893"/>
            <a:ext cx="5569767" cy="4698910"/>
          </a:xfrm>
          <a:custGeom>
            <a:avLst/>
            <a:gdLst/>
            <a:ahLst/>
            <a:cxnLst/>
            <a:rect l="l" t="t" r="r" b="b"/>
            <a:pathLst>
              <a:path w="5569767" h="4698910">
                <a:moveTo>
                  <a:pt x="108874" y="0"/>
                </a:moveTo>
                <a:lnTo>
                  <a:pt x="5460893" y="0"/>
                </a:lnTo>
                <a:cubicBezTo>
                  <a:pt x="5521022" y="0"/>
                  <a:pt x="5569767" y="48744"/>
                  <a:pt x="5569767" y="108874"/>
                </a:cubicBezTo>
                <a:lnTo>
                  <a:pt x="5569767" y="4590036"/>
                </a:lnTo>
                <a:cubicBezTo>
                  <a:pt x="5569767" y="4650165"/>
                  <a:pt x="5521022" y="4698910"/>
                  <a:pt x="5460893" y="4698910"/>
                </a:cubicBezTo>
                <a:lnTo>
                  <a:pt x="108874" y="4698910"/>
                </a:lnTo>
                <a:cubicBezTo>
                  <a:pt x="48744" y="4698910"/>
                  <a:pt x="0" y="4650165"/>
                  <a:pt x="0" y="4590036"/>
                </a:cubicBezTo>
                <a:lnTo>
                  <a:pt x="0" y="108874"/>
                </a:lnTo>
                <a:cubicBezTo>
                  <a:pt x="0" y="48785"/>
                  <a:pt x="48785" y="0"/>
                  <a:pt x="108874" y="0"/>
                </a:cubicBezTo>
                <a:close/>
              </a:path>
            </a:pathLst>
          </a:custGeom>
          <a:gradFill flip="none" rotWithShape="1">
            <a:gsLst>
              <a:gs pos="0">
                <a:srgbClr val="F9FAFB"/>
              </a:gs>
              <a:gs pos="100000">
                <a:srgbClr val="FFFFFF"/>
              </a:gs>
            </a:gsLst>
            <a:lin ang="2700000" scaled="1"/>
          </a:gradFill>
          <a:ln w="25274">
            <a:solidFill>
              <a:srgbClr val="E5E7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8556" y="1421608"/>
            <a:ext cx="580571" cy="580571"/>
          </a:xfrm>
          <a:custGeom>
            <a:avLst/>
            <a:gdLst/>
            <a:ahLst/>
            <a:cxnLst/>
            <a:rect l="l" t="t" r="r" b="b"/>
            <a:pathLst>
              <a:path w="580571" h="580571">
                <a:moveTo>
                  <a:pt x="108857" y="0"/>
                </a:moveTo>
                <a:lnTo>
                  <a:pt x="471714" y="0"/>
                </a:lnTo>
                <a:cubicBezTo>
                  <a:pt x="531834" y="0"/>
                  <a:pt x="580571" y="48737"/>
                  <a:pt x="580571" y="108857"/>
                </a:cubicBezTo>
                <a:lnTo>
                  <a:pt x="580571" y="471714"/>
                </a:lnTo>
                <a:cubicBezTo>
                  <a:pt x="580571" y="531834"/>
                  <a:pt x="531834" y="580571"/>
                  <a:pt x="471714" y="580571"/>
                </a:cubicBezTo>
                <a:lnTo>
                  <a:pt x="108857" y="580571"/>
                </a:lnTo>
                <a:cubicBezTo>
                  <a:pt x="48737" y="580571"/>
                  <a:pt x="0" y="531834"/>
                  <a:pt x="0" y="471714"/>
                </a:cubicBezTo>
                <a:lnTo>
                  <a:pt x="0" y="108857"/>
                </a:lnTo>
                <a:cubicBezTo>
                  <a:pt x="0" y="48777"/>
                  <a:pt x="48777" y="0"/>
                  <a:pt x="108857" y="0"/>
                </a:cubicBezTo>
                <a:close/>
              </a:path>
            </a:pathLst>
          </a:custGeom>
          <a:solidFill>
            <a:srgbClr val="8B0000"/>
          </a:solidFill>
          <a:effectLst>
            <a:outerShdw blurRad="136071" dist="90714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55005" y="1575760"/>
            <a:ext cx="272143" cy="272143"/>
          </a:xfrm>
          <a:custGeom>
            <a:avLst/>
            <a:gdLst/>
            <a:ahLst/>
            <a:cxnLst/>
            <a:rect l="l" t="t" r="r" b="b"/>
            <a:pathLst>
              <a:path w="272143" h="272143">
                <a:moveTo>
                  <a:pt x="93549" y="12757"/>
                </a:moveTo>
                <a:cubicBezTo>
                  <a:pt x="93549" y="5687"/>
                  <a:pt x="87862" y="0"/>
                  <a:pt x="80792" y="0"/>
                </a:cubicBezTo>
                <a:cubicBezTo>
                  <a:pt x="73723" y="0"/>
                  <a:pt x="68036" y="5687"/>
                  <a:pt x="68036" y="12757"/>
                </a:cubicBezTo>
                <a:lnTo>
                  <a:pt x="68036" y="34018"/>
                </a:lnTo>
                <a:cubicBezTo>
                  <a:pt x="49273" y="34018"/>
                  <a:pt x="34018" y="49273"/>
                  <a:pt x="34018" y="68036"/>
                </a:cubicBezTo>
                <a:lnTo>
                  <a:pt x="12757" y="68036"/>
                </a:lnTo>
                <a:cubicBezTo>
                  <a:pt x="5687" y="68036"/>
                  <a:pt x="0" y="73723"/>
                  <a:pt x="0" y="80792"/>
                </a:cubicBezTo>
                <a:cubicBezTo>
                  <a:pt x="0" y="87862"/>
                  <a:pt x="5687" y="93549"/>
                  <a:pt x="12757" y="93549"/>
                </a:cubicBezTo>
                <a:lnTo>
                  <a:pt x="34018" y="93549"/>
                </a:lnTo>
                <a:lnTo>
                  <a:pt x="34018" y="123315"/>
                </a:lnTo>
                <a:lnTo>
                  <a:pt x="12757" y="123315"/>
                </a:lnTo>
                <a:cubicBezTo>
                  <a:pt x="5687" y="123315"/>
                  <a:pt x="0" y="129002"/>
                  <a:pt x="0" y="136071"/>
                </a:cubicBezTo>
                <a:cubicBezTo>
                  <a:pt x="0" y="143141"/>
                  <a:pt x="5687" y="148828"/>
                  <a:pt x="12757" y="148828"/>
                </a:cubicBezTo>
                <a:lnTo>
                  <a:pt x="34018" y="148828"/>
                </a:lnTo>
                <a:lnTo>
                  <a:pt x="34018" y="178594"/>
                </a:lnTo>
                <a:lnTo>
                  <a:pt x="12757" y="178594"/>
                </a:lnTo>
                <a:cubicBezTo>
                  <a:pt x="5687" y="178594"/>
                  <a:pt x="0" y="184281"/>
                  <a:pt x="0" y="191350"/>
                </a:cubicBezTo>
                <a:cubicBezTo>
                  <a:pt x="0" y="198420"/>
                  <a:pt x="5687" y="204107"/>
                  <a:pt x="12757" y="204107"/>
                </a:cubicBezTo>
                <a:lnTo>
                  <a:pt x="34018" y="204107"/>
                </a:lnTo>
                <a:cubicBezTo>
                  <a:pt x="34018" y="222870"/>
                  <a:pt x="49273" y="238125"/>
                  <a:pt x="68036" y="238125"/>
                </a:cubicBezTo>
                <a:lnTo>
                  <a:pt x="68036" y="259386"/>
                </a:lnTo>
                <a:cubicBezTo>
                  <a:pt x="68036" y="266455"/>
                  <a:pt x="73723" y="272143"/>
                  <a:pt x="80792" y="272143"/>
                </a:cubicBezTo>
                <a:cubicBezTo>
                  <a:pt x="87862" y="272143"/>
                  <a:pt x="93549" y="266455"/>
                  <a:pt x="93549" y="259386"/>
                </a:cubicBezTo>
                <a:lnTo>
                  <a:pt x="93549" y="238125"/>
                </a:lnTo>
                <a:lnTo>
                  <a:pt x="123315" y="238125"/>
                </a:lnTo>
                <a:lnTo>
                  <a:pt x="123315" y="259386"/>
                </a:lnTo>
                <a:cubicBezTo>
                  <a:pt x="123315" y="266455"/>
                  <a:pt x="129002" y="272143"/>
                  <a:pt x="136071" y="272143"/>
                </a:cubicBezTo>
                <a:cubicBezTo>
                  <a:pt x="143141" y="272143"/>
                  <a:pt x="148828" y="266455"/>
                  <a:pt x="148828" y="259386"/>
                </a:cubicBezTo>
                <a:lnTo>
                  <a:pt x="148828" y="238125"/>
                </a:lnTo>
                <a:lnTo>
                  <a:pt x="178594" y="238125"/>
                </a:lnTo>
                <a:lnTo>
                  <a:pt x="178594" y="259386"/>
                </a:lnTo>
                <a:cubicBezTo>
                  <a:pt x="178594" y="266455"/>
                  <a:pt x="184281" y="272143"/>
                  <a:pt x="191350" y="272143"/>
                </a:cubicBezTo>
                <a:cubicBezTo>
                  <a:pt x="198420" y="272143"/>
                  <a:pt x="204107" y="266455"/>
                  <a:pt x="204107" y="259386"/>
                </a:cubicBezTo>
                <a:lnTo>
                  <a:pt x="204107" y="238125"/>
                </a:lnTo>
                <a:cubicBezTo>
                  <a:pt x="222870" y="238125"/>
                  <a:pt x="238125" y="222870"/>
                  <a:pt x="238125" y="204107"/>
                </a:cubicBezTo>
                <a:lnTo>
                  <a:pt x="259386" y="204107"/>
                </a:lnTo>
                <a:cubicBezTo>
                  <a:pt x="266455" y="204107"/>
                  <a:pt x="272143" y="198420"/>
                  <a:pt x="272143" y="191350"/>
                </a:cubicBezTo>
                <a:cubicBezTo>
                  <a:pt x="272143" y="184281"/>
                  <a:pt x="266455" y="178594"/>
                  <a:pt x="259386" y="178594"/>
                </a:cubicBezTo>
                <a:lnTo>
                  <a:pt x="238125" y="178594"/>
                </a:lnTo>
                <a:lnTo>
                  <a:pt x="238125" y="148828"/>
                </a:lnTo>
                <a:lnTo>
                  <a:pt x="259386" y="148828"/>
                </a:lnTo>
                <a:cubicBezTo>
                  <a:pt x="266455" y="148828"/>
                  <a:pt x="272143" y="143141"/>
                  <a:pt x="272143" y="136071"/>
                </a:cubicBezTo>
                <a:cubicBezTo>
                  <a:pt x="272143" y="129002"/>
                  <a:pt x="266455" y="123315"/>
                  <a:pt x="259386" y="123315"/>
                </a:cubicBezTo>
                <a:lnTo>
                  <a:pt x="238125" y="123315"/>
                </a:lnTo>
                <a:lnTo>
                  <a:pt x="238125" y="93549"/>
                </a:lnTo>
                <a:lnTo>
                  <a:pt x="259386" y="93549"/>
                </a:lnTo>
                <a:cubicBezTo>
                  <a:pt x="266455" y="93549"/>
                  <a:pt x="272143" y="87862"/>
                  <a:pt x="272143" y="80792"/>
                </a:cubicBezTo>
                <a:cubicBezTo>
                  <a:pt x="272143" y="73723"/>
                  <a:pt x="266455" y="68036"/>
                  <a:pt x="259386" y="68036"/>
                </a:cubicBezTo>
                <a:lnTo>
                  <a:pt x="238125" y="68036"/>
                </a:lnTo>
                <a:cubicBezTo>
                  <a:pt x="238125" y="49273"/>
                  <a:pt x="222870" y="34018"/>
                  <a:pt x="204107" y="34018"/>
                </a:cubicBezTo>
                <a:lnTo>
                  <a:pt x="204107" y="12757"/>
                </a:lnTo>
                <a:cubicBezTo>
                  <a:pt x="204107" y="5687"/>
                  <a:pt x="198420" y="0"/>
                  <a:pt x="191350" y="0"/>
                </a:cubicBezTo>
                <a:cubicBezTo>
                  <a:pt x="184281" y="0"/>
                  <a:pt x="178594" y="5687"/>
                  <a:pt x="178594" y="12757"/>
                </a:cubicBezTo>
                <a:lnTo>
                  <a:pt x="178594" y="34018"/>
                </a:lnTo>
                <a:lnTo>
                  <a:pt x="148828" y="34018"/>
                </a:lnTo>
                <a:lnTo>
                  <a:pt x="148828" y="12757"/>
                </a:lnTo>
                <a:cubicBezTo>
                  <a:pt x="148828" y="5687"/>
                  <a:pt x="143141" y="0"/>
                  <a:pt x="136071" y="0"/>
                </a:cubicBezTo>
                <a:cubicBezTo>
                  <a:pt x="129002" y="0"/>
                  <a:pt x="123315" y="5687"/>
                  <a:pt x="123315" y="12757"/>
                </a:cubicBezTo>
                <a:lnTo>
                  <a:pt x="123315" y="34018"/>
                </a:lnTo>
                <a:lnTo>
                  <a:pt x="93549" y="34018"/>
                </a:lnTo>
                <a:lnTo>
                  <a:pt x="93549" y="12757"/>
                </a:lnTo>
                <a:close/>
                <a:moveTo>
                  <a:pt x="85045" y="68036"/>
                </a:moveTo>
                <a:lnTo>
                  <a:pt x="187098" y="68036"/>
                </a:lnTo>
                <a:cubicBezTo>
                  <a:pt x="196506" y="68036"/>
                  <a:pt x="204107" y="75637"/>
                  <a:pt x="204107" y="85045"/>
                </a:cubicBezTo>
                <a:lnTo>
                  <a:pt x="204107" y="187098"/>
                </a:lnTo>
                <a:cubicBezTo>
                  <a:pt x="204107" y="196506"/>
                  <a:pt x="196506" y="204107"/>
                  <a:pt x="187098" y="204107"/>
                </a:cubicBezTo>
                <a:lnTo>
                  <a:pt x="85045" y="204107"/>
                </a:lnTo>
                <a:cubicBezTo>
                  <a:pt x="75637" y="204107"/>
                  <a:pt x="68036" y="196506"/>
                  <a:pt x="68036" y="187098"/>
                </a:cubicBezTo>
                <a:lnTo>
                  <a:pt x="68036" y="85045"/>
                </a:lnTo>
                <a:cubicBezTo>
                  <a:pt x="68036" y="75637"/>
                  <a:pt x="75637" y="68036"/>
                  <a:pt x="85045" y="68036"/>
                </a:cubicBezTo>
                <a:close/>
                <a:moveTo>
                  <a:pt x="93549" y="93549"/>
                </a:moveTo>
                <a:lnTo>
                  <a:pt x="93549" y="178594"/>
                </a:lnTo>
                <a:lnTo>
                  <a:pt x="178594" y="178594"/>
                </a:lnTo>
                <a:lnTo>
                  <a:pt x="178594" y="93549"/>
                </a:lnTo>
                <a:lnTo>
                  <a:pt x="93549" y="93549"/>
                </a:lnTo>
                <a:close/>
              </a:path>
            </a:pathLst>
          </a:custGeom>
          <a:solidFill>
            <a:srgbClr val="FFFFFF"/>
          </a:solidFill>
        </p:spPr>
      </p:sp>
      <p:sp>
        <p:nvSpPr>
          <p:cNvPr id="6" name="Text 4"/>
          <p:cNvSpPr/>
          <p:nvPr/>
        </p:nvSpPr>
        <p:spPr>
          <a:xfrm>
            <a:off x="1324186" y="1439731"/>
            <a:ext cx="2292383" cy="29028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15" b="1" dirty="0">
                <a:solidFill>
                  <a:srgbClr val="00000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Compute Capacity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24186" y="1729912"/>
            <a:ext cx="1578429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30" b="1" dirty="0">
                <a:solidFill>
                  <a:srgbClr val="8B000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Compute Bound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16609" y="2505681"/>
            <a:ext cx="5098053" cy="1288143"/>
          </a:xfrm>
          <a:custGeom>
            <a:avLst/>
            <a:gdLst/>
            <a:ahLst/>
            <a:cxnLst/>
            <a:rect l="l" t="t" r="r" b="b"/>
            <a:pathLst>
              <a:path w="5098053" h="1288143">
                <a:moveTo>
                  <a:pt x="36105" y="0"/>
                </a:moveTo>
                <a:lnTo>
                  <a:pt x="5025479" y="0"/>
                </a:lnTo>
                <a:cubicBezTo>
                  <a:pt x="5065560" y="0"/>
                  <a:pt x="5098053" y="32492"/>
                  <a:pt x="5098053" y="72574"/>
                </a:cubicBezTo>
                <a:lnTo>
                  <a:pt x="5098053" y="1215569"/>
                </a:lnTo>
                <a:cubicBezTo>
                  <a:pt x="5098053" y="1255650"/>
                  <a:pt x="5065560" y="1288143"/>
                  <a:pt x="5025479" y="1288143"/>
                </a:cubicBezTo>
                <a:lnTo>
                  <a:pt x="36105" y="1288143"/>
                </a:lnTo>
                <a:cubicBezTo>
                  <a:pt x="16165" y="1288143"/>
                  <a:pt x="0" y="1271978"/>
                  <a:pt x="0" y="1252038"/>
                </a:cubicBezTo>
                <a:lnTo>
                  <a:pt x="0" y="36105"/>
                </a:lnTo>
                <a:cubicBezTo>
                  <a:pt x="0" y="16165"/>
                  <a:pt x="16165" y="0"/>
                  <a:pt x="36105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27214" dist="9071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16609" y="2505681"/>
            <a:ext cx="36105" cy="1288143"/>
          </a:xfrm>
          <a:custGeom>
            <a:avLst/>
            <a:gdLst/>
            <a:ahLst/>
            <a:cxnLst/>
            <a:rect l="l" t="t" r="r" b="b"/>
            <a:pathLst>
              <a:path w="36105" h="1288143">
                <a:moveTo>
                  <a:pt x="36105" y="0"/>
                </a:moveTo>
                <a:lnTo>
                  <a:pt x="36105" y="0"/>
                </a:lnTo>
                <a:lnTo>
                  <a:pt x="36105" y="1288143"/>
                </a:lnTo>
                <a:lnTo>
                  <a:pt x="36105" y="1288143"/>
                </a:lnTo>
                <a:cubicBezTo>
                  <a:pt x="16165" y="1288143"/>
                  <a:pt x="0" y="1271978"/>
                  <a:pt x="0" y="1252038"/>
                </a:cubicBezTo>
                <a:lnTo>
                  <a:pt x="0" y="36105"/>
                </a:lnTo>
                <a:cubicBezTo>
                  <a:pt x="0" y="16165"/>
                  <a:pt x="16165" y="0"/>
                  <a:pt x="36105" y="0"/>
                </a:cubicBezTo>
                <a:close/>
              </a:path>
            </a:pathLst>
          </a:custGeom>
          <a:solidFill>
            <a:srgbClr val="8B0000"/>
          </a:solidFill>
        </p:spPr>
      </p:sp>
      <p:sp>
        <p:nvSpPr>
          <p:cNvPr id="10" name="Shape 8"/>
          <p:cNvSpPr/>
          <p:nvPr/>
        </p:nvSpPr>
        <p:spPr>
          <a:xfrm>
            <a:off x="897708" y="2759615"/>
            <a:ext cx="136071" cy="181429"/>
          </a:xfrm>
          <a:custGeom>
            <a:avLst/>
            <a:gdLst/>
            <a:ahLst/>
            <a:cxnLst/>
            <a:rect l="l" t="t" r="r" b="b"/>
            <a:pathLst>
              <a:path w="136071" h="181429">
                <a:moveTo>
                  <a:pt x="22679" y="0"/>
                </a:moveTo>
                <a:cubicBezTo>
                  <a:pt x="10170" y="0"/>
                  <a:pt x="0" y="10170"/>
                  <a:pt x="0" y="22679"/>
                </a:cubicBezTo>
                <a:lnTo>
                  <a:pt x="0" y="158750"/>
                </a:lnTo>
                <a:cubicBezTo>
                  <a:pt x="0" y="171259"/>
                  <a:pt x="10170" y="181429"/>
                  <a:pt x="22679" y="181429"/>
                </a:cubicBezTo>
                <a:lnTo>
                  <a:pt x="113393" y="181429"/>
                </a:lnTo>
                <a:cubicBezTo>
                  <a:pt x="125902" y="181429"/>
                  <a:pt x="136071" y="171259"/>
                  <a:pt x="136071" y="158750"/>
                </a:cubicBezTo>
                <a:lnTo>
                  <a:pt x="136071" y="22679"/>
                </a:lnTo>
                <a:cubicBezTo>
                  <a:pt x="136071" y="10170"/>
                  <a:pt x="125902" y="0"/>
                  <a:pt x="113393" y="0"/>
                </a:cubicBezTo>
                <a:lnTo>
                  <a:pt x="22679" y="0"/>
                </a:lnTo>
                <a:close/>
                <a:moveTo>
                  <a:pt x="34018" y="22679"/>
                </a:moveTo>
                <a:lnTo>
                  <a:pt x="102054" y="22679"/>
                </a:lnTo>
                <a:cubicBezTo>
                  <a:pt x="108326" y="22679"/>
                  <a:pt x="113393" y="27746"/>
                  <a:pt x="113393" y="34018"/>
                </a:cubicBezTo>
                <a:lnTo>
                  <a:pt x="113393" y="45357"/>
                </a:lnTo>
                <a:cubicBezTo>
                  <a:pt x="113393" y="51629"/>
                  <a:pt x="108326" y="56696"/>
                  <a:pt x="102054" y="56696"/>
                </a:cubicBezTo>
                <a:lnTo>
                  <a:pt x="34018" y="56696"/>
                </a:lnTo>
                <a:cubicBezTo>
                  <a:pt x="27746" y="56696"/>
                  <a:pt x="22679" y="51629"/>
                  <a:pt x="22679" y="45357"/>
                </a:cubicBezTo>
                <a:lnTo>
                  <a:pt x="22679" y="34018"/>
                </a:lnTo>
                <a:cubicBezTo>
                  <a:pt x="22679" y="27746"/>
                  <a:pt x="27746" y="22679"/>
                  <a:pt x="34018" y="22679"/>
                </a:cubicBezTo>
                <a:close/>
                <a:moveTo>
                  <a:pt x="39688" y="82210"/>
                </a:moveTo>
                <a:cubicBezTo>
                  <a:pt x="39688" y="86904"/>
                  <a:pt x="35877" y="90714"/>
                  <a:pt x="31183" y="90714"/>
                </a:cubicBezTo>
                <a:cubicBezTo>
                  <a:pt x="26489" y="90714"/>
                  <a:pt x="22679" y="86904"/>
                  <a:pt x="22679" y="82210"/>
                </a:cubicBezTo>
                <a:cubicBezTo>
                  <a:pt x="22679" y="77516"/>
                  <a:pt x="26489" y="73705"/>
                  <a:pt x="31183" y="73705"/>
                </a:cubicBezTo>
                <a:cubicBezTo>
                  <a:pt x="35877" y="73705"/>
                  <a:pt x="39688" y="77516"/>
                  <a:pt x="39688" y="82210"/>
                </a:cubicBezTo>
                <a:close/>
                <a:moveTo>
                  <a:pt x="68036" y="90714"/>
                </a:moveTo>
                <a:cubicBezTo>
                  <a:pt x="63342" y="90714"/>
                  <a:pt x="59531" y="86904"/>
                  <a:pt x="59531" y="82210"/>
                </a:cubicBezTo>
                <a:cubicBezTo>
                  <a:pt x="59531" y="77516"/>
                  <a:pt x="63342" y="73705"/>
                  <a:pt x="68036" y="73705"/>
                </a:cubicBezTo>
                <a:cubicBezTo>
                  <a:pt x="72729" y="73705"/>
                  <a:pt x="76540" y="77516"/>
                  <a:pt x="76540" y="82210"/>
                </a:cubicBezTo>
                <a:cubicBezTo>
                  <a:pt x="76540" y="86904"/>
                  <a:pt x="72729" y="90714"/>
                  <a:pt x="68036" y="90714"/>
                </a:cubicBezTo>
                <a:close/>
                <a:moveTo>
                  <a:pt x="113393" y="82210"/>
                </a:moveTo>
                <a:cubicBezTo>
                  <a:pt x="113393" y="86904"/>
                  <a:pt x="109582" y="90714"/>
                  <a:pt x="104888" y="90714"/>
                </a:cubicBezTo>
                <a:cubicBezTo>
                  <a:pt x="100195" y="90714"/>
                  <a:pt x="96384" y="86904"/>
                  <a:pt x="96384" y="82210"/>
                </a:cubicBezTo>
                <a:cubicBezTo>
                  <a:pt x="96384" y="77516"/>
                  <a:pt x="100195" y="73705"/>
                  <a:pt x="104888" y="73705"/>
                </a:cubicBezTo>
                <a:cubicBezTo>
                  <a:pt x="109582" y="73705"/>
                  <a:pt x="113393" y="77516"/>
                  <a:pt x="113393" y="82210"/>
                </a:cubicBezTo>
                <a:close/>
                <a:moveTo>
                  <a:pt x="31183" y="124732"/>
                </a:moveTo>
                <a:cubicBezTo>
                  <a:pt x="26489" y="124732"/>
                  <a:pt x="22679" y="120921"/>
                  <a:pt x="22679" y="116228"/>
                </a:cubicBezTo>
                <a:cubicBezTo>
                  <a:pt x="22679" y="111534"/>
                  <a:pt x="26489" y="107723"/>
                  <a:pt x="31183" y="107723"/>
                </a:cubicBezTo>
                <a:cubicBezTo>
                  <a:pt x="35877" y="107723"/>
                  <a:pt x="39688" y="111534"/>
                  <a:pt x="39688" y="116228"/>
                </a:cubicBezTo>
                <a:cubicBezTo>
                  <a:pt x="39688" y="120921"/>
                  <a:pt x="35877" y="124732"/>
                  <a:pt x="31183" y="124732"/>
                </a:cubicBezTo>
                <a:close/>
                <a:moveTo>
                  <a:pt x="76540" y="116228"/>
                </a:moveTo>
                <a:cubicBezTo>
                  <a:pt x="76540" y="120921"/>
                  <a:pt x="72729" y="124732"/>
                  <a:pt x="68036" y="124732"/>
                </a:cubicBezTo>
                <a:cubicBezTo>
                  <a:pt x="63342" y="124732"/>
                  <a:pt x="59531" y="120921"/>
                  <a:pt x="59531" y="116228"/>
                </a:cubicBezTo>
                <a:cubicBezTo>
                  <a:pt x="59531" y="111534"/>
                  <a:pt x="63342" y="107723"/>
                  <a:pt x="68036" y="107723"/>
                </a:cubicBezTo>
                <a:cubicBezTo>
                  <a:pt x="72729" y="107723"/>
                  <a:pt x="76540" y="111534"/>
                  <a:pt x="76540" y="116228"/>
                </a:cubicBezTo>
                <a:close/>
                <a:moveTo>
                  <a:pt x="104888" y="124732"/>
                </a:moveTo>
                <a:cubicBezTo>
                  <a:pt x="100195" y="124732"/>
                  <a:pt x="96384" y="120921"/>
                  <a:pt x="96384" y="116228"/>
                </a:cubicBezTo>
                <a:cubicBezTo>
                  <a:pt x="96384" y="111534"/>
                  <a:pt x="100195" y="107723"/>
                  <a:pt x="104888" y="107723"/>
                </a:cubicBezTo>
                <a:cubicBezTo>
                  <a:pt x="109582" y="107723"/>
                  <a:pt x="113393" y="111534"/>
                  <a:pt x="113393" y="116228"/>
                </a:cubicBezTo>
                <a:cubicBezTo>
                  <a:pt x="113393" y="120921"/>
                  <a:pt x="109582" y="124732"/>
                  <a:pt x="104888" y="124732"/>
                </a:cubicBezTo>
                <a:close/>
                <a:moveTo>
                  <a:pt x="22679" y="150246"/>
                </a:moveTo>
                <a:cubicBezTo>
                  <a:pt x="22679" y="145533"/>
                  <a:pt x="26470" y="141741"/>
                  <a:pt x="31183" y="141741"/>
                </a:cubicBezTo>
                <a:lnTo>
                  <a:pt x="70871" y="141741"/>
                </a:lnTo>
                <a:cubicBezTo>
                  <a:pt x="75583" y="141741"/>
                  <a:pt x="79375" y="145533"/>
                  <a:pt x="79375" y="150246"/>
                </a:cubicBezTo>
                <a:cubicBezTo>
                  <a:pt x="79375" y="154958"/>
                  <a:pt x="75583" y="158750"/>
                  <a:pt x="70871" y="158750"/>
                </a:cubicBezTo>
                <a:lnTo>
                  <a:pt x="31183" y="158750"/>
                </a:lnTo>
                <a:cubicBezTo>
                  <a:pt x="26470" y="158750"/>
                  <a:pt x="22679" y="154958"/>
                  <a:pt x="22679" y="150246"/>
                </a:cubicBezTo>
                <a:close/>
                <a:moveTo>
                  <a:pt x="104888" y="141741"/>
                </a:moveTo>
                <a:cubicBezTo>
                  <a:pt x="109601" y="141741"/>
                  <a:pt x="113393" y="145533"/>
                  <a:pt x="113393" y="150246"/>
                </a:cubicBezTo>
                <a:cubicBezTo>
                  <a:pt x="113393" y="154958"/>
                  <a:pt x="109601" y="158750"/>
                  <a:pt x="104888" y="158750"/>
                </a:cubicBezTo>
                <a:cubicBezTo>
                  <a:pt x="100176" y="158750"/>
                  <a:pt x="96384" y="154958"/>
                  <a:pt x="96384" y="150246"/>
                </a:cubicBezTo>
                <a:cubicBezTo>
                  <a:pt x="96384" y="145533"/>
                  <a:pt x="100176" y="141741"/>
                  <a:pt x="104888" y="141741"/>
                </a:cubicBezTo>
                <a:close/>
              </a:path>
            </a:pathLst>
          </a:custGeom>
          <a:solidFill>
            <a:srgbClr val="8B0000"/>
          </a:solidFill>
        </p:spPr>
      </p:sp>
      <p:sp>
        <p:nvSpPr>
          <p:cNvPr id="11" name="Text 9"/>
          <p:cNvSpPr/>
          <p:nvPr/>
        </p:nvSpPr>
        <p:spPr>
          <a:xfrm>
            <a:off x="1187945" y="2723370"/>
            <a:ext cx="671286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30" b="1" dirty="0">
                <a:solidFill>
                  <a:srgbClr val="00000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FLOPS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52350" y="3049938"/>
            <a:ext cx="4726214" cy="53521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85" dirty="0">
                <a:solidFill>
                  <a:srgbClr val="364153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Measures the number of floating-point operations a processor can execute per second — the core metric for compute-intensive task performance.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16609" y="4088597"/>
            <a:ext cx="5098053" cy="1288143"/>
          </a:xfrm>
          <a:custGeom>
            <a:avLst/>
            <a:gdLst/>
            <a:ahLst/>
            <a:cxnLst/>
            <a:rect l="l" t="t" r="r" b="b"/>
            <a:pathLst>
              <a:path w="5098053" h="1288143">
                <a:moveTo>
                  <a:pt x="36105" y="0"/>
                </a:moveTo>
                <a:lnTo>
                  <a:pt x="5025479" y="0"/>
                </a:lnTo>
                <a:cubicBezTo>
                  <a:pt x="5065560" y="0"/>
                  <a:pt x="5098053" y="32492"/>
                  <a:pt x="5098053" y="72574"/>
                </a:cubicBezTo>
                <a:lnTo>
                  <a:pt x="5098053" y="1215569"/>
                </a:lnTo>
                <a:cubicBezTo>
                  <a:pt x="5098053" y="1255650"/>
                  <a:pt x="5065560" y="1288143"/>
                  <a:pt x="5025479" y="1288143"/>
                </a:cubicBezTo>
                <a:lnTo>
                  <a:pt x="36105" y="1288143"/>
                </a:lnTo>
                <a:cubicBezTo>
                  <a:pt x="16165" y="1288143"/>
                  <a:pt x="0" y="1271978"/>
                  <a:pt x="0" y="1252038"/>
                </a:cubicBezTo>
                <a:lnTo>
                  <a:pt x="0" y="36105"/>
                </a:lnTo>
                <a:cubicBezTo>
                  <a:pt x="0" y="16165"/>
                  <a:pt x="16165" y="0"/>
                  <a:pt x="36105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27214" dist="9071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16609" y="4088597"/>
            <a:ext cx="36105" cy="1288143"/>
          </a:xfrm>
          <a:custGeom>
            <a:avLst/>
            <a:gdLst/>
            <a:ahLst/>
            <a:cxnLst/>
            <a:rect l="l" t="t" r="r" b="b"/>
            <a:pathLst>
              <a:path w="36105" h="1288143">
                <a:moveTo>
                  <a:pt x="36105" y="0"/>
                </a:moveTo>
                <a:lnTo>
                  <a:pt x="36105" y="0"/>
                </a:lnTo>
                <a:lnTo>
                  <a:pt x="36105" y="1288143"/>
                </a:lnTo>
                <a:lnTo>
                  <a:pt x="36105" y="1288143"/>
                </a:lnTo>
                <a:cubicBezTo>
                  <a:pt x="16165" y="1288143"/>
                  <a:pt x="0" y="1271978"/>
                  <a:pt x="0" y="1252038"/>
                </a:cubicBezTo>
                <a:lnTo>
                  <a:pt x="0" y="36105"/>
                </a:lnTo>
                <a:cubicBezTo>
                  <a:pt x="0" y="16165"/>
                  <a:pt x="16165" y="0"/>
                  <a:pt x="36105" y="0"/>
                </a:cubicBezTo>
                <a:close/>
              </a:path>
            </a:pathLst>
          </a:custGeom>
          <a:solidFill>
            <a:srgbClr val="8B0000"/>
          </a:solidFill>
        </p:spPr>
      </p:sp>
      <p:sp>
        <p:nvSpPr>
          <p:cNvPr id="15" name="Shape 13"/>
          <p:cNvSpPr/>
          <p:nvPr/>
        </p:nvSpPr>
        <p:spPr>
          <a:xfrm>
            <a:off x="875029" y="4342532"/>
            <a:ext cx="181429" cy="181429"/>
          </a:xfrm>
          <a:custGeom>
            <a:avLst/>
            <a:gdLst/>
            <a:ahLst/>
            <a:cxnLst/>
            <a:rect l="l" t="t" r="r" b="b"/>
            <a:pathLst>
              <a:path w="181429" h="181429">
                <a:moveTo>
                  <a:pt x="22679" y="22679"/>
                </a:moveTo>
                <a:cubicBezTo>
                  <a:pt x="22679" y="16407"/>
                  <a:pt x="17611" y="11339"/>
                  <a:pt x="11339" y="11339"/>
                </a:cubicBezTo>
                <a:cubicBezTo>
                  <a:pt x="5067" y="11339"/>
                  <a:pt x="0" y="16407"/>
                  <a:pt x="0" y="22679"/>
                </a:cubicBezTo>
                <a:lnTo>
                  <a:pt x="0" y="141741"/>
                </a:lnTo>
                <a:cubicBezTo>
                  <a:pt x="0" y="157403"/>
                  <a:pt x="12686" y="170089"/>
                  <a:pt x="28348" y="170089"/>
                </a:cubicBezTo>
                <a:lnTo>
                  <a:pt x="170089" y="170089"/>
                </a:lnTo>
                <a:cubicBezTo>
                  <a:pt x="176361" y="170089"/>
                  <a:pt x="181429" y="165022"/>
                  <a:pt x="181429" y="158750"/>
                </a:cubicBezTo>
                <a:cubicBezTo>
                  <a:pt x="181429" y="152478"/>
                  <a:pt x="176361" y="147411"/>
                  <a:pt x="170089" y="147411"/>
                </a:cubicBezTo>
                <a:lnTo>
                  <a:pt x="28348" y="147411"/>
                </a:lnTo>
                <a:cubicBezTo>
                  <a:pt x="25230" y="147411"/>
                  <a:pt x="22679" y="144859"/>
                  <a:pt x="22679" y="141741"/>
                </a:cubicBezTo>
                <a:lnTo>
                  <a:pt x="22679" y="22679"/>
                </a:lnTo>
                <a:close/>
                <a:moveTo>
                  <a:pt x="166758" y="53366"/>
                </a:moveTo>
                <a:cubicBezTo>
                  <a:pt x="171188" y="48936"/>
                  <a:pt x="171188" y="41743"/>
                  <a:pt x="166758" y="37313"/>
                </a:cubicBezTo>
                <a:cubicBezTo>
                  <a:pt x="162329" y="32884"/>
                  <a:pt x="155136" y="32884"/>
                  <a:pt x="150706" y="37313"/>
                </a:cubicBezTo>
                <a:lnTo>
                  <a:pt x="113393" y="74662"/>
                </a:lnTo>
                <a:lnTo>
                  <a:pt x="93053" y="54358"/>
                </a:lnTo>
                <a:cubicBezTo>
                  <a:pt x="88624" y="49928"/>
                  <a:pt x="81430" y="49928"/>
                  <a:pt x="77001" y="54358"/>
                </a:cubicBezTo>
                <a:lnTo>
                  <a:pt x="42983" y="88376"/>
                </a:lnTo>
                <a:cubicBezTo>
                  <a:pt x="38554" y="92805"/>
                  <a:pt x="38554" y="99998"/>
                  <a:pt x="42983" y="104428"/>
                </a:cubicBezTo>
                <a:cubicBezTo>
                  <a:pt x="47412" y="108857"/>
                  <a:pt x="54606" y="108857"/>
                  <a:pt x="59035" y="104428"/>
                </a:cubicBezTo>
                <a:lnTo>
                  <a:pt x="85045" y="78418"/>
                </a:lnTo>
                <a:lnTo>
                  <a:pt x="105384" y="98758"/>
                </a:lnTo>
                <a:cubicBezTo>
                  <a:pt x="109814" y="103188"/>
                  <a:pt x="117007" y="103188"/>
                  <a:pt x="121437" y="98758"/>
                </a:cubicBezTo>
                <a:lnTo>
                  <a:pt x="166794" y="53401"/>
                </a:lnTo>
                <a:close/>
              </a:path>
            </a:pathLst>
          </a:custGeom>
          <a:solidFill>
            <a:srgbClr val="8B0000"/>
          </a:solidFill>
        </p:spPr>
      </p:sp>
      <p:sp>
        <p:nvSpPr>
          <p:cNvPr id="16" name="Text 14"/>
          <p:cNvSpPr/>
          <p:nvPr/>
        </p:nvSpPr>
        <p:spPr>
          <a:xfrm>
            <a:off x="1187945" y="4306286"/>
            <a:ext cx="1034143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30" b="1" dirty="0">
                <a:solidFill>
                  <a:srgbClr val="00000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Utilization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52350" y="4632854"/>
            <a:ext cx="4726214" cy="53521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85" dirty="0">
                <a:solidFill>
                  <a:srgbClr val="364153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Reflects the actual usage efficiency of hardware resources, helping identify whether compute units are fully utilized.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250146" y="1194893"/>
            <a:ext cx="5569767" cy="4698910"/>
          </a:xfrm>
          <a:custGeom>
            <a:avLst/>
            <a:gdLst/>
            <a:ahLst/>
            <a:cxnLst/>
            <a:rect l="l" t="t" r="r" b="b"/>
            <a:pathLst>
              <a:path w="5569767" h="4698910">
                <a:moveTo>
                  <a:pt x="108874" y="0"/>
                </a:moveTo>
                <a:lnTo>
                  <a:pt x="5460893" y="0"/>
                </a:lnTo>
                <a:cubicBezTo>
                  <a:pt x="5521022" y="0"/>
                  <a:pt x="5569767" y="48744"/>
                  <a:pt x="5569767" y="108874"/>
                </a:cubicBezTo>
                <a:lnTo>
                  <a:pt x="5569767" y="4590036"/>
                </a:lnTo>
                <a:cubicBezTo>
                  <a:pt x="5569767" y="4650165"/>
                  <a:pt x="5521022" y="4698910"/>
                  <a:pt x="5460893" y="4698910"/>
                </a:cubicBezTo>
                <a:lnTo>
                  <a:pt x="108874" y="4698910"/>
                </a:lnTo>
                <a:cubicBezTo>
                  <a:pt x="48744" y="4698910"/>
                  <a:pt x="0" y="4650165"/>
                  <a:pt x="0" y="4590036"/>
                </a:cubicBezTo>
                <a:lnTo>
                  <a:pt x="0" y="108874"/>
                </a:lnTo>
                <a:cubicBezTo>
                  <a:pt x="0" y="48785"/>
                  <a:pt x="48785" y="0"/>
                  <a:pt x="108874" y="0"/>
                </a:cubicBezTo>
                <a:close/>
              </a:path>
            </a:pathLst>
          </a:custGeom>
          <a:gradFill flip="none" rotWithShape="1">
            <a:gsLst>
              <a:gs pos="0">
                <a:srgbClr val="F9FAFB"/>
              </a:gs>
              <a:gs pos="100000">
                <a:srgbClr val="FFFFFF"/>
              </a:gs>
            </a:gsLst>
            <a:lin ang="2700000" scaled="1"/>
          </a:gradFill>
          <a:ln w="25274">
            <a:solidFill>
              <a:srgbClr val="E5E7E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76862" y="1421608"/>
            <a:ext cx="580571" cy="580571"/>
          </a:xfrm>
          <a:custGeom>
            <a:avLst/>
            <a:gdLst/>
            <a:ahLst/>
            <a:cxnLst/>
            <a:rect l="l" t="t" r="r" b="b"/>
            <a:pathLst>
              <a:path w="580571" h="580571">
                <a:moveTo>
                  <a:pt x="108857" y="0"/>
                </a:moveTo>
                <a:lnTo>
                  <a:pt x="471714" y="0"/>
                </a:lnTo>
                <a:cubicBezTo>
                  <a:pt x="531834" y="0"/>
                  <a:pt x="580571" y="48737"/>
                  <a:pt x="580571" y="108857"/>
                </a:cubicBezTo>
                <a:lnTo>
                  <a:pt x="580571" y="471714"/>
                </a:lnTo>
                <a:cubicBezTo>
                  <a:pt x="580571" y="531834"/>
                  <a:pt x="531834" y="580571"/>
                  <a:pt x="471714" y="580571"/>
                </a:cubicBezTo>
                <a:lnTo>
                  <a:pt x="108857" y="580571"/>
                </a:lnTo>
                <a:cubicBezTo>
                  <a:pt x="48737" y="580571"/>
                  <a:pt x="0" y="531834"/>
                  <a:pt x="0" y="471714"/>
                </a:cubicBezTo>
                <a:lnTo>
                  <a:pt x="0" y="108857"/>
                </a:lnTo>
                <a:cubicBezTo>
                  <a:pt x="0" y="48777"/>
                  <a:pt x="48777" y="0"/>
                  <a:pt x="108857" y="0"/>
                </a:cubicBezTo>
                <a:close/>
              </a:path>
            </a:pathLst>
          </a:custGeom>
          <a:solidFill>
            <a:srgbClr val="8B0000"/>
          </a:solidFill>
          <a:effectLst>
            <a:outerShdw blurRad="136071" dist="90714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650319" y="1575760"/>
            <a:ext cx="238125" cy="272143"/>
          </a:xfrm>
          <a:custGeom>
            <a:avLst/>
            <a:gdLst/>
            <a:ahLst/>
            <a:cxnLst/>
            <a:rect l="l" t="t" r="r" b="b"/>
            <a:pathLst>
              <a:path w="238125" h="272143">
                <a:moveTo>
                  <a:pt x="238125" y="109389"/>
                </a:moveTo>
                <a:cubicBezTo>
                  <a:pt x="230258" y="114598"/>
                  <a:pt x="221222" y="118797"/>
                  <a:pt x="211814" y="122145"/>
                </a:cubicBezTo>
                <a:cubicBezTo>
                  <a:pt x="186832" y="131075"/>
                  <a:pt x="154037" y="136071"/>
                  <a:pt x="119062" y="136071"/>
                </a:cubicBezTo>
                <a:cubicBezTo>
                  <a:pt x="84088" y="136071"/>
                  <a:pt x="51239" y="131022"/>
                  <a:pt x="26311" y="122145"/>
                </a:cubicBezTo>
                <a:cubicBezTo>
                  <a:pt x="16956" y="118797"/>
                  <a:pt x="7867" y="114598"/>
                  <a:pt x="0" y="109389"/>
                </a:cubicBezTo>
                <a:lnTo>
                  <a:pt x="0" y="153080"/>
                </a:lnTo>
                <a:cubicBezTo>
                  <a:pt x="0" y="176574"/>
                  <a:pt x="53312" y="195603"/>
                  <a:pt x="119062" y="195603"/>
                </a:cubicBezTo>
                <a:cubicBezTo>
                  <a:pt x="184813" y="195603"/>
                  <a:pt x="238125" y="176574"/>
                  <a:pt x="238125" y="153080"/>
                </a:cubicBezTo>
                <a:lnTo>
                  <a:pt x="238125" y="109389"/>
                </a:lnTo>
                <a:close/>
                <a:moveTo>
                  <a:pt x="238125" y="68036"/>
                </a:moveTo>
                <a:lnTo>
                  <a:pt x="238125" y="42522"/>
                </a:lnTo>
                <a:cubicBezTo>
                  <a:pt x="238125" y="19029"/>
                  <a:pt x="184813" y="0"/>
                  <a:pt x="119062" y="0"/>
                </a:cubicBezTo>
                <a:cubicBezTo>
                  <a:pt x="53312" y="0"/>
                  <a:pt x="0" y="19029"/>
                  <a:pt x="0" y="42522"/>
                </a:cubicBezTo>
                <a:lnTo>
                  <a:pt x="0" y="68036"/>
                </a:lnTo>
                <a:cubicBezTo>
                  <a:pt x="0" y="91529"/>
                  <a:pt x="53312" y="110558"/>
                  <a:pt x="119062" y="110558"/>
                </a:cubicBezTo>
                <a:cubicBezTo>
                  <a:pt x="184813" y="110558"/>
                  <a:pt x="238125" y="91529"/>
                  <a:pt x="238125" y="68036"/>
                </a:cubicBezTo>
                <a:close/>
                <a:moveTo>
                  <a:pt x="211814" y="207190"/>
                </a:moveTo>
                <a:cubicBezTo>
                  <a:pt x="186886" y="216067"/>
                  <a:pt x="154090" y="221116"/>
                  <a:pt x="119062" y="221116"/>
                </a:cubicBezTo>
                <a:cubicBezTo>
                  <a:pt x="84035" y="221116"/>
                  <a:pt x="51239" y="216067"/>
                  <a:pt x="26311" y="207190"/>
                </a:cubicBezTo>
                <a:cubicBezTo>
                  <a:pt x="16956" y="203841"/>
                  <a:pt x="7867" y="199642"/>
                  <a:pt x="0" y="194433"/>
                </a:cubicBezTo>
                <a:lnTo>
                  <a:pt x="0" y="229621"/>
                </a:lnTo>
                <a:cubicBezTo>
                  <a:pt x="0" y="253114"/>
                  <a:pt x="53312" y="272143"/>
                  <a:pt x="119062" y="272143"/>
                </a:cubicBezTo>
                <a:cubicBezTo>
                  <a:pt x="184813" y="272143"/>
                  <a:pt x="238125" y="253114"/>
                  <a:pt x="238125" y="229621"/>
                </a:cubicBezTo>
                <a:lnTo>
                  <a:pt x="238125" y="194433"/>
                </a:lnTo>
                <a:cubicBezTo>
                  <a:pt x="230258" y="199642"/>
                  <a:pt x="221222" y="203841"/>
                  <a:pt x="211814" y="207190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21" name="Text 19"/>
          <p:cNvSpPr/>
          <p:nvPr/>
        </p:nvSpPr>
        <p:spPr>
          <a:xfrm>
            <a:off x="7202491" y="1439731"/>
            <a:ext cx="2545247" cy="29028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15" b="1" dirty="0">
                <a:solidFill>
                  <a:srgbClr val="00000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Data Access Capability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202491" y="1729912"/>
            <a:ext cx="1514929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30" b="1" dirty="0">
                <a:solidFill>
                  <a:srgbClr val="8B000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Memory Bound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494914" y="2505681"/>
            <a:ext cx="5098053" cy="1288143"/>
          </a:xfrm>
          <a:custGeom>
            <a:avLst/>
            <a:gdLst/>
            <a:ahLst/>
            <a:cxnLst/>
            <a:rect l="l" t="t" r="r" b="b"/>
            <a:pathLst>
              <a:path w="5098053" h="1288143">
                <a:moveTo>
                  <a:pt x="36105" y="0"/>
                </a:moveTo>
                <a:lnTo>
                  <a:pt x="5025479" y="0"/>
                </a:lnTo>
                <a:cubicBezTo>
                  <a:pt x="5065560" y="0"/>
                  <a:pt x="5098053" y="32492"/>
                  <a:pt x="5098053" y="72574"/>
                </a:cubicBezTo>
                <a:lnTo>
                  <a:pt x="5098053" y="1215569"/>
                </a:lnTo>
                <a:cubicBezTo>
                  <a:pt x="5098053" y="1255650"/>
                  <a:pt x="5065560" y="1288143"/>
                  <a:pt x="5025479" y="1288143"/>
                </a:cubicBezTo>
                <a:lnTo>
                  <a:pt x="36105" y="1288143"/>
                </a:lnTo>
                <a:cubicBezTo>
                  <a:pt x="16165" y="1288143"/>
                  <a:pt x="0" y="1271978"/>
                  <a:pt x="0" y="1252038"/>
                </a:cubicBezTo>
                <a:lnTo>
                  <a:pt x="0" y="36105"/>
                </a:lnTo>
                <a:cubicBezTo>
                  <a:pt x="0" y="16165"/>
                  <a:pt x="16165" y="0"/>
                  <a:pt x="36105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27214" dist="9071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494914" y="2505681"/>
            <a:ext cx="36105" cy="1288143"/>
          </a:xfrm>
          <a:custGeom>
            <a:avLst/>
            <a:gdLst/>
            <a:ahLst/>
            <a:cxnLst/>
            <a:rect l="l" t="t" r="r" b="b"/>
            <a:pathLst>
              <a:path w="36105" h="1288143">
                <a:moveTo>
                  <a:pt x="36105" y="0"/>
                </a:moveTo>
                <a:lnTo>
                  <a:pt x="36105" y="0"/>
                </a:lnTo>
                <a:lnTo>
                  <a:pt x="36105" y="1288143"/>
                </a:lnTo>
                <a:lnTo>
                  <a:pt x="36105" y="1288143"/>
                </a:lnTo>
                <a:cubicBezTo>
                  <a:pt x="16165" y="1288143"/>
                  <a:pt x="0" y="1271978"/>
                  <a:pt x="0" y="1252038"/>
                </a:cubicBezTo>
                <a:lnTo>
                  <a:pt x="0" y="36105"/>
                </a:lnTo>
                <a:cubicBezTo>
                  <a:pt x="0" y="16165"/>
                  <a:pt x="16165" y="0"/>
                  <a:pt x="36105" y="0"/>
                </a:cubicBezTo>
                <a:close/>
              </a:path>
            </a:pathLst>
          </a:custGeom>
          <a:solidFill>
            <a:srgbClr val="8B0000"/>
          </a:solidFill>
        </p:spPr>
      </p:sp>
      <p:sp>
        <p:nvSpPr>
          <p:cNvPr id="25" name="Shape 23"/>
          <p:cNvSpPr/>
          <p:nvPr/>
        </p:nvSpPr>
        <p:spPr>
          <a:xfrm>
            <a:off x="6753334" y="2759615"/>
            <a:ext cx="181429" cy="181429"/>
          </a:xfrm>
          <a:custGeom>
            <a:avLst/>
            <a:gdLst/>
            <a:ahLst/>
            <a:cxnLst/>
            <a:rect l="l" t="t" r="r" b="b"/>
            <a:pathLst>
              <a:path w="181429" h="181429">
                <a:moveTo>
                  <a:pt x="0" y="90714"/>
                </a:moveTo>
                <a:cubicBezTo>
                  <a:pt x="0" y="40648"/>
                  <a:pt x="40648" y="0"/>
                  <a:pt x="90714" y="0"/>
                </a:cubicBezTo>
                <a:cubicBezTo>
                  <a:pt x="140781" y="0"/>
                  <a:pt x="181429" y="40648"/>
                  <a:pt x="181429" y="90714"/>
                </a:cubicBezTo>
                <a:cubicBezTo>
                  <a:pt x="181429" y="140781"/>
                  <a:pt x="140781" y="181429"/>
                  <a:pt x="90714" y="181429"/>
                </a:cubicBezTo>
                <a:cubicBezTo>
                  <a:pt x="40648" y="181429"/>
                  <a:pt x="0" y="140781"/>
                  <a:pt x="0" y="90714"/>
                </a:cubicBezTo>
                <a:close/>
                <a:moveTo>
                  <a:pt x="102054" y="34018"/>
                </a:moveTo>
                <a:cubicBezTo>
                  <a:pt x="102054" y="27760"/>
                  <a:pt x="96973" y="22679"/>
                  <a:pt x="90714" y="22679"/>
                </a:cubicBezTo>
                <a:cubicBezTo>
                  <a:pt x="84456" y="22679"/>
                  <a:pt x="79375" y="27760"/>
                  <a:pt x="79375" y="34018"/>
                </a:cubicBezTo>
                <a:cubicBezTo>
                  <a:pt x="79375" y="40276"/>
                  <a:pt x="84456" y="45357"/>
                  <a:pt x="90714" y="45357"/>
                </a:cubicBezTo>
                <a:cubicBezTo>
                  <a:pt x="96973" y="45357"/>
                  <a:pt x="102054" y="40276"/>
                  <a:pt x="102054" y="34018"/>
                </a:cubicBezTo>
                <a:close/>
                <a:moveTo>
                  <a:pt x="90714" y="147411"/>
                </a:moveTo>
                <a:cubicBezTo>
                  <a:pt x="103223" y="147411"/>
                  <a:pt x="113393" y="137241"/>
                  <a:pt x="113393" y="124732"/>
                </a:cubicBezTo>
                <a:cubicBezTo>
                  <a:pt x="113393" y="118992"/>
                  <a:pt x="111267" y="113712"/>
                  <a:pt x="107723" y="109743"/>
                </a:cubicBezTo>
                <a:lnTo>
                  <a:pt x="132351" y="60523"/>
                </a:lnTo>
                <a:cubicBezTo>
                  <a:pt x="134441" y="56307"/>
                  <a:pt x="132741" y="51204"/>
                  <a:pt x="128559" y="49113"/>
                </a:cubicBezTo>
                <a:cubicBezTo>
                  <a:pt x="124378" y="47023"/>
                  <a:pt x="119240" y="48723"/>
                  <a:pt x="117149" y="52905"/>
                </a:cubicBezTo>
                <a:lnTo>
                  <a:pt x="92521" y="102124"/>
                </a:lnTo>
                <a:cubicBezTo>
                  <a:pt x="91919" y="102089"/>
                  <a:pt x="91317" y="102054"/>
                  <a:pt x="90714" y="102054"/>
                </a:cubicBezTo>
                <a:cubicBezTo>
                  <a:pt x="78206" y="102054"/>
                  <a:pt x="68036" y="112223"/>
                  <a:pt x="68036" y="124732"/>
                </a:cubicBezTo>
                <a:cubicBezTo>
                  <a:pt x="68036" y="137241"/>
                  <a:pt x="78206" y="147411"/>
                  <a:pt x="90714" y="147411"/>
                </a:cubicBezTo>
                <a:close/>
                <a:moveTo>
                  <a:pt x="62366" y="51027"/>
                </a:moveTo>
                <a:cubicBezTo>
                  <a:pt x="62366" y="44768"/>
                  <a:pt x="57285" y="39688"/>
                  <a:pt x="51027" y="39688"/>
                </a:cubicBezTo>
                <a:cubicBezTo>
                  <a:pt x="44768" y="39688"/>
                  <a:pt x="39688" y="44768"/>
                  <a:pt x="39688" y="51027"/>
                </a:cubicBezTo>
                <a:cubicBezTo>
                  <a:pt x="39688" y="57285"/>
                  <a:pt x="44768" y="62366"/>
                  <a:pt x="51027" y="62366"/>
                </a:cubicBezTo>
                <a:cubicBezTo>
                  <a:pt x="57285" y="62366"/>
                  <a:pt x="62366" y="57285"/>
                  <a:pt x="62366" y="51027"/>
                </a:cubicBezTo>
                <a:close/>
                <a:moveTo>
                  <a:pt x="34018" y="102054"/>
                </a:moveTo>
                <a:cubicBezTo>
                  <a:pt x="40276" y="102054"/>
                  <a:pt x="45357" y="96973"/>
                  <a:pt x="45357" y="90714"/>
                </a:cubicBezTo>
                <a:cubicBezTo>
                  <a:pt x="45357" y="84456"/>
                  <a:pt x="40276" y="79375"/>
                  <a:pt x="34018" y="79375"/>
                </a:cubicBezTo>
                <a:cubicBezTo>
                  <a:pt x="27760" y="79375"/>
                  <a:pt x="22679" y="84456"/>
                  <a:pt x="22679" y="90714"/>
                </a:cubicBezTo>
                <a:cubicBezTo>
                  <a:pt x="22679" y="96973"/>
                  <a:pt x="27760" y="102054"/>
                  <a:pt x="34018" y="102054"/>
                </a:cubicBezTo>
                <a:close/>
                <a:moveTo>
                  <a:pt x="158750" y="90714"/>
                </a:moveTo>
                <a:cubicBezTo>
                  <a:pt x="158750" y="84456"/>
                  <a:pt x="153669" y="79375"/>
                  <a:pt x="147411" y="79375"/>
                </a:cubicBezTo>
                <a:cubicBezTo>
                  <a:pt x="141152" y="79375"/>
                  <a:pt x="136071" y="84456"/>
                  <a:pt x="136071" y="90714"/>
                </a:cubicBezTo>
                <a:cubicBezTo>
                  <a:pt x="136071" y="96973"/>
                  <a:pt x="141152" y="102054"/>
                  <a:pt x="147411" y="102054"/>
                </a:cubicBezTo>
                <a:cubicBezTo>
                  <a:pt x="153669" y="102054"/>
                  <a:pt x="158750" y="96973"/>
                  <a:pt x="158750" y="90714"/>
                </a:cubicBezTo>
                <a:close/>
              </a:path>
            </a:pathLst>
          </a:custGeom>
          <a:solidFill>
            <a:srgbClr val="8B0000"/>
          </a:solidFill>
        </p:spPr>
      </p:sp>
      <p:sp>
        <p:nvSpPr>
          <p:cNvPr id="26" name="Text 24"/>
          <p:cNvSpPr/>
          <p:nvPr/>
        </p:nvSpPr>
        <p:spPr>
          <a:xfrm>
            <a:off x="7066251" y="2723370"/>
            <a:ext cx="10795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30" b="1" dirty="0">
                <a:solidFill>
                  <a:srgbClr val="00000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Bandwidth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730656" y="3049938"/>
            <a:ext cx="4726214" cy="53521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85" dirty="0">
                <a:solidFill>
                  <a:srgbClr val="364153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Represents the amount of data transferable per unit time, determining throughput capacity for data-intensive applications.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494914" y="4088597"/>
            <a:ext cx="5098053" cy="1288143"/>
          </a:xfrm>
          <a:custGeom>
            <a:avLst/>
            <a:gdLst/>
            <a:ahLst/>
            <a:cxnLst/>
            <a:rect l="l" t="t" r="r" b="b"/>
            <a:pathLst>
              <a:path w="5098053" h="1288143">
                <a:moveTo>
                  <a:pt x="36105" y="0"/>
                </a:moveTo>
                <a:lnTo>
                  <a:pt x="5025479" y="0"/>
                </a:lnTo>
                <a:cubicBezTo>
                  <a:pt x="5065560" y="0"/>
                  <a:pt x="5098053" y="32492"/>
                  <a:pt x="5098053" y="72574"/>
                </a:cubicBezTo>
                <a:lnTo>
                  <a:pt x="5098053" y="1215569"/>
                </a:lnTo>
                <a:cubicBezTo>
                  <a:pt x="5098053" y="1255650"/>
                  <a:pt x="5065560" y="1288143"/>
                  <a:pt x="5025479" y="1288143"/>
                </a:cubicBezTo>
                <a:lnTo>
                  <a:pt x="36105" y="1288143"/>
                </a:lnTo>
                <a:cubicBezTo>
                  <a:pt x="16165" y="1288143"/>
                  <a:pt x="0" y="1271978"/>
                  <a:pt x="0" y="1252038"/>
                </a:cubicBezTo>
                <a:lnTo>
                  <a:pt x="0" y="36105"/>
                </a:lnTo>
                <a:cubicBezTo>
                  <a:pt x="0" y="16165"/>
                  <a:pt x="16165" y="0"/>
                  <a:pt x="36105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27214" dist="9071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494914" y="4088597"/>
            <a:ext cx="36105" cy="1288143"/>
          </a:xfrm>
          <a:custGeom>
            <a:avLst/>
            <a:gdLst/>
            <a:ahLst/>
            <a:cxnLst/>
            <a:rect l="l" t="t" r="r" b="b"/>
            <a:pathLst>
              <a:path w="36105" h="1288143">
                <a:moveTo>
                  <a:pt x="36105" y="0"/>
                </a:moveTo>
                <a:lnTo>
                  <a:pt x="36105" y="0"/>
                </a:lnTo>
                <a:lnTo>
                  <a:pt x="36105" y="1288143"/>
                </a:lnTo>
                <a:lnTo>
                  <a:pt x="36105" y="1288143"/>
                </a:lnTo>
                <a:cubicBezTo>
                  <a:pt x="16165" y="1288143"/>
                  <a:pt x="0" y="1271978"/>
                  <a:pt x="0" y="1252038"/>
                </a:cubicBezTo>
                <a:lnTo>
                  <a:pt x="0" y="36105"/>
                </a:lnTo>
                <a:cubicBezTo>
                  <a:pt x="0" y="16165"/>
                  <a:pt x="16165" y="0"/>
                  <a:pt x="36105" y="0"/>
                </a:cubicBezTo>
                <a:close/>
              </a:path>
            </a:pathLst>
          </a:custGeom>
          <a:solidFill>
            <a:srgbClr val="8B0000"/>
          </a:solidFill>
        </p:spPr>
      </p:sp>
      <p:sp>
        <p:nvSpPr>
          <p:cNvPr id="30" name="Shape 28"/>
          <p:cNvSpPr/>
          <p:nvPr/>
        </p:nvSpPr>
        <p:spPr>
          <a:xfrm>
            <a:off x="6753334" y="4342532"/>
            <a:ext cx="181429" cy="181429"/>
          </a:xfrm>
          <a:custGeom>
            <a:avLst/>
            <a:gdLst/>
            <a:ahLst/>
            <a:cxnLst/>
            <a:rect l="l" t="t" r="r" b="b"/>
            <a:pathLst>
              <a:path w="181429" h="181429">
                <a:moveTo>
                  <a:pt x="90714" y="0"/>
                </a:moveTo>
                <a:cubicBezTo>
                  <a:pt x="140781" y="0"/>
                  <a:pt x="181429" y="40648"/>
                  <a:pt x="181429" y="90714"/>
                </a:cubicBezTo>
                <a:cubicBezTo>
                  <a:pt x="181429" y="140781"/>
                  <a:pt x="140781" y="181429"/>
                  <a:pt x="90714" y="181429"/>
                </a:cubicBezTo>
                <a:cubicBezTo>
                  <a:pt x="40648" y="181429"/>
                  <a:pt x="0" y="140781"/>
                  <a:pt x="0" y="90714"/>
                </a:cubicBezTo>
                <a:cubicBezTo>
                  <a:pt x="0" y="40648"/>
                  <a:pt x="40648" y="0"/>
                  <a:pt x="90714" y="0"/>
                </a:cubicBezTo>
                <a:close/>
                <a:moveTo>
                  <a:pt x="82210" y="42522"/>
                </a:moveTo>
                <a:lnTo>
                  <a:pt x="82210" y="90714"/>
                </a:lnTo>
                <a:cubicBezTo>
                  <a:pt x="82210" y="93549"/>
                  <a:pt x="83627" y="96207"/>
                  <a:pt x="86001" y="97801"/>
                </a:cubicBezTo>
                <a:lnTo>
                  <a:pt x="120019" y="120480"/>
                </a:lnTo>
                <a:cubicBezTo>
                  <a:pt x="123917" y="123102"/>
                  <a:pt x="129197" y="122039"/>
                  <a:pt x="131819" y="118106"/>
                </a:cubicBezTo>
                <a:cubicBezTo>
                  <a:pt x="134441" y="114172"/>
                  <a:pt x="133378" y="108928"/>
                  <a:pt x="129445" y="106306"/>
                </a:cubicBezTo>
                <a:lnTo>
                  <a:pt x="99219" y="86179"/>
                </a:lnTo>
                <a:lnTo>
                  <a:pt x="99219" y="42522"/>
                </a:lnTo>
                <a:cubicBezTo>
                  <a:pt x="99219" y="37809"/>
                  <a:pt x="95427" y="34018"/>
                  <a:pt x="90714" y="34018"/>
                </a:cubicBezTo>
                <a:cubicBezTo>
                  <a:pt x="86001" y="34018"/>
                  <a:pt x="82210" y="37809"/>
                  <a:pt x="82210" y="42522"/>
                </a:cubicBezTo>
                <a:close/>
              </a:path>
            </a:pathLst>
          </a:custGeom>
          <a:solidFill>
            <a:srgbClr val="8B0000"/>
          </a:solidFill>
        </p:spPr>
      </p:sp>
      <p:sp>
        <p:nvSpPr>
          <p:cNvPr id="31" name="Text 29"/>
          <p:cNvSpPr/>
          <p:nvPr/>
        </p:nvSpPr>
        <p:spPr>
          <a:xfrm>
            <a:off x="7066251" y="4306286"/>
            <a:ext cx="789214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30" b="1" dirty="0">
                <a:solidFill>
                  <a:srgbClr val="00000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Latency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730656" y="4632854"/>
            <a:ext cx="4726214" cy="53521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85" dirty="0">
                <a:solidFill>
                  <a:srgbClr val="364153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Represents the time required to complete one data access, directly affecting program responsiveness and real-time performance.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380867" y="5950657"/>
            <a:ext cx="11448053" cy="544286"/>
          </a:xfrm>
          <a:custGeom>
            <a:avLst/>
            <a:gdLst/>
            <a:ahLst/>
            <a:cxnLst/>
            <a:rect l="l" t="t" r="r" b="b"/>
            <a:pathLst>
              <a:path w="11448053" h="544286">
                <a:moveTo>
                  <a:pt x="36105" y="0"/>
                </a:moveTo>
                <a:lnTo>
                  <a:pt x="11375483" y="0"/>
                </a:lnTo>
                <a:cubicBezTo>
                  <a:pt x="11415562" y="0"/>
                  <a:pt x="11448053" y="32491"/>
                  <a:pt x="11448053" y="72570"/>
                </a:cubicBezTo>
                <a:lnTo>
                  <a:pt x="11448053" y="471716"/>
                </a:lnTo>
                <a:cubicBezTo>
                  <a:pt x="11448053" y="511795"/>
                  <a:pt x="11415562" y="544286"/>
                  <a:pt x="11375483" y="544286"/>
                </a:cubicBezTo>
                <a:lnTo>
                  <a:pt x="36105" y="544286"/>
                </a:lnTo>
                <a:cubicBezTo>
                  <a:pt x="16165" y="544286"/>
                  <a:pt x="0" y="528121"/>
                  <a:pt x="0" y="508181"/>
                </a:cubicBezTo>
                <a:lnTo>
                  <a:pt x="0" y="36105"/>
                </a:lnTo>
                <a:cubicBezTo>
                  <a:pt x="0" y="16165"/>
                  <a:pt x="16165" y="0"/>
                  <a:pt x="36105" y="0"/>
                </a:cubicBezTo>
                <a:close/>
              </a:path>
            </a:pathLst>
          </a:custGeom>
          <a:solidFill>
            <a:srgbClr val="8B0000">
              <a:alpha val="10196"/>
            </a:srgbClr>
          </a:solidFill>
        </p:spPr>
      </p:sp>
      <p:sp>
        <p:nvSpPr>
          <p:cNvPr id="34" name="Shape 32"/>
          <p:cNvSpPr/>
          <p:nvPr/>
        </p:nvSpPr>
        <p:spPr>
          <a:xfrm>
            <a:off x="380867" y="5950657"/>
            <a:ext cx="36105" cy="544286"/>
          </a:xfrm>
          <a:custGeom>
            <a:avLst/>
            <a:gdLst/>
            <a:ahLst/>
            <a:cxnLst/>
            <a:rect l="l" t="t" r="r" b="b"/>
            <a:pathLst>
              <a:path w="36105" h="544286">
                <a:moveTo>
                  <a:pt x="36105" y="0"/>
                </a:moveTo>
                <a:lnTo>
                  <a:pt x="36105" y="0"/>
                </a:lnTo>
                <a:lnTo>
                  <a:pt x="36105" y="544286"/>
                </a:lnTo>
                <a:lnTo>
                  <a:pt x="36105" y="544286"/>
                </a:lnTo>
                <a:cubicBezTo>
                  <a:pt x="16165" y="544286"/>
                  <a:pt x="0" y="528121"/>
                  <a:pt x="0" y="508181"/>
                </a:cubicBezTo>
                <a:lnTo>
                  <a:pt x="0" y="36105"/>
                </a:lnTo>
                <a:cubicBezTo>
                  <a:pt x="0" y="16165"/>
                  <a:pt x="16165" y="0"/>
                  <a:pt x="36105" y="0"/>
                </a:cubicBezTo>
                <a:close/>
              </a:path>
            </a:pathLst>
          </a:custGeom>
          <a:solidFill>
            <a:srgbClr val="8B0000"/>
          </a:solidFill>
        </p:spPr>
      </p:sp>
      <p:sp>
        <p:nvSpPr>
          <p:cNvPr id="35" name="Text 33"/>
          <p:cNvSpPr/>
          <p:nvPr/>
        </p:nvSpPr>
        <p:spPr>
          <a:xfrm>
            <a:off x="544046" y="6095783"/>
            <a:ext cx="11221357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85" b="1" dirty="0">
                <a:solidFill>
                  <a:srgbClr val="00000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Roofline Model</a:t>
            </a:r>
            <a:r>
              <a:rPr lang="en-US" sz="1285" dirty="0">
                <a:solidFill>
                  <a:srgbClr val="00000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 used to analyze both bottleneck types, helping determine whether a program is compute-bound or memory-bound</a:t>
            </a:r>
            <a:endParaRPr lang="en-US" sz="1600" dirty="0"/>
          </a:p>
        </p:txBody>
      </p:sp>
      <p:sp>
        <p:nvSpPr>
          <p:cNvPr id="36" name="灯片编号占位符 35"/>
          <p:cNvSpPr>
            <a:spLocks noGrp="1"/>
          </p:cNvSpPr>
          <p:nvPr>
            <p:ph type="sldNum" sz="quarter" idx="4294967295"/>
          </p:nvPr>
        </p:nvSpPr>
        <p:spPr>
          <a:xfrm>
            <a:off x="0" y="593725"/>
            <a:ext cx="419100" cy="365125"/>
          </a:xfrm>
        </p:spPr>
        <p:txBody>
          <a:bodyPr/>
          <a:lstStyle/>
          <a:p>
            <a:fld id="{B33F7469-D28B-482F-B1B6-3B8E7CF51519}" type="slidenum">
              <a:rPr lang="zh-CN" altLang="en-US" smtClean="0"/>
              <a:t>4</a:t>
            </a:fld>
            <a:endParaRPr lang="zh-CN" altLang="en-US" dirty="0"/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9202" y="619758"/>
            <a:ext cx="11601450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600" b="1" dirty="0">
                <a:solidFill>
                  <a:srgbClr val="00000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What is FLOPS?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80956" y="1153721"/>
            <a:ext cx="5543455" cy="1409700"/>
          </a:xfrm>
          <a:custGeom>
            <a:avLst/>
            <a:gdLst/>
            <a:ahLst/>
            <a:cxnLst/>
            <a:rect l="l" t="t" r="r" b="b"/>
            <a:pathLst>
              <a:path w="5543455" h="1409700">
                <a:moveTo>
                  <a:pt x="37910" y="0"/>
                </a:moveTo>
                <a:lnTo>
                  <a:pt x="5429157" y="0"/>
                </a:lnTo>
                <a:cubicBezTo>
                  <a:pt x="5492282" y="0"/>
                  <a:pt x="5543455" y="51173"/>
                  <a:pt x="5543455" y="114298"/>
                </a:cubicBezTo>
                <a:lnTo>
                  <a:pt x="5543455" y="1295402"/>
                </a:lnTo>
                <a:cubicBezTo>
                  <a:pt x="5543455" y="1358527"/>
                  <a:pt x="5492282" y="1409700"/>
                  <a:pt x="5429157" y="1409700"/>
                </a:cubicBezTo>
                <a:lnTo>
                  <a:pt x="37910" y="1409700"/>
                </a:lnTo>
                <a:cubicBezTo>
                  <a:pt x="16973" y="1409700"/>
                  <a:pt x="0" y="1392727"/>
                  <a:pt x="0" y="1371790"/>
                </a:cubicBezTo>
                <a:lnTo>
                  <a:pt x="0" y="37910"/>
                </a:lnTo>
                <a:cubicBezTo>
                  <a:pt x="0" y="16987"/>
                  <a:pt x="16987" y="0"/>
                  <a:pt x="37910" y="0"/>
                </a:cubicBezTo>
                <a:close/>
              </a:path>
            </a:pathLst>
          </a:custGeom>
          <a:solidFill>
            <a:srgbClr val="8B0000">
              <a:alpha val="10196"/>
            </a:srgbClr>
          </a:solidFill>
        </p:spPr>
      </p:sp>
      <p:sp>
        <p:nvSpPr>
          <p:cNvPr id="4" name="Shape 2"/>
          <p:cNvSpPr/>
          <p:nvPr/>
        </p:nvSpPr>
        <p:spPr>
          <a:xfrm>
            <a:off x="380956" y="1153721"/>
            <a:ext cx="37910" cy="1409700"/>
          </a:xfrm>
          <a:custGeom>
            <a:avLst/>
            <a:gdLst/>
            <a:ahLst/>
            <a:cxnLst/>
            <a:rect l="l" t="t" r="r" b="b"/>
            <a:pathLst>
              <a:path w="37910" h="1409700">
                <a:moveTo>
                  <a:pt x="37910" y="0"/>
                </a:moveTo>
                <a:lnTo>
                  <a:pt x="37910" y="0"/>
                </a:lnTo>
                <a:lnTo>
                  <a:pt x="37910" y="1409700"/>
                </a:lnTo>
                <a:lnTo>
                  <a:pt x="37910" y="1409700"/>
                </a:lnTo>
                <a:cubicBezTo>
                  <a:pt x="16973" y="1409700"/>
                  <a:pt x="0" y="1392727"/>
                  <a:pt x="0" y="1371790"/>
                </a:cubicBezTo>
                <a:lnTo>
                  <a:pt x="0" y="37910"/>
                </a:lnTo>
                <a:cubicBezTo>
                  <a:pt x="0" y="16987"/>
                  <a:pt x="16987" y="0"/>
                  <a:pt x="37910" y="0"/>
                </a:cubicBezTo>
                <a:close/>
              </a:path>
            </a:pathLst>
          </a:custGeom>
          <a:solidFill>
            <a:srgbClr val="8B0000"/>
          </a:solidFill>
        </p:spPr>
      </p:sp>
      <p:sp>
        <p:nvSpPr>
          <p:cNvPr id="5" name="Text 3"/>
          <p:cNvSpPr/>
          <p:nvPr/>
        </p:nvSpPr>
        <p:spPr>
          <a:xfrm>
            <a:off x="628484" y="1382294"/>
            <a:ext cx="5315072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00000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FLOPS = Floating Point Operations Per Second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28484" y="2067866"/>
            <a:ext cx="51625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36415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Represents how many floating-point operations can be executed per second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80956" y="2628483"/>
            <a:ext cx="56769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00000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Common Units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80956" y="3085556"/>
            <a:ext cx="5562600" cy="495300"/>
          </a:xfrm>
          <a:custGeom>
            <a:avLst/>
            <a:gdLst/>
            <a:ahLst/>
            <a:cxnLst/>
            <a:rect l="l" t="t" r="r" b="b"/>
            <a:pathLst>
              <a:path w="5562600" h="495300">
                <a:moveTo>
                  <a:pt x="76202" y="0"/>
                </a:moveTo>
                <a:lnTo>
                  <a:pt x="5486398" y="0"/>
                </a:lnTo>
                <a:cubicBezTo>
                  <a:pt x="5528483" y="0"/>
                  <a:pt x="5562600" y="34117"/>
                  <a:pt x="5562600" y="76202"/>
                </a:cubicBezTo>
                <a:lnTo>
                  <a:pt x="5562600" y="419098"/>
                </a:lnTo>
                <a:cubicBezTo>
                  <a:pt x="5562600" y="461183"/>
                  <a:pt x="5528483" y="495300"/>
                  <a:pt x="5486398" y="495300"/>
                </a:cubicBezTo>
                <a:lnTo>
                  <a:pt x="76202" y="495300"/>
                </a:lnTo>
                <a:cubicBezTo>
                  <a:pt x="34117" y="495300"/>
                  <a:pt x="0" y="461183"/>
                  <a:pt x="0" y="419098"/>
                </a:cubicBezTo>
                <a:lnTo>
                  <a:pt x="0" y="76202"/>
                </a:lnTo>
                <a:cubicBezTo>
                  <a:pt x="0" y="34117"/>
                  <a:pt x="34117" y="0"/>
                  <a:pt x="76202" y="0"/>
                </a:cubicBezTo>
                <a:close/>
              </a:path>
            </a:pathLst>
          </a:custGeom>
          <a:solidFill>
            <a:srgbClr val="F9FAFB"/>
          </a:solidFill>
        </p:spPr>
      </p:sp>
      <p:sp>
        <p:nvSpPr>
          <p:cNvPr id="9" name="Text 7"/>
          <p:cNvSpPr/>
          <p:nvPr/>
        </p:nvSpPr>
        <p:spPr>
          <a:xfrm>
            <a:off x="447580" y="3199805"/>
            <a:ext cx="8572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8B000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MFLOPS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09573" y="3199805"/>
            <a:ext cx="52387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00000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= 10⁶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80956" y="3695011"/>
            <a:ext cx="5562600" cy="495300"/>
          </a:xfrm>
          <a:custGeom>
            <a:avLst/>
            <a:gdLst/>
            <a:ahLst/>
            <a:cxnLst/>
            <a:rect l="l" t="t" r="r" b="b"/>
            <a:pathLst>
              <a:path w="5562600" h="495300">
                <a:moveTo>
                  <a:pt x="76202" y="0"/>
                </a:moveTo>
                <a:lnTo>
                  <a:pt x="5486398" y="0"/>
                </a:lnTo>
                <a:cubicBezTo>
                  <a:pt x="5528483" y="0"/>
                  <a:pt x="5562600" y="34117"/>
                  <a:pt x="5562600" y="76202"/>
                </a:cubicBezTo>
                <a:lnTo>
                  <a:pt x="5562600" y="419098"/>
                </a:lnTo>
                <a:cubicBezTo>
                  <a:pt x="5562600" y="461183"/>
                  <a:pt x="5528483" y="495300"/>
                  <a:pt x="5486398" y="495300"/>
                </a:cubicBezTo>
                <a:lnTo>
                  <a:pt x="76202" y="495300"/>
                </a:lnTo>
                <a:cubicBezTo>
                  <a:pt x="34117" y="495300"/>
                  <a:pt x="0" y="461183"/>
                  <a:pt x="0" y="419098"/>
                </a:cubicBezTo>
                <a:lnTo>
                  <a:pt x="0" y="76202"/>
                </a:lnTo>
                <a:cubicBezTo>
                  <a:pt x="0" y="34117"/>
                  <a:pt x="34117" y="0"/>
                  <a:pt x="76202" y="0"/>
                </a:cubicBezTo>
                <a:close/>
              </a:path>
            </a:pathLst>
          </a:custGeom>
          <a:solidFill>
            <a:srgbClr val="F9FAFB"/>
          </a:solidFill>
        </p:spPr>
      </p:sp>
      <p:sp>
        <p:nvSpPr>
          <p:cNvPr id="12" name="Text 10"/>
          <p:cNvSpPr/>
          <p:nvPr/>
        </p:nvSpPr>
        <p:spPr>
          <a:xfrm>
            <a:off x="447580" y="3809261"/>
            <a:ext cx="8572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8B000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GFLOPS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409573" y="3809261"/>
            <a:ext cx="52387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00000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= 10⁹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80956" y="4304465"/>
            <a:ext cx="5562600" cy="495300"/>
          </a:xfrm>
          <a:custGeom>
            <a:avLst/>
            <a:gdLst/>
            <a:ahLst/>
            <a:cxnLst/>
            <a:rect l="l" t="t" r="r" b="b"/>
            <a:pathLst>
              <a:path w="5562600" h="495300">
                <a:moveTo>
                  <a:pt x="76202" y="0"/>
                </a:moveTo>
                <a:lnTo>
                  <a:pt x="5486398" y="0"/>
                </a:lnTo>
                <a:cubicBezTo>
                  <a:pt x="5528483" y="0"/>
                  <a:pt x="5562600" y="34117"/>
                  <a:pt x="5562600" y="76202"/>
                </a:cubicBezTo>
                <a:lnTo>
                  <a:pt x="5562600" y="419098"/>
                </a:lnTo>
                <a:cubicBezTo>
                  <a:pt x="5562600" y="461183"/>
                  <a:pt x="5528483" y="495300"/>
                  <a:pt x="5486398" y="495300"/>
                </a:cubicBezTo>
                <a:lnTo>
                  <a:pt x="76202" y="495300"/>
                </a:lnTo>
                <a:cubicBezTo>
                  <a:pt x="34117" y="495300"/>
                  <a:pt x="0" y="461183"/>
                  <a:pt x="0" y="419098"/>
                </a:cubicBezTo>
                <a:lnTo>
                  <a:pt x="0" y="76202"/>
                </a:lnTo>
                <a:cubicBezTo>
                  <a:pt x="0" y="34117"/>
                  <a:pt x="34117" y="0"/>
                  <a:pt x="76202" y="0"/>
                </a:cubicBezTo>
                <a:close/>
              </a:path>
            </a:pathLst>
          </a:custGeom>
          <a:solidFill>
            <a:srgbClr val="F9FAFB"/>
          </a:solidFill>
        </p:spPr>
      </p:sp>
      <p:sp>
        <p:nvSpPr>
          <p:cNvPr id="15" name="Text 13"/>
          <p:cNvSpPr/>
          <p:nvPr/>
        </p:nvSpPr>
        <p:spPr>
          <a:xfrm>
            <a:off x="447580" y="4418714"/>
            <a:ext cx="8572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8B000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TFLOPS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409573" y="4418714"/>
            <a:ext cx="60007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00000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= 10¹²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80956" y="4913921"/>
            <a:ext cx="5562600" cy="495300"/>
          </a:xfrm>
          <a:custGeom>
            <a:avLst/>
            <a:gdLst/>
            <a:ahLst/>
            <a:cxnLst/>
            <a:rect l="l" t="t" r="r" b="b"/>
            <a:pathLst>
              <a:path w="5562600" h="495300">
                <a:moveTo>
                  <a:pt x="76202" y="0"/>
                </a:moveTo>
                <a:lnTo>
                  <a:pt x="5486398" y="0"/>
                </a:lnTo>
                <a:cubicBezTo>
                  <a:pt x="5528483" y="0"/>
                  <a:pt x="5562600" y="34117"/>
                  <a:pt x="5562600" y="76202"/>
                </a:cubicBezTo>
                <a:lnTo>
                  <a:pt x="5562600" y="419098"/>
                </a:lnTo>
                <a:cubicBezTo>
                  <a:pt x="5562600" y="461183"/>
                  <a:pt x="5528483" y="495300"/>
                  <a:pt x="5486398" y="495300"/>
                </a:cubicBezTo>
                <a:lnTo>
                  <a:pt x="76202" y="495300"/>
                </a:lnTo>
                <a:cubicBezTo>
                  <a:pt x="34117" y="495300"/>
                  <a:pt x="0" y="461183"/>
                  <a:pt x="0" y="419098"/>
                </a:cubicBezTo>
                <a:lnTo>
                  <a:pt x="0" y="76202"/>
                </a:lnTo>
                <a:cubicBezTo>
                  <a:pt x="0" y="34117"/>
                  <a:pt x="34117" y="0"/>
                  <a:pt x="76202" y="0"/>
                </a:cubicBezTo>
                <a:close/>
              </a:path>
            </a:pathLst>
          </a:custGeom>
          <a:solidFill>
            <a:srgbClr val="F9FAFB"/>
          </a:solidFill>
        </p:spPr>
      </p:sp>
      <p:sp>
        <p:nvSpPr>
          <p:cNvPr id="18" name="Text 16"/>
          <p:cNvSpPr/>
          <p:nvPr/>
        </p:nvSpPr>
        <p:spPr>
          <a:xfrm>
            <a:off x="447580" y="5028170"/>
            <a:ext cx="8572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8B000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PFLOPS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409573" y="5028170"/>
            <a:ext cx="60007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00000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= 10¹⁵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380956" y="5561507"/>
            <a:ext cx="5562600" cy="647700"/>
          </a:xfrm>
          <a:custGeom>
            <a:avLst/>
            <a:gdLst/>
            <a:ahLst/>
            <a:cxnLst/>
            <a:rect l="l" t="t" r="r" b="b"/>
            <a:pathLst>
              <a:path w="5562600" h="647700">
                <a:moveTo>
                  <a:pt x="114300" y="0"/>
                </a:moveTo>
                <a:lnTo>
                  <a:pt x="5448300" y="0"/>
                </a:lnTo>
                <a:cubicBezTo>
                  <a:pt x="5511426" y="0"/>
                  <a:pt x="5562600" y="51174"/>
                  <a:pt x="5562600" y="114300"/>
                </a:cubicBezTo>
                <a:lnTo>
                  <a:pt x="5562600" y="533400"/>
                </a:lnTo>
                <a:cubicBezTo>
                  <a:pt x="5562600" y="596526"/>
                  <a:pt x="5511426" y="647700"/>
                  <a:pt x="5448300" y="647700"/>
                </a:cubicBezTo>
                <a:lnTo>
                  <a:pt x="114300" y="647700"/>
                </a:lnTo>
                <a:cubicBezTo>
                  <a:pt x="51216" y="647700"/>
                  <a:pt x="0" y="596484"/>
                  <a:pt x="0" y="5334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8B0000"/>
          </a:solidFill>
        </p:spPr>
      </p:sp>
      <p:sp>
        <p:nvSpPr>
          <p:cNvPr id="21" name="Text 19"/>
          <p:cNvSpPr/>
          <p:nvPr/>
        </p:nvSpPr>
        <p:spPr>
          <a:xfrm>
            <a:off x="504575" y="5751949"/>
            <a:ext cx="5410367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FLOPS is the core metric for measuring compute capacity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248338" y="990485"/>
            <a:ext cx="5562600" cy="4838700"/>
          </a:xfrm>
          <a:custGeom>
            <a:avLst/>
            <a:gdLst/>
            <a:ahLst/>
            <a:cxnLst/>
            <a:rect l="l" t="t" r="r" b="b"/>
            <a:pathLst>
              <a:path w="5562600" h="4838700">
                <a:moveTo>
                  <a:pt x="76210" y="0"/>
                </a:moveTo>
                <a:lnTo>
                  <a:pt x="5486390" y="0"/>
                </a:lnTo>
                <a:cubicBezTo>
                  <a:pt x="5528480" y="0"/>
                  <a:pt x="5562600" y="34120"/>
                  <a:pt x="5562600" y="76210"/>
                </a:cubicBezTo>
                <a:lnTo>
                  <a:pt x="5562600" y="4762490"/>
                </a:lnTo>
                <a:cubicBezTo>
                  <a:pt x="5562600" y="4804580"/>
                  <a:pt x="5528480" y="4838700"/>
                  <a:pt x="5486390" y="4838700"/>
                </a:cubicBezTo>
                <a:lnTo>
                  <a:pt x="76210" y="4838700"/>
                </a:lnTo>
                <a:cubicBezTo>
                  <a:pt x="34120" y="4838700"/>
                  <a:pt x="0" y="4804580"/>
                  <a:pt x="0" y="4762490"/>
                </a:cubicBezTo>
                <a:lnTo>
                  <a:pt x="0" y="76210"/>
                </a:lnTo>
                <a:cubicBezTo>
                  <a:pt x="0" y="34148"/>
                  <a:pt x="34148" y="0"/>
                  <a:pt x="76210" y="0"/>
                </a:cubicBezTo>
                <a:close/>
              </a:path>
            </a:pathLst>
          </a:custGeom>
          <a:solidFill>
            <a:srgbClr val="F9FAFB"/>
          </a:solidFill>
        </p:spPr>
      </p:sp>
      <p:pic>
        <p:nvPicPr>
          <p:cNvPr id="23" name="Image 0" descr="https://kimi-web-img.moonshot.cn/img/cdn.thefpsreview.com/711cbe023b57a6944603aefd2a58fd0845854ab2.webp"/>
          <p:cNvPicPr>
            <a:picLocks noChangeAspect="1"/>
          </p:cNvPicPr>
          <p:nvPr/>
        </p:nvPicPr>
        <p:blipFill>
          <a:blip r:embed="rId4"/>
          <a:srcRect l="21" r="21"/>
          <a:stretch>
            <a:fillRect/>
          </a:stretch>
        </p:blipFill>
        <p:spPr>
          <a:xfrm>
            <a:off x="6400720" y="1400835"/>
            <a:ext cx="5257800" cy="4019550"/>
          </a:xfrm>
          <a:prstGeom prst="roundRect">
            <a:avLst>
              <a:gd name="adj" fmla="val 0"/>
            </a:avLst>
          </a:prstGeom>
        </p:spPr>
      </p:pic>
      <p:sp>
        <p:nvSpPr>
          <p:cNvPr id="24" name="Text 21"/>
          <p:cNvSpPr/>
          <p:nvPr/>
        </p:nvSpPr>
        <p:spPr>
          <a:xfrm>
            <a:off x="6210238" y="5905367"/>
            <a:ext cx="5638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6A7282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Image source: The FPS Review - GPU Performance Growth</a:t>
            </a:r>
            <a:endParaRPr lang="en-US" sz="1600" dirty="0"/>
          </a:p>
        </p:txBody>
      </p:sp>
      <p:sp>
        <p:nvSpPr>
          <p:cNvPr id="25" name="灯片编号占位符 24"/>
          <p:cNvSpPr>
            <a:spLocks noGrp="1"/>
          </p:cNvSpPr>
          <p:nvPr>
            <p:ph type="sldNum" sz="quarter" idx="4294967295"/>
          </p:nvPr>
        </p:nvSpPr>
        <p:spPr>
          <a:xfrm>
            <a:off x="0" y="593725"/>
            <a:ext cx="419100" cy="365125"/>
          </a:xfrm>
        </p:spPr>
        <p:txBody>
          <a:bodyPr/>
          <a:lstStyle/>
          <a:p>
            <a:fld id="{B33F7469-D28B-482F-B1B6-3B8E7CF51519}" type="slidenum">
              <a:rPr lang="zh-CN" altLang="en-US" smtClean="0"/>
              <a:t>5</a:t>
            </a:fld>
            <a:endParaRPr lang="zh-CN" altLang="en-US" dirty="0"/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76213" y="599243"/>
            <a:ext cx="11601450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600" b="1" dirty="0">
                <a:solidFill>
                  <a:srgbClr val="00000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FLOPS Calculation Example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80956" y="1189787"/>
            <a:ext cx="56769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8B000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Assumed CPU Specs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0956" y="1652712"/>
            <a:ext cx="5562600" cy="876300"/>
          </a:xfrm>
          <a:custGeom>
            <a:avLst/>
            <a:gdLst/>
            <a:ahLst/>
            <a:cxnLst/>
            <a:rect l="l" t="t" r="r" b="b"/>
            <a:pathLst>
              <a:path w="5562600" h="876300">
                <a:moveTo>
                  <a:pt x="76203" y="0"/>
                </a:moveTo>
                <a:lnTo>
                  <a:pt x="5486397" y="0"/>
                </a:lnTo>
                <a:cubicBezTo>
                  <a:pt x="5528483" y="0"/>
                  <a:pt x="5562600" y="34117"/>
                  <a:pt x="5562600" y="76203"/>
                </a:cubicBezTo>
                <a:lnTo>
                  <a:pt x="5562600" y="800097"/>
                </a:lnTo>
                <a:cubicBezTo>
                  <a:pt x="5562600" y="842183"/>
                  <a:pt x="5528483" y="876300"/>
                  <a:pt x="5486397" y="876300"/>
                </a:cubicBezTo>
                <a:lnTo>
                  <a:pt x="76203" y="876300"/>
                </a:lnTo>
                <a:cubicBezTo>
                  <a:pt x="34117" y="876300"/>
                  <a:pt x="0" y="842183"/>
                  <a:pt x="0" y="800097"/>
                </a:cubicBezTo>
                <a:lnTo>
                  <a:pt x="0" y="76203"/>
                </a:lnTo>
                <a:cubicBezTo>
                  <a:pt x="0" y="34145"/>
                  <a:pt x="34145" y="0"/>
                  <a:pt x="76203" y="0"/>
                </a:cubicBezTo>
                <a:close/>
              </a:path>
            </a:pathLst>
          </a:custGeom>
          <a:solidFill>
            <a:srgbClr val="F9FAFB"/>
          </a:solidFill>
        </p:spPr>
      </p:sp>
      <p:sp>
        <p:nvSpPr>
          <p:cNvPr id="5" name="Shape 3"/>
          <p:cNvSpPr/>
          <p:nvPr/>
        </p:nvSpPr>
        <p:spPr>
          <a:xfrm>
            <a:off x="561913" y="1976506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78581" y="10716"/>
                </a:moveTo>
                <a:cubicBezTo>
                  <a:pt x="78581" y="4777"/>
                  <a:pt x="73804" y="0"/>
                  <a:pt x="67866" y="0"/>
                </a:cubicBezTo>
                <a:cubicBezTo>
                  <a:pt x="61927" y="0"/>
                  <a:pt x="57150" y="4777"/>
                  <a:pt x="57150" y="10716"/>
                </a:cubicBezTo>
                <a:lnTo>
                  <a:pt x="57150" y="28575"/>
                </a:lnTo>
                <a:cubicBezTo>
                  <a:pt x="41389" y="28575"/>
                  <a:pt x="28575" y="41389"/>
                  <a:pt x="28575" y="57150"/>
                </a:cubicBezTo>
                <a:lnTo>
                  <a:pt x="10716" y="57150"/>
                </a:lnTo>
                <a:cubicBezTo>
                  <a:pt x="4777" y="57150"/>
                  <a:pt x="0" y="61927"/>
                  <a:pt x="0" y="67866"/>
                </a:cubicBezTo>
                <a:cubicBezTo>
                  <a:pt x="0" y="73804"/>
                  <a:pt x="4777" y="78581"/>
                  <a:pt x="10716" y="78581"/>
                </a:cubicBezTo>
                <a:lnTo>
                  <a:pt x="28575" y="78581"/>
                </a:lnTo>
                <a:lnTo>
                  <a:pt x="28575" y="103584"/>
                </a:lnTo>
                <a:lnTo>
                  <a:pt x="10716" y="103584"/>
                </a:lnTo>
                <a:cubicBezTo>
                  <a:pt x="4777" y="103584"/>
                  <a:pt x="0" y="108362"/>
                  <a:pt x="0" y="114300"/>
                </a:cubicBezTo>
                <a:cubicBezTo>
                  <a:pt x="0" y="120238"/>
                  <a:pt x="4777" y="125016"/>
                  <a:pt x="10716" y="125016"/>
                </a:cubicBezTo>
                <a:lnTo>
                  <a:pt x="28575" y="125016"/>
                </a:lnTo>
                <a:lnTo>
                  <a:pt x="28575" y="150019"/>
                </a:lnTo>
                <a:lnTo>
                  <a:pt x="10716" y="150019"/>
                </a:lnTo>
                <a:cubicBezTo>
                  <a:pt x="4777" y="150019"/>
                  <a:pt x="0" y="154796"/>
                  <a:pt x="0" y="160734"/>
                </a:cubicBezTo>
                <a:cubicBezTo>
                  <a:pt x="0" y="166673"/>
                  <a:pt x="4777" y="171450"/>
                  <a:pt x="10716" y="171450"/>
                </a:cubicBezTo>
                <a:lnTo>
                  <a:pt x="28575" y="171450"/>
                </a:lnTo>
                <a:cubicBezTo>
                  <a:pt x="28575" y="187211"/>
                  <a:pt x="41389" y="200025"/>
                  <a:pt x="57150" y="200025"/>
                </a:cubicBezTo>
                <a:lnTo>
                  <a:pt x="57150" y="217884"/>
                </a:lnTo>
                <a:cubicBezTo>
                  <a:pt x="57150" y="223823"/>
                  <a:pt x="61927" y="228600"/>
                  <a:pt x="67866" y="228600"/>
                </a:cubicBezTo>
                <a:cubicBezTo>
                  <a:pt x="73804" y="228600"/>
                  <a:pt x="78581" y="223823"/>
                  <a:pt x="78581" y="217884"/>
                </a:cubicBezTo>
                <a:lnTo>
                  <a:pt x="78581" y="200025"/>
                </a:lnTo>
                <a:lnTo>
                  <a:pt x="103584" y="200025"/>
                </a:lnTo>
                <a:lnTo>
                  <a:pt x="103584" y="217884"/>
                </a:lnTo>
                <a:cubicBezTo>
                  <a:pt x="103584" y="223823"/>
                  <a:pt x="108362" y="228600"/>
                  <a:pt x="114300" y="228600"/>
                </a:cubicBezTo>
                <a:cubicBezTo>
                  <a:pt x="120238" y="228600"/>
                  <a:pt x="125016" y="223823"/>
                  <a:pt x="125016" y="217884"/>
                </a:cubicBezTo>
                <a:lnTo>
                  <a:pt x="125016" y="200025"/>
                </a:lnTo>
                <a:lnTo>
                  <a:pt x="150019" y="200025"/>
                </a:lnTo>
                <a:lnTo>
                  <a:pt x="150019" y="217884"/>
                </a:lnTo>
                <a:cubicBezTo>
                  <a:pt x="150019" y="223823"/>
                  <a:pt x="154796" y="228600"/>
                  <a:pt x="160734" y="228600"/>
                </a:cubicBezTo>
                <a:cubicBezTo>
                  <a:pt x="166673" y="228600"/>
                  <a:pt x="171450" y="223823"/>
                  <a:pt x="171450" y="217884"/>
                </a:cubicBezTo>
                <a:lnTo>
                  <a:pt x="171450" y="200025"/>
                </a:lnTo>
                <a:cubicBezTo>
                  <a:pt x="187211" y="200025"/>
                  <a:pt x="200025" y="187211"/>
                  <a:pt x="200025" y="171450"/>
                </a:cubicBezTo>
                <a:lnTo>
                  <a:pt x="217884" y="171450"/>
                </a:lnTo>
                <a:cubicBezTo>
                  <a:pt x="223823" y="171450"/>
                  <a:pt x="228600" y="166673"/>
                  <a:pt x="228600" y="160734"/>
                </a:cubicBezTo>
                <a:cubicBezTo>
                  <a:pt x="228600" y="154796"/>
                  <a:pt x="223823" y="150019"/>
                  <a:pt x="217884" y="150019"/>
                </a:cubicBezTo>
                <a:lnTo>
                  <a:pt x="200025" y="150019"/>
                </a:lnTo>
                <a:lnTo>
                  <a:pt x="200025" y="125016"/>
                </a:lnTo>
                <a:lnTo>
                  <a:pt x="217884" y="125016"/>
                </a:lnTo>
                <a:cubicBezTo>
                  <a:pt x="223823" y="125016"/>
                  <a:pt x="228600" y="120238"/>
                  <a:pt x="228600" y="114300"/>
                </a:cubicBezTo>
                <a:cubicBezTo>
                  <a:pt x="228600" y="108362"/>
                  <a:pt x="223823" y="103584"/>
                  <a:pt x="217884" y="103584"/>
                </a:cubicBezTo>
                <a:lnTo>
                  <a:pt x="200025" y="103584"/>
                </a:lnTo>
                <a:lnTo>
                  <a:pt x="200025" y="78581"/>
                </a:lnTo>
                <a:lnTo>
                  <a:pt x="217884" y="78581"/>
                </a:lnTo>
                <a:cubicBezTo>
                  <a:pt x="223823" y="78581"/>
                  <a:pt x="228600" y="73804"/>
                  <a:pt x="228600" y="67866"/>
                </a:cubicBezTo>
                <a:cubicBezTo>
                  <a:pt x="228600" y="61927"/>
                  <a:pt x="223823" y="57150"/>
                  <a:pt x="217884" y="57150"/>
                </a:cubicBezTo>
                <a:lnTo>
                  <a:pt x="200025" y="57150"/>
                </a:lnTo>
                <a:cubicBezTo>
                  <a:pt x="200025" y="41389"/>
                  <a:pt x="187211" y="28575"/>
                  <a:pt x="171450" y="28575"/>
                </a:cubicBezTo>
                <a:lnTo>
                  <a:pt x="171450" y="10716"/>
                </a:lnTo>
                <a:cubicBezTo>
                  <a:pt x="171450" y="4777"/>
                  <a:pt x="166673" y="0"/>
                  <a:pt x="160734" y="0"/>
                </a:cubicBezTo>
                <a:cubicBezTo>
                  <a:pt x="154796" y="0"/>
                  <a:pt x="150019" y="4777"/>
                  <a:pt x="150019" y="10716"/>
                </a:cubicBezTo>
                <a:lnTo>
                  <a:pt x="150019" y="28575"/>
                </a:lnTo>
                <a:lnTo>
                  <a:pt x="125016" y="28575"/>
                </a:lnTo>
                <a:lnTo>
                  <a:pt x="125016" y="10716"/>
                </a:lnTo>
                <a:cubicBezTo>
                  <a:pt x="125016" y="4777"/>
                  <a:pt x="120238" y="0"/>
                  <a:pt x="114300" y="0"/>
                </a:cubicBezTo>
                <a:cubicBezTo>
                  <a:pt x="108362" y="0"/>
                  <a:pt x="103584" y="4777"/>
                  <a:pt x="103584" y="10716"/>
                </a:cubicBezTo>
                <a:lnTo>
                  <a:pt x="103584" y="28575"/>
                </a:lnTo>
                <a:lnTo>
                  <a:pt x="78581" y="28575"/>
                </a:lnTo>
                <a:lnTo>
                  <a:pt x="78581" y="10716"/>
                </a:lnTo>
                <a:close/>
                <a:moveTo>
                  <a:pt x="71438" y="57150"/>
                </a:moveTo>
                <a:lnTo>
                  <a:pt x="157163" y="57150"/>
                </a:lnTo>
                <a:cubicBezTo>
                  <a:pt x="165065" y="57150"/>
                  <a:pt x="171450" y="63535"/>
                  <a:pt x="171450" y="71438"/>
                </a:cubicBezTo>
                <a:lnTo>
                  <a:pt x="171450" y="157163"/>
                </a:lnTo>
                <a:cubicBezTo>
                  <a:pt x="171450" y="165065"/>
                  <a:pt x="165065" y="171450"/>
                  <a:pt x="157163" y="171450"/>
                </a:cubicBezTo>
                <a:lnTo>
                  <a:pt x="71438" y="171450"/>
                </a:lnTo>
                <a:cubicBezTo>
                  <a:pt x="63535" y="171450"/>
                  <a:pt x="57150" y="165065"/>
                  <a:pt x="57150" y="157163"/>
                </a:cubicBezTo>
                <a:lnTo>
                  <a:pt x="57150" y="71438"/>
                </a:lnTo>
                <a:cubicBezTo>
                  <a:pt x="57150" y="63535"/>
                  <a:pt x="63535" y="57150"/>
                  <a:pt x="71438" y="57150"/>
                </a:cubicBezTo>
                <a:close/>
                <a:moveTo>
                  <a:pt x="78581" y="78581"/>
                </a:moveTo>
                <a:lnTo>
                  <a:pt x="78581" y="150019"/>
                </a:lnTo>
                <a:lnTo>
                  <a:pt x="150019" y="150019"/>
                </a:lnTo>
                <a:lnTo>
                  <a:pt x="150019" y="78581"/>
                </a:lnTo>
                <a:lnTo>
                  <a:pt x="78581" y="78581"/>
                </a:lnTo>
                <a:close/>
              </a:path>
            </a:pathLst>
          </a:custGeom>
          <a:solidFill>
            <a:srgbClr val="8B0000"/>
          </a:solidFill>
        </p:spPr>
      </p:sp>
      <p:sp>
        <p:nvSpPr>
          <p:cNvPr id="6" name="Text 4"/>
          <p:cNvSpPr/>
          <p:nvPr/>
        </p:nvSpPr>
        <p:spPr>
          <a:xfrm>
            <a:off x="971455" y="1805093"/>
            <a:ext cx="1531422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4A5565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Clock Frequency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71455" y="2071800"/>
            <a:ext cx="8001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00000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3 GHz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80956" y="2681256"/>
            <a:ext cx="5562600" cy="876300"/>
          </a:xfrm>
          <a:custGeom>
            <a:avLst/>
            <a:gdLst/>
            <a:ahLst/>
            <a:cxnLst/>
            <a:rect l="l" t="t" r="r" b="b"/>
            <a:pathLst>
              <a:path w="5562600" h="876300">
                <a:moveTo>
                  <a:pt x="76203" y="0"/>
                </a:moveTo>
                <a:lnTo>
                  <a:pt x="5486397" y="0"/>
                </a:lnTo>
                <a:cubicBezTo>
                  <a:pt x="5528483" y="0"/>
                  <a:pt x="5562600" y="34117"/>
                  <a:pt x="5562600" y="76203"/>
                </a:cubicBezTo>
                <a:lnTo>
                  <a:pt x="5562600" y="800097"/>
                </a:lnTo>
                <a:cubicBezTo>
                  <a:pt x="5562600" y="842183"/>
                  <a:pt x="5528483" y="876300"/>
                  <a:pt x="5486397" y="876300"/>
                </a:cubicBezTo>
                <a:lnTo>
                  <a:pt x="76203" y="876300"/>
                </a:lnTo>
                <a:cubicBezTo>
                  <a:pt x="34117" y="876300"/>
                  <a:pt x="0" y="842183"/>
                  <a:pt x="0" y="800097"/>
                </a:cubicBezTo>
                <a:lnTo>
                  <a:pt x="0" y="76203"/>
                </a:lnTo>
                <a:cubicBezTo>
                  <a:pt x="0" y="34145"/>
                  <a:pt x="34145" y="0"/>
                  <a:pt x="76203" y="0"/>
                </a:cubicBezTo>
                <a:close/>
              </a:path>
            </a:pathLst>
          </a:custGeom>
          <a:solidFill>
            <a:srgbClr val="F9FAFB"/>
          </a:solidFill>
        </p:spPr>
      </p:sp>
      <p:sp>
        <p:nvSpPr>
          <p:cNvPr id="9" name="Shape 7"/>
          <p:cNvSpPr/>
          <p:nvPr/>
        </p:nvSpPr>
        <p:spPr>
          <a:xfrm>
            <a:off x="533338" y="3005048"/>
            <a:ext cx="285750" cy="228600"/>
          </a:xfrm>
          <a:custGeom>
            <a:avLst/>
            <a:gdLst/>
            <a:ahLst/>
            <a:cxnLst/>
            <a:rect l="l" t="t" r="r" b="b"/>
            <a:pathLst>
              <a:path w="285750" h="228600">
                <a:moveTo>
                  <a:pt x="185693" y="93985"/>
                </a:moveTo>
                <a:cubicBezTo>
                  <a:pt x="191140" y="92512"/>
                  <a:pt x="196855" y="95101"/>
                  <a:pt x="199311" y="100146"/>
                </a:cubicBezTo>
                <a:lnTo>
                  <a:pt x="207615" y="116934"/>
                </a:lnTo>
                <a:cubicBezTo>
                  <a:pt x="212214" y="117559"/>
                  <a:pt x="216724" y="118809"/>
                  <a:pt x="220965" y="120551"/>
                </a:cubicBezTo>
                <a:lnTo>
                  <a:pt x="236592" y="110148"/>
                </a:lnTo>
                <a:cubicBezTo>
                  <a:pt x="241280" y="107022"/>
                  <a:pt x="247486" y="107647"/>
                  <a:pt x="251460" y="111621"/>
                </a:cubicBezTo>
                <a:lnTo>
                  <a:pt x="260033" y="120194"/>
                </a:lnTo>
                <a:cubicBezTo>
                  <a:pt x="264006" y="124167"/>
                  <a:pt x="264631" y="130418"/>
                  <a:pt x="261506" y="135062"/>
                </a:cubicBezTo>
                <a:lnTo>
                  <a:pt x="251103" y="150644"/>
                </a:lnTo>
                <a:cubicBezTo>
                  <a:pt x="251951" y="152742"/>
                  <a:pt x="252710" y="154930"/>
                  <a:pt x="253335" y="157207"/>
                </a:cubicBezTo>
                <a:cubicBezTo>
                  <a:pt x="253960" y="159484"/>
                  <a:pt x="254362" y="161717"/>
                  <a:pt x="254675" y="163994"/>
                </a:cubicBezTo>
                <a:lnTo>
                  <a:pt x="271507" y="172298"/>
                </a:lnTo>
                <a:cubicBezTo>
                  <a:pt x="276552" y="174799"/>
                  <a:pt x="279142" y="180514"/>
                  <a:pt x="277669" y="185916"/>
                </a:cubicBezTo>
                <a:lnTo>
                  <a:pt x="274543" y="197614"/>
                </a:lnTo>
                <a:cubicBezTo>
                  <a:pt x="273070" y="203016"/>
                  <a:pt x="268025" y="206678"/>
                  <a:pt x="262399" y="206320"/>
                </a:cubicBezTo>
                <a:lnTo>
                  <a:pt x="243647" y="205115"/>
                </a:lnTo>
                <a:cubicBezTo>
                  <a:pt x="240834" y="208731"/>
                  <a:pt x="237574" y="212080"/>
                  <a:pt x="233869" y="214938"/>
                </a:cubicBezTo>
                <a:lnTo>
                  <a:pt x="235074" y="233645"/>
                </a:lnTo>
                <a:cubicBezTo>
                  <a:pt x="235431" y="239271"/>
                  <a:pt x="231770" y="244361"/>
                  <a:pt x="226368" y="245790"/>
                </a:cubicBezTo>
                <a:lnTo>
                  <a:pt x="214670" y="248915"/>
                </a:lnTo>
                <a:cubicBezTo>
                  <a:pt x="209223" y="250388"/>
                  <a:pt x="203552" y="247799"/>
                  <a:pt x="201052" y="242754"/>
                </a:cubicBezTo>
                <a:lnTo>
                  <a:pt x="192747" y="225966"/>
                </a:lnTo>
                <a:cubicBezTo>
                  <a:pt x="188149" y="225341"/>
                  <a:pt x="183639" y="224091"/>
                  <a:pt x="179397" y="222349"/>
                </a:cubicBezTo>
                <a:lnTo>
                  <a:pt x="163770" y="232752"/>
                </a:lnTo>
                <a:cubicBezTo>
                  <a:pt x="159082" y="235878"/>
                  <a:pt x="152876" y="235253"/>
                  <a:pt x="148903" y="231279"/>
                </a:cubicBezTo>
                <a:lnTo>
                  <a:pt x="140330" y="222706"/>
                </a:lnTo>
                <a:cubicBezTo>
                  <a:pt x="136356" y="218733"/>
                  <a:pt x="135731" y="212527"/>
                  <a:pt x="138857" y="207838"/>
                </a:cubicBezTo>
                <a:lnTo>
                  <a:pt x="149260" y="192212"/>
                </a:lnTo>
                <a:cubicBezTo>
                  <a:pt x="148411" y="190113"/>
                  <a:pt x="147652" y="187925"/>
                  <a:pt x="147027" y="185648"/>
                </a:cubicBezTo>
                <a:cubicBezTo>
                  <a:pt x="146402" y="183371"/>
                  <a:pt x="146000" y="181094"/>
                  <a:pt x="145688" y="178862"/>
                </a:cubicBezTo>
                <a:lnTo>
                  <a:pt x="128855" y="170557"/>
                </a:lnTo>
                <a:cubicBezTo>
                  <a:pt x="123810" y="168057"/>
                  <a:pt x="121265" y="162342"/>
                  <a:pt x="122694" y="156939"/>
                </a:cubicBezTo>
                <a:lnTo>
                  <a:pt x="125819" y="145241"/>
                </a:lnTo>
                <a:cubicBezTo>
                  <a:pt x="127293" y="139839"/>
                  <a:pt x="132338" y="136178"/>
                  <a:pt x="137964" y="136535"/>
                </a:cubicBezTo>
                <a:lnTo>
                  <a:pt x="156671" y="137740"/>
                </a:lnTo>
                <a:cubicBezTo>
                  <a:pt x="159484" y="134124"/>
                  <a:pt x="162744" y="130775"/>
                  <a:pt x="166449" y="127918"/>
                </a:cubicBezTo>
                <a:lnTo>
                  <a:pt x="165244" y="109255"/>
                </a:lnTo>
                <a:cubicBezTo>
                  <a:pt x="164887" y="103629"/>
                  <a:pt x="168548" y="98539"/>
                  <a:pt x="173950" y="97110"/>
                </a:cubicBezTo>
                <a:lnTo>
                  <a:pt x="185648" y="93985"/>
                </a:lnTo>
                <a:close/>
                <a:moveTo>
                  <a:pt x="200204" y="151805"/>
                </a:moveTo>
                <a:cubicBezTo>
                  <a:pt x="189361" y="151817"/>
                  <a:pt x="180568" y="160630"/>
                  <a:pt x="180581" y="171472"/>
                </a:cubicBezTo>
                <a:cubicBezTo>
                  <a:pt x="180593" y="182315"/>
                  <a:pt x="189406" y="191108"/>
                  <a:pt x="200248" y="191095"/>
                </a:cubicBezTo>
                <a:cubicBezTo>
                  <a:pt x="211091" y="191083"/>
                  <a:pt x="219884" y="182270"/>
                  <a:pt x="219871" y="171428"/>
                </a:cubicBezTo>
                <a:cubicBezTo>
                  <a:pt x="219859" y="160585"/>
                  <a:pt x="211046" y="151792"/>
                  <a:pt x="200204" y="151805"/>
                </a:cubicBezTo>
                <a:close/>
                <a:moveTo>
                  <a:pt x="100414" y="-20315"/>
                </a:moveTo>
                <a:lnTo>
                  <a:pt x="112112" y="-17190"/>
                </a:lnTo>
                <a:cubicBezTo>
                  <a:pt x="117515" y="-15716"/>
                  <a:pt x="121176" y="-10626"/>
                  <a:pt x="120819" y="-5045"/>
                </a:cubicBezTo>
                <a:lnTo>
                  <a:pt x="119613" y="13618"/>
                </a:lnTo>
                <a:cubicBezTo>
                  <a:pt x="123319" y="16475"/>
                  <a:pt x="126578" y="19779"/>
                  <a:pt x="129391" y="23440"/>
                </a:cubicBezTo>
                <a:lnTo>
                  <a:pt x="148144" y="22235"/>
                </a:lnTo>
                <a:cubicBezTo>
                  <a:pt x="153725" y="21878"/>
                  <a:pt x="158814" y="25539"/>
                  <a:pt x="160288" y="30941"/>
                </a:cubicBezTo>
                <a:lnTo>
                  <a:pt x="163413" y="42639"/>
                </a:lnTo>
                <a:cubicBezTo>
                  <a:pt x="164842" y="48042"/>
                  <a:pt x="162297" y="53757"/>
                  <a:pt x="157252" y="56257"/>
                </a:cubicBezTo>
                <a:lnTo>
                  <a:pt x="140419" y="64562"/>
                </a:lnTo>
                <a:cubicBezTo>
                  <a:pt x="140107" y="66839"/>
                  <a:pt x="139660" y="69116"/>
                  <a:pt x="139080" y="71348"/>
                </a:cubicBezTo>
                <a:cubicBezTo>
                  <a:pt x="138499" y="73581"/>
                  <a:pt x="137696" y="75813"/>
                  <a:pt x="136847" y="77912"/>
                </a:cubicBezTo>
                <a:lnTo>
                  <a:pt x="147251" y="93538"/>
                </a:lnTo>
                <a:cubicBezTo>
                  <a:pt x="150376" y="98227"/>
                  <a:pt x="149751" y="104433"/>
                  <a:pt x="145777" y="108406"/>
                </a:cubicBezTo>
                <a:lnTo>
                  <a:pt x="137205" y="116979"/>
                </a:lnTo>
                <a:cubicBezTo>
                  <a:pt x="133231" y="120953"/>
                  <a:pt x="127025" y="121578"/>
                  <a:pt x="122337" y="118452"/>
                </a:cubicBezTo>
                <a:lnTo>
                  <a:pt x="106710" y="108049"/>
                </a:lnTo>
                <a:cubicBezTo>
                  <a:pt x="102468" y="109791"/>
                  <a:pt x="97959" y="111041"/>
                  <a:pt x="93360" y="111666"/>
                </a:cubicBezTo>
                <a:lnTo>
                  <a:pt x="85055" y="128454"/>
                </a:lnTo>
                <a:cubicBezTo>
                  <a:pt x="82555" y="133499"/>
                  <a:pt x="76840" y="136044"/>
                  <a:pt x="71438" y="134615"/>
                </a:cubicBezTo>
                <a:lnTo>
                  <a:pt x="59740" y="131490"/>
                </a:lnTo>
                <a:cubicBezTo>
                  <a:pt x="54293" y="130016"/>
                  <a:pt x="50676" y="124926"/>
                  <a:pt x="51033" y="119345"/>
                </a:cubicBezTo>
                <a:lnTo>
                  <a:pt x="52239" y="100638"/>
                </a:lnTo>
                <a:cubicBezTo>
                  <a:pt x="48533" y="97780"/>
                  <a:pt x="45274" y="94476"/>
                  <a:pt x="42461" y="90815"/>
                </a:cubicBezTo>
                <a:lnTo>
                  <a:pt x="23708" y="92020"/>
                </a:lnTo>
                <a:cubicBezTo>
                  <a:pt x="18127" y="92378"/>
                  <a:pt x="13037" y="88716"/>
                  <a:pt x="11564" y="83314"/>
                </a:cubicBezTo>
                <a:lnTo>
                  <a:pt x="8439" y="71616"/>
                </a:lnTo>
                <a:cubicBezTo>
                  <a:pt x="7010" y="66214"/>
                  <a:pt x="9555" y="60499"/>
                  <a:pt x="14600" y="57998"/>
                </a:cubicBezTo>
                <a:lnTo>
                  <a:pt x="31433" y="49694"/>
                </a:lnTo>
                <a:cubicBezTo>
                  <a:pt x="31745" y="47417"/>
                  <a:pt x="32192" y="45184"/>
                  <a:pt x="32772" y="42907"/>
                </a:cubicBezTo>
                <a:cubicBezTo>
                  <a:pt x="33397" y="40630"/>
                  <a:pt x="34111" y="38442"/>
                  <a:pt x="35004" y="36344"/>
                </a:cubicBezTo>
                <a:lnTo>
                  <a:pt x="24601" y="20762"/>
                </a:lnTo>
                <a:cubicBezTo>
                  <a:pt x="21476" y="16073"/>
                  <a:pt x="22101" y="9867"/>
                  <a:pt x="26075" y="5894"/>
                </a:cubicBezTo>
                <a:lnTo>
                  <a:pt x="34647" y="-2679"/>
                </a:lnTo>
                <a:cubicBezTo>
                  <a:pt x="38621" y="-6653"/>
                  <a:pt x="44827" y="-7278"/>
                  <a:pt x="49515" y="-4152"/>
                </a:cubicBezTo>
                <a:lnTo>
                  <a:pt x="65142" y="6251"/>
                </a:lnTo>
                <a:cubicBezTo>
                  <a:pt x="69384" y="4509"/>
                  <a:pt x="73893" y="3259"/>
                  <a:pt x="78492" y="2634"/>
                </a:cubicBezTo>
                <a:lnTo>
                  <a:pt x="86797" y="-14154"/>
                </a:lnTo>
                <a:cubicBezTo>
                  <a:pt x="89297" y="-19199"/>
                  <a:pt x="94967" y="-21744"/>
                  <a:pt x="100414" y="-20315"/>
                </a:cubicBezTo>
                <a:close/>
                <a:moveTo>
                  <a:pt x="85904" y="37505"/>
                </a:moveTo>
                <a:cubicBezTo>
                  <a:pt x="75061" y="37505"/>
                  <a:pt x="66258" y="46307"/>
                  <a:pt x="66258" y="57150"/>
                </a:cubicBezTo>
                <a:cubicBezTo>
                  <a:pt x="66258" y="67993"/>
                  <a:pt x="75061" y="76795"/>
                  <a:pt x="85904" y="76795"/>
                </a:cubicBezTo>
                <a:cubicBezTo>
                  <a:pt x="96746" y="76795"/>
                  <a:pt x="105549" y="67993"/>
                  <a:pt x="105549" y="57150"/>
                </a:cubicBezTo>
                <a:cubicBezTo>
                  <a:pt x="105549" y="46307"/>
                  <a:pt x="96746" y="37505"/>
                  <a:pt x="85904" y="37505"/>
                </a:cubicBezTo>
                <a:close/>
              </a:path>
            </a:pathLst>
          </a:custGeom>
          <a:solidFill>
            <a:srgbClr val="8B0000"/>
          </a:solidFill>
        </p:spPr>
      </p:sp>
      <p:sp>
        <p:nvSpPr>
          <p:cNvPr id="10" name="Text 8"/>
          <p:cNvSpPr/>
          <p:nvPr/>
        </p:nvSpPr>
        <p:spPr>
          <a:xfrm>
            <a:off x="971455" y="2833637"/>
            <a:ext cx="1578314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4A5565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FLOPs per Cycle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71455" y="3100344"/>
            <a:ext cx="104775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00000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8 FLOP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80956" y="3657023"/>
            <a:ext cx="56769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8B000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Theoretical Performance Calculation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99911" y="4114098"/>
            <a:ext cx="5543455" cy="1562100"/>
          </a:xfrm>
          <a:custGeom>
            <a:avLst/>
            <a:gdLst/>
            <a:ahLst/>
            <a:cxnLst/>
            <a:rect l="l" t="t" r="r" b="b"/>
            <a:pathLst>
              <a:path w="5543455" h="1562100">
                <a:moveTo>
                  <a:pt x="37910" y="0"/>
                </a:moveTo>
                <a:lnTo>
                  <a:pt x="5429156" y="0"/>
                </a:lnTo>
                <a:cubicBezTo>
                  <a:pt x="5492282" y="0"/>
                  <a:pt x="5543455" y="51173"/>
                  <a:pt x="5543455" y="114299"/>
                </a:cubicBezTo>
                <a:lnTo>
                  <a:pt x="5543455" y="1447801"/>
                </a:lnTo>
                <a:cubicBezTo>
                  <a:pt x="5543455" y="1510927"/>
                  <a:pt x="5492282" y="1562100"/>
                  <a:pt x="5429156" y="1562100"/>
                </a:cubicBezTo>
                <a:lnTo>
                  <a:pt x="37910" y="1562100"/>
                </a:lnTo>
                <a:cubicBezTo>
                  <a:pt x="16973" y="1562100"/>
                  <a:pt x="0" y="1545127"/>
                  <a:pt x="0" y="1524190"/>
                </a:cubicBezTo>
                <a:lnTo>
                  <a:pt x="0" y="37910"/>
                </a:lnTo>
                <a:cubicBezTo>
                  <a:pt x="0" y="16987"/>
                  <a:pt x="16987" y="0"/>
                  <a:pt x="37910" y="0"/>
                </a:cubicBezTo>
                <a:close/>
              </a:path>
            </a:pathLst>
          </a:custGeom>
          <a:solidFill>
            <a:srgbClr val="8B0000">
              <a:alpha val="10196"/>
            </a:srgbClr>
          </a:solidFill>
        </p:spPr>
      </p:sp>
      <p:sp>
        <p:nvSpPr>
          <p:cNvPr id="14" name="Shape 12"/>
          <p:cNvSpPr/>
          <p:nvPr/>
        </p:nvSpPr>
        <p:spPr>
          <a:xfrm>
            <a:off x="399911" y="4114098"/>
            <a:ext cx="37910" cy="1562100"/>
          </a:xfrm>
          <a:custGeom>
            <a:avLst/>
            <a:gdLst/>
            <a:ahLst/>
            <a:cxnLst/>
            <a:rect l="l" t="t" r="r" b="b"/>
            <a:pathLst>
              <a:path w="37910" h="1562100">
                <a:moveTo>
                  <a:pt x="37910" y="0"/>
                </a:moveTo>
                <a:lnTo>
                  <a:pt x="37910" y="0"/>
                </a:lnTo>
                <a:lnTo>
                  <a:pt x="37910" y="1562100"/>
                </a:lnTo>
                <a:lnTo>
                  <a:pt x="37910" y="1562100"/>
                </a:lnTo>
                <a:cubicBezTo>
                  <a:pt x="16973" y="1562100"/>
                  <a:pt x="0" y="1545127"/>
                  <a:pt x="0" y="1524190"/>
                </a:cubicBezTo>
                <a:lnTo>
                  <a:pt x="0" y="37910"/>
                </a:lnTo>
                <a:cubicBezTo>
                  <a:pt x="0" y="16987"/>
                  <a:pt x="16987" y="0"/>
                  <a:pt x="37910" y="0"/>
                </a:cubicBezTo>
                <a:close/>
              </a:path>
            </a:pathLst>
          </a:custGeom>
          <a:solidFill>
            <a:srgbClr val="8B0000"/>
          </a:solidFill>
        </p:spPr>
      </p:sp>
      <p:sp>
        <p:nvSpPr>
          <p:cNvPr id="15" name="Text 13"/>
          <p:cNvSpPr/>
          <p:nvPr/>
        </p:nvSpPr>
        <p:spPr>
          <a:xfrm>
            <a:off x="647439" y="4342670"/>
            <a:ext cx="51625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00000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FLOPS = Frequency × FLOPs per Cycle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7439" y="4723626"/>
            <a:ext cx="51625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00000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= 3×10⁹ × 8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47439" y="5104581"/>
            <a:ext cx="5210175" cy="3429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8B000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= 24 GFLOPS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399911" y="5828361"/>
            <a:ext cx="5543455" cy="571500"/>
          </a:xfrm>
          <a:custGeom>
            <a:avLst/>
            <a:gdLst/>
            <a:ahLst/>
            <a:cxnLst/>
            <a:rect l="l" t="t" r="r" b="b"/>
            <a:pathLst>
              <a:path w="5543455" h="571500">
                <a:moveTo>
                  <a:pt x="37910" y="0"/>
                </a:moveTo>
                <a:lnTo>
                  <a:pt x="5467257" y="0"/>
                </a:lnTo>
                <a:cubicBezTo>
                  <a:pt x="5509340" y="0"/>
                  <a:pt x="5543455" y="34115"/>
                  <a:pt x="5543455" y="76198"/>
                </a:cubicBezTo>
                <a:lnTo>
                  <a:pt x="5543455" y="495302"/>
                </a:lnTo>
                <a:cubicBezTo>
                  <a:pt x="5543455" y="537385"/>
                  <a:pt x="5509340" y="571500"/>
                  <a:pt x="5467257" y="571500"/>
                </a:cubicBezTo>
                <a:lnTo>
                  <a:pt x="37910" y="571500"/>
                </a:lnTo>
                <a:cubicBezTo>
                  <a:pt x="16973" y="571500"/>
                  <a:pt x="0" y="554527"/>
                  <a:pt x="0" y="533590"/>
                </a:cubicBezTo>
                <a:lnTo>
                  <a:pt x="0" y="37910"/>
                </a:lnTo>
                <a:cubicBezTo>
                  <a:pt x="0" y="16987"/>
                  <a:pt x="16987" y="0"/>
                  <a:pt x="37910" y="0"/>
                </a:cubicBezTo>
                <a:close/>
              </a:path>
            </a:pathLst>
          </a:custGeom>
          <a:solidFill>
            <a:srgbClr val="FEFCE8"/>
          </a:solidFill>
        </p:spPr>
      </p:sp>
      <p:sp>
        <p:nvSpPr>
          <p:cNvPr id="19" name="Shape 17"/>
          <p:cNvSpPr/>
          <p:nvPr/>
        </p:nvSpPr>
        <p:spPr>
          <a:xfrm>
            <a:off x="399911" y="5828361"/>
            <a:ext cx="37910" cy="571500"/>
          </a:xfrm>
          <a:custGeom>
            <a:avLst/>
            <a:gdLst/>
            <a:ahLst/>
            <a:cxnLst/>
            <a:rect l="l" t="t" r="r" b="b"/>
            <a:pathLst>
              <a:path w="37910" h="571500">
                <a:moveTo>
                  <a:pt x="37910" y="0"/>
                </a:moveTo>
                <a:lnTo>
                  <a:pt x="37910" y="0"/>
                </a:lnTo>
                <a:lnTo>
                  <a:pt x="37910" y="571500"/>
                </a:lnTo>
                <a:lnTo>
                  <a:pt x="37910" y="571500"/>
                </a:lnTo>
                <a:cubicBezTo>
                  <a:pt x="16973" y="571500"/>
                  <a:pt x="0" y="554527"/>
                  <a:pt x="0" y="533590"/>
                </a:cubicBezTo>
                <a:lnTo>
                  <a:pt x="0" y="37910"/>
                </a:lnTo>
                <a:cubicBezTo>
                  <a:pt x="0" y="16987"/>
                  <a:pt x="16987" y="0"/>
                  <a:pt x="37910" y="0"/>
                </a:cubicBezTo>
                <a:close/>
              </a:path>
            </a:pathLst>
          </a:custGeom>
          <a:solidFill>
            <a:srgbClr val="F0B100"/>
          </a:solidFill>
        </p:spPr>
      </p:sp>
      <p:sp>
        <p:nvSpPr>
          <p:cNvPr id="20" name="Text 18"/>
          <p:cNvSpPr/>
          <p:nvPr/>
        </p:nvSpPr>
        <p:spPr>
          <a:xfrm>
            <a:off x="571248" y="5980742"/>
            <a:ext cx="53054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00000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Note:</a:t>
            </a:r>
            <a:r>
              <a:rPr lang="en-US" sz="1350" dirty="0">
                <a:solidFill>
                  <a:srgbClr val="00000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 This is the theoretical peak; actual performance is typically lower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248338" y="990484"/>
            <a:ext cx="5562600" cy="4838700"/>
          </a:xfrm>
          <a:custGeom>
            <a:avLst/>
            <a:gdLst/>
            <a:ahLst/>
            <a:cxnLst/>
            <a:rect l="l" t="t" r="r" b="b"/>
            <a:pathLst>
              <a:path w="5562600" h="4838700">
                <a:moveTo>
                  <a:pt x="76210" y="0"/>
                </a:moveTo>
                <a:lnTo>
                  <a:pt x="5486390" y="0"/>
                </a:lnTo>
                <a:cubicBezTo>
                  <a:pt x="5528480" y="0"/>
                  <a:pt x="5562600" y="34120"/>
                  <a:pt x="5562600" y="76210"/>
                </a:cubicBezTo>
                <a:lnTo>
                  <a:pt x="5562600" y="4762490"/>
                </a:lnTo>
                <a:cubicBezTo>
                  <a:pt x="5562600" y="4804580"/>
                  <a:pt x="5528480" y="4838700"/>
                  <a:pt x="5486390" y="4838700"/>
                </a:cubicBezTo>
                <a:lnTo>
                  <a:pt x="76210" y="4838700"/>
                </a:lnTo>
                <a:cubicBezTo>
                  <a:pt x="34120" y="4838700"/>
                  <a:pt x="0" y="4804580"/>
                  <a:pt x="0" y="4762490"/>
                </a:cubicBezTo>
                <a:lnTo>
                  <a:pt x="0" y="76210"/>
                </a:lnTo>
                <a:cubicBezTo>
                  <a:pt x="0" y="34148"/>
                  <a:pt x="34148" y="0"/>
                  <a:pt x="76210" y="0"/>
                </a:cubicBezTo>
                <a:close/>
              </a:path>
            </a:pathLst>
          </a:custGeom>
          <a:solidFill>
            <a:srgbClr val="F9FAFB"/>
          </a:solidFill>
        </p:spPr>
      </p:sp>
      <p:pic>
        <p:nvPicPr>
          <p:cNvPr id="22" name="Image 0" descr="https://kimi-web-img.moonshot.cn/img/www.cise.ufl.edu/1c28a8bf5c367a1caf6f9cc799c610a34a474494.gif"/>
          <p:cNvPicPr>
            <a:picLocks noChangeAspect="1"/>
          </p:cNvPicPr>
          <p:nvPr/>
        </p:nvPicPr>
        <p:blipFill>
          <a:blip r:embed="rId4"/>
          <a:srcRect l="59" r="59"/>
          <a:stretch>
            <a:fillRect/>
          </a:stretch>
        </p:blipFill>
        <p:spPr>
          <a:xfrm>
            <a:off x="6400720" y="1863830"/>
            <a:ext cx="5257800" cy="3095625"/>
          </a:xfrm>
          <a:prstGeom prst="roundRect">
            <a:avLst>
              <a:gd name="adj" fmla="val 0"/>
            </a:avLst>
          </a:prstGeom>
        </p:spPr>
      </p:pic>
      <p:sp>
        <p:nvSpPr>
          <p:cNvPr id="23" name="Text 20"/>
          <p:cNvSpPr/>
          <p:nvPr/>
        </p:nvSpPr>
        <p:spPr>
          <a:xfrm>
            <a:off x="6210238" y="5905365"/>
            <a:ext cx="5638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6A7282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Image source: University of Florida - CPU Pipeline</a:t>
            </a:r>
            <a:endParaRPr lang="en-US" sz="1600" dirty="0"/>
          </a:p>
        </p:txBody>
      </p:sp>
      <p:sp>
        <p:nvSpPr>
          <p:cNvPr id="24" name="灯片编号占位符 23"/>
          <p:cNvSpPr>
            <a:spLocks noGrp="1"/>
          </p:cNvSpPr>
          <p:nvPr>
            <p:ph type="sldNum" sz="quarter" idx="4294967295"/>
          </p:nvPr>
        </p:nvSpPr>
        <p:spPr>
          <a:xfrm>
            <a:off x="0" y="593725"/>
            <a:ext cx="419100" cy="365125"/>
          </a:xfrm>
        </p:spPr>
        <p:txBody>
          <a:bodyPr/>
          <a:lstStyle/>
          <a:p>
            <a:fld id="{B33F7469-D28B-482F-B1B6-3B8E7CF51519}" type="slidenum">
              <a:rPr lang="zh-CN" altLang="en-US" smtClean="0"/>
              <a:t>6</a:t>
            </a:fld>
            <a:endParaRPr lang="zh-CN" altLang="en-US" dirty="0"/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2406" y="638738"/>
            <a:ext cx="11685701" cy="3266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315" b="1" dirty="0">
                <a:solidFill>
                  <a:srgbClr val="00000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Actual FLOPS vs Theoretical FLOPS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334732" y="1162104"/>
            <a:ext cx="5626368" cy="4393285"/>
          </a:xfrm>
          <a:custGeom>
            <a:avLst/>
            <a:gdLst/>
            <a:ahLst/>
            <a:cxnLst/>
            <a:rect l="l" t="t" r="r" b="b"/>
            <a:pathLst>
              <a:path w="5626368" h="4393285">
                <a:moveTo>
                  <a:pt x="98014" y="0"/>
                </a:moveTo>
                <a:lnTo>
                  <a:pt x="5528353" y="0"/>
                </a:lnTo>
                <a:cubicBezTo>
                  <a:pt x="5582485" y="0"/>
                  <a:pt x="5626368" y="43882"/>
                  <a:pt x="5626368" y="98014"/>
                </a:cubicBezTo>
                <a:lnTo>
                  <a:pt x="5626368" y="4295271"/>
                </a:lnTo>
                <a:cubicBezTo>
                  <a:pt x="5626368" y="4349403"/>
                  <a:pt x="5582485" y="4393285"/>
                  <a:pt x="5528353" y="4393285"/>
                </a:cubicBezTo>
                <a:lnTo>
                  <a:pt x="98014" y="4393285"/>
                </a:lnTo>
                <a:cubicBezTo>
                  <a:pt x="43882" y="4393285"/>
                  <a:pt x="0" y="4349403"/>
                  <a:pt x="0" y="4295271"/>
                </a:cubicBezTo>
                <a:lnTo>
                  <a:pt x="0" y="98014"/>
                </a:lnTo>
                <a:cubicBezTo>
                  <a:pt x="0" y="43919"/>
                  <a:pt x="43919" y="0"/>
                  <a:pt x="98014" y="0"/>
                </a:cubicBezTo>
                <a:close/>
              </a:path>
            </a:pathLst>
          </a:custGeom>
          <a:gradFill flip="none" rotWithShape="1">
            <a:gsLst>
              <a:gs pos="0">
                <a:srgbClr val="F9FAFB"/>
              </a:gs>
              <a:gs pos="100000">
                <a:srgbClr val="FFFFFF"/>
              </a:gs>
            </a:gsLst>
            <a:lin ang="2700000" scaled="1"/>
          </a:gradFill>
          <a:ln w="25274">
            <a:solidFill>
              <a:srgbClr val="E5E7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38821" y="1366194"/>
            <a:ext cx="457302" cy="457302"/>
          </a:xfrm>
          <a:custGeom>
            <a:avLst/>
            <a:gdLst/>
            <a:ahLst/>
            <a:cxnLst/>
            <a:rect l="l" t="t" r="r" b="b"/>
            <a:pathLst>
              <a:path w="457302" h="457302">
                <a:moveTo>
                  <a:pt x="97995" y="0"/>
                </a:moveTo>
                <a:lnTo>
                  <a:pt x="359307" y="0"/>
                </a:lnTo>
                <a:cubicBezTo>
                  <a:pt x="413428" y="0"/>
                  <a:pt x="457302" y="43874"/>
                  <a:pt x="457302" y="97995"/>
                </a:cubicBezTo>
                <a:lnTo>
                  <a:pt x="457302" y="359307"/>
                </a:lnTo>
                <a:cubicBezTo>
                  <a:pt x="457302" y="413428"/>
                  <a:pt x="413428" y="457302"/>
                  <a:pt x="359307" y="457302"/>
                </a:cubicBezTo>
                <a:lnTo>
                  <a:pt x="97995" y="457302"/>
                </a:lnTo>
                <a:cubicBezTo>
                  <a:pt x="43874" y="457302"/>
                  <a:pt x="0" y="413428"/>
                  <a:pt x="0" y="359307"/>
                </a:cubicBezTo>
                <a:lnTo>
                  <a:pt x="0" y="97995"/>
                </a:lnTo>
                <a:cubicBezTo>
                  <a:pt x="0" y="43874"/>
                  <a:pt x="43874" y="0"/>
                  <a:pt x="97995" y="0"/>
                </a:cubicBezTo>
                <a:close/>
              </a:path>
            </a:pathLst>
          </a:custGeom>
          <a:solidFill>
            <a:srgbClr val="8B0000"/>
          </a:solidFill>
          <a:effectLst>
            <a:outerShdw blurRad="48997" dist="32664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69458" y="1496836"/>
            <a:ext cx="195987" cy="195987"/>
          </a:xfrm>
          <a:custGeom>
            <a:avLst/>
            <a:gdLst/>
            <a:ahLst/>
            <a:cxnLst/>
            <a:rect l="l" t="t" r="r" b="b"/>
            <a:pathLst>
              <a:path w="195987" h="195987">
                <a:moveTo>
                  <a:pt x="48997" y="122492"/>
                </a:moveTo>
                <a:lnTo>
                  <a:pt x="9378" y="122492"/>
                </a:lnTo>
                <a:cubicBezTo>
                  <a:pt x="-153" y="122492"/>
                  <a:pt x="-6010" y="112118"/>
                  <a:pt x="-1110" y="103926"/>
                </a:cubicBezTo>
                <a:lnTo>
                  <a:pt x="19139" y="70165"/>
                </a:lnTo>
                <a:cubicBezTo>
                  <a:pt x="22470" y="64614"/>
                  <a:pt x="28441" y="61246"/>
                  <a:pt x="34910" y="61246"/>
                </a:cubicBezTo>
                <a:lnTo>
                  <a:pt x="71275" y="61246"/>
                </a:lnTo>
                <a:cubicBezTo>
                  <a:pt x="100405" y="11905"/>
                  <a:pt x="143851" y="9417"/>
                  <a:pt x="172905" y="13665"/>
                </a:cubicBezTo>
                <a:cubicBezTo>
                  <a:pt x="177804" y="14393"/>
                  <a:pt x="181632" y="18221"/>
                  <a:pt x="182321" y="23082"/>
                </a:cubicBezTo>
                <a:cubicBezTo>
                  <a:pt x="186570" y="52135"/>
                  <a:pt x="184082" y="95582"/>
                  <a:pt x="134741" y="124712"/>
                </a:cubicBezTo>
                <a:lnTo>
                  <a:pt x="134741" y="161076"/>
                </a:lnTo>
                <a:cubicBezTo>
                  <a:pt x="134741" y="167546"/>
                  <a:pt x="131372" y="173517"/>
                  <a:pt x="125822" y="176847"/>
                </a:cubicBezTo>
                <a:lnTo>
                  <a:pt x="92060" y="197097"/>
                </a:lnTo>
                <a:cubicBezTo>
                  <a:pt x="83907" y="201996"/>
                  <a:pt x="73495" y="196101"/>
                  <a:pt x="73495" y="186608"/>
                </a:cubicBezTo>
                <a:lnTo>
                  <a:pt x="73495" y="146990"/>
                </a:lnTo>
                <a:cubicBezTo>
                  <a:pt x="73495" y="133478"/>
                  <a:pt x="62509" y="122492"/>
                  <a:pt x="48997" y="122492"/>
                </a:cubicBezTo>
                <a:lnTo>
                  <a:pt x="48958" y="122492"/>
                </a:lnTo>
                <a:close/>
                <a:moveTo>
                  <a:pt x="153115" y="61246"/>
                </a:moveTo>
                <a:cubicBezTo>
                  <a:pt x="153115" y="51105"/>
                  <a:pt x="144882" y="42872"/>
                  <a:pt x="134741" y="42872"/>
                </a:cubicBezTo>
                <a:cubicBezTo>
                  <a:pt x="124600" y="42872"/>
                  <a:pt x="116367" y="51105"/>
                  <a:pt x="116367" y="61246"/>
                </a:cubicBezTo>
                <a:cubicBezTo>
                  <a:pt x="116367" y="71387"/>
                  <a:pt x="124600" y="79620"/>
                  <a:pt x="134741" y="79620"/>
                </a:cubicBezTo>
                <a:cubicBezTo>
                  <a:pt x="144882" y="79620"/>
                  <a:pt x="153115" y="71387"/>
                  <a:pt x="153115" y="61246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6" name="Text 4"/>
          <p:cNvSpPr/>
          <p:nvPr/>
        </p:nvSpPr>
        <p:spPr>
          <a:xfrm>
            <a:off x="1126712" y="1464207"/>
            <a:ext cx="1921288" cy="26131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45" b="1" dirty="0">
                <a:solidFill>
                  <a:srgbClr val="00000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Theoretical Peak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38821" y="2557801"/>
            <a:ext cx="5218143" cy="2196683"/>
          </a:xfrm>
          <a:custGeom>
            <a:avLst/>
            <a:gdLst/>
            <a:ahLst/>
            <a:cxnLst/>
            <a:rect l="l" t="t" r="r" b="b"/>
            <a:pathLst>
              <a:path w="5218143" h="2196683">
                <a:moveTo>
                  <a:pt x="65329" y="0"/>
                </a:moveTo>
                <a:lnTo>
                  <a:pt x="5152814" y="0"/>
                </a:lnTo>
                <a:cubicBezTo>
                  <a:pt x="5188894" y="0"/>
                  <a:pt x="5218143" y="29249"/>
                  <a:pt x="5218143" y="65329"/>
                </a:cubicBezTo>
                <a:lnTo>
                  <a:pt x="5218143" y="2131354"/>
                </a:lnTo>
                <a:cubicBezTo>
                  <a:pt x="5218143" y="2167434"/>
                  <a:pt x="5188894" y="2196683"/>
                  <a:pt x="5152814" y="2196683"/>
                </a:cubicBezTo>
                <a:lnTo>
                  <a:pt x="65329" y="2196683"/>
                </a:lnTo>
                <a:cubicBezTo>
                  <a:pt x="29249" y="2196683"/>
                  <a:pt x="0" y="2167434"/>
                  <a:pt x="0" y="2131354"/>
                </a:cubicBezTo>
                <a:lnTo>
                  <a:pt x="0" y="65329"/>
                </a:lnTo>
                <a:cubicBezTo>
                  <a:pt x="0" y="29273"/>
                  <a:pt x="29273" y="0"/>
                  <a:pt x="65329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24498" dist="8166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00106" y="2848396"/>
            <a:ext cx="4777173" cy="53079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85" dirty="0">
                <a:solidFill>
                  <a:srgbClr val="00000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The theoretical peak is entirely determined by </a:t>
            </a:r>
            <a:r>
              <a:rPr lang="en-US" sz="1285" b="1" dirty="0">
                <a:solidFill>
                  <a:srgbClr val="8B000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hardware specifications</a:t>
            </a:r>
            <a:r>
              <a:rPr lang="en-US" sz="1285" dirty="0">
                <a:solidFill>
                  <a:srgbClr val="00000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, representing the maximum performance a processor can achieve under ideal conditions.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20521" y="3607810"/>
            <a:ext cx="163322" cy="163322"/>
          </a:xfrm>
          <a:custGeom>
            <a:avLst/>
            <a:gdLst/>
            <a:ahLst/>
            <a:cxnLst/>
            <a:rect l="l" t="t" r="r" b="b"/>
            <a:pathLst>
              <a:path w="163322" h="163322">
                <a:moveTo>
                  <a:pt x="81661" y="163322"/>
                </a:moveTo>
                <a:cubicBezTo>
                  <a:pt x="126731" y="163322"/>
                  <a:pt x="163322" y="126731"/>
                  <a:pt x="163322" y="81661"/>
                </a:cubicBezTo>
                <a:cubicBezTo>
                  <a:pt x="163322" y="36591"/>
                  <a:pt x="126731" y="0"/>
                  <a:pt x="81661" y="0"/>
                </a:cubicBezTo>
                <a:cubicBezTo>
                  <a:pt x="36591" y="0"/>
                  <a:pt x="0" y="36591"/>
                  <a:pt x="0" y="81661"/>
                </a:cubicBezTo>
                <a:cubicBezTo>
                  <a:pt x="0" y="126731"/>
                  <a:pt x="36591" y="163322"/>
                  <a:pt x="81661" y="163322"/>
                </a:cubicBezTo>
                <a:close/>
                <a:moveTo>
                  <a:pt x="108584" y="67849"/>
                </a:moveTo>
                <a:lnTo>
                  <a:pt x="83065" y="108679"/>
                </a:lnTo>
                <a:cubicBezTo>
                  <a:pt x="81725" y="110817"/>
                  <a:pt x="79428" y="112156"/>
                  <a:pt x="76908" y="112284"/>
                </a:cubicBezTo>
                <a:cubicBezTo>
                  <a:pt x="74388" y="112412"/>
                  <a:pt x="71964" y="111263"/>
                  <a:pt x="70465" y="109222"/>
                </a:cubicBezTo>
                <a:lnTo>
                  <a:pt x="55153" y="88806"/>
                </a:lnTo>
                <a:cubicBezTo>
                  <a:pt x="52601" y="85425"/>
                  <a:pt x="53303" y="80640"/>
                  <a:pt x="56684" y="78088"/>
                </a:cubicBezTo>
                <a:cubicBezTo>
                  <a:pt x="60066" y="75537"/>
                  <a:pt x="64850" y="76238"/>
                  <a:pt x="67402" y="79620"/>
                </a:cubicBezTo>
                <a:lnTo>
                  <a:pt x="76015" y="91103"/>
                </a:lnTo>
                <a:lnTo>
                  <a:pt x="95601" y="59747"/>
                </a:lnTo>
                <a:cubicBezTo>
                  <a:pt x="97834" y="56174"/>
                  <a:pt x="102555" y="55057"/>
                  <a:pt x="106159" y="57322"/>
                </a:cubicBezTo>
                <a:cubicBezTo>
                  <a:pt x="109764" y="59587"/>
                  <a:pt x="110849" y="64276"/>
                  <a:pt x="108584" y="67881"/>
                </a:cubicBezTo>
                <a:close/>
              </a:path>
            </a:pathLst>
          </a:custGeom>
          <a:solidFill>
            <a:srgbClr val="8B0000"/>
          </a:solidFill>
        </p:spPr>
      </p:sp>
      <p:sp>
        <p:nvSpPr>
          <p:cNvPr id="10" name="Text 8"/>
          <p:cNvSpPr/>
          <p:nvPr/>
        </p:nvSpPr>
        <p:spPr>
          <a:xfrm>
            <a:off x="1102208" y="3575182"/>
            <a:ext cx="2519889" cy="2612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5" dirty="0">
                <a:solidFill>
                  <a:srgbClr val="364153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Based on CPU/GPU core count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20521" y="3967109"/>
            <a:ext cx="163322" cy="163322"/>
          </a:xfrm>
          <a:custGeom>
            <a:avLst/>
            <a:gdLst/>
            <a:ahLst/>
            <a:cxnLst/>
            <a:rect l="l" t="t" r="r" b="b"/>
            <a:pathLst>
              <a:path w="163322" h="163322">
                <a:moveTo>
                  <a:pt x="81661" y="163322"/>
                </a:moveTo>
                <a:cubicBezTo>
                  <a:pt x="126731" y="163322"/>
                  <a:pt x="163322" y="126731"/>
                  <a:pt x="163322" y="81661"/>
                </a:cubicBezTo>
                <a:cubicBezTo>
                  <a:pt x="163322" y="36591"/>
                  <a:pt x="126731" y="0"/>
                  <a:pt x="81661" y="0"/>
                </a:cubicBezTo>
                <a:cubicBezTo>
                  <a:pt x="36591" y="0"/>
                  <a:pt x="0" y="36591"/>
                  <a:pt x="0" y="81661"/>
                </a:cubicBezTo>
                <a:cubicBezTo>
                  <a:pt x="0" y="126731"/>
                  <a:pt x="36591" y="163322"/>
                  <a:pt x="81661" y="163322"/>
                </a:cubicBezTo>
                <a:close/>
                <a:moveTo>
                  <a:pt x="108584" y="67849"/>
                </a:moveTo>
                <a:lnTo>
                  <a:pt x="83065" y="108679"/>
                </a:lnTo>
                <a:cubicBezTo>
                  <a:pt x="81725" y="110817"/>
                  <a:pt x="79428" y="112156"/>
                  <a:pt x="76908" y="112284"/>
                </a:cubicBezTo>
                <a:cubicBezTo>
                  <a:pt x="74388" y="112412"/>
                  <a:pt x="71964" y="111263"/>
                  <a:pt x="70465" y="109222"/>
                </a:cubicBezTo>
                <a:lnTo>
                  <a:pt x="55153" y="88806"/>
                </a:lnTo>
                <a:cubicBezTo>
                  <a:pt x="52601" y="85425"/>
                  <a:pt x="53303" y="80640"/>
                  <a:pt x="56684" y="78088"/>
                </a:cubicBezTo>
                <a:cubicBezTo>
                  <a:pt x="60066" y="75537"/>
                  <a:pt x="64850" y="76238"/>
                  <a:pt x="67402" y="79620"/>
                </a:cubicBezTo>
                <a:lnTo>
                  <a:pt x="76015" y="91103"/>
                </a:lnTo>
                <a:lnTo>
                  <a:pt x="95601" y="59747"/>
                </a:lnTo>
                <a:cubicBezTo>
                  <a:pt x="97834" y="56174"/>
                  <a:pt x="102555" y="55057"/>
                  <a:pt x="106159" y="57322"/>
                </a:cubicBezTo>
                <a:cubicBezTo>
                  <a:pt x="109764" y="59587"/>
                  <a:pt x="110849" y="64276"/>
                  <a:pt x="108584" y="67881"/>
                </a:cubicBezTo>
                <a:close/>
              </a:path>
            </a:pathLst>
          </a:custGeom>
          <a:solidFill>
            <a:srgbClr val="8B0000"/>
          </a:solidFill>
        </p:spPr>
      </p:sp>
      <p:sp>
        <p:nvSpPr>
          <p:cNvPr id="12" name="Text 10"/>
          <p:cNvSpPr/>
          <p:nvPr/>
        </p:nvSpPr>
        <p:spPr>
          <a:xfrm>
            <a:off x="1102209" y="3934481"/>
            <a:ext cx="1998545" cy="29661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5" dirty="0">
                <a:solidFill>
                  <a:srgbClr val="364153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Based on clock frequency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20521" y="4326408"/>
            <a:ext cx="163322" cy="163322"/>
          </a:xfrm>
          <a:custGeom>
            <a:avLst/>
            <a:gdLst/>
            <a:ahLst/>
            <a:cxnLst/>
            <a:rect l="l" t="t" r="r" b="b"/>
            <a:pathLst>
              <a:path w="163322" h="163322">
                <a:moveTo>
                  <a:pt x="81661" y="163322"/>
                </a:moveTo>
                <a:cubicBezTo>
                  <a:pt x="126731" y="163322"/>
                  <a:pt x="163322" y="126731"/>
                  <a:pt x="163322" y="81661"/>
                </a:cubicBezTo>
                <a:cubicBezTo>
                  <a:pt x="163322" y="36591"/>
                  <a:pt x="126731" y="0"/>
                  <a:pt x="81661" y="0"/>
                </a:cubicBezTo>
                <a:cubicBezTo>
                  <a:pt x="36591" y="0"/>
                  <a:pt x="0" y="36591"/>
                  <a:pt x="0" y="81661"/>
                </a:cubicBezTo>
                <a:cubicBezTo>
                  <a:pt x="0" y="126731"/>
                  <a:pt x="36591" y="163322"/>
                  <a:pt x="81661" y="163322"/>
                </a:cubicBezTo>
                <a:close/>
                <a:moveTo>
                  <a:pt x="108584" y="67849"/>
                </a:moveTo>
                <a:lnTo>
                  <a:pt x="83065" y="108679"/>
                </a:lnTo>
                <a:cubicBezTo>
                  <a:pt x="81725" y="110817"/>
                  <a:pt x="79428" y="112156"/>
                  <a:pt x="76908" y="112284"/>
                </a:cubicBezTo>
                <a:cubicBezTo>
                  <a:pt x="74388" y="112412"/>
                  <a:pt x="71964" y="111263"/>
                  <a:pt x="70465" y="109222"/>
                </a:cubicBezTo>
                <a:lnTo>
                  <a:pt x="55153" y="88806"/>
                </a:lnTo>
                <a:cubicBezTo>
                  <a:pt x="52601" y="85425"/>
                  <a:pt x="53303" y="80640"/>
                  <a:pt x="56684" y="78088"/>
                </a:cubicBezTo>
                <a:cubicBezTo>
                  <a:pt x="60066" y="75537"/>
                  <a:pt x="64850" y="76238"/>
                  <a:pt x="67402" y="79620"/>
                </a:cubicBezTo>
                <a:lnTo>
                  <a:pt x="76015" y="91103"/>
                </a:lnTo>
                <a:lnTo>
                  <a:pt x="95601" y="59747"/>
                </a:lnTo>
                <a:cubicBezTo>
                  <a:pt x="97834" y="56174"/>
                  <a:pt x="102555" y="55057"/>
                  <a:pt x="106159" y="57322"/>
                </a:cubicBezTo>
                <a:cubicBezTo>
                  <a:pt x="109764" y="59587"/>
                  <a:pt x="110849" y="64276"/>
                  <a:pt x="108584" y="67881"/>
                </a:cubicBezTo>
                <a:close/>
              </a:path>
            </a:pathLst>
          </a:custGeom>
          <a:solidFill>
            <a:srgbClr val="8B0000"/>
          </a:solidFill>
        </p:spPr>
      </p:sp>
      <p:sp>
        <p:nvSpPr>
          <p:cNvPr id="14" name="Text 12"/>
          <p:cNvSpPr/>
          <p:nvPr/>
        </p:nvSpPr>
        <p:spPr>
          <a:xfrm>
            <a:off x="1102209" y="4293780"/>
            <a:ext cx="3399453" cy="29661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5" dirty="0">
                <a:solidFill>
                  <a:srgbClr val="364153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Based on instructions per cycle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236116" y="1162104"/>
            <a:ext cx="5626368" cy="4393285"/>
          </a:xfrm>
          <a:custGeom>
            <a:avLst/>
            <a:gdLst/>
            <a:ahLst/>
            <a:cxnLst/>
            <a:rect l="l" t="t" r="r" b="b"/>
            <a:pathLst>
              <a:path w="5626368" h="4393285">
                <a:moveTo>
                  <a:pt x="98014" y="0"/>
                </a:moveTo>
                <a:lnTo>
                  <a:pt x="5528353" y="0"/>
                </a:lnTo>
                <a:cubicBezTo>
                  <a:pt x="5582485" y="0"/>
                  <a:pt x="5626368" y="43882"/>
                  <a:pt x="5626368" y="98014"/>
                </a:cubicBezTo>
                <a:lnTo>
                  <a:pt x="5626368" y="4295271"/>
                </a:lnTo>
                <a:cubicBezTo>
                  <a:pt x="5626368" y="4349403"/>
                  <a:pt x="5582485" y="4393285"/>
                  <a:pt x="5528353" y="4393285"/>
                </a:cubicBezTo>
                <a:lnTo>
                  <a:pt x="98014" y="4393285"/>
                </a:lnTo>
                <a:cubicBezTo>
                  <a:pt x="43882" y="4393285"/>
                  <a:pt x="0" y="4349403"/>
                  <a:pt x="0" y="4295271"/>
                </a:cubicBezTo>
                <a:lnTo>
                  <a:pt x="0" y="98014"/>
                </a:lnTo>
                <a:cubicBezTo>
                  <a:pt x="0" y="43919"/>
                  <a:pt x="43919" y="0"/>
                  <a:pt x="98014" y="0"/>
                </a:cubicBezTo>
                <a:close/>
              </a:path>
            </a:pathLst>
          </a:custGeom>
          <a:gradFill flip="none" rotWithShape="1">
            <a:gsLst>
              <a:gs pos="0">
                <a:srgbClr val="F9FAFB"/>
              </a:gs>
              <a:gs pos="100000">
                <a:srgbClr val="FFFFFF"/>
              </a:gs>
            </a:gsLst>
            <a:lin ang="2700000" scaled="1"/>
          </a:gradFill>
          <a:ln w="25274">
            <a:solidFill>
              <a:srgbClr val="E5E7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40206" y="1366194"/>
            <a:ext cx="457302" cy="457302"/>
          </a:xfrm>
          <a:custGeom>
            <a:avLst/>
            <a:gdLst/>
            <a:ahLst/>
            <a:cxnLst/>
            <a:rect l="l" t="t" r="r" b="b"/>
            <a:pathLst>
              <a:path w="457302" h="457302">
                <a:moveTo>
                  <a:pt x="97995" y="0"/>
                </a:moveTo>
                <a:lnTo>
                  <a:pt x="359307" y="0"/>
                </a:lnTo>
                <a:cubicBezTo>
                  <a:pt x="413428" y="0"/>
                  <a:pt x="457302" y="43874"/>
                  <a:pt x="457302" y="97995"/>
                </a:cubicBezTo>
                <a:lnTo>
                  <a:pt x="457302" y="359307"/>
                </a:lnTo>
                <a:cubicBezTo>
                  <a:pt x="457302" y="413428"/>
                  <a:pt x="413428" y="457302"/>
                  <a:pt x="359307" y="457302"/>
                </a:cubicBezTo>
                <a:lnTo>
                  <a:pt x="97995" y="457302"/>
                </a:lnTo>
                <a:cubicBezTo>
                  <a:pt x="43874" y="457302"/>
                  <a:pt x="0" y="413428"/>
                  <a:pt x="0" y="359307"/>
                </a:cubicBezTo>
                <a:lnTo>
                  <a:pt x="0" y="97995"/>
                </a:lnTo>
                <a:cubicBezTo>
                  <a:pt x="0" y="43874"/>
                  <a:pt x="43874" y="0"/>
                  <a:pt x="97995" y="0"/>
                </a:cubicBezTo>
                <a:close/>
              </a:path>
            </a:pathLst>
          </a:custGeom>
          <a:solidFill>
            <a:srgbClr val="8B0000"/>
          </a:solidFill>
          <a:effectLst>
            <a:outerShdw blurRad="48997" dist="32664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570843" y="1496836"/>
            <a:ext cx="195987" cy="195987"/>
          </a:xfrm>
          <a:custGeom>
            <a:avLst/>
            <a:gdLst/>
            <a:ahLst/>
            <a:cxnLst/>
            <a:rect l="l" t="t" r="r" b="b"/>
            <a:pathLst>
              <a:path w="195987" h="195987">
                <a:moveTo>
                  <a:pt x="24498" y="24498"/>
                </a:moveTo>
                <a:cubicBezTo>
                  <a:pt x="24498" y="17723"/>
                  <a:pt x="19024" y="12249"/>
                  <a:pt x="12249" y="12249"/>
                </a:cubicBezTo>
                <a:cubicBezTo>
                  <a:pt x="5474" y="12249"/>
                  <a:pt x="0" y="17723"/>
                  <a:pt x="0" y="24498"/>
                </a:cubicBezTo>
                <a:lnTo>
                  <a:pt x="0" y="153115"/>
                </a:lnTo>
                <a:cubicBezTo>
                  <a:pt x="0" y="170034"/>
                  <a:pt x="13704" y="183737"/>
                  <a:pt x="30623" y="183737"/>
                </a:cubicBezTo>
                <a:lnTo>
                  <a:pt x="183737" y="183737"/>
                </a:lnTo>
                <a:cubicBezTo>
                  <a:pt x="190513" y="183737"/>
                  <a:pt x="195987" y="178264"/>
                  <a:pt x="195987" y="171488"/>
                </a:cubicBezTo>
                <a:cubicBezTo>
                  <a:pt x="195987" y="164713"/>
                  <a:pt x="190513" y="159239"/>
                  <a:pt x="183737" y="159239"/>
                </a:cubicBezTo>
                <a:lnTo>
                  <a:pt x="30623" y="159239"/>
                </a:lnTo>
                <a:cubicBezTo>
                  <a:pt x="27254" y="159239"/>
                  <a:pt x="24498" y="156483"/>
                  <a:pt x="24498" y="153115"/>
                </a:cubicBezTo>
                <a:lnTo>
                  <a:pt x="24498" y="24498"/>
                </a:lnTo>
                <a:close/>
                <a:moveTo>
                  <a:pt x="180139" y="57648"/>
                </a:moveTo>
                <a:cubicBezTo>
                  <a:pt x="184924" y="52863"/>
                  <a:pt x="184924" y="45092"/>
                  <a:pt x="180139" y="40307"/>
                </a:cubicBezTo>
                <a:cubicBezTo>
                  <a:pt x="175354" y="35523"/>
                  <a:pt x="167584" y="35523"/>
                  <a:pt x="162799" y="40307"/>
                </a:cubicBezTo>
                <a:lnTo>
                  <a:pt x="122492" y="80653"/>
                </a:lnTo>
                <a:lnTo>
                  <a:pt x="100520" y="58719"/>
                </a:lnTo>
                <a:cubicBezTo>
                  <a:pt x="95735" y="53935"/>
                  <a:pt x="87964" y="53935"/>
                  <a:pt x="83179" y="58719"/>
                </a:cubicBezTo>
                <a:lnTo>
                  <a:pt x="46432" y="95467"/>
                </a:lnTo>
                <a:cubicBezTo>
                  <a:pt x="41647" y="100252"/>
                  <a:pt x="41647" y="108022"/>
                  <a:pt x="46432" y="112807"/>
                </a:cubicBezTo>
                <a:cubicBezTo>
                  <a:pt x="51217" y="117592"/>
                  <a:pt x="58987" y="117592"/>
                  <a:pt x="63772" y="112807"/>
                </a:cubicBezTo>
                <a:lnTo>
                  <a:pt x="91869" y="84711"/>
                </a:lnTo>
                <a:lnTo>
                  <a:pt x="113841" y="106683"/>
                </a:lnTo>
                <a:cubicBezTo>
                  <a:pt x="118625" y="111467"/>
                  <a:pt x="126396" y="111467"/>
                  <a:pt x="131181" y="106683"/>
                </a:cubicBezTo>
                <a:lnTo>
                  <a:pt x="180178" y="57686"/>
                </a:lnTo>
                <a:close/>
              </a:path>
            </a:pathLst>
          </a:custGeom>
          <a:solidFill>
            <a:srgbClr val="FFFFFF"/>
          </a:solidFill>
        </p:spPr>
      </p:sp>
      <p:sp>
        <p:nvSpPr>
          <p:cNvPr id="18" name="Text 16"/>
          <p:cNvSpPr/>
          <p:nvPr/>
        </p:nvSpPr>
        <p:spPr>
          <a:xfrm>
            <a:off x="7028097" y="1464207"/>
            <a:ext cx="1683512" cy="26131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45" b="1" dirty="0">
                <a:solidFill>
                  <a:srgbClr val="00000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Actual FLOPS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440206" y="2587111"/>
            <a:ext cx="5218143" cy="2196683"/>
          </a:xfrm>
          <a:custGeom>
            <a:avLst/>
            <a:gdLst/>
            <a:ahLst/>
            <a:cxnLst/>
            <a:rect l="l" t="t" r="r" b="b"/>
            <a:pathLst>
              <a:path w="5218143" h="2196683">
                <a:moveTo>
                  <a:pt x="65329" y="0"/>
                </a:moveTo>
                <a:lnTo>
                  <a:pt x="5152814" y="0"/>
                </a:lnTo>
                <a:cubicBezTo>
                  <a:pt x="5188894" y="0"/>
                  <a:pt x="5218143" y="29249"/>
                  <a:pt x="5218143" y="65329"/>
                </a:cubicBezTo>
                <a:lnTo>
                  <a:pt x="5218143" y="2131354"/>
                </a:lnTo>
                <a:cubicBezTo>
                  <a:pt x="5218143" y="2167434"/>
                  <a:pt x="5188894" y="2196683"/>
                  <a:pt x="5152814" y="2196683"/>
                </a:cubicBezTo>
                <a:lnTo>
                  <a:pt x="65329" y="2196683"/>
                </a:lnTo>
                <a:cubicBezTo>
                  <a:pt x="29249" y="2196683"/>
                  <a:pt x="0" y="2167434"/>
                  <a:pt x="0" y="2131354"/>
                </a:cubicBezTo>
                <a:lnTo>
                  <a:pt x="0" y="65329"/>
                </a:lnTo>
                <a:cubicBezTo>
                  <a:pt x="0" y="29273"/>
                  <a:pt x="29273" y="0"/>
                  <a:pt x="65329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24498" dist="8166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701490" y="2848396"/>
            <a:ext cx="4777173" cy="53079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85" dirty="0">
                <a:solidFill>
                  <a:srgbClr val="00000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Actual FLOPS is determined by </a:t>
            </a:r>
            <a:r>
              <a:rPr lang="en-US" sz="1285" b="1" dirty="0">
                <a:solidFill>
                  <a:srgbClr val="8B000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program execution conditions</a:t>
            </a:r>
            <a:r>
              <a:rPr lang="en-US" sz="1285" dirty="0">
                <a:solidFill>
                  <a:srgbClr val="00000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, influenced by a variety of complex factors.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721906" y="3607810"/>
            <a:ext cx="163322" cy="163322"/>
          </a:xfrm>
          <a:custGeom>
            <a:avLst/>
            <a:gdLst/>
            <a:ahLst/>
            <a:cxnLst/>
            <a:rect l="l" t="t" r="r" b="b"/>
            <a:pathLst>
              <a:path w="163322" h="163322">
                <a:moveTo>
                  <a:pt x="81661" y="163322"/>
                </a:moveTo>
                <a:cubicBezTo>
                  <a:pt x="126731" y="163322"/>
                  <a:pt x="163322" y="126731"/>
                  <a:pt x="163322" y="81661"/>
                </a:cubicBezTo>
                <a:cubicBezTo>
                  <a:pt x="163322" y="36591"/>
                  <a:pt x="126731" y="0"/>
                  <a:pt x="81661" y="0"/>
                </a:cubicBezTo>
                <a:cubicBezTo>
                  <a:pt x="36591" y="0"/>
                  <a:pt x="0" y="36591"/>
                  <a:pt x="0" y="81661"/>
                </a:cubicBezTo>
                <a:cubicBezTo>
                  <a:pt x="0" y="126731"/>
                  <a:pt x="36591" y="163322"/>
                  <a:pt x="81661" y="163322"/>
                </a:cubicBezTo>
                <a:close/>
                <a:moveTo>
                  <a:pt x="53271" y="53271"/>
                </a:moveTo>
                <a:cubicBezTo>
                  <a:pt x="56270" y="50273"/>
                  <a:pt x="61118" y="50273"/>
                  <a:pt x="64085" y="53271"/>
                </a:cubicBezTo>
                <a:lnTo>
                  <a:pt x="81629" y="70815"/>
                </a:lnTo>
                <a:lnTo>
                  <a:pt x="99174" y="53271"/>
                </a:lnTo>
                <a:cubicBezTo>
                  <a:pt x="102172" y="50273"/>
                  <a:pt x="107021" y="50273"/>
                  <a:pt x="109987" y="53271"/>
                </a:cubicBezTo>
                <a:cubicBezTo>
                  <a:pt x="112954" y="56270"/>
                  <a:pt x="112986" y="61118"/>
                  <a:pt x="109987" y="64085"/>
                </a:cubicBezTo>
                <a:lnTo>
                  <a:pt x="92443" y="81629"/>
                </a:lnTo>
                <a:lnTo>
                  <a:pt x="109987" y="99174"/>
                </a:lnTo>
                <a:cubicBezTo>
                  <a:pt x="112986" y="102172"/>
                  <a:pt x="112986" y="107021"/>
                  <a:pt x="109987" y="109987"/>
                </a:cubicBezTo>
                <a:cubicBezTo>
                  <a:pt x="106989" y="112954"/>
                  <a:pt x="102140" y="112986"/>
                  <a:pt x="99174" y="109987"/>
                </a:cubicBezTo>
                <a:lnTo>
                  <a:pt x="81629" y="92443"/>
                </a:lnTo>
                <a:lnTo>
                  <a:pt x="64085" y="109987"/>
                </a:lnTo>
                <a:cubicBezTo>
                  <a:pt x="61086" y="112986"/>
                  <a:pt x="56238" y="112986"/>
                  <a:pt x="53271" y="109987"/>
                </a:cubicBezTo>
                <a:cubicBezTo>
                  <a:pt x="50305" y="106989"/>
                  <a:pt x="50273" y="102140"/>
                  <a:pt x="53271" y="99174"/>
                </a:cubicBezTo>
                <a:lnTo>
                  <a:pt x="70815" y="81629"/>
                </a:lnTo>
                <a:lnTo>
                  <a:pt x="53271" y="64085"/>
                </a:lnTo>
                <a:cubicBezTo>
                  <a:pt x="50273" y="61086"/>
                  <a:pt x="50273" y="56238"/>
                  <a:pt x="53271" y="53271"/>
                </a:cubicBezTo>
                <a:close/>
              </a:path>
            </a:pathLst>
          </a:custGeom>
          <a:solidFill>
            <a:srgbClr val="E7000B"/>
          </a:solidFill>
        </p:spPr>
      </p:sp>
      <p:sp>
        <p:nvSpPr>
          <p:cNvPr id="22" name="Text 20"/>
          <p:cNvSpPr/>
          <p:nvPr/>
        </p:nvSpPr>
        <p:spPr>
          <a:xfrm>
            <a:off x="7003593" y="3575182"/>
            <a:ext cx="2843792" cy="2612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5" dirty="0">
                <a:solidFill>
                  <a:srgbClr val="364153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Usually far below the theoretical peak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721906" y="3967109"/>
            <a:ext cx="163322" cy="163322"/>
          </a:xfrm>
          <a:custGeom>
            <a:avLst/>
            <a:gdLst/>
            <a:ahLst/>
            <a:cxnLst/>
            <a:rect l="l" t="t" r="r" b="b"/>
            <a:pathLst>
              <a:path w="163322" h="163322">
                <a:moveTo>
                  <a:pt x="81661" y="163322"/>
                </a:moveTo>
                <a:cubicBezTo>
                  <a:pt x="126731" y="163322"/>
                  <a:pt x="163322" y="126731"/>
                  <a:pt x="163322" y="81661"/>
                </a:cubicBezTo>
                <a:cubicBezTo>
                  <a:pt x="163322" y="36591"/>
                  <a:pt x="126731" y="0"/>
                  <a:pt x="81661" y="0"/>
                </a:cubicBezTo>
                <a:cubicBezTo>
                  <a:pt x="36591" y="0"/>
                  <a:pt x="0" y="36591"/>
                  <a:pt x="0" y="81661"/>
                </a:cubicBezTo>
                <a:cubicBezTo>
                  <a:pt x="0" y="126731"/>
                  <a:pt x="36591" y="163322"/>
                  <a:pt x="81661" y="163322"/>
                </a:cubicBezTo>
                <a:close/>
                <a:moveTo>
                  <a:pt x="53271" y="53271"/>
                </a:moveTo>
                <a:cubicBezTo>
                  <a:pt x="56270" y="50273"/>
                  <a:pt x="61118" y="50273"/>
                  <a:pt x="64085" y="53271"/>
                </a:cubicBezTo>
                <a:lnTo>
                  <a:pt x="81629" y="70815"/>
                </a:lnTo>
                <a:lnTo>
                  <a:pt x="99174" y="53271"/>
                </a:lnTo>
                <a:cubicBezTo>
                  <a:pt x="102172" y="50273"/>
                  <a:pt x="107021" y="50273"/>
                  <a:pt x="109987" y="53271"/>
                </a:cubicBezTo>
                <a:cubicBezTo>
                  <a:pt x="112954" y="56270"/>
                  <a:pt x="112986" y="61118"/>
                  <a:pt x="109987" y="64085"/>
                </a:cubicBezTo>
                <a:lnTo>
                  <a:pt x="92443" y="81629"/>
                </a:lnTo>
                <a:lnTo>
                  <a:pt x="109987" y="99174"/>
                </a:lnTo>
                <a:cubicBezTo>
                  <a:pt x="112986" y="102172"/>
                  <a:pt x="112986" y="107021"/>
                  <a:pt x="109987" y="109987"/>
                </a:cubicBezTo>
                <a:cubicBezTo>
                  <a:pt x="106989" y="112954"/>
                  <a:pt x="102140" y="112986"/>
                  <a:pt x="99174" y="109987"/>
                </a:cubicBezTo>
                <a:lnTo>
                  <a:pt x="81629" y="92443"/>
                </a:lnTo>
                <a:lnTo>
                  <a:pt x="64085" y="109987"/>
                </a:lnTo>
                <a:cubicBezTo>
                  <a:pt x="61086" y="112986"/>
                  <a:pt x="56238" y="112986"/>
                  <a:pt x="53271" y="109987"/>
                </a:cubicBezTo>
                <a:cubicBezTo>
                  <a:pt x="50305" y="106989"/>
                  <a:pt x="50273" y="102140"/>
                  <a:pt x="53271" y="99174"/>
                </a:cubicBezTo>
                <a:lnTo>
                  <a:pt x="70815" y="81629"/>
                </a:lnTo>
                <a:lnTo>
                  <a:pt x="53271" y="64085"/>
                </a:lnTo>
                <a:cubicBezTo>
                  <a:pt x="50273" y="61086"/>
                  <a:pt x="50273" y="56238"/>
                  <a:pt x="53271" y="53271"/>
                </a:cubicBezTo>
                <a:close/>
              </a:path>
            </a:pathLst>
          </a:custGeom>
          <a:solidFill>
            <a:srgbClr val="E7000B"/>
          </a:solidFill>
        </p:spPr>
      </p:sp>
      <p:sp>
        <p:nvSpPr>
          <p:cNvPr id="24" name="Text 22"/>
          <p:cNvSpPr/>
          <p:nvPr/>
        </p:nvSpPr>
        <p:spPr>
          <a:xfrm>
            <a:off x="7003593" y="3934481"/>
            <a:ext cx="2597607" cy="2612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5" dirty="0">
                <a:solidFill>
                  <a:srgbClr val="364153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Affected by multiple factors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721906" y="4326408"/>
            <a:ext cx="163322" cy="163322"/>
          </a:xfrm>
          <a:custGeom>
            <a:avLst/>
            <a:gdLst/>
            <a:ahLst/>
            <a:cxnLst/>
            <a:rect l="l" t="t" r="r" b="b"/>
            <a:pathLst>
              <a:path w="163322" h="163322">
                <a:moveTo>
                  <a:pt x="81661" y="163322"/>
                </a:moveTo>
                <a:cubicBezTo>
                  <a:pt x="126731" y="163322"/>
                  <a:pt x="163322" y="126731"/>
                  <a:pt x="163322" y="81661"/>
                </a:cubicBezTo>
                <a:cubicBezTo>
                  <a:pt x="163322" y="36591"/>
                  <a:pt x="126731" y="0"/>
                  <a:pt x="81661" y="0"/>
                </a:cubicBezTo>
                <a:cubicBezTo>
                  <a:pt x="36591" y="0"/>
                  <a:pt x="0" y="36591"/>
                  <a:pt x="0" y="81661"/>
                </a:cubicBezTo>
                <a:cubicBezTo>
                  <a:pt x="0" y="126731"/>
                  <a:pt x="36591" y="163322"/>
                  <a:pt x="81661" y="163322"/>
                </a:cubicBezTo>
                <a:close/>
                <a:moveTo>
                  <a:pt x="53271" y="53271"/>
                </a:moveTo>
                <a:cubicBezTo>
                  <a:pt x="56270" y="50273"/>
                  <a:pt x="61118" y="50273"/>
                  <a:pt x="64085" y="53271"/>
                </a:cubicBezTo>
                <a:lnTo>
                  <a:pt x="81629" y="70815"/>
                </a:lnTo>
                <a:lnTo>
                  <a:pt x="99174" y="53271"/>
                </a:lnTo>
                <a:cubicBezTo>
                  <a:pt x="102172" y="50273"/>
                  <a:pt x="107021" y="50273"/>
                  <a:pt x="109987" y="53271"/>
                </a:cubicBezTo>
                <a:cubicBezTo>
                  <a:pt x="112954" y="56270"/>
                  <a:pt x="112986" y="61118"/>
                  <a:pt x="109987" y="64085"/>
                </a:cubicBezTo>
                <a:lnTo>
                  <a:pt x="92443" y="81629"/>
                </a:lnTo>
                <a:lnTo>
                  <a:pt x="109987" y="99174"/>
                </a:lnTo>
                <a:cubicBezTo>
                  <a:pt x="112986" y="102172"/>
                  <a:pt x="112986" y="107021"/>
                  <a:pt x="109987" y="109987"/>
                </a:cubicBezTo>
                <a:cubicBezTo>
                  <a:pt x="106989" y="112954"/>
                  <a:pt x="102140" y="112986"/>
                  <a:pt x="99174" y="109987"/>
                </a:cubicBezTo>
                <a:lnTo>
                  <a:pt x="81629" y="92443"/>
                </a:lnTo>
                <a:lnTo>
                  <a:pt x="64085" y="109987"/>
                </a:lnTo>
                <a:cubicBezTo>
                  <a:pt x="61086" y="112986"/>
                  <a:pt x="56238" y="112986"/>
                  <a:pt x="53271" y="109987"/>
                </a:cubicBezTo>
                <a:cubicBezTo>
                  <a:pt x="50305" y="106989"/>
                  <a:pt x="50273" y="102140"/>
                  <a:pt x="53271" y="99174"/>
                </a:cubicBezTo>
                <a:lnTo>
                  <a:pt x="70815" y="81629"/>
                </a:lnTo>
                <a:lnTo>
                  <a:pt x="53271" y="64085"/>
                </a:lnTo>
                <a:cubicBezTo>
                  <a:pt x="50273" y="61086"/>
                  <a:pt x="50273" y="56238"/>
                  <a:pt x="53271" y="53271"/>
                </a:cubicBezTo>
                <a:close/>
              </a:path>
            </a:pathLst>
          </a:custGeom>
          <a:solidFill>
            <a:srgbClr val="E7000B"/>
          </a:solidFill>
        </p:spPr>
      </p:sp>
      <p:sp>
        <p:nvSpPr>
          <p:cNvPr id="26" name="Text 24"/>
          <p:cNvSpPr/>
          <p:nvPr/>
        </p:nvSpPr>
        <p:spPr>
          <a:xfrm>
            <a:off x="7003593" y="4293780"/>
            <a:ext cx="2691392" cy="2612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5" dirty="0">
                <a:solidFill>
                  <a:srgbClr val="364153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Requires optimization to improve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342857" y="5454801"/>
            <a:ext cx="11522298" cy="1077926"/>
          </a:xfrm>
          <a:custGeom>
            <a:avLst/>
            <a:gdLst/>
            <a:ahLst/>
            <a:cxnLst/>
            <a:rect l="l" t="t" r="r" b="b"/>
            <a:pathLst>
              <a:path w="11522298" h="1077926">
                <a:moveTo>
                  <a:pt x="32502" y="0"/>
                </a:moveTo>
                <a:lnTo>
                  <a:pt x="11424304" y="0"/>
                </a:lnTo>
                <a:cubicBezTo>
                  <a:pt x="11478424" y="0"/>
                  <a:pt x="11522298" y="43874"/>
                  <a:pt x="11522298" y="97994"/>
                </a:cubicBezTo>
                <a:lnTo>
                  <a:pt x="11522298" y="979932"/>
                </a:lnTo>
                <a:cubicBezTo>
                  <a:pt x="11522298" y="1034053"/>
                  <a:pt x="11478424" y="1077926"/>
                  <a:pt x="11424304" y="1077926"/>
                </a:cubicBezTo>
                <a:lnTo>
                  <a:pt x="32502" y="1077926"/>
                </a:lnTo>
                <a:cubicBezTo>
                  <a:pt x="14552" y="1077926"/>
                  <a:pt x="0" y="1063375"/>
                  <a:pt x="0" y="1045424"/>
                </a:cubicBezTo>
                <a:lnTo>
                  <a:pt x="0" y="32502"/>
                </a:lnTo>
                <a:cubicBezTo>
                  <a:pt x="0" y="14564"/>
                  <a:pt x="14564" y="0"/>
                  <a:pt x="32502" y="0"/>
                </a:cubicBezTo>
                <a:close/>
              </a:path>
            </a:pathLst>
          </a:custGeom>
          <a:solidFill>
            <a:srgbClr val="8B0000">
              <a:alpha val="10196"/>
            </a:srgbClr>
          </a:solidFill>
        </p:spPr>
      </p:sp>
      <p:sp>
        <p:nvSpPr>
          <p:cNvPr id="28" name="Shape 26"/>
          <p:cNvSpPr/>
          <p:nvPr/>
        </p:nvSpPr>
        <p:spPr>
          <a:xfrm>
            <a:off x="342857" y="5454801"/>
            <a:ext cx="32502" cy="1077926"/>
          </a:xfrm>
          <a:custGeom>
            <a:avLst/>
            <a:gdLst/>
            <a:ahLst/>
            <a:cxnLst/>
            <a:rect l="l" t="t" r="r" b="b"/>
            <a:pathLst>
              <a:path w="32502" h="1077926">
                <a:moveTo>
                  <a:pt x="32502" y="0"/>
                </a:moveTo>
                <a:lnTo>
                  <a:pt x="32502" y="0"/>
                </a:lnTo>
                <a:lnTo>
                  <a:pt x="32502" y="1077926"/>
                </a:lnTo>
                <a:lnTo>
                  <a:pt x="32502" y="1077926"/>
                </a:lnTo>
                <a:cubicBezTo>
                  <a:pt x="14552" y="1077926"/>
                  <a:pt x="0" y="1063375"/>
                  <a:pt x="0" y="1045424"/>
                </a:cubicBezTo>
                <a:lnTo>
                  <a:pt x="0" y="32502"/>
                </a:lnTo>
                <a:cubicBezTo>
                  <a:pt x="0" y="14564"/>
                  <a:pt x="14564" y="0"/>
                  <a:pt x="32502" y="0"/>
                </a:cubicBezTo>
                <a:close/>
              </a:path>
            </a:pathLst>
          </a:custGeom>
          <a:solidFill>
            <a:srgbClr val="8B0000"/>
          </a:solidFill>
        </p:spPr>
      </p:sp>
      <p:sp>
        <p:nvSpPr>
          <p:cNvPr id="29" name="Text 27"/>
          <p:cNvSpPr/>
          <p:nvPr/>
        </p:nvSpPr>
        <p:spPr>
          <a:xfrm>
            <a:off x="522380" y="5618071"/>
            <a:ext cx="11261064" cy="22865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85" b="1" dirty="0">
                <a:solidFill>
                  <a:srgbClr val="00000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Key Influencing Factors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522380" y="5944678"/>
            <a:ext cx="2694816" cy="424638"/>
          </a:xfrm>
          <a:custGeom>
            <a:avLst/>
            <a:gdLst/>
            <a:ahLst/>
            <a:cxnLst/>
            <a:rect l="l" t="t" r="r" b="b"/>
            <a:pathLst>
              <a:path w="2694816" h="424638">
                <a:moveTo>
                  <a:pt x="65331" y="0"/>
                </a:moveTo>
                <a:lnTo>
                  <a:pt x="2629485" y="0"/>
                </a:lnTo>
                <a:cubicBezTo>
                  <a:pt x="2665566" y="0"/>
                  <a:pt x="2694816" y="29249"/>
                  <a:pt x="2694816" y="65331"/>
                </a:cubicBezTo>
                <a:lnTo>
                  <a:pt x="2694816" y="359307"/>
                </a:lnTo>
                <a:cubicBezTo>
                  <a:pt x="2694816" y="395388"/>
                  <a:pt x="2665566" y="424638"/>
                  <a:pt x="2629485" y="424638"/>
                </a:cubicBezTo>
                <a:lnTo>
                  <a:pt x="65331" y="424638"/>
                </a:lnTo>
                <a:cubicBezTo>
                  <a:pt x="29249" y="424638"/>
                  <a:pt x="0" y="395388"/>
                  <a:pt x="0" y="359307"/>
                </a:cubicBezTo>
                <a:lnTo>
                  <a:pt x="0" y="65331"/>
                </a:lnTo>
                <a:cubicBezTo>
                  <a:pt x="0" y="29274"/>
                  <a:pt x="29274" y="0"/>
                  <a:pt x="65331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24498" dist="8166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40745" y="6075258"/>
            <a:ext cx="163322" cy="163322"/>
          </a:xfrm>
          <a:custGeom>
            <a:avLst/>
            <a:gdLst/>
            <a:ahLst/>
            <a:cxnLst/>
            <a:rect l="l" t="t" r="r" b="b"/>
            <a:pathLst>
              <a:path w="163322" h="163322">
                <a:moveTo>
                  <a:pt x="20415" y="20415"/>
                </a:moveTo>
                <a:cubicBezTo>
                  <a:pt x="9155" y="20415"/>
                  <a:pt x="0" y="29570"/>
                  <a:pt x="0" y="40831"/>
                </a:cubicBezTo>
                <a:lnTo>
                  <a:pt x="0" y="43191"/>
                </a:lnTo>
                <a:cubicBezTo>
                  <a:pt x="0" y="45360"/>
                  <a:pt x="1404" y="47210"/>
                  <a:pt x="3222" y="48391"/>
                </a:cubicBezTo>
                <a:cubicBezTo>
                  <a:pt x="7432" y="51134"/>
                  <a:pt x="10208" y="55855"/>
                  <a:pt x="10208" y="61246"/>
                </a:cubicBezTo>
                <a:cubicBezTo>
                  <a:pt x="10208" y="66637"/>
                  <a:pt x="7432" y="71358"/>
                  <a:pt x="3222" y="74101"/>
                </a:cubicBezTo>
                <a:cubicBezTo>
                  <a:pt x="1404" y="75281"/>
                  <a:pt x="0" y="77131"/>
                  <a:pt x="0" y="79301"/>
                </a:cubicBezTo>
                <a:lnTo>
                  <a:pt x="0" y="96973"/>
                </a:lnTo>
                <a:lnTo>
                  <a:pt x="163322" y="96973"/>
                </a:lnTo>
                <a:lnTo>
                  <a:pt x="163322" y="79301"/>
                </a:lnTo>
                <a:cubicBezTo>
                  <a:pt x="163322" y="77131"/>
                  <a:pt x="161919" y="75281"/>
                  <a:pt x="160100" y="74101"/>
                </a:cubicBezTo>
                <a:cubicBezTo>
                  <a:pt x="155890" y="71358"/>
                  <a:pt x="153115" y="66637"/>
                  <a:pt x="153115" y="61246"/>
                </a:cubicBezTo>
                <a:cubicBezTo>
                  <a:pt x="153115" y="55855"/>
                  <a:pt x="155890" y="51134"/>
                  <a:pt x="160100" y="48391"/>
                </a:cubicBezTo>
                <a:cubicBezTo>
                  <a:pt x="161919" y="47210"/>
                  <a:pt x="163322" y="45360"/>
                  <a:pt x="163322" y="43191"/>
                </a:cubicBezTo>
                <a:lnTo>
                  <a:pt x="163322" y="40831"/>
                </a:lnTo>
                <a:cubicBezTo>
                  <a:pt x="163322" y="29570"/>
                  <a:pt x="154167" y="20415"/>
                  <a:pt x="142907" y="20415"/>
                </a:cubicBezTo>
                <a:lnTo>
                  <a:pt x="20415" y="20415"/>
                </a:lnTo>
                <a:close/>
                <a:moveTo>
                  <a:pt x="163322" y="132699"/>
                </a:moveTo>
                <a:lnTo>
                  <a:pt x="163322" y="112284"/>
                </a:lnTo>
                <a:lnTo>
                  <a:pt x="0" y="112284"/>
                </a:lnTo>
                <a:lnTo>
                  <a:pt x="0" y="132699"/>
                </a:lnTo>
                <a:cubicBezTo>
                  <a:pt x="0" y="138345"/>
                  <a:pt x="4562" y="142907"/>
                  <a:pt x="10208" y="142907"/>
                </a:cubicBezTo>
                <a:lnTo>
                  <a:pt x="30623" y="142907"/>
                </a:lnTo>
                <a:lnTo>
                  <a:pt x="30623" y="135251"/>
                </a:lnTo>
                <a:cubicBezTo>
                  <a:pt x="30623" y="131009"/>
                  <a:pt x="34036" y="127595"/>
                  <a:pt x="38279" y="127595"/>
                </a:cubicBezTo>
                <a:cubicBezTo>
                  <a:pt x="42521" y="127595"/>
                  <a:pt x="45934" y="131009"/>
                  <a:pt x="45934" y="135251"/>
                </a:cubicBezTo>
                <a:lnTo>
                  <a:pt x="45934" y="142907"/>
                </a:lnTo>
                <a:lnTo>
                  <a:pt x="74005" y="142907"/>
                </a:lnTo>
                <a:lnTo>
                  <a:pt x="74005" y="135251"/>
                </a:lnTo>
                <a:cubicBezTo>
                  <a:pt x="74005" y="131009"/>
                  <a:pt x="77419" y="127595"/>
                  <a:pt x="81661" y="127595"/>
                </a:cubicBezTo>
                <a:cubicBezTo>
                  <a:pt x="85904" y="127595"/>
                  <a:pt x="89317" y="131009"/>
                  <a:pt x="89317" y="135251"/>
                </a:cubicBezTo>
                <a:lnTo>
                  <a:pt x="89317" y="142907"/>
                </a:lnTo>
                <a:lnTo>
                  <a:pt x="117388" y="142907"/>
                </a:lnTo>
                <a:lnTo>
                  <a:pt x="117388" y="135251"/>
                </a:lnTo>
                <a:cubicBezTo>
                  <a:pt x="117388" y="131009"/>
                  <a:pt x="120801" y="127595"/>
                  <a:pt x="125044" y="127595"/>
                </a:cubicBezTo>
                <a:cubicBezTo>
                  <a:pt x="129286" y="127595"/>
                  <a:pt x="132699" y="131009"/>
                  <a:pt x="132699" y="135251"/>
                </a:cubicBezTo>
                <a:lnTo>
                  <a:pt x="132699" y="142907"/>
                </a:lnTo>
                <a:lnTo>
                  <a:pt x="153115" y="142907"/>
                </a:lnTo>
                <a:cubicBezTo>
                  <a:pt x="158761" y="142907"/>
                  <a:pt x="163322" y="138345"/>
                  <a:pt x="163322" y="132699"/>
                </a:cubicBezTo>
                <a:close/>
                <a:moveTo>
                  <a:pt x="51038" y="51038"/>
                </a:moveTo>
                <a:lnTo>
                  <a:pt x="51038" y="71453"/>
                </a:lnTo>
                <a:cubicBezTo>
                  <a:pt x="51038" y="77100"/>
                  <a:pt x="46477" y="81661"/>
                  <a:pt x="40831" y="81661"/>
                </a:cubicBezTo>
                <a:cubicBezTo>
                  <a:pt x="35184" y="81661"/>
                  <a:pt x="30623" y="77100"/>
                  <a:pt x="30623" y="71453"/>
                </a:cubicBezTo>
                <a:lnTo>
                  <a:pt x="30623" y="51038"/>
                </a:lnTo>
                <a:cubicBezTo>
                  <a:pt x="30623" y="45392"/>
                  <a:pt x="35184" y="40831"/>
                  <a:pt x="40831" y="40831"/>
                </a:cubicBezTo>
                <a:cubicBezTo>
                  <a:pt x="46477" y="40831"/>
                  <a:pt x="51038" y="45392"/>
                  <a:pt x="51038" y="51038"/>
                </a:cubicBezTo>
                <a:close/>
                <a:moveTo>
                  <a:pt x="91869" y="51038"/>
                </a:moveTo>
                <a:lnTo>
                  <a:pt x="91869" y="71453"/>
                </a:lnTo>
                <a:cubicBezTo>
                  <a:pt x="91869" y="77100"/>
                  <a:pt x="87307" y="81661"/>
                  <a:pt x="81661" y="81661"/>
                </a:cubicBezTo>
                <a:cubicBezTo>
                  <a:pt x="76015" y="81661"/>
                  <a:pt x="71453" y="77100"/>
                  <a:pt x="71453" y="71453"/>
                </a:cubicBezTo>
                <a:lnTo>
                  <a:pt x="71453" y="51038"/>
                </a:lnTo>
                <a:cubicBezTo>
                  <a:pt x="71453" y="45392"/>
                  <a:pt x="76015" y="40831"/>
                  <a:pt x="81661" y="40831"/>
                </a:cubicBezTo>
                <a:cubicBezTo>
                  <a:pt x="87307" y="40831"/>
                  <a:pt x="91869" y="45392"/>
                  <a:pt x="91869" y="51038"/>
                </a:cubicBezTo>
                <a:close/>
                <a:moveTo>
                  <a:pt x="132699" y="51038"/>
                </a:moveTo>
                <a:lnTo>
                  <a:pt x="132699" y="71453"/>
                </a:lnTo>
                <a:cubicBezTo>
                  <a:pt x="132699" y="77100"/>
                  <a:pt x="128138" y="81661"/>
                  <a:pt x="122492" y="81661"/>
                </a:cubicBezTo>
                <a:cubicBezTo>
                  <a:pt x="116846" y="81661"/>
                  <a:pt x="112284" y="77100"/>
                  <a:pt x="112284" y="71453"/>
                </a:cubicBezTo>
                <a:lnTo>
                  <a:pt x="112284" y="51038"/>
                </a:lnTo>
                <a:cubicBezTo>
                  <a:pt x="112284" y="45392"/>
                  <a:pt x="116846" y="40831"/>
                  <a:pt x="122492" y="40831"/>
                </a:cubicBezTo>
                <a:cubicBezTo>
                  <a:pt x="128138" y="40831"/>
                  <a:pt x="132699" y="45392"/>
                  <a:pt x="132699" y="51038"/>
                </a:cubicBezTo>
                <a:close/>
              </a:path>
            </a:pathLst>
          </a:custGeom>
          <a:solidFill>
            <a:srgbClr val="8B0000"/>
          </a:solidFill>
        </p:spPr>
      </p:sp>
      <p:sp>
        <p:nvSpPr>
          <p:cNvPr id="32" name="Text 30"/>
          <p:cNvSpPr/>
          <p:nvPr/>
        </p:nvSpPr>
        <p:spPr>
          <a:xfrm>
            <a:off x="922433" y="6042627"/>
            <a:ext cx="1351844" cy="21307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5" b="1" dirty="0">
                <a:solidFill>
                  <a:srgbClr val="00000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Memory Access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3350618" y="5944678"/>
            <a:ext cx="2694816" cy="424638"/>
          </a:xfrm>
          <a:custGeom>
            <a:avLst/>
            <a:gdLst/>
            <a:ahLst/>
            <a:cxnLst/>
            <a:rect l="l" t="t" r="r" b="b"/>
            <a:pathLst>
              <a:path w="2694816" h="424638">
                <a:moveTo>
                  <a:pt x="65331" y="0"/>
                </a:moveTo>
                <a:lnTo>
                  <a:pt x="2629485" y="0"/>
                </a:lnTo>
                <a:cubicBezTo>
                  <a:pt x="2665566" y="0"/>
                  <a:pt x="2694816" y="29249"/>
                  <a:pt x="2694816" y="65331"/>
                </a:cubicBezTo>
                <a:lnTo>
                  <a:pt x="2694816" y="359307"/>
                </a:lnTo>
                <a:cubicBezTo>
                  <a:pt x="2694816" y="395388"/>
                  <a:pt x="2665566" y="424638"/>
                  <a:pt x="2629485" y="424638"/>
                </a:cubicBezTo>
                <a:lnTo>
                  <a:pt x="65331" y="424638"/>
                </a:lnTo>
                <a:cubicBezTo>
                  <a:pt x="29249" y="424638"/>
                  <a:pt x="0" y="395388"/>
                  <a:pt x="0" y="359307"/>
                </a:cubicBezTo>
                <a:lnTo>
                  <a:pt x="0" y="65331"/>
                </a:lnTo>
                <a:cubicBezTo>
                  <a:pt x="0" y="29274"/>
                  <a:pt x="29274" y="0"/>
                  <a:pt x="65331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24498" dist="8166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3479191" y="6075258"/>
            <a:ext cx="142907" cy="163322"/>
          </a:xfrm>
          <a:custGeom>
            <a:avLst/>
            <a:gdLst/>
            <a:ahLst/>
            <a:cxnLst/>
            <a:rect l="l" t="t" r="r" b="b"/>
            <a:pathLst>
              <a:path w="142907" h="163322">
                <a:moveTo>
                  <a:pt x="25519" y="33175"/>
                </a:moveTo>
                <a:cubicBezTo>
                  <a:pt x="29744" y="33175"/>
                  <a:pt x="33175" y="29744"/>
                  <a:pt x="33175" y="25519"/>
                </a:cubicBezTo>
                <a:cubicBezTo>
                  <a:pt x="33175" y="21294"/>
                  <a:pt x="29744" y="17863"/>
                  <a:pt x="25519" y="17863"/>
                </a:cubicBezTo>
                <a:cubicBezTo>
                  <a:pt x="21294" y="17863"/>
                  <a:pt x="17863" y="21294"/>
                  <a:pt x="17863" y="25519"/>
                </a:cubicBezTo>
                <a:cubicBezTo>
                  <a:pt x="17863" y="29744"/>
                  <a:pt x="21294" y="33175"/>
                  <a:pt x="25519" y="33175"/>
                </a:cubicBezTo>
                <a:close/>
                <a:moveTo>
                  <a:pt x="51038" y="25519"/>
                </a:moveTo>
                <a:cubicBezTo>
                  <a:pt x="51038" y="35982"/>
                  <a:pt x="44754" y="44977"/>
                  <a:pt x="35727" y="48901"/>
                </a:cubicBezTo>
                <a:lnTo>
                  <a:pt x="35727" y="71453"/>
                </a:lnTo>
                <a:lnTo>
                  <a:pt x="91869" y="71453"/>
                </a:lnTo>
                <a:cubicBezTo>
                  <a:pt x="100322" y="71453"/>
                  <a:pt x="107180" y="64595"/>
                  <a:pt x="107180" y="56142"/>
                </a:cubicBezTo>
                <a:lnTo>
                  <a:pt x="107180" y="48901"/>
                </a:lnTo>
                <a:cubicBezTo>
                  <a:pt x="98153" y="44977"/>
                  <a:pt x="91869" y="35982"/>
                  <a:pt x="91869" y="25519"/>
                </a:cubicBezTo>
                <a:cubicBezTo>
                  <a:pt x="91869" y="11420"/>
                  <a:pt x="103289" y="0"/>
                  <a:pt x="117388" y="0"/>
                </a:cubicBezTo>
                <a:cubicBezTo>
                  <a:pt x="131487" y="0"/>
                  <a:pt x="142907" y="11420"/>
                  <a:pt x="142907" y="25519"/>
                </a:cubicBezTo>
                <a:cubicBezTo>
                  <a:pt x="142907" y="35982"/>
                  <a:pt x="136623" y="44977"/>
                  <a:pt x="127595" y="48901"/>
                </a:cubicBezTo>
                <a:lnTo>
                  <a:pt x="127595" y="56142"/>
                </a:lnTo>
                <a:cubicBezTo>
                  <a:pt x="127595" y="75887"/>
                  <a:pt x="111614" y="91869"/>
                  <a:pt x="91869" y="91869"/>
                </a:cubicBezTo>
                <a:lnTo>
                  <a:pt x="35727" y="91869"/>
                </a:lnTo>
                <a:lnTo>
                  <a:pt x="35727" y="114421"/>
                </a:lnTo>
                <a:cubicBezTo>
                  <a:pt x="44754" y="118345"/>
                  <a:pt x="51038" y="127340"/>
                  <a:pt x="51038" y="137803"/>
                </a:cubicBezTo>
                <a:cubicBezTo>
                  <a:pt x="51038" y="151902"/>
                  <a:pt x="39618" y="163322"/>
                  <a:pt x="25519" y="163322"/>
                </a:cubicBezTo>
                <a:cubicBezTo>
                  <a:pt x="11420" y="163322"/>
                  <a:pt x="0" y="151902"/>
                  <a:pt x="0" y="137803"/>
                </a:cubicBezTo>
                <a:cubicBezTo>
                  <a:pt x="0" y="127340"/>
                  <a:pt x="6284" y="118345"/>
                  <a:pt x="15311" y="114421"/>
                </a:cubicBezTo>
                <a:lnTo>
                  <a:pt x="15311" y="48933"/>
                </a:lnTo>
                <a:cubicBezTo>
                  <a:pt x="6284" y="44977"/>
                  <a:pt x="0" y="35982"/>
                  <a:pt x="0" y="25519"/>
                </a:cubicBezTo>
                <a:cubicBezTo>
                  <a:pt x="0" y="11420"/>
                  <a:pt x="11420" y="0"/>
                  <a:pt x="25519" y="0"/>
                </a:cubicBezTo>
                <a:cubicBezTo>
                  <a:pt x="39618" y="0"/>
                  <a:pt x="51038" y="11420"/>
                  <a:pt x="51038" y="25519"/>
                </a:cubicBezTo>
                <a:close/>
                <a:moveTo>
                  <a:pt x="125044" y="25519"/>
                </a:moveTo>
                <a:cubicBezTo>
                  <a:pt x="125044" y="21294"/>
                  <a:pt x="121613" y="17863"/>
                  <a:pt x="117388" y="17863"/>
                </a:cubicBezTo>
                <a:cubicBezTo>
                  <a:pt x="113162" y="17863"/>
                  <a:pt x="109732" y="21294"/>
                  <a:pt x="109732" y="25519"/>
                </a:cubicBezTo>
                <a:cubicBezTo>
                  <a:pt x="109732" y="29744"/>
                  <a:pt x="113162" y="33175"/>
                  <a:pt x="117388" y="33175"/>
                </a:cubicBezTo>
                <a:cubicBezTo>
                  <a:pt x="121613" y="33175"/>
                  <a:pt x="125044" y="29744"/>
                  <a:pt x="125044" y="25519"/>
                </a:cubicBezTo>
                <a:close/>
                <a:moveTo>
                  <a:pt x="25519" y="145459"/>
                </a:moveTo>
                <a:cubicBezTo>
                  <a:pt x="29744" y="145459"/>
                  <a:pt x="33175" y="142028"/>
                  <a:pt x="33175" y="137803"/>
                </a:cubicBezTo>
                <a:cubicBezTo>
                  <a:pt x="33175" y="133578"/>
                  <a:pt x="29744" y="130147"/>
                  <a:pt x="25519" y="130147"/>
                </a:cubicBezTo>
                <a:cubicBezTo>
                  <a:pt x="21294" y="130147"/>
                  <a:pt x="17863" y="133578"/>
                  <a:pt x="17863" y="137803"/>
                </a:cubicBezTo>
                <a:cubicBezTo>
                  <a:pt x="17863" y="142028"/>
                  <a:pt x="21294" y="145459"/>
                  <a:pt x="25519" y="145459"/>
                </a:cubicBezTo>
                <a:close/>
              </a:path>
            </a:pathLst>
          </a:custGeom>
          <a:solidFill>
            <a:srgbClr val="8B0000"/>
          </a:solidFill>
        </p:spPr>
      </p:sp>
      <p:sp>
        <p:nvSpPr>
          <p:cNvPr id="35" name="Text 33"/>
          <p:cNvSpPr/>
          <p:nvPr/>
        </p:nvSpPr>
        <p:spPr>
          <a:xfrm>
            <a:off x="3750671" y="6042627"/>
            <a:ext cx="1542298" cy="21307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5" b="1" dirty="0">
                <a:solidFill>
                  <a:srgbClr val="00000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Branch Prediction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178921" y="5944678"/>
            <a:ext cx="2694816" cy="424638"/>
          </a:xfrm>
          <a:custGeom>
            <a:avLst/>
            <a:gdLst/>
            <a:ahLst/>
            <a:cxnLst/>
            <a:rect l="l" t="t" r="r" b="b"/>
            <a:pathLst>
              <a:path w="2694816" h="424638">
                <a:moveTo>
                  <a:pt x="65331" y="0"/>
                </a:moveTo>
                <a:lnTo>
                  <a:pt x="2629485" y="0"/>
                </a:lnTo>
                <a:cubicBezTo>
                  <a:pt x="2665566" y="0"/>
                  <a:pt x="2694816" y="29249"/>
                  <a:pt x="2694816" y="65331"/>
                </a:cubicBezTo>
                <a:lnTo>
                  <a:pt x="2694816" y="359307"/>
                </a:lnTo>
                <a:cubicBezTo>
                  <a:pt x="2694816" y="395388"/>
                  <a:pt x="2665566" y="424638"/>
                  <a:pt x="2629485" y="424638"/>
                </a:cubicBezTo>
                <a:lnTo>
                  <a:pt x="65331" y="424638"/>
                </a:lnTo>
                <a:cubicBezTo>
                  <a:pt x="29249" y="424638"/>
                  <a:pt x="0" y="395388"/>
                  <a:pt x="0" y="359307"/>
                </a:cubicBezTo>
                <a:lnTo>
                  <a:pt x="0" y="65331"/>
                </a:lnTo>
                <a:cubicBezTo>
                  <a:pt x="0" y="29274"/>
                  <a:pt x="29274" y="0"/>
                  <a:pt x="65331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24498" dist="8166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287078" y="6075258"/>
            <a:ext cx="183737" cy="163322"/>
          </a:xfrm>
          <a:custGeom>
            <a:avLst/>
            <a:gdLst/>
            <a:ahLst/>
            <a:cxnLst/>
            <a:rect l="l" t="t" r="r" b="b"/>
            <a:pathLst>
              <a:path w="183737" h="163322">
                <a:moveTo>
                  <a:pt x="133816" y="30623"/>
                </a:moveTo>
                <a:cubicBezTo>
                  <a:pt x="128521" y="30623"/>
                  <a:pt x="123385" y="32058"/>
                  <a:pt x="118887" y="34674"/>
                </a:cubicBezTo>
                <a:cubicBezTo>
                  <a:pt x="113847" y="29570"/>
                  <a:pt x="107978" y="25296"/>
                  <a:pt x="101502" y="22074"/>
                </a:cubicBezTo>
                <a:cubicBezTo>
                  <a:pt x="110498" y="14418"/>
                  <a:pt x="121949" y="10208"/>
                  <a:pt x="133816" y="10208"/>
                </a:cubicBezTo>
                <a:cubicBezTo>
                  <a:pt x="161376" y="10208"/>
                  <a:pt x="183737" y="32537"/>
                  <a:pt x="183737" y="60129"/>
                </a:cubicBezTo>
                <a:cubicBezTo>
                  <a:pt x="183737" y="73367"/>
                  <a:pt x="178474" y="86063"/>
                  <a:pt x="169128" y="95409"/>
                </a:cubicBezTo>
                <a:lnTo>
                  <a:pt x="146448" y="118090"/>
                </a:lnTo>
                <a:cubicBezTo>
                  <a:pt x="137101" y="127436"/>
                  <a:pt x="124406" y="132699"/>
                  <a:pt x="111168" y="132699"/>
                </a:cubicBezTo>
                <a:cubicBezTo>
                  <a:pt x="83607" y="132699"/>
                  <a:pt x="61246" y="110370"/>
                  <a:pt x="61246" y="82778"/>
                </a:cubicBezTo>
                <a:cubicBezTo>
                  <a:pt x="61246" y="82299"/>
                  <a:pt x="61246" y="81821"/>
                  <a:pt x="61278" y="81342"/>
                </a:cubicBezTo>
                <a:cubicBezTo>
                  <a:pt x="61437" y="75696"/>
                  <a:pt x="66126" y="71262"/>
                  <a:pt x="71772" y="71422"/>
                </a:cubicBezTo>
                <a:cubicBezTo>
                  <a:pt x="77419" y="71581"/>
                  <a:pt x="81852" y="76270"/>
                  <a:pt x="81693" y="81916"/>
                </a:cubicBezTo>
                <a:cubicBezTo>
                  <a:pt x="81693" y="82203"/>
                  <a:pt x="81693" y="82490"/>
                  <a:pt x="81693" y="82746"/>
                </a:cubicBezTo>
                <a:cubicBezTo>
                  <a:pt x="81693" y="99046"/>
                  <a:pt x="94899" y="112252"/>
                  <a:pt x="111199" y="112252"/>
                </a:cubicBezTo>
                <a:cubicBezTo>
                  <a:pt x="119015" y="112252"/>
                  <a:pt x="126511" y="109158"/>
                  <a:pt x="132061" y="103608"/>
                </a:cubicBezTo>
                <a:lnTo>
                  <a:pt x="154741" y="80927"/>
                </a:lnTo>
                <a:cubicBezTo>
                  <a:pt x="160260" y="75409"/>
                  <a:pt x="163386" y="67881"/>
                  <a:pt x="163386" y="60066"/>
                </a:cubicBezTo>
                <a:cubicBezTo>
                  <a:pt x="163386" y="43765"/>
                  <a:pt x="150180" y="30559"/>
                  <a:pt x="133880" y="30559"/>
                </a:cubicBezTo>
                <a:close/>
                <a:moveTo>
                  <a:pt x="87786" y="55281"/>
                </a:moveTo>
                <a:cubicBezTo>
                  <a:pt x="87180" y="55026"/>
                  <a:pt x="86574" y="54675"/>
                  <a:pt x="86031" y="54292"/>
                </a:cubicBezTo>
                <a:cubicBezTo>
                  <a:pt x="82012" y="52218"/>
                  <a:pt x="77419" y="51038"/>
                  <a:pt x="72602" y="51038"/>
                </a:cubicBezTo>
                <a:cubicBezTo>
                  <a:pt x="64787" y="51038"/>
                  <a:pt x="57290" y="54132"/>
                  <a:pt x="51740" y="59683"/>
                </a:cubicBezTo>
                <a:lnTo>
                  <a:pt x="29060" y="82363"/>
                </a:lnTo>
                <a:cubicBezTo>
                  <a:pt x="23541" y="87881"/>
                  <a:pt x="20415" y="95409"/>
                  <a:pt x="20415" y="103225"/>
                </a:cubicBezTo>
                <a:cubicBezTo>
                  <a:pt x="20415" y="119525"/>
                  <a:pt x="33621" y="132731"/>
                  <a:pt x="49922" y="132731"/>
                </a:cubicBezTo>
                <a:cubicBezTo>
                  <a:pt x="55185" y="132731"/>
                  <a:pt x="60321" y="131328"/>
                  <a:pt x="64818" y="128712"/>
                </a:cubicBezTo>
                <a:cubicBezTo>
                  <a:pt x="69859" y="133816"/>
                  <a:pt x="75728" y="138090"/>
                  <a:pt x="82235" y="141312"/>
                </a:cubicBezTo>
                <a:cubicBezTo>
                  <a:pt x="73240" y="148936"/>
                  <a:pt x="61820" y="153178"/>
                  <a:pt x="49922" y="153178"/>
                </a:cubicBezTo>
                <a:cubicBezTo>
                  <a:pt x="22361" y="153178"/>
                  <a:pt x="0" y="130849"/>
                  <a:pt x="0" y="103257"/>
                </a:cubicBezTo>
                <a:cubicBezTo>
                  <a:pt x="0" y="90019"/>
                  <a:pt x="5263" y="77323"/>
                  <a:pt x="14610" y="67976"/>
                </a:cubicBezTo>
                <a:lnTo>
                  <a:pt x="37290" y="45296"/>
                </a:lnTo>
                <a:cubicBezTo>
                  <a:pt x="46636" y="35950"/>
                  <a:pt x="59332" y="30687"/>
                  <a:pt x="72570" y="30687"/>
                </a:cubicBezTo>
                <a:cubicBezTo>
                  <a:pt x="100194" y="30687"/>
                  <a:pt x="122492" y="53207"/>
                  <a:pt x="122492" y="80736"/>
                </a:cubicBezTo>
                <a:cubicBezTo>
                  <a:pt x="122492" y="81151"/>
                  <a:pt x="122492" y="81565"/>
                  <a:pt x="122492" y="81980"/>
                </a:cubicBezTo>
                <a:cubicBezTo>
                  <a:pt x="122364" y="87626"/>
                  <a:pt x="117675" y="92060"/>
                  <a:pt x="112029" y="91933"/>
                </a:cubicBezTo>
                <a:cubicBezTo>
                  <a:pt x="106383" y="91805"/>
                  <a:pt x="101949" y="87116"/>
                  <a:pt x="102076" y="81470"/>
                </a:cubicBezTo>
                <a:cubicBezTo>
                  <a:pt x="102076" y="81215"/>
                  <a:pt x="102076" y="80991"/>
                  <a:pt x="102076" y="80736"/>
                </a:cubicBezTo>
                <a:cubicBezTo>
                  <a:pt x="102076" y="69986"/>
                  <a:pt x="96335" y="60544"/>
                  <a:pt x="87786" y="55345"/>
                </a:cubicBezTo>
                <a:close/>
              </a:path>
            </a:pathLst>
          </a:custGeom>
          <a:solidFill>
            <a:srgbClr val="8B0000"/>
          </a:solidFill>
        </p:spPr>
      </p:sp>
      <p:sp>
        <p:nvSpPr>
          <p:cNvPr id="38" name="Text 36"/>
          <p:cNvSpPr/>
          <p:nvPr/>
        </p:nvSpPr>
        <p:spPr>
          <a:xfrm>
            <a:off x="6578973" y="6042627"/>
            <a:ext cx="2265006" cy="2702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5" b="1" dirty="0">
                <a:solidFill>
                  <a:srgbClr val="00000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Instruction Dependencies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9007159" y="5944678"/>
            <a:ext cx="2694816" cy="424638"/>
          </a:xfrm>
          <a:custGeom>
            <a:avLst/>
            <a:gdLst/>
            <a:ahLst/>
            <a:cxnLst/>
            <a:rect l="l" t="t" r="r" b="b"/>
            <a:pathLst>
              <a:path w="2694816" h="424638">
                <a:moveTo>
                  <a:pt x="65331" y="0"/>
                </a:moveTo>
                <a:lnTo>
                  <a:pt x="2629485" y="0"/>
                </a:lnTo>
                <a:cubicBezTo>
                  <a:pt x="2665566" y="0"/>
                  <a:pt x="2694816" y="29249"/>
                  <a:pt x="2694816" y="65331"/>
                </a:cubicBezTo>
                <a:lnTo>
                  <a:pt x="2694816" y="359307"/>
                </a:lnTo>
                <a:cubicBezTo>
                  <a:pt x="2694816" y="395388"/>
                  <a:pt x="2665566" y="424638"/>
                  <a:pt x="2629485" y="424638"/>
                </a:cubicBezTo>
                <a:lnTo>
                  <a:pt x="65331" y="424638"/>
                </a:lnTo>
                <a:cubicBezTo>
                  <a:pt x="29249" y="424638"/>
                  <a:pt x="0" y="395388"/>
                  <a:pt x="0" y="359307"/>
                </a:cubicBezTo>
                <a:lnTo>
                  <a:pt x="0" y="65331"/>
                </a:lnTo>
                <a:cubicBezTo>
                  <a:pt x="0" y="29274"/>
                  <a:pt x="29274" y="0"/>
                  <a:pt x="65331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24498" dist="8166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9145940" y="6075258"/>
            <a:ext cx="122492" cy="163322"/>
          </a:xfrm>
          <a:custGeom>
            <a:avLst/>
            <a:gdLst/>
            <a:ahLst/>
            <a:cxnLst/>
            <a:rect l="l" t="t" r="r" b="b"/>
            <a:pathLst>
              <a:path w="122492" h="163322">
                <a:moveTo>
                  <a:pt x="17576" y="23414"/>
                </a:moveTo>
                <a:cubicBezTo>
                  <a:pt x="13589" y="19426"/>
                  <a:pt x="7113" y="19426"/>
                  <a:pt x="3126" y="23414"/>
                </a:cubicBezTo>
                <a:cubicBezTo>
                  <a:pt x="-861" y="27401"/>
                  <a:pt x="-861" y="33877"/>
                  <a:pt x="3126" y="37864"/>
                </a:cubicBezTo>
                <a:lnTo>
                  <a:pt x="46955" y="81661"/>
                </a:lnTo>
                <a:lnTo>
                  <a:pt x="3158" y="125490"/>
                </a:lnTo>
                <a:cubicBezTo>
                  <a:pt x="-829" y="129477"/>
                  <a:pt x="-829" y="135953"/>
                  <a:pt x="3158" y="139940"/>
                </a:cubicBezTo>
                <a:cubicBezTo>
                  <a:pt x="7145" y="143928"/>
                  <a:pt x="13621" y="143928"/>
                  <a:pt x="17608" y="139940"/>
                </a:cubicBezTo>
                <a:lnTo>
                  <a:pt x="61405" y="96111"/>
                </a:lnTo>
                <a:lnTo>
                  <a:pt x="105234" y="139908"/>
                </a:lnTo>
                <a:cubicBezTo>
                  <a:pt x="109222" y="143896"/>
                  <a:pt x="115697" y="143896"/>
                  <a:pt x="119685" y="139908"/>
                </a:cubicBezTo>
                <a:cubicBezTo>
                  <a:pt x="123672" y="135921"/>
                  <a:pt x="123672" y="129446"/>
                  <a:pt x="119685" y="125458"/>
                </a:cubicBezTo>
                <a:lnTo>
                  <a:pt x="75855" y="81661"/>
                </a:lnTo>
                <a:lnTo>
                  <a:pt x="119653" y="37832"/>
                </a:lnTo>
                <a:cubicBezTo>
                  <a:pt x="123640" y="33845"/>
                  <a:pt x="123640" y="27369"/>
                  <a:pt x="119653" y="23382"/>
                </a:cubicBezTo>
                <a:cubicBezTo>
                  <a:pt x="115665" y="19395"/>
                  <a:pt x="109190" y="19395"/>
                  <a:pt x="105202" y="23382"/>
                </a:cubicBezTo>
                <a:lnTo>
                  <a:pt x="61405" y="67211"/>
                </a:lnTo>
                <a:lnTo>
                  <a:pt x="17576" y="23414"/>
                </a:lnTo>
                <a:close/>
              </a:path>
            </a:pathLst>
          </a:custGeom>
          <a:solidFill>
            <a:srgbClr val="8B0000"/>
          </a:solidFill>
        </p:spPr>
      </p:sp>
      <p:sp>
        <p:nvSpPr>
          <p:cNvPr id="41" name="Text 39"/>
          <p:cNvSpPr/>
          <p:nvPr/>
        </p:nvSpPr>
        <p:spPr>
          <a:xfrm>
            <a:off x="9407212" y="6042627"/>
            <a:ext cx="890106" cy="22865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5" b="1" dirty="0">
                <a:solidFill>
                  <a:srgbClr val="00000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Cache miss</a:t>
            </a:r>
            <a:endParaRPr lang="en-US" sz="1600" dirty="0"/>
          </a:p>
        </p:txBody>
      </p:sp>
      <p:sp>
        <p:nvSpPr>
          <p:cNvPr id="42" name="灯片编号占位符 41"/>
          <p:cNvSpPr>
            <a:spLocks noGrp="1"/>
          </p:cNvSpPr>
          <p:nvPr>
            <p:ph type="sldNum" sz="quarter" idx="4294967295"/>
          </p:nvPr>
        </p:nvSpPr>
        <p:spPr>
          <a:xfrm>
            <a:off x="0" y="593725"/>
            <a:ext cx="419100" cy="365125"/>
          </a:xfrm>
        </p:spPr>
        <p:txBody>
          <a:bodyPr/>
          <a:lstStyle/>
          <a:p>
            <a:fld id="{B33F7469-D28B-482F-B1B6-3B8E7CF51519}" type="slidenum">
              <a:rPr lang="zh-CN" altLang="en-US" smtClean="0"/>
              <a:t>7</a:t>
            </a:fld>
            <a:endParaRPr lang="zh-CN" altLang="en-US" dirty="0"/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6787" y="603479"/>
            <a:ext cx="11601450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00000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Bandwidth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399911" y="1213226"/>
            <a:ext cx="5543455" cy="1104900"/>
          </a:xfrm>
          <a:custGeom>
            <a:avLst/>
            <a:gdLst/>
            <a:ahLst/>
            <a:cxnLst/>
            <a:rect l="l" t="t" r="r" b="b"/>
            <a:pathLst>
              <a:path w="5543455" h="1104900">
                <a:moveTo>
                  <a:pt x="37910" y="0"/>
                </a:moveTo>
                <a:lnTo>
                  <a:pt x="5429153" y="0"/>
                </a:lnTo>
                <a:cubicBezTo>
                  <a:pt x="5492281" y="0"/>
                  <a:pt x="5543455" y="51175"/>
                  <a:pt x="5543455" y="114302"/>
                </a:cubicBezTo>
                <a:lnTo>
                  <a:pt x="5543455" y="990598"/>
                </a:lnTo>
                <a:cubicBezTo>
                  <a:pt x="5543455" y="1053725"/>
                  <a:pt x="5492281" y="1104900"/>
                  <a:pt x="5429153" y="1104900"/>
                </a:cubicBezTo>
                <a:lnTo>
                  <a:pt x="37910" y="1104900"/>
                </a:lnTo>
                <a:cubicBezTo>
                  <a:pt x="16973" y="1104900"/>
                  <a:pt x="0" y="1087927"/>
                  <a:pt x="0" y="1066990"/>
                </a:cubicBezTo>
                <a:lnTo>
                  <a:pt x="0" y="37910"/>
                </a:lnTo>
                <a:cubicBezTo>
                  <a:pt x="0" y="16987"/>
                  <a:pt x="16987" y="0"/>
                  <a:pt x="37910" y="0"/>
                </a:cubicBezTo>
                <a:close/>
              </a:path>
            </a:pathLst>
          </a:custGeom>
          <a:solidFill>
            <a:srgbClr val="8B0000">
              <a:alpha val="10196"/>
            </a:srgbClr>
          </a:solidFill>
        </p:spPr>
      </p:sp>
      <p:sp>
        <p:nvSpPr>
          <p:cNvPr id="4" name="Shape 2"/>
          <p:cNvSpPr/>
          <p:nvPr/>
        </p:nvSpPr>
        <p:spPr>
          <a:xfrm>
            <a:off x="399911" y="1213226"/>
            <a:ext cx="37910" cy="1104900"/>
          </a:xfrm>
          <a:custGeom>
            <a:avLst/>
            <a:gdLst/>
            <a:ahLst/>
            <a:cxnLst/>
            <a:rect l="l" t="t" r="r" b="b"/>
            <a:pathLst>
              <a:path w="37910" h="1104900">
                <a:moveTo>
                  <a:pt x="37910" y="0"/>
                </a:moveTo>
                <a:lnTo>
                  <a:pt x="37910" y="0"/>
                </a:lnTo>
                <a:lnTo>
                  <a:pt x="37910" y="1104900"/>
                </a:lnTo>
                <a:lnTo>
                  <a:pt x="37910" y="1104900"/>
                </a:lnTo>
                <a:cubicBezTo>
                  <a:pt x="16973" y="1104900"/>
                  <a:pt x="0" y="1087927"/>
                  <a:pt x="0" y="1066990"/>
                </a:cubicBezTo>
                <a:lnTo>
                  <a:pt x="0" y="37910"/>
                </a:lnTo>
                <a:cubicBezTo>
                  <a:pt x="0" y="16987"/>
                  <a:pt x="16987" y="0"/>
                  <a:pt x="37910" y="0"/>
                </a:cubicBezTo>
                <a:close/>
              </a:path>
            </a:pathLst>
          </a:custGeom>
          <a:solidFill>
            <a:srgbClr val="8B0000"/>
          </a:solidFill>
        </p:spPr>
      </p:sp>
      <p:sp>
        <p:nvSpPr>
          <p:cNvPr id="5" name="Text 3"/>
          <p:cNvSpPr/>
          <p:nvPr/>
        </p:nvSpPr>
        <p:spPr>
          <a:xfrm>
            <a:off x="647439" y="1441800"/>
            <a:ext cx="51816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00000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Bandwidth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7439" y="1822679"/>
            <a:ext cx="51625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36415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Represents the amount of data transferable per unit time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80956" y="2546533"/>
            <a:ext cx="56769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00000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Common Units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80956" y="3003607"/>
            <a:ext cx="5562600" cy="495300"/>
          </a:xfrm>
          <a:custGeom>
            <a:avLst/>
            <a:gdLst/>
            <a:ahLst/>
            <a:cxnLst/>
            <a:rect l="l" t="t" r="r" b="b"/>
            <a:pathLst>
              <a:path w="5562600" h="495300">
                <a:moveTo>
                  <a:pt x="76202" y="0"/>
                </a:moveTo>
                <a:lnTo>
                  <a:pt x="5486398" y="0"/>
                </a:lnTo>
                <a:cubicBezTo>
                  <a:pt x="5528483" y="0"/>
                  <a:pt x="5562600" y="34117"/>
                  <a:pt x="5562600" y="76202"/>
                </a:cubicBezTo>
                <a:lnTo>
                  <a:pt x="5562600" y="419098"/>
                </a:lnTo>
                <a:cubicBezTo>
                  <a:pt x="5562600" y="461183"/>
                  <a:pt x="5528483" y="495300"/>
                  <a:pt x="5486398" y="495300"/>
                </a:cubicBezTo>
                <a:lnTo>
                  <a:pt x="76202" y="495300"/>
                </a:lnTo>
                <a:cubicBezTo>
                  <a:pt x="34117" y="495300"/>
                  <a:pt x="0" y="461183"/>
                  <a:pt x="0" y="419098"/>
                </a:cubicBezTo>
                <a:lnTo>
                  <a:pt x="0" y="76202"/>
                </a:lnTo>
                <a:cubicBezTo>
                  <a:pt x="0" y="34117"/>
                  <a:pt x="34117" y="0"/>
                  <a:pt x="76202" y="0"/>
                </a:cubicBezTo>
                <a:close/>
              </a:path>
            </a:pathLst>
          </a:custGeom>
          <a:solidFill>
            <a:srgbClr val="F9FAFB"/>
          </a:solidFill>
        </p:spPr>
      </p:sp>
      <p:sp>
        <p:nvSpPr>
          <p:cNvPr id="9" name="Text 7"/>
          <p:cNvSpPr/>
          <p:nvPr/>
        </p:nvSpPr>
        <p:spPr>
          <a:xfrm>
            <a:off x="447580" y="3117856"/>
            <a:ext cx="10096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8B000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MB/s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561955" y="3117856"/>
            <a:ext cx="2476601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00000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Megabytes/second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80956" y="3613063"/>
            <a:ext cx="5562600" cy="495300"/>
          </a:xfrm>
          <a:custGeom>
            <a:avLst/>
            <a:gdLst/>
            <a:ahLst/>
            <a:cxnLst/>
            <a:rect l="l" t="t" r="r" b="b"/>
            <a:pathLst>
              <a:path w="5562600" h="495300">
                <a:moveTo>
                  <a:pt x="76202" y="0"/>
                </a:moveTo>
                <a:lnTo>
                  <a:pt x="5486398" y="0"/>
                </a:lnTo>
                <a:cubicBezTo>
                  <a:pt x="5528483" y="0"/>
                  <a:pt x="5562600" y="34117"/>
                  <a:pt x="5562600" y="76202"/>
                </a:cubicBezTo>
                <a:lnTo>
                  <a:pt x="5562600" y="419098"/>
                </a:lnTo>
                <a:cubicBezTo>
                  <a:pt x="5562600" y="461183"/>
                  <a:pt x="5528483" y="495300"/>
                  <a:pt x="5486398" y="495300"/>
                </a:cubicBezTo>
                <a:lnTo>
                  <a:pt x="76202" y="495300"/>
                </a:lnTo>
                <a:cubicBezTo>
                  <a:pt x="34117" y="495300"/>
                  <a:pt x="0" y="461183"/>
                  <a:pt x="0" y="419098"/>
                </a:cubicBezTo>
                <a:lnTo>
                  <a:pt x="0" y="76202"/>
                </a:lnTo>
                <a:cubicBezTo>
                  <a:pt x="0" y="34117"/>
                  <a:pt x="34117" y="0"/>
                  <a:pt x="76202" y="0"/>
                </a:cubicBezTo>
                <a:close/>
              </a:path>
            </a:pathLst>
          </a:custGeom>
          <a:solidFill>
            <a:srgbClr val="F9FAFB"/>
          </a:solidFill>
        </p:spPr>
      </p:sp>
      <p:sp>
        <p:nvSpPr>
          <p:cNvPr id="12" name="Text 10"/>
          <p:cNvSpPr/>
          <p:nvPr/>
        </p:nvSpPr>
        <p:spPr>
          <a:xfrm>
            <a:off x="447580" y="3727312"/>
            <a:ext cx="10096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8B000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GB/s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561955" y="3727312"/>
            <a:ext cx="1966691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00000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Gigabytes/second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80956" y="4222514"/>
            <a:ext cx="5562600" cy="495300"/>
          </a:xfrm>
          <a:custGeom>
            <a:avLst/>
            <a:gdLst/>
            <a:ahLst/>
            <a:cxnLst/>
            <a:rect l="l" t="t" r="r" b="b"/>
            <a:pathLst>
              <a:path w="5562600" h="495300">
                <a:moveTo>
                  <a:pt x="76202" y="0"/>
                </a:moveTo>
                <a:lnTo>
                  <a:pt x="5486398" y="0"/>
                </a:lnTo>
                <a:cubicBezTo>
                  <a:pt x="5528483" y="0"/>
                  <a:pt x="5562600" y="34117"/>
                  <a:pt x="5562600" y="76202"/>
                </a:cubicBezTo>
                <a:lnTo>
                  <a:pt x="5562600" y="419098"/>
                </a:lnTo>
                <a:cubicBezTo>
                  <a:pt x="5562600" y="461183"/>
                  <a:pt x="5528483" y="495300"/>
                  <a:pt x="5486398" y="495300"/>
                </a:cubicBezTo>
                <a:lnTo>
                  <a:pt x="76202" y="495300"/>
                </a:lnTo>
                <a:cubicBezTo>
                  <a:pt x="34117" y="495300"/>
                  <a:pt x="0" y="461183"/>
                  <a:pt x="0" y="419098"/>
                </a:cubicBezTo>
                <a:lnTo>
                  <a:pt x="0" y="76202"/>
                </a:lnTo>
                <a:cubicBezTo>
                  <a:pt x="0" y="34117"/>
                  <a:pt x="34117" y="0"/>
                  <a:pt x="76202" y="0"/>
                </a:cubicBezTo>
                <a:close/>
              </a:path>
            </a:pathLst>
          </a:custGeom>
          <a:solidFill>
            <a:srgbClr val="F9FAFB"/>
          </a:solidFill>
        </p:spPr>
      </p:sp>
      <p:sp>
        <p:nvSpPr>
          <p:cNvPr id="15" name="Text 13"/>
          <p:cNvSpPr/>
          <p:nvPr/>
        </p:nvSpPr>
        <p:spPr>
          <a:xfrm>
            <a:off x="447580" y="4336763"/>
            <a:ext cx="10096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8B000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TB/s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561955" y="4336763"/>
            <a:ext cx="2025307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00000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Terabytes/second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80956" y="4743471"/>
            <a:ext cx="56769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00000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Use Cases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380956" y="5200541"/>
            <a:ext cx="1752600" cy="933450"/>
          </a:xfrm>
          <a:custGeom>
            <a:avLst/>
            <a:gdLst/>
            <a:ahLst/>
            <a:cxnLst/>
            <a:rect l="l" t="t" r="r" b="b"/>
            <a:pathLst>
              <a:path w="1752600" h="933450">
                <a:moveTo>
                  <a:pt x="76198" y="0"/>
                </a:moveTo>
                <a:lnTo>
                  <a:pt x="1676402" y="0"/>
                </a:lnTo>
                <a:cubicBezTo>
                  <a:pt x="1718485" y="0"/>
                  <a:pt x="1752600" y="34115"/>
                  <a:pt x="1752600" y="76198"/>
                </a:cubicBezTo>
                <a:lnTo>
                  <a:pt x="1752600" y="857252"/>
                </a:lnTo>
                <a:cubicBezTo>
                  <a:pt x="1752600" y="899335"/>
                  <a:pt x="1718485" y="933450"/>
                  <a:pt x="1676402" y="933450"/>
                </a:cubicBezTo>
                <a:lnTo>
                  <a:pt x="76198" y="933450"/>
                </a:lnTo>
                <a:cubicBezTo>
                  <a:pt x="34115" y="933450"/>
                  <a:pt x="0" y="899335"/>
                  <a:pt x="0" y="857252"/>
                </a:cubicBezTo>
                <a:lnTo>
                  <a:pt x="0" y="76198"/>
                </a:lnTo>
                <a:cubicBezTo>
                  <a:pt x="0" y="34115"/>
                  <a:pt x="34115" y="0"/>
                  <a:pt x="76198" y="0"/>
                </a:cubicBezTo>
                <a:close/>
              </a:path>
            </a:pathLst>
          </a:custGeom>
          <a:solidFill>
            <a:srgbClr val="F9FAFB"/>
          </a:solidFill>
        </p:spPr>
      </p:sp>
      <p:sp>
        <p:nvSpPr>
          <p:cNvPr id="19" name="Shape 17"/>
          <p:cNvSpPr/>
          <p:nvPr/>
        </p:nvSpPr>
        <p:spPr>
          <a:xfrm>
            <a:off x="1116771" y="5352927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35719" y="35719"/>
                </a:moveTo>
                <a:cubicBezTo>
                  <a:pt x="16018" y="35719"/>
                  <a:pt x="0" y="51736"/>
                  <a:pt x="0" y="71438"/>
                </a:cubicBezTo>
                <a:lnTo>
                  <a:pt x="0" y="75567"/>
                </a:lnTo>
                <a:cubicBezTo>
                  <a:pt x="0" y="79363"/>
                  <a:pt x="2456" y="82600"/>
                  <a:pt x="5637" y="84665"/>
                </a:cubicBezTo>
                <a:cubicBezTo>
                  <a:pt x="13004" y="89464"/>
                  <a:pt x="17859" y="97724"/>
                  <a:pt x="17859" y="107156"/>
                </a:cubicBezTo>
                <a:cubicBezTo>
                  <a:pt x="17859" y="116588"/>
                  <a:pt x="13004" y="124848"/>
                  <a:pt x="5637" y="129648"/>
                </a:cubicBezTo>
                <a:cubicBezTo>
                  <a:pt x="2456" y="131713"/>
                  <a:pt x="0" y="134950"/>
                  <a:pt x="0" y="138745"/>
                </a:cubicBezTo>
                <a:lnTo>
                  <a:pt x="0" y="169664"/>
                </a:lnTo>
                <a:lnTo>
                  <a:pt x="285750" y="169664"/>
                </a:lnTo>
                <a:lnTo>
                  <a:pt x="285750" y="138745"/>
                </a:lnTo>
                <a:cubicBezTo>
                  <a:pt x="285750" y="134950"/>
                  <a:pt x="283294" y="131713"/>
                  <a:pt x="280113" y="129648"/>
                </a:cubicBezTo>
                <a:cubicBezTo>
                  <a:pt x="272746" y="124848"/>
                  <a:pt x="267891" y="116588"/>
                  <a:pt x="267891" y="107156"/>
                </a:cubicBezTo>
                <a:cubicBezTo>
                  <a:pt x="267891" y="97724"/>
                  <a:pt x="272746" y="89464"/>
                  <a:pt x="280113" y="84665"/>
                </a:cubicBezTo>
                <a:cubicBezTo>
                  <a:pt x="283294" y="82600"/>
                  <a:pt x="285750" y="79363"/>
                  <a:pt x="285750" y="75567"/>
                </a:cubicBezTo>
                <a:lnTo>
                  <a:pt x="285750" y="71437"/>
                </a:lnTo>
                <a:cubicBezTo>
                  <a:pt x="285750" y="51736"/>
                  <a:pt x="269732" y="35719"/>
                  <a:pt x="250031" y="35719"/>
                </a:cubicBezTo>
                <a:lnTo>
                  <a:pt x="35719" y="35719"/>
                </a:lnTo>
                <a:close/>
                <a:moveTo>
                  <a:pt x="285750" y="232172"/>
                </a:moveTo>
                <a:lnTo>
                  <a:pt x="285750" y="196453"/>
                </a:lnTo>
                <a:lnTo>
                  <a:pt x="0" y="196453"/>
                </a:lnTo>
                <a:lnTo>
                  <a:pt x="0" y="232172"/>
                </a:lnTo>
                <a:cubicBezTo>
                  <a:pt x="0" y="242050"/>
                  <a:pt x="7981" y="250031"/>
                  <a:pt x="17859" y="250031"/>
                </a:cubicBezTo>
                <a:lnTo>
                  <a:pt x="53578" y="250031"/>
                </a:lnTo>
                <a:lnTo>
                  <a:pt x="53578" y="236637"/>
                </a:lnTo>
                <a:cubicBezTo>
                  <a:pt x="53578" y="229214"/>
                  <a:pt x="59550" y="223242"/>
                  <a:pt x="66973" y="223242"/>
                </a:cubicBezTo>
                <a:cubicBezTo>
                  <a:pt x="74395" y="223242"/>
                  <a:pt x="80367" y="229214"/>
                  <a:pt x="80367" y="236637"/>
                </a:cubicBezTo>
                <a:lnTo>
                  <a:pt x="80367" y="250031"/>
                </a:lnTo>
                <a:lnTo>
                  <a:pt x="129480" y="250031"/>
                </a:lnTo>
                <a:lnTo>
                  <a:pt x="129480" y="236637"/>
                </a:lnTo>
                <a:cubicBezTo>
                  <a:pt x="129480" y="229214"/>
                  <a:pt x="135452" y="223242"/>
                  <a:pt x="142875" y="223242"/>
                </a:cubicBezTo>
                <a:cubicBezTo>
                  <a:pt x="150298" y="223242"/>
                  <a:pt x="156270" y="229214"/>
                  <a:pt x="156270" y="236637"/>
                </a:cubicBezTo>
                <a:lnTo>
                  <a:pt x="156270" y="250031"/>
                </a:lnTo>
                <a:lnTo>
                  <a:pt x="205383" y="250031"/>
                </a:lnTo>
                <a:lnTo>
                  <a:pt x="205383" y="236637"/>
                </a:lnTo>
                <a:cubicBezTo>
                  <a:pt x="205383" y="229214"/>
                  <a:pt x="211355" y="223242"/>
                  <a:pt x="218777" y="223242"/>
                </a:cubicBezTo>
                <a:cubicBezTo>
                  <a:pt x="226200" y="223242"/>
                  <a:pt x="232172" y="229214"/>
                  <a:pt x="232172" y="236637"/>
                </a:cubicBezTo>
                <a:lnTo>
                  <a:pt x="232172" y="250031"/>
                </a:lnTo>
                <a:lnTo>
                  <a:pt x="267891" y="250031"/>
                </a:lnTo>
                <a:cubicBezTo>
                  <a:pt x="277769" y="250031"/>
                  <a:pt x="285750" y="242050"/>
                  <a:pt x="285750" y="232172"/>
                </a:cubicBezTo>
                <a:close/>
                <a:moveTo>
                  <a:pt x="89297" y="89297"/>
                </a:moveTo>
                <a:lnTo>
                  <a:pt x="89297" y="125016"/>
                </a:lnTo>
                <a:cubicBezTo>
                  <a:pt x="89297" y="134894"/>
                  <a:pt x="81316" y="142875"/>
                  <a:pt x="71438" y="142875"/>
                </a:cubicBezTo>
                <a:cubicBezTo>
                  <a:pt x="61559" y="142875"/>
                  <a:pt x="53578" y="134894"/>
                  <a:pt x="53578" y="125016"/>
                </a:cubicBezTo>
                <a:lnTo>
                  <a:pt x="53578" y="89297"/>
                </a:lnTo>
                <a:cubicBezTo>
                  <a:pt x="53578" y="79418"/>
                  <a:pt x="61559" y="71438"/>
                  <a:pt x="71438" y="71438"/>
                </a:cubicBezTo>
                <a:cubicBezTo>
                  <a:pt x="81316" y="71438"/>
                  <a:pt x="89297" y="79418"/>
                  <a:pt x="89297" y="89297"/>
                </a:cubicBezTo>
                <a:close/>
                <a:moveTo>
                  <a:pt x="160734" y="89297"/>
                </a:moveTo>
                <a:lnTo>
                  <a:pt x="160734" y="125016"/>
                </a:lnTo>
                <a:cubicBezTo>
                  <a:pt x="160734" y="134894"/>
                  <a:pt x="152753" y="142875"/>
                  <a:pt x="142875" y="142875"/>
                </a:cubicBezTo>
                <a:cubicBezTo>
                  <a:pt x="132997" y="142875"/>
                  <a:pt x="125016" y="134894"/>
                  <a:pt x="125016" y="125016"/>
                </a:cubicBezTo>
                <a:lnTo>
                  <a:pt x="125016" y="89297"/>
                </a:lnTo>
                <a:cubicBezTo>
                  <a:pt x="125016" y="79418"/>
                  <a:pt x="132997" y="71438"/>
                  <a:pt x="142875" y="71438"/>
                </a:cubicBezTo>
                <a:cubicBezTo>
                  <a:pt x="152753" y="71438"/>
                  <a:pt x="160734" y="79418"/>
                  <a:pt x="160734" y="89297"/>
                </a:cubicBezTo>
                <a:close/>
                <a:moveTo>
                  <a:pt x="232172" y="89297"/>
                </a:moveTo>
                <a:lnTo>
                  <a:pt x="232172" y="125016"/>
                </a:lnTo>
                <a:cubicBezTo>
                  <a:pt x="232172" y="134894"/>
                  <a:pt x="224191" y="142875"/>
                  <a:pt x="214313" y="142875"/>
                </a:cubicBezTo>
                <a:cubicBezTo>
                  <a:pt x="204434" y="142875"/>
                  <a:pt x="196453" y="134894"/>
                  <a:pt x="196453" y="125016"/>
                </a:cubicBezTo>
                <a:lnTo>
                  <a:pt x="196453" y="89297"/>
                </a:lnTo>
                <a:cubicBezTo>
                  <a:pt x="196453" y="79418"/>
                  <a:pt x="204434" y="71438"/>
                  <a:pt x="214313" y="71438"/>
                </a:cubicBezTo>
                <a:cubicBezTo>
                  <a:pt x="224191" y="71438"/>
                  <a:pt x="232172" y="79418"/>
                  <a:pt x="232172" y="89297"/>
                </a:cubicBezTo>
                <a:close/>
              </a:path>
            </a:pathLst>
          </a:custGeom>
          <a:solidFill>
            <a:srgbClr val="8B0000"/>
          </a:solidFill>
        </p:spPr>
      </p:sp>
      <p:sp>
        <p:nvSpPr>
          <p:cNvPr id="20" name="Text 18"/>
          <p:cNvSpPr/>
          <p:nvPr/>
        </p:nvSpPr>
        <p:spPr>
          <a:xfrm>
            <a:off x="490475" y="5714849"/>
            <a:ext cx="15335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00000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Memory Bandwidth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2285956" y="5200541"/>
            <a:ext cx="1752600" cy="933450"/>
          </a:xfrm>
          <a:custGeom>
            <a:avLst/>
            <a:gdLst/>
            <a:ahLst/>
            <a:cxnLst/>
            <a:rect l="l" t="t" r="r" b="b"/>
            <a:pathLst>
              <a:path w="1752600" h="933450">
                <a:moveTo>
                  <a:pt x="76198" y="0"/>
                </a:moveTo>
                <a:lnTo>
                  <a:pt x="1676402" y="0"/>
                </a:lnTo>
                <a:cubicBezTo>
                  <a:pt x="1718485" y="0"/>
                  <a:pt x="1752600" y="34115"/>
                  <a:pt x="1752600" y="76198"/>
                </a:cubicBezTo>
                <a:lnTo>
                  <a:pt x="1752600" y="857252"/>
                </a:lnTo>
                <a:cubicBezTo>
                  <a:pt x="1752600" y="899335"/>
                  <a:pt x="1718485" y="933450"/>
                  <a:pt x="1676402" y="933450"/>
                </a:cubicBezTo>
                <a:lnTo>
                  <a:pt x="76198" y="933450"/>
                </a:lnTo>
                <a:cubicBezTo>
                  <a:pt x="34115" y="933450"/>
                  <a:pt x="0" y="899335"/>
                  <a:pt x="0" y="857252"/>
                </a:cubicBezTo>
                <a:lnTo>
                  <a:pt x="0" y="76198"/>
                </a:lnTo>
                <a:cubicBezTo>
                  <a:pt x="0" y="34115"/>
                  <a:pt x="34115" y="0"/>
                  <a:pt x="76198" y="0"/>
                </a:cubicBezTo>
                <a:close/>
              </a:path>
            </a:pathLst>
          </a:custGeom>
          <a:solidFill>
            <a:srgbClr val="F9FAFB"/>
          </a:solidFill>
        </p:spPr>
      </p:sp>
      <p:sp>
        <p:nvSpPr>
          <p:cNvPr id="22" name="Shape 20"/>
          <p:cNvSpPr/>
          <p:nvPr/>
        </p:nvSpPr>
        <p:spPr>
          <a:xfrm>
            <a:off x="3039630" y="5352927"/>
            <a:ext cx="250031" cy="285750"/>
          </a:xfrm>
          <a:custGeom>
            <a:avLst/>
            <a:gdLst/>
            <a:ahLst/>
            <a:cxnLst/>
            <a:rect l="l" t="t" r="r" b="b"/>
            <a:pathLst>
              <a:path w="250031" h="285750">
                <a:moveTo>
                  <a:pt x="35719" y="17859"/>
                </a:moveTo>
                <a:cubicBezTo>
                  <a:pt x="16018" y="17859"/>
                  <a:pt x="0" y="33877"/>
                  <a:pt x="0" y="53578"/>
                </a:cubicBezTo>
                <a:lnTo>
                  <a:pt x="0" y="145163"/>
                </a:lnTo>
                <a:cubicBezTo>
                  <a:pt x="10102" y="138075"/>
                  <a:pt x="22436" y="133945"/>
                  <a:pt x="35719" y="133945"/>
                </a:cubicBezTo>
                <a:lnTo>
                  <a:pt x="214313" y="133945"/>
                </a:lnTo>
                <a:cubicBezTo>
                  <a:pt x="227595" y="133945"/>
                  <a:pt x="239930" y="138075"/>
                  <a:pt x="250031" y="145163"/>
                </a:cubicBezTo>
                <a:lnTo>
                  <a:pt x="250031" y="53578"/>
                </a:lnTo>
                <a:cubicBezTo>
                  <a:pt x="250031" y="33877"/>
                  <a:pt x="234014" y="17859"/>
                  <a:pt x="214313" y="17859"/>
                </a:cubicBezTo>
                <a:lnTo>
                  <a:pt x="35719" y="17859"/>
                </a:lnTo>
                <a:close/>
                <a:moveTo>
                  <a:pt x="250031" y="196453"/>
                </a:moveTo>
                <a:cubicBezTo>
                  <a:pt x="250031" y="176752"/>
                  <a:pt x="234014" y="160734"/>
                  <a:pt x="214313" y="160734"/>
                </a:cubicBezTo>
                <a:lnTo>
                  <a:pt x="35719" y="160734"/>
                </a:lnTo>
                <a:cubicBezTo>
                  <a:pt x="16018" y="160734"/>
                  <a:pt x="0" y="176752"/>
                  <a:pt x="0" y="196453"/>
                </a:cubicBezTo>
                <a:lnTo>
                  <a:pt x="0" y="232172"/>
                </a:lnTo>
                <a:cubicBezTo>
                  <a:pt x="0" y="251873"/>
                  <a:pt x="16018" y="267891"/>
                  <a:pt x="35719" y="267891"/>
                </a:cubicBezTo>
                <a:lnTo>
                  <a:pt x="214313" y="267891"/>
                </a:lnTo>
                <a:cubicBezTo>
                  <a:pt x="234014" y="267891"/>
                  <a:pt x="250031" y="251873"/>
                  <a:pt x="250031" y="232172"/>
                </a:cubicBezTo>
                <a:lnTo>
                  <a:pt x="250031" y="196453"/>
                </a:lnTo>
                <a:close/>
                <a:moveTo>
                  <a:pt x="125016" y="214313"/>
                </a:moveTo>
                <a:cubicBezTo>
                  <a:pt x="125016" y="204456"/>
                  <a:pt x="133018" y="196453"/>
                  <a:pt x="142875" y="196453"/>
                </a:cubicBezTo>
                <a:cubicBezTo>
                  <a:pt x="152732" y="196453"/>
                  <a:pt x="160734" y="204456"/>
                  <a:pt x="160734" y="214313"/>
                </a:cubicBezTo>
                <a:cubicBezTo>
                  <a:pt x="160734" y="224169"/>
                  <a:pt x="152732" y="232172"/>
                  <a:pt x="142875" y="232172"/>
                </a:cubicBezTo>
                <a:cubicBezTo>
                  <a:pt x="133018" y="232172"/>
                  <a:pt x="125016" y="224169"/>
                  <a:pt x="125016" y="214313"/>
                </a:cubicBezTo>
                <a:close/>
                <a:moveTo>
                  <a:pt x="196453" y="196453"/>
                </a:moveTo>
                <a:cubicBezTo>
                  <a:pt x="206310" y="196453"/>
                  <a:pt x="214313" y="204456"/>
                  <a:pt x="214313" y="214313"/>
                </a:cubicBezTo>
                <a:cubicBezTo>
                  <a:pt x="214313" y="224169"/>
                  <a:pt x="206310" y="232172"/>
                  <a:pt x="196453" y="232172"/>
                </a:cubicBezTo>
                <a:cubicBezTo>
                  <a:pt x="186596" y="232172"/>
                  <a:pt x="178594" y="224169"/>
                  <a:pt x="178594" y="214313"/>
                </a:cubicBezTo>
                <a:cubicBezTo>
                  <a:pt x="178594" y="204456"/>
                  <a:pt x="186596" y="196453"/>
                  <a:pt x="196453" y="196453"/>
                </a:cubicBezTo>
                <a:close/>
              </a:path>
            </a:pathLst>
          </a:custGeom>
          <a:solidFill>
            <a:srgbClr val="8B0000"/>
          </a:solidFill>
        </p:spPr>
      </p:sp>
      <p:sp>
        <p:nvSpPr>
          <p:cNvPr id="23" name="Text 21"/>
          <p:cNvSpPr/>
          <p:nvPr/>
        </p:nvSpPr>
        <p:spPr>
          <a:xfrm>
            <a:off x="2395475" y="5714849"/>
            <a:ext cx="15335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00000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Disk Bandwidth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4190956" y="5200541"/>
            <a:ext cx="1752600" cy="933450"/>
          </a:xfrm>
          <a:custGeom>
            <a:avLst/>
            <a:gdLst/>
            <a:ahLst/>
            <a:cxnLst/>
            <a:rect l="l" t="t" r="r" b="b"/>
            <a:pathLst>
              <a:path w="1752600" h="933450">
                <a:moveTo>
                  <a:pt x="76198" y="0"/>
                </a:moveTo>
                <a:lnTo>
                  <a:pt x="1676402" y="0"/>
                </a:lnTo>
                <a:cubicBezTo>
                  <a:pt x="1718485" y="0"/>
                  <a:pt x="1752600" y="34115"/>
                  <a:pt x="1752600" y="76198"/>
                </a:cubicBezTo>
                <a:lnTo>
                  <a:pt x="1752600" y="857252"/>
                </a:lnTo>
                <a:cubicBezTo>
                  <a:pt x="1752600" y="899335"/>
                  <a:pt x="1718485" y="933450"/>
                  <a:pt x="1676402" y="933450"/>
                </a:cubicBezTo>
                <a:lnTo>
                  <a:pt x="76198" y="933450"/>
                </a:lnTo>
                <a:cubicBezTo>
                  <a:pt x="34115" y="933450"/>
                  <a:pt x="0" y="899335"/>
                  <a:pt x="0" y="857252"/>
                </a:cubicBezTo>
                <a:lnTo>
                  <a:pt x="0" y="76198"/>
                </a:lnTo>
                <a:cubicBezTo>
                  <a:pt x="0" y="34115"/>
                  <a:pt x="34115" y="0"/>
                  <a:pt x="76198" y="0"/>
                </a:cubicBezTo>
                <a:close/>
              </a:path>
            </a:pathLst>
          </a:custGeom>
          <a:solidFill>
            <a:srgbClr val="F9FAFB"/>
          </a:solidFill>
        </p:spPr>
      </p:sp>
      <p:sp>
        <p:nvSpPr>
          <p:cNvPr id="25" name="Shape 23"/>
          <p:cNvSpPr/>
          <p:nvPr/>
        </p:nvSpPr>
        <p:spPr>
          <a:xfrm>
            <a:off x="4908911" y="5352927"/>
            <a:ext cx="321469" cy="285750"/>
          </a:xfrm>
          <a:custGeom>
            <a:avLst/>
            <a:gdLst/>
            <a:ahLst/>
            <a:cxnLst/>
            <a:rect l="l" t="t" r="r" b="b"/>
            <a:pathLst>
              <a:path w="321469" h="285750">
                <a:moveTo>
                  <a:pt x="138410" y="49113"/>
                </a:moveTo>
                <a:lnTo>
                  <a:pt x="183059" y="49113"/>
                </a:lnTo>
                <a:lnTo>
                  <a:pt x="183059" y="75902"/>
                </a:lnTo>
                <a:lnTo>
                  <a:pt x="138410" y="75902"/>
                </a:lnTo>
                <a:lnTo>
                  <a:pt x="138410" y="49113"/>
                </a:lnTo>
                <a:close/>
                <a:moveTo>
                  <a:pt x="133945" y="17859"/>
                </a:moveTo>
                <a:cubicBezTo>
                  <a:pt x="119156" y="17859"/>
                  <a:pt x="107156" y="29859"/>
                  <a:pt x="107156" y="44648"/>
                </a:cubicBezTo>
                <a:lnTo>
                  <a:pt x="107156" y="80367"/>
                </a:lnTo>
                <a:cubicBezTo>
                  <a:pt x="107156" y="95157"/>
                  <a:pt x="119156" y="107156"/>
                  <a:pt x="133945" y="107156"/>
                </a:cubicBezTo>
                <a:lnTo>
                  <a:pt x="142875" y="107156"/>
                </a:lnTo>
                <a:lnTo>
                  <a:pt x="142875" y="125016"/>
                </a:lnTo>
                <a:lnTo>
                  <a:pt x="17859" y="125016"/>
                </a:lnTo>
                <a:cubicBezTo>
                  <a:pt x="7981" y="125016"/>
                  <a:pt x="0" y="132997"/>
                  <a:pt x="0" y="142875"/>
                </a:cubicBezTo>
                <a:cubicBezTo>
                  <a:pt x="0" y="152753"/>
                  <a:pt x="7981" y="160734"/>
                  <a:pt x="17859" y="160734"/>
                </a:cubicBezTo>
                <a:lnTo>
                  <a:pt x="71438" y="160734"/>
                </a:lnTo>
                <a:lnTo>
                  <a:pt x="71438" y="178594"/>
                </a:lnTo>
                <a:lnTo>
                  <a:pt x="62508" y="178594"/>
                </a:lnTo>
                <a:cubicBezTo>
                  <a:pt x="47718" y="178594"/>
                  <a:pt x="35719" y="190593"/>
                  <a:pt x="35719" y="205383"/>
                </a:cubicBezTo>
                <a:lnTo>
                  <a:pt x="35719" y="241102"/>
                </a:lnTo>
                <a:cubicBezTo>
                  <a:pt x="35719" y="255891"/>
                  <a:pt x="47718" y="267891"/>
                  <a:pt x="62508" y="267891"/>
                </a:cubicBezTo>
                <a:lnTo>
                  <a:pt x="116086" y="267891"/>
                </a:lnTo>
                <a:cubicBezTo>
                  <a:pt x="130876" y="267891"/>
                  <a:pt x="142875" y="255891"/>
                  <a:pt x="142875" y="241102"/>
                </a:cubicBezTo>
                <a:lnTo>
                  <a:pt x="142875" y="205383"/>
                </a:lnTo>
                <a:cubicBezTo>
                  <a:pt x="142875" y="190593"/>
                  <a:pt x="130876" y="178594"/>
                  <a:pt x="116086" y="178594"/>
                </a:cubicBezTo>
                <a:lnTo>
                  <a:pt x="107156" y="178594"/>
                </a:lnTo>
                <a:lnTo>
                  <a:pt x="107156" y="160734"/>
                </a:lnTo>
                <a:lnTo>
                  <a:pt x="214313" y="160734"/>
                </a:lnTo>
                <a:lnTo>
                  <a:pt x="214313" y="178594"/>
                </a:lnTo>
                <a:lnTo>
                  <a:pt x="205383" y="178594"/>
                </a:lnTo>
                <a:cubicBezTo>
                  <a:pt x="190593" y="178594"/>
                  <a:pt x="178594" y="190593"/>
                  <a:pt x="178594" y="205383"/>
                </a:cubicBezTo>
                <a:lnTo>
                  <a:pt x="178594" y="241102"/>
                </a:lnTo>
                <a:cubicBezTo>
                  <a:pt x="178594" y="255891"/>
                  <a:pt x="190593" y="267891"/>
                  <a:pt x="205383" y="267891"/>
                </a:cubicBezTo>
                <a:lnTo>
                  <a:pt x="258961" y="267891"/>
                </a:lnTo>
                <a:cubicBezTo>
                  <a:pt x="273751" y="267891"/>
                  <a:pt x="285750" y="255891"/>
                  <a:pt x="285750" y="241102"/>
                </a:cubicBezTo>
                <a:lnTo>
                  <a:pt x="285750" y="205383"/>
                </a:lnTo>
                <a:cubicBezTo>
                  <a:pt x="285750" y="190593"/>
                  <a:pt x="273751" y="178594"/>
                  <a:pt x="258961" y="178594"/>
                </a:cubicBezTo>
                <a:lnTo>
                  <a:pt x="250031" y="178594"/>
                </a:lnTo>
                <a:lnTo>
                  <a:pt x="250031" y="160734"/>
                </a:lnTo>
                <a:lnTo>
                  <a:pt x="303609" y="160734"/>
                </a:lnTo>
                <a:cubicBezTo>
                  <a:pt x="313488" y="160734"/>
                  <a:pt x="321469" y="152753"/>
                  <a:pt x="321469" y="142875"/>
                </a:cubicBezTo>
                <a:cubicBezTo>
                  <a:pt x="321469" y="132997"/>
                  <a:pt x="313488" y="125016"/>
                  <a:pt x="303609" y="125016"/>
                </a:cubicBezTo>
                <a:lnTo>
                  <a:pt x="178594" y="125016"/>
                </a:lnTo>
                <a:lnTo>
                  <a:pt x="178594" y="107156"/>
                </a:lnTo>
                <a:lnTo>
                  <a:pt x="187523" y="107156"/>
                </a:lnTo>
                <a:cubicBezTo>
                  <a:pt x="202313" y="107156"/>
                  <a:pt x="214313" y="95157"/>
                  <a:pt x="214313" y="80367"/>
                </a:cubicBezTo>
                <a:lnTo>
                  <a:pt x="214313" y="44648"/>
                </a:lnTo>
                <a:cubicBezTo>
                  <a:pt x="214313" y="29859"/>
                  <a:pt x="202313" y="17859"/>
                  <a:pt x="187523" y="17859"/>
                </a:cubicBezTo>
                <a:lnTo>
                  <a:pt x="133945" y="17859"/>
                </a:lnTo>
                <a:close/>
                <a:moveTo>
                  <a:pt x="250031" y="209848"/>
                </a:moveTo>
                <a:lnTo>
                  <a:pt x="254496" y="209848"/>
                </a:lnTo>
                <a:lnTo>
                  <a:pt x="254496" y="236637"/>
                </a:lnTo>
                <a:lnTo>
                  <a:pt x="209848" y="236637"/>
                </a:lnTo>
                <a:lnTo>
                  <a:pt x="209848" y="209848"/>
                </a:lnTo>
                <a:lnTo>
                  <a:pt x="250031" y="209848"/>
                </a:lnTo>
                <a:close/>
                <a:moveTo>
                  <a:pt x="107156" y="209848"/>
                </a:moveTo>
                <a:lnTo>
                  <a:pt x="111621" y="209848"/>
                </a:lnTo>
                <a:lnTo>
                  <a:pt x="111621" y="236637"/>
                </a:lnTo>
                <a:lnTo>
                  <a:pt x="66973" y="236637"/>
                </a:lnTo>
                <a:lnTo>
                  <a:pt x="66973" y="209848"/>
                </a:lnTo>
                <a:lnTo>
                  <a:pt x="107156" y="209848"/>
                </a:lnTo>
                <a:close/>
              </a:path>
            </a:pathLst>
          </a:custGeom>
          <a:solidFill>
            <a:srgbClr val="8B0000"/>
          </a:solidFill>
        </p:spPr>
      </p:sp>
      <p:sp>
        <p:nvSpPr>
          <p:cNvPr id="26" name="Text 24"/>
          <p:cNvSpPr/>
          <p:nvPr/>
        </p:nvSpPr>
        <p:spPr>
          <a:xfrm>
            <a:off x="4300475" y="5714849"/>
            <a:ext cx="15335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00000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Network Bandwidth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248338" y="990484"/>
            <a:ext cx="5562600" cy="4838700"/>
          </a:xfrm>
          <a:custGeom>
            <a:avLst/>
            <a:gdLst/>
            <a:ahLst/>
            <a:cxnLst/>
            <a:rect l="l" t="t" r="r" b="b"/>
            <a:pathLst>
              <a:path w="5562600" h="4838700">
                <a:moveTo>
                  <a:pt x="76210" y="0"/>
                </a:moveTo>
                <a:lnTo>
                  <a:pt x="5486390" y="0"/>
                </a:lnTo>
                <a:cubicBezTo>
                  <a:pt x="5528480" y="0"/>
                  <a:pt x="5562600" y="34120"/>
                  <a:pt x="5562600" y="76210"/>
                </a:cubicBezTo>
                <a:lnTo>
                  <a:pt x="5562600" y="4762490"/>
                </a:lnTo>
                <a:cubicBezTo>
                  <a:pt x="5562600" y="4804580"/>
                  <a:pt x="5528480" y="4838700"/>
                  <a:pt x="5486390" y="4838700"/>
                </a:cubicBezTo>
                <a:lnTo>
                  <a:pt x="76210" y="4838700"/>
                </a:lnTo>
                <a:cubicBezTo>
                  <a:pt x="34120" y="4838700"/>
                  <a:pt x="0" y="4804580"/>
                  <a:pt x="0" y="4762490"/>
                </a:cubicBezTo>
                <a:lnTo>
                  <a:pt x="0" y="76210"/>
                </a:lnTo>
                <a:cubicBezTo>
                  <a:pt x="0" y="34148"/>
                  <a:pt x="34148" y="0"/>
                  <a:pt x="76210" y="0"/>
                </a:cubicBezTo>
                <a:close/>
              </a:path>
            </a:pathLst>
          </a:custGeom>
          <a:solidFill>
            <a:srgbClr val="F9FAFB"/>
          </a:solidFill>
        </p:spPr>
      </p:sp>
      <p:pic>
        <p:nvPicPr>
          <p:cNvPr id="28" name="Image 0" descr="https://kimi-web-img.moonshot.cn/img/www.forrestthewoods.com/c2d7e88d48512000add216340cdf0c814378d30b.png"/>
          <p:cNvPicPr>
            <a:picLocks noChangeAspect="1"/>
          </p:cNvPicPr>
          <p:nvPr/>
        </p:nvPicPr>
        <p:blipFill>
          <a:blip r:embed="rId4"/>
          <a:srcRect t="49" b="49"/>
          <a:stretch>
            <a:fillRect/>
          </a:stretch>
        </p:blipFill>
        <p:spPr>
          <a:xfrm>
            <a:off x="6400720" y="1989188"/>
            <a:ext cx="5257800" cy="2838450"/>
          </a:xfrm>
          <a:prstGeom prst="roundRect">
            <a:avLst>
              <a:gd name="adj" fmla="val 0"/>
            </a:avLst>
          </a:prstGeom>
        </p:spPr>
      </p:pic>
      <p:sp>
        <p:nvSpPr>
          <p:cNvPr id="29" name="Text 26"/>
          <p:cNvSpPr/>
          <p:nvPr/>
        </p:nvSpPr>
        <p:spPr>
          <a:xfrm>
            <a:off x="6210238" y="5905367"/>
            <a:ext cx="5638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6A7282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Image source: ForrestTheWoods - Memory Bandwidth</a:t>
            </a:r>
            <a:endParaRPr lang="en-US" sz="1600" dirty="0"/>
          </a:p>
        </p:txBody>
      </p:sp>
      <p:sp>
        <p:nvSpPr>
          <p:cNvPr id="30" name="灯片编号占位符 29"/>
          <p:cNvSpPr>
            <a:spLocks noGrp="1"/>
          </p:cNvSpPr>
          <p:nvPr>
            <p:ph type="sldNum" sz="quarter" idx="4294967295"/>
          </p:nvPr>
        </p:nvSpPr>
        <p:spPr>
          <a:xfrm>
            <a:off x="0" y="593725"/>
            <a:ext cx="419100" cy="365125"/>
          </a:xfrm>
        </p:spPr>
        <p:txBody>
          <a:bodyPr/>
          <a:lstStyle/>
          <a:p>
            <a:fld id="{B33F7469-D28B-482F-B1B6-3B8E7CF51519}" type="slidenum">
              <a:rPr lang="zh-CN" altLang="en-US" smtClean="0"/>
              <a:t>8</a:t>
            </a:fld>
            <a:endParaRPr lang="zh-CN" altLang="en-US" dirty="0"/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6244" y="629883"/>
            <a:ext cx="11601450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00000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Bandwidth Example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0956" y="1148750"/>
            <a:ext cx="56769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8B000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Assumed Conditions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0956" y="1605824"/>
            <a:ext cx="5562600" cy="1104900"/>
          </a:xfrm>
          <a:custGeom>
            <a:avLst/>
            <a:gdLst/>
            <a:ahLst/>
            <a:cxnLst/>
            <a:rect l="l" t="t" r="r" b="b"/>
            <a:pathLst>
              <a:path w="5562600" h="1104900">
                <a:moveTo>
                  <a:pt x="114302" y="0"/>
                </a:moveTo>
                <a:lnTo>
                  <a:pt x="5448298" y="0"/>
                </a:lnTo>
                <a:cubicBezTo>
                  <a:pt x="5511425" y="0"/>
                  <a:pt x="5562600" y="51175"/>
                  <a:pt x="5562600" y="114302"/>
                </a:cubicBezTo>
                <a:lnTo>
                  <a:pt x="5562600" y="990598"/>
                </a:lnTo>
                <a:cubicBezTo>
                  <a:pt x="5562600" y="1053725"/>
                  <a:pt x="5511425" y="1104900"/>
                  <a:pt x="5448298" y="1104900"/>
                </a:cubicBezTo>
                <a:lnTo>
                  <a:pt x="114302" y="1104900"/>
                </a:lnTo>
                <a:cubicBezTo>
                  <a:pt x="51175" y="1104900"/>
                  <a:pt x="0" y="1053725"/>
                  <a:pt x="0" y="9905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F9FAFB"/>
          </a:solidFill>
        </p:spPr>
      </p:sp>
      <p:sp>
        <p:nvSpPr>
          <p:cNvPr id="5" name="Shape 3"/>
          <p:cNvSpPr/>
          <p:nvPr/>
        </p:nvSpPr>
        <p:spPr>
          <a:xfrm>
            <a:off x="647629" y="2015362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0" y="142875"/>
                </a:moveTo>
                <a:cubicBezTo>
                  <a:pt x="0" y="64020"/>
                  <a:pt x="64020" y="0"/>
                  <a:pt x="142875" y="0"/>
                </a:cubicBezTo>
                <a:cubicBezTo>
                  <a:pt x="221730" y="0"/>
                  <a:pt x="285750" y="64020"/>
                  <a:pt x="285750" y="142875"/>
                </a:cubicBezTo>
                <a:cubicBezTo>
                  <a:pt x="285750" y="221730"/>
                  <a:pt x="221730" y="285750"/>
                  <a:pt x="142875" y="285750"/>
                </a:cubicBezTo>
                <a:cubicBezTo>
                  <a:pt x="64020" y="285750"/>
                  <a:pt x="0" y="221730"/>
                  <a:pt x="0" y="142875"/>
                </a:cubicBezTo>
                <a:close/>
                <a:moveTo>
                  <a:pt x="160734" y="53578"/>
                </a:moveTo>
                <a:cubicBezTo>
                  <a:pt x="160734" y="43721"/>
                  <a:pt x="152732" y="35719"/>
                  <a:pt x="142875" y="35719"/>
                </a:cubicBezTo>
                <a:cubicBezTo>
                  <a:pt x="133018" y="35719"/>
                  <a:pt x="125016" y="43721"/>
                  <a:pt x="125016" y="53578"/>
                </a:cubicBezTo>
                <a:cubicBezTo>
                  <a:pt x="125016" y="63435"/>
                  <a:pt x="133018" y="71438"/>
                  <a:pt x="142875" y="71438"/>
                </a:cubicBezTo>
                <a:cubicBezTo>
                  <a:pt x="152732" y="71438"/>
                  <a:pt x="160734" y="63435"/>
                  <a:pt x="160734" y="53578"/>
                </a:cubicBezTo>
                <a:close/>
                <a:moveTo>
                  <a:pt x="142875" y="232172"/>
                </a:moveTo>
                <a:cubicBezTo>
                  <a:pt x="162576" y="232172"/>
                  <a:pt x="178594" y="216154"/>
                  <a:pt x="178594" y="196453"/>
                </a:cubicBezTo>
                <a:cubicBezTo>
                  <a:pt x="178594" y="187412"/>
                  <a:pt x="175245" y="179096"/>
                  <a:pt x="169664" y="172845"/>
                </a:cubicBezTo>
                <a:lnTo>
                  <a:pt x="208452" y="95324"/>
                </a:lnTo>
                <a:cubicBezTo>
                  <a:pt x="211745" y="88683"/>
                  <a:pt x="209066" y="80646"/>
                  <a:pt x="202481" y="77353"/>
                </a:cubicBezTo>
                <a:cubicBezTo>
                  <a:pt x="195895" y="74061"/>
                  <a:pt x="187802" y="76740"/>
                  <a:pt x="184510" y="83325"/>
                </a:cubicBezTo>
                <a:lnTo>
                  <a:pt x="145721" y="160846"/>
                </a:lnTo>
                <a:cubicBezTo>
                  <a:pt x="144773" y="160790"/>
                  <a:pt x="143824" y="160734"/>
                  <a:pt x="142875" y="160734"/>
                </a:cubicBezTo>
                <a:cubicBezTo>
                  <a:pt x="123174" y="160734"/>
                  <a:pt x="107156" y="176752"/>
                  <a:pt x="107156" y="196453"/>
                </a:cubicBezTo>
                <a:cubicBezTo>
                  <a:pt x="107156" y="216154"/>
                  <a:pt x="123174" y="232172"/>
                  <a:pt x="142875" y="232172"/>
                </a:cubicBezTo>
                <a:close/>
                <a:moveTo>
                  <a:pt x="98227" y="80367"/>
                </a:moveTo>
                <a:cubicBezTo>
                  <a:pt x="98227" y="70510"/>
                  <a:pt x="90224" y="62508"/>
                  <a:pt x="80367" y="62508"/>
                </a:cubicBezTo>
                <a:cubicBezTo>
                  <a:pt x="70510" y="62508"/>
                  <a:pt x="62508" y="70510"/>
                  <a:pt x="62508" y="80367"/>
                </a:cubicBezTo>
                <a:cubicBezTo>
                  <a:pt x="62508" y="90224"/>
                  <a:pt x="70510" y="98227"/>
                  <a:pt x="80367" y="98227"/>
                </a:cubicBezTo>
                <a:cubicBezTo>
                  <a:pt x="90224" y="98227"/>
                  <a:pt x="98227" y="90224"/>
                  <a:pt x="98227" y="80367"/>
                </a:cubicBezTo>
                <a:close/>
                <a:moveTo>
                  <a:pt x="53578" y="160734"/>
                </a:moveTo>
                <a:cubicBezTo>
                  <a:pt x="63435" y="160734"/>
                  <a:pt x="71438" y="152732"/>
                  <a:pt x="71438" y="142875"/>
                </a:cubicBezTo>
                <a:cubicBezTo>
                  <a:pt x="71438" y="133018"/>
                  <a:pt x="63435" y="125016"/>
                  <a:pt x="53578" y="125016"/>
                </a:cubicBezTo>
                <a:cubicBezTo>
                  <a:pt x="43721" y="125016"/>
                  <a:pt x="35719" y="133018"/>
                  <a:pt x="35719" y="142875"/>
                </a:cubicBezTo>
                <a:cubicBezTo>
                  <a:pt x="35719" y="152732"/>
                  <a:pt x="43721" y="160734"/>
                  <a:pt x="53578" y="160734"/>
                </a:cubicBezTo>
                <a:close/>
                <a:moveTo>
                  <a:pt x="250031" y="142875"/>
                </a:moveTo>
                <a:cubicBezTo>
                  <a:pt x="250031" y="133018"/>
                  <a:pt x="242029" y="125016"/>
                  <a:pt x="232172" y="125016"/>
                </a:cubicBezTo>
                <a:cubicBezTo>
                  <a:pt x="222315" y="125016"/>
                  <a:pt x="214313" y="133018"/>
                  <a:pt x="214313" y="142875"/>
                </a:cubicBezTo>
                <a:cubicBezTo>
                  <a:pt x="214313" y="152732"/>
                  <a:pt x="222315" y="160734"/>
                  <a:pt x="232172" y="160734"/>
                </a:cubicBezTo>
                <a:cubicBezTo>
                  <a:pt x="242029" y="160734"/>
                  <a:pt x="250031" y="152732"/>
                  <a:pt x="250031" y="142875"/>
                </a:cubicBezTo>
                <a:close/>
              </a:path>
            </a:pathLst>
          </a:custGeom>
          <a:solidFill>
            <a:srgbClr val="8B0000"/>
          </a:solidFill>
        </p:spPr>
      </p:sp>
      <p:sp>
        <p:nvSpPr>
          <p:cNvPr id="6" name="Text 4"/>
          <p:cNvSpPr/>
          <p:nvPr/>
        </p:nvSpPr>
        <p:spPr>
          <a:xfrm>
            <a:off x="1119099" y="1834396"/>
            <a:ext cx="16478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4A5565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Memory Bandwidth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19099" y="2101101"/>
            <a:ext cx="1733550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8B000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100 GB/s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99911" y="2939203"/>
            <a:ext cx="5543455" cy="1028700"/>
          </a:xfrm>
          <a:custGeom>
            <a:avLst/>
            <a:gdLst/>
            <a:ahLst/>
            <a:cxnLst/>
            <a:rect l="l" t="t" r="r" b="b"/>
            <a:pathLst>
              <a:path w="5543455" h="1028700">
                <a:moveTo>
                  <a:pt x="37910" y="0"/>
                </a:moveTo>
                <a:lnTo>
                  <a:pt x="5429156" y="0"/>
                </a:lnTo>
                <a:cubicBezTo>
                  <a:pt x="5492282" y="0"/>
                  <a:pt x="5543455" y="51173"/>
                  <a:pt x="5543455" y="114299"/>
                </a:cubicBezTo>
                <a:lnTo>
                  <a:pt x="5543455" y="914401"/>
                </a:lnTo>
                <a:cubicBezTo>
                  <a:pt x="5543455" y="977527"/>
                  <a:pt x="5492282" y="1028700"/>
                  <a:pt x="5429156" y="1028700"/>
                </a:cubicBezTo>
                <a:lnTo>
                  <a:pt x="37910" y="1028700"/>
                </a:lnTo>
                <a:cubicBezTo>
                  <a:pt x="16973" y="1028700"/>
                  <a:pt x="0" y="1011727"/>
                  <a:pt x="0" y="990790"/>
                </a:cubicBezTo>
                <a:lnTo>
                  <a:pt x="0" y="37910"/>
                </a:lnTo>
                <a:cubicBezTo>
                  <a:pt x="0" y="16987"/>
                  <a:pt x="16987" y="0"/>
                  <a:pt x="37910" y="0"/>
                </a:cubicBezTo>
                <a:close/>
              </a:path>
            </a:pathLst>
          </a:custGeom>
          <a:solidFill>
            <a:srgbClr val="8B0000">
              <a:alpha val="10196"/>
            </a:srgbClr>
          </a:solidFill>
        </p:spPr>
      </p:sp>
      <p:sp>
        <p:nvSpPr>
          <p:cNvPr id="9" name="Shape 7"/>
          <p:cNvSpPr/>
          <p:nvPr/>
        </p:nvSpPr>
        <p:spPr>
          <a:xfrm>
            <a:off x="399911" y="2939203"/>
            <a:ext cx="37910" cy="1028700"/>
          </a:xfrm>
          <a:custGeom>
            <a:avLst/>
            <a:gdLst/>
            <a:ahLst/>
            <a:cxnLst/>
            <a:rect l="l" t="t" r="r" b="b"/>
            <a:pathLst>
              <a:path w="37910" h="1028700">
                <a:moveTo>
                  <a:pt x="37910" y="0"/>
                </a:moveTo>
                <a:lnTo>
                  <a:pt x="37910" y="0"/>
                </a:lnTo>
                <a:lnTo>
                  <a:pt x="37910" y="1028700"/>
                </a:lnTo>
                <a:lnTo>
                  <a:pt x="37910" y="1028700"/>
                </a:lnTo>
                <a:cubicBezTo>
                  <a:pt x="16973" y="1028700"/>
                  <a:pt x="0" y="1011727"/>
                  <a:pt x="0" y="990790"/>
                </a:cubicBezTo>
                <a:lnTo>
                  <a:pt x="0" y="37910"/>
                </a:lnTo>
                <a:cubicBezTo>
                  <a:pt x="0" y="16987"/>
                  <a:pt x="16987" y="0"/>
                  <a:pt x="37910" y="0"/>
                </a:cubicBezTo>
                <a:close/>
              </a:path>
            </a:pathLst>
          </a:custGeom>
          <a:solidFill>
            <a:srgbClr val="8B0000"/>
          </a:solidFill>
        </p:spPr>
      </p:sp>
      <p:sp>
        <p:nvSpPr>
          <p:cNvPr id="10" name="Text 8"/>
          <p:cNvSpPr/>
          <p:nvPr/>
        </p:nvSpPr>
        <p:spPr>
          <a:xfrm>
            <a:off x="609307" y="3129647"/>
            <a:ext cx="52387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00000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This means: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09307" y="3472543"/>
            <a:ext cx="52578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8B000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Up to 100 GB of data can be read per second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80956" y="4037981"/>
            <a:ext cx="56769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00000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Calculation Example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80956" y="4495056"/>
            <a:ext cx="5562600" cy="914400"/>
          </a:xfrm>
          <a:custGeom>
            <a:avLst/>
            <a:gdLst/>
            <a:ahLst/>
            <a:cxnLst/>
            <a:rect l="l" t="t" r="r" b="b"/>
            <a:pathLst>
              <a:path w="5562600" h="914400">
                <a:moveTo>
                  <a:pt x="76197" y="0"/>
                </a:moveTo>
                <a:lnTo>
                  <a:pt x="5486403" y="0"/>
                </a:lnTo>
                <a:cubicBezTo>
                  <a:pt x="5528485" y="0"/>
                  <a:pt x="5562600" y="34115"/>
                  <a:pt x="5562600" y="76197"/>
                </a:cubicBezTo>
                <a:lnTo>
                  <a:pt x="5562600" y="838203"/>
                </a:lnTo>
                <a:cubicBezTo>
                  <a:pt x="5562600" y="880285"/>
                  <a:pt x="5528485" y="914400"/>
                  <a:pt x="5486403" y="914400"/>
                </a:cubicBezTo>
                <a:lnTo>
                  <a:pt x="76197" y="914400"/>
                </a:lnTo>
                <a:cubicBezTo>
                  <a:pt x="34115" y="914400"/>
                  <a:pt x="0" y="880285"/>
                  <a:pt x="0" y="838203"/>
                </a:cubicBezTo>
                <a:lnTo>
                  <a:pt x="0" y="76197"/>
                </a:lnTo>
                <a:cubicBezTo>
                  <a:pt x="0" y="34143"/>
                  <a:pt x="34143" y="0"/>
                  <a:pt x="76197" y="0"/>
                </a:cubicBezTo>
                <a:close/>
              </a:path>
            </a:pathLst>
          </a:custGeom>
          <a:solidFill>
            <a:srgbClr val="F9FAFB"/>
          </a:solidFill>
        </p:spPr>
      </p:sp>
      <p:sp>
        <p:nvSpPr>
          <p:cNvPr id="14" name="Text 12"/>
          <p:cNvSpPr/>
          <p:nvPr/>
        </p:nvSpPr>
        <p:spPr>
          <a:xfrm>
            <a:off x="533338" y="4647437"/>
            <a:ext cx="53435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4A5565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If the program needs to read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33338" y="4952200"/>
            <a:ext cx="53721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00000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200 GB of data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99911" y="5561656"/>
            <a:ext cx="5543455" cy="1295400"/>
          </a:xfrm>
          <a:custGeom>
            <a:avLst/>
            <a:gdLst/>
            <a:ahLst/>
            <a:cxnLst/>
            <a:rect l="l" t="t" r="r" b="b"/>
            <a:pathLst>
              <a:path w="5543455" h="1295400">
                <a:moveTo>
                  <a:pt x="37910" y="0"/>
                </a:moveTo>
                <a:lnTo>
                  <a:pt x="5467260" y="0"/>
                </a:lnTo>
                <a:cubicBezTo>
                  <a:pt x="5509313" y="0"/>
                  <a:pt x="5543455" y="34142"/>
                  <a:pt x="5543455" y="76195"/>
                </a:cubicBezTo>
                <a:lnTo>
                  <a:pt x="5543455" y="1219205"/>
                </a:lnTo>
                <a:cubicBezTo>
                  <a:pt x="5543455" y="1261286"/>
                  <a:pt x="5509341" y="1295400"/>
                  <a:pt x="5467260" y="1295400"/>
                </a:cubicBezTo>
                <a:lnTo>
                  <a:pt x="37910" y="1295400"/>
                </a:lnTo>
                <a:cubicBezTo>
                  <a:pt x="16973" y="1295400"/>
                  <a:pt x="0" y="1278427"/>
                  <a:pt x="0" y="1257490"/>
                </a:cubicBezTo>
                <a:lnTo>
                  <a:pt x="0" y="37910"/>
                </a:lnTo>
                <a:cubicBezTo>
                  <a:pt x="0" y="16987"/>
                  <a:pt x="16987" y="0"/>
                  <a:pt x="37910" y="0"/>
                </a:cubicBezTo>
                <a:close/>
              </a:path>
            </a:pathLst>
          </a:custGeom>
          <a:solidFill>
            <a:srgbClr val="8B0000">
              <a:alpha val="10196"/>
            </a:srgbClr>
          </a:solidFill>
        </p:spPr>
      </p:sp>
      <p:sp>
        <p:nvSpPr>
          <p:cNvPr id="17" name="Shape 15"/>
          <p:cNvSpPr/>
          <p:nvPr/>
        </p:nvSpPr>
        <p:spPr>
          <a:xfrm>
            <a:off x="399911" y="5561656"/>
            <a:ext cx="37910" cy="1295400"/>
          </a:xfrm>
          <a:custGeom>
            <a:avLst/>
            <a:gdLst/>
            <a:ahLst/>
            <a:cxnLst/>
            <a:rect l="l" t="t" r="r" b="b"/>
            <a:pathLst>
              <a:path w="37910" h="1295400">
                <a:moveTo>
                  <a:pt x="37910" y="0"/>
                </a:moveTo>
                <a:lnTo>
                  <a:pt x="37910" y="0"/>
                </a:lnTo>
                <a:lnTo>
                  <a:pt x="37910" y="1295400"/>
                </a:lnTo>
                <a:lnTo>
                  <a:pt x="37910" y="1295400"/>
                </a:lnTo>
                <a:cubicBezTo>
                  <a:pt x="16973" y="1295400"/>
                  <a:pt x="0" y="1278427"/>
                  <a:pt x="0" y="1257490"/>
                </a:cubicBezTo>
                <a:lnTo>
                  <a:pt x="0" y="37910"/>
                </a:lnTo>
                <a:cubicBezTo>
                  <a:pt x="0" y="16987"/>
                  <a:pt x="16987" y="0"/>
                  <a:pt x="37910" y="0"/>
                </a:cubicBezTo>
                <a:close/>
              </a:path>
            </a:pathLst>
          </a:custGeom>
          <a:solidFill>
            <a:srgbClr val="8B0000"/>
          </a:solidFill>
        </p:spPr>
      </p:sp>
      <p:sp>
        <p:nvSpPr>
          <p:cNvPr id="18" name="Text 16"/>
          <p:cNvSpPr/>
          <p:nvPr/>
        </p:nvSpPr>
        <p:spPr>
          <a:xfrm>
            <a:off x="571248" y="5714037"/>
            <a:ext cx="53054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4A5565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Theoretical minimum time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71248" y="6018800"/>
            <a:ext cx="53149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00000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= 200 GB ÷ 100 GB/s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71248" y="6361700"/>
            <a:ext cx="5362575" cy="3429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8B000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= 2 seconds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248338" y="990484"/>
            <a:ext cx="5562600" cy="4838700"/>
          </a:xfrm>
          <a:custGeom>
            <a:avLst/>
            <a:gdLst/>
            <a:ahLst/>
            <a:cxnLst/>
            <a:rect l="l" t="t" r="r" b="b"/>
            <a:pathLst>
              <a:path w="5562600" h="4838700">
                <a:moveTo>
                  <a:pt x="76210" y="0"/>
                </a:moveTo>
                <a:lnTo>
                  <a:pt x="5486390" y="0"/>
                </a:lnTo>
                <a:cubicBezTo>
                  <a:pt x="5528480" y="0"/>
                  <a:pt x="5562600" y="34120"/>
                  <a:pt x="5562600" y="76210"/>
                </a:cubicBezTo>
                <a:lnTo>
                  <a:pt x="5562600" y="4762490"/>
                </a:lnTo>
                <a:cubicBezTo>
                  <a:pt x="5562600" y="4804580"/>
                  <a:pt x="5528480" y="4838700"/>
                  <a:pt x="5486390" y="4838700"/>
                </a:cubicBezTo>
                <a:lnTo>
                  <a:pt x="76210" y="4838700"/>
                </a:lnTo>
                <a:cubicBezTo>
                  <a:pt x="34120" y="4838700"/>
                  <a:pt x="0" y="4804580"/>
                  <a:pt x="0" y="4762490"/>
                </a:cubicBezTo>
                <a:lnTo>
                  <a:pt x="0" y="76210"/>
                </a:lnTo>
                <a:cubicBezTo>
                  <a:pt x="0" y="34148"/>
                  <a:pt x="34148" y="0"/>
                  <a:pt x="76210" y="0"/>
                </a:cubicBezTo>
                <a:close/>
              </a:path>
            </a:pathLst>
          </a:custGeom>
          <a:solidFill>
            <a:srgbClr val="F9FAFB"/>
          </a:solidFill>
        </p:spPr>
      </p:sp>
      <p:pic>
        <p:nvPicPr>
          <p:cNvPr id="22" name="Image 0" descr="https://kimi-web-img.moonshot.cn/img/people.cs.pitt.edu/04a0e17b3d272c4139eb62b6bffacfa02d7b9228.jp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6900886" y="2443079"/>
            <a:ext cx="4257675" cy="1933575"/>
          </a:xfrm>
          <a:prstGeom prst="roundRect">
            <a:avLst>
              <a:gd name="adj" fmla="val 0"/>
            </a:avLst>
          </a:prstGeom>
        </p:spPr>
      </p:pic>
      <p:sp>
        <p:nvSpPr>
          <p:cNvPr id="23" name="Text 20"/>
          <p:cNvSpPr/>
          <p:nvPr/>
        </p:nvSpPr>
        <p:spPr>
          <a:xfrm>
            <a:off x="6210238" y="5905365"/>
            <a:ext cx="5638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6A7282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Image source: University of Pittsburgh - Memory Controller</a:t>
            </a:r>
            <a:endParaRPr lang="en-US" sz="1600" dirty="0"/>
          </a:p>
        </p:txBody>
      </p:sp>
      <p:sp>
        <p:nvSpPr>
          <p:cNvPr id="24" name="灯片编号占位符 23"/>
          <p:cNvSpPr>
            <a:spLocks noGrp="1"/>
          </p:cNvSpPr>
          <p:nvPr>
            <p:ph type="sldNum" sz="quarter" idx="4294967295"/>
          </p:nvPr>
        </p:nvSpPr>
        <p:spPr>
          <a:xfrm>
            <a:off x="0" y="593725"/>
            <a:ext cx="419100" cy="365125"/>
          </a:xfrm>
        </p:spPr>
        <p:txBody>
          <a:bodyPr/>
          <a:lstStyle/>
          <a:p>
            <a:fld id="{B33F7469-D28B-482F-B1B6-3B8E7CF51519}" type="slidenum">
              <a:rPr lang="zh-CN" altLang="en-US" smtClean="0"/>
              <a:t>9</a:t>
            </a:fld>
            <a:endParaRPr lang="zh-CN" altLang="en-US" dirty="0"/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1424" y="609484"/>
            <a:ext cx="11601450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00000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What is Latency?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399911" y="1178058"/>
            <a:ext cx="5543455" cy="1104900"/>
          </a:xfrm>
          <a:custGeom>
            <a:avLst/>
            <a:gdLst/>
            <a:ahLst/>
            <a:cxnLst/>
            <a:rect l="l" t="t" r="r" b="b"/>
            <a:pathLst>
              <a:path w="5543455" h="1104900">
                <a:moveTo>
                  <a:pt x="37910" y="0"/>
                </a:moveTo>
                <a:lnTo>
                  <a:pt x="5429153" y="0"/>
                </a:lnTo>
                <a:cubicBezTo>
                  <a:pt x="5492281" y="0"/>
                  <a:pt x="5543455" y="51175"/>
                  <a:pt x="5543455" y="114302"/>
                </a:cubicBezTo>
                <a:lnTo>
                  <a:pt x="5543455" y="990598"/>
                </a:lnTo>
                <a:cubicBezTo>
                  <a:pt x="5543455" y="1053725"/>
                  <a:pt x="5492281" y="1104900"/>
                  <a:pt x="5429153" y="1104900"/>
                </a:cubicBezTo>
                <a:lnTo>
                  <a:pt x="37910" y="1104900"/>
                </a:lnTo>
                <a:cubicBezTo>
                  <a:pt x="16973" y="1104900"/>
                  <a:pt x="0" y="1087927"/>
                  <a:pt x="0" y="1066990"/>
                </a:cubicBezTo>
                <a:lnTo>
                  <a:pt x="0" y="37910"/>
                </a:lnTo>
                <a:cubicBezTo>
                  <a:pt x="0" y="16987"/>
                  <a:pt x="16987" y="0"/>
                  <a:pt x="37910" y="0"/>
                </a:cubicBezTo>
                <a:close/>
              </a:path>
            </a:pathLst>
          </a:custGeom>
          <a:solidFill>
            <a:srgbClr val="8B0000">
              <a:alpha val="10196"/>
            </a:srgbClr>
          </a:solidFill>
        </p:spPr>
      </p:sp>
      <p:sp>
        <p:nvSpPr>
          <p:cNvPr id="4" name="Shape 2"/>
          <p:cNvSpPr/>
          <p:nvPr/>
        </p:nvSpPr>
        <p:spPr>
          <a:xfrm>
            <a:off x="399911" y="1178058"/>
            <a:ext cx="37910" cy="1104900"/>
          </a:xfrm>
          <a:custGeom>
            <a:avLst/>
            <a:gdLst/>
            <a:ahLst/>
            <a:cxnLst/>
            <a:rect l="l" t="t" r="r" b="b"/>
            <a:pathLst>
              <a:path w="37910" h="1104900">
                <a:moveTo>
                  <a:pt x="37910" y="0"/>
                </a:moveTo>
                <a:lnTo>
                  <a:pt x="37910" y="0"/>
                </a:lnTo>
                <a:lnTo>
                  <a:pt x="37910" y="1104900"/>
                </a:lnTo>
                <a:lnTo>
                  <a:pt x="37910" y="1104900"/>
                </a:lnTo>
                <a:cubicBezTo>
                  <a:pt x="16973" y="1104900"/>
                  <a:pt x="0" y="1087927"/>
                  <a:pt x="0" y="1066990"/>
                </a:cubicBezTo>
                <a:lnTo>
                  <a:pt x="0" y="37910"/>
                </a:lnTo>
                <a:cubicBezTo>
                  <a:pt x="0" y="16987"/>
                  <a:pt x="16987" y="0"/>
                  <a:pt x="37910" y="0"/>
                </a:cubicBezTo>
                <a:close/>
              </a:path>
            </a:pathLst>
          </a:custGeom>
          <a:solidFill>
            <a:srgbClr val="8B0000"/>
          </a:solidFill>
        </p:spPr>
      </p:sp>
      <p:sp>
        <p:nvSpPr>
          <p:cNvPr id="5" name="Text 3"/>
          <p:cNvSpPr/>
          <p:nvPr/>
        </p:nvSpPr>
        <p:spPr>
          <a:xfrm>
            <a:off x="647439" y="1406630"/>
            <a:ext cx="51816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00000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Latency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7439" y="1787514"/>
            <a:ext cx="51625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36415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Represents the time required to complete one operation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80956" y="2323788"/>
            <a:ext cx="56769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00000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Typical Scenarios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80956" y="2780863"/>
            <a:ext cx="5562600" cy="495300"/>
          </a:xfrm>
          <a:custGeom>
            <a:avLst/>
            <a:gdLst/>
            <a:ahLst/>
            <a:cxnLst/>
            <a:rect l="l" t="t" r="r" b="b"/>
            <a:pathLst>
              <a:path w="5562600" h="495300">
                <a:moveTo>
                  <a:pt x="76202" y="0"/>
                </a:moveTo>
                <a:lnTo>
                  <a:pt x="5486398" y="0"/>
                </a:lnTo>
                <a:cubicBezTo>
                  <a:pt x="5528483" y="0"/>
                  <a:pt x="5562600" y="34117"/>
                  <a:pt x="5562600" y="76202"/>
                </a:cubicBezTo>
                <a:lnTo>
                  <a:pt x="5562600" y="419098"/>
                </a:lnTo>
                <a:cubicBezTo>
                  <a:pt x="5562600" y="461183"/>
                  <a:pt x="5528483" y="495300"/>
                  <a:pt x="5486398" y="495300"/>
                </a:cubicBezTo>
                <a:lnTo>
                  <a:pt x="76202" y="495300"/>
                </a:lnTo>
                <a:cubicBezTo>
                  <a:pt x="34117" y="495300"/>
                  <a:pt x="0" y="461183"/>
                  <a:pt x="0" y="419098"/>
                </a:cubicBezTo>
                <a:lnTo>
                  <a:pt x="0" y="76202"/>
                </a:lnTo>
                <a:cubicBezTo>
                  <a:pt x="0" y="34117"/>
                  <a:pt x="34117" y="0"/>
                  <a:pt x="76202" y="0"/>
                </a:cubicBezTo>
                <a:close/>
              </a:path>
            </a:pathLst>
          </a:custGeom>
          <a:solidFill>
            <a:srgbClr val="F9FAFB"/>
          </a:solidFill>
        </p:spPr>
      </p:sp>
      <p:sp>
        <p:nvSpPr>
          <p:cNvPr id="9" name="Shape 7"/>
          <p:cNvSpPr/>
          <p:nvPr/>
        </p:nvSpPr>
        <p:spPr>
          <a:xfrm>
            <a:off x="519018" y="293317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23812" y="23812"/>
                </a:moveTo>
                <a:cubicBezTo>
                  <a:pt x="10678" y="23812"/>
                  <a:pt x="0" y="34491"/>
                  <a:pt x="0" y="47625"/>
                </a:cubicBezTo>
                <a:lnTo>
                  <a:pt x="0" y="50378"/>
                </a:lnTo>
                <a:cubicBezTo>
                  <a:pt x="0" y="52908"/>
                  <a:pt x="1637" y="55066"/>
                  <a:pt x="3758" y="56443"/>
                </a:cubicBezTo>
                <a:cubicBezTo>
                  <a:pt x="8669" y="59643"/>
                  <a:pt x="11906" y="65150"/>
                  <a:pt x="11906" y="71438"/>
                </a:cubicBezTo>
                <a:cubicBezTo>
                  <a:pt x="11906" y="77725"/>
                  <a:pt x="8669" y="83232"/>
                  <a:pt x="3758" y="86432"/>
                </a:cubicBezTo>
                <a:cubicBezTo>
                  <a:pt x="1637" y="87809"/>
                  <a:pt x="0" y="89967"/>
                  <a:pt x="0" y="92497"/>
                </a:cubicBezTo>
                <a:lnTo>
                  <a:pt x="0" y="113109"/>
                </a:lnTo>
                <a:lnTo>
                  <a:pt x="190500" y="113109"/>
                </a:lnTo>
                <a:lnTo>
                  <a:pt x="190500" y="92497"/>
                </a:lnTo>
                <a:cubicBezTo>
                  <a:pt x="190500" y="89967"/>
                  <a:pt x="188863" y="87809"/>
                  <a:pt x="186742" y="86432"/>
                </a:cubicBezTo>
                <a:cubicBezTo>
                  <a:pt x="181831" y="83232"/>
                  <a:pt x="178594" y="77725"/>
                  <a:pt x="178594" y="71438"/>
                </a:cubicBezTo>
                <a:cubicBezTo>
                  <a:pt x="178594" y="65150"/>
                  <a:pt x="181831" y="59643"/>
                  <a:pt x="186742" y="56443"/>
                </a:cubicBezTo>
                <a:cubicBezTo>
                  <a:pt x="188863" y="55066"/>
                  <a:pt x="190500" y="52908"/>
                  <a:pt x="190500" y="50378"/>
                </a:cubicBezTo>
                <a:lnTo>
                  <a:pt x="190500" y="47625"/>
                </a:lnTo>
                <a:cubicBezTo>
                  <a:pt x="190500" y="34491"/>
                  <a:pt x="179822" y="23812"/>
                  <a:pt x="166688" y="23812"/>
                </a:cubicBezTo>
                <a:lnTo>
                  <a:pt x="23812" y="23812"/>
                </a:lnTo>
                <a:close/>
                <a:moveTo>
                  <a:pt x="190500" y="154781"/>
                </a:moveTo>
                <a:lnTo>
                  <a:pt x="190500" y="130969"/>
                </a:lnTo>
                <a:lnTo>
                  <a:pt x="0" y="130969"/>
                </a:lnTo>
                <a:lnTo>
                  <a:pt x="0" y="154781"/>
                </a:lnTo>
                <a:cubicBezTo>
                  <a:pt x="0" y="161367"/>
                  <a:pt x="5321" y="166688"/>
                  <a:pt x="11906" y="166688"/>
                </a:cubicBezTo>
                <a:lnTo>
                  <a:pt x="35719" y="166688"/>
                </a:lnTo>
                <a:lnTo>
                  <a:pt x="35719" y="157758"/>
                </a:lnTo>
                <a:cubicBezTo>
                  <a:pt x="35719" y="152809"/>
                  <a:pt x="39700" y="148828"/>
                  <a:pt x="44648" y="148828"/>
                </a:cubicBezTo>
                <a:cubicBezTo>
                  <a:pt x="49597" y="148828"/>
                  <a:pt x="53578" y="152809"/>
                  <a:pt x="53578" y="157758"/>
                </a:cubicBezTo>
                <a:lnTo>
                  <a:pt x="53578" y="166688"/>
                </a:lnTo>
                <a:lnTo>
                  <a:pt x="86320" y="166688"/>
                </a:lnTo>
                <a:lnTo>
                  <a:pt x="86320" y="157758"/>
                </a:lnTo>
                <a:cubicBezTo>
                  <a:pt x="86320" y="152809"/>
                  <a:pt x="90301" y="148828"/>
                  <a:pt x="95250" y="148828"/>
                </a:cubicBezTo>
                <a:cubicBezTo>
                  <a:pt x="100199" y="148828"/>
                  <a:pt x="104180" y="152809"/>
                  <a:pt x="104180" y="157758"/>
                </a:cubicBezTo>
                <a:lnTo>
                  <a:pt x="104180" y="166688"/>
                </a:lnTo>
                <a:lnTo>
                  <a:pt x="136922" y="166688"/>
                </a:lnTo>
                <a:lnTo>
                  <a:pt x="136922" y="157758"/>
                </a:lnTo>
                <a:cubicBezTo>
                  <a:pt x="136922" y="152809"/>
                  <a:pt x="140903" y="148828"/>
                  <a:pt x="145852" y="148828"/>
                </a:cubicBezTo>
                <a:cubicBezTo>
                  <a:pt x="150800" y="148828"/>
                  <a:pt x="154781" y="152809"/>
                  <a:pt x="154781" y="157758"/>
                </a:cubicBezTo>
                <a:lnTo>
                  <a:pt x="154781" y="166688"/>
                </a:lnTo>
                <a:lnTo>
                  <a:pt x="178594" y="166688"/>
                </a:lnTo>
                <a:cubicBezTo>
                  <a:pt x="185179" y="166688"/>
                  <a:pt x="190500" y="161367"/>
                  <a:pt x="190500" y="154781"/>
                </a:cubicBezTo>
                <a:close/>
                <a:moveTo>
                  <a:pt x="59531" y="59531"/>
                </a:moveTo>
                <a:lnTo>
                  <a:pt x="59531" y="83344"/>
                </a:lnTo>
                <a:cubicBezTo>
                  <a:pt x="59531" y="89929"/>
                  <a:pt x="54211" y="95250"/>
                  <a:pt x="47625" y="95250"/>
                </a:cubicBezTo>
                <a:cubicBezTo>
                  <a:pt x="41039" y="95250"/>
                  <a:pt x="35719" y="89929"/>
                  <a:pt x="35719" y="83344"/>
                </a:cubicBezTo>
                <a:lnTo>
                  <a:pt x="35719" y="59531"/>
                </a:lnTo>
                <a:cubicBezTo>
                  <a:pt x="35719" y="52946"/>
                  <a:pt x="41039" y="47625"/>
                  <a:pt x="47625" y="47625"/>
                </a:cubicBezTo>
                <a:cubicBezTo>
                  <a:pt x="54211" y="47625"/>
                  <a:pt x="59531" y="52946"/>
                  <a:pt x="59531" y="59531"/>
                </a:cubicBezTo>
                <a:close/>
                <a:moveTo>
                  <a:pt x="107156" y="59531"/>
                </a:moveTo>
                <a:lnTo>
                  <a:pt x="107156" y="83344"/>
                </a:lnTo>
                <a:cubicBezTo>
                  <a:pt x="107156" y="89929"/>
                  <a:pt x="101836" y="95250"/>
                  <a:pt x="95250" y="95250"/>
                </a:cubicBezTo>
                <a:cubicBezTo>
                  <a:pt x="88664" y="95250"/>
                  <a:pt x="83344" y="89929"/>
                  <a:pt x="83344" y="83344"/>
                </a:cubicBezTo>
                <a:lnTo>
                  <a:pt x="83344" y="59531"/>
                </a:lnTo>
                <a:cubicBezTo>
                  <a:pt x="83344" y="52946"/>
                  <a:pt x="88664" y="47625"/>
                  <a:pt x="95250" y="47625"/>
                </a:cubicBezTo>
                <a:cubicBezTo>
                  <a:pt x="101836" y="47625"/>
                  <a:pt x="107156" y="52946"/>
                  <a:pt x="107156" y="59531"/>
                </a:cubicBezTo>
                <a:close/>
                <a:moveTo>
                  <a:pt x="154781" y="59531"/>
                </a:moveTo>
                <a:lnTo>
                  <a:pt x="154781" y="83344"/>
                </a:lnTo>
                <a:cubicBezTo>
                  <a:pt x="154781" y="89929"/>
                  <a:pt x="149461" y="95250"/>
                  <a:pt x="142875" y="95250"/>
                </a:cubicBezTo>
                <a:cubicBezTo>
                  <a:pt x="136289" y="95250"/>
                  <a:pt x="130969" y="89929"/>
                  <a:pt x="130969" y="83344"/>
                </a:cubicBezTo>
                <a:lnTo>
                  <a:pt x="130969" y="59531"/>
                </a:lnTo>
                <a:cubicBezTo>
                  <a:pt x="130969" y="52946"/>
                  <a:pt x="136289" y="47625"/>
                  <a:pt x="142875" y="47625"/>
                </a:cubicBezTo>
                <a:cubicBezTo>
                  <a:pt x="149461" y="47625"/>
                  <a:pt x="154781" y="52946"/>
                  <a:pt x="154781" y="59531"/>
                </a:cubicBezTo>
                <a:close/>
              </a:path>
            </a:pathLst>
          </a:custGeom>
          <a:solidFill>
            <a:srgbClr val="8B0000"/>
          </a:solidFill>
        </p:spPr>
      </p:sp>
      <p:sp>
        <p:nvSpPr>
          <p:cNvPr id="10" name="Text 8"/>
          <p:cNvSpPr/>
          <p:nvPr/>
        </p:nvSpPr>
        <p:spPr>
          <a:xfrm>
            <a:off x="885712" y="2895112"/>
            <a:ext cx="2033588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00000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Memory Access Latency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80956" y="3390319"/>
            <a:ext cx="5562600" cy="495300"/>
          </a:xfrm>
          <a:custGeom>
            <a:avLst/>
            <a:gdLst/>
            <a:ahLst/>
            <a:cxnLst/>
            <a:rect l="l" t="t" r="r" b="b"/>
            <a:pathLst>
              <a:path w="5562600" h="495300">
                <a:moveTo>
                  <a:pt x="76202" y="0"/>
                </a:moveTo>
                <a:lnTo>
                  <a:pt x="5486398" y="0"/>
                </a:lnTo>
                <a:cubicBezTo>
                  <a:pt x="5528483" y="0"/>
                  <a:pt x="5562600" y="34117"/>
                  <a:pt x="5562600" y="76202"/>
                </a:cubicBezTo>
                <a:lnTo>
                  <a:pt x="5562600" y="419098"/>
                </a:lnTo>
                <a:cubicBezTo>
                  <a:pt x="5562600" y="461183"/>
                  <a:pt x="5528483" y="495300"/>
                  <a:pt x="5486398" y="495300"/>
                </a:cubicBezTo>
                <a:lnTo>
                  <a:pt x="76202" y="495300"/>
                </a:lnTo>
                <a:cubicBezTo>
                  <a:pt x="34117" y="495300"/>
                  <a:pt x="0" y="461183"/>
                  <a:pt x="0" y="419098"/>
                </a:cubicBezTo>
                <a:lnTo>
                  <a:pt x="0" y="76202"/>
                </a:lnTo>
                <a:cubicBezTo>
                  <a:pt x="0" y="34117"/>
                  <a:pt x="34117" y="0"/>
                  <a:pt x="76202" y="0"/>
                </a:cubicBezTo>
                <a:close/>
              </a:path>
            </a:pathLst>
          </a:custGeom>
          <a:solidFill>
            <a:srgbClr val="F9FAFB"/>
          </a:solidFill>
        </p:spPr>
      </p:sp>
      <p:sp>
        <p:nvSpPr>
          <p:cNvPr id="12" name="Shape 10"/>
          <p:cNvSpPr/>
          <p:nvPr/>
        </p:nvSpPr>
        <p:spPr>
          <a:xfrm>
            <a:off x="507111" y="3542626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92273" y="32742"/>
                </a:moveTo>
                <a:lnTo>
                  <a:pt x="122039" y="32742"/>
                </a:lnTo>
                <a:lnTo>
                  <a:pt x="122039" y="50602"/>
                </a:lnTo>
                <a:lnTo>
                  <a:pt x="92273" y="50602"/>
                </a:lnTo>
                <a:lnTo>
                  <a:pt x="92273" y="32742"/>
                </a:lnTo>
                <a:close/>
                <a:moveTo>
                  <a:pt x="89297" y="11906"/>
                </a:moveTo>
                <a:cubicBezTo>
                  <a:pt x="79437" y="11906"/>
                  <a:pt x="71438" y="19906"/>
                  <a:pt x="71438" y="29766"/>
                </a:cubicBezTo>
                <a:lnTo>
                  <a:pt x="71438" y="53578"/>
                </a:lnTo>
                <a:cubicBezTo>
                  <a:pt x="71438" y="63438"/>
                  <a:pt x="79437" y="71438"/>
                  <a:pt x="89297" y="71438"/>
                </a:cubicBezTo>
                <a:lnTo>
                  <a:pt x="95250" y="71438"/>
                </a:lnTo>
                <a:lnTo>
                  <a:pt x="95250" y="83344"/>
                </a:lnTo>
                <a:lnTo>
                  <a:pt x="11906" y="83344"/>
                </a:lnTo>
                <a:cubicBezTo>
                  <a:pt x="5321" y="83344"/>
                  <a:pt x="0" y="88664"/>
                  <a:pt x="0" y="95250"/>
                </a:cubicBezTo>
                <a:cubicBezTo>
                  <a:pt x="0" y="101836"/>
                  <a:pt x="5321" y="107156"/>
                  <a:pt x="11906" y="107156"/>
                </a:cubicBezTo>
                <a:lnTo>
                  <a:pt x="47625" y="107156"/>
                </a:lnTo>
                <a:lnTo>
                  <a:pt x="47625" y="119063"/>
                </a:lnTo>
                <a:lnTo>
                  <a:pt x="41672" y="119063"/>
                </a:lnTo>
                <a:cubicBezTo>
                  <a:pt x="31812" y="119063"/>
                  <a:pt x="23812" y="127062"/>
                  <a:pt x="23812" y="136922"/>
                </a:cubicBezTo>
                <a:lnTo>
                  <a:pt x="23812" y="160734"/>
                </a:lnTo>
                <a:cubicBezTo>
                  <a:pt x="23812" y="170594"/>
                  <a:pt x="31812" y="178594"/>
                  <a:pt x="41672" y="178594"/>
                </a:cubicBezTo>
                <a:lnTo>
                  <a:pt x="77391" y="178594"/>
                </a:lnTo>
                <a:cubicBezTo>
                  <a:pt x="87250" y="178594"/>
                  <a:pt x="95250" y="170594"/>
                  <a:pt x="95250" y="160734"/>
                </a:cubicBezTo>
                <a:lnTo>
                  <a:pt x="95250" y="136922"/>
                </a:lnTo>
                <a:cubicBezTo>
                  <a:pt x="95250" y="127062"/>
                  <a:pt x="87250" y="119063"/>
                  <a:pt x="77391" y="119063"/>
                </a:cubicBezTo>
                <a:lnTo>
                  <a:pt x="71438" y="119063"/>
                </a:lnTo>
                <a:lnTo>
                  <a:pt x="71438" y="107156"/>
                </a:lnTo>
                <a:lnTo>
                  <a:pt x="142875" y="107156"/>
                </a:lnTo>
                <a:lnTo>
                  <a:pt x="142875" y="119063"/>
                </a:lnTo>
                <a:lnTo>
                  <a:pt x="136922" y="119063"/>
                </a:lnTo>
                <a:cubicBezTo>
                  <a:pt x="127062" y="119063"/>
                  <a:pt x="119063" y="127062"/>
                  <a:pt x="119063" y="136922"/>
                </a:cubicBezTo>
                <a:lnTo>
                  <a:pt x="119063" y="160734"/>
                </a:lnTo>
                <a:cubicBezTo>
                  <a:pt x="119063" y="170594"/>
                  <a:pt x="127062" y="178594"/>
                  <a:pt x="136922" y="178594"/>
                </a:cubicBezTo>
                <a:lnTo>
                  <a:pt x="172641" y="178594"/>
                </a:lnTo>
                <a:cubicBezTo>
                  <a:pt x="182500" y="178594"/>
                  <a:pt x="190500" y="170594"/>
                  <a:pt x="190500" y="160734"/>
                </a:cubicBezTo>
                <a:lnTo>
                  <a:pt x="190500" y="136922"/>
                </a:lnTo>
                <a:cubicBezTo>
                  <a:pt x="190500" y="127062"/>
                  <a:pt x="182500" y="119063"/>
                  <a:pt x="172641" y="119063"/>
                </a:cubicBezTo>
                <a:lnTo>
                  <a:pt x="166688" y="119063"/>
                </a:lnTo>
                <a:lnTo>
                  <a:pt x="166688" y="107156"/>
                </a:lnTo>
                <a:lnTo>
                  <a:pt x="202406" y="107156"/>
                </a:lnTo>
                <a:cubicBezTo>
                  <a:pt x="208992" y="107156"/>
                  <a:pt x="214313" y="101836"/>
                  <a:pt x="214313" y="95250"/>
                </a:cubicBezTo>
                <a:cubicBezTo>
                  <a:pt x="214313" y="88664"/>
                  <a:pt x="208992" y="83344"/>
                  <a:pt x="202406" y="83344"/>
                </a:cubicBezTo>
                <a:lnTo>
                  <a:pt x="119063" y="83344"/>
                </a:lnTo>
                <a:lnTo>
                  <a:pt x="119063" y="71438"/>
                </a:lnTo>
                <a:lnTo>
                  <a:pt x="125016" y="71438"/>
                </a:lnTo>
                <a:cubicBezTo>
                  <a:pt x="134875" y="71438"/>
                  <a:pt x="142875" y="63438"/>
                  <a:pt x="142875" y="53578"/>
                </a:cubicBezTo>
                <a:lnTo>
                  <a:pt x="142875" y="29766"/>
                </a:lnTo>
                <a:cubicBezTo>
                  <a:pt x="142875" y="19906"/>
                  <a:pt x="134875" y="11906"/>
                  <a:pt x="125016" y="11906"/>
                </a:cubicBezTo>
                <a:lnTo>
                  <a:pt x="89297" y="11906"/>
                </a:lnTo>
                <a:close/>
                <a:moveTo>
                  <a:pt x="166688" y="139898"/>
                </a:moveTo>
                <a:lnTo>
                  <a:pt x="169664" y="139898"/>
                </a:lnTo>
                <a:lnTo>
                  <a:pt x="169664" y="157758"/>
                </a:lnTo>
                <a:lnTo>
                  <a:pt x="139898" y="157758"/>
                </a:lnTo>
                <a:lnTo>
                  <a:pt x="139898" y="139898"/>
                </a:lnTo>
                <a:lnTo>
                  <a:pt x="166688" y="139898"/>
                </a:lnTo>
                <a:close/>
                <a:moveTo>
                  <a:pt x="71438" y="139898"/>
                </a:moveTo>
                <a:lnTo>
                  <a:pt x="74414" y="139898"/>
                </a:lnTo>
                <a:lnTo>
                  <a:pt x="74414" y="157758"/>
                </a:lnTo>
                <a:lnTo>
                  <a:pt x="44648" y="157758"/>
                </a:lnTo>
                <a:lnTo>
                  <a:pt x="44648" y="139898"/>
                </a:lnTo>
                <a:lnTo>
                  <a:pt x="71438" y="139898"/>
                </a:lnTo>
                <a:close/>
              </a:path>
            </a:pathLst>
          </a:custGeom>
          <a:solidFill>
            <a:srgbClr val="8B0000"/>
          </a:solidFill>
        </p:spPr>
      </p:sp>
      <p:sp>
        <p:nvSpPr>
          <p:cNvPr id="13" name="Text 11"/>
          <p:cNvSpPr/>
          <p:nvPr/>
        </p:nvSpPr>
        <p:spPr>
          <a:xfrm>
            <a:off x="885712" y="3504567"/>
            <a:ext cx="2097811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00000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Network Latency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80956" y="3999774"/>
            <a:ext cx="5562600" cy="495300"/>
          </a:xfrm>
          <a:custGeom>
            <a:avLst/>
            <a:gdLst/>
            <a:ahLst/>
            <a:cxnLst/>
            <a:rect l="l" t="t" r="r" b="b"/>
            <a:pathLst>
              <a:path w="5562600" h="495300">
                <a:moveTo>
                  <a:pt x="76202" y="0"/>
                </a:moveTo>
                <a:lnTo>
                  <a:pt x="5486398" y="0"/>
                </a:lnTo>
                <a:cubicBezTo>
                  <a:pt x="5528483" y="0"/>
                  <a:pt x="5562600" y="34117"/>
                  <a:pt x="5562600" y="76202"/>
                </a:cubicBezTo>
                <a:lnTo>
                  <a:pt x="5562600" y="419098"/>
                </a:lnTo>
                <a:cubicBezTo>
                  <a:pt x="5562600" y="461183"/>
                  <a:pt x="5528483" y="495300"/>
                  <a:pt x="5486398" y="495300"/>
                </a:cubicBezTo>
                <a:lnTo>
                  <a:pt x="76202" y="495300"/>
                </a:lnTo>
                <a:cubicBezTo>
                  <a:pt x="34117" y="495300"/>
                  <a:pt x="0" y="461183"/>
                  <a:pt x="0" y="419098"/>
                </a:cubicBezTo>
                <a:lnTo>
                  <a:pt x="0" y="76202"/>
                </a:lnTo>
                <a:cubicBezTo>
                  <a:pt x="0" y="34117"/>
                  <a:pt x="34117" y="0"/>
                  <a:pt x="76202" y="0"/>
                </a:cubicBezTo>
                <a:close/>
              </a:path>
            </a:pathLst>
          </a:custGeom>
          <a:solidFill>
            <a:srgbClr val="F9FAFB"/>
          </a:solidFill>
        </p:spPr>
      </p:sp>
      <p:sp>
        <p:nvSpPr>
          <p:cNvPr id="15" name="Shape 13"/>
          <p:cNvSpPr/>
          <p:nvPr/>
        </p:nvSpPr>
        <p:spPr>
          <a:xfrm>
            <a:off x="530924" y="4152081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23812" y="11906"/>
                </a:moveTo>
                <a:cubicBezTo>
                  <a:pt x="10678" y="11906"/>
                  <a:pt x="0" y="22585"/>
                  <a:pt x="0" y="35719"/>
                </a:cubicBezTo>
                <a:lnTo>
                  <a:pt x="0" y="96775"/>
                </a:lnTo>
                <a:cubicBezTo>
                  <a:pt x="6734" y="92050"/>
                  <a:pt x="14957" y="89297"/>
                  <a:pt x="23812" y="89297"/>
                </a:cubicBezTo>
                <a:lnTo>
                  <a:pt x="142875" y="89297"/>
                </a:lnTo>
                <a:cubicBezTo>
                  <a:pt x="151730" y="89297"/>
                  <a:pt x="159953" y="92050"/>
                  <a:pt x="166688" y="96775"/>
                </a:cubicBezTo>
                <a:lnTo>
                  <a:pt x="166688" y="35719"/>
                </a:lnTo>
                <a:cubicBezTo>
                  <a:pt x="166688" y="22585"/>
                  <a:pt x="156009" y="11906"/>
                  <a:pt x="142875" y="11906"/>
                </a:cubicBezTo>
                <a:lnTo>
                  <a:pt x="23812" y="11906"/>
                </a:lnTo>
                <a:close/>
                <a:moveTo>
                  <a:pt x="166688" y="130969"/>
                </a:moveTo>
                <a:cubicBezTo>
                  <a:pt x="166688" y="117835"/>
                  <a:pt x="156009" y="107156"/>
                  <a:pt x="142875" y="107156"/>
                </a:cubicBezTo>
                <a:lnTo>
                  <a:pt x="23812" y="107156"/>
                </a:lnTo>
                <a:cubicBezTo>
                  <a:pt x="10678" y="107156"/>
                  <a:pt x="0" y="117835"/>
                  <a:pt x="0" y="130969"/>
                </a:cubicBezTo>
                <a:lnTo>
                  <a:pt x="0" y="154781"/>
                </a:lnTo>
                <a:cubicBezTo>
                  <a:pt x="0" y="167915"/>
                  <a:pt x="10678" y="178594"/>
                  <a:pt x="23812" y="178594"/>
                </a:cubicBezTo>
                <a:lnTo>
                  <a:pt x="142875" y="178594"/>
                </a:lnTo>
                <a:cubicBezTo>
                  <a:pt x="156009" y="178594"/>
                  <a:pt x="166688" y="167915"/>
                  <a:pt x="166688" y="154781"/>
                </a:cubicBezTo>
                <a:lnTo>
                  <a:pt x="166688" y="130969"/>
                </a:lnTo>
                <a:close/>
                <a:moveTo>
                  <a:pt x="83344" y="142875"/>
                </a:moveTo>
                <a:cubicBezTo>
                  <a:pt x="83344" y="136304"/>
                  <a:pt x="88679" y="130969"/>
                  <a:pt x="95250" y="130969"/>
                </a:cubicBezTo>
                <a:cubicBezTo>
                  <a:pt x="101821" y="130969"/>
                  <a:pt x="107156" y="136304"/>
                  <a:pt x="107156" y="142875"/>
                </a:cubicBezTo>
                <a:cubicBezTo>
                  <a:pt x="107156" y="149446"/>
                  <a:pt x="101821" y="154781"/>
                  <a:pt x="95250" y="154781"/>
                </a:cubicBezTo>
                <a:cubicBezTo>
                  <a:pt x="88679" y="154781"/>
                  <a:pt x="83344" y="149446"/>
                  <a:pt x="83344" y="142875"/>
                </a:cubicBezTo>
                <a:close/>
                <a:moveTo>
                  <a:pt x="130969" y="130969"/>
                </a:moveTo>
                <a:cubicBezTo>
                  <a:pt x="137540" y="130969"/>
                  <a:pt x="142875" y="136304"/>
                  <a:pt x="142875" y="142875"/>
                </a:cubicBezTo>
                <a:cubicBezTo>
                  <a:pt x="142875" y="149446"/>
                  <a:pt x="137540" y="154781"/>
                  <a:pt x="130969" y="154781"/>
                </a:cubicBezTo>
                <a:cubicBezTo>
                  <a:pt x="124398" y="154781"/>
                  <a:pt x="119063" y="149446"/>
                  <a:pt x="119063" y="142875"/>
                </a:cubicBezTo>
                <a:cubicBezTo>
                  <a:pt x="119063" y="136304"/>
                  <a:pt x="124398" y="130969"/>
                  <a:pt x="130969" y="130969"/>
                </a:cubicBezTo>
                <a:close/>
              </a:path>
            </a:pathLst>
          </a:custGeom>
          <a:solidFill>
            <a:srgbClr val="8B0000"/>
          </a:solidFill>
        </p:spPr>
      </p:sp>
      <p:sp>
        <p:nvSpPr>
          <p:cNvPr id="16" name="Text 14"/>
          <p:cNvSpPr/>
          <p:nvPr/>
        </p:nvSpPr>
        <p:spPr>
          <a:xfrm>
            <a:off x="885712" y="4114023"/>
            <a:ext cx="2185734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00000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Disk Access Latency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80956" y="4647358"/>
            <a:ext cx="56769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00000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Common Units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380956" y="5104433"/>
            <a:ext cx="1752600" cy="1066800"/>
          </a:xfrm>
          <a:custGeom>
            <a:avLst/>
            <a:gdLst/>
            <a:ahLst/>
            <a:cxnLst/>
            <a:rect l="l" t="t" r="r" b="b"/>
            <a:pathLst>
              <a:path w="1752600" h="1066800">
                <a:moveTo>
                  <a:pt x="76202" y="0"/>
                </a:moveTo>
                <a:lnTo>
                  <a:pt x="1676398" y="0"/>
                </a:lnTo>
                <a:cubicBezTo>
                  <a:pt x="1718483" y="0"/>
                  <a:pt x="1752600" y="34117"/>
                  <a:pt x="1752600" y="76202"/>
                </a:cubicBezTo>
                <a:lnTo>
                  <a:pt x="1752600" y="990598"/>
                </a:lnTo>
                <a:cubicBezTo>
                  <a:pt x="1752600" y="1032683"/>
                  <a:pt x="1718483" y="1066800"/>
                  <a:pt x="1676398" y="1066800"/>
                </a:cubicBezTo>
                <a:lnTo>
                  <a:pt x="76202" y="1066800"/>
                </a:lnTo>
                <a:cubicBezTo>
                  <a:pt x="34117" y="1066800"/>
                  <a:pt x="0" y="1032683"/>
                  <a:pt x="0" y="9905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F9FAFB"/>
          </a:solidFill>
        </p:spPr>
      </p:sp>
      <p:sp>
        <p:nvSpPr>
          <p:cNvPr id="19" name="Text 17"/>
          <p:cNvSpPr/>
          <p:nvPr/>
        </p:nvSpPr>
        <p:spPr>
          <a:xfrm>
            <a:off x="476188" y="5256814"/>
            <a:ext cx="15621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8B000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ns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95238" y="5599565"/>
            <a:ext cx="15240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00000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Nanosecond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00000" y="5828137"/>
            <a:ext cx="15144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6A7282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10⁻⁹ second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2285956" y="5104433"/>
            <a:ext cx="1752600" cy="1066800"/>
          </a:xfrm>
          <a:custGeom>
            <a:avLst/>
            <a:gdLst/>
            <a:ahLst/>
            <a:cxnLst/>
            <a:rect l="l" t="t" r="r" b="b"/>
            <a:pathLst>
              <a:path w="1752600" h="1066800">
                <a:moveTo>
                  <a:pt x="76202" y="0"/>
                </a:moveTo>
                <a:lnTo>
                  <a:pt x="1676398" y="0"/>
                </a:lnTo>
                <a:cubicBezTo>
                  <a:pt x="1718483" y="0"/>
                  <a:pt x="1752600" y="34117"/>
                  <a:pt x="1752600" y="76202"/>
                </a:cubicBezTo>
                <a:lnTo>
                  <a:pt x="1752600" y="990598"/>
                </a:lnTo>
                <a:cubicBezTo>
                  <a:pt x="1752600" y="1032683"/>
                  <a:pt x="1718483" y="1066800"/>
                  <a:pt x="1676398" y="1066800"/>
                </a:cubicBezTo>
                <a:lnTo>
                  <a:pt x="76202" y="1066800"/>
                </a:lnTo>
                <a:cubicBezTo>
                  <a:pt x="34117" y="1066800"/>
                  <a:pt x="0" y="1032683"/>
                  <a:pt x="0" y="9905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F9FAFB"/>
          </a:solidFill>
        </p:spPr>
      </p:sp>
      <p:sp>
        <p:nvSpPr>
          <p:cNvPr id="23" name="Text 21"/>
          <p:cNvSpPr/>
          <p:nvPr/>
        </p:nvSpPr>
        <p:spPr>
          <a:xfrm>
            <a:off x="2381188" y="5256814"/>
            <a:ext cx="15621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8B000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μs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2400238" y="5599565"/>
            <a:ext cx="15240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00000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Microsecond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2405000" y="5828137"/>
            <a:ext cx="15144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6A7282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10⁻⁶ second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4190956" y="5104433"/>
            <a:ext cx="1752600" cy="1066800"/>
          </a:xfrm>
          <a:custGeom>
            <a:avLst/>
            <a:gdLst/>
            <a:ahLst/>
            <a:cxnLst/>
            <a:rect l="l" t="t" r="r" b="b"/>
            <a:pathLst>
              <a:path w="1752600" h="1066800">
                <a:moveTo>
                  <a:pt x="76202" y="0"/>
                </a:moveTo>
                <a:lnTo>
                  <a:pt x="1676398" y="0"/>
                </a:lnTo>
                <a:cubicBezTo>
                  <a:pt x="1718483" y="0"/>
                  <a:pt x="1752600" y="34117"/>
                  <a:pt x="1752600" y="76202"/>
                </a:cubicBezTo>
                <a:lnTo>
                  <a:pt x="1752600" y="990598"/>
                </a:lnTo>
                <a:cubicBezTo>
                  <a:pt x="1752600" y="1032683"/>
                  <a:pt x="1718483" y="1066800"/>
                  <a:pt x="1676398" y="1066800"/>
                </a:cubicBezTo>
                <a:lnTo>
                  <a:pt x="76202" y="1066800"/>
                </a:lnTo>
                <a:cubicBezTo>
                  <a:pt x="34117" y="1066800"/>
                  <a:pt x="0" y="1032683"/>
                  <a:pt x="0" y="9905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F9FAFB"/>
          </a:solidFill>
        </p:spPr>
      </p:sp>
      <p:sp>
        <p:nvSpPr>
          <p:cNvPr id="27" name="Text 25"/>
          <p:cNvSpPr/>
          <p:nvPr/>
        </p:nvSpPr>
        <p:spPr>
          <a:xfrm>
            <a:off x="4286188" y="5256814"/>
            <a:ext cx="15621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8B000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ms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305238" y="5599565"/>
            <a:ext cx="15240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00000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Millisecond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4310000" y="5828137"/>
            <a:ext cx="15144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6A7282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10⁻³ second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248338" y="990484"/>
            <a:ext cx="5562600" cy="4838700"/>
          </a:xfrm>
          <a:custGeom>
            <a:avLst/>
            <a:gdLst/>
            <a:ahLst/>
            <a:cxnLst/>
            <a:rect l="l" t="t" r="r" b="b"/>
            <a:pathLst>
              <a:path w="5562600" h="4838700">
                <a:moveTo>
                  <a:pt x="76210" y="0"/>
                </a:moveTo>
                <a:lnTo>
                  <a:pt x="5486390" y="0"/>
                </a:lnTo>
                <a:cubicBezTo>
                  <a:pt x="5528480" y="0"/>
                  <a:pt x="5562600" y="34120"/>
                  <a:pt x="5562600" y="76210"/>
                </a:cubicBezTo>
                <a:lnTo>
                  <a:pt x="5562600" y="4762490"/>
                </a:lnTo>
                <a:cubicBezTo>
                  <a:pt x="5562600" y="4804580"/>
                  <a:pt x="5528480" y="4838700"/>
                  <a:pt x="5486390" y="4838700"/>
                </a:cubicBezTo>
                <a:lnTo>
                  <a:pt x="76210" y="4838700"/>
                </a:lnTo>
                <a:cubicBezTo>
                  <a:pt x="34120" y="4838700"/>
                  <a:pt x="0" y="4804580"/>
                  <a:pt x="0" y="4762490"/>
                </a:cubicBezTo>
                <a:lnTo>
                  <a:pt x="0" y="76210"/>
                </a:lnTo>
                <a:cubicBezTo>
                  <a:pt x="0" y="34148"/>
                  <a:pt x="34148" y="0"/>
                  <a:pt x="76210" y="0"/>
                </a:cubicBezTo>
                <a:close/>
              </a:path>
            </a:pathLst>
          </a:custGeom>
          <a:solidFill>
            <a:srgbClr val="F9FAFB"/>
          </a:solidFill>
        </p:spPr>
      </p:sp>
      <p:pic>
        <p:nvPicPr>
          <p:cNvPr id="31" name="Image 0" descr="https://kimi-web-img.moonshot.cn/img/scalabledeveloper.com/533919904e0f3c740ed09be5dcde249b761fd2ad.jpg"/>
          <p:cNvPicPr>
            <a:picLocks noChangeAspect="1"/>
          </p:cNvPicPr>
          <p:nvPr/>
        </p:nvPicPr>
        <p:blipFill>
          <a:blip r:embed="rId4"/>
          <a:srcRect t="109" b="109"/>
          <a:stretch>
            <a:fillRect/>
          </a:stretch>
        </p:blipFill>
        <p:spPr>
          <a:xfrm>
            <a:off x="6400720" y="2631811"/>
            <a:ext cx="5257800" cy="1552575"/>
          </a:xfrm>
          <a:prstGeom prst="roundRect">
            <a:avLst>
              <a:gd name="adj" fmla="val 0"/>
            </a:avLst>
          </a:prstGeom>
        </p:spPr>
      </p:pic>
      <p:sp>
        <p:nvSpPr>
          <p:cNvPr id="32" name="Text 29"/>
          <p:cNvSpPr/>
          <p:nvPr/>
        </p:nvSpPr>
        <p:spPr>
          <a:xfrm>
            <a:off x="6210238" y="5905365"/>
            <a:ext cx="5638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6A7282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Image source: Scalable Developer - Latency Timeline</a:t>
            </a:r>
            <a:endParaRPr lang="en-US" sz="1600" dirty="0"/>
          </a:p>
        </p:txBody>
      </p:sp>
      <p:sp>
        <p:nvSpPr>
          <p:cNvPr id="33" name="灯片编号占位符 32"/>
          <p:cNvSpPr>
            <a:spLocks noGrp="1"/>
          </p:cNvSpPr>
          <p:nvPr>
            <p:ph type="sldNum" sz="quarter" idx="4294967295"/>
          </p:nvPr>
        </p:nvSpPr>
        <p:spPr>
          <a:xfrm>
            <a:off x="0" y="593725"/>
            <a:ext cx="419100" cy="365125"/>
          </a:xfrm>
        </p:spPr>
        <p:txBody>
          <a:bodyPr/>
          <a:lstStyle/>
          <a:p>
            <a:fld id="{B33F7469-D28B-482F-B1B6-3B8E7CF51519}" type="slidenum">
              <a:rPr lang="zh-CN" altLang="en-US" smtClean="0"/>
              <a:t>10</a:t>
            </a:fld>
            <a:endParaRPr lang="zh-CN" altLang="en-US" dirty="0"/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1618" y="615552"/>
            <a:ext cx="11601450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00000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Latency Examples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0956" y="1261307"/>
            <a:ext cx="56769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8B000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Typical Memory Hierarchy Latency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99911" y="1898890"/>
            <a:ext cx="5543455" cy="876300"/>
          </a:xfrm>
          <a:custGeom>
            <a:avLst/>
            <a:gdLst/>
            <a:ahLst/>
            <a:cxnLst/>
            <a:rect l="l" t="t" r="r" b="b"/>
            <a:pathLst>
              <a:path w="5543455" h="876300">
                <a:moveTo>
                  <a:pt x="37910" y="0"/>
                </a:moveTo>
                <a:lnTo>
                  <a:pt x="5429159" y="0"/>
                </a:lnTo>
                <a:cubicBezTo>
                  <a:pt x="5492283" y="0"/>
                  <a:pt x="5543455" y="51172"/>
                  <a:pt x="5543455" y="114296"/>
                </a:cubicBezTo>
                <a:lnTo>
                  <a:pt x="5543455" y="762004"/>
                </a:lnTo>
                <a:cubicBezTo>
                  <a:pt x="5543455" y="825128"/>
                  <a:pt x="5492283" y="876300"/>
                  <a:pt x="5429159" y="876300"/>
                </a:cubicBezTo>
                <a:lnTo>
                  <a:pt x="37910" y="876300"/>
                </a:lnTo>
                <a:cubicBezTo>
                  <a:pt x="16973" y="876300"/>
                  <a:pt x="0" y="859327"/>
                  <a:pt x="0" y="838390"/>
                </a:cubicBezTo>
                <a:lnTo>
                  <a:pt x="0" y="37910"/>
                </a:lnTo>
                <a:cubicBezTo>
                  <a:pt x="0" y="16987"/>
                  <a:pt x="16987" y="0"/>
                  <a:pt x="37910" y="0"/>
                </a:cubicBezTo>
                <a:close/>
              </a:path>
            </a:pathLst>
          </a:custGeom>
          <a:gradFill flip="none" rotWithShape="1">
            <a:gsLst>
              <a:gs pos="0">
                <a:srgbClr val="F0FDF4"/>
              </a:gs>
              <a:gs pos="100000">
                <a:srgbClr val="FFFFFF"/>
              </a:gs>
            </a:gsLst>
            <a:lin ang="0" scaled="1"/>
          </a:gradFill>
        </p:spPr>
      </p:sp>
      <p:sp>
        <p:nvSpPr>
          <p:cNvPr id="5" name="Shape 3"/>
          <p:cNvSpPr/>
          <p:nvPr/>
        </p:nvSpPr>
        <p:spPr>
          <a:xfrm>
            <a:off x="399911" y="1898890"/>
            <a:ext cx="37910" cy="876300"/>
          </a:xfrm>
          <a:custGeom>
            <a:avLst/>
            <a:gdLst/>
            <a:ahLst/>
            <a:cxnLst/>
            <a:rect l="l" t="t" r="r" b="b"/>
            <a:pathLst>
              <a:path w="37910" h="876300">
                <a:moveTo>
                  <a:pt x="37910" y="0"/>
                </a:moveTo>
                <a:lnTo>
                  <a:pt x="37910" y="0"/>
                </a:lnTo>
                <a:lnTo>
                  <a:pt x="37910" y="876300"/>
                </a:lnTo>
                <a:lnTo>
                  <a:pt x="37910" y="876300"/>
                </a:lnTo>
                <a:cubicBezTo>
                  <a:pt x="16973" y="876300"/>
                  <a:pt x="0" y="859327"/>
                  <a:pt x="0" y="838390"/>
                </a:cubicBezTo>
                <a:lnTo>
                  <a:pt x="0" y="37910"/>
                </a:lnTo>
                <a:cubicBezTo>
                  <a:pt x="0" y="16987"/>
                  <a:pt x="16987" y="0"/>
                  <a:pt x="37910" y="0"/>
                </a:cubicBezTo>
                <a:close/>
              </a:path>
            </a:pathLst>
          </a:custGeom>
          <a:solidFill>
            <a:srgbClr val="00C950"/>
          </a:solidFill>
        </p:spPr>
      </p:sp>
      <p:sp>
        <p:nvSpPr>
          <p:cNvPr id="6" name="Shape 4"/>
          <p:cNvSpPr/>
          <p:nvPr/>
        </p:nvSpPr>
        <p:spPr>
          <a:xfrm>
            <a:off x="609307" y="2108361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00C950"/>
          </a:solidFill>
        </p:spPr>
      </p:sp>
      <p:sp>
        <p:nvSpPr>
          <p:cNvPr id="7" name="Shape 5"/>
          <p:cNvSpPr/>
          <p:nvPr/>
        </p:nvSpPr>
        <p:spPr>
          <a:xfrm>
            <a:off x="754536" y="2241641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126057" y="-3683"/>
                </a:moveTo>
                <a:cubicBezTo>
                  <a:pt x="130485" y="-484"/>
                  <a:pt x="132122" y="5321"/>
                  <a:pt x="130113" y="10381"/>
                </a:cubicBezTo>
                <a:lnTo>
                  <a:pt x="100943" y="83344"/>
                </a:lnTo>
                <a:lnTo>
                  <a:pt x="154781" y="83344"/>
                </a:lnTo>
                <a:cubicBezTo>
                  <a:pt x="159804" y="83344"/>
                  <a:pt x="164269" y="86469"/>
                  <a:pt x="165981" y="91194"/>
                </a:cubicBezTo>
                <a:cubicBezTo>
                  <a:pt x="167692" y="95920"/>
                  <a:pt x="166241" y="101203"/>
                  <a:pt x="162409" y="104403"/>
                </a:cubicBezTo>
                <a:lnTo>
                  <a:pt x="55252" y="193700"/>
                </a:lnTo>
                <a:cubicBezTo>
                  <a:pt x="51048" y="197197"/>
                  <a:pt x="45058" y="197383"/>
                  <a:pt x="40630" y="194183"/>
                </a:cubicBezTo>
                <a:cubicBezTo>
                  <a:pt x="36202" y="190984"/>
                  <a:pt x="34565" y="185179"/>
                  <a:pt x="36575" y="180119"/>
                </a:cubicBezTo>
                <a:lnTo>
                  <a:pt x="65745" y="107156"/>
                </a:lnTo>
                <a:lnTo>
                  <a:pt x="11906" y="107156"/>
                </a:lnTo>
                <a:cubicBezTo>
                  <a:pt x="6883" y="107156"/>
                  <a:pt x="2418" y="104031"/>
                  <a:pt x="707" y="99306"/>
                </a:cubicBezTo>
                <a:cubicBezTo>
                  <a:pt x="-1005" y="94580"/>
                  <a:pt x="446" y="89297"/>
                  <a:pt x="4279" y="86097"/>
                </a:cubicBezTo>
                <a:lnTo>
                  <a:pt x="111435" y="-3200"/>
                </a:lnTo>
                <a:cubicBezTo>
                  <a:pt x="115639" y="-6697"/>
                  <a:pt x="121630" y="-6883"/>
                  <a:pt x="126057" y="-3683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8" name="Text 6"/>
          <p:cNvSpPr/>
          <p:nvPr/>
        </p:nvSpPr>
        <p:spPr>
          <a:xfrm>
            <a:off x="1218836" y="2089334"/>
            <a:ext cx="94297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00000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L1 Cache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18836" y="2356039"/>
            <a:ext cx="92392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4A5565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L1 Cache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948054" y="2165525"/>
            <a:ext cx="952500" cy="3429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00A63E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~1 ns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99911" y="2965495"/>
            <a:ext cx="5543455" cy="876300"/>
          </a:xfrm>
          <a:custGeom>
            <a:avLst/>
            <a:gdLst/>
            <a:ahLst/>
            <a:cxnLst/>
            <a:rect l="l" t="t" r="r" b="b"/>
            <a:pathLst>
              <a:path w="5543455" h="876300">
                <a:moveTo>
                  <a:pt x="37910" y="0"/>
                </a:moveTo>
                <a:lnTo>
                  <a:pt x="5429159" y="0"/>
                </a:lnTo>
                <a:cubicBezTo>
                  <a:pt x="5492283" y="0"/>
                  <a:pt x="5543455" y="51172"/>
                  <a:pt x="5543455" y="114296"/>
                </a:cubicBezTo>
                <a:lnTo>
                  <a:pt x="5543455" y="762004"/>
                </a:lnTo>
                <a:cubicBezTo>
                  <a:pt x="5543455" y="825128"/>
                  <a:pt x="5492283" y="876300"/>
                  <a:pt x="5429159" y="876300"/>
                </a:cubicBezTo>
                <a:lnTo>
                  <a:pt x="37910" y="876300"/>
                </a:lnTo>
                <a:cubicBezTo>
                  <a:pt x="16973" y="876300"/>
                  <a:pt x="0" y="859327"/>
                  <a:pt x="0" y="838390"/>
                </a:cubicBezTo>
                <a:lnTo>
                  <a:pt x="0" y="37910"/>
                </a:lnTo>
                <a:cubicBezTo>
                  <a:pt x="0" y="16987"/>
                  <a:pt x="16987" y="0"/>
                  <a:pt x="37910" y="0"/>
                </a:cubicBezTo>
                <a:close/>
              </a:path>
            </a:pathLst>
          </a:custGeom>
          <a:gradFill flip="none" rotWithShape="1">
            <a:gsLst>
              <a:gs pos="0">
                <a:srgbClr val="FEFCE8"/>
              </a:gs>
              <a:gs pos="100000">
                <a:srgbClr val="FFFFFF"/>
              </a:gs>
            </a:gsLst>
            <a:lin ang="0" scaled="1"/>
          </a:gradFill>
        </p:spPr>
      </p:sp>
      <p:sp>
        <p:nvSpPr>
          <p:cNvPr id="12" name="Shape 10"/>
          <p:cNvSpPr/>
          <p:nvPr/>
        </p:nvSpPr>
        <p:spPr>
          <a:xfrm>
            <a:off x="399911" y="2965495"/>
            <a:ext cx="37910" cy="876300"/>
          </a:xfrm>
          <a:custGeom>
            <a:avLst/>
            <a:gdLst/>
            <a:ahLst/>
            <a:cxnLst/>
            <a:rect l="l" t="t" r="r" b="b"/>
            <a:pathLst>
              <a:path w="37910" h="876300">
                <a:moveTo>
                  <a:pt x="37910" y="0"/>
                </a:moveTo>
                <a:lnTo>
                  <a:pt x="37910" y="0"/>
                </a:lnTo>
                <a:lnTo>
                  <a:pt x="37910" y="876300"/>
                </a:lnTo>
                <a:lnTo>
                  <a:pt x="37910" y="876300"/>
                </a:lnTo>
                <a:cubicBezTo>
                  <a:pt x="16973" y="876300"/>
                  <a:pt x="0" y="859327"/>
                  <a:pt x="0" y="838390"/>
                </a:cubicBezTo>
                <a:lnTo>
                  <a:pt x="0" y="37910"/>
                </a:lnTo>
                <a:cubicBezTo>
                  <a:pt x="0" y="16987"/>
                  <a:pt x="16987" y="0"/>
                  <a:pt x="37910" y="0"/>
                </a:cubicBezTo>
                <a:close/>
              </a:path>
            </a:pathLst>
          </a:custGeom>
          <a:solidFill>
            <a:srgbClr val="F0B100"/>
          </a:solidFill>
        </p:spPr>
      </p:sp>
      <p:sp>
        <p:nvSpPr>
          <p:cNvPr id="13" name="Shape 11"/>
          <p:cNvSpPr/>
          <p:nvPr/>
        </p:nvSpPr>
        <p:spPr>
          <a:xfrm>
            <a:off x="609307" y="3174961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F0B100"/>
          </a:solidFill>
        </p:spPr>
      </p:sp>
      <p:sp>
        <p:nvSpPr>
          <p:cNvPr id="14" name="Shape 12"/>
          <p:cNvSpPr/>
          <p:nvPr/>
        </p:nvSpPr>
        <p:spPr>
          <a:xfrm>
            <a:off x="754536" y="3308241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126057" y="-3683"/>
                </a:moveTo>
                <a:cubicBezTo>
                  <a:pt x="130485" y="-484"/>
                  <a:pt x="132122" y="5321"/>
                  <a:pt x="130113" y="10381"/>
                </a:cubicBezTo>
                <a:lnTo>
                  <a:pt x="100943" y="83344"/>
                </a:lnTo>
                <a:lnTo>
                  <a:pt x="154781" y="83344"/>
                </a:lnTo>
                <a:cubicBezTo>
                  <a:pt x="159804" y="83344"/>
                  <a:pt x="164269" y="86469"/>
                  <a:pt x="165981" y="91194"/>
                </a:cubicBezTo>
                <a:cubicBezTo>
                  <a:pt x="167692" y="95920"/>
                  <a:pt x="166241" y="101203"/>
                  <a:pt x="162409" y="104403"/>
                </a:cubicBezTo>
                <a:lnTo>
                  <a:pt x="55252" y="193700"/>
                </a:lnTo>
                <a:cubicBezTo>
                  <a:pt x="51048" y="197197"/>
                  <a:pt x="45058" y="197383"/>
                  <a:pt x="40630" y="194183"/>
                </a:cubicBezTo>
                <a:cubicBezTo>
                  <a:pt x="36202" y="190984"/>
                  <a:pt x="34565" y="185179"/>
                  <a:pt x="36575" y="180119"/>
                </a:cubicBezTo>
                <a:lnTo>
                  <a:pt x="65745" y="107156"/>
                </a:lnTo>
                <a:lnTo>
                  <a:pt x="11906" y="107156"/>
                </a:lnTo>
                <a:cubicBezTo>
                  <a:pt x="6883" y="107156"/>
                  <a:pt x="2418" y="104031"/>
                  <a:pt x="707" y="99306"/>
                </a:cubicBezTo>
                <a:cubicBezTo>
                  <a:pt x="-1005" y="94580"/>
                  <a:pt x="446" y="89297"/>
                  <a:pt x="4279" y="86097"/>
                </a:cubicBezTo>
                <a:lnTo>
                  <a:pt x="111435" y="-3200"/>
                </a:lnTo>
                <a:cubicBezTo>
                  <a:pt x="115639" y="-6697"/>
                  <a:pt x="121630" y="-6883"/>
                  <a:pt x="126057" y="-3683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15" name="Text 13"/>
          <p:cNvSpPr/>
          <p:nvPr/>
        </p:nvSpPr>
        <p:spPr>
          <a:xfrm>
            <a:off x="1218836" y="3155934"/>
            <a:ext cx="94297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00000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L2 Cache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218836" y="3422639"/>
            <a:ext cx="92392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4A5565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L2 Cache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948054" y="3232125"/>
            <a:ext cx="952500" cy="3429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D0870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~4 ns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399911" y="4032095"/>
            <a:ext cx="5543455" cy="876300"/>
          </a:xfrm>
          <a:custGeom>
            <a:avLst/>
            <a:gdLst/>
            <a:ahLst/>
            <a:cxnLst/>
            <a:rect l="l" t="t" r="r" b="b"/>
            <a:pathLst>
              <a:path w="5543455" h="876300">
                <a:moveTo>
                  <a:pt x="37910" y="0"/>
                </a:moveTo>
                <a:lnTo>
                  <a:pt x="5429159" y="0"/>
                </a:lnTo>
                <a:cubicBezTo>
                  <a:pt x="5492283" y="0"/>
                  <a:pt x="5543455" y="51172"/>
                  <a:pt x="5543455" y="114296"/>
                </a:cubicBezTo>
                <a:lnTo>
                  <a:pt x="5543455" y="762004"/>
                </a:lnTo>
                <a:cubicBezTo>
                  <a:pt x="5543455" y="825128"/>
                  <a:pt x="5492283" y="876300"/>
                  <a:pt x="5429159" y="876300"/>
                </a:cubicBezTo>
                <a:lnTo>
                  <a:pt x="37910" y="876300"/>
                </a:lnTo>
                <a:cubicBezTo>
                  <a:pt x="16973" y="876300"/>
                  <a:pt x="0" y="859327"/>
                  <a:pt x="0" y="838390"/>
                </a:cubicBezTo>
                <a:lnTo>
                  <a:pt x="0" y="37910"/>
                </a:lnTo>
                <a:cubicBezTo>
                  <a:pt x="0" y="16987"/>
                  <a:pt x="16987" y="0"/>
                  <a:pt x="37910" y="0"/>
                </a:cubicBezTo>
                <a:close/>
              </a:path>
            </a:pathLst>
          </a:custGeom>
          <a:gradFill flip="none" rotWithShape="1">
            <a:gsLst>
              <a:gs pos="0">
                <a:srgbClr val="FEF2F2"/>
              </a:gs>
              <a:gs pos="100000">
                <a:srgbClr val="FFFFFF"/>
              </a:gs>
            </a:gsLst>
            <a:lin ang="0" scaled="1"/>
          </a:gradFill>
        </p:spPr>
      </p:sp>
      <p:sp>
        <p:nvSpPr>
          <p:cNvPr id="19" name="Shape 17"/>
          <p:cNvSpPr/>
          <p:nvPr/>
        </p:nvSpPr>
        <p:spPr>
          <a:xfrm>
            <a:off x="399911" y="4032095"/>
            <a:ext cx="37910" cy="876300"/>
          </a:xfrm>
          <a:custGeom>
            <a:avLst/>
            <a:gdLst/>
            <a:ahLst/>
            <a:cxnLst/>
            <a:rect l="l" t="t" r="r" b="b"/>
            <a:pathLst>
              <a:path w="37910" h="876300">
                <a:moveTo>
                  <a:pt x="37910" y="0"/>
                </a:moveTo>
                <a:lnTo>
                  <a:pt x="37910" y="0"/>
                </a:lnTo>
                <a:lnTo>
                  <a:pt x="37910" y="876300"/>
                </a:lnTo>
                <a:lnTo>
                  <a:pt x="37910" y="876300"/>
                </a:lnTo>
                <a:cubicBezTo>
                  <a:pt x="16973" y="876300"/>
                  <a:pt x="0" y="859327"/>
                  <a:pt x="0" y="838390"/>
                </a:cubicBezTo>
                <a:lnTo>
                  <a:pt x="0" y="37910"/>
                </a:lnTo>
                <a:cubicBezTo>
                  <a:pt x="0" y="16987"/>
                  <a:pt x="16987" y="0"/>
                  <a:pt x="37910" y="0"/>
                </a:cubicBezTo>
                <a:close/>
              </a:path>
            </a:pathLst>
          </a:custGeom>
          <a:solidFill>
            <a:srgbClr val="FB2C36"/>
          </a:solidFill>
        </p:spPr>
      </p:sp>
      <p:sp>
        <p:nvSpPr>
          <p:cNvPr id="20" name="Shape 18"/>
          <p:cNvSpPr/>
          <p:nvPr/>
        </p:nvSpPr>
        <p:spPr>
          <a:xfrm>
            <a:off x="609307" y="424156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FB2C36"/>
          </a:solidFill>
        </p:spPr>
      </p:sp>
      <p:sp>
        <p:nvSpPr>
          <p:cNvPr id="21" name="Shape 19"/>
          <p:cNvSpPr/>
          <p:nvPr/>
        </p:nvSpPr>
        <p:spPr>
          <a:xfrm>
            <a:off x="742630" y="4374841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23812" y="23812"/>
                </a:moveTo>
                <a:cubicBezTo>
                  <a:pt x="10678" y="23812"/>
                  <a:pt x="0" y="34491"/>
                  <a:pt x="0" y="47625"/>
                </a:cubicBezTo>
                <a:lnTo>
                  <a:pt x="0" y="50378"/>
                </a:lnTo>
                <a:cubicBezTo>
                  <a:pt x="0" y="52908"/>
                  <a:pt x="1637" y="55066"/>
                  <a:pt x="3758" y="56443"/>
                </a:cubicBezTo>
                <a:cubicBezTo>
                  <a:pt x="8669" y="59643"/>
                  <a:pt x="11906" y="65150"/>
                  <a:pt x="11906" y="71438"/>
                </a:cubicBezTo>
                <a:cubicBezTo>
                  <a:pt x="11906" y="77725"/>
                  <a:pt x="8669" y="83232"/>
                  <a:pt x="3758" y="86432"/>
                </a:cubicBezTo>
                <a:cubicBezTo>
                  <a:pt x="1637" y="87809"/>
                  <a:pt x="0" y="89967"/>
                  <a:pt x="0" y="92497"/>
                </a:cubicBezTo>
                <a:lnTo>
                  <a:pt x="0" y="113109"/>
                </a:lnTo>
                <a:lnTo>
                  <a:pt x="190500" y="113109"/>
                </a:lnTo>
                <a:lnTo>
                  <a:pt x="190500" y="92497"/>
                </a:lnTo>
                <a:cubicBezTo>
                  <a:pt x="190500" y="89967"/>
                  <a:pt x="188863" y="87809"/>
                  <a:pt x="186742" y="86432"/>
                </a:cubicBezTo>
                <a:cubicBezTo>
                  <a:pt x="181831" y="83232"/>
                  <a:pt x="178594" y="77725"/>
                  <a:pt x="178594" y="71438"/>
                </a:cubicBezTo>
                <a:cubicBezTo>
                  <a:pt x="178594" y="65150"/>
                  <a:pt x="181831" y="59643"/>
                  <a:pt x="186742" y="56443"/>
                </a:cubicBezTo>
                <a:cubicBezTo>
                  <a:pt x="188863" y="55066"/>
                  <a:pt x="190500" y="52908"/>
                  <a:pt x="190500" y="50378"/>
                </a:cubicBezTo>
                <a:lnTo>
                  <a:pt x="190500" y="47625"/>
                </a:lnTo>
                <a:cubicBezTo>
                  <a:pt x="190500" y="34491"/>
                  <a:pt x="179822" y="23812"/>
                  <a:pt x="166688" y="23812"/>
                </a:cubicBezTo>
                <a:lnTo>
                  <a:pt x="23812" y="23812"/>
                </a:lnTo>
                <a:close/>
                <a:moveTo>
                  <a:pt x="190500" y="154781"/>
                </a:moveTo>
                <a:lnTo>
                  <a:pt x="190500" y="130969"/>
                </a:lnTo>
                <a:lnTo>
                  <a:pt x="0" y="130969"/>
                </a:lnTo>
                <a:lnTo>
                  <a:pt x="0" y="154781"/>
                </a:lnTo>
                <a:cubicBezTo>
                  <a:pt x="0" y="161367"/>
                  <a:pt x="5321" y="166688"/>
                  <a:pt x="11906" y="166688"/>
                </a:cubicBezTo>
                <a:lnTo>
                  <a:pt x="35719" y="166688"/>
                </a:lnTo>
                <a:lnTo>
                  <a:pt x="35719" y="157758"/>
                </a:lnTo>
                <a:cubicBezTo>
                  <a:pt x="35719" y="152809"/>
                  <a:pt x="39700" y="148828"/>
                  <a:pt x="44648" y="148828"/>
                </a:cubicBezTo>
                <a:cubicBezTo>
                  <a:pt x="49597" y="148828"/>
                  <a:pt x="53578" y="152809"/>
                  <a:pt x="53578" y="157758"/>
                </a:cubicBezTo>
                <a:lnTo>
                  <a:pt x="53578" y="166688"/>
                </a:lnTo>
                <a:lnTo>
                  <a:pt x="86320" y="166688"/>
                </a:lnTo>
                <a:lnTo>
                  <a:pt x="86320" y="157758"/>
                </a:lnTo>
                <a:cubicBezTo>
                  <a:pt x="86320" y="152809"/>
                  <a:pt x="90301" y="148828"/>
                  <a:pt x="95250" y="148828"/>
                </a:cubicBezTo>
                <a:cubicBezTo>
                  <a:pt x="100199" y="148828"/>
                  <a:pt x="104180" y="152809"/>
                  <a:pt x="104180" y="157758"/>
                </a:cubicBezTo>
                <a:lnTo>
                  <a:pt x="104180" y="166688"/>
                </a:lnTo>
                <a:lnTo>
                  <a:pt x="136922" y="166688"/>
                </a:lnTo>
                <a:lnTo>
                  <a:pt x="136922" y="157758"/>
                </a:lnTo>
                <a:cubicBezTo>
                  <a:pt x="136922" y="152809"/>
                  <a:pt x="140903" y="148828"/>
                  <a:pt x="145852" y="148828"/>
                </a:cubicBezTo>
                <a:cubicBezTo>
                  <a:pt x="150800" y="148828"/>
                  <a:pt x="154781" y="152809"/>
                  <a:pt x="154781" y="157758"/>
                </a:cubicBezTo>
                <a:lnTo>
                  <a:pt x="154781" y="166688"/>
                </a:lnTo>
                <a:lnTo>
                  <a:pt x="178594" y="166688"/>
                </a:lnTo>
                <a:cubicBezTo>
                  <a:pt x="185179" y="166688"/>
                  <a:pt x="190500" y="161367"/>
                  <a:pt x="190500" y="154781"/>
                </a:cubicBezTo>
                <a:close/>
                <a:moveTo>
                  <a:pt x="59531" y="59531"/>
                </a:moveTo>
                <a:lnTo>
                  <a:pt x="59531" y="83344"/>
                </a:lnTo>
                <a:cubicBezTo>
                  <a:pt x="59531" y="89929"/>
                  <a:pt x="54211" y="95250"/>
                  <a:pt x="47625" y="95250"/>
                </a:cubicBezTo>
                <a:cubicBezTo>
                  <a:pt x="41039" y="95250"/>
                  <a:pt x="35719" y="89929"/>
                  <a:pt x="35719" y="83344"/>
                </a:cubicBezTo>
                <a:lnTo>
                  <a:pt x="35719" y="59531"/>
                </a:lnTo>
                <a:cubicBezTo>
                  <a:pt x="35719" y="52946"/>
                  <a:pt x="41039" y="47625"/>
                  <a:pt x="47625" y="47625"/>
                </a:cubicBezTo>
                <a:cubicBezTo>
                  <a:pt x="54211" y="47625"/>
                  <a:pt x="59531" y="52946"/>
                  <a:pt x="59531" y="59531"/>
                </a:cubicBezTo>
                <a:close/>
                <a:moveTo>
                  <a:pt x="107156" y="59531"/>
                </a:moveTo>
                <a:lnTo>
                  <a:pt x="107156" y="83344"/>
                </a:lnTo>
                <a:cubicBezTo>
                  <a:pt x="107156" y="89929"/>
                  <a:pt x="101836" y="95250"/>
                  <a:pt x="95250" y="95250"/>
                </a:cubicBezTo>
                <a:cubicBezTo>
                  <a:pt x="88664" y="95250"/>
                  <a:pt x="83344" y="89929"/>
                  <a:pt x="83344" y="83344"/>
                </a:cubicBezTo>
                <a:lnTo>
                  <a:pt x="83344" y="59531"/>
                </a:lnTo>
                <a:cubicBezTo>
                  <a:pt x="83344" y="52946"/>
                  <a:pt x="88664" y="47625"/>
                  <a:pt x="95250" y="47625"/>
                </a:cubicBezTo>
                <a:cubicBezTo>
                  <a:pt x="101836" y="47625"/>
                  <a:pt x="107156" y="52946"/>
                  <a:pt x="107156" y="59531"/>
                </a:cubicBezTo>
                <a:close/>
                <a:moveTo>
                  <a:pt x="154781" y="59531"/>
                </a:moveTo>
                <a:lnTo>
                  <a:pt x="154781" y="83344"/>
                </a:lnTo>
                <a:cubicBezTo>
                  <a:pt x="154781" y="89929"/>
                  <a:pt x="149461" y="95250"/>
                  <a:pt x="142875" y="95250"/>
                </a:cubicBezTo>
                <a:cubicBezTo>
                  <a:pt x="136289" y="95250"/>
                  <a:pt x="130969" y="89929"/>
                  <a:pt x="130969" y="83344"/>
                </a:cubicBezTo>
                <a:lnTo>
                  <a:pt x="130969" y="59531"/>
                </a:lnTo>
                <a:cubicBezTo>
                  <a:pt x="130969" y="52946"/>
                  <a:pt x="136289" y="47625"/>
                  <a:pt x="142875" y="47625"/>
                </a:cubicBezTo>
                <a:cubicBezTo>
                  <a:pt x="149461" y="47625"/>
                  <a:pt x="154781" y="52946"/>
                  <a:pt x="154781" y="59531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22" name="Text 20"/>
          <p:cNvSpPr/>
          <p:nvPr/>
        </p:nvSpPr>
        <p:spPr>
          <a:xfrm>
            <a:off x="1218836" y="4222534"/>
            <a:ext cx="71437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00000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DRAM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218836" y="4489239"/>
            <a:ext cx="1386808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4A5565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Main Memory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595605" y="4298725"/>
            <a:ext cx="1304925" cy="3429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E7000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~100 ns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399911" y="5486353"/>
            <a:ext cx="5543455" cy="647700"/>
          </a:xfrm>
          <a:custGeom>
            <a:avLst/>
            <a:gdLst/>
            <a:ahLst/>
            <a:cxnLst/>
            <a:rect l="l" t="t" r="r" b="b"/>
            <a:pathLst>
              <a:path w="5543455" h="647700">
                <a:moveTo>
                  <a:pt x="37910" y="0"/>
                </a:moveTo>
                <a:lnTo>
                  <a:pt x="5429156" y="0"/>
                </a:lnTo>
                <a:cubicBezTo>
                  <a:pt x="5492282" y="0"/>
                  <a:pt x="5543455" y="51174"/>
                  <a:pt x="5543455" y="114300"/>
                </a:cubicBezTo>
                <a:lnTo>
                  <a:pt x="5543455" y="533400"/>
                </a:lnTo>
                <a:cubicBezTo>
                  <a:pt x="5543455" y="596526"/>
                  <a:pt x="5492282" y="647700"/>
                  <a:pt x="5429156" y="647700"/>
                </a:cubicBezTo>
                <a:lnTo>
                  <a:pt x="37910" y="647700"/>
                </a:lnTo>
                <a:cubicBezTo>
                  <a:pt x="16973" y="647700"/>
                  <a:pt x="0" y="630727"/>
                  <a:pt x="0" y="609790"/>
                </a:cubicBezTo>
                <a:lnTo>
                  <a:pt x="0" y="37910"/>
                </a:lnTo>
                <a:cubicBezTo>
                  <a:pt x="0" y="16987"/>
                  <a:pt x="16987" y="0"/>
                  <a:pt x="37910" y="0"/>
                </a:cubicBezTo>
                <a:close/>
              </a:path>
            </a:pathLst>
          </a:custGeom>
          <a:solidFill>
            <a:srgbClr val="8B0000">
              <a:alpha val="10196"/>
            </a:srgbClr>
          </a:solidFill>
        </p:spPr>
      </p:sp>
      <p:sp>
        <p:nvSpPr>
          <p:cNvPr id="26" name="Shape 24"/>
          <p:cNvSpPr/>
          <p:nvPr/>
        </p:nvSpPr>
        <p:spPr>
          <a:xfrm>
            <a:off x="399911" y="5486353"/>
            <a:ext cx="37910" cy="647700"/>
          </a:xfrm>
          <a:custGeom>
            <a:avLst/>
            <a:gdLst/>
            <a:ahLst/>
            <a:cxnLst/>
            <a:rect l="l" t="t" r="r" b="b"/>
            <a:pathLst>
              <a:path w="37910" h="647700">
                <a:moveTo>
                  <a:pt x="37910" y="0"/>
                </a:moveTo>
                <a:lnTo>
                  <a:pt x="37910" y="0"/>
                </a:lnTo>
                <a:lnTo>
                  <a:pt x="37910" y="647700"/>
                </a:lnTo>
                <a:lnTo>
                  <a:pt x="37910" y="647700"/>
                </a:lnTo>
                <a:cubicBezTo>
                  <a:pt x="16973" y="647700"/>
                  <a:pt x="0" y="630727"/>
                  <a:pt x="0" y="609790"/>
                </a:cubicBezTo>
                <a:lnTo>
                  <a:pt x="0" y="37910"/>
                </a:lnTo>
                <a:cubicBezTo>
                  <a:pt x="0" y="16987"/>
                  <a:pt x="16987" y="0"/>
                  <a:pt x="37910" y="0"/>
                </a:cubicBezTo>
                <a:close/>
              </a:path>
            </a:pathLst>
          </a:custGeom>
          <a:solidFill>
            <a:srgbClr val="8B0000"/>
          </a:solidFill>
        </p:spPr>
      </p:sp>
      <p:sp>
        <p:nvSpPr>
          <p:cNvPr id="27" name="Text 25"/>
          <p:cNvSpPr/>
          <p:nvPr/>
        </p:nvSpPr>
        <p:spPr>
          <a:xfrm>
            <a:off x="609307" y="5676793"/>
            <a:ext cx="52387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00000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Note:</a:t>
            </a:r>
            <a:r>
              <a:rPr lang="en-US" sz="1500" dirty="0">
                <a:solidFill>
                  <a:srgbClr val="00000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The farther the memory level, the greater the latency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248338" y="990488"/>
            <a:ext cx="5562600" cy="4838700"/>
          </a:xfrm>
          <a:custGeom>
            <a:avLst/>
            <a:gdLst/>
            <a:ahLst/>
            <a:cxnLst/>
            <a:rect l="l" t="t" r="r" b="b"/>
            <a:pathLst>
              <a:path w="5562600" h="4838700">
                <a:moveTo>
                  <a:pt x="76210" y="0"/>
                </a:moveTo>
                <a:lnTo>
                  <a:pt x="5486390" y="0"/>
                </a:lnTo>
                <a:cubicBezTo>
                  <a:pt x="5528480" y="0"/>
                  <a:pt x="5562600" y="34120"/>
                  <a:pt x="5562600" y="76210"/>
                </a:cubicBezTo>
                <a:lnTo>
                  <a:pt x="5562600" y="4762490"/>
                </a:lnTo>
                <a:cubicBezTo>
                  <a:pt x="5562600" y="4804580"/>
                  <a:pt x="5528480" y="4838700"/>
                  <a:pt x="5486390" y="4838700"/>
                </a:cubicBezTo>
                <a:lnTo>
                  <a:pt x="76210" y="4838700"/>
                </a:lnTo>
                <a:cubicBezTo>
                  <a:pt x="34120" y="4838700"/>
                  <a:pt x="0" y="4804580"/>
                  <a:pt x="0" y="4762490"/>
                </a:cubicBezTo>
                <a:lnTo>
                  <a:pt x="0" y="76210"/>
                </a:lnTo>
                <a:cubicBezTo>
                  <a:pt x="0" y="34148"/>
                  <a:pt x="34148" y="0"/>
                  <a:pt x="76210" y="0"/>
                </a:cubicBezTo>
                <a:close/>
              </a:path>
            </a:pathLst>
          </a:custGeom>
          <a:solidFill>
            <a:srgbClr val="F9FAFB"/>
          </a:solidFill>
        </p:spPr>
      </p:sp>
      <p:pic>
        <p:nvPicPr>
          <p:cNvPr id="29" name="Image 0" descr="https://kimi-web-img.moonshot.cn/img/cs.brown.edu/1ec5d83fe9b211325e13a3de7a91c7d591a65a6a.png"/>
          <p:cNvPicPr>
            <a:picLocks noChangeAspect="1"/>
          </p:cNvPicPr>
          <p:nvPr/>
        </p:nvPicPr>
        <p:blipFill>
          <a:blip r:embed="rId4"/>
          <a:srcRect l="77" r="77"/>
          <a:stretch>
            <a:fillRect/>
          </a:stretch>
        </p:blipFill>
        <p:spPr>
          <a:xfrm>
            <a:off x="6400720" y="1921441"/>
            <a:ext cx="5257800" cy="2981325"/>
          </a:xfrm>
          <a:prstGeom prst="roundRect">
            <a:avLst>
              <a:gd name="adj" fmla="val 0"/>
            </a:avLst>
          </a:prstGeom>
        </p:spPr>
      </p:pic>
      <p:sp>
        <p:nvSpPr>
          <p:cNvPr id="30" name="Text 27"/>
          <p:cNvSpPr/>
          <p:nvPr/>
        </p:nvSpPr>
        <p:spPr>
          <a:xfrm>
            <a:off x="6210238" y="5905370"/>
            <a:ext cx="5638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6A7282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Image source: Brown University - Memory Hierarchy</a:t>
            </a:r>
            <a:endParaRPr lang="en-US" sz="1600" dirty="0"/>
          </a:p>
        </p:txBody>
      </p:sp>
      <p:sp>
        <p:nvSpPr>
          <p:cNvPr id="31" name="灯片编号占位符 30"/>
          <p:cNvSpPr>
            <a:spLocks noGrp="1"/>
          </p:cNvSpPr>
          <p:nvPr>
            <p:ph type="sldNum" sz="quarter" idx="4294967295"/>
          </p:nvPr>
        </p:nvSpPr>
        <p:spPr>
          <a:xfrm>
            <a:off x="0" y="593725"/>
            <a:ext cx="419100" cy="365125"/>
          </a:xfrm>
        </p:spPr>
        <p:txBody>
          <a:bodyPr/>
          <a:lstStyle/>
          <a:p>
            <a:fld id="{B33F7469-D28B-482F-B1B6-3B8E7CF51519}" type="slidenum">
              <a:rPr lang="zh-CN" altLang="en-US" smtClean="0"/>
              <a:t>11</a:t>
            </a:fld>
            <a:endParaRPr lang="zh-CN" altLang="en-US" dirty="0"/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0331" y="664813"/>
            <a:ext cx="11699875" cy="317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250" b="1" dirty="0">
                <a:solidFill>
                  <a:srgbClr val="00000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Latency vs Bandwidth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325361" y="1349161"/>
            <a:ext cx="5635546" cy="3754435"/>
          </a:xfrm>
          <a:custGeom>
            <a:avLst/>
            <a:gdLst/>
            <a:ahLst/>
            <a:cxnLst/>
            <a:rect l="l" t="t" r="r" b="b"/>
            <a:pathLst>
              <a:path w="5635546" h="4270296">
                <a:moveTo>
                  <a:pt x="95270" y="0"/>
                </a:moveTo>
                <a:lnTo>
                  <a:pt x="5540276" y="0"/>
                </a:lnTo>
                <a:cubicBezTo>
                  <a:pt x="5592892" y="0"/>
                  <a:pt x="5635546" y="42654"/>
                  <a:pt x="5635546" y="95270"/>
                </a:cubicBezTo>
                <a:lnTo>
                  <a:pt x="5635546" y="4175026"/>
                </a:lnTo>
                <a:cubicBezTo>
                  <a:pt x="5635546" y="4227642"/>
                  <a:pt x="5592892" y="4270296"/>
                  <a:pt x="5540276" y="4270296"/>
                </a:cubicBezTo>
                <a:lnTo>
                  <a:pt x="95270" y="4270296"/>
                </a:lnTo>
                <a:cubicBezTo>
                  <a:pt x="42654" y="4270296"/>
                  <a:pt x="0" y="4227642"/>
                  <a:pt x="0" y="4175026"/>
                </a:cubicBezTo>
                <a:lnTo>
                  <a:pt x="0" y="95270"/>
                </a:lnTo>
                <a:cubicBezTo>
                  <a:pt x="0" y="42689"/>
                  <a:pt x="42689" y="0"/>
                  <a:pt x="95270" y="0"/>
                </a:cubicBezTo>
                <a:close/>
              </a:path>
            </a:pathLst>
          </a:custGeom>
          <a:gradFill flip="none" rotWithShape="1">
            <a:gsLst>
              <a:gs pos="0">
                <a:srgbClr val="F9FAFB"/>
              </a:gs>
              <a:gs pos="100000">
                <a:srgbClr val="FFFFFF"/>
              </a:gs>
            </a:gsLst>
            <a:lin ang="2700000" scaled="1"/>
          </a:gradFill>
          <a:ln w="25274">
            <a:solidFill>
              <a:srgbClr val="E5E7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23737" y="1500609"/>
            <a:ext cx="444500" cy="444500"/>
          </a:xfrm>
          <a:custGeom>
            <a:avLst/>
            <a:gdLst/>
            <a:ahLst/>
            <a:cxnLst/>
            <a:rect l="l" t="t" r="r" b="b"/>
            <a:pathLst>
              <a:path w="444500" h="444500">
                <a:moveTo>
                  <a:pt x="95252" y="0"/>
                </a:moveTo>
                <a:lnTo>
                  <a:pt x="349248" y="0"/>
                </a:lnTo>
                <a:cubicBezTo>
                  <a:pt x="401819" y="0"/>
                  <a:pt x="444500" y="42681"/>
                  <a:pt x="444500" y="95252"/>
                </a:cubicBezTo>
                <a:lnTo>
                  <a:pt x="444500" y="349248"/>
                </a:lnTo>
                <a:cubicBezTo>
                  <a:pt x="444500" y="401854"/>
                  <a:pt x="401854" y="444500"/>
                  <a:pt x="349248" y="444500"/>
                </a:cubicBezTo>
                <a:lnTo>
                  <a:pt x="95252" y="444500"/>
                </a:lnTo>
                <a:cubicBezTo>
                  <a:pt x="42681" y="444500"/>
                  <a:pt x="0" y="401819"/>
                  <a:pt x="0" y="349248"/>
                </a:cubicBezTo>
                <a:lnTo>
                  <a:pt x="0" y="95252"/>
                </a:lnTo>
                <a:cubicBezTo>
                  <a:pt x="0" y="42646"/>
                  <a:pt x="42646" y="0"/>
                  <a:pt x="95252" y="0"/>
                </a:cubicBezTo>
                <a:close/>
              </a:path>
            </a:pathLst>
          </a:custGeom>
          <a:solidFill>
            <a:srgbClr val="8B0000"/>
          </a:solidFill>
          <a:effectLst>
            <a:outerShdw blurRad="47625" dist="317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50717" y="1627594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0"/>
                </a:moveTo>
                <a:cubicBezTo>
                  <a:pt x="147820" y="0"/>
                  <a:pt x="190500" y="42680"/>
                  <a:pt x="190500" y="95250"/>
                </a:cubicBezTo>
                <a:cubicBezTo>
                  <a:pt x="190500" y="147820"/>
                  <a:pt x="147820" y="190500"/>
                  <a:pt x="95250" y="190500"/>
                </a:cubicBezTo>
                <a:cubicBezTo>
                  <a:pt x="42680" y="190500"/>
                  <a:pt x="0" y="147820"/>
                  <a:pt x="0" y="95250"/>
                </a:cubicBezTo>
                <a:cubicBezTo>
                  <a:pt x="0" y="42680"/>
                  <a:pt x="42680" y="0"/>
                  <a:pt x="95250" y="0"/>
                </a:cubicBezTo>
                <a:close/>
                <a:moveTo>
                  <a:pt x="86320" y="44648"/>
                </a:moveTo>
                <a:lnTo>
                  <a:pt x="86320" y="95250"/>
                </a:lnTo>
                <a:cubicBezTo>
                  <a:pt x="86320" y="98227"/>
                  <a:pt x="87809" y="101017"/>
                  <a:pt x="90301" y="102691"/>
                </a:cubicBezTo>
                <a:lnTo>
                  <a:pt x="126020" y="126504"/>
                </a:lnTo>
                <a:cubicBezTo>
                  <a:pt x="130113" y="129257"/>
                  <a:pt x="135657" y="128141"/>
                  <a:pt x="138410" y="124011"/>
                </a:cubicBezTo>
                <a:cubicBezTo>
                  <a:pt x="141163" y="119881"/>
                  <a:pt x="140047" y="114374"/>
                  <a:pt x="135917" y="111621"/>
                </a:cubicBezTo>
                <a:lnTo>
                  <a:pt x="104180" y="90488"/>
                </a:lnTo>
                <a:lnTo>
                  <a:pt x="104180" y="44648"/>
                </a:lnTo>
                <a:cubicBezTo>
                  <a:pt x="104180" y="39700"/>
                  <a:pt x="100199" y="35719"/>
                  <a:pt x="95250" y="35719"/>
                </a:cubicBezTo>
                <a:cubicBezTo>
                  <a:pt x="90301" y="35719"/>
                  <a:pt x="86320" y="39700"/>
                  <a:pt x="86320" y="44648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6" name="Text 4"/>
          <p:cNvSpPr/>
          <p:nvPr/>
        </p:nvSpPr>
        <p:spPr>
          <a:xfrm>
            <a:off x="1095170" y="1595879"/>
            <a:ext cx="833438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00000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Latency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23737" y="2583575"/>
            <a:ext cx="5238750" cy="1404938"/>
          </a:xfrm>
          <a:custGeom>
            <a:avLst/>
            <a:gdLst/>
            <a:ahLst/>
            <a:cxnLst/>
            <a:rect l="l" t="t" r="r" b="b"/>
            <a:pathLst>
              <a:path w="5238750" h="1404938">
                <a:moveTo>
                  <a:pt x="63503" y="0"/>
                </a:moveTo>
                <a:lnTo>
                  <a:pt x="5175247" y="0"/>
                </a:lnTo>
                <a:cubicBezTo>
                  <a:pt x="5210319" y="0"/>
                  <a:pt x="5238750" y="28431"/>
                  <a:pt x="5238750" y="63503"/>
                </a:cubicBezTo>
                <a:lnTo>
                  <a:pt x="5238750" y="1341434"/>
                </a:lnTo>
                <a:cubicBezTo>
                  <a:pt x="5238750" y="1376506"/>
                  <a:pt x="5210319" y="1404938"/>
                  <a:pt x="5175247" y="1404938"/>
                </a:cubicBezTo>
                <a:lnTo>
                  <a:pt x="63503" y="1404938"/>
                </a:lnTo>
                <a:cubicBezTo>
                  <a:pt x="28431" y="1404938"/>
                  <a:pt x="0" y="1376506"/>
                  <a:pt x="0" y="1341434"/>
                </a:cubicBezTo>
                <a:lnTo>
                  <a:pt x="0" y="63503"/>
                </a:lnTo>
                <a:cubicBezTo>
                  <a:pt x="0" y="28431"/>
                  <a:pt x="28431" y="0"/>
                  <a:pt x="63503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23813" dist="7938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77707" y="2837544"/>
            <a:ext cx="48260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8B000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How long does a single access take?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77707" y="3218439"/>
            <a:ext cx="4810125" cy="51593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50" dirty="0">
                <a:solidFill>
                  <a:srgbClr val="36415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Measures the time to complete one independent operation, focusing on the response speed of individual requests.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230851" y="1349161"/>
            <a:ext cx="5635546" cy="3754435"/>
          </a:xfrm>
          <a:custGeom>
            <a:avLst/>
            <a:gdLst/>
            <a:ahLst/>
            <a:cxnLst/>
            <a:rect l="l" t="t" r="r" b="b"/>
            <a:pathLst>
              <a:path w="5635546" h="4270296">
                <a:moveTo>
                  <a:pt x="95270" y="0"/>
                </a:moveTo>
                <a:lnTo>
                  <a:pt x="5540276" y="0"/>
                </a:lnTo>
                <a:cubicBezTo>
                  <a:pt x="5592892" y="0"/>
                  <a:pt x="5635546" y="42654"/>
                  <a:pt x="5635546" y="95270"/>
                </a:cubicBezTo>
                <a:lnTo>
                  <a:pt x="5635546" y="4175026"/>
                </a:lnTo>
                <a:cubicBezTo>
                  <a:pt x="5635546" y="4227642"/>
                  <a:pt x="5592892" y="4270296"/>
                  <a:pt x="5540276" y="4270296"/>
                </a:cubicBezTo>
                <a:lnTo>
                  <a:pt x="95270" y="4270296"/>
                </a:lnTo>
                <a:cubicBezTo>
                  <a:pt x="42654" y="4270296"/>
                  <a:pt x="0" y="4227642"/>
                  <a:pt x="0" y="4175026"/>
                </a:cubicBezTo>
                <a:lnTo>
                  <a:pt x="0" y="95270"/>
                </a:lnTo>
                <a:cubicBezTo>
                  <a:pt x="0" y="42689"/>
                  <a:pt x="42689" y="0"/>
                  <a:pt x="95270" y="0"/>
                </a:cubicBezTo>
                <a:close/>
              </a:path>
            </a:pathLst>
          </a:custGeom>
          <a:gradFill flip="none" rotWithShape="1">
            <a:gsLst>
              <a:gs pos="0">
                <a:srgbClr val="F9FAFB"/>
              </a:gs>
              <a:gs pos="100000">
                <a:srgbClr val="FFFFFF"/>
              </a:gs>
            </a:gsLst>
            <a:lin ang="2700000" scaled="1"/>
          </a:gradFill>
          <a:ln w="25274">
            <a:solidFill>
              <a:srgbClr val="E5E7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29227" y="1547493"/>
            <a:ext cx="444500" cy="444500"/>
          </a:xfrm>
          <a:custGeom>
            <a:avLst/>
            <a:gdLst/>
            <a:ahLst/>
            <a:cxnLst/>
            <a:rect l="l" t="t" r="r" b="b"/>
            <a:pathLst>
              <a:path w="444500" h="444500">
                <a:moveTo>
                  <a:pt x="95252" y="0"/>
                </a:moveTo>
                <a:lnTo>
                  <a:pt x="349248" y="0"/>
                </a:lnTo>
                <a:cubicBezTo>
                  <a:pt x="401819" y="0"/>
                  <a:pt x="444500" y="42681"/>
                  <a:pt x="444500" y="95252"/>
                </a:cubicBezTo>
                <a:lnTo>
                  <a:pt x="444500" y="349248"/>
                </a:lnTo>
                <a:cubicBezTo>
                  <a:pt x="444500" y="401854"/>
                  <a:pt x="401854" y="444500"/>
                  <a:pt x="349248" y="444500"/>
                </a:cubicBezTo>
                <a:lnTo>
                  <a:pt x="95252" y="444500"/>
                </a:lnTo>
                <a:cubicBezTo>
                  <a:pt x="42681" y="444500"/>
                  <a:pt x="0" y="401819"/>
                  <a:pt x="0" y="349248"/>
                </a:cubicBezTo>
                <a:lnTo>
                  <a:pt x="0" y="95252"/>
                </a:lnTo>
                <a:cubicBezTo>
                  <a:pt x="0" y="42646"/>
                  <a:pt x="42646" y="0"/>
                  <a:pt x="95252" y="0"/>
                </a:cubicBezTo>
                <a:close/>
              </a:path>
            </a:pathLst>
          </a:custGeom>
          <a:solidFill>
            <a:srgbClr val="8B0000"/>
          </a:solidFill>
          <a:effectLst>
            <a:outerShdw blurRad="47625" dist="317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556207" y="1674478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0" y="95250"/>
                </a:moveTo>
                <a:cubicBezTo>
                  <a:pt x="0" y="42680"/>
                  <a:pt x="42680" y="0"/>
                  <a:pt x="95250" y="0"/>
                </a:cubicBezTo>
                <a:cubicBezTo>
                  <a:pt x="147820" y="0"/>
                  <a:pt x="190500" y="42680"/>
                  <a:pt x="190500" y="95250"/>
                </a:cubicBezTo>
                <a:cubicBezTo>
                  <a:pt x="190500" y="147820"/>
                  <a:pt x="147820" y="190500"/>
                  <a:pt x="95250" y="190500"/>
                </a:cubicBezTo>
                <a:cubicBezTo>
                  <a:pt x="42680" y="190500"/>
                  <a:pt x="0" y="147820"/>
                  <a:pt x="0" y="95250"/>
                </a:cubicBezTo>
                <a:close/>
                <a:moveTo>
                  <a:pt x="107156" y="35719"/>
                </a:moveTo>
                <a:cubicBezTo>
                  <a:pt x="107156" y="29148"/>
                  <a:pt x="101821" y="23812"/>
                  <a:pt x="95250" y="23812"/>
                </a:cubicBezTo>
                <a:cubicBezTo>
                  <a:pt x="88679" y="23812"/>
                  <a:pt x="83344" y="29148"/>
                  <a:pt x="83344" y="35719"/>
                </a:cubicBezTo>
                <a:cubicBezTo>
                  <a:pt x="83344" y="42290"/>
                  <a:pt x="88679" y="47625"/>
                  <a:pt x="95250" y="47625"/>
                </a:cubicBezTo>
                <a:cubicBezTo>
                  <a:pt x="101821" y="47625"/>
                  <a:pt x="107156" y="42290"/>
                  <a:pt x="107156" y="35719"/>
                </a:cubicBezTo>
                <a:close/>
                <a:moveTo>
                  <a:pt x="95250" y="154781"/>
                </a:moveTo>
                <a:cubicBezTo>
                  <a:pt x="108384" y="154781"/>
                  <a:pt x="119063" y="144103"/>
                  <a:pt x="119063" y="130969"/>
                </a:cubicBezTo>
                <a:cubicBezTo>
                  <a:pt x="119063" y="124941"/>
                  <a:pt x="116830" y="119397"/>
                  <a:pt x="113109" y="115230"/>
                </a:cubicBezTo>
                <a:lnTo>
                  <a:pt x="138968" y="63550"/>
                </a:lnTo>
                <a:cubicBezTo>
                  <a:pt x="141163" y="59122"/>
                  <a:pt x="139378" y="53764"/>
                  <a:pt x="134987" y="51569"/>
                </a:cubicBezTo>
                <a:cubicBezTo>
                  <a:pt x="130597" y="49374"/>
                  <a:pt x="125202" y="51160"/>
                  <a:pt x="123006" y="55550"/>
                </a:cubicBezTo>
                <a:lnTo>
                  <a:pt x="97148" y="107231"/>
                </a:lnTo>
                <a:cubicBezTo>
                  <a:pt x="96515" y="107193"/>
                  <a:pt x="95883" y="107156"/>
                  <a:pt x="95250" y="107156"/>
                </a:cubicBezTo>
                <a:cubicBezTo>
                  <a:pt x="82116" y="107156"/>
                  <a:pt x="71438" y="117835"/>
                  <a:pt x="71438" y="130969"/>
                </a:cubicBezTo>
                <a:cubicBezTo>
                  <a:pt x="71438" y="144103"/>
                  <a:pt x="82116" y="154781"/>
                  <a:pt x="95250" y="154781"/>
                </a:cubicBezTo>
                <a:close/>
                <a:moveTo>
                  <a:pt x="65484" y="53578"/>
                </a:moveTo>
                <a:cubicBezTo>
                  <a:pt x="65484" y="47007"/>
                  <a:pt x="60149" y="41672"/>
                  <a:pt x="53578" y="41672"/>
                </a:cubicBezTo>
                <a:cubicBezTo>
                  <a:pt x="47007" y="41672"/>
                  <a:pt x="41672" y="47007"/>
                  <a:pt x="41672" y="53578"/>
                </a:cubicBezTo>
                <a:cubicBezTo>
                  <a:pt x="41672" y="60149"/>
                  <a:pt x="47007" y="65484"/>
                  <a:pt x="53578" y="65484"/>
                </a:cubicBezTo>
                <a:cubicBezTo>
                  <a:pt x="60149" y="65484"/>
                  <a:pt x="65484" y="60149"/>
                  <a:pt x="65484" y="53578"/>
                </a:cubicBezTo>
                <a:close/>
                <a:moveTo>
                  <a:pt x="35719" y="107156"/>
                </a:moveTo>
                <a:cubicBezTo>
                  <a:pt x="42290" y="107156"/>
                  <a:pt x="47625" y="101821"/>
                  <a:pt x="47625" y="95250"/>
                </a:cubicBezTo>
                <a:cubicBezTo>
                  <a:pt x="47625" y="88679"/>
                  <a:pt x="42290" y="83344"/>
                  <a:pt x="35719" y="83344"/>
                </a:cubicBezTo>
                <a:cubicBezTo>
                  <a:pt x="29148" y="83344"/>
                  <a:pt x="23812" y="88679"/>
                  <a:pt x="23812" y="95250"/>
                </a:cubicBezTo>
                <a:cubicBezTo>
                  <a:pt x="23812" y="101821"/>
                  <a:pt x="29148" y="107156"/>
                  <a:pt x="35719" y="107156"/>
                </a:cubicBezTo>
                <a:close/>
                <a:moveTo>
                  <a:pt x="166688" y="95250"/>
                </a:moveTo>
                <a:cubicBezTo>
                  <a:pt x="166688" y="88679"/>
                  <a:pt x="161352" y="83344"/>
                  <a:pt x="154781" y="83344"/>
                </a:cubicBezTo>
                <a:cubicBezTo>
                  <a:pt x="148210" y="83344"/>
                  <a:pt x="142875" y="88679"/>
                  <a:pt x="142875" y="95250"/>
                </a:cubicBezTo>
                <a:cubicBezTo>
                  <a:pt x="142875" y="101821"/>
                  <a:pt x="148210" y="107156"/>
                  <a:pt x="154781" y="107156"/>
                </a:cubicBezTo>
                <a:cubicBezTo>
                  <a:pt x="161352" y="107156"/>
                  <a:pt x="166688" y="101821"/>
                  <a:pt x="166688" y="95250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13" name="Text 11"/>
          <p:cNvSpPr/>
          <p:nvPr/>
        </p:nvSpPr>
        <p:spPr>
          <a:xfrm>
            <a:off x="7000660" y="1642763"/>
            <a:ext cx="1135063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00000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Bandwidth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429227" y="2583575"/>
            <a:ext cx="5238750" cy="1404938"/>
          </a:xfrm>
          <a:custGeom>
            <a:avLst/>
            <a:gdLst/>
            <a:ahLst/>
            <a:cxnLst/>
            <a:rect l="l" t="t" r="r" b="b"/>
            <a:pathLst>
              <a:path w="5238750" h="1404938">
                <a:moveTo>
                  <a:pt x="63503" y="0"/>
                </a:moveTo>
                <a:lnTo>
                  <a:pt x="5175247" y="0"/>
                </a:lnTo>
                <a:cubicBezTo>
                  <a:pt x="5210319" y="0"/>
                  <a:pt x="5238750" y="28431"/>
                  <a:pt x="5238750" y="63503"/>
                </a:cubicBezTo>
                <a:lnTo>
                  <a:pt x="5238750" y="1341434"/>
                </a:lnTo>
                <a:cubicBezTo>
                  <a:pt x="5238750" y="1376506"/>
                  <a:pt x="5210319" y="1404938"/>
                  <a:pt x="5175247" y="1404938"/>
                </a:cubicBezTo>
                <a:lnTo>
                  <a:pt x="63503" y="1404938"/>
                </a:lnTo>
                <a:cubicBezTo>
                  <a:pt x="28431" y="1404938"/>
                  <a:pt x="0" y="1376506"/>
                  <a:pt x="0" y="1341434"/>
                </a:cubicBezTo>
                <a:lnTo>
                  <a:pt x="0" y="63503"/>
                </a:lnTo>
                <a:cubicBezTo>
                  <a:pt x="0" y="28431"/>
                  <a:pt x="28431" y="0"/>
                  <a:pt x="63503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23813" dist="7938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683197" y="2837544"/>
            <a:ext cx="48260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8B000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How much data can be processed per unit time?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683197" y="3218439"/>
            <a:ext cx="4810125" cy="51593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50" dirty="0">
                <a:solidFill>
                  <a:srgbClr val="36415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Measures the total data a system can process per unit time, focusing on overall throughput capacity.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33259" y="5302095"/>
            <a:ext cx="11541046" cy="1397000"/>
          </a:xfrm>
          <a:custGeom>
            <a:avLst/>
            <a:gdLst/>
            <a:ahLst/>
            <a:cxnLst/>
            <a:rect l="l" t="t" r="r" b="b"/>
            <a:pathLst>
              <a:path w="11541046" h="1397000">
                <a:moveTo>
                  <a:pt x="31592" y="0"/>
                </a:moveTo>
                <a:lnTo>
                  <a:pt x="11445799" y="0"/>
                </a:lnTo>
                <a:cubicBezTo>
                  <a:pt x="11498402" y="0"/>
                  <a:pt x="11541046" y="42644"/>
                  <a:pt x="11541046" y="95247"/>
                </a:cubicBezTo>
                <a:lnTo>
                  <a:pt x="11541046" y="1301753"/>
                </a:lnTo>
                <a:cubicBezTo>
                  <a:pt x="11541046" y="1354356"/>
                  <a:pt x="11498402" y="1397000"/>
                  <a:pt x="11445799" y="1397000"/>
                </a:cubicBezTo>
                <a:lnTo>
                  <a:pt x="31592" y="1397000"/>
                </a:lnTo>
                <a:cubicBezTo>
                  <a:pt x="14144" y="1397000"/>
                  <a:pt x="0" y="1382856"/>
                  <a:pt x="0" y="1365408"/>
                </a:cubicBezTo>
                <a:lnTo>
                  <a:pt x="0" y="31592"/>
                </a:lnTo>
                <a:cubicBezTo>
                  <a:pt x="0" y="14156"/>
                  <a:pt x="14156" y="0"/>
                  <a:pt x="31592" y="0"/>
                </a:cubicBezTo>
                <a:close/>
              </a:path>
            </a:pathLst>
          </a:custGeom>
          <a:solidFill>
            <a:srgbClr val="8B0000">
              <a:alpha val="10196"/>
            </a:srgbClr>
          </a:solidFill>
        </p:spPr>
      </p:sp>
      <p:sp>
        <p:nvSpPr>
          <p:cNvPr id="18" name="Shape 16"/>
          <p:cNvSpPr/>
          <p:nvPr/>
        </p:nvSpPr>
        <p:spPr>
          <a:xfrm>
            <a:off x="333259" y="5302095"/>
            <a:ext cx="31592" cy="1397000"/>
          </a:xfrm>
          <a:custGeom>
            <a:avLst/>
            <a:gdLst/>
            <a:ahLst/>
            <a:cxnLst/>
            <a:rect l="l" t="t" r="r" b="b"/>
            <a:pathLst>
              <a:path w="31592" h="1397000">
                <a:moveTo>
                  <a:pt x="31592" y="0"/>
                </a:moveTo>
                <a:lnTo>
                  <a:pt x="31592" y="0"/>
                </a:lnTo>
                <a:lnTo>
                  <a:pt x="31592" y="1397000"/>
                </a:lnTo>
                <a:lnTo>
                  <a:pt x="31592" y="1397000"/>
                </a:lnTo>
                <a:cubicBezTo>
                  <a:pt x="14144" y="1397000"/>
                  <a:pt x="0" y="1382856"/>
                  <a:pt x="0" y="1365408"/>
                </a:cubicBezTo>
                <a:lnTo>
                  <a:pt x="0" y="31592"/>
                </a:lnTo>
                <a:cubicBezTo>
                  <a:pt x="0" y="14156"/>
                  <a:pt x="14156" y="0"/>
                  <a:pt x="31592" y="0"/>
                </a:cubicBezTo>
                <a:close/>
              </a:path>
            </a:pathLst>
          </a:custGeom>
          <a:solidFill>
            <a:srgbClr val="8B0000"/>
          </a:solidFill>
        </p:spPr>
      </p:sp>
      <p:sp>
        <p:nvSpPr>
          <p:cNvPr id="19" name="Text 17"/>
          <p:cNvSpPr/>
          <p:nvPr/>
        </p:nvSpPr>
        <p:spPr>
          <a:xfrm>
            <a:off x="539533" y="5492572"/>
            <a:ext cx="11223625" cy="2222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00000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Analogy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39533" y="5841814"/>
            <a:ext cx="5476875" cy="666750"/>
          </a:xfrm>
          <a:custGeom>
            <a:avLst/>
            <a:gdLst/>
            <a:ahLst/>
            <a:cxnLst/>
            <a:rect l="l" t="t" r="r" b="b"/>
            <a:pathLst>
              <a:path w="5476875" h="666750">
                <a:moveTo>
                  <a:pt x="63501" y="0"/>
                </a:moveTo>
                <a:lnTo>
                  <a:pt x="5413374" y="0"/>
                </a:lnTo>
                <a:cubicBezTo>
                  <a:pt x="5448445" y="0"/>
                  <a:pt x="5476875" y="28430"/>
                  <a:pt x="5476875" y="63501"/>
                </a:cubicBezTo>
                <a:lnTo>
                  <a:pt x="5476875" y="603249"/>
                </a:lnTo>
                <a:cubicBezTo>
                  <a:pt x="5476875" y="638320"/>
                  <a:pt x="5448445" y="666750"/>
                  <a:pt x="5413374" y="666750"/>
                </a:cubicBezTo>
                <a:lnTo>
                  <a:pt x="63501" y="666750"/>
                </a:lnTo>
                <a:cubicBezTo>
                  <a:pt x="28430" y="666750"/>
                  <a:pt x="0" y="638320"/>
                  <a:pt x="0" y="603249"/>
                </a:cubicBezTo>
                <a:lnTo>
                  <a:pt x="0" y="63501"/>
                </a:lnTo>
                <a:cubicBezTo>
                  <a:pt x="0" y="28454"/>
                  <a:pt x="28454" y="0"/>
                  <a:pt x="63501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23813" dist="7938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90331" y="6079923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50304" y="43681"/>
                </a:moveTo>
                <a:lnTo>
                  <a:pt x="40593" y="71438"/>
                </a:lnTo>
                <a:lnTo>
                  <a:pt x="149907" y="71438"/>
                </a:lnTo>
                <a:lnTo>
                  <a:pt x="140196" y="43681"/>
                </a:lnTo>
                <a:cubicBezTo>
                  <a:pt x="138522" y="38919"/>
                  <a:pt x="134020" y="35719"/>
                  <a:pt x="128960" y="35719"/>
                </a:cubicBezTo>
                <a:lnTo>
                  <a:pt x="61540" y="35719"/>
                </a:lnTo>
                <a:cubicBezTo>
                  <a:pt x="56480" y="35719"/>
                  <a:pt x="51978" y="38919"/>
                  <a:pt x="50304" y="43681"/>
                </a:cubicBezTo>
                <a:close/>
                <a:moveTo>
                  <a:pt x="14734" y="73223"/>
                </a:moveTo>
                <a:lnTo>
                  <a:pt x="27831" y="35830"/>
                </a:lnTo>
                <a:cubicBezTo>
                  <a:pt x="32854" y="21506"/>
                  <a:pt x="46360" y="11906"/>
                  <a:pt x="61540" y="11906"/>
                </a:cubicBezTo>
                <a:lnTo>
                  <a:pt x="128960" y="11906"/>
                </a:lnTo>
                <a:cubicBezTo>
                  <a:pt x="144140" y="11906"/>
                  <a:pt x="157646" y="21506"/>
                  <a:pt x="162669" y="35830"/>
                </a:cubicBezTo>
                <a:lnTo>
                  <a:pt x="175766" y="73223"/>
                </a:lnTo>
                <a:cubicBezTo>
                  <a:pt x="184398" y="76795"/>
                  <a:pt x="190500" y="85316"/>
                  <a:pt x="190500" y="95250"/>
                </a:cubicBezTo>
                <a:lnTo>
                  <a:pt x="190500" y="166688"/>
                </a:lnTo>
                <a:cubicBezTo>
                  <a:pt x="190500" y="173273"/>
                  <a:pt x="185179" y="178594"/>
                  <a:pt x="178594" y="178594"/>
                </a:cubicBezTo>
                <a:lnTo>
                  <a:pt x="166688" y="178594"/>
                </a:lnTo>
                <a:cubicBezTo>
                  <a:pt x="160102" y="178594"/>
                  <a:pt x="154781" y="173273"/>
                  <a:pt x="154781" y="166688"/>
                </a:cubicBezTo>
                <a:lnTo>
                  <a:pt x="154781" y="154781"/>
                </a:lnTo>
                <a:lnTo>
                  <a:pt x="35719" y="154781"/>
                </a:lnTo>
                <a:lnTo>
                  <a:pt x="35719" y="166688"/>
                </a:lnTo>
                <a:cubicBezTo>
                  <a:pt x="35719" y="173273"/>
                  <a:pt x="30398" y="178594"/>
                  <a:pt x="23812" y="178594"/>
                </a:cubicBezTo>
                <a:lnTo>
                  <a:pt x="11906" y="178594"/>
                </a:lnTo>
                <a:cubicBezTo>
                  <a:pt x="5321" y="178594"/>
                  <a:pt x="0" y="173273"/>
                  <a:pt x="0" y="166688"/>
                </a:cubicBezTo>
                <a:lnTo>
                  <a:pt x="0" y="95250"/>
                </a:lnTo>
                <a:cubicBezTo>
                  <a:pt x="0" y="85316"/>
                  <a:pt x="6102" y="76795"/>
                  <a:pt x="14734" y="73223"/>
                </a:cubicBezTo>
                <a:close/>
                <a:moveTo>
                  <a:pt x="47625" y="113109"/>
                </a:moveTo>
                <a:cubicBezTo>
                  <a:pt x="47625" y="106538"/>
                  <a:pt x="42290" y="101203"/>
                  <a:pt x="35719" y="101203"/>
                </a:cubicBezTo>
                <a:cubicBezTo>
                  <a:pt x="29148" y="101203"/>
                  <a:pt x="23812" y="106538"/>
                  <a:pt x="23812" y="113109"/>
                </a:cubicBezTo>
                <a:cubicBezTo>
                  <a:pt x="23812" y="119681"/>
                  <a:pt x="29148" y="125016"/>
                  <a:pt x="35719" y="125016"/>
                </a:cubicBezTo>
                <a:cubicBezTo>
                  <a:pt x="42290" y="125016"/>
                  <a:pt x="47625" y="119681"/>
                  <a:pt x="47625" y="113109"/>
                </a:cubicBezTo>
                <a:close/>
                <a:moveTo>
                  <a:pt x="154781" y="125016"/>
                </a:moveTo>
                <a:cubicBezTo>
                  <a:pt x="161352" y="125016"/>
                  <a:pt x="166688" y="119681"/>
                  <a:pt x="166688" y="113109"/>
                </a:cubicBezTo>
                <a:cubicBezTo>
                  <a:pt x="166688" y="106538"/>
                  <a:pt x="161352" y="101203"/>
                  <a:pt x="154781" y="101203"/>
                </a:cubicBezTo>
                <a:cubicBezTo>
                  <a:pt x="148210" y="101203"/>
                  <a:pt x="142875" y="106538"/>
                  <a:pt x="142875" y="113109"/>
                </a:cubicBezTo>
                <a:cubicBezTo>
                  <a:pt x="142875" y="119681"/>
                  <a:pt x="148210" y="125016"/>
                  <a:pt x="154781" y="125016"/>
                </a:cubicBezTo>
                <a:close/>
              </a:path>
            </a:pathLst>
          </a:custGeom>
          <a:solidFill>
            <a:srgbClr val="8B0000"/>
          </a:solidFill>
        </p:spPr>
      </p:sp>
      <p:sp>
        <p:nvSpPr>
          <p:cNvPr id="22" name="Text 20"/>
          <p:cNvSpPr/>
          <p:nvPr/>
        </p:nvSpPr>
        <p:spPr>
          <a:xfrm>
            <a:off x="1055513" y="5909211"/>
            <a:ext cx="2436898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00000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Latency = Car startup time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031616" y="6191052"/>
            <a:ext cx="3288338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4A5565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Time required to start moving from a standstill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207033" y="5841814"/>
            <a:ext cx="5476875" cy="666750"/>
          </a:xfrm>
          <a:custGeom>
            <a:avLst/>
            <a:gdLst/>
            <a:ahLst/>
            <a:cxnLst/>
            <a:rect l="l" t="t" r="r" b="b"/>
            <a:pathLst>
              <a:path w="5476875" h="666750">
                <a:moveTo>
                  <a:pt x="63501" y="0"/>
                </a:moveTo>
                <a:lnTo>
                  <a:pt x="5413374" y="0"/>
                </a:lnTo>
                <a:cubicBezTo>
                  <a:pt x="5448445" y="0"/>
                  <a:pt x="5476875" y="28430"/>
                  <a:pt x="5476875" y="63501"/>
                </a:cubicBezTo>
                <a:lnTo>
                  <a:pt x="5476875" y="603249"/>
                </a:lnTo>
                <a:cubicBezTo>
                  <a:pt x="5476875" y="638320"/>
                  <a:pt x="5448445" y="666750"/>
                  <a:pt x="5413374" y="666750"/>
                </a:cubicBezTo>
                <a:lnTo>
                  <a:pt x="63501" y="666750"/>
                </a:lnTo>
                <a:cubicBezTo>
                  <a:pt x="28430" y="666750"/>
                  <a:pt x="0" y="638320"/>
                  <a:pt x="0" y="603249"/>
                </a:cubicBezTo>
                <a:lnTo>
                  <a:pt x="0" y="63501"/>
                </a:lnTo>
                <a:cubicBezTo>
                  <a:pt x="0" y="28454"/>
                  <a:pt x="28454" y="0"/>
                  <a:pt x="63501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23813" dist="7938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357831" y="6079923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83307" y="11906"/>
                </a:moveTo>
                <a:lnTo>
                  <a:pt x="54955" y="11906"/>
                </a:lnTo>
                <a:cubicBezTo>
                  <a:pt x="44016" y="11906"/>
                  <a:pt x="34454" y="19385"/>
                  <a:pt x="31849" y="29989"/>
                </a:cubicBezTo>
                <a:lnTo>
                  <a:pt x="521" y="156456"/>
                </a:lnTo>
                <a:cubicBezTo>
                  <a:pt x="-2270" y="167692"/>
                  <a:pt x="6251" y="178594"/>
                  <a:pt x="17859" y="178594"/>
                </a:cubicBezTo>
                <a:lnTo>
                  <a:pt x="83307" y="178594"/>
                </a:lnTo>
                <a:lnTo>
                  <a:pt x="83307" y="154781"/>
                </a:lnTo>
                <a:cubicBezTo>
                  <a:pt x="83307" y="148196"/>
                  <a:pt x="88627" y="142875"/>
                  <a:pt x="95213" y="142875"/>
                </a:cubicBezTo>
                <a:cubicBezTo>
                  <a:pt x="101798" y="142875"/>
                  <a:pt x="107119" y="148196"/>
                  <a:pt x="107119" y="154781"/>
                </a:cubicBezTo>
                <a:lnTo>
                  <a:pt x="107119" y="178594"/>
                </a:lnTo>
                <a:lnTo>
                  <a:pt x="172641" y="178594"/>
                </a:lnTo>
                <a:cubicBezTo>
                  <a:pt x="184249" y="178594"/>
                  <a:pt x="192770" y="167692"/>
                  <a:pt x="189979" y="156456"/>
                </a:cubicBezTo>
                <a:lnTo>
                  <a:pt x="158688" y="29989"/>
                </a:lnTo>
                <a:cubicBezTo>
                  <a:pt x="156046" y="19385"/>
                  <a:pt x="146521" y="11906"/>
                  <a:pt x="135545" y="11906"/>
                </a:cubicBezTo>
                <a:lnTo>
                  <a:pt x="107119" y="11906"/>
                </a:lnTo>
                <a:lnTo>
                  <a:pt x="107119" y="35719"/>
                </a:lnTo>
                <a:cubicBezTo>
                  <a:pt x="107119" y="42304"/>
                  <a:pt x="101798" y="47625"/>
                  <a:pt x="95213" y="47625"/>
                </a:cubicBezTo>
                <a:cubicBezTo>
                  <a:pt x="88627" y="47625"/>
                  <a:pt x="83307" y="42304"/>
                  <a:pt x="83307" y="35719"/>
                </a:cubicBezTo>
                <a:lnTo>
                  <a:pt x="83307" y="11906"/>
                </a:lnTo>
                <a:close/>
                <a:moveTo>
                  <a:pt x="107119" y="83344"/>
                </a:moveTo>
                <a:lnTo>
                  <a:pt x="107119" y="107156"/>
                </a:lnTo>
                <a:cubicBezTo>
                  <a:pt x="107119" y="113742"/>
                  <a:pt x="101798" y="119063"/>
                  <a:pt x="95213" y="119063"/>
                </a:cubicBezTo>
                <a:cubicBezTo>
                  <a:pt x="88627" y="119063"/>
                  <a:pt x="83307" y="113742"/>
                  <a:pt x="83307" y="107156"/>
                </a:cubicBezTo>
                <a:lnTo>
                  <a:pt x="83307" y="83344"/>
                </a:lnTo>
                <a:cubicBezTo>
                  <a:pt x="83307" y="76758"/>
                  <a:pt x="88627" y="71438"/>
                  <a:pt x="95213" y="71438"/>
                </a:cubicBezTo>
                <a:cubicBezTo>
                  <a:pt x="101798" y="71438"/>
                  <a:pt x="107119" y="76758"/>
                  <a:pt x="107119" y="83344"/>
                </a:cubicBezTo>
                <a:close/>
              </a:path>
            </a:pathLst>
          </a:custGeom>
          <a:solidFill>
            <a:srgbClr val="8B0000"/>
          </a:solidFill>
        </p:spPr>
      </p:sp>
      <p:sp>
        <p:nvSpPr>
          <p:cNvPr id="26" name="Text 24"/>
          <p:cNvSpPr/>
          <p:nvPr/>
        </p:nvSpPr>
        <p:spPr>
          <a:xfrm>
            <a:off x="6699116" y="5968798"/>
            <a:ext cx="3306529" cy="1111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00000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Bandwidth = Number of highway lanes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699117" y="6191052"/>
            <a:ext cx="3447206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4A5565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Number of vehicles that can pass simultaneously</a:t>
            </a:r>
            <a:endParaRPr lang="en-US" sz="1600" dirty="0"/>
          </a:p>
        </p:txBody>
      </p:sp>
      <p:sp>
        <p:nvSpPr>
          <p:cNvPr id="28" name="灯片编号占位符 27"/>
          <p:cNvSpPr>
            <a:spLocks noGrp="1"/>
          </p:cNvSpPr>
          <p:nvPr>
            <p:ph type="sldNum" sz="quarter" idx="4294967295"/>
          </p:nvPr>
        </p:nvSpPr>
        <p:spPr>
          <a:xfrm>
            <a:off x="0" y="593725"/>
            <a:ext cx="419100" cy="365125"/>
          </a:xfrm>
        </p:spPr>
        <p:txBody>
          <a:bodyPr/>
          <a:lstStyle/>
          <a:p>
            <a:fld id="{B33F7469-D28B-482F-B1B6-3B8E7CF51519}" type="slidenum">
              <a:rPr lang="zh-CN" altLang="en-US" smtClean="0"/>
              <a:t>12</a:t>
            </a:fld>
            <a:endParaRPr lang="zh-CN" altLang="en-US" dirty="0"/>
          </a:p>
        </p:txBody>
      </p:sp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1617" y="590685"/>
            <a:ext cx="11601450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600" b="1" dirty="0">
                <a:solidFill>
                  <a:srgbClr val="00000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Utilization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99911" y="1172200"/>
            <a:ext cx="5543455" cy="1104900"/>
          </a:xfrm>
          <a:custGeom>
            <a:avLst/>
            <a:gdLst/>
            <a:ahLst/>
            <a:cxnLst/>
            <a:rect l="l" t="t" r="r" b="b"/>
            <a:pathLst>
              <a:path w="5543455" h="1104900">
                <a:moveTo>
                  <a:pt x="37910" y="0"/>
                </a:moveTo>
                <a:lnTo>
                  <a:pt x="5429153" y="0"/>
                </a:lnTo>
                <a:cubicBezTo>
                  <a:pt x="5492281" y="0"/>
                  <a:pt x="5543455" y="51175"/>
                  <a:pt x="5543455" y="114302"/>
                </a:cubicBezTo>
                <a:lnTo>
                  <a:pt x="5543455" y="990598"/>
                </a:lnTo>
                <a:cubicBezTo>
                  <a:pt x="5543455" y="1053725"/>
                  <a:pt x="5492281" y="1104900"/>
                  <a:pt x="5429153" y="1104900"/>
                </a:cubicBezTo>
                <a:lnTo>
                  <a:pt x="37910" y="1104900"/>
                </a:lnTo>
                <a:cubicBezTo>
                  <a:pt x="16973" y="1104900"/>
                  <a:pt x="0" y="1087927"/>
                  <a:pt x="0" y="1066990"/>
                </a:cubicBezTo>
                <a:lnTo>
                  <a:pt x="0" y="37910"/>
                </a:lnTo>
                <a:cubicBezTo>
                  <a:pt x="0" y="16987"/>
                  <a:pt x="16987" y="0"/>
                  <a:pt x="37910" y="0"/>
                </a:cubicBezTo>
                <a:close/>
              </a:path>
            </a:pathLst>
          </a:custGeom>
          <a:solidFill>
            <a:srgbClr val="8B0000">
              <a:alpha val="10196"/>
            </a:srgbClr>
          </a:solidFill>
        </p:spPr>
      </p:sp>
      <p:sp>
        <p:nvSpPr>
          <p:cNvPr id="4" name="Shape 2"/>
          <p:cNvSpPr/>
          <p:nvPr/>
        </p:nvSpPr>
        <p:spPr>
          <a:xfrm>
            <a:off x="399911" y="1172200"/>
            <a:ext cx="37910" cy="1104900"/>
          </a:xfrm>
          <a:custGeom>
            <a:avLst/>
            <a:gdLst/>
            <a:ahLst/>
            <a:cxnLst/>
            <a:rect l="l" t="t" r="r" b="b"/>
            <a:pathLst>
              <a:path w="37910" h="1104900">
                <a:moveTo>
                  <a:pt x="37910" y="0"/>
                </a:moveTo>
                <a:lnTo>
                  <a:pt x="37910" y="0"/>
                </a:lnTo>
                <a:lnTo>
                  <a:pt x="37910" y="1104900"/>
                </a:lnTo>
                <a:lnTo>
                  <a:pt x="37910" y="1104900"/>
                </a:lnTo>
                <a:cubicBezTo>
                  <a:pt x="16973" y="1104900"/>
                  <a:pt x="0" y="1087927"/>
                  <a:pt x="0" y="1066990"/>
                </a:cubicBezTo>
                <a:lnTo>
                  <a:pt x="0" y="37910"/>
                </a:lnTo>
                <a:cubicBezTo>
                  <a:pt x="0" y="16987"/>
                  <a:pt x="16987" y="0"/>
                  <a:pt x="37910" y="0"/>
                </a:cubicBezTo>
                <a:close/>
              </a:path>
            </a:pathLst>
          </a:custGeom>
          <a:solidFill>
            <a:srgbClr val="8B0000"/>
          </a:solidFill>
        </p:spPr>
      </p:sp>
      <p:sp>
        <p:nvSpPr>
          <p:cNvPr id="5" name="Text 3"/>
          <p:cNvSpPr/>
          <p:nvPr/>
        </p:nvSpPr>
        <p:spPr>
          <a:xfrm>
            <a:off x="647439" y="1400776"/>
            <a:ext cx="51816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00000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Utilization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7439" y="1781656"/>
            <a:ext cx="51625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36415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Actual usage level of hardware resources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80956" y="2417580"/>
            <a:ext cx="56769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00000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Formula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80956" y="2874654"/>
            <a:ext cx="5562600" cy="1352550"/>
          </a:xfrm>
          <a:custGeom>
            <a:avLst/>
            <a:gdLst/>
            <a:ahLst/>
            <a:cxnLst/>
            <a:rect l="l" t="t" r="r" b="b"/>
            <a:pathLst>
              <a:path w="5562600" h="1352550">
                <a:moveTo>
                  <a:pt x="114304" y="0"/>
                </a:moveTo>
                <a:lnTo>
                  <a:pt x="5448296" y="0"/>
                </a:lnTo>
                <a:cubicBezTo>
                  <a:pt x="5511424" y="0"/>
                  <a:pt x="5562600" y="51176"/>
                  <a:pt x="5562600" y="114304"/>
                </a:cubicBezTo>
                <a:lnTo>
                  <a:pt x="5562600" y="1238246"/>
                </a:lnTo>
                <a:cubicBezTo>
                  <a:pt x="5562600" y="1301374"/>
                  <a:pt x="5511424" y="1352550"/>
                  <a:pt x="5448296" y="1352550"/>
                </a:cubicBezTo>
                <a:lnTo>
                  <a:pt x="114304" y="1352550"/>
                </a:lnTo>
                <a:cubicBezTo>
                  <a:pt x="51176" y="1352550"/>
                  <a:pt x="0" y="1301374"/>
                  <a:pt x="0" y="1238246"/>
                </a:cubicBezTo>
                <a:lnTo>
                  <a:pt x="0" y="114304"/>
                </a:lnTo>
                <a:cubicBezTo>
                  <a:pt x="0" y="51176"/>
                  <a:pt x="51176" y="0"/>
                  <a:pt x="114304" y="0"/>
                </a:cubicBezTo>
                <a:close/>
              </a:path>
            </a:pathLst>
          </a:custGeom>
          <a:solidFill>
            <a:srgbClr val="F9FAFB"/>
          </a:solidFill>
        </p:spPr>
      </p:sp>
      <p:sp>
        <p:nvSpPr>
          <p:cNvPr id="9" name="Text 7"/>
          <p:cNvSpPr/>
          <p:nvPr/>
        </p:nvSpPr>
        <p:spPr>
          <a:xfrm>
            <a:off x="456943" y="3107507"/>
            <a:ext cx="5543541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dirty="0">
                <a:solidFill>
                  <a:srgbClr val="00000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Utilization = Actual Performance / Theoretical Peak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09529" y="3569774"/>
            <a:ext cx="5105400" cy="18955"/>
          </a:xfrm>
          <a:custGeom>
            <a:avLst/>
            <a:gdLst/>
            <a:ahLst/>
            <a:cxnLst/>
            <a:rect l="l" t="t" r="r" b="b"/>
            <a:pathLst>
              <a:path w="5105400" h="18955">
                <a:moveTo>
                  <a:pt x="0" y="0"/>
                </a:moveTo>
                <a:lnTo>
                  <a:pt x="5105400" y="0"/>
                </a:lnTo>
                <a:lnTo>
                  <a:pt x="5105400" y="18955"/>
                </a:lnTo>
                <a:lnTo>
                  <a:pt x="0" y="18955"/>
                </a:lnTo>
                <a:lnTo>
                  <a:pt x="0" y="0"/>
                </a:lnTo>
                <a:close/>
              </a:path>
            </a:pathLst>
          </a:custGeom>
          <a:solidFill>
            <a:srgbClr val="D1D5DC"/>
          </a:solidFill>
        </p:spPr>
      </p:sp>
      <p:sp>
        <p:nvSpPr>
          <p:cNvPr id="11" name="Text 9"/>
          <p:cNvSpPr/>
          <p:nvPr/>
        </p:nvSpPr>
        <p:spPr>
          <a:xfrm>
            <a:off x="566666" y="3731635"/>
            <a:ext cx="51911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dirty="0">
                <a:solidFill>
                  <a:srgbClr val="4A5565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Typically expressed as a percentage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80956" y="4361701"/>
            <a:ext cx="56769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00000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Calculation Example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80956" y="4818771"/>
            <a:ext cx="5562600" cy="571500"/>
          </a:xfrm>
          <a:custGeom>
            <a:avLst/>
            <a:gdLst/>
            <a:ahLst/>
            <a:cxnLst/>
            <a:rect l="l" t="t" r="r" b="b"/>
            <a:pathLst>
              <a:path w="5562600" h="571500">
                <a:moveTo>
                  <a:pt x="76198" y="0"/>
                </a:moveTo>
                <a:lnTo>
                  <a:pt x="5486402" y="0"/>
                </a:lnTo>
                <a:cubicBezTo>
                  <a:pt x="5528485" y="0"/>
                  <a:pt x="5562600" y="34115"/>
                  <a:pt x="5562600" y="76198"/>
                </a:cubicBezTo>
                <a:lnTo>
                  <a:pt x="5562600" y="495302"/>
                </a:lnTo>
                <a:cubicBezTo>
                  <a:pt x="5562600" y="537385"/>
                  <a:pt x="5528485" y="571500"/>
                  <a:pt x="5486402" y="571500"/>
                </a:cubicBezTo>
                <a:lnTo>
                  <a:pt x="76198" y="571500"/>
                </a:lnTo>
                <a:cubicBezTo>
                  <a:pt x="34115" y="571500"/>
                  <a:pt x="0" y="537385"/>
                  <a:pt x="0" y="495302"/>
                </a:cubicBezTo>
                <a:lnTo>
                  <a:pt x="0" y="76198"/>
                </a:lnTo>
                <a:cubicBezTo>
                  <a:pt x="0" y="34115"/>
                  <a:pt x="34115" y="0"/>
                  <a:pt x="76198" y="0"/>
                </a:cubicBezTo>
                <a:close/>
              </a:path>
            </a:pathLst>
          </a:custGeom>
          <a:solidFill>
            <a:srgbClr val="F9FAFB"/>
          </a:solidFill>
        </p:spPr>
      </p:sp>
      <p:sp>
        <p:nvSpPr>
          <p:cNvPr id="14" name="Text 12"/>
          <p:cNvSpPr/>
          <p:nvPr/>
        </p:nvSpPr>
        <p:spPr>
          <a:xfrm>
            <a:off x="533338" y="4971152"/>
            <a:ext cx="3464231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00000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GPU Theoretical Performance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774125" y="4971152"/>
            <a:ext cx="11144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8B000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10 TFLOPS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80956" y="5504497"/>
            <a:ext cx="5562600" cy="571500"/>
          </a:xfrm>
          <a:custGeom>
            <a:avLst/>
            <a:gdLst/>
            <a:ahLst/>
            <a:cxnLst/>
            <a:rect l="l" t="t" r="r" b="b"/>
            <a:pathLst>
              <a:path w="5562600" h="571500">
                <a:moveTo>
                  <a:pt x="76198" y="0"/>
                </a:moveTo>
                <a:lnTo>
                  <a:pt x="5486402" y="0"/>
                </a:lnTo>
                <a:cubicBezTo>
                  <a:pt x="5528485" y="0"/>
                  <a:pt x="5562600" y="34115"/>
                  <a:pt x="5562600" y="76198"/>
                </a:cubicBezTo>
                <a:lnTo>
                  <a:pt x="5562600" y="495302"/>
                </a:lnTo>
                <a:cubicBezTo>
                  <a:pt x="5562600" y="537385"/>
                  <a:pt x="5528485" y="571500"/>
                  <a:pt x="5486402" y="571500"/>
                </a:cubicBezTo>
                <a:lnTo>
                  <a:pt x="76198" y="571500"/>
                </a:lnTo>
                <a:cubicBezTo>
                  <a:pt x="34115" y="571500"/>
                  <a:pt x="0" y="537385"/>
                  <a:pt x="0" y="495302"/>
                </a:cubicBezTo>
                <a:lnTo>
                  <a:pt x="0" y="76198"/>
                </a:lnTo>
                <a:cubicBezTo>
                  <a:pt x="0" y="34115"/>
                  <a:pt x="34115" y="0"/>
                  <a:pt x="76198" y="0"/>
                </a:cubicBezTo>
                <a:close/>
              </a:path>
            </a:pathLst>
          </a:custGeom>
          <a:solidFill>
            <a:srgbClr val="F9FAFB"/>
          </a:solidFill>
        </p:spPr>
      </p:sp>
      <p:sp>
        <p:nvSpPr>
          <p:cNvPr id="17" name="Text 15"/>
          <p:cNvSpPr/>
          <p:nvPr/>
        </p:nvSpPr>
        <p:spPr>
          <a:xfrm>
            <a:off x="533338" y="5656878"/>
            <a:ext cx="3065647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00000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Actual Program Performance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891558" y="5656878"/>
            <a:ext cx="99060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8B000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5 TFLOPS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380956" y="6190213"/>
            <a:ext cx="5562600" cy="609600"/>
          </a:xfrm>
          <a:custGeom>
            <a:avLst/>
            <a:gdLst/>
            <a:ahLst/>
            <a:cxnLst/>
            <a:rect l="l" t="t" r="r" b="b"/>
            <a:pathLst>
              <a:path w="5562600" h="609600">
                <a:moveTo>
                  <a:pt x="76200" y="0"/>
                </a:moveTo>
                <a:lnTo>
                  <a:pt x="5486400" y="0"/>
                </a:lnTo>
                <a:cubicBezTo>
                  <a:pt x="5528456" y="0"/>
                  <a:pt x="5562600" y="34144"/>
                  <a:pt x="5562600" y="76200"/>
                </a:cubicBezTo>
                <a:lnTo>
                  <a:pt x="5562600" y="533400"/>
                </a:lnTo>
                <a:cubicBezTo>
                  <a:pt x="5562600" y="575456"/>
                  <a:pt x="5528456" y="609600"/>
                  <a:pt x="5486400" y="609600"/>
                </a:cubicBezTo>
                <a:lnTo>
                  <a:pt x="76200" y="609600"/>
                </a:lnTo>
                <a:cubicBezTo>
                  <a:pt x="34144" y="609600"/>
                  <a:pt x="0" y="575456"/>
                  <a:pt x="0" y="5334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8B0000"/>
          </a:solidFill>
        </p:spPr>
      </p:sp>
      <p:sp>
        <p:nvSpPr>
          <p:cNvPr id="20" name="Text 18"/>
          <p:cNvSpPr/>
          <p:nvPr/>
        </p:nvSpPr>
        <p:spPr>
          <a:xfrm>
            <a:off x="533338" y="6361551"/>
            <a:ext cx="91440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Utilization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296356" y="6342594"/>
            <a:ext cx="6096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50%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248338" y="990484"/>
            <a:ext cx="5562600" cy="4838700"/>
          </a:xfrm>
          <a:custGeom>
            <a:avLst/>
            <a:gdLst/>
            <a:ahLst/>
            <a:cxnLst/>
            <a:rect l="l" t="t" r="r" b="b"/>
            <a:pathLst>
              <a:path w="5562600" h="4838700">
                <a:moveTo>
                  <a:pt x="76210" y="0"/>
                </a:moveTo>
                <a:lnTo>
                  <a:pt x="5486390" y="0"/>
                </a:lnTo>
                <a:cubicBezTo>
                  <a:pt x="5528480" y="0"/>
                  <a:pt x="5562600" y="34120"/>
                  <a:pt x="5562600" y="76210"/>
                </a:cubicBezTo>
                <a:lnTo>
                  <a:pt x="5562600" y="4762490"/>
                </a:lnTo>
                <a:cubicBezTo>
                  <a:pt x="5562600" y="4804580"/>
                  <a:pt x="5528480" y="4838700"/>
                  <a:pt x="5486390" y="4838700"/>
                </a:cubicBezTo>
                <a:lnTo>
                  <a:pt x="76210" y="4838700"/>
                </a:lnTo>
                <a:cubicBezTo>
                  <a:pt x="34120" y="4838700"/>
                  <a:pt x="0" y="4804580"/>
                  <a:pt x="0" y="4762490"/>
                </a:cubicBezTo>
                <a:lnTo>
                  <a:pt x="0" y="76210"/>
                </a:lnTo>
                <a:cubicBezTo>
                  <a:pt x="0" y="34148"/>
                  <a:pt x="34148" y="0"/>
                  <a:pt x="76210" y="0"/>
                </a:cubicBezTo>
                <a:close/>
              </a:path>
            </a:pathLst>
          </a:custGeom>
          <a:solidFill>
            <a:srgbClr val="F9FAFB"/>
          </a:solidFill>
        </p:spPr>
      </p:sp>
      <p:pic>
        <p:nvPicPr>
          <p:cNvPr id="23" name="Image 0" descr="https://kimi-web-img.moonshot.cn/img/raw.githubusercontent.com/78e5f097bb67726e75ca4e8319a5621e0f749770.png"/>
          <p:cNvPicPr>
            <a:picLocks noChangeAspect="1"/>
          </p:cNvPicPr>
          <p:nvPr/>
        </p:nvPicPr>
        <p:blipFill>
          <a:blip r:embed="rId4"/>
          <a:srcRect l="85" r="85"/>
          <a:stretch>
            <a:fillRect/>
          </a:stretch>
        </p:blipFill>
        <p:spPr>
          <a:xfrm>
            <a:off x="6400720" y="2045238"/>
            <a:ext cx="5257800" cy="2733675"/>
          </a:xfrm>
          <a:prstGeom prst="roundRect">
            <a:avLst>
              <a:gd name="adj" fmla="val 0"/>
            </a:avLst>
          </a:prstGeom>
        </p:spPr>
      </p:pic>
      <p:sp>
        <p:nvSpPr>
          <p:cNvPr id="24" name="Text 21"/>
          <p:cNvSpPr/>
          <p:nvPr/>
        </p:nvSpPr>
        <p:spPr>
          <a:xfrm>
            <a:off x="6210238" y="5905365"/>
            <a:ext cx="5638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6A7282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Image source: Grafana - GPU Metrics Dashboard</a:t>
            </a:r>
            <a:endParaRPr lang="en-US" sz="1600" dirty="0"/>
          </a:p>
        </p:txBody>
      </p:sp>
      <p:sp>
        <p:nvSpPr>
          <p:cNvPr id="25" name="灯片编号占位符 24"/>
          <p:cNvSpPr>
            <a:spLocks noGrp="1"/>
          </p:cNvSpPr>
          <p:nvPr>
            <p:ph type="sldNum" sz="quarter" idx="4294967295"/>
          </p:nvPr>
        </p:nvSpPr>
        <p:spPr>
          <a:xfrm>
            <a:off x="0" y="593725"/>
            <a:ext cx="419100" cy="365125"/>
          </a:xfrm>
        </p:spPr>
        <p:txBody>
          <a:bodyPr/>
          <a:lstStyle/>
          <a:p>
            <a:fld id="{B33F7469-D28B-482F-B1B6-3B8E7CF51519}" type="slidenum">
              <a:rPr lang="zh-CN" altLang="en-US" smtClean="0"/>
              <a:t>13</a:t>
            </a:fld>
            <a:endParaRPr lang="zh-CN" altLang="en-US" dirty="0"/>
          </a:p>
        </p:txBody>
      </p:sp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8558" y="571463"/>
            <a:ext cx="11601450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00000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Why Utilization Matters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399911" y="1178060"/>
            <a:ext cx="5543455" cy="1104900"/>
          </a:xfrm>
          <a:custGeom>
            <a:avLst/>
            <a:gdLst/>
            <a:ahLst/>
            <a:cxnLst/>
            <a:rect l="l" t="t" r="r" b="b"/>
            <a:pathLst>
              <a:path w="5543455" h="1104900">
                <a:moveTo>
                  <a:pt x="37910" y="0"/>
                </a:moveTo>
                <a:lnTo>
                  <a:pt x="5429153" y="0"/>
                </a:lnTo>
                <a:cubicBezTo>
                  <a:pt x="5492281" y="0"/>
                  <a:pt x="5543455" y="51175"/>
                  <a:pt x="5543455" y="114302"/>
                </a:cubicBezTo>
                <a:lnTo>
                  <a:pt x="5543455" y="990598"/>
                </a:lnTo>
                <a:cubicBezTo>
                  <a:pt x="5543455" y="1053725"/>
                  <a:pt x="5492281" y="1104900"/>
                  <a:pt x="5429153" y="1104900"/>
                </a:cubicBezTo>
                <a:lnTo>
                  <a:pt x="37910" y="1104900"/>
                </a:lnTo>
                <a:cubicBezTo>
                  <a:pt x="16973" y="1104900"/>
                  <a:pt x="0" y="1087927"/>
                  <a:pt x="0" y="1066990"/>
                </a:cubicBezTo>
                <a:lnTo>
                  <a:pt x="0" y="37910"/>
                </a:lnTo>
                <a:cubicBezTo>
                  <a:pt x="0" y="16987"/>
                  <a:pt x="16987" y="0"/>
                  <a:pt x="37910" y="0"/>
                </a:cubicBezTo>
                <a:close/>
              </a:path>
            </a:pathLst>
          </a:custGeom>
          <a:solidFill>
            <a:srgbClr val="8B0000">
              <a:alpha val="10196"/>
            </a:srgbClr>
          </a:solidFill>
        </p:spPr>
      </p:sp>
      <p:sp>
        <p:nvSpPr>
          <p:cNvPr id="4" name="Shape 2"/>
          <p:cNvSpPr/>
          <p:nvPr/>
        </p:nvSpPr>
        <p:spPr>
          <a:xfrm>
            <a:off x="399911" y="1178060"/>
            <a:ext cx="37910" cy="1104900"/>
          </a:xfrm>
          <a:custGeom>
            <a:avLst/>
            <a:gdLst/>
            <a:ahLst/>
            <a:cxnLst/>
            <a:rect l="l" t="t" r="r" b="b"/>
            <a:pathLst>
              <a:path w="37910" h="1104900">
                <a:moveTo>
                  <a:pt x="37910" y="0"/>
                </a:moveTo>
                <a:lnTo>
                  <a:pt x="37910" y="0"/>
                </a:lnTo>
                <a:lnTo>
                  <a:pt x="37910" y="1104900"/>
                </a:lnTo>
                <a:lnTo>
                  <a:pt x="37910" y="1104900"/>
                </a:lnTo>
                <a:cubicBezTo>
                  <a:pt x="16973" y="1104900"/>
                  <a:pt x="0" y="1087927"/>
                  <a:pt x="0" y="1066990"/>
                </a:cubicBezTo>
                <a:lnTo>
                  <a:pt x="0" y="37910"/>
                </a:lnTo>
                <a:cubicBezTo>
                  <a:pt x="0" y="16987"/>
                  <a:pt x="16987" y="0"/>
                  <a:pt x="37910" y="0"/>
                </a:cubicBezTo>
                <a:close/>
              </a:path>
            </a:pathLst>
          </a:custGeom>
          <a:solidFill>
            <a:srgbClr val="8B0000"/>
          </a:solidFill>
        </p:spPr>
      </p:sp>
      <p:sp>
        <p:nvSpPr>
          <p:cNvPr id="5" name="Text 3"/>
          <p:cNvSpPr/>
          <p:nvPr/>
        </p:nvSpPr>
        <p:spPr>
          <a:xfrm>
            <a:off x="647439" y="1406632"/>
            <a:ext cx="51816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00000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Even with powerful hardware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7439" y="1787512"/>
            <a:ext cx="51625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36415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if utilization is low → </a:t>
            </a:r>
            <a:r>
              <a:rPr lang="en-US" sz="1500" b="1" dirty="0">
                <a:solidFill>
                  <a:srgbClr val="8B000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performance will still be poor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80956" y="2323793"/>
            <a:ext cx="56769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00000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Common Causes of Low Utilization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80956" y="2780872"/>
            <a:ext cx="5562600" cy="800100"/>
          </a:xfrm>
          <a:custGeom>
            <a:avLst/>
            <a:gdLst/>
            <a:ahLst/>
            <a:cxnLst/>
            <a:rect l="l" t="t" r="r" b="b"/>
            <a:pathLst>
              <a:path w="5562600" h="800100">
                <a:moveTo>
                  <a:pt x="76202" y="0"/>
                </a:moveTo>
                <a:lnTo>
                  <a:pt x="5486398" y="0"/>
                </a:lnTo>
                <a:cubicBezTo>
                  <a:pt x="5528483" y="0"/>
                  <a:pt x="5562600" y="34117"/>
                  <a:pt x="5562600" y="76202"/>
                </a:cubicBezTo>
                <a:lnTo>
                  <a:pt x="5562600" y="723898"/>
                </a:lnTo>
                <a:cubicBezTo>
                  <a:pt x="5562600" y="765983"/>
                  <a:pt x="5528483" y="800100"/>
                  <a:pt x="5486398" y="800100"/>
                </a:cubicBezTo>
                <a:lnTo>
                  <a:pt x="76202" y="800100"/>
                </a:lnTo>
                <a:cubicBezTo>
                  <a:pt x="34117" y="800100"/>
                  <a:pt x="0" y="765983"/>
                  <a:pt x="0" y="7238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F9FAFB"/>
          </a:solidFill>
        </p:spPr>
      </p:sp>
      <p:sp>
        <p:nvSpPr>
          <p:cNvPr id="9" name="Shape 7"/>
          <p:cNvSpPr/>
          <p:nvPr/>
        </p:nvSpPr>
        <p:spPr>
          <a:xfrm>
            <a:off x="533338" y="2990413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8B0000"/>
          </a:solidFill>
        </p:spPr>
      </p:sp>
      <p:sp>
        <p:nvSpPr>
          <p:cNvPr id="10" name="Shape 8"/>
          <p:cNvSpPr/>
          <p:nvPr/>
        </p:nvSpPr>
        <p:spPr>
          <a:xfrm>
            <a:off x="647608" y="3104666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9050" y="19050"/>
                </a:moveTo>
                <a:cubicBezTo>
                  <a:pt x="8543" y="19050"/>
                  <a:pt x="0" y="27593"/>
                  <a:pt x="0" y="38100"/>
                </a:cubicBezTo>
                <a:lnTo>
                  <a:pt x="0" y="40303"/>
                </a:lnTo>
                <a:cubicBezTo>
                  <a:pt x="0" y="42327"/>
                  <a:pt x="1310" y="44053"/>
                  <a:pt x="3006" y="45154"/>
                </a:cubicBezTo>
                <a:cubicBezTo>
                  <a:pt x="6935" y="47714"/>
                  <a:pt x="9525" y="52120"/>
                  <a:pt x="9525" y="57150"/>
                </a:cubicBezTo>
                <a:cubicBezTo>
                  <a:pt x="9525" y="62180"/>
                  <a:pt x="6935" y="66586"/>
                  <a:pt x="3006" y="69146"/>
                </a:cubicBezTo>
                <a:cubicBezTo>
                  <a:pt x="1310" y="70247"/>
                  <a:pt x="0" y="71973"/>
                  <a:pt x="0" y="73997"/>
                </a:cubicBezTo>
                <a:lnTo>
                  <a:pt x="0" y="90488"/>
                </a:lnTo>
                <a:lnTo>
                  <a:pt x="152400" y="90488"/>
                </a:lnTo>
                <a:lnTo>
                  <a:pt x="152400" y="73997"/>
                </a:lnTo>
                <a:cubicBezTo>
                  <a:pt x="152400" y="71973"/>
                  <a:pt x="151090" y="70247"/>
                  <a:pt x="149394" y="69146"/>
                </a:cubicBezTo>
                <a:cubicBezTo>
                  <a:pt x="145465" y="66586"/>
                  <a:pt x="142875" y="62180"/>
                  <a:pt x="142875" y="57150"/>
                </a:cubicBezTo>
                <a:cubicBezTo>
                  <a:pt x="142875" y="52120"/>
                  <a:pt x="145465" y="47714"/>
                  <a:pt x="149394" y="45154"/>
                </a:cubicBezTo>
                <a:cubicBezTo>
                  <a:pt x="151090" y="44053"/>
                  <a:pt x="152400" y="42327"/>
                  <a:pt x="152400" y="40303"/>
                </a:cubicBezTo>
                <a:lnTo>
                  <a:pt x="152400" y="38100"/>
                </a:lnTo>
                <a:cubicBezTo>
                  <a:pt x="152400" y="27593"/>
                  <a:pt x="143857" y="19050"/>
                  <a:pt x="133350" y="19050"/>
                </a:cubicBezTo>
                <a:lnTo>
                  <a:pt x="19050" y="19050"/>
                </a:lnTo>
                <a:close/>
                <a:moveTo>
                  <a:pt x="152400" y="123825"/>
                </a:moveTo>
                <a:lnTo>
                  <a:pt x="152400" y="104775"/>
                </a:lnTo>
                <a:lnTo>
                  <a:pt x="0" y="104775"/>
                </a:lnTo>
                <a:lnTo>
                  <a:pt x="0" y="123825"/>
                </a:lnTo>
                <a:cubicBezTo>
                  <a:pt x="0" y="129094"/>
                  <a:pt x="4256" y="133350"/>
                  <a:pt x="9525" y="133350"/>
                </a:cubicBezTo>
                <a:lnTo>
                  <a:pt x="28575" y="133350"/>
                </a:lnTo>
                <a:lnTo>
                  <a:pt x="28575" y="126206"/>
                </a:lnTo>
                <a:cubicBezTo>
                  <a:pt x="28575" y="122247"/>
                  <a:pt x="31760" y="119062"/>
                  <a:pt x="35719" y="119062"/>
                </a:cubicBezTo>
                <a:cubicBezTo>
                  <a:pt x="39678" y="119062"/>
                  <a:pt x="42863" y="122247"/>
                  <a:pt x="42863" y="126206"/>
                </a:cubicBezTo>
                <a:lnTo>
                  <a:pt x="42863" y="133350"/>
                </a:lnTo>
                <a:lnTo>
                  <a:pt x="69056" y="133350"/>
                </a:lnTo>
                <a:lnTo>
                  <a:pt x="69056" y="126206"/>
                </a:lnTo>
                <a:cubicBezTo>
                  <a:pt x="69056" y="122247"/>
                  <a:pt x="72241" y="119062"/>
                  <a:pt x="76200" y="119062"/>
                </a:cubicBezTo>
                <a:cubicBezTo>
                  <a:pt x="80159" y="119062"/>
                  <a:pt x="83344" y="122247"/>
                  <a:pt x="83344" y="126206"/>
                </a:cubicBezTo>
                <a:lnTo>
                  <a:pt x="83344" y="133350"/>
                </a:lnTo>
                <a:lnTo>
                  <a:pt x="109537" y="133350"/>
                </a:lnTo>
                <a:lnTo>
                  <a:pt x="109537" y="126206"/>
                </a:lnTo>
                <a:cubicBezTo>
                  <a:pt x="109537" y="122247"/>
                  <a:pt x="112722" y="119062"/>
                  <a:pt x="116681" y="119062"/>
                </a:cubicBezTo>
                <a:cubicBezTo>
                  <a:pt x="120640" y="119062"/>
                  <a:pt x="123825" y="122247"/>
                  <a:pt x="123825" y="126206"/>
                </a:cubicBezTo>
                <a:lnTo>
                  <a:pt x="123825" y="133350"/>
                </a:lnTo>
                <a:lnTo>
                  <a:pt x="142875" y="133350"/>
                </a:lnTo>
                <a:cubicBezTo>
                  <a:pt x="148144" y="133350"/>
                  <a:pt x="152400" y="129094"/>
                  <a:pt x="152400" y="123825"/>
                </a:cubicBezTo>
                <a:close/>
                <a:moveTo>
                  <a:pt x="47625" y="47625"/>
                </a:moveTo>
                <a:lnTo>
                  <a:pt x="47625" y="66675"/>
                </a:lnTo>
                <a:cubicBezTo>
                  <a:pt x="47625" y="71944"/>
                  <a:pt x="43369" y="76200"/>
                  <a:pt x="38100" y="76200"/>
                </a:cubicBezTo>
                <a:cubicBezTo>
                  <a:pt x="32831" y="76200"/>
                  <a:pt x="28575" y="71944"/>
                  <a:pt x="28575" y="66675"/>
                </a:cubicBezTo>
                <a:lnTo>
                  <a:pt x="28575" y="47625"/>
                </a:lnTo>
                <a:cubicBezTo>
                  <a:pt x="28575" y="42356"/>
                  <a:pt x="32831" y="38100"/>
                  <a:pt x="38100" y="38100"/>
                </a:cubicBezTo>
                <a:cubicBezTo>
                  <a:pt x="43369" y="38100"/>
                  <a:pt x="47625" y="42356"/>
                  <a:pt x="47625" y="47625"/>
                </a:cubicBezTo>
                <a:close/>
                <a:moveTo>
                  <a:pt x="85725" y="47625"/>
                </a:moveTo>
                <a:lnTo>
                  <a:pt x="85725" y="66675"/>
                </a:lnTo>
                <a:cubicBezTo>
                  <a:pt x="85725" y="71944"/>
                  <a:pt x="81469" y="76200"/>
                  <a:pt x="76200" y="76200"/>
                </a:cubicBezTo>
                <a:cubicBezTo>
                  <a:pt x="70931" y="76200"/>
                  <a:pt x="66675" y="71944"/>
                  <a:pt x="66675" y="66675"/>
                </a:cubicBezTo>
                <a:lnTo>
                  <a:pt x="66675" y="47625"/>
                </a:lnTo>
                <a:cubicBezTo>
                  <a:pt x="66675" y="42356"/>
                  <a:pt x="70931" y="38100"/>
                  <a:pt x="76200" y="38100"/>
                </a:cubicBezTo>
                <a:cubicBezTo>
                  <a:pt x="81469" y="38100"/>
                  <a:pt x="85725" y="42356"/>
                  <a:pt x="85725" y="47625"/>
                </a:cubicBezTo>
                <a:close/>
                <a:moveTo>
                  <a:pt x="123825" y="47625"/>
                </a:moveTo>
                <a:lnTo>
                  <a:pt x="123825" y="66675"/>
                </a:lnTo>
                <a:cubicBezTo>
                  <a:pt x="123825" y="71944"/>
                  <a:pt x="119569" y="76200"/>
                  <a:pt x="114300" y="76200"/>
                </a:cubicBezTo>
                <a:cubicBezTo>
                  <a:pt x="109031" y="76200"/>
                  <a:pt x="104775" y="71944"/>
                  <a:pt x="104775" y="66675"/>
                </a:cubicBezTo>
                <a:lnTo>
                  <a:pt x="104775" y="47625"/>
                </a:lnTo>
                <a:cubicBezTo>
                  <a:pt x="104775" y="42356"/>
                  <a:pt x="109031" y="38100"/>
                  <a:pt x="114300" y="38100"/>
                </a:cubicBezTo>
                <a:cubicBezTo>
                  <a:pt x="119569" y="38100"/>
                  <a:pt x="123825" y="42356"/>
                  <a:pt x="123825" y="47625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11" name="Text 9"/>
          <p:cNvSpPr/>
          <p:nvPr/>
        </p:nvSpPr>
        <p:spPr>
          <a:xfrm>
            <a:off x="1066676" y="2933254"/>
            <a:ext cx="17621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00000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Memory Bottleneck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66676" y="3199953"/>
            <a:ext cx="4161816" cy="26656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4A5565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Data supply cannot keep up with computation speed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80956" y="3695160"/>
            <a:ext cx="5562600" cy="800100"/>
          </a:xfrm>
          <a:custGeom>
            <a:avLst/>
            <a:gdLst/>
            <a:ahLst/>
            <a:cxnLst/>
            <a:rect l="l" t="t" r="r" b="b"/>
            <a:pathLst>
              <a:path w="5562600" h="800100">
                <a:moveTo>
                  <a:pt x="76202" y="0"/>
                </a:moveTo>
                <a:lnTo>
                  <a:pt x="5486398" y="0"/>
                </a:lnTo>
                <a:cubicBezTo>
                  <a:pt x="5528483" y="0"/>
                  <a:pt x="5562600" y="34117"/>
                  <a:pt x="5562600" y="76202"/>
                </a:cubicBezTo>
                <a:lnTo>
                  <a:pt x="5562600" y="723898"/>
                </a:lnTo>
                <a:cubicBezTo>
                  <a:pt x="5562600" y="765983"/>
                  <a:pt x="5528483" y="800100"/>
                  <a:pt x="5486398" y="800100"/>
                </a:cubicBezTo>
                <a:lnTo>
                  <a:pt x="76202" y="800100"/>
                </a:lnTo>
                <a:cubicBezTo>
                  <a:pt x="34117" y="800100"/>
                  <a:pt x="0" y="765983"/>
                  <a:pt x="0" y="7238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F9FAFB"/>
          </a:solidFill>
        </p:spPr>
      </p:sp>
      <p:sp>
        <p:nvSpPr>
          <p:cNvPr id="14" name="Shape 12"/>
          <p:cNvSpPr/>
          <p:nvPr/>
        </p:nvSpPr>
        <p:spPr>
          <a:xfrm>
            <a:off x="533338" y="390471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8B0000"/>
          </a:solidFill>
        </p:spPr>
      </p:sp>
      <p:sp>
        <p:nvSpPr>
          <p:cNvPr id="15" name="Shape 13"/>
          <p:cNvSpPr/>
          <p:nvPr/>
        </p:nvSpPr>
        <p:spPr>
          <a:xfrm>
            <a:off x="647608" y="401895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66675" y="57150"/>
                </a:moveTo>
                <a:lnTo>
                  <a:pt x="66675" y="95250"/>
                </a:lnTo>
                <a:cubicBezTo>
                  <a:pt x="66675" y="100519"/>
                  <a:pt x="62419" y="104775"/>
                  <a:pt x="57150" y="104775"/>
                </a:cubicBezTo>
                <a:cubicBezTo>
                  <a:pt x="51881" y="104775"/>
                  <a:pt x="47625" y="100519"/>
                  <a:pt x="47625" y="95250"/>
                </a:cubicBezTo>
                <a:lnTo>
                  <a:pt x="47625" y="57150"/>
                </a:lnTo>
                <a:cubicBezTo>
                  <a:pt x="47625" y="51881"/>
                  <a:pt x="51881" y="47625"/>
                  <a:pt x="57150" y="47625"/>
                </a:cubicBezTo>
                <a:cubicBezTo>
                  <a:pt x="62419" y="47625"/>
                  <a:pt x="66675" y="51881"/>
                  <a:pt x="66675" y="57150"/>
                </a:cubicBezTo>
                <a:close/>
                <a:moveTo>
                  <a:pt x="104775" y="57150"/>
                </a:moveTo>
                <a:lnTo>
                  <a:pt x="104775" y="95250"/>
                </a:lnTo>
                <a:cubicBezTo>
                  <a:pt x="104775" y="100519"/>
                  <a:pt x="100519" y="104775"/>
                  <a:pt x="95250" y="104775"/>
                </a:cubicBezTo>
                <a:cubicBezTo>
                  <a:pt x="89981" y="104775"/>
                  <a:pt x="85725" y="100519"/>
                  <a:pt x="85725" y="95250"/>
                </a:cubicBezTo>
                <a:lnTo>
                  <a:pt x="85725" y="57150"/>
                </a:lnTo>
                <a:cubicBezTo>
                  <a:pt x="85725" y="51881"/>
                  <a:pt x="89981" y="47625"/>
                  <a:pt x="95250" y="47625"/>
                </a:cubicBezTo>
                <a:cubicBezTo>
                  <a:pt x="100519" y="47625"/>
                  <a:pt x="104775" y="51881"/>
                  <a:pt x="104775" y="57150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16" name="Text 14"/>
          <p:cNvSpPr/>
          <p:nvPr/>
        </p:nvSpPr>
        <p:spPr>
          <a:xfrm>
            <a:off x="1066676" y="3847541"/>
            <a:ext cx="2262678" cy="26670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00000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Synchronization Wait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66676" y="4114251"/>
            <a:ext cx="3739786" cy="26657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4A5565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Threads/processes waiting for synchronization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380956" y="4609458"/>
            <a:ext cx="5562600" cy="800100"/>
          </a:xfrm>
          <a:custGeom>
            <a:avLst/>
            <a:gdLst/>
            <a:ahLst/>
            <a:cxnLst/>
            <a:rect l="l" t="t" r="r" b="b"/>
            <a:pathLst>
              <a:path w="5562600" h="800100">
                <a:moveTo>
                  <a:pt x="76202" y="0"/>
                </a:moveTo>
                <a:lnTo>
                  <a:pt x="5486398" y="0"/>
                </a:lnTo>
                <a:cubicBezTo>
                  <a:pt x="5528483" y="0"/>
                  <a:pt x="5562600" y="34117"/>
                  <a:pt x="5562600" y="76202"/>
                </a:cubicBezTo>
                <a:lnTo>
                  <a:pt x="5562600" y="723898"/>
                </a:lnTo>
                <a:cubicBezTo>
                  <a:pt x="5562600" y="765983"/>
                  <a:pt x="5528483" y="800100"/>
                  <a:pt x="5486398" y="800100"/>
                </a:cubicBezTo>
                <a:lnTo>
                  <a:pt x="76202" y="800100"/>
                </a:lnTo>
                <a:cubicBezTo>
                  <a:pt x="34117" y="800100"/>
                  <a:pt x="0" y="765983"/>
                  <a:pt x="0" y="7238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F9FAFB"/>
          </a:solidFill>
        </p:spPr>
      </p:sp>
      <p:sp>
        <p:nvSpPr>
          <p:cNvPr id="19" name="Shape 17"/>
          <p:cNvSpPr/>
          <p:nvPr/>
        </p:nvSpPr>
        <p:spPr>
          <a:xfrm>
            <a:off x="533338" y="4818999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8B0000"/>
          </a:solidFill>
        </p:spPr>
      </p:sp>
      <p:sp>
        <p:nvSpPr>
          <p:cNvPr id="20" name="Shape 18"/>
          <p:cNvSpPr/>
          <p:nvPr/>
        </p:nvSpPr>
        <p:spPr>
          <a:xfrm>
            <a:off x="628558" y="4933252"/>
            <a:ext cx="190500" cy="152400"/>
          </a:xfrm>
          <a:custGeom>
            <a:avLst/>
            <a:gdLst/>
            <a:ahLst/>
            <a:cxnLst/>
            <a:rect l="l" t="t" r="r" b="b"/>
            <a:pathLst>
              <a:path w="190500" h="152400">
                <a:moveTo>
                  <a:pt x="114300" y="9525"/>
                </a:moveTo>
                <a:lnTo>
                  <a:pt x="152400" y="9525"/>
                </a:lnTo>
                <a:cubicBezTo>
                  <a:pt x="157669" y="9525"/>
                  <a:pt x="161925" y="13781"/>
                  <a:pt x="161925" y="19050"/>
                </a:cubicBezTo>
                <a:cubicBezTo>
                  <a:pt x="161925" y="24319"/>
                  <a:pt x="157669" y="28575"/>
                  <a:pt x="152400" y="28575"/>
                </a:cubicBezTo>
                <a:lnTo>
                  <a:pt x="118586" y="28575"/>
                </a:lnTo>
                <a:cubicBezTo>
                  <a:pt x="117038" y="36255"/>
                  <a:pt x="111770" y="42595"/>
                  <a:pt x="104775" y="45631"/>
                </a:cubicBezTo>
                <a:lnTo>
                  <a:pt x="104775" y="133350"/>
                </a:lnTo>
                <a:lnTo>
                  <a:pt x="152400" y="133350"/>
                </a:lnTo>
                <a:cubicBezTo>
                  <a:pt x="157669" y="133350"/>
                  <a:pt x="161925" y="137606"/>
                  <a:pt x="161925" y="142875"/>
                </a:cubicBezTo>
                <a:cubicBezTo>
                  <a:pt x="161925" y="148144"/>
                  <a:pt x="157669" y="152400"/>
                  <a:pt x="152400" y="152400"/>
                </a:cubicBezTo>
                <a:lnTo>
                  <a:pt x="38100" y="152400"/>
                </a:lnTo>
                <a:cubicBezTo>
                  <a:pt x="32831" y="152400"/>
                  <a:pt x="28575" y="148144"/>
                  <a:pt x="28575" y="142875"/>
                </a:cubicBezTo>
                <a:cubicBezTo>
                  <a:pt x="28575" y="137606"/>
                  <a:pt x="32831" y="133350"/>
                  <a:pt x="38100" y="133350"/>
                </a:cubicBezTo>
                <a:lnTo>
                  <a:pt x="85725" y="133350"/>
                </a:lnTo>
                <a:lnTo>
                  <a:pt x="85725" y="45631"/>
                </a:lnTo>
                <a:cubicBezTo>
                  <a:pt x="78730" y="42565"/>
                  <a:pt x="73462" y="36225"/>
                  <a:pt x="71914" y="28575"/>
                </a:cubicBezTo>
                <a:lnTo>
                  <a:pt x="38100" y="28575"/>
                </a:lnTo>
                <a:cubicBezTo>
                  <a:pt x="32831" y="28575"/>
                  <a:pt x="28575" y="24319"/>
                  <a:pt x="28575" y="19050"/>
                </a:cubicBezTo>
                <a:cubicBezTo>
                  <a:pt x="28575" y="13781"/>
                  <a:pt x="32831" y="9525"/>
                  <a:pt x="38100" y="9525"/>
                </a:cubicBezTo>
                <a:lnTo>
                  <a:pt x="76200" y="9525"/>
                </a:lnTo>
                <a:cubicBezTo>
                  <a:pt x="80546" y="3750"/>
                  <a:pt x="87451" y="0"/>
                  <a:pt x="95250" y="0"/>
                </a:cubicBezTo>
                <a:cubicBezTo>
                  <a:pt x="103049" y="0"/>
                  <a:pt x="109954" y="3750"/>
                  <a:pt x="114300" y="9525"/>
                </a:cubicBezTo>
                <a:close/>
                <a:moveTo>
                  <a:pt x="130850" y="95250"/>
                </a:moveTo>
                <a:lnTo>
                  <a:pt x="173950" y="95250"/>
                </a:lnTo>
                <a:lnTo>
                  <a:pt x="152400" y="58281"/>
                </a:lnTo>
                <a:lnTo>
                  <a:pt x="130850" y="95250"/>
                </a:lnTo>
                <a:close/>
                <a:moveTo>
                  <a:pt x="152400" y="123825"/>
                </a:moveTo>
                <a:cubicBezTo>
                  <a:pt x="133677" y="123825"/>
                  <a:pt x="118110" y="113705"/>
                  <a:pt x="114895" y="100340"/>
                </a:cubicBezTo>
                <a:cubicBezTo>
                  <a:pt x="114121" y="97066"/>
                  <a:pt x="115193" y="93702"/>
                  <a:pt x="116890" y="90785"/>
                </a:cubicBezTo>
                <a:lnTo>
                  <a:pt x="145226" y="42208"/>
                </a:lnTo>
                <a:cubicBezTo>
                  <a:pt x="146715" y="39648"/>
                  <a:pt x="149453" y="38100"/>
                  <a:pt x="152400" y="38100"/>
                </a:cubicBezTo>
                <a:cubicBezTo>
                  <a:pt x="155347" y="38100"/>
                  <a:pt x="158085" y="39678"/>
                  <a:pt x="159574" y="42208"/>
                </a:cubicBezTo>
                <a:lnTo>
                  <a:pt x="187910" y="90785"/>
                </a:lnTo>
                <a:cubicBezTo>
                  <a:pt x="189607" y="93702"/>
                  <a:pt x="190679" y="97066"/>
                  <a:pt x="189905" y="100340"/>
                </a:cubicBezTo>
                <a:cubicBezTo>
                  <a:pt x="186690" y="113675"/>
                  <a:pt x="171123" y="123825"/>
                  <a:pt x="152400" y="123825"/>
                </a:cubicBezTo>
                <a:close/>
                <a:moveTo>
                  <a:pt x="37743" y="58281"/>
                </a:moveTo>
                <a:lnTo>
                  <a:pt x="16193" y="95250"/>
                </a:lnTo>
                <a:lnTo>
                  <a:pt x="59323" y="95250"/>
                </a:lnTo>
                <a:lnTo>
                  <a:pt x="37743" y="58281"/>
                </a:lnTo>
                <a:close/>
                <a:moveTo>
                  <a:pt x="268" y="100340"/>
                </a:moveTo>
                <a:cubicBezTo>
                  <a:pt x="-506" y="97066"/>
                  <a:pt x="566" y="93702"/>
                  <a:pt x="2262" y="90785"/>
                </a:cubicBezTo>
                <a:lnTo>
                  <a:pt x="30599" y="42208"/>
                </a:lnTo>
                <a:cubicBezTo>
                  <a:pt x="32087" y="39648"/>
                  <a:pt x="34826" y="38100"/>
                  <a:pt x="37773" y="38100"/>
                </a:cubicBezTo>
                <a:cubicBezTo>
                  <a:pt x="40719" y="38100"/>
                  <a:pt x="43458" y="39678"/>
                  <a:pt x="44946" y="42208"/>
                </a:cubicBezTo>
                <a:lnTo>
                  <a:pt x="73283" y="90785"/>
                </a:lnTo>
                <a:cubicBezTo>
                  <a:pt x="74980" y="93702"/>
                  <a:pt x="76051" y="97066"/>
                  <a:pt x="75277" y="100340"/>
                </a:cubicBezTo>
                <a:cubicBezTo>
                  <a:pt x="72063" y="113675"/>
                  <a:pt x="56495" y="123825"/>
                  <a:pt x="37773" y="123825"/>
                </a:cubicBezTo>
                <a:cubicBezTo>
                  <a:pt x="19050" y="123825"/>
                  <a:pt x="3483" y="113705"/>
                  <a:pt x="268" y="100340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21" name="Text 19"/>
          <p:cNvSpPr/>
          <p:nvPr/>
        </p:nvSpPr>
        <p:spPr>
          <a:xfrm>
            <a:off x="1066676" y="4761840"/>
            <a:ext cx="17621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00000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Load Imbalance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066676" y="5028540"/>
            <a:ext cx="3405678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4A5565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Some cores idle, others overloaded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380956" y="5523747"/>
            <a:ext cx="5562600" cy="800100"/>
          </a:xfrm>
          <a:custGeom>
            <a:avLst/>
            <a:gdLst/>
            <a:ahLst/>
            <a:cxnLst/>
            <a:rect l="l" t="t" r="r" b="b"/>
            <a:pathLst>
              <a:path w="5562600" h="800100">
                <a:moveTo>
                  <a:pt x="76202" y="0"/>
                </a:moveTo>
                <a:lnTo>
                  <a:pt x="5486398" y="0"/>
                </a:lnTo>
                <a:cubicBezTo>
                  <a:pt x="5528483" y="0"/>
                  <a:pt x="5562600" y="34117"/>
                  <a:pt x="5562600" y="76202"/>
                </a:cubicBezTo>
                <a:lnTo>
                  <a:pt x="5562600" y="723898"/>
                </a:lnTo>
                <a:cubicBezTo>
                  <a:pt x="5562600" y="765983"/>
                  <a:pt x="5528483" y="800100"/>
                  <a:pt x="5486398" y="800100"/>
                </a:cubicBezTo>
                <a:lnTo>
                  <a:pt x="76202" y="800100"/>
                </a:lnTo>
                <a:cubicBezTo>
                  <a:pt x="34117" y="800100"/>
                  <a:pt x="0" y="765983"/>
                  <a:pt x="0" y="7238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F9FAFB"/>
          </a:solidFill>
        </p:spPr>
      </p:sp>
      <p:sp>
        <p:nvSpPr>
          <p:cNvPr id="24" name="Shape 22"/>
          <p:cNvSpPr/>
          <p:nvPr/>
        </p:nvSpPr>
        <p:spPr>
          <a:xfrm>
            <a:off x="533338" y="5733297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8B0000"/>
          </a:solidFill>
        </p:spPr>
      </p:sp>
      <p:sp>
        <p:nvSpPr>
          <p:cNvPr id="25" name="Shape 23"/>
          <p:cNvSpPr/>
          <p:nvPr/>
        </p:nvSpPr>
        <p:spPr>
          <a:xfrm>
            <a:off x="657133" y="5847541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33350" y="61258"/>
                </a:moveTo>
                <a:cubicBezTo>
                  <a:pt x="128945" y="64175"/>
                  <a:pt x="123885" y="66526"/>
                  <a:pt x="118616" y="68401"/>
                </a:cubicBezTo>
                <a:cubicBezTo>
                  <a:pt x="104626" y="73402"/>
                  <a:pt x="86261" y="76200"/>
                  <a:pt x="66675" y="76200"/>
                </a:cubicBezTo>
                <a:cubicBezTo>
                  <a:pt x="47089" y="76200"/>
                  <a:pt x="28694" y="73372"/>
                  <a:pt x="14734" y="68401"/>
                </a:cubicBezTo>
                <a:cubicBezTo>
                  <a:pt x="9495" y="66526"/>
                  <a:pt x="4405" y="64175"/>
                  <a:pt x="0" y="61258"/>
                </a:cubicBezTo>
                <a:lnTo>
                  <a:pt x="0" y="85725"/>
                </a:lnTo>
                <a:cubicBezTo>
                  <a:pt x="0" y="98881"/>
                  <a:pt x="29855" y="109537"/>
                  <a:pt x="66675" y="109537"/>
                </a:cubicBezTo>
                <a:cubicBezTo>
                  <a:pt x="103495" y="109537"/>
                  <a:pt x="133350" y="98881"/>
                  <a:pt x="133350" y="85725"/>
                </a:cubicBezTo>
                <a:lnTo>
                  <a:pt x="133350" y="61258"/>
                </a:lnTo>
                <a:close/>
                <a:moveTo>
                  <a:pt x="133350" y="38100"/>
                </a:moveTo>
                <a:lnTo>
                  <a:pt x="133350" y="23813"/>
                </a:lnTo>
                <a:cubicBezTo>
                  <a:pt x="133350" y="10656"/>
                  <a:pt x="103495" y="0"/>
                  <a:pt x="66675" y="0"/>
                </a:cubicBezTo>
                <a:cubicBezTo>
                  <a:pt x="29855" y="0"/>
                  <a:pt x="0" y="10656"/>
                  <a:pt x="0" y="23813"/>
                </a:cubicBezTo>
                <a:lnTo>
                  <a:pt x="0" y="38100"/>
                </a:lnTo>
                <a:cubicBezTo>
                  <a:pt x="0" y="51256"/>
                  <a:pt x="29855" y="61912"/>
                  <a:pt x="66675" y="61912"/>
                </a:cubicBezTo>
                <a:cubicBezTo>
                  <a:pt x="103495" y="61912"/>
                  <a:pt x="133350" y="51256"/>
                  <a:pt x="133350" y="38100"/>
                </a:cubicBezTo>
                <a:close/>
                <a:moveTo>
                  <a:pt x="118616" y="116026"/>
                </a:moveTo>
                <a:cubicBezTo>
                  <a:pt x="104656" y="120997"/>
                  <a:pt x="86291" y="123825"/>
                  <a:pt x="66675" y="123825"/>
                </a:cubicBezTo>
                <a:cubicBezTo>
                  <a:pt x="47059" y="123825"/>
                  <a:pt x="28694" y="120997"/>
                  <a:pt x="14734" y="116026"/>
                </a:cubicBezTo>
                <a:cubicBezTo>
                  <a:pt x="9495" y="114151"/>
                  <a:pt x="4405" y="111800"/>
                  <a:pt x="0" y="108883"/>
                </a:cubicBezTo>
                <a:lnTo>
                  <a:pt x="0" y="128588"/>
                </a:lnTo>
                <a:cubicBezTo>
                  <a:pt x="0" y="141744"/>
                  <a:pt x="29855" y="152400"/>
                  <a:pt x="66675" y="152400"/>
                </a:cubicBezTo>
                <a:cubicBezTo>
                  <a:pt x="103495" y="152400"/>
                  <a:pt x="133350" y="141744"/>
                  <a:pt x="133350" y="128588"/>
                </a:cubicBezTo>
                <a:lnTo>
                  <a:pt x="133350" y="108883"/>
                </a:lnTo>
                <a:cubicBezTo>
                  <a:pt x="128945" y="111800"/>
                  <a:pt x="123885" y="114151"/>
                  <a:pt x="118616" y="116026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26" name="Text 24"/>
          <p:cNvSpPr/>
          <p:nvPr/>
        </p:nvSpPr>
        <p:spPr>
          <a:xfrm>
            <a:off x="1066676" y="5676128"/>
            <a:ext cx="162877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00000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I/O Wait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066676" y="5942837"/>
            <a:ext cx="4161816" cy="19113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4A5565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Waiting for disk or network I/O to complete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248338" y="990488"/>
            <a:ext cx="5562600" cy="4838700"/>
          </a:xfrm>
          <a:custGeom>
            <a:avLst/>
            <a:gdLst/>
            <a:ahLst/>
            <a:cxnLst/>
            <a:rect l="l" t="t" r="r" b="b"/>
            <a:pathLst>
              <a:path w="5562600" h="4838700">
                <a:moveTo>
                  <a:pt x="76210" y="0"/>
                </a:moveTo>
                <a:lnTo>
                  <a:pt x="5486390" y="0"/>
                </a:lnTo>
                <a:cubicBezTo>
                  <a:pt x="5528480" y="0"/>
                  <a:pt x="5562600" y="34120"/>
                  <a:pt x="5562600" y="76210"/>
                </a:cubicBezTo>
                <a:lnTo>
                  <a:pt x="5562600" y="4762490"/>
                </a:lnTo>
                <a:cubicBezTo>
                  <a:pt x="5562600" y="4804580"/>
                  <a:pt x="5528480" y="4838700"/>
                  <a:pt x="5486390" y="4838700"/>
                </a:cubicBezTo>
                <a:lnTo>
                  <a:pt x="76210" y="4838700"/>
                </a:lnTo>
                <a:cubicBezTo>
                  <a:pt x="34120" y="4838700"/>
                  <a:pt x="0" y="4804580"/>
                  <a:pt x="0" y="4762490"/>
                </a:cubicBezTo>
                <a:lnTo>
                  <a:pt x="0" y="76210"/>
                </a:lnTo>
                <a:cubicBezTo>
                  <a:pt x="0" y="34148"/>
                  <a:pt x="34148" y="0"/>
                  <a:pt x="76210" y="0"/>
                </a:cubicBezTo>
                <a:close/>
              </a:path>
            </a:pathLst>
          </a:custGeom>
          <a:solidFill>
            <a:srgbClr val="F9FAFB"/>
          </a:solidFill>
        </p:spPr>
      </p:sp>
      <p:pic>
        <p:nvPicPr>
          <p:cNvPr id="29" name="Image 0" descr="https://kimi-web-img.moonshot.cn/img/lambda.ai/60fab8d7fea072c09cfda0dbddc697bca9dec722.png"/>
          <p:cNvPicPr>
            <a:picLocks noChangeAspect="1"/>
          </p:cNvPicPr>
          <p:nvPr/>
        </p:nvPicPr>
        <p:blipFill>
          <a:blip r:embed="rId4"/>
          <a:srcRect t="46" b="46"/>
          <a:stretch>
            <a:fillRect/>
          </a:stretch>
        </p:blipFill>
        <p:spPr>
          <a:xfrm>
            <a:off x="6400720" y="1617418"/>
            <a:ext cx="5257800" cy="3581400"/>
          </a:xfrm>
          <a:prstGeom prst="roundRect">
            <a:avLst>
              <a:gd name="adj" fmla="val 0"/>
            </a:avLst>
          </a:prstGeom>
        </p:spPr>
      </p:pic>
      <p:sp>
        <p:nvSpPr>
          <p:cNvPr id="30" name="Text 27"/>
          <p:cNvSpPr/>
          <p:nvPr/>
        </p:nvSpPr>
        <p:spPr>
          <a:xfrm>
            <a:off x="6210238" y="5905370"/>
            <a:ext cx="5638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6A7282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Image source: Lambda Labs - GPU Monitoring Tools</a:t>
            </a:r>
            <a:endParaRPr lang="en-US" sz="1600" dirty="0"/>
          </a:p>
        </p:txBody>
      </p:sp>
      <p:sp>
        <p:nvSpPr>
          <p:cNvPr id="31" name="灯片编号占位符 30"/>
          <p:cNvSpPr>
            <a:spLocks noGrp="1"/>
          </p:cNvSpPr>
          <p:nvPr>
            <p:ph type="sldNum" sz="quarter" idx="4294967295"/>
          </p:nvPr>
        </p:nvSpPr>
        <p:spPr>
          <a:xfrm>
            <a:off x="0" y="593725"/>
            <a:ext cx="419100" cy="365125"/>
          </a:xfrm>
        </p:spPr>
        <p:txBody>
          <a:bodyPr/>
          <a:lstStyle/>
          <a:p>
            <a:fld id="{B33F7469-D28B-482F-B1B6-3B8E7CF51519}" type="slidenum">
              <a:rPr lang="zh-CN" altLang="en-US" smtClean="0"/>
              <a:t>14</a:t>
            </a:fld>
            <a:endParaRPr lang="zh-CN" altLang="en-US" dirty="0"/>
          </a:p>
        </p:txBody>
      </p:sp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2846" y="622613"/>
            <a:ext cx="11644243" cy="35339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505" b="1" dirty="0">
                <a:solidFill>
                  <a:srgbClr val="00000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Two Types of Performance Bottlenecks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362141" y="1179555"/>
            <a:ext cx="5583495" cy="4753025"/>
          </a:xfrm>
          <a:custGeom>
            <a:avLst/>
            <a:gdLst/>
            <a:ahLst/>
            <a:cxnLst/>
            <a:rect l="l" t="t" r="r" b="b"/>
            <a:pathLst>
              <a:path w="5583495" h="4753025">
                <a:moveTo>
                  <a:pt x="106040" y="0"/>
                </a:moveTo>
                <a:lnTo>
                  <a:pt x="5477455" y="0"/>
                </a:lnTo>
                <a:cubicBezTo>
                  <a:pt x="5536019" y="0"/>
                  <a:pt x="5583495" y="47476"/>
                  <a:pt x="5583495" y="106040"/>
                </a:cubicBezTo>
                <a:lnTo>
                  <a:pt x="5583495" y="4646985"/>
                </a:lnTo>
                <a:cubicBezTo>
                  <a:pt x="5583495" y="4705549"/>
                  <a:pt x="5536019" y="4753025"/>
                  <a:pt x="5477455" y="4753025"/>
                </a:cubicBezTo>
                <a:lnTo>
                  <a:pt x="106040" y="4753025"/>
                </a:lnTo>
                <a:cubicBezTo>
                  <a:pt x="47476" y="4753025"/>
                  <a:pt x="0" y="4705549"/>
                  <a:pt x="0" y="4646985"/>
                </a:cubicBezTo>
                <a:lnTo>
                  <a:pt x="0" y="106040"/>
                </a:lnTo>
                <a:cubicBezTo>
                  <a:pt x="0" y="47515"/>
                  <a:pt x="47515" y="0"/>
                  <a:pt x="106040" y="0"/>
                </a:cubicBezTo>
                <a:close/>
              </a:path>
            </a:pathLst>
          </a:custGeom>
          <a:gradFill flip="none" rotWithShape="1">
            <a:gsLst>
              <a:gs pos="0">
                <a:srgbClr val="F9FAFB"/>
              </a:gs>
              <a:gs pos="100000">
                <a:srgbClr val="FFFFFF"/>
              </a:gs>
            </a:gsLst>
            <a:lin ang="2700000" scaled="1"/>
          </a:gradFill>
          <a:ln w="25274">
            <a:solidFill>
              <a:srgbClr val="E5E7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82942" y="1418008"/>
            <a:ext cx="494748" cy="494748"/>
          </a:xfrm>
          <a:custGeom>
            <a:avLst/>
            <a:gdLst/>
            <a:ahLst/>
            <a:cxnLst/>
            <a:rect l="l" t="t" r="r" b="b"/>
            <a:pathLst>
              <a:path w="494748" h="494748">
                <a:moveTo>
                  <a:pt x="106020" y="0"/>
                </a:moveTo>
                <a:lnTo>
                  <a:pt x="388728" y="0"/>
                </a:lnTo>
                <a:cubicBezTo>
                  <a:pt x="447242" y="0"/>
                  <a:pt x="494748" y="47506"/>
                  <a:pt x="494748" y="106020"/>
                </a:cubicBezTo>
                <a:lnTo>
                  <a:pt x="494748" y="388728"/>
                </a:lnTo>
                <a:cubicBezTo>
                  <a:pt x="494748" y="447242"/>
                  <a:pt x="447242" y="494748"/>
                  <a:pt x="388728" y="494748"/>
                </a:cubicBezTo>
                <a:lnTo>
                  <a:pt x="106020" y="494748"/>
                </a:lnTo>
                <a:cubicBezTo>
                  <a:pt x="47506" y="494748"/>
                  <a:pt x="0" y="447242"/>
                  <a:pt x="0" y="388728"/>
                </a:cubicBezTo>
                <a:lnTo>
                  <a:pt x="0" y="106020"/>
                </a:lnTo>
                <a:cubicBezTo>
                  <a:pt x="0" y="47506"/>
                  <a:pt x="47506" y="0"/>
                  <a:pt x="106020" y="0"/>
                </a:cubicBezTo>
                <a:close/>
              </a:path>
            </a:pathLst>
          </a:custGeom>
          <a:solidFill>
            <a:srgbClr val="8B0000"/>
          </a:solidFill>
          <a:effectLst>
            <a:outerShdw blurRad="53009" dist="35339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24276" y="1559348"/>
            <a:ext cx="212035" cy="212035"/>
          </a:xfrm>
          <a:custGeom>
            <a:avLst/>
            <a:gdLst/>
            <a:ahLst/>
            <a:cxnLst/>
            <a:rect l="l" t="t" r="r" b="b"/>
            <a:pathLst>
              <a:path w="212035" h="212035">
                <a:moveTo>
                  <a:pt x="72887" y="9939"/>
                </a:moveTo>
                <a:cubicBezTo>
                  <a:pt x="72887" y="4431"/>
                  <a:pt x="68456" y="0"/>
                  <a:pt x="62948" y="0"/>
                </a:cubicBezTo>
                <a:cubicBezTo>
                  <a:pt x="57440" y="0"/>
                  <a:pt x="53009" y="4431"/>
                  <a:pt x="53009" y="9939"/>
                </a:cubicBezTo>
                <a:lnTo>
                  <a:pt x="53009" y="26504"/>
                </a:lnTo>
                <a:cubicBezTo>
                  <a:pt x="38390" y="26504"/>
                  <a:pt x="26504" y="38390"/>
                  <a:pt x="26504" y="53009"/>
                </a:cubicBezTo>
                <a:lnTo>
                  <a:pt x="9939" y="53009"/>
                </a:lnTo>
                <a:cubicBezTo>
                  <a:pt x="4431" y="53009"/>
                  <a:pt x="0" y="57440"/>
                  <a:pt x="0" y="62948"/>
                </a:cubicBezTo>
                <a:cubicBezTo>
                  <a:pt x="0" y="68456"/>
                  <a:pt x="4431" y="72887"/>
                  <a:pt x="9939" y="72887"/>
                </a:cubicBezTo>
                <a:lnTo>
                  <a:pt x="26504" y="72887"/>
                </a:lnTo>
                <a:lnTo>
                  <a:pt x="26504" y="96078"/>
                </a:lnTo>
                <a:lnTo>
                  <a:pt x="9939" y="96078"/>
                </a:lnTo>
                <a:cubicBezTo>
                  <a:pt x="4431" y="96078"/>
                  <a:pt x="0" y="100509"/>
                  <a:pt x="0" y="106017"/>
                </a:cubicBezTo>
                <a:cubicBezTo>
                  <a:pt x="0" y="111525"/>
                  <a:pt x="4431" y="115957"/>
                  <a:pt x="9939" y="115957"/>
                </a:cubicBezTo>
                <a:lnTo>
                  <a:pt x="26504" y="115957"/>
                </a:lnTo>
                <a:lnTo>
                  <a:pt x="26504" y="139148"/>
                </a:lnTo>
                <a:lnTo>
                  <a:pt x="9939" y="139148"/>
                </a:lnTo>
                <a:cubicBezTo>
                  <a:pt x="4431" y="139148"/>
                  <a:pt x="0" y="143579"/>
                  <a:pt x="0" y="149087"/>
                </a:cubicBezTo>
                <a:cubicBezTo>
                  <a:pt x="0" y="154595"/>
                  <a:pt x="4431" y="159026"/>
                  <a:pt x="9939" y="159026"/>
                </a:cubicBezTo>
                <a:lnTo>
                  <a:pt x="26504" y="159026"/>
                </a:lnTo>
                <a:cubicBezTo>
                  <a:pt x="26504" y="173645"/>
                  <a:pt x="38390" y="185530"/>
                  <a:pt x="53009" y="185530"/>
                </a:cubicBezTo>
                <a:lnTo>
                  <a:pt x="53009" y="202096"/>
                </a:lnTo>
                <a:cubicBezTo>
                  <a:pt x="53009" y="207604"/>
                  <a:pt x="57440" y="212035"/>
                  <a:pt x="62948" y="212035"/>
                </a:cubicBezTo>
                <a:cubicBezTo>
                  <a:pt x="68456" y="212035"/>
                  <a:pt x="72887" y="207604"/>
                  <a:pt x="72887" y="202096"/>
                </a:cubicBezTo>
                <a:lnTo>
                  <a:pt x="72887" y="185530"/>
                </a:lnTo>
                <a:lnTo>
                  <a:pt x="96078" y="185530"/>
                </a:lnTo>
                <a:lnTo>
                  <a:pt x="96078" y="202096"/>
                </a:lnTo>
                <a:cubicBezTo>
                  <a:pt x="96078" y="207604"/>
                  <a:pt x="100509" y="212035"/>
                  <a:pt x="106017" y="212035"/>
                </a:cubicBezTo>
                <a:cubicBezTo>
                  <a:pt x="111525" y="212035"/>
                  <a:pt x="115957" y="207604"/>
                  <a:pt x="115957" y="202096"/>
                </a:cubicBezTo>
                <a:lnTo>
                  <a:pt x="115957" y="185530"/>
                </a:lnTo>
                <a:lnTo>
                  <a:pt x="139148" y="185530"/>
                </a:lnTo>
                <a:lnTo>
                  <a:pt x="139148" y="202096"/>
                </a:lnTo>
                <a:cubicBezTo>
                  <a:pt x="139148" y="207604"/>
                  <a:pt x="143579" y="212035"/>
                  <a:pt x="149087" y="212035"/>
                </a:cubicBezTo>
                <a:cubicBezTo>
                  <a:pt x="154595" y="212035"/>
                  <a:pt x="159026" y="207604"/>
                  <a:pt x="159026" y="202096"/>
                </a:cubicBezTo>
                <a:lnTo>
                  <a:pt x="159026" y="185530"/>
                </a:lnTo>
                <a:cubicBezTo>
                  <a:pt x="173645" y="185530"/>
                  <a:pt x="185530" y="173645"/>
                  <a:pt x="185530" y="159026"/>
                </a:cubicBezTo>
                <a:lnTo>
                  <a:pt x="202096" y="159026"/>
                </a:lnTo>
                <a:cubicBezTo>
                  <a:pt x="207604" y="159026"/>
                  <a:pt x="212035" y="154595"/>
                  <a:pt x="212035" y="149087"/>
                </a:cubicBezTo>
                <a:cubicBezTo>
                  <a:pt x="212035" y="143579"/>
                  <a:pt x="207604" y="139148"/>
                  <a:pt x="202096" y="139148"/>
                </a:cubicBezTo>
                <a:lnTo>
                  <a:pt x="185530" y="139148"/>
                </a:lnTo>
                <a:lnTo>
                  <a:pt x="185530" y="115957"/>
                </a:lnTo>
                <a:lnTo>
                  <a:pt x="202096" y="115957"/>
                </a:lnTo>
                <a:cubicBezTo>
                  <a:pt x="207604" y="115957"/>
                  <a:pt x="212035" y="111525"/>
                  <a:pt x="212035" y="106017"/>
                </a:cubicBezTo>
                <a:cubicBezTo>
                  <a:pt x="212035" y="100509"/>
                  <a:pt x="207604" y="96078"/>
                  <a:pt x="202096" y="96078"/>
                </a:cubicBezTo>
                <a:lnTo>
                  <a:pt x="185530" y="96078"/>
                </a:lnTo>
                <a:lnTo>
                  <a:pt x="185530" y="72887"/>
                </a:lnTo>
                <a:lnTo>
                  <a:pt x="202096" y="72887"/>
                </a:lnTo>
                <a:cubicBezTo>
                  <a:pt x="207604" y="72887"/>
                  <a:pt x="212035" y="68456"/>
                  <a:pt x="212035" y="62948"/>
                </a:cubicBezTo>
                <a:cubicBezTo>
                  <a:pt x="212035" y="57440"/>
                  <a:pt x="207604" y="53009"/>
                  <a:pt x="202096" y="53009"/>
                </a:cubicBezTo>
                <a:lnTo>
                  <a:pt x="185530" y="53009"/>
                </a:lnTo>
                <a:cubicBezTo>
                  <a:pt x="185530" y="38390"/>
                  <a:pt x="173645" y="26504"/>
                  <a:pt x="159026" y="26504"/>
                </a:cubicBezTo>
                <a:lnTo>
                  <a:pt x="159026" y="9939"/>
                </a:lnTo>
                <a:cubicBezTo>
                  <a:pt x="159026" y="4431"/>
                  <a:pt x="154595" y="0"/>
                  <a:pt x="149087" y="0"/>
                </a:cubicBezTo>
                <a:cubicBezTo>
                  <a:pt x="143579" y="0"/>
                  <a:pt x="139148" y="4431"/>
                  <a:pt x="139148" y="9939"/>
                </a:cubicBezTo>
                <a:lnTo>
                  <a:pt x="139148" y="26504"/>
                </a:lnTo>
                <a:lnTo>
                  <a:pt x="115957" y="26504"/>
                </a:lnTo>
                <a:lnTo>
                  <a:pt x="115957" y="9939"/>
                </a:lnTo>
                <a:cubicBezTo>
                  <a:pt x="115957" y="4431"/>
                  <a:pt x="111525" y="0"/>
                  <a:pt x="106017" y="0"/>
                </a:cubicBezTo>
                <a:cubicBezTo>
                  <a:pt x="100509" y="0"/>
                  <a:pt x="96078" y="4431"/>
                  <a:pt x="96078" y="9939"/>
                </a:cubicBezTo>
                <a:lnTo>
                  <a:pt x="96078" y="26504"/>
                </a:lnTo>
                <a:lnTo>
                  <a:pt x="72887" y="26504"/>
                </a:lnTo>
                <a:lnTo>
                  <a:pt x="72887" y="9939"/>
                </a:lnTo>
                <a:close/>
                <a:moveTo>
                  <a:pt x="66261" y="53009"/>
                </a:moveTo>
                <a:lnTo>
                  <a:pt x="145774" y="53009"/>
                </a:lnTo>
                <a:cubicBezTo>
                  <a:pt x="153104" y="53009"/>
                  <a:pt x="159026" y="58931"/>
                  <a:pt x="159026" y="66261"/>
                </a:cubicBezTo>
                <a:lnTo>
                  <a:pt x="159026" y="145774"/>
                </a:lnTo>
                <a:cubicBezTo>
                  <a:pt x="159026" y="153104"/>
                  <a:pt x="153104" y="159026"/>
                  <a:pt x="145774" y="159026"/>
                </a:cubicBezTo>
                <a:lnTo>
                  <a:pt x="66261" y="159026"/>
                </a:lnTo>
                <a:cubicBezTo>
                  <a:pt x="58931" y="159026"/>
                  <a:pt x="53009" y="153104"/>
                  <a:pt x="53009" y="145774"/>
                </a:cubicBezTo>
                <a:lnTo>
                  <a:pt x="53009" y="66261"/>
                </a:lnTo>
                <a:cubicBezTo>
                  <a:pt x="53009" y="58931"/>
                  <a:pt x="58931" y="53009"/>
                  <a:pt x="66261" y="53009"/>
                </a:cubicBezTo>
                <a:close/>
                <a:moveTo>
                  <a:pt x="72887" y="72887"/>
                </a:moveTo>
                <a:lnTo>
                  <a:pt x="72887" y="139148"/>
                </a:lnTo>
                <a:lnTo>
                  <a:pt x="139148" y="139148"/>
                </a:lnTo>
                <a:lnTo>
                  <a:pt x="139148" y="72887"/>
                </a:lnTo>
                <a:lnTo>
                  <a:pt x="72887" y="72887"/>
                </a:lnTo>
                <a:close/>
              </a:path>
            </a:pathLst>
          </a:custGeom>
          <a:solidFill>
            <a:srgbClr val="FFFFFF"/>
          </a:solidFill>
        </p:spPr>
      </p:sp>
      <p:sp>
        <p:nvSpPr>
          <p:cNvPr id="6" name="Text 4"/>
          <p:cNvSpPr/>
          <p:nvPr/>
        </p:nvSpPr>
        <p:spPr>
          <a:xfrm>
            <a:off x="1218972" y="1400356"/>
            <a:ext cx="2292090" cy="28271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70" b="1" dirty="0">
                <a:solidFill>
                  <a:srgbClr val="00000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Compute Bottleneck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18972" y="1682966"/>
            <a:ext cx="1537252" cy="24737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90" b="1" dirty="0">
                <a:solidFill>
                  <a:srgbClr val="8B000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Compute Bound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82942" y="2655111"/>
            <a:ext cx="5141843" cy="883478"/>
          </a:xfrm>
          <a:custGeom>
            <a:avLst/>
            <a:gdLst/>
            <a:ahLst/>
            <a:cxnLst/>
            <a:rect l="l" t="t" r="r" b="b"/>
            <a:pathLst>
              <a:path w="5141843" h="883478">
                <a:moveTo>
                  <a:pt x="70678" y="0"/>
                </a:moveTo>
                <a:lnTo>
                  <a:pt x="5071165" y="0"/>
                </a:lnTo>
                <a:cubicBezTo>
                  <a:pt x="5110200" y="0"/>
                  <a:pt x="5141843" y="31644"/>
                  <a:pt x="5141843" y="70678"/>
                </a:cubicBezTo>
                <a:lnTo>
                  <a:pt x="5141843" y="812800"/>
                </a:lnTo>
                <a:cubicBezTo>
                  <a:pt x="5141843" y="851835"/>
                  <a:pt x="5110200" y="883478"/>
                  <a:pt x="5071165" y="883478"/>
                </a:cubicBezTo>
                <a:lnTo>
                  <a:pt x="70678" y="883478"/>
                </a:lnTo>
                <a:cubicBezTo>
                  <a:pt x="31644" y="883478"/>
                  <a:pt x="0" y="851835"/>
                  <a:pt x="0" y="812800"/>
                </a:cubicBezTo>
                <a:lnTo>
                  <a:pt x="0" y="70678"/>
                </a:lnTo>
                <a:cubicBezTo>
                  <a:pt x="0" y="31644"/>
                  <a:pt x="31644" y="0"/>
                  <a:pt x="70678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26504" dist="8835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59582" y="2849329"/>
            <a:ext cx="2751480" cy="2065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50" b="1" dirty="0">
                <a:solidFill>
                  <a:srgbClr val="00000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Characteristics: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59582" y="3149798"/>
            <a:ext cx="4859130" cy="21203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5" dirty="0">
                <a:solidFill>
                  <a:srgbClr val="364153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FLOPS-limited, compute units at full load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82942" y="3679790"/>
            <a:ext cx="5141843" cy="883478"/>
          </a:xfrm>
          <a:custGeom>
            <a:avLst/>
            <a:gdLst/>
            <a:ahLst/>
            <a:cxnLst/>
            <a:rect l="l" t="t" r="r" b="b"/>
            <a:pathLst>
              <a:path w="5141843" h="883478">
                <a:moveTo>
                  <a:pt x="70678" y="0"/>
                </a:moveTo>
                <a:lnTo>
                  <a:pt x="5071165" y="0"/>
                </a:lnTo>
                <a:cubicBezTo>
                  <a:pt x="5110200" y="0"/>
                  <a:pt x="5141843" y="31644"/>
                  <a:pt x="5141843" y="70678"/>
                </a:cubicBezTo>
                <a:lnTo>
                  <a:pt x="5141843" y="812800"/>
                </a:lnTo>
                <a:cubicBezTo>
                  <a:pt x="5141843" y="851835"/>
                  <a:pt x="5110200" y="883478"/>
                  <a:pt x="5071165" y="883478"/>
                </a:cubicBezTo>
                <a:lnTo>
                  <a:pt x="70678" y="883478"/>
                </a:lnTo>
                <a:cubicBezTo>
                  <a:pt x="31644" y="883478"/>
                  <a:pt x="0" y="851835"/>
                  <a:pt x="0" y="812800"/>
                </a:cubicBezTo>
                <a:lnTo>
                  <a:pt x="0" y="70678"/>
                </a:lnTo>
                <a:cubicBezTo>
                  <a:pt x="0" y="31644"/>
                  <a:pt x="31644" y="0"/>
                  <a:pt x="70678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26504" dist="8835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59582" y="3874009"/>
            <a:ext cx="2487710" cy="2065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50" b="1" dirty="0">
                <a:solidFill>
                  <a:srgbClr val="00000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Optimization Approach: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59582" y="4174478"/>
            <a:ext cx="4859130" cy="21203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5" dirty="0">
                <a:solidFill>
                  <a:srgbClr val="364153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Algorithm optimization, parallelization, SIMD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00523" y="4704470"/>
            <a:ext cx="5124086" cy="494748"/>
          </a:xfrm>
          <a:custGeom>
            <a:avLst/>
            <a:gdLst/>
            <a:ahLst/>
            <a:cxnLst/>
            <a:rect l="l" t="t" r="r" b="b"/>
            <a:pathLst>
              <a:path w="5124086" h="494748">
                <a:moveTo>
                  <a:pt x="35163" y="0"/>
                </a:moveTo>
                <a:lnTo>
                  <a:pt x="5053406" y="0"/>
                </a:lnTo>
                <a:cubicBezTo>
                  <a:pt x="5092442" y="0"/>
                  <a:pt x="5124086" y="31644"/>
                  <a:pt x="5124086" y="70680"/>
                </a:cubicBezTo>
                <a:lnTo>
                  <a:pt x="5124086" y="424068"/>
                </a:lnTo>
                <a:cubicBezTo>
                  <a:pt x="5124086" y="463077"/>
                  <a:pt x="5092416" y="494748"/>
                  <a:pt x="5053406" y="494748"/>
                </a:cubicBezTo>
                <a:lnTo>
                  <a:pt x="35163" y="494748"/>
                </a:lnTo>
                <a:cubicBezTo>
                  <a:pt x="15756" y="494748"/>
                  <a:pt x="0" y="478992"/>
                  <a:pt x="0" y="459585"/>
                </a:cubicBezTo>
                <a:lnTo>
                  <a:pt x="0" y="35163"/>
                </a:lnTo>
                <a:cubicBezTo>
                  <a:pt x="0" y="15756"/>
                  <a:pt x="15756" y="0"/>
                  <a:pt x="35163" y="0"/>
                </a:cubicBezTo>
                <a:close/>
              </a:path>
            </a:pathLst>
          </a:custGeom>
          <a:solidFill>
            <a:srgbClr val="8B0000">
              <a:alpha val="10196"/>
            </a:srgbClr>
          </a:solidFill>
        </p:spPr>
      </p:sp>
      <p:sp>
        <p:nvSpPr>
          <p:cNvPr id="15" name="Shape 13"/>
          <p:cNvSpPr/>
          <p:nvPr/>
        </p:nvSpPr>
        <p:spPr>
          <a:xfrm>
            <a:off x="600523" y="4704470"/>
            <a:ext cx="35163" cy="494748"/>
          </a:xfrm>
          <a:custGeom>
            <a:avLst/>
            <a:gdLst/>
            <a:ahLst/>
            <a:cxnLst/>
            <a:rect l="l" t="t" r="r" b="b"/>
            <a:pathLst>
              <a:path w="35163" h="494748">
                <a:moveTo>
                  <a:pt x="35163" y="0"/>
                </a:moveTo>
                <a:lnTo>
                  <a:pt x="35163" y="0"/>
                </a:lnTo>
                <a:lnTo>
                  <a:pt x="35163" y="494748"/>
                </a:lnTo>
                <a:lnTo>
                  <a:pt x="35163" y="494748"/>
                </a:lnTo>
                <a:cubicBezTo>
                  <a:pt x="15756" y="494748"/>
                  <a:pt x="0" y="478992"/>
                  <a:pt x="0" y="459585"/>
                </a:cubicBezTo>
                <a:lnTo>
                  <a:pt x="0" y="35163"/>
                </a:lnTo>
                <a:cubicBezTo>
                  <a:pt x="0" y="15756"/>
                  <a:pt x="15756" y="0"/>
                  <a:pt x="35163" y="0"/>
                </a:cubicBezTo>
                <a:close/>
              </a:path>
            </a:pathLst>
          </a:custGeom>
          <a:solidFill>
            <a:srgbClr val="8B0000"/>
          </a:solidFill>
        </p:spPr>
      </p:sp>
      <p:sp>
        <p:nvSpPr>
          <p:cNvPr id="16" name="Shape 14"/>
          <p:cNvSpPr/>
          <p:nvPr/>
        </p:nvSpPr>
        <p:spPr>
          <a:xfrm>
            <a:off x="794784" y="4876576"/>
            <a:ext cx="106017" cy="141357"/>
          </a:xfrm>
          <a:custGeom>
            <a:avLst/>
            <a:gdLst/>
            <a:ahLst/>
            <a:cxnLst/>
            <a:rect l="l" t="t" r="r" b="b"/>
            <a:pathLst>
              <a:path w="106017" h="141357">
                <a:moveTo>
                  <a:pt x="80866" y="106017"/>
                </a:moveTo>
                <a:cubicBezTo>
                  <a:pt x="82881" y="99861"/>
                  <a:pt x="86912" y="94284"/>
                  <a:pt x="91468" y="89480"/>
                </a:cubicBezTo>
                <a:cubicBezTo>
                  <a:pt x="100496" y="79982"/>
                  <a:pt x="106017" y="67144"/>
                  <a:pt x="106017" y="53009"/>
                </a:cubicBezTo>
                <a:cubicBezTo>
                  <a:pt x="106017" y="23743"/>
                  <a:pt x="82274" y="0"/>
                  <a:pt x="53009" y="0"/>
                </a:cubicBezTo>
                <a:cubicBezTo>
                  <a:pt x="23743" y="0"/>
                  <a:pt x="0" y="23743"/>
                  <a:pt x="0" y="53009"/>
                </a:cubicBezTo>
                <a:cubicBezTo>
                  <a:pt x="0" y="67144"/>
                  <a:pt x="5522" y="79982"/>
                  <a:pt x="14550" y="89480"/>
                </a:cubicBezTo>
                <a:cubicBezTo>
                  <a:pt x="19105" y="94284"/>
                  <a:pt x="23164" y="99861"/>
                  <a:pt x="25152" y="106017"/>
                </a:cubicBezTo>
                <a:lnTo>
                  <a:pt x="80838" y="106017"/>
                </a:lnTo>
                <a:close/>
                <a:moveTo>
                  <a:pt x="79513" y="119270"/>
                </a:moveTo>
                <a:lnTo>
                  <a:pt x="26504" y="119270"/>
                </a:lnTo>
                <a:lnTo>
                  <a:pt x="26504" y="123687"/>
                </a:lnTo>
                <a:cubicBezTo>
                  <a:pt x="26504" y="135890"/>
                  <a:pt x="36388" y="145774"/>
                  <a:pt x="48591" y="145774"/>
                </a:cubicBezTo>
                <a:lnTo>
                  <a:pt x="57426" y="145774"/>
                </a:lnTo>
                <a:cubicBezTo>
                  <a:pt x="69629" y="145774"/>
                  <a:pt x="79513" y="135890"/>
                  <a:pt x="79513" y="123687"/>
                </a:cubicBezTo>
                <a:lnTo>
                  <a:pt x="79513" y="119270"/>
                </a:lnTo>
                <a:close/>
                <a:moveTo>
                  <a:pt x="50800" y="30922"/>
                </a:moveTo>
                <a:cubicBezTo>
                  <a:pt x="39812" y="30922"/>
                  <a:pt x="30922" y="39812"/>
                  <a:pt x="30922" y="50800"/>
                </a:cubicBezTo>
                <a:cubicBezTo>
                  <a:pt x="30922" y="54472"/>
                  <a:pt x="27968" y="57426"/>
                  <a:pt x="24296" y="57426"/>
                </a:cubicBezTo>
                <a:cubicBezTo>
                  <a:pt x="20624" y="57426"/>
                  <a:pt x="17670" y="54472"/>
                  <a:pt x="17670" y="50800"/>
                </a:cubicBezTo>
                <a:cubicBezTo>
                  <a:pt x="17670" y="32495"/>
                  <a:pt x="32495" y="17670"/>
                  <a:pt x="50800" y="17670"/>
                </a:cubicBezTo>
                <a:cubicBezTo>
                  <a:pt x="54472" y="17670"/>
                  <a:pt x="57426" y="20624"/>
                  <a:pt x="57426" y="24296"/>
                </a:cubicBezTo>
                <a:cubicBezTo>
                  <a:pt x="57426" y="27968"/>
                  <a:pt x="54472" y="30922"/>
                  <a:pt x="50800" y="30922"/>
                </a:cubicBezTo>
                <a:close/>
              </a:path>
            </a:pathLst>
          </a:custGeom>
          <a:solidFill>
            <a:srgbClr val="8B0000"/>
          </a:solidFill>
        </p:spPr>
      </p:sp>
      <p:sp>
        <p:nvSpPr>
          <p:cNvPr id="17" name="Text 15"/>
          <p:cNvSpPr/>
          <p:nvPr/>
        </p:nvSpPr>
        <p:spPr>
          <a:xfrm>
            <a:off x="985308" y="4845809"/>
            <a:ext cx="4668606" cy="21203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5" dirty="0">
                <a:solidFill>
                  <a:srgbClr val="00000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Need to improve compute efficiency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244167" y="1179555"/>
            <a:ext cx="5583495" cy="4753025"/>
          </a:xfrm>
          <a:custGeom>
            <a:avLst/>
            <a:gdLst/>
            <a:ahLst/>
            <a:cxnLst/>
            <a:rect l="l" t="t" r="r" b="b"/>
            <a:pathLst>
              <a:path w="5583495" h="4753025">
                <a:moveTo>
                  <a:pt x="106040" y="0"/>
                </a:moveTo>
                <a:lnTo>
                  <a:pt x="5477455" y="0"/>
                </a:lnTo>
                <a:cubicBezTo>
                  <a:pt x="5536019" y="0"/>
                  <a:pt x="5583495" y="47476"/>
                  <a:pt x="5583495" y="106040"/>
                </a:cubicBezTo>
                <a:lnTo>
                  <a:pt x="5583495" y="4646985"/>
                </a:lnTo>
                <a:cubicBezTo>
                  <a:pt x="5583495" y="4705549"/>
                  <a:pt x="5536019" y="4753025"/>
                  <a:pt x="5477455" y="4753025"/>
                </a:cubicBezTo>
                <a:lnTo>
                  <a:pt x="106040" y="4753025"/>
                </a:lnTo>
                <a:cubicBezTo>
                  <a:pt x="47476" y="4753025"/>
                  <a:pt x="0" y="4705549"/>
                  <a:pt x="0" y="4646985"/>
                </a:cubicBezTo>
                <a:lnTo>
                  <a:pt x="0" y="106040"/>
                </a:lnTo>
                <a:cubicBezTo>
                  <a:pt x="0" y="47515"/>
                  <a:pt x="47515" y="0"/>
                  <a:pt x="106040" y="0"/>
                </a:cubicBezTo>
                <a:close/>
              </a:path>
            </a:pathLst>
          </a:custGeom>
          <a:gradFill flip="none" rotWithShape="1">
            <a:gsLst>
              <a:gs pos="0">
                <a:srgbClr val="F9FAFB"/>
              </a:gs>
              <a:gs pos="100000">
                <a:srgbClr val="FFFFFF"/>
              </a:gs>
            </a:gsLst>
            <a:lin ang="2700000" scaled="1"/>
          </a:gradFill>
          <a:ln w="25274">
            <a:solidFill>
              <a:srgbClr val="E5E7E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64968" y="1418008"/>
            <a:ext cx="494748" cy="494748"/>
          </a:xfrm>
          <a:custGeom>
            <a:avLst/>
            <a:gdLst/>
            <a:ahLst/>
            <a:cxnLst/>
            <a:rect l="l" t="t" r="r" b="b"/>
            <a:pathLst>
              <a:path w="494748" h="494748">
                <a:moveTo>
                  <a:pt x="106020" y="0"/>
                </a:moveTo>
                <a:lnTo>
                  <a:pt x="388728" y="0"/>
                </a:lnTo>
                <a:cubicBezTo>
                  <a:pt x="447242" y="0"/>
                  <a:pt x="494748" y="47506"/>
                  <a:pt x="494748" y="106020"/>
                </a:cubicBezTo>
                <a:lnTo>
                  <a:pt x="494748" y="388728"/>
                </a:lnTo>
                <a:cubicBezTo>
                  <a:pt x="494748" y="447242"/>
                  <a:pt x="447242" y="494748"/>
                  <a:pt x="388728" y="494748"/>
                </a:cubicBezTo>
                <a:lnTo>
                  <a:pt x="106020" y="494748"/>
                </a:lnTo>
                <a:cubicBezTo>
                  <a:pt x="47506" y="494748"/>
                  <a:pt x="0" y="447242"/>
                  <a:pt x="0" y="388728"/>
                </a:cubicBezTo>
                <a:lnTo>
                  <a:pt x="0" y="106020"/>
                </a:lnTo>
                <a:cubicBezTo>
                  <a:pt x="0" y="47506"/>
                  <a:pt x="47506" y="0"/>
                  <a:pt x="106020" y="0"/>
                </a:cubicBezTo>
                <a:close/>
              </a:path>
            </a:pathLst>
          </a:custGeom>
          <a:solidFill>
            <a:srgbClr val="8B0000"/>
          </a:solidFill>
          <a:effectLst>
            <a:outerShdw blurRad="53009" dist="35339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619554" y="1559348"/>
            <a:ext cx="185530" cy="212035"/>
          </a:xfrm>
          <a:custGeom>
            <a:avLst/>
            <a:gdLst/>
            <a:ahLst/>
            <a:cxnLst/>
            <a:rect l="l" t="t" r="r" b="b"/>
            <a:pathLst>
              <a:path w="185530" h="212035">
                <a:moveTo>
                  <a:pt x="185530" y="85228"/>
                </a:moveTo>
                <a:cubicBezTo>
                  <a:pt x="179401" y="89287"/>
                  <a:pt x="172361" y="92558"/>
                  <a:pt x="165031" y="95167"/>
                </a:cubicBezTo>
                <a:cubicBezTo>
                  <a:pt x="145567" y="102125"/>
                  <a:pt x="120015" y="106017"/>
                  <a:pt x="92765" y="106017"/>
                </a:cubicBezTo>
                <a:cubicBezTo>
                  <a:pt x="65515" y="106017"/>
                  <a:pt x="39922" y="102083"/>
                  <a:pt x="20499" y="95167"/>
                </a:cubicBezTo>
                <a:cubicBezTo>
                  <a:pt x="13211" y="92558"/>
                  <a:pt x="6129" y="89287"/>
                  <a:pt x="0" y="85228"/>
                </a:cubicBezTo>
                <a:lnTo>
                  <a:pt x="0" y="119270"/>
                </a:lnTo>
                <a:cubicBezTo>
                  <a:pt x="0" y="137574"/>
                  <a:pt x="41537" y="152400"/>
                  <a:pt x="92765" y="152400"/>
                </a:cubicBezTo>
                <a:cubicBezTo>
                  <a:pt x="143993" y="152400"/>
                  <a:pt x="185530" y="137574"/>
                  <a:pt x="185530" y="119270"/>
                </a:cubicBezTo>
                <a:lnTo>
                  <a:pt x="185530" y="85228"/>
                </a:lnTo>
                <a:close/>
                <a:moveTo>
                  <a:pt x="185530" y="53009"/>
                </a:moveTo>
                <a:lnTo>
                  <a:pt x="185530" y="33130"/>
                </a:lnTo>
                <a:cubicBezTo>
                  <a:pt x="185530" y="14826"/>
                  <a:pt x="143993" y="0"/>
                  <a:pt x="92765" y="0"/>
                </a:cubicBezTo>
                <a:cubicBezTo>
                  <a:pt x="41537" y="0"/>
                  <a:pt x="0" y="14826"/>
                  <a:pt x="0" y="33130"/>
                </a:cubicBezTo>
                <a:lnTo>
                  <a:pt x="0" y="53009"/>
                </a:lnTo>
                <a:cubicBezTo>
                  <a:pt x="0" y="71313"/>
                  <a:pt x="41537" y="86139"/>
                  <a:pt x="92765" y="86139"/>
                </a:cubicBezTo>
                <a:cubicBezTo>
                  <a:pt x="143993" y="86139"/>
                  <a:pt x="185530" y="71313"/>
                  <a:pt x="185530" y="53009"/>
                </a:cubicBezTo>
                <a:close/>
                <a:moveTo>
                  <a:pt x="165031" y="161428"/>
                </a:moveTo>
                <a:cubicBezTo>
                  <a:pt x="145608" y="168344"/>
                  <a:pt x="120056" y="172278"/>
                  <a:pt x="92765" y="172278"/>
                </a:cubicBezTo>
                <a:cubicBezTo>
                  <a:pt x="65474" y="172278"/>
                  <a:pt x="39922" y="168344"/>
                  <a:pt x="20499" y="161428"/>
                </a:cubicBezTo>
                <a:cubicBezTo>
                  <a:pt x="13211" y="158819"/>
                  <a:pt x="6129" y="155547"/>
                  <a:pt x="0" y="151489"/>
                </a:cubicBezTo>
                <a:lnTo>
                  <a:pt x="0" y="178904"/>
                </a:lnTo>
                <a:cubicBezTo>
                  <a:pt x="0" y="197209"/>
                  <a:pt x="41537" y="212035"/>
                  <a:pt x="92765" y="212035"/>
                </a:cubicBezTo>
                <a:cubicBezTo>
                  <a:pt x="143993" y="212035"/>
                  <a:pt x="185530" y="197209"/>
                  <a:pt x="185530" y="178904"/>
                </a:cubicBezTo>
                <a:lnTo>
                  <a:pt x="185530" y="151489"/>
                </a:lnTo>
                <a:cubicBezTo>
                  <a:pt x="179401" y="155547"/>
                  <a:pt x="172361" y="158819"/>
                  <a:pt x="165031" y="161428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21" name="Text 19"/>
          <p:cNvSpPr/>
          <p:nvPr/>
        </p:nvSpPr>
        <p:spPr>
          <a:xfrm>
            <a:off x="7100997" y="1400356"/>
            <a:ext cx="2693633" cy="28271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70" b="1" dirty="0">
                <a:solidFill>
                  <a:srgbClr val="00000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Memory Bottleneck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100998" y="1682966"/>
            <a:ext cx="1475409" cy="24737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90" b="1" dirty="0">
                <a:solidFill>
                  <a:srgbClr val="8B000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Memory Bound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464968" y="2655111"/>
            <a:ext cx="5141843" cy="883478"/>
          </a:xfrm>
          <a:custGeom>
            <a:avLst/>
            <a:gdLst/>
            <a:ahLst/>
            <a:cxnLst/>
            <a:rect l="l" t="t" r="r" b="b"/>
            <a:pathLst>
              <a:path w="5141843" h="883478">
                <a:moveTo>
                  <a:pt x="70678" y="0"/>
                </a:moveTo>
                <a:lnTo>
                  <a:pt x="5071165" y="0"/>
                </a:lnTo>
                <a:cubicBezTo>
                  <a:pt x="5110200" y="0"/>
                  <a:pt x="5141843" y="31644"/>
                  <a:pt x="5141843" y="70678"/>
                </a:cubicBezTo>
                <a:lnTo>
                  <a:pt x="5141843" y="812800"/>
                </a:lnTo>
                <a:cubicBezTo>
                  <a:pt x="5141843" y="851835"/>
                  <a:pt x="5110200" y="883478"/>
                  <a:pt x="5071165" y="883478"/>
                </a:cubicBezTo>
                <a:lnTo>
                  <a:pt x="70678" y="883478"/>
                </a:lnTo>
                <a:cubicBezTo>
                  <a:pt x="31644" y="883478"/>
                  <a:pt x="0" y="851835"/>
                  <a:pt x="0" y="812800"/>
                </a:cubicBezTo>
                <a:lnTo>
                  <a:pt x="0" y="70678"/>
                </a:lnTo>
                <a:cubicBezTo>
                  <a:pt x="0" y="31644"/>
                  <a:pt x="31644" y="0"/>
                  <a:pt x="70678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26504" dist="8835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641607" y="2849329"/>
            <a:ext cx="1552823" cy="2065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50" b="1" dirty="0">
                <a:solidFill>
                  <a:srgbClr val="00000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Characteristics: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641608" y="3149798"/>
            <a:ext cx="4859130" cy="21203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5" dirty="0">
                <a:solidFill>
                  <a:srgbClr val="364153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Bandwidth-limited, insufficient data supply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464968" y="3679790"/>
            <a:ext cx="5141843" cy="883478"/>
          </a:xfrm>
          <a:custGeom>
            <a:avLst/>
            <a:gdLst/>
            <a:ahLst/>
            <a:cxnLst/>
            <a:rect l="l" t="t" r="r" b="b"/>
            <a:pathLst>
              <a:path w="5141843" h="883478">
                <a:moveTo>
                  <a:pt x="70678" y="0"/>
                </a:moveTo>
                <a:lnTo>
                  <a:pt x="5071165" y="0"/>
                </a:lnTo>
                <a:cubicBezTo>
                  <a:pt x="5110200" y="0"/>
                  <a:pt x="5141843" y="31644"/>
                  <a:pt x="5141843" y="70678"/>
                </a:cubicBezTo>
                <a:lnTo>
                  <a:pt x="5141843" y="812800"/>
                </a:lnTo>
                <a:cubicBezTo>
                  <a:pt x="5141843" y="851835"/>
                  <a:pt x="5110200" y="883478"/>
                  <a:pt x="5071165" y="883478"/>
                </a:cubicBezTo>
                <a:lnTo>
                  <a:pt x="70678" y="883478"/>
                </a:lnTo>
                <a:cubicBezTo>
                  <a:pt x="31644" y="883478"/>
                  <a:pt x="0" y="851835"/>
                  <a:pt x="0" y="812800"/>
                </a:cubicBezTo>
                <a:lnTo>
                  <a:pt x="0" y="70678"/>
                </a:lnTo>
                <a:cubicBezTo>
                  <a:pt x="0" y="31644"/>
                  <a:pt x="31644" y="0"/>
                  <a:pt x="70678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26504" dist="8835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641608" y="3874009"/>
            <a:ext cx="2144838" cy="2065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50" b="1" dirty="0">
                <a:solidFill>
                  <a:srgbClr val="00000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Optimization Approach: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641608" y="4174478"/>
            <a:ext cx="4859130" cy="21203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5" dirty="0">
                <a:solidFill>
                  <a:srgbClr val="364153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Data layout optimization, cache optimization, blocking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482549" y="4704470"/>
            <a:ext cx="5124086" cy="494748"/>
          </a:xfrm>
          <a:custGeom>
            <a:avLst/>
            <a:gdLst/>
            <a:ahLst/>
            <a:cxnLst/>
            <a:rect l="l" t="t" r="r" b="b"/>
            <a:pathLst>
              <a:path w="5124086" h="494748">
                <a:moveTo>
                  <a:pt x="35163" y="0"/>
                </a:moveTo>
                <a:lnTo>
                  <a:pt x="5053406" y="0"/>
                </a:lnTo>
                <a:cubicBezTo>
                  <a:pt x="5092442" y="0"/>
                  <a:pt x="5124086" y="31644"/>
                  <a:pt x="5124086" y="70680"/>
                </a:cubicBezTo>
                <a:lnTo>
                  <a:pt x="5124086" y="424068"/>
                </a:lnTo>
                <a:cubicBezTo>
                  <a:pt x="5124086" y="463077"/>
                  <a:pt x="5092416" y="494748"/>
                  <a:pt x="5053406" y="494748"/>
                </a:cubicBezTo>
                <a:lnTo>
                  <a:pt x="35163" y="494748"/>
                </a:lnTo>
                <a:cubicBezTo>
                  <a:pt x="15756" y="494748"/>
                  <a:pt x="0" y="478992"/>
                  <a:pt x="0" y="459585"/>
                </a:cubicBezTo>
                <a:lnTo>
                  <a:pt x="0" y="35163"/>
                </a:lnTo>
                <a:cubicBezTo>
                  <a:pt x="0" y="15756"/>
                  <a:pt x="15756" y="0"/>
                  <a:pt x="35163" y="0"/>
                </a:cubicBezTo>
                <a:close/>
              </a:path>
            </a:pathLst>
          </a:custGeom>
          <a:solidFill>
            <a:srgbClr val="8B0000">
              <a:alpha val="10196"/>
            </a:srgbClr>
          </a:solidFill>
        </p:spPr>
      </p:sp>
      <p:sp>
        <p:nvSpPr>
          <p:cNvPr id="30" name="Shape 28"/>
          <p:cNvSpPr/>
          <p:nvPr/>
        </p:nvSpPr>
        <p:spPr>
          <a:xfrm>
            <a:off x="6482549" y="4704470"/>
            <a:ext cx="35163" cy="494748"/>
          </a:xfrm>
          <a:custGeom>
            <a:avLst/>
            <a:gdLst/>
            <a:ahLst/>
            <a:cxnLst/>
            <a:rect l="l" t="t" r="r" b="b"/>
            <a:pathLst>
              <a:path w="35163" h="494748">
                <a:moveTo>
                  <a:pt x="35163" y="0"/>
                </a:moveTo>
                <a:lnTo>
                  <a:pt x="35163" y="0"/>
                </a:lnTo>
                <a:lnTo>
                  <a:pt x="35163" y="494748"/>
                </a:lnTo>
                <a:lnTo>
                  <a:pt x="35163" y="494748"/>
                </a:lnTo>
                <a:cubicBezTo>
                  <a:pt x="15756" y="494748"/>
                  <a:pt x="0" y="478992"/>
                  <a:pt x="0" y="459585"/>
                </a:cubicBezTo>
                <a:lnTo>
                  <a:pt x="0" y="35163"/>
                </a:lnTo>
                <a:cubicBezTo>
                  <a:pt x="0" y="15756"/>
                  <a:pt x="15756" y="0"/>
                  <a:pt x="35163" y="0"/>
                </a:cubicBezTo>
                <a:close/>
              </a:path>
            </a:pathLst>
          </a:custGeom>
          <a:solidFill>
            <a:srgbClr val="8B0000"/>
          </a:solidFill>
        </p:spPr>
      </p:sp>
      <p:sp>
        <p:nvSpPr>
          <p:cNvPr id="31" name="Shape 29"/>
          <p:cNvSpPr/>
          <p:nvPr/>
        </p:nvSpPr>
        <p:spPr>
          <a:xfrm>
            <a:off x="6676810" y="4876576"/>
            <a:ext cx="106017" cy="141357"/>
          </a:xfrm>
          <a:custGeom>
            <a:avLst/>
            <a:gdLst/>
            <a:ahLst/>
            <a:cxnLst/>
            <a:rect l="l" t="t" r="r" b="b"/>
            <a:pathLst>
              <a:path w="106017" h="141357">
                <a:moveTo>
                  <a:pt x="80866" y="106017"/>
                </a:moveTo>
                <a:cubicBezTo>
                  <a:pt x="82881" y="99861"/>
                  <a:pt x="86912" y="94284"/>
                  <a:pt x="91468" y="89480"/>
                </a:cubicBezTo>
                <a:cubicBezTo>
                  <a:pt x="100496" y="79982"/>
                  <a:pt x="106017" y="67144"/>
                  <a:pt x="106017" y="53009"/>
                </a:cubicBezTo>
                <a:cubicBezTo>
                  <a:pt x="106017" y="23743"/>
                  <a:pt x="82274" y="0"/>
                  <a:pt x="53009" y="0"/>
                </a:cubicBezTo>
                <a:cubicBezTo>
                  <a:pt x="23743" y="0"/>
                  <a:pt x="0" y="23743"/>
                  <a:pt x="0" y="53009"/>
                </a:cubicBezTo>
                <a:cubicBezTo>
                  <a:pt x="0" y="67144"/>
                  <a:pt x="5522" y="79982"/>
                  <a:pt x="14550" y="89480"/>
                </a:cubicBezTo>
                <a:cubicBezTo>
                  <a:pt x="19105" y="94284"/>
                  <a:pt x="23164" y="99861"/>
                  <a:pt x="25152" y="106017"/>
                </a:cubicBezTo>
                <a:lnTo>
                  <a:pt x="80838" y="106017"/>
                </a:lnTo>
                <a:close/>
                <a:moveTo>
                  <a:pt x="79513" y="119270"/>
                </a:moveTo>
                <a:lnTo>
                  <a:pt x="26504" y="119270"/>
                </a:lnTo>
                <a:lnTo>
                  <a:pt x="26504" y="123687"/>
                </a:lnTo>
                <a:cubicBezTo>
                  <a:pt x="26504" y="135890"/>
                  <a:pt x="36388" y="145774"/>
                  <a:pt x="48591" y="145774"/>
                </a:cubicBezTo>
                <a:lnTo>
                  <a:pt x="57426" y="145774"/>
                </a:lnTo>
                <a:cubicBezTo>
                  <a:pt x="69629" y="145774"/>
                  <a:pt x="79513" y="135890"/>
                  <a:pt x="79513" y="123687"/>
                </a:cubicBezTo>
                <a:lnTo>
                  <a:pt x="79513" y="119270"/>
                </a:lnTo>
                <a:close/>
                <a:moveTo>
                  <a:pt x="50800" y="30922"/>
                </a:moveTo>
                <a:cubicBezTo>
                  <a:pt x="39812" y="30922"/>
                  <a:pt x="30922" y="39812"/>
                  <a:pt x="30922" y="50800"/>
                </a:cubicBezTo>
                <a:cubicBezTo>
                  <a:pt x="30922" y="54472"/>
                  <a:pt x="27968" y="57426"/>
                  <a:pt x="24296" y="57426"/>
                </a:cubicBezTo>
                <a:cubicBezTo>
                  <a:pt x="20624" y="57426"/>
                  <a:pt x="17670" y="54472"/>
                  <a:pt x="17670" y="50800"/>
                </a:cubicBezTo>
                <a:cubicBezTo>
                  <a:pt x="17670" y="32495"/>
                  <a:pt x="32495" y="17670"/>
                  <a:pt x="50800" y="17670"/>
                </a:cubicBezTo>
                <a:cubicBezTo>
                  <a:pt x="54472" y="17670"/>
                  <a:pt x="57426" y="20624"/>
                  <a:pt x="57426" y="24296"/>
                </a:cubicBezTo>
                <a:cubicBezTo>
                  <a:pt x="57426" y="27968"/>
                  <a:pt x="54472" y="30922"/>
                  <a:pt x="50800" y="30922"/>
                </a:cubicBezTo>
                <a:close/>
              </a:path>
            </a:pathLst>
          </a:custGeom>
          <a:solidFill>
            <a:srgbClr val="8B0000"/>
          </a:solidFill>
        </p:spPr>
      </p:sp>
      <p:sp>
        <p:nvSpPr>
          <p:cNvPr id="32" name="Text 30"/>
          <p:cNvSpPr/>
          <p:nvPr/>
        </p:nvSpPr>
        <p:spPr>
          <a:xfrm>
            <a:off x="6867334" y="4845809"/>
            <a:ext cx="4668606" cy="21203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5" dirty="0">
                <a:solidFill>
                  <a:srgbClr val="00000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Need to improve data access efficiency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370932" y="5901462"/>
            <a:ext cx="11467460" cy="600765"/>
          </a:xfrm>
          <a:custGeom>
            <a:avLst/>
            <a:gdLst/>
            <a:ahLst/>
            <a:cxnLst/>
            <a:rect l="l" t="t" r="r" b="b"/>
            <a:pathLst>
              <a:path w="11467460" h="600765">
                <a:moveTo>
                  <a:pt x="35163" y="0"/>
                </a:moveTo>
                <a:lnTo>
                  <a:pt x="11361443" y="0"/>
                </a:lnTo>
                <a:cubicBezTo>
                  <a:pt x="11419994" y="0"/>
                  <a:pt x="11467460" y="47465"/>
                  <a:pt x="11467460" y="106017"/>
                </a:cubicBezTo>
                <a:lnTo>
                  <a:pt x="11467460" y="494748"/>
                </a:lnTo>
                <a:cubicBezTo>
                  <a:pt x="11467460" y="553300"/>
                  <a:pt x="11419994" y="600765"/>
                  <a:pt x="11361443" y="600765"/>
                </a:cubicBezTo>
                <a:lnTo>
                  <a:pt x="35163" y="600765"/>
                </a:lnTo>
                <a:cubicBezTo>
                  <a:pt x="15743" y="600765"/>
                  <a:pt x="0" y="585022"/>
                  <a:pt x="0" y="565602"/>
                </a:cubicBezTo>
                <a:lnTo>
                  <a:pt x="0" y="35163"/>
                </a:lnTo>
                <a:cubicBezTo>
                  <a:pt x="0" y="15756"/>
                  <a:pt x="15756" y="0"/>
                  <a:pt x="35163" y="0"/>
                </a:cubicBezTo>
                <a:close/>
              </a:path>
            </a:pathLst>
          </a:custGeom>
          <a:solidFill>
            <a:srgbClr val="8B0000">
              <a:alpha val="10196"/>
            </a:srgbClr>
          </a:solidFill>
        </p:spPr>
      </p:sp>
      <p:sp>
        <p:nvSpPr>
          <p:cNvPr id="34" name="Shape 32"/>
          <p:cNvSpPr/>
          <p:nvPr/>
        </p:nvSpPr>
        <p:spPr>
          <a:xfrm>
            <a:off x="370932" y="5901462"/>
            <a:ext cx="35163" cy="600765"/>
          </a:xfrm>
          <a:custGeom>
            <a:avLst/>
            <a:gdLst/>
            <a:ahLst/>
            <a:cxnLst/>
            <a:rect l="l" t="t" r="r" b="b"/>
            <a:pathLst>
              <a:path w="35163" h="600765">
                <a:moveTo>
                  <a:pt x="35163" y="0"/>
                </a:moveTo>
                <a:lnTo>
                  <a:pt x="35163" y="0"/>
                </a:lnTo>
                <a:lnTo>
                  <a:pt x="35163" y="600765"/>
                </a:lnTo>
                <a:lnTo>
                  <a:pt x="35163" y="600765"/>
                </a:lnTo>
                <a:cubicBezTo>
                  <a:pt x="15756" y="600765"/>
                  <a:pt x="0" y="585009"/>
                  <a:pt x="0" y="565602"/>
                </a:cubicBezTo>
                <a:lnTo>
                  <a:pt x="0" y="35163"/>
                </a:lnTo>
                <a:cubicBezTo>
                  <a:pt x="0" y="15756"/>
                  <a:pt x="15756" y="0"/>
                  <a:pt x="35163" y="0"/>
                </a:cubicBezTo>
                <a:close/>
              </a:path>
            </a:pathLst>
          </a:custGeom>
          <a:solidFill>
            <a:srgbClr val="8B0000"/>
          </a:solidFill>
        </p:spPr>
      </p:sp>
      <p:sp>
        <p:nvSpPr>
          <p:cNvPr id="35" name="Text 33"/>
          <p:cNvSpPr/>
          <p:nvPr/>
        </p:nvSpPr>
        <p:spPr>
          <a:xfrm>
            <a:off x="565154" y="6078106"/>
            <a:ext cx="11184835" cy="24737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90" b="1" dirty="0">
                <a:solidFill>
                  <a:srgbClr val="00000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Key Insight:</a:t>
            </a:r>
            <a:r>
              <a:rPr lang="en-US" sz="1390" dirty="0">
                <a:solidFill>
                  <a:srgbClr val="00000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Different bottlenecks require different optimization strategies — identifying the bottleneck type is the first step</a:t>
            </a:r>
            <a:endParaRPr lang="en-US" sz="1600" dirty="0"/>
          </a:p>
        </p:txBody>
      </p:sp>
      <p:sp>
        <p:nvSpPr>
          <p:cNvPr id="36" name="灯片编号占位符 35"/>
          <p:cNvSpPr>
            <a:spLocks noGrp="1"/>
          </p:cNvSpPr>
          <p:nvPr>
            <p:ph type="sldNum" sz="quarter" idx="4294967295"/>
          </p:nvPr>
        </p:nvSpPr>
        <p:spPr>
          <a:xfrm>
            <a:off x="0" y="593725"/>
            <a:ext cx="419100" cy="365125"/>
          </a:xfrm>
        </p:spPr>
        <p:txBody>
          <a:bodyPr/>
          <a:lstStyle/>
          <a:p>
            <a:fld id="{B33F7469-D28B-482F-B1B6-3B8E7CF51519}" type="slidenum">
              <a:rPr lang="zh-CN" altLang="en-US" smtClean="0"/>
              <a:t>15</a:t>
            </a:fld>
            <a:endParaRPr lang="zh-CN" altLang="en-US" dirty="0"/>
          </a:p>
        </p:txBody>
      </p:sp>
    </p:spTree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7608" y="647541"/>
            <a:ext cx="11601450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00000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Introducing the Roofline Model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399911" y="1195650"/>
            <a:ext cx="5543455" cy="1104900"/>
          </a:xfrm>
          <a:custGeom>
            <a:avLst/>
            <a:gdLst/>
            <a:ahLst/>
            <a:cxnLst/>
            <a:rect l="l" t="t" r="r" b="b"/>
            <a:pathLst>
              <a:path w="5543455" h="1104900">
                <a:moveTo>
                  <a:pt x="37910" y="0"/>
                </a:moveTo>
                <a:lnTo>
                  <a:pt x="5429153" y="0"/>
                </a:lnTo>
                <a:cubicBezTo>
                  <a:pt x="5492281" y="0"/>
                  <a:pt x="5543455" y="51175"/>
                  <a:pt x="5543455" y="114302"/>
                </a:cubicBezTo>
                <a:lnTo>
                  <a:pt x="5543455" y="990598"/>
                </a:lnTo>
                <a:cubicBezTo>
                  <a:pt x="5543455" y="1053725"/>
                  <a:pt x="5492281" y="1104900"/>
                  <a:pt x="5429153" y="1104900"/>
                </a:cubicBezTo>
                <a:lnTo>
                  <a:pt x="37910" y="1104900"/>
                </a:lnTo>
                <a:cubicBezTo>
                  <a:pt x="16973" y="1104900"/>
                  <a:pt x="0" y="1087927"/>
                  <a:pt x="0" y="1066990"/>
                </a:cubicBezTo>
                <a:lnTo>
                  <a:pt x="0" y="37910"/>
                </a:lnTo>
                <a:cubicBezTo>
                  <a:pt x="0" y="16987"/>
                  <a:pt x="16987" y="0"/>
                  <a:pt x="37910" y="0"/>
                </a:cubicBezTo>
                <a:close/>
              </a:path>
            </a:pathLst>
          </a:custGeom>
          <a:solidFill>
            <a:srgbClr val="8B0000">
              <a:alpha val="10196"/>
            </a:srgbClr>
          </a:solidFill>
        </p:spPr>
      </p:sp>
      <p:sp>
        <p:nvSpPr>
          <p:cNvPr id="4" name="Shape 2"/>
          <p:cNvSpPr/>
          <p:nvPr/>
        </p:nvSpPr>
        <p:spPr>
          <a:xfrm>
            <a:off x="399911" y="1195650"/>
            <a:ext cx="37910" cy="1104900"/>
          </a:xfrm>
          <a:custGeom>
            <a:avLst/>
            <a:gdLst/>
            <a:ahLst/>
            <a:cxnLst/>
            <a:rect l="l" t="t" r="r" b="b"/>
            <a:pathLst>
              <a:path w="37910" h="1104900">
                <a:moveTo>
                  <a:pt x="37910" y="0"/>
                </a:moveTo>
                <a:lnTo>
                  <a:pt x="37910" y="0"/>
                </a:lnTo>
                <a:lnTo>
                  <a:pt x="37910" y="1104900"/>
                </a:lnTo>
                <a:lnTo>
                  <a:pt x="37910" y="1104900"/>
                </a:lnTo>
                <a:cubicBezTo>
                  <a:pt x="16973" y="1104900"/>
                  <a:pt x="0" y="1087927"/>
                  <a:pt x="0" y="1066990"/>
                </a:cubicBezTo>
                <a:lnTo>
                  <a:pt x="0" y="37910"/>
                </a:lnTo>
                <a:cubicBezTo>
                  <a:pt x="0" y="16987"/>
                  <a:pt x="16987" y="0"/>
                  <a:pt x="37910" y="0"/>
                </a:cubicBezTo>
                <a:close/>
              </a:path>
            </a:pathLst>
          </a:custGeom>
          <a:solidFill>
            <a:srgbClr val="8B0000"/>
          </a:solidFill>
        </p:spPr>
      </p:sp>
      <p:sp>
        <p:nvSpPr>
          <p:cNvPr id="5" name="Text 3"/>
          <p:cNvSpPr/>
          <p:nvPr/>
        </p:nvSpPr>
        <p:spPr>
          <a:xfrm>
            <a:off x="647439" y="1424222"/>
            <a:ext cx="51816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00000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Roofline Model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7439" y="1805102"/>
            <a:ext cx="51625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36415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A visual performance analysis model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80956" y="2323793"/>
            <a:ext cx="5562600" cy="990600"/>
          </a:xfrm>
          <a:custGeom>
            <a:avLst/>
            <a:gdLst/>
            <a:ahLst/>
            <a:cxnLst/>
            <a:rect l="l" t="t" r="r" b="b"/>
            <a:pathLst>
              <a:path w="5562600" h="990600">
                <a:moveTo>
                  <a:pt x="114295" y="0"/>
                </a:moveTo>
                <a:lnTo>
                  <a:pt x="5448305" y="0"/>
                </a:lnTo>
                <a:cubicBezTo>
                  <a:pt x="5511386" y="0"/>
                  <a:pt x="5562600" y="51214"/>
                  <a:pt x="5562600" y="114295"/>
                </a:cubicBezTo>
                <a:lnTo>
                  <a:pt x="5562600" y="876305"/>
                </a:lnTo>
                <a:cubicBezTo>
                  <a:pt x="5562600" y="939386"/>
                  <a:pt x="5511386" y="990600"/>
                  <a:pt x="5448305" y="990600"/>
                </a:cubicBezTo>
                <a:lnTo>
                  <a:pt x="114295" y="990600"/>
                </a:lnTo>
                <a:cubicBezTo>
                  <a:pt x="51214" y="990600"/>
                  <a:pt x="0" y="939386"/>
                  <a:pt x="0" y="876305"/>
                </a:cubicBezTo>
                <a:lnTo>
                  <a:pt x="0" y="114295"/>
                </a:lnTo>
                <a:cubicBezTo>
                  <a:pt x="0" y="51214"/>
                  <a:pt x="51214" y="0"/>
                  <a:pt x="114295" y="0"/>
                </a:cubicBezTo>
                <a:close/>
              </a:path>
            </a:pathLst>
          </a:custGeom>
          <a:solidFill>
            <a:srgbClr val="F9FAFB"/>
          </a:solidFill>
        </p:spPr>
      </p:sp>
      <p:sp>
        <p:nvSpPr>
          <p:cNvPr id="9" name="Text 7"/>
          <p:cNvSpPr/>
          <p:nvPr/>
        </p:nvSpPr>
        <p:spPr>
          <a:xfrm>
            <a:off x="571396" y="2537617"/>
            <a:ext cx="3631327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00000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Proposed by:</a:t>
            </a:r>
            <a:r>
              <a:rPr lang="en-US" sz="1350" dirty="0">
                <a:solidFill>
                  <a:srgbClr val="00000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 Berkeley Lab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71396" y="2895191"/>
            <a:ext cx="5257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4A5565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Lawrence Berkeley National Laboratory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80956" y="3962530"/>
            <a:ext cx="56769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00000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Core Purpose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80956" y="4419609"/>
            <a:ext cx="5562600" cy="800100"/>
          </a:xfrm>
          <a:custGeom>
            <a:avLst/>
            <a:gdLst/>
            <a:ahLst/>
            <a:cxnLst/>
            <a:rect l="l" t="t" r="r" b="b"/>
            <a:pathLst>
              <a:path w="5562600" h="800100">
                <a:moveTo>
                  <a:pt x="76202" y="0"/>
                </a:moveTo>
                <a:lnTo>
                  <a:pt x="5486398" y="0"/>
                </a:lnTo>
                <a:cubicBezTo>
                  <a:pt x="5528483" y="0"/>
                  <a:pt x="5562600" y="34117"/>
                  <a:pt x="5562600" y="76202"/>
                </a:cubicBezTo>
                <a:lnTo>
                  <a:pt x="5562600" y="723898"/>
                </a:lnTo>
                <a:cubicBezTo>
                  <a:pt x="5562600" y="765983"/>
                  <a:pt x="5528483" y="800100"/>
                  <a:pt x="5486398" y="800100"/>
                </a:cubicBezTo>
                <a:lnTo>
                  <a:pt x="76202" y="800100"/>
                </a:lnTo>
                <a:cubicBezTo>
                  <a:pt x="34117" y="800100"/>
                  <a:pt x="0" y="765983"/>
                  <a:pt x="0" y="7238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F9FAFB"/>
          </a:solidFill>
        </p:spPr>
      </p:sp>
      <p:sp>
        <p:nvSpPr>
          <p:cNvPr id="13" name="Shape 11"/>
          <p:cNvSpPr/>
          <p:nvPr/>
        </p:nvSpPr>
        <p:spPr>
          <a:xfrm>
            <a:off x="533338" y="4571991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8B0000"/>
          </a:solidFill>
        </p:spPr>
      </p:sp>
      <p:sp>
        <p:nvSpPr>
          <p:cNvPr id="14" name="Shape 12"/>
          <p:cNvSpPr/>
          <p:nvPr/>
        </p:nvSpPr>
        <p:spPr>
          <a:xfrm>
            <a:off x="647608" y="468623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23825" y="61912"/>
                </a:moveTo>
                <a:cubicBezTo>
                  <a:pt x="123825" y="75575"/>
                  <a:pt x="119390" y="88196"/>
                  <a:pt x="111919" y="98435"/>
                </a:cubicBezTo>
                <a:lnTo>
                  <a:pt x="149602" y="136148"/>
                </a:lnTo>
                <a:cubicBezTo>
                  <a:pt x="153323" y="139869"/>
                  <a:pt x="153323" y="145911"/>
                  <a:pt x="149602" y="149632"/>
                </a:cubicBezTo>
                <a:cubicBezTo>
                  <a:pt x="145881" y="153353"/>
                  <a:pt x="139839" y="153353"/>
                  <a:pt x="136118" y="149632"/>
                </a:cubicBezTo>
                <a:lnTo>
                  <a:pt x="98435" y="111919"/>
                </a:lnTo>
                <a:cubicBezTo>
                  <a:pt x="88196" y="119390"/>
                  <a:pt x="75575" y="123825"/>
                  <a:pt x="61912" y="123825"/>
                </a:cubicBezTo>
                <a:cubicBezTo>
                  <a:pt x="27712" y="123825"/>
                  <a:pt x="0" y="96113"/>
                  <a:pt x="0" y="61912"/>
                </a:cubicBezTo>
                <a:cubicBezTo>
                  <a:pt x="0" y="27712"/>
                  <a:pt x="27712" y="0"/>
                  <a:pt x="61912" y="0"/>
                </a:cubicBezTo>
                <a:cubicBezTo>
                  <a:pt x="96113" y="0"/>
                  <a:pt x="123825" y="27712"/>
                  <a:pt x="123825" y="61912"/>
                </a:cubicBezTo>
                <a:close/>
                <a:moveTo>
                  <a:pt x="61912" y="104775"/>
                </a:moveTo>
                <a:cubicBezTo>
                  <a:pt x="85569" y="104775"/>
                  <a:pt x="104775" y="85569"/>
                  <a:pt x="104775" y="61912"/>
                </a:cubicBezTo>
                <a:cubicBezTo>
                  <a:pt x="104775" y="38256"/>
                  <a:pt x="85569" y="19050"/>
                  <a:pt x="61912" y="19050"/>
                </a:cubicBezTo>
                <a:cubicBezTo>
                  <a:pt x="38256" y="19050"/>
                  <a:pt x="19050" y="38256"/>
                  <a:pt x="19050" y="61912"/>
                </a:cubicBezTo>
                <a:cubicBezTo>
                  <a:pt x="19050" y="85569"/>
                  <a:pt x="38256" y="104775"/>
                  <a:pt x="61912" y="104775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15" name="Text 13"/>
          <p:cNvSpPr/>
          <p:nvPr/>
        </p:nvSpPr>
        <p:spPr>
          <a:xfrm>
            <a:off x="1066676" y="4571991"/>
            <a:ext cx="31813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00000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Identify program bottleneck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66676" y="4838691"/>
            <a:ext cx="3991832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4A5565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Determine if it's Compute Bound or Memory Bound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80956" y="5333898"/>
            <a:ext cx="5562600" cy="800100"/>
          </a:xfrm>
          <a:custGeom>
            <a:avLst/>
            <a:gdLst/>
            <a:ahLst/>
            <a:cxnLst/>
            <a:rect l="l" t="t" r="r" b="b"/>
            <a:pathLst>
              <a:path w="5562600" h="800100">
                <a:moveTo>
                  <a:pt x="76202" y="0"/>
                </a:moveTo>
                <a:lnTo>
                  <a:pt x="5486398" y="0"/>
                </a:lnTo>
                <a:cubicBezTo>
                  <a:pt x="5528483" y="0"/>
                  <a:pt x="5562600" y="34117"/>
                  <a:pt x="5562600" y="76202"/>
                </a:cubicBezTo>
                <a:lnTo>
                  <a:pt x="5562600" y="723898"/>
                </a:lnTo>
                <a:cubicBezTo>
                  <a:pt x="5562600" y="765983"/>
                  <a:pt x="5528483" y="800100"/>
                  <a:pt x="5486398" y="800100"/>
                </a:cubicBezTo>
                <a:lnTo>
                  <a:pt x="76202" y="800100"/>
                </a:lnTo>
                <a:cubicBezTo>
                  <a:pt x="34117" y="800100"/>
                  <a:pt x="0" y="765983"/>
                  <a:pt x="0" y="7238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F9FAFB"/>
          </a:solidFill>
        </p:spPr>
      </p:sp>
      <p:sp>
        <p:nvSpPr>
          <p:cNvPr id="18" name="Shape 16"/>
          <p:cNvSpPr/>
          <p:nvPr/>
        </p:nvSpPr>
        <p:spPr>
          <a:xfrm>
            <a:off x="533338" y="5486279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8B0000"/>
          </a:solidFill>
        </p:spPr>
      </p:sp>
      <p:sp>
        <p:nvSpPr>
          <p:cNvPr id="19" name="Shape 17"/>
          <p:cNvSpPr/>
          <p:nvPr/>
        </p:nvSpPr>
        <p:spPr>
          <a:xfrm>
            <a:off x="647608" y="5600533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91291" y="96768"/>
                </a:moveTo>
                <a:lnTo>
                  <a:pt x="48339" y="113288"/>
                </a:lnTo>
                <a:cubicBezTo>
                  <a:pt x="42565" y="115520"/>
                  <a:pt x="36880" y="109835"/>
                  <a:pt x="39112" y="104061"/>
                </a:cubicBezTo>
                <a:lnTo>
                  <a:pt x="55632" y="61109"/>
                </a:lnTo>
                <a:cubicBezTo>
                  <a:pt x="56614" y="58579"/>
                  <a:pt x="58579" y="56614"/>
                  <a:pt x="61109" y="55632"/>
                </a:cubicBezTo>
                <a:lnTo>
                  <a:pt x="104061" y="39112"/>
                </a:lnTo>
                <a:cubicBezTo>
                  <a:pt x="109835" y="36880"/>
                  <a:pt x="115520" y="42565"/>
                  <a:pt x="113288" y="48339"/>
                </a:cubicBezTo>
                <a:lnTo>
                  <a:pt x="96768" y="91291"/>
                </a:lnTo>
                <a:cubicBezTo>
                  <a:pt x="95816" y="93821"/>
                  <a:pt x="93821" y="95786"/>
                  <a:pt x="91291" y="96768"/>
                </a:cubicBezTo>
                <a:close/>
                <a:moveTo>
                  <a:pt x="85725" y="76200"/>
                </a:moveTo>
                <a:cubicBezTo>
                  <a:pt x="85725" y="70943"/>
                  <a:pt x="81457" y="66675"/>
                  <a:pt x="76200" y="66675"/>
                </a:cubicBezTo>
                <a:cubicBezTo>
                  <a:pt x="70943" y="66675"/>
                  <a:pt x="66675" y="70943"/>
                  <a:pt x="66675" y="76200"/>
                </a:cubicBezTo>
                <a:cubicBezTo>
                  <a:pt x="66675" y="81457"/>
                  <a:pt x="70943" y="85725"/>
                  <a:pt x="76200" y="85725"/>
                </a:cubicBezTo>
                <a:cubicBezTo>
                  <a:pt x="81457" y="85725"/>
                  <a:pt x="85725" y="81457"/>
                  <a:pt x="85725" y="76200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20" name="Text 18"/>
          <p:cNvSpPr/>
          <p:nvPr/>
        </p:nvSpPr>
        <p:spPr>
          <a:xfrm>
            <a:off x="1066676" y="5486279"/>
            <a:ext cx="2813662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00000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Guide optimization direction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066676" y="5752988"/>
            <a:ext cx="4109062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4A5565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Choose optimization strategy based on bottleneck type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248338" y="990488"/>
            <a:ext cx="5562600" cy="4838700"/>
          </a:xfrm>
          <a:custGeom>
            <a:avLst/>
            <a:gdLst/>
            <a:ahLst/>
            <a:cxnLst/>
            <a:rect l="l" t="t" r="r" b="b"/>
            <a:pathLst>
              <a:path w="5562600" h="4838700">
                <a:moveTo>
                  <a:pt x="76210" y="0"/>
                </a:moveTo>
                <a:lnTo>
                  <a:pt x="5486390" y="0"/>
                </a:lnTo>
                <a:cubicBezTo>
                  <a:pt x="5528480" y="0"/>
                  <a:pt x="5562600" y="34120"/>
                  <a:pt x="5562600" y="76210"/>
                </a:cubicBezTo>
                <a:lnTo>
                  <a:pt x="5562600" y="4762490"/>
                </a:lnTo>
                <a:cubicBezTo>
                  <a:pt x="5562600" y="4804580"/>
                  <a:pt x="5528480" y="4838700"/>
                  <a:pt x="5486390" y="4838700"/>
                </a:cubicBezTo>
                <a:lnTo>
                  <a:pt x="76210" y="4838700"/>
                </a:lnTo>
                <a:cubicBezTo>
                  <a:pt x="34120" y="4838700"/>
                  <a:pt x="0" y="4804580"/>
                  <a:pt x="0" y="4762490"/>
                </a:cubicBezTo>
                <a:lnTo>
                  <a:pt x="0" y="76210"/>
                </a:lnTo>
                <a:cubicBezTo>
                  <a:pt x="0" y="34148"/>
                  <a:pt x="34148" y="0"/>
                  <a:pt x="76210" y="0"/>
                </a:cubicBezTo>
                <a:close/>
              </a:path>
            </a:pathLst>
          </a:custGeom>
          <a:solidFill>
            <a:srgbClr val="F9FAFB"/>
          </a:solidFill>
        </p:spPr>
      </p:sp>
      <p:pic>
        <p:nvPicPr>
          <p:cNvPr id="23" name="Image 0" descr="https://kimi-web-img.moonshot.cn/img/docs.nersc.gov/d28ce70be21ca7ebc1be0fbaf5e0362e6619459e.png"/>
          <p:cNvPicPr>
            <a:picLocks noChangeAspect="1"/>
          </p:cNvPicPr>
          <p:nvPr/>
        </p:nvPicPr>
        <p:blipFill>
          <a:blip r:embed="rId4"/>
          <a:srcRect t="20" b="20"/>
          <a:stretch>
            <a:fillRect/>
          </a:stretch>
        </p:blipFill>
        <p:spPr>
          <a:xfrm>
            <a:off x="6400720" y="1399208"/>
            <a:ext cx="5257800" cy="4019550"/>
          </a:xfrm>
          <a:prstGeom prst="roundRect">
            <a:avLst>
              <a:gd name="adj" fmla="val 0"/>
            </a:avLst>
          </a:prstGeom>
        </p:spPr>
      </p:pic>
      <p:sp>
        <p:nvSpPr>
          <p:cNvPr id="24" name="Text 21"/>
          <p:cNvSpPr/>
          <p:nvPr/>
        </p:nvSpPr>
        <p:spPr>
          <a:xfrm>
            <a:off x="6210238" y="5905370"/>
            <a:ext cx="5638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6A7282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Image source: NERSC - Roofline Performance Model</a:t>
            </a:r>
            <a:endParaRPr lang="en-US" sz="1600" dirty="0"/>
          </a:p>
        </p:txBody>
      </p:sp>
      <p:sp>
        <p:nvSpPr>
          <p:cNvPr id="25" name="灯片编号占位符 24"/>
          <p:cNvSpPr>
            <a:spLocks noGrp="1"/>
          </p:cNvSpPr>
          <p:nvPr>
            <p:ph type="sldNum" sz="quarter" idx="4294967295"/>
          </p:nvPr>
        </p:nvSpPr>
        <p:spPr>
          <a:xfrm>
            <a:off x="0" y="593725"/>
            <a:ext cx="419100" cy="365125"/>
          </a:xfrm>
        </p:spPr>
        <p:txBody>
          <a:bodyPr/>
          <a:lstStyle/>
          <a:p>
            <a:fld id="{B33F7469-D28B-482F-B1B6-3B8E7CF51519}" type="slidenum">
              <a:rPr lang="zh-CN" altLang="en-US" smtClean="0"/>
              <a:t>16</a:t>
            </a:fld>
            <a:endParaRPr lang="zh-CN" altLang="en-US" dirty="0"/>
          </a:p>
        </p:txBody>
      </p:sp>
    </p:spTree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7479" y="627026"/>
            <a:ext cx="11601450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00000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Roofline Model Axes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390433" y="1281318"/>
            <a:ext cx="5543455" cy="2495455"/>
          </a:xfrm>
          <a:custGeom>
            <a:avLst/>
            <a:gdLst/>
            <a:ahLst/>
            <a:cxnLst/>
            <a:rect l="l" t="t" r="r" b="b"/>
            <a:pathLst>
              <a:path w="5543455" h="2495455">
                <a:moveTo>
                  <a:pt x="114292" y="0"/>
                </a:moveTo>
                <a:lnTo>
                  <a:pt x="5429163" y="0"/>
                </a:lnTo>
                <a:cubicBezTo>
                  <a:pt x="5492285" y="0"/>
                  <a:pt x="5543455" y="51170"/>
                  <a:pt x="5543455" y="114292"/>
                </a:cubicBezTo>
                <a:lnTo>
                  <a:pt x="5543455" y="2381163"/>
                </a:lnTo>
                <a:cubicBezTo>
                  <a:pt x="5543455" y="2444285"/>
                  <a:pt x="5492285" y="2495455"/>
                  <a:pt x="5429163" y="2495455"/>
                </a:cubicBezTo>
                <a:lnTo>
                  <a:pt x="114292" y="2495455"/>
                </a:lnTo>
                <a:cubicBezTo>
                  <a:pt x="51170" y="2495455"/>
                  <a:pt x="0" y="2444285"/>
                  <a:pt x="0" y="2381163"/>
                </a:cubicBezTo>
                <a:lnTo>
                  <a:pt x="0" y="114292"/>
                </a:lnTo>
                <a:cubicBezTo>
                  <a:pt x="0" y="51212"/>
                  <a:pt x="51212" y="0"/>
                  <a:pt x="114292" y="0"/>
                </a:cubicBezTo>
                <a:close/>
              </a:path>
            </a:pathLst>
          </a:custGeom>
          <a:gradFill flip="none" rotWithShape="1">
            <a:gsLst>
              <a:gs pos="0">
                <a:srgbClr val="F9FAFB"/>
              </a:gs>
              <a:gs pos="100000">
                <a:srgbClr val="FFFFFF"/>
              </a:gs>
            </a:gsLst>
            <a:lin ang="2700000" scaled="1"/>
          </a:gradFill>
          <a:ln w="25274">
            <a:solidFill>
              <a:srgbClr val="E5E7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28484" y="1519369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8B0000"/>
          </a:solidFill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80860" y="1671751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4403" y="181541"/>
                </a:moveTo>
                <a:lnTo>
                  <a:pt x="181541" y="224403"/>
                </a:lnTo>
                <a:cubicBezTo>
                  <a:pt x="177433" y="228511"/>
                  <a:pt x="171316" y="229716"/>
                  <a:pt x="165958" y="227484"/>
                </a:cubicBezTo>
                <a:cubicBezTo>
                  <a:pt x="160600" y="225251"/>
                  <a:pt x="157163" y="220072"/>
                  <a:pt x="157163" y="214313"/>
                </a:cubicBezTo>
                <a:lnTo>
                  <a:pt x="157163" y="185738"/>
                </a:lnTo>
                <a:lnTo>
                  <a:pt x="14288" y="185738"/>
                </a:lnTo>
                <a:cubicBezTo>
                  <a:pt x="6385" y="185738"/>
                  <a:pt x="0" y="179353"/>
                  <a:pt x="0" y="171450"/>
                </a:cubicBezTo>
                <a:cubicBezTo>
                  <a:pt x="0" y="163547"/>
                  <a:pt x="6385" y="157163"/>
                  <a:pt x="14288" y="157163"/>
                </a:cubicBezTo>
                <a:lnTo>
                  <a:pt x="157163" y="157163"/>
                </a:lnTo>
                <a:lnTo>
                  <a:pt x="157163" y="128588"/>
                </a:lnTo>
                <a:cubicBezTo>
                  <a:pt x="157163" y="122828"/>
                  <a:pt x="160645" y="117604"/>
                  <a:pt x="166003" y="115372"/>
                </a:cubicBezTo>
                <a:cubicBezTo>
                  <a:pt x="171361" y="113139"/>
                  <a:pt x="177478" y="114389"/>
                  <a:pt x="181585" y="118452"/>
                </a:cubicBezTo>
                <a:lnTo>
                  <a:pt x="224448" y="161315"/>
                </a:lnTo>
                <a:cubicBezTo>
                  <a:pt x="230029" y="166896"/>
                  <a:pt x="230029" y="175959"/>
                  <a:pt x="224448" y="181541"/>
                </a:cubicBezTo>
                <a:close/>
                <a:moveTo>
                  <a:pt x="4197" y="67241"/>
                </a:moveTo>
                <a:cubicBezTo>
                  <a:pt x="-1384" y="61659"/>
                  <a:pt x="-1384" y="52596"/>
                  <a:pt x="4197" y="47015"/>
                </a:cubicBezTo>
                <a:lnTo>
                  <a:pt x="47059" y="4152"/>
                </a:lnTo>
                <a:cubicBezTo>
                  <a:pt x="51167" y="45"/>
                  <a:pt x="57284" y="-1161"/>
                  <a:pt x="62642" y="1072"/>
                </a:cubicBezTo>
                <a:cubicBezTo>
                  <a:pt x="68000" y="3304"/>
                  <a:pt x="71438" y="8528"/>
                  <a:pt x="71438" y="14288"/>
                </a:cubicBezTo>
                <a:lnTo>
                  <a:pt x="71438" y="42863"/>
                </a:lnTo>
                <a:lnTo>
                  <a:pt x="214313" y="42863"/>
                </a:lnTo>
                <a:cubicBezTo>
                  <a:pt x="222215" y="42863"/>
                  <a:pt x="228600" y="49247"/>
                  <a:pt x="228600" y="57150"/>
                </a:cubicBezTo>
                <a:cubicBezTo>
                  <a:pt x="228600" y="65053"/>
                  <a:pt x="222215" y="71438"/>
                  <a:pt x="214313" y="71438"/>
                </a:cubicBezTo>
                <a:lnTo>
                  <a:pt x="71438" y="71438"/>
                </a:lnTo>
                <a:lnTo>
                  <a:pt x="71438" y="100013"/>
                </a:lnTo>
                <a:cubicBezTo>
                  <a:pt x="71438" y="105772"/>
                  <a:pt x="67955" y="110996"/>
                  <a:pt x="62597" y="113228"/>
                </a:cubicBezTo>
                <a:cubicBezTo>
                  <a:pt x="57239" y="115461"/>
                  <a:pt x="51122" y="114211"/>
                  <a:pt x="47015" y="110148"/>
                </a:cubicBezTo>
                <a:lnTo>
                  <a:pt x="4152" y="67285"/>
                </a:lnTo>
                <a:close/>
              </a:path>
            </a:pathLst>
          </a:custGeom>
          <a:solidFill>
            <a:srgbClr val="FFFFFF"/>
          </a:solidFill>
        </p:spPr>
      </p:sp>
      <p:sp>
        <p:nvSpPr>
          <p:cNvPr id="6" name="Text 4"/>
          <p:cNvSpPr/>
          <p:nvPr/>
        </p:nvSpPr>
        <p:spPr>
          <a:xfrm>
            <a:off x="1314203" y="1633688"/>
            <a:ext cx="1521145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00000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X-Axis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28484" y="2205086"/>
            <a:ext cx="5067300" cy="1333500"/>
          </a:xfrm>
          <a:custGeom>
            <a:avLst/>
            <a:gdLst/>
            <a:ahLst/>
            <a:cxnLst/>
            <a:rect l="l" t="t" r="r" b="b"/>
            <a:pathLst>
              <a:path w="5067300" h="1333500">
                <a:moveTo>
                  <a:pt x="76196" y="0"/>
                </a:moveTo>
                <a:lnTo>
                  <a:pt x="4991104" y="0"/>
                </a:lnTo>
                <a:cubicBezTo>
                  <a:pt x="5033186" y="0"/>
                  <a:pt x="5067300" y="34114"/>
                  <a:pt x="5067300" y="76196"/>
                </a:cubicBezTo>
                <a:lnTo>
                  <a:pt x="5067300" y="1257304"/>
                </a:lnTo>
                <a:cubicBezTo>
                  <a:pt x="5067300" y="1299386"/>
                  <a:pt x="5033186" y="1333500"/>
                  <a:pt x="4991104" y="1333500"/>
                </a:cubicBezTo>
                <a:lnTo>
                  <a:pt x="76196" y="1333500"/>
                </a:lnTo>
                <a:cubicBezTo>
                  <a:pt x="34114" y="1333500"/>
                  <a:pt x="0" y="1299386"/>
                  <a:pt x="0" y="1257304"/>
                </a:cubicBezTo>
                <a:lnTo>
                  <a:pt x="0" y="76196"/>
                </a:lnTo>
                <a:cubicBezTo>
                  <a:pt x="0" y="34142"/>
                  <a:pt x="34142" y="0"/>
                  <a:pt x="76196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28575" dist="9525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18925" y="2395530"/>
            <a:ext cx="47815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8B000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Arithmetic Intensity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18925" y="2738421"/>
            <a:ext cx="47720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00000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= FLOPs / Byte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18925" y="3119383"/>
            <a:ext cx="47625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4A5565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Arithmetic Intensity: floating-point operations per byte of data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90433" y="3910683"/>
            <a:ext cx="5543455" cy="2495455"/>
          </a:xfrm>
          <a:custGeom>
            <a:avLst/>
            <a:gdLst/>
            <a:ahLst/>
            <a:cxnLst/>
            <a:rect l="l" t="t" r="r" b="b"/>
            <a:pathLst>
              <a:path w="5543455" h="2495455">
                <a:moveTo>
                  <a:pt x="114292" y="0"/>
                </a:moveTo>
                <a:lnTo>
                  <a:pt x="5429163" y="0"/>
                </a:lnTo>
                <a:cubicBezTo>
                  <a:pt x="5492285" y="0"/>
                  <a:pt x="5543455" y="51170"/>
                  <a:pt x="5543455" y="114292"/>
                </a:cubicBezTo>
                <a:lnTo>
                  <a:pt x="5543455" y="2381163"/>
                </a:lnTo>
                <a:cubicBezTo>
                  <a:pt x="5543455" y="2444285"/>
                  <a:pt x="5492285" y="2495455"/>
                  <a:pt x="5429163" y="2495455"/>
                </a:cubicBezTo>
                <a:lnTo>
                  <a:pt x="114292" y="2495455"/>
                </a:lnTo>
                <a:cubicBezTo>
                  <a:pt x="51170" y="2495455"/>
                  <a:pt x="0" y="2444285"/>
                  <a:pt x="0" y="2381163"/>
                </a:cubicBezTo>
                <a:lnTo>
                  <a:pt x="0" y="114292"/>
                </a:lnTo>
                <a:cubicBezTo>
                  <a:pt x="0" y="51212"/>
                  <a:pt x="51212" y="0"/>
                  <a:pt x="114292" y="0"/>
                </a:cubicBezTo>
                <a:close/>
              </a:path>
            </a:pathLst>
          </a:custGeom>
          <a:gradFill flip="none" rotWithShape="1">
            <a:gsLst>
              <a:gs pos="0">
                <a:srgbClr val="F9FAFB"/>
              </a:gs>
              <a:gs pos="100000">
                <a:srgbClr val="FFFFFF"/>
              </a:gs>
            </a:gsLst>
            <a:lin ang="2700000" scaled="1"/>
          </a:gradFill>
          <a:ln w="25274">
            <a:solidFill>
              <a:srgbClr val="E5E7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8484" y="4148735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8B0000"/>
          </a:solidFill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80860" y="4301116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81541" y="224403"/>
                </a:moveTo>
                <a:lnTo>
                  <a:pt x="224403" y="181541"/>
                </a:lnTo>
                <a:cubicBezTo>
                  <a:pt x="228511" y="177433"/>
                  <a:pt x="229716" y="171316"/>
                  <a:pt x="227484" y="165958"/>
                </a:cubicBezTo>
                <a:cubicBezTo>
                  <a:pt x="225251" y="160600"/>
                  <a:pt x="220072" y="157163"/>
                  <a:pt x="214313" y="157163"/>
                </a:cubicBezTo>
                <a:lnTo>
                  <a:pt x="185738" y="157163"/>
                </a:lnTo>
                <a:lnTo>
                  <a:pt x="185738" y="14288"/>
                </a:lnTo>
                <a:cubicBezTo>
                  <a:pt x="185738" y="6385"/>
                  <a:pt x="179353" y="0"/>
                  <a:pt x="171450" y="0"/>
                </a:cubicBezTo>
                <a:cubicBezTo>
                  <a:pt x="163547" y="0"/>
                  <a:pt x="157163" y="6385"/>
                  <a:pt x="157163" y="14288"/>
                </a:cubicBezTo>
                <a:lnTo>
                  <a:pt x="157163" y="157163"/>
                </a:lnTo>
                <a:lnTo>
                  <a:pt x="128588" y="157163"/>
                </a:lnTo>
                <a:cubicBezTo>
                  <a:pt x="122828" y="157163"/>
                  <a:pt x="117604" y="160645"/>
                  <a:pt x="115372" y="166003"/>
                </a:cubicBezTo>
                <a:cubicBezTo>
                  <a:pt x="113139" y="171361"/>
                  <a:pt x="114389" y="177478"/>
                  <a:pt x="118452" y="181585"/>
                </a:cubicBezTo>
                <a:lnTo>
                  <a:pt x="161315" y="224448"/>
                </a:lnTo>
                <a:cubicBezTo>
                  <a:pt x="166896" y="230029"/>
                  <a:pt x="175959" y="230029"/>
                  <a:pt x="181541" y="224448"/>
                </a:cubicBezTo>
                <a:close/>
                <a:moveTo>
                  <a:pt x="67241" y="4197"/>
                </a:moveTo>
                <a:cubicBezTo>
                  <a:pt x="61659" y="-1384"/>
                  <a:pt x="52596" y="-1384"/>
                  <a:pt x="47015" y="4197"/>
                </a:cubicBezTo>
                <a:lnTo>
                  <a:pt x="4152" y="47059"/>
                </a:lnTo>
                <a:cubicBezTo>
                  <a:pt x="45" y="51167"/>
                  <a:pt x="-1161" y="57284"/>
                  <a:pt x="1072" y="62642"/>
                </a:cubicBezTo>
                <a:cubicBezTo>
                  <a:pt x="3304" y="68000"/>
                  <a:pt x="8528" y="71438"/>
                  <a:pt x="14288" y="71438"/>
                </a:cubicBezTo>
                <a:lnTo>
                  <a:pt x="42863" y="71438"/>
                </a:lnTo>
                <a:lnTo>
                  <a:pt x="42863" y="214313"/>
                </a:lnTo>
                <a:cubicBezTo>
                  <a:pt x="42863" y="222215"/>
                  <a:pt x="49247" y="228600"/>
                  <a:pt x="57150" y="228600"/>
                </a:cubicBezTo>
                <a:cubicBezTo>
                  <a:pt x="65053" y="228600"/>
                  <a:pt x="71438" y="222215"/>
                  <a:pt x="71438" y="214313"/>
                </a:cubicBezTo>
                <a:lnTo>
                  <a:pt x="71438" y="71438"/>
                </a:lnTo>
                <a:lnTo>
                  <a:pt x="100013" y="71438"/>
                </a:lnTo>
                <a:cubicBezTo>
                  <a:pt x="105772" y="71438"/>
                  <a:pt x="110996" y="67955"/>
                  <a:pt x="113228" y="62597"/>
                </a:cubicBezTo>
                <a:cubicBezTo>
                  <a:pt x="115461" y="57239"/>
                  <a:pt x="114211" y="51122"/>
                  <a:pt x="110148" y="47015"/>
                </a:cubicBezTo>
                <a:lnTo>
                  <a:pt x="67285" y="4152"/>
                </a:lnTo>
                <a:close/>
              </a:path>
            </a:pathLst>
          </a:custGeom>
          <a:solidFill>
            <a:srgbClr val="FFFFFF"/>
          </a:solidFill>
        </p:spPr>
      </p:sp>
      <p:sp>
        <p:nvSpPr>
          <p:cNvPr id="14" name="Text 12"/>
          <p:cNvSpPr/>
          <p:nvPr/>
        </p:nvSpPr>
        <p:spPr>
          <a:xfrm>
            <a:off x="1314203" y="4263062"/>
            <a:ext cx="1301405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00000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Y-Axis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28484" y="4834460"/>
            <a:ext cx="5067300" cy="1333500"/>
          </a:xfrm>
          <a:custGeom>
            <a:avLst/>
            <a:gdLst/>
            <a:ahLst/>
            <a:cxnLst/>
            <a:rect l="l" t="t" r="r" b="b"/>
            <a:pathLst>
              <a:path w="5067300" h="1333500">
                <a:moveTo>
                  <a:pt x="76196" y="0"/>
                </a:moveTo>
                <a:lnTo>
                  <a:pt x="4991104" y="0"/>
                </a:lnTo>
                <a:cubicBezTo>
                  <a:pt x="5033186" y="0"/>
                  <a:pt x="5067300" y="34114"/>
                  <a:pt x="5067300" y="76196"/>
                </a:cubicBezTo>
                <a:lnTo>
                  <a:pt x="5067300" y="1257304"/>
                </a:lnTo>
                <a:cubicBezTo>
                  <a:pt x="5067300" y="1299386"/>
                  <a:pt x="5033186" y="1333500"/>
                  <a:pt x="4991104" y="1333500"/>
                </a:cubicBezTo>
                <a:lnTo>
                  <a:pt x="76196" y="1333500"/>
                </a:lnTo>
                <a:cubicBezTo>
                  <a:pt x="34114" y="1333500"/>
                  <a:pt x="0" y="1299386"/>
                  <a:pt x="0" y="1257304"/>
                </a:cubicBezTo>
                <a:lnTo>
                  <a:pt x="0" y="76196"/>
                </a:lnTo>
                <a:cubicBezTo>
                  <a:pt x="0" y="34142"/>
                  <a:pt x="34142" y="0"/>
                  <a:pt x="76196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28575" dist="9525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18925" y="5024895"/>
            <a:ext cx="47815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8B000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Performance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18925" y="5367795"/>
            <a:ext cx="47720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00000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= FLOPS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18925" y="5748749"/>
            <a:ext cx="47625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4A5565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Performance: floating-point operations per second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248338" y="990488"/>
            <a:ext cx="5562600" cy="4905375"/>
          </a:xfrm>
          <a:custGeom>
            <a:avLst/>
            <a:gdLst/>
            <a:ahLst/>
            <a:cxnLst/>
            <a:rect l="l" t="t" r="r" b="b"/>
            <a:pathLst>
              <a:path w="5562600" h="4905375">
                <a:moveTo>
                  <a:pt x="76180" y="0"/>
                </a:moveTo>
                <a:lnTo>
                  <a:pt x="5486420" y="0"/>
                </a:lnTo>
                <a:cubicBezTo>
                  <a:pt x="5528493" y="0"/>
                  <a:pt x="5562600" y="34107"/>
                  <a:pt x="5562600" y="76180"/>
                </a:cubicBezTo>
                <a:lnTo>
                  <a:pt x="5562600" y="4829195"/>
                </a:lnTo>
                <a:cubicBezTo>
                  <a:pt x="5562600" y="4871268"/>
                  <a:pt x="5528493" y="4905375"/>
                  <a:pt x="5486420" y="4905375"/>
                </a:cubicBezTo>
                <a:lnTo>
                  <a:pt x="76180" y="4905375"/>
                </a:lnTo>
                <a:cubicBezTo>
                  <a:pt x="34107" y="4905375"/>
                  <a:pt x="0" y="4871268"/>
                  <a:pt x="0" y="4829195"/>
                </a:cubicBezTo>
                <a:lnTo>
                  <a:pt x="0" y="76180"/>
                </a:lnTo>
                <a:cubicBezTo>
                  <a:pt x="0" y="34135"/>
                  <a:pt x="34135" y="0"/>
                  <a:pt x="76180" y="0"/>
                </a:cubicBezTo>
                <a:close/>
              </a:path>
            </a:pathLst>
          </a:custGeom>
          <a:solidFill>
            <a:srgbClr val="F9FAFB"/>
          </a:solidFill>
        </p:spPr>
      </p:sp>
      <p:pic>
        <p:nvPicPr>
          <p:cNvPr id="20" name="Image 0" descr="https://kimi-web-img.moonshot.cn/img/docs.nersc.gov/32c29514ada344dffec73ad758a886f3d3e0992d.png"/>
          <p:cNvPicPr>
            <a:picLocks noChangeAspect="1"/>
          </p:cNvPicPr>
          <p:nvPr/>
        </p:nvPicPr>
        <p:blipFill>
          <a:blip r:embed="rId4"/>
          <a:srcRect t="25" b="25"/>
          <a:stretch>
            <a:fillRect/>
          </a:stretch>
        </p:blipFill>
        <p:spPr>
          <a:xfrm>
            <a:off x="6400720" y="1142870"/>
            <a:ext cx="5257800" cy="4600575"/>
          </a:xfrm>
          <a:prstGeom prst="roundRect">
            <a:avLst>
              <a:gd name="adj" fmla="val 0"/>
            </a:avLst>
          </a:prstGeom>
        </p:spPr>
      </p:pic>
      <p:sp>
        <p:nvSpPr>
          <p:cNvPr id="21" name="Text 18"/>
          <p:cNvSpPr/>
          <p:nvPr/>
        </p:nvSpPr>
        <p:spPr>
          <a:xfrm>
            <a:off x="6210238" y="5974380"/>
            <a:ext cx="5638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6A7282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Image source: NERSC - Roofline Hierarchy</a:t>
            </a:r>
            <a:endParaRPr lang="en-US" sz="1600" dirty="0"/>
          </a:p>
        </p:txBody>
      </p:sp>
      <p:sp>
        <p:nvSpPr>
          <p:cNvPr id="22" name="灯片编号占位符 21"/>
          <p:cNvSpPr>
            <a:spLocks noGrp="1"/>
          </p:cNvSpPr>
          <p:nvPr>
            <p:ph type="sldNum" sz="quarter" idx="4294967295"/>
          </p:nvPr>
        </p:nvSpPr>
        <p:spPr>
          <a:xfrm>
            <a:off x="0" y="593725"/>
            <a:ext cx="419100" cy="365125"/>
          </a:xfrm>
        </p:spPr>
        <p:txBody>
          <a:bodyPr/>
          <a:lstStyle/>
          <a:p>
            <a:fld id="{B33F7469-D28B-482F-B1B6-3B8E7CF51519}" type="slidenum">
              <a:rPr lang="zh-CN" altLang="en-US" smtClean="0"/>
              <a:t>17</a:t>
            </a:fld>
            <a:endParaRPr lang="zh-CN" altLang="en-US" dirty="0"/>
          </a:p>
        </p:txBody>
      </p:sp>
    </p:spTree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79894" y="632887"/>
            <a:ext cx="11601450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00000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Two Constraints in the Roofline Model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399911" y="1658704"/>
            <a:ext cx="5543455" cy="1524000"/>
          </a:xfrm>
          <a:custGeom>
            <a:avLst/>
            <a:gdLst/>
            <a:ahLst/>
            <a:cxnLst/>
            <a:rect l="l" t="t" r="r" b="b"/>
            <a:pathLst>
              <a:path w="5543455" h="1524000">
                <a:moveTo>
                  <a:pt x="37910" y="0"/>
                </a:moveTo>
                <a:lnTo>
                  <a:pt x="5429155" y="0"/>
                </a:lnTo>
                <a:cubicBezTo>
                  <a:pt x="5492239" y="0"/>
                  <a:pt x="5543455" y="51216"/>
                  <a:pt x="5543455" y="114300"/>
                </a:cubicBezTo>
                <a:lnTo>
                  <a:pt x="5543455" y="1409700"/>
                </a:lnTo>
                <a:cubicBezTo>
                  <a:pt x="5543455" y="1472784"/>
                  <a:pt x="5492239" y="1524000"/>
                  <a:pt x="5429155" y="1524000"/>
                </a:cubicBezTo>
                <a:lnTo>
                  <a:pt x="37910" y="1524000"/>
                </a:lnTo>
                <a:cubicBezTo>
                  <a:pt x="16973" y="1524000"/>
                  <a:pt x="0" y="1507027"/>
                  <a:pt x="0" y="1486090"/>
                </a:cubicBezTo>
                <a:lnTo>
                  <a:pt x="0" y="37910"/>
                </a:lnTo>
                <a:cubicBezTo>
                  <a:pt x="0" y="16987"/>
                  <a:pt x="16987" y="0"/>
                  <a:pt x="37910" y="0"/>
                </a:cubicBezTo>
                <a:close/>
              </a:path>
            </a:pathLst>
          </a:custGeom>
          <a:gradFill flip="none" rotWithShape="1">
            <a:gsLst>
              <a:gs pos="0">
                <a:srgbClr val="EFF6FF"/>
              </a:gs>
              <a:gs pos="100000">
                <a:srgbClr val="FFFFFF"/>
              </a:gs>
            </a:gsLst>
            <a:lin ang="2700000" scaled="1"/>
          </a:gradFill>
        </p:spPr>
      </p:sp>
      <p:sp>
        <p:nvSpPr>
          <p:cNvPr id="4" name="Shape 2"/>
          <p:cNvSpPr/>
          <p:nvPr/>
        </p:nvSpPr>
        <p:spPr>
          <a:xfrm>
            <a:off x="399911" y="1658704"/>
            <a:ext cx="37910" cy="1524000"/>
          </a:xfrm>
          <a:custGeom>
            <a:avLst/>
            <a:gdLst/>
            <a:ahLst/>
            <a:cxnLst/>
            <a:rect l="l" t="t" r="r" b="b"/>
            <a:pathLst>
              <a:path w="37910" h="1524000">
                <a:moveTo>
                  <a:pt x="37910" y="0"/>
                </a:moveTo>
                <a:lnTo>
                  <a:pt x="37910" y="0"/>
                </a:lnTo>
                <a:lnTo>
                  <a:pt x="37910" y="1524000"/>
                </a:lnTo>
                <a:lnTo>
                  <a:pt x="37910" y="1524000"/>
                </a:lnTo>
                <a:cubicBezTo>
                  <a:pt x="16973" y="1524000"/>
                  <a:pt x="0" y="1507027"/>
                  <a:pt x="0" y="1486090"/>
                </a:cubicBezTo>
                <a:lnTo>
                  <a:pt x="0" y="37910"/>
                </a:lnTo>
                <a:cubicBezTo>
                  <a:pt x="0" y="16987"/>
                  <a:pt x="16987" y="0"/>
                  <a:pt x="37910" y="0"/>
                </a:cubicBezTo>
                <a:close/>
              </a:path>
            </a:pathLst>
          </a:custGeom>
          <a:solidFill>
            <a:srgbClr val="2B7FFF"/>
          </a:solidFill>
        </p:spPr>
      </p:sp>
      <p:sp>
        <p:nvSpPr>
          <p:cNvPr id="5" name="Shape 3"/>
          <p:cNvSpPr/>
          <p:nvPr/>
        </p:nvSpPr>
        <p:spPr>
          <a:xfrm>
            <a:off x="609307" y="1849139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2B7FFF"/>
          </a:solidFill>
        </p:spPr>
      </p:sp>
      <p:sp>
        <p:nvSpPr>
          <p:cNvPr id="6" name="Text 4"/>
          <p:cNvSpPr/>
          <p:nvPr/>
        </p:nvSpPr>
        <p:spPr>
          <a:xfrm>
            <a:off x="779089" y="1944361"/>
            <a:ext cx="2095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80703" y="1944361"/>
            <a:ext cx="15811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00000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Bandwidth Line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09307" y="2420537"/>
            <a:ext cx="52292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00000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Memory Constraint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09307" y="2763437"/>
            <a:ext cx="52197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4A5565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Diagonal line representing memory bandwidth limit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99911" y="3334835"/>
            <a:ext cx="5543455" cy="1524000"/>
          </a:xfrm>
          <a:custGeom>
            <a:avLst/>
            <a:gdLst/>
            <a:ahLst/>
            <a:cxnLst/>
            <a:rect l="l" t="t" r="r" b="b"/>
            <a:pathLst>
              <a:path w="5543455" h="1524000">
                <a:moveTo>
                  <a:pt x="37910" y="0"/>
                </a:moveTo>
                <a:lnTo>
                  <a:pt x="5429155" y="0"/>
                </a:lnTo>
                <a:cubicBezTo>
                  <a:pt x="5492239" y="0"/>
                  <a:pt x="5543455" y="51216"/>
                  <a:pt x="5543455" y="114300"/>
                </a:cubicBezTo>
                <a:lnTo>
                  <a:pt x="5543455" y="1409700"/>
                </a:lnTo>
                <a:cubicBezTo>
                  <a:pt x="5543455" y="1472784"/>
                  <a:pt x="5492239" y="1524000"/>
                  <a:pt x="5429155" y="1524000"/>
                </a:cubicBezTo>
                <a:lnTo>
                  <a:pt x="37910" y="1524000"/>
                </a:lnTo>
                <a:cubicBezTo>
                  <a:pt x="16973" y="1524000"/>
                  <a:pt x="0" y="1507027"/>
                  <a:pt x="0" y="1486090"/>
                </a:cubicBezTo>
                <a:lnTo>
                  <a:pt x="0" y="37910"/>
                </a:lnTo>
                <a:cubicBezTo>
                  <a:pt x="0" y="16987"/>
                  <a:pt x="16987" y="0"/>
                  <a:pt x="37910" y="0"/>
                </a:cubicBezTo>
                <a:close/>
              </a:path>
            </a:pathLst>
          </a:custGeom>
          <a:gradFill flip="none" rotWithShape="1">
            <a:gsLst>
              <a:gs pos="0">
                <a:srgbClr val="FEF2F2"/>
              </a:gs>
              <a:gs pos="100000">
                <a:srgbClr val="FFFFFF"/>
              </a:gs>
            </a:gsLst>
            <a:lin ang="2700000" scaled="1"/>
          </a:gradFill>
        </p:spPr>
      </p:sp>
      <p:sp>
        <p:nvSpPr>
          <p:cNvPr id="11" name="Shape 9"/>
          <p:cNvSpPr/>
          <p:nvPr/>
        </p:nvSpPr>
        <p:spPr>
          <a:xfrm>
            <a:off x="399911" y="3334835"/>
            <a:ext cx="37910" cy="1524000"/>
          </a:xfrm>
          <a:custGeom>
            <a:avLst/>
            <a:gdLst/>
            <a:ahLst/>
            <a:cxnLst/>
            <a:rect l="l" t="t" r="r" b="b"/>
            <a:pathLst>
              <a:path w="37910" h="1524000">
                <a:moveTo>
                  <a:pt x="37910" y="0"/>
                </a:moveTo>
                <a:lnTo>
                  <a:pt x="37910" y="0"/>
                </a:lnTo>
                <a:lnTo>
                  <a:pt x="37910" y="1524000"/>
                </a:lnTo>
                <a:lnTo>
                  <a:pt x="37910" y="1524000"/>
                </a:lnTo>
                <a:cubicBezTo>
                  <a:pt x="16973" y="1524000"/>
                  <a:pt x="0" y="1507027"/>
                  <a:pt x="0" y="1486090"/>
                </a:cubicBezTo>
                <a:lnTo>
                  <a:pt x="0" y="37910"/>
                </a:lnTo>
                <a:cubicBezTo>
                  <a:pt x="0" y="16987"/>
                  <a:pt x="16987" y="0"/>
                  <a:pt x="37910" y="0"/>
                </a:cubicBezTo>
                <a:close/>
              </a:path>
            </a:pathLst>
          </a:custGeom>
          <a:solidFill>
            <a:srgbClr val="FB2C36"/>
          </a:solidFill>
        </p:spPr>
      </p:sp>
      <p:sp>
        <p:nvSpPr>
          <p:cNvPr id="12" name="Shape 10"/>
          <p:cNvSpPr/>
          <p:nvPr/>
        </p:nvSpPr>
        <p:spPr>
          <a:xfrm>
            <a:off x="609307" y="352527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FB2C36"/>
          </a:solidFill>
        </p:spPr>
      </p:sp>
      <p:sp>
        <p:nvSpPr>
          <p:cNvPr id="13" name="Text 11"/>
          <p:cNvSpPr/>
          <p:nvPr/>
        </p:nvSpPr>
        <p:spPr>
          <a:xfrm>
            <a:off x="779089" y="3620492"/>
            <a:ext cx="2095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180703" y="3620492"/>
            <a:ext cx="14954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00000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C</a:t>
            </a:r>
            <a:r>
              <a:rPr lang="en-US" sz="1500" b="1" dirty="0">
                <a:solidFill>
                  <a:srgbClr val="00000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Calibri" panose="020F0502020204030204" charset="0"/>
              </a:rPr>
              <a:t>om</a:t>
            </a:r>
            <a:r>
              <a:rPr lang="en-US" sz="1500" b="1" dirty="0">
                <a:solidFill>
                  <a:srgbClr val="00000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pute Roof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09307" y="4096667"/>
            <a:ext cx="52292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00000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Compute Ceiling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09307" y="4439567"/>
            <a:ext cx="52197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4A5565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Horizontal line representing theoretical peak performance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99911" y="5486353"/>
            <a:ext cx="5543455" cy="647700"/>
          </a:xfrm>
          <a:custGeom>
            <a:avLst/>
            <a:gdLst/>
            <a:ahLst/>
            <a:cxnLst/>
            <a:rect l="l" t="t" r="r" b="b"/>
            <a:pathLst>
              <a:path w="5543455" h="647700">
                <a:moveTo>
                  <a:pt x="37910" y="0"/>
                </a:moveTo>
                <a:lnTo>
                  <a:pt x="5429156" y="0"/>
                </a:lnTo>
                <a:cubicBezTo>
                  <a:pt x="5492282" y="0"/>
                  <a:pt x="5543455" y="51174"/>
                  <a:pt x="5543455" y="114300"/>
                </a:cubicBezTo>
                <a:lnTo>
                  <a:pt x="5543455" y="533400"/>
                </a:lnTo>
                <a:cubicBezTo>
                  <a:pt x="5543455" y="596526"/>
                  <a:pt x="5492282" y="647700"/>
                  <a:pt x="5429156" y="647700"/>
                </a:cubicBezTo>
                <a:lnTo>
                  <a:pt x="37910" y="647700"/>
                </a:lnTo>
                <a:cubicBezTo>
                  <a:pt x="16973" y="647700"/>
                  <a:pt x="0" y="630727"/>
                  <a:pt x="0" y="609790"/>
                </a:cubicBezTo>
                <a:lnTo>
                  <a:pt x="0" y="37910"/>
                </a:lnTo>
                <a:cubicBezTo>
                  <a:pt x="0" y="16987"/>
                  <a:pt x="16987" y="0"/>
                  <a:pt x="37910" y="0"/>
                </a:cubicBezTo>
                <a:close/>
              </a:path>
            </a:pathLst>
          </a:custGeom>
          <a:solidFill>
            <a:srgbClr val="8B0000">
              <a:alpha val="10196"/>
            </a:srgbClr>
          </a:solidFill>
        </p:spPr>
      </p:sp>
      <p:sp>
        <p:nvSpPr>
          <p:cNvPr id="18" name="Shape 16"/>
          <p:cNvSpPr/>
          <p:nvPr/>
        </p:nvSpPr>
        <p:spPr>
          <a:xfrm>
            <a:off x="399911" y="5486353"/>
            <a:ext cx="37910" cy="647700"/>
          </a:xfrm>
          <a:custGeom>
            <a:avLst/>
            <a:gdLst/>
            <a:ahLst/>
            <a:cxnLst/>
            <a:rect l="l" t="t" r="r" b="b"/>
            <a:pathLst>
              <a:path w="37910" h="647700">
                <a:moveTo>
                  <a:pt x="37910" y="0"/>
                </a:moveTo>
                <a:lnTo>
                  <a:pt x="37910" y="0"/>
                </a:lnTo>
                <a:lnTo>
                  <a:pt x="37910" y="647700"/>
                </a:lnTo>
                <a:lnTo>
                  <a:pt x="37910" y="647700"/>
                </a:lnTo>
                <a:cubicBezTo>
                  <a:pt x="16973" y="647700"/>
                  <a:pt x="0" y="630727"/>
                  <a:pt x="0" y="609790"/>
                </a:cubicBezTo>
                <a:lnTo>
                  <a:pt x="0" y="37910"/>
                </a:lnTo>
                <a:cubicBezTo>
                  <a:pt x="0" y="16987"/>
                  <a:pt x="16987" y="0"/>
                  <a:pt x="37910" y="0"/>
                </a:cubicBezTo>
                <a:close/>
              </a:path>
            </a:pathLst>
          </a:custGeom>
          <a:solidFill>
            <a:srgbClr val="8B0000"/>
          </a:solidFill>
        </p:spPr>
      </p:sp>
      <p:sp>
        <p:nvSpPr>
          <p:cNvPr id="19" name="Text 17"/>
          <p:cNvSpPr/>
          <p:nvPr/>
        </p:nvSpPr>
        <p:spPr>
          <a:xfrm>
            <a:off x="609307" y="5676798"/>
            <a:ext cx="52387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00000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Key Constraint:</a:t>
            </a:r>
            <a:r>
              <a:rPr lang="en-US" sz="1500" dirty="0">
                <a:solidFill>
                  <a:srgbClr val="00000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Program performance cannot exceed either of these two lines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248338" y="990488"/>
            <a:ext cx="5562600" cy="4838700"/>
          </a:xfrm>
          <a:custGeom>
            <a:avLst/>
            <a:gdLst/>
            <a:ahLst/>
            <a:cxnLst/>
            <a:rect l="l" t="t" r="r" b="b"/>
            <a:pathLst>
              <a:path w="5562600" h="4838700">
                <a:moveTo>
                  <a:pt x="76210" y="0"/>
                </a:moveTo>
                <a:lnTo>
                  <a:pt x="5486390" y="0"/>
                </a:lnTo>
                <a:cubicBezTo>
                  <a:pt x="5528480" y="0"/>
                  <a:pt x="5562600" y="34120"/>
                  <a:pt x="5562600" y="76210"/>
                </a:cubicBezTo>
                <a:lnTo>
                  <a:pt x="5562600" y="4762490"/>
                </a:lnTo>
                <a:cubicBezTo>
                  <a:pt x="5562600" y="4804580"/>
                  <a:pt x="5528480" y="4838700"/>
                  <a:pt x="5486390" y="4838700"/>
                </a:cubicBezTo>
                <a:lnTo>
                  <a:pt x="76210" y="4838700"/>
                </a:lnTo>
                <a:cubicBezTo>
                  <a:pt x="34120" y="4838700"/>
                  <a:pt x="0" y="4804580"/>
                  <a:pt x="0" y="4762490"/>
                </a:cubicBezTo>
                <a:lnTo>
                  <a:pt x="0" y="76210"/>
                </a:lnTo>
                <a:cubicBezTo>
                  <a:pt x="0" y="34148"/>
                  <a:pt x="34148" y="0"/>
                  <a:pt x="76210" y="0"/>
                </a:cubicBezTo>
                <a:close/>
              </a:path>
            </a:pathLst>
          </a:custGeom>
          <a:solidFill>
            <a:srgbClr val="F9FAFB"/>
          </a:solidFill>
        </p:spPr>
      </p:sp>
      <p:pic>
        <p:nvPicPr>
          <p:cNvPr id="21" name="Image 0" descr="https://kimi-web-img.moonshot.cn/img/jax-ml.github.io/67662590e056471341beb62575a215764e4ff01e.png"/>
          <p:cNvPicPr>
            <a:picLocks noChangeAspect="1"/>
          </p:cNvPicPr>
          <p:nvPr/>
        </p:nvPicPr>
        <p:blipFill>
          <a:blip r:embed="rId4"/>
          <a:srcRect t="9" b="9"/>
          <a:stretch>
            <a:fillRect/>
          </a:stretch>
        </p:blipFill>
        <p:spPr>
          <a:xfrm>
            <a:off x="6400720" y="1218614"/>
            <a:ext cx="5257800" cy="4381500"/>
          </a:xfrm>
          <a:prstGeom prst="roundRect">
            <a:avLst>
              <a:gd name="adj" fmla="val 0"/>
            </a:avLst>
          </a:prstGeom>
        </p:spPr>
      </p:pic>
      <p:sp>
        <p:nvSpPr>
          <p:cNvPr id="22" name="Text 19"/>
          <p:cNvSpPr/>
          <p:nvPr/>
        </p:nvSpPr>
        <p:spPr>
          <a:xfrm>
            <a:off x="6210238" y="5905370"/>
            <a:ext cx="5638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6A7282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Image source: JAX-ML - Roofline Model</a:t>
            </a:r>
            <a:endParaRPr lang="en-US" sz="1600" dirty="0"/>
          </a:p>
        </p:txBody>
      </p:sp>
      <p:sp>
        <p:nvSpPr>
          <p:cNvPr id="23" name="灯片编号占位符 22"/>
          <p:cNvSpPr>
            <a:spLocks noGrp="1"/>
          </p:cNvSpPr>
          <p:nvPr>
            <p:ph type="sldNum" sz="quarter" idx="4294967295"/>
          </p:nvPr>
        </p:nvSpPr>
        <p:spPr>
          <a:xfrm>
            <a:off x="0" y="593725"/>
            <a:ext cx="419100" cy="365125"/>
          </a:xfrm>
        </p:spPr>
        <p:txBody>
          <a:bodyPr/>
          <a:lstStyle/>
          <a:p>
            <a:fld id="{B33F7469-D28B-482F-B1B6-3B8E7CF51519}" type="slidenum">
              <a:rPr lang="zh-CN" altLang="en-US" smtClean="0"/>
              <a:t>18</a:t>
            </a:fld>
            <a:endParaRPr lang="zh-CN" altLang="en-US" dirty="0"/>
          </a:p>
        </p:txBody>
      </p:sp>
    </p:spTree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1617" y="618267"/>
            <a:ext cx="11601450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00000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Arithmetic Intensity Example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0956" y="1389082"/>
            <a:ext cx="56769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8B000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Matrix Multiplication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0956" y="1846152"/>
            <a:ext cx="5562600" cy="914400"/>
          </a:xfrm>
          <a:custGeom>
            <a:avLst/>
            <a:gdLst/>
            <a:ahLst/>
            <a:cxnLst/>
            <a:rect l="l" t="t" r="r" b="b"/>
            <a:pathLst>
              <a:path w="5562600" h="914400">
                <a:moveTo>
                  <a:pt x="76197" y="0"/>
                </a:moveTo>
                <a:lnTo>
                  <a:pt x="5486403" y="0"/>
                </a:lnTo>
                <a:cubicBezTo>
                  <a:pt x="5528485" y="0"/>
                  <a:pt x="5562600" y="34115"/>
                  <a:pt x="5562600" y="76197"/>
                </a:cubicBezTo>
                <a:lnTo>
                  <a:pt x="5562600" y="838203"/>
                </a:lnTo>
                <a:cubicBezTo>
                  <a:pt x="5562600" y="880285"/>
                  <a:pt x="5528485" y="914400"/>
                  <a:pt x="5486403" y="914400"/>
                </a:cubicBezTo>
                <a:lnTo>
                  <a:pt x="76197" y="914400"/>
                </a:lnTo>
                <a:cubicBezTo>
                  <a:pt x="34115" y="914400"/>
                  <a:pt x="0" y="880285"/>
                  <a:pt x="0" y="838203"/>
                </a:cubicBezTo>
                <a:lnTo>
                  <a:pt x="0" y="76197"/>
                </a:lnTo>
                <a:cubicBezTo>
                  <a:pt x="0" y="34143"/>
                  <a:pt x="34143" y="0"/>
                  <a:pt x="76197" y="0"/>
                </a:cubicBezTo>
                <a:close/>
              </a:path>
            </a:pathLst>
          </a:custGeom>
          <a:solidFill>
            <a:srgbClr val="F9FAFB"/>
          </a:solidFill>
        </p:spPr>
      </p:sp>
      <p:sp>
        <p:nvSpPr>
          <p:cNvPr id="5" name="Text 3"/>
          <p:cNvSpPr/>
          <p:nvPr/>
        </p:nvSpPr>
        <p:spPr>
          <a:xfrm>
            <a:off x="533338" y="1998534"/>
            <a:ext cx="53435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4A5565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Computation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33338" y="2303296"/>
            <a:ext cx="53721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00000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O(n³)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80956" y="2912748"/>
            <a:ext cx="5562600" cy="914400"/>
          </a:xfrm>
          <a:custGeom>
            <a:avLst/>
            <a:gdLst/>
            <a:ahLst/>
            <a:cxnLst/>
            <a:rect l="l" t="t" r="r" b="b"/>
            <a:pathLst>
              <a:path w="5562600" h="914400">
                <a:moveTo>
                  <a:pt x="76197" y="0"/>
                </a:moveTo>
                <a:lnTo>
                  <a:pt x="5486403" y="0"/>
                </a:lnTo>
                <a:cubicBezTo>
                  <a:pt x="5528485" y="0"/>
                  <a:pt x="5562600" y="34115"/>
                  <a:pt x="5562600" y="76197"/>
                </a:cubicBezTo>
                <a:lnTo>
                  <a:pt x="5562600" y="838203"/>
                </a:lnTo>
                <a:cubicBezTo>
                  <a:pt x="5562600" y="880285"/>
                  <a:pt x="5528485" y="914400"/>
                  <a:pt x="5486403" y="914400"/>
                </a:cubicBezTo>
                <a:lnTo>
                  <a:pt x="76197" y="914400"/>
                </a:lnTo>
                <a:cubicBezTo>
                  <a:pt x="34115" y="914400"/>
                  <a:pt x="0" y="880285"/>
                  <a:pt x="0" y="838203"/>
                </a:cubicBezTo>
                <a:lnTo>
                  <a:pt x="0" y="76197"/>
                </a:lnTo>
                <a:cubicBezTo>
                  <a:pt x="0" y="34143"/>
                  <a:pt x="34143" y="0"/>
                  <a:pt x="76197" y="0"/>
                </a:cubicBezTo>
                <a:close/>
              </a:path>
            </a:pathLst>
          </a:custGeom>
          <a:solidFill>
            <a:srgbClr val="F9FAFB"/>
          </a:solidFill>
        </p:spPr>
      </p:sp>
      <p:sp>
        <p:nvSpPr>
          <p:cNvPr id="8" name="Text 6"/>
          <p:cNvSpPr/>
          <p:nvPr/>
        </p:nvSpPr>
        <p:spPr>
          <a:xfrm>
            <a:off x="533338" y="3065138"/>
            <a:ext cx="53435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4A5565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Data Volume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33338" y="3369901"/>
            <a:ext cx="53721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00000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O(n²)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99911" y="4055543"/>
            <a:ext cx="5543455" cy="990600"/>
          </a:xfrm>
          <a:custGeom>
            <a:avLst/>
            <a:gdLst/>
            <a:ahLst/>
            <a:cxnLst/>
            <a:rect l="l" t="t" r="r" b="b"/>
            <a:pathLst>
              <a:path w="5543455" h="990600">
                <a:moveTo>
                  <a:pt x="37910" y="0"/>
                </a:moveTo>
                <a:lnTo>
                  <a:pt x="5429160" y="0"/>
                </a:lnTo>
                <a:cubicBezTo>
                  <a:pt x="5492241" y="0"/>
                  <a:pt x="5543455" y="51214"/>
                  <a:pt x="5543455" y="114295"/>
                </a:cubicBezTo>
                <a:lnTo>
                  <a:pt x="5543455" y="876305"/>
                </a:lnTo>
                <a:cubicBezTo>
                  <a:pt x="5543455" y="939386"/>
                  <a:pt x="5492241" y="990600"/>
                  <a:pt x="5429160" y="990600"/>
                </a:cubicBezTo>
                <a:lnTo>
                  <a:pt x="37910" y="990600"/>
                </a:lnTo>
                <a:cubicBezTo>
                  <a:pt x="16973" y="990600"/>
                  <a:pt x="0" y="973627"/>
                  <a:pt x="0" y="952690"/>
                </a:cubicBezTo>
                <a:lnTo>
                  <a:pt x="0" y="37910"/>
                </a:lnTo>
                <a:cubicBezTo>
                  <a:pt x="0" y="16987"/>
                  <a:pt x="16987" y="0"/>
                  <a:pt x="37910" y="0"/>
                </a:cubicBezTo>
                <a:close/>
              </a:path>
            </a:pathLst>
          </a:custGeom>
          <a:solidFill>
            <a:srgbClr val="8B0000">
              <a:alpha val="10196"/>
            </a:srgbClr>
          </a:solidFill>
        </p:spPr>
      </p:sp>
      <p:sp>
        <p:nvSpPr>
          <p:cNvPr id="11" name="Shape 9"/>
          <p:cNvSpPr/>
          <p:nvPr/>
        </p:nvSpPr>
        <p:spPr>
          <a:xfrm>
            <a:off x="399911" y="4055543"/>
            <a:ext cx="37910" cy="990600"/>
          </a:xfrm>
          <a:custGeom>
            <a:avLst/>
            <a:gdLst/>
            <a:ahLst/>
            <a:cxnLst/>
            <a:rect l="l" t="t" r="r" b="b"/>
            <a:pathLst>
              <a:path w="37910" h="990600">
                <a:moveTo>
                  <a:pt x="37910" y="0"/>
                </a:moveTo>
                <a:lnTo>
                  <a:pt x="37910" y="0"/>
                </a:lnTo>
                <a:lnTo>
                  <a:pt x="37910" y="990600"/>
                </a:lnTo>
                <a:lnTo>
                  <a:pt x="37910" y="990600"/>
                </a:lnTo>
                <a:cubicBezTo>
                  <a:pt x="16973" y="990600"/>
                  <a:pt x="0" y="973627"/>
                  <a:pt x="0" y="952690"/>
                </a:cubicBezTo>
                <a:lnTo>
                  <a:pt x="0" y="37910"/>
                </a:lnTo>
                <a:cubicBezTo>
                  <a:pt x="0" y="16987"/>
                  <a:pt x="16987" y="0"/>
                  <a:pt x="37910" y="0"/>
                </a:cubicBezTo>
                <a:close/>
              </a:path>
            </a:pathLst>
          </a:custGeom>
          <a:solidFill>
            <a:srgbClr val="8B0000"/>
          </a:solidFill>
        </p:spPr>
      </p:sp>
      <p:sp>
        <p:nvSpPr>
          <p:cNvPr id="12" name="Text 10"/>
          <p:cNvSpPr/>
          <p:nvPr/>
        </p:nvSpPr>
        <p:spPr>
          <a:xfrm>
            <a:off x="609307" y="4245987"/>
            <a:ext cx="52387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00000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Therefore: Arithmetic Intensity is </a:t>
            </a:r>
            <a:r>
              <a:rPr lang="en-US" sz="1500" b="1" dirty="0">
                <a:solidFill>
                  <a:srgbClr val="8B000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very high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09307" y="4588887"/>
            <a:ext cx="52292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364153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= O(n³) / O(n²) = O(n)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99911" y="5486353"/>
            <a:ext cx="5543455" cy="647700"/>
          </a:xfrm>
          <a:custGeom>
            <a:avLst/>
            <a:gdLst/>
            <a:ahLst/>
            <a:cxnLst/>
            <a:rect l="l" t="t" r="r" b="b"/>
            <a:pathLst>
              <a:path w="5543455" h="647700">
                <a:moveTo>
                  <a:pt x="37910" y="0"/>
                </a:moveTo>
                <a:lnTo>
                  <a:pt x="5429156" y="0"/>
                </a:lnTo>
                <a:cubicBezTo>
                  <a:pt x="5492282" y="0"/>
                  <a:pt x="5543455" y="51174"/>
                  <a:pt x="5543455" y="114300"/>
                </a:cubicBezTo>
                <a:lnTo>
                  <a:pt x="5543455" y="533400"/>
                </a:lnTo>
                <a:cubicBezTo>
                  <a:pt x="5543455" y="596526"/>
                  <a:pt x="5492282" y="647700"/>
                  <a:pt x="5429156" y="647700"/>
                </a:cubicBezTo>
                <a:lnTo>
                  <a:pt x="37910" y="647700"/>
                </a:lnTo>
                <a:cubicBezTo>
                  <a:pt x="16973" y="647700"/>
                  <a:pt x="0" y="630727"/>
                  <a:pt x="0" y="609790"/>
                </a:cubicBezTo>
                <a:lnTo>
                  <a:pt x="0" y="37910"/>
                </a:lnTo>
                <a:cubicBezTo>
                  <a:pt x="0" y="16987"/>
                  <a:pt x="16987" y="0"/>
                  <a:pt x="37910" y="0"/>
                </a:cubicBezTo>
                <a:close/>
              </a:path>
            </a:pathLst>
          </a:custGeom>
          <a:solidFill>
            <a:srgbClr val="F0FDF4"/>
          </a:solidFill>
        </p:spPr>
      </p:sp>
      <p:sp>
        <p:nvSpPr>
          <p:cNvPr id="15" name="Shape 13"/>
          <p:cNvSpPr/>
          <p:nvPr/>
        </p:nvSpPr>
        <p:spPr>
          <a:xfrm>
            <a:off x="399911" y="5486353"/>
            <a:ext cx="37910" cy="647700"/>
          </a:xfrm>
          <a:custGeom>
            <a:avLst/>
            <a:gdLst/>
            <a:ahLst/>
            <a:cxnLst/>
            <a:rect l="l" t="t" r="r" b="b"/>
            <a:pathLst>
              <a:path w="37910" h="647700">
                <a:moveTo>
                  <a:pt x="37910" y="0"/>
                </a:moveTo>
                <a:lnTo>
                  <a:pt x="37910" y="0"/>
                </a:lnTo>
                <a:lnTo>
                  <a:pt x="37910" y="647700"/>
                </a:lnTo>
                <a:lnTo>
                  <a:pt x="37910" y="647700"/>
                </a:lnTo>
                <a:cubicBezTo>
                  <a:pt x="16973" y="647700"/>
                  <a:pt x="0" y="630727"/>
                  <a:pt x="0" y="609790"/>
                </a:cubicBezTo>
                <a:lnTo>
                  <a:pt x="0" y="37910"/>
                </a:lnTo>
                <a:cubicBezTo>
                  <a:pt x="0" y="16987"/>
                  <a:pt x="16987" y="0"/>
                  <a:pt x="37910" y="0"/>
                </a:cubicBezTo>
                <a:close/>
              </a:path>
            </a:pathLst>
          </a:custGeom>
          <a:solidFill>
            <a:srgbClr val="00C950"/>
          </a:solidFill>
        </p:spPr>
      </p:sp>
      <p:sp>
        <p:nvSpPr>
          <p:cNvPr id="16" name="Text 14"/>
          <p:cNvSpPr/>
          <p:nvPr/>
        </p:nvSpPr>
        <p:spPr>
          <a:xfrm>
            <a:off x="609307" y="5676788"/>
            <a:ext cx="52387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00000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Note:</a:t>
            </a:r>
            <a:r>
              <a:rPr lang="en-US" sz="1500" dirty="0">
                <a:solidFill>
                  <a:srgbClr val="00000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more likely to be </a:t>
            </a:r>
            <a:r>
              <a:rPr lang="en-US" sz="1500" b="1" dirty="0">
                <a:solidFill>
                  <a:srgbClr val="00A63E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Compute Bound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248338" y="990488"/>
            <a:ext cx="5562600" cy="5438775"/>
          </a:xfrm>
          <a:custGeom>
            <a:avLst/>
            <a:gdLst/>
            <a:ahLst/>
            <a:cxnLst/>
            <a:rect l="l" t="t" r="r" b="b"/>
            <a:pathLst>
              <a:path w="5562600" h="5438775">
                <a:moveTo>
                  <a:pt x="76197" y="0"/>
                </a:moveTo>
                <a:lnTo>
                  <a:pt x="5486403" y="0"/>
                </a:lnTo>
                <a:cubicBezTo>
                  <a:pt x="5528485" y="0"/>
                  <a:pt x="5562600" y="34115"/>
                  <a:pt x="5562600" y="76197"/>
                </a:cubicBezTo>
                <a:lnTo>
                  <a:pt x="5562600" y="5362578"/>
                </a:lnTo>
                <a:cubicBezTo>
                  <a:pt x="5562600" y="5404660"/>
                  <a:pt x="5528485" y="5438775"/>
                  <a:pt x="5486403" y="5438775"/>
                </a:cubicBezTo>
                <a:lnTo>
                  <a:pt x="76197" y="5438775"/>
                </a:lnTo>
                <a:cubicBezTo>
                  <a:pt x="34115" y="5438775"/>
                  <a:pt x="0" y="5404660"/>
                  <a:pt x="0" y="5362578"/>
                </a:cubicBezTo>
                <a:lnTo>
                  <a:pt x="0" y="76197"/>
                </a:lnTo>
                <a:cubicBezTo>
                  <a:pt x="0" y="34143"/>
                  <a:pt x="34143" y="0"/>
                  <a:pt x="76197" y="0"/>
                </a:cubicBezTo>
                <a:close/>
              </a:path>
            </a:pathLst>
          </a:custGeom>
          <a:solidFill>
            <a:srgbClr val="F9FAFB"/>
          </a:solidFill>
        </p:spPr>
      </p:sp>
      <p:pic>
        <p:nvPicPr>
          <p:cNvPr id="18" name="Image 0" descr="https://kimi-web-img.moonshot.cn/img/eli.thegreenplace.net/795dae746c60570eee1b1e5066aaa2bdddcc8f54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7043791" y="1142870"/>
            <a:ext cx="3971925" cy="5133975"/>
          </a:xfrm>
          <a:prstGeom prst="roundRect">
            <a:avLst>
              <a:gd name="adj" fmla="val 0"/>
            </a:avLst>
          </a:prstGeom>
        </p:spPr>
      </p:pic>
      <p:sp>
        <p:nvSpPr>
          <p:cNvPr id="19" name="Text 16"/>
          <p:cNvSpPr/>
          <p:nvPr/>
        </p:nvSpPr>
        <p:spPr>
          <a:xfrm>
            <a:off x="6210238" y="6505268"/>
            <a:ext cx="5638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6A7282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Image source: Eli Bendersky - Matrix Multiplication</a:t>
            </a:r>
            <a:endParaRPr lang="en-US" sz="1600" dirty="0"/>
          </a:p>
        </p:txBody>
      </p:sp>
      <p:sp>
        <p:nvSpPr>
          <p:cNvPr id="20" name="灯片编号占位符 19"/>
          <p:cNvSpPr>
            <a:spLocks noGrp="1"/>
          </p:cNvSpPr>
          <p:nvPr>
            <p:ph type="sldNum" sz="quarter" idx="4294967295"/>
          </p:nvPr>
        </p:nvSpPr>
        <p:spPr>
          <a:xfrm>
            <a:off x="0" y="593725"/>
            <a:ext cx="419100" cy="365125"/>
          </a:xfrm>
        </p:spPr>
        <p:txBody>
          <a:bodyPr/>
          <a:lstStyle/>
          <a:p>
            <a:fld id="{B33F7469-D28B-482F-B1B6-3B8E7CF51519}" type="slidenum">
              <a:rPr lang="zh-CN" altLang="en-US" smtClean="0"/>
              <a:t>19</a:t>
            </a:fld>
            <a:endParaRPr lang="zh-CN" altLang="en-US" dirty="0"/>
          </a:p>
        </p:txBody>
      </p:sp>
    </p:spTree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705" y="615294"/>
            <a:ext cx="11601450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00000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Memory Bound Example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0956" y="1131161"/>
            <a:ext cx="56769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8B000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Vector Addition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0956" y="1605824"/>
            <a:ext cx="5562600" cy="1504950"/>
          </a:xfrm>
          <a:custGeom>
            <a:avLst/>
            <a:gdLst/>
            <a:ahLst/>
            <a:cxnLst/>
            <a:rect l="l" t="t" r="r" b="b"/>
            <a:pathLst>
              <a:path w="5562600" h="1504950">
                <a:moveTo>
                  <a:pt x="114301" y="0"/>
                </a:moveTo>
                <a:lnTo>
                  <a:pt x="5448299" y="0"/>
                </a:lnTo>
                <a:cubicBezTo>
                  <a:pt x="5511426" y="0"/>
                  <a:pt x="5562600" y="51174"/>
                  <a:pt x="5562600" y="114301"/>
                </a:cubicBezTo>
                <a:lnTo>
                  <a:pt x="5562600" y="1390649"/>
                </a:lnTo>
                <a:cubicBezTo>
                  <a:pt x="5562600" y="1453776"/>
                  <a:pt x="5511426" y="1504950"/>
                  <a:pt x="5448299" y="1504950"/>
                </a:cubicBezTo>
                <a:lnTo>
                  <a:pt x="114301" y="1504950"/>
                </a:lnTo>
                <a:cubicBezTo>
                  <a:pt x="51174" y="1504950"/>
                  <a:pt x="0" y="1453776"/>
                  <a:pt x="0" y="1390649"/>
                </a:cubicBezTo>
                <a:lnTo>
                  <a:pt x="0" y="114301"/>
                </a:lnTo>
                <a:cubicBezTo>
                  <a:pt x="0" y="51217"/>
                  <a:pt x="51217" y="0"/>
                  <a:pt x="114301" y="0"/>
                </a:cubicBezTo>
                <a:close/>
              </a:path>
            </a:pathLst>
          </a:custGeom>
          <a:solidFill>
            <a:srgbClr val="F9FAFB"/>
          </a:solidFill>
        </p:spPr>
      </p:sp>
      <p:sp>
        <p:nvSpPr>
          <p:cNvPr id="5" name="Text 3"/>
          <p:cNvSpPr/>
          <p:nvPr/>
        </p:nvSpPr>
        <p:spPr>
          <a:xfrm>
            <a:off x="571396" y="1796259"/>
            <a:ext cx="52768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00000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C[i] = A[i] + B[i]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71396" y="2186699"/>
            <a:ext cx="5181600" cy="18955"/>
          </a:xfrm>
          <a:custGeom>
            <a:avLst/>
            <a:gdLst/>
            <a:ahLst/>
            <a:cxnLst/>
            <a:rect l="l" t="t" r="r" b="b"/>
            <a:pathLst>
              <a:path w="5181600" h="18955">
                <a:moveTo>
                  <a:pt x="0" y="0"/>
                </a:moveTo>
                <a:lnTo>
                  <a:pt x="5181600" y="0"/>
                </a:lnTo>
                <a:lnTo>
                  <a:pt x="5181600" y="18955"/>
                </a:lnTo>
                <a:lnTo>
                  <a:pt x="0" y="18955"/>
                </a:lnTo>
                <a:lnTo>
                  <a:pt x="0" y="0"/>
                </a:lnTo>
                <a:close/>
              </a:path>
            </a:pathLst>
          </a:custGeom>
          <a:solidFill>
            <a:srgbClr val="D1D5DC"/>
          </a:solidFill>
        </p:spPr>
      </p:sp>
      <p:sp>
        <p:nvSpPr>
          <p:cNvPr id="7" name="Text 5"/>
          <p:cNvSpPr/>
          <p:nvPr/>
        </p:nvSpPr>
        <p:spPr>
          <a:xfrm>
            <a:off x="571396" y="2310423"/>
            <a:ext cx="52673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00000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Operation:</a:t>
            </a:r>
            <a:r>
              <a:rPr lang="en-US" sz="1350" dirty="0">
                <a:solidFill>
                  <a:srgbClr val="00000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 1 addition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71396" y="2653323"/>
            <a:ext cx="52673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00000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Data:</a:t>
            </a:r>
            <a:r>
              <a:rPr lang="en-US" sz="1350" dirty="0">
                <a:solidFill>
                  <a:srgbClr val="00000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 Read A[i], B[i], write C[i]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80956" y="3339039"/>
            <a:ext cx="5562600" cy="495300"/>
          </a:xfrm>
          <a:custGeom>
            <a:avLst/>
            <a:gdLst/>
            <a:ahLst/>
            <a:cxnLst/>
            <a:rect l="l" t="t" r="r" b="b"/>
            <a:pathLst>
              <a:path w="5562600" h="495300">
                <a:moveTo>
                  <a:pt x="76202" y="0"/>
                </a:moveTo>
                <a:lnTo>
                  <a:pt x="5486398" y="0"/>
                </a:lnTo>
                <a:cubicBezTo>
                  <a:pt x="5528483" y="0"/>
                  <a:pt x="5562600" y="34117"/>
                  <a:pt x="5562600" y="76202"/>
                </a:cubicBezTo>
                <a:lnTo>
                  <a:pt x="5562600" y="419098"/>
                </a:lnTo>
                <a:cubicBezTo>
                  <a:pt x="5562600" y="461183"/>
                  <a:pt x="5528483" y="495300"/>
                  <a:pt x="5486398" y="495300"/>
                </a:cubicBezTo>
                <a:lnTo>
                  <a:pt x="76202" y="495300"/>
                </a:lnTo>
                <a:cubicBezTo>
                  <a:pt x="34117" y="495300"/>
                  <a:pt x="0" y="461183"/>
                  <a:pt x="0" y="419098"/>
                </a:cubicBezTo>
                <a:lnTo>
                  <a:pt x="0" y="76202"/>
                </a:lnTo>
                <a:cubicBezTo>
                  <a:pt x="0" y="34117"/>
                  <a:pt x="34117" y="0"/>
                  <a:pt x="76202" y="0"/>
                </a:cubicBezTo>
                <a:close/>
              </a:path>
            </a:pathLst>
          </a:custGeom>
          <a:solidFill>
            <a:srgbClr val="F9FAFB"/>
          </a:solidFill>
        </p:spPr>
      </p:sp>
      <p:sp>
        <p:nvSpPr>
          <p:cNvPr id="10" name="Shape 8"/>
          <p:cNvSpPr/>
          <p:nvPr/>
        </p:nvSpPr>
        <p:spPr>
          <a:xfrm>
            <a:off x="542830" y="3491346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23812" y="0"/>
                </a:moveTo>
                <a:cubicBezTo>
                  <a:pt x="10678" y="0"/>
                  <a:pt x="0" y="10678"/>
                  <a:pt x="0" y="23812"/>
                </a:cubicBezTo>
                <a:lnTo>
                  <a:pt x="0" y="166688"/>
                </a:lnTo>
                <a:cubicBezTo>
                  <a:pt x="0" y="179822"/>
                  <a:pt x="10678" y="190500"/>
                  <a:pt x="23812" y="190500"/>
                </a:cubicBezTo>
                <a:lnTo>
                  <a:pt x="119063" y="190500"/>
                </a:lnTo>
                <a:cubicBezTo>
                  <a:pt x="132197" y="190500"/>
                  <a:pt x="142875" y="179822"/>
                  <a:pt x="142875" y="166688"/>
                </a:cubicBezTo>
                <a:lnTo>
                  <a:pt x="142875" y="23812"/>
                </a:lnTo>
                <a:cubicBezTo>
                  <a:pt x="142875" y="10678"/>
                  <a:pt x="132197" y="0"/>
                  <a:pt x="119063" y="0"/>
                </a:cubicBezTo>
                <a:lnTo>
                  <a:pt x="23812" y="0"/>
                </a:lnTo>
                <a:close/>
                <a:moveTo>
                  <a:pt x="35719" y="23812"/>
                </a:moveTo>
                <a:lnTo>
                  <a:pt x="107156" y="23812"/>
                </a:lnTo>
                <a:cubicBezTo>
                  <a:pt x="113742" y="23812"/>
                  <a:pt x="119063" y="29133"/>
                  <a:pt x="119063" y="35719"/>
                </a:cubicBezTo>
                <a:lnTo>
                  <a:pt x="119063" y="47625"/>
                </a:lnTo>
                <a:cubicBezTo>
                  <a:pt x="119063" y="54211"/>
                  <a:pt x="113742" y="59531"/>
                  <a:pt x="107156" y="59531"/>
                </a:cubicBezTo>
                <a:lnTo>
                  <a:pt x="35719" y="59531"/>
                </a:lnTo>
                <a:cubicBezTo>
                  <a:pt x="29133" y="59531"/>
                  <a:pt x="23812" y="54211"/>
                  <a:pt x="23812" y="47625"/>
                </a:cubicBezTo>
                <a:lnTo>
                  <a:pt x="23812" y="35719"/>
                </a:lnTo>
                <a:cubicBezTo>
                  <a:pt x="23812" y="29133"/>
                  <a:pt x="29133" y="23812"/>
                  <a:pt x="35719" y="23812"/>
                </a:cubicBezTo>
                <a:close/>
                <a:moveTo>
                  <a:pt x="41672" y="86320"/>
                </a:moveTo>
                <a:cubicBezTo>
                  <a:pt x="41672" y="91249"/>
                  <a:pt x="37671" y="95250"/>
                  <a:pt x="32742" y="95250"/>
                </a:cubicBezTo>
                <a:cubicBezTo>
                  <a:pt x="27814" y="95250"/>
                  <a:pt x="23812" y="91249"/>
                  <a:pt x="23812" y="86320"/>
                </a:cubicBezTo>
                <a:cubicBezTo>
                  <a:pt x="23812" y="81392"/>
                  <a:pt x="27814" y="77391"/>
                  <a:pt x="32742" y="77391"/>
                </a:cubicBezTo>
                <a:cubicBezTo>
                  <a:pt x="37671" y="77391"/>
                  <a:pt x="41672" y="81392"/>
                  <a:pt x="41672" y="86320"/>
                </a:cubicBezTo>
                <a:close/>
                <a:moveTo>
                  <a:pt x="71438" y="95250"/>
                </a:moveTo>
                <a:cubicBezTo>
                  <a:pt x="66509" y="95250"/>
                  <a:pt x="62508" y="91249"/>
                  <a:pt x="62508" y="86320"/>
                </a:cubicBezTo>
                <a:cubicBezTo>
                  <a:pt x="62508" y="81392"/>
                  <a:pt x="66509" y="77391"/>
                  <a:pt x="71438" y="77391"/>
                </a:cubicBezTo>
                <a:cubicBezTo>
                  <a:pt x="76366" y="77391"/>
                  <a:pt x="80367" y="81392"/>
                  <a:pt x="80367" y="86320"/>
                </a:cubicBezTo>
                <a:cubicBezTo>
                  <a:pt x="80367" y="91249"/>
                  <a:pt x="76366" y="95250"/>
                  <a:pt x="71438" y="95250"/>
                </a:cubicBezTo>
                <a:close/>
                <a:moveTo>
                  <a:pt x="119063" y="86320"/>
                </a:moveTo>
                <a:cubicBezTo>
                  <a:pt x="119063" y="91249"/>
                  <a:pt x="115061" y="95250"/>
                  <a:pt x="110133" y="95250"/>
                </a:cubicBezTo>
                <a:cubicBezTo>
                  <a:pt x="105204" y="95250"/>
                  <a:pt x="101203" y="91249"/>
                  <a:pt x="101203" y="86320"/>
                </a:cubicBezTo>
                <a:cubicBezTo>
                  <a:pt x="101203" y="81392"/>
                  <a:pt x="105204" y="77391"/>
                  <a:pt x="110133" y="77391"/>
                </a:cubicBezTo>
                <a:cubicBezTo>
                  <a:pt x="115061" y="77391"/>
                  <a:pt x="119063" y="81392"/>
                  <a:pt x="119063" y="86320"/>
                </a:cubicBezTo>
                <a:close/>
                <a:moveTo>
                  <a:pt x="32742" y="130969"/>
                </a:moveTo>
                <a:cubicBezTo>
                  <a:pt x="27814" y="130969"/>
                  <a:pt x="23812" y="126967"/>
                  <a:pt x="23812" y="122039"/>
                </a:cubicBezTo>
                <a:cubicBezTo>
                  <a:pt x="23812" y="117111"/>
                  <a:pt x="27814" y="113109"/>
                  <a:pt x="32742" y="113109"/>
                </a:cubicBezTo>
                <a:cubicBezTo>
                  <a:pt x="37671" y="113109"/>
                  <a:pt x="41672" y="117111"/>
                  <a:pt x="41672" y="122039"/>
                </a:cubicBezTo>
                <a:cubicBezTo>
                  <a:pt x="41672" y="126967"/>
                  <a:pt x="37671" y="130969"/>
                  <a:pt x="32742" y="130969"/>
                </a:cubicBezTo>
                <a:close/>
                <a:moveTo>
                  <a:pt x="80367" y="122039"/>
                </a:moveTo>
                <a:cubicBezTo>
                  <a:pt x="80367" y="126967"/>
                  <a:pt x="76366" y="130969"/>
                  <a:pt x="71438" y="130969"/>
                </a:cubicBezTo>
                <a:cubicBezTo>
                  <a:pt x="66509" y="130969"/>
                  <a:pt x="62508" y="126967"/>
                  <a:pt x="62508" y="122039"/>
                </a:cubicBezTo>
                <a:cubicBezTo>
                  <a:pt x="62508" y="117111"/>
                  <a:pt x="66509" y="113109"/>
                  <a:pt x="71438" y="113109"/>
                </a:cubicBezTo>
                <a:cubicBezTo>
                  <a:pt x="76366" y="113109"/>
                  <a:pt x="80367" y="117111"/>
                  <a:pt x="80367" y="122039"/>
                </a:cubicBezTo>
                <a:close/>
                <a:moveTo>
                  <a:pt x="110133" y="130969"/>
                </a:moveTo>
                <a:cubicBezTo>
                  <a:pt x="105204" y="130969"/>
                  <a:pt x="101203" y="126967"/>
                  <a:pt x="101203" y="122039"/>
                </a:cubicBezTo>
                <a:cubicBezTo>
                  <a:pt x="101203" y="117111"/>
                  <a:pt x="105204" y="113109"/>
                  <a:pt x="110133" y="113109"/>
                </a:cubicBezTo>
                <a:cubicBezTo>
                  <a:pt x="115061" y="113109"/>
                  <a:pt x="119063" y="117111"/>
                  <a:pt x="119063" y="122039"/>
                </a:cubicBezTo>
                <a:cubicBezTo>
                  <a:pt x="119063" y="126967"/>
                  <a:pt x="115061" y="130969"/>
                  <a:pt x="110133" y="130969"/>
                </a:cubicBezTo>
                <a:close/>
                <a:moveTo>
                  <a:pt x="23812" y="157758"/>
                </a:moveTo>
                <a:cubicBezTo>
                  <a:pt x="23812" y="152809"/>
                  <a:pt x="27794" y="148828"/>
                  <a:pt x="32742" y="148828"/>
                </a:cubicBezTo>
                <a:lnTo>
                  <a:pt x="74414" y="148828"/>
                </a:lnTo>
                <a:cubicBezTo>
                  <a:pt x="79363" y="148828"/>
                  <a:pt x="83344" y="152809"/>
                  <a:pt x="83344" y="157758"/>
                </a:cubicBezTo>
                <a:cubicBezTo>
                  <a:pt x="83344" y="162706"/>
                  <a:pt x="79363" y="166688"/>
                  <a:pt x="74414" y="166688"/>
                </a:cubicBezTo>
                <a:lnTo>
                  <a:pt x="32742" y="166688"/>
                </a:lnTo>
                <a:cubicBezTo>
                  <a:pt x="27794" y="166688"/>
                  <a:pt x="23812" y="162706"/>
                  <a:pt x="23812" y="157758"/>
                </a:cubicBezTo>
                <a:close/>
                <a:moveTo>
                  <a:pt x="110133" y="148828"/>
                </a:moveTo>
                <a:cubicBezTo>
                  <a:pt x="115081" y="148828"/>
                  <a:pt x="119063" y="152809"/>
                  <a:pt x="119063" y="157758"/>
                </a:cubicBezTo>
                <a:cubicBezTo>
                  <a:pt x="119063" y="162706"/>
                  <a:pt x="115081" y="166688"/>
                  <a:pt x="110133" y="166688"/>
                </a:cubicBezTo>
                <a:cubicBezTo>
                  <a:pt x="105184" y="166688"/>
                  <a:pt x="101203" y="162706"/>
                  <a:pt x="101203" y="157758"/>
                </a:cubicBezTo>
                <a:cubicBezTo>
                  <a:pt x="101203" y="152809"/>
                  <a:pt x="105184" y="148828"/>
                  <a:pt x="110133" y="148828"/>
                </a:cubicBezTo>
                <a:close/>
              </a:path>
            </a:pathLst>
          </a:custGeom>
          <a:solidFill>
            <a:srgbClr val="8B0000"/>
          </a:solidFill>
        </p:spPr>
      </p:sp>
      <p:sp>
        <p:nvSpPr>
          <p:cNvPr id="11" name="Text 9"/>
          <p:cNvSpPr/>
          <p:nvPr/>
        </p:nvSpPr>
        <p:spPr>
          <a:xfrm>
            <a:off x="847580" y="3453293"/>
            <a:ext cx="2745543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00000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Few computations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80956" y="3948490"/>
            <a:ext cx="5562600" cy="495300"/>
          </a:xfrm>
          <a:custGeom>
            <a:avLst/>
            <a:gdLst/>
            <a:ahLst/>
            <a:cxnLst/>
            <a:rect l="l" t="t" r="r" b="b"/>
            <a:pathLst>
              <a:path w="5562600" h="495300">
                <a:moveTo>
                  <a:pt x="76202" y="0"/>
                </a:moveTo>
                <a:lnTo>
                  <a:pt x="5486398" y="0"/>
                </a:lnTo>
                <a:cubicBezTo>
                  <a:pt x="5528483" y="0"/>
                  <a:pt x="5562600" y="34117"/>
                  <a:pt x="5562600" y="76202"/>
                </a:cubicBezTo>
                <a:lnTo>
                  <a:pt x="5562600" y="419098"/>
                </a:lnTo>
                <a:cubicBezTo>
                  <a:pt x="5562600" y="461183"/>
                  <a:pt x="5528483" y="495300"/>
                  <a:pt x="5486398" y="495300"/>
                </a:cubicBezTo>
                <a:lnTo>
                  <a:pt x="76202" y="495300"/>
                </a:lnTo>
                <a:cubicBezTo>
                  <a:pt x="34117" y="495300"/>
                  <a:pt x="0" y="461183"/>
                  <a:pt x="0" y="419098"/>
                </a:cubicBezTo>
                <a:lnTo>
                  <a:pt x="0" y="76202"/>
                </a:lnTo>
                <a:cubicBezTo>
                  <a:pt x="0" y="34117"/>
                  <a:pt x="34117" y="0"/>
                  <a:pt x="76202" y="0"/>
                </a:cubicBezTo>
                <a:close/>
              </a:path>
            </a:pathLst>
          </a:custGeom>
          <a:solidFill>
            <a:srgbClr val="F9FAFB"/>
          </a:solidFill>
        </p:spPr>
      </p:sp>
      <p:sp>
        <p:nvSpPr>
          <p:cNvPr id="13" name="Shape 11"/>
          <p:cNvSpPr/>
          <p:nvPr/>
        </p:nvSpPr>
        <p:spPr>
          <a:xfrm>
            <a:off x="530924" y="4100807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166688" y="76572"/>
                </a:moveTo>
                <a:cubicBezTo>
                  <a:pt x="161181" y="80218"/>
                  <a:pt x="154856" y="83158"/>
                  <a:pt x="148270" y="85502"/>
                </a:cubicBezTo>
                <a:cubicBezTo>
                  <a:pt x="130783" y="91753"/>
                  <a:pt x="107826" y="95250"/>
                  <a:pt x="83344" y="95250"/>
                </a:cubicBezTo>
                <a:cubicBezTo>
                  <a:pt x="58862" y="95250"/>
                  <a:pt x="35868" y="91715"/>
                  <a:pt x="18417" y="85502"/>
                </a:cubicBezTo>
                <a:cubicBezTo>
                  <a:pt x="11869" y="83158"/>
                  <a:pt x="5507" y="80218"/>
                  <a:pt x="0" y="76572"/>
                </a:cubicBezTo>
                <a:lnTo>
                  <a:pt x="0" y="107156"/>
                </a:lnTo>
                <a:cubicBezTo>
                  <a:pt x="0" y="123602"/>
                  <a:pt x="37319" y="136922"/>
                  <a:pt x="83344" y="136922"/>
                </a:cubicBezTo>
                <a:cubicBezTo>
                  <a:pt x="129369" y="136922"/>
                  <a:pt x="166688" y="123602"/>
                  <a:pt x="166688" y="107156"/>
                </a:cubicBezTo>
                <a:lnTo>
                  <a:pt x="166688" y="76572"/>
                </a:lnTo>
                <a:close/>
                <a:moveTo>
                  <a:pt x="166688" y="47625"/>
                </a:moveTo>
                <a:lnTo>
                  <a:pt x="166688" y="29766"/>
                </a:lnTo>
                <a:cubicBezTo>
                  <a:pt x="166688" y="13320"/>
                  <a:pt x="129369" y="0"/>
                  <a:pt x="83344" y="0"/>
                </a:cubicBezTo>
                <a:cubicBezTo>
                  <a:pt x="37319" y="0"/>
                  <a:pt x="0" y="13320"/>
                  <a:pt x="0" y="29766"/>
                </a:cubicBezTo>
                <a:lnTo>
                  <a:pt x="0" y="47625"/>
                </a:lnTo>
                <a:cubicBezTo>
                  <a:pt x="0" y="64071"/>
                  <a:pt x="37319" y="77391"/>
                  <a:pt x="83344" y="77391"/>
                </a:cubicBezTo>
                <a:cubicBezTo>
                  <a:pt x="129369" y="77391"/>
                  <a:pt x="166688" y="64071"/>
                  <a:pt x="166688" y="47625"/>
                </a:cubicBezTo>
                <a:close/>
                <a:moveTo>
                  <a:pt x="148270" y="145033"/>
                </a:moveTo>
                <a:cubicBezTo>
                  <a:pt x="130820" y="151247"/>
                  <a:pt x="107863" y="154781"/>
                  <a:pt x="83344" y="154781"/>
                </a:cubicBezTo>
                <a:cubicBezTo>
                  <a:pt x="58824" y="154781"/>
                  <a:pt x="35868" y="151247"/>
                  <a:pt x="18417" y="145033"/>
                </a:cubicBezTo>
                <a:cubicBezTo>
                  <a:pt x="11869" y="142689"/>
                  <a:pt x="5507" y="139750"/>
                  <a:pt x="0" y="136103"/>
                </a:cubicBezTo>
                <a:lnTo>
                  <a:pt x="0" y="160734"/>
                </a:lnTo>
                <a:cubicBezTo>
                  <a:pt x="0" y="177180"/>
                  <a:pt x="37319" y="190500"/>
                  <a:pt x="83344" y="190500"/>
                </a:cubicBezTo>
                <a:cubicBezTo>
                  <a:pt x="129369" y="190500"/>
                  <a:pt x="166688" y="177180"/>
                  <a:pt x="166688" y="160734"/>
                </a:cubicBezTo>
                <a:lnTo>
                  <a:pt x="166688" y="136103"/>
                </a:lnTo>
                <a:cubicBezTo>
                  <a:pt x="161181" y="139750"/>
                  <a:pt x="154856" y="142689"/>
                  <a:pt x="148270" y="145033"/>
                </a:cubicBezTo>
                <a:close/>
              </a:path>
            </a:pathLst>
          </a:custGeom>
          <a:solidFill>
            <a:srgbClr val="8B0000"/>
          </a:solidFill>
        </p:spPr>
      </p:sp>
      <p:sp>
        <p:nvSpPr>
          <p:cNvPr id="14" name="Text 12"/>
          <p:cNvSpPr/>
          <p:nvPr/>
        </p:nvSpPr>
        <p:spPr>
          <a:xfrm>
            <a:off x="847580" y="4062744"/>
            <a:ext cx="2223866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00000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Many data accesses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99911" y="4672270"/>
            <a:ext cx="5543455" cy="571500"/>
          </a:xfrm>
          <a:custGeom>
            <a:avLst/>
            <a:gdLst/>
            <a:ahLst/>
            <a:cxnLst/>
            <a:rect l="l" t="t" r="r" b="b"/>
            <a:pathLst>
              <a:path w="5543455" h="571500">
                <a:moveTo>
                  <a:pt x="37910" y="0"/>
                </a:moveTo>
                <a:lnTo>
                  <a:pt x="5429155" y="0"/>
                </a:lnTo>
                <a:cubicBezTo>
                  <a:pt x="5492239" y="0"/>
                  <a:pt x="5543455" y="51216"/>
                  <a:pt x="5543455" y="114300"/>
                </a:cubicBezTo>
                <a:lnTo>
                  <a:pt x="5543455" y="457200"/>
                </a:lnTo>
                <a:cubicBezTo>
                  <a:pt x="5543455" y="520284"/>
                  <a:pt x="5492239" y="571500"/>
                  <a:pt x="5429155" y="571500"/>
                </a:cubicBezTo>
                <a:lnTo>
                  <a:pt x="37910" y="571500"/>
                </a:lnTo>
                <a:cubicBezTo>
                  <a:pt x="16973" y="571500"/>
                  <a:pt x="0" y="554527"/>
                  <a:pt x="0" y="533590"/>
                </a:cubicBezTo>
                <a:lnTo>
                  <a:pt x="0" y="37910"/>
                </a:lnTo>
                <a:cubicBezTo>
                  <a:pt x="0" y="16987"/>
                  <a:pt x="16987" y="0"/>
                  <a:pt x="37910" y="0"/>
                </a:cubicBezTo>
                <a:close/>
              </a:path>
            </a:pathLst>
          </a:custGeom>
          <a:solidFill>
            <a:srgbClr val="8B0000">
              <a:alpha val="10196"/>
            </a:srgbClr>
          </a:solidFill>
        </p:spPr>
      </p:sp>
      <p:sp>
        <p:nvSpPr>
          <p:cNvPr id="16" name="Shape 14"/>
          <p:cNvSpPr/>
          <p:nvPr/>
        </p:nvSpPr>
        <p:spPr>
          <a:xfrm>
            <a:off x="399911" y="4672270"/>
            <a:ext cx="37910" cy="571500"/>
          </a:xfrm>
          <a:custGeom>
            <a:avLst/>
            <a:gdLst/>
            <a:ahLst/>
            <a:cxnLst/>
            <a:rect l="l" t="t" r="r" b="b"/>
            <a:pathLst>
              <a:path w="37910" h="571500">
                <a:moveTo>
                  <a:pt x="37910" y="0"/>
                </a:moveTo>
                <a:lnTo>
                  <a:pt x="37910" y="0"/>
                </a:lnTo>
                <a:lnTo>
                  <a:pt x="37910" y="571500"/>
                </a:lnTo>
                <a:lnTo>
                  <a:pt x="37910" y="571500"/>
                </a:lnTo>
                <a:cubicBezTo>
                  <a:pt x="16973" y="571500"/>
                  <a:pt x="0" y="554527"/>
                  <a:pt x="0" y="533590"/>
                </a:cubicBezTo>
                <a:lnTo>
                  <a:pt x="0" y="37910"/>
                </a:lnTo>
                <a:cubicBezTo>
                  <a:pt x="0" y="16987"/>
                  <a:pt x="16987" y="0"/>
                  <a:pt x="37910" y="0"/>
                </a:cubicBezTo>
                <a:close/>
              </a:path>
            </a:pathLst>
          </a:custGeom>
          <a:solidFill>
            <a:srgbClr val="8B0000"/>
          </a:solidFill>
        </p:spPr>
      </p:sp>
      <p:sp>
        <p:nvSpPr>
          <p:cNvPr id="17" name="Text 15"/>
          <p:cNvSpPr/>
          <p:nvPr/>
        </p:nvSpPr>
        <p:spPr>
          <a:xfrm>
            <a:off x="571248" y="4824651"/>
            <a:ext cx="53054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00000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Arithmetic Intensity </a:t>
            </a:r>
            <a:r>
              <a:rPr lang="en-US" sz="1350" b="1" dirty="0">
                <a:solidFill>
                  <a:srgbClr val="8B000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Low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399911" y="5486353"/>
            <a:ext cx="5543455" cy="647700"/>
          </a:xfrm>
          <a:custGeom>
            <a:avLst/>
            <a:gdLst/>
            <a:ahLst/>
            <a:cxnLst/>
            <a:rect l="l" t="t" r="r" b="b"/>
            <a:pathLst>
              <a:path w="5543455" h="647700">
                <a:moveTo>
                  <a:pt x="37910" y="0"/>
                </a:moveTo>
                <a:lnTo>
                  <a:pt x="5429156" y="0"/>
                </a:lnTo>
                <a:cubicBezTo>
                  <a:pt x="5492282" y="0"/>
                  <a:pt x="5543455" y="51174"/>
                  <a:pt x="5543455" y="114300"/>
                </a:cubicBezTo>
                <a:lnTo>
                  <a:pt x="5543455" y="533400"/>
                </a:lnTo>
                <a:cubicBezTo>
                  <a:pt x="5543455" y="596526"/>
                  <a:pt x="5492282" y="647700"/>
                  <a:pt x="5429156" y="647700"/>
                </a:cubicBezTo>
                <a:lnTo>
                  <a:pt x="37910" y="647700"/>
                </a:lnTo>
                <a:cubicBezTo>
                  <a:pt x="16973" y="647700"/>
                  <a:pt x="0" y="630727"/>
                  <a:pt x="0" y="609790"/>
                </a:cubicBezTo>
                <a:lnTo>
                  <a:pt x="0" y="37910"/>
                </a:lnTo>
                <a:cubicBezTo>
                  <a:pt x="0" y="16987"/>
                  <a:pt x="16987" y="0"/>
                  <a:pt x="37910" y="0"/>
                </a:cubicBezTo>
                <a:close/>
              </a:path>
            </a:pathLst>
          </a:custGeom>
          <a:solidFill>
            <a:srgbClr val="FEF2F2"/>
          </a:solidFill>
        </p:spPr>
      </p:sp>
      <p:sp>
        <p:nvSpPr>
          <p:cNvPr id="19" name="Shape 17"/>
          <p:cNvSpPr/>
          <p:nvPr/>
        </p:nvSpPr>
        <p:spPr>
          <a:xfrm>
            <a:off x="399911" y="5486353"/>
            <a:ext cx="37910" cy="647700"/>
          </a:xfrm>
          <a:custGeom>
            <a:avLst/>
            <a:gdLst/>
            <a:ahLst/>
            <a:cxnLst/>
            <a:rect l="l" t="t" r="r" b="b"/>
            <a:pathLst>
              <a:path w="37910" h="647700">
                <a:moveTo>
                  <a:pt x="37910" y="0"/>
                </a:moveTo>
                <a:lnTo>
                  <a:pt x="37910" y="0"/>
                </a:lnTo>
                <a:lnTo>
                  <a:pt x="37910" y="647700"/>
                </a:lnTo>
                <a:lnTo>
                  <a:pt x="37910" y="647700"/>
                </a:lnTo>
                <a:cubicBezTo>
                  <a:pt x="16973" y="647700"/>
                  <a:pt x="0" y="630727"/>
                  <a:pt x="0" y="609790"/>
                </a:cubicBezTo>
                <a:lnTo>
                  <a:pt x="0" y="37910"/>
                </a:lnTo>
                <a:cubicBezTo>
                  <a:pt x="0" y="16987"/>
                  <a:pt x="16987" y="0"/>
                  <a:pt x="37910" y="0"/>
                </a:cubicBezTo>
                <a:close/>
              </a:path>
            </a:pathLst>
          </a:custGeom>
          <a:solidFill>
            <a:srgbClr val="FB2C36"/>
          </a:solidFill>
        </p:spPr>
      </p:sp>
      <p:sp>
        <p:nvSpPr>
          <p:cNvPr id="20" name="Text 18"/>
          <p:cNvSpPr/>
          <p:nvPr/>
        </p:nvSpPr>
        <p:spPr>
          <a:xfrm>
            <a:off x="609307" y="5676788"/>
            <a:ext cx="52387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00000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Conclusion:</a:t>
            </a:r>
            <a:r>
              <a:rPr lang="en-US" sz="1500" dirty="0">
                <a:solidFill>
                  <a:srgbClr val="00000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typically </a:t>
            </a:r>
            <a:r>
              <a:rPr lang="en-US" sz="1500" b="1" dirty="0">
                <a:solidFill>
                  <a:srgbClr val="E7000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Memory Bound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248338" y="990479"/>
            <a:ext cx="5562600" cy="4838700"/>
          </a:xfrm>
          <a:custGeom>
            <a:avLst/>
            <a:gdLst/>
            <a:ahLst/>
            <a:cxnLst/>
            <a:rect l="l" t="t" r="r" b="b"/>
            <a:pathLst>
              <a:path w="5562600" h="4838700">
                <a:moveTo>
                  <a:pt x="76210" y="0"/>
                </a:moveTo>
                <a:lnTo>
                  <a:pt x="5486390" y="0"/>
                </a:lnTo>
                <a:cubicBezTo>
                  <a:pt x="5528480" y="0"/>
                  <a:pt x="5562600" y="34120"/>
                  <a:pt x="5562600" y="76210"/>
                </a:cubicBezTo>
                <a:lnTo>
                  <a:pt x="5562600" y="4762490"/>
                </a:lnTo>
                <a:cubicBezTo>
                  <a:pt x="5562600" y="4804580"/>
                  <a:pt x="5528480" y="4838700"/>
                  <a:pt x="5486390" y="4838700"/>
                </a:cubicBezTo>
                <a:lnTo>
                  <a:pt x="76210" y="4838700"/>
                </a:lnTo>
                <a:cubicBezTo>
                  <a:pt x="34120" y="4838700"/>
                  <a:pt x="0" y="4804580"/>
                  <a:pt x="0" y="4762490"/>
                </a:cubicBezTo>
                <a:lnTo>
                  <a:pt x="0" y="76210"/>
                </a:lnTo>
                <a:cubicBezTo>
                  <a:pt x="0" y="34148"/>
                  <a:pt x="34148" y="0"/>
                  <a:pt x="76210" y="0"/>
                </a:cubicBezTo>
                <a:close/>
              </a:path>
            </a:pathLst>
          </a:custGeom>
          <a:solidFill>
            <a:srgbClr val="F9FAFB"/>
          </a:solidFill>
        </p:spPr>
      </p:sp>
      <p:pic>
        <p:nvPicPr>
          <p:cNvPr id="22" name="Image 0" descr="https://kimi-web-img.moonshot.cn/img/hyperphysics.phy-astr.gsu.edu/70608615e7cbb3926fa31580cf4a88a4e62598e5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7596158" y="1990595"/>
            <a:ext cx="2867025" cy="2838450"/>
          </a:xfrm>
          <a:prstGeom prst="roundRect">
            <a:avLst>
              <a:gd name="adj" fmla="val 0"/>
            </a:avLst>
          </a:prstGeom>
        </p:spPr>
      </p:pic>
      <p:sp>
        <p:nvSpPr>
          <p:cNvPr id="23" name="Text 20"/>
          <p:cNvSpPr/>
          <p:nvPr/>
        </p:nvSpPr>
        <p:spPr>
          <a:xfrm>
            <a:off x="6210238" y="5905360"/>
            <a:ext cx="5638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6A7282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Image source: HyperPhysics - Vector Addition</a:t>
            </a:r>
            <a:endParaRPr lang="en-US" sz="1600" dirty="0"/>
          </a:p>
        </p:txBody>
      </p:sp>
      <p:sp>
        <p:nvSpPr>
          <p:cNvPr id="24" name="灯片编号占位符 23"/>
          <p:cNvSpPr>
            <a:spLocks noGrp="1"/>
          </p:cNvSpPr>
          <p:nvPr>
            <p:ph type="sldNum" sz="quarter" idx="4294967295"/>
          </p:nvPr>
        </p:nvSpPr>
        <p:spPr>
          <a:xfrm>
            <a:off x="0" y="593725"/>
            <a:ext cx="419100" cy="365125"/>
          </a:xfrm>
        </p:spPr>
        <p:txBody>
          <a:bodyPr/>
          <a:lstStyle/>
          <a:p>
            <a:fld id="{B33F7469-D28B-482F-B1B6-3B8E7CF51519}" type="slidenum">
              <a:rPr lang="zh-CN" altLang="en-US" smtClean="0"/>
              <a:t>20</a:t>
            </a:fld>
            <a:endParaRPr lang="zh-CN" altLang="en-US" dirty="0"/>
          </a:p>
        </p:txBody>
      </p:sp>
    </p:spTree>
  </p:cSld>
  <p:clrMapOvr>
    <a:masterClrMapping/>
  </p:clrMapOvr>
  <p:transition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4276" y="599347"/>
            <a:ext cx="11644243" cy="35339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505" b="1" dirty="0">
                <a:solidFill>
                  <a:srgbClr val="00000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How Roofline Guides Optimization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362141" y="1165950"/>
            <a:ext cx="5583495" cy="4514571"/>
          </a:xfrm>
          <a:custGeom>
            <a:avLst/>
            <a:gdLst/>
            <a:ahLst/>
            <a:cxnLst/>
            <a:rect l="l" t="t" r="r" b="b"/>
            <a:pathLst>
              <a:path w="5583495" h="4753025">
                <a:moveTo>
                  <a:pt x="106040" y="0"/>
                </a:moveTo>
                <a:lnTo>
                  <a:pt x="5477455" y="0"/>
                </a:lnTo>
                <a:cubicBezTo>
                  <a:pt x="5536019" y="0"/>
                  <a:pt x="5583495" y="47476"/>
                  <a:pt x="5583495" y="106040"/>
                </a:cubicBezTo>
                <a:lnTo>
                  <a:pt x="5583495" y="4646985"/>
                </a:lnTo>
                <a:cubicBezTo>
                  <a:pt x="5583495" y="4705549"/>
                  <a:pt x="5536019" y="4753025"/>
                  <a:pt x="5477455" y="4753025"/>
                </a:cubicBezTo>
                <a:lnTo>
                  <a:pt x="106040" y="4753025"/>
                </a:lnTo>
                <a:cubicBezTo>
                  <a:pt x="47476" y="4753025"/>
                  <a:pt x="0" y="4705549"/>
                  <a:pt x="0" y="4646985"/>
                </a:cubicBezTo>
                <a:lnTo>
                  <a:pt x="0" y="106040"/>
                </a:lnTo>
                <a:cubicBezTo>
                  <a:pt x="0" y="47515"/>
                  <a:pt x="47515" y="0"/>
                  <a:pt x="106040" y="0"/>
                </a:cubicBezTo>
                <a:close/>
              </a:path>
            </a:pathLst>
          </a:custGeom>
          <a:gradFill flip="none" rotWithShape="1">
            <a:gsLst>
              <a:gs pos="0">
                <a:srgbClr val="EFF6FF"/>
              </a:gs>
              <a:gs pos="100000">
                <a:srgbClr val="FFFFFF"/>
              </a:gs>
            </a:gsLst>
            <a:lin ang="2700000" scaled="1"/>
          </a:gradFill>
          <a:ln w="25274">
            <a:solidFill>
              <a:srgbClr val="8EC5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82942" y="1376968"/>
            <a:ext cx="494748" cy="494748"/>
          </a:xfrm>
          <a:custGeom>
            <a:avLst/>
            <a:gdLst/>
            <a:ahLst/>
            <a:cxnLst/>
            <a:rect l="l" t="t" r="r" b="b"/>
            <a:pathLst>
              <a:path w="494748" h="494748">
                <a:moveTo>
                  <a:pt x="106020" y="0"/>
                </a:moveTo>
                <a:lnTo>
                  <a:pt x="388728" y="0"/>
                </a:lnTo>
                <a:cubicBezTo>
                  <a:pt x="447242" y="0"/>
                  <a:pt x="494748" y="47506"/>
                  <a:pt x="494748" y="106020"/>
                </a:cubicBezTo>
                <a:lnTo>
                  <a:pt x="494748" y="388728"/>
                </a:lnTo>
                <a:cubicBezTo>
                  <a:pt x="494748" y="447242"/>
                  <a:pt x="447242" y="494748"/>
                  <a:pt x="388728" y="494748"/>
                </a:cubicBezTo>
                <a:lnTo>
                  <a:pt x="106020" y="494748"/>
                </a:lnTo>
                <a:cubicBezTo>
                  <a:pt x="47506" y="494748"/>
                  <a:pt x="0" y="447242"/>
                  <a:pt x="0" y="388728"/>
                </a:cubicBezTo>
                <a:lnTo>
                  <a:pt x="0" y="106020"/>
                </a:lnTo>
                <a:cubicBezTo>
                  <a:pt x="0" y="47506"/>
                  <a:pt x="47506" y="0"/>
                  <a:pt x="106020" y="0"/>
                </a:cubicBezTo>
                <a:close/>
              </a:path>
            </a:pathLst>
          </a:custGeom>
          <a:solidFill>
            <a:srgbClr val="2B7FFF"/>
          </a:solidFill>
          <a:effectLst>
            <a:outerShdw blurRad="53009" dist="35339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24276" y="1518307"/>
            <a:ext cx="212035" cy="212035"/>
          </a:xfrm>
          <a:custGeom>
            <a:avLst/>
            <a:gdLst/>
            <a:ahLst/>
            <a:cxnLst/>
            <a:rect l="l" t="t" r="r" b="b"/>
            <a:pathLst>
              <a:path w="212035" h="212035">
                <a:moveTo>
                  <a:pt x="26504" y="26504"/>
                </a:moveTo>
                <a:cubicBezTo>
                  <a:pt x="11886" y="26504"/>
                  <a:pt x="0" y="38390"/>
                  <a:pt x="0" y="53009"/>
                </a:cubicBezTo>
                <a:lnTo>
                  <a:pt x="0" y="56073"/>
                </a:lnTo>
                <a:cubicBezTo>
                  <a:pt x="0" y="58889"/>
                  <a:pt x="1822" y="61291"/>
                  <a:pt x="4183" y="62824"/>
                </a:cubicBezTo>
                <a:cubicBezTo>
                  <a:pt x="9649" y="66385"/>
                  <a:pt x="13252" y="72514"/>
                  <a:pt x="13252" y="79513"/>
                </a:cubicBezTo>
                <a:cubicBezTo>
                  <a:pt x="13252" y="86512"/>
                  <a:pt x="9649" y="92641"/>
                  <a:pt x="4183" y="96203"/>
                </a:cubicBezTo>
                <a:cubicBezTo>
                  <a:pt x="1822" y="97735"/>
                  <a:pt x="0" y="100137"/>
                  <a:pt x="0" y="102953"/>
                </a:cubicBezTo>
                <a:lnTo>
                  <a:pt x="0" y="125896"/>
                </a:lnTo>
                <a:lnTo>
                  <a:pt x="212035" y="125896"/>
                </a:lnTo>
                <a:lnTo>
                  <a:pt x="212035" y="102953"/>
                </a:lnTo>
                <a:cubicBezTo>
                  <a:pt x="212035" y="100137"/>
                  <a:pt x="210213" y="97735"/>
                  <a:pt x="207852" y="96202"/>
                </a:cubicBezTo>
                <a:cubicBezTo>
                  <a:pt x="202386" y="92641"/>
                  <a:pt x="198783" y="86512"/>
                  <a:pt x="198783" y="79513"/>
                </a:cubicBezTo>
                <a:cubicBezTo>
                  <a:pt x="198783" y="72514"/>
                  <a:pt x="202386" y="66385"/>
                  <a:pt x="207852" y="62824"/>
                </a:cubicBezTo>
                <a:cubicBezTo>
                  <a:pt x="210213" y="61291"/>
                  <a:pt x="212035" y="58889"/>
                  <a:pt x="212035" y="56073"/>
                </a:cubicBezTo>
                <a:lnTo>
                  <a:pt x="212035" y="53009"/>
                </a:lnTo>
                <a:cubicBezTo>
                  <a:pt x="212035" y="38390"/>
                  <a:pt x="200149" y="26504"/>
                  <a:pt x="185530" y="26504"/>
                </a:cubicBezTo>
                <a:lnTo>
                  <a:pt x="26504" y="26504"/>
                </a:lnTo>
                <a:close/>
                <a:moveTo>
                  <a:pt x="212035" y="172278"/>
                </a:moveTo>
                <a:lnTo>
                  <a:pt x="212035" y="145774"/>
                </a:lnTo>
                <a:lnTo>
                  <a:pt x="0" y="145774"/>
                </a:lnTo>
                <a:lnTo>
                  <a:pt x="0" y="172278"/>
                </a:lnTo>
                <a:cubicBezTo>
                  <a:pt x="0" y="179608"/>
                  <a:pt x="5922" y="185530"/>
                  <a:pt x="13252" y="185530"/>
                </a:cubicBezTo>
                <a:lnTo>
                  <a:pt x="39757" y="185530"/>
                </a:lnTo>
                <a:lnTo>
                  <a:pt x="39757" y="175591"/>
                </a:lnTo>
                <a:cubicBezTo>
                  <a:pt x="39757" y="170083"/>
                  <a:pt x="44188" y="165652"/>
                  <a:pt x="49696" y="165652"/>
                </a:cubicBezTo>
                <a:cubicBezTo>
                  <a:pt x="55204" y="165652"/>
                  <a:pt x="59635" y="170083"/>
                  <a:pt x="59635" y="175591"/>
                </a:cubicBezTo>
                <a:lnTo>
                  <a:pt x="59635" y="185530"/>
                </a:lnTo>
                <a:lnTo>
                  <a:pt x="96078" y="185530"/>
                </a:lnTo>
                <a:lnTo>
                  <a:pt x="96078" y="175591"/>
                </a:lnTo>
                <a:cubicBezTo>
                  <a:pt x="96078" y="170083"/>
                  <a:pt x="100509" y="165652"/>
                  <a:pt x="106017" y="165652"/>
                </a:cubicBezTo>
                <a:cubicBezTo>
                  <a:pt x="111525" y="165652"/>
                  <a:pt x="115957" y="170083"/>
                  <a:pt x="115957" y="175591"/>
                </a:cubicBezTo>
                <a:lnTo>
                  <a:pt x="115957" y="185530"/>
                </a:lnTo>
                <a:lnTo>
                  <a:pt x="152400" y="185530"/>
                </a:lnTo>
                <a:lnTo>
                  <a:pt x="152400" y="175591"/>
                </a:lnTo>
                <a:cubicBezTo>
                  <a:pt x="152400" y="170083"/>
                  <a:pt x="156831" y="165652"/>
                  <a:pt x="162339" y="165652"/>
                </a:cubicBezTo>
                <a:cubicBezTo>
                  <a:pt x="167847" y="165652"/>
                  <a:pt x="172278" y="170083"/>
                  <a:pt x="172278" y="175591"/>
                </a:cubicBezTo>
                <a:lnTo>
                  <a:pt x="172278" y="185530"/>
                </a:lnTo>
                <a:lnTo>
                  <a:pt x="198783" y="185530"/>
                </a:lnTo>
                <a:cubicBezTo>
                  <a:pt x="206113" y="185530"/>
                  <a:pt x="212035" y="179608"/>
                  <a:pt x="212035" y="172278"/>
                </a:cubicBezTo>
                <a:close/>
                <a:moveTo>
                  <a:pt x="66261" y="66261"/>
                </a:moveTo>
                <a:lnTo>
                  <a:pt x="66261" y="92765"/>
                </a:lnTo>
                <a:cubicBezTo>
                  <a:pt x="66261" y="100095"/>
                  <a:pt x="60339" y="106017"/>
                  <a:pt x="53009" y="106017"/>
                </a:cubicBezTo>
                <a:cubicBezTo>
                  <a:pt x="45679" y="106017"/>
                  <a:pt x="39757" y="100095"/>
                  <a:pt x="39757" y="92765"/>
                </a:cubicBezTo>
                <a:lnTo>
                  <a:pt x="39757" y="66261"/>
                </a:lnTo>
                <a:cubicBezTo>
                  <a:pt x="39757" y="58931"/>
                  <a:pt x="45679" y="53009"/>
                  <a:pt x="53009" y="53009"/>
                </a:cubicBezTo>
                <a:cubicBezTo>
                  <a:pt x="60339" y="53009"/>
                  <a:pt x="66261" y="58931"/>
                  <a:pt x="66261" y="66261"/>
                </a:cubicBezTo>
                <a:close/>
                <a:moveTo>
                  <a:pt x="119270" y="66261"/>
                </a:moveTo>
                <a:lnTo>
                  <a:pt x="119270" y="92765"/>
                </a:lnTo>
                <a:cubicBezTo>
                  <a:pt x="119270" y="100095"/>
                  <a:pt x="113348" y="106017"/>
                  <a:pt x="106017" y="106017"/>
                </a:cubicBezTo>
                <a:cubicBezTo>
                  <a:pt x="98687" y="106017"/>
                  <a:pt x="92765" y="100095"/>
                  <a:pt x="92765" y="92765"/>
                </a:cubicBezTo>
                <a:lnTo>
                  <a:pt x="92765" y="66261"/>
                </a:lnTo>
                <a:cubicBezTo>
                  <a:pt x="92765" y="58931"/>
                  <a:pt x="98687" y="53009"/>
                  <a:pt x="106017" y="53009"/>
                </a:cubicBezTo>
                <a:cubicBezTo>
                  <a:pt x="113348" y="53009"/>
                  <a:pt x="119270" y="58931"/>
                  <a:pt x="119270" y="66261"/>
                </a:cubicBezTo>
                <a:close/>
                <a:moveTo>
                  <a:pt x="172278" y="66261"/>
                </a:moveTo>
                <a:lnTo>
                  <a:pt x="172278" y="92765"/>
                </a:lnTo>
                <a:cubicBezTo>
                  <a:pt x="172278" y="100095"/>
                  <a:pt x="166356" y="106017"/>
                  <a:pt x="159026" y="106017"/>
                </a:cubicBezTo>
                <a:cubicBezTo>
                  <a:pt x="151696" y="106017"/>
                  <a:pt x="145774" y="100095"/>
                  <a:pt x="145774" y="92765"/>
                </a:cubicBezTo>
                <a:lnTo>
                  <a:pt x="145774" y="66261"/>
                </a:lnTo>
                <a:cubicBezTo>
                  <a:pt x="145774" y="58931"/>
                  <a:pt x="151696" y="53009"/>
                  <a:pt x="159026" y="53009"/>
                </a:cubicBezTo>
                <a:cubicBezTo>
                  <a:pt x="166356" y="53009"/>
                  <a:pt x="172278" y="58931"/>
                  <a:pt x="172278" y="66261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6" name="Text 4"/>
          <p:cNvSpPr/>
          <p:nvPr/>
        </p:nvSpPr>
        <p:spPr>
          <a:xfrm>
            <a:off x="1218972" y="1359315"/>
            <a:ext cx="2727953" cy="28271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70" b="1" dirty="0">
                <a:solidFill>
                  <a:srgbClr val="00000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Bandwidth Region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18972" y="1641925"/>
            <a:ext cx="1722783" cy="24737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50" b="1" dirty="0">
                <a:solidFill>
                  <a:srgbClr val="155DFC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Memory Bound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82942" y="2880096"/>
            <a:ext cx="5141843" cy="1590261"/>
          </a:xfrm>
          <a:custGeom>
            <a:avLst/>
            <a:gdLst/>
            <a:ahLst/>
            <a:cxnLst/>
            <a:rect l="l" t="t" r="r" b="b"/>
            <a:pathLst>
              <a:path w="5141843" h="1590261">
                <a:moveTo>
                  <a:pt x="70671" y="0"/>
                </a:moveTo>
                <a:lnTo>
                  <a:pt x="5071172" y="0"/>
                </a:lnTo>
                <a:cubicBezTo>
                  <a:pt x="5110177" y="0"/>
                  <a:pt x="5141843" y="31667"/>
                  <a:pt x="5141843" y="70671"/>
                </a:cubicBezTo>
                <a:lnTo>
                  <a:pt x="5141843" y="1519590"/>
                </a:lnTo>
                <a:cubicBezTo>
                  <a:pt x="5141843" y="1558594"/>
                  <a:pt x="5110177" y="1590261"/>
                  <a:pt x="5071172" y="1590261"/>
                </a:cubicBezTo>
                <a:lnTo>
                  <a:pt x="70671" y="1590261"/>
                </a:lnTo>
                <a:cubicBezTo>
                  <a:pt x="31667" y="1590261"/>
                  <a:pt x="0" y="1558594"/>
                  <a:pt x="0" y="1519590"/>
                </a:cubicBezTo>
                <a:lnTo>
                  <a:pt x="0" y="70671"/>
                </a:lnTo>
                <a:cubicBezTo>
                  <a:pt x="0" y="31641"/>
                  <a:pt x="31641" y="0"/>
                  <a:pt x="70671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26504" dist="8835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59582" y="3056731"/>
            <a:ext cx="4867965" cy="24737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50" b="1" dirty="0">
                <a:solidFill>
                  <a:srgbClr val="00000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Optimization Approach: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77252" y="3480749"/>
            <a:ext cx="159026" cy="159026"/>
          </a:xfrm>
          <a:custGeom>
            <a:avLst/>
            <a:gdLst/>
            <a:ahLst/>
            <a:cxnLst/>
            <a:rect l="l" t="t" r="r" b="b"/>
            <a:pathLst>
              <a:path w="159026" h="159026">
                <a:moveTo>
                  <a:pt x="79513" y="159026"/>
                </a:moveTo>
                <a:cubicBezTo>
                  <a:pt x="123397" y="159026"/>
                  <a:pt x="159026" y="123397"/>
                  <a:pt x="159026" y="79513"/>
                </a:cubicBezTo>
                <a:cubicBezTo>
                  <a:pt x="159026" y="35629"/>
                  <a:pt x="123397" y="0"/>
                  <a:pt x="79513" y="0"/>
                </a:cubicBezTo>
                <a:cubicBezTo>
                  <a:pt x="35629" y="0"/>
                  <a:pt x="0" y="35629"/>
                  <a:pt x="0" y="79513"/>
                </a:cubicBezTo>
                <a:cubicBezTo>
                  <a:pt x="0" y="123397"/>
                  <a:pt x="35629" y="159026"/>
                  <a:pt x="79513" y="159026"/>
                </a:cubicBezTo>
                <a:close/>
                <a:moveTo>
                  <a:pt x="105728" y="66064"/>
                </a:moveTo>
                <a:lnTo>
                  <a:pt x="80880" y="105821"/>
                </a:lnTo>
                <a:cubicBezTo>
                  <a:pt x="79575" y="107902"/>
                  <a:pt x="77339" y="109206"/>
                  <a:pt x="74885" y="109330"/>
                </a:cubicBezTo>
                <a:cubicBezTo>
                  <a:pt x="72431" y="109455"/>
                  <a:pt x="70071" y="108337"/>
                  <a:pt x="68611" y="106349"/>
                </a:cubicBezTo>
                <a:lnTo>
                  <a:pt x="53702" y="86470"/>
                </a:lnTo>
                <a:cubicBezTo>
                  <a:pt x="51218" y="83178"/>
                  <a:pt x="51901" y="78519"/>
                  <a:pt x="55193" y="76034"/>
                </a:cubicBezTo>
                <a:cubicBezTo>
                  <a:pt x="58486" y="73550"/>
                  <a:pt x="63145" y="74233"/>
                  <a:pt x="65629" y="77525"/>
                </a:cubicBezTo>
                <a:lnTo>
                  <a:pt x="74015" y="88707"/>
                </a:lnTo>
                <a:lnTo>
                  <a:pt x="93086" y="58175"/>
                </a:lnTo>
                <a:cubicBezTo>
                  <a:pt x="95260" y="54696"/>
                  <a:pt x="99857" y="53609"/>
                  <a:pt x="103367" y="55814"/>
                </a:cubicBezTo>
                <a:cubicBezTo>
                  <a:pt x="106877" y="58020"/>
                  <a:pt x="107933" y="62585"/>
                  <a:pt x="105728" y="66095"/>
                </a:cubicBezTo>
                <a:close/>
              </a:path>
            </a:pathLst>
          </a:custGeom>
          <a:solidFill>
            <a:srgbClr val="2B7FFF"/>
          </a:solidFill>
        </p:spPr>
      </p:sp>
      <p:sp>
        <p:nvSpPr>
          <p:cNvPr id="11" name="Text 9"/>
          <p:cNvSpPr/>
          <p:nvPr/>
        </p:nvSpPr>
        <p:spPr>
          <a:xfrm>
            <a:off x="1064308" y="3445453"/>
            <a:ext cx="1960246" cy="21203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5" dirty="0">
                <a:solidFill>
                  <a:srgbClr val="364153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Increase data reuse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77252" y="3798732"/>
            <a:ext cx="159026" cy="159026"/>
          </a:xfrm>
          <a:custGeom>
            <a:avLst/>
            <a:gdLst/>
            <a:ahLst/>
            <a:cxnLst/>
            <a:rect l="l" t="t" r="r" b="b"/>
            <a:pathLst>
              <a:path w="159026" h="159026">
                <a:moveTo>
                  <a:pt x="79513" y="159026"/>
                </a:moveTo>
                <a:cubicBezTo>
                  <a:pt x="123397" y="159026"/>
                  <a:pt x="159026" y="123397"/>
                  <a:pt x="159026" y="79513"/>
                </a:cubicBezTo>
                <a:cubicBezTo>
                  <a:pt x="159026" y="35629"/>
                  <a:pt x="123397" y="0"/>
                  <a:pt x="79513" y="0"/>
                </a:cubicBezTo>
                <a:cubicBezTo>
                  <a:pt x="35629" y="0"/>
                  <a:pt x="0" y="35629"/>
                  <a:pt x="0" y="79513"/>
                </a:cubicBezTo>
                <a:cubicBezTo>
                  <a:pt x="0" y="123397"/>
                  <a:pt x="35629" y="159026"/>
                  <a:pt x="79513" y="159026"/>
                </a:cubicBezTo>
                <a:close/>
                <a:moveTo>
                  <a:pt x="105728" y="66064"/>
                </a:moveTo>
                <a:lnTo>
                  <a:pt x="80880" y="105821"/>
                </a:lnTo>
                <a:cubicBezTo>
                  <a:pt x="79575" y="107902"/>
                  <a:pt x="77339" y="109206"/>
                  <a:pt x="74885" y="109330"/>
                </a:cubicBezTo>
                <a:cubicBezTo>
                  <a:pt x="72431" y="109455"/>
                  <a:pt x="70071" y="108337"/>
                  <a:pt x="68611" y="106349"/>
                </a:cubicBezTo>
                <a:lnTo>
                  <a:pt x="53702" y="86470"/>
                </a:lnTo>
                <a:cubicBezTo>
                  <a:pt x="51218" y="83178"/>
                  <a:pt x="51901" y="78519"/>
                  <a:pt x="55193" y="76034"/>
                </a:cubicBezTo>
                <a:cubicBezTo>
                  <a:pt x="58486" y="73550"/>
                  <a:pt x="63145" y="74233"/>
                  <a:pt x="65629" y="77525"/>
                </a:cubicBezTo>
                <a:lnTo>
                  <a:pt x="74015" y="88707"/>
                </a:lnTo>
                <a:lnTo>
                  <a:pt x="93086" y="58175"/>
                </a:lnTo>
                <a:cubicBezTo>
                  <a:pt x="95260" y="54696"/>
                  <a:pt x="99857" y="53609"/>
                  <a:pt x="103367" y="55814"/>
                </a:cubicBezTo>
                <a:cubicBezTo>
                  <a:pt x="106877" y="58020"/>
                  <a:pt x="107933" y="62585"/>
                  <a:pt x="105728" y="66095"/>
                </a:cubicBezTo>
                <a:close/>
              </a:path>
            </a:pathLst>
          </a:custGeom>
          <a:solidFill>
            <a:srgbClr val="2B7FFF"/>
          </a:solidFill>
        </p:spPr>
      </p:sp>
      <p:sp>
        <p:nvSpPr>
          <p:cNvPr id="13" name="Text 11"/>
          <p:cNvSpPr/>
          <p:nvPr/>
        </p:nvSpPr>
        <p:spPr>
          <a:xfrm>
            <a:off x="1064307" y="3763436"/>
            <a:ext cx="2018861" cy="24737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5" dirty="0">
                <a:solidFill>
                  <a:srgbClr val="364153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Cache optimization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77252" y="4116715"/>
            <a:ext cx="159026" cy="159026"/>
          </a:xfrm>
          <a:custGeom>
            <a:avLst/>
            <a:gdLst/>
            <a:ahLst/>
            <a:cxnLst/>
            <a:rect l="l" t="t" r="r" b="b"/>
            <a:pathLst>
              <a:path w="159026" h="159026">
                <a:moveTo>
                  <a:pt x="79513" y="159026"/>
                </a:moveTo>
                <a:cubicBezTo>
                  <a:pt x="123397" y="159026"/>
                  <a:pt x="159026" y="123397"/>
                  <a:pt x="159026" y="79513"/>
                </a:cubicBezTo>
                <a:cubicBezTo>
                  <a:pt x="159026" y="35629"/>
                  <a:pt x="123397" y="0"/>
                  <a:pt x="79513" y="0"/>
                </a:cubicBezTo>
                <a:cubicBezTo>
                  <a:pt x="35629" y="0"/>
                  <a:pt x="0" y="35629"/>
                  <a:pt x="0" y="79513"/>
                </a:cubicBezTo>
                <a:cubicBezTo>
                  <a:pt x="0" y="123397"/>
                  <a:pt x="35629" y="159026"/>
                  <a:pt x="79513" y="159026"/>
                </a:cubicBezTo>
                <a:close/>
                <a:moveTo>
                  <a:pt x="105728" y="66064"/>
                </a:moveTo>
                <a:lnTo>
                  <a:pt x="80880" y="105821"/>
                </a:lnTo>
                <a:cubicBezTo>
                  <a:pt x="79575" y="107902"/>
                  <a:pt x="77339" y="109206"/>
                  <a:pt x="74885" y="109330"/>
                </a:cubicBezTo>
                <a:cubicBezTo>
                  <a:pt x="72431" y="109455"/>
                  <a:pt x="70071" y="108337"/>
                  <a:pt x="68611" y="106349"/>
                </a:cubicBezTo>
                <a:lnTo>
                  <a:pt x="53702" y="86470"/>
                </a:lnTo>
                <a:cubicBezTo>
                  <a:pt x="51218" y="83178"/>
                  <a:pt x="51901" y="78519"/>
                  <a:pt x="55193" y="76034"/>
                </a:cubicBezTo>
                <a:cubicBezTo>
                  <a:pt x="58486" y="73550"/>
                  <a:pt x="63145" y="74233"/>
                  <a:pt x="65629" y="77525"/>
                </a:cubicBezTo>
                <a:lnTo>
                  <a:pt x="74015" y="88707"/>
                </a:lnTo>
                <a:lnTo>
                  <a:pt x="93086" y="58175"/>
                </a:lnTo>
                <a:cubicBezTo>
                  <a:pt x="95260" y="54696"/>
                  <a:pt x="99857" y="53609"/>
                  <a:pt x="103367" y="55814"/>
                </a:cubicBezTo>
                <a:cubicBezTo>
                  <a:pt x="106877" y="58020"/>
                  <a:pt x="107933" y="62585"/>
                  <a:pt x="105728" y="66095"/>
                </a:cubicBezTo>
                <a:close/>
              </a:path>
            </a:pathLst>
          </a:custGeom>
          <a:solidFill>
            <a:srgbClr val="2B7FFF"/>
          </a:solidFill>
        </p:spPr>
      </p:sp>
      <p:sp>
        <p:nvSpPr>
          <p:cNvPr id="15" name="Text 13"/>
          <p:cNvSpPr/>
          <p:nvPr/>
        </p:nvSpPr>
        <p:spPr>
          <a:xfrm>
            <a:off x="1064308" y="4081411"/>
            <a:ext cx="1790261" cy="24737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5" dirty="0">
                <a:solidFill>
                  <a:srgbClr val="364153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Blocking technique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244167" y="1165950"/>
            <a:ext cx="5583495" cy="4514571"/>
          </a:xfrm>
          <a:custGeom>
            <a:avLst/>
            <a:gdLst/>
            <a:ahLst/>
            <a:cxnLst/>
            <a:rect l="l" t="t" r="r" b="b"/>
            <a:pathLst>
              <a:path w="5583495" h="4753025">
                <a:moveTo>
                  <a:pt x="106040" y="0"/>
                </a:moveTo>
                <a:lnTo>
                  <a:pt x="5477455" y="0"/>
                </a:lnTo>
                <a:cubicBezTo>
                  <a:pt x="5536019" y="0"/>
                  <a:pt x="5583495" y="47476"/>
                  <a:pt x="5583495" y="106040"/>
                </a:cubicBezTo>
                <a:lnTo>
                  <a:pt x="5583495" y="4646985"/>
                </a:lnTo>
                <a:cubicBezTo>
                  <a:pt x="5583495" y="4705549"/>
                  <a:pt x="5536019" y="4753025"/>
                  <a:pt x="5477455" y="4753025"/>
                </a:cubicBezTo>
                <a:lnTo>
                  <a:pt x="106040" y="4753025"/>
                </a:lnTo>
                <a:cubicBezTo>
                  <a:pt x="47476" y="4753025"/>
                  <a:pt x="0" y="4705549"/>
                  <a:pt x="0" y="4646985"/>
                </a:cubicBezTo>
                <a:lnTo>
                  <a:pt x="0" y="106040"/>
                </a:lnTo>
                <a:cubicBezTo>
                  <a:pt x="0" y="47515"/>
                  <a:pt x="47515" y="0"/>
                  <a:pt x="106040" y="0"/>
                </a:cubicBezTo>
                <a:close/>
              </a:path>
            </a:pathLst>
          </a:custGeom>
          <a:gradFill flip="none" rotWithShape="1">
            <a:gsLst>
              <a:gs pos="0">
                <a:srgbClr val="FEF2F2"/>
              </a:gs>
              <a:gs pos="100000">
                <a:srgbClr val="FFFFFF"/>
              </a:gs>
            </a:gsLst>
            <a:lin ang="2700000" scaled="1"/>
          </a:gradFill>
          <a:ln w="25274">
            <a:solidFill>
              <a:srgbClr val="FFA2A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64968" y="1429722"/>
            <a:ext cx="494748" cy="494748"/>
          </a:xfrm>
          <a:custGeom>
            <a:avLst/>
            <a:gdLst/>
            <a:ahLst/>
            <a:cxnLst/>
            <a:rect l="l" t="t" r="r" b="b"/>
            <a:pathLst>
              <a:path w="494748" h="494748">
                <a:moveTo>
                  <a:pt x="106020" y="0"/>
                </a:moveTo>
                <a:lnTo>
                  <a:pt x="388728" y="0"/>
                </a:lnTo>
                <a:cubicBezTo>
                  <a:pt x="447242" y="0"/>
                  <a:pt x="494748" y="47506"/>
                  <a:pt x="494748" y="106020"/>
                </a:cubicBezTo>
                <a:lnTo>
                  <a:pt x="494748" y="388728"/>
                </a:lnTo>
                <a:cubicBezTo>
                  <a:pt x="494748" y="447242"/>
                  <a:pt x="447242" y="494748"/>
                  <a:pt x="388728" y="494748"/>
                </a:cubicBezTo>
                <a:lnTo>
                  <a:pt x="106020" y="494748"/>
                </a:lnTo>
                <a:cubicBezTo>
                  <a:pt x="47506" y="494748"/>
                  <a:pt x="0" y="447242"/>
                  <a:pt x="0" y="388728"/>
                </a:cubicBezTo>
                <a:lnTo>
                  <a:pt x="0" y="106020"/>
                </a:lnTo>
                <a:cubicBezTo>
                  <a:pt x="0" y="47506"/>
                  <a:pt x="47506" y="0"/>
                  <a:pt x="106020" y="0"/>
                </a:cubicBezTo>
                <a:close/>
              </a:path>
            </a:pathLst>
          </a:custGeom>
          <a:solidFill>
            <a:srgbClr val="FB2C36"/>
          </a:solidFill>
          <a:effectLst>
            <a:outerShdw blurRad="53009" dist="35339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606302" y="1571061"/>
            <a:ext cx="212035" cy="212035"/>
          </a:xfrm>
          <a:custGeom>
            <a:avLst/>
            <a:gdLst/>
            <a:ahLst/>
            <a:cxnLst/>
            <a:rect l="l" t="t" r="r" b="b"/>
            <a:pathLst>
              <a:path w="212035" h="212035">
                <a:moveTo>
                  <a:pt x="72887" y="9939"/>
                </a:moveTo>
                <a:cubicBezTo>
                  <a:pt x="72887" y="4431"/>
                  <a:pt x="68456" y="0"/>
                  <a:pt x="62948" y="0"/>
                </a:cubicBezTo>
                <a:cubicBezTo>
                  <a:pt x="57440" y="0"/>
                  <a:pt x="53009" y="4431"/>
                  <a:pt x="53009" y="9939"/>
                </a:cubicBezTo>
                <a:lnTo>
                  <a:pt x="53009" y="26504"/>
                </a:lnTo>
                <a:cubicBezTo>
                  <a:pt x="38390" y="26504"/>
                  <a:pt x="26504" y="38390"/>
                  <a:pt x="26504" y="53009"/>
                </a:cubicBezTo>
                <a:lnTo>
                  <a:pt x="9939" y="53009"/>
                </a:lnTo>
                <a:cubicBezTo>
                  <a:pt x="4431" y="53009"/>
                  <a:pt x="0" y="57440"/>
                  <a:pt x="0" y="62948"/>
                </a:cubicBezTo>
                <a:cubicBezTo>
                  <a:pt x="0" y="68456"/>
                  <a:pt x="4431" y="72887"/>
                  <a:pt x="9939" y="72887"/>
                </a:cubicBezTo>
                <a:lnTo>
                  <a:pt x="26504" y="72887"/>
                </a:lnTo>
                <a:lnTo>
                  <a:pt x="26504" y="96078"/>
                </a:lnTo>
                <a:lnTo>
                  <a:pt x="9939" y="96078"/>
                </a:lnTo>
                <a:cubicBezTo>
                  <a:pt x="4431" y="96078"/>
                  <a:pt x="0" y="100509"/>
                  <a:pt x="0" y="106017"/>
                </a:cubicBezTo>
                <a:cubicBezTo>
                  <a:pt x="0" y="111525"/>
                  <a:pt x="4431" y="115957"/>
                  <a:pt x="9939" y="115957"/>
                </a:cubicBezTo>
                <a:lnTo>
                  <a:pt x="26504" y="115957"/>
                </a:lnTo>
                <a:lnTo>
                  <a:pt x="26504" y="139148"/>
                </a:lnTo>
                <a:lnTo>
                  <a:pt x="9939" y="139148"/>
                </a:lnTo>
                <a:cubicBezTo>
                  <a:pt x="4431" y="139148"/>
                  <a:pt x="0" y="143579"/>
                  <a:pt x="0" y="149087"/>
                </a:cubicBezTo>
                <a:cubicBezTo>
                  <a:pt x="0" y="154595"/>
                  <a:pt x="4431" y="159026"/>
                  <a:pt x="9939" y="159026"/>
                </a:cubicBezTo>
                <a:lnTo>
                  <a:pt x="26504" y="159026"/>
                </a:lnTo>
                <a:cubicBezTo>
                  <a:pt x="26504" y="173645"/>
                  <a:pt x="38390" y="185530"/>
                  <a:pt x="53009" y="185530"/>
                </a:cubicBezTo>
                <a:lnTo>
                  <a:pt x="53009" y="202096"/>
                </a:lnTo>
                <a:cubicBezTo>
                  <a:pt x="53009" y="207604"/>
                  <a:pt x="57440" y="212035"/>
                  <a:pt x="62948" y="212035"/>
                </a:cubicBezTo>
                <a:cubicBezTo>
                  <a:pt x="68456" y="212035"/>
                  <a:pt x="72887" y="207604"/>
                  <a:pt x="72887" y="202096"/>
                </a:cubicBezTo>
                <a:lnTo>
                  <a:pt x="72887" y="185530"/>
                </a:lnTo>
                <a:lnTo>
                  <a:pt x="96078" y="185530"/>
                </a:lnTo>
                <a:lnTo>
                  <a:pt x="96078" y="202096"/>
                </a:lnTo>
                <a:cubicBezTo>
                  <a:pt x="96078" y="207604"/>
                  <a:pt x="100509" y="212035"/>
                  <a:pt x="106017" y="212035"/>
                </a:cubicBezTo>
                <a:cubicBezTo>
                  <a:pt x="111525" y="212035"/>
                  <a:pt x="115957" y="207604"/>
                  <a:pt x="115957" y="202096"/>
                </a:cubicBezTo>
                <a:lnTo>
                  <a:pt x="115957" y="185530"/>
                </a:lnTo>
                <a:lnTo>
                  <a:pt x="139148" y="185530"/>
                </a:lnTo>
                <a:lnTo>
                  <a:pt x="139148" y="202096"/>
                </a:lnTo>
                <a:cubicBezTo>
                  <a:pt x="139148" y="207604"/>
                  <a:pt x="143579" y="212035"/>
                  <a:pt x="149087" y="212035"/>
                </a:cubicBezTo>
                <a:cubicBezTo>
                  <a:pt x="154595" y="212035"/>
                  <a:pt x="159026" y="207604"/>
                  <a:pt x="159026" y="202096"/>
                </a:cubicBezTo>
                <a:lnTo>
                  <a:pt x="159026" y="185530"/>
                </a:lnTo>
                <a:cubicBezTo>
                  <a:pt x="173645" y="185530"/>
                  <a:pt x="185530" y="173645"/>
                  <a:pt x="185530" y="159026"/>
                </a:cubicBezTo>
                <a:lnTo>
                  <a:pt x="202096" y="159026"/>
                </a:lnTo>
                <a:cubicBezTo>
                  <a:pt x="207604" y="159026"/>
                  <a:pt x="212035" y="154595"/>
                  <a:pt x="212035" y="149087"/>
                </a:cubicBezTo>
                <a:cubicBezTo>
                  <a:pt x="212035" y="143579"/>
                  <a:pt x="207604" y="139148"/>
                  <a:pt x="202096" y="139148"/>
                </a:cubicBezTo>
                <a:lnTo>
                  <a:pt x="185530" y="139148"/>
                </a:lnTo>
                <a:lnTo>
                  <a:pt x="185530" y="115957"/>
                </a:lnTo>
                <a:lnTo>
                  <a:pt x="202096" y="115957"/>
                </a:lnTo>
                <a:cubicBezTo>
                  <a:pt x="207604" y="115957"/>
                  <a:pt x="212035" y="111525"/>
                  <a:pt x="212035" y="106017"/>
                </a:cubicBezTo>
                <a:cubicBezTo>
                  <a:pt x="212035" y="100509"/>
                  <a:pt x="207604" y="96078"/>
                  <a:pt x="202096" y="96078"/>
                </a:cubicBezTo>
                <a:lnTo>
                  <a:pt x="185530" y="96078"/>
                </a:lnTo>
                <a:lnTo>
                  <a:pt x="185530" y="72887"/>
                </a:lnTo>
                <a:lnTo>
                  <a:pt x="202096" y="72887"/>
                </a:lnTo>
                <a:cubicBezTo>
                  <a:pt x="207604" y="72887"/>
                  <a:pt x="212035" y="68456"/>
                  <a:pt x="212035" y="62948"/>
                </a:cubicBezTo>
                <a:cubicBezTo>
                  <a:pt x="212035" y="57440"/>
                  <a:pt x="207604" y="53009"/>
                  <a:pt x="202096" y="53009"/>
                </a:cubicBezTo>
                <a:lnTo>
                  <a:pt x="185530" y="53009"/>
                </a:lnTo>
                <a:cubicBezTo>
                  <a:pt x="185530" y="38390"/>
                  <a:pt x="173645" y="26504"/>
                  <a:pt x="159026" y="26504"/>
                </a:cubicBezTo>
                <a:lnTo>
                  <a:pt x="159026" y="9939"/>
                </a:lnTo>
                <a:cubicBezTo>
                  <a:pt x="159026" y="4431"/>
                  <a:pt x="154595" y="0"/>
                  <a:pt x="149087" y="0"/>
                </a:cubicBezTo>
                <a:cubicBezTo>
                  <a:pt x="143579" y="0"/>
                  <a:pt x="139148" y="4431"/>
                  <a:pt x="139148" y="9939"/>
                </a:cubicBezTo>
                <a:lnTo>
                  <a:pt x="139148" y="26504"/>
                </a:lnTo>
                <a:lnTo>
                  <a:pt x="115957" y="26504"/>
                </a:lnTo>
                <a:lnTo>
                  <a:pt x="115957" y="9939"/>
                </a:lnTo>
                <a:cubicBezTo>
                  <a:pt x="115957" y="4431"/>
                  <a:pt x="111525" y="0"/>
                  <a:pt x="106017" y="0"/>
                </a:cubicBezTo>
                <a:cubicBezTo>
                  <a:pt x="100509" y="0"/>
                  <a:pt x="96078" y="4431"/>
                  <a:pt x="96078" y="9939"/>
                </a:cubicBezTo>
                <a:lnTo>
                  <a:pt x="96078" y="26504"/>
                </a:lnTo>
                <a:lnTo>
                  <a:pt x="72887" y="26504"/>
                </a:lnTo>
                <a:lnTo>
                  <a:pt x="72887" y="9939"/>
                </a:lnTo>
                <a:close/>
                <a:moveTo>
                  <a:pt x="66261" y="53009"/>
                </a:moveTo>
                <a:lnTo>
                  <a:pt x="145774" y="53009"/>
                </a:lnTo>
                <a:cubicBezTo>
                  <a:pt x="153104" y="53009"/>
                  <a:pt x="159026" y="58931"/>
                  <a:pt x="159026" y="66261"/>
                </a:cubicBezTo>
                <a:lnTo>
                  <a:pt x="159026" y="145774"/>
                </a:lnTo>
                <a:cubicBezTo>
                  <a:pt x="159026" y="153104"/>
                  <a:pt x="153104" y="159026"/>
                  <a:pt x="145774" y="159026"/>
                </a:cubicBezTo>
                <a:lnTo>
                  <a:pt x="66261" y="159026"/>
                </a:lnTo>
                <a:cubicBezTo>
                  <a:pt x="58931" y="159026"/>
                  <a:pt x="53009" y="153104"/>
                  <a:pt x="53009" y="145774"/>
                </a:cubicBezTo>
                <a:lnTo>
                  <a:pt x="53009" y="66261"/>
                </a:lnTo>
                <a:cubicBezTo>
                  <a:pt x="53009" y="58931"/>
                  <a:pt x="58931" y="53009"/>
                  <a:pt x="66261" y="53009"/>
                </a:cubicBezTo>
                <a:close/>
                <a:moveTo>
                  <a:pt x="72887" y="72887"/>
                </a:moveTo>
                <a:lnTo>
                  <a:pt x="72887" y="139148"/>
                </a:lnTo>
                <a:lnTo>
                  <a:pt x="139148" y="139148"/>
                </a:lnTo>
                <a:lnTo>
                  <a:pt x="139148" y="72887"/>
                </a:lnTo>
                <a:lnTo>
                  <a:pt x="72887" y="72887"/>
                </a:lnTo>
                <a:close/>
              </a:path>
            </a:pathLst>
          </a:custGeom>
          <a:solidFill>
            <a:srgbClr val="FFFFFF"/>
          </a:solidFill>
        </p:spPr>
      </p:sp>
      <p:sp>
        <p:nvSpPr>
          <p:cNvPr id="19" name="Text 17"/>
          <p:cNvSpPr/>
          <p:nvPr/>
        </p:nvSpPr>
        <p:spPr>
          <a:xfrm>
            <a:off x="7100998" y="1412069"/>
            <a:ext cx="2769833" cy="28271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70" b="1" dirty="0">
                <a:solidFill>
                  <a:srgbClr val="00000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Compute Region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100998" y="1694679"/>
            <a:ext cx="1546087" cy="24737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50" b="1" dirty="0">
                <a:solidFill>
                  <a:srgbClr val="E7000B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Compute Bound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467215" y="2887305"/>
            <a:ext cx="5141843" cy="1590261"/>
          </a:xfrm>
          <a:custGeom>
            <a:avLst/>
            <a:gdLst/>
            <a:ahLst/>
            <a:cxnLst/>
            <a:rect l="l" t="t" r="r" b="b"/>
            <a:pathLst>
              <a:path w="5141843" h="1590261">
                <a:moveTo>
                  <a:pt x="70671" y="0"/>
                </a:moveTo>
                <a:lnTo>
                  <a:pt x="5071172" y="0"/>
                </a:lnTo>
                <a:cubicBezTo>
                  <a:pt x="5110177" y="0"/>
                  <a:pt x="5141843" y="31667"/>
                  <a:pt x="5141843" y="70671"/>
                </a:cubicBezTo>
                <a:lnTo>
                  <a:pt x="5141843" y="1519590"/>
                </a:lnTo>
                <a:cubicBezTo>
                  <a:pt x="5141843" y="1558594"/>
                  <a:pt x="5110177" y="1590261"/>
                  <a:pt x="5071172" y="1590261"/>
                </a:cubicBezTo>
                <a:lnTo>
                  <a:pt x="70671" y="1590261"/>
                </a:lnTo>
                <a:cubicBezTo>
                  <a:pt x="31667" y="1590261"/>
                  <a:pt x="0" y="1558594"/>
                  <a:pt x="0" y="1519590"/>
                </a:cubicBezTo>
                <a:lnTo>
                  <a:pt x="0" y="70671"/>
                </a:lnTo>
                <a:cubicBezTo>
                  <a:pt x="0" y="31641"/>
                  <a:pt x="31641" y="0"/>
                  <a:pt x="70671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26504" dist="8835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641608" y="3056731"/>
            <a:ext cx="4867965" cy="24737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50" b="1" dirty="0">
                <a:solidFill>
                  <a:srgbClr val="00000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Optimization Approach: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659278" y="3480749"/>
            <a:ext cx="159026" cy="159026"/>
          </a:xfrm>
          <a:custGeom>
            <a:avLst/>
            <a:gdLst/>
            <a:ahLst/>
            <a:cxnLst/>
            <a:rect l="l" t="t" r="r" b="b"/>
            <a:pathLst>
              <a:path w="159026" h="159026">
                <a:moveTo>
                  <a:pt x="79513" y="159026"/>
                </a:moveTo>
                <a:cubicBezTo>
                  <a:pt x="123397" y="159026"/>
                  <a:pt x="159026" y="123397"/>
                  <a:pt x="159026" y="79513"/>
                </a:cubicBezTo>
                <a:cubicBezTo>
                  <a:pt x="159026" y="35629"/>
                  <a:pt x="123397" y="0"/>
                  <a:pt x="79513" y="0"/>
                </a:cubicBezTo>
                <a:cubicBezTo>
                  <a:pt x="35629" y="0"/>
                  <a:pt x="0" y="35629"/>
                  <a:pt x="0" y="79513"/>
                </a:cubicBezTo>
                <a:cubicBezTo>
                  <a:pt x="0" y="123397"/>
                  <a:pt x="35629" y="159026"/>
                  <a:pt x="79513" y="159026"/>
                </a:cubicBezTo>
                <a:close/>
                <a:moveTo>
                  <a:pt x="105728" y="66064"/>
                </a:moveTo>
                <a:lnTo>
                  <a:pt x="80880" y="105821"/>
                </a:lnTo>
                <a:cubicBezTo>
                  <a:pt x="79575" y="107902"/>
                  <a:pt x="77339" y="109206"/>
                  <a:pt x="74885" y="109330"/>
                </a:cubicBezTo>
                <a:cubicBezTo>
                  <a:pt x="72431" y="109455"/>
                  <a:pt x="70071" y="108337"/>
                  <a:pt x="68611" y="106349"/>
                </a:cubicBezTo>
                <a:lnTo>
                  <a:pt x="53702" y="86470"/>
                </a:lnTo>
                <a:cubicBezTo>
                  <a:pt x="51218" y="83178"/>
                  <a:pt x="51901" y="78519"/>
                  <a:pt x="55193" y="76034"/>
                </a:cubicBezTo>
                <a:cubicBezTo>
                  <a:pt x="58486" y="73550"/>
                  <a:pt x="63145" y="74233"/>
                  <a:pt x="65629" y="77525"/>
                </a:cubicBezTo>
                <a:lnTo>
                  <a:pt x="74015" y="88707"/>
                </a:lnTo>
                <a:lnTo>
                  <a:pt x="93086" y="58175"/>
                </a:lnTo>
                <a:cubicBezTo>
                  <a:pt x="95260" y="54696"/>
                  <a:pt x="99857" y="53609"/>
                  <a:pt x="103367" y="55814"/>
                </a:cubicBezTo>
                <a:cubicBezTo>
                  <a:pt x="106877" y="58020"/>
                  <a:pt x="107933" y="62585"/>
                  <a:pt x="105728" y="66095"/>
                </a:cubicBezTo>
                <a:close/>
              </a:path>
            </a:pathLst>
          </a:custGeom>
          <a:solidFill>
            <a:srgbClr val="FB2C36"/>
          </a:solidFill>
        </p:spPr>
      </p:sp>
      <p:sp>
        <p:nvSpPr>
          <p:cNvPr id="24" name="Text 22"/>
          <p:cNvSpPr/>
          <p:nvPr/>
        </p:nvSpPr>
        <p:spPr>
          <a:xfrm>
            <a:off x="6946334" y="3445453"/>
            <a:ext cx="1640820" cy="31798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5" dirty="0">
                <a:solidFill>
                  <a:srgbClr val="364153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SIMD vectorization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659278" y="3798732"/>
            <a:ext cx="159026" cy="159026"/>
          </a:xfrm>
          <a:custGeom>
            <a:avLst/>
            <a:gdLst/>
            <a:ahLst/>
            <a:cxnLst/>
            <a:rect l="l" t="t" r="r" b="b"/>
            <a:pathLst>
              <a:path w="159026" h="159026">
                <a:moveTo>
                  <a:pt x="79513" y="159026"/>
                </a:moveTo>
                <a:cubicBezTo>
                  <a:pt x="123397" y="159026"/>
                  <a:pt x="159026" y="123397"/>
                  <a:pt x="159026" y="79513"/>
                </a:cubicBezTo>
                <a:cubicBezTo>
                  <a:pt x="159026" y="35629"/>
                  <a:pt x="123397" y="0"/>
                  <a:pt x="79513" y="0"/>
                </a:cubicBezTo>
                <a:cubicBezTo>
                  <a:pt x="35629" y="0"/>
                  <a:pt x="0" y="35629"/>
                  <a:pt x="0" y="79513"/>
                </a:cubicBezTo>
                <a:cubicBezTo>
                  <a:pt x="0" y="123397"/>
                  <a:pt x="35629" y="159026"/>
                  <a:pt x="79513" y="159026"/>
                </a:cubicBezTo>
                <a:close/>
                <a:moveTo>
                  <a:pt x="105728" y="66064"/>
                </a:moveTo>
                <a:lnTo>
                  <a:pt x="80880" y="105821"/>
                </a:lnTo>
                <a:cubicBezTo>
                  <a:pt x="79575" y="107902"/>
                  <a:pt x="77339" y="109206"/>
                  <a:pt x="74885" y="109330"/>
                </a:cubicBezTo>
                <a:cubicBezTo>
                  <a:pt x="72431" y="109455"/>
                  <a:pt x="70071" y="108337"/>
                  <a:pt x="68611" y="106349"/>
                </a:cubicBezTo>
                <a:lnTo>
                  <a:pt x="53702" y="86470"/>
                </a:lnTo>
                <a:cubicBezTo>
                  <a:pt x="51218" y="83178"/>
                  <a:pt x="51901" y="78519"/>
                  <a:pt x="55193" y="76034"/>
                </a:cubicBezTo>
                <a:cubicBezTo>
                  <a:pt x="58486" y="73550"/>
                  <a:pt x="63145" y="74233"/>
                  <a:pt x="65629" y="77525"/>
                </a:cubicBezTo>
                <a:lnTo>
                  <a:pt x="74015" y="88707"/>
                </a:lnTo>
                <a:lnTo>
                  <a:pt x="93086" y="58175"/>
                </a:lnTo>
                <a:cubicBezTo>
                  <a:pt x="95260" y="54696"/>
                  <a:pt x="99857" y="53609"/>
                  <a:pt x="103367" y="55814"/>
                </a:cubicBezTo>
                <a:cubicBezTo>
                  <a:pt x="106877" y="58020"/>
                  <a:pt x="107933" y="62585"/>
                  <a:pt x="105728" y="66095"/>
                </a:cubicBezTo>
                <a:close/>
              </a:path>
            </a:pathLst>
          </a:custGeom>
          <a:solidFill>
            <a:srgbClr val="FB2C36"/>
          </a:solidFill>
        </p:spPr>
      </p:sp>
      <p:sp>
        <p:nvSpPr>
          <p:cNvPr id="26" name="Text 24"/>
          <p:cNvSpPr/>
          <p:nvPr/>
        </p:nvSpPr>
        <p:spPr>
          <a:xfrm>
            <a:off x="6946334" y="3763436"/>
            <a:ext cx="1312574" cy="24737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5" dirty="0">
                <a:solidFill>
                  <a:srgbClr val="364153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Parallelization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659278" y="4116715"/>
            <a:ext cx="159026" cy="159026"/>
          </a:xfrm>
          <a:custGeom>
            <a:avLst/>
            <a:gdLst/>
            <a:ahLst/>
            <a:cxnLst/>
            <a:rect l="l" t="t" r="r" b="b"/>
            <a:pathLst>
              <a:path w="159026" h="159026">
                <a:moveTo>
                  <a:pt x="79513" y="159026"/>
                </a:moveTo>
                <a:cubicBezTo>
                  <a:pt x="123397" y="159026"/>
                  <a:pt x="159026" y="123397"/>
                  <a:pt x="159026" y="79513"/>
                </a:cubicBezTo>
                <a:cubicBezTo>
                  <a:pt x="159026" y="35629"/>
                  <a:pt x="123397" y="0"/>
                  <a:pt x="79513" y="0"/>
                </a:cubicBezTo>
                <a:cubicBezTo>
                  <a:pt x="35629" y="0"/>
                  <a:pt x="0" y="35629"/>
                  <a:pt x="0" y="79513"/>
                </a:cubicBezTo>
                <a:cubicBezTo>
                  <a:pt x="0" y="123397"/>
                  <a:pt x="35629" y="159026"/>
                  <a:pt x="79513" y="159026"/>
                </a:cubicBezTo>
                <a:close/>
                <a:moveTo>
                  <a:pt x="105728" y="66064"/>
                </a:moveTo>
                <a:lnTo>
                  <a:pt x="80880" y="105821"/>
                </a:lnTo>
                <a:cubicBezTo>
                  <a:pt x="79575" y="107902"/>
                  <a:pt x="77339" y="109206"/>
                  <a:pt x="74885" y="109330"/>
                </a:cubicBezTo>
                <a:cubicBezTo>
                  <a:pt x="72431" y="109455"/>
                  <a:pt x="70071" y="108337"/>
                  <a:pt x="68611" y="106349"/>
                </a:cubicBezTo>
                <a:lnTo>
                  <a:pt x="53702" y="86470"/>
                </a:lnTo>
                <a:cubicBezTo>
                  <a:pt x="51218" y="83178"/>
                  <a:pt x="51901" y="78519"/>
                  <a:pt x="55193" y="76034"/>
                </a:cubicBezTo>
                <a:cubicBezTo>
                  <a:pt x="58486" y="73550"/>
                  <a:pt x="63145" y="74233"/>
                  <a:pt x="65629" y="77525"/>
                </a:cubicBezTo>
                <a:lnTo>
                  <a:pt x="74015" y="88707"/>
                </a:lnTo>
                <a:lnTo>
                  <a:pt x="93086" y="58175"/>
                </a:lnTo>
                <a:cubicBezTo>
                  <a:pt x="95260" y="54696"/>
                  <a:pt x="99857" y="53609"/>
                  <a:pt x="103367" y="55814"/>
                </a:cubicBezTo>
                <a:cubicBezTo>
                  <a:pt x="106877" y="58020"/>
                  <a:pt x="107933" y="62585"/>
                  <a:pt x="105728" y="66095"/>
                </a:cubicBezTo>
                <a:close/>
              </a:path>
            </a:pathLst>
          </a:custGeom>
          <a:solidFill>
            <a:srgbClr val="FB2C36"/>
          </a:solidFill>
        </p:spPr>
      </p:sp>
      <p:sp>
        <p:nvSpPr>
          <p:cNvPr id="28" name="Text 26"/>
          <p:cNvSpPr/>
          <p:nvPr/>
        </p:nvSpPr>
        <p:spPr>
          <a:xfrm>
            <a:off x="6946333" y="4081411"/>
            <a:ext cx="1910451" cy="3206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5" dirty="0">
                <a:solidFill>
                  <a:srgbClr val="364153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GPU acceleration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370932" y="5901462"/>
            <a:ext cx="11467460" cy="600765"/>
          </a:xfrm>
          <a:custGeom>
            <a:avLst/>
            <a:gdLst/>
            <a:ahLst/>
            <a:cxnLst/>
            <a:rect l="l" t="t" r="r" b="b"/>
            <a:pathLst>
              <a:path w="11467460" h="600765">
                <a:moveTo>
                  <a:pt x="35163" y="0"/>
                </a:moveTo>
                <a:lnTo>
                  <a:pt x="11361443" y="0"/>
                </a:lnTo>
                <a:cubicBezTo>
                  <a:pt x="11419994" y="0"/>
                  <a:pt x="11467460" y="47465"/>
                  <a:pt x="11467460" y="106017"/>
                </a:cubicBezTo>
                <a:lnTo>
                  <a:pt x="11467460" y="494748"/>
                </a:lnTo>
                <a:cubicBezTo>
                  <a:pt x="11467460" y="553300"/>
                  <a:pt x="11419994" y="600765"/>
                  <a:pt x="11361443" y="600765"/>
                </a:cubicBezTo>
                <a:lnTo>
                  <a:pt x="35163" y="600765"/>
                </a:lnTo>
                <a:cubicBezTo>
                  <a:pt x="15743" y="600765"/>
                  <a:pt x="0" y="585022"/>
                  <a:pt x="0" y="565602"/>
                </a:cubicBezTo>
                <a:lnTo>
                  <a:pt x="0" y="35163"/>
                </a:lnTo>
                <a:cubicBezTo>
                  <a:pt x="0" y="15756"/>
                  <a:pt x="15756" y="0"/>
                  <a:pt x="35163" y="0"/>
                </a:cubicBezTo>
                <a:close/>
              </a:path>
            </a:pathLst>
          </a:custGeom>
          <a:solidFill>
            <a:srgbClr val="8B0000">
              <a:alpha val="10196"/>
            </a:srgbClr>
          </a:solidFill>
        </p:spPr>
      </p:sp>
      <p:sp>
        <p:nvSpPr>
          <p:cNvPr id="30" name="Shape 28"/>
          <p:cNvSpPr/>
          <p:nvPr/>
        </p:nvSpPr>
        <p:spPr>
          <a:xfrm>
            <a:off x="370932" y="5901462"/>
            <a:ext cx="35163" cy="600765"/>
          </a:xfrm>
          <a:custGeom>
            <a:avLst/>
            <a:gdLst/>
            <a:ahLst/>
            <a:cxnLst/>
            <a:rect l="l" t="t" r="r" b="b"/>
            <a:pathLst>
              <a:path w="35163" h="600765">
                <a:moveTo>
                  <a:pt x="35163" y="0"/>
                </a:moveTo>
                <a:lnTo>
                  <a:pt x="35163" y="0"/>
                </a:lnTo>
                <a:lnTo>
                  <a:pt x="35163" y="600765"/>
                </a:lnTo>
                <a:lnTo>
                  <a:pt x="35163" y="600765"/>
                </a:lnTo>
                <a:cubicBezTo>
                  <a:pt x="15756" y="600765"/>
                  <a:pt x="0" y="585009"/>
                  <a:pt x="0" y="565602"/>
                </a:cubicBezTo>
                <a:lnTo>
                  <a:pt x="0" y="35163"/>
                </a:lnTo>
                <a:cubicBezTo>
                  <a:pt x="0" y="15756"/>
                  <a:pt x="15756" y="0"/>
                  <a:pt x="35163" y="0"/>
                </a:cubicBezTo>
                <a:close/>
              </a:path>
            </a:pathLst>
          </a:custGeom>
          <a:solidFill>
            <a:srgbClr val="8B0000"/>
          </a:solidFill>
        </p:spPr>
      </p:sp>
      <p:sp>
        <p:nvSpPr>
          <p:cNvPr id="31" name="Text 29"/>
          <p:cNvSpPr/>
          <p:nvPr/>
        </p:nvSpPr>
        <p:spPr>
          <a:xfrm>
            <a:off x="565154" y="6078097"/>
            <a:ext cx="11184835" cy="24737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90" b="1" dirty="0">
                <a:solidFill>
                  <a:srgbClr val="00000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Core Idea:</a:t>
            </a:r>
            <a:r>
              <a:rPr lang="en-US" sz="1390" dirty="0">
                <a:solidFill>
                  <a:srgbClr val="00000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Select targeted optimization strategies based on where the program falls in the Roofline chart</a:t>
            </a:r>
            <a:endParaRPr lang="en-US" sz="1600" dirty="0"/>
          </a:p>
        </p:txBody>
      </p:sp>
      <p:sp>
        <p:nvSpPr>
          <p:cNvPr id="32" name="灯片编号占位符 31"/>
          <p:cNvSpPr>
            <a:spLocks noGrp="1"/>
          </p:cNvSpPr>
          <p:nvPr>
            <p:ph type="sldNum" sz="quarter" idx="4294967295"/>
          </p:nvPr>
        </p:nvSpPr>
        <p:spPr>
          <a:xfrm>
            <a:off x="0" y="593725"/>
            <a:ext cx="419100" cy="365125"/>
          </a:xfrm>
        </p:spPr>
        <p:txBody>
          <a:bodyPr/>
          <a:lstStyle/>
          <a:p>
            <a:fld id="{B33F7469-D28B-482F-B1B6-3B8E7CF51519}" type="slidenum">
              <a:rPr lang="zh-CN" altLang="en-US" smtClean="0"/>
              <a:t>21</a:t>
            </a:fld>
            <a:endParaRPr lang="zh-CN" altLang="en-US" dirty="0"/>
          </a:p>
        </p:txBody>
      </p:sp>
    </p:spTree>
  </p:cSld>
  <p:clrMapOvr>
    <a:masterClrMapping/>
  </p:clrMapOvr>
  <p:transition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4720" y="608842"/>
            <a:ext cx="11601450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00000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Summary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0956" y="1236667"/>
            <a:ext cx="115443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8B000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Key Performance Metrics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0956" y="1731800"/>
            <a:ext cx="3686175" cy="1181100"/>
          </a:xfrm>
          <a:custGeom>
            <a:avLst/>
            <a:gdLst/>
            <a:ahLst/>
            <a:cxnLst/>
            <a:rect l="l" t="t" r="r" b="b"/>
            <a:pathLst>
              <a:path w="3686175" h="1181100">
                <a:moveTo>
                  <a:pt x="114295" y="0"/>
                </a:moveTo>
                <a:lnTo>
                  <a:pt x="3571880" y="0"/>
                </a:lnTo>
                <a:cubicBezTo>
                  <a:pt x="3635003" y="0"/>
                  <a:pt x="3686175" y="51172"/>
                  <a:pt x="3686175" y="114295"/>
                </a:cubicBezTo>
                <a:lnTo>
                  <a:pt x="3686175" y="1066805"/>
                </a:lnTo>
                <a:cubicBezTo>
                  <a:pt x="3686175" y="1129928"/>
                  <a:pt x="3635003" y="1181100"/>
                  <a:pt x="3571880" y="1181100"/>
                </a:cubicBezTo>
                <a:lnTo>
                  <a:pt x="114295" y="1181100"/>
                </a:lnTo>
                <a:cubicBezTo>
                  <a:pt x="51172" y="1181100"/>
                  <a:pt x="0" y="1129928"/>
                  <a:pt x="0" y="1066805"/>
                </a:cubicBezTo>
                <a:lnTo>
                  <a:pt x="0" y="114295"/>
                </a:lnTo>
                <a:cubicBezTo>
                  <a:pt x="0" y="51214"/>
                  <a:pt x="51214" y="0"/>
                  <a:pt x="114295" y="0"/>
                </a:cubicBezTo>
                <a:close/>
              </a:path>
            </a:pathLst>
          </a:custGeom>
          <a:solidFill>
            <a:srgbClr val="F9FAFB"/>
          </a:solidFill>
        </p:spPr>
      </p:sp>
      <p:sp>
        <p:nvSpPr>
          <p:cNvPr id="5" name="Shape 3"/>
          <p:cNvSpPr/>
          <p:nvPr/>
        </p:nvSpPr>
        <p:spPr>
          <a:xfrm>
            <a:off x="571396" y="1922244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8B0000"/>
          </a:solidFill>
        </p:spPr>
      </p:sp>
      <p:sp>
        <p:nvSpPr>
          <p:cNvPr id="6" name="Shape 4"/>
          <p:cNvSpPr/>
          <p:nvPr/>
        </p:nvSpPr>
        <p:spPr>
          <a:xfrm>
            <a:off x="728532" y="2055519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23812" y="0"/>
                </a:moveTo>
                <a:cubicBezTo>
                  <a:pt x="10678" y="0"/>
                  <a:pt x="0" y="10678"/>
                  <a:pt x="0" y="23812"/>
                </a:cubicBezTo>
                <a:lnTo>
                  <a:pt x="0" y="166688"/>
                </a:lnTo>
                <a:cubicBezTo>
                  <a:pt x="0" y="179822"/>
                  <a:pt x="10678" y="190500"/>
                  <a:pt x="23812" y="190500"/>
                </a:cubicBezTo>
                <a:lnTo>
                  <a:pt x="119063" y="190500"/>
                </a:lnTo>
                <a:cubicBezTo>
                  <a:pt x="132197" y="190500"/>
                  <a:pt x="142875" y="179822"/>
                  <a:pt x="142875" y="166688"/>
                </a:cubicBezTo>
                <a:lnTo>
                  <a:pt x="142875" y="23812"/>
                </a:lnTo>
                <a:cubicBezTo>
                  <a:pt x="142875" y="10678"/>
                  <a:pt x="132197" y="0"/>
                  <a:pt x="119063" y="0"/>
                </a:cubicBezTo>
                <a:lnTo>
                  <a:pt x="23812" y="0"/>
                </a:lnTo>
                <a:close/>
                <a:moveTo>
                  <a:pt x="35719" y="23812"/>
                </a:moveTo>
                <a:lnTo>
                  <a:pt x="107156" y="23812"/>
                </a:lnTo>
                <a:cubicBezTo>
                  <a:pt x="113742" y="23812"/>
                  <a:pt x="119063" y="29133"/>
                  <a:pt x="119063" y="35719"/>
                </a:cubicBezTo>
                <a:lnTo>
                  <a:pt x="119063" y="47625"/>
                </a:lnTo>
                <a:cubicBezTo>
                  <a:pt x="119063" y="54211"/>
                  <a:pt x="113742" y="59531"/>
                  <a:pt x="107156" y="59531"/>
                </a:cubicBezTo>
                <a:lnTo>
                  <a:pt x="35719" y="59531"/>
                </a:lnTo>
                <a:cubicBezTo>
                  <a:pt x="29133" y="59531"/>
                  <a:pt x="23812" y="54211"/>
                  <a:pt x="23812" y="47625"/>
                </a:cubicBezTo>
                <a:lnTo>
                  <a:pt x="23812" y="35719"/>
                </a:lnTo>
                <a:cubicBezTo>
                  <a:pt x="23812" y="29133"/>
                  <a:pt x="29133" y="23812"/>
                  <a:pt x="35719" y="23812"/>
                </a:cubicBezTo>
                <a:close/>
                <a:moveTo>
                  <a:pt x="41672" y="86320"/>
                </a:moveTo>
                <a:cubicBezTo>
                  <a:pt x="41672" y="91249"/>
                  <a:pt x="37671" y="95250"/>
                  <a:pt x="32742" y="95250"/>
                </a:cubicBezTo>
                <a:cubicBezTo>
                  <a:pt x="27814" y="95250"/>
                  <a:pt x="23812" y="91249"/>
                  <a:pt x="23812" y="86320"/>
                </a:cubicBezTo>
                <a:cubicBezTo>
                  <a:pt x="23812" y="81392"/>
                  <a:pt x="27814" y="77391"/>
                  <a:pt x="32742" y="77391"/>
                </a:cubicBezTo>
                <a:cubicBezTo>
                  <a:pt x="37671" y="77391"/>
                  <a:pt x="41672" y="81392"/>
                  <a:pt x="41672" y="86320"/>
                </a:cubicBezTo>
                <a:close/>
                <a:moveTo>
                  <a:pt x="71438" y="95250"/>
                </a:moveTo>
                <a:cubicBezTo>
                  <a:pt x="66509" y="95250"/>
                  <a:pt x="62508" y="91249"/>
                  <a:pt x="62508" y="86320"/>
                </a:cubicBezTo>
                <a:cubicBezTo>
                  <a:pt x="62508" y="81392"/>
                  <a:pt x="66509" y="77391"/>
                  <a:pt x="71438" y="77391"/>
                </a:cubicBezTo>
                <a:cubicBezTo>
                  <a:pt x="76366" y="77391"/>
                  <a:pt x="80367" y="81392"/>
                  <a:pt x="80367" y="86320"/>
                </a:cubicBezTo>
                <a:cubicBezTo>
                  <a:pt x="80367" y="91249"/>
                  <a:pt x="76366" y="95250"/>
                  <a:pt x="71438" y="95250"/>
                </a:cubicBezTo>
                <a:close/>
                <a:moveTo>
                  <a:pt x="119063" y="86320"/>
                </a:moveTo>
                <a:cubicBezTo>
                  <a:pt x="119063" y="91249"/>
                  <a:pt x="115061" y="95250"/>
                  <a:pt x="110133" y="95250"/>
                </a:cubicBezTo>
                <a:cubicBezTo>
                  <a:pt x="105204" y="95250"/>
                  <a:pt x="101203" y="91249"/>
                  <a:pt x="101203" y="86320"/>
                </a:cubicBezTo>
                <a:cubicBezTo>
                  <a:pt x="101203" y="81392"/>
                  <a:pt x="105204" y="77391"/>
                  <a:pt x="110133" y="77391"/>
                </a:cubicBezTo>
                <a:cubicBezTo>
                  <a:pt x="115061" y="77391"/>
                  <a:pt x="119063" y="81392"/>
                  <a:pt x="119063" y="86320"/>
                </a:cubicBezTo>
                <a:close/>
                <a:moveTo>
                  <a:pt x="32742" y="130969"/>
                </a:moveTo>
                <a:cubicBezTo>
                  <a:pt x="27814" y="130969"/>
                  <a:pt x="23812" y="126967"/>
                  <a:pt x="23812" y="122039"/>
                </a:cubicBezTo>
                <a:cubicBezTo>
                  <a:pt x="23812" y="117111"/>
                  <a:pt x="27814" y="113109"/>
                  <a:pt x="32742" y="113109"/>
                </a:cubicBezTo>
                <a:cubicBezTo>
                  <a:pt x="37671" y="113109"/>
                  <a:pt x="41672" y="117111"/>
                  <a:pt x="41672" y="122039"/>
                </a:cubicBezTo>
                <a:cubicBezTo>
                  <a:pt x="41672" y="126967"/>
                  <a:pt x="37671" y="130969"/>
                  <a:pt x="32742" y="130969"/>
                </a:cubicBezTo>
                <a:close/>
                <a:moveTo>
                  <a:pt x="80367" y="122039"/>
                </a:moveTo>
                <a:cubicBezTo>
                  <a:pt x="80367" y="126967"/>
                  <a:pt x="76366" y="130969"/>
                  <a:pt x="71438" y="130969"/>
                </a:cubicBezTo>
                <a:cubicBezTo>
                  <a:pt x="66509" y="130969"/>
                  <a:pt x="62508" y="126967"/>
                  <a:pt x="62508" y="122039"/>
                </a:cubicBezTo>
                <a:cubicBezTo>
                  <a:pt x="62508" y="117111"/>
                  <a:pt x="66509" y="113109"/>
                  <a:pt x="71438" y="113109"/>
                </a:cubicBezTo>
                <a:cubicBezTo>
                  <a:pt x="76366" y="113109"/>
                  <a:pt x="80367" y="117111"/>
                  <a:pt x="80367" y="122039"/>
                </a:cubicBezTo>
                <a:close/>
                <a:moveTo>
                  <a:pt x="110133" y="130969"/>
                </a:moveTo>
                <a:cubicBezTo>
                  <a:pt x="105204" y="130969"/>
                  <a:pt x="101203" y="126967"/>
                  <a:pt x="101203" y="122039"/>
                </a:cubicBezTo>
                <a:cubicBezTo>
                  <a:pt x="101203" y="117111"/>
                  <a:pt x="105204" y="113109"/>
                  <a:pt x="110133" y="113109"/>
                </a:cubicBezTo>
                <a:cubicBezTo>
                  <a:pt x="115061" y="113109"/>
                  <a:pt x="119063" y="117111"/>
                  <a:pt x="119063" y="122039"/>
                </a:cubicBezTo>
                <a:cubicBezTo>
                  <a:pt x="119063" y="126967"/>
                  <a:pt x="115061" y="130969"/>
                  <a:pt x="110133" y="130969"/>
                </a:cubicBezTo>
                <a:close/>
                <a:moveTo>
                  <a:pt x="23812" y="157758"/>
                </a:moveTo>
                <a:cubicBezTo>
                  <a:pt x="23812" y="152809"/>
                  <a:pt x="27794" y="148828"/>
                  <a:pt x="32742" y="148828"/>
                </a:cubicBezTo>
                <a:lnTo>
                  <a:pt x="74414" y="148828"/>
                </a:lnTo>
                <a:cubicBezTo>
                  <a:pt x="79363" y="148828"/>
                  <a:pt x="83344" y="152809"/>
                  <a:pt x="83344" y="157758"/>
                </a:cubicBezTo>
                <a:cubicBezTo>
                  <a:pt x="83344" y="162706"/>
                  <a:pt x="79363" y="166688"/>
                  <a:pt x="74414" y="166688"/>
                </a:cubicBezTo>
                <a:lnTo>
                  <a:pt x="32742" y="166688"/>
                </a:lnTo>
                <a:cubicBezTo>
                  <a:pt x="27794" y="166688"/>
                  <a:pt x="23812" y="162706"/>
                  <a:pt x="23812" y="157758"/>
                </a:cubicBezTo>
                <a:close/>
                <a:moveTo>
                  <a:pt x="110133" y="148828"/>
                </a:moveTo>
                <a:cubicBezTo>
                  <a:pt x="115081" y="148828"/>
                  <a:pt x="119063" y="152809"/>
                  <a:pt x="119063" y="157758"/>
                </a:cubicBezTo>
                <a:cubicBezTo>
                  <a:pt x="119063" y="162706"/>
                  <a:pt x="115081" y="166688"/>
                  <a:pt x="110133" y="166688"/>
                </a:cubicBezTo>
                <a:cubicBezTo>
                  <a:pt x="105184" y="166688"/>
                  <a:pt x="101203" y="162706"/>
                  <a:pt x="101203" y="157758"/>
                </a:cubicBezTo>
                <a:cubicBezTo>
                  <a:pt x="101203" y="152809"/>
                  <a:pt x="105184" y="148828"/>
                  <a:pt x="110133" y="148828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7" name="Text 5"/>
          <p:cNvSpPr/>
          <p:nvPr/>
        </p:nvSpPr>
        <p:spPr>
          <a:xfrm>
            <a:off x="1142793" y="2017466"/>
            <a:ext cx="7048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00000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FLOPS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71396" y="2493642"/>
            <a:ext cx="338137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64153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Compute Capacity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254411" y="1731800"/>
            <a:ext cx="3686175" cy="1181100"/>
          </a:xfrm>
          <a:custGeom>
            <a:avLst/>
            <a:gdLst/>
            <a:ahLst/>
            <a:cxnLst/>
            <a:rect l="l" t="t" r="r" b="b"/>
            <a:pathLst>
              <a:path w="3686175" h="1181100">
                <a:moveTo>
                  <a:pt x="114295" y="0"/>
                </a:moveTo>
                <a:lnTo>
                  <a:pt x="3571880" y="0"/>
                </a:lnTo>
                <a:cubicBezTo>
                  <a:pt x="3635003" y="0"/>
                  <a:pt x="3686175" y="51172"/>
                  <a:pt x="3686175" y="114295"/>
                </a:cubicBezTo>
                <a:lnTo>
                  <a:pt x="3686175" y="1066805"/>
                </a:lnTo>
                <a:cubicBezTo>
                  <a:pt x="3686175" y="1129928"/>
                  <a:pt x="3635003" y="1181100"/>
                  <a:pt x="3571880" y="1181100"/>
                </a:cubicBezTo>
                <a:lnTo>
                  <a:pt x="114295" y="1181100"/>
                </a:lnTo>
                <a:cubicBezTo>
                  <a:pt x="51172" y="1181100"/>
                  <a:pt x="0" y="1129928"/>
                  <a:pt x="0" y="1066805"/>
                </a:cubicBezTo>
                <a:lnTo>
                  <a:pt x="0" y="114295"/>
                </a:lnTo>
                <a:cubicBezTo>
                  <a:pt x="0" y="51214"/>
                  <a:pt x="51214" y="0"/>
                  <a:pt x="114295" y="0"/>
                </a:cubicBezTo>
                <a:close/>
              </a:path>
            </a:pathLst>
          </a:custGeom>
          <a:solidFill>
            <a:srgbClr val="F9FAFB"/>
          </a:solidFill>
        </p:spPr>
      </p:sp>
      <p:sp>
        <p:nvSpPr>
          <p:cNvPr id="10" name="Shape 8"/>
          <p:cNvSpPr/>
          <p:nvPr/>
        </p:nvSpPr>
        <p:spPr>
          <a:xfrm>
            <a:off x="4444852" y="1922244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8B0000"/>
          </a:solidFill>
        </p:spPr>
      </p:sp>
      <p:sp>
        <p:nvSpPr>
          <p:cNvPr id="11" name="Shape 9"/>
          <p:cNvSpPr/>
          <p:nvPr/>
        </p:nvSpPr>
        <p:spPr>
          <a:xfrm>
            <a:off x="4578175" y="2055519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0" y="95250"/>
                </a:moveTo>
                <a:cubicBezTo>
                  <a:pt x="0" y="42680"/>
                  <a:pt x="42680" y="0"/>
                  <a:pt x="95250" y="0"/>
                </a:cubicBezTo>
                <a:cubicBezTo>
                  <a:pt x="147820" y="0"/>
                  <a:pt x="190500" y="42680"/>
                  <a:pt x="190500" y="95250"/>
                </a:cubicBezTo>
                <a:cubicBezTo>
                  <a:pt x="190500" y="147820"/>
                  <a:pt x="147820" y="190500"/>
                  <a:pt x="95250" y="190500"/>
                </a:cubicBezTo>
                <a:cubicBezTo>
                  <a:pt x="42680" y="190500"/>
                  <a:pt x="0" y="147820"/>
                  <a:pt x="0" y="95250"/>
                </a:cubicBezTo>
                <a:close/>
                <a:moveTo>
                  <a:pt x="107156" y="35719"/>
                </a:moveTo>
                <a:cubicBezTo>
                  <a:pt x="107156" y="29148"/>
                  <a:pt x="101821" y="23812"/>
                  <a:pt x="95250" y="23812"/>
                </a:cubicBezTo>
                <a:cubicBezTo>
                  <a:pt x="88679" y="23812"/>
                  <a:pt x="83344" y="29148"/>
                  <a:pt x="83344" y="35719"/>
                </a:cubicBezTo>
                <a:cubicBezTo>
                  <a:pt x="83344" y="42290"/>
                  <a:pt x="88679" y="47625"/>
                  <a:pt x="95250" y="47625"/>
                </a:cubicBezTo>
                <a:cubicBezTo>
                  <a:pt x="101821" y="47625"/>
                  <a:pt x="107156" y="42290"/>
                  <a:pt x="107156" y="35719"/>
                </a:cubicBezTo>
                <a:close/>
                <a:moveTo>
                  <a:pt x="95250" y="154781"/>
                </a:moveTo>
                <a:cubicBezTo>
                  <a:pt x="108384" y="154781"/>
                  <a:pt x="119063" y="144103"/>
                  <a:pt x="119063" y="130969"/>
                </a:cubicBezTo>
                <a:cubicBezTo>
                  <a:pt x="119063" y="124941"/>
                  <a:pt x="116830" y="119397"/>
                  <a:pt x="113109" y="115230"/>
                </a:cubicBezTo>
                <a:lnTo>
                  <a:pt x="138968" y="63550"/>
                </a:lnTo>
                <a:cubicBezTo>
                  <a:pt x="141163" y="59122"/>
                  <a:pt x="139378" y="53764"/>
                  <a:pt x="134987" y="51569"/>
                </a:cubicBezTo>
                <a:cubicBezTo>
                  <a:pt x="130597" y="49374"/>
                  <a:pt x="125202" y="51160"/>
                  <a:pt x="123006" y="55550"/>
                </a:cubicBezTo>
                <a:lnTo>
                  <a:pt x="97148" y="107231"/>
                </a:lnTo>
                <a:cubicBezTo>
                  <a:pt x="96515" y="107193"/>
                  <a:pt x="95883" y="107156"/>
                  <a:pt x="95250" y="107156"/>
                </a:cubicBezTo>
                <a:cubicBezTo>
                  <a:pt x="82116" y="107156"/>
                  <a:pt x="71438" y="117835"/>
                  <a:pt x="71438" y="130969"/>
                </a:cubicBezTo>
                <a:cubicBezTo>
                  <a:pt x="71438" y="144103"/>
                  <a:pt x="82116" y="154781"/>
                  <a:pt x="95250" y="154781"/>
                </a:cubicBezTo>
                <a:close/>
                <a:moveTo>
                  <a:pt x="65484" y="53578"/>
                </a:moveTo>
                <a:cubicBezTo>
                  <a:pt x="65484" y="47007"/>
                  <a:pt x="60149" y="41672"/>
                  <a:pt x="53578" y="41672"/>
                </a:cubicBezTo>
                <a:cubicBezTo>
                  <a:pt x="47007" y="41672"/>
                  <a:pt x="41672" y="47007"/>
                  <a:pt x="41672" y="53578"/>
                </a:cubicBezTo>
                <a:cubicBezTo>
                  <a:pt x="41672" y="60149"/>
                  <a:pt x="47007" y="65484"/>
                  <a:pt x="53578" y="65484"/>
                </a:cubicBezTo>
                <a:cubicBezTo>
                  <a:pt x="60149" y="65484"/>
                  <a:pt x="65484" y="60149"/>
                  <a:pt x="65484" y="53578"/>
                </a:cubicBezTo>
                <a:close/>
                <a:moveTo>
                  <a:pt x="35719" y="107156"/>
                </a:moveTo>
                <a:cubicBezTo>
                  <a:pt x="42290" y="107156"/>
                  <a:pt x="47625" y="101821"/>
                  <a:pt x="47625" y="95250"/>
                </a:cubicBezTo>
                <a:cubicBezTo>
                  <a:pt x="47625" y="88679"/>
                  <a:pt x="42290" y="83344"/>
                  <a:pt x="35719" y="83344"/>
                </a:cubicBezTo>
                <a:cubicBezTo>
                  <a:pt x="29148" y="83344"/>
                  <a:pt x="23812" y="88679"/>
                  <a:pt x="23812" y="95250"/>
                </a:cubicBezTo>
                <a:cubicBezTo>
                  <a:pt x="23812" y="101821"/>
                  <a:pt x="29148" y="107156"/>
                  <a:pt x="35719" y="107156"/>
                </a:cubicBezTo>
                <a:close/>
                <a:moveTo>
                  <a:pt x="166688" y="95250"/>
                </a:moveTo>
                <a:cubicBezTo>
                  <a:pt x="166688" y="88679"/>
                  <a:pt x="161352" y="83344"/>
                  <a:pt x="154781" y="83344"/>
                </a:cubicBezTo>
                <a:cubicBezTo>
                  <a:pt x="148210" y="83344"/>
                  <a:pt x="142875" y="88679"/>
                  <a:pt x="142875" y="95250"/>
                </a:cubicBezTo>
                <a:cubicBezTo>
                  <a:pt x="142875" y="101821"/>
                  <a:pt x="148210" y="107156"/>
                  <a:pt x="154781" y="107156"/>
                </a:cubicBezTo>
                <a:cubicBezTo>
                  <a:pt x="161352" y="107156"/>
                  <a:pt x="166688" y="101821"/>
                  <a:pt x="166688" y="95250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12" name="Text 10"/>
          <p:cNvSpPr/>
          <p:nvPr/>
        </p:nvSpPr>
        <p:spPr>
          <a:xfrm>
            <a:off x="5016248" y="2017466"/>
            <a:ext cx="113347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00000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Bandwidth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444852" y="2493642"/>
            <a:ext cx="338137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64153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Data Throughput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127941" y="1731800"/>
            <a:ext cx="3686175" cy="1181100"/>
          </a:xfrm>
          <a:custGeom>
            <a:avLst/>
            <a:gdLst/>
            <a:ahLst/>
            <a:cxnLst/>
            <a:rect l="l" t="t" r="r" b="b"/>
            <a:pathLst>
              <a:path w="3686175" h="1181100">
                <a:moveTo>
                  <a:pt x="114295" y="0"/>
                </a:moveTo>
                <a:lnTo>
                  <a:pt x="3571880" y="0"/>
                </a:lnTo>
                <a:cubicBezTo>
                  <a:pt x="3635003" y="0"/>
                  <a:pt x="3686175" y="51172"/>
                  <a:pt x="3686175" y="114295"/>
                </a:cubicBezTo>
                <a:lnTo>
                  <a:pt x="3686175" y="1066805"/>
                </a:lnTo>
                <a:cubicBezTo>
                  <a:pt x="3686175" y="1129928"/>
                  <a:pt x="3635003" y="1181100"/>
                  <a:pt x="3571880" y="1181100"/>
                </a:cubicBezTo>
                <a:lnTo>
                  <a:pt x="114295" y="1181100"/>
                </a:lnTo>
                <a:cubicBezTo>
                  <a:pt x="51172" y="1181100"/>
                  <a:pt x="0" y="1129928"/>
                  <a:pt x="0" y="1066805"/>
                </a:cubicBezTo>
                <a:lnTo>
                  <a:pt x="0" y="114295"/>
                </a:lnTo>
                <a:cubicBezTo>
                  <a:pt x="0" y="51214"/>
                  <a:pt x="51214" y="0"/>
                  <a:pt x="114295" y="0"/>
                </a:cubicBezTo>
                <a:close/>
              </a:path>
            </a:pathLst>
          </a:custGeom>
          <a:solidFill>
            <a:srgbClr val="F9FAFB"/>
          </a:solidFill>
        </p:spPr>
      </p:sp>
      <p:sp>
        <p:nvSpPr>
          <p:cNvPr id="15" name="Shape 13"/>
          <p:cNvSpPr/>
          <p:nvPr/>
        </p:nvSpPr>
        <p:spPr>
          <a:xfrm>
            <a:off x="8318381" y="1922244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8B0000"/>
          </a:solidFill>
        </p:spPr>
      </p:sp>
      <p:sp>
        <p:nvSpPr>
          <p:cNvPr id="16" name="Shape 14"/>
          <p:cNvSpPr/>
          <p:nvPr/>
        </p:nvSpPr>
        <p:spPr>
          <a:xfrm>
            <a:off x="8451704" y="2055519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0"/>
                </a:moveTo>
                <a:cubicBezTo>
                  <a:pt x="147820" y="0"/>
                  <a:pt x="190500" y="42680"/>
                  <a:pt x="190500" y="95250"/>
                </a:cubicBezTo>
                <a:cubicBezTo>
                  <a:pt x="190500" y="147820"/>
                  <a:pt x="147820" y="190500"/>
                  <a:pt x="95250" y="190500"/>
                </a:cubicBezTo>
                <a:cubicBezTo>
                  <a:pt x="42680" y="190500"/>
                  <a:pt x="0" y="147820"/>
                  <a:pt x="0" y="95250"/>
                </a:cubicBezTo>
                <a:cubicBezTo>
                  <a:pt x="0" y="42680"/>
                  <a:pt x="42680" y="0"/>
                  <a:pt x="95250" y="0"/>
                </a:cubicBezTo>
                <a:close/>
                <a:moveTo>
                  <a:pt x="86320" y="44648"/>
                </a:moveTo>
                <a:lnTo>
                  <a:pt x="86320" y="95250"/>
                </a:lnTo>
                <a:cubicBezTo>
                  <a:pt x="86320" y="98227"/>
                  <a:pt x="87809" y="101017"/>
                  <a:pt x="90301" y="102691"/>
                </a:cubicBezTo>
                <a:lnTo>
                  <a:pt x="126020" y="126504"/>
                </a:lnTo>
                <a:cubicBezTo>
                  <a:pt x="130113" y="129257"/>
                  <a:pt x="135657" y="128141"/>
                  <a:pt x="138410" y="124011"/>
                </a:cubicBezTo>
                <a:cubicBezTo>
                  <a:pt x="141163" y="119881"/>
                  <a:pt x="140047" y="114374"/>
                  <a:pt x="135917" y="111621"/>
                </a:cubicBezTo>
                <a:lnTo>
                  <a:pt x="104180" y="90488"/>
                </a:lnTo>
                <a:lnTo>
                  <a:pt x="104180" y="44648"/>
                </a:lnTo>
                <a:cubicBezTo>
                  <a:pt x="104180" y="39700"/>
                  <a:pt x="100199" y="35719"/>
                  <a:pt x="95250" y="35719"/>
                </a:cubicBezTo>
                <a:cubicBezTo>
                  <a:pt x="90301" y="35719"/>
                  <a:pt x="86320" y="39700"/>
                  <a:pt x="86320" y="44648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17" name="Text 15"/>
          <p:cNvSpPr/>
          <p:nvPr/>
        </p:nvSpPr>
        <p:spPr>
          <a:xfrm>
            <a:off x="8889778" y="2017466"/>
            <a:ext cx="82867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00000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Latency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318381" y="2493642"/>
            <a:ext cx="338137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64153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Single Access Time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380956" y="3103093"/>
            <a:ext cx="3686175" cy="1181100"/>
          </a:xfrm>
          <a:custGeom>
            <a:avLst/>
            <a:gdLst/>
            <a:ahLst/>
            <a:cxnLst/>
            <a:rect l="l" t="t" r="r" b="b"/>
            <a:pathLst>
              <a:path w="3686175" h="1181100">
                <a:moveTo>
                  <a:pt x="114295" y="0"/>
                </a:moveTo>
                <a:lnTo>
                  <a:pt x="3571880" y="0"/>
                </a:lnTo>
                <a:cubicBezTo>
                  <a:pt x="3635003" y="0"/>
                  <a:pt x="3686175" y="51172"/>
                  <a:pt x="3686175" y="114295"/>
                </a:cubicBezTo>
                <a:lnTo>
                  <a:pt x="3686175" y="1066805"/>
                </a:lnTo>
                <a:cubicBezTo>
                  <a:pt x="3686175" y="1129928"/>
                  <a:pt x="3635003" y="1181100"/>
                  <a:pt x="3571880" y="1181100"/>
                </a:cubicBezTo>
                <a:lnTo>
                  <a:pt x="114295" y="1181100"/>
                </a:lnTo>
                <a:cubicBezTo>
                  <a:pt x="51172" y="1181100"/>
                  <a:pt x="0" y="1129928"/>
                  <a:pt x="0" y="1066805"/>
                </a:cubicBezTo>
                <a:lnTo>
                  <a:pt x="0" y="114295"/>
                </a:lnTo>
                <a:cubicBezTo>
                  <a:pt x="0" y="51214"/>
                  <a:pt x="51214" y="0"/>
                  <a:pt x="114295" y="0"/>
                </a:cubicBezTo>
                <a:close/>
              </a:path>
            </a:pathLst>
          </a:custGeom>
          <a:solidFill>
            <a:srgbClr val="F9FAFB"/>
          </a:solidFill>
        </p:spPr>
      </p:sp>
      <p:sp>
        <p:nvSpPr>
          <p:cNvPr id="20" name="Shape 18"/>
          <p:cNvSpPr/>
          <p:nvPr/>
        </p:nvSpPr>
        <p:spPr>
          <a:xfrm>
            <a:off x="571396" y="3293537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8B0000"/>
          </a:solidFill>
        </p:spPr>
      </p:sp>
      <p:sp>
        <p:nvSpPr>
          <p:cNvPr id="21" name="Shape 19"/>
          <p:cNvSpPr/>
          <p:nvPr/>
        </p:nvSpPr>
        <p:spPr>
          <a:xfrm>
            <a:off x="704720" y="3426812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23812" y="23812"/>
                </a:moveTo>
                <a:cubicBezTo>
                  <a:pt x="23812" y="17227"/>
                  <a:pt x="18492" y="11906"/>
                  <a:pt x="11906" y="11906"/>
                </a:cubicBezTo>
                <a:cubicBezTo>
                  <a:pt x="5321" y="11906"/>
                  <a:pt x="0" y="17227"/>
                  <a:pt x="0" y="23812"/>
                </a:cubicBezTo>
                <a:lnTo>
                  <a:pt x="0" y="148828"/>
                </a:lnTo>
                <a:cubicBezTo>
                  <a:pt x="0" y="165274"/>
                  <a:pt x="13320" y="178594"/>
                  <a:pt x="29766" y="178594"/>
                </a:cubicBezTo>
                <a:lnTo>
                  <a:pt x="178594" y="178594"/>
                </a:lnTo>
                <a:cubicBezTo>
                  <a:pt x="185179" y="178594"/>
                  <a:pt x="190500" y="173273"/>
                  <a:pt x="190500" y="166688"/>
                </a:cubicBezTo>
                <a:cubicBezTo>
                  <a:pt x="190500" y="160102"/>
                  <a:pt x="185179" y="154781"/>
                  <a:pt x="178594" y="154781"/>
                </a:cubicBezTo>
                <a:lnTo>
                  <a:pt x="29766" y="154781"/>
                </a:lnTo>
                <a:cubicBezTo>
                  <a:pt x="26491" y="154781"/>
                  <a:pt x="23812" y="152102"/>
                  <a:pt x="23812" y="148828"/>
                </a:cubicBezTo>
                <a:lnTo>
                  <a:pt x="23812" y="23812"/>
                </a:lnTo>
                <a:close/>
                <a:moveTo>
                  <a:pt x="175096" y="56034"/>
                </a:moveTo>
                <a:cubicBezTo>
                  <a:pt x="179747" y="51383"/>
                  <a:pt x="179747" y="43830"/>
                  <a:pt x="175096" y="39179"/>
                </a:cubicBezTo>
                <a:cubicBezTo>
                  <a:pt x="170445" y="34528"/>
                  <a:pt x="162892" y="34528"/>
                  <a:pt x="158242" y="39179"/>
                </a:cubicBezTo>
                <a:lnTo>
                  <a:pt x="119063" y="78395"/>
                </a:lnTo>
                <a:lnTo>
                  <a:pt x="97706" y="57076"/>
                </a:lnTo>
                <a:cubicBezTo>
                  <a:pt x="93055" y="52425"/>
                  <a:pt x="85502" y="52425"/>
                  <a:pt x="80851" y="57076"/>
                </a:cubicBezTo>
                <a:lnTo>
                  <a:pt x="45132" y="92794"/>
                </a:lnTo>
                <a:cubicBezTo>
                  <a:pt x="40481" y="97445"/>
                  <a:pt x="40481" y="104998"/>
                  <a:pt x="45132" y="109649"/>
                </a:cubicBezTo>
                <a:cubicBezTo>
                  <a:pt x="49783" y="114300"/>
                  <a:pt x="57336" y="114300"/>
                  <a:pt x="61987" y="109649"/>
                </a:cubicBezTo>
                <a:lnTo>
                  <a:pt x="89297" y="82339"/>
                </a:lnTo>
                <a:lnTo>
                  <a:pt x="110654" y="103696"/>
                </a:lnTo>
                <a:cubicBezTo>
                  <a:pt x="115305" y="108347"/>
                  <a:pt x="122858" y="108347"/>
                  <a:pt x="127508" y="103696"/>
                </a:cubicBezTo>
                <a:lnTo>
                  <a:pt x="175133" y="56071"/>
                </a:lnTo>
                <a:close/>
              </a:path>
            </a:pathLst>
          </a:custGeom>
          <a:solidFill>
            <a:srgbClr val="FFFFFF"/>
          </a:solidFill>
        </p:spPr>
      </p:sp>
      <p:sp>
        <p:nvSpPr>
          <p:cNvPr id="22" name="Text 20"/>
          <p:cNvSpPr/>
          <p:nvPr/>
        </p:nvSpPr>
        <p:spPr>
          <a:xfrm>
            <a:off x="1142793" y="3388759"/>
            <a:ext cx="10858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00000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Utilization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71396" y="3864935"/>
            <a:ext cx="338137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64153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Resource Utilization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4254411" y="3103093"/>
            <a:ext cx="7553325" cy="1181100"/>
          </a:xfrm>
          <a:custGeom>
            <a:avLst/>
            <a:gdLst/>
            <a:ahLst/>
            <a:cxnLst/>
            <a:rect l="l" t="t" r="r" b="b"/>
            <a:pathLst>
              <a:path w="7553325" h="1181100">
                <a:moveTo>
                  <a:pt x="114295" y="0"/>
                </a:moveTo>
                <a:lnTo>
                  <a:pt x="7439030" y="0"/>
                </a:lnTo>
                <a:cubicBezTo>
                  <a:pt x="7502153" y="0"/>
                  <a:pt x="7553325" y="51172"/>
                  <a:pt x="7553325" y="114295"/>
                </a:cubicBezTo>
                <a:lnTo>
                  <a:pt x="7553325" y="1066805"/>
                </a:lnTo>
                <a:cubicBezTo>
                  <a:pt x="7553325" y="1129928"/>
                  <a:pt x="7502153" y="1181100"/>
                  <a:pt x="7439030" y="1181100"/>
                </a:cubicBezTo>
                <a:lnTo>
                  <a:pt x="114295" y="1181100"/>
                </a:lnTo>
                <a:cubicBezTo>
                  <a:pt x="51172" y="1181100"/>
                  <a:pt x="0" y="1129928"/>
                  <a:pt x="0" y="1066805"/>
                </a:cubicBezTo>
                <a:lnTo>
                  <a:pt x="0" y="114295"/>
                </a:lnTo>
                <a:cubicBezTo>
                  <a:pt x="0" y="51214"/>
                  <a:pt x="51214" y="0"/>
                  <a:pt x="114295" y="0"/>
                </a:cubicBezTo>
                <a:close/>
              </a:path>
            </a:pathLst>
          </a:custGeom>
          <a:solidFill>
            <a:srgbClr val="F9FAFB"/>
          </a:solidFill>
        </p:spPr>
      </p:sp>
      <p:sp>
        <p:nvSpPr>
          <p:cNvPr id="25" name="Shape 23"/>
          <p:cNvSpPr/>
          <p:nvPr/>
        </p:nvSpPr>
        <p:spPr>
          <a:xfrm>
            <a:off x="4444852" y="3293537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8B0000"/>
          </a:solidFill>
        </p:spPr>
      </p:sp>
      <p:sp>
        <p:nvSpPr>
          <p:cNvPr id="26" name="Shape 24"/>
          <p:cNvSpPr/>
          <p:nvPr/>
        </p:nvSpPr>
        <p:spPr>
          <a:xfrm>
            <a:off x="4578175" y="3426812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0" y="29766"/>
                </a:moveTo>
                <a:cubicBezTo>
                  <a:pt x="0" y="19906"/>
                  <a:pt x="8000" y="11906"/>
                  <a:pt x="17859" y="11906"/>
                </a:cubicBezTo>
                <a:lnTo>
                  <a:pt x="53578" y="11906"/>
                </a:lnTo>
                <a:cubicBezTo>
                  <a:pt x="63438" y="11906"/>
                  <a:pt x="71438" y="19906"/>
                  <a:pt x="71438" y="29766"/>
                </a:cubicBezTo>
                <a:lnTo>
                  <a:pt x="71438" y="35719"/>
                </a:lnTo>
                <a:lnTo>
                  <a:pt x="119063" y="35719"/>
                </a:lnTo>
                <a:lnTo>
                  <a:pt x="119063" y="29766"/>
                </a:lnTo>
                <a:cubicBezTo>
                  <a:pt x="119063" y="19906"/>
                  <a:pt x="127062" y="11906"/>
                  <a:pt x="136922" y="11906"/>
                </a:cubicBezTo>
                <a:lnTo>
                  <a:pt x="172641" y="11906"/>
                </a:lnTo>
                <a:cubicBezTo>
                  <a:pt x="182500" y="11906"/>
                  <a:pt x="190500" y="19906"/>
                  <a:pt x="190500" y="29766"/>
                </a:cubicBezTo>
                <a:lnTo>
                  <a:pt x="190500" y="65484"/>
                </a:lnTo>
                <a:cubicBezTo>
                  <a:pt x="190500" y="75344"/>
                  <a:pt x="182500" y="83344"/>
                  <a:pt x="172641" y="83344"/>
                </a:cubicBezTo>
                <a:lnTo>
                  <a:pt x="136922" y="83344"/>
                </a:lnTo>
                <a:cubicBezTo>
                  <a:pt x="127062" y="83344"/>
                  <a:pt x="119063" y="75344"/>
                  <a:pt x="119063" y="65484"/>
                </a:cubicBezTo>
                <a:lnTo>
                  <a:pt x="119063" y="59531"/>
                </a:lnTo>
                <a:lnTo>
                  <a:pt x="71438" y="59531"/>
                </a:lnTo>
                <a:lnTo>
                  <a:pt x="71438" y="65484"/>
                </a:lnTo>
                <a:cubicBezTo>
                  <a:pt x="71438" y="68200"/>
                  <a:pt x="70805" y="70805"/>
                  <a:pt x="69726" y="73112"/>
                </a:cubicBezTo>
                <a:lnTo>
                  <a:pt x="95250" y="107156"/>
                </a:lnTo>
                <a:lnTo>
                  <a:pt x="125016" y="107156"/>
                </a:lnTo>
                <a:cubicBezTo>
                  <a:pt x="134875" y="107156"/>
                  <a:pt x="142875" y="115156"/>
                  <a:pt x="142875" y="125016"/>
                </a:cubicBezTo>
                <a:lnTo>
                  <a:pt x="142875" y="160734"/>
                </a:lnTo>
                <a:cubicBezTo>
                  <a:pt x="142875" y="170594"/>
                  <a:pt x="134875" y="178594"/>
                  <a:pt x="125016" y="178594"/>
                </a:cubicBezTo>
                <a:lnTo>
                  <a:pt x="89297" y="178594"/>
                </a:lnTo>
                <a:cubicBezTo>
                  <a:pt x="79437" y="178594"/>
                  <a:pt x="71438" y="170594"/>
                  <a:pt x="71438" y="160734"/>
                </a:cubicBezTo>
                <a:lnTo>
                  <a:pt x="71438" y="125016"/>
                </a:lnTo>
                <a:cubicBezTo>
                  <a:pt x="71438" y="122300"/>
                  <a:pt x="72070" y="119695"/>
                  <a:pt x="73149" y="117388"/>
                </a:cubicBezTo>
                <a:lnTo>
                  <a:pt x="47625" y="83344"/>
                </a:lnTo>
                <a:lnTo>
                  <a:pt x="17859" y="83344"/>
                </a:lnTo>
                <a:cubicBezTo>
                  <a:pt x="8000" y="83344"/>
                  <a:pt x="0" y="75344"/>
                  <a:pt x="0" y="65484"/>
                </a:cubicBezTo>
                <a:lnTo>
                  <a:pt x="0" y="29766"/>
                </a:lnTo>
                <a:close/>
              </a:path>
            </a:pathLst>
          </a:custGeom>
          <a:solidFill>
            <a:srgbClr val="FFFFFF"/>
          </a:solidFill>
        </p:spPr>
      </p:sp>
      <p:sp>
        <p:nvSpPr>
          <p:cNvPr id="27" name="Text 25"/>
          <p:cNvSpPr/>
          <p:nvPr/>
        </p:nvSpPr>
        <p:spPr>
          <a:xfrm>
            <a:off x="5016248" y="3388759"/>
            <a:ext cx="15716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00000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Roofline Model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444852" y="3864935"/>
            <a:ext cx="724852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64153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Performance analysis tool for identifying bottleneck types and guiding optimization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380956" y="5029200"/>
            <a:ext cx="11430000" cy="1104900"/>
          </a:xfrm>
          <a:custGeom>
            <a:avLst/>
            <a:gdLst/>
            <a:ahLst/>
            <a:cxnLst/>
            <a:rect l="l" t="t" r="r" b="b"/>
            <a:pathLst>
              <a:path w="11430000" h="1104900">
                <a:moveTo>
                  <a:pt x="114302" y="0"/>
                </a:moveTo>
                <a:lnTo>
                  <a:pt x="11315698" y="0"/>
                </a:lnTo>
                <a:cubicBezTo>
                  <a:pt x="11378825" y="0"/>
                  <a:pt x="11430000" y="51175"/>
                  <a:pt x="11430000" y="114302"/>
                </a:cubicBezTo>
                <a:lnTo>
                  <a:pt x="11430000" y="990598"/>
                </a:lnTo>
                <a:cubicBezTo>
                  <a:pt x="11430000" y="1053725"/>
                  <a:pt x="11378825" y="1104900"/>
                  <a:pt x="11315698" y="1104900"/>
                </a:cubicBezTo>
                <a:lnTo>
                  <a:pt x="114302" y="1104900"/>
                </a:lnTo>
                <a:cubicBezTo>
                  <a:pt x="51175" y="1104900"/>
                  <a:pt x="0" y="1053725"/>
                  <a:pt x="0" y="9905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8B0000"/>
          </a:solidFill>
        </p:spPr>
      </p:sp>
      <p:sp>
        <p:nvSpPr>
          <p:cNvPr id="30" name="Shape 28"/>
          <p:cNvSpPr/>
          <p:nvPr/>
        </p:nvSpPr>
        <p:spPr>
          <a:xfrm>
            <a:off x="630960" y="5410088"/>
            <a:ext cx="385763" cy="342900"/>
          </a:xfrm>
          <a:custGeom>
            <a:avLst/>
            <a:gdLst/>
            <a:ahLst/>
            <a:cxnLst/>
            <a:rect l="l" t="t" r="r" b="b"/>
            <a:pathLst>
              <a:path w="385763" h="342900">
                <a:moveTo>
                  <a:pt x="32147" y="131132"/>
                </a:moveTo>
                <a:lnTo>
                  <a:pt x="172254" y="188796"/>
                </a:lnTo>
                <a:cubicBezTo>
                  <a:pt x="178817" y="191475"/>
                  <a:pt x="185782" y="192881"/>
                  <a:pt x="192881" y="192881"/>
                </a:cubicBezTo>
                <a:cubicBezTo>
                  <a:pt x="199980" y="192881"/>
                  <a:pt x="206946" y="191475"/>
                  <a:pt x="213509" y="188796"/>
                </a:cubicBezTo>
                <a:lnTo>
                  <a:pt x="375851" y="121957"/>
                </a:lnTo>
                <a:cubicBezTo>
                  <a:pt x="381878" y="119479"/>
                  <a:pt x="385763" y="113653"/>
                  <a:pt x="385763" y="107156"/>
                </a:cubicBezTo>
                <a:cubicBezTo>
                  <a:pt x="385763" y="100660"/>
                  <a:pt x="381878" y="94833"/>
                  <a:pt x="375851" y="92355"/>
                </a:cubicBezTo>
                <a:lnTo>
                  <a:pt x="213509" y="25517"/>
                </a:lnTo>
                <a:cubicBezTo>
                  <a:pt x="206946" y="22838"/>
                  <a:pt x="199980" y="21431"/>
                  <a:pt x="192881" y="21431"/>
                </a:cubicBezTo>
                <a:cubicBezTo>
                  <a:pt x="185782" y="21431"/>
                  <a:pt x="178817" y="22838"/>
                  <a:pt x="172254" y="25517"/>
                </a:cubicBezTo>
                <a:lnTo>
                  <a:pt x="9912" y="92355"/>
                </a:lnTo>
                <a:cubicBezTo>
                  <a:pt x="3884" y="94833"/>
                  <a:pt x="0" y="100660"/>
                  <a:pt x="0" y="107156"/>
                </a:cubicBezTo>
                <a:lnTo>
                  <a:pt x="0" y="305395"/>
                </a:lnTo>
                <a:cubicBezTo>
                  <a:pt x="0" y="314303"/>
                  <a:pt x="7166" y="321469"/>
                  <a:pt x="16073" y="321469"/>
                </a:cubicBezTo>
                <a:cubicBezTo>
                  <a:pt x="24981" y="321469"/>
                  <a:pt x="32147" y="314303"/>
                  <a:pt x="32147" y="305395"/>
                </a:cubicBezTo>
                <a:lnTo>
                  <a:pt x="32147" y="131132"/>
                </a:lnTo>
                <a:close/>
                <a:moveTo>
                  <a:pt x="64294" y="179152"/>
                </a:moveTo>
                <a:lnTo>
                  <a:pt x="64294" y="257175"/>
                </a:lnTo>
                <a:cubicBezTo>
                  <a:pt x="64294" y="292671"/>
                  <a:pt x="121890" y="321469"/>
                  <a:pt x="192881" y="321469"/>
                </a:cubicBezTo>
                <a:cubicBezTo>
                  <a:pt x="263872" y="321469"/>
                  <a:pt x="321469" y="292671"/>
                  <a:pt x="321469" y="257175"/>
                </a:cubicBezTo>
                <a:lnTo>
                  <a:pt x="321469" y="179085"/>
                </a:lnTo>
                <a:lnTo>
                  <a:pt x="225765" y="218532"/>
                </a:lnTo>
                <a:cubicBezTo>
                  <a:pt x="215317" y="222818"/>
                  <a:pt x="204200" y="225028"/>
                  <a:pt x="192881" y="225028"/>
                </a:cubicBezTo>
                <a:cubicBezTo>
                  <a:pt x="181563" y="225028"/>
                  <a:pt x="170445" y="222818"/>
                  <a:pt x="159998" y="218532"/>
                </a:cubicBezTo>
                <a:lnTo>
                  <a:pt x="64294" y="179085"/>
                </a:lnTo>
                <a:close/>
              </a:path>
            </a:pathLst>
          </a:custGeom>
          <a:solidFill>
            <a:srgbClr val="FFFFFF"/>
          </a:solidFill>
        </p:spPr>
      </p:sp>
      <p:sp>
        <p:nvSpPr>
          <p:cNvPr id="31" name="Text 29"/>
          <p:cNvSpPr/>
          <p:nvPr/>
        </p:nvSpPr>
        <p:spPr>
          <a:xfrm>
            <a:off x="1190476" y="5257781"/>
            <a:ext cx="10421231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Understanding these metrics is the foundation of high-performance computing optimization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190477" y="5638660"/>
            <a:ext cx="830521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FFFFFF">
                    <a:alpha val="9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Mastering performance analysis is the key to writing efficient programs</a:t>
            </a:r>
            <a:endParaRPr lang="en-US" sz="1600" dirty="0"/>
          </a:p>
        </p:txBody>
      </p:sp>
      <p:sp>
        <p:nvSpPr>
          <p:cNvPr id="33" name="灯片编号占位符 32"/>
          <p:cNvSpPr>
            <a:spLocks noGrp="1"/>
          </p:cNvSpPr>
          <p:nvPr>
            <p:ph type="sldNum" sz="quarter" idx="4294967295"/>
          </p:nvPr>
        </p:nvSpPr>
        <p:spPr>
          <a:xfrm>
            <a:off x="0" y="593725"/>
            <a:ext cx="419100" cy="365125"/>
          </a:xfrm>
        </p:spPr>
        <p:txBody>
          <a:bodyPr/>
          <a:lstStyle/>
          <a:p>
            <a:fld id="{B33F7469-D28B-482F-B1B6-3B8E7CF51519}" type="slidenum">
              <a:rPr lang="zh-CN" altLang="en-US" smtClean="0"/>
              <a:t>22</a:t>
            </a:fld>
            <a:endParaRPr lang="zh-CN" altLang="en-US" dirty="0"/>
          </a:p>
        </p:txBody>
      </p:sp>
    </p:spTree>
  </p:cSld>
  <p:clrMapOvr>
    <a:masterClrMapping/>
  </p:clrMapOvr>
  <p:transition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ym typeface="+mn-ea"/>
              </a:rPr>
              <a:t>The Solution:</a:t>
            </a:r>
            <a:r>
              <a:rPr lang="x-none" altLang="zh-CN">
                <a:sym typeface="+mn-ea"/>
              </a:rPr>
              <a:t> </a:t>
            </a:r>
            <a:r>
              <a:rPr>
                <a:sym typeface="+mn-ea"/>
              </a:rPr>
              <a:t>FlagOS,</a:t>
            </a:r>
            <a:r>
              <a:rPr lang="x-none" altLang="zh-CN">
                <a:sym typeface="+mn-ea"/>
              </a:rPr>
              <a:t> </a:t>
            </a:r>
            <a:r>
              <a:rPr>
                <a:sym typeface="+mn-ea"/>
              </a:rPr>
              <a:t>a Unified AI Software Stack</a:t>
            </a:r>
            <a:endParaRPr lang="zh-CN" altLang="en-US"/>
          </a:p>
        </p:txBody>
      </p:sp>
      <p:pic>
        <p:nvPicPr>
          <p:cNvPr id="7" name="内容占位符 6" descr="flagos-architecture-en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52170" y="1318260"/>
            <a:ext cx="9408795" cy="4853305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사각형: 둥근 모서리 832"/>
          <p:cNvSpPr/>
          <p:nvPr>
            <p:custDataLst>
              <p:tags r:id="rId1"/>
            </p:custDataLst>
          </p:nvPr>
        </p:nvSpPr>
        <p:spPr>
          <a:xfrm>
            <a:off x="895351" y="1861819"/>
            <a:ext cx="3162940" cy="1506517"/>
          </a:xfrm>
          <a:prstGeom prst="roundRect">
            <a:avLst>
              <a:gd name="adj" fmla="val 6813"/>
            </a:avLst>
          </a:prstGeom>
          <a:solidFill>
            <a:schemeClr val="bg1"/>
          </a:solidFill>
          <a:ln>
            <a:noFill/>
          </a:ln>
          <a:effectLst>
            <a:outerShdw blurRad="190500" dist="63500" dir="2700000" algn="tl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사각형: 둥근 모서리 832"/>
          <p:cNvSpPr/>
          <p:nvPr>
            <p:custDataLst>
              <p:tags r:id="rId2"/>
            </p:custDataLst>
          </p:nvPr>
        </p:nvSpPr>
        <p:spPr>
          <a:xfrm>
            <a:off x="4400231" y="1861819"/>
            <a:ext cx="3162940" cy="1506517"/>
          </a:xfrm>
          <a:prstGeom prst="roundRect">
            <a:avLst>
              <a:gd name="adj" fmla="val 6813"/>
            </a:avLst>
          </a:prstGeom>
          <a:solidFill>
            <a:schemeClr val="bg1"/>
          </a:solidFill>
          <a:ln>
            <a:noFill/>
          </a:ln>
          <a:effectLst>
            <a:outerShdw blurRad="190500" dist="63500" dir="2700000" algn="tl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사각형: 둥근 모서리 832"/>
          <p:cNvSpPr/>
          <p:nvPr>
            <p:custDataLst>
              <p:tags r:id="rId3"/>
            </p:custDataLst>
          </p:nvPr>
        </p:nvSpPr>
        <p:spPr>
          <a:xfrm>
            <a:off x="7905111" y="1861819"/>
            <a:ext cx="3162940" cy="1506517"/>
          </a:xfrm>
          <a:prstGeom prst="roundRect">
            <a:avLst>
              <a:gd name="adj" fmla="val 6813"/>
            </a:avLst>
          </a:prstGeom>
          <a:solidFill>
            <a:schemeClr val="bg1"/>
          </a:solidFill>
          <a:ln>
            <a:noFill/>
          </a:ln>
          <a:effectLst>
            <a:outerShdw blurRad="190500" dist="63500" dir="2700000" algn="tl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사각형: 둥근 모서리 832"/>
          <p:cNvSpPr/>
          <p:nvPr>
            <p:custDataLst>
              <p:tags r:id="rId4"/>
            </p:custDataLst>
          </p:nvPr>
        </p:nvSpPr>
        <p:spPr>
          <a:xfrm>
            <a:off x="895351" y="3755727"/>
            <a:ext cx="3162940" cy="1506517"/>
          </a:xfrm>
          <a:prstGeom prst="roundRect">
            <a:avLst>
              <a:gd name="adj" fmla="val 6813"/>
            </a:avLst>
          </a:prstGeom>
          <a:solidFill>
            <a:schemeClr val="bg1"/>
          </a:solidFill>
          <a:ln>
            <a:noFill/>
          </a:ln>
          <a:effectLst>
            <a:outerShdw blurRad="190500" dist="63500" dir="2700000" algn="tl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사각형: 둥근 모서리 832"/>
          <p:cNvSpPr/>
          <p:nvPr>
            <p:custDataLst>
              <p:tags r:id="rId5"/>
            </p:custDataLst>
          </p:nvPr>
        </p:nvSpPr>
        <p:spPr>
          <a:xfrm>
            <a:off x="4400231" y="3755727"/>
            <a:ext cx="3162940" cy="1506517"/>
          </a:xfrm>
          <a:prstGeom prst="roundRect">
            <a:avLst>
              <a:gd name="adj" fmla="val 6813"/>
            </a:avLst>
          </a:prstGeom>
          <a:solidFill>
            <a:schemeClr val="bg1"/>
          </a:solidFill>
          <a:ln>
            <a:noFill/>
          </a:ln>
          <a:effectLst>
            <a:outerShdw blurRad="190500" dist="63500" dir="2700000" algn="tl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사각형: 둥근 모서리 832"/>
          <p:cNvSpPr/>
          <p:nvPr>
            <p:custDataLst>
              <p:tags r:id="rId6"/>
            </p:custDataLst>
          </p:nvPr>
        </p:nvSpPr>
        <p:spPr>
          <a:xfrm>
            <a:off x="7905111" y="3755727"/>
            <a:ext cx="3162940" cy="1506517"/>
          </a:xfrm>
          <a:prstGeom prst="roundRect">
            <a:avLst>
              <a:gd name="adj" fmla="val 6813"/>
            </a:avLst>
          </a:prstGeom>
          <a:solidFill>
            <a:schemeClr val="bg1"/>
          </a:solidFill>
          <a:ln>
            <a:noFill/>
          </a:ln>
          <a:effectLst>
            <a:outerShdw blurRad="190500" dist="63500" dir="2700000" algn="tl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사각형: 둥근 모서리 72"/>
          <p:cNvSpPr/>
          <p:nvPr>
            <p:custDataLst>
              <p:tags r:id="rId7"/>
            </p:custDataLst>
          </p:nvPr>
        </p:nvSpPr>
        <p:spPr>
          <a:xfrm>
            <a:off x="2298364" y="1689569"/>
            <a:ext cx="356915" cy="356915"/>
          </a:xfrm>
          <a:prstGeom prst="ellipse">
            <a:avLst/>
          </a:prstGeom>
          <a:blipFill rotWithShape="1">
            <a:blip r:embed="rId18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1" name="사각형: 둥근 모서리 72"/>
          <p:cNvSpPr/>
          <p:nvPr>
            <p:custDataLst>
              <p:tags r:id="rId8"/>
            </p:custDataLst>
          </p:nvPr>
        </p:nvSpPr>
        <p:spPr>
          <a:xfrm>
            <a:off x="5803244" y="1689569"/>
            <a:ext cx="356915" cy="356915"/>
          </a:xfrm>
          <a:prstGeom prst="ellipse">
            <a:avLst/>
          </a:prstGeom>
          <a:blipFill rotWithShape="1">
            <a:blip r:embed="rId19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2" name="사각형: 둥근 모서리 72"/>
          <p:cNvSpPr/>
          <p:nvPr>
            <p:custDataLst>
              <p:tags r:id="rId9"/>
            </p:custDataLst>
          </p:nvPr>
        </p:nvSpPr>
        <p:spPr>
          <a:xfrm>
            <a:off x="9308124" y="1689569"/>
            <a:ext cx="356915" cy="356915"/>
          </a:xfrm>
          <a:prstGeom prst="ellipse">
            <a:avLst/>
          </a:prstGeom>
          <a:blipFill rotWithShape="1">
            <a:blip r:embed="rId20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5" name="사각형: 둥근 모서리 72"/>
          <p:cNvSpPr/>
          <p:nvPr>
            <p:custDataLst>
              <p:tags r:id="rId10"/>
            </p:custDataLst>
          </p:nvPr>
        </p:nvSpPr>
        <p:spPr>
          <a:xfrm>
            <a:off x="2298364" y="3577269"/>
            <a:ext cx="356915" cy="356915"/>
          </a:xfrm>
          <a:prstGeom prst="ellipse">
            <a:avLst/>
          </a:prstGeom>
          <a:blipFill rotWithShape="1">
            <a:blip r:embed="rId21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6" name="사각형: 둥근 모서리 72"/>
          <p:cNvSpPr/>
          <p:nvPr>
            <p:custDataLst>
              <p:tags r:id="rId11"/>
            </p:custDataLst>
          </p:nvPr>
        </p:nvSpPr>
        <p:spPr>
          <a:xfrm>
            <a:off x="5803244" y="3577269"/>
            <a:ext cx="356915" cy="356915"/>
          </a:xfrm>
          <a:prstGeom prst="ellipse">
            <a:avLst/>
          </a:prstGeom>
          <a:blipFill rotWithShape="1">
            <a:blip r:embed="rId22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7" name="사각형: 둥근 모서리 72"/>
          <p:cNvSpPr/>
          <p:nvPr>
            <p:custDataLst>
              <p:tags r:id="rId12"/>
            </p:custDataLst>
          </p:nvPr>
        </p:nvSpPr>
        <p:spPr>
          <a:xfrm>
            <a:off x="9308124" y="3577269"/>
            <a:ext cx="356915" cy="356915"/>
          </a:xfrm>
          <a:prstGeom prst="ellipse">
            <a:avLst/>
          </a:prstGeom>
          <a:blipFill rotWithShape="1">
            <a:blip r:embed="rId23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8" name="object 3"/>
          <p:cNvSpPr txBox="1"/>
          <p:nvPr>
            <p:custDataLst>
              <p:tags r:id="rId13"/>
            </p:custDataLst>
          </p:nvPr>
        </p:nvSpPr>
        <p:spPr>
          <a:xfrm>
            <a:off x="1219842" y="2517904"/>
            <a:ext cx="2513958" cy="766445"/>
          </a:xfrm>
          <a:prstGeom prst="rect">
            <a:avLst/>
          </a:prstGeom>
        </p:spPr>
        <p:txBody>
          <a:bodyPr vert="horz" wrap="square" lIns="0" tIns="14400" rIns="0" bIns="14400" rtlCol="0">
            <a:spAutoFit/>
          </a:bodyPr>
          <a:lstStyle>
            <a:defPPr>
              <a:defRPr lang="ko-KR"/>
            </a:defPPr>
            <a:lvl1pPr>
              <a:lnSpc>
                <a:spcPct val="150000"/>
              </a:lnSpc>
              <a:defRPr sz="1000">
                <a:solidFill>
                  <a:schemeClr val="bg2">
                    <a:lumMod val="50000"/>
                  </a:schemeClr>
                </a:solidFill>
                <a:cs typeface="Calibri" panose="020F0502020204030204" charset="0"/>
              </a:defRPr>
            </a:lvl1pPr>
          </a:lstStyle>
          <a:p>
            <a:r>
              <a:rPr lang="en-US" altLang="zh-CN" sz="1600" dirty="0">
                <a:hlinkClick r:id="rId24" action="ppaction://hlinkfile"/>
              </a:rPr>
              <a:t>https://github.com/flagos-ai</a:t>
            </a:r>
          </a:p>
          <a:p>
            <a:endParaRPr lang="en-US" altLang="ko-KR" sz="1600" dirty="0"/>
          </a:p>
        </p:txBody>
      </p:sp>
      <p:sp>
        <p:nvSpPr>
          <p:cNvPr id="36" name="object 3"/>
          <p:cNvSpPr txBox="1"/>
          <p:nvPr>
            <p:custDataLst>
              <p:tags r:id="rId14"/>
            </p:custDataLst>
          </p:nvPr>
        </p:nvSpPr>
        <p:spPr>
          <a:xfrm>
            <a:off x="8015605" y="2341245"/>
            <a:ext cx="2882265" cy="766445"/>
          </a:xfrm>
          <a:prstGeom prst="rect">
            <a:avLst/>
          </a:prstGeom>
        </p:spPr>
        <p:txBody>
          <a:bodyPr vert="horz" wrap="square" lIns="0" tIns="14400" rIns="0" bIns="14400" rtlCol="0">
            <a:spAutoFit/>
          </a:bodyPr>
          <a:lstStyle>
            <a:defPPr>
              <a:defRPr lang="ko-KR"/>
            </a:defPPr>
            <a:lvl1pPr>
              <a:lnSpc>
                <a:spcPct val="150000"/>
              </a:lnSpc>
              <a:defRPr sz="1000">
                <a:solidFill>
                  <a:schemeClr val="bg2">
                    <a:lumMod val="50000"/>
                  </a:schemeClr>
                </a:solidFill>
                <a:cs typeface="Calibri" panose="020F0502020204030204" charset="0"/>
              </a:defRPr>
            </a:lvl1pPr>
          </a:lstStyle>
          <a:p>
            <a:r>
              <a:rPr lang="en-US" altLang="zh-CN" sz="1600" dirty="0">
                <a:hlinkClick r:id="rId25" action="ppaction://hlinkfile"/>
              </a:rPr>
              <a:t>https://space.bilibili.com/3546791834290849</a:t>
            </a:r>
            <a:endParaRPr lang="en-US" altLang="zh-CN" sz="1600" dirty="0"/>
          </a:p>
        </p:txBody>
      </p:sp>
      <p:sp>
        <p:nvSpPr>
          <p:cNvPr id="42" name="object 3"/>
          <p:cNvSpPr txBox="1"/>
          <p:nvPr>
            <p:custDataLst>
              <p:tags r:id="rId15"/>
            </p:custDataLst>
          </p:nvPr>
        </p:nvSpPr>
        <p:spPr>
          <a:xfrm>
            <a:off x="1219842" y="4403854"/>
            <a:ext cx="2513958" cy="766445"/>
          </a:xfrm>
          <a:prstGeom prst="rect">
            <a:avLst/>
          </a:prstGeom>
        </p:spPr>
        <p:txBody>
          <a:bodyPr vert="horz" wrap="square" lIns="0" tIns="14400" rIns="0" bIns="14400" rtlCol="0">
            <a:spAutoFit/>
          </a:bodyPr>
          <a:lstStyle>
            <a:defPPr>
              <a:defRPr lang="ko-KR"/>
            </a:defPPr>
            <a:lvl1pPr>
              <a:lnSpc>
                <a:spcPct val="150000"/>
              </a:lnSpc>
              <a:defRPr sz="1000">
                <a:solidFill>
                  <a:schemeClr val="bg2">
                    <a:lumMod val="50000"/>
                  </a:schemeClr>
                </a:solidFill>
                <a:cs typeface="Calibri" panose="020F0502020204030204" charset="0"/>
              </a:defRPr>
            </a:lvl1pPr>
          </a:lstStyle>
          <a:p>
            <a:r>
              <a:rPr lang="en-US" altLang="ko-KR" sz="1600" dirty="0">
                <a:hlinkClick r:id="rId26" action="ppaction://hlinkfile"/>
              </a:rPr>
              <a:t>https://www.zhihu.com/people/95-22-20-18/posts</a:t>
            </a:r>
            <a:endParaRPr lang="en-US" altLang="ko-KR" sz="1600" dirty="0"/>
          </a:p>
        </p:txBody>
      </p:sp>
      <p:sp>
        <p:nvSpPr>
          <p:cNvPr id="45" name="object 3"/>
          <p:cNvSpPr txBox="1"/>
          <p:nvPr>
            <p:custDataLst>
              <p:tags r:id="rId16"/>
            </p:custDataLst>
          </p:nvPr>
        </p:nvSpPr>
        <p:spPr>
          <a:xfrm>
            <a:off x="4724722" y="4403854"/>
            <a:ext cx="2513958" cy="396875"/>
          </a:xfrm>
          <a:prstGeom prst="rect">
            <a:avLst/>
          </a:prstGeom>
        </p:spPr>
        <p:txBody>
          <a:bodyPr vert="horz" wrap="square" lIns="0" tIns="14400" rIns="0" bIns="14400" rtlCol="0">
            <a:spAutoFit/>
          </a:bodyPr>
          <a:lstStyle>
            <a:defPPr>
              <a:defRPr lang="ko-KR"/>
            </a:defPPr>
            <a:lvl1pPr>
              <a:lnSpc>
                <a:spcPct val="150000"/>
              </a:lnSpc>
              <a:defRPr sz="1000">
                <a:solidFill>
                  <a:schemeClr val="bg2">
                    <a:lumMod val="50000"/>
                  </a:schemeClr>
                </a:solidFill>
                <a:cs typeface="Calibri" panose="020F0502020204030204" charset="0"/>
              </a:defRPr>
            </a:lvl1pPr>
          </a:lstStyle>
          <a:p>
            <a:r>
              <a:rPr lang="en-US" altLang="ko-KR" sz="1600" dirty="0">
                <a:hlinkClick r:id="rId27" action="ppaction://hlinkfile"/>
              </a:rPr>
              <a:t>https://flagos.io/Home</a:t>
            </a:r>
            <a:endParaRPr lang="en-US" altLang="ko-KR" sz="1600" dirty="0"/>
          </a:p>
        </p:txBody>
      </p:sp>
      <p:pic>
        <p:nvPicPr>
          <p:cNvPr id="54" name="图片 53" descr="weixin-DL0TqDNO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5408930" y="2046605"/>
            <a:ext cx="1255395" cy="1255395"/>
          </a:xfrm>
          <a:prstGeom prst="rect">
            <a:avLst/>
          </a:prstGeom>
        </p:spPr>
      </p:pic>
      <p:pic>
        <p:nvPicPr>
          <p:cNvPr id="55" name="图片 54" descr="feishu-qrcode-C75xQn56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8903970" y="3953510"/>
            <a:ext cx="1299210" cy="1308735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개체 틀 4"/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 l="2306" r="2306"/>
          <a:stretch>
            <a:fillRect/>
          </a:stretch>
        </p:blipFill>
        <p:spPr/>
      </p:pic>
      <p:sp>
        <p:nvSpPr>
          <p:cNvPr id="3" name="제목 2"/>
          <p:cNvSpPr>
            <a:spLocks noGrp="1"/>
          </p:cNvSpPr>
          <p:nvPr>
            <p:ph type="ctrTitle"/>
          </p:nvPr>
        </p:nvSpPr>
        <p:spPr>
          <a:xfrm>
            <a:off x="5625465" y="2373630"/>
            <a:ext cx="5739130" cy="2664460"/>
          </a:xfrm>
        </p:spPr>
        <p:txBody>
          <a:bodyPr/>
          <a:lstStyle/>
          <a:p>
            <a:pPr algn="l"/>
            <a:r>
              <a:rPr altLang="zh-CN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Thanks for your time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！</a:t>
            </a:r>
            <a:endParaRPr kumimoji="1" lang="ko-KR" altLang="en-US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9247450" y="217531"/>
            <a:ext cx="2580450" cy="547850"/>
            <a:chOff x="9247450" y="217531"/>
            <a:chExt cx="2580450" cy="547850"/>
          </a:xfrm>
        </p:grpSpPr>
        <p:pic>
          <p:nvPicPr>
            <p:cNvPr id="4" name="图片 3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247450" y="319584"/>
              <a:ext cx="1096400" cy="336123"/>
            </a:xfrm>
            <a:prstGeom prst="rect">
              <a:avLst/>
            </a:prstGeom>
          </p:spPr>
        </p:pic>
        <p:pic>
          <p:nvPicPr>
            <p:cNvPr id="8" name="图片 7"/>
            <p:cNvPicPr>
              <a:picLocks noChangeAspect="1"/>
            </p:cNvPicPr>
            <p:nvPr/>
          </p:nvPicPr>
          <p:blipFill>
            <a:blip r:embed="rId4"/>
            <a:srcRect l="13229" t="29812" r="10431" b="29796"/>
            <a:stretch>
              <a:fillRect/>
            </a:stretch>
          </p:blipFill>
          <p:spPr>
            <a:xfrm>
              <a:off x="10553199" y="217531"/>
              <a:ext cx="1274701" cy="547850"/>
            </a:xfrm>
            <a:prstGeom prst="rect">
              <a:avLst/>
            </a:prstGeom>
          </p:spPr>
        </p:pic>
      </p:grpSp>
    </p:spTree>
  </p:cSld>
  <p:clrMapOvr>
    <a:masterClrMapping/>
  </p:clrMapOvr>
  <p:transition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heme/theme1.xml><?xml version="1.0" encoding="utf-8"?>
<a:theme xmlns:a="http://schemas.openxmlformats.org/drawingml/2006/main" name="母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微软雅黑+Arial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极端阴影">
      <a:fillStyleLst>
        <a:solidFill>
          <a:schemeClr val="phClr"/>
        </a:solidFill>
        <a:gradFill rotWithShape="1">
          <a:gsLst>
            <a:gs pos="0">
              <a:schemeClr val="phClr">
                <a:tint val="90000"/>
              </a:schemeClr>
            </a:gs>
            <a:gs pos="48000">
              <a:schemeClr val="phClr">
                <a:tint val="54000"/>
                <a:satMod val="140000"/>
              </a:schemeClr>
            </a:gs>
            <a:gs pos="100000">
              <a:schemeClr val="phClr">
                <a:tint val="24000"/>
                <a:satMod val="260000"/>
              </a:schemeClr>
            </a:gs>
          </a:gsLst>
          <a:lin ang="16200000" scaled="1"/>
        </a:gradFill>
        <a:gradFill rotWithShape="1">
          <a:gsLst>
            <a:gs pos="0">
              <a:schemeClr val="phClr"/>
            </a:gs>
            <a:gs pos="100000">
              <a:schemeClr val="phClr">
                <a:shade val="48000"/>
                <a:satMod val="180000"/>
                <a:lumMod val="94000"/>
              </a:schemeClr>
            </a:gs>
          </a:gsLst>
          <a:lin ang="4140000" scaled="1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12700" dir="5400000" sx="102000" sy="102000" rotWithShape="0">
              <a:srgbClr val="000000">
                <a:alpha val="32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9800000"/>
            </a:lightRig>
          </a:scene3d>
          <a:sp3d prstMaterial="plastic">
            <a:bevelT w="25400" h="19050"/>
          </a:sp3d>
        </a:effectStyle>
        <a:effectStyle>
          <a:effectLst>
            <a:outerShdw blurRad="114300" dist="114300" dir="5400000" rotWithShape="0">
              <a:srgbClr val="000000">
                <a:alpha val="7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plastic">
            <a:bevelT w="38100" h="3175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1308</Words>
  <Application>Microsoft Office PowerPoint</Application>
  <PresentationFormat>宽屏</PresentationFormat>
  <Paragraphs>314</Paragraphs>
  <Slides>25</Slides>
  <Notes>20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25</vt:i4>
      </vt:variant>
    </vt:vector>
  </HeadingPairs>
  <TitlesOfParts>
    <vt:vector size="37" baseType="lpstr">
      <vt:lpstr>MiSans</vt:lpstr>
      <vt:lpstr>Noto Sans SC</vt:lpstr>
      <vt:lpstr>微软雅黑</vt:lpstr>
      <vt:lpstr>文泉驿微米黑</vt:lpstr>
      <vt:lpstr>Arial</vt:lpstr>
      <vt:lpstr>Calibri</vt:lpstr>
      <vt:lpstr>Calibri Light</vt:lpstr>
      <vt:lpstr>Ebrima</vt:lpstr>
      <vt:lpstr>Garamond</vt:lpstr>
      <vt:lpstr>Montserrat SemiBold</vt:lpstr>
      <vt:lpstr>Wingdings 3</vt:lpstr>
      <vt:lpstr>母版</vt:lpstr>
      <vt:lpstr>Hardware and Software Fundamentals of  Intelligent Computing  Systems</vt:lpstr>
      <vt:lpstr>Lecture 37: Performances Metrics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The Solution: FlagOS, a Unified AI Software Stack</vt:lpstr>
      <vt:lpstr>PowerPoint 演示文稿</vt:lpstr>
      <vt:lpstr>Thanks for your time！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性能分析指标 Performance Metrics</dc:title>
  <dc:subject>性能分析指标 Performance Metrics</dc:subject>
  <dc:creator>Kimi</dc:creator>
  <cp:lastModifiedBy>Xiang Li</cp:lastModifiedBy>
  <cp:revision>16</cp:revision>
  <dcterms:created xsi:type="dcterms:W3CDTF">2026-03-12T03:03:00Z</dcterms:created>
  <dcterms:modified xsi:type="dcterms:W3CDTF">2026-03-17T14:55:00Z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{"Label":"性能分析指标 Performance Metrics","ContentProducer":"001191110108MACG2KBH8F10000","ProduceID":"19cbf62b-51e2-8eb0-8000-0000352d2894","ReservedCode1":"","ContentPropagator":"001191110108MACG2KBH8F20000","PropagateID":"19cbf62b-51e2-8eb0-8000-0000352d2894","ReservedCode2":""}</vt:lpwstr>
  </property>
  <property fmtid="{D5CDD505-2E9C-101B-9397-08002B2CF9AE}" pid="3" name="ICV">
    <vt:lpwstr>89CAF1DA3BF5E056132DB269962679AB_42</vt:lpwstr>
  </property>
  <property fmtid="{D5CDD505-2E9C-101B-9397-08002B2CF9AE}" pid="4" name="KSOProductBuildVer">
    <vt:lpwstr>2052-12.1.0.19302</vt:lpwstr>
  </property>
</Properties>
</file>