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47" r:id="rId2"/>
    <p:sldId id="257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277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7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08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9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0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900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90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345085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69704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22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25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24.png"/><Relationship Id="rId29" Type="http://schemas.openxmlformats.org/officeDocument/2006/relationships/image" Target="../media/image29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27.png"/><Relationship Id="rId28" Type="http://schemas.openxmlformats.org/officeDocument/2006/relationships/image" Target="../media/image28.jpeg"/><Relationship Id="rId10" Type="http://schemas.openxmlformats.org/officeDocument/2006/relationships/tags" Target="../tags/tag19.xml"/><Relationship Id="rId19" Type="http://schemas.openxmlformats.org/officeDocument/2006/relationships/image" Target="../media/image23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26.png"/><Relationship Id="rId27" Type="http://schemas.openxmlformats.org/officeDocument/2006/relationships/hyperlink" Target="https://flagos.io/Home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Lecture 21: In-Depth Analysis of the MLIR Architecture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LLVM IR </a:t>
            </a:r>
            <a:r>
              <a:rPr lang="en-US" altLang="en-US"/>
              <a:t> Limitations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https://en.wikipedia.org/wiki/LLVM</a:t>
            </a:r>
          </a:p>
          <a:p>
            <a:r>
              <a:rPr lang="en-US" altLang="zh-CN" dirty="0"/>
              <a:t>Lattner, Chris, et al. "MLIR: A compiler infrastructure for the end of Moore's law." arXiv preprint arXiv:2002.11054 (2020).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865620" cy="485330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en-US" sz="1800"/>
              <a:t>General Overview</a:t>
            </a:r>
          </a:p>
          <a:p>
            <a:pPr lvl="1">
              <a:lnSpc>
                <a:spcPct val="110000"/>
              </a:lnSpc>
            </a:pPr>
            <a:r>
              <a:rPr lang="en-US" altLang="en-US" sz="1600"/>
              <a:t>Design: </a:t>
            </a:r>
            <a:r>
              <a:rPr lang="en-US" altLang="zh-CN" sz="1600"/>
              <a:t>LLVM IR </a:t>
            </a:r>
            <a:r>
              <a:rPr lang="en-US" altLang="en-US" sz="1600"/>
              <a:t> semantic level is roughly equivalent to</a:t>
            </a:r>
            <a:r>
              <a:rPr lang="en-US" altLang="zh-CN" sz="1600"/>
              <a:t>“</a:t>
            </a:r>
            <a:r>
              <a:rPr lang="en-US" altLang="en-US" sz="1600"/>
              <a:t> C with vector operations</a:t>
            </a:r>
            <a:r>
              <a:rPr lang="en-US" altLang="zh-CN" sz="1600"/>
              <a:t> C </a:t>
            </a:r>
            <a:r>
              <a:rPr lang="en-US" altLang="en-US" sz="1600"/>
              <a:t> language</a:t>
            </a:r>
            <a:r>
              <a:rPr lang="en-US" altLang="zh-CN" sz="1600"/>
              <a:t>” </a:t>
            </a:r>
            <a:r>
              <a:rPr lang="en-US" altLang="en-US" sz="1600"/>
              <a:t>.</a:t>
            </a:r>
            <a:endParaRPr lang="en-US" altLang="zh-CN" sz="1600"/>
          </a:p>
          <a:p>
            <a:pPr lvl="1">
              <a:lnSpc>
                <a:spcPct val="110000"/>
              </a:lnSpc>
            </a:pPr>
            <a:r>
              <a:rPr lang="en-US" altLang="zh-CN" sz="1600">
                <a:sym typeface="+mn-ea"/>
              </a:rPr>
              <a:t>(Multi-Level Intermediate Representation)</a:t>
            </a:r>
            <a:endParaRPr lang="en-US" altLang="en-US" sz="1600"/>
          </a:p>
          <a:p>
            <a:pPr lvl="1">
              <a:lnSpc>
                <a:spcPct val="110000"/>
              </a:lnSpc>
            </a:pPr>
            <a:r>
              <a:rPr lang="en-US" altLang="en-US" sz="1600"/>
              <a:t>Memory Model: Assumes a flattened, linear memory model, primarily operating on scalars, memory pointers, and 1D vector registers.</a:t>
            </a:r>
            <a:endParaRPr lang="en-US" altLang="zh-CN" sz="1600"/>
          </a:p>
          <a:p>
            <a:pPr lvl="0">
              <a:lnSpc>
                <a:spcPct val="110000"/>
              </a:lnSpc>
            </a:pPr>
            <a:r>
              <a:rPr lang="en-US" altLang="en-US" sz="1800"/>
              <a:t>Deep Learning Computation Graph</a:t>
            </a:r>
          </a:p>
          <a:p>
            <a:pPr lvl="1">
              <a:lnSpc>
                <a:spcPct val="110000"/>
              </a:lnSpc>
            </a:pPr>
            <a:r>
              <a:rPr lang="en-US" altLang="en-US" sz="1600"/>
              <a:t>is inherently high-dimensional multi-dimensional tensor algebra and deeply nested loops, creating a huge semantic gap between the two.</a:t>
            </a:r>
          </a:p>
          <a:p>
            <a:pPr lvl="1">
              <a:lnSpc>
                <a:spcPct val="110000"/>
              </a:lnSpc>
            </a:pPr>
            <a:r>
              <a:rPr lang="en-US" altLang="en-US" sz="1600">
                <a:sym typeface="+mn-ea"/>
              </a:rPr>
              <a:t>Forced Flattening: </a:t>
            </a:r>
            <a:r>
              <a:rPr lang="en-US" altLang="zh-CN" sz="1600">
                <a:sym typeface="+mn-ea"/>
              </a:rPr>
              <a:t>TensorFlow/PyTorch </a:t>
            </a:r>
            <a:r>
              <a:rPr lang="en-US" altLang="en-US" sz="1600">
                <a:sym typeface="+mn-ea"/>
              </a:rPr>
              <a:t> and other high-level frameworks directly lowering to</a:t>
            </a:r>
            <a:r>
              <a:rPr lang="en-US" altLang="zh-CN" sz="1600">
                <a:sym typeface="+mn-ea"/>
              </a:rPr>
              <a:t> LLVM IR </a:t>
            </a:r>
            <a:r>
              <a:rPr lang="en-US" altLang="en-US" sz="1600">
                <a:sym typeface="+mn-ea"/>
              </a:rPr>
              <a:t>, multi-dimensional tensors are forcefully flattened into 1D memory pointers.</a:t>
            </a:r>
            <a:endParaRPr lang="en-US" altLang="zh-CN" sz="1600"/>
          </a:p>
          <a:p>
            <a:pPr lvl="1">
              <a:lnSpc>
                <a:spcPct val="110000"/>
              </a:lnSpc>
            </a:pPr>
            <a:r>
              <a:rPr lang="en-US" altLang="en-US" sz="1600">
                <a:sym typeface="+mn-ea"/>
              </a:rPr>
              <a:t>Control Flow Destruction: High-level loop tree</a:t>
            </a:r>
            <a:r>
              <a:rPr lang="en-US" altLang="zh-CN" sz="1600">
                <a:sym typeface="+mn-ea"/>
              </a:rPr>
              <a:t> </a:t>
            </a:r>
            <a:r>
              <a:rPr lang="en-US" altLang="en-US" sz="1600">
                <a:sym typeface="+mn-ea"/>
              </a:rPr>
              <a:t> structures are destroyed, converted to implicit flat</a:t>
            </a:r>
            <a:r>
              <a:rPr lang="en-US" altLang="zh-CN" sz="1600">
                <a:sym typeface="+mn-ea"/>
              </a:rPr>
              <a:t> CFG </a:t>
            </a:r>
            <a:r>
              <a:rPr lang="en-US" altLang="en-US" sz="1600">
                <a:sym typeface="+mn-ea"/>
              </a:rPr>
              <a:t> and conditional branch jumps.</a:t>
            </a:r>
            <a:endParaRPr lang="en-US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15" y="431800"/>
            <a:ext cx="1925320" cy="1206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620" y="1323975"/>
            <a:ext cx="4672965" cy="21615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355" y="3834130"/>
            <a:ext cx="4652645" cy="17367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MLIR </a:t>
            </a:r>
            <a:r>
              <a:rPr lang="en-US" altLang="en-US"/>
              <a:t> Architecture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2000"/>
              <a:t>MLIR </a:t>
            </a:r>
            <a:r>
              <a:rPr lang="en-US" altLang="en-US" sz="2000"/>
              <a:t>A reusable, extensible open-source compilation infrastructure framework</a:t>
            </a:r>
          </a:p>
          <a:p>
            <a:pPr lvl="1">
              <a:lnSpc>
                <a:spcPct val="130000"/>
              </a:lnSpc>
            </a:pPr>
            <a:r>
              <a:rPr lang="en-US" altLang="en-US" sz="1800"/>
              <a:t>Addressing software fragmentation</a:t>
            </a:r>
          </a:p>
          <a:p>
            <a:pPr lvl="1">
              <a:lnSpc>
                <a:spcPct val="130000"/>
              </a:lnSpc>
            </a:pPr>
            <a:r>
              <a:rPr lang="en-US" altLang="en-US" sz="1800"/>
              <a:t>Support for compilation targeting heterogeneous hardware</a:t>
            </a:r>
          </a:p>
          <a:p>
            <a:pPr lvl="1">
              <a:lnSpc>
                <a:spcPct val="130000"/>
              </a:lnSpc>
            </a:pPr>
            <a:r>
              <a:rPr lang="en-US" altLang="en-US" sz="1800"/>
              <a:t>Reducing overhead for domain-specific compiler development</a:t>
            </a:r>
          </a:p>
          <a:p>
            <a:pPr lvl="1">
              <a:lnSpc>
                <a:spcPct val="130000"/>
              </a:lnSpc>
            </a:pPr>
            <a:r>
              <a:rPr lang="en-US" altLang="en-US" sz="1800"/>
              <a:t>Connecting existing various compilers</a:t>
            </a:r>
          </a:p>
          <a:p>
            <a:pPr lvl="0">
              <a:lnSpc>
                <a:spcPct val="130000"/>
              </a:lnSpc>
            </a:pPr>
            <a:r>
              <a:rPr lang="en-US" altLang="zh-CN" sz="2000"/>
              <a:t>MLIR</a:t>
            </a:r>
            <a:r>
              <a:rPr lang="en-US" altLang="en-US" sz="2000"/>
              <a:t>Why Can Solve the Problem</a:t>
            </a:r>
          </a:p>
          <a:p>
            <a:pPr lvl="1">
              <a:lnSpc>
                <a:spcPct val="130000"/>
              </a:lnSpc>
            </a:pPr>
            <a:r>
              <a:rPr lang="en-US" altLang="en-US" sz="1800"/>
              <a:t>Unified syntax, reusable components</a:t>
            </a:r>
          </a:p>
          <a:p>
            <a:pPr lvl="1">
              <a:lnSpc>
                <a:spcPct val="130000"/>
              </a:lnSpc>
            </a:pPr>
            <a:r>
              <a:rPr lang="en-US" altLang="en-US" sz="1800"/>
              <a:t>Shared ecosystem, coordinated optimization across levels</a:t>
            </a:r>
          </a:p>
          <a:p>
            <a:pPr lvl="1">
              <a:lnSpc>
                <a:spcPct val="130000"/>
              </a:lnSpc>
            </a:pPr>
            <a:r>
              <a:rPr lang="en-US" altLang="en-US" sz="1800"/>
              <a:t>Small gaps between levels, easy to implement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260" y="3429000"/>
            <a:ext cx="4686935" cy="20478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MLIR</a:t>
            </a:r>
            <a:r>
              <a:rPr lang="en-US" altLang="en-US"/>
              <a:t> Components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829300" cy="485330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Module</a:t>
            </a:r>
            <a:r>
              <a:rPr lang="en-US" altLang="en-US"/>
              <a:t>: </a:t>
            </a:r>
          </a:p>
          <a:p>
            <a:pPr lvl="1"/>
            <a:r>
              <a:rPr lang="en-US" altLang="en-US"/>
              <a:t>Top-level container encapsulating the entire compilation unit, isolating external variable scopes</a:t>
            </a:r>
            <a:r>
              <a:rPr lang="en-US" altLang="zh-CN"/>
              <a:t> </a:t>
            </a:r>
            <a:r>
              <a:rPr lang="en-US" altLang="en-US"/>
              <a:t>.</a:t>
            </a:r>
          </a:p>
          <a:p>
            <a:r>
              <a:rPr lang="en-US" altLang="zh-CN"/>
              <a:t>Region</a:t>
            </a:r>
            <a:r>
              <a:rPr lang="en-US" altLang="en-US"/>
              <a:t>: </a:t>
            </a:r>
          </a:p>
          <a:p>
            <a:pPr lvl="1"/>
            <a:r>
              <a:rPr lang="en-US" altLang="en-US"/>
              <a:t>Breaking through flat</a:t>
            </a:r>
            <a:r>
              <a:rPr lang="en-US" altLang="zh-CN"/>
              <a:t> CFG </a:t>
            </a:r>
            <a:r>
              <a:rPr lang="en-US" altLang="en-US"/>
              <a:t> limitations, preserving loops as</a:t>
            </a:r>
            <a:r>
              <a:rPr lang="en-US" altLang="zh-CN"/>
              <a:t>“</a:t>
            </a:r>
            <a:r>
              <a:rPr lang="en-US" altLang="en-US"/>
              <a:t>first-class citizens</a:t>
            </a:r>
            <a:r>
              <a:rPr lang="en-US" altLang="zh-CN"/>
              <a:t>”</a:t>
            </a:r>
            <a:r>
              <a:rPr lang="en-US" altLang="en-US"/>
              <a:t> in nested structures.</a:t>
            </a:r>
            <a:endParaRPr lang="en-US" altLang="zh-CN"/>
          </a:p>
          <a:p>
            <a:r>
              <a:rPr lang="en-US" altLang="zh-CN"/>
              <a:t>Block</a:t>
            </a:r>
            <a:r>
              <a:rPr lang="en-US" altLang="en-US"/>
              <a:t>: </a:t>
            </a:r>
          </a:p>
          <a:p>
            <a:pPr lvl="1"/>
            <a:r>
              <a:rPr lang="en-US" altLang="en-US"/>
              <a:t>Introducing</a:t>
            </a:r>
            <a:r>
              <a:rPr lang="en-US" altLang="zh-CN"/>
              <a:t>Block Arguments </a:t>
            </a:r>
            <a:r>
              <a:rPr lang="en-US" altLang="en-US"/>
              <a:t> avoiding traditional</a:t>
            </a:r>
            <a:r>
              <a:rPr lang="en-US" altLang="zh-CN"/>
              <a:t> LLVM </a:t>
            </a:r>
            <a:r>
              <a:rPr lang="en-US" altLang="en-US"/>
              <a:t> high-maintenance</a:t>
            </a:r>
            <a:r>
              <a:rPr lang="en-US" altLang="zh-CN"/>
              <a:t> PHI </a:t>
            </a:r>
            <a:r>
              <a:rPr lang="en-US" altLang="en-US"/>
              <a:t> nodes</a:t>
            </a:r>
            <a:endParaRPr lang="en-US" altLang="zh-CN"/>
          </a:p>
          <a:p>
            <a:r>
              <a:rPr lang="en-US" altLang="zh-CN"/>
              <a:t>Operation </a:t>
            </a:r>
            <a:r>
              <a:rPr lang="en-US" altLang="en-US"/>
              <a:t>and</a:t>
            </a:r>
            <a:r>
              <a:rPr lang="en-US" altLang="zh-CN"/>
              <a:t> Attribute</a:t>
            </a:r>
            <a:r>
              <a:rPr lang="en-US" altLang="en-US"/>
              <a:t>:</a:t>
            </a:r>
          </a:p>
          <a:p>
            <a:pPr lvl="1"/>
            <a:r>
              <a:rPr lang="en-US" altLang="en-US"/>
              <a:t>Highly unified opaque</a:t>
            </a:r>
            <a:r>
              <a:rPr lang="en-US" altLang="zh-CN"/>
              <a:t> API</a:t>
            </a:r>
            <a:r>
              <a:rPr lang="en-US" altLang="en-US"/>
              <a:t>, along with globally uniqued attribute dictionaries for representing constants.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490" y="2320925"/>
            <a:ext cx="5307965" cy="26358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MLIR </a:t>
            </a:r>
            <a:r>
              <a:rPr lang="en-US" altLang="en-US"/>
              <a:t>-Based Deep Learning Framework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https://hku-systems.github.io/events/iscas2021/1-2-Hongbin%20Zhang%20MLIR.pdf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727190" cy="48533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sz="2000"/>
              <a:t>From Model Translation to</a:t>
            </a:r>
            <a:r>
              <a:rPr lang="en-US" altLang="zh-CN" sz="2000"/>
              <a:t> MLIR </a:t>
            </a:r>
          </a:p>
          <a:p>
            <a:pPr lvl="1">
              <a:lnSpc>
                <a:spcPct val="110000"/>
              </a:lnSpc>
            </a:pPr>
            <a:r>
              <a:rPr lang="en-US" altLang="en-US" sz="1800"/>
              <a:t>Splitting the program into</a:t>
            </a:r>
            <a:r>
              <a:rPr lang="en-US" altLang="zh-CN" sz="1800"/>
              <a:t> host </a:t>
            </a:r>
            <a:r>
              <a:rPr lang="en-US" altLang="en-US" sz="1800"/>
              <a:t> and</a:t>
            </a:r>
            <a:r>
              <a:rPr lang="en-US" altLang="zh-CN" sz="1800"/>
              <a:t> device</a:t>
            </a:r>
            <a:r>
              <a:rPr lang="en-US" altLang="en-US" sz="1800"/>
              <a:t>Generating intermediate artifacts (</a:t>
            </a:r>
            <a:r>
              <a:rPr lang="en-US" altLang="zh-CN" sz="1800"/>
              <a:t>VM FlatBuffers</a:t>
            </a:r>
            <a:r>
              <a:rPr lang="en-US" altLang="en-US" sz="1800"/>
              <a:t>, </a:t>
            </a:r>
            <a:r>
              <a:rPr lang="en-US" altLang="zh-CN" sz="1800"/>
              <a:t>C file</a:t>
            </a:r>
            <a:r>
              <a:rPr lang="en-US" altLang="en-US" sz="1800"/>
              <a:t>, </a:t>
            </a:r>
            <a:r>
              <a:rPr lang="en-US" altLang="zh-CN" sz="1800"/>
              <a:t>etc.</a:t>
            </a:r>
            <a:r>
              <a:rPr lang="en-US" altLang="en-US" sz="1800"/>
              <a:t>）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Linking</a:t>
            </a:r>
            <a:r>
              <a:rPr lang="en-US" altLang="zh-CN" sz="2000"/>
              <a:t> host </a:t>
            </a:r>
            <a:r>
              <a:rPr lang="en-US" altLang="en-US" sz="2000"/>
              <a:t> and</a:t>
            </a:r>
            <a:r>
              <a:rPr lang="en-US" altLang="zh-CN" sz="2000"/>
              <a:t> device </a:t>
            </a:r>
            <a:r>
              <a:rPr lang="en-US" altLang="en-US" sz="2000"/>
              <a:t>-side code to generate executables</a:t>
            </a:r>
            <a:r>
              <a:rPr lang="en-US" altLang="zh-CN" sz="2000"/>
              <a:t>/</a:t>
            </a:r>
            <a:r>
              <a:rPr lang="en-US" altLang="en-US" sz="2000"/>
              <a:t> library and</a:t>
            </a:r>
            <a:r>
              <a:rPr lang="en-US" altLang="zh-CN" sz="2000"/>
              <a:t> IREE </a:t>
            </a:r>
            <a:r>
              <a:rPr lang="en-US" altLang="en-US" sz="2000"/>
              <a:t> Hardware Abstraction Layer (</a:t>
            </a:r>
            <a:r>
              <a:rPr lang="en-US" altLang="zh-CN" sz="2000"/>
              <a:t>HAL</a:t>
            </a:r>
            <a:r>
              <a:rPr lang="en-US" altLang="en-US" sz="2000"/>
              <a:t>) linking</a:t>
            </a:r>
          </a:p>
          <a:p>
            <a:pPr>
              <a:lnSpc>
                <a:spcPct val="110000"/>
              </a:lnSpc>
            </a:pPr>
            <a:r>
              <a:rPr lang="en-US" altLang="zh-CN" sz="2000"/>
              <a:t>IREE</a:t>
            </a:r>
            <a:r>
              <a:rPr lang="en-US" altLang="en-US" sz="2000"/>
              <a:t> Bytecode Virtual Machine</a:t>
            </a:r>
            <a:r>
              <a:rPr lang="en-US" altLang="zh-CN" sz="2000"/>
              <a:t> (Bytecode VM)</a:t>
            </a:r>
            <a:endParaRPr lang="en-US" altLang="en-US" sz="2000"/>
          </a:p>
          <a:p>
            <a:pPr>
              <a:lnSpc>
                <a:spcPct val="110000"/>
              </a:lnSpc>
            </a:pPr>
            <a:r>
              <a:rPr lang="en-US" altLang="en-US" sz="2000"/>
              <a:t> Hardware Abstraction Layer API</a:t>
            </a:r>
            <a:r>
              <a:rPr lang="en-US" altLang="zh-CN" sz="2000"/>
              <a:t> </a:t>
            </a:r>
            <a:r>
              <a:rPr lang="en-US" altLang="en-US" sz="2000"/>
              <a:t>(</a:t>
            </a:r>
            <a:r>
              <a:rPr lang="en-US" altLang="zh-CN" sz="2000"/>
              <a:t>HAL API</a:t>
            </a:r>
            <a:r>
              <a:rPr lang="en-US" altLang="en-US" sz="2000"/>
              <a:t>) and various hardware abstractions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General interface and various language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615" y="1446530"/>
            <a:ext cx="4493895" cy="45961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Dialect </a:t>
            </a:r>
            <a:r>
              <a:rPr lang="en-US" altLang="en-US"/>
              <a:t> Dialect System</a:t>
            </a:r>
            <a:r>
              <a:rPr lang="en-US" altLang="zh-CN"/>
              <a:t>·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https://mlir.llvm.org/docs/Dialects/Vector/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7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161280" cy="485330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/>
              <a:t>Dialect Mechanism Definition: </a:t>
            </a:r>
          </a:p>
          <a:p>
            <a:pPr lvl="1">
              <a:lnSpc>
                <a:spcPct val="110000"/>
              </a:lnSpc>
            </a:pPr>
            <a:r>
              <a:rPr lang="en-US" altLang="zh-CN" sz="1800"/>
              <a:t>Dialect </a:t>
            </a:r>
            <a:r>
              <a:rPr lang="en-US" altLang="en-US" sz="1800"/>
              <a:t> is a logical namespace encapsulating operators, types, and attributes customized for specific computational domains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zh-CN" sz="1800"/>
          </a:p>
          <a:p>
            <a:pPr>
              <a:lnSpc>
                <a:spcPct val="110000"/>
              </a:lnSpc>
            </a:pPr>
            <a:r>
              <a:rPr lang="en-US" altLang="en-US" sz="2000"/>
              <a:t>Within a computation graph, high-level framework dialect (</a:t>
            </a:r>
            <a:r>
              <a:rPr lang="en-US" altLang="zh-CN" sz="2000"/>
              <a:t>torch</a:t>
            </a:r>
            <a:r>
              <a:rPr lang="en-US" altLang="en-US" sz="2000"/>
              <a:t>), tensor dialect (</a:t>
            </a:r>
            <a:r>
              <a:rPr lang="en-US" altLang="zh-CN" sz="2000"/>
              <a:t>tensor</a:t>
            </a:r>
            <a:r>
              <a:rPr lang="en-US" altLang="en-US" sz="2000"/>
              <a:t>), loop dialect (</a:t>
            </a:r>
            <a:r>
              <a:rPr lang="en-US" altLang="zh-CN" sz="2000"/>
              <a:t>affine</a:t>
            </a:r>
            <a:r>
              <a:rPr lang="en-US" altLang="en-US" sz="2000"/>
              <a:t>), and machine code dialect (</a:t>
            </a:r>
            <a:r>
              <a:rPr lang="en-US" altLang="zh-CN" sz="2000"/>
              <a:t>llvm</a:t>
            </a:r>
            <a:r>
              <a:rPr lang="en-US" altLang="en-US" sz="2000"/>
              <a:t>) can perfectly coexist.</a:t>
            </a:r>
            <a:endParaRPr lang="en-US" altLang="zh-CN" sz="2000"/>
          </a:p>
          <a:p>
            <a:pPr>
              <a:lnSpc>
                <a:spcPct val="110000"/>
              </a:lnSpc>
            </a:pPr>
            <a:r>
              <a:rPr lang="en-US" altLang="en-US" sz="2000"/>
              <a:t>Through inter-dialect</a:t>
            </a:r>
            <a:r>
              <a:rPr lang="en-US" altLang="zh-CN" sz="2000"/>
              <a:t> Conversion Pass</a:t>
            </a:r>
            <a:r>
              <a:rPr lang="en-US" altLang="en-US" sz="2000"/>
              <a:t>, the compiler can perform</a:t>
            </a:r>
            <a:r>
              <a:rPr lang="en-US" altLang="zh-CN" sz="2000"/>
              <a:t>“</a:t>
            </a:r>
            <a:r>
              <a:rPr lang="en-US" altLang="en-US" sz="2000"/>
              <a:t>the most appropriate abstraction level</a:t>
            </a:r>
            <a:r>
              <a:rPr lang="en-US" altLang="zh-CN" sz="2000"/>
              <a:t>”</a:t>
            </a:r>
            <a:r>
              <a:rPr lang="en-US" altLang="en-US" sz="2000"/>
              <a:t> at </a:t>
            </a:r>
            <a:r>
              <a:rPr lang="en-US" altLang="zh-CN" sz="2000"/>
              <a:t>“</a:t>
            </a:r>
            <a:r>
              <a:rPr lang="en-US" altLang="en-US" sz="2000"/>
              <a:t>the most suitable graph optimization</a:t>
            </a:r>
            <a:r>
              <a:rPr lang="en-US" altLang="zh-CN" sz="2000"/>
              <a:t>”</a:t>
            </a:r>
            <a:r>
              <a:rPr lang="en-US" altLang="en-US" sz="2000"/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430" y="1132840"/>
            <a:ext cx="6089015" cy="48539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ODS </a:t>
            </a:r>
            <a:r>
              <a:rPr lang="en-US" altLang="en-US"/>
              <a:t>Specification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https://mlir.llvm.org/docs/DefiningDialects/Operations/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8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468745" cy="4853305"/>
          </a:xfrm>
        </p:spPr>
        <p:txBody>
          <a:bodyPr>
            <a:normAutofit fontScale="97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en-US"/>
              <a:t>Declarative Modeling: 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Based on</a:t>
            </a:r>
            <a:r>
              <a:rPr lang="en-US" altLang="zh-CN"/>
              <a:t> LLVM TableGen (.td </a:t>
            </a:r>
            <a:r>
              <a:rPr lang="en-US" altLang="en-US"/>
              <a:t> files</a:t>
            </a:r>
            <a:r>
              <a:rPr lang="en-US" altLang="zh-CN"/>
              <a:t>) </a:t>
            </a:r>
            <a:r>
              <a:rPr lang="en-US" altLang="en-US"/>
              <a:t>-based declarative operator definition framework.</a:t>
            </a:r>
            <a:endParaRPr lang="en-US" altLang="zh-CN"/>
          </a:p>
          <a:p>
            <a:pPr>
              <a:lnSpc>
                <a:spcPct val="110000"/>
              </a:lnSpc>
            </a:pPr>
            <a:r>
              <a:rPr lang="en-US" altLang="en-US"/>
              <a:t>Single Source of Truth: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Defining operator name, operands, attributes, and return values in one shot through concise descriptive syntax.</a:t>
            </a:r>
          </a:p>
          <a:p>
            <a:pPr>
              <a:lnSpc>
                <a:spcPct val="110000"/>
              </a:lnSpc>
            </a:pPr>
            <a:r>
              <a:rPr lang="en-US" altLang="en-US"/>
              <a:t>Type Constraints: 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Directly declaring operator traits in the specification (e.g.,</a:t>
            </a:r>
            <a:r>
              <a:rPr lang="en-US" altLang="zh-CN"/>
              <a:t>Traits</a:t>
            </a:r>
            <a:r>
              <a:rPr lang="en-US" altLang="en-US"/>
              <a:t>), such as declaring</a:t>
            </a:r>
            <a:r>
              <a:rPr lang="en-US" altLang="zh-CN"/>
              <a:t> NoMemoryEffect </a:t>
            </a:r>
            <a:r>
              <a:rPr lang="en-US" altLang="en-US"/>
              <a:t> to explicitly inform the compiler that the operator has no memory side effects, allowing aggressive reordering.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220" y="1584960"/>
            <a:ext cx="4810760" cy="39928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ODS </a:t>
            </a:r>
            <a:r>
              <a:rPr lang="en-US" altLang="en-US"/>
              <a:t>Automated generation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9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795010" cy="485330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000"/>
              <a:t>C++ </a:t>
            </a:r>
            <a:r>
              <a:rPr lang="en-US" altLang="en-US" sz="2000"/>
              <a:t>Boilerplate Auto-Generation: </a:t>
            </a:r>
          </a:p>
          <a:p>
            <a:pPr lvl="1">
              <a:lnSpc>
                <a:spcPct val="110000"/>
              </a:lnSpc>
            </a:pPr>
            <a:r>
              <a:rPr lang="en-US" altLang="zh-CN" sz="1800"/>
              <a:t>OpDefinitionsGen </a:t>
            </a:r>
            <a:r>
              <a:rPr lang="en-US" altLang="en-US" sz="1800"/>
              <a:t> tool automatically parses and generates standard</a:t>
            </a:r>
            <a:r>
              <a:rPr lang="en-US" altLang="zh-CN" sz="1800"/>
              <a:t> C++ </a:t>
            </a:r>
            <a:r>
              <a:rPr lang="en-US" altLang="en-US" sz="1800"/>
              <a:t> declaration and implementation code at compile time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zh-CN" sz="1800"/>
          </a:p>
          <a:p>
            <a:pPr>
              <a:lnSpc>
                <a:spcPct val="110000"/>
              </a:lnSpc>
            </a:pPr>
            <a:r>
              <a:rPr lang="en-US" altLang="en-US" sz="2000"/>
              <a:t>Automatically generating strongly-typed, semantically explicit</a:t>
            </a:r>
            <a:r>
              <a:rPr lang="en-US" altLang="zh-CN" sz="2000"/>
              <a:t> Getter/Setter</a:t>
            </a:r>
          </a:p>
          <a:p>
            <a:pPr lvl="1">
              <a:lnSpc>
                <a:spcPct val="110000"/>
              </a:lnSpc>
            </a:pPr>
            <a:r>
              <a:rPr lang="en-US" altLang="en-US" sz="1800"/>
              <a:t>e.g., directly calling</a:t>
            </a:r>
            <a:r>
              <a:rPr lang="en-US" altLang="zh-CN" sz="1800"/>
              <a:t> .stride() </a:t>
            </a:r>
            <a:r>
              <a:rPr lang="en-US" altLang="en-US" sz="1800"/>
              <a:t> to get stride.</a:t>
            </a:r>
            <a:endParaRPr lang="en-US" altLang="zh-CN" sz="1800"/>
          </a:p>
          <a:p>
            <a:pPr>
              <a:lnSpc>
                <a:spcPct val="110000"/>
              </a:lnSpc>
            </a:pPr>
            <a:r>
              <a:rPr lang="en-US" altLang="en-US" sz="2000"/>
              <a:t>Compile-Time Verification: </a:t>
            </a:r>
          </a:p>
          <a:p>
            <a:pPr lvl="1">
              <a:lnSpc>
                <a:spcPct val="110000"/>
              </a:lnSpc>
            </a:pPr>
            <a:r>
              <a:rPr lang="en-US" altLang="en-US" sz="1800"/>
              <a:t>Automatically aggregating all constraints and generating a</a:t>
            </a:r>
            <a:r>
              <a:rPr lang="en-US" altLang="zh-CN" sz="1800"/>
              <a:t> verify() </a:t>
            </a:r>
            <a:r>
              <a:rPr lang="en-US" altLang="en-US" sz="1800"/>
              <a:t> verifier. Before graph optimization begins, automatically intercepting illegal type or tensor shape mismatch cases.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105" y="1409065"/>
            <a:ext cx="5246370" cy="43541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TOSA Dialect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https://community.arm.com/cfs-file/__key/communityserver-blogs-components-weblogfiles/00-00-00-37-98/Eric-Kunze-_2D00_-ODIW-2021-_2D00_.pdf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10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2000"/>
              <a:t>TOSA (Tensor Operator Set Architecture)</a:t>
            </a:r>
          </a:p>
          <a:p>
            <a:pPr lvl="1"/>
            <a:r>
              <a:rPr lang="en-US" altLang="en-US" sz="1800"/>
              <a:t>Hardware-Independent Tensor Operation Set Specification</a:t>
            </a:r>
          </a:p>
          <a:p>
            <a:pPr lvl="1"/>
            <a:r>
              <a:rPr lang="en-US" altLang="en-US" sz="1800"/>
              <a:t>Providing a standardized, general set of tensor operations to represent computations in DNNs</a:t>
            </a:r>
          </a:p>
          <a:p>
            <a:pPr lvl="1"/>
            <a:r>
              <a:rPr lang="en-US" altLang="en-US" sz="1800"/>
              <a:t>Serving as a universal bridge connecting various frontend high-level framework models with backend low-level hardware compilers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890" y="3175000"/>
            <a:ext cx="6834505" cy="30962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TOSA </a:t>
            </a:r>
            <a:r>
              <a:rPr lang="en-US" altLang="en-US"/>
              <a:t> Design Goals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11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sz="2000"/>
              <a:t>Hardware Agnosticism</a:t>
            </a:r>
            <a:r>
              <a:rPr lang="en-US" altLang="zh-CN" sz="2000"/>
              <a:t> (Hardware Agnostic)</a:t>
            </a:r>
            <a:r>
              <a:rPr lang="en-US" altLang="en-US" sz="2000"/>
              <a:t>:</a:t>
            </a:r>
          </a:p>
          <a:p>
            <a:pPr lvl="1">
              <a:lnSpc>
                <a:spcPct val="110000"/>
              </a:lnSpc>
            </a:pPr>
            <a:r>
              <a:rPr lang="en-US" altLang="zh-CN" sz="1800"/>
              <a:t>TOSA </a:t>
            </a:r>
            <a:r>
              <a:rPr lang="en-US" altLang="en-US" sz="1800"/>
              <a:t>Making no assumptions related to specific hardware architectures (e.g., specific register sizes, cache hierarchies).</a:t>
            </a:r>
            <a:endParaRPr lang="en-US" altLang="zh-CN" sz="1800"/>
          </a:p>
          <a:p>
            <a:pPr lvl="1">
              <a:lnSpc>
                <a:spcPct val="110000"/>
              </a:lnSpc>
            </a:pPr>
            <a:r>
              <a:rPr lang="en-US" altLang="en-US" sz="1800"/>
              <a:t>Focusing on expressing the mathematical computation semantics of neural networks, not hardware execution details.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Stability and Standardization</a:t>
            </a:r>
            <a:r>
              <a:rPr lang="en-US" altLang="zh-CN" sz="2000"/>
              <a:t> (Stability &amp; Standardization)</a:t>
            </a:r>
            <a:r>
              <a:rPr lang="en-US" altLang="en-US" sz="2000"/>
              <a:t>:</a:t>
            </a:r>
          </a:p>
          <a:p>
            <a:pPr lvl="1">
              <a:lnSpc>
                <a:spcPct val="110000"/>
              </a:lnSpc>
            </a:pPr>
            <a:r>
              <a:rPr lang="en-US" altLang="zh-CN" sz="1800"/>
              <a:t>TOSA </a:t>
            </a:r>
            <a:r>
              <a:rPr lang="en-US" altLang="en-US" sz="1800"/>
              <a:t> is backed by a strict specification (</a:t>
            </a:r>
            <a:r>
              <a:rPr lang="en-US" altLang="zh-CN" sz="1800"/>
              <a:t>Specification</a:t>
            </a:r>
            <a:r>
              <a:rPr lang="en-US" altLang="en-US" sz="1800"/>
              <a:t>)-supported</a:t>
            </a:r>
            <a:r>
              <a:rPr lang="en-US" altLang="zh-CN" sz="1800"/>
              <a:t> Dialect</a:t>
            </a:r>
            <a:r>
              <a:rPr lang="en-US" altLang="en-US" sz="1800"/>
              <a:t>, aiming to be a stable contract layer. Guaranteeing the legitimacy and consistency of input</a:t>
            </a:r>
            <a:r>
              <a:rPr lang="en-US" altLang="zh-CN" sz="1800"/>
              <a:t> IR </a:t>
            </a:r>
            <a:r>
              <a:rPr lang="en-US" altLang="en-US" sz="1800"/>
              <a:t> to downstream compilers.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Completeness and Conciseness</a:t>
            </a:r>
            <a:r>
              <a:rPr lang="en-US" altLang="zh-CN" sz="2000"/>
              <a:t> (Completeness vs. Conciseness)</a:t>
            </a:r>
            <a:r>
              <a:rPr lang="en-US" altLang="en-US" sz="2000"/>
              <a:t>:</a:t>
            </a:r>
          </a:p>
          <a:p>
            <a:pPr lvl="1">
              <a:lnSpc>
                <a:spcPct val="110000"/>
              </a:lnSpc>
            </a:pPr>
            <a:r>
              <a:rPr lang="en-US" altLang="en-US" sz="1800"/>
              <a:t>Containing operators sufficient to express the vast majority of current deep learning models.</a:t>
            </a:r>
          </a:p>
          <a:p>
            <a:pPr lvl="1">
              <a:lnSpc>
                <a:spcPct val="110000"/>
              </a:lnSpc>
            </a:pPr>
            <a:r>
              <a:rPr lang="en-US" altLang="en-US" sz="1800"/>
              <a:t>Avoiding operator explosion (</a:t>
            </a:r>
            <a:r>
              <a:rPr lang="en-US" altLang="zh-CN" sz="1800"/>
              <a:t>Operator Explosion</a:t>
            </a:r>
            <a:r>
              <a:rPr lang="en-US" altLang="en-US" sz="1800"/>
              <a:t>): Expressing complex operators through combinations of basic operators, rather than creating a new operator for every minor operation variant.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TOSA </a:t>
            </a:r>
            <a:r>
              <a:rPr lang="en-US" altLang="en-US"/>
              <a:t>in the Compilation Ecosystem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12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000"/>
              <a:t>Middle Layer</a:t>
            </a:r>
            <a:r>
              <a:rPr lang="en-US" altLang="zh-CN" sz="2000"/>
              <a:t> (The Hourglass Neck)</a:t>
            </a:r>
            <a:r>
              <a:rPr lang="en-US" altLang="en-US" sz="2000"/>
              <a:t>:</a:t>
            </a:r>
            <a:endParaRPr lang="en-US" altLang="zh-CN" sz="2000"/>
          </a:p>
          <a:p>
            <a:pPr lvl="1"/>
            <a:r>
              <a:rPr lang="en-US" altLang="en-US" sz="1800"/>
              <a:t>Upward Frontend Connection</a:t>
            </a:r>
            <a:r>
              <a:rPr lang="en-US" altLang="zh-CN" sz="1800"/>
              <a:t> (Frontend Lowering)</a:t>
            </a:r>
            <a:r>
              <a:rPr lang="en-US" altLang="en-US" sz="1800"/>
              <a:t>:</a:t>
            </a:r>
            <a:endParaRPr lang="en-US" altLang="zh-CN" sz="1800"/>
          </a:p>
          <a:p>
            <a:pPr lvl="2"/>
            <a:r>
              <a:rPr lang="en-US" altLang="en-US" sz="1400"/>
              <a:t>High-level framework models (e.g.,</a:t>
            </a:r>
            <a:r>
              <a:rPr lang="en-US" altLang="zh-CN" sz="1400"/>
              <a:t> TensorFlow Lite, PyTorch Export, ONNX</a:t>
            </a:r>
            <a:r>
              <a:rPr lang="en-US" altLang="en-US" sz="1400"/>
              <a:t>) are converted to high-level</a:t>
            </a:r>
            <a:r>
              <a:rPr lang="en-US" altLang="zh-CN" sz="1400"/>
              <a:t> Dialect</a:t>
            </a:r>
            <a:r>
              <a:rPr lang="en-US" altLang="en-US" sz="1400"/>
              <a:t> (e.g.,</a:t>
            </a:r>
            <a:r>
              <a:rPr lang="en-US" altLang="zh-CN" sz="1400"/>
              <a:t> tf, torch </a:t>
            </a:r>
            <a:r>
              <a:rPr lang="en-US" altLang="en-US" sz="1400"/>
              <a:t>or</a:t>
            </a:r>
            <a:r>
              <a:rPr lang="en-US" altLang="zh-CN" sz="1400"/>
              <a:t> mhlo</a:t>
            </a:r>
            <a:r>
              <a:rPr lang="en-US" altLang="en-US" sz="1400"/>
              <a:t>）.</a:t>
            </a:r>
          </a:p>
          <a:p>
            <a:pPr lvl="2"/>
            <a:r>
              <a:rPr lang="en-US" altLang="en-US" sz="1400"/>
              <a:t>These high-level</a:t>
            </a:r>
            <a:r>
              <a:rPr lang="en-US" altLang="zh-CN" sz="1400"/>
              <a:t> Dialect </a:t>
            </a:r>
            <a:r>
              <a:rPr lang="en-US" altLang="en-US" sz="1400"/>
              <a:t> can directly or indirectly</a:t>
            </a:r>
            <a:r>
              <a:rPr lang="en-US" altLang="zh-CN" sz="1400"/>
              <a:t> Lower (</a:t>
            </a:r>
            <a:r>
              <a:rPr lang="en-US" altLang="en-US" sz="1400"/>
              <a:t> lower</a:t>
            </a:r>
            <a:r>
              <a:rPr lang="en-US" altLang="zh-CN" sz="1400"/>
              <a:t>) </a:t>
            </a:r>
            <a:r>
              <a:rPr lang="en-US" altLang="en-US" sz="1400"/>
              <a:t> to</a:t>
            </a:r>
            <a:r>
              <a:rPr lang="en-US" altLang="zh-CN" sz="1400"/>
              <a:t> tosa Dialect</a:t>
            </a:r>
            <a:r>
              <a:rPr lang="en-US" altLang="en-US" sz="1400"/>
              <a:t>.</a:t>
            </a:r>
            <a:endParaRPr lang="en-US" altLang="zh-CN" sz="1400"/>
          </a:p>
          <a:p>
            <a:pPr lvl="1"/>
            <a:r>
              <a:rPr lang="en-US" altLang="en-US" sz="1800"/>
              <a:t>Downward Backend Connection</a:t>
            </a:r>
            <a:r>
              <a:rPr lang="en-US" altLang="zh-CN" sz="1800"/>
              <a:t> (Backend Lowering)</a:t>
            </a:r>
            <a:r>
              <a:rPr lang="en-US" altLang="en-US" sz="1800"/>
              <a:t>:</a:t>
            </a:r>
          </a:p>
          <a:p>
            <a:pPr lvl="2"/>
            <a:r>
              <a:rPr lang="en-US" altLang="zh-CN" sz="1400"/>
              <a:t>tosa </a:t>
            </a:r>
            <a:r>
              <a:rPr lang="en-US" altLang="en-US" sz="1400"/>
              <a:t> is typically lowered to</a:t>
            </a:r>
            <a:r>
              <a:rPr lang="en-US" altLang="zh-CN" sz="1400"/>
              <a:t> linalg (Linear Algebra) Dialect</a:t>
            </a:r>
            <a:r>
              <a:rPr lang="en-US" altLang="en-US" sz="1400"/>
              <a:t>, then to</a:t>
            </a:r>
            <a:r>
              <a:rPr lang="en-US" altLang="zh-CN" sz="1400"/>
              <a:t> vector, scf</a:t>
            </a:r>
            <a:r>
              <a:rPr lang="en-US" altLang="en-US" sz="1400"/>
              <a:t>, and finally to</a:t>
            </a:r>
            <a:r>
              <a:rPr lang="en-US" altLang="zh-CN" sz="1400"/>
              <a:t> llvm Dialect </a:t>
            </a:r>
            <a:r>
              <a:rPr lang="en-US" altLang="en-US" sz="1400"/>
              <a:t> for</a:t>
            </a:r>
            <a:r>
              <a:rPr lang="en-US" altLang="zh-CN" sz="1400"/>
              <a:t> CPU/GPU </a:t>
            </a:r>
            <a:r>
              <a:rPr lang="en-US" altLang="en-US" sz="1400"/>
              <a:t> execution.</a:t>
            </a:r>
          </a:p>
          <a:p>
            <a:pPr lvl="2"/>
            <a:r>
              <a:rPr lang="en-US" altLang="en-US" sz="1400"/>
              <a:t>Custom Hardware Path: </a:t>
            </a:r>
            <a:r>
              <a:rPr lang="en-US" altLang="zh-CN" sz="1400"/>
              <a:t> </a:t>
            </a:r>
            <a:r>
              <a:rPr lang="en-US" altLang="en-US" sz="1400"/>
              <a:t>Hardware vendors can directly extract</a:t>
            </a:r>
            <a:r>
              <a:rPr lang="en-US" altLang="zh-CN" sz="1400"/>
              <a:t> tosa </a:t>
            </a:r>
            <a:r>
              <a:rPr lang="en-US" altLang="en-US" sz="1400"/>
              <a:t> the computation graph and map it to custom accelerator instruction sets.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075" y="4081780"/>
            <a:ext cx="5537200" cy="25088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TOSA Dialect </a:t>
            </a:r>
            <a:r>
              <a:rPr lang="en-US" altLang="en-US"/>
              <a:t> Core Operations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13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461000" cy="4853305"/>
          </a:xfrm>
        </p:spPr>
        <p:txBody>
          <a:bodyPr>
            <a:normAutofit fontScale="90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/>
              <a:t>Core Operator Categories: 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en-US"/>
              <a:t>Element-wise Operations</a:t>
            </a:r>
            <a:r>
              <a:rPr lang="en-US" altLang="zh-CN"/>
              <a:t> (Element-wise)</a:t>
            </a:r>
            <a:r>
              <a:rPr lang="en-US" altLang="en-US"/>
              <a:t>:</a:t>
            </a:r>
            <a:r>
              <a:rPr lang="en-US" altLang="zh-CN"/>
              <a:t> tosa.add, tosa.mul, tosa.exp, tosa.sigmoid </a:t>
            </a:r>
            <a:r>
              <a:rPr lang="en-US" altLang="en-US"/>
              <a:t>etc.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Core Neural Network Computation</a:t>
            </a:r>
            <a:r>
              <a:rPr lang="en-US" altLang="zh-CN"/>
              <a:t> (Neural Network Ops)</a:t>
            </a:r>
            <a:r>
              <a:rPr lang="en-US" altLang="en-US"/>
              <a:t>:</a:t>
            </a:r>
            <a:r>
              <a:rPr lang="en-US" altLang="zh-CN"/>
              <a:t> tosa.conv2d, tosa.depthwise_conv2d, tosa.matmul, tosa.fully_connected </a:t>
            </a:r>
            <a:r>
              <a:rPr lang="en-US" altLang="en-US"/>
              <a:t>etc.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Tensor Data Manipulation</a:t>
            </a:r>
            <a:r>
              <a:rPr lang="en-US" altLang="zh-CN"/>
              <a:t> (Data Manipulation)</a:t>
            </a:r>
            <a:r>
              <a:rPr lang="en-US" altLang="en-US"/>
              <a:t>:</a:t>
            </a:r>
            <a:r>
              <a:rPr lang="en-US" altLang="zh-CN"/>
              <a:t> tosa.reshape, tosa.transpose, tosa.slice, tosa.concat </a:t>
            </a:r>
            <a:r>
              <a:rPr lang="en-US" altLang="en-US"/>
              <a:t>etc.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Reduction and Pooling</a:t>
            </a:r>
            <a:r>
              <a:rPr lang="en-US" altLang="zh-CN"/>
              <a:t> (Reduction &amp; Pooling)</a:t>
            </a:r>
            <a:r>
              <a:rPr lang="en-US" altLang="en-US"/>
              <a:t>:</a:t>
            </a:r>
            <a:r>
              <a:rPr lang="en-US" altLang="zh-CN"/>
              <a:t> tosa.reduce_sum, tosa.max_pool2d </a:t>
            </a:r>
            <a:r>
              <a:rPr lang="en-US" altLang="en-US"/>
              <a:t>etc.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23975"/>
            <a:ext cx="5133340" cy="4554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TOSA Dialect </a:t>
            </a:r>
            <a:r>
              <a:rPr>
                <a:sym typeface="+mn-ea"/>
              </a:rPr>
              <a:t> Quantization Supporting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https://community.arm.com/cfs-file/__key/communityserver-blogs-components-weblogfiles/00-00-00-37-98/Eric-Kunze-_2D00_-ODIW-2021-_2D00_.pdf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14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000"/>
              <a:t>First-Class Quantization Support:</a:t>
            </a:r>
            <a:endParaRPr lang="en-US" altLang="zh-CN" sz="2000"/>
          </a:p>
          <a:p>
            <a:pPr lvl="1"/>
            <a:r>
              <a:rPr lang="en-US" altLang="zh-CN" sz="1800"/>
              <a:t>TOSA </a:t>
            </a:r>
            <a:r>
              <a:rPr lang="en-US" altLang="en-US" sz="1800"/>
              <a:t> designed quantization as a first-class citizen from the outset (especially targeting edge computing).</a:t>
            </a:r>
          </a:p>
          <a:p>
            <a:pPr lvl="1"/>
            <a:r>
              <a:rPr lang="en-US" altLang="en-US" sz="1800"/>
              <a:t>Supports floating-point types (</a:t>
            </a:r>
            <a:r>
              <a:rPr lang="en-US" altLang="zh-CN" sz="1800"/>
              <a:t>FP32, FP16, BF16</a:t>
            </a:r>
            <a:r>
              <a:rPr lang="en-US" altLang="en-US" sz="1800"/>
              <a:t>), natively supports integer</a:t>
            </a:r>
            <a:r>
              <a:rPr lang="en-US" altLang="zh-CN" sz="1800"/>
              <a:t>/</a:t>
            </a:r>
            <a:r>
              <a:rPr lang="en-US" altLang="en-US" sz="1800"/>
              <a:t>/quantization types (</a:t>
            </a:r>
            <a:r>
              <a:rPr lang="en-US" altLang="zh-CN" sz="1800"/>
              <a:t>INT8, INT16, INT32, INT48</a:t>
            </a:r>
            <a:r>
              <a:rPr lang="en-US" altLang="en-US" sz="1800"/>
              <a:t>）.</a:t>
            </a:r>
          </a:p>
          <a:p>
            <a:pPr lvl="1"/>
            <a:r>
              <a:rPr lang="en-US" altLang="en-US" sz="1800"/>
              <a:t>Quantization parameters (e.g.,</a:t>
            </a:r>
            <a:r>
              <a:rPr lang="en-US" altLang="zh-CN" sz="1800"/>
              <a:t> scale </a:t>
            </a:r>
            <a:r>
              <a:rPr lang="en-US" altLang="en-US" sz="1800"/>
              <a:t> and</a:t>
            </a:r>
            <a:r>
              <a:rPr lang="en-US" altLang="zh-CN" sz="1800"/>
              <a:t> zero-point</a:t>
            </a:r>
            <a:r>
              <a:rPr lang="en-US" altLang="en-US" sz="1800"/>
              <a:t>) are directly embedded in operator semantics and attributes, ensuring strict consistency between hardware execution precision and software simulation.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695" y="3659505"/>
            <a:ext cx="7374890" cy="25177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workflow of TOSA profile-based validation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15</a:t>
            </a:fld>
            <a:endParaRPr lang="en-US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696255" y="1323975"/>
            <a:ext cx="6932840" cy="48529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Affine Dialect </a:t>
            </a:r>
            <a:r>
              <a:t>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https://web.eecs.umich.edu/~mahlke/courses/583w23/lectures/Apr12/Group16_slides.pdf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16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824220" cy="4853305"/>
          </a:xfrm>
        </p:spPr>
        <p:txBody>
          <a:bodyPr/>
          <a:lstStyle/>
          <a:p>
            <a:r>
              <a:rPr lang="en-US" altLang="zh-CN">
                <a:sym typeface="+mn-ea"/>
              </a:rPr>
              <a:t>Affine Dialect</a:t>
            </a:r>
            <a:endParaRPr lang="en-US" altLang="en-US"/>
          </a:p>
          <a:p>
            <a:pPr lvl="1"/>
            <a:r>
              <a:rPr lang="en-US" altLang="en-US"/>
              <a:t>Specifically designed to express and optimize structured control flow and multi-dimensional memory access </a:t>
            </a:r>
            <a:r>
              <a:rPr lang="en-US" altLang="zh-CN"/>
              <a:t>IR</a:t>
            </a:r>
          </a:p>
          <a:p>
            <a:pPr lvl="1"/>
            <a:r>
              <a:rPr lang="en-US" altLang="en-US"/>
              <a:t>Based on the polyhedral model (</a:t>
            </a:r>
            <a:r>
              <a:rPr lang="en-US" altLang="zh-CN"/>
              <a:t>Polyhedral Model</a:t>
            </a:r>
            <a:r>
              <a:rPr lang="en-US" altLang="en-US"/>
              <a:t>) mathematical foundations, with engineering simplifications</a:t>
            </a:r>
          </a:p>
          <a:p>
            <a:pPr lvl="0"/>
            <a:r>
              <a:rPr lang="en-US" altLang="en-US"/>
              <a:t>Core Purpose: </a:t>
            </a:r>
            <a:endParaRPr lang="en-US" altLang="zh-CN"/>
          </a:p>
          <a:p>
            <a:pPr lvl="1"/>
            <a:r>
              <a:rPr lang="en-US" altLang="en-US"/>
              <a:t>Enabling the compiler to perform precise data dependency analysis.</a:t>
            </a:r>
            <a:endParaRPr lang="en-US" altLang="zh-CN"/>
          </a:p>
          <a:p>
            <a:pPr lvl="1"/>
            <a:r>
              <a:rPr lang="en-US" altLang="en-US"/>
              <a:t>Achieving efficient automatic parallelization, data locality optimization, and complex loop transformations.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1590675"/>
            <a:ext cx="5447030" cy="34493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Affine Dialect </a:t>
            </a:r>
            <a:r>
              <a:rPr>
                <a:sym typeface="+mn-ea"/>
              </a:rPr>
              <a:t>Overview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https://www.researchgate.net/figure/Dialects-available-in-MLIR-and-their-entry-points-PET-to-MLIR-enables-entering-in-the_fig2_347152973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17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266940" cy="4853305"/>
          </a:xfrm>
        </p:spPr>
        <p:txBody>
          <a:bodyPr>
            <a:noAutofit/>
          </a:bodyPr>
          <a:lstStyle/>
          <a:p>
            <a:r>
              <a:rPr lang="en-US" altLang="en-US" sz="2000"/>
              <a:t>Why Is It Called </a:t>
            </a:r>
            <a:r>
              <a:rPr lang="en-US" altLang="zh-CN" sz="2000"/>
              <a:t>“</a:t>
            </a:r>
            <a:r>
              <a:rPr lang="en-US" altLang="en-US" sz="2000"/>
              <a:t>Affine”？</a:t>
            </a:r>
            <a:endParaRPr lang="en-US" altLang="zh-CN" sz="2000"/>
          </a:p>
          <a:p>
            <a:pPr lvl="1"/>
            <a:r>
              <a:rPr lang="en-US" altLang="en-US" sz="1800"/>
              <a:t>Loop bounds and memory access indices are strictly restricted to affine functions of loop induction variables and symbols.</a:t>
            </a:r>
          </a:p>
          <a:p>
            <a:pPr lvl="0"/>
            <a:r>
              <a:rPr lang="en-US" altLang="en-US" sz="2000"/>
              <a:t>Key Concepts: </a:t>
            </a:r>
            <a:endParaRPr lang="en-US" altLang="zh-CN" sz="2000"/>
          </a:p>
          <a:p>
            <a:pPr lvl="1"/>
            <a:r>
              <a:rPr lang="en-US" altLang="zh-CN" sz="1800"/>
              <a:t>Dimensions</a:t>
            </a:r>
            <a:r>
              <a:rPr lang="en-US" altLang="en-US" sz="1800"/>
              <a:t>: </a:t>
            </a:r>
            <a:r>
              <a:rPr lang="en-US" altLang="zh-CN" sz="1800"/>
              <a:t> </a:t>
            </a:r>
            <a:r>
              <a:rPr lang="en-US" altLang="en-US" sz="1800"/>
              <a:t>Typically corresponding to loop induction variables (</a:t>
            </a:r>
            <a:r>
              <a:rPr lang="en-US" altLang="zh-CN" sz="1800"/>
              <a:t>Induction Variables</a:t>
            </a:r>
            <a:r>
              <a:rPr lang="en-US" altLang="en-US" sz="1800"/>
              <a:t>, e.g.,</a:t>
            </a:r>
            <a:r>
              <a:rPr lang="en-US" altLang="zh-CN" sz="1800"/>
              <a:t> i, j, k</a:t>
            </a:r>
            <a:r>
              <a:rPr lang="en-US" altLang="en-US" sz="1800"/>
              <a:t>）.</a:t>
            </a:r>
            <a:endParaRPr lang="en-US" altLang="zh-CN" sz="1800"/>
          </a:p>
          <a:p>
            <a:pPr lvl="1"/>
            <a:r>
              <a:rPr lang="en-US" altLang="zh-CN" sz="1800"/>
              <a:t>Symbols</a:t>
            </a:r>
            <a:r>
              <a:rPr lang="en-US" altLang="en-US" sz="1800"/>
              <a:t>: </a:t>
            </a:r>
            <a:r>
              <a:rPr lang="en-US" altLang="zh-CN" sz="1800"/>
              <a:t> </a:t>
            </a:r>
            <a:r>
              <a:rPr lang="en-US" altLang="en-US" sz="1800"/>
              <a:t>Parameters that remain constant throughout the loop nest (e.g., dynamic tensor dimensions</a:t>
            </a:r>
            <a:r>
              <a:rPr lang="en-US" altLang="zh-CN" sz="1800"/>
              <a:t> N, M</a:t>
            </a:r>
            <a:r>
              <a:rPr lang="en-US" altLang="en-US" sz="1800"/>
              <a:t>）.</a:t>
            </a:r>
            <a:endParaRPr lang="en-US" altLang="zh-CN" sz="1800"/>
          </a:p>
          <a:p>
            <a:pPr lvl="1"/>
            <a:r>
              <a:rPr lang="en-US" altLang="zh-CN" sz="1800"/>
              <a:t>Affine Map</a:t>
            </a:r>
            <a:r>
              <a:rPr lang="en-US" altLang="en-US" sz="1800"/>
              <a:t>:</a:t>
            </a:r>
            <a:r>
              <a:rPr lang="en-US" altLang="zh-CN" sz="1800"/>
              <a:t> </a:t>
            </a:r>
            <a:r>
              <a:rPr lang="en-US" altLang="en-US" sz="1800"/>
              <a:t>Defines a mathematical transformation from dimensions and symbols to a set of results (commonly used for array index computation).</a:t>
            </a:r>
            <a:endParaRPr lang="en-US" altLang="zh-CN" sz="1800"/>
          </a:p>
          <a:p>
            <a:pPr lvl="1"/>
            <a:r>
              <a:rPr lang="en-US" altLang="zh-CN" sz="1800"/>
              <a:t>Integer Set</a:t>
            </a:r>
            <a:r>
              <a:rPr lang="en-US" altLang="en-US" sz="1800"/>
              <a:t>: </a:t>
            </a:r>
            <a:r>
              <a:rPr lang="en-US" altLang="zh-CN" sz="1800"/>
              <a:t> </a:t>
            </a:r>
            <a:r>
              <a:rPr lang="en-US" altLang="en-US" sz="1800"/>
              <a:t>An integer space defined using affine constraints, commonly used to represent</a:t>
            </a:r>
            <a:r>
              <a:rPr lang="en-US" altLang="zh-CN" sz="1800"/>
              <a:t> if </a:t>
            </a:r>
            <a:r>
              <a:rPr lang="en-US" altLang="en-US" sz="1800"/>
              <a:t> condition boundaries.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230" y="2113915"/>
            <a:ext cx="4225925" cy="32740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Affine Dialect </a:t>
            </a:r>
            <a:r>
              <a:rPr lang="en-US" altLang="en-US"/>
              <a:t> Key Operators and Syntax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https://code.ornl.gov/llvm-doe/llvm-project/-/blob/369891b6747e4ad4b5e4e6d06f3f7596f3ee3f02/mlir/docs/Dialects/Affine.md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18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754370" cy="48533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sz="2000"/>
              <a:t>Restricted Control Flow Operations: </a:t>
            </a:r>
            <a:endParaRPr lang="en-US" altLang="zh-CN" sz="2000"/>
          </a:p>
          <a:p>
            <a:pPr lvl="1">
              <a:lnSpc>
                <a:spcPct val="110000"/>
              </a:lnSpc>
            </a:pPr>
            <a:r>
              <a:rPr lang="en-US" altLang="zh-CN" sz="1800"/>
              <a:t>affine.for</a:t>
            </a:r>
            <a:r>
              <a:rPr lang="en-US" altLang="en-US" sz="1800"/>
              <a:t>: Defines a loop with known bounds</a:t>
            </a:r>
            <a:r>
              <a:rPr lang="en-US" altLang="zh-CN" sz="1800"/>
              <a:t>, </a:t>
            </a:r>
            <a:r>
              <a:rPr lang="en-US" altLang="en-US" sz="1800"/>
              <a:t> stride must be a constant.</a:t>
            </a:r>
            <a:endParaRPr lang="en-US" altLang="zh-CN" sz="1800"/>
          </a:p>
          <a:p>
            <a:pPr lvl="1">
              <a:lnSpc>
                <a:spcPct val="110000"/>
              </a:lnSpc>
            </a:pPr>
            <a:r>
              <a:rPr lang="en-US" altLang="zh-CN" sz="1800"/>
              <a:t>affine.if</a:t>
            </a:r>
            <a:r>
              <a:rPr lang="en-US" altLang="en-US" sz="1800"/>
              <a:t>: Defines a conditional branch whose condition must be strictly evaluated by an affine integer set (</a:t>
            </a:r>
            <a:r>
              <a:rPr lang="en-US" altLang="zh-CN" sz="1800"/>
              <a:t>Integer Set</a:t>
            </a:r>
            <a:r>
              <a:rPr lang="en-US" altLang="en-US" sz="1800"/>
              <a:t>).</a:t>
            </a:r>
            <a:endParaRPr lang="en-US" altLang="zh-CN" sz="1800"/>
          </a:p>
          <a:p>
            <a:pPr>
              <a:lnSpc>
                <a:spcPct val="110000"/>
              </a:lnSpc>
            </a:pPr>
            <a:r>
              <a:rPr lang="en-US" altLang="en-US" sz="2000"/>
              <a:t>Restricted Memory Access Operations: </a:t>
            </a:r>
          </a:p>
          <a:p>
            <a:pPr lvl="1">
              <a:lnSpc>
                <a:spcPct val="110000"/>
              </a:lnSpc>
            </a:pPr>
            <a:r>
              <a:rPr lang="en-US" altLang="zh-CN" sz="1800"/>
              <a:t>affine.load / affine.store</a:t>
            </a:r>
            <a:r>
              <a:rPr lang="en-US" altLang="en-US" sz="1800"/>
              <a:t>: Reads from memory (</a:t>
            </a:r>
            <a:r>
              <a:rPr lang="en-US" altLang="zh-CN" sz="1800"/>
              <a:t>MemRef </a:t>
            </a:r>
            <a:r>
              <a:rPr lang="en-US" altLang="en-US" sz="1800"/>
              <a:t> type) or</a:t>
            </a:r>
            <a:r>
              <a:rPr lang="en-US" altLang="zh-CN" sz="1800"/>
              <a:t>/</a:t>
            </a:r>
            <a:r>
              <a:rPr lang="en-US" altLang="en-US" sz="1800"/>
              <a:t> writes data.</a:t>
            </a:r>
            <a:endParaRPr lang="en-US" altLang="zh-CN" sz="1800"/>
          </a:p>
          <a:p>
            <a:pPr lvl="1">
              <a:lnSpc>
                <a:spcPct val="110000"/>
              </a:lnSpc>
            </a:pPr>
            <a:r>
              <a:rPr lang="en-US" altLang="en-US" sz="1800"/>
              <a:t>Core Constraint: </a:t>
            </a:r>
            <a:r>
              <a:rPr lang="en-US" altLang="zh-CN" sz="1800"/>
              <a:t> </a:t>
            </a:r>
            <a:r>
              <a:rPr lang="en-US" altLang="en-US" sz="1800"/>
              <a:t>Access indices must be valid</a:t>
            </a:r>
            <a:r>
              <a:rPr lang="en-US" altLang="zh-CN" sz="1800"/>
              <a:t> Affine Map</a:t>
            </a:r>
            <a:r>
              <a:rPr lang="en-US" altLang="en-US" sz="1800"/>
              <a:t>. The compiler knows exactly which memory block each loop iteration accesses.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470" y="1441450"/>
            <a:ext cx="5414010" cy="29387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Affine Dialect</a:t>
            </a:r>
            <a:r>
              <a:rPr lang="en-US" altLang="en-US"/>
              <a:t> Automatic Compilation Optimization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19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Precise Dependency Analysis: </a:t>
            </a:r>
            <a:endParaRPr lang="en-US" altLang="zh-CN"/>
          </a:p>
          <a:p>
            <a:pPr lvl="1"/>
            <a:r>
              <a:rPr lang="en-US" altLang="en-US"/>
              <a:t>Since all memory accesses are affine, the compiler can precisely determine data dependencies between instructions/loop iterations at compile time by solving integer linear programming (</a:t>
            </a:r>
            <a:r>
              <a:rPr lang="en-US" altLang="zh-CN"/>
              <a:t>ILP</a:t>
            </a:r>
            <a:r>
              <a:rPr lang="en-US" altLang="en-US"/>
              <a:t>) problems, precisely determining which instructions</a:t>
            </a:r>
            <a:r>
              <a:rPr lang="en-US" altLang="zh-CN"/>
              <a:t>/</a:t>
            </a:r>
            <a:r>
              <a:rPr lang="en-US" altLang="en-US"/>
              <a:t> have data dependencies across loop iterations.</a:t>
            </a:r>
            <a:endParaRPr lang="en-US" altLang="zh-CN"/>
          </a:p>
          <a:p>
            <a:r>
              <a:rPr lang="en-US" altLang="en-US"/>
              <a:t>Loop Transformation Strategies:</a:t>
            </a:r>
            <a:endParaRPr lang="en-US" altLang="zh-CN"/>
          </a:p>
          <a:p>
            <a:pPr lvl="1"/>
            <a:r>
              <a:rPr lang="en-US" altLang="en-US"/>
              <a:t>Loop Tiling:</a:t>
            </a:r>
            <a:r>
              <a:rPr lang="en-US" altLang="zh-CN"/>
              <a:t> </a:t>
            </a:r>
            <a:r>
              <a:rPr lang="en-US" altLang="en-US"/>
              <a:t> Splitting large loops into smaller blocks, greatly improving</a:t>
            </a:r>
            <a:r>
              <a:rPr lang="en-US" altLang="zh-CN"/>
              <a:t> CPU/GPU L1/L2 Cache </a:t>
            </a:r>
            <a:r>
              <a:rPr lang="en-US" altLang="en-US"/>
              <a:t> hit rates.</a:t>
            </a:r>
            <a:endParaRPr lang="en-US" altLang="zh-CN"/>
          </a:p>
          <a:p>
            <a:pPr lvl="1"/>
            <a:r>
              <a:rPr lang="en-US" altLang="en-US"/>
              <a:t>Loop Unrolling :</a:t>
            </a:r>
            <a:r>
              <a:rPr lang="en-US" altLang="zh-CN"/>
              <a:t> </a:t>
            </a:r>
            <a:r>
              <a:rPr lang="en-US" altLang="en-US"/>
              <a:t> Increasing instruction-level parallelism (</a:t>
            </a:r>
            <a:r>
              <a:rPr lang="en-US" altLang="zh-CN"/>
              <a:t>ILP</a:t>
            </a:r>
            <a:r>
              <a:rPr lang="en-US" altLang="en-US"/>
              <a:t>), reducing branch overhead.</a:t>
            </a:r>
            <a:endParaRPr lang="en-US" altLang="zh-CN"/>
          </a:p>
          <a:p>
            <a:pPr lvl="1"/>
            <a:r>
              <a:rPr lang="en-US" altLang="en-US"/>
              <a:t>Loop Fusion and Fission:</a:t>
            </a:r>
            <a:r>
              <a:rPr lang="en-US" altLang="zh-CN"/>
              <a:t> </a:t>
            </a:r>
            <a:r>
              <a:rPr lang="en-US" altLang="en-US"/>
              <a:t> Merging adjacent loops to reduce memory round-trips, or splitting loops to improve register utilization.</a:t>
            </a:r>
            <a:endParaRPr lang="en-US" altLang="zh-CN"/>
          </a:p>
          <a:p>
            <a:pPr lvl="1"/>
            <a:r>
              <a:rPr lang="en-US" altLang="en-US"/>
              <a:t>Loop Permutation:</a:t>
            </a:r>
            <a:r>
              <a:rPr lang="en-US" altLang="zh-CN"/>
              <a:t> </a:t>
            </a:r>
            <a:r>
              <a:rPr lang="en-US" altLang="en-US"/>
              <a:t> Changing the order of nested loops, optimizing stride for sequential memory access .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Affine Dialect </a:t>
            </a:r>
            <a:r>
              <a:rPr lang="en-US" altLang="en-US"/>
              <a:t>in</a:t>
            </a:r>
            <a:r>
              <a:rPr lang="en-US" altLang="zh-CN"/>
              <a:t> MLIR </a:t>
            </a:r>
            <a:r>
              <a:rPr lang="en-US" altLang="en-US"/>
              <a:t> Position in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20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398895" cy="4853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/>
              <a:t>Typical</a:t>
            </a:r>
            <a:r>
              <a:rPr lang="en-US" altLang="zh-CN" sz="2000"/>
              <a:t> Lowering </a:t>
            </a:r>
            <a:r>
              <a:rPr lang="en-US" altLang="en-US" sz="2000"/>
              <a:t> Path:</a:t>
            </a:r>
            <a:endParaRPr lang="en-US" altLang="zh-CN" sz="2000"/>
          </a:p>
          <a:p>
            <a:pPr lvl="1">
              <a:lnSpc>
                <a:spcPct val="150000"/>
              </a:lnSpc>
            </a:pPr>
            <a:r>
              <a:rPr lang="en-US" altLang="en-US" sz="1800"/>
              <a:t>Upstream Connection: </a:t>
            </a:r>
            <a:r>
              <a:rPr lang="en-US" altLang="zh-CN" sz="1800"/>
              <a:t> </a:t>
            </a:r>
            <a:r>
              <a:rPr lang="en-US" altLang="en-US" sz="1800"/>
              <a:t>High-order tensor computation</a:t>
            </a:r>
            <a:r>
              <a:rPr lang="en-US" altLang="zh-CN" sz="1800"/>
              <a:t> Dialect</a:t>
            </a:r>
            <a:r>
              <a:rPr lang="en-US" altLang="en-US" sz="1800"/>
              <a:t> (e.g.,</a:t>
            </a:r>
            <a:r>
              <a:rPr lang="en-US" altLang="zh-CN" sz="1800"/>
              <a:t> Linalg </a:t>
            </a:r>
            <a:r>
              <a:rPr lang="en-US" altLang="en-US" sz="1800"/>
              <a:t>or</a:t>
            </a:r>
            <a:r>
              <a:rPr lang="en-US" altLang="zh-CN" sz="1800"/>
              <a:t> Tensor</a:t>
            </a:r>
            <a:r>
              <a:rPr lang="en-US" altLang="en-US" sz="1800"/>
              <a:t>) can have certain operations lowered (</a:t>
            </a:r>
            <a:r>
              <a:rPr lang="en-US" altLang="zh-CN" sz="1800"/>
              <a:t>Lower</a:t>
            </a:r>
            <a:r>
              <a:rPr lang="en-US" altLang="en-US" sz="1800"/>
              <a:t>) to</a:t>
            </a:r>
            <a:r>
              <a:rPr lang="en-US" altLang="zh-CN" sz="1800"/>
              <a:t> Affine </a:t>
            </a:r>
            <a:r>
              <a:rPr lang="en-US" altLang="en-US" sz="1800"/>
              <a:t> loop nests.</a:t>
            </a:r>
            <a:endParaRPr lang="en-US" altLang="zh-CN" sz="1800"/>
          </a:p>
          <a:p>
            <a:pPr lvl="1">
              <a:lnSpc>
                <a:spcPct val="150000"/>
              </a:lnSpc>
            </a:pPr>
            <a:r>
              <a:rPr lang="en-US" altLang="en-US" sz="1800"/>
              <a:t>Self-Optimization: </a:t>
            </a:r>
            <a:r>
              <a:rPr lang="en-US" altLang="zh-CN" sz="1800"/>
              <a:t> </a:t>
            </a:r>
            <a:r>
              <a:rPr lang="en-US" altLang="en-US" sz="1800"/>
              <a:t>in</a:t>
            </a:r>
            <a:r>
              <a:rPr lang="en-US" altLang="zh-CN" sz="1800"/>
              <a:t> Affine </a:t>
            </a:r>
            <a:r>
              <a:rPr lang="en-US" altLang="en-US" sz="1800"/>
              <a:t> level, performing intensive loop transformations and parallelism analysis (e.g., extracting parallel loops</a:t>
            </a:r>
            <a:r>
              <a:rPr lang="en-US" altLang="zh-CN" sz="1800"/>
              <a:t> affine.parallel</a:t>
            </a:r>
            <a:r>
              <a:rPr lang="en-US" altLang="en-US" sz="1800"/>
              <a:t>）.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Downstream Output: </a:t>
            </a:r>
            <a:r>
              <a:rPr lang="en-US" altLang="zh-CN" sz="1800"/>
              <a:t> </a:t>
            </a:r>
            <a:r>
              <a:rPr lang="en-US" altLang="en-US" sz="1800"/>
              <a:t>After optimization, </a:t>
            </a:r>
            <a:r>
              <a:rPr lang="en-US" altLang="zh-CN" sz="1800"/>
              <a:t>Affine </a:t>
            </a:r>
            <a:r>
              <a:rPr lang="en-US" altLang="en-US" sz="1800"/>
              <a:t> is lowered to generic</a:t>
            </a:r>
            <a:r>
              <a:rPr lang="en-US" altLang="zh-CN" sz="1800"/>
              <a:t> SCF (Structured Control Flow) </a:t>
            </a:r>
            <a:r>
              <a:rPr lang="en-US" altLang="en-US" sz="1800"/>
              <a:t>or</a:t>
            </a:r>
            <a:r>
              <a:rPr lang="en-US" altLang="zh-CN" sz="1800"/>
              <a:t> Standard Dialect</a:t>
            </a:r>
            <a:r>
              <a:rPr lang="en-US" altLang="en-US" sz="1800"/>
              <a:t>, and finally converted to</a:t>
            </a:r>
            <a:r>
              <a:rPr lang="en-US" altLang="zh-CN" sz="1800"/>
              <a:t> LLVM IR </a:t>
            </a:r>
            <a:r>
              <a:rPr lang="en-US" altLang="en-US" sz="1800"/>
              <a:t> to generate machine code.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610" y="1644650"/>
            <a:ext cx="4606925" cy="3568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1848</Words>
  <Application>Microsoft Office PowerPoint</Application>
  <PresentationFormat>宽屏</PresentationFormat>
  <Paragraphs>159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21: In-Depth Analysis of the MLIR Architecture</vt:lpstr>
      <vt:lpstr>LLVM IR  Limitations</vt:lpstr>
      <vt:lpstr>MLIR  Architecture</vt:lpstr>
      <vt:lpstr>MLIR Components</vt:lpstr>
      <vt:lpstr>MLIR -Based Deep Learning Framework</vt:lpstr>
      <vt:lpstr>Dialect  Dialect System·</vt:lpstr>
      <vt:lpstr>ODS Specification</vt:lpstr>
      <vt:lpstr>ODS Automated generation</vt:lpstr>
      <vt:lpstr>TOSA Dialect</vt:lpstr>
      <vt:lpstr>TOSA  Design Goals</vt:lpstr>
      <vt:lpstr>TOSA in the Compilation Ecosystem</vt:lpstr>
      <vt:lpstr>TOSA Dialect  Core Operations</vt:lpstr>
      <vt:lpstr>TOSA Dialect  Quantization Supporting</vt:lpstr>
      <vt:lpstr>The workflow of TOSA profile-based validation</vt:lpstr>
      <vt:lpstr>Affine Dialect Overview</vt:lpstr>
      <vt:lpstr>Affine Dialect Overview</vt:lpstr>
      <vt:lpstr>Affine Dialect  Key Operators and Syntax</vt:lpstr>
      <vt:lpstr>Affine Dialect Automatic Compilation Optimization</vt:lpstr>
      <vt:lpstr>Affine Dialect in MLIR  Position in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编译器概述</dc:title>
  <dc:creator>王丰</dc:creator>
  <cp:lastModifiedBy>Xiang Li</cp:lastModifiedBy>
  <cp:revision>38</cp:revision>
  <dcterms:created xsi:type="dcterms:W3CDTF">2026-03-12T02:53:00Z</dcterms:created>
  <dcterms:modified xsi:type="dcterms:W3CDTF">2026-03-17T14:54:15Z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5c219163d81546ca98407b16b34f85e0_23</vt:lpwstr>
  </property>
  <property fmtid="{D5CDD505-2E9C-101B-9397-08002B2CF9AE}" pid="3" name="KSOProductBuildVer">
    <vt:lpwstr>2052-12.1.0.19302</vt:lpwstr>
  </property>
</Properties>
</file>