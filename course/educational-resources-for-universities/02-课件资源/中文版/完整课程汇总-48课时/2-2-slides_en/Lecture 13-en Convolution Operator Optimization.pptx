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3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428"/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3"/>
    <p:restoredTop sz="91925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9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9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9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908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0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156122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39251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9308" TargetMode="External"/><Relationship Id="rId2" Type="http://schemas.openxmlformats.org/officeDocument/2006/relationships/hyperlink" Target="https://epubs.siam.org/doi/abs/10.1137/020902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9308" TargetMode="External"/><Relationship Id="rId2" Type="http://schemas.openxmlformats.org/officeDocument/2006/relationships/hyperlink" Target="https://epubs.siam.org/doi/abs/10.1137/020902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9308" TargetMode="External"/><Relationship Id="rId2" Type="http://schemas.openxmlformats.org/officeDocument/2006/relationships/hyperlink" Target="https://epubs.siam.org/doi/abs/10.1137/020902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9.09308" TargetMode="External"/><Relationship Id="rId2" Type="http://schemas.openxmlformats.org/officeDocument/2006/relationships/hyperlink" Target="https://epubs.siam.org/doi/abs/10.1137/020902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arxiv.org/pdf/1509.09308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arxiv.org/pdf/1509.0930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509.09308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35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38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37.png"/><Relationship Id="rId29" Type="http://schemas.openxmlformats.org/officeDocument/2006/relationships/image" Target="../media/image42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40.png"/><Relationship Id="rId28" Type="http://schemas.openxmlformats.org/officeDocument/2006/relationships/image" Target="../media/image41.jpeg"/><Relationship Id="rId10" Type="http://schemas.openxmlformats.org/officeDocument/2006/relationships/tags" Target="../tags/tag19.xml"/><Relationship Id="rId19" Type="http://schemas.openxmlformats.org/officeDocument/2006/relationships/image" Target="../media/image36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39.png"/><Relationship Id="rId27" Type="http://schemas.openxmlformats.org/officeDocument/2006/relationships/hyperlink" Target="https://flagos.io/Hom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13: Convolution Operator Optimization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Basics of 2D</a:t>
            </a:r>
            <a:r>
              <a:rPr lang="zh-CN" altLang="en-US" dirty="0"/>
              <a:t> </a:t>
            </a:r>
            <a:r>
              <a:rPr lang="en-US" altLang="zh-CN" dirty="0"/>
              <a:t>convolution operators</a:t>
            </a:r>
            <a:endParaRPr lang="zh-CN" altLang="en-US" dirty="0"/>
          </a:p>
        </p:txBody>
      </p:sp>
      <p:sp>
        <p:nvSpPr>
          <p:cNvPr id="104864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4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048647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Principles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US" altLang="zh-CN" dirty="0"/>
              <a:t>Inputs: input feature maps, weight matrix, bias (optional)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US" altLang="zh-CN" dirty="0"/>
              <a:t>Outputs: output feature maps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US" altLang="zh-CN" dirty="0"/>
              <a:t>Core operations: Multiply-Accumulation (MAC)</a:t>
            </a:r>
          </a:p>
          <a:p>
            <a:endParaRPr lang="en-US" altLang="zh-CN" dirty="0"/>
          </a:p>
        </p:txBody>
      </p:sp>
      <p:pic>
        <p:nvPicPr>
          <p:cNvPr id="209715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34909" y="747952"/>
            <a:ext cx="3091999" cy="2381792"/>
          </a:xfrm>
          <a:prstGeom prst="rect">
            <a:avLst/>
          </a:prstGeom>
          <a:noFill/>
        </p:spPr>
      </p:pic>
      <p:grpSp>
        <p:nvGrpSpPr>
          <p:cNvPr id="75" name="组合 6"/>
          <p:cNvGrpSpPr/>
          <p:nvPr/>
        </p:nvGrpSpPr>
        <p:grpSpPr>
          <a:xfrm>
            <a:off x="7509183" y="3129744"/>
            <a:ext cx="4373324" cy="3591732"/>
            <a:chOff x="4965253" y="1427029"/>
            <a:chExt cx="6391469" cy="4805820"/>
          </a:xfrm>
        </p:grpSpPr>
        <p:pic>
          <p:nvPicPr>
            <p:cNvPr id="2097153" name="Picture 4"/>
            <p:cNvPicPr>
              <a:picLocks noChangeAspect="1" noChangeArrowheads="1" noCrop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965253" y="1427029"/>
              <a:ext cx="6391469" cy="2356854"/>
            </a:xfrm>
            <a:prstGeom prst="rect">
              <a:avLst/>
            </a:prstGeom>
            <a:noFill/>
          </p:spPr>
        </p:pic>
        <p:pic>
          <p:nvPicPr>
            <p:cNvPr id="2097154" name="Picture 6"/>
            <p:cNvPicPr>
              <a:picLocks noChangeAspect="1" noChangeArrowheads="1" noCrop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965254" y="3783883"/>
              <a:ext cx="6391468" cy="2448966"/>
            </a:xfrm>
            <a:prstGeom prst="rect">
              <a:avLst/>
            </a:prstGeom>
            <a:noFill/>
          </p:spPr>
        </p:pic>
      </p:grpSp>
      <p:grpSp>
        <p:nvGrpSpPr>
          <p:cNvPr id="76" name="组合 17"/>
          <p:cNvGrpSpPr/>
          <p:nvPr/>
        </p:nvGrpSpPr>
        <p:grpSpPr>
          <a:xfrm>
            <a:off x="1079142" y="3048169"/>
            <a:ext cx="4911112" cy="3218488"/>
            <a:chOff x="1079142" y="3048169"/>
            <a:chExt cx="4911112" cy="3218488"/>
          </a:xfrm>
        </p:grpSpPr>
        <p:grpSp>
          <p:nvGrpSpPr>
            <p:cNvPr id="77" name="组合 11"/>
            <p:cNvGrpSpPr/>
            <p:nvPr/>
          </p:nvGrpSpPr>
          <p:grpSpPr>
            <a:xfrm>
              <a:off x="1079142" y="3048169"/>
              <a:ext cx="4911112" cy="3218488"/>
              <a:chOff x="1079142" y="3048169"/>
              <a:chExt cx="4911112" cy="3218488"/>
            </a:xfrm>
          </p:grpSpPr>
          <p:pic>
            <p:nvPicPr>
              <p:cNvPr id="2097155" name="图片 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9142" y="3048169"/>
                <a:ext cx="4911112" cy="3218488"/>
              </a:xfrm>
              <a:prstGeom prst="rect">
                <a:avLst/>
              </a:prstGeom>
            </p:spPr>
          </p:pic>
          <p:sp>
            <p:nvSpPr>
              <p:cNvPr id="1048650" name="矩形 10"/>
              <p:cNvSpPr/>
              <p:nvPr/>
            </p:nvSpPr>
            <p:spPr>
              <a:xfrm>
                <a:off x="3750906" y="4891189"/>
                <a:ext cx="1959429" cy="1321290"/>
              </a:xfrm>
              <a:prstGeom prst="rect">
                <a:avLst/>
              </a:prstGeom>
              <a:solidFill>
                <a:srgbClr val="23242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2097156" name="图片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4226" y="4160283"/>
              <a:ext cx="247650" cy="926067"/>
            </a:xfrm>
            <a:prstGeom prst="rect">
              <a:avLst/>
            </a:prstGeom>
          </p:spPr>
        </p:pic>
      </p:grpSp>
      <p:sp>
        <p:nvSpPr>
          <p:cNvPr id="1048651" name="文本框 18"/>
          <p:cNvSpPr txBox="1"/>
          <p:nvPr/>
        </p:nvSpPr>
        <p:spPr>
          <a:xfrm>
            <a:off x="2890667" y="5223466"/>
            <a:ext cx="2552372" cy="62484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Bahnschrift" panose="020B0502040204020203" pitchFamily="34" charset="0"/>
                <a:ea typeface="Calibri" panose="020F0502020204030204" charset="0"/>
                <a:cs typeface="Calibri" panose="020F0502020204030204" charset="0"/>
              </a:rPr>
              <a:t>Native Implementation</a:t>
            </a:r>
          </a:p>
          <a:p>
            <a:pPr algn="ctr"/>
            <a:r>
              <a:rPr lang="en-US" altLang="zh-CN" dirty="0">
                <a:latin typeface="Bahnschrift" panose="020B0502040204020203" pitchFamily="34" charset="0"/>
                <a:ea typeface="Calibri" panose="020F0502020204030204" charset="0"/>
                <a:cs typeface="Calibri" panose="020F0502020204030204" charset="0"/>
              </a:rPr>
              <a:t>7-level Loop</a:t>
            </a:r>
            <a:endParaRPr lang="zh-CN" altLang="en-US" dirty="0">
              <a:latin typeface="Bahnschrift" panose="020B0502040204020203" pitchFamily="3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Some variants…</a:t>
            </a:r>
            <a:endParaRPr lang="zh-CN" altLang="en-US" dirty="0"/>
          </a:p>
        </p:txBody>
      </p:sp>
      <p:sp>
        <p:nvSpPr>
          <p:cNvPr id="104865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5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157" name="Picture 8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227" y="1747507"/>
            <a:ext cx="3276600" cy="3676650"/>
          </a:xfrm>
          <a:prstGeom prst="rect">
            <a:avLst/>
          </a:prstGeom>
          <a:noFill/>
        </p:spPr>
      </p:pic>
      <p:pic>
        <p:nvPicPr>
          <p:cNvPr id="2097158" name="Picture 10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2" y="1689130"/>
            <a:ext cx="3762375" cy="3629025"/>
          </a:xfrm>
          <a:prstGeom prst="rect">
            <a:avLst/>
          </a:prstGeom>
          <a:noFill/>
        </p:spPr>
      </p:pic>
      <p:sp>
        <p:nvSpPr>
          <p:cNvPr id="1048655" name="文本框 2"/>
          <p:cNvSpPr txBox="1"/>
          <p:nvPr/>
        </p:nvSpPr>
        <p:spPr>
          <a:xfrm>
            <a:off x="1194028" y="5424157"/>
            <a:ext cx="2974449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Transposed Convolution</a:t>
            </a:r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56" name="文本框 7"/>
          <p:cNvSpPr txBox="1"/>
          <p:nvPr/>
        </p:nvSpPr>
        <p:spPr>
          <a:xfrm>
            <a:off x="4973993" y="5405457"/>
            <a:ext cx="2485250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Dilated Convolution</a:t>
            </a:r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159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175" y="1392225"/>
            <a:ext cx="3918857" cy="4073549"/>
          </a:xfrm>
          <a:prstGeom prst="rect">
            <a:avLst/>
          </a:prstGeom>
        </p:spPr>
      </p:pic>
      <p:sp>
        <p:nvSpPr>
          <p:cNvPr id="1048657" name="文本框 10"/>
          <p:cNvSpPr txBox="1"/>
          <p:nvPr/>
        </p:nvSpPr>
        <p:spPr>
          <a:xfrm>
            <a:off x="9075571" y="5405457"/>
            <a:ext cx="2377846" cy="701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Group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Convolution</a:t>
            </a:r>
          </a:p>
          <a:p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CNNs with stacked convolution layers.</a:t>
            </a:r>
            <a:endParaRPr lang="zh-CN" altLang="en-US" dirty="0"/>
          </a:p>
        </p:txBody>
      </p:sp>
      <p:sp>
        <p:nvSpPr>
          <p:cNvPr id="104865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160" name="Picture 2" descr="Screen-Shot-2018-04-16-at-11.34.51-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852" y="1665424"/>
            <a:ext cx="6345454" cy="1938338"/>
          </a:xfrm>
          <a:prstGeom prst="rect">
            <a:avLst/>
          </a:prstGeom>
          <a:noFill/>
        </p:spPr>
      </p:pic>
      <p:pic>
        <p:nvPicPr>
          <p:cNvPr id="2097161" name="Picture 4" descr="AlexNet-CNN-architecture-layer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252" y="4196775"/>
            <a:ext cx="5777457" cy="1644876"/>
          </a:xfrm>
          <a:prstGeom prst="rect">
            <a:avLst/>
          </a:prstGeom>
          <a:noFill/>
        </p:spPr>
      </p:pic>
      <p:pic>
        <p:nvPicPr>
          <p:cNvPr id="2097162" name="Picture 6" descr="vgg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35208" y="1448490"/>
            <a:ext cx="3892143" cy="2281419"/>
          </a:xfrm>
          <a:prstGeom prst="rect">
            <a:avLst/>
          </a:prstGeom>
          <a:noFill/>
        </p:spPr>
      </p:pic>
      <p:pic>
        <p:nvPicPr>
          <p:cNvPr id="2097163" name="Picture 8" descr="Screen-Shot-2018-04-16-at-6.30.05-PM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85637" y="3952097"/>
            <a:ext cx="4435929" cy="1734383"/>
          </a:xfrm>
          <a:prstGeom prst="rect">
            <a:avLst/>
          </a:prstGeom>
          <a:noFill/>
        </p:spPr>
      </p:pic>
      <p:sp>
        <p:nvSpPr>
          <p:cNvPr id="1048661" name="文本框 14"/>
          <p:cNvSpPr txBox="1"/>
          <p:nvPr/>
        </p:nvSpPr>
        <p:spPr>
          <a:xfrm>
            <a:off x="2988119" y="3597901"/>
            <a:ext cx="1101546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Lenet-5</a:t>
            </a:r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62" name="文本框 15"/>
          <p:cNvSpPr txBox="1"/>
          <p:nvPr/>
        </p:nvSpPr>
        <p:spPr>
          <a:xfrm>
            <a:off x="2988119" y="5640305"/>
            <a:ext cx="1096238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err="1">
                <a:latin typeface="Calibri" panose="020F0502020204030204" charset="0"/>
                <a:cs typeface="Calibri" panose="020F0502020204030204" charset="0"/>
              </a:rPr>
              <a:t>AlexNet</a:t>
            </a:r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63" name="文本框 16"/>
          <p:cNvSpPr txBox="1"/>
          <p:nvPr/>
        </p:nvSpPr>
        <p:spPr>
          <a:xfrm>
            <a:off x="9078000" y="3596833"/>
            <a:ext cx="695196" cy="39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VGG</a:t>
            </a:r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64" name="文本框 17"/>
          <p:cNvSpPr txBox="1"/>
          <p:nvPr/>
        </p:nvSpPr>
        <p:spPr>
          <a:xfrm>
            <a:off x="9078000" y="5478142"/>
            <a:ext cx="1019492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err="1">
                <a:latin typeface="Calibri" panose="020F0502020204030204" charset="0"/>
                <a:cs typeface="Calibri" panose="020F0502020204030204" charset="0"/>
              </a:rPr>
              <a:t>ResNet</a:t>
            </a:r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inefficiency of the naive 7-layer loop</a:t>
            </a:r>
            <a:endParaRPr lang="zh-CN" altLang="en-US" dirty="0"/>
          </a:p>
        </p:txBody>
      </p:sp>
      <p:sp>
        <p:nvSpPr>
          <p:cNvPr id="104866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666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Take the conventional convolution operator as an example.</a:t>
            </a:r>
          </a:p>
          <a:p>
            <a:r>
              <a:rPr lang="en-US" altLang="zh-CN" dirty="0"/>
              <a:t>Mathematically correct. Structurally disastrous.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US" altLang="zh-CN" dirty="0"/>
              <a:t> FLOPs = 2 * </a:t>
            </a:r>
            <a:r>
              <a:rPr lang="en-US" altLang="zh-CN" dirty="0" err="1"/>
              <a:t>OutChannel</a:t>
            </a:r>
            <a:r>
              <a:rPr lang="zh-CN" altLang="en-US" dirty="0"/>
              <a:t> * </a:t>
            </a:r>
            <a:r>
              <a:rPr lang="en-US" altLang="zh-CN" dirty="0" err="1"/>
              <a:t>InChannel</a:t>
            </a:r>
            <a:r>
              <a:rPr lang="en-US" altLang="zh-CN" dirty="0"/>
              <a:t> * </a:t>
            </a:r>
            <a:r>
              <a:rPr lang="en-US" altLang="zh-CN" dirty="0" err="1"/>
              <a:t>OutHeight</a:t>
            </a:r>
            <a:r>
              <a:rPr lang="en-US" altLang="zh-CN" dirty="0"/>
              <a:t> * </a:t>
            </a:r>
            <a:r>
              <a:rPr lang="en-US" altLang="zh-CN" dirty="0" err="1"/>
              <a:t>OutWidth</a:t>
            </a:r>
            <a:r>
              <a:rPr lang="en-US" altLang="zh-CN" dirty="0"/>
              <a:t> * </a:t>
            </a:r>
            <a:r>
              <a:rPr lang="en-US" altLang="zh-CN" dirty="0" err="1"/>
              <a:t>KernelHeight</a:t>
            </a:r>
            <a:r>
              <a:rPr lang="en-US" altLang="zh-CN" dirty="0"/>
              <a:t> * </a:t>
            </a:r>
            <a:r>
              <a:rPr lang="en-US" altLang="zh-CN" dirty="0" err="1"/>
              <a:t>KernelWidth</a:t>
            </a:r>
            <a:r>
              <a:rPr lang="en-US" altLang="zh-CN" dirty="0"/>
              <a:t> </a:t>
            </a:r>
          </a:p>
        </p:txBody>
      </p:sp>
      <p:pic>
        <p:nvPicPr>
          <p:cNvPr id="2097164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60" y="2844879"/>
            <a:ext cx="10205038" cy="34217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analysis tool: roofline model</a:t>
            </a:r>
            <a:endParaRPr lang="zh-CN" altLang="en-US" dirty="0"/>
          </a:p>
        </p:txBody>
      </p:sp>
      <p:sp>
        <p:nvSpPr>
          <p:cNvPr id="104867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7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670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Computing power vs. Memory bandwidth</a:t>
            </a:r>
            <a:endParaRPr lang="zh-CN" altLang="en-US" dirty="0"/>
          </a:p>
        </p:txBody>
      </p:sp>
      <p:pic>
        <p:nvPicPr>
          <p:cNvPr id="209716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04" y="2038768"/>
            <a:ext cx="8037906" cy="42278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Img2Col transformation</a:t>
            </a:r>
            <a:endParaRPr lang="zh-CN" altLang="en-US" dirty="0"/>
          </a:p>
        </p:txBody>
      </p:sp>
      <p:sp>
        <p:nvSpPr>
          <p:cNvPr id="104867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7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674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Converting geometry to arithmetic</a:t>
            </a:r>
          </a:p>
          <a:p>
            <a:r>
              <a:rPr lang="en-US" altLang="zh-CN" dirty="0"/>
              <a:t>Problem transformed from spatial convolution to general matrix multiply (GEMM).</a:t>
            </a:r>
            <a:endParaRPr lang="zh-CN" altLang="en-US" dirty="0"/>
          </a:p>
        </p:txBody>
      </p:sp>
      <p:pic>
        <p:nvPicPr>
          <p:cNvPr id="2097166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12" y="2372960"/>
            <a:ext cx="9433249" cy="41659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Img2Col transformation</a:t>
            </a:r>
            <a:endParaRPr lang="zh-CN" altLang="en-US" dirty="0"/>
          </a:p>
        </p:txBody>
      </p:sp>
      <p:sp>
        <p:nvSpPr>
          <p:cNvPr id="104867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678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Comparisons</a:t>
            </a:r>
            <a:r>
              <a:rPr lang="zh-CN" altLang="en-US" dirty="0"/>
              <a:t> </a:t>
            </a:r>
            <a:r>
              <a:rPr lang="en-US" altLang="zh-CN" dirty="0"/>
              <a:t>between the conventional conv. and the img2col conv.</a:t>
            </a:r>
          </a:p>
          <a:p>
            <a:r>
              <a:rPr lang="en-US" altLang="zh-CN" dirty="0"/>
              <a:t>How to construct the input features and the kernel matrices?</a:t>
            </a:r>
          </a:p>
          <a:p>
            <a:endParaRPr lang="zh-CN" altLang="en-US" dirty="0"/>
          </a:p>
        </p:txBody>
      </p:sp>
      <p:pic>
        <p:nvPicPr>
          <p:cNvPr id="209716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383" y="2403810"/>
            <a:ext cx="7107547" cy="43111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Img2Col transformation</a:t>
            </a:r>
            <a:endParaRPr lang="zh-CN" altLang="en-US" dirty="0"/>
          </a:p>
        </p:txBody>
      </p:sp>
      <p:sp>
        <p:nvSpPr>
          <p:cNvPr id="104868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68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Leveraging the power of GEMM and BLAS libraries from the vendors.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US" altLang="zh-CN" dirty="0"/>
              <a:t>Intel MKL, NVIDIA </a:t>
            </a:r>
            <a:r>
              <a:rPr lang="en-US" altLang="zh-CN" dirty="0" err="1"/>
              <a:t>cuBLAS</a:t>
            </a:r>
            <a:r>
              <a:rPr lang="en-US" altLang="zh-CN" dirty="0"/>
              <a:t>, Ascend </a:t>
            </a:r>
            <a:r>
              <a:rPr lang="en-US" altLang="zh-CN" dirty="0" err="1"/>
              <a:t>catlass</a:t>
            </a:r>
            <a:r>
              <a:rPr lang="en-US" altLang="zh-CN" dirty="0"/>
              <a:t>, etc.</a:t>
            </a:r>
          </a:p>
          <a:p>
            <a:pPr lvl="1">
              <a:lnSpc>
                <a:spcPct val="150000"/>
              </a:lnSpc>
              <a:buFont typeface="宋体" panose="02010600030101010101" pitchFamily="2" charset="-122"/>
              <a:buChar char="－"/>
            </a:pPr>
            <a:r>
              <a:rPr lang="en-US" altLang="zh-CN" dirty="0"/>
              <a:t>GEMM</a:t>
            </a:r>
            <a:r>
              <a:rPr lang="zh-CN" altLang="en-US" dirty="0"/>
              <a:t> </a:t>
            </a:r>
            <a:r>
              <a:rPr lang="en-US" altLang="zh-CN" dirty="0"/>
              <a:t>is usually highly-optimized with (1) micro-kernel opt.; 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en-US" altLang="zh-CN" dirty="0"/>
              <a:t>   (2) memory packing and layout ordering; and (3) cache blocking.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85" name="组合 7"/>
          <p:cNvGrpSpPr/>
          <p:nvPr/>
        </p:nvGrpSpPr>
        <p:grpSpPr>
          <a:xfrm>
            <a:off x="1061766" y="3652761"/>
            <a:ext cx="10068467" cy="2368800"/>
            <a:chOff x="883102" y="2705704"/>
            <a:chExt cx="10068467" cy="2368800"/>
          </a:xfrm>
        </p:grpSpPr>
        <p:pic>
          <p:nvPicPr>
            <p:cNvPr id="2097168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102" y="2717374"/>
              <a:ext cx="4481288" cy="2357130"/>
            </a:xfrm>
            <a:prstGeom prst="rect">
              <a:avLst/>
            </a:prstGeom>
          </p:spPr>
        </p:pic>
        <p:pic>
          <p:nvPicPr>
            <p:cNvPr id="2097169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5335" y="2705704"/>
              <a:ext cx="4486234" cy="2368800"/>
            </a:xfrm>
            <a:prstGeom prst="rect">
              <a:avLst/>
            </a:prstGeom>
          </p:spPr>
        </p:pic>
      </p:grpSp>
      <p:sp>
        <p:nvSpPr>
          <p:cNvPr id="1048685" name="右箭头 8"/>
          <p:cNvSpPr/>
          <p:nvPr/>
        </p:nvSpPr>
        <p:spPr>
          <a:xfrm>
            <a:off x="5754374" y="4586790"/>
            <a:ext cx="653143" cy="250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Img2Col transformation</a:t>
            </a:r>
            <a:endParaRPr lang="zh-CN" altLang="en-US" dirty="0"/>
          </a:p>
        </p:txBody>
      </p:sp>
      <p:sp>
        <p:nvSpPr>
          <p:cNvPr id="104868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687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 memory penalty of Img2Col transformation.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097170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1" y="2073790"/>
            <a:ext cx="8610600" cy="410317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Winograd convolution</a:t>
            </a:r>
            <a:endParaRPr lang="zh-CN" altLang="en-US" dirty="0"/>
          </a:p>
        </p:txBody>
      </p:sp>
      <p:sp>
        <p:nvSpPr>
          <p:cNvPr id="104869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https://epubs.siam.org/doi/abs/10.1137/0209021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3"/>
              </a:rPr>
              <a:t>https://arxiv.org/pdf/1509.09308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69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691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Basics: </a:t>
            </a:r>
            <a:r>
              <a:rPr lang="en-GB" altLang="zh-CN" dirty="0"/>
              <a:t>computing m outputs with an r-tap FIR filter, which we call F(m, r), requires the numbers of multiplications as: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In the 2D convolution operators, </a:t>
            </a:r>
            <a:r>
              <a:rPr lang="en-GB" altLang="zh-CN" dirty="0"/>
              <a:t>computing m × n outputs with an r × s filter, which we call F(m × n, r × s). These require the numbers of multiplications as: 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097171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232" y="2249462"/>
            <a:ext cx="3412259" cy="490688"/>
          </a:xfrm>
          <a:prstGeom prst="rect">
            <a:avLst/>
          </a:prstGeom>
        </p:spPr>
      </p:pic>
      <p:pic>
        <p:nvPicPr>
          <p:cNvPr id="2097172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1698" y="3665637"/>
            <a:ext cx="6268604" cy="10039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Winograd convolution</a:t>
            </a:r>
            <a:endParaRPr lang="zh-CN" altLang="en-US" dirty="0"/>
          </a:p>
        </p:txBody>
      </p:sp>
      <p:sp>
        <p:nvSpPr>
          <p:cNvPr id="104869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https://epubs.siam.org/doi/abs/10.1137/0209021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3"/>
              </a:rPr>
              <a:t>https://arxiv.org/pdf/1509.09308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69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48695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Consider a </a:t>
            </a:r>
            <a:r>
              <a:rPr lang="en-GB" altLang="zh-CN" dirty="0"/>
              <a:t>1D convolution, F(2, 3), it uses 2×3 = 6 multiplications in the conventional algorithm. Winograd rewrites the results using m1 -- m4:</a:t>
            </a:r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Therefore, it only needs 4 multiplications, 11 additions, and 2 right arithmetic shifts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g1+g2 can be reused.</a:t>
            </a:r>
            <a:endParaRPr lang="zh-CN" altLang="en-US" dirty="0"/>
          </a:p>
        </p:txBody>
      </p:sp>
      <p:pic>
        <p:nvPicPr>
          <p:cNvPr id="2097173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291747"/>
            <a:ext cx="5202382" cy="848616"/>
          </a:xfrm>
          <a:prstGeom prst="rect">
            <a:avLst/>
          </a:prstGeom>
        </p:spPr>
      </p:pic>
      <p:pic>
        <p:nvPicPr>
          <p:cNvPr id="2097174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109" y="3215267"/>
            <a:ext cx="5433291" cy="12790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Winograd convolution</a:t>
            </a:r>
            <a:endParaRPr lang="zh-CN" altLang="en-US" dirty="0"/>
          </a:p>
        </p:txBody>
      </p:sp>
      <p:sp>
        <p:nvSpPr>
          <p:cNvPr id="104870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https://epubs.siam.org/doi/abs/10.1137/0209021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3"/>
              </a:rPr>
              <a:t>https://arxiv.org/pdf/1509.09308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0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699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Consider a </a:t>
            </a:r>
            <a:r>
              <a:rPr lang="en-GB" altLang="zh-CN" dirty="0"/>
              <a:t>1D convolution, F(2, 3), it uses 2×3 = 6 multiplications in the conventional algorithm. Winograd rewrites the results using m1 -- m4:</a:t>
            </a:r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Therefore, it only needs 4 multiplications, 11 additions, and 2 right arithmetic shifts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g1+g2 can be reused.</a:t>
            </a:r>
            <a:endParaRPr lang="zh-CN" altLang="en-US" dirty="0"/>
          </a:p>
        </p:txBody>
      </p:sp>
      <p:pic>
        <p:nvPicPr>
          <p:cNvPr id="2097175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291747"/>
            <a:ext cx="5202382" cy="848616"/>
          </a:xfrm>
          <a:prstGeom prst="rect">
            <a:avLst/>
          </a:prstGeom>
        </p:spPr>
      </p:pic>
      <p:pic>
        <p:nvPicPr>
          <p:cNvPr id="2097176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109" y="3215267"/>
            <a:ext cx="5433291" cy="12790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Winograd convolution</a:t>
            </a:r>
            <a:endParaRPr lang="zh-CN" altLang="en-US" dirty="0"/>
          </a:p>
        </p:txBody>
      </p:sp>
      <p:sp>
        <p:nvSpPr>
          <p:cNvPr id="104870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https://epubs.siam.org/doi/abs/10.1137/0209021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3"/>
              </a:rPr>
              <a:t>https://arxiv.org/pdf/1509.09308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0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70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Therefore, this fast filtering algorithm can be written in matrix form as: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2D convolution can be written as: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</p:txBody>
      </p:sp>
      <p:pic>
        <p:nvPicPr>
          <p:cNvPr id="2097177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04" y="1818753"/>
            <a:ext cx="3312391" cy="580969"/>
          </a:xfrm>
          <a:prstGeom prst="rect">
            <a:avLst/>
          </a:prstGeom>
        </p:spPr>
      </p:pic>
      <p:grpSp>
        <p:nvGrpSpPr>
          <p:cNvPr id="91" name="组合 12"/>
          <p:cNvGrpSpPr/>
          <p:nvPr/>
        </p:nvGrpSpPr>
        <p:grpSpPr>
          <a:xfrm>
            <a:off x="114935" y="2400300"/>
            <a:ext cx="11800840" cy="1229995"/>
            <a:chOff x="0" y="2429952"/>
            <a:chExt cx="12053449" cy="1255718"/>
          </a:xfrm>
        </p:grpSpPr>
        <p:pic>
          <p:nvPicPr>
            <p:cNvPr id="2097178" name="图片 6"/>
            <p:cNvPicPr>
              <a:picLocks noChangeAspect="1"/>
            </p:cNvPicPr>
            <p:nvPr/>
          </p:nvPicPr>
          <p:blipFill rotWithShape="1">
            <a:blip r:embed="rId5"/>
            <a:srcRect t="1321" b="68442"/>
            <a:stretch>
              <a:fillRect/>
            </a:stretch>
          </p:blipFill>
          <p:spPr>
            <a:xfrm>
              <a:off x="0" y="2429952"/>
              <a:ext cx="3662089" cy="1216314"/>
            </a:xfrm>
            <a:prstGeom prst="rect">
              <a:avLst/>
            </a:prstGeom>
          </p:spPr>
        </p:pic>
        <p:pic>
          <p:nvPicPr>
            <p:cNvPr id="2097179" name="图片 9"/>
            <p:cNvPicPr>
              <a:picLocks noChangeAspect="1"/>
            </p:cNvPicPr>
            <p:nvPr/>
          </p:nvPicPr>
          <p:blipFill rotWithShape="1">
            <a:blip r:embed="rId5"/>
            <a:srcRect t="31228" b="38808"/>
            <a:stretch>
              <a:fillRect/>
            </a:stretch>
          </p:blipFill>
          <p:spPr>
            <a:xfrm>
              <a:off x="3349278" y="2480325"/>
              <a:ext cx="3662089" cy="1205345"/>
            </a:xfrm>
            <a:prstGeom prst="rect">
              <a:avLst/>
            </a:prstGeom>
          </p:spPr>
        </p:pic>
        <p:pic>
          <p:nvPicPr>
            <p:cNvPr id="2097180" name="图片 10"/>
            <p:cNvPicPr>
              <a:picLocks noChangeAspect="1"/>
            </p:cNvPicPr>
            <p:nvPr/>
          </p:nvPicPr>
          <p:blipFill rotWithShape="1">
            <a:blip r:embed="rId5"/>
            <a:srcRect t="61864" b="22930"/>
            <a:stretch>
              <a:fillRect/>
            </a:stretch>
          </p:blipFill>
          <p:spPr>
            <a:xfrm>
              <a:off x="6026724" y="2804958"/>
              <a:ext cx="3662089" cy="611688"/>
            </a:xfrm>
            <a:prstGeom prst="rect">
              <a:avLst/>
            </a:prstGeom>
          </p:spPr>
        </p:pic>
        <p:pic>
          <p:nvPicPr>
            <p:cNvPr id="2097181" name="图片 11"/>
            <p:cNvPicPr>
              <a:picLocks noChangeAspect="1"/>
            </p:cNvPicPr>
            <p:nvPr/>
          </p:nvPicPr>
          <p:blipFill rotWithShape="1">
            <a:blip r:embed="rId5"/>
            <a:srcRect t="77056" r="23482" b="2279"/>
            <a:stretch>
              <a:fillRect/>
            </a:stretch>
          </p:blipFill>
          <p:spPr>
            <a:xfrm>
              <a:off x="9251309" y="2667361"/>
              <a:ext cx="2802140" cy="831272"/>
            </a:xfrm>
            <a:prstGeom prst="rect">
              <a:avLst/>
            </a:prstGeom>
          </p:spPr>
        </p:pic>
      </p:grpSp>
      <p:pic>
        <p:nvPicPr>
          <p:cNvPr id="2097182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089" y="4557725"/>
            <a:ext cx="4032643" cy="8569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Winograd convolution</a:t>
            </a:r>
            <a:endParaRPr lang="zh-CN" altLang="en-US" dirty="0"/>
          </a:p>
        </p:txBody>
      </p:sp>
      <p:sp>
        <p:nvSpPr>
          <p:cNvPr id="104870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https://arxiv.org/pdf/1509.09308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0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8707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altLang="zh-CN" dirty="0"/>
              <a:t>F(</a:t>
            </a:r>
            <a:r>
              <a:rPr lang="en-US" altLang="zh-CN" dirty="0"/>
              <a:t>2</a:t>
            </a:r>
            <a:r>
              <a:rPr lang="en-GB" altLang="zh-CN" dirty="0"/>
              <a:t> × </a:t>
            </a:r>
            <a:r>
              <a:rPr lang="en-US" altLang="zh-CN" dirty="0"/>
              <a:t>2</a:t>
            </a:r>
            <a:r>
              <a:rPr lang="en-GB" altLang="zh-CN" dirty="0"/>
              <a:t>, </a:t>
            </a:r>
            <a:r>
              <a:rPr lang="en-US" altLang="zh-CN" dirty="0"/>
              <a:t>3</a:t>
            </a:r>
            <a:r>
              <a:rPr lang="en-GB" altLang="zh-CN" dirty="0"/>
              <a:t> × </a:t>
            </a:r>
            <a:r>
              <a:rPr lang="en-US" altLang="zh-CN" dirty="0"/>
              <a:t>3) is</a:t>
            </a:r>
            <a:r>
              <a:rPr lang="zh-CN" altLang="en-US" dirty="0"/>
              <a:t> </a:t>
            </a:r>
            <a:r>
              <a:rPr lang="en-US" altLang="zh-CN" dirty="0"/>
              <a:t>efficient, how about the </a:t>
            </a:r>
            <a:r>
              <a:rPr lang="en-GB" altLang="zh-CN" dirty="0"/>
              <a:t>F(</a:t>
            </a:r>
            <a:r>
              <a:rPr lang="en-US" altLang="zh-CN" dirty="0"/>
              <a:t>4</a:t>
            </a:r>
            <a:r>
              <a:rPr lang="en-GB" altLang="zh-CN" dirty="0"/>
              <a:t> × </a:t>
            </a:r>
            <a:r>
              <a:rPr lang="en-US" altLang="zh-CN" dirty="0"/>
              <a:t>4</a:t>
            </a:r>
            <a:r>
              <a:rPr lang="en-GB" altLang="zh-CN" dirty="0"/>
              <a:t>, </a:t>
            </a:r>
            <a:r>
              <a:rPr lang="en-US" altLang="zh-CN" dirty="0"/>
              <a:t>3</a:t>
            </a:r>
            <a:r>
              <a:rPr lang="en-GB" altLang="zh-CN" dirty="0"/>
              <a:t> × </a:t>
            </a:r>
            <a:r>
              <a:rPr lang="en-US" altLang="zh-CN" dirty="0"/>
              <a:t>3)?</a:t>
            </a:r>
          </a:p>
          <a:p>
            <a:pPr lvl="1"/>
            <a:r>
              <a:rPr lang="en-US" altLang="zh-CN" dirty="0"/>
              <a:t>It can reduce 6.00x multiplications in theoretical. But the transformation matrix is much more complex.</a:t>
            </a:r>
          </a:p>
          <a:p>
            <a:pPr lvl="1"/>
            <a:r>
              <a:rPr lang="en-GB" altLang="zh-CN" dirty="0"/>
              <a:t>The complexity of the transforms will overwhelm any savings in the number of multiplications.</a:t>
            </a:r>
            <a:endParaRPr lang="en-US" altLang="zh-CN" dirty="0"/>
          </a:p>
          <a:p>
            <a:pPr lvl="1"/>
            <a:r>
              <a:rPr lang="en-US" altLang="zh-CN" dirty="0"/>
              <a:t>The </a:t>
            </a:r>
            <a:r>
              <a:rPr lang="en-GB" altLang="zh-CN" dirty="0"/>
              <a:t>magnitude of the transform matrix elements also increases with increasing tile size</a:t>
            </a:r>
            <a:r>
              <a:rPr lang="en-US" altLang="zh-CN" dirty="0"/>
              <a:t>.</a:t>
            </a:r>
            <a:endParaRPr lang="en-GB" altLang="zh-CN" dirty="0"/>
          </a:p>
        </p:txBody>
      </p:sp>
      <p:pic>
        <p:nvPicPr>
          <p:cNvPr id="2097183" name="图片 7"/>
          <p:cNvPicPr>
            <a:picLocks noChangeAspect="1"/>
          </p:cNvPicPr>
          <p:nvPr/>
        </p:nvPicPr>
        <p:blipFill rotWithShape="1">
          <a:blip r:embed="rId3"/>
          <a:srcRect b="63929"/>
          <a:stretch>
            <a:fillRect/>
          </a:stretch>
        </p:blipFill>
        <p:spPr>
          <a:xfrm>
            <a:off x="390525" y="3489339"/>
            <a:ext cx="4064000" cy="1919432"/>
          </a:xfrm>
          <a:prstGeom prst="rect">
            <a:avLst/>
          </a:prstGeom>
        </p:spPr>
      </p:pic>
      <p:pic>
        <p:nvPicPr>
          <p:cNvPr id="2097184" name="图片 13"/>
          <p:cNvPicPr>
            <a:picLocks noChangeAspect="1"/>
          </p:cNvPicPr>
          <p:nvPr/>
        </p:nvPicPr>
        <p:blipFill rotWithShape="1">
          <a:blip r:embed="rId3"/>
          <a:srcRect t="36328" b="27601"/>
          <a:stretch>
            <a:fillRect/>
          </a:stretch>
        </p:blipFill>
        <p:spPr>
          <a:xfrm>
            <a:off x="4454525" y="3489339"/>
            <a:ext cx="4064000" cy="1919432"/>
          </a:xfrm>
          <a:prstGeom prst="rect">
            <a:avLst/>
          </a:prstGeom>
        </p:spPr>
      </p:pic>
      <p:pic>
        <p:nvPicPr>
          <p:cNvPr id="2097185" name="图片 15"/>
          <p:cNvPicPr>
            <a:picLocks noChangeAspect="1"/>
          </p:cNvPicPr>
          <p:nvPr/>
        </p:nvPicPr>
        <p:blipFill rotWithShape="1">
          <a:blip r:embed="rId3"/>
          <a:srcRect t="72085" b="1659"/>
          <a:stretch>
            <a:fillRect/>
          </a:stretch>
        </p:blipFill>
        <p:spPr>
          <a:xfrm>
            <a:off x="7737474" y="3750469"/>
            <a:ext cx="4064000" cy="139717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Winograd convolution</a:t>
            </a:r>
            <a:endParaRPr lang="zh-CN" altLang="en-US" dirty="0"/>
          </a:p>
        </p:txBody>
      </p:sp>
      <p:sp>
        <p:nvSpPr>
          <p:cNvPr id="104871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https://arxiv.org/pdf/1509.09308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1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8711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Performance comparisons</a:t>
            </a:r>
            <a:endParaRPr lang="en-GB" altLang="zh-CN" dirty="0"/>
          </a:p>
        </p:txBody>
      </p:sp>
      <p:pic>
        <p:nvPicPr>
          <p:cNvPr id="209718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3" y="2161310"/>
            <a:ext cx="5295902" cy="3516890"/>
          </a:xfrm>
          <a:prstGeom prst="rect">
            <a:avLst/>
          </a:prstGeom>
        </p:spPr>
      </p:pic>
      <p:pic>
        <p:nvPicPr>
          <p:cNvPr id="209718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75972"/>
            <a:ext cx="5191517" cy="30598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104871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https://arxiv.org/pdf/1509.09308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1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1048717" name="内容占位符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Comparisons among direct convolution, img2col + GEMM, and Winograd.</a:t>
            </a:r>
          </a:p>
          <a:p>
            <a:endParaRPr lang="zh-CN" altLang="en-US" dirty="0"/>
          </a:p>
        </p:txBody>
      </p:sp>
      <p:graphicFrame>
        <p:nvGraphicFramePr>
          <p:cNvPr id="4194304" name="表格 8"/>
          <p:cNvGraphicFramePr>
            <a:graphicFrameLocks noGrp="1"/>
          </p:cNvGraphicFramePr>
          <p:nvPr/>
        </p:nvGraphicFramePr>
        <p:xfrm>
          <a:off x="523875" y="2391410"/>
          <a:ext cx="11277600" cy="219456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Feature</a:t>
                      </a:r>
                      <a:endParaRPr lang="en-GB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Direct Convolution</a:t>
                      </a:r>
                      <a:endParaRPr lang="en-GB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Img2col + GEMM</a:t>
                      </a:r>
                      <a:endParaRPr lang="en-GB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Winograd</a:t>
                      </a:r>
                      <a:r>
                        <a:rPr lang="zh-CN" altLang="en-US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US" altLang="zh-CN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F(2x2, 3x3)</a:t>
                      </a:r>
                      <a:endParaRPr lang="en-GB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Computational Complexity</a:t>
                      </a:r>
                      <a:endParaRPr lang="en-GB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High (O(N))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Medium (Optimized via GEMM)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Low</a:t>
                      </a:r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 (Fewest multiplications)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Memory Overhead</a:t>
                      </a:r>
                      <a:endParaRPr lang="en-GB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Minimal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Large (Data redundancy)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Medium (Requires transform matrices)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Implementation Difficulty</a:t>
                      </a:r>
                      <a:endParaRPr lang="en-GB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Numerical Precision</a:t>
                      </a:r>
                      <a:endParaRPr lang="en-GB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Lower (Floating-point error accumulation)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Core Limitations</a:t>
                      </a:r>
                      <a:endParaRPr lang="en-GB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Slow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High memory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Restricted to Stride=</a:t>
                      </a:r>
                      <a:r>
                        <a:rPr lang="en-GB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1 &amp; 3x3 </a:t>
                      </a:r>
                      <a:r>
                        <a:rPr lang="en-GB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kernels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</Words>
  <Application>Microsoft Office PowerPoint</Application>
  <PresentationFormat>宽屏</PresentationFormat>
  <Paragraphs>130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等线</vt:lpstr>
      <vt:lpstr>宋体</vt:lpstr>
      <vt:lpstr>微软雅黑</vt:lpstr>
      <vt:lpstr>文泉驿微米黑</vt:lpstr>
      <vt:lpstr>Arial</vt:lpstr>
      <vt:lpstr>Bahnschrift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13: Convolution Operator Optimization</vt:lpstr>
      <vt:lpstr>Basics of 2D convolution operators</vt:lpstr>
      <vt:lpstr>Some variants…</vt:lpstr>
      <vt:lpstr>CNNs with stacked convolution layers.</vt:lpstr>
      <vt:lpstr>The inefficiency of the naive 7-layer loop</vt:lpstr>
      <vt:lpstr>Performance analysis tool: roofline model</vt:lpstr>
      <vt:lpstr>Img2Col transformation</vt:lpstr>
      <vt:lpstr>Img2Col transformation</vt:lpstr>
      <vt:lpstr>Img2Col transformation</vt:lpstr>
      <vt:lpstr>Img2Col transformation</vt:lpstr>
      <vt:lpstr>Winograd convolution</vt:lpstr>
      <vt:lpstr>Winograd convolution</vt:lpstr>
      <vt:lpstr>Winograd convolution</vt:lpstr>
      <vt:lpstr>Winograd convolution</vt:lpstr>
      <vt:lpstr>Winograd convolution</vt:lpstr>
      <vt:lpstr>Winograd convolution</vt:lpstr>
      <vt:lpstr>Summary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32：通信拓扑优化</dc:title>
  <dc:creator>王丰</dc:creator>
  <cp:lastModifiedBy>Xiang Li</cp:lastModifiedBy>
  <cp:revision>6</cp:revision>
  <dcterms:created xsi:type="dcterms:W3CDTF">2026-03-12T02:49:00Z</dcterms:created>
  <dcterms:modified xsi:type="dcterms:W3CDTF">2026-03-17T14:53:40Z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ee666b583c344ad8a56cc9f53e4dda6b_23</vt:lpwstr>
  </property>
  <property fmtid="{D5CDD505-2E9C-101B-9397-08002B2CF9AE}" pid="3" name="KSOProductBuildVer">
    <vt:lpwstr>2052-12.1.0.19302</vt:lpwstr>
  </property>
</Properties>
</file>