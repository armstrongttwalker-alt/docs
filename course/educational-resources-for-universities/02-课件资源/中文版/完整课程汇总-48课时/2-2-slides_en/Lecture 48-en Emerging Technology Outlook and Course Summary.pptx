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37" r:id="rId2"/>
    <p:sldId id="256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9" r:id="rId16"/>
    <p:sldId id="28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0012"/>
    <a:srgbClr val="70AD47"/>
    <a:srgbClr val="2774AE"/>
    <a:srgbClr val="70AE47"/>
    <a:srgbClr val="549E39"/>
    <a:srgbClr val="90B085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5"/>
    <p:restoredTop sz="80094" autoAdjust="0"/>
  </p:normalViewPr>
  <p:slideViewPr>
    <p:cSldViewPr snapToGrid="0" snapToObjects="1">
      <p:cViewPr varScale="1">
        <p:scale>
          <a:sx n="49" d="100"/>
          <a:sy n="49" d="100"/>
        </p:scale>
        <p:origin x="1164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3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0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001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D35F3-BE5B-41CC-A973-5F94E77F22B3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1049002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003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126E5-09CE-4398-8EB0-4AC849D0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995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E8E16-D6C5-3248-816C-85B3C8E8792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104899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99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9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99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4C98A-D9C5-894D-9A13-8F52E37846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内容：回顾 FlagOS 体系，探讨 AI 系统软件的未来（WebGPU, MoE, TPU 等）。FlagOS 结合： 展望 FlagOS-Robo (具身智能工具包) 等新兴方向。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Image: </a:t>
            </a:r>
            <a:r>
              <a:rPr lang="en-US" altLang="zh-CN" dirty="0"/>
              <a:t>GPU </a:t>
            </a:r>
            <a:r>
              <a:rPr lang="zh-CN" altLang="en-US" dirty="0"/>
              <a:t>compute resources severely wasted while “waiting for external environment feedback”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4863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48633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194773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7060055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tags" Target="../tags/tag2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tags" Target="../tags/tag26.xm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20" Type="http://schemas.openxmlformats.org/officeDocument/2006/relationships/image" Target="../media/image6.pn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10" Type="http://schemas.openxmlformats.org/officeDocument/2006/relationships/tags" Target="../tags/tag19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13" Type="http://schemas.openxmlformats.org/officeDocument/2006/relationships/tags" Target="../tags/tag41.xml"/><Relationship Id="rId18" Type="http://schemas.openxmlformats.org/officeDocument/2006/relationships/image" Target="../media/image19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31.xml"/><Relationship Id="rId21" Type="http://schemas.openxmlformats.org/officeDocument/2006/relationships/image" Target="../media/image22.png"/><Relationship Id="rId7" Type="http://schemas.openxmlformats.org/officeDocument/2006/relationships/tags" Target="../tags/tag35.xml"/><Relationship Id="rId12" Type="http://schemas.openxmlformats.org/officeDocument/2006/relationships/tags" Target="../tags/tag40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30.xml"/><Relationship Id="rId16" Type="http://schemas.openxmlformats.org/officeDocument/2006/relationships/tags" Target="../tags/tag44.xml"/><Relationship Id="rId20" Type="http://schemas.openxmlformats.org/officeDocument/2006/relationships/image" Target="../media/image21.png"/><Relationship Id="rId29" Type="http://schemas.openxmlformats.org/officeDocument/2006/relationships/image" Target="../media/image26.png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1" Type="http://schemas.openxmlformats.org/officeDocument/2006/relationships/tags" Target="../tags/tag39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33.xml"/><Relationship Id="rId15" Type="http://schemas.openxmlformats.org/officeDocument/2006/relationships/tags" Target="../tags/tag43.xml"/><Relationship Id="rId23" Type="http://schemas.openxmlformats.org/officeDocument/2006/relationships/image" Target="../media/image24.png"/><Relationship Id="rId28" Type="http://schemas.openxmlformats.org/officeDocument/2006/relationships/image" Target="../media/image25.jpeg"/><Relationship Id="rId10" Type="http://schemas.openxmlformats.org/officeDocument/2006/relationships/tags" Target="../tags/tag38.xml"/><Relationship Id="rId19" Type="http://schemas.openxmlformats.org/officeDocument/2006/relationships/image" Target="../media/image20.png"/><Relationship Id="rId4" Type="http://schemas.openxmlformats.org/officeDocument/2006/relationships/tags" Target="../tags/tag32.xml"/><Relationship Id="rId9" Type="http://schemas.openxmlformats.org/officeDocument/2006/relationships/tags" Target="../tags/tag37.xml"/><Relationship Id="rId14" Type="http://schemas.openxmlformats.org/officeDocument/2006/relationships/tags" Target="../tags/tag42.xml"/><Relationship Id="rId22" Type="http://schemas.openxmlformats.org/officeDocument/2006/relationships/image" Target="../media/image23.png"/><Relationship Id="rId27" Type="http://schemas.openxmlformats.org/officeDocument/2006/relationships/hyperlink" Target="https://flagos.io/Home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Lecture 48: Emerging Technology Outlook and Course Summary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altLang="zh-CN"/>
              <a:t>Towards Sustainable AI and AGI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*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x-none" altLang="zh-CN"/>
              <a:t>In the previous lecture notes:</a:t>
            </a:r>
          </a:p>
          <a:p>
            <a:pPr lvl="1"/>
            <a:r>
              <a:rPr lang="zh-CN" altLang="en-US"/>
              <a:t>Module 1: Fundamentals of AI System and Heterogeneous Computing</a:t>
            </a:r>
            <a:endParaRPr lang="x-none" altLang="zh-CN"/>
          </a:p>
          <a:p>
            <a:pPr lvl="1"/>
            <a:r>
              <a:rPr lang="zh-CN" altLang="en-US"/>
              <a:t>Module 2: High-Performance AI Operators and Operator Engineering</a:t>
            </a:r>
          </a:p>
          <a:p>
            <a:pPr lvl="1"/>
            <a:r>
              <a:rPr lang="zh-CN" altLang="en-US"/>
              <a:t>Module 3: Principles and Optimization of AI Compilers</a:t>
            </a:r>
          </a:p>
          <a:p>
            <a:pPr lvl="1"/>
            <a:r>
              <a:rPr lang="zh-CN" altLang="en-US"/>
              <a:t>Module 4: Distributed Parallel Training</a:t>
            </a:r>
            <a:r>
              <a:rPr lang="x-none" altLang="zh-CN"/>
              <a:t> &amp; Inference</a:t>
            </a:r>
            <a:r>
              <a:rPr lang="zh-CN" altLang="en-US"/>
              <a:t> and Communication</a:t>
            </a:r>
          </a:p>
          <a:p>
            <a:pPr lvl="1"/>
            <a:r>
              <a:rPr lang="zh-CN" altLang="en-US"/>
              <a:t>Module 5: Performance Evaluation and </a:t>
            </a:r>
            <a:r>
              <a:rPr lang="x-none" altLang="zh-CN"/>
              <a:t>AI-assisted</a:t>
            </a:r>
            <a:r>
              <a:rPr lang="zh-CN" altLang="en-US"/>
              <a:t> Kernel Generation</a:t>
            </a:r>
          </a:p>
          <a:p>
            <a:pPr lvl="1"/>
            <a:endParaRPr lang="x-none" altLang="zh-CN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altLang="zh-CN"/>
              <a:t>Driving Forces in the Near Future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x-none" altLang="zh-CN"/>
              <a:t>Scaling law (pre-train, post-train, test-time)</a:t>
            </a:r>
          </a:p>
          <a:p>
            <a:r>
              <a:rPr lang="x-none" altLang="zh-CN"/>
              <a:t>Agentic workflow and multi-agent system</a:t>
            </a:r>
          </a:p>
          <a:p>
            <a:r>
              <a:rPr lang="x-none" altLang="zh-CN"/>
              <a:t>Embodied AI and world models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altLang="zh-CN"/>
              <a:t>Need Design-for-10X AI System &amp; Software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x-none" altLang="zh-CN" dirty="0"/>
              <a:t>image source: nvidia.com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x-none" altLang="zh-CN"/>
              <a:t>Pre-train scaling</a:t>
            </a:r>
          </a:p>
          <a:p>
            <a:r>
              <a:rPr lang="x-none" altLang="zh-CN"/>
              <a:t>Post-train scaling</a:t>
            </a:r>
          </a:p>
          <a:p>
            <a:r>
              <a:rPr lang="x-none" altLang="zh-CN"/>
              <a:t>Test-time scaling</a:t>
            </a:r>
          </a:p>
          <a:p>
            <a:endParaRPr lang="x-none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210" y="1323975"/>
            <a:ext cx="7200000" cy="4050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Hardware Challenges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/>
              <a:t>Why does the bottleneck persist after Moore's Law slows down?</a:t>
            </a:r>
          </a:p>
          <a:p>
            <a:pPr lvl="1"/>
            <a:r>
              <a:rPr lang="en-US" altLang="zh-CN"/>
              <a:t>Memory:</a:t>
            </a:r>
          </a:p>
          <a:p>
            <a:pPr lvl="2"/>
            <a:r>
              <a:rPr lang="en-US" altLang="zh-CN"/>
              <a:t>HBM bandwidth grows far more slowly</a:t>
            </a:r>
          </a:p>
          <a:p>
            <a:pPr lvl="2"/>
            <a:r>
              <a:rPr lang="en-US" altLang="zh-CN"/>
              <a:t>GPUs spend significant time waiting for data</a:t>
            </a:r>
          </a:p>
          <a:p>
            <a:pPr lvl="1"/>
            <a:r>
              <a:rPr lang="en-US" altLang="zh-CN"/>
              <a:t>Power:</a:t>
            </a:r>
          </a:p>
          <a:p>
            <a:pPr lvl="2"/>
            <a:r>
              <a:rPr lang="en-US" altLang="zh-CN"/>
              <a:t>Dennard Scaling ended around 2005</a:t>
            </a:r>
          </a:p>
          <a:p>
            <a:pPr lvl="1"/>
            <a:r>
              <a:rPr lang="en-US" altLang="zh-CN"/>
              <a:t>Interconnect:</a:t>
            </a:r>
          </a:p>
          <a:p>
            <a:pPr lvl="2"/>
            <a:r>
              <a:rPr lang="en-US" altLang="zh-CN"/>
              <a:t>Multi-GPU comm &gt; 30% of training time</a:t>
            </a:r>
          </a:p>
          <a:p>
            <a:endParaRPr lang="en-US" altLang="zh-CN"/>
          </a:p>
        </p:txBody>
      </p:sp>
      <p:grpSp>
        <p:nvGrpSpPr>
          <p:cNvPr id="8" name="组合 7"/>
          <p:cNvGrpSpPr/>
          <p:nvPr/>
        </p:nvGrpSpPr>
        <p:grpSpPr>
          <a:xfrm>
            <a:off x="521335" y="4535170"/>
            <a:ext cx="3649980" cy="1642110"/>
            <a:chOff x="1168" y="3344"/>
            <a:chExt cx="5904" cy="2586"/>
          </a:xfrm>
        </p:grpSpPr>
        <p:sp>
          <p:nvSpPr>
            <p:cNvPr id="9" name="Shape 7"/>
            <p:cNvSpPr/>
            <p:nvPr>
              <p:custDataLst>
                <p:tags r:id="rId13"/>
              </p:custDataLst>
            </p:nvPr>
          </p:nvSpPr>
          <p:spPr>
            <a:xfrm>
              <a:off x="1168" y="3344"/>
              <a:ext cx="5904" cy="2586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DDDDDD"/>
              </a:solidFill>
              <a:prstDash val="solid"/>
            </a:ln>
          </p:spPr>
        </p:sp>
        <p:sp>
          <p:nvSpPr>
            <p:cNvPr id="10" name="Shape 8"/>
            <p:cNvSpPr/>
            <p:nvPr>
              <p:custDataLst>
                <p:tags r:id="rId14"/>
              </p:custDataLst>
            </p:nvPr>
          </p:nvSpPr>
          <p:spPr>
            <a:xfrm>
              <a:off x="1168" y="3344"/>
              <a:ext cx="5904" cy="720"/>
            </a:xfrm>
            <a:prstGeom prst="rect">
              <a:avLst/>
            </a:prstGeom>
            <a:solidFill>
              <a:srgbClr val="8B0012"/>
            </a:solidFill>
            <a:ln w="12700">
              <a:solidFill>
                <a:srgbClr val="8B0012"/>
              </a:solidFill>
              <a:prstDash val="solid"/>
            </a:ln>
          </p:spPr>
        </p:sp>
        <p:sp>
          <p:nvSpPr>
            <p:cNvPr id="11" name="Text 9"/>
            <p:cNvSpPr/>
            <p:nvPr>
              <p:custDataLst>
                <p:tags r:id="rId15"/>
              </p:custDataLst>
            </p:nvPr>
          </p:nvSpPr>
          <p:spPr>
            <a:xfrm>
              <a:off x="1370" y="3402"/>
              <a:ext cx="5616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Memory Wall</a:t>
              </a:r>
            </a:p>
          </p:txBody>
        </p:sp>
        <p:sp>
          <p:nvSpPr>
            <p:cNvPr id="12" name="Text 10"/>
            <p:cNvSpPr/>
            <p:nvPr>
              <p:custDataLst>
                <p:tags r:id="rId16"/>
              </p:custDataLst>
            </p:nvPr>
          </p:nvSpPr>
          <p:spPr>
            <a:xfrm>
              <a:off x="1370" y="4208"/>
              <a:ext cx="5616" cy="103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400" b="1" dirty="0">
                  <a:solidFill>
                    <a:srgbClr val="8B0012"/>
                  </a:solidFill>
                  <a:latin typeface="Calibri Light" panose="020F0302020204030204" pitchFamily="34" charset="0"/>
                  <a:ea typeface="Calibri Light" panose="020F0302020204030204" pitchFamily="34" charset="-122"/>
                  <a:cs typeface="Calibri Light" panose="020F0302020204030204" pitchFamily="34" charset="-120"/>
                </a:rPr>
                <a:t>~2% / yr</a:t>
              </a:r>
              <a:endParaRPr lang="en-US" sz="3400" dirty="0"/>
            </a:p>
          </p:txBody>
        </p:sp>
        <p:sp>
          <p:nvSpPr>
            <p:cNvPr id="13" name="Text 11"/>
            <p:cNvSpPr/>
            <p:nvPr>
              <p:custDataLst>
                <p:tags r:id="rId17"/>
              </p:custDataLst>
            </p:nvPr>
          </p:nvSpPr>
          <p:spPr>
            <a:xfrm>
              <a:off x="1370" y="5216"/>
              <a:ext cx="5616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i="1" dirty="0">
                  <a:solidFill>
                    <a:schemeClr val="tx1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DRAM bandwidth annual growth</a:t>
              </a:r>
            </a:p>
          </p:txBody>
        </p:sp>
        <p:sp>
          <p:nvSpPr>
            <p:cNvPr id="14" name="Shape 12"/>
            <p:cNvSpPr/>
            <p:nvPr>
              <p:custDataLst>
                <p:tags r:id="rId18"/>
              </p:custDataLst>
            </p:nvPr>
          </p:nvSpPr>
          <p:spPr>
            <a:xfrm>
              <a:off x="1370" y="5677"/>
              <a:ext cx="5472" cy="22"/>
            </a:xfrm>
            <a:prstGeom prst="rect">
              <a:avLst/>
            </a:prstGeom>
            <a:solidFill>
              <a:srgbClr val="DDDDDD"/>
            </a:solidFill>
            <a:ln w="12700">
              <a:solidFill>
                <a:srgbClr val="DDDDDD"/>
              </a:solidFill>
              <a:prstDash val="solid"/>
            </a:ln>
          </p:spPr>
        </p:sp>
      </p:grpSp>
      <p:grpSp>
        <p:nvGrpSpPr>
          <p:cNvPr id="30" name="组合 29"/>
          <p:cNvGrpSpPr/>
          <p:nvPr/>
        </p:nvGrpSpPr>
        <p:grpSpPr>
          <a:xfrm>
            <a:off x="4263390" y="4535170"/>
            <a:ext cx="3649980" cy="1679575"/>
            <a:chOff x="1168" y="3344"/>
            <a:chExt cx="5904" cy="2586"/>
          </a:xfrm>
        </p:grpSpPr>
        <p:sp>
          <p:nvSpPr>
            <p:cNvPr id="31" name="Shape 7"/>
            <p:cNvSpPr/>
            <p:nvPr>
              <p:custDataLst>
                <p:tags r:id="rId7"/>
              </p:custDataLst>
            </p:nvPr>
          </p:nvSpPr>
          <p:spPr>
            <a:xfrm>
              <a:off x="1168" y="3344"/>
              <a:ext cx="5904" cy="2586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DDDDDD"/>
              </a:solidFill>
              <a:prstDash val="solid"/>
            </a:ln>
          </p:spPr>
        </p:sp>
        <p:sp>
          <p:nvSpPr>
            <p:cNvPr id="32" name="Shape 8"/>
            <p:cNvSpPr/>
            <p:nvPr>
              <p:custDataLst>
                <p:tags r:id="rId8"/>
              </p:custDataLst>
            </p:nvPr>
          </p:nvSpPr>
          <p:spPr>
            <a:xfrm>
              <a:off x="1168" y="3344"/>
              <a:ext cx="5904" cy="720"/>
            </a:xfrm>
            <a:prstGeom prst="rect">
              <a:avLst/>
            </a:prstGeom>
            <a:solidFill>
              <a:srgbClr val="8B0012"/>
            </a:solidFill>
            <a:ln w="12700">
              <a:solidFill>
                <a:srgbClr val="8B0012"/>
              </a:solidFill>
              <a:prstDash val="solid"/>
            </a:ln>
          </p:spPr>
        </p:sp>
        <p:sp>
          <p:nvSpPr>
            <p:cNvPr id="33" name="Text 9"/>
            <p:cNvSpPr/>
            <p:nvPr>
              <p:custDataLst>
                <p:tags r:id="rId9"/>
              </p:custDataLst>
            </p:nvPr>
          </p:nvSpPr>
          <p:spPr>
            <a:xfrm>
              <a:off x="1370" y="3402"/>
              <a:ext cx="5616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altLang="zh-CN" sz="2400" b="1" dirty="0">
                  <a:solidFill>
                    <a:srgbClr val="FFFFFF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Power Wall</a:t>
              </a:r>
            </a:p>
          </p:txBody>
        </p:sp>
        <p:sp>
          <p:nvSpPr>
            <p:cNvPr id="34" name="Text 10"/>
            <p:cNvSpPr/>
            <p:nvPr>
              <p:custDataLst>
                <p:tags r:id="rId10"/>
              </p:custDataLst>
            </p:nvPr>
          </p:nvSpPr>
          <p:spPr>
            <a:xfrm>
              <a:off x="1370" y="4208"/>
              <a:ext cx="5616" cy="103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400" b="1" dirty="0">
                  <a:solidFill>
                    <a:srgbClr val="8B0012"/>
                  </a:solidFill>
                  <a:latin typeface="Calibri Light" panose="020F0302020204030204" pitchFamily="34" charset="0"/>
                  <a:ea typeface="Calibri Light" panose="020F0302020204030204" pitchFamily="34" charset="-122"/>
                  <a:cs typeface="Calibri Light" panose="020F0302020204030204" pitchFamily="34" charset="-120"/>
                  <a:sym typeface="+mn-ea"/>
                </a:rPr>
                <a:t>700 W+</a:t>
              </a:r>
              <a:endParaRPr lang="en-US" sz="3400" dirty="0"/>
            </a:p>
          </p:txBody>
        </p:sp>
        <p:sp>
          <p:nvSpPr>
            <p:cNvPr id="35" name="Text 11"/>
            <p:cNvSpPr/>
            <p:nvPr>
              <p:custDataLst>
                <p:tags r:id="rId11"/>
              </p:custDataLst>
            </p:nvPr>
          </p:nvSpPr>
          <p:spPr>
            <a:xfrm>
              <a:off x="1370" y="5216"/>
              <a:ext cx="5616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altLang="zh-CN" i="1" dirty="0">
                  <a:solidFill>
                    <a:schemeClr val="tx1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H100 SXM single-card TDP</a:t>
              </a:r>
            </a:p>
          </p:txBody>
        </p:sp>
        <p:sp>
          <p:nvSpPr>
            <p:cNvPr id="36" name="Shape 12"/>
            <p:cNvSpPr/>
            <p:nvPr>
              <p:custDataLst>
                <p:tags r:id="rId12"/>
              </p:custDataLst>
            </p:nvPr>
          </p:nvSpPr>
          <p:spPr>
            <a:xfrm>
              <a:off x="1370" y="5677"/>
              <a:ext cx="5472" cy="22"/>
            </a:xfrm>
            <a:prstGeom prst="rect">
              <a:avLst/>
            </a:prstGeom>
            <a:solidFill>
              <a:srgbClr val="DDDDDD"/>
            </a:solidFill>
            <a:ln w="12700">
              <a:solidFill>
                <a:srgbClr val="DDDDDD"/>
              </a:solidFill>
              <a:prstDash val="solid"/>
            </a:ln>
          </p:spPr>
        </p:sp>
      </p:grpSp>
      <p:grpSp>
        <p:nvGrpSpPr>
          <p:cNvPr id="37" name="组合 36"/>
          <p:cNvGrpSpPr/>
          <p:nvPr/>
        </p:nvGrpSpPr>
        <p:grpSpPr>
          <a:xfrm>
            <a:off x="7988300" y="4535170"/>
            <a:ext cx="3649980" cy="1679575"/>
            <a:chOff x="1168" y="3344"/>
            <a:chExt cx="5904" cy="2586"/>
          </a:xfrm>
        </p:grpSpPr>
        <p:sp>
          <p:nvSpPr>
            <p:cNvPr id="38" name="Shape 7"/>
            <p:cNvSpPr/>
            <p:nvPr>
              <p:custDataLst>
                <p:tags r:id="rId1"/>
              </p:custDataLst>
            </p:nvPr>
          </p:nvSpPr>
          <p:spPr>
            <a:xfrm>
              <a:off x="1168" y="3344"/>
              <a:ext cx="5904" cy="2586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DDDDDD"/>
              </a:solidFill>
              <a:prstDash val="solid"/>
            </a:ln>
          </p:spPr>
        </p:sp>
        <p:sp>
          <p:nvSpPr>
            <p:cNvPr id="39" name="Shape 8"/>
            <p:cNvSpPr/>
            <p:nvPr>
              <p:custDataLst>
                <p:tags r:id="rId2"/>
              </p:custDataLst>
            </p:nvPr>
          </p:nvSpPr>
          <p:spPr>
            <a:xfrm>
              <a:off x="1168" y="3344"/>
              <a:ext cx="5904" cy="720"/>
            </a:xfrm>
            <a:prstGeom prst="rect">
              <a:avLst/>
            </a:prstGeom>
            <a:solidFill>
              <a:srgbClr val="8B0012"/>
            </a:solidFill>
            <a:ln w="12700">
              <a:solidFill>
                <a:srgbClr val="8B0012"/>
              </a:solidFill>
              <a:prstDash val="solid"/>
            </a:ln>
          </p:spPr>
        </p:sp>
        <p:sp>
          <p:nvSpPr>
            <p:cNvPr id="40" name="Text 9"/>
            <p:cNvSpPr/>
            <p:nvPr>
              <p:custDataLst>
                <p:tags r:id="rId3"/>
              </p:custDataLst>
            </p:nvPr>
          </p:nvSpPr>
          <p:spPr>
            <a:xfrm>
              <a:off x="1370" y="3402"/>
              <a:ext cx="5616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altLang="zh-CN" sz="2400" b="1" dirty="0">
                  <a:solidFill>
                    <a:srgbClr val="FFFFFF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Interconnect Wall</a:t>
              </a:r>
            </a:p>
          </p:txBody>
        </p:sp>
        <p:sp>
          <p:nvSpPr>
            <p:cNvPr id="41" name="Text 10"/>
            <p:cNvSpPr/>
            <p:nvPr>
              <p:custDataLst>
                <p:tags r:id="rId4"/>
              </p:custDataLst>
            </p:nvPr>
          </p:nvSpPr>
          <p:spPr>
            <a:xfrm>
              <a:off x="1370" y="4208"/>
              <a:ext cx="5616" cy="103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400" b="1" dirty="0">
                  <a:solidFill>
                    <a:srgbClr val="8B0012"/>
                  </a:solidFill>
                  <a:latin typeface="Calibri Light" panose="020F0302020204030204" pitchFamily="34" charset="0"/>
                  <a:ea typeface="Calibri Light" panose="020F0302020204030204" pitchFamily="34" charset="-122"/>
                  <a:cs typeface="Calibri Light" panose="020F0302020204030204" pitchFamily="34" charset="-120"/>
                  <a:sym typeface="+mn-ea"/>
                </a:rPr>
                <a:t>400 GB/s</a:t>
              </a:r>
              <a:endParaRPr lang="en-US" sz="3400" dirty="0"/>
            </a:p>
          </p:txBody>
        </p:sp>
        <p:sp>
          <p:nvSpPr>
            <p:cNvPr id="42" name="Text 11"/>
            <p:cNvSpPr/>
            <p:nvPr>
              <p:custDataLst>
                <p:tags r:id="rId5"/>
              </p:custDataLst>
            </p:nvPr>
          </p:nvSpPr>
          <p:spPr>
            <a:xfrm>
              <a:off x="1370" y="5216"/>
              <a:ext cx="5616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altLang="zh-CN" i="1" dirty="0">
                  <a:solidFill>
                    <a:schemeClr val="tx1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PCIe 5.0 peak bandwidth</a:t>
              </a:r>
            </a:p>
          </p:txBody>
        </p:sp>
        <p:sp>
          <p:nvSpPr>
            <p:cNvPr id="43" name="Shape 12"/>
            <p:cNvSpPr/>
            <p:nvPr>
              <p:custDataLst>
                <p:tags r:id="rId6"/>
              </p:custDataLst>
            </p:nvPr>
          </p:nvSpPr>
          <p:spPr>
            <a:xfrm>
              <a:off x="1370" y="5677"/>
              <a:ext cx="5472" cy="22"/>
            </a:xfrm>
            <a:prstGeom prst="rect">
              <a:avLst/>
            </a:prstGeom>
            <a:solidFill>
              <a:srgbClr val="DDDDDD"/>
            </a:solidFill>
            <a:ln w="12700">
              <a:solidFill>
                <a:srgbClr val="DDDDDD"/>
              </a:solidFill>
              <a:prstDash val="solid"/>
            </a:ln>
          </p:spPr>
        </p:sp>
      </p:grpSp>
      <p:pic>
        <p:nvPicPr>
          <p:cNvPr id="2097152" name="图片 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85635" y="1929130"/>
            <a:ext cx="4652645" cy="245237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Emerging Architectures I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sz="1800"/>
              <a:t>In-Memory Computing (d-Matrix Corsair)</a:t>
            </a:r>
          </a:p>
          <a:p>
            <a:pPr lvl="1"/>
            <a:r>
              <a:rPr lang="en-US" altLang="zh-CN" sz="1600" b="1"/>
              <a:t>Core idea:</a:t>
            </a:r>
            <a:r>
              <a:rPr lang="en-US" altLang="zh-CN" sz="1600"/>
              <a:t> embed logic inside SRAM, eliminating data movement entirely.</a:t>
            </a:r>
          </a:p>
          <a:p>
            <a:pPr lvl="1"/>
            <a:r>
              <a:rPr lang="en-US" altLang="zh-CN" sz="1600" b="1"/>
              <a:t>FlagOS SW Challenge:</a:t>
            </a:r>
            <a:r>
              <a:rPr lang="en-US" altLang="zh-CN" sz="1600"/>
              <a:t> Compiler must understand In-Memory execution; FlagTree needs a DIMC backend.</a:t>
            </a:r>
          </a:p>
          <a:p>
            <a:pPr lvl="1"/>
            <a:endParaRPr lang="en-US" altLang="zh-CN" sz="1600"/>
          </a:p>
          <a:p>
            <a:endParaRPr lang="en-US" altLang="zh-CN" sz="160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zh-CN" sz="1800"/>
              <a:t>Wafer-Scale Integration (Cerebras WSE-3)</a:t>
            </a:r>
          </a:p>
          <a:p>
            <a:pPr lvl="1"/>
            <a:r>
              <a:rPr lang="en-US" altLang="zh-CN" sz="1600" b="1"/>
              <a:t>Core idea:</a:t>
            </a:r>
            <a:r>
              <a:rPr lang="en-US" altLang="zh-CN" sz="1600"/>
              <a:t> entire wafer = one processor; on-chip SRAM holds the full model.</a:t>
            </a:r>
          </a:p>
          <a:p>
            <a:pPr lvl="1"/>
            <a:r>
              <a:rPr lang="en-US" altLang="zh-CN" sz="1600" b="1"/>
              <a:t>FlagOS SW Challenge:</a:t>
            </a:r>
            <a:r>
              <a:rPr lang="en-US" altLang="zh-CN" sz="1600"/>
              <a:t> No DRAM paging; runtime must be wafer-topology-aware; FlagGems needs on-chip mapping.</a:t>
            </a:r>
          </a:p>
          <a:p>
            <a:pPr lvl="1"/>
            <a:endParaRPr lang="en-US" altLang="zh-CN" sz="1600"/>
          </a:p>
          <a:p>
            <a:endParaRPr lang="en-US" altLang="zh-CN" sz="1600"/>
          </a:p>
        </p:txBody>
      </p:sp>
      <p:grpSp>
        <p:nvGrpSpPr>
          <p:cNvPr id="8" name="组合 7"/>
          <p:cNvGrpSpPr/>
          <p:nvPr/>
        </p:nvGrpSpPr>
        <p:grpSpPr>
          <a:xfrm>
            <a:off x="500380" y="3235325"/>
            <a:ext cx="4723130" cy="2753360"/>
            <a:chOff x="603" y="5213"/>
            <a:chExt cx="7438" cy="4336"/>
          </a:xfrm>
        </p:grpSpPr>
        <p:sp>
          <p:nvSpPr>
            <p:cNvPr id="13" name="Shape 11"/>
            <p:cNvSpPr/>
            <p:nvPr/>
          </p:nvSpPr>
          <p:spPr>
            <a:xfrm>
              <a:off x="603" y="5213"/>
              <a:ext cx="1651" cy="715"/>
            </a:xfrm>
            <a:prstGeom prst="rect">
              <a:avLst/>
            </a:prstGeom>
            <a:solidFill>
              <a:srgbClr val="F9ECEE"/>
            </a:solidFill>
            <a:ln w="6350">
              <a:solidFill>
                <a:srgbClr val="8B0012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603" y="5308"/>
              <a:ext cx="1651" cy="5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8B0012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Efficiency</a:t>
              </a:r>
              <a:endParaRPr lang="en-US" sz="10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2396" y="5332"/>
              <a:ext cx="2249" cy="5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38 TOPS/W</a:t>
              </a:r>
              <a:endParaRPr lang="en-US" sz="12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885" y="5356"/>
              <a:ext cx="4156" cy="45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999999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vs. H100 ~2.8 TOPS/W  (~13x)</a:t>
              </a:r>
              <a:endParaRPr lang="en-US" sz="105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03" y="6118"/>
              <a:ext cx="1651" cy="715"/>
            </a:xfrm>
            <a:prstGeom prst="rect">
              <a:avLst/>
            </a:prstGeom>
            <a:solidFill>
              <a:srgbClr val="F9ECEE"/>
            </a:solidFill>
            <a:ln w="6350">
              <a:solidFill>
                <a:srgbClr val="8B0012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03" y="6214"/>
              <a:ext cx="1651" cy="5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8B0012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Precision</a:t>
              </a:r>
              <a:endParaRPr lang="en-US" sz="10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2396" y="6237"/>
              <a:ext cx="2249" cy="5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MXINT8 / 4</a:t>
              </a:r>
              <a:endParaRPr lang="en-US" sz="12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3885" y="6261"/>
              <a:ext cx="4156" cy="45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999999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Block floating-point, configurable</a:t>
              </a:r>
              <a:endParaRPr lang="en-US" sz="105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03" y="7024"/>
              <a:ext cx="1651" cy="715"/>
            </a:xfrm>
            <a:prstGeom prst="rect">
              <a:avLst/>
            </a:prstGeom>
            <a:solidFill>
              <a:srgbClr val="F9ECEE"/>
            </a:solidFill>
            <a:ln w="6350">
              <a:solidFill>
                <a:srgbClr val="8B0012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603" y="7119"/>
              <a:ext cx="1651" cy="5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8B0012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Bandwidth</a:t>
              </a:r>
              <a:endParaRPr lang="en-US" sz="105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2396" y="7143"/>
              <a:ext cx="2249" cy="5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150 TB/s</a:t>
              </a:r>
              <a:endParaRPr lang="en-US" sz="12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3885" y="7167"/>
              <a:ext cx="4156" cy="45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999999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Aggregate; 6 MB SRAM per slice</a:t>
              </a:r>
              <a:endParaRPr lang="en-US" sz="105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603" y="7930"/>
              <a:ext cx="1651" cy="715"/>
            </a:xfrm>
            <a:prstGeom prst="rect">
              <a:avLst/>
            </a:prstGeom>
            <a:solidFill>
              <a:srgbClr val="F9ECEE"/>
            </a:solidFill>
            <a:ln w="6350">
              <a:solidFill>
                <a:srgbClr val="8B0012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603" y="8025"/>
              <a:ext cx="1651" cy="5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8B0012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Scale-Out</a:t>
              </a:r>
              <a:endParaRPr lang="en-US" sz="105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2396" y="8049"/>
              <a:ext cx="2249" cy="5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Transparent</a:t>
              </a:r>
              <a:endParaRPr lang="en-US" sz="12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3885" y="8073"/>
              <a:ext cx="4156" cy="45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999999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No RDMA; bypasses host stack</a:t>
              </a:r>
              <a:endParaRPr lang="en-US" sz="105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603" y="8835"/>
              <a:ext cx="1651" cy="715"/>
            </a:xfrm>
            <a:prstGeom prst="rect">
              <a:avLst/>
            </a:prstGeom>
            <a:solidFill>
              <a:srgbClr val="F9ECEE"/>
            </a:solidFill>
            <a:ln w="6350">
              <a:solidFill>
                <a:srgbClr val="8B0012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603" y="8931"/>
              <a:ext cx="1651" cy="5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8B0012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Runtime</a:t>
              </a:r>
              <a:endParaRPr lang="en-US" sz="105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2396" y="8954"/>
              <a:ext cx="2249" cy="5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RISC-V</a:t>
              </a:r>
              <a:endParaRPr lang="en-US" sz="12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3885" y="8978"/>
              <a:ext cx="4156" cy="45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999999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Host-Free; removes CPU scheduling bottleneck</a:t>
              </a:r>
              <a:endParaRPr lang="en-US" sz="1050" dirty="0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5078730" y="3232150"/>
            <a:ext cx="4686935" cy="2755265"/>
            <a:chOff x="9866" y="5212"/>
            <a:chExt cx="7381" cy="4339"/>
          </a:xfrm>
        </p:grpSpPr>
        <p:sp>
          <p:nvSpPr>
            <p:cNvPr id="39" name="Shape 37"/>
            <p:cNvSpPr/>
            <p:nvPr/>
          </p:nvSpPr>
          <p:spPr>
            <a:xfrm>
              <a:off x="9866" y="5212"/>
              <a:ext cx="1670" cy="715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BBBBBB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9866" y="5307"/>
              <a:ext cx="1670" cy="52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444444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Die Area</a:t>
              </a:r>
              <a:endParaRPr lang="en-US" sz="105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11622" y="5331"/>
              <a:ext cx="2275" cy="50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46,225 mm²</a:t>
              </a:r>
              <a:endParaRPr lang="en-US" sz="12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13043" y="5355"/>
              <a:ext cx="4205" cy="45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999999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57x vs. H100</a:t>
              </a:r>
              <a:endParaRPr lang="en-US" sz="105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9866" y="6118"/>
              <a:ext cx="1670" cy="715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BBBBBB"/>
              </a:solidFill>
              <a:prstDash val="solid"/>
            </a:ln>
          </p:spPr>
        </p:sp>
        <p:sp>
          <p:nvSpPr>
            <p:cNvPr id="44" name="Text 42"/>
            <p:cNvSpPr/>
            <p:nvPr/>
          </p:nvSpPr>
          <p:spPr>
            <a:xfrm>
              <a:off x="9866" y="6213"/>
              <a:ext cx="1670" cy="52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444444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AI Cores</a:t>
              </a:r>
              <a:endParaRPr lang="en-US" sz="105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11622" y="6237"/>
              <a:ext cx="2275" cy="50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900,000</a:t>
              </a:r>
              <a:endParaRPr lang="en-US" sz="12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13043" y="6261"/>
              <a:ext cx="4205" cy="45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999999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52x vs. H100</a:t>
              </a:r>
              <a:endParaRPr lang="en-US" sz="105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9866" y="7024"/>
              <a:ext cx="1670" cy="715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BBBBBB"/>
              </a:solidFill>
              <a:prstDash val="solid"/>
            </a:ln>
          </p:spPr>
        </p:sp>
        <p:sp>
          <p:nvSpPr>
            <p:cNvPr id="48" name="Text 46"/>
            <p:cNvSpPr/>
            <p:nvPr/>
          </p:nvSpPr>
          <p:spPr>
            <a:xfrm>
              <a:off x="9866" y="7120"/>
              <a:ext cx="1670" cy="52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444444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On-chip SRAM</a:t>
              </a:r>
              <a:endParaRPr lang="en-US" sz="105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11622" y="7143"/>
              <a:ext cx="2275" cy="50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44 GB</a:t>
              </a:r>
              <a:endParaRPr lang="en-US" sz="12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13043" y="7167"/>
              <a:ext cx="4205" cy="45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999999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880x vs. H100</a:t>
              </a:r>
              <a:endParaRPr lang="en-US" sz="105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9866" y="7930"/>
              <a:ext cx="1670" cy="715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BBBBBB"/>
              </a:solidFill>
              <a:prstDash val="solid"/>
            </a:ln>
          </p:spPr>
        </p:sp>
        <p:sp>
          <p:nvSpPr>
            <p:cNvPr id="52" name="Text 50"/>
            <p:cNvSpPr/>
            <p:nvPr/>
          </p:nvSpPr>
          <p:spPr>
            <a:xfrm>
              <a:off x="9866" y="8026"/>
              <a:ext cx="1670" cy="52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444444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Memory BW</a:t>
              </a:r>
              <a:endParaRPr lang="en-US" sz="105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11622" y="8050"/>
              <a:ext cx="2275" cy="50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21 PB/s</a:t>
              </a:r>
              <a:endParaRPr lang="en-US" sz="12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13043" y="8074"/>
              <a:ext cx="4205" cy="45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999999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7,000x vs. H100</a:t>
              </a:r>
              <a:endParaRPr lang="en-US" sz="1050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9866" y="8837"/>
              <a:ext cx="1670" cy="715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BBBBBB"/>
              </a:solidFill>
              <a:prstDash val="solid"/>
            </a:ln>
          </p:spPr>
        </p:sp>
        <p:sp>
          <p:nvSpPr>
            <p:cNvPr id="56" name="Text 54"/>
            <p:cNvSpPr/>
            <p:nvPr/>
          </p:nvSpPr>
          <p:spPr>
            <a:xfrm>
              <a:off x="9866" y="8932"/>
              <a:ext cx="1670" cy="52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444444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Inference</a:t>
              </a:r>
              <a:endParaRPr lang="en-US" sz="105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11622" y="8956"/>
              <a:ext cx="2275" cy="50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On-chip PP</a:t>
              </a:r>
              <a:endParaRPr lang="en-US" sz="1200" dirty="0"/>
            </a:p>
          </p:txBody>
        </p:sp>
        <p:sp>
          <p:nvSpPr>
            <p:cNvPr id="58" name="Text 56"/>
            <p:cNvSpPr/>
            <p:nvPr/>
          </p:nvSpPr>
          <p:spPr>
            <a:xfrm>
              <a:off x="13043" y="8980"/>
              <a:ext cx="4205" cy="45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999999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</a:rPr>
                <a:t>Model layers mapped across wafer regions</a:t>
              </a:r>
              <a:endParaRPr lang="en-US" sz="1050" dirty="0"/>
            </a:p>
          </p:txBody>
        </p:sp>
      </p:grpSp>
      <p:pic>
        <p:nvPicPr>
          <p:cNvPr id="12" name="内容占位符 5"/>
          <p:cNvPicPr>
            <a:picLocks noChangeAspect="1"/>
          </p:cNvPicPr>
          <p:nvPr/>
        </p:nvPicPr>
        <p:blipFill>
          <a:blip r:embed="rId2"/>
          <a:srcRect l="12642" r="29852" b="-777"/>
          <a:stretch>
            <a:fillRect/>
          </a:stretch>
        </p:blipFill>
        <p:spPr>
          <a:xfrm>
            <a:off x="9846945" y="1132840"/>
            <a:ext cx="2233930" cy="2541905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7681"/>
          <a:stretch>
            <a:fillRect/>
          </a:stretch>
        </p:blipFill>
        <p:spPr>
          <a:xfrm>
            <a:off x="9818370" y="3929380"/>
            <a:ext cx="2262505" cy="2426970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10241915" y="6356350"/>
            <a:ext cx="1444625" cy="285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latin typeface="Arial Bold" panose="020B0604020202090204" charset="0"/>
                <a:cs typeface="Arial Bold" panose="020B0604020202090204" charset="0"/>
              </a:rPr>
              <a:t>WSE-3 Core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10241915" y="3625850"/>
            <a:ext cx="1444625" cy="285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latin typeface="Arial Bold" panose="020B0604020202090204" charset="0"/>
                <a:cs typeface="Arial Bold" panose="020B0604020202090204" charset="0"/>
              </a:rPr>
              <a:t>d-Matrix Corsair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Emerging Architectures II  &amp;  Outlook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/>
              <a:t>Supernode Architectures</a:t>
            </a:r>
          </a:p>
          <a:p>
            <a:pPr lvl="1">
              <a:lnSpc>
                <a:spcPct val="110000"/>
              </a:lnSpc>
            </a:pPr>
            <a:r>
              <a:rPr lang="en-US" altLang="zh-CN"/>
              <a:t>NVIDIA NVL72: "The Rack is the Chip"</a:t>
            </a:r>
          </a:p>
          <a:p>
            <a:pPr lvl="2">
              <a:lnSpc>
                <a:spcPct val="110000"/>
              </a:lnSpc>
            </a:pPr>
            <a:r>
              <a:rPr lang="en-US" altLang="zh-CN" b="1"/>
              <a:t>Scale: </a:t>
            </a:r>
            <a:r>
              <a:rPr lang="en-US" altLang="zh-CN"/>
              <a:t>72 Blackwell GPUs interconnected via copper-backplane NVLink Switch</a:t>
            </a:r>
          </a:p>
          <a:p>
            <a:pPr lvl="2">
              <a:lnSpc>
                <a:spcPct val="110000"/>
              </a:lnSpc>
            </a:pPr>
            <a:r>
              <a:rPr lang="en-US" altLang="zh-CN" b="1"/>
              <a:t>Goal: </a:t>
            </a:r>
            <a:r>
              <a:rPr lang="en-US" altLang="zh-CN"/>
              <a:t>Emulate wafer-scale performance using discrete components</a:t>
            </a:r>
          </a:p>
          <a:p>
            <a:pPr lvl="2">
              <a:lnSpc>
                <a:spcPct val="110000"/>
              </a:lnSpc>
            </a:pPr>
            <a:r>
              <a:rPr lang="en-US" altLang="zh-CN" b="1"/>
              <a:t>BW: </a:t>
            </a:r>
            <a:r>
              <a:rPr lang="en-US" altLang="zh-CN"/>
              <a:t>Rack-level NVLink aggregate bandwidth reaches PB/s range</a:t>
            </a:r>
          </a:p>
          <a:p>
            <a:pPr lvl="1">
              <a:lnSpc>
                <a:spcPct val="110000"/>
              </a:lnSpc>
            </a:pPr>
            <a:r>
              <a:rPr lang="en-US" altLang="zh-CN"/>
              <a:t>Huawei CloudMatrix 384: Unified Supernode</a:t>
            </a:r>
          </a:p>
          <a:p>
            <a:pPr lvl="2">
              <a:lnSpc>
                <a:spcPct val="110000"/>
              </a:lnSpc>
            </a:pPr>
            <a:r>
              <a:rPr lang="en-US" altLang="zh-CN" b="1">
                <a:sym typeface="+mn-ea"/>
              </a:rPr>
              <a:t>Scale: </a:t>
            </a:r>
            <a:r>
              <a:rPr lang="en-US" altLang="zh-CN"/>
              <a:t>Hundreds of Ascend processors connected via HCCS protocol</a:t>
            </a:r>
          </a:p>
          <a:p>
            <a:pPr lvl="2">
              <a:lnSpc>
                <a:spcPct val="110000"/>
              </a:lnSpc>
            </a:pPr>
            <a:r>
              <a:rPr lang="en-US" altLang="zh-CN" b="1">
                <a:sym typeface="+mn-ea"/>
              </a:rPr>
              <a:t>Goal: </a:t>
            </a:r>
            <a:r>
              <a:rPr lang="en-US" altLang="zh-CN"/>
              <a:t>Unified memory pool; balanced for both training and inference</a:t>
            </a:r>
          </a:p>
          <a:p>
            <a:pPr lvl="2">
              <a:lnSpc>
                <a:spcPct val="110000"/>
              </a:lnSpc>
            </a:pPr>
            <a:r>
              <a:rPr lang="en-US" altLang="zh-CN" b="1">
                <a:sym typeface="+mn-ea"/>
              </a:rPr>
              <a:t>BW: </a:t>
            </a:r>
            <a:r>
              <a:rPr lang="en-US" altLang="zh-CN"/>
              <a:t>Mature CANN stack; co-evolves with FlagOS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1975" y="1226820"/>
            <a:ext cx="2963545" cy="29635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665" y="4284980"/>
            <a:ext cx="4622165" cy="19932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System-Level Challenges from VLA &amp; WM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>
                <a:latin typeface="Times New Roman Regular" panose="02020503050405090304" charset="0"/>
                <a:cs typeface="Times New Roman Regular" panose="02020503050405090304" charset="0"/>
              </a:rPr>
              <a:t>How Fast Can I Run My VLA?</a:t>
            </a:r>
            <a:r>
              <a:rPr lang="en-US" altLang="zh-CN" dirty="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zh-CN" altLang="en-US" dirty="0">
                <a:latin typeface="Times New Roman Regular" panose="02020503050405090304" charset="0"/>
                <a:cs typeface="Times New Roman Regular" panose="02020503050405090304" charset="0"/>
              </a:rPr>
              <a:t>Demystifying VLA Inference Performance with VLA-Perf，</a:t>
            </a:r>
            <a:r>
              <a:rPr lang="en-US" altLang="zh-CN" dirty="0">
                <a:latin typeface="Times New Roman Regular" panose="02020503050405090304" charset="0"/>
                <a:cs typeface="Times New Roman Regular" panose="02020503050405090304" charset="0"/>
              </a:rPr>
              <a:t>2026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Real-Time Requirements for Robot Reasoning</a:t>
            </a:r>
          </a:p>
          <a:p>
            <a:pPr lvl="1"/>
            <a:r>
              <a:rPr lang="zh-CN" altLang="en-US"/>
              <a:t>Robot perception and reasoning must keep up with RGB cameras operating at 24–60 Hz.</a:t>
            </a:r>
          </a:p>
          <a:p>
            <a:pPr lvl="1"/>
            <a:r>
              <a:rPr lang="zh-CN" altLang="en-US"/>
              <a:t>The target inference rate ranges from 10 Hz (acceptable) to 100 Hz (high performance)</a:t>
            </a:r>
            <a:r>
              <a:rPr lang="en-US" altLang="zh-CN"/>
              <a:t>.</a:t>
            </a:r>
            <a:endParaRPr lang="zh-CN" altLang="en-US"/>
          </a:p>
          <a:p>
            <a:pPr lvl="0"/>
            <a:r>
              <a:rPr lang="zh-CN" altLang="en-US"/>
              <a:t>Performance Cliff on Edge Hardware</a:t>
            </a:r>
          </a:p>
          <a:p>
            <a:pPr lvl="1"/>
            <a:r>
              <a:t>Even advanced edge GPUs (e.g., Jetson Thor) reach only ~19 Hz when running the π0 model (2.7B), making ultra-large models impractical on edge devices.</a:t>
            </a:r>
          </a:p>
          <a:p>
            <a:pPr lvl="1"/>
            <a:r>
              <a:t>Because edge GPUs use LPDDR memory (~270 GB/s vs. ~8 TB/s HBM in data centers), the vision encoder and VLM backbone are memory-bandwidth limited, preventing full compute utilization.</a:t>
            </a:r>
          </a:p>
        </p:txBody>
      </p:sp>
      <p:pic>
        <p:nvPicPr>
          <p:cNvPr id="6" name="图片 5" descr="post_object_image_1929992822"/>
          <p:cNvPicPr>
            <a:picLocks noChangeAspect="1"/>
          </p:cNvPicPr>
          <p:nvPr/>
        </p:nvPicPr>
        <p:blipFill>
          <a:blip r:embed="rId3"/>
          <a:srcRect t="900" r="11370"/>
          <a:stretch>
            <a:fillRect/>
          </a:stretch>
        </p:blipFill>
        <p:spPr>
          <a:xfrm>
            <a:off x="523864" y="4487391"/>
            <a:ext cx="5610724" cy="137233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204286" y="4558000"/>
            <a:ext cx="5392225" cy="12310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System-Level Challenges from VLA &amp; WM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7500"/>
          </a:bodyPr>
          <a:lstStyle/>
          <a:p>
            <a:r>
              <a:rPr lang="en-US" altLang="zh-CN"/>
              <a:t>Software Stack Fragmentation</a:t>
            </a:r>
          </a:p>
          <a:p>
            <a:pPr lvl="1"/>
            <a:r>
              <a:rPr lang="en-US" altLang="zh-CN"/>
              <a:t>Bridging AI frameworks and robot RTOS via middleware (e.g., ROS 2) adds heavy serialization and communication overhead. In many systems, middleware latency exceeds GPU inference time.</a:t>
            </a:r>
            <a:endParaRPr lang="zh-CN" altLang="en-US"/>
          </a:p>
          <a:p>
            <a:r>
              <a:rPr lang="zh-CN" altLang="en-US"/>
              <a:t>Memory Wall from Model Scaling</a:t>
            </a:r>
          </a:p>
          <a:p>
            <a:pPr lvl="1"/>
            <a:r>
              <a:rPr lang="zh-CN" altLang="en-US"/>
              <a:t>14B WAM + World State Cache exceeds edge memory and bandwidth limits.</a:t>
            </a:r>
          </a:p>
          <a:p>
            <a:pPr lvl="1"/>
            <a:r>
              <a:rPr lang="zh-CN" altLang="en-US"/>
              <a:t>Even on GB200, WAM inference takes 5.7s; after 38× optimization still far from real-time control.</a:t>
            </a:r>
          </a:p>
          <a:p>
            <a:r>
              <a:rPr lang="zh-CN" altLang="en-US"/>
              <a:t>Long-Context Bottleneck</a:t>
            </a:r>
          </a:p>
          <a:p>
            <a:pPr lvl="1"/>
            <a:r>
              <a:rPr lang="zh-CN" altLang="en-US"/>
              <a:t>Current VLA models lack long contexts, but adding memory would create similar limits.</a:t>
            </a:r>
          </a:p>
        </p:txBody>
      </p:sp>
      <p:pic>
        <p:nvPicPr>
          <p:cNvPr id="6" name="图片 5" descr="post_object_image_30390958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795" y="4626603"/>
            <a:ext cx="4680994" cy="148370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algn="l" defTabSz="342900" rtl="0" latinLnBrk="0">
              <a:lnSpc>
                <a:spcPct val="100000"/>
              </a:lnSpc>
              <a:buClrTx/>
              <a:buSzTx/>
              <a:buFontTx/>
              <a:buNone/>
            </a:pPr>
            <a:r>
              <a:rPr kumimoji="0" lang="zh-CN" sz="3600" i="0" u="none" strike="noStrike" cap="none" normalizeH="0" baseline="0">
                <a:ea typeface="微软雅黑" panose="020B0503020204020204" charset="-122"/>
              </a:rPr>
              <a:t>Differences between Agents and Traditional LLMs</a:t>
            </a:r>
            <a:endParaRPr kumimoji="0" lang="zh-CN" sz="3600" b="0" i="0" u="none" strike="noStrike" cap="none" normalizeH="0" baseline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9119870" cy="4853305"/>
          </a:xfrm>
        </p:spPr>
        <p:txBody>
          <a:bodyPr>
            <a:normAutofit fontScale="87500" lnSpcReduction="10000"/>
          </a:bodyPr>
          <a:lstStyle/>
          <a:p>
            <a:r>
              <a:rPr lang="zh-CN" altLang="en-US" dirty="0"/>
              <a:t>Traditional </a:t>
            </a:r>
            <a:r>
              <a:rPr lang="en-US" altLang="zh-CN" dirty="0"/>
              <a:t>LLM</a:t>
            </a:r>
          </a:p>
          <a:p>
            <a:pPr marL="197485" lvl="1" indent="0">
              <a:buNone/>
            </a:pPr>
            <a:r>
              <a:rPr lang="zh-CN" altLang="en-US" dirty="0"/>
              <a:t>Single-turn, deterministic, </a:t>
            </a:r>
            <a:r>
              <a:rPr lang="en-US" altLang="zh-CN" dirty="0"/>
              <a:t>token</a:t>
            </a:r>
            <a:r>
              <a:rPr lang="zh-CN" altLang="en-US" dirty="0"/>
              <a:t>-level autoregressive inference; compute overhead scales linearly with </a:t>
            </a:r>
            <a:r>
              <a:rPr lang="en-US" altLang="zh-CN" dirty="0"/>
              <a:t>token</a:t>
            </a:r>
            <a:r>
              <a:rPr lang="zh-CN" altLang="en-US" dirty="0"/>
              <a:t> count; optimizable via batch parallelism.</a:t>
            </a:r>
          </a:p>
          <a:p>
            <a:r>
              <a:rPr lang="en-US" altLang="zh-CN" dirty="0"/>
              <a:t>Agent</a:t>
            </a:r>
            <a:br>
              <a:rPr lang="en-US" altLang="zh-CN" dirty="0"/>
            </a:br>
            <a:r>
              <a:rPr lang="en-US" altLang="zh-CN" sz="2000" dirty="0"/>
              <a:t>Closed-loop autonomous decision system with multi-step nondeterministic, multimodal, multi-agent interactive continuous compute flow; compute demand undergoes paradigm shift.</a:t>
            </a:r>
          </a:p>
          <a:p>
            <a:r>
              <a:rPr lang="zh-CN" altLang="en-US" sz="2400" dirty="0">
                <a:sym typeface="+mn-ea"/>
              </a:rPr>
              <a:t>Three Core Differences</a:t>
            </a:r>
            <a:endParaRPr lang="zh-CN" altLang="en-US" sz="2400" dirty="0"/>
          </a:p>
          <a:p>
            <a:pPr marL="197485" lvl="1" indent="0">
              <a:buFont typeface="文泉驿微米黑" panose="020B0606030804020204" charset="-122"/>
              <a:buNone/>
            </a:pPr>
            <a:r>
              <a:rPr lang="en-US" altLang="zh-CN" dirty="0">
                <a:sym typeface="+mn-ea"/>
              </a:rPr>
              <a:t>1. </a:t>
            </a:r>
            <a:r>
              <a:rPr lang="zh-CN" altLang="en-US" dirty="0">
                <a:sym typeface="+mn-ea"/>
              </a:rPr>
              <a:t>Non-deterministic compute chain: a single task requires </a:t>
            </a:r>
            <a:r>
              <a:rPr lang="en-US" altLang="zh-CN" dirty="0">
                <a:sym typeface="+mn-ea"/>
              </a:rPr>
              <a:t>5~</a:t>
            </a:r>
            <a:r>
              <a:rPr lang="zh-CN" altLang="en-US" dirty="0">
                <a:sym typeface="+mn-ea"/>
              </a:rPr>
              <a:t>hundreds of rounds of </a:t>
            </a:r>
            <a:r>
              <a:rPr lang="en-US" altLang="zh-CN" dirty="0">
                <a:sym typeface="+mn-ea"/>
              </a:rPr>
              <a:t>LLM</a:t>
            </a:r>
            <a:r>
              <a:rPr lang="zh-CN" altLang="en-US" dirty="0">
                <a:sym typeface="+mn-ea"/>
              </a:rPr>
              <a:t> calls, compute overhead surges </a:t>
            </a:r>
            <a:r>
              <a:rPr lang="en-US" altLang="zh-CN" dirty="0">
                <a:sym typeface="+mn-ea"/>
              </a:rPr>
              <a:t>8~200</a:t>
            </a:r>
            <a:r>
              <a:rPr lang="zh-CN" altLang="en-US" dirty="0">
                <a:sym typeface="+mn-ea"/>
              </a:rPr>
              <a:t>x.</a:t>
            </a:r>
            <a:endParaRPr lang="zh-CN" altLang="en-US" dirty="0"/>
          </a:p>
          <a:p>
            <a:pPr marL="197485" lvl="1" indent="0">
              <a:buFont typeface="文泉驿微米黑" panose="020B0606030804020204" charset="-122"/>
              <a:buNone/>
            </a:pPr>
            <a:r>
              <a:rPr lang="en-US" altLang="zh-CN" dirty="0">
                <a:sym typeface="+mn-ea"/>
              </a:rPr>
              <a:t>2. </a:t>
            </a:r>
            <a:r>
              <a:rPr lang="zh-CN" altLang="en-US" dirty="0">
                <a:sym typeface="+mn-ea"/>
              </a:rPr>
              <a:t>Hybrid compute paradigm: spanning inference</a:t>
            </a:r>
            <a:r>
              <a:rPr lang="en-US" altLang="zh-CN" dirty="0">
                <a:sym typeface="+mn-ea"/>
              </a:rPr>
              <a:t>+</a:t>
            </a:r>
            <a:r>
              <a:rPr lang="zh-CN" altLang="en-US" dirty="0">
                <a:sym typeface="+mn-ea"/>
              </a:rPr>
              <a:t>retrieval</a:t>
            </a:r>
            <a:r>
              <a:rPr lang="en-US" altLang="zh-CN" dirty="0">
                <a:sym typeface="+mn-ea"/>
              </a:rPr>
              <a:t>+</a:t>
            </a:r>
            <a:r>
              <a:rPr lang="zh-CN" altLang="en-US" dirty="0">
                <a:sym typeface="+mn-ea"/>
              </a:rPr>
              <a:t>tool use</a:t>
            </a:r>
            <a:r>
              <a:rPr lang="en-US" altLang="zh-CN" dirty="0">
                <a:sym typeface="+mn-ea"/>
              </a:rPr>
              <a:t>+</a:t>
            </a:r>
            <a:r>
              <a:rPr lang="zh-CN" altLang="en-US" dirty="0">
                <a:sym typeface="+mn-ea"/>
              </a:rPr>
              <a:t>interaction</a:t>
            </a:r>
            <a:r>
              <a:rPr lang="en-US" altLang="zh-CN" dirty="0">
                <a:sym typeface="+mn-ea"/>
              </a:rPr>
              <a:t>+</a:t>
            </a:r>
            <a:r>
              <a:rPr lang="zh-CN" altLang="en-US" dirty="0">
                <a:sym typeface="+mn-ea"/>
              </a:rPr>
              <a:t>reinforcement learning in heterogeneous mixed compute.</a:t>
            </a:r>
            <a:endParaRPr lang="zh-CN" altLang="en-US" dirty="0"/>
          </a:p>
          <a:p>
            <a:pPr marL="197485" lvl="1" indent="0">
              <a:buFont typeface="文泉驿微米黑" panose="020B0606030804020204" charset="-122"/>
              <a:buNone/>
            </a:pPr>
            <a:r>
              <a:rPr lang="en-US" altLang="zh-CN" dirty="0">
                <a:sym typeface="+mn-ea"/>
              </a:rPr>
              <a:t>3. </a:t>
            </a:r>
            <a:r>
              <a:rPr lang="zh-CN" altLang="en-US" dirty="0">
                <a:sym typeface="+mn-ea"/>
              </a:rPr>
              <a:t>Persistent compute mode: shifting from burst consumption to continuous inference</a:t>
            </a:r>
            <a:r>
              <a:rPr lang="en-US" altLang="zh-CN" dirty="0">
                <a:sym typeface="+mn-ea"/>
              </a:rPr>
              <a:t>+</a:t>
            </a:r>
            <a:r>
              <a:rPr lang="zh-CN" altLang="en-US" dirty="0">
                <a:sym typeface="+mn-ea"/>
              </a:rPr>
              <a:t>online alignment</a:t>
            </a:r>
            <a:r>
              <a:rPr lang="en-US" altLang="zh-CN" dirty="0">
                <a:sym typeface="+mn-ea"/>
              </a:rPr>
              <a:t>+</a:t>
            </a:r>
            <a:r>
              <a:rPr lang="zh-CN" altLang="en-US" dirty="0">
                <a:sym typeface="+mn-ea"/>
              </a:rPr>
              <a:t>lifelong memory as persistent workload.</a:t>
            </a:r>
          </a:p>
        </p:txBody>
      </p:sp>
      <p:pic>
        <p:nvPicPr>
          <p:cNvPr id="11" name="图片 10" descr="E:/BAAI/COURSE/template-replacement/images/traditional_llm_inference.pngtraditional_llm_inference"/>
          <p:cNvPicPr>
            <a:picLocks noChangeAspect="1"/>
          </p:cNvPicPr>
          <p:nvPr/>
        </p:nvPicPr>
        <p:blipFill>
          <a:blip r:embed="rId2"/>
          <a:srcRect l="69" r="69"/>
          <a:stretch>
            <a:fillRect/>
          </a:stretch>
        </p:blipFill>
        <p:spPr>
          <a:xfrm>
            <a:off x="9561830" y="1690370"/>
            <a:ext cx="2144395" cy="36042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algn="l" defTabSz="342900" rtl="0" latinLnBrk="0">
              <a:lnSpc>
                <a:spcPct val="100000"/>
              </a:lnSpc>
              <a:buClrTx/>
              <a:buSzTx/>
              <a:buFontTx/>
              <a:buNone/>
            </a:pPr>
            <a:r>
              <a:rPr kumimoji="0" lang="zh-CN" sz="3600" i="0" u="none" strike="noStrike" cap="none" normalizeH="0" baseline="0">
                <a:ea typeface="微软雅黑" panose="020B0503020204020204" charset="-122"/>
              </a:rPr>
              <a:t>Core Challenges</a:t>
            </a:r>
            <a:endParaRPr kumimoji="0" lang="zh-CN" sz="3600" b="0" i="0" u="none" strike="noStrike" cap="none" normalizeH="0" baseline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7249795" cy="485330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1600" dirty="0"/>
              <a:t>Challenge 1: Compute Paradigm Disruption</a:t>
            </a:r>
            <a:endParaRPr lang="en-US" altLang="zh-CN" sz="1600" dirty="0"/>
          </a:p>
          <a:p>
            <a:pPr lvl="1">
              <a:lnSpc>
                <a:spcPct val="110000"/>
              </a:lnSpc>
            </a:pPr>
            <a:r>
              <a:rPr lang="zh-CN" altLang="en-US" sz="1400" dirty="0"/>
              <a:t>Core issue: single inference evolves into iterative computation</a:t>
            </a:r>
          </a:p>
          <a:p>
            <a:pPr lvl="1">
              <a:lnSpc>
                <a:spcPct val="110000"/>
              </a:lnSpc>
            </a:pPr>
            <a:r>
              <a:rPr lang="zh-CN" altLang="en-US" sz="1400" dirty="0"/>
              <a:t>Non-linear compute explosion: based on </a:t>
            </a:r>
            <a:r>
              <a:rPr lang="en-US" altLang="zh-CN" sz="1400" dirty="0" err="1"/>
              <a:t>ReAct</a:t>
            </a:r>
            <a:r>
              <a:rPr lang="en-US" altLang="zh-CN" sz="1400" dirty="0"/>
              <a:t>, </a:t>
            </a:r>
            <a:r>
              <a:rPr lang="en-US" altLang="zh-CN" sz="1400" dirty="0" err="1"/>
              <a:t>ToT</a:t>
            </a:r>
            <a:r>
              <a:rPr lang="zh-CN" altLang="en-US" sz="1400" dirty="0"/>
              <a:t> and similar frameworks, </a:t>
            </a:r>
            <a:r>
              <a:rPr lang="en-US" altLang="zh-CN" sz="1400" dirty="0"/>
              <a:t>Agent</a:t>
            </a:r>
            <a:r>
              <a:rPr lang="zh-CN" altLang="en-US" sz="1400" dirty="0"/>
              <a:t> adopts the “think</a:t>
            </a:r>
            <a:r>
              <a:rPr lang="en-US" altLang="zh-CN" sz="1400" dirty="0"/>
              <a:t>-</a:t>
            </a:r>
            <a:r>
              <a:rPr lang="zh-CN" altLang="en-US" sz="1400" dirty="0"/>
              <a:t>act</a:t>
            </a:r>
            <a:r>
              <a:rPr lang="en-US" altLang="zh-CN" sz="1400" dirty="0"/>
              <a:t>-</a:t>
            </a:r>
            <a:r>
              <a:rPr lang="zh-CN" altLang="en-US" sz="1400" dirty="0"/>
              <a:t>observe” loop; compute cost per task is tens to hundreds of times that of traditional </a:t>
            </a:r>
            <a:r>
              <a:rPr lang="en-US" altLang="zh-CN" sz="1400" dirty="0"/>
              <a:t>LLM</a:t>
            </a:r>
            <a:r>
              <a:rPr lang="zh-CN" altLang="en-US" sz="1400" dirty="0"/>
              <a:t> single-turn Q&amp;A.</a:t>
            </a:r>
          </a:p>
          <a:p>
            <a:pPr lvl="1">
              <a:lnSpc>
                <a:spcPct val="110000"/>
              </a:lnSpc>
            </a:pPr>
            <a:r>
              <a:rPr lang="zh-CN" altLang="en-US" sz="1400" dirty="0"/>
              <a:t>Compute utilization </a:t>
            </a:r>
            <a:r>
              <a:rPr lang="en-US" altLang="zh-CN" sz="1400" dirty="0"/>
              <a:t>(MFU) </a:t>
            </a:r>
            <a:r>
              <a:rPr lang="zh-CN" altLang="en-US" sz="1400" dirty="0"/>
              <a:t> plummets: multi-step reasoning paths diverge, rely on environment feedback; traditional large </a:t>
            </a:r>
            <a:r>
              <a:rPr lang="en-US" altLang="zh-CN" sz="1400" dirty="0"/>
              <a:t>Batch Size</a:t>
            </a:r>
            <a:r>
              <a:rPr lang="zh-CN" altLang="en-US" sz="1400" dirty="0"/>
              <a:t> optimization fails, causing </a:t>
            </a:r>
            <a:r>
              <a:rPr lang="en-US" altLang="zh-CN" sz="1400" dirty="0"/>
              <a:t>GPU/TPU</a:t>
            </a:r>
            <a:r>
              <a:rPr lang="zh-CN" altLang="en-US" sz="1400" dirty="0"/>
              <a:t> compute to idle with utilization generally below </a:t>
            </a:r>
            <a:r>
              <a:rPr lang="en-US" altLang="zh-CN" sz="1400" dirty="0"/>
              <a:t>15%</a:t>
            </a:r>
            <a:r>
              <a:rPr lang="zh-CN" altLang="en-US" sz="1400" dirty="0"/>
              <a:t>.</a:t>
            </a:r>
            <a:endParaRPr lang="en-US" altLang="zh-CN" sz="1400" dirty="0"/>
          </a:p>
          <a:p>
            <a:pPr>
              <a:lnSpc>
                <a:spcPct val="110000"/>
              </a:lnSpc>
            </a:pPr>
            <a:r>
              <a:rPr lang="zh-CN" altLang="en-US" sz="1600" dirty="0"/>
              <a:t>Challenge 2: Hardware Architecture Bottleneck</a:t>
            </a:r>
            <a:endParaRPr lang="en-US" altLang="zh-CN" sz="1600" dirty="0"/>
          </a:p>
          <a:p>
            <a:pPr lvl="1">
              <a:lnSpc>
                <a:spcPct val="110000"/>
              </a:lnSpc>
            </a:pPr>
            <a:r>
              <a:rPr lang="zh-CN" altLang="en-US" sz="1400" dirty="0"/>
              <a:t>Core issue: physical impact of ultra-long context on memory systems</a:t>
            </a:r>
          </a:p>
          <a:p>
            <a:pPr lvl="1">
              <a:lnSpc>
                <a:spcPct val="110000"/>
              </a:lnSpc>
            </a:pPr>
            <a:r>
              <a:rPr lang="en-US" altLang="zh-CN" sz="1400" dirty="0"/>
              <a:t>KV Cache</a:t>
            </a:r>
            <a:r>
              <a:rPr lang="zh-CN" altLang="en-US" sz="1400" dirty="0"/>
              <a:t> capacity crisis: </a:t>
            </a:r>
            <a:r>
              <a:rPr lang="en-US" altLang="zh-CN" sz="1400" dirty="0"/>
              <a:t>1M+</a:t>
            </a:r>
            <a:r>
              <a:rPr lang="zh-CN" altLang="en-US" sz="1400" dirty="0"/>
              <a:t> context windows instantly exhaust cloud </a:t>
            </a:r>
            <a:r>
              <a:rPr lang="en-US" altLang="zh-CN" sz="1400" dirty="0"/>
              <a:t>GPU</a:t>
            </a:r>
            <a:r>
              <a:rPr lang="zh-CN" altLang="en-US" sz="1400" dirty="0"/>
              <a:t> </a:t>
            </a:r>
            <a:r>
              <a:rPr lang="en-US" altLang="zh-CN" sz="1400" dirty="0"/>
              <a:t>HBM</a:t>
            </a:r>
            <a:r>
              <a:rPr lang="zh-CN" altLang="en-US" sz="1400" dirty="0"/>
              <a:t>; concurrent </a:t>
            </a:r>
            <a:r>
              <a:rPr lang="en-US" altLang="zh-CN" sz="1400" dirty="0"/>
              <a:t>Agent</a:t>
            </a:r>
            <a:r>
              <a:rPr lang="zh-CN" altLang="en-US" sz="1400" dirty="0"/>
              <a:t> count per GPU drops sharply.</a:t>
            </a:r>
          </a:p>
          <a:p>
            <a:pPr lvl="1">
              <a:lnSpc>
                <a:spcPct val="110000"/>
              </a:lnSpc>
            </a:pPr>
            <a:r>
              <a:rPr lang="zh-CN" altLang="en-US" sz="1400" dirty="0"/>
              <a:t>Memory bandwidth bottleneck: frequent </a:t>
            </a:r>
            <a:r>
              <a:rPr lang="en-US" altLang="zh-CN" sz="1400" dirty="0"/>
              <a:t>RAG</a:t>
            </a:r>
            <a:r>
              <a:rPr lang="zh-CN" altLang="en-US" sz="1400" dirty="0"/>
              <a:t> and memory reads shift the bottleneck from compute units to data movement.</a:t>
            </a:r>
          </a:p>
          <a:p>
            <a:pPr lvl="1">
              <a:lnSpc>
                <a:spcPct val="110000"/>
              </a:lnSpc>
            </a:pPr>
            <a:r>
              <a:rPr lang="zh-CN" altLang="en-US" sz="1400" dirty="0"/>
              <a:t>Frontier solutions: software-level </a:t>
            </a:r>
            <a:r>
              <a:rPr lang="en-US" altLang="zh-CN" sz="1400" dirty="0" err="1"/>
              <a:t>PagedAttention</a:t>
            </a:r>
            <a:r>
              <a:rPr lang="zh-CN" altLang="en-US" sz="1400" dirty="0"/>
              <a:t>; hardware-level Processing-in-Memory (PIM) architecture.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300" y="2428996"/>
            <a:ext cx="4024511" cy="309384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algn="l" defTabSz="342900" rtl="0" latinLnBrk="0">
              <a:lnSpc>
                <a:spcPct val="100000"/>
              </a:lnSpc>
              <a:buClrTx/>
              <a:buSzTx/>
              <a:buFontTx/>
              <a:buNone/>
            </a:pPr>
            <a:r>
              <a:rPr kumimoji="0" lang="zh-CN" sz="3600" i="0" u="none" strike="noStrike" cap="none" normalizeH="0" baseline="0">
                <a:ea typeface="微软雅黑" panose="020B0503020204020204" charset="-122"/>
              </a:rPr>
              <a:t>Core Challenges</a:t>
            </a:r>
            <a:endParaRPr kumimoji="0" lang="zh-CN" sz="3600" b="0" i="0" u="none" strike="noStrike" cap="none" normalizeH="0" baseline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864350" cy="4853305"/>
          </a:xfrm>
        </p:spPr>
        <p:txBody>
          <a:bodyPr>
            <a:noAutofit/>
          </a:bodyPr>
          <a:lstStyle/>
          <a:p>
            <a:r>
              <a:rPr lang="zh-CN" altLang="en-US" sz="1600" dirty="0"/>
              <a:t>Challenge 3: Interaction Pipeline Bottleneck</a:t>
            </a:r>
            <a:endParaRPr lang="en-US" altLang="zh-CN" sz="1600" dirty="0"/>
          </a:p>
          <a:p>
            <a:pPr lvl="1"/>
            <a:r>
              <a:rPr lang="zh-CN" altLang="en-US" sz="1400" dirty="0"/>
              <a:t>Core issue: interfaces to the physical world</a:t>
            </a:r>
            <a:r>
              <a:rPr lang="en-US" altLang="zh-CN" sz="1400" dirty="0"/>
              <a:t>/</a:t>
            </a:r>
            <a:r>
              <a:rPr lang="zh-CN" altLang="en-US" sz="1400" dirty="0"/>
              <a:t>external systems have extremely low latency tolerance; millisecond-level delays can cause task failure.</a:t>
            </a:r>
          </a:p>
          <a:p>
            <a:pPr lvl="1"/>
            <a:r>
              <a:rPr lang="zh-CN" altLang="en-US" sz="1400" dirty="0"/>
              <a:t>High-concurrency vs. ultra-low-latency trade-off: embodied AI and voice </a:t>
            </a:r>
            <a:r>
              <a:rPr lang="en-US" altLang="zh-CN" sz="1400" dirty="0"/>
              <a:t>Agent</a:t>
            </a:r>
            <a:r>
              <a:rPr lang="zh-CN" altLang="en-US" sz="1400" dirty="0"/>
              <a:t> demand time-to-first-token </a:t>
            </a:r>
            <a:r>
              <a:rPr lang="en-US" altLang="zh-CN" sz="1400" dirty="0"/>
              <a:t>(TTFT)</a:t>
            </a:r>
            <a:r>
              <a:rPr lang="zh-CN" altLang="en-US" sz="1400" dirty="0"/>
              <a:t> and inter-token latency </a:t>
            </a:r>
            <a:r>
              <a:rPr lang="en-US" altLang="zh-CN" sz="1400" dirty="0"/>
              <a:t>(ITL)</a:t>
            </a:r>
            <a:r>
              <a:rPr lang="zh-CN" altLang="en-US" sz="1400" dirty="0"/>
              <a:t> at millisecond-level limits, beyond the reach of traditional architectures.</a:t>
            </a:r>
          </a:p>
          <a:p>
            <a:pPr lvl="1"/>
            <a:r>
              <a:rPr lang="en-US" altLang="zh-CN" sz="1400" dirty="0"/>
              <a:t>I/O</a:t>
            </a:r>
            <a:r>
              <a:rPr lang="zh-CN" altLang="en-US" sz="1400" dirty="0"/>
              <a:t> blocking causes compute waste: uncontrollable </a:t>
            </a:r>
            <a:r>
              <a:rPr lang="en-US" altLang="zh-CN" sz="1400" dirty="0"/>
              <a:t>I/O</a:t>
            </a:r>
            <a:r>
              <a:rPr lang="zh-CN" altLang="en-US" sz="1400" dirty="0"/>
              <a:t> waits during external tool calls; slow OS context switching causes expensive </a:t>
            </a:r>
            <a:r>
              <a:rPr lang="en-US" altLang="zh-CN" sz="1400" dirty="0"/>
              <a:t>AI</a:t>
            </a:r>
            <a:r>
              <a:rPr lang="zh-CN" altLang="en-US" sz="1400" dirty="0"/>
              <a:t> compute to be wasted idle.</a:t>
            </a:r>
            <a:endParaRPr lang="en-US" altLang="zh-CN" sz="1400" dirty="0"/>
          </a:p>
          <a:p>
            <a:r>
              <a:rPr lang="zh-CN" altLang="en-US" sz="1600" dirty="0"/>
              <a:t>Challenge 4: Compute Distribution Restructuring</a:t>
            </a:r>
            <a:endParaRPr lang="en-US" altLang="zh-CN" sz="1600" dirty="0"/>
          </a:p>
          <a:p>
            <a:pPr lvl="1"/>
            <a:r>
              <a:rPr lang="zh-CN" altLang="en-US" sz="1400" dirty="0"/>
              <a:t>Core issue: compute is no longer confined to a single node; network communication becomes an extension of compute.</a:t>
            </a:r>
          </a:p>
          <a:p>
            <a:pPr lvl="1"/>
            <a:r>
              <a:rPr lang="zh-CN" altLang="en-US" sz="1400" dirty="0"/>
              <a:t>Communication bandwidth equals effective compute: under the “edge sensing, cloud planning” model, seamless context migration critically depends on high-bandwidth, low-latency networks.</a:t>
            </a:r>
          </a:p>
          <a:p>
            <a:pPr lvl="1"/>
            <a:r>
              <a:rPr lang="zh-CN" altLang="en-US" sz="1400" dirty="0"/>
              <a:t>Heterogeneous compute scheduling: tasks must be dynamically partitioned and offloaded across edge </a:t>
            </a:r>
            <a:r>
              <a:rPr lang="en-US" altLang="zh-CN" sz="1400" dirty="0"/>
              <a:t>NPU</a:t>
            </a:r>
            <a:r>
              <a:rPr lang="zh-CN" altLang="en-US" sz="1400" dirty="0"/>
              <a:t>, edge </a:t>
            </a:r>
            <a:r>
              <a:rPr lang="en-US" altLang="zh-CN" sz="1400" dirty="0"/>
              <a:t>CPU</a:t>
            </a:r>
            <a:r>
              <a:rPr lang="zh-CN" altLang="en-US" sz="1400" dirty="0"/>
              <a:t>, and cloud </a:t>
            </a:r>
            <a:r>
              <a:rPr lang="en-US" altLang="zh-CN" sz="1400" dirty="0"/>
              <a:t>GPU</a:t>
            </a:r>
            <a:r>
              <a:rPr lang="zh-CN" altLang="en-US" sz="1400" dirty="0"/>
              <a:t>; intelligent routing mechanisms are urgently needed.</a:t>
            </a:r>
          </a:p>
        </p:txBody>
      </p:sp>
      <p:pic>
        <p:nvPicPr>
          <p:cNvPr id="11" name="图片 10" descr="E:/BAAI/COURSE/template-replacement/images/core-challenges.pngcore-challenges"/>
          <p:cNvPicPr>
            <a:picLocks noChangeAspect="1"/>
          </p:cNvPicPr>
          <p:nvPr/>
        </p:nvPicPr>
        <p:blipFill>
          <a:blip r:embed="rId3"/>
          <a:srcRect t="23" b="23"/>
          <a:stretch>
            <a:fillRect/>
          </a:stretch>
        </p:blipFill>
        <p:spPr>
          <a:xfrm>
            <a:off x="7556846" y="1323770"/>
            <a:ext cx="4600757" cy="472481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4,&quot;left&quot;:27.360000000000003,&quot;top&quot;:92.16,&quot;width&quot;:920.160000000000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4,&quot;left&quot;:27.360000000000003,&quot;top&quot;:92.16,&quot;width&quot;:920.16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4,&quot;left&quot;:27.360000000000003,&quot;top&quot;:92.16,&quot;width&quot;:920.16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4,&quot;left&quot;:27.360000000000003,&quot;top&quot;:92.16,&quot;width&quot;:920.16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4,&quot;left&quot;:27.360000000000003,&quot;top&quot;:92.16,&quot;width&quot;:920.16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4,&quot;left&quot;:27.360000000000003,&quot;top&quot;:92.16,&quot;width&quot;:920.16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4,&quot;left&quot;:27.360000000000003,&quot;top&quot;:92.16,&quot;width&quot;:920.16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4,&quot;left&quot;:27.360000000000003,&quot;top&quot;:92.16,&quot;width&quot;:920.16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4,&quot;left&quot;:27.360000000000003,&quot;top&quot;:92.16,&quot;width&quot;:920.160000000000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4,&quot;left&quot;:27.360000000000003,&quot;top&quot;:92.16,&quot;width&quot;:920.160000000000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4,&quot;left&quot;:27.360000000000003,&quot;top&quot;:92.16,&quot;width&quot;:920.160000000000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4,&quot;left&quot;:27.360000000000003,&quot;top&quot;:92.16,&quot;width&quot;:920.160000000000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4,&quot;left&quot;:27.360000000000003,&quot;top&quot;:92.16,&quot;width&quot;:920.160000000000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4,&quot;left&quot;:27.360000000000003,&quot;top&quot;:92.16,&quot;width&quot;:920.160000000000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4,&quot;left&quot;:27.360000000000003,&quot;top&quot;:92.16,&quot;width&quot;:920.160000000000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4,&quot;left&quot;:27.360000000000003,&quot;top&quot;:92.16,&quot;width&quot;:920.1600000000001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4,&quot;left&quot;:27.360000000000003,&quot;top&quot;:92.16,&quot;width&quot;:920.1600000000001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4,&quot;left&quot;:27.360000000000003,&quot;top&quot;:92.16,&quot;width&quot;:920.1600000000001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1346</Words>
  <Application>Microsoft Office PowerPoint</Application>
  <PresentationFormat>宽屏</PresentationFormat>
  <Paragraphs>149</Paragraphs>
  <Slides>16</Slides>
  <Notes>3</Notes>
  <HiddenSlides>1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Times New Roman Regular</vt:lpstr>
      <vt:lpstr>等线</vt:lpstr>
      <vt:lpstr>微软雅黑</vt:lpstr>
      <vt:lpstr>文泉驿微米黑</vt:lpstr>
      <vt:lpstr>Arial</vt:lpstr>
      <vt:lpstr>Arial Bold</vt:lpstr>
      <vt:lpstr>Calibri</vt:lpstr>
      <vt:lpstr>Calibri Light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48: Emerging Technology Outlook and Course Summary</vt:lpstr>
      <vt:lpstr>Towards Sustainable AI and AGI</vt:lpstr>
      <vt:lpstr>Driving Forces in the Near Future</vt:lpstr>
      <vt:lpstr>Need Design-for-10X AI System &amp; Software</vt:lpstr>
      <vt:lpstr>Hardware Challenges</vt:lpstr>
      <vt:lpstr>Emerging Architectures I</vt:lpstr>
      <vt:lpstr>Emerging Architectures II  &amp;  Outlook</vt:lpstr>
      <vt:lpstr>System-Level Challenges from VLA &amp; WM</vt:lpstr>
      <vt:lpstr>System-Level Challenges from VLA &amp; WM</vt:lpstr>
      <vt:lpstr>Differences between Agents and Traditional LLMs</vt:lpstr>
      <vt:lpstr>Core Challenges</vt:lpstr>
      <vt:lpstr>Core Challenges</vt:lpstr>
      <vt:lpstr>The Solution: FlagOS, a Unified AI Software Stack</vt:lpstr>
      <vt:lpstr>PowerPoint 演示文稿</vt:lpstr>
      <vt:lpstr>Thanks for your time！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10：注意力机制 原理与算子需求</dc:title>
  <dc:creator>王丰</dc:creator>
  <cp:lastModifiedBy>Xiang Li</cp:lastModifiedBy>
  <cp:revision>30</cp:revision>
  <dcterms:created xsi:type="dcterms:W3CDTF">2026-03-17T03:43:00Z</dcterms:created>
  <dcterms:modified xsi:type="dcterms:W3CDTF">2026-03-17T14:55:29Z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73a59436b4354da09f2a1aff800eacb2_23</vt:lpwstr>
  </property>
  <property fmtid="{D5CDD505-2E9C-101B-9397-08002B2CF9AE}" pid="3" name="KSOProductBuildVer">
    <vt:lpwstr>2052-12.1.0.19302</vt:lpwstr>
  </property>
</Properties>
</file>