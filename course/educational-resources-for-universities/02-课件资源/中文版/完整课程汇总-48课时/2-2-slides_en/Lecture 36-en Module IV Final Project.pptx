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2.xml" ContentType="application/vnd.openxmlformats-officedocument.theme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337" r:id="rId2"/>
    <p:sldId id="256" r:id="rId3"/>
    <p:sldId id="259" r:id="rId4"/>
    <p:sldId id="260" r:id="rId5"/>
    <p:sldId id="261" r:id="rId6"/>
    <p:sldId id="262" r:id="rId7"/>
    <p:sldId id="263" r:id="rId8"/>
    <p:sldId id="277" r:id="rId9"/>
    <p:sldId id="279" r:id="rId10"/>
    <p:sldId id="280" r:id="rId11"/>
  </p:sldIdLst>
  <p:sldSz cx="12192000" cy="6858000"/>
  <p:notesSz cx="6858000" cy="12192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章 嘉玺" initials="章" lastIdx="1" clrIdx="0"/>
  <p:cmAuthor id="2" name="webuser" initials="webuser" lastIdx="2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83DEB3A-1B30-4ED8-929D-D4389515C9ED}" styleName="补充样式1">
    <a:wholeTbl>
      <a:tcTxStyle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rgbClr val="8B0012"/>
              </a:solidFill>
            </a:ln>
          </a:top>
          <a:bottom>
            <a:ln w="19050" cmpd="sng">
              <a:solidFill>
                <a:srgbClr val="8B001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rgbClr val="8B0012">
              <a:lumMod val="10001"/>
              <a:lumOff val="89999"/>
            </a:srgbClr>
          </a:solidFill>
        </a:fill>
      </a:tcStyle>
    </a:band2H>
    <a:band1V>
      <a:tcStyle>
        <a:tcBdr/>
        <a:fill>
          <a:solidFill>
            <a:srgbClr val="8B0012">
              <a:lumMod val="10001"/>
              <a:lumOff val="89999"/>
            </a:srgbClr>
          </a:solidFill>
        </a:fill>
      </a:tcStyle>
    </a:band1V>
    <a:lastCol>
      <a:tcTxStyle b="on">
        <a:fontRef idx="none">
          <a:srgbClr val="08090C"/>
        </a:fontRef>
      </a:tcTxStyle>
      <a:tcStyle>
        <a:tcBdr/>
        <a:fill>
          <a:solidFill>
            <a:srgbClr val="8B0012">
              <a:lumMod val="20002"/>
              <a:lumOff val="79998"/>
            </a:srgbClr>
          </a:solidFill>
        </a:fill>
      </a:tcStyle>
    </a:lastCol>
    <a:firstCol>
      <a:tcTxStyle b="on">
        <a:fontRef idx="none">
          <a:srgbClr val="8B0012"/>
        </a:fontRef>
      </a:tcTxStyle>
      <a:tcStyle>
        <a:tcBdr/>
        <a:fill>
          <a:solidFill>
            <a:srgbClr val="8B0012">
              <a:lumMod val="20002"/>
              <a:lumOff val="79998"/>
            </a:srgbClr>
          </a:solidFill>
        </a:fill>
      </a:tcStyle>
    </a:firstCol>
    <a:lastRow>
      <a:tcTxStyle b="on">
        <a:fontRef idx="none">
          <a:srgbClr val="8B0012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rgbClr val="8B0012"/>
              </a:solidFill>
            </a:ln>
          </a:top>
          <a:bottom>
            <a:ln w="12700" cmpd="sng">
              <a:solidFill>
                <a:srgbClr val="8B001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firstRow>
      <a:tcTxStyle b="on">
        <a:fontRef idx="none">
          <a:srgbClr val="8B0012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9050" cmpd="sng">
              <a:solidFill>
                <a:srgbClr val="8B0012"/>
              </a:solidFill>
            </a:ln>
          </a:top>
          <a:bottom>
            <a:ln w="9525" cmpd="sng">
              <a:solidFill>
                <a:srgbClr val="8B001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2442" autoAdjust="0"/>
  </p:normalViewPr>
  <p:slideViewPr>
    <p:cSldViewPr snapToGrid="0" snapToObjects="1">
      <p:cViewPr varScale="1">
        <p:scale>
          <a:sx n="50" d="100"/>
          <a:sy n="50" d="100"/>
        </p:scale>
        <p:origin x="1032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10" Type="http://schemas.openxmlformats.org/officeDocument/2006/relationships/slideMaster" Target="../slideMasters/slideMaster1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幻灯片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>
    <p:fade/>
  </p:transition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48643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48644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48645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4" y="1323975"/>
            <a:ext cx="11277601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3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05043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0" name="内容占位符 3"/>
          <p:cNvSpPr>
            <a:spLocks noGrp="1"/>
          </p:cNvSpPr>
          <p:nvPr>
            <p:ph sz="quarter" idx="13" hasCustomPrompt="1"/>
          </p:nvPr>
        </p:nvSpPr>
        <p:spPr>
          <a:xfrm>
            <a:off x="523873" y="1323976"/>
            <a:ext cx="5591177" cy="4852988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1" name="页脚占位符 3"/>
          <p:cNvSpPr>
            <a:spLocks noGrp="1"/>
          </p:cNvSpPr>
          <p:nvPr>
            <p:ph type="ftr" sz="quarter" idx="11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050442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6210297" y="1323977"/>
            <a:ext cx="5591177" cy="4856162"/>
          </a:xfrm>
        </p:spPr>
        <p:txBody>
          <a:bodyPr anchor="t"/>
          <a:lstStyle>
            <a:lvl1pPr algn="l"/>
            <a:lvl2pPr algn="l">
              <a:buSzPct val="75000"/>
              <a:buFont typeface="文泉驿微米黑" panose="020B0606030804020204" charset="-122"/>
              <a:buChar char="♦"/>
            </a:lvl2pPr>
            <a:lvl3pPr algn="l">
              <a:buFont typeface="文泉驿微米黑" panose="020B0606030804020204" charset="-122"/>
              <a:buChar char="▶"/>
            </a:lvl3pPr>
            <a:lvl4pPr algn="l">
              <a:buFont typeface="文泉驿微米黑" panose="020B0606030804020204" charset="-122"/>
              <a:buChar char="●"/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443" name="标题 1"/>
          <p:cNvSpPr>
            <a:spLocks noGrp="1"/>
          </p:cNvSpPr>
          <p:nvPr>
            <p:ph type="title"/>
          </p:nvPr>
        </p:nvSpPr>
        <p:spPr>
          <a:xfrm>
            <a:off x="666749" y="457201"/>
            <a:ext cx="2771775" cy="5719762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 dirty="0"/>
          </a:p>
        </p:txBody>
      </p:sp>
      <p:sp>
        <p:nvSpPr>
          <p:cNvPr id="1050444" name="幻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sp>
        <p:nvSpPr>
          <p:cNvPr id="1050445" name="内容占位符 3"/>
          <p:cNvSpPr>
            <a:spLocks noGrp="1"/>
          </p:cNvSpPr>
          <p:nvPr>
            <p:ph sz="quarter" idx="14" hasCustomPrompt="1"/>
          </p:nvPr>
        </p:nvSpPr>
        <p:spPr>
          <a:xfrm>
            <a:off x="3657600" y="457201"/>
            <a:ext cx="8001000" cy="5719763"/>
          </a:xfrm>
        </p:spPr>
        <p:txBody>
          <a:bodyPr anchor="t"/>
          <a:lstStyle>
            <a:lvl1pPr algn="l"/>
            <a:lvl2pPr algn="l"/>
            <a:lvl3pPr algn="l"/>
            <a:lvl4pPr algn="l"/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50446" name="页脚占位符 3"/>
          <p:cNvSpPr>
            <a:spLocks noGrp="1"/>
          </p:cNvSpPr>
          <p:nvPr>
            <p:ph type="ftr" sz="quarter" idx="15"/>
          </p:nvPr>
        </p:nvSpPr>
        <p:spPr>
          <a:xfrm>
            <a:off x="523873" y="6356351"/>
            <a:ext cx="11277601" cy="365125"/>
          </a:xfrm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内容占位符 2"/>
          <p:cNvSpPr>
            <a:spLocks noGrp="1"/>
          </p:cNvSpPr>
          <p:nvPr>
            <p:ph sz="quarter" idx="10" hasCustomPrompt="1"/>
            <p:custDataLst>
              <p:tags r:id="rId1"/>
            </p:custDataLst>
          </p:nvPr>
        </p:nvSpPr>
        <p:spPr>
          <a:xfrm>
            <a:off x="5452216" y="0"/>
            <a:ext cx="6110447" cy="6858000"/>
          </a:xfrm>
        </p:spPr>
        <p:txBody>
          <a:bodyPr anchor="ctr"/>
          <a:lstStyle>
            <a:lvl1pPr algn="l">
              <a:lnSpc>
                <a:spcPct val="100000"/>
              </a:lnSpc>
              <a:spcBef>
                <a:spcPts val="3000"/>
              </a:spcBef>
              <a:defRPr sz="2800" baseline="0">
                <a:latin typeface="Ebrima" panose="02000000000000000000" charset="0"/>
              </a:defRPr>
            </a:lvl1pPr>
            <a:lvl2pPr algn="l">
              <a:lnSpc>
                <a:spcPct val="100000"/>
              </a:lnSpc>
              <a:defRPr sz="2400" baseline="0">
                <a:latin typeface="Ebrima" panose="02000000000000000000" charset="0"/>
              </a:defRPr>
            </a:lvl2pPr>
            <a:lvl3pPr algn="l">
              <a:lnSpc>
                <a:spcPct val="100000"/>
              </a:lnSpc>
              <a:defRPr sz="2000" baseline="0">
                <a:latin typeface="Ebrima" panose="02000000000000000000" charset="0"/>
              </a:defRPr>
            </a:lvl3pPr>
            <a:lvl4pPr algn="l">
              <a:lnSpc>
                <a:spcPct val="100000"/>
              </a:lnSpc>
              <a:defRPr sz="1600" baseline="0">
                <a:latin typeface="Ebrima" panose="02000000000000000000" charset="0"/>
              </a:defRPr>
            </a:lvl4pPr>
          </a:lstStyle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grpSp>
        <p:nvGrpSpPr>
          <p:cNvPr id="83" name="Group 7"/>
          <p:cNvGrpSpPr/>
          <p:nvPr/>
        </p:nvGrpSpPr>
        <p:grpSpPr>
          <a:xfrm>
            <a:off x="3057633" y="31667"/>
            <a:ext cx="9134367" cy="6838951"/>
            <a:chOff x="-4763" y="9525"/>
            <a:chExt cx="9032249" cy="6838951"/>
          </a:xfrm>
          <a:solidFill>
            <a:srgbClr val="549E39"/>
          </a:solidFill>
        </p:grpSpPr>
        <p:sp>
          <p:nvSpPr>
            <p:cNvPr id="1048651" name="Line 16"/>
            <p:cNvSpPr>
              <a:spLocks noChangeShapeType="1"/>
            </p:cNvSpPr>
            <p:nvPr>
              <p:custDataLst>
                <p:tags r:id="rId3"/>
              </p:custData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</a:ln>
          </p:spPr>
        </p:sp>
        <p:grpSp>
          <p:nvGrpSpPr>
            <p:cNvPr id="84" name="Group 9"/>
            <p:cNvGrpSpPr/>
            <p:nvPr/>
          </p:nvGrpSpPr>
          <p:grpSpPr>
            <a:xfrm>
              <a:off x="8428998" y="4867275"/>
              <a:ext cx="598488" cy="1981201"/>
              <a:chOff x="11441112" y="4867275"/>
              <a:chExt cx="598488" cy="1981201"/>
            </a:xfrm>
            <a:grpFill/>
          </p:grpSpPr>
          <p:sp>
            <p:nvSpPr>
              <p:cNvPr id="1048652" name="Freeform 35"/>
              <p:cNvSpPr/>
              <p:nvPr>
                <p:custDataLst>
                  <p:tags r:id="rId4"/>
                </p:custDataLst>
              </p:nvPr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3" name="Freeform 36"/>
              <p:cNvSpPr>
                <a:spLocks noEditPoint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4" name="Freeform 38"/>
              <p:cNvSpPr>
                <a:spLocks noEditPoints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5" name="Freeform 39"/>
              <p:cNvSpPr/>
              <p:nvPr>
                <p:custDataLst>
                  <p:tags r:id="rId7"/>
                </p:custDataLst>
              </p:nvPr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6" name="Freeform 40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</p:sp>
          <p:sp>
            <p:nvSpPr>
              <p:cNvPr id="1048657" name="Rectangle 41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</p:spPr>
          </p:sp>
        </p:grpSp>
      </p:grpSp>
      <p:sp>
        <p:nvSpPr>
          <p:cNvPr id="1048658" name="内容占位符 22"/>
          <p:cNvSpPr>
            <a:spLocks noGrp="1"/>
          </p:cNvSpPr>
          <p:nvPr>
            <p:ph sz="quarter" idx="11" hasCustomPrompt="1"/>
            <p:custDataLst>
              <p:tags r:id="rId2"/>
            </p:custDataLst>
          </p:nvPr>
        </p:nvSpPr>
        <p:spPr>
          <a:xfrm>
            <a:off x="0" y="0"/>
            <a:ext cx="4659313" cy="6858000"/>
          </a:xfrm>
          <a:solidFill>
            <a:srgbClr val="8B001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32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Outline</a:t>
            </a:r>
            <a:endParaRPr lang="zh-CN" alt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named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</p:spPr>
        <p:txBody>
          <a:bodyPr/>
          <a:lstStyle>
            <a:lvl1pPr algn="ctr">
              <a:defRPr lang="zh-CN" altLang="en-US" sz="2400" b="0" i="0" kern="1200" baseline="0" smtClean="0">
                <a:solidFill>
                  <a:schemeClr val="tx1">
                    <a:lumMod val="85000"/>
                    <a:lumOff val="15000"/>
                  </a:schemeClr>
                </a:solidFill>
                <a:latin typeface="Calibri Light" panose="020F0302020204030204" pitchFamily="34" charset="0"/>
                <a:ea typeface="微软雅黑" panose="020B0503020204020204" charset="-122"/>
                <a:cs typeface="Calibri Light" panose="020F030202020403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标题 1"/>
          <p:cNvSpPr>
            <a:spLocks noGrp="1"/>
          </p:cNvSpPr>
          <p:nvPr>
            <p:ph type="ctrTitle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spcBef>
                <a:spcPts val="1500"/>
              </a:spcBef>
              <a:defRPr sz="5100" b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6" name="副标题 2"/>
          <p:cNvSpPr>
            <a:spLocks noGrp="1"/>
          </p:cNvSpPr>
          <p:nvPr>
            <p:ph type="subTitle" idx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24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727587" y="1622323"/>
            <a:ext cx="10943800" cy="3028335"/>
          </a:xfrm>
        </p:spPr>
        <p:txBody>
          <a:bodyPr anchor="ctr">
            <a:no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7839031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/>
          <a:p>
            <a:endParaRPr kumimoji="1" lang="ko-KR" altLang="en-US"/>
          </a:p>
        </p:txBody>
      </p:sp>
      <p:sp>
        <p:nvSpPr>
          <p:cNvPr id="4" name="제목 1"/>
          <p:cNvSpPr>
            <a:spLocks noGrp="1"/>
          </p:cNvSpPr>
          <p:nvPr>
            <p:ph type="ctrTitle" hasCustomPrompt="1"/>
          </p:nvPr>
        </p:nvSpPr>
        <p:spPr>
          <a:xfrm>
            <a:off x="3136489" y="3716594"/>
            <a:ext cx="8534897" cy="2664541"/>
          </a:xfrm>
        </p:spPr>
        <p:txBody>
          <a:bodyPr anchor="ctr">
            <a:noAutofit/>
          </a:bodyPr>
          <a:lstStyle>
            <a:lvl1pPr algn="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lang="en-US" altLang="en-US" sz="4400" b="0" i="0" kern="1200">
                <a:solidFill>
                  <a:schemeClr val="tx2"/>
                </a:solidFill>
                <a:latin typeface="Montserrat SemiBold" panose="00000700000000000000" pitchFamily="2" charset="0"/>
                <a:ea typeface="Pretendard" panose="02000503000000020004" pitchFamily="2" charset="-127"/>
                <a:cs typeface="Pretendard" panose="02000503000000020004" pitchFamily="2" charset="-127"/>
              </a:defRPr>
            </a:lvl1pPr>
          </a:lstStyle>
          <a:p>
            <a:r>
              <a:rPr kumimoji="1" lang="ko-KR" altLang="en-US"/>
              <a:t>마스터 제목 스타일 편집</a:t>
            </a:r>
            <a:endParaRPr kumimoji="1" lang="en-US" altLang="en-US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3152551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13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文本占位符 2"/>
          <p:cNvSpPr>
            <a:spLocks noGrp="1"/>
          </p:cNvSpPr>
          <p:nvPr>
            <p:ph type="body" idx="1"/>
          </p:nvPr>
        </p:nvSpPr>
        <p:spPr>
          <a:xfrm>
            <a:off x="523874" y="1323975"/>
            <a:ext cx="11277601" cy="4832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</p:txBody>
      </p:sp>
      <p:sp>
        <p:nvSpPr>
          <p:cNvPr id="1048638" name="标题占位符 1"/>
          <p:cNvSpPr>
            <a:spLocks noGrp="1"/>
          </p:cNvSpPr>
          <p:nvPr>
            <p:ph type="title"/>
          </p:nvPr>
        </p:nvSpPr>
        <p:spPr>
          <a:xfrm>
            <a:off x="741404" y="431629"/>
            <a:ext cx="9987507" cy="7009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048639" name="页脚占位符 4"/>
          <p:cNvSpPr>
            <a:spLocks noGrp="1"/>
          </p:cNvSpPr>
          <p:nvPr>
            <p:ph type="ftr" sz="quarter" idx="3"/>
          </p:nvPr>
        </p:nvSpPr>
        <p:spPr>
          <a:xfrm>
            <a:off x="523874" y="6356351"/>
            <a:ext cx="1127760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accent3"/>
                </a:solidFill>
                <a:latin typeface="Garamond" panose="02020404030301010803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048640" name="Freeform 5"/>
          <p:cNvSpPr/>
          <p:nvPr/>
        </p:nvSpPr>
        <p:spPr bwMode="auto">
          <a:xfrm flipV="1">
            <a:off x="-4185" y="529393"/>
            <a:ext cx="564624" cy="507999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rgbClr val="8B0012"/>
          </a:solidFill>
          <a:ln>
            <a:noFill/>
          </a:ln>
        </p:spPr>
        <p:txBody>
          <a:bodyPr/>
          <a:lstStyle/>
          <a:p>
            <a:endParaRPr lang="en-US" sz="1350" dirty="0"/>
          </a:p>
        </p:txBody>
      </p:sp>
      <p:sp>
        <p:nvSpPr>
          <p:cNvPr id="104864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" y="593458"/>
            <a:ext cx="4190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0" baseline="0">
                <a:solidFill>
                  <a:schemeClr val="bg1"/>
                </a:solidFill>
                <a:latin typeface="Garamond" panose="02020404030301010803" charset="0"/>
                <a:ea typeface="微软雅黑" panose="020B0503020204020204" charset="-122"/>
                <a:cs typeface="Calibri" panose="020F0502020204030204" charset="0"/>
              </a:defRPr>
            </a:lvl1pPr>
          </a:lstStyle>
          <a:p>
            <a:fld id="{B33F7469-D28B-482F-B1B6-3B8E7CF51519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2" name="组合 1"/>
          <p:cNvGrpSpPr/>
          <p:nvPr/>
        </p:nvGrpSpPr>
        <p:grpSpPr>
          <a:xfrm>
            <a:off x="9221415" y="158476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15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fade/>
  </p:transition>
  <p:hf hdr="0" dt="0"/>
  <p:txStyles>
    <p:titleStyle>
      <a:lvl1pPr algn="l" defTabSz="342900" rtl="0" eaLnBrk="1" latinLnBrk="0" hangingPunct="1">
        <a:spcBef>
          <a:spcPct val="0"/>
        </a:spcBef>
        <a:buNone/>
        <a:defRPr lang="zh-CN" altLang="en-US" sz="3600" b="0" i="0" kern="1200" baseline="0" dirty="0">
          <a:solidFill>
            <a:schemeClr val="tx1">
              <a:lumMod val="85000"/>
              <a:lumOff val="15000"/>
            </a:schemeClr>
          </a:solidFill>
          <a:latin typeface="Calibri" panose="020F0502020204030204" charset="0"/>
          <a:ea typeface="微软雅黑" panose="020B0503020204020204" charset="-122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60045" marR="0" indent="-360045" algn="l" defTabSz="342900" rtl="0" eaLnBrk="1" fontAlgn="auto" latinLnBrk="0" hangingPunct="1">
        <a:lnSpc>
          <a:spcPct val="100000"/>
        </a:lnSpc>
        <a:spcBef>
          <a:spcPts val="150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■"/>
        <a:defRPr sz="2400" b="0" i="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1pPr>
      <a:lvl2pPr marL="557530" marR="0" indent="-21463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Pct val="75000"/>
        <a:buFont typeface="文泉驿微米黑" panose="020B0606030804020204" charset="-122"/>
        <a:buChar char="♦"/>
        <a:defRPr sz="20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2pPr>
      <a:lvl3pPr marL="8572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▶"/>
        <a:defRPr sz="16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3pPr>
      <a:lvl4pPr marL="12001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8B0012"/>
        </a:buClr>
        <a:buSzTx/>
        <a:buFont typeface="文泉驿微米黑" panose="020B0606030804020204" charset="-122"/>
        <a:buChar char="●"/>
        <a:defRPr sz="1200" kern="1200" baseline="0">
          <a:solidFill>
            <a:schemeClr val="tx1">
              <a:lumMod val="75000"/>
              <a:lumOff val="25000"/>
            </a:schemeClr>
          </a:solidFill>
          <a:latin typeface="Calibri" panose="020F0502020204030204" charset="0"/>
          <a:ea typeface="微软雅黑" panose="020B0503020204020204" charset="-122"/>
          <a:cs typeface="+mn-cs"/>
        </a:defRPr>
      </a:lvl4pPr>
      <a:lvl5pPr marL="1543050" marR="0" indent="-171450" algn="l" defTabSz="342900" rtl="0" eaLnBrk="1" fontAlgn="auto" latinLnBrk="0" hangingPunct="1">
        <a:lnSpc>
          <a:spcPct val="100000"/>
        </a:lnSpc>
        <a:spcBef>
          <a:spcPts val="750"/>
        </a:spcBef>
        <a:spcAft>
          <a:spcPts val="0"/>
        </a:spcAft>
        <a:buClr>
          <a:srgbClr val="549E39"/>
        </a:buClr>
        <a:buSzTx/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13" Type="http://schemas.openxmlformats.org/officeDocument/2006/relationships/tags" Target="../tags/tag23.xml"/><Relationship Id="rId18" Type="http://schemas.openxmlformats.org/officeDocument/2006/relationships/image" Target="../media/image7.png"/><Relationship Id="rId26" Type="http://schemas.openxmlformats.org/officeDocument/2006/relationships/hyperlink" Target="https://www.zhihu.com/people/95-22-20-18/posts" TargetMode="External"/><Relationship Id="rId3" Type="http://schemas.openxmlformats.org/officeDocument/2006/relationships/tags" Target="../tags/tag13.xml"/><Relationship Id="rId21" Type="http://schemas.openxmlformats.org/officeDocument/2006/relationships/image" Target="../media/image10.png"/><Relationship Id="rId7" Type="http://schemas.openxmlformats.org/officeDocument/2006/relationships/tags" Target="../tags/tag17.xml"/><Relationship Id="rId12" Type="http://schemas.openxmlformats.org/officeDocument/2006/relationships/tags" Target="../tags/tag22.xml"/><Relationship Id="rId17" Type="http://schemas.openxmlformats.org/officeDocument/2006/relationships/slideLayout" Target="../slideLayouts/slideLayout6.xml"/><Relationship Id="rId25" Type="http://schemas.openxmlformats.org/officeDocument/2006/relationships/hyperlink" Target="https://space.bilibili.com/3546791834290849" TargetMode="External"/><Relationship Id="rId2" Type="http://schemas.openxmlformats.org/officeDocument/2006/relationships/tags" Target="../tags/tag12.xml"/><Relationship Id="rId16" Type="http://schemas.openxmlformats.org/officeDocument/2006/relationships/tags" Target="../tags/tag26.xml"/><Relationship Id="rId20" Type="http://schemas.openxmlformats.org/officeDocument/2006/relationships/image" Target="../media/image9.png"/><Relationship Id="rId29" Type="http://schemas.openxmlformats.org/officeDocument/2006/relationships/image" Target="../media/image14.png"/><Relationship Id="rId1" Type="http://schemas.openxmlformats.org/officeDocument/2006/relationships/tags" Target="../tags/tag11.xml"/><Relationship Id="rId6" Type="http://schemas.openxmlformats.org/officeDocument/2006/relationships/tags" Target="../tags/tag16.xml"/><Relationship Id="rId11" Type="http://schemas.openxmlformats.org/officeDocument/2006/relationships/tags" Target="../tags/tag21.xml"/><Relationship Id="rId24" Type="http://schemas.openxmlformats.org/officeDocument/2006/relationships/hyperlink" Target="https://github.com/flagos-ai" TargetMode="External"/><Relationship Id="rId5" Type="http://schemas.openxmlformats.org/officeDocument/2006/relationships/tags" Target="../tags/tag15.xml"/><Relationship Id="rId15" Type="http://schemas.openxmlformats.org/officeDocument/2006/relationships/tags" Target="../tags/tag25.xml"/><Relationship Id="rId23" Type="http://schemas.openxmlformats.org/officeDocument/2006/relationships/image" Target="../media/image12.png"/><Relationship Id="rId28" Type="http://schemas.openxmlformats.org/officeDocument/2006/relationships/image" Target="../media/image13.jpeg"/><Relationship Id="rId10" Type="http://schemas.openxmlformats.org/officeDocument/2006/relationships/tags" Target="../tags/tag20.xml"/><Relationship Id="rId19" Type="http://schemas.openxmlformats.org/officeDocument/2006/relationships/image" Target="../media/image8.png"/><Relationship Id="rId4" Type="http://schemas.openxmlformats.org/officeDocument/2006/relationships/tags" Target="../tags/tag14.xml"/><Relationship Id="rId9" Type="http://schemas.openxmlformats.org/officeDocument/2006/relationships/tags" Target="../tags/tag19.xml"/><Relationship Id="rId14" Type="http://schemas.openxmlformats.org/officeDocument/2006/relationships/tags" Target="../tags/tag24.xml"/><Relationship Id="rId22" Type="http://schemas.openxmlformats.org/officeDocument/2006/relationships/image" Target="../media/image11.png"/><Relationship Id="rId27" Type="http://schemas.openxmlformats.org/officeDocument/2006/relationships/hyperlink" Target="https://flagos.io/Home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개체 틀 3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350" b="350"/>
          <a:stretch>
            <a:fillRect/>
          </a:stretch>
        </p:blipFill>
        <p:spPr>
          <a:xfrm>
            <a:off x="0" y="1"/>
            <a:ext cx="12192000" cy="6858000"/>
          </a:xfrm>
        </p:spPr>
      </p:pic>
      <p:sp>
        <p:nvSpPr>
          <p:cNvPr id="6" name="제목 5"/>
          <p:cNvSpPr>
            <a:spLocks noGrp="1"/>
          </p:cNvSpPr>
          <p:nvPr>
            <p:ph type="ctrTitle"/>
          </p:nvPr>
        </p:nvSpPr>
        <p:spPr>
          <a:xfrm>
            <a:off x="727710" y="1622425"/>
            <a:ext cx="5553710" cy="3028315"/>
          </a:xfrm>
        </p:spPr>
        <p:txBody>
          <a:bodyPr/>
          <a:lstStyle/>
          <a:p>
            <a:pPr algn="l"/>
            <a:r>
              <a:rPr lang="en-US" altLang="zh-CN" sz="4000">
                <a:latin typeface="+mj-cs"/>
                <a:cs typeface="+mj-cs"/>
              </a:rPr>
              <a:t>Hardware and Software Fundamentals of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Intelligent Computing </a:t>
            </a:r>
            <a:br>
              <a:rPr lang="en-US" altLang="zh-CN" sz="4000">
                <a:latin typeface="+mj-cs"/>
                <a:cs typeface="+mj-cs"/>
              </a:rPr>
            </a:br>
            <a:r>
              <a:rPr lang="en-US" altLang="zh-CN" sz="4000">
                <a:latin typeface="+mj-cs"/>
                <a:cs typeface="+mj-cs"/>
              </a:rPr>
              <a:t>Systems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364100" y="6255612"/>
            <a:ext cx="409904" cy="409904"/>
            <a:chOff x="11591418" y="6255612"/>
            <a:chExt cx="409904" cy="409904"/>
          </a:xfrm>
        </p:grpSpPr>
        <p:sp>
          <p:nvSpPr>
            <p:cNvPr id="10" name="타원 9"/>
            <p:cNvSpPr/>
            <p:nvPr/>
          </p:nvSpPr>
          <p:spPr>
            <a:xfrm>
              <a:off x="11591418" y="6255612"/>
              <a:ext cx="409904" cy="40990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sp>
          <p:nvSpPr>
            <p:cNvPr id="11" name="갈매기형 수장[C] 10"/>
            <p:cNvSpPr/>
            <p:nvPr/>
          </p:nvSpPr>
          <p:spPr>
            <a:xfrm>
              <a:off x="11732864" y="6397058"/>
              <a:ext cx="127012" cy="127012"/>
            </a:xfrm>
            <a:prstGeom prst="chevron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3" name="图片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sym typeface="+mn-ea"/>
              </a:rPr>
              <a:t>Lecture 36：Module IV Final Project</a:t>
            </a:r>
            <a:br>
              <a:rPr lang="en-US" altLang="en-US">
                <a:sym typeface="+mn-ea"/>
              </a:rPr>
            </a:br>
            <a:r>
              <a:rPr lang="en-US" altLang="en-US">
                <a:sym typeface="+mn-ea"/>
              </a:rPr>
              <a:t>(7B Model Multi-Node Distributed Training)</a:t>
            </a:r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Course Projects Overview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3</a:t>
            </a:fld>
            <a:endParaRPr lang="en-US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6" name="表格 5"/>
          <p:cNvGraphicFramePr/>
          <p:nvPr/>
        </p:nvGraphicFramePr>
        <p:xfrm>
          <a:off x="215900" y="1318604"/>
          <a:ext cx="11760200" cy="5173345"/>
        </p:xfrm>
        <a:graphic>
          <a:graphicData uri="http://schemas.openxmlformats.org/drawingml/2006/table">
            <a:tbl>
              <a:tblPr firstRow="1">
                <a:tableStyleId>{F83DEB3A-1B30-4ED8-929D-D4389515C9ED}</a:tableStyleId>
              </a:tblPr>
              <a:tblGrid>
                <a:gridCol w="1196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9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66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11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/>
                        <a:t>Lecture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/>
                        <a:t>Project Name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/>
                        <a:t>Type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600" b="1" spc="120"/>
                        <a:t>Key Assessment Criteria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5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Environment Setup and Toolchain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Lab Session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Four-Phase Operational Verification + + Lab Report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79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9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Softmax Kernel (Midterm)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Individual Project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Correctness 40pts + Performance70% Threshold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18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RMSNorm+Residual  Fusion (Final)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Individual Project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Performance must reach FlagGems Benchmark 90%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27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FlagTree Pass  Contribution (Final)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Individual Project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Choose from 3 directions, FileCheck Test Verification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2795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36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7B  Multi-Node Distributed Training (Final)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3-Person Team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Comparison of 3 Parallelism Strategies + + Linear Speedup Ratio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46-47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Capstone Project Defense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Group Defense</a:t>
                      </a:r>
                    </a:p>
                  </a:txBody>
                  <a:tcPr marL="177800" marR="177800" marT="107950" marB="10795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en-US" sz="1400" b="0" spc="120"/>
                        <a:t>Proposal Feasibility + + Authenticity of Progress</a:t>
                      </a:r>
                    </a:p>
                  </a:txBody>
                  <a:tcPr marL="177800" marR="177800" marT="107950" marB="10795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Project Overview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4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 sz="2000"/>
              <a:t>Project Background</a:t>
            </a:r>
          </a:p>
          <a:p>
            <a:pPr lvl="1"/>
            <a:r>
              <a:rPr lang="en-US" altLang="en-US" sz="1800"/>
              <a:t>Large-scale language model training is a comprehensive test of distributed systems engineering. This project requires students to work in  3 -person teams, using  FlagScale  and  FlagCX  to deploy a training task on a multi-node  GPU  GPU cluster with a  7B -parameter  LLM (e.g.,  LLaMA-2-7B  or equivalent architecture), and conduct in-depth analysis of parallelism strategies' impact on throughput, GPU memory usage, and communication overhead.</a:t>
            </a:r>
          </a:p>
          <a:p>
            <a:r>
              <a:rPr lang="en-US" altLang="en-US" sz="2000"/>
              <a:t>Project Objectives</a:t>
            </a:r>
          </a:p>
          <a:p>
            <a:pPr lvl="1"/>
            <a:r>
              <a:rPr lang="en-US" altLang="en-US" sz="1800"/>
              <a:t>Successfully launch distributed training on  2  or more nodes (each with  ≥ 8 GPU GPUs)</a:t>
            </a:r>
          </a:p>
          <a:p>
            <a:pPr lvl="1"/>
            <a:r>
              <a:rPr lang="en-US" altLang="en-US" sz="1800"/>
              <a:t>Configure and compare at least two parallelism strategy combinations (e.g.,  DP=8 vs TP=4+PP=2）</a:t>
            </a:r>
          </a:p>
          <a:p>
            <a:pPr lvl="1"/>
            <a:r>
              <a:rPr lang="en-US" altLang="en-US" sz="1800"/>
              <a:t>Use  FlagCX  to replace the default communication backend, record communication performance changes</a:t>
            </a:r>
          </a:p>
          <a:p>
            <a:pPr lvl="1"/>
            <a:r>
              <a:rPr lang="en-US" altLang="en-US" sz="1800"/>
              <a:t>Measure and report: training throughput (tokens/s/GPU), linear speedup ratio, peak GPU memory</a:t>
            </a:r>
          </a:p>
          <a:p>
            <a:pPr lvl="1"/>
            <a:r>
              <a:rPr lang="en-US" altLang="en-US" sz="1800"/>
              <a:t>(Advanced) Simulate node failure and verify  Checkpoint  recovery functionality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Required Task Breakdown - 1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5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Task 1: Environment Deployment and Cluster Configuration</a:t>
            </a:r>
          </a:p>
          <a:p>
            <a:pPr lvl="1"/>
            <a:r>
              <a:rPr lang="en-US" altLang="en-US"/>
              <a:t>Configure multi-node  SSH  mutual trust and  NFS  shared storage</a:t>
            </a:r>
          </a:p>
          <a:p>
            <a:pPr lvl="1"/>
            <a:r>
              <a:rPr lang="en-US" altLang="en-US"/>
              <a:t>Install  FlagScale  and verify single-node single-GPU training runs correctly</a:t>
            </a:r>
          </a:p>
          <a:p>
            <a:pPr lvl="1"/>
            <a:r>
              <a:rPr lang="en-US" altLang="en-US"/>
              <a:t>Configure  FlagCX  communication backend, verify  AllReduce  basic functionality</a:t>
            </a:r>
          </a:p>
          <a:p>
            <a:r>
              <a:rPr lang="en-US" altLang="en-US"/>
              <a:t>Task 2: Parallelism Strategy Configuration and Experiments</a:t>
            </a:r>
          </a:p>
          <a:p>
            <a:pPr lvl="1"/>
            <a:r>
              <a:rPr lang="en-US" altLang="en-US"/>
              <a:t>Experiment Group 1: Pure Data Parallelism (DP=16, total  GPU=16）</a:t>
            </a:r>
          </a:p>
          <a:p>
            <a:pPr lvl="1"/>
            <a:r>
              <a:rPr lang="en-US" altLang="en-US"/>
              <a:t>Experiment Group 2: Tensor Parallelism +  Pipeline Parallelism (TP=4, PP=2, DP=2）</a:t>
            </a:r>
          </a:p>
          <a:p>
            <a:pPr lvl="1"/>
            <a:r>
              <a:rPr lang="en-US" altLang="en-US"/>
              <a:t>Experiment Group 3: Hybrid Parallelism Auto-Configuration (using  FlagScale  automatic partitioning)</a:t>
            </a:r>
          </a:p>
          <a:p>
            <a:endParaRPr lang="en-US" altLang="en-US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Required Task Breakdown - 2</a:t>
            </a: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6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altLang="en-US"/>
              <a:t>Task 3: GPU Memory Optimization</a:t>
            </a:r>
          </a:p>
          <a:p>
            <a:pPr lvl="1"/>
            <a:r>
              <a:rPr lang="en-US" altLang="en-US"/>
              <a:t>Enable  Gradient Checkpointing  and record GPU memory savings</a:t>
            </a:r>
          </a:p>
          <a:p>
            <a:pPr lvl="1"/>
            <a:r>
              <a:rPr lang="en-US" altLang="en-US"/>
              <a:t>(Optional) Enable  CPU Offload, evaluate impact on throughput</a:t>
            </a:r>
          </a:p>
          <a:p>
            <a:r>
              <a:rPr lang="en-US" altLang="en-US"/>
              <a:t>Task 4: Performance Data Collection and Analysis</a:t>
            </a:r>
          </a:p>
          <a:p>
            <a:pPr lvl="1"/>
            <a:r>
              <a:rPr lang="en-US" altLang="en-US"/>
              <a:t> Training throughput (tokens/s/GPU）×  3  strategies</a:t>
            </a:r>
          </a:p>
          <a:p>
            <a:pPr lvl="1"/>
            <a:r>
              <a:rPr lang="en-US" altLang="en-US"/>
              <a:t> Linear speedup ratio =  Actual speedup /  Theoretical speedup</a:t>
            </a:r>
          </a:p>
          <a:p>
            <a:pPr lvl="1"/>
            <a:r>
              <a:rPr lang="en-US" altLang="en-US"/>
              <a:t> Peak  GPU  memory (nvidia-smi dmon  sampling)</a:t>
            </a:r>
          </a:p>
          <a:p>
            <a:pPr lvl="1"/>
            <a:r>
              <a:rPr lang="en-US" altLang="en-US"/>
              <a:t> Communication overhead ratio (FlagCX  log analysis)</a:t>
            </a: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Submission Requirements and Grading Criteria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F7469-D28B-482F-B1B6-3B8E7CF51519}" type="slidenum">
              <a:rPr lang="en-US" altLang="en-US" smtClean="0"/>
              <a:t>7</a:t>
            </a:fld>
            <a:endParaRPr lang="en-US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en-US" sz="2000"/>
              <a:t>Submission Checklist</a:t>
            </a:r>
          </a:p>
          <a:p>
            <a:pPr lvl="1"/>
            <a:r>
              <a:rPr lang="en-US" altLang="en-US" sz="1800"/>
              <a:t>config/  directory: FlagScale  configuration files (3  parallelism strategies)</a:t>
            </a:r>
          </a:p>
          <a:p>
            <a:pPr lvl="1"/>
            <a:r>
              <a:rPr lang="en-US" altLang="en-US" sz="1800"/>
              <a:t>scripts/  directory: launch scripts, monitoring scripts</a:t>
            </a:r>
          </a:p>
          <a:p>
            <a:pPr lvl="1"/>
            <a:r>
              <a:rPr lang="en-US" altLang="en-US" sz="1800"/>
              <a:t>results/  directory: performance data  CSV, GPU memory logs</a:t>
            </a:r>
          </a:p>
          <a:p>
            <a:pPr lvl="1"/>
            <a:r>
              <a:rPr lang="en-US" altLang="en-US" sz="1800"/>
              <a:t>report.pdf: no more than  10  pages, including architecture diagrams, performance comparison charts, and analytical conclusions</a:t>
            </a:r>
          </a:p>
          <a:p>
            <a:pPr lvl="1"/>
            <a:r>
              <a:rPr lang="en-US" altLang="en-US" sz="1800"/>
              <a:t>(Advanced) fault_recovery_demo.mp4: fault recovery screen recording</a:t>
            </a:r>
          </a:p>
          <a:p>
            <a:r>
              <a:rPr lang="en-US" altLang="en-US" sz="2000"/>
              <a:t> Grading Criteria</a:t>
            </a: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1079500" y="4364355"/>
          <a:ext cx="8769985" cy="2343785"/>
        </p:xfrm>
        <a:graphic>
          <a:graphicData uri="http://schemas.openxmlformats.org/drawingml/2006/table">
            <a:tbl>
              <a:tblPr/>
              <a:tblGrid>
                <a:gridCol w="28111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6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2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065"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Assessment Dimension</a:t>
                      </a:r>
                    </a:p>
                  </a:txBody>
                  <a:tcPr marL="76200" marR="50800" marT="50800" marB="5080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B00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Score</a:t>
                      </a:r>
                    </a:p>
                  </a:txBody>
                  <a:tcPr marL="76200" marR="50800" marT="50800" marB="5080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B00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 b="1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</a:rPr>
                        <a:t> Grading Criteria</a:t>
                      </a:r>
                    </a:p>
                  </a:txBody>
                  <a:tcPr marL="76200" marR="50800" marT="50800" marB="50800" anchor="ctr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B00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Arial" panose="020B0604020202020204"/>
                          <a:ea typeface="Arial" panose="020B0604020202020204"/>
                        </a:rPr>
                        <a:t>Training Task Successful Execution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200">
                          <a:latin typeface="Arial" panose="020B0604020202020204"/>
                          <a:ea typeface="Arial" panose="020B0604020202020204"/>
                        </a:rPr>
                        <a:t>25  pts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Arial" panose="020B0604020202020204"/>
                          <a:ea typeface="Arial" panose="020B0604020202020204"/>
                        </a:rPr>
                        <a:t>Stable multi-node execution for </a:t>
                      </a:r>
                      <a:r>
                        <a:rPr lang="en-US" altLang="en-US" sz="1200">
                          <a:latin typeface="Arial" panose="020B0604020202020204"/>
                          <a:ea typeface="Arial" panose="020B0604020202020204"/>
                        </a:rPr>
                        <a:t> 100  steps or more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1475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Arial" panose="020B0604020202020204"/>
                          <a:ea typeface="Arial" panose="020B0604020202020204"/>
                        </a:rPr>
                        <a:t>Parallelism Strategy Comparative Analysis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200">
                          <a:latin typeface="Arial" panose="020B0604020202020204"/>
                          <a:ea typeface="Arial" panose="020B0604020202020204"/>
                        </a:rPr>
                        <a:t>30  pts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Arial" panose="020B0604020202020204"/>
                          <a:ea typeface="Arial" panose="020B0604020202020204"/>
                        </a:rPr>
                        <a:t>Complete data for all three strategies with in-depth analysis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200">
                          <a:latin typeface="Arial" panose="020B0604020202020204"/>
                          <a:ea typeface="Arial" panose="020B0604020202020204"/>
                        </a:rPr>
                        <a:t>FlagCX  Integration and Analysis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200">
                          <a:latin typeface="Arial" panose="020B0604020202020204"/>
                          <a:ea typeface="Arial" panose="020B0604020202020204"/>
                        </a:rPr>
                        <a:t>20  pts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Arial" panose="020B0604020202020204"/>
                          <a:ea typeface="Arial" panose="020B0604020202020204"/>
                        </a:rPr>
                        <a:t>Communication overhead quantified, compared with </a:t>
                      </a:r>
                      <a:r>
                        <a:rPr lang="en-US" altLang="en-US" sz="1200">
                          <a:latin typeface="Arial" panose="020B0604020202020204"/>
                          <a:ea typeface="Arial" panose="020B0604020202020204"/>
                        </a:rPr>
                        <a:t> NCCL 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Arial" panose="020B0604020202020204"/>
                          <a:ea typeface="Arial" panose="020B0604020202020204"/>
                        </a:rPr>
                        <a:t>GPU Memory Optimization Experiment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200">
                          <a:latin typeface="Arial" panose="020B0604020202020204"/>
                          <a:ea typeface="Arial" panose="020B0604020202020204"/>
                        </a:rPr>
                        <a:t>15  pts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200">
                          <a:latin typeface="Arial" panose="020B0604020202020204"/>
                          <a:ea typeface="Arial" panose="020B0604020202020204"/>
                        </a:rPr>
                        <a:t>GC  effect quantified, correct methodology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Arial" panose="020B0604020202020204"/>
                          <a:ea typeface="Arial" panose="020B0604020202020204"/>
                        </a:rPr>
                        <a:t>Report Quality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200">
                          <a:latin typeface="Arial" panose="020B0604020202020204"/>
                          <a:ea typeface="Arial" panose="020B0604020202020204"/>
                        </a:rPr>
                        <a:t>10  pts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just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sz="1200">
                          <a:latin typeface="Arial" panose="020B0604020202020204"/>
                          <a:ea typeface="Arial" panose="020B0604020202020204"/>
                        </a:rPr>
                        <a:t>Clear charts, evidence-based conclusions</a:t>
                      </a:r>
                    </a:p>
                  </a:txBody>
                  <a:tcPr marL="76200" marR="50800" marT="50800" marB="50800">
                    <a:lnL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BBBBBB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ym typeface="+mn-ea"/>
              </a:rPr>
              <a:t>The Solution: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FlagOS,</a:t>
            </a:r>
            <a:r>
              <a:rPr lang="x-none" altLang="zh-CN">
                <a:sym typeface="+mn-ea"/>
              </a:rPr>
              <a:t> </a:t>
            </a:r>
            <a:r>
              <a:rPr>
                <a:sym typeface="+mn-ea"/>
              </a:rPr>
              <a:t>a Unified AI Software Stack</a:t>
            </a:r>
            <a:endParaRPr lang="zh-CN" altLang="en-US"/>
          </a:p>
        </p:txBody>
      </p:sp>
      <p:pic>
        <p:nvPicPr>
          <p:cNvPr id="7" name="内容占位符 6" descr="flagos-architecture-en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사각형: 둥근 모서리 832"/>
          <p:cNvSpPr/>
          <p:nvPr>
            <p:custDataLst>
              <p:tags r:id="rId1"/>
            </p:custDataLst>
          </p:nvPr>
        </p:nvSpPr>
        <p:spPr>
          <a:xfrm>
            <a:off x="89535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사각형: 둥근 모서리 832"/>
          <p:cNvSpPr/>
          <p:nvPr>
            <p:custDataLst>
              <p:tags r:id="rId2"/>
            </p:custDataLst>
          </p:nvPr>
        </p:nvSpPr>
        <p:spPr>
          <a:xfrm>
            <a:off x="440023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사각형: 둥근 모서리 832"/>
          <p:cNvSpPr/>
          <p:nvPr>
            <p:custDataLst>
              <p:tags r:id="rId3"/>
            </p:custDataLst>
          </p:nvPr>
        </p:nvSpPr>
        <p:spPr>
          <a:xfrm>
            <a:off x="7905111" y="1861819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832"/>
          <p:cNvSpPr/>
          <p:nvPr>
            <p:custDataLst>
              <p:tags r:id="rId4"/>
            </p:custDataLst>
          </p:nvPr>
        </p:nvSpPr>
        <p:spPr>
          <a:xfrm>
            <a:off x="89535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832"/>
          <p:cNvSpPr/>
          <p:nvPr>
            <p:custDataLst>
              <p:tags r:id="rId5"/>
            </p:custDataLst>
          </p:nvPr>
        </p:nvSpPr>
        <p:spPr>
          <a:xfrm>
            <a:off x="440023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사각형: 둥근 모서리 832"/>
          <p:cNvSpPr/>
          <p:nvPr>
            <p:custDataLst>
              <p:tags r:id="rId6"/>
            </p:custDataLst>
          </p:nvPr>
        </p:nvSpPr>
        <p:spPr>
          <a:xfrm>
            <a:off x="7905111" y="3755727"/>
            <a:ext cx="3162940" cy="1506517"/>
          </a:xfrm>
          <a:prstGeom prst="roundRect">
            <a:avLst>
              <a:gd name="adj" fmla="val 6813"/>
            </a:avLst>
          </a:prstGeom>
          <a:solidFill>
            <a:schemeClr val="bg1"/>
          </a:solidFill>
          <a:ln>
            <a:noFill/>
          </a:ln>
          <a:effectLst>
            <a:outerShdw blurRad="190500" dist="63500" dir="2700000" algn="tl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사각형: 둥근 모서리 72"/>
          <p:cNvSpPr/>
          <p:nvPr>
            <p:custDataLst>
              <p:tags r:id="rId7"/>
            </p:custDataLst>
          </p:nvPr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18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1" name="사각형: 둥근 모서리 72"/>
          <p:cNvSpPr/>
          <p:nvPr>
            <p:custDataLst>
              <p:tags r:id="rId8"/>
            </p:custDataLst>
          </p:nvPr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19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2" name="사각형: 둥근 모서리 72"/>
          <p:cNvSpPr/>
          <p:nvPr>
            <p:custDataLst>
              <p:tags r:id="rId9"/>
            </p:custDataLst>
          </p:nvPr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20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5" name="사각형: 둥근 모서리 72"/>
          <p:cNvSpPr/>
          <p:nvPr>
            <p:custDataLst>
              <p:tags r:id="rId10"/>
            </p:custDataLst>
          </p:nvPr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21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6" name="사각형: 둥근 모서리 72"/>
          <p:cNvSpPr/>
          <p:nvPr>
            <p:custDataLst>
              <p:tags r:id="rId11"/>
            </p:custDataLst>
          </p:nvPr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2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7" name="사각형: 둥근 모서리 72"/>
          <p:cNvSpPr/>
          <p:nvPr>
            <p:custDataLst>
              <p:tags r:id="rId12"/>
            </p:custDataLst>
          </p:nvPr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2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solidFill>
                <a:schemeClr val="bg1"/>
              </a:solidFill>
              <a:latin typeface="+mj-lt"/>
            </a:endParaRPr>
          </a:p>
        </p:txBody>
      </p:sp>
      <p:sp>
        <p:nvSpPr>
          <p:cNvPr id="28" name="object 3"/>
          <p:cNvSpPr txBox="1"/>
          <p:nvPr>
            <p:custDataLst>
              <p:tags r:id="rId13"/>
            </p:custDataLst>
          </p:nvPr>
        </p:nvSpPr>
        <p:spPr>
          <a:xfrm>
            <a:off x="1219842" y="251790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4" action="ppaction://hlinkfile"/>
              </a:rPr>
              <a:t>https://github.com/flagos-ai</a:t>
            </a:r>
          </a:p>
          <a:p>
            <a:endParaRPr lang="en-US" altLang="ko-KR" sz="1600" dirty="0"/>
          </a:p>
        </p:txBody>
      </p:sp>
      <p:sp>
        <p:nvSpPr>
          <p:cNvPr id="36" name="object 3"/>
          <p:cNvSpPr txBox="1"/>
          <p:nvPr>
            <p:custDataLst>
              <p:tags r:id="rId14"/>
            </p:custDataLst>
          </p:nvPr>
        </p:nvSpPr>
        <p:spPr>
          <a:xfrm>
            <a:off x="8015605" y="2341245"/>
            <a:ext cx="2882265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zh-CN" sz="1600" dirty="0">
                <a:hlinkClick r:id="rId25" action="ppaction://hlinkfile"/>
              </a:rPr>
              <a:t>https://space.bilibili.com/3546791834290849</a:t>
            </a:r>
            <a:endParaRPr lang="en-US" altLang="zh-CN" sz="1600" dirty="0"/>
          </a:p>
        </p:txBody>
      </p:sp>
      <p:sp>
        <p:nvSpPr>
          <p:cNvPr id="42" name="object 3"/>
          <p:cNvSpPr txBox="1"/>
          <p:nvPr>
            <p:custDataLst>
              <p:tags r:id="rId15"/>
            </p:custDataLst>
          </p:nvPr>
        </p:nvSpPr>
        <p:spPr>
          <a:xfrm>
            <a:off x="1219842" y="4403854"/>
            <a:ext cx="2513958" cy="76644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6" action="ppaction://hlinkfile"/>
              </a:rPr>
              <a:t>https://www.zhihu.com/people/95-22-20-18/posts</a:t>
            </a:r>
            <a:endParaRPr lang="en-US" altLang="ko-KR" sz="1600" dirty="0"/>
          </a:p>
        </p:txBody>
      </p:sp>
      <p:sp>
        <p:nvSpPr>
          <p:cNvPr id="45" name="object 3"/>
          <p:cNvSpPr txBox="1"/>
          <p:nvPr>
            <p:custDataLst>
              <p:tags r:id="rId16"/>
            </p:custDataLst>
          </p:nvPr>
        </p:nvSpPr>
        <p:spPr>
          <a:xfrm>
            <a:off x="4724722" y="4403854"/>
            <a:ext cx="2513958" cy="396875"/>
          </a:xfrm>
          <a:prstGeom prst="rect">
            <a:avLst/>
          </a:prstGeom>
        </p:spPr>
        <p:txBody>
          <a:bodyPr vert="horz" wrap="square" lIns="0" tIns="14400" rIns="0" bIns="14400" rtlCol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00">
                <a:solidFill>
                  <a:schemeClr val="bg2">
                    <a:lumMod val="50000"/>
                  </a:schemeClr>
                </a:solidFill>
                <a:cs typeface="Calibri" panose="020F0502020204030204" charset="0"/>
              </a:defRPr>
            </a:lvl1pPr>
          </a:lstStyle>
          <a:p>
            <a:r>
              <a:rPr lang="en-US" altLang="ko-KR" sz="1600" dirty="0">
                <a:hlinkClick r:id="rId27" action="ppaction://hlinkfile"/>
              </a:rPr>
              <a:t>https://flagos.io/Home</a:t>
            </a:r>
            <a:endParaRPr lang="en-US" altLang="ko-KR" sz="1600" dirty="0"/>
          </a:p>
        </p:txBody>
      </p:sp>
      <p:pic>
        <p:nvPicPr>
          <p:cNvPr id="54" name="图片 53" descr="weixin-DL0TqDNO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</p:spPr>
      </p:pic>
      <p:pic>
        <p:nvPicPr>
          <p:cNvPr id="55" name="图片 54" descr="feishu-qrcode-C75xQn56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개체 틀 4"/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2306" r="2306"/>
          <a:stretch>
            <a:fillRect/>
          </a:stretch>
        </p:blipFill>
        <p:spPr/>
      </p:pic>
      <p:sp>
        <p:nvSpPr>
          <p:cNvPr id="3" name="제목 2"/>
          <p:cNvSpPr>
            <a:spLocks noGrp="1"/>
          </p:cNvSpPr>
          <p:nvPr>
            <p:ph type="ctrTitle"/>
          </p:nvPr>
        </p:nvSpPr>
        <p:spPr>
          <a:xfrm>
            <a:off x="5625465" y="2373630"/>
            <a:ext cx="5739130" cy="2664460"/>
          </a:xfrm>
        </p:spPr>
        <p:txBody>
          <a:bodyPr/>
          <a:lstStyle/>
          <a:p>
            <a:pPr algn="l"/>
            <a:r>
              <a:rPr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Thanks for your time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！</a:t>
            </a:r>
            <a:endParaRPr kumimoji="1" lang="ko-KR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4" name="图片 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rcRect l="13229" t="29812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</p:spPr>
        </p:pic>
      </p:grpSp>
    </p:spTree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90*176"/>
  <p:tag name="TABLE_ENDDRAG_RECT" val="181*309*690*177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81.3129921259843,&quot;left&quot;:70.50007874015748,&quot;top&quot;:173.18692913385826,&quot;width&quot;:801.0000000000001}"/>
</p:tagLst>
</file>

<file path=ppt/theme/theme1.xml><?xml version="1.0" encoding="utf-8"?>
<a:theme xmlns:a="http://schemas.openxmlformats.org/drawingml/2006/main" name="母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微软雅黑+Arial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极端阴影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9800000"/>
            </a:lightRig>
          </a:scene3d>
          <a:sp3d prstMaterial="plastic">
            <a:bevelT w="25400" h="1905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38100" h="3175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680</Words>
  <Application>Microsoft Office PowerPoint</Application>
  <PresentationFormat>宽屏</PresentationFormat>
  <Paragraphs>95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微软雅黑</vt:lpstr>
      <vt:lpstr>文泉驿微米黑</vt:lpstr>
      <vt:lpstr>Arial</vt:lpstr>
      <vt:lpstr>Calibri</vt:lpstr>
      <vt:lpstr>Calibri Light</vt:lpstr>
      <vt:lpstr>Ebrima</vt:lpstr>
      <vt:lpstr>Garamond</vt:lpstr>
      <vt:lpstr>Montserrat SemiBold</vt:lpstr>
      <vt:lpstr>Wingdings 3</vt:lpstr>
      <vt:lpstr>母版</vt:lpstr>
      <vt:lpstr>Hardware and Software Fundamentals of  Intelligent Computing  Systems</vt:lpstr>
      <vt:lpstr>Lecture 36：Module IV Final Project (7B Model Multi-Node Distributed Training)</vt:lpstr>
      <vt:lpstr>Course Projects Overview</vt:lpstr>
      <vt:lpstr>Project Overview</vt:lpstr>
      <vt:lpstr>Required Task Breakdown - 1</vt:lpstr>
      <vt:lpstr>Required Task Breakdown - 2</vt:lpstr>
      <vt:lpstr>Submission Requirements and Grading Criteria</vt:lpstr>
      <vt:lpstr>The Solution: FlagOS, a Unified AI Software Stack</vt:lpstr>
      <vt:lpstr>PowerPoint 演示文稿</vt:lpstr>
      <vt:lpstr>Thanks for your time！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开源社区与AI系统软件贡献</dc:title>
  <dc:subject>开源社区与AI系统软件贡献</dc:subject>
  <dc:creator>Kimi</dc:creator>
  <cp:lastModifiedBy>Xiang Li</cp:lastModifiedBy>
  <cp:revision>11</cp:revision>
  <dcterms:created xsi:type="dcterms:W3CDTF">2026-03-12T03:03:00Z</dcterms:created>
  <dcterms:modified xsi:type="dcterms:W3CDTF">2026-03-17T14:54:57Z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开源社区与AI系统软件贡献","ContentProducer":"001191110108MACG2KBH8F10000","ProduceID":"19cbf9a2-ac82-8bf3-8000-00008c4ccf4f","ReservedCode1":"","ContentPropagator":"001191110108MACG2KBH8F20000","PropagateID":"19cbf9a2-ac82-8bf3-8000-00008c4ccf4f","ReservedCode2":""}</vt:lpwstr>
  </property>
  <property fmtid="{D5CDD505-2E9C-101B-9397-08002B2CF9AE}" pid="3" name="ICV">
    <vt:lpwstr>423D73E912CD1A00385CAA69CA7CE0B6_42</vt:lpwstr>
  </property>
  <property fmtid="{D5CDD505-2E9C-101B-9397-08002B2CF9AE}" pid="4" name="KSOProductBuildVer">
    <vt:lpwstr>2052-12.1.0.19302</vt:lpwstr>
  </property>
</Properties>
</file>