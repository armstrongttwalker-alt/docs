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3"/>
  </p:notesMasterIdLst>
  <p:handoutMasterIdLst>
    <p:handoutMasterId r:id="rId34"/>
  </p:handoutMasterIdLst>
  <p:sldIdLst>
    <p:sldId id="337"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338" r:id="rId30"/>
    <p:sldId id="339" r:id="rId31"/>
    <p:sldId id="34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B0012"/>
    <a:srgbClr val="70AD47"/>
    <a:srgbClr val="2774AE"/>
    <a:srgbClr val="70AE47"/>
    <a:srgbClr val="549E39"/>
    <a:srgbClr val="90B085"/>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15"/>
    <p:restoredTop sz="80094" autoAdjust="0"/>
  </p:normalViewPr>
  <p:slideViewPr>
    <p:cSldViewPr snapToGrid="0" snapToObjects="1">
      <p:cViewPr varScale="1">
        <p:scale>
          <a:sx n="49" d="100"/>
          <a:sy n="49" d="100"/>
        </p:scale>
        <p:origin x="1164" y="36"/>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1" d="100"/>
          <a:sy n="81" d="100"/>
        </p:scale>
        <p:origin x="3384"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00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001"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AD35F3-BE5B-41CC-A973-5F94E77F22B3}" type="datetimeFigureOut">
              <a:rPr lang="zh-CN" altLang="en-US" smtClean="0"/>
              <a:t>2026/3/17</a:t>
            </a:fld>
            <a:endParaRPr lang="zh-CN" altLang="en-US"/>
          </a:p>
        </p:txBody>
      </p:sp>
      <p:sp>
        <p:nvSpPr>
          <p:cNvPr id="1049002"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003"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6126E5-09CE-4398-8EB0-4AC849D0A16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94"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995"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E8E16-D6C5-3248-816C-85B3C8E8792E}" type="datetimeFigureOut">
              <a:rPr lang="en-US" smtClean="0"/>
              <a:t>3/17/2026</a:t>
            </a:fld>
            <a:endParaRPr lang="en-US"/>
          </a:p>
        </p:txBody>
      </p:sp>
      <p:sp>
        <p:nvSpPr>
          <p:cNvPr id="1048996"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997"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98"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999"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4C98A-D9C5-894D-9A13-8F52E37846C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模块一：</a:t>
            </a:r>
            <a:r>
              <a:rPr lang="en-US" altLang="zh-CN" dirty="0">
                <a:sym typeface="+mn-ea"/>
              </a:rPr>
              <a:t>Background - Transformer </a:t>
            </a:r>
            <a:r>
              <a:rPr lang="zh-CN" altLang="en-US" dirty="0">
                <a:sym typeface="+mn-ea"/>
              </a:rPr>
              <a:t>与注意力机制的挑战核心目标： 让听众理解为什么传统的 </a:t>
            </a:r>
            <a:r>
              <a:rPr lang="en-US" altLang="zh-CN" dirty="0">
                <a:sym typeface="+mn-ea"/>
              </a:rPr>
              <a:t>Attention </a:t>
            </a:r>
            <a:r>
              <a:rPr lang="zh-CN" altLang="en-US" dirty="0">
                <a:sym typeface="+mn-ea"/>
              </a:rPr>
              <a:t>会成为大模型的瓶颈。封面： 序幕</a:t>
            </a:r>
            <a:r>
              <a:rPr lang="en-US" altLang="zh-CN" dirty="0">
                <a:sym typeface="+mn-ea"/>
              </a:rPr>
              <a:t>——</a:t>
            </a:r>
            <a:r>
              <a:rPr lang="zh-CN" altLang="en-US" dirty="0">
                <a:sym typeface="+mn-ea"/>
              </a:rPr>
              <a:t>从 </a:t>
            </a:r>
            <a:r>
              <a:rPr lang="en-US" altLang="zh-CN" dirty="0">
                <a:sym typeface="+mn-ea"/>
              </a:rPr>
              <a:t>RNN </a:t>
            </a:r>
            <a:r>
              <a:rPr lang="zh-CN" altLang="en-US" dirty="0">
                <a:sym typeface="+mn-ea"/>
              </a:rPr>
              <a:t>到 </a:t>
            </a:r>
            <a:r>
              <a:rPr lang="en-US" altLang="zh-CN" dirty="0">
                <a:sym typeface="+mn-ea"/>
              </a:rPr>
              <a:t>Transformer </a:t>
            </a:r>
            <a:r>
              <a:rPr lang="zh-CN" altLang="en-US" dirty="0">
                <a:sym typeface="+mn-ea"/>
              </a:rPr>
              <a:t>的范式转移。</a:t>
            </a:r>
            <a:r>
              <a:rPr lang="en-US" altLang="zh-CN" dirty="0">
                <a:sym typeface="+mn-ea"/>
              </a:rPr>
              <a:t>LLM </a:t>
            </a:r>
            <a:r>
              <a:rPr lang="zh-CN" altLang="en-US" dirty="0">
                <a:sym typeface="+mn-ea"/>
              </a:rPr>
              <a:t>的心脏： 简述 </a:t>
            </a:r>
            <a:r>
              <a:rPr lang="en-US" altLang="zh-CN" dirty="0">
                <a:sym typeface="+mn-ea"/>
              </a:rPr>
              <a:t>Transformer </a:t>
            </a:r>
            <a:r>
              <a:rPr lang="zh-CN" altLang="en-US" dirty="0">
                <a:sym typeface="+mn-ea"/>
              </a:rPr>
              <a:t>架构及其在 </a:t>
            </a:r>
            <a:r>
              <a:rPr lang="en-US" altLang="zh-CN" dirty="0">
                <a:sym typeface="+mn-ea"/>
              </a:rPr>
              <a:t>2026 </a:t>
            </a:r>
            <a:r>
              <a:rPr lang="zh-CN" altLang="en-US" dirty="0">
                <a:sym typeface="+mn-ea"/>
              </a:rPr>
              <a:t>年的应用现状。什么是“注意力”： 直观比喻（图书馆检索系统）。</a:t>
            </a:r>
            <a:r>
              <a:rPr lang="en-US" altLang="zh-CN" dirty="0">
                <a:sym typeface="+mn-ea"/>
              </a:rPr>
              <a:t>Q/K/V </a:t>
            </a:r>
            <a:r>
              <a:rPr lang="zh-CN" altLang="en-US" dirty="0">
                <a:sym typeface="+mn-ea"/>
              </a:rPr>
              <a:t>矩阵的诞生： 形象化解释查询（</a:t>
            </a:r>
            <a:r>
              <a:rPr lang="en-US" altLang="zh-CN" dirty="0">
                <a:sym typeface="+mn-ea"/>
              </a:rPr>
              <a:t>Query</a:t>
            </a:r>
            <a:r>
              <a:rPr lang="zh-CN" altLang="en-US" dirty="0">
                <a:sym typeface="+mn-ea"/>
              </a:rPr>
              <a:t>）、键（</a:t>
            </a:r>
            <a:r>
              <a:rPr lang="en-US" altLang="zh-CN" dirty="0">
                <a:sym typeface="+mn-ea"/>
              </a:rPr>
              <a:t>Key</a:t>
            </a:r>
            <a:r>
              <a:rPr lang="zh-CN" altLang="en-US" dirty="0">
                <a:sym typeface="+mn-ea"/>
              </a:rPr>
              <a:t>）与值（</a:t>
            </a:r>
            <a:r>
              <a:rPr lang="en-US" altLang="zh-CN" dirty="0">
                <a:sym typeface="+mn-ea"/>
              </a:rPr>
              <a:t>Value</a:t>
            </a:r>
            <a:r>
              <a:rPr lang="zh-CN" altLang="en-US" dirty="0">
                <a:sym typeface="+mn-ea"/>
              </a:rPr>
              <a:t>）。计算流水线： 详细拆解 </a:t>
            </a:r>
            <a:r>
              <a:rPr lang="en-US" altLang="zh-CN" dirty="0">
                <a:sym typeface="+mn-ea"/>
              </a:rPr>
              <a:t>$Attention(Q, K, V) = \text{</a:t>
            </a:r>
            <a:r>
              <a:rPr lang="en-US" altLang="zh-CN" dirty="0" err="1">
                <a:sym typeface="+mn-ea"/>
              </a:rPr>
              <a:t>softmax</a:t>
            </a:r>
            <a:r>
              <a:rPr lang="en-US" altLang="zh-CN" dirty="0">
                <a:sym typeface="+mn-ea"/>
              </a:rPr>
              <a:t>}(\frac{QK^T}{\sqrt{</a:t>
            </a:r>
            <a:r>
              <a:rPr lang="en-US" altLang="zh-CN" dirty="0" err="1">
                <a:sym typeface="+mn-ea"/>
              </a:rPr>
              <a:t>d_k</a:t>
            </a:r>
            <a:r>
              <a:rPr lang="en-US" altLang="zh-CN" dirty="0">
                <a:sym typeface="+mn-ea"/>
              </a:rPr>
              <a:t>}})V$</a:t>
            </a:r>
            <a:r>
              <a:rPr lang="zh-CN" altLang="en-US" dirty="0">
                <a:sym typeface="+mn-ea"/>
              </a:rPr>
              <a:t>。二次方复杂度魔咒： 为什么序列翻倍，计算量和显存会翻四倍？算子需求分析： 矩阵乘法（</a:t>
            </a:r>
            <a:r>
              <a:rPr lang="en-US" altLang="zh-CN" dirty="0">
                <a:sym typeface="+mn-ea"/>
              </a:rPr>
              <a:t>GEMM</a:t>
            </a:r>
            <a:r>
              <a:rPr lang="zh-CN" altLang="en-US" dirty="0">
                <a:sym typeface="+mn-ea"/>
              </a:rPr>
              <a:t>）与逐元素操作（</a:t>
            </a:r>
            <a:r>
              <a:rPr lang="en-US" altLang="zh-CN" dirty="0" err="1">
                <a:sym typeface="+mn-ea"/>
              </a:rPr>
              <a:t>Softmax</a:t>
            </a:r>
            <a:r>
              <a:rPr lang="en-US" altLang="zh-CN" dirty="0">
                <a:sym typeface="+mn-ea"/>
              </a:rPr>
              <a:t>, Dropout</a:t>
            </a:r>
            <a:r>
              <a:rPr lang="zh-CN" altLang="en-US" dirty="0">
                <a:sym typeface="+mn-ea"/>
              </a:rPr>
              <a:t>）。内存墙问题： 简单引入计算密集型 </a:t>
            </a:r>
            <a:r>
              <a:rPr lang="en-US" altLang="zh-CN" dirty="0">
                <a:sym typeface="+mn-ea"/>
              </a:rPr>
              <a:t>vs. </a:t>
            </a:r>
            <a:r>
              <a:rPr lang="zh-CN" altLang="en-US" dirty="0">
                <a:sym typeface="+mn-ea"/>
              </a:rPr>
              <a:t>访存密集型任务。数据流向图： 展示标准 </a:t>
            </a:r>
            <a:r>
              <a:rPr lang="en-US" altLang="zh-CN" dirty="0">
                <a:sym typeface="+mn-ea"/>
              </a:rPr>
              <a:t>Attention </a:t>
            </a:r>
            <a:r>
              <a:rPr lang="zh-CN" altLang="en-US" dirty="0">
                <a:sym typeface="+mn-ea"/>
              </a:rPr>
              <a:t>在 </a:t>
            </a:r>
            <a:r>
              <a:rPr lang="en-US" altLang="zh-CN" dirty="0">
                <a:sym typeface="+mn-ea"/>
              </a:rPr>
              <a:t>GPU </a:t>
            </a:r>
            <a:r>
              <a:rPr lang="zh-CN" altLang="en-US" dirty="0">
                <a:sym typeface="+mn-ea"/>
              </a:rPr>
              <a:t>显存中的频繁读写。痛点总结： 显存溢出（</a:t>
            </a:r>
            <a:r>
              <a:rPr lang="en-US" altLang="zh-CN" dirty="0">
                <a:sym typeface="+mn-ea"/>
              </a:rPr>
              <a:t>OOM</a:t>
            </a:r>
            <a:r>
              <a:rPr lang="zh-CN" altLang="en-US" dirty="0">
                <a:sym typeface="+mn-ea"/>
              </a:rPr>
              <a:t>）与长文本处理的限制。过渡页： 寻求突破</a:t>
            </a:r>
            <a:r>
              <a:rPr lang="en-US" altLang="zh-CN" dirty="0">
                <a:sym typeface="+mn-ea"/>
              </a:rPr>
              <a:t>——</a:t>
            </a:r>
            <a:r>
              <a:rPr lang="zh-CN" altLang="en-US" dirty="0">
                <a:sym typeface="+mn-ea"/>
              </a:rPr>
              <a:t>我们真的需要存储那个巨大的 </a:t>
            </a:r>
            <a:r>
              <a:rPr lang="en-US" altLang="zh-CN" dirty="0">
                <a:sym typeface="+mn-ea"/>
              </a:rPr>
              <a:t>$N \times N$ </a:t>
            </a:r>
            <a:r>
              <a:rPr lang="zh-CN" altLang="en-US" dirty="0">
                <a:sym typeface="+mn-ea"/>
              </a:rPr>
              <a:t>矩阵吗？</a:t>
            </a:r>
            <a:endParaRPr lang="en-US" altLang="zh-CN" dirty="0"/>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幻灯片图像占位符 1"/>
          <p:cNvSpPr>
            <a:spLocks noGrp="1" noRot="1" noChangeAspect="1"/>
          </p:cNvSpPr>
          <p:nvPr>
            <p:ph type="sldImg"/>
          </p:nvPr>
        </p:nvSpPr>
        <p:spPr/>
      </p:sp>
      <p:sp>
        <p:nvSpPr>
          <p:cNvPr id="1048666" name="备注占位符 2"/>
          <p:cNvSpPr>
            <a:spLocks noGrp="1"/>
          </p:cNvSpPr>
          <p:nvPr>
            <p:ph type="body" idx="1"/>
          </p:nvPr>
        </p:nvSpPr>
        <p:spPr/>
        <p:txBody>
          <a:bodyPr/>
          <a:lstStyle/>
          <a:p>
            <a:r>
              <a:rPr lang="zh-CN" altLang="en-US" dirty="0"/>
              <a:t>基于</a:t>
            </a:r>
            <a:r>
              <a:rPr lang="zh-CN" altLang="en-US" b="1" dirty="0"/>
              <a:t>循环神经网络（</a:t>
            </a:r>
            <a:r>
              <a:rPr lang="en-US" altLang="zh-CN" b="1" dirty="0"/>
              <a:t>RNN</a:t>
            </a:r>
            <a:r>
              <a:rPr lang="zh-CN" altLang="en-US" b="1" dirty="0"/>
              <a:t>）</a:t>
            </a:r>
            <a:r>
              <a:rPr lang="zh-CN" altLang="en-US" dirty="0"/>
              <a:t>、**长短期记忆网络（</a:t>
            </a:r>
            <a:r>
              <a:rPr lang="en-US" altLang="zh-CN" dirty="0"/>
              <a:t>LSTM</a:t>
            </a:r>
            <a:r>
              <a:rPr lang="zh-CN" altLang="en-US" dirty="0"/>
              <a:t>）</a:t>
            </a:r>
            <a:r>
              <a:rPr lang="zh-CN" altLang="en-US" b="1" dirty="0"/>
              <a:t>和</a:t>
            </a:r>
            <a:r>
              <a:rPr lang="zh-CN" altLang="en-US" dirty="0"/>
              <a:t>门控循环单元（</a:t>
            </a:r>
            <a:r>
              <a:rPr lang="en-US" altLang="zh-CN" dirty="0"/>
              <a:t>GRU</a:t>
            </a:r>
            <a:r>
              <a:rPr lang="zh-CN" altLang="en-US" dirty="0"/>
              <a:t>）**的模型在自然语言处理（</a:t>
            </a:r>
            <a:r>
              <a:rPr lang="en-US" altLang="zh-CN" dirty="0"/>
              <a:t>NLP</a:t>
            </a:r>
            <a:r>
              <a:rPr lang="zh-CN" altLang="en-US" dirty="0"/>
              <a:t>）领域曾占据举足轻重的地位。</a:t>
            </a:r>
          </a:p>
          <a:p>
            <a:r>
              <a:rPr lang="en-US" altLang="zh-CN" b="1" dirty="0"/>
              <a:t>RNN</a:t>
            </a:r>
            <a:r>
              <a:rPr lang="zh-CN" altLang="en-US" dirty="0"/>
              <a:t>：最早可追溯至 </a:t>
            </a:r>
            <a:r>
              <a:rPr lang="en-US" altLang="zh-CN" dirty="0"/>
              <a:t>20 </a:t>
            </a:r>
            <a:r>
              <a:rPr lang="zh-CN" altLang="en-US" dirty="0"/>
              <a:t>世纪 </a:t>
            </a:r>
            <a:r>
              <a:rPr lang="en-US" altLang="zh-CN" dirty="0"/>
              <a:t>80 </a:t>
            </a:r>
            <a:r>
              <a:rPr lang="zh-CN" altLang="en-US" dirty="0"/>
              <a:t>年代，是最早用于 </a:t>
            </a:r>
            <a:r>
              <a:rPr lang="en-US" altLang="zh-CN" dirty="0"/>
              <a:t>NLP </a:t>
            </a:r>
            <a:r>
              <a:rPr lang="zh-CN" altLang="en-US" dirty="0"/>
              <a:t>的序列模型之一。</a:t>
            </a:r>
          </a:p>
          <a:p>
            <a:r>
              <a:rPr lang="en-US" altLang="zh-CN" b="1" dirty="0"/>
              <a:t>LSTM </a:t>
            </a:r>
            <a:r>
              <a:rPr lang="zh-CN" altLang="en-US" b="1" dirty="0"/>
              <a:t>与 </a:t>
            </a:r>
            <a:r>
              <a:rPr lang="en-US" altLang="zh-CN" b="1" dirty="0"/>
              <a:t>GRU</a:t>
            </a:r>
            <a:r>
              <a:rPr lang="zh-CN" altLang="en-US" dirty="0"/>
              <a:t>：</a:t>
            </a:r>
            <a:r>
              <a:rPr lang="en-US" altLang="zh-CN" dirty="0"/>
              <a:t>LSTM </a:t>
            </a:r>
            <a:r>
              <a:rPr lang="zh-CN" altLang="en-US" dirty="0"/>
              <a:t>由 </a:t>
            </a:r>
            <a:r>
              <a:rPr lang="en-US" altLang="zh-CN" dirty="0" err="1"/>
              <a:t>Hochreiter</a:t>
            </a:r>
            <a:r>
              <a:rPr lang="en-US" altLang="zh-CN" dirty="0"/>
              <a:t> </a:t>
            </a:r>
            <a:r>
              <a:rPr lang="zh-CN" altLang="en-US" dirty="0"/>
              <a:t>和 </a:t>
            </a:r>
            <a:r>
              <a:rPr lang="en-US" altLang="zh-CN" dirty="0" err="1"/>
              <a:t>Schmidhuber</a:t>
            </a:r>
            <a:r>
              <a:rPr lang="en-US" altLang="zh-CN" dirty="0"/>
              <a:t> </a:t>
            </a:r>
            <a:r>
              <a:rPr lang="zh-CN" altLang="en-US" dirty="0"/>
              <a:t>于 </a:t>
            </a:r>
            <a:r>
              <a:rPr lang="en-US" altLang="zh-CN" dirty="0"/>
              <a:t>1997 </a:t>
            </a:r>
            <a:r>
              <a:rPr lang="zh-CN" altLang="en-US" dirty="0"/>
              <a:t>年提出，</a:t>
            </a:r>
            <a:r>
              <a:rPr lang="en-US" altLang="zh-CN" dirty="0"/>
              <a:t>GRU </a:t>
            </a:r>
            <a:r>
              <a:rPr lang="zh-CN" altLang="en-US" dirty="0"/>
              <a:t>则由 </a:t>
            </a:r>
            <a:r>
              <a:rPr lang="en-US" altLang="zh-CN" dirty="0"/>
              <a:t>Cho </a:t>
            </a:r>
            <a:r>
              <a:rPr lang="zh-CN" altLang="en-US" dirty="0"/>
              <a:t>等人于 </a:t>
            </a:r>
            <a:r>
              <a:rPr lang="en-US" altLang="zh-CN" dirty="0"/>
              <a:t>2014 </a:t>
            </a:r>
            <a:r>
              <a:rPr lang="zh-CN" altLang="en-US" dirty="0"/>
              <a:t>年提出。它们作为 </a:t>
            </a:r>
            <a:r>
              <a:rPr lang="en-US" altLang="zh-CN" dirty="0"/>
              <a:t>RNN </a:t>
            </a:r>
            <a:r>
              <a:rPr lang="zh-CN" altLang="en-US" dirty="0"/>
              <a:t>的变体，旨在通过引入额外的“门控机制”来捕捉短期和长期记忆，从而有效解决</a:t>
            </a:r>
            <a:r>
              <a:rPr lang="zh-CN" altLang="en-US" b="1" dirty="0"/>
              <a:t>梯度消失</a:t>
            </a:r>
            <a:r>
              <a:rPr lang="zh-CN" altLang="en-US" dirty="0"/>
              <a:t>问题并更出色地处理</a:t>
            </a:r>
            <a:r>
              <a:rPr lang="zh-CN" altLang="en-US" b="1" dirty="0"/>
              <a:t>长期依赖关系</a:t>
            </a:r>
            <a:r>
              <a:rPr lang="zh-CN" altLang="en-US" dirty="0"/>
              <a:t>。</a:t>
            </a:r>
          </a:p>
          <a:p>
            <a:r>
              <a:rPr lang="zh-CN" altLang="en-US" dirty="0"/>
              <a:t>由于这些模型能够处理序列数据并随时间推移保留上下文信息，它们一度成为机器翻译、情感分析和文本生成等各类 </a:t>
            </a:r>
            <a:r>
              <a:rPr lang="en-US" altLang="zh-CN" dirty="0"/>
              <a:t>NLP </a:t>
            </a:r>
            <a:r>
              <a:rPr lang="zh-CN" altLang="en-US" dirty="0"/>
              <a:t>任务的首选解决方案。</a:t>
            </a:r>
          </a:p>
          <a:p>
            <a:r>
              <a:rPr lang="zh-CN" altLang="en-US" dirty="0"/>
              <a:t>虽然 </a:t>
            </a:r>
            <a:r>
              <a:rPr lang="en-US" altLang="zh-CN" dirty="0"/>
              <a:t>RNN</a:t>
            </a:r>
            <a:r>
              <a:rPr lang="zh-CN" altLang="en-US" dirty="0"/>
              <a:t>、</a:t>
            </a:r>
            <a:r>
              <a:rPr lang="en-US" altLang="zh-CN" dirty="0"/>
              <a:t>LSTM </a:t>
            </a:r>
            <a:r>
              <a:rPr lang="zh-CN" altLang="en-US" dirty="0"/>
              <a:t>和 </a:t>
            </a:r>
            <a:r>
              <a:rPr lang="en-US" altLang="zh-CN" dirty="0"/>
              <a:t>GRU </a:t>
            </a:r>
            <a:r>
              <a:rPr lang="zh-CN" altLang="en-US" dirty="0"/>
              <a:t>仍然是解决众多 </a:t>
            </a:r>
            <a:r>
              <a:rPr lang="en-US" altLang="zh-CN" dirty="0"/>
              <a:t>NLP </a:t>
            </a:r>
            <a:r>
              <a:rPr lang="zh-CN" altLang="en-US" dirty="0"/>
              <a:t>挑战时不可或缺的主流工具，但其底层数学原理也带来了一系列局限性。</a:t>
            </a:r>
          </a:p>
          <a:p>
            <a:r>
              <a:rPr lang="zh-CN" altLang="en-US" b="1" dirty="0"/>
              <a:t>长程依赖困境：</a:t>
            </a:r>
            <a:r>
              <a:rPr lang="zh-CN" altLang="en-US" dirty="0"/>
              <a:t> 这些模型在处理**长程依赖（</a:t>
            </a:r>
            <a:r>
              <a:rPr lang="en-US" altLang="zh-CN" dirty="0"/>
              <a:t>long-range dependencies</a:t>
            </a:r>
            <a:r>
              <a:rPr lang="zh-CN" altLang="en-US" dirty="0"/>
              <a:t>）**时显得力不从心，难以捕获序列中远距离元素之间的信息。</a:t>
            </a:r>
          </a:p>
          <a:p>
            <a:r>
              <a:rPr lang="zh-CN" altLang="en-US" b="1" dirty="0"/>
              <a:t>梯度消失问题：</a:t>
            </a:r>
            <a:r>
              <a:rPr lang="zh-CN" altLang="en-US" dirty="0"/>
              <a:t> **梯度消失（</a:t>
            </a:r>
            <a:r>
              <a:rPr lang="en-US" altLang="zh-CN" dirty="0"/>
              <a:t>vanishing gradient</a:t>
            </a:r>
            <a:r>
              <a:rPr lang="zh-CN" altLang="en-US" dirty="0"/>
              <a:t>）**现象阻碍了模型在长序列中进行学习或传播梯度的能力，这不仅拖慢了训练进度，也限制了模型有效建模复杂关系的能力。</a:t>
            </a:r>
          </a:p>
          <a:p>
            <a:r>
              <a:rPr lang="zh-CN" altLang="en-US" b="1" dirty="0"/>
              <a:t>长序列处理瓶颈：</a:t>
            </a:r>
            <a:r>
              <a:rPr lang="zh-CN" altLang="en-US" dirty="0"/>
              <a:t> 面对长序列时，模型的局限性愈发明显。随着输入序列的增长，编码器生成的</a:t>
            </a:r>
            <a:r>
              <a:rPr lang="zh-CN" altLang="en-US" b="1" dirty="0"/>
              <a:t>固定尺寸表示（</a:t>
            </a:r>
            <a:r>
              <a:rPr lang="en-US" altLang="zh-CN" b="1" dirty="0"/>
              <a:t>fixed-size representation</a:t>
            </a:r>
            <a:r>
              <a:rPr lang="zh-CN" altLang="en-US" b="1" dirty="0"/>
              <a:t>）不足以保留所有必要的上下文信息，从而导致信息丢失和性能下降（这也被称为信息瓶颈</a:t>
            </a:r>
            <a:r>
              <a:rPr lang="zh-CN" altLang="en-US" dirty="0"/>
              <a:t>）。</a:t>
            </a:r>
          </a:p>
          <a:p>
            <a:r>
              <a:rPr lang="zh-CN" altLang="en-US" b="1" dirty="0"/>
              <a:t>生成挑战：</a:t>
            </a:r>
            <a:r>
              <a:rPr lang="zh-CN" altLang="en-US" dirty="0"/>
              <a:t> 因此，利用传统的固定尺寸上下文向量来生成长序列变得极具挑战性。</a:t>
            </a:r>
          </a:p>
          <a:p>
            <a:endParaRPr lang="zh-CN" altLang="en-US" dirty="0"/>
          </a:p>
        </p:txBody>
      </p:sp>
      <p:sp>
        <p:nvSpPr>
          <p:cNvPr id="1048667" name="灯片编号占位符 3"/>
          <p:cNvSpPr>
            <a:spLocks noGrp="1"/>
          </p:cNvSpPr>
          <p:nvPr>
            <p:ph type="sldNum" sz="quarter" idx="5"/>
          </p:nvPr>
        </p:nvSpPr>
        <p:spPr/>
        <p:txBody>
          <a:bodyPr/>
          <a:lstStyle/>
          <a:p>
            <a:fld id="{AB44C98A-D9C5-894D-9A13-8F52E37846C0}"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2" name="幻灯片图像占位符 1"/>
          <p:cNvSpPr>
            <a:spLocks noGrp="1" noRot="1" noChangeAspect="1"/>
          </p:cNvSpPr>
          <p:nvPr>
            <p:ph type="sldImg"/>
          </p:nvPr>
        </p:nvSpPr>
        <p:spPr/>
      </p:sp>
      <p:sp>
        <p:nvSpPr>
          <p:cNvPr id="1048673" name="备注占位符 2"/>
          <p:cNvSpPr>
            <a:spLocks noGrp="1"/>
          </p:cNvSpPr>
          <p:nvPr>
            <p:ph type="body" idx="1"/>
          </p:nvPr>
        </p:nvSpPr>
        <p:spPr/>
        <p:txBody>
          <a:bodyPr/>
          <a:lstStyle/>
          <a:p>
            <a:r>
              <a:rPr lang="en-US" altLang="zh-CN" dirty="0"/>
              <a:t>Transformer </a:t>
            </a:r>
            <a:r>
              <a:rPr lang="zh-CN" altLang="en-US" dirty="0"/>
              <a:t>模型最初是在论文 **</a:t>
            </a:r>
            <a:r>
              <a:rPr lang="en-US" altLang="zh-CN" dirty="0"/>
              <a:t>《Attention Is All You Need》**</a:t>
            </a:r>
            <a:r>
              <a:rPr lang="zh-CN" altLang="en-US" dirty="0"/>
              <a:t>中提出的，其在特定任务上的表现超越了 </a:t>
            </a:r>
            <a:r>
              <a:rPr lang="en-US" altLang="zh-CN" dirty="0"/>
              <a:t>Google </a:t>
            </a:r>
            <a:r>
              <a:rPr lang="zh-CN" altLang="en-US" dirty="0"/>
              <a:t>神经网络机器翻译（</a:t>
            </a:r>
            <a:r>
              <a:rPr lang="en-US" altLang="zh-CN" dirty="0"/>
              <a:t>GNMT</a:t>
            </a:r>
            <a:r>
              <a:rPr lang="zh-CN" altLang="en-US" dirty="0"/>
              <a:t>）模型。然而，其最大的优势在于它非常适合</a:t>
            </a:r>
            <a:r>
              <a:rPr lang="zh-CN" altLang="en-US" b="1" dirty="0"/>
              <a:t>并行化</a:t>
            </a:r>
            <a:r>
              <a:rPr lang="zh-CN" altLang="en-US" dirty="0"/>
              <a:t>处理。</a:t>
            </a:r>
            <a:endParaRPr lang="en-US" altLang="zh-CN" dirty="0"/>
          </a:p>
          <a:p>
            <a:r>
              <a:rPr lang="zh-CN" altLang="en-US" dirty="0"/>
              <a:t>从将模型视为一个</a:t>
            </a:r>
            <a:r>
              <a:rPr lang="zh-CN" altLang="en-US" b="1" dirty="0"/>
              <a:t>单独的黑箱</a:t>
            </a:r>
            <a:r>
              <a:rPr lang="zh-CN" altLang="en-US" dirty="0"/>
              <a:t>开始，在机器翻译的应用中，这个模型会接收</a:t>
            </a:r>
            <a:r>
              <a:rPr lang="zh-CN" altLang="en-US" b="1" dirty="0"/>
              <a:t>一种语言的句子作为输入</a:t>
            </a:r>
            <a:r>
              <a:rPr lang="zh-CN" altLang="en-US" dirty="0"/>
              <a:t>，然后</a:t>
            </a:r>
            <a:r>
              <a:rPr lang="zh-CN" altLang="en-US" b="1" dirty="0"/>
              <a:t>输出另一种语言的翻译</a:t>
            </a:r>
            <a:r>
              <a:rPr lang="zh-CN" altLang="en-US" dirty="0"/>
              <a:t>。</a:t>
            </a:r>
            <a:endParaRPr lang="en-US" altLang="zh-CN" dirty="0"/>
          </a:p>
          <a:p>
            <a:r>
              <a:rPr lang="zh-CN" altLang="en-US" dirty="0"/>
              <a:t>拆开这个黑盒，我们会看到一个</a:t>
            </a:r>
            <a:r>
              <a:rPr lang="zh-CN" altLang="en-US" b="1" dirty="0"/>
              <a:t>编码组件（</a:t>
            </a:r>
            <a:r>
              <a:rPr lang="en-US" altLang="zh-CN" b="1" dirty="0"/>
              <a:t>encoding component</a:t>
            </a:r>
            <a:r>
              <a:rPr lang="zh-CN" altLang="en-US" b="1" dirty="0"/>
              <a:t>）</a:t>
            </a:r>
            <a:r>
              <a:rPr lang="zh-CN" altLang="en-US" dirty="0"/>
              <a:t>、一个</a:t>
            </a:r>
            <a:r>
              <a:rPr lang="zh-CN" altLang="en-US" b="1" dirty="0"/>
              <a:t>解码组件（</a:t>
            </a:r>
            <a:r>
              <a:rPr lang="en-US" altLang="zh-CN" b="1" dirty="0"/>
              <a:t>decoding component</a:t>
            </a:r>
            <a:r>
              <a:rPr lang="zh-CN" altLang="en-US" b="1" dirty="0"/>
              <a:t>）</a:t>
            </a:r>
            <a:r>
              <a:rPr lang="zh-CN" altLang="en-US" dirty="0"/>
              <a:t>，以及它们之间的连接。</a:t>
            </a:r>
            <a:endParaRPr lang="en-US" altLang="zh-CN" dirty="0"/>
          </a:p>
          <a:p>
            <a:r>
              <a:rPr lang="zh-CN" altLang="en-US" dirty="0"/>
              <a:t>编码组件是由一</a:t>
            </a:r>
            <a:r>
              <a:rPr lang="zh-CN" altLang="en-US" b="1" dirty="0"/>
              <a:t>叠（</a:t>
            </a:r>
            <a:r>
              <a:rPr lang="en-US" altLang="zh-CN" b="1" dirty="0"/>
              <a:t>stack</a:t>
            </a:r>
            <a:r>
              <a:rPr lang="zh-CN" altLang="en-US" b="1" dirty="0"/>
              <a:t>）编码器</a:t>
            </a:r>
            <a:r>
              <a:rPr lang="zh-CN" altLang="en-US" dirty="0"/>
              <a:t>构成的（论文中将六个编码器堆叠在一起</a:t>
            </a:r>
            <a:r>
              <a:rPr lang="en-US" altLang="zh-CN" dirty="0"/>
              <a:t>——</a:t>
            </a:r>
            <a:r>
              <a:rPr lang="zh-CN" altLang="en-US" dirty="0"/>
              <a:t>这个数字六并非</a:t>
            </a:r>
            <a:r>
              <a:rPr lang="en-US" altLang="zh-CN" dirty="0"/>
              <a:t>magic number</a:t>
            </a:r>
            <a:r>
              <a:rPr lang="zh-CN" altLang="en-US" dirty="0"/>
              <a:t>，当然可以尝试其他的安排）。解码组件也是由</a:t>
            </a:r>
            <a:r>
              <a:rPr lang="zh-CN" altLang="en-US" b="1" dirty="0"/>
              <a:t>相同数量</a:t>
            </a:r>
            <a:r>
              <a:rPr lang="zh-CN" altLang="en-US" dirty="0"/>
              <a:t>的解码器堆叠而成的。</a:t>
            </a:r>
            <a:endParaRPr lang="en-US" altLang="zh-CN" dirty="0"/>
          </a:p>
          <a:p>
            <a:endParaRPr lang="zh-CN" altLang="en-US" dirty="0"/>
          </a:p>
        </p:txBody>
      </p:sp>
      <p:sp>
        <p:nvSpPr>
          <p:cNvPr id="1048674" name="灯片编号占位符 3"/>
          <p:cNvSpPr>
            <a:spLocks noGrp="1"/>
          </p:cNvSpPr>
          <p:nvPr>
            <p:ph type="sldNum" sz="quarter" idx="5"/>
          </p:nvPr>
        </p:nvSpPr>
        <p:spPr/>
        <p:txBody>
          <a:bodyPr/>
          <a:lstStyle/>
          <a:p>
            <a:fld id="{AB44C98A-D9C5-894D-9A13-8F52E37846C0}"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幻灯片图像占位符 1"/>
          <p:cNvSpPr>
            <a:spLocks noGrp="1" noRot="1" noChangeAspect="1"/>
          </p:cNvSpPr>
          <p:nvPr>
            <p:ph type="sldImg"/>
          </p:nvPr>
        </p:nvSpPr>
        <p:spPr/>
      </p:sp>
      <p:sp>
        <p:nvSpPr>
          <p:cNvPr id="1048700" name="备注占位符 2"/>
          <p:cNvSpPr>
            <a:spLocks noGrp="1"/>
          </p:cNvSpPr>
          <p:nvPr>
            <p:ph type="body" idx="1"/>
          </p:nvPr>
        </p:nvSpPr>
        <p:spPr/>
        <p:txBody>
          <a:bodyPr/>
          <a:lstStyle/>
          <a:p>
            <a:r>
              <a:rPr lang="zh-CN" altLang="en-US" b="1" dirty="0"/>
              <a:t>注意力机制的实际应用示例</a:t>
            </a:r>
          </a:p>
          <a:p>
            <a:r>
              <a:rPr lang="zh-CN" altLang="en-US" dirty="0"/>
              <a:t>假设我们想将</a:t>
            </a:r>
            <a:r>
              <a:rPr lang="zh-CN" altLang="en-US" b="1" dirty="0"/>
              <a:t>计算机科学系</a:t>
            </a:r>
            <a:r>
              <a:rPr lang="zh-CN" altLang="en-US" dirty="0"/>
              <a:t>和</a:t>
            </a:r>
            <a:r>
              <a:rPr lang="zh-CN" altLang="en-US" b="1" dirty="0"/>
              <a:t>哲学系</a:t>
            </a:r>
            <a:r>
              <a:rPr lang="zh-CN" altLang="en-US" dirty="0"/>
              <a:t>（两个</a:t>
            </a:r>
            <a:r>
              <a:rPr lang="zh-CN" altLang="en-US" b="1" dirty="0"/>
              <a:t>查询 </a:t>
            </a:r>
            <a:r>
              <a:rPr lang="en-US" altLang="zh-CN" b="1" dirty="0"/>
              <a:t>Query</a:t>
            </a:r>
            <a:r>
              <a:rPr lang="zh-CN" altLang="en-US" dirty="0"/>
              <a:t>）转换为模型可以理解的向量，并且数据库中有四门学科（四个</a:t>
            </a:r>
            <a:r>
              <a:rPr lang="zh-CN" altLang="en-US" b="1" dirty="0"/>
              <a:t>键值 </a:t>
            </a:r>
            <a:r>
              <a:rPr lang="en-US" altLang="zh-CN" b="1" dirty="0"/>
              <a:t>Key-Value</a:t>
            </a:r>
            <a:r>
              <a:rPr lang="zh-CN" altLang="en-US" dirty="0"/>
              <a:t> 对）：英语、社会学、数学和物理。</a:t>
            </a:r>
            <a:endParaRPr lang="en-US" altLang="zh-CN" dirty="0"/>
          </a:p>
          <a:p>
            <a:r>
              <a:rPr lang="zh-CN" altLang="en-US" dirty="0"/>
              <a:t>接下来，我们需要 </a:t>
            </a:r>
            <a:r>
              <a:rPr lang="en-US" altLang="zh-CN" b="1" dirty="0">
                <a:effectLst/>
              </a:rPr>
              <a:t>V</a:t>
            </a:r>
            <a:r>
              <a:rPr lang="zh-CN" altLang="en-US" b="1" dirty="0"/>
              <a:t>（值）的向量。在这里，我设置 </a:t>
            </a:r>
            <a:r>
              <a:rPr lang="en-US" altLang="zh-CN" b="1" dirty="0"/>
              <a:t>d</a:t>
            </a:r>
            <a:r>
              <a:rPr lang="en-US" altLang="zh-CN" b="1" dirty="0">
                <a:effectLst/>
              </a:rPr>
              <a:t>v</a:t>
            </a:r>
            <a:r>
              <a:rPr lang="zh-CN" altLang="en-US" b="1" dirty="0"/>
              <a:t>​</a:t>
            </a:r>
            <a:r>
              <a:rPr lang="en-US" altLang="zh-CN" b="1" dirty="0"/>
              <a:t>=3</a:t>
            </a:r>
            <a:r>
              <a:rPr lang="zh-CN" altLang="en-US" b="1" dirty="0"/>
              <a:t>，其中 </a:t>
            </a:r>
            <a:r>
              <a:rPr lang="en-US" altLang="zh-CN" b="1" dirty="0">
                <a:effectLst/>
              </a:rPr>
              <a:t>V</a:t>
            </a:r>
            <a:r>
              <a:rPr lang="zh-CN" altLang="en-US" b="1" dirty="0"/>
              <a:t> 中的三个值代表记忆力、语言能力</a:t>
            </a:r>
            <a:r>
              <a:rPr lang="zh-CN" altLang="en-US" dirty="0"/>
              <a:t>和</a:t>
            </a:r>
            <a:r>
              <a:rPr lang="zh-CN" altLang="en-US" b="1" dirty="0"/>
              <a:t>逻辑推理能力</a:t>
            </a:r>
            <a:r>
              <a:rPr lang="zh-CN" altLang="en-US" dirty="0"/>
              <a:t>。</a:t>
            </a:r>
          </a:p>
          <a:p>
            <a:r>
              <a:rPr lang="en-US" altLang="zh-CN" dirty="0"/>
              <a:t>(</a:t>
            </a:r>
            <a:r>
              <a:rPr lang="zh-CN" altLang="en-US" dirty="0"/>
              <a:t>注：在现实中，我们无法知道 </a:t>
            </a:r>
            <a:r>
              <a:rPr lang="en-US" altLang="zh-CN" dirty="0">
                <a:effectLst/>
              </a:rPr>
              <a:t>V</a:t>
            </a:r>
            <a:r>
              <a:rPr lang="zh-CN" altLang="en-US" dirty="0"/>
              <a:t> 矩阵的列代表什么，模型会自行找出它们应该代表的特征。</a:t>
            </a:r>
            <a:r>
              <a:rPr lang="en-US" altLang="zh-CN" dirty="0"/>
              <a:t>)</a:t>
            </a:r>
          </a:p>
          <a:p>
            <a:r>
              <a:rPr lang="zh-CN" altLang="en-US" dirty="0"/>
              <a:t>对于 </a:t>
            </a:r>
            <a:r>
              <a:rPr lang="en-US" altLang="zh-CN" dirty="0"/>
              <a:t>XX </a:t>
            </a:r>
            <a:r>
              <a:rPr lang="zh-CN" altLang="en-US" dirty="0"/>
              <a:t>学科，要取得好成绩，所需的</a:t>
            </a:r>
            <a:r>
              <a:rPr lang="zh-CN" altLang="en-US" b="1" dirty="0"/>
              <a:t>记忆力、语言能力和逻辑推理能力</a:t>
            </a:r>
            <a:r>
              <a:rPr lang="zh-CN" altLang="en-US" dirty="0"/>
              <a:t>得分分别是</a:t>
            </a:r>
            <a:r>
              <a:rPr lang="en-US" altLang="zh-CN" dirty="0"/>
              <a:t>...</a:t>
            </a:r>
          </a:p>
          <a:p>
            <a:pPr>
              <a:buFont typeface="Arial" panose="020B0604020202020204" pitchFamily="34" charset="0"/>
              <a:buChar char="•"/>
            </a:pPr>
            <a:r>
              <a:rPr lang="zh-CN" altLang="en-US" b="1" dirty="0"/>
              <a:t>英语：</a:t>
            </a:r>
            <a:r>
              <a:rPr lang="zh-CN" altLang="en-US" dirty="0"/>
              <a:t> 侧重于</a:t>
            </a:r>
            <a:r>
              <a:rPr lang="zh-CN" altLang="en-US" b="1" dirty="0"/>
              <a:t>语言能力 </a:t>
            </a:r>
            <a:r>
              <a:rPr lang="en-US" altLang="zh-CN" b="1" dirty="0"/>
              <a:t>(12.0)</a:t>
            </a:r>
            <a:r>
              <a:rPr lang="zh-CN" altLang="en-US" dirty="0"/>
              <a:t>。</a:t>
            </a:r>
          </a:p>
          <a:p>
            <a:pPr>
              <a:buFont typeface="Arial" panose="020B0604020202020204" pitchFamily="34" charset="0"/>
              <a:buChar char="•"/>
            </a:pPr>
            <a:r>
              <a:rPr lang="zh-CN" altLang="en-US" b="1" dirty="0"/>
              <a:t>数学：</a:t>
            </a:r>
            <a:r>
              <a:rPr lang="zh-CN" altLang="en-US" dirty="0"/>
              <a:t> 侧重于</a:t>
            </a:r>
            <a:r>
              <a:rPr lang="zh-CN" altLang="en-US" b="1" dirty="0"/>
              <a:t>逻辑推理能力 </a:t>
            </a:r>
            <a:r>
              <a:rPr lang="en-US" altLang="zh-CN" b="1" dirty="0"/>
              <a:t>(13.0)</a:t>
            </a:r>
            <a:r>
              <a:rPr lang="zh-CN" altLang="en-US" dirty="0"/>
              <a:t>。</a:t>
            </a:r>
          </a:p>
          <a:p>
            <a:pPr>
              <a:buFont typeface="Arial" panose="020B0604020202020204" pitchFamily="34" charset="0"/>
              <a:buChar char="•"/>
            </a:pPr>
            <a:r>
              <a:rPr lang="zh-CN" altLang="en-US" b="1" dirty="0"/>
              <a:t>社会学：</a:t>
            </a:r>
            <a:r>
              <a:rPr lang="zh-CN" altLang="en-US" dirty="0"/>
              <a:t> 侧重于</a:t>
            </a:r>
            <a:r>
              <a:rPr lang="zh-CN" altLang="en-US" b="1" dirty="0"/>
              <a:t>记忆力 </a:t>
            </a:r>
            <a:r>
              <a:rPr lang="en-US" altLang="zh-CN" b="1" dirty="0"/>
              <a:t>(11.0)</a:t>
            </a:r>
            <a:r>
              <a:rPr lang="zh-CN" altLang="en-US" dirty="0"/>
              <a:t>。</a:t>
            </a:r>
          </a:p>
          <a:p>
            <a:r>
              <a:rPr lang="zh-CN" altLang="en-US" dirty="0"/>
              <a:t>要在 </a:t>
            </a:r>
            <a:r>
              <a:rPr lang="en-US" altLang="zh-CN" dirty="0"/>
              <a:t>XX </a:t>
            </a:r>
            <a:r>
              <a:rPr lang="zh-CN" altLang="en-US" dirty="0"/>
              <a:t>系取得好成绩，所需的</a:t>
            </a:r>
            <a:r>
              <a:rPr lang="zh-CN" altLang="en-US" b="1" dirty="0"/>
              <a:t>记忆力、语言能力和逻辑推理能力</a:t>
            </a:r>
            <a:r>
              <a:rPr lang="zh-CN" altLang="en-US" dirty="0"/>
              <a:t>得分（根据学科重要性加权平均）分别是</a:t>
            </a:r>
            <a:r>
              <a:rPr lang="en-US" altLang="zh-CN" dirty="0"/>
              <a:t>...</a:t>
            </a:r>
          </a:p>
          <a:p>
            <a:pPr>
              <a:buFont typeface="Arial" panose="020B0604020202020204" pitchFamily="34" charset="0"/>
              <a:buChar char="•"/>
            </a:pPr>
            <a:r>
              <a:rPr lang="zh-CN" altLang="en-US" b="1" dirty="0"/>
              <a:t>计算机科学系：</a:t>
            </a:r>
            <a:r>
              <a:rPr lang="zh-CN" altLang="en-US" dirty="0"/>
              <a:t> 强调</a:t>
            </a:r>
            <a:r>
              <a:rPr lang="zh-CN" altLang="en-US" b="1" dirty="0"/>
              <a:t>逻辑推理</a:t>
            </a:r>
            <a:r>
              <a:rPr lang="zh-CN" altLang="en-US" dirty="0"/>
              <a:t> </a:t>
            </a:r>
            <a:r>
              <a:rPr lang="en-US" altLang="zh-CN" dirty="0"/>
              <a:t>(10.1)</a:t>
            </a:r>
            <a:r>
              <a:rPr lang="zh-CN" altLang="en-US" dirty="0"/>
              <a:t>，记忆力和语言能力得分较低。</a:t>
            </a:r>
          </a:p>
          <a:p>
            <a:pPr>
              <a:buFont typeface="Arial" panose="020B0604020202020204" pitchFamily="34" charset="0"/>
              <a:buChar char="•"/>
            </a:pPr>
            <a:r>
              <a:rPr lang="zh-CN" altLang="en-US" b="1" dirty="0"/>
              <a:t>哲学系：</a:t>
            </a:r>
            <a:r>
              <a:rPr lang="zh-CN" altLang="en-US" dirty="0"/>
              <a:t> 强调</a:t>
            </a:r>
            <a:r>
              <a:rPr lang="zh-CN" altLang="en-US" b="1" dirty="0"/>
              <a:t>记忆力 </a:t>
            </a:r>
            <a:r>
              <a:rPr lang="en-US" altLang="zh-CN" b="1" dirty="0"/>
              <a:t>(8.3) </a:t>
            </a:r>
            <a:r>
              <a:rPr lang="zh-CN" altLang="en-US" b="1" dirty="0"/>
              <a:t>和语言能力 </a:t>
            </a:r>
            <a:r>
              <a:rPr lang="en-US" altLang="zh-CN" b="1" dirty="0"/>
              <a:t>(8.7)</a:t>
            </a:r>
            <a:r>
              <a:rPr lang="zh-CN" altLang="en-US" dirty="0"/>
              <a:t>，逻辑推理得分相对最低。</a:t>
            </a:r>
          </a:p>
          <a:p>
            <a:endParaRPr lang="en-US" altLang="zh-CN" dirty="0"/>
          </a:p>
          <a:p>
            <a:r>
              <a:rPr lang="zh-CN" altLang="en-US" dirty="0"/>
              <a:t>步骤 </a:t>
            </a:r>
            <a:r>
              <a:rPr lang="en-US" altLang="zh-CN" dirty="0"/>
              <a:t>1: </a:t>
            </a:r>
            <a:r>
              <a:rPr lang="zh-CN" altLang="en-US" dirty="0"/>
              <a:t>加载输入数据 </a:t>
            </a:r>
            <a:r>
              <a:rPr lang="en-US" altLang="zh-CN" dirty="0"/>
              <a:t>(Load)</a:t>
            </a:r>
            <a:r>
              <a:rPr lang="zh-CN" altLang="en-US" dirty="0"/>
              <a:t>，把</a:t>
            </a:r>
            <a:r>
              <a:rPr lang="en-US" altLang="zh-CN" dirty="0"/>
              <a:t>QKV</a:t>
            </a:r>
            <a:r>
              <a:rPr lang="zh-CN" altLang="en-US" dirty="0"/>
              <a:t>加载到</a:t>
            </a:r>
            <a:r>
              <a:rPr lang="en-US" altLang="zh-CN" dirty="0"/>
              <a:t>HBM</a:t>
            </a:r>
            <a:r>
              <a:rPr lang="zh-CN" altLang="en-US" dirty="0"/>
              <a:t>上</a:t>
            </a:r>
            <a:endParaRPr lang="en-US" altLang="zh-CN" dirty="0"/>
          </a:p>
          <a:p>
            <a:r>
              <a:rPr lang="zh-CN" altLang="en-US" dirty="0"/>
              <a:t>步骤 </a:t>
            </a:r>
            <a:r>
              <a:rPr lang="en-US" altLang="zh-CN" dirty="0"/>
              <a:t>2: </a:t>
            </a:r>
            <a:r>
              <a:rPr lang="zh-CN" altLang="en-US" dirty="0"/>
              <a:t>计算注意力分数矩阵 </a:t>
            </a:r>
            <a:r>
              <a:rPr lang="en-US" altLang="zh-CN" dirty="0">
                <a:effectLst/>
              </a:rPr>
              <a:t>S</a:t>
            </a:r>
            <a:r>
              <a:rPr lang="en-US" altLang="zh-CN" dirty="0"/>
              <a:t> </a:t>
            </a:r>
            <a:r>
              <a:rPr lang="zh-CN" altLang="en-US" dirty="0"/>
              <a:t>（</a:t>
            </a:r>
            <a:r>
              <a:rPr lang="en-US" altLang="zh-CN" dirty="0"/>
              <a:t>CUDA Kernel 1: </a:t>
            </a:r>
            <a:r>
              <a:rPr lang="en-US" altLang="zh-CN" dirty="0" err="1"/>
              <a:t>MatMul</a:t>
            </a:r>
            <a:r>
              <a:rPr lang="en-US" altLang="zh-CN" dirty="0"/>
              <a:t> &amp; Scale</a:t>
            </a:r>
            <a:r>
              <a:rPr lang="zh-CN" altLang="en-US" dirty="0"/>
              <a:t>）</a:t>
            </a:r>
            <a:r>
              <a:rPr lang="zh-CN" altLang="en-US" b="1" dirty="0"/>
              <a:t>结果矩阵大小</a:t>
            </a:r>
            <a:r>
              <a:rPr lang="en-US" altLang="zh-CN" b="1" dirty="0"/>
              <a:t>:</a:t>
            </a:r>
            <a:r>
              <a:rPr lang="zh-CN" altLang="en-US" dirty="0"/>
              <a:t> </a:t>
            </a:r>
            <a:r>
              <a:rPr lang="en-US" altLang="zh-CN" dirty="0">
                <a:effectLst/>
              </a:rPr>
              <a:t>S</a:t>
            </a:r>
            <a:r>
              <a:rPr lang="en-US" altLang="zh-CN" dirty="0"/>
              <a:t> </a:t>
            </a:r>
            <a:r>
              <a:rPr lang="zh-CN" altLang="en-US" dirty="0"/>
              <a:t>的大小是 </a:t>
            </a:r>
            <a:r>
              <a:rPr lang="en-US" altLang="zh-CN" dirty="0">
                <a:effectLst/>
              </a:rPr>
              <a:t>N</a:t>
            </a:r>
            <a:r>
              <a:rPr lang="en-US" altLang="zh-CN" dirty="0"/>
              <a:t>×</a:t>
            </a:r>
            <a:r>
              <a:rPr lang="en-US" altLang="zh-CN" dirty="0">
                <a:effectLst/>
              </a:rPr>
              <a:t>N</a:t>
            </a:r>
            <a:r>
              <a:rPr lang="zh-CN" altLang="en-US" dirty="0"/>
              <a:t>。这是瓶颈的根源。如果序列长度 </a:t>
            </a:r>
            <a:r>
              <a:rPr lang="en-US" altLang="zh-CN" dirty="0">
                <a:effectLst/>
              </a:rPr>
              <a:t>N</a:t>
            </a:r>
            <a:r>
              <a:rPr lang="en-US" altLang="zh-CN" dirty="0"/>
              <a:t>=4096</a:t>
            </a:r>
            <a:r>
              <a:rPr lang="zh-CN" altLang="en-US" dirty="0"/>
              <a:t>，矩阵大小为 </a:t>
            </a:r>
            <a:r>
              <a:rPr lang="en-US" altLang="zh-CN" dirty="0"/>
              <a:t>16,777,216 </a:t>
            </a:r>
            <a:r>
              <a:rPr lang="zh-CN" altLang="en-US" dirty="0"/>
              <a:t>个元素。</a:t>
            </a:r>
            <a:endParaRPr lang="en-US" altLang="zh-CN" dirty="0"/>
          </a:p>
          <a:p>
            <a:r>
              <a:rPr lang="zh-CN" altLang="en-US" dirty="0"/>
              <a:t>步骤 </a:t>
            </a:r>
            <a:r>
              <a:rPr lang="en-US" altLang="zh-CN" dirty="0"/>
              <a:t>3: </a:t>
            </a:r>
            <a:r>
              <a:rPr lang="zh-CN" altLang="en-US" dirty="0"/>
              <a:t>写入注意力分数矩阵 </a:t>
            </a:r>
            <a:r>
              <a:rPr lang="en-US" altLang="zh-CN" dirty="0">
                <a:effectLst/>
              </a:rPr>
              <a:t>S</a:t>
            </a:r>
            <a:r>
              <a:rPr lang="zh-CN" altLang="en-US" dirty="0"/>
              <a:t> （瓶颈 </a:t>
            </a:r>
            <a:r>
              <a:rPr lang="en-US" altLang="zh-CN" dirty="0"/>
              <a:t>I: </a:t>
            </a:r>
            <a:r>
              <a:rPr lang="zh-CN" altLang="en-US" dirty="0"/>
              <a:t>中间结果回写）</a:t>
            </a:r>
            <a:r>
              <a:rPr lang="en-US" altLang="zh-CN" b="1" dirty="0"/>
              <a:t>GPU Core</a:t>
            </a:r>
            <a:r>
              <a:rPr lang="zh-CN" altLang="en-US" dirty="0"/>
              <a:t> 必须将完整的、巨大的中间结果 </a:t>
            </a:r>
            <a:r>
              <a:rPr lang="en-US" altLang="zh-CN" dirty="0">
                <a:effectLst/>
              </a:rPr>
              <a:t>S</a:t>
            </a:r>
            <a:r>
              <a:rPr lang="zh-CN" altLang="en-US" dirty="0"/>
              <a:t> 从计算核心写回慢速的 </a:t>
            </a:r>
            <a:r>
              <a:rPr lang="en-US" altLang="zh-CN" b="1" dirty="0"/>
              <a:t>HBM</a:t>
            </a:r>
          </a:p>
          <a:p>
            <a:r>
              <a:rPr lang="zh-CN" altLang="en-US" dirty="0"/>
              <a:t>步骤 </a:t>
            </a:r>
            <a:r>
              <a:rPr lang="en-US" altLang="zh-CN" dirty="0"/>
              <a:t>4:</a:t>
            </a:r>
            <a:r>
              <a:rPr lang="zh-CN" altLang="en-US" dirty="0"/>
              <a:t>应用 </a:t>
            </a:r>
            <a:r>
              <a:rPr lang="en-US" altLang="zh-CN" dirty="0" err="1"/>
              <a:t>Softmax</a:t>
            </a:r>
            <a:r>
              <a:rPr lang="en-US" altLang="zh-CN" dirty="0"/>
              <a:t> </a:t>
            </a:r>
            <a:r>
              <a:rPr lang="zh-CN" altLang="en-US" dirty="0"/>
              <a:t>（</a:t>
            </a:r>
            <a:r>
              <a:rPr lang="en-US" altLang="zh-CN" dirty="0"/>
              <a:t>CUDA Kernel 2: </a:t>
            </a:r>
            <a:r>
              <a:rPr lang="en-US" altLang="zh-CN" dirty="0" err="1"/>
              <a:t>Softmax</a:t>
            </a:r>
            <a:r>
              <a:rPr lang="zh-CN" altLang="en-US" dirty="0"/>
              <a:t>）</a:t>
            </a:r>
            <a:r>
              <a:rPr lang="en-US" altLang="zh-CN" b="1" dirty="0"/>
              <a:t>GPU Core</a:t>
            </a:r>
            <a:r>
              <a:rPr lang="en-US" altLang="zh-CN" dirty="0"/>
              <a:t> </a:t>
            </a:r>
            <a:r>
              <a:rPr lang="zh-CN" altLang="en-US" dirty="0"/>
              <a:t>必须从 </a:t>
            </a:r>
            <a:r>
              <a:rPr lang="en-US" altLang="zh-CN" b="1" dirty="0"/>
              <a:t>HBM</a:t>
            </a:r>
            <a:r>
              <a:rPr lang="en-US" altLang="zh-CN" dirty="0"/>
              <a:t> </a:t>
            </a:r>
            <a:r>
              <a:rPr lang="zh-CN" altLang="en-US" dirty="0"/>
              <a:t>重新读取 </a:t>
            </a:r>
            <a:r>
              <a:rPr lang="en-US" altLang="zh-CN" dirty="0">
                <a:effectLst/>
              </a:rPr>
              <a:t>S</a:t>
            </a:r>
            <a:r>
              <a:rPr lang="en-US" altLang="zh-CN" dirty="0"/>
              <a:t> </a:t>
            </a:r>
            <a:r>
              <a:rPr lang="zh-CN" altLang="en-US" dirty="0"/>
              <a:t>矩阵。</a:t>
            </a:r>
            <a:r>
              <a:rPr lang="en-US" altLang="zh-CN" b="1" dirty="0"/>
              <a:t>GPU Core</a:t>
            </a:r>
            <a:r>
              <a:rPr lang="en-US" altLang="zh-CN" dirty="0"/>
              <a:t> </a:t>
            </a:r>
            <a:r>
              <a:rPr lang="zh-CN" altLang="en-US" dirty="0"/>
              <a:t>执行逐行 </a:t>
            </a:r>
            <a:r>
              <a:rPr lang="en-US" altLang="zh-CN" dirty="0" err="1"/>
              <a:t>Softmax</a:t>
            </a:r>
            <a:r>
              <a:rPr lang="en-US" altLang="zh-CN" dirty="0"/>
              <a:t> </a:t>
            </a:r>
            <a:r>
              <a:rPr lang="zh-CN" altLang="en-US" dirty="0"/>
              <a:t>运算，得到归一化的注意力权重矩阵 </a:t>
            </a:r>
            <a:r>
              <a:rPr lang="en-US" altLang="zh-CN" dirty="0" err="1">
                <a:effectLst/>
              </a:rPr>
              <a:t>Sw</a:t>
            </a:r>
            <a:endParaRPr lang="en-US" altLang="zh-CN" dirty="0">
              <a:effectLst/>
            </a:endParaRPr>
          </a:p>
          <a:p>
            <a:r>
              <a:rPr lang="zh-CN" altLang="en-US" dirty="0"/>
              <a:t>步骤 </a:t>
            </a:r>
            <a:r>
              <a:rPr lang="en-US" altLang="zh-CN" dirty="0"/>
              <a:t>5: </a:t>
            </a:r>
            <a:r>
              <a:rPr lang="zh-CN" altLang="en-US" dirty="0"/>
              <a:t>写入注意力权重矩阵 </a:t>
            </a:r>
            <a:r>
              <a:rPr lang="en-US" altLang="zh-CN" dirty="0" err="1">
                <a:effectLst/>
              </a:rPr>
              <a:t>Sw</a:t>
            </a:r>
            <a:r>
              <a:rPr lang="zh-CN" altLang="en-US" dirty="0"/>
              <a:t> （瓶颈 </a:t>
            </a:r>
            <a:r>
              <a:rPr lang="en-US" altLang="zh-CN" dirty="0"/>
              <a:t>II: </a:t>
            </a:r>
            <a:r>
              <a:rPr lang="zh-CN" altLang="en-US" dirty="0"/>
              <a:t>中间结果回写）</a:t>
            </a:r>
            <a:r>
              <a:rPr lang="en-US" altLang="zh-CN" b="1" dirty="0"/>
              <a:t>GPU Core</a:t>
            </a:r>
            <a:r>
              <a:rPr lang="en-US" altLang="zh-CN" dirty="0"/>
              <a:t> </a:t>
            </a:r>
            <a:r>
              <a:rPr lang="zh-CN" altLang="en-US" dirty="0"/>
              <a:t>必须将完整的 </a:t>
            </a:r>
            <a:r>
              <a:rPr lang="en-US" altLang="zh-CN" dirty="0">
                <a:effectLst/>
              </a:rPr>
              <a:t>S^</a:t>
            </a:r>
            <a:r>
              <a:rPr lang="en-US" altLang="zh-CN" dirty="0"/>
              <a:t> </a:t>
            </a:r>
            <a:r>
              <a:rPr lang="zh-CN" altLang="en-US" dirty="0"/>
              <a:t>矩阵写回慢速的 </a:t>
            </a:r>
            <a:r>
              <a:rPr lang="en-US" altLang="zh-CN" b="1" dirty="0"/>
              <a:t>HBM</a:t>
            </a:r>
          </a:p>
          <a:p>
            <a:r>
              <a:rPr lang="zh-CN" altLang="en-US" dirty="0"/>
              <a:t>步骤 </a:t>
            </a:r>
            <a:r>
              <a:rPr lang="en-US" altLang="zh-CN" dirty="0"/>
              <a:t>6: </a:t>
            </a:r>
            <a:r>
              <a:rPr lang="zh-CN" altLang="en-US" dirty="0"/>
              <a:t>计算最终输出 </a:t>
            </a:r>
            <a:r>
              <a:rPr lang="en-US" altLang="zh-CN" dirty="0">
                <a:effectLst/>
              </a:rPr>
              <a:t>O</a:t>
            </a:r>
            <a:r>
              <a:rPr lang="en-US" altLang="zh-CN" dirty="0"/>
              <a:t> </a:t>
            </a:r>
            <a:r>
              <a:rPr lang="zh-CN" altLang="en-US" dirty="0"/>
              <a:t>（</a:t>
            </a:r>
            <a:r>
              <a:rPr lang="en-US" altLang="zh-CN" dirty="0"/>
              <a:t>CUDA Kernel 3: </a:t>
            </a:r>
            <a:r>
              <a:rPr lang="en-US" altLang="zh-CN" dirty="0" err="1"/>
              <a:t>MatMul</a:t>
            </a:r>
            <a:r>
              <a:rPr lang="zh-CN" altLang="en-US" dirty="0"/>
              <a:t>）</a:t>
            </a:r>
            <a:r>
              <a:rPr lang="en-US" altLang="zh-CN" b="1" dirty="0"/>
              <a:t>GPU Core</a:t>
            </a:r>
            <a:r>
              <a:rPr lang="en-US" altLang="zh-CN" dirty="0"/>
              <a:t> </a:t>
            </a:r>
            <a:r>
              <a:rPr lang="zh-CN" altLang="en-US" dirty="0"/>
              <a:t>必须从 </a:t>
            </a:r>
            <a:r>
              <a:rPr lang="en-US" altLang="zh-CN" b="1" dirty="0"/>
              <a:t>HBM</a:t>
            </a:r>
            <a:r>
              <a:rPr lang="en-US" altLang="zh-CN" dirty="0"/>
              <a:t> </a:t>
            </a:r>
            <a:r>
              <a:rPr lang="zh-CN" altLang="en-US" dirty="0"/>
              <a:t>重新读取 </a:t>
            </a:r>
            <a:r>
              <a:rPr lang="en-US" altLang="zh-CN" dirty="0">
                <a:effectLst/>
              </a:rPr>
              <a:t>S^</a:t>
            </a:r>
            <a:r>
              <a:rPr lang="en-US" altLang="zh-CN" dirty="0"/>
              <a:t> </a:t>
            </a:r>
            <a:r>
              <a:rPr lang="zh-CN" altLang="en-US" dirty="0"/>
              <a:t>矩阵。</a:t>
            </a:r>
            <a:r>
              <a:rPr lang="en-US" altLang="zh-CN" b="1" dirty="0"/>
              <a:t>GPU Core</a:t>
            </a:r>
            <a:r>
              <a:rPr lang="en-US" altLang="zh-CN" dirty="0"/>
              <a:t> </a:t>
            </a:r>
            <a:r>
              <a:rPr lang="zh-CN" altLang="en-US" dirty="0"/>
              <a:t>必须从 </a:t>
            </a:r>
            <a:r>
              <a:rPr lang="en-US" altLang="zh-CN" b="1" dirty="0"/>
              <a:t>HBM</a:t>
            </a:r>
            <a:r>
              <a:rPr lang="en-US" altLang="zh-CN" dirty="0"/>
              <a:t> </a:t>
            </a:r>
            <a:r>
              <a:rPr lang="zh-CN" altLang="en-US" dirty="0"/>
              <a:t>重新读取 </a:t>
            </a:r>
            <a:r>
              <a:rPr lang="en-US" altLang="zh-CN" dirty="0">
                <a:effectLst/>
              </a:rPr>
              <a:t>V</a:t>
            </a:r>
            <a:r>
              <a:rPr lang="en-US" altLang="zh-CN" dirty="0"/>
              <a:t> </a:t>
            </a:r>
            <a:r>
              <a:rPr lang="zh-CN" altLang="en-US" dirty="0"/>
              <a:t>矩阵。</a:t>
            </a:r>
            <a:r>
              <a:rPr lang="en-US" altLang="zh-CN" b="1" dirty="0"/>
              <a:t>GPU Core</a:t>
            </a:r>
            <a:r>
              <a:rPr lang="en-US" altLang="zh-CN" dirty="0"/>
              <a:t> </a:t>
            </a:r>
            <a:r>
              <a:rPr lang="zh-CN" altLang="en-US" dirty="0"/>
              <a:t>执行 </a:t>
            </a:r>
            <a:r>
              <a:rPr lang="en-US" altLang="zh-CN" dirty="0">
                <a:effectLst/>
              </a:rPr>
              <a:t>S^</a:t>
            </a:r>
            <a:r>
              <a:rPr lang="en-US" altLang="zh-CN" dirty="0"/>
              <a:t> </a:t>
            </a:r>
            <a:r>
              <a:rPr lang="zh-CN" altLang="en-US" dirty="0"/>
              <a:t>和 </a:t>
            </a:r>
            <a:r>
              <a:rPr lang="en-US" altLang="zh-CN" dirty="0">
                <a:effectLst/>
              </a:rPr>
              <a:t>V</a:t>
            </a:r>
            <a:r>
              <a:rPr lang="en-US" altLang="zh-CN" dirty="0"/>
              <a:t> </a:t>
            </a:r>
            <a:r>
              <a:rPr lang="zh-CN" altLang="en-US" dirty="0"/>
              <a:t>的矩阵乘法，得到最终的输出 </a:t>
            </a:r>
            <a:r>
              <a:rPr lang="en-US" altLang="zh-CN" dirty="0">
                <a:effectLst/>
              </a:rPr>
              <a:t>O</a:t>
            </a:r>
            <a:r>
              <a:rPr lang="zh-CN" altLang="en-US" dirty="0"/>
              <a:t>。将最终输出 </a:t>
            </a:r>
            <a:r>
              <a:rPr lang="en-US" altLang="zh-CN" dirty="0">
                <a:effectLst/>
              </a:rPr>
              <a:t>O</a:t>
            </a:r>
            <a:r>
              <a:rPr lang="zh-CN" altLang="en-US" dirty="0"/>
              <a:t> 写回 </a:t>
            </a:r>
            <a:r>
              <a:rPr lang="en-US" altLang="zh-CN" b="1" dirty="0"/>
              <a:t>HBM</a:t>
            </a:r>
            <a:endParaRPr lang="zh-CN" altLang="en-US" dirty="0"/>
          </a:p>
          <a:p>
            <a:endParaRPr lang="en-US" altLang="zh-CN" dirty="0">
              <a:effectLst/>
            </a:endParaRPr>
          </a:p>
          <a:p>
            <a:endParaRPr lang="en-US" altLang="zh-CN" dirty="0"/>
          </a:p>
          <a:p>
            <a:endParaRPr lang="en-US" altLang="zh-CN" dirty="0"/>
          </a:p>
          <a:p>
            <a:endParaRPr lang="zh-CN" altLang="en-US" dirty="0"/>
          </a:p>
          <a:p>
            <a:endParaRPr lang="zh-CN" altLang="en-US" dirty="0"/>
          </a:p>
        </p:txBody>
      </p:sp>
      <p:sp>
        <p:nvSpPr>
          <p:cNvPr id="1048701" name="灯片编号占位符 3"/>
          <p:cNvSpPr>
            <a:spLocks noGrp="1"/>
          </p:cNvSpPr>
          <p:nvPr>
            <p:ph type="sldNum" sz="quarter" idx="5"/>
          </p:nvPr>
        </p:nvSpPr>
        <p:spPr/>
        <p:txBody>
          <a:bodyPr/>
          <a:lstStyle/>
          <a:p>
            <a:fld id="{AB44C98A-D9C5-894D-9A13-8F52E37846C0}" type="slidenum">
              <a:rPr lang="en-US" smtClean="0"/>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7" name="幻灯片图像占位符 1"/>
          <p:cNvSpPr>
            <a:spLocks noGrp="1" noRot="1" noChangeAspect="1"/>
          </p:cNvSpPr>
          <p:nvPr>
            <p:ph type="sldImg"/>
          </p:nvPr>
        </p:nvSpPr>
        <p:spPr/>
      </p:sp>
      <p:sp>
        <p:nvSpPr>
          <p:cNvPr id="1048708" name="备注占位符 2"/>
          <p:cNvSpPr>
            <a:spLocks noGrp="1"/>
          </p:cNvSpPr>
          <p:nvPr>
            <p:ph type="body" idx="1"/>
          </p:nvPr>
        </p:nvSpPr>
        <p:spPr/>
        <p:txBody>
          <a:bodyPr/>
          <a:lstStyle/>
          <a:p>
            <a:r>
              <a:rPr lang="zh-CN" altLang="en-US" dirty="0"/>
              <a:t>编码器在结构上都是相同的（但它们不共享权重）。每个编码器都分解为两个子层（</a:t>
            </a:r>
            <a:r>
              <a:rPr lang="en-US" altLang="zh-CN" dirty="0"/>
              <a:t>sub-layers</a:t>
            </a:r>
            <a:r>
              <a:rPr lang="zh-CN" altLang="en-US" dirty="0"/>
              <a:t>）：多头自注意力机制（</a:t>
            </a:r>
            <a:r>
              <a:rPr lang="en-US" altLang="zh-CN" dirty="0"/>
              <a:t>Multi-Head Self-Attention Mechanism</a:t>
            </a:r>
            <a:r>
              <a:rPr lang="zh-CN" altLang="en-US" dirty="0"/>
              <a:t>）这个子层帮助编码器在处理特定词语时，能够权衡输入句子中所有其他词语的重要性。简单的前馈网络（</a:t>
            </a:r>
            <a:r>
              <a:rPr lang="en-US" altLang="zh-CN" dirty="0"/>
              <a:t>Simple, Position-wise Feed-Forward Network</a:t>
            </a:r>
            <a:r>
              <a:rPr lang="zh-CN" altLang="en-US" dirty="0"/>
              <a:t>）这是一个标准的全连接前馈网络，它独立地应用于序列中的每个位置（</a:t>
            </a:r>
            <a:r>
              <a:rPr lang="en-US" altLang="zh-CN" dirty="0"/>
              <a:t>position</a:t>
            </a:r>
            <a:r>
              <a:rPr lang="zh-CN" altLang="en-US" dirty="0"/>
              <a:t>）。</a:t>
            </a:r>
            <a:endParaRPr lang="en-US" altLang="zh-CN" dirty="0"/>
          </a:p>
          <a:p>
            <a:r>
              <a:rPr lang="zh-CN" altLang="en-US" dirty="0"/>
              <a:t>解码器（</a:t>
            </a:r>
            <a:r>
              <a:rPr lang="en-US" altLang="zh-CN" dirty="0"/>
              <a:t>Decoder</a:t>
            </a:r>
            <a:r>
              <a:rPr lang="zh-CN" altLang="en-US" dirty="0"/>
              <a:t>）也包含这两个层，但在它们之间还有一个注意力层，这个层帮助解码器聚焦于输入句子中的相关部分（类似于注意力机制在 </a:t>
            </a:r>
            <a:r>
              <a:rPr lang="en-US" altLang="zh-CN" dirty="0"/>
              <a:t>seq2seq </a:t>
            </a:r>
            <a:r>
              <a:rPr lang="zh-CN" altLang="en-US" dirty="0"/>
              <a:t>模型中所起的作用）。</a:t>
            </a:r>
          </a:p>
        </p:txBody>
      </p:sp>
      <p:sp>
        <p:nvSpPr>
          <p:cNvPr id="1048709" name="灯片编号占位符 3"/>
          <p:cNvSpPr>
            <a:spLocks noGrp="1"/>
          </p:cNvSpPr>
          <p:nvPr>
            <p:ph type="sldNum" sz="quarter" idx="5"/>
          </p:nvPr>
        </p:nvSpPr>
        <p:spPr/>
        <p:txBody>
          <a:bodyPr/>
          <a:lstStyle/>
          <a:p>
            <a:fld id="{AB44C98A-D9C5-894D-9A13-8F52E37846C0}" type="slidenum">
              <a:rPr lang="en-US" smtClean="0"/>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幻灯片图像占位符 1"/>
          <p:cNvSpPr>
            <a:spLocks noGrp="1" noRot="1" noChangeAspect="1"/>
          </p:cNvSpPr>
          <p:nvPr>
            <p:ph type="sldImg"/>
          </p:nvPr>
        </p:nvSpPr>
        <p:spPr/>
      </p:sp>
      <p:sp>
        <p:nvSpPr>
          <p:cNvPr id="1048716" name="备注占位符 2"/>
          <p:cNvSpPr>
            <a:spLocks noGrp="1"/>
          </p:cNvSpPr>
          <p:nvPr>
            <p:ph type="body" idx="1"/>
          </p:nvPr>
        </p:nvSpPr>
        <p:spPr/>
        <p:txBody>
          <a:bodyPr/>
          <a:lstStyle/>
          <a:p>
            <a:r>
              <a:rPr lang="zh-CN" altLang="en-US" dirty="0"/>
              <a:t>既然我们已经了解了模型的主要组成部分，现在让我们开始关注各种</a:t>
            </a:r>
            <a:r>
              <a:rPr lang="zh-CN" altLang="en-US" b="1" dirty="0"/>
              <a:t>向量</a:t>
            </a:r>
            <a:r>
              <a:rPr lang="en-US" altLang="zh-CN" b="1" dirty="0"/>
              <a:t>/</a:t>
            </a:r>
            <a:r>
              <a:rPr lang="zh-CN" altLang="en-US" b="1" dirty="0"/>
              <a:t>张量</a:t>
            </a:r>
            <a:r>
              <a:rPr lang="zh-CN" altLang="en-US" dirty="0"/>
              <a:t>，以及它们如何在这些组件之间流动，从而将一个经过训练的模型的输入转化为输出。</a:t>
            </a:r>
          </a:p>
          <a:p>
            <a:r>
              <a:rPr lang="zh-CN" altLang="en-US" dirty="0"/>
              <a:t>正如一般的自然语言处理（</a:t>
            </a:r>
            <a:r>
              <a:rPr lang="en-US" altLang="zh-CN" dirty="0"/>
              <a:t>NLP</a:t>
            </a:r>
            <a:r>
              <a:rPr lang="zh-CN" altLang="en-US" dirty="0"/>
              <a:t>）应用一样，我们首先使用**嵌入算法（</a:t>
            </a:r>
            <a:r>
              <a:rPr lang="en-US" altLang="zh-CN" dirty="0"/>
              <a:t>embedding algorithm</a:t>
            </a:r>
            <a:r>
              <a:rPr lang="zh-CN" altLang="en-US" dirty="0"/>
              <a:t>）**将每个输入词语转换成一个向量。</a:t>
            </a:r>
          </a:p>
          <a:p>
            <a:pPr>
              <a:buFont typeface="Arial" panose="020B0604020202020204" pitchFamily="34" charset="0"/>
              <a:buChar char="•"/>
            </a:pPr>
            <a:r>
              <a:rPr lang="zh-CN" altLang="en-US" dirty="0"/>
              <a:t>每个词语都被嵌入到一个</a:t>
            </a:r>
            <a:r>
              <a:rPr lang="zh-CN" altLang="en-US" b="1" dirty="0"/>
              <a:t>大小为 </a:t>
            </a:r>
            <a:r>
              <a:rPr lang="en-US" altLang="zh-CN" b="1" dirty="0"/>
              <a:t>512</a:t>
            </a:r>
            <a:r>
              <a:rPr lang="zh-CN" altLang="en-US" dirty="0"/>
              <a:t> 的向量中。嵌入操作</a:t>
            </a:r>
            <a:r>
              <a:rPr lang="zh-CN" altLang="en-US" b="1" dirty="0"/>
              <a:t>只发生在最底部的编码器</a:t>
            </a:r>
            <a:r>
              <a:rPr lang="zh-CN" altLang="en-US" dirty="0"/>
              <a:t>。所有编码器共有的抽象特性是：它们接收一个</a:t>
            </a:r>
            <a:r>
              <a:rPr lang="zh-CN" altLang="en-US" b="1" dirty="0"/>
              <a:t>大小为 </a:t>
            </a:r>
            <a:r>
              <a:rPr lang="en-US" altLang="zh-CN" b="1" dirty="0"/>
              <a:t>512 </a:t>
            </a:r>
            <a:r>
              <a:rPr lang="zh-CN" altLang="en-US" b="1" dirty="0"/>
              <a:t>的向量列表</a:t>
            </a:r>
            <a:r>
              <a:rPr lang="zh-CN" altLang="en-US" dirty="0"/>
              <a:t>作为输入。在</a:t>
            </a:r>
            <a:r>
              <a:rPr lang="zh-CN" altLang="en-US" b="1" dirty="0"/>
              <a:t>最底部的编码器</a:t>
            </a:r>
            <a:r>
              <a:rPr lang="zh-CN" altLang="en-US" dirty="0"/>
              <a:t>中，这个列表是</a:t>
            </a:r>
            <a:r>
              <a:rPr lang="zh-CN" altLang="en-US" b="1" dirty="0"/>
              <a:t>词嵌入</a:t>
            </a:r>
            <a:r>
              <a:rPr lang="zh-CN" altLang="en-US" dirty="0"/>
              <a:t>。在</a:t>
            </a:r>
            <a:r>
              <a:rPr lang="zh-CN" altLang="en-US" b="1" dirty="0"/>
              <a:t>其他编码器</a:t>
            </a:r>
            <a:r>
              <a:rPr lang="zh-CN" altLang="en-US" dirty="0"/>
              <a:t>中，这个列表是紧邻</a:t>
            </a:r>
            <a:r>
              <a:rPr lang="zh-CN" altLang="en-US" b="1" dirty="0"/>
              <a:t>下方编码器的输出</a:t>
            </a:r>
            <a:r>
              <a:rPr lang="zh-CN" altLang="en-US" dirty="0"/>
              <a:t>。这个列表的大小是一个我们可以设置的</a:t>
            </a:r>
            <a:r>
              <a:rPr lang="zh-CN" altLang="en-US" b="1" dirty="0"/>
              <a:t>超参数</a:t>
            </a:r>
            <a:r>
              <a:rPr lang="en-US" altLang="zh-CN" dirty="0"/>
              <a:t>——</a:t>
            </a:r>
            <a:r>
              <a:rPr lang="zh-CN" altLang="en-US" dirty="0"/>
              <a:t>它基本上就是我们训练数据集中</a:t>
            </a:r>
            <a:r>
              <a:rPr lang="zh-CN" altLang="en-US" b="1" dirty="0"/>
              <a:t>最长句子的长度</a:t>
            </a:r>
            <a:r>
              <a:rPr lang="zh-CN" altLang="en-US" dirty="0"/>
              <a:t>。</a:t>
            </a:r>
          </a:p>
          <a:p>
            <a:r>
              <a:rPr lang="zh-CN" altLang="en-US" dirty="0"/>
              <a:t>在将输入序列中的词语嵌入后，</a:t>
            </a:r>
            <a:r>
              <a:rPr lang="zh-CN" altLang="en-US" b="1" dirty="0"/>
              <a:t>每个词语</a:t>
            </a:r>
            <a:r>
              <a:rPr lang="zh-CN" altLang="en-US" dirty="0"/>
              <a:t>会流经编码器的两个层。</a:t>
            </a:r>
          </a:p>
          <a:p>
            <a:r>
              <a:rPr lang="zh-CN" altLang="en-US" dirty="0"/>
              <a:t>在这里，我们开始看到 </a:t>
            </a:r>
            <a:r>
              <a:rPr lang="en-US" altLang="zh-CN" dirty="0"/>
              <a:t>Transformer </a:t>
            </a:r>
            <a:r>
              <a:rPr lang="zh-CN" altLang="en-US" dirty="0"/>
              <a:t>的一个关键特性：</a:t>
            </a:r>
            <a:r>
              <a:rPr lang="zh-CN" altLang="en-US" b="1" dirty="0"/>
              <a:t>每个位置的词语都沿着自己在编码器中的路径流动</a:t>
            </a:r>
            <a:r>
              <a:rPr lang="zh-CN" altLang="en-US" dirty="0"/>
              <a:t>。</a:t>
            </a:r>
          </a:p>
          <a:p>
            <a:pPr>
              <a:buFont typeface="Arial" panose="020B0604020202020204" pitchFamily="34" charset="0"/>
              <a:buChar char="•"/>
            </a:pPr>
            <a:r>
              <a:rPr lang="zh-CN" altLang="en-US" dirty="0"/>
              <a:t>在</a:t>
            </a:r>
            <a:r>
              <a:rPr lang="zh-CN" altLang="en-US" b="1" dirty="0"/>
              <a:t>自注意力层</a:t>
            </a:r>
            <a:r>
              <a:rPr lang="zh-CN" altLang="en-US" dirty="0"/>
              <a:t>中，这些路径之间存在</a:t>
            </a:r>
            <a:r>
              <a:rPr lang="zh-CN" altLang="en-US" b="1" dirty="0"/>
              <a:t>依赖关系</a:t>
            </a:r>
            <a:r>
              <a:rPr lang="zh-CN" altLang="en-US" dirty="0"/>
              <a:t>（即相互影响）。</a:t>
            </a:r>
          </a:p>
          <a:p>
            <a:pPr>
              <a:buFont typeface="Arial" panose="020B0604020202020204" pitchFamily="34" charset="0"/>
              <a:buChar char="•"/>
            </a:pPr>
            <a:r>
              <a:rPr lang="zh-CN" altLang="en-US" dirty="0"/>
              <a:t>然而，</a:t>
            </a:r>
            <a:r>
              <a:rPr lang="zh-CN" altLang="en-US" b="1" dirty="0"/>
              <a:t>前馈层</a:t>
            </a:r>
            <a:r>
              <a:rPr lang="zh-CN" altLang="en-US" dirty="0"/>
              <a:t>中</a:t>
            </a:r>
            <a:r>
              <a:rPr lang="zh-CN" altLang="en-US" b="1" dirty="0"/>
              <a:t>没有</a:t>
            </a:r>
            <a:r>
              <a:rPr lang="zh-CN" altLang="en-US" dirty="0"/>
              <a:t>这些依赖关系，因此当数据流经前馈层时，各个路径可以</a:t>
            </a:r>
            <a:r>
              <a:rPr lang="zh-CN" altLang="en-US" b="1" dirty="0"/>
              <a:t>并行执行</a:t>
            </a:r>
            <a:r>
              <a:rPr lang="zh-CN" altLang="en-US" dirty="0"/>
              <a:t>。</a:t>
            </a:r>
          </a:p>
          <a:p>
            <a:r>
              <a:rPr lang="zh-CN" altLang="en-US" dirty="0"/>
              <a:t>正如我们前面提到的，一个编码器接收一个</a:t>
            </a:r>
            <a:r>
              <a:rPr lang="zh-CN" altLang="en-US" b="1" dirty="0"/>
              <a:t>向量列表</a:t>
            </a:r>
            <a:r>
              <a:rPr lang="zh-CN" altLang="en-US" dirty="0"/>
              <a:t>作为输入。它通过以下步骤处理这个列表：</a:t>
            </a:r>
          </a:p>
          <a:p>
            <a:pPr>
              <a:buFont typeface="+mj-lt"/>
              <a:buAutoNum type="arabicPeriod"/>
            </a:pPr>
            <a:r>
              <a:rPr lang="zh-CN" altLang="en-US" dirty="0"/>
              <a:t>将这些</a:t>
            </a:r>
            <a:r>
              <a:rPr lang="en-US" altLang="zh-CN" dirty="0"/>
              <a:t>self-attention layer</a:t>
            </a:r>
            <a:r>
              <a:rPr lang="zh-CN" altLang="en-US" dirty="0"/>
              <a:t>）**。</a:t>
            </a:r>
          </a:p>
          <a:p>
            <a:pPr>
              <a:buFont typeface="+mj-lt"/>
              <a:buAutoNum type="arabicPeriod"/>
            </a:pPr>
            <a:r>
              <a:rPr lang="zh-CN" altLang="en-US" dirty="0"/>
              <a:t>接着输入到</a:t>
            </a:r>
            <a:r>
              <a:rPr lang="zh-CN" altLang="en-US" b="1" dirty="0"/>
              <a:t>前馈神经网</a:t>
            </a:r>
            <a:r>
              <a:rPr lang="zh-CN" altLang="en-US" dirty="0"/>
              <a:t>向量输入到**“自注意力”层（</a:t>
            </a:r>
            <a:r>
              <a:rPr lang="zh-CN" altLang="en-US" b="1" dirty="0"/>
              <a:t>络（</a:t>
            </a:r>
            <a:r>
              <a:rPr lang="en-US" altLang="zh-CN" b="1" dirty="0"/>
              <a:t>feed-forward neural network</a:t>
            </a:r>
            <a:r>
              <a:rPr lang="zh-CN" altLang="en-US" b="1" dirty="0"/>
              <a:t>）</a:t>
            </a:r>
            <a:r>
              <a:rPr lang="zh-CN" altLang="en-US" dirty="0"/>
              <a:t>。</a:t>
            </a:r>
          </a:p>
          <a:p>
            <a:pPr>
              <a:buFont typeface="+mj-lt"/>
              <a:buAutoNum type="arabicPeriod"/>
            </a:pPr>
            <a:r>
              <a:rPr lang="zh-CN" altLang="en-US" dirty="0"/>
              <a:t>然后将最终输出向上传递给</a:t>
            </a:r>
            <a:r>
              <a:rPr lang="zh-CN" altLang="en-US" b="1" dirty="0"/>
              <a:t>下一个编码器</a:t>
            </a:r>
            <a:r>
              <a:rPr lang="zh-CN" altLang="en-US" dirty="0"/>
              <a:t>。</a:t>
            </a:r>
          </a:p>
          <a:p>
            <a:r>
              <a:rPr lang="zh-CN" altLang="en-US" dirty="0"/>
              <a:t>这个过程在编码器堆栈中重复进行，直到最顶层的编码器输出最终的编码结果，供解码器使用。</a:t>
            </a:r>
          </a:p>
          <a:p>
            <a:endParaRPr lang="zh-CN" altLang="en-US" dirty="0"/>
          </a:p>
        </p:txBody>
      </p:sp>
      <p:sp>
        <p:nvSpPr>
          <p:cNvPr id="1048717" name="灯片编号占位符 3"/>
          <p:cNvSpPr>
            <a:spLocks noGrp="1"/>
          </p:cNvSpPr>
          <p:nvPr>
            <p:ph type="sldNum" sz="quarter" idx="5"/>
          </p:nvPr>
        </p:nvSpPr>
        <p:spPr/>
        <p:txBody>
          <a:bodyPr/>
          <a:lstStyle/>
          <a:p>
            <a:fld id="{AB44C98A-D9C5-894D-9A13-8F52E37846C0}" type="slidenum">
              <a:rPr lang="en-US" smtClean="0"/>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2" name="幻灯片图像占位符 1"/>
          <p:cNvSpPr>
            <a:spLocks noGrp="1" noRot="1" noChangeAspect="1"/>
          </p:cNvSpPr>
          <p:nvPr>
            <p:ph type="sldImg"/>
          </p:nvPr>
        </p:nvSpPr>
        <p:spPr/>
      </p:sp>
      <p:sp>
        <p:nvSpPr>
          <p:cNvPr id="1048723" name="备注占位符 2"/>
          <p:cNvSpPr>
            <a:spLocks noGrp="1"/>
          </p:cNvSpPr>
          <p:nvPr>
            <p:ph type="body" idx="1"/>
          </p:nvPr>
        </p:nvSpPr>
        <p:spPr/>
        <p:txBody>
          <a:bodyPr/>
          <a:lstStyle/>
          <a:p>
            <a:r>
              <a:rPr lang="zh-CN" altLang="en-US" dirty="0"/>
              <a:t>不要被我随口说出的“自注意力”（</a:t>
            </a:r>
            <a:r>
              <a:rPr lang="en-US" altLang="zh-CN" dirty="0"/>
              <a:t>self-attention</a:t>
            </a:r>
            <a:r>
              <a:rPr lang="zh-CN" altLang="en-US" dirty="0"/>
              <a:t>）这个词所迷惑，好像它是一个人人都应熟悉的概念。</a:t>
            </a:r>
            <a:endParaRPr lang="en-US" altLang="zh-CN" dirty="0"/>
          </a:p>
          <a:p>
            <a:r>
              <a:rPr lang="zh-CN" altLang="en-US" dirty="0"/>
              <a:t>假设下面这句话是我们想要翻译的输入句：</a:t>
            </a:r>
          </a:p>
          <a:p>
            <a:r>
              <a:rPr lang="zh-CN" altLang="en-US" dirty="0"/>
              <a:t>“</a:t>
            </a:r>
            <a:r>
              <a:rPr lang="en-US" altLang="zh-CN" dirty="0"/>
              <a:t>The animal didn't cross the street because </a:t>
            </a:r>
            <a:r>
              <a:rPr lang="en-US" altLang="zh-CN" b="1" dirty="0"/>
              <a:t>it</a:t>
            </a:r>
            <a:r>
              <a:rPr lang="en-US" altLang="zh-CN" dirty="0"/>
              <a:t> was too tired”</a:t>
            </a:r>
          </a:p>
          <a:p>
            <a:r>
              <a:rPr lang="zh-CN" altLang="en-US" dirty="0"/>
              <a:t>在这个句子中，</a:t>
            </a:r>
            <a:r>
              <a:rPr lang="zh-CN" altLang="en-US" b="1" dirty="0"/>
              <a:t>“</a:t>
            </a:r>
            <a:r>
              <a:rPr lang="en-US" altLang="zh-CN" b="1" dirty="0"/>
              <a:t>it”</a:t>
            </a:r>
            <a:r>
              <a:rPr lang="zh-CN" altLang="en-US" b="1" dirty="0"/>
              <a:t>（它）指代的是什么？它指的是街道（</a:t>
            </a:r>
            <a:r>
              <a:rPr lang="en-US" altLang="zh-CN" b="1" dirty="0"/>
              <a:t>street</a:t>
            </a:r>
            <a:r>
              <a:rPr lang="zh-CN" altLang="en-US" b="1" dirty="0"/>
              <a:t>）还是动物（</a:t>
            </a:r>
            <a:r>
              <a:rPr lang="en-US" altLang="zh-CN" b="1" dirty="0"/>
              <a:t>animal</a:t>
            </a:r>
            <a:r>
              <a:rPr lang="zh-CN" altLang="en-US" b="1" dirty="0"/>
              <a:t>）</a:t>
            </a:r>
            <a:r>
              <a:rPr lang="zh-CN" altLang="en-US" dirty="0"/>
              <a:t>？对人类来说，这是一个简单的问题，但对算法来说却并非如此。</a:t>
            </a:r>
          </a:p>
          <a:p>
            <a:r>
              <a:rPr lang="zh-CN" altLang="en-US" dirty="0"/>
              <a:t>当模型处理 </a:t>
            </a:r>
            <a:r>
              <a:rPr lang="zh-CN" altLang="en-US" b="1" dirty="0"/>
              <a:t>“</a:t>
            </a:r>
            <a:r>
              <a:rPr lang="en-US" altLang="zh-CN" b="1" dirty="0"/>
              <a:t>it”</a:t>
            </a:r>
            <a:r>
              <a:rPr lang="zh-CN" altLang="en-US" dirty="0"/>
              <a:t> 这个词时，</a:t>
            </a:r>
            <a:r>
              <a:rPr lang="zh-CN" altLang="en-US" b="1" dirty="0"/>
              <a:t>自注意力机制</a:t>
            </a:r>
            <a:r>
              <a:rPr lang="zh-CN" altLang="en-US" dirty="0"/>
              <a:t>允许模型将 </a:t>
            </a:r>
            <a:r>
              <a:rPr lang="zh-CN" altLang="en-US" b="1" dirty="0"/>
              <a:t>“</a:t>
            </a:r>
            <a:r>
              <a:rPr lang="en-US" altLang="zh-CN" b="1" dirty="0"/>
              <a:t>it”</a:t>
            </a:r>
            <a:r>
              <a:rPr lang="zh-CN" altLang="en-US" dirty="0"/>
              <a:t> 与 </a:t>
            </a:r>
            <a:r>
              <a:rPr lang="zh-CN" altLang="en-US" b="1" dirty="0"/>
              <a:t>“</a:t>
            </a:r>
            <a:r>
              <a:rPr lang="en-US" altLang="zh-CN" b="1" dirty="0"/>
              <a:t>animal”</a:t>
            </a:r>
            <a:r>
              <a:rPr lang="zh-CN" altLang="en-US" dirty="0"/>
              <a:t> 联系起来。</a:t>
            </a:r>
          </a:p>
          <a:p>
            <a:r>
              <a:rPr lang="zh-CN" altLang="en-US" dirty="0"/>
              <a:t>当模型处理</a:t>
            </a:r>
            <a:r>
              <a:rPr lang="zh-CN" altLang="en-US" b="1" dirty="0"/>
              <a:t>每个词语</a:t>
            </a:r>
            <a:r>
              <a:rPr lang="zh-CN" altLang="en-US" dirty="0"/>
              <a:t>（即输入序列中的</a:t>
            </a:r>
            <a:r>
              <a:rPr lang="zh-CN" altLang="en-US" b="1" dirty="0"/>
              <a:t>每个位置</a:t>
            </a:r>
            <a:r>
              <a:rPr lang="zh-CN" altLang="en-US" dirty="0"/>
              <a:t>）时，自注意力机制允许它</a:t>
            </a:r>
            <a:r>
              <a:rPr lang="zh-CN" altLang="en-US" b="1" dirty="0"/>
              <a:t>查看输入序列中的其他位置</a:t>
            </a:r>
            <a:r>
              <a:rPr lang="zh-CN" altLang="en-US" dirty="0"/>
              <a:t>，以寻找有助于对当前词语进行</a:t>
            </a:r>
            <a:r>
              <a:rPr lang="zh-CN" altLang="en-US" b="1" dirty="0"/>
              <a:t>更好编码</a:t>
            </a:r>
            <a:r>
              <a:rPr lang="zh-CN" altLang="en-US" dirty="0"/>
              <a:t>的线索。</a:t>
            </a:r>
          </a:p>
          <a:p>
            <a:r>
              <a:rPr lang="zh-CN" altLang="en-US" dirty="0"/>
              <a:t>如果您熟悉循环神经网络（</a:t>
            </a:r>
            <a:r>
              <a:rPr lang="en-US" altLang="zh-CN" dirty="0"/>
              <a:t>RNN</a:t>
            </a:r>
            <a:r>
              <a:rPr lang="zh-CN" altLang="en-US" dirty="0"/>
              <a:t>），可以想象</a:t>
            </a:r>
            <a:r>
              <a:rPr lang="zh-CN" altLang="en-US" b="1" dirty="0"/>
              <a:t>维护一个隐藏状态</a:t>
            </a:r>
            <a:r>
              <a:rPr lang="zh-CN" altLang="en-US" dirty="0"/>
              <a:t>是如何让 </a:t>
            </a:r>
            <a:r>
              <a:rPr lang="en-US" altLang="zh-CN" dirty="0"/>
              <a:t>RNN </a:t>
            </a:r>
            <a:r>
              <a:rPr lang="zh-CN" altLang="en-US" dirty="0"/>
              <a:t>将它处理过的</a:t>
            </a:r>
            <a:r>
              <a:rPr lang="zh-CN" altLang="en-US" b="1" dirty="0"/>
              <a:t>先前词语</a:t>
            </a:r>
            <a:r>
              <a:rPr lang="en-US" altLang="zh-CN" b="1" dirty="0"/>
              <a:t>/</a:t>
            </a:r>
            <a:r>
              <a:rPr lang="zh-CN" altLang="en-US" b="1" dirty="0"/>
              <a:t>向量的表示</a:t>
            </a:r>
            <a:r>
              <a:rPr lang="zh-CN" altLang="en-US" dirty="0"/>
              <a:t>，融入到它</a:t>
            </a:r>
            <a:r>
              <a:rPr lang="zh-CN" altLang="en-US" b="1" dirty="0"/>
              <a:t>当前正在处理的词语</a:t>
            </a:r>
            <a:r>
              <a:rPr lang="zh-CN" altLang="en-US" dirty="0"/>
              <a:t>中的。</a:t>
            </a:r>
            <a:r>
              <a:rPr lang="zh-CN" altLang="en-US" b="1" dirty="0"/>
              <a:t>自注意力机制</a:t>
            </a:r>
            <a:r>
              <a:rPr lang="zh-CN" altLang="en-US" dirty="0"/>
              <a:t>就是 </a:t>
            </a:r>
            <a:r>
              <a:rPr lang="en-US" altLang="zh-CN" dirty="0"/>
              <a:t>Transformer </a:t>
            </a:r>
            <a:r>
              <a:rPr lang="zh-CN" altLang="en-US" dirty="0"/>
              <a:t>用来将对其他相关词语的“理解”</a:t>
            </a:r>
            <a:r>
              <a:rPr lang="zh-CN" altLang="en-US" b="1" dirty="0"/>
              <a:t>融入</a:t>
            </a:r>
            <a:r>
              <a:rPr lang="zh-CN" altLang="en-US" dirty="0"/>
              <a:t>到我们当前正在处理的词语中的方法。</a:t>
            </a:r>
          </a:p>
          <a:p>
            <a:r>
              <a:rPr lang="zh-CN" altLang="en-US" dirty="0"/>
              <a:t>比如，当我们正在</a:t>
            </a:r>
            <a:r>
              <a:rPr lang="zh-CN" altLang="en-US" b="1" dirty="0"/>
              <a:t>编码器 </a:t>
            </a:r>
            <a:r>
              <a:rPr lang="en-US" altLang="zh-CN" b="1" dirty="0"/>
              <a:t>#5</a:t>
            </a:r>
            <a:r>
              <a:rPr lang="zh-CN" altLang="en-US" dirty="0"/>
              <a:t>（堆栈中最上面的编码器）中编码 </a:t>
            </a:r>
            <a:r>
              <a:rPr lang="zh-CN" altLang="en-US" b="1" dirty="0"/>
              <a:t>“</a:t>
            </a:r>
            <a:r>
              <a:rPr lang="en-US" altLang="zh-CN" b="1" dirty="0"/>
              <a:t>it”</a:t>
            </a:r>
            <a:r>
              <a:rPr lang="zh-CN" altLang="en-US" dirty="0"/>
              <a:t> 这个词时，注意力机制的一部分就</a:t>
            </a:r>
            <a:r>
              <a:rPr lang="zh-CN" altLang="en-US" b="1" dirty="0"/>
              <a:t>聚焦</a:t>
            </a:r>
            <a:r>
              <a:rPr lang="zh-CN" altLang="en-US" dirty="0"/>
              <a:t>在了 </a:t>
            </a:r>
            <a:r>
              <a:rPr lang="zh-CN" altLang="en-US" b="1" dirty="0"/>
              <a:t>“</a:t>
            </a:r>
            <a:r>
              <a:rPr lang="en-US" altLang="zh-CN" b="1" dirty="0"/>
              <a:t>The Animal”</a:t>
            </a:r>
            <a:r>
              <a:rPr lang="zh-CN" altLang="en-US" dirty="0"/>
              <a:t> 上，并将 </a:t>
            </a:r>
            <a:r>
              <a:rPr lang="zh-CN" altLang="en-US" b="1" dirty="0"/>
              <a:t>“</a:t>
            </a:r>
            <a:r>
              <a:rPr lang="en-US" altLang="zh-CN" b="1" dirty="0"/>
              <a:t>animal”</a:t>
            </a:r>
            <a:r>
              <a:rPr lang="zh-CN" altLang="en-US" dirty="0"/>
              <a:t> 的一部分表示</a:t>
            </a:r>
            <a:r>
              <a:rPr lang="zh-CN" altLang="en-US" b="1" dirty="0"/>
              <a:t>融入</a:t>
            </a:r>
            <a:r>
              <a:rPr lang="zh-CN" altLang="en-US" dirty="0"/>
              <a:t>到了 </a:t>
            </a:r>
            <a:r>
              <a:rPr lang="zh-CN" altLang="en-US" b="1" dirty="0"/>
              <a:t>“</a:t>
            </a:r>
            <a:r>
              <a:rPr lang="en-US" altLang="zh-CN" b="1" dirty="0"/>
              <a:t>it”</a:t>
            </a:r>
            <a:r>
              <a:rPr lang="zh-CN" altLang="en-US" dirty="0"/>
              <a:t> 的编码中。</a:t>
            </a:r>
          </a:p>
          <a:p>
            <a:endParaRPr lang="en-US" altLang="zh-CN" dirty="0"/>
          </a:p>
          <a:p>
            <a:endParaRPr lang="zh-CN" altLang="en-US" dirty="0"/>
          </a:p>
        </p:txBody>
      </p:sp>
      <p:sp>
        <p:nvSpPr>
          <p:cNvPr id="1048724" name="灯片编号占位符 3"/>
          <p:cNvSpPr>
            <a:spLocks noGrp="1"/>
          </p:cNvSpPr>
          <p:nvPr>
            <p:ph type="sldNum" sz="quarter" idx="5"/>
          </p:nvPr>
        </p:nvSpPr>
        <p:spPr/>
        <p:txBody>
          <a:bodyPr/>
          <a:lstStyle/>
          <a:p>
            <a:fld id="{AB44C98A-D9C5-894D-9A13-8F52E37846C0}" type="slidenum">
              <a:rPr lang="en-US" smtClean="0"/>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4" name="幻灯片图像占位符 1"/>
          <p:cNvSpPr>
            <a:spLocks noGrp="1" noRot="1" noChangeAspect="1"/>
          </p:cNvSpPr>
          <p:nvPr>
            <p:ph type="sldImg"/>
          </p:nvPr>
        </p:nvSpPr>
        <p:spPr/>
      </p:sp>
      <p:sp>
        <p:nvSpPr>
          <p:cNvPr id="1048735" name="备注占位符 2"/>
          <p:cNvSpPr>
            <a:spLocks noGrp="1"/>
          </p:cNvSpPr>
          <p:nvPr>
            <p:ph type="body" idx="1"/>
          </p:nvPr>
        </p:nvSpPr>
        <p:spPr/>
        <p:txBody>
          <a:bodyPr/>
          <a:lstStyle/>
          <a:p>
            <a:r>
              <a:rPr lang="zh-CN" altLang="en-US" dirty="0"/>
              <a:t>计算自注意力机制的</a:t>
            </a:r>
            <a:r>
              <a:rPr lang="zh-CN" altLang="en-US" b="1" dirty="0"/>
              <a:t>第一步</a:t>
            </a:r>
            <a:r>
              <a:rPr lang="zh-CN" altLang="en-US" dirty="0"/>
              <a:t>是从编码器的每个输入向量（在本例中，即每个词的嵌入向量）创建三个新的向量：</a:t>
            </a:r>
            <a:r>
              <a:rPr lang="zh-CN" altLang="en-US" b="1" dirty="0"/>
              <a:t>查询向量（</a:t>
            </a:r>
            <a:r>
              <a:rPr lang="en-US" altLang="zh-CN" b="1" dirty="0"/>
              <a:t>Query Vector, Q</a:t>
            </a:r>
            <a:r>
              <a:rPr lang="zh-CN" altLang="en-US" b="1" dirty="0"/>
              <a:t>）</a:t>
            </a:r>
            <a:r>
              <a:rPr lang="zh-CN" altLang="en-US" dirty="0"/>
              <a:t>、</a:t>
            </a:r>
            <a:r>
              <a:rPr lang="zh-CN" altLang="en-US" b="1" dirty="0"/>
              <a:t>键向量（</a:t>
            </a:r>
            <a:r>
              <a:rPr lang="en-US" altLang="zh-CN" b="1" dirty="0"/>
              <a:t>Key Vector, K</a:t>
            </a:r>
            <a:r>
              <a:rPr lang="zh-CN" altLang="en-US" b="1" dirty="0"/>
              <a:t>）和值向量（</a:t>
            </a:r>
            <a:r>
              <a:rPr lang="en-US" altLang="zh-CN" b="1" dirty="0"/>
              <a:t>Value Vector, V</a:t>
            </a:r>
            <a:r>
              <a:rPr lang="zh-CN" altLang="en-US" b="1" dirty="0"/>
              <a:t>）</a:t>
            </a:r>
            <a:r>
              <a:rPr lang="zh-CN" altLang="en-US" dirty="0"/>
              <a:t>。</a:t>
            </a:r>
          </a:p>
          <a:p>
            <a:r>
              <a:rPr lang="zh-CN" altLang="en-US" dirty="0"/>
              <a:t>这些向量是通过将词嵌入向量分别乘以三个在训练过程中学习到的</a:t>
            </a:r>
            <a:r>
              <a:rPr lang="zh-CN" altLang="en-US" b="1" dirty="0"/>
              <a:t>权重矩阵</a:t>
            </a:r>
            <a:r>
              <a:rPr lang="zh-CN" altLang="en-US" dirty="0"/>
              <a:t> </a:t>
            </a:r>
            <a:r>
              <a:rPr lang="en-US" altLang="zh-CN" dirty="0">
                <a:effectLst/>
              </a:rPr>
              <a:t>WQ</a:t>
            </a:r>
            <a:r>
              <a:rPr lang="zh-CN" altLang="en-US" dirty="0"/>
              <a:t>、</a:t>
            </a:r>
            <a:r>
              <a:rPr lang="en-US" altLang="zh-CN" dirty="0">
                <a:effectLst/>
              </a:rPr>
              <a:t>WK</a:t>
            </a:r>
            <a:r>
              <a:rPr lang="zh-CN" altLang="en-US" dirty="0"/>
              <a:t> 和 </a:t>
            </a:r>
            <a:r>
              <a:rPr lang="en-US" altLang="zh-CN" dirty="0">
                <a:effectLst/>
              </a:rPr>
              <a:t>WV</a:t>
            </a:r>
            <a:r>
              <a:rPr lang="zh-CN" altLang="en-US" dirty="0"/>
              <a:t> 来创建的。</a:t>
            </a:r>
          </a:p>
          <a:p>
            <a:r>
              <a:rPr lang="en-US" altLang="zh-CN" dirty="0"/>
              <a:t>Q=</a:t>
            </a:r>
            <a:r>
              <a:rPr lang="en-US" altLang="zh-CN" dirty="0" err="1"/>
              <a:t>Embedding×</a:t>
            </a:r>
            <a:r>
              <a:rPr lang="en-US" altLang="zh-CN" dirty="0" err="1">
                <a:effectLst/>
              </a:rPr>
              <a:t>WQ</a:t>
            </a:r>
            <a:r>
              <a:rPr lang="en-US" altLang="zh-CN" dirty="0" err="1"/>
              <a:t>K</a:t>
            </a:r>
            <a:r>
              <a:rPr lang="en-US" altLang="zh-CN" dirty="0"/>
              <a:t>=</a:t>
            </a:r>
            <a:r>
              <a:rPr lang="en-US" altLang="zh-CN" dirty="0" err="1"/>
              <a:t>Embedding×</a:t>
            </a:r>
            <a:r>
              <a:rPr lang="en-US" altLang="zh-CN" dirty="0" err="1">
                <a:effectLst/>
              </a:rPr>
              <a:t>WK</a:t>
            </a:r>
            <a:r>
              <a:rPr lang="en-US" altLang="zh-CN" dirty="0" err="1"/>
              <a:t>V</a:t>
            </a:r>
            <a:r>
              <a:rPr lang="en-US" altLang="zh-CN" dirty="0"/>
              <a:t>=</a:t>
            </a:r>
            <a:r>
              <a:rPr lang="en-US" altLang="zh-CN" dirty="0" err="1"/>
              <a:t>Embedding×</a:t>
            </a:r>
            <a:r>
              <a:rPr lang="en-US" altLang="zh-CN" dirty="0" err="1">
                <a:effectLst/>
              </a:rPr>
              <a:t>WV</a:t>
            </a:r>
            <a:endParaRPr lang="zh-CN" altLang="en-US" dirty="0"/>
          </a:p>
          <a:p>
            <a:pPr>
              <a:buFont typeface="Arial" panose="020B0604020202020204" pitchFamily="34" charset="0"/>
              <a:buChar char="•"/>
            </a:pPr>
            <a:r>
              <a:rPr lang="zh-CN" altLang="en-US" b="1" dirty="0"/>
              <a:t>向量维度</a:t>
            </a:r>
            <a:r>
              <a:rPr lang="zh-CN" altLang="en-US" dirty="0"/>
              <a:t>：请注意，这些新的 </a:t>
            </a:r>
            <a:r>
              <a:rPr lang="en-US" altLang="zh-CN" dirty="0"/>
              <a:t>Q</a:t>
            </a:r>
            <a:r>
              <a:rPr lang="zh-CN" altLang="en-US" dirty="0"/>
              <a:t>、</a:t>
            </a:r>
            <a:r>
              <a:rPr lang="en-US" altLang="zh-CN" dirty="0"/>
              <a:t>K</a:t>
            </a:r>
            <a:r>
              <a:rPr lang="zh-CN" altLang="en-US" dirty="0"/>
              <a:t>、</a:t>
            </a:r>
            <a:r>
              <a:rPr lang="en-US" altLang="zh-CN" dirty="0"/>
              <a:t>V </a:t>
            </a:r>
            <a:r>
              <a:rPr lang="zh-CN" altLang="en-US" dirty="0"/>
              <a:t>向量的维度（在论文中是 </a:t>
            </a:r>
            <a:r>
              <a:rPr lang="en-US" altLang="zh-CN" dirty="0"/>
              <a:t>64</a:t>
            </a:r>
            <a:r>
              <a:rPr lang="zh-CN" altLang="en-US" dirty="0"/>
              <a:t>）小于嵌入向量的维度（</a:t>
            </a:r>
            <a:r>
              <a:rPr lang="en-US" altLang="zh-CN" dirty="0"/>
              <a:t>512</a:t>
            </a:r>
            <a:r>
              <a:rPr lang="zh-CN" altLang="en-US" dirty="0"/>
              <a:t>）。它们</a:t>
            </a:r>
            <a:r>
              <a:rPr lang="zh-CN" altLang="en-US" b="1" dirty="0"/>
              <a:t>并非必须</a:t>
            </a:r>
            <a:r>
              <a:rPr lang="zh-CN" altLang="en-US" dirty="0"/>
              <a:t>更小，这是一种架构选择，主要是为了保持多头注意力（</a:t>
            </a:r>
            <a:r>
              <a:rPr lang="en-US" altLang="zh-CN" dirty="0"/>
              <a:t>Multi-Head Attention</a:t>
            </a:r>
            <a:r>
              <a:rPr lang="zh-CN" altLang="en-US" dirty="0"/>
              <a:t>）的计算复杂度（大致）恒定。</a:t>
            </a:r>
          </a:p>
          <a:p>
            <a:pPr>
              <a:buFont typeface="Arial" panose="020B0604020202020204" pitchFamily="34" charset="0"/>
              <a:buChar char="•"/>
            </a:pPr>
            <a:r>
              <a:rPr lang="zh-CN" altLang="en-US" b="1" dirty="0"/>
              <a:t>抽象作用</a:t>
            </a:r>
            <a:r>
              <a:rPr lang="zh-CN" altLang="en-US" dirty="0"/>
              <a:t>：</a:t>
            </a:r>
            <a:r>
              <a:rPr lang="en-US" altLang="zh-CN" dirty="0"/>
              <a:t>Q</a:t>
            </a:r>
            <a:r>
              <a:rPr lang="zh-CN" altLang="en-US" dirty="0"/>
              <a:t>、</a:t>
            </a:r>
            <a:r>
              <a:rPr lang="en-US" altLang="zh-CN" dirty="0"/>
              <a:t>K</a:t>
            </a:r>
            <a:r>
              <a:rPr lang="zh-CN" altLang="en-US" dirty="0"/>
              <a:t>、</a:t>
            </a:r>
            <a:r>
              <a:rPr lang="en-US" altLang="zh-CN" dirty="0"/>
              <a:t>V </a:t>
            </a:r>
            <a:r>
              <a:rPr lang="zh-CN" altLang="en-US" dirty="0"/>
              <a:t>是用于计算和思考注意力机制的抽象概念。</a:t>
            </a:r>
          </a:p>
          <a:p>
            <a:pPr marL="742950" lvl="1" indent="-285750">
              <a:buFont typeface="Arial" panose="020B0604020202020204" pitchFamily="34" charset="0"/>
              <a:buChar char="•"/>
            </a:pPr>
            <a:r>
              <a:rPr lang="en-US" altLang="zh-CN" b="1" dirty="0"/>
              <a:t>Q</a:t>
            </a:r>
            <a:r>
              <a:rPr lang="zh-CN" altLang="en-US" b="1" dirty="0"/>
              <a:t>（查询）</a:t>
            </a:r>
            <a:r>
              <a:rPr lang="zh-CN" altLang="en-US" dirty="0"/>
              <a:t>：代表</a:t>
            </a:r>
            <a:r>
              <a:rPr lang="zh-CN" altLang="en-US" b="1" dirty="0"/>
              <a:t>当前</a:t>
            </a:r>
            <a:r>
              <a:rPr lang="zh-CN" altLang="en-US" dirty="0"/>
              <a:t>词语，用于向其他所有词语</a:t>
            </a:r>
            <a:r>
              <a:rPr lang="zh-CN" altLang="en-US" b="1" dirty="0"/>
              <a:t>提问</a:t>
            </a:r>
            <a:r>
              <a:rPr lang="zh-CN" altLang="en-US" dirty="0"/>
              <a:t>（查询）：“我们应该关注你多少？”</a:t>
            </a:r>
          </a:p>
          <a:p>
            <a:pPr marL="742950" lvl="1" indent="-285750">
              <a:buFont typeface="Arial" panose="020B0604020202020204" pitchFamily="34" charset="0"/>
              <a:buChar char="•"/>
            </a:pPr>
            <a:r>
              <a:rPr lang="en-US" altLang="zh-CN" b="1" dirty="0"/>
              <a:t>K</a:t>
            </a:r>
            <a:r>
              <a:rPr lang="zh-CN" altLang="en-US" b="1" dirty="0"/>
              <a:t>（键）</a:t>
            </a:r>
            <a:r>
              <a:rPr lang="zh-CN" altLang="en-US" dirty="0"/>
              <a:t>：代表</a:t>
            </a:r>
            <a:r>
              <a:rPr lang="zh-CN" altLang="en-US" b="1" dirty="0"/>
              <a:t>所有</a:t>
            </a:r>
            <a:r>
              <a:rPr lang="zh-CN" altLang="en-US" dirty="0"/>
              <a:t>词语，用于回答查询：“我的信息是什么？我有多重要？”</a:t>
            </a:r>
          </a:p>
          <a:p>
            <a:pPr marL="742950" lvl="1" indent="-285750">
              <a:buFont typeface="Arial" panose="020B0604020202020204" pitchFamily="34" charset="0"/>
              <a:buChar char="•"/>
            </a:pPr>
            <a:r>
              <a:rPr lang="en-US" altLang="zh-CN" b="1" dirty="0"/>
              <a:t>V</a:t>
            </a:r>
            <a:r>
              <a:rPr lang="zh-CN" altLang="en-US" b="1" dirty="0"/>
              <a:t>（值）</a:t>
            </a:r>
            <a:r>
              <a:rPr lang="zh-CN" altLang="en-US" dirty="0"/>
              <a:t>：代表</a:t>
            </a:r>
            <a:r>
              <a:rPr lang="zh-CN" altLang="en-US" b="1" dirty="0"/>
              <a:t>所有</a:t>
            </a:r>
            <a:r>
              <a:rPr lang="zh-CN" altLang="en-US" dirty="0"/>
              <a:t>词语的实际内容，用于</a:t>
            </a:r>
            <a:r>
              <a:rPr lang="zh-CN" altLang="en-US" b="1" dirty="0"/>
              <a:t>加权求和</a:t>
            </a:r>
            <a:r>
              <a:rPr lang="zh-CN" altLang="en-US" dirty="0"/>
              <a:t>，形成最终的输出。</a:t>
            </a:r>
          </a:p>
          <a:p>
            <a:r>
              <a:rPr lang="zh-CN" altLang="en-US" dirty="0"/>
              <a:t>计算自注意力的</a:t>
            </a:r>
            <a:r>
              <a:rPr lang="zh-CN" altLang="en-US" b="1" dirty="0"/>
              <a:t>第二步</a:t>
            </a:r>
            <a:r>
              <a:rPr lang="zh-CN" altLang="en-US" dirty="0"/>
              <a:t>是计算</a:t>
            </a:r>
            <a:r>
              <a:rPr lang="zh-CN" altLang="en-US" b="1" dirty="0"/>
              <a:t>得分（</a:t>
            </a:r>
            <a:r>
              <a:rPr lang="en-US" altLang="zh-CN" b="1" dirty="0"/>
              <a:t>score</a:t>
            </a:r>
            <a:r>
              <a:rPr lang="zh-CN" altLang="en-US" b="1" dirty="0"/>
              <a:t>）</a:t>
            </a:r>
            <a:r>
              <a:rPr lang="zh-CN" altLang="en-US" dirty="0"/>
              <a:t>。假设我们正在为示例中的第一个词“</a:t>
            </a:r>
            <a:r>
              <a:rPr lang="en-US" altLang="zh-CN" dirty="0"/>
              <a:t>Thinking”</a:t>
            </a:r>
            <a:r>
              <a:rPr lang="zh-CN" altLang="en-US" dirty="0"/>
              <a:t>计算自注意力。我们需要用这个词来衡量（评分）输入句子中的</a:t>
            </a:r>
            <a:r>
              <a:rPr lang="zh-CN" altLang="en-US" b="1" dirty="0"/>
              <a:t>所有其他词</a:t>
            </a:r>
            <a:r>
              <a:rPr lang="zh-CN" altLang="en-US" dirty="0"/>
              <a:t>。这个得分决定了在编码某个位置的词时，应该对输入句子的其他部分</a:t>
            </a:r>
            <a:r>
              <a:rPr lang="zh-CN" altLang="en-US" b="1" dirty="0"/>
              <a:t>给予多少关注</a:t>
            </a:r>
            <a:r>
              <a:rPr lang="zh-CN" altLang="en-US" dirty="0"/>
              <a:t>。</a:t>
            </a:r>
          </a:p>
          <a:p>
            <a:r>
              <a:rPr lang="zh-CN" altLang="en-US" dirty="0"/>
              <a:t>得分是通过计算**查询向量（</a:t>
            </a:r>
            <a:r>
              <a:rPr lang="en-US" altLang="zh-CN" dirty="0">
                <a:effectLst/>
              </a:rPr>
              <a:t>q1</a:t>
            </a:r>
            <a:r>
              <a:rPr lang="zh-CN" altLang="en-US" dirty="0"/>
              <a:t>​）</a:t>
            </a:r>
            <a:r>
              <a:rPr lang="zh-CN" altLang="en-US" b="1" dirty="0"/>
              <a:t>与</a:t>
            </a:r>
            <a:r>
              <a:rPr lang="zh-CN" altLang="en-US" dirty="0"/>
              <a:t>相应词的键向量（</a:t>
            </a:r>
            <a:r>
              <a:rPr lang="en-US" altLang="zh-CN" dirty="0">
                <a:effectLst/>
              </a:rPr>
              <a:t>ki</a:t>
            </a:r>
            <a:r>
              <a:rPr lang="zh-CN" altLang="en-US" dirty="0"/>
              <a:t>​）</a:t>
            </a:r>
            <a:r>
              <a:rPr lang="zh-CN" altLang="en-US" b="1" dirty="0"/>
              <a:t>的</a:t>
            </a:r>
            <a:r>
              <a:rPr lang="zh-CN" altLang="en-US" dirty="0"/>
              <a:t>点积（</a:t>
            </a:r>
            <a:r>
              <a:rPr lang="en-US" altLang="zh-CN" dirty="0"/>
              <a:t>dot product</a:t>
            </a:r>
            <a:r>
              <a:rPr lang="zh-CN" altLang="en-US" dirty="0"/>
              <a:t>）**来计算的。</a:t>
            </a:r>
          </a:p>
          <a:p>
            <a:pPr>
              <a:buFont typeface="Arial" panose="020B0604020202020204" pitchFamily="34" charset="0"/>
              <a:buChar char="•"/>
            </a:pPr>
            <a:r>
              <a:rPr lang="zh-CN" altLang="en-US" dirty="0"/>
              <a:t>对于位置 </a:t>
            </a:r>
            <a:r>
              <a:rPr lang="en-US" altLang="zh-CN" dirty="0"/>
              <a:t>#1 </a:t>
            </a:r>
            <a:r>
              <a:rPr lang="zh-CN" altLang="en-US" dirty="0"/>
              <a:t>的词，第一个得分是 </a:t>
            </a:r>
            <a:r>
              <a:rPr lang="en-US" altLang="zh-CN" dirty="0">
                <a:effectLst/>
              </a:rPr>
              <a:t>q1</a:t>
            </a:r>
            <a:r>
              <a:rPr lang="zh-CN" altLang="en-US" dirty="0"/>
              <a:t>​ 和 </a:t>
            </a:r>
            <a:r>
              <a:rPr lang="en-US" altLang="zh-CN" dirty="0">
                <a:effectLst/>
              </a:rPr>
              <a:t>k1</a:t>
            </a:r>
            <a:r>
              <a:rPr lang="zh-CN" altLang="en-US" dirty="0"/>
              <a:t>​ 的点积。第二个得分是 </a:t>
            </a:r>
            <a:r>
              <a:rPr lang="en-US" altLang="zh-CN" dirty="0">
                <a:effectLst/>
              </a:rPr>
              <a:t>q1</a:t>
            </a:r>
            <a:r>
              <a:rPr lang="zh-CN" altLang="en-US" dirty="0"/>
              <a:t>​ 和 </a:t>
            </a:r>
            <a:r>
              <a:rPr lang="en-US" altLang="zh-CN" dirty="0">
                <a:effectLst/>
              </a:rPr>
              <a:t>k2</a:t>
            </a:r>
            <a:r>
              <a:rPr lang="zh-CN" altLang="en-US" dirty="0"/>
              <a:t>​ 的点积，依此类推。</a:t>
            </a:r>
            <a:endParaRPr lang="en-US" altLang="zh-CN" dirty="0"/>
          </a:p>
          <a:p>
            <a:r>
              <a:rPr lang="zh-CN" altLang="en-US" dirty="0"/>
              <a:t>将得分除以 </a:t>
            </a:r>
            <a:r>
              <a:rPr lang="en-US" altLang="zh-CN" dirty="0">
                <a:effectLst/>
              </a:rPr>
              <a:t>dk​</a:t>
            </a:r>
            <a:r>
              <a:rPr lang="zh-CN" altLang="en-US" dirty="0"/>
              <a:t>​（</a:t>
            </a:r>
            <a:r>
              <a:rPr lang="en-US" altLang="zh-CN" dirty="0"/>
              <a:t>d</a:t>
            </a:r>
            <a:r>
              <a:rPr lang="en-US" altLang="zh-CN" dirty="0">
                <a:effectLst/>
              </a:rPr>
              <a:t>k</a:t>
            </a:r>
            <a:r>
              <a:rPr lang="zh-CN" altLang="en-US" dirty="0"/>
              <a:t>​ 是键向量的维度，论文中是 </a:t>
            </a:r>
            <a:r>
              <a:rPr lang="en-US" altLang="zh-CN" dirty="0"/>
              <a:t>64</a:t>
            </a:r>
            <a:r>
              <a:rPr lang="zh-CN" altLang="en-US" dirty="0"/>
              <a:t>，因此除以 </a:t>
            </a:r>
            <a:r>
              <a:rPr lang="en-US" altLang="zh-CN" dirty="0">
                <a:effectLst/>
              </a:rPr>
              <a:t>64</a:t>
            </a:r>
            <a:r>
              <a:rPr lang="zh-CN" altLang="en-US" dirty="0"/>
              <a:t>​</a:t>
            </a:r>
            <a:r>
              <a:rPr lang="en-US" altLang="zh-CN" dirty="0"/>
              <a:t>=8</a:t>
            </a:r>
            <a:r>
              <a:rPr lang="zh-CN" altLang="en-US" dirty="0"/>
              <a:t>）。这个**缩放（</a:t>
            </a:r>
            <a:r>
              <a:rPr lang="en-US" altLang="zh-CN" dirty="0"/>
              <a:t>scaling</a:t>
            </a:r>
            <a:r>
              <a:rPr lang="zh-CN" altLang="en-US" dirty="0"/>
              <a:t>）**操作有助于防止点积结果过大，从而保持梯度更稳定。</a:t>
            </a:r>
          </a:p>
          <a:p>
            <a:r>
              <a:rPr lang="zh-CN" altLang="en-US" dirty="0"/>
              <a:t>将结果通过 </a:t>
            </a:r>
            <a:r>
              <a:rPr lang="en-US" altLang="zh-CN" b="1" dirty="0" err="1"/>
              <a:t>Softmax</a:t>
            </a:r>
            <a:r>
              <a:rPr lang="zh-CN" altLang="en-US" dirty="0"/>
              <a:t> 操作。</a:t>
            </a:r>
            <a:r>
              <a:rPr lang="en-US" altLang="zh-CN" dirty="0" err="1"/>
              <a:t>Softmax</a:t>
            </a:r>
            <a:r>
              <a:rPr lang="en-US" altLang="zh-CN" dirty="0"/>
              <a:t> </a:t>
            </a:r>
            <a:r>
              <a:rPr lang="zh-CN" altLang="en-US" dirty="0"/>
              <a:t>会</a:t>
            </a:r>
            <a:r>
              <a:rPr lang="zh-CN" altLang="en-US" b="1" dirty="0"/>
              <a:t>归一化</a:t>
            </a:r>
            <a:r>
              <a:rPr lang="zh-CN" altLang="en-US" dirty="0"/>
              <a:t>这些分数，使它们都变为正值，并且</a:t>
            </a:r>
            <a:r>
              <a:rPr lang="zh-CN" altLang="en-US" b="1" dirty="0"/>
              <a:t>总和为 </a:t>
            </a:r>
            <a:r>
              <a:rPr lang="en-US" altLang="zh-CN" b="1" dirty="0"/>
              <a:t>1</a:t>
            </a:r>
            <a:r>
              <a:rPr lang="zh-CN" altLang="en-US" dirty="0"/>
              <a:t>。</a:t>
            </a:r>
          </a:p>
          <a:p>
            <a:r>
              <a:rPr lang="zh-CN" altLang="en-US" b="1" dirty="0"/>
              <a:t>第五步</a:t>
            </a:r>
            <a:r>
              <a:rPr lang="zh-CN" altLang="en-US" dirty="0"/>
              <a:t>是将每个</a:t>
            </a:r>
            <a:r>
              <a:rPr lang="zh-CN" altLang="en-US" b="1" dirty="0"/>
              <a:t>值向量（</a:t>
            </a:r>
            <a:r>
              <a:rPr lang="en-US" altLang="zh-CN" b="1" dirty="0"/>
              <a:t>Value Vector</a:t>
            </a:r>
            <a:r>
              <a:rPr lang="zh-CN" altLang="en-US" b="1" dirty="0"/>
              <a:t>）乘以对应的 </a:t>
            </a:r>
            <a:r>
              <a:rPr lang="en-US" altLang="zh-CN" b="1" dirty="0" err="1"/>
              <a:t>Softmax</a:t>
            </a:r>
            <a:r>
              <a:rPr lang="en-US" altLang="zh-CN" b="1" dirty="0"/>
              <a:t> </a:t>
            </a:r>
            <a:r>
              <a:rPr lang="zh-CN" altLang="en-US" b="1" dirty="0"/>
              <a:t>分数（为求和做准备）。直观地讲，这个操作旨在保留</a:t>
            </a:r>
            <a:r>
              <a:rPr lang="zh-CN" altLang="en-US" dirty="0"/>
              <a:t>我们希望关注的词语的值，同时</a:t>
            </a:r>
            <a:r>
              <a:rPr lang="zh-CN" altLang="en-US" b="1" dirty="0"/>
              <a:t>弱化</a:t>
            </a:r>
            <a:r>
              <a:rPr lang="zh-CN" altLang="en-US" dirty="0"/>
              <a:t>不相关词语的影响（例如，将不相关词语的值乘以像 </a:t>
            </a:r>
            <a:r>
              <a:rPr lang="en-US" altLang="zh-CN" dirty="0"/>
              <a:t>0.001 </a:t>
            </a:r>
            <a:r>
              <a:rPr lang="zh-CN" altLang="en-US" dirty="0"/>
              <a:t>这样微小的数字）。</a:t>
            </a:r>
          </a:p>
          <a:p>
            <a:r>
              <a:rPr lang="zh-CN" altLang="en-US" b="1" dirty="0"/>
              <a:t>第六步</a:t>
            </a:r>
            <a:r>
              <a:rPr lang="zh-CN" altLang="en-US" dirty="0"/>
              <a:t>是</a:t>
            </a:r>
            <a:r>
              <a:rPr lang="zh-CN" altLang="en-US" b="1" dirty="0"/>
              <a:t>求和</a:t>
            </a:r>
            <a:r>
              <a:rPr lang="zh-CN" altLang="en-US" dirty="0"/>
              <a:t>这些加权后的值向量。这个最终得到的向量 </a:t>
            </a:r>
            <a:r>
              <a:rPr lang="en-US" altLang="zh-CN" dirty="0"/>
              <a:t>Z</a:t>
            </a:r>
            <a:r>
              <a:rPr lang="en-US" altLang="zh-CN" dirty="0">
                <a:effectLst/>
              </a:rPr>
              <a:t>1</a:t>
            </a:r>
            <a:r>
              <a:rPr lang="zh-CN" altLang="en-US" dirty="0"/>
              <a:t>​ 就是自注意力层在</a:t>
            </a:r>
            <a:r>
              <a:rPr lang="zh-CN" altLang="en-US" b="1" dirty="0"/>
              <a:t>该位置</a:t>
            </a:r>
            <a:r>
              <a:rPr lang="zh-CN" altLang="en-US" dirty="0"/>
              <a:t>（第一个词）的</a:t>
            </a:r>
            <a:r>
              <a:rPr lang="zh-CN" altLang="en-US" b="1" dirty="0"/>
              <a:t>输出</a:t>
            </a:r>
            <a:r>
              <a:rPr lang="zh-CN" altLang="en-US" dirty="0"/>
              <a:t>。</a:t>
            </a:r>
          </a:p>
          <a:p>
            <a:pPr>
              <a:buFont typeface="Arial" panose="020B0604020202020204" pitchFamily="34" charset="0"/>
              <a:buChar char="•"/>
            </a:pPr>
            <a:endParaRPr lang="zh-CN" altLang="en-US" dirty="0"/>
          </a:p>
          <a:p>
            <a:endParaRPr lang="zh-CN" altLang="en-US" dirty="0"/>
          </a:p>
        </p:txBody>
      </p:sp>
      <p:sp>
        <p:nvSpPr>
          <p:cNvPr id="1048736" name="灯片编号占位符 3"/>
          <p:cNvSpPr>
            <a:spLocks noGrp="1"/>
          </p:cNvSpPr>
          <p:nvPr>
            <p:ph type="sldNum" sz="quarter" idx="5"/>
          </p:nvPr>
        </p:nvSpPr>
        <p:spPr/>
        <p:txBody>
          <a:bodyPr/>
          <a:lstStyle/>
          <a:p>
            <a:fld id="{AB44C98A-D9C5-894D-9A13-8F52E37846C0}" type="slidenum">
              <a:rPr lang="en-US" smtClean="0"/>
              <a:t>13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2" name="幻灯片图像占位符 1"/>
          <p:cNvSpPr>
            <a:spLocks noGrp="1" noRot="1" noChangeAspect="1"/>
          </p:cNvSpPr>
          <p:nvPr>
            <p:ph type="sldImg"/>
          </p:nvPr>
        </p:nvSpPr>
        <p:spPr/>
      </p:sp>
      <p:sp>
        <p:nvSpPr>
          <p:cNvPr id="1048743" name="备注占位符 2"/>
          <p:cNvSpPr>
            <a:spLocks noGrp="1"/>
          </p:cNvSpPr>
          <p:nvPr>
            <p:ph type="body" idx="1"/>
          </p:nvPr>
        </p:nvSpPr>
        <p:spPr/>
        <p:txBody>
          <a:bodyPr/>
          <a:lstStyle/>
          <a:p>
            <a:r>
              <a:rPr lang="zh-CN" altLang="en-US" b="1" dirty="0"/>
              <a:t>自注意力机制的矩阵计算</a:t>
            </a:r>
          </a:p>
          <a:p>
            <a:r>
              <a:rPr lang="zh-CN" altLang="en-US" b="1" dirty="0"/>
              <a:t>第一步</a:t>
            </a:r>
            <a:r>
              <a:rPr lang="zh-CN" altLang="en-US" dirty="0"/>
              <a:t>是计算</a:t>
            </a:r>
            <a:r>
              <a:rPr lang="zh-CN" altLang="en-US" b="1" dirty="0"/>
              <a:t>查询矩阵（</a:t>
            </a:r>
            <a:r>
              <a:rPr lang="en-US" altLang="zh-CN" b="1" dirty="0"/>
              <a:t>Query Matrix, Q</a:t>
            </a:r>
            <a:r>
              <a:rPr lang="zh-CN" altLang="en-US" b="1" dirty="0"/>
              <a:t>）</a:t>
            </a:r>
            <a:r>
              <a:rPr lang="zh-CN" altLang="en-US" dirty="0"/>
              <a:t>、</a:t>
            </a:r>
            <a:r>
              <a:rPr lang="zh-CN" altLang="en-US" b="1" dirty="0"/>
              <a:t>键矩阵（</a:t>
            </a:r>
            <a:r>
              <a:rPr lang="en-US" altLang="zh-CN" b="1" dirty="0"/>
              <a:t>Key Matrix, K</a:t>
            </a:r>
            <a:r>
              <a:rPr lang="zh-CN" altLang="en-US" b="1" dirty="0"/>
              <a:t>）和值矩阵（</a:t>
            </a:r>
            <a:r>
              <a:rPr lang="en-US" altLang="zh-CN" b="1" dirty="0"/>
              <a:t>Value Matrix, V</a:t>
            </a:r>
            <a:r>
              <a:rPr lang="zh-CN" altLang="en-US" b="1" dirty="0"/>
              <a:t>）</a:t>
            </a:r>
            <a:r>
              <a:rPr lang="zh-CN" altLang="en-US" dirty="0"/>
              <a:t>。我们通过将所有的词嵌入向量打包成一个矩阵 </a:t>
            </a:r>
            <a:r>
              <a:rPr lang="en-US" altLang="zh-CN" b="1" dirty="0">
                <a:effectLst/>
              </a:rPr>
              <a:t>X</a:t>
            </a:r>
            <a:r>
              <a:rPr lang="zh-CN" altLang="en-US" dirty="0"/>
              <a:t>，然后将其乘以我们训练好的权重矩阵 </a:t>
            </a:r>
            <a:r>
              <a:rPr lang="en-US" altLang="zh-CN" dirty="0">
                <a:effectLst/>
              </a:rPr>
              <a:t>WQ</a:t>
            </a:r>
            <a:r>
              <a:rPr lang="zh-CN" altLang="en-US" dirty="0"/>
              <a:t>、</a:t>
            </a:r>
            <a:r>
              <a:rPr lang="en-US" altLang="zh-CN" dirty="0">
                <a:effectLst/>
              </a:rPr>
              <a:t>WK</a:t>
            </a:r>
            <a:r>
              <a:rPr lang="zh-CN" altLang="en-US" dirty="0"/>
              <a:t> 和 </a:t>
            </a:r>
            <a:r>
              <a:rPr lang="en-US" altLang="zh-CN" dirty="0">
                <a:effectLst/>
              </a:rPr>
              <a:t>WV</a:t>
            </a:r>
            <a:r>
              <a:rPr lang="zh-CN" altLang="en-US" dirty="0"/>
              <a:t> 来完成。</a:t>
            </a:r>
            <a:endParaRPr lang="en-US" altLang="zh-CN" dirty="0"/>
          </a:p>
          <a:p>
            <a:r>
              <a:rPr lang="zh-CN" altLang="en-US" b="1" dirty="0"/>
              <a:t>矩阵 </a:t>
            </a:r>
            <a:r>
              <a:rPr lang="en-US" altLang="zh-CN" b="1" dirty="0">
                <a:effectLst/>
              </a:rPr>
              <a:t>X</a:t>
            </a:r>
            <a:r>
              <a:rPr lang="zh-CN" altLang="en-US" dirty="0"/>
              <a:t>：矩阵 </a:t>
            </a:r>
            <a:r>
              <a:rPr lang="en-US" altLang="zh-CN" dirty="0">
                <a:effectLst/>
              </a:rPr>
              <a:t>X</a:t>
            </a:r>
            <a:r>
              <a:rPr lang="zh-CN" altLang="en-US" dirty="0"/>
              <a:t> 中的</a:t>
            </a:r>
            <a:r>
              <a:rPr lang="zh-CN" altLang="en-US" b="1" dirty="0"/>
              <a:t>每一行</a:t>
            </a:r>
            <a:r>
              <a:rPr lang="zh-CN" altLang="en-US" dirty="0"/>
              <a:t>都对应输入句子中的一个词语的嵌入向量。</a:t>
            </a:r>
          </a:p>
          <a:p>
            <a:endParaRPr lang="zh-CN" altLang="en-US" dirty="0"/>
          </a:p>
        </p:txBody>
      </p:sp>
      <p:sp>
        <p:nvSpPr>
          <p:cNvPr id="1048744" name="灯片编号占位符 3"/>
          <p:cNvSpPr>
            <a:spLocks noGrp="1"/>
          </p:cNvSpPr>
          <p:nvPr>
            <p:ph type="sldNum" sz="quarter" idx="5"/>
          </p:nvPr>
        </p:nvSpPr>
        <p:spPr/>
        <p:txBody>
          <a:bodyPr/>
          <a:lstStyle/>
          <a:p>
            <a:fld id="{AB44C98A-D9C5-894D-9A13-8F52E37846C0}" type="slidenum">
              <a:rPr lang="en-US" smtClean="0"/>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0" name="幻灯片图像占位符 1"/>
          <p:cNvSpPr>
            <a:spLocks noGrp="1" noRot="1" noChangeAspect="1"/>
          </p:cNvSpPr>
          <p:nvPr>
            <p:ph type="sldImg"/>
          </p:nvPr>
        </p:nvSpPr>
        <p:spPr/>
      </p:sp>
      <p:sp>
        <p:nvSpPr>
          <p:cNvPr id="1048751" name="备注占位符 2"/>
          <p:cNvSpPr>
            <a:spLocks noGrp="1"/>
          </p:cNvSpPr>
          <p:nvPr>
            <p:ph type="body" idx="1"/>
          </p:nvPr>
        </p:nvSpPr>
        <p:spPr/>
        <p:txBody>
          <a:bodyPr/>
          <a:lstStyle/>
          <a:p>
            <a:r>
              <a:rPr lang="zh-CN" altLang="en-US" dirty="0"/>
              <a:t>论文通过增加一个名为**“多头”（</a:t>
            </a:r>
            <a:r>
              <a:rPr lang="en-US" altLang="zh-CN" dirty="0"/>
              <a:t>multi-headed</a:t>
            </a:r>
            <a:r>
              <a:rPr lang="zh-CN" altLang="en-US" dirty="0"/>
              <a:t>）注意力**的机制，进一步改进了自注意力层。这从两个方面提升了注意力层的性能：</a:t>
            </a:r>
          </a:p>
          <a:p>
            <a:pPr>
              <a:buFont typeface="+mj-lt"/>
              <a:buAutoNum type="arabicPeriod"/>
            </a:pPr>
            <a:r>
              <a:rPr lang="zh-CN" altLang="en-US" b="1" dirty="0"/>
              <a:t>扩展模型关注不同位置的能力：</a:t>
            </a:r>
            <a:r>
              <a:rPr lang="zh-CN" altLang="en-US" dirty="0"/>
              <a:t> 是的，在上面的例子中，</a:t>
            </a:r>
            <a:r>
              <a:rPr lang="en-US" altLang="zh-CN" dirty="0"/>
              <a:t>z</a:t>
            </a:r>
            <a:r>
              <a:rPr lang="en-US" altLang="zh-CN" dirty="0">
                <a:effectLst/>
              </a:rPr>
              <a:t>1</a:t>
            </a:r>
            <a:r>
              <a:rPr lang="zh-CN" altLang="en-US" dirty="0"/>
              <a:t>​ 向量包含了一点其他所有编码的信息，但它可能主要还是受它自身词语的支配。如果我们正在翻译一个像“</a:t>
            </a:r>
            <a:r>
              <a:rPr lang="en-US" altLang="zh-CN" dirty="0"/>
              <a:t>The animal didn’t cross the street because </a:t>
            </a:r>
            <a:r>
              <a:rPr lang="en-US" altLang="zh-CN" b="1" dirty="0"/>
              <a:t>it</a:t>
            </a:r>
            <a:r>
              <a:rPr lang="zh-CN" altLang="en-US" dirty="0"/>
              <a:t> </a:t>
            </a:r>
            <a:r>
              <a:rPr lang="en-US" altLang="zh-CN" dirty="0"/>
              <a:t>was too tired”</a:t>
            </a:r>
            <a:r>
              <a:rPr lang="zh-CN" altLang="en-US" dirty="0"/>
              <a:t>（这个动物没有穿过街道，因为它太累了）这样的句子，知道 </a:t>
            </a:r>
            <a:r>
              <a:rPr lang="zh-CN" altLang="en-US" b="1" dirty="0"/>
              <a:t>“</a:t>
            </a:r>
            <a:r>
              <a:rPr lang="en-US" altLang="zh-CN" b="1" dirty="0"/>
              <a:t>it”</a:t>
            </a:r>
            <a:r>
              <a:rPr lang="zh-CN" altLang="en-US" dirty="0"/>
              <a:t> 指代哪个词语（是**“</a:t>
            </a:r>
            <a:r>
              <a:rPr lang="en-US" altLang="zh-CN" dirty="0"/>
              <a:t>animal”**</a:t>
            </a:r>
            <a:r>
              <a:rPr lang="zh-CN" altLang="en-US" dirty="0"/>
              <a:t>）会非常有用。</a:t>
            </a:r>
          </a:p>
          <a:p>
            <a:pPr>
              <a:buFont typeface="+mj-lt"/>
              <a:buAutoNum type="arabicPeriod"/>
            </a:pPr>
            <a:r>
              <a:rPr lang="zh-CN" altLang="en-US" b="1" dirty="0"/>
              <a:t>赋予注意力层多个“表示子空间”（</a:t>
            </a:r>
            <a:r>
              <a:rPr lang="en-US" altLang="zh-CN" b="1" dirty="0"/>
              <a:t>representation subspaces</a:t>
            </a:r>
            <a:r>
              <a:rPr lang="zh-CN" altLang="en-US" b="1" dirty="0"/>
              <a:t>）：</a:t>
            </a:r>
            <a:r>
              <a:rPr lang="zh-CN" altLang="en-US" dirty="0"/>
              <a:t> 正如我们接下来会看到的，通过多头注意力，我们拥有的不仅仅是一组，而是</a:t>
            </a:r>
            <a:r>
              <a:rPr lang="zh-CN" altLang="en-US" b="1" dirty="0"/>
              <a:t>多组</a:t>
            </a:r>
            <a:r>
              <a:rPr lang="zh-CN" altLang="en-US" dirty="0"/>
              <a:t>查询（</a:t>
            </a:r>
            <a:r>
              <a:rPr lang="en-US" altLang="zh-CN" dirty="0"/>
              <a:t>Query</a:t>
            </a:r>
            <a:r>
              <a:rPr lang="zh-CN" altLang="en-US" dirty="0"/>
              <a:t>）</a:t>
            </a:r>
            <a:r>
              <a:rPr lang="en-US" altLang="zh-CN" dirty="0"/>
              <a:t>/</a:t>
            </a:r>
            <a:r>
              <a:rPr lang="zh-CN" altLang="en-US" dirty="0"/>
              <a:t>键（</a:t>
            </a:r>
            <a:r>
              <a:rPr lang="en-US" altLang="zh-CN" dirty="0"/>
              <a:t>Key</a:t>
            </a:r>
            <a:r>
              <a:rPr lang="zh-CN" altLang="en-US" dirty="0"/>
              <a:t>）</a:t>
            </a:r>
            <a:r>
              <a:rPr lang="en-US" altLang="zh-CN" dirty="0"/>
              <a:t>/</a:t>
            </a:r>
            <a:r>
              <a:rPr lang="zh-CN" altLang="en-US" dirty="0"/>
              <a:t>值（</a:t>
            </a:r>
            <a:r>
              <a:rPr lang="en-US" altLang="zh-CN" dirty="0"/>
              <a:t>Value</a:t>
            </a:r>
            <a:r>
              <a:rPr lang="zh-CN" altLang="en-US" dirty="0"/>
              <a:t>）权重矩阵（</a:t>
            </a:r>
            <a:r>
              <a:rPr lang="en-US" altLang="zh-CN" dirty="0"/>
              <a:t>Transformer </a:t>
            </a:r>
            <a:r>
              <a:rPr lang="zh-CN" altLang="en-US" dirty="0"/>
              <a:t>使用了</a:t>
            </a:r>
            <a:r>
              <a:rPr lang="zh-CN" altLang="en-US" b="1" dirty="0"/>
              <a:t>八个</a:t>
            </a:r>
            <a:r>
              <a:rPr lang="zh-CN" altLang="en-US" dirty="0"/>
              <a:t>注意力头，因此每个编码器</a:t>
            </a:r>
            <a:r>
              <a:rPr lang="en-US" altLang="zh-CN" dirty="0"/>
              <a:t>/</a:t>
            </a:r>
            <a:r>
              <a:rPr lang="zh-CN" altLang="en-US" dirty="0"/>
              <a:t>解码器最终有八组）。</a:t>
            </a:r>
          </a:p>
          <a:p>
            <a:pPr marL="742950" lvl="1" indent="-285750">
              <a:buFont typeface="+mj-lt"/>
              <a:buAutoNum type="arabicPeriod"/>
            </a:pPr>
            <a:r>
              <a:rPr lang="zh-CN" altLang="en-US" dirty="0"/>
              <a:t>每一组都是</a:t>
            </a:r>
            <a:r>
              <a:rPr lang="zh-CN" altLang="en-US" b="1" dirty="0"/>
              <a:t>随机初始化</a:t>
            </a:r>
            <a:r>
              <a:rPr lang="zh-CN" altLang="en-US" dirty="0"/>
              <a:t>的。</a:t>
            </a:r>
          </a:p>
          <a:p>
            <a:pPr marL="742950" lvl="1" indent="-285750">
              <a:buFont typeface="+mj-lt"/>
              <a:buAutoNum type="arabicPeriod"/>
            </a:pPr>
            <a:r>
              <a:rPr lang="zh-CN" altLang="en-US" dirty="0"/>
              <a:t>经过训练后，每一组都被用来将输入嵌入（或来自下层编码器</a:t>
            </a:r>
            <a:r>
              <a:rPr lang="en-US" altLang="zh-CN" dirty="0"/>
              <a:t>/</a:t>
            </a:r>
            <a:r>
              <a:rPr lang="zh-CN" altLang="en-US" dirty="0"/>
              <a:t>解码器的向量）</a:t>
            </a:r>
            <a:r>
              <a:rPr lang="zh-CN" altLang="en-US" b="1" dirty="0"/>
              <a:t>投影</a:t>
            </a:r>
            <a:r>
              <a:rPr lang="zh-CN" altLang="en-US" dirty="0"/>
              <a:t>到一个</a:t>
            </a:r>
            <a:r>
              <a:rPr lang="zh-CN" altLang="en-US" b="1" dirty="0"/>
              <a:t>不同的表示子空间</a:t>
            </a:r>
            <a:r>
              <a:rPr lang="zh-CN" altLang="en-US" dirty="0"/>
              <a:t>中。</a:t>
            </a:r>
          </a:p>
          <a:p>
            <a:r>
              <a:rPr lang="zh-CN" altLang="en-US" dirty="0"/>
              <a:t>在多头注意力机制中，我们为</a:t>
            </a:r>
            <a:r>
              <a:rPr lang="zh-CN" altLang="en-US" b="1" dirty="0"/>
              <a:t>每个注意力头</a:t>
            </a:r>
            <a:r>
              <a:rPr lang="zh-CN" altLang="en-US" dirty="0"/>
              <a:t>都维护了独立的 </a:t>
            </a:r>
            <a:r>
              <a:rPr lang="en-US" altLang="zh-CN" dirty="0">
                <a:effectLst/>
              </a:rPr>
              <a:t>WQ</a:t>
            </a:r>
            <a:r>
              <a:rPr lang="zh-CN" altLang="en-US" dirty="0"/>
              <a:t>、</a:t>
            </a:r>
            <a:r>
              <a:rPr lang="en-US" altLang="zh-CN" dirty="0">
                <a:effectLst/>
              </a:rPr>
              <a:t>WK</a:t>
            </a:r>
            <a:r>
              <a:rPr lang="zh-CN" altLang="en-US" dirty="0"/>
              <a:t>、</a:t>
            </a:r>
            <a:r>
              <a:rPr lang="en-US" altLang="zh-CN" dirty="0">
                <a:effectLst/>
              </a:rPr>
              <a:t>WV</a:t>
            </a:r>
            <a:r>
              <a:rPr lang="zh-CN" altLang="en-US" dirty="0"/>
              <a:t> 权重矩阵，从而得到不同的 </a:t>
            </a:r>
            <a:r>
              <a:rPr lang="en-US" altLang="zh-CN" dirty="0"/>
              <a:t>Q</a:t>
            </a:r>
            <a:r>
              <a:rPr lang="zh-CN" altLang="en-US" dirty="0"/>
              <a:t>、</a:t>
            </a:r>
            <a:r>
              <a:rPr lang="en-US" altLang="zh-CN" dirty="0">
                <a:effectLst/>
              </a:rPr>
              <a:t>K</a:t>
            </a:r>
            <a:r>
              <a:rPr lang="zh-CN" altLang="en-US" dirty="0"/>
              <a:t>、</a:t>
            </a:r>
            <a:r>
              <a:rPr lang="en-US" altLang="zh-CN" dirty="0">
                <a:effectLst/>
              </a:rPr>
              <a:t>V</a:t>
            </a:r>
            <a:r>
              <a:rPr lang="zh-CN" altLang="en-US" dirty="0"/>
              <a:t> 矩阵。像之前一样，我们将输入矩阵 </a:t>
            </a:r>
            <a:r>
              <a:rPr lang="en-US" altLang="zh-CN" dirty="0">
                <a:effectLst/>
              </a:rPr>
              <a:t>X</a:t>
            </a:r>
            <a:r>
              <a:rPr lang="zh-CN" altLang="en-US" dirty="0"/>
              <a:t> 乘以这些 </a:t>
            </a:r>
            <a:r>
              <a:rPr lang="en-US" altLang="zh-CN" dirty="0">
                <a:effectLst/>
              </a:rPr>
              <a:t>WQ</a:t>
            </a:r>
            <a:r>
              <a:rPr lang="en-US" altLang="zh-CN" dirty="0"/>
              <a:t>/</a:t>
            </a:r>
            <a:r>
              <a:rPr lang="en-US" altLang="zh-CN" dirty="0">
                <a:effectLst/>
              </a:rPr>
              <a:t>WK</a:t>
            </a:r>
            <a:r>
              <a:rPr lang="en-US" altLang="zh-CN" dirty="0"/>
              <a:t>/</a:t>
            </a:r>
            <a:r>
              <a:rPr lang="en-US" altLang="zh-CN" dirty="0">
                <a:effectLst/>
              </a:rPr>
              <a:t>WV</a:t>
            </a:r>
            <a:r>
              <a:rPr lang="zh-CN" altLang="en-US" dirty="0"/>
              <a:t> 矩阵来生成 </a:t>
            </a:r>
            <a:r>
              <a:rPr lang="en-US" altLang="zh-CN" dirty="0"/>
              <a:t>Q/</a:t>
            </a:r>
            <a:r>
              <a:rPr lang="en-US" altLang="zh-CN" dirty="0">
                <a:effectLst/>
              </a:rPr>
              <a:t>K</a:t>
            </a:r>
            <a:r>
              <a:rPr lang="en-US" altLang="zh-CN" dirty="0"/>
              <a:t>/</a:t>
            </a:r>
            <a:r>
              <a:rPr lang="en-US" altLang="zh-CN" dirty="0">
                <a:effectLst/>
              </a:rPr>
              <a:t>V</a:t>
            </a:r>
            <a:r>
              <a:rPr lang="zh-CN" altLang="en-US" dirty="0"/>
              <a:t> 矩阵。</a:t>
            </a:r>
            <a:endParaRPr lang="en-US" altLang="zh-CN" dirty="0"/>
          </a:p>
          <a:p>
            <a:endParaRPr lang="en-US" altLang="zh-CN" dirty="0"/>
          </a:p>
          <a:p>
            <a:r>
              <a:rPr lang="zh-CN" altLang="en-US" dirty="0"/>
              <a:t>如果我们将前面概述的自注意力计算重复进行八次，每次都使用不同的权重矩阵，我们最终会得到</a:t>
            </a:r>
            <a:r>
              <a:rPr lang="zh-CN" altLang="en-US" b="1" dirty="0"/>
              <a:t>八个不同的 </a:t>
            </a:r>
            <a:r>
              <a:rPr lang="en-US" altLang="zh-CN" b="1" dirty="0">
                <a:effectLst/>
              </a:rPr>
              <a:t>Z</a:t>
            </a:r>
            <a:r>
              <a:rPr lang="zh-CN" altLang="en-US" b="1" dirty="0"/>
              <a:t> 矩阵</a:t>
            </a:r>
            <a:r>
              <a:rPr lang="zh-CN" altLang="en-US" dirty="0"/>
              <a:t>（</a:t>
            </a:r>
            <a:r>
              <a:rPr lang="en-US" altLang="zh-CN" dirty="0">
                <a:effectLst/>
              </a:rPr>
              <a:t>Z0</a:t>
            </a:r>
            <a:r>
              <a:rPr lang="zh-CN" altLang="en-US" dirty="0"/>
              <a:t>​ 到 </a:t>
            </a:r>
            <a:r>
              <a:rPr lang="en-US" altLang="zh-CN" dirty="0">
                <a:effectLst/>
              </a:rPr>
              <a:t>Z7</a:t>
            </a:r>
            <a:r>
              <a:rPr lang="zh-CN" altLang="en-US" dirty="0"/>
              <a:t>​）。</a:t>
            </a:r>
          </a:p>
          <a:p>
            <a:r>
              <a:rPr lang="zh-CN" altLang="en-US" dirty="0"/>
              <a:t>这给我们带来了一个挑战：</a:t>
            </a:r>
            <a:r>
              <a:rPr lang="zh-CN" altLang="en-US" b="1" dirty="0"/>
              <a:t>前馈层</a:t>
            </a:r>
            <a:r>
              <a:rPr lang="zh-CN" altLang="en-US" dirty="0"/>
              <a:t>不期望八个矩阵作为输入</a:t>
            </a:r>
            <a:r>
              <a:rPr lang="en-US" altLang="zh-CN" dirty="0"/>
              <a:t>——</a:t>
            </a:r>
            <a:r>
              <a:rPr lang="zh-CN" altLang="en-US" dirty="0"/>
              <a:t>它期望的是</a:t>
            </a:r>
            <a:r>
              <a:rPr lang="zh-CN" altLang="en-US" b="1" dirty="0"/>
              <a:t>一个矩阵</a:t>
            </a:r>
            <a:r>
              <a:rPr lang="zh-CN" altLang="en-US" dirty="0"/>
              <a:t>（每个词语对应一个向量）。所以我们需要一种方法将这八个矩阵</a:t>
            </a:r>
            <a:r>
              <a:rPr lang="zh-CN" altLang="en-US" b="1" dirty="0"/>
              <a:t>浓缩</a:t>
            </a:r>
            <a:r>
              <a:rPr lang="zh-CN" altLang="en-US" dirty="0"/>
              <a:t>成一个单一的矩阵。</a:t>
            </a:r>
          </a:p>
          <a:p>
            <a:r>
              <a:rPr lang="zh-CN" altLang="en-US" b="1" dirty="0"/>
              <a:t>如何整合多头输出？</a:t>
            </a:r>
          </a:p>
          <a:p>
            <a:r>
              <a:rPr lang="zh-CN" altLang="en-US" dirty="0"/>
              <a:t>我们如何做到这一点呢？</a:t>
            </a:r>
          </a:p>
          <a:p>
            <a:pPr>
              <a:buFont typeface="+mj-lt"/>
              <a:buAutoNum type="arabicPeriod"/>
            </a:pPr>
            <a:r>
              <a:rPr lang="zh-CN" altLang="en-US" dirty="0"/>
              <a:t>我们将这八个 </a:t>
            </a:r>
            <a:r>
              <a:rPr lang="en-US" altLang="zh-CN" dirty="0">
                <a:effectLst/>
              </a:rPr>
              <a:t>Z</a:t>
            </a:r>
            <a:r>
              <a:rPr lang="zh-CN" altLang="en-US" dirty="0"/>
              <a:t> 矩阵**拼接（</a:t>
            </a:r>
            <a:r>
              <a:rPr lang="en-US" altLang="zh-CN" dirty="0"/>
              <a:t>Concatenate</a:t>
            </a:r>
            <a:r>
              <a:rPr lang="zh-CN" altLang="en-US" dirty="0"/>
              <a:t>）**起来。</a:t>
            </a:r>
          </a:p>
          <a:p>
            <a:pPr>
              <a:buFont typeface="+mj-lt"/>
              <a:buAutoNum type="arabicPeriod"/>
            </a:pPr>
            <a:r>
              <a:rPr lang="zh-CN" altLang="en-US" dirty="0"/>
              <a:t>然后，我们将拼接后的巨大矩阵乘以一个</a:t>
            </a:r>
            <a:r>
              <a:rPr lang="zh-CN" altLang="en-US" b="1" dirty="0"/>
              <a:t>额外的权重矩阵 </a:t>
            </a:r>
            <a:r>
              <a:rPr lang="en-US" altLang="zh-CN" b="1" dirty="0">
                <a:effectLst/>
              </a:rPr>
              <a:t>WO</a:t>
            </a:r>
            <a:r>
              <a:rPr lang="zh-CN" altLang="en-US" dirty="0"/>
              <a:t>。</a:t>
            </a:r>
          </a:p>
          <a:p>
            <a:endParaRPr lang="zh-CN" altLang="en-US" dirty="0"/>
          </a:p>
          <a:p>
            <a:endParaRPr lang="zh-CN" altLang="en-US" dirty="0"/>
          </a:p>
        </p:txBody>
      </p:sp>
      <p:sp>
        <p:nvSpPr>
          <p:cNvPr id="1048752" name="灯片编号占位符 3"/>
          <p:cNvSpPr>
            <a:spLocks noGrp="1"/>
          </p:cNvSpPr>
          <p:nvPr>
            <p:ph type="sldNum" sz="quarter" idx="5"/>
          </p:nvPr>
        </p:nvSpPr>
        <p:spPr/>
        <p:txBody>
          <a:bodyPr/>
          <a:lstStyle/>
          <a:p>
            <a:fld id="{AB44C98A-D9C5-894D-9A13-8F52E37846C0}" type="slidenum">
              <a:rPr lang="en-US" smtClean="0"/>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8" name="幻灯片图像占位符 1"/>
          <p:cNvSpPr>
            <a:spLocks noGrp="1" noRot="1" noChangeAspect="1"/>
          </p:cNvSpPr>
          <p:nvPr>
            <p:ph type="sldImg"/>
          </p:nvPr>
        </p:nvSpPr>
        <p:spPr/>
      </p:sp>
      <p:sp>
        <p:nvSpPr>
          <p:cNvPr id="1048759" name="备注占位符 2"/>
          <p:cNvSpPr>
            <a:spLocks noGrp="1"/>
          </p:cNvSpPr>
          <p:nvPr>
            <p:ph type="body" idx="1"/>
          </p:nvPr>
        </p:nvSpPr>
        <p:spPr/>
        <p:txBody>
          <a:bodyPr/>
          <a:lstStyle/>
          <a:p>
            <a:r>
              <a:rPr lang="zh-CN" altLang="en-US" dirty="0"/>
              <a:t>既然我们已经讨论了注意力头，让我们重新审视之前的例子，看看当我们编码句子中的 </a:t>
            </a:r>
            <a:r>
              <a:rPr lang="zh-CN" altLang="en-US" b="1" dirty="0"/>
              <a:t>“</a:t>
            </a:r>
            <a:r>
              <a:rPr lang="en-US" altLang="zh-CN" b="1" dirty="0"/>
              <a:t>it”</a:t>
            </a:r>
            <a:r>
              <a:rPr lang="zh-CN" altLang="en-US" dirty="0"/>
              <a:t> 这个词时，不同的注意力头都在</a:t>
            </a:r>
            <a:r>
              <a:rPr lang="zh-CN" altLang="en-US" b="1" dirty="0"/>
              <a:t>关注</a:t>
            </a:r>
            <a:r>
              <a:rPr lang="zh-CN" altLang="en-US" dirty="0"/>
              <a:t>什么：</a:t>
            </a:r>
          </a:p>
          <a:p>
            <a:r>
              <a:rPr lang="zh-CN" altLang="en-US" dirty="0"/>
              <a:t>当我们编码 </a:t>
            </a:r>
            <a:r>
              <a:rPr lang="zh-CN" altLang="en-US" b="1" dirty="0"/>
              <a:t>“</a:t>
            </a:r>
            <a:r>
              <a:rPr lang="en-US" altLang="zh-CN" b="1" dirty="0"/>
              <a:t>it”</a:t>
            </a:r>
            <a:r>
              <a:rPr lang="zh-CN" altLang="en-US" dirty="0"/>
              <a:t> 这个词时，</a:t>
            </a:r>
            <a:r>
              <a:rPr lang="zh-CN" altLang="en-US" b="1" dirty="0"/>
              <a:t>一个注意力头</a:t>
            </a:r>
            <a:r>
              <a:rPr lang="zh-CN" altLang="en-US" dirty="0"/>
              <a:t>主要关注 </a:t>
            </a:r>
            <a:r>
              <a:rPr lang="zh-CN" altLang="en-US" b="1" dirty="0"/>
              <a:t>“</a:t>
            </a:r>
            <a:r>
              <a:rPr lang="en-US" altLang="zh-CN" b="1" dirty="0"/>
              <a:t>the animal”</a:t>
            </a:r>
            <a:r>
              <a:rPr lang="zh-CN" altLang="en-US" dirty="0"/>
              <a:t>，而</a:t>
            </a:r>
            <a:r>
              <a:rPr lang="zh-CN" altLang="en-US" b="1" dirty="0"/>
              <a:t>另一个注意力头</a:t>
            </a:r>
            <a:r>
              <a:rPr lang="zh-CN" altLang="en-US" dirty="0"/>
              <a:t>则关注 </a:t>
            </a:r>
            <a:r>
              <a:rPr lang="zh-CN" altLang="en-US" b="1" dirty="0"/>
              <a:t>“</a:t>
            </a:r>
            <a:r>
              <a:rPr lang="en-US" altLang="zh-CN" b="1" dirty="0"/>
              <a:t>tired”</a:t>
            </a:r>
            <a:r>
              <a:rPr lang="en-US" altLang="zh-CN" dirty="0"/>
              <a:t>——</a:t>
            </a:r>
            <a:r>
              <a:rPr lang="zh-CN" altLang="en-US" dirty="0"/>
              <a:t>从某种意义上说，模型对 </a:t>
            </a:r>
            <a:r>
              <a:rPr lang="zh-CN" altLang="en-US" b="1" dirty="0"/>
              <a:t>“</a:t>
            </a:r>
            <a:r>
              <a:rPr lang="en-US" altLang="zh-CN" b="1" dirty="0"/>
              <a:t>it”</a:t>
            </a:r>
            <a:r>
              <a:rPr lang="zh-CN" altLang="en-US" dirty="0"/>
              <a:t> 这个词的表示同时融入了 </a:t>
            </a:r>
            <a:r>
              <a:rPr lang="zh-CN" altLang="en-US" b="1" dirty="0"/>
              <a:t>“</a:t>
            </a:r>
            <a:r>
              <a:rPr lang="en-US" altLang="zh-CN" b="1" dirty="0"/>
              <a:t>animal”</a:t>
            </a:r>
            <a:r>
              <a:rPr lang="zh-CN" altLang="en-US" dirty="0"/>
              <a:t> 和 </a:t>
            </a:r>
            <a:r>
              <a:rPr lang="zh-CN" altLang="en-US" b="1" dirty="0"/>
              <a:t>“</a:t>
            </a:r>
            <a:r>
              <a:rPr lang="en-US" altLang="zh-CN" b="1" dirty="0"/>
              <a:t>tired”</a:t>
            </a:r>
            <a:r>
              <a:rPr lang="zh-CN" altLang="en-US" dirty="0"/>
              <a:t> 的部分表示。</a:t>
            </a:r>
          </a:p>
          <a:p>
            <a:r>
              <a:rPr lang="zh-CN" altLang="en-US" dirty="0"/>
              <a:t>然而，如果我们将所有注意力头都加入到画面中，事情可能会变得更难解释：</a:t>
            </a:r>
          </a:p>
          <a:p>
            <a:endParaRPr lang="zh-CN" altLang="en-US" dirty="0"/>
          </a:p>
        </p:txBody>
      </p:sp>
      <p:sp>
        <p:nvSpPr>
          <p:cNvPr id="1048760" name="灯片编号占位符 3"/>
          <p:cNvSpPr>
            <a:spLocks noGrp="1"/>
          </p:cNvSpPr>
          <p:nvPr>
            <p:ph type="sldNum" sz="quarter" idx="5"/>
          </p:nvPr>
        </p:nvSpPr>
        <p:spPr/>
        <p:txBody>
          <a:bodyPr/>
          <a:lstStyle/>
          <a:p>
            <a:fld id="{AB44C98A-D9C5-894D-9A13-8F52E37846C0}" type="slidenum">
              <a:rPr lang="en-US" smtClean="0"/>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6" name="幻灯片图像占位符 1"/>
          <p:cNvSpPr>
            <a:spLocks noGrp="1" noRot="1" noChangeAspect="1"/>
          </p:cNvSpPr>
          <p:nvPr>
            <p:ph type="sldImg"/>
          </p:nvPr>
        </p:nvSpPr>
        <p:spPr/>
      </p:sp>
      <p:sp>
        <p:nvSpPr>
          <p:cNvPr id="1048767" name="备注占位符 2"/>
          <p:cNvSpPr>
            <a:spLocks noGrp="1"/>
          </p:cNvSpPr>
          <p:nvPr>
            <p:ph type="body" idx="1"/>
          </p:nvPr>
        </p:nvSpPr>
        <p:spPr/>
        <p:txBody>
          <a:bodyPr/>
          <a:lstStyle/>
          <a:p>
            <a:r>
              <a:rPr lang="zh-CN" altLang="en-US" dirty="0"/>
              <a:t>到目前为止，我们所描述的模型缺少一种方法来解释输入序列中词语的</a:t>
            </a:r>
            <a:r>
              <a:rPr lang="zh-CN" altLang="en-US" b="1" dirty="0"/>
              <a:t>顺序</a:t>
            </a:r>
            <a:r>
              <a:rPr lang="zh-CN" altLang="en-US" dirty="0"/>
              <a:t>。</a:t>
            </a:r>
          </a:p>
          <a:p>
            <a:r>
              <a:rPr lang="zh-CN" altLang="en-US" dirty="0"/>
              <a:t>为了解决这个问题，</a:t>
            </a:r>
            <a:r>
              <a:rPr lang="en-US" altLang="zh-CN" dirty="0"/>
              <a:t>Transformer </a:t>
            </a:r>
            <a:r>
              <a:rPr lang="zh-CN" altLang="en-US" dirty="0"/>
              <a:t>会向每个输入词嵌入</a:t>
            </a:r>
            <a:r>
              <a:rPr lang="zh-CN" altLang="en-US" b="1" dirty="0"/>
              <a:t>添加一个向量</a:t>
            </a:r>
            <a:r>
              <a:rPr lang="zh-CN" altLang="en-US" dirty="0"/>
              <a:t>。这些向量遵循一个模型可以学习的</a:t>
            </a:r>
            <a:r>
              <a:rPr lang="zh-CN" altLang="en-US" b="1" dirty="0"/>
              <a:t>特定模式</a:t>
            </a:r>
            <a:r>
              <a:rPr lang="zh-CN" altLang="en-US" dirty="0"/>
              <a:t>，这有助于模型确定每个词语的</a:t>
            </a:r>
            <a:r>
              <a:rPr lang="zh-CN" altLang="en-US" b="1" dirty="0"/>
              <a:t>位置</a:t>
            </a:r>
            <a:r>
              <a:rPr lang="zh-CN" altLang="en-US" dirty="0"/>
              <a:t>，或序列中不同词语之间的</a:t>
            </a:r>
            <a:r>
              <a:rPr lang="zh-CN" altLang="en-US" b="1" dirty="0"/>
              <a:t>距离</a:t>
            </a:r>
            <a:r>
              <a:rPr lang="zh-CN" altLang="en-US" dirty="0"/>
              <a:t>。其直觉是，一旦这些嵌入向量被投影到 </a:t>
            </a:r>
            <a:r>
              <a:rPr lang="en-US" altLang="zh-CN" dirty="0"/>
              <a:t>Q/</a:t>
            </a:r>
            <a:r>
              <a:rPr lang="en-US" altLang="zh-CN" dirty="0">
                <a:effectLst/>
              </a:rPr>
              <a:t>K</a:t>
            </a:r>
            <a:r>
              <a:rPr lang="en-US" altLang="zh-CN" dirty="0"/>
              <a:t>/</a:t>
            </a:r>
            <a:r>
              <a:rPr lang="en-US" altLang="zh-CN" dirty="0">
                <a:effectLst/>
              </a:rPr>
              <a:t>V</a:t>
            </a:r>
            <a:r>
              <a:rPr lang="zh-CN" altLang="en-US" dirty="0"/>
              <a:t> 向量中并在点积注意力中进行计算时，添加这些位置值就能提供</a:t>
            </a:r>
            <a:r>
              <a:rPr lang="zh-CN" altLang="en-US" b="1" dirty="0"/>
              <a:t>有意义的距离信息</a:t>
            </a:r>
            <a:r>
              <a:rPr lang="zh-CN" altLang="en-US" dirty="0"/>
              <a:t>。</a:t>
            </a:r>
          </a:p>
          <a:p>
            <a:r>
              <a:rPr lang="zh-CN" altLang="en-US" dirty="0"/>
              <a:t>为了让模型感知词语的顺序，我们添加了</a:t>
            </a:r>
            <a:r>
              <a:rPr lang="zh-CN" altLang="en-US" b="1" dirty="0"/>
              <a:t>位置编码向量</a:t>
            </a:r>
            <a:r>
              <a:rPr lang="en-US" altLang="zh-CN" dirty="0"/>
              <a:t>——</a:t>
            </a:r>
            <a:r>
              <a:rPr lang="zh-CN" altLang="en-US" dirty="0"/>
              <a:t>这些向量的值遵循一个特定的模式。</a:t>
            </a:r>
          </a:p>
          <a:p>
            <a:r>
              <a:rPr lang="zh-CN" altLang="en-US" dirty="0"/>
              <a:t>如果我们假设嵌入向量的维度为 </a:t>
            </a:r>
            <a:r>
              <a:rPr lang="en-US" altLang="zh-CN" dirty="0"/>
              <a:t>4</a:t>
            </a:r>
            <a:r>
              <a:rPr lang="zh-CN" altLang="en-US" dirty="0"/>
              <a:t>，那么实际的位置编码向量看起来会像这样：</a:t>
            </a:r>
          </a:p>
          <a:p>
            <a:r>
              <a:rPr lang="zh-CN" altLang="en-US" dirty="0"/>
              <a:t>一个玩具示例：维度为 </a:t>
            </a:r>
            <a:r>
              <a:rPr lang="en-US" altLang="zh-CN" dirty="0"/>
              <a:t>4 </a:t>
            </a:r>
            <a:r>
              <a:rPr lang="zh-CN" altLang="en-US" dirty="0"/>
              <a:t>的位置编码。</a:t>
            </a:r>
            <a:endParaRPr lang="en-US" altLang="zh-CN" dirty="0"/>
          </a:p>
          <a:p>
            <a:r>
              <a:rPr lang="zh-CN" altLang="en-US" dirty="0"/>
              <a:t>那么，这个模式可能是什么样的呢？</a:t>
            </a:r>
          </a:p>
          <a:p>
            <a:endParaRPr lang="zh-CN" altLang="en-US" dirty="0"/>
          </a:p>
        </p:txBody>
      </p:sp>
      <p:sp>
        <p:nvSpPr>
          <p:cNvPr id="1048768" name="灯片编号占位符 3"/>
          <p:cNvSpPr>
            <a:spLocks noGrp="1"/>
          </p:cNvSpPr>
          <p:nvPr>
            <p:ph type="sldNum" sz="quarter" idx="5"/>
          </p:nvPr>
        </p:nvSpPr>
        <p:spPr/>
        <p:txBody>
          <a:bodyPr/>
          <a:lstStyle/>
          <a:p>
            <a:fld id="{AB44C98A-D9C5-894D-9A13-8F52E37846C0}" type="slidenum">
              <a:rPr lang="en-US" smtClean="0"/>
              <a:t>17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幻灯片图像占位符 1"/>
          <p:cNvSpPr>
            <a:spLocks noGrp="1" noRot="1" noChangeAspect="1"/>
          </p:cNvSpPr>
          <p:nvPr>
            <p:ph type="sldImg"/>
          </p:nvPr>
        </p:nvSpPr>
        <p:spPr/>
      </p:sp>
      <p:sp>
        <p:nvSpPr>
          <p:cNvPr id="1048775" name="备注占位符 2"/>
          <p:cNvSpPr>
            <a:spLocks noGrp="1"/>
          </p:cNvSpPr>
          <p:nvPr>
            <p:ph type="body" idx="1"/>
          </p:nvPr>
        </p:nvSpPr>
        <p:spPr/>
        <p:txBody>
          <a:bodyPr/>
          <a:lstStyle/>
          <a:p>
            <a:r>
              <a:rPr lang="zh-CN" altLang="en-US" dirty="0"/>
              <a:t>在下图中，</a:t>
            </a:r>
            <a:r>
              <a:rPr lang="zh-CN" altLang="en-US" b="1" dirty="0"/>
              <a:t>每一行</a:t>
            </a:r>
            <a:r>
              <a:rPr lang="zh-CN" altLang="en-US" dirty="0"/>
              <a:t>都对应一个位置编码向量。因此，第一行就是我们要添加到输入序列中</a:t>
            </a:r>
            <a:r>
              <a:rPr lang="zh-CN" altLang="en-US" b="1" dirty="0"/>
              <a:t>第一个词的嵌入</a:t>
            </a:r>
            <a:r>
              <a:rPr lang="zh-CN" altLang="en-US" dirty="0"/>
              <a:t>上的向量。每一行包含 </a:t>
            </a:r>
            <a:r>
              <a:rPr lang="en-US" altLang="zh-CN" dirty="0"/>
              <a:t>512 </a:t>
            </a:r>
            <a:r>
              <a:rPr lang="zh-CN" altLang="en-US" dirty="0"/>
              <a:t>个值</a:t>
            </a:r>
            <a:r>
              <a:rPr lang="en-US" altLang="zh-CN" dirty="0"/>
              <a:t>——</a:t>
            </a:r>
            <a:r>
              <a:rPr lang="zh-CN" altLang="en-US" dirty="0"/>
              <a:t>每个值都在 </a:t>
            </a:r>
            <a:r>
              <a:rPr lang="en-US" altLang="zh-CN" dirty="0"/>
              <a:t>1 </a:t>
            </a:r>
            <a:r>
              <a:rPr lang="zh-CN" altLang="en-US" dirty="0"/>
              <a:t>到 </a:t>
            </a:r>
            <a:r>
              <a:rPr lang="en-US" altLang="zh-CN" dirty="0"/>
              <a:t>-1 </a:t>
            </a:r>
            <a:r>
              <a:rPr lang="zh-CN" altLang="en-US" dirty="0"/>
              <a:t>之间。我们对其进行了颜色编码，以便图案清晰可见。</a:t>
            </a:r>
          </a:p>
          <a:p>
            <a:r>
              <a:rPr lang="zh-CN" altLang="en-US" dirty="0"/>
              <a:t>一个真实示例：</a:t>
            </a:r>
            <a:r>
              <a:rPr lang="en-US" altLang="zh-CN" dirty="0"/>
              <a:t>20 </a:t>
            </a:r>
            <a:r>
              <a:rPr lang="zh-CN" altLang="en-US" dirty="0"/>
              <a:t>个词语（行）和 </a:t>
            </a:r>
            <a:r>
              <a:rPr lang="en-US" altLang="zh-CN" dirty="0"/>
              <a:t>512 </a:t>
            </a:r>
            <a:r>
              <a:rPr lang="zh-CN" altLang="en-US" dirty="0"/>
              <a:t>维度（列）的位置编码。</a:t>
            </a:r>
          </a:p>
          <a:p>
            <a:r>
              <a:rPr lang="zh-CN" altLang="en-US" dirty="0"/>
              <a:t>您可以看到它似乎在中间被分成了两半。这是因为左半部分的值是由一个函数（使用</a:t>
            </a:r>
            <a:r>
              <a:rPr lang="zh-CN" altLang="en-US" b="1" dirty="0"/>
              <a:t>正弦函数 </a:t>
            </a:r>
            <a:r>
              <a:rPr lang="en-US" altLang="zh-CN" b="1" dirty="0"/>
              <a:t>sine</a:t>
            </a:r>
            <a:r>
              <a:rPr lang="zh-CN" altLang="en-US" dirty="0"/>
              <a:t>）生成的，右半部分是由另一个函数（使用</a:t>
            </a:r>
            <a:r>
              <a:rPr lang="zh-CN" altLang="en-US" b="1" dirty="0"/>
              <a:t>余弦函数 </a:t>
            </a:r>
            <a:r>
              <a:rPr lang="en-US" altLang="zh-CN" b="1" dirty="0"/>
              <a:t>cosine</a:t>
            </a:r>
            <a:r>
              <a:rPr lang="zh-CN" altLang="en-US" dirty="0"/>
              <a:t>）生成的。然后将它们</a:t>
            </a:r>
            <a:r>
              <a:rPr lang="zh-CN" altLang="en-US" b="1" dirty="0"/>
              <a:t>拼接</a:t>
            </a:r>
            <a:r>
              <a:rPr lang="zh-CN" altLang="en-US" dirty="0"/>
              <a:t>起来，形成每个位置编码向量。</a:t>
            </a:r>
            <a:endParaRPr lang="en-US" altLang="zh-CN" dirty="0"/>
          </a:p>
          <a:p>
            <a:r>
              <a:rPr lang="zh-CN" altLang="en-US" dirty="0"/>
              <a:t>这不是唯一可能的位置编码方法，但它的优点是能够</a:t>
            </a:r>
            <a:r>
              <a:rPr lang="zh-CN" altLang="en-US" b="1" dirty="0"/>
              <a:t>扩展到未见过的序列长度</a:t>
            </a:r>
            <a:r>
              <a:rPr lang="zh-CN" altLang="en-US" dirty="0"/>
              <a:t>（例如，如果我们的训练模型被要求翻译一个比我们训练集中任何句子都长的句子）。</a:t>
            </a:r>
          </a:p>
          <a:p>
            <a:r>
              <a:rPr lang="en-US" altLang="zh-CN" b="1" dirty="0"/>
              <a:t>2020 </a:t>
            </a:r>
            <a:r>
              <a:rPr lang="zh-CN" altLang="en-US" b="1" dirty="0"/>
              <a:t>年 </a:t>
            </a:r>
            <a:r>
              <a:rPr lang="en-US" altLang="zh-CN" b="1" dirty="0"/>
              <a:t>7 </a:t>
            </a:r>
            <a:r>
              <a:rPr lang="zh-CN" altLang="en-US" b="1" dirty="0"/>
              <a:t>月更新：</a:t>
            </a:r>
            <a:r>
              <a:rPr lang="zh-CN" altLang="en-US" dirty="0"/>
              <a:t> 上图所示的位置编码来自 </a:t>
            </a:r>
            <a:r>
              <a:rPr lang="en-US" altLang="zh-CN" dirty="0"/>
              <a:t>Transformer </a:t>
            </a:r>
            <a:r>
              <a:rPr lang="zh-CN" altLang="en-US" dirty="0"/>
              <a:t>的 </a:t>
            </a:r>
            <a:r>
              <a:rPr lang="en-US" altLang="zh-CN" dirty="0"/>
              <a:t>Tensor2Tensor </a:t>
            </a:r>
            <a:r>
              <a:rPr lang="zh-CN" altLang="en-US" dirty="0"/>
              <a:t>实现。论文中展示的方法略有不同，它不是直接拼接，而是将两个信号</a:t>
            </a:r>
            <a:r>
              <a:rPr lang="zh-CN" altLang="en-US" b="1" dirty="0"/>
              <a:t>交织</a:t>
            </a:r>
            <a:r>
              <a:rPr lang="zh-CN" altLang="en-US" dirty="0"/>
              <a:t>在一起。下图展示了交织后的样子。</a:t>
            </a:r>
          </a:p>
        </p:txBody>
      </p:sp>
      <p:sp>
        <p:nvSpPr>
          <p:cNvPr id="1048776" name="灯片编号占位符 3"/>
          <p:cNvSpPr>
            <a:spLocks noGrp="1"/>
          </p:cNvSpPr>
          <p:nvPr>
            <p:ph type="sldNum" sz="quarter" idx="5"/>
          </p:nvPr>
        </p:nvSpPr>
        <p:spPr/>
        <p:txBody>
          <a:bodyPr/>
          <a:lstStyle/>
          <a:p>
            <a:fld id="{AB44C98A-D9C5-894D-9A13-8F52E37846C0}" type="slidenum">
              <a:rPr lang="en-US" smtClean="0"/>
              <a:t>18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2" name="幻灯片图像占位符 1"/>
          <p:cNvSpPr>
            <a:spLocks noGrp="1" noRot="1" noChangeAspect="1"/>
          </p:cNvSpPr>
          <p:nvPr>
            <p:ph type="sldImg"/>
          </p:nvPr>
        </p:nvSpPr>
        <p:spPr/>
      </p:sp>
      <p:sp>
        <p:nvSpPr>
          <p:cNvPr id="1048783" name="备注占位符 2"/>
          <p:cNvSpPr>
            <a:spLocks noGrp="1"/>
          </p:cNvSpPr>
          <p:nvPr>
            <p:ph type="body" idx="1"/>
          </p:nvPr>
        </p:nvSpPr>
        <p:spPr/>
        <p:txBody>
          <a:bodyPr/>
          <a:lstStyle/>
          <a:p>
            <a:r>
              <a:rPr lang="zh-CN" altLang="en-US" dirty="0"/>
              <a:t>在继续之前，我们需要提及编码器架构中的一个细节：每个编码器中的每个子层（自注意力层、前馈网络层）都有一个**残差连接（</a:t>
            </a:r>
            <a:r>
              <a:rPr lang="en-US" altLang="zh-CN" dirty="0"/>
              <a:t>residual connection</a:t>
            </a:r>
            <a:r>
              <a:rPr lang="zh-CN" altLang="en-US" dirty="0"/>
              <a:t>）环绕，并且紧接着是一个层归一化（</a:t>
            </a:r>
            <a:r>
              <a:rPr lang="en-US" altLang="zh-CN" dirty="0"/>
              <a:t>layer-normalization</a:t>
            </a:r>
            <a:r>
              <a:rPr lang="zh-CN" altLang="en-US" dirty="0"/>
              <a:t>）**步骤</a:t>
            </a:r>
            <a:endParaRPr lang="en-US" altLang="zh-CN" dirty="0"/>
          </a:p>
          <a:p>
            <a:r>
              <a:rPr lang="zh-CN" altLang="en-US" dirty="0"/>
              <a:t>残差连接的目的是将子层的</a:t>
            </a:r>
            <a:r>
              <a:rPr lang="zh-CN" altLang="en-US" b="1" dirty="0"/>
              <a:t>输入</a:t>
            </a:r>
            <a:r>
              <a:rPr lang="zh-CN" altLang="en-US" dirty="0"/>
              <a:t>（</a:t>
            </a:r>
            <a:r>
              <a:rPr lang="en-US" altLang="zh-CN" dirty="0"/>
              <a:t>x</a:t>
            </a:r>
            <a:r>
              <a:rPr lang="zh-CN" altLang="en-US" dirty="0"/>
              <a:t>）直接添加到子层的</a:t>
            </a:r>
            <a:r>
              <a:rPr lang="zh-CN" altLang="en-US" b="1" dirty="0"/>
              <a:t>输出</a:t>
            </a:r>
            <a:r>
              <a:rPr lang="zh-CN" altLang="en-US" dirty="0"/>
              <a:t>（</a:t>
            </a:r>
            <a:r>
              <a:rPr lang="en-US" altLang="zh-CN" dirty="0"/>
              <a:t>Sublayer(x)</a:t>
            </a:r>
            <a:r>
              <a:rPr lang="zh-CN" altLang="en-US" dirty="0"/>
              <a:t>）上，以帮助缓解深度神经网络中的</a:t>
            </a:r>
            <a:r>
              <a:rPr lang="zh-CN" altLang="en-US" b="1" dirty="0"/>
              <a:t>梯度消失问题</a:t>
            </a:r>
            <a:r>
              <a:rPr lang="zh-CN" altLang="en-US" dirty="0"/>
              <a:t>，并加速训练。</a:t>
            </a:r>
          </a:p>
          <a:p>
            <a:r>
              <a:rPr lang="zh-CN" altLang="en-US" dirty="0"/>
              <a:t>数学上表示为：</a:t>
            </a:r>
          </a:p>
          <a:p>
            <a:r>
              <a:rPr lang="en-US" altLang="zh-CN" dirty="0"/>
              <a:t>Output=</a:t>
            </a:r>
            <a:r>
              <a:rPr lang="en-US" altLang="zh-CN" dirty="0" err="1"/>
              <a:t>LayerNorm</a:t>
            </a:r>
            <a:r>
              <a:rPr lang="en-US" altLang="zh-CN" dirty="0"/>
              <a:t>(</a:t>
            </a:r>
            <a:r>
              <a:rPr lang="en-US" altLang="zh-CN" dirty="0" err="1"/>
              <a:t>x+Sublayer</a:t>
            </a:r>
            <a:r>
              <a:rPr lang="en-US" altLang="zh-CN" dirty="0"/>
              <a:t>(x))</a:t>
            </a:r>
          </a:p>
          <a:p>
            <a:endParaRPr lang="en-US" altLang="zh-CN" dirty="0"/>
          </a:p>
          <a:p>
            <a:r>
              <a:rPr lang="zh-CN" altLang="en-US" dirty="0"/>
              <a:t>这个机制同样适用于解码器的子层。如果我们考虑一个由 </a:t>
            </a:r>
            <a:r>
              <a:rPr lang="en-US" altLang="zh-CN" b="1" dirty="0"/>
              <a:t>2 </a:t>
            </a:r>
            <a:r>
              <a:rPr lang="zh-CN" altLang="en-US" b="1" dirty="0"/>
              <a:t>个堆叠的编码器</a:t>
            </a:r>
            <a:r>
              <a:rPr lang="zh-CN" altLang="en-US" dirty="0"/>
              <a:t>和 </a:t>
            </a:r>
            <a:r>
              <a:rPr lang="en-US" altLang="zh-CN" b="1" dirty="0"/>
              <a:t>2 </a:t>
            </a:r>
            <a:r>
              <a:rPr lang="zh-CN" altLang="en-US" b="1" dirty="0"/>
              <a:t>个堆叠的解码器</a:t>
            </a:r>
            <a:r>
              <a:rPr lang="zh-CN" altLang="en-US" dirty="0"/>
              <a:t>组成的 </a:t>
            </a:r>
            <a:r>
              <a:rPr lang="en-US" altLang="zh-CN" dirty="0"/>
              <a:t>Transformer </a:t>
            </a:r>
            <a:r>
              <a:rPr lang="zh-CN" altLang="en-US" dirty="0"/>
              <a:t>模型，它的结构大致如下所示：</a:t>
            </a:r>
          </a:p>
          <a:p>
            <a:r>
              <a:rPr lang="zh-CN" altLang="en-US" dirty="0"/>
              <a:t>这种设计是 </a:t>
            </a:r>
            <a:r>
              <a:rPr lang="en-US" altLang="zh-CN" dirty="0"/>
              <a:t>Transformer </a:t>
            </a:r>
            <a:r>
              <a:rPr lang="zh-CN" altLang="en-US" dirty="0"/>
              <a:t>能够有效地堆叠多层并进行深度学习的关键。</a:t>
            </a:r>
          </a:p>
          <a:p>
            <a:endParaRPr lang="en-US" altLang="zh-CN" dirty="0"/>
          </a:p>
        </p:txBody>
      </p:sp>
      <p:sp>
        <p:nvSpPr>
          <p:cNvPr id="1048784" name="灯片编号占位符 3"/>
          <p:cNvSpPr>
            <a:spLocks noGrp="1"/>
          </p:cNvSpPr>
          <p:nvPr>
            <p:ph type="sldNum" sz="quarter" idx="5"/>
          </p:nvPr>
        </p:nvSpPr>
        <p:spPr/>
        <p:txBody>
          <a:bodyPr/>
          <a:lstStyle/>
          <a:p>
            <a:fld id="{AB44C98A-D9C5-894D-9A13-8F52E37846C0}" type="slidenum">
              <a:rPr lang="en-US" smtClean="0"/>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0" name="幻灯片图像占位符 1"/>
          <p:cNvSpPr>
            <a:spLocks noGrp="1" noRot="1" noChangeAspect="1"/>
          </p:cNvSpPr>
          <p:nvPr>
            <p:ph type="sldImg"/>
          </p:nvPr>
        </p:nvSpPr>
        <p:spPr/>
      </p:sp>
      <p:sp>
        <p:nvSpPr>
          <p:cNvPr id="1048791" name="备注占位符 2"/>
          <p:cNvSpPr>
            <a:spLocks noGrp="1"/>
          </p:cNvSpPr>
          <p:nvPr>
            <p:ph type="body" idx="1"/>
          </p:nvPr>
        </p:nvSpPr>
        <p:spPr/>
        <p:txBody>
          <a:bodyPr/>
          <a:lstStyle/>
          <a:p>
            <a:r>
              <a:rPr lang="zh-CN" altLang="en-US" dirty="0"/>
              <a:t>既然我们已经涵盖了编码器侧的大部分概念，我们基本上也了解了解码器组件是如何工作的。但让我们来看看它们是如何协同工作的。</a:t>
            </a:r>
          </a:p>
          <a:p>
            <a:r>
              <a:rPr lang="zh-CN" altLang="en-US" dirty="0"/>
              <a:t>编码器首先处理输入序列。</a:t>
            </a:r>
            <a:r>
              <a:rPr lang="zh-CN" altLang="en-US" b="1" dirty="0"/>
              <a:t>最顶层编码器</a:t>
            </a:r>
            <a:r>
              <a:rPr lang="zh-CN" altLang="en-US" dirty="0"/>
              <a:t>的输出随后被转化为一组</a:t>
            </a:r>
            <a:r>
              <a:rPr lang="zh-CN" altLang="en-US" b="1" dirty="0"/>
              <a:t>注意力向量 </a:t>
            </a:r>
            <a:r>
              <a:rPr lang="en-US" altLang="zh-CN" b="1" dirty="0">
                <a:effectLst/>
              </a:rPr>
              <a:t>K</a:t>
            </a:r>
            <a:r>
              <a:rPr lang="zh-CN" altLang="en-US" b="1" dirty="0"/>
              <a:t>（键）和 </a:t>
            </a:r>
            <a:r>
              <a:rPr lang="en-US" altLang="zh-CN" b="1" dirty="0">
                <a:effectLst/>
              </a:rPr>
              <a:t>V</a:t>
            </a:r>
            <a:r>
              <a:rPr lang="zh-CN" altLang="en-US" b="1" dirty="0"/>
              <a:t>（值）。这些 </a:t>
            </a:r>
            <a:r>
              <a:rPr lang="en-US" altLang="zh-CN" b="1" dirty="0">
                <a:effectLst/>
              </a:rPr>
              <a:t>K</a:t>
            </a:r>
            <a:r>
              <a:rPr lang="zh-CN" altLang="en-US" b="1" dirty="0"/>
              <a:t> 和 </a:t>
            </a:r>
            <a:r>
              <a:rPr lang="en-US" altLang="zh-CN" b="1" dirty="0">
                <a:effectLst/>
              </a:rPr>
              <a:t>V</a:t>
            </a:r>
            <a:r>
              <a:rPr lang="zh-CN" altLang="en-US" b="1" dirty="0"/>
              <a:t> 将被每个解码器在其“编码器</a:t>
            </a:r>
            <a:r>
              <a:rPr lang="en-US" altLang="zh-CN" b="1" dirty="0"/>
              <a:t>-</a:t>
            </a:r>
            <a:r>
              <a:rPr lang="zh-CN" altLang="en-US" b="1" dirty="0"/>
              <a:t>解码器注意力”（</a:t>
            </a:r>
            <a:r>
              <a:rPr lang="en-US" altLang="zh-CN" b="1" dirty="0"/>
              <a:t>encoder-decoder attention</a:t>
            </a:r>
            <a:r>
              <a:rPr lang="zh-CN" altLang="en-US" b="1" dirty="0"/>
              <a:t>）层</a:t>
            </a:r>
            <a:r>
              <a:rPr lang="zh-CN" altLang="en-US" dirty="0"/>
              <a:t>中使用，帮助解码器聚焦于输入序列中的适当位置：</a:t>
            </a:r>
            <a:endParaRPr lang="en-US" altLang="zh-CN" dirty="0"/>
          </a:p>
          <a:p>
            <a:r>
              <a:rPr lang="zh-CN" altLang="en-US" dirty="0"/>
              <a:t>完成编码阶段后，我们开始</a:t>
            </a:r>
            <a:r>
              <a:rPr lang="zh-CN" altLang="en-US" b="1" dirty="0"/>
              <a:t>解码阶段</a:t>
            </a:r>
            <a:r>
              <a:rPr lang="zh-CN" altLang="en-US" dirty="0"/>
              <a:t>。解码阶段的</a:t>
            </a:r>
            <a:r>
              <a:rPr lang="zh-CN" altLang="en-US" b="1" dirty="0"/>
              <a:t>每一步</a:t>
            </a:r>
            <a:r>
              <a:rPr lang="zh-CN" altLang="en-US" dirty="0"/>
              <a:t>都会输出输出序列中的一个元素（在本例中是英文翻译句子的一个词）。</a:t>
            </a:r>
            <a:r>
              <a:rPr lang="zh-CN" altLang="en-US" b="1" dirty="0"/>
              <a:t>初始输入：</a:t>
            </a:r>
            <a:r>
              <a:rPr lang="zh-CN" altLang="en-US" dirty="0"/>
              <a:t> 解码过程的第一步，需要一个 </a:t>
            </a:r>
            <a:r>
              <a:rPr lang="zh-CN" altLang="en-US" b="1" dirty="0"/>
              <a:t>起始标记</a:t>
            </a:r>
            <a:r>
              <a:rPr lang="zh-CN" altLang="en-US" dirty="0"/>
              <a:t>，通常是 </a:t>
            </a:r>
            <a:r>
              <a:rPr lang="en-US" altLang="zh-CN" dirty="0"/>
              <a:t>[BOS]</a:t>
            </a:r>
            <a:r>
              <a:rPr lang="zh-CN" altLang="en-US" dirty="0"/>
              <a:t>（</a:t>
            </a:r>
            <a:r>
              <a:rPr lang="en-US" altLang="zh-CN" dirty="0"/>
              <a:t>Begin of Sequence</a:t>
            </a:r>
            <a:r>
              <a:rPr lang="zh-CN" altLang="en-US" dirty="0"/>
              <a:t>）</a:t>
            </a:r>
          </a:p>
          <a:p>
            <a:r>
              <a:rPr lang="zh-CN" altLang="en-US" dirty="0"/>
              <a:t>以下步骤会重复进行，直到达到一个特殊的 **</a:t>
            </a:r>
            <a:r>
              <a:rPr lang="en-US" altLang="zh-CN" dirty="0"/>
              <a:t>&lt;</a:t>
            </a:r>
            <a:r>
              <a:rPr lang="en-US" altLang="zh-CN" dirty="0" err="1"/>
              <a:t>eos</a:t>
            </a:r>
            <a:r>
              <a:rPr lang="en-US" altLang="zh-CN" dirty="0"/>
              <a:t>&gt;</a:t>
            </a:r>
            <a:r>
              <a:rPr lang="zh-CN" altLang="en-US" dirty="0"/>
              <a:t>（</a:t>
            </a:r>
            <a:r>
              <a:rPr lang="en-US" altLang="zh-CN" dirty="0"/>
              <a:t>end of sentence</a:t>
            </a:r>
            <a:r>
              <a:rPr lang="zh-CN" altLang="en-US" dirty="0"/>
              <a:t>，句子结束）**符号，表明 </a:t>
            </a:r>
            <a:r>
              <a:rPr lang="en-US" altLang="zh-CN" dirty="0"/>
              <a:t>Transformer </a:t>
            </a:r>
            <a:r>
              <a:rPr lang="zh-CN" altLang="en-US" dirty="0"/>
              <a:t>解码器已完成其输出。</a:t>
            </a:r>
          </a:p>
          <a:p>
            <a:pPr>
              <a:buFont typeface="Arial" panose="020B0604020202020204" pitchFamily="34" charset="0"/>
              <a:buChar char="•"/>
            </a:pPr>
            <a:r>
              <a:rPr lang="zh-CN" altLang="en-US" b="1" dirty="0"/>
              <a:t>循环与反馈：</a:t>
            </a:r>
            <a:r>
              <a:rPr lang="zh-CN" altLang="en-US" dirty="0"/>
              <a:t> 每一步的输出都会在</a:t>
            </a:r>
            <a:r>
              <a:rPr lang="zh-CN" altLang="en-US" b="1" dirty="0"/>
              <a:t>下一个时间步</a:t>
            </a:r>
            <a:r>
              <a:rPr lang="zh-CN" altLang="en-US" dirty="0"/>
              <a:t>被馈送到最底层的解码器，然后解码器们像编码器一样，将它们的解码结果向上传播。</a:t>
            </a:r>
          </a:p>
          <a:p>
            <a:pPr>
              <a:buFont typeface="Arial" panose="020B0604020202020204" pitchFamily="34" charset="0"/>
              <a:buChar char="•"/>
            </a:pPr>
            <a:r>
              <a:rPr lang="zh-CN" altLang="en-US" b="1" dirty="0"/>
              <a:t>输入处理：</a:t>
            </a:r>
            <a:r>
              <a:rPr lang="zh-CN" altLang="en-US" dirty="0"/>
              <a:t> 就像我们对编码器输入所做的那样，我们也会对这些解码器输入进行</a:t>
            </a:r>
            <a:r>
              <a:rPr lang="zh-CN" altLang="en-US" b="1" dirty="0"/>
              <a:t>词嵌入</a:t>
            </a:r>
            <a:r>
              <a:rPr lang="zh-CN" altLang="en-US" dirty="0"/>
              <a:t>，并</a:t>
            </a:r>
            <a:r>
              <a:rPr lang="zh-CN" altLang="en-US" b="1" dirty="0"/>
              <a:t>添加位置编码</a:t>
            </a:r>
            <a:r>
              <a:rPr lang="zh-CN" altLang="en-US" dirty="0"/>
              <a:t>，以指示每个词的位置。</a:t>
            </a:r>
          </a:p>
          <a:p>
            <a:endParaRPr lang="zh-CN" altLang="en-US" dirty="0"/>
          </a:p>
          <a:p>
            <a:r>
              <a:rPr lang="zh-CN" altLang="en-US" dirty="0"/>
              <a:t>解码器中的自注意力层与编码器中的工作方式略有不同：</a:t>
            </a:r>
          </a:p>
          <a:p>
            <a:r>
              <a:rPr lang="en-US" altLang="zh-CN" b="1" dirty="0"/>
              <a:t>1. </a:t>
            </a:r>
            <a:r>
              <a:rPr lang="zh-CN" altLang="en-US" b="1" dirty="0"/>
              <a:t>遮盖自注意力（</a:t>
            </a:r>
            <a:r>
              <a:rPr lang="en-US" altLang="zh-CN" b="1" dirty="0"/>
              <a:t>Masked Self-Attention</a:t>
            </a:r>
            <a:r>
              <a:rPr lang="zh-CN" altLang="en-US" b="1" dirty="0"/>
              <a:t>）</a:t>
            </a:r>
          </a:p>
          <a:p>
            <a:r>
              <a:rPr lang="zh-CN" altLang="en-US" dirty="0"/>
              <a:t>在解码器中，自注意力层</a:t>
            </a:r>
            <a:r>
              <a:rPr lang="zh-CN" altLang="en-US" b="1" dirty="0"/>
              <a:t>只允许关注输出序列中较早的位置</a:t>
            </a:r>
            <a:r>
              <a:rPr lang="zh-CN" altLang="en-US" dirty="0"/>
              <a:t>（即已生成的词语）。这是通过在自注意力计算的 </a:t>
            </a:r>
            <a:r>
              <a:rPr lang="en-US" altLang="zh-CN" dirty="0" err="1"/>
              <a:t>Softmax</a:t>
            </a:r>
            <a:r>
              <a:rPr lang="en-US" altLang="zh-CN" dirty="0"/>
              <a:t> </a:t>
            </a:r>
            <a:r>
              <a:rPr lang="zh-CN" altLang="en-US" dirty="0"/>
              <a:t>步骤之前，对</a:t>
            </a:r>
            <a:r>
              <a:rPr lang="zh-CN" altLang="en-US" b="1" dirty="0"/>
              <a:t>未来的位置进行遮盖</a:t>
            </a:r>
            <a:r>
              <a:rPr lang="zh-CN" altLang="en-US" dirty="0"/>
              <a:t>（将其设置为负无穷大 </a:t>
            </a:r>
            <a:r>
              <a:rPr lang="en-US" altLang="zh-CN" dirty="0"/>
              <a:t>-inf</a:t>
            </a:r>
            <a:r>
              <a:rPr lang="zh-CN" altLang="en-US" dirty="0"/>
              <a:t>）来实现的。</a:t>
            </a:r>
          </a:p>
          <a:p>
            <a:pPr>
              <a:buFont typeface="Arial" panose="020B0604020202020204" pitchFamily="34" charset="0"/>
              <a:buChar char="•"/>
            </a:pPr>
            <a:r>
              <a:rPr lang="zh-CN" altLang="en-US" b="1" dirty="0"/>
              <a:t>目的：</a:t>
            </a:r>
            <a:r>
              <a:rPr lang="zh-CN" altLang="en-US" dirty="0"/>
              <a:t> 确保模型的预测只依赖于</a:t>
            </a:r>
            <a:r>
              <a:rPr lang="zh-CN" altLang="en-US" b="1" dirty="0"/>
              <a:t>已知</a:t>
            </a:r>
            <a:r>
              <a:rPr lang="zh-CN" altLang="en-US" dirty="0"/>
              <a:t>的输出，防止模型“偷看”到它应该预测的词语。</a:t>
            </a:r>
          </a:p>
          <a:p>
            <a:r>
              <a:rPr lang="en-US" altLang="zh-CN" b="1" dirty="0"/>
              <a:t>2. </a:t>
            </a:r>
            <a:r>
              <a:rPr lang="zh-CN" altLang="en-US" b="1" dirty="0"/>
              <a:t>编码器</a:t>
            </a:r>
            <a:r>
              <a:rPr lang="en-US" altLang="zh-CN" b="1" dirty="0"/>
              <a:t>-</a:t>
            </a:r>
            <a:r>
              <a:rPr lang="zh-CN" altLang="en-US" b="1" dirty="0"/>
              <a:t>解码器注意力（</a:t>
            </a:r>
            <a:r>
              <a:rPr lang="en-US" altLang="zh-CN" b="1" dirty="0"/>
              <a:t>Encoder-Decoder Attention</a:t>
            </a:r>
            <a:r>
              <a:rPr lang="zh-CN" altLang="en-US" b="1" dirty="0"/>
              <a:t>）</a:t>
            </a:r>
          </a:p>
          <a:p>
            <a:r>
              <a:rPr lang="zh-CN" altLang="en-US" dirty="0"/>
              <a:t>这个 </a:t>
            </a:r>
            <a:r>
              <a:rPr lang="zh-CN" altLang="en-US" b="1" dirty="0"/>
              <a:t>“编码器</a:t>
            </a:r>
            <a:r>
              <a:rPr lang="en-US" altLang="zh-CN" b="1" dirty="0"/>
              <a:t>-</a:t>
            </a:r>
            <a:r>
              <a:rPr lang="zh-CN" altLang="en-US" b="1" dirty="0"/>
              <a:t>解码器注意力”层</a:t>
            </a:r>
            <a:r>
              <a:rPr lang="zh-CN" altLang="en-US" dirty="0"/>
              <a:t>的工作方式就像多头自注意力一样，但其数据的来源是：</a:t>
            </a:r>
          </a:p>
          <a:p>
            <a:pPr>
              <a:buFont typeface="Arial" panose="020B0604020202020204" pitchFamily="34" charset="0"/>
              <a:buChar char="•"/>
            </a:pPr>
            <a:r>
              <a:rPr lang="en-US" altLang="zh-CN" b="1" dirty="0"/>
              <a:t>Queries </a:t>
            </a:r>
            <a:r>
              <a:rPr lang="zh-CN" altLang="en-US" b="1" dirty="0"/>
              <a:t>矩阵（</a:t>
            </a:r>
            <a:r>
              <a:rPr lang="en-US" altLang="zh-CN" b="1" dirty="0"/>
              <a:t>Q</a:t>
            </a:r>
            <a:r>
              <a:rPr lang="zh-CN" altLang="en-US" b="1" dirty="0"/>
              <a:t>）：</a:t>
            </a:r>
            <a:r>
              <a:rPr lang="zh-CN" altLang="en-US" dirty="0"/>
              <a:t> 来自</a:t>
            </a:r>
            <a:r>
              <a:rPr lang="zh-CN" altLang="en-US" b="1" dirty="0"/>
              <a:t>它下面的那个解码器层</a:t>
            </a:r>
            <a:r>
              <a:rPr lang="zh-CN" altLang="en-US" dirty="0"/>
              <a:t>的输出。</a:t>
            </a:r>
          </a:p>
          <a:p>
            <a:pPr>
              <a:buFont typeface="Arial" panose="020B0604020202020204" pitchFamily="34" charset="0"/>
              <a:buChar char="•"/>
            </a:pPr>
            <a:r>
              <a:rPr lang="en-US" altLang="zh-CN" b="1" dirty="0"/>
              <a:t>Keys </a:t>
            </a:r>
            <a:r>
              <a:rPr lang="zh-CN" altLang="en-US" b="1" dirty="0"/>
              <a:t>和 </a:t>
            </a:r>
            <a:r>
              <a:rPr lang="en-US" altLang="zh-CN" b="1" dirty="0"/>
              <a:t>Values </a:t>
            </a:r>
            <a:r>
              <a:rPr lang="zh-CN" altLang="en-US" b="1" dirty="0"/>
              <a:t>矩阵（</a:t>
            </a:r>
            <a:r>
              <a:rPr lang="en-US" altLang="zh-CN" b="1" dirty="0">
                <a:effectLst/>
              </a:rPr>
              <a:t>K</a:t>
            </a:r>
            <a:r>
              <a:rPr lang="zh-CN" altLang="en-US" b="1" dirty="0"/>
              <a:t> 和 </a:t>
            </a:r>
            <a:r>
              <a:rPr lang="en-US" altLang="zh-CN" b="1" dirty="0">
                <a:effectLst/>
              </a:rPr>
              <a:t>V</a:t>
            </a:r>
            <a:r>
              <a:rPr lang="zh-CN" altLang="en-US" b="1" dirty="0"/>
              <a:t>）：</a:t>
            </a:r>
            <a:r>
              <a:rPr lang="zh-CN" altLang="en-US" dirty="0"/>
              <a:t> 来自</a:t>
            </a:r>
            <a:r>
              <a:rPr lang="zh-CN" altLang="en-US" b="1" dirty="0"/>
              <a:t>编码器堆栈的最终输出</a:t>
            </a:r>
            <a:r>
              <a:rPr lang="zh-CN" altLang="en-US" dirty="0"/>
              <a:t>。</a:t>
            </a:r>
          </a:p>
          <a:p>
            <a:endParaRPr lang="zh-CN" altLang="en-US" dirty="0"/>
          </a:p>
        </p:txBody>
      </p:sp>
      <p:sp>
        <p:nvSpPr>
          <p:cNvPr id="1048792" name="灯片编号占位符 3"/>
          <p:cNvSpPr>
            <a:spLocks noGrp="1"/>
          </p:cNvSpPr>
          <p:nvPr>
            <p:ph type="sldNum" sz="quarter" idx="5"/>
          </p:nvPr>
        </p:nvSpPr>
        <p:spPr/>
        <p:txBody>
          <a:bodyPr/>
          <a:lstStyle/>
          <a:p>
            <a:fld id="{AB44C98A-D9C5-894D-9A13-8F52E37846C0}" type="slidenum">
              <a:rPr lang="en-US" smtClean="0"/>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8" name="幻灯片图像占位符 1"/>
          <p:cNvSpPr>
            <a:spLocks noGrp="1" noRot="1" noChangeAspect="1"/>
          </p:cNvSpPr>
          <p:nvPr>
            <p:ph type="sldImg"/>
          </p:nvPr>
        </p:nvSpPr>
        <p:spPr/>
      </p:sp>
      <p:sp>
        <p:nvSpPr>
          <p:cNvPr id="1048799" name="备注占位符 2"/>
          <p:cNvSpPr>
            <a:spLocks noGrp="1"/>
          </p:cNvSpPr>
          <p:nvPr>
            <p:ph type="body" idx="1"/>
          </p:nvPr>
        </p:nvSpPr>
        <p:spPr/>
        <p:txBody>
          <a:bodyPr/>
          <a:lstStyle/>
          <a:p>
            <a:r>
              <a:rPr lang="zh-CN" altLang="en-US" b="1" dirty="0"/>
              <a:t>最终的线性层和 </a:t>
            </a:r>
            <a:r>
              <a:rPr lang="en-US" altLang="zh-CN" b="1" dirty="0" err="1"/>
              <a:t>Softmax</a:t>
            </a:r>
            <a:r>
              <a:rPr lang="en-US" altLang="zh-CN" b="1" dirty="0"/>
              <a:t> </a:t>
            </a:r>
            <a:r>
              <a:rPr lang="zh-CN" altLang="en-US" b="1" dirty="0"/>
              <a:t>层</a:t>
            </a:r>
          </a:p>
          <a:p>
            <a:r>
              <a:rPr lang="zh-CN" altLang="en-US" dirty="0"/>
              <a:t>解码器堆栈的最终输出是一个</a:t>
            </a:r>
            <a:r>
              <a:rPr lang="zh-CN" altLang="en-US" b="1" dirty="0"/>
              <a:t>浮点数向量</a:t>
            </a:r>
            <a:r>
              <a:rPr lang="zh-CN" altLang="en-US" dirty="0"/>
              <a:t>。我们如何将这个向量转换成一个实际的词语呢？这就是**最终的线性层（</a:t>
            </a:r>
            <a:r>
              <a:rPr lang="en-US" altLang="zh-CN" dirty="0"/>
              <a:t>Final Linear Layer</a:t>
            </a:r>
            <a:r>
              <a:rPr lang="zh-CN" altLang="en-US" dirty="0"/>
              <a:t>）**和紧随其后的 </a:t>
            </a:r>
            <a:r>
              <a:rPr lang="en-US" altLang="zh-CN" b="1" dirty="0" err="1"/>
              <a:t>Softmax</a:t>
            </a:r>
            <a:r>
              <a:rPr lang="en-US" altLang="zh-CN" b="1" dirty="0"/>
              <a:t> </a:t>
            </a:r>
            <a:r>
              <a:rPr lang="zh-CN" altLang="en-US" b="1" dirty="0"/>
              <a:t>层</a:t>
            </a:r>
            <a:r>
              <a:rPr lang="zh-CN" altLang="en-US" dirty="0"/>
              <a:t>的工作。</a:t>
            </a:r>
          </a:p>
          <a:p>
            <a:r>
              <a:rPr lang="zh-CN" altLang="en-US" b="1" dirty="0"/>
              <a:t>线性层 </a:t>
            </a:r>
            <a:r>
              <a:rPr lang="en-US" altLang="zh-CN" b="1" dirty="0"/>
              <a:t>(Linear Layer)</a:t>
            </a:r>
          </a:p>
          <a:p>
            <a:r>
              <a:rPr lang="zh-CN" altLang="en-US" dirty="0"/>
              <a:t>线性层是一个简单的</a:t>
            </a:r>
            <a:r>
              <a:rPr lang="zh-CN" altLang="en-US" b="1" dirty="0"/>
              <a:t>全连接神经网络</a:t>
            </a:r>
            <a:r>
              <a:rPr lang="zh-CN" altLang="en-US" dirty="0"/>
              <a:t>，它的作用是将解码器堆栈产生的向量，</a:t>
            </a:r>
            <a:r>
              <a:rPr lang="zh-CN" altLang="en-US" b="1" dirty="0"/>
              <a:t>投影（</a:t>
            </a:r>
            <a:r>
              <a:rPr lang="en-US" altLang="zh-CN" b="1" dirty="0"/>
              <a:t>projects</a:t>
            </a:r>
            <a:r>
              <a:rPr lang="zh-CN" altLang="en-US" b="1" dirty="0"/>
              <a:t>）到一个大得多</a:t>
            </a:r>
            <a:r>
              <a:rPr lang="zh-CN" altLang="en-US" dirty="0"/>
              <a:t>的向量，我们称之为 </a:t>
            </a:r>
            <a:r>
              <a:rPr lang="zh-CN" altLang="en-US" b="1" dirty="0"/>
              <a:t>“对数几率向量”（</a:t>
            </a:r>
            <a:r>
              <a:rPr lang="en-US" altLang="zh-CN" b="1" dirty="0"/>
              <a:t>logits vector</a:t>
            </a:r>
            <a:r>
              <a:rPr lang="zh-CN" altLang="en-US" b="1" dirty="0"/>
              <a:t>）</a:t>
            </a:r>
            <a:r>
              <a:rPr lang="zh-CN" altLang="en-US" dirty="0"/>
              <a:t>。</a:t>
            </a:r>
          </a:p>
          <a:p>
            <a:pPr>
              <a:buFont typeface="Arial" panose="020B0604020202020204" pitchFamily="34" charset="0"/>
              <a:buChar char="•"/>
            </a:pPr>
            <a:r>
              <a:rPr lang="zh-CN" altLang="en-US" dirty="0"/>
              <a:t>假设我们的模型从训练数据集中学习了 </a:t>
            </a:r>
            <a:r>
              <a:rPr lang="en-US" altLang="zh-CN" b="1" dirty="0"/>
              <a:t>10,000 </a:t>
            </a:r>
            <a:r>
              <a:rPr lang="zh-CN" altLang="en-US" b="1" dirty="0"/>
              <a:t>个</a:t>
            </a:r>
            <a:r>
              <a:rPr lang="zh-CN" altLang="en-US" dirty="0"/>
              <a:t>独一无二的英语词汇（即模型的“输出词汇表”）。</a:t>
            </a:r>
          </a:p>
          <a:p>
            <a:pPr>
              <a:buFont typeface="Arial" panose="020B0604020202020204" pitchFamily="34" charset="0"/>
              <a:buChar char="•"/>
            </a:pPr>
            <a:r>
              <a:rPr lang="zh-CN" altLang="en-US" dirty="0"/>
              <a:t>那么，这个</a:t>
            </a:r>
            <a:r>
              <a:rPr lang="zh-CN" altLang="en-US" b="1" dirty="0"/>
              <a:t>对数几率向量</a:t>
            </a:r>
            <a:r>
              <a:rPr lang="zh-CN" altLang="en-US" dirty="0"/>
              <a:t>的宽度就会是 </a:t>
            </a:r>
            <a:r>
              <a:rPr lang="en-US" altLang="zh-CN" b="1" dirty="0"/>
              <a:t>10,000 </a:t>
            </a:r>
            <a:r>
              <a:rPr lang="zh-CN" altLang="en-US" b="1" dirty="0"/>
              <a:t>个单元</a:t>
            </a:r>
            <a:r>
              <a:rPr lang="en-US" altLang="zh-CN" dirty="0"/>
              <a:t>——</a:t>
            </a:r>
            <a:r>
              <a:rPr lang="zh-CN" altLang="en-US" dirty="0"/>
              <a:t>每个单元都对应一个唯一词语的</a:t>
            </a:r>
            <a:r>
              <a:rPr lang="zh-CN" altLang="en-US" b="1" dirty="0"/>
              <a:t>得分（</a:t>
            </a:r>
            <a:r>
              <a:rPr lang="en-US" altLang="zh-CN" b="1" dirty="0"/>
              <a:t>score</a:t>
            </a:r>
            <a:r>
              <a:rPr lang="zh-CN" altLang="en-US" b="1" dirty="0"/>
              <a:t>）</a:t>
            </a:r>
            <a:r>
              <a:rPr lang="zh-CN" altLang="en-US" dirty="0"/>
              <a:t>。</a:t>
            </a:r>
          </a:p>
          <a:p>
            <a:r>
              <a:rPr lang="zh-CN" altLang="en-US" dirty="0"/>
              <a:t>我们就是这样来解释模型经过线性层后的输出。</a:t>
            </a:r>
          </a:p>
          <a:p>
            <a:r>
              <a:rPr lang="en-US" altLang="zh-CN" b="1" dirty="0" err="1"/>
              <a:t>Softmax</a:t>
            </a:r>
            <a:r>
              <a:rPr lang="en-US" altLang="zh-CN" b="1" dirty="0"/>
              <a:t> </a:t>
            </a:r>
            <a:r>
              <a:rPr lang="zh-CN" altLang="en-US" b="1" dirty="0"/>
              <a:t>层 </a:t>
            </a:r>
            <a:r>
              <a:rPr lang="en-US" altLang="zh-CN" b="1" dirty="0"/>
              <a:t>(</a:t>
            </a:r>
            <a:r>
              <a:rPr lang="en-US" altLang="zh-CN" b="1" dirty="0" err="1"/>
              <a:t>Softmax</a:t>
            </a:r>
            <a:r>
              <a:rPr lang="en-US" altLang="zh-CN" b="1" dirty="0"/>
              <a:t> Layer)</a:t>
            </a:r>
          </a:p>
          <a:p>
            <a:r>
              <a:rPr lang="en-US" altLang="zh-CN" dirty="0" err="1"/>
              <a:t>Softmax</a:t>
            </a:r>
            <a:r>
              <a:rPr lang="en-US" altLang="zh-CN" dirty="0"/>
              <a:t> </a:t>
            </a:r>
            <a:r>
              <a:rPr lang="zh-CN" altLang="en-US" dirty="0"/>
              <a:t>层接着将这些</a:t>
            </a:r>
            <a:r>
              <a:rPr lang="zh-CN" altLang="en-US" b="1" dirty="0"/>
              <a:t>得分</a:t>
            </a:r>
            <a:r>
              <a:rPr lang="zh-CN" altLang="en-US" dirty="0"/>
              <a:t>转换成</a:t>
            </a:r>
            <a:r>
              <a:rPr lang="zh-CN" altLang="en-US" b="1" dirty="0"/>
              <a:t>概率（</a:t>
            </a:r>
            <a:r>
              <a:rPr lang="en-US" altLang="zh-CN" b="1" dirty="0"/>
              <a:t>probabilities</a:t>
            </a:r>
            <a:r>
              <a:rPr lang="zh-CN" altLang="en-US" b="1" dirty="0"/>
              <a:t>）</a:t>
            </a:r>
            <a:r>
              <a:rPr lang="zh-CN" altLang="en-US" dirty="0"/>
              <a:t>：</a:t>
            </a:r>
          </a:p>
          <a:p>
            <a:pPr>
              <a:buFont typeface="Arial" panose="020B0604020202020204" pitchFamily="34" charset="0"/>
              <a:buChar char="•"/>
            </a:pPr>
            <a:r>
              <a:rPr lang="zh-CN" altLang="en-US" dirty="0"/>
              <a:t>所有概率值都是正数。</a:t>
            </a:r>
          </a:p>
          <a:p>
            <a:pPr>
              <a:buFont typeface="Arial" panose="020B0604020202020204" pitchFamily="34" charset="0"/>
              <a:buChar char="•"/>
            </a:pPr>
            <a:r>
              <a:rPr lang="zh-CN" altLang="en-US" dirty="0"/>
              <a:t>所有概率值加起来等于 </a:t>
            </a:r>
            <a:r>
              <a:rPr lang="en-US" altLang="zh-CN" b="1" dirty="0"/>
              <a:t>1.0</a:t>
            </a:r>
            <a:r>
              <a:rPr lang="zh-CN" altLang="en-US" dirty="0"/>
              <a:t>。</a:t>
            </a:r>
          </a:p>
          <a:p>
            <a:endParaRPr lang="zh-CN" altLang="en-US" dirty="0"/>
          </a:p>
        </p:txBody>
      </p:sp>
      <p:sp>
        <p:nvSpPr>
          <p:cNvPr id="1048800" name="灯片编号占位符 3"/>
          <p:cNvSpPr>
            <a:spLocks noGrp="1"/>
          </p:cNvSpPr>
          <p:nvPr>
            <p:ph type="sldNum" sz="quarter" idx="5"/>
          </p:nvPr>
        </p:nvSpPr>
        <p:spPr/>
        <p:txBody>
          <a:bodyPr/>
          <a:lstStyle/>
          <a:p>
            <a:fld id="{AB44C98A-D9C5-894D-9A13-8F52E37846C0}" type="slidenum">
              <a:rPr lang="en-US" smtClean="0"/>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6" name="幻灯片图像占位符 1"/>
          <p:cNvSpPr>
            <a:spLocks noGrp="1" noRot="1" noChangeAspect="1"/>
          </p:cNvSpPr>
          <p:nvPr>
            <p:ph type="sldImg"/>
          </p:nvPr>
        </p:nvSpPr>
        <p:spPr/>
      </p:sp>
      <p:sp>
        <p:nvSpPr>
          <p:cNvPr id="1048807" name="备注占位符 2"/>
          <p:cNvSpPr>
            <a:spLocks noGrp="1"/>
          </p:cNvSpPr>
          <p:nvPr>
            <p:ph type="body" idx="1"/>
          </p:nvPr>
        </p:nvSpPr>
        <p:spPr/>
        <p:txBody>
          <a:bodyPr/>
          <a:lstStyle/>
          <a:p>
            <a:r>
              <a:rPr lang="zh-CN" altLang="en-US" dirty="0"/>
              <a:t>仅解码器模型背后的核心思想是</a:t>
            </a:r>
            <a:r>
              <a:rPr lang="zh-CN" altLang="en-US" b="1" dirty="0"/>
              <a:t>自回归（</a:t>
            </a:r>
            <a:r>
              <a:rPr lang="en-US" altLang="zh-CN" b="1" dirty="0"/>
              <a:t>Autoregression</a:t>
            </a:r>
            <a:r>
              <a:rPr lang="zh-CN" altLang="en-US" b="1" dirty="0"/>
              <a:t>）</a:t>
            </a:r>
            <a:r>
              <a:rPr lang="zh-CN" altLang="en-US" dirty="0"/>
              <a:t>。这意味着它们通过根据序列中</a:t>
            </a:r>
            <a:r>
              <a:rPr lang="zh-CN" altLang="en-US" b="1" dirty="0"/>
              <a:t>之前的所有内容</a:t>
            </a:r>
            <a:r>
              <a:rPr lang="zh-CN" altLang="en-US" dirty="0"/>
              <a:t>来**预测下一个词元（</a:t>
            </a:r>
            <a:r>
              <a:rPr lang="en-US" altLang="zh-CN" dirty="0"/>
              <a:t>token</a:t>
            </a:r>
            <a:r>
              <a:rPr lang="zh-CN" altLang="en-US" dirty="0"/>
              <a:t>）**进行学习。</a:t>
            </a:r>
            <a:endParaRPr lang="en-US" altLang="zh-CN" dirty="0"/>
          </a:p>
          <a:p>
            <a:r>
              <a:rPr lang="zh-CN" altLang="en-US" dirty="0"/>
              <a:t>这种训练目标极其简单，但它的</a:t>
            </a:r>
            <a:r>
              <a:rPr lang="zh-CN" altLang="en-US" b="1" dirty="0"/>
              <a:t>可扩展性</a:t>
            </a:r>
            <a:r>
              <a:rPr lang="zh-CN" altLang="en-US" dirty="0"/>
              <a:t>却非常出色：</a:t>
            </a:r>
          </a:p>
          <a:p>
            <a:pPr>
              <a:buFont typeface="Arial" panose="020B0604020202020204" pitchFamily="34" charset="0"/>
              <a:buChar char="•"/>
            </a:pPr>
            <a:r>
              <a:rPr lang="zh-CN" altLang="en-US" b="1" dirty="0"/>
              <a:t>通用任务：</a:t>
            </a:r>
            <a:r>
              <a:rPr lang="zh-CN" altLang="en-US" dirty="0"/>
              <a:t> 预测下一个词元的任务适用于任何类型的文本</a:t>
            </a:r>
            <a:r>
              <a:rPr lang="en-US" altLang="zh-CN" dirty="0"/>
              <a:t>——</a:t>
            </a:r>
            <a:r>
              <a:rPr lang="zh-CN" altLang="en-US" dirty="0"/>
              <a:t>小说、代码、对话、文章或指令。</a:t>
            </a:r>
          </a:p>
          <a:p>
            <a:pPr>
              <a:buFont typeface="Arial" panose="020B0604020202020204" pitchFamily="34" charset="0"/>
              <a:buChar char="•"/>
            </a:pPr>
            <a:r>
              <a:rPr lang="zh-CN" altLang="en-US" b="1" dirty="0"/>
              <a:t>无限数据：</a:t>
            </a:r>
            <a:r>
              <a:rPr lang="zh-CN" altLang="en-US" dirty="0"/>
              <a:t> 仅解码器模型</a:t>
            </a:r>
            <a:r>
              <a:rPr lang="zh-CN" altLang="en-US" b="1" dirty="0"/>
              <a:t>不需要特殊的并行数据集</a:t>
            </a:r>
            <a:r>
              <a:rPr lang="zh-CN" altLang="en-US" dirty="0"/>
              <a:t>（例如用于翻译的句子对），它可以直接在互联网、书籍和代码库中找到的</a:t>
            </a:r>
            <a:r>
              <a:rPr lang="zh-CN" altLang="en-US" b="1" dirty="0"/>
              <a:t>海量未标记文本</a:t>
            </a:r>
            <a:r>
              <a:rPr lang="zh-CN" altLang="en-US" dirty="0"/>
              <a:t>上进行训练。</a:t>
            </a:r>
          </a:p>
          <a:p>
            <a:pPr>
              <a:buFont typeface="Arial" panose="020B0604020202020204" pitchFamily="34" charset="0"/>
              <a:buChar char="•"/>
            </a:pPr>
            <a:r>
              <a:rPr lang="zh-CN" altLang="en-US" b="1" dirty="0"/>
              <a:t>与使用方式一致：</a:t>
            </a:r>
            <a:r>
              <a:rPr lang="zh-CN" altLang="en-US" dirty="0"/>
              <a:t> 这与人类使用大型语言模型（</a:t>
            </a:r>
            <a:r>
              <a:rPr lang="en-US" altLang="zh-CN" dirty="0"/>
              <a:t>LLM</a:t>
            </a:r>
            <a:r>
              <a:rPr lang="zh-CN" altLang="en-US" dirty="0"/>
              <a:t>）的交互方式相匹配。你给出一个提示（</a:t>
            </a:r>
            <a:r>
              <a:rPr lang="en-US" altLang="zh-CN" dirty="0"/>
              <a:t>prompt</a:t>
            </a:r>
            <a:r>
              <a:rPr lang="zh-CN" altLang="en-US" dirty="0"/>
              <a:t>），模型就会以一种感觉自然且上下文感知的方式</a:t>
            </a:r>
            <a:r>
              <a:rPr lang="zh-CN" altLang="en-US" b="1" dirty="0"/>
              <a:t>继续文本</a:t>
            </a:r>
            <a:r>
              <a:rPr lang="zh-CN" altLang="en-US" dirty="0"/>
              <a:t>。</a:t>
            </a:r>
          </a:p>
          <a:p>
            <a:r>
              <a:rPr lang="zh-CN" altLang="en-US" b="1" dirty="0"/>
              <a:t>简洁性与效率</a:t>
            </a:r>
          </a:p>
          <a:p>
            <a:pPr>
              <a:buFont typeface="Arial" panose="020B0604020202020204" pitchFamily="34" charset="0"/>
              <a:buChar char="•"/>
            </a:pPr>
            <a:r>
              <a:rPr lang="zh-CN" altLang="en-US" b="1" dirty="0"/>
              <a:t>单一训练目标：</a:t>
            </a:r>
            <a:r>
              <a:rPr lang="zh-CN" altLang="en-US" dirty="0"/>
              <a:t> 预测下一个词元（</a:t>
            </a:r>
            <a:r>
              <a:rPr lang="en-US" altLang="zh-CN" dirty="0"/>
              <a:t>token</a:t>
            </a:r>
            <a:r>
              <a:rPr lang="zh-CN" altLang="en-US" dirty="0"/>
              <a:t>）。</a:t>
            </a:r>
          </a:p>
          <a:p>
            <a:pPr>
              <a:buFont typeface="Arial" panose="020B0604020202020204" pitchFamily="34" charset="0"/>
              <a:buChar char="•"/>
            </a:pPr>
            <a:r>
              <a:rPr lang="zh-CN" altLang="en-US" b="1" dirty="0"/>
              <a:t>无需平行数据集：</a:t>
            </a:r>
            <a:r>
              <a:rPr lang="zh-CN" altLang="en-US" dirty="0"/>
              <a:t> 平行数据集昂贵且稀缺。</a:t>
            </a:r>
          </a:p>
          <a:p>
            <a:pPr>
              <a:buFont typeface="Arial" panose="020B0604020202020204" pitchFamily="34" charset="0"/>
              <a:buChar char="•"/>
            </a:pPr>
            <a:r>
              <a:rPr lang="zh-CN" altLang="en-US" b="1" dirty="0"/>
              <a:t>高效扩展能力：</a:t>
            </a:r>
            <a:r>
              <a:rPr lang="zh-CN" altLang="en-US" dirty="0"/>
              <a:t> 可高效地扩展至数万亿词元。</a:t>
            </a:r>
          </a:p>
          <a:p>
            <a:r>
              <a:rPr lang="zh-CN" altLang="en-US" b="1" dirty="0"/>
              <a:t>完美匹配生成式任务</a:t>
            </a:r>
          </a:p>
          <a:p>
            <a:pPr>
              <a:buFont typeface="Arial" panose="020B0604020202020204" pitchFamily="34" charset="0"/>
              <a:buChar char="•"/>
            </a:pPr>
            <a:r>
              <a:rPr lang="zh-CN" altLang="en-US" b="1" dirty="0"/>
              <a:t>适用场景：</a:t>
            </a:r>
            <a:r>
              <a:rPr lang="zh-CN" altLang="en-US" dirty="0"/>
              <a:t> 聊天机器人、代码助手、故事创作和总结等都依赖于文本的连续生成。</a:t>
            </a:r>
          </a:p>
          <a:p>
            <a:pPr>
              <a:buFont typeface="Arial" panose="020B0604020202020204" pitchFamily="34" charset="0"/>
              <a:buChar char="•"/>
            </a:pPr>
            <a:r>
              <a:rPr lang="zh-CN" altLang="en-US" b="1" dirty="0"/>
              <a:t>直接支持生成：</a:t>
            </a:r>
            <a:r>
              <a:rPr lang="zh-CN" altLang="en-US" dirty="0"/>
              <a:t> 自回归（</a:t>
            </a:r>
            <a:r>
              <a:rPr lang="en-US" altLang="zh-CN" dirty="0"/>
              <a:t>Autoregression</a:t>
            </a:r>
            <a:r>
              <a:rPr lang="zh-CN" altLang="en-US" dirty="0"/>
              <a:t>）直接支持这些生成式应用场景。</a:t>
            </a:r>
          </a:p>
          <a:p>
            <a:r>
              <a:rPr lang="zh-CN" altLang="en-US" b="1" dirty="0"/>
              <a:t>灵活性与涌现能力</a:t>
            </a:r>
          </a:p>
          <a:p>
            <a:pPr>
              <a:buFont typeface="Arial" panose="020B0604020202020204" pitchFamily="34" charset="0"/>
              <a:buChar char="•"/>
            </a:pPr>
            <a:r>
              <a:rPr lang="zh-CN" altLang="en-US" b="1" dirty="0"/>
              <a:t>广泛训练带来的通用性：</a:t>
            </a:r>
            <a:r>
              <a:rPr lang="zh-CN" altLang="en-US" dirty="0"/>
              <a:t> 由于仅有解码器（</a:t>
            </a:r>
            <a:r>
              <a:rPr lang="en-US" altLang="zh-CN" dirty="0"/>
              <a:t>decoder-only</a:t>
            </a:r>
            <a:r>
              <a:rPr lang="zh-CN" altLang="en-US" dirty="0"/>
              <a:t>）的模型是在广泛的文本接续任务上训练的，它们展现出</a:t>
            </a:r>
            <a:r>
              <a:rPr lang="zh-CN" altLang="en-US" b="1" dirty="0"/>
              <a:t>涌现的泛化能力</a:t>
            </a:r>
            <a:r>
              <a:rPr lang="zh-CN" altLang="en-US" dirty="0"/>
              <a:t>。</a:t>
            </a:r>
          </a:p>
          <a:p>
            <a:pPr>
              <a:buFont typeface="Arial" panose="020B0604020202020204" pitchFamily="34" charset="0"/>
              <a:buChar char="•"/>
            </a:pPr>
            <a:r>
              <a:rPr lang="zh-CN" altLang="en-US" b="1" dirty="0"/>
              <a:t>零样本能力：</a:t>
            </a:r>
            <a:r>
              <a:rPr lang="zh-CN" altLang="en-US" dirty="0"/>
              <a:t> 无需明确训练，它们就能执行摘要、问答和推理等任务。</a:t>
            </a:r>
          </a:p>
          <a:p>
            <a:r>
              <a:rPr lang="zh-CN" altLang="en-US" b="1" dirty="0"/>
              <a:t>可扩展性与行业验证</a:t>
            </a:r>
          </a:p>
          <a:p>
            <a:pPr>
              <a:buFont typeface="Arial" panose="020B0604020202020204" pitchFamily="34" charset="0"/>
              <a:buChar char="•"/>
            </a:pPr>
            <a:r>
              <a:rPr lang="zh-CN" altLang="en-US" b="1" dirty="0"/>
              <a:t>成功案例：</a:t>
            </a:r>
            <a:r>
              <a:rPr lang="zh-CN" altLang="en-US" dirty="0"/>
              <a:t> </a:t>
            </a:r>
            <a:r>
              <a:rPr lang="en-US" altLang="zh-CN" dirty="0"/>
              <a:t>GPT</a:t>
            </a:r>
            <a:r>
              <a:rPr lang="zh-CN" altLang="en-US" dirty="0"/>
              <a:t>、</a:t>
            </a:r>
            <a:r>
              <a:rPr lang="en-US" altLang="zh-CN" dirty="0" err="1"/>
              <a:t>LLaMA</a:t>
            </a:r>
            <a:r>
              <a:rPr lang="en-US" altLang="zh-CN" dirty="0"/>
              <a:t> </a:t>
            </a:r>
            <a:r>
              <a:rPr lang="zh-CN" altLang="en-US" dirty="0"/>
              <a:t>和 </a:t>
            </a:r>
            <a:r>
              <a:rPr lang="en-US" altLang="zh-CN" dirty="0"/>
              <a:t>Mistral </a:t>
            </a:r>
            <a:r>
              <a:rPr lang="zh-CN" altLang="en-US" dirty="0"/>
              <a:t>等一些最成功的</a:t>
            </a:r>
            <a:r>
              <a:rPr lang="zh-CN" altLang="en-US" b="1" dirty="0"/>
              <a:t>大型语言模型</a:t>
            </a:r>
            <a:r>
              <a:rPr lang="zh-CN" altLang="en-US" dirty="0"/>
              <a:t>（</a:t>
            </a:r>
            <a:r>
              <a:rPr lang="en-US" altLang="zh-CN" dirty="0"/>
              <a:t>LLMs</a:t>
            </a:r>
            <a:r>
              <a:rPr lang="zh-CN" altLang="en-US" dirty="0"/>
              <a:t>）都是仅有解码器架构。</a:t>
            </a:r>
          </a:p>
          <a:p>
            <a:pPr>
              <a:buFont typeface="Arial" panose="020B0604020202020204" pitchFamily="34" charset="0"/>
              <a:buChar char="•"/>
            </a:pPr>
            <a:r>
              <a:rPr lang="zh-CN" altLang="en-US" b="1" dirty="0"/>
              <a:t>行业默认标准：</a:t>
            </a:r>
            <a:r>
              <a:rPr lang="zh-CN" altLang="en-US" dirty="0"/>
              <a:t> 它们的优势地位已将这种架构确立为行业的默认选择。</a:t>
            </a:r>
            <a:endParaRPr lang="en-US" altLang="zh-CN" dirty="0"/>
          </a:p>
          <a:p>
            <a:pPr>
              <a:buFont typeface="Arial" panose="020B0604020202020204" pitchFamily="34" charset="0"/>
              <a:buChar char="•"/>
            </a:pPr>
            <a:endParaRPr lang="en-US" altLang="zh-CN" dirty="0"/>
          </a:p>
          <a:p>
            <a:pPr>
              <a:buFont typeface="Arial" panose="020B0604020202020204" pitchFamily="34" charset="0"/>
              <a:buChar char="•"/>
            </a:pPr>
            <a:r>
              <a:rPr lang="zh-CN" altLang="en-US" dirty="0"/>
              <a:t>特性编码器</a:t>
            </a:r>
            <a:r>
              <a:rPr lang="en-US" altLang="zh-CN" dirty="0"/>
              <a:t>-</a:t>
            </a:r>
            <a:r>
              <a:rPr lang="zh-CN" altLang="en-US" dirty="0"/>
              <a:t>解码器模型仅有解码器模型</a:t>
            </a:r>
            <a:r>
              <a:rPr lang="zh-CN" altLang="en-US" b="1" dirty="0"/>
              <a:t>训练数据</a:t>
            </a:r>
            <a:r>
              <a:rPr lang="zh-CN" altLang="en-US" dirty="0"/>
              <a:t>需要成对的输入</a:t>
            </a:r>
            <a:r>
              <a:rPr lang="en-US" altLang="zh-CN" dirty="0"/>
              <a:t>-</a:t>
            </a:r>
            <a:r>
              <a:rPr lang="zh-CN" altLang="en-US" dirty="0"/>
              <a:t>输出数据集可使用原始、未标记的文本</a:t>
            </a:r>
            <a:r>
              <a:rPr lang="zh-CN" altLang="en-US" b="1" dirty="0"/>
              <a:t>架构</a:t>
            </a:r>
            <a:r>
              <a:rPr lang="zh-CN" altLang="en-US" dirty="0"/>
              <a:t>编码器创建表示，解码器输出单一堆栈预测下一个词元</a:t>
            </a:r>
            <a:r>
              <a:rPr lang="zh-CN" altLang="en-US" b="1" dirty="0"/>
              <a:t>最佳用例</a:t>
            </a:r>
            <a:r>
              <a:rPr lang="zh-CN" altLang="en-US" dirty="0"/>
              <a:t>翻译、摘要、结构化转换聊天、问答、故事生成、编程、推理</a:t>
            </a:r>
            <a:r>
              <a:rPr lang="zh-CN" altLang="en-US" b="1" dirty="0"/>
              <a:t>效率</a:t>
            </a:r>
            <a:r>
              <a:rPr lang="zh-CN" altLang="en-US" dirty="0"/>
              <a:t>更复杂、更难扩展更简单、更容易扩展到数万亿词元</a:t>
            </a:r>
            <a:r>
              <a:rPr lang="zh-CN" altLang="en-US" b="1" dirty="0"/>
              <a:t>行业示例</a:t>
            </a:r>
            <a:r>
              <a:rPr lang="en-US" altLang="zh-CN" dirty="0"/>
              <a:t>T5</a:t>
            </a:r>
            <a:r>
              <a:rPr lang="zh-CN" altLang="en-US" dirty="0"/>
              <a:t>、</a:t>
            </a:r>
            <a:r>
              <a:rPr lang="en-US" altLang="zh-CN" dirty="0"/>
              <a:t>BARTGPT </a:t>
            </a:r>
            <a:r>
              <a:rPr lang="zh-CN" altLang="en-US" dirty="0"/>
              <a:t>系列、</a:t>
            </a:r>
            <a:r>
              <a:rPr lang="en-US" altLang="zh-CN" dirty="0" err="1"/>
              <a:t>LLaMA</a:t>
            </a:r>
            <a:r>
              <a:rPr lang="zh-CN" altLang="en-US" dirty="0"/>
              <a:t>、</a:t>
            </a:r>
            <a:r>
              <a:rPr lang="en-US" altLang="zh-CN" dirty="0"/>
              <a:t>Mistral</a:t>
            </a:r>
            <a:endParaRPr lang="zh-CN" altLang="en-US" dirty="0"/>
          </a:p>
          <a:p>
            <a:endParaRPr lang="zh-CN" altLang="en-US" dirty="0"/>
          </a:p>
        </p:txBody>
      </p:sp>
      <p:sp>
        <p:nvSpPr>
          <p:cNvPr id="1048808" name="灯片编号占位符 3"/>
          <p:cNvSpPr>
            <a:spLocks noGrp="1"/>
          </p:cNvSpPr>
          <p:nvPr>
            <p:ph type="sldNum" sz="quarter" idx="5"/>
          </p:nvPr>
        </p:nvSpPr>
        <p:spPr/>
        <p:txBody>
          <a:bodyPr/>
          <a:lstStyle/>
          <a:p>
            <a:fld id="{AB44C98A-D9C5-894D-9A13-8F52E37846C0}" type="slidenum">
              <a:rPr lang="en-US" smtClean="0"/>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3" name="幻灯片图像占位符 1"/>
          <p:cNvSpPr>
            <a:spLocks noGrp="1" noRot="1" noChangeAspect="1"/>
          </p:cNvSpPr>
          <p:nvPr>
            <p:ph type="sldImg"/>
          </p:nvPr>
        </p:nvSpPr>
        <p:spPr/>
      </p:sp>
      <p:sp>
        <p:nvSpPr>
          <p:cNvPr id="1048814"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Overview of why the </a:t>
            </a:r>
            <a:r>
              <a:rPr lang="en-US" altLang="zh-CN" sz="1200" b="1" i="0" kern="1200" dirty="0">
                <a:solidFill>
                  <a:schemeClr val="tx1"/>
                </a:solidFill>
                <a:effectLst/>
                <a:latin typeface="+mn-lt"/>
                <a:ea typeface="+mn-ea"/>
                <a:cs typeface="+mn-cs"/>
              </a:rPr>
              <a:t>attention mechanism</a:t>
            </a:r>
            <a:r>
              <a:rPr lang="en-US" altLang="zh-CN" sz="1200" b="0" i="0" kern="1200" dirty="0">
                <a:solidFill>
                  <a:schemeClr val="tx1"/>
                </a:solidFill>
                <a:effectLst/>
                <a:latin typeface="+mn-lt"/>
                <a:ea typeface="+mn-ea"/>
                <a:cs typeface="+mn-cs"/>
              </a:rPr>
              <a:t> is expensive and what people do to speed it up.</a:t>
            </a:r>
          </a:p>
          <a:p>
            <a:r>
              <a:rPr lang="en-US" altLang="zh-CN" sz="1200" b="0" i="0" kern="1200" dirty="0">
                <a:solidFill>
                  <a:schemeClr val="tx1"/>
                </a:solidFill>
                <a:effectLst/>
                <a:latin typeface="+mn-lt"/>
                <a:ea typeface="+mn-ea"/>
                <a:cs typeface="+mn-cs"/>
              </a:rPr>
              <a:t>When it comes to </a:t>
            </a:r>
            <a:r>
              <a:rPr lang="en-US" altLang="zh-CN" sz="1200" b="0" i="1" kern="1200" dirty="0">
                <a:solidFill>
                  <a:schemeClr val="tx1"/>
                </a:solidFill>
                <a:effectLst/>
                <a:latin typeface="+mn-lt"/>
                <a:ea typeface="+mn-ea"/>
                <a:cs typeface="+mn-cs"/>
              </a:rPr>
              <a:t>transformer</a:t>
            </a:r>
            <a:r>
              <a:rPr lang="en-US" altLang="zh-CN" sz="1200" b="0" i="0" kern="1200" dirty="0">
                <a:solidFill>
                  <a:schemeClr val="tx1"/>
                </a:solidFill>
                <a:effectLst/>
                <a:latin typeface="+mn-lt"/>
                <a:ea typeface="+mn-ea"/>
                <a:cs typeface="+mn-cs"/>
              </a:rPr>
              <a:t> models (e.g., for large language models), the </a:t>
            </a:r>
            <a:r>
              <a:rPr lang="en-US" altLang="zh-CN" sz="1200" b="1" i="0" kern="1200" dirty="0">
                <a:solidFill>
                  <a:schemeClr val="tx1"/>
                </a:solidFill>
                <a:effectLst/>
                <a:latin typeface="+mn-lt"/>
                <a:ea typeface="+mn-ea"/>
                <a:cs typeface="+mn-cs"/>
              </a:rPr>
              <a:t>self-attention</a:t>
            </a:r>
            <a:r>
              <a:rPr lang="en-US" altLang="zh-CN" sz="1200" b="0" i="0" kern="1200" dirty="0">
                <a:solidFill>
                  <a:schemeClr val="tx1"/>
                </a:solidFill>
                <a:effectLst/>
                <a:latin typeface="+mn-lt"/>
                <a:ea typeface="+mn-ea"/>
                <a:cs typeface="+mn-cs"/>
              </a:rPr>
              <a:t> mechanism is often cited as the computational bottleneck. In the standard “full” attention, each token attends to </a:t>
            </a:r>
            <a:r>
              <a:rPr lang="en-US" altLang="zh-CN" sz="1200" b="0" i="1" kern="1200" dirty="0">
                <a:solidFill>
                  <a:schemeClr val="tx1"/>
                </a:solidFill>
                <a:effectLst/>
                <a:latin typeface="+mn-lt"/>
                <a:ea typeface="+mn-ea"/>
                <a:cs typeface="+mn-cs"/>
              </a:rPr>
              <a:t>every</a:t>
            </a:r>
            <a:r>
              <a:rPr lang="en-US" altLang="zh-CN" sz="1200" b="0" i="0" kern="1200" dirty="0">
                <a:solidFill>
                  <a:schemeClr val="tx1"/>
                </a:solidFill>
                <a:effectLst/>
                <a:latin typeface="+mn-lt"/>
                <a:ea typeface="+mn-ea"/>
                <a:cs typeface="+mn-cs"/>
              </a:rPr>
              <a:t> other token, leading to a time (and memory) complexity of </a:t>
            </a:r>
            <a:r>
              <a:rPr lang="en-US" altLang="zh-CN" sz="1200" b="0" i="1" kern="1200" dirty="0">
                <a:solidFill>
                  <a:schemeClr val="tx1"/>
                </a:solidFill>
                <a:effectLst/>
                <a:latin typeface="+mn-lt"/>
                <a:ea typeface="+mn-ea"/>
                <a:cs typeface="+mn-cs"/>
              </a:rPr>
              <a:t>O(n²) </a:t>
            </a:r>
            <a:r>
              <a:rPr lang="en-US" altLang="zh-CN" sz="1200" b="0" i="0" kern="1200" dirty="0">
                <a:solidFill>
                  <a:schemeClr val="tx1"/>
                </a:solidFill>
                <a:effectLst/>
                <a:latin typeface="+mn-lt"/>
                <a:ea typeface="+mn-ea"/>
                <a:cs typeface="+mn-cs"/>
              </a:rPr>
              <a:t>in the sequence length </a:t>
            </a:r>
            <a:r>
              <a:rPr lang="en-US" altLang="zh-CN" sz="1200" b="0" i="1" kern="1200" dirty="0">
                <a:solidFill>
                  <a:schemeClr val="tx1"/>
                </a:solidFill>
                <a:effectLst/>
                <a:latin typeface="+mn-lt"/>
                <a:ea typeface="+mn-ea"/>
                <a:cs typeface="+mn-cs"/>
              </a:rPr>
              <a:t>n</a:t>
            </a:r>
            <a:r>
              <a:rPr lang="en-US" altLang="zh-CN" sz="1200" b="0" i="0" kern="1200" dirty="0">
                <a:solidFill>
                  <a:schemeClr val="tx1"/>
                </a:solidFill>
                <a:effectLst/>
                <a:latin typeface="+mn-lt"/>
                <a:ea typeface="+mn-ea"/>
                <a:cs typeface="+mn-cs"/>
              </a:rPr>
              <a:t>. When </a:t>
            </a:r>
            <a:r>
              <a:rPr lang="en-US" altLang="zh-CN" sz="1200" b="0" i="1" kern="1200" dirty="0">
                <a:solidFill>
                  <a:schemeClr val="tx1"/>
                </a:solidFill>
                <a:effectLst/>
                <a:latin typeface="+mn-lt"/>
                <a:ea typeface="+mn-ea"/>
                <a:cs typeface="+mn-cs"/>
              </a:rPr>
              <a:t>n</a:t>
            </a:r>
            <a:r>
              <a:rPr lang="en-US" altLang="zh-CN" sz="1200" b="0" i="0" kern="1200" dirty="0">
                <a:solidFill>
                  <a:schemeClr val="tx1"/>
                </a:solidFill>
                <a:effectLst/>
                <a:latin typeface="+mn-lt"/>
                <a:ea typeface="+mn-ea"/>
                <a:cs typeface="+mn-cs"/>
              </a:rPr>
              <a:t> is large (thousands of tokens or more), this becomes very expensive — even on powerful GPUs.</a:t>
            </a:r>
          </a:p>
          <a:p>
            <a:endParaRPr lang="zh-CN" altLang="en-US" dirty="0"/>
          </a:p>
        </p:txBody>
      </p:sp>
      <p:sp>
        <p:nvSpPr>
          <p:cNvPr id="1048815" name="灯片编号占位符 3"/>
          <p:cNvSpPr>
            <a:spLocks noGrp="1"/>
          </p:cNvSpPr>
          <p:nvPr>
            <p:ph type="sldNum" sz="quarter" idx="5"/>
          </p:nvPr>
        </p:nvSpPr>
        <p:spPr/>
        <p:txBody>
          <a:bodyPr/>
          <a:lstStyle/>
          <a:p>
            <a:fld id="{AB44C98A-D9C5-894D-9A13-8F52E37846C0}" type="slidenum">
              <a:rPr lang="en-US" smtClean="0"/>
              <a:t>23</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0" name="幻灯片图像占位符 1"/>
          <p:cNvSpPr>
            <a:spLocks noGrp="1" noRot="1" noChangeAspect="1"/>
          </p:cNvSpPr>
          <p:nvPr>
            <p:ph type="sldImg"/>
          </p:nvPr>
        </p:nvSpPr>
        <p:spPr/>
      </p:sp>
      <p:sp>
        <p:nvSpPr>
          <p:cNvPr id="1048821"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Overview of why the </a:t>
            </a:r>
            <a:r>
              <a:rPr lang="en-US" altLang="zh-CN" sz="1200" b="1" i="0" kern="1200" dirty="0">
                <a:solidFill>
                  <a:schemeClr val="tx1"/>
                </a:solidFill>
                <a:effectLst/>
                <a:latin typeface="+mn-lt"/>
                <a:ea typeface="+mn-ea"/>
                <a:cs typeface="+mn-cs"/>
              </a:rPr>
              <a:t>attention mechanism</a:t>
            </a:r>
            <a:r>
              <a:rPr lang="en-US" altLang="zh-CN" sz="1200" b="0" i="0" kern="1200" dirty="0">
                <a:solidFill>
                  <a:schemeClr val="tx1"/>
                </a:solidFill>
                <a:effectLst/>
                <a:latin typeface="+mn-lt"/>
                <a:ea typeface="+mn-ea"/>
                <a:cs typeface="+mn-cs"/>
              </a:rPr>
              <a:t> is expensive and what people do to speed it up.</a:t>
            </a:r>
          </a:p>
          <a:p>
            <a:r>
              <a:rPr lang="en-US" altLang="zh-CN" sz="1200" b="0" i="0" kern="1200" dirty="0">
                <a:solidFill>
                  <a:schemeClr val="tx1"/>
                </a:solidFill>
                <a:effectLst/>
                <a:latin typeface="+mn-lt"/>
                <a:ea typeface="+mn-ea"/>
                <a:cs typeface="+mn-cs"/>
              </a:rPr>
              <a:t>When it comes to </a:t>
            </a:r>
            <a:r>
              <a:rPr lang="en-US" altLang="zh-CN" sz="1200" b="0" i="1" kern="1200" dirty="0">
                <a:solidFill>
                  <a:schemeClr val="tx1"/>
                </a:solidFill>
                <a:effectLst/>
                <a:latin typeface="+mn-lt"/>
                <a:ea typeface="+mn-ea"/>
                <a:cs typeface="+mn-cs"/>
              </a:rPr>
              <a:t>transformer</a:t>
            </a:r>
            <a:r>
              <a:rPr lang="en-US" altLang="zh-CN" sz="1200" b="0" i="0" kern="1200" dirty="0">
                <a:solidFill>
                  <a:schemeClr val="tx1"/>
                </a:solidFill>
                <a:effectLst/>
                <a:latin typeface="+mn-lt"/>
                <a:ea typeface="+mn-ea"/>
                <a:cs typeface="+mn-cs"/>
              </a:rPr>
              <a:t> models (e.g., for large language models), the </a:t>
            </a:r>
            <a:r>
              <a:rPr lang="en-US" altLang="zh-CN" sz="1200" b="1" i="0" kern="1200" dirty="0">
                <a:solidFill>
                  <a:schemeClr val="tx1"/>
                </a:solidFill>
                <a:effectLst/>
                <a:latin typeface="+mn-lt"/>
                <a:ea typeface="+mn-ea"/>
                <a:cs typeface="+mn-cs"/>
              </a:rPr>
              <a:t>self-attention</a:t>
            </a:r>
            <a:r>
              <a:rPr lang="en-US" altLang="zh-CN" sz="1200" b="0" i="0" kern="1200" dirty="0">
                <a:solidFill>
                  <a:schemeClr val="tx1"/>
                </a:solidFill>
                <a:effectLst/>
                <a:latin typeface="+mn-lt"/>
                <a:ea typeface="+mn-ea"/>
                <a:cs typeface="+mn-cs"/>
              </a:rPr>
              <a:t> mechanism is often cited as the computational bottleneck. In the standard “full” attention, each token attends to </a:t>
            </a:r>
            <a:r>
              <a:rPr lang="en-US" altLang="zh-CN" sz="1200" b="0" i="1" kern="1200" dirty="0">
                <a:solidFill>
                  <a:schemeClr val="tx1"/>
                </a:solidFill>
                <a:effectLst/>
                <a:latin typeface="+mn-lt"/>
                <a:ea typeface="+mn-ea"/>
                <a:cs typeface="+mn-cs"/>
              </a:rPr>
              <a:t>every</a:t>
            </a:r>
            <a:r>
              <a:rPr lang="en-US" altLang="zh-CN" sz="1200" b="0" i="0" kern="1200" dirty="0">
                <a:solidFill>
                  <a:schemeClr val="tx1"/>
                </a:solidFill>
                <a:effectLst/>
                <a:latin typeface="+mn-lt"/>
                <a:ea typeface="+mn-ea"/>
                <a:cs typeface="+mn-cs"/>
              </a:rPr>
              <a:t> other token, leading to a time (and memory) complexity of </a:t>
            </a:r>
            <a:r>
              <a:rPr lang="en-US" altLang="zh-CN" sz="1200" b="0" i="1" kern="1200" dirty="0">
                <a:solidFill>
                  <a:schemeClr val="tx1"/>
                </a:solidFill>
                <a:effectLst/>
                <a:latin typeface="+mn-lt"/>
                <a:ea typeface="+mn-ea"/>
                <a:cs typeface="+mn-cs"/>
              </a:rPr>
              <a:t>O(n²) </a:t>
            </a:r>
            <a:r>
              <a:rPr lang="en-US" altLang="zh-CN" sz="1200" b="0" i="0" kern="1200" dirty="0">
                <a:solidFill>
                  <a:schemeClr val="tx1"/>
                </a:solidFill>
                <a:effectLst/>
                <a:latin typeface="+mn-lt"/>
                <a:ea typeface="+mn-ea"/>
                <a:cs typeface="+mn-cs"/>
              </a:rPr>
              <a:t>in the sequence length </a:t>
            </a:r>
            <a:r>
              <a:rPr lang="en-US" altLang="zh-CN" sz="1200" b="0" i="1" kern="1200" dirty="0">
                <a:solidFill>
                  <a:schemeClr val="tx1"/>
                </a:solidFill>
                <a:effectLst/>
                <a:latin typeface="+mn-lt"/>
                <a:ea typeface="+mn-ea"/>
                <a:cs typeface="+mn-cs"/>
              </a:rPr>
              <a:t>n</a:t>
            </a:r>
            <a:r>
              <a:rPr lang="en-US" altLang="zh-CN" sz="1200" b="0" i="0" kern="1200" dirty="0">
                <a:solidFill>
                  <a:schemeClr val="tx1"/>
                </a:solidFill>
                <a:effectLst/>
                <a:latin typeface="+mn-lt"/>
                <a:ea typeface="+mn-ea"/>
                <a:cs typeface="+mn-cs"/>
              </a:rPr>
              <a:t>. When </a:t>
            </a:r>
            <a:r>
              <a:rPr lang="en-US" altLang="zh-CN" sz="1200" b="0" i="1" kern="1200" dirty="0">
                <a:solidFill>
                  <a:schemeClr val="tx1"/>
                </a:solidFill>
                <a:effectLst/>
                <a:latin typeface="+mn-lt"/>
                <a:ea typeface="+mn-ea"/>
                <a:cs typeface="+mn-cs"/>
              </a:rPr>
              <a:t>n</a:t>
            </a:r>
            <a:r>
              <a:rPr lang="en-US" altLang="zh-CN" sz="1200" b="0" i="0" kern="1200" dirty="0">
                <a:solidFill>
                  <a:schemeClr val="tx1"/>
                </a:solidFill>
                <a:effectLst/>
                <a:latin typeface="+mn-lt"/>
                <a:ea typeface="+mn-ea"/>
                <a:cs typeface="+mn-cs"/>
              </a:rPr>
              <a:t> is large (thousands of tokens or more), this becomes very expensive — even on powerful GPUs.</a:t>
            </a:r>
          </a:p>
          <a:p>
            <a:endParaRPr lang="zh-CN" altLang="en-US" dirty="0"/>
          </a:p>
        </p:txBody>
      </p:sp>
      <p:sp>
        <p:nvSpPr>
          <p:cNvPr id="1048822" name="灯片编号占位符 3"/>
          <p:cNvSpPr>
            <a:spLocks noGrp="1"/>
          </p:cNvSpPr>
          <p:nvPr>
            <p:ph type="sldNum" sz="quarter" idx="5"/>
          </p:nvPr>
        </p:nvSpPr>
        <p:spPr/>
        <p:txBody>
          <a:bodyPr/>
          <a:lstStyle/>
          <a:p>
            <a:fld id="{AB44C98A-D9C5-894D-9A13-8F52E37846C0}" type="slidenum">
              <a:rPr lang="en-US" smtClean="0"/>
              <a:t>24</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7" name="幻灯片图像占位符 1"/>
          <p:cNvSpPr>
            <a:spLocks noGrp="1" noRot="1" noChangeAspect="1"/>
          </p:cNvSpPr>
          <p:nvPr>
            <p:ph type="sldImg"/>
          </p:nvPr>
        </p:nvSpPr>
        <p:spPr/>
      </p:sp>
      <p:sp>
        <p:nvSpPr>
          <p:cNvPr id="1048828" name="备注占位符 2"/>
          <p:cNvSpPr>
            <a:spLocks noGrp="1"/>
          </p:cNvSpPr>
          <p:nvPr>
            <p:ph type="body" idx="1"/>
          </p:nvPr>
        </p:nvSpPr>
        <p:spPr/>
        <p:txBody>
          <a:bodyPr/>
          <a:lstStyle/>
          <a:p>
            <a:r>
              <a:rPr lang="zh-CN" altLang="en-US" dirty="0"/>
              <a:t>自注意力机制（</a:t>
            </a:r>
            <a:r>
              <a:rPr lang="en-US" altLang="zh-CN" dirty="0"/>
              <a:t>Self-attention</a:t>
            </a:r>
            <a:r>
              <a:rPr lang="zh-CN" altLang="en-US" dirty="0"/>
              <a:t>）的灵活性是以沉重代价为交换的：其复杂度随输入序列长度呈</a:t>
            </a:r>
            <a:r>
              <a:rPr lang="zh-CN" altLang="en-US" b="1" dirty="0"/>
              <a:t>平方级增长</a:t>
            </a:r>
            <a:r>
              <a:rPr lang="zh-CN" altLang="en-US" dirty="0"/>
              <a:t>。每一个标记（</a:t>
            </a:r>
            <a:r>
              <a:rPr lang="en-US" altLang="zh-CN" dirty="0"/>
              <a:t>token</a:t>
            </a:r>
            <a:r>
              <a:rPr lang="zh-CN" altLang="en-US" dirty="0"/>
              <a:t>）都必须与其它所有标记进行比对。对于短文本（几千个标记）来说，这尚且可以应付；但对于长文档或代码库，注意力运算的数量会呈爆炸式增长。一篇关于效率的文章指出，处理一份 </a:t>
            </a:r>
            <a:r>
              <a:rPr lang="en-US" altLang="zh-CN" dirty="0"/>
              <a:t>100,000 </a:t>
            </a:r>
            <a:r>
              <a:rPr lang="zh-CN" altLang="en-US" dirty="0"/>
              <a:t>字的文档大约需要 </a:t>
            </a:r>
            <a:r>
              <a:rPr lang="en-US" altLang="zh-CN" dirty="0"/>
              <a:t>100 </a:t>
            </a:r>
            <a:r>
              <a:rPr lang="zh-CN" altLang="en-US" dirty="0"/>
              <a:t>亿次注意力计算。随着上下文窗口的扩大，注意力机制带来的计算、内存带宽和能源成本将变得高昂到令人望而却步。</a:t>
            </a:r>
            <a:endParaRPr lang="en-US" altLang="zh-CN" dirty="0"/>
          </a:p>
          <a:p>
            <a:r>
              <a:rPr lang="zh-CN" altLang="en-US" dirty="0"/>
              <a:t>除了计算和内存等物理层面，</a:t>
            </a:r>
            <a:r>
              <a:rPr lang="en-US" altLang="zh-CN" dirty="0"/>
              <a:t>Transformer </a:t>
            </a:r>
            <a:r>
              <a:rPr lang="zh-CN" altLang="en-US" dirty="0"/>
              <a:t>还面临着概念层面的瓶颈。自注意力机制固然强大，但它并不能替代真正的</a:t>
            </a:r>
            <a:r>
              <a:rPr lang="zh-CN" altLang="en-US" b="1" dirty="0"/>
              <a:t>记忆能力</a:t>
            </a:r>
            <a:r>
              <a:rPr lang="zh-CN" altLang="en-US" dirty="0"/>
              <a:t>。</a:t>
            </a:r>
            <a:r>
              <a:rPr lang="en-US" altLang="zh-CN" dirty="0"/>
              <a:t>Transformer </a:t>
            </a:r>
            <a:r>
              <a:rPr lang="zh-CN" altLang="en-US" dirty="0"/>
              <a:t>拥有两种记忆：一种是其权重中的</a:t>
            </a:r>
            <a:r>
              <a:rPr lang="zh-CN" altLang="en-US" b="1" dirty="0"/>
              <a:t>参数化记忆</a:t>
            </a:r>
            <a:r>
              <a:rPr lang="zh-CN" altLang="en-US" dirty="0"/>
              <a:t>（</a:t>
            </a:r>
            <a:r>
              <a:rPr lang="en-US" altLang="zh-CN" dirty="0"/>
              <a:t>parametric memory</a:t>
            </a:r>
            <a:r>
              <a:rPr lang="zh-CN" altLang="en-US" dirty="0"/>
              <a:t>），编码了来自训练阶段的通用知识；另一种是</a:t>
            </a:r>
            <a:r>
              <a:rPr lang="zh-CN" altLang="en-US" b="1" dirty="0"/>
              <a:t>上下文窗口</a:t>
            </a:r>
            <a:r>
              <a:rPr lang="zh-CN" altLang="en-US" dirty="0"/>
              <a:t>（</a:t>
            </a:r>
            <a:r>
              <a:rPr lang="en-US" altLang="zh-CN" dirty="0"/>
              <a:t>context window</a:t>
            </a:r>
            <a:r>
              <a:rPr lang="zh-CN" altLang="en-US" dirty="0"/>
              <a:t>），用于保存当前的标记序列。任何超出这一窗口的信息对模型而言都是不可见的。</a:t>
            </a:r>
            <a:r>
              <a:rPr lang="en-US" altLang="zh-CN" dirty="0"/>
              <a:t>128K </a:t>
            </a:r>
            <a:r>
              <a:rPr lang="zh-CN" altLang="en-US" dirty="0"/>
              <a:t>标记的上下文窗口听起来很大，但对于一本 </a:t>
            </a:r>
            <a:r>
              <a:rPr lang="en-US" altLang="zh-CN" dirty="0"/>
              <a:t>500 </a:t>
            </a:r>
            <a:r>
              <a:rPr lang="zh-CN" altLang="en-US" dirty="0"/>
              <a:t>页的书籍或长达数小时的会议记录而言，这仍然只是海量信息中的一小部分。而注意力的平方级成本意味着，将窗口扩展到数百万标记在目前看来依然是不切实际的。</a:t>
            </a:r>
          </a:p>
          <a:p>
            <a:r>
              <a:rPr lang="zh-CN" altLang="en-US" dirty="0"/>
              <a:t>此外，当缺乏相关信息时，</a:t>
            </a:r>
            <a:r>
              <a:rPr lang="en-US" altLang="zh-CN" dirty="0"/>
              <a:t>Transformer </a:t>
            </a:r>
            <a:r>
              <a:rPr lang="zh-CN" altLang="en-US" dirty="0"/>
              <a:t>往往会产生“</a:t>
            </a:r>
            <a:r>
              <a:rPr lang="zh-CN" altLang="en-US" b="1" dirty="0"/>
              <a:t>幻觉</a:t>
            </a:r>
            <a:r>
              <a:rPr lang="zh-CN" altLang="en-US" dirty="0"/>
              <a:t>”（</a:t>
            </a:r>
            <a:r>
              <a:rPr lang="en-US" altLang="zh-CN" dirty="0"/>
              <a:t>hallucinate</a:t>
            </a:r>
            <a:r>
              <a:rPr lang="zh-CN" altLang="en-US" dirty="0"/>
              <a:t>）。如果答案既没有编码在权重中，也没有出现在上下文中，模型就会生成看似合理、实则错误的事实。之所以出现这种情况，是因为 </a:t>
            </a:r>
            <a:r>
              <a:rPr lang="en-US" altLang="zh-CN" dirty="0"/>
              <a:t>Transformer </a:t>
            </a:r>
            <a:r>
              <a:rPr lang="zh-CN" altLang="en-US" dirty="0"/>
              <a:t>缺乏显式的机制来验证其输出或咨询外部来源。现代聊天机器人本质上是拥有</a:t>
            </a:r>
            <a:r>
              <a:rPr lang="zh-CN" altLang="en-US" b="1" dirty="0"/>
              <a:t>短时工作记忆、却无持久存储的“统计鹦鹉”</a:t>
            </a:r>
            <a:r>
              <a:rPr lang="zh-CN" altLang="en-US" dirty="0"/>
              <a:t>。这限制了它们在需要实时知识、审计追踪或长周期历史推理等领域的可靠性。</a:t>
            </a:r>
          </a:p>
          <a:p>
            <a:endParaRPr lang="zh-CN" altLang="en-US" dirty="0"/>
          </a:p>
        </p:txBody>
      </p:sp>
      <p:sp>
        <p:nvSpPr>
          <p:cNvPr id="1048829" name="灯片编号占位符 3"/>
          <p:cNvSpPr>
            <a:spLocks noGrp="1"/>
          </p:cNvSpPr>
          <p:nvPr>
            <p:ph type="sldNum" sz="quarter" idx="5"/>
          </p:nvPr>
        </p:nvSpPr>
        <p:spPr/>
        <p:txBody>
          <a:bodyPr/>
          <a:lstStyle/>
          <a:p>
            <a:fld id="{AB44C98A-D9C5-894D-9A13-8F52E37846C0}" type="slidenum">
              <a:rPr lang="en-US" smtClean="0"/>
              <a:t>25</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0" name="幻灯片图像占位符 1"/>
          <p:cNvSpPr>
            <a:spLocks noGrp="1" noRot="1" noChangeAspect="1"/>
          </p:cNvSpPr>
          <p:nvPr>
            <p:ph type="sldImg"/>
          </p:nvPr>
        </p:nvSpPr>
        <p:spPr/>
      </p:sp>
      <p:sp>
        <p:nvSpPr>
          <p:cNvPr id="1048841" name="备注占位符 2"/>
          <p:cNvSpPr>
            <a:spLocks noGrp="1"/>
          </p:cNvSpPr>
          <p:nvPr>
            <p:ph type="body" idx="1"/>
          </p:nvPr>
        </p:nvSpPr>
        <p:spPr/>
        <p:txBody>
          <a:bodyPr/>
          <a:lstStyle/>
          <a:p>
            <a:endParaRPr lang="zh-CN" altLang="en-US" dirty="0"/>
          </a:p>
        </p:txBody>
      </p:sp>
      <p:sp>
        <p:nvSpPr>
          <p:cNvPr id="1048842" name="灯片编号占位符 3"/>
          <p:cNvSpPr>
            <a:spLocks noGrp="1"/>
          </p:cNvSpPr>
          <p:nvPr>
            <p:ph type="sldNum" sz="quarter" idx="5"/>
          </p:nvPr>
        </p:nvSpPr>
        <p:spPr/>
        <p:txBody>
          <a:bodyPr/>
          <a:lstStyle/>
          <a:p>
            <a:fld id="{AB44C98A-D9C5-894D-9A13-8F52E37846C0}" type="slidenum">
              <a:rPr lang="en-US" smtClean="0"/>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48630"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1048631"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1048633"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11309239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313880064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hyperlink" Target="https://authors.library.caltech.edu/40408/1/391.pdf" TargetMode="External"/><Relationship Id="rId4" Type="http://schemas.openxmlformats.org/officeDocument/2006/relationships/hyperlink" Target="https://www.frontiersin.org/articles/10.3389/fncom.2020.00029/ful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16.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50.GIF"/></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image" Target="../media/image63.png"/><Relationship Id="rId26" Type="http://schemas.openxmlformats.org/officeDocument/2006/relationships/hyperlink" Target="https://www.zhihu.com/people/95-22-20-18/posts" TargetMode="External"/><Relationship Id="rId3" Type="http://schemas.openxmlformats.org/officeDocument/2006/relationships/tags" Target="../tags/tag12.xml"/><Relationship Id="rId21" Type="http://schemas.openxmlformats.org/officeDocument/2006/relationships/image" Target="../media/image66.png"/><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image" Target="../media/image65.png"/><Relationship Id="rId29" Type="http://schemas.openxmlformats.org/officeDocument/2006/relationships/image" Target="../media/image70.pn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hyperlink" Target="https://github.com/flagos-ai" TargetMode="External"/><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image" Target="../media/image68.png"/><Relationship Id="rId28" Type="http://schemas.openxmlformats.org/officeDocument/2006/relationships/image" Target="../media/image69.jpeg"/><Relationship Id="rId10" Type="http://schemas.openxmlformats.org/officeDocument/2006/relationships/tags" Target="../tags/tag19.xml"/><Relationship Id="rId19" Type="http://schemas.openxmlformats.org/officeDocument/2006/relationships/image" Target="../media/image64.png"/><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image" Target="../media/image67.png"/><Relationship Id="rId27" Type="http://schemas.openxmlformats.org/officeDocument/2006/relationships/hyperlink" Target="https://flagos.io/Home"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1.jpeg"/><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标题 1"/>
          <p:cNvSpPr>
            <a:spLocks noGrp="1"/>
          </p:cNvSpPr>
          <p:nvPr>
            <p:ph type="ctrTitle"/>
          </p:nvPr>
        </p:nvSpPr>
        <p:spPr/>
        <p:txBody>
          <a:bodyPr>
            <a:normAutofit fontScale="90000"/>
          </a:bodyPr>
          <a:lstStyle/>
          <a:p>
            <a:r>
              <a:rPr lang="en-US" altLang="zh-CN" sz="5400" dirty="0">
                <a:solidFill>
                  <a:srgbClr val="262626"/>
                </a:solidFill>
                <a:latin typeface="Chinese Quote"/>
              </a:rPr>
              <a:t>Lecture 10: Attention Mechanism</a:t>
            </a:r>
            <a:br>
              <a:rPr lang="en-US" altLang="zh-CN" sz="5400" dirty="0">
                <a:solidFill>
                  <a:srgbClr val="262626"/>
                </a:solidFill>
                <a:latin typeface="Chinese Quote"/>
              </a:rPr>
            </a:br>
            <a:r>
              <a:rPr lang="en-US" altLang="zh-CN" sz="5400" dirty="0">
                <a:solidFill>
                  <a:srgbClr val="262626"/>
                </a:solidFill>
                <a:latin typeface="Chinese Quote"/>
              </a:rPr>
              <a:t>Principles and Operator Requirements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图片 5"/>
          <p:cNvPicPr>
            <a:picLocks noChangeAspect="1"/>
          </p:cNvPicPr>
          <p:nvPr/>
        </p:nvPicPr>
        <p:blipFill>
          <a:blip r:embed="rId3"/>
          <a:stretch>
            <a:fillRect/>
          </a:stretch>
        </p:blipFill>
        <p:spPr>
          <a:xfrm>
            <a:off x="1020538" y="3331744"/>
            <a:ext cx="7643512" cy="3389732"/>
          </a:xfrm>
          <a:prstGeom prst="rect">
            <a:avLst/>
          </a:prstGeom>
        </p:spPr>
      </p:pic>
      <p:sp>
        <p:nvSpPr>
          <p:cNvPr id="1048661" name="标题 1"/>
          <p:cNvSpPr>
            <a:spLocks noGrp="1"/>
          </p:cNvSpPr>
          <p:nvPr>
            <p:ph type="title"/>
          </p:nvPr>
        </p:nvSpPr>
        <p:spPr/>
        <p:txBody>
          <a:bodyPr/>
          <a:lstStyle/>
          <a:p>
            <a:r>
              <a:rPr lang="en-US" altLang="zh-CN" dirty="0"/>
              <a:t>From RNN to Transformer</a:t>
            </a:r>
            <a:endParaRPr lang="zh-CN" altLang="en-US" dirty="0"/>
          </a:p>
        </p:txBody>
      </p:sp>
      <p:sp>
        <p:nvSpPr>
          <p:cNvPr id="1048663" name="页脚占位符 3"/>
          <p:cNvSpPr>
            <a:spLocks noGrp="1"/>
          </p:cNvSpPr>
          <p:nvPr>
            <p:ph type="ftr" sz="quarter" idx="11"/>
          </p:nvPr>
        </p:nvSpPr>
        <p:spPr/>
        <p:txBody>
          <a:bodyPr/>
          <a:lstStyle/>
          <a:p>
            <a:endParaRPr lang="zh-CN" altLang="en-US" dirty="0"/>
          </a:p>
        </p:txBody>
      </p:sp>
      <p:sp>
        <p:nvSpPr>
          <p:cNvPr id="1048664" name="灯片编号占位符 4"/>
          <p:cNvSpPr>
            <a:spLocks noGrp="1"/>
          </p:cNvSpPr>
          <p:nvPr>
            <p:ph type="sldNum" sz="quarter" idx="12"/>
          </p:nvPr>
        </p:nvSpPr>
        <p:spPr/>
        <p:txBody>
          <a:bodyPr/>
          <a:lstStyle/>
          <a:p>
            <a:fld id="{B33F7469-D28B-482F-B1B6-3B8E7CF51519}" type="slidenum">
              <a:rPr lang="zh-CN" altLang="en-US" smtClean="0"/>
              <a:t>3</a:t>
            </a:fld>
            <a:endParaRPr lang="zh-CN" altLang="en-US" dirty="0"/>
          </a:p>
        </p:txBody>
      </p:sp>
      <p:sp>
        <p:nvSpPr>
          <p:cNvPr id="1048662" name="内容占位符 2"/>
          <p:cNvSpPr>
            <a:spLocks noGrp="1"/>
          </p:cNvSpPr>
          <p:nvPr>
            <p:ph sz="quarter" idx="13"/>
          </p:nvPr>
        </p:nvSpPr>
        <p:spPr/>
        <p:txBody>
          <a:bodyPr/>
          <a:lstStyle/>
          <a:p>
            <a:r>
              <a:rPr lang="en-US" altLang="zh-CN" dirty="0"/>
              <a:t>1980s – RNN (Serial Order: a parallel </a:t>
            </a:r>
            <a:r>
              <a:rPr lang="en-US" altLang="zh-CN" dirty="0" err="1"/>
              <a:t>distrmuted</a:t>
            </a:r>
            <a:r>
              <a:rPr lang="en-US" altLang="zh-CN" dirty="0"/>
              <a:t> processing approach)</a:t>
            </a:r>
          </a:p>
          <a:p>
            <a:r>
              <a:rPr lang="en-US" altLang="zh-CN" dirty="0"/>
              <a:t>1997 – LSTM (Long Short Term Memory)</a:t>
            </a:r>
          </a:p>
          <a:p>
            <a:r>
              <a:rPr lang="en-US" altLang="zh-CN" dirty="0"/>
              <a:t>2014 – GRU (Neural Machine Translation by Jointly Learning to Align and Translate)</a:t>
            </a:r>
          </a:p>
          <a:p>
            <a:r>
              <a:rPr lang="en-US" altLang="zh-CN" dirty="0"/>
              <a:t>2017 – Transformer (Attention is All Your Need)</a:t>
            </a:r>
            <a:endParaRPr lang="zh-CN" altLang="en-US"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标题 1"/>
          <p:cNvSpPr>
            <a:spLocks noGrp="1"/>
          </p:cNvSpPr>
          <p:nvPr>
            <p:ph type="title"/>
          </p:nvPr>
        </p:nvSpPr>
        <p:spPr/>
        <p:txBody>
          <a:bodyPr/>
          <a:lstStyle/>
          <a:p>
            <a:r>
              <a:rPr lang="en-US" altLang="zh-CN" dirty="0"/>
              <a:t>A </a:t>
            </a:r>
            <a:r>
              <a:rPr lang="x-none" dirty="0"/>
              <a:t>B</a:t>
            </a:r>
            <a:r>
              <a:rPr lang="en-US" altLang="zh-CN" dirty="0"/>
              <a:t>rief </a:t>
            </a:r>
            <a:r>
              <a:rPr lang="x-none" dirty="0"/>
              <a:t>O</a:t>
            </a:r>
            <a:r>
              <a:rPr lang="en-US" altLang="zh-CN" dirty="0"/>
              <a:t>verview of the Transformer </a:t>
            </a:r>
            <a:r>
              <a:rPr lang="x-none" dirty="0"/>
              <a:t>A</a:t>
            </a:r>
            <a:r>
              <a:rPr lang="en-US" altLang="zh-CN" dirty="0"/>
              <a:t>rchitecture</a:t>
            </a:r>
            <a:endParaRPr lang="zh-CN" altLang="en-US" dirty="0"/>
          </a:p>
        </p:txBody>
      </p:sp>
      <p:sp>
        <p:nvSpPr>
          <p:cNvPr id="1048670" name="页脚占位符 3"/>
          <p:cNvSpPr>
            <a:spLocks noGrp="1"/>
          </p:cNvSpPr>
          <p:nvPr>
            <p:ph type="ftr" sz="quarter" idx="11"/>
          </p:nvPr>
        </p:nvSpPr>
        <p:spPr/>
        <p:txBody>
          <a:bodyPr/>
          <a:lstStyle/>
          <a:p>
            <a:r>
              <a:rPr lang="en-US" altLang="zh-CN" dirty="0"/>
              <a:t>Vaswani, Ashish, et al. "Attention is all you need." Advances in neural information processing systems 30 (2017). </a:t>
            </a:r>
          </a:p>
          <a:p>
            <a:r>
              <a:rPr lang="en-US" altLang="zh-CN" dirty="0"/>
              <a:t>https://jalammar.github.io/illustrated-transformer/</a:t>
            </a:r>
            <a:endParaRPr lang="zh-CN" altLang="en-US" dirty="0"/>
          </a:p>
        </p:txBody>
      </p:sp>
      <p:sp>
        <p:nvSpPr>
          <p:cNvPr id="1048671" name="灯片编号占位符 4"/>
          <p:cNvSpPr>
            <a:spLocks noGrp="1"/>
          </p:cNvSpPr>
          <p:nvPr>
            <p:ph type="sldNum" sz="quarter" idx="12"/>
          </p:nvPr>
        </p:nvSpPr>
        <p:spPr/>
        <p:txBody>
          <a:bodyPr/>
          <a:lstStyle/>
          <a:p>
            <a:fld id="{B33F7469-D28B-482F-B1B6-3B8E7CF51519}" type="slidenum">
              <a:rPr lang="zh-CN" altLang="en-US" smtClean="0"/>
              <a:t>4</a:t>
            </a:fld>
            <a:endParaRPr lang="zh-CN" altLang="en-US" dirty="0"/>
          </a:p>
        </p:txBody>
      </p:sp>
      <p:sp>
        <p:nvSpPr>
          <p:cNvPr id="1048669" name="内容占位符 2"/>
          <p:cNvSpPr>
            <a:spLocks noGrp="1"/>
          </p:cNvSpPr>
          <p:nvPr>
            <p:ph sz="quarter" idx="13"/>
          </p:nvPr>
        </p:nvSpPr>
        <p:spPr/>
        <p:txBody>
          <a:bodyPr/>
          <a:lstStyle/>
          <a:p>
            <a:r>
              <a:rPr lang="en-US" altLang="zh-CN" dirty="0"/>
              <a:t>A High-Level Look</a:t>
            </a:r>
          </a:p>
          <a:p>
            <a:pPr marL="342900" lvl="1" indent="0">
              <a:buNone/>
            </a:pPr>
            <a:endParaRPr lang="en-US" altLang="zh-CN" dirty="0"/>
          </a:p>
          <a:p>
            <a:endParaRPr lang="zh-CN" altLang="en-US" dirty="0"/>
          </a:p>
        </p:txBody>
      </p:sp>
      <p:pic>
        <p:nvPicPr>
          <p:cNvPr id="2097153" name="图片 5"/>
          <p:cNvPicPr>
            <a:picLocks noChangeAspect="1"/>
          </p:cNvPicPr>
          <p:nvPr/>
        </p:nvPicPr>
        <p:blipFill>
          <a:blip r:embed="rId3"/>
          <a:stretch>
            <a:fillRect/>
          </a:stretch>
        </p:blipFill>
        <p:spPr>
          <a:xfrm>
            <a:off x="798345" y="1858493"/>
            <a:ext cx="4936812" cy="1073917"/>
          </a:xfrm>
          <a:prstGeom prst="rect">
            <a:avLst/>
          </a:prstGeom>
        </p:spPr>
      </p:pic>
      <p:pic>
        <p:nvPicPr>
          <p:cNvPr id="2097154" name="图片 6"/>
          <p:cNvPicPr>
            <a:picLocks noChangeAspect="1"/>
          </p:cNvPicPr>
          <p:nvPr/>
        </p:nvPicPr>
        <p:blipFill>
          <a:blip r:embed="rId4"/>
          <a:stretch>
            <a:fillRect/>
          </a:stretch>
        </p:blipFill>
        <p:spPr>
          <a:xfrm>
            <a:off x="527319" y="3123832"/>
            <a:ext cx="4375458" cy="2762416"/>
          </a:xfrm>
          <a:prstGeom prst="rect">
            <a:avLst/>
          </a:prstGeom>
        </p:spPr>
      </p:pic>
      <p:pic>
        <p:nvPicPr>
          <p:cNvPr id="2097155" name="图片 7"/>
          <p:cNvPicPr>
            <a:picLocks noChangeAspect="1"/>
          </p:cNvPicPr>
          <p:nvPr/>
        </p:nvPicPr>
        <p:blipFill>
          <a:blip r:embed="rId5"/>
          <a:stretch>
            <a:fillRect/>
          </a:stretch>
        </p:blipFill>
        <p:spPr>
          <a:xfrm>
            <a:off x="6009629" y="1494430"/>
            <a:ext cx="5930002" cy="4175206"/>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6" name="图片 6"/>
          <p:cNvPicPr>
            <a:picLocks noChangeAspect="1"/>
          </p:cNvPicPr>
          <p:nvPr/>
        </p:nvPicPr>
        <p:blipFill>
          <a:blip r:embed="rId2"/>
          <a:stretch>
            <a:fillRect/>
          </a:stretch>
        </p:blipFill>
        <p:spPr>
          <a:xfrm>
            <a:off x="87581" y="2184823"/>
            <a:ext cx="1000000" cy="733333"/>
          </a:xfrm>
          <a:prstGeom prst="rect">
            <a:avLst/>
          </a:prstGeom>
        </p:spPr>
      </p:pic>
      <p:sp>
        <p:nvSpPr>
          <p:cNvPr id="1048675" name="标题 1"/>
          <p:cNvSpPr>
            <a:spLocks noGrp="1"/>
          </p:cNvSpPr>
          <p:nvPr>
            <p:ph type="title"/>
          </p:nvPr>
        </p:nvSpPr>
        <p:spPr/>
        <p:txBody>
          <a:bodyPr/>
          <a:lstStyle/>
          <a:p>
            <a:r>
              <a:rPr lang="en-US" altLang="zh-CN" dirty="0"/>
              <a:t>What is Attention</a:t>
            </a:r>
            <a:r>
              <a:rPr lang="x-none" dirty="0"/>
              <a:t>? (1/4)</a:t>
            </a:r>
          </a:p>
        </p:txBody>
      </p:sp>
      <p:sp>
        <p:nvSpPr>
          <p:cNvPr id="1048677" name="页脚占位符 3"/>
          <p:cNvSpPr>
            <a:spLocks noGrp="1"/>
          </p:cNvSpPr>
          <p:nvPr>
            <p:ph type="ftr" sz="quarter" idx="11"/>
          </p:nvPr>
        </p:nvSpPr>
        <p:spPr/>
        <p:txBody>
          <a:bodyPr/>
          <a:lstStyle/>
          <a:p>
            <a:endParaRPr lang="zh-CN" altLang="en-US" dirty="0"/>
          </a:p>
        </p:txBody>
      </p:sp>
      <p:sp>
        <p:nvSpPr>
          <p:cNvPr id="1048678" name="灯片编号占位符 4"/>
          <p:cNvSpPr>
            <a:spLocks noGrp="1"/>
          </p:cNvSpPr>
          <p:nvPr>
            <p:ph type="sldNum" sz="quarter" idx="12"/>
          </p:nvPr>
        </p:nvSpPr>
        <p:spPr/>
        <p:txBody>
          <a:bodyPr/>
          <a:lstStyle/>
          <a:p>
            <a:fld id="{B33F7469-D28B-482F-B1B6-3B8E7CF51519}" type="slidenum">
              <a:rPr lang="zh-CN" altLang="en-US" smtClean="0"/>
              <a:t>5</a:t>
            </a:fld>
            <a:endParaRPr lang="zh-CN" altLang="en-US" dirty="0"/>
          </a:p>
        </p:txBody>
      </p:sp>
      <p:sp>
        <p:nvSpPr>
          <p:cNvPr id="1048676" name="内容占位符 2"/>
          <p:cNvSpPr>
            <a:spLocks noGrp="1"/>
          </p:cNvSpPr>
          <p:nvPr>
            <p:ph sz="quarter" idx="13"/>
          </p:nvPr>
        </p:nvSpPr>
        <p:spPr/>
        <p:txBody>
          <a:bodyPr/>
          <a:lstStyle/>
          <a:p>
            <a:r>
              <a:rPr lang="en-US" altLang="zh-CN" dirty="0"/>
              <a:t>Attention is a widely investigated concept that has often been studied in conjunction with arousal, alertness, and engagement with one’s surroundings. </a:t>
            </a:r>
          </a:p>
          <a:p>
            <a:endParaRPr lang="zh-CN" altLang="en-US" dirty="0"/>
          </a:p>
        </p:txBody>
      </p:sp>
      <p:pic>
        <p:nvPicPr>
          <p:cNvPr id="2097157" name="Picture 2" descr="Fig 1. Encoder-decoder with attention.[35] Numerical subscripts (100, 300, 500, 9k, 10k) indicate vector sizes while lettered subscripts i and i − 1 indicate time steps. Pinkish regions in H matrix and w vector are zero values. See Legend for details."/>
          <p:cNvPicPr>
            <a:picLocks noChangeAspect="1" noChangeArrowheads="1"/>
          </p:cNvPicPr>
          <p:nvPr/>
        </p:nvPicPr>
        <p:blipFill>
          <a:blip r:embed="rId3"/>
          <a:srcRect/>
          <a:stretch>
            <a:fillRect/>
          </a:stretch>
        </p:blipFill>
        <p:spPr bwMode="auto">
          <a:xfrm>
            <a:off x="8021657" y="3306385"/>
            <a:ext cx="4020417" cy="2870578"/>
          </a:xfrm>
          <a:prstGeom prst="rect">
            <a:avLst/>
          </a:prstGeom>
          <a:noFill/>
        </p:spPr>
      </p:pic>
      <p:sp>
        <p:nvSpPr>
          <p:cNvPr id="1048679" name="矩形 5"/>
          <p:cNvSpPr/>
          <p:nvPr/>
        </p:nvSpPr>
        <p:spPr>
          <a:xfrm>
            <a:off x="949776" y="2287345"/>
            <a:ext cx="9573492" cy="923330"/>
          </a:xfrm>
          <a:prstGeom prst="rect">
            <a:avLst/>
          </a:prstGeom>
        </p:spPr>
        <p:txBody>
          <a:bodyPr wrap="square">
            <a:spAutoFit/>
          </a:bodyPr>
          <a:lstStyle/>
          <a:p>
            <a:pPr fontAlgn="base"/>
            <a:r>
              <a:rPr lang="en-US" altLang="zh-CN" i="1" dirty="0">
                <a:solidFill>
                  <a:srgbClr val="555555"/>
                </a:solidFill>
                <a:latin typeface="Helvetica Neue" panose="02000503000000020004"/>
              </a:rPr>
              <a:t>In its most generic form, attention could be described as merely an overall level of alertness or ability to engage with surroundings.</a:t>
            </a:r>
          </a:p>
          <a:p>
            <a:pPr algn="r" fontAlgn="base"/>
            <a:r>
              <a:rPr lang="en-US" altLang="zh-CN" i="1" dirty="0">
                <a:solidFill>
                  <a:srgbClr val="555555"/>
                </a:solidFill>
                <a:latin typeface="Helvetica Neue" panose="02000503000000020004"/>
              </a:rPr>
              <a:t>– </a:t>
            </a:r>
            <a:r>
              <a:rPr lang="en-US" altLang="zh-CN" i="1" dirty="0">
                <a:solidFill>
                  <a:srgbClr val="428BCA"/>
                </a:solidFill>
                <a:latin typeface="Helvetica Neue" panose="02000503000000020004"/>
                <a:hlinkClick r:id="rId4"/>
              </a:rPr>
              <a:t>Attention in Psychology, Neuroscience, and Machine Learning</a:t>
            </a:r>
            <a:r>
              <a:rPr lang="en-US" altLang="zh-CN" i="1" dirty="0">
                <a:solidFill>
                  <a:srgbClr val="555555"/>
                </a:solidFill>
                <a:latin typeface="Helvetica Neue" panose="02000503000000020004"/>
              </a:rPr>
              <a:t>, 2020.</a:t>
            </a:r>
            <a:endParaRPr lang="en-US" altLang="zh-CN" b="0" i="1" dirty="0">
              <a:solidFill>
                <a:srgbClr val="555555"/>
              </a:solidFill>
              <a:effectLst/>
              <a:latin typeface="Helvetica Neue" panose="02000503000000020004"/>
            </a:endParaRPr>
          </a:p>
        </p:txBody>
      </p:sp>
      <p:pic>
        <p:nvPicPr>
          <p:cNvPr id="2097158" name="图片 7"/>
          <p:cNvPicPr>
            <a:picLocks noChangeAspect="1"/>
          </p:cNvPicPr>
          <p:nvPr/>
        </p:nvPicPr>
        <p:blipFill>
          <a:blip r:embed="rId2"/>
          <a:stretch>
            <a:fillRect/>
          </a:stretch>
        </p:blipFill>
        <p:spPr>
          <a:xfrm>
            <a:off x="73726" y="3141663"/>
            <a:ext cx="1000000" cy="733333"/>
          </a:xfrm>
          <a:prstGeom prst="rect">
            <a:avLst/>
          </a:prstGeom>
        </p:spPr>
      </p:pic>
      <p:sp>
        <p:nvSpPr>
          <p:cNvPr id="1048680" name="矩形 8"/>
          <p:cNvSpPr/>
          <p:nvPr/>
        </p:nvSpPr>
        <p:spPr>
          <a:xfrm>
            <a:off x="942975" y="3314641"/>
            <a:ext cx="6962776" cy="2585323"/>
          </a:xfrm>
          <a:prstGeom prst="rect">
            <a:avLst/>
          </a:prstGeom>
        </p:spPr>
        <p:txBody>
          <a:bodyPr wrap="square">
            <a:spAutoFit/>
          </a:bodyPr>
          <a:lstStyle/>
          <a:p>
            <a:pPr fontAlgn="base"/>
            <a:r>
              <a:rPr lang="en-US" altLang="zh-CN" i="1" dirty="0">
                <a:solidFill>
                  <a:srgbClr val="555555"/>
                </a:solidFill>
                <a:latin typeface="Helvetica Neue" panose="02000503000000020004"/>
              </a:rPr>
              <a:t>Neurons at the earliest stages are tuned to simple visual attributes such as intensity contrast, </a:t>
            </a:r>
            <a:r>
              <a:rPr lang="en-US" altLang="zh-CN" i="1" dirty="0" err="1">
                <a:solidFill>
                  <a:srgbClr val="555555"/>
                </a:solidFill>
                <a:latin typeface="Helvetica Neue" panose="02000503000000020004"/>
              </a:rPr>
              <a:t>colour</a:t>
            </a:r>
            <a:r>
              <a:rPr lang="en-US" altLang="zh-CN" i="1" dirty="0">
                <a:solidFill>
                  <a:srgbClr val="555555"/>
                </a:solidFill>
                <a:latin typeface="Helvetica Neue" panose="02000503000000020004"/>
              </a:rPr>
              <a:t> opponency, orientation, direction and velocity of motion, or stereo disparity at several spatial scales. Neuronal tuning becomes increasingly more specialized with the progression from low-level to high-level visual areas, such that higher-level visual areas include neurons that respond only to corners or junctions, shape-from-shading cues or views of specific real-world objects.</a:t>
            </a:r>
          </a:p>
          <a:p>
            <a:pPr algn="r" fontAlgn="base"/>
            <a:r>
              <a:rPr lang="en-US" altLang="zh-CN" i="1" dirty="0">
                <a:solidFill>
                  <a:srgbClr val="555555"/>
                </a:solidFill>
                <a:latin typeface="Helvetica Neue" panose="02000503000000020004"/>
              </a:rPr>
              <a:t>– </a:t>
            </a:r>
            <a:r>
              <a:rPr lang="en-US" altLang="zh-CN" i="1" dirty="0">
                <a:solidFill>
                  <a:srgbClr val="428BCA"/>
                </a:solidFill>
                <a:latin typeface="Helvetica Neue" panose="02000503000000020004"/>
                <a:hlinkClick r:id="rId5"/>
              </a:rPr>
              <a:t>Computational Modelling of Visual Attention</a:t>
            </a:r>
            <a:r>
              <a:rPr lang="en-US" altLang="zh-CN" i="1" dirty="0">
                <a:solidFill>
                  <a:srgbClr val="555555"/>
                </a:solidFill>
                <a:latin typeface="Helvetica Neue" panose="02000503000000020004"/>
              </a:rPr>
              <a:t>, 2001.</a:t>
            </a:r>
            <a:endParaRPr lang="en-US" altLang="zh-CN" b="0" i="1" dirty="0">
              <a:solidFill>
                <a:srgbClr val="555555"/>
              </a:solidFill>
              <a:effectLst/>
              <a:latin typeface="Helvetica Neue" panose="02000503000000020004"/>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标题 1"/>
          <p:cNvSpPr>
            <a:spLocks noGrp="1"/>
          </p:cNvSpPr>
          <p:nvPr>
            <p:ph type="title"/>
          </p:nvPr>
        </p:nvSpPr>
        <p:spPr/>
        <p:txBody>
          <a:bodyPr/>
          <a:lstStyle/>
          <a:p>
            <a:r>
              <a:rPr lang="en-US" altLang="zh-CN" dirty="0"/>
              <a:t>What is Attention</a:t>
            </a:r>
            <a:r>
              <a:rPr lang="x-none">
                <a:sym typeface="+mn-ea"/>
              </a:rPr>
              <a:t>? (2/4)</a:t>
            </a:r>
            <a:endParaRPr lang="zh-CN" altLang="en-US" dirty="0"/>
          </a:p>
        </p:txBody>
      </p:sp>
      <p:sp>
        <p:nvSpPr>
          <p:cNvPr id="1048683" name="页脚占位符 3"/>
          <p:cNvSpPr>
            <a:spLocks noGrp="1"/>
          </p:cNvSpPr>
          <p:nvPr>
            <p:ph type="ftr" sz="quarter" idx="11"/>
          </p:nvPr>
        </p:nvSpPr>
        <p:spPr/>
        <p:txBody>
          <a:bodyPr/>
          <a:lstStyle/>
          <a:p>
            <a:endParaRPr lang="zh-CN" altLang="en-US" dirty="0"/>
          </a:p>
        </p:txBody>
      </p:sp>
      <p:sp>
        <p:nvSpPr>
          <p:cNvPr id="1048684" name="灯片编号占位符 4"/>
          <p:cNvSpPr>
            <a:spLocks noGrp="1"/>
          </p:cNvSpPr>
          <p:nvPr>
            <p:ph type="sldNum" sz="quarter" idx="12"/>
          </p:nvPr>
        </p:nvSpPr>
        <p:spPr/>
        <p:txBody>
          <a:bodyPr/>
          <a:lstStyle/>
          <a:p>
            <a:fld id="{B33F7469-D28B-482F-B1B6-3B8E7CF51519}" type="slidenum">
              <a:rPr lang="zh-CN" altLang="en-US" smtClean="0"/>
              <a:t>6</a:t>
            </a:fld>
            <a:endParaRPr lang="zh-CN" altLang="en-US" dirty="0"/>
          </a:p>
        </p:txBody>
      </p:sp>
      <p:sp>
        <p:nvSpPr>
          <p:cNvPr id="1048682" name="内容占位符 2"/>
          <p:cNvSpPr>
            <a:spLocks noGrp="1"/>
          </p:cNvSpPr>
          <p:nvPr>
            <p:ph sz="quarter" idx="13"/>
          </p:nvPr>
        </p:nvSpPr>
        <p:spPr/>
        <p:txBody>
          <a:bodyPr/>
          <a:lstStyle/>
          <a:p>
            <a:r>
              <a:rPr lang="en-US" altLang="zh-CN" dirty="0" err="1"/>
              <a:t>Bahdanau</a:t>
            </a:r>
            <a:r>
              <a:rPr lang="en-US" altLang="zh-CN" dirty="0"/>
              <a:t> Attention (2014) – The Rise of Attention</a:t>
            </a:r>
          </a:p>
          <a:p>
            <a:pPr lvl="1"/>
            <a:r>
              <a:rPr lang="en-US" altLang="zh-CN" dirty="0"/>
              <a:t>Introduce "Jointly Learning to Align and Translate" for Neural Machine Translation</a:t>
            </a:r>
          </a:p>
          <a:p>
            <a:r>
              <a:rPr lang="en-US" altLang="zh-CN" dirty="0"/>
              <a:t>Luong Attention (2015) – Improving Efficiency</a:t>
            </a:r>
          </a:p>
          <a:p>
            <a:pPr lvl="1"/>
            <a:r>
              <a:rPr lang="en-US" altLang="zh-CN" dirty="0"/>
              <a:t>Introduce "Global Attention," simplifying and refining </a:t>
            </a:r>
            <a:r>
              <a:rPr lang="en-US" altLang="zh-CN" dirty="0" err="1"/>
              <a:t>Bahdanau’s</a:t>
            </a:r>
            <a:r>
              <a:rPr lang="en-US" altLang="zh-CN" dirty="0"/>
              <a:t> approach</a:t>
            </a:r>
          </a:p>
        </p:txBody>
      </p:sp>
      <p:pic>
        <p:nvPicPr>
          <p:cNvPr id="2097159" name="图片 6"/>
          <p:cNvPicPr>
            <a:picLocks noChangeAspect="1"/>
          </p:cNvPicPr>
          <p:nvPr/>
        </p:nvPicPr>
        <p:blipFill>
          <a:blip r:embed="rId2"/>
          <a:stretch>
            <a:fillRect/>
          </a:stretch>
        </p:blipFill>
        <p:spPr>
          <a:xfrm>
            <a:off x="302201" y="3607742"/>
            <a:ext cx="5696817" cy="2760642"/>
          </a:xfrm>
          <a:prstGeom prst="rect">
            <a:avLst/>
          </a:prstGeom>
        </p:spPr>
      </p:pic>
      <p:pic>
        <p:nvPicPr>
          <p:cNvPr id="2097160" name="图片 5"/>
          <p:cNvPicPr>
            <a:picLocks noChangeAspect="1"/>
          </p:cNvPicPr>
          <p:nvPr/>
        </p:nvPicPr>
        <p:blipFill>
          <a:blip r:embed="rId3"/>
          <a:stretch>
            <a:fillRect/>
          </a:stretch>
        </p:blipFill>
        <p:spPr>
          <a:xfrm>
            <a:off x="6231182" y="3581985"/>
            <a:ext cx="5338127" cy="2684672"/>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标题 1"/>
          <p:cNvSpPr>
            <a:spLocks noGrp="1"/>
          </p:cNvSpPr>
          <p:nvPr>
            <p:ph type="title"/>
          </p:nvPr>
        </p:nvSpPr>
        <p:spPr/>
        <p:txBody>
          <a:bodyPr/>
          <a:lstStyle/>
          <a:p>
            <a:r>
              <a:rPr lang="en-US" altLang="zh-CN" dirty="0"/>
              <a:t>What is Attention</a:t>
            </a:r>
            <a:r>
              <a:rPr lang="x-none">
                <a:sym typeface="+mn-ea"/>
              </a:rPr>
              <a:t>? (3/4)</a:t>
            </a:r>
            <a:endParaRPr lang="zh-CN" altLang="en-US" dirty="0"/>
          </a:p>
        </p:txBody>
      </p:sp>
      <p:sp>
        <p:nvSpPr>
          <p:cNvPr id="1048687" name="页脚占位符 3"/>
          <p:cNvSpPr>
            <a:spLocks noGrp="1"/>
          </p:cNvSpPr>
          <p:nvPr>
            <p:ph type="ftr" sz="quarter" idx="11"/>
          </p:nvPr>
        </p:nvSpPr>
        <p:spPr/>
        <p:txBody>
          <a:bodyPr/>
          <a:lstStyle/>
          <a:p>
            <a:endParaRPr lang="zh-CN" altLang="en-US" dirty="0"/>
          </a:p>
        </p:txBody>
      </p:sp>
      <p:sp>
        <p:nvSpPr>
          <p:cNvPr id="1048688" name="灯片编号占位符 4"/>
          <p:cNvSpPr>
            <a:spLocks noGrp="1"/>
          </p:cNvSpPr>
          <p:nvPr>
            <p:ph type="sldNum" sz="quarter" idx="12"/>
          </p:nvPr>
        </p:nvSpPr>
        <p:spPr/>
        <p:txBody>
          <a:bodyPr/>
          <a:lstStyle/>
          <a:p>
            <a:fld id="{B33F7469-D28B-482F-B1B6-3B8E7CF51519}" type="slidenum">
              <a:rPr lang="zh-CN" altLang="en-US" smtClean="0"/>
              <a:t>7</a:t>
            </a:fld>
            <a:endParaRPr lang="zh-CN" altLang="en-US" dirty="0"/>
          </a:p>
        </p:txBody>
      </p:sp>
      <p:sp>
        <p:nvSpPr>
          <p:cNvPr id="1048686" name="内容占位符 2"/>
          <p:cNvSpPr>
            <a:spLocks noGrp="1"/>
          </p:cNvSpPr>
          <p:nvPr>
            <p:ph sz="quarter" idx="13"/>
          </p:nvPr>
        </p:nvSpPr>
        <p:spPr/>
        <p:txBody>
          <a:bodyPr/>
          <a:lstStyle/>
          <a:p>
            <a:r>
              <a:rPr lang="en-US" altLang="zh-CN" dirty="0"/>
              <a:t>Transformer (2017) – Attention Is All You Need</a:t>
            </a:r>
          </a:p>
          <a:p>
            <a:pPr lvl="1"/>
            <a:r>
              <a:rPr lang="en-US" altLang="zh-CN" dirty="0"/>
              <a:t>dispense with Recurrence (RNN) and Convolutions (CNN) entirely, relying solely on Attention</a:t>
            </a:r>
          </a:p>
          <a:p>
            <a:r>
              <a:rPr lang="en-US" altLang="zh-CN" dirty="0"/>
              <a:t>Self-Attention</a:t>
            </a:r>
          </a:p>
          <a:p>
            <a:r>
              <a:rPr lang="en-US" altLang="zh-CN" dirty="0"/>
              <a:t>Multi-Head Attention</a:t>
            </a:r>
          </a:p>
          <a:p>
            <a:r>
              <a:rPr lang="en-US" altLang="zh-CN" dirty="0"/>
              <a:t>Sparse Attention</a:t>
            </a:r>
          </a:p>
          <a:p>
            <a:r>
              <a:rPr lang="en-US" altLang="zh-CN" dirty="0"/>
              <a:t>…</a:t>
            </a:r>
          </a:p>
          <a:p>
            <a:pPr lvl="1"/>
            <a:endParaRPr lang="zh-CN" altLang="en-US" dirty="0"/>
          </a:p>
        </p:txBody>
      </p:sp>
      <p:pic>
        <p:nvPicPr>
          <p:cNvPr id="2097161" name="图片 8"/>
          <p:cNvPicPr>
            <a:picLocks noChangeAspect="1"/>
          </p:cNvPicPr>
          <p:nvPr/>
        </p:nvPicPr>
        <p:blipFill>
          <a:blip r:embed="rId2"/>
          <a:stretch>
            <a:fillRect/>
          </a:stretch>
        </p:blipFill>
        <p:spPr>
          <a:xfrm>
            <a:off x="714375" y="4479426"/>
            <a:ext cx="3220436" cy="2238969"/>
          </a:xfrm>
          <a:prstGeom prst="rect">
            <a:avLst/>
          </a:prstGeom>
        </p:spPr>
      </p:pic>
      <p:pic>
        <p:nvPicPr>
          <p:cNvPr id="2097162" name="图片 9"/>
          <p:cNvPicPr>
            <a:picLocks noChangeAspect="1"/>
          </p:cNvPicPr>
          <p:nvPr/>
        </p:nvPicPr>
        <p:blipFill>
          <a:blip r:embed="rId3"/>
          <a:stretch>
            <a:fillRect/>
          </a:stretch>
        </p:blipFill>
        <p:spPr>
          <a:xfrm>
            <a:off x="4393139" y="4586472"/>
            <a:ext cx="3850198" cy="2024875"/>
          </a:xfrm>
          <a:prstGeom prst="rect">
            <a:avLst/>
          </a:prstGeom>
        </p:spPr>
      </p:pic>
      <p:pic>
        <p:nvPicPr>
          <p:cNvPr id="2097163" name="图片 10"/>
          <p:cNvPicPr>
            <a:picLocks noChangeAspect="1"/>
          </p:cNvPicPr>
          <p:nvPr/>
        </p:nvPicPr>
        <p:blipFill>
          <a:blip r:embed="rId4"/>
          <a:stretch>
            <a:fillRect/>
          </a:stretch>
        </p:blipFill>
        <p:spPr>
          <a:xfrm>
            <a:off x="8703183" y="4555606"/>
            <a:ext cx="3098292" cy="2086605"/>
          </a:xfrm>
          <a:prstGeom prst="rect">
            <a:avLst/>
          </a:prstGeom>
        </p:spPr>
      </p:pic>
      <p:pic>
        <p:nvPicPr>
          <p:cNvPr id="2097164" name="Picture 14"/>
          <p:cNvPicPr>
            <a:picLocks noChangeAspect="1" noChangeArrowheads="1"/>
          </p:cNvPicPr>
          <p:nvPr/>
        </p:nvPicPr>
        <p:blipFill>
          <a:blip r:embed="rId5"/>
          <a:srcRect/>
          <a:stretch>
            <a:fillRect/>
          </a:stretch>
        </p:blipFill>
        <p:spPr bwMode="auto">
          <a:xfrm>
            <a:off x="4017938" y="2495787"/>
            <a:ext cx="7090209" cy="1722921"/>
          </a:xfrm>
          <a:prstGeom prst="rect">
            <a:avLst/>
          </a:prstGeom>
          <a:noFill/>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4" name="标题 1"/>
          <p:cNvSpPr>
            <a:spLocks noGrp="1"/>
          </p:cNvSpPr>
          <p:nvPr>
            <p:ph type="title"/>
          </p:nvPr>
        </p:nvSpPr>
        <p:spPr/>
        <p:txBody>
          <a:bodyPr/>
          <a:lstStyle/>
          <a:p>
            <a:r>
              <a:rPr lang="en-US" altLang="zh-CN" dirty="0"/>
              <a:t>What is Attention</a:t>
            </a:r>
            <a:r>
              <a:rPr lang="x-none">
                <a:sym typeface="+mn-ea"/>
              </a:rPr>
              <a:t>? (4/4)</a:t>
            </a:r>
            <a:endParaRPr lang="en-US" altLang="zh-CN" dirty="0"/>
          </a:p>
        </p:txBody>
      </p:sp>
      <p:sp>
        <p:nvSpPr>
          <p:cNvPr id="1048695" name="灯片编号占位符 2"/>
          <p:cNvSpPr>
            <a:spLocks noGrp="1"/>
          </p:cNvSpPr>
          <p:nvPr>
            <p:ph type="sldNum" sz="quarter" idx="12"/>
          </p:nvPr>
        </p:nvSpPr>
        <p:spPr/>
        <p:txBody>
          <a:bodyPr/>
          <a:lstStyle/>
          <a:p>
            <a:fld id="{B33F7469-D28B-482F-B1B6-3B8E7CF51519}" type="slidenum">
              <a:rPr lang="zh-CN" altLang="en-US" smtClean="0"/>
              <a:t>8</a:t>
            </a:fld>
            <a:endParaRPr lang="zh-CN" altLang="en-US" dirty="0"/>
          </a:p>
        </p:txBody>
      </p:sp>
      <p:sp>
        <p:nvSpPr>
          <p:cNvPr id="1048696" name="内容占位符 3"/>
          <p:cNvSpPr>
            <a:spLocks noGrp="1"/>
          </p:cNvSpPr>
          <p:nvPr>
            <p:ph sz="quarter" idx="13"/>
          </p:nvPr>
        </p:nvSpPr>
        <p:spPr/>
        <p:txBody>
          <a:bodyPr/>
          <a:lstStyle/>
          <a:p>
            <a:r>
              <a:rPr lang="en-US" altLang="zh-CN" dirty="0"/>
              <a:t>Attention</a:t>
            </a:r>
          </a:p>
          <a:p>
            <a:endParaRPr lang="en-US" altLang="zh-CN" dirty="0"/>
          </a:p>
          <a:p>
            <a:endParaRPr lang="en-US" altLang="zh-CN" dirty="0"/>
          </a:p>
          <a:p>
            <a:pPr lvl="1"/>
            <a:endParaRPr lang="en-US" altLang="zh-CN" dirty="0"/>
          </a:p>
          <a:p>
            <a:pPr lvl="1"/>
            <a:r>
              <a:rPr lang="en-US" altLang="zh-CN" dirty="0"/>
              <a:t>Example</a:t>
            </a:r>
          </a:p>
          <a:p>
            <a:pPr lvl="1"/>
            <a:endParaRPr lang="zh-CN" altLang="en-US" dirty="0"/>
          </a:p>
        </p:txBody>
      </p:sp>
      <p:sp>
        <p:nvSpPr>
          <p:cNvPr id="1048697" name="页脚占位符 4"/>
          <p:cNvSpPr>
            <a:spLocks noGrp="1"/>
          </p:cNvSpPr>
          <p:nvPr>
            <p:ph type="ftr" sz="quarter" idx="11"/>
          </p:nvPr>
        </p:nvSpPr>
        <p:spPr/>
        <p:txBody>
          <a:bodyPr/>
          <a:lstStyle/>
          <a:p>
            <a:r>
              <a:rPr lang="en-US" altLang="zh-CN" dirty="0"/>
              <a:t>https://medium.com/@funcry/in-depth-understanding-of-attention-mechanism-part-ii-scaled-dot-product-attention-and-its-7743804e610e</a:t>
            </a:r>
            <a:endParaRPr lang="zh-CN" altLang="en-US" dirty="0"/>
          </a:p>
        </p:txBody>
      </p:sp>
      <p:sp>
        <p:nvSpPr>
          <p:cNvPr id="2" name="内容占位符 1"/>
          <p:cNvSpPr>
            <a:spLocks noGrp="1"/>
          </p:cNvSpPr>
          <p:nvPr>
            <p:ph sz="quarter" idx="14"/>
          </p:nvPr>
        </p:nvSpPr>
        <p:spPr/>
        <p:txBody>
          <a:bodyPr/>
          <a:lstStyle/>
          <a:p>
            <a:endParaRPr lang="zh-CN" altLang="en-US"/>
          </a:p>
        </p:txBody>
      </p:sp>
      <p:pic>
        <p:nvPicPr>
          <p:cNvPr id="2097165" name="Picture 2"/>
          <p:cNvPicPr>
            <a:picLocks noChangeAspect="1" noChangeArrowheads="1"/>
          </p:cNvPicPr>
          <p:nvPr/>
        </p:nvPicPr>
        <p:blipFill>
          <a:blip r:embed="rId3"/>
          <a:srcRect/>
          <a:stretch>
            <a:fillRect/>
          </a:stretch>
        </p:blipFill>
        <p:spPr bwMode="auto">
          <a:xfrm>
            <a:off x="1144990" y="1924641"/>
            <a:ext cx="3897858" cy="540132"/>
          </a:xfrm>
          <a:prstGeom prst="rect">
            <a:avLst/>
          </a:prstGeom>
          <a:noFill/>
        </p:spPr>
      </p:pic>
      <p:pic>
        <p:nvPicPr>
          <p:cNvPr id="2097166" name="Picture 4"/>
          <p:cNvPicPr>
            <a:picLocks noChangeAspect="1" noChangeArrowheads="1"/>
          </p:cNvPicPr>
          <p:nvPr/>
        </p:nvPicPr>
        <p:blipFill>
          <a:blip r:embed="rId4"/>
          <a:srcRect/>
          <a:stretch>
            <a:fillRect/>
          </a:stretch>
        </p:blipFill>
        <p:spPr bwMode="auto">
          <a:xfrm>
            <a:off x="2796295" y="2656195"/>
            <a:ext cx="1046331" cy="659157"/>
          </a:xfrm>
          <a:prstGeom prst="rect">
            <a:avLst/>
          </a:prstGeom>
          <a:noFill/>
        </p:spPr>
      </p:pic>
      <p:pic>
        <p:nvPicPr>
          <p:cNvPr id="2097167" name="Picture 2"/>
          <p:cNvPicPr>
            <a:picLocks noChangeAspect="1" noChangeArrowheads="1"/>
          </p:cNvPicPr>
          <p:nvPr/>
        </p:nvPicPr>
        <p:blipFill rotWithShape="1">
          <a:blip r:embed="rId3"/>
          <a:srcRect l="53793" r="22987"/>
          <a:stretch>
            <a:fillRect/>
          </a:stretch>
        </p:blipFill>
        <p:spPr bwMode="auto">
          <a:xfrm>
            <a:off x="1464857" y="2656195"/>
            <a:ext cx="924353" cy="551619"/>
          </a:xfrm>
          <a:prstGeom prst="rect">
            <a:avLst/>
          </a:prstGeom>
          <a:noFill/>
        </p:spPr>
      </p:pic>
      <p:sp>
        <p:nvSpPr>
          <p:cNvPr id="1048698" name="文本框 6"/>
          <p:cNvSpPr txBox="1">
            <a:spLocks noRot="1" noChangeAspect="1" noMove="1" noResize="1" noEditPoints="1" noAdjustHandles="1" noChangeArrowheads="1" noChangeShapeType="1" noTextEdit="1"/>
          </p:cNvSpPr>
          <p:nvPr/>
        </p:nvSpPr>
        <p:spPr>
          <a:xfrm>
            <a:off x="2463804" y="2782247"/>
            <a:ext cx="237244" cy="276999"/>
          </a:xfrm>
          <a:prstGeom prst="rect">
            <a:avLst/>
          </a:prstGeom>
          <a:blipFill>
            <a:blip r:embed="rId5"/>
            <a:stretch>
              <a:fillRect l="-7692" r="-7692"/>
            </a:stretch>
          </a:blipFill>
        </p:spPr>
        <p:txBody>
          <a:bodyPr/>
          <a:lstStyle/>
          <a:p>
            <a:r>
              <a:rPr lang="zh-CN" altLang="en-US">
                <a:noFill/>
              </a:rPr>
              <a:t> </a:t>
            </a:r>
          </a:p>
        </p:txBody>
      </p:sp>
      <p:pic>
        <p:nvPicPr>
          <p:cNvPr id="2097168" name="图片 9"/>
          <p:cNvPicPr>
            <a:picLocks noChangeAspect="1"/>
          </p:cNvPicPr>
          <p:nvPr/>
        </p:nvPicPr>
        <p:blipFill>
          <a:blip r:embed="rId6"/>
          <a:stretch>
            <a:fillRect/>
          </a:stretch>
        </p:blipFill>
        <p:spPr>
          <a:xfrm>
            <a:off x="1436875" y="4698696"/>
            <a:ext cx="3314087" cy="659156"/>
          </a:xfrm>
          <a:prstGeom prst="rect">
            <a:avLst/>
          </a:prstGeom>
        </p:spPr>
      </p:pic>
      <p:pic>
        <p:nvPicPr>
          <p:cNvPr id="2097169" name="Picture 6"/>
          <p:cNvPicPr>
            <a:picLocks noChangeAspect="1" noChangeArrowheads="1"/>
          </p:cNvPicPr>
          <p:nvPr/>
        </p:nvPicPr>
        <p:blipFill>
          <a:blip r:embed="rId7"/>
          <a:srcRect/>
          <a:stretch>
            <a:fillRect/>
          </a:stretch>
        </p:blipFill>
        <p:spPr bwMode="auto">
          <a:xfrm>
            <a:off x="6022769" y="3750470"/>
            <a:ext cx="1497836" cy="838788"/>
          </a:xfrm>
          <a:prstGeom prst="rect">
            <a:avLst/>
          </a:prstGeom>
          <a:noFill/>
        </p:spPr>
      </p:pic>
      <p:pic>
        <p:nvPicPr>
          <p:cNvPr id="2097170" name="Picture 8"/>
          <p:cNvPicPr>
            <a:picLocks noChangeAspect="1" noChangeArrowheads="1"/>
          </p:cNvPicPr>
          <p:nvPr/>
        </p:nvPicPr>
        <p:blipFill>
          <a:blip r:embed="rId8"/>
          <a:srcRect/>
          <a:stretch>
            <a:fillRect/>
          </a:stretch>
        </p:blipFill>
        <p:spPr bwMode="auto">
          <a:xfrm>
            <a:off x="2153735" y="3776289"/>
            <a:ext cx="2444429" cy="907931"/>
          </a:xfrm>
          <a:prstGeom prst="rect">
            <a:avLst/>
          </a:prstGeom>
          <a:noFill/>
        </p:spPr>
      </p:pic>
      <p:pic>
        <p:nvPicPr>
          <p:cNvPr id="2097171" name="Picture 10"/>
          <p:cNvPicPr>
            <a:picLocks noChangeAspect="1" noChangeArrowheads="1"/>
          </p:cNvPicPr>
          <p:nvPr/>
        </p:nvPicPr>
        <p:blipFill>
          <a:blip r:embed="rId9"/>
          <a:srcRect/>
          <a:stretch>
            <a:fillRect/>
          </a:stretch>
        </p:blipFill>
        <p:spPr bwMode="auto">
          <a:xfrm>
            <a:off x="5423825" y="4725186"/>
            <a:ext cx="5959852" cy="808837"/>
          </a:xfrm>
          <a:prstGeom prst="rect">
            <a:avLst/>
          </a:prstGeom>
          <a:noFill/>
        </p:spPr>
      </p:pic>
      <p:pic>
        <p:nvPicPr>
          <p:cNvPr id="2097172" name="Picture 12"/>
          <p:cNvPicPr>
            <a:picLocks noChangeAspect="1" noChangeArrowheads="1"/>
          </p:cNvPicPr>
          <p:nvPr/>
        </p:nvPicPr>
        <p:blipFill>
          <a:blip r:embed="rId10"/>
          <a:srcRect/>
          <a:stretch>
            <a:fillRect/>
          </a:stretch>
        </p:blipFill>
        <p:spPr bwMode="auto">
          <a:xfrm>
            <a:off x="2261118" y="5471468"/>
            <a:ext cx="2078585" cy="884883"/>
          </a:xfrm>
          <a:prstGeom prst="rect">
            <a:avLst/>
          </a:prstGeom>
          <a:noFill/>
        </p:spPr>
      </p:pic>
      <p:pic>
        <p:nvPicPr>
          <p:cNvPr id="2097173" name="Picture 14"/>
          <p:cNvPicPr>
            <a:picLocks noChangeAspect="1" noChangeArrowheads="1"/>
          </p:cNvPicPr>
          <p:nvPr/>
        </p:nvPicPr>
        <p:blipFill>
          <a:blip r:embed="rId11"/>
          <a:srcRect/>
          <a:stretch>
            <a:fillRect/>
          </a:stretch>
        </p:blipFill>
        <p:spPr bwMode="auto">
          <a:xfrm>
            <a:off x="5793901" y="1113550"/>
            <a:ext cx="6270127" cy="1523641"/>
          </a:xfrm>
          <a:prstGeom prst="rect">
            <a:avLst/>
          </a:prstGeom>
          <a:noFill/>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标题 1"/>
          <p:cNvSpPr>
            <a:spLocks noGrp="1"/>
          </p:cNvSpPr>
          <p:nvPr>
            <p:ph type="title"/>
          </p:nvPr>
        </p:nvSpPr>
        <p:spPr/>
        <p:txBody>
          <a:bodyPr/>
          <a:lstStyle/>
          <a:p>
            <a:r>
              <a:rPr lang="en-US" altLang="zh-CN"/>
              <a:t>Background: Transformer</a:t>
            </a:r>
            <a:r>
              <a:rPr lang="x-none"/>
              <a:t> (1/3)</a:t>
            </a:r>
            <a:endParaRPr lang="x-none" u="sng"/>
          </a:p>
        </p:txBody>
      </p:sp>
      <p:sp>
        <p:nvSpPr>
          <p:cNvPr id="1048703" name="灯片编号占位符 2"/>
          <p:cNvSpPr>
            <a:spLocks noGrp="1"/>
          </p:cNvSpPr>
          <p:nvPr>
            <p:ph type="sldNum" sz="quarter" idx="12"/>
          </p:nvPr>
        </p:nvSpPr>
        <p:spPr/>
        <p:txBody>
          <a:bodyPr/>
          <a:lstStyle/>
          <a:p>
            <a:r>
              <a:rPr lang="en-US" altLang="zh-CN" dirty="0"/>
              <a:t>8</a:t>
            </a:r>
          </a:p>
        </p:txBody>
      </p:sp>
      <p:sp>
        <p:nvSpPr>
          <p:cNvPr id="1048704" name="内容占位符 3"/>
          <p:cNvSpPr>
            <a:spLocks noGrp="1"/>
          </p:cNvSpPr>
          <p:nvPr>
            <p:ph sz="quarter" idx="13"/>
          </p:nvPr>
        </p:nvSpPr>
        <p:spPr/>
        <p:txBody>
          <a:bodyPr/>
          <a:lstStyle/>
          <a:p>
            <a:r>
              <a:rPr lang="en-US" altLang="zh-CN"/>
              <a:t>Encoder</a:t>
            </a:r>
          </a:p>
          <a:p>
            <a:pPr lvl="1"/>
            <a:r>
              <a:rPr lang="en-US" altLang="zh-CN"/>
              <a:t>Multi-Head Self-Attention Mechanism</a:t>
            </a:r>
          </a:p>
          <a:p>
            <a:pPr lvl="1"/>
            <a:r>
              <a:rPr lang="en-US" altLang="zh-CN"/>
              <a:t>Simple, Position-wise Feed-Forward Network</a:t>
            </a:r>
          </a:p>
        </p:txBody>
      </p:sp>
      <p:sp>
        <p:nvSpPr>
          <p:cNvPr id="1048705" name="页脚占位符 4"/>
          <p:cNvSpPr>
            <a:spLocks noGrp="1"/>
          </p:cNvSpPr>
          <p:nvPr>
            <p:ph type="ftr" sz="quarter" idx="11"/>
          </p:nvPr>
        </p:nvSpPr>
        <p:spPr/>
        <p:txBody>
          <a:bodyPr/>
          <a:lstStyle/>
          <a:p>
            <a:endParaRPr lang="zh-CN" altLang="en-US"/>
          </a:p>
        </p:txBody>
      </p:sp>
      <p:sp>
        <p:nvSpPr>
          <p:cNvPr id="1048706" name="内容占位符 5"/>
          <p:cNvSpPr>
            <a:spLocks noGrp="1"/>
          </p:cNvSpPr>
          <p:nvPr>
            <p:ph sz="quarter" idx="14"/>
          </p:nvPr>
        </p:nvSpPr>
        <p:spPr/>
        <p:txBody>
          <a:bodyPr/>
          <a:lstStyle/>
          <a:p>
            <a:r>
              <a:rPr lang="en-US" altLang="zh-CN"/>
              <a:t>Decoder</a:t>
            </a:r>
          </a:p>
          <a:p>
            <a:pPr lvl="1"/>
            <a:r>
              <a:rPr lang="en-US" altLang="zh-CN"/>
              <a:t>Masked Self-Attention</a:t>
            </a:r>
          </a:p>
          <a:p>
            <a:pPr lvl="1"/>
            <a:r>
              <a:rPr lang="en-US" altLang="zh-CN"/>
              <a:t>Encoder-Decoder Attention</a:t>
            </a:r>
          </a:p>
          <a:p>
            <a:pPr lvl="1"/>
            <a:r>
              <a:rPr lang="en-US" altLang="zh-CN"/>
              <a:t>Feed-Forward Network</a:t>
            </a:r>
          </a:p>
        </p:txBody>
      </p:sp>
      <p:pic>
        <p:nvPicPr>
          <p:cNvPr id="2097174" name="图片 7"/>
          <p:cNvPicPr>
            <a:picLocks noChangeAspect="1"/>
          </p:cNvPicPr>
          <p:nvPr/>
        </p:nvPicPr>
        <p:blipFill>
          <a:blip r:embed="rId3"/>
          <a:stretch>
            <a:fillRect/>
          </a:stretch>
        </p:blipFill>
        <p:spPr>
          <a:xfrm>
            <a:off x="1029128" y="3120022"/>
            <a:ext cx="4464096" cy="2187820"/>
          </a:xfrm>
          <a:prstGeom prst="rect">
            <a:avLst/>
          </a:prstGeom>
        </p:spPr>
      </p:pic>
      <p:pic>
        <p:nvPicPr>
          <p:cNvPr id="2097175" name="图片 9"/>
          <p:cNvPicPr>
            <a:picLocks noChangeAspect="1"/>
          </p:cNvPicPr>
          <p:nvPr/>
        </p:nvPicPr>
        <p:blipFill>
          <a:blip r:embed="rId4"/>
          <a:stretch>
            <a:fillRect/>
          </a:stretch>
        </p:blipFill>
        <p:spPr>
          <a:xfrm>
            <a:off x="5981704" y="3718825"/>
            <a:ext cx="6001935" cy="1833736"/>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0" name="标题 1"/>
          <p:cNvSpPr>
            <a:spLocks noGrp="1"/>
          </p:cNvSpPr>
          <p:nvPr>
            <p:ph type="title"/>
          </p:nvPr>
        </p:nvSpPr>
        <p:spPr/>
        <p:txBody>
          <a:bodyPr/>
          <a:lstStyle/>
          <a:p>
            <a:r>
              <a:rPr lang="en-US" altLang="zh-CN"/>
              <a:t>Background: Transformer</a:t>
            </a:r>
            <a:r>
              <a:rPr lang="x-none">
                <a:sym typeface="+mn-ea"/>
              </a:rPr>
              <a:t> (2/3)</a:t>
            </a:r>
            <a:endParaRPr lang="en-US" altLang="zh-CN"/>
          </a:p>
        </p:txBody>
      </p:sp>
      <p:sp>
        <p:nvSpPr>
          <p:cNvPr id="1048711" name="灯片编号占位符 2"/>
          <p:cNvSpPr>
            <a:spLocks noGrp="1"/>
          </p:cNvSpPr>
          <p:nvPr>
            <p:ph type="sldNum" sz="quarter" idx="12"/>
          </p:nvPr>
        </p:nvSpPr>
        <p:spPr/>
        <p:txBody>
          <a:bodyPr/>
          <a:lstStyle/>
          <a:p>
            <a:r>
              <a:rPr lang="en-US" altLang="zh-CN" dirty="0"/>
              <a:t>9</a:t>
            </a:r>
          </a:p>
        </p:txBody>
      </p:sp>
      <p:sp>
        <p:nvSpPr>
          <p:cNvPr id="1048712" name="内容占位符 3"/>
          <p:cNvSpPr>
            <a:spLocks noGrp="1"/>
          </p:cNvSpPr>
          <p:nvPr>
            <p:ph sz="quarter" idx="13"/>
          </p:nvPr>
        </p:nvSpPr>
        <p:spPr/>
        <p:txBody>
          <a:bodyPr/>
          <a:lstStyle/>
          <a:p>
            <a:r>
              <a:rPr lang="en-US" altLang="zh-CN"/>
              <a:t>Tensors</a:t>
            </a:r>
          </a:p>
        </p:txBody>
      </p:sp>
      <p:sp>
        <p:nvSpPr>
          <p:cNvPr id="1048713" name="页脚占位符 4"/>
          <p:cNvSpPr>
            <a:spLocks noGrp="1"/>
          </p:cNvSpPr>
          <p:nvPr>
            <p:ph type="ftr" sz="quarter" idx="11"/>
          </p:nvPr>
        </p:nvSpPr>
        <p:spPr/>
        <p:txBody>
          <a:bodyPr/>
          <a:lstStyle/>
          <a:p>
            <a:endParaRPr lang="zh-CN" altLang="en-US"/>
          </a:p>
        </p:txBody>
      </p:sp>
      <p:sp>
        <p:nvSpPr>
          <p:cNvPr id="1048714" name="内容占位符 5"/>
          <p:cNvSpPr>
            <a:spLocks noGrp="1"/>
          </p:cNvSpPr>
          <p:nvPr>
            <p:ph sz="quarter" idx="14"/>
          </p:nvPr>
        </p:nvSpPr>
        <p:spPr/>
        <p:txBody>
          <a:bodyPr/>
          <a:lstStyle/>
          <a:p>
            <a:r>
              <a:rPr lang="en-US" altLang="zh-CN"/>
              <a:t>Encoding Flow</a:t>
            </a:r>
          </a:p>
          <a:p>
            <a:pPr lvl="1"/>
            <a:r>
              <a:rPr lang="en-US" altLang="zh-CN"/>
              <a:t>Dependent paths in self-attention layer</a:t>
            </a:r>
          </a:p>
          <a:p>
            <a:pPr lvl="1"/>
            <a:r>
              <a:rPr lang="en-US" altLang="zh-CN"/>
              <a:t>Interdependent paths in feed-forward layer</a:t>
            </a:r>
          </a:p>
        </p:txBody>
      </p:sp>
      <p:pic>
        <p:nvPicPr>
          <p:cNvPr id="2097176" name="图片 7"/>
          <p:cNvPicPr>
            <a:picLocks noChangeAspect="1"/>
          </p:cNvPicPr>
          <p:nvPr/>
        </p:nvPicPr>
        <p:blipFill>
          <a:blip r:embed="rId3"/>
          <a:stretch>
            <a:fillRect/>
          </a:stretch>
        </p:blipFill>
        <p:spPr>
          <a:xfrm>
            <a:off x="876975" y="1962301"/>
            <a:ext cx="4950619" cy="683505"/>
          </a:xfrm>
          <a:prstGeom prst="rect">
            <a:avLst/>
          </a:prstGeom>
        </p:spPr>
      </p:pic>
      <p:pic>
        <p:nvPicPr>
          <p:cNvPr id="2097177" name="图片 9"/>
          <p:cNvPicPr>
            <a:picLocks noChangeAspect="1"/>
          </p:cNvPicPr>
          <p:nvPr/>
        </p:nvPicPr>
        <p:blipFill>
          <a:blip r:embed="rId4"/>
          <a:stretch>
            <a:fillRect/>
          </a:stretch>
        </p:blipFill>
        <p:spPr>
          <a:xfrm>
            <a:off x="692349" y="2789538"/>
            <a:ext cx="5289355" cy="3434047"/>
          </a:xfrm>
          <a:prstGeom prst="rect">
            <a:avLst/>
          </a:prstGeom>
        </p:spPr>
      </p:pic>
      <p:pic>
        <p:nvPicPr>
          <p:cNvPr id="2097178" name="图片 11"/>
          <p:cNvPicPr>
            <a:picLocks noChangeAspect="1"/>
          </p:cNvPicPr>
          <p:nvPr/>
        </p:nvPicPr>
        <p:blipFill>
          <a:blip r:embed="rId5"/>
          <a:stretch>
            <a:fillRect/>
          </a:stretch>
        </p:blipFill>
        <p:spPr>
          <a:xfrm>
            <a:off x="6288563" y="2852436"/>
            <a:ext cx="5434644" cy="3414222"/>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8" name="标题 1"/>
          <p:cNvSpPr>
            <a:spLocks noGrp="1"/>
          </p:cNvSpPr>
          <p:nvPr>
            <p:ph type="title"/>
          </p:nvPr>
        </p:nvSpPr>
        <p:spPr/>
        <p:txBody>
          <a:bodyPr/>
          <a:lstStyle/>
          <a:p>
            <a:r>
              <a:rPr lang="en-US" altLang="zh-CN"/>
              <a:t>Background: Transformer</a:t>
            </a:r>
            <a:r>
              <a:rPr lang="x-none">
                <a:sym typeface="+mn-ea"/>
              </a:rPr>
              <a:t> (3/3)</a:t>
            </a:r>
            <a:endParaRPr lang="en-US" altLang="zh-CN"/>
          </a:p>
        </p:txBody>
      </p:sp>
      <p:sp>
        <p:nvSpPr>
          <p:cNvPr id="1048721" name="页脚占位符 4"/>
          <p:cNvSpPr>
            <a:spLocks noGrp="1"/>
          </p:cNvSpPr>
          <p:nvPr>
            <p:ph type="ftr" sz="quarter" idx="11"/>
          </p:nvPr>
        </p:nvSpPr>
        <p:spPr/>
        <p:txBody>
          <a:bodyPr/>
          <a:lstStyle/>
          <a:p>
            <a:endParaRPr lang="zh-CN" altLang="en-US"/>
          </a:p>
        </p:txBody>
      </p:sp>
      <p:sp>
        <p:nvSpPr>
          <p:cNvPr id="1048719" name="灯片编号占位符 2"/>
          <p:cNvSpPr>
            <a:spLocks noGrp="1"/>
          </p:cNvSpPr>
          <p:nvPr>
            <p:ph type="sldNum" sz="quarter" idx="12"/>
          </p:nvPr>
        </p:nvSpPr>
        <p:spPr/>
        <p:txBody>
          <a:bodyPr/>
          <a:lstStyle/>
          <a:p>
            <a:r>
              <a:rPr lang="en-US" altLang="zh-CN" dirty="0"/>
              <a:t>10</a:t>
            </a:r>
          </a:p>
        </p:txBody>
      </p:sp>
      <p:sp>
        <p:nvSpPr>
          <p:cNvPr id="1048720" name="内容占位符 3"/>
          <p:cNvSpPr>
            <a:spLocks noGrp="1"/>
          </p:cNvSpPr>
          <p:nvPr>
            <p:ph sz="quarter" idx="13"/>
          </p:nvPr>
        </p:nvSpPr>
        <p:spPr/>
        <p:txBody>
          <a:bodyPr/>
          <a:lstStyle/>
          <a:p>
            <a:r>
              <a:rPr lang="en-US" altLang="zh-CN"/>
              <a:t>Self-Attention at a High Level</a:t>
            </a:r>
          </a:p>
          <a:p>
            <a:pPr lvl="1"/>
            <a:r>
              <a:rPr lang="en-US" altLang="zh-CN"/>
              <a:t>The animal didn't cross the street because it was too tired</a:t>
            </a:r>
          </a:p>
        </p:txBody>
      </p:sp>
      <p:pic>
        <p:nvPicPr>
          <p:cNvPr id="2097179" name="图片 7"/>
          <p:cNvPicPr>
            <a:picLocks noChangeAspect="1"/>
          </p:cNvPicPr>
          <p:nvPr/>
        </p:nvPicPr>
        <p:blipFill>
          <a:blip r:embed="rId3"/>
          <a:stretch>
            <a:fillRect/>
          </a:stretch>
        </p:blipFill>
        <p:spPr>
          <a:xfrm>
            <a:off x="1760466" y="2213386"/>
            <a:ext cx="4080775" cy="3792611"/>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标题 1"/>
          <p:cNvSpPr>
            <a:spLocks noGrp="1"/>
          </p:cNvSpPr>
          <p:nvPr>
            <p:ph type="title"/>
          </p:nvPr>
        </p:nvSpPr>
        <p:spPr/>
        <p:txBody>
          <a:bodyPr/>
          <a:lstStyle/>
          <a:p>
            <a:r>
              <a:rPr lang="en-US" altLang="zh-CN" dirty="0"/>
              <a:t>Q/K/V Matrices</a:t>
            </a:r>
            <a:r>
              <a:rPr lang="x-none" dirty="0"/>
              <a:t> (1/2)</a:t>
            </a:r>
          </a:p>
        </p:txBody>
      </p:sp>
      <p:sp>
        <p:nvSpPr>
          <p:cNvPr id="1048727" name="页脚占位符 3"/>
          <p:cNvSpPr>
            <a:spLocks noGrp="1"/>
          </p:cNvSpPr>
          <p:nvPr>
            <p:ph type="ftr" sz="quarter" idx="11"/>
          </p:nvPr>
        </p:nvSpPr>
        <p:spPr/>
        <p:txBody>
          <a:bodyPr/>
          <a:lstStyle/>
          <a:p>
            <a:endParaRPr lang="zh-CN" altLang="en-US" dirty="0"/>
          </a:p>
        </p:txBody>
      </p:sp>
      <p:sp>
        <p:nvSpPr>
          <p:cNvPr id="1048728" name="灯片编号占位符 4"/>
          <p:cNvSpPr>
            <a:spLocks noGrp="1"/>
          </p:cNvSpPr>
          <p:nvPr>
            <p:ph type="sldNum" sz="quarter" idx="12"/>
          </p:nvPr>
        </p:nvSpPr>
        <p:spPr/>
        <p:txBody>
          <a:bodyPr/>
          <a:lstStyle/>
          <a:p>
            <a:fld id="{B33F7469-D28B-482F-B1B6-3B8E7CF51519}" type="slidenum">
              <a:rPr lang="zh-CN" altLang="en-US" smtClean="0"/>
              <a:t>12</a:t>
            </a:fld>
            <a:endParaRPr lang="zh-CN" altLang="en-US" dirty="0"/>
          </a:p>
        </p:txBody>
      </p:sp>
      <p:sp>
        <p:nvSpPr>
          <p:cNvPr id="1048726" name="内容占位符 2"/>
          <p:cNvSpPr>
            <a:spLocks noGrp="1"/>
          </p:cNvSpPr>
          <p:nvPr>
            <p:ph sz="quarter" idx="13"/>
          </p:nvPr>
        </p:nvSpPr>
        <p:spPr/>
        <p:txBody>
          <a:bodyPr/>
          <a:lstStyle/>
          <a:p>
            <a:r>
              <a:rPr lang="en-US" altLang="zh-CN" dirty="0"/>
              <a:t>Self-Attention as Information Retrieval</a:t>
            </a:r>
          </a:p>
          <a:p>
            <a:r>
              <a:rPr lang="en-US" altLang="zh-CN" dirty="0"/>
              <a:t>The Triplets: </a:t>
            </a:r>
          </a:p>
          <a:p>
            <a:pPr lvl="1"/>
            <a:r>
              <a:rPr lang="en-US" altLang="zh-CN" dirty="0"/>
              <a:t>Each token is transformed into three vectors</a:t>
            </a:r>
          </a:p>
          <a:p>
            <a:pPr lvl="1"/>
            <a:r>
              <a:rPr lang="en-US" altLang="zh-CN" dirty="0"/>
              <a:t>Query (Q): “What am I looking for?”</a:t>
            </a:r>
          </a:p>
          <a:p>
            <a:pPr lvl="1"/>
            <a:r>
              <a:rPr lang="en-US" altLang="zh-CN" dirty="0"/>
              <a:t>Key (K): “What information do I contain?”</a:t>
            </a:r>
          </a:p>
          <a:p>
            <a:pPr lvl="1"/>
            <a:r>
              <a:rPr lang="en-US" altLang="zh-CN" dirty="0"/>
              <a:t>Value (V): “What is the actual content I offer?”</a:t>
            </a:r>
          </a:p>
          <a:p>
            <a:r>
              <a:rPr lang="en-US" altLang="zh-CN" dirty="0"/>
              <a:t>The Mechanism:</a:t>
            </a:r>
          </a:p>
          <a:p>
            <a:pPr lvl="1"/>
            <a:r>
              <a:rPr lang="en-US" altLang="zh-CN" dirty="0"/>
              <a:t>Similarity: Compute the compatibility between the Query of the current token and the Keys of all other tokens.</a:t>
            </a:r>
          </a:p>
          <a:p>
            <a:pPr lvl="1"/>
            <a:r>
              <a:rPr lang="en-US" altLang="zh-CN" dirty="0"/>
              <a:t>Weights: Pass the scores through a </a:t>
            </a:r>
            <a:r>
              <a:rPr lang="en-US" altLang="zh-CN" dirty="0" err="1"/>
              <a:t>Softmax</a:t>
            </a:r>
            <a:r>
              <a:rPr lang="en-US" altLang="zh-CN" dirty="0"/>
              <a:t> function to get attention weights.</a:t>
            </a:r>
          </a:p>
          <a:p>
            <a:pPr lvl="1"/>
            <a:r>
              <a:rPr lang="en-US" altLang="zh-CN" dirty="0"/>
              <a:t>Output: The final representation is a weighted sum of the Values.</a:t>
            </a:r>
            <a:endParaRPr lang="zh-CN" altLang="en-US" dirty="0"/>
          </a:p>
        </p:txBody>
      </p:sp>
      <p:pic>
        <p:nvPicPr>
          <p:cNvPr id="2097180" name="图片 6"/>
          <p:cNvPicPr>
            <a:picLocks noChangeAspect="1"/>
          </p:cNvPicPr>
          <p:nvPr/>
        </p:nvPicPr>
        <p:blipFill>
          <a:blip r:embed="rId2"/>
          <a:stretch>
            <a:fillRect/>
          </a:stretch>
        </p:blipFill>
        <p:spPr>
          <a:xfrm>
            <a:off x="6162673" y="1132554"/>
            <a:ext cx="5771277" cy="1100570"/>
          </a:xfrm>
          <a:prstGeom prst="rect">
            <a:avLst/>
          </a:prstGeom>
        </p:spPr>
      </p:pic>
      <p:pic>
        <p:nvPicPr>
          <p:cNvPr id="2097181" name="Picture 14"/>
          <p:cNvPicPr>
            <a:picLocks noChangeAspect="1" noChangeArrowheads="1"/>
          </p:cNvPicPr>
          <p:nvPr/>
        </p:nvPicPr>
        <p:blipFill>
          <a:blip r:embed="rId3"/>
          <a:srcRect/>
          <a:stretch>
            <a:fillRect/>
          </a:stretch>
        </p:blipFill>
        <p:spPr bwMode="auto">
          <a:xfrm>
            <a:off x="6415482" y="2546513"/>
            <a:ext cx="4838131" cy="1175666"/>
          </a:xfrm>
          <a:prstGeom prst="rect">
            <a:avLst/>
          </a:prstGeom>
          <a:noFill/>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标题 1"/>
          <p:cNvSpPr>
            <a:spLocks noGrp="1"/>
          </p:cNvSpPr>
          <p:nvPr>
            <p:ph type="title"/>
          </p:nvPr>
        </p:nvSpPr>
        <p:spPr/>
        <p:txBody>
          <a:bodyPr/>
          <a:lstStyle/>
          <a:p>
            <a:r>
              <a:rPr lang="en-US" altLang="zh-CN" dirty="0"/>
              <a:t>Q/K/V Matrices</a:t>
            </a:r>
            <a:r>
              <a:rPr lang="x-none">
                <a:sym typeface="+mn-ea"/>
              </a:rPr>
              <a:t> (2/2)</a:t>
            </a:r>
            <a:endParaRPr lang="zh-CN" altLang="en-US" dirty="0"/>
          </a:p>
        </p:txBody>
      </p:sp>
      <p:sp>
        <p:nvSpPr>
          <p:cNvPr id="1048730" name="灯片编号占位符 2"/>
          <p:cNvSpPr>
            <a:spLocks noGrp="1"/>
          </p:cNvSpPr>
          <p:nvPr>
            <p:ph type="sldNum" sz="quarter" idx="12"/>
          </p:nvPr>
        </p:nvSpPr>
        <p:spPr/>
        <p:txBody>
          <a:bodyPr/>
          <a:lstStyle/>
          <a:p>
            <a:fld id="{B33F7469-D28B-482F-B1B6-3B8E7CF51519}" type="slidenum">
              <a:rPr lang="zh-CN" altLang="en-US" smtClean="0"/>
              <a:t>13</a:t>
            </a:fld>
            <a:endParaRPr lang="zh-CN" altLang="en-US" dirty="0"/>
          </a:p>
        </p:txBody>
      </p:sp>
      <p:sp>
        <p:nvSpPr>
          <p:cNvPr id="1048731" name="内容占位符 3"/>
          <p:cNvSpPr>
            <a:spLocks noGrp="1"/>
          </p:cNvSpPr>
          <p:nvPr>
            <p:ph sz="quarter" idx="13"/>
          </p:nvPr>
        </p:nvSpPr>
        <p:spPr/>
        <p:txBody>
          <a:bodyPr/>
          <a:lstStyle/>
          <a:p>
            <a:r>
              <a:rPr lang="en-US" altLang="zh-CN" dirty="0"/>
              <a:t>Create Query, Key and Value</a:t>
            </a:r>
          </a:p>
          <a:p>
            <a:pPr lvl="1"/>
            <a:r>
              <a:rPr lang="en-US" altLang="zh-CN" dirty="0"/>
              <a:t>Query: The </a:t>
            </a:r>
            <a:r>
              <a:rPr lang="en-US" altLang="zh-CN" b="1" dirty="0"/>
              <a:t>current token’s “question”</a:t>
            </a:r>
            <a:r>
              <a:rPr lang="en-US" altLang="zh-CN" dirty="0"/>
              <a:t> to all others about relevance.</a:t>
            </a:r>
          </a:p>
          <a:p>
            <a:pPr lvl="1"/>
            <a:r>
              <a:rPr lang="en-US" altLang="zh-CN" dirty="0"/>
              <a:t>Key: The </a:t>
            </a:r>
            <a:r>
              <a:rPr lang="en-US" altLang="zh-CN" b="1" dirty="0"/>
              <a:t>token’s identifying information</a:t>
            </a:r>
            <a:r>
              <a:rPr lang="en-US" altLang="zh-CN" dirty="0"/>
              <a:t> to answer the “question. ”</a:t>
            </a:r>
          </a:p>
          <a:p>
            <a:pPr lvl="1"/>
            <a:r>
              <a:rPr lang="en-US" altLang="zh-CN" dirty="0"/>
              <a:t>Value: The </a:t>
            </a:r>
            <a:r>
              <a:rPr lang="en-US" altLang="zh-CN" b="1" dirty="0"/>
              <a:t>token’s content</a:t>
            </a:r>
            <a:r>
              <a:rPr lang="en-US" altLang="zh-CN" dirty="0"/>
              <a:t> to be passed through (weighted) to the output.</a:t>
            </a:r>
            <a:endParaRPr lang="zh-CN" altLang="en-US" dirty="0"/>
          </a:p>
        </p:txBody>
      </p:sp>
      <p:sp>
        <p:nvSpPr>
          <p:cNvPr id="1048732" name="页脚占位符 4"/>
          <p:cNvSpPr>
            <a:spLocks noGrp="1"/>
          </p:cNvSpPr>
          <p:nvPr>
            <p:ph type="ftr" sz="quarter" idx="11"/>
          </p:nvPr>
        </p:nvSpPr>
        <p:spPr/>
        <p:txBody>
          <a:bodyPr/>
          <a:lstStyle/>
          <a:p>
            <a:endParaRPr lang="zh-CN" altLang="en-US" dirty="0"/>
          </a:p>
        </p:txBody>
      </p:sp>
      <p:sp>
        <p:nvSpPr>
          <p:cNvPr id="1048733" name="内容占位符 5"/>
          <p:cNvSpPr>
            <a:spLocks noGrp="1"/>
          </p:cNvSpPr>
          <p:nvPr>
            <p:ph sz="quarter" idx="14"/>
          </p:nvPr>
        </p:nvSpPr>
        <p:spPr/>
        <p:txBody>
          <a:bodyPr/>
          <a:lstStyle/>
          <a:p>
            <a:r>
              <a:rPr lang="en-US" altLang="zh-CN" dirty="0"/>
              <a:t>Score and Weight</a:t>
            </a:r>
            <a:endParaRPr lang="zh-CN" altLang="en-US" dirty="0"/>
          </a:p>
        </p:txBody>
      </p:sp>
      <p:pic>
        <p:nvPicPr>
          <p:cNvPr id="2097182" name="图片 7"/>
          <p:cNvPicPr>
            <a:picLocks noChangeAspect="1"/>
          </p:cNvPicPr>
          <p:nvPr/>
        </p:nvPicPr>
        <p:blipFill>
          <a:blip r:embed="rId3"/>
          <a:stretch>
            <a:fillRect/>
          </a:stretch>
        </p:blipFill>
        <p:spPr>
          <a:xfrm>
            <a:off x="1030469" y="4018047"/>
            <a:ext cx="4556252" cy="2717076"/>
          </a:xfrm>
          <a:prstGeom prst="rect">
            <a:avLst/>
          </a:prstGeom>
        </p:spPr>
      </p:pic>
      <p:pic>
        <p:nvPicPr>
          <p:cNvPr id="2097183" name="图片 9"/>
          <p:cNvPicPr>
            <a:picLocks noChangeAspect="1"/>
          </p:cNvPicPr>
          <p:nvPr/>
        </p:nvPicPr>
        <p:blipFill>
          <a:blip r:embed="rId4"/>
          <a:stretch>
            <a:fillRect/>
          </a:stretch>
        </p:blipFill>
        <p:spPr>
          <a:xfrm>
            <a:off x="6670099" y="1951583"/>
            <a:ext cx="4671572" cy="4783540"/>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7" name="标题 1"/>
          <p:cNvSpPr>
            <a:spLocks noGrp="1"/>
          </p:cNvSpPr>
          <p:nvPr>
            <p:ph type="title"/>
          </p:nvPr>
        </p:nvSpPr>
        <p:spPr/>
        <p:txBody>
          <a:bodyPr/>
          <a:lstStyle/>
          <a:p>
            <a:r>
              <a:rPr lang="en-US" altLang="zh-CN" dirty="0"/>
              <a:t>Computation Pipeline of </a:t>
            </a:r>
            <a:r>
              <a:rPr lang="en-US" altLang="zh-CN" i="1" dirty="0"/>
              <a:t>Attention(Q, K, V)</a:t>
            </a:r>
            <a:endParaRPr lang="zh-CN" altLang="en-US" dirty="0"/>
          </a:p>
        </p:txBody>
      </p:sp>
      <p:sp>
        <p:nvSpPr>
          <p:cNvPr id="1048738" name="灯片编号占位符 2"/>
          <p:cNvSpPr>
            <a:spLocks noGrp="1"/>
          </p:cNvSpPr>
          <p:nvPr>
            <p:ph type="sldNum" sz="quarter" idx="12"/>
          </p:nvPr>
        </p:nvSpPr>
        <p:spPr/>
        <p:txBody>
          <a:bodyPr/>
          <a:lstStyle/>
          <a:p>
            <a:fld id="{B33F7469-D28B-482F-B1B6-3B8E7CF51519}" type="slidenum">
              <a:rPr lang="zh-CN" altLang="en-US" smtClean="0"/>
              <a:t>14</a:t>
            </a:fld>
            <a:endParaRPr lang="zh-CN" altLang="en-US" dirty="0"/>
          </a:p>
        </p:txBody>
      </p:sp>
      <p:sp>
        <p:nvSpPr>
          <p:cNvPr id="1048739" name="内容占位符 3"/>
          <p:cNvSpPr>
            <a:spLocks noGrp="1"/>
          </p:cNvSpPr>
          <p:nvPr>
            <p:ph sz="quarter" idx="13"/>
          </p:nvPr>
        </p:nvSpPr>
        <p:spPr/>
        <p:txBody>
          <a:bodyPr/>
          <a:lstStyle/>
          <a:p>
            <a:r>
              <a:rPr lang="en-US" altLang="zh-CN" dirty="0">
                <a:solidFill>
                  <a:srgbClr val="222222"/>
                </a:solidFill>
                <a:latin typeface="Helvetica" pitchFamily="34" charset="0"/>
              </a:rPr>
              <a:t>C</a:t>
            </a:r>
            <a:r>
              <a:rPr lang="en-US" altLang="zh-CN" b="0" i="0" dirty="0">
                <a:solidFill>
                  <a:srgbClr val="222222"/>
                </a:solidFill>
                <a:effectLst/>
                <a:latin typeface="Helvetica" pitchFamily="34" charset="0"/>
              </a:rPr>
              <a:t>alculate Query, Key, and Value matrices</a:t>
            </a:r>
            <a:endParaRPr lang="zh-CN" altLang="en-US" dirty="0"/>
          </a:p>
        </p:txBody>
      </p:sp>
      <p:sp>
        <p:nvSpPr>
          <p:cNvPr id="1048740" name="页脚占位符 4"/>
          <p:cNvSpPr>
            <a:spLocks noGrp="1"/>
          </p:cNvSpPr>
          <p:nvPr>
            <p:ph type="ftr" sz="quarter" idx="11"/>
          </p:nvPr>
        </p:nvSpPr>
        <p:spPr/>
        <p:txBody>
          <a:bodyPr/>
          <a:lstStyle/>
          <a:p>
            <a:endParaRPr lang="zh-CN" altLang="en-US" dirty="0"/>
          </a:p>
        </p:txBody>
      </p:sp>
      <p:sp>
        <p:nvSpPr>
          <p:cNvPr id="1048741" name="内容占位符 5"/>
          <p:cNvSpPr>
            <a:spLocks noGrp="1"/>
          </p:cNvSpPr>
          <p:nvPr>
            <p:ph sz="quarter" idx="14"/>
          </p:nvPr>
        </p:nvSpPr>
        <p:spPr/>
        <p:txBody>
          <a:bodyPr/>
          <a:lstStyle/>
          <a:p>
            <a:r>
              <a:rPr lang="en-US" altLang="zh-CN" dirty="0"/>
              <a:t>Score and Weight</a:t>
            </a:r>
            <a:endParaRPr lang="zh-CN" altLang="en-US" dirty="0"/>
          </a:p>
        </p:txBody>
      </p:sp>
      <p:pic>
        <p:nvPicPr>
          <p:cNvPr id="2097184" name="图片 8"/>
          <p:cNvPicPr>
            <a:picLocks noChangeAspect="1"/>
          </p:cNvPicPr>
          <p:nvPr/>
        </p:nvPicPr>
        <p:blipFill>
          <a:blip r:embed="rId3"/>
          <a:stretch>
            <a:fillRect/>
          </a:stretch>
        </p:blipFill>
        <p:spPr>
          <a:xfrm>
            <a:off x="1014095" y="2135505"/>
            <a:ext cx="3653155" cy="4220845"/>
          </a:xfrm>
          <a:prstGeom prst="rect">
            <a:avLst/>
          </a:prstGeom>
        </p:spPr>
      </p:pic>
      <p:pic>
        <p:nvPicPr>
          <p:cNvPr id="2097185" name="图片 10"/>
          <p:cNvPicPr>
            <a:picLocks noChangeAspect="1"/>
          </p:cNvPicPr>
          <p:nvPr/>
        </p:nvPicPr>
        <p:blipFill>
          <a:blip r:embed="rId4"/>
          <a:stretch>
            <a:fillRect/>
          </a:stretch>
        </p:blipFill>
        <p:spPr>
          <a:xfrm>
            <a:off x="6663734" y="2975212"/>
            <a:ext cx="4810906" cy="2238089"/>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标题 1"/>
          <p:cNvSpPr>
            <a:spLocks noGrp="1"/>
          </p:cNvSpPr>
          <p:nvPr>
            <p:ph type="title"/>
          </p:nvPr>
        </p:nvSpPr>
        <p:spPr/>
        <p:txBody>
          <a:bodyPr/>
          <a:lstStyle/>
          <a:p>
            <a:r>
              <a:rPr lang="en-US" altLang="zh-CN"/>
              <a:t>Transformer: Multi-Headed Attention</a:t>
            </a:r>
            <a:r>
              <a:rPr lang="x-none">
                <a:sym typeface="+mn-ea"/>
              </a:rPr>
              <a:t> (1/2)</a:t>
            </a:r>
            <a:endParaRPr lang="en-US" altLang="zh-CN"/>
          </a:p>
        </p:txBody>
      </p:sp>
      <p:sp>
        <p:nvSpPr>
          <p:cNvPr id="1048819" name="灯片编号占位符 4"/>
          <p:cNvSpPr>
            <a:spLocks noGrp="1"/>
          </p:cNvSpPr>
          <p:nvPr>
            <p:ph type="sldNum" sz="quarter" idx="12"/>
          </p:nvPr>
        </p:nvSpPr>
        <p:spPr/>
        <p:txBody>
          <a:bodyPr/>
          <a:lstStyle/>
          <a:p>
            <a:fld id="{B33F7469-D28B-482F-B1B6-3B8E7CF51519}" type="slidenum">
              <a:rPr lang="zh-CN" altLang="en-US" smtClean="0"/>
              <a:t>15</a:t>
            </a:fld>
            <a:endParaRPr lang="zh-CN" altLang="en-US" dirty="0"/>
          </a:p>
        </p:txBody>
      </p:sp>
      <p:sp>
        <p:nvSpPr>
          <p:cNvPr id="1048747" name="内容占位符 3"/>
          <p:cNvSpPr>
            <a:spLocks noGrp="1"/>
          </p:cNvSpPr>
          <p:nvPr>
            <p:ph sz="quarter" idx="13"/>
          </p:nvPr>
        </p:nvSpPr>
        <p:spPr/>
        <p:txBody>
          <a:bodyPr/>
          <a:lstStyle/>
          <a:p>
            <a:r>
              <a:rPr lang="en-US" altLang="zh-CN"/>
              <a:t>Multi-Headed Attention</a:t>
            </a:r>
          </a:p>
          <a:p>
            <a:pPr lvl="1"/>
            <a:r>
              <a:rPr lang="en-US" altLang="zh-CN"/>
              <a:t>Expands the model’s ability to focus on different positions</a:t>
            </a:r>
          </a:p>
          <a:p>
            <a:pPr lvl="1"/>
            <a:r>
              <a:rPr lang="en-US" altLang="zh-CN"/>
              <a:t>Gives the attention layer multiple “representation subspaces”</a:t>
            </a:r>
          </a:p>
        </p:txBody>
      </p:sp>
      <p:sp>
        <p:nvSpPr>
          <p:cNvPr id="1048748" name="页脚占位符 4"/>
          <p:cNvSpPr>
            <a:spLocks noGrp="1"/>
          </p:cNvSpPr>
          <p:nvPr>
            <p:ph type="ftr" sz="quarter" idx="11"/>
          </p:nvPr>
        </p:nvSpPr>
        <p:spPr/>
        <p:txBody>
          <a:bodyPr/>
          <a:lstStyle/>
          <a:p>
            <a:endParaRPr lang="zh-CN" altLang="en-US"/>
          </a:p>
        </p:txBody>
      </p:sp>
      <p:sp>
        <p:nvSpPr>
          <p:cNvPr id="1048749" name="内容占位符 5"/>
          <p:cNvSpPr>
            <a:spLocks noGrp="1"/>
          </p:cNvSpPr>
          <p:nvPr>
            <p:ph sz="quarter" idx="14"/>
          </p:nvPr>
        </p:nvSpPr>
        <p:spPr/>
        <p:txBody>
          <a:bodyPr/>
          <a:lstStyle/>
          <a:p>
            <a:r>
              <a:rPr lang="en-US" altLang="zh-CN"/>
              <a:t>Condense these matrixs down into a single matrix</a:t>
            </a:r>
          </a:p>
        </p:txBody>
      </p:sp>
      <p:pic>
        <p:nvPicPr>
          <p:cNvPr id="2097186" name="图片 11"/>
          <p:cNvPicPr>
            <a:picLocks noChangeAspect="1"/>
          </p:cNvPicPr>
          <p:nvPr/>
        </p:nvPicPr>
        <p:blipFill>
          <a:blip r:embed="rId3"/>
          <a:stretch>
            <a:fillRect/>
          </a:stretch>
        </p:blipFill>
        <p:spPr>
          <a:xfrm>
            <a:off x="1033855" y="3253324"/>
            <a:ext cx="4571212" cy="3013334"/>
          </a:xfrm>
          <a:prstGeom prst="rect">
            <a:avLst/>
          </a:prstGeom>
        </p:spPr>
      </p:pic>
      <p:pic>
        <p:nvPicPr>
          <p:cNvPr id="2097187" name="Picture 2"/>
          <p:cNvPicPr>
            <a:picLocks noChangeAspect="1" noChangeArrowheads="1"/>
          </p:cNvPicPr>
          <p:nvPr/>
        </p:nvPicPr>
        <p:blipFill>
          <a:blip r:embed="rId4"/>
          <a:srcRect/>
          <a:stretch>
            <a:fillRect/>
          </a:stretch>
        </p:blipFill>
        <p:spPr bwMode="auto">
          <a:xfrm>
            <a:off x="6939887" y="2066935"/>
            <a:ext cx="4031104" cy="1912596"/>
          </a:xfrm>
          <a:prstGeom prst="rect">
            <a:avLst/>
          </a:prstGeom>
          <a:noFill/>
        </p:spPr>
      </p:pic>
      <p:pic>
        <p:nvPicPr>
          <p:cNvPr id="2097188" name="图片 13"/>
          <p:cNvPicPr>
            <a:picLocks noChangeAspect="1"/>
          </p:cNvPicPr>
          <p:nvPr/>
        </p:nvPicPr>
        <p:blipFill>
          <a:blip r:embed="rId5"/>
          <a:stretch>
            <a:fillRect/>
          </a:stretch>
        </p:blipFill>
        <p:spPr>
          <a:xfrm>
            <a:off x="6620812" y="3965520"/>
            <a:ext cx="4433875" cy="2508197"/>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Transformer: Multi-Headed Attention</a:t>
            </a:r>
            <a:r>
              <a:rPr lang="x-none">
                <a:sym typeface="+mn-ea"/>
              </a:rPr>
              <a:t> (2/2)</a:t>
            </a:r>
            <a:endParaRPr lang="en-US" altLang="zh-CN"/>
          </a:p>
        </p:txBody>
      </p:sp>
      <p:sp>
        <p:nvSpPr>
          <p:cNvPr id="1048819" name="灯片编号占位符 4"/>
          <p:cNvSpPr>
            <a:spLocks noGrp="1"/>
          </p:cNvSpPr>
          <p:nvPr>
            <p:ph type="sldNum" sz="quarter" idx="12"/>
          </p:nvPr>
        </p:nvSpPr>
        <p:spPr/>
        <p:txBody>
          <a:bodyPr/>
          <a:lstStyle/>
          <a:p>
            <a:fld id="{B33F7469-D28B-482F-B1B6-3B8E7CF51519}" type="slidenum">
              <a:rPr lang="zh-CN" altLang="en-US" smtClean="0"/>
              <a:t>16</a:t>
            </a:fld>
            <a:endParaRPr lang="zh-CN" altLang="en-US" dirty="0"/>
          </a:p>
        </p:txBody>
      </p:sp>
      <p:sp>
        <p:nvSpPr>
          <p:cNvPr id="1048755" name="内容占位符 3"/>
          <p:cNvSpPr>
            <a:spLocks noGrp="1"/>
          </p:cNvSpPr>
          <p:nvPr>
            <p:ph sz="quarter" idx="13"/>
          </p:nvPr>
        </p:nvSpPr>
        <p:spPr/>
        <p:txBody>
          <a:bodyPr/>
          <a:lstStyle/>
          <a:p>
            <a:r>
              <a:rPr lang="en-US" altLang="zh-CN"/>
              <a:t>Overview of Multi-Headed Attention</a:t>
            </a:r>
          </a:p>
        </p:txBody>
      </p:sp>
      <p:sp>
        <p:nvSpPr>
          <p:cNvPr id="1048756" name="页脚占位符 4"/>
          <p:cNvSpPr>
            <a:spLocks noGrp="1"/>
          </p:cNvSpPr>
          <p:nvPr>
            <p:ph type="ftr" sz="quarter" idx="11"/>
          </p:nvPr>
        </p:nvSpPr>
        <p:spPr/>
        <p:txBody>
          <a:bodyPr/>
          <a:lstStyle/>
          <a:p>
            <a:endParaRPr lang="zh-CN" altLang="en-US"/>
          </a:p>
        </p:txBody>
      </p:sp>
      <p:sp>
        <p:nvSpPr>
          <p:cNvPr id="2" name="内容占位符 1"/>
          <p:cNvSpPr>
            <a:spLocks noGrp="1"/>
          </p:cNvSpPr>
          <p:nvPr>
            <p:ph sz="quarter" idx="14"/>
          </p:nvPr>
        </p:nvSpPr>
        <p:spPr/>
        <p:txBody>
          <a:bodyPr/>
          <a:lstStyle/>
          <a:p>
            <a:r>
              <a:rPr lang="en-US" altLang="zh-CN"/>
              <a:t>Example</a:t>
            </a:r>
          </a:p>
          <a:p>
            <a:pPr lvl="1"/>
            <a:r>
              <a:rPr lang="en-US" altLang="zh-CN"/>
              <a:t>The animal didn't cross the street because it was too tired</a:t>
            </a:r>
          </a:p>
        </p:txBody>
      </p:sp>
      <p:pic>
        <p:nvPicPr>
          <p:cNvPr id="2097190" name="图片 7"/>
          <p:cNvPicPr>
            <a:picLocks noChangeAspect="1"/>
          </p:cNvPicPr>
          <p:nvPr/>
        </p:nvPicPr>
        <p:blipFill>
          <a:blip r:embed="rId3"/>
          <a:stretch>
            <a:fillRect/>
          </a:stretch>
        </p:blipFill>
        <p:spPr>
          <a:xfrm>
            <a:off x="92060" y="2552132"/>
            <a:ext cx="6070613" cy="3398292"/>
          </a:xfrm>
          <a:prstGeom prst="rect">
            <a:avLst/>
          </a:prstGeom>
        </p:spPr>
      </p:pic>
      <p:pic>
        <p:nvPicPr>
          <p:cNvPr id="2097191" name="图片 11"/>
          <p:cNvPicPr>
            <a:picLocks noChangeAspect="1"/>
          </p:cNvPicPr>
          <p:nvPr/>
        </p:nvPicPr>
        <p:blipFill>
          <a:blip r:embed="rId4"/>
          <a:stretch>
            <a:fillRect/>
          </a:stretch>
        </p:blipFill>
        <p:spPr>
          <a:xfrm>
            <a:off x="9170350" y="2870107"/>
            <a:ext cx="2807068" cy="2557843"/>
          </a:xfrm>
          <a:prstGeom prst="rect">
            <a:avLst/>
          </a:prstGeom>
        </p:spPr>
      </p:pic>
      <p:pic>
        <p:nvPicPr>
          <p:cNvPr id="4" name="内容占位符 9"/>
          <p:cNvPicPr>
            <a:picLocks noGrp="1" noChangeAspect="1"/>
          </p:cNvPicPr>
          <p:nvPr/>
        </p:nvPicPr>
        <p:blipFill>
          <a:blip r:embed="rId5"/>
          <a:stretch>
            <a:fillRect/>
          </a:stretch>
        </p:blipFill>
        <p:spPr>
          <a:xfrm>
            <a:off x="6157511" y="2895363"/>
            <a:ext cx="3012839" cy="2507329"/>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1" name="标题 1"/>
          <p:cNvSpPr>
            <a:spLocks noGrp="1"/>
          </p:cNvSpPr>
          <p:nvPr>
            <p:ph type="title"/>
          </p:nvPr>
        </p:nvSpPr>
        <p:spPr/>
        <p:txBody>
          <a:bodyPr/>
          <a:lstStyle/>
          <a:p>
            <a:r>
              <a:rPr lang="en-US" altLang="zh-CN"/>
              <a:t>Transformer: Positional Encoding</a:t>
            </a:r>
            <a:r>
              <a:rPr lang="x-none">
                <a:sym typeface="+mn-ea"/>
              </a:rPr>
              <a:t> (1/2)</a:t>
            </a:r>
            <a:endParaRPr lang="en-US" altLang="zh-CN"/>
          </a:p>
        </p:txBody>
      </p:sp>
      <p:sp>
        <p:nvSpPr>
          <p:cNvPr id="1048819" name="灯片编号占位符 4"/>
          <p:cNvSpPr>
            <a:spLocks noGrp="1"/>
          </p:cNvSpPr>
          <p:nvPr>
            <p:ph type="sldNum" sz="quarter" idx="12"/>
          </p:nvPr>
        </p:nvSpPr>
        <p:spPr/>
        <p:txBody>
          <a:bodyPr/>
          <a:lstStyle/>
          <a:p>
            <a:fld id="{B33F7469-D28B-482F-B1B6-3B8E7CF51519}" type="slidenum">
              <a:rPr lang="zh-CN" altLang="en-US" smtClean="0"/>
              <a:t>17</a:t>
            </a:fld>
            <a:endParaRPr lang="zh-CN" altLang="en-US" dirty="0"/>
          </a:p>
        </p:txBody>
      </p:sp>
      <p:sp>
        <p:nvSpPr>
          <p:cNvPr id="1048763" name="内容占位符 3"/>
          <p:cNvSpPr>
            <a:spLocks noGrp="1"/>
          </p:cNvSpPr>
          <p:nvPr>
            <p:ph sz="quarter" idx="13"/>
          </p:nvPr>
        </p:nvSpPr>
        <p:spPr/>
        <p:txBody>
          <a:bodyPr/>
          <a:lstStyle/>
          <a:p>
            <a:r>
              <a:rPr lang="en-US" altLang="zh-CN"/>
              <a:t>Positional encoding vectors</a:t>
            </a:r>
          </a:p>
          <a:p>
            <a:pPr lvl="1"/>
            <a:r>
              <a:rPr lang="en-US" altLang="zh-CN"/>
              <a:t>the values of which follow a specific pattern</a:t>
            </a:r>
          </a:p>
        </p:txBody>
      </p:sp>
      <p:sp>
        <p:nvSpPr>
          <p:cNvPr id="1048764" name="页脚占位符 4"/>
          <p:cNvSpPr>
            <a:spLocks noGrp="1"/>
          </p:cNvSpPr>
          <p:nvPr>
            <p:ph type="ftr" sz="quarter" idx="11"/>
          </p:nvPr>
        </p:nvSpPr>
        <p:spPr/>
        <p:txBody>
          <a:bodyPr/>
          <a:lstStyle/>
          <a:p>
            <a:endParaRPr lang="zh-CN" altLang="en-US"/>
          </a:p>
        </p:txBody>
      </p:sp>
      <p:sp>
        <p:nvSpPr>
          <p:cNvPr id="1048765" name="内容占位符 5"/>
          <p:cNvSpPr>
            <a:spLocks noGrp="1"/>
          </p:cNvSpPr>
          <p:nvPr>
            <p:ph sz="quarter" idx="14"/>
          </p:nvPr>
        </p:nvSpPr>
        <p:spPr/>
        <p:txBody>
          <a:bodyPr/>
          <a:lstStyle/>
          <a:p>
            <a:r>
              <a:rPr lang="en-US" altLang="zh-CN"/>
              <a:t>Example</a:t>
            </a:r>
          </a:p>
          <a:p>
            <a:pPr lvl="1"/>
            <a:r>
              <a:rPr lang="en-US" altLang="zh-CN"/>
              <a:t>Dimensionality of 4</a:t>
            </a:r>
          </a:p>
        </p:txBody>
      </p:sp>
      <p:pic>
        <p:nvPicPr>
          <p:cNvPr id="2097192" name="图片 7"/>
          <p:cNvPicPr>
            <a:picLocks noChangeAspect="1"/>
          </p:cNvPicPr>
          <p:nvPr/>
        </p:nvPicPr>
        <p:blipFill>
          <a:blip r:embed="rId3"/>
          <a:stretch>
            <a:fillRect/>
          </a:stretch>
        </p:blipFill>
        <p:spPr>
          <a:xfrm>
            <a:off x="599373" y="2702257"/>
            <a:ext cx="5610924" cy="3077893"/>
          </a:xfrm>
          <a:prstGeom prst="rect">
            <a:avLst/>
          </a:prstGeom>
        </p:spPr>
      </p:pic>
      <p:pic>
        <p:nvPicPr>
          <p:cNvPr id="2097193" name="图片 11"/>
          <p:cNvPicPr>
            <a:picLocks noChangeAspect="1"/>
          </p:cNvPicPr>
          <p:nvPr/>
        </p:nvPicPr>
        <p:blipFill>
          <a:blip r:embed="rId4"/>
          <a:stretch>
            <a:fillRect/>
          </a:stretch>
        </p:blipFill>
        <p:spPr>
          <a:xfrm>
            <a:off x="6328600" y="3056343"/>
            <a:ext cx="5514247" cy="1454241"/>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9" name="标题 1"/>
          <p:cNvSpPr>
            <a:spLocks noGrp="1"/>
          </p:cNvSpPr>
          <p:nvPr>
            <p:ph type="title"/>
          </p:nvPr>
        </p:nvSpPr>
        <p:spPr/>
        <p:txBody>
          <a:bodyPr/>
          <a:lstStyle/>
          <a:p>
            <a:r>
              <a:rPr lang="en-US" altLang="zh-CN" dirty="0"/>
              <a:t>Transformer: Positional Encoding</a:t>
            </a:r>
            <a:r>
              <a:rPr lang="x-none">
                <a:sym typeface="+mn-ea"/>
              </a:rPr>
              <a:t> (2/2)</a:t>
            </a:r>
            <a:endParaRPr lang="zh-CN" altLang="en-US" dirty="0"/>
          </a:p>
        </p:txBody>
      </p:sp>
      <p:sp>
        <p:nvSpPr>
          <p:cNvPr id="1048770" name="灯片编号占位符 2"/>
          <p:cNvSpPr>
            <a:spLocks noGrp="1"/>
          </p:cNvSpPr>
          <p:nvPr>
            <p:ph type="sldNum" sz="quarter" idx="12"/>
          </p:nvPr>
        </p:nvSpPr>
        <p:spPr/>
        <p:txBody>
          <a:bodyPr/>
          <a:lstStyle/>
          <a:p>
            <a:fld id="{B33F7469-D28B-482F-B1B6-3B8E7CF51519}" type="slidenum">
              <a:rPr lang="zh-CN" altLang="en-US" smtClean="0"/>
              <a:t>18</a:t>
            </a:fld>
            <a:endParaRPr lang="zh-CN" altLang="en-US" dirty="0"/>
          </a:p>
        </p:txBody>
      </p:sp>
      <p:sp>
        <p:nvSpPr>
          <p:cNvPr id="1048771" name="内容占位符 3"/>
          <p:cNvSpPr>
            <a:spLocks noGrp="1"/>
          </p:cNvSpPr>
          <p:nvPr>
            <p:ph sz="quarter" idx="13"/>
          </p:nvPr>
        </p:nvSpPr>
        <p:spPr/>
        <p:txBody>
          <a:bodyPr/>
          <a:lstStyle/>
          <a:p>
            <a:r>
              <a:rPr lang="en-US" altLang="zh-CN" dirty="0"/>
              <a:t>Tensor2Tensor implementation </a:t>
            </a:r>
          </a:p>
          <a:p>
            <a:pPr lvl="1"/>
            <a:r>
              <a:rPr lang="en-US" altLang="zh-CN" dirty="0"/>
              <a:t>A real example of positional encoding for 20 words (rows) with an embedding size of 512 (columns)</a:t>
            </a:r>
            <a:endParaRPr lang="zh-CN" altLang="en-US" dirty="0"/>
          </a:p>
        </p:txBody>
      </p:sp>
      <p:sp>
        <p:nvSpPr>
          <p:cNvPr id="1048772" name="页脚占位符 4"/>
          <p:cNvSpPr>
            <a:spLocks noGrp="1"/>
          </p:cNvSpPr>
          <p:nvPr>
            <p:ph type="ftr" sz="quarter" idx="11"/>
          </p:nvPr>
        </p:nvSpPr>
        <p:spPr/>
        <p:txBody>
          <a:bodyPr/>
          <a:lstStyle/>
          <a:p>
            <a:r>
              <a:rPr lang="en-US" altLang="zh-CN" dirty="0"/>
              <a:t>https://github.com/jalammar/jalammar.github.io/blob/master/notebookes/transformer/transformer_positional_encoding_graph.ipynb</a:t>
            </a:r>
            <a:endParaRPr lang="zh-CN" altLang="en-US" dirty="0"/>
          </a:p>
        </p:txBody>
      </p:sp>
      <p:sp>
        <p:nvSpPr>
          <p:cNvPr id="2" name="内容占位符 1"/>
          <p:cNvSpPr>
            <a:spLocks noGrp="1"/>
          </p:cNvSpPr>
          <p:nvPr>
            <p:ph sz="quarter" idx="14"/>
          </p:nvPr>
        </p:nvSpPr>
        <p:spPr/>
        <p:txBody>
          <a:bodyPr/>
          <a:lstStyle/>
          <a:p>
            <a:endParaRPr lang="zh-CN" altLang="en-US"/>
          </a:p>
        </p:txBody>
      </p:sp>
      <p:pic>
        <p:nvPicPr>
          <p:cNvPr id="2097194" name="图片 7"/>
          <p:cNvPicPr>
            <a:picLocks noChangeAspect="1"/>
          </p:cNvPicPr>
          <p:nvPr/>
        </p:nvPicPr>
        <p:blipFill>
          <a:blip r:embed="rId3"/>
          <a:stretch>
            <a:fillRect/>
          </a:stretch>
        </p:blipFill>
        <p:spPr>
          <a:xfrm>
            <a:off x="874579" y="2887046"/>
            <a:ext cx="4431223" cy="3289918"/>
          </a:xfrm>
          <a:prstGeom prst="rect">
            <a:avLst/>
          </a:prstGeom>
        </p:spPr>
      </p:pic>
      <p:pic>
        <p:nvPicPr>
          <p:cNvPr id="2097195" name="图片 9"/>
          <p:cNvPicPr>
            <a:picLocks noChangeAspect="1"/>
          </p:cNvPicPr>
          <p:nvPr/>
        </p:nvPicPr>
        <p:blipFill>
          <a:blip r:embed="rId4"/>
          <a:stretch>
            <a:fillRect/>
          </a:stretch>
        </p:blipFill>
        <p:spPr>
          <a:xfrm>
            <a:off x="6326628" y="1414782"/>
            <a:ext cx="3761905" cy="819048"/>
          </a:xfrm>
          <a:prstGeom prst="rect">
            <a:avLst/>
          </a:prstGeom>
        </p:spPr>
      </p:pic>
      <p:pic>
        <p:nvPicPr>
          <p:cNvPr id="2097196" name="图片 11"/>
          <p:cNvPicPr>
            <a:picLocks noChangeAspect="1"/>
          </p:cNvPicPr>
          <p:nvPr/>
        </p:nvPicPr>
        <p:blipFill>
          <a:blip r:embed="rId5"/>
          <a:stretch>
            <a:fillRect/>
          </a:stretch>
        </p:blipFill>
        <p:spPr>
          <a:xfrm>
            <a:off x="6219822" y="2515862"/>
            <a:ext cx="5809617" cy="3443000"/>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7" name="标题 1"/>
          <p:cNvSpPr>
            <a:spLocks noGrp="1"/>
          </p:cNvSpPr>
          <p:nvPr>
            <p:ph type="title"/>
          </p:nvPr>
        </p:nvSpPr>
        <p:spPr/>
        <p:txBody>
          <a:bodyPr/>
          <a:lstStyle/>
          <a:p>
            <a:r>
              <a:rPr lang="en-US" altLang="zh-CN" dirty="0"/>
              <a:t>Transformer: The Residuals</a:t>
            </a:r>
            <a:endParaRPr lang="zh-CN" altLang="en-US" dirty="0"/>
          </a:p>
        </p:txBody>
      </p:sp>
      <p:sp>
        <p:nvSpPr>
          <p:cNvPr id="1048778" name="灯片编号占位符 2"/>
          <p:cNvSpPr>
            <a:spLocks noGrp="1"/>
          </p:cNvSpPr>
          <p:nvPr>
            <p:ph type="sldNum" sz="quarter" idx="12"/>
          </p:nvPr>
        </p:nvSpPr>
        <p:spPr/>
        <p:txBody>
          <a:bodyPr/>
          <a:lstStyle/>
          <a:p>
            <a:fld id="{B33F7469-D28B-482F-B1B6-3B8E7CF51519}" type="slidenum">
              <a:rPr lang="zh-CN" altLang="en-US" smtClean="0"/>
              <a:t>19</a:t>
            </a:fld>
            <a:endParaRPr lang="zh-CN" altLang="en-US" dirty="0"/>
          </a:p>
        </p:txBody>
      </p:sp>
      <p:sp>
        <p:nvSpPr>
          <p:cNvPr id="1048779" name="内容占位符 3"/>
          <p:cNvSpPr>
            <a:spLocks noGrp="1"/>
          </p:cNvSpPr>
          <p:nvPr>
            <p:ph sz="quarter" idx="13"/>
          </p:nvPr>
        </p:nvSpPr>
        <p:spPr/>
        <p:txBody>
          <a:bodyPr/>
          <a:lstStyle/>
          <a:p>
            <a:r>
              <a:rPr lang="en-US" altLang="zh-CN" dirty="0"/>
              <a:t>Residual Connections and Layer Normalization</a:t>
            </a:r>
            <a:endParaRPr lang="zh-CN" altLang="en-US" dirty="0"/>
          </a:p>
        </p:txBody>
      </p:sp>
      <p:sp>
        <p:nvSpPr>
          <p:cNvPr id="1048780" name="页脚占位符 4"/>
          <p:cNvSpPr>
            <a:spLocks noGrp="1"/>
          </p:cNvSpPr>
          <p:nvPr>
            <p:ph type="ftr" sz="quarter" idx="11"/>
          </p:nvPr>
        </p:nvSpPr>
        <p:spPr/>
        <p:txBody>
          <a:bodyPr/>
          <a:lstStyle/>
          <a:p>
            <a:endParaRPr lang="zh-CN" altLang="en-US" dirty="0"/>
          </a:p>
        </p:txBody>
      </p:sp>
      <p:sp>
        <p:nvSpPr>
          <p:cNvPr id="1048781" name="内容占位符 5"/>
          <p:cNvSpPr>
            <a:spLocks noGrp="1"/>
          </p:cNvSpPr>
          <p:nvPr>
            <p:ph sz="quarter" idx="14"/>
          </p:nvPr>
        </p:nvSpPr>
        <p:spPr/>
        <p:txBody>
          <a:bodyPr/>
          <a:lstStyle/>
          <a:p>
            <a:r>
              <a:rPr lang="en-US" altLang="zh-CN" dirty="0"/>
              <a:t>Example of a Transformer of 2 stacked encoders and decoders</a:t>
            </a:r>
            <a:endParaRPr lang="zh-CN" altLang="en-US" dirty="0"/>
          </a:p>
        </p:txBody>
      </p:sp>
      <p:pic>
        <p:nvPicPr>
          <p:cNvPr id="2097197" name="图片 9"/>
          <p:cNvPicPr>
            <a:picLocks noChangeAspect="1"/>
          </p:cNvPicPr>
          <p:nvPr/>
        </p:nvPicPr>
        <p:blipFill>
          <a:blip r:embed="rId3"/>
          <a:stretch>
            <a:fillRect/>
          </a:stretch>
        </p:blipFill>
        <p:spPr>
          <a:xfrm>
            <a:off x="962021" y="2176388"/>
            <a:ext cx="4508957" cy="4003751"/>
          </a:xfrm>
          <a:prstGeom prst="rect">
            <a:avLst/>
          </a:prstGeom>
        </p:spPr>
      </p:pic>
      <p:pic>
        <p:nvPicPr>
          <p:cNvPr id="2097198" name="图片 13"/>
          <p:cNvPicPr>
            <a:picLocks noChangeAspect="1"/>
          </p:cNvPicPr>
          <p:nvPr/>
        </p:nvPicPr>
        <p:blipFill>
          <a:blip r:embed="rId4"/>
          <a:stretch>
            <a:fillRect/>
          </a:stretch>
        </p:blipFill>
        <p:spPr>
          <a:xfrm>
            <a:off x="5603870" y="2371724"/>
            <a:ext cx="6588130" cy="3738249"/>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5" name="标题 1"/>
          <p:cNvSpPr>
            <a:spLocks noGrp="1"/>
          </p:cNvSpPr>
          <p:nvPr>
            <p:ph type="title"/>
          </p:nvPr>
        </p:nvSpPr>
        <p:spPr/>
        <p:txBody>
          <a:bodyPr/>
          <a:lstStyle/>
          <a:p>
            <a:r>
              <a:rPr lang="en-US" altLang="zh-CN" dirty="0"/>
              <a:t>Transformer: Decoder</a:t>
            </a:r>
            <a:endParaRPr lang="zh-CN" altLang="en-US" dirty="0"/>
          </a:p>
        </p:txBody>
      </p:sp>
      <p:sp>
        <p:nvSpPr>
          <p:cNvPr id="1048786" name="灯片编号占位符 2"/>
          <p:cNvSpPr>
            <a:spLocks noGrp="1"/>
          </p:cNvSpPr>
          <p:nvPr>
            <p:ph type="sldNum" sz="quarter" idx="12"/>
          </p:nvPr>
        </p:nvSpPr>
        <p:spPr/>
        <p:txBody>
          <a:bodyPr/>
          <a:lstStyle/>
          <a:p>
            <a:fld id="{B33F7469-D28B-482F-B1B6-3B8E7CF51519}" type="slidenum">
              <a:rPr lang="zh-CN" altLang="en-US" smtClean="0"/>
              <a:t>20</a:t>
            </a:fld>
            <a:endParaRPr lang="zh-CN" altLang="en-US" dirty="0"/>
          </a:p>
        </p:txBody>
      </p:sp>
      <p:sp>
        <p:nvSpPr>
          <p:cNvPr id="1048787" name="内容占位符 3"/>
          <p:cNvSpPr>
            <a:spLocks noGrp="1"/>
          </p:cNvSpPr>
          <p:nvPr>
            <p:ph sz="quarter" idx="13"/>
          </p:nvPr>
        </p:nvSpPr>
        <p:spPr/>
        <p:txBody>
          <a:bodyPr/>
          <a:lstStyle/>
          <a:p>
            <a:r>
              <a:rPr lang="en-US" altLang="zh-CN" dirty="0"/>
              <a:t>Begin of Decode</a:t>
            </a:r>
          </a:p>
          <a:p>
            <a:pPr lvl="1"/>
            <a:r>
              <a:rPr lang="en-US" altLang="zh-CN" dirty="0"/>
              <a:t>starting token: typically </a:t>
            </a:r>
            <a:r>
              <a:rPr lang="en-US" altLang="zh-CN" b="1" dirty="0"/>
              <a:t>[BOS]</a:t>
            </a:r>
            <a:r>
              <a:rPr lang="en-US" altLang="zh-CN" dirty="0"/>
              <a:t> (Begin of Sequence)</a:t>
            </a:r>
            <a:endParaRPr lang="zh-CN" altLang="en-US" dirty="0"/>
          </a:p>
        </p:txBody>
      </p:sp>
      <p:sp>
        <p:nvSpPr>
          <p:cNvPr id="1048788" name="页脚占位符 4"/>
          <p:cNvSpPr>
            <a:spLocks noGrp="1"/>
          </p:cNvSpPr>
          <p:nvPr>
            <p:ph type="ftr" sz="quarter" idx="11"/>
          </p:nvPr>
        </p:nvSpPr>
        <p:spPr/>
        <p:txBody>
          <a:bodyPr/>
          <a:lstStyle/>
          <a:p>
            <a:endParaRPr lang="zh-CN" altLang="en-US" dirty="0"/>
          </a:p>
        </p:txBody>
      </p:sp>
      <p:sp>
        <p:nvSpPr>
          <p:cNvPr id="1048789" name="内容占位符 5"/>
          <p:cNvSpPr>
            <a:spLocks noGrp="1"/>
          </p:cNvSpPr>
          <p:nvPr>
            <p:ph sz="quarter" idx="14"/>
          </p:nvPr>
        </p:nvSpPr>
        <p:spPr/>
        <p:txBody>
          <a:bodyPr/>
          <a:lstStyle/>
          <a:p>
            <a:r>
              <a:rPr lang="en-US" altLang="zh-CN" dirty="0"/>
              <a:t>Repeat the process until a special symbol</a:t>
            </a:r>
            <a:endParaRPr lang="zh-CN" altLang="en-US" dirty="0"/>
          </a:p>
        </p:txBody>
      </p:sp>
      <p:pic>
        <p:nvPicPr>
          <p:cNvPr id="2097199" name="Picture 2"/>
          <p:cNvPicPr>
            <a:picLocks noChangeAspect="1" noChangeArrowheads="1" noCrop="1"/>
          </p:cNvPicPr>
          <p:nvPr/>
        </p:nvPicPr>
        <p:blipFill>
          <a:blip r:embed="rId3"/>
          <a:srcRect/>
          <a:stretch>
            <a:fillRect/>
          </a:stretch>
        </p:blipFill>
        <p:spPr bwMode="auto">
          <a:xfrm>
            <a:off x="390526" y="2622857"/>
            <a:ext cx="5591177" cy="3071507"/>
          </a:xfrm>
          <a:prstGeom prst="rect">
            <a:avLst/>
          </a:prstGeom>
          <a:noFill/>
        </p:spPr>
      </p:pic>
      <p:pic>
        <p:nvPicPr>
          <p:cNvPr id="2097200" name="Picture 4"/>
          <p:cNvPicPr>
            <a:picLocks noChangeAspect="1" noChangeArrowheads="1" noCrop="1"/>
          </p:cNvPicPr>
          <p:nvPr/>
        </p:nvPicPr>
        <p:blipFill>
          <a:blip r:embed="rId4"/>
          <a:srcRect/>
          <a:stretch>
            <a:fillRect/>
          </a:stretch>
        </p:blipFill>
        <p:spPr bwMode="auto">
          <a:xfrm>
            <a:off x="6096000" y="2405368"/>
            <a:ext cx="5987078" cy="3288996"/>
          </a:xfrm>
          <a:prstGeom prst="rect">
            <a:avLst/>
          </a:prstGeom>
          <a:noFill/>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3" name="标题 1"/>
          <p:cNvSpPr>
            <a:spLocks noGrp="1"/>
          </p:cNvSpPr>
          <p:nvPr>
            <p:ph type="title"/>
          </p:nvPr>
        </p:nvSpPr>
        <p:spPr/>
        <p:txBody>
          <a:bodyPr/>
          <a:lstStyle/>
          <a:p>
            <a:r>
              <a:rPr lang="en-US" altLang="zh-CN" dirty="0"/>
              <a:t>Transformer: The Final Linear and </a:t>
            </a:r>
            <a:r>
              <a:rPr lang="en-US" altLang="zh-CN" dirty="0" err="1"/>
              <a:t>Softmax</a:t>
            </a:r>
            <a:r>
              <a:rPr lang="en-US" altLang="zh-CN" dirty="0"/>
              <a:t> Layer</a:t>
            </a:r>
            <a:endParaRPr lang="zh-CN" altLang="en-US" dirty="0"/>
          </a:p>
        </p:txBody>
      </p:sp>
      <p:sp>
        <p:nvSpPr>
          <p:cNvPr id="1048794" name="灯片编号占位符 2"/>
          <p:cNvSpPr>
            <a:spLocks noGrp="1"/>
          </p:cNvSpPr>
          <p:nvPr>
            <p:ph type="sldNum" sz="quarter" idx="12"/>
          </p:nvPr>
        </p:nvSpPr>
        <p:spPr/>
        <p:txBody>
          <a:bodyPr/>
          <a:lstStyle/>
          <a:p>
            <a:fld id="{B33F7469-D28B-482F-B1B6-3B8E7CF51519}" type="slidenum">
              <a:rPr lang="zh-CN" altLang="en-US" smtClean="0"/>
              <a:t>21</a:t>
            </a:fld>
            <a:endParaRPr lang="zh-CN" altLang="en-US" dirty="0"/>
          </a:p>
        </p:txBody>
      </p:sp>
      <p:sp>
        <p:nvSpPr>
          <p:cNvPr id="2" name="内容占位符 1"/>
          <p:cNvSpPr>
            <a:spLocks noGrp="1"/>
          </p:cNvSpPr>
          <p:nvPr>
            <p:ph sz="quarter" idx="13"/>
          </p:nvPr>
        </p:nvSpPr>
        <p:spPr/>
        <p:txBody>
          <a:bodyPr/>
          <a:lstStyle/>
          <a:p>
            <a:endParaRPr lang="zh-CN" altLang="en-US"/>
          </a:p>
        </p:txBody>
      </p:sp>
      <p:sp>
        <p:nvSpPr>
          <p:cNvPr id="1048796" name="页脚占位符 4"/>
          <p:cNvSpPr>
            <a:spLocks noGrp="1"/>
          </p:cNvSpPr>
          <p:nvPr>
            <p:ph type="ftr" sz="quarter" idx="11"/>
          </p:nvPr>
        </p:nvSpPr>
        <p:spPr/>
        <p:txBody>
          <a:bodyPr/>
          <a:lstStyle/>
          <a:p>
            <a:endParaRPr lang="zh-CN" altLang="en-US" dirty="0"/>
          </a:p>
        </p:txBody>
      </p:sp>
      <p:sp>
        <p:nvSpPr>
          <p:cNvPr id="3" name="内容占位符 2"/>
          <p:cNvSpPr>
            <a:spLocks noGrp="1"/>
          </p:cNvSpPr>
          <p:nvPr>
            <p:ph sz="quarter" idx="14"/>
          </p:nvPr>
        </p:nvSpPr>
        <p:spPr/>
        <p:txBody>
          <a:bodyPr/>
          <a:lstStyle/>
          <a:p>
            <a:endParaRPr lang="zh-CN" altLang="en-US"/>
          </a:p>
        </p:txBody>
      </p:sp>
      <p:pic>
        <p:nvPicPr>
          <p:cNvPr id="2097201" name="图片 7"/>
          <p:cNvPicPr>
            <a:picLocks noChangeAspect="1"/>
          </p:cNvPicPr>
          <p:nvPr/>
        </p:nvPicPr>
        <p:blipFill>
          <a:blip r:embed="rId3"/>
          <a:stretch>
            <a:fillRect/>
          </a:stretch>
        </p:blipFill>
        <p:spPr>
          <a:xfrm>
            <a:off x="523872" y="1323977"/>
            <a:ext cx="7771037" cy="4771689"/>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1" name="标题 1"/>
          <p:cNvSpPr>
            <a:spLocks noGrp="1"/>
          </p:cNvSpPr>
          <p:nvPr>
            <p:ph type="title"/>
          </p:nvPr>
        </p:nvSpPr>
        <p:spPr/>
        <p:txBody>
          <a:bodyPr/>
          <a:lstStyle/>
          <a:p>
            <a:r>
              <a:rPr lang="en-US" altLang="zh-CN" dirty="0"/>
              <a:t>LLM – Decoder-only</a:t>
            </a:r>
            <a:endParaRPr lang="zh-CN" altLang="en-US" dirty="0"/>
          </a:p>
        </p:txBody>
      </p:sp>
      <p:sp>
        <p:nvSpPr>
          <p:cNvPr id="1048802" name="灯片编号占位符 2"/>
          <p:cNvSpPr>
            <a:spLocks noGrp="1"/>
          </p:cNvSpPr>
          <p:nvPr>
            <p:ph type="sldNum" sz="quarter" idx="12"/>
          </p:nvPr>
        </p:nvSpPr>
        <p:spPr/>
        <p:txBody>
          <a:bodyPr/>
          <a:lstStyle/>
          <a:p>
            <a:fld id="{B33F7469-D28B-482F-B1B6-3B8E7CF51519}" type="slidenum">
              <a:rPr lang="zh-CN" altLang="en-US" smtClean="0"/>
              <a:t>22</a:t>
            </a:fld>
            <a:endParaRPr lang="zh-CN" altLang="en-US" dirty="0"/>
          </a:p>
        </p:txBody>
      </p:sp>
      <p:sp>
        <p:nvSpPr>
          <p:cNvPr id="1048803" name="内容占位符 3"/>
          <p:cNvSpPr>
            <a:spLocks noGrp="1"/>
          </p:cNvSpPr>
          <p:nvPr>
            <p:ph sz="quarter" idx="13"/>
          </p:nvPr>
        </p:nvSpPr>
        <p:spPr/>
        <p:txBody>
          <a:bodyPr>
            <a:normAutofit/>
          </a:bodyPr>
          <a:lstStyle/>
          <a:p>
            <a:r>
              <a:rPr lang="en-US" altLang="zh-CN" dirty="0"/>
              <a:t>Decoder-Only: Built for Autoregression</a:t>
            </a:r>
          </a:p>
          <a:p>
            <a:pPr lvl="1"/>
            <a:r>
              <a:rPr lang="en-US" altLang="zh-CN" dirty="0"/>
              <a:t>Predicting the next token in a sequence based on everything that came before it.</a:t>
            </a:r>
          </a:p>
          <a:p>
            <a:pPr lvl="1"/>
            <a:r>
              <a:rPr lang="en-US" altLang="zh-CN" dirty="0"/>
              <a:t>Simplicity and Efficiency</a:t>
            </a:r>
          </a:p>
          <a:p>
            <a:pPr lvl="2"/>
            <a:r>
              <a:rPr lang="en-US" altLang="zh-CN" dirty="0"/>
              <a:t>One training objective: predict the next token.</a:t>
            </a:r>
          </a:p>
          <a:p>
            <a:pPr lvl="2"/>
            <a:r>
              <a:rPr lang="en-US" altLang="zh-CN" dirty="0"/>
              <a:t>No need for parallel datasets, which are expensive and scarce.</a:t>
            </a:r>
          </a:p>
          <a:p>
            <a:pPr lvl="2"/>
            <a:r>
              <a:rPr lang="en-US" altLang="zh-CN" dirty="0"/>
              <a:t>Can be scaled across trillions of tokens efficiently.</a:t>
            </a:r>
          </a:p>
          <a:p>
            <a:pPr lvl="1"/>
            <a:r>
              <a:rPr lang="en-US" altLang="zh-CN" dirty="0"/>
              <a:t>Perfect Match for Generative Tasks</a:t>
            </a:r>
          </a:p>
          <a:p>
            <a:pPr lvl="1"/>
            <a:r>
              <a:rPr lang="en-US" altLang="zh-CN" dirty="0"/>
              <a:t>Flexibility and Emergent Abilities</a:t>
            </a:r>
          </a:p>
          <a:p>
            <a:pPr lvl="1"/>
            <a:r>
              <a:rPr lang="en-US" altLang="zh-CN" dirty="0"/>
              <a:t>Scalability and Industry Validation</a:t>
            </a:r>
          </a:p>
        </p:txBody>
      </p:sp>
      <p:sp>
        <p:nvSpPr>
          <p:cNvPr id="1048804" name="页脚占位符 4"/>
          <p:cNvSpPr>
            <a:spLocks noGrp="1"/>
          </p:cNvSpPr>
          <p:nvPr>
            <p:ph type="ftr" sz="quarter" idx="11"/>
          </p:nvPr>
        </p:nvSpPr>
        <p:spPr/>
        <p:txBody>
          <a:bodyPr/>
          <a:lstStyle/>
          <a:p>
            <a:r>
              <a:rPr lang="en-US" altLang="zh-CN" dirty="0"/>
              <a:t>https://www.c-sharpcorner.com/article/llms-why-modern-llms-like-gpt-are-decoder-only/</a:t>
            </a:r>
            <a:endParaRPr lang="zh-CN" altLang="en-US" dirty="0"/>
          </a:p>
        </p:txBody>
      </p:sp>
      <p:sp>
        <p:nvSpPr>
          <p:cNvPr id="1048805" name="内容占位符 5"/>
          <p:cNvSpPr>
            <a:spLocks noGrp="1"/>
          </p:cNvSpPr>
          <p:nvPr>
            <p:ph sz="quarter" idx="14"/>
          </p:nvPr>
        </p:nvSpPr>
        <p:spPr/>
        <p:txBody>
          <a:bodyPr/>
          <a:lstStyle/>
          <a:p>
            <a:r>
              <a:rPr lang="en-US" altLang="zh-CN" dirty="0"/>
              <a:t>Decoder-Only vs Encoder-Decoder</a:t>
            </a:r>
            <a:endParaRPr lang="zh-CN" altLang="en-US" dirty="0"/>
          </a:p>
        </p:txBody>
      </p:sp>
      <p:pic>
        <p:nvPicPr>
          <p:cNvPr id="2097202" name="图片 9"/>
          <p:cNvPicPr>
            <a:picLocks noChangeAspect="1"/>
          </p:cNvPicPr>
          <p:nvPr/>
        </p:nvPicPr>
        <p:blipFill>
          <a:blip r:embed="rId3"/>
          <a:stretch>
            <a:fillRect/>
          </a:stretch>
        </p:blipFill>
        <p:spPr>
          <a:xfrm>
            <a:off x="6353886" y="2293936"/>
            <a:ext cx="5596622" cy="2913068"/>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9" name="标题 1"/>
          <p:cNvSpPr>
            <a:spLocks noGrp="1"/>
          </p:cNvSpPr>
          <p:nvPr>
            <p:ph type="title"/>
          </p:nvPr>
        </p:nvSpPr>
        <p:spPr/>
        <p:txBody>
          <a:bodyPr/>
          <a:lstStyle/>
          <a:p>
            <a:r>
              <a:rPr lang="en-US" altLang="zh-CN"/>
              <a:t>Complexity of Attention</a:t>
            </a:r>
            <a:r>
              <a:rPr lang="x-none">
                <a:sym typeface="+mn-ea"/>
              </a:rPr>
              <a:t> (1/2)</a:t>
            </a:r>
            <a:endParaRPr lang="en-US" altLang="zh-CN"/>
          </a:p>
        </p:txBody>
      </p:sp>
      <p:sp>
        <p:nvSpPr>
          <p:cNvPr id="1048811" name="页脚占位符 3"/>
          <p:cNvSpPr>
            <a:spLocks noGrp="1"/>
          </p:cNvSpPr>
          <p:nvPr>
            <p:ph type="ftr" sz="quarter" idx="11"/>
          </p:nvPr>
        </p:nvSpPr>
        <p:spPr/>
        <p:txBody>
          <a:bodyPr/>
          <a:lstStyle/>
          <a:p>
            <a:endParaRPr lang="zh-CN" altLang="en-US"/>
          </a:p>
        </p:txBody>
      </p:sp>
      <p:sp>
        <p:nvSpPr>
          <p:cNvPr id="1048819" name="灯片编号占位符 4"/>
          <p:cNvSpPr>
            <a:spLocks noGrp="1"/>
          </p:cNvSpPr>
          <p:nvPr>
            <p:ph type="sldNum" sz="quarter" idx="12"/>
          </p:nvPr>
        </p:nvSpPr>
        <p:spPr/>
        <p:txBody>
          <a:bodyPr/>
          <a:lstStyle/>
          <a:p>
            <a:fld id="{B33F7469-D28B-482F-B1B6-3B8E7CF51519}" type="slidenum">
              <a:rPr lang="zh-CN" altLang="en-US" smtClean="0"/>
              <a:t>23</a:t>
            </a:fld>
            <a:endParaRPr lang="zh-CN" altLang="en-US" dirty="0"/>
          </a:p>
        </p:txBody>
      </p:sp>
      <p:sp>
        <p:nvSpPr>
          <p:cNvPr id="1048810" name="内容占位符 2"/>
          <p:cNvSpPr>
            <a:spLocks noGrp="1"/>
          </p:cNvSpPr>
          <p:nvPr>
            <p:ph sz="quarter" idx="13"/>
          </p:nvPr>
        </p:nvSpPr>
        <p:spPr/>
        <p:txBody>
          <a:bodyPr/>
          <a:lstStyle/>
          <a:p>
            <a:r>
              <a:rPr lang="en-US" altLang="zh-CN"/>
              <a:t>In transformer self-attention, we compute attention scores between all pairs of tokens:</a:t>
            </a:r>
          </a:p>
          <a:p>
            <a:pPr lvl="1"/>
            <a:r>
              <a:rPr lang="en-US" altLang="zh-CN"/>
              <a:t>Query Q is an (n,d) matrix (for n tokens, each with dimension d).</a:t>
            </a:r>
          </a:p>
          <a:p>
            <a:pPr lvl="1"/>
            <a:r>
              <a:rPr lang="en-US" altLang="zh-CN"/>
              <a:t>Key K is an (n,d) matrix.</a:t>
            </a:r>
          </a:p>
          <a:p>
            <a:pPr lvl="1"/>
            <a:r>
              <a:rPr lang="en-US" altLang="zh-CN"/>
              <a:t>We form an n x n attention score matrix QK^T.</a:t>
            </a:r>
          </a:p>
          <a:p>
            <a:pPr lvl="1"/>
            <a:r>
              <a:rPr lang="en-US" altLang="zh-CN"/>
              <a:t>We then multiply by Value V, which is (n,d) matrix.</a:t>
            </a:r>
          </a:p>
          <a:p>
            <a:r>
              <a:rPr lang="en-US" altLang="zh-CN"/>
              <a:t>This requires on the order of n² d operations</a:t>
            </a:r>
          </a:p>
          <a:p>
            <a:r>
              <a:rPr lang="en-US" altLang="zh-CN"/>
              <a:t>As n grows, the quadratic term dominates.</a:t>
            </a:r>
          </a:p>
          <a:p>
            <a:endParaRPr lang="en-US" altLang="zh-CN"/>
          </a:p>
        </p:txBody>
      </p:sp>
      <p:pic>
        <p:nvPicPr>
          <p:cNvPr id="2097203" name="Picture 4" descr="https://miro.medium.com/v2/resize:fit:1016/0*Re796fmjO90us8op.png"/>
          <p:cNvPicPr>
            <a:picLocks noChangeAspect="1" noChangeArrowheads="1"/>
          </p:cNvPicPr>
          <p:nvPr/>
        </p:nvPicPr>
        <p:blipFill>
          <a:blip r:embed="rId3"/>
          <a:srcRect/>
          <a:stretch>
            <a:fillRect/>
          </a:stretch>
        </p:blipFill>
        <p:spPr bwMode="auto">
          <a:xfrm>
            <a:off x="6896535" y="2545541"/>
            <a:ext cx="4672012" cy="3015760"/>
          </a:xfrm>
          <a:prstGeom prst="rect">
            <a:avLst/>
          </a:prstGeom>
          <a:noFill/>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6" name="标题 1"/>
          <p:cNvSpPr>
            <a:spLocks noGrp="1"/>
          </p:cNvSpPr>
          <p:nvPr>
            <p:ph type="title"/>
          </p:nvPr>
        </p:nvSpPr>
        <p:spPr/>
        <p:txBody>
          <a:bodyPr/>
          <a:lstStyle/>
          <a:p>
            <a:r>
              <a:rPr lang="en-US" altLang="zh-CN" dirty="0"/>
              <a:t>Complexity of Attention</a:t>
            </a:r>
            <a:r>
              <a:rPr lang="x-none">
                <a:sym typeface="+mn-ea"/>
              </a:rPr>
              <a:t> (2/2)</a:t>
            </a:r>
            <a:endParaRPr lang="zh-CN" altLang="en-US" dirty="0"/>
          </a:p>
        </p:txBody>
      </p:sp>
      <p:sp>
        <p:nvSpPr>
          <p:cNvPr id="1048818" name="页脚占位符 3"/>
          <p:cNvSpPr>
            <a:spLocks noGrp="1"/>
          </p:cNvSpPr>
          <p:nvPr>
            <p:ph type="ftr" sz="quarter" idx="11"/>
          </p:nvPr>
        </p:nvSpPr>
        <p:spPr/>
        <p:txBody>
          <a:bodyPr/>
          <a:lstStyle/>
          <a:p>
            <a:endParaRPr lang="zh-CN" altLang="en-US" dirty="0"/>
          </a:p>
        </p:txBody>
      </p:sp>
      <p:sp>
        <p:nvSpPr>
          <p:cNvPr id="1048819" name="灯片编号占位符 4"/>
          <p:cNvSpPr>
            <a:spLocks noGrp="1"/>
          </p:cNvSpPr>
          <p:nvPr>
            <p:ph type="sldNum" sz="quarter" idx="12"/>
          </p:nvPr>
        </p:nvSpPr>
        <p:spPr/>
        <p:txBody>
          <a:bodyPr/>
          <a:lstStyle/>
          <a:p>
            <a:fld id="{B33F7469-D28B-482F-B1B6-3B8E7CF51519}" type="slidenum">
              <a:rPr lang="zh-CN" altLang="en-US" smtClean="0"/>
              <a:t>24</a:t>
            </a:fld>
            <a:endParaRPr lang="zh-CN" altLang="en-US" dirty="0"/>
          </a:p>
        </p:txBody>
      </p:sp>
      <p:sp>
        <p:nvSpPr>
          <p:cNvPr id="1048817" name="内容占位符 2"/>
          <p:cNvSpPr>
            <a:spLocks noGrp="1"/>
          </p:cNvSpPr>
          <p:nvPr>
            <p:ph sz="quarter" idx="13"/>
          </p:nvPr>
        </p:nvSpPr>
        <p:spPr/>
        <p:txBody>
          <a:bodyPr>
            <a:normAutofit/>
          </a:bodyPr>
          <a:lstStyle/>
          <a:p>
            <a:r>
              <a:rPr lang="en-US" altLang="zh-CN" b="1" dirty="0"/>
              <a:t>1. Compute Attention Scores</a:t>
            </a:r>
            <a:endParaRPr lang="en-US" altLang="zh-CN" dirty="0"/>
          </a:p>
          <a:p>
            <a:pPr lvl="1"/>
            <a:r>
              <a:rPr lang="en-US" altLang="zh-CN" i="1" dirty="0"/>
              <a:t>QK^T⇒ (</a:t>
            </a:r>
            <a:r>
              <a:rPr lang="en-US" altLang="zh-CN" i="1" dirty="0" err="1"/>
              <a:t>n,d</a:t>
            </a:r>
            <a:r>
              <a:rPr lang="en-US" altLang="zh-CN" i="1" dirty="0"/>
              <a:t>) × (</a:t>
            </a:r>
            <a:r>
              <a:rPr lang="en-US" altLang="zh-CN" i="1" dirty="0" err="1"/>
              <a:t>d,n</a:t>
            </a:r>
            <a:r>
              <a:rPr lang="en-US" altLang="zh-CN" i="1" dirty="0"/>
              <a:t>) = </a:t>
            </a:r>
            <a:r>
              <a:rPr lang="en-US" altLang="zh-CN" b="1" i="1" dirty="0"/>
              <a:t>(</a:t>
            </a:r>
            <a:r>
              <a:rPr lang="en-US" altLang="zh-CN" b="1" i="1" dirty="0" err="1"/>
              <a:t>n,n</a:t>
            </a:r>
            <a:r>
              <a:rPr lang="en-US" altLang="zh-CN" b="1" i="1" dirty="0"/>
              <a:t>)</a:t>
            </a:r>
            <a:endParaRPr lang="en-US" altLang="zh-CN" dirty="0"/>
          </a:p>
          <a:p>
            <a:pPr lvl="1"/>
            <a:r>
              <a:rPr lang="en-US" altLang="zh-CN" dirty="0"/>
              <a:t>The cost: about </a:t>
            </a:r>
            <a:r>
              <a:rPr lang="en-US" altLang="zh-CN" i="1" dirty="0"/>
              <a:t>O(</a:t>
            </a:r>
            <a:r>
              <a:rPr lang="en-US" altLang="zh-CN" i="1" dirty="0" err="1"/>
              <a:t>n⋅d⋅n</a:t>
            </a:r>
            <a:r>
              <a:rPr lang="en-US" altLang="zh-CN" i="1" dirty="0"/>
              <a:t>)</a:t>
            </a:r>
            <a:r>
              <a:rPr lang="en-US" altLang="zh-CN" dirty="0"/>
              <a:t> = </a:t>
            </a:r>
            <a:r>
              <a:rPr lang="en-US" altLang="zh-CN" b="1" dirty="0"/>
              <a:t>O(n² d)</a:t>
            </a:r>
            <a:endParaRPr lang="en-US" altLang="zh-CN" dirty="0"/>
          </a:p>
          <a:p>
            <a:pPr lvl="1"/>
            <a:r>
              <a:rPr lang="en-US" altLang="zh-CN" dirty="0"/>
              <a:t>This yields an </a:t>
            </a:r>
            <a:r>
              <a:rPr lang="en-US" altLang="zh-CN" b="1" i="1" dirty="0"/>
              <a:t>score matrix </a:t>
            </a:r>
            <a:r>
              <a:rPr lang="en-US" altLang="zh-CN" i="1" dirty="0"/>
              <a:t>(</a:t>
            </a:r>
            <a:r>
              <a:rPr lang="en-US" altLang="zh-CN" i="1" dirty="0" err="1"/>
              <a:t>n,n</a:t>
            </a:r>
            <a:r>
              <a:rPr lang="en-US" altLang="zh-CN" i="1" dirty="0"/>
              <a:t>)</a:t>
            </a:r>
            <a:r>
              <a:rPr lang="en-US" altLang="zh-CN" dirty="0"/>
              <a:t> (basically all pairs of tokens).</a:t>
            </a:r>
          </a:p>
          <a:p>
            <a:r>
              <a:rPr lang="en-US" altLang="zh-CN" b="1" dirty="0"/>
              <a:t>2. Multiply by Values, V</a:t>
            </a:r>
            <a:endParaRPr lang="en-US" altLang="zh-CN" dirty="0"/>
          </a:p>
          <a:p>
            <a:pPr lvl="1"/>
            <a:r>
              <a:rPr lang="en-US" altLang="zh-CN" b="1" i="1" dirty="0"/>
              <a:t>score matrix</a:t>
            </a:r>
            <a:r>
              <a:rPr lang="en-US" altLang="zh-CN" dirty="0"/>
              <a:t> </a:t>
            </a:r>
            <a:r>
              <a:rPr lang="en-US" altLang="zh-CN" i="1" dirty="0"/>
              <a:t>(</a:t>
            </a:r>
            <a:r>
              <a:rPr lang="en-US" altLang="zh-CN" i="1" dirty="0" err="1"/>
              <a:t>n,n</a:t>
            </a:r>
            <a:r>
              <a:rPr lang="en-US" altLang="zh-CN" i="1" dirty="0"/>
              <a:t>) × </a:t>
            </a:r>
            <a:r>
              <a:rPr lang="en-US" altLang="zh-CN" b="1" i="1" dirty="0"/>
              <a:t>V</a:t>
            </a:r>
            <a:r>
              <a:rPr lang="en-US" altLang="zh-CN" i="1" dirty="0"/>
              <a:t> (n, d) = </a:t>
            </a:r>
            <a:r>
              <a:rPr lang="en-US" altLang="zh-CN" b="1" i="1" dirty="0"/>
              <a:t>(n, d)</a:t>
            </a:r>
            <a:endParaRPr lang="en-US" altLang="zh-CN" dirty="0"/>
          </a:p>
          <a:p>
            <a:pPr lvl="1"/>
            <a:r>
              <a:rPr lang="en-US" altLang="zh-CN" dirty="0"/>
              <a:t>The cost again: </a:t>
            </a:r>
            <a:r>
              <a:rPr lang="en-US" altLang="zh-CN" i="1" dirty="0"/>
              <a:t>O(</a:t>
            </a:r>
            <a:r>
              <a:rPr lang="en-US" altLang="zh-CN" i="1" dirty="0" err="1"/>
              <a:t>n⋅n⋅d</a:t>
            </a:r>
            <a:r>
              <a:rPr lang="en-US" altLang="zh-CN" i="1" dirty="0"/>
              <a:t>)</a:t>
            </a:r>
            <a:r>
              <a:rPr lang="en-US" altLang="zh-CN" dirty="0"/>
              <a:t>= </a:t>
            </a:r>
            <a:r>
              <a:rPr lang="en-US" altLang="zh-CN" b="1" i="1" dirty="0"/>
              <a:t>O(n² d)</a:t>
            </a:r>
            <a:endParaRPr lang="en-US" altLang="zh-CN" dirty="0"/>
          </a:p>
          <a:p>
            <a:pPr lvl="1"/>
            <a:r>
              <a:rPr lang="en-US" altLang="zh-CN" dirty="0"/>
              <a:t>Hence </a:t>
            </a:r>
            <a:r>
              <a:rPr lang="en-US" altLang="zh-CN" b="1" dirty="0"/>
              <a:t>each forward pass</a:t>
            </a:r>
            <a:r>
              <a:rPr lang="en-US" altLang="zh-CN" dirty="0"/>
              <a:t> of a single-head attention block is about </a:t>
            </a:r>
            <a:r>
              <a:rPr lang="en-US" altLang="zh-CN" b="1" i="1" dirty="0"/>
              <a:t>O(n² d)</a:t>
            </a:r>
            <a:r>
              <a:rPr lang="en-US" altLang="zh-CN" dirty="0"/>
              <a:t>.</a:t>
            </a:r>
          </a:p>
          <a:p>
            <a:r>
              <a:rPr lang="en-US" altLang="zh-CN" dirty="0"/>
              <a:t>If it’s </a:t>
            </a:r>
            <a:r>
              <a:rPr lang="en-US" altLang="zh-CN" b="1" dirty="0"/>
              <a:t>multi-head</a:t>
            </a:r>
            <a:r>
              <a:rPr lang="en-US" altLang="zh-CN" dirty="0"/>
              <a:t> with </a:t>
            </a:r>
            <a:r>
              <a:rPr lang="en-US" altLang="zh-CN" b="1" i="1" dirty="0"/>
              <a:t>h</a:t>
            </a:r>
            <a:r>
              <a:rPr lang="en-US" altLang="zh-CN" b="1" dirty="0"/>
              <a:t> heads</a:t>
            </a:r>
            <a:r>
              <a:rPr lang="en-US" altLang="zh-CN" dirty="0"/>
              <a:t>, each head uses dimension </a:t>
            </a:r>
            <a:r>
              <a:rPr lang="en-US" altLang="zh-CN" b="1" i="1" dirty="0"/>
              <a:t>d/h</a:t>
            </a:r>
            <a:r>
              <a:rPr lang="en-US" altLang="zh-CN" dirty="0"/>
              <a:t>​ but we do it </a:t>
            </a:r>
            <a:r>
              <a:rPr lang="en-US" altLang="zh-CN" b="1" i="1" dirty="0"/>
              <a:t>h</a:t>
            </a:r>
            <a:r>
              <a:rPr lang="en-US" altLang="zh-CN" dirty="0"/>
              <a:t> times. Summed together, it’s again </a:t>
            </a:r>
            <a:r>
              <a:rPr lang="en-US" altLang="zh-CN" i="1" dirty="0"/>
              <a:t>O(n² d)</a:t>
            </a:r>
            <a:r>
              <a:rPr lang="en-US" altLang="zh-CN" dirty="0"/>
              <a:t>.</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3" name="标题 1"/>
          <p:cNvSpPr>
            <a:spLocks noGrp="1"/>
          </p:cNvSpPr>
          <p:nvPr>
            <p:ph type="title"/>
          </p:nvPr>
        </p:nvSpPr>
        <p:spPr/>
        <p:txBody>
          <a:bodyPr/>
          <a:lstStyle/>
          <a:p>
            <a:r>
              <a:rPr lang="en-US" altLang="zh-CN" dirty="0"/>
              <a:t>The Memory Wall Problem</a:t>
            </a:r>
            <a:endParaRPr lang="zh-CN" altLang="en-US" dirty="0"/>
          </a:p>
        </p:txBody>
      </p:sp>
      <p:sp>
        <p:nvSpPr>
          <p:cNvPr id="1048825" name="页脚占位符 3"/>
          <p:cNvSpPr>
            <a:spLocks noGrp="1"/>
          </p:cNvSpPr>
          <p:nvPr>
            <p:ph type="ftr" sz="quarter" idx="11"/>
          </p:nvPr>
        </p:nvSpPr>
        <p:spPr/>
        <p:txBody>
          <a:bodyPr/>
          <a:lstStyle/>
          <a:p>
            <a:endParaRPr lang="zh-CN" altLang="en-US" dirty="0"/>
          </a:p>
        </p:txBody>
      </p:sp>
      <p:sp>
        <p:nvSpPr>
          <p:cNvPr id="1048826" name="灯片编号占位符 4"/>
          <p:cNvSpPr>
            <a:spLocks noGrp="1"/>
          </p:cNvSpPr>
          <p:nvPr>
            <p:ph type="sldNum" sz="quarter" idx="12"/>
          </p:nvPr>
        </p:nvSpPr>
        <p:spPr/>
        <p:txBody>
          <a:bodyPr/>
          <a:lstStyle/>
          <a:p>
            <a:fld id="{B33F7469-D28B-482F-B1B6-3B8E7CF51519}" type="slidenum">
              <a:rPr lang="zh-CN" altLang="en-US" smtClean="0"/>
              <a:t>25</a:t>
            </a:fld>
            <a:endParaRPr lang="zh-CN" altLang="en-US" dirty="0"/>
          </a:p>
        </p:txBody>
      </p:sp>
      <p:sp>
        <p:nvSpPr>
          <p:cNvPr id="1048824" name="内容占位符 2"/>
          <p:cNvSpPr>
            <a:spLocks noGrp="1"/>
          </p:cNvSpPr>
          <p:nvPr>
            <p:ph sz="quarter" idx="13"/>
          </p:nvPr>
        </p:nvSpPr>
        <p:spPr/>
        <p:txBody>
          <a:bodyPr/>
          <a:lstStyle/>
          <a:p>
            <a:r>
              <a:rPr lang="en-US" altLang="zh-CN" dirty="0"/>
              <a:t>Attention is expensive</a:t>
            </a:r>
          </a:p>
          <a:p>
            <a:pPr lvl="1"/>
            <a:r>
              <a:rPr lang="en-US" altLang="zh-CN" dirty="0"/>
              <a:t>Self‑attention’s flexibility comes at a steep cost: its complexity grows quadratically with the length of the input sequence.</a:t>
            </a:r>
          </a:p>
          <a:p>
            <a:r>
              <a:rPr lang="en-US" altLang="zh-CN" dirty="0"/>
              <a:t>Where transformers hit the wall</a:t>
            </a:r>
          </a:p>
          <a:p>
            <a:pPr lvl="1"/>
            <a:r>
              <a:rPr lang="en-US" altLang="zh-CN" dirty="0"/>
              <a:t>KV Cache Explosion</a:t>
            </a:r>
          </a:p>
          <a:p>
            <a:pPr lvl="1"/>
            <a:r>
              <a:rPr lang="en-US" altLang="zh-CN" dirty="0"/>
              <a:t>The Bandwidth Bottleneck</a:t>
            </a:r>
          </a:p>
          <a:p>
            <a:r>
              <a:rPr lang="en-US" altLang="zh-CN" dirty="0"/>
              <a:t>Attention is all your need until you need memory</a:t>
            </a:r>
          </a:p>
          <a:p>
            <a:endParaRPr lang="zh-CN" altLang="en-US" dirty="0"/>
          </a:p>
        </p:txBody>
      </p:sp>
      <p:pic>
        <p:nvPicPr>
          <p:cNvPr id="2097204" name="Picture 2" descr="https://miro.medium.com/v2/resize:fit:1050/1*AsygTFAZ1wiMX42iSPM6Wg.png"/>
          <p:cNvPicPr>
            <a:picLocks noChangeAspect="1" noChangeArrowheads="1"/>
          </p:cNvPicPr>
          <p:nvPr/>
        </p:nvPicPr>
        <p:blipFill>
          <a:blip r:embed="rId3"/>
          <a:srcRect/>
          <a:stretch>
            <a:fillRect/>
          </a:stretch>
        </p:blipFill>
        <p:spPr bwMode="auto">
          <a:xfrm>
            <a:off x="7752921" y="1132554"/>
            <a:ext cx="4048553" cy="2209800"/>
          </a:xfrm>
          <a:prstGeom prst="rect">
            <a:avLst/>
          </a:prstGeom>
          <a:noFill/>
        </p:spPr>
      </p:pic>
      <p:pic>
        <p:nvPicPr>
          <p:cNvPr id="2097205" name="Picture 4" descr="https://miro.medium.com/v2/resize:fit:1050/1*9s_Bf0GBft3fka-diae5zA.png"/>
          <p:cNvPicPr>
            <a:picLocks noChangeAspect="1" noChangeArrowheads="1"/>
          </p:cNvPicPr>
          <p:nvPr/>
        </p:nvPicPr>
        <p:blipFill>
          <a:blip r:embed="rId4"/>
          <a:srcRect/>
          <a:stretch>
            <a:fillRect/>
          </a:stretch>
        </p:blipFill>
        <p:spPr bwMode="auto">
          <a:xfrm>
            <a:off x="7752921" y="3471198"/>
            <a:ext cx="4381173" cy="2975776"/>
          </a:xfrm>
          <a:prstGeom prst="rect">
            <a:avLst/>
          </a:prstGeom>
          <a:noFill/>
        </p:spPr>
      </p:pic>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06" name="Picture 4" descr="image"/>
          <p:cNvPicPr>
            <a:picLocks noChangeAspect="1" noChangeArrowheads="1"/>
          </p:cNvPicPr>
          <p:nvPr/>
        </p:nvPicPr>
        <p:blipFill>
          <a:blip r:embed="rId2"/>
          <a:srcRect/>
          <a:stretch>
            <a:fillRect/>
          </a:stretch>
        </p:blipFill>
        <p:spPr bwMode="auto">
          <a:xfrm>
            <a:off x="880291" y="1538365"/>
            <a:ext cx="6217659" cy="2774032"/>
          </a:xfrm>
          <a:prstGeom prst="rect">
            <a:avLst/>
          </a:prstGeom>
          <a:noFill/>
        </p:spPr>
      </p:pic>
      <p:sp>
        <p:nvSpPr>
          <p:cNvPr id="1048831" name="标题 1"/>
          <p:cNvSpPr>
            <a:spLocks noGrp="1"/>
          </p:cNvSpPr>
          <p:nvPr>
            <p:ph type="title"/>
          </p:nvPr>
        </p:nvSpPr>
        <p:spPr/>
        <p:txBody>
          <a:bodyPr/>
          <a:lstStyle/>
          <a:p>
            <a:r>
              <a:rPr lang="en-US" altLang="zh-CN" dirty="0"/>
              <a:t>Data Flow Diagram of </a:t>
            </a:r>
            <a:r>
              <a:rPr lang="x-none" dirty="0"/>
              <a:t>S</a:t>
            </a:r>
            <a:r>
              <a:rPr lang="en-US" altLang="zh-CN" dirty="0"/>
              <a:t>tandard Attention</a:t>
            </a:r>
            <a:r>
              <a:rPr lang="x-none">
                <a:sym typeface="+mn-ea"/>
              </a:rPr>
              <a:t> (1/2)</a:t>
            </a:r>
            <a:endParaRPr lang="zh-CN" altLang="en-US" dirty="0"/>
          </a:p>
        </p:txBody>
      </p:sp>
      <p:sp>
        <p:nvSpPr>
          <p:cNvPr id="1048832" name="页脚占位符 3"/>
          <p:cNvSpPr>
            <a:spLocks noGrp="1"/>
          </p:cNvSpPr>
          <p:nvPr>
            <p:ph type="ftr" sz="quarter" idx="11"/>
          </p:nvPr>
        </p:nvSpPr>
        <p:spPr/>
        <p:txBody>
          <a:bodyPr/>
          <a:lstStyle/>
          <a:p>
            <a:endParaRPr lang="zh-CN" altLang="en-US" dirty="0"/>
          </a:p>
        </p:txBody>
      </p:sp>
      <p:sp>
        <p:nvSpPr>
          <p:cNvPr id="1048833" name="灯片编号占位符 4"/>
          <p:cNvSpPr>
            <a:spLocks noGrp="1"/>
          </p:cNvSpPr>
          <p:nvPr>
            <p:ph type="sldNum" sz="quarter" idx="12"/>
          </p:nvPr>
        </p:nvSpPr>
        <p:spPr/>
        <p:txBody>
          <a:bodyPr/>
          <a:lstStyle/>
          <a:p>
            <a:fld id="{B33F7469-D28B-482F-B1B6-3B8E7CF51519}" type="slidenum">
              <a:rPr lang="zh-CN" altLang="en-US" smtClean="0"/>
              <a:t>26</a:t>
            </a:fld>
            <a:endParaRPr lang="zh-CN" altLang="en-US" dirty="0"/>
          </a:p>
        </p:txBody>
      </p:sp>
      <p:sp>
        <p:nvSpPr>
          <p:cNvPr id="1048830" name="内容占位符 2"/>
          <p:cNvSpPr>
            <a:spLocks noGrp="1"/>
          </p:cNvSpPr>
          <p:nvPr>
            <p:ph sz="quarter" idx="13"/>
          </p:nvPr>
        </p:nvSpPr>
        <p:spPr/>
        <p:txBody>
          <a:bodyPr/>
          <a:lstStyle/>
          <a:p>
            <a:r>
              <a:rPr lang="en-US" altLang="zh-CN" dirty="0"/>
              <a:t>Step 1: Computing the Attention Scores (S = QK^T / √d)</a:t>
            </a:r>
          </a:p>
          <a:p>
            <a:endParaRPr lang="en-US" altLang="zh-CN" dirty="0"/>
          </a:p>
          <a:p>
            <a:endParaRPr lang="en-US" altLang="zh-CN" dirty="0"/>
          </a:p>
          <a:p>
            <a:endParaRPr lang="en-US" altLang="zh-CN" dirty="0"/>
          </a:p>
          <a:p>
            <a:endParaRPr lang="en-US" altLang="zh-CN" dirty="0"/>
          </a:p>
          <a:p>
            <a:r>
              <a:rPr lang="en-US" altLang="zh-CN" dirty="0"/>
              <a:t>Step 2: Applying </a:t>
            </a:r>
            <a:r>
              <a:rPr lang="en-US" altLang="zh-CN" dirty="0" err="1"/>
              <a:t>Softmax</a:t>
            </a:r>
            <a:r>
              <a:rPr lang="en-US" altLang="zh-CN" dirty="0"/>
              <a:t> (P = </a:t>
            </a:r>
            <a:r>
              <a:rPr lang="en-US" altLang="zh-CN" dirty="0" err="1"/>
              <a:t>softmax</a:t>
            </a:r>
            <a:r>
              <a:rPr lang="en-US" altLang="zh-CN" dirty="0"/>
              <a:t>(S))</a:t>
            </a:r>
          </a:p>
          <a:p>
            <a:endParaRPr lang="zh-CN" altLang="en-US" dirty="0"/>
          </a:p>
        </p:txBody>
      </p:sp>
      <p:pic>
        <p:nvPicPr>
          <p:cNvPr id="2097207" name="Picture 2" descr="image"/>
          <p:cNvPicPr>
            <a:picLocks noChangeAspect="1" noChangeArrowheads="1"/>
          </p:cNvPicPr>
          <p:nvPr/>
        </p:nvPicPr>
        <p:blipFill>
          <a:blip r:embed="rId3"/>
          <a:srcRect/>
          <a:stretch>
            <a:fillRect/>
          </a:stretch>
        </p:blipFill>
        <p:spPr bwMode="auto">
          <a:xfrm>
            <a:off x="880291" y="4491785"/>
            <a:ext cx="5026303" cy="1582677"/>
          </a:xfrm>
          <a:prstGeom prst="rect">
            <a:avLst/>
          </a:prstGeom>
          <a:noFill/>
        </p:spPr>
      </p:pic>
      <p:sp>
        <p:nvSpPr>
          <p:cNvPr id="1048834" name="矩形 7"/>
          <p:cNvSpPr/>
          <p:nvPr/>
        </p:nvSpPr>
        <p:spPr>
          <a:xfrm>
            <a:off x="7853595" y="2279050"/>
            <a:ext cx="2710999" cy="646331"/>
          </a:xfrm>
          <a:prstGeom prst="rect">
            <a:avLst/>
          </a:prstGeom>
        </p:spPr>
        <p:txBody>
          <a:bodyPr wrap="none">
            <a:spAutoFit/>
          </a:bodyPr>
          <a:lstStyle/>
          <a:p>
            <a:r>
              <a:rPr lang="pt-BR" altLang="zh-CN" dirty="0">
                <a:solidFill>
                  <a:schemeClr val="bg1">
                    <a:lumMod val="75000"/>
                  </a:schemeClr>
                </a:solidFill>
              </a:rPr>
              <a:t>For example:</a:t>
            </a:r>
          </a:p>
          <a:p>
            <a:r>
              <a:rPr lang="pt-BR" altLang="zh-CN" dirty="0">
                <a:solidFill>
                  <a:schemeClr val="bg1">
                    <a:lumMod val="75000"/>
                  </a:schemeClr>
                </a:solidFill>
              </a:rPr>
              <a:t>N = 4096, d = 128, FP16</a:t>
            </a:r>
            <a:endParaRPr lang="zh-CN" altLang="en-US" dirty="0">
              <a:solidFill>
                <a:schemeClr val="bg1">
                  <a:lumMod val="75000"/>
                </a:schemeClr>
              </a:solidFil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5" name="标题 1"/>
          <p:cNvSpPr>
            <a:spLocks noGrp="1"/>
          </p:cNvSpPr>
          <p:nvPr>
            <p:ph type="title"/>
          </p:nvPr>
        </p:nvSpPr>
        <p:spPr/>
        <p:txBody>
          <a:bodyPr/>
          <a:lstStyle/>
          <a:p>
            <a:r>
              <a:rPr lang="en-US" altLang="zh-CN" dirty="0"/>
              <a:t>Data Flow Diagram of </a:t>
            </a:r>
            <a:r>
              <a:rPr lang="x-none" dirty="0"/>
              <a:t>S</a:t>
            </a:r>
            <a:r>
              <a:rPr lang="en-US" altLang="zh-CN" dirty="0"/>
              <a:t>tandard Attention</a:t>
            </a:r>
            <a:r>
              <a:rPr lang="x-none">
                <a:sym typeface="+mn-ea"/>
              </a:rPr>
              <a:t> (2/2)</a:t>
            </a:r>
            <a:endParaRPr lang="zh-CN" altLang="en-US" dirty="0"/>
          </a:p>
        </p:txBody>
      </p:sp>
      <p:sp>
        <p:nvSpPr>
          <p:cNvPr id="1048836" name="灯片编号占位符 2"/>
          <p:cNvSpPr>
            <a:spLocks noGrp="1"/>
          </p:cNvSpPr>
          <p:nvPr>
            <p:ph type="sldNum" sz="quarter" idx="12"/>
          </p:nvPr>
        </p:nvSpPr>
        <p:spPr/>
        <p:txBody>
          <a:bodyPr/>
          <a:lstStyle/>
          <a:p>
            <a:fld id="{B33F7469-D28B-482F-B1B6-3B8E7CF51519}" type="slidenum">
              <a:rPr lang="zh-CN" altLang="en-US" smtClean="0"/>
              <a:t>27</a:t>
            </a:fld>
            <a:endParaRPr lang="zh-CN" altLang="en-US" dirty="0"/>
          </a:p>
        </p:txBody>
      </p:sp>
      <p:sp>
        <p:nvSpPr>
          <p:cNvPr id="1048837" name="内容占位符 3"/>
          <p:cNvSpPr>
            <a:spLocks noGrp="1"/>
          </p:cNvSpPr>
          <p:nvPr>
            <p:ph sz="quarter" idx="13"/>
          </p:nvPr>
        </p:nvSpPr>
        <p:spPr/>
        <p:txBody>
          <a:bodyPr/>
          <a:lstStyle/>
          <a:p>
            <a:r>
              <a:rPr lang="en-US" altLang="zh-CN" dirty="0"/>
              <a:t>Step 3: Computing the Output (O = PV)</a:t>
            </a:r>
          </a:p>
          <a:p>
            <a:endParaRPr lang="en-US" altLang="zh-CN" dirty="0"/>
          </a:p>
          <a:p>
            <a:endParaRPr lang="en-US" altLang="zh-CN" dirty="0"/>
          </a:p>
          <a:p>
            <a:endParaRPr lang="en-US" altLang="zh-CN" dirty="0"/>
          </a:p>
          <a:p>
            <a:endParaRPr lang="en-US" altLang="zh-CN" dirty="0"/>
          </a:p>
          <a:p>
            <a:r>
              <a:rPr lang="en-US" altLang="zh-CN" dirty="0"/>
              <a:t>Total HBM Traffic:</a:t>
            </a:r>
            <a:endParaRPr lang="zh-CN" altLang="en-US" dirty="0"/>
          </a:p>
        </p:txBody>
      </p:sp>
      <p:sp>
        <p:nvSpPr>
          <p:cNvPr id="1048838" name="页脚占位符 4"/>
          <p:cNvSpPr>
            <a:spLocks noGrp="1"/>
          </p:cNvSpPr>
          <p:nvPr>
            <p:ph type="ftr" sz="quarter" idx="11"/>
          </p:nvPr>
        </p:nvSpPr>
        <p:spPr/>
        <p:txBody>
          <a:bodyPr/>
          <a:lstStyle/>
          <a:p>
            <a:endParaRPr lang="zh-CN" altLang="en-US" dirty="0"/>
          </a:p>
        </p:txBody>
      </p:sp>
      <p:sp>
        <p:nvSpPr>
          <p:cNvPr id="2" name="内容占位符 1"/>
          <p:cNvSpPr>
            <a:spLocks noGrp="1"/>
          </p:cNvSpPr>
          <p:nvPr>
            <p:ph sz="quarter" idx="14"/>
          </p:nvPr>
        </p:nvSpPr>
        <p:spPr/>
        <p:txBody>
          <a:bodyPr/>
          <a:lstStyle/>
          <a:p>
            <a:endParaRPr lang="zh-CN" altLang="en-US"/>
          </a:p>
        </p:txBody>
      </p:sp>
      <p:pic>
        <p:nvPicPr>
          <p:cNvPr id="2097208" name="Picture 2" descr="image"/>
          <p:cNvPicPr>
            <a:picLocks noChangeAspect="1" noChangeArrowheads="1"/>
          </p:cNvPicPr>
          <p:nvPr/>
        </p:nvPicPr>
        <p:blipFill>
          <a:blip r:embed="rId3"/>
          <a:srcRect/>
          <a:stretch>
            <a:fillRect/>
          </a:stretch>
        </p:blipFill>
        <p:spPr bwMode="auto">
          <a:xfrm>
            <a:off x="1152958" y="1740131"/>
            <a:ext cx="5296333" cy="2362979"/>
          </a:xfrm>
          <a:prstGeom prst="rect">
            <a:avLst/>
          </a:prstGeom>
          <a:noFill/>
        </p:spPr>
      </p:pic>
      <p:pic>
        <p:nvPicPr>
          <p:cNvPr id="2097209" name="图片 6"/>
          <p:cNvPicPr>
            <a:picLocks noChangeAspect="1"/>
          </p:cNvPicPr>
          <p:nvPr/>
        </p:nvPicPr>
        <p:blipFill>
          <a:blip r:embed="rId4"/>
          <a:stretch>
            <a:fillRect/>
          </a:stretch>
        </p:blipFill>
        <p:spPr>
          <a:xfrm>
            <a:off x="996891" y="4644457"/>
            <a:ext cx="6429145" cy="1779134"/>
          </a:xfrm>
          <a:prstGeom prst="rect">
            <a:avLst/>
          </a:prstGeom>
        </p:spPr>
      </p:pic>
      <p:sp>
        <p:nvSpPr>
          <p:cNvPr id="1048839" name="矩形 8"/>
          <p:cNvSpPr/>
          <p:nvPr/>
        </p:nvSpPr>
        <p:spPr>
          <a:xfrm>
            <a:off x="7853595" y="2279050"/>
            <a:ext cx="2710999" cy="646331"/>
          </a:xfrm>
          <a:prstGeom prst="rect">
            <a:avLst/>
          </a:prstGeom>
        </p:spPr>
        <p:txBody>
          <a:bodyPr wrap="none">
            <a:spAutoFit/>
          </a:bodyPr>
          <a:lstStyle/>
          <a:p>
            <a:r>
              <a:rPr lang="pt-BR" altLang="zh-CN" dirty="0">
                <a:solidFill>
                  <a:schemeClr val="bg1">
                    <a:lumMod val="75000"/>
                  </a:schemeClr>
                </a:solidFill>
              </a:rPr>
              <a:t>For example:</a:t>
            </a:r>
          </a:p>
          <a:p>
            <a:r>
              <a:rPr lang="pt-BR" altLang="zh-CN" dirty="0">
                <a:solidFill>
                  <a:schemeClr val="bg1">
                    <a:lumMod val="75000"/>
                  </a:schemeClr>
                </a:solidFill>
              </a:rPr>
              <a:t>N = 4096, d = 128, FP16</a:t>
            </a:r>
            <a:endParaRPr lang="zh-CN" altLang="en-US" dirty="0">
              <a:solidFill>
                <a:schemeClr val="bg1">
                  <a:lumMod val="75000"/>
                </a:schemeClr>
              </a:solidFil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3" name="标题 1"/>
          <p:cNvSpPr>
            <a:spLocks noGrp="1"/>
          </p:cNvSpPr>
          <p:nvPr>
            <p:ph type="title"/>
          </p:nvPr>
        </p:nvSpPr>
        <p:spPr/>
        <p:txBody>
          <a:bodyPr/>
          <a:lstStyle/>
          <a:p>
            <a:r>
              <a:rPr lang="en-US" altLang="zh-CN" dirty="0"/>
              <a:t>The "Memory Wall" of Standard Attention</a:t>
            </a:r>
            <a:endParaRPr lang="zh-CN" altLang="en-US" dirty="0"/>
          </a:p>
        </p:txBody>
      </p:sp>
      <p:sp>
        <p:nvSpPr>
          <p:cNvPr id="1048845" name="页脚占位符 3"/>
          <p:cNvSpPr>
            <a:spLocks noGrp="1"/>
          </p:cNvSpPr>
          <p:nvPr>
            <p:ph type="ftr" sz="quarter" idx="11"/>
          </p:nvPr>
        </p:nvSpPr>
        <p:spPr/>
        <p:txBody>
          <a:bodyPr/>
          <a:lstStyle/>
          <a:p>
            <a:endParaRPr lang="zh-CN" altLang="en-US" dirty="0"/>
          </a:p>
        </p:txBody>
      </p:sp>
      <p:sp>
        <p:nvSpPr>
          <p:cNvPr id="1048846" name="灯片编号占位符 4"/>
          <p:cNvSpPr>
            <a:spLocks noGrp="1"/>
          </p:cNvSpPr>
          <p:nvPr>
            <p:ph type="sldNum" sz="quarter" idx="12"/>
          </p:nvPr>
        </p:nvSpPr>
        <p:spPr/>
        <p:txBody>
          <a:bodyPr/>
          <a:lstStyle/>
          <a:p>
            <a:fld id="{B33F7469-D28B-482F-B1B6-3B8E7CF51519}" type="slidenum">
              <a:rPr lang="zh-CN" altLang="en-US" smtClean="0"/>
              <a:t>28</a:t>
            </a:fld>
            <a:endParaRPr lang="zh-CN" altLang="en-US" dirty="0"/>
          </a:p>
        </p:txBody>
      </p:sp>
      <p:sp>
        <p:nvSpPr>
          <p:cNvPr id="1048844" name="内容占位符 2"/>
          <p:cNvSpPr>
            <a:spLocks noGrp="1"/>
          </p:cNvSpPr>
          <p:nvPr>
            <p:ph sz="quarter" idx="13"/>
          </p:nvPr>
        </p:nvSpPr>
        <p:spPr/>
        <p:txBody>
          <a:bodyPr/>
          <a:lstStyle/>
          <a:p>
            <a:r>
              <a:rPr lang="en-US" altLang="zh-CN" dirty="0"/>
              <a:t>The Problem: Standard Attention complexity is O(</a:t>
            </a:r>
            <a:r>
              <a:rPr lang="en-US" altLang="zh-CN" i="1" dirty="0"/>
              <a:t>n²</a:t>
            </a:r>
            <a:r>
              <a:rPr lang="en-US" altLang="zh-CN" dirty="0"/>
              <a:t>).</a:t>
            </a:r>
          </a:p>
          <a:p>
            <a:r>
              <a:rPr lang="en-US" altLang="zh-CN" dirty="0"/>
              <a:t>Pain Points: Memory consumption scales quadratically with sequence length n, leading to frequent Out-of-Memory errors during long-context processing.</a:t>
            </a:r>
          </a:p>
          <a:p>
            <a:r>
              <a:rPr lang="en-US" altLang="zh-CN" dirty="0"/>
              <a:t>The Crucial Question: Do we truly need to materialize and store that massive N x N attention matrix?</a:t>
            </a:r>
            <a:endParaRPr lang="zh-CN" altLang="en-US" dirty="0"/>
          </a:p>
        </p:txBody>
      </p:sp>
      <p:pic>
        <p:nvPicPr>
          <p:cNvPr id="2097210" name="Picture 3" descr="AI and Memory Wall. (This blogpost has been written in… | by Amir Gholami |  riselab | Medium"/>
          <p:cNvPicPr>
            <a:picLocks noChangeAspect="1" noChangeArrowheads="1"/>
          </p:cNvPicPr>
          <p:nvPr/>
        </p:nvPicPr>
        <p:blipFill>
          <a:blip r:embed="rId2"/>
          <a:srcRect/>
          <a:stretch>
            <a:fillRect/>
          </a:stretch>
        </p:blipFill>
        <p:spPr bwMode="auto">
          <a:xfrm>
            <a:off x="1011381" y="3562143"/>
            <a:ext cx="5701146" cy="2976770"/>
          </a:xfrm>
          <a:prstGeom prst="rect">
            <a:avLst/>
          </a:prstGeom>
          <a:noFill/>
        </p:spPr>
      </p:pic>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6896</Words>
  <Application>Microsoft Office PowerPoint</Application>
  <PresentationFormat>宽屏</PresentationFormat>
  <Paragraphs>372</Paragraphs>
  <Slides>31</Slides>
  <Notes>21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31</vt:i4>
      </vt:variant>
    </vt:vector>
  </HeadingPairs>
  <TitlesOfParts>
    <vt:vector size="45" baseType="lpstr">
      <vt:lpstr>Chinese Quote</vt:lpstr>
      <vt:lpstr>Helvetica Neue</vt:lpstr>
      <vt:lpstr>等线</vt:lpstr>
      <vt:lpstr>微软雅黑</vt:lpstr>
      <vt:lpstr>文泉驿微米黑</vt:lpstr>
      <vt:lpstr>Arial</vt:lpstr>
      <vt:lpstr>Calibri</vt:lpstr>
      <vt:lpstr>Calibri Light</vt:lpstr>
      <vt:lpstr>Ebrima</vt:lpstr>
      <vt:lpstr>Garamond</vt:lpstr>
      <vt:lpstr>Helvetica</vt:lpstr>
      <vt:lpstr>Montserrat SemiBold</vt:lpstr>
      <vt:lpstr>Wingdings 3</vt:lpstr>
      <vt:lpstr>母版</vt:lpstr>
      <vt:lpstr>Hardware and Software Fundamentals of  Intelligent Computing  Systems</vt:lpstr>
      <vt:lpstr>Lecture 10: Attention Mechanism Principles and Operator Requirements</vt:lpstr>
      <vt:lpstr>From RNN to Transformer</vt:lpstr>
      <vt:lpstr>A Brief Overview of the Transformer Architecture</vt:lpstr>
      <vt:lpstr>What is Attention? (1/4)</vt:lpstr>
      <vt:lpstr>What is Attention? (2/4)</vt:lpstr>
      <vt:lpstr>What is Attention? (3/4)</vt:lpstr>
      <vt:lpstr>What is Attention? (4/4)</vt:lpstr>
      <vt:lpstr>Background: Transformer (1/3)</vt:lpstr>
      <vt:lpstr>Background: Transformer (2/3)</vt:lpstr>
      <vt:lpstr>Background: Transformer (3/3)</vt:lpstr>
      <vt:lpstr>Q/K/V Matrices (1/2)</vt:lpstr>
      <vt:lpstr>Q/K/V Matrices (2/2)</vt:lpstr>
      <vt:lpstr>Computation Pipeline of Attention(Q, K, V)</vt:lpstr>
      <vt:lpstr>Transformer: Multi-Headed Attention (1/2)</vt:lpstr>
      <vt:lpstr>Transformer: Multi-Headed Attention (2/2)</vt:lpstr>
      <vt:lpstr>Transformer: Positional Encoding (1/2)</vt:lpstr>
      <vt:lpstr>Transformer: Positional Encoding (2/2)</vt:lpstr>
      <vt:lpstr>Transformer: The Residuals</vt:lpstr>
      <vt:lpstr>Transformer: Decoder</vt:lpstr>
      <vt:lpstr>Transformer: The Final Linear and Softmax Layer</vt:lpstr>
      <vt:lpstr>LLM – Decoder-only</vt:lpstr>
      <vt:lpstr>Complexity of Attention (1/2)</vt:lpstr>
      <vt:lpstr>Complexity of Attention (2/2)</vt:lpstr>
      <vt:lpstr>The Memory Wall Problem</vt:lpstr>
      <vt:lpstr>Data Flow Diagram of Standard Attention (1/2)</vt:lpstr>
      <vt:lpstr>Data Flow Diagram of Standard Attention (2/2)</vt:lpstr>
      <vt:lpstr>The "Memory Wall" of Standard Attention</vt:lpstr>
      <vt:lpstr>The Solution: FlagOS, a Unified AI Software Stack</vt:lpstr>
      <vt:lpstr>PowerPoint 演示文稿</vt:lpstr>
      <vt:lpstr>Thanks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10：注意力机制 原理与算子需求</dc:title>
  <dc:creator>王丰</dc:creator>
  <cp:lastModifiedBy>Xiang Li</cp:lastModifiedBy>
  <cp:revision>11</cp:revision>
  <dcterms:created xsi:type="dcterms:W3CDTF">2026-03-12T02:47:00Z</dcterms:created>
  <dcterms:modified xsi:type="dcterms:W3CDTF">2026-03-17T14:53:32Z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73a59436b4354da09f2a1aff800eacb2_23</vt:lpwstr>
  </property>
  <property fmtid="{D5CDD505-2E9C-101B-9397-08002B2CF9AE}" pid="3" name="KSOProductBuildVer">
    <vt:lpwstr>2052-12.1.0.19302</vt:lpwstr>
  </property>
</Properties>
</file>