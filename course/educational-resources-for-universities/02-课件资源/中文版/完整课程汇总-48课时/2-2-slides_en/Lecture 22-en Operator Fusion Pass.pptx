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5" r:id="rId1"/>
  </p:sldMasterIdLst>
  <p:notesMasterIdLst>
    <p:notesMasterId r:id="rId18"/>
  </p:notesMasterIdLst>
  <p:handoutMasterIdLst>
    <p:handoutMasterId r:id="rId19"/>
  </p:handoutMasterIdLst>
  <p:sldIdLst>
    <p:sldId id="342" r:id="rId2"/>
    <p:sldId id="257" r:id="rId3"/>
    <p:sldId id="331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277" r:id="rId15"/>
    <p:sldId id="279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7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08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09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0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90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4189584"/>
      </p:ext>
    </p:extLst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32628547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33978446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477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0525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420631"/>
      </p:ext>
    </p:extLst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757084"/>
      </p:ext>
    </p:extLst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186609"/>
      </p:ext>
    </p:extLst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pitchFamily="3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7393851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04595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76276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495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1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20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19.png"/><Relationship Id="rId29" Type="http://schemas.openxmlformats.org/officeDocument/2006/relationships/image" Target="../media/image24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22.png"/><Relationship Id="rId28" Type="http://schemas.openxmlformats.org/officeDocument/2006/relationships/image" Target="../media/image23.jpeg"/><Relationship Id="rId10" Type="http://schemas.openxmlformats.org/officeDocument/2006/relationships/tags" Target="../tags/tag19.xml"/><Relationship Id="rId19" Type="http://schemas.openxmlformats.org/officeDocument/2006/relationships/image" Target="../media/image18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21.png"/><Relationship Id="rId27" Type="http://schemas.openxmlformats.org/officeDocument/2006/relationships/hyperlink" Target="https://flagos.io/Hom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Lecture 22: Operator Fusion Pass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Perform Operator Fusion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Gholami, A., Yao, Z., Kim, S., Hooper, C., Mahoney, M. W., &amp; Keutzer, K. (2024). Ai and memory wall. IEEE Micro, 44(3), 33-39.</a:t>
            </a:r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Memory Wall</a:t>
            </a:r>
            <a:r>
              <a:rPr lang="en-US" altLang="zh-CN" sz="2000"/>
              <a:t> (Memory Wall) </a:t>
            </a:r>
            <a:r>
              <a:rPr lang="en-US" altLang="en-US" sz="2000"/>
              <a:t> Phenomenon: The computational bottleneck has shifted from</a:t>
            </a:r>
            <a:r>
              <a:rPr lang="en-US" altLang="zh-CN" sz="2000"/>
              <a:t> ALU </a:t>
            </a:r>
            <a:r>
              <a:rPr lang="en-US" altLang="en-US" sz="2000"/>
              <a:t> ALU compute power to memory bandwidth and data transfer latency.</a:t>
            </a:r>
            <a:endParaRPr lang="en-US" altLang="zh-CN" sz="2000"/>
          </a:p>
          <a:p>
            <a:r>
              <a:rPr lang="en-US" altLang="en-US" sz="2000"/>
              <a:t>Cost of Frequent Memory Access: In unoptimized computation graphs, each operator must go through the complete</a:t>
            </a:r>
            <a:r>
              <a:rPr lang="en-US" altLang="zh-CN" sz="2000"/>
              <a:t>“</a:t>
            </a:r>
            <a:r>
              <a:rPr lang="en-US" altLang="en-US" sz="2000"/>
              <a:t>read main memory</a:t>
            </a:r>
            <a:r>
              <a:rPr lang="en-US" altLang="zh-CN" sz="2000"/>
              <a:t> -&gt; </a:t>
            </a:r>
            <a:r>
              <a:rPr lang="en-US" altLang="en-US" sz="2000"/>
              <a:t> compute</a:t>
            </a:r>
            <a:r>
              <a:rPr lang="en-US" altLang="zh-CN" sz="2000"/>
              <a:t> -&gt; </a:t>
            </a:r>
            <a:r>
              <a:rPr lang="en-US" altLang="en-US" sz="2000"/>
              <a:t>write main memory</a:t>
            </a:r>
            <a:r>
              <a:rPr lang="en-US" altLang="zh-CN" sz="2000"/>
              <a:t>”</a:t>
            </a:r>
            <a:r>
              <a:rPr lang="en-US" altLang="en-US" sz="2000"/>
              <a:t> lifecycle.</a:t>
            </a:r>
          </a:p>
          <a:p>
            <a:r>
              <a:rPr lang="en-US" altLang="en-US" sz="2000"/>
              <a:t>Introducing Operator Fusion: By merging computation kernels, keeping intermediate results in</a:t>
            </a:r>
            <a:r>
              <a:rPr lang="en-US" altLang="zh-CN" sz="2000"/>
              <a:t> L1/L2 Cache </a:t>
            </a:r>
            <a:r>
              <a:rPr lang="en-US" altLang="en-US" sz="2000"/>
              <a:t> or registers, breaking through memory bottlenecks</a:t>
            </a:r>
            <a:r>
              <a:rPr lang="en-US" altLang="zh-CN" sz="2000"/>
              <a:t> </a:t>
            </a:r>
            <a:r>
              <a:rPr lang="en-US" altLang="en-US" sz="2000"/>
              <a:t>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984250"/>
            <a:ext cx="5289550" cy="2787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25" y="3601720"/>
            <a:ext cx="5196840" cy="27565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Operator Fusion</a:t>
            </a:r>
            <a:r>
              <a:rPr lang="en-US" altLang="zh-CN"/>
              <a:t> (Operator Fusion)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Dao, Tri, et al. "Flashattention: Fast and memory-efficient exact attention with io-awareness." Advances in neural information processing systems 35 (2022): 16344-16359.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en-US" sz="1800"/>
              <a:t>Core Definition: </a:t>
            </a:r>
          </a:p>
          <a:p>
            <a:pPr lvl="1"/>
            <a:r>
              <a:rPr lang="en-US" altLang="en-US" sz="1600"/>
              <a:t>Merging multiple adjacent independent operators in the computation graph (e.g.,</a:t>
            </a:r>
            <a:r>
              <a:rPr lang="en-US" altLang="zh-CN" sz="1600"/>
              <a:t> Conv + BN + ReLU</a:t>
            </a:r>
            <a:r>
              <a:rPr lang="en-US" altLang="en-US" sz="1600"/>
              <a:t>) into a single, more efficient execution kernel</a:t>
            </a:r>
            <a:r>
              <a:rPr lang="en-US" altLang="zh-CN" sz="1600"/>
              <a:t> </a:t>
            </a:r>
            <a:r>
              <a:rPr lang="en-US" altLang="en-US" sz="1600"/>
              <a:t>.</a:t>
            </a:r>
          </a:p>
          <a:p>
            <a:r>
              <a:rPr lang="en-US" altLang="en-US" sz="1800"/>
              <a:t>Key Benefits: </a:t>
            </a:r>
            <a:endParaRPr lang="en-US" altLang="zh-CN" sz="1800"/>
          </a:p>
          <a:p>
            <a:pPr lvl="1"/>
            <a:r>
              <a:rPr lang="en-US" altLang="en-US" sz="1600"/>
              <a:t>Eliminating intermediate feature map read/write</a:t>
            </a:r>
            <a:r>
              <a:rPr lang="en-US" altLang="zh-CN" sz="1600"/>
              <a:t> DRAM </a:t>
            </a:r>
            <a:r>
              <a:rPr lang="en-US" altLang="en-US" sz="1600"/>
              <a:t> bandwidth consumption</a:t>
            </a:r>
            <a:r>
              <a:rPr lang="en-US" altLang="zh-CN" sz="1600"/>
              <a:t> </a:t>
            </a:r>
            <a:r>
              <a:rPr lang="en-US" altLang="en-US" sz="1600"/>
              <a:t>.</a:t>
            </a:r>
            <a:endParaRPr lang="en-US" altLang="zh-CN" sz="1600"/>
          </a:p>
          <a:p>
            <a:pPr lvl="1"/>
            <a:r>
              <a:rPr lang="en-US" altLang="en-US" sz="1600"/>
              <a:t>Significantly reducing kernel launch</a:t>
            </a:r>
            <a:r>
              <a:rPr lang="en-US" altLang="zh-CN" sz="1600"/>
              <a:t> (Kernel Launch) </a:t>
            </a:r>
            <a:r>
              <a:rPr lang="en-US" altLang="en-US" sz="1600"/>
              <a:t> overhead</a:t>
            </a:r>
            <a:r>
              <a:rPr lang="en-US" altLang="zh-CN" sz="1600"/>
              <a:t> </a:t>
            </a:r>
            <a:r>
              <a:rPr lang="en-US" altLang="en-US" sz="1600"/>
              <a:t>.</a:t>
            </a:r>
          </a:p>
          <a:p>
            <a:pPr lvl="1"/>
            <a:r>
              <a:rPr lang="en-US" altLang="en-US" sz="1600"/>
              <a:t>Lowering peak memory usage during inference deployment.</a:t>
            </a:r>
          </a:p>
          <a:p>
            <a:pPr lvl="0"/>
            <a:r>
              <a:rPr lang="en-US" altLang="en-US" sz="1800"/>
              <a:t>Three Core Stages: </a:t>
            </a:r>
          </a:p>
          <a:p>
            <a:pPr lvl="1"/>
            <a:r>
              <a:rPr lang="en-US" altLang="en-US" sz="1600"/>
              <a:t>Graph Matching: Finding specific topological structures in the computation graph.</a:t>
            </a:r>
            <a:endParaRPr lang="en-US" altLang="zh-CN" sz="1600"/>
          </a:p>
          <a:p>
            <a:pPr lvl="1"/>
            <a:r>
              <a:rPr lang="en-US" altLang="en-US" sz="1600"/>
              <a:t>Pattern Recognition: Validating semantic legality and physical constraints.</a:t>
            </a:r>
            <a:endParaRPr lang="en-US" altLang="zh-CN" sz="1600"/>
          </a:p>
          <a:p>
            <a:pPr lvl="1"/>
            <a:r>
              <a:rPr lang="en-US" altLang="en-US" sz="1600"/>
              <a:t>Subgraph Rewriting: Performing equivalent graph transformations.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380" y="1323975"/>
            <a:ext cx="4567555" cy="4660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Graph Matching Algorithm</a:t>
            </a:r>
            <a:r>
              <a:rPr lang="en-US" altLang="zh-CN">
                <a:sym typeface="+mn-ea"/>
              </a:rPr>
              <a:t> (Graph Matching)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https://thinklab.sjtu.edu.cn/project/GANN-GM/index.html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800"/>
              <a:t>Directed Acyclic Graph</a:t>
            </a:r>
            <a:r>
              <a:rPr lang="en-US" altLang="zh-CN" sz="1800"/>
              <a:t> (DAG)</a:t>
            </a:r>
            <a:r>
              <a:rPr lang="en-US" altLang="en-US" sz="1800"/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Data structure for neural networks in compilers, with nodes representing operators and edges representing tensor data flow.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en-US" sz="1800"/>
              <a:t>Subgraph Isomorphism</a:t>
            </a:r>
            <a:r>
              <a:rPr lang="en-US" altLang="zh-CN" sz="1800"/>
              <a:t> </a:t>
            </a:r>
            <a:r>
              <a:rPr lang="en-US" altLang="en-US" sz="1800"/>
              <a:t>Problem: 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 Defining fusion rules as a pattern graph</a:t>
            </a:r>
            <a:r>
              <a:rPr lang="en-US" altLang="zh-CN" sz="1600"/>
              <a:t> (Pattern Graph)</a:t>
            </a:r>
            <a:r>
              <a:rPr lang="en-US" altLang="en-US" sz="1600"/>
              <a:t>, and searching for exact matches in the host computation graph</a:t>
            </a:r>
            <a:r>
              <a:rPr lang="en-US" altLang="zh-CN" sz="1600"/>
              <a:t> (Host Graph)  </a:t>
            </a:r>
            <a:r>
              <a:rPr lang="en-US" altLang="en-US" sz="1600"/>
              <a:t>.</a:t>
            </a:r>
            <a:endParaRPr lang="en-US" altLang="zh-CN" sz="1600"/>
          </a:p>
          <a:p>
            <a:pPr>
              <a:lnSpc>
                <a:spcPct val="150000"/>
              </a:lnSpc>
            </a:pPr>
            <a:r>
              <a:rPr lang="en-US" altLang="en-US" sz="1800"/>
              <a:t>Computational Complexity: 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Traditional full graph matching is an</a:t>
            </a:r>
            <a:r>
              <a:rPr lang="en-US" altLang="zh-CN" sz="1600"/>
              <a:t> NP </a:t>
            </a:r>
            <a:r>
              <a:rPr lang="en-US" altLang="en-US" sz="1600"/>
              <a:t>-Complete problem, but deep learning computation graphs have strong domain-specific properties enabling significant pruning</a:t>
            </a:r>
            <a:r>
              <a:rPr lang="en-US" altLang="zh-CN" sz="1600"/>
              <a:t> </a:t>
            </a:r>
            <a:r>
              <a:rPr lang="en-US" altLang="en-US" sz="1600"/>
              <a:t>.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7581265" y="2644140"/>
            <a:ext cx="4345305" cy="2622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Matching Acceleration Strategies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Cutler, Joseph W., et al. "Pattern Matching in AI Compilers and its Formalization (Extended Version)." arXiv preprint arXiv:2412.13398 (2024).</a:t>
            </a:r>
          </a:p>
          <a:p>
            <a:r>
              <a:rPr lang="en-US" altLang="zh-CN" dirty="0"/>
              <a:t>Liu, Xuanzhou, et al. "D2match: leveraging deep learning and degeneracy for subgraph matching." International Conference on Machine Learning. PMLR, 2023.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en-US" sz="1800"/>
              <a:t>Strong Type Label Filtering: Hash-based filtering by operator type (e.g.,</a:t>
            </a:r>
            <a:r>
              <a:rPr lang="en-US" altLang="zh-CN" sz="1800"/>
              <a:t> Conv2D, BatchNorm</a:t>
            </a:r>
            <a:r>
              <a:rPr lang="en-US" altLang="en-US" sz="1800"/>
              <a:t>), quickly excluding incompatible nodes.</a:t>
            </a:r>
            <a:endParaRPr lang="en-US" altLang="zh-CN" sz="1800"/>
          </a:p>
          <a:p>
            <a:pPr>
              <a:lnSpc>
                <a:spcPct val="140000"/>
              </a:lnSpc>
            </a:pPr>
            <a:r>
              <a:rPr lang="en-US" altLang="en-US" sz="1800"/>
              <a:t>Topological Sort and</a:t>
            </a:r>
            <a:r>
              <a:rPr lang="en-US" altLang="zh-CN" sz="1800"/>
              <a:t> Use-Def </a:t>
            </a:r>
            <a:r>
              <a:rPr lang="en-US" altLang="en-US" sz="1800"/>
              <a:t> Chains: Traversing along or against the tensor's</a:t>
            </a:r>
            <a:r>
              <a:rPr lang="en-US" altLang="zh-CN" sz="1800"/>
              <a:t>“</a:t>
            </a:r>
            <a:r>
              <a:rPr lang="en-US" altLang="en-US" sz="1800"/>
              <a:t>Using</a:t>
            </a:r>
            <a:r>
              <a:rPr lang="en-US" altLang="zh-CN" sz="1800"/>
              <a:t>-</a:t>
            </a:r>
            <a:r>
              <a:rPr lang="en-US" altLang="en-US" sz="1800"/>
              <a:t>Definition</a:t>
            </a:r>
            <a:r>
              <a:rPr lang="en-US" altLang="zh-CN" sz="1800"/>
              <a:t>”</a:t>
            </a:r>
            <a:r>
              <a:rPr lang="en-US" altLang="en-US" sz="1800"/>
              <a:t> chain for local depth-first traversal, limiting the search space.</a:t>
            </a:r>
          </a:p>
          <a:p>
            <a:pPr>
              <a:lnSpc>
                <a:spcPct val="140000"/>
              </a:lnSpc>
            </a:pPr>
            <a:r>
              <a:rPr lang="en-US" altLang="en-US" sz="1800"/>
              <a:t>Approximate and Degenerate Matching: Some advanced compilers employ graph neural networks or structural degeneracy properties, reducing matching time complexity to linear level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180" y="1132840"/>
            <a:ext cx="3954780" cy="22244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55" y="3605530"/>
            <a:ext cx="5801995" cy="2070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Pattern Recognition</a:t>
            </a:r>
            <a:r>
              <a:rPr lang="en-US" altLang="zh-CN"/>
              <a:t> (Pattern Recognition)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7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en-US" sz="1800"/>
              <a:t>Dataflow Constraints and Exclusivity Analysis</a:t>
            </a:r>
          </a:p>
          <a:p>
            <a:pPr lvl="1"/>
            <a:r>
              <a:rPr lang="en-US" altLang="zh-CN" sz="1600"/>
              <a:t>DAG</a:t>
            </a:r>
            <a:r>
              <a:rPr lang="en-US" altLang="en-US" sz="1600"/>
              <a:t>, an operator's output may be consumed by multiple downstream operators</a:t>
            </a:r>
            <a:r>
              <a:rPr lang="en-US" altLang="zh-CN" sz="1600"/>
              <a:t>, </a:t>
            </a:r>
            <a:r>
              <a:rPr lang="en-US" altLang="en-US" sz="1600"/>
              <a:t>, when performing vertical fusion, the compiler must conduct strict liveness and multi-user checks.</a:t>
            </a:r>
          </a:p>
          <a:p>
            <a:r>
              <a:rPr lang="en-US" altLang="en-US" sz="1800"/>
              <a:t>Operation Attributes and Shape Constraints</a:t>
            </a:r>
          </a:p>
          <a:p>
            <a:pPr lvl="1"/>
            <a:r>
              <a:rPr lang="en-US" altLang="en-US" sz="1600"/>
              <a:t>Tensor Dimension Verification: Matching logic must verify whether input tensor shapes and dimensions meet fusion requirements (e.g., alignment requirements).</a:t>
            </a:r>
          </a:p>
          <a:p>
            <a:pPr lvl="1"/>
            <a:r>
              <a:rPr lang="en-US" altLang="en-US" sz="1600"/>
              <a:t>Memory Layout: Hardware acceleration libraries (e.g.,</a:t>
            </a:r>
            <a:r>
              <a:rPr lang="en-US" altLang="zh-CN" sz="1600"/>
              <a:t> cuDNN</a:t>
            </a:r>
            <a:r>
              <a:rPr lang="en-US" altLang="en-US" sz="1600"/>
              <a:t>) typically have strict</a:t>
            </a:r>
            <a:r>
              <a:rPr lang="en-US" altLang="zh-CN" sz="1600"/>
              <a:t> NCHW </a:t>
            </a:r>
            <a:r>
              <a:rPr lang="en-US" altLang="en-US" sz="1600"/>
              <a:t>or</a:t>
            </a:r>
            <a:r>
              <a:rPr lang="en-US" altLang="zh-CN" sz="1600"/>
              <a:t> NHWC </a:t>
            </a:r>
            <a:r>
              <a:rPr lang="en-US" altLang="en-US" sz="1600"/>
              <a:t> have strict data layout requirements.</a:t>
            </a:r>
          </a:p>
          <a:p>
            <a:r>
              <a:rPr lang="en-US" altLang="en-US" sz="1800"/>
              <a:t>Cost Model-Based Benefit Assessment</a:t>
            </a:r>
          </a:p>
          <a:p>
            <a:pPr lvl="1"/>
            <a:r>
              <a:rPr lang="en-US" altLang="en-US" sz="1600"/>
              <a:t>Fusion is not always optimal: Excessive fusion may cause local variable explosion and register spilling.</a:t>
            </a:r>
            <a:endParaRPr lang="en-US" altLang="zh-CN" sz="1600"/>
          </a:p>
          <a:p>
            <a:pPr lvl="1"/>
            <a:r>
              <a:rPr lang="en-US" altLang="en-US" sz="1600"/>
              <a:t>Hardware-Aware Cost Model: Automatically evaluating the balance between computation, data transfer, and launch overhead.</a:t>
            </a:r>
          </a:p>
          <a:p>
            <a:pPr lvl="1"/>
            <a:r>
              <a:rPr lang="en-US" altLang="en-US" sz="1600"/>
              <a:t>Benefit Constraint: If the cost model predicts negative benefit from fusion, the recognition engine proactively abandons the merge</a:t>
            </a:r>
            <a:r>
              <a:rPr lang="en-US" altLang="zh-CN" sz="1600"/>
              <a:t> </a:t>
            </a:r>
            <a:r>
              <a:rPr lang="en-US" altLang="en-US" sz="160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Subgraph Rewriting</a:t>
            </a:r>
            <a:r>
              <a:rPr lang="en-US" altLang="zh-CN"/>
              <a:t> (Subgraph Rewriting)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https://www.cas.mcmaster.ca/~kahl/CAS701/2007/P/DPO.pdf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8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sz="2000"/>
              <a:t>Semantically Equivalent Graph Transformation Theory</a:t>
            </a:r>
          </a:p>
          <a:p>
            <a:pPr lvl="1">
              <a:lnSpc>
                <a:spcPct val="110000"/>
              </a:lnSpc>
            </a:pPr>
            <a:r>
              <a:rPr lang="en-US" altLang="zh-CN" sz="1800"/>
              <a:t> L --&gt; R：</a:t>
            </a:r>
            <a:r>
              <a:rPr lang="en-US" altLang="en-US" sz="1800"/>
              <a:t>where</a:t>
            </a:r>
            <a:r>
              <a:rPr lang="en-US" altLang="zh-CN" sz="1800"/>
              <a:t> L </a:t>
            </a:r>
            <a:r>
              <a:rPr lang="en-US" altLang="en-US" sz="1800"/>
              <a:t> called the pattern graph (</a:t>
            </a:r>
            <a:r>
              <a:rPr lang="en-US" altLang="zh-CN" sz="1800"/>
              <a:t>Pattern Graph</a:t>
            </a:r>
            <a:r>
              <a:rPr lang="en-US" altLang="en-US" sz="1800"/>
              <a:t>), representing the subgraph structure to be replaced;</a:t>
            </a:r>
            <a:r>
              <a:rPr lang="en-US" altLang="zh-CN" sz="1800"/>
              <a:t>R </a:t>
            </a:r>
            <a:r>
              <a:rPr lang="en-US" altLang="en-US" sz="1800"/>
              <a:t> called the replacement graph (</a:t>
            </a:r>
            <a:r>
              <a:rPr lang="en-US" altLang="zh-CN" sz="1800"/>
              <a:t>Replacement Graph</a:t>
            </a:r>
            <a:r>
              <a:rPr lang="en-US" altLang="en-US" sz="1800"/>
              <a:t>), representing the efficient fused structure.</a:t>
            </a:r>
          </a:p>
          <a:p>
            <a:pPr lvl="0">
              <a:lnSpc>
                <a:spcPct val="110000"/>
              </a:lnSpc>
            </a:pPr>
            <a:r>
              <a:rPr lang="en-US" altLang="en-US" sz="2000"/>
              <a:t>Double-Pushout</a:t>
            </a:r>
            <a:r>
              <a:rPr lang="en-US" altLang="zh-CN" sz="2000"/>
              <a:t> (DPO) </a:t>
            </a:r>
            <a:r>
              <a:rPr lang="en-US" altLang="en-US" sz="2000"/>
              <a:t> Semantic Framework: The host graph is partitioned into the match portion</a:t>
            </a:r>
            <a:r>
              <a:rPr lang="en-US" altLang="zh-CN" sz="2000"/>
              <a:t> (Match)</a:t>
            </a:r>
            <a:r>
              <a:rPr lang="en-US" altLang="en-US" sz="2000"/>
              <a:t>, context</a:t>
            </a:r>
            <a:r>
              <a:rPr lang="en-US" altLang="zh-CN" sz="2000"/>
              <a:t> (Context) </a:t>
            </a:r>
            <a:r>
              <a:rPr lang="en-US" altLang="en-US" sz="2000"/>
              <a:t>, and patch/interface edges connecting the two</a:t>
            </a:r>
            <a:r>
              <a:rPr lang="en-US" altLang="zh-CN" sz="2000"/>
              <a:t> (Patch/Interface) </a:t>
            </a:r>
            <a:r>
              <a:rPr lang="en-US" altLang="en-US" sz="2000"/>
              <a:t>.</a:t>
            </a:r>
            <a:endParaRPr lang="en-US" altLang="zh-CN" sz="2000"/>
          </a:p>
          <a:p>
            <a:pPr lvl="0">
              <a:lnSpc>
                <a:spcPct val="110000"/>
              </a:lnSpc>
            </a:pPr>
            <a:r>
              <a:rPr lang="en-US" altLang="en-US" sz="2000"/>
              <a:t>Core Principle: Semantic equivalence must be guaranteed, i.e., given the same input, computation output before and after rewriting must remain absolutely identical.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340" y="1938020"/>
            <a:ext cx="4382135" cy="2748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MLIR </a:t>
            </a:r>
            <a:r>
              <a:rPr lang="en-US" altLang="en-US"/>
              <a:t> Pattern Rewrite Engine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https://mlir.llvm.org/docs/PatternRewriter/#matchandrewrite-implementation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9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/>
              <a:t>Decoupled Design: 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MLIR </a:t>
            </a:r>
            <a:r>
              <a:rPr lang="en-US" altLang="en-US" sz="1800"/>
              <a:t> strictly decouples pattern definition from pattern application (e.g.,</a:t>
            </a:r>
            <a:r>
              <a:rPr lang="en-US" altLang="zh-CN" sz="1800"/>
              <a:t> Greedy Pattern Rewrite Driver</a:t>
            </a:r>
            <a:r>
              <a:rPr lang="en-US" altLang="en-US" sz="1800"/>
              <a:t>).</a:t>
            </a:r>
            <a:endParaRPr lang="en-US" altLang="zh-CN" sz="1800"/>
          </a:p>
          <a:p>
            <a:pPr>
              <a:lnSpc>
                <a:spcPct val="120000"/>
              </a:lnSpc>
            </a:pPr>
            <a:r>
              <a:rPr lang="en-US" altLang="en-US" sz="2000"/>
              <a:t>Imperative Writing: </a:t>
            </a:r>
          </a:p>
          <a:p>
            <a:pPr lvl="1">
              <a:lnSpc>
                <a:spcPct val="120000"/>
              </a:lnSpc>
            </a:pPr>
            <a:r>
              <a:rPr lang="en-US" altLang="zh-CN" sz="1800"/>
              <a:t>C++ RewritePattern:</a:t>
            </a:r>
            <a:r>
              <a:rPr lang="en-US" altLang="en-US" sz="1800"/>
              <a:t> inheriting from</a:t>
            </a:r>
            <a:r>
              <a:rPr lang="en-US" altLang="zh-CN" sz="1800"/>
              <a:t> OpRewritePattern</a:t>
            </a:r>
            <a:r>
              <a:rPr lang="en-US" altLang="en-US" sz="1800"/>
              <a:t>, overriding the</a:t>
            </a:r>
            <a:r>
              <a:rPr lang="en-US" altLang="zh-CN" sz="1800"/>
              <a:t>matchAndRewrite </a:t>
            </a:r>
            <a:r>
              <a:rPr lang="en-US" altLang="en-US" sz="1800"/>
              <a:t> Function</a:t>
            </a:r>
            <a:endParaRPr lang="en-US" altLang="zh-CN" sz="1800"/>
          </a:p>
          <a:p>
            <a:pPr>
              <a:lnSpc>
                <a:spcPct val="120000"/>
              </a:lnSpc>
            </a:pPr>
            <a:r>
              <a:rPr lang="en-US" altLang="en-US" sz="2000"/>
              <a:t>Characteristics: </a:t>
            </a:r>
            <a:endParaRPr lang="en-US" altLang="zh-CN" sz="2000"/>
          </a:p>
          <a:p>
            <a:pPr lvl="1">
              <a:lnSpc>
                <a:spcPct val="120000"/>
              </a:lnSpc>
            </a:pPr>
            <a:r>
              <a:rPr lang="en-US" altLang="en-US" sz="1800"/>
              <a:t>Full freedom to directly manipulate low-level</a:t>
            </a:r>
            <a:r>
              <a:rPr lang="en-US" altLang="zh-CN" sz="1800"/>
              <a:t> IR </a:t>
            </a:r>
            <a:r>
              <a:rPr lang="en-US" altLang="en-US" sz="1800"/>
              <a:t> and compute complex mathematical logic.</a:t>
            </a:r>
            <a:endParaRPr lang="en-US" altLang="zh-CN" sz="1800"/>
          </a:p>
          <a:p>
            <a:pPr lvl="1">
              <a:lnSpc>
                <a:spcPct val="120000"/>
              </a:lnSpc>
            </a:pPr>
            <a:r>
              <a:rPr lang="en-US" altLang="en-US" sz="1800"/>
              <a:t>Drawbacks: Excessive boilerplate code, manual type conversion and safety checks required, graph topology not intuitive.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140" y="2254250"/>
            <a:ext cx="4614545" cy="29235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MLIR </a:t>
            </a:r>
            <a:r>
              <a:rPr>
                <a:sym typeface="+mn-ea"/>
              </a:rPr>
              <a:t> Pattern Rewrite Engine</a:t>
            </a:r>
            <a:endParaRPr lang="en-US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https://mlir.llvm.org/docs/DeclarativeRewrites/</a:t>
            </a:r>
          </a:p>
          <a:p>
            <a:r>
              <a:rPr lang="en-US" altLang="zh-CN" dirty="0"/>
              <a:t>https://mlir.llvm.org/docs/PDLL/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DRR (Table-driven Declarative Rewrite Rule, DRR)</a:t>
            </a:r>
            <a:r>
              <a:rPr lang="en-US" altLang="en-US"/>
              <a:t>: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Using</a:t>
            </a:r>
            <a:r>
              <a:rPr lang="en-US" altLang="zh-CN"/>
              <a:t> DAG </a:t>
            </a:r>
            <a:r>
              <a:rPr lang="en-US" altLang="en-US"/>
              <a:t> syntax</a:t>
            </a:r>
            <a:r>
              <a:rPr lang="en-US" altLang="zh-CN"/>
              <a:t> (Source DAG) -&gt; (Result DAG) </a:t>
            </a:r>
            <a:r>
              <a:rPr lang="en-US" altLang="en-US"/>
              <a:t> syntax for declaring rules, expanded to</a:t>
            </a:r>
            <a:r>
              <a:rPr lang="en-US" altLang="zh-CN"/>
              <a:t> C++ </a:t>
            </a:r>
            <a:r>
              <a:rPr lang="en-US" altLang="en-US"/>
              <a:t> code at compile time, greatly reducing boilerplate</a:t>
            </a:r>
            <a:r>
              <a:rPr lang="en-US" altLang="zh-CN"/>
              <a:t> </a:t>
            </a:r>
            <a:r>
              <a:rPr lang="en-US" altLang="en-US"/>
              <a:t>.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en-US"/>
              <a:t>More modern</a:t>
            </a:r>
            <a:r>
              <a:rPr lang="en-US" altLang="zh-CN"/>
              <a:t> PDLL</a:t>
            </a:r>
            <a:r>
              <a:rPr lang="en-US" altLang="en-US"/>
              <a:t>: Specifically designed for</a:t>
            </a:r>
            <a:r>
              <a:rPr lang="en-US" altLang="zh-CN"/>
              <a:t> MLIR </a:t>
            </a:r>
            <a:r>
              <a:rPr lang="en-US" altLang="en-US"/>
              <a:t> syntax-designed pattern description language</a:t>
            </a:r>
            <a:r>
              <a:rPr lang="en-US" altLang="zh-CN"/>
              <a:t> </a:t>
            </a:r>
            <a:r>
              <a:rPr lang="en-US" altLang="en-US"/>
              <a:t>.</a:t>
            </a:r>
            <a:endParaRPr lang="en-US" altLang="zh-CN"/>
          </a:p>
          <a:p>
            <a:pPr lvl="1">
              <a:lnSpc>
                <a:spcPct val="110000"/>
              </a:lnSpc>
            </a:pPr>
            <a:r>
              <a:rPr lang="en-US" altLang="en-US"/>
              <a:t>Natively supporting multi-result operations, regions, and variadic arguments</a:t>
            </a:r>
            <a:r>
              <a:rPr lang="en-US" altLang="zh-CN"/>
              <a:t> </a:t>
            </a:r>
            <a:r>
              <a:rPr lang="en-US" altLang="en-US"/>
              <a:t>.</a:t>
            </a:r>
            <a:endParaRPr lang="en-US" altLang="zh-CN"/>
          </a:p>
          <a:p>
            <a:pPr lvl="1">
              <a:lnSpc>
                <a:spcPct val="110000"/>
              </a:lnSpc>
            </a:pPr>
            <a:r>
              <a:rPr lang="en-US" altLang="en-US"/>
              <a:t>Allowing constraint conditions and mathematical logic expressions to be declared directly within the language</a:t>
            </a:r>
            <a:r>
              <a:rPr lang="en-US" altLang="zh-CN"/>
              <a:t> </a:t>
            </a:r>
            <a:r>
              <a:rPr lang="en-US" altLang="en-US"/>
              <a:t>.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 Supporting</a:t>
            </a:r>
            <a:r>
              <a:rPr lang="en-US" altLang="zh-CN"/>
              <a:t> AOT </a:t>
            </a:r>
            <a:r>
              <a:rPr lang="en-US" altLang="en-US"/>
              <a:t>Compile-time and runtime</a:t>
            </a:r>
            <a:r>
              <a:rPr lang="en-US" altLang="zh-CN"/>
              <a:t> JIT </a:t>
            </a:r>
            <a:r>
              <a:rPr lang="en-US" altLang="en-US"/>
              <a:t> bytecode interpretation execution</a:t>
            </a:r>
            <a:r>
              <a:rPr lang="en-US" altLang="zh-CN"/>
              <a:t> 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</a:t>
            </a:r>
            <a:r>
              <a:rPr lang="en-US" altLang="zh-CN"/>
              <a:t> MLIR </a:t>
            </a:r>
            <a:r>
              <a:rPr lang="en-US" altLang="en-US"/>
              <a:t>Writing in</a:t>
            </a:r>
            <a:r>
              <a:rPr lang="en-US" altLang="zh-CN"/>
              <a:t> Conv+BN Fusion Pass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11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Pattern Definition and Root Node Selection</a:t>
            </a:r>
            <a:endParaRPr lang="en-US" altLang="zh-CN" sz="2000"/>
          </a:p>
          <a:p>
            <a:pPr lvl="1"/>
            <a:r>
              <a:rPr lang="en-US" altLang="en-US" sz="1800"/>
              <a:t>Inheriting Base Class: In</a:t>
            </a:r>
            <a:r>
              <a:rPr lang="en-US" altLang="zh-CN" sz="1800"/>
              <a:t> C++ </a:t>
            </a:r>
            <a:r>
              <a:rPr lang="en-US" altLang="en-US" sz="1800"/>
              <a:t> create a class inheriting from</a:t>
            </a:r>
            <a:r>
              <a:rPr lang="en-US" altLang="zh-CN" sz="1800"/>
              <a:t> OpRewritePattern&lt;BatchNormOp&gt; </a:t>
            </a:r>
            <a:r>
              <a:rPr lang="en-US" altLang="en-US" sz="1800"/>
              <a:t> class</a:t>
            </a:r>
            <a:r>
              <a:rPr lang="en-US" altLang="zh-CN" sz="1800"/>
              <a:t> </a:t>
            </a:r>
            <a:r>
              <a:rPr lang="en-US" altLang="en-US" sz="1800"/>
              <a:t>.</a:t>
            </a:r>
            <a:endParaRPr lang="en-US" altLang="zh-CN" sz="1800"/>
          </a:p>
          <a:p>
            <a:pPr lvl="1"/>
            <a:r>
              <a:rPr lang="en-US" altLang="en-US" sz="1800"/>
              <a:t>Anchoring the Root Node</a:t>
            </a:r>
            <a:r>
              <a:rPr lang="en-US" altLang="zh-CN" sz="1800"/>
              <a:t> (Root Node)</a:t>
            </a:r>
            <a:r>
              <a:rPr lang="en-US" altLang="en-US" sz="1800"/>
              <a:t>: Setting the pattern matching trigger point to the downstream</a:t>
            </a:r>
            <a:r>
              <a:rPr lang="en-US" altLang="zh-CN" sz="1800"/>
              <a:t> BatchNormOp</a:t>
            </a:r>
            <a:r>
              <a:rPr lang="en-US" altLang="en-US" sz="1800"/>
              <a:t>.</a:t>
            </a:r>
            <a:endParaRPr lang="en-US" altLang="zh-CN" sz="1800"/>
          </a:p>
          <a:p>
            <a:pPr lvl="1"/>
            <a:r>
              <a:rPr lang="en-US" altLang="en-US" sz="1800"/>
              <a:t>Reverse Tracing Advantage: From consumer</a:t>
            </a:r>
            <a:r>
              <a:rPr lang="en-US" altLang="zh-CN" sz="1800"/>
              <a:t> (BN) </a:t>
            </a:r>
            <a:r>
              <a:rPr lang="en-US" altLang="en-US" sz="1800"/>
              <a:t> tracing upstream to producer</a:t>
            </a:r>
            <a:r>
              <a:rPr lang="en-US" altLang="zh-CN" sz="1800"/>
              <a:t> (Conv2D) </a:t>
            </a:r>
            <a:r>
              <a:rPr lang="en-US" altLang="en-US" sz="1800"/>
              <a:t> is deterministic and unique, greatly reducing the logical complexity of multi-path search.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585" y="3429000"/>
            <a:ext cx="5996305" cy="2748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</a:t>
            </a:r>
            <a:r>
              <a:rPr lang="en-US" altLang="zh-CN"/>
              <a:t> MLIR </a:t>
            </a:r>
            <a:r>
              <a:rPr lang="en-US" altLang="en-US"/>
              <a:t>Writing in</a:t>
            </a:r>
            <a:r>
              <a:rPr lang="en-US" altLang="zh-CN"/>
              <a:t> Conv+BN Fusion Pass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12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Graph Traversal and Safety Verification</a:t>
            </a:r>
            <a:r>
              <a:rPr lang="en-US" altLang="zh-CN"/>
              <a:t> (Match </a:t>
            </a:r>
            <a:r>
              <a:rPr lang="en-US" altLang="en-US"/>
              <a:t> Logic</a:t>
            </a:r>
            <a:r>
              <a:rPr lang="en-US" altLang="zh-CN"/>
              <a:t>)</a:t>
            </a:r>
          </a:p>
          <a:p>
            <a:pPr lvl="1"/>
            <a:r>
              <a:rPr lang="en-US" altLang="en-US"/>
              <a:t>Node Location: Via</a:t>
            </a:r>
            <a:r>
              <a:rPr lang="en-US" altLang="zh-CN"/>
              <a:t> getDefiningOp() </a:t>
            </a:r>
            <a:r>
              <a:rPr lang="en-US" altLang="en-US"/>
              <a:t> from</a:t>
            </a:r>
            <a:r>
              <a:rPr lang="en-US" altLang="zh-CN"/>
              <a:t> BN </a:t>
            </a:r>
            <a:r>
              <a:rPr lang="en-US" altLang="en-US"/>
              <a:t>'s input node and verifying whether it comes from</a:t>
            </a:r>
            <a:r>
              <a:rPr lang="en-US" altLang="zh-CN"/>
              <a:t> Conv2DOp </a:t>
            </a:r>
            <a:r>
              <a:rPr lang="en-US" altLang="en-US"/>
              <a:t>.</a:t>
            </a:r>
            <a:endParaRPr lang="en-US" altLang="zh-CN"/>
          </a:p>
          <a:p>
            <a:pPr lvl="1"/>
            <a:r>
              <a:rPr lang="en-US" altLang="en-US"/>
              <a:t>Multi-User Blocking Mechanism: The most critical safety check. Verifying whether the convolution output tensor result is exclusively used by this single</a:t>
            </a:r>
            <a:r>
              <a:rPr lang="en-US" altLang="zh-CN"/>
              <a:t> BN </a:t>
            </a:r>
            <a:r>
              <a:rPr lang="en-US" altLang="en-US"/>
              <a:t> node.</a:t>
            </a:r>
            <a:endParaRPr lang="en-US" altLang="zh-CN"/>
          </a:p>
          <a:p>
            <a:pPr lvl="1"/>
            <a:r>
              <a:rPr lang="en-US" altLang="zh-CN"/>
              <a:t>API </a:t>
            </a:r>
            <a:r>
              <a:rPr lang="en-US" altLang="en-US"/>
              <a:t> Call: Mandating that</a:t>
            </a:r>
            <a:r>
              <a:rPr lang="en-US" altLang="zh-CN"/>
              <a:t> convOp.getResult().hasOneUse() </a:t>
            </a:r>
            <a:r>
              <a:rPr lang="en-US" altLang="en-US"/>
              <a:t> returns</a:t>
            </a:r>
            <a:r>
              <a:rPr lang="en-US" altLang="zh-CN"/>
              <a:t> True</a:t>
            </a:r>
            <a:r>
              <a:rPr lang="en-US" altLang="en-US"/>
              <a:t>, preventing weight rewriting from polluting external dependency branches (e.g., residual connections)</a:t>
            </a:r>
            <a:r>
              <a:rPr lang="en-US" altLang="zh-CN"/>
              <a:t> 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</a:t>
            </a:r>
            <a:r>
              <a:rPr lang="en-US" altLang="zh-CN"/>
              <a:t> MLIR </a:t>
            </a:r>
            <a:r>
              <a:rPr lang="en-US" altLang="en-US"/>
              <a:t>Writing in</a:t>
            </a:r>
            <a:r>
              <a:rPr lang="en-US" altLang="zh-CN"/>
              <a:t> Conv+BN Fusion Pass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13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/>
              <a:t>Execute Rewriting and Dataflow Switching</a:t>
            </a:r>
            <a:endParaRPr lang="en-US" altLang="zh-CN"/>
          </a:p>
          <a:p>
            <a:pPr lvl="1"/>
            <a:r>
              <a:rPr lang="en-US" altLang="en-US"/>
              <a:t>Constant Reading and Computation: Reading global</a:t>
            </a:r>
            <a:r>
              <a:rPr lang="en-US" altLang="zh-CN"/>
              <a:t> BN </a:t>
            </a:r>
            <a:r>
              <a:rPr lang="en-US" altLang="en-US"/>
              <a:t> statistical attributes at compile time, using</a:t>
            </a:r>
            <a:r>
              <a:rPr lang="en-US" altLang="zh-CN"/>
              <a:t> C++ </a:t>
            </a:r>
            <a:r>
              <a:rPr lang="en-US" altLang="en-US"/>
              <a:t> to compute new</a:t>
            </a:r>
            <a:r>
              <a:rPr lang="en-US" altLang="zh-CN"/>
              <a:t> W</a:t>
            </a:r>
            <a:r>
              <a:rPr lang="en-US" altLang="zh-CN" baseline="-25000"/>
              <a:t>fold</a:t>
            </a:r>
            <a:r>
              <a:rPr lang="en-US" altLang="zh-CN"/>
              <a:t> </a:t>
            </a:r>
            <a:r>
              <a:rPr lang="en-US" altLang="en-US"/>
              <a:t> and</a:t>
            </a:r>
            <a:r>
              <a:rPr lang="en-US" altLang="zh-CN"/>
              <a:t> b</a:t>
            </a:r>
            <a:r>
              <a:rPr lang="en-US" altLang="zh-CN" baseline="-25000"/>
              <a:t>fold</a:t>
            </a:r>
            <a:r>
              <a:rPr lang="en-US" altLang="zh-CN"/>
              <a:t> </a:t>
            </a:r>
            <a:r>
              <a:rPr lang="en-US" altLang="en-US"/>
              <a:t> dense tensors.</a:t>
            </a:r>
          </a:p>
          <a:p>
            <a:pPr lvl="1"/>
            <a:r>
              <a:rPr lang="en-US" altLang="en-US"/>
              <a:t>Graph Materialization and Switching: Calling</a:t>
            </a:r>
            <a:r>
              <a:rPr lang="en-US" altLang="zh-CN"/>
              <a:t> rewriter.create </a:t>
            </a:r>
            <a:r>
              <a:rPr lang="en-US" altLang="en-US"/>
              <a:t> to instantiate new constant nodes and the fused</a:t>
            </a:r>
            <a:r>
              <a:rPr lang="en-US" altLang="zh-CN"/>
              <a:t> Conv2DOp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 call</a:t>
            </a:r>
            <a:r>
              <a:rPr lang="en-US" altLang="zh-CN"/>
              <a:t> rewriter.replaceOp(bnOp, fusedConvOp.getResult()) </a:t>
            </a:r>
            <a:r>
              <a:rPr lang="en-US" altLang="en-US"/>
              <a:t> to switch all downstream connections to the new node</a:t>
            </a:r>
            <a:r>
              <a:rPr lang="en-US" altLang="zh-CN"/>
              <a:t> 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Clean up old nodes</a:t>
            </a:r>
            <a:r>
              <a:rPr lang="en-US" altLang="zh-CN"/>
              <a:t> rewriter.eraseOp(convOp)</a:t>
            </a:r>
            <a:r>
              <a:rPr lang="en-US" altLang="en-US"/>
              <a:t>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755" y="2111375"/>
            <a:ext cx="5007610" cy="28905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宽屏</PresentationFormat>
  <Paragraphs>100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22: Operator Fusion Pass</vt:lpstr>
      <vt:lpstr>Why Perform Operator Fusion</vt:lpstr>
      <vt:lpstr>Operator Fusion (Operator Fusion)</vt:lpstr>
      <vt:lpstr>Graph Matching Algorithm (Graph Matching)</vt:lpstr>
      <vt:lpstr>Graph Matching Acceleration Strategies</vt:lpstr>
      <vt:lpstr>Pattern Recognition (Pattern Recognition)</vt:lpstr>
      <vt:lpstr>Subgraph Rewriting (Subgraph Rewriting)</vt:lpstr>
      <vt:lpstr>MLIR  Pattern Rewrite Engine</vt:lpstr>
      <vt:lpstr>MLIR  Pattern Rewrite Engine</vt:lpstr>
      <vt:lpstr>in MLIR Writing in Conv+BN Fusion Pass</vt:lpstr>
      <vt:lpstr>in MLIR Writing in Conv+BN Fusion Pass</vt:lpstr>
      <vt:lpstr>in MLIR Writing in Conv+BN Fusion Pass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22: Operator Fusion Pass</dc:title>
  <dc:creator>王丰</dc:creator>
  <cp:lastModifiedBy>Xiang Li</cp:lastModifiedBy>
  <cp:revision>21</cp:revision>
  <dcterms:created xsi:type="dcterms:W3CDTF">2026-03-12T02:53:50Z</dcterms:created>
  <dcterms:modified xsi:type="dcterms:W3CDTF">2026-03-17T14:54:18Z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5c219163d81546ca98407b16b34f85e0_23</vt:lpwstr>
  </property>
  <property fmtid="{D5CDD505-2E9C-101B-9397-08002B2CF9AE}" pid="3" name="KSOProductBuildVer">
    <vt:lpwstr>2052-7.4.1.8983</vt:lpwstr>
  </property>
</Properties>
</file>