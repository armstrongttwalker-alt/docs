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37" r:id="rId2"/>
    <p:sldId id="1928" r:id="rId3"/>
    <p:sldId id="1930" r:id="rId4"/>
    <p:sldId id="1934" r:id="rId5"/>
    <p:sldId id="1935" r:id="rId6"/>
    <p:sldId id="1936" r:id="rId7"/>
    <p:sldId id="1937" r:id="rId8"/>
    <p:sldId id="1938" r:id="rId9"/>
    <p:sldId id="1939" r:id="rId10"/>
    <p:sldId id="1940" r:id="rId11"/>
    <p:sldId id="1941" r:id="rId12"/>
    <p:sldId id="1942" r:id="rId13"/>
    <p:sldId id="1943" r:id="rId14"/>
    <p:sldId id="1944" r:id="rId15"/>
    <p:sldId id="1945" r:id="rId16"/>
    <p:sldId id="1946" r:id="rId17"/>
    <p:sldId id="277" r:id="rId18"/>
    <p:sldId id="279" r:id="rId19"/>
    <p:sldId id="280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0"/>
    <p:restoredTop sz="91938" autoAdjust="0"/>
  </p:normalViewPr>
  <p:slideViewPr>
    <p:cSldViewPr snapToGrid="0" snapToObjects="1">
      <p:cViewPr varScale="1">
        <p:scale>
          <a:sx n="56" d="100"/>
          <a:sy n="56" d="100"/>
        </p:scale>
        <p:origin x="840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39230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65706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image" Target="../media/image14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6.xml"/><Relationship Id="rId21" Type="http://schemas.openxmlformats.org/officeDocument/2006/relationships/image" Target="../media/image17.png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image" Target="../media/image16.png"/><Relationship Id="rId29" Type="http://schemas.openxmlformats.org/officeDocument/2006/relationships/image" Target="../media/image21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image" Target="../media/image19.png"/><Relationship Id="rId28" Type="http://schemas.openxmlformats.org/officeDocument/2006/relationships/image" Target="../media/image20.jpeg"/><Relationship Id="rId10" Type="http://schemas.openxmlformats.org/officeDocument/2006/relationships/tags" Target="../tags/tag13.xml"/><Relationship Id="rId19" Type="http://schemas.openxmlformats.org/officeDocument/2006/relationships/image" Target="../media/image15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image" Target="../media/image18.png"/><Relationship Id="rId27" Type="http://schemas.openxmlformats.org/officeDocument/2006/relationships/hyperlink" Target="https://flagos.io/Hom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33: Model Parallelism III</a:t>
            </a:r>
            <a:br>
              <a:rPr lang="en-US" altLang="zh-CN" dirty="0"/>
            </a:br>
            <a:r>
              <a:rPr lang="en-US" altLang="zh-CN" dirty="0"/>
              <a:t>(Hybrid Parallelism)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Hybrid Parallelism</a:t>
            </a:r>
          </a:p>
          <a:p>
            <a:pPr lvl="1"/>
            <a:r>
              <a:rPr lang="en-US" altLang="zh-CN" dirty="0"/>
              <a:t>3D Parallelism</a:t>
            </a:r>
          </a:p>
          <a:p>
            <a:pPr lvl="1"/>
            <a:r>
              <a:rPr lang="en-US" altLang="zh-CN" dirty="0"/>
              <a:t>5D Parallelism</a:t>
            </a:r>
          </a:p>
          <a:p>
            <a:r>
              <a:rPr lang="en-US" altLang="zh-CN" dirty="0"/>
              <a:t>Automatic Model Parallelism</a:t>
            </a:r>
          </a:p>
          <a:p>
            <a:pPr lvl="1"/>
            <a:r>
              <a:rPr lang="en-US" altLang="zh-CN" dirty="0" err="1"/>
              <a:t>FlexFLow</a:t>
            </a:r>
            <a:endParaRPr lang="en-US" altLang="zh-CN" dirty="0"/>
          </a:p>
          <a:p>
            <a:pPr lvl="1"/>
            <a:r>
              <a:rPr lang="en-US" altLang="zh-CN" dirty="0"/>
              <a:t>Alpa</a:t>
            </a:r>
          </a:p>
          <a:p>
            <a:pPr lvl="1"/>
            <a:r>
              <a:rPr lang="en-US" altLang="zh-CN" dirty="0"/>
              <a:t>Etc.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Orthogonality of Hybrid Parallelism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www.microsoft.com</a:t>
            </a:r>
            <a:r>
              <a:rPr lang="en-US" altLang="zh-CN" dirty="0"/>
              <a:t>/</a:t>
            </a:r>
            <a:r>
              <a:rPr lang="en-US" altLang="zh-CN" dirty="0" err="1"/>
              <a:t>en</a:t>
            </a:r>
            <a:r>
              <a:rPr lang="en-US" altLang="zh-CN" dirty="0"/>
              <a:t>-us/research/blog/</a:t>
            </a:r>
            <a:r>
              <a:rPr lang="en-US" altLang="zh-CN" dirty="0" err="1"/>
              <a:t>deepspeed</a:t>
            </a:r>
            <a:r>
              <a:rPr lang="en-US" altLang="zh-CN" dirty="0"/>
              <a:t>-extreme-scale-model-training-for-everyone/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23875" y="1323975"/>
                <a:ext cx="6225540" cy="4853305"/>
              </a:xfrm>
            </p:spPr>
            <p:txBody>
              <a:bodyPr/>
              <a:lstStyle/>
              <a:p>
                <a:r>
                  <a:rPr lang="en-US" b="1" dirty="0"/>
                  <a:t>Orthogonal Axes:</a:t>
                </a:r>
                <a:r>
                  <a:rPr lang="en-US" dirty="0"/>
                  <a:t> DP (batch), TP (intra-layer/hidden dims), PP (inter-layer/depth).</a:t>
                </a:r>
              </a:p>
              <a:p>
                <a:r>
                  <a:rPr lang="en-US" b="1" dirty="0"/>
                  <a:t>The Scaling Wall:</a:t>
                </a:r>
                <a:r>
                  <a:rPr lang="en-US" dirty="0"/>
                  <a:t> Isolated paradigms fail. DP hits memory limits; TP hits network bottlenecks; PP requires massive micro-batches, exploding memory.</a:t>
                </a:r>
              </a:p>
              <a:p>
                <a:r>
                  <a:rPr lang="en-US" b="1" dirty="0"/>
                  <a:t>Resource Scaling:</a:t>
                </a:r>
                <a:r>
                  <a:rPr lang="en-US" dirty="0"/>
                  <a:t> Multiplicative combination: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𝑇𝑜𝑡𝑎𝑙𝐺𝑃𝑈𝑠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𝑃𝑃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𝐷𝑃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Synergy:</a:t>
                </a:r>
                <a:r>
                  <a:rPr lang="en-US" dirty="0"/>
                  <a:t> TP reduces layer memory -&gt; fits larger micro-batches -&gt; lowers PP bubble ratio.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23875" y="1323975"/>
                <a:ext cx="6225540" cy="4853305"/>
              </a:xfrm>
              <a:blipFill rotWithShape="1">
                <a:blip r:embed="rId2"/>
                <a:stretch>
                  <a:fillRect b="-7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log/bloom-megatron-deepspeed.md at main · huggingface/blog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135" y="2053836"/>
            <a:ext cx="5329743" cy="307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Parallelism System Architecture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Hardware Symbiosis:</a:t>
            </a:r>
            <a:r>
              <a:rPr lang="en-US" dirty="0"/>
              <a:t> Nests DP, PP, and TP to match data center topologies.</a:t>
            </a:r>
          </a:p>
          <a:p>
            <a:r>
              <a:rPr lang="en-US" b="1" dirty="0"/>
              <a:t>Inner Loop (TP):</a:t>
            </a:r>
            <a:r>
              <a:rPr lang="en-US" dirty="0"/>
              <a:t> Confined to a single node via </a:t>
            </a:r>
            <a:r>
              <a:rPr lang="en-US" dirty="0" err="1"/>
              <a:t>NVLink</a:t>
            </a:r>
            <a:r>
              <a:rPr lang="en-US" dirty="0"/>
              <a:t> for heavy </a:t>
            </a:r>
            <a:r>
              <a:rPr lang="en-US" dirty="0" err="1"/>
              <a:t>MatMul</a:t>
            </a:r>
            <a:r>
              <a:rPr lang="en-US" dirty="0"/>
              <a:t> communication.</a:t>
            </a:r>
          </a:p>
          <a:p>
            <a:r>
              <a:rPr lang="en-US" b="1" dirty="0"/>
              <a:t>Intermediate Loop (PP):</a:t>
            </a:r>
            <a:r>
              <a:rPr lang="en-US" dirty="0"/>
              <a:t> Scales across nodes via RDMA for low-bandwidth stage boundaries.</a:t>
            </a:r>
          </a:p>
          <a:p>
            <a:r>
              <a:rPr lang="en-US" b="1" dirty="0"/>
              <a:t>Outer Loop (DP):</a:t>
            </a:r>
            <a:r>
              <a:rPr lang="en-US" dirty="0"/>
              <a:t> Wraps TP+PP logically, scaling globally for massive batch throughput.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9763" y="3553431"/>
          <a:ext cx="10912474" cy="2713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385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Parallelism Dimension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Execution Granularity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Communication Primitive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Physical Mapping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47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Tensor (TP)</a:t>
                      </a:r>
                      <a:endParaRPr lang="en-US" sz="2000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Intra-layer Operations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Dense All-Reduce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Intra-Node (NVLink)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47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Pipeline (PP)</a:t>
                      </a:r>
                      <a:endParaRPr lang="en-US" sz="2000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Inter-layer Stages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Peer-to-Peer Send/</a:t>
                      </a:r>
                      <a:r>
                        <a:rPr lang="en-US" sz="2000" b="0" dirty="0" err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Recv</a:t>
                      </a:r>
                      <a:endParaRPr lang="en-US" sz="2000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Inter-Node (InfiniBand)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947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Data (DP)</a:t>
                      </a:r>
                      <a:endParaRPr lang="en-US" sz="2000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Global Batch Replicas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Sparse All-Reduce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Global Cluster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Megatron-Turing NLG 530B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developer.nvidia.com</a:t>
            </a:r>
            <a:r>
              <a:rPr lang="en-US" altLang="zh-CN" dirty="0"/>
              <a:t>/blog/using-deepspeed-and-megatron-to-train-megatron-turing-nlg-530b-the-worlds-largest-and-most-powerful-generative-language-model/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098540" cy="4853305"/>
          </a:xfrm>
        </p:spPr>
        <p:txBody>
          <a:bodyPr/>
          <a:lstStyle/>
          <a:p>
            <a:r>
              <a:rPr lang="en-US" b="1" dirty="0"/>
              <a:t>Model:</a:t>
            </a:r>
            <a:r>
              <a:rPr lang="en-US" dirty="0"/>
              <a:t> 530B parameters, 105 layers, requiring &gt;10 TB aggregate HBM.</a:t>
            </a:r>
          </a:p>
          <a:p>
            <a:r>
              <a:rPr lang="en-US" b="1" dirty="0"/>
              <a:t>Hardware:</a:t>
            </a:r>
            <a:r>
              <a:rPr lang="en-US" dirty="0"/>
              <a:t> NVIDIA Selene Supercomputer (4480 A100 GPUs via </a:t>
            </a:r>
            <a:r>
              <a:rPr lang="en-US" dirty="0" err="1"/>
              <a:t>NVSwitch</a:t>
            </a:r>
            <a:r>
              <a:rPr lang="en-US" dirty="0"/>
              <a:t>/InfiniBand).</a:t>
            </a:r>
          </a:p>
          <a:p>
            <a:r>
              <a:rPr lang="en-US" b="1" dirty="0"/>
              <a:t>3D Configuration:</a:t>
            </a:r>
            <a:endParaRPr lang="en-US" dirty="0"/>
          </a:p>
          <a:p>
            <a:pPr lvl="1"/>
            <a:r>
              <a:rPr lang="en-US" b="1" dirty="0"/>
              <a:t>8-way TP</a:t>
            </a:r>
            <a:r>
              <a:rPr lang="en-US" dirty="0"/>
              <a:t> (intra-node) x </a:t>
            </a:r>
            <a:r>
              <a:rPr lang="en-US" b="1" dirty="0"/>
              <a:t>35-way PP</a:t>
            </a:r>
            <a:r>
              <a:rPr lang="en-US" dirty="0"/>
              <a:t> (inter-node) = 280 GPUs per model replica.</a:t>
            </a:r>
          </a:p>
          <a:p>
            <a:pPr lvl="1"/>
            <a:r>
              <a:rPr lang="en-US" b="1" dirty="0"/>
              <a:t>16-way DP</a:t>
            </a:r>
            <a:r>
              <a:rPr lang="en-US" dirty="0"/>
              <a:t> globally (280 x 16 = 4480 GPUs).</a:t>
            </a:r>
          </a:p>
          <a:p>
            <a:r>
              <a:rPr lang="en-US" b="1" dirty="0"/>
              <a:t>Result:</a:t>
            </a:r>
            <a:r>
              <a:rPr lang="en-US" dirty="0"/>
              <a:t> Global batch size of 1920, sustaining a historic 113 </a:t>
            </a:r>
            <a:r>
              <a:rPr lang="en-US" dirty="0" err="1"/>
              <a:t>teraFLOP</a:t>
            </a:r>
            <a:r>
              <a:rPr lang="en-US" dirty="0"/>
              <a:t>/s per GPU.</a:t>
            </a:r>
          </a:p>
          <a:p>
            <a:endParaRPr lang="en-US" dirty="0"/>
          </a:p>
        </p:txBody>
      </p:sp>
      <p:pic>
        <p:nvPicPr>
          <p:cNvPr id="2050" name="Picture 2" descr="Using DeepSpeed and Megatron to Train Megatron-Turing NLG 530B, the World's  Largest and Most Powerful Generative Language Model | NVIDIA Technical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4" r="20113"/>
          <a:stretch>
            <a:fillRect/>
          </a:stretch>
        </p:blipFill>
        <p:spPr bwMode="auto">
          <a:xfrm>
            <a:off x="6679095" y="1311942"/>
            <a:ext cx="4797288" cy="463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Cost and Effective Power</a:t>
            </a:r>
            <a:r>
              <a:rPr lang="zh-CN" altLang="en-US" dirty="0"/>
              <a:t> </a:t>
            </a:r>
            <a:r>
              <a:rPr lang="en-US" dirty="0"/>
              <a:t>Formulation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Effective Computing Power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/>
                  <a:t>):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000" i="1" dirty="0"/>
                  <a:t>					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i="1" dirty="0"/>
                  <a:t> = GPU power,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i="1" dirty="0"/>
                  <a:t> = binary assignment,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i="1" dirty="0"/>
                  <a:t> = PP bubble ratio).</a:t>
                </a:r>
                <a:endParaRPr lang="en-US" sz="2000" dirty="0"/>
              </a:p>
              <a:p>
                <a:r>
                  <a:rPr lang="en-US" b="1" dirty="0"/>
                  <a:t>Objective:</a:t>
                </a:r>
                <a:r>
                  <a:rPr lang="en-US" dirty="0"/>
                  <a:t> 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to prevent global synchronization stragglers.</a:t>
                </a:r>
              </a:p>
              <a:p>
                <a:r>
                  <a:rPr lang="en-US" b="1" dirty="0"/>
                  <a:t>Constraints:</a:t>
                </a:r>
                <a:r>
                  <a:rPr lang="en-US" dirty="0"/>
                  <a:t> Bound by GPU memory limits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𝑀𝐼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and TP communication costs.</a:t>
                </a:r>
              </a:p>
              <a:p>
                <a:r>
                  <a:rPr lang="en-US" b="1" dirty="0"/>
                  <a:t>Execution:</a:t>
                </a:r>
                <a:r>
                  <a:rPr lang="en-US" dirty="0"/>
                  <a:t> Integer-Linear Programming (ILP) solvers calculate optimal DP/TP/PP ratios pre-training.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2"/>
                <a:stretch>
                  <a:fillRect l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4D and 5D Parallelism: CP and EP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934200" cy="485330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Catalyst:</a:t>
            </a:r>
            <a:r>
              <a:rPr lang="en-US" dirty="0"/>
              <a:t> Massive sequence lengths and Mixture of Experts (</a:t>
            </a:r>
            <a:r>
              <a:rPr lang="en-US" dirty="0" err="1"/>
              <a:t>MoE</a:t>
            </a:r>
            <a:r>
              <a:rPr lang="en-US" dirty="0"/>
              <a:t>) break 3D parallelism.</a:t>
            </a:r>
          </a:p>
          <a:p>
            <a:r>
              <a:rPr lang="en-US" b="1" dirty="0"/>
              <a:t>Context Parallelism (CP):</a:t>
            </a:r>
            <a:r>
              <a:rPr lang="en-US" dirty="0"/>
              <a:t> Partitions tokens across GPUs, exchanging KV states via ring protocols to prevent sequence-induced OOM.</a:t>
            </a:r>
          </a:p>
          <a:p>
            <a:r>
              <a:rPr lang="en-US" b="1" dirty="0"/>
              <a:t>Expert Parallelism (EP):</a:t>
            </a:r>
            <a:r>
              <a:rPr lang="en-US" dirty="0"/>
              <a:t> Uses All-to-All routing to dynamically dispatch tokens to discrete </a:t>
            </a:r>
            <a:r>
              <a:rPr lang="en-US" dirty="0" err="1"/>
              <a:t>MoE</a:t>
            </a:r>
            <a:r>
              <a:rPr lang="en-US" dirty="0"/>
              <a:t> experts.</a:t>
            </a:r>
          </a:p>
          <a:p>
            <a:r>
              <a:rPr lang="en-US" b="1" dirty="0"/>
              <a:t>The 5D Formula:</a:t>
            </a:r>
            <a:r>
              <a:rPr lang="en-US" dirty="0"/>
              <a:t> </a:t>
            </a:r>
            <a:r>
              <a:rPr lang="en-US" dirty="0" err="1"/>
              <a:t>TotalGPUs</a:t>
            </a:r>
            <a:r>
              <a:rPr lang="en-US" dirty="0"/>
              <a:t> = TP x CP x EP x PP x DP</a:t>
            </a:r>
          </a:p>
          <a:p>
            <a:r>
              <a:rPr lang="en-US" b="1" dirty="0"/>
              <a:t>Outcome:</a:t>
            </a:r>
            <a:r>
              <a:rPr lang="en-US" dirty="0"/>
              <a:t> Fractures every bottleneck (dense weights, batch throughput, infinite context, sparse compute).</a:t>
            </a:r>
          </a:p>
        </p:txBody>
      </p:sp>
      <p:pic>
        <p:nvPicPr>
          <p:cNvPr id="3074" name="Picture 2" descr="How 5D Parallelism enables massive AI model training on GPU clusters |  Samar Patel posted on the topic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252" y="1441174"/>
            <a:ext cx="4356652" cy="435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</a:t>
            </a:r>
            <a:r>
              <a:rPr lang="en-US" dirty="0" err="1"/>
              <a:t>ZeRO</a:t>
            </a:r>
            <a:r>
              <a:rPr lang="en-US" dirty="0"/>
              <a:t> and Pipeline Integration Bottlenecks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The Conflict:</a:t>
            </a:r>
            <a:r>
              <a:rPr lang="en-US" dirty="0"/>
              <a:t> ZeRO-3's dynamic All-Gather parameter fetching clashes with PP's high-frequency micro-batch switching.</a:t>
            </a:r>
          </a:p>
          <a:p>
            <a:r>
              <a:rPr lang="en-US" b="1" dirty="0"/>
              <a:t>The Problem:</a:t>
            </a:r>
            <a:r>
              <a:rPr lang="en-US" dirty="0"/>
              <a:t> Causes a network storm of repeated parameter communications.</a:t>
            </a:r>
          </a:p>
          <a:p>
            <a:r>
              <a:rPr lang="en-US" b="1" dirty="0" err="1"/>
              <a:t>ZeroPP</a:t>
            </a:r>
            <a:r>
              <a:rPr lang="en-US" b="1" dirty="0"/>
              <a:t> Solution:</a:t>
            </a:r>
            <a:r>
              <a:rPr lang="en-US" dirty="0"/>
              <a:t> Introduces a </a:t>
            </a:r>
            <a:r>
              <a:rPr lang="en-US" dirty="0" err="1"/>
              <a:t>blockwise</a:t>
            </a:r>
            <a:r>
              <a:rPr lang="en-US" dirty="0"/>
              <a:t> task-interleaved PP schedule.</a:t>
            </a:r>
          </a:p>
          <a:p>
            <a:r>
              <a:rPr lang="en-US" b="1" dirty="0"/>
              <a:t>Mechanism:</a:t>
            </a:r>
            <a:r>
              <a:rPr lang="en-US" dirty="0"/>
              <a:t> Batches micro-computations per layer before dropping weights, slashing network calls while preserving memory.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Paradigm Shift to Automatic Model Parallelism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Manual Brittleness:</a:t>
            </a:r>
            <a:r>
              <a:rPr lang="en-US" dirty="0"/>
              <a:t> Hardcoding primitives (All-Reduce) fails when transitioning to new architectures or asymmetric hardware.</a:t>
            </a:r>
          </a:p>
          <a:p>
            <a:r>
              <a:rPr lang="en-US" b="1" dirty="0"/>
              <a:t>Automatic Model Parallelism (AMP):</a:t>
            </a:r>
            <a:r>
              <a:rPr lang="en-US" dirty="0"/>
              <a:t> Abstracts distribution logic into a compiler optimization problem.</a:t>
            </a:r>
          </a:p>
          <a:p>
            <a:r>
              <a:rPr lang="en-US" b="1" dirty="0"/>
              <a:t>Mechanism:</a:t>
            </a:r>
            <a:r>
              <a:rPr lang="en-US" dirty="0"/>
              <a:t> Represents the neural network as a computation DAG and the hardware as a topology graph to automatically search for optimal sharding.</a:t>
            </a:r>
          </a:p>
          <a:p>
            <a:r>
              <a:rPr lang="en-US" b="1" dirty="0"/>
              <a:t>Impact:</a:t>
            </a:r>
            <a:r>
              <a:rPr lang="en-US" dirty="0"/>
              <a:t> AI researchers write single-device code; compilers synthesize n-dimensional execution plans.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Search Space: The SOAP Framework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arxiv.org</a:t>
            </a:r>
            <a:r>
              <a:rPr lang="en-US" altLang="zh-CN" dirty="0"/>
              <a:t>/pdf/1807.05358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570345" cy="4853305"/>
          </a:xfrm>
        </p:spPr>
        <p:txBody>
          <a:bodyPr/>
          <a:lstStyle/>
          <a:p>
            <a:r>
              <a:rPr lang="en-US" b="1" dirty="0" err="1"/>
              <a:t>FlexFlow's</a:t>
            </a:r>
            <a:r>
              <a:rPr lang="en-US" b="1" dirty="0"/>
              <a:t> SOAP Dimensions:</a:t>
            </a:r>
            <a:endParaRPr lang="en-US" dirty="0"/>
          </a:p>
          <a:p>
            <a:pPr lvl="1"/>
            <a:r>
              <a:rPr lang="en-US" b="1" dirty="0"/>
              <a:t>Sample:</a:t>
            </a:r>
            <a:r>
              <a:rPr lang="en-US" dirty="0"/>
              <a:t> DP (batch partitioning).</a:t>
            </a:r>
          </a:p>
          <a:p>
            <a:pPr lvl="1"/>
            <a:r>
              <a:rPr lang="en-US" b="1" dirty="0"/>
              <a:t>Operation:</a:t>
            </a:r>
            <a:r>
              <a:rPr lang="en-US" dirty="0"/>
              <a:t> PP (graph node distribution).</a:t>
            </a:r>
          </a:p>
          <a:p>
            <a:pPr lvl="1"/>
            <a:r>
              <a:rPr lang="en-US" b="1" dirty="0"/>
              <a:t>Attribute:</a:t>
            </a:r>
            <a:r>
              <a:rPr lang="en-US" dirty="0"/>
              <a:t> CP (sequence/image feature partitioning).</a:t>
            </a:r>
          </a:p>
          <a:p>
            <a:pPr lvl="1"/>
            <a:r>
              <a:rPr lang="en-US" b="1" dirty="0"/>
              <a:t>Parameter:</a:t>
            </a:r>
            <a:r>
              <a:rPr lang="en-US" dirty="0"/>
              <a:t> TP (weight matrix slicing).</a:t>
            </a:r>
          </a:p>
          <a:p>
            <a:r>
              <a:rPr lang="en-US" b="1" dirty="0"/>
              <a:t>Search Engine:</a:t>
            </a:r>
            <a:r>
              <a:rPr lang="en-US" dirty="0"/>
              <a:t> Uses Markov Chain Monte Carlo (MCMC) to explore the vast configuration space.</a:t>
            </a:r>
          </a:p>
          <a:p>
            <a:r>
              <a:rPr lang="en-US" b="1" dirty="0"/>
              <a:t>Oracle Simulator:</a:t>
            </a:r>
            <a:r>
              <a:rPr lang="en-US" dirty="0"/>
              <a:t> Predicts strategy performance in milliseconds instead of hours, discovering non-intuitive plans up to 3.3x faster than manual tuning.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020" y="1500257"/>
            <a:ext cx="4538454" cy="42165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Hierarchical Space Search in Alpa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arxiv.org</a:t>
            </a:r>
            <a:r>
              <a:rPr lang="en-US" altLang="zh-CN" dirty="0"/>
              <a:t>/pdf/2201.12023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14415" cy="485330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Scaling Issue:</a:t>
            </a:r>
            <a:r>
              <a:rPr lang="en-US" dirty="0"/>
              <a:t> Flat MCMC searches fail at 100B+ parameters due to exponential complexity.</a:t>
            </a:r>
          </a:p>
          <a:p>
            <a:r>
              <a:rPr lang="en-US" b="1" dirty="0"/>
              <a:t>Alpa's Hierarchy:</a:t>
            </a:r>
            <a:r>
              <a:rPr lang="en-US" dirty="0"/>
              <a:t> Restructures the search to mirror physical data center bandwidths:</a:t>
            </a:r>
          </a:p>
          <a:p>
            <a:pPr lvl="1"/>
            <a:r>
              <a:rPr lang="en-US" b="1" dirty="0"/>
              <a:t>Level 1 (Intra-op):</a:t>
            </a:r>
            <a:r>
              <a:rPr lang="en-US" dirty="0"/>
              <a:t> ILP solves TP/DP assignments within high-bandwidth "device meshes" (intra-node).</a:t>
            </a:r>
          </a:p>
          <a:p>
            <a:pPr lvl="1"/>
            <a:r>
              <a:rPr lang="en-US" b="1" dirty="0"/>
              <a:t>Level 2 (Inter-op):</a:t>
            </a:r>
            <a:r>
              <a:rPr lang="en-US" dirty="0"/>
              <a:t> Dynamic Programming solves PP staging across distant meshes (inter-node).</a:t>
            </a:r>
          </a:p>
          <a:p>
            <a:r>
              <a:rPr lang="en-US" b="1" dirty="0"/>
              <a:t>Result:</a:t>
            </a:r>
            <a:r>
              <a:rPr lang="en-US" dirty="0"/>
              <a:t> Outperforms specialized manual systems (e.g., </a:t>
            </a:r>
            <a:r>
              <a:rPr lang="en-US" dirty="0" err="1"/>
              <a:t>DeepSpeed</a:t>
            </a:r>
            <a:r>
              <a:rPr lang="en-US" dirty="0"/>
              <a:t>) by up to 9.7x on complex </a:t>
            </a:r>
            <a:r>
              <a:rPr lang="en-US" dirty="0" err="1"/>
              <a:t>MoE</a:t>
            </a:r>
            <a:r>
              <a:rPr lang="en-US" dirty="0"/>
              <a:t> models.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526" y="1993125"/>
            <a:ext cx="5355020" cy="350265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Compiler-Based SPMD Parallelization (GSPMD)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arxiv.org</a:t>
            </a:r>
            <a:r>
              <a:rPr lang="en-US" altLang="zh-CN" dirty="0"/>
              <a:t>/abs/2105.04663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427345" cy="485330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SPMD Paradigm:</a:t>
            </a:r>
            <a:r>
              <a:rPr lang="en-US" dirty="0"/>
              <a:t> Essential for scaling; compiling unique programs per GPU is computationally catastrophic.</a:t>
            </a:r>
          </a:p>
          <a:p>
            <a:r>
              <a:rPr lang="en-US" b="1" dirty="0"/>
              <a:t>API Abstraction:</a:t>
            </a:r>
            <a:r>
              <a:rPr lang="en-US" dirty="0"/>
              <a:t> Developers write single-device JAX/TF code with sparse </a:t>
            </a:r>
            <a:r>
              <a:rPr lang="en-US" dirty="0" err="1"/>
              <a:t>NamedSharding</a:t>
            </a:r>
            <a:r>
              <a:rPr lang="en-US" dirty="0"/>
              <a:t> hints.</a:t>
            </a:r>
          </a:p>
          <a:p>
            <a:r>
              <a:rPr lang="en-US" b="1" dirty="0"/>
              <a:t>XLA Completion Pass:</a:t>
            </a:r>
            <a:r>
              <a:rPr lang="en-US" dirty="0"/>
              <a:t> GSPMD propagates user annotations forward and backward through the graph.</a:t>
            </a:r>
          </a:p>
          <a:p>
            <a:r>
              <a:rPr lang="en-US" b="1" dirty="0"/>
              <a:t>Automated Deduction:</a:t>
            </a:r>
            <a:r>
              <a:rPr lang="en-US" dirty="0"/>
              <a:t> Algorithmically deduces optimal sharding for all unannotated intermediate tensors, achieving up to 62% utilization on 2048 TPU cores.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3832"/>
            <a:ext cx="5947410" cy="35543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Optimization of Algebra and Parallelism (Unity)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www.usenix.org</a:t>
            </a:r>
            <a:r>
              <a:rPr lang="en-US" altLang="zh-CN" dirty="0"/>
              <a:t>/system/files/osdi22-unger.pdf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39180" cy="485330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Sequential Flaw:</a:t>
            </a:r>
            <a:r>
              <a:rPr lang="en-US" dirty="0"/>
              <a:t> Standard compilers fuse operators </a:t>
            </a:r>
            <a:r>
              <a:rPr lang="en-US" i="1" dirty="0"/>
              <a:t>before</a:t>
            </a:r>
            <a:r>
              <a:rPr lang="en-US" dirty="0"/>
              <a:t> parallelizing, which can lock out efficient network strategies.</a:t>
            </a:r>
          </a:p>
          <a:p>
            <a:r>
              <a:rPr lang="en-US" b="1" dirty="0"/>
              <a:t>Unity's Innovation:</a:t>
            </a:r>
            <a:r>
              <a:rPr lang="en-US" dirty="0"/>
              <a:t> Jointly optimizes algebraic fusions and parallelization simultaneously via mathematical graph substitutions.</a:t>
            </a:r>
          </a:p>
          <a:p>
            <a:r>
              <a:rPr lang="en-US" b="1" dirty="0"/>
              <a:t>Counter-Intuitive Strategies:</a:t>
            </a:r>
            <a:r>
              <a:rPr lang="en-US" dirty="0"/>
              <a:t> Unity may selectively </a:t>
            </a:r>
            <a:r>
              <a:rPr lang="en-US" i="1" dirty="0" err="1"/>
              <a:t>unfuse</a:t>
            </a:r>
            <a:r>
              <a:rPr lang="en-US" dirty="0"/>
              <a:t> operations to enable faster communication patterns.</a:t>
            </a:r>
          </a:p>
          <a:p>
            <a:r>
              <a:rPr lang="en-US" b="1" dirty="0"/>
              <a:t>Performance:</a:t>
            </a:r>
            <a:r>
              <a:rPr lang="en-US" dirty="0"/>
              <a:t> Yields up to 3.6x throughput speedups over traditional sequential distributed frameworks.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671" y="2017252"/>
            <a:ext cx="5105400" cy="3454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System-Level Hybrid Strategy Search (</a:t>
            </a:r>
            <a:r>
              <a:rPr lang="en-US" dirty="0" err="1"/>
              <a:t>Galvatron</a:t>
            </a:r>
            <a:r>
              <a:rPr lang="en-US" dirty="0"/>
              <a:t>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Production Focus:</a:t>
            </a:r>
            <a:r>
              <a:rPr lang="en-US" dirty="0"/>
              <a:t> Tailored for massive Transformers, explicitly integrating Activation Checkpointing and </a:t>
            </a:r>
            <a:r>
              <a:rPr lang="en-US" dirty="0" err="1"/>
              <a:t>ZeRO</a:t>
            </a:r>
            <a:r>
              <a:rPr lang="en-US" dirty="0"/>
              <a:t> offloading.</a:t>
            </a:r>
          </a:p>
          <a:p>
            <a:r>
              <a:rPr lang="en-US" b="1" dirty="0"/>
              <a:t>Two-Step Workflow:</a:t>
            </a:r>
            <a:endParaRPr lang="en-US" dirty="0"/>
          </a:p>
          <a:p>
            <a:pPr lvl="1"/>
            <a:r>
              <a:rPr lang="en-US" b="1" dirty="0"/>
              <a:t>Decision Tree:</a:t>
            </a:r>
            <a:r>
              <a:rPr lang="en-US" dirty="0"/>
              <a:t> Prunes mathematically impossible strategies based on strict hardware memory budgets.</a:t>
            </a:r>
          </a:p>
          <a:p>
            <a:pPr lvl="1"/>
            <a:r>
              <a:rPr lang="en-US" b="1" dirty="0"/>
              <a:t>Dynamic Programming:</a:t>
            </a:r>
            <a:r>
              <a:rPr lang="en-US" dirty="0"/>
              <a:t> Assigns optimal parallelism layer-by-layer.</a:t>
            </a:r>
          </a:p>
          <a:p>
            <a:r>
              <a:rPr lang="en-US" b="1" dirty="0"/>
              <a:t>Accurate Cost Modeling:</a:t>
            </a:r>
            <a:r>
              <a:rPr lang="en-US" dirty="0"/>
              <a:t> Uniquely accounts for GPU performance drops caused by compute/communication overlap.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15839" y="4505325"/>
          <a:ext cx="93130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8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Feature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FlexFlow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Alpa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Galvatron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Search Space</a:t>
                      </a:r>
                      <a:endParaRPr lang="en-US" sz="2000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MCMC (SOAP)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ILP + Dynamic Programming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Decision Tree + DP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Granularity</a:t>
                      </a:r>
                      <a:endParaRPr lang="en-US" sz="2000" b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Operator Level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Intra-op vs Inter-op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Layer-wise assignments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Optimization</a:t>
                      </a:r>
                      <a:endParaRPr lang="en-US" sz="2000" b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Multi-dim Tensor Slicing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Bandwidth Hierarchy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Checkpointing Integration</a:t>
                      </a:r>
                    </a:p>
                  </a:txBody>
                  <a:tcPr marL="114300" marR="1143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of Distributed Training Frameworks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The Trajectory:</a:t>
            </a:r>
            <a:r>
              <a:rPr lang="en-US" dirty="0"/>
              <a:t> Moving from imperative manual engineering to declarative, fully automated compilation.</a:t>
            </a:r>
          </a:p>
          <a:p>
            <a:r>
              <a:rPr lang="en-US" b="1" dirty="0"/>
              <a:t>Advanced Scheduling:</a:t>
            </a:r>
            <a:r>
              <a:rPr lang="en-US" dirty="0"/>
              <a:t> Evolving beyond LLM-centric limits (e.g., </a:t>
            </a:r>
            <a:r>
              <a:rPr lang="en-US" dirty="0" err="1"/>
              <a:t>FlexPipe</a:t>
            </a:r>
            <a:r>
              <a:rPr lang="en-US" dirty="0"/>
              <a:t> for programmable PP, </a:t>
            </a:r>
            <a:r>
              <a:rPr lang="en-US" dirty="0" err="1"/>
              <a:t>Pfeife</a:t>
            </a:r>
            <a:r>
              <a:rPr lang="en-US" dirty="0"/>
              <a:t> for non-sequential models).</a:t>
            </a:r>
          </a:p>
          <a:p>
            <a:r>
              <a:rPr lang="en-US" b="1" dirty="0"/>
              <a:t>Heterogeneous Training:</a:t>
            </a:r>
            <a:r>
              <a:rPr lang="en-US" dirty="0"/>
              <a:t> Orchestrators will dynamically adapt to clusters with asymmetric memory/bandwidth profiles.</a:t>
            </a:r>
          </a:p>
          <a:p>
            <a:r>
              <a:rPr lang="en-US" b="1" dirty="0"/>
              <a:t>Ultimate Goal:</a:t>
            </a:r>
            <a:r>
              <a:rPr lang="en-US" dirty="0"/>
              <a:t> Virtualizing hardware to democratize trillion-parameter AI, making extreme-scale training an out-of-the-box process.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1285</Words>
  <Application>Microsoft Office PowerPoint</Application>
  <PresentationFormat>宽屏</PresentationFormat>
  <Paragraphs>141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等线</vt:lpstr>
      <vt:lpstr>微软雅黑</vt:lpstr>
      <vt:lpstr>文泉驿微米黑</vt:lpstr>
      <vt:lpstr>Arial</vt:lpstr>
      <vt:lpstr>Calibri</vt:lpstr>
      <vt:lpstr>Calibri Light</vt:lpstr>
      <vt:lpstr>Cambria Math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33: Model Parallelism III (Hybrid Parallelism)</vt:lpstr>
      <vt:lpstr>PowerPoint 演示文稿</vt:lpstr>
      <vt:lpstr>Mathematical Orthogonality of Hybrid Parallelism</vt:lpstr>
      <vt:lpstr>3D Parallelism System Architecture</vt:lpstr>
      <vt:lpstr>Case Study: Megatron-Turing NLG 530B</vt:lpstr>
      <vt:lpstr>Communication Cost and Effective Power Formulation</vt:lpstr>
      <vt:lpstr>Expanding to 4D and 5D Parallelism: CP and EP</vt:lpstr>
      <vt:lpstr>Overcoming ZeRO and Pipeline Integration Bottlenecks</vt:lpstr>
      <vt:lpstr>The Paradigm Shift to Automatic Model Parallelism</vt:lpstr>
      <vt:lpstr>Defining the Search Space: The SOAP Framework</vt:lpstr>
      <vt:lpstr>Hierarchical Space Search in Alpa</vt:lpstr>
      <vt:lpstr>Compiler-Based SPMD Parallelization (GSPMD)</vt:lpstr>
      <vt:lpstr>Joint Optimization of Algebra and Parallelism (Unity)</vt:lpstr>
      <vt:lpstr>System-Level Hybrid Strategy Search (Galvatron)</vt:lpstr>
      <vt:lpstr>The Future of Distributed Training Frameworks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1603</cp:revision>
  <dcterms:created xsi:type="dcterms:W3CDTF">2026-03-12T02:59:00Z</dcterms:created>
  <dcterms:modified xsi:type="dcterms:W3CDTF">2026-03-17T14:54:49Z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F7191C2708FD07F82CD87F6915CBD24F_43</vt:lpwstr>
  </property>
  <property fmtid="{D5CDD505-2E9C-101B-9397-08002B2CF9AE}" pid="3" name="KSOProductBuildVer">
    <vt:lpwstr>2052-12.1.0.19302</vt:lpwstr>
  </property>
</Properties>
</file>