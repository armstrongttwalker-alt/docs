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37" r:id="rId2"/>
    <p:sldId id="256" r:id="rId3"/>
    <p:sldId id="259" r:id="rId4"/>
    <p:sldId id="261" r:id="rId5"/>
    <p:sldId id="262" r:id="rId6"/>
    <p:sldId id="263" r:id="rId7"/>
    <p:sldId id="274" r:id="rId8"/>
    <p:sldId id="265" r:id="rId9"/>
    <p:sldId id="266" r:id="rId10"/>
    <p:sldId id="275" r:id="rId11"/>
    <p:sldId id="269" r:id="rId12"/>
    <p:sldId id="270" r:id="rId13"/>
    <p:sldId id="271" r:id="rId14"/>
    <p:sldId id="272" r:id="rId15"/>
    <p:sldId id="273" r:id="rId16"/>
    <p:sldId id="277" r:id="rId17"/>
    <p:sldId id="279" r:id="rId18"/>
    <p:sldId id="28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  <p:cmAuthor id="3" name="SHI BIZHAO" initials="Shi" lastIdx="0" clrIdx="2"/>
  <p:cmAuthor id="4" name="马瑞阳_Mj63q6ZJ" initials="authorId_1080340045" lastIdx="0" clrIdx="3"/>
  <p:cmAuthor id="5" name="WPS_1657951207_BbYbQFJj" initials="authorId_1392390105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80094" autoAdjust="0"/>
  </p:normalViewPr>
  <p:slideViewPr>
    <p:cSldViewPr snapToGrid="0" snapToObjects="1">
      <p:cViewPr varScale="1">
        <p:scale>
          <a:sx n="49" d="100"/>
          <a:sy n="49" d="100"/>
        </p:scale>
        <p:origin x="1164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900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9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899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9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latin typeface="Book Antiqua" panose="02040602050305030304" pitchFamily="18" charset="0"/>
              </a:rPr>
              <a:t>Basic ML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Framework: PyTorch &amp; </a:t>
            </a:r>
            <a:r>
              <a:rPr kumimoji="1" lang="en-US" altLang="zh-CN" dirty="0" err="1">
                <a:latin typeface="Book Antiqua" panose="02040602050305030304" pitchFamily="18" charset="0"/>
              </a:rPr>
              <a:t>Tensorflow</a:t>
            </a:r>
            <a:r>
              <a:rPr kumimoji="1" lang="en-US" altLang="zh-CN" dirty="0">
                <a:latin typeface="Book Antiqua" panose="02040602050305030304" pitchFamily="18" charset="0"/>
              </a:rPr>
              <a:t>.</a:t>
            </a:r>
          </a:p>
          <a:p>
            <a:r>
              <a:rPr kumimoji="1" lang="en-US" altLang="zh-CN" dirty="0">
                <a:latin typeface="Book Antiqua" panose="02040602050305030304" pitchFamily="18" charset="0"/>
              </a:rPr>
              <a:t>Efficient LLM Training Framework: </a:t>
            </a:r>
            <a:r>
              <a:rPr kumimoji="1" lang="en-US" altLang="zh-CN" dirty="0" err="1">
                <a:latin typeface="Book Antiqua" panose="02040602050305030304" pitchFamily="18" charset="0"/>
              </a:rPr>
              <a:t>DeepSpeed</a:t>
            </a:r>
            <a:r>
              <a:rPr kumimoji="1" lang="en-US" altLang="zh-CN" dirty="0">
                <a:latin typeface="Book Antiqua" panose="02040602050305030304" pitchFamily="18" charset="0"/>
              </a:rPr>
              <a:t>, Megatron-LLM, Accelerate</a:t>
            </a:r>
          </a:p>
          <a:p>
            <a:r>
              <a:rPr kumimoji="1" lang="en-US" altLang="zh-CN" dirty="0">
                <a:latin typeface="Book Antiqua" panose="02040602050305030304" pitchFamily="18" charset="0"/>
              </a:rPr>
              <a:t>Efficient LLM Inference Framework: </a:t>
            </a:r>
            <a:r>
              <a:rPr kumimoji="1" lang="en-US" altLang="zh-CN" dirty="0" err="1">
                <a:latin typeface="Book Antiqua" panose="02040602050305030304" pitchFamily="18" charset="0"/>
              </a:rPr>
              <a:t>vLLM</a:t>
            </a:r>
            <a:r>
              <a:rPr kumimoji="1" lang="en-US" altLang="zh-CN" dirty="0">
                <a:latin typeface="Book Antiqua" panose="02040602050305030304" pitchFamily="18" charset="0"/>
              </a:rPr>
              <a:t>, </a:t>
            </a:r>
            <a:r>
              <a:rPr kumimoji="1" lang="en-US" altLang="zh-CN" dirty="0" err="1">
                <a:latin typeface="Book Antiqua" panose="02040602050305030304" pitchFamily="18" charset="0"/>
              </a:rPr>
              <a:t>SGLang</a:t>
            </a:r>
            <a:r>
              <a:rPr kumimoji="1" lang="en-US" altLang="zh-CN" dirty="0">
                <a:latin typeface="Book Antiqua" panose="02040602050305030304" pitchFamily="18" charset="0"/>
              </a:rPr>
              <a:t>, </a:t>
            </a:r>
            <a:r>
              <a:rPr kumimoji="1" lang="en-US" altLang="zh-CN" dirty="0" err="1">
                <a:latin typeface="Book Antiqua" panose="02040602050305030304" pitchFamily="18" charset="0"/>
              </a:rPr>
              <a:t>llama.cpp</a:t>
            </a:r>
            <a:endParaRPr kumimoji="1" lang="en-US" altLang="zh-CN" dirty="0">
              <a:latin typeface="Book Antiqua" panose="02040602050305030304" pitchFamily="18" charset="0"/>
            </a:endParaRPr>
          </a:p>
          <a:p>
            <a:r>
              <a:rPr kumimoji="1" lang="en-US" altLang="zh-CN" dirty="0">
                <a:latin typeface="Book Antiqua" panose="02040602050305030304" pitchFamily="18" charset="0"/>
              </a:rPr>
              <a:t>Flexible Post Training Framework: </a:t>
            </a:r>
            <a:r>
              <a:rPr kumimoji="1" lang="en-US" altLang="zh-CN" dirty="0" err="1">
                <a:latin typeface="Book Antiqua" panose="02040602050305030304" pitchFamily="18" charset="0"/>
              </a:rPr>
              <a:t>verl</a:t>
            </a:r>
            <a:endParaRPr kumimoji="1" lang="zh-CN" altLang="en-US" dirty="0">
              <a:latin typeface="Book Antiqua" panose="0204060205030503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latin typeface="Book Antiqua" panose="02040602050305030304" pitchFamily="18" charset="0"/>
              </a:rPr>
              <a:t>Basic ML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Framework: PyTorch &amp; </a:t>
            </a:r>
            <a:r>
              <a:rPr kumimoji="1" lang="en-US" altLang="zh-CN" dirty="0" err="1">
                <a:latin typeface="Book Antiqua" panose="02040602050305030304" pitchFamily="18" charset="0"/>
              </a:rPr>
              <a:t>Tensorflow</a:t>
            </a:r>
            <a:r>
              <a:rPr kumimoji="1" lang="en-US" altLang="zh-CN" dirty="0">
                <a:latin typeface="Book Antiqua" panose="02040602050305030304" pitchFamily="18" charset="0"/>
              </a:rPr>
              <a:t>.</a:t>
            </a:r>
          </a:p>
          <a:p>
            <a:r>
              <a:rPr kumimoji="1" lang="en-US" altLang="zh-CN" dirty="0">
                <a:latin typeface="Book Antiqua" panose="02040602050305030304" pitchFamily="18" charset="0"/>
              </a:rPr>
              <a:t>Efficient LLM Training Framework: </a:t>
            </a:r>
            <a:r>
              <a:rPr kumimoji="1" lang="en-US" altLang="zh-CN" dirty="0" err="1">
                <a:latin typeface="Book Antiqua" panose="02040602050305030304" pitchFamily="18" charset="0"/>
              </a:rPr>
              <a:t>DeepSpeed</a:t>
            </a:r>
            <a:r>
              <a:rPr kumimoji="1" lang="en-US" altLang="zh-CN" dirty="0">
                <a:latin typeface="Book Antiqua" panose="02040602050305030304" pitchFamily="18" charset="0"/>
              </a:rPr>
              <a:t>, Megatron-LLM, Accelerate</a:t>
            </a:r>
          </a:p>
          <a:p>
            <a:r>
              <a:rPr kumimoji="1" lang="en-US" altLang="zh-CN" dirty="0">
                <a:latin typeface="Book Antiqua" panose="02040602050305030304" pitchFamily="18" charset="0"/>
              </a:rPr>
              <a:t>Efficient LLM Inference Framework: </a:t>
            </a:r>
            <a:r>
              <a:rPr kumimoji="1" lang="en-US" altLang="zh-CN" dirty="0" err="1">
                <a:latin typeface="Book Antiqua" panose="02040602050305030304" pitchFamily="18" charset="0"/>
              </a:rPr>
              <a:t>vLLM</a:t>
            </a:r>
            <a:r>
              <a:rPr kumimoji="1" lang="en-US" altLang="zh-CN" dirty="0">
                <a:latin typeface="Book Antiqua" panose="02040602050305030304" pitchFamily="18" charset="0"/>
              </a:rPr>
              <a:t>, </a:t>
            </a:r>
            <a:r>
              <a:rPr kumimoji="1" lang="en-US" altLang="zh-CN" dirty="0" err="1">
                <a:latin typeface="Book Antiqua" panose="02040602050305030304" pitchFamily="18" charset="0"/>
              </a:rPr>
              <a:t>SGLang</a:t>
            </a:r>
            <a:r>
              <a:rPr kumimoji="1" lang="en-US" altLang="zh-CN" dirty="0">
                <a:latin typeface="Book Antiqua" panose="02040602050305030304" pitchFamily="18" charset="0"/>
              </a:rPr>
              <a:t>, </a:t>
            </a:r>
            <a:r>
              <a:rPr kumimoji="1" lang="en-US" altLang="zh-CN" dirty="0" err="1">
                <a:latin typeface="Book Antiqua" panose="02040602050305030304" pitchFamily="18" charset="0"/>
              </a:rPr>
              <a:t>llama.cpp</a:t>
            </a:r>
            <a:endParaRPr kumimoji="1" lang="en-US" altLang="zh-CN" dirty="0">
              <a:latin typeface="Book Antiqua" panose="02040602050305030304" pitchFamily="18" charset="0"/>
            </a:endParaRPr>
          </a:p>
          <a:p>
            <a:r>
              <a:rPr kumimoji="1" lang="en-US" altLang="zh-CN" dirty="0">
                <a:latin typeface="Book Antiqua" panose="02040602050305030304" pitchFamily="18" charset="0"/>
              </a:rPr>
              <a:t>Flexible Post Training Framework: </a:t>
            </a:r>
            <a:r>
              <a:rPr kumimoji="1" lang="en-US" altLang="zh-CN" dirty="0" err="1">
                <a:latin typeface="Book Antiqua" panose="02040602050305030304" pitchFamily="18" charset="0"/>
              </a:rPr>
              <a:t>verl</a:t>
            </a:r>
            <a:endParaRPr kumimoji="1" lang="zh-CN" altLang="en-US" dirty="0">
              <a:latin typeface="Book Antiqua" panose="0204060205030503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latin typeface="Book Antiqua" panose="02040602050305030304" pitchFamily="18" charset="0"/>
              </a:rPr>
              <a:t>Basic ML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Framework: PyTorch &amp; </a:t>
            </a:r>
            <a:r>
              <a:rPr kumimoji="1" lang="en-US" altLang="zh-CN" dirty="0" err="1">
                <a:latin typeface="Book Antiqua" panose="02040602050305030304" pitchFamily="18" charset="0"/>
              </a:rPr>
              <a:t>Tensorflow</a:t>
            </a:r>
            <a:r>
              <a:rPr kumimoji="1" lang="en-US" altLang="zh-CN" dirty="0">
                <a:latin typeface="Book Antiqua" panose="02040602050305030304" pitchFamily="18" charset="0"/>
              </a:rPr>
              <a:t>.</a:t>
            </a:r>
          </a:p>
          <a:p>
            <a:r>
              <a:rPr kumimoji="1" lang="en-US" altLang="zh-CN" dirty="0">
                <a:latin typeface="Book Antiqua" panose="02040602050305030304" pitchFamily="18" charset="0"/>
              </a:rPr>
              <a:t>Efficient LLM Training Framework: </a:t>
            </a:r>
            <a:r>
              <a:rPr kumimoji="1" lang="en-US" altLang="zh-CN" dirty="0" err="1">
                <a:latin typeface="Book Antiqua" panose="02040602050305030304" pitchFamily="18" charset="0"/>
              </a:rPr>
              <a:t>DeepSpeed</a:t>
            </a:r>
            <a:r>
              <a:rPr kumimoji="1" lang="en-US" altLang="zh-CN" dirty="0">
                <a:latin typeface="Book Antiqua" panose="02040602050305030304" pitchFamily="18" charset="0"/>
              </a:rPr>
              <a:t>, Megatron-LLM, Accelerate</a:t>
            </a:r>
          </a:p>
          <a:p>
            <a:r>
              <a:rPr kumimoji="1" lang="en-US" altLang="zh-CN" dirty="0">
                <a:latin typeface="Book Antiqua" panose="02040602050305030304" pitchFamily="18" charset="0"/>
              </a:rPr>
              <a:t>Efficient LLM Inference Framework: </a:t>
            </a:r>
            <a:r>
              <a:rPr kumimoji="1" lang="en-US" altLang="zh-CN" dirty="0" err="1">
                <a:latin typeface="Book Antiqua" panose="02040602050305030304" pitchFamily="18" charset="0"/>
              </a:rPr>
              <a:t>vLLM</a:t>
            </a:r>
            <a:r>
              <a:rPr kumimoji="1" lang="en-US" altLang="zh-CN" dirty="0">
                <a:latin typeface="Book Antiqua" panose="02040602050305030304" pitchFamily="18" charset="0"/>
              </a:rPr>
              <a:t>, </a:t>
            </a:r>
            <a:r>
              <a:rPr kumimoji="1" lang="en-US" altLang="zh-CN" dirty="0" err="1">
                <a:latin typeface="Book Antiqua" panose="02040602050305030304" pitchFamily="18" charset="0"/>
              </a:rPr>
              <a:t>SGLang</a:t>
            </a:r>
            <a:r>
              <a:rPr kumimoji="1" lang="en-US" altLang="zh-CN" dirty="0">
                <a:latin typeface="Book Antiqua" panose="02040602050305030304" pitchFamily="18" charset="0"/>
              </a:rPr>
              <a:t>, </a:t>
            </a:r>
            <a:r>
              <a:rPr kumimoji="1" lang="en-US" altLang="zh-CN" dirty="0" err="1">
                <a:latin typeface="Book Antiqua" panose="02040602050305030304" pitchFamily="18" charset="0"/>
              </a:rPr>
              <a:t>llama.cpp</a:t>
            </a:r>
            <a:endParaRPr kumimoji="1" lang="en-US" altLang="zh-CN" dirty="0">
              <a:latin typeface="Book Antiqua" panose="02040602050305030304" pitchFamily="18" charset="0"/>
            </a:endParaRPr>
          </a:p>
          <a:p>
            <a:r>
              <a:rPr kumimoji="1" lang="en-US" altLang="zh-CN" dirty="0">
                <a:latin typeface="Book Antiqua" panose="02040602050305030304" pitchFamily="18" charset="0"/>
              </a:rPr>
              <a:t>Flexible Post Training Framework: </a:t>
            </a:r>
            <a:r>
              <a:rPr kumimoji="1" lang="en-US" altLang="zh-CN" dirty="0" err="1">
                <a:latin typeface="Book Antiqua" panose="02040602050305030304" pitchFamily="18" charset="0"/>
              </a:rPr>
              <a:t>verl</a:t>
            </a:r>
            <a:endParaRPr kumimoji="1" lang="zh-CN" altLang="en-US" dirty="0">
              <a:latin typeface="Book Antiqua" panose="0204060205030503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https://</a:t>
            </a:r>
            <a:r>
              <a:rPr kumimoji="1" lang="en-GB" altLang="zh-CN" dirty="0" err="1"/>
              <a:t>sites.cc.gatech.edu</a:t>
            </a:r>
            <a:r>
              <a:rPr kumimoji="1" lang="en-GB" altLang="zh-CN" dirty="0"/>
              <a:t>/classes/AY2021/cs7650_fall/slides/</a:t>
            </a:r>
            <a:r>
              <a:rPr kumimoji="1" lang="en-GB" altLang="zh-CN" dirty="0" err="1"/>
              <a:t>Introduction_to_PyTorch.pdf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https://docs.pytorch.org/tutorials/beginner/dist_overview.html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https://</a:t>
            </a:r>
            <a:r>
              <a:rPr kumimoji="1" lang="en-GB" altLang="zh-CN" dirty="0" err="1"/>
              <a:t>sites.cc.gatech.edu</a:t>
            </a:r>
            <a:r>
              <a:rPr kumimoji="1" lang="en-GB" altLang="zh-CN" dirty="0"/>
              <a:t>/classes/AY2021/cs7650_fall/slides/</a:t>
            </a:r>
            <a:r>
              <a:rPr kumimoji="1" lang="en-GB" altLang="zh-CN" dirty="0" err="1"/>
              <a:t>Introduction_to_PyTorch.pdf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https://sites.cc.gatech.edu/classes/AY2021/cs7650_fall/slides/Introduction_to_PyTorch.pdf</a:t>
            </a:r>
          </a:p>
          <a:p>
            <a:r>
              <a:rPr kumimoji="1" lang="en-US" altLang="zh-CN" dirty="0"/>
              <a:t>https://dl.acm.org/doi/pdf/10.1145/3620665.3640366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https://zhuanlan.zhihu.com/p</a:t>
            </a:r>
            <a:r>
              <a:rPr kumimoji="1" lang="en-US" altLang="zh-CN"/>
              <a:t>/630933479</a:t>
            </a:r>
            <a:br>
              <a:rPr kumimoji="1" lang="en-US" altLang="zh-CN"/>
            </a:br>
            <a:r>
              <a:rPr kumimoji="1" lang="en-US" altLang="zh-CN"/>
              <a:t>https://chips-compilers-mlsys-22.github.io/assets/slides/PyTorch%20Compilers%20(Compiler%20&amp;%20Chips%20Symposium%202022).pdf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https://docs.pytorch.org/docs/stable/torch.compiler_ir.html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en-US" altLang="zh-CN" dirty="0"/>
              <a:t>https://pytorch.org/get-started/pytorch-2-x/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https://dev-discuss.pytorch.org/t/torchinductor-a-pytorch-native-compiler-with-define-by-run-ir-and-symbolic-shapes/747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这里面最重要的理念是</a:t>
            </a:r>
            <a:r>
              <a:rPr kumimoji="1" lang="en-US" altLang="zh-CN" dirty="0"/>
              <a:t>define-by-run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https://blog.csdn.net/weixin_38235865/article/details/130085600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73228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109782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26" Type="http://schemas.openxmlformats.org/officeDocument/2006/relationships/notesSlide" Target="../notesSlides/notesSlide1.xml"/><Relationship Id="rId3" Type="http://schemas.openxmlformats.org/officeDocument/2006/relationships/tags" Target="../tags/tag12.xml"/><Relationship Id="rId21" Type="http://schemas.openxmlformats.org/officeDocument/2006/relationships/tags" Target="../tags/tag30.xml"/><Relationship Id="rId34" Type="http://schemas.openxmlformats.org/officeDocument/2006/relationships/image" Target="../media/image14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slideLayout" Target="../slideLayouts/slideLayout2.xml"/><Relationship Id="rId33" Type="http://schemas.openxmlformats.org/officeDocument/2006/relationships/image" Target="../media/image13.png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tags" Target="../tags/tag29.xml"/><Relationship Id="rId29" Type="http://schemas.openxmlformats.org/officeDocument/2006/relationships/image" Target="../media/image9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32" Type="http://schemas.openxmlformats.org/officeDocument/2006/relationships/image" Target="../media/image12.png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28" Type="http://schemas.openxmlformats.org/officeDocument/2006/relationships/image" Target="../media/image8.png"/><Relationship Id="rId10" Type="http://schemas.openxmlformats.org/officeDocument/2006/relationships/tags" Target="../tags/tag19.xml"/><Relationship Id="rId19" Type="http://schemas.openxmlformats.org/officeDocument/2006/relationships/tags" Target="../tags/tag28.xml"/><Relationship Id="rId31" Type="http://schemas.openxmlformats.org/officeDocument/2006/relationships/image" Target="../media/image11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image" Target="../media/image7.png"/><Relationship Id="rId30" Type="http://schemas.openxmlformats.org/officeDocument/2006/relationships/image" Target="../media/image10.png"/><Relationship Id="rId35" Type="http://schemas.openxmlformats.org/officeDocument/2006/relationships/image" Target="../media/image15.png"/><Relationship Id="rId8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5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image" Target="../media/image38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36.xml"/><Relationship Id="rId21" Type="http://schemas.openxmlformats.org/officeDocument/2006/relationships/image" Target="../media/image41.png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image" Target="../media/image40.png"/><Relationship Id="rId29" Type="http://schemas.openxmlformats.org/officeDocument/2006/relationships/image" Target="../media/image45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image" Target="../media/image43.png"/><Relationship Id="rId28" Type="http://schemas.openxmlformats.org/officeDocument/2006/relationships/image" Target="../media/image44.jpeg"/><Relationship Id="rId10" Type="http://schemas.openxmlformats.org/officeDocument/2006/relationships/tags" Target="../tags/tag43.xml"/><Relationship Id="rId19" Type="http://schemas.openxmlformats.org/officeDocument/2006/relationships/image" Target="../media/image39.png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image" Target="../media/image42.png"/><Relationship Id="rId27" Type="http://schemas.openxmlformats.org/officeDocument/2006/relationships/hyperlink" Target="https://flagos.io/Hom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Lecture 03: Deep Learning Framework Call Chain Analysis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ML System </a:t>
            </a:r>
            <a:r>
              <a:rPr lang="en-US" altLang="zh-CN">
                <a:sym typeface="+mn-ea"/>
              </a:rPr>
              <a:t>Lifecycle &amp; Three Scaling Laws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3975"/>
            <a:ext cx="5760000" cy="3240000"/>
          </a:xfrm>
          <a:prstGeom prst="rect">
            <a:avLst/>
          </a:prstGeom>
        </p:spPr>
      </p:pic>
      <p:pic>
        <p:nvPicPr>
          <p:cNvPr id="8" name="图片 7" descr="post_object_image_19193049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323975"/>
            <a:ext cx="5372100" cy="14992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40450" y="2178685"/>
            <a:ext cx="1260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en-US" sz="1600" b="1">
                <a:solidFill>
                  <a:schemeClr val="accent6">
                    <a:lumMod val="75000"/>
                  </a:schemeClr>
                </a:solidFill>
              </a:rPr>
              <a:t>serve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316480" y="2915920"/>
            <a:ext cx="1620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en-US" sz="1600" b="1">
                <a:solidFill>
                  <a:schemeClr val="accent6">
                    <a:lumMod val="75000"/>
                  </a:schemeClr>
                </a:solidFill>
              </a:rPr>
              <a:t>develop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313305" y="1256030"/>
            <a:ext cx="162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solidFill>
                  <a:schemeClr val="accent6">
                    <a:lumMod val="75000"/>
                  </a:schemeClr>
                </a:solidFill>
              </a:rPr>
              <a:t>pre-train</a:t>
            </a:r>
          </a:p>
          <a:p>
            <a:pPr algn="ctr"/>
            <a:r>
              <a:rPr lang="en-US" altLang="zh-CN" sz="1600" b="1">
                <a:solidFill>
                  <a:schemeClr val="accent6">
                    <a:lumMod val="75000"/>
                  </a:schemeClr>
                </a:solidFill>
              </a:rPr>
              <a:t>post-train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ook Antiqua" panose="02040602050305030304" pitchFamily="18" charset="0"/>
              </a:rPr>
              <a:t>Overview of LLM Software Framework</a:t>
            </a:r>
            <a:endParaRPr kumimoji="1" lang="zh-CN" altLang="en-US" dirty="0">
              <a:latin typeface="Book Antiqua" panose="0204060205030503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3" name="内容占位符 3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160955" y="1135612"/>
            <a:ext cx="5850892" cy="5526082"/>
            <a:chOff x="160955" y="1135612"/>
            <a:chExt cx="5850892" cy="5526082"/>
          </a:xfrm>
        </p:grpSpPr>
        <p:grpSp>
          <p:nvGrpSpPr>
            <p:cNvPr id="10" name="组合 9"/>
            <p:cNvGrpSpPr/>
            <p:nvPr/>
          </p:nvGrpSpPr>
          <p:grpSpPr>
            <a:xfrm>
              <a:off x="160955" y="1135612"/>
              <a:ext cx="5850892" cy="2701097"/>
              <a:chOff x="160955" y="1135612"/>
              <a:chExt cx="5850892" cy="2701097"/>
            </a:xfrm>
          </p:grpSpPr>
          <p:sp>
            <p:nvSpPr>
              <p:cNvPr id="6" name="矩形 5"/>
              <p:cNvSpPr/>
              <p:nvPr>
                <p:custDataLst>
                  <p:tags r:id="rId23"/>
                </p:custDataLst>
              </p:nvPr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" name="圆角矩形 6"/>
              <p:cNvSpPr/>
              <p:nvPr>
                <p:custDataLst>
                  <p:tags r:id="rId24"/>
                </p:custDataLst>
              </p:nvPr>
            </p:nvSpPr>
            <p:spPr>
              <a:xfrm>
                <a:off x="2493247" y="1135612"/>
                <a:ext cx="1186308" cy="352659"/>
              </a:xfrm>
              <a:prstGeom prst="roundRect">
                <a:avLst/>
              </a:prstGeom>
              <a:solidFill>
                <a:srgbClr val="549E39"/>
              </a:solidFill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Book Antiqua" panose="02040602050305030304" pitchFamily="18" charset="0"/>
                    <a:ea typeface="微软雅黑" panose="020B0503020204020204" charset="-122"/>
                    <a:cs typeface="Arial" panose="020B0604020202020204" pitchFamily="34" charset="0"/>
                  </a:rPr>
                  <a:t>Basics</a:t>
                </a:r>
                <a:endParaRPr kumimoji="1" lang="zh-CN" altLang="en-US" dirty="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60955" y="3960597"/>
              <a:ext cx="5850892" cy="2701097"/>
              <a:chOff x="160955" y="1135612"/>
              <a:chExt cx="5850892" cy="2701097"/>
            </a:xfrm>
          </p:grpSpPr>
          <p:sp>
            <p:nvSpPr>
              <p:cNvPr id="14" name="矩形 13"/>
              <p:cNvSpPr/>
              <p:nvPr>
                <p:custDataLst>
                  <p:tags r:id="rId21"/>
                </p:custDataLst>
              </p:nvPr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圆角矩形 14"/>
              <p:cNvSpPr/>
              <p:nvPr>
                <p:custDataLst>
                  <p:tags r:id="rId22"/>
                </p:custDataLst>
              </p:nvPr>
            </p:nvSpPr>
            <p:spPr>
              <a:xfrm>
                <a:off x="2493247" y="1135612"/>
                <a:ext cx="1186308" cy="352659"/>
              </a:xfrm>
              <a:prstGeom prst="roundRect">
                <a:avLst/>
              </a:prstGeom>
              <a:solidFill>
                <a:srgbClr val="549E39"/>
              </a:solidFill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Book Antiqua" panose="02040602050305030304" pitchFamily="18" charset="0"/>
                    <a:ea typeface="微软雅黑" panose="020B0503020204020204" charset="-122"/>
                    <a:cs typeface="Arial" panose="020B0604020202020204" pitchFamily="34" charset="0"/>
                  </a:rPr>
                  <a:t>Serve</a:t>
                </a:r>
                <a:endParaRPr kumimoji="1" lang="zh-CN" altLang="en-US" dirty="0"/>
              </a:p>
            </p:txBody>
          </p:sp>
        </p:grpSp>
      </p:grpSp>
      <p:grpSp>
        <p:nvGrpSpPr>
          <p:cNvPr id="17" name="组合 16"/>
          <p:cNvGrpSpPr/>
          <p:nvPr>
            <p:custDataLst>
              <p:tags r:id="rId2"/>
            </p:custDataLst>
          </p:nvPr>
        </p:nvGrpSpPr>
        <p:grpSpPr>
          <a:xfrm>
            <a:off x="6200149" y="1132554"/>
            <a:ext cx="5850892" cy="5526082"/>
            <a:chOff x="160955" y="1135612"/>
            <a:chExt cx="5850892" cy="5526082"/>
          </a:xfrm>
        </p:grpSpPr>
        <p:grpSp>
          <p:nvGrpSpPr>
            <p:cNvPr id="18" name="组合 17"/>
            <p:cNvGrpSpPr/>
            <p:nvPr/>
          </p:nvGrpSpPr>
          <p:grpSpPr>
            <a:xfrm>
              <a:off x="160955" y="1135612"/>
              <a:ext cx="5850892" cy="2701097"/>
              <a:chOff x="160955" y="1135612"/>
              <a:chExt cx="5850892" cy="2701097"/>
            </a:xfrm>
          </p:grpSpPr>
          <p:sp>
            <p:nvSpPr>
              <p:cNvPr id="22" name="矩形 21"/>
              <p:cNvSpPr/>
              <p:nvPr>
                <p:custDataLst>
                  <p:tags r:id="rId19"/>
                </p:custDataLst>
              </p:nvPr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" name="圆角矩形 22"/>
              <p:cNvSpPr/>
              <p:nvPr>
                <p:custDataLst>
                  <p:tags r:id="rId20"/>
                </p:custDataLst>
              </p:nvPr>
            </p:nvSpPr>
            <p:spPr>
              <a:xfrm>
                <a:off x="2493247" y="1135612"/>
                <a:ext cx="1186308" cy="352659"/>
              </a:xfrm>
              <a:prstGeom prst="roundRect">
                <a:avLst/>
              </a:prstGeom>
              <a:solidFill>
                <a:srgbClr val="549E39"/>
              </a:solidFill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Book Antiqua" panose="02040602050305030304" pitchFamily="18" charset="0"/>
                    <a:ea typeface="微软雅黑" panose="020B0503020204020204" charset="-122"/>
                    <a:cs typeface="Arial" panose="020B0604020202020204" pitchFamily="34" charset="0"/>
                  </a:rPr>
                  <a:t>Pre-train</a:t>
                </a:r>
                <a:endParaRPr kumimoji="1" lang="zh-CN" altLang="en-US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60955" y="3960597"/>
              <a:ext cx="5850892" cy="2701097"/>
              <a:chOff x="160955" y="1135612"/>
              <a:chExt cx="5850892" cy="2701097"/>
            </a:xfrm>
          </p:grpSpPr>
          <p:sp>
            <p:nvSpPr>
              <p:cNvPr id="20" name="矩形 19"/>
              <p:cNvSpPr/>
              <p:nvPr>
                <p:custDataLst>
                  <p:tags r:id="rId17"/>
                </p:custDataLst>
              </p:nvPr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圆角矩形 20"/>
              <p:cNvSpPr/>
              <p:nvPr>
                <p:custDataLst>
                  <p:tags r:id="rId18"/>
                </p:custDataLst>
              </p:nvPr>
            </p:nvSpPr>
            <p:spPr>
              <a:xfrm>
                <a:off x="2493247" y="1135612"/>
                <a:ext cx="1186308" cy="352659"/>
              </a:xfrm>
              <a:prstGeom prst="roundRect">
                <a:avLst/>
              </a:prstGeom>
              <a:solidFill>
                <a:srgbClr val="549E39"/>
              </a:solidFill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6075354" y="3949202"/>
            <a:ext cx="610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Book Antiqua" panose="02040602050305030304" pitchFamily="18" charset="0"/>
                <a:ea typeface="微软雅黑" panose="020B0503020204020204" charset="-122"/>
                <a:cs typeface="Arial" panose="020B0604020202020204" pitchFamily="34" charset="0"/>
              </a:rPr>
              <a:t>Post-train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312358" y="1579715"/>
            <a:ext cx="2265589" cy="1587356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366744" y="3198926"/>
            <a:ext cx="5328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PyTorch &amp; </a:t>
            </a:r>
            <a:r>
              <a:rPr kumimoji="1" lang="en-US" altLang="zh-CN" dirty="0" err="1">
                <a:latin typeface="Book Antiqua" panose="02040602050305030304" pitchFamily="18" charset="0"/>
              </a:rPr>
              <a:t>Tensorflow</a:t>
            </a:r>
            <a:endParaRPr kumimoji="1" lang="en-US" altLang="zh-CN" dirty="0">
              <a:latin typeface="Book Antiqua" panose="02040602050305030304" pitchFamily="18" charset="0"/>
            </a:endParaRPr>
          </a:p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DSL&amp;API, Graph, </a:t>
            </a:r>
            <a:r>
              <a:rPr kumimoji="1" lang="en-US" altLang="zh-CN" dirty="0" err="1">
                <a:latin typeface="Book Antiqua" panose="02040602050305030304" pitchFamily="18" charset="0"/>
              </a:rPr>
              <a:t>AutoDiff</a:t>
            </a:r>
            <a:r>
              <a:rPr kumimoji="1" lang="en-US" altLang="zh-CN" dirty="0">
                <a:latin typeface="Book Antiqua" panose="02040602050305030304" pitchFamily="18" charset="0"/>
              </a:rPr>
              <a:t>, Compiler, </a:t>
            </a:r>
            <a:r>
              <a:rPr kumimoji="1" lang="en-US" altLang="zh-CN" dirty="0" err="1">
                <a:latin typeface="Book Antiqua" panose="02040602050305030304" pitchFamily="18" charset="0"/>
              </a:rPr>
              <a:t>CodeGen</a:t>
            </a:r>
            <a:endParaRPr kumimoji="1" lang="zh-CN" altLang="en-US" dirty="0">
              <a:latin typeface="Book Antiqua" panose="0204060205030503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2857932" y="1725914"/>
            <a:ext cx="3090002" cy="1473012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6227919" y="3167071"/>
            <a:ext cx="5823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Megatron-LM &amp; Accelerate</a:t>
            </a:r>
          </a:p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Parallelism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Settings, FP/BP Optimization, Redundancy</a:t>
            </a:r>
            <a:endParaRPr kumimoji="1" lang="zh-CN" altLang="en-US" dirty="0">
              <a:latin typeface="Book Antiqua" panose="0204060205030503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6291832" y="1816138"/>
            <a:ext cx="3163020" cy="133504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9410124" y="2375545"/>
            <a:ext cx="2620921" cy="79152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9444257" y="1641775"/>
            <a:ext cx="2552653" cy="762222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140960" y="6012305"/>
            <a:ext cx="5870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 err="1">
                <a:latin typeface="Book Antiqua" panose="02040602050305030304" pitchFamily="18" charset="0"/>
              </a:rPr>
              <a:t>vLLM</a:t>
            </a:r>
            <a:r>
              <a:rPr kumimoji="1" lang="en-US" altLang="zh-CN" dirty="0">
                <a:latin typeface="Book Antiqua" panose="02040602050305030304" pitchFamily="18" charset="0"/>
              </a:rPr>
              <a:t> &amp; </a:t>
            </a:r>
            <a:r>
              <a:rPr kumimoji="1" lang="en-US" altLang="zh-CN" dirty="0" err="1">
                <a:latin typeface="Book Antiqua" panose="02040602050305030304" pitchFamily="18" charset="0"/>
              </a:rPr>
              <a:t>SGLang</a:t>
            </a:r>
            <a:endParaRPr kumimoji="1" lang="en-US" altLang="zh-CN" dirty="0">
              <a:latin typeface="Book Antiqua" panose="02040602050305030304" pitchFamily="18" charset="0"/>
            </a:endParaRPr>
          </a:p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Paged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Attention, Prefix Caching, Speculative Decoding</a:t>
            </a: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412780" y="4682964"/>
            <a:ext cx="2391298" cy="109809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2992380" y="4675951"/>
            <a:ext cx="2675867" cy="1207123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6242551" y="6003968"/>
            <a:ext cx="5870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 err="1">
                <a:latin typeface="Book Antiqua" panose="02040602050305030304" pitchFamily="18" charset="0"/>
              </a:rPr>
              <a:t>OpenRLHF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&amp;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 err="1">
                <a:latin typeface="Book Antiqua" panose="02040602050305030304" pitchFamily="18" charset="0"/>
              </a:rPr>
              <a:t>veRL</a:t>
            </a:r>
            <a:endParaRPr kumimoji="1" lang="en-US" altLang="zh-CN" dirty="0">
              <a:latin typeface="Book Antiqua" panose="02040602050305030304" pitchFamily="18" charset="0"/>
            </a:endParaRPr>
          </a:p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Controller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&amp;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Dataflow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 err="1">
                <a:latin typeface="Book Antiqua" panose="02040602050305030304" pitchFamily="18" charset="0"/>
              </a:rPr>
              <a:t>Opt</a:t>
            </a:r>
            <a:r>
              <a:rPr kumimoji="1" lang="en-US" altLang="zh-CN" dirty="0">
                <a:latin typeface="Book Antiqua" panose="02040602050305030304" pitchFamily="18" charset="0"/>
              </a:rPr>
              <a:t>,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Efficiency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&amp;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Flexibility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endParaRPr kumimoji="1" lang="en-US" altLang="zh-CN" dirty="0">
              <a:latin typeface="Book Antiqua" panose="02040602050305030304" pitchFamily="18" charset="0"/>
            </a:endParaRPr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6410987" y="4407995"/>
            <a:ext cx="2279825" cy="165026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8826722" y="4535679"/>
            <a:ext cx="3088408" cy="130663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ook Antiqua" panose="02040602050305030304" pitchFamily="18" charset="0"/>
              </a:rPr>
              <a:t>Key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Concepts of LLM Software Framework</a:t>
            </a:r>
            <a:r>
              <a:rPr kumimoji="1" lang="x-none" dirty="0">
                <a:latin typeface="Book Antiqua" panose="02040602050305030304" pitchFamily="18" charset="0"/>
              </a:rPr>
              <a:t> (1/2)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60955" y="1135612"/>
            <a:ext cx="5850892" cy="5526082"/>
            <a:chOff x="160955" y="1135612"/>
            <a:chExt cx="5850892" cy="5526082"/>
          </a:xfrm>
        </p:grpSpPr>
        <p:grpSp>
          <p:nvGrpSpPr>
            <p:cNvPr id="10" name="组合 9"/>
            <p:cNvGrpSpPr/>
            <p:nvPr/>
          </p:nvGrpSpPr>
          <p:grpSpPr>
            <a:xfrm>
              <a:off x="160955" y="1135612"/>
              <a:ext cx="5850892" cy="2701097"/>
              <a:chOff x="160955" y="1135612"/>
              <a:chExt cx="5850892" cy="2701097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" name="圆角矩形 6"/>
              <p:cNvSpPr/>
              <p:nvPr/>
            </p:nvSpPr>
            <p:spPr>
              <a:xfrm>
                <a:off x="2493247" y="1135612"/>
                <a:ext cx="1186308" cy="352659"/>
              </a:xfrm>
              <a:prstGeom prst="roundRect">
                <a:avLst/>
              </a:prstGeom>
              <a:solidFill>
                <a:srgbClr val="549E39"/>
              </a:solidFill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Book Antiqua" panose="02040602050305030304" pitchFamily="18" charset="0"/>
                    <a:ea typeface="微软雅黑" panose="020B0503020204020204" charset="-122"/>
                    <a:cs typeface="Arial" panose="020B0604020202020204" pitchFamily="34" charset="0"/>
                  </a:rPr>
                  <a:t>Basics</a:t>
                </a:r>
                <a:endParaRPr kumimoji="1" lang="zh-CN" altLang="en-US" dirty="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60955" y="3960597"/>
              <a:ext cx="5850892" cy="2701097"/>
              <a:chOff x="160955" y="1135612"/>
              <a:chExt cx="5850892" cy="2701097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2493247" y="1135612"/>
                <a:ext cx="1186308" cy="352659"/>
              </a:xfrm>
              <a:prstGeom prst="roundRect">
                <a:avLst/>
              </a:prstGeom>
              <a:solidFill>
                <a:srgbClr val="549E39"/>
              </a:solidFill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Book Antiqua" panose="02040602050305030304" pitchFamily="18" charset="0"/>
                    <a:ea typeface="微软雅黑" panose="020B0503020204020204" charset="-122"/>
                    <a:cs typeface="Arial" panose="020B0604020202020204" pitchFamily="34" charset="0"/>
                  </a:rPr>
                  <a:t>Algo.</a:t>
                </a:r>
                <a:endParaRPr kumimoji="1" lang="zh-CN" altLang="en-US" dirty="0"/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6200149" y="1132554"/>
            <a:ext cx="5850892" cy="5526082"/>
            <a:chOff x="160955" y="1135612"/>
            <a:chExt cx="5850892" cy="5526082"/>
          </a:xfrm>
        </p:grpSpPr>
        <p:sp>
          <p:nvSpPr>
            <p:cNvPr id="22" name="矩形 21"/>
            <p:cNvSpPr/>
            <p:nvPr/>
          </p:nvSpPr>
          <p:spPr>
            <a:xfrm>
              <a:off x="160955" y="1311942"/>
              <a:ext cx="5850892" cy="5349752"/>
            </a:xfrm>
            <a:prstGeom prst="rect">
              <a:avLst/>
            </a:prstGeom>
            <a:noFill/>
            <a:ln w="12700">
              <a:solidFill>
                <a:srgbClr val="549E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2493247" y="1135612"/>
              <a:ext cx="1186308" cy="352659"/>
            </a:xfrm>
            <a:prstGeom prst="roundRect">
              <a:avLst/>
            </a:prstGeom>
            <a:solidFill>
              <a:srgbClr val="549E39"/>
            </a:solidFill>
            <a:ln w="12700">
              <a:solidFill>
                <a:srgbClr val="549E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Book Antiqua" panose="02040602050305030304" pitchFamily="18" charset="0"/>
                  <a:ea typeface="微软雅黑" panose="020B0503020204020204" charset="-122"/>
                  <a:cs typeface="Arial" panose="020B0604020202020204" pitchFamily="34" charset="0"/>
                </a:rPr>
                <a:t>System</a:t>
              </a:r>
              <a:endParaRPr kumimoji="1" lang="zh-CN" altLang="en-US" dirty="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60955" y="1509151"/>
            <a:ext cx="585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Features: Automation, Abstraction, Backend Portability</a:t>
            </a:r>
          </a:p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Programming Model: Eager Execution </a:t>
            </a:r>
            <a:r>
              <a:rPr kumimoji="1" lang="en-US" altLang="zh-CN" dirty="0" err="1">
                <a:latin typeface="Book Antiqua" panose="02040602050305030304" pitchFamily="18" charset="0"/>
              </a:rPr>
              <a:t>v.s</a:t>
            </a:r>
            <a:r>
              <a:rPr kumimoji="1" lang="en-US" altLang="zh-CN" dirty="0">
                <a:latin typeface="Book Antiqua" panose="02040602050305030304" pitchFamily="18" charset="0"/>
              </a:rPr>
              <a:t>. Static Graph</a:t>
            </a:r>
            <a:endParaRPr kumimoji="1" lang="zh-CN" altLang="en-US" dirty="0">
              <a:latin typeface="Book Antiqua" panose="0204060205030503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227919" y="1528168"/>
            <a:ext cx="5823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Computation, Memory, and Communication Wall</a:t>
            </a:r>
            <a:endParaRPr kumimoji="1" lang="zh-CN" altLang="en-US" dirty="0">
              <a:latin typeface="Book Antiqua" panose="0204060205030503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0329" y="4355991"/>
            <a:ext cx="5870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Runtime: Dynamicity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at the inference time.</a:t>
            </a:r>
          </a:p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Post-training: DPO, PPO, GRPO, and etc. </a:t>
            </a:r>
          </a:p>
        </p:txBody>
      </p:sp>
      <p:sp>
        <p:nvSpPr>
          <p:cNvPr id="33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066" y="2226174"/>
            <a:ext cx="2927400" cy="156240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42" y="2412834"/>
            <a:ext cx="2559374" cy="1094649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449" y="5277122"/>
            <a:ext cx="2067831" cy="954669"/>
          </a:xfrm>
          <a:prstGeom prst="rect">
            <a:avLst/>
          </a:prstGeom>
        </p:spPr>
      </p:pic>
      <p:pic>
        <p:nvPicPr>
          <p:cNvPr id="37" name="Picture 2" descr="Prefill and decoding phase in the LLM inference. | Download Scientific  Diagram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30" y="5033781"/>
            <a:ext cx="1481368" cy="53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7"/>
          <a:srcRect t="2" r="20093" b="4026"/>
          <a:stretch>
            <a:fillRect/>
          </a:stretch>
        </p:blipFill>
        <p:spPr>
          <a:xfrm>
            <a:off x="1829823" y="5055155"/>
            <a:ext cx="2067831" cy="1337425"/>
          </a:xfrm>
          <a:prstGeom prst="rect">
            <a:avLst/>
          </a:prstGeom>
        </p:spPr>
      </p:pic>
      <p:pic>
        <p:nvPicPr>
          <p:cNvPr id="39" name="Picture 8" descr="Mixture of Experts (MoE): Gain effective results from LLMs without  additional training | by Reeshabh Choudhary | Medium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30" y="5690631"/>
            <a:ext cx="1481369" cy="73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AutoShape 4" descr="AI and Memory Wall. (This blogpost has been written in… | by Amir Gholami |  riselab | Medium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8029" y="2039134"/>
            <a:ext cx="4297276" cy="2163791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1728" y="4313256"/>
            <a:ext cx="4429878" cy="22645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ook Antiqua" panose="02040602050305030304" pitchFamily="18" charset="0"/>
              </a:rPr>
              <a:t>Key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Concepts of LLM Software Framework</a:t>
            </a:r>
            <a:r>
              <a:rPr kumimoji="1" lang="x-none" dirty="0">
                <a:latin typeface="Book Antiqua" panose="02040602050305030304" pitchFamily="18" charset="0"/>
              </a:rPr>
              <a:t> (2/2)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60955" y="1135612"/>
            <a:ext cx="5850892" cy="5526082"/>
            <a:chOff x="160955" y="1135612"/>
            <a:chExt cx="5850892" cy="5526082"/>
          </a:xfrm>
        </p:grpSpPr>
        <p:grpSp>
          <p:nvGrpSpPr>
            <p:cNvPr id="10" name="组合 9"/>
            <p:cNvGrpSpPr/>
            <p:nvPr/>
          </p:nvGrpSpPr>
          <p:grpSpPr>
            <a:xfrm>
              <a:off x="160955" y="1135612"/>
              <a:ext cx="5850892" cy="2701097"/>
              <a:chOff x="160955" y="1135612"/>
              <a:chExt cx="5850892" cy="2701097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" name="圆角矩形 6"/>
              <p:cNvSpPr/>
              <p:nvPr/>
            </p:nvSpPr>
            <p:spPr>
              <a:xfrm>
                <a:off x="2493247" y="1135612"/>
                <a:ext cx="1186308" cy="352659"/>
              </a:xfrm>
              <a:prstGeom prst="roundRect">
                <a:avLst/>
              </a:prstGeom>
              <a:solidFill>
                <a:srgbClr val="549E39"/>
              </a:solidFill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Book Antiqua" panose="02040602050305030304" pitchFamily="18" charset="0"/>
                    <a:ea typeface="微软雅黑" panose="020B0503020204020204" charset="-122"/>
                    <a:cs typeface="Arial" panose="020B0604020202020204" pitchFamily="34" charset="0"/>
                  </a:rPr>
                  <a:t>Basics</a:t>
                </a:r>
                <a:endParaRPr kumimoji="1" lang="zh-CN" altLang="en-US" dirty="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60955" y="3960597"/>
              <a:ext cx="5850892" cy="2701097"/>
              <a:chOff x="160955" y="1135612"/>
              <a:chExt cx="5850892" cy="2701097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2493247" y="1135612"/>
                <a:ext cx="1186308" cy="352659"/>
              </a:xfrm>
              <a:prstGeom prst="roundRect">
                <a:avLst/>
              </a:prstGeom>
              <a:solidFill>
                <a:srgbClr val="549E39"/>
              </a:solidFill>
              <a:ln w="12700">
                <a:solidFill>
                  <a:srgbClr val="549E3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Book Antiqua" panose="02040602050305030304" pitchFamily="18" charset="0"/>
                    <a:ea typeface="微软雅黑" panose="020B0503020204020204" charset="-122"/>
                    <a:cs typeface="Arial" panose="020B0604020202020204" pitchFamily="34" charset="0"/>
                  </a:rPr>
                  <a:t>Algo.</a:t>
                </a:r>
                <a:endParaRPr kumimoji="1" lang="zh-CN" altLang="en-US" dirty="0"/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6200149" y="1132554"/>
            <a:ext cx="5850892" cy="5526082"/>
            <a:chOff x="160955" y="1135612"/>
            <a:chExt cx="5850892" cy="5526082"/>
          </a:xfrm>
        </p:grpSpPr>
        <p:sp>
          <p:nvSpPr>
            <p:cNvPr id="22" name="矩形 21"/>
            <p:cNvSpPr/>
            <p:nvPr/>
          </p:nvSpPr>
          <p:spPr>
            <a:xfrm>
              <a:off x="160955" y="1311942"/>
              <a:ext cx="5850892" cy="5349752"/>
            </a:xfrm>
            <a:prstGeom prst="rect">
              <a:avLst/>
            </a:prstGeom>
            <a:noFill/>
            <a:ln w="12700">
              <a:solidFill>
                <a:srgbClr val="549E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2493247" y="1135612"/>
              <a:ext cx="1186308" cy="352659"/>
            </a:xfrm>
            <a:prstGeom prst="roundRect">
              <a:avLst/>
            </a:prstGeom>
            <a:solidFill>
              <a:srgbClr val="549E39"/>
            </a:solidFill>
            <a:ln w="12700">
              <a:solidFill>
                <a:srgbClr val="549E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Book Antiqua" panose="02040602050305030304" pitchFamily="18" charset="0"/>
                  <a:ea typeface="微软雅黑" panose="020B0503020204020204" charset="-122"/>
                  <a:cs typeface="Arial" panose="020B0604020202020204" pitchFamily="34" charset="0"/>
                </a:rPr>
                <a:t>System</a:t>
              </a:r>
              <a:endParaRPr kumimoji="1" lang="zh-CN" altLang="en-US" dirty="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60955" y="1509151"/>
            <a:ext cx="585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Features: Automation, Abstraction, Backend Portability</a:t>
            </a:r>
          </a:p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Programming Model: Eager Execution </a:t>
            </a:r>
            <a:r>
              <a:rPr kumimoji="1" lang="en-US" altLang="zh-CN" dirty="0" err="1">
                <a:latin typeface="Book Antiqua" panose="02040602050305030304" pitchFamily="18" charset="0"/>
              </a:rPr>
              <a:t>v.s</a:t>
            </a:r>
            <a:r>
              <a:rPr kumimoji="1" lang="en-US" altLang="zh-CN" dirty="0">
                <a:latin typeface="Book Antiqua" panose="02040602050305030304" pitchFamily="18" charset="0"/>
              </a:rPr>
              <a:t>. Static Graph</a:t>
            </a:r>
            <a:endParaRPr kumimoji="1" lang="zh-CN" altLang="en-US" dirty="0">
              <a:latin typeface="Book Antiqua" panose="0204060205030503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227919" y="1528168"/>
            <a:ext cx="5823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Computation, Memory, and Communication Wall</a:t>
            </a:r>
            <a:endParaRPr kumimoji="1" lang="zh-CN" altLang="en-US" dirty="0">
              <a:latin typeface="Book Antiqua" panose="0204060205030503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0329" y="4355991"/>
            <a:ext cx="5870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Runtime: Dynamicity</a:t>
            </a:r>
            <a:r>
              <a:rPr kumimoji="1" lang="zh-CN" altLang="en-US" dirty="0">
                <a:latin typeface="Book Antiqua" panose="02040602050305030304" pitchFamily="18" charset="0"/>
              </a:rPr>
              <a:t> </a:t>
            </a:r>
            <a:r>
              <a:rPr kumimoji="1" lang="en-US" altLang="zh-CN" dirty="0">
                <a:latin typeface="Book Antiqua" panose="02040602050305030304" pitchFamily="18" charset="0"/>
              </a:rPr>
              <a:t>at the inference time.</a:t>
            </a:r>
          </a:p>
          <a:p>
            <a:pPr algn="ctr"/>
            <a:r>
              <a:rPr kumimoji="1" lang="en-US" altLang="zh-CN" dirty="0">
                <a:latin typeface="Book Antiqua" panose="02040602050305030304" pitchFamily="18" charset="0"/>
              </a:rPr>
              <a:t>Post-training: DPO, PPO, GRPO, and etc. </a:t>
            </a:r>
          </a:p>
        </p:txBody>
      </p:sp>
      <p:sp>
        <p:nvSpPr>
          <p:cNvPr id="33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066" y="2226174"/>
            <a:ext cx="2927400" cy="156240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42" y="2412834"/>
            <a:ext cx="2559374" cy="1094649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449" y="5277122"/>
            <a:ext cx="2067831" cy="954669"/>
          </a:xfrm>
          <a:prstGeom prst="rect">
            <a:avLst/>
          </a:prstGeom>
        </p:spPr>
      </p:pic>
      <p:pic>
        <p:nvPicPr>
          <p:cNvPr id="37" name="Picture 2" descr="Prefill and decoding phase in the LLM inference. | Download Scientific  Diagram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30" y="5033781"/>
            <a:ext cx="1481368" cy="53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7"/>
          <a:srcRect t="2" r="20093" b="4026"/>
          <a:stretch>
            <a:fillRect/>
          </a:stretch>
        </p:blipFill>
        <p:spPr>
          <a:xfrm>
            <a:off x="1829823" y="5055155"/>
            <a:ext cx="2067831" cy="1337425"/>
          </a:xfrm>
          <a:prstGeom prst="rect">
            <a:avLst/>
          </a:prstGeom>
        </p:spPr>
      </p:pic>
      <p:pic>
        <p:nvPicPr>
          <p:cNvPr id="39" name="Picture 8" descr="Mixture of Experts (MoE): Gain effective results from LLMs without  additional training | by Reeshabh Choudhary | Medium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30" y="5690631"/>
            <a:ext cx="1481369" cy="73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AutoShape 4" descr="AI and Memory Wall. (This blogpost has been written in… | by Amir Gholami |  riselab | Medium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499" y="4291248"/>
            <a:ext cx="4531268" cy="234620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9356" y="1917786"/>
            <a:ext cx="3209555" cy="23954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Programming: PyTorch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PyTorch: The (most) popular open-source ML library.</a:t>
            </a:r>
          </a:p>
          <a:p>
            <a:pPr lvl="1"/>
            <a:r>
              <a:rPr lang="en-US" altLang="zh-CN"/>
              <a:t>Tensor definition; GPU-enabled computation; Automatic Differentiation; Compiler Support.</a:t>
            </a:r>
          </a:p>
          <a:p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50" y="2626443"/>
            <a:ext cx="3120105" cy="198552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950" y="2626360"/>
            <a:ext cx="8293100" cy="335343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19160" y="4961940"/>
            <a:ext cx="27710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Book Antiqua" panose="02040602050305030304" pitchFamily="18" charset="0"/>
              </a:rPr>
              <a:t>Other ML Frameworks</a:t>
            </a:r>
            <a:endParaRPr kumimoji="1" lang="zh-CN" altLang="en-US" b="1" dirty="0">
              <a:latin typeface="Book Antiqua" panose="0204060205030503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31999" y="5690346"/>
            <a:ext cx="447303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latin typeface="Book Antiqua" panose="02040602050305030304" pitchFamily="18" charset="0"/>
              </a:rPr>
              <a:t>Numpy</a:t>
            </a:r>
            <a:r>
              <a:rPr kumimoji="1" lang="en-US" altLang="zh-CN" dirty="0">
                <a:latin typeface="Book Antiqua" panose="02040602050305030304" pitchFamily="18" charset="0"/>
              </a:rPr>
              <a:t> vs TensorFlow vs PyTorch</a:t>
            </a:r>
            <a:endParaRPr kumimoji="1" lang="zh-CN" altLang="en-US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Programming: PyTorch – Tensors </a:t>
            </a:r>
            <a:endParaRPr kumimoji="1"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Tensors</a:t>
            </a:r>
          </a:p>
          <a:p>
            <a:pPr lvl="1"/>
            <a:r>
              <a:rPr lang="en-US" altLang="zh-CN"/>
              <a:t>N-dims array in PyTorch, which is similar with NumPy’s ndarrays.</a:t>
            </a:r>
          </a:p>
          <a:p>
            <a:pPr lvl="1"/>
            <a:r>
              <a:rPr lang="en-US" altLang="zh-CN"/>
              <a:t>But torch.Tensor has </a:t>
            </a:r>
            <a:r>
              <a:rPr lang="en-US" altLang="zh-CN" u="sng"/>
              <a:t>gradient support</a:t>
            </a:r>
            <a:r>
              <a:rPr lang="en-US" altLang="zh-CN"/>
              <a:t> and </a:t>
            </a:r>
            <a:r>
              <a:rPr lang="en-US" altLang="zh-CN" u="sng"/>
              <a:t>device flag</a:t>
            </a:r>
            <a:r>
              <a:rPr lang="en-US" altLang="zh-CN"/>
              <a:t>.</a:t>
            </a:r>
          </a:p>
          <a:p>
            <a:r>
              <a:rPr lang="en-US" altLang="zh-CN"/>
              <a:t>Examples: Gradient</a:t>
            </a: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 = torch.randn(1)</a:t>
            </a: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t.requires_grad_() </a:t>
            </a:r>
          </a:p>
          <a:p>
            <a:pPr lvl="1"/>
            <a:r>
              <a:rPr lang="en-GB" altLang="zh-CN"/>
              <a:t>or </a:t>
            </a:r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 = torch.randn(1, requires_grad=True)</a:t>
            </a:r>
            <a:endParaRPr lang="en-GB" altLang="zh-CN"/>
          </a:p>
          <a:p>
            <a:pPr lvl="1"/>
            <a:r>
              <a:rPr lang="en-GB" altLang="zh-CN"/>
              <a:t>Access the value: </a:t>
            </a:r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t.data</a:t>
            </a:r>
            <a:endParaRPr lang="en-GB" altLang="zh-CN"/>
          </a:p>
          <a:p>
            <a:pPr lvl="1"/>
            <a:r>
              <a:rPr lang="en-GB" altLang="zh-CN"/>
              <a:t>Access the gradient: </a:t>
            </a:r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t.grad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Programming: PyTorch – Tensors </a:t>
            </a:r>
            <a:endParaRPr kumimoji="1"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8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Tensors</a:t>
            </a:r>
          </a:p>
          <a:p>
            <a:pPr lvl="1"/>
            <a:r>
              <a:rPr lang="en-US" altLang="zh-CN"/>
              <a:t>N-dims array in PyTorch, which is similar with NumPy’s ndarrays.</a:t>
            </a:r>
          </a:p>
          <a:p>
            <a:pPr lvl="1"/>
            <a:r>
              <a:rPr lang="en-US" altLang="zh-CN"/>
              <a:t>But torch.Tensor has </a:t>
            </a:r>
            <a:r>
              <a:rPr lang="en-US" altLang="zh-CN" u="sng"/>
              <a:t>gradient support</a:t>
            </a:r>
            <a:r>
              <a:rPr lang="en-US" altLang="zh-CN"/>
              <a:t> and </a:t>
            </a:r>
            <a:r>
              <a:rPr lang="en-US" altLang="zh-CN" u="sng"/>
              <a:t>device flag</a:t>
            </a:r>
            <a:r>
              <a:rPr lang="en-US" altLang="zh-CN"/>
              <a:t>.</a:t>
            </a:r>
          </a:p>
          <a:p>
            <a:r>
              <a:rPr lang="en-US" altLang="zh-CN"/>
              <a:t>Examples: Hetero-device Support</a:t>
            </a: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 = torch.randn(1)</a:t>
            </a: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t.to("gpu:1")</a:t>
            </a: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torch.cuda.is_available()</a:t>
            </a:r>
          </a:p>
          <a:p>
            <a:pPr lvl="2"/>
            <a:endParaRPr lang="en-GB" altLang="zh-CN"/>
          </a:p>
          <a:p>
            <a:pPr marL="342900" lvl="1" indent="0">
              <a:buNone/>
            </a:pPr>
            <a:r>
              <a:rPr lang="en-GB" altLang="zh-CN"/>
              <a:t>torch-npu (by Huawei)</a:t>
            </a: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t.to("npu:0")</a:t>
            </a: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torch.npu.is_available()</a:t>
            </a:r>
          </a:p>
          <a:p>
            <a:endParaRPr lang="en-GB" altLang="zh-CN"/>
          </a:p>
        </p:txBody>
      </p:sp>
      <p:sp>
        <p:nvSpPr>
          <p:cNvPr id="7" name="内容占位符 4"/>
          <p:cNvSpPr txBox="1"/>
          <p:nvPr/>
        </p:nvSpPr>
        <p:spPr>
          <a:xfrm>
            <a:off x="5735157" y="3750469"/>
            <a:ext cx="6693911" cy="34250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Arial" panose="020B0604020202020204" pitchFamily="34" charset="0"/>
              <a:buChar char="–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Times New Roman" panose="02020603050405020304" charset="0"/>
              <a:buChar char="-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Times New Roman" panose="02020603050405020304" charset="0"/>
              <a:buChar char="-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zh-CN" dirty="0">
                <a:latin typeface="Book Antiqua" panose="02040602050305030304" pitchFamily="18" charset="0"/>
              </a:rPr>
              <a:t>Distributed Support</a:t>
            </a:r>
          </a:p>
          <a:p>
            <a:pPr marL="0" indent="0" algn="ctr">
              <a:buNone/>
            </a:pPr>
            <a:r>
              <a:rPr kumimoji="1" lang="en-US" altLang="zh-CN" dirty="0" err="1">
                <a:latin typeface="Book Antiqua" panose="02040602050305030304" pitchFamily="18" charset="0"/>
              </a:rPr>
              <a:t>DTensor</a:t>
            </a:r>
            <a:r>
              <a:rPr kumimoji="1" lang="en-US" altLang="zh-CN" dirty="0">
                <a:latin typeface="Book Antiqua" panose="02040602050305030304" pitchFamily="18" charset="0"/>
              </a:rPr>
              <a:t> &amp; </a:t>
            </a:r>
            <a:r>
              <a:rPr kumimoji="1" lang="en-US" altLang="zh-CN" dirty="0" err="1">
                <a:latin typeface="Book Antiqua" panose="02040602050305030304" pitchFamily="18" charset="0"/>
              </a:rPr>
              <a:t>DeviceMesh</a:t>
            </a:r>
            <a:endParaRPr kumimoji="1" lang="en-US" altLang="zh-CN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Programming: PyTorch – Autograd</a:t>
            </a:r>
            <a:endParaRPr kumimoji="1"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Autograd: Automatic Differentiation Package</a:t>
            </a:r>
          </a:p>
          <a:p>
            <a:pPr lvl="1" algn="l"/>
            <a:r>
              <a:rPr lang="en-US" altLang="zh-CN"/>
              <a:t>No need to worry about partial differentiation, chain rule etc.</a:t>
            </a:r>
            <a:r>
              <a:rPr lang="x-none" altLang="en-US"/>
              <a:t>  </a:t>
            </a:r>
            <a:r>
              <a:rPr lang="en-US" altLang="zh-CN"/>
              <a:t> </a:t>
            </a:r>
            <a:r>
              <a:rPr lang="x-none" alt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=&gt;</a:t>
            </a:r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backward()</a:t>
            </a:r>
          </a:p>
          <a:p>
            <a:pPr lvl="1"/>
            <a:r>
              <a:rPr lang="en-GB" altLang="zh-CN"/>
              <a:t>Gradients are accumulated for each step =&gt; zero-out gradient after update </a:t>
            </a:r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grad_zero()</a:t>
            </a:r>
          </a:p>
          <a:p>
            <a:r>
              <a:rPr lang="en-US" altLang="zh-CN"/>
              <a:t>Examples: Hetero-device Support</a:t>
            </a:r>
          </a:p>
          <a:p>
            <a:pPr lvl="1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x = torch.tensor(1., requires_grad = True)</a:t>
            </a: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w = torch.tensor(2., requires_grad = True)</a:t>
            </a: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b = torch.tensor(3., requires_grad = True)</a:t>
            </a: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y = w * x + b</a:t>
            </a:r>
            <a:r>
              <a:rPr lang="x-none" alt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x-none" alt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zh-CN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y = 2 * x + 3</a:t>
            </a:r>
            <a:endParaRPr lang="en-GB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y.backward()</a:t>
            </a:r>
          </a:p>
          <a:p>
            <a:pPr lvl="1" algn="l"/>
            <a:endParaRPr lang="en-GB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/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print(x.grad, w.grad, b.grad)</a:t>
            </a:r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  </a:t>
            </a:r>
            <a:r>
              <a:rPr lang="en-GB" altLang="zh-CN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# 2, 1, 1</a:t>
            </a:r>
            <a:endParaRPr lang="en-GB" altLang="zh-CN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altLang="zh-CN"/>
          </a:p>
          <a:p>
            <a:endParaRPr lang="en-GB" altLang="zh-CN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Programming: PyTorch –</a:t>
            </a:r>
            <a:r>
              <a:rPr lang="zh-CN" altLang="en-US"/>
              <a:t> </a:t>
            </a:r>
            <a:r>
              <a:rPr lang="en-US" altLang="zh-CN"/>
              <a:t>Inside</a:t>
            </a:r>
            <a:r>
              <a:rPr lang="x-none"/>
              <a:t> (1/5)</a:t>
            </a:r>
            <a:endParaRPr kumimoji="1" lang="x-none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Enabling a training or inference task is simple. But how about the performance?</a:t>
            </a:r>
          </a:p>
          <a:p>
            <a:pPr lvl="1"/>
            <a:r>
              <a:rPr lang="en-US" altLang="zh-CN"/>
              <a:t>At the beginning, one of the design principles of PyTorch – Easy to use &gt; Performance.</a:t>
            </a:r>
          </a:p>
          <a:p>
            <a:pPr lvl="1"/>
            <a:r>
              <a:rPr lang="en-US" altLang="zh-CN"/>
              <a:t>With the increase of hardware computing power, </a:t>
            </a:r>
          </a:p>
          <a:p>
            <a:pPr marL="342900" lvl="1" indent="0" algn="ctr">
              <a:buNone/>
            </a:pPr>
            <a:r>
              <a:rPr lang="en-US" altLang="zh-CN" u="sng"/>
              <a:t>performance, portability, scalability and become more and more important.</a:t>
            </a:r>
          </a:p>
          <a:p>
            <a:r>
              <a:rPr lang="en-US" altLang="zh-CN"/>
              <a:t>So,</a:t>
            </a:r>
            <a:r>
              <a:rPr lang="zh-CN" altLang="en-US"/>
              <a:t> </a:t>
            </a:r>
            <a:r>
              <a:rPr lang="en-GB" altLang="zh-CN"/>
              <a:t>what is the advanced internal workflow of PyTorch (2.0)?</a:t>
            </a:r>
          </a:p>
          <a:p>
            <a:pPr lvl="1"/>
            <a:r>
              <a:rPr lang="en-GB" altLang="zh-CN"/>
              <a:t>How can we accelerate?</a:t>
            </a:r>
          </a:p>
          <a:p>
            <a:pPr lvl="1"/>
            <a:r>
              <a:rPr lang="en-US" altLang="zh-CN"/>
              <a:t>Compilation Optimization</a:t>
            </a:r>
            <a:endParaRPr lang="en-GB" altLang="zh-CN"/>
          </a:p>
          <a:p>
            <a:pPr lvl="1"/>
            <a:r>
              <a:rPr lang="en-GB" altLang="zh-CN"/>
              <a:t>Graph capturing (acquisition)</a:t>
            </a:r>
          </a:p>
          <a:p>
            <a:pPr lvl="1"/>
            <a:r>
              <a:rPr lang="en-GB" altLang="zh-CN"/>
              <a:t>Graph lowering</a:t>
            </a:r>
          </a:p>
          <a:p>
            <a:pPr lvl="1"/>
            <a:r>
              <a:rPr lang="en-GB" altLang="zh-CN"/>
              <a:t>Graph compilation</a:t>
            </a:r>
          </a:p>
          <a:p>
            <a:endParaRPr lang="en-GB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84" y="3680300"/>
            <a:ext cx="5139884" cy="24965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328435" y="6176816"/>
            <a:ext cx="3100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Book Antiqua" panose="02040602050305030304" pitchFamily="18" charset="0"/>
              </a:rPr>
              <a:t>The backend of PyTorch 2.0 </a:t>
            </a:r>
            <a:endParaRPr kumimoji="1" lang="zh-CN" altLang="en-US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_images/TorchDynam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440" y="3836035"/>
            <a:ext cx="4099560" cy="273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Programming: PyTorch –</a:t>
            </a:r>
            <a:r>
              <a:rPr lang="zh-CN" altLang="en-US"/>
              <a:t> </a:t>
            </a:r>
            <a:r>
              <a:rPr lang="en-US" altLang="zh-CN"/>
              <a:t>Inside</a:t>
            </a:r>
            <a:r>
              <a:rPr lang="x-none">
                <a:sym typeface="+mn-ea"/>
              </a:rPr>
              <a:t> (2/5)</a:t>
            </a:r>
            <a:endParaRPr kumimoji="1"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0000" lnSpcReduction="10000"/>
          </a:bodyPr>
          <a:lstStyle/>
          <a:p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Unified Entrance @ </a:t>
            </a:r>
            <a:r>
              <a:rPr kumimoji="1" lang="en-US" altLang="zh-CN" sz="2400" dirty="0" err="1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PyTorch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 2.0: </a:t>
            </a:r>
            <a:r>
              <a:rPr kumimoji="1" lang="en-US" altLang="zh-CN" sz="2400" dirty="0" err="1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torch.compile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()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Torch Dynamo (for FP)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pPr lvl="1"/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A JIT compiler for computation graph extraction.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pPr lvl="1"/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Before Dynamo, there are several initial tries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pPr lvl="2"/>
            <a:r>
              <a:rPr kumimoji="1" lang="en-US" altLang="zh-CN" sz="2400" dirty="0" err="1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TorchScript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, </a:t>
            </a:r>
            <a:r>
              <a:rPr kumimoji="1" lang="en-US" altLang="zh-CN" sz="2400" dirty="0" err="1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TorchFX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, </a:t>
            </a:r>
            <a:r>
              <a:rPr kumimoji="1" lang="en-US" altLang="zh-CN" sz="2400" dirty="0" err="1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LazyTensor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, </a:t>
            </a:r>
            <a:r>
              <a:rPr kumimoji="1" lang="en-US" altLang="zh-CN" sz="2400" dirty="0" err="1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etc</a:t>
            </a:r>
            <a:endParaRPr kumimoji="1"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kumimoji="1" lang="en-GB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Dynamo has more flexible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 support combining 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pPr marL="342900" lvl="1" indent="0">
              <a:buNone/>
            </a:pP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    with the bytecode and VM.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pPr lvl="1"/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Graph break when it meets the unsupported ops.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pPr lvl="1"/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Graph re-compilation checking (@ static shape mode).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pPr lvl="2"/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Tensor Shape,</a:t>
            </a:r>
            <a:r>
              <a:rPr kumimoji="1" lang="zh-CN" altLang="en-US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 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Stride,</a:t>
            </a:r>
            <a:r>
              <a:rPr kumimoji="1" lang="zh-CN" altLang="en-US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 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Device and etc.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pPr lvl="1"/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Dynamo also supports dynamic shapes without re-compilation.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r>
              <a:rPr kumimoji="1" lang="en-US" altLang="zh-CN" sz="2400" dirty="0" err="1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AOTAutograd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 is for the</a:t>
            </a:r>
            <a:r>
              <a:rPr kumimoji="1" lang="zh-CN" altLang="en-US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 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graph</a:t>
            </a:r>
            <a:r>
              <a:rPr kumimoji="1" lang="zh-CN" altLang="en-US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 </a:t>
            </a:r>
            <a:r>
              <a:rPr kumimoji="1" lang="en-US" altLang="zh-CN" sz="2400" dirty="0">
                <a:latin typeface="Book Antiqua" panose="02040602050305030304" pitchFamily="18" charset="0"/>
                <a:cs typeface="Courier New" panose="02070309020205020404" pitchFamily="49" charset="0"/>
                <a:sym typeface="+mn-ea"/>
              </a:rPr>
              <a:t>extraction during the BP.</a:t>
            </a:r>
            <a:endParaRPr kumimoji="1" lang="en-US" altLang="zh-CN" sz="24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712" y="1144587"/>
            <a:ext cx="3772762" cy="213488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Programming: PyTorch –</a:t>
            </a:r>
            <a:r>
              <a:rPr lang="zh-CN" altLang="en-US"/>
              <a:t> </a:t>
            </a:r>
            <a:r>
              <a:rPr lang="en-US" altLang="zh-CN"/>
              <a:t>Inside</a:t>
            </a:r>
            <a:r>
              <a:rPr lang="x-none">
                <a:sym typeface="+mn-ea"/>
              </a:rPr>
              <a:t> (3/5)</a:t>
            </a:r>
            <a:endParaRPr kumimoji="1"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622415" cy="4853305"/>
          </a:xfrm>
        </p:spPr>
        <p:txBody>
          <a:bodyPr/>
          <a:lstStyle/>
          <a:p>
            <a:r>
              <a:rPr lang="en-US" altLang="zh-CN"/>
              <a:t>Unified Entrance @ PyTorch 2.0: torch.compile()</a:t>
            </a:r>
          </a:p>
          <a:p>
            <a:r>
              <a:rPr lang="en-US" altLang="zh-CN"/>
              <a:t>ATen/PrimIR</a:t>
            </a:r>
          </a:p>
          <a:p>
            <a:pPr lvl="1"/>
            <a:r>
              <a:rPr lang="en-US" altLang="zh-CN"/>
              <a:t># ops in PyTorch: 1200+ (2000+ overload ops)</a:t>
            </a:r>
          </a:p>
          <a:p>
            <a:pPr lvl="1"/>
            <a:r>
              <a:rPr lang="en-US" altLang="zh-CN"/>
              <a:t># ops in Prim IR: ~250 (fairly low-level)</a:t>
            </a:r>
          </a:p>
          <a:p>
            <a:pPr lvl="1"/>
            <a:r>
              <a:rPr lang="en-US" altLang="zh-CN"/>
              <a:t># canonical ops in ATen: ~750</a:t>
            </a:r>
          </a:p>
          <a:p>
            <a:r>
              <a:rPr lang="en-US" altLang="zh-CN"/>
              <a:t>Prim IR operators should be fused for better perf.</a:t>
            </a:r>
          </a:p>
          <a:p>
            <a:r>
              <a:rPr lang="en-US" altLang="zh-CN"/>
              <a:t>ATen IR operators</a:t>
            </a:r>
          </a:p>
          <a:p>
            <a:pPr lvl="1"/>
            <a:r>
              <a:rPr lang="en-US" altLang="zh-CN"/>
              <a:t>suited for backends that already integrate at ATen level</a:t>
            </a:r>
          </a:p>
          <a:p>
            <a:pPr lvl="1"/>
            <a:r>
              <a:rPr lang="en-US" altLang="zh-CN"/>
              <a:t>backends that won’t have compilation to recover performance from a lower-level operator set like Prim ops</a:t>
            </a:r>
          </a:p>
          <a:p>
            <a:endParaRPr lang="en-US" altLang="zh-CN"/>
          </a:p>
        </p:txBody>
      </p:sp>
      <p:pic>
        <p:nvPicPr>
          <p:cNvPr id="1026" name="Picture 2" descr="https://pytorch.org/wp-content/uploads/2025/01/pytorch-2.0-img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537" y="1311941"/>
            <a:ext cx="4392756" cy="5487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Programming: PyTorch –</a:t>
            </a:r>
            <a:r>
              <a:rPr lang="zh-CN" altLang="en-US"/>
              <a:t> </a:t>
            </a:r>
            <a:r>
              <a:rPr lang="en-US" altLang="zh-CN"/>
              <a:t>Inside</a:t>
            </a:r>
            <a:r>
              <a:rPr lang="x-none">
                <a:sym typeface="+mn-ea"/>
              </a:rPr>
              <a:t> (4/5)</a:t>
            </a:r>
            <a:endParaRPr kumimoji="1"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Unified Entrance @ PyTorch 2.0: torch.compile()</a:t>
            </a:r>
          </a:p>
          <a:p>
            <a:r>
              <a:rPr lang="en-US" altLang="zh-CN"/>
              <a:t>Torch Inductor w/ OpenAI Triton support</a:t>
            </a:r>
          </a:p>
          <a:p>
            <a:pPr lvl="1"/>
            <a:r>
              <a:rPr lang="en-US" altLang="zh-CN"/>
              <a:t>The default compiler backend.</a:t>
            </a:r>
          </a:p>
          <a:p>
            <a:pPr lvl="1"/>
            <a:r>
              <a:rPr lang="en-US" altLang="zh-CN"/>
              <a:t>Python-native</a:t>
            </a:r>
            <a:r>
              <a:rPr lang="zh-CN" altLang="en-US"/>
              <a:t> </a:t>
            </a:r>
            <a:r>
              <a:rPr lang="en-US" altLang="zh-CN"/>
              <a:t>&amp;</a:t>
            </a:r>
            <a:r>
              <a:rPr lang="zh-CN" altLang="en-US"/>
              <a:t> </a:t>
            </a:r>
            <a:r>
              <a:rPr lang="en-US" altLang="zh-CN"/>
              <a:t>PyTorch-first.</a:t>
            </a:r>
          </a:p>
          <a:p>
            <a:pPr lvl="1"/>
            <a:r>
              <a:rPr lang="en-US" altLang="zh-CN"/>
              <a:t>Loop-level TorchInductor IR has 54 primitive operators.</a:t>
            </a:r>
          </a:p>
          <a:p>
            <a:r>
              <a:rPr lang="en-US" altLang="zh-CN"/>
              <a:t>Define-by-run Concept</a:t>
            </a:r>
          </a:p>
          <a:p>
            <a:pPr lvl="1"/>
            <a:r>
              <a:rPr lang="en-US" altLang="zh-CN"/>
              <a:t>IR uses executable Python code to define the bodies of loops</a:t>
            </a:r>
          </a:p>
          <a:p>
            <a:pPr lvl="1"/>
            <a:r>
              <a:rPr lang="en-US" altLang="zh-CN"/>
              <a:t>Sympy symbols for the dynamic shapes.</a:t>
            </a:r>
          </a:p>
          <a:p>
            <a:r>
              <a:rPr lang="en-US" altLang="zh-CN"/>
              <a:t>Scheduling: mainly for the operator fusions.</a:t>
            </a:r>
          </a:p>
          <a:p>
            <a:r>
              <a:rPr lang="en-US" altLang="zh-CN"/>
              <a:t>CodeGen: Triton, C++, and wrapper.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912" y="958583"/>
            <a:ext cx="4097867" cy="28549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223" y="3840163"/>
            <a:ext cx="3949243" cy="242649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Programming: PyTorch –</a:t>
            </a:r>
            <a:r>
              <a:rPr lang="zh-CN" altLang="en-US"/>
              <a:t> </a:t>
            </a:r>
            <a:r>
              <a:rPr lang="en-US" altLang="zh-CN"/>
              <a:t>Inside</a:t>
            </a:r>
            <a:r>
              <a:rPr lang="x-none">
                <a:sym typeface="+mn-ea"/>
              </a:rPr>
              <a:t> (5/5)</a:t>
            </a:r>
            <a:endParaRPr kumimoji="1"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Evaluations of PyTorch 2.0</a:t>
            </a:r>
          </a:p>
          <a:p>
            <a:pPr lvl="1"/>
            <a:r>
              <a:rPr lang="en-US" altLang="zh-CN"/>
              <a:t>Better performance</a:t>
            </a:r>
          </a:p>
          <a:p>
            <a:pPr lvl="1"/>
            <a:r>
              <a:rPr lang="en-US" altLang="zh-CN"/>
              <a:t>Dynamic shapes</a:t>
            </a:r>
          </a:p>
          <a:p>
            <a:pPr lvl="1"/>
            <a:r>
              <a:rPr lang="en-US" altLang="zh-CN"/>
              <a:t>More model supports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 descr="在这里插入图片描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4" y="3194700"/>
            <a:ext cx="4913285" cy="3334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189990"/>
            <a:ext cx="5142230" cy="53536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36535433070856,&quot;left&quot;:11.099212598425197,&quot;top&quot;:89.17748031496063,&quot;width&quot;:947.62803149606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1315</Words>
  <Application>Microsoft Office PowerPoint</Application>
  <PresentationFormat>宽屏</PresentationFormat>
  <Paragraphs>181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等线</vt:lpstr>
      <vt:lpstr>微软雅黑</vt:lpstr>
      <vt:lpstr>文泉驿微米黑</vt:lpstr>
      <vt:lpstr>Arial</vt:lpstr>
      <vt:lpstr>Book Antiqua</vt:lpstr>
      <vt:lpstr>Calibri</vt:lpstr>
      <vt:lpstr>Calibri Light</vt:lpstr>
      <vt:lpstr>Courier New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03: Deep Learning Framework Call Chain Analysis</vt:lpstr>
      <vt:lpstr>ML System Lifecycle &amp; Three Scaling Laws</vt:lpstr>
      <vt:lpstr>Overview of LLM Software Framework</vt:lpstr>
      <vt:lpstr>Key Concepts of LLM Software Framework (1/2)</vt:lpstr>
      <vt:lpstr>Key Concepts of LLM Software Framework (2/2)</vt:lpstr>
      <vt:lpstr>Programming: PyTorch</vt:lpstr>
      <vt:lpstr>Programming: PyTorch – Tensors </vt:lpstr>
      <vt:lpstr>Programming: PyTorch – Tensors </vt:lpstr>
      <vt:lpstr>Programming: PyTorch – Autograd</vt:lpstr>
      <vt:lpstr>Programming: PyTorch – Inside (1/5)</vt:lpstr>
      <vt:lpstr>Programming: PyTorch – Inside (2/5)</vt:lpstr>
      <vt:lpstr>Programming: PyTorch – Inside (3/5)</vt:lpstr>
      <vt:lpstr>Programming: PyTorch – Inside (4/5)</vt:lpstr>
      <vt:lpstr>Programming: PyTorch – Inside (5/5)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10：注意力机制 原理与算子需求</dc:title>
  <dc:creator>王丰</dc:creator>
  <cp:lastModifiedBy>Xiang Li</cp:lastModifiedBy>
  <cp:revision>21</cp:revision>
  <dcterms:created xsi:type="dcterms:W3CDTF">2026-03-12T02:38:00Z</dcterms:created>
  <dcterms:modified xsi:type="dcterms:W3CDTF">2026-03-17T14:53:11Z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73a59436b4354da09f2a1aff800eacb2_23</vt:lpwstr>
  </property>
  <property fmtid="{D5CDD505-2E9C-101B-9397-08002B2CF9AE}" pid="3" name="KSOProductBuildVer">
    <vt:lpwstr>2052-12.1.0.19302</vt:lpwstr>
  </property>
</Properties>
</file>