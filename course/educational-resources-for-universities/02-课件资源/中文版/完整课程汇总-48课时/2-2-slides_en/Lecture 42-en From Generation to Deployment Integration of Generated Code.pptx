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33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7" r:id="rId18"/>
    <p:sldId id="279" r:id="rId19"/>
    <p:sldId id="280" r:id="rId20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856312-4028-4C05-B013-7F41CF47846F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8B0012"/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 w="9525" cmpd="sng">
              <a:solidFill>
                <a:srgbClr val="8B0012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8B0012">
              <a:lumMod val="10000"/>
              <a:lumOff val="90000"/>
            </a:srgb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8B0012"/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 w="9525" cmpd="sng">
              <a:solidFill>
                <a:srgbClr val="8B0012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8B0012">
              <a:lumMod val="10000"/>
              <a:lumOff val="90000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8B0012"/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 w="9525" cmpd="sng">
              <a:solidFill>
                <a:srgbClr val="8B0012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8B0012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8B0012"/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 w="9525" cmpd="sng">
              <a:solidFill>
                <a:srgbClr val="8B0012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8B0012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8B001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8B0012">
                  <a:lumMod val="40000"/>
                  <a:lumOff val="60000"/>
                </a:srgbClr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8B0012">
                  <a:lumMod val="40000"/>
                  <a:lumOff val="60000"/>
                </a:srgbClr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8B0012">
                  <a:lumMod val="40000"/>
                  <a:lumOff val="60000"/>
                </a:srgbClr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rgbClr val="8B001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442" autoAdjust="0"/>
  </p:normalViewPr>
  <p:slideViewPr>
    <p:cSldViewPr snapToGrid="0" snapToObjects="1">
      <p:cViewPr varScale="1">
        <p:scale>
          <a:sx n="50" d="100"/>
          <a:sy n="50" d="100"/>
        </p:scale>
        <p:origin x="10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15381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191795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image" Target="../media/image15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3.xml"/><Relationship Id="rId21" Type="http://schemas.openxmlformats.org/officeDocument/2006/relationships/image" Target="../media/image18.png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image" Target="../media/image17.png"/><Relationship Id="rId29" Type="http://schemas.openxmlformats.org/officeDocument/2006/relationships/image" Target="../media/image22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23" Type="http://schemas.openxmlformats.org/officeDocument/2006/relationships/image" Target="../media/image20.png"/><Relationship Id="rId28" Type="http://schemas.openxmlformats.org/officeDocument/2006/relationships/image" Target="../media/image21.jpeg"/><Relationship Id="rId10" Type="http://schemas.openxmlformats.org/officeDocument/2006/relationships/tags" Target="../tags/tag20.xml"/><Relationship Id="rId19" Type="http://schemas.openxmlformats.org/officeDocument/2006/relationships/image" Target="../media/image16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image" Target="../media/image19.png"/><Relationship Id="rId27" Type="http://schemas.openxmlformats.org/officeDocument/2006/relationships/hyperlink" Target="https://flagos.io/Home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>
                <a:sym typeface="+mn-ea"/>
              </a:rPr>
              <a:t>Lecture 42</a:t>
            </a:r>
            <a:r>
              <a:rPr lang="zh-CN" altLang="en-US">
                <a:sym typeface="+mn-ea"/>
              </a:rPr>
              <a:t>: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From Generation to Deployment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Integration of Generated Code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FlagOS </a:t>
            </a:r>
            <a:r>
              <a:rPr lang="zh-CN" altLang="en-US"/>
              <a:t> Ecosystem Overview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https://docs.flagos.io/en/latest/overview.html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sz="2000"/>
              <a:t>Design Philosophy:</a:t>
            </a:r>
            <a:r>
              <a:rPr lang="en-US" altLang="zh-CN" sz="2000"/>
              <a:t>“</a:t>
            </a:r>
            <a:r>
              <a:rPr lang="zh-CN" altLang="en-US" sz="2000"/>
              <a:t> model</a:t>
            </a:r>
            <a:r>
              <a:rPr lang="en-US" altLang="zh-CN" sz="2000"/>
              <a:t>-</a:t>
            </a:r>
            <a:r>
              <a:rPr lang="zh-CN" altLang="en-US" sz="2000"/>
              <a:t> system</a:t>
            </a:r>
            <a:r>
              <a:rPr lang="en-US" altLang="zh-CN" sz="2000"/>
              <a:t>-</a:t>
            </a:r>
            <a:r>
              <a:rPr lang="zh-CN" altLang="en-US" sz="2000"/>
              <a:t> chip</a:t>
            </a:r>
            <a:r>
              <a:rPr lang="en-US" altLang="zh-CN" sz="2000"/>
              <a:t>”</a:t>
            </a:r>
            <a:r>
              <a:rPr lang="zh-CN" altLang="en-US" sz="2000"/>
              <a:t> decoupling,</a:t>
            </a:r>
            <a:r>
              <a:rPr lang="en-US" altLang="zh-CN" sz="2000"/>
              <a:t>“</a:t>
            </a:r>
            <a:r>
              <a:rPr lang="zh-CN" altLang="en-US" sz="2000"/>
              <a:t> Write Once, Run Anywhere</a:t>
            </a:r>
            <a:r>
              <a:rPr lang="en-US" altLang="zh-CN" sz="2000"/>
              <a:t>” </a:t>
            </a:r>
            <a:r>
              <a:rPr lang="zh-CN" altLang="en-US" sz="2000"/>
              <a:t>.</a:t>
            </a:r>
            <a:endParaRPr lang="en-US" altLang="zh-CN" sz="2000"/>
          </a:p>
          <a:p>
            <a:pPr lvl="1"/>
            <a:r>
              <a:rPr lang="en-US" altLang="zh-CN" sz="1800"/>
              <a:t>KernelGen</a:t>
            </a:r>
            <a:r>
              <a:rPr lang="zh-CN" altLang="en-US" sz="1800"/>
              <a:t> (Intelligent Source):</a:t>
            </a:r>
            <a:r>
              <a:rPr lang="en-US" altLang="zh-CN" sz="1800"/>
              <a:t>LLM </a:t>
            </a:r>
            <a:r>
              <a:rPr lang="zh-CN" altLang="en-US" sz="1800"/>
              <a:t>-driven operator generation and test verification agent</a:t>
            </a:r>
            <a:r>
              <a:rPr lang="en-US" altLang="zh-CN" sz="1800"/>
              <a:t> </a:t>
            </a:r>
            <a:r>
              <a:rPr lang="zh-CN" altLang="en-US" sz="1800"/>
              <a:t>.</a:t>
            </a:r>
            <a:endParaRPr lang="en-US" altLang="zh-CN" sz="1800"/>
          </a:p>
          <a:p>
            <a:pPr lvl="1"/>
            <a:r>
              <a:rPr lang="en-US" altLang="zh-CN" sz="1800"/>
              <a:t>FlagGems</a:t>
            </a:r>
            <a:r>
              <a:rPr lang="zh-CN" altLang="en-US" sz="1800"/>
              <a:t> (High-Performance Operator Library): Based on</a:t>
            </a:r>
            <a:r>
              <a:rPr lang="en-US" altLang="zh-CN" sz="1800"/>
              <a:t> Triton </a:t>
            </a:r>
            <a:r>
              <a:rPr lang="zh-CN" altLang="en-US" sz="1800"/>
              <a:t>, a high-performance generalized operator library.</a:t>
            </a:r>
          </a:p>
          <a:p>
            <a:pPr lvl="1"/>
            <a:r>
              <a:rPr lang="en-US" altLang="zh-CN" sz="1800"/>
              <a:t>FlagTree</a:t>
            </a:r>
            <a:r>
              <a:rPr lang="zh-CN" altLang="en-US" sz="1800"/>
              <a:t> (Compilation Engine): A unified</a:t>
            </a:r>
            <a:r>
              <a:rPr lang="en-US" altLang="zh-CN" sz="1800"/>
              <a:t> MLIR </a:t>
            </a:r>
            <a:r>
              <a:rPr lang="zh-CN" altLang="en-US" sz="1800"/>
              <a:t> compiler connecting operators with over ten types of heterogeneous chips.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663950" y="3429000"/>
            <a:ext cx="5407025" cy="2578100"/>
            <a:chOff x="4471" y="4747"/>
            <a:chExt cx="9912" cy="5113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71" y="4747"/>
              <a:ext cx="9913" cy="5113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4471" y="7184"/>
              <a:ext cx="3139" cy="2676"/>
            </a:xfrm>
            <a:prstGeom prst="rect">
              <a:avLst/>
            </a:prstGeom>
            <a:noFill/>
            <a:ln w="38100">
              <a:solidFill>
                <a:srgbClr val="8B001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B0012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FlagGems</a:t>
            </a:r>
            <a:r>
              <a:t> Overview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447155" cy="485330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800"/>
              <a:t>Triton </a:t>
            </a:r>
            <a:r>
              <a:rPr lang="zh-CN" altLang="en-US" sz="1800"/>
              <a:t>-written, Cross-Hardware Unified:</a:t>
            </a:r>
          </a:p>
          <a:p>
            <a:pPr lvl="1">
              <a:lnSpc>
                <a:spcPct val="90000"/>
              </a:lnSpc>
            </a:pPr>
            <a:r>
              <a:rPr lang="zh-CN" altLang="en-US" sz="1400"/>
              <a:t>Natively supports</a:t>
            </a:r>
            <a:r>
              <a:rPr lang="en-US" altLang="zh-CN" sz="1400"/>
              <a:t> CUDA</a:t>
            </a:r>
            <a:r>
              <a:rPr lang="zh-CN" altLang="en-US" sz="1400"/>
              <a:t>,</a:t>
            </a:r>
            <a:r>
              <a:rPr lang="en-US" altLang="zh-CN" sz="1400"/>
              <a:t>MLU</a:t>
            </a:r>
            <a:r>
              <a:rPr lang="zh-CN" altLang="en-US" sz="1400"/>
              <a:t>,</a:t>
            </a:r>
            <a:r>
              <a:rPr lang="en-US" altLang="zh-CN" sz="1400"/>
              <a:t>XPU</a:t>
            </a:r>
            <a:r>
              <a:rPr lang="zh-CN" altLang="en-US" sz="1400"/>
              <a:t>,</a:t>
            </a:r>
            <a:r>
              <a:rPr lang="en-US" altLang="zh-CN" sz="1400"/>
              <a:t>NPU </a:t>
            </a:r>
            <a:r>
              <a:rPr lang="zh-CN" altLang="en-US" sz="1400"/>
              <a:t> etc.</a:t>
            </a:r>
            <a:r>
              <a:rPr lang="en-US" altLang="zh-CN" sz="1400"/>
              <a:t> 10+ </a:t>
            </a:r>
            <a:r>
              <a:rPr lang="zh-CN" altLang="en-US" sz="1400"/>
              <a:t> hardware backends</a:t>
            </a:r>
          </a:p>
          <a:p>
            <a:pPr>
              <a:lnSpc>
                <a:spcPct val="90000"/>
              </a:lnSpc>
            </a:pPr>
            <a:r>
              <a:rPr lang="zh-CN" altLang="en-US" sz="1800"/>
              <a:t>High-Performance Operators:</a:t>
            </a:r>
          </a:p>
          <a:p>
            <a:pPr lvl="1">
              <a:lnSpc>
                <a:spcPct val="90000"/>
              </a:lnSpc>
            </a:pPr>
            <a:r>
              <a:rPr lang="zh-CN" altLang="en-US" sz="1400"/>
              <a:t>Core training and inference operators including matrix operations, attention mechanisms, normalization, and activation functions</a:t>
            </a:r>
          </a:p>
          <a:p>
            <a:pPr>
              <a:lnSpc>
                <a:spcPct val="90000"/>
              </a:lnSpc>
            </a:pPr>
            <a:r>
              <a:rPr lang="en-US" altLang="zh-CN" sz="1800"/>
              <a:t>LibEntry </a:t>
            </a:r>
            <a:r>
              <a:rPr lang="zh-CN" altLang="en-US" sz="1800"/>
              <a:t> Kernel Cache:</a:t>
            </a:r>
          </a:p>
          <a:p>
            <a:pPr lvl="1">
              <a:lnSpc>
                <a:spcPct val="90000"/>
              </a:lnSpc>
            </a:pPr>
            <a:r>
              <a:rPr lang="zh-CN" altLang="en-US" sz="1400"/>
              <a:t>In-house dispatch layer replacing</a:t>
            </a:r>
            <a:r>
              <a:rPr lang="en-US" altLang="zh-CN" sz="1400"/>
              <a:t> Triton </a:t>
            </a:r>
            <a:r>
              <a:rPr lang="zh-CN" altLang="en-US" sz="1400"/>
              <a:t> native</a:t>
            </a:r>
            <a:r>
              <a:rPr lang="en-US" altLang="zh-CN" sz="1400"/>
              <a:t> Autotuner</a:t>
            </a:r>
            <a:r>
              <a:rPr lang="zh-CN" altLang="en-US" sz="1400"/>
              <a:t>, significantly reducing first-compilation overhead and</a:t>
            </a:r>
            <a:r>
              <a:rPr lang="en-US" altLang="zh-CN" sz="1400"/>
              <a:t> dispatch </a:t>
            </a:r>
            <a:r>
              <a:rPr lang="zh-CN" altLang="en-US" sz="1400"/>
              <a:t> dispatch latency</a:t>
            </a:r>
          </a:p>
          <a:p>
            <a:pPr>
              <a:lnSpc>
                <a:spcPct val="90000"/>
              </a:lnSpc>
            </a:pPr>
            <a:r>
              <a:rPr lang="zh-CN" altLang="en-US" sz="1800"/>
              <a:t>Dual-Mode Deployment:</a:t>
            </a:r>
          </a:p>
          <a:p>
            <a:pPr lvl="1">
              <a:lnSpc>
                <a:spcPct val="90000"/>
              </a:lnSpc>
            </a:pPr>
            <a:r>
              <a:rPr lang="zh-CN" altLang="en-US" sz="1400"/>
              <a:t>Pure</a:t>
            </a:r>
            <a:r>
              <a:rPr lang="en-US" altLang="zh-CN" sz="1400"/>
              <a:t> Python </a:t>
            </a:r>
            <a:r>
              <a:rPr lang="zh-CN" altLang="en-US" sz="1400"/>
              <a:t> package (quick validation) and</a:t>
            </a:r>
            <a:r>
              <a:rPr lang="en-US" altLang="zh-CN" sz="1400"/>
              <a:t> C++ </a:t>
            </a:r>
            <a:r>
              <a:rPr lang="zh-CN" altLang="en-US" sz="1400"/>
              <a:t> extension (production acceleration) freely switchable;</a:t>
            </a:r>
            <a:r>
              <a:rPr lang="en-US" altLang="zh-CN" sz="1400"/>
              <a:t>C++ </a:t>
            </a:r>
            <a:r>
              <a:rPr lang="zh-CN" altLang="en-US" sz="1400"/>
              <a:t> path eliminates</a:t>
            </a:r>
            <a:r>
              <a:rPr lang="en-US" altLang="zh-CN" sz="1400"/>
              <a:t> Python </a:t>
            </a:r>
            <a:r>
              <a:rPr lang="zh-CN" altLang="en-US" sz="1400"/>
              <a:t> call frame overhead</a:t>
            </a:r>
          </a:p>
          <a:p>
            <a:pPr>
              <a:lnSpc>
                <a:spcPct val="90000"/>
              </a:lnSpc>
            </a:pPr>
            <a:r>
              <a:rPr lang="zh-CN" altLang="en-US" sz="1800"/>
              <a:t>Configuration-Driven Tuning:</a:t>
            </a:r>
          </a:p>
          <a:p>
            <a:pPr lvl="1">
              <a:lnSpc>
                <a:spcPct val="90000"/>
              </a:lnSpc>
            </a:pPr>
            <a:r>
              <a:rPr lang="en-US" altLang="zh-CN" sz="1400"/>
              <a:t>LibTuner </a:t>
            </a:r>
            <a:r>
              <a:rPr lang="zh-CN" altLang="en-US" sz="1400"/>
              <a:t> automatically searches for optimal hyperparameters and persists them as</a:t>
            </a:r>
            <a:r>
              <a:rPr lang="en-US" altLang="zh-CN" sz="1400"/>
              <a:t> YAML</a:t>
            </a:r>
            <a:r>
              <a:rPr lang="zh-CN" altLang="en-US" sz="1400"/>
              <a:t>; cold start directly reuses them without re-running</a:t>
            </a:r>
            <a:r>
              <a:rPr lang="en-US" altLang="zh-CN" sz="1400"/>
              <a:t> benchmark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715" y="1323975"/>
            <a:ext cx="4810760" cy="47218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FlagGems </a:t>
            </a:r>
            <a:r>
              <a:rPr lang="zh-CN" altLang="en-US"/>
              <a:t>Operator Registration and Dispatch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190615" cy="485330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F172A"/>
                </a:solidFill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User calls</a:t>
            </a:r>
          </a:p>
          <a:p>
            <a:pPr lvl="1"/>
            <a:r>
              <a:rPr lang="en-US" altLang="zh-CN" sz="1800" dirty="0"/>
              <a:t>flag_gems.enable() </a:t>
            </a:r>
            <a:r>
              <a:rPr lang="zh-CN" altLang="en-US" sz="1800" dirty="0"/>
              <a:t> or</a:t>
            </a:r>
            <a:r>
              <a:rPr lang="en-US" altLang="zh-CN" sz="1800" dirty="0"/>
              <a:t> flag_gems.use_gems()</a:t>
            </a:r>
          </a:p>
          <a:p>
            <a:pPr lvl="1"/>
            <a:r>
              <a:rPr lang="zh-CN" altLang="en-US" sz="1800" dirty="0"/>
              <a:t>Triggers module initialization, traversing</a:t>
            </a:r>
            <a:r>
              <a:rPr lang="en-US" altLang="zh-CN" sz="1800" dirty="0"/>
              <a:t> ops/init.py</a:t>
            </a:r>
          </a:p>
          <a:p>
            <a:r>
              <a:rPr lang="en-US" sz="2000" dirty="0">
                <a:solidFill>
                  <a:srgbClr val="0F172A"/>
                </a:solidFill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Library Registration</a:t>
            </a:r>
          </a:p>
          <a:p>
            <a:pPr lvl="1"/>
            <a:r>
              <a:rPr lang="en-US" altLang="zh-CN" sz="1800" dirty="0"/>
              <a:t>torch.library.Library("aten", "IMPL")</a:t>
            </a:r>
          </a:p>
          <a:p>
            <a:pPr lvl="1"/>
            <a:r>
              <a:rPr lang="zh-CN" altLang="en-US" sz="1800" dirty="0"/>
              <a:t> registers implementations by</a:t>
            </a:r>
            <a:r>
              <a:rPr lang="en-US" altLang="zh-CN" sz="1800" dirty="0"/>
              <a:t> dispatch key</a:t>
            </a:r>
            <a:r>
              <a:rPr lang="zh-CN" altLang="en-US" sz="1800" dirty="0"/>
              <a:t>(</a:t>
            </a:r>
            <a:r>
              <a:rPr lang="en-US" altLang="zh-CN" sz="1800" dirty="0"/>
              <a:t>CUDA/XPU…</a:t>
            </a:r>
            <a:endParaRPr lang="zh-CN" altLang="en-US" sz="1800" dirty="0"/>
          </a:p>
          <a:p>
            <a:r>
              <a:rPr lang="en-US" sz="2000" dirty="0">
                <a:solidFill>
                  <a:srgbClr val="0F172A"/>
                </a:solidFill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TORCH_LIBRARY_IMPL</a:t>
            </a:r>
          </a:p>
          <a:p>
            <a:pPr lvl="1"/>
            <a:r>
              <a:rPr lang="en-US" altLang="zh-CN" sz="1800" dirty="0"/>
              <a:t>C++</a:t>
            </a:r>
            <a:r>
              <a:rPr lang="zh-CN" altLang="en-US" sz="1800" dirty="0"/>
              <a:t> side</a:t>
            </a:r>
            <a:r>
              <a:rPr lang="en-US" altLang="zh-CN" sz="1800" dirty="0"/>
              <a:t>: aten::mm </a:t>
            </a:r>
            <a:r>
              <a:rPr lang="en-US" altLang="en-US" sz="1800" dirty="0"/>
              <a:t>→</a:t>
            </a:r>
            <a:r>
              <a:rPr lang="en-US" altLang="zh-CN" sz="1800" dirty="0"/>
              <a:t> mm</a:t>
            </a:r>
            <a:r>
              <a:rPr lang="zh-CN" altLang="en-US" sz="1800" dirty="0"/>
              <a:t>,</a:t>
            </a:r>
            <a:r>
              <a:rPr lang="en-US" altLang="zh-CN" sz="1800" dirty="0"/>
              <a:t>aten::add.Tensor </a:t>
            </a:r>
            <a:r>
              <a:rPr lang="en-US" altLang="en-US" sz="1800" dirty="0"/>
              <a:t>→</a:t>
            </a:r>
            <a:r>
              <a:rPr lang="en-US" altLang="zh-CN" sz="1800" dirty="0"/>
              <a:t> add,</a:t>
            </a:r>
            <a:r>
              <a:rPr lang="zh-CN" altLang="en-US" sz="1800" dirty="0"/>
              <a:t> overrides</a:t>
            </a:r>
            <a:r>
              <a:rPr lang="en-US" altLang="zh-CN" sz="1800" dirty="0"/>
              <a:t>ATen operator table</a:t>
            </a:r>
            <a:r>
              <a:rPr lang="zh-CN" altLang="en-US" sz="1800" dirty="0"/>
              <a:t> default implementations in</a:t>
            </a:r>
            <a:r>
              <a:rPr lang="en-US" altLang="zh-CN" sz="1800" dirty="0"/>
              <a:t>.</a:t>
            </a:r>
            <a:endParaRPr lang="zh-CN" altLang="en-US" sz="1800" dirty="0"/>
          </a:p>
          <a:p>
            <a:r>
              <a:rPr lang="en-US" sz="2000" dirty="0">
                <a:solidFill>
                  <a:srgbClr val="0F172A"/>
                </a:solidFill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ATen Dispatcher Routing</a:t>
            </a:r>
            <a:endParaRPr lang="en-US" sz="2000" dirty="0"/>
          </a:p>
          <a:p>
            <a:pPr lvl="1"/>
            <a:r>
              <a:rPr lang="en-US" sz="1800" dirty="0">
                <a:solidFill>
                  <a:srgbClr val="334155"/>
                </a:solidFill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config.aten_patch_list decision</a:t>
            </a:r>
            <a:endParaRPr lang="en-US" altLang="zh-CN" sz="1800" dirty="0">
              <a:solidFill>
                <a:srgbClr val="334155"/>
              </a:solidFill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460" y="1334135"/>
            <a:ext cx="5073015" cy="4843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FlagGems</a:t>
            </a:r>
            <a:r>
              <a:rPr lang="zh-CN" altLang="en-US"/>
              <a:t> Operator Compilation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1800">
                <a:sym typeface="+mn-ea"/>
              </a:rPr>
              <a:t>Triton </a:t>
            </a:r>
            <a:r>
              <a:rPr lang="zh-CN" altLang="en-US" sz="1800">
                <a:sym typeface="+mn-ea"/>
              </a:rPr>
              <a:t> source code (</a:t>
            </a:r>
            <a:r>
              <a:rPr lang="en-US" altLang="zh-CN" sz="1800">
                <a:sym typeface="+mn-ea"/>
              </a:rPr>
              <a:t>.py</a:t>
            </a:r>
            <a:r>
              <a:rPr lang="zh-CN" altLang="en-US" sz="1800">
                <a:sym typeface="+mn-ea"/>
              </a:rPr>
              <a:t>)</a:t>
            </a:r>
            <a:endParaRPr lang="zh-CN" altLang="en-US" sz="1800"/>
          </a:p>
          <a:p>
            <a:pPr lvl="1">
              <a:lnSpc>
                <a:spcPct val="110000"/>
              </a:lnSpc>
            </a:pPr>
            <a:r>
              <a:rPr lang="zh-CN" altLang="en-US" sz="1800">
                <a:sym typeface="+mn-ea"/>
              </a:rPr>
              <a:t>Operators are written in</a:t>
            </a:r>
            <a:r>
              <a:rPr lang="en-US" altLang="zh-CN" sz="1800">
                <a:sym typeface="+mn-ea"/>
              </a:rPr>
              <a:t> Triton DSL </a:t>
            </a:r>
            <a:r>
              <a:rPr lang="zh-CN" altLang="en-US" sz="1800">
                <a:sym typeface="+mn-ea"/>
              </a:rPr>
              <a:t> (</a:t>
            </a:r>
            <a:r>
              <a:rPr lang="en-US" altLang="zh-CN" sz="1800">
                <a:sym typeface="+mn-ea"/>
              </a:rPr>
              <a:t>ops/mm.py</a:t>
            </a:r>
            <a:r>
              <a:rPr lang="zh-CN" altLang="en-US" sz="1800">
                <a:sym typeface="+mn-ea"/>
              </a:rPr>
              <a:t>,</a:t>
            </a:r>
            <a:r>
              <a:rPr lang="en-US" altLang="zh-CN" sz="1800">
                <a:sym typeface="+mn-ea"/>
              </a:rPr>
              <a:t>ops/attention.py </a:t>
            </a:r>
            <a:r>
              <a:rPr lang="zh-CN" altLang="en-US" sz="1800">
                <a:sym typeface="+mn-ea"/>
              </a:rPr>
              <a:t>, etc.)</a:t>
            </a:r>
            <a:endParaRPr lang="zh-CN" altLang="en-US" sz="1800"/>
          </a:p>
          <a:p>
            <a:pPr lvl="1">
              <a:lnSpc>
                <a:spcPct val="110000"/>
              </a:lnSpc>
            </a:pPr>
            <a:r>
              <a:rPr lang="zh-CN" altLang="en-US" sz="1800">
                <a:sym typeface="+mn-ea"/>
              </a:rPr>
              <a:t> decorator</a:t>
            </a:r>
            <a:r>
              <a:rPr lang="en-US" altLang="zh-CN" sz="1800">
                <a:sym typeface="+mn-ea"/>
              </a:rPr>
              <a:t> @triton.jit </a:t>
            </a:r>
            <a:r>
              <a:rPr lang="zh-CN" altLang="en-US" sz="1800">
                <a:sym typeface="+mn-ea"/>
              </a:rPr>
              <a:t> marks</a:t>
            </a:r>
            <a:r>
              <a:rPr lang="en-US" altLang="zh-CN" sz="1800">
                <a:sym typeface="+mn-ea"/>
              </a:rPr>
              <a:t> JIT </a:t>
            </a:r>
            <a:r>
              <a:rPr lang="zh-CN" altLang="en-US" sz="1800">
                <a:sym typeface="+mn-ea"/>
              </a:rPr>
              <a:t> JIT compilation entry point</a:t>
            </a:r>
            <a:endParaRPr lang="zh-CN" altLang="en-US" sz="1800"/>
          </a:p>
          <a:p>
            <a:pPr lvl="0">
              <a:lnSpc>
                <a:spcPct val="110000"/>
              </a:lnSpc>
            </a:pPr>
            <a:r>
              <a:rPr lang="en-US" altLang="zh-CN" sz="1800">
                <a:sym typeface="+mn-ea"/>
              </a:rPr>
              <a:t>@libentry() </a:t>
            </a:r>
            <a:r>
              <a:rPr lang="zh-CN" altLang="en-US" sz="1800">
                <a:sym typeface="+mn-ea"/>
              </a:rPr>
              <a:t> decorator</a:t>
            </a:r>
            <a:r>
              <a:rPr lang="en-US" altLang="zh-CN" sz="1800">
                <a:sym typeface="+mn-ea"/>
              </a:rPr>
              <a:t> — </a:t>
            </a:r>
            <a:r>
              <a:rPr lang="zh-CN" altLang="en-US" sz="1800">
                <a:sym typeface="+mn-ea"/>
              </a:rPr>
              <a:t> replaces</a:t>
            </a:r>
            <a:r>
              <a:rPr lang="en-US" altLang="zh-CN" sz="1800">
                <a:sym typeface="+mn-ea"/>
              </a:rPr>
              <a:t> Autotuner</a:t>
            </a:r>
            <a:endParaRPr lang="en-US" altLang="zh-CN" sz="1800"/>
          </a:p>
          <a:p>
            <a:pPr lvl="1">
              <a:lnSpc>
                <a:spcPct val="110000"/>
              </a:lnSpc>
            </a:pPr>
            <a:r>
              <a:rPr lang="en-US" altLang="zh-CN" sz="1800">
                <a:sym typeface="+mn-ea"/>
              </a:rPr>
              <a:t>LibEntry </a:t>
            </a:r>
            <a:r>
              <a:rPr lang="zh-CN" altLang="en-US" sz="1800">
                <a:sym typeface="+mn-ea"/>
              </a:rPr>
              <a:t> independently manages</a:t>
            </a:r>
            <a:r>
              <a:rPr lang="en-US" altLang="zh-CN" sz="1800">
                <a:sym typeface="+mn-ea"/>
              </a:rPr>
              <a:t> kernel_cache</a:t>
            </a:r>
            <a:r>
              <a:rPr lang="zh-CN" altLang="en-US" sz="1800">
                <a:sym typeface="+mn-ea"/>
              </a:rPr>
              <a:t>, bypassing</a:t>
            </a:r>
            <a:r>
              <a:rPr lang="en-US" altLang="zh-CN" sz="1800">
                <a:sym typeface="+mn-ea"/>
              </a:rPr>
              <a:t> Triton </a:t>
            </a:r>
            <a:r>
              <a:rPr lang="zh-CN" altLang="en-US" sz="1800">
                <a:sym typeface="+mn-ea"/>
              </a:rPr>
              <a:t> native</a:t>
            </a:r>
            <a:r>
              <a:rPr lang="en-US" altLang="zh-CN" sz="1800">
                <a:sym typeface="+mn-ea"/>
              </a:rPr>
              <a:t> Autotuner </a:t>
            </a:r>
            <a:r>
              <a:rPr lang="zh-CN" altLang="en-US" sz="1800">
                <a:sym typeface="+mn-ea"/>
              </a:rPr>
              <a:t> runtime</a:t>
            </a:r>
            <a:endParaRPr lang="zh-CN" altLang="en-US" sz="1800"/>
          </a:p>
          <a:p>
            <a:pPr>
              <a:lnSpc>
                <a:spcPct val="110000"/>
              </a:lnSpc>
            </a:pPr>
            <a:r>
              <a:rPr lang="zh-CN" altLang="en-US" sz="1800">
                <a:sym typeface="+mn-ea"/>
              </a:rPr>
              <a:t>First call triggers</a:t>
            </a:r>
            <a:r>
              <a:rPr lang="en-US" altLang="zh-CN" sz="1800">
                <a:sym typeface="+mn-ea"/>
              </a:rPr>
              <a:t> JIT </a:t>
            </a:r>
            <a:r>
              <a:rPr lang="zh-CN" altLang="en-US" sz="1800">
                <a:sym typeface="+mn-ea"/>
              </a:rPr>
              <a:t> compilation;</a:t>
            </a:r>
            <a:r>
              <a:rPr lang="en-US" altLang="zh-CN" sz="1800">
                <a:sym typeface="+mn-ea"/>
              </a:rPr>
              <a:t>LibEntry </a:t>
            </a:r>
            <a:r>
              <a:rPr lang="zh-CN" altLang="en-US" sz="1800">
                <a:sym typeface="+mn-ea"/>
              </a:rPr>
              <a:t> independently manages cache to avoid</a:t>
            </a:r>
            <a:r>
              <a:rPr lang="en-US" altLang="zh-CN" sz="1800">
                <a:sym typeface="+mn-ea"/>
              </a:rPr>
              <a:t> Autotuner </a:t>
            </a:r>
            <a:r>
              <a:rPr lang="zh-CN" altLang="en-US" sz="1800">
                <a:sym typeface="+mn-ea"/>
              </a:rPr>
              <a:t> overhead</a:t>
            </a:r>
            <a:endParaRPr lang="zh-CN" altLang="en-US" sz="1800"/>
          </a:p>
          <a:p>
            <a:pPr lvl="1">
              <a:lnSpc>
                <a:spcPct val="110000"/>
              </a:lnSpc>
            </a:pPr>
            <a:r>
              <a:rPr lang="en-US" altLang="zh-CN" sz="1800">
                <a:sym typeface="+mn-ea"/>
              </a:rPr>
              <a:t>@triton.jit </a:t>
            </a:r>
            <a:r>
              <a:rPr lang="en-US" altLang="en-US" sz="1800">
                <a:sym typeface="+mn-ea"/>
              </a:rPr>
              <a:t>→</a:t>
            </a:r>
            <a:r>
              <a:rPr lang="en-US" altLang="zh-CN" sz="1800">
                <a:sym typeface="+mn-ea"/>
              </a:rPr>
              <a:t> Triton Compiler </a:t>
            </a:r>
            <a:r>
              <a:rPr lang="en-US" altLang="en-US" sz="1800">
                <a:sym typeface="+mn-ea"/>
              </a:rPr>
              <a:t>→</a:t>
            </a:r>
            <a:r>
              <a:rPr lang="en-US" altLang="zh-CN" sz="1800">
                <a:sym typeface="+mn-ea"/>
              </a:rPr>
              <a:t> PTX / ISA</a:t>
            </a:r>
            <a:r>
              <a:rPr lang="zh-CN" altLang="en-US" sz="1800">
                <a:sym typeface="+mn-ea"/>
              </a:rPr>
              <a:t> (varies by backend)</a:t>
            </a:r>
            <a:endParaRPr lang="zh-CN" altLang="en-US" sz="1800"/>
          </a:p>
          <a:p>
            <a:pPr lvl="1">
              <a:lnSpc>
                <a:spcPct val="110000"/>
              </a:lnSpc>
            </a:pPr>
            <a:r>
              <a:rPr lang="zh-CN" altLang="en-US" sz="1800">
                <a:sym typeface="+mn-ea"/>
              </a:rPr>
              <a:t>Compiled artifacts cached in</a:t>
            </a:r>
            <a:r>
              <a:rPr lang="en-US" altLang="zh-CN" sz="1800">
                <a:sym typeface="+mn-ea"/>
              </a:rPr>
              <a:t> kernel_cache</a:t>
            </a:r>
            <a:r>
              <a:rPr lang="zh-CN" altLang="en-US" sz="1800">
                <a:sym typeface="+mn-ea"/>
              </a:rPr>
              <a:t>; subsequent calls directly hit the cache</a:t>
            </a:r>
            <a:endParaRPr lang="zh-CN" altLang="en-US" sz="1800"/>
          </a:p>
          <a:p>
            <a:pPr lvl="0">
              <a:lnSpc>
                <a:spcPct val="110000"/>
              </a:lnSpc>
            </a:pPr>
            <a:r>
              <a:rPr lang="en-US" altLang="zh-CN" sz="1800">
                <a:sym typeface="+mn-ea"/>
              </a:rPr>
              <a:t>LibTuner — </a:t>
            </a:r>
            <a:r>
              <a:rPr lang="zh-CN" altLang="en-US" sz="1800">
                <a:sym typeface="+mn-ea"/>
              </a:rPr>
              <a:t>Hyperparameter Search</a:t>
            </a:r>
            <a:endParaRPr lang="zh-CN" altLang="en-US" sz="1800"/>
          </a:p>
          <a:p>
            <a:pPr lvl="1">
              <a:lnSpc>
                <a:spcPct val="110000"/>
              </a:lnSpc>
            </a:pPr>
            <a:r>
              <a:rPr lang="en-US" altLang="zh-CN" sz="1800">
                <a:sym typeface="+mn-ea"/>
              </a:rPr>
              <a:t>BenchmarkCache </a:t>
            </a:r>
            <a:r>
              <a:rPr lang="zh-CN" altLang="en-US" sz="1800">
                <a:sym typeface="+mn-ea"/>
              </a:rPr>
              <a:t> records</a:t>
            </a:r>
            <a:r>
              <a:rPr lang="en-US" altLang="zh-CN" sz="1800">
                <a:sym typeface="+mn-ea"/>
              </a:rPr>
              <a:t> BLOCK_M/N/K</a:t>
            </a:r>
            <a:r>
              <a:rPr lang="zh-CN" altLang="en-US" sz="1800">
                <a:sym typeface="+mn-ea"/>
              </a:rPr>
              <a:t>,</a:t>
            </a:r>
            <a:r>
              <a:rPr lang="en-US" altLang="zh-CN" sz="1800">
                <a:sym typeface="+mn-ea"/>
              </a:rPr>
              <a:t>num_warps</a:t>
            </a:r>
            <a:r>
              <a:rPr lang="zh-CN" altLang="en-US" sz="1800">
                <a:sym typeface="+mn-ea"/>
              </a:rPr>
              <a:t>,</a:t>
            </a:r>
            <a:r>
              <a:rPr lang="en-US" altLang="zh-CN" sz="1800">
                <a:sym typeface="+mn-ea"/>
              </a:rPr>
              <a:t>stages </a:t>
            </a:r>
            <a:r>
              <a:rPr lang="zh-CN" altLang="en-US" sz="1800">
                <a:sym typeface="+mn-ea"/>
              </a:rPr>
              <a:t> and other optimal configurations</a:t>
            </a:r>
            <a:endParaRPr lang="zh-CN" altLang="en-US" sz="1800"/>
          </a:p>
          <a:p>
            <a:pPr lvl="0">
              <a:lnSpc>
                <a:spcPct val="110000"/>
              </a:lnSpc>
            </a:pPr>
            <a:endParaRPr lang="zh-CN" altLang="en-US" sz="1800"/>
          </a:p>
          <a:p>
            <a:pPr>
              <a:lnSpc>
                <a:spcPct val="110000"/>
              </a:lnSpc>
            </a:pPr>
            <a:endParaRPr lang="zh-CN" altLang="en-US" sz="1800"/>
          </a:p>
        </p:txBody>
      </p:sp>
      <p:sp>
        <p:nvSpPr>
          <p:cNvPr id="6" name="Shape 27"/>
          <p:cNvSpPr/>
          <p:nvPr/>
        </p:nvSpPr>
        <p:spPr>
          <a:xfrm>
            <a:off x="741680" y="5811520"/>
            <a:ext cx="10874375" cy="365760"/>
          </a:xfrm>
          <a:prstGeom prst="rect">
            <a:avLst/>
          </a:prstGeom>
          <a:solidFill>
            <a:srgbClr val="8B0012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7400" y="5811520"/>
            <a:ext cx="1075880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★  1st call → Triton JIT compilation (slow)    |    Subsequent calls → kernel_cache direct hit (fast)    |    Cold start optimization: Preload ConfigCache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FlagGems </a:t>
            </a:r>
            <a:r>
              <a:rPr lang="zh-CN" altLang="en-US"/>
              <a:t>Runtime Loading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4669155" cy="4853305"/>
          </a:xfrm>
        </p:spPr>
        <p:txBody>
          <a:bodyPr/>
          <a:lstStyle/>
          <a:p>
            <a:pPr lvl="0">
              <a:lnSpc>
                <a:spcPct val="120000"/>
              </a:lnSpc>
            </a:pPr>
            <a:r>
              <a:rPr lang="en-US" altLang="zh-CN" sz="2000"/>
              <a:t>[PY] </a:t>
            </a:r>
            <a:r>
              <a:rPr lang="zh-CN" altLang="en-US" sz="2000"/>
              <a:t>Pure</a:t>
            </a:r>
            <a:r>
              <a:rPr lang="en-US" altLang="zh-CN" sz="2000"/>
              <a:t> Python </a:t>
            </a:r>
            <a:r>
              <a:rPr lang="zh-CN" altLang="en-US" sz="2000"/>
              <a:t> Mode (</a:t>
            </a:r>
            <a:r>
              <a:rPr lang="en-US" altLang="zh-CN" sz="2000"/>
              <a:t>Pure Package</a:t>
            </a:r>
            <a:r>
              <a:rPr lang="zh-CN" altLang="en-US" sz="2000"/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zh-CN" sz="1800"/>
              <a:t>pip install flaggems</a:t>
            </a:r>
            <a:r>
              <a:rPr lang="zh-CN" altLang="en-US" sz="1800"/>
              <a:t> (no</a:t>
            </a:r>
            <a:r>
              <a:rPr lang="en-US" altLang="zh-CN" sz="1800"/>
              <a:t> C++ </a:t>
            </a:r>
            <a:r>
              <a:rPr lang="zh-CN" altLang="en-US" sz="1800"/>
              <a:t> compilation)</a:t>
            </a:r>
          </a:p>
          <a:p>
            <a:pPr lvl="1">
              <a:lnSpc>
                <a:spcPct val="120000"/>
              </a:lnSpc>
            </a:pPr>
            <a:r>
              <a:rPr lang="en-US" altLang="zh-CN" sz="1800"/>
              <a:t>ops/__init__.py </a:t>
            </a:r>
            <a:r>
              <a:rPr lang="zh-CN" altLang="en-US" sz="1800"/>
              <a:t> Verify via</a:t>
            </a:r>
            <a:r>
              <a:rPr lang="en-US" altLang="zh-CN" sz="1800"/>
              <a:t> torch.library </a:t>
            </a:r>
            <a:r>
              <a:rPr lang="zh-CN" altLang="en-US" sz="1800"/>
              <a:t> registration</a:t>
            </a:r>
          </a:p>
          <a:p>
            <a:pPr lvl="1">
              <a:lnSpc>
                <a:spcPct val="120000"/>
              </a:lnSpc>
            </a:pPr>
            <a:r>
              <a:rPr lang="en-US" altLang="zh-CN" sz="1800"/>
              <a:t>dispatch </a:t>
            </a:r>
            <a:r>
              <a:rPr lang="zh-CN" altLang="en-US" sz="1800"/>
              <a:t>path:</a:t>
            </a:r>
            <a:r>
              <a:rPr lang="en-US" altLang="zh-CN" sz="1800"/>
              <a:t>Python </a:t>
            </a:r>
            <a:r>
              <a:rPr lang="zh-CN" altLang="en-US" sz="1800"/>
              <a:t> function call stack</a:t>
            </a:r>
          </a:p>
          <a:p>
            <a:pPr lvl="1">
              <a:lnSpc>
                <a:spcPct val="120000"/>
              </a:lnSpc>
            </a:pPr>
            <a:r>
              <a:rPr lang="zh-CN" altLang="en-US" sz="1800"/>
              <a:t>Suitable for quick validation</a:t>
            </a:r>
            <a:r>
              <a:rPr lang="en-US" altLang="zh-CN" sz="1800"/>
              <a:t> / CI </a:t>
            </a:r>
            <a:r>
              <a:rPr lang="zh-CN" altLang="en-US" sz="1800"/>
              <a:t> testing environments</a:t>
            </a:r>
          </a:p>
          <a:p>
            <a:pPr lvl="1">
              <a:lnSpc>
                <a:spcPct val="120000"/>
              </a:lnSpc>
            </a:pPr>
            <a:r>
              <a:rPr lang="zh-CN" altLang="en-US" sz="1800"/>
              <a:t>Overhead:</a:t>
            </a:r>
            <a:r>
              <a:rPr lang="en-US" altLang="zh-CN" sz="1800"/>
              <a:t>Python </a:t>
            </a:r>
            <a:r>
              <a:rPr lang="zh-CN" altLang="en-US" sz="1800"/>
              <a:t> call frame</a:t>
            </a:r>
            <a:r>
              <a:rPr lang="en-US" altLang="zh-CN" sz="1800"/>
              <a:t> + GIL </a:t>
            </a:r>
            <a:r>
              <a:rPr lang="zh-CN" altLang="en-US" sz="1800"/>
              <a:t> contention</a:t>
            </a:r>
          </a:p>
          <a:p>
            <a:pPr lvl="0">
              <a:lnSpc>
                <a:spcPct val="120000"/>
              </a:lnSpc>
            </a:pPr>
            <a:endParaRPr lang="zh-CN" altLang="en-US" sz="1800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5995035" y="1327785"/>
            <a:ext cx="6196965" cy="48533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</a:pPr>
            <a:r>
              <a:rPr lang="en-US" altLang="zh-CN" sz="2000"/>
              <a:t>[C++] C++ </a:t>
            </a:r>
            <a:r>
              <a:rPr lang="zh-CN" altLang="en-US" sz="2000"/>
              <a:t> Extension Mode (</a:t>
            </a:r>
            <a:r>
              <a:rPr lang="en-US" altLang="zh-CN" sz="2000"/>
              <a:t>with C++ Runtime</a:t>
            </a:r>
            <a:r>
              <a:rPr lang="zh-CN" altLang="en-US" sz="2000"/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zh-CN" sz="1800"/>
              <a:t>pip install flaggems[cpp]</a:t>
            </a:r>
            <a:r>
              <a:rPr lang="zh-CN" altLang="en-US" sz="1800"/>
              <a:t> (compiles</a:t>
            </a:r>
            <a:r>
              <a:rPr lang="en-US" altLang="zh-CN" sz="1800"/>
              <a:t> cstub.cpp</a:t>
            </a:r>
            <a:r>
              <a:rPr lang="zh-CN" altLang="en-US" sz="1800"/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zh-CN" sz="1800"/>
              <a:t>lib/cstub.cpp </a:t>
            </a:r>
            <a:r>
              <a:rPr lang="en-US" altLang="en-US" sz="1800"/>
              <a:t>→</a:t>
            </a:r>
            <a:r>
              <a:rPr lang="en-US" altLang="zh-CN" sz="1800"/>
              <a:t> TORCH_LIBRARY_IMPL </a:t>
            </a:r>
            <a:r>
              <a:rPr lang="zh-CN" altLang="en-US" sz="1800"/>
              <a:t> macro registration</a:t>
            </a:r>
          </a:p>
          <a:p>
            <a:pPr lvl="1">
              <a:lnSpc>
                <a:spcPct val="120000"/>
              </a:lnSpc>
            </a:pPr>
            <a:r>
              <a:rPr lang="en-US" altLang="zh-CN" sz="1800"/>
              <a:t>dispatch </a:t>
            </a:r>
            <a:r>
              <a:rPr lang="zh-CN" altLang="en-US" sz="1800"/>
              <a:t>path:</a:t>
            </a:r>
            <a:r>
              <a:rPr lang="en-US" altLang="zh-CN" sz="1800"/>
              <a:t>C++ </a:t>
            </a:r>
            <a:r>
              <a:rPr lang="zh-CN" altLang="en-US" sz="1800"/>
              <a:t> function pointers, zero</a:t>
            </a:r>
            <a:r>
              <a:rPr lang="en-US" altLang="zh-CN" sz="1800"/>
              <a:t> Python </a:t>
            </a:r>
            <a:r>
              <a:rPr lang="zh-CN" altLang="en-US" sz="1800"/>
              <a:t> overhead</a:t>
            </a:r>
          </a:p>
          <a:p>
            <a:pPr lvl="1">
              <a:lnSpc>
                <a:spcPct val="120000"/>
              </a:lnSpc>
            </a:pPr>
            <a:r>
              <a:rPr lang="zh-CN" altLang="en-US" sz="1800"/>
              <a:t>Suitable for production deployment</a:t>
            </a:r>
            <a:r>
              <a:rPr lang="en-US" altLang="zh-CN" sz="1800"/>
              <a:t> / </a:t>
            </a:r>
            <a:r>
              <a:rPr lang="zh-CN" altLang="en-US" sz="1800"/>
              <a:t> inference acceleration scenarios</a:t>
            </a:r>
          </a:p>
          <a:p>
            <a:pPr lvl="1">
              <a:lnSpc>
                <a:spcPct val="120000"/>
              </a:lnSpc>
            </a:pPr>
            <a:r>
              <a:rPr lang="zh-CN" altLang="en-US" sz="1800"/>
              <a:t>Significantly reduces short-operator</a:t>
            </a:r>
            <a:r>
              <a:rPr lang="en-US" altLang="zh-CN" sz="1800"/>
              <a:t> dispatch </a:t>
            </a:r>
            <a:r>
              <a:rPr lang="zh-CN" altLang="en-US" sz="1800"/>
              <a:t> dispatch latency</a:t>
            </a:r>
          </a:p>
          <a:p>
            <a:pPr lvl="1">
              <a:lnSpc>
                <a:spcPct val="120000"/>
              </a:lnSpc>
            </a:pPr>
            <a:endParaRPr lang="zh-CN" altLang="en-US" sz="1800"/>
          </a:p>
        </p:txBody>
      </p:sp>
      <p:sp>
        <p:nvSpPr>
          <p:cNvPr id="13" name="Shape 11"/>
          <p:cNvSpPr/>
          <p:nvPr/>
        </p:nvSpPr>
        <p:spPr>
          <a:xfrm>
            <a:off x="5589905" y="2496820"/>
            <a:ext cx="594360" cy="594360"/>
          </a:xfrm>
          <a:prstGeom prst="ellipse">
            <a:avLst/>
          </a:prstGeom>
          <a:solidFill>
            <a:srgbClr val="8B0012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89905" y="2496820"/>
            <a:ext cx="594360" cy="59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8B0012"/>
                </a:solidFill>
              </a14:hiddenFill>
            </a:ext>
          </a:ex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FlagTree</a:t>
            </a:r>
            <a:r>
              <a:t> System Overview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000"/>
              <a:t>Unified Multi-Chip</a:t>
            </a:r>
            <a:r>
              <a:rPr lang="en-US" altLang="zh-CN" sz="2000"/>
              <a:t> AI </a:t>
            </a:r>
            <a:r>
              <a:rPr lang="zh-CN" altLang="en-US" sz="2000"/>
              <a:t> Operator Compiler</a:t>
            </a:r>
            <a:r>
              <a:rPr lang="en-US" altLang="zh-CN" sz="2000"/>
              <a:t> · </a:t>
            </a:r>
            <a:r>
              <a:rPr lang="zh-CN" altLang="en-US" sz="2000"/>
              <a:t>Based on</a:t>
            </a:r>
            <a:r>
              <a:rPr lang="en-US" altLang="zh-CN" sz="2000"/>
              <a:t> Triton &amp; MLIR </a:t>
            </a:r>
            <a:r>
              <a:rPr lang="zh-CN" altLang="en-US" sz="2000"/>
              <a:t> Ecosystem</a:t>
            </a:r>
          </a:p>
          <a:p>
            <a:pPr>
              <a:lnSpc>
                <a:spcPct val="110000"/>
              </a:lnSpc>
            </a:pPr>
            <a:r>
              <a:rPr lang="zh-CN" altLang="en-US" sz="2000"/>
              <a:t>Supported Chip Backends (</a:t>
            </a:r>
            <a:r>
              <a:rPr lang="en-US" altLang="zh-CN" sz="2000"/>
              <a:t>10+ </a:t>
            </a:r>
            <a:r>
              <a:rPr lang="zh-CN" altLang="en-US" sz="2000"/>
              <a:t> domestic and international mainstream</a:t>
            </a:r>
            <a:r>
              <a:rPr lang="en-US" altLang="zh-CN" sz="2000"/>
              <a:t> AI </a:t>
            </a:r>
            <a:r>
              <a:rPr lang="zh-CN" altLang="en-US" sz="2000"/>
              <a:t> chips)</a:t>
            </a:r>
          </a:p>
          <a:p>
            <a:pPr lvl="1">
              <a:lnSpc>
                <a:spcPct val="110000"/>
              </a:lnSpc>
            </a:pPr>
            <a:r>
              <a:rPr lang="en-US" altLang="zh-CN" sz="1800"/>
              <a:t>NVIDIA,</a:t>
            </a:r>
            <a:r>
              <a:rPr lang="zh-CN" altLang="en-US" sz="1800"/>
              <a:t>Cambricon</a:t>
            </a:r>
            <a:r>
              <a:rPr lang="en-US" altLang="zh-CN" sz="1800"/>
              <a:t>,</a:t>
            </a:r>
            <a:r>
              <a:rPr lang="zh-CN" altLang="en-US" sz="1800"/>
              <a:t>Tsingmicro</a:t>
            </a:r>
            <a:r>
              <a:rPr lang="en-US" altLang="zh-CN" sz="1800"/>
              <a:t>,</a:t>
            </a:r>
            <a:r>
              <a:rPr lang="zh-CN" altLang="en-US" sz="1800"/>
              <a:t>Huawei Ascend</a:t>
            </a:r>
            <a:r>
              <a:rPr lang="en-US" altLang="zh-CN" sz="1800"/>
              <a:t>,</a:t>
            </a:r>
            <a:r>
              <a:rPr lang="zh-CN" altLang="en-US" sz="1800"/>
              <a:t>Moore Threads, etc.</a:t>
            </a:r>
          </a:p>
          <a:p>
            <a:pPr lvl="1">
              <a:lnSpc>
                <a:spcPct val="110000"/>
              </a:lnSpc>
            </a:pPr>
            <a:r>
              <a:rPr lang="zh-CN" altLang="en-US" sz="1800"/>
              <a:t>Multiple</a:t>
            </a:r>
            <a:r>
              <a:rPr lang="en-US" altLang="zh-CN" sz="1800"/>
              <a:t> Triton </a:t>
            </a:r>
            <a:r>
              <a:rPr lang="zh-CN" altLang="en-US" sz="1800"/>
              <a:t> version branches (</a:t>
            </a:r>
            <a:r>
              <a:rPr lang="en-US" altLang="zh-CN" sz="1800"/>
              <a:t>v3.1 ~ v3.5</a:t>
            </a:r>
            <a:r>
              <a:rPr lang="zh-CN" altLang="en-US" sz="1800"/>
              <a:t>) maintained in parallel; independent</a:t>
            </a:r>
            <a:r>
              <a:rPr lang="en-US" altLang="zh-CN" sz="1800"/>
              <a:t> CI/CD</a:t>
            </a:r>
          </a:p>
          <a:p>
            <a:pPr lvl="1">
              <a:lnSpc>
                <a:spcPct val="110000"/>
              </a:lnSpc>
            </a:pPr>
            <a:endParaRPr lang="en-US" altLang="zh-CN" sz="1800"/>
          </a:p>
        </p:txBody>
      </p:sp>
      <p:grpSp>
        <p:nvGrpSpPr>
          <p:cNvPr id="6" name="组合 5"/>
          <p:cNvGrpSpPr/>
          <p:nvPr/>
        </p:nvGrpSpPr>
        <p:grpSpPr>
          <a:xfrm>
            <a:off x="741680" y="3359150"/>
            <a:ext cx="10964545" cy="2764790"/>
            <a:chOff x="403" y="1699"/>
            <a:chExt cx="13450" cy="2476"/>
          </a:xfrm>
        </p:grpSpPr>
        <p:sp>
          <p:nvSpPr>
            <p:cNvPr id="7" name="Shape 5"/>
            <p:cNvSpPr/>
            <p:nvPr/>
          </p:nvSpPr>
          <p:spPr>
            <a:xfrm>
              <a:off x="403" y="1699"/>
              <a:ext cx="3168" cy="2477"/>
            </a:xfrm>
            <a:prstGeom prst="rect">
              <a:avLst/>
            </a:prstGeom>
            <a:solidFill>
              <a:srgbClr val="FBF0F1"/>
            </a:solidFill>
            <a:ln w="25400">
              <a:solidFill>
                <a:srgbClr val="8B0012"/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403" y="1699"/>
              <a:ext cx="3168" cy="158"/>
            </a:xfrm>
            <a:prstGeom prst="rect">
              <a:avLst/>
            </a:prstGeom>
            <a:solidFill>
              <a:srgbClr val="8B0012"/>
            </a:solidFill>
            <a:ln w="12700">
              <a:solidFill>
                <a:srgbClr val="8B0012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403" y="1872"/>
              <a:ext cx="3168" cy="5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C1C1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Python Frontend</a:t>
              </a:r>
            </a:p>
          </p:txBody>
        </p:sp>
        <p:sp>
          <p:nvSpPr>
            <p:cNvPr id="10" name="Text 8"/>
            <p:cNvSpPr/>
            <p:nvPr/>
          </p:nvSpPr>
          <p:spPr>
            <a:xfrm>
              <a:off x="403" y="2477"/>
              <a:ext cx="3168" cy="1613"/>
            </a:xfrm>
            <a:prstGeom prst="rect">
              <a:avLst/>
            </a:prstGeom>
            <a:noFill/>
          </p:spPr>
          <p:txBody>
            <a:bodyPr wrap="square" lIns="50800" tIns="50800" rIns="50800" bIns="5080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@triton.jit</a:t>
              </a:r>
              <a:endParaRPr lang="en-US" sz="1600" b="1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FlagGems LibEntry</a:t>
              </a:r>
            </a:p>
          </p:txBody>
        </p:sp>
        <p:sp>
          <p:nvSpPr>
            <p:cNvPr id="11" name="Shape 9"/>
            <p:cNvSpPr/>
            <p:nvPr/>
          </p:nvSpPr>
          <p:spPr>
            <a:xfrm>
              <a:off x="3571" y="2851"/>
              <a:ext cx="259" cy="72"/>
            </a:xfrm>
            <a:prstGeom prst="rect">
              <a:avLst/>
            </a:prstGeom>
            <a:solidFill>
              <a:srgbClr val="7A6065"/>
            </a:solidFill>
            <a:ln w="12700">
              <a:solidFill>
                <a:srgbClr val="7A6065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744" y="2729"/>
              <a:ext cx="202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7A6065"/>
                  </a:solidFill>
                </a:rPr>
                <a:t>▶</a:t>
              </a:r>
            </a:p>
          </p:txBody>
        </p:sp>
        <p:sp>
          <p:nvSpPr>
            <p:cNvPr id="13" name="Shape 11"/>
            <p:cNvSpPr/>
            <p:nvPr/>
          </p:nvSpPr>
          <p:spPr>
            <a:xfrm>
              <a:off x="3830" y="1699"/>
              <a:ext cx="3168" cy="2477"/>
            </a:xfrm>
            <a:prstGeom prst="rect">
              <a:avLst/>
            </a:prstGeom>
            <a:solidFill>
              <a:srgbClr val="FBF0F1"/>
            </a:solidFill>
            <a:ln w="25400">
              <a:solidFill>
                <a:srgbClr val="B8860B"/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3830" y="1699"/>
              <a:ext cx="3168" cy="158"/>
            </a:xfrm>
            <a:prstGeom prst="rect">
              <a:avLst/>
            </a:prstGeom>
            <a:solidFill>
              <a:srgbClr val="B8860B"/>
            </a:solidFill>
            <a:ln w="12700">
              <a:solidFill>
                <a:srgbClr val="B8860B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830" y="1872"/>
              <a:ext cx="3168" cy="5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C1C1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Compiler Middle Layer</a:t>
              </a:r>
            </a:p>
          </p:txBody>
        </p:sp>
        <p:sp>
          <p:nvSpPr>
            <p:cNvPr id="16" name="Text 14"/>
            <p:cNvSpPr/>
            <p:nvPr/>
          </p:nvSpPr>
          <p:spPr>
            <a:xfrm>
              <a:off x="3830" y="2477"/>
              <a:ext cx="3168" cy="1613"/>
            </a:xfrm>
            <a:prstGeom prst="rect">
              <a:avLst/>
            </a:prstGeom>
            <a:noFill/>
          </p:spPr>
          <p:txBody>
            <a:bodyPr wrap="square" lIns="50800" tIns="50800" rIns="50800" bIns="5080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MLIR Dialects</a:t>
              </a:r>
              <a:endParaRPr lang="en-US" sz="1600" b="1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Triton-IR / TTGIR</a:t>
              </a:r>
            </a:p>
          </p:txBody>
        </p:sp>
        <p:sp>
          <p:nvSpPr>
            <p:cNvPr id="17" name="Shape 15"/>
            <p:cNvSpPr/>
            <p:nvPr/>
          </p:nvSpPr>
          <p:spPr>
            <a:xfrm>
              <a:off x="6998" y="2851"/>
              <a:ext cx="259" cy="72"/>
            </a:xfrm>
            <a:prstGeom prst="rect">
              <a:avLst/>
            </a:prstGeom>
            <a:solidFill>
              <a:srgbClr val="7A6065"/>
            </a:solidFill>
            <a:ln w="12700">
              <a:solidFill>
                <a:srgbClr val="7A606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7171" y="2729"/>
              <a:ext cx="202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7A6065"/>
                  </a:solidFill>
                </a:rPr>
                <a:t>▶</a:t>
              </a:r>
            </a:p>
          </p:txBody>
        </p:sp>
        <p:sp>
          <p:nvSpPr>
            <p:cNvPr id="19" name="Shape 17"/>
            <p:cNvSpPr/>
            <p:nvPr/>
          </p:nvSpPr>
          <p:spPr>
            <a:xfrm>
              <a:off x="7258" y="1699"/>
              <a:ext cx="3168" cy="2477"/>
            </a:xfrm>
            <a:prstGeom prst="rect">
              <a:avLst/>
            </a:prstGeom>
            <a:solidFill>
              <a:srgbClr val="FBF0F1"/>
            </a:solidFill>
            <a:ln w="25400">
              <a:solidFill>
                <a:srgbClr val="C4314A"/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7258" y="1699"/>
              <a:ext cx="3168" cy="158"/>
            </a:xfrm>
            <a:prstGeom prst="rect">
              <a:avLst/>
            </a:prstGeom>
            <a:solidFill>
              <a:srgbClr val="C4314A"/>
            </a:solidFill>
            <a:ln w="12700">
              <a:solidFill>
                <a:srgbClr val="C4314A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7258" y="1872"/>
              <a:ext cx="3168" cy="5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C1C1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Backend Code Generation</a:t>
              </a:r>
            </a:p>
          </p:txBody>
        </p:sp>
        <p:sp>
          <p:nvSpPr>
            <p:cNvPr id="22" name="Text 20"/>
            <p:cNvSpPr/>
            <p:nvPr/>
          </p:nvSpPr>
          <p:spPr>
            <a:xfrm>
              <a:off x="7258" y="2477"/>
              <a:ext cx="3168" cy="1613"/>
            </a:xfrm>
            <a:prstGeom prst="rect">
              <a:avLst/>
            </a:prstGeom>
            <a:noFill/>
          </p:spPr>
          <p:txBody>
            <a:bodyPr wrap="square" lIns="50800" tIns="50800" rIns="50800" bIns="5080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LLVM-IR → PTX</a:t>
              </a:r>
              <a:endParaRPr lang="en-US" sz="1600" b="1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ASM / Vendor Toolchain</a:t>
              </a:r>
            </a:p>
          </p:txBody>
        </p:sp>
        <p:sp>
          <p:nvSpPr>
            <p:cNvPr id="23" name="Shape 21"/>
            <p:cNvSpPr/>
            <p:nvPr/>
          </p:nvSpPr>
          <p:spPr>
            <a:xfrm>
              <a:off x="10426" y="2851"/>
              <a:ext cx="259" cy="72"/>
            </a:xfrm>
            <a:prstGeom prst="rect">
              <a:avLst/>
            </a:prstGeom>
            <a:solidFill>
              <a:srgbClr val="7A6065"/>
            </a:solidFill>
            <a:ln w="12700">
              <a:solidFill>
                <a:srgbClr val="7A6065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10598" y="2729"/>
              <a:ext cx="202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7A6065"/>
                  </a:solidFill>
                </a:rPr>
                <a:t>▶</a:t>
              </a:r>
            </a:p>
          </p:txBody>
        </p:sp>
        <p:sp>
          <p:nvSpPr>
            <p:cNvPr id="25" name="Shape 23"/>
            <p:cNvSpPr/>
            <p:nvPr/>
          </p:nvSpPr>
          <p:spPr>
            <a:xfrm>
              <a:off x="10685" y="1699"/>
              <a:ext cx="3168" cy="2477"/>
            </a:xfrm>
            <a:prstGeom prst="rect">
              <a:avLst/>
            </a:prstGeom>
            <a:solidFill>
              <a:srgbClr val="FBF0F1"/>
            </a:solidFill>
            <a:ln w="25400">
              <a:solidFill>
                <a:srgbClr val="5C0009"/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10685" y="1699"/>
              <a:ext cx="3168" cy="158"/>
            </a:xfrm>
            <a:prstGeom prst="rect">
              <a:avLst/>
            </a:prstGeom>
            <a:solidFill>
              <a:srgbClr val="5C0009"/>
            </a:solidFill>
            <a:ln w="12700">
              <a:solidFill>
                <a:srgbClr val="5C0009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10685" y="1872"/>
              <a:ext cx="3168" cy="5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C1C1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Runtime Loading</a:t>
              </a:r>
            </a:p>
          </p:txBody>
        </p:sp>
        <p:sp>
          <p:nvSpPr>
            <p:cNvPr id="28" name="Text 26"/>
            <p:cNvSpPr/>
            <p:nvPr/>
          </p:nvSpPr>
          <p:spPr>
            <a:xfrm>
              <a:off x="10685" y="2477"/>
              <a:ext cx="3168" cy="1613"/>
            </a:xfrm>
            <a:prstGeom prst="rect">
              <a:avLst/>
            </a:prstGeom>
            <a:noFill/>
          </p:spPr>
          <p:txBody>
            <a:bodyPr wrap="square" lIns="50800" tIns="50800" rIns="50800" bIns="5080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JIT Cache</a:t>
              </a:r>
              <a:endParaRPr lang="en-US" sz="1600" b="1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Unified HW Manager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FlagTree</a:t>
            </a:r>
            <a:r>
              <a:rPr lang="zh-CN" altLang="en-US"/>
              <a:t> Operator Compilation Pipeline</a:t>
            </a:r>
            <a:r>
              <a:rPr lang="en-US" altLang="zh-CN"/>
              <a:t> </a:t>
            </a:r>
            <a:r>
              <a:rPr lang="en-US" altLang="en-US"/>
              <a:t>①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Frontend Parsing</a:t>
            </a:r>
            <a:r>
              <a:rPr lang="en-US" altLang="zh-CN"/>
              <a:t> · Triton-IR  · TritonGPU-IR </a:t>
            </a:r>
            <a:r>
              <a:rPr lang="zh-CN" altLang="en-US"/>
              <a:t>Optimization</a:t>
            </a:r>
          </a:p>
          <a:p>
            <a:r>
              <a:rPr lang="en-US" altLang="zh-CN"/>
              <a:t>Python </a:t>
            </a:r>
            <a:r>
              <a:rPr lang="zh-CN" altLang="en-US"/>
              <a:t> kernel</a:t>
            </a:r>
            <a:r>
              <a:rPr lang="en-US" altLang="zh-CN"/>
              <a:t> + AST </a:t>
            </a:r>
            <a:r>
              <a:rPr lang="zh-CN" altLang="en-US"/>
              <a:t> parsing</a:t>
            </a:r>
          </a:p>
          <a:p>
            <a:pPr lvl="1"/>
            <a:r>
              <a:rPr lang="en-US" altLang="zh-CN">
                <a:solidFill>
                  <a:srgbClr val="8B0012"/>
                </a:solidFill>
              </a:rPr>
              <a:t>@triton.jit </a:t>
            </a:r>
            <a:r>
              <a:rPr lang="zh-CN" altLang="en-US">
                <a:solidFill>
                  <a:srgbClr val="8B0012"/>
                </a:solidFill>
              </a:rPr>
              <a:t> decorator triggers</a:t>
            </a:r>
            <a:r>
              <a:rPr lang="en-US" altLang="zh-CN">
                <a:solidFill>
                  <a:srgbClr val="8B0012"/>
                </a:solidFill>
              </a:rPr>
              <a:t> JIT</a:t>
            </a:r>
            <a:r>
              <a:rPr lang="zh-CN" altLang="en-US">
                <a:solidFill>
                  <a:srgbClr val="8B0012"/>
                </a:solidFill>
              </a:rPr>
              <a:t>; the frontend traverses the</a:t>
            </a:r>
            <a:r>
              <a:rPr lang="en-US" altLang="zh-CN">
                <a:solidFill>
                  <a:srgbClr val="8B0012"/>
                </a:solidFill>
              </a:rPr>
              <a:t> Python AST</a:t>
            </a:r>
            <a:r>
              <a:rPr lang="zh-CN" altLang="en-US">
                <a:solidFill>
                  <a:srgbClr val="8B0012"/>
                </a:solidFill>
              </a:rPr>
              <a:t> AST, identifies tile-level tensor operations, and builds Triton-IR.</a:t>
            </a:r>
            <a:r>
              <a:rPr lang="en-US" altLang="zh-CN">
                <a:solidFill>
                  <a:srgbClr val="8B0012"/>
                </a:solidFill>
              </a:rPr>
              <a:t> tile  Triton-IR</a:t>
            </a:r>
            <a:r>
              <a:rPr lang="zh-CN" altLang="en-US">
                <a:solidFill>
                  <a:srgbClr val="8B0012"/>
                </a:solidFill>
              </a:rPr>
              <a:t>.</a:t>
            </a:r>
            <a:endParaRPr lang="zh-CN" altLang="en-US"/>
          </a:p>
          <a:p>
            <a:r>
              <a:rPr lang="en-US" altLang="zh-CN"/>
              <a:t>Triton-IR </a:t>
            </a:r>
            <a:r>
              <a:rPr lang="en-US" altLang="en-US"/>
              <a:t>→</a:t>
            </a:r>
            <a:r>
              <a:rPr lang="en-US" altLang="zh-CN"/>
              <a:t> TritonGPU-IR</a:t>
            </a:r>
          </a:p>
          <a:p>
            <a:pPr lvl="1"/>
            <a:r>
              <a:rPr lang="zh-CN" altLang="en-US">
                <a:solidFill>
                  <a:srgbClr val="8B0012"/>
                </a:solidFill>
              </a:rPr>
              <a:t>The optimization module injects</a:t>
            </a:r>
            <a:r>
              <a:rPr lang="en-US" altLang="zh-CN">
                <a:solidFill>
                  <a:srgbClr val="8B0012"/>
                </a:solidFill>
              </a:rPr>
              <a:t> Layout Encoding</a:t>
            </a:r>
            <a:r>
              <a:rPr lang="en-US">
                <a:solidFill>
                  <a:srgbClr val="8B0012"/>
                </a:solidFill>
              </a:rPr>
              <a:t>,</a:t>
            </a:r>
            <a:r>
              <a:rPr lang="zh-CN" altLang="en-US">
                <a:solidFill>
                  <a:srgbClr val="8B0012"/>
                </a:solidFill>
              </a:rPr>
              <a:t>, generates</a:t>
            </a:r>
            <a:r>
              <a:rPr lang="en-US" altLang="zh-CN">
                <a:solidFill>
                  <a:srgbClr val="8B0012"/>
                </a:solidFill>
              </a:rPr>
              <a:t> TritonGPU IR,</a:t>
            </a:r>
            <a:r>
              <a:rPr lang="zh-CN" altLang="en-US">
                <a:solidFill>
                  <a:srgbClr val="8B0012"/>
                </a:solidFill>
              </a:rPr>
              <a:t> and executes common passes:</a:t>
            </a:r>
            <a:r>
              <a:rPr lang="en-US" altLang="zh-CN">
                <a:solidFill>
                  <a:srgbClr val="8B0012"/>
                </a:solidFill>
              </a:rPr>
              <a:t> pass</a:t>
            </a:r>
            <a:r>
              <a:rPr lang="zh-CN" altLang="en-US">
                <a:solidFill>
                  <a:srgbClr val="8B0012"/>
                </a:solidFill>
              </a:rPr>
              <a:t>:</a:t>
            </a:r>
            <a:r>
              <a:rPr lang="en-US" altLang="zh-CN">
                <a:solidFill>
                  <a:srgbClr val="8B0012"/>
                </a:solidFill>
              </a:rPr>
              <a:t>CSE</a:t>
            </a:r>
            <a:r>
              <a:rPr lang="zh-CN" altLang="en-US">
                <a:solidFill>
                  <a:srgbClr val="8B0012"/>
                </a:solidFill>
              </a:rPr>
              <a:t>,</a:t>
            </a:r>
            <a:r>
              <a:rPr lang="en-US" altLang="zh-CN">
                <a:solidFill>
                  <a:srgbClr val="8B0012"/>
                </a:solidFill>
              </a:rPr>
              <a:t>DCE</a:t>
            </a:r>
            <a:r>
              <a:rPr lang="zh-CN" altLang="en-US">
                <a:solidFill>
                  <a:srgbClr val="8B0012"/>
                </a:solidFill>
              </a:rPr>
              <a:t> inline, etc.</a:t>
            </a:r>
            <a:r>
              <a:rPr lang="en-US" altLang="zh-CN">
                <a:solidFill>
                  <a:srgbClr val="8B0012"/>
                </a:solidFill>
              </a:rPr>
              <a:t>.</a:t>
            </a:r>
            <a:endParaRPr lang="zh-CN" altLang="en-US"/>
          </a:p>
          <a:p>
            <a:r>
              <a:rPr lang="en-US" altLang="zh-CN"/>
              <a:t>TritonGPU-IR </a:t>
            </a:r>
            <a:r>
              <a:rPr lang="en-US" altLang="en-US"/>
              <a:t>→</a:t>
            </a:r>
            <a:r>
              <a:rPr lang="en-US" altLang="zh-CN"/>
              <a:t> LLVM-IR</a:t>
            </a:r>
          </a:p>
          <a:p>
            <a:pPr lvl="1"/>
            <a:r>
              <a:rPr lang="zh-CN" altLang="en-US">
                <a:solidFill>
                  <a:srgbClr val="8B0012"/>
                </a:solidFill>
              </a:rPr>
              <a:t>Vendor-specific</a:t>
            </a:r>
            <a:r>
              <a:rPr lang="en-US" altLang="zh-CN">
                <a:solidFill>
                  <a:srgbClr val="8B0012"/>
                </a:solidFill>
              </a:rPr>
              <a:t> pass </a:t>
            </a:r>
            <a:r>
              <a:rPr lang="zh-CN" altLang="en-US">
                <a:solidFill>
                  <a:srgbClr val="8B0012"/>
                </a:solidFill>
              </a:rPr>
              <a:t> passes further optimize</a:t>
            </a:r>
            <a:r>
              <a:rPr lang="en-US" altLang="zh-CN">
                <a:solidFill>
                  <a:srgbClr val="8B0012"/>
                </a:solidFill>
              </a:rPr>
              <a:t> TTGIR</a:t>
            </a:r>
            <a:r>
              <a:rPr lang="zh-CN" altLang="en-US">
                <a:solidFill>
                  <a:srgbClr val="8B0012"/>
                </a:solidFill>
              </a:rPr>
              <a:t>; finally, through the</a:t>
            </a:r>
            <a:r>
              <a:rPr lang="en-US" altLang="zh-CN">
                <a:solidFill>
                  <a:srgbClr val="8B0012"/>
                </a:solidFill>
              </a:rPr>
              <a:t> MLIR </a:t>
            </a:r>
            <a:r>
              <a:rPr lang="en-US" altLang="en-US">
                <a:solidFill>
                  <a:srgbClr val="8B0012"/>
                </a:solidFill>
              </a:rPr>
              <a:t>→</a:t>
            </a:r>
            <a:r>
              <a:rPr lang="en-US" altLang="zh-CN">
                <a:solidFill>
                  <a:srgbClr val="8B0012"/>
                </a:solidFill>
              </a:rPr>
              <a:t> LLVM </a:t>
            </a:r>
            <a:r>
              <a:rPr lang="zh-CN" altLang="en-US">
                <a:solidFill>
                  <a:srgbClr val="8B0012"/>
                </a:solidFill>
              </a:rPr>
              <a:t> bridge layer, outputs</a:t>
            </a:r>
            <a:r>
              <a:rPr lang="en-US" altLang="zh-CN">
                <a:solidFill>
                  <a:srgbClr val="8B0012"/>
                </a:solidFill>
              </a:rPr>
              <a:t> LLVM-IR</a:t>
            </a:r>
            <a:r>
              <a:rPr lang="zh-CN" altLang="en-US">
                <a:solidFill>
                  <a:srgbClr val="8B0012"/>
                </a:solidFill>
              </a:rPr>
              <a:t>, completing the high-level optimization phase.</a:t>
            </a:r>
          </a:p>
          <a:p>
            <a:pPr lvl="1"/>
            <a:endParaRPr lang="zh-CN" altLang="en-US">
              <a:solidFill>
                <a:srgbClr val="8B0012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FlagTree </a:t>
            </a:r>
            <a:r>
              <a:rPr lang="zh-CN" altLang="en-US"/>
              <a:t> Operator Compilation Pipeline</a:t>
            </a:r>
            <a:r>
              <a:rPr lang="en-US" altLang="zh-CN"/>
              <a:t> </a:t>
            </a:r>
            <a:r>
              <a:rPr lang="en-US" altLang="en-US"/>
              <a:t>②</a:t>
            </a:r>
            <a:r>
              <a:rPr lang="en-US" altLang="zh-CN"/>
              <a:t>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LLVM-IR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 Assembly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 binary</a:t>
            </a:r>
            <a:r>
              <a:rPr lang="en-US" altLang="zh-CN"/>
              <a:t>  ·  </a:t>
            </a:r>
            <a:r>
              <a:rPr lang="zh-CN" altLang="en-US"/>
              <a:t>Pluggable Backend</a:t>
            </a:r>
            <a:r>
              <a:rPr lang="en-US" altLang="zh-CN"/>
              <a:t>  ·  </a:t>
            </a:r>
            <a:r>
              <a:rPr lang="zh-CN" altLang="en-US"/>
              <a:t>Compilation Cache</a:t>
            </a:r>
          </a:p>
          <a:p>
            <a:r>
              <a:rPr lang="zh-CN" altLang="en-US"/>
              <a:t>Backend pluggable architecture (</a:t>
            </a:r>
            <a:r>
              <a:rPr lang="en-US" altLang="zh-CN"/>
              <a:t>third_party/</a:t>
            </a:r>
            <a:r>
              <a:rPr lang="zh-CN" altLang="en-US"/>
              <a:t>)</a:t>
            </a:r>
          </a:p>
          <a:p>
            <a:r>
              <a:rPr lang="zh-CN" altLang="en-US"/>
              <a:t>Compilation result caching mechanism</a:t>
            </a:r>
          </a:p>
          <a:p>
            <a:endParaRPr lang="zh-CN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240" y="3288030"/>
          <a:ext cx="11263630" cy="2841625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3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Toolchain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LLVM Optimization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LLVM-IR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Optimized LLVM-IR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LLVM opt passes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Assembly Generation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LLVM-IR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PTX / AMDGCN / Vendor ASM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LLVM backend + Vendor Driver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Device Compilation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ASM / BC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.cubin / .hsaco / binary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NVCC / HIPCC / Vendor Compiler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Cache Write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Compiled artifacts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kernel_hash.bin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</a:rPr>
                        <a:t>~/.triton/cache/</a:t>
                      </a: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FlagTree</a:t>
            </a:r>
            <a:r>
              <a:rPr lang="zh-CN" altLang="en-US"/>
              <a:t> Runtime Loading and Unified Hardware Abstraction Layer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FlagTree Hints —— </a:t>
            </a:r>
            <a:r>
              <a:rPr lang="zh-CN" altLang="en-US"/>
              <a:t>Runtime Behavior Extension</a:t>
            </a:r>
          </a:p>
          <a:p>
            <a:pPr lvl="1"/>
            <a:r>
              <a:rPr lang="en-US" altLang="zh-CN"/>
              <a:t>flagtree_hints (shared_mem)</a:t>
            </a:r>
          </a:p>
          <a:p>
            <a:pPr lvl="1"/>
            <a:r>
              <a:rPr lang="en-US" altLang="zh-CN"/>
              <a:t>flagtree_hints (async_dma)</a:t>
            </a:r>
          </a:p>
          <a:p>
            <a:pPr lvl="1"/>
            <a:r>
              <a:rPr lang="en-US" altLang="zh-CN"/>
              <a:t>FLIR </a:t>
            </a:r>
            <a:r>
              <a:rPr lang="zh-CN" altLang="en-US"/>
              <a:t> Middle Layer</a:t>
            </a:r>
          </a:p>
          <a:p>
            <a:pPr lvl="1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23875" y="3602355"/>
            <a:ext cx="11277600" cy="2574925"/>
            <a:chOff x="403" y="1699"/>
            <a:chExt cx="13608" cy="2880"/>
          </a:xfrm>
        </p:grpSpPr>
        <p:sp>
          <p:nvSpPr>
            <p:cNvPr id="7" name="Shape 5"/>
            <p:cNvSpPr/>
            <p:nvPr/>
          </p:nvSpPr>
          <p:spPr>
            <a:xfrm>
              <a:off x="403" y="1699"/>
              <a:ext cx="3240" cy="2880"/>
            </a:xfrm>
            <a:prstGeom prst="rect">
              <a:avLst/>
            </a:prstGeom>
            <a:solidFill>
              <a:srgbClr val="FBF0F1"/>
            </a:solidFill>
            <a:ln w="25400">
              <a:solidFill>
                <a:srgbClr val="8B0012"/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403" y="1699"/>
              <a:ext cx="3240" cy="130"/>
            </a:xfrm>
            <a:prstGeom prst="rect">
              <a:avLst/>
            </a:prstGeom>
            <a:solidFill>
              <a:srgbClr val="8B0012"/>
            </a:solidFill>
            <a:ln w="12700">
              <a:solidFill>
                <a:srgbClr val="8B0012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403" y="1843"/>
              <a:ext cx="3240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8B001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①</a:t>
              </a:r>
            </a:p>
          </p:txBody>
        </p:sp>
        <p:sp>
          <p:nvSpPr>
            <p:cNvPr id="10" name="Text 8"/>
            <p:cNvSpPr/>
            <p:nvPr/>
          </p:nvSpPr>
          <p:spPr>
            <a:xfrm>
              <a:off x="547" y="2448"/>
              <a:ext cx="2952" cy="51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C1C1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First call triggers JIT</a:t>
              </a:r>
            </a:p>
          </p:txBody>
        </p:sp>
        <p:sp>
          <p:nvSpPr>
            <p:cNvPr id="11" name="Text 9"/>
            <p:cNvSpPr/>
            <p:nvPr/>
          </p:nvSpPr>
          <p:spPr>
            <a:xfrm>
              <a:off x="547" y="2995"/>
              <a:ext cx="2952" cy="151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A3A3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The kernel wrapped by @triton.jit is called for the first time; a specialization key based on actual dtype/shape is used to query the disk cache.</a:t>
              </a:r>
            </a:p>
          </p:txBody>
        </p:sp>
        <p:sp>
          <p:nvSpPr>
            <p:cNvPr id="12" name="Shape 10"/>
            <p:cNvSpPr/>
            <p:nvPr/>
          </p:nvSpPr>
          <p:spPr>
            <a:xfrm>
              <a:off x="3643" y="3067"/>
              <a:ext cx="216" cy="72"/>
            </a:xfrm>
            <a:prstGeom prst="rect">
              <a:avLst/>
            </a:prstGeom>
            <a:solidFill>
              <a:srgbClr val="7A6065"/>
            </a:solidFill>
            <a:ln w="12700">
              <a:solidFill>
                <a:srgbClr val="7A6065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3758" y="2959"/>
              <a:ext cx="173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7A6065"/>
                  </a:solidFill>
                </a:rPr>
                <a:t>▶</a:t>
              </a:r>
            </a:p>
          </p:txBody>
        </p:sp>
        <p:sp>
          <p:nvSpPr>
            <p:cNvPr id="14" name="Shape 12"/>
            <p:cNvSpPr/>
            <p:nvPr/>
          </p:nvSpPr>
          <p:spPr>
            <a:xfrm>
              <a:off x="3859" y="1699"/>
              <a:ext cx="3240" cy="2880"/>
            </a:xfrm>
            <a:prstGeom prst="rect">
              <a:avLst/>
            </a:prstGeom>
            <a:solidFill>
              <a:srgbClr val="FBF0F1"/>
            </a:solidFill>
            <a:ln w="25400">
              <a:solidFill>
                <a:srgbClr val="B8860B"/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3859" y="1699"/>
              <a:ext cx="3240" cy="130"/>
            </a:xfrm>
            <a:prstGeom prst="rect">
              <a:avLst/>
            </a:prstGeom>
            <a:solidFill>
              <a:srgbClr val="B8860B"/>
            </a:solidFill>
            <a:ln w="12700">
              <a:solidFill>
                <a:srgbClr val="B8860B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859" y="1843"/>
              <a:ext cx="3240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B8860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②</a:t>
              </a:r>
            </a:p>
          </p:txBody>
        </p:sp>
        <p:sp>
          <p:nvSpPr>
            <p:cNvPr id="17" name="Text 15"/>
            <p:cNvSpPr/>
            <p:nvPr/>
          </p:nvSpPr>
          <p:spPr>
            <a:xfrm>
              <a:off x="4003" y="2448"/>
              <a:ext cx="2952" cy="51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C1C1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Compilation or cache hit</a:t>
              </a:r>
            </a:p>
          </p:txBody>
        </p:sp>
        <p:sp>
          <p:nvSpPr>
            <p:cNvPr id="18" name="Text 16"/>
            <p:cNvSpPr/>
            <p:nvPr/>
          </p:nvSpPr>
          <p:spPr>
            <a:xfrm>
              <a:off x="4003" y="2995"/>
              <a:ext cx="2952" cy="151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A3A3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On cache miss, the full compilation pipeline starts and results are written to disk; on cache hit, the pre-compiled binary is read directly.</a:t>
              </a:r>
            </a:p>
          </p:txBody>
        </p:sp>
        <p:sp>
          <p:nvSpPr>
            <p:cNvPr id="19" name="Shape 17"/>
            <p:cNvSpPr/>
            <p:nvPr/>
          </p:nvSpPr>
          <p:spPr>
            <a:xfrm>
              <a:off x="7099" y="3067"/>
              <a:ext cx="216" cy="72"/>
            </a:xfrm>
            <a:prstGeom prst="rect">
              <a:avLst/>
            </a:prstGeom>
            <a:solidFill>
              <a:srgbClr val="7A6065"/>
            </a:solidFill>
            <a:ln w="12700">
              <a:solidFill>
                <a:srgbClr val="7A6065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7214" y="2959"/>
              <a:ext cx="173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7A6065"/>
                  </a:solidFill>
                </a:rPr>
                <a:t>▶</a:t>
              </a:r>
            </a:p>
          </p:txBody>
        </p:sp>
        <p:sp>
          <p:nvSpPr>
            <p:cNvPr id="21" name="Shape 19"/>
            <p:cNvSpPr/>
            <p:nvPr/>
          </p:nvSpPr>
          <p:spPr>
            <a:xfrm>
              <a:off x="7315" y="1699"/>
              <a:ext cx="3240" cy="2880"/>
            </a:xfrm>
            <a:prstGeom prst="rect">
              <a:avLst/>
            </a:prstGeom>
            <a:solidFill>
              <a:srgbClr val="FBF0F1"/>
            </a:solidFill>
            <a:ln w="25400">
              <a:solidFill>
                <a:srgbClr val="C4314A"/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7315" y="1699"/>
              <a:ext cx="3240" cy="130"/>
            </a:xfrm>
            <a:prstGeom prst="rect">
              <a:avLst/>
            </a:prstGeom>
            <a:solidFill>
              <a:srgbClr val="C4314A"/>
            </a:solidFill>
            <a:ln w="12700">
              <a:solidFill>
                <a:srgbClr val="C4314A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315" y="1843"/>
              <a:ext cx="3240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C4314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③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7459" y="2448"/>
              <a:ext cx="2952" cy="51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C1C1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Dynamic library loading</a:t>
              </a:r>
            </a:p>
          </p:txBody>
        </p:sp>
        <p:sp>
          <p:nvSpPr>
            <p:cNvPr id="25" name="Text 23"/>
            <p:cNvSpPr/>
            <p:nvPr/>
          </p:nvSpPr>
          <p:spPr>
            <a:xfrm>
              <a:off x="7459" y="2995"/>
              <a:ext cx="2952" cy="151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A3A3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Via cuModuleLoadData (NVIDIA) / hipModuleLoad (AMD) or vendor-equivalent API to load onto the device and obtain the kernel handle.</a:t>
              </a:r>
            </a:p>
          </p:txBody>
        </p:sp>
        <p:sp>
          <p:nvSpPr>
            <p:cNvPr id="26" name="Shape 24"/>
            <p:cNvSpPr/>
            <p:nvPr/>
          </p:nvSpPr>
          <p:spPr>
            <a:xfrm>
              <a:off x="10555" y="3067"/>
              <a:ext cx="216" cy="72"/>
            </a:xfrm>
            <a:prstGeom prst="rect">
              <a:avLst/>
            </a:prstGeom>
            <a:solidFill>
              <a:srgbClr val="7A6065"/>
            </a:solidFill>
            <a:ln w="12700">
              <a:solidFill>
                <a:srgbClr val="7A6065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10670" y="2959"/>
              <a:ext cx="173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7A6065"/>
                  </a:solidFill>
                </a:rPr>
                <a:t>▶</a:t>
              </a:r>
            </a:p>
          </p:txBody>
        </p:sp>
        <p:sp>
          <p:nvSpPr>
            <p:cNvPr id="28" name="Shape 26"/>
            <p:cNvSpPr/>
            <p:nvPr/>
          </p:nvSpPr>
          <p:spPr>
            <a:xfrm>
              <a:off x="10771" y="1699"/>
              <a:ext cx="3240" cy="2880"/>
            </a:xfrm>
            <a:prstGeom prst="rect">
              <a:avLst/>
            </a:prstGeom>
            <a:solidFill>
              <a:srgbClr val="FBF0F1"/>
            </a:solidFill>
            <a:ln w="25400">
              <a:solidFill>
                <a:srgbClr val="5C0009"/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10771" y="1699"/>
              <a:ext cx="3240" cy="130"/>
            </a:xfrm>
            <a:prstGeom prst="rect">
              <a:avLst/>
            </a:prstGeom>
            <a:solidFill>
              <a:srgbClr val="5C0009"/>
            </a:solidFill>
            <a:ln w="12700">
              <a:solidFill>
                <a:srgbClr val="5C0009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10771" y="1843"/>
              <a:ext cx="3240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5C0009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④</a:t>
              </a:r>
            </a:p>
          </p:txBody>
        </p:sp>
        <p:sp>
          <p:nvSpPr>
            <p:cNvPr id="31" name="Text 29"/>
            <p:cNvSpPr/>
            <p:nvPr/>
          </p:nvSpPr>
          <p:spPr>
            <a:xfrm>
              <a:off x="10915" y="2448"/>
              <a:ext cx="2952" cy="51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C1C1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Kernel dispatch and execution</a:t>
              </a:r>
            </a:p>
          </p:txBody>
        </p:sp>
        <p:sp>
          <p:nvSpPr>
            <p:cNvPr id="32" name="Text 30"/>
            <p:cNvSpPr/>
            <p:nvPr/>
          </p:nvSpPr>
          <p:spPr>
            <a:xfrm>
              <a:off x="10915" y="2995"/>
              <a:ext cx="2952" cy="151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A3A3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UnifiedHardware Manager provides unified launch API wrapping, shielding vendor differences; FlagTree replaces the system triton package for seamless upper-layer framework switching.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KernelGen </a:t>
            </a:r>
            <a:r>
              <a:t> Generated Code Examples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2000">
                <a:sym typeface="+mn-ea"/>
              </a:rPr>
              <a:t>KernelGen </a:t>
            </a:r>
            <a:r>
              <a:rPr lang="zh-CN" altLang="en-US" sz="2000">
                <a:sym typeface="+mn-ea"/>
              </a:rPr>
              <a:t>The code generated by KernelGen is functionally complete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In terms of engineering structure, it typically manifests as a hybrid single file containing business logic, test utilities, and plotting scripts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90" y="2918460"/>
            <a:ext cx="5240655" cy="19767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345" y="2497455"/>
            <a:ext cx="5485130" cy="35001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Engineering Criteria for Operator Integration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2000"/>
              <a:t>KernelGen </a:t>
            </a:r>
            <a:r>
              <a:rPr lang="zh-CN" altLang="en-US" sz="2000"/>
              <a:t>'s generated operators must satisfy</a:t>
            </a:r>
            <a:r>
              <a:rPr lang="en-US" altLang="zh-CN" sz="2000"/>
              <a:t>:</a:t>
            </a:r>
          </a:p>
          <a:p>
            <a:pPr lvl="1"/>
            <a:r>
              <a:rPr lang="zh-CN" altLang="en-US" sz="1800"/>
              <a:t>Pass correctness verification in an isolated environment</a:t>
            </a:r>
          </a:p>
          <a:p>
            <a:pPr lvl="2"/>
            <a:r>
              <a:rPr lang="zh-CN" altLang="en-US" sz="1400"/>
              <a:t> and</a:t>
            </a:r>
            <a:r>
              <a:rPr lang="en-US" altLang="zh-CN" sz="1400"/>
              <a:t>CUDA</a:t>
            </a:r>
            <a:r>
              <a:rPr lang="zh-CN" altLang="en-US" sz="1400"/>
              <a:t> baseline implementation comparison</a:t>
            </a:r>
          </a:p>
          <a:p>
            <a:pPr lvl="2"/>
            <a:r>
              <a:rPr lang="zh-CN" altLang="en-US" sz="1400"/>
              <a:t>The baseline implementation is also generated by</a:t>
            </a:r>
            <a:r>
              <a:rPr lang="en-US" altLang="zh-CN" sz="1400"/>
              <a:t>KernelGen</a:t>
            </a:r>
            <a:endParaRPr lang="zh-CN" altLang="en-US" sz="1400"/>
          </a:p>
          <a:p>
            <a:pPr lvl="1"/>
            <a:r>
              <a:rPr lang="zh-CN" altLang="en-US" sz="1800"/>
              <a:t>Meet preset benchmarks in performance testing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280" y="1464945"/>
            <a:ext cx="4057650" cy="50323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20" y="3429000"/>
            <a:ext cx="5534660" cy="12814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Standardized Refactoring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https://github.com/flagos-ai/KernelGen/tree/main/tools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Execution Logic:</a:t>
            </a:r>
            <a:r>
              <a:rPr lang="en-US" altLang="zh-CN"/>
              <a:t>AST </a:t>
            </a:r>
            <a:r>
              <a:rPr lang="zh-CN" altLang="en-US"/>
              <a:t> parsing and structural cleanup, transforming the original code into standardized operator library modules</a:t>
            </a:r>
            <a:r>
              <a:rPr lang="en-US" altLang="zh-CN"/>
              <a:t> </a:t>
            </a:r>
            <a:r>
              <a:rPr lang="zh-CN" altLang="en-US"/>
              <a:t>.</a:t>
            </a:r>
          </a:p>
          <a:p>
            <a:r>
              <a:rPr lang="zh-CN" altLang="en-US"/>
              <a:t>Kernel Extraction: Strip benchmarking code, dynamize grid configuration.</a:t>
            </a:r>
            <a:endParaRPr lang="en-US" altLang="zh-CN"/>
          </a:p>
          <a:p>
            <a:r>
              <a:rPr lang="zh-CN" altLang="en-US"/>
              <a:t>Dependency Injection: Mount</a:t>
            </a:r>
            <a:r>
              <a:rPr lang="en-US" altLang="zh-CN"/>
              <a:t> FlagGems </a:t>
            </a:r>
            <a:r>
              <a:rPr lang="zh-CN" altLang="en-US"/>
              <a:t>'s dedicated</a:t>
            </a:r>
            <a:r>
              <a:rPr lang="en-US" altLang="zh-CN"/>
              <a:t> @libentry </a:t>
            </a:r>
            <a:r>
              <a:rPr lang="zh-CN" altLang="en-US"/>
              <a:t> decorator to integrate with the cache dispatch mechanism</a:t>
            </a:r>
            <a:r>
              <a:rPr lang="en-US" altLang="zh-CN"/>
              <a:t> </a:t>
            </a:r>
            <a:r>
              <a:rPr lang="zh-CN" altLang="en-US"/>
              <a:t>.</a:t>
            </a:r>
            <a:endParaRPr lang="en-US" altLang="zh-CN"/>
          </a:p>
          <a:p>
            <a:r>
              <a:rPr lang="zh-CN" altLang="en-US"/>
              <a:t>Test Migration: Refactor assertions into the standard</a:t>
            </a:r>
            <a:r>
              <a:rPr lang="en-US" altLang="zh-CN"/>
              <a:t> pytest </a:t>
            </a:r>
            <a:r>
              <a:rPr lang="zh-CN" altLang="en-US"/>
              <a:t> parameterized test framework.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Standardized Refactoring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https://github.com/flagos-ai/KernelGen/tree/main/tools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graphicFrame>
        <p:nvGraphicFramePr>
          <p:cNvPr id="9" name="表格 8"/>
          <p:cNvGraphicFramePr/>
          <p:nvPr/>
        </p:nvGraphicFramePr>
        <p:xfrm>
          <a:off x="215900" y="2198079"/>
          <a:ext cx="11760200" cy="3414395"/>
        </p:xfrm>
        <a:graphic>
          <a:graphicData uri="http://schemas.openxmlformats.org/drawingml/2006/table">
            <a:tbl>
              <a:tblPr firstRow="1" bandRow="1">
                <a:tableStyleId>{4E856312-4028-4C05-B013-7F41CF47846F}</a:tableStyleId>
              </a:tblPr>
              <a:tblGrid>
                <a:gridCol w="2910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7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1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1" spc="120"/>
                        <a:t>KernelGen Original File Output</a:t>
                      </a:r>
                    </a:p>
                  </a:txBody>
                  <a:tcPr marL="107950" marR="10795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1" spc="120"/>
                        <a:t>convert.py </a:t>
                      </a:r>
                      <a:r>
                        <a:rPr lang="zh-CN" altLang="en-US" sz="1200" b="1" spc="120"/>
                        <a:t> Parsing Behavior and Structural Cleanup</a:t>
                      </a:r>
                    </a:p>
                  </a:txBody>
                  <a:tcPr marL="107950" marR="10795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1" spc="120"/>
                        <a:t>FlagGems </a:t>
                      </a:r>
                      <a:r>
                        <a:rPr lang="zh-CN" altLang="en-US" sz="1200" b="1" spc="120"/>
                        <a:t> Target Module Mapping</a:t>
                      </a:r>
                    </a:p>
                  </a:txBody>
                  <a:tcPr marL="107950" marR="107950" marT="63500" marB="635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52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/>
                        <a:t>[operator]_triton.py</a:t>
                      </a:r>
                    </a:p>
                  </a:txBody>
                  <a:tcPr marL="107950" marR="107950" marT="63500" marB="635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000" b="0" spc="60"/>
                        <a:t>Strip all performance benchmarks and test stub code. Extract the main kernel function containing @triton.jit. Convert KernelGen-generated hardcoded launch parameters to dynamic grid configurations; inject FlagGems' dedicated @libentry decorator for mounting auto-tuning and heuristic rule caching mechanisms.</a:t>
                      </a:r>
                    </a:p>
                  </a:txBody>
                  <a:tcPr marL="107950" marR="10795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/>
                        <a:t>src/flag_gems/ops/[operator].py</a:t>
                      </a:r>
                    </a:p>
                  </a:txBody>
                  <a:tcPr marL="107950" marR="107950" marT="63500" marB="635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/>
                        <a:t>[operator]_baseline.py</a:t>
                      </a:r>
                    </a:p>
                  </a:txBody>
                  <a:tcPr marL="107950" marR="107950" marT="63500" marB="635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spc="60"/>
                        <a:t>Extract the native </a:t>
                      </a:r>
                      <a:r>
                        <a:rPr lang="en-US" altLang="zh-CN" sz="1000" b="0" spc="60"/>
                        <a:t>PyTorch </a:t>
                      </a:r>
                      <a:r>
                        <a:rPr lang="zh-CN" altLang="en-US" sz="1000" b="0" spc="60"/>
                        <a:t> or </a:t>
                      </a:r>
                      <a:r>
                        <a:rPr lang="en-US" altLang="zh-CN" sz="1000" b="0" spc="60"/>
                        <a:t>CUDA </a:t>
                      </a:r>
                      <a:r>
                        <a:rPr lang="zh-CN" altLang="en-US" sz="1000" b="0" spc="60"/>
                        <a:t> operator implementation as the baseline reference, wrapping it as the benchmark function in the test suite.</a:t>
                      </a:r>
                    </a:p>
                  </a:txBody>
                  <a:tcPr marL="107950" marR="10795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spc="60"/>
                        <a:t>Extracted for test module invocation.</a:t>
                      </a:r>
                    </a:p>
                  </a:txBody>
                  <a:tcPr marL="107950" marR="107950" marT="63500" marB="63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852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/>
                        <a:t>test_[op]_accuracy.py</a:t>
                      </a:r>
                    </a:p>
                  </a:txBody>
                  <a:tcPr marL="107950" marR="107950" marT="63500" marB="635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spc="60"/>
                        <a:t>Refactor assertion logic. Transform standalone assertion scripts into standard </a:t>
                      </a:r>
                      <a:r>
                        <a:rPr lang="en-US" altLang="zh-CN" sz="1000" b="0" spc="60"/>
                        <a:t>pytest </a:t>
                      </a:r>
                      <a:r>
                        <a:rPr lang="zh-CN" altLang="en-US" sz="1000" b="0" spc="60"/>
                        <a:t> framework unit test classes. Inject parameterized decorators for different data types (</a:t>
                      </a:r>
                      <a:r>
                        <a:rPr lang="en-US" altLang="zh-CN" sz="1000" b="0" spc="60"/>
                        <a:t>FP16, BF16, FP32</a:t>
                      </a:r>
                      <a:r>
                        <a:rPr lang="zh-CN" altLang="en-US" sz="1000" b="0" spc="60"/>
                        <a:t>) parameterized decorators, and add boundary tests for </a:t>
                      </a:r>
                      <a:r>
                        <a:rPr lang="en-US" altLang="zh-CN" sz="1000" b="0" spc="60"/>
                        <a:t>NaN</a:t>
                      </a:r>
                      <a:r>
                        <a:rPr lang="zh-CN" altLang="en-US" sz="1000" b="0" spc="60"/>
                        <a:t>,</a:t>
                      </a:r>
                      <a:r>
                        <a:rPr lang="en-US" altLang="zh-CN" sz="1000" b="0" spc="60"/>
                        <a:t>Inf </a:t>
                      </a:r>
                      <a:r>
                        <a:rPr lang="zh-CN" altLang="en-US" sz="1000" b="0" spc="60"/>
                        <a:t> and other atypical values with boundary condition handling.</a:t>
                      </a:r>
                    </a:p>
                  </a:txBody>
                  <a:tcPr marL="107950" marR="10795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/>
                        <a:t>tests/[operator]_test.py</a:t>
                      </a:r>
                    </a:p>
                  </a:txBody>
                  <a:tcPr marL="107950" marR="107950" marT="63500" marB="635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52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/>
                        <a:t>test_[op]_performance.py</a:t>
                      </a:r>
                    </a:p>
                  </a:txBody>
                  <a:tcPr marL="107950" marR="107950" marT="63500" marB="635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spc="60"/>
                        <a:t>Clean up chart generation code. Retain key </a:t>
                      </a:r>
                      <a:r>
                        <a:rPr lang="en-US" altLang="zh-CN" sz="1000" b="0" spc="60"/>
                        <a:t>Throughput</a:t>
                      </a:r>
                      <a:r>
                        <a:rPr lang="zh-CN" altLang="en-US" sz="1000" b="0" spc="60"/>
                        <a:t> (Throughput) and </a:t>
                      </a:r>
                      <a:r>
                        <a:rPr lang="en-US" altLang="zh-CN" sz="1000" b="0" spc="60"/>
                        <a:t>Latency</a:t>
                      </a:r>
                      <a:r>
                        <a:rPr lang="zh-CN" altLang="en-US" sz="1000" b="0" spc="60"/>
                        <a:t> (Latency) evaluation logic, and integrate into </a:t>
                      </a:r>
                      <a:r>
                        <a:rPr lang="en-US" altLang="zh-CN" sz="1000" b="0" spc="60"/>
                        <a:t>FlagGems </a:t>
                      </a:r>
                      <a:r>
                        <a:rPr lang="zh-CN" altLang="en-US" sz="1000" b="0" spc="60"/>
                        <a:t>'s automated </a:t>
                      </a:r>
                      <a:r>
                        <a:rPr lang="en-US" altLang="zh-CN" sz="1000" b="0" spc="60"/>
                        <a:t>CI/CD </a:t>
                      </a:r>
                      <a:r>
                        <a:rPr lang="zh-CN" altLang="en-US" sz="1000" b="0" spc="60"/>
                        <a:t> performance benchmark (</a:t>
                      </a:r>
                      <a:r>
                        <a:rPr lang="en-US" altLang="zh-CN" sz="1000" b="0" spc="60"/>
                        <a:t>Benchmark</a:t>
                      </a:r>
                      <a:r>
                        <a:rPr lang="zh-CN" altLang="en-US" sz="1000" b="0" spc="60"/>
                        <a:t>) evaluation pipeline to ensure regression test stability.</a:t>
                      </a:r>
                    </a:p>
                  </a:txBody>
                  <a:tcPr marL="107950" marR="107950" marT="63500" marB="635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/>
                        <a:t>tests/[operator]_test.py</a:t>
                      </a:r>
                    </a:p>
                  </a:txBody>
                  <a:tcPr marL="107950" marR="107950" marT="63500" marB="63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Submit</a:t>
            </a:r>
            <a:r>
              <a:rPr lang="en-US" altLang="zh-CN"/>
              <a:t>PR</a:t>
            </a:r>
            <a:r>
              <a:t> to</a:t>
            </a:r>
            <a:r>
              <a:rPr lang="en-US" altLang="zh-CN"/>
              <a:t>experimental_ops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https://github.com/flagos-ai/FlagGems/tree/master/src/flag_gems/experimental_ops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945272" y="1323975"/>
            <a:ext cx="8434806" cy="485298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6*223"/>
  <p:tag name="TABLE_ENDDRAG_RECT" val="41*258*886*22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1583</Words>
  <Application>Microsoft Office PowerPoint</Application>
  <PresentationFormat>宽屏</PresentationFormat>
  <Paragraphs>182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42: From Generation to Deployment Integration of Generated Code</vt:lpstr>
      <vt:lpstr>FlagOS  Ecosystem Overview</vt:lpstr>
      <vt:lpstr>FlagGems Overview</vt:lpstr>
      <vt:lpstr>FlagGems Operator Registration and Dispatch</vt:lpstr>
      <vt:lpstr>FlagGems Operator Compilation</vt:lpstr>
      <vt:lpstr>FlagGems Runtime Loading</vt:lpstr>
      <vt:lpstr>FlagTree System Overview</vt:lpstr>
      <vt:lpstr>FlagTree Operator Compilation Pipeline ①</vt:lpstr>
      <vt:lpstr>FlagTree  Operator Compilation Pipeline ② </vt:lpstr>
      <vt:lpstr>FlagTree Runtime Loading and Unified Hardware Abstraction Layer</vt:lpstr>
      <vt:lpstr>KernelGen  Generated Code Examples</vt:lpstr>
      <vt:lpstr>Engineering Criteria for Operator Integration</vt:lpstr>
      <vt:lpstr>Standardized Refactoring</vt:lpstr>
      <vt:lpstr>Standardized Refactoring</vt:lpstr>
      <vt:lpstr>SubmitPR toexperimental_ops</vt:lpstr>
      <vt:lpstr>The Solution: FlagOS, a Unified AI Software Stack</vt:lpstr>
      <vt:lpstr>PowerPoint 演示文稿</vt:lpstr>
      <vt:lpstr>Thanks for your time！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开源社区与AI系统软件贡献</dc:title>
  <dc:subject>开源社区与AI系统软件贡献</dc:subject>
  <dc:creator>Kimi</dc:creator>
  <cp:lastModifiedBy>Xiang Li</cp:lastModifiedBy>
  <cp:revision>9</cp:revision>
  <dcterms:created xsi:type="dcterms:W3CDTF">2026-03-10T09:07:00Z</dcterms:created>
  <dcterms:modified xsi:type="dcterms:W3CDTF">2026-03-17T14:55:15Z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开源社区与AI系统软件贡献","ContentProducer":"001191110108MACG2KBH8F10000","ProduceID":"19cbf9a2-ac82-8bf3-8000-00008c4ccf4f","ReservedCode1":"","ContentPropagator":"001191110108MACG2KBH8F20000","PropagateID":"19cbf9a2-ac82-8bf3-8000-00008c4ccf4f","ReservedCode2":""}</vt:lpwstr>
  </property>
  <property fmtid="{D5CDD505-2E9C-101B-9397-08002B2CF9AE}" pid="3" name="ICV">
    <vt:lpwstr>423D73E912CD1A00385CAA69CA7CE0B6_42</vt:lpwstr>
  </property>
  <property fmtid="{D5CDD505-2E9C-101B-9397-08002B2CF9AE}" pid="4" name="KSOProductBuildVer">
    <vt:lpwstr>2052-12.1.0.19302</vt:lpwstr>
  </property>
</Properties>
</file>