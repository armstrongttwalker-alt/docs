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337" r:id="rId2"/>
    <p:sldId id="1928" r:id="rId3"/>
    <p:sldId id="1932" r:id="rId4"/>
    <p:sldId id="1933" r:id="rId5"/>
    <p:sldId id="1936" r:id="rId6"/>
    <p:sldId id="1935" r:id="rId7"/>
    <p:sldId id="1937" r:id="rId8"/>
    <p:sldId id="1938" r:id="rId9"/>
    <p:sldId id="1939" r:id="rId10"/>
    <p:sldId id="1940" r:id="rId11"/>
    <p:sldId id="1945" r:id="rId12"/>
    <p:sldId id="1941" r:id="rId13"/>
    <p:sldId id="1942" r:id="rId14"/>
    <p:sldId id="1943" r:id="rId15"/>
    <p:sldId id="1944" r:id="rId16"/>
    <p:sldId id="1949" r:id="rId17"/>
    <p:sldId id="1950" r:id="rId18"/>
    <p:sldId id="1956" r:id="rId19"/>
    <p:sldId id="1948" r:id="rId20"/>
    <p:sldId id="1951" r:id="rId21"/>
    <p:sldId id="277" r:id="rId22"/>
    <p:sldId id="279" r:id="rId23"/>
    <p:sldId id="280" r:id="rId24"/>
  </p:sldIdLst>
  <p:sldSz cx="12192000" cy="6858000"/>
  <p:notesSz cx="6858000" cy="9144000"/>
  <p:custDataLst>
    <p:tags r:id="rId2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0012"/>
    <a:srgbClr val="70AD47"/>
    <a:srgbClr val="2774AE"/>
    <a:srgbClr val="70AE47"/>
    <a:srgbClr val="549E39"/>
    <a:srgbClr val="90B085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7"/>
    <p:restoredTop sz="91944" autoAdjust="0"/>
  </p:normalViewPr>
  <p:slideViewPr>
    <p:cSldViewPr snapToGrid="0" snapToObjects="1">
      <p:cViewPr varScale="1">
        <p:scale>
          <a:sx n="56" d="100"/>
          <a:sy n="56" d="100"/>
        </p:scale>
        <p:origin x="896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38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D35F3-BE5B-41CC-A973-5F94E77F22B3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126E5-09CE-4398-8EB0-4AC849D0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E8E16-D6C5-3248-816C-85B3C8E8792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4C98A-D9C5-894D-9A13-8F52E37846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5837360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6489818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image" Target="../media/image13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13.xml"/><Relationship Id="rId21" Type="http://schemas.openxmlformats.org/officeDocument/2006/relationships/image" Target="../media/image16.png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image" Target="../media/image15.png"/><Relationship Id="rId29" Type="http://schemas.openxmlformats.org/officeDocument/2006/relationships/image" Target="../media/image20.png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23" Type="http://schemas.openxmlformats.org/officeDocument/2006/relationships/image" Target="../media/image18.png"/><Relationship Id="rId28" Type="http://schemas.openxmlformats.org/officeDocument/2006/relationships/image" Target="../media/image19.jpeg"/><Relationship Id="rId10" Type="http://schemas.openxmlformats.org/officeDocument/2006/relationships/tags" Target="../tags/tag20.xml"/><Relationship Id="rId19" Type="http://schemas.openxmlformats.org/officeDocument/2006/relationships/image" Target="../media/image14.png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image" Target="../media/image17.png"/><Relationship Id="rId27" Type="http://schemas.openxmlformats.org/officeDocument/2006/relationships/hyperlink" Target="https://flagos.io/Home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x-none" altLang="ja-JP"/>
              <a:t>Lecture 23：</a:t>
            </a:r>
            <a:r>
              <a:rPr lang="en-US" altLang="zh-CN" dirty="0"/>
              <a:t>Loop-Invariant Code Motion (LICM)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 Invariant Code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Code that produces the same result regardless of which loop iteration it runs in</a:t>
            </a:r>
          </a:p>
          <a:p>
            <a:r>
              <a:rPr lang="en-US" altLang="zh-CN" dirty="0"/>
              <a:t>Loop Invariant Code Motion, LICM</a:t>
            </a:r>
          </a:p>
          <a:p>
            <a:pPr lvl="1"/>
            <a:r>
              <a:rPr lang="en-US" altLang="zh-CN" dirty="0"/>
              <a:t>Hoisting loop-invariant code outside the loop to reduce the number of executions</a:t>
            </a:r>
          </a:p>
          <a:p>
            <a:pPr lvl="1"/>
            <a:r>
              <a:rPr lang="en-US" altLang="zh-CN" dirty="0"/>
              <a:t>Positioned toward the earlier/frontend stage in compilation process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Performance Influence</a:t>
            </a:r>
          </a:p>
          <a:p>
            <a:pPr lvl="1"/>
            <a:r>
              <a:rPr lang="en-US" altLang="zh-CN" dirty="0"/>
              <a:t>Before: Execute</a:t>
            </a:r>
            <a:r>
              <a:rPr lang="zh-CN" altLang="en-US" dirty="0"/>
              <a:t> </a:t>
            </a:r>
            <a:r>
              <a:rPr lang="en-US" altLang="zh-CN" dirty="0"/>
              <a:t>N times</a:t>
            </a:r>
            <a:r>
              <a:rPr lang="zh-CN" altLang="en-US" dirty="0"/>
              <a:t> </a:t>
            </a:r>
            <a:r>
              <a:rPr lang="en-US" altLang="zh-CN" dirty="0"/>
              <a:t>× Time</a:t>
            </a:r>
            <a:r>
              <a:rPr lang="zh-CN" altLang="en-US" dirty="0"/>
              <a:t> </a:t>
            </a:r>
            <a:r>
              <a:rPr lang="en-US" altLang="zh-CN" dirty="0"/>
              <a:t>= N × T</a:t>
            </a:r>
          </a:p>
          <a:p>
            <a:pPr lvl="1"/>
            <a:r>
              <a:rPr lang="en-US" altLang="zh-CN" dirty="0"/>
              <a:t>After: 1 × T + Execute</a:t>
            </a:r>
            <a:r>
              <a:rPr lang="zh-CN" altLang="en-US" dirty="0"/>
              <a:t> </a:t>
            </a:r>
            <a:r>
              <a:rPr lang="en-US" altLang="zh-CN" dirty="0"/>
              <a:t>N times</a:t>
            </a:r>
            <a:r>
              <a:rPr lang="zh-CN" altLang="en-US" dirty="0"/>
              <a:t> </a:t>
            </a:r>
            <a:r>
              <a:rPr lang="en-US" altLang="zh-CN" dirty="0"/>
              <a:t>× 0 = T</a:t>
            </a:r>
          </a:p>
          <a:p>
            <a:pPr lvl="1"/>
            <a:r>
              <a:rPr lang="en-US" altLang="zh-CN" dirty="0"/>
              <a:t>Save: (N-1) × T</a:t>
            </a:r>
            <a:endParaRPr lang="zh-CN" altLang="en-US" dirty="0"/>
          </a:p>
          <a:p>
            <a:endParaRPr lang="zh-CN" altLang="en-US" dirty="0"/>
          </a:p>
        </p:txBody>
      </p:sp>
      <p:grpSp>
        <p:nvGrpSpPr>
          <p:cNvPr id="25" name="Group 24"/>
          <p:cNvGrpSpPr/>
          <p:nvPr/>
        </p:nvGrpSpPr>
        <p:grpSpPr>
          <a:xfrm>
            <a:off x="1362075" y="3154045"/>
            <a:ext cx="8521065" cy="1162685"/>
            <a:chOff x="935665" y="3429000"/>
            <a:chExt cx="8888818" cy="1398181"/>
          </a:xfrm>
        </p:grpSpPr>
        <p:sp>
          <p:nvSpPr>
            <p:cNvPr id="6" name="Rectangle 5"/>
            <p:cNvSpPr/>
            <p:nvPr/>
          </p:nvSpPr>
          <p:spPr>
            <a:xfrm>
              <a:off x="935665" y="4338083"/>
              <a:ext cx="1573618" cy="4890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/>
                <a:t>Source Code</a:t>
              </a:r>
              <a:endParaRPr lang="en-US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374065" y="4338083"/>
              <a:ext cx="1573618" cy="4890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IR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5812465" y="4338083"/>
              <a:ext cx="1573618" cy="4890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/>
                <a:t>Optimization</a:t>
              </a:r>
              <a:r>
                <a:rPr lang="en-US" dirty="0" err="1"/>
                <a:t>Pass</a:t>
              </a:r>
              <a:endParaRPr lang="en-US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8250865" y="4338083"/>
              <a:ext cx="1573618" cy="4890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lt1"/>
                  </a:solidFill>
                </a:rPr>
                <a:t>T</a:t>
              </a:r>
              <a:r>
                <a:rPr lang="en-US" altLang="zh-CN" dirty="0" err="1">
                  <a:solidFill>
                    <a:schemeClr val="lt1"/>
                  </a:solidFill>
                </a:rPr>
                <a:t>arget Code</a:t>
              </a:r>
              <a:endParaRPr lang="en-US"/>
            </a:p>
          </p:txBody>
        </p:sp>
        <p:cxnSp>
          <p:nvCxnSpPr>
            <p:cNvPr id="11" name="Straight Arrow Connector 10"/>
            <p:cNvCxnSpPr>
              <a:stCxn id="6" idx="3"/>
              <a:endCxn id="7" idx="1"/>
            </p:cNvCxnSpPr>
            <p:nvPr/>
          </p:nvCxnSpPr>
          <p:spPr>
            <a:xfrm>
              <a:off x="2509283" y="4582632"/>
              <a:ext cx="8647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7" idx="3"/>
              <a:endCxn id="8" idx="1"/>
            </p:cNvCxnSpPr>
            <p:nvPr/>
          </p:nvCxnSpPr>
          <p:spPr>
            <a:xfrm>
              <a:off x="4947683" y="4582632"/>
              <a:ext cx="8647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8" idx="3"/>
              <a:endCxn id="9" idx="1"/>
            </p:cNvCxnSpPr>
            <p:nvPr/>
          </p:nvCxnSpPr>
          <p:spPr>
            <a:xfrm>
              <a:off x="7386083" y="4582632"/>
              <a:ext cx="8647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/>
            <p:cNvSpPr/>
            <p:nvPr/>
          </p:nvSpPr>
          <p:spPr>
            <a:xfrm>
              <a:off x="3374065" y="3429000"/>
              <a:ext cx="1573618" cy="4890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LICM</a:t>
              </a:r>
            </a:p>
          </p:txBody>
        </p:sp>
        <p:cxnSp>
          <p:nvCxnSpPr>
            <p:cNvPr id="21" name="Elbow Connector 20"/>
            <p:cNvCxnSpPr>
              <a:stCxn id="19" idx="1"/>
            </p:cNvCxnSpPr>
            <p:nvPr/>
          </p:nvCxnSpPr>
          <p:spPr>
            <a:xfrm rot="10800000" flipV="1">
              <a:off x="2941675" y="3673548"/>
              <a:ext cx="432391" cy="909083"/>
            </a:xfrm>
            <a:prstGeom prst="bentConnector2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Elbow Connector 21"/>
            <p:cNvCxnSpPr>
              <a:stCxn id="19" idx="3"/>
            </p:cNvCxnSpPr>
            <p:nvPr/>
          </p:nvCxnSpPr>
          <p:spPr>
            <a:xfrm>
              <a:off x="4947683" y="3673549"/>
              <a:ext cx="432391" cy="909082"/>
            </a:xfrm>
            <a:prstGeom prst="bentConnector2">
              <a:avLst/>
            </a:prstGeom>
            <a:ln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 Invariant Code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E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xample Code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altLang="zh-CN" dirty="0"/>
              <a:t>Hoist the computation of x and y outside the loop.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0775" y="1840675"/>
            <a:ext cx="9791291" cy="15883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EBC88D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n</a:t>
            </a:r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++</a:t>
            </a:r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{</a:t>
            </a:r>
            <a:endParaRPr lang="en-US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x </a:t>
            </a:r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a </a:t>
            </a:r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b</a:t>
            </a:r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// </a:t>
            </a:r>
            <a:r>
              <a:rPr lang="en-US" altLang="zh-CN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Loop-Invariant varaibles: </a:t>
            </a:r>
            <a:r>
              <a:rPr lang="en-US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a, b </a:t>
            </a:r>
            <a:r>
              <a:rPr lang="en-US" altLang="zh-CN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not changed in loop</a:t>
            </a:r>
            <a:endParaRPr lang="ja-JP" altLang="en-US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y </a:t>
            </a:r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x </a:t>
            </a:r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c</a:t>
            </a:r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// </a:t>
            </a:r>
            <a:r>
              <a:rPr lang="en-US" altLang="zh-CN" b="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Loop-Invariant varaibles: dependent on</a:t>
            </a:r>
            <a:r>
              <a:rPr lang="ja-JP" altLang="en-US" b="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x</a:t>
            </a:r>
            <a:endParaRPr lang="en-US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arr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] </a:t>
            </a:r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y </a:t>
            </a:r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// </a:t>
            </a:r>
            <a:r>
              <a:rPr lang="en-US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L</a:t>
            </a:r>
            <a:r>
              <a:rPr lang="en-US" altLang="zh-CN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oop</a:t>
            </a:r>
            <a:r>
              <a:rPr lang="zh-CN" altLang="en-US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altLang="zh-CN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variant</a:t>
            </a:r>
            <a:r>
              <a:rPr lang="ja-JP" altLang="en-US" b="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：</a:t>
            </a:r>
            <a:r>
              <a:rPr lang="ja-JP" altLang="en-US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d</a:t>
            </a:r>
            <a:r>
              <a:rPr lang="en-US" altLang="zh-CN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epend on</a:t>
            </a:r>
            <a:r>
              <a:rPr lang="ja-JP" altLang="en-US" b="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i="1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</a:t>
            </a:r>
            <a:endParaRPr lang="en-US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}</a:t>
            </a:r>
            <a:endParaRPr lang="en-US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0775" y="4181447"/>
            <a:ext cx="2500560" cy="15883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E4E4E4"/>
                </a:solidFill>
                <a:latin typeface="Menlo" panose="020B0609030804020204" pitchFamily="49" charset="0"/>
              </a:rPr>
              <a:t>for ...</a:t>
            </a:r>
          </a:p>
          <a:p>
            <a:r>
              <a:rPr lang="en-US" dirty="0">
                <a:solidFill>
                  <a:srgbClr val="E4E4E4"/>
                </a:solidFill>
                <a:latin typeface="Menlo" panose="020B0609030804020204" pitchFamily="49" charset="0"/>
              </a:rPr>
              <a:t>x=</a:t>
            </a:r>
            <a:r>
              <a:rPr lang="en-US" dirty="0" err="1">
                <a:solidFill>
                  <a:srgbClr val="E4E4E4"/>
                </a:solidFill>
                <a:latin typeface="Menlo" panose="020B0609030804020204" pitchFamily="49" charset="0"/>
              </a:rPr>
              <a:t>a+b</a:t>
            </a:r>
            <a:endParaRPr lang="en-US" dirty="0">
              <a:solidFill>
                <a:srgbClr val="E4E4E4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E4E4E4"/>
                </a:solidFill>
                <a:latin typeface="Menlo" panose="020B0609030804020204" pitchFamily="49" charset="0"/>
              </a:rPr>
              <a:t>y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=x*c</a:t>
            </a:r>
          </a:p>
          <a:p>
            <a:r>
              <a:rPr lang="en-US" dirty="0">
                <a:solidFill>
                  <a:srgbClr val="E4E4E4"/>
                </a:solidFill>
                <a:latin typeface="Menlo" panose="020B0609030804020204" pitchFamily="49" charset="0"/>
              </a:rPr>
              <a:t>use(y)</a:t>
            </a:r>
            <a:endParaRPr lang="en-US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23300" y="4095006"/>
            <a:ext cx="2500560" cy="80950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E4E4E4"/>
                </a:solidFill>
                <a:latin typeface="Menlo" panose="020B0609030804020204" pitchFamily="49" charset="0"/>
              </a:rPr>
              <a:t>x=</a:t>
            </a:r>
            <a:r>
              <a:rPr lang="en-US" dirty="0" err="1">
                <a:solidFill>
                  <a:srgbClr val="E4E4E4"/>
                </a:solidFill>
                <a:latin typeface="Menlo" panose="020B0609030804020204" pitchFamily="49" charset="0"/>
              </a:rPr>
              <a:t>a+b</a:t>
            </a:r>
            <a:endParaRPr lang="en-US" dirty="0">
              <a:solidFill>
                <a:srgbClr val="E4E4E4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E4E4E4"/>
                </a:solidFill>
                <a:latin typeface="Menlo" panose="020B0609030804020204" pitchFamily="49" charset="0"/>
              </a:rPr>
              <a:t>y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=x*c</a:t>
            </a:r>
          </a:p>
        </p:txBody>
      </p:sp>
      <p:sp>
        <p:nvSpPr>
          <p:cNvPr id="9" name="Rectangle 8"/>
          <p:cNvSpPr/>
          <p:nvPr/>
        </p:nvSpPr>
        <p:spPr>
          <a:xfrm>
            <a:off x="5323300" y="5165763"/>
            <a:ext cx="2500560" cy="80950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E4E4E4"/>
                </a:solidFill>
                <a:latin typeface="Menlo" panose="020B0609030804020204" pitchFamily="49" charset="0"/>
              </a:rPr>
              <a:t>for ... </a:t>
            </a:r>
          </a:p>
          <a:p>
            <a:r>
              <a:rPr lang="en-US" dirty="0">
                <a:solidFill>
                  <a:srgbClr val="E4E4E4"/>
                </a:solidFill>
                <a:latin typeface="Menlo" panose="020B0609030804020204" pitchFamily="49" charset="0"/>
              </a:rPr>
              <a:t>use(y)</a:t>
            </a:r>
            <a:endParaRPr lang="en-US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3198236" y="4963734"/>
            <a:ext cx="1971304" cy="1728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LICM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rPr>
              <a:t> </a:t>
            </a:r>
            <a:r>
              <a:rPr lang="en-US" altLang="zh-CN" dirty="0" err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rPr>
              <a:t>Flow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C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ompute 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  <a:cs typeface="Arial" panose="020B0604020202020204" pitchFamily="34" charset="0"/>
              </a:rPr>
              <a:t>Reaching Definitions</a:t>
            </a:r>
          </a:p>
          <a:p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F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ind Loop Ivariants</a:t>
            </a:r>
          </a:p>
          <a:p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C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ompute Dominators</a:t>
            </a:r>
          </a:p>
          <a:p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Check Safety Conditions</a:t>
            </a:r>
          </a:p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M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ove to P</a:t>
            </a:r>
            <a:r>
              <a:rPr lang="en-US" dirty="0"/>
              <a:t>reheader</a:t>
            </a:r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3" y="4159304"/>
            <a:ext cx="7772400" cy="106137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rPr>
              <a:t>L</a:t>
            </a:r>
            <a:r>
              <a:rPr lang="en-US" altLang="zh-CN" dirty="0" err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rPr>
              <a:t>oop and Domination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Loop</a:t>
            </a:r>
            <a:r>
              <a:rPr lang="ja-JP" altLang="en-US" dirty="0"/>
              <a:t> </a:t>
            </a:r>
            <a:r>
              <a:rPr lang="en-US" altLang="zh-CN" dirty="0"/>
              <a:t>Structure</a:t>
            </a:r>
            <a:endParaRPr lang="en-US" altLang="ja-JP" dirty="0"/>
          </a:p>
          <a:p>
            <a:r>
              <a:rPr lang="en-US" dirty="0"/>
              <a:t>Header</a:t>
            </a:r>
          </a:p>
          <a:p>
            <a:pPr lvl="1"/>
            <a:r>
              <a:rPr lang="en-US" altLang="zh-CN"/>
              <a:t>Only entry to the loop, dominating all nodes in loop</a:t>
            </a:r>
          </a:p>
          <a:p>
            <a:pPr lvl="0"/>
            <a:r>
              <a:rPr lang="en-US" dirty="0"/>
              <a:t>Back Edge</a:t>
            </a:r>
          </a:p>
          <a:p>
            <a:pPr lvl="1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Node </a:t>
            </a:r>
            <a:r>
              <a:rPr lang="ja-JP" alt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J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umping back to</a:t>
            </a:r>
            <a:r>
              <a:rPr lang="ja-JP" altLang="en-US"/>
              <a:t> </a:t>
            </a:r>
            <a:r>
              <a:rPr lang="en-US" dirty="0"/>
              <a:t>header</a:t>
            </a:r>
            <a:endParaRPr lang="ja-JP" altLang="en-US"/>
          </a:p>
          <a:p>
            <a:r>
              <a:rPr lang="en-US" dirty="0"/>
              <a:t>Loop Body</a:t>
            </a:r>
          </a:p>
          <a:p>
            <a:pPr lvl="1"/>
            <a:r>
              <a:rPr lang="en-US" altLang="zh-CN" dirty="0"/>
              <a:t>Nodes between </a:t>
            </a:r>
            <a:r>
              <a:rPr lang="en-US" dirty="0"/>
              <a:t>header 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a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nd back edge</a:t>
            </a:r>
            <a:endParaRPr lang="ja-JP" altLang="en-US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zh-CN" dirty="0"/>
              <a:t>Domination</a:t>
            </a:r>
            <a:endParaRPr lang="en-US" altLang="ja-JP" dirty="0"/>
          </a:p>
          <a:p>
            <a:r>
              <a:rPr lang="ja-JP" altLang="en-US"/>
              <a:t> </a:t>
            </a:r>
            <a:r>
              <a:rPr lang="en-US" altLang="ja-JP" dirty="0"/>
              <a:t>A </a:t>
            </a:r>
            <a:r>
              <a:rPr lang="en-US" altLang="zh-CN" dirty="0"/>
              <a:t>Dominates </a:t>
            </a:r>
            <a:r>
              <a:rPr lang="en-US" altLang="ja-JP" dirty="0"/>
              <a:t>B</a:t>
            </a:r>
            <a:r>
              <a:rPr lang="ja-JP" altLang="en-US"/>
              <a:t>：</a:t>
            </a:r>
            <a:r>
              <a:rPr lang="en-US" altLang="zh-CN"/>
              <a:t>All path from entry to B must pass A</a:t>
            </a:r>
            <a:endParaRPr lang="en-US" altLang="ja-JP" dirty="0"/>
          </a:p>
          <a:p>
            <a:r>
              <a:rPr lang="ja-JP" altLang="en-US"/>
              <a:t> </a:t>
            </a:r>
            <a:r>
              <a:rPr lang="en-US" altLang="ja-JP" dirty="0"/>
              <a:t>A </a:t>
            </a:r>
            <a:r>
              <a:rPr lang="en-US" altLang="ja-JP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D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ominates</a:t>
            </a:r>
            <a:r>
              <a:rPr lang="ja-JP" altLang="en-US"/>
              <a:t> </a:t>
            </a:r>
            <a:r>
              <a:rPr lang="en-US" altLang="ja-JP" dirty="0"/>
              <a:t>B </a:t>
            </a:r>
            <a:r>
              <a:rPr lang="en-US" altLang="zh-CN" dirty="0"/>
              <a:t>strictly</a:t>
            </a:r>
            <a:r>
              <a:rPr lang="ja-JP" altLang="en-US"/>
              <a:t>：</a:t>
            </a:r>
            <a:r>
              <a:rPr lang="en-US" altLang="ja-JP" dirty="0"/>
              <a:t>A </a:t>
            </a:r>
            <a:r>
              <a:rPr lang="en-US" altLang="zh-CN" dirty="0"/>
              <a:t>dominates </a:t>
            </a:r>
            <a:r>
              <a:rPr lang="en-US" altLang="ja-JP" dirty="0"/>
              <a:t>B </a:t>
            </a:r>
            <a:r>
              <a:rPr lang="en-US" altLang="zh-CN" dirty="0"/>
              <a:t>and</a:t>
            </a:r>
            <a:r>
              <a:rPr lang="ja-JP" altLang="en-US"/>
              <a:t> </a:t>
            </a:r>
            <a:r>
              <a:rPr lang="en-US" altLang="ja-JP" dirty="0"/>
              <a:t>A ≠ B</a:t>
            </a:r>
          </a:p>
          <a:p>
            <a:endParaRPr lang="en-US" altLang="ja-JP" dirty="0"/>
          </a:p>
          <a:p>
            <a:endParaRPr lang="ja-JP" altLang="en-US"/>
          </a:p>
          <a:p>
            <a:endParaRPr lang="en-US" dirty="0"/>
          </a:p>
        </p:txBody>
      </p:sp>
      <p:grpSp>
        <p:nvGrpSpPr>
          <p:cNvPr id="25" name="Group 24"/>
          <p:cNvGrpSpPr/>
          <p:nvPr/>
        </p:nvGrpSpPr>
        <p:grpSpPr>
          <a:xfrm>
            <a:off x="419100" y="4986494"/>
            <a:ext cx="5563771" cy="1099664"/>
            <a:chOff x="419100" y="4986494"/>
            <a:chExt cx="5563771" cy="1099664"/>
          </a:xfrm>
        </p:grpSpPr>
        <p:sp>
          <p:nvSpPr>
            <p:cNvPr id="9" name="Rectangle 8"/>
            <p:cNvSpPr/>
            <p:nvPr/>
          </p:nvSpPr>
          <p:spPr>
            <a:xfrm>
              <a:off x="419100" y="4986496"/>
              <a:ext cx="1053440" cy="48688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Entry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33512" y="4986496"/>
              <a:ext cx="1053440" cy="48688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header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447924" y="4986495"/>
              <a:ext cx="1053440" cy="48688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Body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929431" y="4986494"/>
              <a:ext cx="1053440" cy="48688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Exit</a:t>
              </a:r>
            </a:p>
          </p:txBody>
        </p:sp>
        <p:cxnSp>
          <p:nvCxnSpPr>
            <p:cNvPr id="14" name="Straight Arrow Connector 13"/>
            <p:cNvCxnSpPr>
              <a:stCxn id="9" idx="3"/>
              <a:endCxn id="10" idx="1"/>
            </p:cNvCxnSpPr>
            <p:nvPr/>
          </p:nvCxnSpPr>
          <p:spPr>
            <a:xfrm>
              <a:off x="1472540" y="5229941"/>
              <a:ext cx="4609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10" idx="3"/>
              <a:endCxn id="11" idx="1"/>
            </p:cNvCxnSpPr>
            <p:nvPr/>
          </p:nvCxnSpPr>
          <p:spPr>
            <a:xfrm flipV="1">
              <a:off x="2986952" y="5229940"/>
              <a:ext cx="460972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stCxn id="11" idx="3"/>
              <a:endCxn id="12" idx="1"/>
            </p:cNvCxnSpPr>
            <p:nvPr/>
          </p:nvCxnSpPr>
          <p:spPr>
            <a:xfrm flipV="1">
              <a:off x="4501364" y="5229939"/>
              <a:ext cx="428067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Elbow Connector 22"/>
            <p:cNvCxnSpPr>
              <a:stCxn id="11" idx="2"/>
              <a:endCxn id="10" idx="2"/>
            </p:cNvCxnSpPr>
            <p:nvPr/>
          </p:nvCxnSpPr>
          <p:spPr>
            <a:xfrm rot="5400000">
              <a:off x="3217438" y="4716178"/>
              <a:ext cx="1" cy="1514412"/>
            </a:xfrm>
            <a:prstGeom prst="bentConnector3">
              <a:avLst>
                <a:gd name="adj1" fmla="val 2286010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2567260" y="5716826"/>
              <a:ext cx="13003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Back Edge</a:t>
              </a:r>
            </a:p>
          </p:txBody>
        </p:sp>
      </p:grpSp>
      <p:pic>
        <p:nvPicPr>
          <p:cNvPr id="28" name="Pictur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328" y="3609027"/>
            <a:ext cx="3745439" cy="311240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 and Domination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ja-JP" altLang="en-US" sz="288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D</a:t>
            </a:r>
            <a:r>
              <a:rPr lang="en-US" altLang="zh-CN" sz="288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omination </a:t>
            </a:r>
            <a:r>
              <a:rPr lang="en-US" altLang="zh-CN" sz="288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  <a:cs typeface="Arial" panose="020B0604020202020204" pitchFamily="34" charset="0"/>
              </a:rPr>
              <a:t>represented in Tree</a:t>
            </a:r>
            <a:endParaRPr lang="en-US" altLang="zh-CN" sz="288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charset="-122"/>
            </a:endParaRPr>
          </a:p>
          <a:p>
            <a:pPr lvl="1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P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arent node dominates all children</a:t>
            </a:r>
          </a:p>
          <a:p>
            <a:pPr lvl="1"/>
            <a:r>
              <a:rPr lang="en-US" dirty="0"/>
              <a:t>LICM 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u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se domination to check safety conditions</a:t>
            </a:r>
            <a:endParaRPr lang="en-US" altLang="ja-JP" dirty="0"/>
          </a:p>
          <a:p>
            <a:endParaRPr lang="en-US" altLang="ja-JP" dirty="0"/>
          </a:p>
          <a:p>
            <a:endParaRPr lang="ja-JP" altLang="en-US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263" y="2962808"/>
            <a:ext cx="3745439" cy="311240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65967" y="2806195"/>
            <a:ext cx="6254337" cy="342553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FB080"/>
                </a:solidFill>
                <a:effectLst/>
                <a:latin typeface="Menlo" panose="020B0609030804020204" pitchFamily="49" charset="0"/>
              </a:rPr>
              <a:t>compute_dominators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i="1" dirty="0" err="1">
                <a:solidFill>
                  <a:srgbClr val="F8C762"/>
                </a:solidFill>
                <a:effectLst/>
                <a:latin typeface="Menlo" panose="020B0609030804020204" pitchFamily="49" charset="0"/>
              </a:rPr>
              <a:t>cfg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# 1. </a:t>
            </a:r>
            <a:r>
              <a:rPr lang="en-US" altLang="zh-CN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Calculate</a:t>
            </a:r>
            <a:r>
              <a:rPr lang="ja-JP" altLang="en-US" sz="1400" b="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DFS </a:t>
            </a:r>
            <a:r>
              <a:rPr lang="en-US" altLang="zh-CN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tree</a:t>
            </a:r>
            <a:r>
              <a:rPr lang="ja-JP" altLang="en-US" sz="1400" b="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400" b="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and </a:t>
            </a:r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DFS </a:t>
            </a:r>
            <a:r>
              <a:rPr lang="en-US" altLang="zh-CN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index</a:t>
            </a:r>
            <a:endParaRPr lang="ja-JP" altLang="en-US" sz="1400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dfs_tree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dfnum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AAA0FA"/>
                </a:solidFill>
                <a:effectLst/>
                <a:latin typeface="Menlo" panose="020B0609030804020204" pitchFamily="49" charset="0"/>
              </a:rPr>
              <a:t>dfs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cfg</a:t>
            </a:r>
            <a:r>
              <a:rPr lang="en-US" sz="1400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entry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1"/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# 2. </a:t>
            </a:r>
            <a:r>
              <a:rPr lang="en-US" altLang="zh-CN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Calculate semi</a:t>
            </a:r>
            <a:r>
              <a:rPr lang="zh-CN" alt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altLang="zh-CN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dominator</a:t>
            </a:r>
            <a:endParaRPr lang="ja-JP" altLang="en-US" sz="1400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sdom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{}</a:t>
            </a:r>
          </a:p>
          <a:p>
            <a:pPr lvl="1"/>
            <a:r>
              <a:rPr lang="en-US" sz="1400" b="0" i="1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v </a:t>
            </a:r>
            <a:r>
              <a:rPr lang="en-US" sz="1400" b="0" i="1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reverse_dfs_order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2"/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sdom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v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EFB080"/>
                </a:solidFill>
                <a:effectLst/>
                <a:latin typeface="Menlo" panose="020B0609030804020204" pitchFamily="49" charset="0"/>
              </a:rPr>
              <a:t>min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dfnum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u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i="1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u </a:t>
            </a:r>
            <a:r>
              <a:rPr lang="en-US" sz="1400" b="0" i="1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AAA0FA"/>
                </a:solidFill>
                <a:effectLst/>
                <a:latin typeface="Menlo" panose="020B0609030804020204" pitchFamily="49" charset="0"/>
              </a:rPr>
              <a:t>predecessors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v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))</a:t>
            </a:r>
          </a:p>
          <a:p>
            <a:pPr lvl="2"/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# 3. </a:t>
            </a:r>
            <a:r>
              <a:rPr lang="en-US" altLang="zh-CN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Calculate dominator from semi</a:t>
            </a:r>
            <a:r>
              <a:rPr lang="zh-CN" alt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altLang="zh-CN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dominant</a:t>
            </a:r>
            <a:endParaRPr lang="ja-JP" altLang="en-US" sz="1400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idom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{}</a:t>
            </a:r>
          </a:p>
          <a:p>
            <a:pPr lvl="1"/>
            <a:r>
              <a:rPr lang="en-US" sz="1400" b="0" i="1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v </a:t>
            </a:r>
            <a:r>
              <a:rPr lang="en-US" sz="1400" b="0" i="1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dfs_order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1"/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idom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v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AAA0FA"/>
                </a:solidFill>
                <a:effectLst/>
                <a:latin typeface="Menlo" panose="020B0609030804020204" pitchFamily="49" charset="0"/>
              </a:rPr>
              <a:t>compute_idom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v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sdom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1"/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sz="1400" b="0" i="1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idom</a:t>
            </a:r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1" name="Content Placeholder 3"/>
          <p:cNvSpPr txBox="1"/>
          <p:nvPr/>
        </p:nvSpPr>
        <p:spPr>
          <a:xfrm>
            <a:off x="5808876" y="1413383"/>
            <a:ext cx="5591177" cy="48529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60045" marR="0" indent="-360045" algn="l" defTabSz="3429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■"/>
              <a:defRPr sz="2400" b="0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1pPr>
            <a:lvl2pPr marL="557530" marR="0" indent="-21463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Pct val="75000"/>
              <a:buFont typeface="文泉驿微米黑" panose="020B0606030804020204" charset="-122"/>
              <a:buChar char="♦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2pPr>
            <a:lvl3pPr marL="8572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▶"/>
              <a:defRPr sz="16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3pPr>
            <a:lvl4pPr marL="12001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●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4pPr>
            <a:lvl5pPr marL="15430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49E39"/>
              </a:buClr>
              <a:buSzTx/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 err="1"/>
              <a:t>Lengauer-Tarjan</a:t>
            </a:r>
            <a:r>
              <a:rPr lang="en-US" altLang="ja-JP" dirty="0"/>
              <a:t> </a:t>
            </a:r>
            <a:r>
              <a:rPr lang="en-US" altLang="zh-CN" dirty="0"/>
              <a:t>Algorithm</a:t>
            </a:r>
            <a:endParaRPr lang="en-US" altLang="ja-JP" dirty="0"/>
          </a:p>
          <a:p>
            <a:pPr lvl="1"/>
            <a:r>
              <a:rPr lang="en-US" altLang="zh-CN"/>
              <a:t>Based on DFS</a:t>
            </a:r>
            <a:endParaRPr lang="ja-JP" altLang="en-US"/>
          </a:p>
          <a:p>
            <a:pPr lvl="1"/>
            <a:r>
              <a:rPr lang="en-US" altLang="zh-CN" dirty="0" err="1"/>
              <a:t>S</a:t>
            </a:r>
            <a:r>
              <a:rPr lang="en-US" altLang="ja-JP" dirty="0" err="1"/>
              <a:t>emidominator</a:t>
            </a:r>
            <a:endParaRPr lang="ja-JP" altLang="en-US"/>
          </a:p>
          <a:p>
            <a:endParaRPr lang="en-US" altLang="ja-JP" dirty="0"/>
          </a:p>
          <a:p>
            <a:endParaRPr lang="ja-JP" altLang="en-US"/>
          </a:p>
          <a:p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Reaching Definitions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en-US" altLang="zh-CN" dirty="0"/>
              <a:t>Analyze the variable definitions that may reach each point in the program</a:t>
            </a:r>
          </a:p>
          <a:p>
            <a:pPr lvl="1"/>
            <a:r>
              <a:rPr lang="en-US" altLang="ja-JP" dirty="0"/>
              <a:t>IN[B] = ∪(OUT[P]) for all predecessors P of B</a:t>
            </a:r>
          </a:p>
          <a:p>
            <a:pPr lvl="1"/>
            <a:r>
              <a:rPr lang="en-US" altLang="ja-JP" dirty="0"/>
              <a:t>OUT[B] = GEN[B] ∪ (IN[B] - KILL[B])</a:t>
            </a:r>
          </a:p>
          <a:p>
            <a:r>
              <a:rPr lang="en-US" altLang="zh-CN" dirty="0"/>
              <a:t>Reaching Definitions in </a:t>
            </a:r>
            <a:r>
              <a:rPr lang="en-US" altLang="ja-JP" dirty="0"/>
              <a:t>LICM</a:t>
            </a:r>
          </a:p>
          <a:p>
            <a:pPr lvl="1"/>
            <a:r>
              <a:rPr lang="en-US" altLang="zh-CN"/>
              <a:t>Determine where operands are defined</a:t>
            </a:r>
          </a:p>
          <a:p>
            <a:pPr lvl="1"/>
            <a:r>
              <a:rPr lang="en-US" altLang="zh-CN"/>
              <a:t>Check whether a definition originates from</a:t>
            </a:r>
          </a:p>
          <a:p>
            <a:pPr marL="342900" lvl="1" indent="457200">
              <a:buNone/>
            </a:pPr>
            <a:r>
              <a:rPr lang="en-US" altLang="zh-CN"/>
              <a:t> outside the loop</a:t>
            </a:r>
          </a:p>
          <a:p>
            <a:pPr lvl="1"/>
            <a:r>
              <a:rPr lang="en-US" altLang="zh-CN"/>
              <a:t>Detect whether a variable has multiple </a:t>
            </a:r>
          </a:p>
          <a:p>
            <a:pPr marL="342900" lvl="1" indent="457200">
              <a:buNone/>
            </a:pPr>
            <a:r>
              <a:rPr lang="en-US" altLang="zh-CN"/>
              <a:t>definitions</a:t>
            </a:r>
            <a:endParaRPr lang="ja-JP" altLang="en-US"/>
          </a:p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1735" y="1843555"/>
            <a:ext cx="5470001" cy="411821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Loop-Invariant Detection Algorithm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Initialization: Mark all instructions whose operands are defined outside the loop as "invariant"</a:t>
            </a:r>
          </a:p>
          <a:p>
            <a:r>
              <a:rPr lang="en-US" altLang="zh-CN"/>
              <a:t>Iterate until a fixed point is reached</a:t>
            </a:r>
            <a:r>
              <a:rPr lang="ja-JP" altLang="en-US"/>
              <a:t>：</a:t>
            </a:r>
          </a:p>
          <a:p>
            <a:pPr lvl="1"/>
            <a:r>
              <a:rPr lang="en-US" altLang="zh-CN" dirty="0"/>
              <a:t>For each instruction I: "x = y op z" inside the loop:</a:t>
            </a:r>
          </a:p>
          <a:p>
            <a:pPr lvl="1"/>
            <a:r>
              <a:rPr lang="en-US" altLang="zh-CN" dirty="0"/>
              <a:t>If any of the following conditions are met, mark it as "invariant":</a:t>
            </a:r>
          </a:p>
          <a:p>
            <a:pPr lvl="1"/>
            <a:r>
              <a:rPr lang="en-US" altLang="zh-CN" dirty="0"/>
              <a:t>1. All reaching definitions of y are outside the loop, or</a:t>
            </a:r>
          </a:p>
          <a:p>
            <a:pPr lvl="1"/>
            <a:r>
              <a:rPr lang="en-US" altLang="zh-CN" dirty="0"/>
              <a:t>2. There is exactly one reaching definition, and </a:t>
            </a:r>
          </a:p>
          <a:p>
            <a:pPr marL="342900" lvl="1" indent="0">
              <a:buNone/>
            </a:pPr>
            <a:r>
              <a:rPr lang="en-US" altLang="zh-CN" dirty="0"/>
              <a:t>that definition is loop-invariant</a:t>
            </a:r>
          </a:p>
          <a:p>
            <a:pPr lvl="1"/>
            <a:r>
              <a:rPr lang="en-US" altLang="zh-CN" dirty="0"/>
              <a:t>And: z satisfies the same conditions (if applicable)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6803065" y="3562250"/>
            <a:ext cx="5149115" cy="261477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FB080"/>
                </a:solidFill>
                <a:effectLst/>
                <a:latin typeface="Menlo" panose="020B0609030804020204" pitchFamily="49" charset="0"/>
              </a:rPr>
              <a:t>find_loop_invariants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i="1" dirty="0">
                <a:solidFill>
                  <a:srgbClr val="F8C762"/>
                </a:solidFill>
                <a:effectLst/>
                <a:latin typeface="Menlo" panose="020B0609030804020204" pitchFamily="49" charset="0"/>
              </a:rPr>
              <a:t>loop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 lvl="1"/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invariant 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set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()</a:t>
            </a:r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changed 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True</a:t>
            </a:r>
          </a:p>
          <a:p>
            <a:pPr lvl="1"/>
            <a:r>
              <a:rPr lang="en-US" sz="1400" b="0" i="1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changed:</a:t>
            </a:r>
          </a:p>
          <a:p>
            <a:pPr lvl="2"/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changed 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False</a:t>
            </a:r>
          </a:p>
          <a:p>
            <a:pPr lvl="2"/>
            <a:r>
              <a:rPr lang="en-US" sz="1400" b="0" i="1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instr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i="1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loop</a:t>
            </a:r>
            <a:r>
              <a:rPr lang="en-US" sz="1400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instructions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3"/>
            <a:r>
              <a:rPr lang="en-US" sz="1400" b="0" i="1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AAA0FA"/>
                </a:solidFill>
                <a:effectLst/>
                <a:latin typeface="Menlo" panose="020B0609030804020204" pitchFamily="49" charset="0"/>
              </a:rPr>
              <a:t>is_invariant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instr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invariant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4"/>
            <a:r>
              <a:rPr lang="en-US" sz="1400" b="0" i="1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instr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invariant:</a:t>
            </a:r>
          </a:p>
          <a:p>
            <a:pPr lvl="5"/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invariant</a:t>
            </a:r>
            <a:r>
              <a:rPr lang="en-US" sz="1400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AAA0FA"/>
                </a:solidFill>
                <a:effectLst/>
                <a:latin typeface="Menlo" panose="020B0609030804020204" pitchFamily="49" charset="0"/>
              </a:rPr>
              <a:t>add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instr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5"/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changed 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True</a:t>
            </a:r>
          </a:p>
          <a:p>
            <a:pPr lvl="1"/>
            <a:r>
              <a:rPr lang="en-US" sz="1400" b="0" i="1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invariant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Loop-Invariant Detection Algorithm 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I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nitialization</a:t>
            </a:r>
          </a:p>
          <a:p>
            <a:r>
              <a:rPr lang="en-US" altLang="zh-CN" dirty="0" err="1"/>
              <a:t>Iterate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Round 1: {x = </a:t>
            </a:r>
            <a:r>
              <a:rPr lang="en-US" dirty="0" err="1"/>
              <a:t>a+b</a:t>
            </a:r>
            <a:r>
              <a:rPr lang="en-US" dirty="0"/>
              <a:t>} → INVARIANT</a:t>
            </a:r>
          </a:p>
          <a:p>
            <a:r>
              <a:rPr lang="en-US" dirty="0"/>
              <a:t>Round 2: {y = x*c} → INVARIANT </a:t>
            </a:r>
          </a:p>
          <a:p>
            <a:r>
              <a:rPr lang="en-US" dirty="0"/>
              <a:t>Round 3: </a:t>
            </a:r>
            <a:r>
              <a:rPr lang="en-US" altLang="zh-CN" dirty="0"/>
              <a:t>No newly added</a:t>
            </a:r>
            <a:r>
              <a:rPr lang="ja-JP" altLang="en-US"/>
              <a:t> → </a:t>
            </a:r>
            <a:r>
              <a:rPr lang="en-US" altLang="zh-CN"/>
              <a:t>Fixed Point</a:t>
            </a:r>
            <a:endParaRPr lang="ja-JP" altLang="en-US"/>
          </a:p>
          <a:p>
            <a:r>
              <a:rPr lang="en-US" altLang="zh-CN" dirty="0"/>
              <a:t>Final</a:t>
            </a:r>
            <a:r>
              <a:rPr lang="ja-JP" altLang="en-US" dirty="0"/>
              <a:t> </a:t>
            </a:r>
            <a:r>
              <a:rPr lang="en-US" altLang="zh-CN" dirty="0"/>
              <a:t>Invariant Set</a:t>
            </a:r>
            <a:r>
              <a:rPr lang="en-US" altLang="ja-JP" dirty="0"/>
              <a:t>: {</a:t>
            </a:r>
            <a:r>
              <a:rPr lang="en-US" dirty="0"/>
              <a:t>x = </a:t>
            </a:r>
            <a:r>
              <a:rPr lang="en-US" dirty="0" err="1"/>
              <a:t>a+b</a:t>
            </a:r>
            <a:r>
              <a:rPr lang="en-US" dirty="0"/>
              <a:t>, y = x*c} </a:t>
            </a:r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23873" y="2551471"/>
            <a:ext cx="5266400" cy="298255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// a, b, c </a:t>
            </a:r>
            <a:r>
              <a:rPr lang="en-US" altLang="zh-CN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defined outside the loop</a:t>
            </a:r>
            <a:endParaRPr lang="ja-JP" altLang="en-US" sz="1600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EBC88D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n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++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{</a:t>
            </a:r>
            <a:endParaRPr lang="en-US" sz="16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x </a:t>
            </a:r>
            <a:r>
              <a:rPr lang="en-US" sz="16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a </a:t>
            </a:r>
            <a:r>
              <a:rPr lang="en-US" sz="16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b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r>
              <a:rPr lang="en-US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en-US" altLang="zh-CN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It </a:t>
            </a:r>
            <a:r>
              <a:rPr lang="en-US" altLang="ja-JP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ja-JP" altLang="en-US" sz="1600" b="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：</a:t>
            </a:r>
            <a:r>
              <a:rPr lang="en-US" altLang="zh-CN" sz="1600" b="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Invariable</a:t>
            </a:r>
            <a:r>
              <a:rPr lang="ja-JP" altLang="en-US" sz="1600" b="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ja-JP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i="1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a,b</a:t>
            </a:r>
            <a:r>
              <a:rPr lang="en-US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zh-CN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defined outside</a:t>
            </a:r>
            <a:r>
              <a:rPr lang="en-US" altLang="ja-JP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)</a:t>
            </a:r>
            <a:endParaRPr lang="ja-JP" altLang="en-US" sz="1600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y </a:t>
            </a:r>
            <a:r>
              <a:rPr lang="en-US" sz="16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x </a:t>
            </a:r>
            <a:r>
              <a:rPr lang="en-US" sz="16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c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r>
              <a:rPr lang="en-US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en-US" altLang="zh-CN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It 2</a:t>
            </a:r>
            <a:r>
              <a:rPr lang="ja-JP" altLang="en-US" sz="1600" b="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：</a:t>
            </a:r>
            <a:r>
              <a:rPr lang="en-US" altLang="zh-CN" sz="1600" b="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Invariable</a:t>
            </a:r>
            <a:r>
              <a:rPr lang="ja-JP" altLang="en-US" sz="1600" b="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ja-JP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x </a:t>
            </a:r>
            <a:r>
              <a:rPr lang="en-US" altLang="zh-CN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invariable</a:t>
            </a:r>
            <a:r>
              <a:rPr lang="en-US" altLang="ja-JP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 </a:t>
            </a:r>
            <a:r>
              <a:rPr lang="en-US" altLang="zh-CN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defined outside</a:t>
            </a:r>
            <a:r>
              <a:rPr lang="en-US" altLang="ja-JP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)</a:t>
            </a:r>
            <a:endParaRPr lang="ja-JP" altLang="en-US" sz="1600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z </a:t>
            </a:r>
            <a:r>
              <a:rPr lang="en-US" sz="16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y </a:t>
            </a:r>
            <a:r>
              <a:rPr lang="en-US" sz="16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r>
              <a:rPr lang="en-US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en-US" altLang="zh-CN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Variable</a:t>
            </a:r>
            <a:r>
              <a:rPr lang="ja-JP" altLang="en-US" sz="1600" b="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ja-JP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depend on</a:t>
            </a:r>
            <a:r>
              <a:rPr lang="ja-JP" altLang="en-US" sz="1600" b="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i="1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6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w </a:t>
            </a:r>
            <a:r>
              <a:rPr lang="en-US" sz="16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z </a:t>
            </a:r>
            <a:r>
              <a:rPr lang="en-US" sz="16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EBC88D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r>
              <a:rPr lang="en-US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en-US" altLang="zh-CN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Variable</a:t>
            </a:r>
            <a:r>
              <a:rPr lang="ja-JP" altLang="en-US" sz="1600" b="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ja-JP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altLang="zh-CN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depend on</a:t>
            </a:r>
            <a:r>
              <a:rPr lang="ja-JP" altLang="en-US" sz="1600" b="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z)</a:t>
            </a:r>
            <a:endParaRPr lang="en-US" sz="16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}</a:t>
            </a:r>
            <a:endParaRPr lang="en-US" sz="16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rPr>
              <a:t>D</a:t>
            </a:r>
            <a:r>
              <a:rPr lang="en-US" altLang="zh-CN" dirty="0" err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rPr>
              <a:t>epen</a:t>
            </a:r>
            <a:r>
              <a:rPr lang="en-US" altLang="zh-CN" dirty="0" err="1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  <a:cs typeface="Arial" panose="020B0604020202020204" pitchFamily="34" charset="0"/>
              </a:rPr>
              <a:t>dence Type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True/Flow Dependence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Anti Dependence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Output Dependence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58645" y="1961535"/>
            <a:ext cx="4395035" cy="82591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S1: x = ...</a:t>
            </a:r>
          </a:p>
          <a:p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S2: ... = x // S2 </a:t>
            </a:r>
            <a:r>
              <a:rPr lang="en-US" altLang="zh-CN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depends on</a:t>
            </a:r>
            <a:r>
              <a:rPr lang="ja-JP" altLang="en-US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S1 </a:t>
            </a:r>
          </a:p>
        </p:txBody>
      </p:sp>
      <p:sp>
        <p:nvSpPr>
          <p:cNvPr id="7" name="Rectangle 6"/>
          <p:cNvSpPr/>
          <p:nvPr/>
        </p:nvSpPr>
        <p:spPr>
          <a:xfrm>
            <a:off x="958644" y="3578941"/>
            <a:ext cx="4395020" cy="82591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S1: ... = x</a:t>
            </a:r>
          </a:p>
          <a:p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S2: x = ...</a:t>
            </a:r>
            <a:r>
              <a:rPr lang="zh-CN" alt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// S2 </a:t>
            </a:r>
            <a:r>
              <a:rPr lang="en-US" altLang="zh-CN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executed after 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S1</a:t>
            </a:r>
            <a:endParaRPr lang="ja-JP" altLang="en-US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58644" y="5196347"/>
            <a:ext cx="4395020" cy="82591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S1: x = ...</a:t>
            </a:r>
          </a:p>
          <a:p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S2: x = ... // </a:t>
            </a:r>
            <a:r>
              <a:rPr lang="en-US" altLang="zh-CN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maintain write sequence</a:t>
            </a:r>
            <a:endParaRPr lang="ja-JP" altLang="en-US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9" name="Content Placeholder 4"/>
          <p:cNvSpPr txBox="1"/>
          <p:nvPr/>
        </p:nvSpPr>
        <p:spPr>
          <a:xfrm>
            <a:off x="6597445" y="1311942"/>
            <a:ext cx="5204030" cy="48529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60045" marR="0" indent="-360045" algn="l" defTabSz="3429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■"/>
              <a:defRPr sz="2400" b="0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1pPr>
            <a:lvl2pPr marL="557530" marR="0" indent="-21463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Pct val="75000"/>
              <a:buFont typeface="文泉驿微米黑" panose="020B0606030804020204" charset="-122"/>
              <a:buChar char="♦"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2pPr>
            <a:lvl3pPr marL="8572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▶"/>
              <a:defRPr sz="16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3pPr>
            <a:lvl4pPr marL="12001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8B0012"/>
              </a:buClr>
              <a:buSzTx/>
              <a:buFont typeface="文泉驿微米黑" panose="020B0606030804020204" charset="-122"/>
              <a:buChar char="●"/>
              <a:defRPr sz="12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charset="-122"/>
                <a:cs typeface="+mn-cs"/>
              </a:defRPr>
            </a:lvl4pPr>
            <a:lvl5pPr marL="1543050" marR="0" indent="-171450" algn="l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49E39"/>
              </a:buClr>
              <a:buSzTx/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Input Dependence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Loop-Carried Dependence</a:t>
            </a:r>
          </a:p>
          <a:p>
            <a:pPr lvl="1"/>
            <a:r>
              <a:rPr lang="en-US" altLang="zh-CN" dirty="0"/>
              <a:t>Cannot apply LICM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597445" y="1961535"/>
            <a:ext cx="4773560" cy="82591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S1: ... = x</a:t>
            </a:r>
          </a:p>
          <a:p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S2: ... = x // </a:t>
            </a:r>
            <a:r>
              <a:rPr lang="en-US" altLang="zh-CN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can be executed in parallel</a:t>
            </a:r>
            <a:endParaRPr lang="ja-JP" altLang="en-US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597444" y="4347475"/>
            <a:ext cx="4773561" cy="181745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for (</a:t>
            </a:r>
            <a:r>
              <a:rPr lang="en-US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= 1; </a:t>
            </a:r>
            <a:r>
              <a:rPr lang="en-US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&lt; n; </a:t>
            </a:r>
            <a:r>
              <a:rPr lang="en-US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++) {</a:t>
            </a:r>
          </a:p>
          <a:p>
            <a:pPr lvl="1"/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a[</a:t>
            </a:r>
            <a:r>
              <a:rPr lang="en-US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] = a[i-1] + 1; </a:t>
            </a:r>
          </a:p>
          <a:p>
            <a:pPr lvl="1"/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en-US" altLang="zh-CN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Loop</a:t>
            </a:r>
            <a:r>
              <a:rPr lang="zh-CN" alt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altLang="zh-CN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carried</a:t>
            </a:r>
            <a:r>
              <a:rPr lang="en-US" altLang="ja-JP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a[</a:t>
            </a:r>
            <a:r>
              <a:rPr lang="en-US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] ← a[i-1]</a:t>
            </a:r>
          </a:p>
          <a:p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Safety Conditions for Code Motion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Dominate All Exits</a:t>
            </a:r>
          </a:p>
          <a:p>
            <a:pPr lvl="1"/>
            <a:r>
              <a:rPr lang="en-US" altLang="zh-CN" dirty="0"/>
              <a:t>Instruction's basic block must dominate all exits of the loop</a:t>
            </a:r>
          </a:p>
          <a:p>
            <a:pPr lvl="1"/>
            <a:r>
              <a:rPr lang="en-US" altLang="zh-CN" dirty="0"/>
              <a:t>Guarantees the instruction will always be executed</a:t>
            </a:r>
          </a:p>
          <a:p>
            <a:r>
              <a:rPr lang="en-US" altLang="zh-CN" dirty="0"/>
              <a:t>Unique Definition</a:t>
            </a:r>
          </a:p>
          <a:p>
            <a:pPr lvl="1"/>
            <a:r>
              <a:rPr lang="en-US" altLang="zh-CN" dirty="0"/>
              <a:t>The variable has only this one definition within the loop</a:t>
            </a:r>
          </a:p>
          <a:p>
            <a:pPr lvl="1"/>
            <a:r>
              <a:rPr lang="en-US" altLang="zh-CN" dirty="0"/>
              <a:t>Avoids conflicts with other definitions</a:t>
            </a:r>
          </a:p>
          <a:p>
            <a:r>
              <a:rPr lang="en-US" altLang="zh-CN" dirty="0"/>
              <a:t>Dominate All Uses</a:t>
            </a:r>
          </a:p>
          <a:p>
            <a:pPr lvl="1"/>
            <a:r>
              <a:rPr lang="en-US" altLang="zh-CN" dirty="0"/>
              <a:t>The definition dominates all uses of the variable within the loop</a:t>
            </a:r>
          </a:p>
          <a:p>
            <a:pPr lvl="1"/>
            <a:r>
              <a:rPr lang="en-US" altLang="zh-CN" dirty="0"/>
              <a:t>Or: this is the only definition that reaches the use points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561" y="1604135"/>
            <a:ext cx="4635500" cy="20701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87812" y="3674236"/>
            <a:ext cx="1046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tx1"/>
                </a:solidFill>
              </a:rPr>
              <a:t>F</a:t>
            </a:r>
            <a:r>
              <a:rPr lang="en-US" altLang="zh-CN" dirty="0" err="1">
                <a:solidFill>
                  <a:schemeClr val="tx1"/>
                </a:solidFill>
              </a:rPr>
              <a:t>easible</a:t>
            </a:r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71339" y="3674236"/>
            <a:ext cx="1160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altLang="zh-CN" dirty="0" err="1">
                <a:solidFill>
                  <a:schemeClr val="tx1"/>
                </a:solidFill>
              </a:rPr>
              <a:t>nfeasible</a:t>
            </a:r>
            <a:endParaRPr lang="en-US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Preheader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A special basic block placed </a:t>
            </a:r>
          </a:p>
          <a:p>
            <a:pPr marL="0" indent="0">
              <a:buNone/>
            </a:pPr>
            <a:r>
              <a:rPr lang="en-US" altLang="zh-CN" dirty="0"/>
              <a:t>     before the loop entry</a:t>
            </a:r>
          </a:p>
          <a:p>
            <a:r>
              <a:rPr lang="en-US" altLang="zh-CN" dirty="0"/>
              <a:t>Has exactly one successor (i.e., the header)</a:t>
            </a:r>
          </a:p>
          <a:p>
            <a:r>
              <a:rPr lang="en-US" altLang="zh-CN" dirty="0"/>
              <a:t>The location where loop-invariant code is placed</a:t>
            </a:r>
          </a:p>
          <a:p>
            <a:r>
              <a:rPr lang="en-US" altLang="ja-JP" dirty="0"/>
              <a:t>LICM </a:t>
            </a:r>
            <a:r>
              <a:rPr lang="en-US" altLang="zh-CN" dirty="0"/>
              <a:t>Pseudo Code</a:t>
            </a:r>
            <a:endParaRPr lang="ja-JP" altLang="en-US"/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803" y="1132554"/>
            <a:ext cx="1716548" cy="314367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3487" y="1132554"/>
            <a:ext cx="2200423" cy="3910704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>
            <a:off x="8758344" y="2704393"/>
            <a:ext cx="1115143" cy="1543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900548" y="2369358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LICM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1397" y="3956105"/>
            <a:ext cx="5497164" cy="240019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candidates 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[]</a:t>
            </a:r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b="0" i="1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instr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i="1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invariants:</a:t>
            </a:r>
          </a:p>
          <a:p>
            <a:r>
              <a:rPr lang="en-US" sz="1400" b="0" i="1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AAA0FA"/>
                </a:solidFill>
                <a:effectLst/>
                <a:latin typeface="Menlo" panose="020B0609030804020204" pitchFamily="49" charset="0"/>
              </a:rPr>
              <a:t>dominates_all_exits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instr</a:t>
            </a:r>
            <a:r>
              <a:rPr lang="en-US" sz="1400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block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exits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and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\</a:t>
            </a:r>
          </a:p>
          <a:p>
            <a:pPr lvl="1"/>
            <a:r>
              <a:rPr lang="en-US" sz="1400" b="0" dirty="0" err="1">
                <a:solidFill>
                  <a:srgbClr val="AAA0FA"/>
                </a:solidFill>
                <a:effectLst/>
                <a:latin typeface="Menlo" panose="020B0609030804020204" pitchFamily="49" charset="0"/>
              </a:rPr>
              <a:t>is_only_definition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instr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and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\</a:t>
            </a:r>
          </a:p>
          <a:p>
            <a:pPr lvl="1"/>
            <a:r>
              <a:rPr lang="en-US" sz="1400" b="0" dirty="0" err="1">
                <a:solidFill>
                  <a:srgbClr val="AAA0FA"/>
                </a:solidFill>
                <a:effectLst/>
                <a:latin typeface="Menlo" panose="020B0609030804020204" pitchFamily="49" charset="0"/>
              </a:rPr>
              <a:t>dominates_all_uses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instr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candidates</a:t>
            </a:r>
            <a:r>
              <a:rPr lang="en-US" sz="1400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AAA0FA"/>
                </a:solidFill>
                <a:effectLst/>
                <a:latin typeface="Menlo" panose="020B0609030804020204" pitchFamily="49" charset="0"/>
              </a:rPr>
              <a:t>append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instr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US" altLang="zh-CN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Move to</a:t>
            </a:r>
            <a:r>
              <a:rPr lang="ja-JP" altLang="en-US" sz="1400" b="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preheader </a:t>
            </a:r>
            <a:r>
              <a:rPr lang="en-US" altLang="zh-CN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based on dependency</a:t>
            </a:r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b="0" i="1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instr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i="1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AAA0FA"/>
                </a:solidFill>
                <a:effectLst/>
                <a:latin typeface="Menlo" panose="020B0609030804020204" pitchFamily="49" charset="0"/>
              </a:rPr>
              <a:t>topological_sort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candidates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-US" sz="1400" b="0" dirty="0">
                <a:solidFill>
                  <a:srgbClr val="AAA0FA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sz="1400" b="0" dirty="0" err="1">
                <a:solidFill>
                  <a:srgbClr val="AAA0FA"/>
                </a:solidFill>
                <a:effectLst/>
                <a:latin typeface="Menlo" panose="020B0609030804020204" pitchFamily="49" charset="0"/>
              </a:rPr>
              <a:t>move_to_preheader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instr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loop</a:t>
            </a:r>
            <a:r>
              <a:rPr lang="en-US" sz="1400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preheader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LICM </a:t>
            </a:r>
            <a:r>
              <a:rPr lang="en-US" altLang="zh-CN" dirty="0"/>
              <a:t>in LLVM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lib/Transforms/Scalar/</a:t>
            </a:r>
            <a:r>
              <a:rPr lang="en-US" dirty="0" err="1"/>
              <a:t>LICM.cpp</a:t>
            </a:r>
            <a:endParaRPr lang="en-US" dirty="0"/>
          </a:p>
          <a:p>
            <a:pPr lvl="1"/>
            <a:r>
              <a:rPr lang="en-US" altLang="zh-CN" dirty="0" err="1"/>
              <a:t>Loop-Invariant Code Motion</a:t>
            </a:r>
          </a:p>
          <a:p>
            <a:pPr lvl="1"/>
            <a:r>
              <a:rPr lang="en-US" altLang="zh-CN" dirty="0" err="1"/>
              <a:t>Hoisting memory accesses into registers</a:t>
            </a:r>
          </a:p>
          <a:p>
            <a:pPr lvl="1"/>
            <a:r>
              <a:rPr lang="en-US" altLang="zh-CN" dirty="0" err="1"/>
              <a:t>Sinking code to loop exits</a:t>
            </a:r>
          </a:p>
          <a:p>
            <a:r>
              <a:rPr lang="en-US" altLang="ja-JP" dirty="0" err="1"/>
              <a:t>LoopInfo</a:t>
            </a:r>
            <a:r>
              <a:rPr lang="en-US" altLang="ja-JP" dirty="0"/>
              <a:t> </a:t>
            </a:r>
            <a:r>
              <a:rPr lang="en-US" altLang="zh-CN" dirty="0"/>
              <a:t>Analysis</a:t>
            </a:r>
            <a:endParaRPr lang="ja-JP" altLang="en-US"/>
          </a:p>
          <a:p>
            <a:pPr lvl="1"/>
            <a:r>
              <a:rPr lang="en-US" altLang="ja-JP" dirty="0" err="1"/>
              <a:t>LoopInfo</a:t>
            </a:r>
            <a:r>
              <a:rPr lang="en-US" altLang="ja-JP" dirty="0"/>
              <a:t> &amp;LI = </a:t>
            </a:r>
            <a:r>
              <a:rPr lang="en-US" altLang="ja-JP" dirty="0" err="1"/>
              <a:t>getAnalysis</a:t>
            </a:r>
            <a:r>
              <a:rPr lang="en-US" altLang="ja-JP" dirty="0"/>
              <a:t>&lt;</a:t>
            </a:r>
            <a:r>
              <a:rPr lang="en-US" altLang="ja-JP" dirty="0" err="1"/>
              <a:t>LoopInfoWrapperPass</a:t>
            </a:r>
            <a:r>
              <a:rPr lang="en-US" altLang="ja-JP" dirty="0"/>
              <a:t>&gt;().</a:t>
            </a:r>
            <a:r>
              <a:rPr lang="en-US" altLang="ja-JP" dirty="0" err="1"/>
              <a:t>getLoopInfo</a:t>
            </a:r>
            <a:r>
              <a:rPr lang="en-US" altLang="ja-JP" dirty="0"/>
              <a:t>();</a:t>
            </a:r>
          </a:p>
          <a:p>
            <a:r>
              <a:rPr lang="en-US" altLang="ja-JP" dirty="0" err="1"/>
              <a:t>DominatorTree </a:t>
            </a:r>
            <a:r>
              <a:rPr lang="en-US" altLang="zh-CN" dirty="0" err="1"/>
              <a:t>for Dominance Analysis</a:t>
            </a:r>
            <a:r>
              <a:rPr lang="ja-JP" altLang="en-US"/>
              <a:t> </a:t>
            </a:r>
          </a:p>
          <a:p>
            <a:pPr lvl="1"/>
            <a:r>
              <a:rPr lang="en-US" altLang="ja-JP" dirty="0" err="1"/>
              <a:t>DominatorTree</a:t>
            </a:r>
            <a:r>
              <a:rPr lang="en-US" altLang="ja-JP" dirty="0"/>
              <a:t> &amp;DT = </a:t>
            </a:r>
            <a:r>
              <a:rPr lang="en-US" altLang="ja-JP" dirty="0" err="1"/>
              <a:t>getAnalysis</a:t>
            </a:r>
            <a:r>
              <a:rPr lang="en-US" altLang="ja-JP" dirty="0"/>
              <a:t>&lt;</a:t>
            </a:r>
            <a:r>
              <a:rPr lang="en-US" altLang="ja-JP" dirty="0" err="1"/>
              <a:t>DominatorTreeWrapperPass</a:t>
            </a:r>
            <a:r>
              <a:rPr lang="en-US" altLang="ja-JP" dirty="0"/>
              <a:t>&gt;().</a:t>
            </a:r>
            <a:r>
              <a:rPr lang="en-US" altLang="ja-JP" dirty="0" err="1"/>
              <a:t>getDomTree</a:t>
            </a:r>
            <a:r>
              <a:rPr lang="en-US" altLang="ja-JP" dirty="0"/>
              <a:t>();</a:t>
            </a:r>
          </a:p>
          <a:p>
            <a:r>
              <a:rPr lang="en-US" altLang="ja-JP" dirty="0" err="1"/>
              <a:t>AliasAnalysis </a:t>
            </a:r>
            <a:r>
              <a:rPr lang="en-US" altLang="zh-CN" dirty="0" err="1"/>
              <a:t>for Mameory Operation Analysis</a:t>
            </a:r>
            <a:endParaRPr lang="ja-JP" altLang="en-US"/>
          </a:p>
          <a:p>
            <a:pPr lvl="1"/>
            <a:r>
              <a:rPr lang="en-US" altLang="ja-JP" dirty="0" err="1"/>
              <a:t>AliasAnalysis</a:t>
            </a:r>
            <a:r>
              <a:rPr lang="en-US" altLang="ja-JP" dirty="0"/>
              <a:t> &amp;AA = </a:t>
            </a:r>
            <a:r>
              <a:rPr lang="en-US" altLang="ja-JP" dirty="0" err="1"/>
              <a:t>getAnalysis</a:t>
            </a:r>
            <a:r>
              <a:rPr lang="en-US" altLang="ja-JP" dirty="0"/>
              <a:t>&lt;</a:t>
            </a:r>
            <a:r>
              <a:rPr lang="en-US" altLang="ja-JP" dirty="0" err="1"/>
              <a:t>AAResultsWrapperPass</a:t>
            </a:r>
            <a:r>
              <a:rPr lang="en-US" altLang="ja-JP" dirty="0"/>
              <a:t>&gt;().</a:t>
            </a:r>
            <a:r>
              <a:rPr lang="en-US" altLang="ja-JP" dirty="0" err="1"/>
              <a:t>getAAResults</a:t>
            </a:r>
            <a:r>
              <a:rPr lang="en-US" altLang="ja-JP" dirty="0"/>
              <a:t>();</a:t>
            </a:r>
          </a:p>
          <a:p>
            <a:pPr lvl="1"/>
            <a:endParaRPr lang="ja-JP" altLang="en-US"/>
          </a:p>
          <a:p>
            <a:pPr lvl="1"/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Special Handling of Memory Operations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CN" dirty="0"/>
              <a:t>Memory operations may have side effects</a:t>
            </a:r>
          </a:p>
          <a:p>
            <a:pPr lvl="1"/>
            <a:r>
              <a:rPr lang="en-US" altLang="zh-CN" dirty="0"/>
              <a:t>Must-Alias Analysis: Identify pointers that definitively point to the same memory location</a:t>
            </a:r>
          </a:p>
          <a:p>
            <a:pPr lvl="1"/>
            <a:r>
              <a:rPr lang="en-US" altLang="zh-CN" dirty="0"/>
              <a:t>Scalar Promotion: Lift memory operations within the loop into scalar operations</a:t>
            </a:r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r>
              <a:rPr lang="ja-JP" altLang="en-US"/>
              <a:t>参考</a:t>
            </a:r>
            <a:r>
              <a:rPr lang="en-US" altLang="ja-JP" dirty="0"/>
              <a:t>https://</a:t>
            </a:r>
            <a:r>
              <a:rPr lang="en-US" altLang="ja-JP" dirty="0" err="1"/>
              <a:t>llvm.gnu.ac.cn</a:t>
            </a:r>
            <a:r>
              <a:rPr lang="en-US" altLang="ja-JP" dirty="0"/>
              <a:t>/docs/</a:t>
            </a:r>
            <a:r>
              <a:rPr lang="en-US" altLang="ja-JP" dirty="0" err="1"/>
              <a:t>AliasAnalysis.html</a:t>
            </a:r>
            <a:endParaRPr lang="ja-JP" altLang="en-US"/>
          </a:p>
          <a:p>
            <a:pPr lvl="1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41404" y="2669458"/>
            <a:ext cx="8264187" cy="9144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EBC88D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n</a:t>
            </a:r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++</a:t>
            </a:r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{</a:t>
            </a:r>
            <a:endParaRPr lang="en-US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	*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p </a:t>
            </a:r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p </a:t>
            </a:r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arr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// </a:t>
            </a:r>
            <a:r>
              <a:rPr lang="en-US" altLang="zh-CN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Each iteration read and writes</a:t>
            </a:r>
            <a:r>
              <a:rPr lang="ja-JP" altLang="en-US" b="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p</a:t>
            </a:r>
            <a:endParaRPr lang="en-US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}</a:t>
            </a:r>
            <a:endParaRPr lang="en-US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1404" y="3996815"/>
            <a:ext cx="8264218" cy="148818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temp </a:t>
            </a:r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// </a:t>
            </a:r>
            <a:r>
              <a:rPr lang="en-US" altLang="zh-CN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Read outside the loop</a:t>
            </a:r>
            <a:endParaRPr lang="ja-JP" altLang="en-US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EBC88D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n</a:t>
            </a:r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++</a:t>
            </a:r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{</a:t>
            </a:r>
            <a:endParaRPr lang="en-US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	temp </a:t>
            </a:r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temp </a:t>
            </a:r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arr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// </a:t>
            </a:r>
            <a:r>
              <a:rPr lang="en-US" altLang="zh-CN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Scalar operation</a:t>
            </a:r>
            <a:endParaRPr lang="ja-JP" altLang="en-US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ja-JP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}</a:t>
            </a:r>
            <a:endParaRPr lang="ja-JP" altLang="en-US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ja-JP" altLang="en-US" b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p </a:t>
            </a:r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temp</a:t>
            </a:r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// </a:t>
            </a:r>
            <a:r>
              <a:rPr lang="en-US" altLang="zh-CN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Write back outside the loop</a:t>
            </a:r>
            <a:endParaRPr lang="ja-JP" altLang="en-US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8" name="Down Arrow 7"/>
          <p:cNvSpPr/>
          <p:nvPr/>
        </p:nvSpPr>
        <p:spPr>
          <a:xfrm>
            <a:off x="4247534" y="3601015"/>
            <a:ext cx="235975" cy="3786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Loop Optimization in </a:t>
            </a:r>
            <a:r>
              <a:rPr lang="en-US" dirty="0"/>
              <a:t>Triton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/>
              <a:t>Triton </a:t>
            </a:r>
            <a:r>
              <a:rPr lang="en-US" altLang="zh-CN" dirty="0" err="1"/>
              <a:t>Compilation Flow</a:t>
            </a:r>
          </a:p>
          <a:p>
            <a:pPr lvl="1"/>
            <a:r>
              <a:rPr lang="en-US" dirty="0"/>
              <a:t>Triton Python → Triton IR (TTIR) → </a:t>
            </a:r>
            <a:r>
              <a:rPr lang="en-US" dirty="0" err="1"/>
              <a:t>TritonGPU</a:t>
            </a:r>
            <a:r>
              <a:rPr lang="en-US" dirty="0"/>
              <a:t> IR → LLVM IR → PTX/CUBIN</a:t>
            </a:r>
          </a:p>
          <a:p>
            <a:r>
              <a:rPr lang="en-US" altLang="zh-CN" dirty="0" err="1"/>
              <a:t>General Optimization Methods</a:t>
            </a:r>
            <a:endParaRPr lang="en-US" dirty="0"/>
          </a:p>
          <a:p>
            <a:pPr lvl="1"/>
            <a:r>
              <a:rPr lang="en-US" dirty="0"/>
              <a:t>Loop Pipelining: </a:t>
            </a:r>
            <a:r>
              <a:rPr lang="en-US" altLang="zh-CN" dirty="0"/>
              <a:t>Software Pipeline, </a:t>
            </a:r>
            <a:r>
              <a:rPr lang="en-US" altLang="zh-CN"/>
              <a:t>Latency Hiding</a:t>
            </a:r>
            <a:endParaRPr lang="ja-JP" altLang="en-US"/>
          </a:p>
          <a:p>
            <a:pPr lvl="1"/>
            <a:r>
              <a:rPr lang="en-US" dirty="0"/>
              <a:t>Loop Unrolling: </a:t>
            </a:r>
            <a:r>
              <a:rPr lang="en-US" altLang="zh-CN" dirty="0"/>
              <a:t>Loop unrolling, Reduce Control Cost</a:t>
            </a:r>
            <a:endParaRPr lang="en-US" dirty="0"/>
          </a:p>
          <a:p>
            <a:r>
              <a:rPr lang="en-US" altLang="zh-CN" dirty="0" err="1"/>
              <a:t>LICM generally carried on at </a:t>
            </a:r>
            <a:r>
              <a:rPr lang="en-US" dirty="0" err="1"/>
              <a:t>TTIR</a:t>
            </a:r>
            <a:r>
              <a:rPr lang="en-US" dirty="0"/>
              <a:t> </a:t>
            </a:r>
            <a:r>
              <a:rPr lang="en-US" altLang="zh-CN" dirty="0"/>
              <a:t>and </a:t>
            </a:r>
            <a:r>
              <a:rPr lang="en-US" dirty="0" err="1"/>
              <a:t>TritonGPU</a:t>
            </a:r>
            <a:r>
              <a:rPr lang="en-US" dirty="0"/>
              <a:t> </a:t>
            </a:r>
            <a:r>
              <a:rPr lang="en-US" dirty="0" err="1"/>
              <a:t>IR</a:t>
            </a:r>
            <a:endParaRPr lang="en-US" dirty="0"/>
          </a:p>
          <a:p>
            <a:pPr lvl="1"/>
            <a:r>
              <a:rPr lang="en-US" altLang="zh-CN" dirty="0"/>
              <a:t>Based</a:t>
            </a:r>
            <a:r>
              <a:rPr lang="ja-JP" altLang="en-US" dirty="0"/>
              <a:t> </a:t>
            </a:r>
            <a:r>
              <a:rPr lang="en-US" altLang="zh-CN" dirty="0"/>
              <a:t>on</a:t>
            </a:r>
            <a:r>
              <a:rPr lang="ja-JP" altLang="en-US" dirty="0"/>
              <a:t> </a:t>
            </a:r>
            <a:r>
              <a:rPr lang="en-US" dirty="0"/>
              <a:t>MLIR</a:t>
            </a:r>
            <a:endParaRPr lang="ja-JP" altLang="en-US"/>
          </a:p>
          <a:p>
            <a:pPr lvl="1"/>
            <a:r>
              <a:rPr lang="en-US" altLang="zh-CN" dirty="0"/>
              <a:t>Reuse</a:t>
            </a:r>
            <a:r>
              <a:rPr lang="ja-JP" altLang="en-US" dirty="0"/>
              <a:t> </a:t>
            </a:r>
            <a:r>
              <a:rPr lang="en-US" dirty="0"/>
              <a:t>MLIR </a:t>
            </a:r>
            <a:r>
              <a:rPr lang="en-US" altLang="zh-CN" dirty="0"/>
              <a:t>Analysis </a:t>
            </a:r>
            <a:r>
              <a:rPr lang="en-US" dirty="0"/>
              <a:t>Pass</a:t>
            </a:r>
          </a:p>
          <a:p>
            <a:pPr lvl="1"/>
            <a:r>
              <a:rPr lang="en-US" altLang="zh-CN"/>
              <a:t>Optimize at different abstract levels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Triton </a:t>
            </a:r>
            <a:r>
              <a:rPr lang="en-US" altLang="zh-CN" dirty="0"/>
              <a:t>Loop Structure Example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 err="1"/>
              <a:t>Matrix Multiplication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altLang="zh-CN" dirty="0"/>
              <a:t>Optimization</a:t>
            </a:r>
            <a:r>
              <a:rPr lang="ja-JP" altLang="en-US" dirty="0"/>
              <a:t> </a:t>
            </a:r>
            <a:r>
              <a:rPr lang="en-US" altLang="zh-CN" dirty="0"/>
              <a:t>Opportunities</a:t>
            </a:r>
            <a:endParaRPr lang="en-US" altLang="ja-JP" dirty="0"/>
          </a:p>
          <a:p>
            <a:pPr lvl="1"/>
            <a:r>
              <a:rPr lang="en-US" altLang="zh-CN"/>
              <a:t>Base address of pointer might be loop invariant</a:t>
            </a:r>
          </a:p>
          <a:p>
            <a:pPr lvl="1"/>
            <a:r>
              <a:rPr lang="en-US" dirty="0"/>
              <a:t>stride 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c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charset="-122"/>
              </a:rPr>
              <a:t>alculation is usually loop invariant</a:t>
            </a:r>
            <a:endParaRPr lang="en-US" dirty="0"/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91870" y="1737995"/>
            <a:ext cx="6830060" cy="322199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0" dirty="0">
                <a:solidFill>
                  <a:srgbClr val="A8CC7C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sz="1600" b="0" dirty="0" err="1">
                <a:solidFill>
                  <a:srgbClr val="A8CC7C"/>
                </a:solidFill>
                <a:effectLst/>
                <a:latin typeface="Menlo" panose="020B0609030804020204" pitchFamily="49" charset="0"/>
              </a:rPr>
              <a:t>triton</a:t>
            </a:r>
            <a:r>
              <a:rPr lang="en-US" sz="1600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600" b="0" dirty="0" err="1">
                <a:solidFill>
                  <a:srgbClr val="A8CC7C"/>
                </a:solidFill>
                <a:effectLst/>
                <a:latin typeface="Menlo" panose="020B0609030804020204" pitchFamily="49" charset="0"/>
              </a:rPr>
              <a:t>jit</a:t>
            </a:r>
            <a:endParaRPr lang="en-US" sz="16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EFB080"/>
                </a:solidFill>
                <a:effectLst/>
                <a:latin typeface="Menlo" panose="020B0609030804020204" pitchFamily="49" charset="0"/>
              </a:rPr>
              <a:t>matmul_kernel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i="1" dirty="0">
                <a:solidFill>
                  <a:srgbClr val="F8C762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b="0" i="1" dirty="0">
                <a:solidFill>
                  <a:srgbClr val="F8C762"/>
                </a:solidFill>
                <a:effectLst/>
                <a:latin typeface="Menlo" panose="020B0609030804020204" pitchFamily="49" charset="0"/>
              </a:rPr>
              <a:t>B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b="0" i="1" dirty="0">
                <a:solidFill>
                  <a:srgbClr val="F8C762"/>
                </a:solidFill>
                <a:effectLst/>
                <a:latin typeface="Menlo" panose="020B0609030804020204" pitchFamily="49" charset="0"/>
              </a:rPr>
              <a:t>C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b="0" i="1" dirty="0">
                <a:solidFill>
                  <a:srgbClr val="F8C762"/>
                </a:solidFill>
                <a:effectLst/>
                <a:latin typeface="Menlo" panose="020B0609030804020204" pitchFamily="49" charset="0"/>
              </a:rPr>
              <a:t>M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b="0" i="1" dirty="0">
                <a:solidFill>
                  <a:srgbClr val="F8C762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b="0" i="1" dirty="0">
                <a:solidFill>
                  <a:srgbClr val="F8C762"/>
                </a:solidFill>
                <a:effectLst/>
                <a:latin typeface="Menlo" panose="020B0609030804020204" pitchFamily="49" charset="0"/>
              </a:rPr>
              <a:t>K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, ...):</a:t>
            </a:r>
          </a:p>
          <a:p>
            <a:pPr lvl="1"/>
            <a:r>
              <a:rPr lang="en-US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US" altLang="zh-CN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Initialize Accumulator</a:t>
            </a:r>
            <a:endParaRPr lang="ja-JP" altLang="en-US" sz="1600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acc 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tl</a:t>
            </a:r>
            <a:r>
              <a:rPr lang="en-US" sz="1600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600" b="0" dirty="0" err="1">
                <a:solidFill>
                  <a:srgbClr val="AAA0FA"/>
                </a:solidFill>
                <a:effectLst/>
                <a:latin typeface="Menlo" panose="020B0609030804020204" pitchFamily="49" charset="0"/>
              </a:rPr>
              <a:t>zeros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((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BLOCK_M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BLOCK_N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),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i="1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dtype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tl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float32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6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US" altLang="zh-CN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Main loop</a:t>
            </a:r>
            <a:r>
              <a:rPr lang="ja-JP" altLang="en-US" sz="1600" b="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ja-JP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- </a:t>
            </a:r>
            <a:r>
              <a:rPr lang="en-US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K</a:t>
            </a:r>
            <a:r>
              <a:rPr lang="zh-CN" altLang="en-US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-US" altLang="zh-CN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dimension iteration</a:t>
            </a:r>
            <a:endParaRPr lang="ja-JP" altLang="en-US" sz="1600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sz="1600" b="0" i="1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k </a:t>
            </a:r>
            <a:r>
              <a:rPr lang="en-US" sz="1600" b="0" i="1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EFB080"/>
                </a:solidFill>
                <a:effectLst/>
                <a:latin typeface="Menlo" panose="020B0609030804020204" pitchFamily="49" charset="0"/>
              </a:rPr>
              <a:t>range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>
                <a:solidFill>
                  <a:srgbClr val="EBC88D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K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BLOCK_K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 lvl="2"/>
            <a:r>
              <a:rPr lang="en-US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US" altLang="zh-CN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Load blocks of </a:t>
            </a:r>
            <a:r>
              <a:rPr lang="en-US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A, B</a:t>
            </a:r>
            <a:endParaRPr lang="ja-JP" altLang="en-US" sz="1600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2"/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 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tl</a:t>
            </a:r>
            <a:r>
              <a:rPr lang="en-US" sz="1600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600" b="0" dirty="0" err="1">
                <a:solidFill>
                  <a:srgbClr val="AAA0FA"/>
                </a:solidFill>
                <a:effectLst/>
                <a:latin typeface="Menlo" panose="020B0609030804020204" pitchFamily="49" charset="0"/>
              </a:rPr>
              <a:t>load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A_ptr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k 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stride_ak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 lvl="2"/>
            <a:r>
              <a:rPr lang="en-US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US" altLang="zh-CN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Possible Loop Invariant</a:t>
            </a:r>
            <a:endParaRPr lang="ja-JP" altLang="en-US" sz="1600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2"/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b 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tl</a:t>
            </a:r>
            <a:r>
              <a:rPr lang="en-US" sz="1600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600" b="0" dirty="0" err="1">
                <a:solidFill>
                  <a:srgbClr val="AAA0FA"/>
                </a:solidFill>
                <a:effectLst/>
                <a:latin typeface="Menlo" panose="020B0609030804020204" pitchFamily="49" charset="0"/>
              </a:rPr>
              <a:t>load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B_ptr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k 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stride_bk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)</a:t>
            </a:r>
            <a:endParaRPr lang="ja-JP" altLang="en-US" sz="1600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	acc 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+=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tl</a:t>
            </a:r>
            <a:r>
              <a:rPr lang="en-US" sz="1600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600" b="0" dirty="0" err="1">
                <a:solidFill>
                  <a:srgbClr val="AAA0FA"/>
                </a:solidFill>
                <a:effectLst/>
                <a:latin typeface="Menlo" panose="020B0609030804020204" pitchFamily="49" charset="0"/>
              </a:rPr>
              <a:t>dot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b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6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US" altLang="zh-CN" sz="16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Store result</a:t>
            </a:r>
            <a:endParaRPr lang="ja-JP" altLang="en-US" sz="1600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tl</a:t>
            </a:r>
            <a:r>
              <a:rPr lang="en-US" sz="1600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600" b="0" dirty="0" err="1">
                <a:solidFill>
                  <a:srgbClr val="AAA0FA"/>
                </a:solidFill>
                <a:effectLst/>
                <a:latin typeface="Menlo" panose="020B0609030804020204" pitchFamily="49" charset="0"/>
              </a:rPr>
              <a:t>store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C_ptr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sz="16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acc</a:t>
            </a:r>
            <a:r>
              <a:rPr lang="en-US" sz="16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)</a:t>
            </a:r>
            <a:endParaRPr lang="en-US" sz="16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LICM </a:t>
            </a:r>
            <a:r>
              <a:rPr lang="en-US" altLang="zh-CN" dirty="0"/>
              <a:t>in MLIR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18</a:t>
            </a:fld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 err="1"/>
              <a:t>Refere to </a:t>
            </a:r>
            <a:r>
              <a:rPr lang="en-US" dirty="0" err="1"/>
              <a:t>mlir</a:t>
            </a:r>
            <a:r>
              <a:rPr lang="en-US" dirty="0"/>
              <a:t>/lib/Transforms/</a:t>
            </a:r>
            <a:r>
              <a:rPr lang="en-US" dirty="0" err="1"/>
              <a:t>LoopInvariantCodeMotion.cpp</a:t>
            </a:r>
            <a:endParaRPr lang="en-US" dirty="0"/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41404" y="1798100"/>
            <a:ext cx="10231396" cy="445380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EFB080"/>
                </a:solidFill>
                <a:effectLst/>
                <a:latin typeface="Menlo" panose="020B0609030804020204" pitchFamily="49" charset="0"/>
              </a:rPr>
              <a:t>LoopInvariantCodeMotion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::</a:t>
            </a:r>
            <a:r>
              <a:rPr lang="en-US" b="0" dirty="0" err="1">
                <a:solidFill>
                  <a:srgbClr val="EFB080"/>
                </a:solidFill>
                <a:effectLst/>
                <a:latin typeface="Menlo" panose="020B0609030804020204" pitchFamily="49" charset="0"/>
              </a:rPr>
              <a:t>runOnOperation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() {</a:t>
            </a:r>
          </a:p>
          <a:p>
            <a:pPr lvl="1"/>
            <a:r>
              <a:rPr lang="en-US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LoopLikeOpInterface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loopOp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 lvl="1"/>
            <a:r>
              <a:rPr lang="en-US" b="0" dirty="0">
                <a:solidFill>
                  <a:srgbClr val="EFB080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-US" b="0" dirty="0" err="1">
                <a:solidFill>
                  <a:srgbClr val="EFB080"/>
                </a:solidFill>
                <a:effectLst/>
                <a:latin typeface="Menlo" panose="020B0609030804020204" pitchFamily="49" charset="0"/>
              </a:rPr>
              <a:t>getOperation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()-&gt;</a:t>
            </a:r>
            <a:r>
              <a:rPr lang="en-US" b="0" dirty="0" err="1">
                <a:solidFill>
                  <a:srgbClr val="AAA0FA"/>
                </a:solidFill>
                <a:effectLst/>
                <a:latin typeface="Menlo" panose="020B0609030804020204" pitchFamily="49" charset="0"/>
              </a:rPr>
              <a:t>getParentOfType</a:t>
            </a:r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LoopLikeOpInterface</a:t>
            </a:r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pPr lvl="1"/>
            <a:endParaRPr lang="en-US" b="0" i="1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en-US" altLang="zh-CN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Collect loop invariant operations</a:t>
            </a:r>
            <a:endParaRPr lang="ja-JP" altLang="en-US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SmallVector</a:t>
            </a:r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Operation</a:t>
            </a:r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invariantOps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lvl="1"/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(Operation </a:t>
            </a:r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&amp;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op : </a:t>
            </a:r>
            <a:r>
              <a:rPr lang="en-US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loopOp</a:t>
            </a:r>
            <a:r>
              <a:rPr lang="en-US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b="0" dirty="0" err="1">
                <a:solidFill>
                  <a:srgbClr val="EFB080"/>
                </a:solidFill>
                <a:effectLst/>
                <a:latin typeface="Menlo" panose="020B0609030804020204" pitchFamily="49" charset="0"/>
              </a:rPr>
              <a:t>getLoopBody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().</a:t>
            </a:r>
            <a:r>
              <a:rPr lang="en-US" b="0" dirty="0" err="1">
                <a:solidFill>
                  <a:srgbClr val="EFB080"/>
                </a:solidFill>
                <a:effectLst/>
                <a:latin typeface="Menlo" panose="020B0609030804020204" pitchFamily="49" charset="0"/>
              </a:rPr>
              <a:t>getOps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()) </a:t>
            </a:r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{</a:t>
            </a:r>
            <a:endParaRPr lang="en-US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	if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b="0" dirty="0" err="1">
                <a:solidFill>
                  <a:srgbClr val="EFB080"/>
                </a:solidFill>
                <a:effectLst/>
                <a:latin typeface="Menlo" panose="020B0609030804020204" pitchFamily="49" charset="0"/>
              </a:rPr>
              <a:t>isLoopInvariant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&amp;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op</a:t>
            </a:r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loopOp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))</a:t>
            </a:r>
          </a:p>
          <a:p>
            <a:pPr lvl="1"/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		</a:t>
            </a:r>
            <a:r>
              <a:rPr lang="en-US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invariantOps</a:t>
            </a:r>
            <a:r>
              <a:rPr lang="en-US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b="0" dirty="0" err="1">
                <a:solidFill>
                  <a:srgbClr val="EFB080"/>
                </a:solidFill>
                <a:effectLst/>
                <a:latin typeface="Menlo" panose="020B0609030804020204" pitchFamily="49" charset="0"/>
              </a:rPr>
              <a:t>push_back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&amp;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op);</a:t>
            </a:r>
          </a:p>
          <a:p>
            <a:pPr lvl="1"/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pPr lvl="1"/>
            <a:endParaRPr lang="en-US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en-US" altLang="zh-CN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Move to </a:t>
            </a:r>
            <a:r>
              <a:rPr lang="en-US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preheader</a:t>
            </a:r>
            <a:endParaRPr lang="en-US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(Operation </a:t>
            </a:r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op : </a:t>
            </a:r>
            <a:r>
              <a:rPr lang="en-US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invariantOps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{</a:t>
            </a:r>
            <a:endParaRPr lang="en-US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	op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-&gt;</a:t>
            </a:r>
            <a:r>
              <a:rPr lang="en-US" b="0" dirty="0" err="1">
                <a:solidFill>
                  <a:srgbClr val="EFB080"/>
                </a:solidFill>
                <a:effectLst/>
                <a:latin typeface="Menlo" panose="020B0609030804020204" pitchFamily="49" charset="0"/>
              </a:rPr>
              <a:t>moveBefore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loopOp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lvl="1"/>
            <a:r>
              <a:rPr lang="en-US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}</a:t>
            </a:r>
            <a:endParaRPr lang="en-US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Limitation and Improvements of </a:t>
            </a:r>
            <a:r>
              <a:rPr lang="en-US" dirty="0"/>
              <a:t>LICM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19</a:t>
            </a:fld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 err="1"/>
              <a:t>Limitations</a:t>
            </a:r>
            <a:endParaRPr lang="en-US" dirty="0"/>
          </a:p>
          <a:p>
            <a:pPr lvl="1"/>
            <a:r>
              <a:rPr lang="en-US" altLang="zh-CN"/>
              <a:t>Exception Handling: Moving code that may throw exceptions</a:t>
            </a:r>
          </a:p>
          <a:p>
            <a:pPr lvl="1"/>
            <a:r>
              <a:rPr lang="en-US" altLang="zh-CN"/>
              <a:t>Speculative Execution: If the loop may not execute, moving code could introduce additional overhead</a:t>
            </a:r>
          </a:p>
          <a:p>
            <a:pPr lvl="1"/>
            <a:r>
              <a:rPr lang="en-US" altLang="zh-CN"/>
              <a:t>Memory Side Effects: Complex memory aliasing relationships are difficult to analyze</a:t>
            </a:r>
          </a:p>
          <a:p>
            <a:r>
              <a:rPr lang="en-US" altLang="zh-CN" dirty="0"/>
              <a:t>Improvements</a:t>
            </a:r>
            <a:r>
              <a:rPr lang="en-US" altLang="ja-JP" dirty="0"/>
              <a:t>:</a:t>
            </a:r>
          </a:p>
          <a:p>
            <a:pPr lvl="1"/>
            <a:r>
              <a:rPr lang="en-US" altLang="zh-CN"/>
              <a:t>Loop Unswitching: Move conditional checks inside the loop to outside the loop</a:t>
            </a:r>
          </a:p>
          <a:p>
            <a:pPr lvl="1"/>
            <a:r>
              <a:rPr lang="en-US" altLang="zh-CN"/>
              <a:t>Loop Versioning: Create multiple versions of the loop to enable further optimizations</a:t>
            </a:r>
          </a:p>
          <a:p>
            <a:pPr lvl="1"/>
            <a:r>
              <a:rPr lang="en-US" altLang="zh-CN"/>
              <a:t>Speculative LICM: Perform speculative hoisting when provably safe</a:t>
            </a:r>
            <a:endParaRPr lang="ja-JP" altLang="en-US"/>
          </a:p>
          <a:p>
            <a:pPr lvl="2"/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Hand</a:t>
            </a:r>
            <a:r>
              <a:rPr dirty="0"/>
              <a:t>-</a:t>
            </a:r>
            <a:r>
              <a:rPr lang="en-US" altLang="zh-CN" dirty="0"/>
              <a:t>on</a:t>
            </a:r>
            <a:r>
              <a:rPr lang="x-none" altLang="ja-JP" dirty="0"/>
              <a:t> </a:t>
            </a:r>
            <a:r>
              <a:rPr lang="en-US" altLang="zh-CN" dirty="0"/>
              <a:t>Lab</a:t>
            </a:r>
            <a:r>
              <a:rPr lang="zh-CN" altLang="en-US" dirty="0"/>
              <a:t>：</a:t>
            </a:r>
            <a:r>
              <a:rPr lang="en-US" altLang="zh-CN" dirty="0"/>
              <a:t>Optimize</a:t>
            </a:r>
            <a:r>
              <a:rPr lang="ja-JP" altLang="en-US">
                <a:effectLst/>
              </a:rPr>
              <a:t> </a:t>
            </a:r>
            <a:r>
              <a:rPr lang="en-US" dirty="0">
                <a:effectLst/>
              </a:rPr>
              <a:t>Triton </a:t>
            </a: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effectLst/>
                <a:ea typeface="微软雅黑" panose="020B0503020204020204" charset="-122"/>
              </a:rPr>
              <a:t>L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effectLst/>
                <a:ea typeface="微软雅黑" panose="020B0503020204020204" charset="-122"/>
              </a:rPr>
              <a:t>oop Structure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20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GVjMjNiN2ZkZTMzMDA4ZWE3OTY1NzI2MTg5NDIzY2IifQ=="/>
  <p:tag name="KSO_WPP_MARK_KEY" val="bcc4c946-421a-4a56-a7c9-e84bf867b56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1769</Words>
  <Application>Microsoft Office PowerPoint</Application>
  <PresentationFormat>宽屏</PresentationFormat>
  <Paragraphs>305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Menlo</vt:lpstr>
      <vt:lpstr>等线</vt:lpstr>
      <vt:lpstr>微软雅黑</vt:lpstr>
      <vt:lpstr>文泉驿微米黑</vt:lpstr>
      <vt:lpstr>Arial</vt:lpstr>
      <vt:lpstr>Calibri</vt:lpstr>
      <vt:lpstr>Calibri Light</vt:lpstr>
      <vt:lpstr>Ebrima</vt:lpstr>
      <vt:lpstr>Garamond</vt:lpstr>
      <vt:lpstr>Montserrat SemiBold</vt:lpstr>
      <vt:lpstr>Wingdings 3</vt:lpstr>
      <vt:lpstr>母版</vt:lpstr>
      <vt:lpstr>Hardware and Software Fundamentals of  Intelligent Computing  Systems</vt:lpstr>
      <vt:lpstr>Lecture 23：Loop-Invariant Code Motion (LICM)</vt:lpstr>
      <vt:lpstr>Loop Invariant Code</vt:lpstr>
      <vt:lpstr>Loop Invariant Code</vt:lpstr>
      <vt:lpstr>LICM Flow</vt:lpstr>
      <vt:lpstr>Loop and Domination</vt:lpstr>
      <vt:lpstr>Loop and Domination</vt:lpstr>
      <vt:lpstr>Reaching Definitions</vt:lpstr>
      <vt:lpstr>Loop-Invariant Detection Algorithm</vt:lpstr>
      <vt:lpstr>Loop-Invariant Detection Algorithm Example</vt:lpstr>
      <vt:lpstr>Dependence Type</vt:lpstr>
      <vt:lpstr>Safety Conditions for Code Motion</vt:lpstr>
      <vt:lpstr>Preheader</vt:lpstr>
      <vt:lpstr>LICM in LLVM</vt:lpstr>
      <vt:lpstr>Special Handling of Memory Operations</vt:lpstr>
      <vt:lpstr>Loop Optimization in Triton</vt:lpstr>
      <vt:lpstr>Triton Loop Structure Example</vt:lpstr>
      <vt:lpstr>LICM in MLIR</vt:lpstr>
      <vt:lpstr>Limitation and Improvements of LICM</vt:lpstr>
      <vt:lpstr>Hand-on Lab：Optimize Triton Loop Structure</vt:lpstr>
      <vt:lpstr>The Solution: FlagOS, a Unified AI Software Stack</vt:lpstr>
      <vt:lpstr>PowerPoint 演示文稿</vt:lpstr>
      <vt:lpstr>Thanks for your time！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23：Loop-Invariant Code Motion (LICM)</dc:title>
  <dc:creator>王丰</dc:creator>
  <cp:lastModifiedBy>Xiang Li</cp:lastModifiedBy>
  <cp:revision>3</cp:revision>
  <dcterms:created xsi:type="dcterms:W3CDTF">2026-03-12T05:43:00Z</dcterms:created>
  <dcterms:modified xsi:type="dcterms:W3CDTF">2026-03-17T14:54:21Z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6A2C385D4AF71EF170E28F6994038CCD_43</vt:lpwstr>
  </property>
  <property fmtid="{D5CDD505-2E9C-101B-9397-08002B2CF9AE}" pid="3" name="KSOProductBuildVer">
    <vt:lpwstr>2052-12.1.0.19302</vt:lpwstr>
  </property>
</Properties>
</file>