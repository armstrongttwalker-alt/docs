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4"/>
  </p:notesMasterIdLst>
  <p:handoutMasterIdLst>
    <p:handoutMasterId r:id="rId45"/>
  </p:handoutMasterIdLst>
  <p:sldIdLst>
    <p:sldId id="337" r:id="rId2"/>
    <p:sldId id="256" r:id="rId3"/>
    <p:sldId id="304" r:id="rId4"/>
    <p:sldId id="268" r:id="rId5"/>
    <p:sldId id="267" r:id="rId6"/>
    <p:sldId id="269" r:id="rId7"/>
    <p:sldId id="270" r:id="rId8"/>
    <p:sldId id="261" r:id="rId9"/>
    <p:sldId id="262" r:id="rId10"/>
    <p:sldId id="263" r:id="rId11"/>
    <p:sldId id="264" r:id="rId12"/>
    <p:sldId id="265" r:id="rId13"/>
    <p:sldId id="271" r:id="rId14"/>
    <p:sldId id="272" r:id="rId15"/>
    <p:sldId id="368" r:id="rId16"/>
    <p:sldId id="341"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369" r:id="rId41"/>
    <p:sldId id="370" r:id="rId42"/>
    <p:sldId id="371"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章 嘉玺" initials="章" lastIdx="1" clrIdx="0"/>
  <p:cmAuthor id="2" name="webuser" initials="webuser" lastIdx="2" clrIdx="1"/>
  <p:cmAuthor id="3" name="SHI BIZHAO" initials="Shi" lastIdx="0" clrIdx="2"/>
  <p:cmAuthor id="4" name="马瑞阳_Mj63q6ZJ" initials="authorId_1080340045" lastIdx="0" clrIdx="3"/>
  <p:cmAuthor id="5" name="WPS_1657951207_BbYbQFJj" initials="authorId_1392390105" lastIdx="0" clrIdx="4"/>
  <p:cmAuthor id="6" name="Alex"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609E"/>
    <a:srgbClr val="B83570"/>
    <a:srgbClr val="8B0012"/>
    <a:srgbClr val="70AD47"/>
    <a:srgbClr val="2774AE"/>
    <a:srgbClr val="70AE47"/>
    <a:srgbClr val="549E39"/>
    <a:srgbClr val="90B085"/>
    <a:srgbClr val="2D2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15"/>
    <p:restoredTop sz="80094" autoAdjust="0"/>
  </p:normalViewPr>
  <p:slideViewPr>
    <p:cSldViewPr snapToGrid="0" snapToObjects="1">
      <p:cViewPr varScale="1">
        <p:scale>
          <a:sx n="49" d="100"/>
          <a:sy n="49" d="100"/>
        </p:scale>
        <p:origin x="1164" y="36"/>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81" d="100"/>
          <a:sy n="81" d="100"/>
        </p:scale>
        <p:origin x="3384"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9000"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9001"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AD35F3-BE5B-41CC-A973-5F94E77F22B3}" type="datetimeFigureOut">
              <a:rPr lang="zh-CN" altLang="en-US" smtClean="0"/>
              <a:t>2026/3/17</a:t>
            </a:fld>
            <a:endParaRPr lang="zh-CN" altLang="en-US"/>
          </a:p>
        </p:txBody>
      </p:sp>
      <p:sp>
        <p:nvSpPr>
          <p:cNvPr id="1049002"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9003"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6126E5-09CE-4398-8EB0-4AC849D0A16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94"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995"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AE8E16-D6C5-3248-816C-85B3C8E8792E}" type="datetimeFigureOut">
              <a:rPr lang="en-US" smtClean="0"/>
              <a:t>3/17/2026</a:t>
            </a:fld>
            <a:endParaRPr lang="en-US"/>
          </a:p>
        </p:txBody>
      </p:sp>
      <p:sp>
        <p:nvSpPr>
          <p:cNvPr id="1048996"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8997"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98"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999"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44C98A-D9C5-894D-9A13-8F52E37846C0}"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Janapa Reddi, V. ML Systems Textbook. , from https://www.mlsysbook.ai/contents/core/ml_systems/ml_systems.html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Janapa Reddi, V. ML Systems Textbook. , from https://www.mlsysbook.ai/contents/core/ml_systems/ml_systems.html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https://applieddatasystems.com/hpc-solutions-2/gpu-servers/</a:t>
            </a:r>
          </a:p>
          <a:p>
            <a:r>
              <a:rPr lang="en-US" altLang="zh-CN"/>
              <a:t>https://developer.nvidia.com/blog/introducing-nvidia-jetson-thor-the-ultimate-platform-for-physical-ai/</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pic-1 src: https://www.fibermall.com/blog/pcie-development.htm?srsltid=AfmBOorQpZIXd2vThqYRYSiPnQA0t-vEEgy2qs2bqBwevFxZ18Css9BG</a:t>
            </a:r>
          </a:p>
          <a:p>
            <a:r>
              <a:rPr lang="en-US" altLang="zh-CN"/>
              <a:t>pic-2 src: https://global.icydock.com/resources/icy_tips_367.html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pic1: https://e2e.ti.com/support/processors-group/processors/f/processors-forum/465737/pcie-system-architecture</a:t>
            </a:r>
          </a:p>
          <a:p>
            <a:r>
              <a:rPr lang="en-US" altLang="zh-CN"/>
              <a:t>pic2: https://www.corsair.com/us/en/explorer/diy-builder/storage/what-is-pcie-and-how-does-it-work/?srsltid=AfmBOopOClHgxQNRCjM-qE1GfLF5emw_NG9baHGOoHVaTlt9bfUfwAtF</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ym typeface="+mn-ea"/>
              </a:rPr>
              <a:t>https://www.zhihu.com/question/22233341/answer/1889610843068535566</a:t>
            </a:r>
            <a:endParaRPr lang="en-US" altLang="zh-CN" dirty="0"/>
          </a:p>
          <a:p>
            <a:endParaRPr lang="en-US" altLang="zh-CN"/>
          </a:p>
          <a:p>
            <a:r>
              <a:rPr lang="en-US" altLang="zh-CN"/>
              <a:t>gpu-cpu pic src: https://developer.nvidia.com/gpudirect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gpudirect: https://developer.download.nvidia.com/devzone/devcenter/cuda/docs/GPUDirect_Technology_Overview.pdf</a:t>
            </a:r>
          </a:p>
          <a:p>
            <a:endParaRPr lang="en-US" altLang="zh-CN"/>
          </a:p>
          <a:p>
            <a:r>
              <a:rPr lang="en-US" altLang="zh-CN"/>
              <a:t>pic src: </a:t>
            </a:r>
          </a:p>
          <a:p>
            <a:r>
              <a:rPr lang="en-US" altLang="zh-CN"/>
              <a:t>https://developer.nvidia.com/blog/introduction-cuda-aware-mpi/</a:t>
            </a:r>
          </a:p>
          <a:p>
            <a:r>
              <a:rPr lang="en-US" altLang="zh-CN"/>
              <a:t>https://keeneland.gatech.edu/software/gpudirect.html</a:t>
            </a:r>
          </a:p>
          <a:p>
            <a:endParaRPr lang="en-US" altLang="zh-CN"/>
          </a:p>
          <a:p>
            <a:r>
              <a:rPr lang="zh-CN" altLang="en-US"/>
              <a:t>并行方式</a:t>
            </a:r>
            <a:r>
              <a:rPr lang="en-US" altLang="zh-CN"/>
              <a:t>	</a:t>
            </a:r>
            <a:r>
              <a:rPr lang="zh-CN" altLang="en-US"/>
              <a:t>产生大量</a:t>
            </a:r>
            <a:r>
              <a:rPr lang="en-US" altLang="zh-CN"/>
              <a:t>P2P</a:t>
            </a:r>
            <a:r>
              <a:rPr lang="zh-CN" altLang="en-US"/>
              <a:t>通信的阶段</a:t>
            </a:r>
            <a:r>
              <a:rPr lang="en-US" altLang="zh-CN"/>
              <a:t>	</a:t>
            </a:r>
            <a:r>
              <a:rPr lang="zh-CN" altLang="en-US"/>
              <a:t>典型通信量</a:t>
            </a:r>
            <a:r>
              <a:rPr lang="en-US" altLang="zh-CN"/>
              <a:t>	</a:t>
            </a:r>
            <a:r>
              <a:rPr lang="zh-CN" altLang="en-US"/>
              <a:t>对</a:t>
            </a:r>
            <a:r>
              <a:rPr lang="en-US" altLang="zh-CN"/>
              <a:t>P2P</a:t>
            </a:r>
            <a:r>
              <a:rPr lang="zh-CN" altLang="en-US"/>
              <a:t>带宽</a:t>
            </a:r>
            <a:r>
              <a:rPr lang="en-US" altLang="zh-CN"/>
              <a:t>/</a:t>
            </a:r>
            <a:r>
              <a:rPr lang="zh-CN" altLang="en-US"/>
              <a:t>延迟的敏感度</a:t>
            </a:r>
          </a:p>
          <a:p>
            <a:r>
              <a:rPr lang="zh-CN" altLang="en-US"/>
              <a:t>数据并行</a:t>
            </a:r>
            <a:r>
              <a:rPr lang="en-US" altLang="zh-CN"/>
              <a:t>	</a:t>
            </a:r>
            <a:r>
              <a:rPr lang="zh-CN" altLang="en-US"/>
              <a:t>梯度聚合（</a:t>
            </a:r>
            <a:r>
              <a:rPr lang="en-US" altLang="zh-CN"/>
              <a:t>All-Reduce</a:t>
            </a:r>
            <a:r>
              <a:rPr lang="zh-CN" altLang="en-US"/>
              <a:t>）</a:t>
            </a:r>
            <a:r>
              <a:rPr lang="en-US" altLang="zh-CN"/>
              <a:t>	</a:t>
            </a:r>
            <a:r>
              <a:rPr lang="zh-CN" altLang="en-US"/>
              <a:t>大，但可用</a:t>
            </a:r>
            <a:r>
              <a:rPr lang="en-US" altLang="zh-CN"/>
              <a:t>Ring/Tree</a:t>
            </a:r>
            <a:r>
              <a:rPr lang="zh-CN" altLang="en-US"/>
              <a:t>算法分摊到多链路</a:t>
            </a:r>
            <a:r>
              <a:rPr lang="en-US" altLang="zh-CN"/>
              <a:t>	</a:t>
            </a:r>
            <a:r>
              <a:rPr lang="zh-CN" altLang="en-US"/>
              <a:t>中等</a:t>
            </a:r>
          </a:p>
          <a:p>
            <a:r>
              <a:rPr lang="zh-CN" altLang="en-US"/>
              <a:t>模型并行</a:t>
            </a:r>
            <a:r>
              <a:rPr lang="en-US" altLang="zh-CN"/>
              <a:t>/</a:t>
            </a:r>
            <a:r>
              <a:rPr lang="zh-CN" altLang="en-US"/>
              <a:t>张量并行</a:t>
            </a:r>
            <a:r>
              <a:rPr lang="en-US" altLang="zh-CN"/>
              <a:t>	</a:t>
            </a:r>
            <a:r>
              <a:rPr lang="zh-CN" altLang="en-US"/>
              <a:t>每一步前向</a:t>
            </a:r>
            <a:r>
              <a:rPr lang="en-US" altLang="zh-CN"/>
              <a:t>+</a:t>
            </a:r>
            <a:r>
              <a:rPr lang="zh-CN" altLang="en-US"/>
              <a:t>反向，层内张量切片之间频繁交换中间结果</a:t>
            </a:r>
            <a:r>
              <a:rPr lang="en-US" altLang="zh-CN"/>
              <a:t>	</a:t>
            </a:r>
            <a:r>
              <a:rPr lang="zh-CN" altLang="en-US"/>
              <a:t>持续且密集的小包</a:t>
            </a:r>
            <a:r>
              <a:rPr lang="en-US" altLang="zh-CN"/>
              <a:t>	</a:t>
            </a:r>
            <a:r>
              <a:rPr lang="zh-CN" altLang="en-US"/>
              <a:t>极高</a:t>
            </a:r>
          </a:p>
          <a:p>
            <a:r>
              <a:rPr lang="zh-CN" altLang="en-US"/>
              <a:t>流水线并行</a:t>
            </a:r>
            <a:r>
              <a:rPr lang="en-US" altLang="zh-CN"/>
              <a:t>	</a:t>
            </a:r>
            <a:r>
              <a:rPr lang="zh-CN" altLang="en-US"/>
              <a:t>阶段边界的前向激活</a:t>
            </a:r>
            <a:r>
              <a:rPr lang="en-US" altLang="zh-CN"/>
              <a:t> &amp; </a:t>
            </a:r>
            <a:r>
              <a:rPr lang="zh-CN" altLang="en-US"/>
              <a:t>反向梯度</a:t>
            </a:r>
            <a:r>
              <a:rPr lang="en-US" altLang="zh-CN"/>
              <a:t>	</a:t>
            </a:r>
            <a:r>
              <a:rPr lang="zh-CN" altLang="en-US"/>
              <a:t>阶段性脉冲式流量</a:t>
            </a:r>
            <a:r>
              <a:rPr lang="en-US" altLang="zh-CN"/>
              <a:t>	</a:t>
            </a:r>
            <a:r>
              <a:rPr lang="zh-CN" altLang="en-US"/>
              <a:t>高</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pic: https://en.wikichip.org/wiki/nvidia/nvlink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pic1: https://mp.weixin.qq.com/s?__biz=MzI1OTExNzkzNw==&amp;mid=2650480852&amp;idx=3&amp;sn=9c1730bc2ba0262937e29a7096a0697d&amp;chksm=f3811d2cccd9dfae64115574577a78a3875cdf8ef926a79ac1b03232dc910508cff4df37533b&amp;scene=27&amp;poc_token=HHU-pGij3SZqHxnt9yGj91eq4cMpN2yXbZjC5abD</a:t>
            </a:r>
          </a:p>
          <a:p>
            <a:r>
              <a:rPr lang="en-US" altLang="zh-CN"/>
              <a:t>pic2: https://www.nvidia.com/zh-tw/data-center/nvlink/</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x-none"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https://developer.nvidia.com/blog/using-cuda-warp-level-primitives/</a:t>
            </a:r>
          </a:p>
          <a:p>
            <a:r>
              <a:rPr lang="zh-CN" altLang="en-US"/>
              <a:t>NVIDIA GPUs execute warps of 32 parallel threads using SIMT, which enables each thread to access its own registers, to load and store from divergent addresses, and to follow divergent control flow paths.</a:t>
            </a:r>
          </a:p>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This is the start of an</a:t>
            </a:r>
            <a:r>
              <a:rPr lang="en-US" baseline="0" dirty="0"/>
              <a:t> example explaining how </a:t>
            </a:r>
            <a:r>
              <a:rPr lang="en-US" baseline="0" dirty="0" err="1"/>
              <a:t>GPU’s</a:t>
            </a:r>
            <a:r>
              <a:rPr lang="en-US" baseline="0" dirty="0"/>
              <a:t> wide memory buses work.</a:t>
            </a:r>
            <a:endParaRPr lang="en-US" dirty="0"/>
          </a:p>
        </p:txBody>
      </p:sp>
      <p:sp>
        <p:nvSpPr>
          <p:cNvPr id="4" name="Slide Number Placeholder 3"/>
          <p:cNvSpPr>
            <a:spLocks noGrp="1"/>
          </p:cNvSpPr>
          <p:nvPr>
            <p:ph type="sldNum" sz="quarter" idx="10"/>
          </p:nvPr>
        </p:nvSpPr>
        <p:spPr/>
        <p:txBody>
          <a:bodyPr/>
          <a:lstStyle/>
          <a:p>
            <a:fld id="{82A05460-4291-894E-8010-ACA4919773A1}" type="slidenum">
              <a:rPr lang="en-US" smtClean="0"/>
              <a:t>35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desired</a:t>
            </a:r>
            <a:r>
              <a:rPr lang="en-US" baseline="0" dirty="0"/>
              <a:t> element is at 0x00001232 as shown 2 slides back.</a:t>
            </a:r>
            <a:endParaRPr lang="en-US" dirty="0"/>
          </a:p>
        </p:txBody>
      </p:sp>
      <p:sp>
        <p:nvSpPr>
          <p:cNvPr id="4" name="Slide Number Placeholder 3"/>
          <p:cNvSpPr>
            <a:spLocks noGrp="1"/>
          </p:cNvSpPr>
          <p:nvPr>
            <p:ph type="sldNum" sz="quarter" idx="10"/>
          </p:nvPr>
        </p:nvSpPr>
        <p:spPr/>
        <p:txBody>
          <a:bodyPr/>
          <a:lstStyle/>
          <a:p>
            <a:fld id="{82A05460-4291-894E-8010-ACA4919773A1}" type="slidenum">
              <a:rPr lang="en-US" smtClean="0"/>
              <a:t>37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4" name="图片 3"/>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上下">
    <p:spTree>
      <p:nvGrpSpPr>
        <p:cNvPr id="1" name=""/>
        <p:cNvGrpSpPr/>
        <p:nvPr/>
      </p:nvGrpSpPr>
      <p:grpSpPr>
        <a:xfrm>
          <a:off x="0" y="0"/>
          <a:ext cx="0" cy="0"/>
          <a:chOff x="0" y="0"/>
          <a:chExt cx="0" cy="0"/>
        </a:xfrm>
      </p:grpSpPr>
      <p:sp>
        <p:nvSpPr>
          <p:cNvPr id="1048642" name="标题 1"/>
          <p:cNvSpPr>
            <a:spLocks noGrp="1"/>
          </p:cNvSpPr>
          <p:nvPr>
            <p:ph type="title"/>
          </p:nvPr>
        </p:nvSpPr>
        <p:spPr/>
        <p:txBody>
          <a:bodyPr/>
          <a:lstStyle/>
          <a:p>
            <a:r>
              <a:rPr lang="zh-CN" altLang="en-US"/>
              <a:t>单击此处编辑母版标题样式</a:t>
            </a:r>
          </a:p>
        </p:txBody>
      </p:sp>
      <p:sp>
        <p:nvSpPr>
          <p:cNvPr id="1048643"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48644"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48645" name="内容占位符 3"/>
          <p:cNvSpPr>
            <a:spLocks noGrp="1"/>
          </p:cNvSpPr>
          <p:nvPr>
            <p:ph sz="quarter" idx="13" hasCustomPrompt="1"/>
          </p:nvPr>
        </p:nvSpPr>
        <p:spPr>
          <a:xfrm>
            <a:off x="523874" y="1323975"/>
            <a:ext cx="11277601"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1050438" name="标题 1"/>
          <p:cNvSpPr>
            <a:spLocks noGrp="1"/>
          </p:cNvSpPr>
          <p:nvPr>
            <p:ph type="title"/>
          </p:nvPr>
        </p:nvSpPr>
        <p:spPr/>
        <p:txBody>
          <a:bodyPr/>
          <a:lstStyle/>
          <a:p>
            <a:r>
              <a:rPr lang="zh-CN" altLang="en-US"/>
              <a:t>单击此处编辑母版标题样式</a:t>
            </a:r>
          </a:p>
        </p:txBody>
      </p:sp>
      <p:sp>
        <p:nvSpPr>
          <p:cNvPr id="1050439"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50440" name="内容占位符 3"/>
          <p:cNvSpPr>
            <a:spLocks noGrp="1"/>
          </p:cNvSpPr>
          <p:nvPr>
            <p:ph sz="quarter" idx="13" hasCustomPrompt="1"/>
          </p:nvPr>
        </p:nvSpPr>
        <p:spPr>
          <a:xfrm>
            <a:off x="523873" y="1323976"/>
            <a:ext cx="5591177"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1"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50442" name="内容占位符 3"/>
          <p:cNvSpPr>
            <a:spLocks noGrp="1"/>
          </p:cNvSpPr>
          <p:nvPr>
            <p:ph sz="quarter" idx="14" hasCustomPrompt="1"/>
          </p:nvPr>
        </p:nvSpPr>
        <p:spPr>
          <a:xfrm>
            <a:off x="6210297" y="1323977"/>
            <a:ext cx="5591177" cy="4856162"/>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左右">
    <p:spTree>
      <p:nvGrpSpPr>
        <p:cNvPr id="1" name=""/>
        <p:cNvGrpSpPr/>
        <p:nvPr/>
      </p:nvGrpSpPr>
      <p:grpSpPr>
        <a:xfrm>
          <a:off x="0" y="0"/>
          <a:ext cx="0" cy="0"/>
          <a:chOff x="0" y="0"/>
          <a:chExt cx="0" cy="0"/>
        </a:xfrm>
      </p:grpSpPr>
      <p:sp>
        <p:nvSpPr>
          <p:cNvPr id="1050443" name="标题 1"/>
          <p:cNvSpPr>
            <a:spLocks noGrp="1"/>
          </p:cNvSpPr>
          <p:nvPr>
            <p:ph type="title"/>
          </p:nvPr>
        </p:nvSpPr>
        <p:spPr>
          <a:xfrm>
            <a:off x="666749" y="457201"/>
            <a:ext cx="2771775" cy="5719762"/>
          </a:xfrm>
        </p:spPr>
        <p:txBody>
          <a:bodyPr/>
          <a:lstStyle/>
          <a:p>
            <a:r>
              <a:rPr kumimoji="1" lang="zh-CN" altLang="en-US"/>
              <a:t>单击此处编辑母版标题样式</a:t>
            </a:r>
            <a:endParaRPr kumimoji="1" lang="zh-CN" altLang="en-US" dirty="0"/>
          </a:p>
        </p:txBody>
      </p:sp>
      <p:sp>
        <p:nvSpPr>
          <p:cNvPr id="1050444" name="幻灯片编号占位符 3"/>
          <p:cNvSpPr>
            <a:spLocks noGrp="1"/>
          </p:cNvSpPr>
          <p:nvPr>
            <p:ph type="sldNum" sz="quarter" idx="11"/>
          </p:nvPr>
        </p:nvSpPr>
        <p:spPr/>
        <p:txBody>
          <a:bodyPr/>
          <a:lstStyle/>
          <a:p>
            <a:fld id="{B33F7469-D28B-482F-B1B6-3B8E7CF51519}" type="slidenum">
              <a:rPr lang="zh-CN" altLang="en-US" smtClean="0"/>
              <a:t>‹#›</a:t>
            </a:fld>
            <a:endParaRPr lang="zh-CN" altLang="en-US" dirty="0"/>
          </a:p>
        </p:txBody>
      </p:sp>
      <p:sp>
        <p:nvSpPr>
          <p:cNvPr id="1050445" name="内容占位符 3"/>
          <p:cNvSpPr>
            <a:spLocks noGrp="1"/>
          </p:cNvSpPr>
          <p:nvPr>
            <p:ph sz="quarter" idx="14" hasCustomPrompt="1"/>
          </p:nvPr>
        </p:nvSpPr>
        <p:spPr>
          <a:xfrm>
            <a:off x="3657600" y="457201"/>
            <a:ext cx="8001000" cy="5719763"/>
          </a:xfrm>
        </p:spPr>
        <p:txBody>
          <a:bodyPr anchor="t"/>
          <a:lstStyle>
            <a:lvl1pPr algn="l"/>
            <a:lvl2pPr algn="l"/>
            <a:lvl3pPr algn="l"/>
            <a:lvl4pPr algn="l"/>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6" name="页脚占位符 3"/>
          <p:cNvSpPr>
            <a:spLocks noGrp="1"/>
          </p:cNvSpPr>
          <p:nvPr>
            <p:ph type="ftr" sz="quarter" idx="15"/>
          </p:nvPr>
        </p:nvSpPr>
        <p:spPr>
          <a:xfrm>
            <a:off x="523873" y="6356351"/>
            <a:ext cx="11277601" cy="365125"/>
          </a:xfrm>
        </p:spPr>
        <p:txBody>
          <a:bodyPr/>
          <a:lstStyle/>
          <a:p>
            <a:endParaRPr lang="zh-CN" alt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大纲">
    <p:spTree>
      <p:nvGrpSpPr>
        <p:cNvPr id="1" name=""/>
        <p:cNvGrpSpPr/>
        <p:nvPr/>
      </p:nvGrpSpPr>
      <p:grpSpPr>
        <a:xfrm>
          <a:off x="0" y="0"/>
          <a:ext cx="0" cy="0"/>
          <a:chOff x="0" y="0"/>
          <a:chExt cx="0" cy="0"/>
        </a:xfrm>
      </p:grpSpPr>
      <p:sp>
        <p:nvSpPr>
          <p:cNvPr id="1048650" name="内容占位符 2"/>
          <p:cNvSpPr>
            <a:spLocks noGrp="1"/>
          </p:cNvSpPr>
          <p:nvPr>
            <p:ph sz="quarter" idx="10" hasCustomPrompt="1"/>
            <p:custDataLst>
              <p:tags r:id="rId1"/>
            </p:custDataLst>
          </p:nvPr>
        </p:nvSpPr>
        <p:spPr>
          <a:xfrm>
            <a:off x="5452216" y="0"/>
            <a:ext cx="6110447" cy="6858000"/>
          </a:xfrm>
        </p:spPr>
        <p:txBody>
          <a:bodyPr anchor="ctr"/>
          <a:lstStyle>
            <a:lvl1pPr algn="l">
              <a:lnSpc>
                <a:spcPct val="100000"/>
              </a:lnSpc>
              <a:spcBef>
                <a:spcPts val="3000"/>
              </a:spcBef>
              <a:defRPr sz="2800" baseline="0">
                <a:latin typeface="Ebrima" panose="02000000000000000000" charset="0"/>
              </a:defRPr>
            </a:lvl1pPr>
            <a:lvl2pPr algn="l">
              <a:lnSpc>
                <a:spcPct val="100000"/>
              </a:lnSpc>
              <a:defRPr sz="2400" baseline="0">
                <a:latin typeface="Ebrima" panose="02000000000000000000" charset="0"/>
              </a:defRPr>
            </a:lvl2pPr>
            <a:lvl3pPr algn="l">
              <a:lnSpc>
                <a:spcPct val="100000"/>
              </a:lnSpc>
              <a:defRPr sz="2000" baseline="0">
                <a:latin typeface="Ebrima" panose="02000000000000000000" charset="0"/>
              </a:defRPr>
            </a:lvl3pPr>
            <a:lvl4pPr algn="l">
              <a:lnSpc>
                <a:spcPct val="100000"/>
              </a:lnSpc>
              <a:defRPr sz="1600" baseline="0">
                <a:latin typeface="Ebrima" panose="02000000000000000000" charset="0"/>
              </a:defRP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48651" name="Line 16"/>
          <p:cNvSpPr>
            <a:spLocks noChangeShapeType="1"/>
          </p:cNvSpPr>
          <p:nvPr>
            <p:custDataLst>
              <p:tags r:id="rId2"/>
            </p:custDataLst>
          </p:nvPr>
        </p:nvSpPr>
        <p:spPr bwMode="auto">
          <a:xfrm>
            <a:off x="3057525" y="31750"/>
            <a:ext cx="0" cy="0"/>
          </a:xfrm>
          <a:prstGeom prst="line">
            <a:avLst/>
          </a:prstGeom>
          <a:solidFill>
            <a:srgbClr val="549E39"/>
          </a:solidFill>
          <a:ln w="15" cap="flat">
            <a:solidFill>
              <a:srgbClr val="FFFFFF"/>
            </a:solidFill>
            <a:prstDash val="solid"/>
            <a:miter lim="800000"/>
          </a:ln>
        </p:spPr>
      </p:sp>
      <p:sp>
        <p:nvSpPr>
          <p:cNvPr id="1048658" name="内容占位符 22"/>
          <p:cNvSpPr>
            <a:spLocks noGrp="1"/>
          </p:cNvSpPr>
          <p:nvPr>
            <p:ph sz="quarter" idx="11" hasCustomPrompt="1"/>
            <p:custDataLst>
              <p:tags r:id="rId3"/>
            </p:custDataLst>
          </p:nvPr>
        </p:nvSpPr>
        <p:spPr>
          <a:xfrm>
            <a:off x="0" y="0"/>
            <a:ext cx="4659313" cy="6858000"/>
          </a:xfrm>
          <a:solidFill>
            <a:srgbClr val="8B0012"/>
          </a:solidFill>
        </p:spPr>
        <p:txBody>
          <a:bodyPr anchor="ctr">
            <a:normAutofit/>
          </a:bodyPr>
          <a:lstStyle>
            <a:lvl1pPr marL="0" indent="0" algn="ctr">
              <a:buNone/>
              <a:defRPr sz="3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Outline</a:t>
            </a:r>
            <a:endParaRPr lang="zh-CN" alt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cSld name="自定义版式">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cSld name="Unnamed Layou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048630" name="日期占位符 2"/>
          <p:cNvSpPr>
            <a:spLocks noGrp="1"/>
          </p:cNvSpPr>
          <p:nvPr>
            <p:ph type="dt" sz="half" idx="10"/>
          </p:nvPr>
        </p:nvSpPr>
        <p:spPr>
          <a:xfrm>
            <a:off x="1256418" y="5448300"/>
            <a:ext cx="10396122" cy="447675"/>
          </a:xfrm>
          <a:prstGeom prst="rect">
            <a:avLst/>
          </a:prstGeom>
        </p:spPr>
        <p:txBody>
          <a:bodyPr/>
          <a:lstStyle>
            <a:lvl1pPr algn="ctr">
              <a:defRPr lang="zh-CN" altLang="en-US" sz="2400" b="0" i="0" kern="1200" baseline="0" smtClean="0">
                <a:solidFill>
                  <a:schemeClr val="tx1">
                    <a:lumMod val="85000"/>
                    <a:lumOff val="15000"/>
                  </a:schemeClr>
                </a:solidFill>
                <a:latin typeface="Calibri Light" panose="020F0302020204030204" pitchFamily="34" charset="0"/>
                <a:ea typeface="微软雅黑" panose="020B0503020204020204" charset="-122"/>
                <a:cs typeface="Calibri Light" panose="020F0302020204030204" pitchFamily="34" charset="0"/>
              </a:defRPr>
            </a:lvl1pPr>
          </a:lstStyle>
          <a:p>
            <a:endParaRPr lang="en-US" dirty="0"/>
          </a:p>
        </p:txBody>
      </p:sp>
      <p:sp>
        <p:nvSpPr>
          <p:cNvPr id="1048631" name="页脚占位符 3"/>
          <p:cNvSpPr>
            <a:spLocks noGrp="1"/>
          </p:cNvSpPr>
          <p:nvPr>
            <p:ph type="ftr" sz="quarter" idx="11"/>
          </p:nvPr>
        </p:nvSpPr>
        <p:spPr>
          <a:xfrm>
            <a:off x="1256418" y="6356351"/>
            <a:ext cx="10396122" cy="365125"/>
          </a:xfrm>
          <a:prstGeom prst="rect">
            <a:avLst/>
          </a:prstGeom>
        </p:spPr>
        <p:txBody>
          <a:bodyPr/>
          <a:lstStyle/>
          <a:p>
            <a:endParaRPr lang="zh-CN" altLang="en-US" dirty="0"/>
          </a:p>
        </p:txBody>
      </p:sp>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sp>
        <p:nvSpPr>
          <p:cNvPr id="1048633" name="副标题 2"/>
          <p:cNvSpPr>
            <a:spLocks noGrp="1"/>
          </p:cNvSpPr>
          <p:nvPr>
            <p:ph type="subTitle" idx="1"/>
          </p:nvPr>
        </p:nvSpPr>
        <p:spPr>
          <a:xfrm>
            <a:off x="1260390" y="4846320"/>
            <a:ext cx="10392032" cy="474980"/>
          </a:xfrm>
          <a:prstGeom prst="rect">
            <a:avLst/>
          </a:prstGeom>
        </p:spPr>
        <p:txBody>
          <a:bodyPr anchor="ctr">
            <a:noAutofit/>
          </a:bodyPr>
          <a:lstStyle>
            <a:lvl1pPr marL="0" indent="0" algn="ctr">
              <a:buNone/>
              <a:defRPr sz="2400" b="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727587" y="1622323"/>
            <a:ext cx="10943800" cy="3028335"/>
          </a:xfrm>
        </p:spPr>
        <p:txBody>
          <a:bodyPr anchor="ctr">
            <a:noAutofit/>
          </a:bodyPr>
          <a:lstStyle>
            <a:lvl1pPr algn="l"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236070619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3136489" y="3716594"/>
            <a:ext cx="8534897" cy="2664541"/>
          </a:xfrm>
        </p:spPr>
        <p:txBody>
          <a:bodyPr anchor="ctr">
            <a:noAutofit/>
          </a:bodyPr>
          <a:lstStyle>
            <a:lvl1pPr algn="r"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384187608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1048637" name="文本占位符 2"/>
          <p:cNvSpPr>
            <a:spLocks noGrp="1"/>
          </p:cNvSpPr>
          <p:nvPr>
            <p:ph type="body" idx="1"/>
          </p:nvPr>
        </p:nvSpPr>
        <p:spPr>
          <a:xfrm>
            <a:off x="523874" y="1323975"/>
            <a:ext cx="11277601" cy="4832577"/>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48638" name="标题占位符 1"/>
          <p:cNvSpPr>
            <a:spLocks noGrp="1"/>
          </p:cNvSpPr>
          <p:nvPr>
            <p:ph type="title"/>
          </p:nvPr>
        </p:nvSpPr>
        <p:spPr>
          <a:xfrm>
            <a:off x="741404" y="431629"/>
            <a:ext cx="9987507" cy="700925"/>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1048639" name="页脚占位符 4"/>
          <p:cNvSpPr>
            <a:spLocks noGrp="1"/>
          </p:cNvSpPr>
          <p:nvPr>
            <p:ph type="ftr" sz="quarter" idx="3"/>
          </p:nvPr>
        </p:nvSpPr>
        <p:spPr>
          <a:xfrm>
            <a:off x="523874" y="6356351"/>
            <a:ext cx="11277601" cy="365125"/>
          </a:xfrm>
          <a:prstGeom prst="rect">
            <a:avLst/>
          </a:prstGeom>
        </p:spPr>
        <p:txBody>
          <a:bodyPr vert="horz" lIns="91440" tIns="45720" rIns="91440" bIns="45720" rtlCol="0" anchor="ctr"/>
          <a:lstStyle>
            <a:lvl1pPr algn="l">
              <a:defRPr sz="1400" baseline="0">
                <a:solidFill>
                  <a:schemeClr val="accent3"/>
                </a:solidFill>
                <a:latin typeface="Garamond" panose="02020404030301010803" charset="0"/>
                <a:ea typeface="微软雅黑" panose="020B0503020204020204" charset="-122"/>
              </a:defRPr>
            </a:lvl1pPr>
          </a:lstStyle>
          <a:p>
            <a:endParaRPr lang="zh-CN" altLang="en-US" dirty="0"/>
          </a:p>
        </p:txBody>
      </p:sp>
      <p:sp>
        <p:nvSpPr>
          <p:cNvPr id="1048640" name="Freeform 5"/>
          <p:cNvSpPr/>
          <p:nvPr/>
        </p:nvSpPr>
        <p:spPr bwMode="auto">
          <a:xfrm flipV="1">
            <a:off x="-4185" y="529393"/>
            <a:ext cx="564624" cy="507999"/>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rgbClr val="8B0012"/>
          </a:solidFill>
          <a:ln>
            <a:noFill/>
          </a:ln>
        </p:spPr>
        <p:txBody>
          <a:bodyPr/>
          <a:lstStyle/>
          <a:p>
            <a:endParaRPr lang="en-US" sz="1350" dirty="0"/>
          </a:p>
        </p:txBody>
      </p:sp>
      <p:sp>
        <p:nvSpPr>
          <p:cNvPr id="1048641" name="灯片编号占位符 5"/>
          <p:cNvSpPr>
            <a:spLocks noGrp="1"/>
          </p:cNvSpPr>
          <p:nvPr>
            <p:ph type="sldNum" sz="quarter" idx="4"/>
          </p:nvPr>
        </p:nvSpPr>
        <p:spPr>
          <a:xfrm>
            <a:off x="1" y="593458"/>
            <a:ext cx="419099" cy="365125"/>
          </a:xfrm>
          <a:prstGeom prst="rect">
            <a:avLst/>
          </a:prstGeom>
        </p:spPr>
        <p:txBody>
          <a:bodyPr vert="horz" lIns="91440" tIns="45720" rIns="91440" bIns="45720" rtlCol="0" anchor="ctr"/>
          <a:lstStyle>
            <a:lvl1pPr algn="r">
              <a:defRPr sz="1600" b="0" baseline="0">
                <a:solidFill>
                  <a:schemeClr val="bg1"/>
                </a:solidFill>
                <a:latin typeface="Garamond" panose="02020404030301010803" charset="0"/>
                <a:ea typeface="微软雅黑" panose="020B0503020204020204" charset="-122"/>
                <a:cs typeface="Calibri" panose="020F0502020204030204" charset="0"/>
              </a:defRPr>
            </a:lvl1pPr>
          </a:lstStyle>
          <a:p>
            <a:fld id="{B33F7469-D28B-482F-B1B6-3B8E7CF51519}" type="slidenum">
              <a:rPr lang="zh-CN" altLang="en-US" smtClean="0"/>
              <a:t>‹#›</a:t>
            </a:fld>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14"/>
            <a:stretch>
              <a:fillRect/>
            </a:stretch>
          </p:blipFill>
          <p:spPr>
            <a:xfrm>
              <a:off x="9247450" y="319584"/>
              <a:ext cx="1096400" cy="336123"/>
            </a:xfrm>
            <a:prstGeom prst="rect">
              <a:avLst/>
            </a:prstGeom>
          </p:spPr>
        </p:pic>
        <p:pic>
          <p:nvPicPr>
            <p:cNvPr id="4" name="图片 3"/>
            <p:cNvPicPr>
              <a:picLocks noChangeAspect="1"/>
            </p:cNvPicPr>
            <p:nvPr/>
          </p:nvPicPr>
          <p:blipFill>
            <a:blip r:embed="rId15"/>
            <a:srcRect l="13229" t="29812" r="10431" b="29796"/>
            <a:stretch>
              <a:fillRect/>
            </a:stretch>
          </p:blipFill>
          <p:spPr>
            <a:xfrm>
              <a:off x="10553199" y="217531"/>
              <a:ext cx="1274701" cy="547850"/>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hdr="0" dt="0"/>
  <p:txStyles>
    <p:titleStyle>
      <a:lvl1pPr algn="l" defTabSz="342900" rtl="0" eaLnBrk="1" latinLnBrk="0" hangingPunct="1">
        <a:spcBef>
          <a:spcPct val="0"/>
        </a:spcBef>
        <a:buNone/>
        <a:defRPr lang="zh-CN" altLang="en-US" sz="3600" b="0" i="0" kern="1200" baseline="0" dirty="0">
          <a:solidFill>
            <a:schemeClr val="tx1">
              <a:lumMod val="85000"/>
              <a:lumOff val="15000"/>
            </a:schemeClr>
          </a:solidFill>
          <a:latin typeface="Calibri" panose="020F0502020204030204" charset="0"/>
          <a:ea typeface="微软雅黑" panose="020B050302020402020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6.xml"/><Relationship Id="rId7" Type="http://schemas.openxmlformats.org/officeDocument/2006/relationships/image" Target="../media/image5.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notesSlide" Target="../notesSlides/notesSlide1.xml"/><Relationship Id="rId5" Type="http://schemas.openxmlformats.org/officeDocument/2006/relationships/slideLayout" Target="../slideLayouts/slideLayout2.xml"/><Relationship Id="rId10" Type="http://schemas.openxmlformats.org/officeDocument/2006/relationships/image" Target="../media/image8.png"/><Relationship Id="rId4" Type="http://schemas.openxmlformats.org/officeDocument/2006/relationships/tags" Target="../tags/tag7.xml"/><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webp"/><Relationship Id="rId4" Type="http://schemas.openxmlformats.org/officeDocument/2006/relationships/image" Target="../media/image13.webp"/></Relationships>
</file>

<file path=ppt/slides/_rels/slide7.xml.rels><?xml version="1.0" encoding="UTF-8" standalone="yes"?>
<Relationships xmlns="http://schemas.openxmlformats.org/package/2006/relationships"><Relationship Id="rId3" Type="http://schemas.openxmlformats.org/officeDocument/2006/relationships/image" Target="../media/image13.webp"/><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19.webp"/><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jpe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27.jpe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0.webp"/><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1.webp"/></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4.webp"/><Relationship Id="rId4" Type="http://schemas.openxmlformats.org/officeDocument/2006/relationships/image" Target="../media/image33.sv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tags" Target="../tags/tag22.xml"/><Relationship Id="rId18" Type="http://schemas.openxmlformats.org/officeDocument/2006/relationships/image" Target="../media/image47.png"/><Relationship Id="rId26" Type="http://schemas.openxmlformats.org/officeDocument/2006/relationships/hyperlink" Target="https://www.zhihu.com/people/95-22-20-18/posts" TargetMode="External"/><Relationship Id="rId3" Type="http://schemas.openxmlformats.org/officeDocument/2006/relationships/tags" Target="../tags/tag12.xml"/><Relationship Id="rId21" Type="http://schemas.openxmlformats.org/officeDocument/2006/relationships/image" Target="../media/image50.png"/><Relationship Id="rId7" Type="http://schemas.openxmlformats.org/officeDocument/2006/relationships/tags" Target="../tags/tag16.xml"/><Relationship Id="rId12" Type="http://schemas.openxmlformats.org/officeDocument/2006/relationships/tags" Target="../tags/tag21.xml"/><Relationship Id="rId17" Type="http://schemas.openxmlformats.org/officeDocument/2006/relationships/slideLayout" Target="../slideLayouts/slideLayout6.xml"/><Relationship Id="rId25" Type="http://schemas.openxmlformats.org/officeDocument/2006/relationships/hyperlink" Target="https://space.bilibili.com/3546791834290849" TargetMode="External"/><Relationship Id="rId2" Type="http://schemas.openxmlformats.org/officeDocument/2006/relationships/tags" Target="../tags/tag11.xml"/><Relationship Id="rId16" Type="http://schemas.openxmlformats.org/officeDocument/2006/relationships/tags" Target="../tags/tag25.xml"/><Relationship Id="rId20" Type="http://schemas.openxmlformats.org/officeDocument/2006/relationships/image" Target="../media/image49.png"/><Relationship Id="rId29" Type="http://schemas.openxmlformats.org/officeDocument/2006/relationships/image" Target="../media/image54.png"/><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24" Type="http://schemas.openxmlformats.org/officeDocument/2006/relationships/hyperlink" Target="https://github.com/flagos-ai" TargetMode="External"/><Relationship Id="rId5" Type="http://schemas.openxmlformats.org/officeDocument/2006/relationships/tags" Target="../tags/tag14.xml"/><Relationship Id="rId15" Type="http://schemas.openxmlformats.org/officeDocument/2006/relationships/tags" Target="../tags/tag24.xml"/><Relationship Id="rId23" Type="http://schemas.openxmlformats.org/officeDocument/2006/relationships/image" Target="../media/image52.png"/><Relationship Id="rId28" Type="http://schemas.openxmlformats.org/officeDocument/2006/relationships/image" Target="../media/image53.jpeg"/><Relationship Id="rId10" Type="http://schemas.openxmlformats.org/officeDocument/2006/relationships/tags" Target="../tags/tag19.xml"/><Relationship Id="rId19" Type="http://schemas.openxmlformats.org/officeDocument/2006/relationships/image" Target="../media/image48.png"/><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tags" Target="../tags/tag23.xml"/><Relationship Id="rId22" Type="http://schemas.openxmlformats.org/officeDocument/2006/relationships/image" Target="../media/image51.png"/><Relationship Id="rId27" Type="http://schemas.openxmlformats.org/officeDocument/2006/relationships/hyperlink" Target="https://flagos.io/Home"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5.jpeg"/><Relationship Id="rId1" Type="http://schemas.openxmlformats.org/officeDocument/2006/relationships/slideLayout" Target="../slideLayouts/slideLayout1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개체 틀 3"/>
          <p:cNvPicPr>
            <a:picLocks noGrp="1" noChangeAspect="1"/>
          </p:cNvPicPr>
          <p:nvPr>
            <p:ph type="pic" sz="quarter" idx="10"/>
          </p:nvPr>
        </p:nvPicPr>
        <p:blipFill>
          <a:blip r:embed="rId2"/>
          <a:srcRect t="350" b="350"/>
          <a:stretch>
            <a:fillRect/>
          </a:stretch>
        </p:blipFill>
        <p:spPr>
          <a:xfrm>
            <a:off x="0" y="1"/>
            <a:ext cx="12192000" cy="6858000"/>
          </a:xfrm>
        </p:spPr>
      </p:pic>
      <p:sp>
        <p:nvSpPr>
          <p:cNvPr id="6" name="제목 5"/>
          <p:cNvSpPr>
            <a:spLocks noGrp="1"/>
          </p:cNvSpPr>
          <p:nvPr>
            <p:ph type="ctrTitle"/>
          </p:nvPr>
        </p:nvSpPr>
        <p:spPr>
          <a:xfrm>
            <a:off x="727710" y="1622425"/>
            <a:ext cx="5553710" cy="3028315"/>
          </a:xfrm>
        </p:spPr>
        <p:txBody>
          <a:bodyPr/>
          <a:lstStyle/>
          <a:p>
            <a:pPr algn="l"/>
            <a:r>
              <a:rPr lang="en-US" altLang="zh-CN" sz="4000">
                <a:latin typeface="+mj-cs"/>
                <a:cs typeface="+mj-cs"/>
              </a:rPr>
              <a:t>Hardware and Software Fundamentals of </a:t>
            </a:r>
            <a:br>
              <a:rPr lang="en-US" altLang="zh-CN" sz="4000">
                <a:latin typeface="+mj-cs"/>
                <a:cs typeface="+mj-cs"/>
              </a:rPr>
            </a:br>
            <a:r>
              <a:rPr lang="en-US" altLang="zh-CN" sz="4000">
                <a:latin typeface="+mj-cs"/>
                <a:cs typeface="+mj-cs"/>
              </a:rPr>
              <a:t>Intelligent Computing </a:t>
            </a:r>
            <a:br>
              <a:rPr lang="en-US" altLang="zh-CN" sz="4000">
                <a:latin typeface="+mj-cs"/>
                <a:cs typeface="+mj-cs"/>
              </a:rPr>
            </a:br>
            <a:r>
              <a:rPr lang="en-US" altLang="zh-CN" sz="4000">
                <a:latin typeface="+mj-cs"/>
                <a:cs typeface="+mj-cs"/>
              </a:rPr>
              <a:t>Systems</a:t>
            </a:r>
          </a:p>
        </p:txBody>
      </p:sp>
      <p:grpSp>
        <p:nvGrpSpPr>
          <p:cNvPr id="9" name="그룹 8"/>
          <p:cNvGrpSpPr/>
          <p:nvPr/>
        </p:nvGrpSpPr>
        <p:grpSpPr>
          <a:xfrm>
            <a:off x="364100" y="6255612"/>
            <a:ext cx="409904" cy="409904"/>
            <a:chOff x="11591418" y="6255612"/>
            <a:chExt cx="409904" cy="409904"/>
          </a:xfrm>
        </p:grpSpPr>
        <p:sp>
          <p:nvSpPr>
            <p:cNvPr id="10" name="타원 9"/>
            <p:cNvSpPr/>
            <p:nvPr/>
          </p:nvSpPr>
          <p:spPr>
            <a:xfrm>
              <a:off x="11591418" y="6255612"/>
              <a:ext cx="409904" cy="4099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1" name="갈매기형 수장[C] 10"/>
            <p:cNvSpPr/>
            <p:nvPr/>
          </p:nvSpPr>
          <p:spPr>
            <a:xfrm>
              <a:off x="11732864" y="6397058"/>
              <a:ext cx="127012" cy="127012"/>
            </a:xfrm>
            <a:prstGeom prst="chevron">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chemeClr val="tx1"/>
                </a:solidFill>
              </a:endParaRPr>
            </a:p>
          </p:txBody>
        </p:sp>
      </p:grpSp>
      <p:grpSp>
        <p:nvGrpSpPr>
          <p:cNvPr id="13" name="组合 12"/>
          <p:cNvGrpSpPr/>
          <p:nvPr/>
        </p:nvGrpSpPr>
        <p:grpSpPr>
          <a:xfrm>
            <a:off x="9247450" y="217531"/>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12" name="图片 11"/>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fontScale="90000"/>
          </a:bodyPr>
          <a:lstStyle/>
          <a:p>
            <a:r>
              <a:rPr lang="en-US" altLang="zh-CN"/>
              <a:t>Lecture 02: Fundamentals of Heterogeneous Computing Programming Models</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sz="quarter" idx="10"/>
          </p:nvPr>
        </p:nvSpPr>
        <p:spPr/>
        <p:txBody>
          <a:bodyPr/>
          <a:lstStyle/>
          <a:p>
            <a:r>
              <a:rPr lang="x-none" altLang="zh-CN" b="1">
                <a:solidFill>
                  <a:srgbClr val="8B0012"/>
                </a:solidFill>
              </a:rPr>
              <a:t>Host, Device, and Interconnect</a:t>
            </a:r>
          </a:p>
          <a:p>
            <a:pPr lvl="1"/>
            <a:r>
              <a:rPr lang="x-none" altLang="zh-CN"/>
              <a:t>host-dev: PCIe, NVLink-C2C</a:t>
            </a:r>
          </a:p>
          <a:p>
            <a:pPr lvl="1"/>
            <a:r>
              <a:rPr lang="x-none" altLang="zh-CN"/>
              <a:t>dev-dev: PCIe, NVLink, (RDMA)</a:t>
            </a:r>
          </a:p>
          <a:p>
            <a:r>
              <a:rPr lang="x-none" altLang="zh-CN"/>
              <a:t>Programming CUDA Cores</a:t>
            </a:r>
          </a:p>
          <a:p>
            <a:pPr marL="0" indent="0">
              <a:buNone/>
            </a:pPr>
            <a:endParaRPr lang="x-none" altLang="zh-CN"/>
          </a:p>
        </p:txBody>
      </p:sp>
      <p:sp>
        <p:nvSpPr>
          <p:cNvPr id="7" name="内容占位符 6"/>
          <p:cNvSpPr>
            <a:spLocks noGrp="1"/>
          </p:cNvSpPr>
          <p:nvPr>
            <p:ph sz="quarter" idx="11"/>
          </p:nvPr>
        </p:nvSpPr>
        <p:spPr/>
        <p:txBody>
          <a:bodyPr/>
          <a:lstStyle/>
          <a:p>
            <a:r>
              <a:rPr lang="x-none" altLang="zh-CN"/>
              <a:t>Outline</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AI Hardware Spectrum: Key Examples</a:t>
            </a:r>
            <a:r>
              <a:t>（</a:t>
            </a:r>
            <a:r>
              <a:rPr lang="x-none" altLang="zh-CN"/>
              <a:t>1</a:t>
            </a:r>
            <a:r>
              <a:rPr lang="en-US" altLang="zh-CN"/>
              <a:t>/2</a:t>
            </a:r>
            <a:r>
              <a:t>）</a:t>
            </a:r>
            <a:endParaRPr lang="en-US" altLang="zh-CN"/>
          </a:p>
        </p:txBody>
      </p:sp>
      <p:sp>
        <p:nvSpPr>
          <p:cNvPr id="4" name="页脚占位符 3"/>
          <p:cNvSpPr>
            <a:spLocks noGrp="1"/>
          </p:cNvSpPr>
          <p:nvPr>
            <p:ph type="ftr" sz="quarter" idx="11"/>
          </p:nvPr>
        </p:nvSpPr>
        <p:spPr/>
        <p:txBody>
          <a:bodyPr/>
          <a:lstStyle/>
          <a:p>
            <a:endParaRPr lang="en-US" altLang="zh-CN"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4</a:t>
            </a:fld>
            <a:endParaRPr lang="zh-CN" altLang="en-US" dirty="0"/>
          </a:p>
        </p:txBody>
      </p:sp>
      <p:pic>
        <p:nvPicPr>
          <p:cNvPr id="6" name="图片 5" descr="post_object_image_3176264927"/>
          <p:cNvPicPr>
            <a:picLocks noChangeAspect="1"/>
          </p:cNvPicPr>
          <p:nvPr>
            <p:custDataLst>
              <p:tags r:id="rId1"/>
            </p:custDataLst>
          </p:nvPr>
        </p:nvPicPr>
        <p:blipFill>
          <a:blip r:embed="rId7">
            <a:clrChange>
              <a:clrFrom>
                <a:srgbClr val="FFFFFF">
                  <a:alpha val="100000"/>
                </a:srgbClr>
              </a:clrFrom>
              <a:clrTo>
                <a:srgbClr val="FFFFFF">
                  <a:alpha val="100000"/>
                  <a:alpha val="0"/>
                </a:srgbClr>
              </a:clrTo>
            </a:clrChange>
          </a:blip>
          <a:stretch>
            <a:fillRect/>
          </a:stretch>
        </p:blipFill>
        <p:spPr>
          <a:xfrm>
            <a:off x="1997341" y="1040818"/>
            <a:ext cx="4397504" cy="2476360"/>
          </a:xfrm>
          <a:prstGeom prst="rect">
            <a:avLst/>
          </a:prstGeom>
        </p:spPr>
      </p:pic>
      <p:pic>
        <p:nvPicPr>
          <p:cNvPr id="11" name="图片 10" descr="post_object_image_167985299"/>
          <p:cNvPicPr>
            <a:picLocks noChangeAspect="1"/>
          </p:cNvPicPr>
          <p:nvPr>
            <p:custDataLst>
              <p:tags r:id="rId2"/>
            </p:custDataLst>
          </p:nvPr>
        </p:nvPicPr>
        <p:blipFill>
          <a:blip r:embed="rId8"/>
          <a:stretch>
            <a:fillRect/>
          </a:stretch>
        </p:blipFill>
        <p:spPr>
          <a:xfrm>
            <a:off x="6649612" y="958566"/>
            <a:ext cx="2449563" cy="2454433"/>
          </a:xfrm>
          <a:prstGeom prst="rect">
            <a:avLst/>
          </a:prstGeom>
        </p:spPr>
      </p:pic>
      <p:pic>
        <p:nvPicPr>
          <p:cNvPr id="13" name="图片 12" descr="post_object_image_2915427855"/>
          <p:cNvPicPr>
            <a:picLocks noChangeAspect="1"/>
          </p:cNvPicPr>
          <p:nvPr>
            <p:custDataLst>
              <p:tags r:id="rId3"/>
            </p:custDataLst>
          </p:nvPr>
        </p:nvPicPr>
        <p:blipFill>
          <a:blip r:embed="rId9">
            <a:clrChange>
              <a:clrFrom>
                <a:srgbClr val="FFFFFF">
                  <a:alpha val="100000"/>
                </a:srgbClr>
              </a:clrFrom>
              <a:clrTo>
                <a:srgbClr val="FFFFFF">
                  <a:alpha val="100000"/>
                  <a:alpha val="0"/>
                </a:srgbClr>
              </a:clrTo>
            </a:clrChange>
          </a:blip>
          <a:stretch>
            <a:fillRect/>
          </a:stretch>
        </p:blipFill>
        <p:spPr>
          <a:xfrm>
            <a:off x="2886321" y="3763880"/>
            <a:ext cx="2620322" cy="2625532"/>
          </a:xfrm>
          <a:prstGeom prst="rect">
            <a:avLst/>
          </a:prstGeom>
        </p:spPr>
      </p:pic>
      <p:pic>
        <p:nvPicPr>
          <p:cNvPr id="15" name="图片 14" descr="7b0a202020202266696c746572223a202235220a7d0a"/>
          <p:cNvPicPr>
            <a:picLocks noChangeAspect="1"/>
          </p:cNvPicPr>
          <p:nvPr>
            <p:custDataLst>
              <p:tags r:id="rId4"/>
            </p:custDataLst>
          </p:nvPr>
        </p:nvPicPr>
        <p:blipFill>
          <a:blip r:embed="rId10">
            <a:clrChange>
              <a:clrFrom>
                <a:srgbClr val="F4F4F4">
                  <a:alpha val="100000"/>
                </a:srgbClr>
              </a:clrFrom>
              <a:clrTo>
                <a:srgbClr val="F4F4F4">
                  <a:alpha val="100000"/>
                  <a:alpha val="0"/>
                </a:srgbClr>
              </a:clrTo>
            </a:clrChange>
          </a:blip>
          <a:stretch>
            <a:fillRect/>
          </a:stretch>
        </p:blipFill>
        <p:spPr>
          <a:xfrm>
            <a:off x="5450504" y="3763828"/>
            <a:ext cx="4847835" cy="2721497"/>
          </a:xfrm>
          <a:prstGeom prst="rect">
            <a:avLst/>
          </a:prstGeom>
        </p:spPr>
      </p:pic>
      <p:sp>
        <p:nvSpPr>
          <p:cNvPr id="16" name="文本框 15"/>
          <p:cNvSpPr txBox="1"/>
          <p:nvPr userDrawn="1"/>
        </p:nvSpPr>
        <p:spPr>
          <a:xfrm>
            <a:off x="568475" y="1978814"/>
            <a:ext cx="2017265" cy="414929"/>
          </a:xfrm>
          <a:prstGeom prst="rect">
            <a:avLst/>
          </a:prstGeom>
        </p:spPr>
        <p:txBody>
          <a:bodyPr wrap="square" rtlCol="0" anchor="ctr" anchorCtr="0">
            <a:noAutofit/>
          </a:bodyPr>
          <a:lstStyle/>
          <a:p>
            <a:pPr algn="ctr"/>
            <a:r>
              <a:rPr lang="en-US" altLang="zh-CN" b="1">
                <a:solidFill>
                  <a:schemeClr val="accent6">
                    <a:lumMod val="75000"/>
                  </a:schemeClr>
                </a:solidFill>
              </a:rPr>
              <a:t>Cloud ML</a:t>
            </a:r>
          </a:p>
          <a:p>
            <a:pPr algn="ctr"/>
            <a:r>
              <a:rPr lang="en-US" altLang="zh-CN"/>
              <a:t>NVIDIA DGX 100</a:t>
            </a:r>
            <a:endParaRPr lang="zh-CN" altLang="en-US"/>
          </a:p>
        </p:txBody>
      </p:sp>
      <p:sp>
        <p:nvSpPr>
          <p:cNvPr id="17" name="文本框 16"/>
          <p:cNvSpPr txBox="1"/>
          <p:nvPr userDrawn="1"/>
        </p:nvSpPr>
        <p:spPr>
          <a:xfrm>
            <a:off x="9354070" y="1978586"/>
            <a:ext cx="2448000" cy="414929"/>
          </a:xfrm>
          <a:prstGeom prst="rect">
            <a:avLst/>
          </a:prstGeom>
        </p:spPr>
        <p:txBody>
          <a:bodyPr wrap="square" rtlCol="0" anchor="ctr" anchorCtr="0">
            <a:noAutofit/>
          </a:bodyPr>
          <a:lstStyle/>
          <a:p>
            <a:pPr algn="ctr"/>
            <a:r>
              <a:rPr lang="en-US" altLang="zh-CN" b="1">
                <a:solidFill>
                  <a:schemeClr val="accent6">
                    <a:lumMod val="75000"/>
                  </a:schemeClr>
                </a:solidFill>
              </a:rPr>
              <a:t>Edge ML</a:t>
            </a:r>
          </a:p>
          <a:p>
            <a:pPr algn="ctr"/>
            <a:r>
              <a:rPr lang="en-US" altLang="zh-CN"/>
              <a:t>NVIDIA </a:t>
            </a:r>
            <a:r>
              <a:rPr lang="en-US" altLang="zh-CN">
                <a:solidFill>
                  <a:schemeClr val="tx1"/>
                </a:solidFill>
              </a:rPr>
              <a:t>Jetson</a:t>
            </a:r>
          </a:p>
          <a:p>
            <a:pPr algn="ctr"/>
            <a:r>
              <a:rPr lang="en-US" altLang="zh-CN">
                <a:solidFill>
                  <a:schemeClr val="tx1"/>
                </a:solidFill>
              </a:rPr>
              <a:t>AGX Orin</a:t>
            </a:r>
            <a:endParaRPr lang="en-US" altLang="zh-CN"/>
          </a:p>
        </p:txBody>
      </p:sp>
      <p:sp>
        <p:nvSpPr>
          <p:cNvPr id="18" name="文本框 17"/>
          <p:cNvSpPr txBox="1"/>
          <p:nvPr userDrawn="1"/>
        </p:nvSpPr>
        <p:spPr>
          <a:xfrm>
            <a:off x="568475" y="4868975"/>
            <a:ext cx="2017265" cy="414929"/>
          </a:xfrm>
          <a:prstGeom prst="rect">
            <a:avLst/>
          </a:prstGeom>
        </p:spPr>
        <p:txBody>
          <a:bodyPr wrap="square" rtlCol="0" anchor="ctr" anchorCtr="0">
            <a:noAutofit/>
          </a:bodyPr>
          <a:lstStyle/>
          <a:p>
            <a:pPr algn="ctr"/>
            <a:r>
              <a:rPr lang="en-US" altLang="zh-CN" b="1">
                <a:solidFill>
                  <a:schemeClr val="accent6">
                    <a:lumMod val="75000"/>
                  </a:schemeClr>
                </a:solidFill>
              </a:rPr>
              <a:t>Mobile ML</a:t>
            </a:r>
          </a:p>
          <a:p>
            <a:pPr algn="ctr"/>
            <a:r>
              <a:rPr lang="zh-CN" altLang="en-US">
                <a:solidFill>
                  <a:schemeClr val="tx1"/>
                </a:solidFill>
              </a:rPr>
              <a:t>i</a:t>
            </a:r>
            <a:r>
              <a:rPr lang="en-US" altLang="zh-CN">
                <a:solidFill>
                  <a:schemeClr val="tx1"/>
                </a:solidFill>
              </a:rPr>
              <a:t>Phone</a:t>
            </a:r>
            <a:endParaRPr lang="zh-CN" altLang="en-US"/>
          </a:p>
        </p:txBody>
      </p:sp>
      <p:sp>
        <p:nvSpPr>
          <p:cNvPr id="19" name="文本框 18"/>
          <p:cNvSpPr txBox="1"/>
          <p:nvPr userDrawn="1"/>
        </p:nvSpPr>
        <p:spPr>
          <a:xfrm>
            <a:off x="9292377" y="4869029"/>
            <a:ext cx="2448000" cy="414929"/>
          </a:xfrm>
          <a:prstGeom prst="rect">
            <a:avLst/>
          </a:prstGeom>
        </p:spPr>
        <p:txBody>
          <a:bodyPr wrap="square" rtlCol="0" anchor="ctr" anchorCtr="0">
            <a:noAutofit/>
          </a:bodyPr>
          <a:lstStyle/>
          <a:p>
            <a:pPr algn="ctr"/>
            <a:r>
              <a:rPr lang="en-US" altLang="zh-CN" b="1">
                <a:solidFill>
                  <a:schemeClr val="accent6">
                    <a:lumMod val="75000"/>
                  </a:schemeClr>
                </a:solidFill>
              </a:rPr>
              <a:t>Tiny ML</a:t>
            </a:r>
          </a:p>
          <a:p>
            <a:pPr algn="ctr"/>
            <a:r>
              <a:rPr lang="zh-CN" altLang="en-US">
                <a:solidFill>
                  <a:schemeClr val="tx1"/>
                </a:solidFill>
              </a:rPr>
              <a:t>A</a:t>
            </a:r>
            <a:r>
              <a:rPr lang="en-US" altLang="zh-CN">
                <a:solidFill>
                  <a:schemeClr val="tx1"/>
                </a:solidFill>
              </a:rPr>
              <a:t>rduino Nano 33</a:t>
            </a:r>
          </a:p>
          <a:p>
            <a:pPr algn="ctr"/>
            <a:r>
              <a:rPr lang="en-US" altLang="zh-CN">
                <a:solidFill>
                  <a:schemeClr val="tx1"/>
                </a:solidFill>
              </a:rPr>
              <a:t>BLE Sense</a:t>
            </a:r>
            <a:endParaRPr lang="zh-CN" altLang="en-US"/>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AI Hardware Spectrum: Key Examples</a:t>
            </a:r>
            <a:r>
              <a:rPr>
                <a:sym typeface="+mn-ea"/>
              </a:rPr>
              <a:t>（</a:t>
            </a:r>
            <a:r>
              <a:rPr lang="x-none" altLang="zh-CN">
                <a:sym typeface="+mn-ea"/>
              </a:rPr>
              <a:t>2</a:t>
            </a:r>
            <a:r>
              <a:rPr lang="en-US" altLang="zh-CN">
                <a:sym typeface="+mn-ea"/>
              </a:rPr>
              <a:t>/2</a:t>
            </a:r>
            <a:r>
              <a:rPr>
                <a:sym typeface="+mn-ea"/>
              </a:rPr>
              <a:t>）</a:t>
            </a:r>
            <a:endParaRPr lang="en-US" altLang="zh-CN"/>
          </a:p>
        </p:txBody>
      </p:sp>
      <p:sp>
        <p:nvSpPr>
          <p:cNvPr id="4" name="页脚占位符 3"/>
          <p:cNvSpPr>
            <a:spLocks noGrp="1"/>
          </p:cNvSpPr>
          <p:nvPr>
            <p:ph type="ftr" sz="quarter" idx="11"/>
          </p:nvPr>
        </p:nvSpPr>
        <p:spPr/>
        <p:txBody>
          <a:bodyPr/>
          <a:lstStyle/>
          <a:p>
            <a:r>
              <a:rPr lang="en-US" altLang="zh-CN">
                <a:sym typeface="+mn-ea"/>
              </a:rPr>
              <a:t>https://www.mlsysbook.ai/contents/core/ml_systems/ml_systems.html</a:t>
            </a:r>
            <a:endParaRPr lang="en-US" altLang="zh-CN"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5</a:t>
            </a:fld>
            <a:endParaRPr lang="zh-CN" altLang="en-US" dirty="0"/>
          </a:p>
        </p:txBody>
      </p:sp>
      <p:sp>
        <p:nvSpPr>
          <p:cNvPr id="12" name="内容占位符 11"/>
          <p:cNvSpPr>
            <a:spLocks noGrp="1"/>
          </p:cNvSpPr>
          <p:nvPr>
            <p:ph sz="quarter" idx="13"/>
          </p:nvPr>
        </p:nvSpPr>
        <p:spPr/>
        <p:txBody>
          <a:bodyPr/>
          <a:lstStyle/>
          <a:p>
            <a:endParaRPr lang="zh-CN" altLang="en-US"/>
          </a:p>
        </p:txBody>
      </p:sp>
      <p:pic>
        <p:nvPicPr>
          <p:cNvPr id="7" name="图片 6" descr="post_object_image_1180240117"/>
          <p:cNvPicPr>
            <a:picLocks noChangeAspect="1"/>
          </p:cNvPicPr>
          <p:nvPr/>
        </p:nvPicPr>
        <p:blipFill>
          <a:blip r:embed="rId3"/>
          <a:stretch>
            <a:fillRect/>
          </a:stretch>
        </p:blipFill>
        <p:spPr>
          <a:xfrm>
            <a:off x="254531" y="1531795"/>
            <a:ext cx="5825790" cy="3973205"/>
          </a:xfrm>
          <a:prstGeom prst="rect">
            <a:avLst/>
          </a:prstGeom>
        </p:spPr>
      </p:pic>
      <p:pic>
        <p:nvPicPr>
          <p:cNvPr id="9" name="图片 8" descr="post_object_image_430129646"/>
          <p:cNvPicPr>
            <a:picLocks noChangeAspect="1"/>
          </p:cNvPicPr>
          <p:nvPr/>
        </p:nvPicPr>
        <p:blipFill>
          <a:blip r:embed="rId4"/>
          <a:stretch>
            <a:fillRect/>
          </a:stretch>
        </p:blipFill>
        <p:spPr>
          <a:xfrm>
            <a:off x="6080311" y="2007539"/>
            <a:ext cx="5857124" cy="2399067"/>
          </a:xfrm>
          <a:prstGeom prst="rect">
            <a:avLst/>
          </a:prstGeom>
        </p:spPr>
      </p:pic>
      <p:pic>
        <p:nvPicPr>
          <p:cNvPr id="10" name="图片 9" descr="post_object_image_1417996339"/>
          <p:cNvPicPr>
            <a:picLocks noChangeAspect="1"/>
          </p:cNvPicPr>
          <p:nvPr/>
        </p:nvPicPr>
        <p:blipFill>
          <a:blip r:embed="rId5"/>
          <a:stretch>
            <a:fillRect/>
          </a:stretch>
        </p:blipFill>
        <p:spPr>
          <a:xfrm>
            <a:off x="6080311" y="1531838"/>
            <a:ext cx="5838623" cy="475691"/>
          </a:xfrm>
          <a:prstGeom prst="rect">
            <a:avLst/>
          </a:prstGeom>
        </p:spPr>
      </p:pic>
      <p:sp>
        <p:nvSpPr>
          <p:cNvPr id="3" name="矩形 2"/>
          <p:cNvSpPr/>
          <p:nvPr/>
        </p:nvSpPr>
        <p:spPr>
          <a:xfrm>
            <a:off x="935355" y="1531620"/>
            <a:ext cx="5144770" cy="2367280"/>
          </a:xfrm>
          <a:prstGeom prst="rect">
            <a:avLst/>
          </a:prstGeom>
          <a:solidFill>
            <a:schemeClr val="accent1">
              <a:alpha val="2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矩形 5"/>
          <p:cNvSpPr/>
          <p:nvPr/>
        </p:nvSpPr>
        <p:spPr>
          <a:xfrm>
            <a:off x="935355" y="3898900"/>
            <a:ext cx="5144770" cy="1606550"/>
          </a:xfrm>
          <a:prstGeom prst="rect">
            <a:avLst/>
          </a:prstGeom>
          <a:solidFill>
            <a:schemeClr val="accent2">
              <a:alpha val="20000"/>
            </a:schemeClr>
          </a:solidFill>
          <a:ln>
            <a:solidFill>
              <a:schemeClr val="accent2">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a:off x="6774180" y="1531620"/>
            <a:ext cx="5144770" cy="1435100"/>
          </a:xfrm>
          <a:prstGeom prst="rect">
            <a:avLst/>
          </a:prstGeom>
          <a:solidFill>
            <a:schemeClr val="accent4">
              <a:alpha val="20000"/>
            </a:schemeClr>
          </a:solidFill>
          <a:ln>
            <a:solidFill>
              <a:schemeClr val="accent4">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矩形 10"/>
          <p:cNvSpPr/>
          <p:nvPr/>
        </p:nvSpPr>
        <p:spPr>
          <a:xfrm>
            <a:off x="6774180" y="2966720"/>
            <a:ext cx="5144770" cy="1435100"/>
          </a:xfrm>
          <a:prstGeom prst="rect">
            <a:avLst/>
          </a:prstGeom>
          <a:solidFill>
            <a:schemeClr val="accent6">
              <a:alpha val="2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Two Forms of AI Chips (NVIDIA)</a:t>
            </a:r>
          </a:p>
        </p:txBody>
      </p:sp>
      <p:sp>
        <p:nvSpPr>
          <p:cNvPr id="5" name="灯片编号占位符 4"/>
          <p:cNvSpPr>
            <a:spLocks noGrp="1"/>
          </p:cNvSpPr>
          <p:nvPr>
            <p:ph type="sldNum" sz="quarter" idx="12"/>
          </p:nvPr>
        </p:nvSpPr>
        <p:spPr/>
        <p:txBody>
          <a:bodyPr/>
          <a:lstStyle/>
          <a:p>
            <a:fld id="{B33F7469-D28B-482F-B1B6-3B8E7CF51519}" type="slidenum">
              <a:rPr lang="zh-CN" altLang="en-US" smtClean="0"/>
              <a:t>6</a:t>
            </a:fld>
            <a:endParaRPr lang="zh-CN" altLang="en-US" dirty="0"/>
          </a:p>
        </p:txBody>
      </p:sp>
      <p:sp>
        <p:nvSpPr>
          <p:cNvPr id="3" name="内容占位符 2"/>
          <p:cNvSpPr>
            <a:spLocks noGrp="1"/>
          </p:cNvSpPr>
          <p:nvPr>
            <p:ph sz="quarter" idx="13"/>
          </p:nvPr>
        </p:nvSpPr>
        <p:spPr/>
        <p:txBody>
          <a:bodyPr/>
          <a:lstStyle/>
          <a:p>
            <a:r>
              <a:rPr lang="en-US" altLang="zh-CN" sz="2000"/>
              <a:t>Discrete AI Chip: Standalone accelerators (e.g., DGX A100).</a:t>
            </a:r>
          </a:p>
        </p:txBody>
      </p:sp>
      <p:sp>
        <p:nvSpPr>
          <p:cNvPr id="6" name="页脚占位符 5"/>
          <p:cNvSpPr>
            <a:spLocks noGrp="1"/>
          </p:cNvSpPr>
          <p:nvPr>
            <p:ph type="ftr" sz="quarter" idx="11"/>
          </p:nvPr>
        </p:nvSpPr>
        <p:spPr/>
        <p:txBody>
          <a:bodyPr/>
          <a:lstStyle/>
          <a:p>
            <a:endParaRPr lang="zh-CN" altLang="en-US" dirty="0"/>
          </a:p>
        </p:txBody>
      </p:sp>
      <p:sp>
        <p:nvSpPr>
          <p:cNvPr id="4" name="内容占位符 3"/>
          <p:cNvSpPr>
            <a:spLocks noGrp="1"/>
          </p:cNvSpPr>
          <p:nvPr>
            <p:ph sz="quarter" idx="14"/>
          </p:nvPr>
        </p:nvSpPr>
        <p:spPr/>
        <p:txBody>
          <a:bodyPr/>
          <a:lstStyle/>
          <a:p>
            <a:r>
              <a:rPr lang="en-US" altLang="zh-CN" sz="2000"/>
              <a:t>Integrated AI Chip: System-on-Chip/SoC (e.g., DRIVE Thor).</a:t>
            </a:r>
          </a:p>
        </p:txBody>
      </p:sp>
      <p:pic>
        <p:nvPicPr>
          <p:cNvPr id="10" name="图片 9" descr="dgx-a100-exploded-view"/>
          <p:cNvPicPr>
            <a:picLocks noChangeAspect="1"/>
          </p:cNvPicPr>
          <p:nvPr/>
        </p:nvPicPr>
        <p:blipFill>
          <a:blip r:embed="rId3"/>
          <a:srcRect r="6250"/>
          <a:stretch>
            <a:fillRect/>
          </a:stretch>
        </p:blipFill>
        <p:spPr>
          <a:xfrm>
            <a:off x="523875" y="2051050"/>
            <a:ext cx="5400000" cy="3402133"/>
          </a:xfrm>
          <a:prstGeom prst="rect">
            <a:avLst/>
          </a:prstGeom>
        </p:spPr>
      </p:pic>
      <p:pic>
        <p:nvPicPr>
          <p:cNvPr id="11" name="图片 10"/>
          <p:cNvPicPr>
            <a:picLocks noChangeAspect="1"/>
          </p:cNvPicPr>
          <p:nvPr/>
        </p:nvPicPr>
        <p:blipFill>
          <a:blip r:embed="rId4"/>
          <a:stretch>
            <a:fillRect/>
          </a:stretch>
        </p:blipFill>
        <p:spPr>
          <a:xfrm>
            <a:off x="6041390" y="3450570"/>
            <a:ext cx="5760000" cy="2814619"/>
          </a:xfrm>
          <a:prstGeom prst="rect">
            <a:avLst/>
          </a:prstGeom>
        </p:spPr>
      </p:pic>
      <p:pic>
        <p:nvPicPr>
          <p:cNvPr id="12" name="图片 11"/>
          <p:cNvPicPr>
            <a:picLocks noChangeAspect="1"/>
          </p:cNvPicPr>
          <p:nvPr/>
        </p:nvPicPr>
        <p:blipFill>
          <a:blip r:embed="rId5"/>
          <a:srcRect l="20776" t="49408" r="24224" b="6128"/>
          <a:stretch>
            <a:fillRect/>
          </a:stretch>
        </p:blipFill>
        <p:spPr>
          <a:xfrm>
            <a:off x="6852020" y="2010575"/>
            <a:ext cx="3168000" cy="1440000"/>
          </a:xfrm>
          <a:prstGeom prst="rect">
            <a:avLst/>
          </a:prstGeom>
        </p:spPr>
      </p:pic>
      <p:pic>
        <p:nvPicPr>
          <p:cNvPr id="7" name="图片 6"/>
          <p:cNvPicPr>
            <a:picLocks noChangeAspect="1"/>
          </p:cNvPicPr>
          <p:nvPr/>
        </p:nvPicPr>
        <p:blipFill>
          <a:blip r:embed="rId6"/>
          <a:stretch>
            <a:fillRect/>
          </a:stretch>
        </p:blipFill>
        <p:spPr>
          <a:xfrm>
            <a:off x="524099" y="5000625"/>
            <a:ext cx="2880000" cy="1720992"/>
          </a:xfrm>
          <a:prstGeom prst="rect">
            <a:avLst/>
          </a:prstGeom>
        </p:spPr>
      </p:pic>
      <p:cxnSp>
        <p:nvCxnSpPr>
          <p:cNvPr id="8" name="直接连接符 7"/>
          <p:cNvCxnSpPr/>
          <p:nvPr/>
        </p:nvCxnSpPr>
        <p:spPr>
          <a:xfrm>
            <a:off x="3373120" y="3381375"/>
            <a:ext cx="1800000" cy="0"/>
          </a:xfrm>
          <a:prstGeom prst="line">
            <a:avLst/>
          </a:prstGeom>
          <a:ln w="38100">
            <a:solidFill>
              <a:srgbClr val="FF0000"/>
            </a:solidFill>
          </a:ln>
        </p:spPr>
        <p:style>
          <a:lnRef idx="2">
            <a:schemeClr val="accent1"/>
          </a:lnRef>
          <a:fillRef idx="0">
            <a:srgbClr val="FFFFFF"/>
          </a:fillRef>
          <a:effectRef idx="0">
            <a:srgbClr val="FFFFFF"/>
          </a:effectRef>
          <a:fontRef idx="minor">
            <a:schemeClr val="tx1"/>
          </a:fontRef>
        </p:style>
      </p:cxnSp>
      <p:cxnSp>
        <p:nvCxnSpPr>
          <p:cNvPr id="9" name="直接连接符 8"/>
          <p:cNvCxnSpPr/>
          <p:nvPr/>
        </p:nvCxnSpPr>
        <p:spPr>
          <a:xfrm>
            <a:off x="3151505" y="3857625"/>
            <a:ext cx="900000" cy="0"/>
          </a:xfrm>
          <a:prstGeom prst="line">
            <a:avLst/>
          </a:prstGeom>
          <a:ln w="38100">
            <a:solidFill>
              <a:srgbClr val="92D050"/>
            </a:solidFill>
          </a:ln>
        </p:spPr>
        <p:style>
          <a:lnRef idx="2">
            <a:schemeClr val="accent1"/>
          </a:lnRef>
          <a:fillRef idx="0">
            <a:srgbClr val="FFFFFF"/>
          </a:fillRef>
          <a:effectRef idx="0">
            <a:srgbClr val="FFFFFF"/>
          </a:effectRef>
          <a:fontRef idx="minor">
            <a:schemeClr val="tx1"/>
          </a:fontRef>
        </p:style>
      </p:cxnSp>
      <p:cxnSp>
        <p:nvCxnSpPr>
          <p:cNvPr id="13" name="直接连接符 12"/>
          <p:cNvCxnSpPr/>
          <p:nvPr/>
        </p:nvCxnSpPr>
        <p:spPr>
          <a:xfrm>
            <a:off x="3016885" y="4324350"/>
            <a:ext cx="900000" cy="0"/>
          </a:xfrm>
          <a:prstGeom prst="line">
            <a:avLst/>
          </a:prstGeom>
          <a:ln w="38100">
            <a:solidFill>
              <a:srgbClr val="00B050"/>
            </a:solidFill>
          </a:ln>
        </p:spPr>
        <p:style>
          <a:lnRef idx="2">
            <a:schemeClr val="accent1"/>
          </a:lnRef>
          <a:fillRef idx="0">
            <a:srgbClr val="FFFFFF"/>
          </a:fillRef>
          <a:effectRef idx="0">
            <a:srgbClr val="FFFFFF"/>
          </a:effectRef>
          <a:fontRef idx="minor">
            <a:schemeClr val="tx1"/>
          </a:fontRef>
        </p:style>
      </p:cxnSp>
      <p:cxnSp>
        <p:nvCxnSpPr>
          <p:cNvPr id="14" name="直接连接符 13"/>
          <p:cNvCxnSpPr/>
          <p:nvPr/>
        </p:nvCxnSpPr>
        <p:spPr>
          <a:xfrm>
            <a:off x="2921000" y="4781550"/>
            <a:ext cx="900000" cy="0"/>
          </a:xfrm>
          <a:prstGeom prst="line">
            <a:avLst/>
          </a:prstGeom>
          <a:ln w="38100">
            <a:solidFill>
              <a:srgbClr val="EA609E"/>
            </a:solidFill>
          </a:ln>
        </p:spPr>
        <p:style>
          <a:lnRef idx="2">
            <a:schemeClr val="accent1"/>
          </a:lnRef>
          <a:fillRef idx="0">
            <a:srgbClr val="FFFFFF"/>
          </a:fillRef>
          <a:effectRef idx="0">
            <a:srgbClr val="FFFFFF"/>
          </a:effectRef>
          <a:fontRef idx="minor">
            <a:schemeClr val="tx1"/>
          </a:fontRef>
        </p:style>
      </p:cxnSp>
      <p:cxnSp>
        <p:nvCxnSpPr>
          <p:cNvPr id="15" name="直接连接符 14"/>
          <p:cNvCxnSpPr/>
          <p:nvPr/>
        </p:nvCxnSpPr>
        <p:spPr>
          <a:xfrm>
            <a:off x="3723640" y="2867660"/>
            <a:ext cx="2160000" cy="0"/>
          </a:xfrm>
          <a:prstGeom prst="line">
            <a:avLst/>
          </a:prstGeom>
          <a:ln w="38100">
            <a:solidFill>
              <a:srgbClr val="00B0F0"/>
            </a:solidFill>
          </a:ln>
        </p:spPr>
        <p:style>
          <a:lnRef idx="2">
            <a:schemeClr val="accent1"/>
          </a:lnRef>
          <a:fillRef idx="0">
            <a:srgbClr val="FFFFFF"/>
          </a:fillRef>
          <a:effectRef idx="0">
            <a:srgbClr val="FFFFFF"/>
          </a:effectRef>
          <a:fontRef idx="minor">
            <a:schemeClr val="tx1"/>
          </a:fontRef>
        </p:style>
      </p:cxn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x-none" altLang="zh-CN"/>
              <a:t>Hetergeneous Integration of CPU and XPUs</a:t>
            </a:r>
          </a:p>
        </p:txBody>
      </p:sp>
      <p:sp>
        <p:nvSpPr>
          <p:cNvPr id="2" name="灯片编号占位符 1"/>
          <p:cNvSpPr>
            <a:spLocks noGrp="1"/>
          </p:cNvSpPr>
          <p:nvPr>
            <p:ph type="sldNum" sz="quarter" idx="12"/>
          </p:nvPr>
        </p:nvSpPr>
        <p:spPr/>
        <p:txBody>
          <a:bodyPr/>
          <a:lstStyle/>
          <a:p>
            <a:fld id="{B33F7469-D28B-482F-B1B6-3B8E7CF51519}" type="slidenum">
              <a:rPr lang="zh-CN" altLang="en-US" smtClean="0"/>
              <a:t>7</a:t>
            </a:fld>
            <a:endParaRPr lang="zh-CN" altLang="en-US" dirty="0"/>
          </a:p>
        </p:txBody>
      </p:sp>
      <p:sp>
        <p:nvSpPr>
          <p:cNvPr id="7" name="内容占位符 6"/>
          <p:cNvSpPr>
            <a:spLocks noGrp="1"/>
          </p:cNvSpPr>
          <p:nvPr>
            <p:ph sz="quarter" idx="13"/>
          </p:nvPr>
        </p:nvSpPr>
        <p:spPr/>
        <p:txBody>
          <a:bodyPr>
            <a:normAutofit lnSpcReduction="20000"/>
          </a:bodyPr>
          <a:lstStyle/>
          <a:p>
            <a:r>
              <a:rPr lang="x-none" altLang="zh-CN"/>
              <a:t>Inter-chip (board-level) integration</a:t>
            </a:r>
          </a:p>
          <a:p>
            <a:pPr lvl="1"/>
            <a:endParaRPr lang="x-none" altLang="zh-CN"/>
          </a:p>
          <a:p>
            <a:pPr lvl="1"/>
            <a:endParaRPr lang="x-none" altLang="zh-CN"/>
          </a:p>
          <a:p>
            <a:pPr lvl="1"/>
            <a:endParaRPr lang="x-none" altLang="zh-CN"/>
          </a:p>
          <a:p>
            <a:pPr lvl="1"/>
            <a:endParaRPr lang="x-none" altLang="zh-CN"/>
          </a:p>
          <a:p>
            <a:pPr lvl="1"/>
            <a:endParaRPr lang="x-none" altLang="zh-CN"/>
          </a:p>
          <a:p>
            <a:pPr lvl="1"/>
            <a:endParaRPr lang="x-none" altLang="zh-CN"/>
          </a:p>
          <a:p>
            <a:pPr lvl="1"/>
            <a:endParaRPr lang="x-none" altLang="zh-CN"/>
          </a:p>
          <a:p>
            <a:pPr lvl="1"/>
            <a:endParaRPr lang="x-none" altLang="zh-CN"/>
          </a:p>
          <a:p>
            <a:pPr lvl="1"/>
            <a:endParaRPr lang="x-none" altLang="zh-CN"/>
          </a:p>
          <a:p>
            <a:pPr lvl="1"/>
            <a:endParaRPr lang="x-none" altLang="zh-CN"/>
          </a:p>
          <a:p>
            <a:pPr lvl="1"/>
            <a:endParaRPr lang="x-none" altLang="zh-CN"/>
          </a:p>
          <a:p>
            <a:pPr lvl="1"/>
            <a:r>
              <a:rPr lang="x-none" altLang="zh-CN"/>
              <a:t>protocols: PCIe, NVLink, etc.</a:t>
            </a:r>
          </a:p>
        </p:txBody>
      </p:sp>
      <p:sp>
        <p:nvSpPr>
          <p:cNvPr id="4" name="页脚占位符 3"/>
          <p:cNvSpPr>
            <a:spLocks noGrp="1"/>
          </p:cNvSpPr>
          <p:nvPr>
            <p:ph type="ftr" sz="quarter" idx="11"/>
          </p:nvPr>
        </p:nvSpPr>
        <p:spPr/>
        <p:txBody>
          <a:bodyPr/>
          <a:lstStyle/>
          <a:p>
            <a:endParaRPr lang="zh-CN" altLang="en-US"/>
          </a:p>
        </p:txBody>
      </p:sp>
      <p:sp>
        <p:nvSpPr>
          <p:cNvPr id="8" name="内容占位符 7"/>
          <p:cNvSpPr>
            <a:spLocks noGrp="1"/>
          </p:cNvSpPr>
          <p:nvPr>
            <p:ph sz="quarter" idx="14"/>
          </p:nvPr>
        </p:nvSpPr>
        <p:spPr/>
        <p:txBody>
          <a:bodyPr>
            <a:normAutofit lnSpcReduction="10000"/>
          </a:bodyPr>
          <a:lstStyle/>
          <a:p>
            <a:r>
              <a:rPr lang="x-none" altLang="zh-CN"/>
              <a:t>Intra-chip integration</a:t>
            </a:r>
          </a:p>
          <a:p>
            <a:pPr lvl="1"/>
            <a:endParaRPr lang="x-none" altLang="zh-CN"/>
          </a:p>
          <a:p>
            <a:pPr lvl="1"/>
            <a:endParaRPr lang="x-none" altLang="zh-CN"/>
          </a:p>
          <a:p>
            <a:pPr lvl="1"/>
            <a:endParaRPr lang="x-none" altLang="zh-CN"/>
          </a:p>
          <a:p>
            <a:pPr lvl="1"/>
            <a:endParaRPr lang="x-none" altLang="zh-CN"/>
          </a:p>
          <a:p>
            <a:pPr lvl="1"/>
            <a:endParaRPr lang="x-none" altLang="zh-CN"/>
          </a:p>
          <a:p>
            <a:pPr lvl="1"/>
            <a:endParaRPr lang="x-none" altLang="zh-CN"/>
          </a:p>
          <a:p>
            <a:pPr lvl="1"/>
            <a:endParaRPr lang="x-none" altLang="zh-CN"/>
          </a:p>
          <a:p>
            <a:pPr lvl="1"/>
            <a:endParaRPr lang="x-none" altLang="zh-CN"/>
          </a:p>
          <a:p>
            <a:pPr lvl="1"/>
            <a:endParaRPr lang="x-none" altLang="zh-CN"/>
          </a:p>
          <a:p>
            <a:pPr lvl="1"/>
            <a:endParaRPr lang="x-none" altLang="zh-CN"/>
          </a:p>
          <a:p>
            <a:pPr lvl="1"/>
            <a:r>
              <a:rPr lang="x-none" altLang="zh-CN"/>
              <a:t>protocols: one-way or two-way coherency</a:t>
            </a:r>
          </a:p>
        </p:txBody>
      </p:sp>
      <p:grpSp>
        <p:nvGrpSpPr>
          <p:cNvPr id="22" name="组合 21"/>
          <p:cNvGrpSpPr/>
          <p:nvPr/>
        </p:nvGrpSpPr>
        <p:grpSpPr>
          <a:xfrm>
            <a:off x="354965" y="1708150"/>
            <a:ext cx="5760085" cy="3441700"/>
            <a:chOff x="559" y="3050"/>
            <a:chExt cx="9071" cy="5420"/>
          </a:xfrm>
        </p:grpSpPr>
        <p:pic>
          <p:nvPicPr>
            <p:cNvPr id="9" name="图片 8"/>
            <p:cNvPicPr>
              <a:picLocks noChangeAspect="1"/>
            </p:cNvPicPr>
            <p:nvPr/>
          </p:nvPicPr>
          <p:blipFill>
            <a:blip r:embed="rId2"/>
            <a:stretch>
              <a:fillRect/>
            </a:stretch>
          </p:blipFill>
          <p:spPr>
            <a:xfrm>
              <a:off x="559" y="3050"/>
              <a:ext cx="9071" cy="5420"/>
            </a:xfrm>
            <a:prstGeom prst="rect">
              <a:avLst/>
            </a:prstGeom>
          </p:spPr>
        </p:pic>
        <p:sp>
          <p:nvSpPr>
            <p:cNvPr id="10" name="矩形 9"/>
            <p:cNvSpPr/>
            <p:nvPr/>
          </p:nvSpPr>
          <p:spPr>
            <a:xfrm>
              <a:off x="2375" y="4177"/>
              <a:ext cx="907" cy="850"/>
            </a:xfrm>
            <a:prstGeom prst="rect">
              <a:avLst/>
            </a:prstGeom>
            <a:noFill/>
            <a:ln w="38100">
              <a:solidFill>
                <a:srgbClr val="7030A0"/>
              </a:solidFill>
            </a:ln>
            <a:extLst>
              <a:ext uri="{909E8E84-426E-40DD-AFC4-6F175D3DCCD1}">
                <a14:hiddenFill xmlns:a14="http://schemas.microsoft.com/office/drawing/2010/main">
                  <a:solidFill>
                    <a:srgbClr val="C0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p>
          </p:txBody>
        </p:sp>
        <p:sp>
          <p:nvSpPr>
            <p:cNvPr id="12" name="矩形 11"/>
            <p:cNvSpPr/>
            <p:nvPr/>
          </p:nvSpPr>
          <p:spPr>
            <a:xfrm>
              <a:off x="825" y="6546"/>
              <a:ext cx="907" cy="850"/>
            </a:xfrm>
            <a:prstGeom prst="rect">
              <a:avLst/>
            </a:prstGeom>
            <a:noFill/>
            <a:ln w="38100">
              <a:solidFill>
                <a:srgbClr val="7030A0"/>
              </a:solidFill>
            </a:ln>
            <a:extLst>
              <a:ext uri="{909E8E84-426E-40DD-AFC4-6F175D3DCCD1}">
                <a14:hiddenFill xmlns:a14="http://schemas.microsoft.com/office/drawing/2010/main">
                  <a:solidFill>
                    <a:srgbClr val="C0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p>
          </p:txBody>
        </p:sp>
        <p:cxnSp>
          <p:nvCxnSpPr>
            <p:cNvPr id="13" name="直接连接符 12"/>
            <p:cNvCxnSpPr>
              <a:stCxn id="10" idx="2"/>
              <a:endCxn id="12" idx="0"/>
            </p:cNvCxnSpPr>
            <p:nvPr/>
          </p:nvCxnSpPr>
          <p:spPr>
            <a:xfrm flipH="1">
              <a:off x="1279" y="5027"/>
              <a:ext cx="1550" cy="1519"/>
            </a:xfrm>
            <a:prstGeom prst="line">
              <a:avLst/>
            </a:prstGeom>
            <a:ln w="38100">
              <a:solidFill>
                <a:srgbClr val="7030A0"/>
              </a:solidFill>
              <a:prstDash val="sysDot"/>
            </a:ln>
          </p:spPr>
          <p:style>
            <a:lnRef idx="2">
              <a:schemeClr val="accent1"/>
            </a:lnRef>
            <a:fillRef idx="0">
              <a:srgbClr val="FFFFFF"/>
            </a:fillRef>
            <a:effectRef idx="0">
              <a:srgbClr val="FFFFFF"/>
            </a:effectRef>
            <a:fontRef idx="minor">
              <a:schemeClr val="tx1"/>
            </a:fontRef>
          </p:style>
        </p:cxnSp>
        <p:sp>
          <p:nvSpPr>
            <p:cNvPr id="18" name="文本框 17"/>
            <p:cNvSpPr txBox="1"/>
            <p:nvPr/>
          </p:nvSpPr>
          <p:spPr>
            <a:xfrm>
              <a:off x="1961" y="3258"/>
              <a:ext cx="1361" cy="822"/>
            </a:xfrm>
            <a:prstGeom prst="rect">
              <a:avLst/>
            </a:prstGeom>
            <a:noFill/>
          </p:spPr>
          <p:txBody>
            <a:bodyPr wrap="square" rtlCol="0">
              <a:spAutoFit/>
            </a:bodyPr>
            <a:lstStyle/>
            <a:p>
              <a:pPr algn="ctr"/>
              <a:r>
                <a:rPr lang="x-none" altLang="zh-CN" sz="1400" b="1">
                  <a:solidFill>
                    <a:srgbClr val="7030A0"/>
                  </a:solidFill>
                </a:rPr>
                <a:t>CPU</a:t>
              </a:r>
            </a:p>
            <a:p>
              <a:pPr algn="ctr"/>
              <a:r>
                <a:rPr lang="x-none" altLang="zh-CN" sz="1400" b="1">
                  <a:solidFill>
                    <a:srgbClr val="7030A0"/>
                  </a:solidFill>
                </a:rPr>
                <a:t>“host”</a:t>
              </a:r>
            </a:p>
          </p:txBody>
        </p:sp>
        <p:sp>
          <p:nvSpPr>
            <p:cNvPr id="19" name="文本框 18"/>
            <p:cNvSpPr txBox="1"/>
            <p:nvPr/>
          </p:nvSpPr>
          <p:spPr>
            <a:xfrm>
              <a:off x="600" y="7423"/>
              <a:ext cx="1361" cy="822"/>
            </a:xfrm>
            <a:prstGeom prst="rect">
              <a:avLst/>
            </a:prstGeom>
            <a:noFill/>
          </p:spPr>
          <p:txBody>
            <a:bodyPr wrap="square" rtlCol="0">
              <a:spAutoFit/>
            </a:bodyPr>
            <a:lstStyle/>
            <a:p>
              <a:pPr algn="ctr"/>
              <a:r>
                <a:rPr lang="x-none" altLang="zh-CN" sz="1400" b="1">
                  <a:solidFill>
                    <a:srgbClr val="7030A0"/>
                  </a:solidFill>
                </a:rPr>
                <a:t>XPU</a:t>
              </a:r>
            </a:p>
            <a:p>
              <a:pPr algn="ctr"/>
              <a:r>
                <a:rPr lang="x-none" altLang="zh-CN" sz="1400" b="1">
                  <a:solidFill>
                    <a:srgbClr val="7030A0"/>
                  </a:solidFill>
                </a:rPr>
                <a:t>“device”</a:t>
              </a:r>
            </a:p>
          </p:txBody>
        </p:sp>
      </p:grpSp>
      <p:grpSp>
        <p:nvGrpSpPr>
          <p:cNvPr id="14" name="组合 13"/>
          <p:cNvGrpSpPr/>
          <p:nvPr/>
        </p:nvGrpSpPr>
        <p:grpSpPr>
          <a:xfrm>
            <a:off x="6210300" y="1840230"/>
            <a:ext cx="5760085" cy="3224530"/>
            <a:chOff x="9780" y="2898"/>
            <a:chExt cx="9071" cy="5078"/>
          </a:xfrm>
        </p:grpSpPr>
        <p:grpSp>
          <p:nvGrpSpPr>
            <p:cNvPr id="23" name="组合 22"/>
            <p:cNvGrpSpPr/>
            <p:nvPr/>
          </p:nvGrpSpPr>
          <p:grpSpPr>
            <a:xfrm>
              <a:off x="9780" y="3544"/>
              <a:ext cx="9071" cy="4432"/>
              <a:chOff x="9780" y="3544"/>
              <a:chExt cx="9071" cy="4432"/>
            </a:xfrm>
          </p:grpSpPr>
          <p:pic>
            <p:nvPicPr>
              <p:cNvPr id="11" name="图片 10"/>
              <p:cNvPicPr>
                <a:picLocks noChangeAspect="1"/>
              </p:cNvPicPr>
              <p:nvPr/>
            </p:nvPicPr>
            <p:blipFill>
              <a:blip r:embed="rId3"/>
              <a:stretch>
                <a:fillRect/>
              </a:stretch>
            </p:blipFill>
            <p:spPr>
              <a:xfrm>
                <a:off x="9780" y="3544"/>
                <a:ext cx="9071" cy="4432"/>
              </a:xfrm>
              <a:prstGeom prst="rect">
                <a:avLst/>
              </a:prstGeom>
            </p:spPr>
          </p:pic>
          <p:sp>
            <p:nvSpPr>
              <p:cNvPr id="15" name="矩形 14"/>
              <p:cNvSpPr/>
              <p:nvPr/>
            </p:nvSpPr>
            <p:spPr>
              <a:xfrm>
                <a:off x="11053" y="4207"/>
                <a:ext cx="1417" cy="1417"/>
              </a:xfrm>
              <a:prstGeom prst="rect">
                <a:avLst/>
              </a:prstGeom>
              <a:noFill/>
              <a:ln w="38100">
                <a:solidFill>
                  <a:srgbClr val="7030A0"/>
                </a:solidFill>
              </a:ln>
              <a:extLst>
                <a:ext uri="{909E8E84-426E-40DD-AFC4-6F175D3DCCD1}">
                  <a14:hiddenFill xmlns:a14="http://schemas.microsoft.com/office/drawing/2010/main">
                    <a:solidFill>
                      <a:srgbClr val="C0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矩形 15"/>
              <p:cNvSpPr/>
              <p:nvPr/>
            </p:nvSpPr>
            <p:spPr>
              <a:xfrm>
                <a:off x="12655" y="3863"/>
                <a:ext cx="1871" cy="1984"/>
              </a:xfrm>
              <a:prstGeom prst="rect">
                <a:avLst/>
              </a:prstGeom>
              <a:noFill/>
              <a:ln w="38100">
                <a:solidFill>
                  <a:srgbClr val="7030A0"/>
                </a:solidFill>
              </a:ln>
              <a:extLst>
                <a:ext uri="{909E8E84-426E-40DD-AFC4-6F175D3DCCD1}">
                  <a14:hiddenFill xmlns:a14="http://schemas.microsoft.com/office/drawing/2010/main">
                    <a:solidFill>
                      <a:srgbClr val="C0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17" name="肘形连接符 16"/>
              <p:cNvCxnSpPr>
                <a:stCxn id="15" idx="2"/>
                <a:endCxn id="16" idx="2"/>
              </p:cNvCxnSpPr>
              <p:nvPr/>
            </p:nvCxnSpPr>
            <p:spPr>
              <a:xfrm rot="5400000" flipV="1">
                <a:off x="12565" y="4820"/>
                <a:ext cx="223" cy="1829"/>
              </a:xfrm>
              <a:prstGeom prst="bentConnector3">
                <a:avLst>
                  <a:gd name="adj1" fmla="val 597309"/>
                </a:avLst>
              </a:prstGeom>
              <a:ln w="38100">
                <a:solidFill>
                  <a:srgbClr val="7030A0"/>
                </a:solidFill>
                <a:prstDash val="sysDot"/>
              </a:ln>
            </p:spPr>
            <p:style>
              <a:lnRef idx="2">
                <a:schemeClr val="accent1"/>
              </a:lnRef>
              <a:fillRef idx="0">
                <a:srgbClr val="FFFFFF"/>
              </a:fillRef>
              <a:effectRef idx="0">
                <a:srgbClr val="FFFFFF"/>
              </a:effectRef>
              <a:fontRef idx="minor">
                <a:schemeClr val="tx1"/>
              </a:fontRef>
            </p:style>
          </p:cxnSp>
        </p:grpSp>
        <p:sp>
          <p:nvSpPr>
            <p:cNvPr id="3" name="文本框 2"/>
            <p:cNvSpPr txBox="1"/>
            <p:nvPr/>
          </p:nvSpPr>
          <p:spPr>
            <a:xfrm>
              <a:off x="11053" y="3288"/>
              <a:ext cx="1361" cy="822"/>
            </a:xfrm>
            <a:prstGeom prst="rect">
              <a:avLst/>
            </a:prstGeom>
            <a:noFill/>
          </p:spPr>
          <p:txBody>
            <a:bodyPr wrap="square" rtlCol="0">
              <a:spAutoFit/>
            </a:bodyPr>
            <a:lstStyle/>
            <a:p>
              <a:pPr algn="ctr"/>
              <a:r>
                <a:rPr lang="x-none" altLang="zh-CN" sz="1400" b="1">
                  <a:solidFill>
                    <a:srgbClr val="7030A0"/>
                  </a:solidFill>
                </a:rPr>
                <a:t>CPU</a:t>
              </a:r>
            </a:p>
            <a:p>
              <a:pPr algn="ctr"/>
              <a:r>
                <a:rPr lang="x-none" altLang="zh-CN" sz="1400" b="1">
                  <a:solidFill>
                    <a:srgbClr val="7030A0"/>
                  </a:solidFill>
                </a:rPr>
                <a:t>“host”</a:t>
              </a:r>
            </a:p>
          </p:txBody>
        </p:sp>
        <p:sp>
          <p:nvSpPr>
            <p:cNvPr id="5" name="文本框 4"/>
            <p:cNvSpPr txBox="1"/>
            <p:nvPr/>
          </p:nvSpPr>
          <p:spPr>
            <a:xfrm>
              <a:off x="12910" y="2898"/>
              <a:ext cx="1361" cy="822"/>
            </a:xfrm>
            <a:prstGeom prst="rect">
              <a:avLst/>
            </a:prstGeom>
            <a:noFill/>
          </p:spPr>
          <p:txBody>
            <a:bodyPr wrap="square" rtlCol="0">
              <a:spAutoFit/>
            </a:bodyPr>
            <a:lstStyle/>
            <a:p>
              <a:pPr algn="ctr"/>
              <a:r>
                <a:rPr lang="x-none" altLang="zh-CN" sz="1400" b="1">
                  <a:solidFill>
                    <a:srgbClr val="7030A0"/>
                  </a:solidFill>
                </a:rPr>
                <a:t>XPU</a:t>
              </a:r>
            </a:p>
            <a:p>
              <a:pPr algn="ctr"/>
              <a:r>
                <a:rPr lang="x-none" altLang="zh-CN" sz="1400" b="1">
                  <a:solidFill>
                    <a:srgbClr val="7030A0"/>
                  </a:solidFill>
                </a:rPr>
                <a:t>“device”</a:t>
              </a:r>
            </a:p>
          </p:txBody>
        </p:sp>
      </p:gr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PCIe Basic Knowledge</a:t>
            </a:r>
          </a:p>
        </p:txBody>
      </p:sp>
      <p:sp>
        <p:nvSpPr>
          <p:cNvPr id="7" name="灯片编号占位符 6"/>
          <p:cNvSpPr>
            <a:spLocks noGrp="1"/>
          </p:cNvSpPr>
          <p:nvPr>
            <p:ph type="sldNum" sz="quarter" idx="12"/>
          </p:nvPr>
        </p:nvSpPr>
        <p:spPr/>
        <p:txBody>
          <a:bodyPr/>
          <a:lstStyle/>
          <a:p>
            <a:fld id="{B33F7469-D28B-482F-B1B6-3B8E7CF51519}" type="slidenum">
              <a:rPr lang="zh-CN" altLang="en-US" smtClean="0"/>
              <a:t>8</a:t>
            </a:fld>
            <a:endParaRPr lang="zh-CN" altLang="en-US" dirty="0"/>
          </a:p>
        </p:txBody>
      </p:sp>
      <p:sp>
        <p:nvSpPr>
          <p:cNvPr id="3" name="内容占位符 2"/>
          <p:cNvSpPr>
            <a:spLocks noGrp="1"/>
          </p:cNvSpPr>
          <p:nvPr>
            <p:ph sz="quarter" idx="13"/>
          </p:nvPr>
        </p:nvSpPr>
        <p:spPr/>
        <p:txBody>
          <a:bodyPr/>
          <a:lstStyle/>
          <a:p>
            <a:r>
              <a:rPr lang="en-US" altLang="zh-CN"/>
              <a:t>Market Adoption (</a:t>
            </a:r>
            <a:r>
              <a:rPr lang="x-none" altLang="en-US"/>
              <a:t>in Aug. </a:t>
            </a:r>
            <a:r>
              <a:rPr lang="en-US" altLang="zh-CN"/>
              <a:t>2025)</a:t>
            </a:r>
          </a:p>
          <a:p>
            <a:pPr lvl="1"/>
            <a:r>
              <a:rPr lang="en-US" altLang="zh-CN"/>
              <a:t>Mainstream: PCIe 4.0</a:t>
            </a:r>
          </a:p>
          <a:p>
            <a:pPr lvl="1"/>
            <a:r>
              <a:rPr lang="en-US" altLang="zh-CN"/>
              <a:t>Latest device: PCIe 5.0</a:t>
            </a:r>
          </a:p>
          <a:p>
            <a:pPr lvl="1"/>
            <a:r>
              <a:rPr lang="en-US" altLang="zh-CN"/>
              <a:t>Not </a:t>
            </a:r>
            <a:r>
              <a:rPr lang="x-none" altLang="en-US"/>
              <a:t>yet </a:t>
            </a:r>
            <a:r>
              <a:rPr lang="en-US" altLang="zh-CN"/>
              <a:t>in production: PCIe 6.0/7.0 </a:t>
            </a:r>
          </a:p>
        </p:txBody>
      </p:sp>
      <p:sp>
        <p:nvSpPr>
          <p:cNvPr id="4" name="页脚占位符 3"/>
          <p:cNvSpPr>
            <a:spLocks noGrp="1"/>
          </p:cNvSpPr>
          <p:nvPr>
            <p:ph type="ftr" sz="quarter" idx="11"/>
          </p:nvPr>
        </p:nvSpPr>
        <p:spPr/>
        <p:txBody>
          <a:bodyPr/>
          <a:lstStyle/>
          <a:p>
            <a:endParaRPr lang="zh-CN" altLang="en-US"/>
          </a:p>
        </p:txBody>
      </p:sp>
      <p:sp>
        <p:nvSpPr>
          <p:cNvPr id="9" name="内容占位符 8"/>
          <p:cNvSpPr>
            <a:spLocks noGrp="1"/>
          </p:cNvSpPr>
          <p:nvPr>
            <p:ph sz="quarter" idx="14"/>
          </p:nvPr>
        </p:nvSpPr>
        <p:spPr/>
        <p:txBody>
          <a:bodyPr/>
          <a:lstStyle/>
          <a:p>
            <a:r>
              <a:rPr lang="en-US" altLang="zh-CN"/>
              <a:t>PCIe Lanes</a:t>
            </a:r>
          </a:p>
          <a:p>
            <a:pPr lvl="1"/>
            <a:r>
              <a:rPr lang="en-US" altLang="zh-CN"/>
              <a:t>“x” = number of lane pairs (TX/RX)</a:t>
            </a:r>
          </a:p>
          <a:p>
            <a:pPr lvl="1"/>
            <a:r>
              <a:rPr lang="en-US" altLang="zh-CN"/>
              <a:t>e.g. PCIe 5.0, “x1” = 4GB/s, “x16” = 32GB/s</a:t>
            </a:r>
          </a:p>
          <a:p>
            <a:pPr lvl="1"/>
            <a:r>
              <a:rPr lang="en-US" altLang="zh-CN"/>
              <a:t>x4: most NVMe SSD, NIC</a:t>
            </a:r>
          </a:p>
          <a:p>
            <a:pPr lvl="1"/>
            <a:r>
              <a:rPr lang="en-US" altLang="zh-CN"/>
              <a:t>x16: most GPU, FPGA</a:t>
            </a:r>
          </a:p>
        </p:txBody>
      </p:sp>
      <p:pic>
        <p:nvPicPr>
          <p:cNvPr id="8" name="图片 7"/>
          <p:cNvPicPr/>
          <p:nvPr/>
        </p:nvPicPr>
        <p:blipFill>
          <a:blip r:embed="rId3"/>
          <a:stretch>
            <a:fillRect/>
          </a:stretch>
        </p:blipFill>
        <p:spPr>
          <a:xfrm>
            <a:off x="495300" y="3530346"/>
            <a:ext cx="5669280" cy="3081528"/>
          </a:xfrm>
          <a:prstGeom prst="rect">
            <a:avLst/>
          </a:prstGeom>
        </p:spPr>
      </p:pic>
      <p:pic>
        <p:nvPicPr>
          <p:cNvPr id="6" name="图片 5"/>
          <p:cNvPicPr/>
          <p:nvPr/>
        </p:nvPicPr>
        <p:blipFill>
          <a:blip r:embed="rId4"/>
          <a:stretch>
            <a:fillRect/>
          </a:stretch>
        </p:blipFill>
        <p:spPr>
          <a:xfrm>
            <a:off x="6193155" y="3526790"/>
            <a:ext cx="5608320" cy="2829560"/>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PCIe Architecture</a:t>
            </a:r>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9</a:t>
            </a:fld>
            <a:endParaRPr lang="zh-CN" altLang="en-US" dirty="0"/>
          </a:p>
        </p:txBody>
      </p:sp>
      <p:sp>
        <p:nvSpPr>
          <p:cNvPr id="8" name="内容占位符 7"/>
          <p:cNvSpPr>
            <a:spLocks noGrp="1"/>
          </p:cNvSpPr>
          <p:nvPr>
            <p:ph sz="quarter" idx="13"/>
          </p:nvPr>
        </p:nvSpPr>
        <p:spPr/>
        <p:txBody>
          <a:bodyPr/>
          <a:lstStyle/>
          <a:p>
            <a:endParaRPr lang="zh-CN" altLang="en-US"/>
          </a:p>
        </p:txBody>
      </p:sp>
      <p:pic>
        <p:nvPicPr>
          <p:cNvPr id="6" name="图片 5"/>
          <p:cNvPicPr/>
          <p:nvPr/>
        </p:nvPicPr>
        <p:blipFill>
          <a:blip r:embed="rId4"/>
          <a:stretch>
            <a:fillRect/>
          </a:stretch>
        </p:blipFill>
        <p:spPr>
          <a:xfrm>
            <a:off x="523240" y="1656715"/>
            <a:ext cx="5003800" cy="4187825"/>
          </a:xfrm>
          <a:prstGeom prst="rect">
            <a:avLst/>
          </a:prstGeom>
        </p:spPr>
      </p:pic>
      <p:pic>
        <p:nvPicPr>
          <p:cNvPr id="7" name="图片 6"/>
          <p:cNvPicPr/>
          <p:nvPr>
            <p:custDataLst>
              <p:tags r:id="rId1"/>
            </p:custDataLst>
          </p:nvPr>
        </p:nvPicPr>
        <p:blipFill>
          <a:blip r:embed="rId5"/>
          <a:stretch>
            <a:fillRect/>
          </a:stretch>
        </p:blipFill>
        <p:spPr>
          <a:xfrm>
            <a:off x="6243955" y="775335"/>
            <a:ext cx="5648325" cy="5519420"/>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PCIe Devices</a:t>
            </a:r>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10</a:t>
            </a:fld>
            <a:endParaRPr lang="zh-CN" altLang="en-US" dirty="0"/>
          </a:p>
        </p:txBody>
      </p:sp>
      <p:sp>
        <p:nvSpPr>
          <p:cNvPr id="3" name="内容占位符 2"/>
          <p:cNvSpPr>
            <a:spLocks noGrp="1"/>
          </p:cNvSpPr>
          <p:nvPr>
            <p:ph sz="quarter" idx="13"/>
          </p:nvPr>
        </p:nvSpPr>
        <p:spPr/>
        <p:txBody>
          <a:bodyPr/>
          <a:lstStyle/>
          <a:p>
            <a:endParaRPr lang="zh-CN" altLang="en-US"/>
          </a:p>
        </p:txBody>
      </p:sp>
      <p:pic>
        <p:nvPicPr>
          <p:cNvPr id="6" name="图片 5"/>
          <p:cNvPicPr/>
          <p:nvPr/>
        </p:nvPicPr>
        <p:blipFill>
          <a:blip r:embed="rId2"/>
          <a:stretch>
            <a:fillRect/>
          </a:stretch>
        </p:blipFill>
        <p:spPr>
          <a:xfrm>
            <a:off x="955675" y="1229995"/>
            <a:ext cx="2491740" cy="1934845"/>
          </a:xfrm>
          <a:prstGeom prst="rect">
            <a:avLst/>
          </a:prstGeom>
        </p:spPr>
      </p:pic>
      <p:sp>
        <p:nvSpPr>
          <p:cNvPr id="8" name="文本框 7"/>
          <p:cNvSpPr txBox="1"/>
          <p:nvPr/>
        </p:nvSpPr>
        <p:spPr>
          <a:xfrm>
            <a:off x="539750" y="3164840"/>
            <a:ext cx="3324225" cy="645160"/>
          </a:xfrm>
          <a:prstGeom prst="rect">
            <a:avLst/>
          </a:prstGeom>
          <a:noFill/>
        </p:spPr>
        <p:txBody>
          <a:bodyPr wrap="square" rtlCol="0">
            <a:spAutoFit/>
          </a:bodyPr>
          <a:lstStyle/>
          <a:p>
            <a:pPr algn="ctr"/>
            <a:r>
              <a:rPr lang="en-US" altLang="zh-CN"/>
              <a:t>GPU </a:t>
            </a:r>
          </a:p>
          <a:p>
            <a:pPr algn="ctr"/>
            <a:r>
              <a:rPr lang="en-US" altLang="zh-CN"/>
              <a:t>(Nvidia A100, PCIe 4.0 x16)</a:t>
            </a:r>
          </a:p>
        </p:txBody>
      </p:sp>
      <p:pic>
        <p:nvPicPr>
          <p:cNvPr id="10" name="图片 9"/>
          <p:cNvPicPr>
            <a:picLocks noChangeAspect="1"/>
          </p:cNvPicPr>
          <p:nvPr/>
        </p:nvPicPr>
        <p:blipFill>
          <a:blip r:embed="rId3"/>
          <a:stretch>
            <a:fillRect/>
          </a:stretch>
        </p:blipFill>
        <p:spPr>
          <a:xfrm>
            <a:off x="8595360" y="1767205"/>
            <a:ext cx="2664460" cy="860425"/>
          </a:xfrm>
          <a:prstGeom prst="rect">
            <a:avLst/>
          </a:prstGeom>
        </p:spPr>
      </p:pic>
      <p:sp>
        <p:nvSpPr>
          <p:cNvPr id="11" name="文本框 10"/>
          <p:cNvSpPr txBox="1"/>
          <p:nvPr/>
        </p:nvSpPr>
        <p:spPr>
          <a:xfrm>
            <a:off x="8325485" y="3164840"/>
            <a:ext cx="3324225" cy="645160"/>
          </a:xfrm>
          <a:prstGeom prst="rect">
            <a:avLst/>
          </a:prstGeom>
          <a:noFill/>
        </p:spPr>
        <p:txBody>
          <a:bodyPr wrap="square" rtlCol="0">
            <a:spAutoFit/>
          </a:bodyPr>
          <a:lstStyle/>
          <a:p>
            <a:pPr algn="ctr"/>
            <a:r>
              <a:rPr lang="en-US" altLang="zh-CN"/>
              <a:t>NVMe SSD</a:t>
            </a:r>
          </a:p>
          <a:p>
            <a:pPr algn="ctr"/>
            <a:r>
              <a:rPr lang="en-US" altLang="zh-CN"/>
              <a:t>(Sumsung 970, PCIe 4.0 x4)</a:t>
            </a:r>
          </a:p>
        </p:txBody>
      </p:sp>
      <p:pic>
        <p:nvPicPr>
          <p:cNvPr id="12" name="图片 11"/>
          <p:cNvPicPr/>
          <p:nvPr/>
        </p:nvPicPr>
        <p:blipFill>
          <a:blip r:embed="rId4"/>
          <a:srcRect l="-1658" t="3078" r="1658" b="46340"/>
          <a:stretch>
            <a:fillRect/>
          </a:stretch>
        </p:blipFill>
        <p:spPr>
          <a:xfrm>
            <a:off x="4304665" y="1464310"/>
            <a:ext cx="3077845" cy="1629410"/>
          </a:xfrm>
          <a:prstGeom prst="rect">
            <a:avLst/>
          </a:prstGeom>
        </p:spPr>
      </p:pic>
      <p:sp>
        <p:nvSpPr>
          <p:cNvPr id="14" name="文本框 13"/>
          <p:cNvSpPr txBox="1"/>
          <p:nvPr/>
        </p:nvSpPr>
        <p:spPr>
          <a:xfrm>
            <a:off x="4256405" y="3164840"/>
            <a:ext cx="3324225" cy="645160"/>
          </a:xfrm>
          <a:prstGeom prst="rect">
            <a:avLst/>
          </a:prstGeom>
          <a:noFill/>
        </p:spPr>
        <p:txBody>
          <a:bodyPr wrap="square" rtlCol="0">
            <a:spAutoFit/>
          </a:bodyPr>
          <a:lstStyle/>
          <a:p>
            <a:pPr algn="ctr"/>
            <a:r>
              <a:rPr lang="en-US" altLang="zh-CN"/>
              <a:t>FPGA </a:t>
            </a:r>
          </a:p>
          <a:p>
            <a:pPr algn="ctr"/>
            <a:r>
              <a:rPr lang="en-US" altLang="zh-CN"/>
              <a:t>(AMD V80, PCIe 4.0/5.0 x16)</a:t>
            </a:r>
          </a:p>
        </p:txBody>
      </p:sp>
      <p:pic>
        <p:nvPicPr>
          <p:cNvPr id="15" name="图片 14"/>
          <p:cNvPicPr/>
          <p:nvPr/>
        </p:nvPicPr>
        <p:blipFill>
          <a:blip r:embed="rId5"/>
          <a:stretch>
            <a:fillRect/>
          </a:stretch>
        </p:blipFill>
        <p:spPr>
          <a:xfrm>
            <a:off x="986790" y="4113530"/>
            <a:ext cx="2460625" cy="1684655"/>
          </a:xfrm>
          <a:prstGeom prst="rect">
            <a:avLst/>
          </a:prstGeom>
        </p:spPr>
      </p:pic>
      <p:sp>
        <p:nvSpPr>
          <p:cNvPr id="16" name="文本框 15"/>
          <p:cNvSpPr txBox="1"/>
          <p:nvPr/>
        </p:nvSpPr>
        <p:spPr>
          <a:xfrm>
            <a:off x="240665" y="5888990"/>
            <a:ext cx="3833495" cy="645160"/>
          </a:xfrm>
          <a:prstGeom prst="rect">
            <a:avLst/>
          </a:prstGeom>
          <a:noFill/>
        </p:spPr>
        <p:txBody>
          <a:bodyPr wrap="square" rtlCol="0">
            <a:spAutoFit/>
          </a:bodyPr>
          <a:lstStyle/>
          <a:p>
            <a:pPr algn="ctr"/>
            <a:r>
              <a:rPr lang="en-US" altLang="zh-CN"/>
              <a:t>Network Interface Card, NIC</a:t>
            </a:r>
          </a:p>
          <a:p>
            <a:pPr algn="ctr"/>
            <a:r>
              <a:rPr lang="en-US" altLang="zh-CN"/>
              <a:t>(Intel E810 10/25 GbE, PCIe 4.0 x4)</a:t>
            </a:r>
          </a:p>
        </p:txBody>
      </p:sp>
      <p:pic>
        <p:nvPicPr>
          <p:cNvPr id="17" name="图片 16"/>
          <p:cNvPicPr/>
          <p:nvPr/>
        </p:nvPicPr>
        <p:blipFill>
          <a:blip r:embed="rId6"/>
          <a:stretch>
            <a:fillRect/>
          </a:stretch>
        </p:blipFill>
        <p:spPr>
          <a:xfrm>
            <a:off x="4837430" y="4025265"/>
            <a:ext cx="2304415" cy="1739265"/>
          </a:xfrm>
          <a:prstGeom prst="rect">
            <a:avLst/>
          </a:prstGeom>
        </p:spPr>
      </p:pic>
      <p:sp>
        <p:nvSpPr>
          <p:cNvPr id="18" name="文本框 17"/>
          <p:cNvSpPr txBox="1"/>
          <p:nvPr/>
        </p:nvSpPr>
        <p:spPr>
          <a:xfrm>
            <a:off x="4179570" y="5888990"/>
            <a:ext cx="3833495" cy="645160"/>
          </a:xfrm>
          <a:prstGeom prst="rect">
            <a:avLst/>
          </a:prstGeom>
          <a:noFill/>
        </p:spPr>
        <p:txBody>
          <a:bodyPr wrap="square" rtlCol="0">
            <a:spAutoFit/>
          </a:bodyPr>
          <a:lstStyle/>
          <a:p>
            <a:pPr algn="ctr"/>
            <a:r>
              <a:rPr lang="en-US" altLang="zh-CN"/>
              <a:t>WiFi 6E Card</a:t>
            </a:r>
          </a:p>
          <a:p>
            <a:pPr algn="ctr"/>
            <a:r>
              <a:rPr lang="en-US" altLang="zh-CN"/>
              <a:t>(Intel AX210, PCIe 3.0 x1)</a:t>
            </a:r>
          </a:p>
        </p:txBody>
      </p:sp>
      <p:pic>
        <p:nvPicPr>
          <p:cNvPr id="19" name="图片 18"/>
          <p:cNvPicPr/>
          <p:nvPr/>
        </p:nvPicPr>
        <p:blipFill>
          <a:blip r:embed="rId7"/>
          <a:stretch>
            <a:fillRect/>
          </a:stretch>
        </p:blipFill>
        <p:spPr>
          <a:xfrm>
            <a:off x="8655050" y="4265295"/>
            <a:ext cx="2545080" cy="1567815"/>
          </a:xfrm>
          <a:prstGeom prst="rect">
            <a:avLst/>
          </a:prstGeom>
        </p:spPr>
      </p:pic>
      <p:sp>
        <p:nvSpPr>
          <p:cNvPr id="20" name="文本框 19"/>
          <p:cNvSpPr txBox="1"/>
          <p:nvPr/>
        </p:nvSpPr>
        <p:spPr>
          <a:xfrm>
            <a:off x="8070850" y="5888990"/>
            <a:ext cx="3833495" cy="645160"/>
          </a:xfrm>
          <a:prstGeom prst="rect">
            <a:avLst/>
          </a:prstGeom>
          <a:noFill/>
        </p:spPr>
        <p:txBody>
          <a:bodyPr wrap="square" rtlCol="0">
            <a:spAutoFit/>
          </a:bodyPr>
          <a:lstStyle/>
          <a:p>
            <a:pPr algn="ctr"/>
            <a:r>
              <a:rPr lang="en-US" altLang="zh-CN"/>
              <a:t>RAID Controller</a:t>
            </a:r>
          </a:p>
          <a:p>
            <a:pPr algn="ctr"/>
            <a:r>
              <a:rPr lang="en-US" altLang="zh-CN"/>
              <a:t>(Broadcom 9560-16i, PCIe 4.0 x8)</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p:custDataLst>
              <p:tags r:id="rId1"/>
            </p:custDataLst>
          </p:nvPr>
        </p:nvPicPr>
        <p:blipFill>
          <a:blip r:embed="rId4"/>
          <a:srcRect l="9531" t="17681" r="12705" b="9335"/>
          <a:stretch>
            <a:fillRect/>
          </a:stretch>
        </p:blipFill>
        <p:spPr>
          <a:xfrm>
            <a:off x="6358255" y="3593465"/>
            <a:ext cx="5648960" cy="2800985"/>
          </a:xfrm>
          <a:prstGeom prst="rect">
            <a:avLst/>
          </a:prstGeom>
        </p:spPr>
      </p:pic>
      <p:sp>
        <p:nvSpPr>
          <p:cNvPr id="2" name="标题 1"/>
          <p:cNvSpPr>
            <a:spLocks noGrp="1"/>
          </p:cNvSpPr>
          <p:nvPr>
            <p:ph type="title"/>
          </p:nvPr>
        </p:nvSpPr>
        <p:spPr/>
        <p:txBody>
          <a:bodyPr/>
          <a:lstStyle/>
          <a:p>
            <a:r>
              <a:rPr lang="en-US" altLang="zh-CN"/>
              <a:t>PCIe Role in AI: </a:t>
            </a:r>
            <a:r>
              <a:rPr lang="en-US" altLang="zh-CN" sz="3200"/>
              <a:t>GPU-Host Connection</a:t>
            </a:r>
          </a:p>
        </p:txBody>
      </p:sp>
      <p:sp>
        <p:nvSpPr>
          <p:cNvPr id="4" name="页脚占位符 3"/>
          <p:cNvSpPr>
            <a:spLocks noGrp="1"/>
          </p:cNvSpPr>
          <p:nvPr>
            <p:ph type="ftr" sz="quarter" idx="11"/>
          </p:nvPr>
        </p:nvSpPr>
        <p:spPr/>
        <p:txBody>
          <a:bodyPr/>
          <a:lstStyle/>
          <a:p>
            <a:endParaRPr lang="en-US" altLang="zh-CN"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11</a:t>
            </a:fld>
            <a:endParaRPr lang="zh-CN" altLang="en-US" dirty="0"/>
          </a:p>
        </p:txBody>
      </p:sp>
      <p:sp>
        <p:nvSpPr>
          <p:cNvPr id="3" name="内容占位符 2"/>
          <p:cNvSpPr>
            <a:spLocks noGrp="1"/>
          </p:cNvSpPr>
          <p:nvPr>
            <p:ph sz="quarter" idx="13"/>
          </p:nvPr>
        </p:nvSpPr>
        <p:spPr>
          <a:xfrm>
            <a:off x="523875" y="1323975"/>
            <a:ext cx="10532745" cy="4853305"/>
          </a:xfrm>
        </p:spPr>
        <p:txBody>
          <a:bodyPr/>
          <a:lstStyle/>
          <a:p>
            <a:r>
              <a:rPr lang="en-US" altLang="zh-CN"/>
              <a:t>GPU connect to most Host with PCIe </a:t>
            </a:r>
            <a:r>
              <a:rPr lang="en-US" altLang="zh-CN" sz="1800" i="1"/>
              <a:t>(currently 2025.08)</a:t>
            </a:r>
            <a:endParaRPr lang="en-US" altLang="zh-CN"/>
          </a:p>
          <a:p>
            <a:pPr lvl="1"/>
            <a:r>
              <a:rPr lang="en-US" altLang="zh-CN"/>
              <a:t>Host-&gt;GPU: Commands (CUDA  kernels, OpenCL bin)</a:t>
            </a:r>
          </a:p>
          <a:p>
            <a:pPr marL="342900" lvl="1" indent="0">
              <a:buNone/>
            </a:pPr>
            <a:r>
              <a:rPr lang="en-US" altLang="zh-CN"/>
              <a:t>             		  Training data, Model weights...</a:t>
            </a:r>
          </a:p>
          <a:p>
            <a:pPr lvl="1"/>
            <a:r>
              <a:rPr lang="en-US" altLang="zh-CN"/>
              <a:t>GPU-&gt;Host: GPU status (kernel completion, CUDA events)</a:t>
            </a:r>
          </a:p>
          <a:p>
            <a:pPr marL="342900" lvl="1" indent="0">
              <a:buNone/>
            </a:pPr>
            <a:r>
              <a:rPr lang="en-US" altLang="zh-CN"/>
              <a:t>                          Computation results (gradients, </a:t>
            </a:r>
            <a:r>
              <a:rPr lang="en-US" altLang="zh-CN">
                <a:sym typeface="+mn-ea"/>
              </a:rPr>
              <a:t>inference output</a:t>
            </a:r>
            <a:r>
              <a:rPr lang="en-US" altLang="zh-CN"/>
              <a:t>)...</a:t>
            </a:r>
          </a:p>
          <a:p>
            <a:pPr lvl="0"/>
            <a:r>
              <a:rPr lang="en-US" altLang="zh-CN"/>
              <a:t>Traditional Data Transfer</a:t>
            </a:r>
          </a:p>
          <a:p>
            <a:pPr lvl="1"/>
            <a:r>
              <a:rPr lang="en-US" altLang="zh-CN" sz="2000"/>
              <a:t>1st Copy: NVMe SSD -&gt; host Memory [with DMA]</a:t>
            </a:r>
            <a:endParaRPr lang="en-US" altLang="zh-CN"/>
          </a:p>
          <a:p>
            <a:pPr lvl="1"/>
            <a:r>
              <a:rPr lang="en-US" altLang="zh-CN"/>
              <a:t>2nd Copy: host Memory -&gt; GPU Memory</a:t>
            </a:r>
          </a:p>
          <a:p>
            <a:pPr lvl="0"/>
            <a:r>
              <a:rPr lang="en-US" altLang="zh-CN"/>
              <a:t>Nvidia GPUDirect Storage </a:t>
            </a:r>
            <a:r>
              <a:rPr lang="en-US" altLang="zh-CN" sz="1800"/>
              <a:t>(from 2020.06)</a:t>
            </a:r>
            <a:endParaRPr lang="en-US" altLang="zh-CN"/>
          </a:p>
          <a:p>
            <a:pPr lvl="1"/>
            <a:r>
              <a:rPr lang="en-US" altLang="zh-CN"/>
              <a:t>Only 1 Copy: NVMe SSD -&gt; GPU Memory</a:t>
            </a:r>
          </a:p>
        </p:txBody>
      </p:sp>
      <p:pic>
        <p:nvPicPr>
          <p:cNvPr id="6" name="图片 5"/>
          <p:cNvPicPr/>
          <p:nvPr/>
        </p:nvPicPr>
        <p:blipFill>
          <a:blip r:embed="rId5"/>
          <a:stretch>
            <a:fillRect/>
          </a:stretch>
        </p:blipFill>
        <p:spPr>
          <a:xfrm>
            <a:off x="8076565" y="880745"/>
            <a:ext cx="2948940" cy="1974850"/>
          </a:xfrm>
          <a:prstGeom prst="rect">
            <a:avLst/>
          </a:prstGeom>
        </p:spPr>
      </p:pic>
      <p:sp>
        <p:nvSpPr>
          <p:cNvPr id="8" name="文本框 7"/>
          <p:cNvSpPr txBox="1"/>
          <p:nvPr/>
        </p:nvSpPr>
        <p:spPr>
          <a:xfrm>
            <a:off x="7906385" y="2912745"/>
            <a:ext cx="3346450" cy="368300"/>
          </a:xfrm>
          <a:prstGeom prst="rect">
            <a:avLst/>
          </a:prstGeom>
          <a:noFill/>
        </p:spPr>
        <p:txBody>
          <a:bodyPr wrap="square" rtlCol="0">
            <a:spAutoFit/>
          </a:bodyPr>
          <a:lstStyle/>
          <a:p>
            <a:pPr algn="ctr"/>
            <a:r>
              <a:rPr lang="en-US" altLang="zh-CN"/>
              <a:t>GPUs to mainboard with PCIe</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PCIe Role in AI: </a:t>
            </a:r>
            <a:r>
              <a:rPr lang="en-US" altLang="zh-CN" sz="3200"/>
              <a:t>GPU-GPU Connection</a:t>
            </a:r>
          </a:p>
        </p:txBody>
      </p:sp>
      <p:sp>
        <p:nvSpPr>
          <p:cNvPr id="4" name="页脚占位符 3"/>
          <p:cNvSpPr>
            <a:spLocks noGrp="1"/>
          </p:cNvSpPr>
          <p:nvPr>
            <p:ph type="ftr" sz="quarter" idx="11"/>
          </p:nvPr>
        </p:nvSpPr>
        <p:spPr/>
        <p:txBody>
          <a:bodyPr/>
          <a:lstStyle/>
          <a:p>
            <a:endParaRPr lang="en-US" altLang="zh-CN"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12</a:t>
            </a:fld>
            <a:endParaRPr lang="zh-CN" altLang="en-US" dirty="0"/>
          </a:p>
        </p:txBody>
      </p:sp>
      <p:sp>
        <p:nvSpPr>
          <p:cNvPr id="3" name="内容占位符 2"/>
          <p:cNvSpPr>
            <a:spLocks noGrp="1"/>
          </p:cNvSpPr>
          <p:nvPr>
            <p:ph sz="quarter" idx="13"/>
          </p:nvPr>
        </p:nvSpPr>
        <p:spPr/>
        <p:txBody>
          <a:bodyPr/>
          <a:lstStyle/>
          <a:p>
            <a:r>
              <a:rPr lang="en-US" altLang="zh-CN"/>
              <a:t>GPU connect each other with PCIe </a:t>
            </a:r>
            <a:r>
              <a:rPr lang="en-US" altLang="zh-CN" sz="1800" i="1"/>
              <a:t>(before 2016 NVlink published)</a:t>
            </a:r>
          </a:p>
          <a:p>
            <a:pPr lvl="1"/>
            <a:r>
              <a:rPr lang="en-US" altLang="zh-CN" sz="2000"/>
              <a:t>Data/Pipeline/</a:t>
            </a:r>
            <a:r>
              <a:rPr lang="en-US" altLang="zh-CN">
                <a:sym typeface="+mn-ea"/>
              </a:rPr>
              <a:t>Tensor/Expert</a:t>
            </a:r>
            <a:r>
              <a:rPr lang="en-US" altLang="zh-CN" sz="2000"/>
              <a:t> Parallelism</a:t>
            </a:r>
          </a:p>
          <a:p>
            <a:r>
              <a:rPr lang="en-US" altLang="zh-CN" sz="2400"/>
              <a:t>Traditional Data Transfer</a:t>
            </a:r>
          </a:p>
          <a:p>
            <a:pPr lvl="1"/>
            <a:r>
              <a:rPr lang="en-US" altLang="zh-CN" sz="2000"/>
              <a:t>GPU</a:t>
            </a:r>
            <a:r>
              <a:rPr lang="en-US" altLang="zh-CN" sz="2000" baseline="-25000"/>
              <a:t>0</a:t>
            </a:r>
            <a:r>
              <a:rPr lang="en-US" altLang="zh-CN" sz="2000"/>
              <a:t> write to host shared memory</a:t>
            </a:r>
          </a:p>
          <a:p>
            <a:pPr lvl="1"/>
            <a:r>
              <a:rPr lang="en-US" altLang="zh-CN" sz="2000"/>
              <a:t>GPU</a:t>
            </a:r>
            <a:r>
              <a:rPr lang="en-US" altLang="zh-CN" sz="2000" baseline="-25000"/>
              <a:t>1</a:t>
            </a:r>
            <a:r>
              <a:rPr lang="en-US" altLang="zh-CN" sz="2000"/>
              <a:t> read from host shared memory</a:t>
            </a:r>
          </a:p>
          <a:p>
            <a:r>
              <a:rPr lang="en-US" altLang="zh-CN" sz="2400"/>
              <a:t>GPUDirect Peer-to-Peer</a:t>
            </a:r>
          </a:p>
          <a:p>
            <a:pPr lvl="1"/>
            <a:r>
              <a:rPr lang="en-US" altLang="zh-CN" sz="2000"/>
              <a:t>Direct access with Load/Store</a:t>
            </a:r>
          </a:p>
          <a:p>
            <a:pPr lvl="1"/>
            <a:r>
              <a:rPr lang="en-US" altLang="zh-CN" sz="2000"/>
              <a:t>Direct transfer with cudaMemCpy()</a:t>
            </a:r>
          </a:p>
          <a:p>
            <a:pPr lvl="1"/>
            <a:endParaRPr lang="en-US" altLang="zh-CN"/>
          </a:p>
          <a:p>
            <a:pPr lvl="0"/>
            <a:endParaRPr lang="en-US" altLang="zh-CN"/>
          </a:p>
        </p:txBody>
      </p:sp>
      <p:pic>
        <p:nvPicPr>
          <p:cNvPr id="9" name="图片 8"/>
          <p:cNvPicPr/>
          <p:nvPr/>
        </p:nvPicPr>
        <p:blipFill>
          <a:blip r:embed="rId3"/>
          <a:stretch>
            <a:fillRect/>
          </a:stretch>
        </p:blipFill>
        <p:spPr>
          <a:xfrm>
            <a:off x="5643245" y="1922780"/>
            <a:ext cx="6231255" cy="1768475"/>
          </a:xfrm>
          <a:prstGeom prst="rect">
            <a:avLst/>
          </a:prstGeom>
        </p:spPr>
      </p:pic>
      <p:pic>
        <p:nvPicPr>
          <p:cNvPr id="10" name="图片 9"/>
          <p:cNvPicPr/>
          <p:nvPr/>
        </p:nvPicPr>
        <p:blipFill>
          <a:blip r:embed="rId4"/>
          <a:stretch>
            <a:fillRect/>
          </a:stretch>
        </p:blipFill>
        <p:spPr>
          <a:xfrm>
            <a:off x="6490335" y="4077970"/>
            <a:ext cx="4413250" cy="2386965"/>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NVLink: GPU Interconnect</a:t>
            </a:r>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13</a:t>
            </a:fld>
            <a:endParaRPr lang="zh-CN" altLang="en-US" dirty="0"/>
          </a:p>
        </p:txBody>
      </p:sp>
      <p:sp>
        <p:nvSpPr>
          <p:cNvPr id="3" name="内容占位符 2"/>
          <p:cNvSpPr>
            <a:spLocks noGrp="1"/>
          </p:cNvSpPr>
          <p:nvPr>
            <p:ph sz="quarter" idx="13"/>
          </p:nvPr>
        </p:nvSpPr>
        <p:spPr/>
        <p:txBody>
          <a:bodyPr/>
          <a:lstStyle/>
          <a:p>
            <a:r>
              <a:rPr lang="en-US" altLang="zh-CN"/>
              <a:t>NVLink 1.0 first introduced with P100 GPU in 2016</a:t>
            </a:r>
          </a:p>
          <a:p>
            <a:pPr lvl="1"/>
            <a:r>
              <a:rPr lang="en-US" altLang="zh-CN" sz="2000"/>
              <a:t>4 NVLinks, each with 8 channels, 40 GB/s bidirectional bandwidth, 160 GB/s in total</a:t>
            </a:r>
          </a:p>
          <a:p>
            <a:pPr lvl="1"/>
            <a:r>
              <a:rPr lang="en-US" altLang="zh-CN" sz="2000"/>
              <a:t>Faster than PCIe 3.0 x 16 (32 GB/s)</a:t>
            </a:r>
          </a:p>
          <a:p>
            <a:pPr lvl="0"/>
            <a:r>
              <a:rPr lang="en-US" altLang="zh-CN"/>
              <a:t>Serial communication based on high-speed differential signaling</a:t>
            </a:r>
          </a:p>
          <a:p>
            <a:pPr lvl="1"/>
            <a:r>
              <a:rPr lang="en-US" altLang="zh-CN"/>
              <a:t>NVLink 1.0, 5 GB/s per </a:t>
            </a:r>
            <a:r>
              <a:rPr lang="en-US" altLang="zh-CN">
                <a:sym typeface="+mn-ea"/>
              </a:rPr>
              <a:t>channel</a:t>
            </a:r>
            <a:endParaRPr lang="en-US" altLang="zh-CN"/>
          </a:p>
          <a:p>
            <a:endParaRPr lang="en-US" altLang="zh-CN"/>
          </a:p>
        </p:txBody>
      </p:sp>
      <p:pic>
        <p:nvPicPr>
          <p:cNvPr id="6" name="图片 5"/>
          <p:cNvPicPr/>
          <p:nvPr/>
        </p:nvPicPr>
        <p:blipFill>
          <a:blip r:embed="rId3"/>
          <a:stretch>
            <a:fillRect/>
          </a:stretch>
        </p:blipFill>
        <p:spPr>
          <a:xfrm>
            <a:off x="668020" y="3832860"/>
            <a:ext cx="4147820" cy="2273300"/>
          </a:xfrm>
          <a:prstGeom prst="rect">
            <a:avLst/>
          </a:prstGeom>
        </p:spPr>
      </p:pic>
      <p:pic>
        <p:nvPicPr>
          <p:cNvPr id="7" name="图片 6"/>
          <p:cNvPicPr/>
          <p:nvPr/>
        </p:nvPicPr>
        <p:blipFill>
          <a:blip r:embed="rId4"/>
          <a:stretch>
            <a:fillRect/>
          </a:stretch>
        </p:blipFill>
        <p:spPr>
          <a:xfrm>
            <a:off x="5165090" y="4199890"/>
            <a:ext cx="6636385" cy="1906270"/>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NVLink Generations</a:t>
            </a:r>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14</a:t>
            </a:fld>
            <a:endParaRPr lang="zh-CN" altLang="en-US" dirty="0"/>
          </a:p>
        </p:txBody>
      </p:sp>
      <p:sp>
        <p:nvSpPr>
          <p:cNvPr id="3" name="内容占位符 2"/>
          <p:cNvSpPr>
            <a:spLocks noGrp="1"/>
          </p:cNvSpPr>
          <p:nvPr>
            <p:ph sz="quarter" idx="13"/>
          </p:nvPr>
        </p:nvSpPr>
        <p:spPr/>
        <p:txBody>
          <a:bodyPr/>
          <a:lstStyle/>
          <a:p>
            <a:r>
              <a:rPr lang="en-US" altLang="zh-CN"/>
              <a:t>Updatest: NVLink 5.0 in 2024 </a:t>
            </a:r>
          </a:p>
        </p:txBody>
      </p:sp>
      <p:pic>
        <p:nvPicPr>
          <p:cNvPr id="6" name="图片 5"/>
          <p:cNvPicPr/>
          <p:nvPr/>
        </p:nvPicPr>
        <p:blipFill>
          <a:blip r:embed="rId3">
            <a:extLst>
              <a:ext uri="{96DAC541-7B7A-43D3-8B79-37D633B846F1}">
                <asvg:svgBlip xmlns:asvg="http://schemas.microsoft.com/office/drawing/2016/SVG/main" r:embed="rId4"/>
              </a:ext>
            </a:extLst>
          </a:blip>
          <a:stretch>
            <a:fillRect/>
          </a:stretch>
        </p:blipFill>
        <p:spPr>
          <a:xfrm>
            <a:off x="7007860" y="2023745"/>
            <a:ext cx="5143500" cy="3616960"/>
          </a:xfrm>
          <a:prstGeom prst="rect">
            <a:avLst/>
          </a:prstGeom>
        </p:spPr>
      </p:pic>
      <p:grpSp>
        <p:nvGrpSpPr>
          <p:cNvPr id="9" name="组合 8"/>
          <p:cNvGrpSpPr/>
          <p:nvPr/>
        </p:nvGrpSpPr>
        <p:grpSpPr>
          <a:xfrm>
            <a:off x="378460" y="2146300"/>
            <a:ext cx="6704330" cy="3196590"/>
            <a:chOff x="660" y="3380"/>
            <a:chExt cx="10558" cy="5034"/>
          </a:xfrm>
        </p:grpSpPr>
        <p:pic>
          <p:nvPicPr>
            <p:cNvPr id="7" name="图片 6"/>
            <p:cNvPicPr/>
            <p:nvPr/>
          </p:nvPicPr>
          <p:blipFill>
            <a:blip r:embed="rId5"/>
            <a:stretch>
              <a:fillRect/>
            </a:stretch>
          </p:blipFill>
          <p:spPr>
            <a:xfrm>
              <a:off x="660" y="3380"/>
              <a:ext cx="10558" cy="5034"/>
            </a:xfrm>
            <a:prstGeom prst="rect">
              <a:avLst/>
            </a:prstGeom>
          </p:spPr>
        </p:pic>
        <p:sp>
          <p:nvSpPr>
            <p:cNvPr id="8" name="矩形 7"/>
            <p:cNvSpPr/>
            <p:nvPr/>
          </p:nvSpPr>
          <p:spPr>
            <a:xfrm>
              <a:off x="10009" y="7964"/>
              <a:ext cx="848" cy="346"/>
            </a:xfrm>
            <a:prstGeom prst="rect">
              <a:avLst/>
            </a:prstGeom>
            <a:solidFill>
              <a:srgbClr val="CED6E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a:solidFill>
                    <a:schemeClr val="tx1"/>
                  </a:solidFill>
                </a:rPr>
                <a:t>1800</a:t>
              </a:r>
            </a:p>
          </p:txBody>
        </p:sp>
      </p:grpSp>
      <p:sp>
        <p:nvSpPr>
          <p:cNvPr id="10" name="文本框 9"/>
          <p:cNvSpPr txBox="1"/>
          <p:nvPr/>
        </p:nvSpPr>
        <p:spPr>
          <a:xfrm>
            <a:off x="12216765" y="6080760"/>
            <a:ext cx="4064000" cy="368300"/>
          </a:xfrm>
          <a:prstGeom prst="rect">
            <a:avLst/>
          </a:prstGeom>
          <a:noFill/>
        </p:spPr>
        <p:txBody>
          <a:bodyPr wrap="square" rtlCol="0">
            <a:spAutoFit/>
          </a:bodyPr>
          <a:lstStyle/>
          <a:p>
            <a:endParaRPr lang="zh-CN" altLang="en-US"/>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x-none" dirty="0"/>
              <a:t>Heterogeneous Host-Device Interaction</a:t>
            </a:r>
            <a:endParaRPr lang="zh-CN" altLang="en-US" dirty="0"/>
          </a:p>
        </p:txBody>
      </p:sp>
      <p:sp>
        <p:nvSpPr>
          <p:cNvPr id="3" name="灯片编号占位符 2"/>
          <p:cNvSpPr>
            <a:spLocks noGrp="1"/>
          </p:cNvSpPr>
          <p:nvPr>
            <p:ph type="sldNum" sz="quarter" idx="12"/>
          </p:nvPr>
        </p:nvSpPr>
        <p:spPr/>
        <p:txBody>
          <a:bodyPr/>
          <a:lstStyle/>
          <a:p>
            <a:fld id="{B33F7469-D28B-482F-B1B6-3B8E7CF51519}" type="slidenum">
              <a:rPr lang="zh-CN" altLang="en-US" smtClean="0"/>
              <a:t>15</a:t>
            </a:fld>
            <a:endParaRPr lang="zh-CN" altLang="en-US" dirty="0"/>
          </a:p>
        </p:txBody>
      </p:sp>
      <p:sp>
        <p:nvSpPr>
          <p:cNvPr id="72" name="内容占位符 71"/>
          <p:cNvSpPr>
            <a:spLocks noGrp="1"/>
          </p:cNvSpPr>
          <p:nvPr>
            <p:ph sz="quarter" idx="13"/>
          </p:nvPr>
        </p:nvSpPr>
        <p:spPr/>
        <p:txBody>
          <a:bodyPr/>
          <a:lstStyle/>
          <a:p>
            <a:r>
              <a:rPr lang="x-none" altLang="zh-CN"/>
              <a:t>without Unified Memory</a:t>
            </a:r>
          </a:p>
        </p:txBody>
      </p:sp>
      <p:sp>
        <p:nvSpPr>
          <p:cNvPr id="5" name="页脚占位符 4"/>
          <p:cNvSpPr>
            <a:spLocks noGrp="1"/>
          </p:cNvSpPr>
          <p:nvPr>
            <p:ph type="ftr" sz="quarter" idx="11"/>
          </p:nvPr>
        </p:nvSpPr>
        <p:spPr/>
        <p:txBody>
          <a:bodyPr/>
          <a:lstStyle/>
          <a:p>
            <a:endParaRPr lang="en-US" altLang="zh-CN"/>
          </a:p>
        </p:txBody>
      </p:sp>
      <p:sp>
        <p:nvSpPr>
          <p:cNvPr id="73" name="内容占位符 72"/>
          <p:cNvSpPr>
            <a:spLocks noGrp="1"/>
          </p:cNvSpPr>
          <p:nvPr>
            <p:ph sz="quarter" idx="14"/>
          </p:nvPr>
        </p:nvSpPr>
        <p:spPr/>
        <p:txBody>
          <a:bodyPr/>
          <a:lstStyle/>
          <a:p>
            <a:r>
              <a:rPr lang="x-none" altLang="zh-CN"/>
              <a:t>with Unified Memory</a:t>
            </a:r>
          </a:p>
        </p:txBody>
      </p:sp>
      <p:pic>
        <p:nvPicPr>
          <p:cNvPr id="71" name="图片 70"/>
          <p:cNvPicPr>
            <a:picLocks noChangeAspect="1"/>
          </p:cNvPicPr>
          <p:nvPr/>
        </p:nvPicPr>
        <p:blipFill>
          <a:blip r:embed="rId3"/>
          <a:stretch>
            <a:fillRect/>
          </a:stretch>
        </p:blipFill>
        <p:spPr>
          <a:xfrm>
            <a:off x="1519555" y="2704465"/>
            <a:ext cx="3600000" cy="3651589"/>
          </a:xfrm>
          <a:prstGeom prst="rect">
            <a:avLst/>
          </a:prstGeom>
        </p:spPr>
      </p:pic>
      <p:pic>
        <p:nvPicPr>
          <p:cNvPr id="74" name="图片 73"/>
          <p:cNvPicPr>
            <a:picLocks noChangeAspect="1"/>
          </p:cNvPicPr>
          <p:nvPr/>
        </p:nvPicPr>
        <p:blipFill>
          <a:blip r:embed="rId3"/>
          <a:stretch>
            <a:fillRect/>
          </a:stretch>
        </p:blipFill>
        <p:spPr>
          <a:xfrm>
            <a:off x="7129145" y="2704465"/>
            <a:ext cx="3600000" cy="3651589"/>
          </a:xfrm>
          <a:prstGeom prst="rect">
            <a:avLst/>
          </a:prstGeom>
        </p:spPr>
      </p:pic>
      <p:sp>
        <p:nvSpPr>
          <p:cNvPr id="75" name="文本框 74"/>
          <p:cNvSpPr txBox="1"/>
          <p:nvPr/>
        </p:nvSpPr>
        <p:spPr>
          <a:xfrm>
            <a:off x="1122680" y="1691640"/>
            <a:ext cx="1800000" cy="1476375"/>
          </a:xfrm>
          <a:prstGeom prst="rect">
            <a:avLst/>
          </a:prstGeom>
          <a:noFill/>
        </p:spPr>
        <p:txBody>
          <a:bodyPr wrap="square" rtlCol="0">
            <a:spAutoFit/>
          </a:bodyPr>
          <a:lstStyle/>
          <a:p>
            <a:r>
              <a:rPr lang="x-none" altLang="zh-CN">
                <a:solidFill>
                  <a:schemeClr val="accent3">
                    <a:lumMod val="75000"/>
                  </a:schemeClr>
                </a:solidFill>
              </a:rPr>
              <a:t>① malloc</a:t>
            </a:r>
          </a:p>
          <a:p>
            <a:r>
              <a:rPr lang="x-none" altLang="zh-CN">
                <a:solidFill>
                  <a:schemeClr val="accent3">
                    <a:lumMod val="75000"/>
                  </a:schemeClr>
                </a:solidFill>
                <a:sym typeface="+mn-ea"/>
              </a:rPr>
              <a:t>②</a:t>
            </a:r>
            <a:r>
              <a:rPr lang="x-none" altLang="zh-CN">
                <a:solidFill>
                  <a:schemeClr val="accent3">
                    <a:lumMod val="75000"/>
                  </a:schemeClr>
                </a:solidFill>
              </a:rPr>
              <a:t> cudaMalloc</a:t>
            </a:r>
          </a:p>
          <a:p>
            <a:r>
              <a:rPr lang="x-none" altLang="zh-CN">
                <a:solidFill>
                  <a:schemeClr val="accent3">
                    <a:lumMod val="75000"/>
                  </a:schemeClr>
                </a:solidFill>
              </a:rPr>
              <a:t>③cudaMemcpy</a:t>
            </a:r>
          </a:p>
          <a:p>
            <a:r>
              <a:rPr lang="x-none" altLang="zh-CN">
                <a:solidFill>
                  <a:schemeClr val="accent3">
                    <a:lumMod val="75000"/>
                  </a:schemeClr>
                </a:solidFill>
              </a:rPr>
              <a:t>...</a:t>
            </a:r>
          </a:p>
          <a:p>
            <a:r>
              <a:rPr lang="x-none" altLang="zh-CN">
                <a:solidFill>
                  <a:schemeClr val="accent3">
                    <a:lumMod val="75000"/>
                  </a:schemeClr>
                </a:solidFill>
              </a:rPr>
              <a:t>⑥cudaMemcpy</a:t>
            </a:r>
          </a:p>
        </p:txBody>
      </p:sp>
      <p:sp>
        <p:nvSpPr>
          <p:cNvPr id="76" name="文本框 75"/>
          <p:cNvSpPr txBox="1"/>
          <p:nvPr/>
        </p:nvSpPr>
        <p:spPr>
          <a:xfrm>
            <a:off x="419100" y="6076315"/>
            <a:ext cx="2880000" cy="645160"/>
          </a:xfrm>
          <a:prstGeom prst="rect">
            <a:avLst/>
          </a:prstGeom>
          <a:noFill/>
        </p:spPr>
        <p:txBody>
          <a:bodyPr wrap="square" rtlCol="0">
            <a:spAutoFit/>
          </a:bodyPr>
          <a:lstStyle/>
          <a:p>
            <a:r>
              <a:rPr lang="x-none" altLang="zh-CN">
                <a:solidFill>
                  <a:schemeClr val="accent3">
                    <a:lumMod val="75000"/>
                  </a:schemeClr>
                </a:solidFill>
              </a:rPr>
              <a:t>④ cudaLaunchKernel</a:t>
            </a:r>
          </a:p>
          <a:p>
            <a:r>
              <a:rPr lang="x-none" altLang="zh-CN">
                <a:solidFill>
                  <a:schemeClr val="accent3">
                    <a:lumMod val="75000"/>
                  </a:schemeClr>
                </a:solidFill>
              </a:rPr>
              <a:t>⑤cudaDeviceSynchronize</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sz="quarter" idx="10"/>
          </p:nvPr>
        </p:nvSpPr>
        <p:spPr/>
        <p:txBody>
          <a:bodyPr/>
          <a:lstStyle/>
          <a:p>
            <a:r>
              <a:rPr lang="x-none" altLang="zh-CN"/>
              <a:t>Host, Device, and Interconnect</a:t>
            </a:r>
          </a:p>
          <a:p>
            <a:r>
              <a:rPr lang="x-none" altLang="zh-CN" b="1">
                <a:solidFill>
                  <a:srgbClr val="8B0012"/>
                </a:solidFill>
              </a:rPr>
              <a:t>Programming CUDA Cores</a:t>
            </a:r>
          </a:p>
          <a:p>
            <a:pPr marL="0" indent="0">
              <a:buNone/>
            </a:pPr>
            <a:endParaRPr lang="x-none" altLang="zh-CN"/>
          </a:p>
        </p:txBody>
      </p:sp>
      <p:sp>
        <p:nvSpPr>
          <p:cNvPr id="7" name="内容占位符 6"/>
          <p:cNvSpPr>
            <a:spLocks noGrp="1"/>
          </p:cNvSpPr>
          <p:nvPr>
            <p:ph sz="quarter" idx="11"/>
          </p:nvPr>
        </p:nvSpPr>
        <p:spPr/>
        <p:txBody>
          <a:bodyPr/>
          <a:lstStyle/>
          <a:p>
            <a:r>
              <a:rPr lang="x-none" altLang="zh-CN"/>
              <a:t>Outline</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noChangeArrowheads="1"/>
          </p:cNvSpPr>
          <p:nvPr>
            <p:ph type="title"/>
          </p:nvPr>
        </p:nvSpPr>
        <p:spPr/>
        <p:txBody>
          <a:bodyPr/>
          <a:lstStyle/>
          <a:p>
            <a:r>
              <a:rPr lang="en-US" altLang="zh-CN"/>
              <a:t>Questions on </a:t>
            </a:r>
            <a:r>
              <a:rPr lang="x-none"/>
              <a:t>Heterogeneous</a:t>
            </a:r>
            <a:r>
              <a:rPr lang="en-US" altLang="zh-CN"/>
              <a:t> Programming</a:t>
            </a:r>
          </a:p>
        </p:txBody>
      </p:sp>
      <p:sp>
        <p:nvSpPr>
          <p:cNvPr id="5" name="灯片编号占位符 4"/>
          <p:cNvSpPr>
            <a:spLocks noGrp="1"/>
          </p:cNvSpPr>
          <p:nvPr>
            <p:ph type="sldNum" sz="quarter" idx="12"/>
          </p:nvPr>
        </p:nvSpPr>
        <p:spPr/>
        <p:txBody>
          <a:bodyPr/>
          <a:lstStyle/>
          <a:p>
            <a:fld id="{B33F7469-D28B-482F-B1B6-3B8E7CF51519}" type="slidenum">
              <a:rPr lang="zh-CN" altLang="en-US" smtClean="0"/>
              <a:t>17</a:t>
            </a:fld>
            <a:endParaRPr lang="zh-CN" altLang="en-US" dirty="0"/>
          </a:p>
        </p:txBody>
      </p:sp>
      <p:sp>
        <p:nvSpPr>
          <p:cNvPr id="2" name="内容占位符 1"/>
          <p:cNvSpPr>
            <a:spLocks noGrp="1" noChangeArrowheads="1"/>
          </p:cNvSpPr>
          <p:nvPr>
            <p:ph sz="quarter" idx="13"/>
          </p:nvPr>
        </p:nvSpPr>
        <p:spPr/>
        <p:txBody>
          <a:bodyPr/>
          <a:lstStyle/>
          <a:p>
            <a:pPr lvl="0"/>
            <a:r>
              <a:rPr lang="en-US" altLang="zh-CN"/>
              <a:t>How to compile </a:t>
            </a:r>
            <a:r>
              <a:rPr lang="x-none" altLang="en-US"/>
              <a:t>the “kernel”</a:t>
            </a:r>
            <a:r>
              <a:rPr lang="en-US" altLang="zh-CN"/>
              <a:t> code?</a:t>
            </a:r>
          </a:p>
          <a:p>
            <a:pPr lvl="0"/>
            <a:r>
              <a:rPr lang="en-US" altLang="zh-CN"/>
              <a:t>How do CPU and GPU interact?</a:t>
            </a:r>
          </a:p>
          <a:p>
            <a:pPr lvl="0"/>
            <a:r>
              <a:rPr lang="en-US" altLang="zh-CN"/>
              <a:t>How to express parallelism?</a:t>
            </a:r>
          </a:p>
          <a:p>
            <a:pPr lvl="0"/>
            <a:r>
              <a:rPr lang="en-US" altLang="zh-CN"/>
              <a:t>How to express synchronization?</a:t>
            </a:r>
          </a:p>
          <a:p>
            <a:pPr lvl="0"/>
            <a:r>
              <a:rPr lang="en-US" altLang="zh-CN"/>
              <a:t>How to manage and access data?</a:t>
            </a:r>
          </a:p>
          <a:p>
            <a:pPr lvl="0"/>
            <a:r>
              <a:rPr lang="en-US" altLang="zh-CN"/>
              <a:t>How is </a:t>
            </a:r>
            <a:r>
              <a:rPr lang="x-none" altLang="en-US"/>
              <a:t>kernel</a:t>
            </a:r>
            <a:r>
              <a:rPr lang="en-US" altLang="zh-CN"/>
              <a:t> code executed on GPU?</a:t>
            </a:r>
          </a:p>
          <a:p>
            <a:pPr lvl="0"/>
            <a:endParaRPr lang="en-US" altLang="zh-CN"/>
          </a:p>
        </p:txBody>
      </p:sp>
      <p:sp>
        <p:nvSpPr>
          <p:cNvPr id="4" name="内容占位符 3"/>
          <p:cNvSpPr>
            <a:spLocks noGrp="1"/>
          </p:cNvSpPr>
          <p:nvPr>
            <p:ph sz="quarter" idx="14"/>
          </p:nvPr>
        </p:nvSpPr>
        <p:spPr/>
        <p:txBody>
          <a:bodyPr/>
          <a:lstStyle/>
          <a:p>
            <a:r>
              <a:rPr lang="en-US" altLang="zh-CN"/>
              <a:t>Misc. topics</a:t>
            </a:r>
          </a:p>
          <a:p>
            <a:pPr lvl="1"/>
            <a:r>
              <a:rPr lang="en-US" altLang="zh-CN"/>
              <a:t>debugging tools</a:t>
            </a:r>
          </a:p>
          <a:p>
            <a:pPr lvl="1"/>
            <a:r>
              <a:rPr lang="en-US" altLang="zh-CN"/>
              <a:t>useful libraries</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sz="3200"/>
              <a:t>(incomplete list of) Concepts on </a:t>
            </a:r>
            <a:r>
              <a:rPr lang="x-none" sz="3200"/>
              <a:t>Hetero-</a:t>
            </a:r>
            <a:r>
              <a:rPr lang="en-US" altLang="zh-CN" sz="3200"/>
              <a:t>Programming</a:t>
            </a:r>
          </a:p>
        </p:txBody>
      </p:sp>
      <p:sp>
        <p:nvSpPr>
          <p:cNvPr id="2" name="灯片编号占位符 1"/>
          <p:cNvSpPr>
            <a:spLocks noGrp="1"/>
          </p:cNvSpPr>
          <p:nvPr>
            <p:ph type="sldNum" sz="quarter" idx="12"/>
          </p:nvPr>
        </p:nvSpPr>
        <p:spPr/>
        <p:txBody>
          <a:bodyPr/>
          <a:lstStyle/>
          <a:p>
            <a:fld id="{B33F7469-D28B-482F-B1B6-3B8E7CF51519}" type="slidenum">
              <a:rPr lang="zh-CN" altLang="en-US" smtClean="0"/>
              <a:t>18</a:t>
            </a:fld>
            <a:endParaRPr lang="zh-CN" altLang="en-US" dirty="0"/>
          </a:p>
        </p:txBody>
      </p:sp>
      <p:sp>
        <p:nvSpPr>
          <p:cNvPr id="8" name="内容占位符 7"/>
          <p:cNvSpPr>
            <a:spLocks noGrp="1"/>
          </p:cNvSpPr>
          <p:nvPr>
            <p:ph sz="quarter" idx="13"/>
          </p:nvPr>
        </p:nvSpPr>
        <p:spPr/>
        <p:txBody>
          <a:bodyPr/>
          <a:lstStyle/>
          <a:p>
            <a:pPr lvl="0"/>
            <a:r>
              <a:rPr lang="en-US" altLang="zh-CN"/>
              <a:t>How to compile the </a:t>
            </a:r>
            <a:r>
              <a:rPr lang="x-none" altLang="en-US"/>
              <a:t>“kernel”</a:t>
            </a:r>
            <a:r>
              <a:rPr lang="en-US" altLang="zh-CN"/>
              <a:t> code?</a:t>
            </a:r>
          </a:p>
          <a:p>
            <a:pPr lvl="0"/>
            <a:r>
              <a:rPr lang="en-US" altLang="zh-CN"/>
              <a:t>How do CPU and GPU interact?</a:t>
            </a:r>
          </a:p>
          <a:p>
            <a:pPr lvl="0"/>
            <a:r>
              <a:rPr lang="en-US" altLang="zh-CN"/>
              <a:t>How to express parallelism?</a:t>
            </a:r>
          </a:p>
          <a:p>
            <a:pPr lvl="0"/>
            <a:r>
              <a:rPr lang="en-US" altLang="zh-CN"/>
              <a:t>How to express synchronization?</a:t>
            </a:r>
          </a:p>
          <a:p>
            <a:pPr lvl="0"/>
            <a:r>
              <a:rPr lang="en-US" altLang="zh-CN"/>
              <a:t>How to manage and access data?</a:t>
            </a:r>
          </a:p>
          <a:p>
            <a:pPr lvl="0"/>
            <a:r>
              <a:rPr lang="en-US" altLang="zh-CN"/>
              <a:t>How is </a:t>
            </a:r>
            <a:r>
              <a:rPr lang="x-none" altLang="en-US"/>
              <a:t>kernel</a:t>
            </a:r>
            <a:r>
              <a:rPr lang="en-US" altLang="zh-CN"/>
              <a:t> code executed on GPU?</a:t>
            </a:r>
          </a:p>
          <a:p>
            <a:pPr marL="0" lvl="0" indent="0">
              <a:buNone/>
            </a:pPr>
            <a:endParaRPr lang="en-US" altLang="zh-CN"/>
          </a:p>
        </p:txBody>
      </p:sp>
      <p:sp>
        <p:nvSpPr>
          <p:cNvPr id="6" name="页脚占位符 5"/>
          <p:cNvSpPr>
            <a:spLocks noGrp="1"/>
          </p:cNvSpPr>
          <p:nvPr>
            <p:ph type="ftr" sz="quarter" idx="11"/>
          </p:nvPr>
        </p:nvSpPr>
        <p:spPr/>
        <p:txBody>
          <a:bodyPr/>
          <a:lstStyle/>
          <a:p>
            <a:endParaRPr lang="zh-CN" altLang="en-US"/>
          </a:p>
        </p:txBody>
      </p:sp>
      <p:sp>
        <p:nvSpPr>
          <p:cNvPr id="9" name="内容占位符 8"/>
          <p:cNvSpPr>
            <a:spLocks noGrp="1"/>
          </p:cNvSpPr>
          <p:nvPr>
            <p:ph sz="quarter" idx="14"/>
          </p:nvPr>
        </p:nvSpPr>
        <p:spPr/>
        <p:txBody>
          <a:bodyPr/>
          <a:lstStyle/>
          <a:p>
            <a:pPr marL="0" indent="0">
              <a:buNone/>
            </a:pPr>
            <a:r>
              <a:rPr lang="x-none" altLang="en-US"/>
              <a:t>a “”compiler” </a:t>
            </a:r>
            <a:r>
              <a:rPr lang="x-none" altLang="en-US">
                <a:solidFill>
                  <a:schemeClr val="bg1">
                    <a:lumMod val="50000"/>
                  </a:schemeClr>
                </a:solidFill>
              </a:rPr>
              <a:t>(later lectures)</a:t>
            </a:r>
            <a:endParaRPr lang="en-US" altLang="zh-CN"/>
          </a:p>
          <a:p>
            <a:pPr marL="0" indent="0">
              <a:buNone/>
            </a:pPr>
            <a:r>
              <a:rPr lang="en-US" altLang="zh-CN"/>
              <a:t>host, device, kernels</a:t>
            </a:r>
          </a:p>
          <a:p>
            <a:pPr marL="0" indent="0">
              <a:buNone/>
            </a:pPr>
            <a:r>
              <a:rPr lang="en-US" altLang="zh-CN"/>
              <a:t>threads, blocks, grid</a:t>
            </a:r>
          </a:p>
          <a:p>
            <a:pPr marL="0" indent="0">
              <a:buNone/>
            </a:pPr>
            <a:r>
              <a:rPr lang="en-US" altLang="zh-CN"/>
              <a:t>__syncthreads()</a:t>
            </a:r>
          </a:p>
          <a:p>
            <a:pPr marL="0" indent="0">
              <a:buNone/>
            </a:pPr>
            <a:r>
              <a:rPr lang="x-none" altLang="en-US" sz="1800"/>
              <a:t>xx</a:t>
            </a:r>
            <a:r>
              <a:rPr lang="en-US" altLang="zh-CN" sz="1800"/>
              <a:t>Malloc(), </a:t>
            </a:r>
            <a:r>
              <a:rPr lang="x-none" altLang="en-US" sz="1800"/>
              <a:t>xxx</a:t>
            </a:r>
            <a:r>
              <a:rPr lang="en-US" altLang="zh-CN" sz="1800"/>
              <a:t>Memcpy(), global/shared/constant</a:t>
            </a:r>
            <a:endParaRPr lang="en-US" altLang="zh-CN"/>
          </a:p>
          <a:p>
            <a:pPr marL="0" indent="0">
              <a:buNone/>
            </a:pPr>
            <a:r>
              <a:rPr lang="en-US" altLang="zh-CN"/>
              <a:t>warp scheduling</a:t>
            </a:r>
          </a:p>
          <a:p>
            <a:endParaRPr lang="en-US" altLang="zh-CN"/>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How do CPU and GPU interact?</a:t>
            </a:r>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19</a:t>
            </a:fld>
            <a:endParaRPr lang="zh-CN" altLang="en-US" dirty="0"/>
          </a:p>
        </p:txBody>
      </p:sp>
      <p:sp>
        <p:nvSpPr>
          <p:cNvPr id="3" name="内容占位符 2"/>
          <p:cNvSpPr>
            <a:spLocks noGrp="1"/>
          </p:cNvSpPr>
          <p:nvPr>
            <p:ph sz="quarter" idx="13"/>
          </p:nvPr>
        </p:nvSpPr>
        <p:spPr/>
        <p:txBody>
          <a:bodyPr/>
          <a:lstStyle/>
          <a:p>
            <a:r>
              <a:rPr lang="en-US" altLang="zh-CN">
                <a:sym typeface="+mn-ea"/>
              </a:rPr>
              <a:t>A Tale of </a:t>
            </a:r>
            <a:r>
              <a:rPr lang="en-US" altLang="zh-CN">
                <a:solidFill>
                  <a:schemeClr val="accent6">
                    <a:lumMod val="75000"/>
                  </a:schemeClr>
                </a:solidFill>
                <a:sym typeface="+mn-ea"/>
              </a:rPr>
              <a:t>Host</a:t>
            </a:r>
            <a:r>
              <a:rPr lang="en-US" altLang="zh-CN">
                <a:sym typeface="+mn-ea"/>
              </a:rPr>
              <a:t> and </a:t>
            </a:r>
            <a:r>
              <a:rPr lang="en-US" altLang="zh-CN">
                <a:solidFill>
                  <a:schemeClr val="accent6">
                    <a:lumMod val="75000"/>
                  </a:schemeClr>
                </a:solidFill>
                <a:sym typeface="+mn-ea"/>
              </a:rPr>
              <a:t>Device</a:t>
            </a:r>
            <a:endParaRPr lang="en-US" altLang="zh-CN"/>
          </a:p>
          <a:p>
            <a:pPr lvl="1"/>
            <a:r>
              <a:rPr lang="en-US" altLang="zh-CN"/>
              <a:t>host ~ CPU;  device ~ GPU</a:t>
            </a:r>
          </a:p>
          <a:p>
            <a:pPr lvl="1"/>
            <a:r>
              <a:rPr lang="en-US" altLang="zh-CN" sz="2000"/>
              <a:t>in OpenCL/ROCm, CPUs can also serve as devices</a:t>
            </a:r>
            <a:endParaRPr lang="en-US" altLang="zh-CN"/>
          </a:p>
          <a:p>
            <a:r>
              <a:rPr lang="en-US" altLang="zh-CN"/>
              <a:t>CPU-GPU interface</a:t>
            </a:r>
          </a:p>
          <a:p>
            <a:pPr lvl="1"/>
            <a:r>
              <a:rPr lang="en-US" altLang="zh-CN"/>
              <a:t>x86-NV5090 @ PCIe 5.0: 64 GB/s</a:t>
            </a:r>
          </a:p>
          <a:p>
            <a:pPr lvl="1"/>
            <a:r>
              <a:rPr lang="en-US" altLang="zh-CN"/>
              <a:t>Grace-Hopper NVLink C2C: 900 GB/s</a:t>
            </a:r>
          </a:p>
          <a:p>
            <a:pPr lvl="1"/>
            <a:r>
              <a:rPr lang="en-US" altLang="zh-CN"/>
              <a:t>Grace-Blackwell NVLink C2C: 1.8 TB/s</a:t>
            </a:r>
          </a:p>
          <a:p>
            <a:pPr lvl="0"/>
            <a:r>
              <a:rPr lang="en-US" altLang="zh-CN"/>
              <a:t>kernel ≈ a device function interface for the host</a:t>
            </a:r>
          </a:p>
          <a:p>
            <a:pPr lvl="0"/>
            <a:r>
              <a:rPr lang="x-none" altLang="en-US">
                <a:solidFill>
                  <a:schemeClr val="bg1">
                    <a:lumMod val="75000"/>
                  </a:schemeClr>
                </a:solidFill>
              </a:rPr>
              <a:t>xxx</a:t>
            </a:r>
            <a:r>
              <a:rPr lang="en-US" altLang="zh-CN">
                <a:solidFill>
                  <a:schemeClr val="bg1">
                    <a:lumMod val="75000"/>
                  </a:schemeClr>
                </a:solidFill>
              </a:rPr>
              <a:t>Malloc(), </a:t>
            </a:r>
            <a:r>
              <a:rPr lang="x-none" altLang="en-US">
                <a:solidFill>
                  <a:schemeClr val="bg1">
                    <a:lumMod val="75000"/>
                  </a:schemeClr>
                </a:solidFill>
              </a:rPr>
              <a:t>xxx</a:t>
            </a:r>
            <a:r>
              <a:rPr lang="en-US" altLang="zh-CN">
                <a:solidFill>
                  <a:schemeClr val="bg1">
                    <a:lumMod val="75000"/>
                  </a:schemeClr>
                </a:solidFill>
              </a:rPr>
              <a:t>Memcpy()</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noChangeArrowheads="1"/>
          </p:cNvSpPr>
          <p:nvPr>
            <p:ph type="title"/>
          </p:nvPr>
        </p:nvSpPr>
        <p:spPr/>
        <p:txBody>
          <a:bodyPr/>
          <a:lstStyle/>
          <a:p>
            <a:r>
              <a:rPr lang="en-US" altLang="zh-CN">
                <a:sym typeface="+mn-ea"/>
              </a:rPr>
              <a:t>How do CPU and GPU interact?</a:t>
            </a:r>
            <a:r>
              <a:rPr lang="x-none">
                <a:sym typeface="+mn-ea"/>
              </a:rPr>
              <a:t> (host program)</a:t>
            </a:r>
          </a:p>
        </p:txBody>
      </p:sp>
      <p:sp>
        <p:nvSpPr>
          <p:cNvPr id="94" name="灯片编号占位符 93"/>
          <p:cNvSpPr>
            <a:spLocks noGrp="1"/>
          </p:cNvSpPr>
          <p:nvPr>
            <p:ph type="sldNum" sz="quarter" idx="12"/>
          </p:nvPr>
        </p:nvSpPr>
        <p:spPr/>
        <p:txBody>
          <a:bodyPr/>
          <a:lstStyle/>
          <a:p>
            <a:fld id="{B33F7469-D28B-482F-B1B6-3B8E7CF51519}" type="slidenum">
              <a:rPr lang="zh-CN" altLang="en-US" smtClean="0"/>
              <a:t>20</a:t>
            </a:fld>
            <a:endParaRPr lang="zh-CN" altLang="en-US" dirty="0"/>
          </a:p>
        </p:txBody>
      </p:sp>
      <p:sp>
        <p:nvSpPr>
          <p:cNvPr id="2" name="内容占位符 1"/>
          <p:cNvSpPr>
            <a:spLocks noGrp="1" noChangeArrowheads="1"/>
          </p:cNvSpPr>
          <p:nvPr>
            <p:ph sz="quarter" idx="13"/>
          </p:nvPr>
        </p:nvSpPr>
        <p:spPr/>
        <p:txBody>
          <a:bodyPr/>
          <a:lstStyle/>
          <a:p>
            <a:r>
              <a:rPr lang="en-US" altLang="zh-CN"/>
              <a:t>Host program</a:t>
            </a:r>
          </a:p>
          <a:p>
            <a:pPr lvl="1"/>
            <a:r>
              <a:rPr lang="en-US" altLang="zh-CN"/>
              <a:t>Running as part of normal C/C++ application on CPU</a:t>
            </a:r>
          </a:p>
          <a:p>
            <a:pPr lvl="1"/>
            <a:r>
              <a:rPr lang="en-US" altLang="zh-CN"/>
              <a:t>Launch a grid of </a:t>
            </a:r>
            <a:r>
              <a:rPr lang="x-none" altLang="en-US"/>
              <a:t>kernel</a:t>
            </a:r>
            <a:r>
              <a:rPr lang="en-US" altLang="zh-CN"/>
              <a:t> thread blocks</a:t>
            </a:r>
          </a:p>
          <a:p>
            <a:pPr lvl="1"/>
            <a:r>
              <a:rPr lang="en-US" altLang="zh-CN"/>
              <a:t>Call returns when all threads have terminated</a:t>
            </a:r>
          </a:p>
        </p:txBody>
      </p:sp>
      <p:pic>
        <p:nvPicPr>
          <p:cNvPr id="5" name="图片 4"/>
          <p:cNvPicPr>
            <a:picLocks noChangeAspect="1"/>
          </p:cNvPicPr>
          <p:nvPr/>
        </p:nvPicPr>
        <p:blipFill>
          <a:blip r:embed="rId2"/>
          <a:stretch>
            <a:fillRect/>
          </a:stretch>
        </p:blipFill>
        <p:spPr>
          <a:xfrm>
            <a:off x="3124200" y="3074035"/>
            <a:ext cx="5928995" cy="3103245"/>
          </a:xfrm>
          <a:prstGeom prst="rect">
            <a:avLst/>
          </a:prstGeom>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noChangeArrowheads="1"/>
          </p:cNvSpPr>
          <p:nvPr>
            <p:ph type="title"/>
          </p:nvPr>
        </p:nvSpPr>
        <p:spPr/>
        <p:txBody>
          <a:bodyPr/>
          <a:lstStyle/>
          <a:p>
            <a:r>
              <a:rPr lang="en-US" altLang="zh-CN">
                <a:sym typeface="+mn-ea"/>
              </a:rPr>
              <a:t>How do CPU and GPU interact?</a:t>
            </a:r>
            <a:r>
              <a:rPr lang="x-none">
                <a:sym typeface="+mn-ea"/>
              </a:rPr>
              <a:t> (kernel program)</a:t>
            </a:r>
          </a:p>
        </p:txBody>
      </p:sp>
      <p:sp>
        <p:nvSpPr>
          <p:cNvPr id="6" name="灯片编号占位符 5"/>
          <p:cNvSpPr>
            <a:spLocks noGrp="1"/>
          </p:cNvSpPr>
          <p:nvPr>
            <p:ph type="sldNum" sz="quarter" idx="12"/>
          </p:nvPr>
        </p:nvSpPr>
        <p:spPr/>
        <p:txBody>
          <a:bodyPr/>
          <a:lstStyle/>
          <a:p>
            <a:fld id="{B33F7469-D28B-482F-B1B6-3B8E7CF51519}" type="slidenum">
              <a:rPr lang="zh-CN" altLang="en-US" smtClean="0"/>
              <a:t>21</a:t>
            </a:fld>
            <a:endParaRPr lang="zh-CN" altLang="en-US" dirty="0"/>
          </a:p>
        </p:txBody>
      </p:sp>
      <p:sp>
        <p:nvSpPr>
          <p:cNvPr id="2" name="内容占位符 1"/>
          <p:cNvSpPr>
            <a:spLocks noGrp="1" noChangeArrowheads="1"/>
          </p:cNvSpPr>
          <p:nvPr>
            <p:ph sz="quarter" idx="13"/>
          </p:nvPr>
        </p:nvSpPr>
        <p:spPr/>
        <p:txBody>
          <a:bodyPr/>
          <a:lstStyle/>
          <a:p>
            <a:r>
              <a:rPr lang="en-US" altLang="zh-CN"/>
              <a:t>Kernel definition</a:t>
            </a:r>
          </a:p>
          <a:p>
            <a:pPr lvl="1"/>
            <a:r>
              <a:rPr lang="en-US" altLang="zh-CN"/>
              <a:t>__global__ denotes a kernel function</a:t>
            </a:r>
          </a:p>
          <a:p>
            <a:pPr lvl="1"/>
            <a:r>
              <a:rPr lang="en-US" altLang="zh-CN"/>
              <a:t>Thread computes its thread id from its position in its block (threadIdx) and its block’s position in the grid (blockIdx)</a:t>
            </a:r>
          </a:p>
        </p:txBody>
      </p:sp>
      <p:pic>
        <p:nvPicPr>
          <p:cNvPr id="4" name="图片 3"/>
          <p:cNvPicPr>
            <a:picLocks noChangeAspect="1"/>
          </p:cNvPicPr>
          <p:nvPr/>
        </p:nvPicPr>
        <p:blipFill>
          <a:blip r:embed="rId2"/>
          <a:stretch>
            <a:fillRect/>
          </a:stretch>
        </p:blipFill>
        <p:spPr>
          <a:xfrm>
            <a:off x="3575050" y="2822575"/>
            <a:ext cx="4320000" cy="1856747"/>
          </a:xfrm>
          <a:prstGeom prst="rect">
            <a:avLst/>
          </a:prstGeom>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noChangeArrowheads="1"/>
          </p:cNvSpPr>
          <p:nvPr>
            <p:ph type="title"/>
          </p:nvPr>
        </p:nvSpPr>
        <p:spPr/>
        <p:txBody>
          <a:bodyPr/>
          <a:lstStyle/>
          <a:p>
            <a:r>
              <a:rPr lang="en-US" altLang="zh-CN">
                <a:sym typeface="+mn-ea"/>
              </a:rPr>
              <a:t>How to Express Parallelism?</a:t>
            </a:r>
            <a:endParaRPr lang="en-US" altLang="zh-CN"/>
          </a:p>
        </p:txBody>
      </p:sp>
      <p:sp>
        <p:nvSpPr>
          <p:cNvPr id="6" name="灯片编号占位符 5"/>
          <p:cNvSpPr>
            <a:spLocks noGrp="1"/>
          </p:cNvSpPr>
          <p:nvPr>
            <p:ph type="sldNum" sz="quarter" idx="12"/>
          </p:nvPr>
        </p:nvSpPr>
        <p:spPr/>
        <p:txBody>
          <a:bodyPr/>
          <a:lstStyle/>
          <a:p>
            <a:fld id="{B33F7469-D28B-482F-B1B6-3B8E7CF51519}" type="slidenum">
              <a:rPr lang="zh-CN" altLang="en-US" smtClean="0"/>
              <a:t>22</a:t>
            </a:fld>
            <a:endParaRPr lang="zh-CN" altLang="en-US" dirty="0"/>
          </a:p>
        </p:txBody>
      </p:sp>
      <p:sp>
        <p:nvSpPr>
          <p:cNvPr id="2" name="内容占位符 1"/>
          <p:cNvSpPr>
            <a:spLocks noGrp="1" noChangeArrowheads="1"/>
          </p:cNvSpPr>
          <p:nvPr>
            <p:ph sz="quarter" idx="13"/>
          </p:nvPr>
        </p:nvSpPr>
        <p:spPr/>
        <p:txBody>
          <a:bodyPr/>
          <a:lstStyle/>
          <a:p>
            <a:r>
              <a:rPr lang="en-US" altLang="zh-CN"/>
              <a:t>Thread Hierachy</a:t>
            </a:r>
          </a:p>
          <a:p>
            <a:pPr lvl="1"/>
            <a:r>
              <a:rPr lang="en-US" altLang="zh-CN"/>
              <a:t>Thread</a:t>
            </a:r>
          </a:p>
          <a:p>
            <a:pPr lvl="2"/>
            <a:r>
              <a:rPr lang="en-US" altLang="zh-CN"/>
              <a:t>The smallest unit of execution</a:t>
            </a:r>
          </a:p>
          <a:p>
            <a:pPr marL="685800" lvl="2" indent="0">
              <a:buNone/>
            </a:pPr>
            <a:r>
              <a:rPr lang="en-US" altLang="zh-CN"/>
              <a:t>(not the smallest unit of scheduling)</a:t>
            </a:r>
          </a:p>
          <a:p>
            <a:pPr lvl="1"/>
            <a:r>
              <a:rPr lang="en-US" altLang="zh-CN"/>
              <a:t>Thread Block (Block)</a:t>
            </a:r>
          </a:p>
          <a:p>
            <a:pPr lvl="2"/>
            <a:r>
              <a:rPr lang="en-US" altLang="zh-CN"/>
              <a:t>A group of threads</a:t>
            </a:r>
          </a:p>
          <a:p>
            <a:pPr lvl="2"/>
            <a:r>
              <a:rPr lang="en-US" altLang="zh-CN"/>
              <a:t>Cooperate through shared memory and synchronization</a:t>
            </a:r>
          </a:p>
          <a:p>
            <a:pPr lvl="2"/>
            <a:r>
              <a:rPr lang="en-US" altLang="zh-CN"/>
              <a:t>Organized in up to 3-dims</a:t>
            </a:r>
          </a:p>
          <a:p>
            <a:pPr lvl="1"/>
            <a:r>
              <a:rPr lang="en-US" altLang="zh-CN"/>
              <a:t>Grid</a:t>
            </a:r>
          </a:p>
          <a:p>
            <a:pPr lvl="2"/>
            <a:r>
              <a:rPr lang="en-US" altLang="zh-CN"/>
              <a:t>A collection of thread blocks</a:t>
            </a:r>
          </a:p>
          <a:p>
            <a:pPr lvl="2"/>
            <a:r>
              <a:rPr lang="en-US" altLang="zh-CN"/>
              <a:t>Organized in up to 3-dims</a:t>
            </a:r>
          </a:p>
          <a:p>
            <a:pPr lvl="2"/>
            <a:r>
              <a:rPr lang="en-US" altLang="zh-CN"/>
              <a:t>Lauched by CPUs, executed on GPUs</a:t>
            </a:r>
          </a:p>
        </p:txBody>
      </p:sp>
      <p:sp>
        <p:nvSpPr>
          <p:cNvPr id="7" name="内容占位符 6"/>
          <p:cNvSpPr>
            <a:spLocks noGrp="1"/>
          </p:cNvSpPr>
          <p:nvPr>
            <p:ph sz="quarter" idx="14"/>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7205980" y="1323975"/>
            <a:ext cx="3600000" cy="4453476"/>
          </a:xfrm>
          <a:prstGeom prst="rect">
            <a:avLst/>
          </a:prstGeom>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The Grid: Blocks of Threads in 1D</a:t>
            </a:r>
          </a:p>
        </p:txBody>
      </p:sp>
      <p:sp>
        <p:nvSpPr>
          <p:cNvPr id="4" name="页脚占位符 3"/>
          <p:cNvSpPr>
            <a:spLocks noGrp="1"/>
          </p:cNvSpPr>
          <p:nvPr>
            <p:ph type="ftr" sz="quarter" idx="11"/>
          </p:nvPr>
        </p:nvSpPr>
        <p:spPr/>
        <p:txBody>
          <a:bodyPr/>
          <a:lstStyle/>
          <a:p>
            <a:r>
              <a:rPr lang="zh-CN" altLang="en-US" dirty="0">
                <a:sym typeface="+mn-ea"/>
              </a:rPr>
              <a:t>adapted from UW CSEP 590, Dr. Hari Sadasivan</a:t>
            </a:r>
            <a:endParaRPr lang="zh-CN" altLang="en-US"/>
          </a:p>
        </p:txBody>
      </p:sp>
      <p:sp>
        <p:nvSpPr>
          <p:cNvPr id="7" name="灯片编号占位符 6"/>
          <p:cNvSpPr>
            <a:spLocks noGrp="1"/>
          </p:cNvSpPr>
          <p:nvPr>
            <p:ph type="sldNum" sz="quarter" idx="12"/>
          </p:nvPr>
        </p:nvSpPr>
        <p:spPr/>
        <p:txBody>
          <a:bodyPr/>
          <a:lstStyle/>
          <a:p>
            <a:fld id="{B33F7469-D28B-482F-B1B6-3B8E7CF51519}" type="slidenum">
              <a:rPr lang="zh-CN" altLang="en-US" smtClean="0"/>
              <a:t>23</a:t>
            </a:fld>
            <a:endParaRPr lang="zh-CN" altLang="en-US" dirty="0"/>
          </a:p>
        </p:txBody>
      </p:sp>
      <p:sp>
        <p:nvSpPr>
          <p:cNvPr id="3" name="内容占位符 2"/>
          <p:cNvSpPr>
            <a:spLocks noGrp="1"/>
          </p:cNvSpPr>
          <p:nvPr>
            <p:ph sz="quarter" idx="13"/>
          </p:nvPr>
        </p:nvSpPr>
        <p:spPr/>
        <p:txBody>
          <a:bodyPr>
            <a:normAutofit/>
          </a:bodyPr>
          <a:lstStyle/>
          <a:p>
            <a:endParaRPr lang="zh-CN" altLang="en-US"/>
          </a:p>
          <a:p>
            <a:endParaRPr lang="zh-CN" altLang="en-US"/>
          </a:p>
          <a:p>
            <a:endParaRPr lang="zh-CN" altLang="en-US"/>
          </a:p>
          <a:p>
            <a:endParaRPr lang="zh-CN" altLang="en-US"/>
          </a:p>
          <a:p>
            <a:r>
              <a:t>Threads in grid have access to:</a:t>
            </a:r>
            <a:endParaRPr lang="en-US" altLang="en-US"/>
          </a:p>
          <a:p>
            <a:pPr lvl="1"/>
            <a:r>
              <a:t>Their</a:t>
            </a:r>
            <a:r>
              <a:rPr lang="en-US"/>
              <a:t> </a:t>
            </a:r>
            <a:r>
              <a:t>respective block:</a:t>
            </a:r>
            <a:r>
              <a:rPr lang="en-US"/>
              <a:t>  </a:t>
            </a:r>
            <a:r>
              <a:rPr sz="1800">
                <a:latin typeface="Courier New" panose="02070309020205020404" charset="0"/>
                <a:cs typeface="Courier New" panose="02070309020205020404" charset="0"/>
              </a:rPr>
              <a:t>block</a:t>
            </a:r>
            <a:r>
              <a:rPr lang="en-US" sz="1800">
                <a:latin typeface="Courier New" panose="02070309020205020404" charset="0"/>
                <a:cs typeface="Courier New" panose="02070309020205020404" charset="0"/>
              </a:rPr>
              <a:t>I</a:t>
            </a:r>
            <a:r>
              <a:rPr sz="1800">
                <a:latin typeface="Courier New" panose="02070309020205020404" charset="0"/>
                <a:cs typeface="Courier New" panose="02070309020205020404" charset="0"/>
              </a:rPr>
              <a:t>dx.x</a:t>
            </a:r>
            <a:r>
              <a:t> </a:t>
            </a:r>
            <a:r>
              <a:rPr lang="en-US"/>
              <a:t> </a:t>
            </a:r>
            <a:r>
              <a:t>(</a:t>
            </a:r>
            <a:r>
              <a:rPr lang="en-US"/>
              <a:t>for the “Thread” above: == 4)</a:t>
            </a:r>
          </a:p>
          <a:p>
            <a:pPr lvl="1"/>
            <a:r>
              <a:t>Their</a:t>
            </a:r>
            <a:r>
              <a:rPr lang="en-US"/>
              <a:t> </a:t>
            </a:r>
            <a:r>
              <a:t>respective thread ID</a:t>
            </a:r>
            <a:r>
              <a:rPr lang="en-US"/>
              <a:t> </a:t>
            </a:r>
            <a:r>
              <a:t>in a block:</a:t>
            </a:r>
            <a:r>
              <a:rPr lang="en-US"/>
              <a:t>  </a:t>
            </a:r>
            <a:r>
              <a:rPr sz="1800">
                <a:latin typeface="Courier New" panose="02070309020205020404" charset="0"/>
                <a:cs typeface="Courier New" panose="02070309020205020404" charset="0"/>
              </a:rPr>
              <a:t>thread</a:t>
            </a:r>
            <a:r>
              <a:rPr lang="en-US" sz="1800">
                <a:latin typeface="Courier New" panose="02070309020205020404" charset="0"/>
                <a:cs typeface="Courier New" panose="02070309020205020404" charset="0"/>
              </a:rPr>
              <a:t>I</a:t>
            </a:r>
            <a:r>
              <a:rPr sz="1800">
                <a:latin typeface="Courier New" panose="02070309020205020404" charset="0"/>
                <a:cs typeface="Courier New" panose="02070309020205020404" charset="0"/>
              </a:rPr>
              <a:t>dx.</a:t>
            </a:r>
            <a:r>
              <a:rPr lang="en-US" sz="1800">
                <a:latin typeface="Courier New" panose="02070309020205020404" charset="0"/>
                <a:cs typeface="Courier New" panose="02070309020205020404" charset="0"/>
              </a:rPr>
              <a:t>x</a:t>
            </a:r>
            <a:r>
              <a:rPr>
                <a:sym typeface="+mn-ea"/>
              </a:rPr>
              <a:t> </a:t>
            </a:r>
            <a:r>
              <a:rPr lang="en-US">
                <a:sym typeface="+mn-ea"/>
              </a:rPr>
              <a:t> </a:t>
            </a:r>
            <a:r>
              <a:rPr>
                <a:sym typeface="+mn-ea"/>
              </a:rPr>
              <a:t>(</a:t>
            </a:r>
            <a:r>
              <a:rPr lang="en-US">
                <a:sym typeface="+mn-ea"/>
              </a:rPr>
              <a:t>for the “Thread” above: == 0)</a:t>
            </a:r>
            <a:endParaRPr sz="1800">
              <a:latin typeface="Courier New" panose="02070309020205020404" charset="0"/>
              <a:cs typeface="Courier New" panose="02070309020205020404" charset="0"/>
            </a:endParaRPr>
          </a:p>
          <a:p>
            <a:pPr lvl="1"/>
            <a:r>
              <a:t>Their block's dimension:</a:t>
            </a:r>
            <a:r>
              <a:rPr lang="en-US"/>
              <a:t>  </a:t>
            </a:r>
            <a:r>
              <a:rPr sz="1800">
                <a:latin typeface="Courier New" panose="02070309020205020404" charset="0"/>
                <a:cs typeface="Courier New" panose="02070309020205020404" charset="0"/>
              </a:rPr>
              <a:t>blockDim.x</a:t>
            </a:r>
            <a:r>
              <a:rPr>
                <a:sym typeface="+mn-ea"/>
              </a:rPr>
              <a:t> </a:t>
            </a:r>
            <a:r>
              <a:rPr lang="en-US">
                <a:sym typeface="+mn-ea"/>
              </a:rPr>
              <a:t> </a:t>
            </a:r>
            <a:r>
              <a:rPr>
                <a:sym typeface="+mn-ea"/>
              </a:rPr>
              <a:t>(</a:t>
            </a:r>
            <a:r>
              <a:rPr lang="en-US">
                <a:sym typeface="+mn-ea"/>
              </a:rPr>
              <a:t>for the example above: == 4)</a:t>
            </a:r>
            <a:endParaRPr>
              <a:latin typeface="Courier New" panose="02070309020205020404" charset="0"/>
              <a:cs typeface="Courier New" panose="02070309020205020404" charset="0"/>
            </a:endParaRPr>
          </a:p>
          <a:p>
            <a:pPr lvl="1" algn="l"/>
            <a:r>
              <a:t>The</a:t>
            </a:r>
            <a:r>
              <a:rPr lang="en-US"/>
              <a:t> </a:t>
            </a:r>
            <a:r>
              <a:t>number</a:t>
            </a:r>
            <a:r>
              <a:rPr lang="en-US"/>
              <a:t> </a:t>
            </a:r>
            <a:r>
              <a:t>of blocks in</a:t>
            </a:r>
            <a:r>
              <a:rPr lang="en-US"/>
              <a:t> </a:t>
            </a:r>
            <a:r>
              <a:t>the grid:</a:t>
            </a:r>
            <a:r>
              <a:rPr lang="en-US"/>
              <a:t>  </a:t>
            </a:r>
            <a:r>
              <a:rPr sz="1800">
                <a:latin typeface="Courier New" panose="02070309020205020404" charset="0"/>
                <a:cs typeface="Courier New" panose="02070309020205020404" charset="0"/>
              </a:rPr>
              <a:t>gridDim.x</a:t>
            </a:r>
            <a:r>
              <a:rPr>
                <a:sym typeface="+mn-ea"/>
              </a:rPr>
              <a:t> </a:t>
            </a:r>
            <a:r>
              <a:rPr lang="en-US">
                <a:sym typeface="+mn-ea"/>
              </a:rPr>
              <a:t> </a:t>
            </a:r>
            <a:r>
              <a:rPr>
                <a:sym typeface="+mn-ea"/>
              </a:rPr>
              <a:t>(</a:t>
            </a:r>
            <a:r>
              <a:rPr lang="en-US">
                <a:sym typeface="+mn-ea"/>
              </a:rPr>
              <a:t>for the example above: == 8)</a:t>
            </a:r>
            <a:endParaRPr>
              <a:latin typeface="Courier New" panose="02070309020205020404" charset="0"/>
              <a:cs typeface="Courier New" panose="02070309020205020404" charset="0"/>
            </a:endParaRPr>
          </a:p>
          <a:p>
            <a:endParaRPr lang="en-US" altLang="en-US">
              <a:latin typeface="Courier New" panose="02070309020205020404" charset="0"/>
              <a:cs typeface="Courier New" panose="02070309020205020404" charset="0"/>
            </a:endParaRPr>
          </a:p>
        </p:txBody>
      </p:sp>
      <p:pic>
        <p:nvPicPr>
          <p:cNvPr id="6" name="图片 5"/>
          <p:cNvPicPr>
            <a:picLocks noChangeAspect="1"/>
          </p:cNvPicPr>
          <p:nvPr/>
        </p:nvPicPr>
        <p:blipFill>
          <a:blip r:embed="rId2"/>
          <a:stretch>
            <a:fillRect/>
          </a:stretch>
        </p:blipFill>
        <p:spPr>
          <a:xfrm>
            <a:off x="2496185" y="1324052"/>
            <a:ext cx="7200000" cy="1769143"/>
          </a:xfrm>
          <a:prstGeom prst="rect">
            <a:avLst/>
          </a:prstGeom>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t>The Grid:</a:t>
            </a:r>
            <a:r>
              <a:rPr lang="en-US"/>
              <a:t> </a:t>
            </a:r>
            <a:r>
              <a:rPr lang="en-US" altLang="zh-CN"/>
              <a:t>B</a:t>
            </a:r>
            <a:r>
              <a:t>locks of </a:t>
            </a:r>
            <a:r>
              <a:rPr lang="en-US" altLang="zh-CN"/>
              <a:t>T</a:t>
            </a:r>
            <a:r>
              <a:t>hreads in 2D</a:t>
            </a:r>
            <a:endParaRPr lang="zh-CN" altLang="en-US"/>
          </a:p>
        </p:txBody>
      </p:sp>
      <p:sp>
        <p:nvSpPr>
          <p:cNvPr id="7" name="灯片编号占位符 6"/>
          <p:cNvSpPr>
            <a:spLocks noGrp="1"/>
          </p:cNvSpPr>
          <p:nvPr>
            <p:ph type="sldNum" sz="quarter" idx="12"/>
          </p:nvPr>
        </p:nvSpPr>
        <p:spPr/>
        <p:txBody>
          <a:bodyPr/>
          <a:lstStyle/>
          <a:p>
            <a:fld id="{B33F7469-D28B-482F-B1B6-3B8E7CF51519}" type="slidenum">
              <a:rPr lang="zh-CN" altLang="en-US" smtClean="0"/>
              <a:t>24</a:t>
            </a:fld>
            <a:endParaRPr lang="zh-CN" altLang="en-US" dirty="0"/>
          </a:p>
        </p:txBody>
      </p:sp>
      <p:sp>
        <p:nvSpPr>
          <p:cNvPr id="3" name="内容占位符 2"/>
          <p:cNvSpPr>
            <a:spLocks noGrp="1"/>
          </p:cNvSpPr>
          <p:nvPr>
            <p:ph sz="quarter" idx="13"/>
          </p:nvPr>
        </p:nvSpPr>
        <p:spPr/>
        <p:txBody>
          <a:bodyPr/>
          <a:lstStyle/>
          <a:p>
            <a:r>
              <a:t>Each color is a block of threads</a:t>
            </a:r>
            <a:endParaRPr lang="en-US" altLang="en-US"/>
          </a:p>
          <a:p>
            <a:r>
              <a:t>Each small square is a thread</a:t>
            </a:r>
            <a:endParaRPr lang="en-US" altLang="en-US"/>
          </a:p>
          <a:p>
            <a:r>
              <a:t>The concept is the same in 1D and 2D</a:t>
            </a:r>
          </a:p>
          <a:p>
            <a:r>
              <a:t>In 2D each block and thread now has</a:t>
            </a:r>
            <a:endParaRPr lang="en-US" altLang="en-US"/>
          </a:p>
          <a:p>
            <a:r>
              <a:t>a two-dimensional index</a:t>
            </a:r>
            <a:endParaRPr lang="en-US" altLang="en-US"/>
          </a:p>
          <a:p>
            <a:r>
              <a:t>Threads in grid have access to:</a:t>
            </a:r>
            <a:endParaRPr lang="en-US" altLang="en-US"/>
          </a:p>
          <a:p>
            <a:pPr lvl="1"/>
            <a:r>
              <a:t>Their respective block IDs:</a:t>
            </a:r>
            <a:r>
              <a:rPr lang="en-US"/>
              <a:t>  </a:t>
            </a:r>
            <a:r>
              <a:rPr sz="1800">
                <a:latin typeface="Courier New" panose="02070309020205020404" charset="0"/>
                <a:cs typeface="Courier New" panose="02070309020205020404" charset="0"/>
              </a:rPr>
              <a:t>blockIdx.x,</a:t>
            </a:r>
            <a:r>
              <a:rPr lang="en-US" sz="1800">
                <a:latin typeface="Courier New" panose="02070309020205020404" charset="0"/>
                <a:cs typeface="Courier New" panose="02070309020205020404" charset="0"/>
              </a:rPr>
              <a:t> </a:t>
            </a:r>
            <a:r>
              <a:rPr sz="1800">
                <a:latin typeface="Courier New" panose="02070309020205020404" charset="0"/>
                <a:cs typeface="Courier New" panose="02070309020205020404" charset="0"/>
              </a:rPr>
              <a:t>blockIdx.y</a:t>
            </a:r>
            <a:endParaRPr lang="en-US" altLang="en-US" sz="1800"/>
          </a:p>
          <a:p>
            <a:pPr lvl="1"/>
            <a:r>
              <a:t>Their respective thread IDs in a</a:t>
            </a:r>
            <a:r>
              <a:rPr lang="en-US"/>
              <a:t> </a:t>
            </a:r>
            <a:r>
              <a:t>block:</a:t>
            </a:r>
            <a:r>
              <a:rPr lang="en-US"/>
              <a:t> </a:t>
            </a:r>
            <a:r>
              <a:rPr sz="1800">
                <a:latin typeface="Courier New" panose="02070309020205020404" charset="0"/>
                <a:cs typeface="Courier New" panose="02070309020205020404" charset="0"/>
              </a:rPr>
              <a:t>threadIdx.x,</a:t>
            </a:r>
            <a:r>
              <a:rPr lang="en-US" sz="1800">
                <a:latin typeface="Courier New" panose="02070309020205020404" charset="0"/>
                <a:cs typeface="Courier New" panose="02070309020205020404" charset="0"/>
              </a:rPr>
              <a:t> </a:t>
            </a:r>
            <a:r>
              <a:rPr sz="1800">
                <a:latin typeface="Courier New" panose="02070309020205020404" charset="0"/>
                <a:cs typeface="Courier New" panose="02070309020205020404" charset="0"/>
              </a:rPr>
              <a:t>threadIdx.y</a:t>
            </a:r>
            <a:endParaRPr lang="en-US" altLang="en-US"/>
          </a:p>
          <a:p>
            <a:endParaRPr lang="en-US" altLang="en-US"/>
          </a:p>
        </p:txBody>
      </p:sp>
      <p:sp>
        <p:nvSpPr>
          <p:cNvPr id="4" name="页脚占位符 3"/>
          <p:cNvSpPr>
            <a:spLocks noGrp="1"/>
          </p:cNvSpPr>
          <p:nvPr>
            <p:ph type="ftr" sz="quarter" idx="11"/>
          </p:nvPr>
        </p:nvSpPr>
        <p:spPr/>
        <p:txBody>
          <a:bodyPr/>
          <a:lstStyle/>
          <a:p>
            <a:r>
              <a:rPr lang="zh-CN" altLang="en-US" dirty="0">
                <a:sym typeface="+mn-ea"/>
              </a:rPr>
              <a:t>adapted from UW CSEP 590, Dr. Hari Sadasivan</a:t>
            </a:r>
            <a:endParaRPr lang="zh-CN" altLang="en-US"/>
          </a:p>
        </p:txBody>
      </p:sp>
      <p:sp>
        <p:nvSpPr>
          <p:cNvPr id="5" name="内容占位符 4"/>
          <p:cNvSpPr>
            <a:spLocks noGrp="1"/>
          </p:cNvSpPr>
          <p:nvPr>
            <p:ph sz="quarter" idx="14"/>
          </p:nvPr>
        </p:nvSpPr>
        <p:spPr/>
        <p:txBody>
          <a:bodyPr/>
          <a:lstStyle/>
          <a:p>
            <a:endParaRPr lang="zh-CN" altLang="en-US"/>
          </a:p>
        </p:txBody>
      </p:sp>
      <p:pic>
        <p:nvPicPr>
          <p:cNvPr id="1006" name="picture 1006"/>
          <p:cNvPicPr>
            <a:picLocks noChangeAspect="1"/>
          </p:cNvPicPr>
          <p:nvPr/>
        </p:nvPicPr>
        <p:blipFill>
          <a:blip r:embed="rId2"/>
          <a:stretch>
            <a:fillRect/>
          </a:stretch>
        </p:blipFill>
        <p:spPr>
          <a:xfrm rot="21600000">
            <a:off x="6210330" y="1323956"/>
            <a:ext cx="4320000" cy="4245204"/>
          </a:xfrm>
          <a:prstGeom prst="rect">
            <a:avLst/>
          </a:prstGeom>
        </p:spPr>
      </p:pic>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How to Express Synchronizations?</a:t>
            </a:r>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25</a:t>
            </a:fld>
            <a:endParaRPr lang="zh-CN" altLang="en-US" dirty="0"/>
          </a:p>
        </p:txBody>
      </p:sp>
      <p:sp>
        <p:nvSpPr>
          <p:cNvPr id="3" name="内容占位符 2"/>
          <p:cNvSpPr>
            <a:spLocks noGrp="1"/>
          </p:cNvSpPr>
          <p:nvPr>
            <p:ph sz="quarter" idx="13"/>
          </p:nvPr>
        </p:nvSpPr>
        <p:spPr/>
        <p:txBody>
          <a:bodyPr/>
          <a:lstStyle/>
          <a:p>
            <a:r>
              <a:rPr lang="en-US" altLang="zh-CN"/>
              <a:t>__syncthreads()</a:t>
            </a:r>
          </a:p>
          <a:p>
            <a:r>
              <a:rPr lang="x-none" altLang="en-US"/>
              <a:t>xxx</a:t>
            </a:r>
            <a:r>
              <a:rPr lang="en-US" altLang="zh-CN"/>
              <a:t>DeviceSynchronize()</a:t>
            </a:r>
          </a:p>
          <a:p>
            <a:r>
              <a:rPr lang="en-US" altLang="zh-CN"/>
              <a:t>events</a:t>
            </a:r>
          </a:p>
          <a:p>
            <a:pPr marL="0" indent="0">
              <a:buNone/>
            </a:pPr>
            <a:endParaRPr lang="en-US" altLang="zh-CN"/>
          </a:p>
          <a:p>
            <a:pPr marL="0" indent="0">
              <a:buNone/>
            </a:pPr>
            <a:r>
              <a:rPr lang="en-US" altLang="zh-CN"/>
              <a:t>(to be discussed in later lectures)</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noChangeArrowheads="1"/>
          </p:cNvSpPr>
          <p:nvPr>
            <p:ph type="title"/>
          </p:nvPr>
        </p:nvSpPr>
        <p:spPr/>
        <p:txBody>
          <a:bodyPr/>
          <a:lstStyle/>
          <a:p>
            <a:r>
              <a:rPr lang="en-US" altLang="zh-CN">
                <a:sym typeface="+mn-ea"/>
              </a:rPr>
              <a:t>How to Manage and Access Data?</a:t>
            </a:r>
            <a:endParaRPr lang="zh-CN" altLang="en-US"/>
          </a:p>
        </p:txBody>
      </p:sp>
      <p:sp>
        <p:nvSpPr>
          <p:cNvPr id="4" name="灯片编号占位符 3"/>
          <p:cNvSpPr>
            <a:spLocks noGrp="1"/>
          </p:cNvSpPr>
          <p:nvPr>
            <p:ph type="sldNum" sz="quarter" idx="12"/>
          </p:nvPr>
        </p:nvSpPr>
        <p:spPr/>
        <p:txBody>
          <a:bodyPr/>
          <a:lstStyle/>
          <a:p>
            <a:fld id="{B33F7469-D28B-482F-B1B6-3B8E7CF51519}" type="slidenum">
              <a:rPr lang="zh-CN" altLang="en-US" smtClean="0"/>
              <a:t>26</a:t>
            </a:fld>
            <a:endParaRPr lang="zh-CN" altLang="en-US" dirty="0"/>
          </a:p>
        </p:txBody>
      </p:sp>
      <p:sp>
        <p:nvSpPr>
          <p:cNvPr id="2" name="内容占位符 1"/>
          <p:cNvSpPr>
            <a:spLocks noGrp="1" noChangeArrowheads="1"/>
          </p:cNvSpPr>
          <p:nvPr>
            <p:ph sz="quarter" idx="13"/>
          </p:nvPr>
        </p:nvSpPr>
        <p:spPr/>
        <p:txBody>
          <a:bodyPr/>
          <a:lstStyle/>
          <a:p>
            <a:r>
              <a:rPr lang="en-US" altLang="zh-CN"/>
              <a:t>CUDA memory model</a:t>
            </a:r>
          </a:p>
          <a:p>
            <a:pPr lvl="1"/>
            <a:r>
              <a:rPr lang="en-US" altLang="zh-CN"/>
              <a:t>Distinct host and device address spaces </a:t>
            </a:r>
            <a:r>
              <a:rPr lang="en-US" altLang="zh-CN">
                <a:solidFill>
                  <a:schemeClr val="accent2">
                    <a:lumMod val="60000"/>
                    <a:lumOff val="40000"/>
                  </a:schemeClr>
                </a:solidFill>
              </a:rPr>
              <a:t>(when not using unified memory)</a:t>
            </a:r>
            <a:endParaRPr lang="en-US" altLang="zh-CN"/>
          </a:p>
          <a:p>
            <a:pPr lvl="1"/>
            <a:r>
              <a:rPr lang="en-US" altLang="zh-CN"/>
              <a:t>Memory allocation in GPU through </a:t>
            </a:r>
            <a:r>
              <a:rPr lang="en-US" altLang="zh-CN" sz="1800">
                <a:latin typeface="Courier New" panose="02070309020205020404" charset="0"/>
                <a:cs typeface="Courier New" panose="02070309020205020404" charset="0"/>
              </a:rPr>
              <a:t>cudaMalloc()</a:t>
            </a:r>
            <a:endParaRPr lang="en-US" altLang="zh-CN" sz="1800"/>
          </a:p>
          <a:p>
            <a:pPr lvl="1"/>
            <a:r>
              <a:rPr lang="en-US" altLang="zh-CN"/>
              <a:t>Move data between address spaces through </a:t>
            </a:r>
            <a:r>
              <a:rPr lang="en-US" altLang="zh-CN" sz="1800">
                <a:latin typeface="Courier New" panose="02070309020205020404" charset="0"/>
                <a:cs typeface="Courier New" panose="02070309020205020404" charset="0"/>
              </a:rPr>
              <a:t>cudaMemcpy()</a:t>
            </a:r>
          </a:p>
        </p:txBody>
      </p:sp>
      <p:pic>
        <p:nvPicPr>
          <p:cNvPr id="5" name="图片 4"/>
          <p:cNvPicPr>
            <a:picLocks noChangeAspect="1"/>
          </p:cNvPicPr>
          <p:nvPr/>
        </p:nvPicPr>
        <p:blipFill>
          <a:blip r:embed="rId2"/>
          <a:stretch>
            <a:fillRect/>
          </a:stretch>
        </p:blipFill>
        <p:spPr>
          <a:xfrm>
            <a:off x="1129665" y="3429000"/>
            <a:ext cx="4680000" cy="2449664"/>
          </a:xfrm>
          <a:prstGeom prst="rect">
            <a:avLst/>
          </a:prstGeom>
        </p:spPr>
      </p:pic>
      <p:pic>
        <p:nvPicPr>
          <p:cNvPr id="6" name="图片 5"/>
          <p:cNvPicPr>
            <a:picLocks noChangeAspect="1"/>
          </p:cNvPicPr>
          <p:nvPr/>
        </p:nvPicPr>
        <p:blipFill>
          <a:blip r:embed="rId3"/>
          <a:stretch>
            <a:fillRect/>
          </a:stretch>
        </p:blipFill>
        <p:spPr>
          <a:xfrm>
            <a:off x="6049010" y="3657600"/>
            <a:ext cx="4680000" cy="1901367"/>
          </a:xfrm>
          <a:prstGeom prst="rect">
            <a:avLst/>
          </a:prstGeom>
        </p:spPr>
      </p:pic>
      <p:sp>
        <p:nvSpPr>
          <p:cNvPr id="7" name="矩形 6"/>
          <p:cNvSpPr/>
          <p:nvPr/>
        </p:nvSpPr>
        <p:spPr>
          <a:xfrm>
            <a:off x="1407160" y="4256405"/>
            <a:ext cx="4133850" cy="826135"/>
          </a:xfrm>
          <a:prstGeom prst="rect">
            <a:avLst/>
          </a:prstGeom>
          <a:noFill/>
          <a:ln w="19050" cap="flat" cmpd="sng" algn="ctr">
            <a:solidFill>
              <a:schemeClr val="accent6">
                <a:lumMod val="75000"/>
              </a:schemeClr>
            </a:solidFill>
            <a:prstDash val="solid"/>
            <a:round/>
            <a:headEnd type="none" w="med" len="med"/>
            <a:tailEnd type="none" w="med" len="med"/>
          </a:ln>
        </p:spPr>
        <p:txBody>
          <a:bodyPr rtlCol="0" anchor="ctr"/>
          <a:lstStyle/>
          <a:p>
            <a:pPr algn="ctr"/>
            <a:endParaRPr lang="zh-CN" altLang="en-US"/>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noChangeArrowheads="1"/>
          </p:cNvSpPr>
          <p:nvPr>
            <p:ph type="title"/>
          </p:nvPr>
        </p:nvSpPr>
        <p:spPr/>
        <p:txBody>
          <a:bodyPr/>
          <a:lstStyle/>
          <a:p>
            <a:r>
              <a:rPr lang="en-US" altLang="zh-CN">
                <a:sym typeface="+mn-ea"/>
              </a:rPr>
              <a:t>How to Manage and Access Data?</a:t>
            </a:r>
            <a:endParaRPr lang="zh-CN" altLang="en-US"/>
          </a:p>
        </p:txBody>
      </p:sp>
      <p:sp>
        <p:nvSpPr>
          <p:cNvPr id="5" name="灯片编号占位符 4"/>
          <p:cNvSpPr>
            <a:spLocks noGrp="1"/>
          </p:cNvSpPr>
          <p:nvPr>
            <p:ph type="sldNum" sz="quarter" idx="12"/>
          </p:nvPr>
        </p:nvSpPr>
        <p:spPr/>
        <p:txBody>
          <a:bodyPr/>
          <a:lstStyle/>
          <a:p>
            <a:fld id="{B33F7469-D28B-482F-B1B6-3B8E7CF51519}" type="slidenum">
              <a:rPr lang="zh-CN" altLang="en-US" smtClean="0"/>
              <a:t>27</a:t>
            </a:fld>
            <a:endParaRPr lang="zh-CN" altLang="en-US" dirty="0"/>
          </a:p>
        </p:txBody>
      </p:sp>
      <p:sp>
        <p:nvSpPr>
          <p:cNvPr id="2" name="内容占位符 1"/>
          <p:cNvSpPr>
            <a:spLocks noGrp="1" noChangeArrowheads="1"/>
          </p:cNvSpPr>
          <p:nvPr>
            <p:ph sz="quarter" idx="13"/>
          </p:nvPr>
        </p:nvSpPr>
        <p:spPr/>
        <p:txBody>
          <a:bodyPr/>
          <a:lstStyle/>
          <a:p>
            <a:r>
              <a:rPr lang="en-US" altLang="zh-CN"/>
              <a:t>CUDA memory model</a:t>
            </a:r>
          </a:p>
          <a:p>
            <a:pPr lvl="1"/>
            <a:r>
              <a:rPr lang="en-US" altLang="zh-CN"/>
              <a:t>Three distinct types of address spaces visible to kernels</a:t>
            </a:r>
          </a:p>
          <a:p>
            <a:pPr lvl="1"/>
            <a:r>
              <a:rPr lang="en-US" altLang="zh-CN" sz="1800">
                <a:latin typeface="Courier New" panose="02070309020205020404" charset="0"/>
                <a:cs typeface="Courier New" panose="02070309020205020404" charset="0"/>
              </a:rPr>
              <a:t>__global__</a:t>
            </a:r>
            <a:r>
              <a:rPr lang="en-US" altLang="zh-CN"/>
              <a:t>: accessible by all threads</a:t>
            </a:r>
          </a:p>
          <a:p>
            <a:pPr lvl="1"/>
            <a:r>
              <a:rPr lang="en-US" altLang="zh-CN" sz="1800">
                <a:latin typeface="Courier New" panose="02070309020205020404" charset="0"/>
                <a:cs typeface="Courier New" panose="02070309020205020404" charset="0"/>
              </a:rPr>
              <a:t>__device__</a:t>
            </a:r>
            <a:r>
              <a:rPr lang="en-US" altLang="zh-CN"/>
              <a:t>: distinct from CPU memory</a:t>
            </a:r>
          </a:p>
          <a:p>
            <a:pPr lvl="1"/>
            <a:r>
              <a:rPr lang="en-US" altLang="zh-CN" sz="1800">
                <a:latin typeface="Courier New" panose="02070309020205020404" charset="0"/>
                <a:cs typeface="Courier New" panose="02070309020205020404" charset="0"/>
              </a:rPr>
              <a:t>__shared__</a:t>
            </a:r>
            <a:r>
              <a:rPr lang="en-US" altLang="zh-CN"/>
              <a:t>: shared by threads in a block</a:t>
            </a:r>
          </a:p>
        </p:txBody>
      </p:sp>
      <p:grpSp>
        <p:nvGrpSpPr>
          <p:cNvPr id="10" name="组合 9"/>
          <p:cNvGrpSpPr>
            <a:grpSpLocks noChangeAspect="1"/>
          </p:cNvGrpSpPr>
          <p:nvPr/>
        </p:nvGrpSpPr>
        <p:grpSpPr>
          <a:xfrm>
            <a:off x="1151255" y="3877945"/>
            <a:ext cx="9000000" cy="1888036"/>
            <a:chOff x="360" y="6480"/>
            <a:chExt cx="13290" cy="2788"/>
          </a:xfrm>
        </p:grpSpPr>
        <p:pic>
          <p:nvPicPr>
            <p:cNvPr id="4" name="图片 3"/>
            <p:cNvPicPr>
              <a:picLocks noChangeAspect="1"/>
            </p:cNvPicPr>
            <p:nvPr/>
          </p:nvPicPr>
          <p:blipFill>
            <a:blip r:embed="rId2"/>
            <a:srcRect r="11284"/>
            <a:stretch>
              <a:fillRect/>
            </a:stretch>
          </p:blipFill>
          <p:spPr>
            <a:xfrm>
              <a:off x="360" y="6480"/>
              <a:ext cx="9120" cy="2789"/>
            </a:xfrm>
            <a:prstGeom prst="rect">
              <a:avLst/>
            </a:prstGeom>
          </p:spPr>
        </p:pic>
        <p:pic>
          <p:nvPicPr>
            <p:cNvPr id="8" name="图片 7"/>
            <p:cNvPicPr>
              <a:picLocks noChangeAspect="1"/>
            </p:cNvPicPr>
            <p:nvPr/>
          </p:nvPicPr>
          <p:blipFill>
            <a:blip r:embed="rId3"/>
            <a:stretch>
              <a:fillRect/>
            </a:stretch>
          </p:blipFill>
          <p:spPr>
            <a:xfrm>
              <a:off x="10560" y="6960"/>
              <a:ext cx="3090" cy="1800"/>
            </a:xfrm>
            <a:prstGeom prst="rect">
              <a:avLst/>
            </a:prstGeom>
          </p:spPr>
        </p:pic>
        <p:cxnSp>
          <p:nvCxnSpPr>
            <p:cNvPr id="9" name="直接箭头连接符 8"/>
            <p:cNvCxnSpPr>
              <a:stCxn id="4" idx="3"/>
              <a:endCxn id="8" idx="1"/>
            </p:cNvCxnSpPr>
            <p:nvPr/>
          </p:nvCxnSpPr>
          <p:spPr>
            <a:xfrm flipV="1">
              <a:off x="9480" y="7860"/>
              <a:ext cx="1080" cy="15"/>
            </a:xfrm>
            <a:prstGeom prst="straightConnector1">
              <a:avLst/>
            </a:prstGeom>
            <a:solidFill>
              <a:schemeClr val="accent1"/>
            </a:solidFill>
            <a:ln w="19050" cap="flat" cmpd="sng" algn="ctr">
              <a:solidFill>
                <a:schemeClr val="tx1"/>
              </a:solidFill>
              <a:prstDash val="solid"/>
              <a:round/>
              <a:headEnd type="triangle" w="med" len="med"/>
              <a:tailEnd type="triangle" w="med" len="med"/>
            </a:ln>
          </p:spPr>
        </p:cxnSp>
      </p:gr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CN">
                <a:sym typeface="+mn-ea"/>
              </a:rPr>
              <a:t>How is </a:t>
            </a:r>
            <a:r>
              <a:rPr lang="x-none">
                <a:sym typeface="+mn-ea"/>
              </a:rPr>
              <a:t>Kernel</a:t>
            </a:r>
            <a:r>
              <a:rPr lang="en-US" altLang="zh-CN">
                <a:sym typeface="+mn-ea"/>
              </a:rPr>
              <a:t> Code Executed on GPU?</a:t>
            </a:r>
            <a:endParaRPr lang="en-US"/>
          </a:p>
        </p:txBody>
      </p:sp>
      <p:sp>
        <p:nvSpPr>
          <p:cNvPr id="94" name="灯片编号占位符 93"/>
          <p:cNvSpPr>
            <a:spLocks noGrp="1"/>
          </p:cNvSpPr>
          <p:nvPr>
            <p:ph type="sldNum" sz="quarter" idx="12"/>
          </p:nvPr>
        </p:nvSpPr>
        <p:spPr/>
        <p:txBody>
          <a:bodyPr/>
          <a:lstStyle/>
          <a:p>
            <a:fld id="{B33F7469-D28B-482F-B1B6-3B8E7CF51519}" type="slidenum">
              <a:rPr lang="zh-CN" altLang="en-US" smtClean="0"/>
              <a:t>28</a:t>
            </a:fld>
            <a:endParaRPr lang="zh-CN" altLang="en-US" dirty="0"/>
          </a:p>
        </p:txBody>
      </p:sp>
      <p:sp>
        <p:nvSpPr>
          <p:cNvPr id="2" name="Content Placeholder 1"/>
          <p:cNvSpPr>
            <a:spLocks noGrp="1"/>
          </p:cNvSpPr>
          <p:nvPr>
            <p:ph sz="quarter" idx="13"/>
          </p:nvPr>
        </p:nvSpPr>
        <p:spPr/>
        <p:txBody>
          <a:bodyPr/>
          <a:lstStyle/>
          <a:p>
            <a:pPr>
              <a:spcBef>
                <a:spcPts val="600"/>
              </a:spcBef>
            </a:pPr>
            <a:r>
              <a:rPr lang="en-US" sz="2000"/>
              <a:t>SIMD execution can be combined with pipelining</a:t>
            </a:r>
          </a:p>
          <a:p>
            <a:pPr>
              <a:spcBef>
                <a:spcPts val="600"/>
              </a:spcBef>
            </a:pPr>
            <a:r>
              <a:rPr lang="en-US" sz="2000"/>
              <a:t>ALUs all execute the same instruction</a:t>
            </a:r>
          </a:p>
          <a:p>
            <a:pPr>
              <a:spcBef>
                <a:spcPts val="600"/>
              </a:spcBef>
            </a:pPr>
            <a:r>
              <a:rPr lang="en-US" sz="2000"/>
              <a:t>Pipelining is used to break instruction into phases</a:t>
            </a:r>
          </a:p>
          <a:p>
            <a:pPr>
              <a:spcBef>
                <a:spcPts val="600"/>
              </a:spcBef>
            </a:pPr>
            <a:r>
              <a:rPr lang="en-US" sz="2000"/>
              <a:t>When first instruction completes (4 cycles here), the next instruction is ready to execute</a:t>
            </a:r>
          </a:p>
        </p:txBody>
      </p:sp>
      <p:graphicFrame>
        <p:nvGraphicFramePr>
          <p:cNvPr id="4" name="Content Placeholder 89"/>
          <p:cNvGraphicFramePr/>
          <p:nvPr/>
        </p:nvGraphicFramePr>
        <p:xfrm>
          <a:off x="4113607" y="6121095"/>
          <a:ext cx="5360670" cy="262890"/>
        </p:xfrm>
        <a:graphic>
          <a:graphicData uri="http://schemas.openxmlformats.org/drawingml/2006/table">
            <a:tbl>
              <a:tblPr firstRow="1" bandRow="1">
                <a:tableStyleId>{5940675A-B579-460E-94D1-54222C63F5DA}</a:tableStyleId>
              </a:tblPr>
              <a:tblGrid>
                <a:gridCol w="595630">
                  <a:extLst>
                    <a:ext uri="{9D8B030D-6E8A-4147-A177-3AD203B41FA5}">
                      <a16:colId xmlns:a16="http://schemas.microsoft.com/office/drawing/2014/main" val="20000"/>
                    </a:ext>
                  </a:extLst>
                </a:gridCol>
                <a:gridCol w="595630">
                  <a:extLst>
                    <a:ext uri="{9D8B030D-6E8A-4147-A177-3AD203B41FA5}">
                      <a16:colId xmlns:a16="http://schemas.microsoft.com/office/drawing/2014/main" val="20001"/>
                    </a:ext>
                  </a:extLst>
                </a:gridCol>
                <a:gridCol w="595630">
                  <a:extLst>
                    <a:ext uri="{9D8B030D-6E8A-4147-A177-3AD203B41FA5}">
                      <a16:colId xmlns:a16="http://schemas.microsoft.com/office/drawing/2014/main" val="20002"/>
                    </a:ext>
                  </a:extLst>
                </a:gridCol>
                <a:gridCol w="595630">
                  <a:extLst>
                    <a:ext uri="{9D8B030D-6E8A-4147-A177-3AD203B41FA5}">
                      <a16:colId xmlns:a16="http://schemas.microsoft.com/office/drawing/2014/main" val="20003"/>
                    </a:ext>
                  </a:extLst>
                </a:gridCol>
                <a:gridCol w="595630">
                  <a:extLst>
                    <a:ext uri="{9D8B030D-6E8A-4147-A177-3AD203B41FA5}">
                      <a16:colId xmlns:a16="http://schemas.microsoft.com/office/drawing/2014/main" val="20004"/>
                    </a:ext>
                  </a:extLst>
                </a:gridCol>
                <a:gridCol w="595630">
                  <a:extLst>
                    <a:ext uri="{9D8B030D-6E8A-4147-A177-3AD203B41FA5}">
                      <a16:colId xmlns:a16="http://schemas.microsoft.com/office/drawing/2014/main" val="20005"/>
                    </a:ext>
                  </a:extLst>
                </a:gridCol>
                <a:gridCol w="595630">
                  <a:extLst>
                    <a:ext uri="{9D8B030D-6E8A-4147-A177-3AD203B41FA5}">
                      <a16:colId xmlns:a16="http://schemas.microsoft.com/office/drawing/2014/main" val="20006"/>
                    </a:ext>
                  </a:extLst>
                </a:gridCol>
                <a:gridCol w="595630">
                  <a:extLst>
                    <a:ext uri="{9D8B030D-6E8A-4147-A177-3AD203B41FA5}">
                      <a16:colId xmlns:a16="http://schemas.microsoft.com/office/drawing/2014/main" val="20007"/>
                    </a:ext>
                  </a:extLst>
                </a:gridCol>
                <a:gridCol w="595630">
                  <a:extLst>
                    <a:ext uri="{9D8B030D-6E8A-4147-A177-3AD203B41FA5}">
                      <a16:colId xmlns:a16="http://schemas.microsoft.com/office/drawing/2014/main" val="20008"/>
                    </a:ext>
                  </a:extLst>
                </a:gridCol>
              </a:tblGrid>
              <a:tr h="262890">
                <a:tc>
                  <a:txBody>
                    <a:bodyPr/>
                    <a:lstStyle/>
                    <a:p>
                      <a:pPr algn="ctr"/>
                      <a:r>
                        <a:rPr lang="en-US" sz="1300" dirty="0"/>
                        <a:t>1</a:t>
                      </a:r>
                      <a:endParaRPr lang="en-US" sz="1300" dirty="0">
                        <a:solidFill>
                          <a:schemeClr val="tx1"/>
                        </a:solidFill>
                      </a:endParaRPr>
                    </a:p>
                  </a:txBody>
                  <a:tcPr marL="64294" marR="64294" marT="32147" marB="32147"/>
                </a:tc>
                <a:tc>
                  <a:txBody>
                    <a:bodyPr/>
                    <a:lstStyle/>
                    <a:p>
                      <a:pPr algn="ctr"/>
                      <a:r>
                        <a:rPr lang="en-US" sz="1300" dirty="0"/>
                        <a:t>2</a:t>
                      </a:r>
                      <a:endParaRPr lang="en-US" sz="1300" dirty="0">
                        <a:solidFill>
                          <a:schemeClr val="tx1"/>
                        </a:solidFill>
                      </a:endParaRPr>
                    </a:p>
                  </a:txBody>
                  <a:tcPr marL="64294" marR="64294" marT="32147" marB="32147"/>
                </a:tc>
                <a:tc>
                  <a:txBody>
                    <a:bodyPr/>
                    <a:lstStyle/>
                    <a:p>
                      <a:pPr algn="ctr"/>
                      <a:r>
                        <a:rPr lang="en-US" sz="1300" dirty="0"/>
                        <a:t>3</a:t>
                      </a:r>
                      <a:endParaRPr lang="en-US" sz="1300" dirty="0">
                        <a:solidFill>
                          <a:schemeClr val="tx1"/>
                        </a:solidFill>
                      </a:endParaRPr>
                    </a:p>
                  </a:txBody>
                  <a:tcPr marL="64294" marR="64294" marT="32147" marB="32147"/>
                </a:tc>
                <a:tc>
                  <a:txBody>
                    <a:bodyPr/>
                    <a:lstStyle/>
                    <a:p>
                      <a:pPr algn="ctr"/>
                      <a:r>
                        <a:rPr lang="en-US" sz="1300" dirty="0"/>
                        <a:t>4</a:t>
                      </a:r>
                      <a:endParaRPr lang="en-US" sz="1300" dirty="0">
                        <a:solidFill>
                          <a:schemeClr val="tx1"/>
                        </a:solidFill>
                      </a:endParaRPr>
                    </a:p>
                  </a:txBody>
                  <a:tcPr marL="64294" marR="64294" marT="32147" marB="32147"/>
                </a:tc>
                <a:tc>
                  <a:txBody>
                    <a:bodyPr/>
                    <a:lstStyle/>
                    <a:p>
                      <a:pPr algn="ctr"/>
                      <a:r>
                        <a:rPr lang="en-US" sz="1300" dirty="0"/>
                        <a:t>5</a:t>
                      </a:r>
                      <a:endParaRPr lang="en-US" sz="1300" dirty="0">
                        <a:solidFill>
                          <a:schemeClr val="tx1"/>
                        </a:solidFill>
                      </a:endParaRPr>
                    </a:p>
                  </a:txBody>
                  <a:tcPr marL="64294" marR="64294" marT="32147" marB="32147"/>
                </a:tc>
                <a:tc>
                  <a:txBody>
                    <a:bodyPr/>
                    <a:lstStyle/>
                    <a:p>
                      <a:pPr algn="ctr"/>
                      <a:r>
                        <a:rPr lang="en-US" sz="1300" dirty="0"/>
                        <a:t>6</a:t>
                      </a:r>
                      <a:endParaRPr lang="en-US" sz="1300" dirty="0">
                        <a:solidFill>
                          <a:schemeClr val="tx1"/>
                        </a:solidFill>
                      </a:endParaRPr>
                    </a:p>
                  </a:txBody>
                  <a:tcPr marL="64294" marR="64294" marT="32147" marB="32147"/>
                </a:tc>
                <a:tc>
                  <a:txBody>
                    <a:bodyPr/>
                    <a:lstStyle/>
                    <a:p>
                      <a:pPr algn="ctr"/>
                      <a:r>
                        <a:rPr lang="en-US" sz="1300" dirty="0"/>
                        <a:t>7</a:t>
                      </a:r>
                      <a:endParaRPr lang="en-US" sz="1300" dirty="0">
                        <a:solidFill>
                          <a:schemeClr val="tx1"/>
                        </a:solidFill>
                      </a:endParaRPr>
                    </a:p>
                  </a:txBody>
                  <a:tcPr marL="64294" marR="64294" marT="32147" marB="32147"/>
                </a:tc>
                <a:tc>
                  <a:txBody>
                    <a:bodyPr/>
                    <a:lstStyle/>
                    <a:p>
                      <a:pPr algn="ctr"/>
                      <a:r>
                        <a:rPr lang="en-US" sz="1300" dirty="0"/>
                        <a:t>8</a:t>
                      </a:r>
                      <a:endParaRPr lang="en-US" sz="1300" dirty="0">
                        <a:solidFill>
                          <a:schemeClr val="tx1"/>
                        </a:solidFill>
                      </a:endParaRPr>
                    </a:p>
                  </a:txBody>
                  <a:tcPr marL="64294" marR="64294" marT="32147" marB="32147"/>
                </a:tc>
                <a:tc>
                  <a:txBody>
                    <a:bodyPr/>
                    <a:lstStyle/>
                    <a:p>
                      <a:pPr algn="ctr"/>
                      <a:r>
                        <a:rPr lang="en-US" sz="1300" dirty="0"/>
                        <a:t>9</a:t>
                      </a:r>
                      <a:endParaRPr lang="en-US" sz="1300" dirty="0">
                        <a:solidFill>
                          <a:schemeClr val="tx1"/>
                        </a:solidFill>
                      </a:endParaRPr>
                    </a:p>
                  </a:txBody>
                  <a:tcPr marL="64294" marR="64294" marT="32147" marB="32147"/>
                </a:tc>
                <a:extLst>
                  <a:ext uri="{0D108BD9-81ED-4DB2-BD59-A6C34878D82A}">
                    <a16:rowId xmlns:a16="http://schemas.microsoft.com/office/drawing/2014/main" val="10000"/>
                  </a:ext>
                </a:extLst>
              </a:tr>
            </a:tbl>
          </a:graphicData>
        </a:graphic>
      </p:graphicFrame>
      <p:grpSp>
        <p:nvGrpSpPr>
          <p:cNvPr id="5" name="Group 4"/>
          <p:cNvGrpSpPr/>
          <p:nvPr/>
        </p:nvGrpSpPr>
        <p:grpSpPr>
          <a:xfrm>
            <a:off x="4085691" y="3495766"/>
            <a:ext cx="964406" cy="910828"/>
            <a:chOff x="2561691" y="3589734"/>
            <a:chExt cx="964406" cy="910828"/>
          </a:xfrm>
        </p:grpSpPr>
        <p:sp>
          <p:nvSpPr>
            <p:cNvPr id="6" name="Rectangle 5"/>
            <p:cNvSpPr/>
            <p:nvPr/>
          </p:nvSpPr>
          <p:spPr>
            <a:xfrm>
              <a:off x="2936738" y="3589734"/>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7" name="Rectangle 6"/>
            <p:cNvSpPr/>
            <p:nvPr/>
          </p:nvSpPr>
          <p:spPr>
            <a:xfrm>
              <a:off x="2883160" y="3643312"/>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8" name="Rectangle 7"/>
            <p:cNvSpPr/>
            <p:nvPr/>
          </p:nvSpPr>
          <p:spPr>
            <a:xfrm>
              <a:off x="2829582" y="3696890"/>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9" name="Rectangle 8"/>
            <p:cNvSpPr/>
            <p:nvPr/>
          </p:nvSpPr>
          <p:spPr>
            <a:xfrm>
              <a:off x="2776003" y="3750468"/>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10" name="Rectangle 9"/>
            <p:cNvSpPr/>
            <p:nvPr/>
          </p:nvSpPr>
          <p:spPr>
            <a:xfrm>
              <a:off x="2722425" y="3804046"/>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11" name="Rectangle 10"/>
            <p:cNvSpPr/>
            <p:nvPr/>
          </p:nvSpPr>
          <p:spPr>
            <a:xfrm>
              <a:off x="2668847" y="3857625"/>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12" name="Rectangle 11"/>
            <p:cNvSpPr/>
            <p:nvPr/>
          </p:nvSpPr>
          <p:spPr>
            <a:xfrm>
              <a:off x="2615269" y="3911203"/>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13" name="Rectangle 12"/>
            <p:cNvSpPr/>
            <p:nvPr/>
          </p:nvSpPr>
          <p:spPr>
            <a:xfrm>
              <a:off x="2561691" y="3964781"/>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grpSp>
      <p:grpSp>
        <p:nvGrpSpPr>
          <p:cNvPr id="14" name="Group 13"/>
          <p:cNvGrpSpPr/>
          <p:nvPr/>
        </p:nvGrpSpPr>
        <p:grpSpPr>
          <a:xfrm>
            <a:off x="4675050" y="4031548"/>
            <a:ext cx="964406" cy="910828"/>
            <a:chOff x="3151050" y="4125516"/>
            <a:chExt cx="964406" cy="910828"/>
          </a:xfrm>
        </p:grpSpPr>
        <p:sp>
          <p:nvSpPr>
            <p:cNvPr id="15" name="Rectangle 14"/>
            <p:cNvSpPr/>
            <p:nvPr/>
          </p:nvSpPr>
          <p:spPr>
            <a:xfrm>
              <a:off x="3526097" y="4125516"/>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16" name="Rectangle 15"/>
            <p:cNvSpPr/>
            <p:nvPr/>
          </p:nvSpPr>
          <p:spPr>
            <a:xfrm>
              <a:off x="3472519" y="4179094"/>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17" name="Rectangle 16"/>
            <p:cNvSpPr/>
            <p:nvPr/>
          </p:nvSpPr>
          <p:spPr>
            <a:xfrm>
              <a:off x="3418941" y="4232672"/>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18" name="Rectangle 17"/>
            <p:cNvSpPr/>
            <p:nvPr/>
          </p:nvSpPr>
          <p:spPr>
            <a:xfrm>
              <a:off x="3365362" y="4286250"/>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19" name="Rectangle 18"/>
            <p:cNvSpPr/>
            <p:nvPr/>
          </p:nvSpPr>
          <p:spPr>
            <a:xfrm>
              <a:off x="3311784" y="4339828"/>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20" name="Rectangle 19"/>
            <p:cNvSpPr/>
            <p:nvPr/>
          </p:nvSpPr>
          <p:spPr>
            <a:xfrm>
              <a:off x="3258206" y="4393407"/>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21" name="Rectangle 20"/>
            <p:cNvSpPr/>
            <p:nvPr/>
          </p:nvSpPr>
          <p:spPr>
            <a:xfrm>
              <a:off x="3204628" y="4446985"/>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22" name="Rectangle 21"/>
            <p:cNvSpPr/>
            <p:nvPr/>
          </p:nvSpPr>
          <p:spPr>
            <a:xfrm>
              <a:off x="3151050" y="4500563"/>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grpSp>
      <p:grpSp>
        <p:nvGrpSpPr>
          <p:cNvPr id="23" name="Group 22"/>
          <p:cNvGrpSpPr/>
          <p:nvPr/>
        </p:nvGrpSpPr>
        <p:grpSpPr>
          <a:xfrm>
            <a:off x="5264409" y="4567329"/>
            <a:ext cx="964406" cy="910828"/>
            <a:chOff x="3740409" y="4661297"/>
            <a:chExt cx="964406" cy="910828"/>
          </a:xfrm>
        </p:grpSpPr>
        <p:sp>
          <p:nvSpPr>
            <p:cNvPr id="24" name="Rectangle 23"/>
            <p:cNvSpPr/>
            <p:nvPr/>
          </p:nvSpPr>
          <p:spPr>
            <a:xfrm>
              <a:off x="4115456" y="4661297"/>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25" name="Rectangle 24"/>
            <p:cNvSpPr/>
            <p:nvPr/>
          </p:nvSpPr>
          <p:spPr>
            <a:xfrm>
              <a:off x="4061878" y="4714875"/>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26" name="Rectangle 25"/>
            <p:cNvSpPr/>
            <p:nvPr/>
          </p:nvSpPr>
          <p:spPr>
            <a:xfrm>
              <a:off x="4008300" y="4768453"/>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27" name="Rectangle 26"/>
            <p:cNvSpPr/>
            <p:nvPr/>
          </p:nvSpPr>
          <p:spPr>
            <a:xfrm>
              <a:off x="3954721" y="4822031"/>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28" name="Rectangle 27"/>
            <p:cNvSpPr/>
            <p:nvPr/>
          </p:nvSpPr>
          <p:spPr>
            <a:xfrm>
              <a:off x="3901143" y="4875609"/>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29" name="Rectangle 28"/>
            <p:cNvSpPr/>
            <p:nvPr/>
          </p:nvSpPr>
          <p:spPr>
            <a:xfrm>
              <a:off x="3847565" y="4929188"/>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30" name="Rectangle 29"/>
            <p:cNvSpPr/>
            <p:nvPr/>
          </p:nvSpPr>
          <p:spPr>
            <a:xfrm>
              <a:off x="3793987" y="4982766"/>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31" name="Rectangle 30"/>
            <p:cNvSpPr/>
            <p:nvPr/>
          </p:nvSpPr>
          <p:spPr>
            <a:xfrm>
              <a:off x="3740409" y="5036344"/>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grpSp>
      <p:grpSp>
        <p:nvGrpSpPr>
          <p:cNvPr id="32" name="Group 31"/>
          <p:cNvGrpSpPr/>
          <p:nvPr/>
        </p:nvGrpSpPr>
        <p:grpSpPr>
          <a:xfrm>
            <a:off x="5853769" y="5103110"/>
            <a:ext cx="964406" cy="910828"/>
            <a:chOff x="4329769" y="5197078"/>
            <a:chExt cx="964406" cy="910828"/>
          </a:xfrm>
        </p:grpSpPr>
        <p:sp>
          <p:nvSpPr>
            <p:cNvPr id="33" name="Rectangle 32"/>
            <p:cNvSpPr/>
            <p:nvPr/>
          </p:nvSpPr>
          <p:spPr>
            <a:xfrm>
              <a:off x="4704816" y="5197078"/>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34" name="Rectangle 33"/>
            <p:cNvSpPr/>
            <p:nvPr/>
          </p:nvSpPr>
          <p:spPr>
            <a:xfrm>
              <a:off x="4651238" y="5250656"/>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35" name="Rectangle 34"/>
            <p:cNvSpPr/>
            <p:nvPr/>
          </p:nvSpPr>
          <p:spPr>
            <a:xfrm>
              <a:off x="4597660" y="5304234"/>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36" name="Rectangle 35"/>
            <p:cNvSpPr/>
            <p:nvPr/>
          </p:nvSpPr>
          <p:spPr>
            <a:xfrm>
              <a:off x="4544081" y="5357812"/>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37" name="Rectangle 36"/>
            <p:cNvSpPr/>
            <p:nvPr/>
          </p:nvSpPr>
          <p:spPr>
            <a:xfrm>
              <a:off x="4490503" y="5411390"/>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38" name="Rectangle 37"/>
            <p:cNvSpPr/>
            <p:nvPr/>
          </p:nvSpPr>
          <p:spPr>
            <a:xfrm>
              <a:off x="4436925" y="5464969"/>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39" name="Rectangle 38"/>
            <p:cNvSpPr/>
            <p:nvPr/>
          </p:nvSpPr>
          <p:spPr>
            <a:xfrm>
              <a:off x="4383347" y="5518547"/>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sp>
          <p:nvSpPr>
            <p:cNvPr id="40" name="Rectangle 39"/>
            <p:cNvSpPr/>
            <p:nvPr/>
          </p:nvSpPr>
          <p:spPr>
            <a:xfrm>
              <a:off x="4329769" y="5572125"/>
              <a:ext cx="589359" cy="535781"/>
            </a:xfrm>
            <a:prstGeom prst="rect">
              <a:avLst/>
            </a:prstGeom>
            <a:solidFill>
              <a:srgbClr val="99FF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a:solidFill>
                    <a:schemeClr val="tx1"/>
                  </a:solidFill>
                  <a:latin typeface="Arial" panose="020B0604020202020204"/>
                  <a:cs typeface="Arial" panose="020B0604020202020204"/>
                </a:rPr>
                <a:t>Add</a:t>
              </a:r>
            </a:p>
          </p:txBody>
        </p:sp>
      </p:grpSp>
      <p:grpSp>
        <p:nvGrpSpPr>
          <p:cNvPr id="41" name="Group 40"/>
          <p:cNvGrpSpPr/>
          <p:nvPr/>
        </p:nvGrpSpPr>
        <p:grpSpPr>
          <a:xfrm>
            <a:off x="6496706" y="3495766"/>
            <a:ext cx="964406" cy="910828"/>
            <a:chOff x="4972706" y="3589734"/>
            <a:chExt cx="964406" cy="910828"/>
          </a:xfrm>
        </p:grpSpPr>
        <p:sp>
          <p:nvSpPr>
            <p:cNvPr id="42" name="Rectangle 41"/>
            <p:cNvSpPr/>
            <p:nvPr/>
          </p:nvSpPr>
          <p:spPr>
            <a:xfrm>
              <a:off x="5347753" y="3589734"/>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43" name="Rectangle 42"/>
            <p:cNvSpPr/>
            <p:nvPr/>
          </p:nvSpPr>
          <p:spPr>
            <a:xfrm>
              <a:off x="5294175" y="3643312"/>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44" name="Rectangle 43"/>
            <p:cNvSpPr/>
            <p:nvPr/>
          </p:nvSpPr>
          <p:spPr>
            <a:xfrm>
              <a:off x="5240597" y="3696890"/>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45" name="Rectangle 44"/>
            <p:cNvSpPr/>
            <p:nvPr/>
          </p:nvSpPr>
          <p:spPr>
            <a:xfrm>
              <a:off x="5187018" y="3750468"/>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46" name="Rectangle 45"/>
            <p:cNvSpPr/>
            <p:nvPr/>
          </p:nvSpPr>
          <p:spPr>
            <a:xfrm>
              <a:off x="5133440" y="3804046"/>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47" name="Rectangle 46"/>
            <p:cNvSpPr/>
            <p:nvPr/>
          </p:nvSpPr>
          <p:spPr>
            <a:xfrm>
              <a:off x="5079862" y="3857625"/>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48" name="Rectangle 47"/>
            <p:cNvSpPr/>
            <p:nvPr/>
          </p:nvSpPr>
          <p:spPr>
            <a:xfrm>
              <a:off x="5026284" y="3911203"/>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49" name="Rectangle 48"/>
            <p:cNvSpPr/>
            <p:nvPr/>
          </p:nvSpPr>
          <p:spPr>
            <a:xfrm>
              <a:off x="4972706" y="3964781"/>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grpSp>
      <p:grpSp>
        <p:nvGrpSpPr>
          <p:cNvPr id="50" name="Group 49"/>
          <p:cNvGrpSpPr/>
          <p:nvPr/>
        </p:nvGrpSpPr>
        <p:grpSpPr>
          <a:xfrm>
            <a:off x="7086066" y="4031548"/>
            <a:ext cx="964406" cy="910828"/>
            <a:chOff x="5562066" y="4125516"/>
            <a:chExt cx="964406" cy="910828"/>
          </a:xfrm>
        </p:grpSpPr>
        <p:sp>
          <p:nvSpPr>
            <p:cNvPr id="51" name="Rectangle 50"/>
            <p:cNvSpPr/>
            <p:nvPr/>
          </p:nvSpPr>
          <p:spPr>
            <a:xfrm>
              <a:off x="5937113" y="4125516"/>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52" name="Rectangle 51"/>
            <p:cNvSpPr/>
            <p:nvPr/>
          </p:nvSpPr>
          <p:spPr>
            <a:xfrm>
              <a:off x="5883535" y="4179094"/>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53" name="Rectangle 52"/>
            <p:cNvSpPr/>
            <p:nvPr/>
          </p:nvSpPr>
          <p:spPr>
            <a:xfrm>
              <a:off x="5829957" y="4232672"/>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54" name="Rectangle 53"/>
            <p:cNvSpPr/>
            <p:nvPr/>
          </p:nvSpPr>
          <p:spPr>
            <a:xfrm>
              <a:off x="5776378" y="4286250"/>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55" name="Rectangle 54"/>
            <p:cNvSpPr/>
            <p:nvPr/>
          </p:nvSpPr>
          <p:spPr>
            <a:xfrm>
              <a:off x="5722800" y="4339828"/>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56" name="Rectangle 55"/>
            <p:cNvSpPr/>
            <p:nvPr/>
          </p:nvSpPr>
          <p:spPr>
            <a:xfrm>
              <a:off x="5669222" y="4393407"/>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57" name="Rectangle 56"/>
            <p:cNvSpPr/>
            <p:nvPr/>
          </p:nvSpPr>
          <p:spPr>
            <a:xfrm>
              <a:off x="5615644" y="4446985"/>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58" name="Rectangle 57"/>
            <p:cNvSpPr/>
            <p:nvPr/>
          </p:nvSpPr>
          <p:spPr>
            <a:xfrm>
              <a:off x="5562066" y="4500563"/>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grpSp>
      <p:grpSp>
        <p:nvGrpSpPr>
          <p:cNvPr id="59" name="Group 58"/>
          <p:cNvGrpSpPr/>
          <p:nvPr/>
        </p:nvGrpSpPr>
        <p:grpSpPr>
          <a:xfrm>
            <a:off x="7675425" y="4567329"/>
            <a:ext cx="964406" cy="910828"/>
            <a:chOff x="6151425" y="4661297"/>
            <a:chExt cx="964406" cy="910828"/>
          </a:xfrm>
        </p:grpSpPr>
        <p:sp>
          <p:nvSpPr>
            <p:cNvPr id="60" name="Rectangle 59"/>
            <p:cNvSpPr/>
            <p:nvPr/>
          </p:nvSpPr>
          <p:spPr>
            <a:xfrm>
              <a:off x="6526472" y="4661297"/>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61" name="Rectangle 60"/>
            <p:cNvSpPr/>
            <p:nvPr/>
          </p:nvSpPr>
          <p:spPr>
            <a:xfrm>
              <a:off x="6472894" y="4714875"/>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62" name="Rectangle 61"/>
            <p:cNvSpPr/>
            <p:nvPr/>
          </p:nvSpPr>
          <p:spPr>
            <a:xfrm>
              <a:off x="6419316" y="4768453"/>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63" name="Rectangle 62"/>
            <p:cNvSpPr/>
            <p:nvPr/>
          </p:nvSpPr>
          <p:spPr>
            <a:xfrm>
              <a:off x="6365737" y="4822031"/>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64" name="Rectangle 63"/>
            <p:cNvSpPr/>
            <p:nvPr/>
          </p:nvSpPr>
          <p:spPr>
            <a:xfrm>
              <a:off x="6312159" y="4875609"/>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65" name="Rectangle 64"/>
            <p:cNvSpPr/>
            <p:nvPr/>
          </p:nvSpPr>
          <p:spPr>
            <a:xfrm>
              <a:off x="6258581" y="4929188"/>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66" name="Rectangle 65"/>
            <p:cNvSpPr/>
            <p:nvPr/>
          </p:nvSpPr>
          <p:spPr>
            <a:xfrm>
              <a:off x="6205003" y="4982766"/>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67" name="Rectangle 66"/>
            <p:cNvSpPr/>
            <p:nvPr/>
          </p:nvSpPr>
          <p:spPr>
            <a:xfrm>
              <a:off x="6151425" y="5036344"/>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grpSp>
      <p:grpSp>
        <p:nvGrpSpPr>
          <p:cNvPr id="68" name="Group 67"/>
          <p:cNvGrpSpPr/>
          <p:nvPr/>
        </p:nvGrpSpPr>
        <p:grpSpPr>
          <a:xfrm>
            <a:off x="8264784" y="5103110"/>
            <a:ext cx="964406" cy="910828"/>
            <a:chOff x="6740784" y="5197078"/>
            <a:chExt cx="964406" cy="910828"/>
          </a:xfrm>
        </p:grpSpPr>
        <p:sp>
          <p:nvSpPr>
            <p:cNvPr id="69" name="Rectangle 68"/>
            <p:cNvSpPr/>
            <p:nvPr/>
          </p:nvSpPr>
          <p:spPr>
            <a:xfrm>
              <a:off x="7115831" y="5197078"/>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70" name="Rectangle 69"/>
            <p:cNvSpPr/>
            <p:nvPr/>
          </p:nvSpPr>
          <p:spPr>
            <a:xfrm>
              <a:off x="7062253" y="5250656"/>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71" name="Rectangle 70"/>
            <p:cNvSpPr/>
            <p:nvPr/>
          </p:nvSpPr>
          <p:spPr>
            <a:xfrm>
              <a:off x="7008675" y="5304234"/>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72" name="Rectangle 71"/>
            <p:cNvSpPr/>
            <p:nvPr/>
          </p:nvSpPr>
          <p:spPr>
            <a:xfrm>
              <a:off x="6955096" y="5357812"/>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73" name="Rectangle 72"/>
            <p:cNvSpPr/>
            <p:nvPr/>
          </p:nvSpPr>
          <p:spPr>
            <a:xfrm>
              <a:off x="6901518" y="5411390"/>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74" name="Rectangle 73"/>
            <p:cNvSpPr/>
            <p:nvPr/>
          </p:nvSpPr>
          <p:spPr>
            <a:xfrm>
              <a:off x="6847940" y="5464969"/>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75" name="Rectangle 74"/>
            <p:cNvSpPr/>
            <p:nvPr/>
          </p:nvSpPr>
          <p:spPr>
            <a:xfrm>
              <a:off x="6794362" y="5518547"/>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sp>
          <p:nvSpPr>
            <p:cNvPr id="76" name="Rectangle 75"/>
            <p:cNvSpPr/>
            <p:nvPr/>
          </p:nvSpPr>
          <p:spPr>
            <a:xfrm>
              <a:off x="6740784" y="5572125"/>
              <a:ext cx="589359" cy="535781"/>
            </a:xfrm>
            <a:prstGeom prst="rect">
              <a:avLst/>
            </a:prstGeom>
            <a:solidFill>
              <a:schemeClr val="accent3"/>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lang="en-US" sz="1600" dirty="0" err="1">
                  <a:solidFill>
                    <a:schemeClr val="tx1"/>
                  </a:solidFill>
                  <a:latin typeface="Arial" panose="020B0604020202020204"/>
                  <a:cs typeface="Arial" panose="020B0604020202020204"/>
                </a:rPr>
                <a:t>Mul</a:t>
              </a:r>
              <a:endParaRPr lang="en-US" sz="1600" dirty="0">
                <a:solidFill>
                  <a:schemeClr val="tx1"/>
                </a:solidFill>
                <a:latin typeface="Arial" panose="020B0604020202020204"/>
                <a:cs typeface="Arial" panose="020B0604020202020204"/>
              </a:endParaRPr>
            </a:p>
          </p:txBody>
        </p:sp>
      </p:grpSp>
      <p:sp>
        <p:nvSpPr>
          <p:cNvPr id="77" name="TextBox 76"/>
          <p:cNvSpPr txBox="1"/>
          <p:nvPr/>
        </p:nvSpPr>
        <p:spPr>
          <a:xfrm>
            <a:off x="9282769" y="3873592"/>
            <a:ext cx="331470" cy="309245"/>
          </a:xfrm>
          <a:prstGeom prst="rect">
            <a:avLst/>
          </a:prstGeom>
          <a:noFill/>
          <a:effectLst/>
        </p:spPr>
        <p:txBody>
          <a:bodyPr wrap="none" lIns="64291" tIns="32146" rIns="64291" bIns="32146" rtlCol="0">
            <a:spAutoFit/>
          </a:bodyPr>
          <a:lstStyle/>
          <a:p>
            <a:pPr>
              <a:spcBef>
                <a:spcPts val="0"/>
              </a:spcBef>
            </a:pPr>
            <a:r>
              <a:rPr lang="en-US" sz="1600" dirty="0">
                <a:latin typeface="Arial" panose="020B0604020202020204"/>
                <a:cs typeface="Arial" panose="020B0604020202020204"/>
              </a:rPr>
              <a:t>…</a:t>
            </a:r>
          </a:p>
        </p:txBody>
      </p:sp>
      <p:sp>
        <p:nvSpPr>
          <p:cNvPr id="78" name="Left Bracket 77"/>
          <p:cNvSpPr/>
          <p:nvPr/>
        </p:nvSpPr>
        <p:spPr>
          <a:xfrm flipH="1">
            <a:off x="3577828" y="3870813"/>
            <a:ext cx="160734" cy="2143125"/>
          </a:xfrm>
          <a:prstGeom prst="leftBracket">
            <a:avLst/>
          </a:prstGeom>
          <a:ln w="19050">
            <a:solidFill>
              <a:schemeClr val="tx1"/>
            </a:solidFill>
          </a:ln>
          <a:effectLst/>
          <a:scene3d>
            <a:camera prst="orthographicFront">
              <a:rot lat="0" lon="0" rev="10800000"/>
            </a:camera>
            <a:lightRig rig="threePt" dir="t"/>
          </a:scene3d>
        </p:spPr>
        <p:style>
          <a:lnRef idx="2">
            <a:schemeClr val="accent1"/>
          </a:lnRef>
          <a:fillRef idx="0">
            <a:schemeClr val="accent1"/>
          </a:fillRef>
          <a:effectRef idx="1">
            <a:schemeClr val="accent1"/>
          </a:effectRef>
          <a:fontRef idx="minor">
            <a:schemeClr val="tx1"/>
          </a:fontRef>
        </p:style>
        <p:txBody>
          <a:bodyPr lIns="64291" tIns="32146" rIns="64291" bIns="32146" rtlCol="0" anchor="ctr"/>
          <a:lstStyle/>
          <a:p>
            <a:pPr algn="ctr">
              <a:spcBef>
                <a:spcPts val="0"/>
              </a:spcBef>
            </a:pPr>
            <a:endParaRPr lang="en-US" sz="1600">
              <a:latin typeface="Arial" panose="020B0604020202020204"/>
              <a:cs typeface="Arial" panose="020B0604020202020204"/>
            </a:endParaRPr>
          </a:p>
        </p:txBody>
      </p:sp>
      <p:sp>
        <p:nvSpPr>
          <p:cNvPr id="80" name="TextBox 79"/>
          <p:cNvSpPr txBox="1"/>
          <p:nvPr/>
        </p:nvSpPr>
        <p:spPr>
          <a:xfrm>
            <a:off x="9614535" y="6014085"/>
            <a:ext cx="335280" cy="304165"/>
          </a:xfrm>
          <a:prstGeom prst="rect">
            <a:avLst/>
          </a:prstGeom>
          <a:noFill/>
          <a:effectLst/>
        </p:spPr>
        <p:txBody>
          <a:bodyPr wrap="square" lIns="64291" tIns="32146" rIns="64291" bIns="32146" rtlCol="0">
            <a:noAutofit/>
          </a:bodyPr>
          <a:lstStyle/>
          <a:p>
            <a:pPr>
              <a:spcBef>
                <a:spcPts val="0"/>
              </a:spcBef>
            </a:pPr>
            <a:r>
              <a:rPr lang="en-US" sz="1600" dirty="0">
                <a:latin typeface="Arial" panose="020B0604020202020204"/>
                <a:cs typeface="Arial" panose="020B0604020202020204"/>
              </a:rPr>
              <a:t>…</a:t>
            </a:r>
          </a:p>
        </p:txBody>
      </p:sp>
      <p:sp>
        <p:nvSpPr>
          <p:cNvPr id="81" name="TextBox 80"/>
          <p:cNvSpPr txBox="1"/>
          <p:nvPr/>
        </p:nvSpPr>
        <p:spPr>
          <a:xfrm>
            <a:off x="3417094" y="6121095"/>
            <a:ext cx="670560" cy="309245"/>
          </a:xfrm>
          <a:prstGeom prst="rect">
            <a:avLst/>
          </a:prstGeom>
          <a:noFill/>
        </p:spPr>
        <p:txBody>
          <a:bodyPr wrap="none" lIns="64291" tIns="32146" rIns="64291" bIns="32146" rtlCol="0">
            <a:spAutoFit/>
          </a:bodyPr>
          <a:lstStyle/>
          <a:p>
            <a:pPr>
              <a:spcBef>
                <a:spcPts val="0"/>
              </a:spcBef>
            </a:pPr>
            <a:r>
              <a:rPr lang="en-US" sz="1600" b="1" dirty="0">
                <a:latin typeface="Arial" panose="020B0604020202020204"/>
                <a:cs typeface="Arial" panose="020B0604020202020204"/>
              </a:rPr>
              <a:t>Cycle</a:t>
            </a:r>
          </a:p>
        </p:txBody>
      </p:sp>
      <p:cxnSp>
        <p:nvCxnSpPr>
          <p:cNvPr id="82" name="Straight Arrow Connector 81"/>
          <p:cNvCxnSpPr/>
          <p:nvPr/>
        </p:nvCxnSpPr>
        <p:spPr>
          <a:xfrm>
            <a:off x="4810125" y="4084009"/>
            <a:ext cx="1607344" cy="1117"/>
          </a:xfrm>
          <a:prstGeom prst="straightConnector1">
            <a:avLst/>
          </a:prstGeom>
          <a:ln w="1905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a:off x="5399484" y="4619790"/>
            <a:ext cx="1607344" cy="1117"/>
          </a:xfrm>
          <a:prstGeom prst="straightConnector1">
            <a:avLst/>
          </a:prstGeom>
          <a:ln w="1905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84" name="Straight Arrow Connector 83"/>
          <p:cNvCxnSpPr/>
          <p:nvPr/>
        </p:nvCxnSpPr>
        <p:spPr>
          <a:xfrm>
            <a:off x="5988844" y="5209150"/>
            <a:ext cx="1607344" cy="1117"/>
          </a:xfrm>
          <a:prstGeom prst="straightConnector1">
            <a:avLst/>
          </a:prstGeom>
          <a:ln w="1905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p:nvPr/>
        </p:nvCxnSpPr>
        <p:spPr>
          <a:xfrm>
            <a:off x="6578203" y="5692469"/>
            <a:ext cx="1607344" cy="1117"/>
          </a:xfrm>
          <a:prstGeom prst="straightConnector1">
            <a:avLst/>
          </a:prstGeom>
          <a:ln w="1905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86" name="Straight Arrow Connector 85"/>
          <p:cNvCxnSpPr/>
          <p:nvPr/>
        </p:nvCxnSpPr>
        <p:spPr>
          <a:xfrm>
            <a:off x="7221141" y="4085126"/>
            <a:ext cx="1607344" cy="1117"/>
          </a:xfrm>
          <a:prstGeom prst="straightConnector1">
            <a:avLst/>
          </a:prstGeom>
          <a:ln w="1905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87" name="Straight Arrow Connector 86"/>
          <p:cNvCxnSpPr/>
          <p:nvPr/>
        </p:nvCxnSpPr>
        <p:spPr>
          <a:xfrm>
            <a:off x="7810500" y="4620907"/>
            <a:ext cx="1607344" cy="1117"/>
          </a:xfrm>
          <a:prstGeom prst="straightConnector1">
            <a:avLst/>
          </a:prstGeom>
          <a:ln w="1905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a:off x="8399859" y="5156688"/>
            <a:ext cx="1607344" cy="1117"/>
          </a:xfrm>
          <a:prstGeom prst="straightConnector1">
            <a:avLst/>
          </a:prstGeom>
          <a:ln w="190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89" name="Straight Arrow Connector 88"/>
          <p:cNvCxnSpPr/>
          <p:nvPr/>
        </p:nvCxnSpPr>
        <p:spPr>
          <a:xfrm>
            <a:off x="9042797" y="5691353"/>
            <a:ext cx="1339453" cy="1117"/>
          </a:xfrm>
          <a:prstGeom prst="straightConnector1">
            <a:avLst/>
          </a:prstGeom>
          <a:ln w="19050">
            <a:solidFill>
              <a:schemeClr val="tx1"/>
            </a:solidFill>
            <a:tailEnd type="none"/>
          </a:ln>
        </p:spPr>
        <p:style>
          <a:lnRef idx="2">
            <a:schemeClr val="accent1"/>
          </a:lnRef>
          <a:fillRef idx="0">
            <a:schemeClr val="accent1"/>
          </a:fillRef>
          <a:effectRef idx="1">
            <a:schemeClr val="accent1"/>
          </a:effectRef>
          <a:fontRef idx="minor">
            <a:schemeClr val="tx1"/>
          </a:fontRef>
        </p:style>
      </p:cxnSp>
      <p:grpSp>
        <p:nvGrpSpPr>
          <p:cNvPr id="90" name="Group 89"/>
          <p:cNvGrpSpPr/>
          <p:nvPr/>
        </p:nvGrpSpPr>
        <p:grpSpPr>
          <a:xfrm>
            <a:off x="2660000" y="3026508"/>
            <a:ext cx="1668180" cy="808446"/>
            <a:chOff x="1136000" y="3074579"/>
            <a:chExt cx="1668180" cy="808446"/>
          </a:xfrm>
        </p:grpSpPr>
        <p:sp>
          <p:nvSpPr>
            <p:cNvPr id="91" name="Right Brace 90"/>
            <p:cNvSpPr/>
            <p:nvPr/>
          </p:nvSpPr>
          <p:spPr>
            <a:xfrm>
              <a:off x="2366961" y="3293666"/>
              <a:ext cx="437219" cy="589359"/>
            </a:xfrm>
            <a:prstGeom prst="rightBrace">
              <a:avLst/>
            </a:prstGeom>
            <a:ln w="19050">
              <a:solidFill>
                <a:schemeClr val="tx1"/>
              </a:solidFill>
            </a:ln>
            <a:scene3d>
              <a:camera prst="orthographicFront">
                <a:rot lat="0" lon="0" rev="8100000"/>
              </a:camera>
              <a:lightRig rig="threePt" dir="t"/>
            </a:scene3d>
          </p:spPr>
          <p:style>
            <a:lnRef idx="2">
              <a:schemeClr val="accent1"/>
            </a:lnRef>
            <a:fillRef idx="0">
              <a:schemeClr val="accent1"/>
            </a:fillRef>
            <a:effectRef idx="1">
              <a:schemeClr val="accent1"/>
            </a:effectRef>
            <a:fontRef idx="minor">
              <a:schemeClr val="tx1"/>
            </a:fontRef>
          </p:style>
          <p:txBody>
            <a:bodyPr rtlCol="0" anchor="ctr"/>
            <a:lstStyle/>
            <a:p>
              <a:pPr algn="ctr">
                <a:spcBef>
                  <a:spcPts val="0"/>
                </a:spcBef>
              </a:pPr>
              <a:endParaRPr lang="en-US" sz="1400" dirty="0">
                <a:latin typeface="Arial" panose="020B0604020202020204"/>
                <a:cs typeface="Arial" panose="020B0604020202020204"/>
              </a:endParaRPr>
            </a:p>
          </p:txBody>
        </p:sp>
        <p:sp>
          <p:nvSpPr>
            <p:cNvPr id="92" name="TextBox 91"/>
            <p:cNvSpPr txBox="1"/>
            <p:nvPr/>
          </p:nvSpPr>
          <p:spPr>
            <a:xfrm>
              <a:off x="1136000" y="3074579"/>
              <a:ext cx="1230630" cy="737235"/>
            </a:xfrm>
            <a:prstGeom prst="rect">
              <a:avLst/>
            </a:prstGeom>
            <a:noFill/>
            <a:ln w="19050">
              <a:noFill/>
            </a:ln>
          </p:spPr>
          <p:txBody>
            <a:bodyPr wrap="none" rtlCol="0">
              <a:spAutoFit/>
            </a:bodyPr>
            <a:lstStyle/>
            <a:p>
              <a:pPr>
                <a:spcBef>
                  <a:spcPts val="0"/>
                </a:spcBef>
              </a:pPr>
              <a:r>
                <a:rPr lang="en-US" sz="1400" dirty="0">
                  <a:latin typeface="Arial" panose="020B0604020202020204"/>
                  <a:cs typeface="Arial" panose="020B0604020202020204"/>
                </a:rPr>
                <a:t>SIMD Width</a:t>
              </a:r>
            </a:p>
            <a:p>
              <a:pPr>
                <a:spcBef>
                  <a:spcPts val="0"/>
                </a:spcBef>
              </a:pPr>
              <a:r>
                <a:rPr lang="en-US" sz="1400" dirty="0">
                  <a:latin typeface="Arial" panose="020B0604020202020204"/>
                  <a:cs typeface="Arial" panose="020B0604020202020204"/>
                </a:rPr>
                <a:t>(16 in AMD)</a:t>
              </a:r>
            </a:p>
            <a:p>
              <a:pPr>
                <a:spcBef>
                  <a:spcPts val="0"/>
                </a:spcBef>
              </a:pPr>
              <a:r>
                <a:rPr lang="en-US" sz="1400" dirty="0">
                  <a:latin typeface="Arial" panose="020B0604020202020204"/>
                  <a:cs typeface="Arial" panose="020B0604020202020204"/>
                </a:rPr>
                <a:t>(8 in NVIDIA)</a:t>
              </a:r>
            </a:p>
          </p:txBody>
        </p:sp>
      </p:grpSp>
      <p:sp>
        <p:nvSpPr>
          <p:cNvPr id="93" name="文本框 92"/>
          <p:cNvSpPr txBox="1"/>
          <p:nvPr/>
        </p:nvSpPr>
        <p:spPr>
          <a:xfrm>
            <a:off x="1100455" y="4086225"/>
            <a:ext cx="1728000" cy="1322070"/>
          </a:xfrm>
          <a:prstGeom prst="rect">
            <a:avLst/>
          </a:prstGeom>
          <a:noFill/>
        </p:spPr>
        <p:txBody>
          <a:bodyPr wrap="square" rtlCol="0">
            <a:spAutoFit/>
          </a:bodyPr>
          <a:lstStyle/>
          <a:p>
            <a:r>
              <a:rPr lang="en-US" altLang="zh-CN" sz="1600"/>
              <a:t>AMD: Wavefront</a:t>
            </a:r>
          </a:p>
          <a:p>
            <a:r>
              <a:rPr lang="en-US" altLang="zh-CN" sz="1600"/>
              <a:t>(64 work-items)</a:t>
            </a:r>
          </a:p>
          <a:p>
            <a:endParaRPr lang="en-US" altLang="zh-CN" sz="1600"/>
          </a:p>
          <a:p>
            <a:r>
              <a:rPr lang="en-US" altLang="zh-CN" sz="1600"/>
              <a:t>NVIDIA: Warp</a:t>
            </a:r>
          </a:p>
          <a:p>
            <a:r>
              <a:rPr lang="en-US" altLang="zh-CN" sz="1600"/>
              <a:t>(32 threads)</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a:t>SIMD, SPMD, and SIMT (1/3)</a:t>
            </a:r>
          </a:p>
        </p:txBody>
      </p:sp>
      <p:sp>
        <p:nvSpPr>
          <p:cNvPr id="6" name="页脚占位符 5"/>
          <p:cNvSpPr>
            <a:spLocks noGrp="1"/>
          </p:cNvSpPr>
          <p:nvPr>
            <p:ph type="ftr" sz="quarter" idx="11"/>
          </p:nvPr>
        </p:nvSpPr>
        <p:spPr/>
        <p:txBody>
          <a:bodyPr/>
          <a:lstStyle/>
          <a:p>
            <a:r>
              <a:rPr lang="zh-CN" altLang="en-US" sz="1200" dirty="0"/>
              <a:t>https://www.intel.com/content/www/us/en/developer/articles/technical/accelerating-compute-intensive-workloads-with-intel-avx-512-using-microsoft-visual-studio.html</a:t>
            </a:r>
          </a:p>
        </p:txBody>
      </p:sp>
      <p:sp>
        <p:nvSpPr>
          <p:cNvPr id="5" name="灯片编号占位符 4"/>
          <p:cNvSpPr>
            <a:spLocks noGrp="1"/>
          </p:cNvSpPr>
          <p:nvPr>
            <p:ph type="sldNum" sz="quarter" idx="12"/>
          </p:nvPr>
        </p:nvSpPr>
        <p:spPr/>
        <p:txBody>
          <a:bodyPr/>
          <a:lstStyle/>
          <a:p>
            <a:fld id="{B33F7469-D28B-482F-B1B6-3B8E7CF51519}" type="slidenum">
              <a:rPr lang="zh-CN" altLang="en-US" smtClean="0"/>
              <a:t>29</a:t>
            </a:fld>
            <a:endParaRPr lang="zh-CN" altLang="en-US" dirty="0"/>
          </a:p>
        </p:txBody>
      </p:sp>
      <p:sp>
        <p:nvSpPr>
          <p:cNvPr id="8" name="内容占位符 7"/>
          <p:cNvSpPr>
            <a:spLocks noGrp="1"/>
          </p:cNvSpPr>
          <p:nvPr>
            <p:ph sz="quarter" idx="13"/>
          </p:nvPr>
        </p:nvSpPr>
        <p:spPr/>
        <p:txBody>
          <a:bodyPr>
            <a:normAutofit/>
          </a:bodyPr>
          <a:lstStyle/>
          <a:p>
            <a:r>
              <a:rPr lang="en-US" altLang="zh-CN"/>
              <a:t>SIMD is an architecture</a:t>
            </a:r>
          </a:p>
          <a:p>
            <a:pPr lvl="1"/>
            <a:r>
              <a:rPr lang="en-US" altLang="zh-CN"/>
              <a:t>A </a:t>
            </a:r>
            <a:r>
              <a:rPr lang="en-US" altLang="zh-CN">
                <a:solidFill>
                  <a:schemeClr val="accent6">
                    <a:lumMod val="75000"/>
                  </a:schemeClr>
                </a:solidFill>
              </a:rPr>
              <a:t>single sequential instruction stream</a:t>
            </a:r>
            <a:r>
              <a:rPr lang="en-US" altLang="zh-CN"/>
              <a:t> of SIMD instructions</a:t>
            </a:r>
          </a:p>
          <a:p>
            <a:pPr lvl="1"/>
            <a:r>
              <a:rPr lang="en-US" altLang="zh-CN"/>
              <a:t>For example, a matrix-vector multiplcation using AVX-512:</a:t>
            </a:r>
          </a:p>
          <a:p>
            <a:pPr lvl="1"/>
            <a:endParaRPr lang="en-US" altLang="zh-CN"/>
          </a:p>
          <a:p>
            <a:endParaRPr lang="en-US" altLang="zh-CN"/>
          </a:p>
        </p:txBody>
      </p:sp>
      <p:graphicFrame>
        <p:nvGraphicFramePr>
          <p:cNvPr id="10" name="表格 9"/>
          <p:cNvGraphicFramePr/>
          <p:nvPr/>
        </p:nvGraphicFramePr>
        <p:xfrm>
          <a:off x="1179830" y="2739390"/>
          <a:ext cx="8533765" cy="381000"/>
        </p:xfrm>
        <a:graphic>
          <a:graphicData uri="http://schemas.openxmlformats.org/drawingml/2006/table">
            <a:tbl>
              <a:tblPr firstRow="1" bandRow="1">
                <a:tableStyleId>{5C22544A-7EE6-4342-B048-85BDC9FD1C3A}</a:tableStyleId>
              </a:tblPr>
              <a:tblGrid>
                <a:gridCol w="6480000">
                  <a:extLst>
                    <a:ext uri="{9D8B030D-6E8A-4147-A177-3AD203B41FA5}">
                      <a16:colId xmlns:a16="http://schemas.microsoft.com/office/drawing/2014/main" val="20000"/>
                    </a:ext>
                  </a:extLst>
                </a:gridCol>
              </a:tblGrid>
              <a:tr h="381000">
                <a:tc>
                  <a:txBody>
                    <a:bodyPr/>
                    <a:lstStyle/>
                    <a:p>
                      <a:pPr>
                        <a:buNone/>
                      </a:pPr>
                      <a:r>
                        <a:rPr lang="zh-CN" altLang="en-US" sz="1600" b="0">
                          <a:solidFill>
                            <a:schemeClr val="tx1">
                              <a:lumMod val="85000"/>
                              <a:lumOff val="15000"/>
                            </a:schemeClr>
                          </a:solidFill>
                          <a:latin typeface="Courier New" panose="02070309020205020404" charset="0"/>
                          <a:cs typeface="Courier New" panose="02070309020205020404" charset="0"/>
                        </a:rPr>
                        <a:t>static float *outx16;</a:t>
                      </a:r>
                    </a:p>
                    <a:p>
                      <a:pPr>
                        <a:buNone/>
                      </a:pPr>
                      <a:r>
                        <a:rPr lang="zh-CN" altLang="en-US" sz="1600" b="0">
                          <a:solidFill>
                            <a:schemeClr val="tx1">
                              <a:lumMod val="85000"/>
                              <a:lumOff val="15000"/>
                            </a:schemeClr>
                          </a:solidFill>
                          <a:latin typeface="Courier New" panose="02070309020205020404" charset="0"/>
                          <a:cs typeface="Courier New" panose="02070309020205020404" charset="0"/>
                        </a:rPr>
                        <a:t>static float *avx512Multiply() {</a:t>
                      </a:r>
                    </a:p>
                    <a:p>
                      <a:pPr>
                        <a:buNone/>
                      </a:pPr>
                      <a:r>
                        <a:rPr lang="zh-CN" altLang="en-US" sz="1600" b="0">
                          <a:solidFill>
                            <a:schemeClr val="tx1">
                              <a:lumMod val="85000"/>
                              <a:lumOff val="15000"/>
                            </a:schemeClr>
                          </a:solidFill>
                          <a:latin typeface="Courier New" panose="02070309020205020404" charset="0"/>
                          <a:cs typeface="Courier New" panose="02070309020205020404" charset="0"/>
                        </a:rPr>
                        <a:t>  for (uint64_t i = 0; i &lt; row; i++) {</a:t>
                      </a:r>
                    </a:p>
                    <a:p>
                      <a:pPr>
                        <a:buNone/>
                      </a:pPr>
                      <a:r>
                        <a:rPr lang="zh-CN" altLang="en-US" sz="1600" b="0">
                          <a:solidFill>
                            <a:schemeClr val="tx1">
                              <a:lumMod val="85000"/>
                              <a:lumOff val="15000"/>
                            </a:schemeClr>
                          </a:solidFill>
                          <a:latin typeface="Courier New" panose="02070309020205020404" charset="0"/>
                          <a:cs typeface="Courier New" panose="02070309020205020404" charset="0"/>
                        </a:rPr>
                        <a:t>    __m512 sumx16 = _mm512_set1_ps(0.0);</a:t>
                      </a:r>
                    </a:p>
                    <a:p>
                      <a:pPr>
                        <a:buNone/>
                      </a:pPr>
                      <a:r>
                        <a:rPr lang="zh-CN" altLang="en-US" sz="1600" b="0">
                          <a:solidFill>
                            <a:schemeClr val="tx1">
                              <a:lumMod val="85000"/>
                              <a:lumOff val="15000"/>
                            </a:schemeClr>
                          </a:solidFill>
                          <a:latin typeface="Courier New" panose="02070309020205020404" charset="0"/>
                          <a:cs typeface="Courier New" panose="02070309020205020404" charset="0"/>
                        </a:rPr>
                        <a:t>    for (uint64_t j = 0; j &lt; col; j += 16) {</a:t>
                      </a:r>
                    </a:p>
                    <a:p>
                      <a:pPr>
                        <a:buNone/>
                      </a:pPr>
                      <a:r>
                        <a:rPr lang="zh-CN" altLang="en-US" sz="1600" b="0">
                          <a:solidFill>
                            <a:schemeClr val="tx1">
                              <a:lumMod val="85000"/>
                              <a:lumOff val="15000"/>
                            </a:schemeClr>
                          </a:solidFill>
                          <a:latin typeface="Courier New" panose="02070309020205020404" charset="0"/>
                          <a:cs typeface="Courier New" panose="02070309020205020404" charset="0"/>
                        </a:rPr>
                        <a:t>      __m512 a = _mm512_loadu_ps(&amp;(t1[i*col + j]));</a:t>
                      </a:r>
                    </a:p>
                    <a:p>
                      <a:pPr>
                        <a:buNone/>
                      </a:pPr>
                      <a:r>
                        <a:rPr lang="zh-CN" altLang="en-US" sz="1600" b="0">
                          <a:solidFill>
                            <a:schemeClr val="tx1">
                              <a:lumMod val="85000"/>
                              <a:lumOff val="15000"/>
                            </a:schemeClr>
                          </a:solidFill>
                          <a:latin typeface="Courier New" panose="02070309020205020404" charset="0"/>
                          <a:cs typeface="Courier New" panose="02070309020205020404" charset="0"/>
                        </a:rPr>
                        <a:t>      __m512 b = _mm512_loadu_ps(&amp;(t2[j]));</a:t>
                      </a:r>
                    </a:p>
                    <a:p>
                      <a:pPr>
                        <a:buNone/>
                      </a:pPr>
                      <a:r>
                        <a:rPr lang="zh-CN" altLang="en-US" sz="1600" b="0">
                          <a:solidFill>
                            <a:schemeClr val="tx1">
                              <a:lumMod val="85000"/>
                              <a:lumOff val="15000"/>
                            </a:schemeClr>
                          </a:solidFill>
                          <a:latin typeface="Courier New" panose="02070309020205020404" charset="0"/>
                          <a:cs typeface="Courier New" panose="02070309020205020404" charset="0"/>
                        </a:rPr>
                        <a:t>      sumx16 = _mm512_fmadd_ps(a, b, sumx16);</a:t>
                      </a:r>
                    </a:p>
                    <a:p>
                      <a:pPr>
                        <a:buNone/>
                      </a:pPr>
                      <a:r>
                        <a:rPr lang="zh-CN" altLang="en-US" sz="1600" b="0">
                          <a:solidFill>
                            <a:schemeClr val="tx1">
                              <a:lumMod val="85000"/>
                              <a:lumOff val="15000"/>
                            </a:schemeClr>
                          </a:solidFill>
                          <a:latin typeface="Courier New" panose="02070309020205020404" charset="0"/>
                          <a:cs typeface="Courier New" panose="02070309020205020404" charset="0"/>
                        </a:rPr>
                        <a:t>    }</a:t>
                      </a:r>
                    </a:p>
                    <a:p>
                      <a:pPr>
                        <a:buNone/>
                      </a:pPr>
                      <a:r>
                        <a:rPr lang="zh-CN" altLang="en-US" sz="1600" b="0">
                          <a:solidFill>
                            <a:schemeClr val="tx1">
                              <a:lumMod val="85000"/>
                              <a:lumOff val="15000"/>
                            </a:schemeClr>
                          </a:solidFill>
                          <a:latin typeface="Courier New" panose="02070309020205020404" charset="0"/>
                          <a:cs typeface="Courier New" panose="02070309020205020404" charset="0"/>
                        </a:rPr>
                        <a:t>    outx16[i] = _mm512_reduce_add_ps(sum</a:t>
                      </a:r>
                      <a:r>
                        <a:rPr lang="en-US" altLang="zh-CN" sz="1600" b="0">
                          <a:solidFill>
                            <a:schemeClr val="tx1">
                              <a:lumMod val="85000"/>
                              <a:lumOff val="15000"/>
                            </a:schemeClr>
                          </a:solidFill>
                          <a:latin typeface="Courier New" panose="02070309020205020404" charset="0"/>
                          <a:cs typeface="Courier New" panose="02070309020205020404" charset="0"/>
                        </a:rPr>
                        <a:t>x</a:t>
                      </a:r>
                      <a:r>
                        <a:rPr lang="zh-CN" altLang="en-US" sz="1600" b="0">
                          <a:solidFill>
                            <a:schemeClr val="tx1">
                              <a:lumMod val="85000"/>
                              <a:lumOff val="15000"/>
                            </a:schemeClr>
                          </a:solidFill>
                          <a:latin typeface="Courier New" panose="02070309020205020404" charset="0"/>
                          <a:cs typeface="Courier New" panose="02070309020205020404" charset="0"/>
                        </a:rPr>
                        <a:t>16);</a:t>
                      </a:r>
                    </a:p>
                    <a:p>
                      <a:pPr>
                        <a:buNone/>
                      </a:pPr>
                      <a:r>
                        <a:rPr lang="zh-CN" altLang="en-US" sz="1600" b="0">
                          <a:solidFill>
                            <a:schemeClr val="tx1">
                              <a:lumMod val="85000"/>
                              <a:lumOff val="15000"/>
                            </a:schemeClr>
                          </a:solidFill>
                          <a:latin typeface="Courier New" panose="02070309020205020404" charset="0"/>
                          <a:cs typeface="Courier New" panose="02070309020205020404" charset="0"/>
                        </a:rPr>
                        <a:t>  }</a:t>
                      </a:r>
                    </a:p>
                    <a:p>
                      <a:pPr>
                        <a:buNone/>
                      </a:pPr>
                      <a:r>
                        <a:rPr lang="zh-CN" altLang="en-US" sz="1600" b="0">
                          <a:solidFill>
                            <a:schemeClr val="tx1">
                              <a:lumMod val="85000"/>
                              <a:lumOff val="15000"/>
                            </a:schemeClr>
                          </a:solidFill>
                          <a:latin typeface="Courier New" panose="02070309020205020404" charset="0"/>
                          <a:cs typeface="Courier New" panose="02070309020205020404" charset="0"/>
                        </a:rPr>
                        <a:t>  return outx16;</a:t>
                      </a:r>
                    </a:p>
                    <a:p>
                      <a:pPr>
                        <a:buNone/>
                      </a:pPr>
                      <a:r>
                        <a:rPr lang="zh-CN" altLang="en-US" sz="1600" b="0">
                          <a:solidFill>
                            <a:schemeClr val="tx1">
                              <a:lumMod val="85000"/>
                              <a:lumOff val="15000"/>
                            </a:schemeClr>
                          </a:solidFill>
                          <a:latin typeface="Courier New" panose="02070309020205020404" charset="0"/>
                          <a:cs typeface="Courier New" panose="02070309020205020404" charset="0"/>
                        </a:rPr>
                        <a:t>}</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a:sym typeface="+mn-ea"/>
              </a:rPr>
              <a:t>SIMD, SPMD, and SIMT (2/3)</a:t>
            </a:r>
            <a:endParaRPr lang="en-US" altLang="zh-CN"/>
          </a:p>
        </p:txBody>
      </p:sp>
      <p:sp>
        <p:nvSpPr>
          <p:cNvPr id="6" name="页脚占位符 5"/>
          <p:cNvSpPr>
            <a:spLocks noGrp="1"/>
          </p:cNvSpPr>
          <p:nvPr>
            <p:ph type="ftr" sz="quarter" idx="11"/>
          </p:nvPr>
        </p:nvSpPr>
        <p:spPr/>
        <p:txBody>
          <a:bodyPr/>
          <a:lstStyle/>
          <a:p>
            <a:endParaRPr lang="zh-CN" altLang="en-US"/>
          </a:p>
        </p:txBody>
      </p:sp>
      <p:sp>
        <p:nvSpPr>
          <p:cNvPr id="2" name="灯片编号占位符 1"/>
          <p:cNvSpPr>
            <a:spLocks noGrp="1"/>
          </p:cNvSpPr>
          <p:nvPr>
            <p:ph type="sldNum" sz="quarter" idx="12"/>
          </p:nvPr>
        </p:nvSpPr>
        <p:spPr/>
        <p:txBody>
          <a:bodyPr/>
          <a:lstStyle/>
          <a:p>
            <a:fld id="{B33F7469-D28B-482F-B1B6-3B8E7CF51519}" type="slidenum">
              <a:rPr lang="zh-CN" altLang="en-US" smtClean="0"/>
              <a:t>30</a:t>
            </a:fld>
            <a:endParaRPr lang="zh-CN" altLang="en-US" dirty="0"/>
          </a:p>
        </p:txBody>
      </p:sp>
      <p:sp>
        <p:nvSpPr>
          <p:cNvPr id="8" name="内容占位符 7"/>
          <p:cNvSpPr>
            <a:spLocks noGrp="1"/>
          </p:cNvSpPr>
          <p:nvPr>
            <p:ph sz="quarter" idx="13"/>
          </p:nvPr>
        </p:nvSpPr>
        <p:spPr/>
        <p:txBody>
          <a:bodyPr/>
          <a:lstStyle/>
          <a:p>
            <a:r>
              <a:rPr lang="en-US" altLang="zh-CN"/>
              <a:t>SPMD is a programming paradigm</a:t>
            </a:r>
          </a:p>
          <a:p>
            <a:pPr lvl="1"/>
            <a:r>
              <a:rPr lang="en-US" altLang="zh-CN"/>
              <a:t>“programmers normally write a single program that runs on all processors of an MIMD computer, relying on conditional statements when different processors should execute different sections of code.”</a:t>
            </a:r>
          </a:p>
          <a:p>
            <a:pPr lvl="1"/>
            <a:r>
              <a:rPr lang="en-US" altLang="zh-CN">
                <a:solidFill>
                  <a:schemeClr val="bg1">
                    <a:lumMod val="65000"/>
                  </a:schemeClr>
                </a:solidFill>
              </a:rPr>
              <a:t>see Section 6.3 of Computer Organization and Design, Fifth Edition: The Hardware/Software interface by David A. Patterson, John L. Hennessy</a:t>
            </a: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a:sym typeface="+mn-ea"/>
              </a:rPr>
              <a:t>SIMD, SPMD, and SIMT (3/3)</a:t>
            </a:r>
            <a:endParaRPr lang="en-US" altLang="zh-CN"/>
          </a:p>
        </p:txBody>
      </p:sp>
      <p:sp>
        <p:nvSpPr>
          <p:cNvPr id="6" name="页脚占位符 5"/>
          <p:cNvSpPr>
            <a:spLocks noGrp="1"/>
          </p:cNvSpPr>
          <p:nvPr>
            <p:ph type="ftr" sz="quarter" idx="11"/>
          </p:nvPr>
        </p:nvSpPr>
        <p:spPr/>
        <p:txBody>
          <a:bodyPr/>
          <a:lstStyle/>
          <a:p>
            <a:pPr algn="l" rtl="0">
              <a:lnSpc>
                <a:spcPct val="100000"/>
              </a:lnSpc>
              <a:buClrTx/>
              <a:buSzTx/>
              <a:buFontTx/>
            </a:pPr>
            <a:r>
              <a:rPr lang="zh-CN" altLang="en-US" sz="1200" dirty="0">
                <a:sym typeface="+mn-ea"/>
              </a:rPr>
              <a:t>adapted from UW CSEP 590, Dr. Hari Sadasivan</a:t>
            </a:r>
            <a:endParaRPr lang="zh-CN" altLang="en-US" sz="1200" dirty="0"/>
          </a:p>
        </p:txBody>
      </p:sp>
      <p:sp>
        <p:nvSpPr>
          <p:cNvPr id="2" name="灯片编号占位符 1"/>
          <p:cNvSpPr>
            <a:spLocks noGrp="1"/>
          </p:cNvSpPr>
          <p:nvPr>
            <p:ph type="sldNum" sz="quarter" idx="12"/>
          </p:nvPr>
        </p:nvSpPr>
        <p:spPr/>
        <p:txBody>
          <a:bodyPr/>
          <a:lstStyle/>
          <a:p>
            <a:fld id="{B33F7469-D28B-482F-B1B6-3B8E7CF51519}" type="slidenum">
              <a:rPr lang="zh-CN" altLang="en-US" smtClean="0"/>
              <a:t>31</a:t>
            </a:fld>
            <a:endParaRPr lang="zh-CN" altLang="en-US" dirty="0"/>
          </a:p>
        </p:txBody>
      </p:sp>
      <p:sp>
        <p:nvSpPr>
          <p:cNvPr id="8" name="内容占位符 7"/>
          <p:cNvSpPr>
            <a:spLocks noGrp="1"/>
          </p:cNvSpPr>
          <p:nvPr>
            <p:ph sz="quarter" idx="13"/>
          </p:nvPr>
        </p:nvSpPr>
        <p:spPr/>
        <p:txBody>
          <a:bodyPr/>
          <a:lstStyle/>
          <a:p>
            <a:r>
              <a:rPr lang="en-US" altLang="zh-CN"/>
              <a:t>SIMT is both a programming model and an</a:t>
            </a:r>
            <a:r>
              <a:rPr lang="en-US" altLang="zh-CN">
                <a:sym typeface="+mn-ea"/>
              </a:rPr>
              <a:t> execution model</a:t>
            </a:r>
            <a:endParaRPr lang="en-US" altLang="zh-CN"/>
          </a:p>
          <a:p>
            <a:pPr lvl="1"/>
            <a:r>
              <a:rPr lang="en-US" altLang="zh-CN"/>
              <a:t>Multiple instruction streams of scalar instructions</a:t>
            </a:r>
          </a:p>
          <a:p>
            <a:pPr lvl="1"/>
            <a:r>
              <a:rPr lang="en-US" altLang="zh-CN"/>
              <a:t>Can treat each thread separately</a:t>
            </a:r>
          </a:p>
          <a:p>
            <a:pPr lvl="2"/>
            <a:r>
              <a:rPr lang="en-US" altLang="zh-CN"/>
              <a:t>i.e., can execute each thread  independently (on any type of scalar pipeline)</a:t>
            </a:r>
          </a:p>
          <a:p>
            <a:pPr lvl="2"/>
            <a:r>
              <a:rPr lang="en-US" altLang="zh-CN"/>
              <a:t>MIMD processing</a:t>
            </a:r>
          </a:p>
          <a:p>
            <a:pPr lvl="1"/>
            <a:r>
              <a:rPr lang="en-US" altLang="zh-CN"/>
              <a:t>Can group threads into warps flexibly</a:t>
            </a:r>
          </a:p>
          <a:p>
            <a:pPr lvl="2"/>
            <a:r>
              <a:rPr lang="en-US" altLang="zh-CN"/>
              <a:t>i.e., can group threads  that are supposed to truly execute the same instruction</a:t>
            </a:r>
          </a:p>
          <a:p>
            <a:pPr lvl="2"/>
            <a:r>
              <a:rPr lang="en-US" altLang="zh-CN"/>
              <a:t>dynamically obtain and maximize benefits of SIMD processing</a:t>
            </a:r>
          </a:p>
          <a:p>
            <a:pPr lvl="2"/>
            <a:r>
              <a:rPr lang="en-US" altLang="zh-CN"/>
              <a:t>For NVIDIA GPUs, </a:t>
            </a:r>
            <a:r>
              <a:rPr lang="en-US" altLang="zh-CN" b="1">
                <a:solidFill>
                  <a:schemeClr val="accent6">
                    <a:lumMod val="75000"/>
                  </a:schemeClr>
                </a:solidFill>
              </a:rPr>
              <a:t>warp</a:t>
            </a:r>
            <a:r>
              <a:rPr lang="en-US" altLang="zh-CN"/>
              <a:t> size = 32; For AMD GPUs, </a:t>
            </a:r>
            <a:r>
              <a:rPr lang="en-US" altLang="zh-CN" b="1">
                <a:solidFill>
                  <a:schemeClr val="accent6">
                    <a:lumMod val="75000"/>
                  </a:schemeClr>
                </a:solidFill>
              </a:rPr>
              <a:t>wavefront</a:t>
            </a:r>
            <a:r>
              <a:rPr lang="en-US" altLang="zh-CN"/>
              <a:t> size = 64</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SIMT: How to Express the Work of a Thread?</a:t>
            </a:r>
            <a:br>
              <a:rPr lang="en-US" altLang="zh-CN"/>
            </a:br>
            <a:r>
              <a:rPr lang="en-US" altLang="zh-CN" sz="2000"/>
              <a:t>(the </a:t>
            </a:r>
            <a:r>
              <a:rPr lang="en-US" altLang="zh-CN" sz="2000" b="1">
                <a:solidFill>
                  <a:schemeClr val="accent6">
                    <a:lumMod val="75000"/>
                  </a:schemeClr>
                </a:solidFill>
              </a:rPr>
              <a:t>Single Instruction</a:t>
            </a:r>
            <a:r>
              <a:rPr lang="en-US" altLang="zh-CN" sz="2000"/>
              <a:t> Stream in </a:t>
            </a:r>
            <a:r>
              <a:rPr lang="en-US" altLang="zh-CN" sz="2000" b="1">
                <a:solidFill>
                  <a:schemeClr val="accent6">
                    <a:lumMod val="75000"/>
                  </a:schemeClr>
                </a:solidFill>
              </a:rPr>
              <a:t>SI</a:t>
            </a:r>
            <a:r>
              <a:rPr lang="en-US" altLang="zh-CN" sz="2000"/>
              <a:t>MT)</a:t>
            </a:r>
          </a:p>
        </p:txBody>
      </p:sp>
      <p:sp>
        <p:nvSpPr>
          <p:cNvPr id="3" name="灯片编号占位符 2"/>
          <p:cNvSpPr>
            <a:spLocks noGrp="1"/>
          </p:cNvSpPr>
          <p:nvPr>
            <p:ph type="sldNum" sz="quarter" idx="12"/>
          </p:nvPr>
        </p:nvSpPr>
        <p:spPr/>
        <p:txBody>
          <a:bodyPr/>
          <a:lstStyle/>
          <a:p>
            <a:fld id="{B33F7469-D28B-482F-B1B6-3B8E7CF51519}" type="slidenum">
              <a:rPr lang="zh-CN" altLang="en-US" smtClean="0"/>
              <a:t>32</a:t>
            </a:fld>
            <a:endParaRPr lang="zh-CN" altLang="en-US" dirty="0"/>
          </a:p>
        </p:txBody>
      </p:sp>
      <p:sp>
        <p:nvSpPr>
          <p:cNvPr id="6" name="内容占位符 5"/>
          <p:cNvSpPr>
            <a:spLocks noGrp="1"/>
          </p:cNvSpPr>
          <p:nvPr>
            <p:ph sz="quarter" idx="13"/>
          </p:nvPr>
        </p:nvSpPr>
        <p:spPr/>
        <p:txBody>
          <a:bodyPr>
            <a:normAutofit fontScale="70000"/>
          </a:bodyPr>
          <a:lstStyle/>
          <a:p>
            <a:pPr marL="0" indent="0">
              <a:buNone/>
            </a:pPr>
            <a:endParaRPr/>
          </a:p>
          <a:p>
            <a:pPr marL="0" indent="0">
              <a:buNone/>
            </a:pPr>
            <a:r>
              <a:t>A simple embarrassingly parallel loop:</a:t>
            </a:r>
            <a:endParaRPr lang="en-US" altLang="en-US"/>
          </a:p>
          <a:p>
            <a:pPr marL="0" indent="0">
              <a:buNone/>
            </a:pPr>
            <a:r>
              <a:rPr sz="2000">
                <a:latin typeface="Courier New" panose="02070309020205020404" charset="0"/>
                <a:cs typeface="Courier New" panose="02070309020205020404" charset="0"/>
              </a:rPr>
              <a:t>for </a:t>
            </a:r>
            <a:r>
              <a:rPr lang="en-US" sz="2000">
                <a:latin typeface="Courier New" panose="02070309020205020404" charset="0"/>
                <a:cs typeface="Courier New" panose="02070309020205020404" charset="0"/>
              </a:rPr>
              <a:t>(</a:t>
            </a:r>
            <a:r>
              <a:rPr sz="2000">
                <a:latin typeface="Courier New" panose="02070309020205020404" charset="0"/>
                <a:cs typeface="Courier New" panose="02070309020205020404" charset="0"/>
              </a:rPr>
              <a:t>int i= 0;</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i&lt;N;</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i++)</a:t>
            </a:r>
            <a:endParaRPr lang="en-US" altLang="en-US" sz="2000">
              <a:latin typeface="Courier New" panose="02070309020205020404" charset="0"/>
              <a:cs typeface="Courier New" panose="02070309020205020404" charset="0"/>
            </a:endParaRPr>
          </a:p>
          <a:p>
            <a:pPr marL="0" indent="0">
              <a:buNone/>
            </a:pP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h_a[i]</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2.0;</a:t>
            </a:r>
            <a:endParaRPr lang="en-US" altLang="en-US" sz="2000">
              <a:latin typeface="Courier New" panose="02070309020205020404" charset="0"/>
              <a:cs typeface="Courier New" panose="02070309020205020404" charset="0"/>
            </a:endParaRPr>
          </a:p>
          <a:p>
            <a:pPr marL="0" indent="0">
              <a:buNone/>
            </a:pPr>
            <a:endParaRPr lang="en-US" altLang="en-US" sz="2000">
              <a:latin typeface="Courier New" panose="02070309020205020404" charset="0"/>
              <a:cs typeface="Courier New" panose="02070309020205020404" charset="0"/>
            </a:endParaRPr>
          </a:p>
          <a:p>
            <a:pPr marL="0" indent="0">
              <a:buNone/>
            </a:pPr>
            <a:r>
              <a:t>Can be translated into a GPU kernel:</a:t>
            </a:r>
            <a:endParaRPr lang="en-US" altLang="en-US"/>
          </a:p>
          <a:p>
            <a:pPr marL="0" indent="0">
              <a:buNone/>
            </a:pPr>
            <a:r>
              <a:rPr lang="en-US" sz="2000" b="1">
                <a:solidFill>
                  <a:srgbClr val="C00000"/>
                </a:solidFill>
                <a:latin typeface="Courier New" panose="02070309020205020404" charset="0"/>
                <a:cs typeface="Courier New" panose="02070309020205020404" charset="0"/>
              </a:rPr>
              <a:t>__</a:t>
            </a:r>
            <a:r>
              <a:rPr sz="2000" b="1">
                <a:solidFill>
                  <a:srgbClr val="C00000"/>
                </a:solidFill>
                <a:latin typeface="Courier New" panose="02070309020205020404" charset="0"/>
                <a:cs typeface="Courier New" panose="02070309020205020404" charset="0"/>
              </a:rPr>
              <a:t>global</a:t>
            </a:r>
            <a:r>
              <a:rPr lang="en-US" sz="2000" b="1">
                <a:solidFill>
                  <a:srgbClr val="C00000"/>
                </a:solidFill>
                <a:latin typeface="Courier New" panose="02070309020205020404" charset="0"/>
                <a:cs typeface="Courier New" panose="02070309020205020404" charset="0"/>
              </a:rPr>
              <a:t>__</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void myKernel(int N,</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double *d_a)</a:t>
            </a:r>
            <a:r>
              <a:rPr lang="en-US" sz="2000">
                <a:latin typeface="Courier New" panose="02070309020205020404" charset="0"/>
                <a:cs typeface="Courier New" panose="02070309020205020404" charset="0"/>
              </a:rPr>
              <a:t> </a:t>
            </a:r>
            <a:r>
              <a:rPr lang="en-US" altLang="en-US" sz="2000">
                <a:latin typeface="Courier New" panose="02070309020205020404" charset="0"/>
                <a:cs typeface="Courier New" panose="02070309020205020404" charset="0"/>
              </a:rPr>
              <a:t>{</a:t>
            </a:r>
          </a:p>
          <a:p>
            <a:pPr marL="0" indent="0">
              <a:buNone/>
            </a:pP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int i =</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threadldx.x</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blockldx.x</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blockDim.x; </a:t>
            </a:r>
            <a:endParaRPr lang="en-US" sz="2000">
              <a:latin typeface="Courier New" panose="02070309020205020404" charset="0"/>
              <a:cs typeface="Courier New" panose="02070309020205020404" charset="0"/>
            </a:endParaRPr>
          </a:p>
          <a:p>
            <a:pPr marL="0" indent="0">
              <a:buNone/>
            </a:pP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if (i&lt;N)</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d_a[i]</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2.0;</a:t>
            </a:r>
          </a:p>
          <a:p>
            <a:pPr marL="0" indent="0">
              <a:buNone/>
            </a:pPr>
            <a:r>
              <a:rPr lang="en-US" altLang="en-US" sz="2000">
                <a:latin typeface="Courier New" panose="02070309020205020404" charset="0"/>
                <a:cs typeface="Courier New" panose="02070309020205020404" charset="0"/>
              </a:rPr>
              <a:t>}</a:t>
            </a:r>
          </a:p>
        </p:txBody>
      </p:sp>
      <p:sp>
        <p:nvSpPr>
          <p:cNvPr id="4" name="页脚占位符 3"/>
          <p:cNvSpPr>
            <a:spLocks noGrp="1"/>
          </p:cNvSpPr>
          <p:nvPr>
            <p:ph type="ftr" sz="quarter" idx="11"/>
          </p:nvPr>
        </p:nvSpPr>
        <p:spPr/>
        <p:txBody>
          <a:bodyPr/>
          <a:lstStyle/>
          <a:p>
            <a:pPr algn="l" rtl="0">
              <a:lnSpc>
                <a:spcPct val="100000"/>
              </a:lnSpc>
              <a:buClrTx/>
              <a:buSzTx/>
              <a:buFontTx/>
            </a:pPr>
            <a:r>
              <a:rPr lang="zh-CN" altLang="en-US" dirty="0">
                <a:sym typeface="+mn-ea"/>
              </a:rPr>
              <a:t>adapted from UW CSEP 590, Dr. Hari Sadasivan</a:t>
            </a:r>
            <a:endParaRPr lang="zh-CN" altLang="en-US"/>
          </a:p>
        </p:txBody>
      </p:sp>
      <p:sp>
        <p:nvSpPr>
          <p:cNvPr id="7" name="内容占位符 6"/>
          <p:cNvSpPr>
            <a:spLocks noGrp="1"/>
          </p:cNvSpPr>
          <p:nvPr>
            <p:ph sz="quarter" idx="14"/>
          </p:nvPr>
        </p:nvSpPr>
        <p:spPr/>
        <p:txBody>
          <a:bodyPr>
            <a:normAutofit fontScale="80000"/>
          </a:bodyPr>
          <a:lstStyle/>
          <a:p>
            <a:r>
              <a:t>A device function that will be  launched from the host</a:t>
            </a:r>
            <a:r>
              <a:rPr lang="en-US"/>
              <a:t> </a:t>
            </a:r>
            <a:r>
              <a:t>program is called a kernel &amp;</a:t>
            </a:r>
            <a:r>
              <a:rPr lang="en-US"/>
              <a:t> </a:t>
            </a:r>
            <a:r>
              <a:t>is</a:t>
            </a:r>
            <a:r>
              <a:rPr lang="en-US"/>
              <a:t> </a:t>
            </a:r>
            <a:r>
              <a:t>declared with the</a:t>
            </a:r>
            <a:r>
              <a:rPr lang="en-US"/>
              <a:t> </a:t>
            </a:r>
            <a:r>
              <a:rPr lang="en-US">
                <a:solidFill>
                  <a:srgbClr val="C00000"/>
                </a:solidFill>
              </a:rPr>
              <a:t>__</a:t>
            </a:r>
            <a:r>
              <a:rPr>
                <a:solidFill>
                  <a:srgbClr val="C00000"/>
                </a:solidFill>
              </a:rPr>
              <a:t>global</a:t>
            </a:r>
            <a:r>
              <a:rPr lang="en-US">
                <a:solidFill>
                  <a:srgbClr val="C00000"/>
                </a:solidFill>
              </a:rPr>
              <a:t>__</a:t>
            </a:r>
            <a:r>
              <a:rPr lang="en-US"/>
              <a:t> </a:t>
            </a:r>
            <a:r>
              <a:t>attribute</a:t>
            </a:r>
            <a:endParaRPr lang="en-US" altLang="en-US"/>
          </a:p>
          <a:p>
            <a:r>
              <a:t>Kernels should be declared void</a:t>
            </a:r>
          </a:p>
          <a:p>
            <a:r>
              <a:t>All pointers passed to kernels  must point to memory on the</a:t>
            </a:r>
            <a:r>
              <a:rPr lang="en-US"/>
              <a:t> </a:t>
            </a:r>
            <a:r>
              <a:t>device</a:t>
            </a:r>
            <a:endParaRPr lang="en-US" altLang="en-US"/>
          </a:p>
          <a:p>
            <a:r>
              <a:t>All threads execute the kernel's  body “simultaneously”</a:t>
            </a:r>
            <a:endParaRPr lang="en-US"/>
          </a:p>
          <a:p>
            <a:r>
              <a:t>Each thread uses its unique thread and block IDs to</a:t>
            </a:r>
            <a:r>
              <a:rPr lang="en-US"/>
              <a:t> </a:t>
            </a:r>
            <a:r>
              <a:t>compute a global ID</a:t>
            </a:r>
            <a:endParaRPr lang="en-US" altLang="en-US"/>
          </a:p>
          <a:p>
            <a:r>
              <a:t>There could be more than N threads in the grid</a:t>
            </a:r>
            <a:endParaRPr lang="en-US" altLang="en-US"/>
          </a:p>
          <a:p>
            <a:endParaRPr lang="en-US" altLang="en-US"/>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SIMT: How to Express the Thread Structure?</a:t>
            </a:r>
            <a:br>
              <a:rPr lang="en-US" altLang="zh-CN"/>
            </a:br>
            <a:r>
              <a:rPr lang="en-US" altLang="zh-CN" sz="2000">
                <a:sym typeface="+mn-ea"/>
              </a:rPr>
              <a:t>(The Grid: </a:t>
            </a:r>
            <a:r>
              <a:rPr lang="en-US" altLang="zh-CN" sz="2000" b="1">
                <a:solidFill>
                  <a:schemeClr val="accent6">
                    <a:lumMod val="75000"/>
                  </a:schemeClr>
                </a:solidFill>
                <a:sym typeface="+mn-ea"/>
              </a:rPr>
              <a:t>Multi-threading</a:t>
            </a:r>
            <a:r>
              <a:rPr lang="en-US" altLang="zh-CN" sz="2000">
                <a:sym typeface="+mn-ea"/>
              </a:rPr>
              <a:t> in SI</a:t>
            </a:r>
            <a:r>
              <a:rPr lang="en-US" altLang="zh-CN" sz="2000" b="1">
                <a:solidFill>
                  <a:schemeClr val="accent6">
                    <a:lumMod val="75000"/>
                  </a:schemeClr>
                </a:solidFill>
                <a:sym typeface="+mn-ea"/>
              </a:rPr>
              <a:t>MT</a:t>
            </a:r>
            <a:r>
              <a:rPr lang="en-US" altLang="zh-CN" sz="2000">
                <a:sym typeface="+mn-ea"/>
              </a:rPr>
              <a:t>)</a:t>
            </a:r>
          </a:p>
        </p:txBody>
      </p:sp>
      <p:sp>
        <p:nvSpPr>
          <p:cNvPr id="4" name="页脚占位符 3"/>
          <p:cNvSpPr>
            <a:spLocks noGrp="1"/>
          </p:cNvSpPr>
          <p:nvPr>
            <p:ph type="ftr" sz="quarter" idx="11"/>
          </p:nvPr>
        </p:nvSpPr>
        <p:spPr/>
        <p:txBody>
          <a:bodyPr/>
          <a:lstStyle/>
          <a:p>
            <a:pPr algn="l" rtl="0">
              <a:lnSpc>
                <a:spcPct val="100000"/>
              </a:lnSpc>
              <a:buClrTx/>
              <a:buSzTx/>
              <a:buFontTx/>
            </a:pPr>
            <a:endParaRPr lang="zh-CN" altLang="en-US"/>
          </a:p>
        </p:txBody>
      </p:sp>
      <p:sp>
        <p:nvSpPr>
          <p:cNvPr id="6" name="灯片编号占位符 5"/>
          <p:cNvSpPr>
            <a:spLocks noGrp="1"/>
          </p:cNvSpPr>
          <p:nvPr>
            <p:ph type="sldNum" sz="quarter" idx="12"/>
          </p:nvPr>
        </p:nvSpPr>
        <p:spPr/>
        <p:txBody>
          <a:bodyPr/>
          <a:lstStyle/>
          <a:p>
            <a:fld id="{B33F7469-D28B-482F-B1B6-3B8E7CF51519}" type="slidenum">
              <a:rPr lang="zh-CN" altLang="en-US" smtClean="0"/>
              <a:t>33</a:t>
            </a:fld>
            <a:endParaRPr lang="zh-CN" altLang="en-US" dirty="0"/>
          </a:p>
        </p:txBody>
      </p:sp>
      <p:sp>
        <p:nvSpPr>
          <p:cNvPr id="3" name="内容占位符 2"/>
          <p:cNvSpPr>
            <a:spLocks noGrp="1"/>
          </p:cNvSpPr>
          <p:nvPr>
            <p:ph sz="quarter" idx="13"/>
          </p:nvPr>
        </p:nvSpPr>
        <p:spPr/>
        <p:txBody>
          <a:bodyPr>
            <a:normAutofit/>
          </a:bodyPr>
          <a:lstStyle/>
          <a:p>
            <a:pPr marL="0" indent="0">
              <a:buNone/>
            </a:pPr>
            <a:r>
              <a:rPr sz="2500"/>
              <a:t>Kernels are launched from the host:</a:t>
            </a:r>
            <a:endParaRPr lang="en-US" altLang="en-US" sz="2500"/>
          </a:p>
          <a:p>
            <a:pPr marL="0" indent="0">
              <a:buNone/>
            </a:pPr>
            <a:r>
              <a:rPr sz="2000">
                <a:latin typeface="Courier New" panose="02070309020205020404" charset="0"/>
                <a:cs typeface="Courier New" panose="02070309020205020404" charset="0"/>
              </a:rPr>
              <a:t>dim3 threads(256,1,1);          </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3D dimensions of a block of threads</a:t>
            </a:r>
          </a:p>
          <a:p>
            <a:pPr marL="0" indent="0">
              <a:buNone/>
            </a:pPr>
            <a:r>
              <a:rPr sz="2000">
                <a:latin typeface="Courier New" panose="02070309020205020404" charset="0"/>
                <a:cs typeface="Courier New" panose="02070309020205020404" charset="0"/>
              </a:rPr>
              <a:t>dim3 blocks((N+256-1)/256,1,1);</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a:t>
            </a:r>
            <a:r>
              <a:rPr lang="en-US" sz="2000">
                <a:latin typeface="Courier New" panose="02070309020205020404" charset="0"/>
                <a:cs typeface="Courier New" panose="02070309020205020404" charset="0"/>
              </a:rPr>
              <a:t> </a:t>
            </a:r>
            <a:r>
              <a:rPr sz="2000">
                <a:latin typeface="Courier New" panose="02070309020205020404" charset="0"/>
                <a:cs typeface="Courier New" panose="02070309020205020404" charset="0"/>
              </a:rPr>
              <a:t>3D dimensions the grid of blocks</a:t>
            </a:r>
            <a:endParaRPr lang="en-US" altLang="en-US" sz="2000">
              <a:latin typeface="Courier New" panose="02070309020205020404" charset="0"/>
              <a:cs typeface="Courier New" panose="02070309020205020404" charset="0"/>
            </a:endParaRPr>
          </a:p>
          <a:p>
            <a:pPr marL="0" indent="0">
              <a:buNone/>
            </a:pPr>
            <a:r>
              <a:rPr sz="2000">
                <a:latin typeface="Courier New" panose="02070309020205020404" charset="0"/>
                <a:cs typeface="Courier New" panose="02070309020205020404" charset="0"/>
                <a:sym typeface="+mn-ea"/>
              </a:rPr>
              <a:t>myKernel&lt;&lt;&lt;blocks,threads,0,</a:t>
            </a:r>
            <a:r>
              <a:rPr lang="en-US" sz="2000">
                <a:latin typeface="Courier New" panose="02070309020205020404" charset="0"/>
                <a:cs typeface="Courier New" panose="02070309020205020404" charset="0"/>
                <a:sym typeface="+mn-ea"/>
              </a:rPr>
              <a:t>0</a:t>
            </a:r>
            <a:r>
              <a:rPr sz="2000">
                <a:latin typeface="Courier New" panose="02070309020205020404" charset="0"/>
                <a:cs typeface="Courier New" panose="02070309020205020404" charset="0"/>
                <a:sym typeface="+mn-ea"/>
              </a:rPr>
              <a:t>&gt;&gt;&gt;(N,a);</a:t>
            </a:r>
            <a:endParaRPr lang="en-US" altLang="en-US" sz="2000">
              <a:latin typeface="Courier New" panose="02070309020205020404" charset="0"/>
              <a:cs typeface="Courier New" panose="02070309020205020404" charset="0"/>
            </a:endParaRPr>
          </a:p>
          <a:p>
            <a:pPr marL="0" indent="0">
              <a:buNone/>
            </a:pPr>
            <a:endParaRPr lang="en-US" altLang="en-US" sz="2000">
              <a:latin typeface="Courier New" panose="02070309020205020404" charset="0"/>
              <a:cs typeface="Courier New" panose="02070309020205020404" charset="0"/>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x-none"/>
              <a:t>Optimizations</a:t>
            </a:r>
          </a:p>
        </p:txBody>
      </p:sp>
      <p:sp>
        <p:nvSpPr>
          <p:cNvPr id="4" name="页脚占位符 3"/>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33F7469-D28B-482F-B1B6-3B8E7CF51519}" type="slidenum">
              <a:rPr lang="zh-CN" altLang="en-US" smtClean="0"/>
              <a:t>34</a:t>
            </a:fld>
            <a:endParaRPr lang="zh-CN" altLang="en-US" dirty="0"/>
          </a:p>
        </p:txBody>
      </p:sp>
      <p:sp>
        <p:nvSpPr>
          <p:cNvPr id="3" name="内容占位符 2"/>
          <p:cNvSpPr>
            <a:spLocks noGrp="1"/>
          </p:cNvSpPr>
          <p:nvPr>
            <p:ph sz="quarter" idx="13"/>
          </p:nvPr>
        </p:nvSpPr>
        <p:spPr/>
        <p:txBody>
          <a:bodyPr/>
          <a:lstStyle/>
          <a:p>
            <a:r>
              <a:rPr lang="en-US" altLang="zh-CN" b="1">
                <a:solidFill>
                  <a:schemeClr val="accent6">
                    <a:lumMod val="75000"/>
                  </a:schemeClr>
                </a:solidFill>
              </a:rPr>
              <a:t>Resource</a:t>
            </a:r>
            <a:r>
              <a:rPr lang="en-US" altLang="zh-CN"/>
              <a:t>-aware optimizations</a:t>
            </a:r>
          </a:p>
          <a:p>
            <a:pPr lvl="1"/>
            <a:r>
              <a:rPr lang="en-US" altLang="zh-CN"/>
              <a:t>resouces: SM, registers, shared memory, memory bandwidth</a:t>
            </a:r>
          </a:p>
          <a:p>
            <a:pPr lvl="0"/>
            <a:r>
              <a:rPr lang="en-US" altLang="zh-CN"/>
              <a:t>How? (a incomplete list)</a:t>
            </a:r>
          </a:p>
          <a:p>
            <a:pPr lvl="1"/>
            <a:r>
              <a:rPr lang="en-US" altLang="zh-CN"/>
              <a:t>choose an “optimal” block size, to maximize active warps</a:t>
            </a:r>
          </a:p>
          <a:p>
            <a:pPr lvl="2"/>
            <a:r>
              <a:rPr lang="en-US" altLang="zh-CN"/>
              <a:t>improve the utilization of memory bandwidth</a:t>
            </a:r>
            <a:r>
              <a:rPr lang="en-US" altLang="zh-CN">
                <a:sym typeface="+mn-ea"/>
              </a:rPr>
              <a:t>    →</a:t>
            </a:r>
            <a:endParaRPr lang="en-US" altLang="zh-CN"/>
          </a:p>
          <a:p>
            <a:pPr lvl="1"/>
            <a:r>
              <a:rPr lang="en-US" altLang="zh-CN"/>
              <a:t>after partitioning, map the (task, data) to a suitable thread id</a:t>
            </a:r>
          </a:p>
          <a:p>
            <a:pPr lvl="2"/>
            <a:r>
              <a:rPr lang="en-US" altLang="zh-CN"/>
              <a:t>avoid control divergence</a:t>
            </a:r>
          </a:p>
          <a:p>
            <a:pPr lvl="2"/>
            <a:r>
              <a:rPr lang="en-US" altLang="zh-CN"/>
              <a:t>coalese global memory access</a:t>
            </a:r>
          </a:p>
          <a:p>
            <a:pPr lvl="2"/>
            <a:r>
              <a:rPr lang="en-US" altLang="zh-CN"/>
              <a:t>avoid shared memory bank conflicts</a:t>
            </a:r>
          </a:p>
          <a:p>
            <a:r>
              <a:rPr lang="en-US" altLang="zh-CN"/>
              <a:t>Performance analysis tools</a:t>
            </a:r>
          </a:p>
        </p:txBody>
      </p:sp>
      <p:pic>
        <p:nvPicPr>
          <p:cNvPr id="6" name="图片 5"/>
          <p:cNvPicPr>
            <a:picLocks noChangeAspect="1"/>
          </p:cNvPicPr>
          <p:nvPr/>
        </p:nvPicPr>
        <p:blipFill>
          <a:blip r:embed="rId2"/>
          <a:stretch>
            <a:fillRect/>
          </a:stretch>
        </p:blipFill>
        <p:spPr>
          <a:xfrm>
            <a:off x="7481570" y="2277110"/>
            <a:ext cx="4320000" cy="2302851"/>
          </a:xfrm>
          <a:prstGeom prst="rect">
            <a:avLst/>
          </a:prstGeom>
        </p:spPr>
      </p:pic>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Coalescing Memory Accesses: Example</a:t>
            </a:r>
          </a:p>
        </p:txBody>
      </p:sp>
      <p:sp>
        <p:nvSpPr>
          <p:cNvPr id="6" name="灯片编号占位符 5"/>
          <p:cNvSpPr>
            <a:spLocks noGrp="1"/>
          </p:cNvSpPr>
          <p:nvPr>
            <p:ph type="sldNum" sz="quarter" idx="12"/>
          </p:nvPr>
        </p:nvSpPr>
        <p:spPr/>
        <p:txBody>
          <a:bodyPr/>
          <a:lstStyle/>
          <a:p>
            <a:fld id="{B33F7469-D28B-482F-B1B6-3B8E7CF51519}" type="slidenum">
              <a:rPr lang="zh-CN" altLang="en-US" smtClean="0"/>
              <a:t>35</a:t>
            </a:fld>
            <a:endParaRPr lang="zh-CN" altLang="en-US" dirty="0"/>
          </a:p>
        </p:txBody>
      </p:sp>
      <p:sp>
        <p:nvSpPr>
          <p:cNvPr id="3" name="Content Placeholder 2"/>
          <p:cNvSpPr>
            <a:spLocks noGrp="1"/>
          </p:cNvSpPr>
          <p:nvPr>
            <p:ph sz="quarter" idx="13"/>
          </p:nvPr>
        </p:nvSpPr>
        <p:spPr/>
        <p:txBody>
          <a:bodyPr/>
          <a:lstStyle/>
          <a:p>
            <a:pPr lvl="1"/>
            <a:r>
              <a:rPr lang="en-US"/>
              <a:t>Array X is a pointer to an array of integers (4-bytes each) located at address 0x00001232</a:t>
            </a:r>
          </a:p>
          <a:p>
            <a:pPr lvl="1"/>
            <a:endParaRPr lang="en-US"/>
          </a:p>
          <a:p>
            <a:pPr lvl="1"/>
            <a:endParaRPr lang="en-US"/>
          </a:p>
          <a:p>
            <a:pPr lvl="1"/>
            <a:endParaRPr lang="en-US"/>
          </a:p>
          <a:p>
            <a:pPr lvl="1"/>
            <a:endParaRPr lang="en-US"/>
          </a:p>
          <a:p>
            <a:pPr lvl="1"/>
            <a:endParaRPr lang="en-US"/>
          </a:p>
          <a:p>
            <a:pPr lvl="1"/>
            <a:endParaRPr lang="en-US"/>
          </a:p>
          <a:p>
            <a:pPr lvl="1"/>
            <a:endParaRPr lang="en-US"/>
          </a:p>
          <a:p>
            <a:pPr lvl="1"/>
            <a:r>
              <a:rPr lang="en-US"/>
              <a:t>A thread wants to access the data at X[0]</a:t>
            </a:r>
          </a:p>
          <a:p>
            <a:pPr lvl="2"/>
            <a:r>
              <a:rPr lang="en-US"/>
              <a:t>int tmp = X[0];</a:t>
            </a:r>
          </a:p>
        </p:txBody>
      </p:sp>
      <p:sp>
        <p:nvSpPr>
          <p:cNvPr id="4" name="Rectangle 3"/>
          <p:cNvSpPr/>
          <p:nvPr/>
        </p:nvSpPr>
        <p:spPr>
          <a:xfrm>
            <a:off x="2948200" y="2844278"/>
            <a:ext cx="1625600" cy="304800"/>
          </a:xfrm>
          <a:prstGeom prst="rect">
            <a:avLst/>
          </a:prstGeom>
          <a:ln w="127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0x00001232</a:t>
            </a:r>
          </a:p>
        </p:txBody>
      </p:sp>
      <p:sp>
        <p:nvSpPr>
          <p:cNvPr id="5" name="TextBox 4"/>
          <p:cNvSpPr txBox="1"/>
          <p:nvPr/>
        </p:nvSpPr>
        <p:spPr>
          <a:xfrm>
            <a:off x="2618000" y="2806178"/>
            <a:ext cx="289560" cy="306705"/>
          </a:xfrm>
          <a:prstGeom prst="rect">
            <a:avLst/>
          </a:prstGeom>
          <a:noFill/>
        </p:spPr>
        <p:txBody>
          <a:bodyPr wrap="none" rtlCol="0">
            <a:spAutoFit/>
          </a:bodyPr>
          <a:lstStyle/>
          <a:p>
            <a:r>
              <a:rPr lang="en-US" sz="1400" dirty="0">
                <a:latin typeface="Courier" panose="02060409020205020404"/>
                <a:cs typeface="Courier" panose="02060409020205020404"/>
              </a:rPr>
              <a:t>X</a:t>
            </a:r>
          </a:p>
        </p:txBody>
      </p:sp>
      <p:cxnSp>
        <p:nvCxnSpPr>
          <p:cNvPr id="7" name="Straight Arrow Connector 6"/>
          <p:cNvCxnSpPr>
            <a:stCxn id="4" idx="3"/>
          </p:cNvCxnSpPr>
          <p:nvPr/>
        </p:nvCxnSpPr>
        <p:spPr>
          <a:xfrm flipV="1">
            <a:off x="4573800" y="2313104"/>
            <a:ext cx="2243086" cy="68357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816886" y="2175822"/>
            <a:ext cx="1625600" cy="304800"/>
          </a:xfrm>
          <a:prstGeom prst="rect">
            <a:avLst/>
          </a:prstGeom>
          <a:ln w="127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0</a:t>
            </a:r>
          </a:p>
        </p:txBody>
      </p:sp>
      <p:sp>
        <p:nvSpPr>
          <p:cNvPr id="14" name="Rectangle 13"/>
          <p:cNvSpPr/>
          <p:nvPr/>
        </p:nvSpPr>
        <p:spPr>
          <a:xfrm>
            <a:off x="6816886" y="2486260"/>
            <a:ext cx="1625600" cy="304800"/>
          </a:xfrm>
          <a:prstGeom prst="rect">
            <a:avLst/>
          </a:prstGeom>
          <a:ln w="127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1</a:t>
            </a:r>
          </a:p>
        </p:txBody>
      </p:sp>
      <p:sp>
        <p:nvSpPr>
          <p:cNvPr id="15" name="Rectangle 14"/>
          <p:cNvSpPr/>
          <p:nvPr/>
        </p:nvSpPr>
        <p:spPr>
          <a:xfrm>
            <a:off x="6816886" y="2790688"/>
            <a:ext cx="1625600" cy="304800"/>
          </a:xfrm>
          <a:prstGeom prst="rect">
            <a:avLst/>
          </a:prstGeom>
          <a:ln w="127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2</a:t>
            </a:r>
          </a:p>
        </p:txBody>
      </p:sp>
      <p:sp>
        <p:nvSpPr>
          <p:cNvPr id="16" name="Rectangle 15"/>
          <p:cNvSpPr/>
          <p:nvPr/>
        </p:nvSpPr>
        <p:spPr>
          <a:xfrm>
            <a:off x="6816886" y="3100754"/>
            <a:ext cx="1625600" cy="304800"/>
          </a:xfrm>
          <a:prstGeom prst="rect">
            <a:avLst/>
          </a:prstGeom>
          <a:ln w="127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3</a:t>
            </a:r>
          </a:p>
        </p:txBody>
      </p:sp>
      <p:sp>
        <p:nvSpPr>
          <p:cNvPr id="17" name="Rectangle 16"/>
          <p:cNvSpPr/>
          <p:nvPr/>
        </p:nvSpPr>
        <p:spPr>
          <a:xfrm>
            <a:off x="6816886" y="3405554"/>
            <a:ext cx="1625600" cy="304800"/>
          </a:xfrm>
          <a:prstGeom prst="rect">
            <a:avLst/>
          </a:prstGeom>
          <a:ln w="127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4</a:t>
            </a:r>
          </a:p>
        </p:txBody>
      </p:sp>
      <p:sp>
        <p:nvSpPr>
          <p:cNvPr id="18" name="Rectangle 17"/>
          <p:cNvSpPr/>
          <p:nvPr/>
        </p:nvSpPr>
        <p:spPr>
          <a:xfrm>
            <a:off x="6816886" y="3715992"/>
            <a:ext cx="1625600" cy="304800"/>
          </a:xfrm>
          <a:prstGeom prst="rect">
            <a:avLst/>
          </a:prstGeom>
          <a:ln w="127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5</a:t>
            </a:r>
          </a:p>
        </p:txBody>
      </p:sp>
      <p:sp>
        <p:nvSpPr>
          <p:cNvPr id="19" name="Rectangle 18"/>
          <p:cNvSpPr/>
          <p:nvPr/>
        </p:nvSpPr>
        <p:spPr>
          <a:xfrm>
            <a:off x="6816886" y="4020420"/>
            <a:ext cx="1625600" cy="304800"/>
          </a:xfrm>
          <a:prstGeom prst="rect">
            <a:avLst/>
          </a:prstGeom>
          <a:ln w="127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6</a:t>
            </a:r>
          </a:p>
        </p:txBody>
      </p:sp>
      <p:sp>
        <p:nvSpPr>
          <p:cNvPr id="20" name="Rectangle 19"/>
          <p:cNvSpPr/>
          <p:nvPr/>
        </p:nvSpPr>
        <p:spPr>
          <a:xfrm>
            <a:off x="6816886" y="4330486"/>
            <a:ext cx="1625600" cy="304800"/>
          </a:xfrm>
          <a:prstGeom prst="rect">
            <a:avLst/>
          </a:prstGeom>
          <a:ln w="127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7</a:t>
            </a:r>
          </a:p>
        </p:txBody>
      </p:sp>
      <p:sp>
        <p:nvSpPr>
          <p:cNvPr id="21" name="TextBox 20"/>
          <p:cNvSpPr txBox="1"/>
          <p:nvPr/>
        </p:nvSpPr>
        <p:spPr>
          <a:xfrm>
            <a:off x="8442486" y="2128438"/>
            <a:ext cx="1091565" cy="306705"/>
          </a:xfrm>
          <a:prstGeom prst="rect">
            <a:avLst/>
          </a:prstGeom>
          <a:noFill/>
        </p:spPr>
        <p:txBody>
          <a:bodyPr wrap="none" rtlCol="0">
            <a:spAutoFit/>
          </a:bodyPr>
          <a:lstStyle/>
          <a:p>
            <a:r>
              <a:rPr lang="en-US" sz="1400" dirty="0">
                <a:latin typeface="Arial" panose="020B0604020202020204"/>
                <a:cs typeface="Arial" panose="020B0604020202020204"/>
              </a:rPr>
              <a:t>0x00001232</a:t>
            </a:r>
          </a:p>
        </p:txBody>
      </p:sp>
      <p:sp>
        <p:nvSpPr>
          <p:cNvPr id="22" name="TextBox 21"/>
          <p:cNvSpPr txBox="1"/>
          <p:nvPr/>
        </p:nvSpPr>
        <p:spPr>
          <a:xfrm>
            <a:off x="8442486" y="2440906"/>
            <a:ext cx="1091565" cy="306705"/>
          </a:xfrm>
          <a:prstGeom prst="rect">
            <a:avLst/>
          </a:prstGeom>
          <a:noFill/>
        </p:spPr>
        <p:txBody>
          <a:bodyPr wrap="none" rtlCol="0">
            <a:spAutoFit/>
          </a:bodyPr>
          <a:lstStyle/>
          <a:p>
            <a:r>
              <a:rPr lang="en-US" sz="1400" dirty="0">
                <a:latin typeface="Arial" panose="020B0604020202020204"/>
                <a:cs typeface="Arial" panose="020B0604020202020204"/>
              </a:rPr>
              <a:t>0x00001236</a:t>
            </a:r>
          </a:p>
        </p:txBody>
      </p:sp>
      <p:sp>
        <p:nvSpPr>
          <p:cNvPr id="23" name="TextBox 22"/>
          <p:cNvSpPr txBox="1"/>
          <p:nvPr/>
        </p:nvSpPr>
        <p:spPr>
          <a:xfrm>
            <a:off x="8442486" y="4294984"/>
            <a:ext cx="1091565" cy="306705"/>
          </a:xfrm>
          <a:prstGeom prst="rect">
            <a:avLst/>
          </a:prstGeom>
          <a:noFill/>
        </p:spPr>
        <p:txBody>
          <a:bodyPr wrap="none" rtlCol="0">
            <a:spAutoFit/>
          </a:bodyPr>
          <a:lstStyle/>
          <a:p>
            <a:r>
              <a:rPr lang="en-US" sz="1400" dirty="0">
                <a:latin typeface="Arial" panose="020B0604020202020204"/>
                <a:cs typeface="Arial" panose="020B0604020202020204"/>
              </a:rPr>
              <a:t>0x00001248</a:t>
            </a:r>
          </a:p>
        </p:txBody>
      </p:sp>
      <p:sp>
        <p:nvSpPr>
          <p:cNvPr id="24" name="TextBox 23"/>
          <p:cNvSpPr txBox="1"/>
          <p:nvPr/>
        </p:nvSpPr>
        <p:spPr>
          <a:xfrm>
            <a:off x="9022654" y="3110978"/>
            <a:ext cx="232410" cy="737235"/>
          </a:xfrm>
          <a:prstGeom prst="rect">
            <a:avLst/>
          </a:prstGeom>
          <a:noFill/>
        </p:spPr>
        <p:txBody>
          <a:bodyPr wrap="none" rtlCol="0">
            <a:spAutoFit/>
          </a:bodyPr>
          <a:lstStyle/>
          <a:p>
            <a:r>
              <a:rPr lang="en-US" sz="1400" b="1" dirty="0">
                <a:latin typeface="Arial" panose="020B0604020202020204"/>
                <a:cs typeface="Arial" panose="020B0604020202020204"/>
              </a:rPr>
              <a:t>.</a:t>
            </a:r>
          </a:p>
          <a:p>
            <a:r>
              <a:rPr lang="en-US" sz="1400" b="1" dirty="0">
                <a:latin typeface="Arial" panose="020B0604020202020204"/>
                <a:cs typeface="Arial" panose="020B0604020202020204"/>
              </a:rPr>
              <a:t>.</a:t>
            </a:r>
          </a:p>
          <a:p>
            <a:r>
              <a:rPr lang="en-US" sz="1400" b="1" dirty="0">
                <a:latin typeface="Arial" panose="020B0604020202020204"/>
                <a:cs typeface="Arial" panose="020B0604020202020204"/>
              </a:rPr>
              <a:t>.</a:t>
            </a:r>
          </a:p>
        </p:txBody>
      </p:sp>
      <p:sp>
        <p:nvSpPr>
          <p:cNvPr id="25" name="TextBox 24"/>
          <p:cNvSpPr txBox="1"/>
          <p:nvPr/>
        </p:nvSpPr>
        <p:spPr>
          <a:xfrm>
            <a:off x="9039973" y="4606538"/>
            <a:ext cx="232410" cy="521970"/>
          </a:xfrm>
          <a:prstGeom prst="rect">
            <a:avLst/>
          </a:prstGeom>
          <a:noFill/>
        </p:spPr>
        <p:txBody>
          <a:bodyPr wrap="none" rtlCol="0">
            <a:spAutoFit/>
          </a:bodyPr>
          <a:lstStyle/>
          <a:p>
            <a:r>
              <a:rPr lang="en-US" sz="1400" b="1" dirty="0">
                <a:latin typeface="Arial" panose="020B0604020202020204"/>
                <a:cs typeface="Arial" panose="020B0604020202020204"/>
              </a:rPr>
              <a:t>.</a:t>
            </a:r>
          </a:p>
          <a:p>
            <a:r>
              <a:rPr lang="en-US" sz="1400" b="1" dirty="0">
                <a:latin typeface="Arial" panose="020B0604020202020204"/>
                <a:cs typeface="Arial" panose="020B0604020202020204"/>
              </a:rPr>
              <a:t>.</a:t>
            </a:r>
          </a:p>
        </p:txBody>
      </p:sp>
      <p:sp>
        <p:nvSpPr>
          <p:cNvPr id="26" name="TextBox 25"/>
          <p:cNvSpPr txBox="1"/>
          <p:nvPr/>
        </p:nvSpPr>
        <p:spPr>
          <a:xfrm>
            <a:off x="7508441" y="4607758"/>
            <a:ext cx="232410" cy="521970"/>
          </a:xfrm>
          <a:prstGeom prst="rect">
            <a:avLst/>
          </a:prstGeom>
          <a:noFill/>
        </p:spPr>
        <p:txBody>
          <a:bodyPr wrap="none" rtlCol="0">
            <a:spAutoFit/>
          </a:bodyPr>
          <a:lstStyle/>
          <a:p>
            <a:r>
              <a:rPr lang="en-US" sz="1400" b="1" dirty="0">
                <a:latin typeface="Arial" panose="020B0604020202020204"/>
                <a:cs typeface="Arial" panose="020B0604020202020204"/>
              </a:rPr>
              <a:t>.</a:t>
            </a:r>
          </a:p>
          <a:p>
            <a:r>
              <a:rPr lang="en-US" sz="1400" b="1" dirty="0">
                <a:latin typeface="Arial" panose="020B0604020202020204"/>
                <a:cs typeface="Arial" panose="020B0604020202020204"/>
              </a:rPr>
              <a:t>.</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Coalescing Memory Accesses: Bus Addressing</a:t>
            </a:r>
            <a:r>
              <a:rPr lang="x-none"/>
              <a:t> (1/2)</a:t>
            </a:r>
          </a:p>
        </p:txBody>
      </p:sp>
      <p:sp>
        <p:nvSpPr>
          <p:cNvPr id="6" name="灯片编号占位符 5"/>
          <p:cNvSpPr>
            <a:spLocks noGrp="1"/>
          </p:cNvSpPr>
          <p:nvPr>
            <p:ph type="sldNum" sz="quarter" idx="12"/>
          </p:nvPr>
        </p:nvSpPr>
        <p:spPr/>
        <p:txBody>
          <a:bodyPr/>
          <a:lstStyle/>
          <a:p>
            <a:fld id="{B33F7469-D28B-482F-B1B6-3B8E7CF51519}" type="slidenum">
              <a:rPr lang="zh-CN" altLang="en-US" smtClean="0"/>
              <a:t>36</a:t>
            </a:fld>
            <a:endParaRPr lang="zh-CN" altLang="en-US" dirty="0"/>
          </a:p>
        </p:txBody>
      </p:sp>
      <p:sp>
        <p:nvSpPr>
          <p:cNvPr id="3" name="Content Placeholder 2"/>
          <p:cNvSpPr>
            <a:spLocks noGrp="1"/>
          </p:cNvSpPr>
          <p:nvPr>
            <p:ph sz="quarter" idx="13"/>
          </p:nvPr>
        </p:nvSpPr>
        <p:spPr/>
        <p:txBody>
          <a:bodyPr/>
          <a:lstStyle/>
          <a:p>
            <a:r>
              <a:rPr lang="en-US"/>
              <a:t>Assume that the GDDR memory bus is 32-bytes (256-bits) wide</a:t>
            </a:r>
          </a:p>
          <a:p>
            <a:r>
              <a:rPr lang="en-US"/>
              <a:t>The byte-addressable bus must make accesses that are aligned to the bus width, so the bottom 5 bits are masked off</a:t>
            </a:r>
          </a:p>
          <a:p>
            <a:endParaRPr lang="en-US"/>
          </a:p>
          <a:p>
            <a:endParaRPr lang="en-US"/>
          </a:p>
          <a:p>
            <a:endParaRPr lang="en-US"/>
          </a:p>
          <a:p>
            <a:r>
              <a:rPr lang="en-US"/>
              <a:t>Any access in the range 0x00001220 to 0x0000123F will produce the address 0x00001220 </a:t>
            </a:r>
          </a:p>
        </p:txBody>
      </p:sp>
      <p:graphicFrame>
        <p:nvGraphicFramePr>
          <p:cNvPr id="5" name="Table 4"/>
          <p:cNvGraphicFramePr>
            <a:graphicFrameLocks noGrp="1"/>
          </p:cNvGraphicFramePr>
          <p:nvPr/>
        </p:nvGraphicFramePr>
        <p:xfrm>
          <a:off x="2730474" y="2872740"/>
          <a:ext cx="6096000" cy="11125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r"/>
                      <a:r>
                        <a:rPr lang="en-US" sz="1600" b="0" dirty="0">
                          <a:solidFill>
                            <a:schemeClr val="tx1"/>
                          </a:solidFill>
                        </a:rPr>
                        <a:t>Desired address: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600" b="0" dirty="0">
                          <a:solidFill>
                            <a:schemeClr val="tx1"/>
                          </a:solidFill>
                          <a:latin typeface="Courier New" panose="02070309020205020404"/>
                          <a:cs typeface="Courier New" panose="02070309020205020404"/>
                        </a:rPr>
                        <a:t>0x00001232</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algn="r"/>
                      <a:r>
                        <a:rPr lang="en-US" sz="1600" b="0" dirty="0">
                          <a:solidFill>
                            <a:schemeClr val="tx1"/>
                          </a:solidFill>
                        </a:rPr>
                        <a:t>Bus mask:</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600" b="0" dirty="0">
                          <a:solidFill>
                            <a:schemeClr val="tx1"/>
                          </a:solidFill>
                          <a:latin typeface="Courier New" panose="02070309020205020404"/>
                          <a:cs typeface="Courier New" panose="02070309020205020404"/>
                        </a:rPr>
                        <a:t>0xFFFFFFE0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r"/>
                      <a:r>
                        <a:rPr lang="en-US" sz="1600" b="0" dirty="0">
                          <a:solidFill>
                            <a:schemeClr val="tx1"/>
                          </a:solidFill>
                        </a:rPr>
                        <a:t>Bus</a:t>
                      </a:r>
                      <a:r>
                        <a:rPr lang="en-US" sz="1600" b="0" baseline="0" dirty="0">
                          <a:solidFill>
                            <a:schemeClr val="tx1"/>
                          </a:solidFill>
                        </a:rPr>
                        <a:t> access: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600" b="0" dirty="0">
                          <a:solidFill>
                            <a:schemeClr val="tx1"/>
                          </a:solidFill>
                          <a:latin typeface="Courier New" panose="02070309020205020404"/>
                          <a:cs typeface="Courier New" panose="02070309020205020404"/>
                        </a:rPr>
                        <a:t>0x00001220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Coalescing Memory Accesses: Bus Addressing</a:t>
            </a:r>
            <a:r>
              <a:rPr lang="x-none">
                <a:sym typeface="+mn-ea"/>
              </a:rPr>
              <a:t> (2/2)</a:t>
            </a:r>
            <a:endParaRPr lang="en-US"/>
          </a:p>
        </p:txBody>
      </p:sp>
      <p:sp>
        <p:nvSpPr>
          <p:cNvPr id="12" name="灯片编号占位符 11"/>
          <p:cNvSpPr>
            <a:spLocks noGrp="1"/>
          </p:cNvSpPr>
          <p:nvPr>
            <p:ph type="sldNum" sz="quarter" idx="12"/>
          </p:nvPr>
        </p:nvSpPr>
        <p:spPr/>
        <p:txBody>
          <a:bodyPr/>
          <a:lstStyle/>
          <a:p>
            <a:fld id="{B33F7469-D28B-482F-B1B6-3B8E7CF51519}" type="slidenum">
              <a:rPr lang="zh-CN" altLang="en-US" smtClean="0"/>
              <a:t>37</a:t>
            </a:fld>
            <a:endParaRPr lang="zh-CN" altLang="en-US" dirty="0"/>
          </a:p>
        </p:txBody>
      </p:sp>
      <p:sp>
        <p:nvSpPr>
          <p:cNvPr id="3" name="Content Placeholder 2"/>
          <p:cNvSpPr>
            <a:spLocks noGrp="1"/>
          </p:cNvSpPr>
          <p:nvPr>
            <p:ph sz="quarter" idx="13"/>
          </p:nvPr>
        </p:nvSpPr>
        <p:spPr/>
        <p:txBody>
          <a:bodyPr/>
          <a:lstStyle/>
          <a:p>
            <a:r>
              <a:rPr lang="en-US"/>
              <a:t>All data in the range 0x00001220 to 0x0000123F is returned on the bus</a:t>
            </a:r>
          </a:p>
          <a:p>
            <a:r>
              <a:rPr lang="en-US"/>
              <a:t>In this case, 4 bytes are useful and 28 bytes are wasted</a:t>
            </a:r>
          </a:p>
          <a:p>
            <a:endParaRPr lang="en-US"/>
          </a:p>
        </p:txBody>
      </p:sp>
      <p:grpSp>
        <p:nvGrpSpPr>
          <p:cNvPr id="14" name="Group 13"/>
          <p:cNvGrpSpPr/>
          <p:nvPr/>
        </p:nvGrpSpPr>
        <p:grpSpPr>
          <a:xfrm>
            <a:off x="5576588" y="4940816"/>
            <a:ext cx="4519912" cy="304800"/>
            <a:chOff x="3430288" y="4927600"/>
            <a:chExt cx="4519912" cy="304800"/>
          </a:xfrm>
        </p:grpSpPr>
        <p:sp>
          <p:nvSpPr>
            <p:cNvPr id="4" name="Rectangle 3"/>
            <p:cNvSpPr/>
            <p:nvPr/>
          </p:nvSpPr>
          <p:spPr>
            <a:xfrm>
              <a:off x="3430288" y="4927600"/>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a:t>
              </a:r>
            </a:p>
          </p:txBody>
        </p:sp>
        <p:sp>
          <p:nvSpPr>
            <p:cNvPr id="5" name="Rectangle 4"/>
            <p:cNvSpPr/>
            <p:nvPr/>
          </p:nvSpPr>
          <p:spPr>
            <a:xfrm>
              <a:off x="4004802" y="4927600"/>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a:t>
              </a:r>
            </a:p>
          </p:txBody>
        </p:sp>
        <p:sp>
          <p:nvSpPr>
            <p:cNvPr id="6" name="Rectangle 5"/>
            <p:cNvSpPr/>
            <p:nvPr/>
          </p:nvSpPr>
          <p:spPr>
            <a:xfrm>
              <a:off x="4579316" y="4927600"/>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a:t>
              </a:r>
            </a:p>
          </p:txBody>
        </p:sp>
        <p:sp>
          <p:nvSpPr>
            <p:cNvPr id="7" name="Rectangle 6"/>
            <p:cNvSpPr/>
            <p:nvPr/>
          </p:nvSpPr>
          <p:spPr>
            <a:xfrm>
              <a:off x="5141130" y="4927600"/>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0</a:t>
              </a:r>
            </a:p>
          </p:txBody>
        </p:sp>
        <p:sp>
          <p:nvSpPr>
            <p:cNvPr id="8" name="Rectangle 7"/>
            <p:cNvSpPr/>
            <p:nvPr/>
          </p:nvSpPr>
          <p:spPr>
            <a:xfrm>
              <a:off x="5702944" y="4927600"/>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1</a:t>
              </a:r>
            </a:p>
          </p:txBody>
        </p:sp>
        <p:sp>
          <p:nvSpPr>
            <p:cNvPr id="9" name="Rectangle 8"/>
            <p:cNvSpPr/>
            <p:nvPr/>
          </p:nvSpPr>
          <p:spPr>
            <a:xfrm>
              <a:off x="6264758" y="4927600"/>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2</a:t>
              </a:r>
            </a:p>
          </p:txBody>
        </p:sp>
        <p:sp>
          <p:nvSpPr>
            <p:cNvPr id="10" name="Rectangle 9"/>
            <p:cNvSpPr/>
            <p:nvPr/>
          </p:nvSpPr>
          <p:spPr>
            <a:xfrm>
              <a:off x="6826572" y="4927600"/>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3</a:t>
              </a:r>
            </a:p>
          </p:txBody>
        </p:sp>
        <p:sp>
          <p:nvSpPr>
            <p:cNvPr id="11" name="Rectangle 10"/>
            <p:cNvSpPr/>
            <p:nvPr/>
          </p:nvSpPr>
          <p:spPr>
            <a:xfrm>
              <a:off x="7388386" y="4927600"/>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4</a:t>
              </a:r>
            </a:p>
          </p:txBody>
        </p:sp>
      </p:grpSp>
      <p:sp>
        <p:nvSpPr>
          <p:cNvPr id="15" name="Left Bracket 14"/>
          <p:cNvSpPr/>
          <p:nvPr/>
        </p:nvSpPr>
        <p:spPr>
          <a:xfrm rot="16200000">
            <a:off x="3433961" y="4338955"/>
            <a:ext cx="146566" cy="1705888"/>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dirty="0">
              <a:latin typeface="Arial" panose="020B0604020202020204"/>
              <a:cs typeface="Arial" panose="020B0604020202020204"/>
            </a:endParaRPr>
          </a:p>
        </p:txBody>
      </p:sp>
      <p:sp>
        <p:nvSpPr>
          <p:cNvPr id="16" name="TextBox 15"/>
          <p:cNvSpPr txBox="1"/>
          <p:nvPr/>
        </p:nvSpPr>
        <p:spPr>
          <a:xfrm>
            <a:off x="2960602" y="4895850"/>
            <a:ext cx="1091565" cy="306705"/>
          </a:xfrm>
          <a:prstGeom prst="rect">
            <a:avLst/>
          </a:prstGeom>
          <a:noFill/>
        </p:spPr>
        <p:txBody>
          <a:bodyPr wrap="none" rtlCol="0">
            <a:spAutoFit/>
          </a:bodyPr>
          <a:lstStyle/>
          <a:p>
            <a:r>
              <a:rPr lang="en-US" sz="1400" dirty="0">
                <a:latin typeface="Arial" panose="020B0604020202020204"/>
                <a:cs typeface="Arial" panose="020B0604020202020204"/>
              </a:rPr>
              <a:t>0x00001232</a:t>
            </a:r>
          </a:p>
        </p:txBody>
      </p:sp>
      <p:cxnSp>
        <p:nvCxnSpPr>
          <p:cNvPr id="18" name="Straight Arrow Connector 17"/>
          <p:cNvCxnSpPr/>
          <p:nvPr/>
        </p:nvCxnSpPr>
        <p:spPr>
          <a:xfrm rot="5400000" flipH="1" flipV="1">
            <a:off x="3505200" y="3638550"/>
            <a:ext cx="1244600" cy="1117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5317212" y="3575050"/>
            <a:ext cx="1395704" cy="1244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233504" y="3758684"/>
            <a:ext cx="1434465" cy="306705"/>
          </a:xfrm>
          <a:prstGeom prst="rect">
            <a:avLst/>
          </a:prstGeom>
          <a:noFill/>
        </p:spPr>
        <p:txBody>
          <a:bodyPr wrap="none" rtlCol="0">
            <a:spAutoFit/>
          </a:bodyPr>
          <a:lstStyle/>
          <a:p>
            <a:r>
              <a:rPr lang="en-US" sz="1400" dirty="0">
                <a:latin typeface="Arial" panose="020B0604020202020204"/>
                <a:cs typeface="Arial" panose="020B0604020202020204"/>
              </a:rPr>
              <a:t>Send an address</a:t>
            </a:r>
          </a:p>
        </p:txBody>
      </p:sp>
      <p:sp>
        <p:nvSpPr>
          <p:cNvPr id="25" name="TextBox 24"/>
          <p:cNvSpPr txBox="1"/>
          <p:nvPr/>
        </p:nvSpPr>
        <p:spPr>
          <a:xfrm>
            <a:off x="6029379" y="3758684"/>
            <a:ext cx="1158240" cy="306705"/>
          </a:xfrm>
          <a:prstGeom prst="rect">
            <a:avLst/>
          </a:prstGeom>
          <a:noFill/>
        </p:spPr>
        <p:txBody>
          <a:bodyPr wrap="none" rtlCol="0">
            <a:spAutoFit/>
          </a:bodyPr>
          <a:lstStyle/>
          <a:p>
            <a:r>
              <a:rPr lang="en-US" sz="1400" dirty="0">
                <a:latin typeface="Arial" panose="020B0604020202020204"/>
                <a:cs typeface="Arial" panose="020B0604020202020204"/>
              </a:rPr>
              <a:t>Receive data</a:t>
            </a:r>
          </a:p>
        </p:txBody>
      </p:sp>
      <p:sp>
        <p:nvSpPr>
          <p:cNvPr id="26" name="TextBox 25"/>
          <p:cNvSpPr txBox="1"/>
          <p:nvPr/>
        </p:nvSpPr>
        <p:spPr>
          <a:xfrm>
            <a:off x="5368012" y="5253682"/>
            <a:ext cx="958850" cy="275590"/>
          </a:xfrm>
          <a:prstGeom prst="rect">
            <a:avLst/>
          </a:prstGeom>
          <a:noFill/>
        </p:spPr>
        <p:txBody>
          <a:bodyPr wrap="none" rtlCol="0">
            <a:spAutoFit/>
          </a:bodyPr>
          <a:lstStyle/>
          <a:p>
            <a:r>
              <a:rPr lang="en-US" sz="1200" dirty="0">
                <a:latin typeface="Arial" panose="020B0604020202020204"/>
                <a:cs typeface="Arial" panose="020B0604020202020204"/>
              </a:rPr>
              <a:t>0x00001220</a:t>
            </a:r>
          </a:p>
        </p:txBody>
      </p:sp>
      <p:sp>
        <p:nvSpPr>
          <p:cNvPr id="29" name="Rectangle 28"/>
          <p:cNvSpPr/>
          <p:nvPr/>
        </p:nvSpPr>
        <p:spPr>
          <a:xfrm>
            <a:off x="3969629" y="2787650"/>
            <a:ext cx="1961271" cy="7620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400" dirty="0">
                <a:latin typeface="Arial" panose="020B0604020202020204"/>
                <a:cs typeface="Arial" panose="020B0604020202020204"/>
              </a:rPr>
              <a:t>Memory Controller</a:t>
            </a:r>
          </a:p>
        </p:txBody>
      </p:sp>
      <p:sp>
        <p:nvSpPr>
          <p:cNvPr id="27" name="TextBox 26"/>
          <p:cNvSpPr txBox="1"/>
          <p:nvPr/>
        </p:nvSpPr>
        <p:spPr>
          <a:xfrm>
            <a:off x="8041218" y="3943350"/>
            <a:ext cx="1431925" cy="306705"/>
          </a:xfrm>
          <a:prstGeom prst="rect">
            <a:avLst/>
          </a:prstGeom>
          <a:noFill/>
        </p:spPr>
        <p:txBody>
          <a:bodyPr wrap="none" rtlCol="0">
            <a:spAutoFit/>
          </a:bodyPr>
          <a:lstStyle/>
          <a:p>
            <a:r>
              <a:rPr lang="en-US" sz="1400" dirty="0">
                <a:latin typeface="Arial" panose="020B0604020202020204"/>
                <a:cs typeface="Arial" panose="020B0604020202020204"/>
              </a:rPr>
              <a:t>Desired element</a:t>
            </a:r>
          </a:p>
        </p:txBody>
      </p:sp>
      <p:sp>
        <p:nvSpPr>
          <p:cNvPr id="28" name="Donut 27"/>
          <p:cNvSpPr/>
          <p:nvPr/>
        </p:nvSpPr>
        <p:spPr>
          <a:xfrm>
            <a:off x="7295975" y="4840551"/>
            <a:ext cx="561814" cy="502082"/>
          </a:xfrm>
          <a:prstGeom prst="donut">
            <a:avLst>
              <a:gd name="adj" fmla="val 13588"/>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solidFill>
                <a:schemeClr val="tx1"/>
              </a:solidFill>
            </a:endParaRPr>
          </a:p>
        </p:txBody>
      </p:sp>
      <p:cxnSp>
        <p:nvCxnSpPr>
          <p:cNvPr id="30" name="Straight Arrow Connector 29"/>
          <p:cNvCxnSpPr>
            <a:endCxn id="28" idx="7"/>
          </p:cNvCxnSpPr>
          <p:nvPr/>
        </p:nvCxnSpPr>
        <p:spPr>
          <a:xfrm rot="10800000" flipV="1">
            <a:off x="7775514" y="4312681"/>
            <a:ext cx="635545" cy="60139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Coalescing Memory Accesses</a:t>
            </a:r>
            <a:r>
              <a:rPr lang="x-none">
                <a:sym typeface="+mn-ea"/>
              </a:rPr>
              <a:t> (1/2)</a:t>
            </a:r>
            <a:endParaRPr lang="en-US"/>
          </a:p>
        </p:txBody>
      </p:sp>
      <p:sp>
        <p:nvSpPr>
          <p:cNvPr id="4" name="灯片编号占位符 3"/>
          <p:cNvSpPr>
            <a:spLocks noGrp="1"/>
          </p:cNvSpPr>
          <p:nvPr>
            <p:ph type="sldNum" sz="quarter" idx="12"/>
          </p:nvPr>
        </p:nvSpPr>
        <p:spPr/>
        <p:txBody>
          <a:bodyPr/>
          <a:lstStyle/>
          <a:p>
            <a:fld id="{B33F7469-D28B-482F-B1B6-3B8E7CF51519}" type="slidenum">
              <a:rPr lang="zh-CN" altLang="en-US" smtClean="0"/>
              <a:t>38</a:t>
            </a:fld>
            <a:endParaRPr lang="zh-CN" altLang="en-US" dirty="0"/>
          </a:p>
        </p:txBody>
      </p:sp>
      <p:sp>
        <p:nvSpPr>
          <p:cNvPr id="3" name="Content Placeholder 2"/>
          <p:cNvSpPr>
            <a:spLocks noGrp="1"/>
          </p:cNvSpPr>
          <p:nvPr>
            <p:ph sz="quarter" idx="13"/>
          </p:nvPr>
        </p:nvSpPr>
        <p:spPr/>
        <p:txBody>
          <a:bodyPr/>
          <a:lstStyle/>
          <a:p>
            <a:r>
              <a:rPr lang="en-US"/>
              <a:t>To fully utilize the bus, GPUs combine the accesses of multiple threads into fewer requests when possible</a:t>
            </a:r>
          </a:p>
          <a:p>
            <a:r>
              <a:rPr lang="en-US"/>
              <a:t>Consider the following kernel code:</a:t>
            </a:r>
          </a:p>
          <a:p>
            <a:endParaRPr lang="en-US"/>
          </a:p>
          <a:p>
            <a:r>
              <a:rPr lang="en-US"/>
              <a:t>Assuming that array X is the same array from the example, the first 16 threads will access addresses 0x00001232 through 0x00001272</a:t>
            </a:r>
          </a:p>
          <a:p>
            <a:r>
              <a:rPr lang="en-US"/>
              <a:t>If each request was sent out individually, there would be 16 accesses total, with 64 useful bytes of data and 448 wasted bytes</a:t>
            </a:r>
          </a:p>
          <a:p>
            <a:pPr lvl="1"/>
            <a:r>
              <a:rPr lang="en-US"/>
              <a:t>Notice that each access in the same 32-byte range would return exactly the same data </a:t>
            </a:r>
          </a:p>
        </p:txBody>
      </p:sp>
      <p:sp>
        <p:nvSpPr>
          <p:cNvPr id="6" name="TextBox 5"/>
          <p:cNvSpPr txBox="1"/>
          <p:nvPr/>
        </p:nvSpPr>
        <p:spPr>
          <a:xfrm>
            <a:off x="2051050" y="2789555"/>
            <a:ext cx="8107680" cy="398780"/>
          </a:xfrm>
          <a:prstGeom prst="rect">
            <a:avLst/>
          </a:prstGeom>
          <a:noFill/>
        </p:spPr>
        <p:txBody>
          <a:bodyPr wrap="none" rtlCol="0">
            <a:spAutoFit/>
          </a:bodyPr>
          <a:lstStyle/>
          <a:p>
            <a:r>
              <a:rPr lang="en-US" sz="2000" dirty="0" err="1">
                <a:latin typeface="Courier New" panose="02070309020205020404"/>
                <a:cs typeface="Courier New" panose="02070309020205020404"/>
              </a:rPr>
              <a:t>int</a:t>
            </a:r>
            <a:r>
              <a:rPr lang="en-US" sz="2000" dirty="0">
                <a:latin typeface="Courier New" panose="02070309020205020404"/>
                <a:cs typeface="Courier New" panose="02070309020205020404"/>
              </a:rPr>
              <a:t> </a:t>
            </a:r>
            <a:r>
              <a:rPr lang="en-US" sz="2000" dirty="0" err="1">
                <a:latin typeface="Courier New" panose="02070309020205020404"/>
                <a:cs typeface="Courier New" panose="02070309020205020404"/>
              </a:rPr>
              <a:t>tmp</a:t>
            </a:r>
            <a:r>
              <a:rPr lang="en-US" sz="2000" dirty="0">
                <a:latin typeface="Courier New" panose="02070309020205020404"/>
                <a:cs typeface="Courier New" panose="02070309020205020404"/>
              </a:rPr>
              <a:t> = X[threadIdx.x + blockDim.x * blockIdx.x]; </a:t>
            </a: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Coalescing Memory Accesses</a:t>
            </a:r>
            <a:r>
              <a:rPr lang="x-none">
                <a:sym typeface="+mn-ea"/>
              </a:rPr>
              <a:t> (2/2)</a:t>
            </a:r>
            <a:endParaRPr lang="en-US"/>
          </a:p>
        </p:txBody>
      </p:sp>
      <p:sp>
        <p:nvSpPr>
          <p:cNvPr id="6" name="灯片编号占位符 5"/>
          <p:cNvSpPr>
            <a:spLocks noGrp="1"/>
          </p:cNvSpPr>
          <p:nvPr>
            <p:ph type="sldNum" sz="quarter" idx="12"/>
          </p:nvPr>
        </p:nvSpPr>
        <p:spPr/>
        <p:txBody>
          <a:bodyPr/>
          <a:lstStyle/>
          <a:p>
            <a:fld id="{B33F7469-D28B-482F-B1B6-3B8E7CF51519}" type="slidenum">
              <a:rPr lang="zh-CN" altLang="en-US" smtClean="0"/>
              <a:t>39</a:t>
            </a:fld>
            <a:endParaRPr lang="zh-CN" altLang="en-US" dirty="0"/>
          </a:p>
        </p:txBody>
      </p:sp>
      <p:sp>
        <p:nvSpPr>
          <p:cNvPr id="3" name="Content Placeholder 2"/>
          <p:cNvSpPr>
            <a:spLocks noGrp="1"/>
          </p:cNvSpPr>
          <p:nvPr>
            <p:ph sz="quarter" idx="13"/>
          </p:nvPr>
        </p:nvSpPr>
        <p:spPr/>
        <p:txBody>
          <a:bodyPr/>
          <a:lstStyle/>
          <a:p>
            <a:r>
              <a:rPr lang="en-US"/>
              <a:t>When GPU threads access data in the same 32-byte range, multiple accesses are combined so that each range is only accessed once</a:t>
            </a:r>
          </a:p>
          <a:p>
            <a:pPr lvl="1"/>
            <a:r>
              <a:rPr lang="en-US"/>
              <a:t>Combining accesses is called coalescing</a:t>
            </a:r>
          </a:p>
          <a:p>
            <a:r>
              <a:rPr lang="en-US"/>
              <a:t>For this example, only 3 accesses are required</a:t>
            </a:r>
          </a:p>
          <a:p>
            <a:pPr lvl="1"/>
            <a:r>
              <a:rPr lang="en-US"/>
              <a:t>If the start of the array was 256-bit aligned, only two accesses would be required</a:t>
            </a:r>
          </a:p>
          <a:p>
            <a:endParaRPr lang="en-US"/>
          </a:p>
          <a:p>
            <a:endParaRPr lang="en-US"/>
          </a:p>
          <a:p>
            <a:endParaRPr lang="en-US"/>
          </a:p>
          <a:p>
            <a:endParaRPr lang="en-US"/>
          </a:p>
          <a:p>
            <a:pPr>
              <a:buNone/>
            </a:pPr>
            <a:endParaRPr lang="en-US"/>
          </a:p>
        </p:txBody>
      </p:sp>
      <p:grpSp>
        <p:nvGrpSpPr>
          <p:cNvPr id="37" name="Group 36"/>
          <p:cNvGrpSpPr/>
          <p:nvPr/>
        </p:nvGrpSpPr>
        <p:grpSpPr>
          <a:xfrm>
            <a:off x="3682570" y="3921998"/>
            <a:ext cx="4753888" cy="2072986"/>
            <a:chOff x="2183970" y="3589897"/>
            <a:chExt cx="4753888" cy="2072986"/>
          </a:xfrm>
        </p:grpSpPr>
        <p:sp>
          <p:nvSpPr>
            <p:cNvPr id="7" name="Rectangle 6"/>
            <p:cNvSpPr/>
            <p:nvPr/>
          </p:nvSpPr>
          <p:spPr>
            <a:xfrm>
              <a:off x="2423522" y="3589897"/>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a:t>
              </a:r>
            </a:p>
          </p:txBody>
        </p:sp>
        <p:sp>
          <p:nvSpPr>
            <p:cNvPr id="8" name="Rectangle 7"/>
            <p:cNvSpPr/>
            <p:nvPr/>
          </p:nvSpPr>
          <p:spPr>
            <a:xfrm>
              <a:off x="2982548" y="3589897"/>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a:t>
              </a:r>
            </a:p>
          </p:txBody>
        </p:sp>
        <p:sp>
          <p:nvSpPr>
            <p:cNvPr id="9" name="Rectangle 8"/>
            <p:cNvSpPr/>
            <p:nvPr/>
          </p:nvSpPr>
          <p:spPr>
            <a:xfrm>
              <a:off x="3541574" y="3589897"/>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a:t>
              </a:r>
            </a:p>
          </p:txBody>
        </p:sp>
        <p:sp>
          <p:nvSpPr>
            <p:cNvPr id="10" name="Rectangle 9"/>
            <p:cNvSpPr/>
            <p:nvPr/>
          </p:nvSpPr>
          <p:spPr>
            <a:xfrm>
              <a:off x="4103388" y="3589897"/>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0</a:t>
              </a:r>
            </a:p>
          </p:txBody>
        </p:sp>
        <p:sp>
          <p:nvSpPr>
            <p:cNvPr id="11" name="Rectangle 10"/>
            <p:cNvSpPr/>
            <p:nvPr/>
          </p:nvSpPr>
          <p:spPr>
            <a:xfrm>
              <a:off x="4665202" y="3589897"/>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1</a:t>
              </a:r>
            </a:p>
          </p:txBody>
        </p:sp>
        <p:sp>
          <p:nvSpPr>
            <p:cNvPr id="12" name="Rectangle 11"/>
            <p:cNvSpPr/>
            <p:nvPr/>
          </p:nvSpPr>
          <p:spPr>
            <a:xfrm>
              <a:off x="5227016" y="3589897"/>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2</a:t>
              </a:r>
            </a:p>
          </p:txBody>
        </p:sp>
        <p:sp>
          <p:nvSpPr>
            <p:cNvPr id="13" name="Rectangle 12"/>
            <p:cNvSpPr/>
            <p:nvPr/>
          </p:nvSpPr>
          <p:spPr>
            <a:xfrm>
              <a:off x="5788830" y="3589897"/>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3</a:t>
              </a:r>
            </a:p>
          </p:txBody>
        </p:sp>
        <p:sp>
          <p:nvSpPr>
            <p:cNvPr id="14" name="Rectangle 13"/>
            <p:cNvSpPr/>
            <p:nvPr/>
          </p:nvSpPr>
          <p:spPr>
            <a:xfrm>
              <a:off x="6350644" y="3589897"/>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4</a:t>
              </a:r>
            </a:p>
          </p:txBody>
        </p:sp>
        <p:sp>
          <p:nvSpPr>
            <p:cNvPr id="15" name="TextBox 14"/>
            <p:cNvSpPr txBox="1"/>
            <p:nvPr/>
          </p:nvSpPr>
          <p:spPr>
            <a:xfrm>
              <a:off x="2183970" y="3902763"/>
              <a:ext cx="944880" cy="275590"/>
            </a:xfrm>
            <a:prstGeom prst="rect">
              <a:avLst/>
            </a:prstGeom>
            <a:noFill/>
          </p:spPr>
          <p:txBody>
            <a:bodyPr wrap="none" rtlCol="0">
              <a:spAutoFit/>
            </a:bodyPr>
            <a:lstStyle/>
            <a:p>
              <a:r>
                <a:rPr lang="en-US" sz="1200" dirty="0"/>
                <a:t>0x00001220</a:t>
              </a:r>
            </a:p>
          </p:txBody>
        </p:sp>
        <p:sp>
          <p:nvSpPr>
            <p:cNvPr id="17" name="Rectangle 16"/>
            <p:cNvSpPr/>
            <p:nvPr/>
          </p:nvSpPr>
          <p:spPr>
            <a:xfrm>
              <a:off x="2451710" y="4332162"/>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5</a:t>
              </a:r>
            </a:p>
          </p:txBody>
        </p:sp>
        <p:sp>
          <p:nvSpPr>
            <p:cNvPr id="18" name="Rectangle 17"/>
            <p:cNvSpPr/>
            <p:nvPr/>
          </p:nvSpPr>
          <p:spPr>
            <a:xfrm>
              <a:off x="2995248" y="4332162"/>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6</a:t>
              </a:r>
            </a:p>
          </p:txBody>
        </p:sp>
        <p:sp>
          <p:nvSpPr>
            <p:cNvPr id="19" name="Rectangle 18"/>
            <p:cNvSpPr/>
            <p:nvPr/>
          </p:nvSpPr>
          <p:spPr>
            <a:xfrm>
              <a:off x="3554274" y="4332162"/>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7</a:t>
              </a:r>
            </a:p>
          </p:txBody>
        </p:sp>
        <p:sp>
          <p:nvSpPr>
            <p:cNvPr id="20" name="Rectangle 19"/>
            <p:cNvSpPr/>
            <p:nvPr/>
          </p:nvSpPr>
          <p:spPr>
            <a:xfrm>
              <a:off x="4116088" y="4332162"/>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8</a:t>
              </a:r>
            </a:p>
          </p:txBody>
        </p:sp>
        <p:sp>
          <p:nvSpPr>
            <p:cNvPr id="21" name="Rectangle 20"/>
            <p:cNvSpPr/>
            <p:nvPr/>
          </p:nvSpPr>
          <p:spPr>
            <a:xfrm>
              <a:off x="4677902" y="4332162"/>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9</a:t>
              </a:r>
            </a:p>
          </p:txBody>
        </p:sp>
        <p:sp>
          <p:nvSpPr>
            <p:cNvPr id="22" name="Rectangle 21"/>
            <p:cNvSpPr/>
            <p:nvPr/>
          </p:nvSpPr>
          <p:spPr>
            <a:xfrm>
              <a:off x="5239716" y="4332162"/>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10</a:t>
              </a:r>
            </a:p>
          </p:txBody>
        </p:sp>
        <p:sp>
          <p:nvSpPr>
            <p:cNvPr id="23" name="Rectangle 22"/>
            <p:cNvSpPr/>
            <p:nvPr/>
          </p:nvSpPr>
          <p:spPr>
            <a:xfrm>
              <a:off x="5801530" y="4332162"/>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11</a:t>
              </a:r>
            </a:p>
          </p:txBody>
        </p:sp>
        <p:sp>
          <p:nvSpPr>
            <p:cNvPr id="24" name="Rectangle 23"/>
            <p:cNvSpPr/>
            <p:nvPr/>
          </p:nvSpPr>
          <p:spPr>
            <a:xfrm>
              <a:off x="6363344" y="4332162"/>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12</a:t>
              </a:r>
            </a:p>
          </p:txBody>
        </p:sp>
        <p:sp>
          <p:nvSpPr>
            <p:cNvPr id="25" name="TextBox 24"/>
            <p:cNvSpPr txBox="1"/>
            <p:nvPr/>
          </p:nvSpPr>
          <p:spPr>
            <a:xfrm>
              <a:off x="2196670" y="4645028"/>
              <a:ext cx="944880" cy="275590"/>
            </a:xfrm>
            <a:prstGeom prst="rect">
              <a:avLst/>
            </a:prstGeom>
            <a:noFill/>
          </p:spPr>
          <p:txBody>
            <a:bodyPr wrap="none" rtlCol="0">
              <a:spAutoFit/>
            </a:bodyPr>
            <a:lstStyle/>
            <a:p>
              <a:r>
                <a:rPr lang="en-US" sz="1200" dirty="0"/>
                <a:t>0x00001240</a:t>
              </a:r>
            </a:p>
          </p:txBody>
        </p:sp>
        <p:sp>
          <p:nvSpPr>
            <p:cNvPr id="27" name="Rectangle 26"/>
            <p:cNvSpPr/>
            <p:nvPr/>
          </p:nvSpPr>
          <p:spPr>
            <a:xfrm>
              <a:off x="2448922" y="5074427"/>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13</a:t>
              </a:r>
            </a:p>
          </p:txBody>
        </p:sp>
        <p:sp>
          <p:nvSpPr>
            <p:cNvPr id="28" name="Rectangle 27"/>
            <p:cNvSpPr/>
            <p:nvPr/>
          </p:nvSpPr>
          <p:spPr>
            <a:xfrm>
              <a:off x="3007948" y="5074427"/>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14</a:t>
              </a:r>
            </a:p>
          </p:txBody>
        </p:sp>
        <p:sp>
          <p:nvSpPr>
            <p:cNvPr id="29" name="Rectangle 28"/>
            <p:cNvSpPr/>
            <p:nvPr/>
          </p:nvSpPr>
          <p:spPr>
            <a:xfrm>
              <a:off x="3566974" y="5074427"/>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15</a:t>
              </a:r>
            </a:p>
          </p:txBody>
        </p:sp>
        <p:sp>
          <p:nvSpPr>
            <p:cNvPr id="30" name="Rectangle 29"/>
            <p:cNvSpPr/>
            <p:nvPr/>
          </p:nvSpPr>
          <p:spPr>
            <a:xfrm>
              <a:off x="4128788" y="5074427"/>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a:t>
              </a:r>
            </a:p>
          </p:txBody>
        </p:sp>
        <p:sp>
          <p:nvSpPr>
            <p:cNvPr id="31" name="Rectangle 30"/>
            <p:cNvSpPr/>
            <p:nvPr/>
          </p:nvSpPr>
          <p:spPr>
            <a:xfrm>
              <a:off x="4690602" y="5074427"/>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a:t>
              </a:r>
            </a:p>
          </p:txBody>
        </p:sp>
        <p:sp>
          <p:nvSpPr>
            <p:cNvPr id="32" name="Rectangle 31"/>
            <p:cNvSpPr/>
            <p:nvPr/>
          </p:nvSpPr>
          <p:spPr>
            <a:xfrm>
              <a:off x="5252416" y="5074427"/>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a:t>
              </a:r>
            </a:p>
          </p:txBody>
        </p:sp>
        <p:sp>
          <p:nvSpPr>
            <p:cNvPr id="33" name="Rectangle 32"/>
            <p:cNvSpPr/>
            <p:nvPr/>
          </p:nvSpPr>
          <p:spPr>
            <a:xfrm>
              <a:off x="5814230" y="5074427"/>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a:t>
              </a:r>
            </a:p>
          </p:txBody>
        </p:sp>
        <p:sp>
          <p:nvSpPr>
            <p:cNvPr id="34" name="Rectangle 33"/>
            <p:cNvSpPr/>
            <p:nvPr/>
          </p:nvSpPr>
          <p:spPr>
            <a:xfrm>
              <a:off x="6376044" y="5074427"/>
              <a:ext cx="561814" cy="304800"/>
            </a:xfrm>
            <a:prstGeom prst="rect">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latin typeface="Arial" panose="020B0604020202020204"/>
                  <a:cs typeface="Arial" panose="020B0604020202020204"/>
                </a:rPr>
                <a:t>?</a:t>
              </a:r>
            </a:p>
          </p:txBody>
        </p:sp>
        <p:sp>
          <p:nvSpPr>
            <p:cNvPr id="35" name="TextBox 34"/>
            <p:cNvSpPr txBox="1"/>
            <p:nvPr/>
          </p:nvSpPr>
          <p:spPr>
            <a:xfrm>
              <a:off x="2209370" y="5387293"/>
              <a:ext cx="944880" cy="275590"/>
            </a:xfrm>
            <a:prstGeom prst="rect">
              <a:avLst/>
            </a:prstGeom>
            <a:noFill/>
          </p:spPr>
          <p:txBody>
            <a:bodyPr wrap="none" rtlCol="0">
              <a:spAutoFit/>
            </a:bodyPr>
            <a:lstStyle/>
            <a:p>
              <a:r>
                <a:rPr lang="en-US" sz="1200" dirty="0"/>
                <a:t>0x00001260</a:t>
              </a:r>
            </a:p>
          </p:txBody>
        </p:sp>
      </p:gr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The Solution:</a:t>
            </a:r>
            <a:r>
              <a:rPr lang="x-none" altLang="zh-CN">
                <a:sym typeface="+mn-ea"/>
              </a:rPr>
              <a:t> </a:t>
            </a:r>
            <a:r>
              <a:rPr>
                <a:sym typeface="+mn-ea"/>
              </a:rPr>
              <a:t>FlagOS,</a:t>
            </a:r>
            <a:r>
              <a:rPr lang="x-none" altLang="zh-CN">
                <a:sym typeface="+mn-ea"/>
              </a:rPr>
              <a:t> </a:t>
            </a:r>
            <a:r>
              <a:rPr>
                <a:sym typeface="+mn-ea"/>
              </a:rPr>
              <a:t>a Unified AI Software Stack</a:t>
            </a:r>
            <a:endParaRPr lang="zh-CN" altLang="en-US"/>
          </a:p>
        </p:txBody>
      </p:sp>
      <p:pic>
        <p:nvPicPr>
          <p:cNvPr id="7" name="内容占位符 6" descr="flagos-architecture-e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2170" y="1318260"/>
            <a:ext cx="9408795" cy="4853305"/>
          </a:xfrm>
          <a:prstGeom prst="rect">
            <a:avLst/>
          </a:prstGeom>
        </p:spPr>
      </p:pic>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사각형: 둥근 모서리 832"/>
          <p:cNvSpPr/>
          <p:nvPr>
            <p:custDataLst>
              <p:tags r:id="rId1"/>
            </p:custDataLst>
          </p:nvPr>
        </p:nvSpPr>
        <p:spPr>
          <a:xfrm>
            <a:off x="89535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사각형: 둥근 모서리 832"/>
          <p:cNvSpPr/>
          <p:nvPr>
            <p:custDataLst>
              <p:tags r:id="rId2"/>
            </p:custDataLst>
          </p:nvPr>
        </p:nvSpPr>
        <p:spPr>
          <a:xfrm>
            <a:off x="440023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사각형: 둥근 모서리 832"/>
          <p:cNvSpPr/>
          <p:nvPr>
            <p:custDataLst>
              <p:tags r:id="rId3"/>
            </p:custDataLst>
          </p:nvPr>
        </p:nvSpPr>
        <p:spPr>
          <a:xfrm>
            <a:off x="790511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사각형: 둥근 모서리 832"/>
          <p:cNvSpPr/>
          <p:nvPr>
            <p:custDataLst>
              <p:tags r:id="rId4"/>
            </p:custDataLst>
          </p:nvPr>
        </p:nvSpPr>
        <p:spPr>
          <a:xfrm>
            <a:off x="89535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사각형: 둥근 모서리 832"/>
          <p:cNvSpPr/>
          <p:nvPr>
            <p:custDataLst>
              <p:tags r:id="rId5"/>
            </p:custDataLst>
          </p:nvPr>
        </p:nvSpPr>
        <p:spPr>
          <a:xfrm>
            <a:off x="440023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사각형: 둥근 모서리 832"/>
          <p:cNvSpPr/>
          <p:nvPr>
            <p:custDataLst>
              <p:tags r:id="rId6"/>
            </p:custDataLst>
          </p:nvPr>
        </p:nvSpPr>
        <p:spPr>
          <a:xfrm>
            <a:off x="790511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사각형: 둥근 모서리 72"/>
          <p:cNvSpPr/>
          <p:nvPr>
            <p:custDataLst>
              <p:tags r:id="rId7"/>
            </p:custDataLst>
          </p:nvPr>
        </p:nvSpPr>
        <p:spPr>
          <a:xfrm>
            <a:off x="2298364" y="1689569"/>
            <a:ext cx="356915" cy="356915"/>
          </a:xfrm>
          <a:prstGeom prst="ellipse">
            <a:avLst/>
          </a:prstGeom>
          <a:blipFill rotWithShape="1">
            <a:blip r:embed="rId18"/>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1" name="사각형: 둥근 모서리 72"/>
          <p:cNvSpPr/>
          <p:nvPr>
            <p:custDataLst>
              <p:tags r:id="rId8"/>
            </p:custDataLst>
          </p:nvPr>
        </p:nvSpPr>
        <p:spPr>
          <a:xfrm>
            <a:off x="5803244" y="1689569"/>
            <a:ext cx="356915" cy="356915"/>
          </a:xfrm>
          <a:prstGeom prst="ellipse">
            <a:avLst/>
          </a:prstGeom>
          <a:blipFill rotWithShape="1">
            <a:blip r:embed="rId19"/>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2" name="사각형: 둥근 모서리 72"/>
          <p:cNvSpPr/>
          <p:nvPr>
            <p:custDataLst>
              <p:tags r:id="rId9"/>
            </p:custDataLst>
          </p:nvPr>
        </p:nvSpPr>
        <p:spPr>
          <a:xfrm>
            <a:off x="9308124" y="1689569"/>
            <a:ext cx="356915" cy="356915"/>
          </a:xfrm>
          <a:prstGeom prst="ellipse">
            <a:avLst/>
          </a:prstGeom>
          <a:blipFill rotWithShape="1">
            <a:blip r:embed="rId20"/>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5" name="사각형: 둥근 모서리 72"/>
          <p:cNvSpPr/>
          <p:nvPr>
            <p:custDataLst>
              <p:tags r:id="rId10"/>
            </p:custDataLst>
          </p:nvPr>
        </p:nvSpPr>
        <p:spPr>
          <a:xfrm>
            <a:off x="2298364" y="3577269"/>
            <a:ext cx="356915" cy="356915"/>
          </a:xfrm>
          <a:prstGeom prst="ellipse">
            <a:avLst/>
          </a:prstGeom>
          <a:blipFill rotWithShape="1">
            <a:blip r:embed="rId21"/>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6" name="사각형: 둥근 모서리 72"/>
          <p:cNvSpPr/>
          <p:nvPr>
            <p:custDataLst>
              <p:tags r:id="rId11"/>
            </p:custDataLst>
          </p:nvPr>
        </p:nvSpPr>
        <p:spPr>
          <a:xfrm>
            <a:off x="5803244" y="3577269"/>
            <a:ext cx="356915" cy="356915"/>
          </a:xfrm>
          <a:prstGeom prst="ellipse">
            <a:avLst/>
          </a:prstGeom>
          <a:blipFill rotWithShape="1">
            <a:blip r:embed="rId2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7" name="사각형: 둥근 모서리 72"/>
          <p:cNvSpPr/>
          <p:nvPr>
            <p:custDataLst>
              <p:tags r:id="rId12"/>
            </p:custDataLst>
          </p:nvPr>
        </p:nvSpPr>
        <p:spPr>
          <a:xfrm>
            <a:off x="9308124" y="3577269"/>
            <a:ext cx="356915" cy="356915"/>
          </a:xfrm>
          <a:prstGeom prst="ellipse">
            <a:avLst/>
          </a:prstGeom>
          <a:blipFill rotWithShape="1">
            <a:blip r:embed="rId2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8" name="object 3"/>
          <p:cNvSpPr txBox="1"/>
          <p:nvPr>
            <p:custDataLst>
              <p:tags r:id="rId13"/>
            </p:custDataLst>
          </p:nvPr>
        </p:nvSpPr>
        <p:spPr>
          <a:xfrm>
            <a:off x="1219842" y="251790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4" action="ppaction://hlinkfile"/>
              </a:rPr>
              <a:t>https://github.com/flagos-ai</a:t>
            </a:r>
          </a:p>
          <a:p>
            <a:endParaRPr lang="en-US" altLang="ko-KR" sz="1600" dirty="0"/>
          </a:p>
        </p:txBody>
      </p:sp>
      <p:sp>
        <p:nvSpPr>
          <p:cNvPr id="36" name="object 3"/>
          <p:cNvSpPr txBox="1"/>
          <p:nvPr>
            <p:custDataLst>
              <p:tags r:id="rId14"/>
            </p:custDataLst>
          </p:nvPr>
        </p:nvSpPr>
        <p:spPr>
          <a:xfrm>
            <a:off x="8015605" y="2341245"/>
            <a:ext cx="2882265"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5" action="ppaction://hlinkfile"/>
              </a:rPr>
              <a:t>https://space.bilibili.com/3546791834290849</a:t>
            </a:r>
            <a:endParaRPr lang="en-US" altLang="zh-CN" sz="1600" dirty="0"/>
          </a:p>
        </p:txBody>
      </p:sp>
      <p:sp>
        <p:nvSpPr>
          <p:cNvPr id="42" name="object 3"/>
          <p:cNvSpPr txBox="1"/>
          <p:nvPr>
            <p:custDataLst>
              <p:tags r:id="rId15"/>
            </p:custDataLst>
          </p:nvPr>
        </p:nvSpPr>
        <p:spPr>
          <a:xfrm>
            <a:off x="1219842" y="440385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6" action="ppaction://hlinkfile"/>
              </a:rPr>
              <a:t>https://www.zhihu.com/people/95-22-20-18/posts</a:t>
            </a:r>
            <a:endParaRPr lang="en-US" altLang="ko-KR" sz="1600" dirty="0"/>
          </a:p>
        </p:txBody>
      </p:sp>
      <p:sp>
        <p:nvSpPr>
          <p:cNvPr id="45" name="object 3"/>
          <p:cNvSpPr txBox="1"/>
          <p:nvPr>
            <p:custDataLst>
              <p:tags r:id="rId16"/>
            </p:custDataLst>
          </p:nvPr>
        </p:nvSpPr>
        <p:spPr>
          <a:xfrm>
            <a:off x="4724722" y="4403854"/>
            <a:ext cx="2513958" cy="39687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7" action="ppaction://hlinkfile"/>
              </a:rPr>
              <a:t>https://flagos.io/Home</a:t>
            </a:r>
            <a:endParaRPr lang="en-US" altLang="ko-KR" sz="1600" dirty="0"/>
          </a:p>
        </p:txBody>
      </p:sp>
      <p:pic>
        <p:nvPicPr>
          <p:cNvPr id="54" name="图片 53" descr="weixin-DL0TqDNO"/>
          <p:cNvPicPr>
            <a:picLocks noChangeAspect="1"/>
          </p:cNvPicPr>
          <p:nvPr/>
        </p:nvPicPr>
        <p:blipFill>
          <a:blip r:embed="rId28"/>
          <a:stretch>
            <a:fillRect/>
          </a:stretch>
        </p:blipFill>
        <p:spPr>
          <a:xfrm>
            <a:off x="5408930" y="2046605"/>
            <a:ext cx="1255395" cy="1255395"/>
          </a:xfrm>
          <a:prstGeom prst="rect">
            <a:avLst/>
          </a:prstGeom>
        </p:spPr>
      </p:pic>
      <p:pic>
        <p:nvPicPr>
          <p:cNvPr id="55" name="图片 54" descr="feishu-qrcode-C75xQn56"/>
          <p:cNvPicPr>
            <a:picLocks noChangeAspect="1"/>
          </p:cNvPicPr>
          <p:nvPr/>
        </p:nvPicPr>
        <p:blipFill>
          <a:blip r:embed="rId29"/>
          <a:stretch>
            <a:fillRect/>
          </a:stretch>
        </p:blipFill>
        <p:spPr>
          <a:xfrm>
            <a:off x="8903970" y="3953510"/>
            <a:ext cx="1299210" cy="1308735"/>
          </a:xfrm>
          <a:prstGeom prst="rect">
            <a:avLst/>
          </a:prstGeom>
        </p:spPr>
      </p:pic>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개체 틀 4"/>
          <p:cNvPicPr>
            <a:picLocks noGrp="1" noChangeAspect="1"/>
          </p:cNvPicPr>
          <p:nvPr>
            <p:ph type="pic" sz="quarter" idx="10"/>
          </p:nvPr>
        </p:nvPicPr>
        <p:blipFill>
          <a:blip r:embed="rId2"/>
          <a:srcRect l="2306" r="2306"/>
          <a:stretch>
            <a:fillRect/>
          </a:stretch>
        </p:blipFill>
        <p:spPr/>
      </p:pic>
      <p:sp>
        <p:nvSpPr>
          <p:cNvPr id="3" name="제목 2"/>
          <p:cNvSpPr>
            <a:spLocks noGrp="1"/>
          </p:cNvSpPr>
          <p:nvPr>
            <p:ph type="ctrTitle"/>
          </p:nvPr>
        </p:nvSpPr>
        <p:spPr>
          <a:xfrm>
            <a:off x="5625465" y="2373630"/>
            <a:ext cx="5739130" cy="2664460"/>
          </a:xfrm>
        </p:spPr>
        <p:txBody>
          <a:bodyPr/>
          <a:lstStyle/>
          <a:p>
            <a:pPr algn="l"/>
            <a:r>
              <a:rPr altLang="zh-CN" dirty="0">
                <a:latin typeface="微软雅黑" panose="020B0503020204020204" charset="-122"/>
                <a:ea typeface="微软雅黑" panose="020B0503020204020204" charset="-122"/>
                <a:cs typeface="微软雅黑" panose="020B0503020204020204" charset="-122"/>
              </a:rPr>
              <a:t>Thanks for your time</a:t>
            </a:r>
            <a:r>
              <a:rPr lang="zh-CN" altLang="en-US" dirty="0">
                <a:latin typeface="微软雅黑" panose="020B0503020204020204" charset="-122"/>
                <a:ea typeface="微软雅黑" panose="020B0503020204020204" charset="-122"/>
                <a:cs typeface="微软雅黑" panose="020B0503020204020204" charset="-122"/>
              </a:rPr>
              <a:t>！</a:t>
            </a:r>
            <a:endParaRPr kumimoji="1" lang="ko-KR" altLang="en-US" dirty="0">
              <a:latin typeface="微软雅黑" panose="020B0503020204020204" charset="-122"/>
              <a:ea typeface="微软雅黑" panose="020B0503020204020204" charset="-122"/>
              <a:cs typeface="微软雅黑" panose="020B0503020204020204" charset="-122"/>
            </a:endParaRPr>
          </a:p>
        </p:txBody>
      </p:sp>
      <p:grpSp>
        <p:nvGrpSpPr>
          <p:cNvPr id="2" name="组合 1"/>
          <p:cNvGrpSpPr/>
          <p:nvPr/>
        </p:nvGrpSpPr>
        <p:grpSpPr>
          <a:xfrm>
            <a:off x="9247450" y="217531"/>
            <a:ext cx="2580450" cy="547850"/>
            <a:chOff x="9247450" y="217531"/>
            <a:chExt cx="2580450" cy="547850"/>
          </a:xfrm>
        </p:grpSpPr>
        <p:pic>
          <p:nvPicPr>
            <p:cNvPr id="4" name="图片 3"/>
            <p:cNvPicPr>
              <a:picLocks noChangeAspect="1"/>
            </p:cNvPicPr>
            <p:nvPr/>
          </p:nvPicPr>
          <p:blipFill>
            <a:blip r:embed="rId3"/>
            <a:stretch>
              <a:fillRect/>
            </a:stretch>
          </p:blipFill>
          <p:spPr>
            <a:xfrm>
              <a:off x="9247450" y="319584"/>
              <a:ext cx="1096400" cy="336123"/>
            </a:xfrm>
            <a:prstGeom prst="rect">
              <a:avLst/>
            </a:prstGeom>
          </p:spPr>
        </p:pic>
        <p:pic>
          <p:nvPicPr>
            <p:cNvPr id="8" name="图片 7"/>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899.779527559055,&quot;width&quot;:6925.203149606299}"/>
  <p:tag name="PICID" val="{e04d117f-0e14-4d82-b114-b11eff172e3a}"/>
</p:tagLst>
</file>

<file path=ppt/tags/tag5.xml><?xml version="1.0" encoding="utf-8"?>
<p:tagLst xmlns:a="http://schemas.openxmlformats.org/drawingml/2006/main" xmlns:r="http://schemas.openxmlformats.org/officeDocument/2006/relationships" xmlns:p="http://schemas.openxmlformats.org/presentationml/2006/main">
  <p:tag name="PICID" val="{fe10b987-4e74-4570-be11-5c3b09468f8f}"/>
</p:tagLst>
</file>

<file path=ppt/tags/tag6.xml><?xml version="1.0" encoding="utf-8"?>
<p:tagLst xmlns:a="http://schemas.openxmlformats.org/drawingml/2006/main" xmlns:r="http://schemas.openxmlformats.org/officeDocument/2006/relationships" xmlns:p="http://schemas.openxmlformats.org/presentationml/2006/main">
  <p:tag name="PICID" val="{b1bf3003-c1c2-44bf-a160-f23aac685a47}"/>
</p:tagLst>
</file>

<file path=ppt/tags/tag7.xml><?xml version="1.0" encoding="utf-8"?>
<p:tagLst xmlns:a="http://schemas.openxmlformats.org/drawingml/2006/main" xmlns:r="http://schemas.openxmlformats.org/officeDocument/2006/relationships" xmlns:p="http://schemas.openxmlformats.org/presentationml/2006/main">
  <p:tag name="PICID" val="{94c4aadb-ed3c-40df-8b65-4979aeabc3b3}"/>
</p:tagLst>
</file>

<file path=ppt/tags/tag8.xml><?xml version="1.0" encoding="utf-8"?>
<p:tagLst xmlns:a="http://schemas.openxmlformats.org/drawingml/2006/main" xmlns:r="http://schemas.openxmlformats.org/officeDocument/2006/relationships" xmlns:p="http://schemas.openxmlformats.org/presentationml/2006/main">
  <p:tag name="PICID" val="{81522292-a2f5-49c2-bd9f-c237554ee189}"/>
</p:tagLst>
</file>

<file path=ppt/tags/tag9.xml><?xml version="1.0" encoding="utf-8"?>
<p:tagLst xmlns:a="http://schemas.openxmlformats.org/drawingml/2006/main" xmlns:r="http://schemas.openxmlformats.org/officeDocument/2006/relationships" xmlns:p="http://schemas.openxmlformats.org/presentationml/2006/main">
  <p:tag name="PICID" val="{a12f0bd3-b04a-4c76-a931-b0aa9d874a2e}"/>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heme/theme1.xml><?xml version="1.0" encoding="utf-8"?>
<a:theme xmlns:a="http://schemas.openxmlformats.org/drawingml/2006/main" name="母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a:ea typeface="微软雅黑"/>
        <a:cs typeface=""/>
      </a:majorFont>
      <a:minorFont>
        <a:latin typeface="Arial"/>
        <a:ea typeface="微软雅黑"/>
        <a:cs typeface=""/>
      </a:minorFont>
    </a:fontScheme>
    <a:fmtScheme name="极端阴影">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3112</Words>
  <Application>Microsoft Office PowerPoint</Application>
  <PresentationFormat>宽屏</PresentationFormat>
  <Paragraphs>548</Paragraphs>
  <Slides>42</Slides>
  <Notes>13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42</vt:i4>
      </vt:variant>
    </vt:vector>
  </HeadingPairs>
  <TitlesOfParts>
    <vt:vector size="55" baseType="lpstr">
      <vt:lpstr>Courier</vt:lpstr>
      <vt:lpstr>等线</vt:lpstr>
      <vt:lpstr>微软雅黑</vt:lpstr>
      <vt:lpstr>文泉驿微米黑</vt:lpstr>
      <vt:lpstr>Arial</vt:lpstr>
      <vt:lpstr>Calibri</vt:lpstr>
      <vt:lpstr>Calibri Light</vt:lpstr>
      <vt:lpstr>Courier New</vt:lpstr>
      <vt:lpstr>Ebrima</vt:lpstr>
      <vt:lpstr>Garamond</vt:lpstr>
      <vt:lpstr>Montserrat SemiBold</vt:lpstr>
      <vt:lpstr>Wingdings 3</vt:lpstr>
      <vt:lpstr>母版</vt:lpstr>
      <vt:lpstr>Hardware and Software Fundamentals of  Intelligent Computing  Systems</vt:lpstr>
      <vt:lpstr>Lecture 02: Fundamentals of Heterogeneous Computing Programming Models</vt:lpstr>
      <vt:lpstr>PowerPoint 演示文稿</vt:lpstr>
      <vt:lpstr>AI Hardware Spectrum: Key Examples（1/2）</vt:lpstr>
      <vt:lpstr>AI Hardware Spectrum: Key Examples（2/2）</vt:lpstr>
      <vt:lpstr>Two Forms of AI Chips (NVIDIA)</vt:lpstr>
      <vt:lpstr>Hetergeneous Integration of CPU and XPUs</vt:lpstr>
      <vt:lpstr>PCIe Basic Knowledge</vt:lpstr>
      <vt:lpstr>PCIe Architecture</vt:lpstr>
      <vt:lpstr>PCIe Devices</vt:lpstr>
      <vt:lpstr>PCIe Role in AI: GPU-Host Connection</vt:lpstr>
      <vt:lpstr>PCIe Role in AI: GPU-GPU Connection</vt:lpstr>
      <vt:lpstr>NVLink: GPU Interconnect</vt:lpstr>
      <vt:lpstr>NVLink Generations</vt:lpstr>
      <vt:lpstr>Heterogeneous Host-Device Interaction</vt:lpstr>
      <vt:lpstr>PowerPoint 演示文稿</vt:lpstr>
      <vt:lpstr>Questions on Heterogeneous Programming</vt:lpstr>
      <vt:lpstr>(incomplete list of) Concepts on Hetero-Programming</vt:lpstr>
      <vt:lpstr>How do CPU and GPU interact?</vt:lpstr>
      <vt:lpstr>How do CPU and GPU interact? (host program)</vt:lpstr>
      <vt:lpstr>How do CPU and GPU interact? (kernel program)</vt:lpstr>
      <vt:lpstr>How to Express Parallelism?</vt:lpstr>
      <vt:lpstr>The Grid: Blocks of Threads in 1D</vt:lpstr>
      <vt:lpstr>The Grid: Blocks of Threads in 2D</vt:lpstr>
      <vt:lpstr>How to Express Synchronizations?</vt:lpstr>
      <vt:lpstr>How to Manage and Access Data?</vt:lpstr>
      <vt:lpstr>How to Manage and Access Data?</vt:lpstr>
      <vt:lpstr>How is Kernel Code Executed on GPU?</vt:lpstr>
      <vt:lpstr>SIMD, SPMD, and SIMT (1/3)</vt:lpstr>
      <vt:lpstr>SIMD, SPMD, and SIMT (2/3)</vt:lpstr>
      <vt:lpstr>SIMD, SPMD, and SIMT (3/3)</vt:lpstr>
      <vt:lpstr>SIMT: How to Express the Work of a Thread? (the Single Instruction Stream in SIMT)</vt:lpstr>
      <vt:lpstr>SIMT: How to Express the Thread Structure? (The Grid: Multi-threading in SIMT)</vt:lpstr>
      <vt:lpstr>Optimizations</vt:lpstr>
      <vt:lpstr>Coalescing Memory Accesses: Example</vt:lpstr>
      <vt:lpstr>Coalescing Memory Accesses: Bus Addressing (1/2)</vt:lpstr>
      <vt:lpstr>Coalescing Memory Accesses: Bus Addressing (2/2)</vt:lpstr>
      <vt:lpstr>Coalescing Memory Accesses (1/2)</vt:lpstr>
      <vt:lpstr>Coalescing Memory Accesses (2/2)</vt:lpstr>
      <vt:lpstr>The Solution: FlagOS, a Unified AI Software Stack</vt:lpstr>
      <vt:lpstr>PowerPoint 演示文稿</vt:lpstr>
      <vt:lpstr>Thanks for your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02: Fundamentals of Heterogeneous Computing Programming Models</dc:title>
  <dc:creator>王丰</dc:creator>
  <cp:lastModifiedBy>Xiang Li</cp:lastModifiedBy>
  <cp:revision>12</cp:revision>
  <dcterms:created xsi:type="dcterms:W3CDTF">2026-03-12T05:16:00Z</dcterms:created>
  <dcterms:modified xsi:type="dcterms:W3CDTF">2026-03-17T14:53:08Z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73a59436b4354da09f2a1aff800eacb2_23</vt:lpwstr>
  </property>
  <property fmtid="{D5CDD505-2E9C-101B-9397-08002B2CF9AE}" pid="3" name="KSOProductBuildVer">
    <vt:lpwstr>2052-12.1.0.19302</vt:lpwstr>
  </property>
</Properties>
</file>