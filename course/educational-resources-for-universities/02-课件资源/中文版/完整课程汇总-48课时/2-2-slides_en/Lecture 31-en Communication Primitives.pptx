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337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338" r:id="rId23"/>
    <p:sldId id="339" r:id="rId24"/>
    <p:sldId id="340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章 嘉玺" initials="章" lastIdx="1" clrIdx="0"/>
  <p:cmAuthor id="2" name="webuser" initials="webuser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2428"/>
    <a:srgbClr val="8B0012"/>
    <a:srgbClr val="70AD47"/>
    <a:srgbClr val="2774AE"/>
    <a:srgbClr val="70AE47"/>
    <a:srgbClr val="549E39"/>
    <a:srgbClr val="90B085"/>
    <a:srgbClr val="2D2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13"/>
    <p:restoredTop sz="91925" autoAdjust="0"/>
  </p:normalViewPr>
  <p:slideViewPr>
    <p:cSldViewPr snapToGrid="0" snapToObjects="1">
      <p:cViewPr varScale="1">
        <p:scale>
          <a:sx n="56" d="100"/>
          <a:sy n="56" d="100"/>
        </p:scale>
        <p:origin x="896" y="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81" d="100"/>
          <a:sy n="81" d="100"/>
        </p:scale>
        <p:origin x="338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90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9091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D35F3-BE5B-41CC-A973-5F94E77F22B3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1049092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9093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6126E5-09CE-4398-8EB0-4AC849D0A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8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9085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E8E16-D6C5-3248-816C-85B3C8E8792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1049086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4908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08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908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44C98A-D9C5-894D-9A13-8F52E37846C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0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79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1048792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8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79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DP </a:t>
            </a:r>
            <a:r>
              <a:rPr kumimoji="1" lang="zh-CN" altLang="en-US" dirty="0"/>
              <a:t>线程同步开销比较大；单进程多线程；</a:t>
            </a:r>
            <a:r>
              <a:rPr kumimoji="1" lang="en-US" altLang="zh-CN" dirty="0"/>
              <a:t>all-reduce</a:t>
            </a:r>
            <a:r>
              <a:rPr kumimoji="1" lang="zh-CN" altLang="en-US" dirty="0"/>
              <a:t>是汇聚到</a:t>
            </a:r>
            <a:r>
              <a:rPr kumimoji="1" lang="en-US" altLang="zh-CN" dirty="0"/>
              <a:t>0</a:t>
            </a:r>
            <a:r>
              <a:rPr kumimoji="1" lang="zh-CN" altLang="en-US" dirty="0"/>
              <a:t>卡上算，不均衡；不支持多机</a:t>
            </a:r>
          </a:p>
        </p:txBody>
      </p:sp>
      <p:sp>
        <p:nvSpPr>
          <p:cNvPr id="1048800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6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80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DP </a:t>
            </a:r>
            <a:r>
              <a:rPr kumimoji="1" lang="zh-CN" altLang="en-US" dirty="0"/>
              <a:t>线程同步开销比较大；单进程多线程；</a:t>
            </a:r>
            <a:r>
              <a:rPr kumimoji="1" lang="en-US" altLang="zh-CN" dirty="0"/>
              <a:t>all-reduce</a:t>
            </a:r>
            <a:r>
              <a:rPr kumimoji="1" lang="zh-CN" altLang="en-US" dirty="0"/>
              <a:t>是汇聚到</a:t>
            </a:r>
            <a:r>
              <a:rPr kumimoji="1" lang="en-US" altLang="zh-CN" dirty="0"/>
              <a:t>0</a:t>
            </a:r>
            <a:r>
              <a:rPr kumimoji="1" lang="zh-CN" altLang="en-US" dirty="0"/>
              <a:t>卡上算，不均衡；不支持多机</a:t>
            </a:r>
          </a:p>
        </p:txBody>
      </p:sp>
      <p:sp>
        <p:nvSpPr>
          <p:cNvPr id="104880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6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81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略过过程，直接到结论，</a:t>
            </a:r>
            <a:r>
              <a:rPr kumimoji="1" lang="en-US" altLang="zh-CN" dirty="0"/>
              <a:t>Zero1</a:t>
            </a:r>
            <a:r>
              <a:rPr kumimoji="1" lang="zh-CN" altLang="en-US" dirty="0"/>
              <a:t>和</a:t>
            </a:r>
            <a:r>
              <a:rPr kumimoji="1" lang="en-US" altLang="zh-CN" dirty="0"/>
              <a:t>2</a:t>
            </a:r>
            <a:r>
              <a:rPr kumimoji="1" lang="zh-CN" altLang="en-US" dirty="0"/>
              <a:t>的通信量和普通</a:t>
            </a:r>
            <a:r>
              <a:rPr kumimoji="1" lang="en-US" altLang="zh-CN" dirty="0"/>
              <a:t>DP</a:t>
            </a:r>
            <a:r>
              <a:rPr kumimoji="1" lang="zh-CN" altLang="en-US" dirty="0"/>
              <a:t>一样，每张卡都是</a:t>
            </a:r>
            <a:r>
              <a:rPr kumimoji="1" lang="en-US" altLang="zh-CN" dirty="0"/>
              <a:t>2</a:t>
            </a:r>
            <a:r>
              <a:rPr kumimoji="1" lang="zh-CN" altLang="en-US" dirty="0"/>
              <a:t>倍的参数量；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标准</a:t>
            </a:r>
            <a:r>
              <a:rPr kumimoji="1" lang="en-US" altLang="zh-CN" dirty="0"/>
              <a:t>DP</a:t>
            </a:r>
            <a:r>
              <a:rPr kumimoji="1" lang="zh-CN" altLang="en-US" dirty="0"/>
              <a:t>：用</a:t>
            </a:r>
            <a:r>
              <a:rPr kumimoji="1" lang="en-US" altLang="zh-CN" dirty="0" err="1"/>
              <a:t>ReduceScatter</a:t>
            </a:r>
            <a:r>
              <a:rPr kumimoji="1" lang="zh-CN" altLang="en-US" dirty="0"/>
              <a:t>和</a:t>
            </a:r>
            <a:r>
              <a:rPr kumimoji="1" lang="en-US" altLang="zh-CN" dirty="0" err="1"/>
              <a:t>Allgather</a:t>
            </a:r>
            <a:r>
              <a:rPr kumimoji="1" lang="zh-CN" altLang="en-US" dirty="0"/>
              <a:t>两步完成</a:t>
            </a:r>
            <a:r>
              <a:rPr kumimoji="1" lang="en-US" altLang="zh-CN" dirty="0"/>
              <a:t>all-reduce</a:t>
            </a:r>
            <a:r>
              <a:rPr kumimoji="1" lang="zh-CN" altLang="en-US" dirty="0"/>
              <a:t>，正好是二倍的参数量。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Zero1: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 先用 </a:t>
            </a:r>
            <a:r>
              <a:rPr lang="en-GB" altLang="zh-CN" b="0" i="0" dirty="0" err="1">
                <a:solidFill>
                  <a:srgbClr val="191B1F"/>
                </a:solidFill>
                <a:effectLst/>
                <a:latin typeface="-apple-system"/>
              </a:rPr>
              <a:t>ReduceScatter</a:t>
            </a:r>
            <a:r>
              <a:rPr lang="en-GB" altLang="zh-CN" b="0" i="0" dirty="0">
                <a:solidFill>
                  <a:srgbClr val="191B1F"/>
                </a:solidFill>
                <a:effectLst/>
                <a:latin typeface="-apple-system"/>
              </a:rPr>
              <a:t>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把梯度 </a:t>
            </a:r>
            <a:r>
              <a:rPr lang="en-GB" altLang="zh-CN" b="0" i="0" dirty="0">
                <a:solidFill>
                  <a:srgbClr val="191B1F"/>
                </a:solidFill>
                <a:effectLst/>
                <a:latin typeface="-apple-system"/>
              </a:rPr>
              <a:t>Reduce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到不同显卡上，每个显卡有一份平均后的 </a:t>
            </a:r>
            <a:r>
              <a:rPr lang="en-GB" altLang="zh-CN" b="0" i="0" dirty="0">
                <a:solidFill>
                  <a:srgbClr val="191B1F"/>
                </a:solidFill>
                <a:effectLst/>
                <a:latin typeface="-apple-system"/>
              </a:rPr>
              <a:t>Gradient </a:t>
            </a:r>
            <a:r>
              <a:rPr lang="zh-CN" altLang="en-GB" b="0" i="0" dirty="0">
                <a:solidFill>
                  <a:srgbClr val="191B1F"/>
                </a:solidFill>
                <a:effectLst/>
                <a:latin typeface="-apple-system"/>
              </a:rPr>
              <a:t>（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这里的一份代表的是每个 </a:t>
            </a:r>
            <a:r>
              <a:rPr lang="en-GB" altLang="zh-CN" b="0" i="0" dirty="0">
                <a:solidFill>
                  <a:srgbClr val="191B1F"/>
                </a:solidFill>
                <a:effectLst/>
                <a:latin typeface="-apple-system"/>
              </a:rPr>
              <a:t>Device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有一小份平均后的 </a:t>
            </a:r>
            <a:r>
              <a:rPr lang="en-GB" altLang="zh-CN" b="0" i="0" dirty="0">
                <a:solidFill>
                  <a:srgbClr val="191B1F"/>
                </a:solidFill>
                <a:effectLst/>
                <a:latin typeface="-apple-system"/>
              </a:rPr>
              <a:t>Gradient</a:t>
            </a:r>
            <a:r>
              <a:rPr lang="zh-CN" altLang="en-GB" b="0" i="0" dirty="0">
                <a:solidFill>
                  <a:srgbClr val="191B1F"/>
                </a:solidFill>
                <a:effectLst/>
                <a:latin typeface="-apple-system"/>
              </a:rPr>
              <a:t>），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利用这个 </a:t>
            </a:r>
            <a:r>
              <a:rPr lang="en-GB" altLang="zh-CN" b="0" i="0" dirty="0">
                <a:solidFill>
                  <a:srgbClr val="191B1F"/>
                </a:solidFill>
                <a:effectLst/>
                <a:latin typeface="-apple-system"/>
              </a:rPr>
              <a:t>Gradient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更新 </a:t>
            </a:r>
            <a:r>
              <a:rPr lang="en-GB" altLang="zh-CN" b="0" i="0" dirty="0">
                <a:solidFill>
                  <a:srgbClr val="191B1F"/>
                </a:solidFill>
                <a:effectLst/>
                <a:latin typeface="-apple-system"/>
              </a:rPr>
              <a:t>Optimizer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和参数，再把更新后的模型参数通过 </a:t>
            </a:r>
            <a:r>
              <a:rPr lang="en-GB" altLang="zh-CN" b="0" i="0" dirty="0" err="1">
                <a:solidFill>
                  <a:srgbClr val="191B1F"/>
                </a:solidFill>
                <a:effectLst/>
                <a:latin typeface="-apple-system"/>
              </a:rPr>
              <a:t>AllGather</a:t>
            </a:r>
            <a:r>
              <a:rPr lang="en-GB" altLang="zh-CN" b="0" i="0" dirty="0">
                <a:solidFill>
                  <a:srgbClr val="191B1F"/>
                </a:solidFill>
                <a:effectLst/>
                <a:latin typeface="-apple-system"/>
              </a:rPr>
              <a:t>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分发到所有显卡上，整体来看跟原来的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DP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保持一致。</a:t>
            </a:r>
            <a:endParaRPr lang="en-US" altLang="zh-CN" b="0" i="0" dirty="0">
              <a:solidFill>
                <a:srgbClr val="191B1F"/>
              </a:solidFill>
              <a:effectLst/>
              <a:latin typeface="-apple-system"/>
            </a:endParaRPr>
          </a:p>
          <a:p>
            <a:endParaRPr lang="en-US" altLang="zh-CN" b="0" i="0" dirty="0">
              <a:solidFill>
                <a:srgbClr val="191B1F"/>
              </a:solidFill>
              <a:effectLst/>
              <a:latin typeface="-apple-system"/>
            </a:endParaRPr>
          </a:p>
          <a:p>
            <a:r>
              <a:rPr kumimoji="1"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Zero2:</a:t>
            </a:r>
            <a:r>
              <a:rPr kumimoji="1"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 </a:t>
            </a:r>
            <a:r>
              <a:rPr kumimoji="1"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Zero1</a:t>
            </a:r>
            <a:r>
              <a:rPr kumimoji="1"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相当于白存了很多</a:t>
            </a:r>
            <a:r>
              <a:rPr kumimoji="1"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gradient</a:t>
            </a:r>
            <a:r>
              <a:rPr kumimoji="1"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？所以每次发过去</a:t>
            </a:r>
            <a:r>
              <a:rPr kumimoji="1"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gradient</a:t>
            </a:r>
            <a:r>
              <a:rPr kumimoji="1"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就可以；也是</a:t>
            </a:r>
            <a:r>
              <a:rPr kumimoji="1"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2</a:t>
            </a:r>
            <a:r>
              <a:rPr kumimoji="1"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倍参数量；</a:t>
            </a:r>
            <a:endParaRPr kumimoji="1" lang="en-US" altLang="zh-CN" b="0" i="0" dirty="0">
              <a:solidFill>
                <a:srgbClr val="191B1F"/>
              </a:solidFill>
              <a:effectLst/>
              <a:latin typeface="-apple-system"/>
            </a:endParaRPr>
          </a:p>
          <a:p>
            <a:endParaRPr kumimoji="1" lang="en-US" altLang="zh-CN" b="0" i="0" dirty="0">
              <a:solidFill>
                <a:srgbClr val="191B1F"/>
              </a:solidFill>
              <a:effectLst/>
              <a:latin typeface="-apple-system"/>
            </a:endParaRPr>
          </a:p>
          <a:p>
            <a:r>
              <a:rPr kumimoji="1"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Zero3:</a:t>
            </a:r>
            <a:r>
              <a:rPr kumimoji="1"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 在</a:t>
            </a:r>
            <a:r>
              <a:rPr kumimoji="1"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Zero2</a:t>
            </a:r>
            <a:r>
              <a:rPr kumimoji="1"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的基础上再切参数；增加了一次参数</a:t>
            </a:r>
            <a:r>
              <a:rPr kumimoji="1"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all-gather</a:t>
            </a:r>
            <a:r>
              <a:rPr kumimoji="1"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的参数量</a:t>
            </a:r>
            <a:r>
              <a:rPr kumimoji="1"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;</a:t>
            </a:r>
            <a:endParaRPr kumimoji="1" lang="zh-CN" altLang="en-US" dirty="0"/>
          </a:p>
        </p:txBody>
      </p:sp>
      <p:sp>
        <p:nvSpPr>
          <p:cNvPr id="104881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6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82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还是以数据并行度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2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为例，假设</a:t>
            </a:r>
            <a:r>
              <a:rPr lang="en-GB" altLang="zh-CN" b="0" i="0" dirty="0" err="1">
                <a:solidFill>
                  <a:srgbClr val="191B1F"/>
                </a:solidFill>
                <a:effectLst/>
                <a:latin typeface="-apple-system"/>
              </a:rPr>
              <a:t>batchsize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为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1024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，</a:t>
            </a:r>
            <a:r>
              <a:rPr lang="en-GB" altLang="zh-CN" b="0" i="0" dirty="0">
                <a:solidFill>
                  <a:srgbClr val="191B1F"/>
                </a:solidFill>
                <a:effectLst/>
                <a:latin typeface="-apple-system"/>
              </a:rPr>
              <a:t>FSDP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步骤如下：</a:t>
            </a:r>
            <a:endParaRPr lang="en-US" altLang="zh-CN" b="0" i="0" dirty="0">
              <a:solidFill>
                <a:srgbClr val="191B1F"/>
              </a:solidFill>
              <a:effectLst/>
              <a:latin typeface="-apple-system"/>
            </a:endParaRPr>
          </a:p>
          <a:p>
            <a:pPr algn="l"/>
            <a:endParaRPr lang="zh-CN" altLang="en-US" b="0" i="0" dirty="0">
              <a:solidFill>
                <a:srgbClr val="191B1F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数据并行将数据拆分为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2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个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512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小</a:t>
            </a:r>
            <a:r>
              <a:rPr lang="en-GB" altLang="zh-CN" b="0" i="0" dirty="0">
                <a:solidFill>
                  <a:srgbClr val="191B1F"/>
                </a:solidFill>
                <a:effectLst/>
                <a:latin typeface="-apple-system"/>
              </a:rPr>
              <a:t>batch</a:t>
            </a:r>
            <a:r>
              <a:rPr lang="zh-CN" altLang="en-GB" b="0" i="0" dirty="0">
                <a:solidFill>
                  <a:srgbClr val="191B1F"/>
                </a:solidFill>
                <a:effectLst/>
                <a:latin typeface="-apple-system"/>
              </a:rPr>
              <a:t>，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并送到两张卡的训练进程上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两个进程各自维护模型的一部分参数，利用自己的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512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数据进行前向和反向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模型前向时需要执行</a:t>
            </a:r>
            <a:r>
              <a:rPr lang="en-GB" altLang="zh-CN" b="0" i="0" dirty="0" err="1">
                <a:solidFill>
                  <a:srgbClr val="191B1F"/>
                </a:solidFill>
                <a:effectLst/>
                <a:latin typeface="-apple-system"/>
              </a:rPr>
              <a:t>all_gather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操作，以使每个进程拿到所有权重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模型反向时也需要执行</a:t>
            </a:r>
            <a:r>
              <a:rPr lang="en-GB" altLang="zh-CN" b="0" i="0" dirty="0" err="1">
                <a:solidFill>
                  <a:srgbClr val="191B1F"/>
                </a:solidFill>
                <a:effectLst/>
                <a:latin typeface="-apple-system"/>
              </a:rPr>
              <a:t>all_gather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拿到权重，以及</a:t>
            </a:r>
            <a:r>
              <a:rPr lang="en-GB" altLang="zh-CN" b="0" i="0" dirty="0" err="1">
                <a:solidFill>
                  <a:srgbClr val="191B1F"/>
                </a:solidFill>
                <a:effectLst/>
                <a:latin typeface="-apple-system"/>
              </a:rPr>
              <a:t>reduce_scatter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同步进程间的梯度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当内存不足时，</a:t>
            </a:r>
            <a:r>
              <a:rPr lang="en-GB" altLang="zh-CN" b="0" i="0" dirty="0">
                <a:solidFill>
                  <a:srgbClr val="191B1F"/>
                </a:solidFill>
                <a:effectLst/>
                <a:latin typeface="-apple-system"/>
              </a:rPr>
              <a:t>FSDP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还支持将梯度卸载到</a:t>
            </a:r>
            <a:r>
              <a:rPr lang="en-GB" altLang="zh-CN" b="0" i="0" dirty="0">
                <a:solidFill>
                  <a:srgbClr val="191B1F"/>
                </a:solidFill>
                <a:effectLst/>
                <a:latin typeface="-apple-system"/>
              </a:rPr>
              <a:t>CPU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上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最后使用同步后的梯度更新各自进程上的模型参数</a:t>
            </a:r>
          </a:p>
        </p:txBody>
      </p:sp>
      <p:sp>
        <p:nvSpPr>
          <p:cNvPr id="104882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9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840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还是以数据并行度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2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为例，假设</a:t>
            </a:r>
            <a:r>
              <a:rPr lang="en-GB" altLang="zh-CN" b="0" i="0" dirty="0" err="1">
                <a:solidFill>
                  <a:srgbClr val="191B1F"/>
                </a:solidFill>
                <a:effectLst/>
                <a:latin typeface="-apple-system"/>
              </a:rPr>
              <a:t>batchsize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为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1024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，</a:t>
            </a:r>
            <a:r>
              <a:rPr lang="en-GB" altLang="zh-CN" b="0" i="0" dirty="0">
                <a:solidFill>
                  <a:srgbClr val="191B1F"/>
                </a:solidFill>
                <a:effectLst/>
                <a:latin typeface="-apple-system"/>
              </a:rPr>
              <a:t>FSDP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步骤如下：</a:t>
            </a:r>
            <a:endParaRPr lang="en-US" altLang="zh-CN" b="0" i="0" dirty="0">
              <a:solidFill>
                <a:srgbClr val="191B1F"/>
              </a:solidFill>
              <a:effectLst/>
              <a:latin typeface="-apple-system"/>
            </a:endParaRPr>
          </a:p>
          <a:p>
            <a:pPr algn="l"/>
            <a:endParaRPr lang="zh-CN" altLang="en-US" b="0" i="0" dirty="0">
              <a:solidFill>
                <a:srgbClr val="191B1F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数据并行将数据拆分为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2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个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512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小</a:t>
            </a:r>
            <a:r>
              <a:rPr lang="en-GB" altLang="zh-CN" b="0" i="0" dirty="0">
                <a:solidFill>
                  <a:srgbClr val="191B1F"/>
                </a:solidFill>
                <a:effectLst/>
                <a:latin typeface="-apple-system"/>
              </a:rPr>
              <a:t>batch</a:t>
            </a:r>
            <a:r>
              <a:rPr lang="zh-CN" altLang="en-GB" b="0" i="0" dirty="0">
                <a:solidFill>
                  <a:srgbClr val="191B1F"/>
                </a:solidFill>
                <a:effectLst/>
                <a:latin typeface="-apple-system"/>
              </a:rPr>
              <a:t>，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并送到两张卡的训练进程上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两个进程各自维护模型的一部分参数，利用自己的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512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数据进行前向和反向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模型前向时需要执行</a:t>
            </a:r>
            <a:r>
              <a:rPr lang="en-GB" altLang="zh-CN" b="0" i="0" dirty="0" err="1">
                <a:solidFill>
                  <a:srgbClr val="191B1F"/>
                </a:solidFill>
                <a:effectLst/>
                <a:latin typeface="-apple-system"/>
              </a:rPr>
              <a:t>all_gather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操作，以使每个进程拿到所有权重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模型反向时也需要执行</a:t>
            </a:r>
            <a:r>
              <a:rPr lang="en-GB" altLang="zh-CN" b="0" i="0" dirty="0" err="1">
                <a:solidFill>
                  <a:srgbClr val="191B1F"/>
                </a:solidFill>
                <a:effectLst/>
                <a:latin typeface="-apple-system"/>
              </a:rPr>
              <a:t>all_gather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拿到权重，以及</a:t>
            </a:r>
            <a:r>
              <a:rPr lang="en-GB" altLang="zh-CN" b="0" i="0" dirty="0" err="1">
                <a:solidFill>
                  <a:srgbClr val="191B1F"/>
                </a:solidFill>
                <a:effectLst/>
                <a:latin typeface="-apple-system"/>
              </a:rPr>
              <a:t>reduce_scatter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同步进程间的梯度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当内存不足时，</a:t>
            </a:r>
            <a:r>
              <a:rPr lang="en-GB" altLang="zh-CN" b="0" i="0" dirty="0">
                <a:solidFill>
                  <a:srgbClr val="191B1F"/>
                </a:solidFill>
                <a:effectLst/>
                <a:latin typeface="-apple-system"/>
              </a:rPr>
              <a:t>FSDP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还支持将梯度卸载到</a:t>
            </a:r>
            <a:r>
              <a:rPr lang="en-GB" altLang="zh-CN" b="0" i="0" dirty="0">
                <a:solidFill>
                  <a:srgbClr val="191B1F"/>
                </a:solidFill>
                <a:effectLst/>
                <a:latin typeface="-apple-system"/>
              </a:rPr>
              <a:t>CPU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上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最后使用同步后的梯度更新各自进程上的模型参数</a:t>
            </a:r>
          </a:p>
        </p:txBody>
      </p:sp>
      <p:sp>
        <p:nvSpPr>
          <p:cNvPr id="1048841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43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4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48645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4" y="1323975"/>
            <a:ext cx="11277601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5043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0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3" y="1323976"/>
            <a:ext cx="5591177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50442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6210297" y="1323977"/>
            <a:ext cx="5591177" cy="4856162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43" name="标题 1"/>
          <p:cNvSpPr>
            <a:spLocks noGrp="1"/>
          </p:cNvSpPr>
          <p:nvPr>
            <p:ph type="title"/>
          </p:nvPr>
        </p:nvSpPr>
        <p:spPr>
          <a:xfrm>
            <a:off x="666749" y="457201"/>
            <a:ext cx="2771775" cy="571976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1050444" name="幻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5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3657600" y="457201"/>
            <a:ext cx="8001000" cy="5719763"/>
          </a:xfrm>
        </p:spPr>
        <p:txBody>
          <a:bodyPr anchor="t"/>
          <a:lstStyle>
            <a:lvl1pPr algn="l"/>
            <a:lvl2pPr algn="l"/>
            <a:lvl3pPr algn="l"/>
            <a:lvl4pPr algn="l"/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6" name="页脚占位符 3"/>
          <p:cNvSpPr>
            <a:spLocks noGrp="1"/>
          </p:cNvSpPr>
          <p:nvPr>
            <p:ph type="ftr" sz="quarter" idx="15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内容占位符 2"/>
          <p:cNvSpPr>
            <a:spLocks noGrp="1"/>
          </p:cNvSpPr>
          <p:nvPr>
            <p:ph sz="quarter" idx="10" hasCustomPrompt="1"/>
            <p:custDataLst>
              <p:tags r:id="rId1"/>
            </p:custDataLst>
          </p:nvPr>
        </p:nvSpPr>
        <p:spPr>
          <a:xfrm>
            <a:off x="5452216" y="0"/>
            <a:ext cx="6110447" cy="6858000"/>
          </a:xfrm>
        </p:spPr>
        <p:txBody>
          <a:bodyPr anchor="ctr"/>
          <a:lstStyle>
            <a:lvl1pPr algn="l">
              <a:lnSpc>
                <a:spcPct val="100000"/>
              </a:lnSpc>
              <a:spcBef>
                <a:spcPts val="3000"/>
              </a:spcBef>
              <a:defRPr sz="2800" baseline="0">
                <a:latin typeface="Ebrima" panose="02000000000000000000" charset="0"/>
              </a:defRPr>
            </a:lvl1pPr>
            <a:lvl2pPr algn="l">
              <a:lnSpc>
                <a:spcPct val="100000"/>
              </a:lnSpc>
              <a:defRPr sz="2400" baseline="0">
                <a:latin typeface="Ebrima" panose="02000000000000000000" charset="0"/>
              </a:defRPr>
            </a:lvl2pPr>
            <a:lvl3pPr algn="l">
              <a:lnSpc>
                <a:spcPct val="100000"/>
              </a:lnSpc>
              <a:defRPr sz="2000" baseline="0">
                <a:latin typeface="Ebrima" panose="02000000000000000000" charset="0"/>
              </a:defRPr>
            </a:lvl3pPr>
            <a:lvl4pPr algn="l">
              <a:lnSpc>
                <a:spcPct val="100000"/>
              </a:lnSpc>
              <a:defRPr sz="1600" baseline="0">
                <a:latin typeface="Ebrima" panose="02000000000000000000" charset="0"/>
              </a:defRPr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grpSp>
        <p:nvGrpSpPr>
          <p:cNvPr id="83" name="Group 7"/>
          <p:cNvGrpSpPr/>
          <p:nvPr/>
        </p:nvGrpSpPr>
        <p:grpSpPr>
          <a:xfrm>
            <a:off x="3057633" y="31667"/>
            <a:ext cx="9134367" cy="6838951"/>
            <a:chOff x="-4763" y="9525"/>
            <a:chExt cx="9032249" cy="6838951"/>
          </a:xfrm>
          <a:solidFill>
            <a:srgbClr val="549E39"/>
          </a:solidFill>
        </p:grpSpPr>
        <p:sp>
          <p:nvSpPr>
            <p:cNvPr id="1048651" name="Line 16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</a:ln>
          </p:spPr>
        </p:sp>
        <p:grpSp>
          <p:nvGrpSpPr>
            <p:cNvPr id="84" name="Group 9"/>
            <p:cNvGrpSpPr/>
            <p:nvPr/>
          </p:nvGrpSpPr>
          <p:grpSpPr>
            <a:xfrm>
              <a:off x="8428998" y="4867275"/>
              <a:ext cx="598488" cy="1981201"/>
              <a:chOff x="11441112" y="4867275"/>
              <a:chExt cx="598488" cy="1981201"/>
            </a:xfrm>
            <a:grpFill/>
          </p:grpSpPr>
          <p:sp>
            <p:nvSpPr>
              <p:cNvPr id="1048652" name="Freeform 35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3" name="Freeform 36"/>
              <p:cNvSpPr>
                <a:spLocks noEditPoint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4" name="Freeform 38"/>
              <p:cNvSpPr>
                <a:spLocks noEditPoint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5" name="Freeform 39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6" name="Freeform 40"/>
              <p:cNvSpPr>
                <a:spLocks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7" name="Rectangle 41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1048658" name="内容占位符 22"/>
          <p:cNvSpPr>
            <a:spLocks noGrp="1"/>
          </p:cNvSpPr>
          <p:nvPr>
            <p:ph sz="quarter" idx="11" hasCustomPrompt="1"/>
            <p:custDataLst>
              <p:tags r:id="rId2"/>
            </p:custDataLst>
          </p:nvPr>
        </p:nvSpPr>
        <p:spPr>
          <a:xfrm>
            <a:off x="0" y="0"/>
            <a:ext cx="4659313" cy="6858000"/>
          </a:xfrm>
          <a:solidFill>
            <a:srgbClr val="8B001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Outline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named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日期占位符 2"/>
          <p:cNvSpPr>
            <a:spLocks noGrp="1"/>
          </p:cNvSpPr>
          <p:nvPr>
            <p:ph type="dt" sz="half" idx="10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</p:spPr>
        <p:txBody>
          <a:bodyPr/>
          <a:lstStyle>
            <a:lvl1pPr algn="ctr">
              <a:defRPr lang="zh-CN" altLang="en-US" sz="2400" b="0" i="0" kern="1200"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微软雅黑" panose="020B0503020204020204" charset="-122"/>
                <a:cs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4863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048633" name="副标题 2"/>
          <p:cNvSpPr>
            <a:spLocks noGrp="1"/>
          </p:cNvSpPr>
          <p:nvPr>
            <p:ph type="subTitle" idx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727587" y="1622323"/>
            <a:ext cx="10943800" cy="3028335"/>
          </a:xfr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5906959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3136489" y="3716594"/>
            <a:ext cx="8534897" cy="2664541"/>
          </a:xfrm>
        </p:spPr>
        <p:txBody>
          <a:bodyPr anchor="ctr">
            <a:no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8054991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文本占位符 2"/>
          <p:cNvSpPr>
            <a:spLocks noGrp="1"/>
          </p:cNvSpPr>
          <p:nvPr>
            <p:ph type="body" idx="1"/>
          </p:nvPr>
        </p:nvSpPr>
        <p:spPr>
          <a:xfrm>
            <a:off x="523874" y="1323975"/>
            <a:ext cx="11277601" cy="4832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48638" name="标题占位符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9987507" cy="7009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486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523874" y="6356351"/>
            <a:ext cx="11277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accent3"/>
                </a:solidFill>
                <a:latin typeface="Garamond" panose="02020404030301010803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48640" name="Freeform 5"/>
          <p:cNvSpPr/>
          <p:nvPr/>
        </p:nvSpPr>
        <p:spPr bwMode="auto">
          <a:xfrm flipV="1">
            <a:off x="-4185" y="529393"/>
            <a:ext cx="564624" cy="50799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rgbClr val="8B0012"/>
          </a:solidFill>
          <a:ln>
            <a:noFill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104864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" y="593458"/>
            <a:ext cx="419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 baseline="0">
                <a:solidFill>
                  <a:schemeClr val="bg1"/>
                </a:solidFill>
                <a:latin typeface="Garamond" panose="02020404030301010803" charset="0"/>
                <a:ea typeface="微软雅黑" panose="020B0503020204020204" charset="-122"/>
                <a:cs typeface="Calibri" panose="020F0502020204030204" charset="0"/>
              </a:defRPr>
            </a:lvl1pPr>
          </a:lstStyle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5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hdr="0" dt="0"/>
  <p:txStyles>
    <p:titleStyle>
      <a:lvl1pPr algn="l" defTabSz="342900" rtl="0" eaLnBrk="1" latinLnBrk="0" hangingPunct="1">
        <a:spcBef>
          <a:spcPct val="0"/>
        </a:spcBef>
        <a:buNone/>
        <a:defRPr lang="zh-CN" altLang="en-US" sz="3600" b="0" i="0" kern="1200" baseline="0" dirty="0">
          <a:solidFill>
            <a:schemeClr val="tx1">
              <a:lumMod val="85000"/>
              <a:lumOff val="15000"/>
            </a:schemeClr>
          </a:solidFill>
          <a:latin typeface="Calibri" panose="020F0502020204030204" charset="0"/>
          <a:ea typeface="微软雅黑" panose="020B050302020402020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0045" marR="0" indent="-360045" algn="l" defTabSz="342900" rtl="0" eaLnBrk="1" fontAlgn="auto" latinLnBrk="0" hangingPunct="1">
        <a:lnSpc>
          <a:spcPct val="100000"/>
        </a:lnSpc>
        <a:spcBef>
          <a:spcPts val="150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■"/>
        <a:defRPr sz="2400" b="0" i="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1pPr>
      <a:lvl2pPr marL="557530" marR="0" indent="-21463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Pct val="75000"/>
        <a:buFont typeface="文泉驿微米黑" panose="020B0606030804020204" charset="-122"/>
        <a:buChar char="♦"/>
        <a:defRPr sz="20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2pPr>
      <a:lvl3pPr marL="8572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▶"/>
        <a:defRPr sz="16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3pPr>
      <a:lvl4pPr marL="12001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●"/>
        <a:defRPr sz="12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4pPr>
      <a:lvl5pPr marL="15430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549E39"/>
        </a:buClr>
        <a:buSzTx/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nacap.fund/insights/exploring-the-landscape-of-large-language-models" TargetMode="External"/><Relationship Id="rId2" Type="http://schemas.openxmlformats.org/officeDocument/2006/relationships/hyperlink" Target="https://arxiv.org/abs/2001.08361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nvidia.com/nemo/megatron-bridge/0.2.0/parallelisms.html" TargetMode="External"/><Relationship Id="rId7" Type="http://schemas.openxmlformats.org/officeDocument/2006/relationships/image" Target="../media/image12.png"/><Relationship Id="rId2" Type="http://schemas.openxmlformats.org/officeDocument/2006/relationships/hyperlink" Target="https://robotchinwag.com/posts/demystifying-tensor-parallelis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hyperlink" Target="https://aclanthology.org/2023.acl-long.134.pdf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arxiv.org/html/2507.04786v1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iascend.com/developer/techArticles/20240809-1" TargetMode="External"/><Relationship Id="rId2" Type="http://schemas.openxmlformats.org/officeDocument/2006/relationships/hyperlink" Target="https://developer.nvidia.com/blog/scaling-ai-inference-performance-and-flexibility-with-nvidia-nvlink-and-nvlink-fusion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docs.nvidia.com/deeplearning/nccl/user-guide/docs/usage/collectives.htm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docs.nvidia.com/deeplearning/nccl/user-guide/docs/usage/collectives.htm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docs.nvidia.com/deeplearning/nccl/user-guide/docs/usage/collectives.htm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docs.nvidia.com/deeplearning/nccl/user-guide/docs/usage/collectives.html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docs.nvidia.com/deeplearning/nccl/user-guide/docs/usage/collectives.html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docs.nvidia.com/deeplearning/nccl/user-guide/docs/usage/collectives.html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docs.nvidia.com/deeplearning/nccl/user-guide/docs/usage/collectives.html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docs.nvidia.com/deeplearning/nccl/user-guide/docs/usage/collectives.html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ber.com/en-JP/blog/horovod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orch.org/docs/stable/notes/ddp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orch.org/tutorials/intermediate/FSDP_tutorial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hyperlink" Target="https://arxiv.org/abs/2304.11277" TargetMode="Externa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jpeg"/><Relationship Id="rId3" Type="http://schemas.openxmlformats.org/officeDocument/2006/relationships/hyperlink" Target="https://docs.pytorch.org/tutorials/intermediate/FSDP_tutorial.html" TargetMode="External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hyperlink" Target="https://arxiv.org/abs/2304.11277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tags" Target="../tags/tag22.xml"/><Relationship Id="rId18" Type="http://schemas.openxmlformats.org/officeDocument/2006/relationships/image" Target="../media/image39.png"/><Relationship Id="rId26" Type="http://schemas.openxmlformats.org/officeDocument/2006/relationships/hyperlink" Target="https://www.zhihu.com/people/95-22-20-18/posts" TargetMode="External"/><Relationship Id="rId3" Type="http://schemas.openxmlformats.org/officeDocument/2006/relationships/tags" Target="../tags/tag12.xml"/><Relationship Id="rId21" Type="http://schemas.openxmlformats.org/officeDocument/2006/relationships/image" Target="../media/image42.png"/><Relationship Id="rId7" Type="http://schemas.openxmlformats.org/officeDocument/2006/relationships/tags" Target="../tags/tag16.xml"/><Relationship Id="rId12" Type="http://schemas.openxmlformats.org/officeDocument/2006/relationships/tags" Target="../tags/tag21.xml"/><Relationship Id="rId17" Type="http://schemas.openxmlformats.org/officeDocument/2006/relationships/slideLayout" Target="../slideLayouts/slideLayout6.xml"/><Relationship Id="rId25" Type="http://schemas.openxmlformats.org/officeDocument/2006/relationships/hyperlink" Target="https://space.bilibili.com/3546791834290849" TargetMode="External"/><Relationship Id="rId2" Type="http://schemas.openxmlformats.org/officeDocument/2006/relationships/tags" Target="../tags/tag11.xml"/><Relationship Id="rId16" Type="http://schemas.openxmlformats.org/officeDocument/2006/relationships/tags" Target="../tags/tag25.xml"/><Relationship Id="rId20" Type="http://schemas.openxmlformats.org/officeDocument/2006/relationships/image" Target="../media/image41.png"/><Relationship Id="rId29" Type="http://schemas.openxmlformats.org/officeDocument/2006/relationships/image" Target="../media/image46.png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tags" Target="../tags/tag20.xml"/><Relationship Id="rId24" Type="http://schemas.openxmlformats.org/officeDocument/2006/relationships/hyperlink" Target="https://github.com/flagos-ai" TargetMode="External"/><Relationship Id="rId5" Type="http://schemas.openxmlformats.org/officeDocument/2006/relationships/tags" Target="../tags/tag14.xml"/><Relationship Id="rId15" Type="http://schemas.openxmlformats.org/officeDocument/2006/relationships/tags" Target="../tags/tag24.xml"/><Relationship Id="rId23" Type="http://schemas.openxmlformats.org/officeDocument/2006/relationships/image" Target="../media/image44.png"/><Relationship Id="rId28" Type="http://schemas.openxmlformats.org/officeDocument/2006/relationships/image" Target="../media/image45.jpeg"/><Relationship Id="rId10" Type="http://schemas.openxmlformats.org/officeDocument/2006/relationships/tags" Target="../tags/tag19.xml"/><Relationship Id="rId19" Type="http://schemas.openxmlformats.org/officeDocument/2006/relationships/image" Target="../media/image40.png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tags" Target="../tags/tag23.xml"/><Relationship Id="rId22" Type="http://schemas.openxmlformats.org/officeDocument/2006/relationships/image" Target="../media/image43.png"/><Relationship Id="rId27" Type="http://schemas.openxmlformats.org/officeDocument/2006/relationships/hyperlink" Target="https://flagos.io/Home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개체 틀 3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50" b="350"/>
          <a:stretch>
            <a:fillRect/>
          </a:stretch>
        </p:blipFill>
        <p:spPr>
          <a:xfrm>
            <a:off x="0" y="1"/>
            <a:ext cx="12192000" cy="6858000"/>
          </a:xfrm>
        </p:spPr>
      </p:pic>
      <p:sp>
        <p:nvSpPr>
          <p:cNvPr id="6" name="제목 5"/>
          <p:cNvSpPr>
            <a:spLocks noGrp="1"/>
          </p:cNvSpPr>
          <p:nvPr>
            <p:ph type="ctrTitle"/>
          </p:nvPr>
        </p:nvSpPr>
        <p:spPr>
          <a:xfrm>
            <a:off x="727710" y="1622425"/>
            <a:ext cx="5553710" cy="3028315"/>
          </a:xfrm>
        </p:spPr>
        <p:txBody>
          <a:bodyPr/>
          <a:lstStyle/>
          <a:p>
            <a:pPr algn="l"/>
            <a:r>
              <a:rPr lang="en-US" altLang="zh-CN" sz="4000">
                <a:latin typeface="+mj-cs"/>
                <a:cs typeface="+mj-cs"/>
              </a:rPr>
              <a:t>Hardware and Software Fundamentals of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Intelligent Computing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Systems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364100" y="6255612"/>
            <a:ext cx="409904" cy="409904"/>
            <a:chOff x="11591418" y="6255612"/>
            <a:chExt cx="409904" cy="409904"/>
          </a:xfrm>
        </p:grpSpPr>
        <p:sp>
          <p:nvSpPr>
            <p:cNvPr id="10" name="타원 9"/>
            <p:cNvSpPr/>
            <p:nvPr/>
          </p:nvSpPr>
          <p:spPr>
            <a:xfrm>
              <a:off x="11591418" y="6255612"/>
              <a:ext cx="409904" cy="4099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" name="갈매기형 수장[C] 10"/>
            <p:cNvSpPr/>
            <p:nvPr/>
          </p:nvSpPr>
          <p:spPr>
            <a:xfrm>
              <a:off x="11732864" y="6397058"/>
              <a:ext cx="127012" cy="127012"/>
            </a:xfrm>
            <a:prstGeom prst="chevron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9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Lecture 31: Communication Primitives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Scaling Law of LLMs</a:t>
            </a:r>
            <a:endParaRPr lang="zh-CN" altLang="en-US" dirty="0"/>
          </a:p>
        </p:txBody>
      </p:sp>
      <p:sp>
        <p:nvSpPr>
          <p:cNvPr id="1048722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[1] </a:t>
            </a:r>
            <a:r>
              <a:rPr lang="en-US" altLang="zh-CN" dirty="0">
                <a:hlinkClick r:id="rId2"/>
              </a:rPr>
              <a:t>https://arxiv.org/abs/2001.08361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[2] </a:t>
            </a:r>
            <a:r>
              <a:rPr lang="en-US" altLang="zh-CN" dirty="0">
                <a:hlinkClick r:id="rId3"/>
              </a:rPr>
              <a:t>https://dnacap.fund/insights/exploring-the-landscape-of-large-language-models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048723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3</a:t>
            </a:fld>
            <a:endParaRPr lang="zh-CN" altLang="en-US" dirty="0"/>
          </a:p>
        </p:txBody>
      </p:sp>
      <p:sp>
        <p:nvSpPr>
          <p:cNvPr id="1048724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Model performance improves predictably as a power-law function of compute, data size, and parameter count.</a:t>
            </a:r>
          </a:p>
        </p:txBody>
      </p:sp>
      <p:sp>
        <p:nvSpPr>
          <p:cNvPr id="1048725" name="文本框 19"/>
          <p:cNvSpPr txBox="1"/>
          <p:nvPr/>
        </p:nvSpPr>
        <p:spPr>
          <a:xfrm>
            <a:off x="5004871" y="3839061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+mj-lt"/>
              </a:rPr>
              <a:t>NVL576</a:t>
            </a:r>
            <a:endParaRPr kumimoji="1" lang="zh-CN" altLang="en-US" dirty="0">
              <a:latin typeface="+mj-lt"/>
            </a:endParaRPr>
          </a:p>
        </p:txBody>
      </p:sp>
      <p:pic>
        <p:nvPicPr>
          <p:cNvPr id="2097188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9984" y="2279475"/>
            <a:ext cx="7950345" cy="398718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AI computing</a:t>
            </a:r>
            <a:r>
              <a:rPr lang="zh-CN" altLang="en-US" dirty="0"/>
              <a:t> </a:t>
            </a:r>
            <a:r>
              <a:rPr lang="en-US" altLang="zh-CN" dirty="0"/>
              <a:t>systems</a:t>
            </a:r>
            <a:r>
              <a:rPr lang="zh-CN" altLang="en-US" dirty="0"/>
              <a:t> </a:t>
            </a:r>
            <a:r>
              <a:rPr lang="en-US" altLang="zh-CN" dirty="0"/>
              <a:t>are also scaling</a:t>
            </a:r>
            <a:endParaRPr lang="zh-CN" altLang="en-US" dirty="0"/>
          </a:p>
        </p:txBody>
      </p:sp>
      <p:sp>
        <p:nvSpPr>
          <p:cNvPr id="1048727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728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1048729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Scale-up </a:t>
            </a:r>
            <a:r>
              <a:rPr lang="en-US" altLang="zh-CN" dirty="0" err="1"/>
              <a:t>supernodes</a:t>
            </a:r>
            <a:r>
              <a:rPr lang="en-US" altLang="zh-CN" dirty="0"/>
              <a:t> are on the rise…</a:t>
            </a:r>
          </a:p>
        </p:txBody>
      </p:sp>
      <p:sp>
        <p:nvSpPr>
          <p:cNvPr id="1048730" name="文本框 15"/>
          <p:cNvSpPr txBox="1"/>
          <p:nvPr/>
        </p:nvSpPr>
        <p:spPr>
          <a:xfrm>
            <a:off x="1736536" y="6051200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+mj-lt"/>
              </a:rPr>
              <a:t>NVL72</a:t>
            </a:r>
            <a:endParaRPr kumimoji="1" lang="zh-CN" altLang="en-US" dirty="0">
              <a:latin typeface="+mj-lt"/>
            </a:endParaRPr>
          </a:p>
        </p:txBody>
      </p:sp>
      <p:pic>
        <p:nvPicPr>
          <p:cNvPr id="2097189" name="Picture 2" descr="The NVIDIA Rubin NVL576 Kyber Midplane is Huge - ServeTheHom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30342" y="1972453"/>
            <a:ext cx="2767286" cy="1867918"/>
          </a:xfrm>
          <a:prstGeom prst="rect">
            <a:avLst/>
          </a:prstGeom>
          <a:noFill/>
        </p:spPr>
      </p:pic>
      <p:sp>
        <p:nvSpPr>
          <p:cNvPr id="1048731" name="文本框 19"/>
          <p:cNvSpPr txBox="1"/>
          <p:nvPr/>
        </p:nvSpPr>
        <p:spPr>
          <a:xfrm>
            <a:off x="5004871" y="3839061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+mj-lt"/>
              </a:rPr>
              <a:t>NVL576</a:t>
            </a:r>
            <a:endParaRPr kumimoji="1" lang="zh-CN" altLang="en-US" dirty="0">
              <a:latin typeface="+mj-lt"/>
            </a:endParaRPr>
          </a:p>
        </p:txBody>
      </p:sp>
      <p:pic>
        <p:nvPicPr>
          <p:cNvPr id="2097190" name="Picture 4" descr="AMD Helios - AI Rack Built on Meta's 2025 OCP Design"/>
          <p:cNvPicPr>
            <a:picLocks noChangeAspect="1" noChangeArrowheads="1"/>
          </p:cNvPicPr>
          <p:nvPr/>
        </p:nvPicPr>
        <p:blipFill rotWithShape="1">
          <a:blip r:embed="rId3"/>
          <a:srcRect l="21741" r="25208"/>
          <a:stretch>
            <a:fillRect/>
          </a:stretch>
        </p:blipFill>
        <p:spPr bwMode="auto">
          <a:xfrm>
            <a:off x="7327622" y="1970934"/>
            <a:ext cx="3817186" cy="4047388"/>
          </a:xfrm>
          <a:prstGeom prst="rect">
            <a:avLst/>
          </a:prstGeom>
          <a:noFill/>
        </p:spPr>
      </p:pic>
      <p:sp>
        <p:nvSpPr>
          <p:cNvPr id="1048732" name="文本框 21"/>
          <p:cNvSpPr txBox="1"/>
          <p:nvPr/>
        </p:nvSpPr>
        <p:spPr>
          <a:xfrm>
            <a:off x="8584644" y="6055877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+mj-lt"/>
              </a:rPr>
              <a:t>AMD</a:t>
            </a:r>
            <a:r>
              <a:rPr kumimoji="1" lang="zh-CN" altLang="en-US" dirty="0">
                <a:latin typeface="+mj-lt"/>
              </a:rPr>
              <a:t> </a:t>
            </a:r>
            <a:r>
              <a:rPr kumimoji="1" lang="en-US" altLang="zh-CN" dirty="0">
                <a:latin typeface="+mj-lt"/>
              </a:rPr>
              <a:t>Helios</a:t>
            </a:r>
            <a:endParaRPr kumimoji="1" lang="zh-CN" altLang="en-US" dirty="0">
              <a:latin typeface="+mj-lt"/>
            </a:endParaRPr>
          </a:p>
        </p:txBody>
      </p:sp>
      <p:pic>
        <p:nvPicPr>
          <p:cNvPr id="2097191" name="Picture 6" descr="News] Huawei to Unveil CloudMatrix 384, Rumored to Deliver 2× NVIDIA GB200  NVL72 Throughput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30341" y="4461724"/>
            <a:ext cx="2767286" cy="1556598"/>
          </a:xfrm>
          <a:prstGeom prst="rect">
            <a:avLst/>
          </a:prstGeom>
          <a:noFill/>
        </p:spPr>
      </p:pic>
      <p:sp>
        <p:nvSpPr>
          <p:cNvPr id="1048733" name="文本框 23"/>
          <p:cNvSpPr txBox="1"/>
          <p:nvPr/>
        </p:nvSpPr>
        <p:spPr>
          <a:xfrm>
            <a:off x="4196957" y="6048466"/>
            <a:ext cx="2634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+mj-lt"/>
              </a:rPr>
              <a:t>Huawei</a:t>
            </a:r>
            <a:r>
              <a:rPr kumimoji="1" lang="zh-CN" altLang="en-US" dirty="0">
                <a:latin typeface="+mj-lt"/>
              </a:rPr>
              <a:t> </a:t>
            </a:r>
            <a:r>
              <a:rPr kumimoji="1" lang="en-US" altLang="zh-CN" dirty="0">
                <a:latin typeface="+mj-lt"/>
              </a:rPr>
              <a:t>CloudMatrix384</a:t>
            </a:r>
            <a:endParaRPr kumimoji="1" lang="zh-CN" altLang="en-US" dirty="0">
              <a:latin typeface="+mj-lt"/>
            </a:endParaRPr>
          </a:p>
        </p:txBody>
      </p:sp>
      <p:pic>
        <p:nvPicPr>
          <p:cNvPr id="2097192" name="图片 24"/>
          <p:cNvPicPr>
            <a:picLocks noChangeAspect="1"/>
          </p:cNvPicPr>
          <p:nvPr/>
        </p:nvPicPr>
        <p:blipFill rotWithShape="1">
          <a:blip r:embed="rId5"/>
          <a:srcRect l="15055" r="12829"/>
          <a:stretch>
            <a:fillRect/>
          </a:stretch>
        </p:blipFill>
        <p:spPr>
          <a:xfrm>
            <a:off x="737193" y="1970934"/>
            <a:ext cx="2949262" cy="404738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Mapping LLMs on multiple GPUs/NPUs…</a:t>
            </a:r>
            <a:endParaRPr lang="zh-CN" altLang="en-US" dirty="0"/>
          </a:p>
        </p:txBody>
      </p:sp>
      <p:sp>
        <p:nvSpPr>
          <p:cNvPr id="104873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[1] </a:t>
            </a:r>
            <a:r>
              <a:rPr lang="en-US" altLang="zh-CN" dirty="0">
                <a:hlinkClick r:id="rId2"/>
              </a:rPr>
              <a:t>https://robotchinwag.com/posts/demystifying-tensor-parallelism/</a:t>
            </a:r>
            <a:endParaRPr lang="en-US" altLang="zh-CN" dirty="0"/>
          </a:p>
          <a:p>
            <a:r>
              <a:rPr lang="en-US" altLang="zh-CN" dirty="0"/>
              <a:t>[2] </a:t>
            </a:r>
            <a:r>
              <a:rPr lang="en-US" altLang="zh-CN" dirty="0">
                <a:hlinkClick r:id="rId3"/>
              </a:rPr>
              <a:t>https://docs.nvidia.com/nemo/megatron-bridge/0.2.0/parallelisms.html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[2] </a:t>
            </a:r>
            <a:r>
              <a:rPr lang="en-US" altLang="zh-CN" dirty="0">
                <a:hlinkClick r:id="rId4"/>
              </a:rPr>
              <a:t>https://aclanthology.org/2023.acl-long.134.pdf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04873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1048737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Multi-dimension</a:t>
            </a:r>
            <a:r>
              <a:rPr lang="zh-CN" altLang="en-US" dirty="0"/>
              <a:t> </a:t>
            </a:r>
            <a:r>
              <a:rPr lang="en-US" altLang="zh-CN" dirty="0"/>
              <a:t>Parallelisms</a:t>
            </a:r>
          </a:p>
        </p:txBody>
      </p:sp>
      <p:pic>
        <p:nvPicPr>
          <p:cNvPr id="2097193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6386" y="1681401"/>
            <a:ext cx="3431740" cy="1567161"/>
          </a:xfrm>
          <a:prstGeom prst="rect">
            <a:avLst/>
          </a:prstGeom>
        </p:spPr>
      </p:pic>
      <p:sp>
        <p:nvSpPr>
          <p:cNvPr id="1048738" name="文本框 18"/>
          <p:cNvSpPr txBox="1"/>
          <p:nvPr/>
        </p:nvSpPr>
        <p:spPr>
          <a:xfrm>
            <a:off x="8886390" y="3236656"/>
            <a:ext cx="2672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+mj-lt"/>
              </a:rPr>
              <a:t>Expert</a:t>
            </a:r>
            <a:r>
              <a:rPr kumimoji="1" lang="zh-CN" altLang="en-US" dirty="0">
                <a:latin typeface="+mj-lt"/>
              </a:rPr>
              <a:t> </a:t>
            </a:r>
            <a:r>
              <a:rPr kumimoji="1" lang="en-US" altLang="zh-CN" dirty="0">
                <a:latin typeface="+mj-lt"/>
              </a:rPr>
              <a:t>Parallelism</a:t>
            </a:r>
            <a:endParaRPr kumimoji="1" lang="zh-CN" altLang="en-US" dirty="0">
              <a:latin typeface="+mj-lt"/>
            </a:endParaRPr>
          </a:p>
        </p:txBody>
      </p:sp>
      <p:pic>
        <p:nvPicPr>
          <p:cNvPr id="2097194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95" y="2330683"/>
            <a:ext cx="8005713" cy="3165844"/>
          </a:xfrm>
          <a:prstGeom prst="rect">
            <a:avLst/>
          </a:prstGeom>
        </p:spPr>
      </p:pic>
      <p:pic>
        <p:nvPicPr>
          <p:cNvPr id="2097195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6386" y="3797409"/>
            <a:ext cx="3267530" cy="1930613"/>
          </a:xfrm>
          <a:prstGeom prst="rect">
            <a:avLst/>
          </a:prstGeom>
        </p:spPr>
      </p:pic>
      <p:sp>
        <p:nvSpPr>
          <p:cNvPr id="1048739" name="文本框 25"/>
          <p:cNvSpPr txBox="1"/>
          <p:nvPr/>
        </p:nvSpPr>
        <p:spPr>
          <a:xfrm>
            <a:off x="8886390" y="5712659"/>
            <a:ext cx="2672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+mj-lt"/>
              </a:rPr>
              <a:t>Sequence</a:t>
            </a:r>
            <a:r>
              <a:rPr kumimoji="1" lang="zh-CN" altLang="en-US" dirty="0">
                <a:latin typeface="+mj-lt"/>
              </a:rPr>
              <a:t> </a:t>
            </a:r>
            <a:r>
              <a:rPr kumimoji="1" lang="en-US" altLang="zh-CN" dirty="0">
                <a:latin typeface="+mj-lt"/>
              </a:rPr>
              <a:t>Parallelism</a:t>
            </a:r>
            <a:endParaRPr kumimoji="1" lang="zh-CN" altLang="en-US" dirty="0">
              <a:latin typeface="+mj-lt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Communication</a:t>
            </a:r>
            <a:r>
              <a:rPr lang="zh-CN" altLang="en-US" dirty="0"/>
              <a:t> </a:t>
            </a:r>
            <a:r>
              <a:rPr lang="en-US" altLang="zh-CN" dirty="0" err="1"/>
              <a:t>datapath</a:t>
            </a:r>
            <a:r>
              <a:rPr lang="en-US" altLang="zh-CN" dirty="0"/>
              <a:t> in the AI systems</a:t>
            </a:r>
            <a:endParaRPr lang="zh-CN" altLang="en-US" dirty="0"/>
          </a:p>
        </p:txBody>
      </p:sp>
      <p:sp>
        <p:nvSpPr>
          <p:cNvPr id="1048741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[1] </a:t>
            </a:r>
            <a:r>
              <a:rPr lang="en-US" altLang="zh-CN" dirty="0">
                <a:hlinkClick r:id="rId2"/>
              </a:rPr>
              <a:t>https://arxiv.org/html/2507.04786v1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04874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104874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Scale-up: NVLINK, HCCS, Unified Bus</a:t>
            </a:r>
          </a:p>
          <a:p>
            <a:r>
              <a:rPr lang="en-US" altLang="zh-CN" dirty="0"/>
              <a:t>Scale-out: </a:t>
            </a:r>
            <a:r>
              <a:rPr lang="en-US" altLang="zh-CN" dirty="0" err="1"/>
              <a:t>InifiniBand</a:t>
            </a:r>
            <a:r>
              <a:rPr lang="en-US" altLang="zh-CN" dirty="0"/>
              <a:t> (IB), </a:t>
            </a:r>
            <a:r>
              <a:rPr lang="en-US" altLang="zh-CN" dirty="0" err="1"/>
              <a:t>RoCE</a:t>
            </a:r>
            <a:endParaRPr lang="en-US" altLang="zh-CN" dirty="0"/>
          </a:p>
        </p:txBody>
      </p:sp>
      <p:pic>
        <p:nvPicPr>
          <p:cNvPr id="2097196" name="Picture 2" descr="Refer to caption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3873" y="2763997"/>
            <a:ext cx="5418740" cy="3239545"/>
          </a:xfrm>
          <a:prstGeom prst="rect">
            <a:avLst/>
          </a:prstGeom>
          <a:noFill/>
        </p:spPr>
      </p:pic>
      <p:pic>
        <p:nvPicPr>
          <p:cNvPr id="2097197" name="Picture 4" descr="Refer to caption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329505" y="1323975"/>
            <a:ext cx="5276429" cy="4679567"/>
          </a:xfrm>
          <a:prstGeom prst="rect">
            <a:avLst/>
          </a:prstGeom>
          <a:noFill/>
        </p:spPr>
      </p:pic>
      <p:sp>
        <p:nvSpPr>
          <p:cNvPr id="1048744" name="文本框 12"/>
          <p:cNvSpPr txBox="1"/>
          <p:nvPr/>
        </p:nvSpPr>
        <p:spPr>
          <a:xfrm>
            <a:off x="357041" y="6017030"/>
            <a:ext cx="5805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+mj-lt"/>
              </a:rPr>
              <a:t>Intra-node GPU communications via NVLINK or PCIe</a:t>
            </a:r>
            <a:endParaRPr kumimoji="1" lang="zh-CN" altLang="en-US" dirty="0">
              <a:latin typeface="+mj-lt"/>
            </a:endParaRPr>
          </a:p>
        </p:txBody>
      </p:sp>
      <p:sp>
        <p:nvSpPr>
          <p:cNvPr id="1048745" name="文本框 13"/>
          <p:cNvSpPr txBox="1"/>
          <p:nvPr/>
        </p:nvSpPr>
        <p:spPr>
          <a:xfrm>
            <a:off x="6552499" y="5996627"/>
            <a:ext cx="5805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+mj-lt"/>
              </a:rPr>
              <a:t>Inter-node communications via RDMA NIC (IB)</a:t>
            </a:r>
            <a:endParaRPr kumimoji="1" lang="zh-CN" altLang="en-US" dirty="0">
              <a:latin typeface="+mj-lt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Collective</a:t>
            </a:r>
            <a:r>
              <a:rPr lang="zh-CN" altLang="en-US" dirty="0"/>
              <a:t> </a:t>
            </a:r>
            <a:r>
              <a:rPr lang="en-US" altLang="zh-CN" dirty="0" err="1"/>
              <a:t>v.s</a:t>
            </a:r>
            <a:r>
              <a:rPr lang="en-US" altLang="zh-CN" dirty="0"/>
              <a:t>. Point-to-point communications</a:t>
            </a:r>
            <a:endParaRPr lang="zh-CN" altLang="en-US" dirty="0"/>
          </a:p>
        </p:txBody>
      </p:sp>
      <p:sp>
        <p:nvSpPr>
          <p:cNvPr id="1048747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[1] </a:t>
            </a:r>
            <a:r>
              <a:rPr lang="en-US" altLang="zh-CN" dirty="0">
                <a:hlinkClick r:id="rId2"/>
              </a:rPr>
              <a:t>https://developer.nvidia.com/blog/scaling-ai-inference-performance-and-flexibility-with-nvidia-nvlink-and-nvlink-fusion/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altLang="zh-CN" dirty="0"/>
              <a:t>[2] </a:t>
            </a:r>
            <a:r>
              <a:rPr lang="en-US" altLang="zh-CN" dirty="0">
                <a:hlinkClick r:id="rId3"/>
              </a:rPr>
              <a:t>https://www.hiascend.com/developer/techArticles/20240809-1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048748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1048749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Collective operations involve communication among a group of processes rather than just between pairs of processes. e.g., </a:t>
            </a:r>
            <a:r>
              <a:rPr lang="en-US" altLang="zh-CN" dirty="0" err="1"/>
              <a:t>AllReduce</a:t>
            </a:r>
            <a:r>
              <a:rPr lang="en-US" altLang="zh-CN" dirty="0"/>
              <a:t>, </a:t>
            </a:r>
            <a:r>
              <a:rPr lang="en-US" altLang="zh-CN" dirty="0" err="1"/>
              <a:t>AllGather</a:t>
            </a:r>
            <a:r>
              <a:rPr lang="en-US" altLang="zh-CN" dirty="0"/>
              <a:t>, Broadcast</a:t>
            </a:r>
          </a:p>
          <a:p>
            <a:r>
              <a:rPr lang="en-US" altLang="zh-CN" dirty="0"/>
              <a:t>Point-to-point: Send/</a:t>
            </a:r>
            <a:r>
              <a:rPr lang="en-US" altLang="zh-CN" dirty="0" err="1"/>
              <a:t>Recv</a:t>
            </a:r>
            <a:r>
              <a:rPr lang="en-US" altLang="zh-CN" dirty="0"/>
              <a:t> (Two-side), Put/Get (One-side)</a:t>
            </a:r>
          </a:p>
        </p:txBody>
      </p:sp>
      <p:pic>
        <p:nvPicPr>
          <p:cNvPr id="2097198" name="Picture 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562850" y="2739080"/>
            <a:ext cx="3464379" cy="3334696"/>
          </a:xfrm>
          <a:prstGeom prst="rect">
            <a:avLst/>
          </a:prstGeom>
          <a:noFill/>
        </p:spPr>
      </p:pic>
      <p:pic>
        <p:nvPicPr>
          <p:cNvPr id="2097199" name="Picture 10" descr="NCCL hardware and software stack.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164771" y="3227888"/>
            <a:ext cx="4541317" cy="2306137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Broadcast</a:t>
            </a:r>
            <a:endParaRPr lang="zh-CN" altLang="en-US" dirty="0"/>
          </a:p>
        </p:txBody>
      </p:sp>
      <p:sp>
        <p:nvSpPr>
          <p:cNvPr id="1048751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[1] </a:t>
            </a:r>
            <a:r>
              <a:rPr lang="en-US" altLang="zh-CN" dirty="0">
                <a:hlinkClick r:id="rId2"/>
              </a:rPr>
              <a:t>https://docs.nvidia.com/deeplearning/nccl/user-guide/docs/usage/collectives.html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04875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104875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 charset="0"/>
                <a:cs typeface="Calibri" panose="020F0502020204030204" charset="0"/>
              </a:rPr>
              <a:t>Operations: </a:t>
            </a:r>
            <a:r>
              <a:rPr lang="en-GB" altLang="zh-CN" b="0" i="0" dirty="0">
                <a:solidFill>
                  <a:srgbClr val="404040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copy an N-element buffer from the root rank (2) to all the ranks (0-3).</a:t>
            </a:r>
            <a:endParaRPr lang="en-US" altLang="zh-CN" dirty="0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209720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48758" y="2678339"/>
            <a:ext cx="8255000" cy="2540000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Reduce</a:t>
            </a:r>
            <a:endParaRPr lang="zh-CN" altLang="en-US" dirty="0"/>
          </a:p>
        </p:txBody>
      </p:sp>
      <p:sp>
        <p:nvSpPr>
          <p:cNvPr id="104875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[1] </a:t>
            </a:r>
            <a:r>
              <a:rPr lang="en-US" altLang="zh-CN" dirty="0">
                <a:hlinkClick r:id="rId2"/>
              </a:rPr>
              <a:t>https://docs.nvidia.com/deeplearning/nccl/user-guide/docs/usage/collectives.html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04875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1048757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 charset="0"/>
                <a:cs typeface="Calibri" panose="020F0502020204030204" charset="0"/>
              </a:rPr>
              <a:t>Operations: </a:t>
            </a:r>
            <a:r>
              <a:rPr lang="en-GB" altLang="zh-CN" b="0" i="0" dirty="0">
                <a:solidFill>
                  <a:srgbClr val="404040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performs reduction on data (for example, sum, min, max) across devices and stores the result in the receive buffer of a specified root rank.</a:t>
            </a:r>
            <a:endParaRPr lang="en-US" altLang="zh-CN" dirty="0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2097201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68500" y="2779486"/>
            <a:ext cx="8255000" cy="2540000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Gather</a:t>
            </a:r>
            <a:endParaRPr lang="zh-CN" altLang="en-US" dirty="0"/>
          </a:p>
        </p:txBody>
      </p:sp>
      <p:sp>
        <p:nvSpPr>
          <p:cNvPr id="1048759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[1] </a:t>
            </a:r>
            <a:r>
              <a:rPr lang="en-US" altLang="zh-CN" dirty="0">
                <a:hlinkClick r:id="rId2"/>
              </a:rPr>
              <a:t>https://docs.nvidia.com/deeplearning/nccl/user-guide/docs/usage/collectives.html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048760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10</a:t>
            </a:fld>
            <a:endParaRPr lang="zh-CN" altLang="en-US" dirty="0"/>
          </a:p>
        </p:txBody>
      </p:sp>
      <p:sp>
        <p:nvSpPr>
          <p:cNvPr id="1048761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 charset="0"/>
                <a:cs typeface="Calibri" panose="020F0502020204030204" charset="0"/>
              </a:rPr>
              <a:t>Operations: </a:t>
            </a:r>
            <a:r>
              <a:rPr lang="en-GB" altLang="zh-CN" b="0" i="0" dirty="0">
                <a:solidFill>
                  <a:srgbClr val="404040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gathers N values from k ranks into an output buffer on the root rank of size k*N.</a:t>
            </a:r>
            <a:endParaRPr lang="en-US" altLang="zh-CN" dirty="0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209720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85472" y="2660650"/>
            <a:ext cx="8255000" cy="2603500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Scatter</a:t>
            </a:r>
            <a:endParaRPr lang="zh-CN" altLang="en-US" dirty="0"/>
          </a:p>
        </p:txBody>
      </p:sp>
      <p:sp>
        <p:nvSpPr>
          <p:cNvPr id="1048763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[1] </a:t>
            </a:r>
            <a:r>
              <a:rPr lang="en-US" altLang="zh-CN" dirty="0">
                <a:hlinkClick r:id="rId2"/>
              </a:rPr>
              <a:t>https://docs.nvidia.com/deeplearning/nccl/user-guide/docs/usage/collectives.html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04876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11</a:t>
            </a:fld>
            <a:endParaRPr lang="zh-CN" altLang="en-US" dirty="0"/>
          </a:p>
        </p:txBody>
      </p:sp>
      <p:sp>
        <p:nvSpPr>
          <p:cNvPr id="1048765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 charset="0"/>
                <a:cs typeface="Calibri" panose="020F0502020204030204" charset="0"/>
              </a:rPr>
              <a:t>Operations: </a:t>
            </a:r>
            <a:r>
              <a:rPr lang="en-GB" altLang="zh-CN" b="0" i="0" dirty="0">
                <a:solidFill>
                  <a:srgbClr val="404040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distributes a total of N*k values from the root rank to k ranks, each rank receiving N values.</a:t>
            </a:r>
            <a:endParaRPr lang="en-US" altLang="zh-CN" dirty="0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2097203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68500" y="2714171"/>
            <a:ext cx="8255000" cy="2540000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AllReduce</a:t>
            </a:r>
            <a:endParaRPr lang="zh-CN" altLang="en-US" dirty="0"/>
          </a:p>
        </p:txBody>
      </p:sp>
      <p:sp>
        <p:nvSpPr>
          <p:cNvPr id="1048767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[1] </a:t>
            </a:r>
            <a:r>
              <a:rPr lang="en-US" altLang="zh-CN" dirty="0">
                <a:hlinkClick r:id="rId2"/>
              </a:rPr>
              <a:t>https://docs.nvidia.com/deeplearning/nccl/user-guide/docs/usage/collectives.html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048768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12</a:t>
            </a:fld>
            <a:endParaRPr lang="zh-CN" altLang="en-US" dirty="0"/>
          </a:p>
        </p:txBody>
      </p:sp>
      <p:sp>
        <p:nvSpPr>
          <p:cNvPr id="1048769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 charset="0"/>
                <a:cs typeface="Calibri" panose="020F0502020204030204" charset="0"/>
              </a:rPr>
              <a:t>Operations: </a:t>
            </a:r>
            <a:r>
              <a:rPr lang="en-GB" altLang="zh-CN" b="0" i="0" dirty="0">
                <a:solidFill>
                  <a:srgbClr val="404040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performs reductions on data (for example, sum, min, max) across devices and stores the result in the receive buffer of every rank.</a:t>
            </a:r>
            <a:endParaRPr lang="en-US" altLang="zh-CN" dirty="0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209720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68500" y="2768600"/>
            <a:ext cx="8255000" cy="2540000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AllGather</a:t>
            </a:r>
            <a:endParaRPr lang="zh-CN" altLang="en-US" dirty="0"/>
          </a:p>
        </p:txBody>
      </p:sp>
      <p:sp>
        <p:nvSpPr>
          <p:cNvPr id="1048771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[1] </a:t>
            </a:r>
            <a:r>
              <a:rPr lang="en-US" altLang="zh-CN" dirty="0">
                <a:hlinkClick r:id="rId2"/>
              </a:rPr>
              <a:t>https://docs.nvidia.com/deeplearning/nccl/user-guide/docs/usage/collectives.html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04877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13</a:t>
            </a:fld>
            <a:endParaRPr lang="zh-CN" altLang="en-US" dirty="0"/>
          </a:p>
        </p:txBody>
      </p:sp>
      <p:sp>
        <p:nvSpPr>
          <p:cNvPr id="104877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 charset="0"/>
                <a:cs typeface="Calibri" panose="020F0502020204030204" charset="0"/>
              </a:rPr>
              <a:t>Operations: </a:t>
            </a:r>
            <a:r>
              <a:rPr lang="en-GB" altLang="zh-CN" b="0" i="0" dirty="0">
                <a:solidFill>
                  <a:srgbClr val="404040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gathers N values from k ranks into an output buffer of size k*N, and distributes that result to all ranks.</a:t>
            </a:r>
          </a:p>
          <a:p>
            <a:pPr lvl="1">
              <a:buFont typeface="宋体" panose="02010600030101010101" pitchFamily="2" charset="-122"/>
              <a:buChar char="－"/>
            </a:pPr>
            <a:r>
              <a:rPr lang="en-GB" altLang="zh-CN" b="0" i="0" dirty="0">
                <a:solidFill>
                  <a:srgbClr val="404040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The output is ordered by the rank index. </a:t>
            </a:r>
          </a:p>
          <a:p>
            <a:pPr lvl="1">
              <a:buFont typeface="宋体" panose="02010600030101010101" pitchFamily="2" charset="-122"/>
              <a:buChar char="－"/>
            </a:pPr>
            <a:r>
              <a:rPr lang="en-GB" altLang="zh-CN" b="0" i="0" dirty="0">
                <a:solidFill>
                  <a:srgbClr val="404040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This operation is therefore impacted by a different rank to device mapping.</a:t>
            </a:r>
            <a:endParaRPr lang="en-US" altLang="zh-CN" dirty="0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209720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68500" y="3429000"/>
            <a:ext cx="8255000" cy="2603500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ReduceScatter</a:t>
            </a:r>
            <a:endParaRPr lang="zh-CN" altLang="en-US" dirty="0"/>
          </a:p>
        </p:txBody>
      </p:sp>
      <p:sp>
        <p:nvSpPr>
          <p:cNvPr id="104877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[1] </a:t>
            </a:r>
            <a:r>
              <a:rPr lang="en-US" altLang="zh-CN" dirty="0">
                <a:hlinkClick r:id="rId2"/>
              </a:rPr>
              <a:t>https://docs.nvidia.com/deeplearning/nccl/user-guide/docs/usage/collectives.html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04877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14</a:t>
            </a:fld>
            <a:endParaRPr lang="zh-CN" altLang="en-US" dirty="0"/>
          </a:p>
        </p:txBody>
      </p:sp>
      <p:sp>
        <p:nvSpPr>
          <p:cNvPr id="1048777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 charset="0"/>
                <a:cs typeface="Calibri" panose="020F0502020204030204" charset="0"/>
              </a:rPr>
              <a:t>Operations: </a:t>
            </a:r>
            <a:r>
              <a:rPr lang="en-GB" altLang="zh-CN" b="0" i="0" dirty="0">
                <a:solidFill>
                  <a:srgbClr val="404040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performs the same operation as Reduce, except that the result is scattered in equal-sized blocks between ranks, each rank getting a chunk of data based on its rank index.</a:t>
            </a:r>
          </a:p>
          <a:p>
            <a:pPr lvl="1">
              <a:buFont typeface="宋体" panose="02010600030101010101" pitchFamily="2" charset="-122"/>
              <a:buChar char="－"/>
            </a:pPr>
            <a:r>
              <a:rPr lang="en-GB" altLang="zh-CN" b="0" i="0" dirty="0">
                <a:solidFill>
                  <a:srgbClr val="404040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This operation is therefore impacted by a different rank to device mapping.</a:t>
            </a:r>
            <a:endParaRPr lang="en-US" altLang="zh-CN" dirty="0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209720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68500" y="3291115"/>
            <a:ext cx="8255000" cy="2540000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AlltoAll</a:t>
            </a:r>
            <a:endParaRPr lang="zh-CN" altLang="en-US" dirty="0"/>
          </a:p>
        </p:txBody>
      </p:sp>
      <p:sp>
        <p:nvSpPr>
          <p:cNvPr id="1048779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[1] </a:t>
            </a:r>
            <a:r>
              <a:rPr lang="en-US" altLang="zh-CN" dirty="0">
                <a:hlinkClick r:id="rId2"/>
              </a:rPr>
              <a:t>https://docs.nvidia.com/deeplearning/nccl/user-guide/docs/usage/collectives.html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048780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15</a:t>
            </a:fld>
            <a:endParaRPr lang="zh-CN" altLang="en-US" dirty="0"/>
          </a:p>
        </p:txBody>
      </p:sp>
      <p:sp>
        <p:nvSpPr>
          <p:cNvPr id="1048781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 charset="0"/>
                <a:cs typeface="Calibri" panose="020F0502020204030204" charset="0"/>
              </a:rPr>
              <a:t>Operations: each rank provides an input buffer of size N values, where the j-</a:t>
            </a:r>
            <a:r>
              <a:rPr lang="en-US" altLang="zh-CN" dirty="0" err="1">
                <a:latin typeface="Calibri" panose="020F0502020204030204" charset="0"/>
                <a:cs typeface="Calibri" panose="020F0502020204030204" charset="0"/>
              </a:rPr>
              <a:t>th</a:t>
            </a:r>
            <a:r>
              <a:rPr lang="en-US" altLang="zh-CN" dirty="0">
                <a:latin typeface="Calibri" panose="020F0502020204030204" charset="0"/>
                <a:cs typeface="Calibri" panose="020F0502020204030204" charset="0"/>
              </a:rPr>
              <a:t> chunk of N/k values is sent to destination rank j. Each rank receives an output buffer of size N values, where the </a:t>
            </a:r>
            <a:r>
              <a:rPr lang="en-US" altLang="zh-CN" dirty="0" err="1">
                <a:latin typeface="Calibri" panose="020F0502020204030204" charset="0"/>
                <a:cs typeface="Calibri" panose="020F0502020204030204" charset="0"/>
              </a:rPr>
              <a:t>i-th</a:t>
            </a:r>
            <a:r>
              <a:rPr lang="en-US" altLang="zh-CN" dirty="0">
                <a:latin typeface="Calibri" panose="020F0502020204030204" charset="0"/>
                <a:cs typeface="Calibri" panose="020F0502020204030204" charset="0"/>
              </a:rPr>
              <a:t> chunk of N/k values comes from source rank </a:t>
            </a:r>
            <a:r>
              <a:rPr lang="en-US" altLang="zh-CN" dirty="0" err="1">
                <a:latin typeface="Calibri" panose="020F0502020204030204" charset="0"/>
                <a:cs typeface="Calibri" panose="020F0502020204030204" charset="0"/>
              </a:rPr>
              <a:t>i</a:t>
            </a:r>
            <a:r>
              <a:rPr lang="en-US" altLang="zh-CN" dirty="0">
                <a:latin typeface="Calibri" panose="020F0502020204030204" charset="0"/>
                <a:cs typeface="Calibri" panose="020F0502020204030204" charset="0"/>
              </a:rPr>
              <a:t>.</a:t>
            </a:r>
          </a:p>
        </p:txBody>
      </p:sp>
      <p:pic>
        <p:nvPicPr>
          <p:cNvPr id="2097207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68500" y="3429000"/>
            <a:ext cx="8255000" cy="2603500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 charset="0"/>
                <a:cs typeface="Calibri" panose="020F0502020204030204" charset="0"/>
              </a:rPr>
              <a:t>Take FSDP (PyTorch) as an example</a:t>
            </a:r>
            <a:endParaRPr kumimoji="1" lang="zh-CN" alt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78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 charset="0"/>
                <a:cs typeface="Calibri" panose="020F0502020204030204" charset="0"/>
              </a:rPr>
              <a:t>[1] </a:t>
            </a:r>
            <a:r>
              <a:rPr lang="en-US" altLang="zh-CN" dirty="0">
                <a:latin typeface="Calibri" panose="020F0502020204030204" charset="0"/>
                <a:cs typeface="Calibri" panose="020F0502020204030204" charset="0"/>
                <a:hlinkClick r:id="rId3"/>
              </a:rPr>
              <a:t>https://www.uber.com/en-JP/blog/horovod/</a:t>
            </a:r>
            <a:r>
              <a:rPr lang="en-US" altLang="zh-CN" dirty="0">
                <a:latin typeface="Calibri" panose="020F0502020204030204" charset="0"/>
                <a:cs typeface="Calibri" panose="020F0502020204030204" charset="0"/>
              </a:rPr>
              <a:t> </a:t>
            </a:r>
            <a:endParaRPr lang="zh-CN" alt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78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>
                <a:latin typeface="Calibri" panose="020F0502020204030204" charset="0"/>
                <a:cs typeface="Calibri" panose="020F0502020204030204" charset="0"/>
              </a:rPr>
              <a:t>16</a:t>
            </a:fld>
            <a:endParaRPr lang="zh-CN" alt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785" name="内容占位符 4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DP, DDP, FSDP: Data Parallelism, Distributed DP, Fully Sharded DP</a:t>
            </a:r>
          </a:p>
          <a:p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What is DP: multiple model copies on different devices.</a:t>
            </a:r>
          </a:p>
        </p:txBody>
      </p:sp>
      <p:sp>
        <p:nvSpPr>
          <p:cNvPr id="1048786" name="AutoShape 2" descr="Flash Attention: Underlying Principles Explained | by Florian June |  Towards AI"/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209720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162" y="3550510"/>
            <a:ext cx="3017980" cy="2471245"/>
          </a:xfrm>
          <a:prstGeom prst="rect">
            <a:avLst/>
          </a:prstGeom>
        </p:spPr>
      </p:pic>
      <p:sp>
        <p:nvSpPr>
          <p:cNvPr id="1048787" name="文本框 9"/>
          <p:cNvSpPr txBox="1"/>
          <p:nvPr/>
        </p:nvSpPr>
        <p:spPr>
          <a:xfrm>
            <a:off x="1403564" y="6021755"/>
            <a:ext cx="21963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Inference is simple.</a:t>
            </a:r>
            <a:endParaRPr lang="zh-CN" altLang="en-US" sz="2000" dirty="0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2097209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9891" y="2401669"/>
            <a:ext cx="6218740" cy="4020196"/>
          </a:xfrm>
          <a:prstGeom prst="rect">
            <a:avLst/>
          </a:prstGeom>
        </p:spPr>
      </p:pic>
      <p:pic>
        <p:nvPicPr>
          <p:cNvPr id="2097210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90" y="2629719"/>
            <a:ext cx="4648200" cy="889000"/>
          </a:xfrm>
          <a:prstGeom prst="rect">
            <a:avLst/>
          </a:prstGeom>
        </p:spPr>
      </p:pic>
      <p:sp>
        <p:nvSpPr>
          <p:cNvPr id="1048788" name="矩形 12"/>
          <p:cNvSpPr/>
          <p:nvPr/>
        </p:nvSpPr>
        <p:spPr>
          <a:xfrm>
            <a:off x="8970380" y="2338086"/>
            <a:ext cx="682906" cy="40837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789" name="文本框 13"/>
          <p:cNvSpPr txBox="1"/>
          <p:nvPr/>
        </p:nvSpPr>
        <p:spPr>
          <a:xfrm>
            <a:off x="8266816" y="6421865"/>
            <a:ext cx="2101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All-reduce operators</a:t>
            </a:r>
            <a:endParaRPr kumimoji="1" lang="zh-CN" altLang="en-US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 charset="0"/>
                <a:cs typeface="Calibri" panose="020F0502020204030204" charset="0"/>
              </a:rPr>
              <a:t>Take FSDP (PyTorch) as an example</a:t>
            </a:r>
            <a:endParaRPr kumimoji="1" lang="zh-CN" alt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794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 charset="0"/>
                <a:cs typeface="Calibri" panose="020F0502020204030204" charset="0"/>
              </a:rPr>
              <a:t>[1] https://</a:t>
            </a:r>
            <a:r>
              <a:rPr lang="en-US" altLang="zh-CN" dirty="0" err="1">
                <a:latin typeface="Calibri" panose="020F0502020204030204" charset="0"/>
                <a:cs typeface="Calibri" panose="020F0502020204030204" charset="0"/>
              </a:rPr>
              <a:t>docs.pytorch.org</a:t>
            </a:r>
            <a:r>
              <a:rPr lang="en-US" altLang="zh-CN" dirty="0">
                <a:latin typeface="Calibri" panose="020F0502020204030204" charset="0"/>
                <a:cs typeface="Calibri" panose="020F0502020204030204" charset="0"/>
              </a:rPr>
              <a:t>/docs/stable/notes/</a:t>
            </a:r>
            <a:r>
              <a:rPr lang="en-US" altLang="zh-CN" dirty="0" err="1">
                <a:latin typeface="Calibri" panose="020F0502020204030204" charset="0"/>
                <a:cs typeface="Calibri" panose="020F0502020204030204" charset="0"/>
              </a:rPr>
              <a:t>ddp.html</a:t>
            </a:r>
            <a:endParaRPr lang="zh-CN" alt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79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>
                <a:latin typeface="Calibri" panose="020F0502020204030204" charset="0"/>
                <a:cs typeface="Calibri" panose="020F0502020204030204" charset="0"/>
              </a:rPr>
              <a:t>17</a:t>
            </a:fld>
            <a:endParaRPr lang="zh-CN" alt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796" name="内容占位符 4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DP, DDP, FSDP: Data Parallelism, Distributed DP, Fully Sharded DP</a:t>
            </a:r>
          </a:p>
          <a:p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DDP is recommended: optimized all-reduce (ring-based) + distributed support</a:t>
            </a:r>
          </a:p>
          <a:p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DP: reduce op is executed on node 0 (imbalance); DDP: ring-based all-reduce.</a:t>
            </a:r>
          </a:p>
          <a:p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DDP: robust multi-process support.</a:t>
            </a:r>
          </a:p>
        </p:txBody>
      </p:sp>
      <p:sp>
        <p:nvSpPr>
          <p:cNvPr id="1048797" name="AutoShape 2" descr="Flash Attention: Underlying Principles Explained | by Florian June |  Towards AI"/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2097211" name="Picture 2" descr="Distributed Data Parallel — PyTorch 2.8 documentation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94400" y="3120880"/>
            <a:ext cx="6017865" cy="2839680"/>
          </a:xfrm>
          <a:prstGeom prst="rect">
            <a:avLst/>
          </a:prstGeom>
          <a:noFill/>
        </p:spPr>
      </p:pic>
      <p:pic>
        <p:nvPicPr>
          <p:cNvPr id="2097212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3980657"/>
            <a:ext cx="5575300" cy="1524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 charset="0"/>
                <a:cs typeface="Calibri" panose="020F0502020204030204" charset="0"/>
              </a:rPr>
              <a:t>Take FSDP (PyTorch) as an example</a:t>
            </a:r>
            <a:endParaRPr kumimoji="1" lang="zh-CN" alt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80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 charset="0"/>
                <a:cs typeface="Calibri" panose="020F0502020204030204" charset="0"/>
              </a:rPr>
              <a:t>[1] https://</a:t>
            </a:r>
            <a:r>
              <a:rPr lang="en-US" altLang="zh-CN" dirty="0" err="1">
                <a:latin typeface="Calibri" panose="020F0502020204030204" charset="0"/>
                <a:cs typeface="Calibri" panose="020F0502020204030204" charset="0"/>
              </a:rPr>
              <a:t>docs.pytorch.org</a:t>
            </a:r>
            <a:r>
              <a:rPr lang="en-US" altLang="zh-CN" dirty="0">
                <a:latin typeface="Calibri" panose="020F0502020204030204" charset="0"/>
                <a:cs typeface="Calibri" panose="020F0502020204030204" charset="0"/>
              </a:rPr>
              <a:t>/docs/stable/notes/</a:t>
            </a:r>
            <a:r>
              <a:rPr lang="en-US" altLang="zh-CN" dirty="0" err="1">
                <a:latin typeface="Calibri" panose="020F0502020204030204" charset="0"/>
                <a:cs typeface="Calibri" panose="020F0502020204030204" charset="0"/>
              </a:rPr>
              <a:t>ddp.html</a:t>
            </a:r>
            <a:endParaRPr lang="zh-CN" alt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80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>
                <a:latin typeface="Calibri" panose="020F0502020204030204" charset="0"/>
                <a:cs typeface="Calibri" panose="020F0502020204030204" charset="0"/>
              </a:rPr>
              <a:t>18</a:t>
            </a:fld>
            <a:endParaRPr lang="zh-CN" alt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804" name="内容占位符 4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5591175" cy="4853305"/>
          </a:xfrm>
        </p:spPr>
        <p:txBody>
          <a:bodyPr>
            <a:normAutofit/>
          </a:bodyPr>
          <a:lstStyle/>
          <a:p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DP, DDP, FSDP: Data Parallelism, Distributed DP, Fully Sharded DP</a:t>
            </a:r>
          </a:p>
          <a:p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Before</a:t>
            </a:r>
            <a:r>
              <a:rPr kumimoji="1" lang="zh-CN" altLang="en-US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FSDP, we profile the memory utilization during the LLM training.</a:t>
            </a:r>
          </a:p>
          <a:p>
            <a:pPr lvl="1"/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Model params account for only a portion of the </a:t>
            </a:r>
          </a:p>
          <a:p>
            <a:pPr marL="342900" lvl="1" indent="0">
              <a:buNone/>
            </a:pPr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   total memory consumption during training.</a:t>
            </a:r>
          </a:p>
          <a:p>
            <a:pPr lvl="1"/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We need to consider </a:t>
            </a:r>
            <a:r>
              <a:rPr kumimoji="1" lang="en-US" altLang="zh-CN" u="sng" dirty="0">
                <a:latin typeface="Calibri" panose="020F0502020204030204" charset="0"/>
                <a:cs typeface="Calibri" panose="020F0502020204030204" charset="0"/>
              </a:rPr>
              <a:t>the optimizer states</a:t>
            </a:r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 and</a:t>
            </a:r>
          </a:p>
          <a:p>
            <a:pPr marL="342900" lvl="1" indent="0">
              <a:buNone/>
            </a:pPr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    </a:t>
            </a:r>
            <a:r>
              <a:rPr kumimoji="1" lang="en-US" altLang="zh-CN" u="sng" dirty="0">
                <a:latin typeface="Calibri" panose="020F0502020204030204" charset="0"/>
                <a:cs typeface="Calibri" panose="020F0502020204030204" charset="0"/>
              </a:rPr>
              <a:t>gradients</a:t>
            </a:r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.</a:t>
            </a:r>
          </a:p>
          <a:p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Core Idea: removing redundant data.</a:t>
            </a:r>
          </a:p>
          <a:p>
            <a:r>
              <a:rPr kumimoji="1" lang="en-US" altLang="zh-CN" dirty="0" err="1">
                <a:latin typeface="Calibri" panose="020F0502020204030204" charset="0"/>
                <a:cs typeface="Calibri" panose="020F0502020204030204" charset="0"/>
              </a:rPr>
              <a:t>ZeRO</a:t>
            </a:r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 (Zero Redundancy Optimizer).</a:t>
            </a:r>
          </a:p>
        </p:txBody>
      </p:sp>
      <p:sp>
        <p:nvSpPr>
          <p:cNvPr id="1048805" name="AutoShape 2" descr="Flash Attention: Underlying Principles Explained | by Florian June |  Towards AI"/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2097213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12325" y="2323879"/>
            <a:ext cx="5679675" cy="3740472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 charset="0"/>
                <a:cs typeface="Calibri" panose="020F0502020204030204" charset="0"/>
              </a:rPr>
              <a:t>Take FSDP (PyTorch) as an example</a:t>
            </a:r>
            <a:endParaRPr kumimoji="1" lang="zh-CN" alt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810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 charset="0"/>
                <a:cs typeface="Calibri" panose="020F0502020204030204" charset="0"/>
              </a:rPr>
              <a:t>[1] </a:t>
            </a:r>
            <a:r>
              <a:rPr lang="en-US" altLang="zh-CN" dirty="0">
                <a:latin typeface="Calibri" panose="020F0502020204030204" charset="0"/>
                <a:cs typeface="Calibri" panose="020F0502020204030204" charset="0"/>
                <a:hlinkClick r:id="rId3"/>
              </a:rPr>
              <a:t>https://docs.pytorch.org/docs/stable/notes/ddp.html</a:t>
            </a:r>
            <a:endParaRPr lang="en-US" altLang="zh-CN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zh-CN" dirty="0">
                <a:latin typeface="Calibri" panose="020F0502020204030204" charset="0"/>
                <a:cs typeface="Calibri" panose="020F0502020204030204" charset="0"/>
              </a:rPr>
              <a:t>[2] https://</a:t>
            </a:r>
            <a:r>
              <a:rPr lang="en-US" altLang="zh-CN" dirty="0" err="1">
                <a:latin typeface="Calibri" panose="020F0502020204030204" charset="0"/>
                <a:cs typeface="Calibri" panose="020F0502020204030204" charset="0"/>
              </a:rPr>
              <a:t>www.youtube.com</a:t>
            </a:r>
            <a:r>
              <a:rPr lang="en-US" altLang="zh-CN" dirty="0">
                <a:latin typeface="Calibri" panose="020F0502020204030204" charset="0"/>
                <a:cs typeface="Calibri" panose="020F0502020204030204" charset="0"/>
              </a:rPr>
              <a:t>/</a:t>
            </a:r>
            <a:r>
              <a:rPr lang="en-US" altLang="zh-CN" dirty="0" err="1">
                <a:latin typeface="Calibri" panose="020F0502020204030204" charset="0"/>
                <a:cs typeface="Calibri" panose="020F0502020204030204" charset="0"/>
              </a:rPr>
              <a:t>watch?v</a:t>
            </a:r>
            <a:r>
              <a:rPr lang="en-US" altLang="zh-CN" dirty="0">
                <a:latin typeface="Calibri" panose="020F0502020204030204" charset="0"/>
                <a:cs typeface="Calibri" panose="020F0502020204030204" charset="0"/>
              </a:rPr>
              <a:t>=</a:t>
            </a:r>
            <a:r>
              <a:rPr lang="en-US" altLang="zh-CN" dirty="0" err="1">
                <a:latin typeface="Calibri" panose="020F0502020204030204" charset="0"/>
                <a:cs typeface="Calibri" panose="020F0502020204030204" charset="0"/>
              </a:rPr>
              <a:t>czgA-MbAdvA&amp;t</a:t>
            </a:r>
            <a:r>
              <a:rPr lang="en-US" altLang="zh-CN" dirty="0">
                <a:latin typeface="Calibri" panose="020F0502020204030204" charset="0"/>
                <a:cs typeface="Calibri" panose="020F0502020204030204" charset="0"/>
              </a:rPr>
              <a:t>=2550s</a:t>
            </a:r>
            <a:endParaRPr lang="zh-CN" alt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8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>
                <a:latin typeface="Calibri" panose="020F0502020204030204" charset="0"/>
                <a:cs typeface="Calibri" panose="020F0502020204030204" charset="0"/>
              </a:rPr>
              <a:t>19</a:t>
            </a:fld>
            <a:endParaRPr lang="zh-CN" alt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812" name="内容占位符 4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DP, DDP, FSDP: Data Parallelism, Distributed DP, Fully Sharded DP</a:t>
            </a:r>
          </a:p>
          <a:p>
            <a:r>
              <a:rPr kumimoji="1" lang="en-US" altLang="zh-CN" dirty="0" err="1">
                <a:latin typeface="Calibri" panose="020F0502020204030204" charset="0"/>
                <a:cs typeface="Calibri" panose="020F0502020204030204" charset="0"/>
              </a:rPr>
              <a:t>ZeRO</a:t>
            </a:r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 with different opt levels:</a:t>
            </a:r>
          </a:p>
          <a:p>
            <a:pPr lvl="1"/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ZeRO-1: Shards the optimizer states (Optimizer States </a:t>
            </a:r>
            <a:r>
              <a:rPr kumimoji="1" lang="en-US" altLang="zh-CN" dirty="0" err="1">
                <a:latin typeface="Calibri" panose="020F0502020204030204" charset="0"/>
                <a:cs typeface="Calibri" panose="020F0502020204030204" charset="0"/>
              </a:rPr>
              <a:t>Sharding</a:t>
            </a:r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).</a:t>
            </a:r>
          </a:p>
          <a:p>
            <a:pPr lvl="1"/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ZeRO-2: Shards both optimizer states and gradients (Optimizer States &amp; Gradients </a:t>
            </a:r>
            <a:r>
              <a:rPr kumimoji="1" lang="en-US" altLang="zh-CN" dirty="0" err="1">
                <a:latin typeface="Calibri" panose="020F0502020204030204" charset="0"/>
                <a:cs typeface="Calibri" panose="020F0502020204030204" charset="0"/>
              </a:rPr>
              <a:t>Sharding</a:t>
            </a:r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).</a:t>
            </a:r>
          </a:p>
          <a:p>
            <a:pPr lvl="1"/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ZeRO-3: Shards the optimizer states, gradients, and model parameters (Optimizer States &amp; Gradients &amp; Parameters </a:t>
            </a:r>
            <a:r>
              <a:rPr kumimoji="1" lang="en-US" altLang="zh-CN" dirty="0" err="1">
                <a:latin typeface="Calibri" panose="020F0502020204030204" charset="0"/>
                <a:cs typeface="Calibri" panose="020F0502020204030204" charset="0"/>
              </a:rPr>
              <a:t>Sharding</a:t>
            </a:r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).</a:t>
            </a:r>
          </a:p>
        </p:txBody>
      </p:sp>
      <p:sp>
        <p:nvSpPr>
          <p:cNvPr id="1048813" name="AutoShape 2" descr="Flash Attention: Underlying Principles Explained | by Florian June |  Towards AI"/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209721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669165" y="3581400"/>
            <a:ext cx="6382947" cy="2844971"/>
          </a:xfrm>
          <a:prstGeom prst="rect">
            <a:avLst/>
          </a:prstGeom>
          <a:noFill/>
        </p:spPr>
      </p:pic>
      <p:sp>
        <p:nvSpPr>
          <p:cNvPr id="1048814" name="文本框 9"/>
          <p:cNvSpPr txBox="1"/>
          <p:nvPr/>
        </p:nvSpPr>
        <p:spPr>
          <a:xfrm>
            <a:off x="184644" y="4649942"/>
            <a:ext cx="57351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000" u="sng" dirty="0">
                <a:latin typeface="Calibri" panose="020F0502020204030204" charset="0"/>
                <a:cs typeface="Calibri" panose="020F0502020204030204" charset="0"/>
              </a:rPr>
              <a:t>ZeRO3 will introduce the extra communications</a:t>
            </a:r>
            <a:r>
              <a:rPr kumimoji="1" lang="zh-CN" altLang="en-US" sz="2000" u="sng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000" u="sng" dirty="0">
                <a:latin typeface="Calibri" panose="020F0502020204030204" charset="0"/>
                <a:cs typeface="Calibri" panose="020F0502020204030204" charset="0"/>
              </a:rPr>
              <a:t>because of the partitions of model parameters.</a:t>
            </a:r>
          </a:p>
        </p:txBody>
      </p:sp>
      <p:sp>
        <p:nvSpPr>
          <p:cNvPr id="1048815" name="文本框 11"/>
          <p:cNvSpPr txBox="1"/>
          <p:nvPr/>
        </p:nvSpPr>
        <p:spPr>
          <a:xfrm>
            <a:off x="6086356" y="6344809"/>
            <a:ext cx="6105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dirty="0">
                <a:latin typeface="Calibri" panose="020F0502020204030204" charset="0"/>
                <a:cs typeface="Calibri" panose="020F0502020204030204" charset="0"/>
              </a:rPr>
              <a:t>K denotes the memory multiplier of the optimizer states</a:t>
            </a:r>
            <a:endParaRPr lang="zh-CN" altLang="en-US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 charset="0"/>
                <a:cs typeface="Calibri" panose="020F0502020204030204" charset="0"/>
              </a:rPr>
              <a:t>Take FSDP (PyTorch) as an example</a:t>
            </a:r>
            <a:endParaRPr kumimoji="1" lang="zh-CN" alt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820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 charset="0"/>
                <a:cs typeface="Calibri" panose="020F0502020204030204" charset="0"/>
              </a:rPr>
              <a:t>[1] </a:t>
            </a:r>
            <a:r>
              <a:rPr lang="en-US" altLang="zh-CN" dirty="0">
                <a:latin typeface="Calibri" panose="020F0502020204030204" charset="0"/>
                <a:cs typeface="Calibri" panose="020F0502020204030204" charset="0"/>
                <a:hlinkClick r:id="rId3"/>
              </a:rPr>
              <a:t>https://docs.pytorch.org/tutorials/intermediate/FSDP_tutorial.html</a:t>
            </a:r>
            <a:endParaRPr lang="en-US" altLang="zh-CN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zh-CN" dirty="0">
                <a:latin typeface="Calibri" panose="020F0502020204030204" charset="0"/>
                <a:cs typeface="Calibri" panose="020F0502020204030204" charset="0"/>
              </a:rPr>
              <a:t>[2] </a:t>
            </a:r>
            <a:r>
              <a:rPr lang="en-US" altLang="zh-CN" dirty="0">
                <a:latin typeface="Calibri" panose="020F0502020204030204" charset="0"/>
                <a:cs typeface="Calibri" panose="020F0502020204030204" charset="0"/>
                <a:hlinkClick r:id="rId4"/>
              </a:rPr>
              <a:t>https://arxiv.org/abs/2304.11277</a:t>
            </a:r>
            <a:r>
              <a:rPr lang="en-US" altLang="zh-CN" dirty="0">
                <a:latin typeface="Calibri" panose="020F0502020204030204" charset="0"/>
                <a:cs typeface="Calibri" panose="020F0502020204030204" charset="0"/>
              </a:rPr>
              <a:t> </a:t>
            </a:r>
            <a:endParaRPr lang="zh-CN" alt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82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>
                <a:latin typeface="Calibri" panose="020F0502020204030204" charset="0"/>
                <a:cs typeface="Calibri" panose="020F0502020204030204" charset="0"/>
              </a:rPr>
              <a:t>20</a:t>
            </a:fld>
            <a:endParaRPr lang="zh-CN" alt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822" name="内容占位符 4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DP, DDP, FSDP: Data Parallelism, Distributed DP, Fully Sharded DP</a:t>
            </a:r>
          </a:p>
          <a:p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FSDP: </a:t>
            </a:r>
            <a:r>
              <a:rPr kumimoji="1" lang="en-US" altLang="zh-CN" dirty="0" err="1">
                <a:latin typeface="Calibri" panose="020F0502020204030204" charset="0"/>
                <a:cs typeface="Calibri" panose="020F0502020204030204" charset="0"/>
              </a:rPr>
              <a:t>sharding</a:t>
            </a:r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 model parameters/gradient/optimizer states for GPU memory reduction (ZeRO3).</a:t>
            </a:r>
          </a:p>
        </p:txBody>
      </p:sp>
      <p:sp>
        <p:nvSpPr>
          <p:cNvPr id="1048823" name="AutoShape 2" descr="Flash Attention: Underlying Principles Explained | by Florian June |  Towards AI"/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2097215" name="Picture 2" descr="FSDP workflow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09550" y="2788751"/>
            <a:ext cx="7898291" cy="3567600"/>
          </a:xfrm>
          <a:prstGeom prst="rect">
            <a:avLst/>
          </a:prstGeom>
          <a:noFill/>
        </p:spPr>
      </p:pic>
      <p:pic>
        <p:nvPicPr>
          <p:cNvPr id="2097216" name="Picture 4" descr="FSDP all-gather and reduce-scatter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8389937" y="3541852"/>
            <a:ext cx="3802063" cy="2087669"/>
          </a:xfrm>
          <a:prstGeom prst="rect">
            <a:avLst/>
          </a:prstGeom>
          <a:noFill/>
        </p:spPr>
      </p:pic>
      <p:sp>
        <p:nvSpPr>
          <p:cNvPr id="1048824" name="文本框 10"/>
          <p:cNvSpPr txBox="1"/>
          <p:nvPr/>
        </p:nvSpPr>
        <p:spPr>
          <a:xfrm>
            <a:off x="8939988" y="5669770"/>
            <a:ext cx="27019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All-reduce =</a:t>
            </a:r>
          </a:p>
          <a:p>
            <a:pPr algn="ctr"/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Reduce-scatter + all-gather</a:t>
            </a:r>
            <a:endParaRPr kumimoji="1" lang="zh-CN" alt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825" name="矩形 7"/>
          <p:cNvSpPr/>
          <p:nvPr/>
        </p:nvSpPr>
        <p:spPr>
          <a:xfrm>
            <a:off x="822428" y="3970116"/>
            <a:ext cx="751730" cy="90282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Implementations of collective communication operators</a:t>
            </a:r>
            <a:endParaRPr kumimoji="1" lang="zh-CN" altLang="en-US" dirty="0"/>
          </a:p>
        </p:txBody>
      </p:sp>
      <p:sp>
        <p:nvSpPr>
          <p:cNvPr id="1048830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[1] </a:t>
            </a:r>
            <a:r>
              <a:rPr lang="en-US" altLang="zh-CN" dirty="0">
                <a:hlinkClick r:id="rId3"/>
              </a:rPr>
              <a:t>https://docs.pytorch.org/tutorials/intermediate/FSDP_tutorial.html</a:t>
            </a:r>
            <a:endParaRPr lang="en-US" altLang="zh-CN" dirty="0"/>
          </a:p>
          <a:p>
            <a:r>
              <a:rPr lang="en-US" altLang="zh-CN" dirty="0"/>
              <a:t>[2] </a:t>
            </a:r>
            <a:r>
              <a:rPr lang="en-US" altLang="zh-CN" dirty="0">
                <a:hlinkClick r:id="rId4"/>
              </a:rPr>
              <a:t>https://arxiv.org/abs/2304.11277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04883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21</a:t>
            </a:fld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097217" name="Picture 4" descr="FSDP all-gather and reduce-scatter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40734" y="1343025"/>
            <a:ext cx="3116417" cy="1711189"/>
          </a:xfrm>
          <a:prstGeom prst="rect">
            <a:avLst/>
          </a:prstGeom>
          <a:noFill/>
        </p:spPr>
      </p:pic>
      <p:sp>
        <p:nvSpPr>
          <p:cNvPr id="1048832" name="文本框 12"/>
          <p:cNvSpPr txBox="1"/>
          <p:nvPr/>
        </p:nvSpPr>
        <p:spPr>
          <a:xfrm>
            <a:off x="419100" y="3186033"/>
            <a:ext cx="4159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All-reduce = Reduce-scatter + all-gather</a:t>
            </a:r>
            <a:endParaRPr kumimoji="1" lang="zh-CN" alt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2097218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868" y="3554049"/>
            <a:ext cx="3740149" cy="2209716"/>
          </a:xfrm>
          <a:prstGeom prst="rect">
            <a:avLst/>
          </a:prstGeom>
        </p:spPr>
      </p:pic>
      <p:sp>
        <p:nvSpPr>
          <p:cNvPr id="1048833" name="文本框 13"/>
          <p:cNvSpPr txBox="1"/>
          <p:nvPr/>
        </p:nvSpPr>
        <p:spPr>
          <a:xfrm>
            <a:off x="1696383" y="5758487"/>
            <a:ext cx="1605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Ring All-reduce</a:t>
            </a:r>
            <a:endParaRPr kumimoji="1" lang="zh-CN" alt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125" name="组合 9"/>
          <p:cNvGrpSpPr/>
          <p:nvPr/>
        </p:nvGrpSpPr>
        <p:grpSpPr>
          <a:xfrm>
            <a:off x="7463045" y="1343025"/>
            <a:ext cx="3740149" cy="1960850"/>
            <a:chOff x="8073488" y="2124816"/>
            <a:chExt cx="3594638" cy="1817234"/>
          </a:xfrm>
        </p:grpSpPr>
        <p:pic>
          <p:nvPicPr>
            <p:cNvPr id="2097219" name="Picture 2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8073488" y="2124816"/>
              <a:ext cx="3594638" cy="1817234"/>
            </a:xfrm>
            <a:prstGeom prst="rect">
              <a:avLst/>
            </a:prstGeom>
            <a:noFill/>
          </p:spPr>
        </p:pic>
        <p:sp>
          <p:nvSpPr>
            <p:cNvPr id="1048834" name="矩形 6"/>
            <p:cNvSpPr/>
            <p:nvPr/>
          </p:nvSpPr>
          <p:spPr>
            <a:xfrm>
              <a:off x="11008360" y="2153920"/>
              <a:ext cx="619760" cy="101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048835" name="文本框 17"/>
          <p:cNvSpPr txBox="1"/>
          <p:nvPr/>
        </p:nvSpPr>
        <p:spPr>
          <a:xfrm>
            <a:off x="7960788" y="3322541"/>
            <a:ext cx="2744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NVIDIA GPU CLOS Topology</a:t>
            </a:r>
            <a:endParaRPr kumimoji="1" lang="zh-CN" alt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2097220" name="Picture 4" descr="Huawei Presents UB-Mesh Interconnect for Large AI SuperNodes at Hot Chips  2025 - ServeTheHome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7368928" y="3710539"/>
            <a:ext cx="3928383" cy="2209716"/>
          </a:xfrm>
          <a:prstGeom prst="rect">
            <a:avLst/>
          </a:prstGeom>
          <a:noFill/>
        </p:spPr>
      </p:pic>
      <p:sp>
        <p:nvSpPr>
          <p:cNvPr id="1048836" name="文本框 19"/>
          <p:cNvSpPr txBox="1"/>
          <p:nvPr/>
        </p:nvSpPr>
        <p:spPr>
          <a:xfrm>
            <a:off x="7680263" y="5759286"/>
            <a:ext cx="3305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HUAWEI NPU Full-mesh Topology</a:t>
            </a:r>
            <a:endParaRPr kumimoji="1" lang="zh-CN" alt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837" name="文本框 14"/>
          <p:cNvSpPr txBox="1"/>
          <p:nvPr/>
        </p:nvSpPr>
        <p:spPr>
          <a:xfrm>
            <a:off x="4554466" y="2736607"/>
            <a:ext cx="2744663" cy="1827193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endParaRPr kumimoji="1" lang="en-US" altLang="zh-CN" dirty="0"/>
          </a:p>
          <a:p>
            <a:pPr algn="ctr"/>
            <a:endParaRPr kumimoji="1" lang="en-US" altLang="zh-CN" dirty="0"/>
          </a:p>
          <a:p>
            <a:pPr algn="ctr"/>
            <a:endParaRPr kumimoji="1" lang="en-US" altLang="zh-CN" dirty="0"/>
          </a:p>
          <a:p>
            <a:pPr algn="ctr"/>
            <a:endParaRPr kumimoji="1" lang="zh-CN" altLang="en-US" dirty="0"/>
          </a:p>
        </p:txBody>
      </p:sp>
      <p:sp>
        <p:nvSpPr>
          <p:cNvPr id="1048838" name="文本框 22"/>
          <p:cNvSpPr txBox="1"/>
          <p:nvPr/>
        </p:nvSpPr>
        <p:spPr>
          <a:xfrm>
            <a:off x="2921874" y="3075677"/>
            <a:ext cx="610913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dirty="0"/>
              <a:t>The implementations </a:t>
            </a:r>
          </a:p>
          <a:p>
            <a:pPr algn="ctr"/>
            <a:r>
              <a:rPr kumimoji="1" lang="en-US" altLang="zh-CN" dirty="0"/>
              <a:t>highly depends on </a:t>
            </a:r>
          </a:p>
          <a:p>
            <a:pPr algn="ctr"/>
            <a:r>
              <a:rPr kumimoji="1" lang="en-US" altLang="zh-CN" dirty="0"/>
              <a:t>the hardware topology  </a:t>
            </a:r>
            <a:endParaRPr kumimoji="1" lang="zh-CN" altLang="en-US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The Solution: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FlagOS,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a Unified AI Software Stack</a:t>
            </a:r>
            <a:endParaRPr lang="zh-CN" altLang="en-US"/>
          </a:p>
        </p:txBody>
      </p:sp>
      <p:pic>
        <p:nvPicPr>
          <p:cNvPr id="7" name="内容占位符 6" descr="flagos-architecture-e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832"/>
          <p:cNvSpPr/>
          <p:nvPr>
            <p:custDataLst>
              <p:tags r:id="rId1"/>
            </p:custDataLst>
          </p:nvPr>
        </p:nvSpPr>
        <p:spPr>
          <a:xfrm>
            <a:off x="89535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832"/>
          <p:cNvSpPr/>
          <p:nvPr>
            <p:custDataLst>
              <p:tags r:id="rId2"/>
            </p:custDataLst>
          </p:nvPr>
        </p:nvSpPr>
        <p:spPr>
          <a:xfrm>
            <a:off x="440023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832"/>
          <p:cNvSpPr/>
          <p:nvPr>
            <p:custDataLst>
              <p:tags r:id="rId3"/>
            </p:custDataLst>
          </p:nvPr>
        </p:nvSpPr>
        <p:spPr>
          <a:xfrm>
            <a:off x="790511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832"/>
          <p:cNvSpPr/>
          <p:nvPr>
            <p:custDataLst>
              <p:tags r:id="rId4"/>
            </p:custDataLst>
          </p:nvPr>
        </p:nvSpPr>
        <p:spPr>
          <a:xfrm>
            <a:off x="89535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832"/>
          <p:cNvSpPr/>
          <p:nvPr>
            <p:custDataLst>
              <p:tags r:id="rId5"/>
            </p:custDataLst>
          </p:nvPr>
        </p:nvSpPr>
        <p:spPr>
          <a:xfrm>
            <a:off x="440023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832"/>
          <p:cNvSpPr/>
          <p:nvPr>
            <p:custDataLst>
              <p:tags r:id="rId6"/>
            </p:custDataLst>
          </p:nvPr>
        </p:nvSpPr>
        <p:spPr>
          <a:xfrm>
            <a:off x="790511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72"/>
          <p:cNvSpPr/>
          <p:nvPr>
            <p:custDataLst>
              <p:tags r:id="rId7"/>
            </p:custDataLst>
          </p:nvPr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1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사각형: 둥근 모서리 72"/>
          <p:cNvSpPr/>
          <p:nvPr>
            <p:custDataLst>
              <p:tags r:id="rId8"/>
            </p:custDataLst>
          </p:nvPr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19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사각형: 둥근 모서리 72"/>
          <p:cNvSpPr/>
          <p:nvPr>
            <p:custDataLst>
              <p:tags r:id="rId9"/>
            </p:custDataLst>
          </p:nvPr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20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사각형: 둥근 모서리 72"/>
          <p:cNvSpPr/>
          <p:nvPr>
            <p:custDataLst>
              <p:tags r:id="rId10"/>
            </p:custDataLst>
          </p:nvPr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2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사각형: 둥근 모서리 72"/>
          <p:cNvSpPr/>
          <p:nvPr>
            <p:custDataLst>
              <p:tags r:id="rId11"/>
            </p:custDataLst>
          </p:nvPr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2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사각형: 둥근 모서리 72"/>
          <p:cNvSpPr/>
          <p:nvPr>
            <p:custDataLst>
              <p:tags r:id="rId12"/>
            </p:custDataLst>
          </p:nvPr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2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8" name="object 3"/>
          <p:cNvSpPr txBox="1"/>
          <p:nvPr>
            <p:custDataLst>
              <p:tags r:id="rId13"/>
            </p:custDataLst>
          </p:nvPr>
        </p:nvSpPr>
        <p:spPr>
          <a:xfrm>
            <a:off x="1219842" y="251790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4" action="ppaction://hlinkfile"/>
              </a:rPr>
              <a:t>https://github.com/flagos-ai</a:t>
            </a:r>
          </a:p>
          <a:p>
            <a:endParaRPr lang="en-US" altLang="ko-KR" sz="1600" dirty="0"/>
          </a:p>
        </p:txBody>
      </p:sp>
      <p:sp>
        <p:nvSpPr>
          <p:cNvPr id="36" name="object 3"/>
          <p:cNvSpPr txBox="1"/>
          <p:nvPr>
            <p:custDataLst>
              <p:tags r:id="rId14"/>
            </p:custDataLst>
          </p:nvPr>
        </p:nvSpPr>
        <p:spPr>
          <a:xfrm>
            <a:off x="8015605" y="2341245"/>
            <a:ext cx="2882265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5" action="ppaction://hlinkfile"/>
              </a:rPr>
              <a:t>https://space.bilibili.com/3546791834290849</a:t>
            </a:r>
            <a:endParaRPr lang="en-US" altLang="zh-CN" sz="1600" dirty="0"/>
          </a:p>
        </p:txBody>
      </p:sp>
      <p:sp>
        <p:nvSpPr>
          <p:cNvPr id="42" name="object 3"/>
          <p:cNvSpPr txBox="1"/>
          <p:nvPr>
            <p:custDataLst>
              <p:tags r:id="rId15"/>
            </p:custDataLst>
          </p:nvPr>
        </p:nvSpPr>
        <p:spPr>
          <a:xfrm>
            <a:off x="1219842" y="440385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6" action="ppaction://hlinkfile"/>
              </a:rPr>
              <a:t>https://www.zhihu.com/people/95-22-20-18/posts</a:t>
            </a:r>
            <a:endParaRPr lang="en-US" altLang="ko-KR" sz="1600" dirty="0"/>
          </a:p>
        </p:txBody>
      </p:sp>
      <p:sp>
        <p:nvSpPr>
          <p:cNvPr id="45" name="object 3"/>
          <p:cNvSpPr txBox="1"/>
          <p:nvPr>
            <p:custDataLst>
              <p:tags r:id="rId16"/>
            </p:custDataLst>
          </p:nvPr>
        </p:nvSpPr>
        <p:spPr>
          <a:xfrm>
            <a:off x="4724722" y="4403854"/>
            <a:ext cx="2513958" cy="39687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7" action="ppaction://hlinkfile"/>
              </a:rPr>
              <a:t>https://flagos.io/Home</a:t>
            </a:r>
            <a:endParaRPr lang="en-US" altLang="ko-KR" sz="1600" dirty="0"/>
          </a:p>
        </p:txBody>
      </p:sp>
      <p:pic>
        <p:nvPicPr>
          <p:cNvPr id="54" name="图片 53" descr="weixin-DL0TqDNO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</p:spPr>
      </p:pic>
      <p:pic>
        <p:nvPicPr>
          <p:cNvPr id="55" name="图片 54" descr="feishu-qrcode-C75xQn56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개체 틀 4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306" r="2306"/>
          <a:stretch>
            <a:fillRect/>
          </a:stretch>
        </p:blipFill>
        <p:spPr/>
      </p:pic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5625465" y="2373630"/>
            <a:ext cx="5739130" cy="2664460"/>
          </a:xfrm>
        </p:spPr>
        <p:txBody>
          <a:bodyPr/>
          <a:lstStyle/>
          <a:p>
            <a:pPr algn="l"/>
            <a:r>
              <a:rPr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Thanks for your time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！</a:t>
            </a:r>
            <a:endParaRPr kumimoji="1" lang="ko-KR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heme/theme1.xml><?xml version="1.0" encoding="utf-8"?>
<a:theme xmlns:a="http://schemas.openxmlformats.org/drawingml/2006/main" name="母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极端阴影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1803</Words>
  <Application>Microsoft Office PowerPoint</Application>
  <PresentationFormat>宽屏</PresentationFormat>
  <Paragraphs>167</Paragraphs>
  <Slides>24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7" baseType="lpstr">
      <vt:lpstr>-apple-system</vt:lpstr>
      <vt:lpstr>等线</vt:lpstr>
      <vt:lpstr>宋体</vt:lpstr>
      <vt:lpstr>微软雅黑</vt:lpstr>
      <vt:lpstr>文泉驿微米黑</vt:lpstr>
      <vt:lpstr>Arial</vt:lpstr>
      <vt:lpstr>Calibri</vt:lpstr>
      <vt:lpstr>Calibri Light</vt:lpstr>
      <vt:lpstr>Ebrima</vt:lpstr>
      <vt:lpstr>Garamond</vt:lpstr>
      <vt:lpstr>Montserrat SemiBold</vt:lpstr>
      <vt:lpstr>Wingdings 3</vt:lpstr>
      <vt:lpstr>母版</vt:lpstr>
      <vt:lpstr>Hardware and Software Fundamentals of  Intelligent Computing  Systems</vt:lpstr>
      <vt:lpstr>Lecture 31: Communication Primitives</vt:lpstr>
      <vt:lpstr>Scaling Law of LLMs</vt:lpstr>
      <vt:lpstr>AI computing systems are also scaling</vt:lpstr>
      <vt:lpstr>Mapping LLMs on multiple GPUs/NPUs…</vt:lpstr>
      <vt:lpstr>Communication datapath in the AI systems</vt:lpstr>
      <vt:lpstr>Collective v.s. Point-to-point communications</vt:lpstr>
      <vt:lpstr>Broadcast</vt:lpstr>
      <vt:lpstr>Reduce</vt:lpstr>
      <vt:lpstr>Gather</vt:lpstr>
      <vt:lpstr>Scatter</vt:lpstr>
      <vt:lpstr>AllReduce</vt:lpstr>
      <vt:lpstr>AllGather</vt:lpstr>
      <vt:lpstr>ReduceScatter</vt:lpstr>
      <vt:lpstr>AlltoAll</vt:lpstr>
      <vt:lpstr>Take FSDP (PyTorch) as an example</vt:lpstr>
      <vt:lpstr>Take FSDP (PyTorch) as an example</vt:lpstr>
      <vt:lpstr>Take FSDP (PyTorch) as an example</vt:lpstr>
      <vt:lpstr>Take FSDP (PyTorch) as an example</vt:lpstr>
      <vt:lpstr>Take FSDP (PyTorch) as an example</vt:lpstr>
      <vt:lpstr>Implementations of collective communication operators</vt:lpstr>
      <vt:lpstr>The Solution: FlagOS, a Unified AI Software Stack</vt:lpstr>
      <vt:lpstr>PowerPoint 演示文稿</vt:lpstr>
      <vt:lpstr>Thanks for your time！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31：通信原语</dc:title>
  <dc:creator>王丰</dc:creator>
  <cp:lastModifiedBy>Xiang Li</cp:lastModifiedBy>
  <cp:revision>5</cp:revision>
  <dcterms:created xsi:type="dcterms:W3CDTF">2026-03-12T02:58:00Z</dcterms:created>
  <dcterms:modified xsi:type="dcterms:W3CDTF">2026-03-17T14:54:43Z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ee666b583c344ad8a56cc9f53e4dda6b_23</vt:lpwstr>
  </property>
  <property fmtid="{D5CDD505-2E9C-101B-9397-08002B2CF9AE}" pid="3" name="KSOProductBuildVer">
    <vt:lpwstr>2052-12.1.0.19302</vt:lpwstr>
  </property>
</Properties>
</file>