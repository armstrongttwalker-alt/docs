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337" r:id="rId2"/>
    <p:sldId id="256" r:id="rId3"/>
    <p:sldId id="259" r:id="rId4"/>
    <p:sldId id="260" r:id="rId5"/>
    <p:sldId id="261" r:id="rId6"/>
    <p:sldId id="262" r:id="rId7"/>
    <p:sldId id="263" r:id="rId8"/>
    <p:sldId id="277" r:id="rId9"/>
    <p:sldId id="279" r:id="rId10"/>
    <p:sldId id="280" r:id="rId11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83DEB3A-1B30-4ED8-929D-D4389515C9ED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1905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2H>
    <a:band1V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lastCol>
    <a:firstCol>
      <a:tcTxStyle b="on">
        <a:fontRef idx="none">
          <a:srgbClr val="8B0012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firstCol>
    <a:la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9525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359806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86156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7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10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9.png"/><Relationship Id="rId29" Type="http://schemas.openxmlformats.org/officeDocument/2006/relationships/image" Target="../media/image14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12.png"/><Relationship Id="rId28" Type="http://schemas.openxmlformats.org/officeDocument/2006/relationships/image" Target="../media/image13.jpeg"/><Relationship Id="rId10" Type="http://schemas.openxmlformats.org/officeDocument/2006/relationships/tags" Target="../tags/tag20.xml"/><Relationship Id="rId19" Type="http://schemas.openxmlformats.org/officeDocument/2006/relationships/image" Target="../media/image8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1.png"/><Relationship Id="rId27" Type="http://schemas.openxmlformats.org/officeDocument/2006/relationships/hyperlink" Target="https://flagos.io/Hom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Lecture 46-47: </a:t>
            </a:r>
            <a:r>
              <a:rPr lang="en-US" altLang="zh-CN"/>
              <a:t>Course Project Presentation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Projects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 firstRow="1">
                <a:tableStyleId>{F83DEB3A-1B30-4ED8-929D-D4389515C9ED}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Lecture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Project Name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Type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Key Assessment Criteria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5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Environment Setup and Toolchain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Lab Session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Four-Phase Operational Verification + + Lab Report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9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Softmax Kernel (Midterm)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Correctness 40pts + Performance70% Threshold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18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RMSNorm+Residual  Fusion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Performance must reach FlagGems Benchmark 90%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27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FlagTree Pass  Contribution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Choose from 3 directions, FileCheck Test Verification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36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7B  Multi-Node Distributed Training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3-Person Team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Comparison of 3 Parallelism Strategies + + Linear Speedup Ratio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46-47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Capstone Project Defense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Group Defense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Proposal Feasibility + + Authenticity of Progress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Defense General Guidelines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/>
              <a:t>The Capstone Project (Final Project) is conducted in  3–4 -person teams, spanning Module V (Lectures  37–45). The defense has two sessions: Lecture  46  for mid-term progress review, Lecture  47  for final presentation. The project must cover at least one of the following dimensions: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Self-designed  novel hardware benchmarking scheme design and implementation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KernelGen  capability evaluation and optimization for specific operator generation tasks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For domestic  GPU  full-stack (FlagTree + FlagGems) operator optimization practice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AI -assisted programming in systems software development exploration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Proposal Presentation and Progress Report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Defense Procedure</a:t>
            </a:r>
          </a:p>
          <a:p>
            <a:pPr lvl="1"/>
            <a:r>
              <a:rPr lang="en-US" altLang="en-US"/>
              <a:t>Duration：Each group:  12 -min presentation + 5 -min Q&amp;A</a:t>
            </a:r>
          </a:p>
          <a:p>
            <a:pPr lvl="1"/>
            <a:r>
              <a:rPr lang="en-US" altLang="en-US"/>
              <a:t>Presentation Order：Determined by lottery, announced  1  week(s) in advance</a:t>
            </a:r>
          </a:p>
          <a:p>
            <a:pPr lvl="1"/>
            <a:r>
              <a:rPr lang="en-US" altLang="en-US"/>
              <a:t>Submission Materials：PPT  file (by  08:00  on defense day, uploaded to course platform)</a:t>
            </a:r>
          </a:p>
          <a:p>
            <a:pPr lvl="0"/>
            <a:r>
              <a:rPr lang="en-US" altLang="en-US"/>
              <a:t>Required Presentation Content (Must Cover)</a:t>
            </a:r>
          </a:p>
          <a:p>
            <a:pPr lvl="1"/>
            <a:r>
              <a:rPr lang="en-US" altLang="en-US"/>
              <a:t>Project Background and Motivation: Why this problem? What is its engineering value?</a:t>
            </a:r>
          </a:p>
          <a:p>
            <a:pPr lvl="1"/>
            <a:r>
              <a:rPr lang="en-US" altLang="en-US"/>
              <a:t>Technical Approach: system architecture diagram, key technical roadmap, integration points with the  FlagOS  ecosystem</a:t>
            </a:r>
          </a:p>
          <a:p>
            <a:pPr lvl="1"/>
            <a:r>
              <a:rPr lang="en-US" altLang="en-US"/>
              <a:t>Current Progress: experimental data or code demo for completed parts (must not be limited to  PPT  descriptions only)</a:t>
            </a:r>
          </a:p>
          <a:p>
            <a:pPr lvl="1"/>
            <a:r>
              <a:rPr lang="en-US" altLang="en-US"/>
              <a:t>Challenges Encountered: specific technical difficulties and attempted solutions</a:t>
            </a:r>
          </a:p>
          <a:p>
            <a:pPr lvl="1"/>
            <a:r>
              <a:rPr lang="en-US" altLang="en-US"/>
              <a:t>Future Plans: refinement plan with clear milestones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Final Report Specifications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Format Requirements</a:t>
            </a:r>
          </a:p>
          <a:p>
            <a:pPr lvl="1"/>
            <a:r>
              <a:rPr lang="en-US" altLang="en-US"/>
              <a:t>Length: 8–12  pages of body text (excluding cover, table of contents, and references)</a:t>
            </a:r>
          </a:p>
          <a:p>
            <a:pPr lvl="1"/>
            <a:r>
              <a:rPr lang="en-US" altLang="en-US"/>
              <a:t>Format: A4，12pt  body text; figures and tables must be numbered and titled</a:t>
            </a:r>
          </a:p>
          <a:p>
            <a:pPr lvl="1"/>
            <a:r>
              <a:rPr lang="en-US" altLang="en-US"/>
              <a:t>Language: primarily English; code and technical terms in English</a:t>
            </a:r>
          </a:p>
          <a:p>
            <a:r>
              <a:rPr lang="en-US" altLang="en-US"/>
              <a:t>Required Content</a:t>
            </a:r>
          </a:p>
          <a:p>
            <a:pPr lvl="1"/>
            <a:r>
              <a:rPr lang="en-US" altLang="en-US"/>
              <a:t>Abstract (within 300  words): core contributions and main conclusions</a:t>
            </a:r>
          </a:p>
          <a:p>
            <a:pPr lvl="1"/>
            <a:r>
              <a:rPr lang="en-US" altLang="en-US"/>
              <a:t>System Design Chapter: architecture diagrams, key data structures</a:t>
            </a:r>
          </a:p>
          <a:p>
            <a:pPr lvl="1"/>
            <a:r>
              <a:rPr lang="en-US" altLang="en-US"/>
              <a:t>Experiment Chapter: setup, baseline selection, result analysis (at least  1  performance comparison line//bar chart)</a:t>
            </a:r>
          </a:p>
          <a:p>
            <a:pPr lvl="1"/>
            <a:r>
              <a:rPr lang="en-US" altLang="en-US"/>
              <a:t>Discussion Chapter: limitations analysis, potential improvements if redone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Grading Criteria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7</a:t>
            </a:fld>
            <a:endParaRPr lang="en-US" altLang="en-US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347663" y="1671177"/>
          <a:ext cx="11496675" cy="4146550"/>
        </p:xfrm>
        <a:graphic>
          <a:graphicData uri="http://schemas.openxmlformats.org/drawingml/2006/table">
            <a:tbl>
              <a:tblPr/>
              <a:tblGrid>
                <a:gridCol w="3910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9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12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Assessment Dimension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12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Score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12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Grading Criteria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pc="120">
                          <a:latin typeface="Arial" panose="020B0604020202020204"/>
                          <a:ea typeface="Arial" panose="020B0604020202020204"/>
                        </a:rPr>
                        <a:t>Technical Depth and Innovation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>
                          <a:latin typeface="Arial" panose="020B0604020202020204"/>
                          <a:ea typeface="Arial" panose="020B0604020202020204"/>
                        </a:rPr>
                        <a:t>30  pts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pc="120">
                          <a:latin typeface="Arial" panose="020B0604020202020204"/>
                          <a:ea typeface="Arial" panose="020B0604020202020204"/>
                        </a:rPr>
                        <a:t>Problem difficulty, solution design, innovation analysis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pc="120">
                          <a:latin typeface="Arial" panose="020B0604020202020204"/>
                          <a:ea typeface="Arial" panose="020B0604020202020204"/>
                        </a:rPr>
                        <a:t>Experimental Results and Data Quality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>
                          <a:latin typeface="Arial" panose="020B0604020202020204"/>
                          <a:ea typeface="Arial" panose="020B0604020202020204"/>
                        </a:rPr>
                        <a:t>30  pts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pc="120">
                          <a:latin typeface="Arial" panose="020B0604020202020204"/>
                          <a:ea typeface="Arial" panose="020B0604020202020204"/>
                        </a:rPr>
                        <a:t>Complete data, reasonable baselines, evidence-based conclusions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pc="120">
                          <a:latin typeface="Arial" panose="020B0604020202020204"/>
                          <a:ea typeface="Arial" panose="020B0604020202020204"/>
                        </a:rPr>
                        <a:t>Presentation and Demo Quality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>
                          <a:latin typeface="Arial" panose="020B0604020202020204"/>
                          <a:ea typeface="Arial" panose="020B0604020202020204"/>
                        </a:rPr>
                        <a:t>20  pts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>
                          <a:latin typeface="Arial" panose="020B0604020202020204"/>
                          <a:ea typeface="Arial" panose="020B0604020202020204"/>
                        </a:rPr>
                        <a:t>PPT  clear, Demo  runnable, accurate Q&amp;A responses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pc="120">
                          <a:latin typeface="Arial" panose="020B0604020202020204"/>
                          <a:ea typeface="Arial" panose="020B0604020202020204"/>
                        </a:rPr>
                        <a:t>Response to Feedback (Lecture </a:t>
                      </a:r>
                      <a:r>
                        <a:rPr lang="en-US" altLang="en-US" sz="1400" b="0" spc="120">
                          <a:latin typeface="Arial" panose="020B0604020202020204"/>
                          <a:ea typeface="Arial" panose="020B0604020202020204"/>
                        </a:rPr>
                        <a:t>46）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>
                          <a:latin typeface="Arial" panose="020B0604020202020204"/>
                          <a:ea typeface="Arial" panose="020B0604020202020204"/>
                        </a:rPr>
                        <a:t>10  pts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pc="120">
                          <a:latin typeface="Arial" panose="020B0604020202020204"/>
                          <a:ea typeface="Arial" panose="020B0604020202020204"/>
                        </a:rPr>
                        <a:t>Reasonable adoption of feedback with sufficient justification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pc="120">
                          <a:latin typeface="Arial" panose="020B0604020202020204"/>
                          <a:ea typeface="Arial" panose="020B0604020202020204"/>
                        </a:rPr>
                        <a:t>Code and Report Quality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>
                          <a:latin typeface="Arial" panose="020B0604020202020204"/>
                          <a:ea typeface="Arial" panose="020B0604020202020204"/>
                        </a:rPr>
                        <a:t>10  pts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>
                          <a:latin typeface="Arial" panose="020B0604020202020204"/>
                          <a:ea typeface="Arial" panose="020B0604020202020204"/>
                        </a:rPr>
                        <a:t>README  complete, well-formatted report, reproducible code</a:t>
                      </a:r>
                    </a:p>
                  </a:txBody>
                  <a:tcPr marL="177800" marR="177800" marT="107950" marB="10795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0*270"/>
  <p:tag name="TABLE_ENDDRAG_RECT" val="107*175*740*27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宽屏</PresentationFormat>
  <Paragraphs>88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46-47: Course Project Presentation</vt:lpstr>
      <vt:lpstr>Course Projects Overview</vt:lpstr>
      <vt:lpstr>Defense General Guidelines</vt:lpstr>
      <vt:lpstr>Proposal Presentation and Progress Report</vt:lpstr>
      <vt:lpstr>Final Report Specifications</vt:lpstr>
      <vt:lpstr>Grading Criteria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11</cp:revision>
  <dcterms:created xsi:type="dcterms:W3CDTF">2026-03-12T03:06:00Z</dcterms:created>
  <dcterms:modified xsi:type="dcterms:W3CDTF">2026-03-17T14:55:26Z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