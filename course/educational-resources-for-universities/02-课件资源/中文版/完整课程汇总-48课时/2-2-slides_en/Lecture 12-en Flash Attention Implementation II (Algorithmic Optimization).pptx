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337" r:id="rId2"/>
    <p:sldId id="257" r:id="rId3"/>
    <p:sldId id="301" r:id="rId4"/>
    <p:sldId id="302" r:id="rId5"/>
    <p:sldId id="303" r:id="rId6"/>
    <p:sldId id="311" r:id="rId7"/>
    <p:sldId id="312" r:id="rId8"/>
    <p:sldId id="313" r:id="rId9"/>
    <p:sldId id="314" r:id="rId10"/>
    <p:sldId id="306" r:id="rId11"/>
    <p:sldId id="307" r:id="rId12"/>
    <p:sldId id="308" r:id="rId13"/>
    <p:sldId id="309" r:id="rId14"/>
    <p:sldId id="310" r:id="rId15"/>
    <p:sldId id="277" r:id="rId16"/>
    <p:sldId id="279" r:id="rId17"/>
    <p:sldId id="280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0012"/>
    <a:srgbClr val="70AD47"/>
    <a:srgbClr val="2774AE"/>
    <a:srgbClr val="70AE47"/>
    <a:srgbClr val="549E39"/>
    <a:srgbClr val="90B085"/>
    <a:srgbClr val="2D2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5"/>
    <p:restoredTop sz="80094" autoAdjust="0"/>
  </p:normalViewPr>
  <p:slideViewPr>
    <p:cSldViewPr snapToGrid="0" snapToObjects="1">
      <p:cViewPr varScale="1">
        <p:scale>
          <a:sx n="49" d="100"/>
          <a:sy n="49" d="100"/>
        </p:scale>
        <p:origin x="1164" y="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1" d="100"/>
          <a:sy n="81" d="100"/>
        </p:scale>
        <p:origin x="338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0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9001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D35F3-BE5B-41CC-A973-5F94E77F22B3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1049002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9003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126E5-09CE-4398-8EB0-4AC849D0A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995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E8E16-D6C5-3248-816C-85B3C8E8792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104899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899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9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99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4C98A-D9C5-894D-9A13-8F52E37846C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模块三：</a:t>
            </a:r>
            <a:r>
              <a:rPr lang="en-US" altLang="zh-CN" dirty="0">
                <a:sym typeface="+mn-ea"/>
              </a:rPr>
              <a:t>Flash Attention II - </a:t>
            </a:r>
            <a:r>
              <a:rPr lang="zh-CN" altLang="en-US" dirty="0">
                <a:sym typeface="+mn-ea"/>
              </a:rPr>
              <a:t>算法优化与数学技巧核心目标： 解决“在线计算”的数学难题，特别是 </a:t>
            </a:r>
            <a:r>
              <a:rPr lang="en-US" altLang="zh-CN" dirty="0" err="1">
                <a:sym typeface="+mn-ea"/>
              </a:rPr>
              <a:t>Softmax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的拆解。封面： 算法炼金术</a:t>
            </a:r>
            <a:r>
              <a:rPr lang="en-US" altLang="zh-CN" dirty="0">
                <a:sym typeface="+mn-ea"/>
              </a:rPr>
              <a:t>——</a:t>
            </a:r>
            <a:r>
              <a:rPr lang="zh-CN" altLang="en-US" dirty="0">
                <a:sym typeface="+mn-ea"/>
              </a:rPr>
              <a:t>在线性算法中重构注意力。挑战：</a:t>
            </a:r>
            <a:r>
              <a:rPr lang="en-US" altLang="zh-CN" dirty="0" err="1">
                <a:sym typeface="+mn-ea"/>
              </a:rPr>
              <a:t>Softmax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的全局依赖： 为什么不能直接对分块求 </a:t>
            </a:r>
            <a:r>
              <a:rPr lang="en-US" altLang="zh-CN" dirty="0" err="1">
                <a:sym typeface="+mn-ea"/>
              </a:rPr>
              <a:t>Softmax</a:t>
            </a:r>
            <a:r>
              <a:rPr lang="zh-CN" altLang="en-US" dirty="0">
                <a:sym typeface="+mn-ea"/>
              </a:rPr>
              <a:t>？数学魔法：</a:t>
            </a:r>
            <a:r>
              <a:rPr lang="en-US" altLang="zh-CN" dirty="0">
                <a:sym typeface="+mn-ea"/>
              </a:rPr>
              <a:t>Safe </a:t>
            </a:r>
            <a:r>
              <a:rPr lang="en-US" altLang="zh-CN" dirty="0" err="1">
                <a:sym typeface="+mn-ea"/>
              </a:rPr>
              <a:t>Softmax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复习： 防止数值溢出的减去最大值操作。在线 </a:t>
            </a:r>
            <a:r>
              <a:rPr lang="en-US" altLang="zh-CN" dirty="0" err="1">
                <a:sym typeface="+mn-ea"/>
              </a:rPr>
              <a:t>Softmax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算法： 介绍如何通过更新局部最大值和累加和来计算全局结果。公式推导（科普版）： 增量更新的直观解释。避免 </a:t>
            </a:r>
            <a:r>
              <a:rPr lang="en-US" altLang="zh-CN" dirty="0">
                <a:sym typeface="+mn-ea"/>
              </a:rPr>
              <a:t>Materialization</a:t>
            </a:r>
            <a:r>
              <a:rPr lang="zh-CN" altLang="en-US" dirty="0">
                <a:sym typeface="+mn-ea"/>
              </a:rPr>
              <a:t>： 解释为什么不再需要“实例化”完整的 </a:t>
            </a:r>
            <a:r>
              <a:rPr lang="en-US" altLang="zh-CN" dirty="0">
                <a:sym typeface="+mn-ea"/>
              </a:rPr>
              <a:t>$N \times N$ </a:t>
            </a:r>
            <a:r>
              <a:rPr lang="zh-CN" altLang="en-US" dirty="0">
                <a:sym typeface="+mn-ea"/>
              </a:rPr>
              <a:t>矩阵。处理 </a:t>
            </a:r>
            <a:r>
              <a:rPr lang="en-US" altLang="zh-CN" dirty="0">
                <a:sym typeface="+mn-ea"/>
              </a:rPr>
              <a:t>Masking</a:t>
            </a:r>
            <a:r>
              <a:rPr lang="zh-CN" altLang="en-US" dirty="0">
                <a:sym typeface="+mn-ea"/>
              </a:rPr>
              <a:t>： 在分块计算中如何优雅地处理因果掩码（</a:t>
            </a:r>
            <a:r>
              <a:rPr lang="en-US" altLang="zh-CN" dirty="0">
                <a:sym typeface="+mn-ea"/>
              </a:rPr>
              <a:t>Causal Mask</a:t>
            </a:r>
            <a:r>
              <a:rPr lang="zh-CN" altLang="en-US" dirty="0">
                <a:sym typeface="+mn-ea"/>
              </a:rPr>
              <a:t>）。</a:t>
            </a:r>
            <a:r>
              <a:rPr lang="en-US" altLang="zh-CN" dirty="0">
                <a:sym typeface="+mn-ea"/>
              </a:rPr>
              <a:t>Dropout </a:t>
            </a:r>
            <a:r>
              <a:rPr lang="zh-CN" altLang="en-US" dirty="0">
                <a:sym typeface="+mn-ea"/>
              </a:rPr>
              <a:t>的处理： 使用随机数种子（</a:t>
            </a:r>
            <a:r>
              <a:rPr lang="en-US" altLang="zh-CN" dirty="0">
                <a:sym typeface="+mn-ea"/>
              </a:rPr>
              <a:t>Seed</a:t>
            </a:r>
            <a:r>
              <a:rPr lang="zh-CN" altLang="en-US" dirty="0">
                <a:sym typeface="+mn-ea"/>
              </a:rPr>
              <a:t>）在反向传播中重构，而非存储。反向传播优化： 重算（</a:t>
            </a:r>
            <a:r>
              <a:rPr lang="en-US" altLang="zh-CN" dirty="0" err="1">
                <a:sym typeface="+mn-ea"/>
              </a:rPr>
              <a:t>Recomputation</a:t>
            </a:r>
            <a:r>
              <a:rPr lang="zh-CN" altLang="en-US" dirty="0">
                <a:sym typeface="+mn-ea"/>
              </a:rPr>
              <a:t>）策略，用计算换取空间。</a:t>
            </a:r>
            <a:r>
              <a:rPr lang="en-US" altLang="zh-CN" dirty="0">
                <a:sym typeface="+mn-ea"/>
              </a:rPr>
              <a:t>Flash Attention 2 </a:t>
            </a:r>
            <a:r>
              <a:rPr lang="zh-CN" altLang="en-US" dirty="0">
                <a:sym typeface="+mn-ea"/>
              </a:rPr>
              <a:t>的演进： 更简单的算子分解与工作负载平衡。对长文本模型的影响： </a:t>
            </a:r>
            <a:r>
              <a:rPr lang="en-US" altLang="zh-CN" dirty="0">
                <a:sym typeface="+mn-ea"/>
              </a:rPr>
              <a:t>128K </a:t>
            </a:r>
            <a:r>
              <a:rPr lang="zh-CN" altLang="en-US" dirty="0">
                <a:sym typeface="+mn-ea"/>
              </a:rPr>
              <a:t>甚至更长上下文的可能性。未来展望： 算子优化与硬件协同设计的趋势。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3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2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解释为什么不再需要存储完整的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$N \times N$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矩阵，以及这对显存的意义。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标题：避免显存实例化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(Avoiding Materialization)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传统做法的弊端：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在标准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Attention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中，必须在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HBM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（显存）中完整生成并存储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$N \times N$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的注意力评分矩阵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$S$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和概率矩阵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$P$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pPr lvl="1"/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对于长文本（如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$N=64K$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），该矩阵会占据巨大的空间，直接导致显存溢出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(OOM)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Flash Attention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的突破：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计算即弃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(Compute-on-the-fly)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利用分块（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Tiling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）技术，注意力分数在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SRAM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中计算后立即与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$V$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块相乘并累加到输出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$O$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 。</a:t>
            </a: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内存复杂度：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从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$O(N^2)$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降低到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$O(N)$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。中间的大矩阵从未在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HBM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中“真正存在”过 。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结论：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这种“不落地”的计算方式，打破了显存容量对序列长度的物理限制 。</a:t>
            </a:r>
          </a:p>
          <a:p>
            <a:endParaRPr lang="zh-CN" altLang="en-US" dirty="0"/>
          </a:p>
        </p:txBody>
      </p:sp>
      <p:sp>
        <p:nvSpPr>
          <p:cNvPr id="1048925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0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3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分块计算中的掩码处理 </a:t>
            </a:r>
            <a:r>
              <a:rPr lang="en-US" altLang="zh-CN" b="1" dirty="0"/>
              <a:t>(Handling Masking)</a:t>
            </a:r>
          </a:p>
          <a:p>
            <a:r>
              <a:rPr lang="zh-CN" altLang="en-US" b="1" dirty="0"/>
              <a:t>核心目标：</a:t>
            </a:r>
            <a:r>
              <a:rPr lang="zh-CN" altLang="en-US" dirty="0"/>
              <a:t> 介绍如何在 </a:t>
            </a:r>
            <a:r>
              <a:rPr lang="en-US" altLang="zh-CN" dirty="0"/>
              <a:t>Tiling </a:t>
            </a:r>
            <a:r>
              <a:rPr lang="zh-CN" altLang="en-US" dirty="0"/>
              <a:t>过程中优雅地处理因果掩码（</a:t>
            </a:r>
            <a:r>
              <a:rPr lang="en-US" altLang="zh-CN" dirty="0"/>
              <a:t>Causal Mask</a:t>
            </a:r>
            <a:r>
              <a:rPr lang="zh-CN" altLang="en-US" dirty="0"/>
              <a:t>）。</a:t>
            </a:r>
          </a:p>
          <a:p>
            <a:r>
              <a:rPr lang="zh-CN" altLang="en-US" b="1" dirty="0"/>
              <a:t>标题：分块计算中的掩码处理 </a:t>
            </a:r>
            <a:r>
              <a:rPr lang="en-US" altLang="zh-CN" b="1" dirty="0"/>
              <a:t>(Handling Masking)</a:t>
            </a:r>
            <a:r>
              <a:rPr lang="zh-CN" altLang="en-US" dirty="0"/>
              <a:t> </a:t>
            </a:r>
          </a:p>
          <a:p>
            <a:r>
              <a:rPr lang="zh-CN" altLang="en-US" b="1" dirty="0"/>
              <a:t>挑战：</a:t>
            </a:r>
            <a:r>
              <a:rPr lang="zh-CN" altLang="en-US" dirty="0"/>
              <a:t> 因果掩码通常是一个下三角矩阵，在分块计算时，如何判断某个块是否需要加 </a:t>
            </a:r>
            <a:r>
              <a:rPr lang="en-US" altLang="zh-CN" dirty="0"/>
              <a:t>Mask</a:t>
            </a:r>
            <a:r>
              <a:rPr lang="zh-CN" altLang="en-US" dirty="0"/>
              <a:t>？ </a:t>
            </a:r>
          </a:p>
          <a:p>
            <a:r>
              <a:rPr lang="zh-CN" altLang="en-US" b="1" dirty="0"/>
              <a:t>优化策略：</a:t>
            </a:r>
            <a:endParaRPr lang="zh-CN" altLang="en-US" dirty="0"/>
          </a:p>
          <a:p>
            <a:pPr lvl="1"/>
            <a:r>
              <a:rPr lang="zh-CN" altLang="en-US" b="1" dirty="0"/>
              <a:t>全掩码块 </a:t>
            </a:r>
            <a:r>
              <a:rPr lang="en-US" altLang="zh-CN" b="1" dirty="0"/>
              <a:t>(Fully Masked)</a:t>
            </a:r>
            <a:r>
              <a:rPr lang="zh-CN" altLang="en-US" b="1" dirty="0"/>
              <a:t>：</a:t>
            </a:r>
            <a:r>
              <a:rPr lang="zh-CN" altLang="en-US" dirty="0"/>
              <a:t> 直接跳过计算，节省算力。</a:t>
            </a:r>
          </a:p>
          <a:p>
            <a:pPr lvl="1"/>
            <a:r>
              <a:rPr lang="zh-CN" altLang="en-US" b="1" dirty="0"/>
              <a:t>部分掩码块 </a:t>
            </a:r>
            <a:r>
              <a:rPr lang="en-US" altLang="zh-CN" b="1" dirty="0"/>
              <a:t>(Partially Masked)</a:t>
            </a:r>
            <a:r>
              <a:rPr lang="zh-CN" altLang="en-US" b="1" dirty="0"/>
              <a:t>：</a:t>
            </a:r>
            <a:r>
              <a:rPr lang="zh-CN" altLang="en-US" dirty="0"/>
              <a:t> 仅对块内的下三角区域进行掩码处理 。</a:t>
            </a:r>
          </a:p>
          <a:p>
            <a:pPr lvl="1"/>
            <a:r>
              <a:rPr lang="zh-CN" altLang="en-US" b="1" dirty="0"/>
              <a:t>无掩码块 </a:t>
            </a:r>
            <a:r>
              <a:rPr lang="en-US" altLang="zh-CN" b="1" dirty="0"/>
              <a:t>(Unmasked)</a:t>
            </a:r>
            <a:r>
              <a:rPr lang="zh-CN" altLang="en-US" b="1" dirty="0"/>
              <a:t>：</a:t>
            </a:r>
            <a:r>
              <a:rPr lang="zh-CN" altLang="en-US" dirty="0"/>
              <a:t> 全速执行常规矩阵乘法。</a:t>
            </a:r>
          </a:p>
          <a:p>
            <a:r>
              <a:rPr lang="zh-CN" altLang="en-US" b="1" dirty="0"/>
              <a:t>优势：</a:t>
            </a:r>
            <a:r>
              <a:rPr lang="zh-CN" altLang="en-US" dirty="0"/>
              <a:t> 通过识别分块与掩码矩阵的相对位置，进一步减少了不必要的计算开销 </a:t>
            </a:r>
          </a:p>
          <a:p>
            <a:endParaRPr lang="zh-CN" altLang="en-US" dirty="0"/>
          </a:p>
        </p:txBody>
      </p:sp>
      <p:sp>
        <p:nvSpPr>
          <p:cNvPr id="1048932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3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打破瓶颈：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由于内存占用降至线性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$O(N)$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，模型不再受限于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$N^2$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的显存增长 。</a:t>
            </a: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支持从传统的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2K/4K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上下文跨越到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128K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1M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甚至更长 。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实际应用案例：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使得在大模型上进行全书阅读、多文档分析和超长视频理解成为可能 。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性能总结：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在相同硬件（如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A100/H100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）上，处理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128K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序列的速度提升可达数倍 。</a:t>
            </a:r>
          </a:p>
          <a:p>
            <a:endParaRPr lang="zh-CN" altLang="en-US" dirty="0"/>
          </a:p>
        </p:txBody>
      </p:sp>
      <p:sp>
        <p:nvSpPr>
          <p:cNvPr id="1048939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在现代 </a:t>
            </a:r>
            <a:r>
              <a:rPr lang="en-US" altLang="zh-CN" dirty="0"/>
              <a:t>GPU </a:t>
            </a:r>
            <a:r>
              <a:rPr lang="zh-CN" altLang="en-US" dirty="0"/>
              <a:t>上（例如 </a:t>
            </a:r>
            <a:r>
              <a:rPr lang="en-US" altLang="zh-CN" dirty="0"/>
              <a:t>NVIDIA A100</a:t>
            </a:r>
            <a:r>
              <a:rPr lang="zh-CN" altLang="en-US" dirty="0"/>
              <a:t>），专门用于矩阵乘法的计算单元（如 </a:t>
            </a:r>
            <a:r>
              <a:rPr lang="en-US" altLang="zh-CN" dirty="0"/>
              <a:t>Tensor Cores</a:t>
            </a:r>
            <a:r>
              <a:rPr lang="zh-CN" altLang="en-US" dirty="0"/>
              <a:t>）极大地加速了 </a:t>
            </a:r>
            <a:r>
              <a:rPr lang="en-US" altLang="zh-CN" dirty="0" err="1"/>
              <a:t>Matmul</a:t>
            </a:r>
            <a:r>
              <a:rPr lang="en-US" altLang="zh-CN" dirty="0"/>
              <a:t> </a:t>
            </a:r>
            <a:r>
              <a:rPr lang="zh-CN" altLang="en-US" dirty="0"/>
              <a:t>运算。相比之下，非 </a:t>
            </a:r>
            <a:r>
              <a:rPr lang="en-US" altLang="zh-CN" dirty="0" err="1"/>
              <a:t>Matmul</a:t>
            </a:r>
            <a:r>
              <a:rPr lang="en-US" altLang="zh-CN" dirty="0"/>
              <a:t> </a:t>
            </a:r>
            <a:r>
              <a:rPr lang="zh-CN" altLang="en-US" dirty="0"/>
              <a:t>运算（如指数 </a:t>
            </a:r>
            <a:r>
              <a:rPr lang="en-US" altLang="zh-CN" dirty="0"/>
              <a:t>exp()</a:t>
            </a:r>
            <a:r>
              <a:rPr lang="zh-CN" altLang="en-US" dirty="0"/>
              <a:t>、加法、缩放、比较等）的理论吞吐量要低得多。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性能差距</a:t>
            </a:r>
            <a:r>
              <a:rPr lang="en-US" altLang="zh-CN" dirty="0"/>
              <a:t>: </a:t>
            </a:r>
            <a:r>
              <a:rPr lang="zh-CN" altLang="en-US" dirty="0"/>
              <a:t>以 </a:t>
            </a:r>
            <a:r>
              <a:rPr lang="en-US" altLang="zh-CN" dirty="0"/>
              <a:t>A100 GPU </a:t>
            </a:r>
            <a:r>
              <a:rPr lang="zh-CN" altLang="en-US" dirty="0"/>
              <a:t>为例，其 </a:t>
            </a:r>
            <a:r>
              <a:rPr lang="en-US" altLang="zh-CN" dirty="0"/>
              <a:t>FP16/BF16 </a:t>
            </a:r>
            <a:r>
              <a:rPr lang="en-US" altLang="zh-CN" dirty="0" err="1"/>
              <a:t>Matmul</a:t>
            </a:r>
            <a:r>
              <a:rPr lang="en-US" altLang="zh-CN" dirty="0"/>
              <a:t> </a:t>
            </a:r>
            <a:r>
              <a:rPr lang="zh-CN" altLang="en-US" dirty="0"/>
              <a:t>的最大理论吞吐量约为 </a:t>
            </a:r>
            <a:r>
              <a:rPr lang="en-US" altLang="zh-CN" dirty="0"/>
              <a:t>312 TFLOPs/s</a:t>
            </a:r>
            <a:r>
              <a:rPr lang="zh-CN" altLang="en-US" dirty="0"/>
              <a:t>，而非 </a:t>
            </a:r>
            <a:r>
              <a:rPr lang="en-US" altLang="zh-CN" dirty="0" err="1"/>
              <a:t>Matmul</a:t>
            </a:r>
            <a:r>
              <a:rPr lang="en-US" altLang="zh-CN" dirty="0"/>
              <a:t> </a:t>
            </a:r>
            <a:r>
              <a:rPr lang="zh-CN" altLang="en-US" dirty="0"/>
              <a:t>的 </a:t>
            </a:r>
            <a:r>
              <a:rPr lang="en-US" altLang="zh-CN" dirty="0"/>
              <a:t>FP32 </a:t>
            </a:r>
            <a:r>
              <a:rPr lang="zh-CN" altLang="en-US" dirty="0"/>
              <a:t>吞吐量仅为 </a:t>
            </a:r>
            <a:r>
              <a:rPr lang="en-US" altLang="zh-CN" dirty="0"/>
              <a:t>19.5 TFLOPs/s</a:t>
            </a:r>
            <a:r>
              <a:rPr lang="zh-CN" altLang="en-US" dirty="0"/>
              <a:t>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成本</a:t>
            </a:r>
            <a:r>
              <a:rPr lang="en-US" altLang="zh-CN" dirty="0"/>
              <a:t>: </a:t>
            </a:r>
            <a:r>
              <a:rPr lang="zh-CN" altLang="en-US" dirty="0"/>
              <a:t>这意味着一个非 </a:t>
            </a:r>
            <a:r>
              <a:rPr lang="en-US" altLang="zh-CN" dirty="0" err="1"/>
              <a:t>Matmul</a:t>
            </a:r>
            <a:r>
              <a:rPr lang="en-US" altLang="zh-CN" dirty="0"/>
              <a:t> FLOP </a:t>
            </a:r>
            <a:r>
              <a:rPr lang="zh-CN" altLang="en-US" dirty="0"/>
              <a:t>的计算成本可能比一个 </a:t>
            </a:r>
            <a:r>
              <a:rPr lang="en-US" altLang="zh-CN" dirty="0" err="1"/>
              <a:t>Matmul</a:t>
            </a:r>
            <a:r>
              <a:rPr lang="en-US" altLang="zh-CN" dirty="0"/>
              <a:t> FLOP </a:t>
            </a:r>
            <a:r>
              <a:rPr lang="zh-CN" altLang="en-US" b="1" dirty="0"/>
              <a:t>高出 </a:t>
            </a:r>
            <a:r>
              <a:rPr lang="en-US" altLang="zh-CN" b="1" dirty="0"/>
              <a:t>16 </a:t>
            </a:r>
            <a:r>
              <a:rPr lang="zh-CN" altLang="en-US" b="1" dirty="0"/>
              <a:t>倍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FlashAttention-2 </a:t>
            </a:r>
            <a:r>
              <a:rPr lang="zh-CN" altLang="en-US" dirty="0"/>
              <a:t>通过改写（</a:t>
            </a:r>
            <a:r>
              <a:rPr lang="en-US" altLang="zh-CN" dirty="0"/>
              <a:t>tweak</a:t>
            </a:r>
            <a:r>
              <a:rPr lang="zh-CN" altLang="en-US" dirty="0"/>
              <a:t>）在线 </a:t>
            </a:r>
            <a:r>
              <a:rPr lang="en-US" altLang="zh-CN" dirty="0" err="1"/>
              <a:t>Softmax</a:t>
            </a:r>
            <a:r>
              <a:rPr lang="en-US" altLang="zh-CN" dirty="0"/>
              <a:t> </a:t>
            </a:r>
            <a:r>
              <a:rPr lang="zh-CN" altLang="en-US" dirty="0"/>
              <a:t>技巧的实现来达成目的，而不改变最终计算结果：减少重标定（</a:t>
            </a:r>
            <a:r>
              <a:rPr lang="en-US" altLang="zh-CN" dirty="0"/>
              <a:t>Rescaling</a:t>
            </a:r>
            <a:r>
              <a:rPr lang="zh-CN" altLang="en-US" dirty="0"/>
              <a:t>）操作</a:t>
            </a:r>
            <a:r>
              <a:rPr lang="en-US" altLang="zh-CN" dirty="0"/>
              <a:t>: </a:t>
            </a:r>
            <a:r>
              <a:rPr lang="zh-CN" altLang="en-US" dirty="0"/>
              <a:t>在线 </a:t>
            </a:r>
            <a:r>
              <a:rPr lang="en-US" altLang="zh-CN" dirty="0" err="1"/>
              <a:t>Softmax</a:t>
            </a:r>
            <a:r>
              <a:rPr lang="en-US" altLang="zh-CN" dirty="0"/>
              <a:t> </a:t>
            </a:r>
            <a:r>
              <a:rPr lang="zh-CN" altLang="en-US" dirty="0"/>
              <a:t>需要在每次迭代中根据新的最大值 </a:t>
            </a:r>
            <a:r>
              <a:rPr lang="en-US" altLang="zh-CN" dirty="0"/>
              <a:t>(max(m(</a:t>
            </a:r>
            <a:r>
              <a:rPr lang="en-US" altLang="zh-CN" dirty="0" err="1"/>
              <a:t>i</a:t>
            </a:r>
            <a:r>
              <a:rPr lang="en-US" altLang="zh-CN" dirty="0"/>
              <a:t>),m)) </a:t>
            </a:r>
            <a:r>
              <a:rPr lang="zh-CN" altLang="en-US" dirty="0"/>
              <a:t>来更新和重标定中间结果。</a:t>
            </a:r>
            <a:r>
              <a:rPr lang="en-US" altLang="zh-CN" dirty="0"/>
              <a:t>FA2 </a:t>
            </a:r>
            <a:r>
              <a:rPr lang="zh-CN" altLang="en-US" dirty="0"/>
              <a:t>调整了在线 </a:t>
            </a:r>
            <a:r>
              <a:rPr lang="en-US" altLang="zh-CN" dirty="0" err="1"/>
              <a:t>Softmax</a:t>
            </a:r>
            <a:r>
              <a:rPr lang="en-US" altLang="zh-CN" dirty="0"/>
              <a:t> </a:t>
            </a:r>
            <a:r>
              <a:rPr lang="zh-CN" altLang="en-US" dirty="0"/>
              <a:t>的实现方式，以减少进行重标定操作的次数，从而减少了相应的 </a:t>
            </a:r>
            <a:r>
              <a:rPr lang="en-US" altLang="zh-CN" dirty="0"/>
              <a:t>exp() </a:t>
            </a:r>
            <a:r>
              <a:rPr lang="zh-CN" altLang="en-US" dirty="0"/>
              <a:t>和缩放操作。优化边界检查和因果掩码（</a:t>
            </a:r>
            <a:r>
              <a:rPr lang="en-US" altLang="zh-CN" dirty="0"/>
              <a:t>Causal Masking</a:t>
            </a:r>
            <a:r>
              <a:rPr lang="zh-CN" altLang="en-US" dirty="0"/>
              <a:t>）操作</a:t>
            </a:r>
            <a:r>
              <a:rPr lang="en-US" altLang="zh-CN" dirty="0"/>
              <a:t>: </a:t>
            </a:r>
            <a:r>
              <a:rPr lang="zh-CN" altLang="en-US" dirty="0"/>
              <a:t>原 </a:t>
            </a:r>
            <a:r>
              <a:rPr lang="en-US" altLang="zh-CN" dirty="0" err="1"/>
              <a:t>FlashAttention</a:t>
            </a:r>
            <a:r>
              <a:rPr lang="en-US" altLang="zh-CN" dirty="0"/>
              <a:t> </a:t>
            </a:r>
            <a:r>
              <a:rPr lang="zh-CN" altLang="en-US" dirty="0"/>
              <a:t>在执行因果掩码时，需要在循环内进行多次边界检查（</a:t>
            </a:r>
            <a:r>
              <a:rPr lang="en-US" altLang="zh-CN" dirty="0"/>
              <a:t>if </a:t>
            </a:r>
            <a:r>
              <a:rPr lang="zh-CN" altLang="en-US" dirty="0"/>
              <a:t>语句）和掩码操作。</a:t>
            </a:r>
            <a:r>
              <a:rPr lang="en-US" altLang="zh-CN" dirty="0"/>
              <a:t>FA2 </a:t>
            </a:r>
            <a:r>
              <a:rPr lang="zh-CN" altLang="en-US" dirty="0"/>
              <a:t>对这些操作进行了更精简的重写，将它们与 </a:t>
            </a:r>
            <a:r>
              <a:rPr lang="en-US" altLang="zh-CN" dirty="0" err="1"/>
              <a:t>Matmul</a:t>
            </a:r>
            <a:r>
              <a:rPr lang="en-US" altLang="zh-CN" dirty="0"/>
              <a:t> </a:t>
            </a:r>
            <a:r>
              <a:rPr lang="zh-CN" altLang="en-US" dirty="0"/>
              <a:t>步骤更好地融合，减少了单独的非 </a:t>
            </a:r>
            <a:r>
              <a:rPr lang="en-US" altLang="zh-CN" dirty="0" err="1"/>
              <a:t>Matmul</a:t>
            </a:r>
            <a:r>
              <a:rPr lang="en-US" altLang="zh-CN" dirty="0"/>
              <a:t> FLOPs</a:t>
            </a:r>
            <a:r>
              <a:rPr lang="zh-CN" altLang="en-US" dirty="0"/>
              <a:t>。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zh-CN" dirty="0"/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优化点（第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3-6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行）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FA1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中，外层循环通常是对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$K, V$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进行遍历，内层循环遍历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$Q$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FA2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变化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：将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$Q$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放在了外层循环（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 3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$K, V$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放在内层循环（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 6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优化点（第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9-10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行）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zh-CN" altLang="en-US" dirty="0"/>
              <a:t>减少非矩阵乘法（</a:t>
            </a:r>
            <a:r>
              <a:rPr lang="en-US" altLang="zh-CN" dirty="0"/>
              <a:t>Non-</a:t>
            </a:r>
            <a:r>
              <a:rPr lang="en-US" altLang="zh-CN" dirty="0" err="1"/>
              <a:t>Matmul</a:t>
            </a:r>
            <a:r>
              <a:rPr lang="zh-CN" altLang="en-US" dirty="0"/>
              <a:t>）操作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FA2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重新排列了 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Softmax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归一化的数学形式。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原理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：在更新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O_i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^{(j)}$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时，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FA2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减少了不必要的指数运算和缩放因子的重复计算。这使得算法更接近于纯粹的矩阵乘法，从而能更有效地利用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Tensor Cores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（正如您前一张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PPT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提到的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TFLOPs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差异）。</a:t>
            </a: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消除原子加锁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减少同步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(Reduced Synchronization)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优化点（第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5-8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行）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FA2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变化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：外层循环是对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$K, V$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的块进行遍历（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 5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），内层循环是对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$Q$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的块进行遍历（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 8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）。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内存访问与重计算优化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优化点（第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行与第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行）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</a:p>
          <a:p>
            <a:pPr lvl="1"/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 4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：提前在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HBM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中计算并存储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$D$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（即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rowsum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\circ O)$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）。</a:t>
            </a:r>
          </a:p>
          <a:p>
            <a:pPr lvl="1"/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 14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：在计算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dS_i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^{(j)}$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时，利用预存的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$D$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和重新计算的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$P$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块，避免了在一代中复杂的、跨块的重计算开销。</a:t>
            </a: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在现代 </a:t>
            </a:r>
            <a:r>
              <a:rPr lang="en-US" altLang="zh-CN" dirty="0"/>
              <a:t>GPU </a:t>
            </a:r>
            <a:r>
              <a:rPr lang="zh-CN" altLang="en-US" dirty="0"/>
              <a:t>上（例如 </a:t>
            </a:r>
            <a:r>
              <a:rPr lang="en-US" altLang="zh-CN" dirty="0"/>
              <a:t>NVIDIA A100</a:t>
            </a:r>
            <a:r>
              <a:rPr lang="zh-CN" altLang="en-US" dirty="0"/>
              <a:t>），专门用于矩阵乘法的计算单元（如 </a:t>
            </a:r>
            <a:r>
              <a:rPr lang="en-US" altLang="zh-CN" dirty="0"/>
              <a:t>Tensor Cores</a:t>
            </a:r>
            <a:r>
              <a:rPr lang="zh-CN" altLang="en-US" dirty="0"/>
              <a:t>）极大地加速了 </a:t>
            </a:r>
            <a:r>
              <a:rPr lang="en-US" altLang="zh-CN" dirty="0" err="1"/>
              <a:t>Matmul</a:t>
            </a:r>
            <a:r>
              <a:rPr lang="en-US" altLang="zh-CN" dirty="0"/>
              <a:t> </a:t>
            </a:r>
            <a:r>
              <a:rPr lang="zh-CN" altLang="en-US" dirty="0"/>
              <a:t>运算。相比之下，非 </a:t>
            </a:r>
            <a:r>
              <a:rPr lang="en-US" altLang="zh-CN" dirty="0" err="1"/>
              <a:t>Matmul</a:t>
            </a:r>
            <a:r>
              <a:rPr lang="en-US" altLang="zh-CN" dirty="0"/>
              <a:t> </a:t>
            </a:r>
            <a:r>
              <a:rPr lang="zh-CN" altLang="en-US" dirty="0"/>
              <a:t>运算（如指数 </a:t>
            </a:r>
            <a:r>
              <a:rPr lang="en-US" altLang="zh-CN" dirty="0"/>
              <a:t>exp()</a:t>
            </a:r>
            <a:r>
              <a:rPr lang="zh-CN" altLang="en-US" dirty="0"/>
              <a:t>、加法、缩放、比较等）的理论吞吐量要低得多。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性能差距</a:t>
            </a:r>
            <a:r>
              <a:rPr lang="en-US" altLang="zh-CN" dirty="0"/>
              <a:t>: </a:t>
            </a:r>
            <a:r>
              <a:rPr lang="zh-CN" altLang="en-US" dirty="0"/>
              <a:t>以 </a:t>
            </a:r>
            <a:r>
              <a:rPr lang="en-US" altLang="zh-CN" dirty="0"/>
              <a:t>A100 GPU </a:t>
            </a:r>
            <a:r>
              <a:rPr lang="zh-CN" altLang="en-US" dirty="0"/>
              <a:t>为例，其 </a:t>
            </a:r>
            <a:r>
              <a:rPr lang="en-US" altLang="zh-CN" dirty="0"/>
              <a:t>FP16/BF16 </a:t>
            </a:r>
            <a:r>
              <a:rPr lang="en-US" altLang="zh-CN" dirty="0" err="1"/>
              <a:t>Matmul</a:t>
            </a:r>
            <a:r>
              <a:rPr lang="en-US" altLang="zh-CN" dirty="0"/>
              <a:t> </a:t>
            </a:r>
            <a:r>
              <a:rPr lang="zh-CN" altLang="en-US" dirty="0"/>
              <a:t>的最大理论吞吐量约为 </a:t>
            </a:r>
            <a:r>
              <a:rPr lang="en-US" altLang="zh-CN" dirty="0"/>
              <a:t>312 TFLOPs/s</a:t>
            </a:r>
            <a:r>
              <a:rPr lang="zh-CN" altLang="en-US" dirty="0"/>
              <a:t>，而非 </a:t>
            </a:r>
            <a:r>
              <a:rPr lang="en-US" altLang="zh-CN" dirty="0" err="1"/>
              <a:t>Matmul</a:t>
            </a:r>
            <a:r>
              <a:rPr lang="en-US" altLang="zh-CN" dirty="0"/>
              <a:t> </a:t>
            </a:r>
            <a:r>
              <a:rPr lang="zh-CN" altLang="en-US" dirty="0"/>
              <a:t>的 </a:t>
            </a:r>
            <a:r>
              <a:rPr lang="en-US" altLang="zh-CN" dirty="0"/>
              <a:t>FP32 </a:t>
            </a:r>
            <a:r>
              <a:rPr lang="zh-CN" altLang="en-US" dirty="0"/>
              <a:t>吞吐量仅为 </a:t>
            </a:r>
            <a:r>
              <a:rPr lang="en-US" altLang="zh-CN" dirty="0"/>
              <a:t>19.5 TFLOPs/s</a:t>
            </a:r>
            <a:r>
              <a:rPr lang="zh-CN" altLang="en-US" dirty="0"/>
              <a:t>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成本</a:t>
            </a:r>
            <a:r>
              <a:rPr lang="en-US" altLang="zh-CN" dirty="0"/>
              <a:t>: </a:t>
            </a:r>
            <a:r>
              <a:rPr lang="zh-CN" altLang="en-US" dirty="0"/>
              <a:t>这意味着一个非 </a:t>
            </a:r>
            <a:r>
              <a:rPr lang="en-US" altLang="zh-CN" dirty="0" err="1"/>
              <a:t>Matmul</a:t>
            </a:r>
            <a:r>
              <a:rPr lang="en-US" altLang="zh-CN" dirty="0"/>
              <a:t> FLOP </a:t>
            </a:r>
            <a:r>
              <a:rPr lang="zh-CN" altLang="en-US" dirty="0"/>
              <a:t>的计算成本可能比一个 </a:t>
            </a:r>
            <a:r>
              <a:rPr lang="en-US" altLang="zh-CN" dirty="0" err="1"/>
              <a:t>Matmul</a:t>
            </a:r>
            <a:r>
              <a:rPr lang="en-US" altLang="zh-CN" dirty="0"/>
              <a:t> FLOP </a:t>
            </a:r>
            <a:r>
              <a:rPr lang="zh-CN" altLang="en-US" b="1" dirty="0"/>
              <a:t>高出 </a:t>
            </a:r>
            <a:r>
              <a:rPr lang="en-US" altLang="zh-CN" b="1" dirty="0"/>
              <a:t>16 </a:t>
            </a:r>
            <a:r>
              <a:rPr lang="zh-CN" altLang="en-US" b="1" dirty="0"/>
              <a:t>倍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FlashAttention-2 </a:t>
            </a:r>
            <a:r>
              <a:rPr lang="zh-CN" altLang="en-US" dirty="0"/>
              <a:t>通过改写（</a:t>
            </a:r>
            <a:r>
              <a:rPr lang="en-US" altLang="zh-CN" dirty="0"/>
              <a:t>tweak</a:t>
            </a:r>
            <a:r>
              <a:rPr lang="zh-CN" altLang="en-US" dirty="0"/>
              <a:t>）在线 </a:t>
            </a:r>
            <a:r>
              <a:rPr lang="en-US" altLang="zh-CN" dirty="0" err="1"/>
              <a:t>Softmax</a:t>
            </a:r>
            <a:r>
              <a:rPr lang="en-US" altLang="zh-CN" dirty="0"/>
              <a:t> </a:t>
            </a:r>
            <a:r>
              <a:rPr lang="zh-CN" altLang="en-US" dirty="0"/>
              <a:t>技巧的实现来达成目的，而不改变最终计算结果：减少重标定（</a:t>
            </a:r>
            <a:r>
              <a:rPr lang="en-US" altLang="zh-CN" dirty="0"/>
              <a:t>Rescaling</a:t>
            </a:r>
            <a:r>
              <a:rPr lang="zh-CN" altLang="en-US" dirty="0"/>
              <a:t>）操作</a:t>
            </a:r>
            <a:r>
              <a:rPr lang="en-US" altLang="zh-CN" dirty="0"/>
              <a:t>: </a:t>
            </a:r>
            <a:r>
              <a:rPr lang="zh-CN" altLang="en-US" dirty="0"/>
              <a:t>在线 </a:t>
            </a:r>
            <a:r>
              <a:rPr lang="en-US" altLang="zh-CN" dirty="0" err="1"/>
              <a:t>Softmax</a:t>
            </a:r>
            <a:r>
              <a:rPr lang="en-US" altLang="zh-CN" dirty="0"/>
              <a:t> </a:t>
            </a:r>
            <a:r>
              <a:rPr lang="zh-CN" altLang="en-US" dirty="0"/>
              <a:t>需要在每次迭代中根据新的最大值 </a:t>
            </a:r>
            <a:r>
              <a:rPr lang="en-US" altLang="zh-CN" dirty="0"/>
              <a:t>(max(m(</a:t>
            </a:r>
            <a:r>
              <a:rPr lang="en-US" altLang="zh-CN" dirty="0" err="1"/>
              <a:t>i</a:t>
            </a:r>
            <a:r>
              <a:rPr lang="en-US" altLang="zh-CN" dirty="0"/>
              <a:t>),m)) </a:t>
            </a:r>
            <a:r>
              <a:rPr lang="zh-CN" altLang="en-US" dirty="0"/>
              <a:t>来更新和重标定中间结果。</a:t>
            </a:r>
            <a:r>
              <a:rPr lang="en-US" altLang="zh-CN" dirty="0"/>
              <a:t>FA2 </a:t>
            </a:r>
            <a:r>
              <a:rPr lang="zh-CN" altLang="en-US" dirty="0"/>
              <a:t>调整了在线 </a:t>
            </a:r>
            <a:r>
              <a:rPr lang="en-US" altLang="zh-CN" dirty="0" err="1"/>
              <a:t>Softmax</a:t>
            </a:r>
            <a:r>
              <a:rPr lang="en-US" altLang="zh-CN" dirty="0"/>
              <a:t> </a:t>
            </a:r>
            <a:r>
              <a:rPr lang="zh-CN" altLang="en-US" dirty="0"/>
              <a:t>的实现方式，以减少进行重标定操作的次数，从而减少了相应的 </a:t>
            </a:r>
            <a:r>
              <a:rPr lang="en-US" altLang="zh-CN" dirty="0"/>
              <a:t>exp() </a:t>
            </a:r>
            <a:r>
              <a:rPr lang="zh-CN" altLang="en-US" dirty="0"/>
              <a:t>和缩放操作。优化边界检查和因果掩码（</a:t>
            </a:r>
            <a:r>
              <a:rPr lang="en-US" altLang="zh-CN" dirty="0"/>
              <a:t>Causal Masking</a:t>
            </a:r>
            <a:r>
              <a:rPr lang="zh-CN" altLang="en-US" dirty="0"/>
              <a:t>）操作</a:t>
            </a:r>
            <a:r>
              <a:rPr lang="en-US" altLang="zh-CN" dirty="0"/>
              <a:t>: </a:t>
            </a:r>
            <a:r>
              <a:rPr lang="zh-CN" altLang="en-US" dirty="0"/>
              <a:t>原 </a:t>
            </a:r>
            <a:r>
              <a:rPr lang="en-US" altLang="zh-CN" dirty="0" err="1"/>
              <a:t>FlashAttention</a:t>
            </a:r>
            <a:r>
              <a:rPr lang="en-US" altLang="zh-CN" dirty="0"/>
              <a:t> </a:t>
            </a:r>
            <a:r>
              <a:rPr lang="zh-CN" altLang="en-US" dirty="0"/>
              <a:t>在执行因果掩码时，需要在循环内进行多次边界检查（</a:t>
            </a:r>
            <a:r>
              <a:rPr lang="en-US" altLang="zh-CN" dirty="0"/>
              <a:t>if </a:t>
            </a:r>
            <a:r>
              <a:rPr lang="zh-CN" altLang="en-US" dirty="0"/>
              <a:t>语句）和掩码操作。</a:t>
            </a:r>
            <a:r>
              <a:rPr lang="en-US" altLang="zh-CN" dirty="0"/>
              <a:t>FA2 </a:t>
            </a:r>
            <a:r>
              <a:rPr lang="zh-CN" altLang="en-US" dirty="0"/>
              <a:t>对这些操作进行了更精简的重写，将它们与 </a:t>
            </a:r>
            <a:r>
              <a:rPr lang="en-US" altLang="zh-CN" dirty="0" err="1"/>
              <a:t>Matmul</a:t>
            </a:r>
            <a:r>
              <a:rPr lang="en-US" altLang="zh-CN" dirty="0"/>
              <a:t> </a:t>
            </a:r>
            <a:r>
              <a:rPr lang="zh-CN" altLang="en-US" dirty="0"/>
              <a:t>步骤更好地融合，减少了单独的非 </a:t>
            </a:r>
            <a:r>
              <a:rPr lang="en-US" altLang="zh-CN" dirty="0" err="1"/>
              <a:t>Matmul</a:t>
            </a:r>
            <a:r>
              <a:rPr lang="en-US" altLang="zh-CN" dirty="0"/>
              <a:t> FLOPs</a:t>
            </a:r>
            <a:r>
              <a:rPr lang="zh-CN" altLang="en-US" dirty="0"/>
              <a:t>。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更好的并行性（</a:t>
            </a:r>
            <a:r>
              <a:rPr lang="en-US" altLang="zh-CN" dirty="0"/>
              <a:t>Thread Block </a:t>
            </a:r>
            <a:r>
              <a:rPr lang="zh-CN" altLang="en-US" dirty="0"/>
              <a:t>级并行）解决的问题原 </a:t>
            </a:r>
            <a:r>
              <a:rPr lang="en-US" altLang="zh-CN" dirty="0" err="1"/>
              <a:t>FlashAttention</a:t>
            </a:r>
            <a:r>
              <a:rPr lang="en-US" altLang="zh-CN" dirty="0"/>
              <a:t> </a:t>
            </a:r>
            <a:r>
              <a:rPr lang="zh-CN" altLang="en-US" dirty="0"/>
              <a:t>仅在 </a:t>
            </a:r>
            <a:r>
              <a:rPr lang="en-US" altLang="zh-CN" dirty="0"/>
              <a:t>Batch Size </a:t>
            </a:r>
            <a:r>
              <a:rPr lang="zh-CN" altLang="en-US" dirty="0"/>
              <a:t>和 </a:t>
            </a:r>
            <a:r>
              <a:rPr lang="en-US" altLang="zh-CN" dirty="0"/>
              <a:t>Head </a:t>
            </a:r>
            <a:r>
              <a:rPr lang="zh-CN" altLang="en-US" dirty="0"/>
              <a:t>数量维度上进行并行（一个 </a:t>
            </a:r>
            <a:r>
              <a:rPr lang="en-US" altLang="zh-CN" dirty="0"/>
              <a:t>Thread Block </a:t>
            </a:r>
            <a:r>
              <a:rPr lang="zh-CN" altLang="en-US" dirty="0"/>
              <a:t>处理一个注意力头）。当序列很长，但 </a:t>
            </a:r>
            <a:r>
              <a:rPr lang="en-US" altLang="zh-CN" dirty="0"/>
              <a:t>Batch Size </a:t>
            </a:r>
            <a:r>
              <a:rPr lang="zh-CN" altLang="en-US" dirty="0"/>
              <a:t>或 </a:t>
            </a:r>
            <a:r>
              <a:rPr lang="en-US" altLang="zh-CN" dirty="0"/>
              <a:t>Head </a:t>
            </a:r>
            <a:r>
              <a:rPr lang="zh-CN" altLang="en-US" dirty="0"/>
              <a:t>数量较小（如推理场景或某些长文本训练）时，</a:t>
            </a:r>
            <a:r>
              <a:rPr lang="en-US" altLang="zh-CN" dirty="0"/>
              <a:t>GPU </a:t>
            </a:r>
            <a:r>
              <a:rPr lang="zh-CN" altLang="en-US" dirty="0"/>
              <a:t>上的 </a:t>
            </a:r>
            <a:r>
              <a:rPr lang="en-US" altLang="zh-CN" dirty="0"/>
              <a:t>SM (Streaming Multiprocessors) </a:t>
            </a:r>
            <a:r>
              <a:rPr lang="zh-CN" altLang="en-US" dirty="0"/>
              <a:t>可能没有被充分利用，导致低占用率 </a:t>
            </a:r>
            <a:r>
              <a:rPr lang="en-US" altLang="zh-CN" dirty="0"/>
              <a:t>(low-occupancy)</a:t>
            </a:r>
            <a:r>
              <a:rPr lang="zh-CN" altLang="en-US" dirty="0"/>
              <a:t>。具体的优化序列长度维度并行</a:t>
            </a:r>
            <a:r>
              <a:rPr lang="en-US" altLang="zh-CN" dirty="0"/>
              <a:t>: FA2 </a:t>
            </a:r>
            <a:r>
              <a:rPr lang="zh-CN" altLang="en-US" dirty="0"/>
              <a:t>增加了在序列长度维度上的并行。现在，一个注意力头的计算任务可以被分解并分配给多个 </a:t>
            </a:r>
            <a:r>
              <a:rPr lang="en-US" altLang="zh-CN" dirty="0"/>
              <a:t>Thread Blocks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优化 </a:t>
            </a:r>
            <a:r>
              <a:rPr lang="en-US" altLang="zh-CN" dirty="0"/>
              <a:t>Warp </a:t>
            </a:r>
            <a:r>
              <a:rPr lang="zh-CN" altLang="en-US" dirty="0"/>
              <a:t>间的工作分区和通信解决的问题在 </a:t>
            </a:r>
            <a:r>
              <a:rPr lang="en-US" altLang="zh-CN" dirty="0"/>
              <a:t>GPU </a:t>
            </a:r>
            <a:r>
              <a:rPr lang="zh-CN" altLang="en-US" dirty="0"/>
              <a:t>上，一个 </a:t>
            </a:r>
            <a:r>
              <a:rPr lang="en-US" altLang="zh-CN" dirty="0"/>
              <a:t>Thread Block </a:t>
            </a:r>
            <a:r>
              <a:rPr lang="zh-CN" altLang="en-US" dirty="0"/>
              <a:t>内的 </a:t>
            </a:r>
            <a:r>
              <a:rPr lang="en-US" altLang="zh-CN" dirty="0"/>
              <a:t>32 </a:t>
            </a:r>
            <a:r>
              <a:rPr lang="zh-CN" altLang="en-US" dirty="0"/>
              <a:t>个线程组成一个 </a:t>
            </a:r>
            <a:r>
              <a:rPr lang="en-US" altLang="zh-CN" dirty="0"/>
              <a:t>Warp</a:t>
            </a:r>
            <a:r>
              <a:rPr lang="zh-CN" altLang="en-US" dirty="0"/>
              <a:t>。</a:t>
            </a:r>
            <a:r>
              <a:rPr lang="en-US" altLang="zh-CN" dirty="0"/>
              <a:t>Warps </a:t>
            </a:r>
            <a:r>
              <a:rPr lang="zh-CN" altLang="en-US" dirty="0"/>
              <a:t>之间需要通过 共享内存 </a:t>
            </a:r>
            <a:r>
              <a:rPr lang="en-US" altLang="zh-CN" dirty="0"/>
              <a:t>(Shared Memory) </a:t>
            </a:r>
            <a:r>
              <a:rPr lang="zh-CN" altLang="en-US" dirty="0"/>
              <a:t>进行通信和同步，这会带来额外的延迟和开销。</a:t>
            </a:r>
            <a:r>
              <a:rPr lang="en-US" altLang="zh-CN" dirty="0" err="1"/>
              <a:t>FlashAttention</a:t>
            </a:r>
            <a:r>
              <a:rPr lang="en-US" altLang="zh-CN" dirty="0"/>
              <a:t> 1.0 </a:t>
            </a:r>
            <a:r>
              <a:rPr lang="zh-CN" altLang="en-US" dirty="0"/>
              <a:t>的设计导致 </a:t>
            </a:r>
            <a:r>
              <a:rPr lang="en-US" altLang="zh-CN" dirty="0"/>
              <a:t>Thread Block </a:t>
            </a:r>
            <a:r>
              <a:rPr lang="zh-CN" altLang="en-US" dirty="0"/>
              <a:t>内的不同 </a:t>
            </a:r>
            <a:r>
              <a:rPr lang="en-US" altLang="zh-CN" dirty="0"/>
              <a:t>Warps </a:t>
            </a:r>
            <a:r>
              <a:rPr lang="zh-CN" altLang="en-US" dirty="0"/>
              <a:t>之间需要频繁通信。具体的优化重新分配 </a:t>
            </a:r>
            <a:r>
              <a:rPr lang="en-US" altLang="zh-CN" dirty="0"/>
              <a:t>Q,K,V </a:t>
            </a:r>
            <a:r>
              <a:rPr lang="zh-CN" altLang="en-US" dirty="0"/>
              <a:t>循环</a:t>
            </a:r>
            <a:r>
              <a:rPr lang="en-US" altLang="zh-CN" dirty="0"/>
              <a:t>: FA2 </a:t>
            </a:r>
            <a:r>
              <a:rPr lang="zh-CN" altLang="en-US" dirty="0"/>
              <a:t>调整了 </a:t>
            </a:r>
            <a:r>
              <a:rPr lang="en-US" altLang="zh-CN" dirty="0"/>
              <a:t>Attention </a:t>
            </a:r>
            <a:r>
              <a:rPr lang="zh-CN" altLang="en-US" dirty="0"/>
              <a:t>核心计算中 </a:t>
            </a:r>
            <a:r>
              <a:rPr lang="en-US" altLang="zh-CN" dirty="0"/>
              <a:t>Q,K,V </a:t>
            </a:r>
            <a:r>
              <a:rPr lang="zh-CN" altLang="en-US" dirty="0"/>
              <a:t>块的内外层循环顺序和工作分配，使得同一个 </a:t>
            </a:r>
            <a:r>
              <a:rPr lang="en-US" altLang="zh-CN" dirty="0"/>
              <a:t>Thread Block </a:t>
            </a:r>
            <a:r>
              <a:rPr lang="zh-CN" altLang="en-US" dirty="0"/>
              <a:t>内的不同 </a:t>
            </a:r>
            <a:r>
              <a:rPr lang="en-US" altLang="zh-CN" dirty="0"/>
              <a:t>Warps </a:t>
            </a:r>
            <a:r>
              <a:rPr lang="zh-CN" altLang="en-US" dirty="0"/>
              <a:t>之间不再需要互相通信。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>
              <a:buFont typeface="Arial" panose="020B0604020202020204" pitchFamily="34" charset="0"/>
              <a:buNone/>
            </a:pPr>
            <a:r>
              <a:rPr lang="en-US" altLang="zh-CN" dirty="0"/>
              <a:t>FA3 </a:t>
            </a:r>
          </a:p>
          <a:p>
            <a:r>
              <a:rPr lang="zh-CN" altLang="en-US" dirty="0"/>
              <a:t>深度异步执行 </a:t>
            </a:r>
            <a:r>
              <a:rPr lang="en-US" altLang="zh-CN" dirty="0"/>
              <a:t>:</a:t>
            </a:r>
            <a:r>
              <a:rPr lang="zh-CN" altLang="en-US" b="1" dirty="0"/>
              <a:t>异步加载 </a:t>
            </a:r>
            <a:r>
              <a:rPr lang="zh-CN" altLang="en-US" dirty="0"/>
              <a:t>采用 </a:t>
            </a:r>
            <a:r>
              <a:rPr lang="zh-CN" altLang="en-US" b="1" dirty="0"/>
              <a:t>异步张量核 </a:t>
            </a:r>
            <a:r>
              <a:rPr lang="en-US" altLang="zh-CN" b="1" dirty="0"/>
              <a:t>(Asynchronous Tensor Cores, ATC)</a:t>
            </a:r>
            <a:r>
              <a:rPr lang="en-US" altLang="zh-CN" dirty="0"/>
              <a:t> </a:t>
            </a:r>
            <a:r>
              <a:rPr lang="zh-CN" altLang="en-US" dirty="0"/>
              <a:t>编程范式。使用 </a:t>
            </a:r>
            <a:r>
              <a:rPr lang="en-US" altLang="zh-CN" dirty="0"/>
              <a:t>CUDA Warp/Thread Cooperative Groups </a:t>
            </a:r>
            <a:r>
              <a:rPr lang="zh-CN" altLang="en-US" dirty="0"/>
              <a:t>和异步内存指令。</a:t>
            </a:r>
            <a:r>
              <a:rPr lang="zh-CN" altLang="en-US" b="1" dirty="0"/>
              <a:t>计算与通信彻底重叠</a:t>
            </a:r>
            <a:r>
              <a:rPr lang="zh-CN" altLang="en-US" dirty="0"/>
              <a:t>：计算当前块时，异步加载下一个块的数据，</a:t>
            </a:r>
            <a:r>
              <a:rPr lang="zh-CN" altLang="en-US" b="1" dirty="0"/>
              <a:t>完全隐藏 </a:t>
            </a:r>
            <a:r>
              <a:rPr lang="en-US" altLang="zh-CN" b="1" dirty="0"/>
              <a:t>HBM </a:t>
            </a:r>
            <a:r>
              <a:rPr lang="zh-CN" altLang="en-US" b="1" dirty="0"/>
              <a:t>访问延迟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原生低精度加速 </a:t>
            </a:r>
            <a:r>
              <a:rPr lang="en-US" altLang="zh-CN" dirty="0"/>
              <a:t> : FP8 </a:t>
            </a:r>
            <a:r>
              <a:rPr lang="zh-CN" altLang="en-US" dirty="0"/>
              <a:t>支持首次在内核级别 原生支持 </a:t>
            </a:r>
            <a:r>
              <a:rPr lang="en-US" altLang="zh-CN" dirty="0"/>
              <a:t>8 </a:t>
            </a:r>
            <a:r>
              <a:rPr lang="zh-CN" altLang="en-US" dirty="0"/>
              <a:t>位浮点 </a:t>
            </a:r>
            <a:r>
              <a:rPr lang="en-US" altLang="zh-CN" dirty="0"/>
              <a:t>(FP8) </a:t>
            </a:r>
            <a:r>
              <a:rPr lang="zh-CN" altLang="en-US" dirty="0"/>
              <a:t>数据格式的注意力计算。硬件加速充分利用 </a:t>
            </a:r>
            <a:r>
              <a:rPr lang="en-US" altLang="zh-CN" dirty="0"/>
              <a:t>Hopper/Blackwell </a:t>
            </a:r>
            <a:r>
              <a:rPr lang="zh-CN" altLang="en-US" dirty="0"/>
              <a:t>架构的专用 </a:t>
            </a:r>
            <a:r>
              <a:rPr lang="en-US" altLang="zh-CN" dirty="0"/>
              <a:t>FP8 </a:t>
            </a:r>
            <a:r>
              <a:rPr lang="zh-CN" altLang="en-US" dirty="0"/>
              <a:t>矩阵乘法 单元。</a:t>
            </a:r>
            <a:endParaRPr lang="en-US" altLang="zh-CN" dirty="0"/>
          </a:p>
          <a:p>
            <a:r>
              <a:rPr lang="zh-CN" altLang="en-US" dirty="0"/>
              <a:t>增强的分块和负载均衡 </a:t>
            </a:r>
            <a:r>
              <a:rPr lang="en-US" altLang="zh-CN" dirty="0"/>
              <a:t>:</a:t>
            </a:r>
            <a:r>
              <a:rPr lang="zh-CN" altLang="en-US" dirty="0"/>
              <a:t>更精细的调度进一步优化了 分块大小 </a:t>
            </a:r>
            <a:r>
              <a:rPr lang="en-US" altLang="zh-CN" dirty="0"/>
              <a:t>(Tiling Size) </a:t>
            </a:r>
            <a:r>
              <a:rPr lang="zh-CN" altLang="en-US" dirty="0"/>
              <a:t>的选择逻辑和 多头注意力 </a:t>
            </a:r>
            <a:r>
              <a:rPr lang="en-US" altLang="zh-CN" dirty="0"/>
              <a:t>(MHA) </a:t>
            </a:r>
            <a:r>
              <a:rPr lang="zh-CN" altLang="en-US" dirty="0"/>
              <a:t>跨 </a:t>
            </a:r>
            <a:r>
              <a:rPr lang="en-US" altLang="zh-CN" dirty="0"/>
              <a:t>SM </a:t>
            </a:r>
            <a:r>
              <a:rPr lang="zh-CN" altLang="en-US" dirty="0"/>
              <a:t>的任务分配策略。减少长尾延迟有效避免某些 </a:t>
            </a:r>
            <a:r>
              <a:rPr lang="en-US" altLang="zh-CN" dirty="0"/>
              <a:t>SM </a:t>
            </a:r>
            <a:r>
              <a:rPr lang="zh-CN" altLang="en-US" dirty="0"/>
              <a:t>由于数据加载或计算量不均导致的空闲等待。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dirty="0"/>
              <a:t>SM </a:t>
            </a:r>
            <a:r>
              <a:rPr lang="zh-CN" altLang="en-US" dirty="0"/>
              <a:t>是 </a:t>
            </a:r>
            <a:r>
              <a:rPr lang="en-US" altLang="zh-CN" b="1" dirty="0"/>
              <a:t>Streaming Multiprocessor (</a:t>
            </a:r>
            <a:r>
              <a:rPr lang="zh-CN" altLang="en-US" b="1" dirty="0"/>
              <a:t>流式多处理器</a:t>
            </a:r>
            <a:r>
              <a:rPr lang="en-US" altLang="zh-CN" b="1" dirty="0"/>
              <a:t>)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>
              <a:buFont typeface="Arial" panose="020B0604020202020204" pitchFamily="34" charset="0"/>
              <a:buNone/>
            </a:pPr>
            <a:r>
              <a:rPr lang="en-US" altLang="zh-CN" dirty="0"/>
              <a:t>FA3 </a:t>
            </a:r>
          </a:p>
          <a:p>
            <a:r>
              <a:rPr lang="zh-CN" altLang="en-US" dirty="0"/>
              <a:t>深度异步执行 </a:t>
            </a:r>
            <a:r>
              <a:rPr lang="en-US" altLang="zh-CN" dirty="0"/>
              <a:t>:</a:t>
            </a:r>
            <a:r>
              <a:rPr lang="zh-CN" altLang="en-US" b="1" dirty="0"/>
              <a:t>异步加载 </a:t>
            </a:r>
            <a:r>
              <a:rPr lang="zh-CN" altLang="en-US" dirty="0"/>
              <a:t>采用 </a:t>
            </a:r>
            <a:r>
              <a:rPr lang="zh-CN" altLang="en-US" b="1" dirty="0"/>
              <a:t>异步张量核 </a:t>
            </a:r>
            <a:r>
              <a:rPr lang="en-US" altLang="zh-CN" b="1" dirty="0"/>
              <a:t>(Asynchronous Tensor Cores, ATC)</a:t>
            </a:r>
            <a:r>
              <a:rPr lang="en-US" altLang="zh-CN" dirty="0"/>
              <a:t> </a:t>
            </a:r>
            <a:r>
              <a:rPr lang="zh-CN" altLang="en-US" dirty="0"/>
              <a:t>编程范式。使用 </a:t>
            </a:r>
            <a:r>
              <a:rPr lang="en-US" altLang="zh-CN" dirty="0"/>
              <a:t>CUDA Warp/Thread Cooperative Groups </a:t>
            </a:r>
            <a:r>
              <a:rPr lang="zh-CN" altLang="en-US" dirty="0"/>
              <a:t>和异步内存指令。</a:t>
            </a:r>
            <a:r>
              <a:rPr lang="zh-CN" altLang="en-US" b="1" dirty="0"/>
              <a:t>计算与通信彻底重叠</a:t>
            </a:r>
            <a:r>
              <a:rPr lang="zh-CN" altLang="en-US" dirty="0"/>
              <a:t>：计算当前块时，异步加载下一个块的数据，</a:t>
            </a:r>
            <a:r>
              <a:rPr lang="zh-CN" altLang="en-US" b="1" dirty="0"/>
              <a:t>完全隐藏 </a:t>
            </a:r>
            <a:r>
              <a:rPr lang="en-US" altLang="zh-CN" b="1" dirty="0"/>
              <a:t>HBM </a:t>
            </a:r>
            <a:r>
              <a:rPr lang="zh-CN" altLang="en-US" b="1" dirty="0"/>
              <a:t>访问延迟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原生低精度加速 </a:t>
            </a:r>
            <a:r>
              <a:rPr lang="en-US" altLang="zh-CN" dirty="0"/>
              <a:t> : FP8 </a:t>
            </a:r>
            <a:r>
              <a:rPr lang="zh-CN" altLang="en-US" dirty="0"/>
              <a:t>支持首次在内核级别 原生支持 </a:t>
            </a:r>
            <a:r>
              <a:rPr lang="en-US" altLang="zh-CN" dirty="0"/>
              <a:t>8 </a:t>
            </a:r>
            <a:r>
              <a:rPr lang="zh-CN" altLang="en-US" dirty="0"/>
              <a:t>位浮点 </a:t>
            </a:r>
            <a:r>
              <a:rPr lang="en-US" altLang="zh-CN" dirty="0"/>
              <a:t>(FP8) </a:t>
            </a:r>
            <a:r>
              <a:rPr lang="zh-CN" altLang="en-US" dirty="0"/>
              <a:t>数据格式的注意力计算。硬件加速充分利用 </a:t>
            </a:r>
            <a:r>
              <a:rPr lang="en-US" altLang="zh-CN" dirty="0"/>
              <a:t>Hopper/Blackwell </a:t>
            </a:r>
            <a:r>
              <a:rPr lang="zh-CN" altLang="en-US" dirty="0"/>
              <a:t>架构的专用 </a:t>
            </a:r>
            <a:r>
              <a:rPr lang="en-US" altLang="zh-CN" dirty="0"/>
              <a:t>FP8 </a:t>
            </a:r>
            <a:r>
              <a:rPr lang="zh-CN" altLang="en-US" dirty="0"/>
              <a:t>矩阵乘法 单元。</a:t>
            </a:r>
            <a:endParaRPr lang="en-US" altLang="zh-CN" dirty="0"/>
          </a:p>
          <a:p>
            <a:r>
              <a:rPr lang="zh-CN" altLang="en-US" dirty="0"/>
              <a:t>增强的分块和负载均衡 </a:t>
            </a:r>
            <a:r>
              <a:rPr lang="en-US" altLang="zh-CN" dirty="0"/>
              <a:t>:</a:t>
            </a:r>
            <a:r>
              <a:rPr lang="zh-CN" altLang="en-US" dirty="0"/>
              <a:t>更精细的调度进一步优化了 分块大小 </a:t>
            </a:r>
            <a:r>
              <a:rPr lang="en-US" altLang="zh-CN" dirty="0"/>
              <a:t>(Tiling Size) </a:t>
            </a:r>
            <a:r>
              <a:rPr lang="zh-CN" altLang="en-US" dirty="0"/>
              <a:t>的选择逻辑和 多头注意力 </a:t>
            </a:r>
            <a:r>
              <a:rPr lang="en-US" altLang="zh-CN" dirty="0"/>
              <a:t>(MHA) </a:t>
            </a:r>
            <a:r>
              <a:rPr lang="zh-CN" altLang="en-US" dirty="0"/>
              <a:t>跨 </a:t>
            </a:r>
            <a:r>
              <a:rPr lang="en-US" altLang="zh-CN" dirty="0"/>
              <a:t>SM </a:t>
            </a:r>
            <a:r>
              <a:rPr lang="zh-CN" altLang="en-US" dirty="0"/>
              <a:t>的任务分配策略。减少长尾延迟有效避免某些 </a:t>
            </a:r>
            <a:r>
              <a:rPr lang="en-US" altLang="zh-CN" dirty="0"/>
              <a:t>SM </a:t>
            </a:r>
            <a:r>
              <a:rPr lang="zh-CN" altLang="en-US" dirty="0"/>
              <a:t>由于数据加载或计算量不均导致的空闲等待。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dirty="0"/>
              <a:t>SM </a:t>
            </a:r>
            <a:r>
              <a:rPr lang="zh-CN" altLang="en-US" dirty="0"/>
              <a:t>是 </a:t>
            </a:r>
            <a:r>
              <a:rPr lang="en-US" altLang="zh-CN" b="1" dirty="0"/>
              <a:t>Streaming Multiprocessor (</a:t>
            </a:r>
            <a:r>
              <a:rPr lang="zh-CN" altLang="en-US" b="1" dirty="0"/>
              <a:t>流式多处理器</a:t>
            </a:r>
            <a:r>
              <a:rPr lang="en-US" altLang="zh-CN" b="1" dirty="0"/>
              <a:t>)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9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60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二次复杂度 </a:t>
            </a:r>
            <a:r>
              <a:rPr lang="en-US" altLang="zh-CN" dirty="0"/>
              <a:t>Self-Attention</a:t>
            </a:r>
            <a:r>
              <a:rPr lang="zh-CN" altLang="en-US" dirty="0"/>
              <a:t>的计算复杂度与输入序列长度 </a:t>
            </a:r>
            <a:r>
              <a:rPr lang="en-US" altLang="zh-CN" dirty="0"/>
              <a:t>L </a:t>
            </a:r>
            <a:r>
              <a:rPr lang="zh-CN" altLang="en-US" dirty="0"/>
              <a:t>成 </a:t>
            </a:r>
            <a:r>
              <a:rPr lang="en-US" altLang="zh-CN" dirty="0">
                <a:effectLst/>
              </a:rPr>
              <a:t>O</a:t>
            </a:r>
            <a:r>
              <a:rPr lang="en-US" altLang="zh-CN" dirty="0"/>
              <a:t>(L</a:t>
            </a:r>
            <a:r>
              <a:rPr lang="en-US" altLang="zh-CN" dirty="0">
                <a:effectLst/>
              </a:rPr>
              <a:t>2</a:t>
            </a:r>
            <a:r>
              <a:rPr lang="en-US" altLang="zh-CN" dirty="0"/>
              <a:t>) </a:t>
            </a:r>
            <a:r>
              <a:rPr lang="zh-CN" altLang="en-US" dirty="0"/>
              <a:t>关系。序列越长，计算量爆炸式增长。</a:t>
            </a:r>
            <a:r>
              <a:rPr lang="zh-CN" altLang="en-US" b="1" dirty="0"/>
              <a:t>矩阵乘法密集</a:t>
            </a:r>
            <a:r>
              <a:rPr lang="zh-CN" altLang="en-US" dirty="0"/>
              <a:t>核心操作是大量的矩阵乘法（</a:t>
            </a:r>
            <a:r>
              <a:rPr lang="en-US" altLang="zh-CN" dirty="0"/>
              <a:t>Q×</a:t>
            </a:r>
            <a:r>
              <a:rPr lang="en-US" altLang="zh-CN" dirty="0">
                <a:effectLst/>
              </a:rPr>
              <a:t>KT</a:t>
            </a:r>
            <a:r>
              <a:rPr lang="zh-CN" altLang="en-US" dirty="0"/>
              <a:t> 和 </a:t>
            </a:r>
            <a:r>
              <a:rPr lang="en-US" altLang="zh-CN" dirty="0"/>
              <a:t>A×</a:t>
            </a:r>
            <a:r>
              <a:rPr lang="en-US" altLang="zh-CN" dirty="0">
                <a:effectLst/>
              </a:rPr>
              <a:t>V</a:t>
            </a:r>
            <a:r>
              <a:rPr lang="zh-CN" altLang="en-US" dirty="0"/>
              <a:t>）。需要极高的并行度和吞吐量。</a:t>
            </a:r>
            <a:r>
              <a:rPr lang="zh-CN" altLang="en-US" b="1" dirty="0"/>
              <a:t>内存带宽瓶颈</a:t>
            </a:r>
            <a:r>
              <a:rPr lang="en-US" altLang="zh-CN" dirty="0"/>
              <a:t>Q,</a:t>
            </a:r>
            <a:r>
              <a:rPr lang="en-US" altLang="zh-CN" dirty="0">
                <a:effectLst/>
              </a:rPr>
              <a:t>K</a:t>
            </a:r>
            <a:r>
              <a:rPr lang="en-US" altLang="zh-CN" dirty="0"/>
              <a:t>,</a:t>
            </a:r>
            <a:r>
              <a:rPr lang="en-US" altLang="zh-CN" dirty="0">
                <a:effectLst/>
              </a:rPr>
              <a:t>V</a:t>
            </a:r>
            <a:r>
              <a:rPr lang="zh-CN" altLang="en-US" dirty="0"/>
              <a:t> 矩阵的反复加载和中间注意力矩阵 </a:t>
            </a:r>
            <a:r>
              <a:rPr lang="en-US" altLang="zh-CN" dirty="0"/>
              <a:t>A </a:t>
            </a:r>
            <a:r>
              <a:rPr lang="zh-CN" altLang="en-US" dirty="0"/>
              <a:t>的生成，对片外存储带宽要求极高。限制了加速器的实际性能。</a:t>
            </a:r>
          </a:p>
          <a:p>
            <a:r>
              <a:rPr lang="en-US" altLang="zh-CN" b="1" dirty="0" err="1"/>
              <a:t>Softmax</a:t>
            </a:r>
            <a:r>
              <a:rPr lang="en-US" altLang="zh-CN" b="1" dirty="0"/>
              <a:t>/</a:t>
            </a:r>
            <a:r>
              <a:rPr lang="en-US" altLang="zh-CN" b="1" dirty="0" err="1"/>
              <a:t>LayerNorm</a:t>
            </a:r>
            <a:r>
              <a:rPr lang="zh-CN" altLang="en-US" dirty="0"/>
              <a:t>包含指数函数和除法等非线性操作。难以在</a:t>
            </a:r>
            <a:r>
              <a:rPr lang="en-US" altLang="zh-CN" dirty="0"/>
              <a:t>FPGA</a:t>
            </a:r>
            <a:r>
              <a:rPr lang="zh-CN" altLang="en-US" dirty="0"/>
              <a:t>上进行高效、低功耗的定点实现。</a:t>
            </a:r>
          </a:p>
          <a:p>
            <a:endParaRPr lang="en-US" altLang="zh-CN" dirty="0"/>
          </a:p>
          <a:p>
            <a:r>
              <a:rPr lang="zh-CN" altLang="en-US" b="1" dirty="0"/>
              <a:t>软硬件协同优化 </a:t>
            </a:r>
            <a:r>
              <a:rPr lang="en-US" altLang="zh-CN" b="1" dirty="0"/>
              <a:t>(Algorithm-Hardware Co-design)</a:t>
            </a:r>
          </a:p>
          <a:p>
            <a:r>
              <a:rPr lang="zh-CN" altLang="en-US" dirty="0"/>
              <a:t>本研究的核心思想是通过同时调整</a:t>
            </a:r>
            <a:r>
              <a:rPr lang="zh-CN" altLang="en-US" b="1" dirty="0"/>
              <a:t>算法结构</a:t>
            </a:r>
            <a:r>
              <a:rPr lang="zh-CN" altLang="en-US" dirty="0"/>
              <a:t>和</a:t>
            </a:r>
            <a:r>
              <a:rPr lang="zh-CN" altLang="en-US" b="1" dirty="0"/>
              <a:t>硬件架构</a:t>
            </a:r>
            <a:r>
              <a:rPr lang="zh-CN" altLang="en-US" dirty="0"/>
              <a:t>，实现效率的最大化。</a:t>
            </a:r>
          </a:p>
          <a:p>
            <a:r>
              <a:rPr lang="en-US" altLang="zh-CN" b="1" dirty="0"/>
              <a:t>1. </a:t>
            </a:r>
            <a:r>
              <a:rPr lang="zh-CN" altLang="en-US" b="1" dirty="0"/>
              <a:t>算法优化：</a:t>
            </a:r>
            <a:r>
              <a:rPr lang="en-US" altLang="zh-CN" b="1" dirty="0"/>
              <a:t>FPGA</a:t>
            </a:r>
            <a:r>
              <a:rPr lang="zh-CN" altLang="en-US" b="1" dirty="0"/>
              <a:t>友好型</a:t>
            </a:r>
            <a:r>
              <a:rPr lang="en-US" altLang="zh-CN" b="1" dirty="0"/>
              <a:t>Attention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极致量化 </a:t>
            </a:r>
            <a:r>
              <a:rPr lang="en-US" altLang="zh-CN" b="1" dirty="0"/>
              <a:t>(Low-Bit Quantization):</a:t>
            </a:r>
            <a:r>
              <a:rPr lang="en-US" altLang="zh-CN" dirty="0"/>
              <a:t> </a:t>
            </a:r>
            <a:r>
              <a:rPr lang="zh-CN" altLang="en-US" dirty="0"/>
              <a:t>将传统的浮点运算（如</a:t>
            </a:r>
            <a:r>
              <a:rPr lang="en-US" altLang="zh-CN" dirty="0"/>
              <a:t>FP32</a:t>
            </a:r>
            <a:r>
              <a:rPr lang="zh-CN" altLang="en-US" dirty="0"/>
              <a:t>）量化到</a:t>
            </a:r>
            <a:r>
              <a:rPr lang="zh-CN" altLang="en-US" b="1" dirty="0"/>
              <a:t>低位定点</a:t>
            </a:r>
            <a:r>
              <a:rPr lang="zh-CN" altLang="en-US" dirty="0"/>
              <a:t>（如</a:t>
            </a:r>
            <a:r>
              <a:rPr lang="en-US" altLang="zh-CN" dirty="0"/>
              <a:t>INT8/INT4</a:t>
            </a:r>
            <a:r>
              <a:rPr lang="zh-CN" altLang="en-US" dirty="0"/>
              <a:t>），显著减少计算资源（查找表</a:t>
            </a:r>
            <a:r>
              <a:rPr lang="en-US" altLang="zh-CN" dirty="0"/>
              <a:t>LUT</a:t>
            </a:r>
            <a:r>
              <a:rPr lang="zh-CN" altLang="en-US" dirty="0"/>
              <a:t>、</a:t>
            </a:r>
            <a:r>
              <a:rPr lang="en-US" altLang="zh-CN" dirty="0"/>
              <a:t>DSP</a:t>
            </a:r>
            <a:r>
              <a:rPr lang="zh-CN" altLang="en-US" dirty="0"/>
              <a:t>）和内存带宽需求。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结构化稀疏</a:t>
            </a:r>
            <a:r>
              <a:rPr lang="en-US" altLang="zh-CN" b="1" dirty="0"/>
              <a:t>/</a:t>
            </a:r>
            <a:r>
              <a:rPr lang="zh-CN" altLang="en-US" b="1" dirty="0"/>
              <a:t>剪枝 </a:t>
            </a:r>
            <a:r>
              <a:rPr lang="en-US" altLang="zh-CN" b="1" dirty="0"/>
              <a:t>(Structured Sparsity):</a:t>
            </a:r>
            <a:r>
              <a:rPr lang="en-US" altLang="zh-CN" dirty="0"/>
              <a:t> </a:t>
            </a:r>
            <a:r>
              <a:rPr lang="zh-CN" altLang="en-US" dirty="0"/>
              <a:t>利用</a:t>
            </a:r>
            <a:r>
              <a:rPr lang="en-US" altLang="zh-CN" dirty="0"/>
              <a:t>Attention</a:t>
            </a:r>
            <a:r>
              <a:rPr lang="zh-CN" altLang="en-US" dirty="0"/>
              <a:t>矩阵的稀疏性，在算法层面去除不重要的连接，从而减少实际的计算量。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近似</a:t>
            </a:r>
            <a:r>
              <a:rPr lang="en-US" altLang="zh-CN" b="1" dirty="0" err="1"/>
              <a:t>Softmax</a:t>
            </a:r>
            <a:r>
              <a:rPr lang="en-US" altLang="zh-CN" b="1" dirty="0"/>
              <a:t> (Approximated </a:t>
            </a:r>
            <a:r>
              <a:rPr lang="en-US" altLang="zh-CN" b="1" dirty="0" err="1"/>
              <a:t>Softmax</a:t>
            </a:r>
            <a:r>
              <a:rPr lang="en-US" altLang="zh-CN" b="1" dirty="0"/>
              <a:t>):</a:t>
            </a:r>
            <a:r>
              <a:rPr lang="en-US" altLang="zh-CN" dirty="0"/>
              <a:t> </a:t>
            </a:r>
            <a:r>
              <a:rPr lang="zh-CN" altLang="en-US" dirty="0"/>
              <a:t>使用</a:t>
            </a:r>
            <a:r>
              <a:rPr lang="en-US" altLang="zh-CN" b="1" dirty="0"/>
              <a:t>Piecewise Linear Approximation (</a:t>
            </a:r>
            <a:r>
              <a:rPr lang="zh-CN" altLang="en-US" b="1" dirty="0"/>
              <a:t>分段线性近似</a:t>
            </a:r>
            <a:r>
              <a:rPr lang="en-US" altLang="zh-CN" b="1" dirty="0"/>
              <a:t>)</a:t>
            </a:r>
            <a:r>
              <a:rPr lang="zh-CN" altLang="en-US" dirty="0"/>
              <a:t> 或 </a:t>
            </a:r>
            <a:r>
              <a:rPr lang="en-US" altLang="zh-CN" b="1" dirty="0"/>
              <a:t>Taylor Series Expansion (</a:t>
            </a:r>
            <a:r>
              <a:rPr lang="zh-CN" altLang="en-US" b="1" dirty="0"/>
              <a:t>泰勒级数展开</a:t>
            </a:r>
            <a:r>
              <a:rPr lang="en-US" altLang="zh-CN" b="1" dirty="0"/>
              <a:t>)</a:t>
            </a:r>
            <a:r>
              <a:rPr lang="zh-CN" altLang="en-US" dirty="0"/>
              <a:t> 等方法替换精确的</a:t>
            </a:r>
            <a:r>
              <a:rPr lang="en-US" altLang="zh-CN" dirty="0" err="1"/>
              <a:t>Softmax</a:t>
            </a:r>
            <a:r>
              <a:rPr lang="zh-CN" altLang="en-US" dirty="0"/>
              <a:t>计算，简化硬件实现。</a:t>
            </a:r>
          </a:p>
          <a:p>
            <a:r>
              <a:rPr lang="en-US" altLang="zh-CN" b="1" dirty="0"/>
              <a:t>2. </a:t>
            </a:r>
            <a:r>
              <a:rPr lang="zh-CN" altLang="en-US" b="1" dirty="0"/>
              <a:t>硬件优化：定制化并行架构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数据流重排 </a:t>
            </a:r>
            <a:r>
              <a:rPr lang="en-US" altLang="zh-CN" b="1" dirty="0"/>
              <a:t>(Optimized Dataflow):</a:t>
            </a:r>
            <a:r>
              <a:rPr lang="en-US" altLang="zh-CN" dirty="0"/>
              <a:t> </a:t>
            </a:r>
            <a:r>
              <a:rPr lang="zh-CN" altLang="en-US" dirty="0"/>
              <a:t>设计专有的数据流（如</a:t>
            </a:r>
            <a:r>
              <a:rPr lang="zh-CN" altLang="en-US" b="1" dirty="0"/>
              <a:t>行</a:t>
            </a:r>
            <a:r>
              <a:rPr lang="en-US" altLang="zh-CN" b="1" dirty="0"/>
              <a:t>/</a:t>
            </a:r>
            <a:r>
              <a:rPr lang="zh-CN" altLang="en-US" b="1" dirty="0"/>
              <a:t>列重用</a:t>
            </a:r>
            <a:r>
              <a:rPr lang="zh-CN" altLang="en-US" dirty="0"/>
              <a:t>和</a:t>
            </a:r>
            <a:r>
              <a:rPr lang="zh-CN" altLang="en-US" b="1" dirty="0"/>
              <a:t>片上缓存</a:t>
            </a:r>
            <a:r>
              <a:rPr lang="zh-CN" altLang="en-US" dirty="0"/>
              <a:t>），最大化数据重用，减少片外</a:t>
            </a:r>
            <a:r>
              <a:rPr lang="en-US" altLang="zh-CN" dirty="0"/>
              <a:t>DRAM</a:t>
            </a:r>
            <a:r>
              <a:rPr lang="zh-CN" altLang="en-US" dirty="0"/>
              <a:t>访问。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定制化</a:t>
            </a:r>
            <a:r>
              <a:rPr lang="en-US" altLang="zh-CN" b="1" dirty="0"/>
              <a:t>PE</a:t>
            </a:r>
            <a:r>
              <a:rPr lang="zh-CN" altLang="en-US" b="1" dirty="0"/>
              <a:t>阵列 </a:t>
            </a:r>
            <a:r>
              <a:rPr lang="en-US" altLang="zh-CN" b="1" dirty="0"/>
              <a:t>(Customized Processing Elements, PE):</a:t>
            </a:r>
            <a:r>
              <a:rPr lang="en-US" altLang="zh-CN" dirty="0"/>
              <a:t> </a:t>
            </a:r>
            <a:r>
              <a:rPr lang="zh-CN" altLang="en-US" dirty="0"/>
              <a:t>采用</a:t>
            </a:r>
            <a:r>
              <a:rPr lang="zh-CN" altLang="en-US" b="1" dirty="0"/>
              <a:t>脉动阵列 </a:t>
            </a:r>
            <a:r>
              <a:rPr lang="en-US" altLang="zh-CN" b="1" dirty="0"/>
              <a:t>(Systolic Array)</a:t>
            </a:r>
            <a:r>
              <a:rPr lang="en-US" altLang="zh-CN" dirty="0"/>
              <a:t> </a:t>
            </a:r>
            <a:r>
              <a:rPr lang="zh-CN" altLang="en-US" dirty="0"/>
              <a:t>架构，为低位定点乘法和加法定制</a:t>
            </a:r>
            <a:r>
              <a:rPr lang="en-US" altLang="zh-CN" dirty="0"/>
              <a:t>PE</a:t>
            </a:r>
            <a:r>
              <a:rPr lang="zh-CN" altLang="en-US" dirty="0"/>
              <a:t>，实现超高并行度。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结构化剪枝 </a:t>
            </a:r>
            <a:r>
              <a:rPr lang="en-US" altLang="zh-CN" b="1" dirty="0"/>
              <a:t>(Algorithm Side):</a:t>
            </a:r>
            <a:r>
              <a:rPr lang="zh-CN" altLang="en-US" dirty="0"/>
              <a:t> 提出一种</a:t>
            </a:r>
            <a:r>
              <a:rPr lang="zh-CN" altLang="en-US" b="1" dirty="0"/>
              <a:t>面向硬件的结构化剪枝</a:t>
            </a:r>
            <a:r>
              <a:rPr lang="zh-CN" altLang="en-US" dirty="0"/>
              <a:t>方法，确保剪枝后的权重矩阵保持</a:t>
            </a:r>
            <a:r>
              <a:rPr lang="zh-CN" altLang="en-US" b="1" dirty="0"/>
              <a:t>规则形状</a:t>
            </a:r>
            <a:r>
              <a:rPr lang="zh-CN" altLang="en-US" dirty="0"/>
              <a:t>（如规则的矩形块或行</a:t>
            </a:r>
            <a:r>
              <a:rPr lang="en-US" altLang="zh-CN" dirty="0"/>
              <a:t>/</a:t>
            </a:r>
            <a:r>
              <a:rPr lang="zh-CN" altLang="en-US" dirty="0"/>
              <a:t>列），从根本上消除不规则性。</a:t>
            </a:r>
            <a:endParaRPr lang="en-US" altLang="zh-CN" dirty="0"/>
          </a:p>
          <a:p>
            <a:r>
              <a:rPr lang="zh-CN" altLang="en-US" dirty="0"/>
              <a:t>将原始</a:t>
            </a:r>
            <a:r>
              <a:rPr lang="en-US" altLang="zh-CN" dirty="0"/>
              <a:t>Attention</a:t>
            </a:r>
            <a:r>
              <a:rPr lang="zh-CN" altLang="en-US" dirty="0"/>
              <a:t>权重矩阵中的非关键单元、行或列进行剔除，但保留</a:t>
            </a:r>
            <a:r>
              <a:rPr lang="zh-CN" altLang="en-US" b="1" dirty="0"/>
              <a:t>规则的、可硬件映射的结构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基于</a:t>
            </a:r>
            <a:r>
              <a:rPr lang="zh-CN" altLang="en-US" b="1" dirty="0"/>
              <a:t>多头注意力头 </a:t>
            </a:r>
            <a:r>
              <a:rPr lang="en-US" altLang="zh-CN" b="1" dirty="0"/>
              <a:t>(Multi-Head)</a:t>
            </a:r>
            <a:r>
              <a:rPr lang="zh-CN" altLang="en-US" dirty="0"/>
              <a:t> 或</a:t>
            </a:r>
            <a:r>
              <a:rPr lang="zh-CN" altLang="en-US" b="1" dirty="0"/>
              <a:t>矩阵分块 </a:t>
            </a:r>
            <a:r>
              <a:rPr lang="en-US" altLang="zh-CN" b="1" dirty="0"/>
              <a:t>(Block-level)</a:t>
            </a:r>
            <a:r>
              <a:rPr lang="zh-CN" altLang="en-US" dirty="0"/>
              <a:t> 进行剪枝。例如，直接移除对模型贡献最小的整个注意力头，或移除权重矩阵中不重要的、连续的行</a:t>
            </a:r>
            <a:r>
              <a:rPr lang="en-US" altLang="zh-CN" dirty="0"/>
              <a:t>/</a:t>
            </a:r>
            <a:r>
              <a:rPr lang="zh-CN" altLang="en-US" dirty="0"/>
              <a:t>列块，以确保剩余的矩阵部分依然是标准的、可预测的矩形。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硬件层面：加速器架构 </a:t>
            </a:r>
            <a:r>
              <a:rPr lang="en-US" altLang="zh-CN" b="1" dirty="0"/>
              <a:t>(FPGA Accelerator)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采用</a:t>
            </a:r>
            <a:r>
              <a:rPr lang="zh-CN" altLang="en-US" b="1" dirty="0"/>
              <a:t>可重配置的 </a:t>
            </a:r>
            <a:r>
              <a:rPr lang="en-US" altLang="zh-CN" b="1" dirty="0"/>
              <a:t>PE (Processing Element) </a:t>
            </a:r>
            <a:r>
              <a:rPr lang="zh-CN" altLang="en-US" b="1" dirty="0"/>
              <a:t>阵列</a:t>
            </a:r>
            <a:r>
              <a:rPr lang="zh-CN" altLang="en-US" dirty="0"/>
              <a:t>，其尺寸和连接专门针对剪枝后的规则权重块进行优化。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PE</a:t>
            </a:r>
            <a:r>
              <a:rPr lang="zh-CN" altLang="en-US" dirty="0"/>
              <a:t>阵列通过空间并行性（</a:t>
            </a:r>
            <a:r>
              <a:rPr lang="en-US" altLang="zh-CN" dirty="0"/>
              <a:t>Spatial Parallelism</a:t>
            </a:r>
            <a:r>
              <a:rPr lang="zh-CN" altLang="en-US" dirty="0"/>
              <a:t>）同时处理多个矩阵元素，从而实现高吞吐量。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数据流和存储优化：片上缓存 </a:t>
            </a:r>
            <a:r>
              <a:rPr lang="en-US" altLang="zh-CN" b="1" dirty="0"/>
              <a:t>(BRAM) </a:t>
            </a:r>
            <a:r>
              <a:rPr lang="zh-CN" altLang="en-US" b="1" dirty="0"/>
              <a:t>优化：</a:t>
            </a:r>
            <a:r>
              <a:rPr lang="zh-CN" altLang="en-US" dirty="0"/>
              <a:t> 精心设计数据排布和访问模式，最大化输入特征、权重和中间结果的</a:t>
            </a:r>
            <a:r>
              <a:rPr lang="zh-CN" altLang="en-US" b="1" dirty="0"/>
              <a:t>片上重用</a:t>
            </a:r>
            <a:r>
              <a:rPr lang="zh-CN" altLang="en-US" dirty="0"/>
              <a:t>，大幅减少对片外内存 </a:t>
            </a:r>
            <a:r>
              <a:rPr lang="en-US" altLang="zh-CN" dirty="0"/>
              <a:t>(DRAM) </a:t>
            </a:r>
            <a:r>
              <a:rPr lang="zh-CN" altLang="en-US" dirty="0"/>
              <a:t>的访问次数。</a:t>
            </a:r>
            <a:r>
              <a:rPr lang="zh-CN" altLang="en-US" b="1" dirty="0"/>
              <a:t>低位量化 </a:t>
            </a:r>
            <a:r>
              <a:rPr lang="en-US" altLang="zh-CN" b="1" dirty="0"/>
              <a:t>(Quantization)</a:t>
            </a:r>
            <a:r>
              <a:rPr lang="zh-CN" altLang="en-US" b="1" dirty="0"/>
              <a:t>：</a:t>
            </a:r>
            <a:r>
              <a:rPr lang="zh-CN" altLang="en-US" dirty="0"/>
              <a:t> 结合**低位精度（如 </a:t>
            </a:r>
            <a:r>
              <a:rPr lang="en-US" altLang="zh-CN" dirty="0"/>
              <a:t>INT8</a:t>
            </a:r>
            <a:r>
              <a:rPr lang="zh-CN" altLang="en-US" dirty="0"/>
              <a:t>）**优化，进一步减少数据移动量和存储需求，同时利用</a:t>
            </a:r>
            <a:r>
              <a:rPr lang="en-US" altLang="zh-CN" dirty="0"/>
              <a:t>FPGA</a:t>
            </a:r>
            <a:r>
              <a:rPr lang="zh-CN" altLang="en-US" dirty="0"/>
              <a:t>的</a:t>
            </a:r>
            <a:r>
              <a:rPr lang="en-US" altLang="zh-CN" dirty="0"/>
              <a:t>DSP</a:t>
            </a:r>
            <a:r>
              <a:rPr lang="zh-CN" altLang="en-US" dirty="0"/>
              <a:t>资源高效执行定点运算。</a:t>
            </a:r>
          </a:p>
          <a:p>
            <a:endParaRPr lang="zh-CN" altLang="en-US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1048961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6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6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流式数据流加速器 </a:t>
            </a:r>
            <a:r>
              <a:rPr lang="en-US" altLang="zh-CN" dirty="0"/>
              <a:t>(Streaming Dataflow Accelerators)</a:t>
            </a:r>
            <a:r>
              <a:rPr lang="zh-CN" altLang="en-US" dirty="0"/>
              <a:t>： 这种架构的核心特点是流式执行模型和数据流执行。它将计算图中的操作流水线化，数据像“流”一样经过计算单元，旨在最大化并行度并减少数据在片外内存（</a:t>
            </a:r>
            <a:r>
              <a:rPr lang="en-US" altLang="zh-CN" dirty="0"/>
              <a:t>Off-chip Memory</a:t>
            </a:r>
            <a:r>
              <a:rPr lang="zh-CN" altLang="en-US" dirty="0"/>
              <a:t>）间的移动。</a:t>
            </a:r>
            <a:endParaRPr lang="en-US" altLang="zh-CN" dirty="0"/>
          </a:p>
          <a:p>
            <a:r>
              <a:rPr lang="zh-CN" altLang="en-US" b="1" dirty="0"/>
              <a:t>朴素 </a:t>
            </a:r>
            <a:r>
              <a:rPr lang="en-US" altLang="zh-CN" b="1" dirty="0"/>
              <a:t>SDPA </a:t>
            </a:r>
            <a:r>
              <a:rPr lang="zh-CN" altLang="en-US" b="1" dirty="0"/>
              <a:t>实现：线性 </a:t>
            </a:r>
            <a:r>
              <a:rPr lang="en-US" altLang="zh-CN" b="1" dirty="0">
                <a:effectLst/>
              </a:rPr>
              <a:t>O</a:t>
            </a:r>
            <a:r>
              <a:rPr lang="en-US" altLang="zh-CN" b="1" dirty="0"/>
              <a:t>(</a:t>
            </a:r>
            <a:r>
              <a:rPr lang="en-US" altLang="zh-CN" b="1" dirty="0">
                <a:effectLst/>
              </a:rPr>
              <a:t>N</a:t>
            </a:r>
            <a:r>
              <a:rPr lang="en-US" altLang="zh-CN" b="1" dirty="0"/>
              <a:t>) </a:t>
            </a:r>
            <a:r>
              <a:rPr lang="zh-CN" altLang="en-US" b="1" dirty="0"/>
              <a:t>中间内存</a:t>
            </a:r>
          </a:p>
          <a:p>
            <a:r>
              <a:rPr lang="zh-CN" altLang="en-US" dirty="0"/>
              <a:t>在传统的 </a:t>
            </a:r>
            <a:r>
              <a:rPr lang="en-US" altLang="zh-CN" dirty="0"/>
              <a:t>O(N</a:t>
            </a:r>
            <a:r>
              <a:rPr lang="en-US" altLang="zh-CN" dirty="0">
                <a:effectLst/>
              </a:rPr>
              <a:t>2</a:t>
            </a:r>
            <a:r>
              <a:rPr lang="en-US" altLang="zh-CN" dirty="0"/>
              <a:t>) </a:t>
            </a:r>
            <a:r>
              <a:rPr lang="zh-CN" altLang="en-US" dirty="0"/>
              <a:t>内存模型中，需要完整地存储 </a:t>
            </a:r>
            <a:r>
              <a:rPr lang="en-US" altLang="zh-CN" dirty="0">
                <a:effectLst/>
              </a:rPr>
              <a:t>S</a:t>
            </a:r>
            <a:r>
              <a:rPr lang="zh-CN" altLang="en-US" dirty="0"/>
              <a:t> 和 </a:t>
            </a:r>
            <a:r>
              <a:rPr lang="en-US" altLang="zh-CN" dirty="0">
                <a:effectLst/>
              </a:rPr>
              <a:t>P</a:t>
            </a:r>
            <a:r>
              <a:rPr lang="zh-CN" altLang="en-US" dirty="0"/>
              <a:t> 矩阵。</a:t>
            </a:r>
          </a:p>
          <a:p>
            <a:r>
              <a:rPr lang="zh-CN" altLang="en-US" dirty="0"/>
              <a:t>当将 </a:t>
            </a:r>
            <a:r>
              <a:rPr lang="en-US" altLang="zh-CN" dirty="0"/>
              <a:t>SDPA </a:t>
            </a:r>
            <a:r>
              <a:rPr lang="zh-CN" altLang="en-US" dirty="0"/>
              <a:t>算法映射到</a:t>
            </a:r>
            <a:r>
              <a:rPr lang="zh-CN" altLang="en-US" b="1" dirty="0"/>
              <a:t>流式数据流加速器</a:t>
            </a:r>
            <a:r>
              <a:rPr lang="zh-CN" altLang="en-US" dirty="0"/>
              <a:t>上时，研究人员发现，由于其</a:t>
            </a:r>
            <a:r>
              <a:rPr lang="zh-CN" altLang="en-US" b="1" dirty="0"/>
              <a:t>流式执行</a:t>
            </a:r>
            <a:r>
              <a:rPr lang="zh-CN" altLang="en-US" dirty="0"/>
              <a:t>和</a:t>
            </a:r>
            <a:r>
              <a:rPr lang="zh-CN" altLang="en-US" b="1" dirty="0"/>
              <a:t>操作可分解性</a:t>
            </a:r>
            <a:r>
              <a:rPr lang="zh-CN" altLang="en-US" dirty="0"/>
              <a:t>，即使是朴素的 </a:t>
            </a:r>
            <a:r>
              <a:rPr lang="en-US" altLang="zh-CN" dirty="0"/>
              <a:t>SDPA </a:t>
            </a:r>
            <a:r>
              <a:rPr lang="zh-CN" altLang="en-US" dirty="0"/>
              <a:t>算法，其内存复杂度也能得到改善。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关键观察：</a:t>
            </a:r>
            <a:r>
              <a:rPr lang="zh-CN" altLang="en-US" dirty="0"/>
              <a:t> </a:t>
            </a:r>
            <a:r>
              <a:rPr lang="en-US" altLang="zh-CN" dirty="0"/>
              <a:t>SDPA </a:t>
            </a:r>
            <a:r>
              <a:rPr lang="zh-CN" altLang="en-US" dirty="0"/>
              <a:t>算法可以分解为</a:t>
            </a:r>
            <a:r>
              <a:rPr lang="zh-CN" altLang="en-US" b="1" dirty="0"/>
              <a:t>行级 </a:t>
            </a:r>
            <a:r>
              <a:rPr lang="en-US" altLang="zh-CN" b="1" dirty="0"/>
              <a:t>(Row-wise) </a:t>
            </a:r>
            <a:r>
              <a:rPr lang="zh-CN" altLang="en-US" b="1" dirty="0"/>
              <a:t>操作</a:t>
            </a:r>
            <a:r>
              <a:rPr lang="zh-CN" altLang="en-US" dirty="0"/>
              <a:t>。计算 </a:t>
            </a:r>
            <a:r>
              <a:rPr lang="en-US" altLang="zh-CN" dirty="0"/>
              <a:t>Query </a:t>
            </a:r>
            <a:r>
              <a:rPr lang="zh-CN" altLang="en-US" dirty="0"/>
              <a:t>矩阵中的某一行的注意力输出时，只需要该行 </a:t>
            </a:r>
            <a:r>
              <a:rPr lang="en-US" altLang="zh-CN" dirty="0">
                <a:effectLst/>
              </a:rPr>
              <a:t>qi</a:t>
            </a:r>
            <a:r>
              <a:rPr lang="zh-CN" altLang="en-US" dirty="0"/>
              <a:t>​ 与所有 </a:t>
            </a:r>
            <a:r>
              <a:rPr lang="en-US" altLang="zh-CN" dirty="0">
                <a:effectLst/>
              </a:rPr>
              <a:t>KT</a:t>
            </a:r>
            <a:r>
              <a:rPr lang="zh-CN" altLang="en-US" dirty="0"/>
              <a:t> 进行点积，计算出 </a:t>
            </a:r>
            <a:r>
              <a:rPr lang="en-US" altLang="zh-CN" dirty="0" err="1"/>
              <a:t>s</a:t>
            </a:r>
            <a:r>
              <a:rPr lang="en-US" altLang="zh-CN" dirty="0" err="1">
                <a:effectLst/>
              </a:rPr>
              <a:t>i</a:t>
            </a:r>
            <a:r>
              <a:rPr lang="zh-CN" altLang="en-US" dirty="0"/>
              <a:t>​，然后对其应用 </a:t>
            </a:r>
            <a:r>
              <a:rPr lang="en-US" altLang="zh-CN" dirty="0" err="1"/>
              <a:t>Softmax</a:t>
            </a:r>
            <a:r>
              <a:rPr lang="en-US" altLang="zh-CN" dirty="0"/>
              <a:t> </a:t>
            </a:r>
            <a:r>
              <a:rPr lang="zh-CN" altLang="en-US" dirty="0"/>
              <a:t>得到 </a:t>
            </a:r>
            <a:r>
              <a:rPr lang="en-US" altLang="zh-CN" dirty="0"/>
              <a:t>p</a:t>
            </a:r>
            <a:r>
              <a:rPr lang="en-US" altLang="zh-CN" dirty="0">
                <a:effectLst/>
              </a:rPr>
              <a:t>i</a:t>
            </a:r>
            <a:r>
              <a:rPr lang="zh-CN" altLang="en-US" dirty="0"/>
              <a:t>​。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朴素实现的挑战：</a:t>
            </a:r>
            <a:r>
              <a:rPr lang="zh-CN" altLang="en-US" dirty="0"/>
              <a:t> 尽管是行级操作，但 </a:t>
            </a:r>
            <a:r>
              <a:rPr lang="en-US" altLang="zh-CN" dirty="0" err="1"/>
              <a:t>Softmax</a:t>
            </a:r>
            <a:r>
              <a:rPr lang="en-US" altLang="zh-CN" dirty="0"/>
              <a:t> </a:t>
            </a:r>
            <a:r>
              <a:rPr lang="zh-CN" altLang="en-US" dirty="0"/>
              <a:t>的计算需要</a:t>
            </a:r>
            <a:r>
              <a:rPr lang="zh-CN" altLang="en-US" b="1" dirty="0"/>
              <a:t>归一化项（分母）</a:t>
            </a:r>
            <a:r>
              <a:rPr lang="zh-CN" altLang="en-US" dirty="0"/>
              <a:t>，即 </a:t>
            </a:r>
            <a:r>
              <a:rPr lang="zh-CN" altLang="en-US" dirty="0">
                <a:effectLst/>
              </a:rPr>
              <a:t>∑</a:t>
            </a:r>
            <a:r>
              <a:rPr lang="en-US" altLang="zh-CN" dirty="0">
                <a:effectLst/>
              </a:rPr>
              <a:t>j</a:t>
            </a:r>
            <a:r>
              <a:rPr lang="zh-CN" altLang="en-US" dirty="0"/>
              <a:t>​</a:t>
            </a:r>
            <a:r>
              <a:rPr lang="en-US" altLang="zh-CN" dirty="0" err="1"/>
              <a:t>e</a:t>
            </a:r>
            <a:r>
              <a:rPr lang="en-US" altLang="zh-CN" dirty="0" err="1">
                <a:effectLst/>
              </a:rPr>
              <a:t>sij</a:t>
            </a:r>
            <a:r>
              <a:rPr lang="en-US" altLang="zh-CN" dirty="0">
                <a:effectLst/>
              </a:rPr>
              <a:t>​</a:t>
            </a:r>
            <a:r>
              <a:rPr lang="zh-CN" altLang="en-US" dirty="0"/>
              <a:t>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在计算出 </a:t>
            </a:r>
            <a:r>
              <a:rPr lang="en-US" altLang="zh-CN" dirty="0" err="1"/>
              <a:t>s</a:t>
            </a:r>
            <a:r>
              <a:rPr lang="en-US" altLang="zh-CN" dirty="0" err="1">
                <a:effectLst/>
              </a:rPr>
              <a:t>ij</a:t>
            </a:r>
            <a:r>
              <a:rPr lang="zh-CN" altLang="en-US" dirty="0"/>
              <a:t>​ 后，需要</a:t>
            </a:r>
            <a:r>
              <a:rPr lang="zh-CN" altLang="en-US" b="1" dirty="0"/>
              <a:t>暂时存储</a:t>
            </a:r>
            <a:r>
              <a:rPr lang="zh-CN" altLang="en-US" dirty="0"/>
              <a:t>这一行所有的 </a:t>
            </a:r>
            <a:r>
              <a:rPr lang="en-US" altLang="zh-CN" dirty="0" err="1"/>
              <a:t>s</a:t>
            </a:r>
            <a:r>
              <a:rPr lang="en-US" altLang="zh-CN" dirty="0" err="1">
                <a:effectLst/>
              </a:rPr>
              <a:t>ij</a:t>
            </a:r>
            <a:r>
              <a:rPr lang="zh-CN" altLang="en-US" dirty="0"/>
              <a:t>​ 元素 </a:t>
            </a:r>
            <a:r>
              <a:rPr lang="en-US" altLang="zh-CN" dirty="0"/>
              <a:t>(O(N) </a:t>
            </a:r>
            <a:r>
              <a:rPr lang="zh-CN" altLang="en-US" dirty="0"/>
              <a:t>个元素</a:t>
            </a:r>
            <a:r>
              <a:rPr lang="en-US" altLang="zh-CN" dirty="0"/>
              <a:t>)</a:t>
            </a:r>
            <a:r>
              <a:rPr lang="zh-CN" altLang="en-US" dirty="0"/>
              <a:t>，直到</a:t>
            </a:r>
            <a:r>
              <a:rPr lang="zh-CN" altLang="en-US" b="1" dirty="0"/>
              <a:t>整行</a:t>
            </a:r>
            <a:r>
              <a:rPr lang="zh-CN" altLang="en-US" dirty="0"/>
              <a:t>计算完毕，才能计算出分母，然后进行 </a:t>
            </a:r>
            <a:r>
              <a:rPr lang="en-US" altLang="zh-CN" dirty="0" err="1"/>
              <a:t>Softmax</a:t>
            </a:r>
            <a:r>
              <a:rPr lang="en-US" altLang="zh-CN" dirty="0"/>
              <a:t> </a:t>
            </a:r>
            <a:r>
              <a:rPr lang="zh-CN" altLang="en-US" dirty="0"/>
              <a:t>归一化。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结果：</a:t>
            </a:r>
            <a:r>
              <a:rPr lang="zh-CN" altLang="en-US" dirty="0"/>
              <a:t> 在流式架构下，朴素实现需要为每行存储一个 </a:t>
            </a:r>
            <a:r>
              <a:rPr lang="en-US" altLang="zh-CN" dirty="0">
                <a:effectLst/>
              </a:rPr>
              <a:t>N</a:t>
            </a:r>
            <a:r>
              <a:rPr lang="zh-CN" altLang="en-US" dirty="0"/>
              <a:t> 长度的中间结果，因此中间内存复杂度降低到了</a:t>
            </a:r>
            <a:r>
              <a:rPr lang="zh-CN" altLang="en-US" b="1" dirty="0"/>
              <a:t>线性 </a:t>
            </a:r>
            <a:r>
              <a:rPr lang="en-US" altLang="zh-CN" b="1" dirty="0"/>
              <a:t>O(N)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优化 </a:t>
            </a:r>
            <a:r>
              <a:rPr lang="en-US" altLang="zh-CN" dirty="0"/>
              <a:t>SDPA </a:t>
            </a:r>
            <a:r>
              <a:rPr lang="zh-CN" altLang="en-US" dirty="0"/>
              <a:t>实现：常数 </a:t>
            </a:r>
            <a:r>
              <a:rPr lang="en-US" altLang="zh-CN" dirty="0">
                <a:effectLst/>
              </a:rPr>
              <a:t>O</a:t>
            </a:r>
            <a:r>
              <a:rPr lang="en-US" altLang="zh-CN" dirty="0"/>
              <a:t>(1) </a:t>
            </a:r>
            <a:r>
              <a:rPr lang="zh-CN" altLang="en-US" dirty="0"/>
              <a:t>中间内存</a:t>
            </a:r>
            <a:r>
              <a:rPr lang="en-US" altLang="zh-CN" dirty="0"/>
              <a:t>, </a:t>
            </a:r>
            <a:r>
              <a:rPr lang="zh-CN" altLang="en-US" dirty="0"/>
              <a:t>和</a:t>
            </a:r>
            <a:r>
              <a:rPr lang="en-US" altLang="zh-CN" dirty="0"/>
              <a:t>FA</a:t>
            </a:r>
            <a:r>
              <a:rPr lang="zh-CN" altLang="en-US" dirty="0"/>
              <a:t>相同，使用在线</a:t>
            </a:r>
            <a:r>
              <a:rPr lang="en-US" altLang="zh-CN" dirty="0" err="1"/>
              <a:t>softmax</a:t>
            </a:r>
            <a:r>
              <a:rPr lang="zh-CN" altLang="en-US" dirty="0"/>
              <a:t>的方法，增量计算分母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b="1" dirty="0"/>
              <a:t>(a) </a:t>
            </a:r>
            <a:r>
              <a:rPr lang="zh-CN" altLang="en-US" b="1" dirty="0"/>
              <a:t>朴素算法</a:t>
            </a:r>
            <a:r>
              <a:rPr lang="zh-CN" altLang="en-US" dirty="0"/>
              <a:t>严格按照 </a:t>
            </a:r>
            <a:r>
              <a:rPr lang="en-US" altLang="zh-CN" dirty="0"/>
              <a:t>SDPA </a:t>
            </a:r>
            <a:r>
              <a:rPr lang="zh-CN" altLang="en-US" dirty="0"/>
              <a:t>公式流程执行，先算出 </a:t>
            </a:r>
            <a:r>
              <a:rPr lang="en-US" altLang="zh-CN" dirty="0">
                <a:effectLst/>
              </a:rPr>
              <a:t>S</a:t>
            </a:r>
            <a:r>
              <a:rPr lang="zh-CN" altLang="en-US" dirty="0"/>
              <a:t> 矩阵，再计算 </a:t>
            </a:r>
            <a:r>
              <a:rPr lang="en-US" altLang="zh-CN" dirty="0" err="1"/>
              <a:t>Softmax</a:t>
            </a:r>
            <a:r>
              <a:rPr lang="en-US" altLang="zh-CN" dirty="0"/>
              <a:t> </a:t>
            </a:r>
            <a:r>
              <a:rPr lang="zh-CN" altLang="en-US" dirty="0"/>
              <a:t>分母，然后归一化。</a:t>
            </a:r>
            <a:r>
              <a:rPr lang="en-US" altLang="zh-CN" b="1" dirty="0"/>
              <a:t>O(N) </a:t>
            </a:r>
            <a:r>
              <a:rPr lang="zh-CN" altLang="en-US" b="1" dirty="0"/>
              <a:t>线性内存</a:t>
            </a:r>
            <a:r>
              <a:rPr lang="zh-CN" altLang="en-US" dirty="0"/>
              <a:t>：必须存储 </a:t>
            </a:r>
            <a:r>
              <a:rPr lang="en-US" altLang="zh-CN" dirty="0" err="1"/>
              <a:t>Softmax</a:t>
            </a:r>
            <a:r>
              <a:rPr lang="en-US" altLang="zh-CN" dirty="0"/>
              <a:t> </a:t>
            </a:r>
            <a:r>
              <a:rPr lang="zh-CN" altLang="en-US" dirty="0"/>
              <a:t>的</a:t>
            </a:r>
            <a:r>
              <a:rPr lang="zh-CN" altLang="en-US" b="1" dirty="0"/>
              <a:t>整行分子</a:t>
            </a:r>
            <a:r>
              <a:rPr lang="zh-CN" altLang="en-US" dirty="0"/>
              <a:t>，等待 </a:t>
            </a:r>
            <a:r>
              <a:rPr lang="en-US" altLang="zh-CN" dirty="0" err="1"/>
              <a:t>Softmax</a:t>
            </a:r>
            <a:r>
              <a:rPr lang="en-US" altLang="zh-CN" dirty="0"/>
              <a:t> </a:t>
            </a:r>
            <a:r>
              <a:rPr lang="zh-CN" altLang="en-US" dirty="0"/>
              <a:t>的分母（</a:t>
            </a:r>
            <a:r>
              <a:rPr lang="en-US" altLang="zh-CN" dirty="0"/>
              <a:t>Reduce (N)</a:t>
            </a:r>
            <a:r>
              <a:rPr lang="zh-CN" altLang="en-US" dirty="0"/>
              <a:t>）计算完成。</a:t>
            </a:r>
            <a:r>
              <a:rPr lang="en-US" altLang="zh-CN" b="1" dirty="0"/>
              <a:t>(b) </a:t>
            </a:r>
            <a:r>
              <a:rPr lang="zh-CN" altLang="en-US" b="1" dirty="0"/>
              <a:t>重排序除法</a:t>
            </a:r>
            <a:r>
              <a:rPr lang="zh-CN" altLang="en-US" dirty="0"/>
              <a:t>将 </a:t>
            </a:r>
            <a:r>
              <a:rPr lang="en-US" altLang="zh-CN" dirty="0" err="1"/>
              <a:t>Softmax</a:t>
            </a:r>
            <a:r>
              <a:rPr lang="en-US" altLang="zh-CN" dirty="0"/>
              <a:t> </a:t>
            </a:r>
            <a:r>
              <a:rPr lang="zh-CN" altLang="en-US" dirty="0"/>
              <a:t>归一化的除法操作后移，尝试融合 </a:t>
            </a:r>
            <a:r>
              <a:rPr lang="en-US" altLang="zh-CN" dirty="0">
                <a:effectLst/>
              </a:rPr>
              <a:t>PV</a:t>
            </a:r>
            <a:r>
              <a:rPr lang="zh-CN" altLang="en-US" dirty="0"/>
              <a:t> 乘法，以优化数据流。</a:t>
            </a:r>
            <a:r>
              <a:rPr lang="en-US" altLang="zh-CN" b="1" dirty="0"/>
              <a:t>O(N) </a:t>
            </a:r>
            <a:r>
              <a:rPr lang="zh-CN" altLang="en-US" b="1" dirty="0"/>
              <a:t>线性内存</a:t>
            </a:r>
            <a:r>
              <a:rPr lang="zh-CN" altLang="en-US" dirty="0"/>
              <a:t>：本质上</a:t>
            </a:r>
            <a:r>
              <a:rPr lang="zh-CN" altLang="en-US" b="1" dirty="0"/>
              <a:t>仍需 </a:t>
            </a:r>
            <a:r>
              <a:rPr lang="en-US" altLang="zh-CN" b="1" dirty="0"/>
              <a:t>Reduce (N)</a:t>
            </a:r>
            <a:r>
              <a:rPr lang="zh-CN" altLang="en-US" dirty="0"/>
              <a:t> 来计算分母，因此仍然需要</a:t>
            </a:r>
            <a:r>
              <a:rPr lang="zh-CN" altLang="en-US" b="1" dirty="0"/>
              <a:t>存储一整行中间结果</a:t>
            </a:r>
            <a:r>
              <a:rPr lang="zh-CN" altLang="en-US" dirty="0"/>
              <a:t>。</a:t>
            </a:r>
            <a:r>
              <a:rPr lang="en-US" altLang="zh-CN" b="1" dirty="0"/>
              <a:t>(c) </a:t>
            </a:r>
            <a:r>
              <a:rPr lang="zh-CN" altLang="en-US" b="1" dirty="0"/>
              <a:t>内存无消耗</a:t>
            </a:r>
            <a:r>
              <a:rPr lang="zh-CN" altLang="en-US" dirty="0"/>
              <a:t>使用 </a:t>
            </a:r>
            <a:r>
              <a:rPr lang="en-US" altLang="zh-CN" b="1" dirty="0"/>
              <a:t>Scan (N→∞)</a:t>
            </a:r>
            <a:r>
              <a:rPr lang="zh-CN" altLang="en-US" dirty="0"/>
              <a:t> 模式实现</a:t>
            </a:r>
            <a:r>
              <a:rPr lang="zh-CN" altLang="en-US" b="1" dirty="0"/>
              <a:t>增量</a:t>
            </a:r>
            <a:r>
              <a:rPr lang="en-US" altLang="zh-CN" b="1" dirty="0"/>
              <a:t>/</a:t>
            </a:r>
            <a:r>
              <a:rPr lang="zh-CN" altLang="en-US" b="1" dirty="0"/>
              <a:t>在线 </a:t>
            </a:r>
            <a:r>
              <a:rPr lang="en-US" altLang="zh-CN" b="1" dirty="0" err="1"/>
              <a:t>Softmax</a:t>
            </a:r>
            <a:r>
              <a:rPr lang="zh-CN" altLang="en-US" dirty="0"/>
              <a:t>，实时更新分母和最大值。</a:t>
            </a:r>
            <a:r>
              <a:rPr lang="en-US" altLang="zh-CN" b="1" dirty="0"/>
              <a:t>O(1) </a:t>
            </a:r>
            <a:r>
              <a:rPr lang="zh-CN" altLang="en-US" b="1" dirty="0"/>
              <a:t>常数内存</a:t>
            </a:r>
            <a:r>
              <a:rPr lang="zh-CN" altLang="en-US" dirty="0"/>
              <a:t>：彻底消除对整行中间结果的依赖，</a:t>
            </a:r>
            <a:r>
              <a:rPr lang="zh-CN" altLang="en-US" b="1" dirty="0"/>
              <a:t>数据流经即可完成计算</a:t>
            </a:r>
            <a:r>
              <a:rPr lang="zh-CN" altLang="en-US" dirty="0"/>
              <a:t>，仅需存储</a:t>
            </a:r>
            <a:r>
              <a:rPr lang="zh-CN" altLang="en-US" b="1" dirty="0"/>
              <a:t>常数状态</a:t>
            </a:r>
            <a:r>
              <a:rPr lang="zh-CN" altLang="en-US" dirty="0"/>
              <a:t>。</a:t>
            </a:r>
          </a:p>
        </p:txBody>
      </p:sp>
      <p:sp>
        <p:nvSpPr>
          <p:cNvPr id="104896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3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7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解决核心瓶颈 </a:t>
            </a:r>
            <a:r>
              <a:rPr lang="en-US" altLang="zh-CN" b="1" dirty="0"/>
              <a:t>(Addressing the Bottleneck):</a:t>
            </a:r>
            <a:r>
              <a:rPr lang="en-US" altLang="zh-CN" dirty="0"/>
              <a:t> </a:t>
            </a:r>
            <a:r>
              <a:rPr lang="zh-CN" altLang="en-US" dirty="0"/>
              <a:t>针对大型语言模型（</a:t>
            </a:r>
            <a:r>
              <a:rPr lang="en-US" altLang="zh-CN" dirty="0"/>
              <a:t>LLMs</a:t>
            </a:r>
            <a:r>
              <a:rPr lang="zh-CN" altLang="en-US" dirty="0"/>
              <a:t>）在长上下文（如 </a:t>
            </a:r>
            <a:r>
              <a:rPr lang="en-US" altLang="zh-CN" dirty="0"/>
              <a:t>128K</a:t>
            </a:r>
            <a:r>
              <a:rPr lang="zh-CN" altLang="en-US" dirty="0"/>
              <a:t>）推理时，**自注意力（</a:t>
            </a:r>
            <a:r>
              <a:rPr lang="en-US" altLang="zh-CN" dirty="0"/>
              <a:t>Self-Attention</a:t>
            </a:r>
            <a:r>
              <a:rPr lang="zh-CN" altLang="en-US" dirty="0"/>
              <a:t>）**计算成为主要延迟瓶颈的问题 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核心推测</a:t>
            </a:r>
            <a:r>
              <a:rPr lang="en-US" altLang="zh-CN" dirty="0"/>
              <a:t>-</a:t>
            </a:r>
            <a:r>
              <a:rPr lang="zh-CN" altLang="en-US" dirty="0"/>
              <a:t>验证机制 </a:t>
            </a:r>
            <a:r>
              <a:rPr lang="en-US" altLang="zh-CN" dirty="0"/>
              <a:t>(Speculation-Verification Mechanism):1</a:t>
            </a:r>
            <a:r>
              <a:rPr lang="zh-CN" altLang="en-US" dirty="0"/>
              <a:t>、利用一个</a:t>
            </a:r>
            <a:r>
              <a:rPr lang="zh-CN" altLang="en-US" b="1" dirty="0"/>
              <a:t>低成本、低延迟的近似函数</a:t>
            </a:r>
            <a:r>
              <a:rPr lang="zh-CN" altLang="en-US" dirty="0"/>
              <a:t> </a:t>
            </a:r>
            <a:r>
              <a:rPr lang="en-US" altLang="zh-CN" dirty="0" err="1"/>
              <a:t>A</a:t>
            </a:r>
            <a:r>
              <a:rPr lang="en-US" altLang="zh-CN" dirty="0" err="1">
                <a:effectLst/>
              </a:rPr>
              <a:t>approx</a:t>
            </a:r>
            <a:r>
              <a:rPr lang="zh-CN" altLang="en-US" dirty="0"/>
              <a:t>​ 来快速预测当前层的自注意力输出 </a:t>
            </a:r>
            <a:r>
              <a:rPr lang="en-US" altLang="zh-CN" dirty="0" err="1">
                <a:effectLst/>
              </a:rPr>
              <a:t>A~i</a:t>
            </a:r>
            <a:r>
              <a:rPr lang="zh-CN" altLang="en-US" dirty="0"/>
              <a:t>​。例如，论文中采用了</a:t>
            </a:r>
            <a:r>
              <a:rPr lang="en-US" altLang="zh-CN" b="1" dirty="0"/>
              <a:t>Attention Sink</a:t>
            </a:r>
            <a:r>
              <a:rPr lang="zh-CN" altLang="en-US" dirty="0"/>
              <a:t>等近似技术，它只关注最老和最新的少数 </a:t>
            </a:r>
            <a:r>
              <a:rPr lang="en-US" altLang="zh-CN" dirty="0"/>
              <a:t>Token</a:t>
            </a:r>
            <a:r>
              <a:rPr lang="zh-CN" altLang="en-US" dirty="0"/>
              <a:t>，避免了整个长上下文的昂贵计算。</a:t>
            </a:r>
            <a:r>
              <a:rPr lang="en-US" altLang="zh-CN" dirty="0"/>
              <a:t>2</a:t>
            </a:r>
            <a:r>
              <a:rPr lang="zh-CN" altLang="en-US" dirty="0"/>
              <a:t>、两个计算路径同时启动： </a:t>
            </a:r>
            <a:r>
              <a:rPr lang="en-US" altLang="zh-CN" dirty="0"/>
              <a:t>1. </a:t>
            </a:r>
            <a:r>
              <a:rPr lang="zh-CN" altLang="en-US" b="1" dirty="0"/>
              <a:t>精确路径：</a:t>
            </a:r>
            <a:r>
              <a:rPr lang="zh-CN" altLang="en-US" dirty="0"/>
              <a:t> 在主计算设备上，开始执行</a:t>
            </a:r>
            <a:r>
              <a:rPr lang="zh-CN" altLang="en-US" b="1" dirty="0"/>
              <a:t>精确</a:t>
            </a:r>
            <a:r>
              <a:rPr lang="zh-CN" altLang="en-US" dirty="0"/>
              <a:t>的自注意力计算 </a:t>
            </a:r>
            <a:r>
              <a:rPr lang="en-US" altLang="zh-CN" dirty="0"/>
              <a:t>A</a:t>
            </a:r>
            <a:r>
              <a:rPr lang="en-US" altLang="zh-CN" dirty="0">
                <a:effectLst/>
              </a:rPr>
              <a:t>i</a:t>
            </a:r>
            <a:r>
              <a:rPr lang="zh-CN" altLang="en-US" dirty="0"/>
              <a:t>​。这通常需要较长时间。 </a:t>
            </a:r>
            <a:r>
              <a:rPr lang="en-US" altLang="zh-CN" dirty="0"/>
              <a:t>2. </a:t>
            </a:r>
            <a:r>
              <a:rPr lang="zh-CN" altLang="en-US" b="1" dirty="0"/>
              <a:t>推测路径：</a:t>
            </a:r>
            <a:r>
              <a:rPr lang="zh-CN" altLang="en-US" dirty="0"/>
              <a:t> 在另一个设备或线程上，将 </a:t>
            </a:r>
            <a:r>
              <a:rPr lang="en-US" altLang="zh-CN" dirty="0" err="1">
                <a:effectLst/>
              </a:rPr>
              <a:t>A~i</a:t>
            </a:r>
            <a:r>
              <a:rPr lang="zh-CN" altLang="en-US" dirty="0"/>
              <a:t>​ 输入到后续的非注意力计算（如 </a:t>
            </a:r>
            <a:r>
              <a:rPr lang="en-US" altLang="zh-CN" dirty="0" err="1"/>
              <a:t>LayerNorm</a:t>
            </a:r>
            <a:r>
              <a:rPr lang="en-US" altLang="zh-CN" dirty="0"/>
              <a:t>, FFN </a:t>
            </a:r>
            <a:r>
              <a:rPr lang="zh-CN" altLang="en-US" dirty="0"/>
              <a:t>等），</a:t>
            </a:r>
            <a:r>
              <a:rPr lang="zh-CN" altLang="en-US" b="1" dirty="0"/>
              <a:t>提前</a:t>
            </a:r>
            <a:r>
              <a:rPr lang="zh-CN" altLang="en-US" dirty="0"/>
              <a:t>开始后续操作。</a:t>
            </a:r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zh-CN" altLang="en-US" b="1" dirty="0"/>
              <a:t>验证 </a:t>
            </a:r>
            <a:r>
              <a:rPr lang="en-US" altLang="zh-CN" b="1" dirty="0"/>
              <a:t>(Verification)</a:t>
            </a:r>
            <a:r>
              <a:rPr lang="zh-CN" altLang="en-US" dirty="0"/>
              <a:t>当精确的 </a:t>
            </a:r>
            <a:r>
              <a:rPr lang="en-US" altLang="zh-CN" dirty="0"/>
              <a:t>A</a:t>
            </a:r>
            <a:r>
              <a:rPr lang="en-US" altLang="zh-CN" dirty="0">
                <a:effectLst/>
              </a:rPr>
              <a:t>i</a:t>
            </a:r>
            <a:r>
              <a:rPr lang="zh-CN" altLang="en-US" dirty="0"/>
              <a:t>​ 计算完成后，它会与推测出的 </a:t>
            </a:r>
            <a:r>
              <a:rPr lang="en-US" altLang="zh-CN" dirty="0" err="1">
                <a:effectLst/>
              </a:rPr>
              <a:t>A~i</a:t>
            </a:r>
            <a:r>
              <a:rPr lang="zh-CN" altLang="en-US" dirty="0"/>
              <a:t>​ 进行</a:t>
            </a:r>
            <a:r>
              <a:rPr lang="zh-CN" altLang="en-US" b="1" dirty="0"/>
              <a:t>低成本的比较验证</a:t>
            </a:r>
            <a:r>
              <a:rPr lang="zh-CN" altLang="en-US" dirty="0"/>
              <a:t>。验证成功的标准是两者之差是否在一个可接受的阈值 </a:t>
            </a:r>
            <a:r>
              <a:rPr lang="en-US" altLang="zh-CN" dirty="0"/>
              <a:t>λ </a:t>
            </a:r>
            <a:r>
              <a:rPr lang="zh-CN" altLang="en-US" dirty="0"/>
              <a:t>之内。</a:t>
            </a:r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zh-CN" altLang="en-US" b="1" dirty="0"/>
              <a:t>提交或回滚 </a:t>
            </a:r>
            <a:r>
              <a:rPr lang="en-US" altLang="zh-CN" b="1" dirty="0"/>
              <a:t>(Commit or Rollback)</a:t>
            </a:r>
            <a:r>
              <a:rPr lang="zh-CN" altLang="en-US" b="1" dirty="0"/>
              <a:t>提交 </a:t>
            </a:r>
            <a:r>
              <a:rPr lang="en-US" altLang="zh-CN" b="1" dirty="0"/>
              <a:t>(Commit)</a:t>
            </a:r>
            <a:r>
              <a:rPr lang="zh-CN" altLang="en-US" b="1" dirty="0"/>
              <a:t>：</a:t>
            </a:r>
            <a:r>
              <a:rPr lang="zh-CN" altLang="en-US" dirty="0"/>
              <a:t> 如果验证成功，则表明推测路径的提前计算是有效的。</a:t>
            </a:r>
            <a:r>
              <a:rPr lang="zh-CN" altLang="en-US" b="1" dirty="0"/>
              <a:t>丢弃</a:t>
            </a:r>
            <a:r>
              <a:rPr lang="zh-CN" altLang="en-US" dirty="0"/>
              <a:t>精确路径上 </a:t>
            </a:r>
            <a:r>
              <a:rPr lang="en-US" altLang="zh-CN" dirty="0"/>
              <a:t>A</a:t>
            </a:r>
            <a:r>
              <a:rPr lang="en-US" altLang="zh-CN" dirty="0">
                <a:effectLst/>
              </a:rPr>
              <a:t>i</a:t>
            </a:r>
            <a:r>
              <a:rPr lang="zh-CN" altLang="en-US" dirty="0"/>
              <a:t>​ 之后的重复计算，采用推测路径的结果。</a:t>
            </a:r>
            <a:r>
              <a:rPr lang="zh-CN" altLang="en-US" b="1" dirty="0"/>
              <a:t>延迟得以隐藏。</a:t>
            </a:r>
            <a:r>
              <a:rPr lang="zh-CN" altLang="en-US" dirty="0"/>
              <a:t> </a:t>
            </a:r>
            <a:r>
              <a:rPr lang="zh-CN" altLang="en-US" b="1" dirty="0"/>
              <a:t>回滚 </a:t>
            </a:r>
            <a:r>
              <a:rPr lang="en-US" altLang="zh-CN" b="1" dirty="0"/>
              <a:t>(Rollback)</a:t>
            </a:r>
            <a:r>
              <a:rPr lang="zh-CN" altLang="en-US" b="1" dirty="0"/>
              <a:t>：</a:t>
            </a:r>
            <a:r>
              <a:rPr lang="zh-CN" altLang="en-US" dirty="0"/>
              <a:t> 如果验证失败，推测路径提前计算的结果被</a:t>
            </a:r>
            <a:r>
              <a:rPr lang="zh-CN" altLang="en-US" b="1" dirty="0"/>
              <a:t>丢弃</a:t>
            </a:r>
            <a:r>
              <a:rPr lang="zh-CN" altLang="en-US" dirty="0"/>
              <a:t>。使用精确的 </a:t>
            </a:r>
            <a:r>
              <a:rPr lang="en-US" altLang="zh-CN" dirty="0"/>
              <a:t>A</a:t>
            </a:r>
            <a:r>
              <a:rPr lang="en-US" altLang="zh-CN" dirty="0">
                <a:effectLst/>
              </a:rPr>
              <a:t>i</a:t>
            </a:r>
            <a:r>
              <a:rPr lang="zh-CN" altLang="en-US" dirty="0"/>
              <a:t>​，重新计算后续的非注意力操作。</a:t>
            </a:r>
            <a:r>
              <a:rPr lang="zh-CN" altLang="en-US" b="1" dirty="0"/>
              <a:t>延迟增加，但精度得到保证。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显著性能提升 </a:t>
            </a:r>
            <a:r>
              <a:rPr lang="en-US" altLang="zh-CN" b="1" dirty="0"/>
              <a:t>(Significant Speedup):</a:t>
            </a:r>
            <a:r>
              <a:rPr lang="zh-CN" altLang="en-US" dirty="0"/>
              <a:t> 在 </a:t>
            </a:r>
            <a:r>
              <a:rPr lang="en-US" altLang="zh-CN" dirty="0"/>
              <a:t>128K </a:t>
            </a:r>
            <a:r>
              <a:rPr lang="zh-CN" altLang="en-US" dirty="0"/>
              <a:t>上下文长度下，实现了</a:t>
            </a:r>
            <a:r>
              <a:rPr lang="zh-CN" altLang="en-US" b="1" dirty="0"/>
              <a:t>高达 </a:t>
            </a:r>
            <a:r>
              <a:rPr lang="en-US" altLang="zh-CN" b="1" dirty="0"/>
              <a:t>5 </a:t>
            </a:r>
            <a:r>
              <a:rPr lang="zh-CN" altLang="en-US" b="1" dirty="0"/>
              <a:t>倍</a:t>
            </a:r>
            <a:r>
              <a:rPr lang="zh-CN" altLang="en-US" dirty="0"/>
              <a:t>的注意力延迟开销减少，并将</a:t>
            </a:r>
            <a:r>
              <a:rPr lang="zh-CN" altLang="en-US" b="1" dirty="0"/>
              <a:t>端到端解码延迟提高了高达 </a:t>
            </a:r>
            <a:r>
              <a:rPr lang="en-US" altLang="zh-CN" b="1" dirty="0"/>
              <a:t>1.65 </a:t>
            </a:r>
            <a:r>
              <a:rPr lang="zh-CN" altLang="en-US" b="1" dirty="0"/>
              <a:t>倍</a:t>
            </a:r>
            <a:r>
              <a:rPr lang="zh-CN" altLang="en-US" dirty="0"/>
              <a:t> 。</a:t>
            </a:r>
          </a:p>
        </p:txBody>
      </p:sp>
      <p:sp>
        <p:nvSpPr>
          <p:cNvPr id="1048975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0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8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Flash Attention 3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及更高版本的持续演进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深度异步执行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(Deep Asynchronous Execution)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：针对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H100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等新架构，实现数据加载与计算的完美重叠，彻底消除流水线气泡。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原生低精度加速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：支持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FP8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INT8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格式，在不损失精度的前提下，将推理吞吐量提升至新高度。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定制化硬件加速器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(FPGA/ASIC)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算法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硬件协同设计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：针对注意力机制设计定制化处理单元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(PE)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，优化数据流架构。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低位量化与结构化剪枝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：结合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INT4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量化与稀疏化技术，通过“硬件感知”的压缩手段进一步降低功耗。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流式处理架构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(Streaming Dataflow)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$O(1)$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中间内存占用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：通过将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SDPA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（缩放点积注意力）分解为行向操作，实现常数级的存储需求。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在线增量 </a:t>
            </a:r>
            <a:r>
              <a:rPr lang="en-US" altLang="zh-C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Softmax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：支持超长序列的实时流式推断。</a:t>
            </a:r>
          </a:p>
          <a:p>
            <a:endParaRPr lang="zh-CN" altLang="en-US" dirty="0"/>
          </a:p>
        </p:txBody>
      </p:sp>
      <p:sp>
        <p:nvSpPr>
          <p:cNvPr id="1048982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8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核心主题：从优化工具到大模型基础设施的变革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注意力级投机计算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(Attention-Level Speculation)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预测与验证机制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：通过预测当前层的注意力输出，实现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Self-Attention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与后续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FFN/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残差连接的并行执行。</a:t>
            </a: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计算重叠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(Overlapping)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：利用低成本验证机制，在保证结果精确性的同时，大幅压缩整体推理延迟。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支撑“无限长度”的上下文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线性内存复杂度的胜利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：内存占用从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$O(N^2)$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降至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$O(N)$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后，大模型将能原生支持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1M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甚至更长的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序列。</a:t>
            </a: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多模态大爆发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：赋能整本书阅读、超长视频流理解及复杂多文档联合分析。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感知哲学的普适化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通用算子优化基石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：将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Flash Attention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“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IO-Aware”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设计理念推广至所有深度学习算子（如卷积、归一化等）。</a:t>
            </a: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结论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Flash Attention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不仅仅是一个算子优化，它是迈向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更高效、更智能、更长记忆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的人工智能时代的必经之路。</a:t>
            </a:r>
          </a:p>
          <a:p>
            <a:endParaRPr lang="zh-CN" altLang="en-US" dirty="0"/>
          </a:p>
        </p:txBody>
      </p:sp>
      <p:sp>
        <p:nvSpPr>
          <p:cNvPr id="1048989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grpSp>
        <p:nvGrpSpPr>
          <p:cNvPr id="83" name="Group 7"/>
          <p:cNvGrpSpPr/>
          <p:nvPr/>
        </p:nvGrpSpPr>
        <p:grpSpPr>
          <a:xfrm>
            <a:off x="3057633" y="31667"/>
            <a:ext cx="9134367" cy="6838951"/>
            <a:chOff x="-4763" y="9525"/>
            <a:chExt cx="9032249" cy="6838951"/>
          </a:xfrm>
          <a:solidFill>
            <a:srgbClr val="549E39"/>
          </a:solidFill>
        </p:grpSpPr>
        <p:sp>
          <p:nvSpPr>
            <p:cNvPr id="1048651" name="Line 16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</a:ln>
          </p:spPr>
        </p:sp>
        <p:grpSp>
          <p:nvGrpSpPr>
            <p:cNvPr id="84" name="Group 9"/>
            <p:cNvGrpSpPr/>
            <p:nvPr/>
          </p:nvGrpSpPr>
          <p:grpSpPr>
            <a:xfrm>
              <a:off x="8428998" y="4867275"/>
              <a:ext cx="598488" cy="1981201"/>
              <a:chOff x="11441112" y="4867275"/>
              <a:chExt cx="598488" cy="1981201"/>
            </a:xfrm>
            <a:grpFill/>
          </p:grpSpPr>
          <p:sp>
            <p:nvSpPr>
              <p:cNvPr id="1048652" name="Freeform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3" name="Freeform 36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4" name="Freeform 38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5" name="Freeform 39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6" name="Freeform 40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7" name="Rectangle 4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4863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048633" name="副标题 2"/>
          <p:cNvSpPr>
            <a:spLocks noGrp="1"/>
          </p:cNvSpPr>
          <p:nvPr>
            <p:ph type="subTitle" idx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12579719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7292098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5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tags" Target="../tags/tag22.xml"/><Relationship Id="rId18" Type="http://schemas.openxmlformats.org/officeDocument/2006/relationships/image" Target="../media/image22.png"/><Relationship Id="rId26" Type="http://schemas.openxmlformats.org/officeDocument/2006/relationships/hyperlink" Target="https://www.zhihu.com/people/95-22-20-18/posts" TargetMode="External"/><Relationship Id="rId3" Type="http://schemas.openxmlformats.org/officeDocument/2006/relationships/tags" Target="../tags/tag12.xml"/><Relationship Id="rId21" Type="http://schemas.openxmlformats.org/officeDocument/2006/relationships/image" Target="../media/image25.png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slideLayout" Target="../slideLayouts/slideLayout6.xml"/><Relationship Id="rId25" Type="http://schemas.openxmlformats.org/officeDocument/2006/relationships/hyperlink" Target="https://space.bilibili.com/3546791834290849" TargetMode="External"/><Relationship Id="rId2" Type="http://schemas.openxmlformats.org/officeDocument/2006/relationships/tags" Target="../tags/tag11.xml"/><Relationship Id="rId16" Type="http://schemas.openxmlformats.org/officeDocument/2006/relationships/tags" Target="../tags/tag25.xml"/><Relationship Id="rId20" Type="http://schemas.openxmlformats.org/officeDocument/2006/relationships/image" Target="../media/image24.png"/><Relationship Id="rId29" Type="http://schemas.openxmlformats.org/officeDocument/2006/relationships/image" Target="../media/image29.png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24" Type="http://schemas.openxmlformats.org/officeDocument/2006/relationships/hyperlink" Target="https://github.com/flagos-ai" TargetMode="External"/><Relationship Id="rId5" Type="http://schemas.openxmlformats.org/officeDocument/2006/relationships/tags" Target="../tags/tag14.xml"/><Relationship Id="rId15" Type="http://schemas.openxmlformats.org/officeDocument/2006/relationships/tags" Target="../tags/tag24.xml"/><Relationship Id="rId23" Type="http://schemas.openxmlformats.org/officeDocument/2006/relationships/image" Target="../media/image27.png"/><Relationship Id="rId28" Type="http://schemas.openxmlformats.org/officeDocument/2006/relationships/image" Target="../media/image28.jpeg"/><Relationship Id="rId10" Type="http://schemas.openxmlformats.org/officeDocument/2006/relationships/tags" Target="../tags/tag19.xml"/><Relationship Id="rId19" Type="http://schemas.openxmlformats.org/officeDocument/2006/relationships/image" Target="../media/image23.png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tags" Target="../tags/tag23.xml"/><Relationship Id="rId22" Type="http://schemas.openxmlformats.org/officeDocument/2006/relationships/image" Target="../media/image26.png"/><Relationship Id="rId27" Type="http://schemas.openxmlformats.org/officeDocument/2006/relationships/hyperlink" Target="https://flagos.io/Home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0" b="350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727710" y="1622425"/>
            <a:ext cx="5553710" cy="3028315"/>
          </a:xfrm>
        </p:spPr>
        <p:txBody>
          <a:bodyPr/>
          <a:lstStyle/>
          <a:p>
            <a:pPr algn="l"/>
            <a:r>
              <a:rPr lang="en-US" altLang="zh-CN" sz="4000">
                <a:latin typeface="+mj-cs"/>
                <a:cs typeface="+mj-cs"/>
              </a:rPr>
              <a:t>Hardware and Software Fundamentals of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Intelligent Computing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Systems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364100" y="6255612"/>
            <a:ext cx="409904" cy="409904"/>
            <a:chOff x="11591418" y="6255612"/>
            <a:chExt cx="409904" cy="409904"/>
          </a:xfrm>
        </p:grpSpPr>
        <p:sp>
          <p:nvSpPr>
            <p:cNvPr id="10" name="타원 9"/>
            <p:cNvSpPr/>
            <p:nvPr/>
          </p:nvSpPr>
          <p:spPr>
            <a:xfrm>
              <a:off x="11591418" y="6255612"/>
              <a:ext cx="409904" cy="4099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갈매기형 수장[C] 10"/>
            <p:cNvSpPr/>
            <p:nvPr/>
          </p:nvSpPr>
          <p:spPr>
            <a:xfrm>
              <a:off x="11732864" y="6397058"/>
              <a:ext cx="127012" cy="127012"/>
            </a:xfrm>
            <a:prstGeom prst="chevr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5400" dirty="0">
                <a:solidFill>
                  <a:srgbClr val="262626"/>
                </a:solidFill>
                <a:latin typeface="Chinese Quote"/>
              </a:rPr>
              <a:t>Lecture 12: Flash Attention Implementation II </a:t>
            </a:r>
            <a:br>
              <a:rPr lang="en-US" altLang="zh-CN" sz="5400" dirty="0">
                <a:solidFill>
                  <a:srgbClr val="262626"/>
                </a:solidFill>
                <a:latin typeface="Chinese Quote"/>
              </a:rPr>
            </a:br>
            <a:r>
              <a:rPr lang="en-US" altLang="zh-CN" sz="5400" dirty="0">
                <a:solidFill>
                  <a:srgbClr val="262626"/>
                </a:solidFill>
                <a:latin typeface="Chinese Quote"/>
              </a:rPr>
              <a:t>(Algorithmic Optimization)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Avoiding Materialization</a:t>
            </a:r>
            <a:endParaRPr lang="zh-CN" altLang="en-US" dirty="0"/>
          </a:p>
        </p:txBody>
      </p:sp>
      <p:sp>
        <p:nvSpPr>
          <p:cNvPr id="1048921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92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1048920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The Pitfall of Standard Attention</a:t>
            </a:r>
          </a:p>
          <a:p>
            <a:pPr lvl="1"/>
            <a:r>
              <a:rPr lang="en-US" altLang="zh-CN" dirty="0"/>
              <a:t>Standard implementations must materialize and store the full N x N attention score matrix (S) and probability matrix (P) in HBM</a:t>
            </a:r>
          </a:p>
          <a:p>
            <a:pPr lvl="1"/>
            <a:r>
              <a:rPr lang="en-US" altLang="zh-CN" dirty="0"/>
              <a:t>For long sequences this matrix consumes massive space, leading to Out-of-Memory errors.</a:t>
            </a:r>
          </a:p>
          <a:p>
            <a:r>
              <a:rPr lang="en-US" altLang="zh-CN" dirty="0"/>
              <a:t>The Flash Attention Breakthrough</a:t>
            </a:r>
          </a:p>
          <a:p>
            <a:pPr lvl="1"/>
            <a:r>
              <a:rPr lang="en-US" altLang="zh-CN" dirty="0"/>
              <a:t>Compute-on-the-fly: By using Tiling, attention scores are computed in SRAM and immediately multiplied by the V blocks to accumulate into the output O.</a:t>
            </a:r>
          </a:p>
          <a:p>
            <a:pPr lvl="1"/>
            <a:r>
              <a:rPr lang="en-US" altLang="zh-CN" dirty="0"/>
              <a:t>Memory Complexity: Reduced from O(</a:t>
            </a:r>
            <a:r>
              <a:rPr lang="en-US" altLang="zh-CN" i="1" dirty="0"/>
              <a:t>n²</a:t>
            </a:r>
            <a:r>
              <a:rPr lang="en-US" altLang="zh-CN" dirty="0"/>
              <a:t>) to O(N). The massive intermediate matrix never "exists" as a whole in HBM.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Handling Masking</a:t>
            </a:r>
            <a:endParaRPr lang="zh-CN" altLang="en-US" dirty="0"/>
          </a:p>
        </p:txBody>
      </p:sp>
      <p:sp>
        <p:nvSpPr>
          <p:cNvPr id="1048928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92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1048927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7500"/>
          </a:bodyPr>
          <a:lstStyle/>
          <a:p>
            <a:r>
              <a:rPr lang="en-US" altLang="zh-CN" dirty="0"/>
              <a:t>The Challenge: Causal masks are typically lower-triangular. How do we determine if a specific block needs masking during tiling?</a:t>
            </a:r>
          </a:p>
          <a:p>
            <a:r>
              <a:rPr lang="en-US" altLang="zh-CN" dirty="0"/>
              <a:t>Optimization Strategy</a:t>
            </a:r>
          </a:p>
          <a:p>
            <a:pPr lvl="1"/>
            <a:r>
              <a:rPr lang="en-US" altLang="zh-CN" dirty="0"/>
              <a:t>Fully Masked Blocks: These blocks are skipped entirely, saving significant computation.</a:t>
            </a:r>
          </a:p>
          <a:p>
            <a:pPr lvl="1"/>
            <a:r>
              <a:rPr lang="en-US" altLang="zh-CN" dirty="0"/>
              <a:t>Partially Masked Blocks: Only the lower-triangular portion within the block is processed with mask values.</a:t>
            </a:r>
          </a:p>
          <a:p>
            <a:pPr lvl="1"/>
            <a:r>
              <a:rPr lang="en-US" altLang="zh-CN" dirty="0"/>
              <a:t>Unmasked Blocks: Standard matrix multiplication (GEMM) is executed at full speed.</a:t>
            </a:r>
          </a:p>
          <a:p>
            <a:r>
              <a:rPr lang="en-US" altLang="zh-CN" dirty="0"/>
              <a:t>Benefit: By identifying the relative position of blocks within the mask, </a:t>
            </a:r>
            <a:r>
              <a:rPr lang="en-US" altLang="zh-CN" dirty="0" err="1"/>
              <a:t>FlashAttention</a:t>
            </a:r>
            <a:r>
              <a:rPr lang="en-US" altLang="zh-CN" dirty="0"/>
              <a:t> further reduces unnecessary computational overhead.</a:t>
            </a:r>
            <a:endParaRPr lang="zh-CN" altLang="en-US" dirty="0"/>
          </a:p>
        </p:txBody>
      </p:sp>
      <p:pic>
        <p:nvPicPr>
          <p:cNvPr id="2097239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404" y="4675190"/>
            <a:ext cx="4619834" cy="204628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Impact on Long-Context Models</a:t>
            </a:r>
            <a:endParaRPr lang="zh-CN" altLang="en-US" dirty="0"/>
          </a:p>
        </p:txBody>
      </p:sp>
      <p:sp>
        <p:nvSpPr>
          <p:cNvPr id="104893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93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1048934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Breaking the Bottleneck:</a:t>
            </a:r>
          </a:p>
          <a:p>
            <a:pPr lvl="1"/>
            <a:r>
              <a:rPr lang="en-US" altLang="zh-CN" dirty="0"/>
              <a:t>Since memory usage scales linearly O(N), models are no longer constrained by the N</a:t>
            </a:r>
            <a:r>
              <a:rPr lang="en-US" altLang="zh-CN" baseline="30000" dirty="0"/>
              <a:t>2</a:t>
            </a:r>
            <a:r>
              <a:rPr lang="en-US" altLang="zh-CN" dirty="0"/>
              <a:t> memory wall.</a:t>
            </a:r>
          </a:p>
          <a:p>
            <a:pPr lvl="1"/>
            <a:r>
              <a:rPr lang="en-US" altLang="zh-CN" dirty="0"/>
              <a:t>Enables a leap from traditional 2K/4K contexts to 128K, 1M, or even longer sequences.</a:t>
            </a:r>
          </a:p>
          <a:p>
            <a:r>
              <a:rPr lang="en-US" altLang="zh-CN" dirty="0"/>
              <a:t>Real-World Applications:</a:t>
            </a:r>
          </a:p>
          <a:p>
            <a:pPr lvl="1"/>
            <a:r>
              <a:rPr lang="en-US" altLang="zh-CN" dirty="0"/>
              <a:t>Empowers Large Language Models (LLMs) to perform full-book reading, multi-document analysis, and ultra-long video understanding.</a:t>
            </a:r>
          </a:p>
          <a:p>
            <a:r>
              <a:rPr lang="en-US" altLang="zh-CN" dirty="0"/>
              <a:t>Performance Summary: On the same hardware (e.g., A100/H100), the speed for processing 128K sequences is increased by several orders of magnitude.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Evolution to Flash Attention 2</a:t>
            </a:r>
            <a:r>
              <a:rPr lang="x-none" dirty="0"/>
              <a:t> (1/2)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Algorithmic Refinement: Reducing Non-</a:t>
            </a:r>
            <a:r>
              <a:rPr lang="en-US" altLang="zh-CN" dirty="0" err="1"/>
              <a:t>Matmul</a:t>
            </a:r>
            <a:r>
              <a:rPr lang="en-US" altLang="zh-CN" dirty="0"/>
              <a:t> Overhead</a:t>
            </a:r>
          </a:p>
          <a:p>
            <a:pPr lvl="1"/>
            <a:r>
              <a:rPr lang="en-US" altLang="zh-CN" dirty="0"/>
              <a:t>GPUs are highly optimized for Matrix Multiplication (</a:t>
            </a:r>
            <a:r>
              <a:rPr lang="en-US" altLang="zh-CN" dirty="0" err="1"/>
              <a:t>Matmul</a:t>
            </a:r>
            <a:r>
              <a:rPr lang="en-US" altLang="zh-CN" dirty="0"/>
              <a:t>) via Tensor Cores, but they are significantly slower at "element-wise" operations like </a:t>
            </a:r>
            <a:r>
              <a:rPr lang="en-US" altLang="zh-CN" dirty="0" err="1"/>
              <a:t>Softmax</a:t>
            </a:r>
            <a:r>
              <a:rPr lang="en-US" altLang="zh-CN" dirty="0"/>
              <a:t>, Exp, and Dropout.</a:t>
            </a:r>
          </a:p>
          <a:p>
            <a:pPr lvl="1"/>
            <a:r>
              <a:rPr lang="en-US" altLang="zh-CN" dirty="0" err="1"/>
              <a:t>Matmul</a:t>
            </a:r>
            <a:r>
              <a:rPr lang="en-US" altLang="zh-CN" dirty="0"/>
              <a:t> 312 TFLOPs/s, Non-</a:t>
            </a:r>
            <a:r>
              <a:rPr lang="en-US" altLang="zh-CN" dirty="0" err="1"/>
              <a:t>Matmul</a:t>
            </a:r>
            <a:r>
              <a:rPr lang="en-US" altLang="zh-CN" dirty="0"/>
              <a:t> 19.5 TFLOPs/s (A100)</a:t>
            </a:r>
          </a:p>
          <a:p>
            <a:pPr lvl="1"/>
            <a:r>
              <a:rPr lang="en-US" altLang="zh-CN" dirty="0"/>
              <a:t>FA2 mathematically reformulates the attention algorithm to reduce the number of non-</a:t>
            </a:r>
            <a:r>
              <a:rPr lang="en-US" altLang="zh-CN" dirty="0" err="1"/>
              <a:t>matmul</a:t>
            </a:r>
            <a:r>
              <a:rPr lang="en-US" altLang="zh-CN" dirty="0"/>
              <a:t> floating-point operations (FLOPs).</a:t>
            </a:r>
          </a:p>
          <a:p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29" y="3532000"/>
            <a:ext cx="5626070" cy="3326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6854" y="3256625"/>
            <a:ext cx="4959927" cy="3666891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741404" y="4509655"/>
            <a:ext cx="4557960" cy="5472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27550" y="5343309"/>
            <a:ext cx="5243760" cy="5472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381489" y="4624107"/>
            <a:ext cx="2506201" cy="4535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388415" y="4383462"/>
            <a:ext cx="4733929" cy="2406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346854" y="5818909"/>
            <a:ext cx="2901055" cy="1624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Evolution to Flash Attention 2</a:t>
            </a:r>
            <a:r>
              <a:rPr lang="x-none">
                <a:sym typeface="+mn-ea"/>
              </a:rPr>
              <a:t> (2/2)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Enhanced Parallelism (Thread Block Level)</a:t>
            </a:r>
          </a:p>
          <a:p>
            <a:pPr lvl="1"/>
            <a:r>
              <a:rPr lang="en-US" altLang="zh-CN" dirty="0"/>
              <a:t>It introduces parallelism across the Sequence Length dimension.</a:t>
            </a:r>
          </a:p>
          <a:p>
            <a:pPr lvl="1"/>
            <a:r>
              <a:rPr lang="en-US" altLang="zh-CN" dirty="0"/>
              <a:t>FA2 can now split the sequence into blocks and distribute them across multiple Thread Blocks.</a:t>
            </a:r>
          </a:p>
          <a:p>
            <a:r>
              <a:rPr lang="en-US" altLang="zh-CN" dirty="0"/>
              <a:t>Optimized Work Partitioning and Communication Between Warps</a:t>
            </a:r>
            <a:endParaRPr lang="zh-CN" altLang="en-US" dirty="0"/>
          </a:p>
          <a:p>
            <a:pPr lvl="1"/>
            <a:r>
              <a:rPr lang="en-US" altLang="zh-CN" dirty="0"/>
              <a:t>In FA2, the partitioning is redesigned so that each warp handles a distinct slice of the computation.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869" y="3775141"/>
            <a:ext cx="7465966" cy="26512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220" y="3934691"/>
            <a:ext cx="3672009" cy="203864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Evolution to Flash Attention 3</a:t>
            </a:r>
            <a:r>
              <a:rPr lang="x-none">
                <a:sym typeface="+mn-ea"/>
              </a:rPr>
              <a:t> (1/2)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Deep Asynchronous Execution</a:t>
            </a:r>
          </a:p>
          <a:p>
            <a:pPr lvl="1"/>
            <a:r>
              <a:rPr lang="en-US" altLang="zh-CN" dirty="0"/>
              <a:t>It leverages H100’s Tensor Memory Accelerator (TMA).</a:t>
            </a:r>
          </a:p>
          <a:p>
            <a:pPr lvl="1"/>
            <a:r>
              <a:rPr lang="en-US" altLang="zh-CN" dirty="0"/>
              <a:t>Compute-IO Decoupling: As shown in the diagram, WGMMA (Asynchronous Matrix Multiply) and </a:t>
            </a:r>
            <a:r>
              <a:rPr lang="en-US" altLang="zh-CN" dirty="0" err="1"/>
              <a:t>Softmax</a:t>
            </a:r>
            <a:r>
              <a:rPr lang="en-US" altLang="zh-CN" dirty="0"/>
              <a:t> operations run on separate pipelines.</a:t>
            </a:r>
          </a:p>
          <a:p>
            <a:pPr lvl="1"/>
            <a:r>
              <a:rPr lang="en-US" altLang="zh-CN" dirty="0"/>
              <a:t>Ping-pong Buffering: While one Warp Group calculates the current block, the TMA is already fetching the next block in the background, effectively "hiding" the latency of data movement.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302" y="5097801"/>
            <a:ext cx="7375233" cy="16236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358" y="3685210"/>
            <a:ext cx="7551177" cy="154911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Evolution to Flash Attention 3</a:t>
            </a:r>
            <a:r>
              <a:rPr lang="x-none">
                <a:sym typeface="+mn-ea"/>
              </a:rPr>
              <a:t> (2/2)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Native Low-Precision Acceleration</a:t>
            </a:r>
          </a:p>
          <a:p>
            <a:pPr lvl="1"/>
            <a:r>
              <a:rPr lang="en-US" altLang="zh-CN" dirty="0"/>
              <a:t>FA3 is built for the FP8 era, doubling throughput compared to FP16.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dirty="0"/>
              <a:t>Enhanced Tiling &amp; Load Balancing</a:t>
            </a:r>
          </a:p>
          <a:p>
            <a:pPr lvl="1"/>
            <a:r>
              <a:rPr lang="en-US" altLang="zh-CN" dirty="0"/>
              <a:t>FA3 optimizes task distribution across SMs, ensuring that even with non-symmetric matrix shapes, all compute units finish their work simultaneously, maximizing hardware utilization.</a:t>
            </a:r>
          </a:p>
          <a:p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364" y="2133599"/>
            <a:ext cx="6096000" cy="180539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FA on FPGA</a:t>
            </a:r>
            <a:endParaRPr lang="zh-CN" altLang="en-US" dirty="0"/>
          </a:p>
        </p:txBody>
      </p:sp>
      <p:sp>
        <p:nvSpPr>
          <p:cNvPr id="1048955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1048956" name="内容占位符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Algorithm-Hardware Co-design</a:t>
            </a:r>
          </a:p>
          <a:p>
            <a:pPr lvl="1"/>
            <a:r>
              <a:rPr lang="en-US" altLang="zh-CN" dirty="0"/>
              <a:t>Low-Bit Quantization (INT8/INT4)</a:t>
            </a:r>
          </a:p>
          <a:p>
            <a:pPr lvl="1"/>
            <a:r>
              <a:rPr lang="en-US" altLang="zh-CN" dirty="0"/>
              <a:t>Structured Sparsity/Pruning</a:t>
            </a:r>
          </a:p>
          <a:p>
            <a:pPr lvl="1"/>
            <a:r>
              <a:rPr lang="en-US" altLang="zh-CN" dirty="0"/>
              <a:t>Approximated </a:t>
            </a:r>
            <a:r>
              <a:rPr lang="en-US" altLang="zh-CN" dirty="0" err="1"/>
              <a:t>Softmax</a:t>
            </a:r>
            <a:endParaRPr lang="en-US" altLang="zh-CN" dirty="0"/>
          </a:p>
          <a:p>
            <a:r>
              <a:rPr lang="en-US" altLang="zh-CN" dirty="0"/>
              <a:t>Hardware Optimization</a:t>
            </a:r>
          </a:p>
          <a:p>
            <a:pPr lvl="1"/>
            <a:r>
              <a:rPr lang="en-US" altLang="zh-CN" dirty="0"/>
              <a:t>Optimized Dataflow</a:t>
            </a:r>
          </a:p>
          <a:p>
            <a:pPr lvl="1"/>
            <a:r>
              <a:rPr lang="en-US" altLang="zh-CN" dirty="0"/>
              <a:t>Customized Processing Elements (PEs)</a:t>
            </a:r>
            <a:endParaRPr lang="zh-CN" altLang="en-US" dirty="0"/>
          </a:p>
        </p:txBody>
      </p:sp>
      <p:sp>
        <p:nvSpPr>
          <p:cNvPr id="104895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Zhang, Xinyi, et al. "Algorithm-hardware co-design of attention mechanism on FPGA devices." ACM Transactions on Embedded Computing Systems (TECS) 20.5s (2021): 1-24.</a:t>
            </a:r>
            <a:endParaRPr lang="zh-CN" altLang="en-US" dirty="0"/>
          </a:p>
        </p:txBody>
      </p:sp>
      <p:sp>
        <p:nvSpPr>
          <p:cNvPr id="1048958" name="内容占位符 5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zh-CN" dirty="0"/>
              <a:t>Structured Pruning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FPGA Accelerator</a:t>
            </a:r>
            <a:endParaRPr lang="zh-CN" altLang="en-US" dirty="0"/>
          </a:p>
        </p:txBody>
      </p:sp>
      <p:pic>
        <p:nvPicPr>
          <p:cNvPr id="2097243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449" y="1942137"/>
            <a:ext cx="4707418" cy="1548990"/>
          </a:xfrm>
          <a:prstGeom prst="rect">
            <a:avLst/>
          </a:prstGeom>
        </p:spPr>
      </p:pic>
      <p:pic>
        <p:nvPicPr>
          <p:cNvPr id="2097244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863" y="4109287"/>
            <a:ext cx="5542858" cy="202199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FA on Streaming Dataflow</a:t>
            </a:r>
            <a:endParaRPr lang="zh-CN" altLang="en-US" dirty="0"/>
          </a:p>
        </p:txBody>
      </p:sp>
      <p:sp>
        <p:nvSpPr>
          <p:cNvPr id="104896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1048965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Naive SDPA Implementation</a:t>
            </a:r>
          </a:p>
          <a:p>
            <a:pPr lvl="1"/>
            <a:r>
              <a:rPr lang="en-US" altLang="zh-CN" dirty="0"/>
              <a:t>Linear O(N) Intermediate Memory</a:t>
            </a:r>
          </a:p>
          <a:p>
            <a:pPr lvl="1"/>
            <a:r>
              <a:rPr lang="en-US" altLang="zh-CN" dirty="0"/>
              <a:t>Decompose SDPA into row-wise operations</a:t>
            </a:r>
          </a:p>
          <a:p>
            <a:r>
              <a:rPr lang="en-US" altLang="zh-CN" dirty="0"/>
              <a:t>Optimized SDPA Implementation</a:t>
            </a:r>
          </a:p>
          <a:p>
            <a:pPr lvl="1"/>
            <a:r>
              <a:rPr lang="en-US" altLang="zh-CN" dirty="0"/>
              <a:t>Constant O(1) Intermediate Memory</a:t>
            </a:r>
          </a:p>
          <a:p>
            <a:pPr lvl="1"/>
            <a:r>
              <a:rPr lang="en-US" altLang="zh-CN" dirty="0"/>
              <a:t>Online/incremental </a:t>
            </a:r>
            <a:r>
              <a:rPr lang="en-US" altLang="zh-CN" dirty="0" err="1"/>
              <a:t>Softmax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104896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Sohn, Gina, Nathan Zhang, and Kunle Olukotun. "Implementing and optimizing the scaled dot-product attention on streaming dataflow." </a:t>
            </a:r>
            <a:r>
              <a:rPr lang="en-US" altLang="zh-CN" dirty="0" err="1"/>
              <a:t>arXiv</a:t>
            </a:r>
            <a:r>
              <a:rPr lang="en-US" altLang="zh-CN" dirty="0"/>
              <a:t> preprint arXiv:2404.16629 (2024).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097245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120" y="4013314"/>
            <a:ext cx="2629184" cy="2167301"/>
          </a:xfrm>
          <a:prstGeom prst="rect">
            <a:avLst/>
          </a:prstGeom>
        </p:spPr>
      </p:pic>
      <p:pic>
        <p:nvPicPr>
          <p:cNvPr id="2097246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1213" y="1286481"/>
            <a:ext cx="6304412" cy="383329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Attention-Level Speculation</a:t>
            </a:r>
            <a:endParaRPr lang="zh-CN" altLang="en-US" dirty="0"/>
          </a:p>
        </p:txBody>
      </p:sp>
      <p:sp>
        <p:nvSpPr>
          <p:cNvPr id="1048970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1048971" name="内容占位符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Speculation-Verification Mechanism</a:t>
            </a:r>
          </a:p>
          <a:p>
            <a:pPr lvl="1"/>
            <a:r>
              <a:rPr lang="en-US" altLang="zh-CN" dirty="0"/>
              <a:t>parallelize and overlap the time-consuming Self-Attention computation with the subsequent FFN and Residual Connections</a:t>
            </a:r>
          </a:p>
          <a:p>
            <a:pPr lvl="1"/>
            <a:r>
              <a:rPr lang="en-US" altLang="zh-CN" dirty="0"/>
              <a:t>Predict the self-attention output for the current layer</a:t>
            </a:r>
          </a:p>
          <a:p>
            <a:pPr lvl="1"/>
            <a:r>
              <a:rPr lang="en-US" altLang="zh-CN" dirty="0"/>
              <a:t>Parallel Execute Exact Path and Speculative Path</a:t>
            </a:r>
          </a:p>
          <a:p>
            <a:pPr lvl="1"/>
            <a:r>
              <a:rPr lang="en-US" altLang="zh-CN" dirty="0"/>
              <a:t>Low-cost comparative verification</a:t>
            </a:r>
          </a:p>
          <a:p>
            <a:pPr lvl="1"/>
            <a:r>
              <a:rPr lang="en-US" altLang="zh-CN" dirty="0"/>
              <a:t>Commit or Rollback</a:t>
            </a:r>
            <a:endParaRPr lang="zh-CN" altLang="en-US" dirty="0"/>
          </a:p>
        </p:txBody>
      </p:sp>
      <p:sp>
        <p:nvSpPr>
          <p:cNvPr id="1048972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Cai, Jack, et al. "Attention-Level Speculation." (2025).</a:t>
            </a:r>
          </a:p>
        </p:txBody>
      </p:sp>
      <p:sp>
        <p:nvSpPr>
          <p:cNvPr id="2" name="内容占位符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097247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645" y="1236059"/>
            <a:ext cx="3994390" cy="516889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Future Outlook</a:t>
            </a:r>
            <a:r>
              <a:rPr lang="x-none" dirty="0"/>
              <a:t>:</a:t>
            </a:r>
            <a:r>
              <a:rPr lang="en-US" altLang="zh-CN" dirty="0"/>
              <a:t> Hardware Algorithm Co-Design</a:t>
            </a:r>
            <a:endParaRPr lang="zh-CN" altLang="en-US" dirty="0"/>
          </a:p>
        </p:txBody>
      </p:sp>
      <p:sp>
        <p:nvSpPr>
          <p:cNvPr id="1048978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97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1048977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8505190" cy="4853305"/>
          </a:xfrm>
        </p:spPr>
        <p:txBody>
          <a:bodyPr>
            <a:normAutofit/>
          </a:bodyPr>
          <a:lstStyle/>
          <a:p>
            <a:r>
              <a:rPr lang="en-US" altLang="zh-CN" dirty="0"/>
              <a:t>Evolution of Flash Attention (Towards FA3 &amp; Beyond)</a:t>
            </a:r>
          </a:p>
          <a:p>
            <a:pPr lvl="1"/>
            <a:r>
              <a:rPr lang="en-US" altLang="zh-CN" dirty="0"/>
              <a:t>Async Execution: Overlapping data movement with compute (H100 optimization).</a:t>
            </a:r>
          </a:p>
          <a:p>
            <a:pPr lvl="1"/>
            <a:r>
              <a:rPr lang="en-US" altLang="zh-CN" dirty="0"/>
              <a:t>Low-Precision Support: Native FP8/INT8 for extreme inference throughput.</a:t>
            </a:r>
          </a:p>
          <a:p>
            <a:r>
              <a:rPr lang="en-US" altLang="zh-CN" dirty="0"/>
              <a:t>Specialized Hardware Accelerators (FPGA/ASIC)</a:t>
            </a:r>
          </a:p>
          <a:p>
            <a:pPr lvl="1"/>
            <a:r>
              <a:rPr lang="en-US" altLang="zh-CN" dirty="0"/>
              <a:t>FPGA/ASIC Integration: Dedicated PEs for Attention dataflow.</a:t>
            </a:r>
          </a:p>
          <a:p>
            <a:pPr lvl="1"/>
            <a:r>
              <a:rPr lang="en-US" altLang="zh-CN" dirty="0"/>
              <a:t>Hardware-Aware Compression: Merging structured pruning with INT4 quantization.</a:t>
            </a:r>
          </a:p>
          <a:p>
            <a:r>
              <a:rPr lang="en-US" altLang="zh-CN" dirty="0"/>
              <a:t>Streaming Dataflow Optimization</a:t>
            </a:r>
          </a:p>
          <a:p>
            <a:pPr lvl="1"/>
            <a:r>
              <a:rPr lang="en-US" altLang="zh-CN" dirty="0"/>
              <a:t>Constant O(1) Memory: Row-wise decomposition for infinite sequences.</a:t>
            </a:r>
          </a:p>
          <a:p>
            <a:pPr lvl="1"/>
            <a:r>
              <a:rPr lang="en-US" altLang="zh-CN" dirty="0"/>
              <a:t>Incremental </a:t>
            </a:r>
            <a:r>
              <a:rPr lang="en-US" altLang="zh-CN" dirty="0" err="1"/>
              <a:t>Softmax</a:t>
            </a:r>
            <a:r>
              <a:rPr lang="en-US" altLang="zh-CN" dirty="0"/>
              <a:t>: Enabling real-time, streaming LLM inference.</a:t>
            </a:r>
            <a:endParaRPr lang="zh-CN" altLang="en-US" dirty="0"/>
          </a:p>
        </p:txBody>
      </p:sp>
      <p:pic>
        <p:nvPicPr>
          <p:cNvPr id="2097248" name="Picture 2" descr="https://miro.medium.com/v2/resize:fit:1050/1*aa_pkm-ptdWMZ8aet26vxA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63396" y="1132554"/>
            <a:ext cx="2479964" cy="2479964"/>
          </a:xfrm>
          <a:prstGeom prst="rect">
            <a:avLst/>
          </a:prstGeom>
          <a:noFill/>
        </p:spPr>
      </p:pic>
      <p:pic>
        <p:nvPicPr>
          <p:cNvPr id="2097249" name="Picture 4" descr="論文評述] Implementing and Optimizing the Scaled Dot-Product Attention on Streaming  Dataflow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163946" y="3917176"/>
            <a:ext cx="2562657" cy="2438857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Future Outlook</a:t>
            </a:r>
            <a:r>
              <a:rPr lang="x-none" dirty="0"/>
              <a:t>:</a:t>
            </a:r>
            <a:r>
              <a:rPr lang="en-US" altLang="zh-CN" dirty="0"/>
              <a:t> Paradigm Shifts in LLM Infra</a:t>
            </a:r>
            <a:r>
              <a:rPr lang="x-none" dirty="0"/>
              <a:t>.</a:t>
            </a:r>
          </a:p>
        </p:txBody>
      </p:sp>
      <p:sp>
        <p:nvSpPr>
          <p:cNvPr id="104898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984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1048985" name="内容占位符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Attention-Level Speculation</a:t>
            </a:r>
          </a:p>
          <a:p>
            <a:pPr lvl="1"/>
            <a:r>
              <a:rPr lang="en-US" altLang="zh-CN" dirty="0"/>
              <a:t>Parallel Execution: Overlapping Attention with FFN/Residual layers.</a:t>
            </a:r>
          </a:p>
          <a:p>
            <a:pPr lvl="1"/>
            <a:r>
              <a:rPr lang="en-US" altLang="zh-CN" dirty="0"/>
              <a:t>Speculate &amp; Verify: "Commit or Rollback" strategy to slash latency.</a:t>
            </a:r>
          </a:p>
          <a:p>
            <a:r>
              <a:rPr lang="en-US" altLang="zh-CN" dirty="0"/>
              <a:t>Empowering Ultra-Long Context</a:t>
            </a:r>
          </a:p>
          <a:p>
            <a:pPr lvl="1"/>
            <a:r>
              <a:rPr lang="en-US" altLang="zh-CN" dirty="0"/>
              <a:t>Linear Scaling (O(N)): Breaking the O(N</a:t>
            </a:r>
            <a:r>
              <a:rPr lang="en-US" altLang="zh-CN" baseline="30000" dirty="0"/>
              <a:t>2</a:t>
            </a:r>
            <a:r>
              <a:rPr lang="en-US" altLang="zh-CN" dirty="0"/>
              <a:t>) memory wall for 1M+ tokens.</a:t>
            </a:r>
          </a:p>
          <a:p>
            <a:pPr lvl="1"/>
            <a:r>
              <a:rPr lang="en-US" altLang="zh-CN" dirty="0"/>
              <a:t>Multimodal Expansion: Processing full books and HD video in a single pass.</a:t>
            </a:r>
          </a:p>
          <a:p>
            <a:r>
              <a:rPr lang="en-US" altLang="zh-CN" dirty="0"/>
              <a:t>Universal "IO-Aware" Philosophy</a:t>
            </a:r>
          </a:p>
          <a:p>
            <a:pPr lvl="1"/>
            <a:r>
              <a:rPr lang="en-US" altLang="zh-CN" dirty="0"/>
              <a:t>Beyond Attention: Applying IO-awareness to all DL operators (Conv, Norm).</a:t>
            </a:r>
          </a:p>
          <a:p>
            <a:pPr lvl="1"/>
            <a:r>
              <a:rPr lang="en-US" altLang="zh-CN" dirty="0"/>
              <a:t>New Standard: Shifting from "Compute-Centric" to "Memory-Centric" design.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The Solution: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FlagOS,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a Unified AI Software Stack</a:t>
            </a:r>
            <a:endParaRPr lang="zh-CN" altLang="en-US"/>
          </a:p>
        </p:txBody>
      </p:sp>
      <p:pic>
        <p:nvPicPr>
          <p:cNvPr id="7" name="内容占位符 6" descr="flagos-architecture-e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832"/>
          <p:cNvSpPr/>
          <p:nvPr>
            <p:custDataLst>
              <p:tags r:id="rId1"/>
            </p:custDataLst>
          </p:nvPr>
        </p:nvSpPr>
        <p:spPr>
          <a:xfrm>
            <a:off x="89535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832"/>
          <p:cNvSpPr/>
          <p:nvPr>
            <p:custDataLst>
              <p:tags r:id="rId2"/>
            </p:custDataLst>
          </p:nvPr>
        </p:nvSpPr>
        <p:spPr>
          <a:xfrm>
            <a:off x="440023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832"/>
          <p:cNvSpPr/>
          <p:nvPr>
            <p:custDataLst>
              <p:tags r:id="rId3"/>
            </p:custDataLst>
          </p:nvPr>
        </p:nvSpPr>
        <p:spPr>
          <a:xfrm>
            <a:off x="790511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832"/>
          <p:cNvSpPr/>
          <p:nvPr>
            <p:custDataLst>
              <p:tags r:id="rId4"/>
            </p:custDataLst>
          </p:nvPr>
        </p:nvSpPr>
        <p:spPr>
          <a:xfrm>
            <a:off x="89535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832"/>
          <p:cNvSpPr/>
          <p:nvPr>
            <p:custDataLst>
              <p:tags r:id="rId5"/>
            </p:custDataLst>
          </p:nvPr>
        </p:nvSpPr>
        <p:spPr>
          <a:xfrm>
            <a:off x="440023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832"/>
          <p:cNvSpPr/>
          <p:nvPr>
            <p:custDataLst>
              <p:tags r:id="rId6"/>
            </p:custDataLst>
          </p:nvPr>
        </p:nvSpPr>
        <p:spPr>
          <a:xfrm>
            <a:off x="790511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72"/>
          <p:cNvSpPr/>
          <p:nvPr>
            <p:custDataLst>
              <p:tags r:id="rId7"/>
            </p:custDataLst>
          </p:nvPr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1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사각형: 둥근 모서리 72"/>
          <p:cNvSpPr/>
          <p:nvPr>
            <p:custDataLst>
              <p:tags r:id="rId8"/>
            </p:custDataLst>
          </p:nvPr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1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사각형: 둥근 모서리 72"/>
          <p:cNvSpPr/>
          <p:nvPr>
            <p:custDataLst>
              <p:tags r:id="rId9"/>
            </p:custDataLst>
          </p:nvPr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2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사각형: 둥근 모서리 72"/>
          <p:cNvSpPr/>
          <p:nvPr>
            <p:custDataLst>
              <p:tags r:id="rId10"/>
            </p:custDataLst>
          </p:nvPr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2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사각형: 둥근 모서리 72"/>
          <p:cNvSpPr/>
          <p:nvPr>
            <p:custDataLst>
              <p:tags r:id="rId11"/>
            </p:custDataLst>
          </p:nvPr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2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사각형: 둥근 모서리 72"/>
          <p:cNvSpPr/>
          <p:nvPr>
            <p:custDataLst>
              <p:tags r:id="rId12"/>
            </p:custDataLst>
          </p:nvPr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2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object 3"/>
          <p:cNvSpPr txBox="1"/>
          <p:nvPr>
            <p:custDataLst>
              <p:tags r:id="rId13"/>
            </p:custDataLst>
          </p:nvPr>
        </p:nvSpPr>
        <p:spPr>
          <a:xfrm>
            <a:off x="1219842" y="251790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4" action="ppaction://hlinkfile"/>
              </a:rPr>
              <a:t>https://github.com/flagos-ai</a:t>
            </a:r>
          </a:p>
          <a:p>
            <a:endParaRPr lang="en-US" altLang="ko-KR" sz="1600" dirty="0"/>
          </a:p>
        </p:txBody>
      </p:sp>
      <p:sp>
        <p:nvSpPr>
          <p:cNvPr id="36" name="object 3"/>
          <p:cNvSpPr txBox="1"/>
          <p:nvPr>
            <p:custDataLst>
              <p:tags r:id="rId14"/>
            </p:custDataLst>
          </p:nvPr>
        </p:nvSpPr>
        <p:spPr>
          <a:xfrm>
            <a:off x="8015605" y="2341245"/>
            <a:ext cx="2882265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5" action="ppaction://hlinkfile"/>
              </a:rPr>
              <a:t>https://space.bilibili.com/3546791834290849</a:t>
            </a:r>
            <a:endParaRPr lang="en-US" altLang="zh-CN" sz="1600" dirty="0"/>
          </a:p>
        </p:txBody>
      </p:sp>
      <p:sp>
        <p:nvSpPr>
          <p:cNvPr id="42" name="object 3"/>
          <p:cNvSpPr txBox="1"/>
          <p:nvPr>
            <p:custDataLst>
              <p:tags r:id="rId15"/>
            </p:custDataLst>
          </p:nvPr>
        </p:nvSpPr>
        <p:spPr>
          <a:xfrm>
            <a:off x="1219842" y="440385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6" action="ppaction://hlinkfile"/>
              </a:rPr>
              <a:t>https://www.zhihu.com/people/95-22-20-18/posts</a:t>
            </a:r>
            <a:endParaRPr lang="en-US" altLang="ko-KR" sz="1600" dirty="0"/>
          </a:p>
        </p:txBody>
      </p:sp>
      <p:sp>
        <p:nvSpPr>
          <p:cNvPr id="45" name="object 3"/>
          <p:cNvSpPr txBox="1"/>
          <p:nvPr>
            <p:custDataLst>
              <p:tags r:id="rId16"/>
            </p:custDataLst>
          </p:nvPr>
        </p:nvSpPr>
        <p:spPr>
          <a:xfrm>
            <a:off x="4724722" y="4403854"/>
            <a:ext cx="2513958" cy="39687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7" action="ppaction://hlinkfile"/>
              </a:rPr>
              <a:t>https://flagos.io/Home</a:t>
            </a:r>
            <a:endParaRPr lang="en-US" altLang="ko-KR" sz="1600" dirty="0"/>
          </a:p>
        </p:txBody>
      </p:sp>
      <p:pic>
        <p:nvPicPr>
          <p:cNvPr id="54" name="图片 53" descr="weixin-DL0TqDNO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</p:spPr>
      </p:pic>
      <p:pic>
        <p:nvPicPr>
          <p:cNvPr id="55" name="图片 54" descr="feishu-qrcode-C75xQn5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개체 틀 4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306" r="2306"/>
          <a:stretch>
            <a:fillRect/>
          </a:stretch>
        </p:blipFill>
        <p:spPr/>
      </p:pic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5625465" y="2373630"/>
            <a:ext cx="5739130" cy="2664460"/>
          </a:xfrm>
        </p:spPr>
        <p:txBody>
          <a:bodyPr/>
          <a:lstStyle/>
          <a:p>
            <a:pPr algn="l"/>
            <a:r>
              <a:rPr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 for your time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endParaRPr kumimoji="1" lang="ko-KR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heme/theme1.xml><?xml version="1.0" encoding="utf-8"?>
<a:theme xmlns:a="http://schemas.openxmlformats.org/drawingml/2006/main" name="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4903</Words>
  <Application>Microsoft Office PowerPoint</Application>
  <PresentationFormat>宽屏</PresentationFormat>
  <Paragraphs>249</Paragraphs>
  <Slides>17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Chinese Quote</vt:lpstr>
      <vt:lpstr>等线</vt:lpstr>
      <vt:lpstr>微软雅黑</vt:lpstr>
      <vt:lpstr>文泉驿微米黑</vt:lpstr>
      <vt:lpstr>Arial</vt:lpstr>
      <vt:lpstr>Calibri</vt:lpstr>
      <vt:lpstr>Calibri Light</vt:lpstr>
      <vt:lpstr>Ebrima</vt:lpstr>
      <vt:lpstr>Garamond</vt:lpstr>
      <vt:lpstr>Montserrat SemiBold</vt:lpstr>
      <vt:lpstr>Wingdings 3</vt:lpstr>
      <vt:lpstr>母版</vt:lpstr>
      <vt:lpstr>Hardware and Software Fundamentals of  Intelligent Computing  Systems</vt:lpstr>
      <vt:lpstr>Lecture 12: Flash Attention Implementation II  (Algorithmic Optimization)</vt:lpstr>
      <vt:lpstr>Avoiding Materialization</vt:lpstr>
      <vt:lpstr>Handling Masking</vt:lpstr>
      <vt:lpstr>Impact on Long-Context Models</vt:lpstr>
      <vt:lpstr>Evolution to Flash Attention 2 (1/2)</vt:lpstr>
      <vt:lpstr>Evolution to Flash Attention 2 (2/2)</vt:lpstr>
      <vt:lpstr>Evolution to Flash Attention 3 (1/2)</vt:lpstr>
      <vt:lpstr>Evolution to Flash Attention 3 (2/2)</vt:lpstr>
      <vt:lpstr>FA on FPGA</vt:lpstr>
      <vt:lpstr>FA on Streaming Dataflow</vt:lpstr>
      <vt:lpstr>Attention-Level Speculation</vt:lpstr>
      <vt:lpstr>Future Outlook: Hardware Algorithm Co-Design</vt:lpstr>
      <vt:lpstr>Future Outlook: Paradigm Shifts in LLM Infra.</vt:lpstr>
      <vt:lpstr>The Solution: FlagOS, a Unified AI Software Stack</vt:lpstr>
      <vt:lpstr>PowerPoint 演示文稿</vt:lpstr>
      <vt:lpstr>Thanks for your time！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12：Flash Attention 实现 II （算法优化）</dc:title>
  <dc:creator>王丰</dc:creator>
  <cp:lastModifiedBy>Xiang Li</cp:lastModifiedBy>
  <cp:revision>9</cp:revision>
  <dcterms:created xsi:type="dcterms:W3CDTF">2026-03-12T02:49:00Z</dcterms:created>
  <dcterms:modified xsi:type="dcterms:W3CDTF">2026-03-17T14:53:38Z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73a59436b4354da09f2a1aff800eacb2_23</vt:lpwstr>
  </property>
  <property fmtid="{D5CDD505-2E9C-101B-9397-08002B2CF9AE}" pid="3" name="KSOProductBuildVer">
    <vt:lpwstr>2052-12.1.0.19302</vt:lpwstr>
  </property>
</Properties>
</file>