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notesSlides/notesSlide1.xml" Type="http://schemas.openxmlformats.org/officeDocument/2006/relationships/notesSlide"/><Relationship Id="rId29" Target="notesSlides/notesSlide2.xml" Type="http://schemas.openxmlformats.org/officeDocument/2006/relationships/notesSlide"/><Relationship Id="rId3" Target="presProps.xml" Type="http://schemas.openxmlformats.org/officeDocument/2006/relationships/pres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slideMasters/slideMaster1.xml" Type="http://schemas.openxmlformats.org/officeDocument/2006/relationships/slideMaster"/><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43" Target="notesSlides/notesSlide16.xml" Type="http://schemas.openxmlformats.org/officeDocument/2006/relationships/notesSlide"/><Relationship Id="rId44" Target="notesSlides/notesSlide17.xml" Type="http://schemas.openxmlformats.org/officeDocument/2006/relationships/notesSlide"/><Relationship Id="rId45" Target="notesSlides/notesSlide18.xml" Type="http://schemas.openxmlformats.org/officeDocument/2006/relationships/notesSlide"/><Relationship Id="rId46" Target="notesSlides/notesSlide19.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各位同学大家好，欢迎来到智能计算系统软硬件基础课程 。今天我们将深入探讨大模型时代的底层系统软件栈与代码生成前沿技术。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本节课是第四十二讲，核心主题是从生成到部署，我们将重点关注大模型生成代码的系统级集成过程 。大家将了解到如何将人工智能生成的底层算子，严谨规范地汇入高性能计算的工程管线中。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首先我们从宏观视角审视 FlagOS 生态架构 。该生态的核心设计理念是模型、系统与芯片的三层严格解耦，致力于实现一次开发处处运行的终极目标 。生态体系内包含三大核心基石。第一是智能源头 KernelGen，这是一个由大语言模型驱动的算子生成与测试代理 。第二是 FlagGems，它是基于 Triton 构建的高性能泛化算子库 。第三是统一编译引擎 FlagTree，负责将上层算子高效映射到超过十种异构架构芯片上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接下来我们解剖 FlagGems 算子库 。它采用 Triton 领域特定语言编写，天然具备极强的硬件泛化能力，无缝支持国内外主流硬件后端 。库内沉淀了矩阵运算、注意力机制等训练与推理高频算子 。为了突破原生系统的性能瓶颈，研发团队自研了 LibEntry 调度层替代原生自动调优器，大幅削减了首次编译开销与分发延迟 。此外它支持纯 Python 包与 C++ 扩展双模式部署 。最后通过配置驱动设计，LibTuner 可自动搜索最优超参并持久化至本地，实现冷启动状态下的极速复用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这一页详细展示了算子的动态注册与分发路由机制 。整套流程始于应用层的模块初始化调用 。随后进入注册层，系统会依据运行时的具体硬件名称提取调度键，将实现挂载到内部库中 。在 C++ 底层，系统利用特定宏直接覆盖算子表中的默认实现路径 。最终由张量调度器结合配置列表完成精准路由分发，这套机制优雅地实现了多硬件平台的零代码切换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在算子编译执行环节，FlagGems 展现了精巧的缓存策略 。算子逻辑封装在 Python 源码中 。这里的工程亮点是引入独立的入口装饰器，全面接管并绕过原生的运行时组件 。在算子首次调用时，系统触发即时编译流水线，将中间产物下发至特定后端，此时耗时相对较长 。但编译产物会立刻被记录在内核缓存中，使得后续所有调用都能直接命中缓存，实现性能飞跃 。同时底层的调优模块会异步记录诸如线程块大小等最优架构参数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针对多变的应用场景，FlagGems 提供了两种维度的运行时加载方案 。纯 Python 模式无需经过复杂的 C++ 编译链，直接通过库注册，非常适合算法原型设计与持续集成测试环境，但代价是存在全局解释器锁竞争及调用帧开销 。对于对延迟极度敏感的生产部署环境，C++ 扩展模式是必选方案 。它通过预编译的扩展模块进行宏注册，其分发路径完全依赖底层函数指针，实现了真正意义上的零 Python 额外开销，是短算子推理加速的利器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视线继续下沉，我们来到 FlagTree 编译引擎层 。作为一个统一的多芯片算子编译器，它深度扎根于 Triton 与 MLIR 编译生态 。目前已稳定支持英伟达、寒武纪、华为昇腾等十余款国内外核心异构计算芯片 。工程团队并行维护了多个版本分支与隔离的集成部署通道 。在架构流转上，它将前端生成的代码投递至 MLIR 方言中间层进行硬件无关优化，最终经由生成器下发给具体的厂商工具链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本页对 FlagTree 的编译流水线前端进行了切片分析 。在前端解析阶段，系统会深入解析 Python 抽象语法树，精准捕获张量级别的操作符，据此构建出初始的中间表示图 。随后进入核心变换期，系统注入内存布局编码逻辑，生成带硬件倾向的中间表示，并严格执行公共子表达式消除与死代码剔除等经典编译优化趟 。最终结合芯片特征实施专属优化，并通过桥接层转化为 LLVM 标准中间代码，至此完成机器无关层面的全部升华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流水线的后半段则完全属于后端代码生成与汇编下发 。系统承接上一阶段的 LLVM 中间代码，调用底层优化器进行最后打磨 。随后依赖各厂商定制的汇编生成器，将其翻译为特定指令集架构代码 。紧接着调用专用编译器生成可直接加载的二进制目标文件 。在此过程中，系统会计算文件的哈希摘要并将其落盘至本地缓存目录，作为后续急速冷启动的数据基础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最后是运行时的硬件抽象调度 。当上层业务首次触发内核执行时，系统提取数据类型与形状特征构成特征键，向磁盘发起缓存寻址请求 。若发生缓存穿透则完整走一遍刚才讲的编译管线并回写磁盘，若命中则极速读取已编译的二进制流 。随后系统调用特定厂商的底层驱动应用程序接口，将指令载入显存并抓取执行句柄 。这一切复杂的硬件交互都被统一管理器完美封装，对上层的深度学习框架做到了绝对透明与无感切换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理解了系统底座，我们回头审视代码的源头 KernelGen 。作为大模型驱动的代理，它输出的算子代码在数学功能上是完全自洽的 。正如这部分均方根归一化代码所示，为了满足大模型的单次输出特性，其工程结构通常表现为高度耦合的单文件形态 。这个文件中不仅打包了核心的算子计算逻辑，还不可避免地夹杂了临时测试脚手架与性能绘图脚本。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这种单文件形态虽然易于快速验证，但绝不能直接推入主干代码库，必须跨越极其严苛的工程门槛 。一份合格的算子必须同时满足三大定律。首先必须在干净的隔离沙箱中通过绝对的正确性验证 。其次必须与基准版本进行逐比特的张量对齐比对，而这个基准通常也是由生成链路同步构建的 。最后也是最关键的，在多维度的形状与数据类型测试矩阵下，其执行吞吐量与内存访问延迟必须严格达到系统预设的性能基准红线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为了跨越这道门槛，我们引入了自动化的规范化重构管线 。其核心逻辑是对原始单文件进行极其细致的抽象语法树解析与结构清洗，将其解构并转化为符合工业标准的工程模块 。重构动作包含三大核心要点。第一是剥离硬编码的基准测试逻辑，将网格调度策略彻底动态化 。第二是实施依赖注入，强制挂载框架专属的入口装饰器以激活底层的缓存拦截机制 。第三是测试范式迁移，将随意的断言脚本重写为高覆盖率的参数化单元测试框架代码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本页详尽拆解了重构过程中的物理文件映射拓扑 。解析脚本作为中枢神经，将单一文件精准切割 。被提纯并注入缓存机制的核心算子逻辑，被归档至主干操作库中 。原生框架的基准实现被剥离至独立的对标模块中供后续调用 。最重要的是测试体系的重塑，精度测试注入了涵盖各种数据类型的参数化修饰器，并增补了针对非典型浮点数值的边界攻防测试 。而性能测试则被削减了冗余的图表生成逻辑，其核心吞吐量评测被无缝编排进持续集成流水线中，确保代码演进过程中的性能不发生退化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历经沙箱验证与深度重构的洗礼后，算子代码终于迎来了向主线进军的时刻 。正如当前开源仓库的快照所示，这些由硅基智能生成并经系统强化的算子，会通过拉取请求首先空降至实验性算子矩阵中 。在这里它们将接受真实的社区业务流量与更多边缘场景的联合测试，直至彻底稳固。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纵观全篇，从一行大模型生成的原始代码，到被异构芯片高速吞吐执行的二进制指令，这庞大而精密的工业链路，都统摄于 FlagOS 这个统一系统软件栈的版图之内 。软硬协同与编译抽象，正是我们在智能计算时代突破算力孤岛的核心武器。
</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幻灯片附带了 FlagOS 生态的全局项目导航矩阵 。大家课后请务必扫描这些仓库与社区入口，克隆代码到本地开发机，亲自运行一遍从代码生成到编译下发的全链路，这对深刻理解今天讲授的系统架构至关重要。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我们今天关于生成代码系统级部署集成的硬核技术拆解就到这里。纸上得来终觉浅，希望大家课后认真复盘，感谢大家的专注聆听，我们下节课再见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23.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23.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6.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3.pn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20.jpeg" Type="http://schemas.openxmlformats.org/officeDocument/2006/relationships/image"/><Relationship Id="rId13" Target="../media/image21.png" Type="http://schemas.openxmlformats.org/officeDocument/2006/relationships/image"/><Relationship Id="rId14" Target="../notesSlides/notesSlide18.xml" Type="http://schemas.openxmlformats.org/officeDocument/2006/relationships/notesSlide"/><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19.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22.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9.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42</a:t>
            </a:r>
            <a:r>
              <a:rPr lang="en-US" b="false" i="false" strike="noStrike" u="none" sz="5100">
                <a:solidFill>
                  <a:srgbClr val="262626"/>
                </a:solidFill>
                <a:latin typeface="微软雅黑"/>
                <a:ea typeface="微软雅黑"/>
                <a:cs typeface="微软雅黑"/>
                <a:sym typeface="微软雅黑"/>
              </a:rPr>
              <a:t>：从生成到部署</a:t>
            </a:r>
            <a:br>
              <a:rPr lang="en-US" b="false" i="false" strike="noStrike" u="none" sz="5100">
                <a:solidFill>
                  <a:srgbClr val="262626"/>
                </a:solidFill>
                <a:latin typeface="微软雅黑"/>
                <a:ea typeface="微软雅黑"/>
                <a:cs typeface="微软雅黑"/>
                <a:sym typeface="微软雅黑"/>
              </a:rPr>
            </a:br>
            <a:r>
              <a:rPr lang="en-US" b="false" i="false" strike="noStrike" u="none" sz="5100">
                <a:solidFill>
                  <a:srgbClr val="262626"/>
                </a:solidFill>
                <a:latin typeface="微软雅黑"/>
                <a:ea typeface="微软雅黑"/>
                <a:cs typeface="微软雅黑"/>
                <a:sym typeface="微软雅黑"/>
              </a:rPr>
              <a:t>生成代码的集成</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FlagOS </a:t>
            </a:r>
            <a:r>
              <a:rPr lang="en-US" b="false" i="false" strike="noStrike" u="none" sz="3600">
                <a:solidFill>
                  <a:srgbClr val="262626"/>
                </a:solidFill>
                <a:latin typeface="微软雅黑"/>
                <a:ea typeface="微软雅黑"/>
                <a:cs typeface="微软雅黑"/>
                <a:sym typeface="微软雅黑"/>
              </a:rPr>
              <a:t>生态概览</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https://docs.flagos.io/en/latest/overview.html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设计理念：</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模型</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系统</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芯片</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解耦，</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一次开发，处处运行</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KernelGen</a:t>
            </a:r>
            <a:r>
              <a:rPr lang="en-US" b="false" i="false" strike="noStrike" u="none" sz="2000">
                <a:solidFill>
                  <a:srgbClr val="404040"/>
                </a:solidFill>
                <a:latin typeface="微软雅黑"/>
                <a:ea typeface="微软雅黑"/>
                <a:cs typeface="微软雅黑"/>
                <a:sym typeface="微软雅黑"/>
              </a:rPr>
              <a:t>（智能源头）：</a:t>
            </a:r>
            <a:r>
              <a:rPr lang="en-US" b="false" i="false" strike="noStrike" u="none" sz="2000">
                <a:solidFill>
                  <a:srgbClr val="404040"/>
                </a:solidFill>
                <a:latin typeface="Calibri"/>
                <a:ea typeface="Calibri"/>
                <a:cs typeface="Calibri"/>
                <a:sym typeface="Calibri"/>
              </a:rPr>
              <a:t>LLM </a:t>
            </a:r>
            <a:r>
              <a:rPr lang="en-US" b="false" i="false" strike="noStrike" u="none" sz="2000">
                <a:solidFill>
                  <a:srgbClr val="404040"/>
                </a:solidFill>
                <a:latin typeface="微软雅黑"/>
                <a:ea typeface="微软雅黑"/>
                <a:cs typeface="微软雅黑"/>
                <a:sym typeface="微软雅黑"/>
              </a:rPr>
              <a:t>驱动的算子生成与测试验证代理</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FlagGems</a:t>
            </a:r>
            <a:r>
              <a:rPr lang="en-US" b="false" i="false" strike="noStrike" u="none" sz="2000">
                <a:solidFill>
                  <a:srgbClr val="404040"/>
                </a:solidFill>
                <a:latin typeface="微软雅黑"/>
                <a:ea typeface="微软雅黑"/>
                <a:cs typeface="微软雅黑"/>
                <a:sym typeface="微软雅黑"/>
              </a:rPr>
              <a:t>（高性能算子库）：基于</a:t>
            </a:r>
            <a:r>
              <a:rPr lang="en-US" b="false" i="false" strike="noStrike" u="none" sz="2000">
                <a:solidFill>
                  <a:srgbClr val="404040"/>
                </a:solidFill>
                <a:latin typeface="Calibri"/>
                <a:ea typeface="Calibri"/>
                <a:cs typeface="Calibri"/>
                <a:sym typeface="Calibri"/>
              </a:rPr>
              <a:t> Triton </a:t>
            </a:r>
            <a:r>
              <a:rPr lang="en-US" b="false" i="false" strike="noStrike" u="none" sz="2000">
                <a:solidFill>
                  <a:srgbClr val="404040"/>
                </a:solidFill>
                <a:latin typeface="微软雅黑"/>
                <a:ea typeface="微软雅黑"/>
                <a:cs typeface="微软雅黑"/>
                <a:sym typeface="微软雅黑"/>
              </a:rPr>
              <a:t>的高性能泛化算子库。</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FlagTree</a:t>
            </a:r>
            <a:r>
              <a:rPr lang="en-US" b="false" i="false" strike="noStrike" u="none" sz="2000">
                <a:solidFill>
                  <a:srgbClr val="404040"/>
                </a:solidFill>
                <a:latin typeface="微软雅黑"/>
                <a:ea typeface="微软雅黑"/>
                <a:cs typeface="微软雅黑"/>
                <a:sym typeface="微软雅黑"/>
              </a:rPr>
              <a:t>（编译引擎）：连接算子与超过十种异构芯片的统一</a:t>
            </a:r>
            <a:r>
              <a:rPr lang="en-US" b="false" i="false" strike="noStrike" u="none" sz="2000">
                <a:solidFill>
                  <a:srgbClr val="404040"/>
                </a:solidFill>
                <a:latin typeface="Calibri"/>
                <a:ea typeface="Calibri"/>
                <a:cs typeface="Calibri"/>
                <a:sym typeface="Calibri"/>
              </a:rPr>
              <a:t> MLIR </a:t>
            </a:r>
            <a:r>
              <a:rPr lang="en-US" b="false" i="false" strike="noStrike" u="none" sz="2000">
                <a:solidFill>
                  <a:srgbClr val="404040"/>
                </a:solidFill>
                <a:latin typeface="微软雅黑"/>
                <a:ea typeface="微软雅黑"/>
                <a:cs typeface="微软雅黑"/>
                <a:sym typeface="微软雅黑"/>
              </a:rPr>
              <a:t>编译器。</a:t>
            </a:r>
          </a:p>
        </p:txBody>
      </p:sp>
      <p:pic>
        <p:nvPicPr>
          <p:cNvPr name="Picture 6" id="6"/>
          <p:cNvPicPr>
            <a:picLocks noChangeAspect="true"/>
          </p:cNvPicPr>
          <p:nvPr/>
        </p:nvPicPr>
        <p:blipFill>
          <a:blip r:embed="rId2"/>
          <a:srcRect l="0" r="0" t="0" b="0"/>
          <a:stretch>
            <a:fillRect/>
          </a:stretch>
        </p:blipFill>
        <p:spPr>
          <a:xfrm rot="0" flipH="false" flipV="false">
            <a:off x="2839085" y="3014345"/>
            <a:ext cx="6294755" cy="3246755"/>
          </a:xfrm>
          <a:prstGeom prst="rect">
            <a:avLst/>
          </a:prstGeom>
          <a:ln w="12700">
            <a:noFill/>
            <a:prstDash val="solid"/>
          </a:ln>
        </p:spPr>
      </p:pic>
      <p:sp>
        <p:nvSpPr>
          <p:cNvPr name="AutoShape 7" id="7"/>
          <p:cNvSpPr/>
          <p:nvPr/>
        </p:nvSpPr>
        <p:spPr>
          <a:xfrm rot="0" flipH="false" flipV="false">
            <a:off x="2839085" y="4561840"/>
            <a:ext cx="1993265" cy="1699260"/>
          </a:xfrm>
          <a:prstGeom prst="rect">
            <a:avLst/>
          </a:prstGeom>
          <a:noFill/>
          <a:ln w="381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FlagGems </a:t>
            </a:r>
            <a:r>
              <a:rPr lang="en-US" b="false" i="false" strike="noStrike" u="none" sz="3600">
                <a:solidFill>
                  <a:srgbClr val="262626"/>
                </a:solidFill>
                <a:latin typeface="微软雅黑"/>
                <a:ea typeface="微软雅黑"/>
                <a:cs typeface="微软雅黑"/>
                <a:sym typeface="微软雅黑"/>
              </a:rPr>
              <a:t>概述</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xfrm rot="0" flipH="false" flipV="false">
            <a:off x="523875" y="1323975"/>
            <a:ext cx="6585585" cy="5032375"/>
          </a:xfrm>
          <a:prstGeom prst="rect">
            <a:avLst/>
          </a:prstGeom>
        </p:spPr>
        <p:txBody>
          <a:bodyPr anchor="t" wrap="square" lIns="91440" rIns="91440" tIns="45720" bIns="45720">
            <a:normAutofit lnSpcReduction="10000"/>
          </a:bodyPr>
          <a:lstStyle>
            <a:lvl1pPr algn="l">
              <a:lnSpc>
                <a:spcPct val="91666"/>
              </a:lnSpc>
              <a:defRPr sz="2100" b="false" i="false" u="none" strike="noStrike" spc="0">
                <a:solidFill>
                  <a:srgbClr val="404040">
                    <a:alpha val="100000"/>
                  </a:srgbClr>
                </a:solidFill>
                <a:latin typeface="Calibri"/>
              </a:defRPr>
            </a:lvl1pPr>
          </a:lstStyle>
          <a:p>
            <a:pPr algn="l" indent="-266700" marL="266700">
              <a:lnSpc>
                <a:spcPct val="91666"/>
              </a:lnSpc>
              <a:spcBef>
                <a:spcPts val="1500"/>
              </a:spcBef>
              <a:buClr>
                <a:srgbClr val="404040"/>
              </a:buClr>
              <a:buChar char="•"/>
            </a:pPr>
            <a:r>
              <a:rPr lang="en-US" b="false" i="false" strike="noStrike" u="none" sz="2100">
                <a:solidFill>
                  <a:srgbClr val="404040"/>
                </a:solidFill>
                <a:latin typeface="Calibri"/>
                <a:ea typeface="Calibri"/>
                <a:cs typeface="Calibri"/>
                <a:sym typeface="Calibri"/>
              </a:rPr>
              <a:t>Triton </a:t>
            </a:r>
            <a:r>
              <a:rPr lang="en-US" b="false" i="false" strike="noStrike" u="none" sz="2100">
                <a:solidFill>
                  <a:srgbClr val="404040"/>
                </a:solidFill>
                <a:latin typeface="微软雅黑"/>
                <a:ea typeface="微软雅黑"/>
                <a:cs typeface="微软雅黑"/>
                <a:sym typeface="微软雅黑"/>
              </a:rPr>
              <a:t>编写，跨硬件统一：</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天然支持</a:t>
            </a:r>
            <a:r>
              <a:rPr lang="en-US" b="false" i="false" strike="noStrike" u="none" sz="1800">
                <a:solidFill>
                  <a:srgbClr val="404040"/>
                </a:solidFill>
                <a:latin typeface="Calibri"/>
                <a:ea typeface="Calibri"/>
                <a:cs typeface="Calibri"/>
                <a:sym typeface="Calibri"/>
              </a:rPr>
              <a:t> CUDA</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MLU</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XPU</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NPU </a:t>
            </a:r>
            <a:r>
              <a:rPr lang="en-US" b="false" i="false" strike="noStrike" u="none" sz="1800">
                <a:solidFill>
                  <a:srgbClr val="404040"/>
                </a:solidFill>
                <a:latin typeface="微软雅黑"/>
                <a:ea typeface="微软雅黑"/>
                <a:cs typeface="微软雅黑"/>
                <a:sym typeface="微软雅黑"/>
              </a:rPr>
              <a:t>等</a:t>
            </a:r>
            <a:r>
              <a:rPr lang="en-US" b="false" i="false" strike="noStrike" u="none" sz="1800">
                <a:solidFill>
                  <a:srgbClr val="404040"/>
                </a:solidFill>
                <a:latin typeface="Calibri"/>
                <a:ea typeface="Calibri"/>
                <a:cs typeface="Calibri"/>
                <a:sym typeface="Calibri"/>
              </a:rPr>
              <a:t> 10+ </a:t>
            </a:r>
            <a:r>
              <a:rPr lang="en-US" b="false" i="false" strike="noStrike" u="none" sz="1800">
                <a:solidFill>
                  <a:srgbClr val="404040"/>
                </a:solidFill>
                <a:latin typeface="微软雅黑"/>
                <a:ea typeface="微软雅黑"/>
                <a:cs typeface="微软雅黑"/>
                <a:sym typeface="微软雅黑"/>
              </a:rPr>
              <a:t>硬件后端</a:t>
            </a:r>
          </a:p>
          <a:p>
            <a:pPr algn="l" indent="-266700" marL="266700">
              <a:lnSpc>
                <a:spcPct val="91666"/>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高性能算子：</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矩阵运算、注意力机制、归一化、激活函数等训练推理核心算子</a:t>
            </a:r>
          </a:p>
          <a:p>
            <a:pPr algn="l" indent="-266700" marL="266700">
              <a:lnSpc>
                <a:spcPct val="91666"/>
              </a:lnSpc>
              <a:spcBef>
                <a:spcPts val="1500"/>
              </a:spcBef>
              <a:buClr>
                <a:srgbClr val="404040"/>
              </a:buClr>
              <a:buChar char="•"/>
            </a:pPr>
            <a:r>
              <a:rPr lang="en-US" b="false" i="false" strike="noStrike" u="none" sz="2100">
                <a:solidFill>
                  <a:srgbClr val="404040"/>
                </a:solidFill>
                <a:latin typeface="Calibri"/>
                <a:ea typeface="Calibri"/>
                <a:cs typeface="Calibri"/>
                <a:sym typeface="Calibri"/>
              </a:rPr>
              <a:t>LibEntry </a:t>
            </a:r>
            <a:r>
              <a:rPr lang="en-US" b="false" i="false" strike="noStrike" u="none" sz="2100">
                <a:solidFill>
                  <a:srgbClr val="404040"/>
                </a:solidFill>
                <a:latin typeface="微软雅黑"/>
                <a:ea typeface="微软雅黑"/>
                <a:cs typeface="微软雅黑"/>
                <a:sym typeface="微软雅黑"/>
              </a:rPr>
              <a:t>内核缓存：</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自研调度层替代</a:t>
            </a:r>
            <a:r>
              <a:rPr lang="en-US" b="false" i="false" strike="noStrike" u="none" sz="1800">
                <a:solidFill>
                  <a:srgbClr val="404040"/>
                </a:solidFill>
                <a:latin typeface="Calibri"/>
                <a:ea typeface="Calibri"/>
                <a:cs typeface="Calibri"/>
                <a:sym typeface="Calibri"/>
              </a:rPr>
              <a:t> Triton </a:t>
            </a:r>
            <a:r>
              <a:rPr lang="en-US" b="false" i="false" strike="noStrike" u="none" sz="1800">
                <a:solidFill>
                  <a:srgbClr val="404040"/>
                </a:solidFill>
                <a:latin typeface="微软雅黑"/>
                <a:ea typeface="微软雅黑"/>
                <a:cs typeface="微软雅黑"/>
                <a:sym typeface="微软雅黑"/>
              </a:rPr>
              <a:t>原生</a:t>
            </a:r>
            <a:r>
              <a:rPr lang="en-US" b="false" i="false" strike="noStrike" u="none" sz="1800">
                <a:solidFill>
                  <a:srgbClr val="404040"/>
                </a:solidFill>
                <a:latin typeface="Calibri"/>
                <a:ea typeface="Calibri"/>
                <a:cs typeface="Calibri"/>
                <a:sym typeface="Calibri"/>
              </a:rPr>
              <a:t> Autotuner</a:t>
            </a:r>
            <a:r>
              <a:rPr lang="en-US" b="false" i="false" strike="noStrike" u="none" sz="1800">
                <a:solidFill>
                  <a:srgbClr val="404040"/>
                </a:solidFill>
                <a:latin typeface="微软雅黑"/>
                <a:ea typeface="微软雅黑"/>
                <a:cs typeface="微软雅黑"/>
                <a:sym typeface="微软雅黑"/>
              </a:rPr>
              <a:t>，显著降低首次编译开销与</a:t>
            </a:r>
            <a:r>
              <a:rPr lang="en-US" b="false" i="false" strike="noStrike" u="none" sz="1800">
                <a:solidFill>
                  <a:srgbClr val="404040"/>
                </a:solidFill>
                <a:latin typeface="Calibri"/>
                <a:ea typeface="Calibri"/>
                <a:cs typeface="Calibri"/>
                <a:sym typeface="Calibri"/>
              </a:rPr>
              <a:t> dispatch </a:t>
            </a:r>
            <a:r>
              <a:rPr lang="en-US" b="false" i="false" strike="noStrike" u="none" sz="1800">
                <a:solidFill>
                  <a:srgbClr val="404040"/>
                </a:solidFill>
                <a:latin typeface="微软雅黑"/>
                <a:ea typeface="微软雅黑"/>
                <a:cs typeface="微软雅黑"/>
                <a:sym typeface="微软雅黑"/>
              </a:rPr>
              <a:t>延迟</a:t>
            </a:r>
          </a:p>
          <a:p>
            <a:pPr algn="l" indent="-266700" marL="266700">
              <a:lnSpc>
                <a:spcPct val="91666"/>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双模式部署：</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纯</a:t>
            </a:r>
            <a:r>
              <a:rPr lang="en-US" b="false" i="false" strike="noStrike" u="none" sz="1800">
                <a:solidFill>
                  <a:srgbClr val="404040"/>
                </a:solidFill>
                <a:latin typeface="Calibri"/>
                <a:ea typeface="Calibri"/>
                <a:cs typeface="Calibri"/>
                <a:sym typeface="Calibri"/>
              </a:rPr>
              <a:t> Python </a:t>
            </a:r>
            <a:r>
              <a:rPr lang="en-US" b="false" i="false" strike="noStrike" u="none" sz="1800">
                <a:solidFill>
                  <a:srgbClr val="404040"/>
                </a:solidFill>
                <a:latin typeface="微软雅黑"/>
                <a:ea typeface="微软雅黑"/>
                <a:cs typeface="微软雅黑"/>
                <a:sym typeface="微软雅黑"/>
              </a:rPr>
              <a:t>包（快速验证）与</a:t>
            </a:r>
            <a:r>
              <a:rPr lang="en-US" b="false" i="false" strike="noStrike" u="none" sz="1800">
                <a:solidFill>
                  <a:srgbClr val="404040"/>
                </a:solidFill>
                <a:latin typeface="Calibri"/>
                <a:ea typeface="Calibri"/>
                <a:cs typeface="Calibri"/>
                <a:sym typeface="Calibri"/>
              </a:rPr>
              <a:t> C++ </a:t>
            </a:r>
            <a:r>
              <a:rPr lang="en-US" b="false" i="false" strike="noStrike" u="none" sz="1800">
                <a:solidFill>
                  <a:srgbClr val="404040"/>
                </a:solidFill>
                <a:latin typeface="微软雅黑"/>
                <a:ea typeface="微软雅黑"/>
                <a:cs typeface="微软雅黑"/>
                <a:sym typeface="微软雅黑"/>
              </a:rPr>
              <a:t>扩展（生产加速）自由切换，</a:t>
            </a:r>
            <a:r>
              <a:rPr lang="en-US" b="false" i="false" strike="noStrike" u="none" sz="1800">
                <a:solidFill>
                  <a:srgbClr val="404040"/>
                </a:solidFill>
                <a:latin typeface="Calibri"/>
                <a:ea typeface="Calibri"/>
                <a:cs typeface="Calibri"/>
                <a:sym typeface="Calibri"/>
              </a:rPr>
              <a:t>C++ </a:t>
            </a:r>
            <a:r>
              <a:rPr lang="en-US" b="false" i="false" strike="noStrike" u="none" sz="1800">
                <a:solidFill>
                  <a:srgbClr val="404040"/>
                </a:solidFill>
                <a:latin typeface="微软雅黑"/>
                <a:ea typeface="微软雅黑"/>
                <a:cs typeface="微软雅黑"/>
                <a:sym typeface="微软雅黑"/>
              </a:rPr>
              <a:t>路径消除</a:t>
            </a:r>
            <a:r>
              <a:rPr lang="en-US" b="false" i="false" strike="noStrike" u="none" sz="1800">
                <a:solidFill>
                  <a:srgbClr val="404040"/>
                </a:solidFill>
                <a:latin typeface="Calibri"/>
                <a:ea typeface="Calibri"/>
                <a:cs typeface="Calibri"/>
                <a:sym typeface="Calibri"/>
              </a:rPr>
              <a:t> Python </a:t>
            </a:r>
            <a:r>
              <a:rPr lang="en-US" b="false" i="false" strike="noStrike" u="none" sz="1800">
                <a:solidFill>
                  <a:srgbClr val="404040"/>
                </a:solidFill>
                <a:latin typeface="微软雅黑"/>
                <a:ea typeface="微软雅黑"/>
                <a:cs typeface="微软雅黑"/>
                <a:sym typeface="微软雅黑"/>
              </a:rPr>
              <a:t>调用帧开销</a:t>
            </a:r>
          </a:p>
          <a:p>
            <a:pPr algn="l" indent="-266700" marL="266700">
              <a:lnSpc>
                <a:spcPct val="91666"/>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配置驱动调优：</a:t>
            </a:r>
          </a:p>
          <a:p>
            <a:pPr algn="l" indent="-228600" lvl="1" marL="571500">
              <a:lnSpc>
                <a:spcPct val="91666"/>
              </a:lnSpc>
              <a:spcBef>
                <a:spcPts val="750"/>
              </a:spcBef>
              <a:buClr>
                <a:srgbClr val="404040"/>
              </a:buClr>
              <a:buChar char="•"/>
            </a:pPr>
            <a:r>
              <a:rPr lang="en-US" b="false" i="false" strike="noStrike" u="none" sz="1800">
                <a:solidFill>
                  <a:srgbClr val="404040"/>
                </a:solidFill>
                <a:latin typeface="Calibri"/>
                <a:ea typeface="Calibri"/>
                <a:cs typeface="Calibri"/>
                <a:sym typeface="Calibri"/>
              </a:rPr>
              <a:t>LibTuner </a:t>
            </a:r>
            <a:r>
              <a:rPr lang="en-US" b="false" i="false" strike="noStrike" u="none" sz="1800">
                <a:solidFill>
                  <a:srgbClr val="404040"/>
                </a:solidFill>
                <a:latin typeface="微软雅黑"/>
                <a:ea typeface="微软雅黑"/>
                <a:cs typeface="微软雅黑"/>
                <a:sym typeface="微软雅黑"/>
              </a:rPr>
              <a:t>自动搜索最优超参并持久化为</a:t>
            </a:r>
            <a:r>
              <a:rPr lang="en-US" b="false" i="false" strike="noStrike" u="none" sz="1800">
                <a:solidFill>
                  <a:srgbClr val="404040"/>
                </a:solidFill>
                <a:latin typeface="Calibri"/>
                <a:ea typeface="Calibri"/>
                <a:cs typeface="Calibri"/>
                <a:sym typeface="Calibri"/>
              </a:rPr>
              <a:t> YAML</a:t>
            </a:r>
            <a:r>
              <a:rPr lang="en-US" b="false" i="false" strike="noStrike" u="none" sz="1800">
                <a:solidFill>
                  <a:srgbClr val="404040"/>
                </a:solidFill>
                <a:latin typeface="微软雅黑"/>
                <a:ea typeface="微软雅黑"/>
                <a:cs typeface="微软雅黑"/>
                <a:sym typeface="微软雅黑"/>
              </a:rPr>
              <a:t>，冷启动直接复用，无需每次重新</a:t>
            </a:r>
            <a:r>
              <a:rPr lang="en-US" b="false" i="false" strike="noStrike" u="none" sz="1800">
                <a:solidFill>
                  <a:srgbClr val="404040"/>
                </a:solidFill>
                <a:latin typeface="Calibri"/>
                <a:ea typeface="Calibri"/>
                <a:cs typeface="Calibri"/>
                <a:sym typeface="Calibri"/>
              </a:rPr>
              <a:t> benchmark</a:t>
            </a:r>
          </a:p>
        </p:txBody>
      </p:sp>
      <p:pic>
        <p:nvPicPr>
          <p:cNvPr name="Picture 6" id="6"/>
          <p:cNvPicPr>
            <a:picLocks noChangeAspect="true"/>
          </p:cNvPicPr>
          <p:nvPr/>
        </p:nvPicPr>
        <p:blipFill>
          <a:blip r:embed="rId2"/>
          <a:srcRect l="0" r="0" t="0" b="0"/>
          <a:stretch>
            <a:fillRect/>
          </a:stretch>
        </p:blipFill>
        <p:spPr>
          <a:xfrm rot="0" flipH="false" flipV="false">
            <a:off x="6990715" y="1323975"/>
            <a:ext cx="4810760" cy="4721860"/>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FlagGems </a:t>
            </a:r>
            <a:r>
              <a:rPr lang="en-US" b="false" i="false" strike="noStrike" u="none" sz="3600">
                <a:solidFill>
                  <a:srgbClr val="262626"/>
                </a:solidFill>
                <a:latin typeface="微软雅黑"/>
                <a:ea typeface="微软雅黑"/>
                <a:cs typeface="微软雅黑"/>
                <a:sym typeface="微软雅黑"/>
              </a:rPr>
              <a:t>算子注册与分发</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xfrm rot="0" flipH="false" flipV="false">
            <a:off x="523875" y="1323975"/>
            <a:ext cx="6324600" cy="5017770"/>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0F172A">
                    <a:alpha val="100000"/>
                  </a:srgbClr>
                </a:solidFill>
                <a:latin typeface="Calibri"/>
              </a:defRPr>
            </a:lvl1pPr>
          </a:lstStyle>
          <a:p>
            <a:pPr algn="l" indent="-304800" marL="304800">
              <a:lnSpc>
                <a:spcPct val="100000"/>
              </a:lnSpc>
              <a:spcBef>
                <a:spcPts val="1500"/>
              </a:spcBef>
              <a:buClr>
                <a:srgbClr val="0F172A"/>
              </a:buClr>
              <a:buChar char="•"/>
            </a:pPr>
            <a:r>
              <a:rPr lang="en-US" b="false" i="false" strike="noStrike" u="none" sz="2400">
                <a:solidFill>
                  <a:srgbClr val="0F172A"/>
                </a:solidFill>
                <a:latin typeface="Calibri"/>
                <a:ea typeface="Calibri"/>
                <a:cs typeface="Calibri"/>
                <a:sym typeface="Calibri"/>
              </a:rPr>
              <a:t>用户调用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flag_gems.enable() </a:t>
            </a:r>
            <a:r>
              <a:rPr lang="en-US" b="false" i="false" strike="noStrike" u="none" sz="2000">
                <a:solidFill>
                  <a:srgbClr val="404040"/>
                </a:solidFill>
                <a:latin typeface="微软雅黑"/>
                <a:ea typeface="微软雅黑"/>
                <a:cs typeface="微软雅黑"/>
                <a:sym typeface="微软雅黑"/>
              </a:rPr>
              <a:t>或</a:t>
            </a:r>
            <a:r>
              <a:rPr lang="en-US" b="false" i="false" strike="noStrike" u="none" sz="2000">
                <a:solidFill>
                  <a:srgbClr val="404040"/>
                </a:solidFill>
                <a:latin typeface="Calibri"/>
                <a:ea typeface="Calibri"/>
                <a:cs typeface="Calibri"/>
                <a:sym typeface="Calibri"/>
              </a:rPr>
              <a:t> flag_gems.use_gems()</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触发模块初始化，遍历</a:t>
            </a:r>
            <a:r>
              <a:rPr lang="en-US" b="false" i="false" strike="noStrike" u="none" sz="2000">
                <a:solidFill>
                  <a:srgbClr val="404040"/>
                </a:solidFill>
                <a:latin typeface="Calibri"/>
                <a:ea typeface="Calibri"/>
                <a:cs typeface="Calibri"/>
                <a:sym typeface="Calibri"/>
              </a:rPr>
              <a:t> ops/init.py</a:t>
            </a:r>
          </a:p>
          <a:p>
            <a:pPr algn="l" indent="-304800" marL="304800">
              <a:lnSpc>
                <a:spcPct val="100000"/>
              </a:lnSpc>
              <a:spcBef>
                <a:spcPts val="1500"/>
              </a:spcBef>
              <a:buClr>
                <a:srgbClr val="0F172A"/>
              </a:buClr>
              <a:buChar char="•"/>
            </a:pPr>
            <a:r>
              <a:rPr lang="en-US" b="false" i="false" strike="noStrike" u="none" sz="2400">
                <a:solidFill>
                  <a:srgbClr val="0F172A"/>
                </a:solidFill>
                <a:latin typeface="Calibri"/>
                <a:ea typeface="Calibri"/>
                <a:cs typeface="Calibri"/>
                <a:sym typeface="Calibri"/>
              </a:rPr>
              <a:t>Library 注册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torch.library.Library("aten", "IMPL")</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按</a:t>
            </a:r>
            <a:r>
              <a:rPr lang="en-US" b="false" i="false" strike="noStrike" u="none" sz="2000">
                <a:solidFill>
                  <a:srgbClr val="404040"/>
                </a:solidFill>
                <a:latin typeface="Calibri"/>
                <a:ea typeface="Calibri"/>
                <a:cs typeface="Calibri"/>
                <a:sym typeface="Calibri"/>
              </a:rPr>
              <a:t> dispatch key</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CUDA/XPU…</a:t>
            </a:r>
            <a:r>
              <a:rPr lang="en-US" b="false" i="false" strike="noStrike" u="none" sz="2000">
                <a:solidFill>
                  <a:srgbClr val="404040"/>
                </a:solidFill>
                <a:latin typeface="微软雅黑"/>
                <a:ea typeface="微软雅黑"/>
                <a:cs typeface="微软雅黑"/>
                <a:sym typeface="微软雅黑"/>
              </a:rPr>
              <a:t>）注册实现</a:t>
            </a:r>
          </a:p>
          <a:p>
            <a:pPr algn="l" indent="-304800" marL="304800">
              <a:lnSpc>
                <a:spcPct val="100000"/>
              </a:lnSpc>
              <a:spcBef>
                <a:spcPts val="1500"/>
              </a:spcBef>
              <a:buClr>
                <a:srgbClr val="0F172A"/>
              </a:buClr>
              <a:buChar char="•"/>
            </a:pPr>
            <a:r>
              <a:rPr lang="en-US" b="false" i="false" strike="noStrike" u="none" sz="2400">
                <a:solidFill>
                  <a:srgbClr val="0F172A"/>
                </a:solidFill>
                <a:latin typeface="Calibri"/>
                <a:ea typeface="Calibri"/>
                <a:cs typeface="Calibri"/>
                <a:sym typeface="Calibri"/>
              </a:rPr>
              <a:t>TORCH_LIBRARY_IMPL</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C++</a:t>
            </a:r>
            <a:r>
              <a:rPr lang="en-US" b="false" i="false" strike="noStrike" u="none" sz="2000">
                <a:solidFill>
                  <a:srgbClr val="404040"/>
                </a:solidFill>
                <a:latin typeface="微软雅黑"/>
                <a:ea typeface="微软雅黑"/>
                <a:cs typeface="微软雅黑"/>
                <a:sym typeface="微软雅黑"/>
              </a:rPr>
              <a:t>侧：</a:t>
            </a:r>
            <a:r>
              <a:rPr lang="en-US" b="false" i="false" strike="noStrike" u="none" sz="2000">
                <a:solidFill>
                  <a:srgbClr val="404040"/>
                </a:solidFill>
                <a:latin typeface="Calibri"/>
                <a:ea typeface="Calibri"/>
                <a:cs typeface="Calibri"/>
                <a:sym typeface="Calibri"/>
              </a:rPr>
              <a:t>aten::mm → mm</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aten::add.Tensor → add</a:t>
            </a:r>
            <a:r>
              <a:rPr lang="en-US" b="false" i="false" strike="noStrike" u="none" sz="2000">
                <a:solidFill>
                  <a:srgbClr val="404040"/>
                </a:solidFill>
                <a:latin typeface="微软雅黑"/>
                <a:ea typeface="微软雅黑"/>
                <a:cs typeface="微软雅黑"/>
                <a:sym typeface="微软雅黑"/>
              </a:rPr>
              <a:t>，覆盖</a:t>
            </a:r>
            <a:r>
              <a:rPr lang="en-US" b="false" i="false" strike="noStrike" u="none" sz="2000">
                <a:solidFill>
                  <a:srgbClr val="404040"/>
                </a:solidFill>
                <a:latin typeface="Calibri"/>
                <a:ea typeface="Calibri"/>
                <a:cs typeface="Calibri"/>
                <a:sym typeface="Calibri"/>
              </a:rPr>
              <a:t>ATen operator table</a:t>
            </a:r>
            <a:r>
              <a:rPr lang="en-US" b="false" i="false" strike="noStrike" u="none" sz="2000">
                <a:solidFill>
                  <a:srgbClr val="404040"/>
                </a:solidFill>
                <a:latin typeface="微软雅黑"/>
                <a:ea typeface="微软雅黑"/>
                <a:cs typeface="微软雅黑"/>
                <a:sym typeface="微软雅黑"/>
              </a:rPr>
              <a:t>中的默认实现。</a:t>
            </a:r>
          </a:p>
          <a:p>
            <a:pPr algn="l" indent="-304800" marL="304800">
              <a:lnSpc>
                <a:spcPct val="100000"/>
              </a:lnSpc>
              <a:spcBef>
                <a:spcPts val="1500"/>
              </a:spcBef>
              <a:buClr>
                <a:srgbClr val="0F172A"/>
              </a:buClr>
              <a:buChar char="•"/>
            </a:pPr>
            <a:r>
              <a:rPr lang="en-US" b="false" i="false" strike="noStrike" u="none" sz="2400">
                <a:solidFill>
                  <a:srgbClr val="0F172A"/>
                </a:solidFill>
                <a:latin typeface="Calibri"/>
                <a:ea typeface="Calibri"/>
                <a:cs typeface="Calibri"/>
                <a:sym typeface="Calibri"/>
              </a:rPr>
              <a:t>ATen Dispatcher 路由</a:t>
            </a:r>
          </a:p>
          <a:p>
            <a:pPr algn="l" indent="-254000" lvl="1" marL="596900">
              <a:lnSpc>
                <a:spcPct val="100000"/>
              </a:lnSpc>
              <a:spcBef>
                <a:spcPts val="750"/>
              </a:spcBef>
              <a:buClr>
                <a:srgbClr val="334155"/>
              </a:buClr>
              <a:buChar char="•"/>
            </a:pPr>
            <a:r>
              <a:rPr lang="en-US" b="false" i="false" strike="noStrike" u="none" sz="2000">
                <a:solidFill>
                  <a:srgbClr val="334155"/>
                </a:solidFill>
                <a:latin typeface="Calibri"/>
                <a:ea typeface="Calibri"/>
                <a:cs typeface="Calibri"/>
                <a:sym typeface="Calibri"/>
              </a:rPr>
              <a:t>config.aten_patch_list 决策</a:t>
            </a:r>
          </a:p>
        </p:txBody>
      </p:sp>
      <p:pic>
        <p:nvPicPr>
          <p:cNvPr name="Picture 6" id="6"/>
          <p:cNvPicPr>
            <a:picLocks noChangeAspect="true"/>
          </p:cNvPicPr>
          <p:nvPr/>
        </p:nvPicPr>
        <p:blipFill>
          <a:blip r:embed="rId2"/>
          <a:srcRect l="0" r="0" t="0" b="0"/>
          <a:stretch>
            <a:fillRect/>
          </a:stretch>
        </p:blipFill>
        <p:spPr>
          <a:xfrm rot="0" flipH="false" flipV="false">
            <a:off x="6728460" y="1334135"/>
            <a:ext cx="5073015" cy="4843145"/>
          </a:xfrm>
          <a:prstGeom prst="rect">
            <a:avLst/>
          </a:prstGeom>
          <a:ln w="12700">
            <a:noFill/>
            <a:prstDash val="solid"/>
          </a:ln>
        </p:spPr>
      </p:pic>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FlagGems </a:t>
            </a:r>
            <a:r>
              <a:rPr lang="en-US" b="false" i="false" strike="noStrike" u="none" sz="3600">
                <a:solidFill>
                  <a:srgbClr val="262626"/>
                </a:solidFill>
                <a:latin typeface="微软雅黑"/>
                <a:ea typeface="微软雅黑"/>
                <a:cs typeface="微软雅黑"/>
                <a:sym typeface="微软雅黑"/>
              </a:rPr>
              <a:t>算子编译</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2400" b="false" i="false" u="none" strike="noStrike" spc="0">
                <a:solidFill>
                  <a:srgbClr val="404040">
                    <a:alpha val="100000"/>
                  </a:srgbClr>
                </a:solidFill>
                <a:latin typeface="Calibri"/>
              </a:defRPr>
            </a:lvl1pPr>
          </a:lstStyle>
          <a:p>
            <a:pPr algn="l" indent="-304800" marL="304800">
              <a:lnSpc>
                <a:spcPct val="91666"/>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Triton </a:t>
            </a:r>
            <a:r>
              <a:rPr lang="en-US" b="false" i="false" strike="noStrike" u="none" sz="2400">
                <a:solidFill>
                  <a:srgbClr val="404040"/>
                </a:solidFill>
                <a:latin typeface="微软雅黑"/>
                <a:ea typeface="微软雅黑"/>
                <a:cs typeface="微软雅黑"/>
                <a:sym typeface="微软雅黑"/>
              </a:rPr>
              <a:t>源码（</a:t>
            </a:r>
            <a:r>
              <a:rPr lang="en-US" b="false" i="false" strike="noStrike" u="none" sz="2400">
                <a:solidFill>
                  <a:srgbClr val="404040"/>
                </a:solidFill>
                <a:latin typeface="Calibri"/>
                <a:ea typeface="Calibri"/>
                <a:cs typeface="Calibri"/>
                <a:sym typeface="Calibri"/>
              </a:rPr>
              <a:t>.py</a:t>
            </a:r>
            <a:r>
              <a:rPr lang="en-US" b="false" i="false" strike="noStrike" u="none" sz="2400">
                <a:solidFill>
                  <a:srgbClr val="404040"/>
                </a:solidFill>
                <a:latin typeface="微软雅黑"/>
                <a:ea typeface="微软雅黑"/>
                <a:cs typeface="微软雅黑"/>
                <a:sym typeface="微软雅黑"/>
              </a:rPr>
              <a:t>）</a:t>
            </a:r>
          </a:p>
          <a:p>
            <a:pPr algn="l" indent="-304800" lvl="1" marL="647700">
              <a:lnSpc>
                <a:spcPct val="91666"/>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算子用</a:t>
            </a:r>
            <a:r>
              <a:rPr lang="en-US" b="false" i="false" strike="noStrike" u="none" sz="2400">
                <a:solidFill>
                  <a:srgbClr val="404040"/>
                </a:solidFill>
                <a:latin typeface="Calibri"/>
                <a:ea typeface="Calibri"/>
                <a:cs typeface="Calibri"/>
                <a:sym typeface="Calibri"/>
              </a:rPr>
              <a:t> Triton DSL </a:t>
            </a:r>
            <a:r>
              <a:rPr lang="en-US" b="false" i="false" strike="noStrike" u="none" sz="2400">
                <a:solidFill>
                  <a:srgbClr val="404040"/>
                </a:solidFill>
                <a:latin typeface="微软雅黑"/>
                <a:ea typeface="微软雅黑"/>
                <a:cs typeface="微软雅黑"/>
                <a:sym typeface="微软雅黑"/>
              </a:rPr>
              <a:t>编写（</a:t>
            </a:r>
            <a:r>
              <a:rPr lang="en-US" b="false" i="false" strike="noStrike" u="none" sz="2400">
                <a:solidFill>
                  <a:srgbClr val="404040"/>
                </a:solidFill>
                <a:latin typeface="Calibri"/>
                <a:ea typeface="Calibri"/>
                <a:cs typeface="Calibri"/>
                <a:sym typeface="Calibri"/>
              </a:rPr>
              <a:t>ops/mm.py</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ops/attention.py </a:t>
            </a:r>
            <a:r>
              <a:rPr lang="en-US" b="false" i="false" strike="noStrike" u="none" sz="2400">
                <a:solidFill>
                  <a:srgbClr val="404040"/>
                </a:solidFill>
                <a:latin typeface="微软雅黑"/>
                <a:ea typeface="微软雅黑"/>
                <a:cs typeface="微软雅黑"/>
                <a:sym typeface="微软雅黑"/>
              </a:rPr>
              <a:t>等）</a:t>
            </a:r>
          </a:p>
          <a:p>
            <a:pPr algn="l" indent="-304800" lvl="1" marL="647700">
              <a:lnSpc>
                <a:spcPct val="91666"/>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装饰器</a:t>
            </a:r>
            <a:r>
              <a:rPr lang="en-US" b="false" i="false" strike="noStrike" u="none" sz="2400">
                <a:solidFill>
                  <a:srgbClr val="404040"/>
                </a:solidFill>
                <a:latin typeface="Calibri"/>
                <a:ea typeface="Calibri"/>
                <a:cs typeface="Calibri"/>
                <a:sym typeface="Calibri"/>
              </a:rPr>
              <a:t> @triton.jit </a:t>
            </a:r>
            <a:r>
              <a:rPr lang="en-US" b="false" i="false" strike="noStrike" u="none" sz="2400">
                <a:solidFill>
                  <a:srgbClr val="404040"/>
                </a:solidFill>
                <a:latin typeface="微软雅黑"/>
                <a:ea typeface="微软雅黑"/>
                <a:cs typeface="微软雅黑"/>
                <a:sym typeface="微软雅黑"/>
              </a:rPr>
              <a:t>标注</a:t>
            </a:r>
            <a:r>
              <a:rPr lang="en-US" b="false" i="false" strike="noStrike" u="none" sz="2400">
                <a:solidFill>
                  <a:srgbClr val="404040"/>
                </a:solidFill>
                <a:latin typeface="Calibri"/>
                <a:ea typeface="Calibri"/>
                <a:cs typeface="Calibri"/>
                <a:sym typeface="Calibri"/>
              </a:rPr>
              <a:t> JIT </a:t>
            </a:r>
            <a:r>
              <a:rPr lang="en-US" b="false" i="false" strike="noStrike" u="none" sz="2400">
                <a:solidFill>
                  <a:srgbClr val="404040"/>
                </a:solidFill>
                <a:latin typeface="微软雅黑"/>
                <a:ea typeface="微软雅黑"/>
                <a:cs typeface="微软雅黑"/>
                <a:sym typeface="微软雅黑"/>
              </a:rPr>
              <a:t>编译入口</a:t>
            </a:r>
          </a:p>
          <a:p>
            <a:pPr algn="l" indent="-304800" marL="304800">
              <a:lnSpc>
                <a:spcPct val="91666"/>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@libentry() </a:t>
            </a:r>
            <a:r>
              <a:rPr lang="en-US" b="false" i="false" strike="noStrike" u="none" sz="2400">
                <a:solidFill>
                  <a:srgbClr val="404040"/>
                </a:solidFill>
                <a:latin typeface="微软雅黑"/>
                <a:ea typeface="微软雅黑"/>
                <a:cs typeface="微软雅黑"/>
                <a:sym typeface="微软雅黑"/>
              </a:rPr>
              <a:t>装饰器</a:t>
            </a:r>
            <a:r>
              <a:rPr lang="en-US" b="false" i="false" strike="noStrike" u="none" sz="2400">
                <a:solidFill>
                  <a:srgbClr val="404040"/>
                </a:solidFill>
                <a:latin typeface="Calibri"/>
                <a:ea typeface="Calibri"/>
                <a:cs typeface="Calibri"/>
                <a:sym typeface="Calibri"/>
              </a:rPr>
              <a:t> — </a:t>
            </a:r>
            <a:r>
              <a:rPr lang="en-US" b="false" i="false" strike="noStrike" u="none" sz="2400">
                <a:solidFill>
                  <a:srgbClr val="404040"/>
                </a:solidFill>
                <a:latin typeface="微软雅黑"/>
                <a:ea typeface="微软雅黑"/>
                <a:cs typeface="微软雅黑"/>
                <a:sym typeface="微软雅黑"/>
              </a:rPr>
              <a:t>替代</a:t>
            </a:r>
            <a:r>
              <a:rPr lang="en-US" b="false" i="false" strike="noStrike" u="none" sz="2400">
                <a:solidFill>
                  <a:srgbClr val="404040"/>
                </a:solidFill>
                <a:latin typeface="Calibri"/>
                <a:ea typeface="Calibri"/>
                <a:cs typeface="Calibri"/>
                <a:sym typeface="Calibri"/>
              </a:rPr>
              <a:t> Autotuner</a:t>
            </a:r>
          </a:p>
          <a:p>
            <a:pPr algn="l" indent="-304800" lvl="1" marL="647700">
              <a:lnSpc>
                <a:spcPct val="91666"/>
              </a:lnSpc>
              <a:spcBef>
                <a:spcPts val="750"/>
              </a:spcBef>
              <a:buClr>
                <a:srgbClr val="404040"/>
              </a:buClr>
              <a:buChar char="•"/>
            </a:pPr>
            <a:r>
              <a:rPr lang="en-US" b="false" i="false" strike="noStrike" u="none" sz="2400">
                <a:solidFill>
                  <a:srgbClr val="404040"/>
                </a:solidFill>
                <a:latin typeface="Calibri"/>
                <a:ea typeface="Calibri"/>
                <a:cs typeface="Calibri"/>
                <a:sym typeface="Calibri"/>
              </a:rPr>
              <a:t>LibEntry </a:t>
            </a:r>
            <a:r>
              <a:rPr lang="en-US" b="false" i="false" strike="noStrike" u="none" sz="2400">
                <a:solidFill>
                  <a:srgbClr val="404040"/>
                </a:solidFill>
                <a:latin typeface="微软雅黑"/>
                <a:ea typeface="微软雅黑"/>
                <a:cs typeface="微软雅黑"/>
                <a:sym typeface="微软雅黑"/>
              </a:rPr>
              <a:t>独立管理</a:t>
            </a:r>
            <a:r>
              <a:rPr lang="en-US" b="false" i="false" strike="noStrike" u="none" sz="2400">
                <a:solidFill>
                  <a:srgbClr val="404040"/>
                </a:solidFill>
                <a:latin typeface="Calibri"/>
                <a:ea typeface="Calibri"/>
                <a:cs typeface="Calibri"/>
                <a:sym typeface="Calibri"/>
              </a:rPr>
              <a:t> kernel_cache</a:t>
            </a:r>
            <a:r>
              <a:rPr lang="en-US" b="false" i="false" strike="noStrike" u="none" sz="2400">
                <a:solidFill>
                  <a:srgbClr val="404040"/>
                </a:solidFill>
                <a:latin typeface="微软雅黑"/>
                <a:ea typeface="微软雅黑"/>
                <a:cs typeface="微软雅黑"/>
                <a:sym typeface="微软雅黑"/>
              </a:rPr>
              <a:t>，绕过</a:t>
            </a:r>
            <a:r>
              <a:rPr lang="en-US" b="false" i="false" strike="noStrike" u="none" sz="2400">
                <a:solidFill>
                  <a:srgbClr val="404040"/>
                </a:solidFill>
                <a:latin typeface="Calibri"/>
                <a:ea typeface="Calibri"/>
                <a:cs typeface="Calibri"/>
                <a:sym typeface="Calibri"/>
              </a:rPr>
              <a:t> Triton </a:t>
            </a:r>
            <a:r>
              <a:rPr lang="en-US" b="false" i="false" strike="noStrike" u="none" sz="2400">
                <a:solidFill>
                  <a:srgbClr val="404040"/>
                </a:solidFill>
                <a:latin typeface="微软雅黑"/>
                <a:ea typeface="微软雅黑"/>
                <a:cs typeface="微软雅黑"/>
                <a:sym typeface="微软雅黑"/>
              </a:rPr>
              <a:t>原生</a:t>
            </a:r>
            <a:r>
              <a:rPr lang="en-US" b="false" i="false" strike="noStrike" u="none" sz="2400">
                <a:solidFill>
                  <a:srgbClr val="404040"/>
                </a:solidFill>
                <a:latin typeface="Calibri"/>
                <a:ea typeface="Calibri"/>
                <a:cs typeface="Calibri"/>
                <a:sym typeface="Calibri"/>
              </a:rPr>
              <a:t> Autotuner </a:t>
            </a:r>
            <a:r>
              <a:rPr lang="en-US" b="false" i="false" strike="noStrike" u="none" sz="2400">
                <a:solidFill>
                  <a:srgbClr val="404040"/>
                </a:solidFill>
                <a:latin typeface="微软雅黑"/>
                <a:ea typeface="微软雅黑"/>
                <a:cs typeface="微软雅黑"/>
                <a:sym typeface="微软雅黑"/>
              </a:rPr>
              <a:t>运行时</a:t>
            </a:r>
          </a:p>
          <a:p>
            <a:pPr algn="l" indent="-304800" marL="304800">
              <a:lnSpc>
                <a:spcPct val="91666"/>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首次调用触发</a:t>
            </a:r>
            <a:r>
              <a:rPr lang="en-US" b="false" i="false" strike="noStrike" u="none" sz="2400">
                <a:solidFill>
                  <a:srgbClr val="404040"/>
                </a:solidFill>
                <a:latin typeface="Calibri"/>
                <a:ea typeface="Calibri"/>
                <a:cs typeface="Calibri"/>
                <a:sym typeface="Calibri"/>
              </a:rPr>
              <a:t> JIT </a:t>
            </a:r>
            <a:r>
              <a:rPr lang="en-US" b="false" i="false" strike="noStrike" u="none" sz="2400">
                <a:solidFill>
                  <a:srgbClr val="404040"/>
                </a:solidFill>
                <a:latin typeface="微软雅黑"/>
                <a:ea typeface="微软雅黑"/>
                <a:cs typeface="微软雅黑"/>
                <a:sym typeface="微软雅黑"/>
              </a:rPr>
              <a:t>编译，</a:t>
            </a:r>
            <a:r>
              <a:rPr lang="en-US" b="false" i="false" strike="noStrike" u="none" sz="2400">
                <a:solidFill>
                  <a:srgbClr val="404040"/>
                </a:solidFill>
                <a:latin typeface="Calibri"/>
                <a:ea typeface="Calibri"/>
                <a:cs typeface="Calibri"/>
                <a:sym typeface="Calibri"/>
              </a:rPr>
              <a:t>LibEntry </a:t>
            </a:r>
            <a:r>
              <a:rPr lang="en-US" b="false" i="false" strike="noStrike" u="none" sz="2400">
                <a:solidFill>
                  <a:srgbClr val="404040"/>
                </a:solidFill>
                <a:latin typeface="微软雅黑"/>
                <a:ea typeface="微软雅黑"/>
                <a:cs typeface="微软雅黑"/>
                <a:sym typeface="微软雅黑"/>
              </a:rPr>
              <a:t>独立管理缓存以规避</a:t>
            </a:r>
            <a:r>
              <a:rPr lang="en-US" b="false" i="false" strike="noStrike" u="none" sz="2400">
                <a:solidFill>
                  <a:srgbClr val="404040"/>
                </a:solidFill>
                <a:latin typeface="Calibri"/>
                <a:ea typeface="Calibri"/>
                <a:cs typeface="Calibri"/>
                <a:sym typeface="Calibri"/>
              </a:rPr>
              <a:t> Autotuner </a:t>
            </a:r>
            <a:r>
              <a:rPr lang="en-US" b="false" i="false" strike="noStrike" u="none" sz="2400">
                <a:solidFill>
                  <a:srgbClr val="404040"/>
                </a:solidFill>
                <a:latin typeface="微软雅黑"/>
                <a:ea typeface="微软雅黑"/>
                <a:cs typeface="微软雅黑"/>
                <a:sym typeface="微软雅黑"/>
              </a:rPr>
              <a:t>开销</a:t>
            </a:r>
          </a:p>
          <a:p>
            <a:pPr algn="l" indent="-304800" lvl="1" marL="647700">
              <a:lnSpc>
                <a:spcPct val="91666"/>
              </a:lnSpc>
              <a:spcBef>
                <a:spcPts val="750"/>
              </a:spcBef>
              <a:buClr>
                <a:srgbClr val="404040"/>
              </a:buClr>
              <a:buChar char="•"/>
            </a:pPr>
            <a:r>
              <a:rPr lang="en-US" b="false" i="false" strike="noStrike" u="none" sz="2400">
                <a:solidFill>
                  <a:srgbClr val="404040"/>
                </a:solidFill>
                <a:latin typeface="Calibri"/>
                <a:ea typeface="Calibri"/>
                <a:cs typeface="Calibri"/>
                <a:sym typeface="Calibri"/>
              </a:rPr>
              <a:t>@triton.jit → Triton Compiler → PTX / ISA</a:t>
            </a:r>
            <a:r>
              <a:rPr lang="en-US" b="false" i="false" strike="noStrike" u="none" sz="2400">
                <a:solidFill>
                  <a:srgbClr val="404040"/>
                </a:solidFill>
                <a:latin typeface="微软雅黑"/>
                <a:ea typeface="微软雅黑"/>
                <a:cs typeface="微软雅黑"/>
                <a:sym typeface="微软雅黑"/>
              </a:rPr>
              <a:t>（因后端而异）</a:t>
            </a:r>
          </a:p>
          <a:p>
            <a:pPr algn="l" indent="-304800" lvl="1" marL="647700">
              <a:lnSpc>
                <a:spcPct val="91666"/>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编译产物缓存于</a:t>
            </a:r>
            <a:r>
              <a:rPr lang="en-US" b="false" i="false" strike="noStrike" u="none" sz="2400">
                <a:solidFill>
                  <a:srgbClr val="404040"/>
                </a:solidFill>
                <a:latin typeface="Calibri"/>
                <a:ea typeface="Calibri"/>
                <a:cs typeface="Calibri"/>
                <a:sym typeface="Calibri"/>
              </a:rPr>
              <a:t> kernel_cache</a:t>
            </a:r>
            <a:r>
              <a:rPr lang="en-US" b="false" i="false" strike="noStrike" u="none" sz="2400">
                <a:solidFill>
                  <a:srgbClr val="404040"/>
                </a:solidFill>
                <a:latin typeface="微软雅黑"/>
                <a:ea typeface="微软雅黑"/>
                <a:cs typeface="微软雅黑"/>
                <a:sym typeface="微软雅黑"/>
              </a:rPr>
              <a:t>，后续调用直接命中</a:t>
            </a:r>
          </a:p>
          <a:p>
            <a:pPr algn="l" indent="-304800" marL="304800">
              <a:lnSpc>
                <a:spcPct val="91666"/>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LibTuner — </a:t>
            </a:r>
            <a:r>
              <a:rPr lang="en-US" b="false" i="false" strike="noStrike" u="none" sz="2400">
                <a:solidFill>
                  <a:srgbClr val="404040"/>
                </a:solidFill>
                <a:latin typeface="微软雅黑"/>
                <a:ea typeface="微软雅黑"/>
                <a:cs typeface="微软雅黑"/>
                <a:sym typeface="微软雅黑"/>
              </a:rPr>
              <a:t>超参搜索</a:t>
            </a:r>
          </a:p>
          <a:p>
            <a:pPr algn="l" indent="-304800" lvl="1" marL="647700">
              <a:lnSpc>
                <a:spcPct val="91666"/>
              </a:lnSpc>
              <a:spcBef>
                <a:spcPts val="750"/>
              </a:spcBef>
              <a:buClr>
                <a:srgbClr val="404040"/>
              </a:buClr>
              <a:buChar char="•"/>
            </a:pPr>
            <a:r>
              <a:rPr lang="en-US" b="false" i="false" strike="noStrike" u="none" sz="2400">
                <a:solidFill>
                  <a:srgbClr val="404040"/>
                </a:solidFill>
                <a:latin typeface="Calibri"/>
                <a:ea typeface="Calibri"/>
                <a:cs typeface="Calibri"/>
                <a:sym typeface="Calibri"/>
              </a:rPr>
              <a:t>BenchmarkCache </a:t>
            </a:r>
            <a:r>
              <a:rPr lang="en-US" b="false" i="false" strike="noStrike" u="none" sz="2400">
                <a:solidFill>
                  <a:srgbClr val="404040"/>
                </a:solidFill>
                <a:latin typeface="微软雅黑"/>
                <a:ea typeface="微软雅黑"/>
                <a:cs typeface="微软雅黑"/>
                <a:sym typeface="微软雅黑"/>
              </a:rPr>
              <a:t>记录</a:t>
            </a:r>
            <a:r>
              <a:rPr lang="en-US" b="false" i="false" strike="noStrike" u="none" sz="2400">
                <a:solidFill>
                  <a:srgbClr val="404040"/>
                </a:solidFill>
                <a:latin typeface="Calibri"/>
                <a:ea typeface="Calibri"/>
                <a:cs typeface="Calibri"/>
                <a:sym typeface="Calibri"/>
              </a:rPr>
              <a:t> BLOCK_M/N/K</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num_warps</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stages </a:t>
            </a:r>
            <a:r>
              <a:rPr lang="en-US" b="false" i="false" strike="noStrike" u="none" sz="2400">
                <a:solidFill>
                  <a:srgbClr val="404040"/>
                </a:solidFill>
                <a:latin typeface="微软雅黑"/>
                <a:ea typeface="微软雅黑"/>
                <a:cs typeface="微软雅黑"/>
                <a:sym typeface="微软雅黑"/>
              </a:rPr>
              <a:t>等最优配置</a:t>
            </a:r>
          </a:p>
          <a:p>
            <a:pPr algn="l" indent="0">
              <a:lnSpc>
                <a:spcPct val="91666"/>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91666"/>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6" id="6"/>
          <p:cNvSpPr/>
          <p:nvPr/>
        </p:nvSpPr>
        <p:spPr>
          <a:xfrm rot="0" flipH="false" flipV="false">
            <a:off x="741680" y="5811520"/>
            <a:ext cx="10874375" cy="365760"/>
          </a:xfrm>
          <a:prstGeom prst="rect">
            <a:avLst/>
          </a:prstGeom>
          <a:solidFill>
            <a:srgbClr val="8B0012">
              <a:alpha val="100000"/>
            </a:srgbClr>
          </a:solidFill>
          <a:ln w="12700">
            <a:noFill/>
            <a:prstDash val="solid"/>
          </a:ln>
          <a:effectLst>
            <a:outerShdw dir="8100000" dist="38100" blurRad="101600" algn="bl" rotWithShape="false">
              <a:srgbClr val="000000">
                <a:alpha val="18000"/>
              </a:srgbClr>
            </a:outerShdw>
          </a:effectLst>
        </p:spPr>
        <p:txBody>
          <a:bodyPr anchor="t" rtlCol="false" wrap="square" lIns="91440" rIns="91440" tIns="45720" bIns="45720">
            <a:noAutofit/>
          </a:bodyPr>
          <a:lstStyle/>
          <a:p>
            <a:pPr algn="ctr">
              <a:defRPr/>
            </a:pPr>
            <a:endParaRPr/>
          </a:p>
        </p:txBody>
      </p:sp>
      <p:sp>
        <p:nvSpPr>
          <p:cNvPr name="AutoShape 7" id="7"/>
          <p:cNvSpPr/>
          <p:nvPr/>
        </p:nvSpPr>
        <p:spPr>
          <a:xfrm rot="0" flipH="false" flipV="false">
            <a:off x="787400" y="5811520"/>
            <a:ext cx="10758805" cy="365760"/>
          </a:xfrm>
          <a:prstGeom prst="rect">
            <a:avLst/>
          </a:prstGeom>
          <a:noFill/>
          <a:ln w="12700">
            <a:noFill/>
            <a:prstDash val="solid"/>
          </a:ln>
        </p:spPr>
        <p:txBody>
          <a:bodyPr anchor="ctr" rtlCol="false" wrap="square" lIns="0" rIns="0" tIns="0" bIns="0">
            <a:noAutofit/>
          </a:bodyPr>
          <a:lstStyle/>
          <a:p>
            <a:pPr algn="l" indent="0">
              <a:lnSpc>
                <a:spcPct val="100000"/>
              </a:lnSpc>
              <a:defRPr/>
            </a:pPr>
            <a:r>
              <a:rPr lang="en-US" b="true" i="false" strike="noStrike" u="none" sz="1400">
                <a:solidFill>
                  <a:srgbClr val="FFFFFF"/>
                </a:solidFill>
                <a:latin typeface="Calibri"/>
                <a:ea typeface="Calibri"/>
                <a:cs typeface="Calibri"/>
                <a:sym typeface="Calibri"/>
              </a:rPr>
              <a:t>★  第1次调用 → Triton JIT 编译（较慢）    |    后续调用 → kernel_cache 直接命中（快）    |    冷启动优化：预加载 ConfigCache</a:t>
            </a:r>
            <a:endParaRPr lang="en-US" sz="1100"/>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FlagGems </a:t>
            </a:r>
            <a:r>
              <a:rPr lang="en-US" b="false" i="false" strike="noStrike" u="none" sz="3600">
                <a:solidFill>
                  <a:srgbClr val="262626"/>
                </a:solidFill>
                <a:latin typeface="微软雅黑"/>
                <a:ea typeface="微软雅黑"/>
                <a:cs typeface="微软雅黑"/>
                <a:sym typeface="微软雅黑"/>
              </a:rPr>
              <a:t>运行时加载</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[PY] </a:t>
            </a:r>
            <a:r>
              <a:rPr lang="en-US" b="false" i="false" strike="noStrike" u="none" sz="2400">
                <a:solidFill>
                  <a:srgbClr val="404040"/>
                </a:solidFill>
                <a:latin typeface="微软雅黑"/>
                <a:ea typeface="微软雅黑"/>
                <a:cs typeface="微软雅黑"/>
                <a:sym typeface="微软雅黑"/>
              </a:rPr>
              <a:t>纯</a:t>
            </a:r>
            <a:r>
              <a:rPr lang="en-US" b="false" i="false" strike="noStrike" u="none" sz="2400">
                <a:solidFill>
                  <a:srgbClr val="404040"/>
                </a:solidFill>
                <a:latin typeface="Calibri"/>
                <a:ea typeface="Calibri"/>
                <a:cs typeface="Calibri"/>
                <a:sym typeface="Calibri"/>
              </a:rPr>
              <a:t> Python </a:t>
            </a:r>
            <a:r>
              <a:rPr lang="en-US" b="false" i="false" strike="noStrike" u="none" sz="2400">
                <a:solidFill>
                  <a:srgbClr val="404040"/>
                </a:solidFill>
                <a:latin typeface="微软雅黑"/>
                <a:ea typeface="微软雅黑"/>
                <a:cs typeface="微软雅黑"/>
                <a:sym typeface="微软雅黑"/>
              </a:rPr>
              <a:t>模式（</a:t>
            </a:r>
            <a:r>
              <a:rPr lang="en-US" b="false" i="false" strike="noStrike" u="none" sz="2400">
                <a:solidFill>
                  <a:srgbClr val="404040"/>
                </a:solidFill>
                <a:latin typeface="Calibri"/>
                <a:ea typeface="Calibri"/>
                <a:cs typeface="Calibri"/>
                <a:sym typeface="Calibri"/>
              </a:rPr>
              <a:t>Pure Package</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pip install flaggems</a:t>
            </a:r>
            <a:r>
              <a:rPr lang="en-US" b="false" i="false" strike="noStrike" u="none" sz="2000">
                <a:solidFill>
                  <a:srgbClr val="404040"/>
                </a:solidFill>
                <a:latin typeface="微软雅黑"/>
                <a:ea typeface="微软雅黑"/>
                <a:cs typeface="微软雅黑"/>
                <a:sym typeface="微软雅黑"/>
              </a:rPr>
              <a:t>（无</a:t>
            </a:r>
            <a:r>
              <a:rPr lang="en-US" b="false" i="false" strike="noStrike" u="none" sz="2000">
                <a:solidFill>
                  <a:srgbClr val="404040"/>
                </a:solidFill>
                <a:latin typeface="Calibri"/>
                <a:ea typeface="Calibri"/>
                <a:cs typeface="Calibri"/>
                <a:sym typeface="Calibri"/>
              </a:rPr>
              <a:t> C++ </a:t>
            </a:r>
            <a:r>
              <a:rPr lang="en-US" b="false" i="false" strike="noStrike" u="none" sz="2000">
                <a:solidFill>
                  <a:srgbClr val="404040"/>
                </a:solidFill>
                <a:latin typeface="微软雅黑"/>
                <a:ea typeface="微软雅黑"/>
                <a:cs typeface="微软雅黑"/>
                <a:sym typeface="微软雅黑"/>
              </a:rPr>
              <a:t>编译）</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ops/__init__.py </a:t>
            </a:r>
            <a:r>
              <a:rPr lang="en-US" b="false" i="false" strike="noStrike" u="none" sz="2000">
                <a:solidFill>
                  <a:srgbClr val="404040"/>
                </a:solidFill>
                <a:latin typeface="微软雅黑"/>
                <a:ea typeface="微软雅黑"/>
                <a:cs typeface="微软雅黑"/>
                <a:sym typeface="微软雅黑"/>
              </a:rPr>
              <a:t>通过</a:t>
            </a:r>
            <a:r>
              <a:rPr lang="en-US" b="false" i="false" strike="noStrike" u="none" sz="2000">
                <a:solidFill>
                  <a:srgbClr val="404040"/>
                </a:solidFill>
                <a:latin typeface="Calibri"/>
                <a:ea typeface="Calibri"/>
                <a:cs typeface="Calibri"/>
                <a:sym typeface="Calibri"/>
              </a:rPr>
              <a:t> torch.library </a:t>
            </a:r>
            <a:r>
              <a:rPr lang="en-US" b="false" i="false" strike="noStrike" u="none" sz="2000">
                <a:solidFill>
                  <a:srgbClr val="404040"/>
                </a:solidFill>
                <a:latin typeface="微软雅黑"/>
                <a:ea typeface="微软雅黑"/>
                <a:cs typeface="微软雅黑"/>
                <a:sym typeface="微软雅黑"/>
              </a:rPr>
              <a:t>注册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dispatch </a:t>
            </a:r>
            <a:r>
              <a:rPr lang="en-US" b="false" i="false" strike="noStrike" u="none" sz="2000">
                <a:solidFill>
                  <a:srgbClr val="404040"/>
                </a:solidFill>
                <a:latin typeface="微软雅黑"/>
                <a:ea typeface="微软雅黑"/>
                <a:cs typeface="微软雅黑"/>
                <a:sym typeface="微软雅黑"/>
              </a:rPr>
              <a:t>路径：</a:t>
            </a:r>
            <a:r>
              <a:rPr lang="en-US" b="false" i="false" strike="noStrike" u="none" sz="2000">
                <a:solidFill>
                  <a:srgbClr val="404040"/>
                </a:solidFill>
                <a:latin typeface="Calibri"/>
                <a:ea typeface="Calibri"/>
                <a:cs typeface="Calibri"/>
                <a:sym typeface="Calibri"/>
              </a:rPr>
              <a:t>Python </a:t>
            </a:r>
            <a:r>
              <a:rPr lang="en-US" b="false" i="false" strike="noStrike" u="none" sz="2000">
                <a:solidFill>
                  <a:srgbClr val="404040"/>
                </a:solidFill>
                <a:latin typeface="微软雅黑"/>
                <a:ea typeface="微软雅黑"/>
                <a:cs typeface="微软雅黑"/>
                <a:sym typeface="微软雅黑"/>
              </a:rPr>
              <a:t>函数调用栈</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适合快速验证</a:t>
            </a:r>
            <a:r>
              <a:rPr lang="en-US" b="false" i="false" strike="noStrike" u="none" sz="2000">
                <a:solidFill>
                  <a:srgbClr val="404040"/>
                </a:solidFill>
                <a:latin typeface="Calibri"/>
                <a:ea typeface="Calibri"/>
                <a:cs typeface="Calibri"/>
                <a:sym typeface="Calibri"/>
              </a:rPr>
              <a:t> / CI </a:t>
            </a:r>
            <a:r>
              <a:rPr lang="en-US" b="false" i="false" strike="noStrike" u="none" sz="2000">
                <a:solidFill>
                  <a:srgbClr val="404040"/>
                </a:solidFill>
                <a:latin typeface="微软雅黑"/>
                <a:ea typeface="微软雅黑"/>
                <a:cs typeface="微软雅黑"/>
                <a:sym typeface="微软雅黑"/>
              </a:rPr>
              <a:t>测试环境</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开销：</a:t>
            </a:r>
            <a:r>
              <a:rPr lang="en-US" b="false" i="false" strike="noStrike" u="none" sz="2000">
                <a:solidFill>
                  <a:srgbClr val="404040"/>
                </a:solidFill>
                <a:latin typeface="Calibri"/>
                <a:ea typeface="Calibri"/>
                <a:cs typeface="Calibri"/>
                <a:sym typeface="Calibri"/>
              </a:rPr>
              <a:t>Python </a:t>
            </a:r>
            <a:r>
              <a:rPr lang="en-US" b="false" i="false" strike="noStrike" u="none" sz="2000">
                <a:solidFill>
                  <a:srgbClr val="404040"/>
                </a:solidFill>
                <a:latin typeface="微软雅黑"/>
                <a:ea typeface="微软雅黑"/>
                <a:cs typeface="微软雅黑"/>
                <a:sym typeface="微软雅黑"/>
              </a:rPr>
              <a:t>调用帧</a:t>
            </a:r>
            <a:r>
              <a:rPr lang="en-US" b="false" i="false" strike="noStrike" u="none" sz="2000">
                <a:solidFill>
                  <a:srgbClr val="404040"/>
                </a:solidFill>
                <a:latin typeface="Calibri"/>
                <a:ea typeface="Calibri"/>
                <a:cs typeface="Calibri"/>
                <a:sym typeface="Calibri"/>
              </a:rPr>
              <a:t> + GIL </a:t>
            </a:r>
            <a:r>
              <a:rPr lang="en-US" b="false" i="false" strike="noStrike" u="none" sz="2000">
                <a:solidFill>
                  <a:srgbClr val="404040"/>
                </a:solidFill>
                <a:latin typeface="微软雅黑"/>
                <a:ea typeface="微软雅黑"/>
                <a:cs typeface="微软雅黑"/>
                <a:sym typeface="微软雅黑"/>
              </a:rPr>
              <a:t>竞争</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6" id="6"/>
          <p:cNvSpPr/>
          <p:nvPr/>
        </p:nvSpPr>
        <p:spPr>
          <a:xfrm rot="0" flipH="false" flipV="false">
            <a:off x="5995035" y="1327785"/>
            <a:ext cx="6196965" cy="4853305"/>
          </a:xfrm>
          <a:prstGeom prst="rect">
            <a:avLst/>
          </a:prstGeom>
          <a:noFill/>
          <a:ln w="12700">
            <a:noFill/>
            <a:prstDash val="solid"/>
          </a:ln>
        </p:spPr>
        <p:txBody>
          <a:bodyPr anchor="t" rtlCol="false" vert="horz" wrap="square" lIns="91440" rIns="91440" tIns="45720" bIns="45720">
            <a:normAutofit lnSpcReduction="0"/>
          </a:bodyPr>
          <a:lstStyle/>
          <a:p>
            <a:pPr algn="l" indent="-304800" marL="304800">
              <a:lnSpc>
                <a:spcPct val="100000"/>
              </a:lnSpc>
              <a:spcBef>
                <a:spcPts val="1500"/>
              </a:spcBef>
              <a:buClr>
                <a:srgbClr val="404040"/>
              </a:buClr>
              <a:buChar char="•"/>
              <a:defRPr/>
            </a:pPr>
            <a:r>
              <a:rPr lang="en-US" b="false" i="false" strike="noStrike" u="none" sz="2400">
                <a:solidFill>
                  <a:srgbClr val="404040"/>
                </a:solidFill>
                <a:latin typeface="Calibri"/>
                <a:ea typeface="Calibri"/>
                <a:cs typeface="Calibri"/>
                <a:sym typeface="Calibri"/>
              </a:rPr>
              <a:t>[C++] C++ </a:t>
            </a:r>
            <a:r>
              <a:rPr lang="en-US" b="false" i="false" strike="noStrike" u="none" sz="2400">
                <a:solidFill>
                  <a:srgbClr val="404040"/>
                </a:solidFill>
                <a:latin typeface="微软雅黑"/>
                <a:ea typeface="微软雅黑"/>
                <a:cs typeface="微软雅黑"/>
                <a:sym typeface="微软雅黑"/>
              </a:rPr>
              <a:t>扩展模式（</a:t>
            </a:r>
            <a:r>
              <a:rPr lang="en-US" b="false" i="false" strike="noStrike" u="none" sz="2400">
                <a:solidFill>
                  <a:srgbClr val="404040"/>
                </a:solidFill>
                <a:latin typeface="Calibri"/>
                <a:ea typeface="Calibri"/>
                <a:cs typeface="Calibri"/>
                <a:sym typeface="Calibri"/>
              </a:rPr>
              <a:t>with C++ Runtime</a:t>
            </a:r>
            <a:r>
              <a:rPr lang="en-US" b="false" i="false" strike="noStrike" u="none" sz="2400">
                <a:solidFill>
                  <a:srgbClr val="404040"/>
                </a:solidFill>
                <a:latin typeface="微软雅黑"/>
                <a:ea typeface="微软雅黑"/>
                <a:cs typeface="微软雅黑"/>
                <a:sym typeface="微软雅黑"/>
              </a:rPr>
              <a:t>）</a:t>
            </a:r>
            <a:endParaRPr lang="en-US" sz="1100"/>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pip install flaggems[cpp]</a:t>
            </a:r>
            <a:r>
              <a:rPr lang="en-US" b="false" i="false" strike="noStrike" u="none" sz="2000">
                <a:solidFill>
                  <a:srgbClr val="404040"/>
                </a:solidFill>
                <a:latin typeface="微软雅黑"/>
                <a:ea typeface="微软雅黑"/>
                <a:cs typeface="微软雅黑"/>
                <a:sym typeface="微软雅黑"/>
              </a:rPr>
              <a:t>（编译</a:t>
            </a:r>
            <a:r>
              <a:rPr lang="en-US" b="false" i="false" strike="noStrike" u="none" sz="2000">
                <a:solidFill>
                  <a:srgbClr val="404040"/>
                </a:solidFill>
                <a:latin typeface="Calibri"/>
                <a:ea typeface="Calibri"/>
                <a:cs typeface="Calibri"/>
                <a:sym typeface="Calibri"/>
              </a:rPr>
              <a:t> cstub.cpp</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lib/cstub.cpp → TORCH_LIBRARY_IMPL </a:t>
            </a:r>
            <a:r>
              <a:rPr lang="en-US" b="false" i="false" strike="noStrike" u="none" sz="2000">
                <a:solidFill>
                  <a:srgbClr val="404040"/>
                </a:solidFill>
                <a:latin typeface="微软雅黑"/>
                <a:ea typeface="微软雅黑"/>
                <a:cs typeface="微软雅黑"/>
                <a:sym typeface="微软雅黑"/>
              </a:rPr>
              <a:t>宏注册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dispatch </a:t>
            </a:r>
            <a:r>
              <a:rPr lang="en-US" b="false" i="false" strike="noStrike" u="none" sz="2000">
                <a:solidFill>
                  <a:srgbClr val="404040"/>
                </a:solidFill>
                <a:latin typeface="微软雅黑"/>
                <a:ea typeface="微软雅黑"/>
                <a:cs typeface="微软雅黑"/>
                <a:sym typeface="微软雅黑"/>
              </a:rPr>
              <a:t>路径：</a:t>
            </a:r>
            <a:r>
              <a:rPr lang="en-US" b="false" i="false" strike="noStrike" u="none" sz="2000">
                <a:solidFill>
                  <a:srgbClr val="404040"/>
                </a:solidFill>
                <a:latin typeface="Calibri"/>
                <a:ea typeface="Calibri"/>
                <a:cs typeface="Calibri"/>
                <a:sym typeface="Calibri"/>
              </a:rPr>
              <a:t>C++ </a:t>
            </a:r>
            <a:r>
              <a:rPr lang="en-US" b="false" i="false" strike="noStrike" u="none" sz="2000">
                <a:solidFill>
                  <a:srgbClr val="404040"/>
                </a:solidFill>
                <a:latin typeface="微软雅黑"/>
                <a:ea typeface="微软雅黑"/>
                <a:cs typeface="微软雅黑"/>
                <a:sym typeface="微软雅黑"/>
              </a:rPr>
              <a:t>函数指针，零</a:t>
            </a:r>
            <a:r>
              <a:rPr lang="en-US" b="false" i="false" strike="noStrike" u="none" sz="2000">
                <a:solidFill>
                  <a:srgbClr val="404040"/>
                </a:solidFill>
                <a:latin typeface="Calibri"/>
                <a:ea typeface="Calibri"/>
                <a:cs typeface="Calibri"/>
                <a:sym typeface="Calibri"/>
              </a:rPr>
              <a:t> Python </a:t>
            </a:r>
            <a:r>
              <a:rPr lang="en-US" b="false" i="false" strike="noStrike" u="none" sz="2000">
                <a:solidFill>
                  <a:srgbClr val="404040"/>
                </a:solidFill>
                <a:latin typeface="微软雅黑"/>
                <a:ea typeface="微软雅黑"/>
                <a:cs typeface="微软雅黑"/>
                <a:sym typeface="微软雅黑"/>
              </a:rPr>
              <a:t>开销</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适合生产部署</a:t>
            </a:r>
            <a:r>
              <a:rPr lang="en-US" b="false" i="false" strike="noStrike" u="none" sz="2000">
                <a:solidFill>
                  <a:srgbClr val="404040"/>
                </a:solidFill>
                <a:latin typeface="Calibri"/>
                <a:ea typeface="Calibri"/>
                <a:cs typeface="Calibri"/>
                <a:sym typeface="Calibri"/>
              </a:rPr>
              <a:t> / </a:t>
            </a:r>
            <a:r>
              <a:rPr lang="en-US" b="false" i="false" strike="noStrike" u="none" sz="2000">
                <a:solidFill>
                  <a:srgbClr val="404040"/>
                </a:solidFill>
                <a:latin typeface="微软雅黑"/>
                <a:ea typeface="微软雅黑"/>
                <a:cs typeface="微软雅黑"/>
                <a:sym typeface="微软雅黑"/>
              </a:rPr>
              <a:t>推理加速场景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显著降低短算子</a:t>
            </a:r>
            <a:r>
              <a:rPr lang="en-US" b="false" i="false" strike="noStrike" u="none" sz="2000">
                <a:solidFill>
                  <a:srgbClr val="404040"/>
                </a:solidFill>
                <a:latin typeface="Calibri"/>
                <a:ea typeface="Calibri"/>
                <a:cs typeface="Calibri"/>
                <a:sym typeface="Calibri"/>
              </a:rPr>
              <a:t> dispatch </a:t>
            </a:r>
            <a:r>
              <a:rPr lang="en-US" b="false" i="false" strike="noStrike" u="none" sz="2000">
                <a:solidFill>
                  <a:srgbClr val="404040"/>
                </a:solidFill>
                <a:latin typeface="微软雅黑"/>
                <a:ea typeface="微软雅黑"/>
                <a:cs typeface="微软雅黑"/>
                <a:sym typeface="微软雅黑"/>
              </a:rPr>
              <a:t>延迟</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sp>
        <p:nvSpPr>
          <p:cNvPr name="AutoShape 7" id="7"/>
          <p:cNvSpPr/>
          <p:nvPr/>
        </p:nvSpPr>
        <p:spPr>
          <a:xfrm rot="0" flipH="false" flipV="false">
            <a:off x="5589905" y="2496820"/>
            <a:ext cx="594360" cy="594360"/>
          </a:xfrm>
          <a:prstGeom prst="ellipse">
            <a:avLst/>
          </a:prstGeom>
          <a:solidFill>
            <a:srgbClr val="8B0012">
              <a:alpha val="100000"/>
            </a:srgbClr>
          </a:solidFill>
          <a:ln w="12700">
            <a:noFill/>
            <a:prstDash val="solid"/>
          </a:ln>
          <a:effectLst>
            <a:outerShdw dir="8100000" dist="38100" blurRad="101600" algn="bl" rotWithShape="false">
              <a:srgbClr val="000000">
                <a:alpha val="18000"/>
              </a:srgbClr>
            </a:outerShdw>
          </a:effectLst>
        </p:spPr>
        <p:txBody>
          <a:bodyPr anchor="t" rtlCol="false" wrap="square" lIns="91440" rIns="91440" tIns="45720" bIns="45720">
            <a:noAutofit/>
          </a:bodyPr>
          <a:lstStyle/>
          <a:p>
            <a:pPr algn="ctr">
              <a:defRPr/>
            </a:pPr>
            <a:endParaRPr/>
          </a:p>
        </p:txBody>
      </p:sp>
      <p:sp>
        <p:nvSpPr>
          <p:cNvPr name="AutoShape 8" id="8"/>
          <p:cNvSpPr/>
          <p:nvPr/>
        </p:nvSpPr>
        <p:spPr>
          <a:xfrm rot="0" flipH="false" flipV="false">
            <a:off x="5589905" y="2496820"/>
            <a:ext cx="594360" cy="594360"/>
          </a:xfrm>
          <a:prstGeom prst="rect">
            <a:avLst/>
          </a:prstGeom>
          <a:noFill/>
          <a:ln w="12700">
            <a:noFill/>
            <a:prstDash val="solid"/>
          </a:ln>
        </p:spPr>
        <p:txBody>
          <a:bodyPr anchor="ctr" rtlCol="false" wrap="square" lIns="91440" rIns="91440" tIns="45720" bIns="45720">
            <a:noAutofit/>
          </a:bodyPr>
          <a:lstStyle/>
          <a:p>
            <a:pPr algn="ctr" indent="0">
              <a:lnSpc>
                <a:spcPct val="100000"/>
              </a:lnSpc>
              <a:defRPr/>
            </a:pPr>
            <a:r>
              <a:rPr lang="en-US" b="true" i="false" strike="noStrike" u="none" sz="1300">
                <a:solidFill>
                  <a:srgbClr val="FFFFFF"/>
                </a:solidFill>
                <a:latin typeface="Calibri"/>
                <a:ea typeface="Calibri"/>
                <a:cs typeface="Calibri"/>
                <a:sym typeface="Calibri"/>
              </a:rPr>
              <a:t>VS</a:t>
            </a:r>
            <a:endParaRPr lang="en-US" sz="1100"/>
          </a:p>
        </p:txBody>
      </p:sp>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FlagTree </a:t>
            </a:r>
            <a:r>
              <a:rPr lang="en-US" b="false" i="false" strike="noStrike" u="none" sz="3600">
                <a:solidFill>
                  <a:srgbClr val="262626"/>
                </a:solidFill>
                <a:latin typeface="微软雅黑"/>
                <a:ea typeface="微软雅黑"/>
                <a:cs typeface="微软雅黑"/>
                <a:sym typeface="微软雅黑"/>
              </a:rPr>
              <a:t>系统总览</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统一多芯片</a:t>
            </a:r>
            <a:r>
              <a:rPr lang="en-US" b="false" i="false" strike="noStrike" u="none" sz="2400">
                <a:solidFill>
                  <a:srgbClr val="404040"/>
                </a:solidFill>
                <a:latin typeface="Calibri"/>
                <a:ea typeface="Calibri"/>
                <a:cs typeface="Calibri"/>
                <a:sym typeface="Calibri"/>
              </a:rPr>
              <a:t> AI </a:t>
            </a:r>
            <a:r>
              <a:rPr lang="en-US" b="false" i="false" strike="noStrike" u="none" sz="2400">
                <a:solidFill>
                  <a:srgbClr val="404040"/>
                </a:solidFill>
                <a:latin typeface="微软雅黑"/>
                <a:ea typeface="微软雅黑"/>
                <a:cs typeface="微软雅黑"/>
                <a:sym typeface="微软雅黑"/>
              </a:rPr>
              <a:t>算子编译器</a:t>
            </a:r>
            <a:r>
              <a:rPr lang="en-US" b="false" i="false" strike="noStrike" u="none" sz="2400">
                <a:solidFill>
                  <a:srgbClr val="404040"/>
                </a:solidFill>
                <a:latin typeface="Calibri"/>
                <a:ea typeface="Calibri"/>
                <a:cs typeface="Calibri"/>
                <a:sym typeface="Calibri"/>
              </a:rPr>
              <a:t> · </a:t>
            </a:r>
            <a:r>
              <a:rPr lang="en-US" b="false" i="false" strike="noStrike" u="none" sz="2400">
                <a:solidFill>
                  <a:srgbClr val="404040"/>
                </a:solidFill>
                <a:latin typeface="微软雅黑"/>
                <a:ea typeface="微软雅黑"/>
                <a:cs typeface="微软雅黑"/>
                <a:sym typeface="微软雅黑"/>
              </a:rPr>
              <a:t>基于</a:t>
            </a:r>
            <a:r>
              <a:rPr lang="en-US" b="false" i="false" strike="noStrike" u="none" sz="2400">
                <a:solidFill>
                  <a:srgbClr val="404040"/>
                </a:solidFill>
                <a:latin typeface="Calibri"/>
                <a:ea typeface="Calibri"/>
                <a:cs typeface="Calibri"/>
                <a:sym typeface="Calibri"/>
              </a:rPr>
              <a:t> Triton &amp; MLIR </a:t>
            </a:r>
            <a:r>
              <a:rPr lang="en-US" b="false" i="false" strike="noStrike" u="none" sz="2400">
                <a:solidFill>
                  <a:srgbClr val="404040"/>
                </a:solidFill>
                <a:latin typeface="微软雅黑"/>
                <a:ea typeface="微软雅黑"/>
                <a:cs typeface="微软雅黑"/>
                <a:sym typeface="微软雅黑"/>
              </a:rPr>
              <a:t>生态</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支持的芯片后端（</a:t>
            </a:r>
            <a:r>
              <a:rPr lang="en-US" b="false" i="false" strike="noStrike" u="none" sz="2400">
                <a:solidFill>
                  <a:srgbClr val="404040"/>
                </a:solidFill>
                <a:latin typeface="Calibri"/>
                <a:ea typeface="Calibri"/>
                <a:cs typeface="Calibri"/>
                <a:sym typeface="Calibri"/>
              </a:rPr>
              <a:t>10+ </a:t>
            </a:r>
            <a:r>
              <a:rPr lang="en-US" b="false" i="false" strike="noStrike" u="none" sz="2400">
                <a:solidFill>
                  <a:srgbClr val="404040"/>
                </a:solidFill>
                <a:latin typeface="微软雅黑"/>
                <a:ea typeface="微软雅黑"/>
                <a:cs typeface="微软雅黑"/>
                <a:sym typeface="微软雅黑"/>
              </a:rPr>
              <a:t>国内外主流</a:t>
            </a:r>
            <a:r>
              <a:rPr lang="en-US" b="false" i="false" strike="noStrike" u="none" sz="2400">
                <a:solidFill>
                  <a:srgbClr val="404040"/>
                </a:solidFill>
                <a:latin typeface="Calibri"/>
                <a:ea typeface="Calibri"/>
                <a:cs typeface="Calibri"/>
                <a:sym typeface="Calibri"/>
              </a:rPr>
              <a:t> AI </a:t>
            </a:r>
            <a:r>
              <a:rPr lang="en-US" b="false" i="false" strike="noStrike" u="none" sz="2400">
                <a:solidFill>
                  <a:srgbClr val="404040"/>
                </a:solidFill>
                <a:latin typeface="微软雅黑"/>
                <a:ea typeface="微软雅黑"/>
                <a:cs typeface="微软雅黑"/>
                <a:sym typeface="微软雅黑"/>
              </a:rPr>
              <a:t>芯片）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NVIDIA</a:t>
            </a:r>
            <a:r>
              <a:rPr lang="en-US" b="false" i="false" strike="noStrike" u="none" sz="2000">
                <a:solidFill>
                  <a:srgbClr val="404040"/>
                </a:solidFill>
                <a:latin typeface="微软雅黑"/>
                <a:ea typeface="微软雅黑"/>
                <a:cs typeface="微软雅黑"/>
                <a:sym typeface="微软雅黑"/>
              </a:rPr>
              <a:t>、寒武纪、清微智能、华为昇腾、摩尔线程等等</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多</a:t>
            </a:r>
            <a:r>
              <a:rPr lang="en-US" b="false" i="false" strike="noStrike" u="none" sz="2000">
                <a:solidFill>
                  <a:srgbClr val="404040"/>
                </a:solidFill>
                <a:latin typeface="Calibri"/>
                <a:ea typeface="Calibri"/>
                <a:cs typeface="Calibri"/>
                <a:sym typeface="Calibri"/>
              </a:rPr>
              <a:t> Triton </a:t>
            </a:r>
            <a:r>
              <a:rPr lang="en-US" b="false" i="false" strike="noStrike" u="none" sz="2000">
                <a:solidFill>
                  <a:srgbClr val="404040"/>
                </a:solidFill>
                <a:latin typeface="微软雅黑"/>
                <a:ea typeface="微软雅黑"/>
                <a:cs typeface="微软雅黑"/>
                <a:sym typeface="微软雅黑"/>
              </a:rPr>
              <a:t>版本分支（</a:t>
            </a:r>
            <a:r>
              <a:rPr lang="en-US" b="false" i="false" strike="noStrike" u="none" sz="2000">
                <a:solidFill>
                  <a:srgbClr val="404040"/>
                </a:solidFill>
                <a:latin typeface="Calibri"/>
                <a:ea typeface="Calibri"/>
                <a:cs typeface="Calibri"/>
                <a:sym typeface="Calibri"/>
              </a:rPr>
              <a:t>v3.1 ~ v3.5</a:t>
            </a:r>
            <a:r>
              <a:rPr lang="en-US" b="false" i="false" strike="noStrike" u="none" sz="2000">
                <a:solidFill>
                  <a:srgbClr val="404040"/>
                </a:solidFill>
                <a:latin typeface="微软雅黑"/>
                <a:ea typeface="微软雅黑"/>
                <a:cs typeface="微软雅黑"/>
                <a:sym typeface="微软雅黑"/>
              </a:rPr>
              <a:t>）并行维护，各后端独立</a:t>
            </a:r>
            <a:r>
              <a:rPr lang="en-US" b="false" i="false" strike="noStrike" u="none" sz="2000">
                <a:solidFill>
                  <a:srgbClr val="404040"/>
                </a:solidFill>
                <a:latin typeface="Calibri"/>
                <a:ea typeface="Calibri"/>
                <a:cs typeface="Calibri"/>
                <a:sym typeface="Calibri"/>
              </a:rPr>
              <a:t> CI/CD</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grpSp>
        <p:nvGrpSpPr>
          <p:cNvPr name="Group 6" id="6"/>
          <p:cNvGrpSpPr/>
          <p:nvPr/>
        </p:nvGrpSpPr>
        <p:grpSpPr>
          <a:xfrm>
            <a:off x="741680" y="3359150"/>
            <a:ext cx="10964545" cy="2765907"/>
            <a:chOff x="741680" y="3359150"/>
            <a:chExt cx="10964545" cy="2765907"/>
          </a:xfrm>
        </p:grpSpPr>
        <p:sp>
          <p:nvSpPr>
            <p:cNvPr name="AutoShape 7" id="7"/>
            <p:cNvSpPr/>
            <p:nvPr/>
          </p:nvSpPr>
          <p:spPr>
            <a:xfrm rot="0" flipH="false" flipV="false">
              <a:off x="741680" y="3359150"/>
              <a:ext cx="2582578" cy="2765907"/>
            </a:xfrm>
            <a:prstGeom prst="rect">
              <a:avLst/>
            </a:prstGeom>
            <a:solidFill>
              <a:srgbClr val="FBF0F1">
                <a:alpha val="100000"/>
              </a:srgbClr>
            </a:solidFill>
            <a:ln w="25400">
              <a:solidFill>
                <a:srgbClr val="8B0012">
                  <a:alpha val="100000"/>
                </a:srgbClr>
              </a:solidFill>
              <a:prstDash val="solid"/>
            </a:ln>
            <a:effectLst>
              <a:outerShdw dir="8100000" dist="25400" blurRad="63500" algn="bl" rotWithShape="false">
                <a:srgbClr val="8B0012">
                  <a:alpha val="12000"/>
                </a:srgbClr>
              </a:outerShdw>
            </a:effectLst>
          </p:spPr>
          <p:txBody>
            <a:bodyPr anchor="t" rtlCol="false" wrap="square" lIns="91440" rIns="91440" tIns="45720" bIns="45720">
              <a:noAutofit/>
            </a:bodyPr>
            <a:lstStyle/>
            <a:p>
              <a:pPr algn="ctr">
                <a:defRPr/>
              </a:pPr>
              <a:endParaRPr/>
            </a:p>
          </p:txBody>
        </p:sp>
        <p:sp>
          <p:nvSpPr>
            <p:cNvPr name="AutoShape 8" id="8"/>
            <p:cNvSpPr/>
            <p:nvPr/>
          </p:nvSpPr>
          <p:spPr>
            <a:xfrm rot="0" flipH="false" flipV="false">
              <a:off x="741680" y="3359150"/>
              <a:ext cx="2582578" cy="176428"/>
            </a:xfrm>
            <a:prstGeom prst="rect">
              <a:avLst/>
            </a:prstGeom>
            <a:solidFill>
              <a:srgbClr val="8B0012">
                <a:alpha val="100000"/>
              </a:srgbClr>
            </a:solidFill>
            <a:ln w="12700">
              <a:solidFill>
                <a:srgbClr val="8B0012">
                  <a:alpha val="100000"/>
                </a:srgbClr>
              </a:solidFill>
              <a:prstDash val="solid"/>
            </a:ln>
          </p:spPr>
          <p:txBody>
            <a:bodyPr anchor="t" rtlCol="false" wrap="square" lIns="91440" rIns="91440" tIns="45720" bIns="45720">
              <a:noAutofit/>
            </a:bodyPr>
            <a:lstStyle/>
            <a:p>
              <a:pPr algn="ctr">
                <a:defRPr/>
              </a:pPr>
              <a:endParaRPr/>
            </a:p>
          </p:txBody>
        </p:sp>
        <p:sp>
          <p:nvSpPr>
            <p:cNvPr name="AutoShape 9" id="9"/>
            <p:cNvSpPr/>
            <p:nvPr/>
          </p:nvSpPr>
          <p:spPr>
            <a:xfrm rot="0" flipH="false" flipV="false">
              <a:off x="741680" y="3552328"/>
              <a:ext cx="2582578" cy="610800"/>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1800">
                  <a:solidFill>
                    <a:srgbClr val="1C1C1C"/>
                  </a:solidFill>
                  <a:latin typeface="Arial"/>
                  <a:ea typeface="Arial"/>
                  <a:cs typeface="Arial"/>
                  <a:sym typeface="Arial"/>
                </a:rPr>
                <a:t>Python 前端</a:t>
              </a:r>
              <a:endParaRPr lang="en-US" sz="1100"/>
            </a:p>
          </p:txBody>
        </p:sp>
        <p:sp>
          <p:nvSpPr>
            <p:cNvPr name="AutoShape 10" id="10"/>
            <p:cNvSpPr/>
            <p:nvPr/>
          </p:nvSpPr>
          <p:spPr>
            <a:xfrm rot="0" flipH="false" flipV="false">
              <a:off x="741680" y="4227893"/>
              <a:ext cx="2582578" cy="1801133"/>
            </a:xfrm>
            <a:prstGeom prst="rect">
              <a:avLst/>
            </a:prstGeom>
            <a:noFill/>
            <a:ln w="12700">
              <a:noFill/>
              <a:prstDash val="solid"/>
            </a:ln>
          </p:spPr>
          <p:txBody>
            <a:bodyPr anchor="ctr" rtlCol="false" wrap="square" lIns="50800" rIns="50800" tIns="50800" bIns="50800">
              <a:noAutofit/>
            </a:bodyPr>
            <a:lstStyle/>
            <a:p>
              <a:pPr algn="ctr" indent="0">
                <a:lnSpc>
                  <a:spcPct val="100000"/>
                </a:lnSpc>
                <a:defRPr/>
              </a:pPr>
              <a:r>
                <a:rPr lang="en-US" b="true" i="false" strike="noStrike" u="none" sz="1600">
                  <a:solidFill>
                    <a:srgbClr val="7A6065"/>
                  </a:solidFill>
                  <a:latin typeface="Arial"/>
                  <a:ea typeface="Arial"/>
                  <a:cs typeface="Arial"/>
                  <a:sym typeface="Arial"/>
                </a:rPr>
                <a:t>@triton.jit</a:t>
              </a:r>
              <a:endParaRPr lang="en-US" sz="1100"/>
            </a:p>
            <a:p>
              <a:pPr algn="ctr" indent="0">
                <a:lnSpc>
                  <a:spcPct val="100000"/>
                </a:lnSpc>
              </a:pPr>
              <a:r>
                <a:rPr lang="en-US" b="true" i="false" strike="noStrike" u="none" sz="1600">
                  <a:solidFill>
                    <a:srgbClr val="7A6065"/>
                  </a:solidFill>
                  <a:latin typeface="Arial"/>
                  <a:ea typeface="Arial"/>
                  <a:cs typeface="Arial"/>
                  <a:sym typeface="Arial"/>
                </a:rPr>
                <a:t>FlagGems LibEntry</a:t>
              </a:r>
            </a:p>
          </p:txBody>
        </p:sp>
        <p:sp>
          <p:nvSpPr>
            <p:cNvPr name="AutoShape 11" id="11"/>
            <p:cNvSpPr/>
            <p:nvPr/>
          </p:nvSpPr>
          <p:spPr>
            <a:xfrm rot="0" flipH="false" flipV="false">
              <a:off x="3324258" y="4645514"/>
              <a:ext cx="211139" cy="80398"/>
            </a:xfrm>
            <a:prstGeom prst="rect">
              <a:avLst/>
            </a:prstGeom>
            <a:solidFill>
              <a:srgbClr val="7A6065">
                <a:alpha val="100000"/>
              </a:srgbClr>
            </a:solidFill>
            <a:ln w="12700">
              <a:solidFill>
                <a:srgbClr val="7A6065">
                  <a:alpha val="100000"/>
                </a:srgbClr>
              </a:solidFill>
              <a:prstDash val="solid"/>
            </a:ln>
          </p:spPr>
          <p:txBody>
            <a:bodyPr anchor="t" rtlCol="false" wrap="square" lIns="91440" rIns="91440" tIns="45720" bIns="45720">
              <a:noAutofit/>
            </a:bodyPr>
            <a:lstStyle/>
            <a:p>
              <a:pPr algn="ctr">
                <a:defRPr/>
              </a:pPr>
              <a:endParaRPr/>
            </a:p>
          </p:txBody>
        </p:sp>
        <p:sp>
          <p:nvSpPr>
            <p:cNvPr name="AutoShape 12" id="12"/>
            <p:cNvSpPr/>
            <p:nvPr/>
          </p:nvSpPr>
          <p:spPr>
            <a:xfrm rot="0" flipH="false" flipV="false">
              <a:off x="3465289" y="4509285"/>
              <a:ext cx="164672" cy="353974"/>
            </a:xfrm>
            <a:prstGeom prst="rect">
              <a:avLst/>
            </a:prstGeom>
            <a:noFill/>
            <a:ln w="12700">
              <a:noFill/>
              <a:prstDash val="solid"/>
            </a:ln>
          </p:spPr>
          <p:txBody>
            <a:bodyPr anchor="ctr" rtlCol="false" wrap="square" lIns="0" rIns="0" tIns="0" bIns="0">
              <a:noAutofit/>
            </a:bodyPr>
            <a:lstStyle/>
            <a:p>
              <a:pPr algn="l" indent="0">
                <a:lnSpc>
                  <a:spcPct val="100000"/>
                </a:lnSpc>
                <a:defRPr/>
              </a:pPr>
              <a:r>
                <a:rPr lang="en-US" b="true" i="false" strike="noStrike" u="none" sz="1200">
                  <a:solidFill>
                    <a:srgbClr val="7A6065"/>
                  </a:solidFill>
                  <a:latin typeface="微软雅黑"/>
                  <a:ea typeface="微软雅黑"/>
                  <a:cs typeface="微软雅黑"/>
                  <a:sym typeface="微软雅黑"/>
                </a:rPr>
                <a:t>▶</a:t>
              </a:r>
              <a:endParaRPr lang="en-US" sz="1100"/>
            </a:p>
          </p:txBody>
        </p:sp>
        <p:sp>
          <p:nvSpPr>
            <p:cNvPr name="AutoShape 13" id="13"/>
            <p:cNvSpPr/>
            <p:nvPr/>
          </p:nvSpPr>
          <p:spPr>
            <a:xfrm rot="0" flipH="false" flipV="false">
              <a:off x="3535397" y="3359150"/>
              <a:ext cx="2582578" cy="2765907"/>
            </a:xfrm>
            <a:prstGeom prst="rect">
              <a:avLst/>
            </a:prstGeom>
            <a:solidFill>
              <a:srgbClr val="FBF0F1">
                <a:alpha val="100000"/>
              </a:srgbClr>
            </a:solidFill>
            <a:ln w="25400">
              <a:solidFill>
                <a:srgbClr val="B8860B">
                  <a:alpha val="100000"/>
                </a:srgbClr>
              </a:solidFill>
              <a:prstDash val="solid"/>
            </a:ln>
            <a:effectLst>
              <a:outerShdw dir="8100000" dist="25400" blurRad="63500" algn="bl" rotWithShape="false">
                <a:srgbClr val="8B0012">
                  <a:alpha val="12000"/>
                </a:srgbClr>
              </a:outerShdw>
            </a:effectLst>
          </p:spPr>
          <p:txBody>
            <a:bodyPr anchor="t" rtlCol="false" wrap="square" lIns="91440" rIns="91440" tIns="45720" bIns="45720">
              <a:noAutofit/>
            </a:bodyPr>
            <a:lstStyle/>
            <a:p>
              <a:pPr algn="ctr">
                <a:defRPr/>
              </a:pPr>
              <a:endParaRPr/>
            </a:p>
          </p:txBody>
        </p:sp>
        <p:sp>
          <p:nvSpPr>
            <p:cNvPr name="AutoShape 14" id="14"/>
            <p:cNvSpPr/>
            <p:nvPr/>
          </p:nvSpPr>
          <p:spPr>
            <a:xfrm rot="0" flipH="false" flipV="false">
              <a:off x="3535397" y="3359150"/>
              <a:ext cx="2582578" cy="176428"/>
            </a:xfrm>
            <a:prstGeom prst="rect">
              <a:avLst/>
            </a:prstGeom>
            <a:solidFill>
              <a:srgbClr val="B8860B">
                <a:alpha val="100000"/>
              </a:srgbClr>
            </a:solidFill>
            <a:ln w="12700">
              <a:solidFill>
                <a:srgbClr val="B8860B">
                  <a:alpha val="100000"/>
                </a:srgbClr>
              </a:solidFill>
              <a:prstDash val="solid"/>
            </a:ln>
          </p:spPr>
          <p:txBody>
            <a:bodyPr anchor="t" rtlCol="false" wrap="square" lIns="91440" rIns="91440" tIns="45720" bIns="45720">
              <a:noAutofit/>
            </a:bodyPr>
            <a:lstStyle/>
            <a:p>
              <a:pPr algn="ctr">
                <a:defRPr/>
              </a:pPr>
              <a:endParaRPr/>
            </a:p>
          </p:txBody>
        </p:sp>
        <p:sp>
          <p:nvSpPr>
            <p:cNvPr name="AutoShape 15" id="15"/>
            <p:cNvSpPr/>
            <p:nvPr/>
          </p:nvSpPr>
          <p:spPr>
            <a:xfrm rot="0" flipH="false" flipV="false">
              <a:off x="3535397" y="3552328"/>
              <a:ext cx="2582578" cy="610800"/>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1800">
                  <a:solidFill>
                    <a:srgbClr val="1C1C1C"/>
                  </a:solidFill>
                  <a:latin typeface="Arial"/>
                  <a:ea typeface="Arial"/>
                  <a:cs typeface="Arial"/>
                  <a:sym typeface="Arial"/>
                </a:rPr>
                <a:t>编译器中间层</a:t>
              </a:r>
              <a:endParaRPr lang="en-US" sz="1100"/>
            </a:p>
          </p:txBody>
        </p:sp>
        <p:sp>
          <p:nvSpPr>
            <p:cNvPr name="AutoShape 16" id="16"/>
            <p:cNvSpPr/>
            <p:nvPr/>
          </p:nvSpPr>
          <p:spPr>
            <a:xfrm rot="0" flipH="false" flipV="false">
              <a:off x="3535397" y="4227893"/>
              <a:ext cx="2582578" cy="1801133"/>
            </a:xfrm>
            <a:prstGeom prst="rect">
              <a:avLst/>
            </a:prstGeom>
            <a:noFill/>
            <a:ln w="12700">
              <a:noFill/>
              <a:prstDash val="solid"/>
            </a:ln>
          </p:spPr>
          <p:txBody>
            <a:bodyPr anchor="ctr" rtlCol="false" wrap="square" lIns="50800" rIns="50800" tIns="50800" bIns="50800">
              <a:noAutofit/>
            </a:bodyPr>
            <a:lstStyle/>
            <a:p>
              <a:pPr algn="ctr" indent="0">
                <a:lnSpc>
                  <a:spcPct val="100000"/>
                </a:lnSpc>
                <a:defRPr/>
              </a:pPr>
              <a:r>
                <a:rPr lang="en-US" b="true" i="false" strike="noStrike" u="none" sz="1600">
                  <a:solidFill>
                    <a:srgbClr val="7A6065"/>
                  </a:solidFill>
                  <a:latin typeface="Arial"/>
                  <a:ea typeface="Arial"/>
                  <a:cs typeface="Arial"/>
                  <a:sym typeface="Arial"/>
                </a:rPr>
                <a:t>MLIR Dialects</a:t>
              </a:r>
              <a:endParaRPr lang="en-US" sz="1100"/>
            </a:p>
            <a:p>
              <a:pPr algn="ctr" indent="0">
                <a:lnSpc>
                  <a:spcPct val="100000"/>
                </a:lnSpc>
              </a:pPr>
              <a:r>
                <a:rPr lang="en-US" b="true" i="false" strike="noStrike" u="none" sz="1600">
                  <a:solidFill>
                    <a:srgbClr val="7A6065"/>
                  </a:solidFill>
                  <a:latin typeface="Arial"/>
                  <a:ea typeface="Arial"/>
                  <a:cs typeface="Arial"/>
                  <a:sym typeface="Arial"/>
                </a:rPr>
                <a:t>Triton-IR / TTGIR</a:t>
              </a:r>
            </a:p>
          </p:txBody>
        </p:sp>
        <p:sp>
          <p:nvSpPr>
            <p:cNvPr name="AutoShape 17" id="17"/>
            <p:cNvSpPr/>
            <p:nvPr/>
          </p:nvSpPr>
          <p:spPr>
            <a:xfrm rot="0" flipH="false" flipV="false">
              <a:off x="6117975" y="4645514"/>
              <a:ext cx="211139" cy="80398"/>
            </a:xfrm>
            <a:prstGeom prst="rect">
              <a:avLst/>
            </a:prstGeom>
            <a:solidFill>
              <a:srgbClr val="7A6065">
                <a:alpha val="100000"/>
              </a:srgbClr>
            </a:solidFill>
            <a:ln w="12700">
              <a:solidFill>
                <a:srgbClr val="7A6065">
                  <a:alpha val="100000"/>
                </a:srgbClr>
              </a:solidFill>
              <a:prstDash val="solid"/>
            </a:ln>
          </p:spPr>
          <p:txBody>
            <a:bodyPr anchor="t" rtlCol="false" wrap="square" lIns="91440" rIns="91440" tIns="45720" bIns="45720">
              <a:noAutofit/>
            </a:bodyPr>
            <a:lstStyle/>
            <a:p>
              <a:pPr algn="ctr">
                <a:defRPr/>
              </a:pPr>
              <a:endParaRPr/>
            </a:p>
          </p:txBody>
        </p:sp>
        <p:sp>
          <p:nvSpPr>
            <p:cNvPr name="AutoShape 18" id="18"/>
            <p:cNvSpPr/>
            <p:nvPr/>
          </p:nvSpPr>
          <p:spPr>
            <a:xfrm rot="0" flipH="false" flipV="false">
              <a:off x="6259006" y="4509285"/>
              <a:ext cx="164672" cy="353974"/>
            </a:xfrm>
            <a:prstGeom prst="rect">
              <a:avLst/>
            </a:prstGeom>
            <a:noFill/>
            <a:ln w="12700">
              <a:noFill/>
              <a:prstDash val="solid"/>
            </a:ln>
          </p:spPr>
          <p:txBody>
            <a:bodyPr anchor="ctr" rtlCol="false" wrap="square" lIns="0" rIns="0" tIns="0" bIns="0">
              <a:noAutofit/>
            </a:bodyPr>
            <a:lstStyle/>
            <a:p>
              <a:pPr algn="l" indent="0">
                <a:lnSpc>
                  <a:spcPct val="100000"/>
                </a:lnSpc>
                <a:defRPr/>
              </a:pPr>
              <a:r>
                <a:rPr lang="en-US" b="true" i="false" strike="noStrike" u="none" sz="1200">
                  <a:solidFill>
                    <a:srgbClr val="7A6065"/>
                  </a:solidFill>
                  <a:latin typeface="微软雅黑"/>
                  <a:ea typeface="微软雅黑"/>
                  <a:cs typeface="微软雅黑"/>
                  <a:sym typeface="微软雅黑"/>
                </a:rPr>
                <a:t>▶</a:t>
              </a:r>
              <a:endParaRPr lang="en-US" sz="1100"/>
            </a:p>
          </p:txBody>
        </p:sp>
        <p:sp>
          <p:nvSpPr>
            <p:cNvPr name="AutoShape 19" id="19"/>
            <p:cNvSpPr/>
            <p:nvPr/>
          </p:nvSpPr>
          <p:spPr>
            <a:xfrm rot="0" flipH="false" flipV="false">
              <a:off x="6329930" y="3359150"/>
              <a:ext cx="2582578" cy="2765907"/>
            </a:xfrm>
            <a:prstGeom prst="rect">
              <a:avLst/>
            </a:prstGeom>
            <a:solidFill>
              <a:srgbClr val="FBF0F1">
                <a:alpha val="100000"/>
              </a:srgbClr>
            </a:solidFill>
            <a:ln w="25400">
              <a:solidFill>
                <a:srgbClr val="C4314A">
                  <a:alpha val="100000"/>
                </a:srgbClr>
              </a:solidFill>
              <a:prstDash val="solid"/>
            </a:ln>
            <a:effectLst>
              <a:outerShdw dir="8100000" dist="25400" blurRad="63500" algn="bl" rotWithShape="false">
                <a:srgbClr val="8B0012">
                  <a:alpha val="12000"/>
                </a:srgbClr>
              </a:outerShdw>
            </a:effectLst>
          </p:spPr>
          <p:txBody>
            <a:bodyPr anchor="t" rtlCol="false" wrap="square" lIns="91440" rIns="91440" tIns="45720" bIns="45720">
              <a:noAutofit/>
            </a:bodyPr>
            <a:lstStyle/>
            <a:p>
              <a:pPr algn="ctr">
                <a:defRPr/>
              </a:pPr>
              <a:endParaRPr/>
            </a:p>
          </p:txBody>
        </p:sp>
        <p:sp>
          <p:nvSpPr>
            <p:cNvPr name="AutoShape 20" id="20"/>
            <p:cNvSpPr/>
            <p:nvPr/>
          </p:nvSpPr>
          <p:spPr>
            <a:xfrm rot="0" flipH="false" flipV="false">
              <a:off x="6329930" y="3359150"/>
              <a:ext cx="2582578" cy="176428"/>
            </a:xfrm>
            <a:prstGeom prst="rect">
              <a:avLst/>
            </a:prstGeom>
            <a:solidFill>
              <a:srgbClr val="C4314A">
                <a:alpha val="100000"/>
              </a:srgbClr>
            </a:solidFill>
            <a:ln w="12700">
              <a:solidFill>
                <a:srgbClr val="C4314A">
                  <a:alpha val="100000"/>
                </a:srgbClr>
              </a:solidFill>
              <a:prstDash val="solid"/>
            </a:ln>
          </p:spPr>
          <p:txBody>
            <a:bodyPr anchor="t" rtlCol="false" wrap="square" lIns="91440" rIns="91440" tIns="45720" bIns="45720">
              <a:noAutofit/>
            </a:bodyPr>
            <a:lstStyle/>
            <a:p>
              <a:pPr algn="ctr">
                <a:defRPr/>
              </a:pPr>
              <a:endParaRPr/>
            </a:p>
          </p:txBody>
        </p:sp>
        <p:sp>
          <p:nvSpPr>
            <p:cNvPr name="AutoShape 21" id="21"/>
            <p:cNvSpPr/>
            <p:nvPr/>
          </p:nvSpPr>
          <p:spPr>
            <a:xfrm rot="0" flipH="false" flipV="false">
              <a:off x="6329930" y="3552328"/>
              <a:ext cx="2582578" cy="610800"/>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1800">
                  <a:solidFill>
                    <a:srgbClr val="1C1C1C"/>
                  </a:solidFill>
                  <a:latin typeface="Arial"/>
                  <a:ea typeface="Arial"/>
                  <a:cs typeface="Arial"/>
                  <a:sym typeface="Arial"/>
                </a:rPr>
                <a:t>后端代码生成</a:t>
              </a:r>
              <a:endParaRPr lang="en-US" sz="1100"/>
            </a:p>
          </p:txBody>
        </p:sp>
        <p:sp>
          <p:nvSpPr>
            <p:cNvPr name="AutoShape 22" id="22"/>
            <p:cNvSpPr/>
            <p:nvPr/>
          </p:nvSpPr>
          <p:spPr>
            <a:xfrm rot="0" flipH="false" flipV="false">
              <a:off x="6329930" y="4227893"/>
              <a:ext cx="2582578" cy="1801133"/>
            </a:xfrm>
            <a:prstGeom prst="rect">
              <a:avLst/>
            </a:prstGeom>
            <a:noFill/>
            <a:ln w="12700">
              <a:noFill/>
              <a:prstDash val="solid"/>
            </a:ln>
          </p:spPr>
          <p:txBody>
            <a:bodyPr anchor="ctr" rtlCol="false" wrap="square" lIns="50800" rIns="50800" tIns="50800" bIns="50800">
              <a:noAutofit/>
            </a:bodyPr>
            <a:lstStyle/>
            <a:p>
              <a:pPr algn="ctr" indent="0">
                <a:lnSpc>
                  <a:spcPct val="100000"/>
                </a:lnSpc>
                <a:defRPr/>
              </a:pPr>
              <a:r>
                <a:rPr lang="en-US" b="true" i="false" strike="noStrike" u="none" sz="1600">
                  <a:solidFill>
                    <a:srgbClr val="7A6065"/>
                  </a:solidFill>
                  <a:latin typeface="Arial"/>
                  <a:ea typeface="Arial"/>
                  <a:cs typeface="Arial"/>
                  <a:sym typeface="Arial"/>
                </a:rPr>
                <a:t>LLVM-IR → PTX</a:t>
              </a:r>
              <a:endParaRPr lang="en-US" sz="1100"/>
            </a:p>
            <a:p>
              <a:pPr algn="ctr" indent="0">
                <a:lnSpc>
                  <a:spcPct val="100000"/>
                </a:lnSpc>
              </a:pPr>
              <a:r>
                <a:rPr lang="en-US" b="true" i="false" strike="noStrike" u="none" sz="1600">
                  <a:solidFill>
                    <a:srgbClr val="7A6065"/>
                  </a:solidFill>
                  <a:latin typeface="Arial"/>
                  <a:ea typeface="Arial"/>
                  <a:cs typeface="Arial"/>
                  <a:sym typeface="Arial"/>
                </a:rPr>
                <a:t>ASM / 厂商工具链</a:t>
              </a:r>
            </a:p>
          </p:txBody>
        </p:sp>
        <p:sp>
          <p:nvSpPr>
            <p:cNvPr name="AutoShape 23" id="23"/>
            <p:cNvSpPr/>
            <p:nvPr/>
          </p:nvSpPr>
          <p:spPr>
            <a:xfrm rot="0" flipH="false" flipV="false">
              <a:off x="8912508" y="4645514"/>
              <a:ext cx="211139" cy="80398"/>
            </a:xfrm>
            <a:prstGeom prst="rect">
              <a:avLst/>
            </a:prstGeom>
            <a:solidFill>
              <a:srgbClr val="7A6065">
                <a:alpha val="100000"/>
              </a:srgbClr>
            </a:solidFill>
            <a:ln w="12700">
              <a:solidFill>
                <a:srgbClr val="7A6065">
                  <a:alpha val="100000"/>
                </a:srgbClr>
              </a:solidFill>
              <a:prstDash val="solid"/>
            </a:ln>
          </p:spPr>
          <p:txBody>
            <a:bodyPr anchor="t" rtlCol="false" wrap="square" lIns="91440" rIns="91440" tIns="45720" bIns="45720">
              <a:noAutofit/>
            </a:bodyPr>
            <a:lstStyle/>
            <a:p>
              <a:pPr algn="ctr">
                <a:defRPr/>
              </a:pPr>
              <a:endParaRPr/>
            </a:p>
          </p:txBody>
        </p:sp>
        <p:sp>
          <p:nvSpPr>
            <p:cNvPr name="AutoShape 24" id="24"/>
            <p:cNvSpPr/>
            <p:nvPr/>
          </p:nvSpPr>
          <p:spPr>
            <a:xfrm rot="0" flipH="false" flipV="false">
              <a:off x="9052724" y="4509285"/>
              <a:ext cx="164672" cy="353974"/>
            </a:xfrm>
            <a:prstGeom prst="rect">
              <a:avLst/>
            </a:prstGeom>
            <a:noFill/>
            <a:ln w="12700">
              <a:noFill/>
              <a:prstDash val="solid"/>
            </a:ln>
          </p:spPr>
          <p:txBody>
            <a:bodyPr anchor="ctr" rtlCol="false" wrap="square" lIns="0" rIns="0" tIns="0" bIns="0">
              <a:noAutofit/>
            </a:bodyPr>
            <a:lstStyle/>
            <a:p>
              <a:pPr algn="l" indent="0">
                <a:lnSpc>
                  <a:spcPct val="100000"/>
                </a:lnSpc>
                <a:defRPr/>
              </a:pPr>
              <a:r>
                <a:rPr lang="en-US" b="true" i="false" strike="noStrike" u="none" sz="1200">
                  <a:solidFill>
                    <a:srgbClr val="7A6065"/>
                  </a:solidFill>
                  <a:latin typeface="微软雅黑"/>
                  <a:ea typeface="微软雅黑"/>
                  <a:cs typeface="微软雅黑"/>
                  <a:sym typeface="微软雅黑"/>
                </a:rPr>
                <a:t>▶</a:t>
              </a:r>
              <a:endParaRPr lang="en-US" sz="1100"/>
            </a:p>
          </p:txBody>
        </p:sp>
        <p:sp>
          <p:nvSpPr>
            <p:cNvPr name="AutoShape 25" id="25"/>
            <p:cNvSpPr/>
            <p:nvPr/>
          </p:nvSpPr>
          <p:spPr>
            <a:xfrm rot="0" flipH="false" flipV="false">
              <a:off x="9123647" y="3359150"/>
              <a:ext cx="2582578" cy="2765907"/>
            </a:xfrm>
            <a:prstGeom prst="rect">
              <a:avLst/>
            </a:prstGeom>
            <a:solidFill>
              <a:srgbClr val="FBF0F1">
                <a:alpha val="100000"/>
              </a:srgbClr>
            </a:solidFill>
            <a:ln w="25400">
              <a:solidFill>
                <a:srgbClr val="5C0009">
                  <a:alpha val="100000"/>
                </a:srgbClr>
              </a:solidFill>
              <a:prstDash val="solid"/>
            </a:ln>
            <a:effectLst>
              <a:outerShdw dir="8100000" dist="25400" blurRad="63500" algn="bl" rotWithShape="false">
                <a:srgbClr val="8B0012">
                  <a:alpha val="12000"/>
                </a:srgbClr>
              </a:outerShdw>
            </a:effectLst>
          </p:spPr>
          <p:txBody>
            <a:bodyPr anchor="t" rtlCol="false" wrap="square" lIns="91440" rIns="91440" tIns="45720" bIns="45720">
              <a:noAutofit/>
            </a:bodyPr>
            <a:lstStyle/>
            <a:p>
              <a:pPr algn="ctr">
                <a:defRPr/>
              </a:pPr>
              <a:endParaRPr/>
            </a:p>
          </p:txBody>
        </p:sp>
        <p:sp>
          <p:nvSpPr>
            <p:cNvPr name="AutoShape 26" id="26"/>
            <p:cNvSpPr/>
            <p:nvPr/>
          </p:nvSpPr>
          <p:spPr>
            <a:xfrm rot="0" flipH="false" flipV="false">
              <a:off x="9123647" y="3359150"/>
              <a:ext cx="2582578" cy="176428"/>
            </a:xfrm>
            <a:prstGeom prst="rect">
              <a:avLst/>
            </a:prstGeom>
            <a:solidFill>
              <a:srgbClr val="5C0009">
                <a:alpha val="100000"/>
              </a:srgbClr>
            </a:solidFill>
            <a:ln w="12700">
              <a:solidFill>
                <a:srgbClr val="5C0009">
                  <a:alpha val="100000"/>
                </a:srgbClr>
              </a:solidFill>
              <a:prstDash val="solid"/>
            </a:ln>
          </p:spPr>
          <p:txBody>
            <a:bodyPr anchor="t" rtlCol="false" wrap="square" lIns="91440" rIns="91440" tIns="45720" bIns="45720">
              <a:noAutofit/>
            </a:bodyPr>
            <a:lstStyle/>
            <a:p>
              <a:pPr algn="ctr">
                <a:defRPr/>
              </a:pPr>
              <a:endParaRPr/>
            </a:p>
          </p:txBody>
        </p:sp>
        <p:sp>
          <p:nvSpPr>
            <p:cNvPr name="AutoShape 27" id="27"/>
            <p:cNvSpPr/>
            <p:nvPr/>
          </p:nvSpPr>
          <p:spPr>
            <a:xfrm rot="0" flipH="false" flipV="false">
              <a:off x="9123647" y="3552328"/>
              <a:ext cx="2582578" cy="610800"/>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1800">
                  <a:solidFill>
                    <a:srgbClr val="1C1C1C"/>
                  </a:solidFill>
                  <a:latin typeface="Arial"/>
                  <a:ea typeface="Arial"/>
                  <a:cs typeface="Arial"/>
                  <a:sym typeface="Arial"/>
                </a:rPr>
                <a:t>运行时加载</a:t>
              </a:r>
              <a:endParaRPr lang="en-US" sz="1100"/>
            </a:p>
          </p:txBody>
        </p:sp>
        <p:sp>
          <p:nvSpPr>
            <p:cNvPr name="AutoShape 28" id="28"/>
            <p:cNvSpPr/>
            <p:nvPr/>
          </p:nvSpPr>
          <p:spPr>
            <a:xfrm rot="0" flipH="false" flipV="false">
              <a:off x="9123647" y="4227893"/>
              <a:ext cx="2582578" cy="1801133"/>
            </a:xfrm>
            <a:prstGeom prst="rect">
              <a:avLst/>
            </a:prstGeom>
            <a:noFill/>
            <a:ln w="12700">
              <a:noFill/>
              <a:prstDash val="solid"/>
            </a:ln>
          </p:spPr>
          <p:txBody>
            <a:bodyPr anchor="ctr" rtlCol="false" wrap="square" lIns="50800" rIns="50800" tIns="50800" bIns="50800">
              <a:noAutofit/>
            </a:bodyPr>
            <a:lstStyle/>
            <a:p>
              <a:pPr algn="ctr" indent="0">
                <a:lnSpc>
                  <a:spcPct val="100000"/>
                </a:lnSpc>
                <a:defRPr/>
              </a:pPr>
              <a:r>
                <a:rPr lang="en-US" b="true" i="false" strike="noStrike" u="none" sz="1600">
                  <a:solidFill>
                    <a:srgbClr val="7A6065"/>
                  </a:solidFill>
                  <a:latin typeface="Arial"/>
                  <a:ea typeface="Arial"/>
                  <a:cs typeface="Arial"/>
                  <a:sym typeface="Arial"/>
                </a:rPr>
                <a:t>JIT 缓存</a:t>
              </a:r>
              <a:endParaRPr lang="en-US" sz="1100"/>
            </a:p>
            <a:p>
              <a:pPr algn="ctr" indent="0">
                <a:lnSpc>
                  <a:spcPct val="100000"/>
                </a:lnSpc>
              </a:pPr>
              <a:r>
                <a:rPr lang="en-US" b="true" i="false" strike="noStrike" u="none" sz="1600">
                  <a:solidFill>
                    <a:srgbClr val="7A6065"/>
                  </a:solidFill>
                  <a:latin typeface="Arial"/>
                  <a:ea typeface="Arial"/>
                  <a:cs typeface="Arial"/>
                  <a:sym typeface="Arial"/>
                </a:rPr>
                <a:t>Unified HW Manager</a:t>
              </a:r>
            </a:p>
          </p:txBody>
        </p:sp>
      </p:grpSp>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FlagTree </a:t>
            </a:r>
            <a:r>
              <a:rPr lang="en-US" b="false" i="false" strike="noStrike" u="none" sz="3600">
                <a:solidFill>
                  <a:srgbClr val="262626"/>
                </a:solidFill>
                <a:latin typeface="微软雅黑"/>
                <a:ea typeface="微软雅黑"/>
                <a:cs typeface="微软雅黑"/>
                <a:sym typeface="微软雅黑"/>
              </a:rPr>
              <a:t>算子编译流水线</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①</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前端解析</a:t>
            </a:r>
            <a:r>
              <a:rPr lang="en-US" b="false" i="false" strike="noStrike" u="none" sz="2400">
                <a:solidFill>
                  <a:srgbClr val="404040"/>
                </a:solidFill>
                <a:latin typeface="Calibri"/>
                <a:ea typeface="Calibri"/>
                <a:cs typeface="Calibri"/>
                <a:sym typeface="Calibri"/>
              </a:rPr>
              <a:t> · Triton-IR </a:t>
            </a:r>
            <a:r>
              <a:rPr lang="en-US" b="false" i="false" strike="noStrike" u="none" sz="2400">
                <a:solidFill>
                  <a:srgbClr val="404040"/>
                </a:solidFill>
                <a:latin typeface="微软雅黑"/>
                <a:ea typeface="微软雅黑"/>
                <a:cs typeface="微软雅黑"/>
                <a:sym typeface="微软雅黑"/>
              </a:rPr>
              <a:t>生成</a:t>
            </a:r>
            <a:r>
              <a:rPr lang="en-US" b="false" i="false" strike="noStrike" u="none" sz="2400">
                <a:solidFill>
                  <a:srgbClr val="404040"/>
                </a:solidFill>
                <a:latin typeface="Calibri"/>
                <a:ea typeface="Calibri"/>
                <a:cs typeface="Calibri"/>
                <a:sym typeface="Calibri"/>
              </a:rPr>
              <a:t> · TritonGPU-IR </a:t>
            </a:r>
            <a:r>
              <a:rPr lang="en-US" b="false" i="false" strike="noStrike" u="none" sz="2400">
                <a:solidFill>
                  <a:srgbClr val="404040"/>
                </a:solidFill>
                <a:latin typeface="微软雅黑"/>
                <a:ea typeface="微软雅黑"/>
                <a:cs typeface="微软雅黑"/>
                <a:sym typeface="微软雅黑"/>
              </a:rPr>
              <a:t>优化</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Python </a:t>
            </a:r>
            <a:r>
              <a:rPr lang="en-US" b="false" i="false" strike="noStrike" u="none" sz="2400">
                <a:solidFill>
                  <a:srgbClr val="404040"/>
                </a:solidFill>
                <a:latin typeface="微软雅黑"/>
                <a:ea typeface="微软雅黑"/>
                <a:cs typeface="微软雅黑"/>
                <a:sym typeface="微软雅黑"/>
              </a:rPr>
              <a:t>内核</a:t>
            </a:r>
            <a:r>
              <a:rPr lang="en-US" b="false" i="false" strike="noStrike" u="none" sz="2400">
                <a:solidFill>
                  <a:srgbClr val="404040"/>
                </a:solidFill>
                <a:latin typeface="Calibri"/>
                <a:ea typeface="Calibri"/>
                <a:cs typeface="Calibri"/>
                <a:sym typeface="Calibri"/>
              </a:rPr>
              <a:t> + AST </a:t>
            </a:r>
            <a:r>
              <a:rPr lang="en-US" b="false" i="false" strike="noStrike" u="none" sz="2400">
                <a:solidFill>
                  <a:srgbClr val="404040"/>
                </a:solidFill>
                <a:latin typeface="微软雅黑"/>
                <a:ea typeface="微软雅黑"/>
                <a:cs typeface="微软雅黑"/>
                <a:sym typeface="微软雅黑"/>
              </a:rPr>
              <a:t>解析</a:t>
            </a:r>
          </a:p>
          <a:p>
            <a:pPr algn="l" indent="-254000" lvl="1" marL="596900">
              <a:lnSpc>
                <a:spcPct val="100000"/>
              </a:lnSpc>
              <a:spcBef>
                <a:spcPts val="750"/>
              </a:spcBef>
              <a:buClr>
                <a:srgbClr val="8B0012"/>
              </a:buClr>
              <a:buChar char="•"/>
            </a:pPr>
            <a:r>
              <a:rPr lang="en-US" b="false" i="false" strike="noStrike" u="none" sz="2000">
                <a:solidFill>
                  <a:srgbClr val="8B0012"/>
                </a:solidFill>
                <a:latin typeface="Calibri"/>
                <a:ea typeface="Calibri"/>
                <a:cs typeface="Calibri"/>
                <a:sym typeface="Calibri"/>
              </a:rPr>
              <a:t>@triton.jit </a:t>
            </a:r>
            <a:r>
              <a:rPr lang="en-US" b="false" i="false" strike="noStrike" u="none" sz="2000">
                <a:solidFill>
                  <a:srgbClr val="8B0012"/>
                </a:solidFill>
                <a:latin typeface="微软雅黑"/>
                <a:ea typeface="微软雅黑"/>
                <a:cs typeface="微软雅黑"/>
                <a:sym typeface="微软雅黑"/>
              </a:rPr>
              <a:t>装饰器触发</a:t>
            </a:r>
            <a:r>
              <a:rPr lang="en-US" b="false" i="false" strike="noStrike" u="none" sz="2000">
                <a:solidFill>
                  <a:srgbClr val="8B0012"/>
                </a:solidFill>
                <a:latin typeface="Calibri"/>
                <a:ea typeface="Calibri"/>
                <a:cs typeface="Calibri"/>
                <a:sym typeface="Calibri"/>
              </a:rPr>
              <a:t> JIT</a:t>
            </a:r>
            <a:r>
              <a:rPr lang="en-US" b="false" i="false" strike="noStrike" u="none" sz="2000">
                <a:solidFill>
                  <a:srgbClr val="8B0012"/>
                </a:solidFill>
                <a:latin typeface="微软雅黑"/>
                <a:ea typeface="微软雅黑"/>
                <a:cs typeface="微软雅黑"/>
                <a:sym typeface="微软雅黑"/>
              </a:rPr>
              <a:t>；前端遍历</a:t>
            </a:r>
            <a:r>
              <a:rPr lang="en-US" b="false" i="false" strike="noStrike" u="none" sz="2000">
                <a:solidFill>
                  <a:srgbClr val="8B0012"/>
                </a:solidFill>
                <a:latin typeface="Calibri"/>
                <a:ea typeface="Calibri"/>
                <a:cs typeface="Calibri"/>
                <a:sym typeface="Calibri"/>
              </a:rPr>
              <a:t> Python AST</a:t>
            </a:r>
            <a:r>
              <a:rPr lang="en-US" b="false" i="false" strike="noStrike" u="none" sz="2000">
                <a:solidFill>
                  <a:srgbClr val="8B0012"/>
                </a:solidFill>
                <a:latin typeface="微软雅黑"/>
                <a:ea typeface="微软雅黑"/>
                <a:cs typeface="微软雅黑"/>
                <a:sym typeface="微软雅黑"/>
              </a:rPr>
              <a:t>，识别</a:t>
            </a:r>
            <a:r>
              <a:rPr lang="en-US" b="false" i="false" strike="noStrike" u="none" sz="2000">
                <a:solidFill>
                  <a:srgbClr val="8B0012"/>
                </a:solidFill>
                <a:latin typeface="Calibri"/>
                <a:ea typeface="Calibri"/>
                <a:cs typeface="Calibri"/>
                <a:sym typeface="Calibri"/>
              </a:rPr>
              <a:t> tile </a:t>
            </a:r>
            <a:r>
              <a:rPr lang="en-US" b="false" i="false" strike="noStrike" u="none" sz="2000">
                <a:solidFill>
                  <a:srgbClr val="8B0012"/>
                </a:solidFill>
                <a:latin typeface="微软雅黑"/>
                <a:ea typeface="微软雅黑"/>
                <a:cs typeface="微软雅黑"/>
                <a:sym typeface="微软雅黑"/>
              </a:rPr>
              <a:t>级张量操作，构建</a:t>
            </a:r>
            <a:r>
              <a:rPr lang="en-US" b="false" i="false" strike="noStrike" u="none" sz="2000">
                <a:solidFill>
                  <a:srgbClr val="8B0012"/>
                </a:solidFill>
                <a:latin typeface="Calibri"/>
                <a:ea typeface="Calibri"/>
                <a:cs typeface="Calibri"/>
                <a:sym typeface="Calibri"/>
              </a:rPr>
              <a:t> Triton-IR</a:t>
            </a:r>
            <a:r>
              <a:rPr lang="en-US" b="false" i="false" strike="noStrike" u="none" sz="2000">
                <a:solidFill>
                  <a:srgbClr val="8B0012"/>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Triton-IR → TritonGPU-IR</a:t>
            </a:r>
          </a:p>
          <a:p>
            <a:pPr algn="l" indent="-254000" lvl="1" marL="596900">
              <a:lnSpc>
                <a:spcPct val="100000"/>
              </a:lnSpc>
              <a:spcBef>
                <a:spcPts val="750"/>
              </a:spcBef>
              <a:buClr>
                <a:srgbClr val="8B0012"/>
              </a:buClr>
              <a:buChar char="•"/>
            </a:pPr>
            <a:r>
              <a:rPr lang="en-US" b="false" i="false" strike="noStrike" u="none" sz="2000">
                <a:solidFill>
                  <a:srgbClr val="8B0012"/>
                </a:solidFill>
                <a:latin typeface="微软雅黑"/>
                <a:ea typeface="微软雅黑"/>
                <a:cs typeface="微软雅黑"/>
                <a:sym typeface="微软雅黑"/>
              </a:rPr>
              <a:t>化模块注入</a:t>
            </a:r>
            <a:r>
              <a:rPr lang="en-US" b="false" i="false" strike="noStrike" u="none" sz="2000">
                <a:solidFill>
                  <a:srgbClr val="8B0012"/>
                </a:solidFill>
                <a:latin typeface="Calibri"/>
                <a:ea typeface="Calibri"/>
                <a:cs typeface="Calibri"/>
                <a:sym typeface="Calibri"/>
              </a:rPr>
              <a:t> Layout Encoding</a:t>
            </a:r>
            <a:r>
              <a:rPr lang="en-US" b="false" i="false" strike="noStrike" u="none" sz="2000">
                <a:solidFill>
                  <a:srgbClr val="8B0012"/>
                </a:solidFill>
                <a:latin typeface="微软雅黑"/>
                <a:ea typeface="微软雅黑"/>
                <a:cs typeface="微软雅黑"/>
                <a:sym typeface="微软雅黑"/>
              </a:rPr>
              <a:t>、，生成</a:t>
            </a:r>
            <a:r>
              <a:rPr lang="en-US" b="false" i="false" strike="noStrike" u="none" sz="2000">
                <a:solidFill>
                  <a:srgbClr val="8B0012"/>
                </a:solidFill>
                <a:latin typeface="Calibri"/>
                <a:ea typeface="Calibri"/>
                <a:cs typeface="Calibri"/>
                <a:sym typeface="Calibri"/>
              </a:rPr>
              <a:t> TritonGPU IR</a:t>
            </a:r>
            <a:r>
              <a:rPr lang="en-US" b="false" i="false" strike="noStrike" u="none" sz="2000">
                <a:solidFill>
                  <a:srgbClr val="8B0012"/>
                </a:solidFill>
                <a:latin typeface="微软雅黑"/>
                <a:ea typeface="微软雅黑"/>
                <a:cs typeface="微软雅黑"/>
                <a:sym typeface="微软雅黑"/>
              </a:rPr>
              <a:t>，执行通用</a:t>
            </a:r>
            <a:r>
              <a:rPr lang="en-US" b="false" i="false" strike="noStrike" u="none" sz="2000">
                <a:solidFill>
                  <a:srgbClr val="8B0012"/>
                </a:solidFill>
                <a:latin typeface="Calibri"/>
                <a:ea typeface="Calibri"/>
                <a:cs typeface="Calibri"/>
                <a:sym typeface="Calibri"/>
              </a:rPr>
              <a:t> pass</a:t>
            </a:r>
            <a:r>
              <a:rPr lang="en-US" b="false" i="false" strike="noStrike" u="none" sz="2000">
                <a:solidFill>
                  <a:srgbClr val="8B0012"/>
                </a:solidFill>
                <a:latin typeface="微软雅黑"/>
                <a:ea typeface="微软雅黑"/>
                <a:cs typeface="微软雅黑"/>
                <a:sym typeface="微软雅黑"/>
              </a:rPr>
              <a:t>：</a:t>
            </a:r>
            <a:r>
              <a:rPr lang="en-US" b="false" i="false" strike="noStrike" u="none" sz="2000">
                <a:solidFill>
                  <a:srgbClr val="8B0012"/>
                </a:solidFill>
                <a:latin typeface="Calibri"/>
                <a:ea typeface="Calibri"/>
                <a:cs typeface="Calibri"/>
                <a:sym typeface="Calibri"/>
              </a:rPr>
              <a:t>CSE</a:t>
            </a:r>
            <a:r>
              <a:rPr lang="en-US" b="false" i="false" strike="noStrike" u="none" sz="2000">
                <a:solidFill>
                  <a:srgbClr val="8B0012"/>
                </a:solidFill>
                <a:latin typeface="微软雅黑"/>
                <a:ea typeface="微软雅黑"/>
                <a:cs typeface="微软雅黑"/>
                <a:sym typeface="微软雅黑"/>
              </a:rPr>
              <a:t>、</a:t>
            </a:r>
            <a:r>
              <a:rPr lang="en-US" b="false" i="false" strike="noStrike" u="none" sz="2000">
                <a:solidFill>
                  <a:srgbClr val="8B0012"/>
                </a:solidFill>
                <a:latin typeface="Calibri"/>
                <a:ea typeface="Calibri"/>
                <a:cs typeface="Calibri"/>
                <a:sym typeface="Calibri"/>
              </a:rPr>
              <a:t>DCE</a:t>
            </a:r>
            <a:r>
              <a:rPr lang="en-US" b="false" i="false" strike="noStrike" u="none" sz="2000">
                <a:solidFill>
                  <a:srgbClr val="8B0012"/>
                </a:solidFill>
                <a:latin typeface="微软雅黑"/>
                <a:ea typeface="微软雅黑"/>
                <a:cs typeface="微软雅黑"/>
                <a:sym typeface="微软雅黑"/>
              </a:rPr>
              <a:t>、内联等。</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TritonGPU-IR → LLVM-IR</a:t>
            </a:r>
          </a:p>
          <a:p>
            <a:pPr algn="l" indent="-254000" lvl="1" marL="596900">
              <a:lnSpc>
                <a:spcPct val="100000"/>
              </a:lnSpc>
              <a:spcBef>
                <a:spcPts val="750"/>
              </a:spcBef>
              <a:buClr>
                <a:srgbClr val="8B0012"/>
              </a:buClr>
              <a:buChar char="•"/>
            </a:pPr>
            <a:r>
              <a:rPr lang="en-US" b="false" i="false" strike="noStrike" u="none" sz="2000">
                <a:solidFill>
                  <a:srgbClr val="8B0012"/>
                </a:solidFill>
                <a:latin typeface="微软雅黑"/>
                <a:ea typeface="微软雅黑"/>
                <a:cs typeface="微软雅黑"/>
                <a:sym typeface="微软雅黑"/>
              </a:rPr>
              <a:t>厂商专属</a:t>
            </a:r>
            <a:r>
              <a:rPr lang="en-US" b="false" i="false" strike="noStrike" u="none" sz="2000">
                <a:solidFill>
                  <a:srgbClr val="8B0012"/>
                </a:solidFill>
                <a:latin typeface="Calibri"/>
                <a:ea typeface="Calibri"/>
                <a:cs typeface="Calibri"/>
                <a:sym typeface="Calibri"/>
              </a:rPr>
              <a:t> pass </a:t>
            </a:r>
            <a:r>
              <a:rPr lang="en-US" b="false" i="false" strike="noStrike" u="none" sz="2000">
                <a:solidFill>
                  <a:srgbClr val="8B0012"/>
                </a:solidFill>
                <a:latin typeface="微软雅黑"/>
                <a:ea typeface="微软雅黑"/>
                <a:cs typeface="微软雅黑"/>
                <a:sym typeface="微软雅黑"/>
              </a:rPr>
              <a:t>进一步优化</a:t>
            </a:r>
            <a:r>
              <a:rPr lang="en-US" b="false" i="false" strike="noStrike" u="none" sz="2000">
                <a:solidFill>
                  <a:srgbClr val="8B0012"/>
                </a:solidFill>
                <a:latin typeface="Calibri"/>
                <a:ea typeface="Calibri"/>
                <a:cs typeface="Calibri"/>
                <a:sym typeface="Calibri"/>
              </a:rPr>
              <a:t> TTGIR</a:t>
            </a:r>
            <a:r>
              <a:rPr lang="en-US" b="false" i="false" strike="noStrike" u="none" sz="2000">
                <a:solidFill>
                  <a:srgbClr val="8B0012"/>
                </a:solidFill>
                <a:latin typeface="微软雅黑"/>
                <a:ea typeface="微软雅黑"/>
                <a:cs typeface="微软雅黑"/>
                <a:sym typeface="微软雅黑"/>
              </a:rPr>
              <a:t>，最终通过</a:t>
            </a:r>
            <a:r>
              <a:rPr lang="en-US" b="false" i="false" strike="noStrike" u="none" sz="2000">
                <a:solidFill>
                  <a:srgbClr val="8B0012"/>
                </a:solidFill>
                <a:latin typeface="Calibri"/>
                <a:ea typeface="Calibri"/>
                <a:cs typeface="Calibri"/>
                <a:sym typeface="Calibri"/>
              </a:rPr>
              <a:t> MLIR → LLVM </a:t>
            </a:r>
            <a:r>
              <a:rPr lang="en-US" b="false" i="false" strike="noStrike" u="none" sz="2000">
                <a:solidFill>
                  <a:srgbClr val="8B0012"/>
                </a:solidFill>
                <a:latin typeface="微软雅黑"/>
                <a:ea typeface="微软雅黑"/>
                <a:cs typeface="微软雅黑"/>
                <a:sym typeface="微软雅黑"/>
              </a:rPr>
              <a:t>桥接层输出</a:t>
            </a:r>
            <a:r>
              <a:rPr lang="en-US" b="false" i="false" strike="noStrike" u="none" sz="2000">
                <a:solidFill>
                  <a:srgbClr val="8B0012"/>
                </a:solidFill>
                <a:latin typeface="Calibri"/>
                <a:ea typeface="Calibri"/>
                <a:cs typeface="Calibri"/>
                <a:sym typeface="Calibri"/>
              </a:rPr>
              <a:t> LLVM-IR</a:t>
            </a:r>
            <a:r>
              <a:rPr lang="en-US" b="false" i="false" strike="noStrike" u="none" sz="2000">
                <a:solidFill>
                  <a:srgbClr val="8B0012"/>
                </a:solidFill>
                <a:latin typeface="微软雅黑"/>
                <a:ea typeface="微软雅黑"/>
                <a:cs typeface="微软雅黑"/>
                <a:sym typeface="微软雅黑"/>
              </a:rPr>
              <a:t>，完成高层优化阶段。</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FlagTree </a:t>
            </a:r>
            <a:r>
              <a:rPr lang="en-US" b="false" i="false" strike="noStrike" u="none" sz="3600">
                <a:solidFill>
                  <a:srgbClr val="262626"/>
                </a:solidFill>
                <a:latin typeface="微软雅黑"/>
                <a:ea typeface="微软雅黑"/>
                <a:cs typeface="微软雅黑"/>
                <a:sym typeface="微软雅黑"/>
              </a:rPr>
              <a:t>算子编译流水线</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②</a:t>
            </a:r>
            <a:r>
              <a:rPr lang="en-US" b="false" i="false" strike="noStrike" u="none" sz="3600">
                <a:solidFill>
                  <a:srgbClr val="262626"/>
                </a:solidFill>
                <a:latin typeface="Calibri"/>
                <a:ea typeface="Calibri"/>
                <a:cs typeface="Calibri"/>
                <a:sym typeface="Calibri"/>
              </a:rPr>
              <a:t> </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LLVM-IR → </a:t>
            </a:r>
            <a:r>
              <a:rPr lang="en-US" b="false" i="false" strike="noStrike" u="none" sz="2400">
                <a:solidFill>
                  <a:srgbClr val="404040"/>
                </a:solidFill>
                <a:latin typeface="微软雅黑"/>
                <a:ea typeface="微软雅黑"/>
                <a:cs typeface="微软雅黑"/>
                <a:sym typeface="微软雅黑"/>
              </a:rPr>
              <a:t>汇编</a:t>
            </a:r>
            <a:r>
              <a:rPr lang="en-US" b="false" i="false" strike="noStrike" u="none" sz="2400">
                <a:solidFill>
                  <a:srgbClr val="404040"/>
                </a:solidFill>
                <a:latin typeface="Calibri"/>
                <a:ea typeface="Calibri"/>
                <a:cs typeface="Calibri"/>
                <a:sym typeface="Calibri"/>
              </a:rPr>
              <a:t> → </a:t>
            </a:r>
            <a:r>
              <a:rPr lang="en-US" b="false" i="false" strike="noStrike" u="none" sz="2400">
                <a:solidFill>
                  <a:srgbClr val="404040"/>
                </a:solidFill>
                <a:latin typeface="微软雅黑"/>
                <a:ea typeface="微软雅黑"/>
                <a:cs typeface="微软雅黑"/>
                <a:sym typeface="微软雅黑"/>
              </a:rPr>
              <a:t>二进制</a:t>
            </a:r>
            <a:r>
              <a:rPr lang="en-US" b="false" i="false" strike="noStrike" u="none" sz="2400">
                <a:solidFill>
                  <a:srgbClr val="404040"/>
                </a:solidFill>
                <a:latin typeface="Calibri"/>
                <a:ea typeface="Calibri"/>
                <a:cs typeface="Calibri"/>
                <a:sym typeface="Calibri"/>
              </a:rPr>
              <a:t>  ·  </a:t>
            </a:r>
            <a:r>
              <a:rPr lang="en-US" b="false" i="false" strike="noStrike" u="none" sz="2400">
                <a:solidFill>
                  <a:srgbClr val="404040"/>
                </a:solidFill>
                <a:latin typeface="微软雅黑"/>
                <a:ea typeface="微软雅黑"/>
                <a:cs typeface="微软雅黑"/>
                <a:sym typeface="微软雅黑"/>
              </a:rPr>
              <a:t>插件化后端</a:t>
            </a:r>
            <a:r>
              <a:rPr lang="en-US" b="false" i="false" strike="noStrike" u="none" sz="2400">
                <a:solidFill>
                  <a:srgbClr val="404040"/>
                </a:solidFill>
                <a:latin typeface="Calibri"/>
                <a:ea typeface="Calibri"/>
                <a:cs typeface="Calibri"/>
                <a:sym typeface="Calibri"/>
              </a:rPr>
              <a:t>  ·  </a:t>
            </a:r>
            <a:r>
              <a:rPr lang="en-US" b="false" i="false" strike="noStrike" u="none" sz="2400">
                <a:solidFill>
                  <a:srgbClr val="404040"/>
                </a:solidFill>
                <a:latin typeface="微软雅黑"/>
                <a:ea typeface="微软雅黑"/>
                <a:cs typeface="微软雅黑"/>
                <a:sym typeface="微软雅黑"/>
              </a:rPr>
              <a:t>编译缓存</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后端插件化架构（</a:t>
            </a:r>
            <a:r>
              <a:rPr lang="en-US" b="false" i="false" strike="noStrike" u="none" sz="2400">
                <a:solidFill>
                  <a:srgbClr val="404040"/>
                </a:solidFill>
                <a:latin typeface="Calibri"/>
                <a:ea typeface="Calibri"/>
                <a:cs typeface="Calibri"/>
                <a:sym typeface="Calibri"/>
              </a:rPr>
              <a:t>third_party/</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编译结果缓存机制</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graphicFrame>
        <p:nvGraphicFramePr>
          <p:cNvPr name="Table 6" id="6"/>
          <p:cNvGraphicFramePr>
            <a:graphicFrameLocks noGrp="true"/>
          </p:cNvGraphicFramePr>
          <p:nvPr/>
        </p:nvGraphicFramePr>
        <p:xfrm>
          <a:off x="523240" y="3288030"/>
          <a:ext cx="11263630" cy="2841625"/>
        </p:xfrm>
        <a:graphic>
          <a:graphicData uri="http://schemas.openxmlformats.org/drawingml/2006/table">
            <a:tbl>
              <a:tblPr>
                <a:effectLst/>
              </a:tblPr>
              <a:tblGrid>
                <a:gridCol w="2011680"/>
                <a:gridCol w="2010410"/>
                <a:gridCol w="3431540"/>
                <a:gridCol w="3810000"/>
              </a:tblGrid>
              <a:tr h="568325">
                <a:tc>
                  <a:txBody>
                    <a:bodyPr anchor="t" rtlCol="false"/>
                    <a:lstStyle/>
                    <a:p>
                      <a:pPr algn="ctr" indent="0">
                        <a:lnSpc>
                          <a:spcPct val="100000"/>
                        </a:lnSpc>
                        <a:defRPr/>
                      </a:pPr>
                      <a:r>
                        <a:rPr lang="en-US" b="true" i="false" strike="noStrike" u="none" sz="1600">
                          <a:solidFill>
                            <a:srgbClr val="FFFFFF"/>
                          </a:solidFill>
                          <a:latin typeface="微软雅黑"/>
                          <a:ea typeface="微软雅黑"/>
                          <a:cs typeface="微软雅黑"/>
                          <a:sym typeface="微软雅黑"/>
                        </a:rPr>
                        <a:t>阶段</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8B0012">
                        <a:alpha val="100000"/>
                      </a:srgbClr>
                    </a:solidFill>
                  </a:tcPr>
                </a:tc>
                <a:tc>
                  <a:txBody>
                    <a:bodyPr anchor="t" rtlCol="false"/>
                    <a:lstStyle/>
                    <a:p>
                      <a:pPr algn="ctr" indent="0">
                        <a:lnSpc>
                          <a:spcPct val="100000"/>
                        </a:lnSpc>
                        <a:defRPr/>
                      </a:pPr>
                      <a:r>
                        <a:rPr lang="en-US" b="true" i="false" strike="noStrike" u="none" sz="1600">
                          <a:solidFill>
                            <a:srgbClr val="FFFFFF"/>
                          </a:solidFill>
                          <a:latin typeface="微软雅黑"/>
                          <a:ea typeface="微软雅黑"/>
                          <a:cs typeface="微软雅黑"/>
                          <a:sym typeface="微软雅黑"/>
                        </a:rPr>
                        <a:t>输入</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8B0012">
                        <a:alpha val="100000"/>
                      </a:srgbClr>
                    </a:solidFill>
                  </a:tcPr>
                </a:tc>
                <a:tc>
                  <a:txBody>
                    <a:bodyPr anchor="t" rtlCol="false"/>
                    <a:lstStyle/>
                    <a:p>
                      <a:pPr algn="ctr" indent="0">
                        <a:lnSpc>
                          <a:spcPct val="100000"/>
                        </a:lnSpc>
                        <a:defRPr/>
                      </a:pPr>
                      <a:r>
                        <a:rPr lang="en-US" b="true" i="false" strike="noStrike" u="none" sz="1600">
                          <a:solidFill>
                            <a:srgbClr val="FFFFFF"/>
                          </a:solidFill>
                          <a:latin typeface="微软雅黑"/>
                          <a:ea typeface="微软雅黑"/>
                          <a:cs typeface="微软雅黑"/>
                          <a:sym typeface="微软雅黑"/>
                        </a:rPr>
                        <a:t>产物</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8B0012">
                        <a:alpha val="100000"/>
                      </a:srgbClr>
                    </a:solidFill>
                  </a:tcPr>
                </a:tc>
                <a:tc>
                  <a:txBody>
                    <a:bodyPr anchor="t" rtlCol="false"/>
                    <a:lstStyle/>
                    <a:p>
                      <a:pPr algn="ctr" indent="0">
                        <a:lnSpc>
                          <a:spcPct val="100000"/>
                        </a:lnSpc>
                        <a:defRPr/>
                      </a:pPr>
                      <a:r>
                        <a:rPr lang="en-US" b="true" i="false" strike="noStrike" u="none" sz="1600">
                          <a:solidFill>
                            <a:srgbClr val="FFFFFF"/>
                          </a:solidFill>
                          <a:latin typeface="微软雅黑"/>
                          <a:ea typeface="微软雅黑"/>
                          <a:cs typeface="微软雅黑"/>
                          <a:sym typeface="微软雅黑"/>
                        </a:rPr>
                        <a:t>工具链</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8B0012">
                        <a:alpha val="100000"/>
                      </a:srgbClr>
                    </a:solidFill>
                  </a:tcPr>
                </a:tc>
              </a:tr>
              <a:tr h="568325">
                <a:tc>
                  <a:txBody>
                    <a:bodyPr anchor="t" rtlCol="false"/>
                    <a:lstStyle/>
                    <a:p>
                      <a:pPr algn="l" indent="0">
                        <a:lnSpc>
                          <a:spcPct val="100000"/>
                        </a:lnSpc>
                        <a:defRPr/>
                      </a:pPr>
                      <a:r>
                        <a:rPr lang="en-US" b="false" i="false" strike="noStrike" u="none" sz="1400">
                          <a:solidFill>
                            <a:srgbClr val="1C1C1C"/>
                          </a:solidFill>
                          <a:latin typeface="Arial"/>
                          <a:ea typeface="Arial"/>
                          <a:cs typeface="Arial"/>
                          <a:sym typeface="Arial"/>
                        </a:rPr>
                        <a:t>LLVM </a:t>
                      </a:r>
                      <a:r>
                        <a:rPr lang="en-US" b="false" i="false" strike="noStrike" u="none" sz="1400">
                          <a:solidFill>
                            <a:srgbClr val="1C1C1C"/>
                          </a:solidFill>
                          <a:latin typeface="微软雅黑"/>
                          <a:ea typeface="微软雅黑"/>
                          <a:cs typeface="微软雅黑"/>
                          <a:sym typeface="微软雅黑"/>
                        </a:rPr>
                        <a:t>优化</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FFFFF">
                        <a:alpha val="100000"/>
                      </a:srgbClr>
                    </a:solidFill>
                  </a:tcPr>
                </a:tc>
                <a:tc>
                  <a:txBody>
                    <a:bodyPr anchor="t" rtlCol="false"/>
                    <a:lstStyle/>
                    <a:p>
                      <a:pPr algn="l" indent="0">
                        <a:lnSpc>
                          <a:spcPct val="100000"/>
                        </a:lnSpc>
                        <a:defRPr/>
                      </a:pPr>
                      <a:r>
                        <a:rPr lang="en-US" b="false" i="false" strike="noStrike" u="none" sz="1400">
                          <a:solidFill>
                            <a:srgbClr val="1C1C1C"/>
                          </a:solidFill>
                          <a:latin typeface="Arial"/>
                          <a:ea typeface="Arial"/>
                          <a:cs typeface="Arial"/>
                          <a:sym typeface="Arial"/>
                        </a:rPr>
                        <a:t>LLVM-IR</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FFFFF">
                        <a:alpha val="100000"/>
                      </a:srgbClr>
                    </a:solidFill>
                  </a:tcPr>
                </a:tc>
                <a:tc>
                  <a:txBody>
                    <a:bodyPr anchor="t" rtlCol="false"/>
                    <a:lstStyle/>
                    <a:p>
                      <a:pPr algn="l" indent="0">
                        <a:lnSpc>
                          <a:spcPct val="100000"/>
                        </a:lnSpc>
                        <a:defRPr/>
                      </a:pPr>
                      <a:r>
                        <a:rPr lang="en-US" b="false" i="false" strike="noStrike" u="none" sz="1400">
                          <a:solidFill>
                            <a:srgbClr val="1C1C1C"/>
                          </a:solidFill>
                          <a:latin typeface="微软雅黑"/>
                          <a:ea typeface="微软雅黑"/>
                          <a:cs typeface="微软雅黑"/>
                          <a:sym typeface="微软雅黑"/>
                        </a:rPr>
                        <a:t>优化后</a:t>
                      </a:r>
                      <a:r>
                        <a:rPr lang="en-US" b="false" i="false" strike="noStrike" u="none" sz="1400">
                          <a:solidFill>
                            <a:srgbClr val="1C1C1C"/>
                          </a:solidFill>
                          <a:latin typeface="Arial"/>
                          <a:ea typeface="Arial"/>
                          <a:cs typeface="Arial"/>
                          <a:sym typeface="Arial"/>
                        </a:rPr>
                        <a:t> LLVM-IR</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FFFFF">
                        <a:alpha val="100000"/>
                      </a:srgbClr>
                    </a:solidFill>
                  </a:tcPr>
                </a:tc>
                <a:tc>
                  <a:txBody>
                    <a:bodyPr anchor="t" rtlCol="false"/>
                    <a:lstStyle/>
                    <a:p>
                      <a:pPr algn="l" indent="0">
                        <a:lnSpc>
                          <a:spcPct val="100000"/>
                        </a:lnSpc>
                        <a:defRPr/>
                      </a:pPr>
                      <a:r>
                        <a:rPr lang="en-US" b="false" i="false" strike="noStrike" u="none" sz="1400">
                          <a:solidFill>
                            <a:srgbClr val="1C1C1C"/>
                          </a:solidFill>
                          <a:latin typeface="Arial"/>
                          <a:ea typeface="Arial"/>
                          <a:cs typeface="Arial"/>
                          <a:sym typeface="Arial"/>
                        </a:rPr>
                        <a:t>LLVM opt passes</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FFFFF">
                        <a:alpha val="100000"/>
                      </a:srgbClr>
                    </a:solidFill>
                  </a:tcPr>
                </a:tc>
              </a:tr>
              <a:tr h="568325">
                <a:tc>
                  <a:txBody>
                    <a:bodyPr anchor="t" rtlCol="false"/>
                    <a:lstStyle/>
                    <a:p>
                      <a:pPr algn="l" indent="0">
                        <a:lnSpc>
                          <a:spcPct val="100000"/>
                        </a:lnSpc>
                        <a:defRPr/>
                      </a:pPr>
                      <a:r>
                        <a:rPr lang="en-US" b="false" i="false" strike="noStrike" u="none" sz="1400">
                          <a:solidFill>
                            <a:srgbClr val="1C1C1C"/>
                          </a:solidFill>
                          <a:latin typeface="微软雅黑"/>
                          <a:ea typeface="微软雅黑"/>
                          <a:cs typeface="微软雅黑"/>
                          <a:sym typeface="微软雅黑"/>
                        </a:rPr>
                        <a:t>汇编生成</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BF0F1">
                        <a:alpha val="100000"/>
                      </a:srgbClr>
                    </a:solidFill>
                  </a:tcPr>
                </a:tc>
                <a:tc>
                  <a:txBody>
                    <a:bodyPr anchor="t" rtlCol="false"/>
                    <a:lstStyle/>
                    <a:p>
                      <a:pPr algn="l" indent="0">
                        <a:lnSpc>
                          <a:spcPct val="100000"/>
                        </a:lnSpc>
                        <a:defRPr/>
                      </a:pPr>
                      <a:r>
                        <a:rPr lang="en-US" b="false" i="false" strike="noStrike" u="none" sz="1400">
                          <a:solidFill>
                            <a:srgbClr val="1C1C1C"/>
                          </a:solidFill>
                          <a:latin typeface="Arial"/>
                          <a:ea typeface="Arial"/>
                          <a:cs typeface="Arial"/>
                          <a:sym typeface="Arial"/>
                        </a:rPr>
                        <a:t>LLVM-IR</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BF0F1">
                        <a:alpha val="100000"/>
                      </a:srgbClr>
                    </a:solidFill>
                  </a:tcPr>
                </a:tc>
                <a:tc>
                  <a:txBody>
                    <a:bodyPr anchor="t" rtlCol="false"/>
                    <a:lstStyle/>
                    <a:p>
                      <a:pPr algn="l" indent="0">
                        <a:lnSpc>
                          <a:spcPct val="100000"/>
                        </a:lnSpc>
                        <a:defRPr/>
                      </a:pPr>
                      <a:r>
                        <a:rPr lang="en-US" b="false" i="false" strike="noStrike" u="none" sz="1400">
                          <a:solidFill>
                            <a:srgbClr val="1C1C1C"/>
                          </a:solidFill>
                          <a:latin typeface="Arial"/>
                          <a:ea typeface="Arial"/>
                          <a:cs typeface="Arial"/>
                          <a:sym typeface="Arial"/>
                        </a:rPr>
                        <a:t>PTX / AMDGCN / </a:t>
                      </a:r>
                      <a:r>
                        <a:rPr lang="en-US" b="false" i="false" strike="noStrike" u="none" sz="1400">
                          <a:solidFill>
                            <a:srgbClr val="1C1C1C"/>
                          </a:solidFill>
                          <a:latin typeface="微软雅黑"/>
                          <a:ea typeface="微软雅黑"/>
                          <a:cs typeface="微软雅黑"/>
                          <a:sym typeface="微软雅黑"/>
                        </a:rPr>
                        <a:t>厂商</a:t>
                      </a:r>
                      <a:r>
                        <a:rPr lang="en-US" b="false" i="false" strike="noStrike" u="none" sz="1400">
                          <a:solidFill>
                            <a:srgbClr val="1C1C1C"/>
                          </a:solidFill>
                          <a:latin typeface="Arial"/>
                          <a:ea typeface="Arial"/>
                          <a:cs typeface="Arial"/>
                          <a:sym typeface="Arial"/>
                        </a:rPr>
                        <a:t> ASM</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BF0F1">
                        <a:alpha val="100000"/>
                      </a:srgbClr>
                    </a:solidFill>
                  </a:tcPr>
                </a:tc>
                <a:tc>
                  <a:txBody>
                    <a:bodyPr anchor="t" rtlCol="false"/>
                    <a:lstStyle/>
                    <a:p>
                      <a:pPr algn="l" indent="0">
                        <a:lnSpc>
                          <a:spcPct val="100000"/>
                        </a:lnSpc>
                        <a:defRPr/>
                      </a:pPr>
                      <a:r>
                        <a:rPr lang="en-US" b="false" i="false" strike="noStrike" u="none" sz="1400">
                          <a:solidFill>
                            <a:srgbClr val="1C1C1C"/>
                          </a:solidFill>
                          <a:latin typeface="Arial"/>
                          <a:ea typeface="Arial"/>
                          <a:cs typeface="Arial"/>
                          <a:sym typeface="Arial"/>
                        </a:rPr>
                        <a:t>LLVM backend + </a:t>
                      </a:r>
                      <a:r>
                        <a:rPr lang="en-US" b="false" i="false" strike="noStrike" u="none" sz="1400">
                          <a:solidFill>
                            <a:srgbClr val="1C1C1C"/>
                          </a:solidFill>
                          <a:latin typeface="微软雅黑"/>
                          <a:ea typeface="微软雅黑"/>
                          <a:cs typeface="微软雅黑"/>
                          <a:sym typeface="微软雅黑"/>
                        </a:rPr>
                        <a:t>厂商驱动</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BF0F1">
                        <a:alpha val="100000"/>
                      </a:srgbClr>
                    </a:solidFill>
                  </a:tcPr>
                </a:tc>
              </a:tr>
              <a:tr h="568325">
                <a:tc>
                  <a:txBody>
                    <a:bodyPr anchor="t" rtlCol="false"/>
                    <a:lstStyle/>
                    <a:p>
                      <a:pPr algn="l" indent="0">
                        <a:lnSpc>
                          <a:spcPct val="100000"/>
                        </a:lnSpc>
                        <a:defRPr/>
                      </a:pPr>
                      <a:r>
                        <a:rPr lang="en-US" b="false" i="false" strike="noStrike" u="none" sz="1400">
                          <a:solidFill>
                            <a:srgbClr val="1C1C1C"/>
                          </a:solidFill>
                          <a:latin typeface="微软雅黑"/>
                          <a:ea typeface="微软雅黑"/>
                          <a:cs typeface="微软雅黑"/>
                          <a:sym typeface="微软雅黑"/>
                        </a:rPr>
                        <a:t>设备编译</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FFFFF">
                        <a:alpha val="100000"/>
                      </a:srgbClr>
                    </a:solidFill>
                  </a:tcPr>
                </a:tc>
                <a:tc>
                  <a:txBody>
                    <a:bodyPr anchor="t" rtlCol="false"/>
                    <a:lstStyle/>
                    <a:p>
                      <a:pPr algn="l" indent="0">
                        <a:lnSpc>
                          <a:spcPct val="100000"/>
                        </a:lnSpc>
                        <a:defRPr/>
                      </a:pPr>
                      <a:r>
                        <a:rPr lang="en-US" b="false" i="false" strike="noStrike" u="none" sz="1400">
                          <a:solidFill>
                            <a:srgbClr val="1C1C1C"/>
                          </a:solidFill>
                          <a:latin typeface="Arial"/>
                          <a:ea typeface="Arial"/>
                          <a:cs typeface="Arial"/>
                          <a:sym typeface="Arial"/>
                        </a:rPr>
                        <a:t>ASM / BC</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FFFFF">
                        <a:alpha val="100000"/>
                      </a:srgbClr>
                    </a:solidFill>
                  </a:tcPr>
                </a:tc>
                <a:tc>
                  <a:txBody>
                    <a:bodyPr anchor="t" rtlCol="false"/>
                    <a:lstStyle/>
                    <a:p>
                      <a:pPr algn="l" indent="0">
                        <a:lnSpc>
                          <a:spcPct val="100000"/>
                        </a:lnSpc>
                        <a:defRPr/>
                      </a:pPr>
                      <a:r>
                        <a:rPr lang="en-US" b="false" i="false" strike="noStrike" u="none" sz="1400">
                          <a:solidFill>
                            <a:srgbClr val="1C1C1C"/>
                          </a:solidFill>
                          <a:latin typeface="Arial"/>
                          <a:ea typeface="Arial"/>
                          <a:cs typeface="Arial"/>
                          <a:sym typeface="Arial"/>
                        </a:rPr>
                        <a:t>.cubin / .hsaco / </a:t>
                      </a:r>
                      <a:r>
                        <a:rPr lang="en-US" b="false" i="false" strike="noStrike" u="none" sz="1400">
                          <a:solidFill>
                            <a:srgbClr val="1C1C1C"/>
                          </a:solidFill>
                          <a:latin typeface="微软雅黑"/>
                          <a:ea typeface="微软雅黑"/>
                          <a:cs typeface="微软雅黑"/>
                          <a:sym typeface="微软雅黑"/>
                        </a:rPr>
                        <a:t>二进制</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FFFFF">
                        <a:alpha val="100000"/>
                      </a:srgbClr>
                    </a:solidFill>
                  </a:tcPr>
                </a:tc>
                <a:tc>
                  <a:txBody>
                    <a:bodyPr anchor="t" rtlCol="false"/>
                    <a:lstStyle/>
                    <a:p>
                      <a:pPr algn="l" indent="0">
                        <a:lnSpc>
                          <a:spcPct val="100000"/>
                        </a:lnSpc>
                        <a:defRPr/>
                      </a:pPr>
                      <a:r>
                        <a:rPr lang="en-US" b="false" i="false" strike="noStrike" u="none" sz="1400">
                          <a:solidFill>
                            <a:srgbClr val="1C1C1C"/>
                          </a:solidFill>
                          <a:latin typeface="Arial"/>
                          <a:ea typeface="Arial"/>
                          <a:cs typeface="Arial"/>
                          <a:sym typeface="Arial"/>
                        </a:rPr>
                        <a:t>NVCC / HIPCC / </a:t>
                      </a:r>
                      <a:r>
                        <a:rPr lang="en-US" b="false" i="false" strike="noStrike" u="none" sz="1400">
                          <a:solidFill>
                            <a:srgbClr val="1C1C1C"/>
                          </a:solidFill>
                          <a:latin typeface="微软雅黑"/>
                          <a:ea typeface="微软雅黑"/>
                          <a:cs typeface="微软雅黑"/>
                          <a:sym typeface="微软雅黑"/>
                        </a:rPr>
                        <a:t>厂商编译器</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FFFFF">
                        <a:alpha val="100000"/>
                      </a:srgbClr>
                    </a:solidFill>
                  </a:tcPr>
                </a:tc>
              </a:tr>
              <a:tr h="568325">
                <a:tc>
                  <a:txBody>
                    <a:bodyPr anchor="t" rtlCol="false"/>
                    <a:lstStyle/>
                    <a:p>
                      <a:pPr algn="l" indent="0">
                        <a:lnSpc>
                          <a:spcPct val="100000"/>
                        </a:lnSpc>
                        <a:defRPr/>
                      </a:pPr>
                      <a:r>
                        <a:rPr lang="en-US" b="false" i="false" strike="noStrike" u="none" sz="1400">
                          <a:solidFill>
                            <a:srgbClr val="1C1C1C"/>
                          </a:solidFill>
                          <a:latin typeface="微软雅黑"/>
                          <a:ea typeface="微软雅黑"/>
                          <a:cs typeface="微软雅黑"/>
                          <a:sym typeface="微软雅黑"/>
                        </a:rPr>
                        <a:t>缓存写入</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BF0F1">
                        <a:alpha val="100000"/>
                      </a:srgbClr>
                    </a:solidFill>
                  </a:tcPr>
                </a:tc>
                <a:tc>
                  <a:txBody>
                    <a:bodyPr anchor="t" rtlCol="false"/>
                    <a:lstStyle/>
                    <a:p>
                      <a:pPr algn="l" indent="0">
                        <a:lnSpc>
                          <a:spcPct val="100000"/>
                        </a:lnSpc>
                        <a:defRPr/>
                      </a:pPr>
                      <a:r>
                        <a:rPr lang="en-US" b="false" i="false" strike="noStrike" u="none" sz="1400">
                          <a:solidFill>
                            <a:srgbClr val="1C1C1C"/>
                          </a:solidFill>
                          <a:latin typeface="微软雅黑"/>
                          <a:ea typeface="微软雅黑"/>
                          <a:cs typeface="微软雅黑"/>
                          <a:sym typeface="微软雅黑"/>
                        </a:rPr>
                        <a:t>编译产物</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BF0F1">
                        <a:alpha val="100000"/>
                      </a:srgbClr>
                    </a:solidFill>
                  </a:tcPr>
                </a:tc>
                <a:tc>
                  <a:txBody>
                    <a:bodyPr anchor="t" rtlCol="false"/>
                    <a:lstStyle/>
                    <a:p>
                      <a:pPr algn="l" indent="0">
                        <a:lnSpc>
                          <a:spcPct val="100000"/>
                        </a:lnSpc>
                        <a:defRPr/>
                      </a:pPr>
                      <a:r>
                        <a:rPr lang="en-US" b="false" i="false" strike="noStrike" u="none" sz="1400">
                          <a:solidFill>
                            <a:srgbClr val="1C1C1C"/>
                          </a:solidFill>
                          <a:latin typeface="Arial"/>
                          <a:ea typeface="Arial"/>
                          <a:cs typeface="Arial"/>
                          <a:sym typeface="Arial"/>
                        </a:rPr>
                        <a:t>kernel_hash.bin</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BF0F1">
                        <a:alpha val="100000"/>
                      </a:srgbClr>
                    </a:solidFill>
                  </a:tcPr>
                </a:tc>
                <a:tc>
                  <a:txBody>
                    <a:bodyPr anchor="t" rtlCol="false"/>
                    <a:lstStyle/>
                    <a:p>
                      <a:pPr algn="l" indent="0">
                        <a:lnSpc>
                          <a:spcPct val="100000"/>
                        </a:lnSpc>
                        <a:defRPr/>
                      </a:pPr>
                      <a:r>
                        <a:rPr lang="en-US" b="false" i="false" strike="noStrike" u="none" sz="1400">
                          <a:solidFill>
                            <a:srgbClr val="1C1C1C"/>
                          </a:solidFill>
                          <a:latin typeface="Arial"/>
                          <a:ea typeface="Arial"/>
                          <a:cs typeface="Arial"/>
                          <a:sym typeface="Arial"/>
                        </a:rPr>
                        <a:t>~/.triton/cache/</a:t>
                      </a:r>
                      <a:endParaRPr lang="en-US" sz="1100"/>
                    </a:p>
                  </a:txBody>
                  <a:tcPr anchor="ctr" marL="101600" marR="101600" marT="50800" marB="50800">
                    <a:lnL cmpd="sng" algn="ctr" cap="flat" w="6350">
                      <a:solidFill>
                        <a:srgbClr val="D9B8BB"/>
                      </a:solidFill>
                      <a:prstDash val="solid"/>
                      <a:round/>
                      <a:headEnd type="none" w="med" len="med"/>
                      <a:tailEnd type="none" w="med" len="med"/>
                    </a:lnL>
                    <a:lnR cmpd="sng" algn="ctr" cap="flat" w="6350">
                      <a:solidFill>
                        <a:srgbClr val="D9B8BB"/>
                      </a:solidFill>
                      <a:prstDash val="solid"/>
                      <a:round/>
                      <a:headEnd type="none" w="med" len="med"/>
                      <a:tailEnd type="none" w="med" len="med"/>
                    </a:lnR>
                    <a:lnT cmpd="sng" algn="ctr" cap="flat" w="6350">
                      <a:solidFill>
                        <a:srgbClr val="D9B8BB"/>
                      </a:solidFill>
                      <a:prstDash val="solid"/>
                      <a:round/>
                      <a:headEnd type="none" w="med" len="med"/>
                      <a:tailEnd type="none" w="med" len="med"/>
                    </a:lnT>
                    <a:lnB cmpd="sng" algn="ctr" cap="flat" w="6350">
                      <a:solidFill>
                        <a:srgbClr val="D9B8BB"/>
                      </a:solidFill>
                      <a:prstDash val="solid"/>
                      <a:round/>
                      <a:headEnd type="none" w="med" len="med"/>
                      <a:tailEnd type="none" w="med" len="med"/>
                    </a:lnB>
                    <a:solidFill>
                      <a:srgbClr val="FBF0F1">
                        <a:alpha val="100000"/>
                      </a:srgbClr>
                    </a:solidFill>
                  </a:tcPr>
                </a:tc>
              </a:tr>
            </a:tbl>
          </a:graphicData>
        </a:graphic>
      </p:graphicFrame>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FlagTree </a:t>
            </a:r>
            <a:r>
              <a:rPr lang="en-US" b="false" i="false" strike="noStrike" u="none" sz="3600">
                <a:solidFill>
                  <a:srgbClr val="262626"/>
                </a:solidFill>
                <a:latin typeface="微软雅黑"/>
                <a:ea typeface="微软雅黑"/>
                <a:cs typeface="微软雅黑"/>
                <a:sym typeface="微软雅黑"/>
              </a:rPr>
              <a:t>运行时加载与统一硬件抽象层</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FlagTree Hints —— </a:t>
            </a:r>
            <a:r>
              <a:rPr lang="en-US" b="false" i="false" strike="noStrike" u="none" sz="2400">
                <a:solidFill>
                  <a:srgbClr val="404040"/>
                </a:solidFill>
                <a:latin typeface="微软雅黑"/>
                <a:ea typeface="微软雅黑"/>
                <a:cs typeface="微软雅黑"/>
                <a:sym typeface="微软雅黑"/>
              </a:rPr>
              <a:t>运行时行为扩展</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flagtree_hints (shared_mem)</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flagtree_hints (async_dma)</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FLIR </a:t>
            </a:r>
            <a:r>
              <a:rPr lang="en-US" b="false" i="false" strike="noStrike" u="none" sz="2000">
                <a:solidFill>
                  <a:srgbClr val="404040"/>
                </a:solidFill>
                <a:latin typeface="微软雅黑"/>
                <a:ea typeface="微软雅黑"/>
                <a:cs typeface="微软雅黑"/>
                <a:sym typeface="微软雅黑"/>
              </a:rPr>
              <a:t>中间层</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grpSp>
        <p:nvGrpSpPr>
          <p:cNvPr name="Group 6" id="6"/>
          <p:cNvGrpSpPr/>
          <p:nvPr/>
        </p:nvGrpSpPr>
        <p:grpSpPr>
          <a:xfrm>
            <a:off x="523875" y="3602355"/>
            <a:ext cx="11277600" cy="2574925"/>
            <a:chOff x="523875" y="3602355"/>
            <a:chExt cx="11277600" cy="2574925"/>
          </a:xfrm>
        </p:grpSpPr>
        <p:sp>
          <p:nvSpPr>
            <p:cNvPr name="AutoShape 7" id="7"/>
            <p:cNvSpPr/>
            <p:nvPr/>
          </p:nvSpPr>
          <p:spPr>
            <a:xfrm rot="0" flipH="false" flipV="false">
              <a:off x="523875" y="3602355"/>
              <a:ext cx="2685143" cy="2574925"/>
            </a:xfrm>
            <a:prstGeom prst="rect">
              <a:avLst/>
            </a:prstGeom>
            <a:solidFill>
              <a:srgbClr val="FBF0F1">
                <a:alpha val="100000"/>
              </a:srgbClr>
            </a:solidFill>
            <a:ln w="25400">
              <a:solidFill>
                <a:srgbClr val="8B0012">
                  <a:alpha val="100000"/>
                </a:srgbClr>
              </a:solidFill>
              <a:prstDash val="solid"/>
            </a:ln>
            <a:effectLst>
              <a:outerShdw dir="8100000" dist="25400" blurRad="63500" algn="bl" rotWithShape="false">
                <a:srgbClr val="8B0012">
                  <a:alpha val="12000"/>
                </a:srgbClr>
              </a:outerShdw>
            </a:effectLst>
          </p:spPr>
          <p:txBody>
            <a:bodyPr anchor="t" rtlCol="false" wrap="square" lIns="91440" rIns="91440" tIns="45720" bIns="45720">
              <a:noAutofit/>
            </a:bodyPr>
            <a:lstStyle/>
            <a:p>
              <a:pPr algn="ctr">
                <a:defRPr/>
              </a:pPr>
              <a:endParaRPr/>
            </a:p>
          </p:txBody>
        </p:sp>
        <p:sp>
          <p:nvSpPr>
            <p:cNvPr name="AutoShape 8" id="8"/>
            <p:cNvSpPr/>
            <p:nvPr/>
          </p:nvSpPr>
          <p:spPr>
            <a:xfrm rot="0" flipH="false" flipV="false">
              <a:off x="523875" y="3602355"/>
              <a:ext cx="2685143" cy="116229"/>
            </a:xfrm>
            <a:prstGeom prst="rect">
              <a:avLst/>
            </a:prstGeom>
            <a:solidFill>
              <a:srgbClr val="8B0012">
                <a:alpha val="100000"/>
              </a:srgbClr>
            </a:solidFill>
            <a:ln w="12700">
              <a:solidFill>
                <a:srgbClr val="8B0012">
                  <a:alpha val="100000"/>
                </a:srgbClr>
              </a:solidFill>
              <a:prstDash val="solid"/>
            </a:ln>
          </p:spPr>
          <p:txBody>
            <a:bodyPr anchor="t" rtlCol="false" wrap="square" lIns="91440" rIns="91440" tIns="45720" bIns="45720">
              <a:noAutofit/>
            </a:bodyPr>
            <a:lstStyle/>
            <a:p>
              <a:pPr algn="ctr">
                <a:defRPr/>
              </a:pPr>
              <a:endParaRPr/>
            </a:p>
          </p:txBody>
        </p:sp>
        <p:sp>
          <p:nvSpPr>
            <p:cNvPr name="AutoShape 9" id="9"/>
            <p:cNvSpPr/>
            <p:nvPr/>
          </p:nvSpPr>
          <p:spPr>
            <a:xfrm rot="0" flipH="false" flipV="false">
              <a:off x="523875" y="3731101"/>
              <a:ext cx="2685143" cy="514985"/>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2800">
                  <a:solidFill>
                    <a:srgbClr val="8B0012"/>
                  </a:solidFill>
                  <a:latin typeface="Arial"/>
                  <a:ea typeface="Arial"/>
                  <a:cs typeface="Arial"/>
                  <a:sym typeface="Arial"/>
                </a:rPr>
                <a:t>①</a:t>
              </a:r>
              <a:endParaRPr lang="en-US" sz="1100"/>
            </a:p>
          </p:txBody>
        </p:sp>
        <p:sp>
          <p:nvSpPr>
            <p:cNvPr name="AutoShape 10" id="10"/>
            <p:cNvSpPr/>
            <p:nvPr/>
          </p:nvSpPr>
          <p:spPr>
            <a:xfrm rot="0" flipH="false" flipV="false">
              <a:off x="643215" y="4272014"/>
              <a:ext cx="2446463" cy="463129"/>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1600">
                  <a:solidFill>
                    <a:srgbClr val="1C1C1C"/>
                  </a:solidFill>
                  <a:latin typeface="Arial"/>
                  <a:ea typeface="Arial"/>
                  <a:cs typeface="Arial"/>
                  <a:sym typeface="Arial"/>
                </a:rPr>
                <a:t>首次调用触发 JIT</a:t>
              </a:r>
              <a:endParaRPr lang="en-US" sz="1100"/>
            </a:p>
          </p:txBody>
        </p:sp>
        <p:sp>
          <p:nvSpPr>
            <p:cNvPr name="AutoShape 11" id="11"/>
            <p:cNvSpPr/>
            <p:nvPr/>
          </p:nvSpPr>
          <p:spPr>
            <a:xfrm rot="0" flipH="false" flipV="false">
              <a:off x="643215" y="4761071"/>
              <a:ext cx="2446463" cy="1351836"/>
            </a:xfrm>
            <a:prstGeom prst="rect">
              <a:avLst/>
            </a:prstGeom>
            <a:noFill/>
            <a:ln w="12700">
              <a:noFill/>
              <a:prstDash val="solid"/>
            </a:ln>
          </p:spPr>
          <p:txBody>
            <a:bodyPr anchor="ctr" rtlCol="false" wrap="square" lIns="0" rIns="0" tIns="0" bIns="0">
              <a:noAutofit/>
            </a:bodyPr>
            <a:lstStyle/>
            <a:p>
              <a:pPr algn="l" indent="0">
                <a:lnSpc>
                  <a:spcPct val="100000"/>
                </a:lnSpc>
                <a:defRPr/>
              </a:pPr>
              <a:r>
                <a:rPr lang="en-US" b="false" i="false" strike="noStrike" u="none" sz="1400">
                  <a:solidFill>
                    <a:srgbClr val="4A3A3B"/>
                  </a:solidFill>
                  <a:latin typeface="Arial"/>
                  <a:ea typeface="Arial"/>
                  <a:cs typeface="Arial"/>
                  <a:sym typeface="Arial"/>
                </a:rPr>
                <a:t>@triton.jit 包装的内核首次被调用，根据实参 dtype / shape 特化 key，查询磁盘缓存。</a:t>
              </a:r>
              <a:endParaRPr lang="en-US" sz="1100"/>
            </a:p>
          </p:txBody>
        </p:sp>
        <p:sp>
          <p:nvSpPr>
            <p:cNvPr name="AutoShape 12" id="12"/>
            <p:cNvSpPr/>
            <p:nvPr/>
          </p:nvSpPr>
          <p:spPr>
            <a:xfrm rot="0" flipH="false" flipV="false">
              <a:off x="3209018" y="4825444"/>
              <a:ext cx="179010" cy="64373"/>
            </a:xfrm>
            <a:prstGeom prst="rect">
              <a:avLst/>
            </a:prstGeom>
            <a:solidFill>
              <a:srgbClr val="7A6065">
                <a:alpha val="100000"/>
              </a:srgbClr>
            </a:solidFill>
            <a:ln w="12700">
              <a:solidFill>
                <a:srgbClr val="7A6065">
                  <a:alpha val="100000"/>
                </a:srgbClr>
              </a:solidFill>
              <a:prstDash val="solid"/>
            </a:ln>
          </p:spPr>
          <p:txBody>
            <a:bodyPr anchor="t" rtlCol="false" wrap="square" lIns="91440" rIns="91440" tIns="45720" bIns="45720">
              <a:noAutofit/>
            </a:bodyPr>
            <a:lstStyle/>
            <a:p>
              <a:pPr algn="ctr">
                <a:defRPr/>
              </a:pPr>
              <a:endParaRPr/>
            </a:p>
          </p:txBody>
        </p:sp>
        <p:sp>
          <p:nvSpPr>
            <p:cNvPr name="AutoShape 13" id="13"/>
            <p:cNvSpPr/>
            <p:nvPr/>
          </p:nvSpPr>
          <p:spPr>
            <a:xfrm rot="0" flipH="false" flipV="false">
              <a:off x="3304324" y="4728885"/>
              <a:ext cx="143373" cy="257492"/>
            </a:xfrm>
            <a:prstGeom prst="rect">
              <a:avLst/>
            </a:prstGeom>
            <a:noFill/>
            <a:ln w="12700">
              <a:noFill/>
              <a:prstDash val="solid"/>
            </a:ln>
          </p:spPr>
          <p:txBody>
            <a:bodyPr anchor="ctr" rtlCol="false" wrap="square" lIns="0" rIns="0" tIns="0" bIns="0">
              <a:noAutofit/>
            </a:bodyPr>
            <a:lstStyle/>
            <a:p>
              <a:pPr algn="l" indent="0">
                <a:lnSpc>
                  <a:spcPct val="100000"/>
                </a:lnSpc>
                <a:defRPr/>
              </a:pPr>
              <a:r>
                <a:rPr lang="en-US" b="false" i="false" strike="noStrike" u="none" sz="1000">
                  <a:solidFill>
                    <a:srgbClr val="7A6065"/>
                  </a:solidFill>
                  <a:latin typeface="微软雅黑"/>
                  <a:ea typeface="微软雅黑"/>
                  <a:cs typeface="微软雅黑"/>
                  <a:sym typeface="微软雅黑"/>
                </a:rPr>
                <a:t>▶</a:t>
              </a:r>
              <a:endParaRPr lang="en-US" sz="1100"/>
            </a:p>
          </p:txBody>
        </p:sp>
        <p:sp>
          <p:nvSpPr>
            <p:cNvPr name="AutoShape 14" id="14"/>
            <p:cNvSpPr/>
            <p:nvPr/>
          </p:nvSpPr>
          <p:spPr>
            <a:xfrm rot="0" flipH="false" flipV="false">
              <a:off x="3388027" y="3602355"/>
              <a:ext cx="2685143" cy="2574925"/>
            </a:xfrm>
            <a:prstGeom prst="rect">
              <a:avLst/>
            </a:prstGeom>
            <a:solidFill>
              <a:srgbClr val="FBF0F1">
                <a:alpha val="100000"/>
              </a:srgbClr>
            </a:solidFill>
            <a:ln w="25400">
              <a:solidFill>
                <a:srgbClr val="B8860B">
                  <a:alpha val="100000"/>
                </a:srgbClr>
              </a:solidFill>
              <a:prstDash val="solid"/>
            </a:ln>
            <a:effectLst>
              <a:outerShdw dir="8100000" dist="25400" blurRad="63500" algn="bl" rotWithShape="false">
                <a:srgbClr val="8B0012">
                  <a:alpha val="12000"/>
                </a:srgbClr>
              </a:outerShdw>
            </a:effectLst>
          </p:spPr>
          <p:txBody>
            <a:bodyPr anchor="t" rtlCol="false" wrap="square" lIns="91440" rIns="91440" tIns="45720" bIns="45720">
              <a:noAutofit/>
            </a:bodyPr>
            <a:lstStyle/>
            <a:p>
              <a:pPr algn="ctr">
                <a:defRPr/>
              </a:pPr>
              <a:endParaRPr/>
            </a:p>
          </p:txBody>
        </p:sp>
        <p:sp>
          <p:nvSpPr>
            <p:cNvPr name="AutoShape 15" id="15"/>
            <p:cNvSpPr/>
            <p:nvPr/>
          </p:nvSpPr>
          <p:spPr>
            <a:xfrm rot="0" flipH="false" flipV="false">
              <a:off x="3388027" y="3602355"/>
              <a:ext cx="2685143" cy="116229"/>
            </a:xfrm>
            <a:prstGeom prst="rect">
              <a:avLst/>
            </a:prstGeom>
            <a:solidFill>
              <a:srgbClr val="B8860B">
                <a:alpha val="100000"/>
              </a:srgbClr>
            </a:solidFill>
            <a:ln w="12700">
              <a:solidFill>
                <a:srgbClr val="B8860B">
                  <a:alpha val="100000"/>
                </a:srgbClr>
              </a:solidFill>
              <a:prstDash val="solid"/>
            </a:ln>
          </p:spPr>
          <p:txBody>
            <a:bodyPr anchor="t" rtlCol="false" wrap="square" lIns="91440" rIns="91440" tIns="45720" bIns="45720">
              <a:noAutofit/>
            </a:bodyPr>
            <a:lstStyle/>
            <a:p>
              <a:pPr algn="ctr">
                <a:defRPr/>
              </a:pPr>
              <a:endParaRPr/>
            </a:p>
          </p:txBody>
        </p:sp>
        <p:sp>
          <p:nvSpPr>
            <p:cNvPr name="AutoShape 16" id="16"/>
            <p:cNvSpPr/>
            <p:nvPr/>
          </p:nvSpPr>
          <p:spPr>
            <a:xfrm rot="0" flipH="false" flipV="false">
              <a:off x="3388027" y="3731101"/>
              <a:ext cx="2685143" cy="514985"/>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2800">
                  <a:solidFill>
                    <a:srgbClr val="B8860B"/>
                  </a:solidFill>
                  <a:latin typeface="Arial"/>
                  <a:ea typeface="Arial"/>
                  <a:cs typeface="Arial"/>
                  <a:sym typeface="Arial"/>
                </a:rPr>
                <a:t>②</a:t>
              </a:r>
              <a:endParaRPr lang="en-US" sz="1100"/>
            </a:p>
          </p:txBody>
        </p:sp>
        <p:sp>
          <p:nvSpPr>
            <p:cNvPr name="AutoShape 17" id="17"/>
            <p:cNvSpPr/>
            <p:nvPr/>
          </p:nvSpPr>
          <p:spPr>
            <a:xfrm rot="0" flipH="false" flipV="false">
              <a:off x="3507367" y="4272014"/>
              <a:ext cx="2446463" cy="463129"/>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1600">
                  <a:solidFill>
                    <a:srgbClr val="1C1C1C"/>
                  </a:solidFill>
                  <a:latin typeface="Arial"/>
                  <a:ea typeface="Arial"/>
                  <a:cs typeface="Arial"/>
                  <a:sym typeface="Arial"/>
                </a:rPr>
                <a:t>编译 or 缓存命中</a:t>
              </a:r>
              <a:endParaRPr lang="en-US" sz="1100"/>
            </a:p>
          </p:txBody>
        </p:sp>
        <p:sp>
          <p:nvSpPr>
            <p:cNvPr name="AutoShape 18" id="18"/>
            <p:cNvSpPr/>
            <p:nvPr/>
          </p:nvSpPr>
          <p:spPr>
            <a:xfrm rot="0" flipH="false" flipV="false">
              <a:off x="3507367" y="4761071"/>
              <a:ext cx="2446463" cy="1351836"/>
            </a:xfrm>
            <a:prstGeom prst="rect">
              <a:avLst/>
            </a:prstGeom>
            <a:noFill/>
            <a:ln w="12700">
              <a:noFill/>
              <a:prstDash val="solid"/>
            </a:ln>
          </p:spPr>
          <p:txBody>
            <a:bodyPr anchor="ctr" rtlCol="false" wrap="square" lIns="0" rIns="0" tIns="0" bIns="0">
              <a:noAutofit/>
            </a:bodyPr>
            <a:lstStyle/>
            <a:p>
              <a:pPr algn="l" indent="0">
                <a:lnSpc>
                  <a:spcPct val="100000"/>
                </a:lnSpc>
                <a:defRPr/>
              </a:pPr>
              <a:r>
                <a:rPr lang="en-US" b="false" i="false" strike="noStrike" u="none" sz="1400">
                  <a:solidFill>
                    <a:srgbClr val="4A3A3B"/>
                  </a:solidFill>
                  <a:latin typeface="Arial"/>
                  <a:ea typeface="Arial"/>
                  <a:cs typeface="Arial"/>
                  <a:sym typeface="Arial"/>
                </a:rPr>
                <a:t>缓存未命中则启动完整编译流水线，结果写入磁盘；命中则直接读取已编译二进制文件。</a:t>
              </a:r>
              <a:endParaRPr lang="en-US" sz="1100"/>
            </a:p>
          </p:txBody>
        </p:sp>
        <p:sp>
          <p:nvSpPr>
            <p:cNvPr name="AutoShape 19" id="19"/>
            <p:cNvSpPr/>
            <p:nvPr/>
          </p:nvSpPr>
          <p:spPr>
            <a:xfrm rot="0" flipH="false" flipV="false">
              <a:off x="6073170" y="4825444"/>
              <a:ext cx="179010" cy="64373"/>
            </a:xfrm>
            <a:prstGeom prst="rect">
              <a:avLst/>
            </a:prstGeom>
            <a:solidFill>
              <a:srgbClr val="7A6065">
                <a:alpha val="100000"/>
              </a:srgbClr>
            </a:solidFill>
            <a:ln w="12700">
              <a:solidFill>
                <a:srgbClr val="7A6065">
                  <a:alpha val="100000"/>
                </a:srgbClr>
              </a:solidFill>
              <a:prstDash val="solid"/>
            </a:ln>
          </p:spPr>
          <p:txBody>
            <a:bodyPr anchor="t" rtlCol="false" wrap="square" lIns="91440" rIns="91440" tIns="45720" bIns="45720">
              <a:noAutofit/>
            </a:bodyPr>
            <a:lstStyle/>
            <a:p>
              <a:pPr algn="ctr">
                <a:defRPr/>
              </a:pPr>
              <a:endParaRPr/>
            </a:p>
          </p:txBody>
        </p:sp>
        <p:sp>
          <p:nvSpPr>
            <p:cNvPr name="AutoShape 20" id="20"/>
            <p:cNvSpPr/>
            <p:nvPr/>
          </p:nvSpPr>
          <p:spPr>
            <a:xfrm rot="0" flipH="false" flipV="false">
              <a:off x="6168476" y="4728885"/>
              <a:ext cx="143373" cy="257492"/>
            </a:xfrm>
            <a:prstGeom prst="rect">
              <a:avLst/>
            </a:prstGeom>
            <a:noFill/>
            <a:ln w="12700">
              <a:noFill/>
              <a:prstDash val="solid"/>
            </a:ln>
          </p:spPr>
          <p:txBody>
            <a:bodyPr anchor="ctr" rtlCol="false" wrap="square" lIns="0" rIns="0" tIns="0" bIns="0">
              <a:noAutofit/>
            </a:bodyPr>
            <a:lstStyle/>
            <a:p>
              <a:pPr algn="l" indent="0">
                <a:lnSpc>
                  <a:spcPct val="100000"/>
                </a:lnSpc>
                <a:defRPr/>
              </a:pPr>
              <a:r>
                <a:rPr lang="en-US" b="false" i="false" strike="noStrike" u="none" sz="1000">
                  <a:solidFill>
                    <a:srgbClr val="7A6065"/>
                  </a:solidFill>
                  <a:latin typeface="微软雅黑"/>
                  <a:ea typeface="微软雅黑"/>
                  <a:cs typeface="微软雅黑"/>
                  <a:sym typeface="微软雅黑"/>
                </a:rPr>
                <a:t>▶</a:t>
              </a:r>
              <a:endParaRPr lang="en-US" sz="1100"/>
            </a:p>
          </p:txBody>
        </p:sp>
        <p:sp>
          <p:nvSpPr>
            <p:cNvPr name="AutoShape 21" id="21"/>
            <p:cNvSpPr/>
            <p:nvPr/>
          </p:nvSpPr>
          <p:spPr>
            <a:xfrm rot="0" flipH="false" flipV="false">
              <a:off x="6252180" y="3602355"/>
              <a:ext cx="2685143" cy="2574925"/>
            </a:xfrm>
            <a:prstGeom prst="rect">
              <a:avLst/>
            </a:prstGeom>
            <a:solidFill>
              <a:srgbClr val="FBF0F1">
                <a:alpha val="100000"/>
              </a:srgbClr>
            </a:solidFill>
            <a:ln w="25400">
              <a:solidFill>
                <a:srgbClr val="C4314A">
                  <a:alpha val="100000"/>
                </a:srgbClr>
              </a:solidFill>
              <a:prstDash val="solid"/>
            </a:ln>
            <a:effectLst>
              <a:outerShdw dir="8100000" dist="25400" blurRad="63500" algn="bl" rotWithShape="false">
                <a:srgbClr val="8B0012">
                  <a:alpha val="12000"/>
                </a:srgbClr>
              </a:outerShdw>
            </a:effectLst>
          </p:spPr>
          <p:txBody>
            <a:bodyPr anchor="t" rtlCol="false" wrap="square" lIns="91440" rIns="91440" tIns="45720" bIns="45720">
              <a:noAutofit/>
            </a:bodyPr>
            <a:lstStyle/>
            <a:p>
              <a:pPr algn="ctr">
                <a:defRPr/>
              </a:pPr>
              <a:endParaRPr/>
            </a:p>
          </p:txBody>
        </p:sp>
        <p:sp>
          <p:nvSpPr>
            <p:cNvPr name="AutoShape 22" id="22"/>
            <p:cNvSpPr/>
            <p:nvPr/>
          </p:nvSpPr>
          <p:spPr>
            <a:xfrm rot="0" flipH="false" flipV="false">
              <a:off x="6252180" y="3602355"/>
              <a:ext cx="2685143" cy="116229"/>
            </a:xfrm>
            <a:prstGeom prst="rect">
              <a:avLst/>
            </a:prstGeom>
            <a:solidFill>
              <a:srgbClr val="C4314A">
                <a:alpha val="100000"/>
              </a:srgbClr>
            </a:solidFill>
            <a:ln w="12700">
              <a:solidFill>
                <a:srgbClr val="C4314A">
                  <a:alpha val="100000"/>
                </a:srgbClr>
              </a:solidFill>
              <a:prstDash val="solid"/>
            </a:ln>
          </p:spPr>
          <p:txBody>
            <a:bodyPr anchor="t" rtlCol="false" wrap="square" lIns="91440" rIns="91440" tIns="45720" bIns="45720">
              <a:noAutofit/>
            </a:bodyPr>
            <a:lstStyle/>
            <a:p>
              <a:pPr algn="ctr">
                <a:defRPr/>
              </a:pPr>
              <a:endParaRPr/>
            </a:p>
          </p:txBody>
        </p:sp>
        <p:sp>
          <p:nvSpPr>
            <p:cNvPr name="AutoShape 23" id="23"/>
            <p:cNvSpPr/>
            <p:nvPr/>
          </p:nvSpPr>
          <p:spPr>
            <a:xfrm rot="0" flipH="false" flipV="false">
              <a:off x="6252180" y="3731101"/>
              <a:ext cx="2685143" cy="514985"/>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2800">
                  <a:solidFill>
                    <a:srgbClr val="C4314A"/>
                  </a:solidFill>
                  <a:latin typeface="Arial"/>
                  <a:ea typeface="Arial"/>
                  <a:cs typeface="Arial"/>
                  <a:sym typeface="Arial"/>
                </a:rPr>
                <a:t>③</a:t>
              </a:r>
              <a:endParaRPr lang="en-US" sz="1100"/>
            </a:p>
          </p:txBody>
        </p:sp>
        <p:sp>
          <p:nvSpPr>
            <p:cNvPr name="AutoShape 24" id="24"/>
            <p:cNvSpPr/>
            <p:nvPr/>
          </p:nvSpPr>
          <p:spPr>
            <a:xfrm rot="0" flipH="false" flipV="false">
              <a:off x="6371519" y="4272014"/>
              <a:ext cx="2446463" cy="463129"/>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1600">
                  <a:solidFill>
                    <a:srgbClr val="1C1C1C"/>
                  </a:solidFill>
                  <a:latin typeface="Arial"/>
                  <a:ea typeface="Arial"/>
                  <a:cs typeface="Arial"/>
                  <a:sym typeface="Arial"/>
                </a:rPr>
                <a:t>动态库加载</a:t>
              </a:r>
              <a:endParaRPr lang="en-US" sz="1100"/>
            </a:p>
          </p:txBody>
        </p:sp>
        <p:sp>
          <p:nvSpPr>
            <p:cNvPr name="AutoShape 25" id="25"/>
            <p:cNvSpPr/>
            <p:nvPr/>
          </p:nvSpPr>
          <p:spPr>
            <a:xfrm rot="0" flipH="false" flipV="false">
              <a:off x="6371519" y="4761071"/>
              <a:ext cx="2446463" cy="1351836"/>
            </a:xfrm>
            <a:prstGeom prst="rect">
              <a:avLst/>
            </a:prstGeom>
            <a:noFill/>
            <a:ln w="12700">
              <a:noFill/>
              <a:prstDash val="solid"/>
            </a:ln>
          </p:spPr>
          <p:txBody>
            <a:bodyPr anchor="ctr" rtlCol="false" wrap="square" lIns="0" rIns="0" tIns="0" bIns="0">
              <a:noAutofit/>
            </a:bodyPr>
            <a:lstStyle/>
            <a:p>
              <a:pPr algn="l" indent="0">
                <a:lnSpc>
                  <a:spcPct val="100000"/>
                </a:lnSpc>
                <a:defRPr/>
              </a:pPr>
              <a:r>
                <a:rPr lang="en-US" b="false" i="false" strike="noStrike" u="none" sz="1400">
                  <a:solidFill>
                    <a:srgbClr val="4A3A3B"/>
                  </a:solidFill>
                  <a:latin typeface="Arial"/>
                  <a:ea typeface="Arial"/>
                  <a:cs typeface="Arial"/>
                  <a:sym typeface="Arial"/>
                </a:rPr>
                <a:t>通过 cuModuleLoadData（NVIDIA）/ hipModuleLoad（AMD）或厂商等价 API 加载到设备，获取 kernel handle。</a:t>
              </a:r>
              <a:endParaRPr lang="en-US" sz="1100"/>
            </a:p>
          </p:txBody>
        </p:sp>
        <p:sp>
          <p:nvSpPr>
            <p:cNvPr name="AutoShape 26" id="26"/>
            <p:cNvSpPr/>
            <p:nvPr/>
          </p:nvSpPr>
          <p:spPr>
            <a:xfrm rot="0" flipH="false" flipV="false">
              <a:off x="8937323" y="4825444"/>
              <a:ext cx="179010" cy="64373"/>
            </a:xfrm>
            <a:prstGeom prst="rect">
              <a:avLst/>
            </a:prstGeom>
            <a:solidFill>
              <a:srgbClr val="7A6065">
                <a:alpha val="100000"/>
              </a:srgbClr>
            </a:solidFill>
            <a:ln w="12700">
              <a:solidFill>
                <a:srgbClr val="7A6065">
                  <a:alpha val="100000"/>
                </a:srgbClr>
              </a:solidFill>
              <a:prstDash val="solid"/>
            </a:ln>
          </p:spPr>
          <p:txBody>
            <a:bodyPr anchor="t" rtlCol="false" wrap="square" lIns="91440" rIns="91440" tIns="45720" bIns="45720">
              <a:noAutofit/>
            </a:bodyPr>
            <a:lstStyle/>
            <a:p>
              <a:pPr algn="ctr">
                <a:defRPr/>
              </a:pPr>
              <a:endParaRPr/>
            </a:p>
          </p:txBody>
        </p:sp>
        <p:sp>
          <p:nvSpPr>
            <p:cNvPr name="AutoShape 27" id="27"/>
            <p:cNvSpPr/>
            <p:nvPr/>
          </p:nvSpPr>
          <p:spPr>
            <a:xfrm rot="0" flipH="false" flipV="false">
              <a:off x="9032629" y="4728885"/>
              <a:ext cx="143373" cy="257492"/>
            </a:xfrm>
            <a:prstGeom prst="rect">
              <a:avLst/>
            </a:prstGeom>
            <a:noFill/>
            <a:ln w="12700">
              <a:noFill/>
              <a:prstDash val="solid"/>
            </a:ln>
          </p:spPr>
          <p:txBody>
            <a:bodyPr anchor="ctr" rtlCol="false" wrap="square" lIns="0" rIns="0" tIns="0" bIns="0">
              <a:noAutofit/>
            </a:bodyPr>
            <a:lstStyle/>
            <a:p>
              <a:pPr algn="l" indent="0">
                <a:lnSpc>
                  <a:spcPct val="100000"/>
                </a:lnSpc>
                <a:defRPr/>
              </a:pPr>
              <a:r>
                <a:rPr lang="en-US" b="false" i="false" strike="noStrike" u="none" sz="1000">
                  <a:solidFill>
                    <a:srgbClr val="7A6065"/>
                  </a:solidFill>
                  <a:latin typeface="微软雅黑"/>
                  <a:ea typeface="微软雅黑"/>
                  <a:cs typeface="微软雅黑"/>
                  <a:sym typeface="微软雅黑"/>
                </a:rPr>
                <a:t>▶</a:t>
              </a:r>
              <a:endParaRPr lang="en-US" sz="1100"/>
            </a:p>
          </p:txBody>
        </p:sp>
        <p:sp>
          <p:nvSpPr>
            <p:cNvPr name="AutoShape 28" id="28"/>
            <p:cNvSpPr/>
            <p:nvPr/>
          </p:nvSpPr>
          <p:spPr>
            <a:xfrm rot="0" flipH="false" flipV="false">
              <a:off x="9116332" y="3602355"/>
              <a:ext cx="2685143" cy="2574925"/>
            </a:xfrm>
            <a:prstGeom prst="rect">
              <a:avLst/>
            </a:prstGeom>
            <a:solidFill>
              <a:srgbClr val="FBF0F1">
                <a:alpha val="100000"/>
              </a:srgbClr>
            </a:solidFill>
            <a:ln w="25400">
              <a:solidFill>
                <a:srgbClr val="5C0009">
                  <a:alpha val="100000"/>
                </a:srgbClr>
              </a:solidFill>
              <a:prstDash val="solid"/>
            </a:ln>
            <a:effectLst>
              <a:outerShdw dir="8100000" dist="25400" blurRad="63500" algn="bl" rotWithShape="false">
                <a:srgbClr val="8B0012">
                  <a:alpha val="12000"/>
                </a:srgbClr>
              </a:outerShdw>
            </a:effectLst>
          </p:spPr>
          <p:txBody>
            <a:bodyPr anchor="t" rtlCol="false" wrap="square" lIns="91440" rIns="91440" tIns="45720" bIns="45720">
              <a:noAutofit/>
            </a:bodyPr>
            <a:lstStyle/>
            <a:p>
              <a:pPr algn="ctr">
                <a:defRPr/>
              </a:pPr>
              <a:endParaRPr/>
            </a:p>
          </p:txBody>
        </p:sp>
        <p:sp>
          <p:nvSpPr>
            <p:cNvPr name="AutoShape 29" id="29"/>
            <p:cNvSpPr/>
            <p:nvPr/>
          </p:nvSpPr>
          <p:spPr>
            <a:xfrm rot="0" flipH="false" flipV="false">
              <a:off x="9116332" y="3602355"/>
              <a:ext cx="2685143" cy="116229"/>
            </a:xfrm>
            <a:prstGeom prst="rect">
              <a:avLst/>
            </a:prstGeom>
            <a:solidFill>
              <a:srgbClr val="5C0009">
                <a:alpha val="100000"/>
              </a:srgbClr>
            </a:solidFill>
            <a:ln w="12700">
              <a:solidFill>
                <a:srgbClr val="5C0009">
                  <a:alpha val="100000"/>
                </a:srgbClr>
              </a:solidFill>
              <a:prstDash val="solid"/>
            </a:ln>
          </p:spPr>
          <p:txBody>
            <a:bodyPr anchor="t" rtlCol="false" wrap="square" lIns="91440" rIns="91440" tIns="45720" bIns="45720">
              <a:noAutofit/>
            </a:bodyPr>
            <a:lstStyle/>
            <a:p>
              <a:pPr algn="ctr">
                <a:defRPr/>
              </a:pPr>
              <a:endParaRPr/>
            </a:p>
          </p:txBody>
        </p:sp>
        <p:sp>
          <p:nvSpPr>
            <p:cNvPr name="AutoShape 30" id="30"/>
            <p:cNvSpPr/>
            <p:nvPr/>
          </p:nvSpPr>
          <p:spPr>
            <a:xfrm rot="0" flipH="false" flipV="false">
              <a:off x="9116332" y="3731101"/>
              <a:ext cx="2685143" cy="514985"/>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2800">
                  <a:solidFill>
                    <a:srgbClr val="5C0009"/>
                  </a:solidFill>
                  <a:latin typeface="Arial"/>
                  <a:ea typeface="Arial"/>
                  <a:cs typeface="Arial"/>
                  <a:sym typeface="Arial"/>
                </a:rPr>
                <a:t>④</a:t>
              </a:r>
              <a:endParaRPr lang="en-US" sz="1100"/>
            </a:p>
          </p:txBody>
        </p:sp>
        <p:sp>
          <p:nvSpPr>
            <p:cNvPr name="AutoShape 31" id="31"/>
            <p:cNvSpPr/>
            <p:nvPr/>
          </p:nvSpPr>
          <p:spPr>
            <a:xfrm rot="0" flipH="false" flipV="false">
              <a:off x="9235672" y="4272014"/>
              <a:ext cx="2446463" cy="463129"/>
            </a:xfrm>
            <a:prstGeom prst="rect">
              <a:avLst/>
            </a:prstGeom>
            <a:noFill/>
            <a:ln w="12700">
              <a:noFill/>
              <a:prstDash val="solid"/>
            </a:ln>
          </p:spPr>
          <p:txBody>
            <a:bodyPr anchor="ctr" rtlCol="false" wrap="square" lIns="0" rIns="0" tIns="0" bIns="0">
              <a:noAutofit/>
            </a:bodyPr>
            <a:lstStyle/>
            <a:p>
              <a:pPr algn="ctr" indent="0">
                <a:lnSpc>
                  <a:spcPct val="100000"/>
                </a:lnSpc>
                <a:defRPr/>
              </a:pPr>
              <a:r>
                <a:rPr lang="en-US" b="true" i="false" strike="noStrike" u="none" sz="1600">
                  <a:solidFill>
                    <a:srgbClr val="1C1C1C"/>
                  </a:solidFill>
                  <a:latin typeface="Arial"/>
                  <a:ea typeface="Arial"/>
                  <a:cs typeface="Arial"/>
                  <a:sym typeface="Arial"/>
                </a:rPr>
                <a:t>内核分发执行</a:t>
              </a:r>
              <a:endParaRPr lang="en-US" sz="1100"/>
            </a:p>
          </p:txBody>
        </p:sp>
        <p:sp>
          <p:nvSpPr>
            <p:cNvPr name="AutoShape 32" id="32"/>
            <p:cNvSpPr/>
            <p:nvPr/>
          </p:nvSpPr>
          <p:spPr>
            <a:xfrm rot="0" flipH="false" flipV="false">
              <a:off x="9235672" y="4761071"/>
              <a:ext cx="2446463" cy="1351836"/>
            </a:xfrm>
            <a:prstGeom prst="rect">
              <a:avLst/>
            </a:prstGeom>
            <a:noFill/>
            <a:ln w="12700">
              <a:noFill/>
              <a:prstDash val="solid"/>
            </a:ln>
          </p:spPr>
          <p:txBody>
            <a:bodyPr anchor="ctr" rtlCol="false" wrap="square" lIns="0" rIns="0" tIns="0" bIns="0">
              <a:noAutofit/>
            </a:bodyPr>
            <a:lstStyle/>
            <a:p>
              <a:pPr algn="l" indent="0">
                <a:lnSpc>
                  <a:spcPct val="100000"/>
                </a:lnSpc>
                <a:defRPr/>
              </a:pPr>
              <a:r>
                <a:rPr lang="en-US" b="false" i="false" strike="noStrike" u="none" sz="1400">
                  <a:solidFill>
                    <a:srgbClr val="4A3A3B"/>
                  </a:solidFill>
                  <a:latin typeface="Arial"/>
                  <a:ea typeface="Arial"/>
                  <a:cs typeface="Arial"/>
                  <a:sym typeface="Arial"/>
                </a:rPr>
                <a:t>UnifiedHardware Manager 统一封装 launch API，屏蔽厂商差异；FlagTree 替换系统 triton 包，上层框架无感切换。</a:t>
              </a:r>
              <a:endParaRPr lang="en-US" sz="1100"/>
            </a:p>
          </p:txBody>
        </p:sp>
      </p:grp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KernelGen </a:t>
            </a:r>
            <a:r>
              <a:rPr lang="en-US" b="false" i="false" strike="noStrike" u="none" sz="3600">
                <a:solidFill>
                  <a:srgbClr val="262626"/>
                </a:solidFill>
                <a:latin typeface="微软雅黑"/>
                <a:ea typeface="微软雅黑"/>
                <a:cs typeface="微软雅黑"/>
                <a:sym typeface="微软雅黑"/>
              </a:rPr>
              <a:t>生成代码示例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KernelGen </a:t>
            </a:r>
            <a:r>
              <a:rPr lang="en-US" b="false" i="false" strike="noStrike" u="none" sz="2400">
                <a:solidFill>
                  <a:srgbClr val="404040"/>
                </a:solidFill>
                <a:latin typeface="微软雅黑"/>
                <a:ea typeface="微软雅黑"/>
                <a:cs typeface="微软雅黑"/>
                <a:sym typeface="微软雅黑"/>
              </a:rPr>
              <a:t>生成的代码在功能上是完备</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在工程结构上通常表现为包含业务逻辑、测试工具与绘图脚本的混合型单文件</a:t>
            </a:r>
          </a:p>
        </p:txBody>
      </p:sp>
      <p:pic>
        <p:nvPicPr>
          <p:cNvPr name="Picture 6" id="6"/>
          <p:cNvPicPr>
            <a:picLocks noChangeAspect="true"/>
          </p:cNvPicPr>
          <p:nvPr/>
        </p:nvPicPr>
        <p:blipFill>
          <a:blip r:embed="rId2"/>
          <a:srcRect l="0" r="0" t="0" b="0"/>
          <a:stretch>
            <a:fillRect/>
          </a:stretch>
        </p:blipFill>
        <p:spPr>
          <a:xfrm rot="0" flipH="false" flipV="false">
            <a:off x="618490" y="2918460"/>
            <a:ext cx="5240655" cy="197675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316345" y="2497455"/>
            <a:ext cx="5485130" cy="3500120"/>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算子入库的工程门槛</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KernelGen </a:t>
            </a:r>
            <a:r>
              <a:rPr lang="en-US" b="false" i="false" strike="noStrike" u="none" sz="2400">
                <a:solidFill>
                  <a:srgbClr val="404040"/>
                </a:solidFill>
                <a:latin typeface="微软雅黑"/>
                <a:ea typeface="微软雅黑"/>
                <a:cs typeface="微软雅黑"/>
                <a:sym typeface="微软雅黑"/>
              </a:rPr>
              <a:t>生成的算子需要满足：</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在隔离环境中通过了正确性验证</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和</a:t>
            </a:r>
            <a:r>
              <a:rPr lang="en-US" b="false" i="false" strike="noStrike" u="none" sz="1600">
                <a:solidFill>
                  <a:srgbClr val="404040"/>
                </a:solidFill>
                <a:latin typeface="Calibri"/>
                <a:ea typeface="Calibri"/>
                <a:cs typeface="Calibri"/>
                <a:sym typeface="Calibri"/>
              </a:rPr>
              <a:t>CUDA</a:t>
            </a:r>
            <a:r>
              <a:rPr lang="en-US" b="false" i="false" strike="noStrike" u="none" sz="1600">
                <a:solidFill>
                  <a:srgbClr val="404040"/>
                </a:solidFill>
                <a:latin typeface="微软雅黑"/>
                <a:ea typeface="微软雅黑"/>
                <a:cs typeface="微软雅黑"/>
                <a:sym typeface="微软雅黑"/>
              </a:rPr>
              <a:t>版本的基础实现对比</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基础实现也由</a:t>
            </a:r>
            <a:r>
              <a:rPr lang="en-US" b="false" i="false" strike="noStrike" u="none" sz="1600">
                <a:solidFill>
                  <a:srgbClr val="404040"/>
                </a:solidFill>
                <a:latin typeface="Calibri"/>
                <a:ea typeface="Calibri"/>
                <a:cs typeface="Calibri"/>
                <a:sym typeface="Calibri"/>
              </a:rPr>
              <a:t>KernelGen</a:t>
            </a:r>
            <a:r>
              <a:rPr lang="en-US" b="false" i="false" strike="noStrike" u="none" sz="1600">
                <a:solidFill>
                  <a:srgbClr val="404040"/>
                </a:solidFill>
                <a:latin typeface="微软雅黑"/>
                <a:ea typeface="微软雅黑"/>
                <a:cs typeface="微软雅黑"/>
                <a:sym typeface="微软雅黑"/>
              </a:rPr>
              <a:t>生成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在性能测试中达到了预设的基准</a:t>
            </a:r>
          </a:p>
        </p:txBody>
      </p:sp>
      <p:pic>
        <p:nvPicPr>
          <p:cNvPr name="Picture 6" id="6"/>
          <p:cNvPicPr>
            <a:picLocks noChangeAspect="true"/>
          </p:cNvPicPr>
          <p:nvPr/>
        </p:nvPicPr>
        <p:blipFill>
          <a:blip r:embed="rId2"/>
          <a:srcRect l="0" r="0" t="0" b="0"/>
          <a:stretch>
            <a:fillRect/>
          </a:stretch>
        </p:blipFill>
        <p:spPr>
          <a:xfrm rot="0" flipH="false" flipV="false">
            <a:off x="6490335" y="640715"/>
            <a:ext cx="4722495" cy="585660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706120" y="3429000"/>
            <a:ext cx="5534660" cy="1281430"/>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规范化重构</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https://github.com/flagos-ai/KernelGen/tree/main/tools</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执行逻辑：</a:t>
            </a:r>
            <a:r>
              <a:rPr lang="en-US" b="false" i="false" strike="noStrike" u="none" sz="2400">
                <a:solidFill>
                  <a:srgbClr val="404040"/>
                </a:solidFill>
                <a:latin typeface="Calibri"/>
                <a:ea typeface="Calibri"/>
                <a:cs typeface="Calibri"/>
                <a:sym typeface="Calibri"/>
              </a:rPr>
              <a:t>AST </a:t>
            </a:r>
            <a:r>
              <a:rPr lang="en-US" b="false" i="false" strike="noStrike" u="none" sz="2400">
                <a:solidFill>
                  <a:srgbClr val="404040"/>
                </a:solidFill>
                <a:latin typeface="微软雅黑"/>
                <a:ea typeface="微软雅黑"/>
                <a:cs typeface="微软雅黑"/>
                <a:sym typeface="微软雅黑"/>
              </a:rPr>
              <a:t>解析与结构清洗，将原代码转化为符合标准的算子库模块</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内核提取：剥离基准测试，动态化网格配置。</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依赖注入：挂载</a:t>
            </a:r>
            <a:r>
              <a:rPr lang="en-US" b="false" i="false" strike="noStrike" u="none" sz="2400">
                <a:solidFill>
                  <a:srgbClr val="404040"/>
                </a:solidFill>
                <a:latin typeface="Calibri"/>
                <a:ea typeface="Calibri"/>
                <a:cs typeface="Calibri"/>
                <a:sym typeface="Calibri"/>
              </a:rPr>
              <a:t> FlagGems </a:t>
            </a:r>
            <a:r>
              <a:rPr lang="en-US" b="false" i="false" strike="noStrike" u="none" sz="2400">
                <a:solidFill>
                  <a:srgbClr val="404040"/>
                </a:solidFill>
                <a:latin typeface="微软雅黑"/>
                <a:ea typeface="微软雅黑"/>
                <a:cs typeface="微软雅黑"/>
                <a:sym typeface="微软雅黑"/>
              </a:rPr>
              <a:t>专属的</a:t>
            </a:r>
            <a:r>
              <a:rPr lang="en-US" b="false" i="false" strike="noStrike" u="none" sz="2400">
                <a:solidFill>
                  <a:srgbClr val="404040"/>
                </a:solidFill>
                <a:latin typeface="Calibri"/>
                <a:ea typeface="Calibri"/>
                <a:cs typeface="Calibri"/>
                <a:sym typeface="Calibri"/>
              </a:rPr>
              <a:t> @libentry </a:t>
            </a:r>
            <a:r>
              <a:rPr lang="en-US" b="false" i="false" strike="noStrike" u="none" sz="2400">
                <a:solidFill>
                  <a:srgbClr val="404040"/>
                </a:solidFill>
                <a:latin typeface="微软雅黑"/>
                <a:ea typeface="微软雅黑"/>
                <a:cs typeface="微软雅黑"/>
                <a:sym typeface="微软雅黑"/>
              </a:rPr>
              <a:t>装饰器以接入缓存调度机制</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测试迁移：重构断言为标准的</a:t>
            </a:r>
            <a:r>
              <a:rPr lang="en-US" b="false" i="false" strike="noStrike" u="none" sz="2400">
                <a:solidFill>
                  <a:srgbClr val="404040"/>
                </a:solidFill>
                <a:latin typeface="Calibri"/>
                <a:ea typeface="Calibri"/>
                <a:cs typeface="Calibri"/>
                <a:sym typeface="Calibri"/>
              </a:rPr>
              <a:t> pytest </a:t>
            </a:r>
            <a:r>
              <a:rPr lang="en-US" b="false" i="false" strike="noStrike" u="none" sz="2400">
                <a:solidFill>
                  <a:srgbClr val="404040"/>
                </a:solidFill>
                <a:latin typeface="微软雅黑"/>
                <a:ea typeface="微软雅黑"/>
                <a:cs typeface="微软雅黑"/>
                <a:sym typeface="微软雅黑"/>
              </a:rPr>
              <a:t>参数化测试框架。</a:t>
            </a:r>
          </a:p>
        </p:txBody>
      </p:sp>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规范化重构</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https://github.com/flagos-ai/KernelGen/tree/main/tools</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aphicFrame>
        <p:nvGraphicFramePr>
          <p:cNvPr name="Table 6" id="6"/>
          <p:cNvGraphicFramePr>
            <a:graphicFrameLocks noGrp="true"/>
          </p:cNvGraphicFramePr>
          <p:nvPr/>
        </p:nvGraphicFramePr>
        <p:xfrm>
          <a:off x="215900" y="1267318"/>
          <a:ext cx="11760200" cy="4954270"/>
        </p:xfrm>
        <a:graphic>
          <a:graphicData uri="http://schemas.openxmlformats.org/drawingml/2006/table">
            <a:tbl>
              <a:tblPr>
                <a:effectLst/>
              </a:tblPr>
              <a:tblGrid>
                <a:gridCol w="2906395"/>
                <a:gridCol w="5544185"/>
                <a:gridCol w="3309620"/>
              </a:tblGrid>
              <a:tr h="508000">
                <a:tc>
                  <a:txBody>
                    <a:bodyPr anchor="t" rtlCol="false"/>
                    <a:lstStyle/>
                    <a:p>
                      <a:pPr algn="ctr" indent="0">
                        <a:lnSpc>
                          <a:spcPct val="116666"/>
                        </a:lnSpc>
                        <a:defRPr/>
                      </a:pPr>
                      <a:r>
                        <a:rPr lang="en-US" b="true" i="false" strike="noStrike" u="none" sz="1600" spc="120">
                          <a:solidFill>
                            <a:srgbClr val="000000"/>
                          </a:solidFill>
                          <a:latin typeface="Arial"/>
                          <a:ea typeface="Arial"/>
                          <a:cs typeface="Arial"/>
                          <a:sym typeface="Arial"/>
                        </a:rPr>
                        <a:t>KernelGen </a:t>
                      </a:r>
                      <a:r>
                        <a:rPr lang="en-US" b="true" i="false" strike="noStrike" u="none" sz="1600" spc="120">
                          <a:solidFill>
                            <a:srgbClr val="000000"/>
                          </a:solidFill>
                          <a:latin typeface="微软雅黑"/>
                          <a:ea typeface="微软雅黑"/>
                          <a:cs typeface="微软雅黑"/>
                          <a:sym typeface="微软雅黑"/>
                        </a:rPr>
                        <a:t>原始文件输出</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8B0012">
                        <a:alpha val="100000"/>
                      </a:srgbClr>
                    </a:solidFill>
                  </a:tcPr>
                </a:tc>
                <a:tc>
                  <a:txBody>
                    <a:bodyPr anchor="t" rtlCol="false"/>
                    <a:lstStyle/>
                    <a:p>
                      <a:pPr algn="ctr" indent="0">
                        <a:lnSpc>
                          <a:spcPct val="116666"/>
                        </a:lnSpc>
                        <a:defRPr/>
                      </a:pPr>
                      <a:r>
                        <a:rPr lang="en-US" b="true" i="false" strike="noStrike" u="none" sz="1600" spc="120">
                          <a:solidFill>
                            <a:srgbClr val="000000"/>
                          </a:solidFill>
                          <a:latin typeface="Arial"/>
                          <a:ea typeface="Arial"/>
                          <a:cs typeface="Arial"/>
                          <a:sym typeface="Arial"/>
                        </a:rPr>
                        <a:t>convert.py </a:t>
                      </a:r>
                      <a:r>
                        <a:rPr lang="en-US" b="true" i="false" strike="noStrike" u="none" sz="1600" spc="120">
                          <a:solidFill>
                            <a:srgbClr val="000000"/>
                          </a:solidFill>
                          <a:latin typeface="微软雅黑"/>
                          <a:ea typeface="微软雅黑"/>
                          <a:cs typeface="微软雅黑"/>
                          <a:sym typeface="微软雅黑"/>
                        </a:rPr>
                        <a:t>解析行为与结构清洗</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8B0012">
                        <a:alpha val="100000"/>
                      </a:srgbClr>
                    </a:solidFill>
                  </a:tcPr>
                </a:tc>
                <a:tc>
                  <a:txBody>
                    <a:bodyPr anchor="t" rtlCol="false"/>
                    <a:lstStyle/>
                    <a:p>
                      <a:pPr algn="ctr" indent="0">
                        <a:lnSpc>
                          <a:spcPct val="116666"/>
                        </a:lnSpc>
                        <a:defRPr/>
                      </a:pPr>
                      <a:r>
                        <a:rPr lang="en-US" b="true" i="false" strike="noStrike" u="none" sz="1600" spc="120">
                          <a:solidFill>
                            <a:srgbClr val="000000"/>
                          </a:solidFill>
                          <a:latin typeface="Arial"/>
                          <a:ea typeface="Arial"/>
                          <a:cs typeface="Arial"/>
                          <a:sym typeface="Arial"/>
                        </a:rPr>
                        <a:t>FlagGems </a:t>
                      </a:r>
                      <a:r>
                        <a:rPr lang="en-US" b="true" i="false" strike="noStrike" u="none" sz="1600" spc="120">
                          <a:solidFill>
                            <a:srgbClr val="000000"/>
                          </a:solidFill>
                          <a:latin typeface="微软雅黑"/>
                          <a:ea typeface="微软雅黑"/>
                          <a:cs typeface="微软雅黑"/>
                          <a:sym typeface="微软雅黑"/>
                        </a:rPr>
                        <a:t>目标模块映射</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8B0012">
                        <a:alpha val="100000"/>
                      </a:srgbClr>
                    </a:solidFill>
                  </a:tcPr>
                </a:tc>
              </a:tr>
              <a:tr h="1239520">
                <a:tc>
                  <a:txBody>
                    <a:bodyPr anchor="t" rtlCol="false"/>
                    <a:lstStyle/>
                    <a:p>
                      <a:pPr algn="ctr" indent="0">
                        <a:lnSpc>
                          <a:spcPct val="116666"/>
                        </a:lnSpc>
                        <a:defRPr/>
                      </a:pPr>
                      <a:r>
                        <a:rPr lang="en-US" b="false" i="false" strike="noStrike" u="none" sz="1400" spc="120">
                          <a:solidFill>
                            <a:srgbClr val="000000"/>
                          </a:solidFill>
                          <a:latin typeface="Arial"/>
                          <a:ea typeface="Arial"/>
                          <a:cs typeface="Arial"/>
                          <a:sym typeface="Arial"/>
                        </a:rPr>
                        <a:t>[operator]_triton.py</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400" spc="120">
                          <a:solidFill>
                            <a:srgbClr val="000000"/>
                          </a:solidFill>
                          <a:latin typeface="微软雅黑"/>
                          <a:ea typeface="微软雅黑"/>
                          <a:cs typeface="微软雅黑"/>
                          <a:sym typeface="微软雅黑"/>
                        </a:rPr>
                        <a:t>剥离所有的性能基准与测试桩代码。提取包含</a:t>
                      </a:r>
                      <a:r>
                        <a:rPr lang="en-US" b="false" i="false" strike="noStrike" u="none" sz="1400" spc="120">
                          <a:solidFill>
                            <a:srgbClr val="000000"/>
                          </a:solidFill>
                          <a:latin typeface="Arial"/>
                          <a:ea typeface="Arial"/>
                          <a:cs typeface="Arial"/>
                          <a:sym typeface="Arial"/>
                        </a:rPr>
                        <a:t> @triton.jit </a:t>
                      </a:r>
                      <a:r>
                        <a:rPr lang="en-US" b="false" i="false" strike="noStrike" u="none" sz="1400" spc="120">
                          <a:solidFill>
                            <a:srgbClr val="000000"/>
                          </a:solidFill>
                          <a:latin typeface="微软雅黑"/>
                          <a:ea typeface="微软雅黑"/>
                          <a:cs typeface="微软雅黑"/>
                          <a:sym typeface="微软雅黑"/>
                        </a:rPr>
                        <a:t>的内核主函数。将</a:t>
                      </a:r>
                      <a:r>
                        <a:rPr lang="en-US" b="false" i="false" strike="noStrike" u="none" sz="1400" spc="120">
                          <a:solidFill>
                            <a:srgbClr val="000000"/>
                          </a:solidFill>
                          <a:latin typeface="Arial"/>
                          <a:ea typeface="Arial"/>
                          <a:cs typeface="Arial"/>
                          <a:sym typeface="Arial"/>
                        </a:rPr>
                        <a:t> KernelGen </a:t>
                      </a:r>
                      <a:r>
                        <a:rPr lang="en-US" b="false" i="false" strike="noStrike" u="none" sz="1400" spc="120">
                          <a:solidFill>
                            <a:srgbClr val="000000"/>
                          </a:solidFill>
                          <a:latin typeface="微软雅黑"/>
                          <a:ea typeface="微软雅黑"/>
                          <a:cs typeface="微软雅黑"/>
                          <a:sym typeface="微软雅黑"/>
                        </a:rPr>
                        <a:t>生成的硬编码启动参数转换为动态网格（</a:t>
                      </a:r>
                      <a:r>
                        <a:rPr lang="en-US" b="false" i="false" strike="noStrike" u="none" sz="1400" spc="120">
                          <a:solidFill>
                            <a:srgbClr val="000000"/>
                          </a:solidFill>
                          <a:latin typeface="Arial"/>
                          <a:ea typeface="Arial"/>
                          <a:cs typeface="Arial"/>
                          <a:sym typeface="Arial"/>
                        </a:rPr>
                        <a:t>Grid</a:t>
                      </a:r>
                      <a:r>
                        <a:rPr lang="en-US" b="false" i="false" strike="noStrike" u="none" sz="1400" spc="120">
                          <a:solidFill>
                            <a:srgbClr val="000000"/>
                          </a:solidFill>
                          <a:latin typeface="微软雅黑"/>
                          <a:ea typeface="微软雅黑"/>
                          <a:cs typeface="微软雅黑"/>
                          <a:sym typeface="微软雅黑"/>
                        </a:rPr>
                        <a:t>）配置；注入</a:t>
                      </a:r>
                      <a:r>
                        <a:rPr lang="en-US" b="false" i="false" strike="noStrike" u="none" sz="1400" spc="120">
                          <a:solidFill>
                            <a:srgbClr val="000000"/>
                          </a:solidFill>
                          <a:latin typeface="Arial"/>
                          <a:ea typeface="Arial"/>
                          <a:cs typeface="Arial"/>
                          <a:sym typeface="Arial"/>
                        </a:rPr>
                        <a:t> FlagGems </a:t>
                      </a:r>
                      <a:r>
                        <a:rPr lang="en-US" b="false" i="false" strike="noStrike" u="none" sz="1400" spc="120">
                          <a:solidFill>
                            <a:srgbClr val="000000"/>
                          </a:solidFill>
                          <a:latin typeface="微软雅黑"/>
                          <a:ea typeface="微软雅黑"/>
                          <a:cs typeface="微软雅黑"/>
                          <a:sym typeface="微软雅黑"/>
                        </a:rPr>
                        <a:t>专属的</a:t>
                      </a:r>
                      <a:r>
                        <a:rPr lang="en-US" b="false" i="false" strike="noStrike" u="none" sz="1400" spc="120">
                          <a:solidFill>
                            <a:srgbClr val="000000"/>
                          </a:solidFill>
                          <a:latin typeface="Arial"/>
                          <a:ea typeface="Arial"/>
                          <a:cs typeface="Arial"/>
                          <a:sym typeface="Arial"/>
                        </a:rPr>
                        <a:t> @libentry </a:t>
                      </a:r>
                      <a:r>
                        <a:rPr lang="en-US" b="false" i="false" strike="noStrike" u="none" sz="1400" spc="120">
                          <a:solidFill>
                            <a:srgbClr val="000000"/>
                          </a:solidFill>
                          <a:latin typeface="微软雅黑"/>
                          <a:ea typeface="微软雅黑"/>
                          <a:cs typeface="微软雅黑"/>
                          <a:sym typeface="微软雅黑"/>
                        </a:rPr>
                        <a:t>装饰器，以便挂载自动调优与启发式规则缓存机制。</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400" spc="120">
                          <a:solidFill>
                            <a:srgbClr val="000000"/>
                          </a:solidFill>
                          <a:latin typeface="Arial"/>
                          <a:ea typeface="Arial"/>
                          <a:cs typeface="Arial"/>
                          <a:sym typeface="Arial"/>
                        </a:rPr>
                        <a:t>src/flag_gems/ops/[operator].py</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727710">
                <a:tc>
                  <a:txBody>
                    <a:bodyPr anchor="t" rtlCol="false"/>
                    <a:lstStyle/>
                    <a:p>
                      <a:pPr algn="ctr" indent="0">
                        <a:lnSpc>
                          <a:spcPct val="116666"/>
                        </a:lnSpc>
                        <a:defRPr/>
                      </a:pPr>
                      <a:r>
                        <a:rPr lang="en-US" b="false" i="false" strike="noStrike" u="none" sz="1400" spc="120">
                          <a:solidFill>
                            <a:srgbClr val="000000"/>
                          </a:solidFill>
                          <a:latin typeface="Arial"/>
                          <a:ea typeface="Arial"/>
                          <a:cs typeface="Arial"/>
                          <a:sym typeface="Arial"/>
                        </a:rPr>
                        <a:t>[operator]_baseline.py</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400" spc="120">
                          <a:solidFill>
                            <a:srgbClr val="000000"/>
                          </a:solidFill>
                          <a:latin typeface="微软雅黑"/>
                          <a:ea typeface="微软雅黑"/>
                          <a:cs typeface="微软雅黑"/>
                          <a:sym typeface="微软雅黑"/>
                        </a:rPr>
                        <a:t>提取作为基准参照的原生</a:t>
                      </a:r>
                      <a:r>
                        <a:rPr lang="en-US" b="false" i="false" strike="noStrike" u="none" sz="1400" spc="120">
                          <a:solidFill>
                            <a:srgbClr val="000000"/>
                          </a:solidFill>
                          <a:latin typeface="Arial"/>
                          <a:ea typeface="Arial"/>
                          <a:cs typeface="Arial"/>
                          <a:sym typeface="Arial"/>
                        </a:rPr>
                        <a:t> PyTorch </a:t>
                      </a:r>
                      <a:r>
                        <a:rPr lang="en-US" b="false" i="false" strike="noStrike" u="none" sz="1400" spc="120">
                          <a:solidFill>
                            <a:srgbClr val="000000"/>
                          </a:solidFill>
                          <a:latin typeface="微软雅黑"/>
                          <a:ea typeface="微软雅黑"/>
                          <a:cs typeface="微软雅黑"/>
                          <a:sym typeface="微软雅黑"/>
                        </a:rPr>
                        <a:t>或</a:t>
                      </a:r>
                      <a:r>
                        <a:rPr lang="en-US" b="false" i="false" strike="noStrike" u="none" sz="1400" spc="120">
                          <a:solidFill>
                            <a:srgbClr val="000000"/>
                          </a:solidFill>
                          <a:latin typeface="Arial"/>
                          <a:ea typeface="Arial"/>
                          <a:cs typeface="Arial"/>
                          <a:sym typeface="Arial"/>
                        </a:rPr>
                        <a:t> CUDA </a:t>
                      </a:r>
                      <a:r>
                        <a:rPr lang="en-US" b="false" i="false" strike="noStrike" u="none" sz="1400" spc="120">
                          <a:solidFill>
                            <a:srgbClr val="000000"/>
                          </a:solidFill>
                          <a:latin typeface="微软雅黑"/>
                          <a:ea typeface="微软雅黑"/>
                          <a:cs typeface="微软雅黑"/>
                          <a:sym typeface="微软雅黑"/>
                        </a:rPr>
                        <a:t>算子实现，将其封装为测试套件中的对标函数。</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400" spc="120">
                          <a:solidFill>
                            <a:srgbClr val="000000"/>
                          </a:solidFill>
                          <a:latin typeface="微软雅黑"/>
                          <a:ea typeface="微软雅黑"/>
                          <a:cs typeface="微软雅黑"/>
                          <a:sym typeface="微软雅黑"/>
                        </a:rPr>
                        <a:t>提取后供测试模块调用。</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1239520">
                <a:tc>
                  <a:txBody>
                    <a:bodyPr anchor="t" rtlCol="false"/>
                    <a:lstStyle/>
                    <a:p>
                      <a:pPr algn="ctr" indent="0">
                        <a:lnSpc>
                          <a:spcPct val="116666"/>
                        </a:lnSpc>
                        <a:defRPr/>
                      </a:pPr>
                      <a:r>
                        <a:rPr lang="en-US" b="false" i="false" strike="noStrike" u="none" sz="1400" spc="120">
                          <a:solidFill>
                            <a:srgbClr val="000000"/>
                          </a:solidFill>
                          <a:latin typeface="Arial"/>
                          <a:ea typeface="Arial"/>
                          <a:cs typeface="Arial"/>
                          <a:sym typeface="Arial"/>
                        </a:rPr>
                        <a:t>test_[op]_accuracy.py</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400" spc="120">
                          <a:solidFill>
                            <a:srgbClr val="000000"/>
                          </a:solidFill>
                          <a:latin typeface="微软雅黑"/>
                          <a:ea typeface="微软雅黑"/>
                          <a:cs typeface="微软雅黑"/>
                          <a:sym typeface="微软雅黑"/>
                        </a:rPr>
                        <a:t>重构断言逻辑。将独立的断言脚本转化为符合标准</a:t>
                      </a:r>
                      <a:r>
                        <a:rPr lang="en-US" b="false" i="false" strike="noStrike" u="none" sz="1400" spc="120">
                          <a:solidFill>
                            <a:srgbClr val="000000"/>
                          </a:solidFill>
                          <a:latin typeface="Arial"/>
                          <a:ea typeface="Arial"/>
                          <a:cs typeface="Arial"/>
                          <a:sym typeface="Arial"/>
                        </a:rPr>
                        <a:t> pytest </a:t>
                      </a:r>
                      <a:r>
                        <a:rPr lang="en-US" b="false" i="false" strike="noStrike" u="none" sz="1400" spc="120">
                          <a:solidFill>
                            <a:srgbClr val="000000"/>
                          </a:solidFill>
                          <a:latin typeface="微软雅黑"/>
                          <a:ea typeface="微软雅黑"/>
                          <a:cs typeface="微软雅黑"/>
                          <a:sym typeface="微软雅黑"/>
                        </a:rPr>
                        <a:t>框架的单元测试类。注入不同数据类型（</a:t>
                      </a:r>
                      <a:r>
                        <a:rPr lang="en-US" b="false" i="false" strike="noStrike" u="none" sz="1400" spc="120">
                          <a:solidFill>
                            <a:srgbClr val="000000"/>
                          </a:solidFill>
                          <a:latin typeface="Arial"/>
                          <a:ea typeface="Arial"/>
                          <a:cs typeface="Arial"/>
                          <a:sym typeface="Arial"/>
                        </a:rPr>
                        <a:t>FP16, BF16, FP32</a:t>
                      </a:r>
                      <a:r>
                        <a:rPr lang="en-US" b="false" i="false" strike="noStrike" u="none" sz="1400" spc="120">
                          <a:solidFill>
                            <a:srgbClr val="000000"/>
                          </a:solidFill>
                          <a:latin typeface="微软雅黑"/>
                          <a:ea typeface="微软雅黑"/>
                          <a:cs typeface="微软雅黑"/>
                          <a:sym typeface="微软雅黑"/>
                        </a:rPr>
                        <a:t>）的参数化修饰器，补充针对</a:t>
                      </a:r>
                      <a:r>
                        <a:rPr lang="en-US" b="false" i="false" strike="noStrike" u="none" sz="1400" spc="120">
                          <a:solidFill>
                            <a:srgbClr val="000000"/>
                          </a:solidFill>
                          <a:latin typeface="Arial"/>
                          <a:ea typeface="Arial"/>
                          <a:cs typeface="Arial"/>
                          <a:sym typeface="Arial"/>
                        </a:rPr>
                        <a:t> NaN</a:t>
                      </a:r>
                      <a:r>
                        <a:rPr lang="en-US" b="false" i="false" strike="noStrike" u="none" sz="1400" spc="120">
                          <a:solidFill>
                            <a:srgbClr val="000000"/>
                          </a:solidFill>
                          <a:latin typeface="微软雅黑"/>
                          <a:ea typeface="微软雅黑"/>
                          <a:cs typeface="微软雅黑"/>
                          <a:sym typeface="微软雅黑"/>
                        </a:rPr>
                        <a:t>、</a:t>
                      </a:r>
                      <a:r>
                        <a:rPr lang="en-US" b="false" i="false" strike="noStrike" u="none" sz="1400" spc="120">
                          <a:solidFill>
                            <a:srgbClr val="000000"/>
                          </a:solidFill>
                          <a:latin typeface="Arial"/>
                          <a:ea typeface="Arial"/>
                          <a:cs typeface="Arial"/>
                          <a:sym typeface="Arial"/>
                        </a:rPr>
                        <a:t>Inf </a:t>
                      </a:r>
                      <a:r>
                        <a:rPr lang="en-US" b="false" i="false" strike="noStrike" u="none" sz="1400" spc="120">
                          <a:solidFill>
                            <a:srgbClr val="000000"/>
                          </a:solidFill>
                          <a:latin typeface="微软雅黑"/>
                          <a:ea typeface="微软雅黑"/>
                          <a:cs typeface="微软雅黑"/>
                          <a:sym typeface="微软雅黑"/>
                        </a:rPr>
                        <a:t>等非典型值的边界测试边界条件处理。</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400" spc="120">
                          <a:solidFill>
                            <a:srgbClr val="000000"/>
                          </a:solidFill>
                          <a:latin typeface="Arial"/>
                          <a:ea typeface="Arial"/>
                          <a:cs typeface="Arial"/>
                          <a:sym typeface="Arial"/>
                        </a:rPr>
                        <a:t>tests/[operator]_test.py</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1239520">
                <a:tc>
                  <a:txBody>
                    <a:bodyPr anchor="t" rtlCol="false"/>
                    <a:lstStyle/>
                    <a:p>
                      <a:pPr algn="ctr" indent="0">
                        <a:lnSpc>
                          <a:spcPct val="116666"/>
                        </a:lnSpc>
                        <a:defRPr/>
                      </a:pPr>
                      <a:r>
                        <a:rPr lang="en-US" b="false" i="false" strike="noStrike" u="none" sz="1400" spc="120">
                          <a:solidFill>
                            <a:srgbClr val="000000"/>
                          </a:solidFill>
                          <a:latin typeface="Arial"/>
                          <a:ea typeface="Arial"/>
                          <a:cs typeface="Arial"/>
                          <a:sym typeface="Arial"/>
                        </a:rPr>
                        <a:t>test_[op]_performance.py</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400" spc="120">
                          <a:solidFill>
                            <a:srgbClr val="000000"/>
                          </a:solidFill>
                          <a:latin typeface="微软雅黑"/>
                          <a:ea typeface="微软雅黑"/>
                          <a:cs typeface="微软雅黑"/>
                          <a:sym typeface="微软雅黑"/>
                        </a:rPr>
                        <a:t>清理图表生成代码。保留关键的</a:t>
                      </a:r>
                      <a:r>
                        <a:rPr lang="en-US" b="false" i="false" strike="noStrike" u="none" sz="1400" spc="120">
                          <a:solidFill>
                            <a:srgbClr val="000000"/>
                          </a:solidFill>
                          <a:latin typeface="Arial"/>
                          <a:ea typeface="Arial"/>
                          <a:cs typeface="Arial"/>
                          <a:sym typeface="Arial"/>
                        </a:rPr>
                        <a:t> Throughput</a:t>
                      </a:r>
                      <a:r>
                        <a:rPr lang="en-US" b="false" i="false" strike="noStrike" u="none" sz="1400" spc="120">
                          <a:solidFill>
                            <a:srgbClr val="000000"/>
                          </a:solidFill>
                          <a:latin typeface="微软雅黑"/>
                          <a:ea typeface="微软雅黑"/>
                          <a:cs typeface="微软雅黑"/>
                          <a:sym typeface="微软雅黑"/>
                        </a:rPr>
                        <a:t>（吞吐量）与</a:t>
                      </a:r>
                      <a:r>
                        <a:rPr lang="en-US" b="false" i="false" strike="noStrike" u="none" sz="1400" spc="120">
                          <a:solidFill>
                            <a:srgbClr val="000000"/>
                          </a:solidFill>
                          <a:latin typeface="Arial"/>
                          <a:ea typeface="Arial"/>
                          <a:cs typeface="Arial"/>
                          <a:sym typeface="Arial"/>
                        </a:rPr>
                        <a:t> Latency</a:t>
                      </a:r>
                      <a:r>
                        <a:rPr lang="en-US" b="false" i="false" strike="noStrike" u="none" sz="1400" spc="120">
                          <a:solidFill>
                            <a:srgbClr val="000000"/>
                          </a:solidFill>
                          <a:latin typeface="微软雅黑"/>
                          <a:ea typeface="微软雅黑"/>
                          <a:cs typeface="微软雅黑"/>
                          <a:sym typeface="微软雅黑"/>
                        </a:rPr>
                        <a:t>（延迟）评测逻辑，并集成入</a:t>
                      </a:r>
                      <a:r>
                        <a:rPr lang="en-US" b="false" i="false" strike="noStrike" u="none" sz="1400" spc="120">
                          <a:solidFill>
                            <a:srgbClr val="000000"/>
                          </a:solidFill>
                          <a:latin typeface="Arial"/>
                          <a:ea typeface="Arial"/>
                          <a:cs typeface="Arial"/>
                          <a:sym typeface="Arial"/>
                        </a:rPr>
                        <a:t> FlagGems </a:t>
                      </a:r>
                      <a:r>
                        <a:rPr lang="en-US" b="false" i="false" strike="noStrike" u="none" sz="1400" spc="120">
                          <a:solidFill>
                            <a:srgbClr val="000000"/>
                          </a:solidFill>
                          <a:latin typeface="微软雅黑"/>
                          <a:ea typeface="微软雅黑"/>
                          <a:cs typeface="微软雅黑"/>
                          <a:sym typeface="微软雅黑"/>
                        </a:rPr>
                        <a:t>的自动化</a:t>
                      </a:r>
                      <a:r>
                        <a:rPr lang="en-US" b="false" i="false" strike="noStrike" u="none" sz="1400" spc="120">
                          <a:solidFill>
                            <a:srgbClr val="000000"/>
                          </a:solidFill>
                          <a:latin typeface="Arial"/>
                          <a:ea typeface="Arial"/>
                          <a:cs typeface="Arial"/>
                          <a:sym typeface="Arial"/>
                        </a:rPr>
                        <a:t> CI/CD </a:t>
                      </a:r>
                      <a:r>
                        <a:rPr lang="en-US" b="false" i="false" strike="noStrike" u="none" sz="1400" spc="120">
                          <a:solidFill>
                            <a:srgbClr val="000000"/>
                          </a:solidFill>
                          <a:latin typeface="微软雅黑"/>
                          <a:ea typeface="微软雅黑"/>
                          <a:cs typeface="微软雅黑"/>
                          <a:sym typeface="微软雅黑"/>
                        </a:rPr>
                        <a:t>性能基准（</a:t>
                      </a:r>
                      <a:r>
                        <a:rPr lang="en-US" b="false" i="false" strike="noStrike" u="none" sz="1400" spc="120">
                          <a:solidFill>
                            <a:srgbClr val="000000"/>
                          </a:solidFill>
                          <a:latin typeface="Arial"/>
                          <a:ea typeface="Arial"/>
                          <a:cs typeface="Arial"/>
                          <a:sym typeface="Arial"/>
                        </a:rPr>
                        <a:t>Benchmark</a:t>
                      </a:r>
                      <a:r>
                        <a:rPr lang="en-US" b="false" i="false" strike="noStrike" u="none" sz="1400" spc="120">
                          <a:solidFill>
                            <a:srgbClr val="000000"/>
                          </a:solidFill>
                          <a:latin typeface="微软雅黑"/>
                          <a:ea typeface="微软雅黑"/>
                          <a:cs typeface="微软雅黑"/>
                          <a:sym typeface="微软雅黑"/>
                        </a:rPr>
                        <a:t>）评估流中，确保回归测试的稳定性。</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400" spc="120">
                          <a:solidFill>
                            <a:srgbClr val="000000"/>
                          </a:solidFill>
                          <a:latin typeface="Arial"/>
                          <a:ea typeface="Arial"/>
                          <a:cs typeface="Arial"/>
                          <a:sym typeface="Arial"/>
                        </a:rPr>
                        <a:t>tests/[operator]_test.py</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提交</a:t>
            </a:r>
            <a:r>
              <a:rPr lang="en-US" b="false" i="false" strike="noStrike" u="none" sz="3600">
                <a:solidFill>
                  <a:srgbClr val="262626"/>
                </a:solidFill>
                <a:latin typeface="Calibri"/>
                <a:ea typeface="Calibri"/>
                <a:cs typeface="Calibri"/>
                <a:sym typeface="Calibri"/>
              </a:rPr>
              <a:t>PR</a:t>
            </a:r>
            <a:r>
              <a:rPr lang="en-US" b="false" i="false" strike="noStrike" u="none" sz="3600">
                <a:solidFill>
                  <a:srgbClr val="262626"/>
                </a:solidFill>
                <a:latin typeface="微软雅黑"/>
                <a:ea typeface="微软雅黑"/>
                <a:cs typeface="微软雅黑"/>
                <a:sym typeface="微软雅黑"/>
              </a:rPr>
              <a:t>进入</a:t>
            </a:r>
            <a:r>
              <a:rPr lang="en-US" b="false" i="false" strike="noStrike" u="none" sz="3600">
                <a:solidFill>
                  <a:srgbClr val="262626"/>
                </a:solidFill>
                <a:latin typeface="Calibri"/>
                <a:ea typeface="Calibri"/>
                <a:cs typeface="Calibri"/>
                <a:sym typeface="Calibri"/>
              </a:rPr>
              <a:t>experimental_ops</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https://github.com/flagos-ai/FlagGems/tree/master/src/flag_gems/experimental_ops</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1945272" y="1323975"/>
            <a:ext cx="8434806" cy="4852988"/>
          </a:xfrm>
          <a:prstGeom prst="rect">
            <a:avLst/>
          </a:prstGeom>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