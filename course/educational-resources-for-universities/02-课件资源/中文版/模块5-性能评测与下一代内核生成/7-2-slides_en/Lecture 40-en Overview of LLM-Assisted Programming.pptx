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1.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5"/>
  </p:notesMasterIdLst>
  <p:sldIdLst>
    <p:sldId id="337" r:id="rId2"/>
    <p:sldId id="256" r:id="rId3"/>
    <p:sldId id="257"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9" r:id="rId23"/>
    <p:sldId id="280" r:id="rId24"/>
  </p:sldIdLst>
  <p:sldSz cx="12192000" cy="6858000"/>
  <p:notesSz cx="6858000" cy="12192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章 嘉玺" initials="章" lastIdx="1" clrIdx="0"/>
  <p:cmAuthor id="2" name="webuser" initials="webuser"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2442" autoAdjust="0"/>
  </p:normalViewPr>
  <p:slideViewPr>
    <p:cSldViewPr snapToGrid="0" snapToObjects="1">
      <p:cViewPr varScale="1">
        <p:scale>
          <a:sx n="50" d="100"/>
          <a:sy n="50" d="100"/>
        </p:scale>
        <p:origin x="103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b="0" i="0" u="none" strike="noStrike">
              <a:solidFill>
                <a:srgbClr val="000000"/>
              </a:solidFill>
            </a:endParaRPr>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a:lnSpc>
                <a:spcPct val="100000"/>
              </a:lnSpc>
            </a:pP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a:lnSpc>
                <a:spcPct val="100000"/>
              </a:lnSpc>
            </a:pP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a:lnSpc>
                <a:spcPct val="100000"/>
              </a:lnSpc>
            </a:pP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a:lnSpc>
                <a:spcPct val="100000"/>
              </a:lnSpc>
            </a:pP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4" name="图片 3"/>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上下">
    <p:spTree>
      <p:nvGrpSpPr>
        <p:cNvPr id="1" name=""/>
        <p:cNvGrpSpPr/>
        <p:nvPr/>
      </p:nvGrpSpPr>
      <p:grpSpPr>
        <a:xfrm>
          <a:off x="0" y="0"/>
          <a:ext cx="0" cy="0"/>
          <a:chOff x="0" y="0"/>
          <a:chExt cx="0" cy="0"/>
        </a:xfrm>
      </p:grpSpPr>
      <p:sp>
        <p:nvSpPr>
          <p:cNvPr id="1048642" name="标题 1"/>
          <p:cNvSpPr>
            <a:spLocks noGrp="1"/>
          </p:cNvSpPr>
          <p:nvPr>
            <p:ph type="title"/>
          </p:nvPr>
        </p:nvSpPr>
        <p:spPr/>
        <p:txBody>
          <a:bodyPr/>
          <a:lstStyle/>
          <a:p>
            <a:r>
              <a:rPr lang="zh-CN" altLang="en-US"/>
              <a:t>单击此处编辑母版标题样式</a:t>
            </a:r>
          </a:p>
        </p:txBody>
      </p:sp>
      <p:sp>
        <p:nvSpPr>
          <p:cNvPr id="1048643"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48644"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48645" name="内容占位符 3"/>
          <p:cNvSpPr>
            <a:spLocks noGrp="1"/>
          </p:cNvSpPr>
          <p:nvPr>
            <p:ph sz="quarter" idx="13" hasCustomPrompt="1"/>
          </p:nvPr>
        </p:nvSpPr>
        <p:spPr>
          <a:xfrm>
            <a:off x="523874" y="1323975"/>
            <a:ext cx="11277601"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1050438" name="标题 1"/>
          <p:cNvSpPr>
            <a:spLocks noGrp="1"/>
          </p:cNvSpPr>
          <p:nvPr>
            <p:ph type="title"/>
          </p:nvPr>
        </p:nvSpPr>
        <p:spPr/>
        <p:txBody>
          <a:bodyPr/>
          <a:lstStyle/>
          <a:p>
            <a:r>
              <a:rPr lang="zh-CN" altLang="en-US"/>
              <a:t>单击此处编辑母版标题样式</a:t>
            </a:r>
          </a:p>
        </p:txBody>
      </p:sp>
      <p:sp>
        <p:nvSpPr>
          <p:cNvPr id="1050439"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50440" name="内容占位符 3"/>
          <p:cNvSpPr>
            <a:spLocks noGrp="1"/>
          </p:cNvSpPr>
          <p:nvPr>
            <p:ph sz="quarter" idx="13" hasCustomPrompt="1"/>
          </p:nvPr>
        </p:nvSpPr>
        <p:spPr>
          <a:xfrm>
            <a:off x="523873" y="1323976"/>
            <a:ext cx="5591177"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1"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50442" name="内容占位符 3"/>
          <p:cNvSpPr>
            <a:spLocks noGrp="1"/>
          </p:cNvSpPr>
          <p:nvPr>
            <p:ph sz="quarter" idx="14" hasCustomPrompt="1"/>
          </p:nvPr>
        </p:nvSpPr>
        <p:spPr>
          <a:xfrm>
            <a:off x="6210297" y="1323977"/>
            <a:ext cx="5591177" cy="4856162"/>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左右">
    <p:spTree>
      <p:nvGrpSpPr>
        <p:cNvPr id="1" name=""/>
        <p:cNvGrpSpPr/>
        <p:nvPr/>
      </p:nvGrpSpPr>
      <p:grpSpPr>
        <a:xfrm>
          <a:off x="0" y="0"/>
          <a:ext cx="0" cy="0"/>
          <a:chOff x="0" y="0"/>
          <a:chExt cx="0" cy="0"/>
        </a:xfrm>
      </p:grpSpPr>
      <p:sp>
        <p:nvSpPr>
          <p:cNvPr id="1050443" name="标题 1"/>
          <p:cNvSpPr>
            <a:spLocks noGrp="1"/>
          </p:cNvSpPr>
          <p:nvPr>
            <p:ph type="title"/>
          </p:nvPr>
        </p:nvSpPr>
        <p:spPr>
          <a:xfrm>
            <a:off x="666749" y="457201"/>
            <a:ext cx="2771775" cy="5719762"/>
          </a:xfrm>
        </p:spPr>
        <p:txBody>
          <a:bodyPr/>
          <a:lstStyle/>
          <a:p>
            <a:r>
              <a:rPr kumimoji="1" lang="zh-CN" altLang="en-US"/>
              <a:t>单击此处编辑母版标题样式</a:t>
            </a:r>
            <a:endParaRPr kumimoji="1" lang="zh-CN" altLang="en-US" dirty="0"/>
          </a:p>
        </p:txBody>
      </p:sp>
      <p:sp>
        <p:nvSpPr>
          <p:cNvPr id="1050444" name="幻灯片编号占位符 3"/>
          <p:cNvSpPr>
            <a:spLocks noGrp="1"/>
          </p:cNvSpPr>
          <p:nvPr>
            <p:ph type="sldNum" sz="quarter" idx="11"/>
          </p:nvPr>
        </p:nvSpPr>
        <p:spPr/>
        <p:txBody>
          <a:bodyPr/>
          <a:lstStyle/>
          <a:p>
            <a:fld id="{B33F7469-D28B-482F-B1B6-3B8E7CF51519}" type="slidenum">
              <a:rPr lang="zh-CN" altLang="en-US" smtClean="0"/>
              <a:t>‹#›</a:t>
            </a:fld>
            <a:endParaRPr lang="zh-CN" altLang="en-US" dirty="0"/>
          </a:p>
        </p:txBody>
      </p:sp>
      <p:sp>
        <p:nvSpPr>
          <p:cNvPr id="1050445" name="内容占位符 3"/>
          <p:cNvSpPr>
            <a:spLocks noGrp="1"/>
          </p:cNvSpPr>
          <p:nvPr>
            <p:ph sz="quarter" idx="14" hasCustomPrompt="1"/>
          </p:nvPr>
        </p:nvSpPr>
        <p:spPr>
          <a:xfrm>
            <a:off x="3657600" y="457201"/>
            <a:ext cx="8001000" cy="5719763"/>
          </a:xfrm>
        </p:spPr>
        <p:txBody>
          <a:bodyPr anchor="t"/>
          <a:lstStyle>
            <a:lvl1pPr algn="l"/>
            <a:lvl2pPr algn="l"/>
            <a:lvl3pPr algn="l"/>
            <a:lvl4pPr algn="l"/>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6" name="页脚占位符 3"/>
          <p:cNvSpPr>
            <a:spLocks noGrp="1"/>
          </p:cNvSpPr>
          <p:nvPr>
            <p:ph type="ftr" sz="quarter" idx="15"/>
          </p:nvPr>
        </p:nvSpPr>
        <p:spPr>
          <a:xfrm>
            <a:off x="523873" y="6356351"/>
            <a:ext cx="11277601" cy="365125"/>
          </a:xfrm>
        </p:spPr>
        <p:txBody>
          <a:bodyPr/>
          <a:lstStyle/>
          <a:p>
            <a:endParaRPr lang="zh-CN" alt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大纲">
    <p:spTree>
      <p:nvGrpSpPr>
        <p:cNvPr id="1" name=""/>
        <p:cNvGrpSpPr/>
        <p:nvPr/>
      </p:nvGrpSpPr>
      <p:grpSpPr>
        <a:xfrm>
          <a:off x="0" y="0"/>
          <a:ext cx="0" cy="0"/>
          <a:chOff x="0" y="0"/>
          <a:chExt cx="0" cy="0"/>
        </a:xfrm>
      </p:grpSpPr>
      <p:sp>
        <p:nvSpPr>
          <p:cNvPr id="1048650" name="内容占位符 2"/>
          <p:cNvSpPr>
            <a:spLocks noGrp="1"/>
          </p:cNvSpPr>
          <p:nvPr>
            <p:ph sz="quarter" idx="10" hasCustomPrompt="1"/>
            <p:custDataLst>
              <p:tags r:id="rId1"/>
            </p:custDataLst>
          </p:nvPr>
        </p:nvSpPr>
        <p:spPr>
          <a:xfrm>
            <a:off x="5452216" y="0"/>
            <a:ext cx="6110447" cy="6858000"/>
          </a:xfrm>
        </p:spPr>
        <p:txBody>
          <a:bodyPr anchor="ctr"/>
          <a:lstStyle>
            <a:lvl1pPr algn="l">
              <a:lnSpc>
                <a:spcPct val="100000"/>
              </a:lnSpc>
              <a:spcBef>
                <a:spcPts val="3000"/>
              </a:spcBef>
              <a:defRPr sz="2800" baseline="0">
                <a:latin typeface="Ebrima" panose="02000000000000000000" charset="0"/>
              </a:defRPr>
            </a:lvl1pPr>
            <a:lvl2pPr algn="l">
              <a:lnSpc>
                <a:spcPct val="100000"/>
              </a:lnSpc>
              <a:defRPr sz="2400" baseline="0">
                <a:latin typeface="Ebrima" panose="02000000000000000000" charset="0"/>
              </a:defRPr>
            </a:lvl2pPr>
            <a:lvl3pPr algn="l">
              <a:lnSpc>
                <a:spcPct val="100000"/>
              </a:lnSpc>
              <a:defRPr sz="2000" baseline="0">
                <a:latin typeface="Ebrima" panose="02000000000000000000" charset="0"/>
              </a:defRPr>
            </a:lvl3pPr>
            <a:lvl4pPr algn="l">
              <a:lnSpc>
                <a:spcPct val="100000"/>
              </a:lnSpc>
              <a:defRPr sz="1600" baseline="0">
                <a:latin typeface="Ebrima" panose="02000000000000000000" charset="0"/>
              </a:defRP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48658" name="内容占位符 22"/>
          <p:cNvSpPr>
            <a:spLocks noGrp="1"/>
          </p:cNvSpPr>
          <p:nvPr>
            <p:ph sz="quarter" idx="11" hasCustomPrompt="1"/>
            <p:custDataLst>
              <p:tags r:id="rId2"/>
            </p:custDataLst>
          </p:nvPr>
        </p:nvSpPr>
        <p:spPr>
          <a:xfrm>
            <a:off x="0" y="0"/>
            <a:ext cx="4659313" cy="6858000"/>
          </a:xfrm>
          <a:solidFill>
            <a:srgbClr val="8B0012"/>
          </a:solidFill>
        </p:spPr>
        <p:txBody>
          <a:bodyPr anchor="ctr">
            <a:normAutofit/>
          </a:bodyPr>
          <a:lstStyle>
            <a:lvl1pPr marL="0" indent="0" algn="ctr">
              <a:buNone/>
              <a:defRPr sz="3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Outline</a:t>
            </a:r>
            <a:endParaRPr lang="zh-CN" alt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自定义版式">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name="Unnamed Layou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1256418" y="5448300"/>
            <a:ext cx="10396122" cy="447675"/>
          </a:xfrm>
          <a:prstGeom prst="rect">
            <a:avLst/>
          </a:prstGeom>
        </p:spPr>
        <p:txBody>
          <a:bodyPr/>
          <a:lstStyle>
            <a:lvl1pPr algn="ctr">
              <a:defRPr lang="zh-CN" altLang="en-US" sz="2400" b="0" i="0" kern="1200" baseline="0" smtClean="0">
                <a:solidFill>
                  <a:schemeClr val="tx1">
                    <a:lumMod val="85000"/>
                    <a:lumOff val="15000"/>
                  </a:schemeClr>
                </a:solidFill>
                <a:latin typeface="Calibri Light" panose="020F0302020204030204" pitchFamily="34" charset="0"/>
                <a:ea typeface="微软雅黑" panose="020B0503020204020204" charset="-122"/>
                <a:cs typeface="Calibri Light" panose="020F0302020204030204" pitchFamily="34" charset="0"/>
              </a:defRPr>
            </a:lvl1pPr>
          </a:lstStyle>
          <a:p>
            <a:endParaRPr lang="en-US" dirty="0"/>
          </a:p>
        </p:txBody>
      </p:sp>
      <p:sp>
        <p:nvSpPr>
          <p:cNvPr id="4" name="页脚占位符 3"/>
          <p:cNvSpPr>
            <a:spLocks noGrp="1"/>
          </p:cNvSpPr>
          <p:nvPr>
            <p:ph type="ftr" sz="quarter" idx="11"/>
          </p:nvPr>
        </p:nvSpPr>
        <p:spPr>
          <a:xfrm>
            <a:off x="1256418" y="6356351"/>
            <a:ext cx="10396122" cy="365125"/>
          </a:xfrm>
          <a:prstGeom prst="rect">
            <a:avLst/>
          </a:prstGeom>
        </p:spPr>
        <p:txBody>
          <a:bodyPr/>
          <a:lstStyle/>
          <a:p>
            <a:endParaRPr lang="zh-CN" altLang="en-US" dirty="0"/>
          </a:p>
        </p:txBody>
      </p:sp>
      <p:sp>
        <p:nvSpPr>
          <p:cNvPr id="5"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sp>
        <p:nvSpPr>
          <p:cNvPr id="6" name="副标题 2"/>
          <p:cNvSpPr>
            <a:spLocks noGrp="1"/>
          </p:cNvSpPr>
          <p:nvPr>
            <p:ph type="subTitle" idx="1"/>
          </p:nvPr>
        </p:nvSpPr>
        <p:spPr>
          <a:xfrm>
            <a:off x="1260390" y="4846320"/>
            <a:ext cx="10392032" cy="474980"/>
          </a:xfrm>
          <a:prstGeom prst="rect">
            <a:avLst/>
          </a:prstGeom>
        </p:spPr>
        <p:txBody>
          <a:bodyPr anchor="ctr">
            <a:noAutofit/>
          </a:bodyPr>
          <a:lstStyle>
            <a:lvl1pPr marL="0" indent="0" algn="ctr">
              <a:buNone/>
              <a:defRPr sz="2400" b="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7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727587" y="1622323"/>
            <a:ext cx="10943800" cy="3028335"/>
          </a:xfrm>
        </p:spPr>
        <p:txBody>
          <a:bodyPr anchor="ctr">
            <a:noAutofit/>
          </a:bodyPr>
          <a:lstStyle>
            <a:lvl1pPr algn="l"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280086901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3136489" y="3716594"/>
            <a:ext cx="8534897" cy="2664541"/>
          </a:xfrm>
        </p:spPr>
        <p:txBody>
          <a:bodyPr anchor="ctr">
            <a:noAutofit/>
          </a:bodyPr>
          <a:lstStyle>
            <a:lvl1pPr algn="r"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304515875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4"/>
          <a:stretch>
            <a:fillRect/>
          </a:stretch>
        </a:blipFill>
        <a:effectLst/>
      </p:bgPr>
    </p:bg>
    <p:spTree>
      <p:nvGrpSpPr>
        <p:cNvPr id="1" name=""/>
        <p:cNvGrpSpPr/>
        <p:nvPr/>
      </p:nvGrpSpPr>
      <p:grpSpPr>
        <a:xfrm>
          <a:off x="0" y="0"/>
          <a:ext cx="0" cy="0"/>
          <a:chOff x="0" y="0"/>
          <a:chExt cx="0" cy="0"/>
        </a:xfrm>
      </p:grpSpPr>
      <p:sp>
        <p:nvSpPr>
          <p:cNvPr id="1048637" name="文本占位符 2"/>
          <p:cNvSpPr>
            <a:spLocks noGrp="1"/>
          </p:cNvSpPr>
          <p:nvPr>
            <p:ph type="body" idx="1"/>
          </p:nvPr>
        </p:nvSpPr>
        <p:spPr>
          <a:xfrm>
            <a:off x="523874" y="1323975"/>
            <a:ext cx="11277601" cy="4832577"/>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48638" name="标题占位符 1"/>
          <p:cNvSpPr>
            <a:spLocks noGrp="1"/>
          </p:cNvSpPr>
          <p:nvPr>
            <p:ph type="title"/>
          </p:nvPr>
        </p:nvSpPr>
        <p:spPr>
          <a:xfrm>
            <a:off x="741404" y="431629"/>
            <a:ext cx="9987507" cy="700925"/>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1048639" name="页脚占位符 4"/>
          <p:cNvSpPr>
            <a:spLocks noGrp="1"/>
          </p:cNvSpPr>
          <p:nvPr>
            <p:ph type="ftr" sz="quarter" idx="3"/>
          </p:nvPr>
        </p:nvSpPr>
        <p:spPr>
          <a:xfrm>
            <a:off x="523874" y="6356351"/>
            <a:ext cx="11277601" cy="365125"/>
          </a:xfrm>
          <a:prstGeom prst="rect">
            <a:avLst/>
          </a:prstGeom>
        </p:spPr>
        <p:txBody>
          <a:bodyPr vert="horz" lIns="91440" tIns="45720" rIns="91440" bIns="45720" rtlCol="0" anchor="ctr"/>
          <a:lstStyle>
            <a:lvl1pPr algn="l">
              <a:defRPr sz="1400" baseline="0">
                <a:solidFill>
                  <a:schemeClr val="accent3"/>
                </a:solidFill>
                <a:latin typeface="Garamond" panose="02020404030301010803" charset="0"/>
                <a:ea typeface="微软雅黑" panose="020B0503020204020204" charset="-122"/>
              </a:defRPr>
            </a:lvl1pPr>
          </a:lstStyle>
          <a:p>
            <a:endParaRPr lang="zh-CN" altLang="en-US" dirty="0"/>
          </a:p>
        </p:txBody>
      </p:sp>
      <p:sp>
        <p:nvSpPr>
          <p:cNvPr id="1048640" name="Freeform 5"/>
          <p:cNvSpPr/>
          <p:nvPr/>
        </p:nvSpPr>
        <p:spPr bwMode="auto">
          <a:xfrm flipV="1">
            <a:off x="-4185" y="529393"/>
            <a:ext cx="564624" cy="507999"/>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rgbClr val="8B0012"/>
          </a:solidFill>
          <a:ln>
            <a:noFill/>
          </a:ln>
        </p:spPr>
        <p:txBody>
          <a:bodyPr/>
          <a:lstStyle/>
          <a:p>
            <a:endParaRPr lang="en-US" sz="1350" dirty="0"/>
          </a:p>
        </p:txBody>
      </p:sp>
      <p:sp>
        <p:nvSpPr>
          <p:cNvPr id="1048641" name="灯片编号占位符 5"/>
          <p:cNvSpPr>
            <a:spLocks noGrp="1"/>
          </p:cNvSpPr>
          <p:nvPr>
            <p:ph type="sldNum" sz="quarter" idx="4"/>
          </p:nvPr>
        </p:nvSpPr>
        <p:spPr>
          <a:xfrm>
            <a:off x="1" y="593458"/>
            <a:ext cx="419099" cy="365125"/>
          </a:xfrm>
          <a:prstGeom prst="rect">
            <a:avLst/>
          </a:prstGeom>
        </p:spPr>
        <p:txBody>
          <a:bodyPr vert="horz" lIns="91440" tIns="45720" rIns="91440" bIns="45720" rtlCol="0" anchor="ctr"/>
          <a:lstStyle>
            <a:lvl1pPr algn="r">
              <a:defRPr sz="1600" b="0" baseline="0">
                <a:solidFill>
                  <a:schemeClr val="bg1"/>
                </a:solidFill>
                <a:latin typeface="Garamond" panose="02020404030301010803" charset="0"/>
                <a:ea typeface="微软雅黑" panose="020B0503020204020204" charset="-122"/>
                <a:cs typeface="Calibri" panose="020F0502020204030204" charset="0"/>
              </a:defRPr>
            </a:lvl1pPr>
          </a:lstStyle>
          <a:p>
            <a:fld id="{B33F7469-D28B-482F-B1B6-3B8E7CF51519}" type="slidenum">
              <a:rPr lang="zh-CN" altLang="en-US" smtClean="0"/>
              <a:t>‹#›</a:t>
            </a:fld>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15"/>
            <a:stretch>
              <a:fillRect/>
            </a:stretch>
          </p:blipFill>
          <p:spPr>
            <a:xfrm>
              <a:off x="9247450" y="319584"/>
              <a:ext cx="1096400" cy="336123"/>
            </a:xfrm>
            <a:prstGeom prst="rect">
              <a:avLst/>
            </a:prstGeom>
          </p:spPr>
        </p:pic>
        <p:pic>
          <p:nvPicPr>
            <p:cNvPr id="4" name="图片 3"/>
            <p:cNvPicPr>
              <a:picLocks noChangeAspect="1"/>
            </p:cNvPicPr>
            <p:nvPr/>
          </p:nvPicPr>
          <p:blipFill>
            <a:blip r:embed="rId16"/>
            <a:srcRect l="13229" t="29812" r="10431" b="29796"/>
            <a:stretch>
              <a:fillRect/>
            </a:stretch>
          </p:blipFill>
          <p:spPr>
            <a:xfrm>
              <a:off x="10553199" y="217531"/>
              <a:ext cx="1274701" cy="547850"/>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dt="0"/>
  <p:txStyles>
    <p:titleStyle>
      <a:lvl1pPr algn="l" defTabSz="342900" rtl="0" eaLnBrk="1" latinLnBrk="0" hangingPunct="1">
        <a:spcBef>
          <a:spcPct val="0"/>
        </a:spcBef>
        <a:buNone/>
        <a:defRPr lang="zh-CN" altLang="en-US" sz="3600" b="0" i="0" kern="1200" baseline="0" dirty="0">
          <a:solidFill>
            <a:schemeClr val="tx1">
              <a:lumMod val="85000"/>
              <a:lumOff val="15000"/>
            </a:schemeClr>
          </a:solidFill>
          <a:latin typeface="Calibri" panose="020F0502020204030204" charset="0"/>
          <a:ea typeface="微软雅黑" panose="020B050302020402020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notesSlide" Target="../notesSlides/notesSlide3.xml"/><Relationship Id="rId26" Type="http://schemas.openxmlformats.org/officeDocument/2006/relationships/image" Target="../media/image12.svg"/><Relationship Id="rId3" Type="http://schemas.openxmlformats.org/officeDocument/2006/relationships/tags" Target="../tags/tag5.xml"/><Relationship Id="rId21" Type="http://schemas.openxmlformats.org/officeDocument/2006/relationships/image" Target="../media/image7.png"/><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slideLayout" Target="../slideLayouts/slideLayout2.xml"/><Relationship Id="rId25" Type="http://schemas.openxmlformats.org/officeDocument/2006/relationships/image" Target="../media/image11.png"/><Relationship Id="rId2" Type="http://schemas.openxmlformats.org/officeDocument/2006/relationships/tags" Target="../tags/tag4.xml"/><Relationship Id="rId16" Type="http://schemas.openxmlformats.org/officeDocument/2006/relationships/tags" Target="../tags/tag18.xml"/><Relationship Id="rId20" Type="http://schemas.openxmlformats.org/officeDocument/2006/relationships/image" Target="../media/image6.svg"/><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24" Type="http://schemas.openxmlformats.org/officeDocument/2006/relationships/image" Target="../media/image10.svg"/><Relationship Id="rId5" Type="http://schemas.openxmlformats.org/officeDocument/2006/relationships/tags" Target="../tags/tag7.xml"/><Relationship Id="rId15" Type="http://schemas.openxmlformats.org/officeDocument/2006/relationships/tags" Target="../tags/tag17.xml"/><Relationship Id="rId23" Type="http://schemas.openxmlformats.org/officeDocument/2006/relationships/image" Target="../media/image9.png"/><Relationship Id="rId10" Type="http://schemas.openxmlformats.org/officeDocument/2006/relationships/tags" Target="../tags/tag12.xml"/><Relationship Id="rId19" Type="http://schemas.openxmlformats.org/officeDocument/2006/relationships/image" Target="../media/image5.png"/><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image" Target="../media/image8.svg"/><Relationship Id="rId27" Type="http://schemas.openxmlformats.org/officeDocument/2006/relationships/image" Target="../media/image13.jpe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22.svg"/><Relationship Id="rId3" Type="http://schemas.openxmlformats.org/officeDocument/2006/relationships/image" Target="../media/image14.png"/><Relationship Id="rId7" Type="http://schemas.openxmlformats.org/officeDocument/2006/relationships/image" Target="../media/image18.svg"/><Relationship Id="rId12" Type="http://schemas.openxmlformats.org/officeDocument/2006/relationships/image" Target="../media/image21.png"/><Relationship Id="rId17" Type="http://schemas.openxmlformats.org/officeDocument/2006/relationships/image" Target="../media/image26.svg"/><Relationship Id="rId2" Type="http://schemas.openxmlformats.org/officeDocument/2006/relationships/notesSlide" Target="../notesSlides/notesSlide4.xml"/><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0.svg"/><Relationship Id="rId5" Type="http://schemas.openxmlformats.org/officeDocument/2006/relationships/image" Target="../media/image16.jpeg"/><Relationship Id="rId15" Type="http://schemas.openxmlformats.org/officeDocument/2006/relationships/image" Target="../media/image24.svg"/><Relationship Id="rId10" Type="http://schemas.openxmlformats.org/officeDocument/2006/relationships/image" Target="../media/image19.png"/><Relationship Id="rId4" Type="http://schemas.openxmlformats.org/officeDocument/2006/relationships/image" Target="../media/image15.svg"/><Relationship Id="rId9" Type="http://schemas.openxmlformats.org/officeDocument/2006/relationships/image" Target="../media/image6.svg"/><Relationship Id="rId14" Type="http://schemas.openxmlformats.org/officeDocument/2006/relationships/image" Target="../media/image2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14.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15.svg"/><Relationship Id="rId9"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tags" Target="../tags/tag31.xml"/><Relationship Id="rId18" Type="http://schemas.openxmlformats.org/officeDocument/2006/relationships/notesSlide" Target="../notesSlides/notesSlide7.xml"/><Relationship Id="rId26" Type="http://schemas.openxmlformats.org/officeDocument/2006/relationships/image" Target="../media/image37.svg"/><Relationship Id="rId3" Type="http://schemas.openxmlformats.org/officeDocument/2006/relationships/tags" Target="../tags/tag21.xml"/><Relationship Id="rId21" Type="http://schemas.openxmlformats.org/officeDocument/2006/relationships/image" Target="../media/image32.png"/><Relationship Id="rId7" Type="http://schemas.openxmlformats.org/officeDocument/2006/relationships/tags" Target="../tags/tag25.xml"/><Relationship Id="rId12" Type="http://schemas.openxmlformats.org/officeDocument/2006/relationships/tags" Target="../tags/tag30.xml"/><Relationship Id="rId17" Type="http://schemas.openxmlformats.org/officeDocument/2006/relationships/slideLayout" Target="../slideLayouts/slideLayout2.xml"/><Relationship Id="rId25" Type="http://schemas.openxmlformats.org/officeDocument/2006/relationships/image" Target="../media/image36.png"/><Relationship Id="rId2" Type="http://schemas.openxmlformats.org/officeDocument/2006/relationships/tags" Target="../tags/tag20.xml"/><Relationship Id="rId16" Type="http://schemas.openxmlformats.org/officeDocument/2006/relationships/tags" Target="../tags/tag34.xml"/><Relationship Id="rId20" Type="http://schemas.openxmlformats.org/officeDocument/2006/relationships/image" Target="../media/image28.sv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24" Type="http://schemas.openxmlformats.org/officeDocument/2006/relationships/image" Target="../media/image35.svg"/><Relationship Id="rId5" Type="http://schemas.openxmlformats.org/officeDocument/2006/relationships/tags" Target="../tags/tag23.xml"/><Relationship Id="rId15" Type="http://schemas.openxmlformats.org/officeDocument/2006/relationships/tags" Target="../tags/tag33.xml"/><Relationship Id="rId23" Type="http://schemas.openxmlformats.org/officeDocument/2006/relationships/image" Target="../media/image34.png"/><Relationship Id="rId10" Type="http://schemas.openxmlformats.org/officeDocument/2006/relationships/tags" Target="../tags/tag28.xml"/><Relationship Id="rId19" Type="http://schemas.openxmlformats.org/officeDocument/2006/relationships/image" Target="../media/image27.png"/><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tags" Target="../tags/tag32.xml"/><Relationship Id="rId22" Type="http://schemas.openxmlformats.org/officeDocument/2006/relationships/image" Target="../media/image33.svg"/><Relationship Id="rId27" Type="http://schemas.openxmlformats.org/officeDocument/2006/relationships/image" Target="../media/image38.png"/></Relationships>
</file>

<file path=ppt/slides/_rels/slide1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jpeg"/><Relationship Id="rId7" Type="http://schemas.openxmlformats.org/officeDocument/2006/relationships/image" Target="../media/image47.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image" Target="../media/image51.svg"/><Relationship Id="rId5" Type="http://schemas.openxmlformats.org/officeDocument/2006/relationships/image" Target="../media/image45.sv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svg"/></Relationships>
</file>

<file path=ppt/slides/_rels/slide13.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4.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27.png"/><Relationship Id="rId7" Type="http://schemas.openxmlformats.org/officeDocument/2006/relationships/image" Target="../media/image59.png"/><Relationship Id="rId12" Type="http://schemas.openxmlformats.org/officeDocument/2006/relationships/image" Target="../media/image64.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8.svg"/><Relationship Id="rId11" Type="http://schemas.openxmlformats.org/officeDocument/2006/relationships/image" Target="../media/image63.png"/><Relationship Id="rId5" Type="http://schemas.openxmlformats.org/officeDocument/2006/relationships/image" Target="../media/image57.png"/><Relationship Id="rId10" Type="http://schemas.openxmlformats.org/officeDocument/2006/relationships/image" Target="../media/image62.svg"/><Relationship Id="rId4" Type="http://schemas.openxmlformats.org/officeDocument/2006/relationships/image" Target="../media/image28.svg"/><Relationship Id="rId9" Type="http://schemas.openxmlformats.org/officeDocument/2006/relationships/image" Target="../media/image6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15.svg"/><Relationship Id="rId9" Type="http://schemas.openxmlformats.org/officeDocument/2006/relationships/image" Target="../media/image67.jpe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72.svg"/><Relationship Id="rId3" Type="http://schemas.openxmlformats.org/officeDocument/2006/relationships/image" Target="../media/image69.png"/><Relationship Id="rId7" Type="http://schemas.openxmlformats.org/officeDocument/2006/relationships/image" Target="../media/image71.png"/><Relationship Id="rId12" Type="http://schemas.openxmlformats.org/officeDocument/2006/relationships/image" Target="../media/image28.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6.svg"/><Relationship Id="rId11" Type="http://schemas.openxmlformats.org/officeDocument/2006/relationships/image" Target="../media/image27.png"/><Relationship Id="rId5" Type="http://schemas.openxmlformats.org/officeDocument/2006/relationships/image" Target="../media/image65.png"/><Relationship Id="rId10" Type="http://schemas.openxmlformats.org/officeDocument/2006/relationships/image" Target="../media/image15.svg"/><Relationship Id="rId4" Type="http://schemas.openxmlformats.org/officeDocument/2006/relationships/image" Target="../media/image70.svg"/><Relationship Id="rId9"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73.jpeg"/><Relationship Id="rId7" Type="http://schemas.openxmlformats.org/officeDocument/2006/relationships/image" Target="../media/image77.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jpeg"/><Relationship Id="rId4" Type="http://schemas.openxmlformats.org/officeDocument/2006/relationships/image" Target="../media/image74.jpeg"/></Relationships>
</file>

<file path=ppt/slides/_rels/slide20.xml.rels><?xml version="1.0" encoding="UTF-8" standalone="yes"?>
<Relationships xmlns="http://schemas.openxmlformats.org/package/2006/relationships"><Relationship Id="rId8" Type="http://schemas.openxmlformats.org/officeDocument/2006/relationships/image" Target="../media/image81.svg"/><Relationship Id="rId13" Type="http://schemas.openxmlformats.org/officeDocument/2006/relationships/image" Target="../media/image86.png"/><Relationship Id="rId18" Type="http://schemas.openxmlformats.org/officeDocument/2006/relationships/image" Target="../media/image91.svg"/><Relationship Id="rId3" Type="http://schemas.openxmlformats.org/officeDocument/2006/relationships/image" Target="../media/image78.png"/><Relationship Id="rId7" Type="http://schemas.openxmlformats.org/officeDocument/2006/relationships/image" Target="../media/image80.png"/><Relationship Id="rId12" Type="http://schemas.openxmlformats.org/officeDocument/2006/relationships/image" Target="../media/image85.svg"/><Relationship Id="rId17" Type="http://schemas.openxmlformats.org/officeDocument/2006/relationships/image" Target="../media/image90.png"/><Relationship Id="rId2" Type="http://schemas.openxmlformats.org/officeDocument/2006/relationships/notesSlide" Target="../notesSlides/notesSlide18.xml"/><Relationship Id="rId16" Type="http://schemas.openxmlformats.org/officeDocument/2006/relationships/image" Target="../media/image89.svg"/><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image" Target="../media/image84.png"/><Relationship Id="rId5" Type="http://schemas.openxmlformats.org/officeDocument/2006/relationships/image" Target="../media/image5.png"/><Relationship Id="rId15" Type="http://schemas.openxmlformats.org/officeDocument/2006/relationships/image" Target="../media/image88.png"/><Relationship Id="rId10" Type="http://schemas.openxmlformats.org/officeDocument/2006/relationships/image" Target="../media/image83.svg"/><Relationship Id="rId4" Type="http://schemas.openxmlformats.org/officeDocument/2006/relationships/image" Target="../media/image79.svg"/><Relationship Id="rId9" Type="http://schemas.openxmlformats.org/officeDocument/2006/relationships/image" Target="../media/image82.png"/><Relationship Id="rId14" Type="http://schemas.openxmlformats.org/officeDocument/2006/relationships/image" Target="../media/image87.svg"/></Relationships>
</file>

<file path=ppt/slides/_rels/slide21.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image" Target="../media/image94.png"/><Relationship Id="rId26" Type="http://schemas.openxmlformats.org/officeDocument/2006/relationships/hyperlink" Target="https://www.zhihu.com/people/95-22-20-18/posts" TargetMode="External"/><Relationship Id="rId3" Type="http://schemas.openxmlformats.org/officeDocument/2006/relationships/tags" Target="../tags/tag37.xml"/><Relationship Id="rId21" Type="http://schemas.openxmlformats.org/officeDocument/2006/relationships/image" Target="../media/image97.png"/><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slideLayout" Target="../slideLayouts/slideLayout6.xml"/><Relationship Id="rId25" Type="http://schemas.openxmlformats.org/officeDocument/2006/relationships/hyperlink" Target="https://space.bilibili.com/3546791834290849" TargetMode="External"/><Relationship Id="rId2" Type="http://schemas.openxmlformats.org/officeDocument/2006/relationships/tags" Target="../tags/tag36.xml"/><Relationship Id="rId16" Type="http://schemas.openxmlformats.org/officeDocument/2006/relationships/tags" Target="../tags/tag50.xml"/><Relationship Id="rId20" Type="http://schemas.openxmlformats.org/officeDocument/2006/relationships/image" Target="../media/image96.png"/><Relationship Id="rId29" Type="http://schemas.openxmlformats.org/officeDocument/2006/relationships/image" Target="../media/image101.png"/><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24" Type="http://schemas.openxmlformats.org/officeDocument/2006/relationships/hyperlink" Target="https://github.com/flagos-ai" TargetMode="External"/><Relationship Id="rId5" Type="http://schemas.openxmlformats.org/officeDocument/2006/relationships/tags" Target="../tags/tag39.xml"/><Relationship Id="rId15" Type="http://schemas.openxmlformats.org/officeDocument/2006/relationships/tags" Target="../tags/tag49.xml"/><Relationship Id="rId23" Type="http://schemas.openxmlformats.org/officeDocument/2006/relationships/image" Target="../media/image99.png"/><Relationship Id="rId28" Type="http://schemas.openxmlformats.org/officeDocument/2006/relationships/image" Target="../media/image100.jpeg"/><Relationship Id="rId10" Type="http://schemas.openxmlformats.org/officeDocument/2006/relationships/tags" Target="../tags/tag44.xml"/><Relationship Id="rId19" Type="http://schemas.openxmlformats.org/officeDocument/2006/relationships/image" Target="../media/image95.png"/><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 Id="rId22" Type="http://schemas.openxmlformats.org/officeDocument/2006/relationships/image" Target="../media/image98.png"/><Relationship Id="rId27" Type="http://schemas.openxmlformats.org/officeDocument/2006/relationships/hyperlink" Target="https://flagos.io/Home"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2.jpeg"/><Relationship Id="rId1" Type="http://schemas.openxmlformats.org/officeDocument/2006/relationships/slideLayout" Target="../slideLayouts/slideLayout1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개체 틀 3"/>
          <p:cNvPicPr>
            <a:picLocks noGrp="1" noChangeAspect="1"/>
          </p:cNvPicPr>
          <p:nvPr>
            <p:ph type="pic" sz="quarter" idx="10"/>
          </p:nvPr>
        </p:nvPicPr>
        <p:blipFill>
          <a:blip r:embed="rId2"/>
          <a:srcRect t="350" b="350"/>
          <a:stretch>
            <a:fillRect/>
          </a:stretch>
        </p:blipFill>
        <p:spPr>
          <a:xfrm>
            <a:off x="0" y="1"/>
            <a:ext cx="12192000" cy="6858000"/>
          </a:xfrm>
        </p:spPr>
      </p:pic>
      <p:sp>
        <p:nvSpPr>
          <p:cNvPr id="6" name="제목 5"/>
          <p:cNvSpPr>
            <a:spLocks noGrp="1"/>
          </p:cNvSpPr>
          <p:nvPr>
            <p:ph type="ctrTitle"/>
          </p:nvPr>
        </p:nvSpPr>
        <p:spPr>
          <a:xfrm>
            <a:off x="727710" y="1622425"/>
            <a:ext cx="5553710" cy="3028315"/>
          </a:xfrm>
        </p:spPr>
        <p:txBody>
          <a:bodyPr/>
          <a:lstStyle/>
          <a:p>
            <a:pPr algn="l"/>
            <a:r>
              <a:rPr lang="en-US" altLang="zh-CN" sz="4000">
                <a:latin typeface="+mj-cs"/>
                <a:cs typeface="+mj-cs"/>
              </a:rPr>
              <a:t>Hardware and Software Fundamentals of </a:t>
            </a:r>
            <a:br>
              <a:rPr lang="en-US" altLang="zh-CN" sz="4000">
                <a:latin typeface="+mj-cs"/>
                <a:cs typeface="+mj-cs"/>
              </a:rPr>
            </a:br>
            <a:r>
              <a:rPr lang="en-US" altLang="zh-CN" sz="4000">
                <a:latin typeface="+mj-cs"/>
                <a:cs typeface="+mj-cs"/>
              </a:rPr>
              <a:t>Intelligent Computing </a:t>
            </a:r>
            <a:br>
              <a:rPr lang="en-US" altLang="zh-CN" sz="4000">
                <a:latin typeface="+mj-cs"/>
                <a:cs typeface="+mj-cs"/>
              </a:rPr>
            </a:br>
            <a:r>
              <a:rPr lang="en-US" altLang="zh-CN" sz="4000">
                <a:latin typeface="+mj-cs"/>
                <a:cs typeface="+mj-cs"/>
              </a:rPr>
              <a:t>Systems</a:t>
            </a:r>
          </a:p>
        </p:txBody>
      </p:sp>
      <p:grpSp>
        <p:nvGrpSpPr>
          <p:cNvPr id="9" name="그룹 8"/>
          <p:cNvGrpSpPr/>
          <p:nvPr/>
        </p:nvGrpSpPr>
        <p:grpSpPr>
          <a:xfrm>
            <a:off x="364100" y="6255612"/>
            <a:ext cx="409904" cy="409904"/>
            <a:chOff x="11591418" y="6255612"/>
            <a:chExt cx="409904" cy="409904"/>
          </a:xfrm>
        </p:grpSpPr>
        <p:sp>
          <p:nvSpPr>
            <p:cNvPr id="10" name="타원 9"/>
            <p:cNvSpPr/>
            <p:nvPr/>
          </p:nvSpPr>
          <p:spPr>
            <a:xfrm>
              <a:off x="11591418" y="6255612"/>
              <a:ext cx="409904" cy="4099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1" name="갈매기형 수장[C] 10"/>
            <p:cNvSpPr/>
            <p:nvPr/>
          </p:nvSpPr>
          <p:spPr>
            <a:xfrm>
              <a:off x="11732864" y="6397058"/>
              <a:ext cx="127012" cy="127012"/>
            </a:xfrm>
            <a:prstGeom prst="chevron">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chemeClr val="tx1"/>
                </a:solidFill>
              </a:endParaRPr>
            </a:p>
          </p:txBody>
        </p:sp>
      </p:grpSp>
      <p:grpSp>
        <p:nvGrpSpPr>
          <p:cNvPr id="13" name="组合 12"/>
          <p:cNvGrpSpPr/>
          <p:nvPr/>
        </p:nvGrpSpPr>
        <p:grpSpPr>
          <a:xfrm>
            <a:off x="9247450" y="217531"/>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12" name="图片 11"/>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p:txBody>
          <a:bodyPr/>
          <a:lstStyle/>
          <a:p>
            <a:r>
              <a:rPr lang="en-US" altLang="zh-CN"/>
              <a:t>Lecture 40: Overview of LLM-Assisted Programming</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5406390" y="706755"/>
            <a:ext cx="6110605" cy="5937885"/>
          </a:xfrm>
        </p:spPr>
        <p:txBody>
          <a:bodyPr>
            <a:normAutofit fontScale="97500" lnSpcReduction="10000"/>
          </a:bodyPr>
          <a:lstStyle/>
          <a:p>
            <a:pPr>
              <a:lnSpc>
                <a:spcPct val="80000"/>
              </a:lnSpc>
            </a:pPr>
            <a:r>
              <a:rPr lang="en-US" altLang="zh-CN" sz="2200" b="1">
                <a:solidFill>
                  <a:srgbClr val="000000"/>
                </a:solidFill>
                <a:latin typeface="Noto Sans SC" panose="020B0200000000000000" charset="-122"/>
                <a:ea typeface="Noto Sans SC" panose="020B0200000000000000" charset="-122"/>
                <a:cs typeface="Noto Sans SC" panose="020B0200000000000000" charset="-122"/>
              </a:rPr>
              <a:t>01 A New Era of Programming: The Rise of Large Models</a:t>
            </a:r>
            <a:endParaRPr lang="zh-CN" altLang="en-US" sz="2200" b="1">
              <a:solidFill>
                <a:srgbClr val="000000"/>
              </a:solidFill>
              <a:latin typeface="Noto Sans SC" panose="020B0200000000000000" charset="-122"/>
              <a:ea typeface="Noto Sans SC" panose="020B0200000000000000" charset="-122"/>
              <a:cs typeface="Noto Sans SC" panose="020B0200000000000000" charset="-122"/>
            </a:endParaRPr>
          </a:p>
          <a:p>
            <a:pPr lvl="1">
              <a:lnSpc>
                <a:spcPct val="80000"/>
              </a:lnSpc>
            </a:pPr>
            <a:r>
              <a:rPr lang="en-US" altLang="zh-CN" sz="1600">
                <a:solidFill>
                  <a:srgbClr val="000000"/>
                </a:solidFill>
              </a:rPr>
              <a:t>Reviewing traditional programming challenges, exploring how large models reshape development paradigms</a:t>
            </a:r>
            <a:endParaRPr lang="zh-CN" altLang="en-US" sz="1600">
              <a:solidFill>
                <a:srgbClr val="000000"/>
              </a:solidFill>
            </a:endParaRPr>
          </a:p>
          <a:p>
            <a:pPr>
              <a:lnSpc>
                <a:spcPct val="80000"/>
              </a:lnSpc>
            </a:pPr>
            <a:r>
              <a:rPr lang="en-US" altLang="zh-CN" sz="2200" b="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02 The Code Generation Mystery: LLM Core Technology</a:t>
            </a:r>
          </a:p>
          <a:p>
            <a:pPr lvl="1">
              <a:lnSpc>
                <a:spcPct val="80000"/>
              </a:lnSpc>
            </a:pPr>
            <a:r>
              <a:rPr lang="en-US" altLang="zh-CN" sz="1600">
                <a:solidFill>
                  <a:srgbClr val="000000"/>
                </a:solidFill>
                <a:ea typeface="Ebrima" panose="02000000000000000000" charset="0"/>
                <a:cs typeface="Ebrima" panose="02000000000000000000" charset="0"/>
                <a:sym typeface="Noto Sans SC" panose="020B0200000000000000" charset="-122"/>
              </a:rPr>
              <a:t>Understanding of Code Generation: Working Principles and Key Technology Stack</a:t>
            </a:r>
            <a:endParaRPr lang="en-US" sz="1600">
              <a:solidFill>
                <a:srgbClr val="000000"/>
              </a:solidFill>
              <a:ea typeface="Ebrima" panose="02000000000000000000" charset="0"/>
              <a:cs typeface="Ebrima" panose="02000000000000000000" charset="0"/>
              <a:sym typeface="Noto Sans SC" panose="020B0200000000000000" charset="-122"/>
            </a:endParaRPr>
          </a:p>
          <a:p>
            <a:pPr>
              <a:lnSpc>
                <a:spcPct val="80000"/>
              </a:lnSpc>
            </a:pPr>
            <a:r>
              <a:rPr lang="en-US" altLang="zh-CN" sz="2200" b="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03 GitHub Copilot: The Intelligent Assistant in Practice</a:t>
            </a:r>
            <a:endParaRPr lang="en-US" sz="2200">
              <a:solidFill>
                <a:srgbClr val="000000"/>
              </a:solidFill>
            </a:endParaRPr>
          </a:p>
          <a:p>
            <a:pPr lvl="1">
              <a:lnSpc>
                <a:spcPct val="80000"/>
              </a:lnSpc>
            </a:pPr>
            <a:r>
              <a:rPr lang="en-US" altLang="zh-CN" sz="1600">
                <a:solidFill>
                  <a:srgbClr val="000000"/>
                </a:solidFill>
              </a:rPr>
              <a:t>An Analysis of Mainstream AI Assistant Application in Realistic Development Scenarios</a:t>
            </a:r>
            <a:endParaRPr lang="en-US" sz="1600">
              <a:solidFill>
                <a:srgbClr val="000000"/>
              </a:solidFill>
            </a:endParaRPr>
          </a:p>
          <a:p>
            <a:pPr>
              <a:lnSpc>
                <a:spcPct val="80000"/>
              </a:lnSpc>
            </a:pPr>
            <a:r>
              <a:rPr lang="en-US" altLang="zh-CN" sz="2000" b="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04 From General to Specialized: Analysis of the KernelGen Project</a:t>
            </a:r>
          </a:p>
          <a:p>
            <a:pPr lvl="1">
              <a:lnSpc>
                <a:spcPct val="80000"/>
              </a:lnSpc>
            </a:pPr>
            <a:r>
              <a:rPr lang="en-US" altLang="zh-CN" sz="1600">
                <a:solidFill>
                  <a:srgbClr val="000000"/>
                </a:solidFill>
                <a:ea typeface="Ebrima" panose="02000000000000000000" charset="0"/>
                <a:cs typeface="Ebrima" panose="02000000000000000000" charset="0"/>
                <a:sym typeface="Noto Sans SC" panose="020B0200000000000000" charset="-122"/>
              </a:rPr>
              <a:t>Focus on specialized computing fields and explore AI-assisted deep customization</a:t>
            </a:r>
          </a:p>
          <a:p>
            <a:pPr>
              <a:lnSpc>
                <a:spcPct val="80000"/>
              </a:lnSpc>
            </a:pPr>
            <a:r>
              <a:rPr lang="en-US" altLang="zh-CN" sz="2000" b="1">
                <a:solidFill>
                  <a:srgbClr val="000000"/>
                </a:solidFill>
                <a:latin typeface="Noto Sans SC" panose="020B0200000000000000" charset="-122"/>
                <a:ea typeface="Noto Sans SC" panose="020B0200000000000000" charset="-122"/>
                <a:cs typeface="Noto Sans SC" panose="020B0200000000000000" charset="-122"/>
                <a:sym typeface="+mn-ea"/>
              </a:rPr>
              <a:t>05 Summary and Outlook</a:t>
            </a:r>
          </a:p>
          <a:p>
            <a:pPr lvl="1">
              <a:lnSpc>
                <a:spcPct val="80000"/>
              </a:lnSpc>
            </a:pPr>
            <a:r>
              <a:rPr lang="en-US" altLang="zh-CN" sz="160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The Future Trend of AI-assisted Programming</a:t>
            </a:r>
          </a:p>
        </p:txBody>
      </p:sp>
      <p:sp>
        <p:nvSpPr>
          <p:cNvPr id="3" name="内容占位符 2"/>
          <p:cNvSpPr>
            <a:spLocks noGrp="1"/>
          </p:cNvSpPr>
          <p:nvPr>
            <p:ph sz="quarter" idx="11"/>
          </p:nvPr>
        </p:nvSpPr>
        <p:spPr/>
        <p:txBody>
          <a:bodyPr/>
          <a:lstStyle/>
          <a:p>
            <a:r>
              <a:rPr lang="zh-CN" altLang="en-US"/>
              <a:t>目录</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1016012" y="1548557"/>
            <a:ext cx="10159988" cy="2011548"/>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4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01 A New Era of Programming: The Rise of Large Models</a:t>
            </a:r>
          </a:p>
          <a:p>
            <a:pPr indent="0" algn="l">
              <a:lnSpc>
                <a:spcPct val="125000"/>
              </a:lnSpc>
              <a:defRPr/>
            </a:pPr>
            <a:endParaRPr lang="en-US" altLang="zh-CN" sz="4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1016000" y="3429000"/>
            <a:ext cx="1016000" cy="50800"/>
          </a:xfrm>
          <a:prstGeom prst="roundRect">
            <a:avLst>
              <a:gd name="adj" fmla="val 0"/>
            </a:avLst>
          </a:prstGeom>
          <a:solidFill>
            <a:srgbClr val="DC262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3683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0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From Manual Coding to Intelligent Assistance</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Challenges of Traditional Programming Mode</a:t>
            </a:r>
            <a:endParaRPr lang="zh-CN" altLang="en-US"/>
          </a:p>
        </p:txBody>
      </p:sp>
      <p:sp>
        <p:nvSpPr>
          <p:cNvPr id="5" name="灯片编号占位符 4"/>
          <p:cNvSpPr>
            <a:spLocks noGrp="1"/>
          </p:cNvSpPr>
          <p:nvPr>
            <p:ph type="sldNum" sz="quarter" idx="12"/>
          </p:nvPr>
        </p:nvSpPr>
        <p:spPr/>
        <p:txBody>
          <a:bodyPr/>
          <a:lstStyle/>
          <a:p>
            <a:fld id="{B33F7469-D28B-482F-B1B6-3B8E7CF51519}" type="slidenum">
              <a:rPr lang="zh-CN" altLang="en-US" smtClean="0"/>
              <a:t>5</a:t>
            </a:fld>
            <a:endParaRPr lang="zh-CN" altLang="en-US" dirty="0"/>
          </a:p>
        </p:txBody>
      </p:sp>
      <p:sp>
        <p:nvSpPr>
          <p:cNvPr id="8" name="AutoShape 3"/>
          <p:cNvSpPr/>
          <p:nvPr>
            <p:custDataLst>
              <p:tags r:id="rId1"/>
            </p:custDataLst>
          </p:nvPr>
        </p:nvSpPr>
        <p:spPr>
          <a:xfrm>
            <a:off x="741680" y="1435100"/>
            <a:ext cx="5080000" cy="1079500"/>
          </a:xfrm>
          <a:prstGeom prst="roundRect">
            <a:avLst>
              <a:gd name="adj" fmla="val 11764"/>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endParaRPr/>
          </a:p>
        </p:txBody>
      </p:sp>
      <p:pic>
        <p:nvPicPr>
          <p:cNvPr id="9" name="Picture 4"/>
          <p:cNvPicPr>
            <a:picLocks noChangeAspect="1"/>
          </p:cNvPicPr>
          <p:nvPr>
            <p:custDataLst>
              <p:tags r:id="rId2"/>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32180" y="1625600"/>
            <a:ext cx="406400" cy="406400"/>
          </a:xfrm>
          <a:prstGeom prst="rect">
            <a:avLst/>
          </a:prstGeom>
        </p:spPr>
      </p:pic>
      <p:sp>
        <p:nvSpPr>
          <p:cNvPr id="10" name="AutoShape 5"/>
          <p:cNvSpPr/>
          <p:nvPr>
            <p:custDataLst>
              <p:tags r:id="rId3"/>
            </p:custDataLst>
          </p:nvPr>
        </p:nvSpPr>
        <p:spPr>
          <a:xfrm>
            <a:off x="1440180" y="15875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efficiency bottleneck</a:t>
            </a:r>
            <a:endParaRPr lang="en-US" sz="1100"/>
          </a:p>
        </p:txBody>
      </p:sp>
      <p:sp>
        <p:nvSpPr>
          <p:cNvPr id="11" name="AutoShape 6"/>
          <p:cNvSpPr/>
          <p:nvPr>
            <p:custDataLst>
              <p:tags r:id="rId4"/>
            </p:custDataLst>
          </p:nvPr>
        </p:nvSpPr>
        <p:spPr>
          <a:xfrm>
            <a:off x="1440180" y="19177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a:solidFill>
                  <a:srgbClr val="64748B"/>
                </a:solidFill>
                <a:latin typeface="Noto Sans SC" panose="020B0200000000000000" charset="-122"/>
                <a:ea typeface="Noto Sans SC" panose="020B0200000000000000" charset="-122"/>
                <a:cs typeface="Noto Sans SC" panose="020B0200000000000000" charset="-122"/>
              </a:rPr>
              <a:t>Repetitive code writing and tedious syntax memorization consume much development time.</a:t>
            </a:r>
            <a:endParaRPr lang="en-US"/>
          </a:p>
        </p:txBody>
      </p:sp>
      <p:sp>
        <p:nvSpPr>
          <p:cNvPr id="12" name="AutoShape 7"/>
          <p:cNvSpPr/>
          <p:nvPr>
            <p:custDataLst>
              <p:tags r:id="rId5"/>
            </p:custDataLst>
          </p:nvPr>
        </p:nvSpPr>
        <p:spPr>
          <a:xfrm>
            <a:off x="741680" y="2641600"/>
            <a:ext cx="5080000" cy="1079500"/>
          </a:xfrm>
          <a:prstGeom prst="roundRect">
            <a:avLst>
              <a:gd name="adj" fmla="val 11764"/>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endParaRPr/>
          </a:p>
        </p:txBody>
      </p:sp>
      <p:pic>
        <p:nvPicPr>
          <p:cNvPr id="13" name="Picture 8"/>
          <p:cNvPicPr>
            <a:picLocks noChangeAspect="1"/>
          </p:cNvPicPr>
          <p:nvPr>
            <p:custDataLst>
              <p:tags r:id="rId6"/>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32180" y="2832100"/>
            <a:ext cx="406400" cy="406400"/>
          </a:xfrm>
          <a:prstGeom prst="rect">
            <a:avLst/>
          </a:prstGeom>
        </p:spPr>
      </p:pic>
      <p:sp>
        <p:nvSpPr>
          <p:cNvPr id="14" name="AutoShape 9"/>
          <p:cNvSpPr/>
          <p:nvPr>
            <p:custDataLst>
              <p:tags r:id="rId7"/>
            </p:custDataLst>
          </p:nvPr>
        </p:nvSpPr>
        <p:spPr>
          <a:xfrm>
            <a:off x="1440180" y="27940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s</a:t>
            </a:r>
            <a:r>
              <a:rPr lang="en-US" altLang="zh-CN"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teep learning curve</a:t>
            </a:r>
            <a:endParaRPr lang="en-US" sz="1100"/>
          </a:p>
        </p:txBody>
      </p:sp>
      <p:sp>
        <p:nvSpPr>
          <p:cNvPr id="15" name="AutoShape 10"/>
          <p:cNvSpPr/>
          <p:nvPr>
            <p:custDataLst>
              <p:tags r:id="rId8"/>
            </p:custDataLst>
          </p:nvPr>
        </p:nvSpPr>
        <p:spPr>
          <a:xfrm>
            <a:off x="1440180" y="31242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a:solidFill>
                  <a:srgbClr val="64748B"/>
                </a:solidFill>
                <a:latin typeface="Noto Sans SC" panose="020B0200000000000000" charset="-122"/>
                <a:ea typeface="Noto Sans SC" panose="020B0200000000000000" charset="-122"/>
                <a:cs typeface="Noto Sans SC" panose="020B0200000000000000" charset="-122"/>
              </a:rPr>
              <a:t>New technologies and frameworks emerging constantly force developers to keep learning costly.</a:t>
            </a:r>
            <a:endParaRPr lang="en-US"/>
          </a:p>
        </p:txBody>
      </p:sp>
      <p:sp>
        <p:nvSpPr>
          <p:cNvPr id="16" name="AutoShape 11"/>
          <p:cNvSpPr/>
          <p:nvPr>
            <p:custDataLst>
              <p:tags r:id="rId9"/>
            </p:custDataLst>
          </p:nvPr>
        </p:nvSpPr>
        <p:spPr>
          <a:xfrm>
            <a:off x="741680" y="3848100"/>
            <a:ext cx="5080000" cy="1079500"/>
          </a:xfrm>
          <a:prstGeom prst="roundRect">
            <a:avLst>
              <a:gd name="adj" fmla="val 11764"/>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endParaRPr/>
          </a:p>
        </p:txBody>
      </p:sp>
      <p:pic>
        <p:nvPicPr>
          <p:cNvPr id="17" name="Picture 12"/>
          <p:cNvPicPr>
            <a:picLocks noChangeAspect="1"/>
          </p:cNvPicPr>
          <p:nvPr>
            <p:custDataLst>
              <p:tags r:id="rId10"/>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932180" y="4038600"/>
            <a:ext cx="406400" cy="406400"/>
          </a:xfrm>
          <a:prstGeom prst="rect">
            <a:avLst/>
          </a:prstGeom>
        </p:spPr>
      </p:pic>
      <p:sp>
        <p:nvSpPr>
          <p:cNvPr id="18" name="AutoShape 13"/>
          <p:cNvSpPr/>
          <p:nvPr>
            <p:custDataLst>
              <p:tags r:id="rId11"/>
            </p:custDataLst>
          </p:nvPr>
        </p:nvSpPr>
        <p:spPr>
          <a:xfrm>
            <a:off x="1440180" y="40005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knowledge blind spot</a:t>
            </a:r>
            <a:endParaRPr lang="en-US" sz="1100"/>
          </a:p>
        </p:txBody>
      </p:sp>
      <p:sp>
        <p:nvSpPr>
          <p:cNvPr id="19" name="AutoShape 14"/>
          <p:cNvSpPr/>
          <p:nvPr>
            <p:custDataLst>
              <p:tags r:id="rId12"/>
            </p:custDataLst>
          </p:nvPr>
        </p:nvSpPr>
        <p:spPr>
          <a:xfrm>
            <a:off x="1440180" y="43307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a:solidFill>
                  <a:srgbClr val="64748B"/>
                </a:solidFill>
                <a:latin typeface="Noto Sans SC" panose="020B0200000000000000" charset="-122"/>
                <a:ea typeface="Noto Sans SC" panose="020B0200000000000000" charset="-122"/>
                <a:cs typeface="Noto Sans SC" panose="020B0200000000000000" charset="-122"/>
              </a:rPr>
              <a:t>Mastering all APIs and best practices is challenging, and researching them takes much daily work.</a:t>
            </a:r>
            <a:endParaRPr lang="en-US"/>
          </a:p>
        </p:txBody>
      </p:sp>
      <p:sp>
        <p:nvSpPr>
          <p:cNvPr id="20" name="AutoShape 15"/>
          <p:cNvSpPr/>
          <p:nvPr>
            <p:custDataLst>
              <p:tags r:id="rId13"/>
            </p:custDataLst>
          </p:nvPr>
        </p:nvSpPr>
        <p:spPr>
          <a:xfrm>
            <a:off x="741680" y="5054600"/>
            <a:ext cx="5080000" cy="1079500"/>
          </a:xfrm>
          <a:prstGeom prst="roundRect">
            <a:avLst>
              <a:gd name="adj" fmla="val 11764"/>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endParaRPr/>
          </a:p>
        </p:txBody>
      </p:sp>
      <p:pic>
        <p:nvPicPr>
          <p:cNvPr id="21" name="Picture 16"/>
          <p:cNvPicPr>
            <a:picLocks noChangeAspect="1"/>
          </p:cNvPicPr>
          <p:nvPr>
            <p:custDataLst>
              <p:tags r:id="rId14"/>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932180" y="5245100"/>
            <a:ext cx="406400" cy="406400"/>
          </a:xfrm>
          <a:prstGeom prst="rect">
            <a:avLst/>
          </a:prstGeom>
        </p:spPr>
      </p:pic>
      <p:sp>
        <p:nvSpPr>
          <p:cNvPr id="22" name="AutoShape 17"/>
          <p:cNvSpPr/>
          <p:nvPr>
            <p:custDataLst>
              <p:tags r:id="rId15"/>
            </p:custDataLst>
          </p:nvPr>
        </p:nvSpPr>
        <p:spPr>
          <a:xfrm>
            <a:off x="1440180" y="52070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d</a:t>
            </a:r>
            <a:r>
              <a:rPr lang="en-US" altLang="zh-CN"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ebugging time</a:t>
            </a:r>
            <a:endParaRPr lang="en-US" sz="1100"/>
          </a:p>
        </p:txBody>
      </p:sp>
      <p:sp>
        <p:nvSpPr>
          <p:cNvPr id="23" name="AutoShape 18"/>
          <p:cNvSpPr/>
          <p:nvPr>
            <p:custDataLst>
              <p:tags r:id="rId16"/>
            </p:custDataLst>
          </p:nvPr>
        </p:nvSpPr>
        <p:spPr>
          <a:xfrm>
            <a:off x="1440180" y="55372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3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Bug localization and resolution can take hours or even days, resulting in inefficiency.</a:t>
            </a:r>
            <a:endParaRPr lang="en-US" sz="1100"/>
          </a:p>
        </p:txBody>
      </p:sp>
      <p:pic>
        <p:nvPicPr>
          <p:cNvPr id="24" name="Picture 19"/>
          <p:cNvPicPr>
            <a:picLocks noChangeAspect="1"/>
          </p:cNvPicPr>
          <p:nvPr/>
        </p:nvPicPr>
        <p:blipFill>
          <a:blip r:embed="rId27"/>
          <a:srcRect l="18102" r="18102"/>
          <a:stretch>
            <a:fillRect/>
          </a:stretch>
        </p:blipFill>
        <p:spPr>
          <a:xfrm>
            <a:off x="6075680" y="1435100"/>
            <a:ext cx="5334000" cy="4699000"/>
          </a:xfrm>
          <a:prstGeom prst="roundRect">
            <a:avLst>
              <a:gd name="adj" fmla="val 2702"/>
            </a:avLst>
          </a:prstGeom>
          <a:noFill/>
          <a:ln w="25400" cap="flat" cmpd="sng">
            <a:noFill/>
            <a:prstDash val="solid"/>
            <a:round/>
          </a:ln>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B33F7469-D28B-482F-B1B6-3B8E7CF51519}" type="slidenum">
              <a:rPr lang="zh-CN" altLang="en-US" smtClean="0"/>
              <a:t>6</a:t>
            </a:fld>
            <a:endParaRPr lang="zh-CN" altLang="en-US" dirty="0"/>
          </a:p>
        </p:txBody>
      </p:sp>
      <p:sp>
        <p:nvSpPr>
          <p:cNvPr id="6" name="AutoShape 2"/>
          <p:cNvSpPr/>
          <p:nvPr/>
        </p:nvSpPr>
        <p:spPr>
          <a:xfrm>
            <a:off x="762000" y="44323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AI-assisted programming</a:t>
            </a:r>
            <a:endParaRPr lang="en-US" sz="1100"/>
          </a:p>
        </p:txBody>
      </p:sp>
      <p:sp>
        <p:nvSpPr>
          <p:cNvPr id="7" name="AutoShape 3"/>
          <p:cNvSpPr/>
          <p:nvPr/>
        </p:nvSpPr>
        <p:spPr>
          <a:xfrm>
            <a:off x="762000" y="1272540"/>
            <a:ext cx="1016000" cy="50800"/>
          </a:xfrm>
          <a:prstGeom prst="roundRect">
            <a:avLst>
              <a:gd name="adj" fmla="val 0"/>
            </a:avLst>
          </a:prstGeom>
          <a:solidFill>
            <a:srgbClr val="DC262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651000"/>
            <a:ext cx="304800" cy="304800"/>
          </a:xfrm>
          <a:prstGeom prst="rect">
            <a:avLst/>
          </a:prstGeom>
        </p:spPr>
      </p:pic>
      <p:sp>
        <p:nvSpPr>
          <p:cNvPr id="9" name="AutoShape 5"/>
          <p:cNvSpPr/>
          <p:nvPr/>
        </p:nvSpPr>
        <p:spPr>
          <a:xfrm>
            <a:off x="1143000" y="16256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b="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a:t>
            </a:r>
            <a:r>
              <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ore definition</a:t>
            </a:r>
            <a:endParaRPr lang="en-US" sz="1100"/>
          </a:p>
        </p:txBody>
      </p:sp>
      <p:sp>
        <p:nvSpPr>
          <p:cNvPr id="10" name="AutoShape 6"/>
          <p:cNvSpPr/>
          <p:nvPr/>
        </p:nvSpPr>
        <p:spPr>
          <a:xfrm>
            <a:off x="762000" y="2032000"/>
            <a:ext cx="520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Leveraging artificial intelligence technologies like large language models (LLMs), developers can accomplish diverse coding tasks—from code completion to complex feature generation—with enhanced support.</a:t>
            </a:r>
            <a:endParaRPr lang="en-US" sz="1200"/>
          </a:p>
        </p:txBody>
      </p:sp>
      <p:pic>
        <p:nvPicPr>
          <p:cNvPr id="11" name="Picture 7"/>
          <p:cNvPicPr>
            <a:picLocks noChangeAspect="1"/>
          </p:cNvPicPr>
          <p:nvPr/>
        </p:nvPicPr>
        <p:blipFill>
          <a:blip r:embed="rId5"/>
          <a:srcRect t="9629" b="9629"/>
          <a:stretch>
            <a:fillRect/>
          </a:stretch>
        </p:blipFill>
        <p:spPr>
          <a:xfrm>
            <a:off x="762000" y="2984500"/>
            <a:ext cx="5207000" cy="2540000"/>
          </a:xfrm>
          <a:prstGeom prst="roundRect">
            <a:avLst>
              <a:gd name="adj" fmla="val 5000"/>
            </a:avLst>
          </a:prstGeom>
          <a:noFill/>
          <a:ln w="25400" cap="flat" cmpd="sng">
            <a:noFill/>
            <a:prstDash val="solid"/>
            <a:round/>
          </a:ln>
        </p:spPr>
      </p:pic>
      <p:pic>
        <p:nvPicPr>
          <p:cNvPr id="12"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50000" y="1651000"/>
            <a:ext cx="304800" cy="304800"/>
          </a:xfrm>
          <a:prstGeom prst="rect">
            <a:avLst/>
          </a:prstGeom>
        </p:spPr>
      </p:pic>
      <p:sp>
        <p:nvSpPr>
          <p:cNvPr id="13" name="AutoShape 9"/>
          <p:cNvSpPr/>
          <p:nvPr/>
        </p:nvSpPr>
        <p:spPr>
          <a:xfrm>
            <a:off x="6731000" y="16256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advantages</a:t>
            </a:r>
            <a:endParaRPr lang="en-US" sz="1100"/>
          </a:p>
        </p:txBody>
      </p:sp>
      <p:sp>
        <p:nvSpPr>
          <p:cNvPr id="14" name="AutoShape 10"/>
          <p:cNvSpPr/>
          <p:nvPr/>
        </p:nvSpPr>
        <p:spPr>
          <a:xfrm>
            <a:off x="6350000" y="2095500"/>
            <a:ext cx="2349500" cy="1079500"/>
          </a:xfrm>
          <a:prstGeom prst="roundRect">
            <a:avLst>
              <a:gd name="adj" fmla="val 11764"/>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2222500"/>
            <a:ext cx="254000" cy="254000"/>
          </a:xfrm>
          <a:prstGeom prst="rect">
            <a:avLst/>
          </a:prstGeom>
        </p:spPr>
      </p:pic>
      <p:sp>
        <p:nvSpPr>
          <p:cNvPr id="16" name="AutoShape 12"/>
          <p:cNvSpPr/>
          <p:nvPr/>
        </p:nvSpPr>
        <p:spPr>
          <a:xfrm>
            <a:off x="6731037" y="2476463"/>
            <a:ext cx="177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Increase encoding speed</a:t>
            </a:r>
            <a:endParaRPr lang="en-US" sz="1100"/>
          </a:p>
        </p:txBody>
      </p:sp>
      <p:sp>
        <p:nvSpPr>
          <p:cNvPr id="18" name="AutoShape 14"/>
          <p:cNvSpPr/>
          <p:nvPr/>
        </p:nvSpPr>
        <p:spPr>
          <a:xfrm>
            <a:off x="8826500" y="2095500"/>
            <a:ext cx="2349500" cy="1079500"/>
          </a:xfrm>
          <a:prstGeom prst="roundRect">
            <a:avLst>
              <a:gd name="adj" fmla="val 11764"/>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953500" y="2222500"/>
            <a:ext cx="254000" cy="254000"/>
          </a:xfrm>
          <a:prstGeom prst="rect">
            <a:avLst/>
          </a:prstGeom>
        </p:spPr>
      </p:pic>
      <p:sp>
        <p:nvSpPr>
          <p:cNvPr id="20" name="AutoShape 16"/>
          <p:cNvSpPr/>
          <p:nvPr/>
        </p:nvSpPr>
        <p:spPr>
          <a:xfrm>
            <a:off x="9271037" y="2436412"/>
            <a:ext cx="177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Lowering the learning threshold</a:t>
            </a:r>
            <a:endParaRPr lang="en-US" sz="1100"/>
          </a:p>
        </p:txBody>
      </p:sp>
      <p:sp>
        <p:nvSpPr>
          <p:cNvPr id="22" name="AutoShape 18"/>
          <p:cNvSpPr/>
          <p:nvPr/>
        </p:nvSpPr>
        <p:spPr>
          <a:xfrm>
            <a:off x="6350000" y="3302000"/>
            <a:ext cx="2349500" cy="1079500"/>
          </a:xfrm>
          <a:prstGeom prst="roundRect">
            <a:avLst>
              <a:gd name="adj" fmla="val 11764"/>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19"/>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3429000"/>
            <a:ext cx="254000" cy="254000"/>
          </a:xfrm>
          <a:prstGeom prst="rect">
            <a:avLst/>
          </a:prstGeom>
        </p:spPr>
      </p:pic>
      <p:sp>
        <p:nvSpPr>
          <p:cNvPr id="24" name="AutoShape 20"/>
          <p:cNvSpPr/>
          <p:nvPr/>
        </p:nvSpPr>
        <p:spPr>
          <a:xfrm>
            <a:off x="6731037" y="3620630"/>
            <a:ext cx="177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Reduce code errors</a:t>
            </a:r>
            <a:endParaRPr lang="en-US" sz="1100"/>
          </a:p>
        </p:txBody>
      </p:sp>
      <p:sp>
        <p:nvSpPr>
          <p:cNvPr id="26" name="AutoShape 22"/>
          <p:cNvSpPr/>
          <p:nvPr/>
        </p:nvSpPr>
        <p:spPr>
          <a:xfrm>
            <a:off x="8826500" y="3302000"/>
            <a:ext cx="2349500" cy="1079500"/>
          </a:xfrm>
          <a:prstGeom prst="roundRect">
            <a:avLst>
              <a:gd name="adj" fmla="val 11764"/>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23"/>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953500" y="3429000"/>
            <a:ext cx="254000" cy="254000"/>
          </a:xfrm>
          <a:prstGeom prst="rect">
            <a:avLst/>
          </a:prstGeom>
        </p:spPr>
      </p:pic>
      <p:sp>
        <p:nvSpPr>
          <p:cNvPr id="28" name="AutoShape 24"/>
          <p:cNvSpPr/>
          <p:nvPr/>
        </p:nvSpPr>
        <p:spPr>
          <a:xfrm>
            <a:off x="9271037" y="3620603"/>
            <a:ext cx="177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Stimulate creative thinking</a:t>
            </a:r>
            <a:endParaRPr lang="en-US" sz="1100"/>
          </a:p>
        </p:txBody>
      </p:sp>
      <p:pic>
        <p:nvPicPr>
          <p:cNvPr id="30" name="Picture 26"/>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350000" y="4572000"/>
            <a:ext cx="304800" cy="304800"/>
          </a:xfrm>
          <a:prstGeom prst="rect">
            <a:avLst/>
          </a:prstGeom>
        </p:spPr>
      </p:pic>
      <p:sp>
        <p:nvSpPr>
          <p:cNvPr id="31" name="AutoShape 27"/>
          <p:cNvSpPr/>
          <p:nvPr/>
        </p:nvSpPr>
        <p:spPr>
          <a:xfrm>
            <a:off x="6731000" y="45466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Development status</a:t>
            </a:r>
            <a:endParaRPr lang="en-US" sz="1100"/>
          </a:p>
        </p:txBody>
      </p:sp>
      <p:sp>
        <p:nvSpPr>
          <p:cNvPr id="32" name="AutoShape 28"/>
          <p:cNvSpPr/>
          <p:nvPr/>
        </p:nvSpPr>
        <p:spPr>
          <a:xfrm>
            <a:off x="6350000" y="4953000"/>
            <a:ext cx="482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From simple code completion to complex feature generation, application scenarios continue to expand, with AI becoming an indispensable intelligent assistant for developers.</a:t>
            </a:r>
            <a:endParaRPr lang="en-US" sz="120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B33F7469-D28B-482F-B1B6-3B8E7CF51519}" type="slidenum">
              <a:rPr lang="zh-CN" altLang="en-US" smtClean="0"/>
              <a:t>7</a:t>
            </a:fld>
            <a:endParaRPr lang="zh-CN" altLang="en-US" dirty="0"/>
          </a:p>
        </p:txBody>
      </p:sp>
      <p:sp>
        <p:nvSpPr>
          <p:cNvPr id="10" name="AutoShape 4"/>
          <p:cNvSpPr/>
          <p:nvPr/>
        </p:nvSpPr>
        <p:spPr>
          <a:xfrm>
            <a:off x="1016000" y="1915226"/>
            <a:ext cx="10160000" cy="1259774"/>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3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02 The Mystery of Code Generation: Core Technologies of LLM</a:t>
            </a:r>
          </a:p>
        </p:txBody>
      </p:sp>
      <p:cxnSp>
        <p:nvCxnSpPr>
          <p:cNvPr id="11" name="Connector 5"/>
          <p:cNvCxnSpPr/>
          <p:nvPr/>
        </p:nvCxnSpPr>
        <p:spPr>
          <a:xfrm rot="-34376">
            <a:off x="1016032" y="3295650"/>
            <a:ext cx="1270000" cy="12700"/>
          </a:xfrm>
          <a:prstGeom prst="straightConnector1">
            <a:avLst/>
          </a:prstGeom>
          <a:solidFill>
            <a:srgbClr val="DEE0E3">
              <a:alpha val="100000"/>
            </a:srgbClr>
          </a:solidFill>
          <a:ln w="38100" cap="flat" cmpd="sng">
            <a:solidFill>
              <a:srgbClr val="FFFFFF">
                <a:alpha val="100000"/>
              </a:srgbClr>
            </a:solidFill>
            <a:prstDash val="solid"/>
            <a:round/>
            <a:headEnd type="none" w="lg" len="lg"/>
            <a:tailEnd type="none" w="lg" len="lg"/>
          </a:ln>
        </p:spPr>
      </p:cxnSp>
      <p:sp>
        <p:nvSpPr>
          <p:cNvPr id="12" name="AutoShape 6"/>
          <p:cNvSpPr/>
          <p:nvPr/>
        </p:nvSpPr>
        <p:spPr>
          <a:xfrm>
            <a:off x="1016000" y="3556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0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Understanding how large models "learn" to program</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B33F7469-D28B-482F-B1B6-3B8E7CF51519}" type="slidenum">
              <a:rPr lang="zh-CN" altLang="en-US" smtClean="0"/>
              <a:t>8</a:t>
            </a:fld>
            <a:endParaRPr lang="zh-CN" altLang="en-US" dirty="0"/>
          </a:p>
        </p:txBody>
      </p:sp>
      <p:sp>
        <p:nvSpPr>
          <p:cNvPr id="7" name="AutoShape 2"/>
          <p:cNvSpPr/>
          <p:nvPr/>
        </p:nvSpPr>
        <p:spPr>
          <a:xfrm>
            <a:off x="762000" y="458470"/>
            <a:ext cx="11101248"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Foundational Aspects of Large Language Models </a:t>
            </a:r>
            <a:endParaRPr lang="en-US" sz="1100"/>
          </a:p>
        </p:txBody>
      </p:sp>
      <p:sp>
        <p:nvSpPr>
          <p:cNvPr id="8" name="AutoShape 3"/>
          <p:cNvSpPr/>
          <p:nvPr/>
        </p:nvSpPr>
        <p:spPr>
          <a:xfrm>
            <a:off x="762000" y="1524000"/>
            <a:ext cx="5334000" cy="1397000"/>
          </a:xfrm>
          <a:prstGeom prst="roundRect">
            <a:avLst>
              <a:gd name="adj" fmla="val 909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9"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714500"/>
            <a:ext cx="304800" cy="304800"/>
          </a:xfrm>
          <a:prstGeom prst="rect">
            <a:avLst/>
          </a:prstGeom>
        </p:spPr>
      </p:pic>
      <p:sp>
        <p:nvSpPr>
          <p:cNvPr id="10" name="AutoShape 5"/>
          <p:cNvSpPr/>
          <p:nvPr/>
        </p:nvSpPr>
        <p:spPr>
          <a:xfrm>
            <a:off x="1365235" y="1714463"/>
            <a:ext cx="4635482" cy="1055969"/>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essence: Transformer architecture broussonetia papyrifera</a:t>
            </a:r>
            <a:endParaRPr lang="en-US" sz="1100"/>
          </a:p>
        </p:txBody>
      </p:sp>
      <p:sp>
        <p:nvSpPr>
          <p:cNvPr id="12" name="AutoShape 7"/>
          <p:cNvSpPr/>
          <p:nvPr/>
        </p:nvSpPr>
        <p:spPr>
          <a:xfrm>
            <a:off x="762000" y="3111500"/>
            <a:ext cx="5334000" cy="1397000"/>
          </a:xfrm>
          <a:prstGeom prst="roundRect">
            <a:avLst>
              <a:gd name="adj" fmla="val 909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3"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302000"/>
            <a:ext cx="304800" cy="304800"/>
          </a:xfrm>
          <a:prstGeom prst="rect">
            <a:avLst/>
          </a:prstGeom>
        </p:spPr>
      </p:pic>
      <p:sp>
        <p:nvSpPr>
          <p:cNvPr id="14" name="AutoShape 9"/>
          <p:cNvSpPr/>
          <p:nvPr/>
        </p:nvSpPr>
        <p:spPr>
          <a:xfrm>
            <a:off x="1365192" y="3301994"/>
            <a:ext cx="4445000" cy="109403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Competencies: Comprehension and Generation</a:t>
            </a:r>
            <a:endParaRPr lang="en-US" sz="1100"/>
          </a:p>
        </p:txBody>
      </p:sp>
      <p:sp>
        <p:nvSpPr>
          <p:cNvPr id="16" name="AutoShape 11"/>
          <p:cNvSpPr/>
          <p:nvPr/>
        </p:nvSpPr>
        <p:spPr>
          <a:xfrm>
            <a:off x="762000" y="4699000"/>
            <a:ext cx="5334000" cy="1397000"/>
          </a:xfrm>
          <a:prstGeom prst="roundRect">
            <a:avLst>
              <a:gd name="adj" fmla="val 909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7"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889500"/>
            <a:ext cx="304800" cy="304800"/>
          </a:xfrm>
          <a:prstGeom prst="rect">
            <a:avLst/>
          </a:prstGeom>
        </p:spPr>
      </p:pic>
      <p:sp>
        <p:nvSpPr>
          <p:cNvPr id="18" name="AutoShape 13"/>
          <p:cNvSpPr/>
          <p:nvPr/>
        </p:nvSpPr>
        <p:spPr>
          <a:xfrm>
            <a:off x="1320761" y="4889525"/>
            <a:ext cx="4445000" cy="887992"/>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Training Mechanism: Massive Pre-training</a:t>
            </a:r>
            <a:endParaRPr lang="en-US" sz="1100"/>
          </a:p>
        </p:txBody>
      </p:sp>
      <p:sp>
        <p:nvSpPr>
          <p:cNvPr id="20" name="AutoShape 15"/>
          <p:cNvSpPr/>
          <p:nvPr/>
        </p:nvSpPr>
        <p:spPr>
          <a:xfrm>
            <a:off x="6350000" y="1524000"/>
            <a:ext cx="5080000" cy="4572000"/>
          </a:xfrm>
          <a:prstGeom prst="roundRect">
            <a:avLst>
              <a:gd name="adj" fmla="val 2777"/>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图片 21"/>
          <p:cNvPicPr/>
          <p:nvPr/>
        </p:nvPicPr>
        <p:blipFill>
          <a:blip r:embed="rId9"/>
          <a:stretch>
            <a:fillRect/>
          </a:stretch>
        </p:blipFill>
        <p:spPr>
          <a:xfrm>
            <a:off x="6104890" y="1515110"/>
            <a:ext cx="5691505" cy="4571365"/>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9</a:t>
            </a:fld>
            <a:endParaRPr lang="zh-CN" altLang="en-US" dirty="0"/>
          </a:p>
        </p:txBody>
      </p:sp>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Workflow of LLM Code Generation</a:t>
            </a:r>
            <a:endParaRPr lang="en-US" sz="1100"/>
          </a:p>
        </p:txBody>
      </p:sp>
      <p:sp>
        <p:nvSpPr>
          <p:cNvPr id="6" name="AutoShape 4"/>
          <p:cNvSpPr/>
          <p:nvPr>
            <p:custDataLst>
              <p:tags r:id="rId1"/>
            </p:custDataLst>
          </p:nvPr>
        </p:nvSpPr>
        <p:spPr>
          <a:xfrm>
            <a:off x="927100" y="1706245"/>
            <a:ext cx="2540000" cy="1905000"/>
          </a:xfrm>
          <a:prstGeom prst="roundRect">
            <a:avLst>
              <a:gd name="adj" fmla="val 666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7" name="Picture 5"/>
          <p:cNvPicPr>
            <a:picLocks noChangeAspect="1"/>
          </p:cNvPicPr>
          <p:nvPr>
            <p:custDataLst>
              <p:tags r:id="rId2"/>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17600" y="1896745"/>
            <a:ext cx="304800" cy="304800"/>
          </a:xfrm>
          <a:prstGeom prst="rect">
            <a:avLst/>
          </a:prstGeom>
        </p:spPr>
      </p:pic>
      <p:sp>
        <p:nvSpPr>
          <p:cNvPr id="8" name="AutoShape 6"/>
          <p:cNvSpPr/>
          <p:nvPr>
            <p:custDataLst>
              <p:tags r:id="rId3"/>
            </p:custDataLst>
          </p:nvPr>
        </p:nvSpPr>
        <p:spPr>
          <a:xfrm>
            <a:off x="1498600" y="1858645"/>
            <a:ext cx="184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01 Input (Prompt)</a:t>
            </a:r>
            <a:endParaRPr lang="en-US" sz="1100"/>
          </a:p>
        </p:txBody>
      </p:sp>
      <p:sp>
        <p:nvSpPr>
          <p:cNvPr id="9" name="AutoShape 7"/>
          <p:cNvSpPr/>
          <p:nvPr>
            <p:custDataLst>
              <p:tags r:id="rId4"/>
            </p:custDataLst>
          </p:nvPr>
        </p:nvSpPr>
        <p:spPr>
          <a:xfrm>
            <a:off x="1117600" y="2277745"/>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Developers provide natural language descriptions (such as comments) or a code snippet as prompts.</a:t>
            </a:r>
            <a:endParaRPr lang="en-US" sz="1100"/>
          </a:p>
        </p:txBody>
      </p:sp>
      <p:sp>
        <p:nvSpPr>
          <p:cNvPr id="10" name="AutoShape 8"/>
          <p:cNvSpPr/>
          <p:nvPr>
            <p:custDataLst>
              <p:tags r:id="rId5"/>
            </p:custDataLst>
          </p:nvPr>
        </p:nvSpPr>
        <p:spPr>
          <a:xfrm>
            <a:off x="3632200" y="1706245"/>
            <a:ext cx="2540000" cy="1905000"/>
          </a:xfrm>
          <a:prstGeom prst="roundRect">
            <a:avLst>
              <a:gd name="adj" fmla="val 666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1" name="Picture 9"/>
          <p:cNvPicPr>
            <a:picLocks noChangeAspect="1"/>
          </p:cNvPicPr>
          <p:nvPr>
            <p:custDataLst>
              <p:tags r:id="rId6"/>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822700" y="1896745"/>
            <a:ext cx="304800" cy="304800"/>
          </a:xfrm>
          <a:prstGeom prst="rect">
            <a:avLst/>
          </a:prstGeom>
        </p:spPr>
      </p:pic>
      <p:sp>
        <p:nvSpPr>
          <p:cNvPr id="12" name="AutoShape 10"/>
          <p:cNvSpPr/>
          <p:nvPr>
            <p:custDataLst>
              <p:tags r:id="rId7"/>
            </p:custDataLst>
          </p:nvPr>
        </p:nvSpPr>
        <p:spPr>
          <a:xfrm>
            <a:off x="4203700" y="1858645"/>
            <a:ext cx="184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02 Contextual Understanding</a:t>
            </a:r>
            <a:endParaRPr lang="en-US" sz="1100"/>
          </a:p>
        </p:txBody>
      </p:sp>
      <p:sp>
        <p:nvSpPr>
          <p:cNvPr id="13" name="AutoShape 11"/>
          <p:cNvSpPr/>
          <p:nvPr>
            <p:custDataLst>
              <p:tags r:id="rId8"/>
            </p:custDataLst>
          </p:nvPr>
        </p:nvSpPr>
        <p:spPr>
          <a:xfrm>
            <a:off x="3822700" y="2277745"/>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LLMs analyze the input intent, contextual environment, and relevant programming knowledge.</a:t>
            </a:r>
            <a:endParaRPr lang="en-US" sz="1100"/>
          </a:p>
        </p:txBody>
      </p:sp>
      <p:sp>
        <p:nvSpPr>
          <p:cNvPr id="14" name="AutoShape 12"/>
          <p:cNvSpPr/>
          <p:nvPr>
            <p:custDataLst>
              <p:tags r:id="rId9"/>
            </p:custDataLst>
          </p:nvPr>
        </p:nvSpPr>
        <p:spPr>
          <a:xfrm>
            <a:off x="6337300" y="1706245"/>
            <a:ext cx="2540000" cy="1905000"/>
          </a:xfrm>
          <a:prstGeom prst="roundRect">
            <a:avLst>
              <a:gd name="adj" fmla="val 666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5" name="Picture 13"/>
          <p:cNvPicPr>
            <a:picLocks noChangeAspect="1"/>
          </p:cNvPicPr>
          <p:nvPr>
            <p:custDataLst>
              <p:tags r:id="rId10"/>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527800" y="1896745"/>
            <a:ext cx="304800" cy="304800"/>
          </a:xfrm>
          <a:prstGeom prst="rect">
            <a:avLst/>
          </a:prstGeom>
        </p:spPr>
      </p:pic>
      <p:sp>
        <p:nvSpPr>
          <p:cNvPr id="16" name="AutoShape 14"/>
          <p:cNvSpPr/>
          <p:nvPr>
            <p:custDataLst>
              <p:tags r:id="rId11"/>
            </p:custDataLst>
          </p:nvPr>
        </p:nvSpPr>
        <p:spPr>
          <a:xfrm>
            <a:off x="6908800" y="1858645"/>
            <a:ext cx="2072556"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03 Code Generation</a:t>
            </a:r>
            <a:endParaRPr lang="en-US" sz="1100"/>
          </a:p>
        </p:txBody>
      </p:sp>
      <p:sp>
        <p:nvSpPr>
          <p:cNvPr id="17" name="AutoShape 15"/>
          <p:cNvSpPr/>
          <p:nvPr>
            <p:custDataLst>
              <p:tags r:id="rId12"/>
            </p:custDataLst>
          </p:nvPr>
        </p:nvSpPr>
        <p:spPr>
          <a:xfrm>
            <a:off x="6509364" y="2277745"/>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Based on the learned knowledge and patterns, the model predicts and generates the most intent-compliant subsequent code.</a:t>
            </a:r>
            <a:endParaRPr lang="en-US" sz="1100"/>
          </a:p>
        </p:txBody>
      </p:sp>
      <p:sp>
        <p:nvSpPr>
          <p:cNvPr id="18" name="AutoShape 16"/>
          <p:cNvSpPr/>
          <p:nvPr>
            <p:custDataLst>
              <p:tags r:id="rId13"/>
            </p:custDataLst>
          </p:nvPr>
        </p:nvSpPr>
        <p:spPr>
          <a:xfrm>
            <a:off x="9055100" y="1706245"/>
            <a:ext cx="2540000" cy="1905000"/>
          </a:xfrm>
          <a:prstGeom prst="roundRect">
            <a:avLst>
              <a:gd name="adj" fmla="val 666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9" name="Picture 17"/>
          <p:cNvPicPr>
            <a:picLocks noChangeAspect="1"/>
          </p:cNvPicPr>
          <p:nvPr>
            <p:custDataLst>
              <p:tags r:id="rId14"/>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9245600" y="1896745"/>
            <a:ext cx="304800" cy="304800"/>
          </a:xfrm>
          <a:prstGeom prst="rect">
            <a:avLst/>
          </a:prstGeom>
        </p:spPr>
      </p:pic>
      <p:sp>
        <p:nvSpPr>
          <p:cNvPr id="20" name="AutoShape 18"/>
          <p:cNvSpPr/>
          <p:nvPr>
            <p:custDataLst>
              <p:tags r:id="rId15"/>
            </p:custDataLst>
          </p:nvPr>
        </p:nvSpPr>
        <p:spPr>
          <a:xfrm>
            <a:off x="9626600" y="1858645"/>
            <a:ext cx="184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04 Output and Optimization</a:t>
            </a:r>
            <a:endParaRPr lang="en-US" sz="1100"/>
          </a:p>
        </p:txBody>
      </p:sp>
      <p:sp>
        <p:nvSpPr>
          <p:cNvPr id="21" name="AutoShape 19"/>
          <p:cNvSpPr/>
          <p:nvPr>
            <p:custDataLst>
              <p:tags r:id="rId16"/>
            </p:custDataLst>
          </p:nvPr>
        </p:nvSpPr>
        <p:spPr>
          <a:xfrm>
            <a:off x="9245600" y="2277745"/>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Return the generated code to the user and iteratively optimize it based on feedback or interaction.</a:t>
            </a:r>
            <a:endParaRPr lang="en-US" sz="1100"/>
          </a:p>
        </p:txBody>
      </p:sp>
      <p:pic>
        <p:nvPicPr>
          <p:cNvPr id="23" name="图片 22"/>
          <p:cNvPicPr>
            <a:picLocks noChangeAspect="1"/>
          </p:cNvPicPr>
          <p:nvPr/>
        </p:nvPicPr>
        <p:blipFill>
          <a:blip r:embed="rId27"/>
          <a:srcRect t="34960" b="35497"/>
          <a:stretch>
            <a:fillRect/>
          </a:stretch>
        </p:blipFill>
        <p:spPr>
          <a:xfrm>
            <a:off x="1117600" y="4151630"/>
            <a:ext cx="10019665" cy="1664335"/>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B33F7469-D28B-482F-B1B6-3B8E7CF51519}" type="slidenum">
              <a:rPr lang="zh-CN" altLang="en-US" smtClean="0"/>
              <a:t>10</a:t>
            </a:fld>
            <a:endParaRPr lang="zh-CN" altLang="en-US" dirty="0"/>
          </a:p>
        </p:txBody>
      </p:sp>
      <p:sp>
        <p:nvSpPr>
          <p:cNvPr id="2" name="AutoShape 2"/>
          <p:cNvSpPr/>
          <p:nvPr/>
        </p:nvSpPr>
        <p:spPr>
          <a:xfrm>
            <a:off x="762000" y="4064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Key technologies for code generation</a:t>
            </a:r>
            <a:endParaRPr lang="en-US" sz="1100"/>
          </a:p>
        </p:txBody>
      </p:sp>
      <p:sp>
        <p:nvSpPr>
          <p:cNvPr id="3" name="AutoShape 3"/>
          <p:cNvSpPr/>
          <p:nvPr/>
        </p:nvSpPr>
        <p:spPr>
          <a:xfrm>
            <a:off x="762000" y="1219200"/>
            <a:ext cx="1016000" cy="50800"/>
          </a:xfrm>
          <a:prstGeom prst="roundRect">
            <a:avLst>
              <a:gd name="adj" fmla="val 0"/>
            </a:avLst>
          </a:prstGeom>
          <a:solidFill>
            <a:srgbClr val="DC262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4"/>
          <p:cNvSpPr/>
          <p:nvPr/>
        </p:nvSpPr>
        <p:spPr>
          <a:xfrm>
            <a:off x="762000" y="1651000"/>
            <a:ext cx="5207000" cy="2286000"/>
          </a:xfrm>
          <a:prstGeom prst="roundRect">
            <a:avLst>
              <a:gd name="adj" fmla="val 5555"/>
            </a:avLst>
          </a:prstGeom>
          <a:solidFill>
            <a:srgbClr val="FAFAFA">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7" name="Picture 5"/>
          <p:cNvPicPr>
            <a:picLocks noChangeAspect="1"/>
          </p:cNvPicPr>
          <p:nvPr/>
        </p:nvPicPr>
        <p:blipFill>
          <a:blip r:embed="rId3"/>
          <a:srcRect/>
          <a:stretch>
            <a:fillRect/>
          </a:stretch>
        </p:blipFill>
        <p:spPr>
          <a:xfrm>
            <a:off x="1016000" y="1905000"/>
            <a:ext cx="762000" cy="762000"/>
          </a:xfrm>
          <a:prstGeom prst="ellipse">
            <a:avLst/>
          </a:prstGeom>
          <a:noFill/>
          <a:ln w="25400" cap="flat" cmpd="sng">
            <a:noFill/>
            <a:prstDash val="solid"/>
            <a:round/>
          </a:ln>
        </p:spPr>
      </p:pic>
      <p:sp>
        <p:nvSpPr>
          <p:cNvPr id="8" name="AutoShape 6"/>
          <p:cNvSpPr/>
          <p:nvPr/>
        </p:nvSpPr>
        <p:spPr>
          <a:xfrm>
            <a:off x="1905000" y="1905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Prompt Engineering</a:t>
            </a:r>
            <a:endParaRPr lang="en-US" sz="1100"/>
          </a:p>
        </p:txBody>
      </p:sp>
      <p:sp>
        <p:nvSpPr>
          <p:cNvPr id="9" name="AutoShape 7"/>
          <p:cNvSpPr/>
          <p:nvPr/>
        </p:nvSpPr>
        <p:spPr>
          <a:xfrm>
            <a:off x="1905000" y="2286000"/>
            <a:ext cx="3683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Designing effective input prompts to guide models in generating high-quality code is a core skill in using AI tools, which determines the precision of the output.</a:t>
            </a:r>
            <a:endParaRPr lang="en-US" sz="1100"/>
          </a:p>
        </p:txBody>
      </p:sp>
      <p:sp>
        <p:nvSpPr>
          <p:cNvPr id="10" name="AutoShape 8"/>
          <p:cNvSpPr/>
          <p:nvPr/>
        </p:nvSpPr>
        <p:spPr>
          <a:xfrm>
            <a:off x="6223000" y="1651000"/>
            <a:ext cx="5207000" cy="2286000"/>
          </a:xfrm>
          <a:prstGeom prst="roundRect">
            <a:avLst>
              <a:gd name="adj" fmla="val 5555"/>
            </a:avLst>
          </a:prstGeom>
          <a:solidFill>
            <a:srgbClr val="FAFAFA">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1" name="Picture 9"/>
          <p:cNvPicPr>
            <a:picLocks noChangeAspect="1"/>
          </p:cNvPicPr>
          <p:nvPr/>
        </p:nvPicPr>
        <p:blipFill>
          <a:blip r:embed="rId4"/>
          <a:srcRect/>
          <a:stretch>
            <a:fillRect/>
          </a:stretch>
        </p:blipFill>
        <p:spPr>
          <a:xfrm>
            <a:off x="6477000" y="1905000"/>
            <a:ext cx="762000" cy="762000"/>
          </a:xfrm>
          <a:prstGeom prst="ellipse">
            <a:avLst/>
          </a:prstGeom>
          <a:noFill/>
          <a:ln w="25400" cap="flat" cmpd="sng">
            <a:noFill/>
            <a:prstDash val="solid"/>
            <a:round/>
          </a:ln>
        </p:spPr>
      </p:pic>
      <p:sp>
        <p:nvSpPr>
          <p:cNvPr id="12" name="AutoShape 10"/>
          <p:cNvSpPr/>
          <p:nvPr/>
        </p:nvSpPr>
        <p:spPr>
          <a:xfrm>
            <a:off x="7366000" y="1905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Fine-tuning</a:t>
            </a:r>
            <a:endParaRPr lang="en-US" sz="1100"/>
          </a:p>
        </p:txBody>
      </p:sp>
      <p:sp>
        <p:nvSpPr>
          <p:cNvPr id="13" name="AutoShape 11"/>
          <p:cNvSpPr/>
          <p:nvPr/>
        </p:nvSpPr>
        <p:spPr>
          <a:xfrm>
            <a:off x="7366000" y="2286000"/>
            <a:ext cx="3683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Based on a general pre-training model, secondary training is conducted using domain-specific code datasets, significantly enhancing the model's professional coding capabilities in vertical domains.</a:t>
            </a:r>
            <a:endParaRPr lang="en-US" sz="1100"/>
          </a:p>
        </p:txBody>
      </p:sp>
      <p:sp>
        <p:nvSpPr>
          <p:cNvPr id="14" name="AutoShape 12"/>
          <p:cNvSpPr/>
          <p:nvPr/>
        </p:nvSpPr>
        <p:spPr>
          <a:xfrm>
            <a:off x="762000" y="4191000"/>
            <a:ext cx="5207000" cy="2286000"/>
          </a:xfrm>
          <a:prstGeom prst="roundRect">
            <a:avLst>
              <a:gd name="adj" fmla="val 5555"/>
            </a:avLst>
          </a:prstGeom>
          <a:solidFill>
            <a:srgbClr val="FAFAFA">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5" name="Picture 13"/>
          <p:cNvPicPr>
            <a:picLocks noChangeAspect="1"/>
          </p:cNvPicPr>
          <p:nvPr/>
        </p:nvPicPr>
        <p:blipFill>
          <a:blip r:embed="rId5"/>
          <a:srcRect/>
          <a:stretch>
            <a:fillRect/>
          </a:stretch>
        </p:blipFill>
        <p:spPr>
          <a:xfrm>
            <a:off x="1016000" y="4445000"/>
            <a:ext cx="762000" cy="762000"/>
          </a:xfrm>
          <a:prstGeom prst="ellipse">
            <a:avLst/>
          </a:prstGeom>
          <a:noFill/>
          <a:ln w="25400" cap="flat" cmpd="sng">
            <a:noFill/>
            <a:prstDash val="solid"/>
            <a:round/>
          </a:ln>
        </p:spPr>
      </p:pic>
      <p:sp>
        <p:nvSpPr>
          <p:cNvPr id="16" name="AutoShape 14"/>
          <p:cNvSpPr/>
          <p:nvPr/>
        </p:nvSpPr>
        <p:spPr>
          <a:xfrm>
            <a:off x="1905000" y="4445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RAG</a:t>
            </a:r>
            <a:endParaRPr lang="en-US" sz="1100"/>
          </a:p>
        </p:txBody>
      </p:sp>
      <p:sp>
        <p:nvSpPr>
          <p:cNvPr id="17" name="AutoShape 15"/>
          <p:cNvSpPr/>
          <p:nvPr/>
        </p:nvSpPr>
        <p:spPr>
          <a:xfrm>
            <a:off x="1905000" y="4826000"/>
            <a:ext cx="3683000" cy="165096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By integrating external knowledge base retrieval (such as API documentation, code examples) to supplement real-time model information, it effectively addresses hallucination issues and enhances generation accuracy.</a:t>
            </a:r>
            <a:endParaRPr lang="en-US" sz="1100"/>
          </a:p>
        </p:txBody>
      </p:sp>
      <p:sp>
        <p:nvSpPr>
          <p:cNvPr id="18" name="AutoShape 16"/>
          <p:cNvSpPr/>
          <p:nvPr/>
        </p:nvSpPr>
        <p:spPr>
          <a:xfrm>
            <a:off x="6223000" y="4191000"/>
            <a:ext cx="5207000" cy="2286000"/>
          </a:xfrm>
          <a:prstGeom prst="roundRect">
            <a:avLst>
              <a:gd name="adj" fmla="val 5555"/>
            </a:avLst>
          </a:prstGeom>
          <a:solidFill>
            <a:srgbClr val="FAFAFA">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9" name="Picture 17"/>
          <p:cNvPicPr>
            <a:picLocks noChangeAspect="1"/>
          </p:cNvPicPr>
          <p:nvPr/>
        </p:nvPicPr>
        <p:blipFill>
          <a:blip r:embed="rId6"/>
          <a:srcRect/>
          <a:stretch>
            <a:fillRect/>
          </a:stretch>
        </p:blipFill>
        <p:spPr>
          <a:xfrm>
            <a:off x="6477000" y="4445000"/>
            <a:ext cx="762000" cy="762000"/>
          </a:xfrm>
          <a:prstGeom prst="ellipse">
            <a:avLst/>
          </a:prstGeom>
          <a:noFill/>
          <a:ln w="25400" cap="flat" cmpd="sng">
            <a:noFill/>
            <a:prstDash val="solid"/>
            <a:round/>
          </a:ln>
        </p:spPr>
      </p:pic>
      <p:sp>
        <p:nvSpPr>
          <p:cNvPr id="20" name="AutoShape 18"/>
          <p:cNvSpPr/>
          <p:nvPr/>
        </p:nvSpPr>
        <p:spPr>
          <a:xfrm>
            <a:off x="7366000" y="4445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Multimodal</a:t>
            </a:r>
            <a:endParaRPr lang="en-US" sz="1100"/>
          </a:p>
        </p:txBody>
      </p:sp>
      <p:sp>
        <p:nvSpPr>
          <p:cNvPr id="21" name="AutoShape 19"/>
          <p:cNvSpPr/>
          <p:nvPr/>
        </p:nvSpPr>
        <p:spPr>
          <a:xfrm>
            <a:off x="7366000" y="4826000"/>
            <a:ext cx="3683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Breaking through the limitations of plain text, it supports various input formats such as images (UI design drafts) and voice, making the interaction method of code generation more natural and intuitive.</a:t>
            </a:r>
            <a:endParaRPr lang="en-US" sz="110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609600" y="2286000"/>
            <a:ext cx="152400" cy="1778000"/>
          </a:xfrm>
          <a:prstGeom prst="roundRect">
            <a:avLst>
              <a:gd name="adj" fmla="val 0"/>
            </a:avLst>
          </a:prstGeom>
          <a:solidFill>
            <a:srgbClr val="F8514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12" y="2028921"/>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85149"/>
                </a:solidFill>
                <a:latin typeface="Noto Sans SC" panose="020B0200000000000000" charset="-122"/>
                <a:ea typeface="Noto Sans SC" panose="020B0200000000000000" charset="-122"/>
                <a:cs typeface="Noto Sans SC" panose="020B0200000000000000" charset="-122"/>
                <a:sym typeface="Noto Sans SC" panose="020B0200000000000000" charset="-122"/>
              </a:rPr>
              <a:t>03 / CHAPTER</a:t>
            </a:r>
            <a:endParaRPr lang="en-US" sz="1100"/>
          </a:p>
        </p:txBody>
      </p:sp>
      <p:sp>
        <p:nvSpPr>
          <p:cNvPr id="6" name="AutoShape 6"/>
          <p:cNvSpPr/>
          <p:nvPr/>
        </p:nvSpPr>
        <p:spPr>
          <a:xfrm>
            <a:off x="1016000" y="2730500"/>
            <a:ext cx="11072586" cy="762000"/>
          </a:xfrm>
          <a:prstGeom prst="rect">
            <a:avLst/>
          </a:prstGeom>
          <a:noFill/>
          <a:ln w="12700" cap="flat" cmpd="sng">
            <a:noFill/>
            <a:prstDash val="solid"/>
            <a:round/>
          </a:ln>
        </p:spPr>
        <p:txBody>
          <a:bodyPr vert="horz" wrap="square" lIns="0" tIns="0" rIns="0" bIns="0" rtlCol="0" anchor="ctr" anchorCtr="0"/>
          <a:lstStyle/>
          <a:p>
            <a:pPr indent="0" algn="l">
              <a:lnSpc>
                <a:spcPct val="85000"/>
              </a:lnSpc>
              <a:defRPr/>
            </a:pPr>
            <a:r>
              <a:rPr lang="en-US" altLang="zh-CN" sz="3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 Copilot: The Intelligent Assistant in Practice</a:t>
            </a:r>
          </a:p>
        </p:txBody>
      </p:sp>
      <p:sp>
        <p:nvSpPr>
          <p:cNvPr id="7" name="AutoShape 7"/>
          <p:cNvSpPr/>
          <p:nvPr/>
        </p:nvSpPr>
        <p:spPr>
          <a:xfrm>
            <a:off x="1016000" y="34925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8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From theory to practice, experience the powerful capabilities of Copilot</a:t>
            </a:r>
          </a:p>
        </p:txBody>
      </p:sp>
      <p:cxnSp>
        <p:nvCxnSpPr>
          <p:cNvPr id="8" name="Connector 8"/>
          <p:cNvCxnSpPr/>
          <p:nvPr/>
        </p:nvCxnSpPr>
        <p:spPr>
          <a:xfrm rot="-42969">
            <a:off x="1016040" y="4184650"/>
            <a:ext cx="1016000" cy="12700"/>
          </a:xfrm>
          <a:prstGeom prst="straightConnector1">
            <a:avLst/>
          </a:prstGeom>
          <a:solidFill>
            <a:srgbClr val="DEE0E3">
              <a:alpha val="100000"/>
            </a:srgbClr>
          </a:solidFill>
          <a:ln w="38100" cap="flat" cmpd="sng">
            <a:solidFill>
              <a:srgbClr val="F85149">
                <a:alpha val="100000"/>
              </a:srgbClr>
            </a:solidFill>
            <a:prstDash val="solid"/>
            <a:round/>
            <a:headEnd type="none" w="lg" len="lg"/>
            <a:tailEnd type="none" w="lg" len="lg"/>
          </a:ln>
        </p:spPr>
      </p:cxn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B33F7469-D28B-482F-B1B6-3B8E7CF51519}" type="slidenum">
              <a:rPr lang="zh-CN" altLang="en-US" smtClean="0"/>
              <a:t>12</a:t>
            </a:fld>
            <a:endParaRPr lang="zh-CN" altLang="en-US" dirty="0"/>
          </a:p>
        </p:txBody>
      </p:sp>
      <p:sp>
        <p:nvSpPr>
          <p:cNvPr id="2" name="AutoShape 2"/>
          <p:cNvSpPr/>
          <p:nvPr/>
        </p:nvSpPr>
        <p:spPr>
          <a:xfrm>
            <a:off x="762000" y="45847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 Copilot</a:t>
            </a:r>
            <a:endParaRPr lang="en-US" sz="1100"/>
          </a:p>
        </p:txBody>
      </p:sp>
      <p:sp>
        <p:nvSpPr>
          <p:cNvPr id="3" name="AutoShape 3"/>
          <p:cNvSpPr/>
          <p:nvPr/>
        </p:nvSpPr>
        <p:spPr>
          <a:xfrm>
            <a:off x="762000" y="1524000"/>
            <a:ext cx="4318000" cy="4318000"/>
          </a:xfrm>
          <a:prstGeom prst="roundRect">
            <a:avLst>
              <a:gd name="adj" fmla="val 5882"/>
            </a:avLst>
          </a:prstGeom>
          <a:solidFill>
            <a:srgbClr val="F8F8F8">
              <a:alpha val="100000"/>
            </a:srgbClr>
          </a:solidFill>
          <a:ln cap="flat" cmpd="sng">
            <a:solidFill>
              <a:srgbClr val="DFC8C8">
                <a:alpha val="100000"/>
              </a:srgbClr>
            </a:solidFill>
            <a:prstDash val="solid"/>
            <a:round/>
          </a:ln>
        </p:spPr>
        <p:txBody>
          <a:bodyPr vert="horz" wrap="square" lIns="63500" tIns="63500" rIns="63500" bIns="63500" rtlCol="0" anchor="ctr"/>
          <a:lstStyle/>
          <a:p>
            <a:pPr algn="ctr">
              <a:defRPr/>
            </a:pPr>
            <a:endParaRPr/>
          </a:p>
        </p:txBody>
      </p:sp>
      <p:pic>
        <p:nvPicPr>
          <p:cNvPr id="6" name="Picture 4"/>
          <p:cNvPicPr>
            <a:picLocks noChangeAspect="1"/>
          </p:cNvPicPr>
          <p:nvPr/>
        </p:nvPicPr>
        <p:blipFill>
          <a:blip r:embed="rId3"/>
          <a:srcRect/>
          <a:stretch>
            <a:fillRect/>
          </a:stretch>
        </p:blipFill>
        <p:spPr>
          <a:xfrm>
            <a:off x="1016000" y="1778000"/>
            <a:ext cx="3810000" cy="3810000"/>
          </a:xfrm>
          <a:prstGeom prst="roundRect">
            <a:avLst>
              <a:gd name="adj" fmla="val 6666"/>
            </a:avLst>
          </a:prstGeom>
          <a:noFill/>
          <a:ln w="25400" cap="flat" cmpd="sng">
            <a:noFill/>
            <a:prstDash val="solid"/>
            <a:round/>
          </a:ln>
        </p:spPr>
      </p:pic>
      <p:pic>
        <p:nvPicPr>
          <p:cNvPr id="7"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0" y="1524000"/>
            <a:ext cx="304800" cy="304800"/>
          </a:xfrm>
          <a:prstGeom prst="rect">
            <a:avLst/>
          </a:prstGeom>
        </p:spPr>
      </p:pic>
      <p:sp>
        <p:nvSpPr>
          <p:cNvPr id="8" name="AutoShape 6"/>
          <p:cNvSpPr/>
          <p:nvPr/>
        </p:nvSpPr>
        <p:spPr>
          <a:xfrm>
            <a:off x="5969000" y="1498600"/>
            <a:ext cx="546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F03434"/>
                </a:solidFill>
                <a:latin typeface="Noto Sans SC" panose="020B0200000000000000" charset="-122"/>
                <a:ea typeface="Noto Sans SC" panose="020B0200000000000000" charset="-122"/>
                <a:cs typeface="Noto Sans SC" panose="020B0200000000000000" charset="-122"/>
                <a:sym typeface="Noto Sans SC" panose="020B0200000000000000" charset="-122"/>
              </a:rPr>
              <a:t>Joint development background</a:t>
            </a:r>
            <a:endParaRPr lang="en-US" sz="1100"/>
          </a:p>
        </p:txBody>
      </p:sp>
      <p:sp>
        <p:nvSpPr>
          <p:cNvPr id="9" name="AutoShape 7"/>
          <p:cNvSpPr/>
          <p:nvPr/>
        </p:nvSpPr>
        <p:spPr>
          <a:xfrm>
            <a:off x="5969000" y="1828800"/>
            <a:ext cx="546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Developed in collaboration with GitHub, the world's largest code hosting platform, and OpenAI, a pioneer in the field of AI.</a:t>
            </a:r>
            <a:endParaRPr lang="en-US" sz="1100"/>
          </a:p>
        </p:txBody>
      </p:sp>
      <p:cxnSp>
        <p:nvCxnSpPr>
          <p:cNvPr id="10" name="Connector 8"/>
          <p:cNvCxnSpPr/>
          <p:nvPr/>
        </p:nvCxnSpPr>
        <p:spPr>
          <a:xfrm rot="-7473">
            <a:off x="5588007" y="2406650"/>
            <a:ext cx="584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11"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88000" y="2603500"/>
            <a:ext cx="304800" cy="304800"/>
          </a:xfrm>
          <a:prstGeom prst="rect">
            <a:avLst/>
          </a:prstGeom>
        </p:spPr>
      </p:pic>
      <p:sp>
        <p:nvSpPr>
          <p:cNvPr id="12" name="AutoShape 10"/>
          <p:cNvSpPr/>
          <p:nvPr/>
        </p:nvSpPr>
        <p:spPr>
          <a:xfrm>
            <a:off x="5969000" y="2578100"/>
            <a:ext cx="546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F03434"/>
                </a:solidFill>
                <a:latin typeface="Noto Sans SC" panose="020B0200000000000000" charset="-122"/>
                <a:ea typeface="Noto Sans SC" panose="020B0200000000000000" charset="-122"/>
                <a:cs typeface="Noto Sans SC" panose="020B0200000000000000" charset="-122"/>
                <a:sym typeface="Noto Sans SC" panose="020B0200000000000000" charset="-122"/>
              </a:rPr>
              <a:t>Powerful model support</a:t>
            </a:r>
            <a:endParaRPr lang="en-US" sz="1100"/>
          </a:p>
        </p:txBody>
      </p:sp>
      <p:sp>
        <p:nvSpPr>
          <p:cNvPr id="13" name="AutoShape 11"/>
          <p:cNvSpPr/>
          <p:nvPr/>
        </p:nvSpPr>
        <p:spPr>
          <a:xfrm>
            <a:off x="5969000" y="2908300"/>
            <a:ext cx="5832487"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Based on OpenAI's specially trained Codex model, it has been upgraded to the more powerful GPT-4 architecture broussonetia papyrifera.</a:t>
            </a:r>
            <a:endParaRPr lang="en-US" sz="1100"/>
          </a:p>
        </p:txBody>
      </p:sp>
      <p:cxnSp>
        <p:nvCxnSpPr>
          <p:cNvPr id="14" name="Connector 12"/>
          <p:cNvCxnSpPr/>
          <p:nvPr/>
        </p:nvCxnSpPr>
        <p:spPr>
          <a:xfrm rot="-7473">
            <a:off x="5588007" y="3486150"/>
            <a:ext cx="584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15"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88000" y="3683000"/>
            <a:ext cx="304800" cy="304800"/>
          </a:xfrm>
          <a:prstGeom prst="rect">
            <a:avLst/>
          </a:prstGeom>
        </p:spPr>
      </p:pic>
      <p:sp>
        <p:nvSpPr>
          <p:cNvPr id="16" name="AutoShape 14"/>
          <p:cNvSpPr/>
          <p:nvPr/>
        </p:nvSpPr>
        <p:spPr>
          <a:xfrm>
            <a:off x="5969000" y="3657600"/>
            <a:ext cx="546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F03434"/>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feature highlights</a:t>
            </a:r>
            <a:endParaRPr lang="en-US" sz="1100"/>
          </a:p>
        </p:txBody>
      </p:sp>
      <p:sp>
        <p:nvSpPr>
          <p:cNvPr id="17" name="AutoShape 15"/>
          <p:cNvSpPr/>
          <p:nvPr/>
        </p:nvSpPr>
        <p:spPr>
          <a:xfrm>
            <a:off x="5969000" y="3987800"/>
            <a:ext cx="5461000" cy="762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25000"/>
              </a:lnSpc>
              <a:buClr>
                <a:srgbClr val="505050"/>
              </a:buClr>
              <a:buChar char="•"/>
              <a:defRPr/>
            </a:pPr>
            <a:r>
              <a:rPr lang="en-US" altLang="zh-CN"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Real-time code completion and natural language to code conversion;</a:t>
            </a:r>
            <a:endParaRPr lang="en-US" sz="1100"/>
          </a:p>
          <a:p>
            <a:pPr marL="165100" indent="-165100" algn="l">
              <a:lnSpc>
                <a:spcPct val="125000"/>
              </a:lnSpc>
              <a:buClr>
                <a:srgbClr val="505050"/>
              </a:buClr>
              <a:buChar char="•"/>
            </a:pPr>
            <a:r>
              <a:rPr lang="en-US" altLang="zh-CN"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Automatically generate function/class summary for broussonetia papyrifera, supporting code interpretation and comment generation.</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8" name="Connector 16"/>
          <p:cNvCxnSpPr/>
          <p:nvPr/>
        </p:nvCxnSpPr>
        <p:spPr>
          <a:xfrm rot="-7473">
            <a:off x="5588007" y="4819650"/>
            <a:ext cx="584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19"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88000" y="5016500"/>
            <a:ext cx="304800" cy="304800"/>
          </a:xfrm>
          <a:prstGeom prst="rect">
            <a:avLst/>
          </a:prstGeom>
        </p:spPr>
      </p:pic>
      <p:sp>
        <p:nvSpPr>
          <p:cNvPr id="20" name="AutoShape 18"/>
          <p:cNvSpPr/>
          <p:nvPr/>
        </p:nvSpPr>
        <p:spPr>
          <a:xfrm>
            <a:off x="5969000" y="4991100"/>
            <a:ext cx="546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F03434"/>
                </a:solidFill>
                <a:latin typeface="Noto Sans SC" panose="020B0200000000000000" charset="-122"/>
                <a:ea typeface="Noto Sans SC" panose="020B0200000000000000" charset="-122"/>
                <a:cs typeface="Noto Sans SC" panose="020B0200000000000000" charset="-122"/>
                <a:sym typeface="Noto Sans SC" panose="020B0200000000000000" charset="-122"/>
              </a:rPr>
              <a:t>Extensive ecological compatibility</a:t>
            </a:r>
            <a:endParaRPr lang="en-US" sz="1100"/>
          </a:p>
        </p:txBody>
      </p:sp>
      <p:sp>
        <p:nvSpPr>
          <p:cNvPr id="21" name="AutoShape 19"/>
          <p:cNvSpPr/>
          <p:nvPr/>
        </p:nvSpPr>
        <p:spPr>
          <a:xfrm>
            <a:off x="5969000" y="5321300"/>
            <a:ext cx="546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Supports mainstream programming languages such as Python, Java, C++, and seamlessly integrates with IDEs like VS Code and JetBrains.</a:t>
            </a:r>
            <a:endParaRPr lang="en-US" sz="110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13</a:t>
            </a:fld>
            <a:endParaRPr lang="zh-CN" altLang="en-US" dirty="0"/>
          </a:p>
        </p:txBody>
      </p:sp>
      <p:sp>
        <p:nvSpPr>
          <p:cNvPr id="2" name="AutoShape 2"/>
          <p:cNvSpPr/>
          <p:nvPr/>
        </p:nvSpPr>
        <p:spPr>
          <a:xfrm>
            <a:off x="762000" y="4064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 Copilot </a:t>
            </a:r>
            <a:r>
              <a:rPr lang="en-US" altLang="zh-CN"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workflow</a:t>
            </a:r>
            <a:endParaRPr lang="en-US" sz="1100"/>
          </a:p>
        </p:txBody>
      </p:sp>
      <p:pic>
        <p:nvPicPr>
          <p:cNvPr id="20" name="图片 19"/>
          <p:cNvPicPr/>
          <p:nvPr/>
        </p:nvPicPr>
        <p:blipFill>
          <a:blip r:embed="rId3"/>
          <a:srcRect l="3905" t="10022" r="4716" b="9707"/>
          <a:stretch>
            <a:fillRect/>
          </a:stretch>
        </p:blipFill>
        <p:spPr>
          <a:xfrm>
            <a:off x="1798955" y="3641090"/>
            <a:ext cx="7391400" cy="3155950"/>
          </a:xfrm>
          <a:prstGeom prst="rect">
            <a:avLst/>
          </a:prstGeom>
        </p:spPr>
      </p:pic>
      <p:pic>
        <p:nvPicPr>
          <p:cNvPr id="7" name="图片 6" descr="post_object_image_1489344391"/>
          <p:cNvPicPr>
            <a:picLocks noChangeAspect="1"/>
          </p:cNvPicPr>
          <p:nvPr/>
        </p:nvPicPr>
        <p:blipFill>
          <a:blip r:embed="rId4"/>
          <a:stretch>
            <a:fillRect/>
          </a:stretch>
        </p:blipFill>
        <p:spPr>
          <a:xfrm>
            <a:off x="938578" y="1288168"/>
            <a:ext cx="5322119" cy="1170500"/>
          </a:xfrm>
          <a:prstGeom prst="rect">
            <a:avLst/>
          </a:prstGeom>
        </p:spPr>
      </p:pic>
      <p:pic>
        <p:nvPicPr>
          <p:cNvPr id="8" name="图片 7" descr="post_object_image_2989102395"/>
          <p:cNvPicPr>
            <a:picLocks noChangeAspect="1"/>
          </p:cNvPicPr>
          <p:nvPr/>
        </p:nvPicPr>
        <p:blipFill>
          <a:blip r:embed="rId5"/>
          <a:stretch>
            <a:fillRect/>
          </a:stretch>
        </p:blipFill>
        <p:spPr>
          <a:xfrm>
            <a:off x="6335424" y="1318587"/>
            <a:ext cx="5291185" cy="1109739"/>
          </a:xfrm>
          <a:prstGeom prst="rect">
            <a:avLst/>
          </a:prstGeom>
        </p:spPr>
      </p:pic>
      <p:pic>
        <p:nvPicPr>
          <p:cNvPr id="9" name="图片 8" descr="post_object_image_1215151304"/>
          <p:cNvPicPr>
            <a:picLocks noChangeAspect="1"/>
          </p:cNvPicPr>
          <p:nvPr/>
        </p:nvPicPr>
        <p:blipFill>
          <a:blip r:embed="rId6"/>
          <a:stretch>
            <a:fillRect/>
          </a:stretch>
        </p:blipFill>
        <p:spPr>
          <a:xfrm>
            <a:off x="938578" y="2496117"/>
            <a:ext cx="5106334" cy="1069451"/>
          </a:xfrm>
          <a:prstGeom prst="rect">
            <a:avLst/>
          </a:prstGeom>
        </p:spPr>
      </p:pic>
      <p:pic>
        <p:nvPicPr>
          <p:cNvPr id="10" name="图片 9" descr="post_object_image_1451018066"/>
          <p:cNvPicPr>
            <a:picLocks noChangeAspect="1"/>
          </p:cNvPicPr>
          <p:nvPr/>
        </p:nvPicPr>
        <p:blipFill>
          <a:blip r:embed="rId7"/>
          <a:stretch>
            <a:fillRect/>
          </a:stretch>
        </p:blipFill>
        <p:spPr>
          <a:xfrm>
            <a:off x="6402669" y="2504113"/>
            <a:ext cx="5027331" cy="1061455"/>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14</a:t>
            </a:fld>
            <a:endParaRPr lang="zh-CN" altLang="en-US" dirty="0"/>
          </a:p>
        </p:txBody>
      </p:sp>
      <p:sp>
        <p:nvSpPr>
          <p:cNvPr id="2" name="AutoShape 2"/>
          <p:cNvSpPr/>
          <p:nvPr/>
        </p:nvSpPr>
        <p:spPr>
          <a:xfrm>
            <a:off x="762000" y="45847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Practical application scenarios of Copilot</a:t>
            </a:r>
            <a:endParaRPr lang="en-US" sz="1100"/>
          </a:p>
        </p:txBody>
      </p:sp>
      <p:sp>
        <p:nvSpPr>
          <p:cNvPr id="3" name="AutoShape 3"/>
          <p:cNvSpPr/>
          <p:nvPr/>
        </p:nvSpPr>
        <p:spPr>
          <a:xfrm>
            <a:off x="762000" y="1524000"/>
            <a:ext cx="3302000" cy="2286000"/>
          </a:xfrm>
          <a:prstGeom prst="roundRect">
            <a:avLst>
              <a:gd name="adj" fmla="val 555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6"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778000"/>
            <a:ext cx="406400" cy="406400"/>
          </a:xfrm>
          <a:prstGeom prst="rect">
            <a:avLst/>
          </a:prstGeom>
        </p:spPr>
      </p:pic>
      <p:sp>
        <p:nvSpPr>
          <p:cNvPr id="7" name="AutoShape 5"/>
          <p:cNvSpPr/>
          <p:nvPr/>
        </p:nvSpPr>
        <p:spPr>
          <a:xfrm>
            <a:off x="1524000" y="1778000"/>
            <a:ext cx="2687173"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Code completion</a:t>
            </a:r>
            <a:endParaRPr lang="en-US" sz="1100"/>
          </a:p>
        </p:txBody>
      </p:sp>
      <p:cxnSp>
        <p:nvCxnSpPr>
          <p:cNvPr id="8" name="Connector 6"/>
          <p:cNvCxnSpPr/>
          <p:nvPr/>
        </p:nvCxnSpPr>
        <p:spPr>
          <a:xfrm rot="-15626">
            <a:off x="1016014" y="2279650"/>
            <a:ext cx="2794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9" name="AutoShape 7"/>
          <p:cNvSpPr/>
          <p:nvPr/>
        </p:nvSpPr>
        <p:spPr>
          <a:xfrm>
            <a:off x="1016000" y="24130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Auto-completing variable names, function calls, and logical statements significantly enhances coding fluency and reduces repetitive input.</a:t>
            </a:r>
            <a:endParaRPr lang="en-US" sz="1100"/>
          </a:p>
        </p:txBody>
      </p:sp>
      <p:sp>
        <p:nvSpPr>
          <p:cNvPr id="10" name="AutoShape 8"/>
          <p:cNvSpPr/>
          <p:nvPr/>
        </p:nvSpPr>
        <p:spPr>
          <a:xfrm>
            <a:off x="4445000" y="1524000"/>
            <a:ext cx="3302000" cy="2286000"/>
          </a:xfrm>
          <a:prstGeom prst="roundRect">
            <a:avLst>
              <a:gd name="adj" fmla="val 555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1"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9000" y="1778000"/>
            <a:ext cx="406400" cy="406400"/>
          </a:xfrm>
          <a:prstGeom prst="rect">
            <a:avLst/>
          </a:prstGeom>
        </p:spPr>
      </p:pic>
      <p:sp>
        <p:nvSpPr>
          <p:cNvPr id="12" name="AutoShape 10"/>
          <p:cNvSpPr/>
          <p:nvPr/>
        </p:nvSpPr>
        <p:spPr>
          <a:xfrm>
            <a:off x="5207000" y="17780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Function logic generation</a:t>
            </a:r>
            <a:endParaRPr lang="en-US" sz="1100"/>
          </a:p>
        </p:txBody>
      </p:sp>
      <p:cxnSp>
        <p:nvCxnSpPr>
          <p:cNvPr id="13" name="Connector 11"/>
          <p:cNvCxnSpPr/>
          <p:nvPr/>
        </p:nvCxnSpPr>
        <p:spPr>
          <a:xfrm rot="-15626">
            <a:off x="4699014" y="2279650"/>
            <a:ext cx="2794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4" name="AutoShape 12"/>
          <p:cNvSpPr/>
          <p:nvPr/>
        </p:nvSpPr>
        <p:spPr>
          <a:xfrm>
            <a:off x="4699000" y="24130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Only functional annotations describing inputs and outputs are required to automatically generate complete function implementation code.</a:t>
            </a:r>
            <a:endParaRPr lang="en-US" sz="1100"/>
          </a:p>
        </p:txBody>
      </p:sp>
      <p:sp>
        <p:nvSpPr>
          <p:cNvPr id="15" name="AutoShape 13"/>
          <p:cNvSpPr/>
          <p:nvPr/>
        </p:nvSpPr>
        <p:spPr>
          <a:xfrm>
            <a:off x="8128000" y="1524000"/>
            <a:ext cx="3302000" cy="2286000"/>
          </a:xfrm>
          <a:prstGeom prst="roundRect">
            <a:avLst>
              <a:gd name="adj" fmla="val 555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6"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82000" y="1778000"/>
            <a:ext cx="406400" cy="406400"/>
          </a:xfrm>
          <a:prstGeom prst="rect">
            <a:avLst/>
          </a:prstGeom>
        </p:spPr>
      </p:pic>
      <p:sp>
        <p:nvSpPr>
          <p:cNvPr id="17" name="AutoShape 15"/>
          <p:cNvSpPr/>
          <p:nvPr/>
        </p:nvSpPr>
        <p:spPr>
          <a:xfrm>
            <a:off x="8890000" y="17780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Automated unit test generation</a:t>
            </a:r>
            <a:endParaRPr lang="en-US" sz="1100"/>
          </a:p>
        </p:txBody>
      </p:sp>
      <p:cxnSp>
        <p:nvCxnSpPr>
          <p:cNvPr id="18" name="Connector 16"/>
          <p:cNvCxnSpPr/>
          <p:nvPr/>
        </p:nvCxnSpPr>
        <p:spPr>
          <a:xfrm rot="-15626">
            <a:off x="8382014" y="2279650"/>
            <a:ext cx="2794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9" name="AutoShape 17"/>
          <p:cNvSpPr/>
          <p:nvPr/>
        </p:nvSpPr>
        <p:spPr>
          <a:xfrm>
            <a:off x="8382000" y="24130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Based on the existing business code, automatically generate corresponding unit test cases to quickly achieve test coverage.</a:t>
            </a:r>
            <a:endParaRPr lang="en-US" sz="1100"/>
          </a:p>
        </p:txBody>
      </p:sp>
      <p:sp>
        <p:nvSpPr>
          <p:cNvPr id="20" name="AutoShape 18"/>
          <p:cNvSpPr/>
          <p:nvPr/>
        </p:nvSpPr>
        <p:spPr>
          <a:xfrm>
            <a:off x="762000" y="4064000"/>
            <a:ext cx="5143500" cy="2286000"/>
          </a:xfrm>
          <a:prstGeom prst="roundRect">
            <a:avLst>
              <a:gd name="adj" fmla="val 555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21"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4318000"/>
            <a:ext cx="406400" cy="406400"/>
          </a:xfrm>
          <a:prstGeom prst="rect">
            <a:avLst/>
          </a:prstGeom>
        </p:spPr>
      </p:pic>
      <p:sp>
        <p:nvSpPr>
          <p:cNvPr id="22" name="AutoShape 20"/>
          <p:cNvSpPr/>
          <p:nvPr/>
        </p:nvSpPr>
        <p:spPr>
          <a:xfrm>
            <a:off x="1524000" y="4318000"/>
            <a:ext cx="4064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Code refactoring of Broussonetia papyrifera and optimization</a:t>
            </a:r>
            <a:endParaRPr lang="en-US" sz="1100"/>
          </a:p>
        </p:txBody>
      </p:sp>
      <p:cxnSp>
        <p:nvCxnSpPr>
          <p:cNvPr id="23" name="Connector 21"/>
          <p:cNvCxnSpPr/>
          <p:nvPr/>
        </p:nvCxnSpPr>
        <p:spPr>
          <a:xfrm rot="-9418">
            <a:off x="1016009" y="4819650"/>
            <a:ext cx="46355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4" name="AutoShape 22"/>
          <p:cNvSpPr/>
          <p:nvPr/>
        </p:nvSpPr>
        <p:spPr>
          <a:xfrm>
            <a:off x="1016000" y="4953000"/>
            <a:ext cx="46355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For the selected code snippet, provide refactoring suggestions for Broussonetia papyrifera, optimize complex code into a more concise and efficient writing style, and enhance code quality.</a:t>
            </a:r>
            <a:endParaRPr lang="en-US" sz="1100"/>
          </a:p>
        </p:txBody>
      </p:sp>
      <p:sp>
        <p:nvSpPr>
          <p:cNvPr id="25" name="AutoShape 23"/>
          <p:cNvSpPr/>
          <p:nvPr/>
        </p:nvSpPr>
        <p:spPr>
          <a:xfrm>
            <a:off x="6286500" y="4064000"/>
            <a:ext cx="5143500" cy="2286000"/>
          </a:xfrm>
          <a:prstGeom prst="roundRect">
            <a:avLst>
              <a:gd name="adj" fmla="val 555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26"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40500" y="4318000"/>
            <a:ext cx="406400" cy="406400"/>
          </a:xfrm>
          <a:prstGeom prst="rect">
            <a:avLst/>
          </a:prstGeom>
        </p:spPr>
      </p:pic>
      <p:sp>
        <p:nvSpPr>
          <p:cNvPr id="27" name="AutoShape 25"/>
          <p:cNvSpPr/>
          <p:nvPr/>
        </p:nvSpPr>
        <p:spPr>
          <a:xfrm>
            <a:off x="7048500" y="4318000"/>
            <a:ext cx="4064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Explanation of code logic</a:t>
            </a:r>
            <a:endParaRPr lang="en-US" sz="1100"/>
          </a:p>
        </p:txBody>
      </p:sp>
      <p:cxnSp>
        <p:nvCxnSpPr>
          <p:cNvPr id="28" name="Connector 26"/>
          <p:cNvCxnSpPr/>
          <p:nvPr/>
        </p:nvCxnSpPr>
        <p:spPr>
          <a:xfrm rot="-9418">
            <a:off x="6540509" y="4819650"/>
            <a:ext cx="46355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9" name="AutoShape 27"/>
          <p:cNvSpPr/>
          <p:nvPr/>
        </p:nvSpPr>
        <p:spPr>
          <a:xfrm>
            <a:off x="6540500" y="4953000"/>
            <a:ext cx="46355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For complex or unfamiliar code blocks, use natural language to explain their core functionality and execution logic, aiding developers in rapid comprehension.</a:t>
            </a:r>
            <a:endParaRPr lang="en-US" sz="110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4" name="AutoShape 4"/>
          <p:cNvSpPr/>
          <p:nvPr/>
        </p:nvSpPr>
        <p:spPr>
          <a:xfrm>
            <a:off x="1016037" y="1863813"/>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85149"/>
                </a:solidFill>
                <a:latin typeface="Noto Sans SC" panose="020B0200000000000000" charset="-122"/>
                <a:ea typeface="Noto Sans SC" panose="020B0200000000000000" charset="-122"/>
                <a:cs typeface="Noto Sans SC" panose="020B0200000000000000" charset="-122"/>
                <a:sym typeface="Noto Sans SC" panose="020B0200000000000000" charset="-122"/>
              </a:rPr>
              <a:t>CHAPTER 04</a:t>
            </a:r>
            <a:endParaRPr lang="en-US" sz="1100"/>
          </a:p>
        </p:txBody>
      </p:sp>
      <p:sp>
        <p:nvSpPr>
          <p:cNvPr id="5" name="AutoShape 5"/>
          <p:cNvSpPr/>
          <p:nvPr/>
        </p:nvSpPr>
        <p:spPr>
          <a:xfrm>
            <a:off x="1016000" y="2667000"/>
            <a:ext cx="11225185" cy="889000"/>
          </a:xfrm>
          <a:prstGeom prst="rect">
            <a:avLst/>
          </a:prstGeom>
          <a:noFill/>
          <a:ln w="12700" cap="flat" cmpd="sng">
            <a:noFill/>
            <a:prstDash val="solid"/>
            <a:round/>
          </a:ln>
        </p:spPr>
        <p:txBody>
          <a:bodyPr vert="horz" wrap="square" lIns="0" tIns="0" rIns="0" bIns="0" rtlCol="0" anchor="ctr" anchorCtr="0"/>
          <a:lstStyle/>
          <a:p>
            <a:pPr indent="0" algn="l">
              <a:lnSpc>
                <a:spcPct val="85000"/>
              </a:lnSpc>
              <a:defRPr/>
            </a:pPr>
            <a:r>
              <a:rPr lang="en-US" altLang="zh-CN" sz="4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From General to Specialized: Analysis of the KernelGen</a:t>
            </a:r>
          </a:p>
        </p:txBody>
      </p:sp>
      <p:cxnSp>
        <p:nvCxnSpPr>
          <p:cNvPr id="6" name="Connector 6"/>
          <p:cNvCxnSpPr/>
          <p:nvPr/>
        </p:nvCxnSpPr>
        <p:spPr>
          <a:xfrm rot="-34376">
            <a:off x="1016032" y="3676650"/>
            <a:ext cx="1270000" cy="12700"/>
          </a:xfrm>
          <a:prstGeom prst="straightConnector1">
            <a:avLst/>
          </a:prstGeom>
          <a:solidFill>
            <a:srgbClr val="DEE0E3">
              <a:alpha val="100000"/>
            </a:srgbClr>
          </a:solidFill>
          <a:ln w="38100" cap="flat" cmpd="sng">
            <a:solidFill>
              <a:srgbClr val="FFFFFF">
                <a:alpha val="100000"/>
              </a:srgbClr>
            </a:solidFill>
            <a:prstDash val="solid"/>
            <a:round/>
            <a:headEnd type="none" w="lg" len="lg"/>
            <a:tailEnd type="none" w="lg" len="lg"/>
          </a:ln>
        </p:spPr>
      </p:cxnSp>
      <p:sp>
        <p:nvSpPr>
          <p:cNvPr id="7" name="AutoShape 7"/>
          <p:cNvSpPr/>
          <p:nvPr/>
        </p:nvSpPr>
        <p:spPr>
          <a:xfrm>
            <a:off x="1016000" y="3937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0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AI-Driven GPU Kernel Generation</a:t>
            </a:r>
          </a:p>
        </p:txBody>
      </p:sp>
    </p:spTree>
  </p:cSld>
  <p:clrMapOvr>
    <a:overrideClrMapping bg1="lt1" tx1="dk1" bg2="lt2" tx2="dk2" accent1="accent1" accent2="accent2" accent3="accent3" accent4="accent4" accent5="accent5" accent6="accent6" hlink="hlink" folHlink="folHlink"/>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16</a:t>
            </a:fld>
            <a:endParaRPr lang="zh-CN" altLang="en-US" dirty="0"/>
          </a:p>
        </p:txBody>
      </p:sp>
      <p:sp>
        <p:nvSpPr>
          <p:cNvPr id="2" name="AutoShape 2"/>
          <p:cNvSpPr/>
          <p:nvPr/>
        </p:nvSpPr>
        <p:spPr>
          <a:xfrm>
            <a:off x="762000" y="5715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a:t>
            </a:r>
            <a:r>
              <a:rPr lang="en-US" altLang="zh-CN" sz="3600" b="1" i="0" u="none" strike="noStrike">
                <a:solidFill>
                  <a:srgbClr val="000000"/>
                </a:solidFill>
                <a:latin typeface="Noto Sans SC" panose="020B0200000000000000" charset="-122"/>
                <a:ea typeface="Noto Sans SC" panose="020B0200000000000000" charset="-122"/>
                <a:cs typeface="Arial" panose="020B0604020202020204" pitchFamily="34" charset="0"/>
                <a:sym typeface="Noto Sans SC" panose="020B0200000000000000" charset="-122"/>
              </a:rPr>
              <a:t>background</a:t>
            </a:r>
            <a:endParaRPr lang="en-US" sz="1100"/>
          </a:p>
        </p:txBody>
      </p:sp>
      <p:sp>
        <p:nvSpPr>
          <p:cNvPr id="9" name="AutoShape 7"/>
          <p:cNvSpPr/>
          <p:nvPr/>
        </p:nvSpPr>
        <p:spPr>
          <a:xfrm>
            <a:off x="523875" y="1968500"/>
            <a:ext cx="5334000" cy="1079500"/>
          </a:xfrm>
          <a:prstGeom prst="roundRect">
            <a:avLst>
              <a:gd name="adj" fmla="val 11764"/>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endParaRPr/>
          </a:p>
        </p:txBody>
      </p:sp>
      <p:pic>
        <p:nvPicPr>
          <p:cNvPr id="10"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4375" y="2159000"/>
            <a:ext cx="304800" cy="304800"/>
          </a:xfrm>
          <a:prstGeom prst="rect">
            <a:avLst/>
          </a:prstGeom>
        </p:spPr>
      </p:pic>
      <p:sp>
        <p:nvSpPr>
          <p:cNvPr id="11" name="AutoShape 9"/>
          <p:cNvSpPr/>
          <p:nvPr/>
        </p:nvSpPr>
        <p:spPr>
          <a:xfrm>
            <a:off x="1095375" y="21209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core objectives</a:t>
            </a:r>
            <a:endParaRPr lang="en-US" sz="1100"/>
          </a:p>
        </p:txBody>
      </p:sp>
      <p:sp>
        <p:nvSpPr>
          <p:cNvPr id="12" name="AutoShape 10"/>
          <p:cNvSpPr/>
          <p:nvPr/>
        </p:nvSpPr>
        <p:spPr>
          <a:xfrm>
            <a:off x="1095375" y="24765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Utilizing AI technology to automatically generate GPU kernel code, achieving ultimate performance optimization for target hardware and resolving the challenges of manual programming.</a:t>
            </a:r>
            <a:endParaRPr lang="en-US" sz="1000"/>
          </a:p>
        </p:txBody>
      </p:sp>
      <p:sp>
        <p:nvSpPr>
          <p:cNvPr id="13" name="AutoShape 11"/>
          <p:cNvSpPr/>
          <p:nvPr/>
        </p:nvSpPr>
        <p:spPr>
          <a:xfrm>
            <a:off x="523875" y="3175000"/>
            <a:ext cx="5334000" cy="1079500"/>
          </a:xfrm>
          <a:prstGeom prst="roundRect">
            <a:avLst>
              <a:gd name="adj" fmla="val 11764"/>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endParaRPr/>
          </a:p>
        </p:txBody>
      </p:sp>
      <p:pic>
        <p:nvPicPr>
          <p:cNvPr id="14"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4375" y="3365500"/>
            <a:ext cx="304800" cy="304800"/>
          </a:xfrm>
          <a:prstGeom prst="rect">
            <a:avLst/>
          </a:prstGeom>
        </p:spPr>
      </p:pic>
      <p:sp>
        <p:nvSpPr>
          <p:cNvPr id="15" name="AutoShape 13"/>
          <p:cNvSpPr/>
          <p:nvPr/>
        </p:nvSpPr>
        <p:spPr>
          <a:xfrm>
            <a:off x="1095375" y="33274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The industry faces challenges</a:t>
            </a:r>
            <a:endParaRPr lang="en-US" sz="1100"/>
          </a:p>
        </p:txBody>
      </p:sp>
      <p:sp>
        <p:nvSpPr>
          <p:cNvPr id="16" name="AutoShape 14"/>
          <p:cNvSpPr/>
          <p:nvPr/>
        </p:nvSpPr>
        <p:spPr>
          <a:xfrm>
            <a:off x="1095375" y="36830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a:solidFill>
                  <a:srgbClr val="4B5563"/>
                </a:solidFill>
                <a:latin typeface="Noto Sans SC" panose="020B0200000000000000" charset="-122"/>
                <a:ea typeface="Noto Sans SC" panose="020B0200000000000000" charset="-122"/>
                <a:cs typeface="Noto Sans SC" panose="020B0200000000000000" charset="-122"/>
              </a:rPr>
              <a:t>The GPU programming model is complex, with large differences between architectures, lacking general optimization strategies, and having extremely high thresholds for parallel computing scheduling and memory management.</a:t>
            </a:r>
            <a:endParaRPr lang="en-US"/>
          </a:p>
        </p:txBody>
      </p:sp>
      <p:sp>
        <p:nvSpPr>
          <p:cNvPr id="17" name="AutoShape 15"/>
          <p:cNvSpPr/>
          <p:nvPr/>
        </p:nvSpPr>
        <p:spPr>
          <a:xfrm>
            <a:off x="523875" y="4381500"/>
            <a:ext cx="5334000" cy="1079500"/>
          </a:xfrm>
          <a:prstGeom prst="roundRect">
            <a:avLst>
              <a:gd name="adj" fmla="val 11764"/>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endParaRPr/>
          </a:p>
        </p:txBody>
      </p:sp>
      <p:pic>
        <p:nvPicPr>
          <p:cNvPr id="18"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4375" y="4572000"/>
            <a:ext cx="304800" cy="304800"/>
          </a:xfrm>
          <a:prstGeom prst="rect">
            <a:avLst/>
          </a:prstGeom>
        </p:spPr>
      </p:pic>
      <p:sp>
        <p:nvSpPr>
          <p:cNvPr id="19" name="AutoShape 17"/>
          <p:cNvSpPr/>
          <p:nvPr/>
        </p:nvSpPr>
        <p:spPr>
          <a:xfrm>
            <a:off x="1095375" y="45339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value of the project</a:t>
            </a:r>
            <a:endParaRPr lang="en-US" sz="1100"/>
          </a:p>
        </p:txBody>
      </p:sp>
      <p:sp>
        <p:nvSpPr>
          <p:cNvPr id="20" name="AutoShape 18"/>
          <p:cNvSpPr/>
          <p:nvPr/>
        </p:nvSpPr>
        <p:spPr>
          <a:xfrm>
            <a:off x="1095375" y="48895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Significantly lowering the threshold for GPU application development, unleashing the potential of hardware computing power, and improving the execution efficiency of computing tasks as well as resource utilization.</a:t>
            </a:r>
            <a:endParaRPr lang="en-US" sz="1000"/>
          </a:p>
        </p:txBody>
      </p:sp>
      <p:pic>
        <p:nvPicPr>
          <p:cNvPr id="23" name="图片 22"/>
          <p:cNvPicPr/>
          <p:nvPr/>
        </p:nvPicPr>
        <p:blipFill>
          <a:blip r:embed="rId9">
            <a:clrChange>
              <a:clrFrom>
                <a:srgbClr val="FFFFFF">
                  <a:alpha val="100000"/>
                </a:srgbClr>
              </a:clrFrom>
              <a:clrTo>
                <a:srgbClr val="FFFFFF">
                  <a:alpha val="100000"/>
                  <a:alpha val="0"/>
                </a:srgbClr>
              </a:clrTo>
            </a:clrChange>
          </a:blip>
          <a:stretch>
            <a:fillRect/>
          </a:stretch>
        </p:blipFill>
        <p:spPr>
          <a:xfrm>
            <a:off x="6597650" y="1139825"/>
            <a:ext cx="4832350" cy="5149215"/>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b="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workflow</a:t>
            </a:r>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17</a:t>
            </a:fld>
            <a:endParaRPr lang="zh-CN" altLang="en-US" dirty="0"/>
          </a:p>
        </p:txBody>
      </p:sp>
      <p:sp>
        <p:nvSpPr>
          <p:cNvPr id="3" name="内容占位符 2"/>
          <p:cNvSpPr>
            <a:spLocks noGrp="1"/>
          </p:cNvSpPr>
          <p:nvPr>
            <p:ph sz="quarter" idx="13"/>
          </p:nvPr>
        </p:nvSpPr>
        <p:spPr>
          <a:xfrm>
            <a:off x="523875" y="1323975"/>
            <a:ext cx="6922135" cy="4853305"/>
          </a:xfrm>
        </p:spPr>
        <p:txBody>
          <a:bodyPr>
            <a:normAutofit fontScale="75000" lnSpcReduction="10000"/>
          </a:bodyPr>
          <a:lstStyle/>
          <a:p>
            <a:pPr>
              <a:lnSpc>
                <a:spcPct val="140000"/>
              </a:lnSpc>
            </a:pPr>
            <a:r>
              <a:rPr lang="en-US" altLang="zh-CN"/>
              <a:t>Collect kernel information</a:t>
            </a:r>
          </a:p>
          <a:p>
            <a:pPr lvl="1">
              <a:lnSpc>
                <a:spcPct val="140000"/>
              </a:lnSpc>
            </a:pPr>
            <a:r>
              <a:rPr lang="en-US" altLang="zh-CN"/>
              <a:t>The user inputs the operator definition semantics to KernelGen.</a:t>
            </a:r>
          </a:p>
          <a:p>
            <a:pPr>
              <a:lnSpc>
                <a:spcPct val="140000"/>
              </a:lnSpc>
            </a:pPr>
            <a:r>
              <a:rPr lang="en-US" altLang="zh-CN"/>
              <a:t>Search code snippets</a:t>
            </a:r>
          </a:p>
          <a:p>
            <a:pPr lvl="1">
              <a:lnSpc>
                <a:spcPct val="140000"/>
              </a:lnSpc>
            </a:pPr>
            <a:r>
              <a:rPr lang="en-US" altLang="zh-CN"/>
              <a:t>KernelGen searches for code snippets similar to user-defined ones as referencesKernelGen.</a:t>
            </a:r>
          </a:p>
          <a:p>
            <a:pPr>
              <a:lnSpc>
                <a:spcPct val="140000"/>
              </a:lnSpc>
            </a:pPr>
            <a:r>
              <a:rPr lang="en-US" altLang="zh-CN"/>
              <a:t>Generate kernel code and CUDA version benchmark implementation code</a:t>
            </a:r>
            <a:endParaRPr lang="zh-CN" altLang="en-US"/>
          </a:p>
          <a:p>
            <a:pPr lvl="1">
              <a:lnSpc>
                <a:spcPct val="140000"/>
              </a:lnSpc>
            </a:pPr>
            <a:r>
              <a:rPr lang="en-US" altLang="zh-CN"/>
              <a:t>KernelGen generates Kernel code and CUDA-based benchmark implementation code.</a:t>
            </a:r>
          </a:p>
          <a:p>
            <a:pPr>
              <a:lnSpc>
                <a:spcPct val="140000"/>
              </a:lnSpc>
            </a:pPr>
            <a:r>
              <a:rPr lang="en-US" altLang="zh-CN"/>
              <a:t>Based on the CUDA version of the benchmark implementation code, test the Kernel</a:t>
            </a:r>
          </a:p>
          <a:p>
            <a:pPr lvl="1">
              <a:lnSpc>
                <a:spcPct val="140000"/>
              </a:lnSpc>
            </a:pPr>
            <a:r>
              <a:rPr lang="en-US" altLang="zh-CN"/>
              <a:t>KernelGen benchmarks kernels based on PyTorch and outputs test results for correctness and speedup ratios.</a:t>
            </a:r>
            <a:endParaRPr lang="zh-CN" altLang="en-US"/>
          </a:p>
        </p:txBody>
      </p:sp>
      <p:pic>
        <p:nvPicPr>
          <p:cNvPr id="7" name="图片 6" descr="E:/BAAI/COURSE/template-replacement/images/KernelGen-workflow-en.pngKernelGen-workflow-en"/>
          <p:cNvPicPr/>
          <p:nvPr/>
        </p:nvPicPr>
        <p:blipFill>
          <a:blip r:embed="rId3"/>
          <a:srcRect t="1307" b="1307"/>
          <a:stretch>
            <a:fillRect/>
          </a:stretch>
        </p:blipFill>
        <p:spPr>
          <a:xfrm>
            <a:off x="8360410" y="1017270"/>
            <a:ext cx="2863215" cy="5339080"/>
          </a:xfrm>
          <a:prstGeom prst="rect">
            <a:avLst/>
          </a:prstGeom>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18</a:t>
            </a:fld>
            <a:endParaRPr lang="zh-CN" altLang="en-US" dirty="0"/>
          </a:p>
        </p:txBody>
      </p:sp>
      <p:sp>
        <p:nvSpPr>
          <p:cNvPr id="2" name="AutoShape 2"/>
          <p:cNvSpPr/>
          <p:nvPr/>
        </p:nvSpPr>
        <p:spPr>
          <a:xfrm>
            <a:off x="762000" y="4445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vs </a:t>
            </a:r>
            <a:r>
              <a:rPr lang="en-US" altLang="zh-CN"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General LLM</a:t>
            </a: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like </a:t>
            </a: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ChatGPT)</a:t>
            </a:r>
            <a:endParaRPr lang="en-US" sz="1100"/>
          </a:p>
        </p:txBody>
      </p:sp>
      <p:sp>
        <p:nvSpPr>
          <p:cNvPr id="3" name="AutoShape 3"/>
          <p:cNvSpPr/>
          <p:nvPr/>
        </p:nvSpPr>
        <p:spPr>
          <a:xfrm>
            <a:off x="2714098" y="1397000"/>
            <a:ext cx="4397902" cy="508000"/>
          </a:xfrm>
          <a:prstGeom prst="roundRect">
            <a:avLst>
              <a:gd name="adj" fmla="val 25000"/>
            </a:avLst>
          </a:prstGeom>
          <a:solidFill>
            <a:srgbClr val="DC2626">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altLang="zh-CN"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(Specialized Optimization)</a:t>
            </a:r>
            <a:endParaRPr lang="en-US" sz="1100"/>
          </a:p>
        </p:txBody>
      </p:sp>
      <p:sp>
        <p:nvSpPr>
          <p:cNvPr id="6" name="AutoShape 4"/>
          <p:cNvSpPr/>
          <p:nvPr/>
        </p:nvSpPr>
        <p:spPr>
          <a:xfrm>
            <a:off x="7366000" y="1397000"/>
            <a:ext cx="3937000" cy="508000"/>
          </a:xfrm>
          <a:prstGeom prst="roundRect">
            <a:avLst>
              <a:gd name="adj" fmla="val 25000"/>
            </a:avLst>
          </a:prstGeom>
          <a:solidFill>
            <a:srgbClr val="6B7280">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altLang="zh-CN"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General LLM (like ChatGPT)</a:t>
            </a:r>
            <a:endParaRPr lang="en-US" sz="1100"/>
          </a:p>
        </p:txBody>
      </p:sp>
      <p:sp>
        <p:nvSpPr>
          <p:cNvPr id="7" name="AutoShape 5"/>
          <p:cNvSpPr/>
          <p:nvPr/>
        </p:nvSpPr>
        <p:spPr>
          <a:xfrm>
            <a:off x="762000" y="2032000"/>
            <a:ext cx="10668000" cy="762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222500"/>
            <a:ext cx="304800" cy="304800"/>
          </a:xfrm>
          <a:prstGeom prst="rect">
            <a:avLst/>
          </a:prstGeom>
        </p:spPr>
      </p:pic>
      <p:sp>
        <p:nvSpPr>
          <p:cNvPr id="9" name="AutoShape 7"/>
          <p:cNvSpPr/>
          <p:nvPr/>
        </p:nvSpPr>
        <p:spPr>
          <a:xfrm>
            <a:off x="1333500" y="2184400"/>
            <a:ext cx="165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objectives</a:t>
            </a:r>
            <a:endParaRPr lang="en-US" sz="1100"/>
          </a:p>
        </p:txBody>
      </p:sp>
      <p:sp>
        <p:nvSpPr>
          <p:cNvPr id="10" name="AutoShape 8"/>
          <p:cNvSpPr/>
          <p:nvPr/>
        </p:nvSpPr>
        <p:spPr>
          <a:xfrm>
            <a:off x="3175000" y="2159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Generate dedicated, high-performance GPU kernel code</a:t>
            </a:r>
            <a:endParaRPr lang="en-US" sz="1100"/>
          </a:p>
        </p:txBody>
      </p:sp>
      <p:sp>
        <p:nvSpPr>
          <p:cNvPr id="11" name="AutoShape 9"/>
          <p:cNvSpPr/>
          <p:nvPr/>
        </p:nvSpPr>
        <p:spPr>
          <a:xfrm>
            <a:off x="7366000" y="2159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Provide general programming assistance to enhance coding efficiency</a:t>
            </a:r>
            <a:endParaRPr lang="en-US" sz="1100"/>
          </a:p>
        </p:txBody>
      </p:sp>
      <p:pic>
        <p:nvPicPr>
          <p:cNvPr id="12"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2984500"/>
            <a:ext cx="304800" cy="304800"/>
          </a:xfrm>
          <a:prstGeom prst="rect">
            <a:avLst/>
          </a:prstGeom>
        </p:spPr>
      </p:pic>
      <p:sp>
        <p:nvSpPr>
          <p:cNvPr id="13" name="AutoShape 11"/>
          <p:cNvSpPr/>
          <p:nvPr/>
        </p:nvSpPr>
        <p:spPr>
          <a:xfrm>
            <a:off x="1333500" y="2946400"/>
            <a:ext cx="165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Optimization objective</a:t>
            </a:r>
            <a:endParaRPr lang="en-US" sz="1100"/>
          </a:p>
        </p:txBody>
      </p:sp>
      <p:sp>
        <p:nvSpPr>
          <p:cNvPr id="14" name="AutoShape 12"/>
          <p:cNvSpPr/>
          <p:nvPr/>
        </p:nvSpPr>
        <p:spPr>
          <a:xfrm>
            <a:off x="3175000" y="2921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Ultimate execution efficiency and hardware resource utilization</a:t>
            </a:r>
            <a:endParaRPr lang="en-US" sz="1100"/>
          </a:p>
        </p:txBody>
      </p:sp>
      <p:sp>
        <p:nvSpPr>
          <p:cNvPr id="15" name="AutoShape 13"/>
          <p:cNvSpPr/>
          <p:nvPr/>
        </p:nvSpPr>
        <p:spPr>
          <a:xfrm>
            <a:off x="7366000" y="2921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Code correctness, readability, and development efficiency</a:t>
            </a:r>
            <a:endParaRPr lang="en-US" sz="1100"/>
          </a:p>
        </p:txBody>
      </p:sp>
      <p:sp>
        <p:nvSpPr>
          <p:cNvPr id="16" name="AutoShape 14"/>
          <p:cNvSpPr/>
          <p:nvPr/>
        </p:nvSpPr>
        <p:spPr>
          <a:xfrm>
            <a:off x="762000" y="3556000"/>
            <a:ext cx="10668000" cy="762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3746500"/>
            <a:ext cx="304800" cy="304800"/>
          </a:xfrm>
          <a:prstGeom prst="rect">
            <a:avLst/>
          </a:prstGeom>
        </p:spPr>
      </p:pic>
      <p:sp>
        <p:nvSpPr>
          <p:cNvPr id="18" name="AutoShape 16"/>
          <p:cNvSpPr/>
          <p:nvPr/>
        </p:nvSpPr>
        <p:spPr>
          <a:xfrm>
            <a:off x="1333500" y="3708400"/>
            <a:ext cx="165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a:solidFill>
                  <a:srgbClr val="1F2937"/>
                </a:solidFill>
              </a:rPr>
              <a:t>Input</a:t>
            </a:r>
            <a:endParaRPr lang="en-US" sz="1100"/>
          </a:p>
        </p:txBody>
      </p:sp>
      <p:sp>
        <p:nvSpPr>
          <p:cNvPr id="19" name="AutoShape 17"/>
          <p:cNvSpPr/>
          <p:nvPr/>
        </p:nvSpPr>
        <p:spPr>
          <a:xfrm>
            <a:off x="3175000" y="3683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Domain-Specific Language (DSL) or Task Description</a:t>
            </a:r>
            <a:endParaRPr lang="en-US" sz="1100"/>
          </a:p>
        </p:txBody>
      </p:sp>
      <p:sp>
        <p:nvSpPr>
          <p:cNvPr id="20" name="AutoShape 18"/>
          <p:cNvSpPr/>
          <p:nvPr/>
        </p:nvSpPr>
        <p:spPr>
          <a:xfrm>
            <a:off x="7366000" y="3683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Natural language annotations or code snippets</a:t>
            </a:r>
            <a:endParaRPr lang="en-US" sz="1100"/>
          </a:p>
        </p:txBody>
      </p:sp>
      <p:pic>
        <p:nvPicPr>
          <p:cNvPr id="21"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52500" y="4508500"/>
            <a:ext cx="304800" cy="304800"/>
          </a:xfrm>
          <a:prstGeom prst="rect">
            <a:avLst/>
          </a:prstGeom>
        </p:spPr>
      </p:pic>
      <p:sp>
        <p:nvSpPr>
          <p:cNvPr id="22" name="AutoShape 20"/>
          <p:cNvSpPr/>
          <p:nvPr/>
        </p:nvSpPr>
        <p:spPr>
          <a:xfrm>
            <a:off x="1333500" y="4470400"/>
            <a:ext cx="165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K</a:t>
            </a:r>
            <a:r>
              <a:rPr lang="en-US" altLang="zh-CN"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nowledge dependence</a:t>
            </a:r>
            <a:endParaRPr lang="en-US" sz="1100"/>
          </a:p>
        </p:txBody>
      </p:sp>
      <p:sp>
        <p:nvSpPr>
          <p:cNvPr id="23" name="AutoShape 21"/>
          <p:cNvSpPr/>
          <p:nvPr/>
        </p:nvSpPr>
        <p:spPr>
          <a:xfrm>
            <a:off x="3175000" y="4445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Deep integration of hardware architecture broussonetia papyrifera knowledge and parallel computing theory</a:t>
            </a:r>
            <a:endParaRPr lang="en-US" sz="1100"/>
          </a:p>
        </p:txBody>
      </p:sp>
      <p:sp>
        <p:nvSpPr>
          <p:cNvPr id="24" name="AutoShape 22"/>
          <p:cNvSpPr/>
          <p:nvPr/>
        </p:nvSpPr>
        <p:spPr>
          <a:xfrm>
            <a:off x="7366000" y="4445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General knowledge of code syntax and semantics</a:t>
            </a:r>
            <a:endParaRPr lang="en-US" sz="1100"/>
          </a:p>
        </p:txBody>
      </p:sp>
      <p:sp>
        <p:nvSpPr>
          <p:cNvPr id="25" name="AutoShape 23"/>
          <p:cNvSpPr/>
          <p:nvPr/>
        </p:nvSpPr>
        <p:spPr>
          <a:xfrm>
            <a:off x="762000" y="5080000"/>
            <a:ext cx="10668000" cy="762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52500" y="5270500"/>
            <a:ext cx="304800" cy="304800"/>
          </a:xfrm>
          <a:prstGeom prst="rect">
            <a:avLst/>
          </a:prstGeom>
        </p:spPr>
      </p:pic>
      <p:sp>
        <p:nvSpPr>
          <p:cNvPr id="27" name="AutoShape 25"/>
          <p:cNvSpPr/>
          <p:nvPr/>
        </p:nvSpPr>
        <p:spPr>
          <a:xfrm>
            <a:off x="1333500" y="5232400"/>
            <a:ext cx="165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a:solidFill>
                  <a:srgbClr val="1F2937"/>
                </a:solidFill>
              </a:rPr>
              <a:t>Output</a:t>
            </a:r>
            <a:endParaRPr lang="en-US" sz="1100"/>
          </a:p>
        </p:txBody>
      </p:sp>
      <p:sp>
        <p:nvSpPr>
          <p:cNvPr id="28" name="AutoShape 26"/>
          <p:cNvSpPr/>
          <p:nvPr/>
        </p:nvSpPr>
        <p:spPr>
          <a:xfrm>
            <a:off x="3175000" y="5207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 code optimized for specific GPUs, highly specialized</a:t>
            </a:r>
            <a:endParaRPr lang="en-US" sz="1100"/>
          </a:p>
        </p:txBody>
      </p:sp>
      <p:sp>
        <p:nvSpPr>
          <p:cNvPr id="29" name="AutoShape 27"/>
          <p:cNvSpPr/>
          <p:nvPr/>
        </p:nvSpPr>
        <p:spPr>
          <a:xfrm>
            <a:off x="7366000" y="5207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Universal, code snippets applicable to multiple scenarios</a:t>
            </a:r>
            <a:endParaRPr lang="en-US" sz="110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19</a:t>
            </a:fld>
            <a:endParaRPr lang="zh-CN" altLang="en-US" dirty="0"/>
          </a:p>
        </p:txBody>
      </p:sp>
      <p:sp>
        <p:nvSpPr>
          <p:cNvPr id="2" name="AutoShape 2"/>
          <p:cNvSpPr/>
          <p:nvPr/>
        </p:nvSpPr>
        <p:spPr>
          <a:xfrm>
            <a:off x="762000" y="3937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Application Prospects of the KernelGen Project</a:t>
            </a:r>
            <a:endParaRPr lang="en-US" sz="1100"/>
          </a:p>
        </p:txBody>
      </p:sp>
      <p:sp>
        <p:nvSpPr>
          <p:cNvPr id="3" name="AutoShape 3"/>
          <p:cNvSpPr/>
          <p:nvPr/>
        </p:nvSpPr>
        <p:spPr>
          <a:xfrm>
            <a:off x="762000" y="1219200"/>
            <a:ext cx="1016000" cy="50800"/>
          </a:xfrm>
          <a:prstGeom prst="roundRect">
            <a:avLst>
              <a:gd name="adj" fmla="val 0"/>
            </a:avLst>
          </a:prstGeom>
          <a:solidFill>
            <a:srgbClr val="DC262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4"/>
          <p:cNvSpPr/>
          <p:nvPr/>
        </p:nvSpPr>
        <p:spPr>
          <a:xfrm>
            <a:off x="762000" y="1651000"/>
            <a:ext cx="5207000" cy="2286000"/>
          </a:xfrm>
          <a:prstGeom prst="roundRect">
            <a:avLst>
              <a:gd name="adj" fmla="val 5555"/>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endParaRPr/>
          </a:p>
        </p:txBody>
      </p:sp>
      <p:pic>
        <p:nvPicPr>
          <p:cNvPr id="7" name="Picture 5"/>
          <p:cNvPicPr>
            <a:picLocks noChangeAspect="1"/>
          </p:cNvPicPr>
          <p:nvPr/>
        </p:nvPicPr>
        <p:blipFill>
          <a:blip r:embed="rId3"/>
          <a:srcRect l="3999" r="4000"/>
          <a:stretch>
            <a:fillRect/>
          </a:stretch>
        </p:blipFill>
        <p:spPr>
          <a:xfrm>
            <a:off x="1016000" y="1905000"/>
            <a:ext cx="812800" cy="812800"/>
          </a:xfrm>
          <a:prstGeom prst="rect">
            <a:avLst/>
          </a:prstGeom>
          <a:noFill/>
          <a:ln w="25400" cap="flat" cmpd="sng">
            <a:noFill/>
            <a:prstDash val="solid"/>
            <a:round/>
          </a:ln>
        </p:spPr>
      </p:pic>
      <p:sp>
        <p:nvSpPr>
          <p:cNvPr id="8" name="AutoShape 6"/>
          <p:cNvSpPr/>
          <p:nvPr/>
        </p:nvSpPr>
        <p:spPr>
          <a:xfrm>
            <a:off x="2032000" y="1905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Simplifying GPU Development</a:t>
            </a:r>
            <a:endParaRPr lang="en-US" sz="1100"/>
          </a:p>
        </p:txBody>
      </p:sp>
      <p:sp>
        <p:nvSpPr>
          <p:cNvPr id="9" name="AutoShape 7"/>
          <p:cNvSpPr/>
          <p:nvPr/>
        </p:nvSpPr>
        <p:spPr>
          <a:xfrm>
            <a:off x="2032000" y="2286000"/>
            <a:ext cx="3683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100"/>
              <a:t>Significantly reduce the technical barriers to developing and optimizing GPU applications, enabling scientists and engineers across more fields to easily leverage the powerful computing capabilities of GPUs for research and development.</a:t>
            </a:r>
          </a:p>
        </p:txBody>
      </p:sp>
      <p:sp>
        <p:nvSpPr>
          <p:cNvPr id="10" name="AutoShape 8"/>
          <p:cNvSpPr/>
          <p:nvPr/>
        </p:nvSpPr>
        <p:spPr>
          <a:xfrm>
            <a:off x="6223000" y="1651000"/>
            <a:ext cx="5207000" cy="2286000"/>
          </a:xfrm>
          <a:prstGeom prst="roundRect">
            <a:avLst>
              <a:gd name="adj" fmla="val 5555"/>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endParaRPr/>
          </a:p>
        </p:txBody>
      </p:sp>
      <p:pic>
        <p:nvPicPr>
          <p:cNvPr id="11" name="Picture 9"/>
          <p:cNvPicPr>
            <a:picLocks noChangeAspect="1"/>
          </p:cNvPicPr>
          <p:nvPr/>
        </p:nvPicPr>
        <p:blipFill>
          <a:blip r:embed="rId4"/>
          <a:srcRect/>
          <a:stretch>
            <a:fillRect/>
          </a:stretch>
        </p:blipFill>
        <p:spPr>
          <a:xfrm>
            <a:off x="6477000" y="1905000"/>
            <a:ext cx="812800" cy="812800"/>
          </a:xfrm>
          <a:prstGeom prst="rect">
            <a:avLst/>
          </a:prstGeom>
          <a:noFill/>
          <a:ln w="25400" cap="flat" cmpd="sng">
            <a:noFill/>
            <a:prstDash val="solid"/>
            <a:round/>
          </a:ln>
        </p:spPr>
      </p:pic>
      <p:sp>
        <p:nvSpPr>
          <p:cNvPr id="12" name="AutoShape 10"/>
          <p:cNvSpPr/>
          <p:nvPr/>
        </p:nvSpPr>
        <p:spPr>
          <a:xfrm>
            <a:off x="7493000" y="1905000"/>
            <a:ext cx="4355917"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Empowering Scientific Computing</a:t>
            </a:r>
            <a:endParaRPr lang="en-US" sz="1100"/>
          </a:p>
        </p:txBody>
      </p:sp>
      <p:sp>
        <p:nvSpPr>
          <p:cNvPr id="13" name="AutoShape 11"/>
          <p:cNvSpPr/>
          <p:nvPr/>
        </p:nvSpPr>
        <p:spPr>
          <a:xfrm>
            <a:off x="7493000" y="2286000"/>
            <a:ext cx="3683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100"/>
              <a:t>In the fields of large-scale parallel computing such as AI model training and fluid dynamics simulation, it significantly accelerates the computational process, shortens research cycles, and enhances scientific research efficiency.</a:t>
            </a:r>
          </a:p>
        </p:txBody>
      </p:sp>
      <p:sp>
        <p:nvSpPr>
          <p:cNvPr id="14" name="AutoShape 12"/>
          <p:cNvSpPr/>
          <p:nvPr/>
        </p:nvSpPr>
        <p:spPr>
          <a:xfrm>
            <a:off x="762000" y="4191000"/>
            <a:ext cx="5207000" cy="2286000"/>
          </a:xfrm>
          <a:prstGeom prst="roundRect">
            <a:avLst>
              <a:gd name="adj" fmla="val 5555"/>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endParaRPr/>
          </a:p>
        </p:txBody>
      </p:sp>
      <p:pic>
        <p:nvPicPr>
          <p:cNvPr id="15" name="Picture 13"/>
          <p:cNvPicPr>
            <a:picLocks noChangeAspect="1"/>
          </p:cNvPicPr>
          <p:nvPr/>
        </p:nvPicPr>
        <p:blipFill>
          <a:blip r:embed="rId5"/>
          <a:srcRect/>
          <a:stretch>
            <a:fillRect/>
          </a:stretch>
        </p:blipFill>
        <p:spPr>
          <a:xfrm>
            <a:off x="1016000" y="4445000"/>
            <a:ext cx="812800" cy="812800"/>
          </a:xfrm>
          <a:prstGeom prst="rect">
            <a:avLst/>
          </a:prstGeom>
          <a:noFill/>
          <a:ln w="25400" cap="flat" cmpd="sng">
            <a:noFill/>
            <a:prstDash val="solid"/>
            <a:round/>
          </a:ln>
        </p:spPr>
      </p:pic>
      <p:sp>
        <p:nvSpPr>
          <p:cNvPr id="16" name="AutoShape 14"/>
          <p:cNvSpPr/>
          <p:nvPr/>
        </p:nvSpPr>
        <p:spPr>
          <a:xfrm>
            <a:off x="2032000" y="4445000"/>
            <a:ext cx="4355917"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Hardware Adaptation Automation</a:t>
            </a:r>
            <a:endParaRPr lang="en-US" sz="1100"/>
          </a:p>
        </p:txBody>
      </p:sp>
      <p:sp>
        <p:nvSpPr>
          <p:cNvPr id="17" name="AutoShape 15"/>
          <p:cNvSpPr/>
          <p:nvPr/>
        </p:nvSpPr>
        <p:spPr>
          <a:xfrm>
            <a:off x="2032000" y="4826000"/>
            <a:ext cx="3683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100"/>
              <a:t>Targeting the new GPU architecture broussonetia papyrifera to rapidly generate optimized code, significantly shortening the software ecosystem adaptation cycle for new hardware and accelerating the industrial adoption of cutting-edge technologies.</a:t>
            </a:r>
          </a:p>
        </p:txBody>
      </p:sp>
      <p:sp>
        <p:nvSpPr>
          <p:cNvPr id="18" name="AutoShape 16"/>
          <p:cNvSpPr/>
          <p:nvPr/>
        </p:nvSpPr>
        <p:spPr>
          <a:xfrm>
            <a:off x="6223000" y="4191000"/>
            <a:ext cx="5207000" cy="2286000"/>
          </a:xfrm>
          <a:prstGeom prst="roundRect">
            <a:avLst>
              <a:gd name="adj" fmla="val 5555"/>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endParaRPr/>
          </a:p>
        </p:txBody>
      </p:sp>
      <p:pic>
        <p:nvPicPr>
          <p:cNvPr id="19"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4445000"/>
            <a:ext cx="812800" cy="812800"/>
          </a:xfrm>
          <a:prstGeom prst="rect">
            <a:avLst/>
          </a:prstGeom>
        </p:spPr>
      </p:pic>
      <p:sp>
        <p:nvSpPr>
          <p:cNvPr id="20" name="AutoShape 18"/>
          <p:cNvSpPr/>
          <p:nvPr/>
        </p:nvSpPr>
        <p:spPr>
          <a:xfrm>
            <a:off x="7493000" y="4445000"/>
            <a:ext cx="3627692"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Promote hardware-software co-design</a:t>
            </a:r>
            <a:endParaRPr lang="en-US" sz="1100"/>
          </a:p>
        </p:txBody>
      </p:sp>
      <p:sp>
        <p:nvSpPr>
          <p:cNvPr id="21" name="AutoShape 19"/>
          <p:cNvSpPr/>
          <p:nvPr/>
        </p:nvSpPr>
        <p:spPr>
          <a:xfrm>
            <a:off x="7493000" y="4826000"/>
            <a:ext cx="3683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100"/>
              <a:t>AI-driven code generation technology will reciprocally benefit hardware architecture broussonetia papyrifera design, making hardware designs more amenable to AI optimization and fostering a virtuous cycle of software-hardware co-evolution.</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20</a:t>
            </a:fld>
            <a:endParaRPr lang="zh-CN" altLang="en-US" dirty="0"/>
          </a:p>
        </p:txBody>
      </p:sp>
      <p:sp>
        <p:nvSpPr>
          <p:cNvPr id="2" name="AutoShape 2"/>
          <p:cNvSpPr/>
          <p:nvPr/>
        </p:nvSpPr>
        <p:spPr>
          <a:xfrm>
            <a:off x="762000" y="441325"/>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Summary and Outlook</a:t>
            </a:r>
            <a:endParaRPr lang="en-US" sz="1100"/>
          </a:p>
        </p:txBody>
      </p:sp>
      <p:sp>
        <p:nvSpPr>
          <p:cNvPr id="3" name="AutoShape 3"/>
          <p:cNvSpPr/>
          <p:nvPr/>
        </p:nvSpPr>
        <p:spPr>
          <a:xfrm>
            <a:off x="762000" y="1397000"/>
            <a:ext cx="5143500" cy="4953000"/>
          </a:xfrm>
          <a:prstGeom prst="roundRect">
            <a:avLst>
              <a:gd name="adj" fmla="val 2564"/>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endParaRPr/>
          </a:p>
        </p:txBody>
      </p:sp>
      <p:pic>
        <p:nvPicPr>
          <p:cNvPr id="6"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651000"/>
            <a:ext cx="355600" cy="355600"/>
          </a:xfrm>
          <a:prstGeom prst="rect">
            <a:avLst/>
          </a:prstGeom>
        </p:spPr>
      </p:pic>
      <p:sp>
        <p:nvSpPr>
          <p:cNvPr id="7" name="AutoShape 5"/>
          <p:cNvSpPr/>
          <p:nvPr/>
        </p:nvSpPr>
        <p:spPr>
          <a:xfrm>
            <a:off x="1460500" y="16256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85000"/>
              </a:lnSpc>
              <a:defRPr/>
            </a:pPr>
            <a:r>
              <a:rPr lang="en-US" altLang="zh-CN" sz="20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Review: Current Status and Transformation</a:t>
            </a:r>
            <a:endParaRPr lang="en-US" sz="1100"/>
          </a:p>
        </p:txBody>
      </p:sp>
      <p:cxnSp>
        <p:nvCxnSpPr>
          <p:cNvPr id="8" name="Connector 6"/>
          <p:cNvCxnSpPr/>
          <p:nvPr/>
        </p:nvCxnSpPr>
        <p:spPr>
          <a:xfrm rot="-9418">
            <a:off x="1016009" y="2089150"/>
            <a:ext cx="4635500" cy="12700"/>
          </a:xfrm>
          <a:prstGeom prst="straightConnector1">
            <a:avLst/>
          </a:prstGeom>
          <a:solidFill>
            <a:srgbClr val="DEE0E3">
              <a:alpha val="100000"/>
            </a:srgbClr>
          </a:solidFill>
          <a:ln w="12700" cap="flat" cmpd="sng">
            <a:solidFill>
              <a:srgbClr val="FCA5A5">
                <a:alpha val="100000"/>
              </a:srgbClr>
            </a:solidFill>
            <a:prstDash val="solid"/>
            <a:round/>
            <a:headEnd type="none" w="med" len="med"/>
            <a:tailEnd type="none" w="med" len="med"/>
          </a:ln>
        </p:spPr>
      </p:cxnSp>
      <p:pic>
        <p:nvPicPr>
          <p:cNvPr id="9"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12" y="2495156"/>
            <a:ext cx="304800" cy="304800"/>
          </a:xfrm>
          <a:prstGeom prst="rect">
            <a:avLst/>
          </a:prstGeom>
        </p:spPr>
      </p:pic>
      <p:sp>
        <p:nvSpPr>
          <p:cNvPr id="10" name="AutoShape 8"/>
          <p:cNvSpPr/>
          <p:nvPr/>
        </p:nvSpPr>
        <p:spPr>
          <a:xfrm>
            <a:off x="1397000" y="2324100"/>
            <a:ext cx="4254500" cy="65752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Efficiency revolution: AI-assisted programming is irreversible</a:t>
            </a:r>
            <a:endParaRPr lang="en-US" sz="1400"/>
          </a:p>
        </p:txBody>
      </p:sp>
      <p:pic>
        <p:nvPicPr>
          <p:cNvPr id="12"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302000"/>
            <a:ext cx="304800" cy="304800"/>
          </a:xfrm>
          <a:prstGeom prst="rect">
            <a:avLst/>
          </a:prstGeom>
        </p:spPr>
      </p:pic>
      <p:sp>
        <p:nvSpPr>
          <p:cNvPr id="13" name="AutoShape 11"/>
          <p:cNvSpPr/>
          <p:nvPr/>
        </p:nvSpPr>
        <p:spPr>
          <a:xfrm>
            <a:off x="1397000" y="3276600"/>
            <a:ext cx="42545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General-purpose and specialized applications go hand in hand: a dual-track parallel approach</a:t>
            </a:r>
            <a:endParaRPr lang="en-US" sz="1400"/>
          </a:p>
        </p:txBody>
      </p:sp>
      <p:pic>
        <p:nvPicPr>
          <p:cNvPr id="15"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4254500"/>
            <a:ext cx="304800" cy="304800"/>
          </a:xfrm>
          <a:prstGeom prst="rect">
            <a:avLst/>
          </a:prstGeom>
        </p:spPr>
      </p:pic>
      <p:sp>
        <p:nvSpPr>
          <p:cNvPr id="16" name="AutoShape 14"/>
          <p:cNvSpPr/>
          <p:nvPr/>
        </p:nvSpPr>
        <p:spPr>
          <a:xfrm>
            <a:off x="1397000" y="4229100"/>
            <a:ext cx="42545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Homo sapiens-machine collaboration new paradigm: role transformation</a:t>
            </a:r>
            <a:endParaRPr lang="en-US" sz="1400"/>
          </a:p>
        </p:txBody>
      </p:sp>
      <p:sp>
        <p:nvSpPr>
          <p:cNvPr id="18" name="AutoShape 16"/>
          <p:cNvSpPr/>
          <p:nvPr/>
        </p:nvSpPr>
        <p:spPr>
          <a:xfrm>
            <a:off x="6286500" y="1397000"/>
            <a:ext cx="5143500" cy="4953000"/>
          </a:xfrm>
          <a:prstGeom prst="roundRect">
            <a:avLst>
              <a:gd name="adj" fmla="val 2564"/>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19" name="Picture 1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40500" y="1651000"/>
            <a:ext cx="355600" cy="355600"/>
          </a:xfrm>
          <a:prstGeom prst="rect">
            <a:avLst/>
          </a:prstGeom>
        </p:spPr>
      </p:pic>
      <p:sp>
        <p:nvSpPr>
          <p:cNvPr id="20" name="AutoShape 18"/>
          <p:cNvSpPr/>
          <p:nvPr/>
        </p:nvSpPr>
        <p:spPr>
          <a:xfrm>
            <a:off x="6985000" y="16256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85000"/>
              </a:lnSpc>
              <a:defRPr/>
            </a:pPr>
            <a:r>
              <a:rPr lang="en-US" altLang="zh-CN" sz="20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Future Outlook: Trends and Possibilities</a:t>
            </a:r>
            <a:endParaRPr lang="en-US" sz="1100"/>
          </a:p>
        </p:txBody>
      </p:sp>
      <p:cxnSp>
        <p:nvCxnSpPr>
          <p:cNvPr id="21" name="Connector 19"/>
          <p:cNvCxnSpPr/>
          <p:nvPr/>
        </p:nvCxnSpPr>
        <p:spPr>
          <a:xfrm rot="-9418">
            <a:off x="6540509" y="2089150"/>
            <a:ext cx="46355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pic>
        <p:nvPicPr>
          <p:cNvPr id="22" name="Picture 20"/>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40500" y="2349500"/>
            <a:ext cx="304800" cy="304800"/>
          </a:xfrm>
          <a:prstGeom prst="rect">
            <a:avLst/>
          </a:prstGeom>
        </p:spPr>
      </p:pic>
      <p:sp>
        <p:nvSpPr>
          <p:cNvPr id="23" name="AutoShape 21"/>
          <p:cNvSpPr/>
          <p:nvPr/>
        </p:nvSpPr>
        <p:spPr>
          <a:xfrm>
            <a:off x="6921500" y="2324100"/>
            <a:ext cx="4641658"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Smarter collaboration: in-depth interaction</a:t>
            </a:r>
            <a:endParaRPr lang="en-US" sz="1100"/>
          </a:p>
        </p:txBody>
      </p:sp>
      <p:pic>
        <p:nvPicPr>
          <p:cNvPr id="25" name="Picture 23"/>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540500" y="3302000"/>
            <a:ext cx="304800" cy="304800"/>
          </a:xfrm>
          <a:prstGeom prst="rect">
            <a:avLst/>
          </a:prstGeom>
        </p:spPr>
      </p:pic>
      <p:sp>
        <p:nvSpPr>
          <p:cNvPr id="26" name="AutoShape 24"/>
          <p:cNvSpPr/>
          <p:nvPr/>
        </p:nvSpPr>
        <p:spPr>
          <a:xfrm>
            <a:off x="6921500" y="3276600"/>
            <a:ext cx="42545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Vertical domain deepening: industry customization</a:t>
            </a:r>
            <a:endParaRPr lang="en-US" sz="1100"/>
          </a:p>
        </p:txBody>
      </p:sp>
      <p:pic>
        <p:nvPicPr>
          <p:cNvPr id="28" name="Picture 26"/>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540500" y="4254500"/>
            <a:ext cx="304800" cy="304800"/>
          </a:xfrm>
          <a:prstGeom prst="rect">
            <a:avLst/>
          </a:prstGeom>
        </p:spPr>
      </p:pic>
      <p:sp>
        <p:nvSpPr>
          <p:cNvPr id="29" name="AutoShape 27"/>
          <p:cNvSpPr/>
          <p:nvPr/>
        </p:nvSpPr>
        <p:spPr>
          <a:xfrm>
            <a:off x="6921500" y="4229100"/>
            <a:ext cx="42545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Independent programming exploration: high-level automation</a:t>
            </a:r>
            <a:endParaRPr lang="en-US" sz="110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The Solution:</a:t>
            </a:r>
            <a:r>
              <a:rPr lang="x-none" altLang="zh-CN">
                <a:sym typeface="+mn-ea"/>
              </a:rPr>
              <a:t> </a:t>
            </a:r>
            <a:r>
              <a:rPr>
                <a:sym typeface="+mn-ea"/>
              </a:rPr>
              <a:t>FlagOS,</a:t>
            </a:r>
            <a:r>
              <a:rPr lang="x-none" altLang="zh-CN">
                <a:sym typeface="+mn-ea"/>
              </a:rPr>
              <a:t> </a:t>
            </a:r>
            <a:r>
              <a:rPr>
                <a:sym typeface="+mn-ea"/>
              </a:rPr>
              <a:t>a Unified AI Software Stack</a:t>
            </a:r>
            <a:endParaRPr lang="zh-CN" altLang="en-US"/>
          </a:p>
        </p:txBody>
      </p:sp>
      <p:pic>
        <p:nvPicPr>
          <p:cNvPr id="7" name="内容占位符 6" descr="flagos-architecture-e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2170" y="1318260"/>
            <a:ext cx="9408795" cy="4853305"/>
          </a:xfrm>
          <a:prstGeom prst="rect">
            <a:avLst/>
          </a:prstGeom>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사각형: 둥근 모서리 832"/>
          <p:cNvSpPr/>
          <p:nvPr>
            <p:custDataLst>
              <p:tags r:id="rId1"/>
            </p:custDataLst>
          </p:nvPr>
        </p:nvSpPr>
        <p:spPr>
          <a:xfrm>
            <a:off x="89535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사각형: 둥근 모서리 832"/>
          <p:cNvSpPr/>
          <p:nvPr>
            <p:custDataLst>
              <p:tags r:id="rId2"/>
            </p:custDataLst>
          </p:nvPr>
        </p:nvSpPr>
        <p:spPr>
          <a:xfrm>
            <a:off x="440023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사각형: 둥근 모서리 832"/>
          <p:cNvSpPr/>
          <p:nvPr>
            <p:custDataLst>
              <p:tags r:id="rId3"/>
            </p:custDataLst>
          </p:nvPr>
        </p:nvSpPr>
        <p:spPr>
          <a:xfrm>
            <a:off x="790511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사각형: 둥근 모서리 832"/>
          <p:cNvSpPr/>
          <p:nvPr>
            <p:custDataLst>
              <p:tags r:id="rId4"/>
            </p:custDataLst>
          </p:nvPr>
        </p:nvSpPr>
        <p:spPr>
          <a:xfrm>
            <a:off x="89535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사각형: 둥근 모서리 832"/>
          <p:cNvSpPr/>
          <p:nvPr>
            <p:custDataLst>
              <p:tags r:id="rId5"/>
            </p:custDataLst>
          </p:nvPr>
        </p:nvSpPr>
        <p:spPr>
          <a:xfrm>
            <a:off x="440023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사각형: 둥근 모서리 832"/>
          <p:cNvSpPr/>
          <p:nvPr>
            <p:custDataLst>
              <p:tags r:id="rId6"/>
            </p:custDataLst>
          </p:nvPr>
        </p:nvSpPr>
        <p:spPr>
          <a:xfrm>
            <a:off x="790511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사각형: 둥근 모서리 72"/>
          <p:cNvSpPr/>
          <p:nvPr>
            <p:custDataLst>
              <p:tags r:id="rId7"/>
            </p:custDataLst>
          </p:nvPr>
        </p:nvSpPr>
        <p:spPr>
          <a:xfrm>
            <a:off x="2298364" y="1689569"/>
            <a:ext cx="356915" cy="356915"/>
          </a:xfrm>
          <a:prstGeom prst="ellipse">
            <a:avLst/>
          </a:prstGeom>
          <a:blipFill rotWithShape="1">
            <a:blip r:embed="rId18"/>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1" name="사각형: 둥근 모서리 72"/>
          <p:cNvSpPr/>
          <p:nvPr>
            <p:custDataLst>
              <p:tags r:id="rId8"/>
            </p:custDataLst>
          </p:nvPr>
        </p:nvSpPr>
        <p:spPr>
          <a:xfrm>
            <a:off x="5803244" y="1689569"/>
            <a:ext cx="356915" cy="356915"/>
          </a:xfrm>
          <a:prstGeom prst="ellipse">
            <a:avLst/>
          </a:prstGeom>
          <a:blipFill rotWithShape="1">
            <a:blip r:embed="rId19"/>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2" name="사각형: 둥근 모서리 72"/>
          <p:cNvSpPr/>
          <p:nvPr>
            <p:custDataLst>
              <p:tags r:id="rId9"/>
            </p:custDataLst>
          </p:nvPr>
        </p:nvSpPr>
        <p:spPr>
          <a:xfrm>
            <a:off x="9308124" y="1689569"/>
            <a:ext cx="356915" cy="356915"/>
          </a:xfrm>
          <a:prstGeom prst="ellipse">
            <a:avLst/>
          </a:prstGeom>
          <a:blipFill rotWithShape="1">
            <a:blip r:embed="rId20"/>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5" name="사각형: 둥근 모서리 72"/>
          <p:cNvSpPr/>
          <p:nvPr>
            <p:custDataLst>
              <p:tags r:id="rId10"/>
            </p:custDataLst>
          </p:nvPr>
        </p:nvSpPr>
        <p:spPr>
          <a:xfrm>
            <a:off x="2298364" y="3577269"/>
            <a:ext cx="356915" cy="356915"/>
          </a:xfrm>
          <a:prstGeom prst="ellipse">
            <a:avLst/>
          </a:prstGeom>
          <a:blipFill rotWithShape="1">
            <a:blip r:embed="rId21"/>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6" name="사각형: 둥근 모서리 72"/>
          <p:cNvSpPr/>
          <p:nvPr>
            <p:custDataLst>
              <p:tags r:id="rId11"/>
            </p:custDataLst>
          </p:nvPr>
        </p:nvSpPr>
        <p:spPr>
          <a:xfrm>
            <a:off x="5803244" y="3577269"/>
            <a:ext cx="356915" cy="356915"/>
          </a:xfrm>
          <a:prstGeom prst="ellipse">
            <a:avLst/>
          </a:prstGeom>
          <a:blipFill rotWithShape="1">
            <a:blip r:embed="rId2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7" name="사각형: 둥근 모서리 72"/>
          <p:cNvSpPr/>
          <p:nvPr>
            <p:custDataLst>
              <p:tags r:id="rId12"/>
            </p:custDataLst>
          </p:nvPr>
        </p:nvSpPr>
        <p:spPr>
          <a:xfrm>
            <a:off x="9308124" y="3577269"/>
            <a:ext cx="356915" cy="356915"/>
          </a:xfrm>
          <a:prstGeom prst="ellipse">
            <a:avLst/>
          </a:prstGeom>
          <a:blipFill rotWithShape="1">
            <a:blip r:embed="rId2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8" name="object 3"/>
          <p:cNvSpPr txBox="1"/>
          <p:nvPr>
            <p:custDataLst>
              <p:tags r:id="rId13"/>
            </p:custDataLst>
          </p:nvPr>
        </p:nvSpPr>
        <p:spPr>
          <a:xfrm>
            <a:off x="1219842" y="251790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4" action="ppaction://hlinkfile"/>
              </a:rPr>
              <a:t>https://github.com/flagos-ai</a:t>
            </a:r>
          </a:p>
          <a:p>
            <a:endParaRPr lang="en-US" altLang="ko-KR" sz="1600" dirty="0"/>
          </a:p>
        </p:txBody>
      </p:sp>
      <p:sp>
        <p:nvSpPr>
          <p:cNvPr id="36" name="object 3"/>
          <p:cNvSpPr txBox="1"/>
          <p:nvPr>
            <p:custDataLst>
              <p:tags r:id="rId14"/>
            </p:custDataLst>
          </p:nvPr>
        </p:nvSpPr>
        <p:spPr>
          <a:xfrm>
            <a:off x="8015605" y="2341245"/>
            <a:ext cx="2882265"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5" action="ppaction://hlinkfile"/>
              </a:rPr>
              <a:t>https://space.bilibili.com/3546791834290849</a:t>
            </a:r>
            <a:endParaRPr lang="en-US" altLang="zh-CN" sz="1600" dirty="0"/>
          </a:p>
        </p:txBody>
      </p:sp>
      <p:sp>
        <p:nvSpPr>
          <p:cNvPr id="42" name="object 3"/>
          <p:cNvSpPr txBox="1"/>
          <p:nvPr>
            <p:custDataLst>
              <p:tags r:id="rId15"/>
            </p:custDataLst>
          </p:nvPr>
        </p:nvSpPr>
        <p:spPr>
          <a:xfrm>
            <a:off x="1219842" y="440385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6" action="ppaction://hlinkfile"/>
              </a:rPr>
              <a:t>https://www.zhihu.com/people/95-22-20-18/posts</a:t>
            </a:r>
            <a:endParaRPr lang="en-US" altLang="ko-KR" sz="1600" dirty="0"/>
          </a:p>
        </p:txBody>
      </p:sp>
      <p:sp>
        <p:nvSpPr>
          <p:cNvPr id="45" name="object 3"/>
          <p:cNvSpPr txBox="1"/>
          <p:nvPr>
            <p:custDataLst>
              <p:tags r:id="rId16"/>
            </p:custDataLst>
          </p:nvPr>
        </p:nvSpPr>
        <p:spPr>
          <a:xfrm>
            <a:off x="4724722" y="4403854"/>
            <a:ext cx="2513958" cy="39687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7" action="ppaction://hlinkfile"/>
              </a:rPr>
              <a:t>https://flagos.io/Home</a:t>
            </a:r>
            <a:endParaRPr lang="en-US" altLang="ko-KR" sz="1600" dirty="0"/>
          </a:p>
        </p:txBody>
      </p:sp>
      <p:pic>
        <p:nvPicPr>
          <p:cNvPr id="54" name="图片 53" descr="weixin-DL0TqDNO"/>
          <p:cNvPicPr>
            <a:picLocks noChangeAspect="1"/>
          </p:cNvPicPr>
          <p:nvPr/>
        </p:nvPicPr>
        <p:blipFill>
          <a:blip r:embed="rId28"/>
          <a:stretch>
            <a:fillRect/>
          </a:stretch>
        </p:blipFill>
        <p:spPr>
          <a:xfrm>
            <a:off x="5408930" y="2046605"/>
            <a:ext cx="1255395" cy="1255395"/>
          </a:xfrm>
          <a:prstGeom prst="rect">
            <a:avLst/>
          </a:prstGeom>
        </p:spPr>
      </p:pic>
      <p:pic>
        <p:nvPicPr>
          <p:cNvPr id="55" name="图片 54" descr="feishu-qrcode-C75xQn56"/>
          <p:cNvPicPr>
            <a:picLocks noChangeAspect="1"/>
          </p:cNvPicPr>
          <p:nvPr/>
        </p:nvPicPr>
        <p:blipFill>
          <a:blip r:embed="rId29"/>
          <a:stretch>
            <a:fillRect/>
          </a:stretch>
        </p:blipFill>
        <p:spPr>
          <a:xfrm>
            <a:off x="8903970" y="3953510"/>
            <a:ext cx="1299210" cy="1308735"/>
          </a:xfrm>
          <a:prstGeom prst="rect">
            <a:avLst/>
          </a:prstGeom>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개체 틀 4"/>
          <p:cNvPicPr>
            <a:picLocks noGrp="1" noChangeAspect="1"/>
          </p:cNvPicPr>
          <p:nvPr>
            <p:ph type="pic" sz="quarter" idx="10"/>
          </p:nvPr>
        </p:nvPicPr>
        <p:blipFill>
          <a:blip r:embed="rId2"/>
          <a:srcRect l="2306" r="2306"/>
          <a:stretch>
            <a:fillRect/>
          </a:stretch>
        </p:blipFill>
        <p:spPr/>
      </p:pic>
      <p:sp>
        <p:nvSpPr>
          <p:cNvPr id="3" name="제목 2"/>
          <p:cNvSpPr>
            <a:spLocks noGrp="1"/>
          </p:cNvSpPr>
          <p:nvPr>
            <p:ph type="ctrTitle"/>
          </p:nvPr>
        </p:nvSpPr>
        <p:spPr>
          <a:xfrm>
            <a:off x="5625465" y="2373630"/>
            <a:ext cx="5739130" cy="2664460"/>
          </a:xfrm>
        </p:spPr>
        <p:txBody>
          <a:bodyPr/>
          <a:lstStyle/>
          <a:p>
            <a:pPr algn="l"/>
            <a:r>
              <a:rPr altLang="zh-CN" dirty="0">
                <a:latin typeface="微软雅黑" panose="020B0503020204020204" charset="-122"/>
                <a:ea typeface="微软雅黑" panose="020B0503020204020204" charset="-122"/>
                <a:cs typeface="微软雅黑" panose="020B0503020204020204" charset="-122"/>
              </a:rPr>
              <a:t>Thanks for your time</a:t>
            </a:r>
            <a:r>
              <a:rPr lang="zh-CN" altLang="en-US" dirty="0">
                <a:latin typeface="微软雅黑" panose="020B0503020204020204" charset="-122"/>
                <a:ea typeface="微软雅黑" panose="020B0503020204020204" charset="-122"/>
                <a:cs typeface="微软雅黑" panose="020B0503020204020204" charset="-122"/>
              </a:rPr>
              <a:t>！</a:t>
            </a:r>
            <a:endParaRPr kumimoji="1" lang="ko-KR" altLang="en-US" dirty="0">
              <a:latin typeface="微软雅黑" panose="020B0503020204020204" charset="-122"/>
              <a:ea typeface="微软雅黑" panose="020B0503020204020204" charset="-122"/>
              <a:cs typeface="微软雅黑" panose="020B0503020204020204" charset="-122"/>
            </a:endParaRPr>
          </a:p>
        </p:txBody>
      </p:sp>
      <p:grpSp>
        <p:nvGrpSpPr>
          <p:cNvPr id="2" name="组合 1"/>
          <p:cNvGrpSpPr/>
          <p:nvPr/>
        </p:nvGrpSpPr>
        <p:grpSpPr>
          <a:xfrm>
            <a:off x="9247450" y="217531"/>
            <a:ext cx="2580450" cy="547850"/>
            <a:chOff x="9247450" y="217531"/>
            <a:chExt cx="2580450" cy="547850"/>
          </a:xfrm>
        </p:grpSpPr>
        <p:pic>
          <p:nvPicPr>
            <p:cNvPr id="4" name="图片 3"/>
            <p:cNvPicPr>
              <a:picLocks noChangeAspect="1"/>
            </p:cNvPicPr>
            <p:nvPr/>
          </p:nvPicPr>
          <p:blipFill>
            <a:blip r:embed="rId3"/>
            <a:stretch>
              <a:fillRect/>
            </a:stretch>
          </p:blipFill>
          <p:spPr>
            <a:xfrm>
              <a:off x="9247450" y="319584"/>
              <a:ext cx="1096400" cy="336123"/>
            </a:xfrm>
            <a:prstGeom prst="rect">
              <a:avLst/>
            </a:prstGeom>
          </p:spPr>
        </p:pic>
        <p:pic>
          <p:nvPicPr>
            <p:cNvPr id="8" name="图片 7"/>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20,&quot;width&quot;:40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20,&quot;width&quot;:40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20,&quot;width&quot;:40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20,&quot;width&quot;:40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20,&quot;width&quot;:40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20,&quot;width&quot;:40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20,&quot;width&quot;:40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20,&quot;width&quot;:400}"/>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20,&quot;width&quot;:400}"/>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20,&quot;width&quot;:400}"/>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20,&quot;width&quot;:400}"/>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20,&quot;width&quot;:400}"/>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20,&quot;width&quot;:400}"/>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20,&quot;width&quot;:400}"/>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20,&quot;width&quot;:400}"/>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0,&quot;top&quot;:120,&quot;width&quot;:400}"/>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65.65,&quot;left&quot;:60,&quot;top&quot;:134.35,&quot;width&quot;:853}"/>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65.65,&quot;left&quot;:60,&quot;top&quot;:134.35,&quot;width&quot;:853}"/>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65.65,&quot;left&quot;:60,&quot;top&quot;:134.35,&quot;width&quot;:853}"/>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65.65,&quot;left&quot;:60,&quot;top&quot;:134.35,&quot;width&quot;:853}"/>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65.65,&quot;left&quot;:60,&quot;top&quot;:134.35,&quot;width&quot;:853}"/>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65.65,&quot;left&quot;:60,&quot;top&quot;:134.35,&quot;width&quot;:853}"/>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65.65,&quot;left&quot;:60,&quot;top&quot;:134.35,&quot;width&quot;:853}"/>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65.65,&quot;left&quot;:60,&quot;top&quot;:134.35,&quot;width&quot;:853}"/>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65.65,&quot;left&quot;:60,&quot;top&quot;:134.35,&quot;width&quot;:853}"/>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65.65,&quot;left&quot;:60,&quot;top&quot;:134.35,&quot;width&quot;:853}"/>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65.65,&quot;left&quot;:60,&quot;top&quot;:134.35,&quot;width&quot;:853}"/>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65.65,&quot;left&quot;:60,&quot;top&quot;:134.35,&quot;width&quot;:853}"/>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65.65,&quot;left&quot;:60,&quot;top&quot;:134.35,&quot;width&quot;:853}"/>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65.65,&quot;left&quot;:60,&quot;top&quot;:134.35,&quot;width&quot;:853}"/>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65.65,&quot;left&quot;:60,&quot;top&quot;:134.35,&quot;width&quot;:853}"/>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65.65,&quot;left&quot;:60,&quot;top&quot;:134.35,&quot;width&quot;:853}"/>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heme/theme1.xml><?xml version="1.0" encoding="utf-8"?>
<a:theme xmlns:a="http://schemas.openxmlformats.org/drawingml/2006/main" name="母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a:ea typeface="微软雅黑"/>
        <a:cs typeface=""/>
      </a:majorFont>
      <a:minorFont>
        <a:latin typeface="Arial"/>
        <a:ea typeface="微软雅黑"/>
        <a:cs typeface=""/>
      </a:minorFont>
    </a:fontScheme>
    <a:fmtScheme name="极端阴影">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1392</Words>
  <Application>Microsoft Office PowerPoint</Application>
  <PresentationFormat>宽屏</PresentationFormat>
  <Paragraphs>164</Paragraphs>
  <Slides>23</Slides>
  <Notes>18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23</vt:i4>
      </vt:variant>
    </vt:vector>
  </HeadingPairs>
  <TitlesOfParts>
    <vt:vector size="34" baseType="lpstr">
      <vt:lpstr>Noto Sans SC</vt:lpstr>
      <vt:lpstr>微软雅黑</vt:lpstr>
      <vt:lpstr>文泉驿微米黑</vt:lpstr>
      <vt:lpstr>Arial</vt:lpstr>
      <vt:lpstr>Calibri</vt:lpstr>
      <vt:lpstr>Calibri Light</vt:lpstr>
      <vt:lpstr>Ebrima</vt:lpstr>
      <vt:lpstr>Garamond</vt:lpstr>
      <vt:lpstr>Montserrat SemiBold</vt:lpstr>
      <vt:lpstr>Wingdings 3</vt:lpstr>
      <vt:lpstr>母版</vt:lpstr>
      <vt:lpstr>Hardware and Software Fundamentals of  Intelligent Computing  Systems</vt:lpstr>
      <vt:lpstr>Lecture 40: Overview of LLM-Assisted Programming</vt:lpstr>
      <vt:lpstr>PowerPoint 演示文稿</vt:lpstr>
      <vt:lpstr>PowerPoint 演示文稿</vt:lpstr>
      <vt:lpstr>Challenges of Traditional Programming Mode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KernelGen workflow</vt:lpstr>
      <vt:lpstr>PowerPoint 演示文稿</vt:lpstr>
      <vt:lpstr>PowerPoint 演示文稿</vt:lpstr>
      <vt:lpstr>PowerPoint 演示文稿</vt:lpstr>
      <vt:lpstr>The Solution: FlagOS, a Unified AI Software Stack</vt:lpstr>
      <vt:lpstr>PowerPoint 演示文稿</vt:lpstr>
      <vt:lpstr>Thanks for your time！</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40: Overview of LLM-Assisted Programming</dc:title>
  <dc:subject>开源社区与AI系统软件贡献</dc:subject>
  <dc:creator>Kimi</dc:creator>
  <cp:lastModifiedBy>Xiang Li</cp:lastModifiedBy>
  <cp:revision>5</cp:revision>
  <dcterms:created xsi:type="dcterms:W3CDTF">2026-03-12T03:04:00Z</dcterms:created>
  <dcterms:modified xsi:type="dcterms:W3CDTF">2026-03-17T14:55:09Z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开源社区与AI系统软件贡献","ContentProducer":"001191110108MACG2KBH8F10000","ProduceID":"19cbf9a2-ac82-8bf3-8000-00008c4ccf4f","ReservedCode1":"","ContentPropagator":"001191110108MACG2KBH8F20000","PropagateID":"19cbf9a2-ac82-8bf3-8000-00008c4ccf4f","ReservedCode2":""}</vt:lpwstr>
  </property>
  <property fmtid="{D5CDD505-2E9C-101B-9397-08002B2CF9AE}" pid="3" name="ICV">
    <vt:lpwstr>423D73E912CD1A00385CAA69CA7CE0B6_42</vt:lpwstr>
  </property>
  <property fmtid="{D5CDD505-2E9C-101B-9397-08002B2CF9AE}" pid="4" name="KSOProductBuildVer">
    <vt:lpwstr>2052-12.1.0.19302</vt:lpwstr>
  </property>
</Properties>
</file>