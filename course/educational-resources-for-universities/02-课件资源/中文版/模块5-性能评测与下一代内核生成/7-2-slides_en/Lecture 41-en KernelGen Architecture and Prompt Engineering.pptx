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337" r:id="rId2"/>
    <p:sldId id="256" r:id="rId3"/>
    <p:sldId id="257" r:id="rId4"/>
    <p:sldId id="273" r:id="rId5"/>
    <p:sldId id="27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9" r:id="rId20"/>
    <p:sldId id="280" r:id="rId21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870003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297106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kernelgen.flagos.io/hom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2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5.xml"/><Relationship Id="rId21" Type="http://schemas.openxmlformats.org/officeDocument/2006/relationships/image" Target="../media/image31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30.png"/><Relationship Id="rId29" Type="http://schemas.openxmlformats.org/officeDocument/2006/relationships/image" Target="../media/image35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33.png"/><Relationship Id="rId28" Type="http://schemas.openxmlformats.org/officeDocument/2006/relationships/image" Target="../media/image34.jpeg"/><Relationship Id="rId10" Type="http://schemas.openxmlformats.org/officeDocument/2006/relationships/tags" Target="../tags/tag12.xml"/><Relationship Id="rId19" Type="http://schemas.openxmlformats.org/officeDocument/2006/relationships/image" Target="../media/image29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image" Target="../media/image32.png"/><Relationship Id="rId27" Type="http://schemas.openxmlformats.org/officeDocument/2006/relationships/hyperlink" Target="https://flagos.io/Hom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cs typeface="Calibri" panose="020F0502020204030204" charset="0"/>
              </a:rPr>
              <a:t>Lecture 41: KernelGen Architecture and Prompt Engineering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  <a:latin typeface="Calibri" panose="020F0502020204030204" charset="0"/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</a:t>
            </a:r>
            <a:r>
              <a:rPr lang="en-US" altLang="zh-CN" b="1">
                <a:solidFill>
                  <a:srgbClr val="000000"/>
                </a:solidFill>
                <a:latin typeface="Calibri" panose="020F0502020204030204" charset="0"/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background</a:t>
            </a:r>
            <a:endParaRPr lang="zh-CN" altLang="en-US" b="1">
              <a:latin typeface="Calibri" panose="020F0502020204030204" charset="0"/>
              <a:ea typeface="黑体" panose="02010609060101010101" charset="-122"/>
              <a:cs typeface="Calibri" panose="020F0502020204030204" charset="0"/>
            </a:endParaRPr>
          </a:p>
          <a:p>
            <a:r>
              <a:rPr lang="en-US" b="1">
                <a:solidFill>
                  <a:srgbClr val="000000"/>
                </a:solidFill>
                <a:latin typeface="Calibri" panose="020F0502020204030204" charset="0"/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</a:t>
            </a:r>
            <a:r>
              <a:rPr lang="en-US" altLang="zh-CN" b="1">
                <a:solidFill>
                  <a:srgbClr val="000000"/>
                </a:solidFill>
                <a:latin typeface="Calibri" panose="020F0502020204030204" charset="0"/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workflow</a:t>
            </a:r>
            <a:endParaRPr lang="zh-CN" altLang="en-US" b="1">
              <a:solidFill>
                <a:srgbClr val="000000"/>
              </a:solidFill>
              <a:latin typeface="Calibri" panose="020F0502020204030204" charset="0"/>
              <a:ea typeface="黑体" panose="02010609060101010101" charset="-122"/>
              <a:cs typeface="Calibri" panose="020F0502020204030204" charset="0"/>
              <a:sym typeface="Noto Sans SC" panose="020B0200000000000000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Calibri" panose="020F0502020204030204" charset="0"/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Prompt engineering</a:t>
            </a:r>
            <a:endParaRPr lang="en-US" b="1">
              <a:solidFill>
                <a:srgbClr val="000000"/>
              </a:solidFill>
              <a:latin typeface="Calibri" panose="020F0502020204030204" charset="0"/>
              <a:ea typeface="黑体" panose="02010609060101010101" charset="-122"/>
              <a:cs typeface="Calibri" panose="020F0502020204030204" charset="0"/>
              <a:sym typeface="Noto Sans SC" panose="020B0200000000000000" charset="-122"/>
            </a:endParaRPr>
          </a:p>
          <a:p>
            <a:r>
              <a:rPr lang="en-US" altLang="zh-CN" b="1">
                <a:solidFill>
                  <a:srgbClr val="000000"/>
                </a:solidFill>
                <a:latin typeface="Calibri" panose="020F0502020204030204" charset="0"/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usage example</a:t>
            </a:r>
            <a:endParaRPr lang="en-US" b="1">
              <a:solidFill>
                <a:srgbClr val="000000"/>
              </a:solidFill>
              <a:latin typeface="Calibri" panose="020F0502020204030204" charset="0"/>
              <a:ea typeface="黑体" panose="02010609060101010101" charset="-122"/>
              <a:cs typeface="Calibri" panose="020F0502020204030204" charset="0"/>
              <a:sym typeface="Noto Sans SC" panose="020B0200000000000000" charset="-122"/>
            </a:endParaRPr>
          </a:p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AutoShape 2"/>
          <p:cNvSpPr/>
          <p:nvPr/>
        </p:nvSpPr>
        <p:spPr>
          <a:xfrm>
            <a:off x="762000" y="444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KernelGen </a:t>
            </a:r>
            <a:r>
              <a:rPr lang="en-US" altLang="zh-CN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 pitchFamily="34" charset="0"/>
                <a:sym typeface="Noto Sans SC" panose="020B0200000000000000" charset="-122"/>
              </a:rPr>
              <a:t>background</a:t>
            </a:r>
            <a:endParaRPr lang="en-US" sz="1100"/>
          </a:p>
        </p:txBody>
      </p:sp>
      <p:sp>
        <p:nvSpPr>
          <p:cNvPr id="9" name="AutoShape 7"/>
          <p:cNvSpPr/>
          <p:nvPr/>
        </p:nvSpPr>
        <p:spPr>
          <a:xfrm>
            <a:off x="523875" y="1968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EF2F2">
              <a:alpha val="100000"/>
            </a:srgbClr>
          </a:solidFill>
          <a:ln cap="flat" cmpd="sng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159000"/>
            <a:ext cx="304800" cy="304800"/>
          </a:xfrm>
          <a:prstGeom prst="rect">
            <a:avLst/>
          </a:prstGeom>
        </p:spPr>
      </p:pic>
      <p:sp>
        <p:nvSpPr>
          <p:cNvPr id="11" name="AutoShape 9"/>
          <p:cNvSpPr/>
          <p:nvPr/>
        </p:nvSpPr>
        <p:spPr>
          <a:xfrm>
            <a:off x="1095375" y="21209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KernelGen core objectives</a:t>
            </a:r>
            <a:endParaRPr lang="en-US" sz="1100"/>
          </a:p>
        </p:txBody>
      </p:sp>
      <p:sp>
        <p:nvSpPr>
          <p:cNvPr id="12" name="AutoShape 10"/>
          <p:cNvSpPr/>
          <p:nvPr/>
        </p:nvSpPr>
        <p:spPr>
          <a:xfrm>
            <a:off x="1095375" y="2476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Utilizing AI technology to automatically generate GPU kernel code, achieving ultimate performance optimization for target hardware and resolving the challenges of manual programming.</a:t>
            </a:r>
            <a:endParaRPr lang="en-US" sz="1000"/>
          </a:p>
        </p:txBody>
      </p:sp>
      <p:sp>
        <p:nvSpPr>
          <p:cNvPr id="13" name="AutoShape 11"/>
          <p:cNvSpPr/>
          <p:nvPr/>
        </p:nvSpPr>
        <p:spPr>
          <a:xfrm>
            <a:off x="523875" y="3175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EF2F2">
              <a:alpha val="100000"/>
            </a:srgbClr>
          </a:solidFill>
          <a:ln cap="flat" cmpd="sng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375" y="3365500"/>
            <a:ext cx="304800" cy="304800"/>
          </a:xfrm>
          <a:prstGeom prst="rect">
            <a:avLst/>
          </a:prstGeom>
        </p:spPr>
      </p:pic>
      <p:sp>
        <p:nvSpPr>
          <p:cNvPr id="15" name="AutoShape 13"/>
          <p:cNvSpPr/>
          <p:nvPr/>
        </p:nvSpPr>
        <p:spPr>
          <a:xfrm>
            <a:off x="1095375" y="3327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industry faces challenges</a:t>
            </a:r>
            <a:endParaRPr lang="en-US" sz="1100"/>
          </a:p>
        </p:txBody>
      </p:sp>
      <p:sp>
        <p:nvSpPr>
          <p:cNvPr id="16" name="AutoShape 14"/>
          <p:cNvSpPr/>
          <p:nvPr/>
        </p:nvSpPr>
        <p:spPr>
          <a:xfrm>
            <a:off x="1095375" y="3683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The GPU programming model is complex, with large differences between architectures, lacking general optimization strategies, and having extremely high thresholds for parallel computing scheduling and memory management.</a:t>
            </a:r>
            <a:endParaRPr lang="en-US"/>
          </a:p>
        </p:txBody>
      </p:sp>
      <p:sp>
        <p:nvSpPr>
          <p:cNvPr id="17" name="AutoShape 15"/>
          <p:cNvSpPr/>
          <p:nvPr/>
        </p:nvSpPr>
        <p:spPr>
          <a:xfrm>
            <a:off x="523875" y="4381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EF2F2">
              <a:alpha val="100000"/>
            </a:srgbClr>
          </a:solidFill>
          <a:ln cap="flat" cmpd="sng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375" y="4572000"/>
            <a:ext cx="304800" cy="304800"/>
          </a:xfrm>
          <a:prstGeom prst="rect">
            <a:avLst/>
          </a:prstGeom>
        </p:spPr>
      </p:pic>
      <p:sp>
        <p:nvSpPr>
          <p:cNvPr id="19" name="AutoShape 17"/>
          <p:cNvSpPr/>
          <p:nvPr/>
        </p:nvSpPr>
        <p:spPr>
          <a:xfrm>
            <a:off x="1095375" y="45339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value of the project</a:t>
            </a:r>
            <a:endParaRPr lang="en-US" sz="1100"/>
          </a:p>
        </p:txBody>
      </p:sp>
      <p:sp>
        <p:nvSpPr>
          <p:cNvPr id="20" name="AutoShape 18"/>
          <p:cNvSpPr/>
          <p:nvPr/>
        </p:nvSpPr>
        <p:spPr>
          <a:xfrm>
            <a:off x="1095375" y="4889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Significantly lowering the threshold for GPU application development, unleashing the potential of hardware computing power, and improving the execution efficiency of computing tasks as well as resource utilization.</a:t>
            </a:r>
            <a:endParaRPr lang="en-US" sz="1000"/>
          </a:p>
        </p:txBody>
      </p:sp>
      <p:pic>
        <p:nvPicPr>
          <p:cNvPr id="23" name="图片 22"/>
          <p:cNvPicPr/>
          <p:nvPr/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97650" y="1139825"/>
            <a:ext cx="4832350" cy="51492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KernelGen workflow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Collect kernel information</a:t>
            </a:r>
          </a:p>
          <a:p>
            <a:pPr lvl="1">
              <a:lnSpc>
                <a:spcPct val="140000"/>
              </a:lnSpc>
            </a:pPr>
            <a:r>
              <a:rPr lang="en-US" altLang="zh-CN"/>
              <a:t>The user inputs the operator definition semantics to KernelGen.</a:t>
            </a:r>
          </a:p>
          <a:p>
            <a:pPr>
              <a:lnSpc>
                <a:spcPct val="140000"/>
              </a:lnSpc>
            </a:pPr>
            <a:r>
              <a:rPr lang="en-US" altLang="zh-CN"/>
              <a:t>Search code snippets</a:t>
            </a:r>
          </a:p>
          <a:p>
            <a:pPr lvl="1">
              <a:lnSpc>
                <a:spcPct val="140000"/>
              </a:lnSpc>
            </a:pPr>
            <a:r>
              <a:rPr lang="en-US" altLang="zh-CN"/>
              <a:t>KernelGen searches for code snippets similar to user-defined ones as referencesKernelGen.</a:t>
            </a:r>
          </a:p>
          <a:p>
            <a:pPr>
              <a:lnSpc>
                <a:spcPct val="140000"/>
              </a:lnSpc>
            </a:pPr>
            <a:r>
              <a:rPr lang="en-US" altLang="zh-CN"/>
              <a:t>Generate kernel code and CUDA version benchmark implementation code</a:t>
            </a:r>
            <a:endParaRPr lang="zh-CN" altLang="en-US"/>
          </a:p>
          <a:p>
            <a:pPr lvl="1">
              <a:lnSpc>
                <a:spcPct val="140000"/>
              </a:lnSpc>
            </a:pPr>
            <a:r>
              <a:rPr lang="en-US" altLang="zh-CN"/>
              <a:t>KernelGen generates Kernel code and CUDA-based benchmark implementation code.</a:t>
            </a:r>
          </a:p>
          <a:p>
            <a:pPr>
              <a:lnSpc>
                <a:spcPct val="140000"/>
              </a:lnSpc>
            </a:pPr>
            <a:r>
              <a:rPr lang="en-US" altLang="zh-CN"/>
              <a:t>Based on the CUDA version of the benchmark implementation code, test the Kernel</a:t>
            </a:r>
          </a:p>
          <a:p>
            <a:pPr lvl="1">
              <a:lnSpc>
                <a:spcPct val="140000"/>
              </a:lnSpc>
            </a:pPr>
            <a:r>
              <a:rPr lang="en-US" altLang="zh-CN"/>
              <a:t>KernelGen benchmarks kernels based on PyTorch and outputs test results for correctness and speedup ratios.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 descr="E:/BAAI/COURSE/template-replacement/images/KernelGen-workflow-en.pngKernelGen-workflow-en"/>
          <p:cNvPicPr/>
          <p:nvPr/>
        </p:nvPicPr>
        <p:blipFill>
          <a:blip r:embed="rId2"/>
          <a:srcRect t="1310" b="1310"/>
          <a:stretch>
            <a:fillRect/>
          </a:stretch>
        </p:blipFill>
        <p:spPr>
          <a:xfrm>
            <a:off x="8107045" y="883285"/>
            <a:ext cx="3319780" cy="58381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Prompt engineering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pic>
        <p:nvPicPr>
          <p:cNvPr id="7" name="图片 6" descr="post_object_image_10861643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577" y="1378026"/>
            <a:ext cx="8950286" cy="47448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usage example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Generate a ReLU Kernel using KernelGen</a:t>
            </a:r>
            <a:r>
              <a:rPr lang="zh-CN" altLang="en-US"/>
              <a:t>：</a:t>
            </a:r>
            <a:r>
              <a:rPr lang="en-US" altLang="zh-CN">
                <a:hlinkClick r:id="rId2" action="ppaction://hlinkfile"/>
              </a:rPr>
              <a:t>https://kernelgen.flagos.io/home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6" name="图片 5" descr="E:/BAAI/COURSE/template-replacement/images/welcom-en.pngwelcom-en"/>
          <p:cNvPicPr>
            <a:picLocks noChangeAspect="1"/>
          </p:cNvPicPr>
          <p:nvPr/>
        </p:nvPicPr>
        <p:blipFill>
          <a:blip r:embed="rId3"/>
          <a:srcRect t="3784" b="3784"/>
          <a:stretch>
            <a:fillRect/>
          </a:stretch>
        </p:blipFill>
        <p:spPr>
          <a:xfrm>
            <a:off x="1868805" y="2009775"/>
            <a:ext cx="8238490" cy="45053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Clear, high-quality prompt</a:t>
            </a:r>
            <a:r>
              <a:rPr lang="zh-CN" altLang="en-US"/>
              <a:t>：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1870075"/>
            <a:ext cx="11236325" cy="1723390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523875" y="3843020"/>
            <a:ext cx="11404600" cy="24612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Vague, low-quality prompt</a:t>
            </a:r>
            <a:r>
              <a:rPr lang="zh-CN" altLang="en-US"/>
              <a:t>：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" y="4418965"/>
            <a:ext cx="10930890" cy="16656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23875" y="1565475"/>
            <a:ext cx="11277600" cy="436998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54670" y="3931920"/>
            <a:ext cx="27705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2"/>
                </a:solidFill>
              </a:rPr>
              <a:t>Select the appropriate reference code and click next.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518480" y="1749425"/>
            <a:ext cx="6754990" cy="48529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3875" y="1152525"/>
            <a:ext cx="6976803" cy="693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/>
              <a:t>Fill in the operator details to further enhance the prompt: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472930" y="2423160"/>
            <a:ext cx="2407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accent2"/>
                </a:solidFill>
              </a:rPr>
              <a:t>The operator name must be in English.</a:t>
            </a:r>
            <a:endParaRPr lang="zh-CN" altLang="en-US" sz="1400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7620" y="2708529"/>
            <a:ext cx="1809790" cy="22501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chemeClr val="accent2"/>
                </a:solidFill>
              </a:rPr>
              <a:t>The evaluation equipment currently supports NVIDIA, Tianshu, Hygon, Huawei, and Moore Threads.</a:t>
            </a:r>
            <a:endParaRPr lang="zh-CN" altLang="en-US" sz="1400">
              <a:solidFill>
                <a:schemeClr val="accent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6062" y="4500923"/>
            <a:ext cx="171132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chemeClr val="accent2"/>
                </a:solidFill>
              </a:rPr>
              <a:t>A higher number of iterations typically results in better-generated operators, with a single iteration of a simple operator usually taking 2~3 minutes.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58119" y="1685925"/>
            <a:ext cx="9237512" cy="48529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9465" y="1228725"/>
            <a:ext cx="10382664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Start generating kernel, CUDA implementation, correctness test cases, and speedup test cases: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385542" y="1323975"/>
            <a:ext cx="5554265" cy="48529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9465" y="1228725"/>
            <a:ext cx="8354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kernel</a:t>
            </a:r>
            <a:r>
              <a:rPr lang="zh-CN" altLang="en-US"/>
              <a:t>：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23875" y="1631189"/>
            <a:ext cx="11277600" cy="42385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9465" y="1228725"/>
            <a:ext cx="8354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CUDA</a:t>
            </a:r>
            <a:r>
              <a:rPr lang="zh-CN" altLang="en-US"/>
              <a:t>：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06694" y="1592580"/>
            <a:ext cx="9288951" cy="48529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9470" y="1178560"/>
            <a:ext cx="3192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correctness test cases</a:t>
            </a:r>
            <a:r>
              <a:rPr lang="zh-CN" altLang="en-US"/>
              <a:t>：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81156" y="1503045"/>
            <a:ext cx="6375238" cy="48529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39800" y="1087755"/>
            <a:ext cx="4584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speedup test cases</a:t>
            </a:r>
            <a:r>
              <a:rPr lang="zh-CN" altLang="en-US"/>
              <a:t>：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黑体" panose="02010609060101010101" charset="-122"/>
                <a:cs typeface="Calibri" panose="020F0502020204030204" charset="0"/>
                <a:sym typeface="Noto Sans SC" panose="020B0200000000000000" charset="-122"/>
              </a:rPr>
              <a:t>KernelGen usage example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911605" y="1323975"/>
            <a:ext cx="2502139" cy="485298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125" y="1094740"/>
            <a:ext cx="5493385" cy="53943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3875" y="2009140"/>
            <a:ext cx="1584960" cy="252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>
                <a:solidFill>
                  <a:schemeClr val="accent2"/>
                </a:solidFill>
              </a:rPr>
              <a:t>After each iteration, you may choose to use the existing code or manually modify and test it again.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07370" y="1946910"/>
            <a:ext cx="154495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</a:rPr>
              <a:t>The specific time consumption of the kernel and corresponding CUDA implementation across various test cases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ym typeface="+mn-ea"/>
              </a:rPr>
              <a:t>Tips</a:t>
            </a:r>
            <a:endParaRPr lang="zh-CN" altLang="en-US" b="1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/>
              <a:t>Currently, KernelGen only supports single-round prompts, with a new version to be released later that will enable multi-round prompt iterations for specific test cases;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Integration with the FlagOS ecosystem: Specialized tools on GitHub are available to convert KernelGen-generated code into FlagGems format;</a:t>
            </a:r>
            <a:endParaRPr lang="zh-CN" altLang="en-US"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>
                <a:sym typeface="+mn-ea"/>
              </a:rPr>
              <a:t>KernelGen officially plans to integrate KernelGen into IDEs such as vscode by the end of March, further simplifying kernel development.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</Words>
  <Application>Microsoft Office PowerPoint</Application>
  <PresentationFormat>宽屏</PresentationFormat>
  <Paragraphs>73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Noto Sans SC</vt:lpstr>
      <vt:lpstr>黑体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41: KernelGen Architecture and Prompt Engineering</vt:lpstr>
      <vt:lpstr>PowerPoint 演示文稿</vt:lpstr>
      <vt:lpstr>PowerPoint 演示文稿</vt:lpstr>
      <vt:lpstr>KernelGen workflow</vt:lpstr>
      <vt:lpstr>Prompt engineering</vt:lpstr>
      <vt:lpstr>KernelGen usage example</vt:lpstr>
      <vt:lpstr>KernelGen usage example</vt:lpstr>
      <vt:lpstr>KernelGen usage example</vt:lpstr>
      <vt:lpstr>KernelGen usage example</vt:lpstr>
      <vt:lpstr>KernelGen usage example</vt:lpstr>
      <vt:lpstr>KernelGen usage example</vt:lpstr>
      <vt:lpstr>KernelGen usage example</vt:lpstr>
      <vt:lpstr>KernelGen usage example</vt:lpstr>
      <vt:lpstr>KernelGen usage example</vt:lpstr>
      <vt:lpstr>KernelGen usage example</vt:lpstr>
      <vt:lpstr>Tips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41: KernelGen Architecture and Prompt Engineering</dc:title>
  <dc:subject>开源社区与AI系统软件贡献</dc:subject>
  <dc:creator>Kimi</dc:creator>
  <cp:lastModifiedBy>Xiang Li</cp:lastModifiedBy>
  <cp:revision>4</cp:revision>
  <dcterms:created xsi:type="dcterms:W3CDTF">2026-03-12T03:05:00Z</dcterms:created>
  <dcterms:modified xsi:type="dcterms:W3CDTF">2026-03-17T14:55:12Z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