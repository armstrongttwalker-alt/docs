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33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38" r:id="rId25"/>
    <p:sldId id="279" r:id="rId26"/>
    <p:sldId id="280" r:id="rId27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  <a:latin typeface="Google Sans Text"/>
              </a:rPr>
              <a:t>在人工智能领域，大语言模型（</a:t>
            </a:r>
            <a:r>
              <a:rPr lang="en-US" altLang="zh-CN" dirty="0">
                <a:effectLst/>
                <a:latin typeface="Google Sans Text"/>
              </a:rPr>
              <a:t>LLM</a:t>
            </a:r>
            <a:r>
              <a:rPr lang="zh-CN" altLang="en-US" dirty="0">
                <a:effectLst/>
                <a:latin typeface="Google Sans Text"/>
              </a:rPr>
              <a:t>）的参数规模已从百亿级跃升至万亿级，这种规模化的增长虽然带来了涌现能力，但也对底层算力基础设施提出了前所未有的挑战。传统的软件栈开发模式往往呈现出烟囱式、碎片化的特征，不同层级之间的优化策略缺乏协同，导致硬件潜能难以被充分挖掘。端到端性能优化（</a:t>
            </a:r>
            <a:r>
              <a:rPr lang="en-US" altLang="zh-CN" dirty="0">
                <a:effectLst/>
                <a:latin typeface="Google Sans Text"/>
              </a:rPr>
              <a:t>End-to-End Performance Optimization</a:t>
            </a:r>
            <a:r>
              <a:rPr lang="zh-CN" altLang="en-US" dirty="0">
                <a:effectLst/>
                <a:latin typeface="Google Sans Text"/>
              </a:rPr>
              <a:t>）作为一种突破性的方法论，主张打破算法、系统软件、编译优化与硬件芯片之间的壁垒，通过宏观全链路的视角实现全局最优。在当前的智算生态中，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等统一智算底座的出现，正是为了解决多芯片、大规模场景下的高效计算问题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什么是端到端协同优化？</a:t>
            </a:r>
          </a:p>
          <a:p>
            <a:r>
              <a:rPr lang="zh-CN" altLang="en-US" dirty="0">
                <a:effectLst/>
                <a:latin typeface="Google Sans Text"/>
              </a:rPr>
              <a:t>端到端协同优化可以抽象为一个“漏斗模型”。在漏斗的顶部，算法设计决定了计算图的拓扑结构和算术强度。通过算法层面的结构优化（如引入混合专家模型 </a:t>
            </a:r>
            <a:r>
              <a:rPr lang="en-US" altLang="zh-CN" dirty="0" err="1">
                <a:effectLst/>
                <a:latin typeface="Google Sans Text"/>
              </a:rPr>
              <a:t>MoE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或优化注意力机制），可以从源头上降低计算复杂度或显存压力 。进入编译器层后，计算图会被进一步精简和重组，算子融合（</a:t>
            </a:r>
            <a:r>
              <a:rPr lang="en-US" altLang="zh-CN" dirty="0">
                <a:effectLst/>
                <a:latin typeface="Google Sans Text"/>
              </a:rPr>
              <a:t>Operator Fusion</a:t>
            </a:r>
            <a:r>
              <a:rPr lang="zh-CN" altLang="en-US" dirty="0">
                <a:effectLst/>
                <a:latin typeface="Google Sans Text"/>
              </a:rPr>
              <a:t>）等策略将多个零散的数学运算合并为单一的硬件调用，从而减少昂贵的数据搬运开销 。漏斗的底部则是算子实现层，通过对手写 </a:t>
            </a:r>
            <a:r>
              <a:rPr lang="en-US" altLang="zh-CN" dirty="0">
                <a:effectLst/>
                <a:latin typeface="Google Sans Text"/>
              </a:rPr>
              <a:t>Kernel </a:t>
            </a:r>
            <a:r>
              <a:rPr lang="zh-CN" altLang="en-US" dirty="0">
                <a:effectLst/>
                <a:latin typeface="Google Sans Text"/>
              </a:rPr>
              <a:t>的极致调优，利用硬件特定的指令集（如张量核心 </a:t>
            </a:r>
            <a:r>
              <a:rPr lang="en-US" altLang="zh-CN" dirty="0">
                <a:effectLst/>
                <a:latin typeface="Google Sans Text"/>
              </a:rPr>
              <a:t>Tensor Core </a:t>
            </a:r>
            <a:r>
              <a:rPr lang="zh-CN" altLang="en-US" dirty="0">
                <a:effectLst/>
                <a:latin typeface="Google Sans Text"/>
              </a:rPr>
              <a:t>或向量单元）实现峰值吞吐 。</a:t>
            </a:r>
          </a:p>
          <a:p>
            <a:r>
              <a:rPr lang="zh-CN" altLang="en-US" dirty="0">
                <a:effectLst/>
                <a:latin typeface="Google Sans Text"/>
              </a:rPr>
              <a:t>这种协同不仅是正向的，更包含关键的逆向反馈机制。底层硬件的存储层次结构（如 </a:t>
            </a:r>
            <a:r>
              <a:rPr lang="en-US" altLang="zh-CN" dirty="0">
                <a:effectLst/>
                <a:latin typeface="Google Sans Text"/>
              </a:rPr>
              <a:t>HBM </a:t>
            </a:r>
            <a:r>
              <a:rPr lang="zh-CN" altLang="en-US" dirty="0">
                <a:effectLst/>
                <a:latin typeface="Google Sans Text"/>
              </a:rPr>
              <a:t>带宽、片上 </a:t>
            </a:r>
            <a:r>
              <a:rPr lang="en-US" altLang="zh-CN" dirty="0">
                <a:effectLst/>
                <a:latin typeface="Google Sans Text"/>
              </a:rPr>
              <a:t>SRAM </a:t>
            </a:r>
            <a:r>
              <a:rPr lang="zh-CN" altLang="en-US" dirty="0">
                <a:effectLst/>
                <a:latin typeface="Google Sans Text"/>
              </a:rPr>
              <a:t>大小）会反过来制约算子的分块（</a:t>
            </a:r>
            <a:r>
              <a:rPr lang="en-US" altLang="zh-CN" dirty="0">
                <a:effectLst/>
                <a:latin typeface="Google Sans Text"/>
              </a:rPr>
              <a:t>Tiling</a:t>
            </a:r>
            <a:r>
              <a:rPr lang="zh-CN" altLang="en-US" dirty="0">
                <a:effectLst/>
                <a:latin typeface="Google Sans Text"/>
              </a:rPr>
              <a:t>）策略，并最终影响算法层对块大小（</a:t>
            </a:r>
            <a:r>
              <a:rPr lang="en-US" altLang="zh-CN" dirty="0">
                <a:effectLst/>
                <a:latin typeface="Google Sans Text"/>
              </a:rPr>
              <a:t>Block Size</a:t>
            </a:r>
            <a:r>
              <a:rPr lang="zh-CN" altLang="en-US" dirty="0">
                <a:effectLst/>
                <a:latin typeface="Google Sans Text"/>
              </a:rPr>
              <a:t>）或量化精度的选择 。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社区倡导的“模型</a:t>
            </a:r>
            <a:r>
              <a:rPr lang="en-US" altLang="zh-CN" dirty="0">
                <a:effectLst/>
                <a:latin typeface="Google Sans Text"/>
              </a:rPr>
              <a:t>-</a:t>
            </a:r>
            <a:r>
              <a:rPr lang="zh-CN" altLang="en-US" dirty="0">
                <a:effectLst/>
                <a:latin typeface="Google Sans Text"/>
              </a:rPr>
              <a:t>系统</a:t>
            </a:r>
            <a:r>
              <a:rPr lang="en-US" altLang="zh-CN" dirty="0">
                <a:effectLst/>
                <a:latin typeface="Google Sans Text"/>
              </a:rPr>
              <a:t>-</a:t>
            </a:r>
            <a:r>
              <a:rPr lang="zh-CN" altLang="en-US" dirty="0">
                <a:effectLst/>
                <a:latin typeface="Google Sans Text"/>
              </a:rPr>
              <a:t>芯片”三层开放技术生态，正是基于这一设计理念，旨在实现“一次开发，跨芯迁移”的高效工作流，打破不同芯片软件栈之间的生态隔阂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大模型推理面临的“内存墙”与“计算墙”</a:t>
            </a:r>
          </a:p>
          <a:p>
            <a:r>
              <a:rPr lang="zh-CN" altLang="en-US" dirty="0">
                <a:effectLst/>
                <a:latin typeface="Google Sans Text"/>
              </a:rPr>
              <a:t>当前大模型推理主要面临双重物理制约：内存墙（</a:t>
            </a:r>
            <a:r>
              <a:rPr lang="en-US" altLang="zh-CN" dirty="0">
                <a:effectLst/>
                <a:latin typeface="Google Sans Text"/>
              </a:rPr>
              <a:t>Memory Wall</a:t>
            </a:r>
            <a:r>
              <a:rPr lang="zh-CN" altLang="en-US" dirty="0">
                <a:effectLst/>
                <a:latin typeface="Google Sans Text"/>
              </a:rPr>
              <a:t>）与计算墙（</a:t>
            </a:r>
            <a:r>
              <a:rPr lang="en-US" altLang="zh-CN" dirty="0">
                <a:effectLst/>
                <a:latin typeface="Google Sans Text"/>
              </a:rPr>
              <a:t>Compute Wall</a:t>
            </a:r>
            <a:r>
              <a:rPr lang="zh-CN" altLang="en-US" dirty="0">
                <a:effectLst/>
                <a:latin typeface="Google Sans Text"/>
              </a:rPr>
              <a:t>）。内存墙是指由于内存带宽增长速度远滞后于处理器算力增长速度，导致模型在解码阶段（</a:t>
            </a:r>
            <a:r>
              <a:rPr lang="en-US" altLang="zh-CN" dirty="0">
                <a:effectLst/>
                <a:latin typeface="Google Sans Text"/>
              </a:rPr>
              <a:t>Decoding Phase</a:t>
            </a:r>
            <a:r>
              <a:rPr lang="zh-CN" altLang="en-US" dirty="0">
                <a:effectLst/>
                <a:latin typeface="Google Sans Text"/>
              </a:rPr>
              <a:t>）大部分时间处于等待数据读取的状态 。在处理长上下文或大规模批处理时，频繁访问外部存储器（如 </a:t>
            </a:r>
            <a:r>
              <a:rPr lang="en-US" altLang="zh-CN" dirty="0">
                <a:effectLst/>
                <a:latin typeface="Google Sans Text"/>
              </a:rPr>
              <a:t>DRAM </a:t>
            </a:r>
            <a:r>
              <a:rPr lang="zh-CN" altLang="en-US" dirty="0">
                <a:effectLst/>
                <a:latin typeface="Google Sans Text"/>
              </a:rPr>
              <a:t>或 </a:t>
            </a:r>
            <a:r>
              <a:rPr lang="en-US" altLang="zh-CN" dirty="0">
                <a:effectLst/>
                <a:latin typeface="Google Sans Text"/>
              </a:rPr>
              <a:t>HBM</a:t>
            </a:r>
            <a:r>
              <a:rPr lang="zh-CN" altLang="en-US" dirty="0">
                <a:effectLst/>
                <a:latin typeface="Google Sans Text"/>
              </a:rPr>
              <a:t>）不仅增加了延迟，更显著拉高了系统功耗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  <a:latin typeface="Google Sans Text"/>
              </a:rPr>
              <a:t>计算墙则通常出现在预填充阶段（</a:t>
            </a:r>
            <a:r>
              <a:rPr lang="en-US" altLang="zh-CN" dirty="0">
                <a:effectLst/>
                <a:latin typeface="Google Sans Text"/>
              </a:rPr>
              <a:t>Prefill Phase</a:t>
            </a:r>
            <a:r>
              <a:rPr lang="zh-CN" altLang="en-US" dirty="0">
                <a:effectLst/>
                <a:latin typeface="Google Sans Text"/>
              </a:rPr>
              <a:t>），此时模型需要并行处理大量输入 </a:t>
            </a:r>
            <a:r>
              <a:rPr lang="en-US" altLang="zh-CN" dirty="0">
                <a:effectLst/>
                <a:latin typeface="Google Sans Text"/>
              </a:rPr>
              <a:t>Token</a:t>
            </a:r>
            <a:r>
              <a:rPr lang="zh-CN" altLang="en-US" dirty="0">
                <a:effectLst/>
                <a:latin typeface="Google Sans Text"/>
              </a:rPr>
              <a:t>，算术强度极高，硬件的峰值浮点运算能力（</a:t>
            </a:r>
            <a:r>
              <a:rPr lang="en-US" altLang="zh-CN" dirty="0">
                <a:effectLst/>
                <a:latin typeface="Google Sans Text"/>
              </a:rPr>
              <a:t>TFLOPS</a:t>
            </a:r>
            <a:r>
              <a:rPr lang="zh-CN" altLang="en-US" dirty="0">
                <a:effectLst/>
                <a:latin typeface="Google Sans Text"/>
              </a:rPr>
              <a:t>）成为主要瓶颈 。端到端优化的核心必要性在于：通过全链路协同，在内存受限时提升缓存复用率以突破内存墙；在计算受限时通过算子并行化与硬件指令优化来填满计算墙。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E3E3E3"/>
                </a:solidFill>
                <a:effectLst/>
                <a:latin typeface="Google Sans Flex"/>
              </a:rPr>
              <a:t>端到端优化的核心必要性在于：通过全链路协同，在内存受限时提升缓存复用率以突破内存墙；在计算受限时通过算子并行化与硬件指令优化来填满计算墙。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模型结构优化：从 </a:t>
            </a:r>
            <a:r>
              <a:rPr lang="en-US" altLang="zh-CN" b="1" dirty="0">
                <a:effectLst/>
                <a:latin typeface="Google Sans"/>
              </a:rPr>
              <a:t>MHA </a:t>
            </a:r>
            <a:r>
              <a:rPr lang="zh-CN" altLang="en-US" b="1" dirty="0">
                <a:effectLst/>
                <a:latin typeface="Google Sans"/>
              </a:rPr>
              <a:t>到 </a:t>
            </a:r>
            <a:r>
              <a:rPr lang="en-US" altLang="zh-CN" b="1" dirty="0">
                <a:effectLst/>
                <a:latin typeface="Google Sans"/>
              </a:rPr>
              <a:t>GQA </a:t>
            </a:r>
            <a:r>
              <a:rPr lang="zh-CN" altLang="en-US" b="1" dirty="0">
                <a:effectLst/>
                <a:latin typeface="Google Sans"/>
              </a:rPr>
              <a:t>与 </a:t>
            </a:r>
            <a:r>
              <a:rPr lang="en-US" altLang="zh-CN" b="1" dirty="0" err="1">
                <a:effectLst/>
                <a:latin typeface="Google Sans"/>
              </a:rPr>
              <a:t>MoE</a:t>
            </a:r>
            <a:endParaRPr lang="en-US" altLang="zh-CN" b="1" dirty="0">
              <a:effectLst/>
              <a:latin typeface="Google Sans"/>
            </a:endParaRPr>
          </a:p>
          <a:p>
            <a:r>
              <a:rPr lang="zh-CN" altLang="en-US" dirty="0">
                <a:effectLst/>
                <a:latin typeface="Google Sans Text"/>
              </a:rPr>
              <a:t>多头注意力机制（</a:t>
            </a:r>
            <a:r>
              <a:rPr lang="en-US" altLang="zh-CN" dirty="0">
                <a:effectLst/>
                <a:latin typeface="Google Sans Text"/>
              </a:rPr>
              <a:t>MHA</a:t>
            </a:r>
            <a:r>
              <a:rPr lang="zh-CN" altLang="en-US" dirty="0">
                <a:effectLst/>
                <a:latin typeface="Google Sans Text"/>
              </a:rPr>
              <a:t>）在长序列处理中会导致巨大的 </a:t>
            </a:r>
            <a:r>
              <a:rPr lang="en-US" altLang="zh-CN" dirty="0">
                <a:effectLst/>
                <a:latin typeface="Google Sans Text"/>
              </a:rPr>
              <a:t>Key-Value</a:t>
            </a:r>
            <a:r>
              <a:rPr lang="zh-CN" altLang="en-US" dirty="0">
                <a:effectLst/>
                <a:latin typeface="Google Sans Text"/>
              </a:rPr>
              <a:t>（</a:t>
            </a:r>
            <a:r>
              <a:rPr lang="en-US" altLang="zh-CN" dirty="0">
                <a:effectLst/>
                <a:latin typeface="Google Sans Text"/>
              </a:rPr>
              <a:t>KV</a:t>
            </a:r>
            <a:r>
              <a:rPr lang="zh-CN" altLang="en-US" dirty="0">
                <a:effectLst/>
                <a:latin typeface="Google Sans Text"/>
              </a:rPr>
              <a:t>）缓存开销，严重占据显存并限制批处理大小。为了缓解这一瓶颈，多查询注意力（</a:t>
            </a:r>
            <a:r>
              <a:rPr lang="en-US" altLang="zh-CN" dirty="0">
                <a:effectLst/>
                <a:latin typeface="Google Sans Text"/>
              </a:rPr>
              <a:t>MQA</a:t>
            </a:r>
            <a:r>
              <a:rPr lang="zh-CN" altLang="en-US" dirty="0">
                <a:effectLst/>
                <a:latin typeface="Google Sans Text"/>
              </a:rPr>
              <a:t>）和分组查询注意力（</a:t>
            </a:r>
            <a:r>
              <a:rPr lang="en-US" altLang="zh-CN" dirty="0">
                <a:effectLst/>
                <a:latin typeface="Google Sans Text"/>
              </a:rPr>
              <a:t>GQA</a:t>
            </a:r>
            <a:r>
              <a:rPr lang="zh-CN" altLang="en-US" dirty="0">
                <a:effectLst/>
                <a:latin typeface="Google Sans Text"/>
              </a:rPr>
              <a:t>）通过共享 </a:t>
            </a:r>
            <a:r>
              <a:rPr lang="en-US" altLang="zh-CN" dirty="0">
                <a:effectLst/>
                <a:latin typeface="Google Sans Text"/>
              </a:rPr>
              <a:t>Key </a:t>
            </a:r>
            <a:r>
              <a:rPr lang="zh-CN" altLang="en-US" dirty="0">
                <a:effectLst/>
                <a:latin typeface="Google Sans Text"/>
              </a:rPr>
              <a:t>和 </a:t>
            </a:r>
            <a:r>
              <a:rPr lang="en-US" altLang="zh-CN" dirty="0">
                <a:effectLst/>
                <a:latin typeface="Google Sans Text"/>
              </a:rPr>
              <a:t>Value </a:t>
            </a:r>
            <a:r>
              <a:rPr lang="zh-CN" altLang="en-US" dirty="0">
                <a:effectLst/>
                <a:latin typeface="Google Sans Text"/>
              </a:rPr>
              <a:t>向量，显著降低了显存带宽的需求。</a:t>
            </a:r>
            <a:r>
              <a:rPr lang="en-US" altLang="zh-CN" dirty="0">
                <a:effectLst/>
                <a:latin typeface="Google Sans Text"/>
              </a:rPr>
              <a:t>GQA </a:t>
            </a:r>
            <a:r>
              <a:rPr lang="zh-CN" altLang="en-US" dirty="0">
                <a:effectLst/>
                <a:latin typeface="Google Sans Text"/>
              </a:rPr>
              <a:t>在维持模型表现力与减少 </a:t>
            </a:r>
            <a:r>
              <a:rPr lang="en-US" altLang="zh-CN" dirty="0">
                <a:effectLst/>
                <a:latin typeface="Google Sans Text"/>
              </a:rPr>
              <a:t>KV </a:t>
            </a:r>
            <a:r>
              <a:rPr lang="zh-CN" altLang="en-US" dirty="0">
                <a:effectLst/>
                <a:latin typeface="Google Sans Text"/>
              </a:rPr>
              <a:t>缓存之间找到了平衡点，使端到端推理吞吐量得到了显著提升 。</a:t>
            </a:r>
          </a:p>
          <a:p>
            <a:r>
              <a:rPr lang="zh-CN" altLang="en-US" dirty="0">
                <a:effectLst/>
                <a:latin typeface="Google Sans Text"/>
              </a:rPr>
              <a:t>混合专家模型（</a:t>
            </a:r>
            <a:r>
              <a:rPr lang="en-US" altLang="zh-CN" dirty="0" err="1">
                <a:effectLst/>
                <a:latin typeface="Google Sans Text"/>
              </a:rPr>
              <a:t>MoE</a:t>
            </a:r>
            <a:r>
              <a:rPr lang="zh-CN" altLang="en-US" dirty="0">
                <a:effectLst/>
                <a:latin typeface="Google Sans Text"/>
              </a:rPr>
              <a:t>）架构对计算图产生了更为深刻的影响。</a:t>
            </a:r>
            <a:r>
              <a:rPr lang="en-US" altLang="zh-CN" dirty="0" err="1">
                <a:effectLst/>
                <a:latin typeface="Google Sans Text"/>
              </a:rPr>
              <a:t>MoE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通过门控网络动态激活部分参数（专家），在保持巨量参数空间的同时降低了单次推理的活跃计算量。然而，</a:t>
            </a:r>
            <a:r>
              <a:rPr lang="en-US" altLang="zh-CN" dirty="0" err="1">
                <a:effectLst/>
                <a:latin typeface="Google Sans Text"/>
              </a:rPr>
              <a:t>MoE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引入了动态路由（</a:t>
            </a:r>
            <a:r>
              <a:rPr lang="en-US" altLang="zh-CN" dirty="0">
                <a:effectLst/>
                <a:latin typeface="Google Sans Text"/>
              </a:rPr>
              <a:t>Routing</a:t>
            </a:r>
            <a:r>
              <a:rPr lang="zh-CN" altLang="en-US" dirty="0">
                <a:effectLst/>
                <a:latin typeface="Google Sans Text"/>
              </a:rPr>
              <a:t>）和不规则的存储访问模式，这对底层的计算掩盖和通信调度提出了更高要求 。在 </a:t>
            </a:r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生态中，针对 </a:t>
            </a:r>
            <a:r>
              <a:rPr lang="en-US" altLang="zh-CN" dirty="0">
                <a:effectLst/>
                <a:latin typeface="Google Sans Text"/>
              </a:rPr>
              <a:t>DeepSeek-V3 </a:t>
            </a:r>
            <a:r>
              <a:rPr lang="zh-CN" altLang="en-US" dirty="0">
                <a:effectLst/>
                <a:latin typeface="Google Sans Text"/>
              </a:rPr>
              <a:t>等 </a:t>
            </a:r>
            <a:r>
              <a:rPr lang="en-US" altLang="zh-CN" dirty="0" err="1">
                <a:effectLst/>
                <a:latin typeface="Google Sans Text"/>
              </a:rPr>
              <a:t>MoE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模型，开发者通过优化的并行策略实现了跨芯片的异构预训练与推理支持，确保了专家调度与计算内核的高效协同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量化与稀疏化：算子实现的依赖性</a:t>
            </a:r>
          </a:p>
          <a:p>
            <a:r>
              <a:rPr lang="zh-CN" altLang="en-US" dirty="0">
                <a:effectLst/>
                <a:latin typeface="Google Sans Text"/>
              </a:rPr>
              <a:t>量化（</a:t>
            </a:r>
            <a:r>
              <a:rPr lang="en-US" altLang="zh-CN" dirty="0">
                <a:effectLst/>
                <a:latin typeface="Google Sans Text"/>
              </a:rPr>
              <a:t>Quantization</a:t>
            </a:r>
            <a:r>
              <a:rPr lang="zh-CN" altLang="en-US" dirty="0">
                <a:effectLst/>
                <a:latin typeface="Google Sans Text"/>
              </a:rPr>
              <a:t>）技术将模型权重和激活从高精度的 </a:t>
            </a:r>
            <a:r>
              <a:rPr lang="en-US" altLang="zh-CN" dirty="0">
                <a:effectLst/>
                <a:latin typeface="Google Sans Text"/>
              </a:rPr>
              <a:t>FP16/BF16 </a:t>
            </a:r>
            <a:r>
              <a:rPr lang="zh-CN" altLang="en-US" dirty="0">
                <a:effectLst/>
                <a:latin typeface="Google Sans Text"/>
              </a:rPr>
              <a:t>转换为低精度的 </a:t>
            </a:r>
            <a:r>
              <a:rPr lang="en-US" altLang="zh-CN" dirty="0">
                <a:effectLst/>
                <a:latin typeface="Google Sans Text"/>
              </a:rPr>
              <a:t>INT8</a:t>
            </a:r>
            <a:r>
              <a:rPr lang="zh-CN" altLang="en-US" dirty="0">
                <a:effectLst/>
                <a:latin typeface="Google Sans Text"/>
              </a:rPr>
              <a:t>、</a:t>
            </a:r>
            <a:r>
              <a:rPr lang="en-US" altLang="zh-CN" dirty="0">
                <a:effectLst/>
                <a:latin typeface="Google Sans Text"/>
              </a:rPr>
              <a:t>INT4 </a:t>
            </a:r>
            <a:r>
              <a:rPr lang="zh-CN" altLang="en-US" dirty="0">
                <a:effectLst/>
                <a:latin typeface="Google Sans Text"/>
              </a:rPr>
              <a:t>甚至 </a:t>
            </a:r>
            <a:r>
              <a:rPr lang="en-US" altLang="zh-CN" dirty="0">
                <a:effectLst/>
                <a:latin typeface="Google Sans Text"/>
              </a:rPr>
              <a:t>FP8</a:t>
            </a:r>
            <a:r>
              <a:rPr lang="zh-CN" altLang="en-US" dirty="0">
                <a:effectLst/>
                <a:latin typeface="Google Sans Text"/>
              </a:rPr>
              <a:t>，从而直接压缩模型体积并降低带宽需求 。然而，量化的收益高度依赖于底层算子对低位宽计算的支持。例如，</a:t>
            </a:r>
            <a:r>
              <a:rPr lang="en-US" altLang="zh-CN" dirty="0">
                <a:effectLst/>
                <a:latin typeface="Google Sans Text"/>
              </a:rPr>
              <a:t>INT4 </a:t>
            </a:r>
            <a:r>
              <a:rPr lang="zh-CN" altLang="en-US" dirty="0">
                <a:effectLst/>
                <a:latin typeface="Google Sans Text"/>
              </a:rPr>
              <a:t>量化若缺乏高效的 </a:t>
            </a:r>
            <a:r>
              <a:rPr lang="en-US" altLang="zh-CN" dirty="0">
                <a:effectLst/>
                <a:latin typeface="Google Sans Text"/>
              </a:rPr>
              <a:t>Fused </a:t>
            </a:r>
            <a:r>
              <a:rPr lang="en-US" altLang="zh-CN" dirty="0" err="1">
                <a:effectLst/>
                <a:latin typeface="Google Sans Text"/>
              </a:rPr>
              <a:t>Dequant</a:t>
            </a:r>
            <a:r>
              <a:rPr lang="en-US" altLang="zh-CN" dirty="0">
                <a:effectLst/>
                <a:latin typeface="Google Sans Text"/>
              </a:rPr>
              <a:t>-GEMM</a:t>
            </a:r>
            <a:r>
              <a:rPr lang="zh-CN" altLang="en-US" dirty="0">
                <a:effectLst/>
                <a:latin typeface="Google Sans Text"/>
              </a:rPr>
              <a:t>（融合解量化矩阵乘）算子，其在 </a:t>
            </a:r>
            <a:r>
              <a:rPr lang="en-US" altLang="zh-CN" dirty="0">
                <a:effectLst/>
                <a:latin typeface="Google Sans Text"/>
              </a:rPr>
              <a:t>CPU </a:t>
            </a:r>
            <a:r>
              <a:rPr lang="zh-CN" altLang="en-US" dirty="0">
                <a:effectLst/>
                <a:latin typeface="Google Sans Text"/>
              </a:rPr>
              <a:t>端的解包开销可能会抵消访存节省带来的增益 。</a:t>
            </a:r>
          </a:p>
          <a:p>
            <a:r>
              <a:rPr lang="zh-CN" altLang="en-US" dirty="0">
                <a:effectLst/>
                <a:latin typeface="Google Sans Text"/>
              </a:rPr>
              <a:t>稀疏化（</a:t>
            </a:r>
            <a:r>
              <a:rPr lang="en-US" altLang="zh-CN" dirty="0" err="1">
                <a:effectLst/>
                <a:latin typeface="Google Sans Text"/>
              </a:rPr>
              <a:t>Sparsification</a:t>
            </a:r>
            <a:r>
              <a:rPr lang="zh-CN" altLang="en-US" dirty="0">
                <a:effectLst/>
                <a:latin typeface="Google Sans Text"/>
              </a:rPr>
              <a:t>）则通过剔除冗余参数来进一步减少计算量。无论是结构化稀疏还是非结构化稀疏，都需要底层硬件与编译器层面的配合，以处理稀疏矩阵的索引开销 。这些算法层面的改动，实质上是在重塑计算任务的微观特征，为后续各层的优化指明了方向。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第二层：编译器级优化策略</a:t>
            </a:r>
          </a:p>
          <a:p>
            <a:r>
              <a:rPr lang="zh-CN" altLang="en-US" dirty="0">
                <a:effectLst/>
                <a:latin typeface="Google Sans Text"/>
              </a:rPr>
              <a:t>编译器层是算法逻辑向机器码转化的关键节点。其任务是在不改变算法语义的前提下，最大限度地减少冗余操作和非必要的内存读写。</a:t>
            </a:r>
          </a:p>
          <a:p>
            <a:r>
              <a:rPr lang="zh-CN" altLang="en-US" b="1" dirty="0">
                <a:effectLst/>
                <a:latin typeface="Google Sans"/>
              </a:rPr>
              <a:t>计算图级优化：算子融合与代码消除</a:t>
            </a:r>
          </a:p>
          <a:p>
            <a:r>
              <a:rPr lang="zh-CN" altLang="en-US" dirty="0">
                <a:effectLst/>
                <a:latin typeface="Google Sans Text"/>
              </a:rPr>
              <a:t>计算图优化专注于宏观算术逻辑的重组。算子融合（</a:t>
            </a:r>
            <a:r>
              <a:rPr lang="en-US" altLang="zh-CN" dirty="0">
                <a:effectLst/>
                <a:latin typeface="Google Sans Text"/>
              </a:rPr>
              <a:t>Operator Fusion</a:t>
            </a:r>
            <a:r>
              <a:rPr lang="zh-CN" altLang="en-US" dirty="0">
                <a:effectLst/>
                <a:latin typeface="Google Sans Text"/>
              </a:rPr>
              <a:t>）是最核心的技术之一，它将相邻的 </a:t>
            </a:r>
            <a:r>
              <a:rPr lang="en-US" altLang="zh-CN" dirty="0">
                <a:effectLst/>
                <a:latin typeface="Google Sans Text"/>
              </a:rPr>
              <a:t>Pointwise </a:t>
            </a:r>
            <a:r>
              <a:rPr lang="zh-CN" altLang="en-US" dirty="0">
                <a:effectLst/>
                <a:latin typeface="Google Sans Text"/>
              </a:rPr>
              <a:t>操作（如 </a:t>
            </a:r>
            <a:r>
              <a:rPr lang="en-US" altLang="zh-CN" dirty="0">
                <a:effectLst/>
                <a:latin typeface="Google Sans Text"/>
              </a:rPr>
              <a:t>Add, Mul, Sigmoid</a:t>
            </a:r>
            <a:r>
              <a:rPr lang="zh-CN" altLang="en-US" dirty="0">
                <a:effectLst/>
                <a:latin typeface="Google Sans Text"/>
              </a:rPr>
              <a:t>）或 </a:t>
            </a:r>
            <a:r>
              <a:rPr lang="en-US" altLang="zh-CN" dirty="0">
                <a:effectLst/>
                <a:latin typeface="Google Sans Text"/>
              </a:rPr>
              <a:t>Reduce </a:t>
            </a:r>
            <a:r>
              <a:rPr lang="zh-CN" altLang="en-US" dirty="0">
                <a:effectLst/>
                <a:latin typeface="Google Sans Text"/>
              </a:rPr>
              <a:t>操作合并为一个单 </a:t>
            </a:r>
            <a:r>
              <a:rPr lang="en-US" altLang="zh-CN" dirty="0">
                <a:effectLst/>
                <a:latin typeface="Google Sans Text"/>
              </a:rPr>
              <a:t>Kernel </a:t>
            </a:r>
            <a:r>
              <a:rPr lang="zh-CN" altLang="en-US" dirty="0">
                <a:effectLst/>
                <a:latin typeface="Google Sans Text"/>
              </a:rPr>
              <a:t>执行。这种融合避免了将中间结果写回主存的昂贵代价，将数据保留在寄存器或 </a:t>
            </a:r>
            <a:r>
              <a:rPr lang="en-US" altLang="zh-CN" dirty="0">
                <a:effectLst/>
                <a:latin typeface="Google Sans Text"/>
              </a:rPr>
              <a:t>L1/L2 </a:t>
            </a:r>
            <a:r>
              <a:rPr lang="zh-CN" altLang="en-US" dirty="0">
                <a:effectLst/>
                <a:latin typeface="Google Sans Text"/>
              </a:rPr>
              <a:t>缓存中，极大提升了访存密集型（</a:t>
            </a:r>
            <a:r>
              <a:rPr lang="en-US" altLang="zh-CN" dirty="0">
                <a:effectLst/>
                <a:latin typeface="Google Sans Text"/>
              </a:rPr>
              <a:t>Memory-bound</a:t>
            </a:r>
            <a:r>
              <a:rPr lang="zh-CN" altLang="en-US" dirty="0">
                <a:effectLst/>
                <a:latin typeface="Google Sans Text"/>
              </a:rPr>
              <a:t>）任务的执行速度 。</a:t>
            </a:r>
          </a:p>
          <a:p>
            <a:r>
              <a:rPr lang="zh-CN" altLang="en-US" dirty="0">
                <a:effectLst/>
                <a:latin typeface="Google Sans Text"/>
              </a:rPr>
              <a:t>此外，常量折叠（</a:t>
            </a:r>
            <a:r>
              <a:rPr lang="en-US" altLang="zh-CN" dirty="0">
                <a:effectLst/>
                <a:latin typeface="Google Sans Text"/>
              </a:rPr>
              <a:t>Constant Folding</a:t>
            </a:r>
            <a:r>
              <a:rPr lang="zh-CN" altLang="en-US" dirty="0">
                <a:effectLst/>
                <a:latin typeface="Google Sans Text"/>
              </a:rPr>
              <a:t>）在编译阶段预先计算静态子图，死代码消除（</a:t>
            </a:r>
            <a:r>
              <a:rPr lang="en-US" altLang="zh-CN" dirty="0">
                <a:effectLst/>
                <a:latin typeface="Google Sans Text"/>
              </a:rPr>
              <a:t>Dead Code Elimination</a:t>
            </a:r>
            <a:r>
              <a:rPr lang="zh-CN" altLang="en-US" dirty="0">
                <a:effectLst/>
                <a:latin typeface="Google Sans Text"/>
              </a:rPr>
              <a:t>）则移除不影响最终输出的冗余计算分支。</a:t>
            </a:r>
            <a:r>
              <a:rPr lang="en-US" altLang="zh-CN" dirty="0" err="1">
                <a:effectLst/>
                <a:latin typeface="Google Sans Text"/>
              </a:rPr>
              <a:t>FlagTree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作为一个统一的 </a:t>
            </a:r>
            <a:r>
              <a:rPr lang="en-US" altLang="zh-CN" dirty="0">
                <a:effectLst/>
                <a:latin typeface="Google Sans Text"/>
              </a:rPr>
              <a:t>AI </a:t>
            </a:r>
            <a:r>
              <a:rPr lang="zh-CN" altLang="en-US" dirty="0">
                <a:effectLst/>
                <a:latin typeface="Google Sans Text"/>
              </a:rPr>
              <a:t>芯片编译器框架，能够针对多种后端（如 </a:t>
            </a:r>
            <a:r>
              <a:rPr lang="en-US" altLang="zh-CN" dirty="0">
                <a:effectLst/>
                <a:latin typeface="Google Sans Text"/>
              </a:rPr>
              <a:t>NVIDIA, Huawei Ascend, Moore Threads </a:t>
            </a:r>
            <a:r>
              <a:rPr lang="zh-CN" altLang="en-US" dirty="0">
                <a:effectLst/>
                <a:latin typeface="Google Sans Text"/>
              </a:rPr>
              <a:t>等）生成高度优化的中间表示（</a:t>
            </a:r>
            <a:r>
              <a:rPr lang="en-US" altLang="zh-CN" dirty="0">
                <a:effectLst/>
                <a:latin typeface="Google Sans Text"/>
              </a:rPr>
              <a:t>FLIR</a:t>
            </a:r>
            <a:r>
              <a:rPr lang="zh-CN" altLang="en-US" dirty="0">
                <a:effectLst/>
                <a:latin typeface="Google Sans Text"/>
              </a:rPr>
              <a:t>），并结合“</a:t>
            </a:r>
            <a:r>
              <a:rPr lang="en-US" altLang="zh-CN" dirty="0" err="1">
                <a:effectLst/>
                <a:latin typeface="Google Sans Text"/>
              </a:rPr>
              <a:t>flagtree_hints</a:t>
            </a:r>
            <a:r>
              <a:rPr lang="en-US" altLang="zh-CN" dirty="0">
                <a:effectLst/>
                <a:latin typeface="Google Sans Text"/>
              </a:rPr>
              <a:t>”</a:t>
            </a:r>
            <a:r>
              <a:rPr lang="zh-CN" altLang="en-US" dirty="0">
                <a:effectLst/>
                <a:latin typeface="Google Sans Text"/>
              </a:rPr>
              <a:t>引导硬件特有的内存管理策略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显存与显存规划优化：显存复用与通信掩盖</a:t>
            </a:r>
          </a:p>
          <a:p>
            <a:r>
              <a:rPr lang="zh-CN" altLang="en-US" dirty="0">
                <a:effectLst/>
                <a:latin typeface="Google Sans Text"/>
              </a:rPr>
              <a:t>显存规划的目标是在有限的 </a:t>
            </a:r>
            <a:r>
              <a:rPr lang="en-US" altLang="zh-CN" dirty="0">
                <a:effectLst/>
                <a:latin typeface="Google Sans Text"/>
              </a:rPr>
              <a:t>HBM </a:t>
            </a:r>
            <a:r>
              <a:rPr lang="zh-CN" altLang="en-US" dirty="0">
                <a:effectLst/>
                <a:latin typeface="Google Sans Text"/>
              </a:rPr>
              <a:t>空间内塞入更大的模型或更高的 </a:t>
            </a:r>
            <a:r>
              <a:rPr lang="en-US" altLang="zh-CN" dirty="0">
                <a:effectLst/>
                <a:latin typeface="Google Sans Text"/>
              </a:rPr>
              <a:t>Batch Size</a:t>
            </a:r>
            <a:r>
              <a:rPr lang="zh-CN" altLang="en-US" dirty="0">
                <a:effectLst/>
                <a:latin typeface="Google Sans Text"/>
              </a:rPr>
              <a:t>。通过静态分析计算图，编译器可以识别张量的生命周期，并对不重叠的张量实施显存复用（</a:t>
            </a:r>
            <a:r>
              <a:rPr lang="en-US" altLang="zh-CN" dirty="0">
                <a:effectLst/>
                <a:latin typeface="Google Sans Text"/>
              </a:rPr>
              <a:t>Memory Reuse</a:t>
            </a:r>
            <a:r>
              <a:rPr lang="zh-CN" altLang="en-US" dirty="0">
                <a:effectLst/>
                <a:latin typeface="Google Sans Text"/>
              </a:rPr>
              <a:t>）。在分布式场景中，通信掩盖（</a:t>
            </a:r>
            <a:r>
              <a:rPr lang="en-US" altLang="zh-CN" dirty="0">
                <a:effectLst/>
                <a:latin typeface="Google Sans Text"/>
              </a:rPr>
              <a:t>Communication Overlapping</a:t>
            </a:r>
            <a:r>
              <a:rPr lang="zh-CN" altLang="en-US" dirty="0">
                <a:effectLst/>
                <a:latin typeface="Google Sans Text"/>
              </a:rPr>
              <a:t>）通过在计算过程中异步启动集体通信（如 </a:t>
            </a:r>
            <a:r>
              <a:rPr lang="en-US" altLang="zh-CN" dirty="0">
                <a:effectLst/>
                <a:latin typeface="Google Sans Text"/>
              </a:rPr>
              <a:t>All-Reduce</a:t>
            </a:r>
            <a:r>
              <a:rPr lang="zh-CN" altLang="en-US" dirty="0">
                <a:effectLst/>
                <a:latin typeface="Google Sans Text"/>
              </a:rPr>
              <a:t>），消除了通信延迟对整体执行时间的直接贡献 。</a:t>
            </a:r>
          </a:p>
          <a:p>
            <a:r>
              <a:rPr lang="en-US" altLang="zh-CN" dirty="0" err="1">
                <a:effectLst/>
                <a:latin typeface="Google Sans Text"/>
              </a:rPr>
              <a:t>FlagCX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通信库在这一层发挥了关键作用。作为一种可扩展且适应性强的统一通信库，</a:t>
            </a:r>
            <a:r>
              <a:rPr lang="en-US" altLang="zh-CN" dirty="0" err="1">
                <a:effectLst/>
                <a:latin typeface="Google Sans Text"/>
              </a:rPr>
              <a:t>FlagCX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支持拓扑自动检测和设备缓冲区的 </a:t>
            </a:r>
            <a:r>
              <a:rPr lang="en-US" altLang="zh-CN" dirty="0">
                <a:effectLst/>
                <a:latin typeface="Google Sans Text"/>
              </a:rPr>
              <a:t>RDMA </a:t>
            </a:r>
            <a:r>
              <a:rPr lang="zh-CN" altLang="en-US" dirty="0">
                <a:effectLst/>
                <a:latin typeface="Google Sans Text"/>
              </a:rPr>
              <a:t>技术，能够优化跨芯片环境下的数据同步效率 。在 </a:t>
            </a:r>
            <a:r>
              <a:rPr lang="en-US" altLang="zh-CN" dirty="0">
                <a:effectLst/>
                <a:latin typeface="Google Sans Text"/>
              </a:rPr>
              <a:t>Megatron-LM-FL </a:t>
            </a:r>
            <a:r>
              <a:rPr lang="zh-CN" altLang="en-US" dirty="0">
                <a:effectLst/>
                <a:latin typeface="Google Sans Text"/>
              </a:rPr>
              <a:t>的分布式实践中，这种通信掩盖机制确保了即便在异构芯片集群中，计算与通信也能保持紧密的流水线协同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算子实现与硬件微结构优化</a:t>
            </a:r>
          </a:p>
          <a:p>
            <a:r>
              <a:rPr lang="zh-CN" altLang="en-US" dirty="0">
                <a:effectLst/>
                <a:latin typeface="Google Sans Text"/>
              </a:rPr>
              <a:t>当优化进入算子实现层，竞争的焦点转变为对硬件指令集和存储层次结构的极致利用。</a:t>
            </a:r>
          </a:p>
          <a:p>
            <a:r>
              <a:rPr lang="zh-CN" altLang="en-US" b="1" dirty="0">
                <a:effectLst/>
                <a:latin typeface="Google Sans"/>
              </a:rPr>
              <a:t>算子级手写与调优：</a:t>
            </a:r>
            <a:r>
              <a:rPr lang="en-US" altLang="zh-CN" b="1" dirty="0">
                <a:effectLst/>
                <a:latin typeface="Google Sans"/>
              </a:rPr>
              <a:t>Kernel </a:t>
            </a:r>
            <a:r>
              <a:rPr lang="zh-CN" altLang="en-US" b="1" dirty="0">
                <a:effectLst/>
                <a:latin typeface="Google Sans"/>
              </a:rPr>
              <a:t>集成全链路</a:t>
            </a:r>
          </a:p>
          <a:p>
            <a:r>
              <a:rPr lang="zh-CN" altLang="en-US" dirty="0">
                <a:effectLst/>
                <a:latin typeface="Google Sans Text"/>
              </a:rPr>
              <a:t>虽然自动化编译技术在快速迭代，但针对大模型中的热点算子（如 </a:t>
            </a:r>
            <a:r>
              <a:rPr lang="en-US" altLang="zh-CN" dirty="0" err="1">
                <a:effectLst/>
                <a:latin typeface="Google Sans Text"/>
              </a:rPr>
              <a:t>LayerNorm</a:t>
            </a:r>
            <a:r>
              <a:rPr lang="en-US" altLang="zh-CN" dirty="0">
                <a:effectLst/>
                <a:latin typeface="Google Sans Text"/>
              </a:rPr>
              <a:t>, </a:t>
            </a:r>
            <a:r>
              <a:rPr lang="en-US" altLang="zh-CN" dirty="0" err="1">
                <a:effectLst/>
                <a:latin typeface="Google Sans Text"/>
              </a:rPr>
              <a:t>Softmax</a:t>
            </a:r>
            <a:r>
              <a:rPr lang="en-US" altLang="zh-CN" dirty="0">
                <a:effectLst/>
                <a:latin typeface="Google Sans Text"/>
              </a:rPr>
              <a:t>, </a:t>
            </a:r>
            <a:r>
              <a:rPr lang="en-US" altLang="zh-CN" dirty="0" err="1">
                <a:effectLst/>
                <a:latin typeface="Google Sans Text"/>
              </a:rPr>
              <a:t>RMSNorm</a:t>
            </a:r>
            <a:r>
              <a:rPr lang="zh-CN" altLang="en-US" dirty="0">
                <a:effectLst/>
                <a:latin typeface="Google Sans Text"/>
              </a:rPr>
              <a:t>），手写高性能 </a:t>
            </a:r>
            <a:r>
              <a:rPr lang="en-US" altLang="zh-CN" dirty="0">
                <a:effectLst/>
                <a:latin typeface="Google Sans Text"/>
              </a:rPr>
              <a:t>Kernel </a:t>
            </a:r>
            <a:r>
              <a:rPr lang="zh-CN" altLang="en-US" dirty="0">
                <a:effectLst/>
                <a:latin typeface="Google Sans Text"/>
              </a:rPr>
              <a:t>仍不可或缺。利用 </a:t>
            </a:r>
            <a:r>
              <a:rPr lang="en-US" altLang="zh-CN" dirty="0" err="1">
                <a:effectLst/>
                <a:latin typeface="Google Sans Text"/>
              </a:rPr>
              <a:t>OpenAI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推出的 </a:t>
            </a:r>
            <a:r>
              <a:rPr lang="en-US" altLang="zh-CN" dirty="0">
                <a:effectLst/>
                <a:latin typeface="Google Sans Text"/>
              </a:rPr>
              <a:t>Triton </a:t>
            </a:r>
            <a:r>
              <a:rPr lang="zh-CN" altLang="en-US" dirty="0">
                <a:effectLst/>
                <a:latin typeface="Google Sans Text"/>
              </a:rPr>
              <a:t>语言，开发者可以编写具有高度可读性且性能媲美原生 </a:t>
            </a:r>
            <a:r>
              <a:rPr lang="en-US" altLang="zh-CN" dirty="0">
                <a:effectLst/>
                <a:latin typeface="Google Sans Text"/>
              </a:rPr>
              <a:t>CUDA </a:t>
            </a:r>
            <a:r>
              <a:rPr lang="zh-CN" altLang="en-US" dirty="0">
                <a:effectLst/>
                <a:latin typeface="Google Sans Text"/>
              </a:rPr>
              <a:t>的算子代码 。在端到端链路中，这些调优好的 </a:t>
            </a:r>
            <a:r>
              <a:rPr lang="en-US" altLang="zh-CN" dirty="0">
                <a:effectLst/>
                <a:latin typeface="Google Sans Text"/>
              </a:rPr>
              <a:t>Kernel </a:t>
            </a:r>
            <a:r>
              <a:rPr lang="zh-CN" altLang="en-US" dirty="0">
                <a:effectLst/>
                <a:latin typeface="Google Sans Text"/>
              </a:rPr>
              <a:t>需要通过标准化的 </a:t>
            </a:r>
            <a:r>
              <a:rPr lang="en-US" altLang="zh-CN" dirty="0">
                <a:effectLst/>
                <a:latin typeface="Google Sans Text"/>
              </a:rPr>
              <a:t>API </a:t>
            </a:r>
            <a:r>
              <a:rPr lang="zh-CN" altLang="en-US" dirty="0">
                <a:effectLst/>
                <a:latin typeface="Google Sans Text"/>
              </a:rPr>
              <a:t>集成到上层推理框架中。</a:t>
            </a:r>
          </a:p>
          <a:p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作为高性能通用算子库，提供了大量经过深度调优的 </a:t>
            </a:r>
            <a:r>
              <a:rPr lang="en-US" altLang="zh-CN" dirty="0">
                <a:effectLst/>
                <a:latin typeface="Google Sans Text"/>
              </a:rPr>
              <a:t>Triton </a:t>
            </a:r>
            <a:r>
              <a:rPr lang="zh-CN" altLang="en-US" dirty="0">
                <a:effectLst/>
                <a:latin typeface="Google Sans Text"/>
              </a:rPr>
              <a:t>实现。其核心价值在于“后端中立”的内核集合，能够根据运行时的硬件后端自动派发最优实现 。例如，在复杂的反向传播场景中，</a:t>
            </a:r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提供的 </a:t>
            </a:r>
            <a:r>
              <a:rPr lang="en-US" altLang="zh-CN" dirty="0" err="1">
                <a:effectLst/>
                <a:latin typeface="Google Sans Text"/>
              </a:rPr>
              <a:t>gather_backward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等算子极大缓解了训练过程中的性能瓶颈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>
                <a:effectLst/>
                <a:latin typeface="Google Sans"/>
              </a:rPr>
              <a:t>FlagGems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算子库的设计理念及其作用</a:t>
            </a:r>
          </a:p>
          <a:p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的设计理念主要围绕“无缝替换”和“高效运行时”展开。它通过覆盖重写 </a:t>
            </a:r>
            <a:r>
              <a:rPr lang="en-US" altLang="zh-CN" dirty="0" err="1">
                <a:effectLst/>
                <a:latin typeface="Google Sans Text"/>
              </a:rPr>
              <a:t>PyTorch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 </a:t>
            </a:r>
            <a:r>
              <a:rPr lang="en-US" altLang="zh-CN" dirty="0" err="1">
                <a:effectLst/>
                <a:latin typeface="Google Sans Text"/>
              </a:rPr>
              <a:t>ATen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算子，使得模型开发者无需修改底层代码，仅通过一行 </a:t>
            </a:r>
            <a:r>
              <a:rPr lang="en-US" altLang="zh-CN" dirty="0" err="1">
                <a:effectLst/>
                <a:latin typeface="Google Sans Text"/>
              </a:rPr>
              <a:t>flag_gems.enable</a:t>
            </a:r>
            <a:r>
              <a:rPr lang="en-US" altLang="zh-CN" dirty="0">
                <a:effectLst/>
                <a:latin typeface="Google Sans Text"/>
              </a:rPr>
              <a:t>() </a:t>
            </a:r>
            <a:r>
              <a:rPr lang="zh-CN" altLang="en-US" dirty="0">
                <a:effectLst/>
                <a:latin typeface="Google Sans Text"/>
              </a:rPr>
              <a:t>即可切换到高性能 </a:t>
            </a:r>
            <a:r>
              <a:rPr lang="en-US" altLang="zh-CN" dirty="0">
                <a:effectLst/>
                <a:latin typeface="Google Sans Text"/>
              </a:rPr>
              <a:t>Triton </a:t>
            </a:r>
            <a:r>
              <a:rPr lang="zh-CN" altLang="en-US" dirty="0">
                <a:effectLst/>
                <a:latin typeface="Google Sans Text"/>
              </a:rPr>
              <a:t>算子库 。</a:t>
            </a:r>
          </a:p>
          <a:p>
            <a:r>
              <a:rPr lang="zh-CN" altLang="en-US" dirty="0">
                <a:effectLst/>
                <a:latin typeface="Google Sans Text"/>
              </a:rPr>
              <a:t>为了解决 </a:t>
            </a:r>
            <a:r>
              <a:rPr lang="en-US" altLang="zh-CN" dirty="0">
                <a:effectLst/>
                <a:latin typeface="Google Sans Text"/>
              </a:rPr>
              <a:t>Triton </a:t>
            </a:r>
            <a:r>
              <a:rPr lang="zh-CN" altLang="en-US" dirty="0">
                <a:effectLst/>
                <a:latin typeface="Google Sans Text"/>
              </a:rPr>
              <a:t>运行时由于复杂的装饰器（如 </a:t>
            </a:r>
            <a:r>
              <a:rPr lang="en-US" altLang="zh-CN" dirty="0" err="1">
                <a:effectLst/>
                <a:latin typeface="Google Sans Text"/>
              </a:rPr>
              <a:t>Autotuner</a:t>
            </a:r>
            <a:r>
              <a:rPr lang="zh-CN" altLang="en-US" dirty="0">
                <a:effectLst/>
                <a:latin typeface="Google Sans Text"/>
              </a:rPr>
              <a:t>）带来的 </a:t>
            </a:r>
            <a:r>
              <a:rPr lang="en-US" altLang="zh-CN" dirty="0">
                <a:effectLst/>
                <a:latin typeface="Google Sans Text"/>
              </a:rPr>
              <a:t>CPU </a:t>
            </a:r>
            <a:r>
              <a:rPr lang="zh-CN" altLang="en-US" dirty="0">
                <a:effectLst/>
                <a:latin typeface="Google Sans Text"/>
              </a:rPr>
              <a:t>端侧开销，</a:t>
            </a:r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创新性地引入了 </a:t>
            </a:r>
            <a:r>
              <a:rPr lang="en-US" altLang="zh-CN" dirty="0" err="1">
                <a:effectLst/>
                <a:latin typeface="Google Sans Text"/>
              </a:rPr>
              <a:t>LibEntry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机制。该机制通过独立维护的缓存绕过多层调用，将算子执行的 </a:t>
            </a:r>
            <a:r>
              <a:rPr lang="en-US" altLang="zh-CN" dirty="0">
                <a:effectLst/>
                <a:latin typeface="Google Sans Text"/>
              </a:rPr>
              <a:t>CPU </a:t>
            </a:r>
            <a:r>
              <a:rPr lang="zh-CN" altLang="en-US" dirty="0">
                <a:effectLst/>
                <a:latin typeface="Google Sans Text"/>
              </a:rPr>
              <a:t>耗时降低了约 </a:t>
            </a:r>
            <a:r>
              <a:rPr lang="en-US" altLang="zh-CN" dirty="0">
                <a:effectLst/>
                <a:latin typeface="Google Sans Text"/>
              </a:rPr>
              <a:t>70%</a:t>
            </a:r>
            <a:r>
              <a:rPr lang="zh-CN" altLang="en-US" dirty="0">
                <a:effectLst/>
                <a:latin typeface="Google Sans Text"/>
              </a:rPr>
              <a:t>，确保了在处理小规模算子时也能达到与原生 </a:t>
            </a:r>
            <a:r>
              <a:rPr lang="en-US" altLang="zh-CN" dirty="0" err="1">
                <a:effectLst/>
                <a:latin typeface="Google Sans Text"/>
              </a:rPr>
              <a:t>ATen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相当的效率 。此外，</a:t>
            </a:r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支持自动化的 </a:t>
            </a:r>
            <a:r>
              <a:rPr lang="en-US" altLang="zh-CN" dirty="0">
                <a:effectLst/>
                <a:latin typeface="Google Sans Text"/>
              </a:rPr>
              <a:t>Pointwise </a:t>
            </a:r>
            <a:r>
              <a:rPr lang="zh-CN" altLang="en-US" dirty="0">
                <a:effectLst/>
                <a:latin typeface="Google Sans Text"/>
              </a:rPr>
              <a:t>代码生成，能够灵活处理非连续张量和多种输入类型，大幅提升了算子开发的覆盖面和通用性 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智算生态引入：</a:t>
            </a:r>
            <a:r>
              <a:rPr lang="en-US" altLang="zh-CN" b="1" dirty="0" err="1">
                <a:effectLst/>
                <a:latin typeface="Google Sans"/>
              </a:rPr>
              <a:t>FlagOS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与 </a:t>
            </a:r>
            <a:r>
              <a:rPr lang="en-US" altLang="zh-CN" b="1" dirty="0" err="1">
                <a:effectLst/>
                <a:latin typeface="Google Sans"/>
              </a:rPr>
              <a:t>FlagScale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协同</a:t>
            </a:r>
          </a:p>
          <a:p>
            <a:r>
              <a:rPr lang="zh-CN" altLang="en-US" dirty="0">
                <a:effectLst/>
                <a:latin typeface="Google Sans Text"/>
              </a:rPr>
              <a:t>性能优化不再是孤立的代码改进，而是一场生态级别的协同。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提供了一个统一的异构计算软件栈，将模型、系统与芯片层紧密联结 。</a:t>
            </a:r>
          </a:p>
          <a:p>
            <a:r>
              <a:rPr lang="en-US" altLang="zh-CN" b="1" dirty="0" err="1">
                <a:effectLst/>
                <a:latin typeface="Google Sans"/>
              </a:rPr>
              <a:t>FlagScale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的系统定位：全生命周期加速</a:t>
            </a:r>
          </a:p>
          <a:p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被定位为一个支持大模型全生命周期的综合工具包，涵盖开发、训练、微调与部署 。其核心目标是在保障跨架构迁移能力的同时，最大化硬件计算资源的利用效率。</a:t>
            </a:r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并不重造轮子，而是基于 </a:t>
            </a:r>
            <a:r>
              <a:rPr lang="en-US" altLang="zh-CN" dirty="0">
                <a:effectLst/>
                <a:latin typeface="Google Sans Text"/>
              </a:rPr>
              <a:t>Megatron-LM</a:t>
            </a:r>
            <a:r>
              <a:rPr lang="zh-CN" altLang="en-US" dirty="0">
                <a:effectLst/>
                <a:latin typeface="Google Sans Text"/>
              </a:rPr>
              <a:t>、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等成熟开源项目进行深度定制，形成针对异构芯片优化的 </a:t>
            </a:r>
            <a:r>
              <a:rPr lang="en-US" altLang="zh-CN" dirty="0">
                <a:effectLst/>
                <a:latin typeface="Google Sans Text"/>
              </a:rPr>
              <a:t>FL</a:t>
            </a:r>
            <a:r>
              <a:rPr lang="zh-CN" altLang="en-US" dirty="0">
                <a:effectLst/>
                <a:latin typeface="Google Sans Text"/>
              </a:rPr>
              <a:t>（</a:t>
            </a:r>
            <a:r>
              <a:rPr lang="en-US" altLang="zh-CN" dirty="0" err="1">
                <a:effectLst/>
                <a:latin typeface="Google Sans Text"/>
              </a:rPr>
              <a:t>FlagOpen</a:t>
            </a:r>
            <a:r>
              <a:rPr lang="zh-CN" altLang="en-US" dirty="0">
                <a:effectLst/>
                <a:latin typeface="Google Sans Text"/>
              </a:rPr>
              <a:t>）版本 。</a:t>
            </a:r>
          </a:p>
          <a:p>
            <a:r>
              <a:rPr lang="zh-CN" altLang="en-US" b="1" dirty="0">
                <a:effectLst/>
                <a:latin typeface="Google Sans"/>
              </a:rPr>
              <a:t>全链路协同框架设计：训练与推理的融合</a:t>
            </a:r>
          </a:p>
          <a:p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的架构设计强调模块化与可插拔性。自 </a:t>
            </a:r>
            <a:r>
              <a:rPr lang="en-US" altLang="zh-CN" dirty="0">
                <a:effectLst/>
                <a:latin typeface="Google Sans Text"/>
              </a:rPr>
              <a:t>v1.0.0-alpha.0 </a:t>
            </a:r>
            <a:r>
              <a:rPr lang="zh-CN" altLang="en-US" dirty="0">
                <a:effectLst/>
                <a:latin typeface="Google Sans Text"/>
              </a:rPr>
              <a:t>版本起，硬件特定的多芯片支持被解耦到插件仓库中，如专门负责训练加速的 </a:t>
            </a:r>
            <a:r>
              <a:rPr lang="en-US" altLang="zh-CN" dirty="0" err="1">
                <a:effectLst/>
                <a:latin typeface="Google Sans Text"/>
              </a:rPr>
              <a:t>TransformerEngine</a:t>
            </a:r>
            <a:r>
              <a:rPr lang="en-US" altLang="zh-CN" dirty="0">
                <a:effectLst/>
                <a:latin typeface="Google Sans Text"/>
              </a:rPr>
              <a:t>-FL </a:t>
            </a:r>
            <a:r>
              <a:rPr lang="zh-CN" altLang="en-US" dirty="0">
                <a:effectLst/>
                <a:latin typeface="Google Sans Text"/>
              </a:rPr>
              <a:t>和负责分布式训练的 </a:t>
            </a:r>
            <a:r>
              <a:rPr lang="en-US" altLang="zh-CN" dirty="0">
                <a:effectLst/>
                <a:latin typeface="Google Sans Text"/>
              </a:rPr>
              <a:t>Megatron-LM-FL </a:t>
            </a:r>
            <a:r>
              <a:rPr lang="zh-CN" altLang="en-US" dirty="0">
                <a:effectLst/>
                <a:latin typeface="Google Sans Text"/>
              </a:rPr>
              <a:t>。这种设计允许开发者针对不同代的英伟达 </a:t>
            </a:r>
            <a:r>
              <a:rPr lang="en-US" altLang="zh-CN" dirty="0">
                <a:effectLst/>
                <a:latin typeface="Google Sans Text"/>
              </a:rPr>
              <a:t>GPU </a:t>
            </a:r>
            <a:r>
              <a:rPr lang="zh-CN" altLang="en-US" dirty="0">
                <a:effectLst/>
                <a:latin typeface="Google Sans Text"/>
              </a:rPr>
              <a:t>或国产 </a:t>
            </a:r>
            <a:r>
              <a:rPr lang="en-US" altLang="zh-CN" dirty="0">
                <a:effectLst/>
                <a:latin typeface="Google Sans Text"/>
              </a:rPr>
              <a:t>AI </a:t>
            </a:r>
            <a:r>
              <a:rPr lang="zh-CN" altLang="en-US" dirty="0">
                <a:effectLst/>
                <a:latin typeface="Google Sans Text"/>
              </a:rPr>
              <a:t>芯片应用差异化的补丁机制，实现异构混合训练。例如，</a:t>
            </a:r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已成功实现在英伟达与天数智芯（</a:t>
            </a:r>
            <a:r>
              <a:rPr lang="en-US" altLang="zh-CN" dirty="0" err="1">
                <a:effectLst/>
                <a:latin typeface="Google Sans Text"/>
              </a:rPr>
              <a:t>Iluvatar</a:t>
            </a:r>
            <a:r>
              <a:rPr lang="zh-CN" altLang="en-US" dirty="0">
                <a:effectLst/>
                <a:latin typeface="Google Sans Text"/>
              </a:rPr>
              <a:t>）混合集群上进行 </a:t>
            </a:r>
            <a:r>
              <a:rPr lang="en-US" altLang="zh-CN" dirty="0">
                <a:effectLst/>
                <a:latin typeface="Google Sans Text"/>
              </a:rPr>
              <a:t>Aquila2-70B </a:t>
            </a:r>
            <a:r>
              <a:rPr lang="zh-CN" altLang="en-US" dirty="0">
                <a:effectLst/>
                <a:latin typeface="Google Sans Text"/>
              </a:rPr>
              <a:t>模型的高效训练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核心组件拆解：</a:t>
            </a:r>
            <a:r>
              <a:rPr lang="en-US" altLang="zh-CN" b="1" dirty="0" err="1"/>
              <a:t>vLLM</a:t>
            </a:r>
            <a:r>
              <a:rPr lang="en-US" altLang="zh-CN" b="1" dirty="0"/>
              <a:t>-Plugin-FL </a:t>
            </a:r>
            <a:r>
              <a:rPr lang="zh-CN" altLang="en-US" b="1" dirty="0"/>
              <a:t>设计初衷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原生 </a:t>
            </a:r>
            <a:r>
              <a:rPr lang="en-US" altLang="zh-CN" b="1" dirty="0" err="1"/>
              <a:t>vLLM</a:t>
            </a:r>
            <a:r>
              <a:rPr lang="en-US" altLang="zh-CN" b="1" dirty="0"/>
              <a:t> </a:t>
            </a:r>
            <a:r>
              <a:rPr lang="zh-CN" altLang="en-US" b="1" dirty="0"/>
              <a:t>的痛点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对国产化及异构算力生态支持不够灵活。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代码耦合度高，定制化深度优化（特别是针对特定调度策略或新算子库）侵入性强。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/>
              <a:t>vLLM</a:t>
            </a:r>
            <a:r>
              <a:rPr lang="en-US" altLang="zh-CN" b="1" dirty="0"/>
              <a:t>-Plugin-FL </a:t>
            </a:r>
            <a:r>
              <a:rPr lang="zh-CN" altLang="en-US" b="1" dirty="0"/>
              <a:t>的插件化设计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解耦</a:t>
            </a:r>
            <a:r>
              <a:rPr lang="zh-CN" altLang="en-US" dirty="0"/>
              <a:t>：将核心调度逻辑与底层硬件执行</a:t>
            </a:r>
            <a:r>
              <a:rPr lang="en-US" altLang="zh-CN" dirty="0"/>
              <a:t>/</a:t>
            </a:r>
            <a:r>
              <a:rPr lang="zh-CN" altLang="en-US" dirty="0"/>
              <a:t>算子库分离。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热插拔</a:t>
            </a:r>
            <a:r>
              <a:rPr lang="zh-CN" altLang="en-US" dirty="0"/>
              <a:t>：方便快速接入 </a:t>
            </a:r>
            <a:r>
              <a:rPr lang="en-US" altLang="zh-CN" dirty="0" err="1"/>
              <a:t>FlagGems</a:t>
            </a:r>
            <a:r>
              <a:rPr lang="en-US" altLang="zh-CN" dirty="0"/>
              <a:t> </a:t>
            </a:r>
            <a:r>
              <a:rPr lang="zh-CN" altLang="en-US" dirty="0"/>
              <a:t>等自研优化库。</a:t>
            </a:r>
          </a:p>
          <a:p>
            <a:r>
              <a:rPr lang="zh-CN" altLang="en-US" b="1" dirty="0">
                <a:effectLst/>
                <a:latin typeface="Google Sans"/>
              </a:rPr>
              <a:t>核心组件拆解：</a:t>
            </a:r>
            <a:r>
              <a:rPr lang="en-US" altLang="zh-CN" b="1" dirty="0" err="1">
                <a:effectLst/>
                <a:latin typeface="Google Sans"/>
              </a:rPr>
              <a:t>vLLM</a:t>
            </a:r>
            <a:r>
              <a:rPr lang="en-US" altLang="zh-CN" b="1" dirty="0">
                <a:effectLst/>
                <a:latin typeface="Google Sans"/>
              </a:rPr>
              <a:t>-Plugin-FL </a:t>
            </a:r>
            <a:r>
              <a:rPr lang="zh-CN" altLang="en-US" b="1" dirty="0">
                <a:effectLst/>
                <a:latin typeface="Google Sans"/>
              </a:rPr>
              <a:t>加速策略</a:t>
            </a:r>
          </a:p>
          <a:p>
            <a:r>
              <a:rPr lang="zh-CN" altLang="en-US" dirty="0">
                <a:effectLst/>
                <a:latin typeface="Google Sans Text"/>
              </a:rPr>
              <a:t>在端到端推理优化中，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 </a:t>
            </a:r>
            <a:r>
              <a:rPr lang="zh-CN" altLang="en-US" dirty="0">
                <a:effectLst/>
                <a:latin typeface="Google Sans Text"/>
              </a:rPr>
              <a:t>是联结上层服务框架与底层高性能算子的关键枢纽。</a:t>
            </a:r>
          </a:p>
          <a:p>
            <a:r>
              <a:rPr lang="en-US" altLang="zh-CN" b="1" dirty="0" err="1">
                <a:effectLst/>
                <a:latin typeface="Google Sans"/>
              </a:rPr>
              <a:t>vLLM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原生瓶颈与 </a:t>
            </a:r>
            <a:r>
              <a:rPr lang="en-US" altLang="zh-CN" b="1" dirty="0">
                <a:effectLst/>
                <a:latin typeface="Google Sans"/>
              </a:rPr>
              <a:t>Plugin-FL </a:t>
            </a:r>
            <a:r>
              <a:rPr lang="zh-CN" altLang="en-US" b="1" dirty="0">
                <a:effectLst/>
                <a:latin typeface="Google Sans"/>
              </a:rPr>
              <a:t>的插件化初衷</a:t>
            </a:r>
          </a:p>
          <a:p>
            <a:r>
              <a:rPr lang="zh-CN" altLang="en-US" dirty="0">
                <a:effectLst/>
                <a:latin typeface="Google Sans Text"/>
              </a:rPr>
              <a:t>原生的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框架虽然在调度层面表现卓越，但在面对多样化的国产芯片时，其对 </a:t>
            </a:r>
            <a:r>
              <a:rPr lang="en-US" altLang="zh-CN" dirty="0">
                <a:effectLst/>
                <a:latin typeface="Google Sans Text"/>
              </a:rPr>
              <a:t>CUDA </a:t>
            </a:r>
            <a:r>
              <a:rPr lang="zh-CN" altLang="en-US" dirty="0">
                <a:effectLst/>
                <a:latin typeface="Google Sans Text"/>
              </a:rPr>
              <a:t>的强依赖成为了生态扩张的瓶颈。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 </a:t>
            </a:r>
            <a:r>
              <a:rPr lang="zh-CN" altLang="en-US" dirty="0">
                <a:effectLst/>
                <a:latin typeface="Google Sans Text"/>
              </a:rPr>
              <a:t>的初衷是基于 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的统一后端，为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提供一个非侵入式的多芯片支持层 。通过该插件，同样的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serve </a:t>
            </a:r>
            <a:r>
              <a:rPr lang="zh-CN" altLang="en-US" dirty="0">
                <a:effectLst/>
                <a:latin typeface="Google Sans Text"/>
              </a:rPr>
              <a:t>命令可以在 </a:t>
            </a:r>
            <a:r>
              <a:rPr lang="en-US" altLang="zh-CN" dirty="0">
                <a:effectLst/>
                <a:latin typeface="Google Sans Text"/>
              </a:rPr>
              <a:t>NVIDIA</a:t>
            </a:r>
            <a:r>
              <a:rPr lang="zh-CN" altLang="en-US" dirty="0">
                <a:effectLst/>
                <a:latin typeface="Google Sans Text"/>
              </a:rPr>
              <a:t>、平头哥（</a:t>
            </a:r>
            <a:r>
              <a:rPr lang="en-US" altLang="zh-CN" dirty="0" err="1">
                <a:effectLst/>
                <a:latin typeface="Google Sans Text"/>
              </a:rPr>
              <a:t>Pingtouge-Zhenwu</a:t>
            </a:r>
            <a:r>
              <a:rPr lang="zh-CN" altLang="en-US" dirty="0">
                <a:effectLst/>
                <a:latin typeface="Google Sans Text"/>
              </a:rPr>
              <a:t>）、昇腾（</a:t>
            </a:r>
            <a:r>
              <a:rPr lang="en-US" altLang="zh-CN" dirty="0">
                <a:effectLst/>
                <a:latin typeface="Google Sans Text"/>
              </a:rPr>
              <a:t>Ascend</a:t>
            </a:r>
            <a:r>
              <a:rPr lang="zh-CN" altLang="en-US" dirty="0">
                <a:effectLst/>
                <a:latin typeface="Google Sans Text"/>
              </a:rPr>
              <a:t>）、寒武纪（</a:t>
            </a:r>
            <a:r>
              <a:rPr lang="en-US" altLang="zh-CN" dirty="0" err="1">
                <a:effectLst/>
                <a:latin typeface="Google Sans Text"/>
              </a:rPr>
              <a:t>Cambricon</a:t>
            </a:r>
            <a:r>
              <a:rPr lang="zh-CN" altLang="en-US" dirty="0">
                <a:effectLst/>
                <a:latin typeface="Google Sans Text"/>
              </a:rPr>
              <a:t>）等多种芯片上运行，而无需修改核心代码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Google Sans Text"/>
              </a:rPr>
              <a:t>LLM-Plugin-FL </a:t>
            </a:r>
            <a:r>
              <a:rPr lang="zh-CN" altLang="en-US" dirty="0">
                <a:effectLst/>
                <a:latin typeface="Google Sans Text"/>
              </a:rPr>
              <a:t>深度整合了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的核心技术并进行了定制化改进：</a:t>
            </a:r>
          </a:p>
          <a:p>
            <a:pPr>
              <a:buFont typeface="+mj-lt"/>
              <a:buAutoNum type="arabicPeriod"/>
            </a:pPr>
            <a:r>
              <a:rPr lang="en-US" altLang="zh-CN" b="1" dirty="0" err="1">
                <a:effectLst/>
                <a:latin typeface="Google Sans Text"/>
              </a:rPr>
              <a:t>PagedAttention</a:t>
            </a:r>
            <a:r>
              <a:rPr lang="en-US" altLang="zh-CN" b="1" dirty="0">
                <a:effectLst/>
                <a:latin typeface="Google Sans Text"/>
              </a:rPr>
              <a:t> </a:t>
            </a:r>
            <a:r>
              <a:rPr lang="zh-CN" altLang="en-US" b="1" dirty="0">
                <a:effectLst/>
                <a:latin typeface="Google Sans Text"/>
              </a:rPr>
              <a:t>的深度优化</a:t>
            </a:r>
            <a:r>
              <a:rPr lang="zh-CN" altLang="en-US" dirty="0">
                <a:effectLst/>
                <a:latin typeface="Google Sans Text"/>
              </a:rPr>
              <a:t>：</a:t>
            </a:r>
            <a:r>
              <a:rPr lang="en-US" altLang="zh-CN" dirty="0" err="1">
                <a:effectLst/>
                <a:latin typeface="Google Sans Text"/>
              </a:rPr>
              <a:t>PagedAttention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是解决 </a:t>
            </a:r>
            <a:r>
              <a:rPr lang="en-US" altLang="zh-CN" dirty="0">
                <a:effectLst/>
                <a:latin typeface="Google Sans Text"/>
              </a:rPr>
              <a:t>KV </a:t>
            </a:r>
            <a:r>
              <a:rPr lang="zh-CN" altLang="en-US" dirty="0">
                <a:effectLst/>
                <a:latin typeface="Google Sans Text"/>
              </a:rPr>
              <a:t>缓存内存碎片化的关键。在 </a:t>
            </a:r>
            <a:r>
              <a:rPr lang="en-US" altLang="zh-CN" dirty="0">
                <a:effectLst/>
                <a:latin typeface="Google Sans Text"/>
              </a:rPr>
              <a:t>Plugin-FL </a:t>
            </a:r>
            <a:r>
              <a:rPr lang="zh-CN" altLang="en-US" dirty="0">
                <a:effectLst/>
                <a:latin typeface="Google Sans Text"/>
              </a:rPr>
              <a:t>中，</a:t>
            </a:r>
            <a:r>
              <a:rPr lang="en-US" altLang="zh-CN" dirty="0" err="1">
                <a:effectLst/>
                <a:latin typeface="Google Sans Text"/>
              </a:rPr>
              <a:t>PagedAttention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的逻辑被重新实现并适配了 </a:t>
            </a:r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和 </a:t>
            </a:r>
            <a:r>
              <a:rPr lang="en-US" altLang="zh-CN" dirty="0" err="1">
                <a:effectLst/>
                <a:latin typeface="Google Sans Text"/>
              </a:rPr>
              <a:t>FlagTree</a:t>
            </a:r>
            <a:r>
              <a:rPr lang="zh-CN" altLang="en-US" dirty="0">
                <a:effectLst/>
                <a:latin typeface="Google Sans Text"/>
              </a:rPr>
              <a:t>。通过在不同芯片后端优化页面大小（</a:t>
            </a:r>
            <a:r>
              <a:rPr lang="en-US" altLang="zh-CN" dirty="0">
                <a:effectLst/>
                <a:latin typeface="Google Sans Text"/>
              </a:rPr>
              <a:t>Page Size</a:t>
            </a:r>
            <a:r>
              <a:rPr lang="zh-CN" altLang="en-US" dirty="0">
                <a:effectLst/>
                <a:latin typeface="Google Sans Text"/>
              </a:rPr>
              <a:t>）和块对齐策略，显存利用率得到了极大提升，支持了更大的批处理规模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核心加速策略：</a:t>
            </a:r>
            <a:r>
              <a:rPr lang="en-US" altLang="zh-CN" b="1" dirty="0"/>
              <a:t>Continuous Batching (</a:t>
            </a:r>
            <a:r>
              <a:rPr lang="zh-CN" altLang="en-US" b="1" dirty="0"/>
              <a:t>动态批处理</a:t>
            </a:r>
            <a:r>
              <a:rPr lang="en-US" altLang="zh-CN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传统 </a:t>
            </a:r>
            <a:r>
              <a:rPr lang="en-US" altLang="zh-CN" b="1" dirty="0"/>
              <a:t>Static Batching </a:t>
            </a:r>
            <a:r>
              <a:rPr lang="zh-CN" altLang="en-US" b="1" dirty="0"/>
              <a:t>的低效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请求必须等待同 </a:t>
            </a:r>
            <a:r>
              <a:rPr lang="en-US" altLang="zh-CN" dirty="0"/>
              <a:t>Batch </a:t>
            </a:r>
            <a:r>
              <a:rPr lang="zh-CN" altLang="en-US" dirty="0"/>
              <a:t>中的所有序列生成完毕才能返回，短序列的算力被严重浪费（气泡现象）。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Continuous Batching (In-flight Batching)</a:t>
            </a:r>
            <a:r>
              <a:rPr lang="zh-CN" altLang="en-US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细粒度的 </a:t>
            </a:r>
            <a:r>
              <a:rPr lang="en-US" altLang="zh-CN" dirty="0"/>
              <a:t>iteration </a:t>
            </a:r>
            <a:r>
              <a:rPr lang="zh-CN" altLang="en-US" dirty="0"/>
              <a:t>级别调度。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一旦有请求生成遇到 </a:t>
            </a:r>
            <a:r>
              <a:rPr lang="en-US" altLang="zh-CN" dirty="0"/>
              <a:t>EOS</a:t>
            </a:r>
            <a:r>
              <a:rPr lang="zh-CN" altLang="en-US" dirty="0"/>
              <a:t>（结束符），立刻将其踢出 </a:t>
            </a:r>
            <a:r>
              <a:rPr lang="en-US" altLang="zh-CN" dirty="0"/>
              <a:t>Batch</a:t>
            </a:r>
            <a:r>
              <a:rPr lang="zh-CN" altLang="en-US" dirty="0"/>
              <a:t>，并将新请求插入，保持 </a:t>
            </a:r>
            <a:r>
              <a:rPr lang="en-US" altLang="zh-CN" dirty="0"/>
              <a:t>GPU </a:t>
            </a:r>
            <a:r>
              <a:rPr lang="zh-CN" altLang="en-US" dirty="0"/>
              <a:t>始终高负荷运转。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吞吐量跃升</a:t>
            </a:r>
            <a:r>
              <a:rPr lang="zh-CN" altLang="en-US" dirty="0"/>
              <a:t>：配合 </a:t>
            </a:r>
            <a:r>
              <a:rPr lang="en-US" altLang="zh-CN" dirty="0" err="1"/>
              <a:t>PagedAttention</a:t>
            </a:r>
            <a:r>
              <a:rPr lang="zh-CN" altLang="en-US" dirty="0"/>
              <a:t>，实现 </a:t>
            </a:r>
            <a:r>
              <a:rPr lang="en-US" altLang="zh-CN" dirty="0"/>
              <a:t>2x - 4x </a:t>
            </a:r>
            <a:r>
              <a:rPr lang="zh-CN" altLang="en-US" dirty="0"/>
              <a:t>的推理吞吐提升。</a:t>
            </a:r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en-US" altLang="zh-CN" b="1" dirty="0">
                <a:effectLst/>
                <a:latin typeface="Google Sans Text"/>
              </a:rPr>
              <a:t>Continuous Batching </a:t>
            </a:r>
            <a:r>
              <a:rPr lang="zh-CN" altLang="en-US" b="1" dirty="0">
                <a:effectLst/>
                <a:latin typeface="Google Sans Text"/>
              </a:rPr>
              <a:t>的定制改进</a:t>
            </a:r>
            <a:r>
              <a:rPr lang="zh-CN" altLang="en-US" dirty="0">
                <a:effectLst/>
                <a:latin typeface="Google Sans Text"/>
              </a:rPr>
              <a:t>：传统的批处理需要等待批次中所有序列完成，而 </a:t>
            </a:r>
            <a:r>
              <a:rPr lang="en-US" altLang="zh-CN" dirty="0">
                <a:effectLst/>
                <a:latin typeface="Google Sans Text"/>
              </a:rPr>
              <a:t>Continuous Batching </a:t>
            </a:r>
            <a:r>
              <a:rPr lang="zh-CN" altLang="en-US" dirty="0">
                <a:effectLst/>
                <a:latin typeface="Google Sans Text"/>
              </a:rPr>
              <a:t>允许在迭代级别动态插入新请求。</a:t>
            </a:r>
            <a:r>
              <a:rPr lang="en-US" altLang="zh-CN" dirty="0">
                <a:effectLst/>
                <a:latin typeface="Google Sans Text"/>
              </a:rPr>
              <a:t>Plugin-FL </a:t>
            </a:r>
            <a:r>
              <a:rPr lang="zh-CN" altLang="en-US" dirty="0">
                <a:effectLst/>
                <a:latin typeface="Google Sans Text"/>
              </a:rPr>
              <a:t>通过与 </a:t>
            </a:r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的自动调优器（</a:t>
            </a:r>
            <a:r>
              <a:rPr lang="en-US" altLang="zh-CN" dirty="0" err="1">
                <a:effectLst/>
                <a:latin typeface="Google Sans Text"/>
              </a:rPr>
              <a:t>Autotuner</a:t>
            </a:r>
            <a:r>
              <a:rPr lang="zh-CN" altLang="en-US" dirty="0">
                <a:effectLst/>
                <a:latin typeface="Google Sans Text"/>
              </a:rPr>
              <a:t>）协同，能够根据当前硬件的即时算力与带宽状态，动态调整 </a:t>
            </a:r>
            <a:r>
              <a:rPr lang="en-US" altLang="zh-CN" dirty="0" err="1">
                <a:effectLst/>
                <a:latin typeface="Google Sans Text"/>
              </a:rPr>
              <a:t>max_num_batched_tokens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等关键参数，从而平滑推理延迟并提升总体吞吐量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深度整合：</a:t>
            </a:r>
            <a:r>
              <a:rPr lang="en-US" altLang="zh-CN" b="1" dirty="0" err="1">
                <a:effectLst/>
                <a:latin typeface="Google Sans"/>
              </a:rPr>
              <a:t>vLLM</a:t>
            </a:r>
            <a:r>
              <a:rPr lang="en-US" altLang="zh-CN" b="1" dirty="0">
                <a:effectLst/>
                <a:latin typeface="Google Sans"/>
              </a:rPr>
              <a:t>-Plugin-FL + </a:t>
            </a:r>
            <a:r>
              <a:rPr lang="en-US" altLang="zh-CN" b="1" dirty="0" err="1">
                <a:effectLst/>
                <a:latin typeface="Google Sans"/>
              </a:rPr>
              <a:t>FlagGems</a:t>
            </a:r>
            <a:r>
              <a:rPr lang="en-US" altLang="zh-CN" b="1" dirty="0">
                <a:effectLst/>
                <a:latin typeface="Google Sans"/>
              </a:rPr>
              <a:t> + </a:t>
            </a:r>
            <a:r>
              <a:rPr lang="en-US" altLang="zh-CN" b="1" dirty="0" err="1">
                <a:effectLst/>
                <a:latin typeface="Google Sans"/>
              </a:rPr>
              <a:t>FlagTree</a:t>
            </a:r>
            <a:endParaRPr lang="en-US" altLang="zh-CN" b="1" dirty="0">
              <a:effectLst/>
              <a:latin typeface="Google Sans"/>
            </a:endParaRPr>
          </a:p>
          <a:p>
            <a:r>
              <a:rPr lang="zh-CN" altLang="en-US" dirty="0">
                <a:effectLst/>
                <a:latin typeface="Google Sans Text"/>
              </a:rPr>
              <a:t>这三个组件构成了 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智算底座的“铁三角”，实现了从算子级到系统级的全面打通。</a:t>
            </a:r>
          </a:p>
          <a:p>
            <a:r>
              <a:rPr lang="zh-CN" altLang="en-US" b="1" dirty="0">
                <a:effectLst/>
                <a:latin typeface="Google Sans"/>
              </a:rPr>
              <a:t>组件协同机制：从算子到系统的闭环</a:t>
            </a:r>
          </a:p>
          <a:p>
            <a:r>
              <a:rPr lang="zh-CN" altLang="en-US" dirty="0">
                <a:effectLst/>
                <a:latin typeface="Google Sans Text"/>
              </a:rPr>
              <a:t>协同机制可以描述为以下流程：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负责全局的请求调度与批处理逻辑；当计算图执行到具体的算子（如 </a:t>
            </a:r>
            <a:r>
              <a:rPr lang="en-US" altLang="zh-CN" dirty="0" err="1">
                <a:effectLst/>
                <a:latin typeface="Google Sans Text"/>
              </a:rPr>
              <a:t>RMSNorm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或 </a:t>
            </a:r>
            <a:r>
              <a:rPr lang="en-US" altLang="zh-CN" dirty="0">
                <a:effectLst/>
                <a:latin typeface="Google Sans Text"/>
              </a:rPr>
              <a:t>Linear</a:t>
            </a:r>
            <a:r>
              <a:rPr lang="zh-CN" altLang="en-US" dirty="0">
                <a:effectLst/>
                <a:latin typeface="Google Sans Text"/>
              </a:rPr>
              <a:t>）时，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 </a:t>
            </a:r>
            <a:r>
              <a:rPr lang="zh-CN" altLang="en-US" dirty="0">
                <a:effectLst/>
                <a:latin typeface="Google Sans Text"/>
              </a:rPr>
              <a:t>通过派发机制调用 </a:t>
            </a:r>
            <a:r>
              <a:rPr lang="en-US" altLang="zh-CN" dirty="0" err="1">
                <a:effectLst/>
                <a:latin typeface="Google Sans Text"/>
              </a:rPr>
              <a:t>FlagGems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提供的预编译 </a:t>
            </a:r>
            <a:r>
              <a:rPr lang="en-US" altLang="zh-CN" dirty="0">
                <a:effectLst/>
                <a:latin typeface="Google Sans Text"/>
              </a:rPr>
              <a:t>Kernel </a:t>
            </a:r>
            <a:r>
              <a:rPr lang="zh-CN" altLang="en-US" dirty="0">
                <a:effectLst/>
                <a:latin typeface="Google Sans Text"/>
              </a:rPr>
              <a:t>。如果面临全新的、未经调优的算子需求，</a:t>
            </a:r>
            <a:r>
              <a:rPr lang="en-US" altLang="zh-CN" dirty="0" err="1">
                <a:effectLst/>
                <a:latin typeface="Google Sans Text"/>
              </a:rPr>
              <a:t>FlagTree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编译器则负责即时（</a:t>
            </a:r>
            <a:r>
              <a:rPr lang="en-US" altLang="zh-CN" dirty="0">
                <a:effectLst/>
                <a:latin typeface="Google Sans Text"/>
              </a:rPr>
              <a:t>JIT</a:t>
            </a:r>
            <a:r>
              <a:rPr lang="zh-CN" altLang="en-US" dirty="0">
                <a:effectLst/>
                <a:latin typeface="Google Sans Text"/>
              </a:rPr>
              <a:t>）生成适配目标芯片的代码 。这种分层协作确保了系统既有预置算子的高性能，又有应对模型快速迭代的灵活性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特定场景下的推理延伸：具身智能与 </a:t>
            </a:r>
            <a:r>
              <a:rPr lang="en-US" altLang="zh-CN" b="1" dirty="0" err="1">
                <a:effectLst/>
                <a:latin typeface="Google Sans"/>
              </a:rPr>
              <a:t>FlagOS</a:t>
            </a:r>
            <a:r>
              <a:rPr lang="en-US" altLang="zh-CN" b="1" dirty="0">
                <a:effectLst/>
                <a:latin typeface="Google Sans"/>
              </a:rPr>
              <a:t>-Robo</a:t>
            </a:r>
          </a:p>
          <a:p>
            <a:r>
              <a:rPr lang="zh-CN" altLang="en-US" dirty="0">
                <a:effectLst/>
                <a:latin typeface="Google Sans Text"/>
              </a:rPr>
              <a:t>端到端优化的影响力已延伸至具身智能（</a:t>
            </a:r>
            <a:r>
              <a:rPr lang="en-US" altLang="zh-CN" dirty="0">
                <a:effectLst/>
                <a:latin typeface="Google Sans Text"/>
              </a:rPr>
              <a:t>Embodied AI</a:t>
            </a:r>
            <a:r>
              <a:rPr lang="zh-CN" altLang="en-US" dirty="0">
                <a:effectLst/>
                <a:latin typeface="Google Sans Text"/>
              </a:rPr>
              <a:t>）等前沿领域。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-Robo </a:t>
            </a:r>
            <a:r>
              <a:rPr lang="zh-CN" altLang="en-US" dirty="0">
                <a:effectLst/>
                <a:latin typeface="Google Sans Text"/>
              </a:rPr>
              <a:t>作为一个面向机器人大模型的端到端工具包，集成了数据加载、模型训练及云边端协同推理能力 。在具身智能场景下，推理不仅要求高吞吐，更要求极低的端到端延迟（</a:t>
            </a:r>
            <a:r>
              <a:rPr lang="en-US" altLang="zh-CN" dirty="0">
                <a:effectLst/>
                <a:latin typeface="Google Sans Text"/>
              </a:rPr>
              <a:t>Latency</a:t>
            </a:r>
            <a:r>
              <a:rPr lang="zh-CN" altLang="en-US" dirty="0">
                <a:effectLst/>
                <a:latin typeface="Google Sans Text"/>
              </a:rPr>
              <a:t>）以保证实时控制。通过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 </a:t>
            </a:r>
            <a:r>
              <a:rPr lang="zh-CN" altLang="en-US" dirty="0">
                <a:effectLst/>
                <a:latin typeface="Google Sans Text"/>
              </a:rPr>
              <a:t>对 </a:t>
            </a:r>
            <a:r>
              <a:rPr lang="en-US" altLang="zh-CN" dirty="0">
                <a:effectLst/>
                <a:latin typeface="Google Sans Text"/>
              </a:rPr>
              <a:t>PI0 </a:t>
            </a:r>
            <a:r>
              <a:rPr lang="zh-CN" altLang="en-US" dirty="0">
                <a:effectLst/>
                <a:latin typeface="Google Sans Text"/>
              </a:rPr>
              <a:t>和 </a:t>
            </a:r>
            <a:r>
              <a:rPr lang="en-US" altLang="zh-CN" dirty="0" err="1">
                <a:effectLst/>
                <a:latin typeface="Google Sans Text"/>
              </a:rPr>
              <a:t>RoboBrain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等视觉语言动作（</a:t>
            </a:r>
            <a:r>
              <a:rPr lang="en-US" altLang="zh-CN" dirty="0">
                <a:effectLst/>
                <a:latin typeface="Google Sans Text"/>
              </a:rPr>
              <a:t>VLA</a:t>
            </a:r>
            <a:r>
              <a:rPr lang="zh-CN" altLang="en-US" dirty="0">
                <a:effectLst/>
                <a:latin typeface="Google Sans Text"/>
              </a:rPr>
              <a:t>）模型的加速，</a:t>
            </a:r>
            <a:r>
              <a:rPr lang="en-US" altLang="zh-CN" dirty="0" err="1">
                <a:effectLst/>
                <a:latin typeface="Google Sans Text"/>
              </a:rPr>
              <a:t>FlagOS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实现了从云端大规模训练到边缘侧实时部署的高效迁移 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Google Sans"/>
              </a:rPr>
              <a:t>实验牵引环节：核心实战与收益展示</a:t>
            </a:r>
          </a:p>
          <a:p>
            <a:r>
              <a:rPr lang="zh-CN" altLang="en-US" dirty="0">
                <a:effectLst/>
                <a:latin typeface="Google Sans Text"/>
              </a:rPr>
              <a:t>实验是检验端到端优化成果的最终标准。通过在 </a:t>
            </a:r>
            <a:r>
              <a:rPr lang="en-US" altLang="zh-CN" dirty="0" err="1">
                <a:effectLst/>
                <a:latin typeface="Google Sans Text"/>
              </a:rPr>
              <a:t>FlagScale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环境下部署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</a:t>
            </a:r>
            <a:r>
              <a:rPr lang="zh-CN" altLang="en-US" dirty="0">
                <a:effectLst/>
                <a:latin typeface="Google Sans Text"/>
              </a:rPr>
              <a:t>，可以直观看到全链路优化的巨大潜力。</a:t>
            </a:r>
          </a:p>
          <a:p>
            <a:r>
              <a:rPr lang="zh-CN" altLang="en-US" b="1" dirty="0">
                <a:effectLst/>
                <a:latin typeface="Google Sans"/>
              </a:rPr>
              <a:t>实验环境搭建：在 </a:t>
            </a:r>
            <a:r>
              <a:rPr lang="en-US" altLang="zh-CN" b="1" dirty="0" err="1">
                <a:effectLst/>
                <a:latin typeface="Google Sans"/>
              </a:rPr>
              <a:t>FlagScale</a:t>
            </a:r>
            <a:r>
              <a:rPr lang="en-US" altLang="zh-CN" b="1" dirty="0">
                <a:effectLst/>
                <a:latin typeface="Google Sans"/>
              </a:rPr>
              <a:t> </a:t>
            </a:r>
            <a:r>
              <a:rPr lang="zh-CN" altLang="en-US" b="1" dirty="0">
                <a:effectLst/>
                <a:latin typeface="Google Sans"/>
              </a:rPr>
              <a:t>中安装部署</a:t>
            </a:r>
          </a:p>
          <a:p>
            <a:r>
              <a:rPr lang="zh-CN" altLang="en-US" dirty="0">
                <a:effectLst/>
                <a:latin typeface="Google Sans Text"/>
              </a:rPr>
              <a:t>部署流程强调了环境的一致性。首先需要安装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 </a:t>
            </a:r>
            <a:r>
              <a:rPr lang="zh-CN" altLang="en-US" dirty="0">
                <a:effectLst/>
                <a:latin typeface="Google Sans Text"/>
              </a:rPr>
              <a:t>的 </a:t>
            </a:r>
            <a:r>
              <a:rPr lang="en-US" altLang="zh-CN" dirty="0">
                <a:effectLst/>
                <a:latin typeface="Google Sans Text"/>
              </a:rPr>
              <a:t>FL </a:t>
            </a:r>
            <a:r>
              <a:rPr lang="zh-CN" altLang="en-US" dirty="0">
                <a:effectLst/>
                <a:latin typeface="Google Sans Text"/>
              </a:rPr>
              <a:t>分支或官方版本，随后通过 </a:t>
            </a:r>
            <a:r>
              <a:rPr lang="en-US" altLang="zh-CN" dirty="0">
                <a:effectLst/>
                <a:latin typeface="Google Sans Text"/>
              </a:rPr>
              <a:t>Git </a:t>
            </a:r>
            <a:r>
              <a:rPr lang="zh-CN" altLang="en-US" dirty="0">
                <a:effectLst/>
                <a:latin typeface="Google Sans Text"/>
              </a:rPr>
              <a:t>克隆并安装 </a:t>
            </a:r>
            <a:r>
              <a:rPr lang="en-US" altLang="zh-CN" dirty="0" err="1">
                <a:effectLst/>
                <a:latin typeface="Google Sans Text"/>
              </a:rPr>
              <a:t>vllm</a:t>
            </a:r>
            <a:r>
              <a:rPr lang="en-US" altLang="zh-CN" dirty="0">
                <a:effectLst/>
                <a:latin typeface="Google Sans Text"/>
              </a:rPr>
              <a:t>-plugin-FL </a:t>
            </a:r>
            <a:r>
              <a:rPr lang="zh-CN" altLang="en-US" dirty="0">
                <a:effectLst/>
                <a:latin typeface="Google Sans Text"/>
              </a:rPr>
              <a:t>及其依赖项 </a:t>
            </a:r>
            <a:r>
              <a:rPr lang="en-US" altLang="zh-CN" dirty="0">
                <a:effectLst/>
                <a:latin typeface="Google Sans Text"/>
              </a:rPr>
              <a:t>scikit-build-core </a:t>
            </a:r>
            <a:r>
              <a:rPr lang="zh-CN" altLang="en-US" dirty="0">
                <a:effectLst/>
                <a:latin typeface="Google Sans Text"/>
              </a:rPr>
              <a:t>和 </a:t>
            </a:r>
            <a:r>
              <a:rPr lang="en-US" altLang="zh-CN" dirty="0">
                <a:effectLst/>
                <a:latin typeface="Google Sans Text"/>
              </a:rPr>
              <a:t>ninja </a:t>
            </a:r>
            <a:r>
              <a:rPr lang="zh-CN" altLang="en-US" dirty="0">
                <a:effectLst/>
                <a:latin typeface="Google Sans Text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465544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7321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3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41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40.png"/><Relationship Id="rId29" Type="http://schemas.openxmlformats.org/officeDocument/2006/relationships/image" Target="../media/image45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43.png"/><Relationship Id="rId28" Type="http://schemas.openxmlformats.org/officeDocument/2006/relationships/image" Target="../media/image44.jpeg"/><Relationship Id="rId10" Type="http://schemas.openxmlformats.org/officeDocument/2006/relationships/tags" Target="../tags/tag19.xml"/><Relationship Id="rId19" Type="http://schemas.openxmlformats.org/officeDocument/2006/relationships/image" Target="../media/image39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42.png"/><Relationship Id="rId27" Type="http://schemas.openxmlformats.org/officeDocument/2006/relationships/hyperlink" Target="https://flagos.io/Hom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Lecture 44: End-to-End Performance Optimization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End-to-End Performance Optimization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Collaborative Acceleration</a:t>
            </a:r>
          </a:p>
          <a:p>
            <a:pPr lvl="1"/>
            <a:r>
              <a:rPr lang="en-US" altLang="zh-CN" dirty="0"/>
              <a:t>From algorithm design to compiler optimization to operator implementation</a:t>
            </a:r>
            <a:endParaRPr lang="zh-CN" altLang="en-US" dirty="0"/>
          </a:p>
        </p:txBody>
      </p:sp>
      <p:sp>
        <p:nvSpPr>
          <p:cNvPr id="10" name="AutoShape 4" descr=", AI generated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04" y="2218411"/>
            <a:ext cx="5991096" cy="463958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030" y="2290525"/>
            <a:ext cx="5164802" cy="42913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 of End-to-End Performance Optimization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Macro Perspective: Why End-to-End Collaboration is Essential</a:t>
            </a:r>
          </a:p>
          <a:p>
            <a:r>
              <a:rPr lang="en-US" altLang="zh-CN" dirty="0"/>
              <a:t>Model Algorithm: Structural Evolution and </a:t>
            </a:r>
            <a:r>
              <a:rPr lang="en-US" altLang="zh-CN" dirty="0" err="1"/>
              <a:t>Lightweighting</a:t>
            </a:r>
            <a:r>
              <a:rPr lang="en-US" altLang="zh-CN" dirty="0"/>
              <a:t> Methods</a:t>
            </a:r>
          </a:p>
          <a:p>
            <a:r>
              <a:rPr lang="en-US" altLang="zh-CN" dirty="0"/>
              <a:t>Compilation and Scheduling: Operator Fusion and Fine-Grained Memory Planning</a:t>
            </a:r>
          </a:p>
          <a:p>
            <a:r>
              <a:rPr lang="en-US" altLang="zh-CN" dirty="0"/>
              <a:t>Hardware Layer: Achieving Performance Deployment with </a:t>
            </a:r>
            <a:r>
              <a:rPr lang="en-US" altLang="zh-CN" dirty="0" err="1"/>
              <a:t>FlagGems</a:t>
            </a:r>
            <a:endParaRPr lang="en-US" altLang="zh-CN" dirty="0"/>
          </a:p>
          <a:p>
            <a:r>
              <a:rPr lang="en-US" altLang="zh-CN" dirty="0"/>
              <a:t>Ecosystem Collaboration: </a:t>
            </a:r>
            <a:r>
              <a:rPr lang="en-US" altLang="zh-CN" dirty="0" err="1"/>
              <a:t>FlagScale</a:t>
            </a:r>
            <a:r>
              <a:rPr lang="en-US" altLang="zh-CN" dirty="0"/>
              <a:t> and Operating System Architecture Design</a:t>
            </a:r>
          </a:p>
          <a:p>
            <a:r>
              <a:rPr lang="en-US" altLang="zh-CN" dirty="0"/>
              <a:t>Practical Analysis of </a:t>
            </a:r>
            <a:r>
              <a:rPr lang="en-US" altLang="zh-CN" dirty="0" err="1"/>
              <a:t>vLLM</a:t>
            </a:r>
            <a:r>
              <a:rPr lang="en-US" altLang="zh-CN" dirty="0"/>
              <a:t> Plugin-Driven Acceleration Practices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end-to-end collaborative optimization?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Limitations of local optimization:</a:t>
            </a:r>
          </a:p>
          <a:p>
            <a:pPr lvl="1"/>
            <a:r>
              <a:rPr lang="en-US" altLang="zh-CN" dirty="0"/>
              <a:t>Amdahl's Law</a:t>
            </a:r>
          </a:p>
          <a:p>
            <a:r>
              <a:rPr lang="en-US" altLang="zh-CN" dirty="0"/>
              <a:t>Full-chain funnel model:</a:t>
            </a:r>
          </a:p>
          <a:p>
            <a:pPr lvl="1"/>
            <a:r>
              <a:rPr lang="en-US" altLang="zh-CN" dirty="0"/>
              <a:t>Top layer (algorithm layer): theoretical computational load (FLOPs) and memory requirements.</a:t>
            </a:r>
          </a:p>
          <a:p>
            <a:pPr lvl="1"/>
            <a:r>
              <a:rPr lang="en-US" altLang="zh-CN" dirty="0"/>
              <a:t>Middle layer (compilation/framework layer): execution path of the computation graph and the lifetime of GPU memory.</a:t>
            </a:r>
          </a:p>
          <a:p>
            <a:pPr lvl="1"/>
            <a:r>
              <a:rPr lang="en-US" altLang="zh-CN" dirty="0"/>
              <a:t>Bottom layer (operator/hardware layer): execution efficiency of specific instructions.</a:t>
            </a:r>
          </a:p>
          <a:p>
            <a:r>
              <a:rPr lang="en-US" altLang="zh-CN" dirty="0"/>
              <a:t>Reverse feedback mechanism</a:t>
            </a:r>
          </a:p>
          <a:p>
            <a:pPr lvl="1"/>
            <a:r>
              <a:rPr lang="en-US" altLang="zh-CN" dirty="0"/>
              <a:t>The characteristics of the underlying hardware (such as </a:t>
            </a:r>
            <a:r>
              <a:rPr lang="en-US" altLang="zh-CN" dirty="0" err="1"/>
              <a:t>TensorCore's</a:t>
            </a:r>
            <a:r>
              <a:rPr lang="en-US" altLang="zh-CN" dirty="0"/>
              <a:t> dedicated FP16/FP8) in turn guide the design and quantization strategy of the top-level algorithm.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13711" b="9931"/>
          <a:stretch>
            <a:fillRect/>
          </a:stretch>
        </p:blipFill>
        <p:spPr>
          <a:xfrm>
            <a:off x="8291043" y="1916348"/>
            <a:ext cx="3900957" cy="444000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"Double Walls" of Large Model Inference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Memory Wall:</a:t>
            </a:r>
          </a:p>
          <a:p>
            <a:pPr lvl="1"/>
            <a:r>
              <a:rPr lang="en-US" altLang="zh-CN" dirty="0"/>
              <a:t>The decoding phase of LLM inference is primarily limited by memory access bandwidth.</a:t>
            </a:r>
          </a:p>
          <a:p>
            <a:pPr lvl="1"/>
            <a:r>
              <a:rPr lang="en-US" altLang="zh-CN" dirty="0"/>
              <a:t>The massive key-value cache consumes a significant amount of GPU memory, limiting concurrent batch size.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62" y="3005819"/>
            <a:ext cx="7315200" cy="37156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"Double Walls" of Large Model Inference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Compute Wall:</a:t>
            </a:r>
          </a:p>
          <a:p>
            <a:pPr lvl="1"/>
            <a:r>
              <a:rPr lang="en-US" altLang="zh-CN" dirty="0"/>
              <a:t>During the prefill phase, when handling long contexts, the computational cost of the attention mechanism increases quadratically with sequence length (compute-bound).</a:t>
            </a:r>
          </a:p>
          <a:p>
            <a:endParaRPr lang="zh-CN" altLang="en-US" dirty="0"/>
          </a:p>
        </p:txBody>
      </p:sp>
      <p:pic>
        <p:nvPicPr>
          <p:cNvPr id="6" name="Picture 2" descr="Microsoft CEO says that rather than seeing AI Scaling Laws hit a wall, if  anything we are seeing the emergence of a new Scaling Law for test-time  (inference) compute : r/singular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13" y="2550092"/>
            <a:ext cx="6952307" cy="417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Goal of End-to-End Optimization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Breaking down both walls</a:t>
            </a:r>
          </a:p>
          <a:p>
            <a:r>
              <a:rPr lang="en-US" altLang="zh-CN" dirty="0"/>
              <a:t>Maximizing hardware computing power (High MFU) </a:t>
            </a:r>
          </a:p>
          <a:p>
            <a:pPr lvl="1"/>
            <a:r>
              <a:rPr lang="en-US" altLang="zh-CN" dirty="0"/>
              <a:t>Operator Fusion &amp; Kernel Optimization</a:t>
            </a:r>
          </a:p>
          <a:p>
            <a:pPr lvl="1"/>
            <a:r>
              <a:rPr lang="en-US" altLang="zh-CN" dirty="0"/>
              <a:t>Mixed Precision &amp; Quantization</a:t>
            </a:r>
          </a:p>
          <a:p>
            <a:pPr lvl="1"/>
            <a:r>
              <a:rPr lang="en-US" altLang="zh-CN" dirty="0"/>
              <a:t>Pipeline Efficiency</a:t>
            </a:r>
          </a:p>
          <a:p>
            <a:r>
              <a:rPr lang="en-US" altLang="zh-CN" dirty="0"/>
              <a:t>Maximizing the utilization of GPU memory bandwidth</a:t>
            </a:r>
          </a:p>
          <a:p>
            <a:pPr lvl="1"/>
            <a:r>
              <a:rPr lang="en-US" altLang="zh-CN" dirty="0"/>
              <a:t>Memory Access Pattern Optimization</a:t>
            </a:r>
          </a:p>
          <a:p>
            <a:pPr lvl="1"/>
            <a:r>
              <a:rPr lang="en-US" altLang="zh-CN" dirty="0"/>
              <a:t>Tiling &amp; Data Reuse</a:t>
            </a:r>
          </a:p>
          <a:p>
            <a:pPr lvl="1"/>
            <a:r>
              <a:rPr lang="en-US" altLang="zh-CN" dirty="0"/>
              <a:t>Zero-Redundancy Strategies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Algorithm Design and Model Layer Optimization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Evolution of Attention Mechanisms (Reducing KV Cache Overhead):</a:t>
            </a:r>
          </a:p>
          <a:p>
            <a:pPr lvl="1"/>
            <a:r>
              <a:rPr lang="en-US" altLang="zh-CN" dirty="0"/>
              <a:t>MHA (Multi-Head Attention): Standard structure, high memory overhead.</a:t>
            </a:r>
          </a:p>
          <a:p>
            <a:pPr lvl="1"/>
            <a:r>
              <a:rPr lang="en-US" altLang="zh-CN" dirty="0"/>
              <a:t>MQA (Multi-Query Attention): All heads share a single KV, significantly reducing GPU memory usage.</a:t>
            </a:r>
          </a:p>
          <a:p>
            <a:pPr lvl="1"/>
            <a:r>
              <a:rPr lang="en-US" altLang="zh-CN" dirty="0"/>
              <a:t>GQA (Grouped-Query Attention): A trade-off between model capability and inference overhead.</a:t>
            </a:r>
          </a:p>
          <a:p>
            <a:r>
              <a:rPr lang="en-US" altLang="zh-CN" dirty="0"/>
              <a:t>Sparse Architecture (</a:t>
            </a:r>
            <a:r>
              <a:rPr lang="en-US" altLang="zh-CN" dirty="0" err="1"/>
              <a:t>MoE</a:t>
            </a:r>
            <a:r>
              <a:rPr lang="en-US" altLang="zh-CN" dirty="0"/>
              <a:t> - Mixture of Experts):</a:t>
            </a:r>
          </a:p>
          <a:p>
            <a:pPr lvl="1"/>
            <a:r>
              <a:rPr lang="en-US" altLang="zh-CN" dirty="0"/>
              <a:t>Activates only a portion of the expert network, significantly reducing the activation computation cost per inference while maintaining a large number of model parameters.</a:t>
            </a:r>
            <a:endParaRPr lang="zh-CN" altLang="en-US" dirty="0"/>
          </a:p>
        </p:txBody>
      </p:sp>
      <p:pic>
        <p:nvPicPr>
          <p:cNvPr id="16388" name="Picture 4" descr="Navigating the Attention Landscape: MHA, MQA, and GQA Decoded | by Shobhit  Agarwal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00" y="4298388"/>
            <a:ext cx="5767056" cy="247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A Visual Guide to Mixture of Experts (MoE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578" y="4204109"/>
            <a:ext cx="4843604" cy="265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Quantization and Sparsity Techniques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Powerful tools for reducing memory access pressure and improving computational accuracy:</a:t>
            </a:r>
          </a:p>
          <a:p>
            <a:pPr lvl="1"/>
            <a:r>
              <a:rPr lang="en-US" altLang="zh-CN" dirty="0"/>
              <a:t>PTQ (Post-Training Quantization) and QAT (Quantization-Aware Training).</a:t>
            </a:r>
          </a:p>
          <a:p>
            <a:r>
              <a:rPr lang="en-US" altLang="zh-CN" dirty="0"/>
              <a:t>Mainstream Quantization Solutions for Large Models:</a:t>
            </a:r>
          </a:p>
          <a:p>
            <a:pPr lvl="1"/>
            <a:r>
              <a:rPr lang="en-US" altLang="zh-CN" dirty="0"/>
              <a:t>Weight-Only Quantization: such as AWQ, GPTQ </a:t>
            </a:r>
          </a:p>
          <a:p>
            <a:pPr lvl="1"/>
            <a:r>
              <a:rPr lang="en-US" altLang="zh-CN" dirty="0"/>
              <a:t>Weight-Activation Quantization: such as W8A8 (</a:t>
            </a:r>
            <a:r>
              <a:rPr lang="en-US" altLang="zh-CN" dirty="0" err="1"/>
              <a:t>SmoothQuant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FP8 Format Support: Combined with the features of next-generation GPU hardware.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4378742"/>
            <a:ext cx="5882112" cy="2342733"/>
          </a:xfrm>
          <a:prstGeom prst="rect">
            <a:avLst/>
          </a:prstGeom>
        </p:spPr>
      </p:pic>
      <p:pic>
        <p:nvPicPr>
          <p:cNvPr id="18436" name="Picture 4" descr="Speeding Up Large Language Models: A Deep Dive into GPTQ and AWQ  Quantization | by Doil Kim |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171" y="4295228"/>
            <a:ext cx="3196345" cy="256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Compiler-Level Optimization Strategies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Graph Optimization:</a:t>
            </a:r>
          </a:p>
          <a:p>
            <a:pPr lvl="1"/>
            <a:r>
              <a:rPr lang="en-US" altLang="zh-CN" dirty="0"/>
              <a:t>Operator Fusion: Merging multiple small operators (e.g., </a:t>
            </a:r>
            <a:r>
              <a:rPr lang="en-US" altLang="zh-CN" dirty="0" err="1"/>
              <a:t>MatMul</a:t>
            </a:r>
            <a:r>
              <a:rPr lang="en-US" altLang="zh-CN" dirty="0"/>
              <a:t> + Bias + </a:t>
            </a:r>
            <a:r>
              <a:rPr lang="en-US" altLang="zh-CN" dirty="0" err="1"/>
              <a:t>ReLU</a:t>
            </a:r>
            <a:r>
              <a:rPr lang="en-US" altLang="zh-CN" dirty="0"/>
              <a:t>) into a large kernel.</a:t>
            </a:r>
          </a:p>
          <a:p>
            <a:pPr lvl="1"/>
            <a:r>
              <a:rPr lang="en-US" altLang="zh-CN" dirty="0"/>
              <a:t>Benefits: Avoids repeated read/write operations to GPU memory (DRAM -&gt; SRAM -&gt; DRAM) for intermediate results; instead, it's completed directly in registers or shared memory, significantly improving bandwidth utilization.</a:t>
            </a:r>
          </a:p>
          <a:p>
            <a:pPr lvl="1"/>
            <a:r>
              <a:rPr lang="en-US" altLang="zh-CN" dirty="0"/>
              <a:t>Constant Folding &amp; Dead Code Elimination</a:t>
            </a:r>
          </a:p>
          <a:p>
            <a:endParaRPr lang="en-US" altLang="zh-CN" dirty="0"/>
          </a:p>
        </p:txBody>
      </p:sp>
      <p:pic>
        <p:nvPicPr>
          <p:cNvPr id="19458" name="Picture 2" descr="Literature Review] Applying Graph Explanation to Operator Fu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3" y="3862467"/>
            <a:ext cx="5666244" cy="285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524" y="4043694"/>
            <a:ext cx="4856430" cy="26777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and Communication Optimization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Memory Planning:</a:t>
            </a:r>
          </a:p>
          <a:p>
            <a:pPr lvl="1"/>
            <a:r>
              <a:rPr lang="en-US" altLang="zh-CN" dirty="0"/>
              <a:t>Memory pooling, tensor lifetime analysis, and in-place operation.</a:t>
            </a:r>
          </a:p>
          <a:p>
            <a:r>
              <a:rPr lang="en-US" altLang="zh-CN" dirty="0"/>
              <a:t>Communication Overlap:</a:t>
            </a:r>
          </a:p>
          <a:p>
            <a:pPr lvl="1"/>
            <a:r>
              <a:rPr lang="en-US" altLang="zh-CN" dirty="0"/>
              <a:t>Hiding communication time within the computation process in tensor parallelism and pipeline parallelism.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11675"/>
          <a:stretch>
            <a:fillRect/>
          </a:stretch>
        </p:blipFill>
        <p:spPr>
          <a:xfrm>
            <a:off x="2254312" y="3569260"/>
            <a:ext cx="6826313" cy="32887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Implementation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Following up on the Automatic Tuning:</a:t>
            </a:r>
          </a:p>
          <a:p>
            <a:pPr lvl="1"/>
            <a:r>
              <a:rPr lang="en-US" altLang="zh-CN" dirty="0"/>
              <a:t>The optimal schedule found by </a:t>
            </a:r>
            <a:r>
              <a:rPr lang="en-US" altLang="zh-CN" dirty="0" err="1"/>
              <a:t>AutoTVM</a:t>
            </a:r>
            <a:r>
              <a:rPr lang="en-US" altLang="zh-CN" dirty="0"/>
              <a:t> or heuristic algorithms is compiled into the final hardware instructions.</a:t>
            </a:r>
          </a:p>
          <a:p>
            <a:r>
              <a:rPr lang="en-US" altLang="zh-CN" dirty="0"/>
              <a:t>Core Optimization Techniques:</a:t>
            </a:r>
          </a:p>
          <a:p>
            <a:pPr lvl="1"/>
            <a:r>
              <a:rPr lang="en-US" altLang="zh-CN" dirty="0" err="1"/>
              <a:t>FlashAttention</a:t>
            </a:r>
            <a:r>
              <a:rPr lang="en-US" altLang="zh-CN" dirty="0"/>
              <a:t> and its variants: Avoiding instantiating the complete Attention matrix into GPU memory through Tiling and </a:t>
            </a:r>
            <a:r>
              <a:rPr lang="en-US" altLang="zh-CN" dirty="0" err="1"/>
              <a:t>Recomputation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Extreme Assembly-Level Optimization: Squeezing out the last 5% of performance using PTX or a handwritten kernel tailored to a specific domestic chip microarchitecture.</a:t>
            </a:r>
            <a:endParaRPr lang="zh-CN" altLang="en-US" dirty="0"/>
          </a:p>
        </p:txBody>
      </p:sp>
      <p:pic>
        <p:nvPicPr>
          <p:cNvPr id="20482" name="Picture 2" descr="A Deep Dive into FlashAttention Algorithm-part 3 | by Sachin Kalsi |  Towards 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31" y="4468757"/>
            <a:ext cx="5702363" cy="225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Understanding PTX, the Assembly Language of CUDA GPU Computing | NVIDIA  Technical B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239" y="4213860"/>
            <a:ext cx="2692887" cy="250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6" y="4422706"/>
            <a:ext cx="2115911" cy="24352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FlagGems</a:t>
            </a:r>
            <a:r>
              <a:rPr lang="en-US" altLang="zh-CN" dirty="0"/>
              <a:t> Operator Library: Role and Ecosystem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What is </a:t>
            </a:r>
            <a:r>
              <a:rPr lang="en-US" altLang="zh-CN" dirty="0" err="1"/>
              <a:t>FlagGems</a:t>
            </a:r>
            <a:r>
              <a:rPr lang="en-US" altLang="zh-CN" dirty="0"/>
              <a:t>?</a:t>
            </a:r>
          </a:p>
          <a:p>
            <a:pPr lvl="1"/>
            <a:r>
              <a:rPr lang="en-US" altLang="zh-CN" dirty="0" err="1"/>
              <a:t>FlagGems</a:t>
            </a:r>
            <a:r>
              <a:rPr lang="en-US" altLang="zh-CN" dirty="0"/>
              <a:t> is a high-efficiency operator library developed by </a:t>
            </a:r>
            <a:r>
              <a:rPr lang="en-US" altLang="zh-CN" dirty="0" err="1"/>
              <a:t>Zhiyuan</a:t>
            </a:r>
            <a:r>
              <a:rPr lang="en-US" altLang="zh-CN" dirty="0"/>
              <a:t>, designed to provide high-performance, cross-platform basic operator support for large language models.</a:t>
            </a:r>
          </a:p>
          <a:p>
            <a:r>
              <a:rPr lang="en-US" altLang="zh-CN" dirty="0"/>
              <a:t>Positioning in the end-to-end pipeline:</a:t>
            </a:r>
          </a:p>
          <a:p>
            <a:pPr lvl="1"/>
            <a:r>
              <a:rPr lang="en-US" altLang="zh-CN" dirty="0"/>
              <a:t>It connects to the framework layer (</a:t>
            </a:r>
            <a:r>
              <a:rPr lang="en-US" altLang="zh-CN" dirty="0" err="1"/>
              <a:t>vLLM</a:t>
            </a:r>
            <a:r>
              <a:rPr lang="en-US" altLang="zh-CN" dirty="0"/>
              <a:t>, Megatron) above, and shields the differences between heterogeneous hardware below.</a:t>
            </a:r>
          </a:p>
          <a:p>
            <a:pPr lvl="1"/>
            <a:r>
              <a:rPr lang="en-US" altLang="zh-CN" dirty="0"/>
              <a:t>Operator set support: Covers various fusion operators, customized Attention, etc.</a:t>
            </a:r>
            <a:endParaRPr lang="zh-CN" altLang="en-US" dirty="0"/>
          </a:p>
        </p:txBody>
      </p:sp>
      <p:pic>
        <p:nvPicPr>
          <p:cNvPr id="21506" name="Picture 2" descr="FlagGems Joins the PyTorch Ecosystem: Triton-Powered Operator Library for  Universal AI Acceleration – PyTor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4474411"/>
            <a:ext cx="3458143" cy="195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github+banner-202601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113" y="4524851"/>
            <a:ext cx="7315200" cy="201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FlagOS</a:t>
            </a:r>
            <a:r>
              <a:rPr lang="en-US" altLang="zh-CN" dirty="0"/>
              <a:t> and </a:t>
            </a:r>
            <a:r>
              <a:rPr lang="en-US" altLang="zh-CN" dirty="0" err="1"/>
              <a:t>FlagScale</a:t>
            </a:r>
            <a:r>
              <a:rPr lang="en-US" altLang="zh-CN" dirty="0"/>
              <a:t> Collaboration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System Positioning:</a:t>
            </a:r>
          </a:p>
          <a:p>
            <a:pPr lvl="1"/>
            <a:r>
              <a:rPr lang="en-US" altLang="zh-CN" dirty="0" err="1"/>
              <a:t>FlagScale</a:t>
            </a:r>
            <a:r>
              <a:rPr lang="en-US" altLang="zh-CN" dirty="0"/>
              <a:t> is dedicated to solving the problems of efficient computation and scalability from training to inference in the era of large models.</a:t>
            </a:r>
          </a:p>
          <a:p>
            <a:r>
              <a:rPr lang="en-US" altLang="zh-CN" dirty="0"/>
              <a:t>Why is system-level collaboration needed?</a:t>
            </a:r>
          </a:p>
          <a:p>
            <a:pPr lvl="1"/>
            <a:r>
              <a:rPr lang="en-US" altLang="zh-CN" dirty="0"/>
              <a:t>A simple inference engine or training framework is insufficient to handle cluster scheduling at the level of hundreds of thousands of GPUs.</a:t>
            </a:r>
          </a:p>
          <a:p>
            <a:pPr lvl="1"/>
            <a:r>
              <a:rPr lang="en-US" altLang="zh-CN" dirty="0" err="1"/>
              <a:t>FlagOS</a:t>
            </a:r>
            <a:r>
              <a:rPr lang="en-US" altLang="zh-CN" dirty="0"/>
              <a:t> provides underlying hardware abstraction and scheduling, while </a:t>
            </a:r>
            <a:r>
              <a:rPr lang="en-US" altLang="zh-CN" dirty="0" err="1"/>
              <a:t>FlagScale</a:t>
            </a:r>
            <a:r>
              <a:rPr lang="en-US" altLang="zh-CN" dirty="0"/>
              <a:t> provides efficient distributed strategies at the model level.</a:t>
            </a:r>
            <a:endParaRPr lang="zh-CN" altLang="en-US" dirty="0"/>
          </a:p>
        </p:txBody>
      </p:sp>
      <p:pic>
        <p:nvPicPr>
          <p:cNvPr id="22530" name="Picture 2" descr="2025人工智能计算大会上，FlagOS 1.5成焦点！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796" y="4438141"/>
            <a:ext cx="4174628" cy="23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FlagOS 新里程：开源面向多种硬件架构的统一AI 编译器FlagTree - 智源社区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258" y="4198997"/>
            <a:ext cx="2471940" cy="2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8" name="Picture 6" descr="Tips on Scaling Storage for AI Training and Inferencing | NVIDIA Technical 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750" y="4251214"/>
            <a:ext cx="4634286" cy="260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Seamless Integration of Training and Inference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Training-side Collaboration:</a:t>
            </a:r>
          </a:p>
          <a:p>
            <a:pPr lvl="1"/>
            <a:r>
              <a:rPr lang="en-US" altLang="zh-CN" dirty="0"/>
              <a:t>Megatron-LM-FL: A 3D parallel strategy optimized for ultra-large-scale clusters.</a:t>
            </a:r>
          </a:p>
          <a:p>
            <a:pPr lvl="1"/>
            <a:r>
              <a:rPr lang="en-US" altLang="zh-CN" dirty="0" err="1"/>
              <a:t>TransformerEngine</a:t>
            </a:r>
            <a:r>
              <a:rPr lang="en-US" altLang="zh-CN" dirty="0"/>
              <a:t>-FL: Accelerates underlying computation, especially supporting low-precision computation.</a:t>
            </a:r>
          </a:p>
          <a:p>
            <a:r>
              <a:rPr lang="en-US" altLang="zh-CN" dirty="0"/>
              <a:t>The Trend Towards Integrated Training and Inference:</a:t>
            </a:r>
          </a:p>
          <a:p>
            <a:pPr lvl="1"/>
            <a:r>
              <a:rPr lang="en-US" altLang="zh-CN" dirty="0"/>
              <a:t>The computational flow graph and operators accumulated during training are smoothly transferred to the inference engine.</a:t>
            </a:r>
            <a:endParaRPr lang="zh-CN" altLang="en-US" dirty="0"/>
          </a:p>
        </p:txBody>
      </p:sp>
      <p:pic>
        <p:nvPicPr>
          <p:cNvPr id="23554" name="Picture 2" descr="Megatron-LMの概要と各種パラメータについて(10/27日勉強会公開用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4" y="4422664"/>
            <a:ext cx="3966645" cy="243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NVIDIA Hopper Architecture In-Depth | NVIDIA Technical B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519" y="4079764"/>
            <a:ext cx="3320072" cy="277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vLLM</a:t>
            </a:r>
            <a:r>
              <a:rPr lang="en-US" altLang="zh-CN" dirty="0"/>
              <a:t>-Plugin-FL Design Philosophy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vLLM</a:t>
            </a:r>
            <a:r>
              <a:rPr lang="en-US" altLang="zh-CN" dirty="0"/>
              <a:t>-Plugin-FL's Plugin-Based Design:</a:t>
            </a:r>
          </a:p>
          <a:p>
            <a:pPr lvl="1"/>
            <a:r>
              <a:rPr lang="en-US" altLang="zh-CN" dirty="0"/>
              <a:t>Decoupling: Separating core scheduling logic from underlying hardware execution/operator libraries.</a:t>
            </a:r>
          </a:p>
          <a:p>
            <a:pPr lvl="1"/>
            <a:r>
              <a:rPr lang="en-US" altLang="zh-CN" dirty="0"/>
              <a:t>Hot-Swapping: Facilitating quick integration with self-developed optimization libraries such as </a:t>
            </a:r>
            <a:r>
              <a:rPr lang="en-US" altLang="zh-CN" dirty="0" err="1"/>
              <a:t>FlagGems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24578" name="Picture 2" descr="ByteByteGo | 6 Software Architectural Patterns You Must Know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0"/>
          <a:stretch>
            <a:fillRect/>
          </a:stretch>
        </p:blipFill>
        <p:spPr bwMode="auto">
          <a:xfrm>
            <a:off x="7412744" y="1132554"/>
            <a:ext cx="4779256" cy="558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29" y="3705676"/>
            <a:ext cx="5190044" cy="28332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 Optimization of </a:t>
            </a:r>
            <a:r>
              <a:rPr lang="en-US" altLang="zh-CN" dirty="0" err="1"/>
              <a:t>PagedAttention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PagedAttention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Learns from the virtual memory and paging mechanisms of operating systems.</a:t>
            </a:r>
          </a:p>
          <a:p>
            <a:pPr lvl="1"/>
            <a:r>
              <a:rPr lang="en-US" altLang="zh-CN" dirty="0"/>
              <a:t>Divides the KV cache into fixed-size blocks (e.g., 16 tokens).</a:t>
            </a:r>
          </a:p>
          <a:p>
            <a:pPr lvl="1"/>
            <a:r>
              <a:rPr lang="en-US" altLang="zh-CN" dirty="0"/>
              <a:t>Logically contiguous KV values ​​can be physically stored non-contiguously, completely eliminating GPU memory waste.</a:t>
            </a:r>
          </a:p>
          <a:p>
            <a:r>
              <a:rPr lang="en-US" altLang="zh-CN" dirty="0"/>
              <a:t>Targeted Optimizations in Plugin-FL:</a:t>
            </a:r>
          </a:p>
          <a:p>
            <a:pPr lvl="1"/>
            <a:r>
              <a:rPr lang="en-US" altLang="zh-CN" dirty="0"/>
              <a:t>Leverages </a:t>
            </a:r>
            <a:r>
              <a:rPr lang="en-US" altLang="zh-CN" dirty="0" err="1"/>
              <a:t>FlagGems</a:t>
            </a:r>
            <a:r>
              <a:rPr lang="en-US" altLang="zh-CN" dirty="0"/>
              <a:t> for extreme hardware-specific acceleration of the </a:t>
            </a:r>
            <a:r>
              <a:rPr lang="en-US" altLang="zh-CN" dirty="0" err="1"/>
              <a:t>PagedAttention</a:t>
            </a:r>
            <a:r>
              <a:rPr lang="en-US" altLang="zh-CN" dirty="0"/>
              <a:t> operator.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04" y="4407924"/>
            <a:ext cx="5558828" cy="1858733"/>
          </a:xfrm>
          <a:prstGeom prst="rect">
            <a:avLst/>
          </a:prstGeom>
        </p:spPr>
      </p:pic>
      <p:pic>
        <p:nvPicPr>
          <p:cNvPr id="25608" name="Picture 8" descr="Introduction to vLLM and PagedAttention | Runpod Blog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762" y="4329374"/>
            <a:ext cx="5134267" cy="252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Continuous Batching (Dynamic Batching)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Continuous Batching (In-flight Batching):</a:t>
            </a:r>
          </a:p>
          <a:p>
            <a:pPr lvl="1"/>
            <a:r>
              <a:rPr lang="en-US" altLang="zh-CN" dirty="0"/>
              <a:t>Fine-grained iteration-level scheduling.</a:t>
            </a:r>
          </a:p>
          <a:p>
            <a:pPr lvl="1"/>
            <a:r>
              <a:rPr lang="en-US" altLang="zh-CN" dirty="0"/>
              <a:t>Once a request encounters an EOS (End of Serial), it is immediately removed from the batch, and a new request is inserted, keeping the GPU constantly under high load.</a:t>
            </a:r>
          </a:p>
          <a:p>
            <a:r>
              <a:rPr lang="en-US" altLang="zh-CN" dirty="0"/>
              <a:t>Throughput Leap: Combined with </a:t>
            </a:r>
            <a:r>
              <a:rPr lang="en-US" altLang="zh-CN" dirty="0" err="1"/>
              <a:t>PagedAttention</a:t>
            </a:r>
            <a:r>
              <a:rPr lang="en-US" altLang="zh-CN" dirty="0"/>
              <a:t>, achieves a 2x - 4x improvement in inference throughput.</a:t>
            </a:r>
            <a:endParaRPr lang="zh-CN" altLang="en-US" dirty="0"/>
          </a:p>
        </p:txBody>
      </p:sp>
      <p:pic>
        <p:nvPicPr>
          <p:cNvPr id="26626" name="Picture 2" descr="Static, dynamic and continuous batching | LLM Inference Handbo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99" y="4139603"/>
            <a:ext cx="8968192" cy="20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vLLM</a:t>
            </a:r>
            <a:r>
              <a:rPr lang="en-US" altLang="zh-CN" dirty="0"/>
              <a:t>-Plugin-FL + </a:t>
            </a:r>
            <a:r>
              <a:rPr lang="en-US" altLang="zh-CN" dirty="0" err="1"/>
              <a:t>FlagGems</a:t>
            </a:r>
            <a:r>
              <a:rPr lang="en-US" altLang="zh-CN" dirty="0"/>
              <a:t> + </a:t>
            </a:r>
            <a:r>
              <a:rPr lang="en-US" altLang="zh-CN" dirty="0" err="1"/>
              <a:t>FlagTree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Iron Triangle Collaboration Mechanism:</a:t>
            </a:r>
          </a:p>
          <a:p>
            <a:pPr lvl="1"/>
            <a:r>
              <a:rPr lang="en-US" altLang="zh-CN" dirty="0" err="1"/>
              <a:t>vLLM</a:t>
            </a:r>
            <a:r>
              <a:rPr lang="en-US" altLang="zh-CN" dirty="0"/>
              <a:t>-Plugin-FL: Acts as the brain, responsible for efficient request scheduling, memory management (KV Cache), and computation graph distribution.</a:t>
            </a:r>
          </a:p>
          <a:p>
            <a:pPr lvl="1"/>
            <a:r>
              <a:rPr lang="en-US" altLang="zh-CN" dirty="0" err="1"/>
              <a:t>FlagGems</a:t>
            </a:r>
            <a:r>
              <a:rPr lang="en-US" altLang="zh-CN" dirty="0"/>
              <a:t>: Acts as the muscles, providing highly optimized underlying kernels (such as </a:t>
            </a:r>
            <a:r>
              <a:rPr lang="en-US" altLang="zh-CN" dirty="0" err="1"/>
              <a:t>FlashAttention</a:t>
            </a:r>
            <a:r>
              <a:rPr lang="en-US" altLang="zh-CN" dirty="0"/>
              <a:t> and various fusion operators).</a:t>
            </a:r>
          </a:p>
          <a:p>
            <a:pPr lvl="1"/>
            <a:r>
              <a:rPr lang="en-US" altLang="zh-CN" dirty="0" err="1"/>
              <a:t>FlagTree</a:t>
            </a:r>
            <a:r>
              <a:rPr lang="en-US" altLang="zh-CN" dirty="0"/>
              <a:t>: Provides higher-level optimization of decision trees or execution paths</a:t>
            </a:r>
          </a:p>
          <a:p>
            <a:r>
              <a:rPr lang="en-US" altLang="zh-CN" dirty="0"/>
              <a:t>End-to-End Benefits: Achieves "out-of-the-box" high performance across multiple platforms.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10736"/>
          <a:stretch>
            <a:fillRect/>
          </a:stretch>
        </p:blipFill>
        <p:spPr>
          <a:xfrm>
            <a:off x="3141552" y="4290406"/>
            <a:ext cx="5269118" cy="25675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Extending the Scenario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FlagOS</a:t>
            </a:r>
            <a:r>
              <a:rPr lang="en-US" altLang="zh-CN" dirty="0"/>
              <a:t>-Robo Inference in Embodied Intelligence</a:t>
            </a:r>
          </a:p>
          <a:p>
            <a:r>
              <a:rPr lang="en-US" altLang="zh-CN" dirty="0"/>
              <a:t>Large Models Go to the Physical World:</a:t>
            </a:r>
          </a:p>
          <a:p>
            <a:pPr lvl="1"/>
            <a:r>
              <a:rPr lang="en-US" altLang="zh-CN" dirty="0"/>
              <a:t>VLA require extremely low end-to-end latency for robotic applications.</a:t>
            </a:r>
          </a:p>
          <a:p>
            <a:r>
              <a:rPr lang="en-US" altLang="zh-CN" dirty="0" err="1"/>
              <a:t>FlagOS</a:t>
            </a:r>
            <a:r>
              <a:rPr lang="en-US" altLang="zh-CN" dirty="0"/>
              <a:t>-Robo Platform Enablement:</a:t>
            </a:r>
          </a:p>
          <a:p>
            <a:pPr lvl="1"/>
            <a:r>
              <a:rPr lang="en-US" altLang="zh-CN" dirty="0"/>
              <a:t>A fine-tuning framework and efficient inference deployment capabilities for embodied scenarios.</a:t>
            </a:r>
          </a:p>
          <a:p>
            <a:pPr lvl="1"/>
            <a:r>
              <a:rPr lang="en-US" altLang="zh-CN" dirty="0"/>
              <a:t>End-to-end latency optimization for multimodal inputs (cameras, sensors) and control flow outputs.</a:t>
            </a:r>
            <a:endParaRPr lang="zh-CN" altLang="en-US" dirty="0"/>
          </a:p>
        </p:txBody>
      </p:sp>
      <p:pic>
        <p:nvPicPr>
          <p:cNvPr id="28674" name="Picture 2" descr="Vision-Language-Action Models for Robotics: A Review Towards Real-World  Applic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4" y="4093670"/>
            <a:ext cx="4229680" cy="276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What Is Inference Latency? Real-Time Computer Vis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411" y="4094334"/>
            <a:ext cx="3773172" cy="276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 Guide (End-to-End Hands-on)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Experiment Objective</a:t>
            </a:r>
          </a:p>
          <a:p>
            <a:pPr lvl="1"/>
            <a:r>
              <a:rPr lang="en-US" altLang="zh-CN" dirty="0"/>
              <a:t>To fully validate the use of </a:t>
            </a:r>
            <a:r>
              <a:rPr lang="en-US" altLang="zh-CN" dirty="0" err="1"/>
              <a:t>vLLM</a:t>
            </a:r>
            <a:r>
              <a:rPr lang="en-US" altLang="zh-CN" dirty="0"/>
              <a:t>-Plugin-FL to accelerate large model inference within </a:t>
            </a:r>
            <a:r>
              <a:rPr lang="en-US" altLang="zh-CN" dirty="0" err="1"/>
              <a:t>FlagScale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Deployment Process (Installation and Configuration):</a:t>
            </a:r>
          </a:p>
          <a:p>
            <a:pPr lvl="1"/>
            <a:r>
              <a:rPr lang="en-US" altLang="zh-CN" dirty="0"/>
              <a:t>Quickly launch the </a:t>
            </a:r>
            <a:r>
              <a:rPr lang="en-US" altLang="zh-CN" dirty="0" err="1"/>
              <a:t>FlagScale</a:t>
            </a:r>
            <a:r>
              <a:rPr lang="en-US" altLang="zh-CN" dirty="0"/>
              <a:t> environment.</a:t>
            </a:r>
          </a:p>
          <a:p>
            <a:pPr lvl="1"/>
            <a:r>
              <a:rPr lang="en-US" altLang="zh-CN" dirty="0"/>
              <a:t>Configure hardware parameters and Plugin environment variables.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95" y="3750469"/>
            <a:ext cx="9609524" cy="22857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End-to-End Optimization Summary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Core Methodology Insights:</a:t>
            </a:r>
          </a:p>
          <a:p>
            <a:pPr lvl="1"/>
            <a:r>
              <a:rPr lang="en-US" altLang="zh-CN" dirty="0"/>
              <a:t>Optimization is not a solitary endeavor; it's a full-stack engineering process encompassing "algorithm-compilation-hardware".</a:t>
            </a:r>
          </a:p>
          <a:p>
            <a:pPr lvl="1"/>
            <a:r>
              <a:rPr lang="en-US" altLang="zh-CN" dirty="0"/>
              <a:t>Good architectural design (such as </a:t>
            </a:r>
            <a:r>
              <a:rPr lang="en-US" altLang="zh-CN" dirty="0" err="1"/>
              <a:t>pluginization</a:t>
            </a:r>
            <a:r>
              <a:rPr lang="en-US" altLang="zh-CN" dirty="0"/>
              <a:t>) can greatly accelerate the integration of the innovation ecosystem.</a:t>
            </a:r>
          </a:p>
          <a:p>
            <a:r>
              <a:rPr lang="en-US" altLang="zh-CN" dirty="0"/>
              <a:t>Looking to the Future:</a:t>
            </a:r>
          </a:p>
          <a:p>
            <a:pPr lvl="1"/>
            <a:r>
              <a:rPr lang="en-US" altLang="zh-CN" dirty="0"/>
              <a:t>With the increasing prevalence of Hybrid Expert (</a:t>
            </a:r>
            <a:r>
              <a:rPr lang="en-US" altLang="zh-CN" dirty="0" err="1"/>
              <a:t>MoE</a:t>
            </a:r>
            <a:r>
              <a:rPr lang="en-US" altLang="zh-CN" dirty="0"/>
              <a:t>) and Long Context models, end-to-end optimized memory management will face new challenges, and the </a:t>
            </a:r>
            <a:r>
              <a:rPr lang="en-US" altLang="zh-CN" dirty="0" err="1"/>
              <a:t>FlagOS</a:t>
            </a:r>
            <a:r>
              <a:rPr lang="en-US" altLang="zh-CN" dirty="0"/>
              <a:t> system will continue to evolve.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4201</Words>
  <Application>Microsoft Office PowerPoint</Application>
  <PresentationFormat>宽屏</PresentationFormat>
  <Paragraphs>241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Google Sans</vt:lpstr>
      <vt:lpstr>Google Sans Flex</vt:lpstr>
      <vt:lpstr>Google Sans Text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44: End-to-End Performance Optimization</vt:lpstr>
      <vt:lpstr>End-to-End Performance Optimization</vt:lpstr>
      <vt:lpstr>Outline of End-to-End Performance Optimization</vt:lpstr>
      <vt:lpstr>What is end-to-end collaborative optimization?</vt:lpstr>
      <vt:lpstr>The "Double Walls" of Large Model Inference</vt:lpstr>
      <vt:lpstr>The "Double Walls" of Large Model Inference</vt:lpstr>
      <vt:lpstr>Core Goal of End-to-End Optimization</vt:lpstr>
      <vt:lpstr>Algorithm Design and Model Layer Optimization</vt:lpstr>
      <vt:lpstr>Quantization and Sparsity Techniques</vt:lpstr>
      <vt:lpstr>Compiler-Level Optimization Strategies</vt:lpstr>
      <vt:lpstr>Memory and Communication Optimization</vt:lpstr>
      <vt:lpstr>Operator Implementation</vt:lpstr>
      <vt:lpstr>FlagGems Operator Library: Role and Ecosystem</vt:lpstr>
      <vt:lpstr>FlagOS and FlagScale Collaboration</vt:lpstr>
      <vt:lpstr>Seamless Integration of Training and Inference</vt:lpstr>
      <vt:lpstr>vLLM-Plugin-FL Design Philosophy</vt:lpstr>
      <vt:lpstr>Deep Optimization of PagedAttention</vt:lpstr>
      <vt:lpstr>Continuous Batching (Dynamic Batching)</vt:lpstr>
      <vt:lpstr>vLLM-Plugin-FL + FlagGems + FlagTree</vt:lpstr>
      <vt:lpstr>Extending the Scenario</vt:lpstr>
      <vt:lpstr>Experiment Guide (End-to-End Hands-on)</vt:lpstr>
      <vt:lpstr>End-to-End Optimization Summary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10</cp:revision>
  <dcterms:created xsi:type="dcterms:W3CDTF">2026-03-12T03:05:00Z</dcterms:created>
  <dcterms:modified xsi:type="dcterms:W3CDTF">2026-03-17T14:55:20Z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