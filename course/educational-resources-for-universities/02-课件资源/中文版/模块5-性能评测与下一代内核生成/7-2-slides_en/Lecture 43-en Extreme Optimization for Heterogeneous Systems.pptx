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33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9" r:id="rId19"/>
    <p:sldId id="280" r:id="rId20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051053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70711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1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14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13.png"/><Relationship Id="rId29" Type="http://schemas.openxmlformats.org/officeDocument/2006/relationships/image" Target="../media/image18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16.png"/><Relationship Id="rId28" Type="http://schemas.openxmlformats.org/officeDocument/2006/relationships/image" Target="../media/image17.jpeg"/><Relationship Id="rId10" Type="http://schemas.openxmlformats.org/officeDocument/2006/relationships/tags" Target="../tags/tag19.xml"/><Relationship Id="rId19" Type="http://schemas.openxmlformats.org/officeDocument/2006/relationships/image" Target="../media/image12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15.png"/><Relationship Id="rId27" Type="http://schemas.openxmlformats.org/officeDocument/2006/relationships/hyperlink" Target="https://flagos.io/Hom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Lecture 43</a:t>
            </a:r>
            <a:r>
              <a:rPr lang="zh-CN" altLang="en-US">
                <a:sym typeface="+mn-ea"/>
              </a:rPr>
              <a:t>: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Extreme Optimization of Heterogeneous Systems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Microarchitecture of Heterogeneous Systems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Architecture Evolution: From a single</a:t>
            </a:r>
            <a:r>
              <a:rPr lang="en-US" altLang="zh-CN"/>
              <a:t> SIMT </a:t>
            </a:r>
            <a:r>
              <a:rPr lang="zh-CN" altLang="en-US"/>
              <a:t> model toward architectures integrating tensor engines, asynchronous memory, and massive on-chip caches.</a:t>
            </a:r>
            <a:endParaRPr lang="en-US" altLang="zh-CN"/>
          </a:p>
          <a:p>
            <a:r>
              <a:rPr lang="zh-CN" altLang="en-US"/>
              <a:t>Ecosystem Differences: Fundamental differences exist in instruction throughput, register file sizes, and memory topologies across different hardware.</a:t>
            </a:r>
          </a:p>
          <a:p>
            <a:r>
              <a:rPr lang="zh-CN" altLang="en-US"/>
              <a:t>Optimization Requirements: Relying on abstract general-purpose compilers often leads to pipeline stalls or idle bandwidth; targeted specialization is essential.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Typical Domestic</a:t>
            </a:r>
            <a:r>
              <a:rPr lang="en-US" altLang="zh-CN"/>
              <a:t> GPU </a:t>
            </a:r>
            <a:r>
              <a:rPr lang="zh-CN" altLang="en-US"/>
              <a:t> Microarchitecture Examples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Moore Threads (</a:t>
            </a:r>
            <a:r>
              <a:rPr lang="en-US" altLang="zh-CN" sz="2000"/>
              <a:t>Moore Threads</a:t>
            </a:r>
            <a:r>
              <a:rPr lang="zh-CN" altLang="en-US" sz="2000"/>
              <a:t>): Fifth-generation</a:t>
            </a:r>
            <a:r>
              <a:rPr lang="en-US" altLang="zh-CN" sz="2000"/>
              <a:t>“</a:t>
            </a:r>
            <a:r>
              <a:rPr lang="zh-CN" altLang="en-US" sz="2000"/>
              <a:t>Huagang</a:t>
            </a:r>
            <a:r>
              <a:rPr lang="en-US" altLang="zh-CN" sz="2000"/>
              <a:t>”</a:t>
            </a:r>
            <a:r>
              <a:rPr lang="zh-CN" altLang="en-US" sz="2000"/>
              <a:t> architecture, supporting next-generation asynchronous programming models and</a:t>
            </a:r>
            <a:r>
              <a:rPr lang="en-US" altLang="zh-CN" sz="2000"/>
              <a:t> FP4 </a:t>
            </a:r>
            <a:r>
              <a:rPr lang="zh-CN" altLang="en-US" sz="2000"/>
              <a:t> quantized data format, supporting clusters of over 100,000 cards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  <a:endParaRPr lang="en-US" altLang="zh-CN" sz="2000"/>
          </a:p>
          <a:p>
            <a:r>
              <a:rPr lang="zh-CN" altLang="en-US" sz="2000"/>
              <a:t>Biren Technology (</a:t>
            </a:r>
            <a:r>
              <a:rPr lang="en-US" altLang="zh-CN" sz="2000"/>
              <a:t>Biren</a:t>
            </a:r>
            <a:r>
              <a:rPr lang="zh-CN" altLang="en-US" sz="2000"/>
              <a:t>):</a:t>
            </a:r>
            <a:r>
              <a:rPr lang="en-US" altLang="zh-CN" sz="2000"/>
              <a:t>BR100 </a:t>
            </a:r>
            <a:r>
              <a:rPr lang="zh-CN" altLang="en-US" sz="2000"/>
              <a:t> architecture, equipped with</a:t>
            </a:r>
            <a:r>
              <a:rPr lang="en-US" altLang="zh-CN" sz="2000"/>
              <a:t> 300MB </a:t>
            </a:r>
            <a:r>
              <a:rPr lang="zh-CN" altLang="en-US" sz="2000"/>
              <a:t> massive on-chip cache and</a:t>
            </a:r>
            <a:r>
              <a:rPr lang="en-US" altLang="zh-CN" sz="2000"/>
              <a:t> 64GB HBM2E</a:t>
            </a:r>
            <a:r>
              <a:rPr lang="zh-CN" altLang="en-US" sz="2000"/>
              <a:t>, minimizing global memory access latency to the extreme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95" y="3154680"/>
            <a:ext cx="4868545" cy="3430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55" y="3429000"/>
            <a:ext cx="5925820" cy="26073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Case Study</a:t>
            </a:r>
            <a:r>
              <a:rPr lang="en-US" altLang="zh-CN"/>
              <a:t>:</a:t>
            </a:r>
            <a:r>
              <a:rPr lang="zh-CN" altLang="en-US"/>
              <a:t>Background and Challenges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https://github.com/flagos-ai/FlagTree/pull/333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Objective</a:t>
            </a:r>
          </a:p>
          <a:p>
            <a:pPr lvl="1"/>
            <a:r>
              <a:rPr lang="zh-CN" altLang="en-US" sz="1800"/>
              <a:t>Taking</a:t>
            </a:r>
            <a:r>
              <a:rPr lang="en-US" altLang="zh-CN" sz="1800"/>
              <a:t> tle.gpu.local_ptr </a:t>
            </a:r>
            <a:r>
              <a:rPr lang="zh-CN" altLang="en-US" sz="1800"/>
              <a:t> as an example</a:t>
            </a:r>
            <a:r>
              <a:rPr lang="en-US" altLang="zh-CN" sz="1800"/>
              <a:t>,</a:t>
            </a:r>
            <a:r>
              <a:rPr lang="zh-CN" altLang="en-US" sz="1800"/>
              <a:t> introduce how toimplement microarchitecture optimization for specific architectures</a:t>
            </a:r>
          </a:p>
          <a:p>
            <a:pPr lvl="1"/>
            <a:r>
              <a:rPr lang="zh-CN" altLang="en-US" sz="1800"/>
              <a:t>Code Location:</a:t>
            </a:r>
            <a:r>
              <a:rPr lang="en-US" altLang="zh-CN" sz="1800"/>
              <a:t>https://github.com/flagos-ai/FlagTree/pull/333</a:t>
            </a:r>
          </a:p>
          <a:p>
            <a:r>
              <a:rPr lang="zh-CN" altLang="en-US" sz="2000"/>
              <a:t>Core Challenges</a:t>
            </a:r>
          </a:p>
          <a:p>
            <a:pPr lvl="1"/>
            <a:r>
              <a:rPr lang="zh-CN" altLang="en-US" sz="1800"/>
              <a:t>Generic optimizations cannot reach the low-level details</a:t>
            </a:r>
          </a:p>
          <a:p>
            <a:pPr lvl="1"/>
            <a:r>
              <a:rPr lang="zh-CN" altLang="en-US" sz="1800"/>
              <a:t>Shared memory access bottleneck</a:t>
            </a:r>
          </a:p>
          <a:p>
            <a:pPr lvl="1"/>
            <a:r>
              <a:rPr lang="zh-CN" altLang="en-US" sz="1800"/>
              <a:t>Significant operator performance gaps</a:t>
            </a:r>
          </a:p>
          <a:p>
            <a:pPr lvl="2"/>
            <a:r>
              <a:rPr lang="zh-CN" altLang="en-US" sz="1400"/>
              <a:t>e.g.,</a:t>
            </a:r>
            <a:r>
              <a:rPr lang="en-US" altLang="zh-CN" sz="1400"/>
              <a:t>moe_align_block_size, topk</a:t>
            </a:r>
            <a:r>
              <a:rPr lang="zh-CN" altLang="en-US" sz="1400"/>
              <a:t> etc.</a:t>
            </a:r>
            <a:endParaRPr lang="en-US" altLang="zh-CN" sz="1400"/>
          </a:p>
          <a:p>
            <a:pPr lvl="1"/>
            <a:r>
              <a:rPr lang="zh-CN" altLang="en-US" sz="1800"/>
              <a:t>Software stack fragmentation</a:t>
            </a:r>
          </a:p>
          <a:p>
            <a:pPr lvl="1"/>
            <a:endParaRPr lang="zh-CN" altLang="en-US" sz="1800"/>
          </a:p>
          <a:p>
            <a:pPr lvl="1"/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080" y="3775710"/>
            <a:ext cx="5852795" cy="22720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Hardware Principles and Memory Access Optimization Fundamentals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290945" cy="485330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000"/>
              <a:t>Shared Memory </a:t>
            </a:r>
            <a:r>
              <a:rPr lang="zh-CN" altLang="en-US" sz="2000"/>
              <a:t> Core Characteristics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Bank </a:t>
            </a:r>
            <a:r>
              <a:rPr lang="zh-CN" altLang="en-US" sz="1800"/>
              <a:t> Structure</a:t>
            </a:r>
            <a:r>
              <a:rPr lang="en-US" altLang="zh-CN" sz="1800"/>
              <a:t>:</a:t>
            </a:r>
            <a:r>
              <a:rPr lang="zh-CN" altLang="en-US" sz="1800"/>
              <a:t> divided into</a:t>
            </a:r>
            <a:r>
              <a:rPr lang="en-US" altLang="zh-CN" sz="1800"/>
              <a:t> 32  banks</a:t>
            </a:r>
            <a:r>
              <a:rPr lang="zh-CN" altLang="en-US" sz="1800"/>
              <a:t>s, every</a:t>
            </a:r>
            <a:r>
              <a:rPr lang="en-US" altLang="zh-CN" sz="1800"/>
              <a:t> 4</a:t>
            </a:r>
            <a:r>
              <a:rPr lang="zh-CN" altLang="en-US" sz="1800"/>
              <a:t> bytes spanning across</a:t>
            </a:r>
            <a:r>
              <a:rPr lang="en-US" altLang="zh-CN" sz="1800"/>
              <a:t> bank</a:t>
            </a:r>
            <a:r>
              <a:rPr lang="zh-CN" altLang="en-US" sz="1800"/>
              <a:t>s; parallel access without conflicts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Thread Block Visible</a:t>
            </a:r>
            <a:r>
              <a:rPr lang="en-US" altLang="zh-CN" sz="1800"/>
              <a:t>:</a:t>
            </a:r>
            <a:r>
              <a:rPr lang="zh-CN" altLang="en-US" sz="1800"/>
              <a:t> the same</a:t>
            </a:r>
            <a:r>
              <a:rPr lang="en-US" altLang="zh-CN" sz="1800"/>
              <a:t> CTA </a:t>
            </a:r>
            <a:r>
              <a:rPr lang="zh-CN" altLang="en-US" sz="1800"/>
              <a:t> share it, requiring</a:t>
            </a:r>
            <a:r>
              <a:rPr lang="en-US" altLang="zh-CN" sz="1800"/>
              <a:t> __syncthreads() </a:t>
            </a:r>
            <a:r>
              <a:rPr lang="zh-CN" altLang="en-US" sz="1800"/>
              <a:t> for synchronization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Explicit Management</a:t>
            </a:r>
            <a:r>
              <a:rPr lang="en-US" altLang="zh-CN" sz="1800"/>
              <a:t>:</a:t>
            </a:r>
            <a:r>
              <a:rPr lang="zh-CN" altLang="en-US" sz="1800"/>
              <a:t>Programmer</a:t>
            </a:r>
            <a:r>
              <a:rPr lang="en-US" altLang="zh-CN" sz="1800"/>
              <a:t>/</a:t>
            </a:r>
            <a:r>
              <a:rPr lang="zh-CN" altLang="en-US" sz="1800"/>
              <a:t>/compiler explicitly controls allocation; not a transparent</a:t>
            </a:r>
            <a:r>
              <a:rPr lang="en-US" altLang="zh-CN" sz="1800"/>
              <a:t> cache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Domestic Chip Differences</a:t>
            </a:r>
            <a:r>
              <a:rPr lang="en-US" altLang="zh-CN" sz="1800"/>
              <a:t>:</a:t>
            </a:r>
            <a:r>
              <a:rPr lang="zh-CN" altLang="en-US" sz="1800"/>
              <a:t>Some domestic</a:t>
            </a:r>
            <a:r>
              <a:rPr lang="en-US" altLang="zh-CN" sz="1800"/>
              <a:t> GPU </a:t>
            </a:r>
            <a:r>
              <a:rPr lang="zh-CN" altLang="en-US" sz="1800"/>
              <a:t>'s</a:t>
            </a:r>
            <a:r>
              <a:rPr lang="en-US" altLang="zh-CN" sz="1800"/>
              <a:t> bank </a:t>
            </a:r>
            <a:r>
              <a:rPr lang="zh-CN" altLang="en-US" sz="1800"/>
              <a:t> bank width and address mapping differ from</a:t>
            </a:r>
            <a:r>
              <a:rPr lang="en-US" altLang="zh-CN" sz="1800"/>
              <a:t> NVIDIA 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en-US" altLang="zh-CN" sz="1800"/>
              <a:t>local_ptr </a:t>
            </a:r>
            <a:r>
              <a:rPr lang="zh-CN" altLang="en-US" sz="1800"/>
              <a:t> Significance</a:t>
            </a:r>
            <a:r>
              <a:rPr lang="en-US" altLang="zh-CN" sz="1800"/>
              <a:t>:</a:t>
            </a:r>
            <a:r>
              <a:rPr lang="zh-CN" altLang="en-US" sz="1800"/>
              <a:t> Verify via</a:t>
            </a:r>
            <a:r>
              <a:rPr lang="en-US" altLang="zh-CN" sz="1800"/>
              <a:t> local_ptr </a:t>
            </a:r>
            <a:r>
              <a:rPr lang="zh-CN" altLang="en-US" sz="1800"/>
              <a:t> abstraction, uniformly express</a:t>
            </a:r>
            <a:r>
              <a:rPr lang="en-US" altLang="zh-CN" sz="1800"/>
              <a:t> shared mem </a:t>
            </a:r>
            <a:r>
              <a:rPr lang="zh-CN" altLang="en-US" sz="1800"/>
              <a:t> pointer operations</a:t>
            </a:r>
          </a:p>
          <a:p>
            <a:pPr lvl="1">
              <a:lnSpc>
                <a:spcPct val="110000"/>
              </a:lnSpc>
            </a:pPr>
            <a:endParaRPr lang="zh-CN" altLang="en-US" sz="1800"/>
          </a:p>
        </p:txBody>
      </p:sp>
      <p:grpSp>
        <p:nvGrpSpPr>
          <p:cNvPr id="22" name="组合 21"/>
          <p:cNvGrpSpPr/>
          <p:nvPr/>
        </p:nvGrpSpPr>
        <p:grpSpPr>
          <a:xfrm>
            <a:off x="7071366" y="2126956"/>
            <a:ext cx="4728706" cy="3425372"/>
            <a:chOff x="3937" y="2835"/>
            <a:chExt cx="6301" cy="4126"/>
          </a:xfrm>
        </p:grpSpPr>
        <p:sp>
          <p:nvSpPr>
            <p:cNvPr id="6" name="rect"/>
            <p:cNvSpPr>
              <a:spLocks noGrp="1"/>
            </p:cNvSpPr>
            <p:nvPr/>
          </p:nvSpPr>
          <p:spPr>
            <a:xfrm>
              <a:off x="3937" y="2835"/>
              <a:ext cx="6299" cy="551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t"/>
            <p:cNvSpPr txBox="1">
              <a:spLocks noGrp="1"/>
            </p:cNvSpPr>
            <p:nvPr/>
          </p:nvSpPr>
          <p:spPr>
            <a:xfrm>
              <a:off x="4173" y="2913"/>
              <a:ext cx="4409" cy="39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7500" lnSpcReduction="10000"/>
            </a:bodyPr>
            <a:lstStyle/>
            <a:p>
              <a:pPr algn="l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Register</a:t>
              </a:r>
            </a:p>
          </p:txBody>
        </p:sp>
        <p:sp>
          <p:nvSpPr>
            <p:cNvPr id="8" name="txt"/>
            <p:cNvSpPr txBox="1">
              <a:spLocks noGrp="1"/>
            </p:cNvSpPr>
            <p:nvPr/>
          </p:nvSpPr>
          <p:spPr>
            <a:xfrm>
              <a:off x="8347" y="2913"/>
              <a:ext cx="1890" cy="39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3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Fastest ~1 cycle</a:t>
              </a:r>
            </a:p>
          </p:txBody>
        </p:sp>
        <p:sp>
          <p:nvSpPr>
            <p:cNvPr id="9" name="rect"/>
            <p:cNvSpPr>
              <a:spLocks noGrp="1"/>
            </p:cNvSpPr>
            <p:nvPr/>
          </p:nvSpPr>
          <p:spPr>
            <a:xfrm>
              <a:off x="3937" y="3512"/>
              <a:ext cx="6299" cy="598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xt"/>
            <p:cNvSpPr txBox="1">
              <a:spLocks noGrp="1"/>
            </p:cNvSpPr>
            <p:nvPr/>
          </p:nvSpPr>
          <p:spPr>
            <a:xfrm>
              <a:off x="4173" y="3591"/>
              <a:ext cx="4409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Shared Memory</a:t>
              </a:r>
            </a:p>
          </p:txBody>
        </p:sp>
        <p:sp>
          <p:nvSpPr>
            <p:cNvPr id="11" name="txt"/>
            <p:cNvSpPr txBox="1">
              <a:spLocks noGrp="1"/>
            </p:cNvSpPr>
            <p:nvPr/>
          </p:nvSpPr>
          <p:spPr>
            <a:xfrm>
              <a:off x="8347" y="3630"/>
              <a:ext cx="1890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75000" lnSpcReduction="10000"/>
            </a:bodyPr>
            <a:lstStyle/>
            <a:p>
              <a:pPr algn="r"/>
              <a:r>
                <a:rPr lang="zh-CN" altLang="en-US" sz="13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Very Fast ~5 cycles, thread block shared</a:t>
              </a:r>
            </a:p>
          </p:txBody>
        </p:sp>
        <p:sp>
          <p:nvSpPr>
            <p:cNvPr id="12" name="rect"/>
            <p:cNvSpPr>
              <a:spLocks noGrp="1"/>
            </p:cNvSpPr>
            <p:nvPr/>
          </p:nvSpPr>
          <p:spPr>
            <a:xfrm>
              <a:off x="3937" y="4236"/>
              <a:ext cx="6299" cy="598"/>
            </a:xfrm>
            <a:prstGeom prst="rect">
              <a:avLst/>
            </a:prstGeom>
            <a:solidFill>
              <a:srgbClr val="E5737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xt"/>
            <p:cNvSpPr txBox="1">
              <a:spLocks noGrp="1"/>
            </p:cNvSpPr>
            <p:nvPr/>
          </p:nvSpPr>
          <p:spPr>
            <a:xfrm>
              <a:off x="4173" y="4315"/>
              <a:ext cx="4409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L1 Cache / Texture</a:t>
              </a:r>
            </a:p>
          </p:txBody>
        </p:sp>
        <p:sp>
          <p:nvSpPr>
            <p:cNvPr id="14" name="txt"/>
            <p:cNvSpPr txBox="1">
              <a:spLocks noGrp="1"/>
            </p:cNvSpPr>
            <p:nvPr/>
          </p:nvSpPr>
          <p:spPr>
            <a:xfrm>
              <a:off x="8347" y="4315"/>
              <a:ext cx="1890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3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Fast ~30 cycles</a:t>
              </a:r>
            </a:p>
          </p:txBody>
        </p:sp>
        <p:sp>
          <p:nvSpPr>
            <p:cNvPr id="15" name="rect"/>
            <p:cNvSpPr>
              <a:spLocks noGrp="1"/>
            </p:cNvSpPr>
            <p:nvPr/>
          </p:nvSpPr>
          <p:spPr>
            <a:xfrm>
              <a:off x="3937" y="4961"/>
              <a:ext cx="6299" cy="598"/>
            </a:xfrm>
            <a:prstGeom prst="rect">
              <a:avLst/>
            </a:prstGeom>
            <a:solidFill>
              <a:srgbClr val="EF9A9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t"/>
            <p:cNvSpPr txBox="1">
              <a:spLocks noGrp="1"/>
            </p:cNvSpPr>
            <p:nvPr/>
          </p:nvSpPr>
          <p:spPr>
            <a:xfrm>
              <a:off x="4173" y="5039"/>
              <a:ext cx="4409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L2 Cache</a:t>
              </a:r>
            </a:p>
          </p:txBody>
        </p:sp>
        <p:sp>
          <p:nvSpPr>
            <p:cNvPr id="17" name="txt"/>
            <p:cNvSpPr txBox="1">
              <a:spLocks noGrp="1"/>
            </p:cNvSpPr>
            <p:nvPr/>
          </p:nvSpPr>
          <p:spPr>
            <a:xfrm>
              <a:off x="8347" y="5039"/>
              <a:ext cx="1890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2500" lnSpcReduction="20000"/>
            </a:bodyPr>
            <a:lstStyle/>
            <a:p>
              <a:pPr algn="r"/>
              <a:r>
                <a:rPr lang="zh-CN" altLang="en-US" sz="13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Moderately Fast ~100 cycles</a:t>
              </a:r>
            </a:p>
          </p:txBody>
        </p:sp>
        <p:sp>
          <p:nvSpPr>
            <p:cNvPr id="18" name="rect"/>
            <p:cNvSpPr>
              <a:spLocks noGrp="1"/>
            </p:cNvSpPr>
            <p:nvPr/>
          </p:nvSpPr>
          <p:spPr>
            <a:xfrm>
              <a:off x="3937" y="5685"/>
              <a:ext cx="6299" cy="598"/>
            </a:xfrm>
            <a:prstGeom prst="rect">
              <a:avLst/>
            </a:prstGeom>
            <a:solidFill>
              <a:srgbClr val="FFCCB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xt"/>
            <p:cNvSpPr txBox="1">
              <a:spLocks noGrp="1"/>
            </p:cNvSpPr>
            <p:nvPr/>
          </p:nvSpPr>
          <p:spPr>
            <a:xfrm>
              <a:off x="4173" y="5764"/>
              <a:ext cx="4409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Global Memory (HBM)</a:t>
              </a:r>
            </a:p>
          </p:txBody>
        </p:sp>
        <p:sp>
          <p:nvSpPr>
            <p:cNvPr id="20" name="txt"/>
            <p:cNvSpPr txBox="1">
              <a:spLocks noGrp="1"/>
            </p:cNvSpPr>
            <p:nvPr/>
          </p:nvSpPr>
          <p:spPr>
            <a:xfrm>
              <a:off x="8348" y="5780"/>
              <a:ext cx="1890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5000" lnSpcReduction="10000"/>
            </a:bodyPr>
            <a:lstStyle/>
            <a:p>
              <a:pPr algn="r"/>
              <a:r>
                <a:rPr lang="zh-CN" altLang="en-US" sz="13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Slow ~400+ cycles</a:t>
              </a:r>
            </a:p>
          </p:txBody>
        </p:sp>
        <p:sp>
          <p:nvSpPr>
            <p:cNvPr id="21" name="txt"/>
            <p:cNvSpPr txBox="1">
              <a:spLocks noGrp="1"/>
            </p:cNvSpPr>
            <p:nvPr/>
          </p:nvSpPr>
          <p:spPr>
            <a:xfrm>
              <a:off x="3937" y="6488"/>
              <a:ext cx="6299" cy="47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Latency increases from top to bottom  ▲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t>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265545" cy="48533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/>
              <a:t>Triton </a:t>
            </a:r>
            <a:r>
              <a:rPr lang="zh-CN" altLang="en-US" sz="1600"/>
              <a:t>-written, Cross-Hardware Unified:</a:t>
            </a:r>
          </a:p>
          <a:p>
            <a:pPr lvl="1">
              <a:lnSpc>
                <a:spcPct val="110000"/>
              </a:lnSpc>
            </a:pPr>
            <a:r>
              <a:rPr lang="zh-CN" altLang="en-US" sz="1200"/>
              <a:t>Natively supports</a:t>
            </a:r>
            <a:r>
              <a:rPr lang="en-US" altLang="zh-CN" sz="1200"/>
              <a:t> CUDA</a:t>
            </a:r>
            <a:r>
              <a:rPr lang="zh-CN" altLang="en-US" sz="1200"/>
              <a:t>,</a:t>
            </a:r>
            <a:r>
              <a:rPr lang="en-US" altLang="zh-CN" sz="1200"/>
              <a:t>MLU</a:t>
            </a:r>
            <a:r>
              <a:rPr lang="zh-CN" altLang="en-US" sz="1200"/>
              <a:t>,</a:t>
            </a:r>
            <a:r>
              <a:rPr lang="en-US" altLang="zh-CN" sz="1200"/>
              <a:t>XPU</a:t>
            </a:r>
            <a:r>
              <a:rPr lang="zh-CN" altLang="en-US" sz="1200"/>
              <a:t>,</a:t>
            </a:r>
            <a:r>
              <a:rPr lang="en-US" altLang="zh-CN" sz="1200"/>
              <a:t>NPU </a:t>
            </a:r>
            <a:r>
              <a:rPr lang="zh-CN" altLang="en-US" sz="1200"/>
              <a:t> etc.</a:t>
            </a:r>
            <a:r>
              <a:rPr lang="en-US" altLang="zh-CN" sz="1200"/>
              <a:t> 10+ </a:t>
            </a:r>
            <a:r>
              <a:rPr lang="zh-CN" altLang="en-US" sz="1200"/>
              <a:t> hardware backends</a:t>
            </a:r>
          </a:p>
          <a:p>
            <a:pPr>
              <a:lnSpc>
                <a:spcPct val="110000"/>
              </a:lnSpc>
            </a:pPr>
            <a:r>
              <a:rPr lang="zh-CN" altLang="en-US" sz="1600"/>
              <a:t>High-Performance Operators:</a:t>
            </a:r>
          </a:p>
          <a:p>
            <a:pPr lvl="1">
              <a:lnSpc>
                <a:spcPct val="110000"/>
              </a:lnSpc>
            </a:pPr>
            <a:r>
              <a:rPr lang="zh-CN" altLang="en-US" sz="1200"/>
              <a:t>Core training and inference operators including matrix operations, attention mechanisms, normalization, and activation functions</a:t>
            </a:r>
          </a:p>
          <a:p>
            <a:pPr>
              <a:lnSpc>
                <a:spcPct val="110000"/>
              </a:lnSpc>
            </a:pPr>
            <a:r>
              <a:rPr lang="en-US" altLang="zh-CN" sz="1600"/>
              <a:t>LibEntry </a:t>
            </a:r>
            <a:r>
              <a:rPr lang="zh-CN" altLang="en-US" sz="1600"/>
              <a:t> Kernel Cache:</a:t>
            </a:r>
          </a:p>
          <a:p>
            <a:pPr lvl="1">
              <a:lnSpc>
                <a:spcPct val="110000"/>
              </a:lnSpc>
            </a:pPr>
            <a:r>
              <a:rPr lang="zh-CN" altLang="en-US" sz="1200"/>
              <a:t>In-house dispatch layer replacing</a:t>
            </a:r>
            <a:r>
              <a:rPr lang="en-US" altLang="zh-CN" sz="1200"/>
              <a:t> Triton </a:t>
            </a:r>
            <a:r>
              <a:rPr lang="zh-CN" altLang="en-US" sz="1200"/>
              <a:t> native</a:t>
            </a:r>
            <a:r>
              <a:rPr lang="en-US" altLang="zh-CN" sz="1200"/>
              <a:t> Autotuner</a:t>
            </a:r>
            <a:r>
              <a:rPr lang="zh-CN" altLang="en-US" sz="1200"/>
              <a:t>, significantly reducing first-compilation overhead and</a:t>
            </a:r>
            <a:r>
              <a:rPr lang="en-US" altLang="zh-CN" sz="1200"/>
              <a:t> dispatch </a:t>
            </a:r>
            <a:r>
              <a:rPr lang="zh-CN" altLang="en-US" sz="1200"/>
              <a:t> dispatch latency</a:t>
            </a:r>
          </a:p>
          <a:p>
            <a:pPr>
              <a:lnSpc>
                <a:spcPct val="110000"/>
              </a:lnSpc>
            </a:pPr>
            <a:r>
              <a:rPr lang="zh-CN" altLang="en-US" sz="1600"/>
              <a:t>Dual-Mode Deployment:</a:t>
            </a:r>
          </a:p>
          <a:p>
            <a:pPr lvl="1">
              <a:lnSpc>
                <a:spcPct val="110000"/>
              </a:lnSpc>
            </a:pPr>
            <a:r>
              <a:rPr lang="zh-CN" altLang="en-US" sz="1200"/>
              <a:t>Pure</a:t>
            </a:r>
            <a:r>
              <a:rPr lang="en-US" altLang="zh-CN" sz="1200"/>
              <a:t> Python </a:t>
            </a:r>
            <a:r>
              <a:rPr lang="zh-CN" altLang="en-US" sz="1200"/>
              <a:t> package (quick validation) and</a:t>
            </a:r>
            <a:r>
              <a:rPr lang="en-US" altLang="zh-CN" sz="1200"/>
              <a:t> C++ </a:t>
            </a:r>
            <a:r>
              <a:rPr lang="zh-CN" altLang="en-US" sz="1200"/>
              <a:t> extension (production acceleration) freely switchable;</a:t>
            </a:r>
            <a:r>
              <a:rPr lang="en-US" altLang="zh-CN" sz="1200"/>
              <a:t>C++ </a:t>
            </a:r>
            <a:r>
              <a:rPr lang="zh-CN" altLang="en-US" sz="1200"/>
              <a:t> path eliminates</a:t>
            </a:r>
            <a:r>
              <a:rPr lang="en-US" altLang="zh-CN" sz="1200"/>
              <a:t> Python </a:t>
            </a:r>
            <a:r>
              <a:rPr lang="zh-CN" altLang="en-US" sz="1200"/>
              <a:t> call frame overhead</a:t>
            </a:r>
          </a:p>
          <a:p>
            <a:pPr>
              <a:lnSpc>
                <a:spcPct val="110000"/>
              </a:lnSpc>
            </a:pPr>
            <a:r>
              <a:rPr lang="zh-CN" altLang="en-US" sz="1600"/>
              <a:t>Configuration-Driven Tuning:</a:t>
            </a:r>
          </a:p>
          <a:p>
            <a:pPr lvl="1">
              <a:lnSpc>
                <a:spcPct val="110000"/>
              </a:lnSpc>
            </a:pPr>
            <a:r>
              <a:rPr lang="en-US" altLang="zh-CN" sz="1200"/>
              <a:t>LibTuner </a:t>
            </a:r>
            <a:r>
              <a:rPr lang="zh-CN" altLang="en-US" sz="1200"/>
              <a:t> automatically searches for optimal hyperparameters and persists them as</a:t>
            </a:r>
            <a:r>
              <a:rPr lang="en-US" altLang="zh-CN" sz="1200"/>
              <a:t> YAML</a:t>
            </a:r>
            <a:r>
              <a:rPr lang="zh-CN" altLang="en-US" sz="1200"/>
              <a:t>; cold start directly reuses them without re-running</a:t>
            </a:r>
            <a:r>
              <a:rPr lang="en-US" altLang="zh-CN" sz="1200"/>
              <a:t> benchmark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15" y="1323975"/>
            <a:ext cx="4810760" cy="4721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FlagTree </a:t>
            </a:r>
            <a:r>
              <a:t> System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Unified Multi-Chip</a:t>
            </a:r>
            <a:r>
              <a:rPr lang="en-US" altLang="zh-CN" sz="2000"/>
              <a:t> AI </a:t>
            </a:r>
            <a:r>
              <a:rPr lang="zh-CN" altLang="en-US" sz="2000"/>
              <a:t> Operator Compiler</a:t>
            </a:r>
            <a:r>
              <a:rPr lang="en-US" altLang="zh-CN" sz="2000"/>
              <a:t> · </a:t>
            </a:r>
            <a:r>
              <a:rPr lang="zh-CN" altLang="en-US" sz="2000"/>
              <a:t>Based on</a:t>
            </a:r>
            <a:r>
              <a:rPr lang="en-US" altLang="zh-CN" sz="2000"/>
              <a:t> Triton &amp; MLIR </a:t>
            </a:r>
            <a:r>
              <a:rPr lang="zh-CN" altLang="en-US" sz="2000"/>
              <a:t> Ecosystem</a:t>
            </a:r>
          </a:p>
          <a:p>
            <a:r>
              <a:rPr lang="zh-CN" altLang="en-US" sz="2000"/>
              <a:t>Supported Chip Backends (</a:t>
            </a:r>
            <a:r>
              <a:rPr lang="en-US" altLang="zh-CN" sz="2000"/>
              <a:t>10+ </a:t>
            </a:r>
            <a:r>
              <a:rPr lang="zh-CN" altLang="en-US" sz="2000"/>
              <a:t> domestic and international mainstream</a:t>
            </a:r>
            <a:r>
              <a:rPr lang="en-US" altLang="zh-CN" sz="2000"/>
              <a:t> AI </a:t>
            </a:r>
            <a:r>
              <a:rPr lang="zh-CN" altLang="en-US" sz="2000"/>
              <a:t> chips)</a:t>
            </a:r>
          </a:p>
          <a:p>
            <a:pPr lvl="1"/>
            <a:r>
              <a:rPr lang="en-US" altLang="zh-CN" sz="1800"/>
              <a:t>NVIDIA,</a:t>
            </a:r>
            <a:r>
              <a:rPr lang="zh-CN" altLang="en-US" sz="1800"/>
              <a:t>Cambricon</a:t>
            </a:r>
            <a:r>
              <a:rPr lang="en-US" altLang="zh-CN" sz="1800"/>
              <a:t>,</a:t>
            </a:r>
            <a:r>
              <a:rPr lang="zh-CN" altLang="en-US" sz="1800"/>
              <a:t>Tsingmicro</a:t>
            </a:r>
            <a:r>
              <a:rPr lang="en-US" altLang="zh-CN" sz="1800"/>
              <a:t>,</a:t>
            </a:r>
            <a:r>
              <a:rPr lang="zh-CN" altLang="en-US" sz="1800"/>
              <a:t>Huawei Ascend</a:t>
            </a:r>
            <a:r>
              <a:rPr lang="en-US" altLang="zh-CN" sz="1800"/>
              <a:t>,</a:t>
            </a:r>
            <a:r>
              <a:rPr lang="zh-CN" altLang="en-US" sz="1800"/>
              <a:t>Moore Threads, etc.</a:t>
            </a:r>
          </a:p>
          <a:p>
            <a:pPr lvl="1"/>
            <a:r>
              <a:rPr lang="zh-CN" altLang="en-US" sz="1800"/>
              <a:t>Multiple</a:t>
            </a:r>
            <a:r>
              <a:rPr lang="en-US" altLang="zh-CN" sz="1800"/>
              <a:t> Triton </a:t>
            </a:r>
            <a:r>
              <a:rPr lang="zh-CN" altLang="en-US" sz="1800"/>
              <a:t> version branches (</a:t>
            </a:r>
            <a:r>
              <a:rPr lang="en-US" altLang="zh-CN" sz="1800"/>
              <a:t>v3.1 ~ v3.5</a:t>
            </a:r>
            <a:r>
              <a:rPr lang="zh-CN" altLang="en-US" sz="1800"/>
              <a:t>) maintained in parallel; independent</a:t>
            </a:r>
            <a:r>
              <a:rPr lang="en-US" altLang="zh-CN" sz="1800"/>
              <a:t> CI/CD</a:t>
            </a:r>
          </a:p>
          <a:p>
            <a:pPr lvl="1"/>
            <a:endParaRPr lang="en-US" altLang="zh-CN" sz="1800"/>
          </a:p>
        </p:txBody>
      </p:sp>
      <p:grpSp>
        <p:nvGrpSpPr>
          <p:cNvPr id="6" name="组合 5"/>
          <p:cNvGrpSpPr/>
          <p:nvPr/>
        </p:nvGrpSpPr>
        <p:grpSpPr>
          <a:xfrm>
            <a:off x="741680" y="3359150"/>
            <a:ext cx="10964545" cy="2764790"/>
            <a:chOff x="403" y="1699"/>
            <a:chExt cx="13450" cy="2476"/>
          </a:xfrm>
        </p:grpSpPr>
        <p:sp>
          <p:nvSpPr>
            <p:cNvPr id="7" name="Shape 5"/>
            <p:cNvSpPr/>
            <p:nvPr/>
          </p:nvSpPr>
          <p:spPr>
            <a:xfrm>
              <a:off x="403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8B0012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03" y="1699"/>
              <a:ext cx="3168" cy="158"/>
            </a:xfrm>
            <a:prstGeom prst="rect">
              <a:avLst/>
            </a:prstGeom>
            <a:solidFill>
              <a:srgbClr val="8B0012"/>
            </a:solidFill>
            <a:ln w="12700">
              <a:solidFill>
                <a:srgbClr val="8B0012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03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Python Frontend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403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@triton.jit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FlagGems LibEntry</a:t>
              </a:r>
            </a:p>
          </p:txBody>
        </p:sp>
        <p:sp>
          <p:nvSpPr>
            <p:cNvPr id="11" name="Shape 9"/>
            <p:cNvSpPr/>
            <p:nvPr/>
          </p:nvSpPr>
          <p:spPr>
            <a:xfrm>
              <a:off x="3571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744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3830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B8860B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830" y="1699"/>
              <a:ext cx="3168" cy="158"/>
            </a:xfrm>
            <a:prstGeom prst="rect">
              <a:avLst/>
            </a:prstGeom>
            <a:solidFill>
              <a:srgbClr val="B8860B"/>
            </a:solidFill>
            <a:ln w="12700">
              <a:solidFill>
                <a:srgbClr val="B8860B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830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Compiler Middle Layer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3830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MLIR Dialects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Triton-IR / TTGIR</a:t>
              </a:r>
            </a:p>
          </p:txBody>
        </p:sp>
        <p:sp>
          <p:nvSpPr>
            <p:cNvPr id="17" name="Shape 15"/>
            <p:cNvSpPr/>
            <p:nvPr/>
          </p:nvSpPr>
          <p:spPr>
            <a:xfrm>
              <a:off x="6998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171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19" name="Shape 17"/>
            <p:cNvSpPr/>
            <p:nvPr/>
          </p:nvSpPr>
          <p:spPr>
            <a:xfrm>
              <a:off x="7258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C4314A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7258" y="1699"/>
              <a:ext cx="3168" cy="158"/>
            </a:xfrm>
            <a:prstGeom prst="rect">
              <a:avLst/>
            </a:prstGeom>
            <a:solidFill>
              <a:srgbClr val="C4314A"/>
            </a:solidFill>
            <a:ln w="12700">
              <a:solidFill>
                <a:srgbClr val="C4314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258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Backend Code Generation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7258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LLVM-IR → PTX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ASM / Vendor Toolchain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10426" y="2851"/>
              <a:ext cx="259" cy="72"/>
            </a:xfrm>
            <a:prstGeom prst="rect">
              <a:avLst/>
            </a:prstGeom>
            <a:solidFill>
              <a:srgbClr val="7A6065"/>
            </a:solidFill>
            <a:ln w="12700">
              <a:solidFill>
                <a:srgbClr val="7A606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0598" y="2729"/>
              <a:ext cx="2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A6065"/>
                  </a:solidFill>
                </a:rPr>
                <a:t>▶</a:t>
              </a:r>
            </a:p>
          </p:txBody>
        </p:sp>
        <p:sp>
          <p:nvSpPr>
            <p:cNvPr id="25" name="Shape 23"/>
            <p:cNvSpPr/>
            <p:nvPr/>
          </p:nvSpPr>
          <p:spPr>
            <a:xfrm>
              <a:off x="10685" y="1699"/>
              <a:ext cx="3168" cy="2477"/>
            </a:xfrm>
            <a:prstGeom prst="rect">
              <a:avLst/>
            </a:prstGeom>
            <a:solidFill>
              <a:srgbClr val="FBF0F1"/>
            </a:solidFill>
            <a:ln w="25400">
              <a:solidFill>
                <a:srgbClr val="5C0009"/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10685" y="1699"/>
              <a:ext cx="3168" cy="158"/>
            </a:xfrm>
            <a:prstGeom prst="rect">
              <a:avLst/>
            </a:prstGeom>
            <a:solidFill>
              <a:srgbClr val="5C0009"/>
            </a:solidFill>
            <a:ln w="12700">
              <a:solidFill>
                <a:srgbClr val="5C000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10685" y="1872"/>
              <a:ext cx="3168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C1C1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Runtime Loading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10685" y="2477"/>
              <a:ext cx="3168" cy="1613"/>
            </a:xfrm>
            <a:prstGeom prst="rect">
              <a:avLst/>
            </a:prstGeom>
            <a:noFill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JIT Cache</a:t>
              </a:r>
              <a:endParaRPr lang="en-US" sz="1600" b="1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7A6065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Unified HW Manager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tle.gpu.local_ptr </a:t>
            </a:r>
            <a:r>
              <a:rPr lang="zh-CN" altLang="en-US"/>
              <a:t> Design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/>
              <a:t>FlagTree TLE </a:t>
            </a:r>
            <a:r>
              <a:rPr lang="zh-CN" altLang="en-US" sz="2000"/>
              <a:t> Extension:</a:t>
            </a:r>
            <a:r>
              <a:rPr lang="en-US" altLang="zh-CN" sz="2000"/>
              <a:t>Shared Memory </a:t>
            </a:r>
            <a:r>
              <a:rPr lang="zh-CN" altLang="en-US" sz="2000"/>
              <a:t> Pointer Primitive</a:t>
            </a:r>
          </a:p>
          <a:p>
            <a:r>
              <a:rPr lang="zh-CN" altLang="en-US" sz="2000"/>
              <a:t>Core Idea: Introduce dedicated primitives at the</a:t>
            </a:r>
            <a:r>
              <a:rPr lang="en-US" altLang="zh-CN" sz="2000"/>
              <a:t> Triton </a:t>
            </a:r>
            <a:r>
              <a:rPr lang="zh-CN" altLang="en-US" sz="2000"/>
              <a:t> language layer so the compiler can recognize</a:t>
            </a:r>
            <a:r>
              <a:rPr lang="en-US" altLang="zh-CN" sz="2000"/>
              <a:t> shared memory </a:t>
            </a:r>
            <a:r>
              <a:rPr lang="zh-CN" altLang="en-US" sz="2000"/>
              <a:t> pointer operations and generate specialized instructions</a:t>
            </a:r>
            <a:endParaRPr lang="zh-CN" altLang="en-US" sz="1800"/>
          </a:p>
          <a:p>
            <a:pPr lvl="1"/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5169535" y="3141345"/>
            <a:ext cx="6773545" cy="2553335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# tle.gpu.local_ptr: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Obtain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shared memory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pointer at a specified position in</a:t>
            </a:r>
          </a:p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def local_ptr(ptr: tl.tensor, offset: tl.tensor) -&gt; tl.tensor:</a:t>
            </a:r>
          </a:p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"""</a:t>
            </a:r>
          </a:p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Returns a pointer to the (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GPU Shared Memory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in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(ptr + offset)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) location in</a:t>
            </a:r>
          </a:p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and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tl.make_block_ptr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: directly operates on raw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shared memory </a:t>
            </a:r>
            <a:b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</a:b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addresses, enabling the compiler to emit architecture-specific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local load/store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instructions</a:t>
            </a:r>
          </a:p>
          <a:p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"""</a:t>
            </a:r>
          </a:p>
          <a:p>
            <a:endParaRPr lang="en-US" altLang="zh-CN" sz="1400">
              <a:latin typeface="Courier New Regular" panose="02070409020205090404" charset="0"/>
              <a:cs typeface="Courier New Regular" panose="02070409020205090404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260350" y="2764155"/>
            <a:ext cx="4909185" cy="35921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/>
              <a:t>Design Points</a:t>
            </a:r>
          </a:p>
          <a:p>
            <a:pPr lvl="1"/>
            <a:r>
              <a:rPr lang="zh-CN" altLang="en-US" sz="1800"/>
              <a:t>Explicitly declare operations on</a:t>
            </a:r>
            <a:r>
              <a:rPr lang="en-US" altLang="zh-CN" sz="1800"/>
              <a:t> shared memory</a:t>
            </a:r>
          </a:p>
          <a:p>
            <a:pPr lvl="1"/>
            <a:r>
              <a:rPr lang="zh-CN" altLang="en-US" sz="1800"/>
              <a:t>Compiler-visible</a:t>
            </a:r>
            <a:r>
              <a:rPr lang="en-US" altLang="zh-CN" sz="1800"/>
              <a:t>,lowering pass </a:t>
            </a:r>
            <a:r>
              <a:rPr lang="zh-CN" altLang="en-US" sz="1800"/>
              <a:t> pass can recognize them</a:t>
            </a:r>
          </a:p>
          <a:p>
            <a:pPr lvl="1"/>
            <a:r>
              <a:rPr lang="zh-CN" altLang="en-US" sz="1800"/>
              <a:t>Under</a:t>
            </a:r>
            <a:r>
              <a:rPr lang="en-US" altLang="zh-CN" sz="1800"/>
              <a:t> TLE </a:t>
            </a:r>
            <a:r>
              <a:rPr lang="zh-CN" altLang="en-US" sz="1800"/>
              <a:t> layer provides unified definitions; each chip backend</a:t>
            </a:r>
            <a:br>
              <a:rPr lang="zh-CN" altLang="en-US" sz="1800"/>
            </a:br>
            <a:r>
              <a:rPr lang="zh-CN" altLang="en-US" sz="1800"/>
              <a:t> implements</a:t>
            </a:r>
            <a:r>
              <a:rPr lang="en-US" altLang="zh-CN" sz="1800"/>
              <a:t> local_ptr </a:t>
            </a:r>
            <a:r>
              <a:rPr lang="zh-CN" altLang="en-US" sz="1800"/>
              <a:t>'s</a:t>
            </a:r>
            <a:r>
              <a:rPr lang="en-US" altLang="zh-CN" sz="1800"/>
              <a:t> lowering</a:t>
            </a:r>
          </a:p>
          <a:p>
            <a:pPr lvl="1"/>
            <a:r>
              <a:rPr lang="zh-CN" altLang="en-US" sz="1800"/>
              <a:t>Zero runtime overhead</a:t>
            </a:r>
          </a:p>
          <a:p>
            <a:pPr lvl="1"/>
            <a:endParaRPr lang="zh-CN" altLang="en-US" sz="1800"/>
          </a:p>
          <a:p>
            <a:pPr lvl="1"/>
            <a:endParaRPr lang="zh-CN" altLang="en-US" sz="180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Compiler</a:t>
            </a:r>
            <a:r>
              <a:rPr lang="en-US" altLang="zh-CN"/>
              <a:t> Pass </a:t>
            </a:r>
            <a:r>
              <a:rPr lang="zh-CN" altLang="en-US"/>
              <a:t> Integration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 Read from</a:t>
            </a:r>
            <a:r>
              <a:rPr lang="en-US" altLang="zh-CN" sz="2000"/>
              <a:t> tle.gpu.local_ptr </a:t>
            </a:r>
            <a:r>
              <a:rPr lang="zh-CN" altLang="en-US" sz="2000"/>
              <a:t> to Architecture-Specialized Instruction Transformation Pipeline</a:t>
            </a:r>
          </a:p>
          <a:p>
            <a:endParaRPr lang="zh-CN" altLang="en-US" sz="2000"/>
          </a:p>
          <a:p>
            <a:endParaRPr lang="zh-CN" altLang="en-US" sz="1665"/>
          </a:p>
          <a:p>
            <a:endParaRPr lang="zh-CN" altLang="en-US" sz="1665"/>
          </a:p>
          <a:p>
            <a:pPr lvl="1"/>
            <a:endParaRPr lang="zh-CN" altLang="en-US" sz="1665"/>
          </a:p>
          <a:p>
            <a:r>
              <a:rPr lang="zh-CN" altLang="en-US" sz="2000"/>
              <a:t>Key</a:t>
            </a:r>
            <a:r>
              <a:rPr lang="en-US" altLang="zh-CN" sz="2000"/>
              <a:t> Pass</a:t>
            </a:r>
            <a:r>
              <a:rPr lang="zh-CN" altLang="en-US" sz="2000"/>
              <a:t>:</a:t>
            </a:r>
            <a:r>
              <a:rPr lang="en-US" altLang="zh-CN" sz="2000"/>
              <a:t>LocalPtrToSharedMemPass</a:t>
            </a:r>
          </a:p>
          <a:p>
            <a:endParaRPr lang="en-US" altLang="zh-CN" sz="2000"/>
          </a:p>
        </p:txBody>
      </p:sp>
      <p:grpSp>
        <p:nvGrpSpPr>
          <p:cNvPr id="25" name="组合 24"/>
          <p:cNvGrpSpPr/>
          <p:nvPr/>
        </p:nvGrpSpPr>
        <p:grpSpPr>
          <a:xfrm>
            <a:off x="1313180" y="2091055"/>
            <a:ext cx="9987915" cy="1190625"/>
            <a:chOff x="3937" y="2756"/>
            <a:chExt cx="15274" cy="1574"/>
          </a:xfrm>
        </p:grpSpPr>
        <p:sp>
          <p:nvSpPr>
            <p:cNvPr id="6" name="rect"/>
            <p:cNvSpPr>
              <a:spLocks noGrp="1"/>
            </p:cNvSpPr>
            <p:nvPr/>
          </p:nvSpPr>
          <p:spPr>
            <a:xfrm>
              <a:off x="3937" y="2756"/>
              <a:ext cx="2677" cy="1575"/>
            </a:xfrm>
            <a:prstGeom prst="rect">
              <a:avLst/>
            </a:prstGeom>
            <a:solidFill>
              <a:srgbClr val="F5F5F5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7" name="txt"/>
            <p:cNvSpPr txBox="1">
              <a:spLocks noGrp="1"/>
            </p:cNvSpPr>
            <p:nvPr/>
          </p:nvSpPr>
          <p:spPr>
            <a:xfrm>
              <a:off x="3937" y="2835"/>
              <a:ext cx="2677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400" b="1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Triton Python</a:t>
              </a:r>
            </a:p>
            <a:p>
              <a:pPr algn="ctr"/>
              <a:r>
                <a:rPr lang="zh-CN" altLang="en-US" sz="1400" b="1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Source Code</a:t>
              </a:r>
            </a:p>
          </p:txBody>
        </p:sp>
        <p:sp>
          <p:nvSpPr>
            <p:cNvPr id="8" name="txt"/>
            <p:cNvSpPr txBox="1">
              <a:spLocks noGrp="1"/>
            </p:cNvSpPr>
            <p:nvPr/>
          </p:nvSpPr>
          <p:spPr>
            <a:xfrm>
              <a:off x="3937" y="3543"/>
              <a:ext cx="2677" cy="70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FlagGems operator</a:t>
              </a:r>
            </a:p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calls local_ptr</a:t>
              </a:r>
            </a:p>
          </p:txBody>
        </p:sp>
        <p:sp>
          <p:nvSpPr>
            <p:cNvPr id="9" name="rect"/>
            <p:cNvSpPr>
              <a:spLocks noGrp="1"/>
            </p:cNvSpPr>
            <p:nvPr/>
          </p:nvSpPr>
          <p:spPr>
            <a:xfrm>
              <a:off x="6693" y="3386"/>
              <a:ext cx="315" cy="7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0" name="rect"/>
            <p:cNvSpPr>
              <a:spLocks noGrp="1"/>
            </p:cNvSpPr>
            <p:nvPr/>
          </p:nvSpPr>
          <p:spPr>
            <a:xfrm>
              <a:off x="7087" y="2756"/>
              <a:ext cx="2677" cy="1575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1" name="txt"/>
            <p:cNvSpPr txBox="1">
              <a:spLocks noGrp="1"/>
            </p:cNvSpPr>
            <p:nvPr/>
          </p:nvSpPr>
          <p:spPr>
            <a:xfrm>
              <a:off x="7087" y="2835"/>
              <a:ext cx="2677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400" b="1" i="0" dirty="0">
                  <a:solidFill>
                    <a:srgbClr val="E65100"/>
                  </a:solidFill>
                  <a:latin typeface="Arial" panose="020B0604020202020204"/>
                  <a:ea typeface="微软雅黑" panose="020B0503020204020204" charset="-122"/>
                </a:rPr>
                <a:t>Triton IR</a:t>
              </a:r>
            </a:p>
            <a:p>
              <a:pPr algn="ctr"/>
              <a:r>
                <a:rPr lang="zh-CN" altLang="en-US" sz="1400" b="1" i="0" dirty="0">
                  <a:solidFill>
                    <a:srgbClr val="E65100"/>
                  </a:solidFill>
                  <a:latin typeface="Arial" panose="020B0604020202020204"/>
                  <a:ea typeface="微软雅黑" panose="020B0503020204020204" charset="-122"/>
                </a:rPr>
                <a:t>(TTIR)</a:t>
              </a:r>
            </a:p>
          </p:txBody>
        </p:sp>
        <p:sp>
          <p:nvSpPr>
            <p:cNvPr id="12" name="txt"/>
            <p:cNvSpPr txBox="1">
              <a:spLocks noGrp="1"/>
            </p:cNvSpPr>
            <p:nvPr/>
          </p:nvSpPr>
          <p:spPr>
            <a:xfrm>
              <a:off x="7087" y="3543"/>
              <a:ext cx="2677" cy="70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local_ptr node</a:t>
              </a:r>
            </a:p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 preserved in IR</a:t>
              </a:r>
            </a:p>
          </p:txBody>
        </p:sp>
        <p:sp>
          <p:nvSpPr>
            <p:cNvPr id="13" name="rect"/>
            <p:cNvSpPr>
              <a:spLocks noGrp="1"/>
            </p:cNvSpPr>
            <p:nvPr/>
          </p:nvSpPr>
          <p:spPr>
            <a:xfrm>
              <a:off x="9843" y="3386"/>
              <a:ext cx="315" cy="7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4" name="rect"/>
            <p:cNvSpPr>
              <a:spLocks noGrp="1"/>
            </p:cNvSpPr>
            <p:nvPr/>
          </p:nvSpPr>
          <p:spPr>
            <a:xfrm>
              <a:off x="10236" y="2756"/>
              <a:ext cx="2677" cy="1575"/>
            </a:xfrm>
            <a:prstGeom prst="rect">
              <a:avLst/>
            </a:prstGeom>
            <a:solidFill>
              <a:srgbClr val="FCE4EC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5" name="txt"/>
            <p:cNvSpPr txBox="1">
              <a:spLocks noGrp="1"/>
            </p:cNvSpPr>
            <p:nvPr/>
          </p:nvSpPr>
          <p:spPr>
            <a:xfrm>
              <a:off x="10236" y="2835"/>
              <a:ext cx="2677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TTGIR</a:t>
              </a:r>
            </a:p>
            <a:p>
              <a:pPr algn="ctr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(Triton GPU IR)</a:t>
              </a:r>
            </a:p>
          </p:txBody>
        </p:sp>
        <p:sp>
          <p:nvSpPr>
            <p:cNvPr id="16" name="txt"/>
            <p:cNvSpPr txBox="1">
              <a:spLocks noGrp="1"/>
            </p:cNvSpPr>
            <p:nvPr/>
          </p:nvSpPr>
          <p:spPr>
            <a:xfrm>
              <a:off x="10236" y="3543"/>
              <a:ext cx="2677" cy="70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Pass identifies</a:t>
              </a:r>
            </a:p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local_ptr node</a:t>
              </a:r>
            </a:p>
          </p:txBody>
        </p:sp>
        <p:sp>
          <p:nvSpPr>
            <p:cNvPr id="17" name="rect"/>
            <p:cNvSpPr>
              <a:spLocks noGrp="1"/>
            </p:cNvSpPr>
            <p:nvPr/>
          </p:nvSpPr>
          <p:spPr>
            <a:xfrm>
              <a:off x="12992" y="3386"/>
              <a:ext cx="315" cy="7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8" name="rect"/>
            <p:cNvSpPr>
              <a:spLocks noGrp="1"/>
            </p:cNvSpPr>
            <p:nvPr/>
          </p:nvSpPr>
          <p:spPr>
            <a:xfrm>
              <a:off x="13386" y="2756"/>
              <a:ext cx="2677" cy="1575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19" name="txt"/>
            <p:cNvSpPr txBox="1">
              <a:spLocks noGrp="1"/>
            </p:cNvSpPr>
            <p:nvPr/>
          </p:nvSpPr>
          <p:spPr>
            <a:xfrm>
              <a:off x="13386" y="2835"/>
              <a:ext cx="2677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4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Specialized Pass</a:t>
              </a:r>
            </a:p>
            <a:p>
              <a:pPr algn="ctr"/>
              <a:r>
                <a:rPr lang="zh-CN" altLang="en-US" sz="14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 Processing</a:t>
              </a:r>
            </a:p>
          </p:txBody>
        </p:sp>
        <p:sp>
          <p:nvSpPr>
            <p:cNvPr id="20" name="txt"/>
            <p:cNvSpPr txBox="1">
              <a:spLocks noGrp="1"/>
            </p:cNvSpPr>
            <p:nvPr/>
          </p:nvSpPr>
          <p:spPr>
            <a:xfrm>
              <a:off x="13386" y="3543"/>
              <a:ext cx="2677" cy="70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2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Replaced with target architecture</a:t>
              </a:r>
            </a:p>
            <a:p>
              <a:pPr algn="ctr"/>
              <a:r>
                <a:rPr lang="zh-CN" altLang="en-US" sz="12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local load/store</a:t>
              </a:r>
            </a:p>
          </p:txBody>
        </p:sp>
        <p:sp>
          <p:nvSpPr>
            <p:cNvPr id="21" name="rect"/>
            <p:cNvSpPr>
              <a:spLocks noGrp="1"/>
            </p:cNvSpPr>
            <p:nvPr/>
          </p:nvSpPr>
          <p:spPr>
            <a:xfrm>
              <a:off x="16142" y="3386"/>
              <a:ext cx="315" cy="7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22" name="rect"/>
            <p:cNvSpPr>
              <a:spLocks noGrp="1"/>
            </p:cNvSpPr>
            <p:nvPr/>
          </p:nvSpPr>
          <p:spPr>
            <a:xfrm>
              <a:off x="16535" y="2756"/>
              <a:ext cx="2677" cy="1575"/>
            </a:xfrm>
            <a:prstGeom prst="rect">
              <a:avLst/>
            </a:prstGeom>
            <a:solidFill>
              <a:srgbClr val="E8F5E9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 sz="2000"/>
            </a:p>
          </p:txBody>
        </p:sp>
        <p:sp>
          <p:nvSpPr>
            <p:cNvPr id="23" name="txt"/>
            <p:cNvSpPr txBox="1">
              <a:spLocks noGrp="1"/>
            </p:cNvSpPr>
            <p:nvPr/>
          </p:nvSpPr>
          <p:spPr>
            <a:xfrm>
              <a:off x="16535" y="2835"/>
              <a:ext cx="2677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400" b="1" i="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</a:rPr>
                <a:t>LLVM IR /</a:t>
              </a:r>
            </a:p>
            <a:p>
              <a:pPr algn="ctr"/>
              <a:r>
                <a:rPr lang="zh-CN" altLang="en-US" sz="1400" b="1" i="0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</a:rPr>
                <a:t>Target Assembly</a:t>
              </a:r>
            </a:p>
          </p:txBody>
        </p:sp>
        <p:sp>
          <p:nvSpPr>
            <p:cNvPr id="24" name="txt"/>
            <p:cNvSpPr txBox="1">
              <a:spLocks noGrp="1"/>
            </p:cNvSpPr>
            <p:nvPr/>
          </p:nvSpPr>
          <p:spPr>
            <a:xfrm>
              <a:off x="16535" y="3543"/>
              <a:ext cx="2677" cy="70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Generates optimal</a:t>
              </a:r>
            </a:p>
            <a:p>
              <a:pPr algn="ctr"/>
              <a:r>
                <a:rPr lang="zh-CN" altLang="en-US" sz="12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memory access instruction sequence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241425" y="4070350"/>
            <a:ext cx="9761855" cy="2553335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// FlagTree: lib/Dialect/TritonGPU/Transforms/LocalPtrToSharedMem.cpp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class LocalPtrToSharedMemPass : public ...&lt;LocalPtrToSharedMemPass&gt; {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void runOnOperation() override {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Traverse all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tle.gpu.local_ptr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operation nodes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getOperation()-&gt;walk([&amp;](tle::gpu::LocalPtrOp op) {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Replace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local_ptr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with target chip's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shared memory intrinsic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rewriter.replaceOpWithNewOp&lt;gpu::SharedMemLoadOp&gt;(op, ...);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});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}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};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Pass </a:t>
            </a:r>
            <a:r>
              <a:rPr lang="zh-CN" altLang="en-US"/>
              <a:t> Registration and Backend Integration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Optimization Results</a:t>
            </a:r>
          </a:p>
          <a:p>
            <a:pPr lvl="1"/>
            <a:r>
              <a:rPr lang="zh-CN" altLang="en-US" sz="1800"/>
              <a:t>Reduce</a:t>
            </a:r>
            <a:r>
              <a:rPr lang="en-US" altLang="zh-CN" sz="1800"/>
              <a:t> global memory </a:t>
            </a:r>
            <a:r>
              <a:rPr lang="zh-CN" altLang="en-US" sz="1800"/>
              <a:t> round-trip overhead</a:t>
            </a:r>
          </a:p>
          <a:p>
            <a:pPr lvl="1"/>
            <a:r>
              <a:rPr lang="zh-CN" altLang="en-US" sz="1800"/>
              <a:t>Hit</a:t>
            </a:r>
            <a:r>
              <a:rPr lang="en-US" altLang="zh-CN" sz="1800"/>
              <a:t> shared mem bank </a:t>
            </a:r>
            <a:r>
              <a:rPr lang="zh-CN" altLang="en-US" sz="1800"/>
              <a:t> locality</a:t>
            </a:r>
          </a:p>
          <a:p>
            <a:pPr lvl="1"/>
            <a:r>
              <a:rPr lang="zh-CN" altLang="en-US" sz="1800"/>
              <a:t>Reduce memory access latency</a:t>
            </a:r>
            <a:r>
              <a:rPr lang="en-US" altLang="zh-CN" sz="1800"/>
              <a:t> 5~10x</a:t>
            </a:r>
          </a:p>
          <a:p>
            <a:pPr lvl="1"/>
            <a:r>
              <a:rPr lang="zh-CN" altLang="en-US" sz="1800"/>
              <a:t>Improve</a:t>
            </a:r>
            <a:r>
              <a:rPr lang="en-US" altLang="zh-CN" sz="1800"/>
              <a:t> warp </a:t>
            </a:r>
            <a:r>
              <a:rPr lang="zh-CN" altLang="en-US" sz="1800"/>
              <a:t> instruction-level parallelism</a:t>
            </a:r>
          </a:p>
          <a:p>
            <a:pPr lvl="1"/>
            <a:endParaRPr lang="zh-CN" altLang="en-US" sz="1800"/>
          </a:p>
        </p:txBody>
      </p:sp>
      <p:sp>
        <p:nvSpPr>
          <p:cNvPr id="6" name="txt"/>
          <p:cNvSpPr txBox="1">
            <a:spLocks noGrp="1"/>
          </p:cNvSpPr>
          <p:nvPr/>
        </p:nvSpPr>
        <p:spPr>
          <a:xfrm>
            <a:off x="4825365" y="3326130"/>
            <a:ext cx="1819910" cy="91376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>
            <a:noAutofit/>
          </a:bodyPr>
          <a:lstStyle/>
          <a:p>
            <a:pPr algn="l"/>
            <a:r>
              <a:rPr lang="zh-CN" altLang="en-US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  <a:t>Pass Registration Pipeline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98310" y="1258570"/>
            <a:ext cx="5003165" cy="3290570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Register Pass in backend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pipeline  Pass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void addPasses(PassManager &amp;pm,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         BackendType backend) {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Common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Pass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pm.addPass(createTritonGPUIRPass());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Specialized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Pass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(target backend only)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if (backend == BackendType::DCU) {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pm.addPass(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createLocalPtrToSharedMemPass()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);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}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pm.addPass(createLLVMLoweringPass());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}</a:t>
            </a:r>
          </a:p>
          <a:p>
            <a:endParaRPr lang="en-US" altLang="zh-CN" sz="1600">
              <a:latin typeface="Courier New Regular" panose="02070409020205090404" charset="0"/>
              <a:cs typeface="Courier New Regular" panose="02070409020205090404" charset="0"/>
            </a:endParaRPr>
          </a:p>
        </p:txBody>
      </p:sp>
      <p:sp>
        <p:nvSpPr>
          <p:cNvPr id="7" name="txt"/>
          <p:cNvSpPr txBox="1">
            <a:spLocks noGrp="1"/>
          </p:cNvSpPr>
          <p:nvPr/>
        </p:nvSpPr>
        <p:spPr>
          <a:xfrm>
            <a:off x="169545" y="5051425"/>
            <a:ext cx="1595120" cy="91376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>
            <a:noAutofit/>
          </a:bodyPr>
          <a:lstStyle/>
          <a:p>
            <a:pPr algn="l"/>
            <a:r>
              <a:rPr lang="zh-CN" altLang="en-US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  <a:t>IR Transformation Example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764665" y="4977130"/>
            <a:ext cx="4471670" cy="988060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%ptr = tle.gpu.local_ptr %base,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      %offset : !tt.ptr&lt;f32&gt;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%val = tt.load %ptr : f32</a:t>
            </a:r>
          </a:p>
          <a:p>
            <a:endParaRPr lang="en-US" altLang="zh-CN" sz="1600">
              <a:latin typeface="Courier New Regular" panose="02070409020205090404" charset="0"/>
              <a:cs typeface="Courier New Regular" panose="020704090202050904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8195" y="4947285"/>
            <a:ext cx="4653280" cy="1229360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//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Domestic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DCU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architecture</a:t>
            </a:r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shared mem </a:t>
            </a:r>
            <a:r>
              <a:rPr lang="zh-CN" altLang="en-US" sz="1600">
                <a:latin typeface="Courier New Regular" panose="02070409020205090404" charset="0"/>
                <a:cs typeface="Courier New Regular" panose="02070409020205090404" charset="0"/>
              </a:rPr>
              <a:t> access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%ptr = gpu.shared_mem_ptr %base,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            %offset</a:t>
            </a:r>
          </a:p>
          <a:p>
            <a:r>
              <a:rPr lang="en-US" altLang="zh-CN" sz="1600">
                <a:latin typeface="Courier New Regular" panose="02070409020205090404" charset="0"/>
                <a:cs typeface="Courier New Regular" panose="02070409020205090404" charset="0"/>
              </a:rPr>
              <a:t>%val = gpu.ds_read_b32 %ptr : i32</a:t>
            </a:r>
          </a:p>
          <a:p>
            <a:endParaRPr lang="en-US" altLang="zh-CN" sz="1600">
              <a:latin typeface="Courier New Regular" panose="02070409020205090404" charset="0"/>
              <a:cs typeface="Courier New Regular" panose="02070409020205090404" charset="0"/>
            </a:endParaRPr>
          </a:p>
        </p:txBody>
      </p:sp>
      <p:sp>
        <p:nvSpPr>
          <p:cNvPr id="13" name="txt"/>
          <p:cNvSpPr txBox="1">
            <a:spLocks noGrp="1"/>
          </p:cNvSpPr>
          <p:nvPr/>
        </p:nvSpPr>
        <p:spPr>
          <a:xfrm>
            <a:off x="6248400" y="5102225"/>
            <a:ext cx="815975" cy="160210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>
            <a:normAutofit/>
          </a:bodyPr>
          <a:lstStyle/>
          <a:p>
            <a:pPr algn="ctr"/>
            <a:r>
              <a:rPr lang="zh-CN" altLang="en-US" sz="1600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  <a:t> Pass</a:t>
            </a:r>
            <a:br>
              <a:rPr lang="zh-CN" altLang="en-US" sz="1600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</a:br>
            <a:r>
              <a:rPr lang="en-US" altLang="zh-CN" sz="1600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  <a:t>==&gt;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rPr lang="zh-CN" altLang="en-US"/>
              <a:t> Operator Layer Architecture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How to integrate</a:t>
            </a:r>
            <a:r>
              <a:rPr lang="en-US" altLang="zh-CN"/>
              <a:t> local_ptr </a:t>
            </a:r>
            <a:r>
              <a:rPr lang="zh-CN" altLang="en-US"/>
              <a:t> optimization into</a:t>
            </a:r>
            <a:r>
              <a:rPr lang="en-US" altLang="zh-CN"/>
              <a:t> FlagGems </a:t>
            </a:r>
            <a:r>
              <a:rPr lang="zh-CN" altLang="en-US"/>
              <a:t> operators</a:t>
            </a:r>
          </a:p>
          <a:p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1831340" y="1884680"/>
            <a:ext cx="9199880" cy="4349750"/>
            <a:chOff x="2884" y="2842"/>
            <a:chExt cx="14488" cy="6850"/>
          </a:xfrm>
        </p:grpSpPr>
        <p:sp>
          <p:nvSpPr>
            <p:cNvPr id="6" name="rect"/>
            <p:cNvSpPr>
              <a:spLocks noGrp="1"/>
            </p:cNvSpPr>
            <p:nvPr/>
          </p:nvSpPr>
          <p:spPr>
            <a:xfrm>
              <a:off x="2884" y="2842"/>
              <a:ext cx="14488" cy="1102"/>
            </a:xfrm>
            <a:prstGeom prst="rect">
              <a:avLst/>
            </a:prstGeom>
            <a:solidFill>
              <a:srgbClr val="1A237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t"/>
            <p:cNvSpPr txBox="1">
              <a:spLocks noGrp="1"/>
            </p:cNvSpPr>
            <p:nvPr/>
          </p:nvSpPr>
          <p:spPr>
            <a:xfrm>
              <a:off x="3041" y="2952"/>
              <a:ext cx="14173" cy="88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20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FlagGems  —  PyTorch ATen Operator Registration Layer</a:t>
              </a:r>
            </a:p>
          </p:txBody>
        </p:sp>
        <p:sp>
          <p:nvSpPr>
            <p:cNvPr id="8" name="rect"/>
            <p:cNvSpPr>
              <a:spLocks noGrp="1"/>
            </p:cNvSpPr>
            <p:nvPr/>
          </p:nvSpPr>
          <p:spPr>
            <a:xfrm>
              <a:off x="2884" y="4180"/>
              <a:ext cx="14488" cy="1102"/>
            </a:xfrm>
            <a:prstGeom prst="rect">
              <a:avLst/>
            </a:prstGeom>
            <a:solidFill>
              <a:srgbClr val="28359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xt"/>
            <p:cNvSpPr txBox="1">
              <a:spLocks noGrp="1"/>
            </p:cNvSpPr>
            <p:nvPr/>
          </p:nvSpPr>
          <p:spPr>
            <a:xfrm>
              <a:off x="3041" y="4291"/>
              <a:ext cx="14173" cy="88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8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LibEntry / LibTuner  —  Kernel Cache and Auto-Tuning Management</a:t>
              </a:r>
            </a:p>
          </p:txBody>
        </p:sp>
        <p:sp>
          <p:nvSpPr>
            <p:cNvPr id="10" name="rect"/>
            <p:cNvSpPr>
              <a:spLocks noGrp="1"/>
            </p:cNvSpPr>
            <p:nvPr/>
          </p:nvSpPr>
          <p:spPr>
            <a:xfrm>
              <a:off x="2884" y="5519"/>
              <a:ext cx="14488" cy="110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t"/>
            <p:cNvSpPr txBox="1">
              <a:spLocks noGrp="1"/>
            </p:cNvSpPr>
            <p:nvPr/>
          </p:nvSpPr>
          <p:spPr>
            <a:xfrm>
              <a:off x="3041" y="5629"/>
              <a:ext cx="14173" cy="88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2500"/>
            </a:bodyPr>
            <a:lstStyle/>
            <a:p>
              <a:pPr algn="ctr"/>
              <a:r>
                <a:rPr lang="zh-CN" altLang="en-US" sz="18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Triton Kernel  —  Operator Implementation ( .py )  ←  tle.gpu.local_ptr Injection Point</a:t>
              </a:r>
            </a:p>
          </p:txBody>
        </p:sp>
        <p:sp>
          <p:nvSpPr>
            <p:cNvPr id="12" name="rect"/>
            <p:cNvSpPr>
              <a:spLocks noGrp="1"/>
            </p:cNvSpPr>
            <p:nvPr/>
          </p:nvSpPr>
          <p:spPr>
            <a:xfrm>
              <a:off x="2884" y="6858"/>
              <a:ext cx="14488" cy="1102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xt"/>
            <p:cNvSpPr txBox="1">
              <a:spLocks noGrp="1"/>
            </p:cNvSpPr>
            <p:nvPr/>
          </p:nvSpPr>
          <p:spPr>
            <a:xfrm>
              <a:off x="3041" y="6968"/>
              <a:ext cx="14173" cy="88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2500"/>
            </a:bodyPr>
            <a:lstStyle/>
            <a:p>
              <a:pPr algn="ctr"/>
              <a:r>
                <a:rPr lang="zh-CN" altLang="en-US" sz="1800" b="0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FlagTree Compiler  —  Specialized Pass Processing local_ptr → Architecture Instructions</a:t>
              </a:r>
            </a:p>
          </p:txBody>
        </p:sp>
        <p:sp>
          <p:nvSpPr>
            <p:cNvPr id="14" name="txt"/>
            <p:cNvSpPr txBox="1">
              <a:spLocks noGrp="1"/>
            </p:cNvSpPr>
            <p:nvPr/>
          </p:nvSpPr>
          <p:spPr>
            <a:xfrm>
              <a:off x="2884" y="8275"/>
              <a:ext cx="14488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8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Operators optimized with local_ptr (covered in PR #333)</a:t>
              </a:r>
            </a:p>
          </p:txBody>
        </p:sp>
        <p:sp>
          <p:nvSpPr>
            <p:cNvPr id="15" name="rect"/>
            <p:cNvSpPr>
              <a:spLocks noGrp="1"/>
            </p:cNvSpPr>
            <p:nvPr/>
          </p:nvSpPr>
          <p:spPr>
            <a:xfrm>
              <a:off x="2884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t"/>
            <p:cNvSpPr txBox="1">
              <a:spLocks noGrp="1"/>
            </p:cNvSpPr>
            <p:nvPr/>
          </p:nvSpPr>
          <p:spPr>
            <a:xfrm>
              <a:off x="2884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topk</a:t>
              </a:r>
            </a:p>
          </p:txBody>
        </p:sp>
        <p:sp>
          <p:nvSpPr>
            <p:cNvPr id="17" name="rect"/>
            <p:cNvSpPr>
              <a:spLocks noGrp="1"/>
            </p:cNvSpPr>
            <p:nvPr/>
          </p:nvSpPr>
          <p:spPr>
            <a:xfrm>
              <a:off x="5309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t"/>
            <p:cNvSpPr txBox="1">
              <a:spLocks noGrp="1"/>
            </p:cNvSpPr>
            <p:nvPr/>
          </p:nvSpPr>
          <p:spPr>
            <a:xfrm>
              <a:off x="5309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sort</a:t>
              </a:r>
            </a:p>
          </p:txBody>
        </p:sp>
        <p:sp>
          <p:nvSpPr>
            <p:cNvPr id="19" name="rect"/>
            <p:cNvSpPr>
              <a:spLocks noGrp="1"/>
            </p:cNvSpPr>
            <p:nvPr/>
          </p:nvSpPr>
          <p:spPr>
            <a:xfrm>
              <a:off x="7734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t"/>
            <p:cNvSpPr txBox="1">
              <a:spLocks noGrp="1"/>
            </p:cNvSpPr>
            <p:nvPr/>
          </p:nvSpPr>
          <p:spPr>
            <a:xfrm>
              <a:off x="7734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argsort</a:t>
              </a:r>
            </a:p>
          </p:txBody>
        </p:sp>
        <p:sp>
          <p:nvSpPr>
            <p:cNvPr id="21" name="rect"/>
            <p:cNvSpPr>
              <a:spLocks noGrp="1"/>
            </p:cNvSpPr>
            <p:nvPr/>
          </p:nvSpPr>
          <p:spPr>
            <a:xfrm>
              <a:off x="10160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xt"/>
            <p:cNvSpPr txBox="1">
              <a:spLocks noGrp="1"/>
            </p:cNvSpPr>
            <p:nvPr/>
          </p:nvSpPr>
          <p:spPr>
            <a:xfrm>
              <a:off x="10160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median</a:t>
              </a:r>
            </a:p>
          </p:txBody>
        </p:sp>
        <p:sp>
          <p:nvSpPr>
            <p:cNvPr id="23" name="rect"/>
            <p:cNvSpPr>
              <a:spLocks noGrp="1"/>
            </p:cNvSpPr>
            <p:nvPr/>
          </p:nvSpPr>
          <p:spPr>
            <a:xfrm>
              <a:off x="12585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t"/>
            <p:cNvSpPr txBox="1">
              <a:spLocks noGrp="1"/>
            </p:cNvSpPr>
            <p:nvPr/>
          </p:nvSpPr>
          <p:spPr>
            <a:xfrm>
              <a:off x="12585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kthvalue</a:t>
              </a:r>
            </a:p>
          </p:txBody>
        </p:sp>
        <p:sp>
          <p:nvSpPr>
            <p:cNvPr id="25" name="rect"/>
            <p:cNvSpPr>
              <a:spLocks noGrp="1"/>
            </p:cNvSpPr>
            <p:nvPr/>
          </p:nvSpPr>
          <p:spPr>
            <a:xfrm>
              <a:off x="15010" y="8984"/>
              <a:ext cx="2283" cy="709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t"/>
            <p:cNvSpPr txBox="1">
              <a:spLocks noGrp="1"/>
            </p:cNvSpPr>
            <p:nvPr/>
          </p:nvSpPr>
          <p:spPr>
            <a:xfrm>
              <a:off x="15010" y="9031"/>
              <a:ext cx="2283" cy="61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ctr"/>
              <a:r>
                <a:rPr lang="zh-CN" altLang="en-US" sz="17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mode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TopK </a:t>
            </a:r>
            <a:r>
              <a:rPr lang="zh-CN" altLang="en-US"/>
              <a:t> Operator Optimization Case Study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782945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/>
              <a:t>local_ptr </a:t>
            </a:r>
            <a:r>
              <a:rPr lang="zh-CN" altLang="en-US" sz="1800"/>
              <a:t> Microarchitecture Optimization in Practice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Data Proximity Storage</a:t>
            </a:r>
            <a:r>
              <a:rPr lang="en-US" altLang="zh-CN" sz="1600"/>
              <a:t>:</a:t>
            </a:r>
            <a:r>
              <a:rPr lang="zh-CN" altLang="en-US" sz="1600"/>
              <a:t> Store intermediate sorting results in</a:t>
            </a:r>
            <a:r>
              <a:rPr lang="en-US" altLang="zh-CN" sz="1600"/>
              <a:t> shared memory</a:t>
            </a:r>
            <a:r>
              <a:rPr lang="zh-CN" altLang="en-US" sz="1600"/>
              <a:t>; avoid writing back to</a:t>
            </a:r>
            <a:r>
              <a:rPr lang="en-US" altLang="zh-CN" sz="1600"/>
              <a:t> global memory </a:t>
            </a:r>
            <a:r>
              <a:rPr lang="zh-CN" altLang="en-US" sz="1600"/>
              <a:t> and re-reading</a:t>
            </a:r>
          </a:p>
          <a:p>
            <a:pPr lvl="1">
              <a:lnSpc>
                <a:spcPct val="150000"/>
              </a:lnSpc>
            </a:pPr>
            <a:r>
              <a:rPr lang="en-US" altLang="zh-CN" sz="1600"/>
              <a:t>Bank </a:t>
            </a:r>
            <a:r>
              <a:rPr lang="zh-CN" altLang="en-US" sz="1600"/>
              <a:t> Access Optimization</a:t>
            </a:r>
            <a:r>
              <a:rPr lang="en-US" altLang="zh-CN" sz="1600"/>
              <a:t>: local_ptr </a:t>
            </a:r>
            <a:r>
              <a:rPr lang="zh-CN" altLang="en-US" sz="1600"/>
              <a:t> carries</a:t>
            </a:r>
            <a:r>
              <a:rPr lang="en-US" altLang="zh-CN" sz="1600"/>
              <a:t> offset </a:t>
            </a:r>
            <a:r>
              <a:rPr lang="zh-CN" altLang="en-US" sz="1600"/>
              <a:t> offset information, enabling the compiler to analyze</a:t>
            </a:r>
            <a:r>
              <a:rPr lang="en-US" altLang="zh-CN" sz="1600"/>
              <a:t> bank conflict </a:t>
            </a:r>
            <a:r>
              <a:rPr lang="zh-CN" altLang="en-US" sz="1600"/>
              <a:t> and reorder access patterns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Instruction Fusion</a:t>
            </a:r>
            <a:r>
              <a:rPr lang="en-US" altLang="zh-CN" sz="1600"/>
              <a:t>: Pass </a:t>
            </a:r>
            <a:r>
              <a:rPr lang="zh-CN" altLang="en-US" sz="1600"/>
              <a:t>Replace</a:t>
            </a:r>
            <a:r>
              <a:rPr lang="en-US" altLang="zh-CN" sz="1600"/>
              <a:t> local_ptr + load </a:t>
            </a:r>
            <a:r>
              <a:rPr lang="zh-CN" altLang="en-US" sz="1600"/>
              <a:t> into a single</a:t>
            </a:r>
            <a:r>
              <a:rPr lang="en-US" altLang="zh-CN" sz="1600"/>
              <a:t> ds_read </a:t>
            </a:r>
            <a:r>
              <a:rPr lang="zh-CN" altLang="en-US" sz="1600"/>
              <a:t> instruction, reducing instruction count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Latency Hiding</a:t>
            </a:r>
            <a:r>
              <a:rPr lang="en-US" altLang="zh-CN" sz="1600"/>
              <a:t>: shared memory </a:t>
            </a:r>
            <a:r>
              <a:rPr lang="zh-CN" altLang="en-US" sz="1600"/>
              <a:t> dispatch latency</a:t>
            </a:r>
            <a:r>
              <a:rPr lang="en-US" altLang="zh-CN" sz="1600"/>
              <a:t>~5</a:t>
            </a:r>
            <a:r>
              <a:rPr lang="zh-CN" altLang="en-US" sz="1600"/>
              <a:t> cycles;</a:t>
            </a:r>
            <a:r>
              <a:rPr lang="en-US" altLang="zh-CN" sz="1600"/>
              <a:t>warp </a:t>
            </a:r>
            <a:r>
              <a:rPr lang="zh-CN" altLang="en-US" sz="1600"/>
              <a:t> switching can effectively hide it, significantly improving throughput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66205" y="2042160"/>
            <a:ext cx="5324475" cy="3577590"/>
          </a:xfrm>
          <a:prstGeom prst="rect">
            <a:avLst/>
          </a:prstGeom>
          <a:noFill/>
          <a:ln>
            <a:solidFill>
              <a:srgbClr val="8B0012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# local_ptr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optimization: via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shared memory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@triton.jit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def topk_kernel_opt(X, OUT_VAL, OUT_IDX,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                BLOCK: tl.constexpr):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smem = tl.zeros([BLOCK], dtype=tl.float32)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#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Use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local_ptr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to write to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shared mem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ptr = tle.gpu.local_ptr(smem, xidx)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tl.store(ptr, tl.load(X + xidx))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tl.debug_barrier()  #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for synchronization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#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Read from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shared mem </a:t>
            </a:r>
            <a:r>
              <a:rPr lang="zh-CN" altLang="en-US" sz="1400">
                <a:latin typeface="Courier New Regular" panose="02070409020205090404" charset="0"/>
                <a:cs typeface="Courier New Regular" panose="02070409020205090404" charset="0"/>
              </a:rPr>
              <a:t> for sorting</a:t>
            </a:r>
          </a:p>
          <a:p>
            <a:pPr>
              <a:lnSpc>
                <a:spcPct val="130000"/>
              </a:lnSpc>
            </a:pP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</a:rPr>
              <a:t>    vals = tl.load(tle.gpu.local_ptr(smem, ...))</a:t>
            </a:r>
          </a:p>
          <a:p>
            <a:pPr>
              <a:lnSpc>
                <a:spcPct val="130000"/>
              </a:lnSpc>
            </a:pPr>
            <a:endParaRPr lang="en-US" altLang="zh-CN" sz="1400">
              <a:latin typeface="Courier New Regular" panose="02070409020205090404" charset="0"/>
              <a:cs typeface="Courier New Regular" panose="02070409020205090404" charset="0"/>
            </a:endParaRPr>
          </a:p>
        </p:txBody>
      </p:sp>
      <p:sp>
        <p:nvSpPr>
          <p:cNvPr id="6" name="txt"/>
          <p:cNvSpPr txBox="1">
            <a:spLocks noGrp="1"/>
          </p:cNvSpPr>
          <p:nvPr/>
        </p:nvSpPr>
        <p:spPr>
          <a:xfrm>
            <a:off x="6728525" y="1662370"/>
            <a:ext cx="48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>
            <a:normAutofit lnSpcReduction="10000"/>
          </a:bodyPr>
          <a:lstStyle/>
          <a:p>
            <a:pPr algn="ctr"/>
            <a:r>
              <a:rPr lang="zh-CN" altLang="en-US" sz="1900" b="1" i="0" dirty="0">
                <a:solidFill>
                  <a:srgbClr val="8B0012"/>
                </a:solidFill>
                <a:latin typeface="Arial" panose="020B0604020202020204"/>
                <a:ea typeface="微软雅黑" panose="020B0503020204020204" charset="-122"/>
              </a:rPr>
              <a:t>Optimized: local_ptr Shared Memory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TopK </a:t>
            </a:r>
            <a:r>
              <a:rPr lang="zh-CN" altLang="en-US"/>
              <a:t> Complete Optimization Path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429385" y="1750060"/>
            <a:ext cx="9299575" cy="4349115"/>
            <a:chOff x="3937" y="2756"/>
            <a:chExt cx="14645" cy="6849"/>
          </a:xfrm>
        </p:grpSpPr>
        <p:sp>
          <p:nvSpPr>
            <p:cNvPr id="6" name="rect"/>
            <p:cNvSpPr>
              <a:spLocks noGrp="1"/>
            </p:cNvSpPr>
            <p:nvPr/>
          </p:nvSpPr>
          <p:spPr>
            <a:xfrm>
              <a:off x="3937" y="2756"/>
              <a:ext cx="472" cy="1417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7" name="txt"/>
            <p:cNvSpPr txBox="1">
              <a:spLocks noGrp="1"/>
            </p:cNvSpPr>
            <p:nvPr/>
          </p:nvSpPr>
          <p:spPr>
            <a:xfrm>
              <a:off x="3937" y="3150"/>
              <a:ext cx="472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8" name="txt"/>
            <p:cNvSpPr txBox="1">
              <a:spLocks noGrp="1"/>
            </p:cNvSpPr>
            <p:nvPr/>
          </p:nvSpPr>
          <p:spPr>
            <a:xfrm>
              <a:off x="4535" y="2835"/>
              <a:ext cx="4724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l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FlagGems Registration Layer</a:t>
              </a:r>
            </a:p>
          </p:txBody>
        </p:sp>
        <p:sp>
          <p:nvSpPr>
            <p:cNvPr id="9" name="txt"/>
            <p:cNvSpPr txBox="1">
              <a:spLocks noGrp="1"/>
            </p:cNvSpPr>
            <p:nvPr/>
          </p:nvSpPr>
          <p:spPr>
            <a:xfrm>
              <a:off x="4535" y="3354"/>
              <a:ext cx="4724" cy="47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200" b="0" i="1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src/flag_gems/ops/topk.py</a:t>
              </a:r>
            </a:p>
          </p:txBody>
        </p:sp>
        <p:sp>
          <p:nvSpPr>
            <p:cNvPr id="300" name="code"/>
            <p:cNvSpPr txBox="1"/>
            <p:nvPr/>
          </p:nvSpPr>
          <p:spPr>
            <a:xfrm>
              <a:off x="9606" y="2756"/>
              <a:ext cx="8976" cy="1417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lIns="182880" tIns="182880" rIns="182880" bIns="182880">
              <a:normAutofit/>
            </a:bodyPr>
            <a:lstStyle/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def topk(input, k, dim=-1, largest=True, sorted=True):</a:t>
              </a:r>
            </a:p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    ...call Triton kernel...</a:t>
              </a:r>
            </a:p>
          </p:txBody>
        </p:sp>
        <p:sp>
          <p:nvSpPr>
            <p:cNvPr id="10" name="rect"/>
            <p:cNvSpPr>
              <a:spLocks noGrp="1"/>
            </p:cNvSpPr>
            <p:nvPr/>
          </p:nvSpPr>
          <p:spPr>
            <a:xfrm>
              <a:off x="4157" y="4173"/>
              <a:ext cx="31" cy="236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11" name="rect"/>
            <p:cNvSpPr>
              <a:spLocks noGrp="1"/>
            </p:cNvSpPr>
            <p:nvPr/>
          </p:nvSpPr>
          <p:spPr>
            <a:xfrm>
              <a:off x="3937" y="4567"/>
              <a:ext cx="472" cy="1417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12" name="txt"/>
            <p:cNvSpPr txBox="1">
              <a:spLocks noGrp="1"/>
            </p:cNvSpPr>
            <p:nvPr/>
          </p:nvSpPr>
          <p:spPr>
            <a:xfrm>
              <a:off x="3937" y="4961"/>
              <a:ext cx="472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13" name="txt"/>
            <p:cNvSpPr txBox="1">
              <a:spLocks noGrp="1"/>
            </p:cNvSpPr>
            <p:nvPr/>
          </p:nvSpPr>
          <p:spPr>
            <a:xfrm>
              <a:off x="4535" y="4646"/>
              <a:ext cx="4724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l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Triton Kernel Layer</a:t>
              </a:r>
            </a:p>
          </p:txBody>
        </p:sp>
        <p:sp>
          <p:nvSpPr>
            <p:cNvPr id="14" name="txt"/>
            <p:cNvSpPr txBox="1">
              <a:spLocks noGrp="1"/>
            </p:cNvSpPr>
            <p:nvPr/>
          </p:nvSpPr>
          <p:spPr>
            <a:xfrm>
              <a:off x="4535" y="5165"/>
              <a:ext cx="4724" cy="47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200" b="0" i="1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Introduce tle.gpu.local_ptr</a:t>
              </a:r>
            </a:p>
          </p:txBody>
        </p:sp>
        <p:sp>
          <p:nvSpPr>
            <p:cNvPr id="15" name="code"/>
            <p:cNvSpPr txBox="1"/>
            <p:nvPr/>
          </p:nvSpPr>
          <p:spPr>
            <a:xfrm>
              <a:off x="9606" y="4567"/>
              <a:ext cx="8976" cy="1417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lIns="182880" tIns="182880" rIns="182880" bIns="182880">
              <a:normAutofit/>
            </a:bodyPr>
            <a:lstStyle/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ptr = tle.gpu.local_ptr(shared_buf, lane_offset)</a:t>
              </a:r>
            </a:p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tl.store(ptr, val)  # → shared mem write</a:t>
              </a:r>
            </a:p>
          </p:txBody>
        </p:sp>
        <p:sp>
          <p:nvSpPr>
            <p:cNvPr id="16" name="rect"/>
            <p:cNvSpPr>
              <a:spLocks noGrp="1"/>
            </p:cNvSpPr>
            <p:nvPr/>
          </p:nvSpPr>
          <p:spPr>
            <a:xfrm>
              <a:off x="4157" y="5984"/>
              <a:ext cx="31" cy="236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17" name="rect"/>
            <p:cNvSpPr>
              <a:spLocks noGrp="1"/>
            </p:cNvSpPr>
            <p:nvPr/>
          </p:nvSpPr>
          <p:spPr>
            <a:xfrm>
              <a:off x="3937" y="6378"/>
              <a:ext cx="472" cy="1417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18" name="txt"/>
            <p:cNvSpPr txBox="1">
              <a:spLocks noGrp="1"/>
            </p:cNvSpPr>
            <p:nvPr/>
          </p:nvSpPr>
          <p:spPr>
            <a:xfrm>
              <a:off x="3937" y="6772"/>
              <a:ext cx="472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19" name="txt"/>
            <p:cNvSpPr txBox="1">
              <a:spLocks noGrp="1"/>
            </p:cNvSpPr>
            <p:nvPr/>
          </p:nvSpPr>
          <p:spPr>
            <a:xfrm>
              <a:off x="4535" y="6457"/>
              <a:ext cx="4724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l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FlagTree Compilation</a:t>
              </a:r>
            </a:p>
          </p:txBody>
        </p:sp>
        <p:sp>
          <p:nvSpPr>
            <p:cNvPr id="20" name="txt"/>
            <p:cNvSpPr txBox="1">
              <a:spLocks noGrp="1"/>
            </p:cNvSpPr>
            <p:nvPr/>
          </p:nvSpPr>
          <p:spPr>
            <a:xfrm>
              <a:off x="4535" y="6976"/>
              <a:ext cx="4724" cy="47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200" b="0" i="1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LocalPtrToSharedMemPass Processing</a:t>
              </a:r>
            </a:p>
          </p:txBody>
        </p:sp>
        <p:sp>
          <p:nvSpPr>
            <p:cNvPr id="21" name="code"/>
            <p:cNvSpPr txBox="1"/>
            <p:nvPr/>
          </p:nvSpPr>
          <p:spPr>
            <a:xfrm>
              <a:off x="9606" y="6378"/>
              <a:ext cx="8976" cy="1417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lIns="182880" tIns="182880" rIns="182880" bIns="182880">
              <a:normAutofit/>
            </a:bodyPr>
            <a:lstStyle/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tle.gpu.local_ptr → gpu.ds_write_b32</a:t>
              </a:r>
            </a:p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(Domestic DCU shared memory write instruction)</a:t>
              </a:r>
            </a:p>
          </p:txBody>
        </p:sp>
        <p:sp>
          <p:nvSpPr>
            <p:cNvPr id="22" name="rect"/>
            <p:cNvSpPr>
              <a:spLocks noGrp="1"/>
            </p:cNvSpPr>
            <p:nvPr/>
          </p:nvSpPr>
          <p:spPr>
            <a:xfrm>
              <a:off x="4157" y="7795"/>
              <a:ext cx="31" cy="236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23" name="rect"/>
            <p:cNvSpPr>
              <a:spLocks noGrp="1"/>
            </p:cNvSpPr>
            <p:nvPr/>
          </p:nvSpPr>
          <p:spPr>
            <a:xfrm>
              <a:off x="3937" y="8189"/>
              <a:ext cx="472" cy="1417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 sz="1600"/>
            </a:p>
          </p:txBody>
        </p:sp>
        <p:sp>
          <p:nvSpPr>
            <p:cNvPr id="24" name="txt"/>
            <p:cNvSpPr txBox="1">
              <a:spLocks noGrp="1"/>
            </p:cNvSpPr>
            <p:nvPr/>
          </p:nvSpPr>
          <p:spPr>
            <a:xfrm>
              <a:off x="3937" y="8583"/>
              <a:ext cx="472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ctr"/>
              <a:r>
                <a:rPr lang="zh-CN" altLang="en-US" sz="16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4</a:t>
              </a:r>
            </a:p>
          </p:txBody>
        </p:sp>
        <p:sp>
          <p:nvSpPr>
            <p:cNvPr id="25" name="txt"/>
            <p:cNvSpPr txBox="1">
              <a:spLocks noGrp="1"/>
            </p:cNvSpPr>
            <p:nvPr/>
          </p:nvSpPr>
          <p:spPr>
            <a:xfrm>
              <a:off x="4535" y="8268"/>
              <a:ext cx="4724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/>
            <a:lstStyle/>
            <a:p>
              <a:pPr algn="l"/>
              <a:r>
                <a:rPr lang="zh-CN" altLang="en-US" sz="14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Target Code Generation</a:t>
              </a:r>
            </a:p>
          </p:txBody>
        </p:sp>
        <p:sp>
          <p:nvSpPr>
            <p:cNvPr id="26" name="txt"/>
            <p:cNvSpPr txBox="1">
              <a:spLocks noGrp="1"/>
            </p:cNvSpPr>
            <p:nvPr/>
          </p:nvSpPr>
          <p:spPr>
            <a:xfrm>
              <a:off x="4535" y="8787"/>
              <a:ext cx="4724" cy="472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Autofit/>
            </a:bodyPr>
            <a:lstStyle/>
            <a:p>
              <a:pPr algn="l"/>
              <a:r>
                <a:rPr lang="zh-CN" altLang="en-US" sz="1200" b="0" i="1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Architecture-Optimal Instruction Sequence</a:t>
              </a:r>
            </a:p>
          </p:txBody>
        </p:sp>
        <p:sp>
          <p:nvSpPr>
            <p:cNvPr id="27" name="code"/>
            <p:cNvSpPr txBox="1"/>
            <p:nvPr/>
          </p:nvSpPr>
          <p:spPr>
            <a:xfrm>
              <a:off x="9606" y="8189"/>
              <a:ext cx="8976" cy="1417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lIns="182880" tIns="182880" rIns="182880" bIns="182880">
              <a:normAutofit/>
            </a:bodyPr>
            <a:lstStyle/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ds_write_b32 v[addr], v[data]</a:t>
              </a:r>
            </a:p>
            <a:p>
              <a:r>
                <a:rPr lang="en-US" sz="1200" dirty="0">
                  <a:solidFill>
                    <a:srgbClr val="D4D4D4"/>
                  </a:solidFill>
                  <a:latin typeface="Consolas" panose="020B0609020204030204"/>
                </a:rPr>
                <a:t>ds_read_b32  v[out], v[addr]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Performance Improvement Results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Per-operator performance improvement (relative to pre-optimization</a:t>
            </a:r>
            <a:r>
              <a:rPr lang="en-US" altLang="zh-CN"/>
              <a:t>,</a:t>
            </a:r>
            <a:r>
              <a:rPr lang="zh-CN" altLang="en-US"/>
              <a:t> test environment: domestic</a:t>
            </a:r>
            <a:r>
              <a:rPr lang="en-US" altLang="zh-CN"/>
              <a:t> DCU GPU</a:t>
            </a:r>
            <a:r>
              <a:rPr lang="zh-CN" altLang="en-US"/>
              <a:t>)</a:t>
            </a:r>
          </a:p>
          <a:p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7481570" y="2264410"/>
            <a:ext cx="4430395" cy="3242945"/>
            <a:chOff x="11100" y="6972"/>
            <a:chExt cx="6977" cy="5107"/>
          </a:xfrm>
        </p:grpSpPr>
        <p:sp>
          <p:nvSpPr>
            <p:cNvPr id="41" name="stat_bg"/>
            <p:cNvSpPr>
              <a:spLocks noGrp="1"/>
            </p:cNvSpPr>
            <p:nvPr/>
          </p:nvSpPr>
          <p:spPr>
            <a:xfrm>
              <a:off x="11100" y="6972"/>
              <a:ext cx="3386" cy="2441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tat_num"/>
            <p:cNvSpPr txBox="1"/>
            <p:nvPr/>
          </p:nvSpPr>
          <p:spPr>
            <a:xfrm>
              <a:off x="11100" y="7129"/>
              <a:ext cx="3386" cy="122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Autofit/>
            </a:bodyPr>
            <a:lstStyle/>
            <a:p>
              <a:pPr algn="ctr"/>
              <a:r>
                <a:rPr lang="en-US" sz="4400" b="1" dirty="0">
                  <a:solidFill>
                    <a:srgbClr val="8B0012"/>
                  </a:solidFill>
                  <a:latin typeface="Arial Black" panose="020B0A04020102020204"/>
                </a:rPr>
                <a:t>~60%</a:t>
              </a:r>
            </a:p>
          </p:txBody>
        </p:sp>
        <p:sp>
          <p:nvSpPr>
            <p:cNvPr id="43" name="stat_label"/>
            <p:cNvSpPr txBox="1"/>
            <p:nvPr/>
          </p:nvSpPr>
          <p:spPr>
            <a:xfrm>
              <a:off x="11100" y="8271"/>
              <a:ext cx="3386" cy="106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/>
            <a:p>
              <a:pPr algn="ctr"/>
              <a:r>
                <a:rPr lang="zh-CN" altLang="en-US" sz="1500" b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TopK-class operators
Average Improvement</a:t>
              </a:r>
            </a:p>
          </p:txBody>
        </p:sp>
        <p:sp>
          <p:nvSpPr>
            <p:cNvPr id="44" name="stat_bg"/>
            <p:cNvSpPr>
              <a:spLocks noGrp="1"/>
            </p:cNvSpPr>
            <p:nvPr/>
          </p:nvSpPr>
          <p:spPr>
            <a:xfrm>
              <a:off x="14691" y="6972"/>
              <a:ext cx="3386" cy="2441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tat_num"/>
            <p:cNvSpPr txBox="1"/>
            <p:nvPr/>
          </p:nvSpPr>
          <p:spPr>
            <a:xfrm>
              <a:off x="14691" y="7129"/>
              <a:ext cx="3386" cy="122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Autofit/>
            </a:bodyPr>
            <a:lstStyle/>
            <a:p>
              <a:pPr algn="ctr"/>
              <a:r>
                <a:rPr lang="en-US" sz="4400" b="1" dirty="0">
                  <a:solidFill>
                    <a:srgbClr val="8B0012"/>
                  </a:solidFill>
                  <a:latin typeface="Arial Black" panose="020B0A04020102020204"/>
                </a:rPr>
                <a:t>~40%</a:t>
              </a:r>
            </a:p>
          </p:txBody>
        </p:sp>
        <p:sp>
          <p:nvSpPr>
            <p:cNvPr id="46" name="stat_label"/>
            <p:cNvSpPr txBox="1"/>
            <p:nvPr/>
          </p:nvSpPr>
          <p:spPr>
            <a:xfrm>
              <a:off x="14691" y="8271"/>
              <a:ext cx="3386" cy="106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/>
            <a:p>
              <a:pPr algn="ctr"/>
              <a:r>
                <a:rPr lang="zh-CN" altLang="en-US" sz="1500" b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Sort-class operators
Average Improvement</a:t>
              </a:r>
            </a:p>
          </p:txBody>
        </p:sp>
        <p:sp>
          <p:nvSpPr>
            <p:cNvPr id="47" name="stat_bg"/>
            <p:cNvSpPr>
              <a:spLocks noGrp="1"/>
            </p:cNvSpPr>
            <p:nvPr/>
          </p:nvSpPr>
          <p:spPr>
            <a:xfrm>
              <a:off x="11100" y="9639"/>
              <a:ext cx="3386" cy="2441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tat_num"/>
            <p:cNvSpPr txBox="1"/>
            <p:nvPr/>
          </p:nvSpPr>
          <p:spPr>
            <a:xfrm>
              <a:off x="11100" y="9796"/>
              <a:ext cx="3386" cy="122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Autofit/>
            </a:bodyPr>
            <a:lstStyle/>
            <a:p>
              <a:pPr algn="ctr"/>
              <a:r>
                <a:rPr lang="en-US" sz="4400" b="1" dirty="0">
                  <a:solidFill>
                    <a:srgbClr val="8B0012"/>
                  </a:solidFill>
                  <a:latin typeface="Arial Black" panose="020B0A04020102020204"/>
                </a:rPr>
                <a:t>5~10x</a:t>
              </a:r>
            </a:p>
          </p:txBody>
        </p:sp>
        <p:sp>
          <p:nvSpPr>
            <p:cNvPr id="49" name="stat_label"/>
            <p:cNvSpPr txBox="1"/>
            <p:nvPr/>
          </p:nvSpPr>
          <p:spPr>
            <a:xfrm>
              <a:off x="11100" y="10938"/>
              <a:ext cx="3386" cy="106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 fontScale="92500"/>
            </a:bodyPr>
            <a:lstStyle/>
            <a:p>
              <a:pPr algn="ctr"/>
              <a:r>
                <a:rPr lang="zh-CN" altLang="en-US" sz="1500" b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shared mem vs.
global mem latency ratio</a:t>
              </a:r>
            </a:p>
          </p:txBody>
        </p:sp>
        <p:sp>
          <p:nvSpPr>
            <p:cNvPr id="50" name="stat_bg"/>
            <p:cNvSpPr>
              <a:spLocks noGrp="1"/>
            </p:cNvSpPr>
            <p:nvPr/>
          </p:nvSpPr>
          <p:spPr>
            <a:xfrm>
              <a:off x="14691" y="9639"/>
              <a:ext cx="3386" cy="2441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tat_num"/>
            <p:cNvSpPr txBox="1"/>
            <p:nvPr/>
          </p:nvSpPr>
          <p:spPr>
            <a:xfrm>
              <a:off x="14691" y="9796"/>
              <a:ext cx="3386" cy="122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Autofit/>
            </a:bodyPr>
            <a:lstStyle/>
            <a:p>
              <a:pPr algn="ctr"/>
              <a:r>
                <a:rPr lang="en-US" sz="4400" b="1" dirty="0">
                  <a:solidFill>
                    <a:srgbClr val="8B0012"/>
                  </a:solidFill>
                  <a:latin typeface="Arial Black" panose="020B0A04020102020204"/>
                </a:rPr>
                <a:t>0</a:t>
              </a:r>
            </a:p>
          </p:txBody>
        </p:sp>
        <p:sp>
          <p:nvSpPr>
            <p:cNvPr id="52" name="stat_label"/>
            <p:cNvSpPr txBox="1"/>
            <p:nvPr/>
          </p:nvSpPr>
          <p:spPr>
            <a:xfrm>
              <a:off x="14691" y="10938"/>
              <a:ext cx="3386" cy="106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 fontScale="92500" lnSpcReduction="10000"/>
            </a:bodyPr>
            <a:lstStyle/>
            <a:p>
              <a:pPr algn="ctr"/>
              <a:r>
                <a:rPr lang="zh-CN" altLang="en-US" sz="1500" b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Code Intrusiveness
(Operator code unchanged)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249555" y="2304415"/>
            <a:ext cx="6799580" cy="3180080"/>
            <a:chOff x="3937" y="3543"/>
            <a:chExt cx="10708" cy="5008"/>
          </a:xfrm>
        </p:grpSpPr>
        <p:sp>
          <p:nvSpPr>
            <p:cNvPr id="54" name="txt"/>
            <p:cNvSpPr txBox="1">
              <a:spLocks noGrp="1"/>
            </p:cNvSpPr>
            <p:nvPr/>
          </p:nvSpPr>
          <p:spPr>
            <a:xfrm>
              <a:off x="3937" y="3543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topk (K=10)</a:t>
              </a:r>
            </a:p>
          </p:txBody>
        </p:sp>
        <p:sp>
          <p:nvSpPr>
            <p:cNvPr id="55" name="rect"/>
            <p:cNvSpPr>
              <a:spLocks noGrp="1"/>
            </p:cNvSpPr>
            <p:nvPr/>
          </p:nvSpPr>
          <p:spPr>
            <a:xfrm>
              <a:off x="7559" y="3606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ect"/>
            <p:cNvSpPr>
              <a:spLocks noGrp="1"/>
            </p:cNvSpPr>
            <p:nvPr/>
          </p:nvSpPr>
          <p:spPr>
            <a:xfrm>
              <a:off x="7559" y="3606"/>
              <a:ext cx="4819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txt"/>
            <p:cNvSpPr txBox="1">
              <a:spLocks noGrp="1"/>
            </p:cNvSpPr>
            <p:nvPr/>
          </p:nvSpPr>
          <p:spPr>
            <a:xfrm>
              <a:off x="12535" y="3543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+68%</a:t>
              </a:r>
            </a:p>
          </p:txBody>
        </p:sp>
        <p:sp>
          <p:nvSpPr>
            <p:cNvPr id="58" name="txt"/>
            <p:cNvSpPr txBox="1">
              <a:spLocks noGrp="1"/>
            </p:cNvSpPr>
            <p:nvPr/>
          </p:nvSpPr>
          <p:spPr>
            <a:xfrm>
              <a:off x="3937" y="4425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topk (K=100)</a:t>
              </a:r>
            </a:p>
          </p:txBody>
        </p:sp>
        <p:sp>
          <p:nvSpPr>
            <p:cNvPr id="59" name="rect"/>
            <p:cNvSpPr>
              <a:spLocks noGrp="1"/>
            </p:cNvSpPr>
            <p:nvPr/>
          </p:nvSpPr>
          <p:spPr>
            <a:xfrm>
              <a:off x="7559" y="4488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ect"/>
            <p:cNvSpPr>
              <a:spLocks noGrp="1"/>
            </p:cNvSpPr>
            <p:nvPr/>
          </p:nvSpPr>
          <p:spPr>
            <a:xfrm>
              <a:off x="7559" y="4488"/>
              <a:ext cx="3685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t"/>
            <p:cNvSpPr txBox="1">
              <a:spLocks noGrp="1"/>
            </p:cNvSpPr>
            <p:nvPr/>
          </p:nvSpPr>
          <p:spPr>
            <a:xfrm>
              <a:off x="11402" y="4425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+52%</a:t>
              </a:r>
            </a:p>
          </p:txBody>
        </p:sp>
        <p:sp>
          <p:nvSpPr>
            <p:cNvPr id="62" name="txt"/>
            <p:cNvSpPr txBox="1">
              <a:spLocks noGrp="1"/>
            </p:cNvSpPr>
            <p:nvPr/>
          </p:nvSpPr>
          <p:spPr>
            <a:xfrm>
              <a:off x="3937" y="5307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sort (BitonicSort)</a:t>
              </a:r>
            </a:p>
          </p:txBody>
        </p:sp>
        <p:sp>
          <p:nvSpPr>
            <p:cNvPr id="63" name="rect"/>
            <p:cNvSpPr>
              <a:spLocks noGrp="1"/>
            </p:cNvSpPr>
            <p:nvPr/>
          </p:nvSpPr>
          <p:spPr>
            <a:xfrm>
              <a:off x="7559" y="5370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ect"/>
            <p:cNvSpPr>
              <a:spLocks noGrp="1"/>
            </p:cNvSpPr>
            <p:nvPr/>
          </p:nvSpPr>
          <p:spPr>
            <a:xfrm>
              <a:off x="7559" y="5370"/>
              <a:ext cx="3189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txt"/>
            <p:cNvSpPr txBox="1">
              <a:spLocks noGrp="1"/>
            </p:cNvSpPr>
            <p:nvPr/>
          </p:nvSpPr>
          <p:spPr>
            <a:xfrm>
              <a:off x="10906" y="5307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+45%</a:t>
              </a:r>
            </a:p>
          </p:txBody>
        </p:sp>
        <p:sp>
          <p:nvSpPr>
            <p:cNvPr id="66" name="txt"/>
            <p:cNvSpPr txBox="1">
              <a:spLocks noGrp="1"/>
            </p:cNvSpPr>
            <p:nvPr/>
          </p:nvSpPr>
          <p:spPr>
            <a:xfrm>
              <a:off x="3937" y="6189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argsort</a:t>
              </a:r>
            </a:p>
          </p:txBody>
        </p:sp>
        <p:sp>
          <p:nvSpPr>
            <p:cNvPr id="67" name="rect"/>
            <p:cNvSpPr>
              <a:spLocks noGrp="1"/>
            </p:cNvSpPr>
            <p:nvPr/>
          </p:nvSpPr>
          <p:spPr>
            <a:xfrm>
              <a:off x="7559" y="6252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ect"/>
            <p:cNvSpPr>
              <a:spLocks noGrp="1"/>
            </p:cNvSpPr>
            <p:nvPr/>
          </p:nvSpPr>
          <p:spPr>
            <a:xfrm>
              <a:off x="7559" y="6252"/>
              <a:ext cx="2906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txt"/>
            <p:cNvSpPr txBox="1">
              <a:spLocks noGrp="1"/>
            </p:cNvSpPr>
            <p:nvPr/>
          </p:nvSpPr>
          <p:spPr>
            <a:xfrm>
              <a:off x="10622" y="6189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+41%</a:t>
              </a:r>
            </a:p>
          </p:txBody>
        </p:sp>
        <p:sp>
          <p:nvSpPr>
            <p:cNvPr id="70" name="txt"/>
            <p:cNvSpPr txBox="1">
              <a:spLocks noGrp="1"/>
            </p:cNvSpPr>
            <p:nvPr/>
          </p:nvSpPr>
          <p:spPr>
            <a:xfrm>
              <a:off x="3937" y="7071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median</a:t>
              </a:r>
            </a:p>
          </p:txBody>
        </p:sp>
        <p:sp>
          <p:nvSpPr>
            <p:cNvPr id="71" name="rect"/>
            <p:cNvSpPr>
              <a:spLocks noGrp="1"/>
            </p:cNvSpPr>
            <p:nvPr/>
          </p:nvSpPr>
          <p:spPr>
            <a:xfrm>
              <a:off x="7559" y="7134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ect"/>
            <p:cNvSpPr>
              <a:spLocks noGrp="1"/>
            </p:cNvSpPr>
            <p:nvPr/>
          </p:nvSpPr>
          <p:spPr>
            <a:xfrm>
              <a:off x="7559" y="7134"/>
              <a:ext cx="2480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txt"/>
            <p:cNvSpPr txBox="1">
              <a:spLocks noGrp="1"/>
            </p:cNvSpPr>
            <p:nvPr/>
          </p:nvSpPr>
          <p:spPr>
            <a:xfrm>
              <a:off x="10197" y="7071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+35%</a:t>
              </a:r>
            </a:p>
          </p:txBody>
        </p:sp>
        <p:sp>
          <p:nvSpPr>
            <p:cNvPr id="74" name="txt"/>
            <p:cNvSpPr txBox="1">
              <a:spLocks noGrp="1"/>
            </p:cNvSpPr>
            <p:nvPr/>
          </p:nvSpPr>
          <p:spPr>
            <a:xfrm>
              <a:off x="3937" y="7953"/>
              <a:ext cx="3465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r"/>
              <a:r>
                <a:rPr lang="zh-CN" altLang="en-US" sz="16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kthvalue</a:t>
              </a:r>
            </a:p>
          </p:txBody>
        </p:sp>
        <p:sp>
          <p:nvSpPr>
            <p:cNvPr id="75" name="rect"/>
            <p:cNvSpPr>
              <a:spLocks noGrp="1"/>
            </p:cNvSpPr>
            <p:nvPr/>
          </p:nvSpPr>
          <p:spPr>
            <a:xfrm>
              <a:off x="7559" y="8016"/>
              <a:ext cx="7087" cy="472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ect"/>
            <p:cNvSpPr>
              <a:spLocks noGrp="1"/>
            </p:cNvSpPr>
            <p:nvPr/>
          </p:nvSpPr>
          <p:spPr>
            <a:xfrm>
              <a:off x="7559" y="8016"/>
              <a:ext cx="2693" cy="47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xt"/>
            <p:cNvSpPr txBox="1">
              <a:spLocks noGrp="1"/>
            </p:cNvSpPr>
            <p:nvPr/>
          </p:nvSpPr>
          <p:spPr>
            <a:xfrm>
              <a:off x="10409" y="7953"/>
              <a:ext cx="1260" cy="59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700" b="1" i="0" dirty="0">
                  <a:solidFill>
                    <a:srgbClr val="8B0012"/>
                  </a:solidFill>
                  <a:latin typeface="Arial" panose="020B0604020202020204"/>
                  <a:ea typeface="微软雅黑" panose="020B0503020204020204" charset="-122"/>
                </a:rPr>
                <a:t>+38%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Extensibility: Optimization Patterns for Other Op</a:t>
            </a:r>
            <a:r>
              <a:rPr lang="en-US" altLang="zh-CN"/>
              <a:t>.</a:t>
            </a:r>
            <a:r>
              <a:rPr lang="zh-CN" altLang="en-US"/>
              <a:t>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1612265" y="1531620"/>
            <a:ext cx="9399270" cy="4700270"/>
            <a:chOff x="2926" y="2412"/>
            <a:chExt cx="14802" cy="7402"/>
          </a:xfrm>
        </p:grpSpPr>
        <p:sp>
          <p:nvSpPr>
            <p:cNvPr id="6" name="rect"/>
            <p:cNvSpPr>
              <a:spLocks noGrp="1"/>
            </p:cNvSpPr>
            <p:nvPr/>
          </p:nvSpPr>
          <p:spPr>
            <a:xfrm>
              <a:off x="2926" y="2412"/>
              <a:ext cx="6929" cy="7402"/>
            </a:xfrm>
            <a:prstGeom prst="rect">
              <a:avLst/>
            </a:prstGeom>
            <a:solidFill>
              <a:srgbClr val="FFF5F5"/>
            </a:solidFill>
            <a:ln w="19050">
              <a:solidFill>
                <a:srgbClr val="8B00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ect"/>
            <p:cNvSpPr>
              <a:spLocks noGrp="1"/>
            </p:cNvSpPr>
            <p:nvPr/>
          </p:nvSpPr>
          <p:spPr>
            <a:xfrm>
              <a:off x="2926" y="2412"/>
              <a:ext cx="6929" cy="882"/>
            </a:xfrm>
            <a:prstGeom prst="rect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xt"/>
            <p:cNvSpPr txBox="1">
              <a:spLocks noGrp="1"/>
            </p:cNvSpPr>
            <p:nvPr/>
          </p:nvSpPr>
          <p:spPr>
            <a:xfrm>
              <a:off x="3083" y="2522"/>
              <a:ext cx="6614" cy="66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Autofit/>
            </a:bodyPr>
            <a:lstStyle/>
            <a:p>
              <a:pPr algn="l"/>
              <a:r>
                <a:rPr lang="zh-CN" altLang="en-US" sz="14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Operator Patterns Suitable for local_ptr Optimization</a:t>
              </a:r>
            </a:p>
          </p:txBody>
        </p:sp>
        <p:sp>
          <p:nvSpPr>
            <p:cNvPr id="200" name="dot"/>
            <p:cNvSpPr>
              <a:spLocks noGrp="1"/>
            </p:cNvSpPr>
            <p:nvPr/>
          </p:nvSpPr>
          <p:spPr>
            <a:xfrm>
              <a:off x="3083" y="3640"/>
              <a:ext cx="189" cy="189"/>
            </a:xfrm>
            <a:prstGeom prst="ellipse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bullet_text"/>
            <p:cNvSpPr txBox="1"/>
            <p:nvPr/>
          </p:nvSpPr>
          <p:spPr>
            <a:xfrm>
              <a:off x="3461" y="3483"/>
              <a:ext cx="6189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91440" bIns="0">
              <a:normAutofit/>
            </a:bodyPr>
            <a:lstStyle/>
            <a:p>
              <a:r>
                <a:rPr lang="zh-CN" altLang="en-US" sz="1600" b="1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Intermediate Result Reuse</a:t>
              </a:r>
            </a:p>
          </p:txBody>
        </p:sp>
        <p:sp>
          <p:nvSpPr>
            <p:cNvPr id="9" name="txt"/>
            <p:cNvSpPr txBox="1">
              <a:spLocks noGrp="1"/>
            </p:cNvSpPr>
            <p:nvPr/>
          </p:nvSpPr>
          <p:spPr>
            <a:xfrm>
              <a:off x="3367" y="3971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72500" lnSpcReduction="2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Operators that read/write the same data multiple times internally</a:t>
              </a:r>
            </a:p>
          </p:txBody>
        </p:sp>
        <p:sp>
          <p:nvSpPr>
            <p:cNvPr id="10" name="txt"/>
            <p:cNvSpPr txBox="1">
              <a:spLocks noGrp="1"/>
            </p:cNvSpPr>
            <p:nvPr/>
          </p:nvSpPr>
          <p:spPr>
            <a:xfrm>
              <a:off x="3367" y="4412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2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→ Store in shared mem to avoid multiple global accesses</a:t>
              </a:r>
            </a:p>
          </p:txBody>
        </p:sp>
        <p:sp>
          <p:nvSpPr>
            <p:cNvPr id="11" name="dot"/>
            <p:cNvSpPr>
              <a:spLocks noGrp="1"/>
            </p:cNvSpPr>
            <p:nvPr/>
          </p:nvSpPr>
          <p:spPr>
            <a:xfrm>
              <a:off x="3083" y="5073"/>
              <a:ext cx="189" cy="189"/>
            </a:xfrm>
            <a:prstGeom prst="ellipse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bullet_text"/>
            <p:cNvSpPr txBox="1"/>
            <p:nvPr/>
          </p:nvSpPr>
          <p:spPr>
            <a:xfrm>
              <a:off x="3461" y="4916"/>
              <a:ext cx="6189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91440" bIns="0">
              <a:normAutofit/>
            </a:bodyPr>
            <a:lstStyle/>
            <a:p>
              <a:r>
                <a:rPr lang="zh-CN" altLang="en-US" sz="1600" b="1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Inter-Warp Communication</a:t>
              </a:r>
            </a:p>
          </p:txBody>
        </p:sp>
        <p:sp>
          <p:nvSpPr>
            <p:cNvPr id="13" name="txt"/>
            <p:cNvSpPr txBox="1">
              <a:spLocks noGrp="1"/>
            </p:cNvSpPr>
            <p:nvPr/>
          </p:nvSpPr>
          <p:spPr>
            <a:xfrm>
              <a:off x="3367" y="5404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Warps within the same CTA need to exchange data</a:t>
              </a:r>
            </a:p>
          </p:txBody>
        </p:sp>
        <p:sp>
          <p:nvSpPr>
            <p:cNvPr id="14" name="txt"/>
            <p:cNvSpPr txBox="1">
              <a:spLocks noGrp="1"/>
            </p:cNvSpPr>
            <p:nvPr/>
          </p:nvSpPr>
          <p:spPr>
            <a:xfrm>
              <a:off x="3367" y="5845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→ Achieve efficient communication via shared mem</a:t>
              </a:r>
            </a:p>
          </p:txBody>
        </p:sp>
        <p:sp>
          <p:nvSpPr>
            <p:cNvPr id="15" name="dot"/>
            <p:cNvSpPr>
              <a:spLocks noGrp="1"/>
            </p:cNvSpPr>
            <p:nvPr/>
          </p:nvSpPr>
          <p:spPr>
            <a:xfrm>
              <a:off x="3083" y="6506"/>
              <a:ext cx="189" cy="189"/>
            </a:xfrm>
            <a:prstGeom prst="ellipse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bullet_text"/>
            <p:cNvSpPr txBox="1"/>
            <p:nvPr/>
          </p:nvSpPr>
          <p:spPr>
            <a:xfrm>
              <a:off x="3461" y="6349"/>
              <a:ext cx="6189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91440" bIns="0">
              <a:normAutofit/>
            </a:bodyPr>
            <a:lstStyle/>
            <a:p>
              <a:r>
                <a:rPr lang="zh-CN" altLang="en-US" sz="1600" b="1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Reduction Operations</a:t>
              </a:r>
            </a:p>
          </p:txBody>
        </p:sp>
        <p:sp>
          <p:nvSpPr>
            <p:cNvPr id="17" name="txt"/>
            <p:cNvSpPr txBox="1">
              <a:spLocks noGrp="1"/>
            </p:cNvSpPr>
            <p:nvPr/>
          </p:nvSpPr>
          <p:spPr>
            <a:xfrm>
              <a:off x="3367" y="6837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Cross-thread reductions such as Sum / Max / Min</a:t>
              </a:r>
            </a:p>
          </p:txBody>
        </p:sp>
        <p:sp>
          <p:nvSpPr>
            <p:cNvPr id="18" name="txt"/>
            <p:cNvSpPr txBox="1">
              <a:spLocks noGrp="1"/>
            </p:cNvSpPr>
            <p:nvPr/>
          </p:nvSpPr>
          <p:spPr>
            <a:xfrm>
              <a:off x="3367" y="7278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→ Alternative to traditional shuffle</a:t>
              </a:r>
            </a:p>
          </p:txBody>
        </p:sp>
        <p:sp>
          <p:nvSpPr>
            <p:cNvPr id="19" name="dot"/>
            <p:cNvSpPr>
              <a:spLocks noGrp="1"/>
            </p:cNvSpPr>
            <p:nvPr/>
          </p:nvSpPr>
          <p:spPr>
            <a:xfrm>
              <a:off x="3083" y="7939"/>
              <a:ext cx="189" cy="189"/>
            </a:xfrm>
            <a:prstGeom prst="ellipse">
              <a:avLst/>
            </a:prstGeom>
            <a:solidFill>
              <a:srgbClr val="8B001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bullet_text"/>
            <p:cNvSpPr txBox="1"/>
            <p:nvPr/>
          </p:nvSpPr>
          <p:spPr>
            <a:xfrm>
              <a:off x="3461" y="7782"/>
              <a:ext cx="6189" cy="55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91440" bIns="0">
              <a:normAutofit/>
            </a:bodyPr>
            <a:lstStyle/>
            <a:p>
              <a:r>
                <a:rPr lang="zh-CN" altLang="en-US" sz="1600" b="1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Block Sorting</a:t>
              </a:r>
            </a:p>
          </p:txBody>
        </p:sp>
        <p:sp>
          <p:nvSpPr>
            <p:cNvPr id="21" name="txt"/>
            <p:cNvSpPr txBox="1">
              <a:spLocks noGrp="1"/>
            </p:cNvSpPr>
            <p:nvPr/>
          </p:nvSpPr>
          <p:spPr>
            <a:xfrm>
              <a:off x="3367" y="8270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Bitonic sort / Radix sort block implementation</a:t>
              </a:r>
            </a:p>
          </p:txBody>
        </p:sp>
        <p:sp>
          <p:nvSpPr>
            <p:cNvPr id="22" name="txt"/>
            <p:cNvSpPr txBox="1">
              <a:spLocks noGrp="1"/>
            </p:cNvSpPr>
            <p:nvPr/>
          </p:nvSpPr>
          <p:spPr>
            <a:xfrm>
              <a:off x="3367" y="8711"/>
              <a:ext cx="6378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95000" lnSpcReduction="10000"/>
            </a:bodyPr>
            <a:lstStyle/>
            <a:p>
              <a:pPr algn="l"/>
              <a:r>
                <a:rPr lang="zh-CN" altLang="en-US" sz="1400" b="0" i="0" dirty="0">
                  <a:solidFill>
                    <a:srgbClr val="666666"/>
                  </a:solidFill>
                  <a:latin typeface="Arial" panose="020B0604020202020204"/>
                  <a:ea typeface="微软雅黑" panose="020B0503020204020204" charset="-122"/>
                </a:rPr>
                <a:t>→ local_ptr keeps block data in shared mem</a:t>
              </a:r>
            </a:p>
          </p:txBody>
        </p:sp>
        <p:sp>
          <p:nvSpPr>
            <p:cNvPr id="27" name="rect"/>
            <p:cNvSpPr>
              <a:spLocks noGrp="1"/>
            </p:cNvSpPr>
            <p:nvPr/>
          </p:nvSpPr>
          <p:spPr>
            <a:xfrm>
              <a:off x="10170" y="2412"/>
              <a:ext cx="7559" cy="7402"/>
            </a:xfrm>
            <a:prstGeom prst="rect">
              <a:avLst/>
            </a:prstGeom>
            <a:solidFill>
              <a:srgbClr val="F0F8FF"/>
            </a:solidFill>
            <a:ln w="19050">
              <a:solidFill>
                <a:srgbClr val="0066C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ect"/>
            <p:cNvSpPr>
              <a:spLocks noGrp="1"/>
            </p:cNvSpPr>
            <p:nvPr/>
          </p:nvSpPr>
          <p:spPr>
            <a:xfrm>
              <a:off x="10170" y="2412"/>
              <a:ext cx="7559" cy="882"/>
            </a:xfrm>
            <a:prstGeom prst="rect">
              <a:avLst/>
            </a:prstGeom>
            <a:solidFill>
              <a:srgbClr val="0D47A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t"/>
            <p:cNvSpPr txBox="1">
              <a:spLocks noGrp="1"/>
            </p:cNvSpPr>
            <p:nvPr/>
          </p:nvSpPr>
          <p:spPr>
            <a:xfrm>
              <a:off x="10328" y="2522"/>
              <a:ext cx="7244" cy="66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Autofit/>
            </a:bodyPr>
            <a:lstStyle/>
            <a:p>
              <a:pPr algn="l"/>
              <a:r>
                <a:rPr lang="zh-CN" altLang="en-US" sz="1400" b="1" i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</a:rPr>
                <a:t>Steps to Integrate New Operators with local_ptr</a:t>
              </a:r>
            </a:p>
          </p:txBody>
        </p:sp>
        <p:sp>
          <p:nvSpPr>
            <p:cNvPr id="30" name="txt"/>
            <p:cNvSpPr txBox="1">
              <a:spLocks noGrp="1"/>
            </p:cNvSpPr>
            <p:nvPr/>
          </p:nvSpPr>
          <p:spPr>
            <a:xfrm>
              <a:off x="10328" y="3483"/>
              <a:ext cx="1260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</a:rPr>
                <a:t>Step 1</a:t>
              </a:r>
            </a:p>
          </p:txBody>
        </p:sp>
        <p:sp>
          <p:nvSpPr>
            <p:cNvPr id="31" name="txt"/>
            <p:cNvSpPr txBox="1">
              <a:spLocks noGrp="1"/>
            </p:cNvSpPr>
            <p:nvPr/>
          </p:nvSpPr>
          <p:spPr>
            <a:xfrm>
              <a:off x="11745" y="3483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72500" lnSpcReduction="2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Identify shared memory usage scenarios in the operator</a:t>
              </a:r>
            </a:p>
          </p:txBody>
        </p:sp>
        <p:sp>
          <p:nvSpPr>
            <p:cNvPr id="32" name="txt"/>
            <p:cNvSpPr txBox="1">
              <a:spLocks noGrp="1"/>
            </p:cNvSpPr>
            <p:nvPr/>
          </p:nvSpPr>
          <p:spPr>
            <a:xfrm>
              <a:off x="10328" y="4585"/>
              <a:ext cx="1260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</a:rPr>
                <a:t>Step 2</a:t>
              </a:r>
            </a:p>
          </p:txBody>
        </p:sp>
        <p:sp>
          <p:nvSpPr>
            <p:cNvPr id="33" name="txt"/>
            <p:cNvSpPr txBox="1">
              <a:spLocks noGrp="1"/>
            </p:cNvSpPr>
            <p:nvPr/>
          </p:nvSpPr>
          <p:spPr>
            <a:xfrm>
              <a:off x="11745" y="4585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1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Replace tl.zeros / tl.full declared shared buffer</a:t>
              </a:r>
            </a:p>
          </p:txBody>
        </p:sp>
        <p:sp>
          <p:nvSpPr>
            <p:cNvPr id="34" name="txt"/>
            <p:cNvSpPr txBox="1">
              <a:spLocks noGrp="1"/>
            </p:cNvSpPr>
            <p:nvPr/>
          </p:nvSpPr>
          <p:spPr>
            <a:xfrm>
              <a:off x="11745" y="5026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1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to use tle.gpu.local_ptr references instead</a:t>
              </a:r>
            </a:p>
          </p:txBody>
        </p:sp>
        <p:sp>
          <p:nvSpPr>
            <p:cNvPr id="35" name="txt"/>
            <p:cNvSpPr txBox="1">
              <a:spLocks noGrp="1"/>
            </p:cNvSpPr>
            <p:nvPr/>
          </p:nvSpPr>
          <p:spPr>
            <a:xfrm>
              <a:off x="10328" y="5687"/>
              <a:ext cx="1260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</a:rPr>
                <a:t>Step 3</a:t>
              </a:r>
            </a:p>
          </p:txBody>
        </p:sp>
        <p:sp>
          <p:nvSpPr>
            <p:cNvPr id="36" name="txt"/>
            <p:cNvSpPr txBox="1">
              <a:spLocks noGrp="1"/>
            </p:cNvSpPr>
            <p:nvPr/>
          </p:nvSpPr>
          <p:spPr>
            <a:xfrm>
              <a:off x="11745" y="5687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57500" lnSpcReduction="2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Verify via FlagTree compilation that the Pass executes correctly</a:t>
              </a:r>
            </a:p>
          </p:txBody>
        </p:sp>
        <p:sp>
          <p:nvSpPr>
            <p:cNvPr id="37" name="txt"/>
            <p:cNvSpPr txBox="1">
              <a:spLocks noGrp="1"/>
            </p:cNvSpPr>
            <p:nvPr/>
          </p:nvSpPr>
          <p:spPr>
            <a:xfrm>
              <a:off x="11745" y="6128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1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 (Inspect the generated PTX / ISA)</a:t>
              </a:r>
            </a:p>
          </p:txBody>
        </p:sp>
        <p:sp>
          <p:nvSpPr>
            <p:cNvPr id="38" name="txt"/>
            <p:cNvSpPr txBox="1">
              <a:spLocks noGrp="1"/>
            </p:cNvSpPr>
            <p:nvPr/>
          </p:nvSpPr>
          <p:spPr>
            <a:xfrm>
              <a:off x="10328" y="6790"/>
              <a:ext cx="1260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</a:rPr>
                <a:t>Step 4</a:t>
              </a:r>
            </a:p>
          </p:txBody>
        </p:sp>
        <p:sp>
          <p:nvSpPr>
            <p:cNvPr id="39" name="txt"/>
            <p:cNvSpPr txBox="1">
              <a:spLocks noGrp="1"/>
            </p:cNvSpPr>
            <p:nvPr/>
          </p:nvSpPr>
          <p:spPr>
            <a:xfrm>
              <a:off x="11745" y="6790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2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Verify result correctness in the FlagGems test suite</a:t>
              </a:r>
            </a:p>
          </p:txBody>
        </p:sp>
        <p:sp>
          <p:nvSpPr>
            <p:cNvPr id="40" name="txt"/>
            <p:cNvSpPr txBox="1">
              <a:spLocks noGrp="1"/>
            </p:cNvSpPr>
            <p:nvPr/>
          </p:nvSpPr>
          <p:spPr>
            <a:xfrm>
              <a:off x="10328" y="7892"/>
              <a:ext cx="1260" cy="63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/>
            </a:bodyPr>
            <a:lstStyle/>
            <a:p>
              <a:pPr algn="l"/>
              <a:r>
                <a:rPr lang="zh-CN" altLang="en-US" sz="1600" b="1" i="0" dirty="0">
                  <a:solidFill>
                    <a:srgbClr val="0D47A1"/>
                  </a:solidFill>
                  <a:latin typeface="Arial" panose="020B0604020202020204"/>
                  <a:ea typeface="微软雅黑" panose="020B0503020204020204" charset="-122"/>
                </a:rPr>
                <a:t>Step 5</a:t>
              </a:r>
            </a:p>
          </p:txBody>
        </p:sp>
        <p:sp>
          <p:nvSpPr>
            <p:cNvPr id="41" name="txt"/>
            <p:cNvSpPr txBox="1">
              <a:spLocks noGrp="1"/>
            </p:cNvSpPr>
            <p:nvPr/>
          </p:nvSpPr>
          <p:spPr>
            <a:xfrm>
              <a:off x="11745" y="7892"/>
              <a:ext cx="5827" cy="44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>
              <a:normAutofit fontScale="87500" lnSpcReduction="10000"/>
            </a:bodyPr>
            <a:lstStyle/>
            <a:p>
              <a:pPr algn="l"/>
              <a:r>
                <a:rPr lang="zh-CN" altLang="en-US" sz="1500" b="0" i="0" dirty="0">
                  <a:solidFill>
                    <a:srgbClr val="1A1A1A"/>
                  </a:solidFill>
                  <a:latin typeface="Arial" panose="020B0604020202020204"/>
                  <a:ea typeface="微软雅黑" panose="020B0503020204020204" charset="-122"/>
                </a:rPr>
                <a:t>Submit PR; CI/CD automated regression testing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1970</Words>
  <Application>Microsoft Office PowerPoint</Application>
  <PresentationFormat>宽屏</PresentationFormat>
  <Paragraphs>270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Courier New Regular</vt:lpstr>
      <vt:lpstr>微软雅黑</vt:lpstr>
      <vt:lpstr>文泉驿微米黑</vt:lpstr>
      <vt:lpstr>Arial</vt:lpstr>
      <vt:lpstr>Arial Black</vt:lpstr>
      <vt:lpstr>Calibri</vt:lpstr>
      <vt:lpstr>Calibri Light</vt:lpstr>
      <vt:lpstr>Consolas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43: Extreme Optimization of Heterogeneous Systems</vt:lpstr>
      <vt:lpstr>Microarchitecture of Heterogeneous Systems</vt:lpstr>
      <vt:lpstr>Typical Domestic GPU  Microarchitecture Examples</vt:lpstr>
      <vt:lpstr>Case Study:Background and Challenges</vt:lpstr>
      <vt:lpstr>Hardware Principles and Memory Access Optimization Fundamentals</vt:lpstr>
      <vt:lpstr>FlagGems  Overview</vt:lpstr>
      <vt:lpstr>FlagTree  System Overview</vt:lpstr>
      <vt:lpstr>tle.gpu.local_ptr  Design </vt:lpstr>
      <vt:lpstr> Compiler Pass  Integration</vt:lpstr>
      <vt:lpstr>Pass  Registration and Backend Integration</vt:lpstr>
      <vt:lpstr>FlagGems  Operator Layer Architecture</vt:lpstr>
      <vt:lpstr>TopK  Operator Optimization Case Study</vt:lpstr>
      <vt:lpstr>FlagGems TopK  Complete Optimization Path</vt:lpstr>
      <vt:lpstr>Performance Improvement Results</vt:lpstr>
      <vt:lpstr>Extensibility: Optimization Patterns for Other Op.s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9</cp:revision>
  <dcterms:created xsi:type="dcterms:W3CDTF">2026-03-10T09:09:00Z</dcterms:created>
  <dcterms:modified xsi:type="dcterms:W3CDTF">2026-03-17T14:55:17Z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