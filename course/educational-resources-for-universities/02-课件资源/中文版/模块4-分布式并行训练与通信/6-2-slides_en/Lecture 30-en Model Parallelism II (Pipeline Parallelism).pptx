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3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33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0012"/>
    <a:srgbClr val="70AD47"/>
    <a:srgbClr val="2774AE"/>
    <a:srgbClr val="70AE47"/>
    <a:srgbClr val="549E39"/>
    <a:srgbClr val="90B085"/>
    <a:srgbClr val="2D2D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0"/>
    <p:restoredTop sz="91913" autoAdjust="0"/>
  </p:normalViewPr>
  <p:slideViewPr>
    <p:cSldViewPr snapToGrid="0" snapToObjects="1">
      <p:cViewPr varScale="1">
        <p:scale>
          <a:sx n="56" d="100"/>
          <a:sy n="56" d="100"/>
        </p:scale>
        <p:origin x="868" y="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81" d="100"/>
          <a:sy n="81" d="100"/>
        </p:scale>
        <p:origin x="338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4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D35F3-BE5B-41CC-A973-5F94E77F22B3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1048765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6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6126E5-09CE-4398-8EB0-4AC849D0A1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58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AE8E16-D6C5-3248-816C-85B3C8E8792E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104875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4876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76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44C98A-D9C5-894D-9A13-8F52E37846C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44C98A-D9C5-894D-9A13-8F52E37846C0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367467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251657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8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5.xml"/><Relationship Id="rId21" Type="http://schemas.openxmlformats.org/officeDocument/2006/relationships/image" Target="../media/image31.png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30.png"/><Relationship Id="rId29" Type="http://schemas.openxmlformats.org/officeDocument/2006/relationships/image" Target="../media/image35.png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image" Target="../media/image33.png"/><Relationship Id="rId28" Type="http://schemas.openxmlformats.org/officeDocument/2006/relationships/image" Target="../media/image34.jpeg"/><Relationship Id="rId10" Type="http://schemas.openxmlformats.org/officeDocument/2006/relationships/tags" Target="../tags/tag12.xml"/><Relationship Id="rId19" Type="http://schemas.openxmlformats.org/officeDocument/2006/relationships/image" Target="../media/image29.png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image" Target="../media/image32.png"/><Relationship Id="rId27" Type="http://schemas.openxmlformats.org/officeDocument/2006/relationships/hyperlink" Target="https://flagos.io/Home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Lecture 30: Model Parallelism II (Pipeline Parallelism)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内容占位符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CN" dirty="0"/>
              <a:t>Introduction to PP</a:t>
            </a:r>
          </a:p>
          <a:p>
            <a:r>
              <a:rPr lang="en-US" altLang="zh-CN" dirty="0"/>
              <a:t>PP Optimizations</a:t>
            </a:r>
          </a:p>
          <a:p>
            <a:pPr lvl="1"/>
            <a:r>
              <a:rPr lang="en-US" altLang="zh-CN" dirty="0"/>
              <a:t>F-then-B</a:t>
            </a:r>
          </a:p>
          <a:p>
            <a:pPr lvl="1"/>
            <a:r>
              <a:rPr lang="en-US" altLang="zh-CN" dirty="0"/>
              <a:t>1F1B</a:t>
            </a:r>
          </a:p>
          <a:p>
            <a:r>
              <a:rPr lang="en-US" altLang="zh-CN"/>
              <a:t>Advanced PP</a:t>
            </a:r>
          </a:p>
          <a:p>
            <a:pPr lvl="1"/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Introduction to Inter-Node Scaling</a:t>
            </a:r>
            <a:endParaRPr lang="en-US" dirty="0"/>
          </a:p>
        </p:txBody>
      </p:sp>
      <p:sp>
        <p:nvSpPr>
          <p:cNvPr id="104865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5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1048660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TP is computationally efficient but mathematically requires synchronous All-Reduce operations, rendering it unsuitable for inter-node scaling.   </a:t>
            </a:r>
          </a:p>
          <a:p>
            <a:pPr lvl="1"/>
            <a:r>
              <a:rPr lang="en-US" dirty="0"/>
              <a:t>Ethernet/</a:t>
            </a:r>
            <a:r>
              <a:rPr lang="en-US" dirty="0" err="1"/>
              <a:t>Infiniband</a:t>
            </a:r>
            <a:r>
              <a:rPr lang="en-US" dirty="0"/>
              <a:t> latency would catastrophically bottleneck GPU utilization.</a:t>
            </a:r>
          </a:p>
          <a:p>
            <a:pPr lvl="1"/>
            <a:r>
              <a:rPr lang="en-US" dirty="0"/>
              <a:t>To scale deep LLMs across multiple nodes, the system must slice the model longitudinally.   </a:t>
            </a:r>
          </a:p>
          <a:p>
            <a:r>
              <a:rPr lang="en-US" dirty="0"/>
              <a:t>Pipeline Parallelism (PP) assigns sequential blocks of layers to different physical nodes.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97152" name="Picture 4" descr="NVIDIA Quantum-X800: Next Generation Infiniband 800Gbit/s Network Topology"/>
          <p:cNvPicPr>
            <a:picLocks noChangeAspect="1" noChangeArrowheads="1"/>
          </p:cNvPicPr>
          <p:nvPr/>
        </p:nvPicPr>
        <p:blipFill rotWithShape="1">
          <a:blip r:embed="rId2"/>
          <a:srcRect b="17541"/>
          <a:stretch>
            <a:fillRect/>
          </a:stretch>
        </p:blipFill>
        <p:spPr bwMode="auto">
          <a:xfrm>
            <a:off x="2574117" y="3622410"/>
            <a:ext cx="6818239" cy="3144222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 (PP)</a:t>
            </a:r>
          </a:p>
        </p:txBody>
      </p:sp>
      <p:sp>
        <p:nvSpPr>
          <p:cNvPr id="104866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1048664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Layer-wise parallel cuts up layers, assigns some subset to GPUs (</a:t>
            </a:r>
            <a:r>
              <a:rPr lang="en-US" b="1" dirty="0"/>
              <a:t>K</a:t>
            </a:r>
            <a:r>
              <a:rPr lang="en-US" dirty="0"/>
              <a:t> stages)</a:t>
            </a:r>
          </a:p>
          <a:p>
            <a:r>
              <a:rPr lang="en-US" dirty="0"/>
              <a:t>Activations and partial gradients are passed back and forth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9715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4" y="2514688"/>
            <a:ext cx="3701344" cy="2347021"/>
          </a:xfrm>
          <a:prstGeom prst="rect">
            <a:avLst/>
          </a:prstGeom>
        </p:spPr>
      </p:pic>
      <p:pic>
        <p:nvPicPr>
          <p:cNvPr id="2097154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3853" y="2514688"/>
            <a:ext cx="5996517" cy="2523787"/>
          </a:xfrm>
          <a:prstGeom prst="rect">
            <a:avLst/>
          </a:prstGeom>
        </p:spPr>
      </p:pic>
      <p:sp>
        <p:nvSpPr>
          <p:cNvPr id="1048665" name="TextBox 9"/>
          <p:cNvSpPr txBox="1"/>
          <p:nvPr/>
        </p:nvSpPr>
        <p:spPr>
          <a:xfrm>
            <a:off x="1836733" y="5334670"/>
            <a:ext cx="9111774" cy="3581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GPU is idling most of the time, waiting for the backward pass to propagate back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Parallelism</a:t>
            </a:r>
          </a:p>
        </p:txBody>
      </p:sp>
      <p:sp>
        <p:nvSpPr>
          <p:cNvPr id="104866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6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1048669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Communication pattern</a:t>
            </a:r>
          </a:p>
        </p:txBody>
      </p:sp>
      <p:pic>
        <p:nvPicPr>
          <p:cNvPr id="209715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975909"/>
            <a:ext cx="9281583" cy="403909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Parallel: Forward-then-Backward</a:t>
            </a:r>
          </a:p>
        </p:txBody>
      </p:sp>
      <p:sp>
        <p:nvSpPr>
          <p:cNvPr id="104867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48673" name="Content Placeholder 8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Execution timeline</a:t>
            </a:r>
          </a:p>
        </p:txBody>
      </p:sp>
      <p:pic>
        <p:nvPicPr>
          <p:cNvPr id="2097156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0" y="1845469"/>
            <a:ext cx="8597900" cy="2184400"/>
          </a:xfrm>
          <a:prstGeom prst="rect">
            <a:avLst/>
          </a:prstGeom>
        </p:spPr>
      </p:pic>
      <p:sp>
        <p:nvSpPr>
          <p:cNvPr id="1048674" name="TextBox 10"/>
          <p:cNvSpPr txBox="1"/>
          <p:nvPr/>
        </p:nvSpPr>
        <p:spPr>
          <a:xfrm>
            <a:off x="4040929" y="4402667"/>
            <a:ext cx="379463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How to make GPUs busy?</a:t>
            </a:r>
          </a:p>
          <a:p>
            <a:pPr algn="ctr"/>
            <a:r>
              <a:rPr lang="en-US" sz="2400" b="1" dirty="0"/>
              <a:t>Batch split!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Parallel: Forward-then-Backward</a:t>
            </a:r>
          </a:p>
        </p:txBody>
      </p:sp>
      <p:sp>
        <p:nvSpPr>
          <p:cNvPr id="104867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1048678" name="Content Placeholder 8"/>
          <p:cNvSpPr>
            <a:spLocks noGrp="1"/>
          </p:cNvSpPr>
          <p:nvPr>
            <p:ph sz="quarter" idx="13"/>
          </p:nvPr>
        </p:nvSpPr>
        <p:spPr>
          <a:xfrm>
            <a:off x="523875" y="1323975"/>
            <a:ext cx="3429635" cy="4853305"/>
          </a:xfrm>
        </p:spPr>
        <p:txBody>
          <a:bodyPr/>
          <a:lstStyle/>
          <a:p>
            <a:r>
              <a:rPr lang="en-US" dirty="0"/>
              <a:t>GPipe (Google, 2019)</a:t>
            </a:r>
          </a:p>
          <a:p>
            <a:r>
              <a:rPr lang="en-US" dirty="0"/>
              <a:t>Divide the global mini-batch into </a:t>
            </a:r>
            <a:r>
              <a:rPr lang="en-US" b="1" dirty="0"/>
              <a:t>M</a:t>
            </a:r>
            <a:r>
              <a:rPr lang="en-US" dirty="0"/>
              <a:t> smaller "micro-batches"</a:t>
            </a:r>
          </a:p>
          <a:p>
            <a:r>
              <a:rPr lang="en-US" dirty="0"/>
              <a:t>To maximize TFLOPS, increase Global Batch Size to fit more micro-batches into the pipe.</a:t>
            </a:r>
          </a:p>
          <a:p>
            <a:pPr lvl="1"/>
            <a:endParaRPr lang="en-US" dirty="0"/>
          </a:p>
        </p:txBody>
      </p:sp>
      <p:pic>
        <p:nvPicPr>
          <p:cNvPr id="2097157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1" y="1323975"/>
            <a:ext cx="8004236" cy="386337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Parallel: Forward-then-Backward</a:t>
            </a:r>
          </a:p>
        </p:txBody>
      </p:sp>
      <p:sp>
        <p:nvSpPr>
          <p:cNvPr id="104868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1048682" name="Content Placeholder 4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3"/>
          </p:nvPr>
        </p:nvSpPr>
        <p:spPr>
          <a:blipFill>
            <a:blip r:embed="rId2"/>
            <a:stretch>
              <a:fillRect l="-1012" t="-208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097158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4634" y="3746882"/>
            <a:ext cx="5835764" cy="262150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pipeline parallel?</a:t>
            </a:r>
            <a:endParaRPr lang="en-US" dirty="0"/>
          </a:p>
        </p:txBody>
      </p:sp>
      <p:sp>
        <p:nvSpPr>
          <p:cNvPr id="104868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8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1048686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1. Pipelines save memory (compared to DDP)</a:t>
            </a:r>
          </a:p>
          <a:p>
            <a:r>
              <a:rPr lang="en-US" dirty="0"/>
              <a:t>2. Pipelines can have good communication properties (compared to FDSP and TP) </a:t>
            </a:r>
          </a:p>
          <a:p>
            <a:pPr lvl="1"/>
            <a:r>
              <a:rPr lang="en-US" dirty="0"/>
              <a:t>It depends only on activations and is point to point</a:t>
            </a:r>
          </a:p>
          <a:p>
            <a:r>
              <a:rPr lang="en-US" dirty="0"/>
              <a:t>Generally, we will use pipelines on slower network links (i.e. inter-node) as a way to get better memory-wise scaling.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Schedule Optimization</a:t>
            </a:r>
          </a:p>
        </p:txBody>
      </p:sp>
      <p:sp>
        <p:nvSpPr>
          <p:cNvPr id="104868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1048689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PipeDream</a:t>
            </a:r>
            <a:r>
              <a:rPr lang="en-US" dirty="0"/>
              <a:t> proposes a “1F1B” schedule</a:t>
            </a:r>
          </a:p>
          <a:p>
            <a:pPr lvl="1"/>
            <a:r>
              <a:rPr lang="en-US" dirty="0"/>
              <a:t>Once the warm-up phase concludes, GPUs alternate: compute one forward pass, immediately compute one backward pass.   </a:t>
            </a:r>
          </a:p>
          <a:p>
            <a:pPr lvl="1"/>
            <a:r>
              <a:rPr lang="en-US" dirty="0"/>
              <a:t>Prioritizes backward passes to change the lifecycle of cached data.</a:t>
            </a:r>
          </a:p>
          <a:p>
            <a:pPr lvl="1"/>
            <a:endParaRPr lang="en-US" dirty="0"/>
          </a:p>
        </p:txBody>
      </p:sp>
      <p:pic>
        <p:nvPicPr>
          <p:cNvPr id="2097159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040" y="3280630"/>
            <a:ext cx="8115781" cy="3091726"/>
          </a:xfrm>
          <a:prstGeom prst="rect">
            <a:avLst/>
          </a:prstGeom>
        </p:spPr>
      </p:pic>
      <p:sp>
        <p:nvSpPr>
          <p:cNvPr id="1048690" name="TextBox 7"/>
          <p:cNvSpPr txBox="1"/>
          <p:nvPr/>
        </p:nvSpPr>
        <p:spPr>
          <a:xfrm>
            <a:off x="369474" y="3680671"/>
            <a:ext cx="14093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GPipe</a:t>
            </a:r>
          </a:p>
          <a:p>
            <a:pPr algn="ctr"/>
            <a:r>
              <a:rPr lang="en-US" sz="2000" b="1" dirty="0"/>
              <a:t>(F-then-B)</a:t>
            </a:r>
          </a:p>
        </p:txBody>
      </p:sp>
      <p:sp>
        <p:nvSpPr>
          <p:cNvPr id="1048691" name="TextBox 9"/>
          <p:cNvSpPr txBox="1"/>
          <p:nvPr/>
        </p:nvSpPr>
        <p:spPr>
          <a:xfrm>
            <a:off x="311766" y="5251883"/>
            <a:ext cx="15247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 err="1"/>
              <a:t>PipeDream</a:t>
            </a:r>
            <a:endParaRPr lang="en-US" sz="2000" b="1" dirty="0"/>
          </a:p>
          <a:p>
            <a:pPr algn="ctr"/>
            <a:r>
              <a:rPr lang="en-US" sz="2000" b="1" dirty="0"/>
              <a:t>(1F1B)</a:t>
            </a:r>
          </a:p>
        </p:txBody>
      </p:sp>
      <p:sp>
        <p:nvSpPr>
          <p:cNvPr id="1048692" name="TextBox 10"/>
          <p:cNvSpPr txBox="1"/>
          <p:nvPr/>
        </p:nvSpPr>
        <p:spPr>
          <a:xfrm>
            <a:off x="10034786" y="2735266"/>
            <a:ext cx="1907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Peak on-the-fly</a:t>
            </a:r>
          </a:p>
          <a:p>
            <a:r>
              <a:rPr lang="en-US" sz="2000" dirty="0">
                <a:solidFill>
                  <a:srgbClr val="FF0000"/>
                </a:solidFill>
              </a:rPr>
              <a:t>Micro-batches</a:t>
            </a:r>
          </a:p>
        </p:txBody>
      </p:sp>
      <p:sp>
        <p:nvSpPr>
          <p:cNvPr id="1048693" name="TextBox 11"/>
          <p:cNvSpPr txBox="1"/>
          <p:nvPr/>
        </p:nvSpPr>
        <p:spPr>
          <a:xfrm>
            <a:off x="10596693" y="3623809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O(M)</a:t>
            </a:r>
          </a:p>
        </p:txBody>
      </p:sp>
      <p:sp>
        <p:nvSpPr>
          <p:cNvPr id="1048694" name="TextBox 12"/>
          <p:cNvSpPr txBox="1"/>
          <p:nvPr/>
        </p:nvSpPr>
        <p:spPr>
          <a:xfrm>
            <a:off x="10639621" y="5413976"/>
            <a:ext cx="833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O(K)</a:t>
            </a: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Schedule Optimization</a:t>
            </a:r>
          </a:p>
        </p:txBody>
      </p:sp>
      <p:sp>
        <p:nvSpPr>
          <p:cNvPr id="104869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69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1048698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GPipe</a:t>
            </a:r>
            <a:r>
              <a:rPr lang="en-US" dirty="0"/>
              <a:t> memory crisis</a:t>
            </a:r>
          </a:p>
          <a:p>
            <a:pPr lvl="1"/>
            <a:r>
              <a:rPr lang="en-US" dirty="0" err="1"/>
              <a:t>GPipe</a:t>
            </a:r>
            <a:r>
              <a:rPr lang="en-US" dirty="0"/>
              <a:t> is strictly synchronous: all M forward passes must complete before </a:t>
            </a:r>
            <a:r>
              <a:rPr lang="en-US" i="1" dirty="0"/>
              <a:t>any</a:t>
            </a:r>
            <a:r>
              <a:rPr lang="en-US" dirty="0"/>
              <a:t> backward pass begins.</a:t>
            </a:r>
          </a:p>
          <a:p>
            <a:pPr lvl="1"/>
            <a:r>
              <a:rPr lang="en-US" dirty="0"/>
              <a:t>Backward passes absolutely require intermediate activations.</a:t>
            </a:r>
          </a:p>
          <a:p>
            <a:pPr lvl="1"/>
            <a:r>
              <a:rPr lang="en-US" dirty="0"/>
              <a:t>Every pipeline stage must cache activations for </a:t>
            </a:r>
            <a:r>
              <a:rPr lang="en-US" i="1" dirty="0"/>
              <a:t>all</a:t>
            </a:r>
            <a:r>
              <a:rPr lang="en-US" dirty="0"/>
              <a:t> M micro-batches simultaneously.</a:t>
            </a:r>
          </a:p>
          <a:p>
            <a:pPr lvl="1"/>
            <a:r>
              <a:rPr lang="en-US" dirty="0"/>
              <a:t>As M scales to shrink the bubble, activation memory scales linearly O(M), rapidly triggering OOM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97160" name="Picture 2" descr="LPipe: Optimizing Memory Utilization in Pipeline Parallelism for Large  Language Model Training with Bubble-Filled Activation Swapping | Springer  Nature Lin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6444" y="3680985"/>
            <a:ext cx="7713839" cy="304049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Schedule Optimization</a:t>
            </a:r>
          </a:p>
        </p:txBody>
      </p:sp>
      <p:sp>
        <p:nvSpPr>
          <p:cNvPr id="1048700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1048702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1F1B memory footprint</a:t>
            </a:r>
          </a:p>
          <a:p>
            <a:pPr lvl="1"/>
            <a:r>
              <a:rPr lang="en-US" dirty="0"/>
              <a:t>1F1B executes backward passes as early as mathematically possible.</a:t>
            </a:r>
          </a:p>
          <a:p>
            <a:pPr lvl="1"/>
            <a:r>
              <a:rPr lang="en-US" dirty="0"/>
              <a:t>Heavily cached activations are consumed for gradients and instantly discarded.</a:t>
            </a:r>
          </a:p>
          <a:p>
            <a:pPr lvl="1"/>
            <a:r>
              <a:rPr lang="en-US" dirty="0"/>
              <a:t>Max in-flight activations any GPU must store is strictly bounded by pipeline depth K, rather than M.</a:t>
            </a:r>
          </a:p>
          <a:p>
            <a:pPr lvl="1"/>
            <a:r>
              <a:rPr lang="en-US" dirty="0"/>
              <a:t>Decouples peak activation memory from micro-batch count, allowing infinite M scaling (memory permitting).</a:t>
            </a:r>
          </a:p>
          <a:p>
            <a:pPr lvl="1"/>
            <a:endParaRPr lang="en-US" dirty="0"/>
          </a:p>
        </p:txBody>
      </p:sp>
      <p:pic>
        <p:nvPicPr>
          <p:cNvPr id="2097161" name="Picture 2" descr="LPipe: Optimizing Memory Utilization in Pipeline Parallelism for Large  Language Model Training with Bubble-Filled Activation Swapping | Springer  Nature Link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6444" y="3680985"/>
            <a:ext cx="7713839" cy="3040491"/>
          </a:xfrm>
          <a:prstGeom prst="rect">
            <a:avLst/>
          </a:prstGeom>
          <a:noFill/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Schedule Optimization</a:t>
            </a:r>
          </a:p>
        </p:txBody>
      </p:sp>
      <p:sp>
        <p:nvSpPr>
          <p:cNvPr id="104870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0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1048706" name="Content Placeholder 4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3"/>
          </p:nvPr>
        </p:nvSpPr>
        <p:spPr>
          <a:blipFill>
            <a:blip r:embed="rId3"/>
            <a:stretch>
              <a:fillRect l="-1012" t="-2089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pic>
        <p:nvPicPr>
          <p:cNvPr id="2097162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4910" y="3946225"/>
            <a:ext cx="8821617" cy="26464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1F1B and Larger Batch Sizes</a:t>
            </a:r>
          </a:p>
        </p:txBody>
      </p:sp>
      <p:sp>
        <p:nvSpPr>
          <p:cNvPr id="104871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048713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To achieve negligible bubble rates (&lt;5%), M must be exceedingly high.</a:t>
            </a:r>
          </a:p>
          <a:p>
            <a:r>
              <a:rPr lang="en-US" dirty="0"/>
              <a:t>Global batch size is mathematically constrained by optimizer convergence limits.</a:t>
            </a:r>
          </a:p>
          <a:p>
            <a:r>
              <a:rPr lang="en-US" dirty="0"/>
              <a:t>If global batch size is fixed, scaling M shrinks individual micro-batch sizes toward 1.</a:t>
            </a:r>
          </a:p>
          <a:p>
            <a:r>
              <a:rPr lang="en-US" dirty="0"/>
              <a:t>Small micro-batches underutilize modern GPU Tensor Cores, destroying arithmetic intensity.</a:t>
            </a:r>
          </a:p>
          <a:p>
            <a:r>
              <a:rPr lang="en-US" dirty="0"/>
              <a:t>A novel schedule is required to reduce bubbles </a:t>
            </a:r>
            <a:r>
              <a:rPr lang="en-US" i="1" dirty="0"/>
              <a:t>without</a:t>
            </a:r>
            <a:r>
              <a:rPr lang="en-US" dirty="0"/>
              <a:t> increasing M.</a:t>
            </a:r>
          </a:p>
          <a:p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Interleaved 1F1B (Megatron-LM)</a:t>
            </a:r>
          </a:p>
        </p:txBody>
      </p:sp>
      <p:sp>
        <p:nvSpPr>
          <p:cNvPr id="104871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97163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267" y="1481277"/>
            <a:ext cx="8293734" cy="2709725"/>
          </a:xfrm>
          <a:prstGeom prst="rect">
            <a:avLst/>
          </a:prstGeom>
        </p:spPr>
      </p:pic>
      <p:sp>
        <p:nvSpPr>
          <p:cNvPr id="1048718" name="TextBox 7"/>
          <p:cNvSpPr txBox="1"/>
          <p:nvPr/>
        </p:nvSpPr>
        <p:spPr>
          <a:xfrm>
            <a:off x="1424632" y="4699730"/>
            <a:ext cx="40527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 micro-batch will go through both GPU but only once</a:t>
            </a:r>
          </a:p>
        </p:txBody>
      </p:sp>
      <p:sp>
        <p:nvSpPr>
          <p:cNvPr id="1048719" name="TextBox 8"/>
          <p:cNvSpPr txBox="1"/>
          <p:nvPr/>
        </p:nvSpPr>
        <p:spPr>
          <a:xfrm>
            <a:off x="6378102" y="4391954"/>
            <a:ext cx="43508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One micro batch will go through both GPU but now twice.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GPU are now busy working, just like we have two batches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Interleaved 1F1B (Megatron-LM)</a:t>
            </a:r>
          </a:p>
        </p:txBody>
      </p:sp>
      <p:sp>
        <p:nvSpPr>
          <p:cNvPr id="104872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048723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Divides the model into a larger number of "virtual stages" (V stages per GPU).</a:t>
            </a:r>
          </a:p>
          <a:p>
            <a:pPr lvl="1"/>
            <a:r>
              <a:rPr lang="en-US" dirty="0"/>
              <a:t>GPU 1 is assigned Virtual Stage 1 (e.g., layers 1-2) and Virtual Stage 5 (e.g., layers 9-10) simultaneously</a:t>
            </a:r>
          </a:p>
          <a:p>
            <a:endParaRPr lang="en-US" dirty="0"/>
          </a:p>
        </p:txBody>
      </p:sp>
      <p:pic>
        <p:nvPicPr>
          <p:cNvPr id="209716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6" y="2259117"/>
            <a:ext cx="9200048" cy="431101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Interleaved 1F1B (Megatron-LM)</a:t>
            </a:r>
          </a:p>
        </p:txBody>
      </p:sp>
      <p:sp>
        <p:nvSpPr>
          <p:cNvPr id="104872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1048727" name="Content Placeholder 4"/>
          <p:cNvSpPr>
            <a:spLocks noGrp="1" noRot="1" noChangeAspect="1" noMove="1" noResize="1" noEditPoints="1" noAdjustHandles="1" noChangeArrowheads="1" noChangeShapeType="1" noTextEdit="1"/>
          </p:cNvSpPr>
          <p:nvPr>
            <p:ph sz="quarter" idx="13"/>
          </p:nvPr>
        </p:nvSpPr>
        <p:spPr>
          <a:blipFill>
            <a:blip r:embed="rId2"/>
            <a:stretch>
              <a:fillRect l="-1012" t="-1828"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Interleaved 1F1B (Megatron-LM)</a:t>
            </a:r>
          </a:p>
        </p:txBody>
      </p:sp>
      <p:sp>
        <p:nvSpPr>
          <p:cNvPr id="104872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1048731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Megatron-core recommends </a:t>
            </a:r>
            <a:r>
              <a:rPr lang="en-US" b="1" dirty="0"/>
              <a:t>Interleaved 1F1B</a:t>
            </a:r>
            <a:r>
              <a:rPr lang="en-US" dirty="0"/>
              <a:t> by default</a:t>
            </a:r>
          </a:p>
          <a:p>
            <a:pPr lvl="1"/>
            <a:r>
              <a:rPr lang="en-US" dirty="0"/>
              <a:t>#layers in virtual pipeline state typically set to 2-4.</a:t>
            </a:r>
          </a:p>
        </p:txBody>
      </p:sp>
      <p:pic>
        <p:nvPicPr>
          <p:cNvPr id="2097165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726" y="2268204"/>
            <a:ext cx="5697361" cy="445327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PP: </a:t>
            </a:r>
            <a:r>
              <a:rPr lang="en-US" altLang="en-US" dirty="0"/>
              <a:t>Zero-bubble Pipeline (ICLR’24)</a:t>
            </a:r>
            <a:endParaRPr lang="en-US" dirty="0"/>
          </a:p>
        </p:txBody>
      </p:sp>
      <p:sp>
        <p:nvSpPr>
          <p:cNvPr id="104873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1048735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Key insight:</a:t>
            </a:r>
          </a:p>
          <a:p>
            <a:pPr lvl="1"/>
            <a:r>
              <a:rPr lang="en-US" dirty="0"/>
              <a:t>Separate blocking and non-blocking computation to enable more flexible pipeline schedule.</a:t>
            </a:r>
          </a:p>
          <a:p>
            <a:endParaRPr lang="en-US" dirty="0"/>
          </a:p>
        </p:txBody>
      </p:sp>
      <p:pic>
        <p:nvPicPr>
          <p:cNvPr id="209716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233" y="2381250"/>
            <a:ext cx="8712622" cy="379571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PP: </a:t>
            </a:r>
            <a:r>
              <a:rPr lang="en-US" altLang="en-US" dirty="0"/>
              <a:t>Zero-bubble Pipeline (ICLR’24)</a:t>
            </a:r>
            <a:endParaRPr lang="en-US" dirty="0"/>
          </a:p>
        </p:txBody>
      </p:sp>
      <p:sp>
        <p:nvSpPr>
          <p:cNvPr id="1048737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4873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1048739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Small scale: Integer Linear Programming, for both memory and end-to-end </a:t>
            </a:r>
            <a:r>
              <a:rPr lang="en-US" dirty="0" err="1"/>
              <a:t>makespan</a:t>
            </a:r>
            <a:r>
              <a:rPr lang="en-US" dirty="0"/>
              <a:t> optimization</a:t>
            </a:r>
          </a:p>
          <a:p>
            <a:r>
              <a:rPr lang="en-US" dirty="0"/>
              <a:t>Large scale: heuristics</a:t>
            </a:r>
          </a:p>
          <a:p>
            <a:r>
              <a:rPr lang="en-US" dirty="0"/>
              <a:t>Less #PP communications than interleaved 1F1B, but similar/less bubbles.</a:t>
            </a:r>
          </a:p>
          <a:p>
            <a:endParaRPr lang="en-US" dirty="0"/>
          </a:p>
        </p:txBody>
      </p:sp>
      <p:pic>
        <p:nvPicPr>
          <p:cNvPr id="209716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04" y="3429000"/>
            <a:ext cx="10571480" cy="32878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PP: DeepSeek-V3 DualPipe (2025)</a:t>
            </a:r>
          </a:p>
        </p:txBody>
      </p:sp>
      <p:sp>
        <p:nvSpPr>
          <p:cNvPr id="1048741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DeepSeek V3: https://</a:t>
            </a:r>
            <a:r>
              <a:rPr lang="en-US" dirty="0" err="1"/>
              <a:t>arxiv.org</a:t>
            </a:r>
            <a:r>
              <a:rPr lang="en-US" dirty="0"/>
              <a:t>/pdf/2412.19437v1, 2025</a:t>
            </a:r>
          </a:p>
        </p:txBody>
      </p:sp>
      <p:sp>
        <p:nvSpPr>
          <p:cNvPr id="10487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1048743" name="Content Placeholder 4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Sharding strategy</a:t>
            </a:r>
          </a:p>
        </p:txBody>
      </p:sp>
      <p:pic>
        <p:nvPicPr>
          <p:cNvPr id="2097168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8845" y="1407653"/>
            <a:ext cx="5025784" cy="2389191"/>
          </a:xfrm>
          <a:prstGeom prst="rect">
            <a:avLst/>
          </a:prstGeom>
        </p:spPr>
      </p:pic>
      <p:pic>
        <p:nvPicPr>
          <p:cNvPr id="209716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58" y="3880521"/>
            <a:ext cx="11816084" cy="228138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PP</a:t>
            </a:r>
          </a:p>
        </p:txBody>
      </p:sp>
      <p:sp>
        <p:nvSpPr>
          <p:cNvPr id="104874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https://</a:t>
            </a:r>
            <a:r>
              <a:rPr lang="en-US" altLang="zh-CN" dirty="0" err="1"/>
              <a:t>selamjie.medium.com</a:t>
            </a:r>
            <a:r>
              <a:rPr lang="en-US" altLang="zh-CN" dirty="0"/>
              <a:t>/the-frontier-of-pipeline-parallelism-an-overview-d4264cc9f877</a:t>
            </a:r>
            <a:endParaRPr lang="zh-CN" altLang="en-US" dirty="0"/>
          </a:p>
        </p:txBody>
      </p:sp>
      <p:sp>
        <p:nvSpPr>
          <p:cNvPr id="104874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23</a:t>
            </a:fld>
            <a:endParaRPr lang="zh-CN" altLang="en-US" dirty="0"/>
          </a:p>
        </p:txBody>
      </p:sp>
      <p:pic>
        <p:nvPicPr>
          <p:cNvPr id="2097170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395" y="1132840"/>
            <a:ext cx="6536055" cy="504317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宽屏</PresentationFormat>
  <Paragraphs>116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7" baseType="lpstr">
      <vt:lpstr>等线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30: Model Parallelism II (Pipeline Parallelism)</vt:lpstr>
      <vt:lpstr>PowerPoint 演示文稿</vt:lpstr>
      <vt:lpstr>Introduction to Inter-Node Scaling</vt:lpstr>
      <vt:lpstr>Pipeline Parallelism (PP)</vt:lpstr>
      <vt:lpstr>Pipeline Parallelism</vt:lpstr>
      <vt:lpstr>Pipeline Parallel: Forward-then-Backward</vt:lpstr>
      <vt:lpstr>Pipeline Parallel: Forward-then-Backward</vt:lpstr>
      <vt:lpstr>Pipeline Parallel: Forward-then-Backward</vt:lpstr>
      <vt:lpstr>Why pipeline parallel?</vt:lpstr>
      <vt:lpstr>Pipeline Schedule Optimization</vt:lpstr>
      <vt:lpstr>Pipeline Schedule Optimization</vt:lpstr>
      <vt:lpstr>Pipeline Schedule Optimization</vt:lpstr>
      <vt:lpstr>Pipeline Schedule Optimization</vt:lpstr>
      <vt:lpstr>Limitations of 1F1B and Larger Batch Sizes</vt:lpstr>
      <vt:lpstr>Interleaved 1F1B (Megatron-LM)</vt:lpstr>
      <vt:lpstr>Interleaved 1F1B (Megatron-LM)</vt:lpstr>
      <vt:lpstr>Interleaved 1F1B (Megatron-LM)</vt:lpstr>
      <vt:lpstr>Interleaved 1F1B (Megatron-LM)</vt:lpstr>
      <vt:lpstr>Advanced PP: Zero-bubble Pipeline (ICLR’24)</vt:lpstr>
      <vt:lpstr>Advanced PP: Zero-bubble Pipeline (ICLR’24)</vt:lpstr>
      <vt:lpstr>Advanced PP: DeepSeek-V3 DualPipe (2025)</vt:lpstr>
      <vt:lpstr>Advanced PP</vt:lpstr>
      <vt:lpstr>The Solution: FlagOS, a Unified AI Software Stack</vt:lpstr>
      <vt:lpstr>PowerPoint 演示文稿</vt:lpstr>
      <vt:lpstr>Thanks for your time！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30：模型并行 II (Pipeline Parallelism)</dc:title>
  <dc:creator>王丰</dc:creator>
  <cp:lastModifiedBy>Xiang Li</cp:lastModifiedBy>
  <cp:revision>6</cp:revision>
  <dcterms:created xsi:type="dcterms:W3CDTF">2026-03-12T02:58:00Z</dcterms:created>
  <dcterms:modified xsi:type="dcterms:W3CDTF">2026-03-17T14:54:40Z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7ed72125969b48ba845dfd9f514b8f01_23</vt:lpwstr>
  </property>
  <property fmtid="{D5CDD505-2E9C-101B-9397-08002B2CF9AE}" pid="3" name="KSOProductBuildVer">
    <vt:lpwstr>2052-12.1.0.19302</vt:lpwstr>
  </property>
</Properties>
</file>