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3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1913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5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8766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7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7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3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5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6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75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9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0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1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1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2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30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3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42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4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221959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09608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5.xml"/><Relationship Id="rId21" Type="http://schemas.openxmlformats.org/officeDocument/2006/relationships/image" Target="../media/image31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30.png"/><Relationship Id="rId29" Type="http://schemas.openxmlformats.org/officeDocument/2006/relationships/image" Target="../media/image35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33.png"/><Relationship Id="rId28" Type="http://schemas.openxmlformats.org/officeDocument/2006/relationships/image" Target="../media/image34.jpeg"/><Relationship Id="rId10" Type="http://schemas.openxmlformats.org/officeDocument/2006/relationships/tags" Target="../tags/tag12.xml"/><Relationship Id="rId19" Type="http://schemas.openxmlformats.org/officeDocument/2006/relationships/image" Target="../media/image29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32.png"/><Relationship Id="rId27" Type="http://schemas.openxmlformats.org/officeDocument/2006/relationships/hyperlink" Target="https://flagos.io/Hom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29: Model Parallelism I (Tensor Parallelism)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Limitation of DP</a:t>
            </a:r>
          </a:p>
          <a:p>
            <a:r>
              <a:rPr lang="en-US" altLang="zh-CN" dirty="0"/>
              <a:t>Tensor Parallel</a:t>
            </a:r>
          </a:p>
          <a:p>
            <a:r>
              <a:rPr lang="en-US" altLang="zh-CN" dirty="0"/>
              <a:t>Sequence Parallel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Issues remain with data parallel – compute scaling</a:t>
            </a:r>
          </a:p>
        </p:txBody>
      </p:sp>
      <p:sp>
        <p:nvSpPr>
          <p:cNvPr id="104866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66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With data parallel, #machines &lt; batch size (and near this, comm overhead is high)</a:t>
            </a:r>
          </a:p>
          <a:p>
            <a:r>
              <a:rPr lang="en-US" altLang="zh-CN"/>
              <a:t>And there’s diminishing returns to batch sizes</a:t>
            </a:r>
          </a:p>
          <a:p>
            <a:endParaRPr lang="en-US" altLang="zh-CN"/>
          </a:p>
        </p:txBody>
      </p:sp>
      <p:pic>
        <p:nvPicPr>
          <p:cNvPr id="209715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5" y="2774315"/>
            <a:ext cx="6489700" cy="384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Issues remain with data parallel – models don’t fit</a:t>
            </a:r>
          </a:p>
        </p:txBody>
      </p:sp>
      <p:sp>
        <p:nvSpPr>
          <p:cNvPr id="104866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668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ZeRO-1 and </a:t>
            </a:r>
            <a:r>
              <a:rPr lang="en-US" altLang="zh-CN">
                <a:sym typeface="+mn-ea"/>
              </a:rPr>
              <a:t>ZeRO-2</a:t>
            </a:r>
            <a:r>
              <a:rPr lang="en-US" altLang="zh-CN"/>
              <a:t> don’t let you scale memory</a:t>
            </a:r>
          </a:p>
          <a:p>
            <a:r>
              <a:rPr lang="en-US" altLang="zh-CN"/>
              <a:t>ZeRO-3 is nice in principle, but can be slow and does not reduce </a:t>
            </a:r>
            <a:r>
              <a:rPr lang="en-US" altLang="zh-CN">
                <a:solidFill>
                  <a:srgbClr val="8B0012"/>
                </a:solidFill>
              </a:rPr>
              <a:t>activation memory</a:t>
            </a:r>
            <a:endParaRPr lang="en-US" altLang="zh-CN">
              <a:solidFill>
                <a:srgbClr val="8B0012"/>
              </a:solidFill>
              <a:ea typeface="+mn-ea"/>
              <a:cs typeface="Calibri" panose="020F0502020204030204" charset="0"/>
            </a:endParaRPr>
          </a:p>
        </p:txBody>
      </p:sp>
      <p:sp>
        <p:nvSpPr>
          <p:cNvPr id="1048671" name="文本框 6"/>
          <p:cNvSpPr txBox="1"/>
          <p:nvPr/>
        </p:nvSpPr>
        <p:spPr>
          <a:xfrm>
            <a:off x="6883400" y="3276600"/>
            <a:ext cx="4902200" cy="12211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>
                <a:solidFill>
                  <a:srgbClr val="8B0012"/>
                </a:solidFill>
                <a:latin typeface="Calibri" panose="020F0502020204030204" charset="0"/>
                <a:cs typeface="Calibri" panose="020F0502020204030204" charset="0"/>
              </a:rPr>
              <a:t>Activations ∝ </a:t>
            </a:r>
          </a:p>
          <a:p>
            <a:r>
              <a:rPr lang="en-US" altLang="zh-CN" sz="2400" u="sng">
                <a:solidFill>
                  <a:srgbClr val="8B0012"/>
                </a:solidFill>
                <a:latin typeface="Calibri" panose="020F0502020204030204" charset="0"/>
                <a:cs typeface="Calibri" panose="020F0502020204030204" charset="0"/>
              </a:rPr>
              <a:t>seq_len</a:t>
            </a:r>
            <a:r>
              <a:rPr lang="en-US" altLang="zh-CN" sz="2400">
                <a:solidFill>
                  <a:srgbClr val="8B0012"/>
                </a:solidFill>
                <a:latin typeface="Calibri" panose="020F0502020204030204" charset="0"/>
                <a:cs typeface="Calibri" panose="020F0502020204030204" charset="0"/>
              </a:rPr>
              <a:t> × hidden_size × </a:t>
            </a:r>
          </a:p>
          <a:p>
            <a:r>
              <a:rPr lang="en-US" altLang="zh-CN" sz="2400">
                <a:solidFill>
                  <a:srgbClr val="8B0012"/>
                </a:solidFill>
                <a:latin typeface="Calibri" panose="020F0502020204030204" charset="0"/>
                <a:cs typeface="Calibri" panose="020F0502020204030204" charset="0"/>
              </a:rPr>
              <a:t>num_layers × </a:t>
            </a:r>
            <a:r>
              <a:rPr lang="en-US" altLang="zh-CN" sz="2400" u="sng">
                <a:solidFill>
                  <a:srgbClr val="8B0012"/>
                </a:solidFill>
                <a:latin typeface="Calibri" panose="020F0502020204030204" charset="0"/>
                <a:cs typeface="Calibri" panose="020F0502020204030204" charset="0"/>
              </a:rPr>
              <a:t>global_batch_size</a:t>
            </a:r>
          </a:p>
        </p:txBody>
      </p:sp>
      <p:pic>
        <p:nvPicPr>
          <p:cNvPr id="209715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" y="2741930"/>
            <a:ext cx="6633845" cy="3462020"/>
          </a:xfrm>
          <a:prstGeom prst="rect">
            <a:avLst/>
          </a:prstGeom>
        </p:spPr>
      </p:pic>
      <p:sp>
        <p:nvSpPr>
          <p:cNvPr id="1048672" name="文本框 8"/>
          <p:cNvSpPr txBox="1"/>
          <p:nvPr/>
        </p:nvSpPr>
        <p:spPr>
          <a:xfrm>
            <a:off x="6883400" y="471265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Out-of-memory (OOM) explosion !</a:t>
            </a:r>
          </a:p>
        </p:txBody>
      </p:sp>
      <p:sp>
        <p:nvSpPr>
          <p:cNvPr id="1048673" name="文本框 9"/>
          <p:cNvSpPr txBox="1"/>
          <p:nvPr/>
        </p:nvSpPr>
        <p:spPr>
          <a:xfrm>
            <a:off x="848360" y="6234430"/>
            <a:ext cx="7417435" cy="3651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</a:rPr>
              <a:t>Better ways to split up the model is needed…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Model parallel along the different axes</a:t>
            </a:r>
          </a:p>
        </p:txBody>
      </p:sp>
      <p:sp>
        <p:nvSpPr>
          <p:cNvPr id="104867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54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1229360"/>
            <a:ext cx="3517265" cy="4640580"/>
          </a:xfrm>
          <a:prstGeom prst="rect">
            <a:avLst/>
          </a:prstGeom>
        </p:spPr>
      </p:pic>
      <p:pic>
        <p:nvPicPr>
          <p:cNvPr id="2097155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905" y="1245870"/>
            <a:ext cx="3800475" cy="4640580"/>
          </a:xfrm>
          <a:prstGeom prst="rect">
            <a:avLst/>
          </a:prstGeom>
        </p:spPr>
      </p:pic>
      <p:pic>
        <p:nvPicPr>
          <p:cNvPr id="2097156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175" y="1123315"/>
            <a:ext cx="3420745" cy="4640580"/>
          </a:xfrm>
          <a:prstGeom prst="rect">
            <a:avLst/>
          </a:prstGeom>
        </p:spPr>
      </p:pic>
      <p:sp>
        <p:nvSpPr>
          <p:cNvPr id="1048680" name="文本框 12"/>
          <p:cNvSpPr txBox="1"/>
          <p:nvPr/>
        </p:nvSpPr>
        <p:spPr>
          <a:xfrm>
            <a:off x="1354455" y="5903595"/>
            <a:ext cx="2170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Data Parallel</a:t>
            </a:r>
          </a:p>
        </p:txBody>
      </p:sp>
      <p:sp>
        <p:nvSpPr>
          <p:cNvPr id="1048681" name="文本框 13"/>
          <p:cNvSpPr txBox="1"/>
          <p:nvPr/>
        </p:nvSpPr>
        <p:spPr>
          <a:xfrm>
            <a:off x="4916170" y="5903595"/>
            <a:ext cx="2658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Pipeline Parallel</a:t>
            </a:r>
          </a:p>
        </p:txBody>
      </p:sp>
      <p:sp>
        <p:nvSpPr>
          <p:cNvPr id="1048682" name="文本框 14"/>
          <p:cNvSpPr txBox="1"/>
          <p:nvPr/>
        </p:nvSpPr>
        <p:spPr>
          <a:xfrm>
            <a:off x="8543290" y="5903595"/>
            <a:ext cx="2658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Tensor Parallel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Tensor parallel – Basic Concept</a:t>
            </a:r>
          </a:p>
        </p:txBody>
      </p:sp>
      <p:sp>
        <p:nvSpPr>
          <p:cNvPr id="104868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86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The vast majority of LLM parameters reside in </a:t>
            </a:r>
            <a:r>
              <a:rPr lang="en-US" altLang="zh-CN">
                <a:solidFill>
                  <a:srgbClr val="C00000"/>
                </a:solidFill>
              </a:rPr>
              <a:t>Linear Projections</a:t>
            </a:r>
            <a:r>
              <a:rPr lang="en-US" altLang="zh-CN"/>
              <a:t>:</a:t>
            </a:r>
          </a:p>
          <a:p>
            <a:pPr lvl="1"/>
            <a:r>
              <a:rPr lang="en-US" altLang="zh-CN"/>
              <a:t>Attention: Q, K, V, and Output projections.</a:t>
            </a:r>
          </a:p>
          <a:p>
            <a:pPr lvl="1"/>
            <a:r>
              <a:rPr lang="en-US" altLang="zh-CN"/>
              <a:t>MLP: Up and Down projections.</a:t>
            </a:r>
          </a:p>
          <a:p>
            <a:pPr lvl="0"/>
            <a:r>
              <a:rPr lang="en-US" altLang="zh-CN"/>
              <a:t>These projections are </a:t>
            </a:r>
            <a:r>
              <a:rPr lang="en-US" altLang="zh-CN" b="1"/>
              <a:t>General Matrix Multiplications (GEMM) (Y=XW)</a:t>
            </a:r>
          </a:p>
        </p:txBody>
      </p:sp>
      <p:pic>
        <p:nvPicPr>
          <p:cNvPr id="209715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260" y="3147695"/>
            <a:ext cx="8219440" cy="32086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Tensor parallel – Basic Concept</a:t>
            </a:r>
          </a:p>
        </p:txBody>
      </p:sp>
      <p:sp>
        <p:nvSpPr>
          <p:cNvPr id="104869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9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b="1"/>
              <a:t>Two ways to partitioning the GEMM to different GPUs</a:t>
            </a:r>
            <a:r>
              <a:rPr lang="zh-CN" altLang="en-US" b="1"/>
              <a:t>：</a:t>
            </a:r>
          </a:p>
        </p:txBody>
      </p:sp>
      <p:pic>
        <p:nvPicPr>
          <p:cNvPr id="209715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85" y="1905635"/>
            <a:ext cx="10332085" cy="41376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Tensor parallel – Deconstructing the MLP Block</a:t>
            </a:r>
          </a:p>
        </p:txBody>
      </p:sp>
      <p:sp>
        <p:nvSpPr>
          <p:cNvPr id="104869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9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An MLP block consists of a linear expansion, a non-linear activation (GeLU), a linear projection back to hidden dimension and a dropout.</a:t>
            </a:r>
          </a:p>
          <a:p>
            <a:pPr>
              <a:lnSpc>
                <a:spcPct val="150000"/>
              </a:lnSpc>
            </a:pPr>
            <a:r>
              <a:rPr lang="en-US" altLang="zh-CN"/>
              <a:t>Mathematically,</a:t>
            </a:r>
          </a:p>
          <a:p>
            <a:pPr>
              <a:lnSpc>
                <a:spcPct val="150000"/>
              </a:lnSpc>
            </a:pPr>
            <a:endParaRPr lang="en-US" altLang="zh-CN"/>
          </a:p>
        </p:txBody>
      </p:sp>
      <p:pic>
        <p:nvPicPr>
          <p:cNvPr id="2097159" name="图片 11"/>
          <p:cNvPicPr>
            <a:picLocks noChangeAspect="1"/>
          </p:cNvPicPr>
          <p:nvPr/>
        </p:nvPicPr>
        <p:blipFill>
          <a:blip r:embed="rId3"/>
          <a:srcRect l="4161"/>
          <a:stretch>
            <a:fillRect/>
          </a:stretch>
        </p:blipFill>
        <p:spPr>
          <a:xfrm>
            <a:off x="4580890" y="3267710"/>
            <a:ext cx="2390140" cy="565785"/>
          </a:xfrm>
          <a:prstGeom prst="rect">
            <a:avLst/>
          </a:prstGeom>
        </p:spPr>
      </p:pic>
      <p:pic>
        <p:nvPicPr>
          <p:cNvPr id="2097160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65" y="3913505"/>
            <a:ext cx="2847340" cy="530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Tensor parallel – Deconstructing the MLP Block</a:t>
            </a:r>
          </a:p>
        </p:txBody>
      </p:sp>
      <p:sp>
        <p:nvSpPr>
          <p:cNvPr id="104870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70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Row-wise split of A: requires synchronization</a:t>
            </a:r>
          </a:p>
          <a:p>
            <a:r>
              <a:rPr lang="en-US" altLang="zh-CN"/>
              <a:t>Column-wise split of matrix A: the output can be fed into GeLU independently</a:t>
            </a:r>
          </a:p>
        </p:txBody>
      </p:sp>
      <p:pic>
        <p:nvPicPr>
          <p:cNvPr id="2097161" name="图片 11"/>
          <p:cNvPicPr>
            <a:picLocks noChangeAspect="1"/>
          </p:cNvPicPr>
          <p:nvPr/>
        </p:nvPicPr>
        <p:blipFill>
          <a:blip r:embed="rId3"/>
          <a:srcRect l="4161"/>
          <a:stretch>
            <a:fillRect/>
          </a:stretch>
        </p:blipFill>
        <p:spPr>
          <a:xfrm>
            <a:off x="1524000" y="3461385"/>
            <a:ext cx="2390140" cy="565785"/>
          </a:xfrm>
          <a:prstGeom prst="rect">
            <a:avLst/>
          </a:prstGeom>
        </p:spPr>
      </p:pic>
      <p:pic>
        <p:nvPicPr>
          <p:cNvPr id="2097162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270" y="2570480"/>
            <a:ext cx="5074920" cy="3883025"/>
          </a:xfrm>
          <a:prstGeom prst="rect">
            <a:avLst/>
          </a:prstGeom>
        </p:spPr>
      </p:pic>
      <p:pic>
        <p:nvPicPr>
          <p:cNvPr id="2097163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145" y="5575935"/>
            <a:ext cx="3131820" cy="4972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Tensor parallel – Deconstructing the MLP Block</a:t>
            </a:r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706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Column-wise split of matrix A -&gt; </a:t>
            </a:r>
            <a:r>
              <a:rPr lang="en-US" altLang="zh-CN">
                <a:sym typeface="+mn-ea"/>
              </a:rPr>
              <a:t>Column-wise split of Y</a:t>
            </a:r>
          </a:p>
          <a:p>
            <a:r>
              <a:rPr lang="en-US" altLang="zh-CN">
                <a:sym typeface="+mn-ea"/>
              </a:rPr>
              <a:t>Column-wise split of Y + Row-wise split of B: block-wise matrix multiplication requires no synchronization </a:t>
            </a:r>
          </a:p>
        </p:txBody>
      </p:sp>
      <p:pic>
        <p:nvPicPr>
          <p:cNvPr id="209716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" y="3448050"/>
            <a:ext cx="3811270" cy="605155"/>
          </a:xfrm>
          <a:prstGeom prst="rect">
            <a:avLst/>
          </a:prstGeom>
        </p:spPr>
      </p:pic>
      <p:pic>
        <p:nvPicPr>
          <p:cNvPr id="2097165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" y="4235450"/>
            <a:ext cx="2658745" cy="495935"/>
          </a:xfrm>
          <a:prstGeom prst="rect">
            <a:avLst/>
          </a:prstGeom>
        </p:spPr>
      </p:pic>
      <p:pic>
        <p:nvPicPr>
          <p:cNvPr id="2097166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720" y="3227070"/>
            <a:ext cx="6229350" cy="2114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Tensor parallel – </a:t>
            </a:r>
            <a:r>
              <a:rPr lang="en-US" altLang="zh-CN">
                <a:sym typeface="+mn-ea"/>
              </a:rPr>
              <a:t>Deconstructing the MLP Block</a:t>
            </a:r>
            <a:endParaRPr lang="en-US" altLang="zh-CN"/>
          </a:p>
        </p:txBody>
      </p:sp>
      <p:sp>
        <p:nvSpPr>
          <p:cNvPr id="10487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71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Assign columns (A1, A2) and rows (B1, B2) to separate GPUs. </a:t>
            </a:r>
          </a:p>
          <a:p>
            <a:pPr lvl="1"/>
            <a:r>
              <a:rPr lang="en-US" altLang="zh-CN"/>
              <a:t>In the forward pass, f is the identity, and g is an all-reduce. </a:t>
            </a:r>
          </a:p>
          <a:p>
            <a:pPr lvl="1"/>
            <a:r>
              <a:rPr lang="en-US" altLang="zh-CN"/>
              <a:t>In the backward pass, f is an all-reduce, g is the identity.</a:t>
            </a:r>
          </a:p>
        </p:txBody>
      </p:sp>
      <p:pic>
        <p:nvPicPr>
          <p:cNvPr id="209716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955" y="2575560"/>
            <a:ext cx="8220075" cy="3776345"/>
          </a:xfrm>
          <a:prstGeom prst="rect">
            <a:avLst/>
          </a:prstGeom>
        </p:spPr>
      </p:pic>
      <p:pic>
        <p:nvPicPr>
          <p:cNvPr id="209716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0" y="6285230"/>
            <a:ext cx="3131820" cy="497205"/>
          </a:xfrm>
          <a:prstGeom prst="rect">
            <a:avLst/>
          </a:prstGeom>
        </p:spPr>
      </p:pic>
      <p:pic>
        <p:nvPicPr>
          <p:cNvPr id="209716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5" y="6177280"/>
            <a:ext cx="2847975" cy="699135"/>
          </a:xfrm>
          <a:prstGeom prst="rect">
            <a:avLst/>
          </a:prstGeom>
        </p:spPr>
      </p:pic>
      <p:sp>
        <p:nvSpPr>
          <p:cNvPr id="1048715" name="文本框 12"/>
          <p:cNvSpPr txBox="1"/>
          <p:nvPr/>
        </p:nvSpPr>
        <p:spPr>
          <a:xfrm>
            <a:off x="322580" y="2704465"/>
            <a:ext cx="35579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MLP w.o. TP   ===&gt; </a:t>
            </a:r>
          </a:p>
        </p:txBody>
      </p:sp>
      <p:sp>
        <p:nvSpPr>
          <p:cNvPr id="1048716" name="文本框 9"/>
          <p:cNvSpPr txBox="1"/>
          <p:nvPr/>
        </p:nvSpPr>
        <p:spPr>
          <a:xfrm>
            <a:off x="393065" y="6297930"/>
            <a:ext cx="29591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2400" b="1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MLP w. TP  ===&gt; 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Tensor parallel – Tensor Parallelism for MLP</a:t>
            </a:r>
          </a:p>
        </p:txBody>
      </p:sp>
      <p:sp>
        <p:nvSpPr>
          <p:cNvPr id="104872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720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Interleaving split to minimize communication:</a:t>
            </a:r>
          </a:p>
        </p:txBody>
      </p:sp>
      <p:pic>
        <p:nvPicPr>
          <p:cNvPr id="209717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85" y="1953895"/>
            <a:ext cx="9464675" cy="4589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Tensor parallel – Tensor Parallelism for Attention</a:t>
            </a:r>
          </a:p>
        </p:txBody>
      </p:sp>
      <p:sp>
        <p:nvSpPr>
          <p:cNvPr id="104872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26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Interleaving split to minimize communication:</a:t>
            </a:r>
          </a:p>
        </p:txBody>
      </p:sp>
      <p:pic>
        <p:nvPicPr>
          <p:cNvPr id="209717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2413000"/>
            <a:ext cx="7252970" cy="3484880"/>
          </a:xfrm>
          <a:prstGeom prst="rect">
            <a:avLst/>
          </a:prstGeom>
        </p:spPr>
      </p:pic>
      <p:pic>
        <p:nvPicPr>
          <p:cNvPr id="2097172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710" y="3024505"/>
            <a:ext cx="4479290" cy="23634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to use TP?</a:t>
            </a:r>
          </a:p>
        </p:txBody>
      </p:sp>
      <p:sp>
        <p:nvSpPr>
          <p:cNvPr id="104873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3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On GPUs, tensor parallel within a node (up to 8 GPUs) due to high speed interconnects.</a:t>
            </a:r>
          </a:p>
        </p:txBody>
      </p:sp>
      <p:pic>
        <p:nvPicPr>
          <p:cNvPr id="2097173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890" y="2085975"/>
            <a:ext cx="6583680" cy="40430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Limitation of TP</a:t>
            </a:r>
          </a:p>
        </p:txBody>
      </p:sp>
      <p:sp>
        <p:nvSpPr>
          <p:cNvPr id="104873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4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738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TP only splits GEMM</a:t>
            </a:r>
          </a:p>
          <a:p>
            <a:r>
              <a:rPr lang="en-US" altLang="zh-CN"/>
              <a:t>LayerNorm and DropOut are still replicated</a:t>
            </a:r>
          </a:p>
          <a:p>
            <a:pPr lvl="1"/>
            <a:r>
              <a:rPr lang="en-US" altLang="zh-CN">
                <a:solidFill>
                  <a:srgbClr val="C00000"/>
                </a:solidFill>
              </a:rPr>
              <a:t>Full activation memory overhead</a:t>
            </a:r>
            <a:r>
              <a:rPr lang="en-US" altLang="zh-CN"/>
              <a:t> [batch_size*seq_len, hidden_dim] on each TP partition</a:t>
            </a:r>
          </a:p>
        </p:txBody>
      </p:sp>
      <p:pic>
        <p:nvPicPr>
          <p:cNvPr id="2097174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75" y="2914015"/>
            <a:ext cx="8222615" cy="3704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Tensor parallel – Sequence Parallel [MLSys’23]</a:t>
            </a:r>
          </a:p>
        </p:txBody>
      </p:sp>
      <p:sp>
        <p:nvSpPr>
          <p:cNvPr id="104874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44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3"/>
          </p:nvPr>
        </p:nvSpPr>
        <p:spPr>
          <a:blipFill rotWithShape="1">
            <a:blip r:embed="rId3"/>
            <a:stretch>
              <a:fillRect l="-6" b="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pic>
        <p:nvPicPr>
          <p:cNvPr id="2097175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145" y="3510915"/>
            <a:ext cx="10405110" cy="30930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宽屏</PresentationFormat>
  <Paragraphs>74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29: Model Parallelism I (Tensor Parallelism)</vt:lpstr>
      <vt:lpstr>PowerPoint 演示文稿</vt:lpstr>
      <vt:lpstr>Issues remain with data parallel – compute scaling</vt:lpstr>
      <vt:lpstr>Issues remain with data parallel – models don’t fit</vt:lpstr>
      <vt:lpstr>Model parallel along the different axes</vt:lpstr>
      <vt:lpstr>Tensor parallel – Basic Concept</vt:lpstr>
      <vt:lpstr>Tensor parallel – Basic Concept</vt:lpstr>
      <vt:lpstr>Tensor parallel – Deconstructing the MLP Block</vt:lpstr>
      <vt:lpstr>Tensor parallel – Deconstructing the MLP Block</vt:lpstr>
      <vt:lpstr>Tensor parallel – Deconstructing the MLP Block</vt:lpstr>
      <vt:lpstr>Tensor parallel – Deconstructing the MLP Block</vt:lpstr>
      <vt:lpstr>Tensor parallel – Tensor Parallelism for MLP</vt:lpstr>
      <vt:lpstr>Tensor parallel – Tensor Parallelism for Attention</vt:lpstr>
      <vt:lpstr>When to use TP?</vt:lpstr>
      <vt:lpstr>Limitation of TP</vt:lpstr>
      <vt:lpstr>Tensor parallel – Sequence Parallel [MLSys’23]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29：模型并行 I (Tensor Parallelism)</dc:title>
  <dc:creator>王丰</dc:creator>
  <cp:lastModifiedBy>Xiang Li</cp:lastModifiedBy>
  <cp:revision>7</cp:revision>
  <dcterms:created xsi:type="dcterms:W3CDTF">2026-03-12T02:58:00Z</dcterms:created>
  <dcterms:modified xsi:type="dcterms:W3CDTF">2026-03-17T14:54:38Z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7096b194d00d4cf9831bcc295f61c37a_23</vt:lpwstr>
  </property>
  <property fmtid="{D5CDD505-2E9C-101B-9397-08002B2CF9AE}" pid="3" name="KSOProductBuildVer">
    <vt:lpwstr>2052-12.1.0.19302</vt:lpwstr>
  </property>
</Properties>
</file>