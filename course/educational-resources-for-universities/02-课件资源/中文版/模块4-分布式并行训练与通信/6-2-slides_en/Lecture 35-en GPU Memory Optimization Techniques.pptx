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9.xml" ContentType="application/vnd.openxmlformats-officedocument.presentationml.tags+xml"/>
  <Override PartName="/ppt/notesSlides/notesSlide8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37" r:id="rId2"/>
    <p:sldId id="1928" r:id="rId3"/>
    <p:sldId id="1964" r:id="rId4"/>
    <p:sldId id="1965" r:id="rId5"/>
    <p:sldId id="1960" r:id="rId6"/>
    <p:sldId id="1961" r:id="rId7"/>
    <p:sldId id="1962" r:id="rId8"/>
    <p:sldId id="1963" r:id="rId9"/>
    <p:sldId id="1966" r:id="rId10"/>
    <p:sldId id="1967" r:id="rId11"/>
    <p:sldId id="1968" r:id="rId12"/>
    <p:sldId id="1969" r:id="rId13"/>
    <p:sldId id="1970" r:id="rId14"/>
    <p:sldId id="1972" r:id="rId15"/>
    <p:sldId id="1973" r:id="rId16"/>
    <p:sldId id="1974" r:id="rId17"/>
    <p:sldId id="1971" r:id="rId18"/>
    <p:sldId id="277" r:id="rId19"/>
    <p:sldId id="279" r:id="rId20"/>
    <p:sldId id="280" r:id="rId21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8B0012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5"/>
    <p:restoredTop sz="91926" autoAdjust="0"/>
  </p:normalViewPr>
  <p:slideViewPr>
    <p:cSldViewPr snapToGrid="0" snapToObjects="1">
      <p:cViewPr varScale="1">
        <p:scale>
          <a:sx n="56" d="100"/>
          <a:sy n="56" d="100"/>
        </p:scale>
        <p:origin x="896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GPU Memory Optimization Techniques:</a:t>
            </a:r>
            <a:r>
              <a:rPr lang="en-US" altLang="zh-CN">
                <a:sym typeface="+mn-ea"/>
              </a:rPr>
              <a:t> Gradient Checkpointing</a:t>
            </a:r>
            <a:r>
              <a:rPr lang="zh-CN" altLang="en-US">
                <a:sym typeface="+mn-ea"/>
              </a:rPr>
              <a:t> (Activation Recomputation),</a:t>
            </a:r>
            <a:r>
              <a:rPr lang="en-US" altLang="zh-CN">
                <a:sym typeface="+mn-ea"/>
              </a:rPr>
              <a:t> Offloading (CPU Offload)</a:t>
            </a:r>
            <a:r>
              <a:rPr lang="zh-CN" altLang="en-US">
                <a:sym typeface="+mn-ea"/>
              </a:rPr>
              <a:t>.</a:t>
            </a:r>
          </a:p>
          <a:p>
            <a:r>
              <a:rPr lang="en-US" altLang="zh-CN">
                <a:sym typeface="+mn-ea"/>
              </a:rPr>
              <a:t>Gradient Checkpointing</a:t>
            </a:r>
          </a:p>
          <a:p>
            <a:pPr lvl="1"/>
            <a:r>
              <a:rPr lang="en-US" altLang="zh-CN">
                <a:sym typeface="+mn-ea"/>
              </a:rPr>
              <a:t>Basic: https://github.com/rasbt/deeplearning-models/blob/master/pytorch_ipynb/mechanics/gradient-checkpointing-nin.ipynb</a:t>
            </a:r>
          </a:p>
          <a:p>
            <a:pPr lvl="1"/>
            <a:r>
              <a:rPr lang="en-US" altLang="zh-CN">
                <a:sym typeface="+mn-ea"/>
              </a:rPr>
              <a:t>https://www.newline.co/@zaoyang/fine-tuning-llms-with-gradient-checkpointing-and-partitioning--42a48e66</a:t>
            </a:r>
            <a:endParaRPr lang="en-US" altLang="zh-CN"/>
          </a:p>
          <a:p>
            <a:pPr lvl="0"/>
            <a:r>
              <a:rPr lang="en-US" altLang="zh-CN">
                <a:sym typeface="+mn-ea"/>
              </a:rPr>
              <a:t>Offloading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ZERO-Offload: https://www.usenix.org/conference/atc21/presentation/ren-jie 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ZeRO-Infinity: https://arxiv.org/abs/2104.07857</a:t>
            </a:r>
            <a:endParaRPr lang="en-US" altLang="zh-CN"/>
          </a:p>
          <a:p>
            <a:pPr lvl="0"/>
            <a:r>
              <a:rPr lang="en-US" altLang="zh-CN">
                <a:sym typeface="+mn-ea"/>
              </a:rPr>
              <a:t>Others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Parameter Compression, Distributed Sharding, and Memory Management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https://github.com/rasbt/deeplearning-models/blob/master/pytorch_ipynb/mechanics/gradient-checkpointing-nin.ipynb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https://github.com/rasbt/deeplearning-models/blob/master/pytorch_ipynb/mechanics/gradient-checkpointing-nin.ipynb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https://residentmario.github.io/pytorch-training-performance-guide/gradient-checkpoints.html</a:t>
            </a:r>
          </a:p>
          <a:p>
            <a:r>
              <a:rPr lang="en-US" altLang="zh-CN"/>
              <a:t>https://www.newline.co/@zaoyang/fine-tuning-llms-with-gradient-checkpointing-and-partitioning--42a48e66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Generated by Kimi 2.5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https://raw.githubusercontent.com/microsoft/DeepSpeed/master/docs/assets/files/SC21-ZeRO-Infinity.pdf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Click here to edit master title style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here to edit master subtitle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463982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546224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13.xml"/><Relationship Id="rId7" Type="http://schemas.openxmlformats.org/officeDocument/2006/relationships/image" Target="../media/image7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21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tags" Target="../tags/tag35.xml"/><Relationship Id="rId18" Type="http://schemas.openxmlformats.org/officeDocument/2006/relationships/image" Target="../media/image24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25.xml"/><Relationship Id="rId21" Type="http://schemas.openxmlformats.org/officeDocument/2006/relationships/image" Target="../media/image27.png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24.xml"/><Relationship Id="rId16" Type="http://schemas.openxmlformats.org/officeDocument/2006/relationships/tags" Target="../tags/tag38.xml"/><Relationship Id="rId20" Type="http://schemas.openxmlformats.org/officeDocument/2006/relationships/image" Target="../media/image26.png"/><Relationship Id="rId29" Type="http://schemas.openxmlformats.org/officeDocument/2006/relationships/image" Target="../media/image31.png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27.xml"/><Relationship Id="rId15" Type="http://schemas.openxmlformats.org/officeDocument/2006/relationships/tags" Target="../tags/tag37.xml"/><Relationship Id="rId23" Type="http://schemas.openxmlformats.org/officeDocument/2006/relationships/image" Target="../media/image29.png"/><Relationship Id="rId28" Type="http://schemas.openxmlformats.org/officeDocument/2006/relationships/image" Target="../media/image30.jpeg"/><Relationship Id="rId10" Type="http://schemas.openxmlformats.org/officeDocument/2006/relationships/tags" Target="../tags/tag32.xml"/><Relationship Id="rId19" Type="http://schemas.openxmlformats.org/officeDocument/2006/relationships/image" Target="../media/image25.png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image" Target="../media/image28.png"/><Relationship Id="rId27" Type="http://schemas.openxmlformats.org/officeDocument/2006/relationships/hyperlink" Target="https://flagos.io/Home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x-none" altLang="en-US"/>
              <a:t>Lecture</a:t>
            </a:r>
            <a:r>
              <a:rPr lang="en-US" altLang="zh-CN"/>
              <a:t> 35: GPU Memory Optimization Techniques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Outlines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zh-CN" altLang="en-US"/>
              <a:t>Background</a:t>
            </a:r>
          </a:p>
          <a:p>
            <a:pPr lvl="1"/>
            <a:r>
              <a:rPr lang="zh-CN" altLang="en-US" sz="1800"/>
              <a:t>Training ultra-large language models incurs enormous GPU </a:t>
            </a:r>
            <a:r>
              <a:rPr lang="en-US" altLang="zh-CN" sz="1800"/>
              <a:t>m</a:t>
            </a:r>
            <a:r>
              <a:rPr lang="zh-CN" altLang="en-US" sz="1800"/>
              <a:t>emory overhead</a:t>
            </a:r>
          </a:p>
          <a:p>
            <a:pPr lvl="1"/>
            <a:endParaRPr lang="zh-CN" altLang="en-US" sz="1800"/>
          </a:p>
          <a:p>
            <a:pPr lvl="0"/>
            <a:r>
              <a:rPr lang="zh-CN" altLang="en-US"/>
              <a:t>GPU Memory Optimization:</a:t>
            </a:r>
            <a:r>
              <a:rPr lang="en-US" altLang="zh-CN" b="1"/>
              <a:t> Gradient Checkpointing</a:t>
            </a:r>
            <a:r>
              <a:rPr lang="zh-CN" altLang="en-US" b="1"/>
              <a:t> (Activation Recomputation)</a:t>
            </a:r>
          </a:p>
          <a:p>
            <a:pPr lvl="1" algn="l"/>
            <a:r>
              <a:rPr lang="zh-CN" altLang="en-US" sz="1800"/>
              <a:t>Discard most intermediate </a:t>
            </a:r>
            <a:r>
              <a:rPr lang="en-US" altLang="zh-CN" sz="1800"/>
              <a:t>a</a:t>
            </a:r>
            <a:r>
              <a:rPr lang="zh-CN" altLang="en-US" sz="1800"/>
              <a:t>ctivations from the </a:t>
            </a:r>
            <a:r>
              <a:rPr lang="en-US" altLang="zh-CN" sz="1800"/>
              <a:t>f</a:t>
            </a:r>
            <a:r>
              <a:rPr lang="zh-CN" altLang="en-US" sz="1800"/>
              <a:t>orward </a:t>
            </a:r>
            <a:r>
              <a:rPr lang="en-US" altLang="zh-CN" sz="1800"/>
              <a:t>p</a:t>
            </a:r>
            <a:r>
              <a:rPr lang="zh-CN" altLang="en-US" sz="1800"/>
              <a:t>ass, and when needed during the </a:t>
            </a:r>
            <a:r>
              <a:rPr lang="en-US" altLang="zh-CN" sz="1800"/>
              <a:t>b</a:t>
            </a:r>
            <a:r>
              <a:rPr lang="zh-CN" altLang="en-US" sz="1800"/>
              <a:t>ackward </a:t>
            </a:r>
            <a:r>
              <a:rPr lang="en-US" altLang="zh-CN" sz="1800"/>
              <a:t>p</a:t>
            </a:r>
            <a:r>
              <a:rPr lang="zh-CN" altLang="en-US" sz="1800"/>
              <a:t>ass, temporarily recompute them from the nearest </a:t>
            </a:r>
            <a:r>
              <a:rPr lang="en-US" altLang="zh-CN" sz="1800"/>
              <a:t>checkpoint</a:t>
            </a:r>
            <a:r>
              <a:rPr lang="zh-CN" altLang="en-US" sz="1800"/>
              <a:t>.</a:t>
            </a:r>
          </a:p>
          <a:p>
            <a:pPr lvl="1" algn="l"/>
            <a:endParaRPr lang="zh-CN" altLang="en-US" sz="1800"/>
          </a:p>
          <a:p>
            <a:pPr lvl="0"/>
            <a:r>
              <a:rPr lang="zh-CN" altLang="en-US">
                <a:sym typeface="+mn-ea"/>
              </a:rPr>
              <a:t>GPU Memory Optimization Method:</a:t>
            </a:r>
            <a:r>
              <a:rPr lang="en-US" altLang="zh-CN" b="1"/>
              <a:t> Offloading</a:t>
            </a:r>
            <a:r>
              <a:rPr lang="zh-CN" altLang="en-US" b="1"/>
              <a:t> (Data Offloading)</a:t>
            </a:r>
            <a:endParaRPr lang="zh-CN" altLang="en-US"/>
          </a:p>
          <a:p>
            <a:pPr lvl="1" algn="l"/>
            <a:r>
              <a:rPr lang="zh-CN" altLang="en-US" sz="1800"/>
              <a:t>Leverage Host Memory as an extension of GPU Memory, taking advantage of its lower access frequency but enormous capacity.</a:t>
            </a:r>
          </a:p>
          <a:p>
            <a:pPr lvl="1" algn="l"/>
            <a:r>
              <a:rPr lang="zh-CN" altLang="en-US" sz="1800" b="1"/>
              <a:t>ZeRO-Offload:</a:t>
            </a:r>
            <a:r>
              <a:rPr lang="zh-CN" altLang="en-US" sz="1800"/>
              <a:t> Offload </a:t>
            </a:r>
            <a:r>
              <a:rPr lang="en-US" altLang="zh-CN" sz="1800"/>
              <a:t>o</a:t>
            </a:r>
            <a:r>
              <a:rPr lang="zh-CN" altLang="en-US" sz="1800"/>
              <a:t>ptimizer </a:t>
            </a:r>
            <a:r>
              <a:rPr lang="en-US" altLang="zh-CN" sz="1800"/>
              <a:t>s</a:t>
            </a:r>
            <a:r>
              <a:rPr lang="zh-CN" altLang="en-US" sz="1800"/>
              <a:t>tates and </a:t>
            </a:r>
            <a:r>
              <a:rPr lang="en-US" altLang="zh-CN" sz="1800"/>
              <a:t>g</a:t>
            </a:r>
            <a:r>
              <a:rPr lang="zh-CN" altLang="en-US" sz="1800"/>
              <a:t>radients to CPU. Utilizing CPU for </a:t>
            </a:r>
            <a:r>
              <a:rPr lang="en-US" altLang="zh-CN" sz="1800"/>
              <a:t>w</a:t>
            </a:r>
            <a:r>
              <a:rPr lang="zh-CN" altLang="en-US" sz="1800"/>
              <a:t>eight </a:t>
            </a:r>
            <a:r>
              <a:rPr lang="en-US" altLang="zh-CN" sz="1800"/>
              <a:t>u</a:t>
            </a:r>
            <a:r>
              <a:rPr lang="zh-CN" altLang="en-US" sz="1800"/>
              <a:t>pdate, as this operation places relatively low demands on compute but accounts for an exceptionally large share of GPU Memory consumption.</a:t>
            </a:r>
          </a:p>
          <a:p>
            <a:pPr lvl="1" algn="l"/>
            <a:r>
              <a:rPr lang="zh-CN" altLang="en-US" sz="1800" b="1"/>
              <a:t>ZeRO-Infinity:</a:t>
            </a:r>
            <a:r>
              <a:rPr lang="zh-CN" altLang="en-US" sz="1800"/>
              <a:t> further supports offloading model parameters to NVMe SSD. Through asynchronous prefetching and bandwidth optimization, it enables training of trillion-scale models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Background:</a:t>
            </a:r>
            <a:r>
              <a:rPr lang="en-US" altLang="zh-CN"/>
              <a:t> LLM</a:t>
            </a:r>
            <a:r>
              <a:t> Training GPU Memory Overhead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http://deepseekpro.org/guide/the-carbon-footprint-of-gpt-4/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7152640" cy="4853305"/>
          </a:xfrm>
        </p:spPr>
        <p:txBody>
          <a:bodyPr>
            <a:normAutofit/>
          </a:bodyPr>
          <a:lstStyle/>
          <a:p>
            <a:r>
              <a:rPr lang="zh-CN" altLang="en-US" sz="1800" b="1">
                <a:cs typeface="Calibri" panose="020F0502020204030204" charset="0"/>
              </a:rPr>
              <a:t>Exponential Growth in Model Scale</a:t>
            </a:r>
          </a:p>
          <a:p>
            <a:pPr lvl="1"/>
            <a:r>
              <a:rPr lang="zh-CN" altLang="en-US" sz="1200"/>
              <a:t>From</a:t>
            </a:r>
            <a:r>
              <a:rPr lang="en-US" altLang="zh-CN" sz="1200"/>
              <a:t> GPT-3</a:t>
            </a:r>
            <a:r>
              <a:rPr lang="zh-CN" altLang="en-US" sz="1200"/>
              <a:t> (</a:t>
            </a:r>
            <a:r>
              <a:rPr lang="en-US" altLang="zh-CN" sz="1200"/>
              <a:t>1750</a:t>
            </a:r>
            <a:r>
              <a:rPr lang="zh-CN" altLang="en-US" sz="1200"/>
              <a:t> billion parameters) to</a:t>
            </a:r>
            <a:r>
              <a:rPr lang="en-US" altLang="zh-CN" sz="1200"/>
              <a:t> GPT-4</a:t>
            </a:r>
            <a:r>
              <a:rPr lang="zh-CN" altLang="en-US" sz="1200"/>
              <a:t> (trillion-scale parameters)</a:t>
            </a:r>
          </a:p>
          <a:p>
            <a:pPr lvl="1"/>
            <a:r>
              <a:rPr lang="en-US" altLang="zh-CN" sz="1200"/>
              <a:t>For a 100B model with 200GB of parameters, full training requires approximately 1.6TB ~ 2TB of GPU Memory</a:t>
            </a:r>
            <a:endParaRPr lang="zh-CN" altLang="en-US" sz="1200"/>
          </a:p>
          <a:p>
            <a:pPr lvl="1"/>
            <a:endParaRPr lang="zh-CN" altLang="en-US" sz="1600"/>
          </a:p>
          <a:p>
            <a:pPr lvl="1"/>
            <a:endParaRPr lang="en-US" altLang="zh-CN" sz="1600"/>
          </a:p>
          <a:p>
            <a:pPr lvl="1"/>
            <a:endParaRPr lang="en-US" altLang="zh-CN" sz="1600"/>
          </a:p>
          <a:p>
            <a:pPr lvl="1"/>
            <a:endParaRPr lang="zh-CN" altLang="en-US" sz="1600"/>
          </a:p>
          <a:p>
            <a:pPr lvl="1"/>
            <a:endParaRPr lang="zh-CN" altLang="en-US" sz="1600"/>
          </a:p>
          <a:p>
            <a:pPr lvl="1"/>
            <a:endParaRPr lang="zh-CN" altLang="en-US" sz="1600"/>
          </a:p>
          <a:p>
            <a:pPr lvl="0" algn="l"/>
            <a:r>
              <a:rPr lang="zh-CN" altLang="en-US" sz="1800" b="1">
                <a:cs typeface="Calibri" panose="020F0502020204030204" charset="0"/>
              </a:rPr>
              <a:t>Real-World Challenges Caused by Insufficient GPU Memory</a:t>
            </a:r>
          </a:p>
          <a:p>
            <a:pPr lvl="1"/>
            <a:r>
              <a:rPr lang="zh-CN" altLang="en-US" sz="1200"/>
              <a:t>Training infeasible: a single GPU cannot load the model, making distributed training mandatory</a:t>
            </a:r>
          </a:p>
          <a:p>
            <a:pPr lvl="1"/>
            <a:r>
              <a:rPr lang="zh-CN" altLang="en-US" sz="1200"/>
              <a:t>Soaring costs: multi-GPU parallelism introduces communication overhead, making linear speedup difficult to achieve</a:t>
            </a:r>
          </a:p>
          <a:p>
            <a:pPr lvl="1"/>
            <a:r>
              <a:rPr lang="zh-CN" altLang="en-US" sz="1200"/>
              <a:t>Sequence length constraints: long-context (</a:t>
            </a:r>
            <a:r>
              <a:rPr lang="en-US" altLang="zh-CN" sz="1200"/>
              <a:t>&gt;8K tokens</a:t>
            </a:r>
            <a:r>
              <a:rPr lang="zh-CN" altLang="en-US" sz="1200"/>
              <a:t>) GPU Memory overhead grows quadratically</a:t>
            </a:r>
          </a:p>
          <a:p>
            <a:pPr lvl="0"/>
            <a:endParaRPr lang="zh-CN" altLang="en-US" sz="2000"/>
          </a:p>
          <a:p>
            <a:pPr lvl="1"/>
            <a:endParaRPr lang="zh-CN" altLang="en-US" sz="2000"/>
          </a:p>
        </p:txBody>
      </p:sp>
      <p:graphicFrame>
        <p:nvGraphicFramePr>
          <p:cNvPr id="6" name="表格 5"/>
          <p:cNvGraphicFramePr/>
          <p:nvPr/>
        </p:nvGraphicFramePr>
        <p:xfrm>
          <a:off x="741680" y="2465070"/>
          <a:ext cx="6752590" cy="1962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4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200" b="0" i="0">
                        <a:solidFill>
                          <a:schemeClr val="bg1"/>
                        </a:solidFill>
                        <a:uFillTx/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chemeClr val="bg1"/>
                          </a:solidFill>
                          <a:uFillTx/>
                          <a:latin typeface="Calibri" panose="020F0502020204030204" charset="0"/>
                          <a:ea typeface="微软雅黑" panose="020B0503020204020204" charset="-122"/>
                        </a:rPr>
                        <a:t>Component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200" b="0" i="0">
                        <a:solidFill>
                          <a:schemeClr val="bg1"/>
                        </a:solidFill>
                        <a:uFillTx/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chemeClr val="bg1"/>
                          </a:solidFill>
                          <a:uFillTx/>
                          <a:latin typeface="Calibri" panose="020F0502020204030204" charset="0"/>
                          <a:ea typeface="微软雅黑" panose="020B0503020204020204" charset="-122"/>
                        </a:rPr>
                        <a:t>Estimated Proportion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200" b="0" i="0">
                        <a:solidFill>
                          <a:schemeClr val="bg1"/>
                        </a:solidFill>
                        <a:uFillTx/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chemeClr val="bg1"/>
                          </a:solidFill>
                          <a:uFillTx/>
                          <a:latin typeface="Calibri" panose="020F0502020204030204" charset="0"/>
                          <a:ea typeface="微软雅黑" panose="020B0503020204020204" charset="-122"/>
                        </a:rPr>
                        <a:t>Description</a:t>
                      </a:r>
                    </a:p>
                  </a:txBody>
                  <a:tcPr marL="47942" marR="47942" marT="47942" marB="4794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200" b="1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uFillTx/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uFillTx/>
                          <a:latin typeface="Calibri" panose="020F0502020204030204" charset="0"/>
                          <a:ea typeface="微软雅黑" panose="020B0503020204020204" charset="-122"/>
                        </a:rPr>
                        <a:t>Model Parameters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2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uFillTx/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uFillTx/>
                          <a:latin typeface="Calibri" panose="020F0502020204030204" charset="0"/>
                          <a:ea typeface="微软雅黑" panose="020B0503020204020204" charset="-122"/>
                        </a:rPr>
                        <a:t>~20-30%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2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uFillTx/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uFillTx/>
                          <a:latin typeface="Calibri" panose="020F0502020204030204" charset="0"/>
                          <a:ea typeface="微软雅黑" panose="020B0503020204020204" charset="-122"/>
                        </a:rPr>
                        <a:t>Weight matrices (FP16/BF16 precision)</a:t>
                      </a:r>
                    </a:p>
                  </a:txBody>
                  <a:tcPr marL="47942" marR="47942" marT="47942" marB="4794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200" b="1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uFillTx/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uFillTx/>
                          <a:latin typeface="Calibri" panose="020F0502020204030204" charset="0"/>
                          <a:ea typeface="微软雅黑" panose="020B0503020204020204" charset="-122"/>
                        </a:rPr>
                        <a:t>Optimizer States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2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uFillTx/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uFillTx/>
                          <a:latin typeface="Calibri" panose="020F0502020204030204" charset="0"/>
                          <a:ea typeface="微软雅黑" panose="020B0503020204020204" charset="-122"/>
                        </a:rPr>
                        <a:t>~40-60%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2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uFillTx/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uFillTx/>
                          <a:latin typeface="Calibri" panose="020F0502020204030204" charset="0"/>
                          <a:ea typeface="微软雅黑" panose="020B0503020204020204" charset="-122"/>
                        </a:rPr>
                        <a:t>Adam requires storing momentum + second moments (FP32)</a:t>
                      </a:r>
                    </a:p>
                  </a:txBody>
                  <a:tcPr marL="47942" marR="47942" marT="47942" marB="4794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200" b="1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uFillTx/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uFillTx/>
                          <a:latin typeface="Calibri" panose="020F0502020204030204" charset="0"/>
                          <a:ea typeface="微软雅黑" panose="020B0503020204020204" charset="-122"/>
                        </a:rPr>
                        <a:t>Gradients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2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uFillTx/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uFillTx/>
                          <a:latin typeface="Calibri" panose="020F0502020204030204" charset="0"/>
                          <a:ea typeface="微软雅黑" panose="020B0503020204020204" charset="-122"/>
                        </a:rPr>
                        <a:t>~20-30%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2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uFillTx/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uFillTx/>
                          <a:latin typeface="Calibri" panose="020F0502020204030204" charset="0"/>
                          <a:ea typeface="微软雅黑" panose="020B0503020204020204" charset="-122"/>
                        </a:rPr>
                        <a:t>Backward Pass Gradient Cache</a:t>
                      </a:r>
                    </a:p>
                  </a:txBody>
                  <a:tcPr marL="47942" marR="47942" marT="47942" marB="4794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200" b="1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uFillTx/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uFillTx/>
                          <a:latin typeface="Calibri" panose="020F0502020204030204" charset="0"/>
                          <a:ea typeface="微软雅黑" panose="020B0503020204020204" charset="-122"/>
                        </a:rPr>
                        <a:t>Activations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2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uFillTx/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uFillTx/>
                          <a:latin typeface="Calibri" panose="020F0502020204030204" charset="0"/>
                          <a:ea typeface="微软雅黑" panose="020B0503020204020204" charset="-122"/>
                        </a:rPr>
                        <a:t>Variable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2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uFillTx/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uFillTx/>
                          <a:latin typeface="Calibri" panose="020F0502020204030204" charset="0"/>
                          <a:ea typeface="微软雅黑" panose="020B0503020204020204" charset="-122"/>
                        </a:rPr>
                        <a:t>Dominant for long sequences (proportional to square of seq length)</a:t>
                      </a:r>
                    </a:p>
                  </a:txBody>
                  <a:tcPr marL="47942" marR="47942" marT="47942" marB="4794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7700645" y="1174115"/>
          <a:ext cx="4146550" cy="2413635"/>
        </p:xfrm>
        <a:graphic>
          <a:graphicData uri="http://schemas.openxmlformats.org/drawingml/2006/table">
            <a:tbl>
              <a:tblPr/>
              <a:tblGrid>
                <a:gridCol w="2157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9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715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Dimension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GPT-3 (175B)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GPU Scale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~10,000 A100s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Training Duration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~34 days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Total Power Consumption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~1.287 million kWh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Carbon Emissions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~502 tons CO2e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GPU Memory Overhead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~350 GB (parameters)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Total Training GPU Memory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~2.8 TB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Estimated Total Cost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~$10M - $20M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7713345" y="3957320"/>
          <a:ext cx="4195445" cy="2413635"/>
        </p:xfrm>
        <a:graphic>
          <a:graphicData uri="http://schemas.openxmlformats.org/drawingml/2006/table">
            <a:tbl>
              <a:tblPr/>
              <a:tblGrid>
                <a:gridCol w="2144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715">
                <a:tc>
                  <a:txBody>
                    <a:bodyPr/>
                    <a:lstStyle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Dimension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GPT-4 (1.8T rumored scale)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GPU Scale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~25,000 A100s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Training Duration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90 - 100 Days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Total Power Consumption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~51.77M - 62.31M kWh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Carbon Emissions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~1,035 - 14,994 Tons CO2e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GPU Memory Overhead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~3,600 GB (Parameters)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Total Training GPU Memory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~20 TB+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Estimated Total Cost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$100M - $500M USD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8256270" y="3677920"/>
            <a:ext cx="27901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00"/>
              <a:t>GPT-3 </a:t>
            </a:r>
            <a:r>
              <a:rPr lang="zh-CN" altLang="en-US" sz="1300"/>
              <a:t>Training Cost Estimate</a:t>
            </a:r>
            <a:endParaRPr lang="zh-CN" altLang="en-US" sz="1600"/>
          </a:p>
        </p:txBody>
      </p:sp>
      <p:sp>
        <p:nvSpPr>
          <p:cNvPr id="12" name="文本框 11"/>
          <p:cNvSpPr txBox="1"/>
          <p:nvPr/>
        </p:nvSpPr>
        <p:spPr>
          <a:xfrm>
            <a:off x="8311515" y="6458585"/>
            <a:ext cx="27901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00"/>
              <a:t>GPT-4 </a:t>
            </a:r>
            <a:r>
              <a:rPr lang="zh-CN" altLang="en-US" sz="1300"/>
              <a:t>Training Cost Estimate</a:t>
            </a:r>
            <a:endParaRPr lang="zh-CN" altLang="en-US" sz="160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Background: Memory Mechanisms of the Backward Pass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sz="2000" b="1"/>
              <a:t>Standard Backward Pass</a:t>
            </a:r>
            <a:r>
              <a:rPr lang="zh-CN" altLang="en-US" sz="2000"/>
              <a:t> (</a:t>
            </a:r>
            <a:r>
              <a:rPr lang="en-US" altLang="zh-CN" sz="2000"/>
              <a:t>Vanilla</a:t>
            </a:r>
            <a:r>
              <a:rPr lang="zh-CN" altLang="en-US" sz="2000"/>
              <a:t>)</a:t>
            </a:r>
            <a:endParaRPr lang="zh-CN" altLang="en-US" sz="2000" b="1"/>
          </a:p>
          <a:p>
            <a:pPr lvl="1"/>
            <a:r>
              <a:rPr lang="zh-CN" altLang="en-US" sz="1600"/>
              <a:t>Memory requirements grow linearly with the number of network layers</a:t>
            </a:r>
          </a:p>
          <a:p>
            <a:pPr lvl="0"/>
            <a:r>
              <a:rPr lang="zh-CN" altLang="en-US" sz="2000"/>
              <a:t>Root Cause Analysis</a:t>
            </a:r>
          </a:p>
          <a:p>
            <a:pPr lvl="1" algn="l"/>
            <a:r>
              <a:rPr lang="zh-CN" altLang="en-US" sz="1600"/>
              <a:t>Node Retention: All intermediate </a:t>
            </a:r>
            <a:r>
              <a:rPr lang="en-US" altLang="zh-CN" sz="1600"/>
              <a:t>a</a:t>
            </a:r>
            <a:r>
              <a:rPr lang="zh-CN" altLang="en-US" sz="1600"/>
              <a:t>ctivations generated during the </a:t>
            </a:r>
            <a:r>
              <a:rPr lang="en-US" altLang="zh-CN" sz="1600"/>
              <a:t>f</a:t>
            </a:r>
            <a:r>
              <a:rPr lang="zh-CN" altLang="en-US" sz="1600"/>
              <a:t>orward </a:t>
            </a:r>
            <a:r>
              <a:rPr lang="en-US" altLang="zh-CN" sz="1600"/>
              <a:t>p</a:t>
            </a:r>
            <a:r>
              <a:rPr lang="zh-CN" altLang="en-US" sz="1600"/>
              <a:t>ass must be retained in memory.</a:t>
            </a:r>
          </a:p>
          <a:p>
            <a:pPr lvl="1" algn="l"/>
            <a:r>
              <a:rPr lang="zh-CN" altLang="en-US" sz="1600"/>
              <a:t>Dependency: When computing the </a:t>
            </a:r>
            <a:r>
              <a:rPr lang="en-US" altLang="zh-CN" sz="1600"/>
              <a:t>g</a:t>
            </a:r>
            <a:r>
              <a:rPr lang="zh-CN" altLang="en-US" sz="1600"/>
              <a:t>radients for layer i , the input and output of layer i are typically required.</a:t>
            </a:r>
          </a:p>
          <a:p>
            <a:pPr lvl="1" algn="l"/>
            <a:r>
              <a:rPr lang="zh-CN" altLang="en-US" sz="1600"/>
              <a:t>Release condition:  The corresponding memory is only released after all child nodes (dependencies) have been fully processed.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15" y="4032250"/>
            <a:ext cx="6080760" cy="16414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t="22264"/>
          <a:stretch>
            <a:fillRect/>
          </a:stretch>
        </p:blipFill>
        <p:spPr>
          <a:xfrm>
            <a:off x="6376035" y="4210050"/>
            <a:ext cx="5694045" cy="14636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5245" y="5817235"/>
            <a:ext cx="55537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/>
              <a:t>Forward Pass: </a:t>
            </a:r>
            <a:r>
              <a:rPr lang="zh-CN" altLang="en-US" sz="1400">
                <a:sym typeface="+mn-ea"/>
              </a:rPr>
              <a:t>All intermediate </a:t>
            </a:r>
            <a:r>
              <a:rPr lang="en-US" altLang="zh-CN" sz="1400">
                <a:sym typeface="+mn-ea"/>
              </a:rPr>
              <a:t>a</a:t>
            </a:r>
            <a:r>
              <a:rPr lang="zh-CN" altLang="en-US" sz="1400">
                <a:sym typeface="+mn-ea"/>
              </a:rPr>
              <a:t>ctivations must be retained in memory</a:t>
            </a:r>
            <a:endParaRPr lang="zh-CN" altLang="en-US" sz="1400"/>
          </a:p>
        </p:txBody>
      </p:sp>
      <p:sp>
        <p:nvSpPr>
          <p:cNvPr id="10" name="文本框 9"/>
          <p:cNvSpPr txBox="1"/>
          <p:nvPr/>
        </p:nvSpPr>
        <p:spPr>
          <a:xfrm>
            <a:off x="5831840" y="5817235"/>
            <a:ext cx="55537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/>
              <a:t>Backward Pass: </a:t>
            </a:r>
            <a:r>
              <a:rPr lang="zh-CN" altLang="en-US" sz="1400"/>
              <a:t>Once child nodes have been processed, </a:t>
            </a:r>
            <a:r>
              <a:rPr lang="zh-CN" altLang="en-US" sz="1400">
                <a:sym typeface="+mn-ea"/>
              </a:rPr>
              <a:t>the corresponding memory is released</a:t>
            </a:r>
            <a:endParaRPr lang="zh-CN" altLang="en-US" sz="140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Background: Memory Mechanisms of the Backward Pass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sz="2000" b="1"/>
              <a:t>Low-Memory Backward Pass</a:t>
            </a:r>
          </a:p>
          <a:p>
            <a:pPr lvl="1"/>
            <a:r>
              <a:rPr lang="zh-CN" altLang="en-US" sz="1600"/>
              <a:t>Discard intermediate values and recompute them on demand.</a:t>
            </a:r>
          </a:p>
          <a:p>
            <a:pPr lvl="0"/>
            <a:r>
              <a:rPr lang="zh-CN" altLang="en-US" sz="2000"/>
              <a:t>Basic Workflow</a:t>
            </a:r>
          </a:p>
          <a:p>
            <a:pPr lvl="1" algn="l"/>
            <a:r>
              <a:rPr lang="zh-CN" altLang="en-US" sz="1600"/>
              <a:t>No longer store all </a:t>
            </a:r>
            <a:r>
              <a:rPr lang="en-US" altLang="zh-CN" sz="1600"/>
              <a:t>a</a:t>
            </a:r>
            <a:r>
              <a:rPr lang="zh-CN" altLang="en-US" sz="1600"/>
              <a:t>ctivations from the </a:t>
            </a:r>
            <a:r>
              <a:rPr lang="en-US" altLang="zh-CN" sz="1600"/>
              <a:t>f</a:t>
            </a:r>
            <a:r>
              <a:rPr lang="zh-CN" altLang="en-US" sz="1600"/>
              <a:t>orward </a:t>
            </a:r>
            <a:r>
              <a:rPr lang="en-US" altLang="zh-CN" sz="1600"/>
              <a:t>p</a:t>
            </a:r>
            <a:r>
              <a:rPr lang="zh-CN" altLang="en-US" sz="1600"/>
              <a:t>ass in memory.</a:t>
            </a:r>
          </a:p>
          <a:p>
            <a:pPr lvl="1" algn="l"/>
            <a:r>
              <a:rPr lang="zh-CN" altLang="en-US" sz="1600"/>
              <a:t>When the </a:t>
            </a:r>
            <a:r>
              <a:rPr lang="en-US" altLang="zh-CN" sz="1600"/>
              <a:t>b</a:t>
            </a:r>
            <a:r>
              <a:rPr lang="zh-CN" altLang="en-US" sz="1600"/>
              <a:t>ackward </a:t>
            </a:r>
            <a:r>
              <a:rPr lang="en-US" altLang="zh-CN" sz="1600"/>
              <a:t>p</a:t>
            </a:r>
            <a:r>
              <a:rPr lang="zh-CN" altLang="en-US" sz="1600"/>
              <a:t>ass requires data from a certain layer, rerun the forward computation from the nearest </a:t>
            </a:r>
            <a:r>
              <a:rPr lang="en-US" altLang="zh-CN" sz="1600"/>
              <a:t>c</a:t>
            </a:r>
            <a:r>
              <a:rPr lang="zh-CN" altLang="en-US" sz="1600"/>
              <a:t>heckpoint.</a:t>
            </a:r>
          </a:p>
          <a:p>
            <a:pPr lvl="1" algn="l"/>
            <a:r>
              <a:rPr lang="zh-CN" altLang="en-US" sz="1600"/>
              <a:t>Computational complexity increases from  O(n)  to  O(n^2)</a:t>
            </a: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85090" y="5806440"/>
            <a:ext cx="55537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/>
              <a:t>Forward Pass</a:t>
            </a:r>
            <a:r>
              <a:rPr lang="en-US" altLang="zh-CN" sz="1400" b="1"/>
              <a:t>: </a:t>
            </a:r>
            <a:r>
              <a:rPr lang="zh-CN" altLang="en-US" sz="1400">
                <a:sym typeface="+mn-ea"/>
              </a:rPr>
              <a:t>Does not store the Activations of the Forward Pass in memory</a:t>
            </a:r>
            <a:endParaRPr lang="zh-CN" altLang="en-US" sz="1400"/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6153785" y="5827395"/>
            <a:ext cx="55537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>
                <a:sym typeface="+mn-ea"/>
              </a:rPr>
              <a:t>Backward Pass</a:t>
            </a:r>
            <a:r>
              <a:rPr lang="en-US" altLang="zh-CN" sz="1400" b="1">
                <a:sym typeface="+mn-ea"/>
              </a:rPr>
              <a:t>:</a:t>
            </a:r>
            <a:r>
              <a:rPr lang="en-US" altLang="zh-CN" sz="1400">
                <a:sym typeface="+mn-ea"/>
              </a:rPr>
              <a:t> </a:t>
            </a:r>
            <a:r>
              <a:rPr lang="zh-CN" altLang="en-US" sz="1400">
                <a:sym typeface="+mn-ea"/>
              </a:rPr>
              <a:t>Re-runs the forward computation from the nearest "Checkpoint"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5090" y="3839210"/>
            <a:ext cx="6132830" cy="159893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217920" y="3860165"/>
            <a:ext cx="5688965" cy="16713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Checkpointing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zh-CN" altLang="en-US" sz="2000"/>
                  <a:t>Between "Standard Backward Pass" and "Low-Memory Backward Pass"</a:t>
                </a:r>
              </a:p>
              <a:p>
                <a:pPr lvl="1"/>
                <a:r>
                  <a:rPr lang="zh-CN" altLang="en-US" sz="1600"/>
                  <a:t>By storing a subset of critical layers, the computational overhead is kept within a reasonable range while significantly reducing memory usage.</a:t>
                </a:r>
              </a:p>
              <a:p>
                <a:pPr lvl="1"/>
                <a:r>
                  <a:rPr lang="zh-CN" altLang="en-US" sz="1600"/>
                  <a:t>Non-checkpoint nodes are locally recomputed starting from the nearest Checkpoint when required during the </a:t>
                </a:r>
                <a:r>
                  <a:rPr lang="en-US" altLang="zh-CN" sz="1600"/>
                  <a:t>b</a:t>
                </a:r>
                <a:r>
                  <a:rPr lang="zh-CN" altLang="en-US" sz="1600"/>
                  <a:t>ackward </a:t>
                </a:r>
                <a:r>
                  <a:rPr lang="en-US" altLang="zh-CN" sz="1600"/>
                  <a:t>p</a:t>
                </a:r>
                <a:r>
                  <a:rPr lang="zh-CN" altLang="en-US" sz="1600"/>
                  <a:t>ass.</a:t>
                </a:r>
              </a:p>
              <a:p>
                <a:pPr lvl="0" algn="l"/>
                <a:r>
                  <a:rPr lang="zh-CN" altLang="en-US" sz="2000"/>
                  <a:t>Optimal Choice</a:t>
                </a:r>
              </a:p>
              <a:p>
                <a:pPr lvl="1" algn="l"/>
                <a:r>
                  <a:rPr lang="zh-CN" altLang="en-US" sz="1600"/>
                  <a:t>To balance memory and computation, </a:t>
                </a:r>
                <a:r>
                  <a:rPr lang="zh-CN" altLang="en-US" sz="1600" b="1"/>
                  <a:t>the mathematically optimal solution is to place a </a:t>
                </a:r>
                <a:r>
                  <a:rPr lang="en-US" altLang="zh-CN" sz="1600" b="1"/>
                  <a:t>c</a:t>
                </a:r>
                <a:r>
                  <a:rPr lang="zh-CN" altLang="en-US" sz="1600" b="1"/>
                  <a:t>heckpoint every </a:t>
                </a:r>
                <a14:m>
                  <m:oMath xmlns:m="http://schemas.openxmlformats.org/officeDocument/2006/math">
                    <m:r>
                      <a:rPr lang="zh-CN" altLang="en-US" sz="1600" b="1">
                        <a:latin typeface="Cambria Math" panose="02040503050406030204" charset="0"/>
                      </a:rPr>
                      <m:t>√</m:t>
                    </m:r>
                    <m:r>
                      <a:rPr lang="zh-CN" altLang="en-US" sz="1600" b="1">
                        <a:latin typeface="Cambria Math" panose="02040503050406030204" charset="0"/>
                      </a:rPr>
                      <m:t>𝐧</m:t>
                    </m:r>
                  </m:oMath>
                </a14:m>
                <a:r>
                  <a:rPr lang="en-US" altLang="zh-CN" sz="1600" b="1"/>
                  <a:t> </a:t>
                </a:r>
                <a:r>
                  <a:rPr lang="zh-CN" altLang="en-US" sz="1600" b="1"/>
                  <a:t>nodes.</a:t>
                </a:r>
              </a:p>
              <a:p>
                <a:pPr lvl="1" algn="l"/>
                <a:r>
                  <a:rPr lang="zh-CN" altLang="en-US" sz="1600"/>
                  <a:t>Memory Complexity: O(</a:t>
                </a:r>
                <a14:m>
                  <m:oMath xmlns:m="http://schemas.openxmlformats.org/officeDocument/2006/math">
                    <m:r>
                      <a:rPr lang="zh-CN" altLang="en-US" sz="1600">
                        <a:latin typeface="Cambria Math" panose="02040503050406030204" charset="0"/>
                      </a:rPr>
                      <m:t>√</m:t>
                    </m:r>
                    <m:r>
                      <a:rPr lang="zh-CN" altLang="en-US" sz="1600">
                        <a:latin typeface="Cambria Math" panose="02040503050406030204" charset="0"/>
                      </a:rPr>
                      <m:t>𝑛</m:t>
                    </m:r>
                  </m:oMath>
                </a14:m>
                <a:r>
                  <a:rPr lang="zh-CN" altLang="en-US" sz="1600"/>
                  <a:t> ) ;</a:t>
                </a:r>
              </a:p>
              <a:p>
                <a:pPr lvl="1" algn="l"/>
                <a:r>
                  <a:rPr lang="zh-CN" altLang="en-US" sz="1600"/>
                  <a:t>Computational Complexity: O(n) , approximately 1.5x the standard </a:t>
                </a:r>
                <a:r>
                  <a:rPr lang="en-US" altLang="zh-CN" sz="1600"/>
                  <a:t>b</a:t>
                </a:r>
                <a:r>
                  <a:rPr lang="zh-CN" altLang="en-US" sz="1600"/>
                  <a:t>ackward </a:t>
                </a:r>
                <a:r>
                  <a:rPr lang="en-US" altLang="zh-CN" sz="1600"/>
                  <a:t>p</a:t>
                </a:r>
                <a:r>
                  <a:rPr lang="zh-CN" altLang="en-US" sz="1600"/>
                  <a:t>ass computation</a:t>
                </a:r>
              </a:p>
              <a:p>
                <a:pPr lvl="1" algn="l"/>
                <a:r>
                  <a:rPr lang="zh-CN" altLang="en-US" sz="1600" b="1"/>
                  <a:t>Spending 50% more time to gain the significant benefit of reducing GPU </a:t>
                </a:r>
                <a:r>
                  <a:rPr lang="en-US" altLang="zh-CN" sz="1600" b="1"/>
                  <a:t>m</a:t>
                </a:r>
                <a:r>
                  <a:rPr lang="zh-CN" altLang="en-US" sz="1600" b="1"/>
                  <a:t>emory usage from n down to</a:t>
                </a:r>
                <a14:m>
                  <m:oMath xmlns:m="http://schemas.openxmlformats.org/officeDocument/2006/math">
                    <m:r>
                      <a:rPr lang="zh-CN" altLang="en-US" sz="1600" b="1">
                        <a:latin typeface="Cambria Math" panose="02040503050406030204" charset="0"/>
                      </a:rPr>
                      <m:t> √</m:t>
                    </m:r>
                    <m:r>
                      <a:rPr lang="zh-CN" altLang="en-US" sz="1600" b="1">
                        <a:latin typeface="Cambria Math" panose="02040503050406030204" charset="0"/>
                      </a:rPr>
                      <m:t>𝐧</m:t>
                    </m:r>
                    <m:r>
                      <a:rPr lang="zh-CN" altLang="en-US" sz="1600" b="1">
                        <a:latin typeface="Cambria Math" panose="02040503050406030204" charset="0"/>
                      </a:rPr>
                      <m:t> </m:t>
                    </m:r>
                  </m:oMath>
                </a14:m>
                <a:endParaRPr lang="zh-CN" altLang="en-US" sz="1600" b="1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 rotWithShape="1">
                <a:blip r:embed="rId4"/>
                <a:stretch>
                  <a:fillRect l="-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815" y="4655185"/>
            <a:ext cx="6009640" cy="15684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7455" y="4755515"/>
            <a:ext cx="5761990" cy="171513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-43180" y="6407785"/>
            <a:ext cx="55537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/>
              <a:t>Forward Pass:</a:t>
            </a:r>
            <a:r>
              <a:rPr lang="zh-CN" altLang="en-US" sz="1400">
                <a:sym typeface="+mn-ea"/>
              </a:rPr>
              <a:t> store partial key layers</a:t>
            </a:r>
            <a:endParaRPr lang="zh-CN" altLang="en-US" sz="1400"/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5292090" y="6403340"/>
            <a:ext cx="67716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/>
              <a:t>Backward Pass:</a:t>
            </a:r>
            <a:r>
              <a:rPr lang="zh-CN" altLang="en-US" sz="1400">
                <a:sym typeface="+mn-ea"/>
              </a:rPr>
              <a:t> perform local recomputation starting from the nearest </a:t>
            </a:r>
            <a:r>
              <a:rPr lang="en-US" altLang="zh-CN" sz="1400">
                <a:sym typeface="+mn-ea"/>
              </a:rPr>
              <a:t>c</a:t>
            </a:r>
            <a:r>
              <a:rPr lang="zh-CN" altLang="en-US" sz="1400">
                <a:sym typeface="+mn-ea"/>
              </a:rPr>
              <a:t>heckpoint</a:t>
            </a:r>
            <a:endParaRPr lang="zh-CN" altLang="en-US" sz="140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Gradient Checkpoint C</a:t>
            </a:r>
            <a:r>
              <a:rPr lang="zh-CN" altLang="en-US"/>
              <a:t>od</a:t>
            </a:r>
            <a:r>
              <a:rPr lang="en-US" altLang="zh-CN"/>
              <a:t>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4325" y="4195445"/>
            <a:ext cx="5062220" cy="2216785"/>
          </a:xfrm>
          <a:prstGeom prst="rect">
            <a:avLst/>
          </a:prstGeom>
        </p:spPr>
      </p:pic>
      <p:sp>
        <p:nvSpPr>
          <p:cNvPr id="7" name="内容占位符 2"/>
          <p:cNvSpPr>
            <a:spLocks noGrp="1"/>
          </p:cNvSpPr>
          <p:nvPr/>
        </p:nvSpPr>
        <p:spPr>
          <a:xfrm>
            <a:off x="523875" y="1390650"/>
            <a:ext cx="5923915" cy="48533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60045" marR="0" indent="-360045" algn="l" defTabSz="3429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■"/>
              <a:defRPr sz="2400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1pPr>
            <a:lvl2pPr marL="557530" marR="0" indent="-21463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Pct val="75000"/>
              <a:buFont typeface="文泉驿微米黑" panose="020B0606030804020204" charset="-122"/>
              <a:buChar char="♦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2pPr>
            <a:lvl3pPr marL="8572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▶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3pPr>
            <a:lvl4pPr marL="12001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●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4pPr>
            <a:lvl5pPr marL="15430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/>
              <a:t>Native</a:t>
            </a:r>
            <a:r>
              <a:rPr lang="en-US" altLang="zh-CN" b="1"/>
              <a:t> PyTorch </a:t>
            </a:r>
            <a:r>
              <a:rPr lang="zh-CN" altLang="en-US" b="1"/>
              <a:t>custom implementation</a:t>
            </a:r>
          </a:p>
          <a:p>
            <a:pPr lvl="1"/>
            <a:r>
              <a:rPr lang="zh-CN" altLang="en-US"/>
              <a:t>Core module:</a:t>
            </a:r>
            <a:r>
              <a:rPr lang="en-US" altLang="zh-CN"/>
              <a:t> </a:t>
            </a:r>
            <a:r>
              <a:rPr lang="en-US" altLang="zh-CN" i="1">
                <a:solidFill>
                  <a:schemeClr val="bg2">
                    <a:lumMod val="75000"/>
                  </a:schemeClr>
                </a:solidFill>
              </a:rPr>
              <a:t>torch.utils.checkpoint</a:t>
            </a:r>
            <a:endParaRPr lang="en-US" altLang="zh-CN"/>
          </a:p>
          <a:p>
            <a:pPr lvl="1"/>
            <a:r>
              <a:rPr lang="zh-CN" altLang="en-US"/>
              <a:t>For general models:</a:t>
            </a:r>
            <a:r>
              <a:rPr lang="en-US" altLang="zh-CN"/>
              <a:t> </a:t>
            </a:r>
            <a:r>
              <a:rPr lang="zh-CN" altLang="en-US"/>
              <a:t> use the</a:t>
            </a:r>
            <a:r>
              <a:rPr lang="en-US" altLang="zh-CN"/>
              <a:t> checkpoint </a:t>
            </a:r>
            <a:r>
              <a:rPr lang="zh-CN" altLang="en-US"/>
              <a:t> function, which can wrap any</a:t>
            </a:r>
            <a:r>
              <a:rPr lang="en-US" altLang="zh-CN"/>
              <a:t> nn.Module</a:t>
            </a:r>
            <a:r>
              <a:rPr lang="zh-CN" altLang="en-US"/>
              <a:t>.</a:t>
            </a:r>
            <a:endParaRPr lang="en-US" altLang="zh-CN"/>
          </a:p>
          <a:p>
            <a:pPr lvl="1"/>
            <a:r>
              <a:rPr lang="zh-CN" altLang="en-US"/>
              <a:t>For sequential models:</a:t>
            </a:r>
            <a:r>
              <a:rPr lang="en-US" altLang="zh-CN"/>
              <a:t> </a:t>
            </a:r>
            <a:r>
              <a:rPr lang="zh-CN" altLang="en-US"/>
              <a:t> use</a:t>
            </a:r>
            <a:r>
              <a:rPr lang="en-US" altLang="zh-CN"/>
              <a:t> </a:t>
            </a:r>
            <a:r>
              <a:rPr lang="en-US" altLang="zh-CN" i="1">
                <a:solidFill>
                  <a:schemeClr val="bg2">
                    <a:lumMod val="75000"/>
                  </a:schemeClr>
                </a:solidFill>
              </a:rPr>
              <a:t>checkpoint_sequential</a:t>
            </a:r>
            <a:r>
              <a:rPr lang="zh-CN" altLang="en-US"/>
              <a:t>, designed specifically for</a:t>
            </a:r>
            <a:r>
              <a:rPr lang="en-US" altLang="zh-CN"/>
              <a:t> </a:t>
            </a:r>
            <a:r>
              <a:rPr lang="en-US" altLang="zh-CN" i="1">
                <a:solidFill>
                  <a:schemeClr val="bg2">
                    <a:lumMod val="75000"/>
                  </a:schemeClr>
                </a:solidFill>
              </a:rPr>
              <a:t>nn.Sequential</a:t>
            </a:r>
            <a:r>
              <a:rPr lang="zh-CN" altLang="en-US"/>
              <a:t>, with built-in support for automatic segmentation.</a:t>
            </a:r>
          </a:p>
          <a:p>
            <a:pPr lvl="1"/>
            <a:endParaRPr lang="zh-CN" altLang="en-US"/>
          </a:p>
          <a:p>
            <a:pPr lvl="0"/>
            <a:r>
              <a:rPr lang="en-US" altLang="zh-CN" b="1">
                <a:sym typeface="+mn-ea"/>
              </a:rPr>
              <a:t>Hugging Face </a:t>
            </a:r>
            <a:r>
              <a:rPr lang="zh-CN" altLang="en-US" b="1">
                <a:sym typeface="+mn-ea"/>
              </a:rPr>
              <a:t>Simple Model Integration</a:t>
            </a:r>
            <a:endParaRPr lang="zh-CN" altLang="en-US" b="1"/>
          </a:p>
          <a:p>
            <a:pPr lvl="1"/>
            <a:r>
              <a:rPr lang="zh-CN" altLang="en-US">
                <a:sym typeface="+mn-ea"/>
              </a:rPr>
              <a:t>Enable the</a:t>
            </a:r>
            <a:r>
              <a:rPr lang="en-US" altLang="zh-CN">
                <a:sym typeface="+mn-ea"/>
              </a:rPr>
              <a:t> </a:t>
            </a:r>
            <a:r>
              <a:rPr lang="en-US" altLang="zh-CN" i="1">
                <a:solidFill>
                  <a:schemeClr val="bg2">
                    <a:lumMod val="75000"/>
                  </a:schemeClr>
                </a:solidFill>
                <a:sym typeface="+mn-ea"/>
              </a:rPr>
              <a:t>gradient_checkpointing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flag in training parameters</a:t>
            </a:r>
            <a:endParaRPr lang="zh-CN" altLang="en-US"/>
          </a:p>
          <a:p>
            <a:pPr lvl="1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6465" y="424815"/>
            <a:ext cx="3661410" cy="351726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6330315" y="3921125"/>
            <a:ext cx="55537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00"/>
              <a:t>Native</a:t>
            </a:r>
            <a:r>
              <a:rPr lang="en-US" altLang="zh-CN" sz="1300"/>
              <a:t> Pytorch</a:t>
            </a:r>
            <a:r>
              <a:rPr lang="zh-CN" altLang="en-US" sz="1300"/>
              <a:t> Implementation</a:t>
            </a:r>
            <a:r>
              <a:rPr lang="en-US" altLang="zh-CN" sz="1300"/>
              <a:t> Checkpoint</a:t>
            </a:r>
            <a:endParaRPr lang="en-US" altLang="zh-CN" sz="1600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6247765" y="6438900"/>
            <a:ext cx="55537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00"/>
              <a:t>HF</a:t>
            </a:r>
            <a:r>
              <a:rPr lang="zh-CN" altLang="en-US" sz="1300"/>
              <a:t> Simple Model Integration</a:t>
            </a:r>
            <a:r>
              <a:rPr lang="en-US" altLang="zh-CN" sz="1300"/>
              <a:t> Checkpoint</a:t>
            </a:r>
            <a:endParaRPr lang="en-US" altLang="zh-CN" sz="160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Offloading</a:t>
            </a:r>
            <a:r>
              <a:t> 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z="1000" dirty="0"/>
              <a:t>[1] Ren J, Rajbhandari S, Aminabadi R Y, et al. {Zero-offload}: Democratizing {billion-scale} model training[C]//2021 USENIX Annual Technical Conference (USENIX ATC 21). 2021: 551-564.</a:t>
            </a:r>
          </a:p>
          <a:p>
            <a:r>
              <a:rPr lang="en-US" altLang="zh-CN" sz="1000" dirty="0"/>
              <a:t>[2] Rajbhandari S, Ruwase O, Rasley J, et al. Zero-infinity: Breaking the gpu memory wall for extreme scale deep learning[C]//Proceedings of the international conference for high performance computing, networking, storage and analysis. 2021: 1-14.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sz="2000"/>
              <a:t>Principle</a:t>
            </a:r>
          </a:p>
          <a:p>
            <a:pPr lvl="1"/>
            <a:r>
              <a:rPr lang="zh-CN" altLang="en-US" sz="1600"/>
              <a:t>By temporarily migrating model parameters, </a:t>
            </a:r>
            <a:r>
              <a:rPr lang="en-US" altLang="zh-CN" sz="1600"/>
              <a:t>o</a:t>
            </a:r>
            <a:r>
              <a:rPr lang="zh-CN" altLang="en-US" sz="1600"/>
              <a:t>ptimizer </a:t>
            </a:r>
            <a:r>
              <a:rPr lang="en-US" altLang="zh-CN" sz="1600"/>
              <a:t>s</a:t>
            </a:r>
            <a:r>
              <a:rPr lang="zh-CN" altLang="en-US" sz="1600"/>
              <a:t>tates, or </a:t>
            </a:r>
            <a:r>
              <a:rPr lang="en-US" altLang="zh-CN" sz="1600"/>
              <a:t>a</a:t>
            </a:r>
            <a:r>
              <a:rPr lang="zh-CN" altLang="en-US" sz="1600"/>
              <a:t>ctivations from</a:t>
            </a:r>
            <a:r>
              <a:rPr lang="en-US" altLang="zh-CN" sz="1600"/>
              <a:t> GPU</a:t>
            </a:r>
            <a:r>
              <a:rPr lang="zh-CN" altLang="en-US" sz="1600"/>
              <a:t> GPU </a:t>
            </a:r>
            <a:r>
              <a:rPr lang="en-US" altLang="zh-CN" sz="1600"/>
              <a:t>m</a:t>
            </a:r>
            <a:r>
              <a:rPr lang="zh-CN" altLang="en-US" sz="1600"/>
              <a:t>emory to</a:t>
            </a:r>
            <a:r>
              <a:rPr lang="en-US" altLang="zh-CN" sz="1600"/>
              <a:t> CPU</a:t>
            </a:r>
            <a:r>
              <a:rPr lang="zh-CN" altLang="en-US" sz="1600"/>
              <a:t> memory or</a:t>
            </a:r>
            <a:r>
              <a:rPr lang="en-US" altLang="zh-CN" sz="1600"/>
              <a:t> NVMe</a:t>
            </a:r>
            <a:r>
              <a:rPr lang="zh-CN" altLang="en-US" sz="1600"/>
              <a:t> storage, the GPU Memory capacity constraint is overcome, enabling training of larger models.</a:t>
            </a:r>
          </a:p>
          <a:p>
            <a:pPr lvl="0" algn="l"/>
            <a:r>
              <a:rPr lang="zh-CN" altLang="en-US" sz="2000"/>
              <a:t>Core Motivation</a:t>
            </a:r>
          </a:p>
          <a:p>
            <a:pPr lvl="1" algn="l"/>
            <a:r>
              <a:rPr lang="zh-CN" altLang="en-US" sz="1600"/>
              <a:t>Offload inactive parameters to CPU/</a:t>
            </a:r>
            <a:r>
              <a:rPr lang="en-US" altLang="zh-CN" sz="1600"/>
              <a:t>D</a:t>
            </a:r>
            <a:r>
              <a:rPr lang="zh-CN" altLang="en-US" sz="1600"/>
              <a:t>isk</a:t>
            </a:r>
          </a:p>
          <a:p>
            <a:pPr lvl="1" algn="l"/>
            <a:r>
              <a:rPr lang="zh-CN" altLang="en-US" sz="1600"/>
              <a:t>Computation and storage are tiered</a:t>
            </a:r>
          </a:p>
          <a:p>
            <a:pPr lvl="1" algn="l"/>
            <a:r>
              <a:rPr lang="en-US" altLang="zh-CN" sz="1600"/>
              <a:t>Dy</a:t>
            </a:r>
            <a:r>
              <a:rPr lang="zh-CN" altLang="en-US" sz="1600"/>
              <a:t>namic swap-in and swap-out</a:t>
            </a:r>
          </a:p>
          <a:p>
            <a:pPr lvl="1"/>
            <a:endParaRPr lang="zh-CN" altLang="en-US" sz="1800"/>
          </a:p>
          <a:p>
            <a:pPr lvl="1"/>
            <a:endParaRPr lang="zh-CN" altLang="en-US" sz="1800"/>
          </a:p>
          <a:p>
            <a:pPr lvl="0" algn="l"/>
            <a:r>
              <a:rPr lang="zh-CN" altLang="en-US" sz="2000"/>
              <a:t>Key Techniques</a:t>
            </a:r>
          </a:p>
          <a:p>
            <a:pPr lvl="1" algn="l"/>
            <a:r>
              <a:rPr lang="zh-CN" altLang="en-US" sz="1600" b="1"/>
              <a:t>ZeRO-Offload (DeepSpeed): </a:t>
            </a:r>
            <a:r>
              <a:rPr lang="zh-CN" altLang="en-US" sz="1600"/>
              <a:t>Offload </a:t>
            </a:r>
            <a:r>
              <a:rPr lang="en-US" altLang="zh-CN" sz="1600"/>
              <a:t>o</a:t>
            </a:r>
            <a:r>
              <a:rPr lang="zh-CN" altLang="en-US" sz="1600"/>
              <a:t>ptimizer </a:t>
            </a:r>
            <a:r>
              <a:rPr lang="en-US" altLang="zh-CN" sz="1600"/>
              <a:t>s</a:t>
            </a:r>
            <a:r>
              <a:rPr lang="zh-CN" altLang="en-US" sz="1600"/>
              <a:t>tates and </a:t>
            </a:r>
            <a:r>
              <a:rPr lang="en-US" altLang="zh-CN" sz="1600"/>
              <a:t>g</a:t>
            </a:r>
            <a:r>
              <a:rPr lang="zh-CN" altLang="en-US" sz="1600"/>
              <a:t>radients to CPU memory</a:t>
            </a:r>
          </a:p>
          <a:p>
            <a:pPr lvl="1" algn="l"/>
            <a:r>
              <a:rPr lang="zh-CN" altLang="en-US" sz="1600" b="1"/>
              <a:t>ZeRO-Infinity:</a:t>
            </a:r>
            <a:r>
              <a:rPr lang="zh-CN" altLang="en-US" sz="1600"/>
              <a:t> Scaling to NVMe SSD, Supporting TB-Scale </a:t>
            </a:r>
            <a:r>
              <a:rPr lang="en-US" altLang="zh-CN" sz="1600"/>
              <a:t>m</a:t>
            </a:r>
            <a:r>
              <a:rPr lang="zh-CN" altLang="en-US" sz="1600"/>
              <a:t>odel </a:t>
            </a:r>
            <a:r>
              <a:rPr lang="en-US" altLang="zh-CN" sz="1600"/>
              <a:t>t</a:t>
            </a:r>
            <a:r>
              <a:rPr lang="zh-CN" altLang="en-US" sz="1600"/>
              <a:t>raining</a:t>
            </a:r>
          </a:p>
          <a:p>
            <a:pPr lvl="1" algn="l"/>
            <a:r>
              <a:rPr lang="zh-CN" altLang="en-US" sz="1600" b="1"/>
              <a:t>FSDP + CPU Offload (PyTorch):</a:t>
            </a:r>
            <a:r>
              <a:rPr lang="zh-CN" altLang="en-US" sz="1600"/>
              <a:t> Based on Fully Sharded Data Parallel, supports partial offloading after parameter sharding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4761230" y="2569210"/>
          <a:ext cx="7272020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3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Optimization Strategies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/>
                        <a:t>Communication Overhead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400"/>
                        <a:t>CPU↔GPU</a:t>
                      </a:r>
                      <a:r>
                        <a:rPr lang="zh-CN" altLang="en-US" sz="1400"/>
                        <a:t> bandwidth is far lower than GPU Memory 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Prefetching, computation-communication overlap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/>
                        <a:t>Computation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400"/>
                        <a:t>CPU</a:t>
                      </a:r>
                      <a:r>
                        <a:rPr lang="zh-CN" altLang="en-US" sz="1400"/>
                        <a:t> computation is slower than</a:t>
                      </a:r>
                      <a:r>
                        <a:rPr lang="en-US" altLang="zh-CN" sz="1400"/>
                        <a:t>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Offload only the </a:t>
                      </a:r>
                      <a:r>
                        <a:rPr lang="en-US" altLang="zh-CN" sz="1400"/>
                        <a:t>o</a:t>
                      </a:r>
                      <a:r>
                        <a:rPr lang="zh-CN" altLang="en-US" sz="1400"/>
                        <a:t>ptimizer </a:t>
                      </a:r>
                      <a:r>
                        <a:rPr lang="en-US" altLang="zh-CN" sz="1400"/>
                        <a:t>s</a:t>
                      </a:r>
                      <a:r>
                        <a:rPr lang="zh-CN" altLang="en-US" sz="1400"/>
                        <a:t>tates (e.g.,</a:t>
                      </a:r>
                      <a:r>
                        <a:rPr lang="en-US" altLang="zh-CN" sz="1400"/>
                        <a:t> adam</a:t>
                      </a:r>
                      <a:r>
                        <a:rPr lang="zh-CN" altLang="en-US" sz="1400"/>
                        <a:t> computation), keeping forward</a:t>
                      </a:r>
                      <a:r>
                        <a:rPr lang="en-US" altLang="zh-CN" sz="1400"/>
                        <a:t>/</a:t>
                      </a:r>
                      <a:r>
                        <a:rPr lang="zh-CN" altLang="en-US" sz="1400"/>
                        <a:t> backward passes on the</a:t>
                      </a:r>
                      <a:r>
                        <a:rPr lang="en-US" altLang="zh-CN" sz="1400"/>
                        <a:t> GPU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/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400"/>
                        <a:t>NVMe</a:t>
                      </a:r>
                      <a:r>
                        <a:rPr lang="zh-CN" altLang="en-US" sz="1400"/>
                        <a:t> </a:t>
                      </a:r>
                      <a:r>
                        <a:rPr lang="en-US" altLang="zh-CN" sz="1400"/>
                        <a:t>b</a:t>
                      </a:r>
                      <a:r>
                        <a:rPr lang="zh-CN" altLang="en-US" sz="1400"/>
                        <a:t>andwidth </a:t>
                      </a:r>
                      <a:r>
                        <a:rPr lang="en-US" altLang="zh-CN" sz="1400"/>
                        <a:t>l</a:t>
                      </a:r>
                      <a:r>
                        <a:rPr lang="zh-CN" altLang="en-US" sz="1400"/>
                        <a:t>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Multi-channel</a:t>
                      </a:r>
                      <a:r>
                        <a:rPr lang="en-US" altLang="zh-CN" sz="1400"/>
                        <a:t> SSD</a:t>
                      </a:r>
                      <a:r>
                        <a:rPr lang="zh-CN" altLang="en-US" sz="1400"/>
                        <a:t> parallelism, asynchronous</a:t>
                      </a:r>
                      <a:r>
                        <a:rPr lang="en-US" altLang="zh-CN" sz="1400"/>
                        <a:t> I/O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Large Model Training</a:t>
            </a:r>
            <a:r>
              <a:rPr lang="en-US" altLang="zh-CN" sz="3200"/>
              <a:t> Offloading </a:t>
            </a:r>
            <a:r>
              <a:rPr sz="3200"/>
              <a:t>Technology Comparison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3"/>
          <a:srcRect t="10951"/>
          <a:stretch>
            <a:fillRect/>
          </a:stretch>
        </p:blipFill>
        <p:spPr>
          <a:xfrm>
            <a:off x="523875" y="1327785"/>
            <a:ext cx="10276205" cy="55302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DeepSpeed ZeRO-Offloading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sz="1800" b="1"/>
              <a:t>Strategy 1: Limit</a:t>
            </a:r>
            <a:r>
              <a:rPr lang="en-US" altLang="zh-CN" sz="1800" b="1"/>
              <a:t> CPU </a:t>
            </a:r>
            <a:r>
              <a:rPr lang="zh-CN" altLang="en-US" sz="1800" b="1"/>
              <a:t>Computation</a:t>
            </a:r>
          </a:p>
          <a:p>
            <a:pPr lvl="1"/>
            <a:r>
              <a:rPr lang="en-US" altLang="zh-CN" sz="1600"/>
              <a:t>CPU </a:t>
            </a:r>
            <a:r>
              <a:rPr lang="zh-CN" altLang="en-US" sz="1600"/>
              <a:t>computation is far slower than</a:t>
            </a:r>
            <a:r>
              <a:rPr lang="en-US" altLang="zh-CN" sz="1600"/>
              <a:t> GPU</a:t>
            </a:r>
            <a:r>
              <a:rPr lang="zh-CN" altLang="en-US" sz="1600"/>
              <a:t>; only offload low-complexity tasks.</a:t>
            </a:r>
          </a:p>
          <a:p>
            <a:pPr lvl="1"/>
            <a:r>
              <a:rPr lang="en-US" altLang="zh-CN" sz="1600"/>
              <a:t>GPU </a:t>
            </a:r>
            <a:r>
              <a:rPr lang="zh-CN" altLang="en-US" sz="1600"/>
              <a:t>retains: </a:t>
            </a:r>
            <a:r>
              <a:rPr lang="en-US" altLang="zh-CN" sz="1600"/>
              <a:t>f</a:t>
            </a:r>
            <a:r>
              <a:rPr lang="zh-CN" altLang="en-US" sz="1600"/>
              <a:t>orward and </a:t>
            </a:r>
            <a:r>
              <a:rPr lang="en-US" altLang="zh-CN" sz="1600"/>
              <a:t>b</a:t>
            </a:r>
            <a:r>
              <a:rPr lang="zh-CN" altLang="en-US" sz="1600"/>
              <a:t>ackward </a:t>
            </a:r>
            <a:r>
              <a:rPr lang="en-US" altLang="zh-CN" sz="1600"/>
              <a:t>p</a:t>
            </a:r>
            <a:r>
              <a:rPr lang="zh-CN" altLang="en-US" sz="1600"/>
              <a:t>ass (complexity</a:t>
            </a:r>
            <a:r>
              <a:rPr lang="en-US" altLang="zh-CN" sz="1600"/>
              <a:t> O(MB)</a:t>
            </a:r>
            <a:r>
              <a:rPr lang="zh-CN" altLang="en-US" sz="1600"/>
              <a:t>, where</a:t>
            </a:r>
            <a:r>
              <a:rPr lang="en-US" altLang="zh-CN" sz="1600"/>
              <a:t> B </a:t>
            </a:r>
            <a:r>
              <a:rPr lang="zh-CN" altLang="en-US" sz="1600"/>
              <a:t>is</a:t>
            </a:r>
            <a:r>
              <a:rPr lang="en-US" altLang="zh-CN" sz="1600"/>
              <a:t> Batch Size</a:t>
            </a:r>
            <a:r>
              <a:rPr lang="zh-CN" altLang="en-US" sz="1600"/>
              <a:t>).</a:t>
            </a:r>
          </a:p>
          <a:p>
            <a:pPr lvl="1"/>
            <a:r>
              <a:rPr lang="en-US" altLang="zh-CN" sz="1600"/>
              <a:t>CPU </a:t>
            </a:r>
            <a:r>
              <a:rPr lang="zh-CN" altLang="en-US" sz="1600"/>
              <a:t>handles: parameter updates (complexity</a:t>
            </a:r>
            <a:r>
              <a:rPr lang="en-US" altLang="zh-CN" sz="1600"/>
              <a:t> O(M)</a:t>
            </a:r>
            <a:r>
              <a:rPr lang="zh-CN" altLang="en-US" sz="1600"/>
              <a:t>), such as</a:t>
            </a:r>
            <a:r>
              <a:rPr lang="en-US" altLang="zh-CN" sz="1600"/>
              <a:t> norm </a:t>
            </a:r>
            <a:r>
              <a:rPr lang="zh-CN" altLang="en-US" sz="1600"/>
              <a:t>computation, </a:t>
            </a:r>
            <a:r>
              <a:rPr lang="en-US" altLang="zh-CN" sz="1600"/>
              <a:t>w</a:t>
            </a:r>
            <a:r>
              <a:rPr lang="zh-CN" altLang="en-US" sz="1600"/>
              <a:t>eight </a:t>
            </a:r>
            <a:r>
              <a:rPr lang="en-US" altLang="zh-CN" sz="1600"/>
              <a:t>u</a:t>
            </a:r>
            <a:r>
              <a:rPr lang="zh-CN" altLang="en-US" sz="1600"/>
              <a:t>pdate, etc.</a:t>
            </a:r>
          </a:p>
          <a:p>
            <a:pPr lvl="0" algn="l"/>
            <a:r>
              <a:rPr lang="zh-CN" altLang="en-US" sz="1800" b="1"/>
              <a:t>Strategy 2: Minimize Communication Volume</a:t>
            </a:r>
          </a:p>
          <a:p>
            <a:pPr lvl="1" algn="l"/>
            <a:r>
              <a:rPr lang="en-US" altLang="zh-CN" sz="1600"/>
              <a:t>The minimum communication volume for any model state offloading scheme is 4M</a:t>
            </a:r>
          </a:p>
          <a:p>
            <a:pPr lvl="1" algn="l"/>
            <a:r>
              <a:rPr lang="en-US" altLang="zh-CN" sz="1600"/>
              <a:t>p32, m32, v32 are merged with the "weight update" computation</a:t>
            </a:r>
          </a:p>
          <a:p>
            <a:pPr lvl="1" algn="l"/>
            <a:r>
              <a:rPr lang="en-US" altLang="zh-CN" sz="1600"/>
              <a:t>p16 and FWD-BWD super-node remain together on the GPU 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185" y="3596640"/>
            <a:ext cx="5057775" cy="3004185"/>
          </a:xfrm>
          <a:prstGeom prst="rect">
            <a:avLst/>
          </a:prstGeom>
        </p:spPr>
      </p:pic>
      <p:graphicFrame>
        <p:nvGraphicFramePr>
          <p:cNvPr id="8" name="表格 7"/>
          <p:cNvGraphicFramePr/>
          <p:nvPr/>
        </p:nvGraphicFramePr>
        <p:xfrm>
          <a:off x="476250" y="4220210"/>
          <a:ext cx="5728970" cy="2380615"/>
        </p:xfrm>
        <a:graphic>
          <a:graphicData uri="http://schemas.openxmlformats.org/drawingml/2006/table">
            <a:tbl>
              <a:tblPr/>
              <a:tblGrid>
                <a:gridCol w="159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2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8935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Node Type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Device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Reason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FWD-BWD </a:t>
                      </a: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Super Node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GPU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Extremely high computational demand O(MB)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p16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GPU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Reduce communication overhead with compute nodes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Update Super Node</a:t>
                      </a: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 (p32, m32, v32)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CPU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Highest memory footprint,</a:t>
                      </a: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with low computational complexity (O(M)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g16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CPU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  <a:sym typeface="+mn-ea"/>
                        </a:rPr>
                        <a:t>Reduce communication overhead with compute nodes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ZeRO-Offloading </a:t>
            </a:r>
            <a:r>
              <a:rPr>
                <a:sym typeface="+mn-ea"/>
              </a:rPr>
              <a:t>Single-GPU Scheduling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b="1"/>
              <a:t>Computation and Communication Overlap</a:t>
            </a:r>
          </a:p>
          <a:p>
            <a:pPr lvl="1"/>
            <a:endParaRPr lang="en-US" altLang="zh-CN" b="1"/>
          </a:p>
          <a:p>
            <a:pPr lvl="1"/>
            <a:endParaRPr lang="en-US" altLang="zh-CN" b="1"/>
          </a:p>
          <a:p>
            <a:pPr lvl="0"/>
            <a:r>
              <a:rPr lang="zh-CN" altLang="en-US" b="1"/>
              <a:t>Forward Pass</a:t>
            </a:r>
            <a:endParaRPr lang="en-US" altLang="zh-CN" b="1"/>
          </a:p>
          <a:p>
            <a:pPr lvl="1"/>
            <a:r>
              <a:rPr lang="en-US" altLang="zh-CN" sz="1800"/>
              <a:t>FP16 </a:t>
            </a:r>
            <a:r>
              <a:rPr lang="zh-CN" altLang="en-US" sz="1800"/>
              <a:t>parameters are already on</a:t>
            </a:r>
            <a:r>
              <a:rPr lang="en-US" altLang="zh-CN" sz="1800"/>
              <a:t> GPU</a:t>
            </a:r>
            <a:r>
              <a:rPr lang="zh-CN" altLang="en-US" sz="1800"/>
              <a:t> ; no communication with</a:t>
            </a:r>
            <a:r>
              <a:rPr lang="en-US" altLang="zh-CN" sz="1800"/>
              <a:t> CPU </a:t>
            </a:r>
            <a:r>
              <a:rPr lang="zh-CN" altLang="en-US" sz="1800"/>
              <a:t>is required.</a:t>
            </a:r>
            <a:endParaRPr lang="en-US" altLang="zh-CN" sz="1800"/>
          </a:p>
          <a:p>
            <a:pPr lvl="0"/>
            <a:r>
              <a:rPr lang="zh-CN" altLang="en-US" b="1"/>
              <a:t>Backward Pass</a:t>
            </a:r>
            <a:endParaRPr lang="en-US" altLang="zh-CN" b="1"/>
          </a:p>
          <a:p>
            <a:pPr lvl="1" algn="l"/>
            <a:r>
              <a:rPr lang="en-US" altLang="zh-CN" sz="1800"/>
              <a:t>On-the-fly transfer: Gradients are immediately sent to CPU in small groups as soon as they are computed.</a:t>
            </a:r>
          </a:p>
          <a:p>
            <a:pPr lvl="1" algn="l"/>
            <a:r>
              <a:rPr lang="en-US" altLang="zh-CN" sz="1800"/>
              <a:t>Pipeline parallelism: leverages asynchronous transfer to overlap gradient back-propagation with the remaining backward computation, hiding communication overhead.</a:t>
            </a:r>
          </a:p>
          <a:p>
            <a:pPr lvl="0"/>
            <a:r>
              <a:rPr lang="zh-CN" altLang="en-US" b="1"/>
              <a:t>Update Phase</a:t>
            </a:r>
          </a:p>
          <a:p>
            <a:pPr lvl="1" algn="l"/>
            <a:r>
              <a:rPr lang="en-US" altLang="zh-CN" sz="1800"/>
              <a:t>Directly update FP32 states (parameters, momentum, and variance) on the CPU.</a:t>
            </a:r>
          </a:p>
          <a:p>
            <a:pPr lvl="1" algn="l"/>
            <a:r>
              <a:rPr lang="en-US" altLang="zh-CN" sz="1800"/>
              <a:t>After the update, only convert the FP32 parameters back to the GPU and update them to FP16.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885" y="1132840"/>
            <a:ext cx="5323840" cy="18065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ZeRO-Offloading </a:t>
            </a:r>
            <a:r>
              <a:t>Multi-GPU Scaling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b="1"/>
              <a:t>Combining</a:t>
            </a:r>
            <a:r>
              <a:rPr lang="en-US" altLang="zh-CN" b="1"/>
              <a:t> ZeRO-2 "</a:t>
            </a:r>
            <a:r>
              <a:rPr lang="zh-CN" altLang="en-US" b="1"/>
              <a:t>state partitioning</a:t>
            </a:r>
            <a:r>
              <a:rPr lang="en-US" altLang="zh-CN" b="1"/>
              <a:t>"</a:t>
            </a:r>
            <a:r>
              <a:rPr lang="zh-CN" altLang="en-US" b="1"/>
              <a:t> with</a:t>
            </a:r>
            <a:r>
              <a:rPr lang="en-US" altLang="zh-CN" b="1"/>
              <a:t> Offload "</a:t>
            </a:r>
            <a:r>
              <a:rPr lang="zh-CN" altLang="en-US" b="1"/>
              <a:t>path redirection</a:t>
            </a:r>
            <a:r>
              <a:rPr lang="en-US" altLang="zh-CN" b="1"/>
              <a:t> "</a:t>
            </a:r>
            <a:r>
              <a:rPr lang="zh-CN" altLang="en-US" b="1"/>
              <a:t>.</a:t>
            </a:r>
          </a:p>
          <a:p>
            <a:pPr lvl="1"/>
            <a:endParaRPr lang="zh-CN" altLang="en-US" b="1"/>
          </a:p>
          <a:p>
            <a:endParaRPr lang="zh-CN" altLang="en-US" b="1"/>
          </a:p>
          <a:p>
            <a:endParaRPr lang="zh-CN" altLang="en-US" b="1"/>
          </a:p>
          <a:p>
            <a:r>
              <a:rPr lang="zh-CN" altLang="en-US"/>
              <a:t>Data Layout</a:t>
            </a:r>
            <a:endParaRPr lang="en-US" altLang="zh-CN"/>
          </a:p>
          <a:p>
            <a:pPr lvl="1"/>
            <a:r>
              <a:rPr lang="zh-CN" altLang="en-US" sz="1800"/>
              <a:t>Each</a:t>
            </a:r>
            <a:r>
              <a:rPr lang="en-US" altLang="zh-CN" sz="1800"/>
              <a:t> GPU</a:t>
            </a:r>
            <a:r>
              <a:rPr lang="zh-CN" altLang="en-US" sz="1800"/>
              <a:t> is only responsible for maintaining a partition of the parameters, </a:t>
            </a:r>
            <a:r>
              <a:rPr lang="en-US" altLang="zh-CN" sz="1800"/>
              <a:t>g</a:t>
            </a:r>
            <a:r>
              <a:rPr lang="zh-CN" altLang="en-US" sz="1800"/>
              <a:t>radients, and </a:t>
            </a:r>
            <a:r>
              <a:rPr lang="en-US" altLang="zh-CN" sz="1800"/>
              <a:t>o</a:t>
            </a:r>
            <a:r>
              <a:rPr lang="zh-CN" altLang="en-US" sz="1800"/>
              <a:t>ptimizer </a:t>
            </a:r>
            <a:r>
              <a:rPr lang="en-US" altLang="zh-CN" sz="1800"/>
              <a:t>s</a:t>
            </a:r>
            <a:r>
              <a:rPr lang="zh-CN" altLang="en-US" sz="1800"/>
              <a:t>tates.</a:t>
            </a:r>
            <a:endParaRPr lang="en-US" altLang="zh-CN" sz="1800"/>
          </a:p>
          <a:p>
            <a:pPr lvl="1"/>
            <a:r>
              <a:rPr lang="zh-CN" altLang="en-US" sz="1800"/>
              <a:t>The partition corresponding to each</a:t>
            </a:r>
            <a:r>
              <a:rPr lang="en-US" altLang="zh-CN" sz="1800"/>
              <a:t> GPU</a:t>
            </a:r>
            <a:r>
              <a:rPr lang="zh-CN" altLang="en-US" sz="1800"/>
              <a:t> is</a:t>
            </a:r>
            <a:r>
              <a:rPr lang="en-US" altLang="zh-CN" sz="1800"/>
              <a:t> offloaded </a:t>
            </a:r>
            <a:r>
              <a:rPr lang="zh-CN" altLang="en-US" sz="1800"/>
              <a:t>to its connected</a:t>
            </a:r>
            <a:r>
              <a:rPr lang="en-US" altLang="zh-CN" sz="1800"/>
              <a:t> CPU</a:t>
            </a:r>
            <a:r>
              <a:rPr lang="zh-CN" altLang="en-US" sz="1800"/>
              <a:t> memory.</a:t>
            </a:r>
          </a:p>
          <a:p>
            <a:r>
              <a:rPr lang="zh-CN" altLang="en-US"/>
              <a:t>Parallelism Advantage</a:t>
            </a:r>
            <a:endParaRPr lang="en-US" altLang="zh-CN"/>
          </a:p>
          <a:p>
            <a:pPr lvl="1" algn="l"/>
            <a:r>
              <a:rPr lang="zh-CN" altLang="en-US" sz="1800"/>
              <a:t>Constant Communication: The total communication volume does not grow as the number of GPU units increases.</a:t>
            </a:r>
          </a:p>
          <a:p>
            <a:pPr lvl="1" algn="l"/>
            <a:r>
              <a:rPr lang="zh-CN" altLang="en-US" sz="1800"/>
              <a:t>Compute Acceleration: Optimizer updates on the CPU side are processed in parallel across multiple CPU cores.</a:t>
            </a:r>
          </a:p>
          <a:p>
            <a:pPr lvl="1" algn="l"/>
            <a:r>
              <a:rPr lang="zh-CN" altLang="en-US" sz="1800"/>
              <a:t>The more GPUs are used, the less CPU computation each card shoulders, delivering exceptional scalability.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t="6083" b="21595"/>
          <a:stretch>
            <a:fillRect/>
          </a:stretch>
        </p:blipFill>
        <p:spPr>
          <a:xfrm>
            <a:off x="3004820" y="1807845"/>
            <a:ext cx="4702175" cy="173926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6817360" y="2466975"/>
            <a:ext cx="555371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/>
              <a:t>ZeRO-Offload data placement with multiple GPUs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ZeRO-Infinity</a:t>
            </a:r>
            <a:r>
              <a:t> Features and Capabilities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zh-CN" altLang="en-US" sz="2000"/>
              <a:t>Key Features</a:t>
            </a:r>
            <a:endParaRPr lang="en-US" altLang="zh-CN" sz="2000"/>
          </a:p>
          <a:p>
            <a:pPr lvl="1"/>
            <a:r>
              <a:rPr lang="zh-CN" altLang="en-US" sz="1800" b="1"/>
              <a:t>Unlimited Scale:</a:t>
            </a:r>
            <a:r>
              <a:rPr lang="en-US" altLang="zh-CN" sz="1800" b="1"/>
              <a:t> </a:t>
            </a:r>
            <a:r>
              <a:rPr lang="zh-CN" altLang="en-US" sz="1800" b="1"/>
              <a:t>Supports training models with hundreds of trillions of parameters on limited</a:t>
            </a:r>
            <a:r>
              <a:rPr lang="en-US" altLang="zh-CN" sz="1800" b="1"/>
              <a:t> GPU </a:t>
            </a:r>
            <a:r>
              <a:rPr lang="zh-CN" altLang="en-US" sz="1800" b="1"/>
              <a:t>resources</a:t>
            </a:r>
            <a:endParaRPr lang="zh-CN" altLang="en-US" sz="1800"/>
          </a:p>
          <a:p>
            <a:pPr lvl="2"/>
            <a:r>
              <a:rPr lang="zh-CN" altLang="en-US" sz="1400"/>
              <a:t>For example, training a model with over</a:t>
            </a:r>
            <a:r>
              <a:rPr lang="en-US" altLang="zh-CN" sz="1400"/>
              <a:t> 1 </a:t>
            </a:r>
            <a:r>
              <a:rPr lang="zh-CN" altLang="en-US" sz="1400"/>
              <a:t>trillion parameters on a single</a:t>
            </a:r>
            <a:r>
              <a:rPr lang="en-US" altLang="zh-CN" sz="1400"/>
              <a:t> GPU </a:t>
            </a:r>
            <a:r>
              <a:rPr lang="zh-CN" altLang="en-US" sz="1400"/>
              <a:t>node.</a:t>
            </a:r>
            <a:endParaRPr lang="en-US" altLang="zh-CN" sz="1400"/>
          </a:p>
          <a:p>
            <a:pPr lvl="1"/>
            <a:r>
              <a:rPr lang="zh-CN" altLang="en-US" sz="1800"/>
              <a:t>Extreme Heterogeneous Utilization:</a:t>
            </a:r>
            <a:r>
              <a:rPr lang="en-US" altLang="zh-CN" sz="1800"/>
              <a:t> </a:t>
            </a:r>
            <a:r>
              <a:rPr lang="zh-CN" altLang="en-US" sz="1800"/>
              <a:t>Treats </a:t>
            </a:r>
            <a:r>
              <a:rPr lang="en-US" altLang="zh-CN" sz="1800"/>
              <a:t>HBM</a:t>
            </a:r>
            <a:r>
              <a:rPr lang="zh-CN" altLang="en-US" sz="1800"/>
              <a:t>, </a:t>
            </a:r>
            <a:r>
              <a:rPr lang="en-US" altLang="zh-CN" sz="1800"/>
              <a:t>DRAM</a:t>
            </a:r>
            <a:r>
              <a:rPr lang="zh-CN" altLang="en-US" sz="1800"/>
              <a:t>, and </a:t>
            </a:r>
            <a:r>
              <a:rPr lang="en-US" altLang="zh-CN" sz="1800"/>
              <a:t>NVMe</a:t>
            </a:r>
            <a:r>
              <a:rPr lang="zh-CN" altLang="en-US" sz="1800"/>
              <a:t> as a unified memory hierarchy.</a:t>
            </a:r>
            <a:endParaRPr lang="en-US" altLang="zh-CN" sz="1800"/>
          </a:p>
          <a:p>
            <a:pPr lvl="1"/>
            <a:r>
              <a:rPr lang="en-US" altLang="zh-CN" sz="1800"/>
              <a:t>Compute Communication Overlap: The Infinity Offload Engine mitigates the low-bandwidth impact of NVMe/PCIe.</a:t>
            </a:r>
          </a:p>
          <a:p>
            <a:pPr lvl="1"/>
            <a:r>
              <a:rPr lang="zh-CN" altLang="en-US" sz="1800"/>
              <a:t>Ease of Use</a:t>
            </a:r>
            <a:r>
              <a:rPr lang="en-US" altLang="zh-CN" sz="1800"/>
              <a:t>: </a:t>
            </a:r>
            <a:r>
              <a:rPr lang="zh-CN" altLang="en-US" sz="1800"/>
              <a:t>No model refactoring required; developers can train large models just as writ</a:t>
            </a:r>
            <a:r>
              <a:rPr lang="en-US" altLang="zh-CN" sz="1800"/>
              <a:t>ing</a:t>
            </a:r>
            <a:r>
              <a:rPr lang="zh-CN" altLang="en-US" sz="1800"/>
              <a:t> </a:t>
            </a:r>
            <a:r>
              <a:rPr lang="en-US" altLang="zh-CN" sz="1800"/>
              <a:t>PyTorch </a:t>
            </a:r>
            <a:r>
              <a:rPr lang="zh-CN" altLang="en-US" sz="1800"/>
              <a:t>code.</a:t>
            </a:r>
          </a:p>
          <a:p>
            <a:r>
              <a:rPr lang="zh-CN" altLang="en-US" sz="2000"/>
              <a:t>Core Features</a:t>
            </a:r>
            <a:r>
              <a:rPr lang="en-US" altLang="zh-CN" sz="2000"/>
              <a:t> </a:t>
            </a:r>
          </a:p>
          <a:p>
            <a:pPr lvl="1"/>
            <a:r>
              <a:rPr lang="en-US" altLang="zh-CN" sz="1800" b="1"/>
              <a:t>ZeRO-3 </a:t>
            </a:r>
            <a:r>
              <a:rPr lang="zh-CN" altLang="en-US" sz="1800" b="1"/>
              <a:t>All-Round Optimization</a:t>
            </a:r>
            <a:r>
              <a:rPr lang="en-US" altLang="zh-CN" sz="1800" b="1"/>
              <a:t>: </a:t>
            </a:r>
            <a:r>
              <a:rPr lang="zh-CN" altLang="en-US" sz="1800"/>
              <a:t>Eliminate redundancy entirely by distributing parameters, </a:t>
            </a:r>
            <a:r>
              <a:rPr lang="en-US" altLang="zh-CN" sz="1800"/>
              <a:t>g</a:t>
            </a:r>
            <a:r>
              <a:rPr lang="zh-CN" altLang="en-US" sz="1800"/>
              <a:t>radients, and </a:t>
            </a:r>
            <a:r>
              <a:rPr lang="en-US" altLang="zh-CN" sz="1800"/>
              <a:t>o</a:t>
            </a:r>
            <a:r>
              <a:rPr lang="zh-CN" altLang="en-US" sz="1800"/>
              <a:t>ptimizer </a:t>
            </a:r>
            <a:r>
              <a:rPr lang="en-US" altLang="zh-CN" sz="1800"/>
              <a:t>s</a:t>
            </a:r>
            <a:r>
              <a:rPr lang="zh-CN" altLang="en-US" sz="1800"/>
              <a:t>tates across all heterogeneous storage media.</a:t>
            </a:r>
            <a:endParaRPr lang="en-US" altLang="zh-CN" sz="1800"/>
          </a:p>
          <a:p>
            <a:pPr lvl="1"/>
            <a:r>
              <a:rPr lang="zh-CN" altLang="en-US" sz="1800" b="1"/>
              <a:t>NVMe Memory Expansion</a:t>
            </a:r>
            <a:r>
              <a:rPr lang="en-US" altLang="zh-CN" sz="1800" b="1"/>
              <a:t>:</a:t>
            </a:r>
            <a:r>
              <a:rPr lang="en-US" altLang="zh-CN" sz="1800"/>
              <a:t> </a:t>
            </a:r>
            <a:r>
              <a:rPr lang="zh-CN" altLang="en-US" sz="1800"/>
              <a:t>Leverage NVMe storage for </a:t>
            </a:r>
            <a:r>
              <a:rPr lang="en-US" altLang="zh-CN" sz="1800"/>
              <a:t>o</a:t>
            </a:r>
            <a:r>
              <a:rPr lang="zh-CN" altLang="en-US" sz="1800"/>
              <a:t>ptimizer </a:t>
            </a:r>
            <a:r>
              <a:rPr lang="en-US" altLang="zh-CN" sz="1800"/>
              <a:t>s</a:t>
            </a:r>
            <a:r>
              <a:rPr lang="zh-CN" altLang="en-US" sz="1800"/>
              <a:t>tates and weights, breaking through the capacity constraints of DRAM.</a:t>
            </a:r>
            <a:endParaRPr lang="en-US" altLang="zh-CN" sz="1800"/>
          </a:p>
          <a:p>
            <a:pPr lvl="1"/>
            <a:r>
              <a:rPr lang="zh-CN" altLang="en-US" sz="1800" b="1"/>
              <a:t>Efficient Prefetching Mechanism</a:t>
            </a:r>
            <a:r>
              <a:rPr lang="en-US" altLang="zh-CN" sz="1800" b="1"/>
              <a:t>: </a:t>
            </a:r>
            <a:r>
              <a:rPr lang="zh-CN" altLang="en-US" sz="1800"/>
              <a:t>Prefetch the required parameters from slow storage (</a:t>
            </a:r>
            <a:r>
              <a:rPr lang="en-US" altLang="zh-CN" sz="1800"/>
              <a:t>NVMe/CPU</a:t>
            </a:r>
            <a:r>
              <a:rPr lang="zh-CN" altLang="en-US" sz="1800"/>
              <a:t>) before computing the next layer.</a:t>
            </a:r>
            <a:endParaRPr lang="en-US" altLang="zh-CN" sz="1800"/>
          </a:p>
          <a:p>
            <a:pPr lvl="1"/>
            <a:r>
              <a:rPr lang="zh-CN" altLang="en-US" sz="1800"/>
              <a:t>Data Parallelism and Operator Splitting： Supports automatic splitting of extremely large operators, ensuring that a single GPU can fit even the most massive network layers.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ZeRO-Infinity </a:t>
            </a:r>
            <a:r>
              <a:t>Overall Workflow</a:t>
            </a:r>
            <a:r>
              <a:rPr lang="en-US" altLang="zh-CN"/>
              <a:t> 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944870" cy="4853305"/>
          </a:xfrm>
        </p:spPr>
        <p:txBody>
          <a:bodyPr>
            <a:normAutofit fontScale="90000" lnSpcReduction="20000"/>
          </a:bodyPr>
          <a:lstStyle/>
          <a:p>
            <a:r>
              <a:rPr lang="zh-CN" altLang="en-US" sz="2000" b="1"/>
              <a:t>Step</a:t>
            </a:r>
            <a:r>
              <a:rPr lang="en-US" altLang="zh-CN" sz="2000" b="1"/>
              <a:t> 1</a:t>
            </a:r>
            <a:r>
              <a:rPr lang="zh-CN" altLang="en-US" sz="2000" b="1"/>
              <a:t>: Parameter Fetching</a:t>
            </a:r>
          </a:p>
          <a:p>
            <a:pPr lvl="1"/>
            <a:r>
              <a:rPr lang="zh-CN" altLang="en-US" sz="1800"/>
              <a:t>Each</a:t>
            </a:r>
            <a:r>
              <a:rPr lang="en-US" altLang="zh-CN" sz="1800"/>
              <a:t> GPU </a:t>
            </a:r>
            <a:r>
              <a:rPr lang="zh-CN" altLang="en-US" sz="1800"/>
              <a:t>holds only a small shard of the parameters for that layer.</a:t>
            </a:r>
          </a:p>
          <a:p>
            <a:pPr lvl="1"/>
            <a:r>
              <a:rPr lang="zh-CN" altLang="en-US" sz="1800"/>
              <a:t>The sharded parameters are moved from slow storage into the</a:t>
            </a:r>
            <a:r>
              <a:rPr lang="en-US" altLang="zh-CN" sz="1800"/>
              <a:t> GPU m</a:t>
            </a:r>
            <a:r>
              <a:rPr lang="zh-CN" altLang="en-US" sz="1800"/>
              <a:t>emory of </a:t>
            </a:r>
            <a:r>
              <a:rPr lang="zh-CN" altLang="en-US" sz="1780"/>
              <a:t>the corresponding device.</a:t>
            </a:r>
            <a:endParaRPr lang="zh-CN" altLang="en-US" sz="2400"/>
          </a:p>
          <a:p>
            <a:pPr lvl="0" algn="l"/>
            <a:r>
              <a:rPr lang="zh-CN" altLang="en-US" sz="2000" b="1"/>
              <a:t>Step 2: All-Gather</a:t>
            </a:r>
          </a:p>
          <a:p>
            <a:pPr lvl="1" algn="l"/>
            <a:r>
              <a:rPr lang="zh-CN" altLang="en-US" sz="1800"/>
              <a:t>The complete parameters of the Layer are temporarily assembled in the GPU </a:t>
            </a:r>
            <a:r>
              <a:rPr lang="en-US" altLang="zh-CN" sz="1800"/>
              <a:t>m</a:t>
            </a:r>
            <a:r>
              <a:rPr lang="zh-CN" altLang="en-US" sz="1800"/>
              <a:t>emory of every device.</a:t>
            </a:r>
          </a:p>
          <a:p>
            <a:pPr lvl="0" algn="l"/>
            <a:r>
              <a:rPr lang="zh-CN" altLang="en-US" sz="2000" b="1"/>
              <a:t>Step 3: Gradient Computation and Aggregation</a:t>
            </a:r>
          </a:p>
          <a:p>
            <a:pPr lvl="1" algn="l"/>
            <a:r>
              <a:rPr lang="zh-CN" altLang="en-US" sz="1800"/>
              <a:t>The </a:t>
            </a:r>
            <a:r>
              <a:rPr lang="en-US" altLang="zh-CN" sz="1800"/>
              <a:t>b</a:t>
            </a:r>
            <a:r>
              <a:rPr lang="zh-CN" altLang="en-US" sz="1800"/>
              <a:t>ackward </a:t>
            </a:r>
            <a:r>
              <a:rPr lang="en-US" altLang="zh-CN" sz="1800"/>
              <a:t>p</a:t>
            </a:r>
            <a:r>
              <a:rPr lang="zh-CN" altLang="en-US" sz="1800"/>
              <a:t>ass is performed using the complete parameters to generate </a:t>
            </a:r>
            <a:r>
              <a:rPr lang="en-US" altLang="zh-CN" sz="1800"/>
              <a:t>g</a:t>
            </a:r>
            <a:r>
              <a:rPr lang="zh-CN" altLang="en-US" sz="1800"/>
              <a:t>radients.</a:t>
            </a:r>
          </a:p>
          <a:p>
            <a:pPr lvl="1" algn="l"/>
            <a:r>
              <a:rPr lang="zh-CN" altLang="en-US" sz="1800"/>
              <a:t>Each GPU ultimately retains only the shard of </a:t>
            </a:r>
            <a:r>
              <a:rPr lang="en-US" altLang="zh-CN" sz="1800"/>
              <a:t>g</a:t>
            </a:r>
            <a:r>
              <a:rPr lang="zh-CN" altLang="en-US" sz="1800"/>
              <a:t>radients it is responsible for.</a:t>
            </a:r>
          </a:p>
          <a:p>
            <a:pPr lvl="0" algn="l"/>
            <a:r>
              <a:rPr lang="zh-CN" altLang="en-US" sz="2000" b="1"/>
              <a:t>Step 4: Gradient Write-Back</a:t>
            </a:r>
          </a:p>
          <a:p>
            <a:pPr lvl="1" algn="l"/>
            <a:r>
              <a:rPr lang="zh-CN" altLang="en-US" sz="1800"/>
              <a:t>The aggregated gradient shards are written back from GPU </a:t>
            </a:r>
            <a:r>
              <a:rPr lang="en-US" altLang="zh-CN" sz="1800"/>
              <a:t>m</a:t>
            </a:r>
            <a:r>
              <a:rPr lang="zh-CN" altLang="en-US" sz="1800"/>
              <a:t>emory to slow storage.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655" y="1214120"/>
            <a:ext cx="5357495" cy="52851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ZeRO-Infinity </a:t>
            </a:r>
            <a:r>
              <a:rPr lang="zh-CN" altLang="en-US"/>
              <a:t>Efficiency Optimization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sz="1800" b="1"/>
              <a:t>1. </a:t>
            </a:r>
            <a:r>
              <a:rPr lang="zh-CN" altLang="en-US" sz="1800" b="1"/>
              <a:t>Bandwidth-Centric Parallel Partitioning</a:t>
            </a:r>
            <a:endParaRPr lang="en-US" altLang="zh-CN" sz="1800" b="1"/>
          </a:p>
          <a:p>
            <a:pPr lvl="1"/>
            <a:r>
              <a:rPr lang="zh-CN" altLang="en-US" sz="1600"/>
              <a:t>Abandon</a:t>
            </a:r>
            <a:r>
              <a:rPr lang="en-US" altLang="zh-CN" sz="1600"/>
              <a:t> ZeRO-Offload</a:t>
            </a:r>
            <a:r>
              <a:rPr lang="zh-CN" altLang="en-US" sz="1600"/>
              <a:t> single-owner</a:t>
            </a:r>
            <a:r>
              <a:rPr lang="en-US" altLang="zh-CN" sz="1600"/>
              <a:t>/</a:t>
            </a:r>
            <a:r>
              <a:rPr lang="zh-CN" altLang="en-US" sz="1600"/>
              <a:t>broadcast model, and store each parameter as shards </a:t>
            </a:r>
            <a:br>
              <a:rPr lang="zh-CN" altLang="en-US" sz="1600"/>
            </a:br>
            <a:r>
              <a:rPr lang="zh-CN" altLang="en-US" sz="1600"/>
              <a:t>distributed across all </a:t>
            </a:r>
            <a:r>
              <a:rPr lang="en-US" altLang="zh-CN" sz="1600"/>
              <a:t>DP rank </a:t>
            </a:r>
            <a:r>
              <a:rPr lang="zh-CN" altLang="en-US" sz="1600"/>
              <a:t>nodes.</a:t>
            </a:r>
          </a:p>
          <a:p>
            <a:pPr lvl="1"/>
            <a:r>
              <a:rPr lang="zh-CN" altLang="en-US" sz="1600"/>
              <a:t>Parallel</a:t>
            </a:r>
            <a:r>
              <a:rPr lang="en-US" altLang="zh-CN" sz="1600"/>
              <a:t> PCIe </a:t>
            </a:r>
            <a:r>
              <a:rPr lang="zh-CN" altLang="en-US" sz="1600"/>
              <a:t>throughput:</a:t>
            </a:r>
            <a:r>
              <a:rPr lang="en-US" altLang="zh-CN" sz="1600"/>
              <a:t> </a:t>
            </a:r>
            <a:r>
              <a:rPr lang="zh-CN" altLang="en-US" sz="1600"/>
              <a:t>Engaging all</a:t>
            </a:r>
            <a:r>
              <a:rPr lang="en-US" altLang="zh-CN" sz="1600"/>
              <a:t> PCIe </a:t>
            </a:r>
            <a:r>
              <a:rPr lang="zh-CN" altLang="en-US" sz="1600"/>
              <a:t>lanes across all nodes simultaneously for parallel reads,</a:t>
            </a:r>
            <a:br>
              <a:rPr lang="zh-CN" altLang="en-US" sz="1600"/>
            </a:br>
            <a:r>
              <a:rPr lang="zh-CN" altLang="en-US" sz="1600"/>
              <a:t> with effective bandwidth scaling linearly with the</a:t>
            </a:r>
            <a:r>
              <a:rPr lang="en-US" altLang="zh-CN" sz="1600"/>
              <a:t> DP </a:t>
            </a:r>
            <a:r>
              <a:rPr lang="zh-CN" altLang="en-US" sz="1600"/>
              <a:t>degree.</a:t>
            </a:r>
            <a:endParaRPr lang="zh-CN" altLang="en-US" sz="1400"/>
          </a:p>
          <a:p>
            <a:pPr lvl="0" algn="l"/>
            <a:r>
              <a:rPr lang="en-US" altLang="zh-CN" sz="1800" b="1"/>
              <a:t>2. Full End-to-End Pipeline Overlap Design</a:t>
            </a:r>
          </a:p>
          <a:p>
            <a:pPr lvl="1" algn="l"/>
            <a:r>
              <a:rPr lang="zh-CN" altLang="en-US" sz="1600"/>
              <a:t>Three-Level Prefetch Engine:</a:t>
            </a:r>
            <a:r>
              <a:rPr lang="en-US" altLang="zh-CN" sz="1600"/>
              <a:t> </a:t>
            </a:r>
            <a:r>
              <a:rPr lang="zh-CN" altLang="en-US" sz="1600"/>
              <a:t>NVMe → CPU, CPU → GPU, and GPU ↔ GPU.</a:t>
            </a:r>
          </a:p>
          <a:p>
            <a:pPr lvl="2" algn="l"/>
            <a:r>
              <a:rPr lang="zh-CN" altLang="en-US" sz="1280"/>
              <a:t>Example: While executing operator i, concurrently prefetch the GPU communication for i+1, the GPU Memory copy for i+2, and the disk read for i+3.</a:t>
            </a:r>
          </a:p>
          <a:p>
            <a:pPr lvl="1" algn="l"/>
            <a:r>
              <a:rPr lang="zh-CN" altLang="en-US" sz="1600"/>
              <a:t>Dynamic Flow Awareness: Builds operator mapping tables in real time, supporting complex or dynamically changing computation graphs to mask data movement overhead.</a:t>
            </a:r>
            <a:endParaRPr lang="zh-CN" altLang="en-US" sz="1400"/>
          </a:p>
          <a:p>
            <a:pPr lvl="0" algn="l"/>
            <a:r>
              <a:rPr lang="en-US" altLang="zh-CN" sz="1800" b="1"/>
              <a:t>3. Infinity Offload Engine and Optimizations</a:t>
            </a:r>
          </a:p>
          <a:p>
            <a:pPr lvl="1" algn="l"/>
            <a:r>
              <a:rPr lang="zh-CN" altLang="en-US" sz="1600"/>
              <a:t>DeepNVMe Library: A high-performance C++ asynchronous I/O library that achieves maximum NVMe read/write performance through request parallelization, intelligent scheduling, and zero-copy technology.</a:t>
            </a:r>
          </a:p>
          <a:p>
            <a:pPr lvl="1" algn="l"/>
            <a:r>
              <a:rPr lang="zh-CN" altLang="en-US" sz="1600"/>
              <a:t>Pinned Memory Management: </a:t>
            </a:r>
          </a:p>
          <a:p>
            <a:pPr lvl="2" algn="l"/>
            <a:r>
              <a:rPr lang="zh-CN" altLang="en-US" sz="1280"/>
              <a:t>Minimal memory footprint: Only tens of GB of pinned buffers are required to manage tens of TB of model states, completely eliminating memory fragmentation.</a:t>
            </a:r>
          </a:p>
          <a:p>
            <a:pPr lvl="2" algn="l"/>
            <a:r>
              <a:rPr lang="zh-CN" altLang="en-US" sz="1280"/>
              <a:t>In-place Computation: Supports optimizer updates directly within buffers, eliminating unnecessary memory copies and improving end-to-end throughput.</a:t>
            </a:r>
          </a:p>
          <a:p>
            <a:pPr lvl="1" algn="l"/>
            <a:endParaRPr lang="zh-CN" altLang="en-US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3080" y="711200"/>
            <a:ext cx="2239645" cy="27178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DeepSpeed ZeRO-Offloading &amp; Infinity </a:t>
            </a:r>
            <a:r>
              <a:t>Code Examples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17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595" y="1751330"/>
            <a:ext cx="2653665" cy="41148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0330" y="2318385"/>
            <a:ext cx="3242945" cy="29813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6345" y="1219200"/>
            <a:ext cx="3828415" cy="481393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889635" y="5996940"/>
            <a:ext cx="25215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/>
              <a:t>DeepSpeed</a:t>
            </a:r>
            <a:r>
              <a:rPr lang="zh-CN" altLang="en-US" sz="1600"/>
              <a:t> Configuration</a:t>
            </a:r>
            <a:endParaRPr lang="en-US" altLang="zh-CN" sz="1600"/>
          </a:p>
          <a:p>
            <a:pPr algn="ctr"/>
            <a:r>
              <a:rPr lang="en-US" altLang="zh-CN" sz="1600" b="1"/>
              <a:t>ZeRO-Offload (Stage 2)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3910330" y="5996940"/>
            <a:ext cx="32200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/>
              <a:t>DeepSpeed </a:t>
            </a:r>
            <a:r>
              <a:rPr lang="zh-CN" altLang="en-US" sz="1600"/>
              <a:t>Configuration</a:t>
            </a:r>
            <a:endParaRPr lang="en-US" altLang="zh-CN" sz="1600"/>
          </a:p>
          <a:p>
            <a:pPr algn="ctr"/>
            <a:r>
              <a:rPr lang="en-US" altLang="zh-CN" sz="1600" b="1"/>
              <a:t>ZeRO-Infinity (Stage 3 + NVMe)</a:t>
            </a: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7780655" y="6155690"/>
            <a:ext cx="32200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/>
              <a:t>Training Code Examples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VjMjNiN2ZkZTMzMDA4ZWE3OTY1NzI2MTg5NDIzY2IifQ=="/>
  <p:tag name="KSO_WPP_MARK_KEY" val="bcc4c946-421a-4a56-a7c9-e84bf867b56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7.65,&quot;left&quot;:6.7,&quot;top&quot;:302.3,&quot;width&quot;:930.8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7.65,&quot;left&quot;:6.7,&quot;top&quot;:302.3,&quot;width&quot;:930.8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7.65,&quot;left&quot;:6.7,&quot;top&quot;:302.3,&quot;width&quot;:930.8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7.65,&quot;left&quot;:6.7,&quot;top&quot;:302.3,&quot;width&quot;:930.8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3.1,&quot;left&quot;:6.7,&quot;top&quot;:302.3,&quot;width&quot;:930.8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3.1,&quot;left&quot;:6.7,&quot;top&quot;:302.3,&quot;width&quot;:930.8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3.1,&quot;left&quot;:6.7,&quot;top&quot;:302.3,&quot;width&quot;:930.8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3.1,&quot;left&quot;:6.7,&quot;top&quot;:302.3,&quot;width&quot;:930.8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3.1,&quot;left&quot;:6.7,&quot;top&quot;:302.3,&quot;width&quot;:930.8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3.1,&quot;left&quot;:6.7,&quot;top&quot;:302.3,&quot;width&quot;:930.8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3.1,&quot;left&quot;:6.7,&quot;top&quot;:302.3,&quot;width&quot;:930.8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3.1,&quot;left&quot;:6.7,&quot;top&quot;:302.3,&quot;width&quot;:930.8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封面</Template>
  <TotalTime>0</TotalTime>
  <Words>2485</Words>
  <Application>Microsoft Office PowerPoint</Application>
  <PresentationFormat>宽屏</PresentationFormat>
  <Paragraphs>289</Paragraphs>
  <Slides>20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等线</vt:lpstr>
      <vt:lpstr>微软雅黑</vt:lpstr>
      <vt:lpstr>文泉驿微米黑</vt:lpstr>
      <vt:lpstr>Arial</vt:lpstr>
      <vt:lpstr>Calibri</vt:lpstr>
      <vt:lpstr>Calibri Light</vt:lpstr>
      <vt:lpstr>Cambria Math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35: GPU Memory Optimization Techniques</vt:lpstr>
      <vt:lpstr>Outlines</vt:lpstr>
      <vt:lpstr>Background: LLM Training GPU Memory Overhead</vt:lpstr>
      <vt:lpstr>Background: Memory Mechanisms of the Backward Pass</vt:lpstr>
      <vt:lpstr>Background: Memory Mechanisms of the Backward Pass</vt:lpstr>
      <vt:lpstr>Gradient Checkpointing</vt:lpstr>
      <vt:lpstr>Gradient Checkpoint Code</vt:lpstr>
      <vt:lpstr>Offloading </vt:lpstr>
      <vt:lpstr>Large Model Training Offloading Technology Comparison</vt:lpstr>
      <vt:lpstr>DeepSpeed ZeRO-Offloading</vt:lpstr>
      <vt:lpstr>ZeRO-Offloading Single-GPU Scheduling</vt:lpstr>
      <vt:lpstr>ZeRO-Offloading Multi-GPU Scaling</vt:lpstr>
      <vt:lpstr>ZeRO-Infinity Features and Capabilities</vt:lpstr>
      <vt:lpstr>ZeRO-Infinity Overall Workflow </vt:lpstr>
      <vt:lpstr>ZeRO-Infinity Efficiency Optimization</vt:lpstr>
      <vt:lpstr>DeepSpeed ZeRO-Offloading &amp; Infinity Code Examples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容错域量子EDA研究</dc:title>
  <dc:creator>王丰</dc:creator>
  <cp:lastModifiedBy>Xiang Li</cp:lastModifiedBy>
  <cp:revision>2448</cp:revision>
  <dcterms:created xsi:type="dcterms:W3CDTF">2026-03-12T03:02:00Z</dcterms:created>
  <dcterms:modified xsi:type="dcterms:W3CDTF">2026-03-17T14:54:55Z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5A1B8D5FDD5B31E36B679269490C2DB4_43</vt:lpwstr>
  </property>
  <property fmtid="{D5CDD505-2E9C-101B-9397-08002B2CF9AE}" pid="3" name="KSOProductBuildVer">
    <vt:lpwstr>2052-12.1.0.19302</vt:lpwstr>
  </property>
</Properties>
</file>