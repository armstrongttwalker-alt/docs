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37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277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428"/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3"/>
    <p:restoredTop sz="91925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9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9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9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908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85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6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86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87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1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5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5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6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7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7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8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9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9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0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0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0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2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2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3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3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3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4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https://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zhuanlan.zhihu.com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/p/1976385706453652306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4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4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5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https://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zhuanlan.zhihu.com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/p/1976385706453652306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5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194795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821707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docs.pytorch.org/tutorials/intermediate/FSDP_tutorial.html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rxiv.org/abs/2304.1127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337589/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Optimization-of-Collective-Reduction-Operations-Rabenseifner/e2584fdc3f9e696423d96522038f3fa35137ab9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2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31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30.png"/><Relationship Id="rId29" Type="http://schemas.openxmlformats.org/officeDocument/2006/relationships/image" Target="../media/image35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33.png"/><Relationship Id="rId28" Type="http://schemas.openxmlformats.org/officeDocument/2006/relationships/image" Target="../media/image34.jpeg"/><Relationship Id="rId10" Type="http://schemas.openxmlformats.org/officeDocument/2006/relationships/tags" Target="../tags/tag19.xml"/><Relationship Id="rId19" Type="http://schemas.openxmlformats.org/officeDocument/2006/relationships/image" Target="../media/image29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32.png"/><Relationship Id="rId27" Type="http://schemas.openxmlformats.org/officeDocument/2006/relationships/hyperlink" Target="https://flagos.io/Hom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32: Communication Topology Optimization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Implementations of collective communication operators</a:t>
            </a:r>
            <a:endParaRPr kumimoji="1" lang="zh-CN" altLang="en-US" dirty="0"/>
          </a:p>
        </p:txBody>
      </p:sp>
      <p:sp>
        <p:nvSpPr>
          <p:cNvPr id="104884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3"/>
              </a:rPr>
              <a:t>https://docs.pytorch.org/tutorials/intermediate/FSDP_tutorial.html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4"/>
              </a:rPr>
              <a:t>https://arxiv.org/abs/2304.11277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8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221" name="Picture 4" descr="FSDP all-gather and reduce-scatter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0734" y="1343025"/>
            <a:ext cx="3116417" cy="1711189"/>
          </a:xfrm>
          <a:prstGeom prst="rect">
            <a:avLst/>
          </a:prstGeom>
          <a:noFill/>
        </p:spPr>
      </p:pic>
      <p:sp>
        <p:nvSpPr>
          <p:cNvPr id="1048848" name="文本框 12"/>
          <p:cNvSpPr txBox="1"/>
          <p:nvPr/>
        </p:nvSpPr>
        <p:spPr>
          <a:xfrm>
            <a:off x="419100" y="3186033"/>
            <a:ext cx="415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All-reduce = Reduce-scatter + all-gather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22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68" y="3554049"/>
            <a:ext cx="3740149" cy="2209716"/>
          </a:xfrm>
          <a:prstGeom prst="rect">
            <a:avLst/>
          </a:prstGeom>
        </p:spPr>
      </p:pic>
      <p:sp>
        <p:nvSpPr>
          <p:cNvPr id="1048849" name="文本框 13"/>
          <p:cNvSpPr txBox="1"/>
          <p:nvPr/>
        </p:nvSpPr>
        <p:spPr>
          <a:xfrm>
            <a:off x="1696383" y="5758487"/>
            <a:ext cx="160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Ring All-reduce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30" name="组合 9"/>
          <p:cNvGrpSpPr/>
          <p:nvPr/>
        </p:nvGrpSpPr>
        <p:grpSpPr>
          <a:xfrm>
            <a:off x="7463045" y="1343025"/>
            <a:ext cx="3740149" cy="1960850"/>
            <a:chOff x="8073488" y="2124816"/>
            <a:chExt cx="3594638" cy="1817234"/>
          </a:xfrm>
        </p:grpSpPr>
        <p:pic>
          <p:nvPicPr>
            <p:cNvPr id="2097223" name="Picture 2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8073488" y="2124816"/>
              <a:ext cx="3594638" cy="1817234"/>
            </a:xfrm>
            <a:prstGeom prst="rect">
              <a:avLst/>
            </a:prstGeom>
            <a:noFill/>
          </p:spPr>
        </p:pic>
        <p:sp>
          <p:nvSpPr>
            <p:cNvPr id="1048850" name="矩形 6"/>
            <p:cNvSpPr/>
            <p:nvPr/>
          </p:nvSpPr>
          <p:spPr>
            <a:xfrm>
              <a:off x="11008360" y="2153920"/>
              <a:ext cx="619760" cy="10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48851" name="文本框 17"/>
          <p:cNvSpPr txBox="1"/>
          <p:nvPr/>
        </p:nvSpPr>
        <p:spPr>
          <a:xfrm>
            <a:off x="7960788" y="3322541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NVIDIA GPU CLOS Topology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24" name="Picture 4" descr="Huawei Presents UB-Mesh Interconnect for Large AI SuperNodes at Hot Chips  2025 - ServeTheHome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368928" y="3710539"/>
            <a:ext cx="3928383" cy="2209716"/>
          </a:xfrm>
          <a:prstGeom prst="rect">
            <a:avLst/>
          </a:prstGeom>
          <a:noFill/>
        </p:spPr>
      </p:pic>
      <p:sp>
        <p:nvSpPr>
          <p:cNvPr id="1048852" name="文本框 19"/>
          <p:cNvSpPr txBox="1"/>
          <p:nvPr/>
        </p:nvSpPr>
        <p:spPr>
          <a:xfrm>
            <a:off x="7680263" y="5759286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HUAWEI NPU Full-mesh Topology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53" name="文本框 14"/>
          <p:cNvSpPr txBox="1"/>
          <p:nvPr/>
        </p:nvSpPr>
        <p:spPr>
          <a:xfrm>
            <a:off x="4554466" y="2736607"/>
            <a:ext cx="2744663" cy="182719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zh-CN" altLang="en-US" dirty="0"/>
          </a:p>
        </p:txBody>
      </p:sp>
      <p:sp>
        <p:nvSpPr>
          <p:cNvPr id="1048854" name="文本框 22"/>
          <p:cNvSpPr txBox="1"/>
          <p:nvPr/>
        </p:nvSpPr>
        <p:spPr>
          <a:xfrm>
            <a:off x="2921874" y="3075677"/>
            <a:ext cx="6109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The implementations </a:t>
            </a:r>
          </a:p>
          <a:p>
            <a:pPr algn="ctr"/>
            <a:r>
              <a:rPr kumimoji="1" lang="en-US" altLang="zh-CN" dirty="0"/>
              <a:t>highly depends on </a:t>
            </a:r>
          </a:p>
          <a:p>
            <a:pPr algn="ctr"/>
            <a:r>
              <a:rPr kumimoji="1" lang="en-US" altLang="zh-CN" dirty="0"/>
              <a:t>the hardware topology  </a:t>
            </a:r>
            <a:endParaRPr kumimoji="1" lang="zh-CN" alt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Topologies in the modern AI systems </a:t>
            </a:r>
            <a:endParaRPr kumimoji="1" lang="zh-CN" altLang="en-US" dirty="0"/>
          </a:p>
        </p:txBody>
      </p:sp>
      <p:sp>
        <p:nvSpPr>
          <p:cNvPr id="104885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3"/>
              </a:rPr>
              <a:t>https://ieeexplore.ieee.org/document/6337589/</a:t>
            </a:r>
            <a:endParaRPr lang="en-US" altLang="zh-CN" dirty="0"/>
          </a:p>
        </p:txBody>
      </p:sp>
      <p:sp>
        <p:nvSpPr>
          <p:cNvPr id="104886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grpSp>
        <p:nvGrpSpPr>
          <p:cNvPr id="134" name="组合 15"/>
          <p:cNvGrpSpPr/>
          <p:nvPr/>
        </p:nvGrpSpPr>
        <p:grpSpPr>
          <a:xfrm>
            <a:off x="1253472" y="1275212"/>
            <a:ext cx="9166321" cy="4938480"/>
            <a:chOff x="2045952" y="1283851"/>
            <a:chExt cx="9166321" cy="4938480"/>
          </a:xfrm>
        </p:grpSpPr>
        <p:grpSp>
          <p:nvGrpSpPr>
            <p:cNvPr id="135" name="组合 9"/>
            <p:cNvGrpSpPr/>
            <p:nvPr/>
          </p:nvGrpSpPr>
          <p:grpSpPr>
            <a:xfrm>
              <a:off x="2140069" y="1336130"/>
              <a:ext cx="3740149" cy="1960850"/>
              <a:chOff x="8073488" y="2124816"/>
              <a:chExt cx="3594638" cy="1817234"/>
            </a:xfrm>
          </p:grpSpPr>
          <p:pic>
            <p:nvPicPr>
              <p:cNvPr id="2097225" name="Picture 2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8073488" y="2124816"/>
                <a:ext cx="3594638" cy="1817234"/>
              </a:xfrm>
              <a:prstGeom prst="rect">
                <a:avLst/>
              </a:prstGeom>
              <a:noFill/>
            </p:spPr>
          </p:pic>
          <p:sp>
            <p:nvSpPr>
              <p:cNvPr id="1048861" name="矩形 6"/>
              <p:cNvSpPr/>
              <p:nvPr/>
            </p:nvSpPr>
            <p:spPr>
              <a:xfrm>
                <a:off x="11008360" y="2153920"/>
                <a:ext cx="619760" cy="101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048862" name="文本框 17"/>
            <p:cNvSpPr txBox="1"/>
            <p:nvPr/>
          </p:nvSpPr>
          <p:spPr>
            <a:xfrm>
              <a:off x="7825972" y="3246334"/>
              <a:ext cx="2878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GOOGLE TPU Torus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2097226" name="Picture 4" descr="Huawei Presents UB-Mesh Interconnect for Large AI SuperNodes at Hot Chips  2025 - ServeTheHome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045952" y="3703644"/>
              <a:ext cx="3928383" cy="2209716"/>
            </a:xfrm>
            <a:prstGeom prst="rect">
              <a:avLst/>
            </a:prstGeom>
            <a:noFill/>
          </p:spPr>
        </p:pic>
        <p:sp>
          <p:nvSpPr>
            <p:cNvPr id="1048863" name="文本框 19"/>
            <p:cNvSpPr txBox="1"/>
            <p:nvPr/>
          </p:nvSpPr>
          <p:spPr>
            <a:xfrm>
              <a:off x="2357287" y="5752391"/>
              <a:ext cx="3305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HUAWEI NPU Full-mesh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2097227" name="图片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8023" y="1283851"/>
              <a:ext cx="3894250" cy="2013129"/>
            </a:xfrm>
            <a:prstGeom prst="rect">
              <a:avLst/>
            </a:prstGeom>
          </p:spPr>
        </p:pic>
        <p:sp>
          <p:nvSpPr>
            <p:cNvPr id="1048864" name="文本框 20"/>
            <p:cNvSpPr txBox="1"/>
            <p:nvPr/>
          </p:nvSpPr>
          <p:spPr>
            <a:xfrm>
              <a:off x="2680131" y="3296980"/>
              <a:ext cx="2660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NVIDIA GPU Clos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2097228" name="图片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51081" y="3615666"/>
              <a:ext cx="2978023" cy="2250947"/>
            </a:xfrm>
            <a:prstGeom prst="rect">
              <a:avLst/>
            </a:prstGeom>
          </p:spPr>
        </p:pic>
        <p:sp>
          <p:nvSpPr>
            <p:cNvPr id="1048865" name="文本框 21"/>
            <p:cNvSpPr txBox="1"/>
            <p:nvPr/>
          </p:nvSpPr>
          <p:spPr>
            <a:xfrm>
              <a:off x="8270807" y="5852999"/>
              <a:ext cx="1988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Dragonfly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87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872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 naive implementation with root rank = 0.</a:t>
            </a:r>
          </a:p>
          <a:p>
            <a:pPr lvl="1"/>
            <a:r>
              <a:rPr lang="en-US" altLang="zh-CN" dirty="0"/>
              <a:t>Data transfer volume: 2 * (N-1) * K</a:t>
            </a:r>
          </a:p>
          <a:p>
            <a:r>
              <a:rPr lang="en-US" altLang="zh-CN" dirty="0"/>
              <a:t>There are three disadvantages</a:t>
            </a:r>
          </a:p>
          <a:p>
            <a:pPr lvl="1"/>
            <a:r>
              <a:rPr lang="en-US" altLang="zh-CN" dirty="0"/>
              <a:t>The bandwidth and computation of Rank 0 become bottleneck.</a:t>
            </a:r>
          </a:p>
          <a:p>
            <a:pPr lvl="1"/>
            <a:r>
              <a:rPr lang="en-US" altLang="zh-CN" dirty="0"/>
              <a:t>There are many idle resources during the </a:t>
            </a:r>
            <a:r>
              <a:rPr lang="en-US" altLang="zh-CN" dirty="0" err="1"/>
              <a:t>allreduce</a:t>
            </a:r>
            <a:r>
              <a:rPr lang="en-US" altLang="zh-CN" dirty="0"/>
              <a:t> (Rank 1 – N-1).</a:t>
            </a:r>
          </a:p>
          <a:p>
            <a:pPr lvl="1"/>
            <a:r>
              <a:rPr lang="en-US" altLang="zh-CN" dirty="0"/>
              <a:t>Poor scalability and lacks the consideration of topology.</a:t>
            </a:r>
          </a:p>
          <a:p>
            <a:r>
              <a:rPr lang="en-US" altLang="zh-CN" dirty="0"/>
              <a:t>How can we improve it?</a:t>
            </a:r>
          </a:p>
          <a:p>
            <a:pPr lvl="1"/>
            <a:r>
              <a:rPr lang="en-US" altLang="zh-CN" dirty="0"/>
              <a:t>Scatter the data transfer and computation</a:t>
            </a:r>
            <a:r>
              <a:rPr lang="zh-CN" altLang="en-US" dirty="0"/>
              <a:t> </a:t>
            </a:r>
            <a:r>
              <a:rPr lang="en-US" altLang="zh-CN" dirty="0"/>
              <a:t>workload to all of the ranks.</a:t>
            </a:r>
          </a:p>
          <a:p>
            <a:r>
              <a:rPr lang="en-US" altLang="zh-CN" dirty="0"/>
              <a:t>Solutions:</a:t>
            </a:r>
          </a:p>
          <a:p>
            <a:pPr lvl="1"/>
            <a:r>
              <a:rPr lang="en-US" altLang="zh-CN" dirty="0"/>
              <a:t>Tree-based, ring-based, halving-doubling, etc.</a:t>
            </a:r>
          </a:p>
        </p:txBody>
      </p:sp>
      <p:pic>
        <p:nvPicPr>
          <p:cNvPr id="209722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217" y="1402079"/>
            <a:ext cx="3581217" cy="38713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87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879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Tree-based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 hierarchical relation with the root of tree (Rank 0).</a:t>
            </a:r>
          </a:p>
          <a:p>
            <a:pPr lvl="1"/>
            <a:r>
              <a:rPr lang="en-US" altLang="zh-CN" dirty="0"/>
              <a:t>Stage 1: Bottom-up Reduce</a:t>
            </a:r>
          </a:p>
          <a:p>
            <a:pPr lvl="1"/>
            <a:r>
              <a:rPr lang="en-US" altLang="zh-CN" dirty="0"/>
              <a:t>Stage 2: Top-down Broadcast</a:t>
            </a:r>
          </a:p>
        </p:txBody>
      </p:sp>
      <p:pic>
        <p:nvPicPr>
          <p:cNvPr id="209723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</p:spPr>
      </p:pic>
      <p:sp>
        <p:nvSpPr>
          <p:cNvPr id="1048880" name="矩形 6"/>
          <p:cNvSpPr/>
          <p:nvPr/>
        </p:nvSpPr>
        <p:spPr>
          <a:xfrm>
            <a:off x="1107164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048881" name="矩形 8"/>
          <p:cNvSpPr/>
          <p:nvPr/>
        </p:nvSpPr>
        <p:spPr>
          <a:xfrm>
            <a:off x="19696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882" name="矩形 9"/>
          <p:cNvSpPr/>
          <p:nvPr/>
        </p:nvSpPr>
        <p:spPr>
          <a:xfrm>
            <a:off x="28369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48883" name="矩形 10"/>
          <p:cNvSpPr/>
          <p:nvPr/>
        </p:nvSpPr>
        <p:spPr>
          <a:xfrm>
            <a:off x="3694652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884" name="矩形 11"/>
          <p:cNvSpPr/>
          <p:nvPr/>
        </p:nvSpPr>
        <p:spPr>
          <a:xfrm>
            <a:off x="4552344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1048885" name="矩形 12"/>
          <p:cNvSpPr/>
          <p:nvPr/>
        </p:nvSpPr>
        <p:spPr>
          <a:xfrm>
            <a:off x="5410036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886" name="矩形 13"/>
          <p:cNvSpPr/>
          <p:nvPr/>
        </p:nvSpPr>
        <p:spPr>
          <a:xfrm>
            <a:off x="6267728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48887" name="矩形 14"/>
          <p:cNvSpPr/>
          <p:nvPr/>
        </p:nvSpPr>
        <p:spPr>
          <a:xfrm>
            <a:off x="712542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28" name="曲线连接符 16"/>
          <p:cNvCxnSpPr>
            <a:stCxn id="1048881" idx="2"/>
            <a:endCxn id="1048880" idx="2"/>
          </p:cNvCxnSpPr>
          <p:nvPr/>
        </p:nvCxnSpPr>
        <p:spPr>
          <a:xfrm rot="5400000">
            <a:off x="1969660" y="3251752"/>
            <a:ext cx="12700" cy="86249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曲线连接符 17"/>
          <p:cNvCxnSpPr>
            <a:stCxn id="1048883" idx="2"/>
            <a:endCxn id="1048882" idx="2"/>
          </p:cNvCxnSpPr>
          <p:nvPr/>
        </p:nvCxnSpPr>
        <p:spPr>
          <a:xfrm rot="5400000">
            <a:off x="3697054" y="3254154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曲线连接符 20"/>
          <p:cNvCxnSpPr>
            <a:stCxn id="1048885" idx="2"/>
            <a:endCxn id="1048884" idx="2"/>
          </p:cNvCxnSpPr>
          <p:nvPr/>
        </p:nvCxnSpPr>
        <p:spPr>
          <a:xfrm rot="5400000">
            <a:off x="5412438" y="3254154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曲线连接符 23"/>
          <p:cNvCxnSpPr>
            <a:stCxn id="1048887" idx="2"/>
            <a:endCxn id="1048886" idx="2"/>
          </p:cNvCxnSpPr>
          <p:nvPr/>
        </p:nvCxnSpPr>
        <p:spPr>
          <a:xfrm rot="5400000">
            <a:off x="7127822" y="3254154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8" name="矩形 26"/>
          <p:cNvSpPr/>
          <p:nvPr/>
        </p:nvSpPr>
        <p:spPr>
          <a:xfrm>
            <a:off x="1107164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0+1</a:t>
            </a:r>
            <a:endParaRPr kumimoji="1" lang="zh-CN" altLang="en-US" dirty="0"/>
          </a:p>
        </p:txBody>
      </p:sp>
      <p:sp>
        <p:nvSpPr>
          <p:cNvPr id="1048889" name="矩形 27"/>
          <p:cNvSpPr/>
          <p:nvPr/>
        </p:nvSpPr>
        <p:spPr>
          <a:xfrm>
            <a:off x="1969660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890" name="矩形 28"/>
          <p:cNvSpPr/>
          <p:nvPr/>
        </p:nvSpPr>
        <p:spPr>
          <a:xfrm>
            <a:off x="2836960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2+3</a:t>
            </a:r>
            <a:endParaRPr kumimoji="1" lang="zh-CN" altLang="en-US" dirty="0"/>
          </a:p>
        </p:txBody>
      </p:sp>
      <p:sp>
        <p:nvSpPr>
          <p:cNvPr id="1048891" name="矩形 29"/>
          <p:cNvSpPr/>
          <p:nvPr/>
        </p:nvSpPr>
        <p:spPr>
          <a:xfrm>
            <a:off x="3694652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892" name="矩形 30"/>
          <p:cNvSpPr/>
          <p:nvPr/>
        </p:nvSpPr>
        <p:spPr>
          <a:xfrm>
            <a:off x="4552344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4+5</a:t>
            </a:r>
            <a:endParaRPr kumimoji="1" lang="zh-CN" altLang="en-US" dirty="0"/>
          </a:p>
        </p:txBody>
      </p:sp>
      <p:sp>
        <p:nvSpPr>
          <p:cNvPr id="1048893" name="矩形 31"/>
          <p:cNvSpPr/>
          <p:nvPr/>
        </p:nvSpPr>
        <p:spPr>
          <a:xfrm>
            <a:off x="5410036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894" name="矩形 32"/>
          <p:cNvSpPr/>
          <p:nvPr/>
        </p:nvSpPr>
        <p:spPr>
          <a:xfrm>
            <a:off x="6267728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6+7</a:t>
            </a:r>
            <a:endParaRPr kumimoji="1" lang="zh-CN" altLang="en-US" dirty="0"/>
          </a:p>
        </p:txBody>
      </p:sp>
      <p:sp>
        <p:nvSpPr>
          <p:cNvPr id="1048895" name="矩形 33"/>
          <p:cNvSpPr/>
          <p:nvPr/>
        </p:nvSpPr>
        <p:spPr>
          <a:xfrm>
            <a:off x="7125420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2" name="曲线连接符 34"/>
          <p:cNvCxnSpPr>
            <a:stCxn id="1048890" idx="2"/>
            <a:endCxn id="1048888" idx="2"/>
          </p:cNvCxnSpPr>
          <p:nvPr/>
        </p:nvCxnSpPr>
        <p:spPr>
          <a:xfrm rot="5400000">
            <a:off x="2403310" y="3539462"/>
            <a:ext cx="12700" cy="172979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曲线连接符 36"/>
          <p:cNvCxnSpPr>
            <a:stCxn id="1048894" idx="2"/>
            <a:endCxn id="1048892" idx="2"/>
          </p:cNvCxnSpPr>
          <p:nvPr/>
        </p:nvCxnSpPr>
        <p:spPr>
          <a:xfrm rot="5400000">
            <a:off x="5841284" y="3546668"/>
            <a:ext cx="12700" cy="17153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6" name="文本框 40"/>
          <p:cNvSpPr txBox="1"/>
          <p:nvPr/>
        </p:nvSpPr>
        <p:spPr>
          <a:xfrm>
            <a:off x="1082959" y="3030974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Rank 0            </a:t>
            </a:r>
            <a:endParaRPr kumimoji="1" lang="zh-CN" altLang="en-US" dirty="0"/>
          </a:p>
        </p:txBody>
      </p:sp>
      <p:sp>
        <p:nvSpPr>
          <p:cNvPr id="1048897" name="文本框 41"/>
          <p:cNvSpPr txBox="1"/>
          <p:nvPr/>
        </p:nvSpPr>
        <p:spPr>
          <a:xfrm>
            <a:off x="7036427" y="3025156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Rank 7            </a:t>
            </a:r>
            <a:endParaRPr kumimoji="1" lang="zh-CN" altLang="en-US" dirty="0"/>
          </a:p>
        </p:txBody>
      </p:sp>
      <p:sp>
        <p:nvSpPr>
          <p:cNvPr id="1048898" name="文本框 42"/>
          <p:cNvSpPr txBox="1"/>
          <p:nvPr/>
        </p:nvSpPr>
        <p:spPr>
          <a:xfrm>
            <a:off x="-28704" y="4586495"/>
            <a:ext cx="1040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S1 Reduce</a:t>
            </a:r>
            <a:endParaRPr kumimoji="1" lang="zh-CN" altLang="en-US" dirty="0"/>
          </a:p>
        </p:txBody>
      </p:sp>
      <p:sp>
        <p:nvSpPr>
          <p:cNvPr id="1048899" name="矩形 43"/>
          <p:cNvSpPr/>
          <p:nvPr/>
        </p:nvSpPr>
        <p:spPr>
          <a:xfrm>
            <a:off x="1102360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0+1+2+3</a:t>
            </a:r>
            <a:endParaRPr kumimoji="1" lang="zh-CN" altLang="en-US" sz="1200" dirty="0"/>
          </a:p>
        </p:txBody>
      </p:sp>
      <p:sp>
        <p:nvSpPr>
          <p:cNvPr id="1048900" name="矩形 44"/>
          <p:cNvSpPr/>
          <p:nvPr/>
        </p:nvSpPr>
        <p:spPr>
          <a:xfrm>
            <a:off x="1964856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01" name="矩形 45"/>
          <p:cNvSpPr/>
          <p:nvPr/>
        </p:nvSpPr>
        <p:spPr>
          <a:xfrm>
            <a:off x="2832156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2+3</a:t>
            </a:r>
            <a:endParaRPr kumimoji="1" lang="zh-CN" altLang="en-US" dirty="0"/>
          </a:p>
        </p:txBody>
      </p:sp>
      <p:sp>
        <p:nvSpPr>
          <p:cNvPr id="1048902" name="矩形 46"/>
          <p:cNvSpPr/>
          <p:nvPr/>
        </p:nvSpPr>
        <p:spPr>
          <a:xfrm>
            <a:off x="3689848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03" name="矩形 47"/>
          <p:cNvSpPr/>
          <p:nvPr/>
        </p:nvSpPr>
        <p:spPr>
          <a:xfrm>
            <a:off x="4547540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4+5+6+7</a:t>
            </a:r>
            <a:endParaRPr kumimoji="1" lang="zh-CN" altLang="en-US" sz="1200" dirty="0"/>
          </a:p>
        </p:txBody>
      </p:sp>
      <p:sp>
        <p:nvSpPr>
          <p:cNvPr id="1048904" name="矩形 48"/>
          <p:cNvSpPr/>
          <p:nvPr/>
        </p:nvSpPr>
        <p:spPr>
          <a:xfrm>
            <a:off x="5405232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05" name="矩形 49"/>
          <p:cNvSpPr/>
          <p:nvPr/>
        </p:nvSpPr>
        <p:spPr>
          <a:xfrm>
            <a:off x="6262924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6+7</a:t>
            </a:r>
            <a:endParaRPr kumimoji="1" lang="zh-CN" altLang="en-US" dirty="0"/>
          </a:p>
        </p:txBody>
      </p:sp>
      <p:sp>
        <p:nvSpPr>
          <p:cNvPr id="1048906" name="矩形 50"/>
          <p:cNvSpPr/>
          <p:nvPr/>
        </p:nvSpPr>
        <p:spPr>
          <a:xfrm>
            <a:off x="7120616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4" name="曲线连接符 51"/>
          <p:cNvCxnSpPr>
            <a:stCxn id="1048903" idx="2"/>
            <a:endCxn id="1048899" idx="2"/>
          </p:cNvCxnSpPr>
          <p:nvPr/>
        </p:nvCxnSpPr>
        <p:spPr>
          <a:xfrm rot="5400000">
            <a:off x="3256198" y="3441071"/>
            <a:ext cx="12700" cy="344518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7" name="矩形 54"/>
          <p:cNvSpPr/>
          <p:nvPr/>
        </p:nvSpPr>
        <p:spPr>
          <a:xfrm>
            <a:off x="11023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08" name="矩形 55"/>
          <p:cNvSpPr/>
          <p:nvPr/>
        </p:nvSpPr>
        <p:spPr>
          <a:xfrm>
            <a:off x="1964856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09" name="矩形 56"/>
          <p:cNvSpPr/>
          <p:nvPr/>
        </p:nvSpPr>
        <p:spPr>
          <a:xfrm>
            <a:off x="2832156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2+3</a:t>
            </a:r>
            <a:endParaRPr kumimoji="1" lang="zh-CN" altLang="en-US" dirty="0"/>
          </a:p>
        </p:txBody>
      </p:sp>
      <p:sp>
        <p:nvSpPr>
          <p:cNvPr id="1048910" name="矩形 57"/>
          <p:cNvSpPr/>
          <p:nvPr/>
        </p:nvSpPr>
        <p:spPr>
          <a:xfrm>
            <a:off x="3689848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11" name="矩形 58"/>
          <p:cNvSpPr/>
          <p:nvPr/>
        </p:nvSpPr>
        <p:spPr>
          <a:xfrm>
            <a:off x="4547540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4+5+6+7</a:t>
            </a:r>
            <a:endParaRPr kumimoji="1" lang="zh-CN" altLang="en-US" sz="1200" dirty="0"/>
          </a:p>
        </p:txBody>
      </p:sp>
      <p:sp>
        <p:nvSpPr>
          <p:cNvPr id="1048912" name="矩形 59"/>
          <p:cNvSpPr/>
          <p:nvPr/>
        </p:nvSpPr>
        <p:spPr>
          <a:xfrm>
            <a:off x="5405232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13" name="矩形 60"/>
          <p:cNvSpPr/>
          <p:nvPr/>
        </p:nvSpPr>
        <p:spPr>
          <a:xfrm>
            <a:off x="6262924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6+7</a:t>
            </a:r>
            <a:endParaRPr kumimoji="1" lang="zh-CN" altLang="en-US" dirty="0"/>
          </a:p>
        </p:txBody>
      </p:sp>
      <p:sp>
        <p:nvSpPr>
          <p:cNvPr id="1048914" name="矩形 61"/>
          <p:cNvSpPr/>
          <p:nvPr/>
        </p:nvSpPr>
        <p:spPr>
          <a:xfrm>
            <a:off x="7120616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1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921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Tree-based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 hierarchical relation with the root of tree (Rank 0).</a:t>
            </a:r>
          </a:p>
          <a:p>
            <a:pPr lvl="1"/>
            <a:r>
              <a:rPr lang="en-US" altLang="zh-CN" dirty="0"/>
              <a:t>Stage 1: Bottom-up Reduce</a:t>
            </a:r>
          </a:p>
          <a:p>
            <a:pPr lvl="1"/>
            <a:r>
              <a:rPr lang="en-US" altLang="zh-CN" dirty="0"/>
              <a:t>Stage 2: Top-down Broadcast</a:t>
            </a:r>
          </a:p>
        </p:txBody>
      </p:sp>
      <p:pic>
        <p:nvPicPr>
          <p:cNvPr id="2097231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</p:spPr>
      </p:pic>
      <p:sp>
        <p:nvSpPr>
          <p:cNvPr id="1048922" name="矩形 8"/>
          <p:cNvSpPr/>
          <p:nvPr/>
        </p:nvSpPr>
        <p:spPr>
          <a:xfrm>
            <a:off x="19696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23" name="矩形 9"/>
          <p:cNvSpPr/>
          <p:nvPr/>
        </p:nvSpPr>
        <p:spPr>
          <a:xfrm>
            <a:off x="28369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48924" name="矩形 10"/>
          <p:cNvSpPr/>
          <p:nvPr/>
        </p:nvSpPr>
        <p:spPr>
          <a:xfrm>
            <a:off x="3694652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25" name="矩形 11"/>
          <p:cNvSpPr/>
          <p:nvPr/>
        </p:nvSpPr>
        <p:spPr>
          <a:xfrm>
            <a:off x="4552344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1048926" name="矩形 12"/>
          <p:cNvSpPr/>
          <p:nvPr/>
        </p:nvSpPr>
        <p:spPr>
          <a:xfrm>
            <a:off x="5410036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27" name="矩形 13"/>
          <p:cNvSpPr/>
          <p:nvPr/>
        </p:nvSpPr>
        <p:spPr>
          <a:xfrm>
            <a:off x="6267728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48928" name="矩形 14"/>
          <p:cNvSpPr/>
          <p:nvPr/>
        </p:nvSpPr>
        <p:spPr>
          <a:xfrm>
            <a:off x="712542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sp>
        <p:nvSpPr>
          <p:cNvPr id="1048929" name="文本框 40"/>
          <p:cNvSpPr txBox="1"/>
          <p:nvPr/>
        </p:nvSpPr>
        <p:spPr>
          <a:xfrm>
            <a:off x="1082959" y="3030974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Rank 0            </a:t>
            </a:r>
            <a:endParaRPr kumimoji="1" lang="zh-CN" altLang="en-US" dirty="0"/>
          </a:p>
        </p:txBody>
      </p:sp>
      <p:sp>
        <p:nvSpPr>
          <p:cNvPr id="1048930" name="文本框 41"/>
          <p:cNvSpPr txBox="1"/>
          <p:nvPr/>
        </p:nvSpPr>
        <p:spPr>
          <a:xfrm>
            <a:off x="7036427" y="3025156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Rank 7            </a:t>
            </a:r>
            <a:endParaRPr kumimoji="1" lang="zh-CN" altLang="en-US" dirty="0"/>
          </a:p>
        </p:txBody>
      </p:sp>
      <p:sp>
        <p:nvSpPr>
          <p:cNvPr id="1048931" name="文本框 42"/>
          <p:cNvSpPr txBox="1"/>
          <p:nvPr/>
        </p:nvSpPr>
        <p:spPr>
          <a:xfrm>
            <a:off x="-82861" y="4603248"/>
            <a:ext cx="1240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S2 Broadcast</a:t>
            </a:r>
            <a:endParaRPr kumimoji="1" lang="zh-CN" altLang="en-US" dirty="0"/>
          </a:p>
        </p:txBody>
      </p:sp>
      <p:cxnSp>
        <p:nvCxnSpPr>
          <p:cNvPr id="3145735" name="曲线连接符 51"/>
          <p:cNvCxnSpPr>
            <a:stCxn id="1048933" idx="2"/>
            <a:endCxn id="1048925" idx="2"/>
          </p:cNvCxnSpPr>
          <p:nvPr/>
        </p:nvCxnSpPr>
        <p:spPr>
          <a:xfrm rot="16200000" flipH="1">
            <a:off x="3258600" y="1958008"/>
            <a:ext cx="12700" cy="34499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32" name="矩形 54"/>
          <p:cNvSpPr/>
          <p:nvPr/>
        </p:nvSpPr>
        <p:spPr>
          <a:xfrm>
            <a:off x="11023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33" name="矩形 52"/>
          <p:cNvSpPr/>
          <p:nvPr/>
        </p:nvSpPr>
        <p:spPr>
          <a:xfrm>
            <a:off x="1102360" y="3429000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34" name="矩形 53"/>
          <p:cNvSpPr/>
          <p:nvPr/>
        </p:nvSpPr>
        <p:spPr>
          <a:xfrm>
            <a:off x="1964856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35" name="矩形 62"/>
          <p:cNvSpPr/>
          <p:nvPr/>
        </p:nvSpPr>
        <p:spPr>
          <a:xfrm>
            <a:off x="2832156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48936" name="矩形 63"/>
          <p:cNvSpPr/>
          <p:nvPr/>
        </p:nvSpPr>
        <p:spPr>
          <a:xfrm>
            <a:off x="3689848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37" name="矩形 65"/>
          <p:cNvSpPr/>
          <p:nvPr/>
        </p:nvSpPr>
        <p:spPr>
          <a:xfrm>
            <a:off x="5405232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38" name="矩形 66"/>
          <p:cNvSpPr/>
          <p:nvPr/>
        </p:nvSpPr>
        <p:spPr>
          <a:xfrm>
            <a:off x="6262924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48939" name="矩形 67"/>
          <p:cNvSpPr/>
          <p:nvPr/>
        </p:nvSpPr>
        <p:spPr>
          <a:xfrm>
            <a:off x="7120616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6" name="曲线连接符 68"/>
          <p:cNvCxnSpPr>
            <a:stCxn id="1048940" idx="2"/>
            <a:endCxn id="1048935" idx="2"/>
          </p:cNvCxnSpPr>
          <p:nvPr/>
        </p:nvCxnSpPr>
        <p:spPr>
          <a:xfrm rot="16200000" flipH="1">
            <a:off x="2396104" y="3544527"/>
            <a:ext cx="12700" cy="17346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0" name="矩形 69"/>
          <p:cNvSpPr/>
          <p:nvPr/>
        </p:nvSpPr>
        <p:spPr>
          <a:xfrm>
            <a:off x="1097556" y="4157827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1" name="矩形 70"/>
          <p:cNvSpPr/>
          <p:nvPr/>
        </p:nvSpPr>
        <p:spPr>
          <a:xfrm>
            <a:off x="4556292" y="4157827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cxnSp>
        <p:nvCxnSpPr>
          <p:cNvPr id="3145737" name="曲线连接符 71"/>
          <p:cNvCxnSpPr>
            <a:stCxn id="1048941" idx="2"/>
            <a:endCxn id="1048938" idx="2"/>
          </p:cNvCxnSpPr>
          <p:nvPr/>
        </p:nvCxnSpPr>
        <p:spPr>
          <a:xfrm rot="16200000" flipH="1">
            <a:off x="5840856" y="3558511"/>
            <a:ext cx="12700" cy="170663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2" name="矩形 72"/>
          <p:cNvSpPr/>
          <p:nvPr/>
        </p:nvSpPr>
        <p:spPr>
          <a:xfrm>
            <a:off x="1971206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43" name="矩形 73"/>
          <p:cNvSpPr/>
          <p:nvPr/>
        </p:nvSpPr>
        <p:spPr>
          <a:xfrm>
            <a:off x="2838506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4" name="矩形 74"/>
          <p:cNvSpPr/>
          <p:nvPr/>
        </p:nvSpPr>
        <p:spPr>
          <a:xfrm>
            <a:off x="3696198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45" name="矩形 75"/>
          <p:cNvSpPr/>
          <p:nvPr/>
        </p:nvSpPr>
        <p:spPr>
          <a:xfrm>
            <a:off x="5411582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46" name="矩形 76"/>
          <p:cNvSpPr/>
          <p:nvPr/>
        </p:nvSpPr>
        <p:spPr>
          <a:xfrm>
            <a:off x="6269274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7" name="矩形 77"/>
          <p:cNvSpPr/>
          <p:nvPr/>
        </p:nvSpPr>
        <p:spPr>
          <a:xfrm>
            <a:off x="7126966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8" name="曲线连接符 78"/>
          <p:cNvCxnSpPr>
            <a:stCxn id="1048948" idx="2"/>
            <a:endCxn id="1048942" idx="2"/>
          </p:cNvCxnSpPr>
          <p:nvPr/>
        </p:nvCxnSpPr>
        <p:spPr>
          <a:xfrm rot="16200000" flipH="1">
            <a:off x="1968804" y="4725181"/>
            <a:ext cx="12700" cy="8673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8" name="矩形 79"/>
          <p:cNvSpPr/>
          <p:nvPr/>
        </p:nvSpPr>
        <p:spPr>
          <a:xfrm>
            <a:off x="1103906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9" name="矩形 80"/>
          <p:cNvSpPr/>
          <p:nvPr/>
        </p:nvSpPr>
        <p:spPr>
          <a:xfrm>
            <a:off x="4562642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cxnSp>
        <p:nvCxnSpPr>
          <p:cNvPr id="3145739" name="曲线连接符 81"/>
          <p:cNvCxnSpPr>
            <a:stCxn id="1048949" idx="2"/>
            <a:endCxn id="1048945" idx="2"/>
          </p:cNvCxnSpPr>
          <p:nvPr/>
        </p:nvCxnSpPr>
        <p:spPr>
          <a:xfrm rot="16200000" flipH="1">
            <a:off x="5418360" y="4734361"/>
            <a:ext cx="12700" cy="84894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曲线连接符 82"/>
          <p:cNvCxnSpPr>
            <a:stCxn id="1048943" idx="2"/>
            <a:endCxn id="1048944" idx="2"/>
          </p:cNvCxnSpPr>
          <p:nvPr/>
        </p:nvCxnSpPr>
        <p:spPr>
          <a:xfrm rot="16200000" flipH="1">
            <a:off x="3698600" y="4729985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曲线连接符 83"/>
          <p:cNvCxnSpPr>
            <a:stCxn id="1048946" idx="2"/>
            <a:endCxn id="1048947" idx="2"/>
          </p:cNvCxnSpPr>
          <p:nvPr/>
        </p:nvCxnSpPr>
        <p:spPr>
          <a:xfrm rot="16200000" flipH="1">
            <a:off x="7129368" y="4729985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50" name="矩形 85"/>
          <p:cNvSpPr/>
          <p:nvPr/>
        </p:nvSpPr>
        <p:spPr>
          <a:xfrm>
            <a:off x="19634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1" name="矩形 86"/>
          <p:cNvSpPr/>
          <p:nvPr/>
        </p:nvSpPr>
        <p:spPr>
          <a:xfrm>
            <a:off x="28245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2" name="矩形 87"/>
          <p:cNvSpPr/>
          <p:nvPr/>
        </p:nvSpPr>
        <p:spPr>
          <a:xfrm>
            <a:off x="36856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3" name="矩形 88"/>
          <p:cNvSpPr/>
          <p:nvPr/>
        </p:nvSpPr>
        <p:spPr>
          <a:xfrm>
            <a:off x="45467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4" name="矩形 89"/>
          <p:cNvSpPr/>
          <p:nvPr/>
        </p:nvSpPr>
        <p:spPr>
          <a:xfrm>
            <a:off x="54078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5" name="矩形 90"/>
          <p:cNvSpPr/>
          <p:nvPr/>
        </p:nvSpPr>
        <p:spPr>
          <a:xfrm>
            <a:off x="62689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6" name="矩形 91"/>
          <p:cNvSpPr/>
          <p:nvPr/>
        </p:nvSpPr>
        <p:spPr>
          <a:xfrm>
            <a:off x="7130058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6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6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963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Tree-based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 hierarchical relation with the root of tree (Rank 0).</a:t>
            </a:r>
          </a:p>
          <a:p>
            <a:pPr lvl="1"/>
            <a:r>
              <a:rPr lang="en-US" altLang="zh-CN" dirty="0"/>
              <a:t>Stage 1: Bottom-up Reduce</a:t>
            </a:r>
          </a:p>
          <a:p>
            <a:pPr lvl="1"/>
            <a:r>
              <a:rPr lang="en-US" altLang="zh-CN" dirty="0"/>
              <a:t>Stage 2: Top-down Broadcast</a:t>
            </a:r>
          </a:p>
          <a:p>
            <a:r>
              <a:rPr lang="en-US" altLang="zh-CN" dirty="0"/>
              <a:t>Advantages</a:t>
            </a:r>
          </a:p>
          <a:p>
            <a:pPr lvl="1"/>
            <a:r>
              <a:rPr lang="en-US" altLang="zh-CN" dirty="0"/>
              <a:t>Parallel data transfer and reduce operations.</a:t>
            </a:r>
          </a:p>
          <a:p>
            <a:pPr lvl="1"/>
            <a:r>
              <a:rPr lang="en-US" altLang="zh-CN" dirty="0"/>
              <a:t>Logarithmic complexity (the naive version has linear complexity).</a:t>
            </a:r>
          </a:p>
          <a:p>
            <a:pPr lvl="1"/>
            <a:r>
              <a:rPr lang="en-US" altLang="zh-CN" dirty="0"/>
              <a:t>It </a:t>
            </a:r>
            <a:r>
              <a:rPr lang="en-GB" altLang="zh-CN" dirty="0"/>
              <a:t>excels with small data sizes because of the low latency.</a:t>
            </a:r>
          </a:p>
          <a:p>
            <a:r>
              <a:rPr lang="en-US" altLang="zh-CN" dirty="0"/>
              <a:t>Disadvantages</a:t>
            </a:r>
          </a:p>
          <a:p>
            <a:pPr lvl="1"/>
            <a:r>
              <a:rPr lang="en-US" altLang="zh-CN" dirty="0"/>
              <a:t>It still has idle computing and bandwidth resources.</a:t>
            </a:r>
          </a:p>
          <a:p>
            <a:r>
              <a:rPr lang="en-US" altLang="zh-CN" dirty="0"/>
              <a:t>Further </a:t>
            </a:r>
            <a:r>
              <a:rPr lang="en-US" altLang="zh-CN" dirty="0" err="1"/>
              <a:t>Opt</a:t>
            </a:r>
            <a:r>
              <a:rPr lang="en-US" altLang="zh-CN" dirty="0"/>
              <a:t>: Double Binary Tree (NCCL)</a:t>
            </a:r>
          </a:p>
        </p:txBody>
      </p:sp>
      <p:pic>
        <p:nvPicPr>
          <p:cNvPr id="209723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6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970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</a:t>
            </a:r>
          </a:p>
          <a:p>
            <a:pPr lvl="1"/>
            <a:r>
              <a:rPr lang="en-US" altLang="zh-CN" dirty="0"/>
              <a:t>Stage 2: Iterative Gather</a:t>
            </a:r>
          </a:p>
        </p:txBody>
      </p:sp>
      <p:pic>
        <p:nvPicPr>
          <p:cNvPr id="209723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075" y="1292225"/>
            <a:ext cx="4089400" cy="5118100"/>
          </a:xfrm>
          <a:prstGeom prst="rect">
            <a:avLst/>
          </a:prstGeom>
        </p:spPr>
      </p:pic>
      <p:pic>
        <p:nvPicPr>
          <p:cNvPr id="209723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52129" y="3020290"/>
            <a:ext cx="3763055" cy="296487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7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7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977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</p:txBody>
      </p:sp>
      <p:pic>
        <p:nvPicPr>
          <p:cNvPr id="2097235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  <p:pic>
        <p:nvPicPr>
          <p:cNvPr id="209723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1405" y="2861359"/>
            <a:ext cx="5908778" cy="3543847"/>
          </a:xfrm>
          <a:prstGeom prst="rect">
            <a:avLst/>
          </a:prstGeom>
          <a:noFill/>
        </p:spPr>
      </p:pic>
      <p:sp>
        <p:nvSpPr>
          <p:cNvPr id="1048978" name="文本框 11"/>
          <p:cNvSpPr txBox="1"/>
          <p:nvPr/>
        </p:nvSpPr>
        <p:spPr>
          <a:xfrm>
            <a:off x="110837" y="2649552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Split the data with N partitions</a:t>
            </a:r>
            <a:endParaRPr kumimoji="1" lang="zh-CN" altLang="en-US" i="1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8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98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</p:txBody>
      </p:sp>
      <p:pic>
        <p:nvPicPr>
          <p:cNvPr id="209723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  <p:pic>
        <p:nvPicPr>
          <p:cNvPr id="209723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1404" y="2548808"/>
            <a:ext cx="5919650" cy="412865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403" y="2552707"/>
            <a:ext cx="5919649" cy="4262147"/>
          </a:xfrm>
          <a:prstGeom prst="rect">
            <a:avLst/>
          </a:prstGeom>
          <a:noFill/>
        </p:spPr>
      </p:pic>
      <p:sp>
        <p:nvSpPr>
          <p:cNvPr id="104898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9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992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</p:txBody>
      </p:sp>
      <p:pic>
        <p:nvPicPr>
          <p:cNvPr id="209724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403" y="2548375"/>
            <a:ext cx="5919649" cy="4157516"/>
          </a:xfrm>
          <a:prstGeom prst="rect">
            <a:avLst/>
          </a:prstGeom>
          <a:noFill/>
        </p:spPr>
      </p:pic>
      <p:sp>
        <p:nvSpPr>
          <p:cNvPr id="104899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9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999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</p:txBody>
      </p:sp>
      <p:pic>
        <p:nvPicPr>
          <p:cNvPr id="209724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403" y="2571659"/>
            <a:ext cx="5958976" cy="4160785"/>
          </a:xfrm>
          <a:prstGeom prst="rect">
            <a:avLst/>
          </a:prstGeom>
          <a:noFill/>
        </p:spPr>
      </p:pic>
      <p:sp>
        <p:nvSpPr>
          <p:cNvPr id="10490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0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0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9006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</p:txBody>
      </p:sp>
      <p:pic>
        <p:nvPicPr>
          <p:cNvPr id="209724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265" y="2538665"/>
            <a:ext cx="6098114" cy="4286341"/>
          </a:xfrm>
          <a:prstGeom prst="rect">
            <a:avLst/>
          </a:prstGeom>
          <a:noFill/>
        </p:spPr>
      </p:pic>
      <p:sp>
        <p:nvSpPr>
          <p:cNvPr id="1049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1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0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9013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</p:txBody>
      </p:sp>
      <p:pic>
        <p:nvPicPr>
          <p:cNvPr id="209724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1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0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9020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  <a:p>
            <a:r>
              <a:rPr lang="en-US" altLang="zh-CN" dirty="0"/>
              <a:t>Quantitative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</a:p>
          <a:p>
            <a:pPr lvl="1"/>
            <a:r>
              <a:rPr lang="en-US" altLang="zh-CN" dirty="0"/>
              <a:t>Data Transfer Volume: 2 * (N-1) * K / N</a:t>
            </a:r>
          </a:p>
          <a:p>
            <a:pPr lvl="1"/>
            <a:r>
              <a:rPr lang="en-US" altLang="zh-CN" dirty="0"/>
              <a:t>Overall</a:t>
            </a:r>
            <a:r>
              <a:rPr lang="zh-CN" altLang="en-US" dirty="0"/>
              <a:t> </a:t>
            </a:r>
            <a:r>
              <a:rPr lang="en-US" altLang="zh-CN" dirty="0"/>
              <a:t>Time: 2 * (N-1) * alpha + 2 * (N-1) * K / N / beta</a:t>
            </a:r>
          </a:p>
          <a:p>
            <a:pPr lvl="1"/>
            <a:r>
              <a:rPr lang="en-US" altLang="zh-CN" dirty="0"/>
              <a:t>Tree-based </a:t>
            </a:r>
            <a:r>
              <a:rPr lang="en-US" altLang="zh-CN" dirty="0" err="1"/>
              <a:t>AllReduce</a:t>
            </a:r>
            <a:r>
              <a:rPr lang="en-US" altLang="zh-CN" dirty="0"/>
              <a:t> Time : 2 * log(N) * (alpha + K / beta)</a:t>
            </a:r>
          </a:p>
          <a:p>
            <a:pPr lvl="1"/>
            <a:r>
              <a:rPr lang="en-US" altLang="zh-CN" dirty="0"/>
              <a:t>alpha: latency; beta: bandwidth</a:t>
            </a:r>
          </a:p>
          <a:p>
            <a:r>
              <a:rPr lang="en-US" altLang="zh-CN" dirty="0"/>
              <a:t>Advantages: Optimal</a:t>
            </a:r>
            <a:r>
              <a:rPr lang="zh-CN" altLang="en-US" dirty="0"/>
              <a:t> </a:t>
            </a:r>
            <a:r>
              <a:rPr lang="en-US" altLang="zh-CN" dirty="0"/>
              <a:t>bandwidth</a:t>
            </a:r>
            <a:r>
              <a:rPr lang="zh-CN" altLang="en-US" dirty="0"/>
              <a:t> </a:t>
            </a:r>
            <a:r>
              <a:rPr lang="en-US" altLang="zh-CN" dirty="0"/>
              <a:t>utilization</a:t>
            </a:r>
          </a:p>
        </p:txBody>
      </p:sp>
      <p:pic>
        <p:nvPicPr>
          <p:cNvPr id="209724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2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0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9027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Iterative Reduce with N-1 steps</a:t>
            </a:r>
          </a:p>
          <a:p>
            <a:pPr lvl="1"/>
            <a:r>
              <a:rPr lang="en-US" altLang="zh-CN" dirty="0"/>
              <a:t>Stage 2: Iterative Gather with N-1 steps</a:t>
            </a:r>
          </a:p>
          <a:p>
            <a:r>
              <a:rPr lang="en-US" altLang="zh-CN" dirty="0"/>
              <a:t>Quantitative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</a:p>
          <a:p>
            <a:pPr lvl="1"/>
            <a:r>
              <a:rPr lang="en-US" altLang="zh-CN" dirty="0"/>
              <a:t>Data Transfer Volume: 2 * (N-1) * K / N</a:t>
            </a:r>
          </a:p>
          <a:p>
            <a:pPr lvl="1"/>
            <a:r>
              <a:rPr lang="en-US" altLang="zh-CN" dirty="0"/>
              <a:t>Overall</a:t>
            </a:r>
            <a:r>
              <a:rPr lang="zh-CN" altLang="en-US" dirty="0"/>
              <a:t> </a:t>
            </a:r>
            <a:r>
              <a:rPr lang="en-US" altLang="zh-CN" dirty="0"/>
              <a:t>Time: 2 * (N-1) * alpha + 2 * (N-1) * K / N / beta</a:t>
            </a:r>
          </a:p>
          <a:p>
            <a:pPr lvl="1"/>
            <a:r>
              <a:rPr lang="en-US" altLang="zh-CN" dirty="0"/>
              <a:t>Tree-based </a:t>
            </a:r>
            <a:r>
              <a:rPr lang="en-US" altLang="zh-CN" dirty="0" err="1"/>
              <a:t>AllReduce</a:t>
            </a:r>
            <a:r>
              <a:rPr lang="en-US" altLang="zh-CN" dirty="0"/>
              <a:t> Time : 2 * log(N) * (alpha + K / beta)</a:t>
            </a:r>
          </a:p>
          <a:p>
            <a:pPr lvl="1"/>
            <a:r>
              <a:rPr lang="en-US" altLang="zh-CN" dirty="0"/>
              <a:t>alpha: latency; beta: bandwidth</a:t>
            </a:r>
          </a:p>
          <a:p>
            <a:r>
              <a:rPr lang="en-US" altLang="zh-CN" dirty="0"/>
              <a:t>Advantages: Optimal</a:t>
            </a:r>
            <a:r>
              <a:rPr lang="zh-CN" altLang="en-US" dirty="0"/>
              <a:t> </a:t>
            </a:r>
            <a:r>
              <a:rPr lang="en-US" altLang="zh-CN" dirty="0"/>
              <a:t>bandwidth</a:t>
            </a:r>
            <a:r>
              <a:rPr lang="zh-CN" altLang="en-US" dirty="0"/>
              <a:t> </a:t>
            </a:r>
            <a:r>
              <a:rPr lang="en-US" altLang="zh-CN" dirty="0"/>
              <a:t>utilization</a:t>
            </a:r>
          </a:p>
        </p:txBody>
      </p:sp>
      <p:pic>
        <p:nvPicPr>
          <p:cNvPr id="2097248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3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3"/>
              </a:rPr>
              <a:t>https://www.semanticscholar.org/paper/Optimization-of-Collective-Reduction-Operations-Rabenseifner/e2584fdc3f9e696423d96522038f3fa35137ab92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90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1049034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Halving-doubling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r>
              <a:rPr lang="en-US" altLang="zh-CN" dirty="0"/>
              <a:t>Stage 1: Recursive halving reduce</a:t>
            </a:r>
          </a:p>
          <a:p>
            <a:pPr lvl="1"/>
            <a:r>
              <a:rPr lang="en-US" altLang="zh-CN" dirty="0"/>
              <a:t>Stage 2: Recursive doubling gather</a:t>
            </a:r>
          </a:p>
        </p:txBody>
      </p:sp>
      <p:pic>
        <p:nvPicPr>
          <p:cNvPr id="209724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57845" y="2760460"/>
            <a:ext cx="7876309" cy="360792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049040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Comparisons among ring-based, tree-based, and halving-doubling </a:t>
            </a:r>
            <a:r>
              <a:rPr lang="en-US" altLang="zh-CN" dirty="0" err="1"/>
              <a:t>Allreduce</a:t>
            </a:r>
            <a:r>
              <a:rPr lang="en-US" altLang="zh-CN" dirty="0"/>
              <a:t> algorithms.</a:t>
            </a:r>
          </a:p>
          <a:p>
            <a:r>
              <a:rPr lang="en-US" altLang="zh-CN" dirty="0"/>
              <a:t>Modern CCLs can select an efficient strategy according to the topology and the communication domain.</a:t>
            </a:r>
          </a:p>
        </p:txBody>
      </p:sp>
      <p:graphicFrame>
        <p:nvGraphicFramePr>
          <p:cNvPr id="4194305" name="表格 5"/>
          <p:cNvGraphicFramePr>
            <a:graphicFrameLocks noGrp="1"/>
          </p:cNvGraphicFramePr>
          <p:nvPr/>
        </p:nvGraphicFramePr>
        <p:xfrm>
          <a:off x="887649" y="3110288"/>
          <a:ext cx="10767580" cy="1786428"/>
        </p:xfrm>
        <a:graphic>
          <a:graphicData uri="http://schemas.openxmlformats.org/drawingml/2006/table">
            <a:tbl>
              <a:tblPr firstRow="1">
                <a:tableStyleId>{91EBBBCC-DAD2-459C-BE2E-F6DE35CF9A28}</a:tableStyleId>
              </a:tblPr>
              <a:tblGrid>
                <a:gridCol w="2153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607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Algorithm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effectLst/>
                        </a:rPr>
                        <a:t>Steps (Complexity)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Latency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effectLst/>
                        </a:rPr>
                        <a:t>Bandwidth Efficiency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effectLst/>
                        </a:rPr>
                        <a:t>Ideal Data Size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607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Ring-based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O(N)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High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effectLst/>
                        </a:rPr>
                        <a:t>Optimal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Large Data (&gt; 64MB)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607"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effectLst/>
                        </a:rPr>
                        <a:t>Tree-based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O(log N)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Lowest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Moderate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Small-Medium (&lt; 16MB)</a:t>
                      </a:r>
                      <a:endParaRPr lang="en-GB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607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Halving-Doubling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O(log N)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effectLst/>
                        </a:rPr>
                        <a:t>Low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Moderate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Very Small (&lt; 1MB)</a:t>
                      </a:r>
                      <a:endParaRPr lang="en-GB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Besides, the protocol designs are also important</a:t>
            </a:r>
            <a:endParaRPr kumimoji="1" lang="zh-CN" altLang="en-US" dirty="0"/>
          </a:p>
        </p:txBody>
      </p:sp>
      <p:sp>
        <p:nvSpPr>
          <p:cNvPr id="104904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[1] https://</a:t>
            </a:r>
            <a:r>
              <a:rPr lang="en-GB" altLang="zh-CN" dirty="0" err="1"/>
              <a:t>arxiv.org</a:t>
            </a:r>
            <a:r>
              <a:rPr lang="en-GB" altLang="zh-CN" dirty="0"/>
              <a:t>/pdf/2507.04786v1</a:t>
            </a:r>
            <a:endParaRPr lang="zh-CN" altLang="en-US" dirty="0"/>
          </a:p>
        </p:txBody>
      </p:sp>
      <p:sp>
        <p:nvSpPr>
          <p:cNvPr id="10490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1049046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Take NCCL as an example.</a:t>
            </a:r>
          </a:p>
        </p:txBody>
      </p:sp>
      <p:pic>
        <p:nvPicPr>
          <p:cNvPr id="209725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624" y="1797890"/>
            <a:ext cx="3907249" cy="2590847"/>
          </a:xfrm>
          <a:prstGeom prst="rect">
            <a:avLst/>
          </a:prstGeom>
        </p:spPr>
      </p:pic>
      <p:pic>
        <p:nvPicPr>
          <p:cNvPr id="2097251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37" y="1780207"/>
            <a:ext cx="3907249" cy="2256069"/>
          </a:xfrm>
          <a:prstGeom prst="rect">
            <a:avLst/>
          </a:prstGeom>
        </p:spPr>
      </p:pic>
      <p:pic>
        <p:nvPicPr>
          <p:cNvPr id="2097252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105" y="4282458"/>
            <a:ext cx="7937790" cy="25031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Besides, the protocol designs are also important</a:t>
            </a:r>
            <a:endParaRPr kumimoji="1" lang="zh-CN" altLang="en-US" dirty="0"/>
          </a:p>
        </p:txBody>
      </p:sp>
      <p:sp>
        <p:nvSpPr>
          <p:cNvPr id="104905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[1] https://</a:t>
            </a:r>
            <a:r>
              <a:rPr lang="en-GB" altLang="zh-CN" dirty="0" err="1"/>
              <a:t>arxiv.org</a:t>
            </a:r>
            <a:r>
              <a:rPr lang="en-GB" altLang="zh-CN" dirty="0"/>
              <a:t>/pdf/2507.04786v1</a:t>
            </a:r>
            <a:endParaRPr lang="zh-CN" altLang="en-US" dirty="0"/>
          </a:p>
        </p:txBody>
      </p:sp>
      <p:sp>
        <p:nvSpPr>
          <p:cNvPr id="10490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1049053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Take NCCL as an example.</a:t>
            </a:r>
          </a:p>
        </p:txBody>
      </p:sp>
      <p:pic>
        <p:nvPicPr>
          <p:cNvPr id="2097253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1" y="1800977"/>
            <a:ext cx="10023578" cy="45553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Microsoft Office PowerPoint</Application>
  <PresentationFormat>宽屏</PresentationFormat>
  <Paragraphs>252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-apple-system</vt:lpstr>
      <vt:lpstr>Google Sans Text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32: Communication Topology Optimization</vt:lpstr>
      <vt:lpstr>Implementations of collective communication operators</vt:lpstr>
      <vt:lpstr>Topologies in the modern AI systems 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Besides, the protocol designs are also important</vt:lpstr>
      <vt:lpstr>Besides, the protocol designs are also important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32：通信拓扑优化</dc:title>
  <dc:creator>王丰</dc:creator>
  <cp:lastModifiedBy>Xiang Li</cp:lastModifiedBy>
  <cp:revision>6</cp:revision>
  <dcterms:created xsi:type="dcterms:W3CDTF">2026-03-12T02:59:00Z</dcterms:created>
  <dcterms:modified xsi:type="dcterms:W3CDTF">2026-03-17T14:54:46Z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ee666b583c344ad8a56cc9f53e4dda6b_23</vt:lpwstr>
  </property>
  <property fmtid="{D5CDD505-2E9C-101B-9397-08002B2CF9AE}" pid="3" name="KSOProductBuildVer">
    <vt:lpwstr>2052-12.1.0.19302</vt:lpwstr>
  </property>
</Properties>
</file>