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0" Target="notesSlides/notesSlide19.xml" Type="http://schemas.openxmlformats.org/officeDocument/2006/relationships/notesSlide"/><Relationship Id="rId51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各位听众，大家好！今天我要给大家带来的是Lecture 32：通信拓扑优化。通信拓扑优化在现代AI系统中至关重要，它直接影响着集合通信算子的实现，而集合通信算子的实现又高度依赖于硬件拓扑结构。了解通信拓扑优化，能让我们更好地改进算法，提升系统性能。接下来，就让我们一起深入探讨通信拓扑优化的相关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集合通信算子的实现有其独特的构成与特点。首先，从公式上看，All - reduce等于Reduce - scatter加上all - gather，这一关系清晰地展示了集合通信算子的一种组合逻辑。Ring All - reduce这种实现方式，它在通信中有着通信量最低、通信模式固定等优势，常常成为All - reduce算子的最佳实现方案。相对应地，不同硬件有不同的拓扑结构，集合通信算子的实现高度依赖硬件拓扑结构。不同的拓扑结构会影响数据传输的效率、带宽的使用等，所以在实现集合通信算子时，必须充分考虑硬件拓扑这一关键因素，以实现最优的通信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集合通信算子的实现有其独特的构成与特点。首先，从公式上看，All - reduce等于Reduce - scatter加上all - gather，这一关系清晰地展示了集合通信算子的一种组合逻辑。Ring All - reduce这种实现方式，它在通信中有着通信量最低、通信模式固定等优势，常常成为All - reduce算子的最佳实现方案。相对应地，不同硬件有不同的拓扑结构，集合通信算子的实现高度依赖硬件拓扑结构。不同的拓扑结构会影响数据传输的效率、带宽的使用等，所以在实现集合通信算子时，必须充分考虑硬件拓扑这一关键因素，以实现最优的通信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以Allreduce为例，我们假设根进程为0，先从他的朴素实现展开探讨，那么如右图代码所示。假设有N个进程，K字节的数据，其他进程把自己的数据都发送到0号进程，在0号进程处完成计算后，再由0号进程把reduce的结果发给大家。这样一来一回，总的传输量为2 × (N - 1) × K。不难看出这里存在明显短板：其一，进程0的带宽和计算能力受限，成为整个流程的瓶颈，严重制约效率。其二，全规约过程中，从进程1到N - 1的大量资源处于闲置状态，造成极大浪费。其三，这种实现方式可扩展性差，且未充分考量拓扑结构。</a:t>
            </a:r>
            <a:br>
              <a:rPr lang="en-US" b="false" i="false" strike="noStrike" u="none" sz="1200">
                <a:solidFill>
                  <a:srgbClr val="191B1F"/>
                </a:solidFill>
              </a:rPr>
            </a:br>
            <a:r>
              <a:rPr lang="en-US" b="false" i="false" strike="noStrike" u="none" sz="1200">
                <a:solidFill>
                  <a:srgbClr val="191B1F"/>
                </a:solidFill>
              </a:rPr>
              <a:t>面对这些问题，改进思路是将数据传输和计算负载分散到所有进程。具体解决方案有基于树、基于环、二分加倍等，这些方法有望优化Allreduce，提升通信效率。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进一步，我们来看基于树的Allreduce算法。以0号进程为根，建立层次化的关系；这个算法也是分为归约和广播两个阶段，在第一个阶段归约，8个节点将被归约到4个，例如0和1、2和3等等；在第一轮过后将在0、2、4、6节点有中间结果；进一步加大步长，实现0和2、4和6的归约；第三轮，实现0和4的归约，这样0号进程上就有了所有8个进程数据的归约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相对应地，在第二个阶段，由0号进程逐层向下发送归约后的结果，最终经过三轮发送让所有进程都收到正确的归约结果。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在这样的树形实现下，相较于朴素的实现具有显著优点，一个是数据传输与规约操作可并行进行，第二是通信的轮次，也就是复杂度是对数级的，而朴素版本是线性复杂度。这使得它在数据量小时，因延迟低而表现优异。不过，该算法也存在不足，仍有计算资源和带宽资源闲置的问题。为了进一步提升性能，NCCL这样的通信库采用双二叉树进行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继续以Allreduce为例，现在来看看基于环的AllReduce算法。该算法主要分为两个阶段，一是迭代规约，二是迭代收集。迭代规约阶段能让数据在环中逐步聚合，而迭代收集阶段则将聚合后的数据再分发出去。与之前基于树的算法相比，基于环的算法在数据传输和处理上有着不同的逻辑，它能在一定程度上避免树算法中存在的资源闲置问题，同时极大地均衡了各个节点的计算和传输负载，为数据的并行处理提供了新的思路和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在第一个阶段，算法将每个GPU上的数据分成N份，下面将根据不同轮次发挥每个GPU的传输能力来向自己的下一个节点传输一块数据，并完成对应的累加计算。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如图所示，在第一轮，GPU0到4分别发送自己HBM中的第0块到第4块给下一个GPU；比如GPU2将受到来自GPU1的b1数据，同时把自己的c2数据发给GPU3；由于上一块GPU发给自己的数据在本地也有对应可以与之累加的分块，也即GPU2将完成b1+b2的操作；经此一轮，GPU0到GPU4上分别有了e0+e4，a1+a0，b2+b1，c3+c2，d4+d3的部分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进一步地，在第二轮，每个GPU将分别把自己目前计算得到的部分和发给下一块GPU，同时能够在这块GPU上找到对应能与之累加的部分。也就实现了进一步的累加。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第三轮继续如法炮制，能够看到，目前GPU上的部分和越来越接近对应分区的归约和。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第四轮后，每一个GPU上都分别具有了五分之一部分的归约和，为了让所有的GPU都得到全部的归约和，下面我们要按照类似的逻辑将自己的数据发出去，并接收新的数据。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这也就有了第二个阶段，这一轮依旧是N-1步，例如在第一步中，GPU0到GPU4已经可以存下来自己的这部分数据，并分别发送自己的b、c、d、e、a分区给下一个GPU；在第二步中，我们以GPU0为例，他接收到a分区的数据之后一方面可以存下来，同时也要继续传递下去给到GPU1。那么经过4轮迭代后，5个GPU就都具有了全部的归约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根据上文的样例，我们在这里面不难分析给出一些定量分析，首先他的数据传输量每次是K除以N，对应到每个GPU的一个分片；整体需要两倍的N-1轮迭代，每个GPU的传输数据量就是这么多，同时，所有的GPU都在并行的计算和传输，有效的发挥互联带宽。在耗时方面，我们此处先不考虑reduce的代价（一般都比从远端拿更低），这里的总耗时就是2N-2次的通信同步和启动开销带来的延迟，和每次数据传输受限于带宽的时间之和。对应的，我们也可以算出基于树的Allreduce延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此外，还有一个递归的二分-倍增算法，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  <a:latin typeface="-apple-system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以Allreduce为例，有基于环、基于树和二分加倍三种算法。每种算法或许都有其独特的优势与应用场景。比如基于环的AllReduce算法之前所提到的有规约和收集阶段且有相应的数据传输量和耗时；基于树的AllReduce也有其特定耗时。</a:t>
            </a:r>
            <a:br>
              <a:rPr lang="en-US" b="false" i="false" strike="noStrike" u="none" sz="1200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</a:br>
            <a:r>
              <a:rPr lang="en-US" b="false" i="false" strike="noStrike" u="none" sz="1200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而现代通信库十分智能，能依据拓扑结构和通信域来选择高效策略。这意味着在实际应用中，我们不用局限于某一种算法，而是可以根据具体情况灵活选择，以达到最优的性能和效率。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</a:rPr>
              <a:t>在分布式计算领域，协议设计的重要性不容小觑。就拿NCCL来说，它是英伟达推出的用于优化GPU之间通信的协议库。一个好的协议能显著提升通信效率，降低延迟，就像给数据传输搭建了一条高速公路。</a:t>
            </a:r>
            <a:br>
              <a:rPr lang="en-US" b="false" i="false" strike="noStrike" u="none" sz="1200">
                <a:solidFill>
                  <a:srgbClr val="191B1F"/>
                </a:solidFill>
              </a:rPr>
            </a:br>
            <a:r>
              <a:rPr lang="en-US" b="false" i="false" strike="noStrike" u="none" sz="1200">
                <a:solidFill>
                  <a:srgbClr val="191B1F"/>
                </a:solidFill>
              </a:rPr>
              <a:t>NCCL通过优化算法和通信策略，能让GPU之间的数据交互更流畅。它能根据不同的硬件环境和任务需求，智能选择合适的通信方式。我们研究NCCL协议，能深入了解如何设计高效的通信协议，为分布式计算的发展提供有力支持。相关论文可参考这个链接：https://arxiv.org/pdf/2507.04786v1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191B1F">
                    <a:alpha val="100000"/>
                  </a:srgbClr>
                </a:solidFill>
                <a:latin typeface="-apple-system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在分布式计算领域，协议设计的重要性不言而喻。以NCCL为例，它是一种专门用于英伟达GPU之间进行高效通信的库，在深度学习训练和推理中发挥着关键作用。一个优秀的协议设计，能显著提升数据传输效率和计算性能。就如同为信息流通搭建了一条高速公路，让数据能够快速、准确地到达目的地。参考资料中的论文或许深入剖析了NCCL的设计原理和优化策略，值得我们深入研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6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docs.pytorch.org/tutorials/intermediate/FSDP_tutorial.html" TargetMode="External" Type="http://schemas.openxmlformats.org/officeDocument/2006/relationships/hyperlink"/><Relationship Id="rId3" Target="https://arxiv.org/abs/2304.11277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jpe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ieeexplore.ieee.org/document/6337589/" TargetMode="External" Type="http://schemas.openxmlformats.org/officeDocument/2006/relationships/hyperlink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5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7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www.semanticscholar.org/paper/Optimization-of-Collective-Reduction-Operations-Rabenseifner/e2584fdc3f9e696423d96522038f3fa35137ab92" TargetMode="External" Type="http://schemas.openxmlformats.org/officeDocument/2006/relationships/hyperlink"/><Relationship Id="rId3" Target="../media/image21.pn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5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6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33.jpeg" Type="http://schemas.openxmlformats.org/officeDocument/2006/relationships/image"/><Relationship Id="rId13" Target="../media/image34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3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32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：通信拓扑优化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集合通信算子的实现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docs.pytorch.org/tutorials/intermediate/FSDP_tutori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https://docs.pytorch.org/tutorials/intermediate/FSDP_tutorial.html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[2]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3" tooltip="https://arxiv.org/abs/2304.1127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https://arxiv.org/abs/2304.11277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40734" y="1343025"/>
            <a:ext cx="3116417" cy="171118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419100" y="3186033"/>
            <a:ext cx="415968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All-reduce = Reduce-scatter + all-gather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28868" y="3554049"/>
            <a:ext cx="3740149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696383" y="5758487"/>
            <a:ext cx="1605119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Ring All-reduce</a:t>
            </a:r>
            <a:endParaRPr lang="en-US" sz="1100"/>
          </a:p>
        </p:txBody>
      </p:sp>
      <p:grpSp>
        <p:nvGrpSpPr>
          <p:cNvPr name="Group 10" id="10"/>
          <p:cNvGrpSpPr/>
          <p:nvPr/>
        </p:nvGrpSpPr>
        <p:grpSpPr>
          <a:xfrm>
            <a:off x="7463045" y="1343025"/>
            <a:ext cx="3740149" cy="1960850"/>
            <a:chOff x="7463045" y="1343025"/>
            <a:chExt cx="3740149" cy="1960850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6"/>
            <a:srcRect l="0" r="0" t="0" b="0"/>
            <a:stretch>
              <a:fillRect/>
            </a:stretch>
          </p:blipFill>
          <p:spPr>
            <a:xfrm rot="0" flipH="false" flipV="false">
              <a:off x="7463045" y="1343025"/>
              <a:ext cx="3740149" cy="1960850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12" id="12"/>
            <p:cNvSpPr/>
            <p:nvPr/>
          </p:nvSpPr>
          <p:spPr>
            <a:xfrm rot="0" flipH="false" flipV="false">
              <a:off x="10516721" y="1374429"/>
              <a:ext cx="644848" cy="1096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sp>
        <p:nvSpPr>
          <p:cNvPr name="AutoShape 13" id="13"/>
          <p:cNvSpPr/>
          <p:nvPr/>
        </p:nvSpPr>
        <p:spPr>
          <a:xfrm rot="0" flipH="false" flipV="false">
            <a:off x="8151674" y="3322541"/>
            <a:ext cx="2362890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NVIDIA GPU CLOS </a:t>
            </a: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拓扑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7368928" y="3710539"/>
            <a:ext cx="3928383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872462" y="5759286"/>
            <a:ext cx="292131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HUAWEI NPU Full-mesh </a:t>
            </a: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拓扑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54466" y="2736607"/>
            <a:ext cx="2744663" cy="1827193"/>
          </a:xfrm>
          <a:prstGeom prst="rect">
            <a:avLst/>
          </a:prstGeom>
          <a:solidFill>
            <a:srgbClr val="DAE3F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21874" y="3075677"/>
            <a:ext cx="610913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集合通信算子的实现</a:t>
            </a:r>
            <a:b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高度依赖于硬件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拓扑结构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现代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系统中的拓扑结构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ieeexplore.ieee.org/document/6337589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https://ieeexplore.ieee.org/document/6337589/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grpSp>
        <p:nvGrpSpPr>
          <p:cNvPr name="Group 6" id="6"/>
          <p:cNvGrpSpPr/>
          <p:nvPr/>
        </p:nvGrpSpPr>
        <p:grpSpPr>
          <a:xfrm>
            <a:off x="1253472" y="1275212"/>
            <a:ext cx="9166321" cy="4938480"/>
            <a:chOff x="1253472" y="1275212"/>
            <a:chExt cx="9166321" cy="4938480"/>
          </a:xfrm>
        </p:grpSpPr>
        <p:grpSp>
          <p:nvGrpSpPr>
            <p:cNvPr name="Group 7" id="7"/>
            <p:cNvGrpSpPr/>
            <p:nvPr/>
          </p:nvGrpSpPr>
          <p:grpSpPr>
            <a:xfrm>
              <a:off x="1347589" y="1327491"/>
              <a:ext cx="3740149" cy="1960850"/>
              <a:chOff x="1347589" y="1327491"/>
              <a:chExt cx="3740149" cy="1960850"/>
            </a:xfrm>
          </p:grpSpPr>
          <p:pic>
            <p:nvPicPr>
              <p:cNvPr name="Picture 8" id="8"/>
              <p:cNvPicPr>
                <a:picLocks noChangeAspect="true"/>
              </p:cNvPicPr>
              <p:nvPr/>
            </p:nvPicPr>
            <p:blipFill>
              <a:blip r:embed="rId3"/>
              <a:srcRect l="0" r="0" t="0" b="0"/>
              <a:stretch>
                <a:fillRect/>
              </a:stretch>
            </p:blipFill>
            <p:spPr>
              <a:xfrm rot="0" flipH="false" flipV="false">
                <a:off x="1347589" y="1327491"/>
                <a:ext cx="3740149" cy="1960850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  <p:sp>
            <p:nvSpPr>
              <p:cNvPr name="AutoShape 9" id="9"/>
              <p:cNvSpPr/>
              <p:nvPr/>
            </p:nvSpPr>
            <p:spPr>
              <a:xfrm rot="0" flipH="false" flipV="false">
                <a:off x="4401265" y="1358895"/>
                <a:ext cx="644848" cy="10962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</p:spPr>
            <p:txBody>
              <a:bodyPr anchor="ctr" rtlCol="false" wrap="square" lIns="91440" rIns="91440" tIns="45720" bIns="45720">
                <a:noAutofit/>
              </a:bodyPr>
              <a:lstStyle/>
              <a:p>
                <a:pPr algn="ctr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lang="en-US" sz="1100"/>
              </a:p>
            </p:txBody>
          </p:sp>
        </p:grpSp>
        <p:sp>
          <p:nvSpPr>
            <p:cNvPr name="AutoShape 10" id="10"/>
            <p:cNvSpPr/>
            <p:nvPr/>
          </p:nvSpPr>
          <p:spPr>
            <a:xfrm rot="0" flipH="false" flipV="false">
              <a:off x="7033492" y="3237695"/>
              <a:ext cx="2878352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GOOGLE TPU Torus Topology</a:t>
              </a:r>
              <a:endParaRPr lang="en-US" sz="1100"/>
            </a:p>
          </p:txBody>
        </p:sp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rcRect l="0" r="0" t="0" b="0"/>
            <a:stretch>
              <a:fillRect/>
            </a:stretch>
          </p:blipFill>
          <p:spPr>
            <a:xfrm rot="0" flipH="false" flipV="false">
              <a:off x="1253472" y="3695005"/>
              <a:ext cx="3928383" cy="2209716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12" id="12"/>
            <p:cNvSpPr/>
            <p:nvPr/>
          </p:nvSpPr>
          <p:spPr>
            <a:xfrm rot="0" flipH="false" flipV="false">
              <a:off x="1564807" y="5743752"/>
              <a:ext cx="3305713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HUAWEI NPU Full-mesh Topology</a:t>
              </a:r>
              <a:endParaRPr lang="en-US" sz="1100"/>
            </a:p>
          </p:txBody>
        </p:sp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5"/>
            <a:srcRect l="0" r="0" t="0" b="0"/>
            <a:stretch>
              <a:fillRect/>
            </a:stretch>
          </p:blipFill>
          <p:spPr>
            <a:xfrm rot="0" flipH="false" flipV="false">
              <a:off x="6525543" y="1275212"/>
              <a:ext cx="3894250" cy="2013129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14" id="14"/>
            <p:cNvSpPr/>
            <p:nvPr/>
          </p:nvSpPr>
          <p:spPr>
            <a:xfrm rot="0" flipH="false" flipV="false">
              <a:off x="1887651" y="3288341"/>
              <a:ext cx="2660024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NVIDIA GPU Clos Topology</a:t>
              </a:r>
              <a:endParaRPr lang="en-US" sz="1100"/>
            </a:p>
          </p:txBody>
        </p:sp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6"/>
            <a:srcRect l="0" r="0" t="0" b="0"/>
            <a:stretch>
              <a:fillRect/>
            </a:stretch>
          </p:blipFill>
          <p:spPr>
            <a:xfrm rot="0" flipH="false" flipV="false">
              <a:off x="7258601" y="3607027"/>
              <a:ext cx="2978023" cy="2250947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16" id="16"/>
            <p:cNvSpPr/>
            <p:nvPr/>
          </p:nvSpPr>
          <p:spPr>
            <a:xfrm rot="0" flipH="false" flipV="false">
              <a:off x="7478327" y="5844360"/>
              <a:ext cx="1988686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none" lIns="91440" rIns="91440" tIns="45720" bIns="45720">
              <a:sp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Dragonfly Topology</a:t>
              </a:r>
              <a:endParaRPr lang="en-US" sz="1100"/>
            </a:p>
          </p:txBody>
        </p:sp>
      </p:grp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从根进程为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的朴素实现开始。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数据传输量：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(N-1)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存在三个缺点：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进程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的带宽和计算能力成为瓶颈。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全规约过程中大量资源闲置（进程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至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可扩展性差，且缺乏对拓扑结构的考量。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如何改进？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将数据传输和计算负载分散到所有进程中。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基于树、基于环、二分加倍等。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557442" y="1402079"/>
            <a:ext cx="3581217" cy="387134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基于树的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构建以根节点（进程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）为顶点的层级关系。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阶段一：自底向上归约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阶段二：自顶向下广播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10716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696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8369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94652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5234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10036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67728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2542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400000" flipH="false" flipV="false">
            <a:off x="1969660" y="3251752"/>
            <a:ext cx="12700" cy="862496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6" id="16"/>
          <p:cNvCxnSpPr/>
          <p:nvPr/>
        </p:nvCxnSpPr>
        <p:spPr>
          <a:xfrm rot="5400000" flipH="false" flipV="false">
            <a:off x="3697054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7" id="17"/>
          <p:cNvCxnSpPr/>
          <p:nvPr/>
        </p:nvCxnSpPr>
        <p:spPr>
          <a:xfrm rot="5400000" flipH="false" flipV="false">
            <a:off x="5412438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8" id="18"/>
          <p:cNvCxnSpPr/>
          <p:nvPr/>
        </p:nvCxnSpPr>
        <p:spPr>
          <a:xfrm rot="5400000" flipH="false" flipV="false">
            <a:off x="7127822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107164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0+1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6966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83696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2+3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94652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52344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4+5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410036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67728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6+7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2542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400000" flipH="false" flipV="false">
            <a:off x="2403310" y="3539462"/>
            <a:ext cx="12700" cy="1729796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28" id="28"/>
          <p:cNvCxnSpPr/>
          <p:nvPr/>
        </p:nvCxnSpPr>
        <p:spPr>
          <a:xfrm rot="5400000" flipH="false" flipV="false">
            <a:off x="5841284" y="3546668"/>
            <a:ext cx="12700" cy="1715384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1082959" y="3030974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 0            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036427" y="3025156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 7            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-28704" y="4586495"/>
            <a:ext cx="1040481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Reduce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102360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0+1+2+3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96485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83215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2+3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689848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547540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4+5+6+7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405232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262924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6+7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12061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cxnSp>
        <p:nvCxnSpPr>
          <p:cNvPr name="Connector 40" id="40"/>
          <p:cNvCxnSpPr/>
          <p:nvPr/>
        </p:nvCxnSpPr>
        <p:spPr>
          <a:xfrm rot="5400000" flipH="false" flipV="false">
            <a:off x="3256198" y="3441071"/>
            <a:ext cx="12700" cy="344518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41" id="41"/>
          <p:cNvSpPr/>
          <p:nvPr/>
        </p:nvSpPr>
        <p:spPr>
          <a:xfrm rot="0" flipH="false" flipV="false">
            <a:off x="11023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96485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283215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2+3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3689848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4547540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4+5+6+7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5405232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262924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6+7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712061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基于树的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构建以根节点（进程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）为顶点的层级关系。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阶段一：自底向上归约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阶段二：自顶向下广播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9696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369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94652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5234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10036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67728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2542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82959" y="3030974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 0           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36427" y="3025156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 7           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-82861" y="4603248"/>
            <a:ext cx="1240089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Broadcast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400000" flipH="false" flipV="true">
            <a:off x="3258600" y="1958008"/>
            <a:ext cx="12700" cy="3449984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1023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02360" y="3429000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6485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83215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89848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405232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62924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2061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400000" flipH="false" flipV="true">
            <a:off x="2396104" y="3544527"/>
            <a:ext cx="12700" cy="173460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1097556" y="4157827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56292" y="4157827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5400000" flipH="false" flipV="true">
            <a:off x="5840856" y="3558511"/>
            <a:ext cx="12700" cy="170663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1971206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838506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696198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411582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69274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126966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5400000" flipH="false" flipV="true">
            <a:off x="1968804" y="4725181"/>
            <a:ext cx="12700" cy="86730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1103906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4562642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cxnSp>
        <p:nvCxnSpPr>
          <p:cNvPr name="Connector 39" id="39"/>
          <p:cNvCxnSpPr/>
          <p:nvPr/>
        </p:nvCxnSpPr>
        <p:spPr>
          <a:xfrm rot="5400000" flipH="false" flipV="true">
            <a:off x="5418360" y="4734361"/>
            <a:ext cx="12700" cy="84894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40" id="40"/>
          <p:cNvCxnSpPr/>
          <p:nvPr/>
        </p:nvCxnSpPr>
        <p:spPr>
          <a:xfrm rot="5400000" flipH="false" flipV="true">
            <a:off x="3698600" y="4729985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41" id="41"/>
          <p:cNvCxnSpPr/>
          <p:nvPr/>
        </p:nvCxnSpPr>
        <p:spPr>
          <a:xfrm rot="5400000" flipH="false" flipV="true">
            <a:off x="7129368" y="4729985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19634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28245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36856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45467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54078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62689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7130058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SUM(0,7)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基于树的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构建以根节点（进程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）为顶点的层级关系。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阶段一：自底向上归约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阶段二：自顶向下广播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优点：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数据传输与规约操作可并行进行。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对数级复杂度（朴素版本为线性复杂度）。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由于延迟低，在数据量小时表现优异。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缺点：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仍存在计算资源和带宽资源闲置的问题。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进一步优化：双二叉树（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NCCL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阶段二：迭代收集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52129" y="3020290"/>
            <a:ext cx="3763055" cy="296487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41405" y="2861359"/>
            <a:ext cx="5908778" cy="354384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314037" y="2676693"/>
            <a:ext cx="2411238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tru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将数据分割为</a:t>
            </a:r>
            <a:r>
              <a:rPr lang="en-US" b="false" i="tru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b="false" i="tru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个分区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41404" y="2548808"/>
            <a:ext cx="5919650" cy="41286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1403" y="2552707"/>
            <a:ext cx="5919649" cy="426214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1403" y="2548375"/>
            <a:ext cx="5919649" cy="41575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41403" y="2571659"/>
            <a:ext cx="5958976" cy="416078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02265" y="2538665"/>
            <a:ext cx="6098114" cy="428634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步迭代收集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定量分析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数据传输量：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(N-1)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 / N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总耗时：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(N-1)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α + 2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(N-1)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 / N / β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基于树的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耗时：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log(N)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(α + K / β)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：延迟；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：带宽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优点：最优带宽利用率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www.semanticscholar.org/paper/Optimization-of-Collective-Reduction-Operations-Rabenseifner/e2584fdc3f9e696423d96522038f3fa35137ab9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https://www.semanticscholar.org/paper/Optimization-of-Collective-Reduction-Operations-Rabenseifner/e2584fdc3f9e696423d96522038f3fa35137ab92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二分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倍增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阶段一：递归二分规约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阶段二：递归加倍收集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57845" y="2760460"/>
            <a:ext cx="7876309" cy="360792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sp>
        <p:nvSpPr>
          <p:cNvPr name="AutoShape 3" id="3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4" id="4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基于环、基于树和二分加倍三种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Allreduce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算法的比较。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现代通信库能够根据拓扑结构和通信域选择高效的策略。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87649" y="3110288"/>
          <a:ext cx="10767580" cy="17864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3516"/>
                <a:gridCol w="2153516"/>
                <a:gridCol w="2153516"/>
                <a:gridCol w="2153516"/>
                <a:gridCol w="2153516"/>
              </a:tblGrid>
              <a:tr h="446607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算法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步数</a:t>
                      </a: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(Complexity)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延迟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带宽利用率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适合传输的数据量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446607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环（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Ring-based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O(N)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最优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大量数据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(&gt; 64MB)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446607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树（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Tree-based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O(log N)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低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适中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中小量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(&lt; 16MB)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446607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二分倍增</a:t>
                      </a:r>
                      <a:endParaRPr lang="en-US" sz="1100"/>
                    </a:p>
                    <a:p>
                      <a:pPr algn="ctr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（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Halving-Doubling</a:t>
                      </a:r>
                      <a:r>
                        <a:rPr lang="en-US" b="tru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）</a:t>
                      </a:r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O(log N)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低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适中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少量</a:t>
                      </a:r>
                      <a:r>
                        <a:rPr lang="en-US" b="false" i="false" strike="noStrike" u="none" sz="1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(&lt; 1MB)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协议的设计也十分重要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https://arxiv.org/pdf/2507.04786v1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NCCL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582624" y="1797890"/>
            <a:ext cx="3907249" cy="259084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357937" y="1780207"/>
            <a:ext cx="3907249" cy="225606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2127105" y="4282458"/>
            <a:ext cx="7937790" cy="250313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协议的设计也十分重要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https://arxiv.org/pdf/2507.04786v1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NCCL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为例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79951" y="1800977"/>
            <a:ext cx="10023578" cy="455537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