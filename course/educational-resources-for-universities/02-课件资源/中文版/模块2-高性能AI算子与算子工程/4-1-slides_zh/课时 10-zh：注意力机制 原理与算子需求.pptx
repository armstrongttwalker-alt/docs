
<file path=[Content_Types].xml><?xml version="1.0" encoding="utf-8"?>
<Types xmlns="http://schemas.openxmlformats.org/package/2006/content-types"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slides/slide31.xml" Type="http://schemas.openxmlformats.org/officeDocument/2006/relationships/slide"/><Relationship Id="rId4" Target="slideMasters/slideMaster1.xml" Type="http://schemas.openxmlformats.org/officeDocument/2006/relationships/slideMaster"/><Relationship Id="rId40" Target="notesSlides/notesSlide1.xml" Type="http://schemas.openxmlformats.org/officeDocument/2006/relationships/notesSlide"/><Relationship Id="rId41" Target="notesSlides/notesSlide2.xml" Type="http://schemas.openxmlformats.org/officeDocument/2006/relationships/notesSlide"/><Relationship Id="rId42" Target="notesSlides/notesSlide3.xml" Type="http://schemas.openxmlformats.org/officeDocument/2006/relationships/notesSlide"/><Relationship Id="rId43" Target="notesSlides/notesSlide4.xml" Type="http://schemas.openxmlformats.org/officeDocument/2006/relationships/notesSlide"/><Relationship Id="rId44" Target="notesSlides/notesSlide5.xml" Type="http://schemas.openxmlformats.org/officeDocument/2006/relationships/notesSlide"/><Relationship Id="rId45" Target="notesSlides/notesSlide6.xml" Type="http://schemas.openxmlformats.org/officeDocument/2006/relationships/notesSlide"/><Relationship Id="rId46" Target="notesSlides/notesSlide7.xml" Type="http://schemas.openxmlformats.org/officeDocument/2006/relationships/notesSlide"/><Relationship Id="rId47" Target="notesSlides/notesSlide8.xml" Type="http://schemas.openxmlformats.org/officeDocument/2006/relationships/notesSlide"/><Relationship Id="rId48" Target="notesSlides/notesSlide9.xml" Type="http://schemas.openxmlformats.org/officeDocument/2006/relationships/notesSlide"/><Relationship Id="rId49" Target="notesSlides/notesSlide10.xml" Type="http://schemas.openxmlformats.org/officeDocument/2006/relationships/notesSlide"/><Relationship Id="rId50" Target="notesSlides/notesSlide11.xml" Type="http://schemas.openxmlformats.org/officeDocument/2006/relationships/notesSlide"/><Relationship Id="rId51" Target="notesSlides/notesSlide12.xml" Type="http://schemas.openxmlformats.org/officeDocument/2006/relationships/notesSlide"/><Relationship Id="rId52" Target="notesSlides/notesSlide13.xml" Type="http://schemas.openxmlformats.org/officeDocument/2006/relationships/notesSlide"/><Relationship Id="rId53" Target="notesSlides/notesSlide14.xml" Type="http://schemas.openxmlformats.org/officeDocument/2006/relationships/notesSlide"/><Relationship Id="rId54" Target="notesSlides/notesSlide15.xml" Type="http://schemas.openxmlformats.org/officeDocument/2006/relationships/notesSlide"/><Relationship Id="rId55" Target="notesSlides/notesSlide16.xml" Type="http://schemas.openxmlformats.org/officeDocument/2006/relationships/notesSlide"/><Relationship Id="rId56" Target="notesSlides/notesSlide17.xml" Type="http://schemas.openxmlformats.org/officeDocument/2006/relationships/notesSlide"/><Relationship Id="rId57" Target="notesSlides/notesSlide18.xml" Type="http://schemas.openxmlformats.org/officeDocument/2006/relationships/notesSlide"/><Relationship Id="rId58" Target="notesSlides/notesSlide19.xml" Type="http://schemas.openxmlformats.org/officeDocument/2006/relationships/notesSlide"/><Relationship Id="rId59" Target="notesSlides/notesSlide20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21.xml" Type="http://schemas.openxmlformats.org/officeDocument/2006/relationships/notesSlide"/><Relationship Id="rId61" Target="notesSlides/notesSlide22.xml" Type="http://schemas.openxmlformats.org/officeDocument/2006/relationships/notesSlide"/><Relationship Id="rId62" Target="notesSlides/notesSlide23.xml" Type="http://schemas.openxmlformats.org/officeDocument/2006/relationships/notesSlide"/><Relationship Id="rId63" Target="notesSlides/notesSlide24.xml" Type="http://schemas.openxmlformats.org/officeDocument/2006/relationships/notesSlide"/><Relationship Id="rId64" Target="notesSlides/notesSlide25.xml" Type="http://schemas.openxmlformats.org/officeDocument/2006/relationships/notesSlide"/><Relationship Id="rId65" Target="notesSlides/notesSlide26.xml" Type="http://schemas.openxmlformats.org/officeDocument/2006/relationships/notesSlide"/><Relationship Id="rId66" Target="notesSlides/notesSlide27.xml" Type="http://schemas.openxmlformats.org/officeDocument/2006/relationships/notesSlide"/><Relationship Id="rId67" Target="notesSlides/notesSlide28.xml" Type="http://schemas.openxmlformats.org/officeDocument/2006/relationships/notesSlide"/><Relationship Id="rId68" Target="notesSlides/notesSlide29.xml" Type="http://schemas.openxmlformats.org/officeDocument/2006/relationships/notesSlide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各位同学好，今天我们进入第十讲，主题是注意力机制的原理与算子需求。这一讲在课程中的位置非常关键。前面大家已经接触了异构计算、CUDA 与基础算子，而注意力机制是 Transformer 乃至大语言模型的核心算子和性能瓶颈所在。无论是训练还是推理，注意力层都占据绝大部分计算与显存；理解其原理和算子形态，才能在做 Flash Attention、算子融合、KV 缓存优化时有的放矢。本讲会先梳理从 RNN 到 Transformer 的演进，让大家知道注意力为何成为主流；再讲清楚自注意力、Q/K/V、多头注意力、位置编码与残差等组件；最后落到计算复杂度、内存墙以及标准注意力的数据流与 HBM 访存，明确对硬件与软件栈的算子需求。整讲紧扣本课程目标：从体系结构到软件栈，理解 AI 算子的计算特征与优化思路。下面我们从序列建模的演进开始。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这一页给出了一条清晰的时间线。上世纪八十年代，序列建模依赖 RNN，采用串行、分布式表示的处理方式，一步一步沿时间步展开，计算是顺序依赖的，难以充分并行。九七年 LSTM 提出，通过门控缓解长期依赖，成为很长一段时间内序列建模的主力，但本质仍是递归，并行度受限于时间步。二零一四年 GRU 与神经机器翻译中“联合学习对齐与翻译”的工作出现，注意力开始被引入编码器-解码器框架，解码时对编码器各步做加权聚合，为后来“查询-键-值”形式埋下伏笔。二零一七年 Vaswani 等人的论文《Attention is All You Need》提出 Transformer，完全基于注意力、去掉循环与卷积，序列内任意两位置可直接交互，计算变成以矩阵乘为主的大规模并行形式，成为当前大语言模型和多数 NLP、多模态模型的基础。从系统与算子的角度看，这条演进路径决定了我们今天要重点讲的自注意力算子形态：大矩阵乘、Softmax、以及随之而来的 O(n²) 复杂度和内存墙。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本页是 Transformer 的高层概览。左侧是编码器：由多层堆叠，每层包含多头自注意力加逐位置前馈网络，中间有残差与层归一化；输入先做嵌入与位置编码，再逐层经过注意力与 FFN。右侧是解码器：除自注意力外还有掩码自注意力、编码器-解码器注意力以及前馈网络；掩码保证自回归时只看到已生成部分，编码器-解码器注意力则把源端信息注入解码。图里可以看到输入输出、注意力块与 FFN 的衔接关系。从软硬件角度，编码器侧主要是自注意力和矩阵乘、激活，训练时整序列可一次前向，并行度很高；解码器多了掩码和交叉注意力，推理时每一步都要读写的 KV 缓存会随层数、头数和序列长度线性甚至二次增长，这些都会在后面的“算子需求”和“内存墙”部分具体展开。参考文献是原始论文以及 Jay Alammar 的图示 Transformer 博客，课后可以对照图把数据流走一遍。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从更广义的概念切入。在心理学和神经科学里，注意力常与唤醒、警觉以及对环境的参与程度联系在一起。最广义地说，注意力可以理解为对周围环境的一种整体警觉水平或参与能力。图中引用了《心理学、神经科学与机器学习中的注意力》以及《视觉注意力的计算建模》：早期视觉神经元对亮度、颜色、朝向、运动等简单属性调谐，随着层级升高，调谐越来越专门化，直到对特定物体或场景敏感。在机器学习里，我们把这种“选择性关注”抽象成可学习的权重分配机制，即：对一组输入，学习把“注意”集中在哪些部分，从而得到加权的表示。下一页会进入 NLP 里注意力在模型中的具体形式。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这里进入神经网络中的注意力机制。Bahdanau 等人二零一四年在神经机器翻译中提出“联合学习对齐与翻译”，为编码器-解码器引入了注意力：解码时对编码器各时间步的表示做加权聚合，显式学习源端与目标端的对齐。这是注意力在 NLP 中的崛起。Luong 等人二零一五年进一步提出全局注意力等形式，简化并改进了 Bahdanau 的方法，提升了训练与推理效率。图中左右两侧对应两种经典结构，大家可以看到编码器隐状态与解码器状态如何通过注意力权重结合。这些工作奠定了后来 Transformer 中“查询-键-值”与“编码器-解码器注意力”的设计思路。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二零一七年 Transformer 提出“Attention is All You Need”，完全去掉 RNN 和 CNN，只依赖注意力。本页强调三点：一是自注意力，即序列内部每个位置对所有位置做注意力；二是多头注意力，把表示拆成多个子空间、多组 Q/K/V，增强模型关注不同关系的能力；三是后续发展出的稀疏注意力等变体，用于降低长序列的复杂度。图中展示了自注意力、多头与稀疏注意力的示意图。从体系结构角度，自注意力的核心就是大矩阵乘法与 Softmax，这也是 GPU、NPU 上要重点优化的算子组合。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tru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</a:rPr>
              <a:t>这一页用“注意力示例”把前面概念具象化。图中通过示例说明：给定输入序列，注意力会为每个位置产生一组权重，表示该位置与其它位置的相关程度，再按权重对值进行加权求和得到新表示。页脚给出了一个深入讲解缩放点积注意力的参考链接。授课时可以指着图中的权重分布说：例如某个词在编码时会对语义相关的词赋予更高权重，这就是“注意”在计算上的体现。理解这一点后，后面 Q、K、V 的角色和 Attention 公式就更容易对应到具体计算步骤。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本页细化 Transformer 的模块划分。编码器包含：多头自注意力机制，以及简单的逐位置前馈网络，即对每个位置独立做两层线性变换加激活。解码器包含：掩码自注意力，保证自回归时只能看到已生成词；编码器-解码器注意力，用解码器状态去查编码器输出；以及前馈网络。图中左右分别对应编码器与解码器的结构图。在实现上，编码器可以高度并行；解码器在训练时也可做并行，但推理时通常是逐步生成，每一步都要用 KV 缓存，这对内存带宽和算子设计都有直接影响。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一页从张量与数据流看编码过程。左侧是输入张量经过嵌入与位置编码后的形状与流动；中间和右侧强调了两类依赖：在自注意力层中，任意两位置之间都有依赖路径，所以需要计算所有位置对的注意力；在前馈层中，各位置独立、没有序列维上的依赖。因此计算热点在自注意力：大矩阵乘 QK^T、Softmax、再乘 V，以及多层的重复。理解“自注意力依赖路径”和“前馈独立路径”的差别，有助于后面分析为什么注意力是 O(n²) 而 FFN 是 O(n)，以及为什么优化重点在注意力算子。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本页用一句英文例句说明自注意力的高层行为：“The animal didn't cross the street because it was too tired.” 图中会展示在理解“it”指代谁时，模型如何通过自注意力把“it”与“animal”关联起来。也就是说，自注意力让每个位置能够根据语义去聚合全局信息，而不是像 RNN 那样只能依赖局部与历史。这对理解后续 Q/K/V 的语义很有帮助：查询相当于“我在找什么”，键和值则提供“谁有什么信息、具体内容是什么”。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自注意力可以看作一种信息检索。每个词元被映射成三个向量：查询 Q 表示“我在寻找什么”；键 K 表示“我包含什么信息”；值 V 表示“我提供的实际内容”。机制上分三步：先算当前词元查询与所有词元键的相似度，得到分数矩阵；再对分数做 Softmax 得到注意力权重，使每行和为 1；最后用权重对值做加权求和得到该位置的输出。图中会展示从输入到 Q、K、V 再到分数与权重的流程。在实现里，Q、K、V 通常由同一输入经三个线性层得到，即 X 乘 W_Q、W_K、W_V；维度与头数、头维的设定直接决定后续矩阵乘的规模：例如 n 个词、d 维，则 Q、K、V 都是 n×d，QK^T 为 n×n，再乘 V 得到 n×d。理解这三者的角色，后续分析复杂度和设计 Flash Attention 时的分块、重计算策略才会顺理成章。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本页从“创建”与“评分”两方面细化。创建阶段：查询是当前词元的“提问”，用来向所有其它词元询问相关性；键是该词元的标识信息，用来回答这个提问；值是该词元的内容，会按权重传到输出。评分与权重阶段：Q 与 K 做点积或矩阵乘得到分数矩阵，再经 Softmax 归一化。图中左右分别对应“创建 Q/K/V”和“评分与权重”的示意图。理解这三者的角色，才能在后文分析复杂度时清楚为什么会有 n×n 的分数矩阵，以及为什么需要 O(n²) 的存储与计算。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tru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</a:rPr>
              <a:t>这一页对应标准注意力的计算流水线。第一步是计算查询、键和值矩阵：输入 X 分别乘以 W_Q、W_K、W_V 得到 Q、K、V，即三次矩阵乘，读 X 和三个权重、写 Q/K/V。第二步是评分与权重：先算 S 等于 Q 乘 K 的转置再除以根号 d，得到 n×n 的 S；再对 S 的每一行做 Softmax 得到 P，读 S、写 P。第三步是输出 O 等于 P 乘 V，读 P、读 V、写 O。整条流水线就是两次大矩阵乘加一次逐行 Softmax。在硬件实现上，QK^T 和 PV 都是矩阵乘，可用 Tensor Core 或 MMA 指令加速，计算密度高；Softmax 则涉及行内最大值、指数与归一化，访存模式不同，往往与前后矩阵乘做算子融合以减少全局内存往返。图中会标出“计算 Q/K/V”与“评分与权重”两块的对应关系，大家要能在脑子里还原出完整数据流与张量形状。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多头注意力扩展了模型关注不同位置与关系的能力，相当于给注意力层多个“表示子空间”。具体做法是把 Q、K、V 在特征维上分成 h 个头，每个头独立做缩放点积注意力，得到 h 个输出矩阵，再在特征维上拼接后通过一个线性层压缩成单一矩阵。图中会展示“多组 Q/K/V—多组注意力—拼接—线性”的流程。从算子角度，多头可以并行计算，总计算量仍是 O(n² d)，但并行度更高；实现时往往把 batch、头、序列维一起组织，以便充分利用 GPU 的并行与内存带宽。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本页给出多头注意力的整体概览和一个例句示例：“The animal didn't cross the street because it was too tired.” 不同头可以学习到不同的关注模式，例如有的头关注局部语法，有的头关注长程指代。图中会展示多个头的注意力权重热力图。在系统实现上，多头通常用一次大矩阵乘完成所有头的 Q、K、V 投影，再通过 reshape 分成头，各自做注意力后合并。这要求我们在设计算子时考虑头维、头数对矩阵形状与分块的影响，以便和 Flash Attention 等优化兼容。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Transformer 本身没有循环与卷积，因此不显式包含位置信息，需要靠位置编码注入。本页介绍位置编码向量：其值遵循特定模式，一般是正弦与余弦函数在维度与位置上的组合，使得不同位置有不同的向量、且相对位置关系可通过内积等形式体现。图中会给出维度为 4 的简化示例，展示不同位置对应的编码曲线。位置编码在实现上通常与词嵌入相加，不增加额外矩阵乘，但对长序列的外推和稳定性有影响，这也是后续 RoPE、ALiBi 等替代方案要解决的问题。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这一页展示 Tensor2Tensor 实现中的真实位置编码：二十个词、嵌入维度五百一十二的矩阵，每行是一个位置、每列是一个维度。图中会显示二维热力图或曲线，便于直观理解正弦余弦随位置与维度的变化。页脚给出了可视化 notebook 的链接。从算子与系统角度，位置编码一般是预计算或查表，与嵌入相加后一起进入第一层；在混合精度与分布式训练中，要保证位置编码与嵌入的精度和分片一致，避免数值与通信问题。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本页强调残差连接与层归一化。每个子层都采用“子层输出 + 输入”的残差形式，再接层归一化，例如“Add &amp; Norm”在注意力之后和前馈之后各出现一次。图中展示由两层编码器与两层解码器构成的 Transformer 示例，可以清楚看到残差与归一化的位置。残差有利于梯度流动和深层训练；层归一化则稳定激活尺度。在算子融合与内核实现时，常把“注意力 + 残差 + 层归一化”或“FFN + 残差 + 层归一化”打成一块，减少多次读写全局内存的开销。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解码器从起始词元开始，通常是一个特殊的 BOS 符号。每一步解码器根据当前已生成的序列做掩码自注意力和编码器-解码器注意力，再经前馈与线性层得到下一个词元的分布，采样或取 argmax 得到新词元；重复直到遇到结束符。图中会展示“解码开始”与“重复直至遇到特殊符号”的流程。从系统角度看，推理时每步都要读取并更新 KV 缓存，访存与计算比例与训练不同，因此需要针对解码阶段的算子与内存布局做优化，例如 PagedAttention、KV 缓存压缩等。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tru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</a:rPr>
              <a:t>解码器最后一层输出是向量维为词表大小，经过一个线性层映射到词表维度，再经 Softmax 得到下一个词的概率分布。图中会展示从解码器输出到线性层再到 Softmax 的流程。这一部分计算量相对注意力较小，但 Softmax 在数值稳定与融合上仍有优化空间；在分布式与多卡推理中，大词表的 logits 计算与通信也需要考虑。理解这一层有助于完整串起从输入到最终预测的整条数据流。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现代大语言模型多采用仅解码器架构，为自回归生成设计：根据序列中所有已生成内容预测下一个词元。优点包括：训练目标单一，即下一个词元预测；不需要平行语料，数据规模可扩展到数万亿词元；与生成式任务天然匹配；在灵活性与涌现能力上得到工业界验证。图中会对比仅解码器与编码器-解码器两种架构。从软硬件角度，仅解码器模型把计算与内存压力集中在自注意力和 FFN 的重复堆叠上，因此本讲后续的复杂度与内存墙分析直接适用于 GPT 类模型。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 Transformer 自注意力中，我们计算所有词元对之间的注意力分数。查询 Q 是 n×d 矩阵，键 K 也是 n×d，二者相乘得到 n×n 的分数矩阵 QK^T；再乘以值 V（n×d），得到 n×d 的输出。两次矩阵乘的浮点运算量分别是 n×d×n 和 n×n×d，合计约 2n²d，即 O(n² d)。当序列长度 n 增大时，二次项占主导：例如 n 从 1k 增到 8k，n² 增大约 64 倍，这就是自注意力在长上下文上昂贵的原因。图中会配合矩阵形状示意这一点。理解 O(n² d) 的由来，是后面用 Roofline 分析算力与带宽瓶颈、以及理解 Flash Attention 通过分块与重计算在保持计算量不变的前提下降低访存的前提。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本页把复杂度写得更具体。第一步，计算注意力分数：QK^T 得到 (n,n) 矩阵，计算量为 O(n·d·n) 即 O(n² d)；第二步，分数矩阵 (n,n) 乘以 V (n,d)，计算量同样为 O(n² d)。因此单头注意力前向传播的复杂度约为 O(n² d)。若是 h 个头，每个头维度 d/h，要做 h 次，总复杂度仍为 O(n² d)。也就是说，头数不改变渐进复杂度，只改变并行度与实现方式。这对理解多头注意力的算子设计与分块策略很重要。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自注意力的灵活性带来高昂代价：计算与显存复杂度都随序列长度二次增长。Transformer 在实际部署中会遇到两大瓶颈。一是 KV 缓存爆炸：自回归解码时每层、每个头都要缓存当前步之前所有步的 K、V，显存随层数、头数、序列长度和精度线性甚至二次增长，长上下文时单是 KV 缓存就可能占满显存。二是带宽瓶颈：训练与推理时大矩阵的读写使 HBM 带宽成为限制，GPU 算力无法被充分利用，落在 Roofline 的带宽受限区。业界有说法叫“Attention is all you need—until you need memory”，说的就是注意力在长上下文下的内存墙。图中会展示计算与内存随 n 增长的对比，引出下一节对标准注意力数据流与 HBM 访存的定量分析，以及“是否必须实体化 n×n 矩阵”这一关键问题。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本页展开标准注意力的数据流。步骤一：计算注意力分数 S 等于 QK^T 除以根号 d，得到 (n,n) 的 S，需要读 Q、K，写 S。步骤二：对 S 做 Softmax 得到 P，即 P 等于 softmax(S)，需要读 S、写 P。图中会给出对应数据流图，并标注例如 N 等于 4096、d 等于 128、FP16 时的张量规模。从算子与内存角度看，S 和 P 都是 n×n，在 n 较大时单是存储这两个矩阵就会占用大量 HBM，并且每步都要在 HBM 与片上存储之间搬运，带宽成为瓶颈。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步骤三：计算输出 O 等于 P 乘 V，读 P、读 V，写 O。把步骤一到三的读写作总 HBM 访存量，就能定量看到标准实现下访存有多大。图中会给出完整数据流与总 HBM 访存量公式或数值示例，同样在 N 等于 4096、d 等于 128、FP16 的设定下。这直接对应到后续 Flash Attention 等工作的动机：通过分块与重计算，避免实体化完整的 n×n 矩阵，从而降低访存与显存占用，提升有效算力利用。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本页总结标准注意力的内存墙问题。问题是标准注意力的复杂度为 O(n²)。痛点是显存消耗随序列长度 n 呈二次方增长，在长上下文场景下极易出现显存溢出 OOM。关键问题是：我们是否真的需要把那个巨大的 N×N 注意力矩阵实体化并存下来？图中会引用 AI 与内存墙的相关图示。答案是可以不实体化：Flash Attention 通过分块计算与在线 Softmax，在 O(n² d) 计算不变的前提下，把 HBM 访存从 O(n²) 量级降下来，这正是下一阶段算子优化与系统设计的出发点。本讲到这里把注意力原理与算子需求串完，后续课程会在此基础上讲具体优化与实现。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简介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面向多芯片的统一、开源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，是由芯片企业、系统厂商、算法和软件相关单位、非营利性组织、科研机构等十多家国内外机构共同发起并创立的，围绕多种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芯片使用的核心痛点问题，打造的包括通用算子库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、自动迁移发版平台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FlagRelease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和多芯片评测工具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的系统软件生态。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让我们看到了打破不同芯片软件栈之间生态隔离的可能性，将有效降低开发者的迁移成本。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官网：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交互式问答入口：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https://wiki.flagos.io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官方文档：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https://docs.flagos.io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最新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版本介绍：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https://mp.weixin.qq.com/s/eBgg6_5FJV-RuYk5fBQvOg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💕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真诚开源，欢迎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Star-Watch-Fork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、高性能通用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https://github.com/flagos-ai/FlagGems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FlagTree: https://github.com/flagos-ai/flagtree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https://github.com/flagos-ai/FlagScale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https://github.com/flagos-ai/FlagCX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FlagPerf: https://github.com/flagos-ai/flagperf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、算子自动生成工具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KernelGen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https://kernelgen.flagos.io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、大模型发版工具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FlagRelease: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https://modelscope.cn/organization/FlagRelease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https://huggingface.co/FlagRelease/models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https://www.wisemodel.cn/models/FlagRelease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https://www.gpufree.cn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https://www.aihuanxin.cn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国内镜像站点：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https://gitcode.com/flagos-ai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https://gitee.com/flagos-ai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微信公众号：智源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视频号：智源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6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xfrm rot="0" flipH="false" flipV="false"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304800" lvl="1" marL="6477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54000" lvl="2" marL="939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203200" lvl="3" marL="1231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name="Connector 4" id="4"/>
            <p:cNvCxnSpPr/>
            <p:nvPr/>
          </p:nvCxnSpPr>
          <p:spPr>
            <a:xfrm rot="0" flipH="false" flipV="false"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name="Group 5" id="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name="Freeform 6" id="6"/>
              <p:cNvSpPr/>
              <p:nvPr/>
            </p:nvSpPr>
            <p:spPr>
              <a:xfrm rot="0" flipH="false" flipV="false"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r="r" b="b" t="t" l="l"/>
                <a:pathLst>
                  <a:path h="1154112" w="301824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7" id="7"/>
              <p:cNvSpPr/>
              <p:nvPr/>
            </p:nvSpPr>
            <p:spPr>
              <a:xfrm rot="0" flipH="false" flipV="false"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r="r" b="b" t="t" l="l"/>
                <a:pathLst>
                  <a:path h="155575" w="158940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8" id="8"/>
              <p:cNvSpPr/>
              <p:nvPr/>
            </p:nvSpPr>
            <p:spPr>
              <a:xfrm rot="0" flipH="false" flipV="false"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r="r" b="b" t="t" l="l"/>
                <a:pathLst>
                  <a:path h="188912" w="191049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9" id="9"/>
              <p:cNvSpPr/>
              <p:nvPr/>
            </p:nvSpPr>
            <p:spPr>
              <a:xfrm rot="0" flipH="false" flipV="false"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r="r" b="b" t="t" l="l"/>
                <a:pathLst>
                  <a:path h="1801812" w="311457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0" flipH="false" flipV="false"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r="r" b="b" t="t" l="l"/>
                <a:pathLst>
                  <a:path h="188913" w="192654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1" id="11"/>
              <p:cNvSpPr/>
              <p:nvPr/>
            </p:nvSpPr>
            <p:spPr>
              <a:xfrm rot="0" flipH="false" flipV="false"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name="AutoShape 12" id="12"/>
          <p:cNvSpPr/>
          <p:nvPr>
            <p:ph idx="20" type="body" sz="quarter" hasCustomPrompt="true"/>
          </p:nvPr>
        </p:nvSpPr>
        <p:spPr>
          <a:xfrm rot="0" flipH="false" flipV="false"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2400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日期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71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7.xml" Type="http://schemas.openxmlformats.org/officeDocument/2006/relationships/slideLayout"/><Relationship Id="rId11" Target="../slideLayouts/slideLayout18.xml" Type="http://schemas.openxmlformats.org/officeDocument/2006/relationships/slideLayout"/><Relationship Id="rId12" Target="../slideLayouts/slideLayout19.xml" Type="http://schemas.openxmlformats.org/officeDocument/2006/relationships/slideLayout"/><Relationship Id="rId13" Target="../slideLayouts/slideLayout20.xml" Type="http://schemas.openxmlformats.org/officeDocument/2006/relationships/slideLayout"/><Relationship Id="rId14" Target="../slideLayouts/slideLayout21.xml" Type="http://schemas.openxmlformats.org/officeDocument/2006/relationships/slideLayout"/><Relationship Id="rId15" Target="../slideLayouts/slideLayout22.xml" Type="http://schemas.openxmlformats.org/officeDocument/2006/relationships/slideLayout"/><Relationship Id="rId16" Target="../media/image7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slideLayouts/slideLayout12.xml" Type="http://schemas.openxmlformats.org/officeDocument/2006/relationships/slideLayout"/><Relationship Id="rId6" Target="../slideLayouts/slideLayout13.xml" Type="http://schemas.openxmlformats.org/officeDocument/2006/relationships/slideLayout"/><Relationship Id="rId7" Target="../slideLayouts/slideLayout14.xml" Type="http://schemas.openxmlformats.org/officeDocument/2006/relationships/slideLayout"/><Relationship Id="rId8" Target="../slideLayouts/slideLayout15.xml" Type="http://schemas.openxmlformats.org/officeDocument/2006/relationships/slideLayout"/><Relationship Id="rId9" Target="../slideLayouts/slideLayout1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母版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true">
            <a:off x="-4185" y="529393"/>
            <a:ext cx="567982" cy="507999"/>
          </a:xfrm>
          <a:custGeom>
            <a:avLst/>
            <a:gdLst/>
            <a:ahLst/>
            <a:cxnLst/>
            <a:rect r="r" b="b" t="t" l="l"/>
            <a:pathLst>
              <a:path h="507999" w="567982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5"/>
    <p:sldLayoutId id="2157483700" r:id="rId6"/>
    <p:sldLayoutId id="2157483701" r:id="rId7"/>
    <p:sldLayoutId id="2157483702" r:id="rId8"/>
    <p:sldLayoutId id="2157483703" r:id="rId9"/>
    <p:sldLayoutId id="2157483704" r:id="rId10"/>
    <p:sldLayoutId id="2157483705" r:id="rId11"/>
    <p:sldLayoutId id="2157483706" r:id="rId12"/>
    <p:sldLayoutId id="2157483707" r:id="rId13"/>
    <p:sldLayoutId id="2157483708" r:id="rId14"/>
    <p:sldLayoutId id="215748370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https://www.frontiersin.org/articles/10.3389/fncom.2020.00029/full" TargetMode="External" Type="http://schemas.openxmlformats.org/officeDocument/2006/relationships/hyperlink"/><Relationship Id="rId5" Target="https://authors.library.caltech.edu/40408/1/391.pdf" TargetMode="External" Type="http://schemas.openxmlformats.org/officeDocument/2006/relationships/hyperlink"/><Relationship Id="rId6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10" Target="../media/image16.png" Type="http://schemas.openxmlformats.org/officeDocument/2006/relationships/image"/><Relationship Id="rId11" Target="../notesSlides/notesSlide8.xml" Type="http://schemas.openxmlformats.org/officeDocument/2006/relationships/notesSlide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30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31.png" Type="http://schemas.openxmlformats.org/officeDocument/2006/relationships/image"/><Relationship Id="rId3" Target="../media/image16.png" Type="http://schemas.openxmlformats.org/officeDocument/2006/relationships/image"/><Relationship Id="rId4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49.gif" Type="http://schemas.openxmlformats.org/officeDocument/2006/relationships/image"/><Relationship Id="rId3" Target="../media/image50.gif" Type="http://schemas.openxmlformats.org/officeDocument/2006/relationships/image"/><Relationship Id="rId4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51.png" Type="http://schemas.openxmlformats.org/officeDocument/2006/relationships/image"/><Relationship Id="rId3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52.png" Type="http://schemas.openxmlformats.org/officeDocument/2006/relationships/image"/><Relationship Id="rId3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53.png" Type="http://schemas.openxmlformats.org/officeDocument/2006/relationships/image"/><Relationship Id="rId3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54.png" Type="http://schemas.openxmlformats.org/officeDocument/2006/relationships/image"/><Relationship Id="rId3" Target="../media/image55.png" Type="http://schemas.openxmlformats.org/officeDocument/2006/relationships/image"/><Relationship Id="rId4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60.png" Type="http://schemas.openxmlformats.org/officeDocument/2006/relationships/image"/><Relationship Id="rId3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61.png" Type="http://schemas.openxmlformats.org/officeDocument/2006/relationships/image"/><Relationship Id="rId3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10" Target="https://www.zhihu.com/people/95-22-20-18/posts" TargetMode="External" Type="http://schemas.openxmlformats.org/officeDocument/2006/relationships/hyperlink"/><Relationship Id="rId11" Target="https://flagos.io/Home" TargetMode="External" Type="http://schemas.openxmlformats.org/officeDocument/2006/relationships/hyperlink"/><Relationship Id="rId12" Target="../media/image68.jpeg" Type="http://schemas.openxmlformats.org/officeDocument/2006/relationships/image"/><Relationship Id="rId13" Target="../media/image69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Relationship Id="rId7" Target="../media/image67.png" Type="http://schemas.openxmlformats.org/officeDocument/2006/relationships/image"/><Relationship Id="rId8" Target="https://github.com/flagos-ai" TargetMode="External" Type="http://schemas.openxmlformats.org/officeDocument/2006/relationships/hyperlink"/><Relationship Id="rId9" Target="https://space.bilibili.com/3546791834290849" TargetMode="External" Type="http://schemas.openxmlformats.org/officeDocument/2006/relationships/hyperlink"/></Relationships>
</file>

<file path=ppt/slides/_rels/slide31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70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5" type="pic" sz="quarter"/>
          </p:nvPr>
        </p:nvPicPr>
        <p:blipFill>
          <a:blip r:embed="rId2"/>
          <a:srcRect l="0" r="0" t="349" b="349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tru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智能计算系统</a:t>
            </a:r>
            <a:b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软硬件基础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400" b="false" i="false" u="none" strike="noStrike" spc="0">
                <a:solidFill>
                  <a:srgbClr val="262626">
                    <a:alpha val="100000"/>
                  </a:srgbClr>
                </a:solidFill>
                <a:latin typeface="Chinese Quote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400">
                <a:solidFill>
                  <a:srgbClr val="262626"/>
                </a:solidFill>
                <a:latin typeface="Chinese Quote"/>
                <a:ea typeface="Chinese Quote"/>
                <a:cs typeface="Chinese Quote"/>
                <a:sym typeface="Chinese Quote"/>
              </a:rPr>
              <a:t>Lecture 10</a:t>
            </a:r>
            <a:r>
              <a:rPr lang="en-US" b="false" i="false" strike="noStrike" u="none" sz="5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：注意力机制</a:t>
            </a:r>
            <a:br>
              <a:rPr lang="en-US" b="false" i="false" strike="noStrike" u="none" sz="5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false" i="false" strike="noStrike" u="none" sz="5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原理与算子需求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20445" y="3408045"/>
            <a:ext cx="7472045" cy="331343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从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RNN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到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Transformer</a:t>
            </a:r>
          </a:p>
        </p:txBody>
      </p:sp>
      <p:sp>
        <p:nvSpPr>
          <p:cNvPr name="AutoShape 4" id="4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</a:p>
        </p:txBody>
      </p:sp>
      <p:sp>
        <p:nvSpPr>
          <p:cNvPr name="AutoShape 6" id="6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1980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年代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– RNN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Serial Order: a parallel distributed processing approach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1997 – LSTM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（长短期记忆网络）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2014 – GRU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（通过联合学习对齐与翻译实现神经机器翻译）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2017 – Transformer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Attention is All You Need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Transformer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架构简述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Vaswani, Ashish, et al. "Attention is all you need." Advances in neural information processing systems 30 (2017).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https://jalammar.github.io/illustrated-transformer/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高层概览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98345" y="1858493"/>
            <a:ext cx="4936812" cy="107391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527319" y="3123832"/>
            <a:ext cx="4375458" cy="276241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6009629" y="1494430"/>
            <a:ext cx="5930002" cy="417520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7581" y="2184823"/>
            <a:ext cx="1000000" cy="73333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什么是注意力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? (1/4)</a:t>
            </a:r>
          </a:p>
        </p:txBody>
      </p:sp>
      <p:sp>
        <p:nvSpPr>
          <p:cNvPr name="AutoShape 4" id="4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</a:p>
        </p:txBody>
      </p:sp>
      <p:sp>
        <p:nvSpPr>
          <p:cNvPr name="AutoShape 6" id="6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注意力是一个被广泛研究的概念，通常与唤醒、警觉以及对周围环境的参与程度联系在一起进行研究。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8021657" y="3306385"/>
            <a:ext cx="4020417" cy="287057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949776" y="2287345"/>
            <a:ext cx="9573492" cy="9233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80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在最广义的形式中，注意力可以被描述为一种对周围环境的整体警觉水平或参与能力。</a:t>
            </a:r>
            <a:endParaRPr lang="en-US" sz="1100"/>
          </a:p>
          <a:p>
            <a:pPr algn="r" indent="0">
              <a:lnSpc>
                <a:spcPct val="100000"/>
              </a:lnSpc>
            </a:pPr>
            <a:r>
              <a:rPr lang="en-US" b="false" i="true" strike="noStrike" u="none" sz="1800">
                <a:solidFill>
                  <a:srgbClr val="5555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 </a:t>
            </a:r>
            <a:r>
              <a:rPr lang="en-US" b="false" i="true" strike="noStrike" u="none" sz="1800">
                <a:solidFill>
                  <a:srgbClr val="428BCA"/>
                </a:solidFill>
                <a:latin typeface="微软雅黑"/>
                <a:ea typeface="微软雅黑"/>
                <a:cs typeface="微软雅黑"/>
                <a:sym typeface="微软雅黑"/>
                <a:hlinkClick r:id="rId4" tooltip="https://www.frontiersin.org/articles/10.3389/fncom.2020.00029/ful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《心理学、神经科学与机器学习中的注意力》</a:t>
            </a:r>
            <a:r>
              <a:rPr lang="en-US" b="false" i="true" strike="noStrike" u="none" sz="1800">
                <a:solidFill>
                  <a:srgbClr val="5555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2020.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3726" y="3141663"/>
            <a:ext cx="1000000" cy="73333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942975" y="3314641"/>
            <a:ext cx="6962776" cy="258532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true" strike="noStrike" u="none" sz="180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最早期阶段的神经元对简单的视觉属性进行调谐，例如亮度对比、颜色拮抗、朝向、运动方向和速度，或多种空间尺度下的立体视差。随着从低级视觉区域到高级视觉区域的发展，神经元调谐变得越来越专门化，使得高级视觉区域中包含仅对角点或交界处、明暗形状线索或特定现实物体的视图做出响应的神经元。</a:t>
            </a:r>
            <a:endParaRPr lang="en-US" sz="1100"/>
          </a:p>
          <a:p>
            <a:pPr algn="r" indent="0">
              <a:lnSpc>
                <a:spcPct val="100000"/>
              </a:lnSpc>
            </a:pPr>
            <a:r>
              <a:rPr lang="en-US" b="false" i="true" strike="noStrike" u="none" sz="1800">
                <a:solidFill>
                  <a:srgbClr val="5555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 </a:t>
            </a:r>
            <a:r>
              <a:rPr lang="en-US" b="false" i="true" strike="noStrike" u="none" sz="1800">
                <a:solidFill>
                  <a:srgbClr val="428BCA"/>
                </a:solidFill>
                <a:latin typeface="微软雅黑"/>
                <a:ea typeface="微软雅黑"/>
                <a:cs typeface="微软雅黑"/>
                <a:sym typeface="微软雅黑"/>
                <a:hlinkClick r:id="rId5" tooltip="https://authors.library.caltech.edu/40408/1/391.pd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《视觉注意力的计算建模》</a:t>
            </a:r>
            <a:r>
              <a:rPr lang="en-US" b="false" i="true" strike="noStrike" u="none" sz="1800">
                <a:solidFill>
                  <a:srgbClr val="5555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2001.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什么是注意力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? (2/4)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Bahdanau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注意力机制（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2014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注意力的崛起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为神经机器翻译引入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联合学习对齐与翻译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Luong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注意力机制（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2015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提升效率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引入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全局注意力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，简化并改进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Bahdanau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的方法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302201" y="3607742"/>
            <a:ext cx="5696817" cy="276064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231182" y="3581985"/>
            <a:ext cx="5338127" cy="268467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什么是注意力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? (3/4)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2017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– Attention Is All You Need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完全摒弃循环（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RNN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）和卷积（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CNN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），仅依赖注意力机制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自注意力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多头注意力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稀疏注意力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4375" y="4479426"/>
            <a:ext cx="3220436" cy="223896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4393139" y="4586472"/>
            <a:ext cx="3850198" cy="202487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8703183" y="4555606"/>
            <a:ext cx="3098292" cy="208660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4017938" y="2495787"/>
            <a:ext cx="7090209" cy="172292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什么是注意力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? (4/4)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注意力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示例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https://medium.com/@funcry/in-depth-understanding-of-attention-mechanism-part-ii-scaled-dot-product-attention-and-its-7743804e610e</a:t>
            </a:r>
          </a:p>
        </p:txBody>
      </p:sp>
      <p:sp>
        <p:nvSpPr>
          <p:cNvPr name="AutoShape 6" id="6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44990" y="1924641"/>
            <a:ext cx="3897858" cy="54013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796295" y="2656195"/>
            <a:ext cx="1046331" cy="65915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53793" r="22986" t="0" b="0"/>
          <a:stretch>
            <a:fillRect/>
          </a:stretch>
        </p:blipFill>
        <p:spPr>
          <a:xfrm rot="0" flipH="false" flipV="false">
            <a:off x="1464857" y="2656195"/>
            <a:ext cx="924353" cy="551619"/>
          </a:xfrm>
          <a:prstGeom prst="rect">
            <a:avLst/>
          </a:prstGeom>
          <a:ln w="12700">
            <a:noFill/>
            <a:prstDash val="solid"/>
          </a:ln>
        </p:spPr>
      </p:pic>
      <p:grpSp>
        <p:nvGrpSpPr>
          <p:cNvPr name="Group 10" id="10"/>
          <p:cNvGrpSpPr/>
          <p:nvPr/>
        </p:nvGrpSpPr>
        <p:grpSpPr>
          <a:xfrm>
            <a:off x="2463804" y="2782247"/>
            <a:ext cx="237244" cy="276999"/>
            <a:chOff x="2463804" y="2782247"/>
            <a:chExt cx="237244" cy="276999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0" flipH="false" flipV="false">
              <a:off x="2463804" y="2782247"/>
              <a:ext cx="237244" cy="276999"/>
            </a:xfrm>
            <a:prstGeom prst="rect">
              <a:avLst/>
            </a:prstGeom>
            <a:ln w="25400">
              <a:noFill/>
              <a:prstDash val="solid"/>
            </a:ln>
          </p:spPr>
        </p:pic>
        <p:sp>
          <p:nvSpPr>
            <p:cNvPr name="AutoShape 12" id="12"/>
            <p:cNvSpPr/>
            <p:nvPr/>
          </p:nvSpPr>
          <p:spPr>
            <a:xfrm rot="0" flipH="false" flipV="false">
              <a:off x="2463804" y="2782247"/>
              <a:ext cx="237244" cy="27699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1F2329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lang="en-US" sz="1100"/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1436875" y="4698696"/>
            <a:ext cx="3314087" cy="65915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6022769" y="3750470"/>
            <a:ext cx="1497836" cy="83878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2153735" y="3776289"/>
            <a:ext cx="2444429" cy="907931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5423825" y="4725186"/>
            <a:ext cx="5959852" cy="80883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2261118" y="5471468"/>
            <a:ext cx="2078585" cy="88488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5793901" y="1113550"/>
            <a:ext cx="6270127" cy="152364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背景：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Transformer (1/3)</a:t>
            </a:r>
          </a:p>
        </p:txBody>
      </p:sp>
      <p:sp>
        <p:nvSpPr>
          <p:cNvPr name="AutoShape 3" id="3"/>
          <p:cNvSpPr/>
          <p:nvPr>
            <p:ph idx="11" type="body" sz="quarter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编码器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多头自注意力机制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简单的逐位置前馈网络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解码器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掩码自注意力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编码器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解码器注意力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前馈网络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29128" y="3120022"/>
            <a:ext cx="4464096" cy="21878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5981704" y="3718825"/>
            <a:ext cx="6001935" cy="183373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背景：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Transformer (2/3)</a:t>
            </a:r>
          </a:p>
        </p:txBody>
      </p:sp>
      <p:sp>
        <p:nvSpPr>
          <p:cNvPr name="AutoShape 3" id="3"/>
          <p:cNvSpPr/>
          <p:nvPr>
            <p:ph idx="11" type="body" sz="quarter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张量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编码流程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自注意力层中的依赖路径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前馈层中的独立路径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76975" y="1962301"/>
            <a:ext cx="4950619" cy="68350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92349" y="2789538"/>
            <a:ext cx="5289355" cy="343404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6288563" y="2845451"/>
            <a:ext cx="5434644" cy="341422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背景：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Transformer (3/3)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自注意力机制的高层概览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The animal didn't cross the street because it was too tired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760466" y="2213386"/>
            <a:ext cx="4080775" cy="379261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Q/K/V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矩阵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(1/2)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12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自注意力即信息检索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三元组：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每个词元被转换为三个向量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查询（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我在寻找什么？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键（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我包含什么信息？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值（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我提供的实际内容是什么？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机制：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相似度：计算当前词元的查询与所有其他词元的键之间的兼容性。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权重：将分数通过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函数以获得注意力权重。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输出：最终表示是值的加权求和。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162673" y="1132554"/>
            <a:ext cx="5771277" cy="110057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415482" y="2546513"/>
            <a:ext cx="4838131" cy="117566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Q/K/V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矩阵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(2/2)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13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创建查询、键和值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查询：当前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词元的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提问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——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向所有其他词元询问相关性。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键：该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词元的标识信息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——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用于回答这个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提问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值：该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词元的内容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——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经加权传递到输出。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评分与权重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30469" y="4018047"/>
            <a:ext cx="4556252" cy="271707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670099" y="1951583"/>
            <a:ext cx="4671572" cy="478354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计算流水线：</a:t>
            </a:r>
            <a:r>
              <a:rPr lang="en-US" b="false" i="tru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Attention(Q, K, V)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14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222222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222222"/>
              </a:buClr>
              <a:buChar char="•"/>
            </a:pPr>
            <a:r>
              <a:rPr lang="en-US" b="false" i="false" strike="noStrike" u="none" sz="2400">
                <a:solidFill>
                  <a:srgbClr val="222222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计算查询、键和值矩阵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评分与权重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64465" y="1796800"/>
            <a:ext cx="4078406" cy="471151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663734" y="2975212"/>
            <a:ext cx="4810906" cy="223808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：多头注意力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(1/2)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15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多头注意力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扩展模型关注不同位置的能力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赋予注意力层多个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表示子空间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将这些矩阵压缩为单一矩阵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33855" y="3253324"/>
            <a:ext cx="4571212" cy="301333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939887" y="2066935"/>
            <a:ext cx="4031104" cy="191259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6620812" y="3965520"/>
            <a:ext cx="4433875" cy="250819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：多头注意力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(2/2)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16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多头注意力概览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示例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The animal didn't cross the street because it was too tired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92060" y="2552132"/>
            <a:ext cx="6070613" cy="339829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170350" y="2870107"/>
            <a:ext cx="2807068" cy="255784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6157511" y="2895363"/>
            <a:ext cx="3012839" cy="250732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：位置编码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(1/2)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17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位置编码向量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其值遵循特定模式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示例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维度为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99373" y="2702257"/>
            <a:ext cx="5610924" cy="307789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328600" y="3056343"/>
            <a:ext cx="5514247" cy="145424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：位置编码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(2/2)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18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Tensor2Tensor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实现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个词（行）、嵌入维度为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512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（列）的位置编码真实示例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https://github.com/jalammar/jalammar.github.io/blob/master/notebookes/transformer/transformer_positional_encoding_graph.ipynb</a:t>
            </a:r>
          </a:p>
        </p:txBody>
      </p:sp>
      <p:sp>
        <p:nvSpPr>
          <p:cNvPr name="AutoShape 6" id="6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74579" y="2887046"/>
            <a:ext cx="4431223" cy="328991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037828" y="1323977"/>
            <a:ext cx="3761905" cy="81904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6219822" y="2515862"/>
            <a:ext cx="5809617" cy="3443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：残差连接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19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残差连接与层归一化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由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2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层堆叠编码器和解码器构成的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Transformer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示例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962021" y="2176388"/>
            <a:ext cx="4508957" cy="4003751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5603870" y="2371724"/>
            <a:ext cx="6588130" cy="373824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：解码器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20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解码开始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起始词元：通常为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[BOS]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（序列起始符）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重复该过程直至遇到特殊符号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390526" y="2622857"/>
            <a:ext cx="5591177" cy="307150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096000" y="2405368"/>
            <a:ext cx="5987078" cy="328899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：最终的线性层与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层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21</a:t>
            </a:r>
          </a:p>
        </p:txBody>
      </p:sp>
      <p:sp>
        <p:nvSpPr>
          <p:cNvPr name="AutoShape 4" id="4"/>
          <p:cNvSpPr/>
          <p:nvPr>
            <p:ph idx="12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23872" y="1323977"/>
            <a:ext cx="7771037" cy="477168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大语言模型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仅解码器架构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22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仅解码器：为自回归而生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基于序列中所有先前内容预测下一个词元。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简洁性与效率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单一训练目标：预测下一个词元。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无需平行数据集</a:t>
            </a:r>
            <a:r>
              <a:rPr lang="en-US" b="false" i="false" strike="noStrike" u="none" sz="1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——</a:t>
            </a: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它们昂贵且稀缺。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可高效扩展至数万亿词元。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完美匹配生成式任务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灵活性与涌现能力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可扩展性与行业验证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https://www.c-sharpcorner.com/article/llms-why-modern-llms-like-gpt-are-decoder-only/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仅解码器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vs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编码器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解码器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353886" y="2293936"/>
            <a:ext cx="5596622" cy="291306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注意力的复杂度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(1/2)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23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Transformer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自注意力中，我们计算所有词元对之间的注意力分数：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查询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Q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是一个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(n,d)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矩阵（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个词元，每个维度为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键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K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是一个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(n,d)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矩阵。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我们构建一个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的注意力分数矩阵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QK^T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然后乘以值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V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，它是一个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(n,d)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矩阵。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这需要约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n²d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次运算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随着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增长，二次项占主导地位。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896535" y="2545541"/>
            <a:ext cx="4672012" cy="301576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4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注意力的复杂度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(2/2)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24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b="tru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计算注意力分数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tru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QK^T⇒ (n,d) </a:t>
            </a:r>
            <a:r>
              <a:rPr lang="en-US" b="false" i="tru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tru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(d,n) = </a:t>
            </a:r>
            <a:r>
              <a:rPr lang="en-US" b="true" i="tru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(n,n)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计算量约为：</a:t>
            </a:r>
            <a:r>
              <a:rPr lang="en-US" b="false" i="tru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O(n⋅d⋅n)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 = </a:t>
            </a:r>
            <a:r>
              <a:rPr lang="en-US" b="tru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O(n² d)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这产生一个</a:t>
            </a:r>
            <a:r>
              <a:rPr lang="en-US" b="true" i="tru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分数矩阵</a:t>
            </a:r>
            <a:r>
              <a:rPr lang="en-US" b="false" i="tru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(n,n)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（本质上是所有词元对）。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tru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b="tru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乘以值矩阵</a:t>
            </a:r>
            <a:r>
              <a:rPr lang="en-US" b="tru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V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true" i="tru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分数矩阵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b="false" i="tru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(n,n) </a:t>
            </a:r>
            <a:r>
              <a:rPr lang="en-US" b="false" i="tru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tru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b="true" i="tru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b="false" i="tru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 (n, d) = </a:t>
            </a:r>
            <a:r>
              <a:rPr lang="en-US" b="true" i="tru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(n, d)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计算量同样为：</a:t>
            </a:r>
            <a:r>
              <a:rPr lang="en-US" b="false" i="tru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O(n⋅n⋅d)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= </a:t>
            </a:r>
            <a:r>
              <a:rPr lang="en-US" b="true" i="tru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O(n² d)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因此</a:t>
            </a:r>
            <a:r>
              <a:rPr lang="en-US" b="tru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每次前向传播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中单头注意力块的复杂度约为</a:t>
            </a:r>
            <a:r>
              <a:rPr lang="en-US" b="true" i="tru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O(n² d)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如果是</a:t>
            </a:r>
            <a:r>
              <a:rPr lang="en-US" b="tru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多头注意力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，有</a:t>
            </a:r>
            <a:r>
              <a:rPr lang="en-US" b="true" i="tru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b="tru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个头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，每个头使用维度</a:t>
            </a:r>
            <a:r>
              <a:rPr lang="en-US" b="true" i="tru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d/h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，但需要重复</a:t>
            </a:r>
            <a:r>
              <a:rPr lang="en-US" b="true" i="tru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次。加总后，复杂度仍为</a:t>
            </a:r>
            <a:r>
              <a:rPr lang="en-US" b="false" i="tru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O(n² d)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内存墙问题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25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5" y="1561465"/>
            <a:ext cx="7204710" cy="4615815"/>
          </a:xfrm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注意力计算代价高昂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自注意力的灵活性伴随着高昂代价：其复杂度随输入序列长度呈二次方增长。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Transformer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遇到的瓶颈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KV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缓存爆炸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带宽瓶颈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注意力是你所需的一切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——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直到你需要内存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752921" y="1132554"/>
            <a:ext cx="4048553" cy="22098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752921" y="3471198"/>
            <a:ext cx="4381173" cy="297577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80291" y="1538365"/>
            <a:ext cx="6217659" cy="277403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标准注意力的数据流图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(1/2)</a:t>
            </a:r>
          </a:p>
        </p:txBody>
      </p:sp>
      <p:sp>
        <p:nvSpPr>
          <p:cNvPr name="AutoShape 4" id="4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26</a:t>
            </a:r>
          </a:p>
        </p:txBody>
      </p:sp>
      <p:sp>
        <p:nvSpPr>
          <p:cNvPr name="AutoShape 6" id="6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步骤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：计算注意力分数（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 = QK^T / √d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步骤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：应用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 = softmax(S)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880291" y="4491785"/>
            <a:ext cx="5026303" cy="158267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7853595" y="2279050"/>
            <a:ext cx="2710999" cy="6463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BFBFBF"/>
                </a:solidFill>
                <a:latin typeface="微软雅黑"/>
                <a:ea typeface="微软雅黑"/>
                <a:cs typeface="微软雅黑"/>
                <a:sym typeface="微软雅黑"/>
              </a:rPr>
              <a:t>例如：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N = 4096</a:t>
            </a:r>
            <a:r>
              <a:rPr lang="en-US" b="false" i="false" strike="noStrike" u="none" sz="1800">
                <a:solidFill>
                  <a:srgbClr val="BFBFBF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18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d = 128</a:t>
            </a:r>
            <a:r>
              <a:rPr lang="en-US" b="false" i="false" strike="noStrike" u="none" sz="1800">
                <a:solidFill>
                  <a:srgbClr val="BFBFBF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18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FP16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标准注意力的数据流图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(2/2)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27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步骤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：计算输出（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 = PV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总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HBM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访存量：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52958" y="1740131"/>
            <a:ext cx="5296333" cy="236297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96891" y="4644457"/>
            <a:ext cx="6429145" cy="177913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7853595" y="2279050"/>
            <a:ext cx="2710999" cy="6463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BFBFBF"/>
                </a:solidFill>
                <a:latin typeface="微软雅黑"/>
                <a:ea typeface="微软雅黑"/>
                <a:cs typeface="微软雅黑"/>
                <a:sym typeface="微软雅黑"/>
              </a:rPr>
              <a:t>例如：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N = 4096</a:t>
            </a:r>
            <a:r>
              <a:rPr lang="en-US" b="false" i="false" strike="noStrike" u="none" sz="1800">
                <a:solidFill>
                  <a:srgbClr val="BFBFBF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18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d = 128</a:t>
            </a:r>
            <a:r>
              <a:rPr lang="en-US" b="false" i="false" strike="noStrike" u="none" sz="1800">
                <a:solidFill>
                  <a:srgbClr val="BFBFBF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18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FP16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标准注意力的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内存墙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28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问题：标准注意力复杂度为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O(</a:t>
            </a:r>
            <a:r>
              <a:rPr lang="en-US" b="false" i="tru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n²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痛点：显存消耗随序列长度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呈二次方增长，导致在长上下文处理中频繁出现显存溢出（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OOM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）错误。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关键问题：我们真的需要实体化并存储那个巨大的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注意力矩阵吗？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11381" y="3562143"/>
            <a:ext cx="5701146" cy="297677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FlagOS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统一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系统软件栈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xfrm rot="0" flipH="false" flipV="false">
            <a:off x="724535" y="6356350"/>
            <a:ext cx="11076940" cy="365125"/>
          </a:xfrm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name="Picture 4" id="4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3" r="3" t="0" b="0"/>
          <a:stretch>
            <a:fillRect/>
          </a:stretch>
        </p:blipFill>
        <p:spPr>
          <a:xfrm rot="0" flipH="false" flipV="false">
            <a:off x="741493" y="1256030"/>
            <a:ext cx="9408534" cy="4852988"/>
          </a:xfrm>
          <a:prstGeom prst="rect">
            <a:avLst/>
          </a:prstGeom>
        </p:spPr>
      </p:pic>
    </p:spTree>
  </p:cSld>
  <p:clrMapOvr>
    <a:masterClrMapping/>
  </p:clrMapOvr>
  <p:transition main:dur="1000">
    <p:fade thruBlk="false"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98364" y="1689569"/>
            <a:ext cx="356915" cy="356915"/>
          </a:xfrm>
          <a:prstGeom prst="ellipse">
            <a:avLst/>
          </a:prstGeom>
          <a:blipFill rotWithShape="true">
            <a:blip r:embed="rId2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03244" y="1689569"/>
            <a:ext cx="356915" cy="356915"/>
          </a:xfrm>
          <a:prstGeom prst="ellipse">
            <a:avLst/>
          </a:prstGeom>
          <a:blipFill rotWithShape="true">
            <a:blip r:embed="rId3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08124" y="1689569"/>
            <a:ext cx="356915" cy="356915"/>
          </a:xfrm>
          <a:prstGeom prst="ellipse">
            <a:avLst/>
          </a:prstGeom>
          <a:blipFill rotWithShape="true">
            <a:blip r:embed="rId4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98364" y="3577269"/>
            <a:ext cx="356915" cy="356915"/>
          </a:xfrm>
          <a:prstGeom prst="ellipse">
            <a:avLst/>
          </a:prstGeom>
          <a:blipFill rotWithShape="true">
            <a:blip r:embed="rId5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03244" y="3577269"/>
            <a:ext cx="356915" cy="356915"/>
          </a:xfrm>
          <a:prstGeom prst="ellipse">
            <a:avLst/>
          </a:prstGeom>
          <a:blipFill rotWithShape="true">
            <a:blip r:embed="rId6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08124" y="3577269"/>
            <a:ext cx="356915" cy="356915"/>
          </a:xfrm>
          <a:prstGeom prst="ellipse">
            <a:avLst/>
          </a:prstGeom>
          <a:blipFill rotWithShape="true">
            <a:blip r:embed="rId7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8" tooltip="https://github.com/flagos-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https://github.com/flagos-ai</a:t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9" tooltip="https://space.bilibili.com/354679183429084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https://space.bilibili.com/3546791834290849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0" tooltip="https://www.zhihu.com/people/95-22-20-18/po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https://www.zhihu.com/people/95-22-20-18/posts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1" tooltip="https://flagos.io/Ho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https://flagos.io/Home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7" type="pic" sz="quarter"/>
          </p:nvPr>
        </p:nvPicPr>
        <p:blipFill>
          <a:blip r:embed="rId2"/>
          <a:srcRect l="2306" r="2305" t="0" b="0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069661" y="2424583"/>
            <a:ext cx="4670511" cy="2664541"/>
          </a:xfrm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感谢观看！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