
<file path=[Content_Types].xml><?xml version="1.0" encoding="utf-8"?>
<Types xmlns="http://schemas.openxmlformats.org/package/2006/content-types"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notesSlides/notesSlide1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今天我们聚焦Lecture 13的主题——卷积算子优化。卷积算子在深度学习领域至关重要，广泛应用于图像识别、自然语言处理等众多场景。然而，其朴素实现往往存在效率问题，影响计算速度和资源利用率。所以卷积算子优化意义重大，能提升算法性能，推动相关技术发展。接下来我们将深入探讨优化方法和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我们来了解二维卷积的基本概念。其实现原理包含输入、输出和核心操作。输入有输入特征图、权重矩阵，偏置是可选的。经过一系列处理后，输出输出特征图。核心操作是乘累加，也就是Multiply - Accumulation（MAC）。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从实现方式看，有一种朴素实现方法采用了7层循环。这7层循环在数学上能正确完成卷积操作，但从性能角度来说，可能存在一些问题，后续或许会导致效率低下等状况，这也是后续我们需要去优化改进的地方。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二维卷积在实际应用中有多种变体，每种变体都有独特的应用场景和优势。转置卷积，也被称为反卷积，它能实现上采样操作，在图像生成、语义分割等领域发挥着重要作用，比如可以帮助恢复图像的尺寸。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膨胀卷积，通过在卷积核元素间插入空洞，扩大了卷积核的感受野，却不增加参数数量，这使得模型能在不损失分辨率的情况下获取更多上下文信息，在目标检测和语义分割任务中效果显著。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分组卷积则是将输入通道和输出通道进行分组，每组独立进行卷积操作，这样能减少计算量，提高训练效率，在一些轻量级网络架构设计中经常被采用。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本次演讲上半部分介绍了二维卷积的基本概念、变体等内容，接下来聚焦卷积神经网络（CNN）。这里列举了四个经典网络：Lenet - 5、AlexNet、VGG和ResNet，它们在卷积神经网络的发展历程中各有价值，推动了该领域的技术进步。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经典卷积算子的朴素7层卷积实现，虽数学层面合理，但结构上存在诸多问题。空间局部性的缺失使得数据的存储和访问不够高效，造成计算机在处理数据时不能很好地利用缓存，频繁地从内存中读取数据，耗费大量时间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分支预测错误也是一大问题，计算机在执行指令时，因不能准确预测分支走向，不断进行回退和重新计算，降低计算效率。同时，向量化缺失意味着无法充分发挥现代CPU的并行计算能力，只能逐个处理数据。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从FLOPs计算公式来看，计算量巨大。这几项因素合起来，大大降低了运算效率，导致这种朴素实现方式整体表现低效。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卷积算子优化的研究中，屋顶线模型是重要分析工具。它聚焦于算力与内存带宽的关系。就朴素的7层卷积实现而言，存在明显问题。由于其低效性，常常导致CPU处于等待数据的状态。这意味着在计算过程中，算力无法充分发挥，因为内存带宽无法及时提供所需数据，造成资源浪费。所以，我们需要寻找更优的卷积实现方式，以平衡算力和内存带宽，提高计算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Img2Col变换是一种极为关键的技术，它能把几何位置信息转化为代数信息。具体而言，就是将二维卷积转化为通用矩阵乘法。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这一转化意义重大。在之前我们了解到朴素7层卷积实现存在低效性，而Img2Col变换提供了新的解决思路。通过将二维卷积转化为通用矩阵乘法，就能有效利用硬件厂商提供的代数库的高性能矩阵乘法实现，如Intel MKL、NVIDIA cuBLAS等，从而提升运算效率。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卷积运算里，Img2Col变换有着重要地位。我们来对比经典卷积实现与Img2Col卷积实现，重点在于如何构建输入特征和Kernel矩阵。经典卷积实现按传统卷积规则进行计算，而Img2Col变换将二维卷积转化为通用矩阵乘法。构建输入特征和Kernel矩阵时，Img2Col变换把几何位置信息转化为代数信息，能有效利用硬件厂商提供的高性能矩阵乘法库。这不仅是计算方式的转变，更是对卷积运算效率的深度挖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Img2Col变换的一大显著优势在于，它能够让我们有效利用硬件厂商提供的代数库，实现高性能矩阵乘法。像Intel MKL、NVIDIA cuBLAS、Ascend catlass等，都是可以借助的工具。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为了进一步提升矩阵乘法的性能，还有一些常见的优化技术。Micro - Kernel优化能让矩阵乘法在微观层面更高效；访存与数据排布优化可以减少数据访问的时间开销，提高数据处理的流畅性；缓存分块则能充分利用缓存，减少数据在内存和处理器之间的频繁传输。这些优化技术能让矩阵乘法在计算效率上更上一层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Img2Col变换虽能将二维卷积转化为通用矩阵乘法，有效利用硬件厂商的高性能矩阵乘法实现，但也带来了副作用，即内存足迹增长。这意味着在使用Img2Col变换时，系统需要更多的内存来存储数据。内存足迹的增长可能会导致内存资源紧张，影响系统的性能和效率。所以在实际应用中，我们需要权衡Img2Col变换带来的性能提升和内存消耗之间的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Winograd卷积有着独特的基础概念。在一维情况下，使用r-tap FIR滤波器计算m个输出，记为F(m, r)，这里涉及到特定的乘法次数计算。在更常见的二维卷积运算里，用r × s滤波器计算m × n个输出，记作F(m × n, r × s)，也有对应的乘法次数要求。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这些概念是Winograd卷积算法的基石，它为后续研究卷积运算中如何减少乘法次数、提升运算效率提供了理论依据，值得深入探究。相关文献也能帮助我们进一步了解其具体内容和原理。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Winograd卷积在优化卷积运算方面表现出色，以一维卷积F(2,3)为例，传统算法需2×3 = 6次乘法，而Winograd卷积通过利用m1至m4重写计算结果，仅需4次乘法、11次加法和2次算术右移。这一转变大大减少了乘法运算次数，提高了计算效率。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值得注意的是g1 + g2可复用，这进一步提升了Winograd卷积的计算效率，减少了不必要的计算量。这种优化方式体现了Winograd卷积在算法设计上的精妙之处，为卷积运算的高效实现提供了新的思路。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Winograd卷积的这种优化在实际应用中具有重要意义，能够有效提升卷积运算的速度和性能，为相关领域的发展提供有力支持。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inograd快速卷积算法有显著优势，它能够写成矩阵形式。将二维卷积表示为矩阵形式，这一转变意义重大。矩阵形式的表达让算法在计算和分析上更加高效、规范。借助矩阵运算的特性，可以更好地利用计算机的计算资源，提升计算速度和效率。在实际应用中，这种矩阵形式的表示也有助于算法的优化和改进，为卷积运算的发展提供了新的思路和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之前已知 Winograd 卷积的 F(2×2, 3×3) 运算高效，那 F(4×4, 3×3) 表现如何？理论上，它能将乘法运算减少 6 倍，这一数据相当诱人，似乎预示着更高的运算效率。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然而实际情况并非如此简单。F(4×4, 3×3) 的变换矩阵 A、G、B 复杂程度大幅提升，这种复杂度的增加会抵消掉乘法次数减少带来的优势。而且，随着 tile 尺寸增大，变换矩阵元素的取值量级也随之增大，这无疑又给运算增加了难度。这提醒我们在应用 Winograd 卷积时，要综合考量各方面因素，不能只看乘法次数的减少。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前面介绍了Winograd卷积的基础概念，现在来看看其性能比较。Winograd卷积有显著优势，像一维卷积F(2,3)，传统算法需6次乘法，它仅需4次，还能复用部分计算，减少乘法次数。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不过也存在局限性，如F(4×4, 3×3)理论上可减6倍乘法运算，但变换矩阵复杂，复杂度会抵消乘法减少带来的收益，且矩阵元素量级随tile尺寸增大而增大。综合来看，评估Winograd卷积性能需权衡其优势与局限。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本次演讲主要探讨了直接卷积、img2col + GEMM 和 Winograd 三种卷积方式。Img2Col 变换将几何位置信息转化为代数信息，能有效利用硬件代数库进行高性能矩阵乘法，但会导致内存足迹增长。Winograd 卷积则能减少乘法运算次数，不过随着 tile 尺寸增大，变换复杂度会抵消乘法次数减少带来的收益。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综合比较，不同卷积方式各有优劣。直接卷积可能更直观但效率或许有限；img2col + GEMM 借助代数库优化计算，但有内存问题；Winograd 卷积理论上减少乘法次数，却受变换复杂度影响。在实际应用中，需根据具体场景和需求权衡选择合适的卷积方式。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简介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面向多芯片的统一、开源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，是由芯片企业、系统厂商、算法和软件相关单位、非营利性组织、科研机构等十多家国内外机构共同发起并创立的，围绕多种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芯片使用的核心痛点问题，打造的包括通用算子库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、自动迁移发版平台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FlagRelease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和多芯片评测工具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的系统软件生态。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让我们看到了打破不同芯片软件栈之间生态隔离的可能性，将有效降低开发者的迁移成本。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官网：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交互式问答入口：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https://wiki.flagos.io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官方文档：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https://docs.flagos.io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最新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版本介绍：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https://mp.weixin.qq.com/s/eBgg6_5FJV-RuYk5fBQvOg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💕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真诚开源，欢迎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Star-Watch-Fork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、高性能通用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https://github.com/flagos-ai/FlagGems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FlagTree: https://github.com/flagos-ai/flagtree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https://github.com/flagos-ai/FlagScale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https://github.com/flagos-ai/FlagCX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FlagPerf: https://github.com/flagos-ai/flagperf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、算子自动生成工具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KernelGen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https://kernelgen.flagos.io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、大模型发版工具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FlagRelease: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https://modelscope.cn/organization/FlagRelease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https://huggingface.co/FlagRelease/models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https://www.wisemodel.cn/models/FlagRelease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https://www.gpufree.cn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https://www.aihuanxin.cn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国内镜像站点：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https://gitcode.com/flagos-ai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https://gitee.com/flagos-ai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微信公众号：智源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视频号：智源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xfrm rot="0" flipH="false" flipV="false"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304800" lvl="1" marL="6477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54000" lvl="2" marL="939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203200" lvl="3" marL="1231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name="Connector 4" id="4"/>
            <p:cNvCxnSpPr/>
            <p:nvPr/>
          </p:nvCxnSpPr>
          <p:spPr>
            <a:xfrm rot="0" flipH="false" flipV="false"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name="Freeform 6" id="6"/>
              <p:cNvSpPr/>
              <p:nvPr/>
            </p:nvSpPr>
            <p:spPr>
              <a:xfrm rot="0" flipH="false" flipV="false"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r="r" b="b" t="t" l="l"/>
                <a:pathLst>
                  <a:path h="1154112" w="301824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7" id="7"/>
              <p:cNvSpPr/>
              <p:nvPr/>
            </p:nvSpPr>
            <p:spPr>
              <a:xfrm rot="0" flipH="false" flipV="false"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r="r" b="b" t="t" l="l"/>
                <a:pathLst>
                  <a:path h="155575" w="158940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8" id="8"/>
              <p:cNvSpPr/>
              <p:nvPr/>
            </p:nvSpPr>
            <p:spPr>
              <a:xfrm rot="0" flipH="false" flipV="false"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r="r" b="b" t="t" l="l"/>
                <a:pathLst>
                  <a:path h="188912" w="191049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r="r" b="b" t="t" l="l"/>
                <a:pathLst>
                  <a:path h="1801812" w="311457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0" flipH="false" flipV="false"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r="r" b="b" t="t" l="l"/>
                <a:pathLst>
                  <a:path h="188913" w="192654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name="AutoShape 12" id="12"/>
          <p:cNvSpPr/>
          <p:nvPr>
            <p:ph idx="20" type="body" sz="quarter" hasCustomPrompt="true"/>
          </p:nvPr>
        </p:nvSpPr>
        <p:spPr>
          <a:xfrm rot="0" flipH="false" flipV="false"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240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日期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43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7.xml" Type="http://schemas.openxmlformats.org/officeDocument/2006/relationships/slideLayout"/><Relationship Id="rId11" Target="../slideLayouts/slideLayout18.xml" Type="http://schemas.openxmlformats.org/officeDocument/2006/relationships/slideLayout"/><Relationship Id="rId12" Target="../slideLayouts/slideLayout19.xml" Type="http://schemas.openxmlformats.org/officeDocument/2006/relationships/slideLayout"/><Relationship Id="rId13" Target="../slideLayouts/slideLayout20.xml" Type="http://schemas.openxmlformats.org/officeDocument/2006/relationships/slideLayout"/><Relationship Id="rId14" Target="../slideLayouts/slideLayout21.xml" Type="http://schemas.openxmlformats.org/officeDocument/2006/relationships/slideLayout"/><Relationship Id="rId15" Target="../slideLayouts/slideLayout22.xml" Type="http://schemas.openxmlformats.org/officeDocument/2006/relationships/slideLayout"/><Relationship Id="rId16" Target="../media/image4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2.xml" Type="http://schemas.openxmlformats.org/officeDocument/2006/relationships/slideLayout"/><Relationship Id="rId6" Target="../slideLayouts/slideLayout13.xml" Type="http://schemas.openxmlformats.org/officeDocument/2006/relationships/slideLayout"/><Relationship Id="rId7" Target="../slideLayouts/slideLayout14.xml" Type="http://schemas.openxmlformats.org/officeDocument/2006/relationships/slideLayout"/><Relationship Id="rId8" Target="../slideLayouts/slideLayout15.xml" Type="http://schemas.openxmlformats.org/officeDocument/2006/relationships/slideLayout"/><Relationship Id="rId9" Target="../slideLayouts/slideLayout1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母版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true">
            <a:off x="-4185" y="529393"/>
            <a:ext cx="567982" cy="507999"/>
          </a:xfrm>
          <a:custGeom>
            <a:avLst/>
            <a:gdLst/>
            <a:ahLst/>
            <a:cxnLst/>
            <a:rect r="r" b="b" t="t" l="l"/>
            <a:pathLst>
              <a:path h="507999" w="567982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5"/>
    <p:sldLayoutId id="2157483700" r:id="rId6"/>
    <p:sldLayoutId id="2157483701" r:id="rId7"/>
    <p:sldLayoutId id="2157483702" r:id="rId8"/>
    <p:sldLayoutId id="2157483703" r:id="rId9"/>
    <p:sldLayoutId id="2157483704" r:id="rId10"/>
    <p:sldLayoutId id="2157483705" r:id="rId11"/>
    <p:sldLayoutId id="2157483706" r:id="rId12"/>
    <p:sldLayoutId id="2157483707" r:id="rId13"/>
    <p:sldLayoutId id="2157483708" r:id="rId14"/>
    <p:sldLayoutId id="215748370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5.png" Type="http://schemas.openxmlformats.org/officeDocument/2006/relationships/image"/><Relationship Id="rId3" Target="../media/image6.gif" Type="http://schemas.openxmlformats.org/officeDocument/2006/relationships/image"/><Relationship Id="rId4" Target="../media/image7.gif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0.gif" Type="http://schemas.openxmlformats.org/officeDocument/2006/relationships/image"/><Relationship Id="rId3" Target="../media/image11.gif" Type="http://schemas.openxmlformats.org/officeDocument/2006/relationships/image"/><Relationship Id="rId4" Target="../media/image12.png" Type="http://schemas.openxmlformats.org/officeDocument/2006/relationships/image"/><Relationship Id="rId5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7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8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9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0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8.png" Type="http://schemas.openxmlformats.org/officeDocument/2006/relationships/image"/><Relationship Id="rId3" Target="../media/image21.pn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2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https://epubs.siam.org/doi/abs/10.1137/0209021" TargetMode="External" Type="http://schemas.openxmlformats.org/officeDocument/2006/relationships/hyperlink"/><Relationship Id="rId3" Target="https://arxiv.org/pdf/1509.09308" TargetMode="External" Type="http://schemas.openxmlformats.org/officeDocument/2006/relationships/hyperlink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https://epubs.siam.org/doi/abs/10.1137/0209021" TargetMode="External" Type="http://schemas.openxmlformats.org/officeDocument/2006/relationships/hyperlink"/><Relationship Id="rId3" Target="https://arxiv.org/pdf/1509.09308" TargetMode="External" Type="http://schemas.openxmlformats.org/officeDocument/2006/relationships/hyperlink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https://epubs.siam.org/doi/abs/10.1137/0209021" TargetMode="External" Type="http://schemas.openxmlformats.org/officeDocument/2006/relationships/hyperlink"/><Relationship Id="rId3" Target="https://arxiv.org/pdf/1509.09308" TargetMode="External" Type="http://schemas.openxmlformats.org/officeDocument/2006/relationships/hyperlink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https://arxiv.org/pdf/1509.09308" TargetMode="External" Type="http://schemas.openxmlformats.org/officeDocument/2006/relationships/hyperlink"/><Relationship Id="rId3" Target="../media/image30.png" Type="http://schemas.openxmlformats.org/officeDocument/2006/relationships/image"/><Relationship Id="rId4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https://arxiv.org/pdf/1509.09308" TargetMode="External" Type="http://schemas.openxmlformats.org/officeDocument/2006/relationships/hyperlink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https://arxiv.org/pdf/1509.09308" TargetMode="External" Type="http://schemas.openxmlformats.org/officeDocument/2006/relationships/hyperlink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33.pn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10" Target="https://www.zhihu.com/people/95-22-20-18/posts" TargetMode="External" Type="http://schemas.openxmlformats.org/officeDocument/2006/relationships/hyperlink"/><Relationship Id="rId11" Target="https://flagos.io/Home" TargetMode="External" Type="http://schemas.openxmlformats.org/officeDocument/2006/relationships/hyperlink"/><Relationship Id="rId12" Target="../media/image40.jpeg" Type="http://schemas.openxmlformats.org/officeDocument/2006/relationships/image"/><Relationship Id="rId13" Target="../media/image41.png" Type="http://schemas.openxmlformats.org/officeDocument/2006/relationships/image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https://github.com/flagos-ai" TargetMode="External" Type="http://schemas.openxmlformats.org/officeDocument/2006/relationships/hyperlink"/><Relationship Id="rId9" Target="https://space.bilibili.com/3546791834290849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42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5" type="pic" sz="quarter"/>
          </p:nvPr>
        </p:nvPicPr>
        <p:blipFill>
          <a:blip r:embed="rId2"/>
          <a:srcRect l="0" r="0" t="349" b="349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智能计算系统</a:t>
            </a:r>
            <a:b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软硬件基础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Lecture 13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：卷积算子优化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二维卷积的基本概念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5" y="1264920"/>
            <a:ext cx="7710805" cy="4912360"/>
          </a:xfrm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实现原理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输入：输入特征图、权重矩阵、偏置（可选）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input feature maps, weight matrix, bias (optional)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输出：输出特征图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核心操作：乘累加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Multiply-Accumulation (MAC)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34909" y="747952"/>
            <a:ext cx="3091999" cy="2381792"/>
          </a:xfrm>
          <a:prstGeom prst="rect">
            <a:avLst/>
          </a:prstGeom>
          <a:ln w="12700">
            <a:noFill/>
            <a:prstDash val="solid"/>
          </a:ln>
        </p:spPr>
      </p:pic>
      <p:grpSp>
        <p:nvGrpSpPr>
          <p:cNvPr name="Group 7" id="7"/>
          <p:cNvGrpSpPr/>
          <p:nvPr/>
        </p:nvGrpSpPr>
        <p:grpSpPr>
          <a:xfrm>
            <a:off x="7509183" y="3129744"/>
            <a:ext cx="4373324" cy="3591732"/>
            <a:chOff x="7509183" y="3129744"/>
            <a:chExt cx="4373324" cy="3591732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7509183" y="3129744"/>
              <a:ext cx="4373324" cy="1761445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0" r="0" t="0" b="0"/>
            <a:stretch>
              <a:fillRect/>
            </a:stretch>
          </p:blipFill>
          <p:spPr>
            <a:xfrm rot="0" flipH="false" flipV="false">
              <a:off x="7509184" y="4891189"/>
              <a:ext cx="4373323" cy="1830287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grpSp>
        <p:nvGrpSpPr>
          <p:cNvPr name="Group 10" id="10"/>
          <p:cNvGrpSpPr/>
          <p:nvPr/>
        </p:nvGrpSpPr>
        <p:grpSpPr>
          <a:xfrm>
            <a:off x="1079142" y="3048169"/>
            <a:ext cx="4911112" cy="3218488"/>
            <a:chOff x="1079142" y="3048169"/>
            <a:chExt cx="4911112" cy="3218488"/>
          </a:xfrm>
        </p:grpSpPr>
        <p:grpSp>
          <p:nvGrpSpPr>
            <p:cNvPr name="Group 11" id="11"/>
            <p:cNvGrpSpPr/>
            <p:nvPr/>
          </p:nvGrpSpPr>
          <p:grpSpPr>
            <a:xfrm>
              <a:off x="1079142" y="3048169"/>
              <a:ext cx="4911112" cy="3218488"/>
              <a:chOff x="1079142" y="3048169"/>
              <a:chExt cx="4911112" cy="3218488"/>
            </a:xfrm>
          </p:grpSpPr>
          <p:pic>
            <p:nvPicPr>
              <p:cNvPr name="Picture 12" id="12"/>
              <p:cNvPicPr>
                <a:picLocks noChangeAspect="true"/>
              </p:cNvPicPr>
              <p:nvPr/>
            </p:nvPicPr>
            <p:blipFill>
              <a:blip r:embed="rId5"/>
              <a:srcRect l="0" r="0" t="0" b="0"/>
              <a:stretch>
                <a:fillRect/>
              </a:stretch>
            </p:blipFill>
            <p:spPr>
              <a:xfrm rot="0" flipH="false" flipV="false">
                <a:off x="1079142" y="3048169"/>
                <a:ext cx="4911112" cy="3218488"/>
              </a:xfrm>
              <a:prstGeom prst="rect">
                <a:avLst/>
              </a:prstGeom>
              <a:ln w="12700">
                <a:noFill/>
                <a:prstDash val="solid"/>
              </a:ln>
            </p:spPr>
          </p:pic>
          <p:sp>
            <p:nvSpPr>
              <p:cNvPr name="AutoShape 13" id="13"/>
              <p:cNvSpPr/>
              <p:nvPr/>
            </p:nvSpPr>
            <p:spPr>
              <a:xfrm rot="0" flipH="false" flipV="false">
                <a:off x="3750906" y="4891189"/>
                <a:ext cx="1959429" cy="1321290"/>
              </a:xfrm>
              <a:prstGeom prst="rect">
                <a:avLst/>
              </a:prstGeom>
              <a:solidFill>
                <a:srgbClr val="232428">
                  <a:alpha val="100000"/>
                </a:srgbClr>
              </a:solidFill>
              <a:ln w="12700" cap="flat">
                <a:noFill/>
                <a:prstDash val="solid"/>
              </a:ln>
            </p:spPr>
            <p:txBody>
              <a:bodyPr anchor="ctr" rtlCol="false" wrap="square" lIns="91440" rIns="91440" tIns="45720" bIns="45720">
                <a:noAutofit/>
              </a:bodyPr>
              <a:lstStyle/>
              <a:p>
                <a:pPr algn="ctr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8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lang="en-US" sz="1100"/>
              </a:p>
            </p:txBody>
          </p:sp>
        </p:grpSp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6"/>
            <a:srcRect l="0" r="0" t="0" b="0"/>
            <a:stretch>
              <a:fillRect/>
            </a:stretch>
          </p:blipFill>
          <p:spPr>
            <a:xfrm rot="0" flipH="false" flipV="false">
              <a:off x="2054226" y="4160283"/>
              <a:ext cx="247650" cy="926067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sp>
        <p:nvSpPr>
          <p:cNvPr name="AutoShape 15" id="15"/>
          <p:cNvSpPr/>
          <p:nvPr/>
        </p:nvSpPr>
        <p:spPr>
          <a:xfrm rot="0" flipH="false" flipV="false">
            <a:off x="3093483" y="5223466"/>
            <a:ext cx="2146742" cy="369332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朴素实现：</a:t>
            </a:r>
            <a:r>
              <a:rPr lang="en-US" b="false" i="false" strike="noStrike" u="none" sz="1800">
                <a:solidFill>
                  <a:srgbClr val="000000"/>
                </a:solidFill>
                <a:latin typeface="Bahnschrift"/>
                <a:ea typeface="Bahnschrift"/>
                <a:cs typeface="Bahnschrift"/>
                <a:sym typeface="Bahnschrift"/>
              </a:rPr>
              <a:t>7</a:t>
            </a: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层循环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二维卷积的变体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23227" y="1747507"/>
            <a:ext cx="3276600" cy="36766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4214812" y="1689130"/>
            <a:ext cx="3762375" cy="36290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1667231" y="5437143"/>
            <a:ext cx="1210588" cy="4001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转置卷积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371401" y="5367954"/>
            <a:ext cx="1210588" cy="4001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膨胀卷积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8192175" y="1392225"/>
            <a:ext cx="3918857" cy="4073549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9518323" y="5367954"/>
            <a:ext cx="1210588" cy="4001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分组卷积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卷积神经网络（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CNN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99852" y="1665424"/>
            <a:ext cx="6345454" cy="193833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346252" y="4196775"/>
            <a:ext cx="5777457" cy="164487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7635208" y="1448490"/>
            <a:ext cx="3892143" cy="228141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7185637" y="3952097"/>
            <a:ext cx="4435929" cy="173438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2988119" y="3597901"/>
            <a:ext cx="1101546" cy="396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Lenet-5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988119" y="5640305"/>
            <a:ext cx="1096238" cy="396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AlexNet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078000" y="3596833"/>
            <a:ext cx="695196" cy="3962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VGG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078000" y="5478142"/>
            <a:ext cx="1019492" cy="396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ResNet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朴素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层卷积实现的低效性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以经典卷积算子为例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数学上正确，结构上灾难：空间局部性、分支预测错误、向量化缺失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FLOPs = 2 * OutChannel * InChannel * OutHeight * OutWidth * KernelHeight * KernelWidth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915760" y="2844879"/>
            <a:ext cx="10205038" cy="342177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分析工具：屋顶线模型（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Roofline Model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算力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vs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内存带宽：朴素实现常常让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等待数据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716204" y="2038768"/>
            <a:ext cx="8037906" cy="422788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Img2Col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变换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将几何位置信息转化为代数信息：二维卷积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-&gt;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通用矩阵乘法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01012" y="2372960"/>
            <a:ext cx="9433249" cy="416595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Img2Col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变换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9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经典卷积实现和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Img2Col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卷积实现的比较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重点：如何构建输入特征和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Kernel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矩阵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181383" y="2403810"/>
            <a:ext cx="7107547" cy="43111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Img2Col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变换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转化后将有效利用硬件厂商提供的代数库的高性能矩阵乘法实现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Intel MKL, NVIDIA cuBLAS, Ascend catlass,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等等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algn="l" indent="-254000" lvl="1" marL="596900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矩阵乘法的常见优化技术：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(1) Micro-Kernel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优化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(2)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访存与数据排布优化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; (3)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缓存分块等等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>
            <a:off x="1061766" y="3652761"/>
            <a:ext cx="10068467" cy="2368800"/>
            <a:chOff x="1061766" y="3652761"/>
            <a:chExt cx="10068467" cy="236880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1061766" y="3664431"/>
              <a:ext cx="4481288" cy="2357130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6643999" y="3652761"/>
              <a:ext cx="4486234" cy="236880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sp>
        <p:nvSpPr>
          <p:cNvPr name="AutoShape 9" id="9"/>
          <p:cNvSpPr/>
          <p:nvPr/>
        </p:nvSpPr>
        <p:spPr>
          <a:xfrm rot="0" flipH="false" flipV="false">
            <a:off x="5754374" y="4586790"/>
            <a:ext cx="653143" cy="25037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Img2Col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变换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11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Img2Col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变换带来的副作用：内存足迹（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Memory Footprint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）增长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698171" y="2073790"/>
            <a:ext cx="8610600" cy="410317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Winograd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卷积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[1] 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  <a:hlinkClick r:id="rId2" tooltip="https://epubs.siam.org/doi/abs/10.1137/02090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https://epubs.siam.org/doi/abs/10.1137/0209021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[2] 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  <a:hlinkClick r:id="rId3" tooltip="https://arxiv.org/pdf/1509.0930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https://arxiv.org/pdf/1509.09308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12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基础概念：使用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r-tap FIR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滤波器计算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个输出，记为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F(m, r)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，其所需乘法次数为：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在二维卷积运算中，使用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s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滤波器计算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个输出，记为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F(m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n, r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s)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。这些运算所需乘法次数为：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3875232" y="2249462"/>
            <a:ext cx="3412259" cy="49068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2961698" y="3887310"/>
            <a:ext cx="6268604" cy="10039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Winograd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卷积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[1] 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  <a:hlinkClick r:id="rId2" tooltip="https://epubs.siam.org/doi/abs/10.1137/02090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https://epubs.siam.org/doi/abs/10.1137/0209021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[2] 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  <a:hlinkClick r:id="rId3" tooltip="https://arxiv.org/pdf/1509.0930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https://arxiv.org/pdf/1509.09308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13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以一维卷积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F(2,3)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为例，传统算法需要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3=6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次乘法。而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Winograd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卷积则利用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至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m4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重写计算结果：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因此仅需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次乘法、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次加法和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次算术右移。其中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g1+g2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可复用。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2971800" y="2291747"/>
            <a:ext cx="5202382" cy="84861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2847109" y="3215267"/>
            <a:ext cx="5433291" cy="12790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Winograd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卷积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[1] 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  <a:hlinkClick r:id="rId2" tooltip="https://epubs.siam.org/doi/abs/10.1137/02090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https://epubs.siam.org/doi/abs/10.1137/0209021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[2] 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  <a:hlinkClick r:id="rId3" tooltip="https://arxiv.org/pdf/1509.0930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https://arxiv.org/pdf/1509.09308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14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因此，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Winograd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快速卷积算法可写成矩阵形式：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二维卷积可表示为：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439804" y="1818753"/>
            <a:ext cx="3312391" cy="580969"/>
          </a:xfrm>
          <a:prstGeom prst="rect">
            <a:avLst/>
          </a:prstGeom>
          <a:ln w="12700">
            <a:noFill/>
            <a:prstDash val="solid"/>
          </a:ln>
        </p:spPr>
      </p:pic>
      <p:grpSp>
        <p:nvGrpSpPr>
          <p:cNvPr name="Group 7" id="7"/>
          <p:cNvGrpSpPr/>
          <p:nvPr/>
        </p:nvGrpSpPr>
        <p:grpSpPr>
          <a:xfrm>
            <a:off x="0" y="2399722"/>
            <a:ext cx="12053449" cy="1255718"/>
            <a:chOff x="0" y="2399722"/>
            <a:chExt cx="12053449" cy="1255718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5"/>
            <a:srcRect l="0" r="0" t="1321" b="68441"/>
            <a:stretch>
              <a:fillRect/>
            </a:stretch>
          </p:blipFill>
          <p:spPr>
            <a:xfrm rot="0" flipH="false" flipV="false">
              <a:off x="0" y="2399722"/>
              <a:ext cx="3662089" cy="1216314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5"/>
            <a:srcRect l="0" r="0" t="31227" b="38808"/>
            <a:stretch>
              <a:fillRect/>
            </a:stretch>
          </p:blipFill>
          <p:spPr>
            <a:xfrm rot="0" flipH="false" flipV="false">
              <a:off x="3349278" y="2450095"/>
              <a:ext cx="3662089" cy="1205345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5"/>
            <a:srcRect l="0" r="0" t="61863" b="22929"/>
            <a:stretch>
              <a:fillRect/>
            </a:stretch>
          </p:blipFill>
          <p:spPr>
            <a:xfrm rot="0" flipH="false" flipV="false">
              <a:off x="6026724" y="2774728"/>
              <a:ext cx="3662089" cy="611688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5"/>
            <a:srcRect l="0" r="23481" t="77056" b="2279"/>
            <a:stretch>
              <a:fillRect/>
            </a:stretch>
          </p:blipFill>
          <p:spPr>
            <a:xfrm rot="0" flipH="false" flipV="false">
              <a:off x="9251309" y="2637131"/>
              <a:ext cx="2802140" cy="831272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3662089" y="4557725"/>
            <a:ext cx="4032643" cy="85693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Winograd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卷积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[1] 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  <a:hlinkClick r:id="rId2" tooltip="https://arxiv.org/pdf/1509.0930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https://arxiv.org/pdf/1509.09308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15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F(2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2, 3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3)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是高效的，那么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F(4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4, 3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3)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呢？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理论上可以减少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6.00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倍的乘法运算。但变换矩阵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要复杂得多。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变换的复杂度将抵消乘法次数减少所带来的收益。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同时，变换矩阵元素的取值量级也随着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tile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尺寸的增大而增大。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63928"/>
          <a:stretch>
            <a:fillRect/>
          </a:stretch>
        </p:blipFill>
        <p:spPr>
          <a:xfrm rot="0" flipH="false" flipV="false">
            <a:off x="390525" y="3489339"/>
            <a:ext cx="4064000" cy="191943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36328" b="27601"/>
          <a:stretch>
            <a:fillRect/>
          </a:stretch>
        </p:blipFill>
        <p:spPr>
          <a:xfrm rot="0" flipH="false" flipV="false">
            <a:off x="4454525" y="3489339"/>
            <a:ext cx="4064000" cy="191943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72085" b="1658"/>
          <a:stretch>
            <a:fillRect/>
          </a:stretch>
        </p:blipFill>
        <p:spPr>
          <a:xfrm rot="0" flipH="false" flipV="false">
            <a:off x="7737474" y="3750469"/>
            <a:ext cx="4064000" cy="139717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Winograd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卷积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[1] 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  <a:hlinkClick r:id="rId2" tooltip="https://arxiv.org/pdf/1509.0930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https://arxiv.org/pdf/1509.09308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性能比较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523873" y="2161310"/>
            <a:ext cx="5295902" cy="351689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096000" y="2275972"/>
            <a:ext cx="5191517" cy="305983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A5A5A5">
                    <a:alpha val="100000"/>
                  </a:srgbClr>
                </a:solidFill>
                <a:latin typeface="Garamond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[1] 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  <a:hlinkClick r:id="rId2" tooltip="https://arxiv.org/pdf/1509.0930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https://arxiv.org/pdf/1509.09308</a:t>
            </a: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直接卷积、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img2col + GEMM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Winograd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之间的比较。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23875" y="2391410"/>
          <a:ext cx="11277600" cy="206231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819400"/>
                <a:gridCol w="2819400"/>
                <a:gridCol w="2819400"/>
                <a:gridCol w="2819400"/>
              </a:tblGrid>
              <a:tr h="532209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特性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 Convolution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Img2col + GEMM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Winograd F(2x2, 3x3)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</a:tr>
              <a:tr h="30602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计算复杂度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高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(O(N))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中等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(GEMM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优化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低</a:t>
                      </a: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降低乘法数量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602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内存开销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最少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较大（冗余数据）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中等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变换矩阵开销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602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实现难度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简单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中等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复杂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602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数值精度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高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较高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较低（浮点变换、累加）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602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核心限制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性能低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内存高占用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适用条件苛刻</a:t>
                      </a:r>
                      <a:endParaRPr lang="en-US" sz="1100"/>
                    </a:p>
                  </a:txBody>
                  <a:tcPr anchor="ctr" marL="91440" marR="91440" marT="45720" marB="45720">
                    <a:lnL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main:dur="1000">
    <p:fade thruBlk="false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FlagOS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系统软件栈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xfrm rot="0" flipH="false" flipV="false">
            <a:off x="724535" y="6356350"/>
            <a:ext cx="11076940" cy="365125"/>
          </a:xfrm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3" r="3" t="0" b="0"/>
          <a:stretch>
            <a:fillRect/>
          </a:stretch>
        </p:blipFill>
        <p:spPr>
          <a:xfrm rot="0" flipH="false" flipV="false">
            <a:off x="741493" y="1256030"/>
            <a:ext cx="9408534" cy="4852988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98364" y="1689569"/>
            <a:ext cx="356915" cy="356915"/>
          </a:xfrm>
          <a:prstGeom prst="ellipse">
            <a:avLst/>
          </a:prstGeom>
          <a:blipFill rotWithShape="true">
            <a:blip r:embed="rId2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03244" y="1689569"/>
            <a:ext cx="356915" cy="356915"/>
          </a:xfrm>
          <a:prstGeom prst="ellipse">
            <a:avLst/>
          </a:prstGeom>
          <a:blipFill rotWithShape="true">
            <a:blip r:embed="rId3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08124" y="1689569"/>
            <a:ext cx="356915" cy="356915"/>
          </a:xfrm>
          <a:prstGeom prst="ellipse">
            <a:avLst/>
          </a:prstGeom>
          <a:blipFill rotWithShape="true">
            <a:blip r:embed="rId4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98364" y="3577269"/>
            <a:ext cx="356915" cy="356915"/>
          </a:xfrm>
          <a:prstGeom prst="ellipse">
            <a:avLst/>
          </a:prstGeom>
          <a:blipFill rotWithShape="true">
            <a:blip r:embed="rId5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03244" y="3577269"/>
            <a:ext cx="356915" cy="356915"/>
          </a:xfrm>
          <a:prstGeom prst="ellipse">
            <a:avLst/>
          </a:prstGeom>
          <a:blipFill rotWithShape="true">
            <a:blip r:embed="rId6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08124" y="3577269"/>
            <a:ext cx="356915" cy="356915"/>
          </a:xfrm>
          <a:prstGeom prst="ellipse">
            <a:avLst/>
          </a:prstGeom>
          <a:blipFill rotWithShape="true">
            <a:blip r:embed="rId7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8" tooltip="https://github.com/flagos-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https://github.com/flagos-ai</a:t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9" tooltip="https://space.bilibili.com/35467918342908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https://space.bilibili.com/3546791834290849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0" tooltip="https://www.zhihu.com/people/95-22-20-18/po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https://www.zhihu.com/people/95-22-20-18/posts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1" tooltip="https://flagos.io/Ho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https://flagos.io/Home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7" type="pic" sz="quarter"/>
          </p:nvPr>
        </p:nvPicPr>
        <p:blipFill>
          <a:blip r:embed="rId2"/>
          <a:srcRect l="2306" r="2305" t="0" b="0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69661" y="2424583"/>
            <a:ext cx="4670511" cy="2664541"/>
          </a:xfrm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感谢观看！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