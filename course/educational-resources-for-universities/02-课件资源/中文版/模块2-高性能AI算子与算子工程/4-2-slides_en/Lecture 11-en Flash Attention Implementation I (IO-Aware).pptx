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37" r:id="rId2"/>
    <p:sldId id="257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277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80094" autoAdjust="0"/>
  </p:normalViewPr>
  <p:slideViewPr>
    <p:cSldViewPr snapToGrid="0" snapToObjects="1">
      <p:cViewPr varScale="1">
        <p:scale>
          <a:sx n="49" d="100"/>
          <a:sy n="49" d="100"/>
        </p:scale>
        <p:origin x="11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9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9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模块二：</a:t>
            </a:r>
            <a:r>
              <a:rPr lang="en-US" altLang="zh-CN" dirty="0">
                <a:sym typeface="+mn-ea"/>
              </a:rPr>
              <a:t>Flash Attention I - IO </a:t>
            </a:r>
            <a:r>
              <a:rPr lang="zh-CN" altLang="en-US" dirty="0">
                <a:sym typeface="+mn-ea"/>
              </a:rPr>
              <a:t>感知与分块计算核心目标： 解释“空间换时间”的哲学，重点在 </a:t>
            </a:r>
            <a:r>
              <a:rPr lang="en-US" altLang="zh-CN" dirty="0">
                <a:sym typeface="+mn-ea"/>
              </a:rPr>
              <a:t>Tiling </a:t>
            </a:r>
            <a:r>
              <a:rPr lang="zh-CN" altLang="en-US" dirty="0">
                <a:sym typeface="+mn-ea"/>
              </a:rPr>
              <a:t>技术。封面： 速度之源</a:t>
            </a:r>
            <a:r>
              <a:rPr lang="en-US" altLang="zh-CN" dirty="0">
                <a:sym typeface="+mn-ea"/>
              </a:rPr>
              <a:t>——IO Aware</a:t>
            </a:r>
            <a:r>
              <a:rPr lang="zh-CN" altLang="en-US" dirty="0">
                <a:sym typeface="+mn-ea"/>
              </a:rPr>
              <a:t>（访存感知）的设计哲学。</a:t>
            </a:r>
            <a:r>
              <a:rPr lang="en-US" altLang="zh-CN" dirty="0">
                <a:sym typeface="+mn-ea"/>
              </a:rPr>
              <a:t>GPU </a:t>
            </a:r>
            <a:r>
              <a:rPr lang="zh-CN" altLang="en-US" dirty="0">
                <a:sym typeface="+mn-ea"/>
              </a:rPr>
              <a:t>存储层级科普： </a:t>
            </a:r>
            <a:r>
              <a:rPr lang="en-US" altLang="zh-CN" dirty="0">
                <a:sym typeface="+mn-ea"/>
              </a:rPr>
              <a:t>HBM</a:t>
            </a:r>
            <a:r>
              <a:rPr lang="zh-CN" altLang="en-US" dirty="0">
                <a:sym typeface="+mn-ea"/>
              </a:rPr>
              <a:t>（显存）与 </a:t>
            </a:r>
            <a:r>
              <a:rPr lang="en-US" altLang="zh-CN" dirty="0">
                <a:sym typeface="+mn-ea"/>
              </a:rPr>
              <a:t>SRAM</a:t>
            </a:r>
            <a:r>
              <a:rPr lang="zh-CN" altLang="en-US" dirty="0">
                <a:sym typeface="+mn-ea"/>
              </a:rPr>
              <a:t>（高速缓存）的速度差（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倍级差距）。问题的根源： 标准 </a:t>
            </a:r>
            <a:r>
              <a:rPr lang="en-US" altLang="zh-CN" dirty="0">
                <a:sym typeface="+mn-ea"/>
              </a:rPr>
              <a:t>Attention </a:t>
            </a:r>
            <a:r>
              <a:rPr lang="zh-CN" altLang="en-US" dirty="0">
                <a:sym typeface="+mn-ea"/>
              </a:rPr>
              <a:t>在 </a:t>
            </a:r>
            <a:r>
              <a:rPr lang="en-US" altLang="zh-CN" dirty="0">
                <a:sym typeface="+mn-ea"/>
              </a:rPr>
              <a:t>HBM </a:t>
            </a:r>
            <a:r>
              <a:rPr lang="zh-CN" altLang="en-US" dirty="0">
                <a:sym typeface="+mn-ea"/>
              </a:rPr>
              <a:t>上的往返跑（</a:t>
            </a:r>
            <a:r>
              <a:rPr lang="en-US" altLang="zh-CN" dirty="0">
                <a:sym typeface="+mn-ea"/>
              </a:rPr>
              <a:t>Intermediate Matrices</a:t>
            </a:r>
            <a:r>
              <a:rPr lang="zh-CN" altLang="en-US" dirty="0">
                <a:sym typeface="+mn-ea"/>
              </a:rPr>
              <a:t>）。</a:t>
            </a:r>
            <a:r>
              <a:rPr lang="en-US" altLang="zh-CN" dirty="0">
                <a:sym typeface="+mn-ea"/>
              </a:rPr>
              <a:t>Flash Attention </a:t>
            </a:r>
            <a:r>
              <a:rPr lang="zh-CN" altLang="en-US" dirty="0">
                <a:sym typeface="+mn-ea"/>
              </a:rPr>
              <a:t>核心思想： 不求快，但求“少动”。分块（</a:t>
            </a:r>
            <a:r>
              <a:rPr lang="en-US" altLang="zh-CN" dirty="0">
                <a:sym typeface="+mn-ea"/>
              </a:rPr>
              <a:t>Tiling</a:t>
            </a:r>
            <a:r>
              <a:rPr lang="zh-CN" altLang="en-US" dirty="0">
                <a:sym typeface="+mn-ea"/>
              </a:rPr>
              <a:t>）概念： 把大矩阵切成能塞进 </a:t>
            </a:r>
            <a:r>
              <a:rPr lang="en-US" altLang="zh-CN" dirty="0">
                <a:sym typeface="+mn-ea"/>
              </a:rPr>
              <a:t>SRAM </a:t>
            </a:r>
            <a:r>
              <a:rPr lang="zh-CN" altLang="en-US" dirty="0">
                <a:sym typeface="+mn-ea"/>
              </a:rPr>
              <a:t>的小方块。动态演示 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 </a:t>
            </a:r>
            <a:r>
              <a:rPr lang="en-US" altLang="zh-CN" dirty="0">
                <a:sym typeface="+mn-ea"/>
              </a:rPr>
              <a:t>Q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K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V </a:t>
            </a:r>
            <a:r>
              <a:rPr lang="zh-CN" altLang="en-US" dirty="0">
                <a:sym typeface="+mn-ea"/>
              </a:rPr>
              <a:t>的分块加载过程。内存访问对比图： 传统方式 </a:t>
            </a:r>
            <a:r>
              <a:rPr lang="en-US" altLang="zh-CN" dirty="0">
                <a:sym typeface="+mn-ea"/>
              </a:rPr>
              <a:t>vs. Flash Attention </a:t>
            </a:r>
            <a:r>
              <a:rPr lang="zh-CN" altLang="en-US" dirty="0">
                <a:sym typeface="+mn-ea"/>
              </a:rPr>
              <a:t>的访存次数定量分析。</a:t>
            </a:r>
            <a:r>
              <a:rPr lang="en-US" altLang="zh-CN" dirty="0">
                <a:sym typeface="+mn-ea"/>
              </a:rPr>
              <a:t>Kernel Fusion</a:t>
            </a:r>
            <a:r>
              <a:rPr lang="zh-CN" altLang="en-US" dirty="0">
                <a:sym typeface="+mn-ea"/>
              </a:rPr>
              <a:t>： 解释如何将多个算子合并成一个 </a:t>
            </a:r>
            <a:r>
              <a:rPr lang="en-US" altLang="zh-CN" dirty="0">
                <a:sym typeface="+mn-ea"/>
              </a:rPr>
              <a:t>CUDA Kernel</a:t>
            </a:r>
            <a:r>
              <a:rPr lang="zh-CN" altLang="en-US" dirty="0">
                <a:sym typeface="+mn-ea"/>
              </a:rPr>
              <a:t>。</a:t>
            </a:r>
            <a:r>
              <a:rPr lang="en-US" altLang="zh-CN" dirty="0">
                <a:sym typeface="+mn-ea"/>
              </a:rPr>
              <a:t>SRAM </a:t>
            </a:r>
            <a:r>
              <a:rPr lang="zh-CN" altLang="en-US" dirty="0">
                <a:sym typeface="+mn-ea"/>
              </a:rPr>
              <a:t>的调度艺术： 如何管理有限的缓存空间。前向传播的实现： 如何在不存储完整 </a:t>
            </a:r>
            <a:r>
              <a:rPr lang="en-US" altLang="zh-CN" dirty="0">
                <a:sym typeface="+mn-ea"/>
              </a:rPr>
              <a:t>$QK^T$ </a:t>
            </a:r>
            <a:r>
              <a:rPr lang="zh-CN" altLang="en-US" dirty="0">
                <a:sym typeface="+mn-ea"/>
              </a:rPr>
              <a:t>的情况下计算结果。性能基准： 展示在 </a:t>
            </a:r>
            <a:r>
              <a:rPr lang="en-US" altLang="zh-CN" dirty="0">
                <a:sym typeface="+mn-ea"/>
              </a:rPr>
              <a:t>A100/H100 </a:t>
            </a:r>
            <a:r>
              <a:rPr lang="zh-CN" altLang="en-US" dirty="0">
                <a:sym typeface="+mn-ea"/>
              </a:rPr>
              <a:t>上的吞吐量提升。总结： </a:t>
            </a:r>
            <a:r>
              <a:rPr lang="en-US" altLang="zh-CN" dirty="0">
                <a:sym typeface="+mn-ea"/>
              </a:rPr>
              <a:t>IO </a:t>
            </a:r>
            <a:r>
              <a:rPr lang="zh-CN" altLang="en-US" dirty="0">
                <a:sym typeface="+mn-ea"/>
              </a:rPr>
              <a:t>感知是现代深度学习算子优化的基石。</a:t>
            </a:r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分块技术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(Tiling)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：化整为零的艺术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为什么要分块？ </a:t>
            </a: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A100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L1/Shared Memory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）虽然极快，但容量极小（通常只有几百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。</a:t>
            </a: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传统的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\times N$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矩阵（如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$N=4096$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时）远超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容量，必须将其切成能塞进缓存的小块（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。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如何操作？ </a:t>
            </a: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对输入矩阵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$Q, K, V$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进行纵向或横向切分 。</a:t>
            </a: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通过外层和内层循环，逐块将数据从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加载到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计算收益 ：</a:t>
            </a: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内部完成局部点积和部分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累加，无需将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\times N$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的中间结果写回缓慢的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104886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9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1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基于观察，避免在 </a:t>
            </a:r>
            <a:r>
              <a:rPr lang="en-US" altLang="zh-CN" dirty="0"/>
              <a:t>HBM </a:t>
            </a:r>
            <a:r>
              <a:rPr lang="zh-CN" altLang="en-US" dirty="0"/>
              <a:t>中读写注意力矩阵对于提升注意力机制的时钟速度至关重要。为了减少读写操作，</a:t>
            </a:r>
            <a:r>
              <a:rPr lang="en-US" altLang="zh-CN" dirty="0"/>
              <a:t>FA</a:t>
            </a:r>
            <a:r>
              <a:rPr lang="zh-CN" altLang="en-US" dirty="0"/>
              <a:t>通过 </a:t>
            </a:r>
            <a:r>
              <a:rPr lang="en-US" altLang="zh-CN" dirty="0"/>
              <a:t>Tiling</a:t>
            </a:r>
            <a:r>
              <a:rPr lang="zh-CN" altLang="en-US" dirty="0"/>
              <a:t>分块执行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约简（因为读写完整的注意力矩阵非常耗费资源），通过重新计算避免存储用于反向传播的大型中间注意力矩阵</a:t>
            </a:r>
            <a:endParaRPr lang="en-US" altLang="zh-CN" dirty="0"/>
          </a:p>
          <a:p>
            <a:r>
              <a:rPr lang="zh-CN" altLang="en-US" dirty="0"/>
              <a:t>实现 </a:t>
            </a:r>
            <a:r>
              <a:rPr lang="en-US" altLang="zh-CN" dirty="0"/>
              <a:t>tiling </a:t>
            </a:r>
            <a:r>
              <a:rPr lang="zh-CN" altLang="en-US" dirty="0"/>
              <a:t>方法的主要障碍是 </a:t>
            </a:r>
            <a:r>
              <a:rPr lang="en-US" altLang="zh-CN" dirty="0" err="1"/>
              <a:t>softmax</a:t>
            </a:r>
            <a:r>
              <a:rPr lang="zh-CN" altLang="en-US" dirty="0"/>
              <a:t>。具体来说，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将所有得分列耦合在一起。以下是计算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个输出的方法。</a:t>
            </a:r>
            <a:r>
              <a:rPr lang="en-US" altLang="zh-CN" dirty="0" err="1"/>
              <a:t>z_i</a:t>
            </a:r>
            <a:r>
              <a:rPr lang="en-US" altLang="zh-CN" dirty="0"/>
              <a:t> </a:t>
            </a:r>
            <a:r>
              <a:rPr lang="zh-CN" altLang="en-US" dirty="0"/>
              <a:t>是第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个得分（键</a:t>
            </a:r>
            <a:r>
              <a:rPr lang="en-US" altLang="zh-CN" dirty="0"/>
              <a:t>-</a:t>
            </a:r>
            <a:r>
              <a:rPr lang="zh-CN" altLang="en-US" dirty="0"/>
              <a:t>查询点积），输出是第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 </a:t>
            </a:r>
            <a:r>
              <a:rPr lang="en-US" altLang="zh-CN" dirty="0"/>
              <a:t>token </a:t>
            </a:r>
            <a:r>
              <a:rPr lang="zh-CN" altLang="en-US" dirty="0"/>
              <a:t>的概率，我们稍后会用它来加权值向量（再次强调，我假设你知道注意力机制）。看到分母了吗？这就是问题所在。要计算输入序列中第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 </a:t>
            </a:r>
            <a:r>
              <a:rPr lang="en-US" altLang="zh-CN" dirty="0"/>
              <a:t>token </a:t>
            </a:r>
            <a:r>
              <a:rPr lang="zh-CN" altLang="en-US" dirty="0"/>
              <a:t>对序列中其他 </a:t>
            </a:r>
            <a:r>
              <a:rPr lang="en-US" altLang="zh-CN" dirty="0"/>
              <a:t>token </a:t>
            </a:r>
            <a:r>
              <a:rPr lang="zh-CN" altLang="en-US" dirty="0"/>
              <a:t>的关注程度，你需要在 </a:t>
            </a:r>
            <a:r>
              <a:rPr lang="en-US" altLang="zh-CN" dirty="0"/>
              <a:t>SRAM </a:t>
            </a:r>
            <a:r>
              <a:rPr lang="zh-CN" altLang="en-US" dirty="0"/>
              <a:t>中准备好所有这些得分（这里用 </a:t>
            </a:r>
            <a:r>
              <a:rPr lang="en-US" altLang="zh-CN" dirty="0" err="1"/>
              <a:t>z_j</a:t>
            </a:r>
            <a:r>
              <a:rPr lang="en-US" altLang="zh-CN" dirty="0"/>
              <a:t> </a:t>
            </a:r>
            <a:r>
              <a:rPr lang="zh-CN" altLang="en-US" dirty="0"/>
              <a:t>表示）。但需要提醒的是：</a:t>
            </a:r>
            <a:r>
              <a:rPr lang="en-US" altLang="zh-CN" dirty="0"/>
              <a:t>SRAM </a:t>
            </a:r>
            <a:r>
              <a:rPr lang="zh-CN" altLang="en-US" dirty="0"/>
              <a:t>的容量非常有限。你无法加载所有 </a:t>
            </a:r>
            <a:r>
              <a:rPr lang="en-US" altLang="zh-CN" dirty="0"/>
              <a:t>token</a:t>
            </a:r>
            <a:r>
              <a:rPr lang="zh-CN" altLang="en-US" dirty="0"/>
              <a:t>。</a:t>
            </a:r>
            <a:r>
              <a:rPr lang="en-US" altLang="zh-CN" dirty="0"/>
              <a:t>N</a:t>
            </a:r>
            <a:r>
              <a:rPr lang="zh-CN" altLang="en-US" dirty="0"/>
              <a:t>（序列长度）可以是 </a:t>
            </a:r>
            <a:r>
              <a:rPr lang="en-US" altLang="zh-CN" dirty="0"/>
              <a:t>1000 </a:t>
            </a:r>
            <a:r>
              <a:rPr lang="zh-CN" altLang="en-US" dirty="0"/>
              <a:t>个，甚至 </a:t>
            </a:r>
            <a:r>
              <a:rPr lang="en-US" altLang="zh-CN" dirty="0"/>
              <a:t>100,000 </a:t>
            </a:r>
            <a:r>
              <a:rPr lang="zh-CN" altLang="en-US" dirty="0"/>
              <a:t>个 </a:t>
            </a:r>
            <a:r>
              <a:rPr lang="en-US" altLang="zh-CN" dirty="0"/>
              <a:t>token</a:t>
            </a:r>
            <a:r>
              <a:rPr lang="zh-CN" altLang="en-US" dirty="0"/>
              <a:t>。因此，</a:t>
            </a:r>
            <a:r>
              <a:rPr lang="en-US" altLang="zh-CN" dirty="0"/>
              <a:t>N² </a:t>
            </a:r>
            <a:r>
              <a:rPr lang="zh-CN" altLang="en-US" dirty="0"/>
              <a:t>会迅速膨胀。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所以，诀窍就在这里：我们可以将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计算拆分成更小的块，最终仍然得到完全相同的结果。主要公式如下：</a:t>
            </a:r>
            <a:r>
              <a:rPr lang="en-US" altLang="zh-CN" dirty="0"/>
              <a:t>1.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的部分计算（我们将迭代计算得到正确的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值）。我们可以只取前 </a:t>
            </a:r>
            <a:r>
              <a:rPr lang="en-US" altLang="zh-CN" dirty="0"/>
              <a:t>B </a:t>
            </a:r>
            <a:r>
              <a:rPr lang="zh-CN" altLang="en-US" dirty="0"/>
              <a:t>个分数（</a:t>
            </a:r>
            <a:r>
              <a:rPr lang="en-US" altLang="zh-CN" dirty="0"/>
              <a:t>x_1 </a:t>
            </a:r>
            <a:r>
              <a:rPr lang="zh-CN" altLang="en-US" dirty="0"/>
              <a:t>到 </a:t>
            </a:r>
            <a:r>
              <a:rPr lang="en-US" altLang="zh-CN" dirty="0" err="1"/>
              <a:t>x_B</a:t>
            </a:r>
            <a:r>
              <a:rPr lang="zh-CN" altLang="en-US" dirty="0"/>
              <a:t>），并计算它们的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值。这些数字至少目前是错误的。但请耐心等待，通过迭代，我们将“收敛”到正确的结果。</a:t>
            </a:r>
            <a:r>
              <a:rPr lang="en-US" altLang="zh-CN" dirty="0"/>
              <a:t>m(x)</a:t>
            </a:r>
            <a:r>
              <a:rPr lang="zh-CN" altLang="en-US" dirty="0"/>
              <a:t>的目的仅仅是为了避免数值不稳定性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4891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1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步骤 </a:t>
            </a:r>
            <a:r>
              <a:rPr lang="en-US" altLang="zh-CN" dirty="0"/>
              <a:t>1</a:t>
            </a:r>
            <a:r>
              <a:rPr lang="zh-CN" altLang="en-US" dirty="0"/>
              <a:t>：计算行</a:t>
            </a:r>
            <a:r>
              <a:rPr lang="en-US" altLang="zh-CN" dirty="0"/>
              <a:t>/</a:t>
            </a:r>
            <a:r>
              <a:rPr lang="zh-CN" altLang="en-US" dirty="0"/>
              <a:t>列块大小。为什么是 </a:t>
            </a:r>
            <a:r>
              <a:rPr lang="en-US" altLang="zh-CN" dirty="0"/>
              <a:t>ceil(M/4d)</a:t>
            </a:r>
            <a:r>
              <a:rPr lang="zh-CN" altLang="en-US" dirty="0"/>
              <a:t>？因为查询、键和值向量都是 </a:t>
            </a:r>
            <a:r>
              <a:rPr lang="en-US" altLang="zh-CN" dirty="0"/>
              <a:t>d </a:t>
            </a:r>
            <a:r>
              <a:rPr lang="zh-CN" altLang="en-US" dirty="0"/>
              <a:t>维的，我们还需要将它们组合成输出的 </a:t>
            </a:r>
            <a:r>
              <a:rPr lang="en-US" altLang="zh-CN" dirty="0"/>
              <a:t>d </a:t>
            </a:r>
            <a:r>
              <a:rPr lang="zh-CN" altLang="en-US" dirty="0"/>
              <a:t>维向量。因此，这个大小基本上允许我们用 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v </a:t>
            </a:r>
            <a:r>
              <a:rPr lang="zh-CN" altLang="en-US" dirty="0"/>
              <a:t>和 </a:t>
            </a:r>
            <a:r>
              <a:rPr lang="en-US" altLang="zh-CN" dirty="0"/>
              <a:t>o </a:t>
            </a:r>
            <a:r>
              <a:rPr lang="zh-CN" altLang="en-US" dirty="0"/>
              <a:t>向量最大化 </a:t>
            </a:r>
            <a:r>
              <a:rPr lang="en-US" altLang="zh-CN" dirty="0"/>
              <a:t>SRAM </a:t>
            </a:r>
            <a:r>
              <a:rPr lang="zh-CN" altLang="en-US" dirty="0"/>
              <a:t>容量。至于 </a:t>
            </a:r>
            <a:r>
              <a:rPr lang="en-US" altLang="zh-CN" dirty="0" err="1"/>
              <a:t>B_r</a:t>
            </a:r>
            <a:r>
              <a:rPr lang="zh-CN" altLang="en-US" dirty="0"/>
              <a:t>，我不太清楚他们为什么要对 </a:t>
            </a:r>
            <a:r>
              <a:rPr lang="en-US" altLang="zh-CN" dirty="0"/>
              <a:t>d </a:t>
            </a:r>
            <a:r>
              <a:rPr lang="zh-CN" altLang="en-US" dirty="0"/>
              <a:t>进行取最小值操作</a:t>
            </a:r>
            <a:r>
              <a:rPr lang="en-US" altLang="zh-CN" dirty="0"/>
              <a:t>We don't want </a:t>
            </a:r>
            <a:r>
              <a:rPr lang="en-US" altLang="zh-CN" dirty="0" err="1"/>
              <a:t>B_r</a:t>
            </a:r>
            <a:r>
              <a:rPr lang="en-US" altLang="zh-CN" dirty="0"/>
              <a:t> to be larger than d since we want </a:t>
            </a:r>
            <a:r>
              <a:rPr lang="en-US" altLang="zh-CN" dirty="0" err="1"/>
              <a:t>B_c</a:t>
            </a:r>
            <a:r>
              <a:rPr lang="en-US" altLang="zh-CN" dirty="0"/>
              <a:t> * </a:t>
            </a:r>
            <a:r>
              <a:rPr lang="en-US" altLang="zh-CN" dirty="0" err="1"/>
              <a:t>B_r</a:t>
            </a:r>
            <a:r>
              <a:rPr lang="en-US" altLang="zh-CN" dirty="0"/>
              <a:t> &lt;= M / 4 (we store a few matrices of size </a:t>
            </a:r>
            <a:r>
              <a:rPr lang="en-US" altLang="zh-CN" dirty="0" err="1"/>
              <a:t>B_c</a:t>
            </a:r>
            <a:r>
              <a:rPr lang="en-US" altLang="zh-CN" dirty="0"/>
              <a:t> * </a:t>
            </a:r>
            <a:r>
              <a:rPr lang="en-US" altLang="zh-CN" dirty="0" err="1"/>
              <a:t>B_r</a:t>
            </a:r>
            <a:r>
              <a:rPr lang="en-US" altLang="zh-CN" dirty="0"/>
              <a:t> on SRAM). </a:t>
            </a:r>
            <a:r>
              <a:rPr lang="zh-CN" altLang="en-US" dirty="0"/>
              <a:t>为了保证 </a:t>
            </a:r>
            <a:r>
              <a:rPr lang="en-US" altLang="zh-CN" dirty="0"/>
              <a:t>Q </a:t>
            </a:r>
            <a:r>
              <a:rPr lang="zh-CN" altLang="en-US" dirty="0"/>
              <a:t>块的行数不会超过其 </a:t>
            </a:r>
            <a:r>
              <a:rPr lang="zh-CN" altLang="en-US" b="1" dirty="0"/>
              <a:t>头维度</a:t>
            </a:r>
            <a:r>
              <a:rPr lang="zh-CN" altLang="en-US" dirty="0"/>
              <a:t> </a:t>
            </a:r>
            <a:r>
              <a:rPr lang="en-US" altLang="zh-CN" dirty="0"/>
              <a:t>d </a:t>
            </a:r>
            <a:r>
              <a:rPr lang="zh-CN" altLang="en-US" dirty="0"/>
              <a:t>太多，从而优化 </a:t>
            </a:r>
            <a:r>
              <a:rPr lang="zh-CN" altLang="en-US" b="1" dirty="0"/>
              <a:t>矩阵乘法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MatMul</a:t>
            </a:r>
            <a:r>
              <a:rPr lang="en-US" altLang="zh-CN" dirty="0"/>
              <a:t>) </a:t>
            </a:r>
            <a:r>
              <a:rPr lang="zh-CN" altLang="en-US" dirty="0"/>
              <a:t>的效率</a:t>
            </a:r>
            <a:endParaRPr lang="en-US" altLang="zh-CN" dirty="0"/>
          </a:p>
          <a:p>
            <a:r>
              <a:rPr lang="zh-CN" altLang="en-US" dirty="0"/>
              <a:t>步骤 </a:t>
            </a:r>
            <a:r>
              <a:rPr lang="en-US" altLang="zh-CN" dirty="0"/>
              <a:t>2</a:t>
            </a:r>
            <a:r>
              <a:rPr lang="zh-CN" altLang="en-US" dirty="0"/>
              <a:t>：我们将输出矩阵 </a:t>
            </a:r>
            <a:r>
              <a:rPr lang="en-US" altLang="zh-CN" dirty="0"/>
              <a:t>O </a:t>
            </a:r>
            <a:r>
              <a:rPr lang="zh-CN" altLang="en-US" dirty="0"/>
              <a:t>初始化为全 </a:t>
            </a:r>
            <a:r>
              <a:rPr lang="en-US" altLang="zh-CN" dirty="0"/>
              <a:t>0</a:t>
            </a:r>
            <a:r>
              <a:rPr lang="zh-CN" altLang="en-US" dirty="0"/>
              <a:t>。它将充当累加器，因此该值为初始值。</a:t>
            </a:r>
            <a:r>
              <a:rPr lang="en-US" altLang="zh-CN" dirty="0"/>
              <a:t>m</a:t>
            </a:r>
            <a:r>
              <a:rPr lang="zh-CN" altLang="en-US" dirty="0"/>
              <a:t>（记住：它的目的是保存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的累积分母</a:t>
            </a:r>
            <a:r>
              <a:rPr lang="en-US" altLang="zh-CN" dirty="0"/>
              <a:t>——exp </a:t>
            </a:r>
            <a:r>
              <a:rPr lang="zh-CN" altLang="en-US" dirty="0"/>
              <a:t>分数之和）也初始化为 </a:t>
            </a:r>
            <a:r>
              <a:rPr lang="en-US" altLang="zh-CN" dirty="0"/>
              <a:t>-inf</a:t>
            </a:r>
            <a:r>
              <a:rPr lang="zh-CN" altLang="en-US" dirty="0"/>
              <a:t>，因为我们将对其进行最大值运算，所以无论第一个块的最大值是多少</a:t>
            </a:r>
            <a:r>
              <a:rPr lang="en-US" altLang="zh-CN" dirty="0"/>
              <a:t>——</a:t>
            </a:r>
            <a:r>
              <a:rPr lang="zh-CN" altLang="en-US" dirty="0"/>
              <a:t>它肯定大于 </a:t>
            </a:r>
            <a:r>
              <a:rPr lang="en-US" altLang="zh-CN" dirty="0"/>
              <a:t>-inf——</a:t>
            </a:r>
            <a:r>
              <a:rPr lang="zh-CN" altLang="en-US" dirty="0"/>
              <a:t>因此这是自然的初始值。步骤 </a:t>
            </a:r>
            <a:r>
              <a:rPr lang="en-US" altLang="zh-CN" dirty="0"/>
              <a:t>3</a:t>
            </a:r>
            <a:r>
              <a:rPr lang="zh-CN" altLang="en-US" dirty="0"/>
              <a:t>：我们使用步骤 </a:t>
            </a:r>
            <a:r>
              <a:rPr lang="en-US" altLang="zh-CN" dirty="0"/>
              <a:t>1 </a:t>
            </a:r>
            <a:r>
              <a:rPr lang="zh-CN" altLang="en-US" dirty="0"/>
              <a:t>中的块大小将 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K </a:t>
            </a:r>
            <a:r>
              <a:rPr lang="zh-CN" altLang="en-US" dirty="0"/>
              <a:t>和 </a:t>
            </a:r>
            <a:r>
              <a:rPr lang="en-US" altLang="zh-CN" dirty="0"/>
              <a:t>V </a:t>
            </a:r>
            <a:r>
              <a:rPr lang="zh-CN" altLang="en-US" dirty="0"/>
              <a:t>拆分成块。另见上图。步骤 </a:t>
            </a:r>
            <a:r>
              <a:rPr lang="en-US" altLang="zh-CN" dirty="0"/>
              <a:t>4</a:t>
            </a:r>
            <a:r>
              <a:rPr lang="zh-CN" altLang="en-US" dirty="0"/>
              <a:t>：同样地，将 </a:t>
            </a:r>
            <a:r>
              <a:rPr lang="en-US" altLang="zh-CN" dirty="0"/>
              <a:t>O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m </a:t>
            </a:r>
            <a:r>
              <a:rPr lang="zh-CN" altLang="en-US" dirty="0"/>
              <a:t>拆分成块（块大小与 </a:t>
            </a:r>
            <a:r>
              <a:rPr lang="en-US" altLang="zh-CN" dirty="0"/>
              <a:t>Q </a:t>
            </a:r>
            <a:r>
              <a:rPr lang="zh-CN" altLang="en-US" dirty="0"/>
              <a:t>相同）。步骤 </a:t>
            </a:r>
            <a:r>
              <a:rPr lang="en-US" altLang="zh-CN" dirty="0"/>
              <a:t>5</a:t>
            </a:r>
            <a:r>
              <a:rPr lang="zh-CN" altLang="en-US" dirty="0"/>
              <a:t>：让我们开始跨列循环，即跨键</a:t>
            </a:r>
            <a:r>
              <a:rPr lang="en-US" altLang="zh-CN" dirty="0"/>
              <a:t>/</a:t>
            </a:r>
            <a:r>
              <a:rPr lang="zh-CN" altLang="en-US" dirty="0"/>
              <a:t>值向量循环（上图中的外层循环）。</a:t>
            </a:r>
            <a:br>
              <a:rPr lang="zh-CN" altLang="en-US" b="0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</a:br>
            <a:r>
              <a:rPr lang="zh-CN" altLang="en-US" b="1" dirty="0"/>
              <a:t>步骤 </a:t>
            </a:r>
            <a:r>
              <a:rPr lang="en-US" altLang="zh-CN" b="1" dirty="0"/>
              <a:t>6</a:t>
            </a:r>
            <a:r>
              <a:rPr lang="en-US" altLang="zh-CN" dirty="0"/>
              <a:t>: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让我们将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K_j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V_j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块从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HBM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加载到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SRAM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中。记住，由于我们构建块大小的方式，目前仍有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50%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的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SRAM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空间未被占用（专用于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Q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O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）。步骤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7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：开始跨行（即跨查询向量）的内循环。步骤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8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：将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Q_i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(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B_r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x d)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O_i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(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B_r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x d)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块以及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l_i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(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B_r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)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m_i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(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B_r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)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加载到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SRAM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中。当我们计算块大小时，只够容纳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K_j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V_j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Q_i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O_i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，那么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l_i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和 </a:t>
            </a:r>
            <a:r>
              <a:rPr lang="en-US" altLang="zh-CN" dirty="0" err="1">
                <a:solidFill>
                  <a:srgbClr val="3C4043"/>
                </a:solidFill>
                <a:effectLst/>
              </a:rPr>
              <a:t>m_i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 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如何放入 </a:t>
            </a:r>
            <a:r>
              <a:rPr lang="en-US" altLang="zh-CN" dirty="0">
                <a:solidFill>
                  <a:srgbClr val="3C4043"/>
                </a:solidFill>
                <a:effectLst/>
              </a:rPr>
              <a:t>SRAM</a:t>
            </a:r>
            <a:r>
              <a:rPr lang="zh-CN" altLang="en-US" dirty="0">
                <a:solidFill>
                  <a:srgbClr val="3C4043"/>
                </a:solidFill>
                <a:effectLst/>
              </a:rPr>
              <a:t>（包括所有中间变量）中呢？寄存器</a:t>
            </a:r>
            <a:endParaRPr lang="en-US" altLang="zh-CN" dirty="0">
              <a:solidFill>
                <a:srgbClr val="3C4043"/>
              </a:solidFill>
              <a:effectLst/>
            </a:endParaRPr>
          </a:p>
          <a:p>
            <a:pPr algn="l"/>
            <a:r>
              <a:rPr lang="zh-CN" altLang="en-US" b="1" dirty="0">
                <a:solidFill>
                  <a:srgbClr val="3C4043"/>
                </a:solidFill>
                <a:effectLst/>
              </a:rPr>
              <a:t>步骤 </a:t>
            </a:r>
            <a:r>
              <a:rPr lang="en-US" altLang="zh-CN" b="1" dirty="0">
                <a:solidFill>
                  <a:srgbClr val="3C4043"/>
                </a:solidFill>
                <a:effectLst/>
              </a:rPr>
              <a:t>9</a:t>
            </a:r>
            <a:r>
              <a:rPr lang="zh-CN" altLang="en-US" b="0" dirty="0">
                <a:solidFill>
                  <a:srgbClr val="3C4043"/>
                </a:solidFill>
                <a:effectLst/>
              </a:rPr>
              <a:t>及之后的就是我们刚刚提到的计算过程了</a:t>
            </a:r>
            <a:endParaRPr lang="en-US" altLang="zh-CN" b="0" dirty="0">
              <a:solidFill>
                <a:srgbClr val="3C4043"/>
              </a:solidFill>
              <a:effectLst/>
            </a:endParaRPr>
          </a:p>
          <a:p>
            <a:pPr algn="l"/>
            <a:endParaRPr lang="en-US" altLang="zh-CN" dirty="0">
              <a:solidFill>
                <a:srgbClr val="3C4043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104891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56900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41184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32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35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34.png"/><Relationship Id="rId29" Type="http://schemas.openxmlformats.org/officeDocument/2006/relationships/image" Target="../media/image3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37.png"/><Relationship Id="rId28" Type="http://schemas.openxmlformats.org/officeDocument/2006/relationships/image" Target="../media/image38.jpeg"/><Relationship Id="rId10" Type="http://schemas.openxmlformats.org/officeDocument/2006/relationships/tags" Target="../tags/tag19.xml"/><Relationship Id="rId19" Type="http://schemas.openxmlformats.org/officeDocument/2006/relationships/image" Target="../media/image33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36.png"/><Relationship Id="rId27" Type="http://schemas.openxmlformats.org/officeDocument/2006/relationships/hyperlink" Target="https://flagos.io/Hom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>
                <a:solidFill>
                  <a:srgbClr val="262626"/>
                </a:solidFill>
                <a:latin typeface="Chinese Quote"/>
              </a:rPr>
              <a:t>Lecture 11: Flash Attention Implementation I (IO-Aware)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Flash Attention: Tiling Computation</a:t>
            </a:r>
            <a:endParaRPr lang="zh-CN" altLang="en-US" dirty="0"/>
          </a:p>
        </p:txBody>
      </p:sp>
      <p:sp>
        <p:nvSpPr>
          <p:cNvPr id="104884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5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048848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Tiling: Breaking the large Q, K, V matrices into smaller blocks (Tiles) that fit entirely into SRAM, eliminating the need to store the massive intermediate Attention matrix.</a:t>
            </a:r>
          </a:p>
          <a:p>
            <a:r>
              <a:rPr lang="en-US" altLang="zh-CN" dirty="0" err="1"/>
              <a:t>Recomputation</a:t>
            </a:r>
            <a:r>
              <a:rPr lang="en-US" altLang="zh-CN" dirty="0"/>
              <a:t>: Avoiding the storage of the S and P matrices during the forward pass; instead, re-calculating them during the backward pass to save memory.</a:t>
            </a:r>
            <a:endParaRPr lang="zh-CN" altLang="en-US" dirty="0"/>
          </a:p>
        </p:txBody>
      </p:sp>
      <p:pic>
        <p:nvPicPr>
          <p:cNvPr id="20972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4" y="3428856"/>
            <a:ext cx="6363580" cy="31411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Memory Hierarchy Explained</a:t>
            </a:r>
            <a:endParaRPr lang="zh-CN" altLang="en-US" dirty="0"/>
          </a:p>
        </p:txBody>
      </p:sp>
      <p:sp>
        <p:nvSpPr>
          <p:cNvPr id="104885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5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85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Speed Disparity: HBM vs. SRAM (10x Factor)</a:t>
            </a:r>
          </a:p>
          <a:p>
            <a:pPr lvl="1"/>
            <a:r>
              <a:rPr lang="en-US" altLang="zh-CN" dirty="0"/>
              <a:t>For example: A100</a:t>
            </a:r>
          </a:p>
          <a:p>
            <a:pPr lvl="1"/>
            <a:r>
              <a:rPr lang="en-US" altLang="zh-CN" dirty="0"/>
              <a:t>GPU Memory / HBM2e: 40/80 GB     1.5-2 TB/s</a:t>
            </a:r>
          </a:p>
          <a:p>
            <a:pPr lvl="1"/>
            <a:r>
              <a:rPr lang="en-US" altLang="zh-CN" dirty="0"/>
              <a:t>L2 Cache: 40 MB     ~5 TB/s</a:t>
            </a:r>
          </a:p>
          <a:p>
            <a:pPr lvl="1"/>
            <a:r>
              <a:rPr lang="en-US" altLang="zh-CN" dirty="0"/>
              <a:t>L1 Cache / Shared Memory: 192 KB/SM      19 TB/s</a:t>
            </a:r>
            <a:endParaRPr lang="zh-CN" altLang="en-US" dirty="0"/>
          </a:p>
        </p:txBody>
      </p:sp>
      <p:pic>
        <p:nvPicPr>
          <p:cNvPr id="2097212" name="Picture 2" descr="Basic memory hierarchy of an NVIDIA A100 40GB GP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677" y="3092451"/>
            <a:ext cx="5953125" cy="362902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Root Problem of Attention</a:t>
            </a:r>
            <a:endParaRPr lang="zh-CN" altLang="en-US" dirty="0"/>
          </a:p>
        </p:txBody>
      </p:sp>
      <p:sp>
        <p:nvSpPr>
          <p:cNvPr id="104885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5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856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Excessive HBM Round-trips (Memory-Bound)</a:t>
            </a:r>
          </a:p>
          <a:p>
            <a:pPr lvl="1"/>
            <a:r>
              <a:rPr lang="en-US" altLang="zh-CN" dirty="0"/>
              <a:t>Mechanism: Data repeatedly "shuttles" between HBM and SRAM.</a:t>
            </a:r>
          </a:p>
          <a:p>
            <a:pPr lvl="1"/>
            <a:r>
              <a:rPr lang="en-US" altLang="zh-CN" dirty="0"/>
              <a:t>The Problem: Standard Attention writes QK to HBM, only to read them back immediately for the </a:t>
            </a:r>
            <a:r>
              <a:rPr lang="en-US" altLang="zh-CN" dirty="0" err="1"/>
              <a:t>Softmax</a:t>
            </a:r>
            <a:r>
              <a:rPr lang="en-US" altLang="zh-CN" dirty="0"/>
              <a:t> step.</a:t>
            </a:r>
          </a:p>
          <a:p>
            <a:pPr lvl="1"/>
            <a:r>
              <a:rPr lang="en-US" altLang="zh-CN" dirty="0"/>
              <a:t>Impact: The system spends more time moving data than actually computing, hitting the "Memory Wall.“</a:t>
            </a:r>
          </a:p>
          <a:p>
            <a:r>
              <a:rPr lang="en-US" altLang="zh-CN" dirty="0"/>
              <a:t>Quadratic Memory Footprint (Memory Capacity)</a:t>
            </a:r>
          </a:p>
          <a:p>
            <a:pPr lvl="1"/>
            <a:r>
              <a:rPr lang="en-US" altLang="zh-CN" dirty="0"/>
              <a:t>Mechanism: Intermediate matrices S and P scale at O(</a:t>
            </a:r>
            <a:r>
              <a:rPr lang="en-US" altLang="zh-CN" i="1" dirty="0"/>
              <a:t>n²</a:t>
            </a:r>
            <a:r>
              <a:rPr lang="en-US" altLang="zh-CN" dirty="0"/>
              <a:t>) complexity.</a:t>
            </a:r>
          </a:p>
          <a:p>
            <a:pPr lvl="1"/>
            <a:r>
              <a:rPr lang="en-US" altLang="zh-CN" dirty="0"/>
              <a:t>The Problem: Storing the full Attention Map requires an exponential amount of memory as sequence length increases.</a:t>
            </a:r>
          </a:p>
          <a:p>
            <a:pPr lvl="1"/>
            <a:r>
              <a:rPr lang="en-US" altLang="zh-CN" dirty="0"/>
              <a:t>Impact: Doubling the sequence length N results in a 4x increase in memory usage, leading to frequent OOM errors during long-context tasks.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97213" name="Picture 3" descr="https://substackcdn.com/image/fetch/$s_!K5lb!,w_1456,c_limit,f_auto,q_auto:good,fl_progressive:steep/https%3A%2F%2Fsubstack-post-media.s3.amazonaws.com%2Fpublic%2Fimages%2F58590382-6df0-40ff-8732-da015ddc2106_1500x84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0257" y="1082339"/>
            <a:ext cx="4151743" cy="2346661"/>
          </a:xfrm>
          <a:prstGeom prst="rect">
            <a:avLst/>
          </a:prstGeom>
          <a:noFill/>
        </p:spPr>
      </p:pic>
      <p:pic>
        <p:nvPicPr>
          <p:cNvPr id="2097214" name="Picture 5" descr="Quadratic computational cost of self attention dominates for larger sequences. We measure the forward and backward runtimes for a 12 layers transformer (see App. B.3 for implementation details). Except for the attention operations, the rest of the transformer runtime grows linearly with the sequence length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19574" y="3608388"/>
            <a:ext cx="2593107" cy="246220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5" name="Picture 5" descr="https://alexdremov.me/content/images/2025/01/Screenshot-2025-01-11-at-16.15.5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4454" y="3685310"/>
            <a:ext cx="7288220" cy="2853604"/>
          </a:xfrm>
          <a:prstGeom prst="rect">
            <a:avLst/>
          </a:prstGeom>
          <a:noFill/>
        </p:spPr>
      </p:pic>
      <p:sp>
        <p:nvSpPr>
          <p:cNvPr id="10488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Idea of Flash Attention: Less movement</a:t>
            </a:r>
            <a:endParaRPr lang="zh-CN" altLang="en-US" dirty="0"/>
          </a:p>
        </p:txBody>
      </p:sp>
      <p:sp>
        <p:nvSpPr>
          <p:cNvPr id="104886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6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86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Less Movement, More Speed</a:t>
            </a:r>
          </a:p>
          <a:p>
            <a:pPr lvl="1"/>
            <a:r>
              <a:rPr lang="en-US" altLang="zh-CN" dirty="0"/>
              <a:t>Design Philosophy: Optimize Data Movement, Not Just Computation</a:t>
            </a:r>
          </a:p>
          <a:p>
            <a:r>
              <a:rPr lang="en-US" altLang="zh-CN" dirty="0"/>
              <a:t>Two Technical Pillars:</a:t>
            </a:r>
          </a:p>
          <a:p>
            <a:pPr lvl="1"/>
            <a:r>
              <a:rPr lang="en-US" altLang="zh-CN" dirty="0"/>
              <a:t>Tiling: Breaking down large tasks into smaller blocks that fit the SRAM capacity.</a:t>
            </a:r>
          </a:p>
          <a:p>
            <a:pPr lvl="1"/>
            <a:r>
              <a:rPr lang="en-US" altLang="zh-CN" dirty="0" err="1"/>
              <a:t>Recomputation</a:t>
            </a:r>
            <a:r>
              <a:rPr lang="en-US" altLang="zh-CN" dirty="0"/>
              <a:t>: Instead of storing intermediate activation values during the forward pass, they are recalculated during the backward pass to save memory space.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Concept</a:t>
            </a:r>
            <a:endParaRPr lang="zh-CN" altLang="en-US" dirty="0"/>
          </a:p>
        </p:txBody>
      </p:sp>
      <p:sp>
        <p:nvSpPr>
          <p:cNvPr id="104886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6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86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Why Tiling?</a:t>
            </a:r>
          </a:p>
          <a:p>
            <a:pPr lvl="1"/>
            <a:r>
              <a:rPr lang="en-US" altLang="zh-CN" dirty="0"/>
              <a:t>GPU SRAM (e.g., L1/Shared Memory in A100) is extremely fast but has very limited capacity (typically a few hundred KB).</a:t>
            </a:r>
          </a:p>
          <a:p>
            <a:pPr lvl="1"/>
            <a:r>
              <a:rPr lang="en-US" altLang="zh-CN" dirty="0"/>
              <a:t>Traditional N x N matrices (e.g., when N=4096) far exceed SRAM capacity and must be partitioned into "tiles" that can fit into the cache.</a:t>
            </a:r>
          </a:p>
          <a:p>
            <a:r>
              <a:rPr lang="en-US" altLang="zh-CN" dirty="0"/>
              <a:t>How it Works?</a:t>
            </a:r>
          </a:p>
          <a:p>
            <a:pPr lvl="1"/>
            <a:r>
              <a:rPr lang="en-US" altLang="zh-CN" dirty="0"/>
              <a:t>Input matrices Q, K, and V are partitioned into blocks (tiles).Using nested loops, these blocks are loaded from HBM to SRAM piece by piece for local computation.</a:t>
            </a:r>
          </a:p>
          <a:p>
            <a:pPr lvl="1"/>
            <a:r>
              <a:rPr lang="en-US" altLang="zh-CN" dirty="0"/>
              <a:t>Performance Gain: Partial dot-products and </a:t>
            </a:r>
            <a:r>
              <a:rPr lang="en-US" altLang="zh-CN" dirty="0" err="1"/>
              <a:t>Softmax</a:t>
            </a:r>
            <a:r>
              <a:rPr lang="en-US" altLang="zh-CN" dirty="0"/>
              <a:t> accumulations are completed entirely within SRAM. This eliminates the need to write N x N intermediate results back to the slow HBM.</a:t>
            </a:r>
            <a:endParaRPr lang="zh-CN" altLang="en-US" dirty="0"/>
          </a:p>
        </p:txBody>
      </p:sp>
      <p:pic>
        <p:nvPicPr>
          <p:cNvPr id="20972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36124" y="1144587"/>
            <a:ext cx="3224258" cy="3113712"/>
          </a:xfrm>
          <a:prstGeom prst="rect">
            <a:avLst/>
          </a:prstGeom>
          <a:noFill/>
        </p:spPr>
      </p:pic>
      <p:pic>
        <p:nvPicPr>
          <p:cNvPr id="2097217" name="Picture 9" descr="https://alexdremov.me/content/images/2025/01/Screenshot-2025-01-11-at-17.18.40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89425" y="4403120"/>
            <a:ext cx="3317656" cy="162902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Demo</a:t>
            </a:r>
            <a:endParaRPr lang="zh-CN" altLang="en-US" dirty="0"/>
          </a:p>
        </p:txBody>
      </p:sp>
      <p:sp>
        <p:nvSpPr>
          <p:cNvPr id="104887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7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87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process of loading tiled blocks.</a:t>
            </a:r>
            <a:endParaRPr lang="zh-CN" altLang="en-US" dirty="0"/>
          </a:p>
        </p:txBody>
      </p:sp>
      <p:pic>
        <p:nvPicPr>
          <p:cNvPr id="2097218" name="Picture 2" descr="Tiled matrix application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3" y="1980407"/>
            <a:ext cx="7620000" cy="428625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Access Comparison</a:t>
            </a:r>
            <a:endParaRPr lang="zh-CN" altLang="en-US" dirty="0"/>
          </a:p>
        </p:txBody>
      </p:sp>
      <p:sp>
        <p:nvSpPr>
          <p:cNvPr id="104887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7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875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Standard Attention vs. Flash Attention</a:t>
            </a:r>
            <a:endParaRPr lang="zh-CN" altLang="en-US" dirty="0"/>
          </a:p>
        </p:txBody>
      </p:sp>
      <p:pic>
        <p:nvPicPr>
          <p:cNvPr id="2097219" name="Picture 2" descr="Flash Atten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9765" y="1842945"/>
            <a:ext cx="8672944" cy="487853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 Fusion</a:t>
            </a:r>
            <a:endParaRPr lang="zh-CN" altLang="en-US" dirty="0"/>
          </a:p>
        </p:txBody>
      </p:sp>
      <p:sp>
        <p:nvSpPr>
          <p:cNvPr id="10488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879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Standard attention launch separate kernels</a:t>
            </a:r>
          </a:p>
          <a:p>
            <a:pPr lvl="1"/>
            <a:r>
              <a:rPr lang="en-US" altLang="zh-CN" dirty="0"/>
              <a:t>Each launch clears the SRAM and writes results back to HBM, causing massive I/O waste.</a:t>
            </a:r>
          </a:p>
          <a:p>
            <a:r>
              <a:rPr lang="en-US" altLang="zh-CN" dirty="0"/>
              <a:t>Flash attention fuse all logic into one highly optimized kernel</a:t>
            </a:r>
          </a:p>
          <a:p>
            <a:pPr lvl="1"/>
            <a:r>
              <a:rPr lang="en-US" altLang="zh-CN" dirty="0"/>
              <a:t>SRAM-Centric Execution: Perform tiled loading, dot-product, online </a:t>
            </a:r>
            <a:r>
              <a:rPr lang="en-US" altLang="zh-CN" dirty="0" err="1"/>
              <a:t>softmax</a:t>
            </a:r>
            <a:r>
              <a:rPr lang="en-US" altLang="zh-CN" dirty="0"/>
              <a:t>, and weighted sum within a single loop.</a:t>
            </a:r>
            <a:endParaRPr lang="zh-CN" altLang="en-US" dirty="0"/>
          </a:p>
        </p:txBody>
      </p:sp>
      <p:pic>
        <p:nvPicPr>
          <p:cNvPr id="2097220" name="Picture 4" descr="ELI5: FlashAttention. Step by step explanation of how one of… | by Aleksa  Gordić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9225" y="3524449"/>
            <a:ext cx="5780699" cy="3299328"/>
          </a:xfrm>
          <a:prstGeom prst="rect">
            <a:avLst/>
          </a:prstGeom>
          <a:noFill/>
        </p:spPr>
      </p:pic>
      <p:pic>
        <p:nvPicPr>
          <p:cNvPr id="2097221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2506" y="3429000"/>
            <a:ext cx="3078087" cy="339477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SRAM Scheduling: Tiling &amp; Memory Efficiency</a:t>
            </a:r>
            <a:endParaRPr lang="zh-CN" altLang="en-US" dirty="0"/>
          </a:p>
        </p:txBody>
      </p:sp>
      <p:sp>
        <p:nvSpPr>
          <p:cNvPr id="104888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8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88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Scheduling Strategy: Tiling</a:t>
            </a:r>
          </a:p>
          <a:p>
            <a:pPr lvl="1"/>
            <a:r>
              <a:rPr lang="en-US" altLang="zh-CN" dirty="0"/>
              <a:t>Partitioning: Q is split by rows; K and V are split by columns.</a:t>
            </a:r>
          </a:p>
          <a:p>
            <a:pPr lvl="1"/>
            <a:r>
              <a:rPr lang="en-US" altLang="zh-CN" dirty="0"/>
              <a:t>Dual-Loop Execution: </a:t>
            </a:r>
          </a:p>
          <a:p>
            <a:pPr lvl="2"/>
            <a:r>
              <a:rPr lang="en-US" altLang="zh-CN" dirty="0"/>
              <a:t>Outer Loop: Loads a block of K and V into SRAM.</a:t>
            </a:r>
          </a:p>
          <a:p>
            <a:pPr lvl="2"/>
            <a:r>
              <a:rPr lang="en-US" altLang="zh-CN" dirty="0"/>
              <a:t>Inner Loop: Loads a block of Q, performs dot products, and updates the output.</a:t>
            </a:r>
          </a:p>
          <a:p>
            <a:pPr lvl="1"/>
            <a:r>
              <a:rPr lang="en-US" altLang="zh-CN" dirty="0"/>
              <a:t>The Result: The intermediate Attention Matrix is computed and consumed entirely within SRAM, never touching HBM.</a:t>
            </a:r>
            <a:endParaRPr lang="zh-CN" altLang="en-US" dirty="0"/>
          </a:p>
        </p:txBody>
      </p:sp>
      <p:pic>
        <p:nvPicPr>
          <p:cNvPr id="2097222" name="Picture 2" descr="https://miro.medium.com/v2/resize:fit:1050/1*x2exhUd24pNyxjBaveCDM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7073" y="4087090"/>
            <a:ext cx="2634385" cy="2634385"/>
          </a:xfrm>
          <a:prstGeom prst="rect">
            <a:avLst/>
          </a:prstGeom>
          <a:noFill/>
        </p:spPr>
      </p:pic>
      <p:pic>
        <p:nvPicPr>
          <p:cNvPr id="2097223" name="图片 8"/>
          <p:cNvPicPr>
            <a:picLocks noChangeAspect="1"/>
          </p:cNvPicPr>
          <p:nvPr/>
        </p:nvPicPr>
        <p:blipFill rotWithShape="1">
          <a:blip r:embed="rId3"/>
          <a:srcRect r="45667" b="10817"/>
          <a:stretch>
            <a:fillRect/>
          </a:stretch>
        </p:blipFill>
        <p:spPr>
          <a:xfrm>
            <a:off x="938404" y="3925533"/>
            <a:ext cx="4796753" cy="27959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4" name="Picture 6" descr="Flash Attention V1: Til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83261" y="2823923"/>
            <a:ext cx="4004830" cy="3971732"/>
          </a:xfrm>
          <a:prstGeom prst="rect">
            <a:avLst/>
          </a:prstGeom>
          <a:noFill/>
        </p:spPr>
      </p:pic>
      <p:sp>
        <p:nvSpPr>
          <p:cNvPr id="10488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 Pass Implementation</a:t>
            </a:r>
            <a:endParaRPr lang="zh-CN" altLang="en-US" dirty="0"/>
          </a:p>
        </p:txBody>
      </p:sp>
      <p:sp>
        <p:nvSpPr>
          <p:cNvPr id="104888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8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88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How Tiling enables computation without storing the N x N matrix.</a:t>
            </a:r>
          </a:p>
          <a:p>
            <a:pPr lvl="1"/>
            <a:r>
              <a:rPr lang="en-US" altLang="zh-CN" dirty="0"/>
              <a:t>Outer Loop (Loop over K, V blocks): Divide K and V matrices into column blocks and load them into SRAM.</a:t>
            </a:r>
          </a:p>
          <a:p>
            <a:pPr lvl="1"/>
            <a:r>
              <a:rPr lang="en-US" altLang="zh-CN" dirty="0"/>
              <a:t>Inner Loop (Loop over Q blocks): Divide Q into row blocks.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For each Q</a:t>
            </a:r>
            <a:r>
              <a:rPr lang="en-US" altLang="zh-CN" i="1" baseline="-25000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, perform the computation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On-chip Computation: Compute local attention scores in SRAM and immediately apply weighted summation with V.</a:t>
            </a:r>
          </a:p>
          <a:p>
            <a:pPr lvl="1"/>
            <a:r>
              <a:rPr lang="en-US" altLang="zh-CN" dirty="0"/>
              <a:t>Write-back: Only the final output matrix O (size N x d) is written back to HBM, completely bypassing the O(</a:t>
            </a:r>
            <a:r>
              <a:rPr lang="en-US" altLang="zh-CN" i="1" dirty="0"/>
              <a:t>n²</a:t>
            </a:r>
            <a:r>
              <a:rPr lang="en-US" altLang="zh-CN" dirty="0"/>
              <a:t>) intermediate storage.</a:t>
            </a:r>
            <a:endParaRPr lang="zh-CN" altLang="en-US" dirty="0"/>
          </a:p>
        </p:txBody>
      </p:sp>
      <p:pic>
        <p:nvPicPr>
          <p:cNvPr id="2097225" name="图片 11"/>
          <p:cNvPicPr>
            <a:picLocks noChangeAspect="1"/>
          </p:cNvPicPr>
          <p:nvPr/>
        </p:nvPicPr>
        <p:blipFill rotWithShape="1">
          <a:blip r:embed="rId3"/>
          <a:srcRect r="45667" b="10817"/>
          <a:stretch>
            <a:fillRect/>
          </a:stretch>
        </p:blipFill>
        <p:spPr>
          <a:xfrm>
            <a:off x="4004831" y="4530837"/>
            <a:ext cx="3758287" cy="2190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Benchmarks &amp; Throughput</a:t>
            </a:r>
            <a:endParaRPr lang="zh-CN" altLang="en-US" dirty="0"/>
          </a:p>
        </p:txBody>
      </p:sp>
      <p:sp>
        <p:nvSpPr>
          <p:cNvPr id="104889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9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2097226" name="Picture 2" descr="FlashAttention speedup on A100 80GB SXM5 with FP16/BF16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222250" y="1344295"/>
            <a:ext cx="6612255" cy="4626610"/>
          </a:xfrm>
          <a:prstGeom prst="rect">
            <a:avLst/>
          </a:prstGeom>
          <a:noFill/>
        </p:spPr>
      </p:pic>
      <p:pic>
        <p:nvPicPr>
          <p:cNvPr id="2097227" name="Picture 4" descr="FlashAttention memor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97287" y="2416507"/>
            <a:ext cx="4894713" cy="235749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Challenge: The Global Dependency of Softmax</a:t>
            </a:r>
            <a:endParaRPr lang="zh-CN" altLang="en-US" dirty="0"/>
          </a:p>
        </p:txBody>
      </p:sp>
      <p:sp>
        <p:nvSpPr>
          <p:cNvPr id="104889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9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89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Why can’t we directly compute </a:t>
            </a:r>
            <a:r>
              <a:rPr lang="en-US" altLang="zh-CN" dirty="0" err="1"/>
              <a:t>Softmax</a:t>
            </a:r>
            <a:r>
              <a:rPr lang="en-US" altLang="zh-CN" dirty="0"/>
              <a:t> on individual blocks?</a:t>
            </a:r>
          </a:p>
          <a:p>
            <a:r>
              <a:rPr lang="en-US" altLang="zh-CN" dirty="0"/>
              <a:t>Problem Description:</a:t>
            </a:r>
          </a:p>
          <a:p>
            <a:pPr lvl="1">
              <a:spcBef>
                <a:spcPts val="1200"/>
              </a:spcBef>
              <a:spcAft>
                <a:spcPts val="1800"/>
              </a:spcAft>
            </a:pPr>
            <a:r>
              <a:rPr lang="en-US" altLang="zh-CN" dirty="0"/>
              <a:t>Definition: </a:t>
            </a:r>
          </a:p>
          <a:p>
            <a:pPr lvl="1"/>
            <a:r>
              <a:rPr lang="en-US" altLang="zh-CN" dirty="0"/>
              <a:t>The Tiling Dilemma: </a:t>
            </a:r>
            <a:r>
              <a:rPr lang="en-US" altLang="zh-CN" dirty="0" err="1"/>
              <a:t>Softmax</a:t>
            </a:r>
            <a:r>
              <a:rPr lang="en-US" altLang="zh-CN" dirty="0"/>
              <a:t> requires the Global Maximum (m) for numerical stability and the Global Sum (L) for normalization.</a:t>
            </a:r>
          </a:p>
          <a:p>
            <a:pPr lvl="1"/>
            <a:r>
              <a:rPr lang="en-US" altLang="zh-CN" dirty="0"/>
              <a:t>The Conflict: When processing the first block, we don't know the maximum value or the sum of the remaining blocks. Standard logic suggests we must scan the entire row first.</a:t>
            </a:r>
          </a:p>
          <a:p>
            <a:r>
              <a:rPr lang="en-US" altLang="zh-CN" dirty="0"/>
              <a:t>Transition Question: How can we compute or "predict" the correct </a:t>
            </a:r>
            <a:r>
              <a:rPr lang="en-US" altLang="zh-CN" dirty="0" err="1"/>
              <a:t>Softmax</a:t>
            </a:r>
            <a:r>
              <a:rPr lang="en-US" altLang="zh-CN" dirty="0"/>
              <a:t> output while only seeing a partial chunk of data? </a:t>
            </a:r>
            <a:endParaRPr lang="zh-CN" altLang="en-US" dirty="0"/>
          </a:p>
        </p:txBody>
      </p:sp>
      <p:pic>
        <p:nvPicPr>
          <p:cNvPr id="209722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534" y="2295798"/>
            <a:ext cx="2674993" cy="71469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of Safe Softmax</a:t>
            </a:r>
            <a:endParaRPr lang="zh-CN" altLang="en-US" dirty="0"/>
          </a:p>
        </p:txBody>
      </p:sp>
      <p:sp>
        <p:nvSpPr>
          <p:cNvPr id="104890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0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90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Necessity of Safe </a:t>
            </a:r>
            <a:r>
              <a:rPr lang="en-US" altLang="zh-CN" dirty="0" err="1"/>
              <a:t>Softmax</a:t>
            </a:r>
            <a:endParaRPr lang="en-US" altLang="zh-CN" dirty="0"/>
          </a:p>
          <a:p>
            <a:pPr lvl="1"/>
            <a:r>
              <a:rPr lang="en-US" altLang="zh-CN" dirty="0"/>
              <a:t>Preventing numerical overflow by subtracting the maximum value.</a:t>
            </a:r>
          </a:p>
          <a:p>
            <a:pPr lvl="1"/>
            <a:r>
              <a:rPr lang="en-US" altLang="zh-CN" dirty="0"/>
              <a:t>Overflow Risk: Direct calculation of </a:t>
            </a:r>
            <a:r>
              <a:rPr lang="en-US" altLang="zh-CN" dirty="0" err="1"/>
              <a:t>e</a:t>
            </a:r>
            <a:r>
              <a:rPr lang="en-US" altLang="zh-CN" baseline="30000" dirty="0" err="1"/>
              <a:t>xi</a:t>
            </a:r>
            <a:r>
              <a:rPr lang="en-US" altLang="zh-CN" dirty="0"/>
              <a:t> can lead to numerical overflow (Floating Point Overflow) when x</a:t>
            </a:r>
            <a:r>
              <a:rPr lang="en-US" altLang="zh-CN" baseline="-25000" dirty="0"/>
              <a:t>i</a:t>
            </a:r>
            <a:r>
              <a:rPr lang="en-US" altLang="zh-CN" dirty="0"/>
              <a:t> is large (e.g., x</a:t>
            </a:r>
            <a:r>
              <a:rPr lang="en-US" altLang="zh-CN" baseline="-25000" dirty="0"/>
              <a:t>i</a:t>
            </a:r>
            <a:r>
              <a:rPr lang="en-US" altLang="zh-CN" dirty="0"/>
              <a:t> = 1000).</a:t>
            </a:r>
          </a:p>
          <a:p>
            <a:pPr lvl="1"/>
            <a:r>
              <a:rPr lang="en-US" altLang="zh-CN" dirty="0"/>
              <a:t>Solution: Subtract the maximum value m = max(x</a:t>
            </a:r>
            <a:r>
              <a:rPr lang="en-US" altLang="zh-CN" baseline="-25000" dirty="0"/>
              <a:t>i</a:t>
            </a:r>
            <a:r>
              <a:rPr lang="en-US" altLang="zh-CN" dirty="0"/>
              <a:t>) from each element in the vector before exponentiation.</a:t>
            </a:r>
          </a:p>
        </p:txBody>
      </p:sp>
      <p:pic>
        <p:nvPicPr>
          <p:cNvPr id="209722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37" y="3882144"/>
            <a:ext cx="2867237" cy="766056"/>
          </a:xfrm>
          <a:prstGeom prst="rect">
            <a:avLst/>
          </a:prstGeom>
        </p:spPr>
      </p:pic>
      <p:pic>
        <p:nvPicPr>
          <p:cNvPr id="2097230" name="Picture 3" descr="FlashAttention简析| AllenY's blo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2542" y="3832877"/>
            <a:ext cx="3032615" cy="98521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Online </a:t>
            </a:r>
            <a:r>
              <a:rPr lang="en-US" altLang="zh-CN" dirty="0" err="1"/>
              <a:t>Softmax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  <p:sp>
        <p:nvSpPr>
          <p:cNvPr id="104890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906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Online </a:t>
            </a:r>
            <a:r>
              <a:rPr lang="en-US" altLang="zh-CN" dirty="0" err="1"/>
              <a:t>Softmax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r>
              <a:rPr lang="en-US" altLang="zh-CN" dirty="0"/>
              <a:t>Example</a:t>
            </a:r>
          </a:p>
          <a:p>
            <a:pPr lvl="1"/>
            <a:r>
              <a:rPr lang="en-US" altLang="zh-CN" dirty="0"/>
              <a:t>S = [x</a:t>
            </a:r>
            <a:r>
              <a:rPr lang="en-US" altLang="zh-CN" baseline="-25000" dirty="0"/>
              <a:t>0</a:t>
            </a:r>
            <a:r>
              <a:rPr lang="en-US" altLang="zh-CN" dirty="0"/>
              <a:t>​, x</a:t>
            </a:r>
            <a:r>
              <a:rPr lang="en-US" altLang="zh-CN" baseline="-25000" dirty="0"/>
              <a:t>1</a:t>
            </a:r>
            <a:r>
              <a:rPr lang="en-US" altLang="zh-CN" dirty="0"/>
              <a:t>​ ,x</a:t>
            </a:r>
            <a:r>
              <a:rPr lang="en-US" altLang="zh-CN" baseline="-25000" dirty="0"/>
              <a:t>2</a:t>
            </a:r>
            <a:r>
              <a:rPr lang="en-US" altLang="zh-CN" dirty="0"/>
              <a:t> ​,x</a:t>
            </a:r>
            <a:r>
              <a:rPr lang="en-US" altLang="zh-CN" baseline="-25000" dirty="0"/>
              <a:t>3</a:t>
            </a:r>
            <a:r>
              <a:rPr lang="en-US" altLang="zh-CN" dirty="0"/>
              <a:t>​], V=[v</a:t>
            </a:r>
            <a:r>
              <a:rPr lang="en-US" altLang="zh-CN" baseline="-25000" dirty="0"/>
              <a:t>0</a:t>
            </a:r>
            <a:r>
              <a:rPr lang="en-US" altLang="zh-CN" dirty="0"/>
              <a:t>​, v</a:t>
            </a:r>
            <a:r>
              <a:rPr lang="en-US" altLang="zh-CN" baseline="-25000" dirty="0"/>
              <a:t>1</a:t>
            </a:r>
            <a:r>
              <a:rPr lang="en-US" altLang="zh-CN" dirty="0"/>
              <a:t>, v</a:t>
            </a:r>
            <a:r>
              <a:rPr lang="en-US" altLang="zh-CN" baseline="-25000" dirty="0"/>
              <a:t>2  </a:t>
            </a:r>
            <a:r>
              <a:rPr lang="en-US" altLang="zh-CN" dirty="0"/>
              <a:t>​,v</a:t>
            </a:r>
            <a:r>
              <a:rPr lang="en-US" altLang="zh-CN" baseline="-25000" dirty="0"/>
              <a:t>3</a:t>
            </a:r>
            <a:r>
              <a:rPr lang="en-US" altLang="zh-CN" dirty="0"/>
              <a:t>​]</a:t>
            </a:r>
          </a:p>
          <a:p>
            <a:endParaRPr lang="zh-CN" altLang="en-US" dirty="0"/>
          </a:p>
        </p:txBody>
      </p:sp>
      <p:sp>
        <p:nvSpPr>
          <p:cNvPr id="1048907" name="页脚占位符 4"/>
          <p:cNvSpPr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r>
              <a:rPr lang="en-US" altLang="zh-CN" dirty="0" err="1"/>
              <a:t>Milakov</a:t>
            </a:r>
            <a:r>
              <a:rPr lang="en-US" altLang="zh-CN" dirty="0"/>
              <a:t>, Maxim, and Natalia </a:t>
            </a:r>
            <a:r>
              <a:rPr lang="en-US" altLang="zh-CN" dirty="0" err="1"/>
              <a:t>Gimelshein</a:t>
            </a:r>
            <a:r>
              <a:rPr lang="en-US" altLang="zh-CN" dirty="0"/>
              <a:t>. "Online normalizer calculation for </a:t>
            </a:r>
            <a:r>
              <a:rPr lang="en-US" altLang="zh-CN" dirty="0" err="1"/>
              <a:t>softmax</a:t>
            </a:r>
            <a:r>
              <a:rPr lang="en-US" altLang="zh-CN" dirty="0"/>
              <a:t>." </a:t>
            </a:r>
            <a:r>
              <a:rPr lang="en-US" altLang="zh-CN" dirty="0" err="1"/>
              <a:t>arXiv</a:t>
            </a:r>
            <a:r>
              <a:rPr lang="en-US" altLang="zh-CN" dirty="0"/>
              <a:t> preprint arXiv:1805.02867 (2018).</a:t>
            </a:r>
          </a:p>
        </p:txBody>
      </p:sp>
      <p:sp>
        <p:nvSpPr>
          <p:cNvPr id="1048908" name="内容占位符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lvl="2"/>
            <a:endParaRPr lang="en-US" altLang="zh-CN" baseline="-25000" dirty="0"/>
          </a:p>
          <a:p>
            <a:pPr lvl="1"/>
            <a:endParaRPr lang="zh-CN" altLang="en-US" dirty="0"/>
          </a:p>
        </p:txBody>
      </p:sp>
      <p:pic>
        <p:nvPicPr>
          <p:cNvPr id="209723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65130" y="1203648"/>
            <a:ext cx="1832709" cy="778097"/>
          </a:xfrm>
          <a:prstGeom prst="rect">
            <a:avLst/>
          </a:prstGeom>
          <a:noFill/>
        </p:spPr>
      </p:pic>
      <p:pic>
        <p:nvPicPr>
          <p:cNvPr id="209723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545" y="1960504"/>
            <a:ext cx="9650503" cy="858896"/>
          </a:xfrm>
          <a:prstGeom prst="rect">
            <a:avLst/>
          </a:prstGeom>
          <a:noFill/>
        </p:spPr>
      </p:pic>
      <p:pic>
        <p:nvPicPr>
          <p:cNvPr id="2097233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96166" y="2618272"/>
            <a:ext cx="8941452" cy="1484281"/>
          </a:xfrm>
          <a:prstGeom prst="rect">
            <a:avLst/>
          </a:prstGeom>
          <a:noFill/>
        </p:spPr>
      </p:pic>
      <p:pic>
        <p:nvPicPr>
          <p:cNvPr id="2097234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801" y="4815500"/>
            <a:ext cx="4660302" cy="809273"/>
          </a:xfrm>
          <a:prstGeom prst="rect">
            <a:avLst/>
          </a:prstGeom>
        </p:spPr>
      </p:pic>
      <p:pic>
        <p:nvPicPr>
          <p:cNvPr id="2097235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432" y="5494280"/>
            <a:ext cx="2543653" cy="858896"/>
          </a:xfrm>
          <a:prstGeom prst="rect">
            <a:avLst/>
          </a:prstGeom>
        </p:spPr>
      </p:pic>
      <p:pic>
        <p:nvPicPr>
          <p:cNvPr id="2097236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789" y="5624773"/>
            <a:ext cx="5514647" cy="67251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Formula Derivation</a:t>
            </a:r>
            <a:endParaRPr lang="zh-CN" altLang="en-US" dirty="0"/>
          </a:p>
        </p:txBody>
      </p:sp>
      <p:sp>
        <p:nvSpPr>
          <p:cNvPr id="104891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23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73" y="1323977"/>
            <a:ext cx="7558016" cy="4421439"/>
          </a:xfrm>
          <a:prstGeom prst="rect">
            <a:avLst/>
          </a:prstGeom>
          <a:noFill/>
        </p:spPr>
      </p:pic>
      <p:pic>
        <p:nvPicPr>
          <p:cNvPr id="209723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61160" y="1737955"/>
            <a:ext cx="3930840" cy="379606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2219</Words>
  <Application>Microsoft Office PowerPoint</Application>
  <PresentationFormat>宽屏</PresentationFormat>
  <Paragraphs>124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Chinese Quote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Roboto</vt:lpstr>
      <vt:lpstr>Wingdings 3</vt:lpstr>
      <vt:lpstr>母版</vt:lpstr>
      <vt:lpstr>Hardware and Software Fundamentals of  Intelligent Computing  Systems</vt:lpstr>
      <vt:lpstr>Lecture 11: Flash Attention Implementation I (IO-Aware)</vt:lpstr>
      <vt:lpstr>Flash Attention: Tiling Computation</vt:lpstr>
      <vt:lpstr>GPU Memory Hierarchy Explained</vt:lpstr>
      <vt:lpstr>Root Problem of Attention</vt:lpstr>
      <vt:lpstr>Core Idea of Flash Attention: Less movement</vt:lpstr>
      <vt:lpstr>Tiling Concept</vt:lpstr>
      <vt:lpstr>Dynamic Demo</vt:lpstr>
      <vt:lpstr>Memory Access Comparison</vt:lpstr>
      <vt:lpstr>Kernel Fusion</vt:lpstr>
      <vt:lpstr>SRAM Scheduling: Tiling &amp; Memory Efficiency</vt:lpstr>
      <vt:lpstr>Forward Pass Implementation</vt:lpstr>
      <vt:lpstr>Performance Benchmarks &amp; Throughput</vt:lpstr>
      <vt:lpstr>Challenge: The Global Dependency of Softmax</vt:lpstr>
      <vt:lpstr>Review of Safe Softmax</vt:lpstr>
      <vt:lpstr>Online Softmax Algorithm</vt:lpstr>
      <vt:lpstr>Formula Derivation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11：Flash Attention 实现 I （IO感知）</dc:title>
  <dc:creator>王丰</dc:creator>
  <cp:lastModifiedBy>Xiang Li</cp:lastModifiedBy>
  <cp:revision>7</cp:revision>
  <dcterms:created xsi:type="dcterms:W3CDTF">2026-03-12T02:47:00Z</dcterms:created>
  <dcterms:modified xsi:type="dcterms:W3CDTF">2026-03-17T14:53:35Z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73a59436b4354da09f2a1aff800eacb2_23</vt:lpwstr>
  </property>
  <property fmtid="{D5CDD505-2E9C-101B-9397-08002B2CF9AE}" pid="3" name="KSOProductBuildVer">
    <vt:lpwstr>2052-12.1.0.19302</vt:lpwstr>
  </property>
</Properties>
</file>