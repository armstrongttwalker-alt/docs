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66" r:id="rId3"/>
    <p:sldId id="256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  <p:cmAuthor id="3" name="SHI BIZHAO" initials="Shi" lastIdx="0" clrIdx="2"/>
  <p:cmAuthor id="4" name="马瑞阳_Mj63q6ZJ" initials="authorId_1080340045" lastIdx="0" clrIdx="3"/>
  <p:cmAuthor id="5" name="WPS_1657951207_BbYbQFJj" initials="authorId_1392390105" lastIdx="0" clrIdx="4"/>
  <p:cmAuthor id="6" name="Alex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83DEB3A-1B30-4ED8-929D-D4389515C9ED}" styleName="补充样式1">
    <a:wholeTbl>
      <a:tcTxStyle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rgbClr val="8B0012"/>
              </a:solidFill>
            </a:ln>
          </a:top>
          <a:bottom>
            <a:ln w="19050" cmpd="sng">
              <a:solidFill>
                <a:srgbClr val="8B001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8B0012">
              <a:lumMod val="10001"/>
              <a:lumOff val="89999"/>
            </a:srgbClr>
          </a:solidFill>
        </a:fill>
      </a:tcStyle>
    </a:band2H>
    <a:band1V>
      <a:tcStyle>
        <a:tcBdr/>
        <a:fill>
          <a:solidFill>
            <a:srgbClr val="8B0012">
              <a:lumMod val="10001"/>
              <a:lumOff val="89999"/>
            </a:srgbClr>
          </a:solidFill>
        </a:fill>
      </a:tcStyle>
    </a:band1V>
    <a:lastCol>
      <a:tcTxStyle b="on">
        <a:fontRef idx="none">
          <a:srgbClr val="08090C"/>
        </a:fontRef>
      </a:tcTxStyle>
      <a:tcStyle>
        <a:tcBdr/>
        <a:fill>
          <a:solidFill>
            <a:srgbClr val="8B0012">
              <a:lumMod val="20002"/>
              <a:lumOff val="79998"/>
            </a:srgbClr>
          </a:solidFill>
        </a:fill>
      </a:tcStyle>
    </a:lastCol>
    <a:firstCol>
      <a:tcTxStyle b="on">
        <a:fontRef idx="none">
          <a:srgbClr val="8B0012"/>
        </a:fontRef>
      </a:tcTxStyle>
      <a:tcStyle>
        <a:tcBdr/>
        <a:fill>
          <a:solidFill>
            <a:srgbClr val="8B0012">
              <a:lumMod val="20002"/>
              <a:lumOff val="79998"/>
            </a:srgbClr>
          </a:solidFill>
        </a:fill>
      </a:tcStyle>
    </a:firstCol>
    <a:lastRow>
      <a:tcTxStyle b="on">
        <a:fontRef idx="none">
          <a:srgbClr val="8B0012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8B0012"/>
              </a:solidFill>
            </a:ln>
          </a:top>
          <a:bottom>
            <a:ln w="12700" cmpd="sng">
              <a:solidFill>
                <a:srgbClr val="8B001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8B0012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rgbClr val="8B0012"/>
              </a:solidFill>
            </a:ln>
          </a:top>
          <a:bottom>
            <a:ln w="9525" cmpd="sng">
              <a:solidFill>
                <a:srgbClr val="8B001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2442" autoAdjust="0"/>
  </p:normalViewPr>
  <p:slideViewPr>
    <p:cSldViewPr snapToGrid="0" snapToObjects="1">
      <p:cViewPr varScale="1">
        <p:scale>
          <a:sx n="93" d="100"/>
          <a:sy n="93" d="100"/>
        </p:scale>
        <p:origin x="7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2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10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image" Target="../media/image7.png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9" Type="http://schemas.openxmlformats.org/officeDocument/2006/relationships/slideLayout" Target="../slideLayouts/slideLayout6.xml"/><Relationship Id="rId28" Type="http://schemas.openxmlformats.org/officeDocument/2006/relationships/image" Target="../media/image14.png"/><Relationship Id="rId27" Type="http://schemas.openxmlformats.org/officeDocument/2006/relationships/image" Target="../media/image13.jpeg"/><Relationship Id="rId26" Type="http://schemas.openxmlformats.org/officeDocument/2006/relationships/hyperlink" Target="https://flagos.io/Home" TargetMode="External"/><Relationship Id="rId25" Type="http://schemas.openxmlformats.org/officeDocument/2006/relationships/tags" Target="../tags/tag27.xml"/><Relationship Id="rId24" Type="http://schemas.openxmlformats.org/officeDocument/2006/relationships/hyperlink" Target="https://www.zhihu.com/people/95-22-20-18/posts" TargetMode="External"/><Relationship Id="rId23" Type="http://schemas.openxmlformats.org/officeDocument/2006/relationships/tags" Target="../tags/tag26.xml"/><Relationship Id="rId22" Type="http://schemas.openxmlformats.org/officeDocument/2006/relationships/hyperlink" Target="https://space.bilibili.com/3546791834290849" TargetMode="External"/><Relationship Id="rId21" Type="http://schemas.openxmlformats.org/officeDocument/2006/relationships/tags" Target="../tags/tag25.xml"/><Relationship Id="rId20" Type="http://schemas.openxmlformats.org/officeDocument/2006/relationships/hyperlink" Target="https://github.com/flagos-ai" TargetMode="External"/><Relationship Id="rId2" Type="http://schemas.openxmlformats.org/officeDocument/2006/relationships/tags" Target="../tags/tag13.xml"/><Relationship Id="rId19" Type="http://schemas.openxmlformats.org/officeDocument/2006/relationships/tags" Target="../tags/tag24.xml"/><Relationship Id="rId18" Type="http://schemas.openxmlformats.org/officeDocument/2006/relationships/image" Target="../media/image12.png"/><Relationship Id="rId17" Type="http://schemas.openxmlformats.org/officeDocument/2006/relationships/tags" Target="../tags/tag23.xml"/><Relationship Id="rId16" Type="http://schemas.openxmlformats.org/officeDocument/2006/relationships/image" Target="../media/image11.png"/><Relationship Id="rId15" Type="http://schemas.openxmlformats.org/officeDocument/2006/relationships/tags" Target="../tags/tag22.xml"/><Relationship Id="rId14" Type="http://schemas.openxmlformats.org/officeDocument/2006/relationships/image" Target="../media/image10.png"/><Relationship Id="rId13" Type="http://schemas.openxmlformats.org/officeDocument/2006/relationships/tags" Target="../tags/tag21.xml"/><Relationship Id="rId12" Type="http://schemas.openxmlformats.org/officeDocument/2006/relationships/image" Target="../media/image9.png"/><Relationship Id="rId11" Type="http://schemas.openxmlformats.org/officeDocument/2006/relationships/tags" Target="../tags/tag20.xml"/><Relationship Id="rId10" Type="http://schemas.openxmlformats.org/officeDocument/2006/relationships/image" Target="../media/image8.png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1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  <a:endParaRPr lang="en-US" altLang="zh-CN" sz="4000">
              <a:latin typeface="+mj-cs"/>
              <a:cs typeface="+mj-cs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sym typeface="+mn-ea"/>
              </a:rPr>
              <a:t>Lecture 18：Module II Final Project</a:t>
            </a:r>
            <a:br>
              <a:rPr lang="en-US" altLang="en-US">
                <a:sym typeface="+mn-ea"/>
              </a:rPr>
            </a:br>
            <a:r>
              <a:rPr lang="en-US" altLang="en-US">
                <a:sym typeface="+mn-ea"/>
              </a:rPr>
              <a:t>(RMSNorm + Residual  Fused Operator)</a:t>
            </a:r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Course Projects Overview</a:t>
            </a:r>
            <a:endParaRPr lang="en-US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</a:fld>
            <a:endParaRPr lang="en-US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215900" y="1318604"/>
          <a:ext cx="11760200" cy="5173345"/>
        </p:xfrm>
        <a:graphic>
          <a:graphicData uri="http://schemas.openxmlformats.org/drawingml/2006/table">
            <a:tbl>
              <a:tblPr firstRow="1">
                <a:tableStyleId>{F83DEB3A-1B30-4ED8-929D-D4389515C9ED}</a:tableStyleId>
              </a:tblPr>
              <a:tblGrid>
                <a:gridCol w="1196340"/>
                <a:gridCol w="3369945"/>
                <a:gridCol w="1627505"/>
                <a:gridCol w="5566410"/>
              </a:tblGrid>
              <a:tr h="53911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600" b="1" spc="120"/>
                        <a:t>Lecture</a:t>
                      </a:r>
                      <a:endParaRPr lang="en-US" altLang="en-US" sz="1600" b="1" spc="120"/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600" b="1" spc="120"/>
                        <a:t>Project Name</a:t>
                      </a:r>
                      <a:endParaRPr lang="en-US" altLang="en-US" sz="1600" b="1" spc="120"/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600" b="1" spc="120"/>
                        <a:t>Type</a:t>
                      </a:r>
                      <a:endParaRPr lang="en-US" altLang="en-US" sz="1600" b="1" spc="120"/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600" b="1" spc="120"/>
                        <a:t>Key Assessment Criteria</a:t>
                      </a:r>
                      <a:endParaRPr lang="en-US" altLang="en-US" sz="1600" b="1" spc="120"/>
                    </a:p>
                  </a:txBody>
                  <a:tcPr marL="177800" marR="177800" marT="107950" marB="107950" anchor="ctr"/>
                </a:tc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5</a:t>
                      </a:r>
                      <a:endParaRPr lang="en-US" altLang="en-US" sz="1400" b="0" spc="120"/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Environment Setup and Toolchain</a:t>
                      </a:r>
                      <a:endParaRPr lang="en-US" altLang="en-US" sz="1400" b="0" spc="120"/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Lab Session</a:t>
                      </a:r>
                      <a:endParaRPr lang="en-US" altLang="en-US" sz="1400" b="0" spc="120"/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Four-Phase Operational Verification + + Lab Report</a:t>
                      </a:r>
                      <a:endParaRPr lang="en-US" altLang="en-US" sz="1400" b="0" spc="120"/>
                    </a:p>
                  </a:txBody>
                  <a:tcPr marL="177800" marR="177800" marT="107950" marB="107950" anchor="ctr"/>
                </a:tc>
              </a:tr>
              <a:tr h="77279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9</a:t>
                      </a:r>
                      <a:endParaRPr lang="en-US" altLang="en-US" sz="1400" b="0" spc="120"/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Softmax Kernel (Midterm)</a:t>
                      </a:r>
                      <a:endParaRPr lang="en-US" altLang="en-US" sz="1400" b="0" spc="120"/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Individual Project</a:t>
                      </a:r>
                      <a:endParaRPr lang="en-US" altLang="en-US" sz="1400" b="0" spc="120"/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Correctness 40pts + Performance70% Threshold</a:t>
                      </a:r>
                      <a:endParaRPr lang="en-US" altLang="en-US" sz="1400" b="0" spc="120"/>
                    </a:p>
                  </a:txBody>
                  <a:tcPr marL="177800" marR="177800" marT="107950" marB="107950" anchor="ctr"/>
                </a:tc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18</a:t>
                      </a:r>
                      <a:endParaRPr lang="en-US" altLang="en-US" sz="1400" b="0" spc="120"/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RMSNorm+Residual  Fusion (Final)</a:t>
                      </a:r>
                      <a:endParaRPr lang="en-US" altLang="en-US" sz="1400" b="0" spc="120"/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Individual Project</a:t>
                      </a:r>
                      <a:endParaRPr lang="en-US" altLang="en-US" sz="1400" b="0" spc="120"/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Performance must reach FlagGems Benchmark 90%</a:t>
                      </a:r>
                      <a:endParaRPr lang="en-US" altLang="en-US" sz="1400" b="0" spc="120"/>
                    </a:p>
                  </a:txBody>
                  <a:tcPr marL="177800" marR="177800" marT="107950" marB="107950" anchor="ctr"/>
                </a:tc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27</a:t>
                      </a:r>
                      <a:endParaRPr lang="en-US" altLang="en-US" sz="1400" b="0" spc="120"/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FlagTree Pass  Contribution (Final)</a:t>
                      </a:r>
                      <a:endParaRPr lang="en-US" altLang="en-US" sz="1400" b="0" spc="120"/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Individual Project</a:t>
                      </a:r>
                      <a:endParaRPr lang="en-US" altLang="en-US" sz="1400" b="0" spc="120"/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Choose from 3 directions, FileCheck Test Verification</a:t>
                      </a:r>
                      <a:endParaRPr lang="en-US" altLang="en-US" sz="1400" b="0" spc="120"/>
                    </a:p>
                  </a:txBody>
                  <a:tcPr marL="177800" marR="177800" marT="107950" marB="107950" anchor="ctr"/>
                </a:tc>
              </a:tr>
              <a:tr h="77279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36</a:t>
                      </a:r>
                      <a:endParaRPr lang="en-US" altLang="en-US" sz="1400" b="0" spc="120"/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7B  Multi-Node Distributed Training (Final)</a:t>
                      </a:r>
                      <a:endParaRPr lang="en-US" altLang="en-US" sz="1400" b="0" spc="120"/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3-Person Team</a:t>
                      </a:r>
                      <a:endParaRPr lang="en-US" altLang="en-US" sz="1400" b="0" spc="120"/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Comparison of 3 Parallelism Strategies + + Linear Speedup Ratio</a:t>
                      </a:r>
                      <a:endParaRPr lang="en-US" altLang="en-US" sz="1400" b="0" spc="120"/>
                    </a:p>
                  </a:txBody>
                  <a:tcPr marL="177800" marR="177800" marT="107950" marB="107950" anchor="ctr"/>
                </a:tc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46-47</a:t>
                      </a:r>
                      <a:endParaRPr lang="en-US" altLang="en-US" sz="1400" b="0" spc="120"/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Capstone Project Defense</a:t>
                      </a:r>
                      <a:endParaRPr lang="en-US" altLang="en-US" sz="1400" b="0" spc="120"/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Group Defense</a:t>
                      </a:r>
                      <a:endParaRPr lang="en-US" altLang="en-US" sz="1400" b="0" spc="120"/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Proposal Feasibility + + Authenticity of Progress</a:t>
                      </a:r>
                      <a:endParaRPr lang="en-US" altLang="en-US" sz="1400" b="0" spc="120"/>
                    </a:p>
                  </a:txBody>
                  <a:tcPr marL="177800" marR="177800" marT="107950" marB="107950" anchor="ctr"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Project Overview</a:t>
            </a:r>
            <a:endParaRPr lang="en-US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sz="2000"/>
              <a:t>Project Background</a:t>
            </a:r>
            <a:endParaRPr lang="en-US" altLang="en-US" sz="2000"/>
          </a:p>
          <a:p>
            <a:pPr lvl="1"/>
            <a:r>
              <a:rPr lang="en-US" altLang="en-US" sz="1800"/>
              <a:t>RMSNorm（Root Mean Square Normalization) and Residual Connection (Residual Connection) are core components of modern large language models (e.g., the  LLaMA  series). Fusing both into a single  Kernel  can significantly reduce  HBM  accesses, a classic operator fusion scenario. Students must implement a high-performance fused operator, with performance target of reaching  FlagGems  of the  90%  benchmark implementation or above.</a:t>
            </a:r>
            <a:endParaRPr lang="en-US" altLang="en-US" sz="1800"/>
          </a:p>
          <a:p>
            <a:pPr lvl="0"/>
            <a:r>
              <a:rPr lang="en-US" altLang="en-US" sz="2000"/>
              <a:t>Project Objectives</a:t>
            </a:r>
            <a:endParaRPr lang="en-US" altLang="en-US" sz="2000"/>
          </a:p>
          <a:p>
            <a:pPr lvl="1"/>
            <a:r>
              <a:rPr lang="en-US" altLang="en-US" sz="1800"/>
              <a:t>Using  Triton  to implement  Add + RMSNorm Fused  Kernel, supporting  float32  and  bfloat16</a:t>
            </a:r>
            <a:endParaRPr lang="en-US" altLang="en-US" sz="1800"/>
          </a:p>
          <a:p>
            <a:pPr lvl="1"/>
            <a:r>
              <a:rPr lang="en-US" altLang="en-US" sz="1800"/>
              <a:t>Support arbitrary  [M, N]  input (N  is the normalization dimension, typical values:  4096/8192）</a:t>
            </a:r>
            <a:endParaRPr lang="en-US" altLang="en-US" sz="1800"/>
          </a:p>
          <a:p>
            <a:pPr lvl="1"/>
            <a:r>
              <a:rPr lang="en-US" altLang="en-US" sz="1800"/>
              <a:t>Correctness: maximum absolute error vs.  PyTorch  step-by-step computation  &lt; 2e-5（float32）</a:t>
            </a:r>
            <a:endParaRPr lang="en-US" altLang="en-US" sz="1800"/>
          </a:p>
          <a:p>
            <a:pPr lvl="1"/>
            <a:r>
              <a:rPr lang="en-US" altLang="en-US" sz="1800"/>
              <a:t>Performance: on target shape  [4096, 4096]  achieve  FlagGems  of the reference implementation throughput 90%</a:t>
            </a:r>
            <a:endParaRPr lang="en-US" altLang="en-US" sz="1800"/>
          </a:p>
          <a:p>
            <a:pPr lvl="1"/>
            <a:r>
              <a:rPr lang="en-US" altLang="en-US" sz="1800"/>
              <a:t>(Advanced) Support backward pass  Kernel (gradient computation)</a:t>
            </a:r>
            <a:endParaRPr lang="en-US" altLang="en-US" sz="180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Implementation Requirements</a:t>
            </a:r>
            <a:endParaRPr lang="en-US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sz="2000"/>
              <a:t>Forward Operator Specification</a:t>
            </a:r>
            <a:endParaRPr lang="en-US" altLang="en-US" sz="2000"/>
          </a:p>
          <a:p>
            <a:pPr lvl="1"/>
            <a:endParaRPr lang="en-US" altLang="en-US" sz="1800"/>
          </a:p>
          <a:p>
            <a:r>
              <a:rPr lang="en-US" altLang="en-US" sz="2000"/>
              <a:t>Key Optimization Points</a:t>
            </a:r>
            <a:endParaRPr lang="en-US" altLang="en-US" sz="2000"/>
          </a:p>
          <a:p>
            <a:pPr lvl="1"/>
            <a:r>
              <a:rPr lang="en-US" altLang="en-US" sz="1800"/>
              <a:t>Single  Kernel  completes addition and normalization with only one HBM read/write HBM</a:t>
            </a:r>
            <a:endParaRPr lang="en-US" altLang="en-US" sz="1800"/>
          </a:p>
          <a:p>
            <a:pPr lvl="1"/>
            <a:r>
              <a:rPr lang="en-US" altLang="en-US" sz="1800"/>
              <a:t>Use  Triton 's  tl.rsqrt  to compute  RMS </a:t>
            </a:r>
            <a:endParaRPr lang="en-US" altLang="en-US" sz="1800"/>
          </a:p>
          <a:p>
            <a:pPr lvl="1"/>
            <a:r>
              <a:rPr lang="en-US" altLang="en-US" sz="1800"/>
              <a:t>Handle  N  misalignment with  Mask  loading</a:t>
            </a:r>
            <a:endParaRPr lang="en-US" altLang="en-US" sz="1800"/>
          </a:p>
          <a:p>
            <a:pPr lvl="1"/>
            <a:r>
              <a:rPr lang="en-US" altLang="en-US" sz="1800"/>
              <a:t>For  bfloat16, accumulate internally in  float32  before conversion (precision guarantee)</a:t>
            </a:r>
            <a:endParaRPr lang="en-US" altLang="en-US" sz="1800"/>
          </a:p>
          <a:p>
            <a:r>
              <a:rPr lang="en-US" altLang="en-US" sz="2000"/>
              <a:t>Performance Analysis Report (Must Include)</a:t>
            </a:r>
            <a:endParaRPr lang="en-US" altLang="en-US" sz="2000"/>
          </a:p>
          <a:p>
            <a:pPr lvl="1"/>
            <a:r>
              <a:rPr lang="en-US" altLang="en-US" sz="1800"/>
              <a:t>Nsight Compute 's  Roofline  Analysis Chart: showing the operator's  Arithmetic Intensity</a:t>
            </a:r>
            <a:endParaRPr lang="en-US" altLang="en-US" sz="1800"/>
          </a:p>
          <a:p>
            <a:pPr lvl="1"/>
            <a:r>
              <a:rPr lang="en-US" altLang="en-US" sz="1800"/>
              <a:t>Throughput comparison across different  BLOCK_SIZE（64/128/256</a:t>
            </a:r>
            <a:endParaRPr lang="en-US" altLang="en-US" sz="1800"/>
          </a:p>
          <a:p>
            <a:pPr lvl="1"/>
            <a:r>
              <a:rPr lang="en-US" altLang="en-US" sz="1800"/>
              <a:t> overhead comparison with non-fused (step-by-step) implementation Kernel Launch </a:t>
            </a:r>
            <a:endParaRPr lang="en-US" altLang="en-US" sz="1800"/>
          </a:p>
        </p:txBody>
      </p: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4637405" y="1323975"/>
          <a:ext cx="7398385" cy="1097280"/>
        </p:xfrm>
        <a:graphic>
          <a:graphicData uri="http://schemas.openxmlformats.org/drawingml/2006/table">
            <a:tbl>
              <a:tblPr/>
              <a:tblGrid>
                <a:gridCol w="7398385"/>
              </a:tblGrid>
              <a:tr h="365760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</a:rPr>
                        <a:t>def fused_add_rms_norm(x, residual, weight, eps=1e-6):</a:t>
                      </a:r>
                      <a:endParaRPr lang="en-US" altLang="en-US" sz="1400">
                        <a:solidFill>
                          <a:srgbClr val="1A5276"/>
                        </a:solidFill>
                        <a:latin typeface="Courier New" panose="02070309020205020404"/>
                        <a:ea typeface="Courier New" panose="02070309020205020404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</a:rPr>
                        <a:t>    # x, residual: [M, N]  weight: [N]</a:t>
                      </a:r>
                      <a:endParaRPr lang="en-US" altLang="en-US" sz="1400">
                        <a:solidFill>
                          <a:srgbClr val="1A5276"/>
                        </a:solidFill>
                        <a:latin typeface="Courier New" panose="02070309020205020404"/>
                        <a:ea typeface="Courier New" panose="02070309020205020404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</a:rPr>
                        <a:t>    # Returns (normed_output, updated_residual)</a:t>
                      </a:r>
                      <a:endParaRPr lang="en-US" altLang="en-US" sz="1400">
                        <a:solidFill>
                          <a:srgbClr val="1A5276"/>
                        </a:solidFill>
                        <a:latin typeface="Courier New" panose="02070309020205020404"/>
                        <a:ea typeface="Courier New" panose="02070309020205020404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Submission Requirements and Grading Criteria</a:t>
            </a:r>
            <a:endParaRPr lang="en-US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en-US" sz="2000"/>
              <a:t>Submission Checklist</a:t>
            </a:r>
            <a:endParaRPr lang="en-US" altLang="en-US" sz="2000"/>
          </a:p>
          <a:p>
            <a:pPr lvl="1"/>
            <a:r>
              <a:rPr lang="en-US" altLang="en-US" sz="1800"/>
              <a:t>fused_rms_norm.py: complete  Kernel  code with correctness tests</a:t>
            </a:r>
            <a:endParaRPr lang="en-US" altLang="en-US" sz="1800"/>
          </a:p>
          <a:p>
            <a:pPr lvl="1"/>
            <a:r>
              <a:rPr lang="en-US" altLang="en-US" sz="1800"/>
              <a:t>benchmark.py: reproducible performance benchmark script</a:t>
            </a:r>
            <a:endParaRPr lang="en-US" altLang="en-US" sz="1800"/>
          </a:p>
          <a:p>
            <a:pPr lvl="1"/>
            <a:r>
              <a:rPr lang="en-US" altLang="en-US" sz="1800"/>
              <a:t>report.pdf: no more than  6  pages, including design decisions, NSC  analysis results, and performance comparison charts</a:t>
            </a:r>
            <a:endParaRPr lang="en-US" altLang="en-US" sz="1800"/>
          </a:p>
          <a:p>
            <a:pPr lvl="1"/>
            <a:r>
              <a:rPr lang="en-US" altLang="en-US" sz="1800"/>
              <a:t>(Advanced) grad_kernel.py: backward pass implementation and gradient verification code</a:t>
            </a:r>
            <a:endParaRPr lang="en-US" altLang="en-US" sz="1800"/>
          </a:p>
          <a:p>
            <a:r>
              <a:rPr lang="en-US" altLang="en-US" sz="2000"/>
              <a:t> Grading Criteria</a:t>
            </a:r>
            <a:endParaRPr lang="en-US" altLang="en-US" sz="2000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1704340" y="3997325"/>
          <a:ext cx="9023985" cy="2179955"/>
        </p:xfrm>
        <a:graphic>
          <a:graphicData uri="http://schemas.openxmlformats.org/drawingml/2006/table">
            <a:tbl>
              <a:tblPr/>
              <a:tblGrid>
                <a:gridCol w="2892425"/>
                <a:gridCol w="1735455"/>
                <a:gridCol w="4396105"/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Assessment Dimension</a:t>
                      </a:r>
                      <a:endParaRPr lang="en-US" sz="1400" b="1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200" marR="50800" marT="50800" marB="5080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B00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Score</a:t>
                      </a:r>
                      <a:endParaRPr lang="en-US" sz="1400" b="1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200" marR="50800" marT="50800" marB="5080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B00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 Grading Criteria</a:t>
                      </a:r>
                      <a:endParaRPr lang="en-US" sz="1400" b="1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200" marR="50800" marT="50800" marB="5080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B0012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>
                          <a:latin typeface="Arial" panose="020B0604020202020204"/>
                          <a:ea typeface="Arial" panose="020B0604020202020204"/>
                        </a:rPr>
                        <a:t>Code Correctness (</a:t>
                      </a:r>
                      <a:r>
                        <a:rPr lang="en-US" altLang="en-US" sz="1400">
                          <a:latin typeface="Arial" panose="020B0604020202020204"/>
                          <a:ea typeface="Arial" panose="020B0604020202020204"/>
                        </a:rPr>
                        <a:t>float32/bf16）</a:t>
                      </a:r>
                      <a:endParaRPr lang="en-US" altLang="en-US" sz="14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>
                          <a:latin typeface="Arial" panose="020B0604020202020204"/>
                          <a:ea typeface="Arial" panose="020B0604020202020204"/>
                        </a:rPr>
                        <a:t>30  pts</a:t>
                      </a:r>
                      <a:endParaRPr lang="en-US" altLang="en-US" sz="14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>
                          <a:latin typeface="Arial" panose="020B0604020202020204"/>
                          <a:ea typeface="Arial" panose="020B0604020202020204"/>
                        </a:rPr>
                        <a:t>Both data types pass precision verification</a:t>
                      </a:r>
                      <a:endParaRPr lang="en-US" sz="14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>
                          <a:latin typeface="Arial" panose="020B0604020202020204"/>
                          <a:ea typeface="Arial" panose="020B0604020202020204"/>
                        </a:rPr>
                        <a:t>Performance (Throughput)</a:t>
                      </a:r>
                      <a:endParaRPr lang="en-US" sz="14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>
                          <a:latin typeface="Arial" panose="020B0604020202020204"/>
                          <a:ea typeface="Arial" panose="020B0604020202020204"/>
                        </a:rPr>
                        <a:t>30  pts</a:t>
                      </a:r>
                      <a:endParaRPr lang="en-US" altLang="en-US" sz="14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>
                          <a:latin typeface="Arial" panose="020B0604020202020204"/>
                          <a:ea typeface="Arial" panose="020B0604020202020204"/>
                        </a:rPr>
                        <a:t>≥90%  benchmark for full score; 75%-90%  scores 20  pts</a:t>
                      </a:r>
                      <a:endParaRPr lang="en-US" altLang="en-US" sz="14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>
                          <a:latin typeface="Arial" panose="020B0604020202020204"/>
                          <a:ea typeface="Arial" panose="020B0604020202020204"/>
                        </a:rPr>
                        <a:t>Optimization Analysis Report</a:t>
                      </a:r>
                      <a:endParaRPr lang="en-US" sz="14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>
                          <a:latin typeface="Arial" panose="020B0604020202020204"/>
                          <a:ea typeface="Arial" panose="020B0604020202020204"/>
                        </a:rPr>
                        <a:t>25  pts</a:t>
                      </a:r>
                      <a:endParaRPr lang="en-US" altLang="en-US" sz="14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>
                          <a:latin typeface="Arial" panose="020B0604020202020204"/>
                          <a:ea typeface="Arial" panose="020B0604020202020204"/>
                        </a:rPr>
                        <a:t>Roofline  chart, Block Size  analysis, fusion gain quantification</a:t>
                      </a:r>
                      <a:endParaRPr lang="en-US" altLang="en-US" sz="14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>
                          <a:latin typeface="Arial" panose="020B0604020202020204"/>
                          <a:ea typeface="Arial" panose="020B0604020202020204"/>
                        </a:rPr>
                        <a:t>Code Engineering Quality</a:t>
                      </a:r>
                      <a:endParaRPr lang="en-US" sz="14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>
                          <a:latin typeface="Arial" panose="020B0604020202020204"/>
                          <a:ea typeface="Arial" panose="020B0604020202020204"/>
                        </a:rPr>
                        <a:t>10  pts</a:t>
                      </a:r>
                      <a:endParaRPr lang="en-US" altLang="en-US" sz="14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>
                          <a:latin typeface="Arial" panose="020B0604020202020204"/>
                          <a:ea typeface="Arial" panose="020B0604020202020204"/>
                        </a:rPr>
                        <a:t>Complete comments, clear interfaces, no hard-coding</a:t>
                      </a:r>
                      <a:endParaRPr lang="en-US" sz="14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>
                          <a:latin typeface="Arial" panose="020B0604020202020204"/>
                          <a:ea typeface="Arial" panose="020B0604020202020204"/>
                        </a:rPr>
                        <a:t>Advanced: Backward Pass</a:t>
                      </a:r>
                      <a:endParaRPr lang="en-US" sz="14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>
                          <a:latin typeface="Arial" panose="020B0604020202020204"/>
                          <a:ea typeface="Arial" panose="020B0604020202020204"/>
                        </a:rPr>
                        <a:t>5  pts</a:t>
                      </a:r>
                      <a:endParaRPr lang="en-US" altLang="en-US" sz="14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>
                          <a:latin typeface="Arial" panose="020B0604020202020204"/>
                          <a:ea typeface="Arial" panose="020B0604020202020204"/>
                        </a:rPr>
                        <a:t>Correct gradients with numerical verification</a:t>
                      </a:r>
                      <a:endParaRPr lang="en-US" sz="14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9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11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1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3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1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5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1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7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9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0" action="ppaction://hlinkfile"/>
              </a:rPr>
              <a:t>https://github.com/flagos-ai</a:t>
            </a:r>
            <a:endParaRPr lang="en-US" altLang="zh-CN" sz="1600" dirty="0"/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21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2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23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4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25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1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TABLE_ENDDRAG_ORIGIN_RECT" val="607*73"/>
  <p:tag name="TABLE_ENDDRAG_RECT" val="237*104*607*73"/>
</p:tagLst>
</file>

<file path=ppt/tags/tag11.xml><?xml version="1.0" encoding="utf-8"?>
<p:tagLst xmlns:p="http://schemas.openxmlformats.org/presentationml/2006/main">
  <p:tag name="TABLE_ENDDRAG_ORIGIN_RECT" val="710*171"/>
  <p:tag name="TABLE_ENDDRAG_RECT" val="134*314*710*171"/>
</p:tagLst>
</file>

<file path=ppt/tags/tag12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9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0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1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2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3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4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5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6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7.xml><?xml version="1.0" encoding="utf-8"?>
<p:tagLst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3575</Words>
  <Application>WPS 演示</Application>
  <PresentationFormat>宽屏</PresentationFormat>
  <Paragraphs>159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8" baseType="lpstr">
      <vt:lpstr>Arial</vt:lpstr>
      <vt:lpstr>宋体</vt:lpstr>
      <vt:lpstr>Wingdings</vt:lpstr>
      <vt:lpstr>Garamond</vt:lpstr>
      <vt:lpstr>微软雅黑</vt:lpstr>
      <vt:lpstr>Calibri</vt:lpstr>
      <vt:lpstr>文泉驿微米黑</vt:lpstr>
      <vt:lpstr>黑体</vt:lpstr>
      <vt:lpstr>Wingdings 3</vt:lpstr>
      <vt:lpstr>Ebrima</vt:lpstr>
      <vt:lpstr>Calibri Light</vt:lpstr>
      <vt:lpstr>Courier New</vt:lpstr>
      <vt:lpstr>Arial</vt:lpstr>
      <vt:lpstr>Arial Unicode MS</vt:lpstr>
      <vt:lpstr>Montserrat SemiBold</vt:lpstr>
      <vt:lpstr>Segoe Print</vt:lpstr>
      <vt:lpstr>Pretendard</vt:lpstr>
      <vt:lpstr>Malgun Gothic</vt:lpstr>
      <vt:lpstr>母版</vt:lpstr>
      <vt:lpstr>Hardware and Software Fundamentals of  Intelligent Computing  Systems</vt:lpstr>
      <vt:lpstr>Lecture 18：Module II Final Project (RMSNorm + Residual  Fused Operator)</vt:lpstr>
      <vt:lpstr>Course Projects Overview</vt:lpstr>
      <vt:lpstr>Project Overview</vt:lpstr>
      <vt:lpstr>Implementation Requirements</vt:lpstr>
      <vt:lpstr>Submission Requirements and Grading Criteria</vt:lpstr>
      <vt:lpstr>The Solution: FlagOS, a Unified AI Software Stack</vt:lpstr>
      <vt:lpstr>PowerPoint 演示文稿</vt:lpstr>
      <vt:lpstr>Thanks for your time！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开源社区与AI系统软件贡献</dc:title>
  <dc:creator>Kimi</dc:creator>
  <dc:subject>开源社区与AI系统软件贡献</dc:subject>
  <cp:lastModifiedBy>Zhiqiang Zhao</cp:lastModifiedBy>
  <cp:revision>10</cp:revision>
  <dcterms:created xsi:type="dcterms:W3CDTF">2026-03-12T02:52:00Z</dcterms:created>
  <dcterms:modified xsi:type="dcterms:W3CDTF">2026-03-17T14:57:24Z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开源社区与AI系统软件贡献","ContentProducer":"001191110108MACG2KBH8F10000","ProduceID":"19cbf9a2-ac82-8bf3-8000-00008c4ccf4f","ReservedCode1":"","ContentPropagator":"001191110108MACG2KBH8F20000","PropagateID":"19cbf9a2-ac82-8bf3-8000-00008c4ccf4f","ReservedCode2":""}</vt:lpwstr>
  </property>
  <property fmtid="{D5CDD505-2E9C-101B-9397-08002B2CF9AE}" pid="3" name="ICV">
    <vt:lpwstr>423D73E912CD1A00385CAA69CA7CE0B6_42</vt:lpwstr>
  </property>
  <property fmtid="{D5CDD505-2E9C-101B-9397-08002B2CF9AE}" pid="4" name="KSOProductBuildVer">
    <vt:lpwstr>2052-12.1.0.19302</vt:lpwstr>
  </property>
</Properties>
</file>