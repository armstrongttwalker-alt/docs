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337" r:id="rId2"/>
    <p:sldId id="292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277" r:id="rId22"/>
    <p:sldId id="279" r:id="rId23"/>
    <p:sldId id="28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0012"/>
    <a:srgbClr val="70AD47"/>
    <a:srgbClr val="2774AE"/>
    <a:srgbClr val="70AE47"/>
    <a:srgbClr val="549E39"/>
    <a:srgbClr val="90B08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92"/>
    <p:restoredTop sz="91912" autoAdjust="0"/>
  </p:normalViewPr>
  <p:slideViewPr>
    <p:cSldViewPr snapToGrid="0" snapToObjects="1">
      <p:cViewPr varScale="1">
        <p:scale>
          <a:sx n="56" d="100"/>
          <a:sy n="56" d="100"/>
        </p:scale>
        <p:origin x="808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8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759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35F3-BE5B-41CC-A973-5F94E77F22B3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1048760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761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26E5-09CE-4398-8EB0-4AC849D0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5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E8E16-D6C5-3248-816C-85B3C8E8792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104875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75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5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5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C98A-D9C5-894D-9A13-8F52E37846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7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GB" altLang="zh-CN" dirty="0"/>
              <a:t>https://</a:t>
            </a:r>
            <a:r>
              <a:rPr kumimoji="1" lang="en-GB" altLang="zh-CN" dirty="0" err="1"/>
              <a:t>github.com</a:t>
            </a:r>
            <a:r>
              <a:rPr kumimoji="1" lang="en-GB" altLang="zh-CN" dirty="0"/>
              <a:t>/</a:t>
            </a:r>
            <a:r>
              <a:rPr kumimoji="1" lang="en-GB" altLang="zh-CN" dirty="0" err="1"/>
              <a:t>flagos</a:t>
            </a:r>
            <a:r>
              <a:rPr kumimoji="1" lang="en-GB" altLang="zh-CN" dirty="0"/>
              <a:t>-ai/</a:t>
            </a:r>
            <a:r>
              <a:rPr kumimoji="1" lang="en-GB" altLang="zh-CN" dirty="0" err="1"/>
              <a:t>FlagGems</a:t>
            </a:r>
            <a:endParaRPr kumimoji="1" lang="zh-CN" altLang="en-US" dirty="0"/>
          </a:p>
        </p:txBody>
      </p:sp>
      <p:sp>
        <p:nvSpPr>
          <p:cNvPr id="1048679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8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GB" altLang="zh-CN" dirty="0"/>
              <a:t>https://</a:t>
            </a:r>
            <a:r>
              <a:rPr kumimoji="1" lang="en-GB" altLang="zh-CN" dirty="0" err="1"/>
              <a:t>github.com</a:t>
            </a:r>
            <a:r>
              <a:rPr kumimoji="1" lang="en-GB" altLang="zh-CN" dirty="0"/>
              <a:t>/</a:t>
            </a:r>
            <a:r>
              <a:rPr kumimoji="1" lang="en-GB" altLang="zh-CN" dirty="0" err="1"/>
              <a:t>flagos</a:t>
            </a:r>
            <a:r>
              <a:rPr kumimoji="1" lang="en-GB" altLang="zh-CN" dirty="0"/>
              <a:t>-ai/</a:t>
            </a:r>
            <a:r>
              <a:rPr kumimoji="1" lang="en-GB" altLang="zh-CN" dirty="0" err="1"/>
              <a:t>FlagGems</a:t>
            </a:r>
            <a:endParaRPr kumimoji="1" lang="zh-CN" altLang="en-US" dirty="0"/>
          </a:p>
        </p:txBody>
      </p:sp>
      <p:sp>
        <p:nvSpPr>
          <p:cNvPr id="104868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6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3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104873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4863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48633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8720610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0371459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triton-lang.org/main/index.html" TargetMode="External"/><Relationship Id="rId2" Type="http://schemas.openxmlformats.org/officeDocument/2006/relationships/hyperlink" Target="https://github.com/flagos-ai/FlagGem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log.ezyang.com/2020/09/lets-talk-about-the-pytorch-dispatcher/" TargetMode="External"/><Relationship Id="rId4" Type="http://schemas.openxmlformats.org/officeDocument/2006/relationships/hyperlink" Target="https://docs.nvidia.com/deeplearning/cudnn/latest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17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5.xml"/><Relationship Id="rId21" Type="http://schemas.openxmlformats.org/officeDocument/2006/relationships/image" Target="../media/image20.png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image" Target="../media/image19.png"/><Relationship Id="rId29" Type="http://schemas.openxmlformats.org/officeDocument/2006/relationships/image" Target="../media/image24.png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23" Type="http://schemas.openxmlformats.org/officeDocument/2006/relationships/image" Target="../media/image22.png"/><Relationship Id="rId28" Type="http://schemas.openxmlformats.org/officeDocument/2006/relationships/image" Target="../media/image23.jpeg"/><Relationship Id="rId10" Type="http://schemas.openxmlformats.org/officeDocument/2006/relationships/tags" Target="../tags/tag12.xml"/><Relationship Id="rId19" Type="http://schemas.openxmlformats.org/officeDocument/2006/relationships/image" Target="../media/image18.png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image" Target="../media/image21.png"/><Relationship Id="rId27" Type="http://schemas.openxmlformats.org/officeDocument/2006/relationships/hyperlink" Target="https://flagos.io/Home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Lecture 17: Architectural Design of Operator Libraries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altLang="zh-CN" dirty="0"/>
              <a:t>Principles</a:t>
            </a:r>
          </a:p>
          <a:p>
            <a:r>
              <a:rPr lang="en-GB" altLang="zh-CN" dirty="0"/>
              <a:t>Dispatcher</a:t>
            </a:r>
          </a:p>
          <a:p>
            <a:r>
              <a:rPr lang="en-GB" altLang="zh-CN" dirty="0"/>
              <a:t>DSL</a:t>
            </a:r>
          </a:p>
          <a:p>
            <a:r>
              <a:rPr lang="en-GB" altLang="zh-CN" dirty="0"/>
              <a:t>Case</a:t>
            </a:r>
            <a:r>
              <a:rPr lang="zh-CN" altLang="en-US" dirty="0"/>
              <a:t> </a:t>
            </a:r>
            <a:r>
              <a:rPr lang="en-US" altLang="zh-CN" dirty="0"/>
              <a:t>Study</a:t>
            </a:r>
            <a:endParaRPr lang="zh-CN" altLang="en-US" dirty="0"/>
          </a:p>
        </p:txBody>
      </p:sp>
      <p:sp>
        <p:nvSpPr>
          <p:cNvPr id="1048652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CN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GB" altLang="zh-CN" dirty="0"/>
              <a:t>Operator</a:t>
            </a:r>
          </a:p>
        </p:txBody>
      </p:sp>
      <p:sp>
        <p:nvSpPr>
          <p:cNvPr id="104865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6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1048658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7499985" cy="4853305"/>
          </a:xfrm>
        </p:spPr>
        <p:txBody>
          <a:bodyPr>
            <a:normAutofit/>
          </a:bodyPr>
          <a:lstStyle/>
          <a:p>
            <a:r>
              <a:rPr lang="en-GB" altLang="zh-CN" dirty="0"/>
              <a:t>Broadly speaking, applying any specific operation to a given function can be defined as an Operator.</a:t>
            </a:r>
          </a:p>
          <a:p>
            <a:r>
              <a:rPr lang="en-GB" altLang="zh-CN" dirty="0"/>
              <a:t>Deep learning algorithms are constructed from individual computational units known as Operators</a:t>
            </a:r>
            <a:r>
              <a:rPr lang="en-US" altLang="zh-CN" dirty="0"/>
              <a:t>.</a:t>
            </a:r>
            <a:r>
              <a:rPr lang="en-GB" altLang="zh-CN" dirty="0"/>
              <a:t> </a:t>
            </a:r>
          </a:p>
          <a:p>
            <a:r>
              <a:rPr lang="en-GB" altLang="zh-CN" dirty="0"/>
              <a:t>Examples</a:t>
            </a:r>
            <a:r>
              <a:rPr lang="en-US" altLang="zh-CN" dirty="0"/>
              <a:t>: </a:t>
            </a:r>
            <a:r>
              <a:rPr lang="en-GB" altLang="zh-CN" dirty="0"/>
              <a:t>Add, </a:t>
            </a:r>
            <a:r>
              <a:rPr lang="en-GB" altLang="zh-CN" dirty="0" err="1"/>
              <a:t>MatMul</a:t>
            </a:r>
            <a:r>
              <a:rPr lang="en-GB" altLang="zh-CN" dirty="0"/>
              <a:t>, </a:t>
            </a:r>
            <a:r>
              <a:rPr lang="en-GB" altLang="zh-CN" dirty="0" err="1"/>
              <a:t>LayerNorm</a:t>
            </a:r>
            <a:endParaRPr lang="en-GB" altLang="zh-CN" dirty="0"/>
          </a:p>
        </p:txBody>
      </p:sp>
      <p:pic>
        <p:nvPicPr>
          <p:cNvPr id="2097152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370" y="821690"/>
            <a:ext cx="4083685" cy="58997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GB" altLang="zh-CN" dirty="0"/>
              <a:t>Operator Library</a:t>
            </a:r>
          </a:p>
        </p:txBody>
      </p:sp>
      <p:sp>
        <p:nvSpPr>
          <p:cNvPr id="104866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6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1048662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7527290" cy="4853305"/>
          </a:xfrm>
        </p:spPr>
        <p:txBody>
          <a:bodyPr>
            <a:normAutofit/>
          </a:bodyPr>
          <a:lstStyle/>
          <a:p>
            <a:r>
              <a:rPr lang="en-GB" altLang="zh-CN" dirty="0"/>
              <a:t>A collection of highly optimized, reusable computational building blocks (Operators) for neural networks.</a:t>
            </a:r>
          </a:p>
          <a:p>
            <a:r>
              <a:rPr lang="en-GB" altLang="zh-CN" dirty="0"/>
              <a:t>Core Roles:</a:t>
            </a:r>
          </a:p>
          <a:p>
            <a:pPr lvl="1"/>
            <a:r>
              <a:rPr lang="en-GB" altLang="zh-CN" dirty="0"/>
              <a:t>The Bridge - Connects high-level AI frameworks with low-level bare-metal hardware.</a:t>
            </a:r>
          </a:p>
          <a:p>
            <a:pPr lvl="1"/>
            <a:r>
              <a:rPr lang="en-GB" altLang="zh-CN" dirty="0"/>
              <a:t>Performance Extractor - Maximizes hardware utilization via expert-level kernel tuning.</a:t>
            </a:r>
          </a:p>
          <a:p>
            <a:pPr lvl="1"/>
            <a:r>
              <a:rPr lang="en-GB" altLang="zh-CN" dirty="0"/>
              <a:t>Hardware Abstraction - Shields algorithm developers from complex low-level programming.</a:t>
            </a:r>
          </a:p>
        </p:txBody>
      </p:sp>
      <p:sp>
        <p:nvSpPr>
          <p:cNvPr id="1048665" name="圆角矩形 9"/>
          <p:cNvSpPr/>
          <p:nvPr/>
        </p:nvSpPr>
        <p:spPr>
          <a:xfrm>
            <a:off x="8488259" y="641247"/>
            <a:ext cx="3380509" cy="557550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8666" name="圆角矩形 6"/>
          <p:cNvSpPr/>
          <p:nvPr/>
        </p:nvSpPr>
        <p:spPr>
          <a:xfrm>
            <a:off x="8865920" y="873703"/>
            <a:ext cx="2586222" cy="10420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GB" altLang="zh-CN" sz="2000" b="1" dirty="0"/>
              <a:t>Deep Learning Framework</a:t>
            </a:r>
            <a:endParaRPr kumimoji="1" lang="zh-CN" altLang="en-US" sz="2000" dirty="0"/>
          </a:p>
        </p:txBody>
      </p:sp>
      <p:sp>
        <p:nvSpPr>
          <p:cNvPr id="1048667" name="圆角矩形 7"/>
          <p:cNvSpPr/>
          <p:nvPr/>
        </p:nvSpPr>
        <p:spPr>
          <a:xfrm>
            <a:off x="8865920" y="2229874"/>
            <a:ext cx="2586222" cy="104208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/>
              <a:t>Operator Library</a:t>
            </a:r>
          </a:p>
        </p:txBody>
      </p:sp>
      <p:sp>
        <p:nvSpPr>
          <p:cNvPr id="1048668" name="圆角矩形 8"/>
          <p:cNvSpPr/>
          <p:nvPr/>
        </p:nvSpPr>
        <p:spPr>
          <a:xfrm>
            <a:off x="8873620" y="3586045"/>
            <a:ext cx="2586222" cy="10420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/>
              <a:t>Compiler</a:t>
            </a:r>
            <a:endParaRPr kumimoji="1" lang="zh-CN" altLang="en-US" sz="2000" dirty="0"/>
          </a:p>
        </p:txBody>
      </p:sp>
      <p:sp>
        <p:nvSpPr>
          <p:cNvPr id="1048669" name="下箭头 11"/>
          <p:cNvSpPr/>
          <p:nvPr/>
        </p:nvSpPr>
        <p:spPr>
          <a:xfrm>
            <a:off x="9930432" y="1915785"/>
            <a:ext cx="472598" cy="314089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8670" name="下箭头 13"/>
          <p:cNvSpPr/>
          <p:nvPr/>
        </p:nvSpPr>
        <p:spPr>
          <a:xfrm>
            <a:off x="9922732" y="3271956"/>
            <a:ext cx="472598" cy="314089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8671" name="圆角矩形 16"/>
          <p:cNvSpPr/>
          <p:nvPr/>
        </p:nvSpPr>
        <p:spPr>
          <a:xfrm>
            <a:off x="8885403" y="4942216"/>
            <a:ext cx="2586222" cy="10420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/>
              <a:t>Hardware</a:t>
            </a:r>
          </a:p>
        </p:txBody>
      </p:sp>
      <p:sp>
        <p:nvSpPr>
          <p:cNvPr id="1048672" name="下箭头 17"/>
          <p:cNvSpPr/>
          <p:nvPr/>
        </p:nvSpPr>
        <p:spPr>
          <a:xfrm>
            <a:off x="9922732" y="4628127"/>
            <a:ext cx="472598" cy="314089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GB" altLang="zh-CN" dirty="0"/>
              <a:t>Design Principles - Usability</a:t>
            </a:r>
          </a:p>
        </p:txBody>
      </p:sp>
      <p:sp>
        <p:nvSpPr>
          <p:cNvPr id="104867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GB" altLang="zh-CN" dirty="0"/>
              <a:t>https://</a:t>
            </a:r>
            <a:r>
              <a:rPr kumimoji="1" lang="en-GB" altLang="zh-CN" dirty="0" err="1"/>
              <a:t>github.com</a:t>
            </a:r>
            <a:r>
              <a:rPr kumimoji="1" lang="en-GB" altLang="zh-CN" dirty="0"/>
              <a:t>/</a:t>
            </a:r>
            <a:r>
              <a:rPr kumimoji="1" lang="en-GB" altLang="zh-CN" dirty="0" err="1"/>
              <a:t>flagos</a:t>
            </a:r>
            <a:r>
              <a:rPr kumimoji="1" lang="en-GB" altLang="zh-CN" dirty="0"/>
              <a:t>-ai/</a:t>
            </a:r>
            <a:r>
              <a:rPr kumimoji="1" lang="en-GB" altLang="zh-CN" dirty="0" err="1"/>
              <a:t>FlagGems</a:t>
            </a:r>
            <a:endParaRPr kumimoji="1" lang="zh-CN" altLang="en-US" dirty="0"/>
          </a:p>
        </p:txBody>
      </p:sp>
      <p:sp>
        <p:nvSpPr>
          <p:cNvPr id="104867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1048674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altLang="zh-CN" dirty="0"/>
              <a:t>Seamless Integration with High-Level Frameworks</a:t>
            </a:r>
          </a:p>
          <a:p>
            <a:pPr lvl="1"/>
            <a:r>
              <a:rPr lang="en-GB" altLang="zh-CN" dirty="0"/>
              <a:t>Register the operator library directly into the framework's internal dispatch mechanism to allow existing models to benefit from acceleration with zero code modifications. </a:t>
            </a:r>
          </a:p>
          <a:p>
            <a:r>
              <a:rPr lang="en-GB" altLang="zh-CN" dirty="0"/>
              <a:t>Automatic Hardware Discovery</a:t>
            </a:r>
          </a:p>
          <a:p>
            <a:pPr lvl="1"/>
            <a:r>
              <a:rPr lang="en-GB" altLang="zh-CN" dirty="0"/>
              <a:t>Implement runtime detection of the execution environment to automatically load the optimal backend without requiring manual user configuration.</a:t>
            </a:r>
          </a:p>
          <a:p>
            <a:r>
              <a:rPr lang="en-GB" altLang="zh-CN" dirty="0"/>
              <a:t>Uniform Interface for Diverse Backends</a:t>
            </a:r>
          </a:p>
          <a:p>
            <a:pPr lvl="1"/>
            <a:r>
              <a:rPr lang="en-GB" altLang="zh-CN" dirty="0"/>
              <a:t>Define a standardized abstraction layer so that the same high-level API remains consistent across a wide variety of hardware architectures</a:t>
            </a:r>
          </a:p>
          <a:p>
            <a:r>
              <a:rPr lang="en-GB" altLang="zh-CN" dirty="0"/>
              <a:t>Multi-Level Abstraction Architecture</a:t>
            </a:r>
          </a:p>
          <a:p>
            <a:pPr lvl="1"/>
            <a:r>
              <a:rPr lang="en-GB" altLang="zh-CN" dirty="0"/>
              <a:t>Offer a tiered abstraction system to meet diverse needs: high-level for rapid prototyping, mid-level for tuning parallelism and tiling, and low-level for expert optimization of hardware specifics like registers and warps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GB" altLang="zh-CN" dirty="0"/>
              <a:t>Design Principles - Performance</a:t>
            </a:r>
          </a:p>
        </p:txBody>
      </p:sp>
      <p:sp>
        <p:nvSpPr>
          <p:cNvPr id="1048682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GB" altLang="zh-CN" dirty="0"/>
              <a:t>https://</a:t>
            </a:r>
            <a:r>
              <a:rPr kumimoji="1" lang="en-GB" altLang="zh-CN" dirty="0" err="1"/>
              <a:t>github.com</a:t>
            </a:r>
            <a:r>
              <a:rPr kumimoji="1" lang="en-GB" altLang="zh-CN" dirty="0"/>
              <a:t>/</a:t>
            </a:r>
            <a:r>
              <a:rPr kumimoji="1" lang="en-GB" altLang="zh-CN" dirty="0" err="1"/>
              <a:t>flagos</a:t>
            </a:r>
            <a:r>
              <a:rPr kumimoji="1" lang="en-GB" altLang="zh-CN" dirty="0"/>
              <a:t>-ai/</a:t>
            </a:r>
            <a:r>
              <a:rPr kumimoji="1" lang="en-GB" altLang="zh-CN" dirty="0" err="1"/>
              <a:t>FlagGems</a:t>
            </a:r>
            <a:endParaRPr kumimoji="1" lang="zh-CN" altLang="en-US" dirty="0"/>
          </a:p>
        </p:txBody>
      </p:sp>
      <p:sp>
        <p:nvSpPr>
          <p:cNvPr id="104868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1048681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GB" altLang="zh-CN" dirty="0"/>
              <a:t>Persistent Caching and Pre-Tuning</a:t>
            </a:r>
          </a:p>
          <a:p>
            <a:pPr lvl="1"/>
            <a:r>
              <a:rPr lang="en-GB" altLang="zh-CN" dirty="0"/>
              <a:t>Store optimized computational configurations and pre-warm kernels to eliminate initialization delays and ensure peak performance from the very first execution.</a:t>
            </a:r>
          </a:p>
          <a:p>
            <a:r>
              <a:rPr lang="en-GB" altLang="zh-CN" dirty="0"/>
              <a:t>Hardware-Aware Configuration Mapping</a:t>
            </a:r>
          </a:p>
          <a:p>
            <a:pPr lvl="1"/>
            <a:r>
              <a:rPr lang="en-GB" altLang="zh-CN" dirty="0"/>
              <a:t>Utilize a configuration system that abstracts hardware-specific constraints, such as memory hierarchy and compute unit limits, into the code generation process.</a:t>
            </a:r>
          </a:p>
          <a:p>
            <a:r>
              <a:rPr lang="en-GB" altLang="zh-CN" dirty="0"/>
              <a:t>Adaptive Tiling</a:t>
            </a:r>
          </a:p>
          <a:p>
            <a:pPr lvl="1"/>
            <a:r>
              <a:rPr lang="zh-CN" altLang="en-US" dirty="0"/>
              <a:t> </a:t>
            </a:r>
            <a:r>
              <a:rPr lang="en-US" altLang="zh-CN" dirty="0"/>
              <a:t>D</a:t>
            </a:r>
            <a:r>
              <a:rPr lang="en-GB" altLang="zh-CN" dirty="0" err="1"/>
              <a:t>ecomposes</a:t>
            </a:r>
            <a:r>
              <a:rPr lang="en-GB" altLang="zh-CN" dirty="0"/>
              <a:t> operators into optimal compute tiles based on input dimensions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GB" altLang="zh-CN" dirty="0"/>
              <a:t>minimizing padding overhead and maximizing memory bandwidth utilization across variable sequence lengths.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GB" altLang="zh-CN" dirty="0"/>
              <a:t>Trade-off</a:t>
            </a:r>
          </a:p>
        </p:txBody>
      </p:sp>
      <p:sp>
        <p:nvSpPr>
          <p:cNvPr id="104868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9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1048688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altLang="zh-CN" dirty="0"/>
              <a:t>Dynamic Shape vs. Hardware Alignment</a:t>
            </a:r>
          </a:p>
          <a:p>
            <a:pPr lvl="1"/>
            <a:r>
              <a:rPr lang="zh-CN" altLang="en-US" dirty="0"/>
              <a:t> </a:t>
            </a:r>
            <a:r>
              <a:rPr lang="en-GB" altLang="zh-CN" dirty="0"/>
              <a:t>Arbitrary input sizes often limit hardware-aligned peak performance</a:t>
            </a:r>
          </a:p>
          <a:p>
            <a:pPr lvl="1"/>
            <a:r>
              <a:rPr lang="en-GB" altLang="zh-CN" dirty="0"/>
              <a:t> Solution: Adaptive Tiling</a:t>
            </a:r>
          </a:p>
          <a:p>
            <a:r>
              <a:rPr lang="en-GB" altLang="zh-CN" dirty="0"/>
              <a:t>Intuitive Layout vs. Optimal Memory Access</a:t>
            </a:r>
          </a:p>
          <a:p>
            <a:pPr lvl="1"/>
            <a:r>
              <a:rPr lang="zh-CN" altLang="en-US" dirty="0"/>
              <a:t> </a:t>
            </a:r>
            <a:r>
              <a:rPr lang="en-GB" altLang="zh-CN" dirty="0"/>
              <a:t>Standard data formats often conflict with hardware-optimized memory patterns</a:t>
            </a:r>
          </a:p>
          <a:p>
            <a:pPr lvl="1"/>
            <a:r>
              <a:rPr lang="zh-CN" altLang="en-US" dirty="0"/>
              <a:t> </a:t>
            </a:r>
            <a:r>
              <a:rPr lang="en-GB" altLang="zh-CN" dirty="0"/>
              <a:t>Solution: Layout Transformation</a:t>
            </a:r>
          </a:p>
          <a:p>
            <a:r>
              <a:rPr lang="en-GB" altLang="zh-CN" dirty="0"/>
              <a:t>Black-box API vs. Fine-grained Tuning</a:t>
            </a:r>
          </a:p>
          <a:p>
            <a:pPr lvl="1"/>
            <a:r>
              <a:rPr lang="zh-CN" altLang="en-US" dirty="0"/>
              <a:t> </a:t>
            </a:r>
            <a:r>
              <a:rPr lang="en-GB" altLang="zh-CN" dirty="0"/>
              <a:t>Simplified interfaces hide the tuning knobs needed for expert optimization</a:t>
            </a:r>
          </a:p>
          <a:p>
            <a:pPr lvl="1"/>
            <a:r>
              <a:rPr lang="zh-CN" altLang="en-US" dirty="0"/>
              <a:t> </a:t>
            </a:r>
            <a:r>
              <a:rPr lang="en-GB" altLang="zh-CN" dirty="0"/>
              <a:t>Solution: Heuristic Mapping</a:t>
            </a:r>
          </a:p>
          <a:p>
            <a:r>
              <a:rPr lang="en-GB" altLang="zh-CN" dirty="0"/>
              <a:t>A </a:t>
            </a:r>
            <a:r>
              <a:rPr lang="en-GB" altLang="zh-CN" b="1" dirty="0"/>
              <a:t>dispatch mechanism </a:t>
            </a:r>
            <a:r>
              <a:rPr lang="en-GB" altLang="zh-CN" dirty="0"/>
              <a:t>is required to manage these automated solutions and bridge the gap between user intent and hardware execution.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GB" altLang="zh-CN" dirty="0"/>
              <a:t>Dispatcher</a:t>
            </a:r>
          </a:p>
        </p:txBody>
      </p:sp>
      <p:sp>
        <p:nvSpPr>
          <p:cNvPr id="104869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zh-CN" dirty="0"/>
              <a:t>https://</a:t>
            </a:r>
            <a:r>
              <a:rPr lang="en-GB" altLang="zh-CN" dirty="0" err="1"/>
              <a:t>blog.ezyang.com</a:t>
            </a:r>
            <a:r>
              <a:rPr lang="en-GB" altLang="zh-CN" dirty="0"/>
              <a:t>/2020/09/lets-talk-about-the-</a:t>
            </a:r>
            <a:r>
              <a:rPr lang="en-GB" altLang="zh-CN" dirty="0" err="1"/>
              <a:t>pytorch</a:t>
            </a:r>
            <a:r>
              <a:rPr lang="en-GB" altLang="zh-CN" dirty="0"/>
              <a:t>-dispatcher/</a:t>
            </a:r>
            <a:endParaRPr lang="zh-CN" altLang="en-US" dirty="0"/>
          </a:p>
        </p:txBody>
      </p:sp>
      <p:sp>
        <p:nvSpPr>
          <p:cNvPr id="104869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1048692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GB" altLang="zh-CN" dirty="0"/>
              <a:t>A dispatcher is a component that </a:t>
            </a:r>
            <a:r>
              <a:rPr lang="en-GB" altLang="zh-CN" b="1" dirty="0"/>
              <a:t>routes</a:t>
            </a:r>
            <a:r>
              <a:rPr lang="en-GB" altLang="zh-CN" dirty="0"/>
              <a:t> an operation to the </a:t>
            </a:r>
            <a:r>
              <a:rPr lang="en-GB" altLang="zh-CN" b="1" dirty="0"/>
              <a:t>appropriate</a:t>
            </a:r>
            <a:r>
              <a:rPr lang="en-GB" altLang="zh-CN" dirty="0"/>
              <a:t> </a:t>
            </a:r>
            <a:r>
              <a:rPr lang="en-GB" altLang="zh-CN" b="1" dirty="0"/>
              <a:t>implementation</a:t>
            </a:r>
            <a:r>
              <a:rPr lang="en-GB" altLang="zh-CN" dirty="0"/>
              <a:t> or backend based on runtime criteria such as device type, data properties, or configuration policies.</a:t>
            </a:r>
          </a:p>
          <a:p>
            <a:endParaRPr lang="en-GB" altLang="zh-CN" dirty="0"/>
          </a:p>
          <a:p>
            <a:endParaRPr lang="en-GB" altLang="zh-CN" dirty="0"/>
          </a:p>
        </p:txBody>
      </p:sp>
      <p:pic>
        <p:nvPicPr>
          <p:cNvPr id="2097153" name="Picture 4" descr="ima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0" y="2252364"/>
            <a:ext cx="5958814" cy="4469111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GB" altLang="zh-CN" dirty="0"/>
              <a:t>Simplified Dispatch Workflow</a:t>
            </a:r>
          </a:p>
        </p:txBody>
      </p:sp>
      <p:sp>
        <p:nvSpPr>
          <p:cNvPr id="104869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zh-CN" dirty="0"/>
              <a:t>https://</a:t>
            </a:r>
            <a:r>
              <a:rPr lang="en-GB" altLang="zh-CN" dirty="0" err="1"/>
              <a:t>blog.ezyang.com</a:t>
            </a:r>
            <a:r>
              <a:rPr lang="en-GB" altLang="zh-CN" dirty="0"/>
              <a:t>/2020/09/lets-talk-about-the-</a:t>
            </a:r>
            <a:r>
              <a:rPr lang="en-GB" altLang="zh-CN" dirty="0" err="1"/>
              <a:t>pytorch</a:t>
            </a:r>
            <a:r>
              <a:rPr lang="en-GB" altLang="zh-CN" dirty="0"/>
              <a:t>-dispatcher/</a:t>
            </a:r>
            <a:endParaRPr lang="zh-CN" altLang="en-US" dirty="0"/>
          </a:p>
        </p:txBody>
      </p:sp>
      <p:sp>
        <p:nvSpPr>
          <p:cNvPr id="104869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1048696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GB" altLang="zh-CN" dirty="0"/>
              <a:t>Metadata Collection</a:t>
            </a:r>
          </a:p>
          <a:p>
            <a:pPr lvl="1"/>
            <a:r>
              <a:rPr lang="zh-CN" altLang="en-US" dirty="0"/>
              <a:t> </a:t>
            </a:r>
            <a:r>
              <a:rPr lang="en-GB" altLang="zh-CN" dirty="0"/>
              <a:t>Extract metadata such as device, data type, and layout from input tensors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GB" altLang="zh-CN" dirty="0"/>
              <a:t>Key Computation</a:t>
            </a:r>
          </a:p>
          <a:p>
            <a:pPr lvl="1"/>
            <a:r>
              <a:rPr lang="zh-CN" altLang="en-US" dirty="0"/>
              <a:t> </a:t>
            </a:r>
            <a:r>
              <a:rPr lang="en-GB" altLang="zh-CN" dirty="0"/>
              <a:t>Combine multiple attributes to generate a unique Dispatch Key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en-GB" altLang="zh-CN" dirty="0"/>
              <a:t>Table Lookup</a:t>
            </a:r>
          </a:p>
          <a:p>
            <a:pPr lvl="1"/>
            <a:r>
              <a:rPr lang="zh-CN" altLang="en-US" dirty="0"/>
              <a:t> </a:t>
            </a:r>
            <a:r>
              <a:rPr lang="en-GB" altLang="zh-CN" dirty="0"/>
              <a:t>Search the global Dispatch Table for the corresponding kernel function pointer</a:t>
            </a:r>
          </a:p>
          <a:p>
            <a:r>
              <a:rPr lang="en-US" altLang="zh-CN" dirty="0"/>
              <a:t>4.</a:t>
            </a:r>
            <a:r>
              <a:rPr lang="zh-CN" altLang="en-US" dirty="0"/>
              <a:t> </a:t>
            </a:r>
            <a:r>
              <a:rPr lang="en-GB" altLang="zh-CN" dirty="0"/>
              <a:t>Execution</a:t>
            </a:r>
          </a:p>
          <a:p>
            <a:pPr lvl="1"/>
            <a:r>
              <a:rPr lang="zh-CN" altLang="en-US" dirty="0"/>
              <a:t> </a:t>
            </a:r>
            <a:r>
              <a:rPr lang="en-GB" altLang="zh-CN" dirty="0"/>
              <a:t>Invoke the specific backend implementation to perform the computation</a:t>
            </a:r>
          </a:p>
        </p:txBody>
      </p:sp>
      <p:sp>
        <p:nvSpPr>
          <p:cNvPr id="1048699" name="下箭头 5"/>
          <p:cNvSpPr/>
          <p:nvPr/>
        </p:nvSpPr>
        <p:spPr>
          <a:xfrm>
            <a:off x="9475619" y="1323973"/>
            <a:ext cx="440278" cy="3948671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GB" altLang="zh-CN" dirty="0"/>
              <a:t>Advanced Dispatching Mechanisms</a:t>
            </a:r>
          </a:p>
        </p:txBody>
      </p:sp>
      <p:sp>
        <p:nvSpPr>
          <p:cNvPr id="1048702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zh-CN" dirty="0"/>
              <a:t>https://</a:t>
            </a:r>
            <a:r>
              <a:rPr lang="en-GB" altLang="zh-CN" dirty="0" err="1"/>
              <a:t>blog.ezyang.com</a:t>
            </a:r>
            <a:r>
              <a:rPr lang="en-GB" altLang="zh-CN" dirty="0"/>
              <a:t>/2020/09/lets-talk-about-the-</a:t>
            </a:r>
            <a:r>
              <a:rPr lang="en-GB" altLang="zh-CN" dirty="0" err="1"/>
              <a:t>pytorch</a:t>
            </a:r>
            <a:r>
              <a:rPr lang="en-GB" altLang="zh-CN" dirty="0"/>
              <a:t>-dispatcher/</a:t>
            </a:r>
          </a:p>
          <a:p>
            <a:r>
              <a:rPr kumimoji="1" lang="en-GB" altLang="zh-CN" dirty="0"/>
              <a:t>https://</a:t>
            </a:r>
            <a:r>
              <a:rPr kumimoji="1" lang="en-GB" altLang="zh-CN" dirty="0" err="1"/>
              <a:t>github.com</a:t>
            </a:r>
            <a:r>
              <a:rPr kumimoji="1" lang="en-GB" altLang="zh-CN" dirty="0"/>
              <a:t>/</a:t>
            </a:r>
            <a:r>
              <a:rPr kumimoji="1" lang="en-GB" altLang="zh-CN" dirty="0" err="1"/>
              <a:t>flagos</a:t>
            </a:r>
            <a:r>
              <a:rPr kumimoji="1" lang="en-GB" altLang="zh-CN" dirty="0"/>
              <a:t>-ai/</a:t>
            </a:r>
            <a:r>
              <a:rPr kumimoji="1" lang="en-GB" altLang="zh-CN" dirty="0" err="1"/>
              <a:t>FlagGems</a:t>
            </a:r>
            <a:endParaRPr kumimoji="1" lang="zh-CN" altLang="en-US" dirty="0"/>
          </a:p>
        </p:txBody>
      </p:sp>
      <p:sp>
        <p:nvSpPr>
          <p:cNvPr id="104870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1048701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Sequential Re-dispatching</a:t>
            </a:r>
          </a:p>
          <a:p>
            <a:pPr lvl="1"/>
            <a:r>
              <a:rPr lang="zh-CN" altLang="en-US" dirty="0"/>
              <a:t> </a:t>
            </a:r>
            <a:r>
              <a:rPr lang="en-US" altLang="zh-CN" dirty="0"/>
              <a:t>A single operator call can trigger a chain of handlers by masking processed keys and re-invoking the dispatcher to find the next implementation.</a:t>
            </a:r>
          </a:p>
          <a:p>
            <a:r>
              <a:rPr lang="en-GB" altLang="zh-CN" dirty="0"/>
              <a:t>Heuristic</a:t>
            </a:r>
            <a:r>
              <a:rPr lang="zh-CN" altLang="en-US" dirty="0"/>
              <a:t> </a:t>
            </a:r>
            <a:r>
              <a:rPr lang="en-GB" altLang="zh-CN" dirty="0"/>
              <a:t>Implementation Selection</a:t>
            </a:r>
          </a:p>
          <a:p>
            <a:pPr lvl="1"/>
            <a:r>
              <a:rPr lang="zh-CN" altLang="en-US" dirty="0"/>
              <a:t> </a:t>
            </a:r>
            <a:r>
              <a:rPr lang="en-US" altLang="zh-CN" dirty="0"/>
              <a:t>P</a:t>
            </a:r>
            <a:r>
              <a:rPr lang="en-GB" altLang="zh-CN" dirty="0" err="1"/>
              <a:t>ro</a:t>
            </a:r>
            <a:r>
              <a:rPr lang="en-US" altLang="zh-CN" dirty="0"/>
              <a:t>file</a:t>
            </a:r>
            <a:r>
              <a:rPr lang="en-GB" altLang="zh-CN" dirty="0"/>
              <a:t> workload metrics (e.g., shapes) and hardware attributes (e.g., SM counts) to adaptively select optimal algorithm paths and execution parameters</a:t>
            </a:r>
            <a:r>
              <a:rPr lang="en-US" altLang="zh-CN" dirty="0"/>
              <a:t>.</a:t>
            </a:r>
            <a:endParaRPr lang="en-GB" altLang="zh-CN" dirty="0"/>
          </a:p>
          <a:p>
            <a:r>
              <a:rPr lang="en-GB" altLang="zh-CN" dirty="0"/>
              <a:t>Dynamic Kernel Instantiation</a:t>
            </a:r>
          </a:p>
          <a:p>
            <a:pPr lvl="1"/>
            <a:r>
              <a:rPr lang="zh-CN" altLang="en-US" dirty="0"/>
              <a:t> </a:t>
            </a:r>
            <a:r>
              <a:rPr lang="en-GB" altLang="zh-CN" dirty="0"/>
              <a:t>Specialized kernels can be generated and cached on-the-fly to handle various task dimensions or broadcasting patterns without manual coding.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GB" altLang="zh-CN" dirty="0"/>
              <a:t>Use DSL to Implement Operator Libraries</a:t>
            </a:r>
          </a:p>
        </p:txBody>
      </p:sp>
      <p:sp>
        <p:nvSpPr>
          <p:cNvPr id="104870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zh-CN" dirty="0"/>
              <a:t>https://</a:t>
            </a:r>
            <a:r>
              <a:rPr lang="en-GB" altLang="zh-CN" dirty="0" err="1"/>
              <a:t>zhuanlan.zhihu.com</a:t>
            </a:r>
            <a:r>
              <a:rPr lang="en-GB" altLang="zh-CN" dirty="0"/>
              <a:t>/p/1977691609266161545</a:t>
            </a:r>
            <a:endParaRPr lang="zh-CN" altLang="en-US" dirty="0"/>
          </a:p>
        </p:txBody>
      </p:sp>
      <p:sp>
        <p:nvSpPr>
          <p:cNvPr id="104870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12</a:t>
            </a:fld>
            <a:endParaRPr lang="zh-CN" altLang="en-US" dirty="0"/>
          </a:p>
        </p:txBody>
      </p:sp>
      <p:pic>
        <p:nvPicPr>
          <p:cNvPr id="2097154" name="内容占位符 21" descr="图示&#10;&#10;AI 生成的内容可能不正确。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194425" y="1490345"/>
            <a:ext cx="5955665" cy="4507865"/>
          </a:xfrm>
          <a:prstGeom prst="rect">
            <a:avLst/>
          </a:prstGeom>
        </p:spPr>
      </p:pic>
      <p:sp>
        <p:nvSpPr>
          <p:cNvPr id="1048707" name="内容占位符 2"/>
          <p:cNvSpPr txBox="1"/>
          <p:nvPr/>
        </p:nvSpPr>
        <p:spPr>
          <a:xfrm>
            <a:off x="523875" y="1323974"/>
            <a:ext cx="5572126" cy="53975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60045" marR="0" indent="-360045" algn="l" defTabSz="3429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■"/>
              <a:defRPr sz="2400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1pPr>
            <a:lvl2pPr marL="557530" marR="0" indent="-21463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Pct val="75000"/>
              <a:buFont typeface="文泉驿微米黑" panose="020B0606030804020204" charset="-122"/>
              <a:buChar char="♦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2pPr>
            <a:lvl3pPr marL="8572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▶"/>
              <a:defRPr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3pPr>
            <a:lvl4pPr marL="12001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●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4pPr>
            <a:lvl5pPr marL="15430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49E39"/>
              </a:buClr>
              <a:buSzTx/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zh-CN" dirty="0"/>
              <a:t>Developers describe “what to do,” while the compiler determines “how to do it.”</a:t>
            </a:r>
          </a:p>
          <a:p>
            <a:r>
              <a:rPr lang="en-GB" altLang="zh-CN" dirty="0"/>
              <a:t>A total separation between operator logic and physical implementation</a:t>
            </a:r>
          </a:p>
          <a:p>
            <a:r>
              <a:rPr lang="en-GB" altLang="zh-CN" dirty="0"/>
              <a:t>Core Objective: Make operator development simpler and more efficient while ensuring cross-platform portability</a:t>
            </a:r>
          </a:p>
          <a:p>
            <a:r>
              <a:rPr lang="en-GB" altLang="zh-CN" dirty="0"/>
              <a:t>Examples: Triton, </a:t>
            </a:r>
            <a:r>
              <a:rPr lang="en-GB" altLang="zh-CN" dirty="0" err="1"/>
              <a:t>TileLang</a:t>
            </a:r>
            <a:r>
              <a:rPr lang="en-GB" altLang="zh-CN" dirty="0"/>
              <a:t>, Gluon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GB" altLang="zh-CN" dirty="0"/>
              <a:t>DSL for Operator Library - Triton</a:t>
            </a:r>
          </a:p>
        </p:txBody>
      </p:sp>
      <p:sp>
        <p:nvSpPr>
          <p:cNvPr id="104870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zh-CN" dirty="0"/>
              <a:t>https://triton-</a:t>
            </a:r>
            <a:r>
              <a:rPr lang="en-GB" altLang="zh-CN" dirty="0" err="1"/>
              <a:t>lang.org</a:t>
            </a:r>
            <a:r>
              <a:rPr lang="en-GB" altLang="zh-CN" dirty="0"/>
              <a:t>/main/getting-started/tutorials/01-vector-add.html</a:t>
            </a:r>
            <a:endParaRPr lang="zh-CN" altLang="en-US" dirty="0"/>
          </a:p>
        </p:txBody>
      </p:sp>
      <p:sp>
        <p:nvSpPr>
          <p:cNvPr id="104871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11" name="内容占位符 2"/>
          <p:cNvSpPr txBox="1"/>
          <p:nvPr/>
        </p:nvSpPr>
        <p:spPr>
          <a:xfrm>
            <a:off x="523875" y="1323974"/>
            <a:ext cx="5572126" cy="53975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60045" marR="0" indent="-360045" algn="l" defTabSz="3429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■"/>
              <a:defRPr sz="2400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1pPr>
            <a:lvl2pPr marL="557530" marR="0" indent="-21463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Pct val="75000"/>
              <a:buFont typeface="文泉驿微米黑" panose="020B0606030804020204" charset="-122"/>
              <a:buChar char="♦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2pPr>
            <a:lvl3pPr marL="8572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▶"/>
              <a:defRPr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3pPr>
            <a:lvl4pPr marL="12001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●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4pPr>
            <a:lvl5pPr marL="15430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49E39"/>
              </a:buClr>
              <a:buSzTx/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zh-CN" dirty="0"/>
              <a:t>Python-Based Tile Programming</a:t>
            </a:r>
          </a:p>
          <a:p>
            <a:r>
              <a:rPr lang="en-GB" altLang="zh-CN" dirty="0"/>
              <a:t>Compiler-Driven Optimization</a:t>
            </a:r>
          </a:p>
          <a:p>
            <a:r>
              <a:rPr lang="en-GB" altLang="zh-CN" dirty="0"/>
              <a:t>Hardware-Agnostic Abstraction</a:t>
            </a:r>
          </a:p>
        </p:txBody>
      </p:sp>
      <p:pic>
        <p:nvPicPr>
          <p:cNvPr id="2097155" name="Picture 2" descr="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37747" y="3146254"/>
            <a:ext cx="2653920" cy="3018677"/>
          </a:xfrm>
          <a:prstGeom prst="rect">
            <a:avLst/>
          </a:prstGeom>
          <a:noFill/>
        </p:spPr>
      </p:pic>
      <p:pic>
        <p:nvPicPr>
          <p:cNvPr id="2097156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442" y="1520041"/>
            <a:ext cx="6863558" cy="436121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CN" dirty="0"/>
              <a:t>Case Study: FlagGems</a:t>
            </a:r>
          </a:p>
        </p:txBody>
      </p:sp>
      <p:sp>
        <p:nvSpPr>
          <p:cNvPr id="104871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1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104871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Transparent ATen dispatcher injection</a:t>
            </a:r>
          </a:p>
          <a:p>
            <a:r>
              <a:rPr lang="en-US" altLang="zh-CN" dirty="0"/>
              <a:t>CUDA-to-Triton kernel replacement</a:t>
            </a:r>
          </a:p>
          <a:p>
            <a:r>
              <a:rPr lang="en-US" altLang="zh-CN" dirty="0"/>
              <a:t>Zero user code modification</a:t>
            </a:r>
          </a:p>
          <a:p>
            <a:endParaRPr lang="en-US" altLang="zh-CN" dirty="0"/>
          </a:p>
        </p:txBody>
      </p:sp>
      <p:pic>
        <p:nvPicPr>
          <p:cNvPr id="2" name="图片 1" descr="post_object_image_768452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215" y="837565"/>
            <a:ext cx="4434840" cy="55187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CN" dirty="0"/>
              <a:t>Operator Injection</a:t>
            </a:r>
          </a:p>
        </p:txBody>
      </p:sp>
      <p:sp>
        <p:nvSpPr>
          <p:cNvPr id="1048718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1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1048717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"IMPL" mode override execution</a:t>
            </a:r>
          </a:p>
          <a:p>
            <a:r>
              <a:rPr lang="en-US" altLang="zh-CN" dirty="0"/>
              <a:t>Existing ATen operator interception</a:t>
            </a:r>
          </a:p>
          <a:p>
            <a:r>
              <a:rPr lang="en-US" altLang="zh-CN" dirty="0"/>
              <a:t>Specific dispatch key routing</a:t>
            </a:r>
          </a:p>
          <a:p>
            <a:endParaRPr lang="en-US" altLang="zh-CN" dirty="0"/>
          </a:p>
        </p:txBody>
      </p:sp>
      <p:pic>
        <p:nvPicPr>
          <p:cNvPr id="2" name="图片 1" descr="post_object_image_30424446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518" y="3376158"/>
            <a:ext cx="8534400" cy="27051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CN" dirty="0"/>
              <a:t>Global and Contextual Replacement</a:t>
            </a:r>
          </a:p>
        </p:txBody>
      </p:sp>
      <p:sp>
        <p:nvSpPr>
          <p:cNvPr id="1048722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2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1048721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FlagGems maintains an operator registry.</a:t>
            </a:r>
          </a:p>
          <a:p>
            <a:r>
              <a:rPr lang="en-US" altLang="zh-CN" dirty="0"/>
              <a:t>enable(): Traverses the registry and registers operators.</a:t>
            </a:r>
          </a:p>
          <a:p>
            <a:r>
              <a:rPr lang="en-US" altLang="zh-CN" dirty="0"/>
              <a:t>use_gems(): Context manager for fine-grained operator replacement control.</a:t>
            </a:r>
          </a:p>
          <a:p>
            <a:endParaRPr lang="en-US" altLang="zh-CN" dirty="0"/>
          </a:p>
        </p:txBody>
      </p:sp>
      <p:pic>
        <p:nvPicPr>
          <p:cNvPr id="2" name="图片 1" descr="post_object_image_17999650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518" y="3300403"/>
            <a:ext cx="8534400" cy="28765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CN" dirty="0"/>
              <a:t>LibEntry: Kernel Cache Manager</a:t>
            </a:r>
          </a:p>
        </p:txBody>
      </p:sp>
      <p:sp>
        <p:nvSpPr>
          <p:cNvPr id="104872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1048725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Native Triton runtime bypass</a:t>
            </a:r>
          </a:p>
          <a:p>
            <a:r>
              <a:rPr lang="en-US" altLang="zh-CN" dirty="0"/>
              <a:t>Independent kernel cache management</a:t>
            </a:r>
          </a:p>
          <a:p>
            <a:r>
              <a:rPr lang="en-US" altLang="zh-CN" dirty="0"/>
              <a:t>Lightweight cache key computation</a:t>
            </a:r>
          </a:p>
          <a:p>
            <a:r>
              <a:rPr lang="en-US" altLang="zh-CN" dirty="0"/>
              <a:t>Near-zero subsequent Python overhead</a:t>
            </a:r>
          </a:p>
          <a:p>
            <a:endParaRPr lang="en-US" altLang="zh-CN" dirty="0"/>
          </a:p>
        </p:txBody>
      </p:sp>
      <p:pic>
        <p:nvPicPr>
          <p:cNvPr id="2" name="图片 1" descr="post_object_image_3367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475" y="1385570"/>
            <a:ext cx="5931535" cy="315087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CN" dirty="0"/>
              <a:t>Multi-Hardware Dispatch Strategy</a:t>
            </a:r>
          </a:p>
        </p:txBody>
      </p:sp>
      <p:sp>
        <p:nvSpPr>
          <p:cNvPr id="104873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3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18</a:t>
            </a:fld>
            <a:endParaRPr lang="zh-CN" altLang="en-US" dirty="0"/>
          </a:p>
        </p:txBody>
      </p:sp>
      <p:sp>
        <p:nvSpPr>
          <p:cNvPr id="1048729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Dynamic runtime environment detection</a:t>
            </a:r>
          </a:p>
          <a:p>
            <a:r>
              <a:rPr lang="en-US" altLang="zh-CN" dirty="0"/>
              <a:t>Hardware-specific dispatch key routing</a:t>
            </a:r>
          </a:p>
          <a:p>
            <a:r>
              <a:rPr lang="en-US" altLang="zh-CN" dirty="0"/>
              <a:t>Unified Triton codebase execution</a:t>
            </a:r>
          </a:p>
          <a:p>
            <a:endParaRPr lang="en-US" altLang="zh-CN" dirty="0"/>
          </a:p>
        </p:txBody>
      </p:sp>
      <p:pic>
        <p:nvPicPr>
          <p:cNvPr id="2" name="图片 1" descr="post_object_image_2098337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427601"/>
            <a:ext cx="8534400" cy="25527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Takeaways</a:t>
            </a:r>
          </a:p>
        </p:txBody>
      </p:sp>
      <p:sp>
        <p:nvSpPr>
          <p:cNvPr id="104873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104873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19</a:t>
            </a:fld>
            <a:endParaRPr lang="zh-CN" altLang="en-US" dirty="0"/>
          </a:p>
        </p:txBody>
      </p:sp>
      <p:sp>
        <p:nvSpPr>
          <p:cNvPr id="104873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API Transparency</a:t>
            </a:r>
          </a:p>
          <a:p>
            <a:pPr lvl="1"/>
            <a:r>
              <a:rPr lang="en-US" altLang="zh-CN" dirty="0"/>
              <a:t>Native framework APIs remain completely unchanged while transparently routing to optimized kernels.</a:t>
            </a:r>
          </a:p>
          <a:p>
            <a:r>
              <a:rPr lang="en-US" altLang="zh-CN" dirty="0"/>
              <a:t>Hardware Decoupling</a:t>
            </a:r>
          </a:p>
          <a:p>
            <a:pPr lvl="1"/>
            <a:r>
              <a:rPr lang="en-US" altLang="zh-CN" dirty="0"/>
              <a:t>Utilizing dynamic dispatch keys provides a unified, scalable path for supporting diverse backend chips.</a:t>
            </a:r>
          </a:p>
          <a:p>
            <a:r>
              <a:rPr lang="en-US" altLang="zh-CN" dirty="0"/>
              <a:t>Execution Overhead</a:t>
            </a:r>
          </a:p>
          <a:p>
            <a:pPr lvl="1"/>
            <a:r>
              <a:rPr lang="en-US" altLang="zh-CN" dirty="0"/>
              <a:t>Custom cache managers like LibEntry bypass native runtimes to nearly eliminate Python dispatch delays.</a:t>
            </a:r>
          </a:p>
          <a:p>
            <a:r>
              <a:rPr lang="en-US" altLang="zh-CN" dirty="0"/>
              <a:t>Kernel Generation</a:t>
            </a:r>
          </a:p>
          <a:p>
            <a:pPr lvl="1"/>
            <a:r>
              <a:rPr lang="en-US" altLang="zh-CN" dirty="0"/>
              <a:t>Dynamic decorators present a streamlined approach for automatically generating and tuning fused operations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CN" dirty="0"/>
              <a:t>References</a:t>
            </a:r>
            <a:endParaRPr lang="en-GB" altLang="zh-CN" dirty="0"/>
          </a:p>
        </p:txBody>
      </p:sp>
      <p:sp>
        <p:nvSpPr>
          <p:cNvPr id="104874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4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20</a:t>
            </a:fld>
            <a:endParaRPr lang="zh-CN" altLang="en-US" dirty="0"/>
          </a:p>
        </p:txBody>
      </p:sp>
      <p:sp>
        <p:nvSpPr>
          <p:cNvPr id="1048740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kumimoji="1" lang="en-GB" altLang="zh-CN" dirty="0">
                <a:hlinkClick r:id="rId2"/>
              </a:rPr>
              <a:t>flagos-ai/FlagGems</a:t>
            </a:r>
            <a:endParaRPr kumimoji="1" lang="en-GB" altLang="zh-CN" dirty="0"/>
          </a:p>
          <a:p>
            <a:r>
              <a:rPr lang="en-GB" altLang="zh-CN" dirty="0">
                <a:hlinkClick r:id="rId3"/>
              </a:rPr>
              <a:t>Triton documentation</a:t>
            </a:r>
            <a:endParaRPr lang="en-GB" altLang="zh-CN" dirty="0"/>
          </a:p>
          <a:p>
            <a:r>
              <a:rPr lang="en-GB" altLang="zh-CN" dirty="0">
                <a:hlinkClick r:id="rId4"/>
              </a:rPr>
              <a:t>NVIDIA cuDNN Documentation</a:t>
            </a:r>
            <a:endParaRPr kumimoji="1" lang="en-GB" altLang="zh-CN" dirty="0"/>
          </a:p>
          <a:p>
            <a:r>
              <a:rPr lang="en-GB" altLang="zh-CN" dirty="0">
                <a:hlinkClick r:id="rId5"/>
              </a:rPr>
              <a:t>Let's talk about the PyTorch dispatcher : ezyang's blog</a:t>
            </a:r>
            <a:endParaRPr kumimoji="1" lang="en-US" altLang="zh-CN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1027</Words>
  <Application>Microsoft Office PowerPoint</Application>
  <PresentationFormat>宽屏</PresentationFormat>
  <Paragraphs>146</Paragraphs>
  <Slides>23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等线</vt:lpstr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17: Architectural Design of Operator Libraries</vt:lpstr>
      <vt:lpstr>PowerPoint 演示文稿</vt:lpstr>
      <vt:lpstr>Operator</vt:lpstr>
      <vt:lpstr>Operator Library</vt:lpstr>
      <vt:lpstr>Design Principles - Usability</vt:lpstr>
      <vt:lpstr>Design Principles - Performance</vt:lpstr>
      <vt:lpstr>Trade-off</vt:lpstr>
      <vt:lpstr>Dispatcher</vt:lpstr>
      <vt:lpstr>Simplified Dispatch Workflow</vt:lpstr>
      <vt:lpstr>Advanced Dispatching Mechanisms</vt:lpstr>
      <vt:lpstr>Use DSL to Implement Operator Libraries</vt:lpstr>
      <vt:lpstr>DSL for Operator Library - Triton</vt:lpstr>
      <vt:lpstr>Case Study: FlagGems</vt:lpstr>
      <vt:lpstr>Operator Injection</vt:lpstr>
      <vt:lpstr>Global and Contextual Replacement</vt:lpstr>
      <vt:lpstr>LibEntry: Kernel Cache Manager</vt:lpstr>
      <vt:lpstr>Multi-Hardware Dispatch Strategy</vt:lpstr>
      <vt:lpstr>Takeaways</vt:lpstr>
      <vt:lpstr>References</vt:lpstr>
      <vt:lpstr>The Solution: FlagOS, a Unified AI Software Stack</vt:lpstr>
      <vt:lpstr>PowerPoint 演示文稿</vt:lpstr>
      <vt:lpstr>Thanks for your time！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17: Architectural Design of Operator Libraries</dc:title>
  <dc:creator>王丰</dc:creator>
  <cp:lastModifiedBy>Xiang Li</cp:lastModifiedBy>
  <cp:revision>4</cp:revision>
  <dcterms:created xsi:type="dcterms:W3CDTF">2026-03-12T02:52:00Z</dcterms:created>
  <dcterms:modified xsi:type="dcterms:W3CDTF">2026-03-17T14:54:05Z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86ac76e569ed4aab89ef2ddbd1cc2dbc_23</vt:lpwstr>
  </property>
  <property fmtid="{D5CDD505-2E9C-101B-9397-08002B2CF9AE}" pid="3" name="KSOProductBuildVer">
    <vt:lpwstr>2052-12.1.0.19302</vt:lpwstr>
  </property>
</Properties>
</file>