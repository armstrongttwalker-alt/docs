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37" r:id="rId2"/>
    <p:sldId id="1928" r:id="rId3"/>
    <p:sldId id="1976" r:id="rId4"/>
    <p:sldId id="1977" r:id="rId5"/>
    <p:sldId id="1978" r:id="rId6"/>
    <p:sldId id="1979" r:id="rId7"/>
    <p:sldId id="1980" r:id="rId8"/>
    <p:sldId id="1981" r:id="rId9"/>
    <p:sldId id="1982" r:id="rId10"/>
    <p:sldId id="1983" r:id="rId11"/>
    <p:sldId id="1984" r:id="rId12"/>
    <p:sldId id="1985" r:id="rId13"/>
    <p:sldId id="1986" r:id="rId14"/>
    <p:sldId id="1987" r:id="rId15"/>
    <p:sldId id="1988" r:id="rId16"/>
    <p:sldId id="1989" r:id="rId17"/>
    <p:sldId id="1990" r:id="rId18"/>
    <p:sldId id="1991" r:id="rId19"/>
    <p:sldId id="1992" r:id="rId20"/>
    <p:sldId id="1993" r:id="rId21"/>
    <p:sldId id="277" r:id="rId22"/>
    <p:sldId id="279" r:id="rId23"/>
    <p:sldId id="280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1944" autoAdjust="0"/>
  </p:normalViewPr>
  <p:slideViewPr>
    <p:cSldViewPr snapToGrid="0" snapToObjects="1">
      <p:cViewPr varScale="1">
        <p:scale>
          <a:sx n="56" d="100"/>
          <a:sy n="56" d="100"/>
        </p:scale>
        <p:origin x="896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460669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757000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17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20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9.png"/><Relationship Id="rId29" Type="http://schemas.openxmlformats.org/officeDocument/2006/relationships/image" Target="../media/image24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22.png"/><Relationship Id="rId28" Type="http://schemas.openxmlformats.org/officeDocument/2006/relationships/image" Target="../media/image23.jpeg"/><Relationship Id="rId10" Type="http://schemas.openxmlformats.org/officeDocument/2006/relationships/tags" Target="../tags/tag20.xml"/><Relationship Id="rId19" Type="http://schemas.openxmlformats.org/officeDocument/2006/relationships/image" Target="../media/image18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21.png"/><Relationship Id="rId27" Type="http://schemas.openxmlformats.org/officeDocument/2006/relationships/hyperlink" Target="https://flagos.io/Home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x-none" altLang="en-US" dirty="0">
                <a:sym typeface="+mn-ea"/>
              </a:rPr>
              <a:t>Lecture 24：</a:t>
            </a:r>
            <a:r>
              <a:rPr lang="en-US" altLang="en-US" dirty="0">
                <a:sym typeface="+mn-ea"/>
              </a:rPr>
              <a:t>Layout and Memory Planning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</a:t>
            </a:r>
            <a:r>
              <a:rPr lang="ja-JP" altLang="en-US"/>
              <a:t> Memory Hierarchy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Bandwidth increases 10-100x from left to right </a:t>
            </a:r>
            <a:r>
              <a:rPr lang="en-US" altLang="ja-JP" dirty="0"/>
              <a:t>10-100</a:t>
            </a:r>
            <a:r>
              <a:rPr lang="en-US" dirty="0"/>
              <a:t>x</a:t>
            </a:r>
          </a:p>
          <a:p>
            <a:r>
              <a:rPr lang="ja-JP" altLang="en-US"/>
              <a:t>Capacity decreases 100-1000x from right to left </a:t>
            </a:r>
            <a:r>
              <a:rPr lang="en-US" altLang="ja-JP" dirty="0"/>
              <a:t>100-1000</a:t>
            </a:r>
            <a:r>
              <a:rPr lang="en-US" dirty="0"/>
              <a:t>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ja-JP" altLang="en-US"/>
              <a:t>The key to layout optimization is maximizing high-speed memory utilization</a:t>
            </a:r>
            <a:endParaRPr lang="en-US" altLang="ja-JP" dirty="0"/>
          </a:p>
          <a:p>
            <a:pPr lvl="1"/>
            <a:r>
              <a:rPr lang="ja-JP" altLang="en-US"/>
              <a:t>Design programs for efficient memory usage</a:t>
            </a:r>
            <a:r>
              <a:rPr lang="en-US" altLang="en-US" dirty="0"/>
              <a:t>, minimizing excessive data movement</a:t>
            </a:r>
          </a:p>
          <a:p>
            <a:pPr lvl="1"/>
            <a:r>
              <a:rPr lang="en-US" altLang="en-US" dirty="0" err="1"/>
              <a:t>FlashAttention</a:t>
            </a:r>
            <a:r>
              <a:rPr lang="en-US" altLang="en-US" dirty="0"/>
              <a:t> core design philosophy</a:t>
            </a:r>
            <a:endParaRPr lang="ja-JP" altLang="en-US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3" y="2497302"/>
            <a:ext cx="7772400" cy="156243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</a:t>
            </a:r>
            <a:r>
              <a:rPr lang="ja-JP" altLang="en-US"/>
              <a:t> Memory Transaction</a:t>
            </a:r>
            <a:r>
              <a:rPr altLang="ja-JP"/>
              <a:t> </a:t>
            </a:r>
            <a:r>
              <a:rPr lang="ja-JP" altLang="en-US"/>
              <a:t>Mechanism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GPU </a:t>
            </a:r>
            <a:r>
              <a:rPr lang="ja-JP" altLang="en-US"/>
              <a:t>accesses </a:t>
            </a:r>
            <a:r>
              <a:rPr lang="en-US" dirty="0"/>
              <a:t>Global Memory </a:t>
            </a:r>
            <a:r>
              <a:rPr lang="ja-JP" altLang="en-US"/>
              <a:t> not byte-by-byte, but in fixed-size </a:t>
            </a:r>
            <a:r>
              <a:rPr lang="en-US" altLang="ja-JP" dirty="0"/>
              <a:t>"</a:t>
            </a:r>
            <a:r>
              <a:rPr lang="ja-JP" altLang="en-US"/>
              <a:t>transactions</a:t>
            </a:r>
            <a:r>
              <a:rPr lang="en-US" altLang="ja-JP" dirty="0"/>
              <a:t>"</a:t>
            </a:r>
            <a:r>
              <a:rPr lang="ja-JP" altLang="en-US"/>
              <a:t>:</a:t>
            </a:r>
          </a:p>
          <a:p>
            <a:pPr lvl="1"/>
            <a:r>
              <a:rPr lang="ja-JP" altLang="en-US"/>
              <a:t>Each memory transaction transfers </a:t>
            </a:r>
            <a:r>
              <a:rPr lang="en-US" altLang="ja-JP" dirty="0"/>
              <a:t>32 </a:t>
            </a:r>
            <a:r>
              <a:rPr lang="ja-JP" altLang="en-US"/>
              <a:t> bytes or </a:t>
            </a:r>
            <a:r>
              <a:rPr lang="en-US" altLang="ja-JP" dirty="0"/>
              <a:t>128 </a:t>
            </a:r>
            <a:r>
              <a:rPr lang="ja-JP" altLang="en-US"/>
              <a:t> bytes</a:t>
            </a:r>
            <a:endParaRPr lang="en-US" altLang="ja-JP" dirty="0"/>
          </a:p>
          <a:p>
            <a:pPr lvl="1"/>
            <a:r>
              <a:rPr lang="ja-JP" altLang="en-US"/>
              <a:t>Transactions must be aligned to their size boundaries</a:t>
            </a:r>
          </a:p>
          <a:p>
            <a:pPr lvl="1"/>
            <a:r>
              <a:rPr lang="ja-JP" altLang="en-US"/>
              <a:t>A </a:t>
            </a:r>
            <a:r>
              <a:rPr lang="en-US" altLang="ja-JP" dirty="0"/>
              <a:t>warp</a:t>
            </a:r>
            <a:r>
              <a:rPr lang="ja-JP" altLang="en-US"/>
              <a:t>（</a:t>
            </a:r>
            <a:r>
              <a:rPr lang="en-US" altLang="ja-JP" dirty="0"/>
              <a:t>32</a:t>
            </a:r>
            <a:r>
              <a:rPr lang="ja-JP" altLang="en-US"/>
              <a:t> threads) are coalesced into as few transactions as possible</a:t>
            </a:r>
          </a:p>
          <a:p>
            <a:pPr lvl="1"/>
            <a:r>
              <a:rPr lang="ja-JP" altLang="en-US"/>
              <a:t>Maximum concurrent transactions are limited</a:t>
            </a:r>
            <a:r>
              <a:rPr lang="en-US" altLang="en-US" dirty="0"/>
              <a:t>，</a:t>
            </a:r>
            <a:r>
              <a:rPr lang="ja-JP" altLang="en-US"/>
              <a:t>constrained by memory controller queue depth</a:t>
            </a:r>
            <a:endParaRPr lang="en-US" altLang="ja-JP" dirty="0"/>
          </a:p>
          <a:p>
            <a:pPr lvl="1"/>
            <a:r>
              <a:rPr lang="ja-JP" altLang="en-US"/>
              <a:t>Number of transactions </a:t>
            </a:r>
            <a:r>
              <a:rPr lang="en-US" altLang="ja-JP" dirty="0"/>
              <a:t>× </a:t>
            </a:r>
            <a:r>
              <a:rPr lang="ja-JP" altLang="en-US"/>
              <a:t>latency </a:t>
            </a:r>
            <a:r>
              <a:rPr lang="en-US" altLang="ja-JP" dirty="0"/>
              <a:t>= </a:t>
            </a:r>
            <a:r>
              <a:rPr lang="ja-JP" altLang="en-US"/>
              <a:t> total wait time</a:t>
            </a:r>
          </a:p>
          <a:p>
            <a:r>
              <a:rPr lang="ja-JP" altLang="en-US"/>
              <a:t>Coalesced Access</a:t>
            </a:r>
          </a:p>
          <a:p>
            <a:pPr lvl="1"/>
            <a:r>
              <a:rPr lang="ja-JP" altLang="en-US"/>
              <a:t>When a </a:t>
            </a:r>
            <a:r>
              <a:rPr lang="en-US" altLang="ja-JP" dirty="0"/>
              <a:t>warp </a:t>
            </a:r>
            <a:r>
              <a:rPr lang="ja-JP" altLang="en-US"/>
              <a:t>'s </a:t>
            </a:r>
            <a:r>
              <a:rPr lang="en-US" altLang="ja-JP" dirty="0"/>
              <a:t>32 </a:t>
            </a:r>
            <a:r>
              <a:rPr lang="ja-JP" altLang="en-US"/>
              <a:t> threads access addresses meeting the following conditions, they can be coalesced into minimal transactions</a:t>
            </a:r>
          </a:p>
          <a:p>
            <a:pPr lvl="1"/>
            <a:r>
              <a:rPr lang="ja-JP" altLang="en-US"/>
              <a:t>Addresses fall within the same or adjacent cache lines</a:t>
            </a:r>
          </a:p>
          <a:p>
            <a:pPr lvl="1"/>
            <a:r>
              <a:rPr lang="ja-JP" altLang="en-US"/>
              <a:t>Each thread accesses contiguous elements</a:t>
            </a:r>
          </a:p>
          <a:p>
            <a:pPr lvl="1"/>
            <a:endParaRPr lang="en-US" altLang="ja-JP" dirty="0"/>
          </a:p>
          <a:p>
            <a:endParaRPr lang="ja-JP" altLang="en-US"/>
          </a:p>
          <a:p>
            <a:pPr lvl="1"/>
            <a:endParaRPr lang="ja-JP" altLang="en-US"/>
          </a:p>
          <a:p>
            <a:pPr lvl="1"/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GPU </a:t>
            </a:r>
            <a:r>
              <a:rPr lang="ja-JP">
                <a:sym typeface="+mn-ea"/>
              </a:rPr>
              <a:t>Memory Transaction</a:t>
            </a:r>
            <a:r>
              <a:rPr altLang="ja-JP">
                <a:sym typeface="+mn-ea"/>
              </a:rPr>
              <a:t> </a:t>
            </a:r>
            <a:r>
              <a:rPr lang="ja-JP">
                <a:sym typeface="+mn-ea"/>
              </a:rPr>
              <a:t>Mechanism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Contiguous access</a:t>
            </a:r>
            <a:r>
              <a:rPr lang="en-US" altLang="en-US" dirty="0"/>
              <a:t>：1 transaction(s) suffice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Strided access</a:t>
            </a:r>
            <a:r>
              <a:rPr lang="en-US" altLang="en-US" dirty="0"/>
              <a:t>：2 transactions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10297" y="1814051"/>
            <a:ext cx="5761703" cy="6341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threadIdx.x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T0→0, T1→2, T2→4, ...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5736" y="1814051"/>
            <a:ext cx="5187449" cy="63418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threadIdx.x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T0→0, T1→1, T2→2, ...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Contiguous addresses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89" y="2624444"/>
            <a:ext cx="4453341" cy="283394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012" y="2532255"/>
            <a:ext cx="5613746" cy="301832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GPU </a:t>
            </a:r>
            <a:r>
              <a:rPr lang="ja-JP">
                <a:sym typeface="+mn-ea"/>
              </a:rPr>
              <a:t>Memory Transaction</a:t>
            </a:r>
            <a:r>
              <a:rPr altLang="ja-JP">
                <a:sym typeface="+mn-ea"/>
              </a:rPr>
              <a:t> </a:t>
            </a:r>
            <a:r>
              <a:rPr lang="ja-JP">
                <a:sym typeface="+mn-ea"/>
              </a:rPr>
              <a:t>Mechanism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Random access</a:t>
            </a:r>
            <a:r>
              <a:rPr lang="en-US" altLang="en-US" dirty="0"/>
              <a:t>: worst case 32 transactions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Efficiency Comparison</a:t>
            </a:r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1009952" y="2133330"/>
            <a:ext cx="5105570" cy="70453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index_table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threadIdx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Random addresses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data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089327" y="3638136"/>
          <a:ext cx="394970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Transactions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Bandwidth Utilization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100%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50%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25%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dirty="0"/>
                        <a:t>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3.125%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Random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 to </a:t>
                      </a:r>
                      <a:r>
                        <a:rPr lang="en-US" altLang="en-US" dirty="0"/>
                        <a:t>32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dirty="0"/>
                        <a:t>～3.125%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Matrix Access: Row-Major </a:t>
            </a:r>
            <a:r>
              <a:rPr lang="en-US" dirty="0"/>
              <a:t>vs </a:t>
            </a:r>
            <a:r>
              <a:rPr lang="ja-JP" altLang="en-US"/>
              <a:t> Column-Major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7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A </a:t>
            </a:r>
            <a:r>
              <a:rPr lang="en-US" dirty="0"/>
              <a:t>warp</a:t>
            </a:r>
            <a:r>
              <a:rPr lang="ja-JP" altLang="en-US"/>
              <a:t> reads one row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ja-JP" altLang="en-US"/>
              <a:t>A </a:t>
            </a:r>
            <a:r>
              <a:rPr lang="en-US" dirty="0"/>
              <a:t>warp</a:t>
            </a:r>
            <a:r>
              <a:rPr lang="ja-JP" altLang="en-US"/>
              <a:t> reads one column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23874" y="1757083"/>
            <a:ext cx="4980456" cy="5558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col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threadIdx.x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0,1,2,...,31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[row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col]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10297" y="1757082"/>
            <a:ext cx="4690785" cy="55581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row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threadIdx.x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0,1,2,...,31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M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[row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col]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2" y="2320535"/>
            <a:ext cx="4702614" cy="410583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297" y="2495205"/>
            <a:ext cx="4835958" cy="393116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GPU Shared Memory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8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sz="2000"/>
              <a:t>~100x faster than </a:t>
            </a:r>
            <a:r>
              <a:rPr lang="en-US" sz="2000" dirty="0"/>
              <a:t>Global Memory </a:t>
            </a:r>
            <a:r>
              <a:rPr lang="en-US" altLang="ja-JP" sz="2000" dirty="0"/>
              <a:t>~100 </a:t>
            </a:r>
            <a:r>
              <a:rPr lang="ja-JP" altLang="en-US" sz="2000"/>
              <a:t>x, but ~1000x smaller in capacity</a:t>
            </a:r>
            <a:r>
              <a:rPr lang="en-US" altLang="ja-JP" sz="2000" dirty="0"/>
              <a:t>~1000 </a:t>
            </a:r>
            <a:endParaRPr lang="ja-JP" altLang="en-US" sz="2000"/>
          </a:p>
          <a:p>
            <a:pPr lvl="1"/>
            <a:r>
              <a:rPr lang="ja-JP" altLang="en-US" sz="1800"/>
              <a:t>Programmers can explicitly control data placement</a:t>
            </a:r>
          </a:p>
          <a:p>
            <a:pPr lvl="1"/>
            <a:r>
              <a:rPr lang="en-US" sz="1800" dirty="0"/>
              <a:t>Shares space with L</a:t>
            </a:r>
            <a:r>
              <a:rPr lang="en-US" altLang="en-US" sz="1800" dirty="0"/>
              <a:t>1 Cache Cache; ratio is manually configurable</a:t>
            </a:r>
          </a:p>
          <a:p>
            <a:endParaRPr lang="en-US" alt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en-US" sz="2000" dirty="0"/>
              <a:t>Shared Memory </a:t>
            </a:r>
            <a:r>
              <a:rPr lang="ja-JP" altLang="en-US" sz="2000"/>
              <a:t> is divided into </a:t>
            </a:r>
            <a:r>
              <a:rPr lang="en-US" altLang="ja-JP" sz="2000" dirty="0"/>
              <a:t>32 </a:t>
            </a:r>
            <a:r>
              <a:rPr lang="ja-JP" altLang="en-US" sz="2000"/>
              <a:t> independent </a:t>
            </a:r>
            <a:r>
              <a:rPr lang="en-US" altLang="ja-JP" sz="2000" dirty="0"/>
              <a:t>Bank</a:t>
            </a:r>
          </a:p>
          <a:p>
            <a:pPr lvl="1">
              <a:lnSpc>
                <a:spcPct val="130000"/>
              </a:lnSpc>
            </a:pPr>
            <a:r>
              <a:rPr lang="ja-JP" altLang="en-US" sz="1800"/>
              <a:t>Can simultaneously serve </a:t>
            </a:r>
            <a:r>
              <a:rPr lang="en-US" altLang="ja-JP" sz="1800" dirty="0"/>
              <a:t>32 </a:t>
            </a:r>
            <a:r>
              <a:rPr lang="ja-JP" altLang="en-US" sz="1800"/>
              <a:t> requests</a:t>
            </a:r>
          </a:p>
          <a:p>
            <a:pPr lvl="1">
              <a:lnSpc>
                <a:spcPct val="130000"/>
              </a:lnSpc>
            </a:pPr>
            <a:r>
              <a:rPr lang="ja-JP" altLang="en-US" sz="1800"/>
              <a:t>Ideal case: </a:t>
            </a:r>
            <a:r>
              <a:rPr lang="en-US" altLang="ja-JP" sz="1800" dirty="0"/>
              <a:t>32 </a:t>
            </a:r>
            <a:r>
              <a:rPr lang="ja-JP" altLang="en-US" sz="1800"/>
              <a:t> threads simultaneously access </a:t>
            </a:r>
            <a:r>
              <a:rPr lang="en-US" altLang="ja-JP" sz="1800" dirty="0"/>
              <a:t>32 </a:t>
            </a:r>
            <a:r>
              <a:rPr lang="ja-JP" altLang="en-US" sz="1800"/>
              <a:t> different </a:t>
            </a:r>
            <a:r>
              <a:rPr lang="en-US" altLang="ja-JP" sz="1800" dirty="0"/>
              <a:t>Bank</a:t>
            </a:r>
          </a:p>
          <a:p>
            <a:pPr>
              <a:lnSpc>
                <a:spcPct val="130000"/>
              </a:lnSpc>
            </a:pPr>
            <a:r>
              <a:rPr lang="en-US" altLang="en-US" sz="2000" dirty="0"/>
              <a:t>Efficient utilization of Shared Memory is the core of memory layout planning</a:t>
            </a:r>
          </a:p>
          <a:p>
            <a:pPr lvl="1">
              <a:lnSpc>
                <a:spcPct val="130000"/>
              </a:lnSpc>
            </a:pPr>
            <a:r>
              <a:rPr lang="ja-JP" altLang="en-US" sz="1800"/>
              <a:t>When multiple threads within the same </a:t>
            </a:r>
            <a:r>
              <a:rPr lang="en-US" sz="1800" dirty="0"/>
              <a:t>Warp </a:t>
            </a:r>
            <a:r>
              <a:rPr lang="ja-JP" altLang="en-US" sz="1800"/>
              <a:t> map to the same </a:t>
            </a:r>
            <a:r>
              <a:rPr lang="en-US" sz="1800" dirty="0"/>
              <a:t>Bank </a:t>
            </a:r>
            <a:r>
              <a:rPr lang="ja-JP" altLang="en-US" sz="1800"/>
              <a:t>, serialized access is required</a:t>
            </a:r>
          </a:p>
          <a:p>
            <a:pPr>
              <a:lnSpc>
                <a:spcPct val="130000"/>
              </a:lnSpc>
            </a:pPr>
            <a:endParaRPr lang="en-US" sz="2000" dirty="0"/>
          </a:p>
          <a:p>
            <a:pPr>
              <a:lnSpc>
                <a:spcPct val="130000"/>
              </a:lnSpc>
            </a:pPr>
            <a:endParaRPr lang="ja-JP" altLang="en-US" sz="2000"/>
          </a:p>
          <a:p>
            <a:pPr>
              <a:lnSpc>
                <a:spcPct val="130000"/>
              </a:lnSpc>
            </a:pPr>
            <a:endParaRPr lang="ja-JP" altLang="en-US" sz="20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3357245"/>
            <a:ext cx="4513580" cy="29991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ym typeface="+mn-ea"/>
              </a:rPr>
              <a:t>GPU Shared Memory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9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Ideal Case vs. Worst Case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ja-JP" altLang="en-US"/>
              <a:t>Access patterns causing </a:t>
            </a:r>
            <a:r>
              <a:rPr lang="en-US" dirty="0"/>
              <a:t>Bank Conflict </a:t>
            </a:r>
            <a:endParaRPr lang="ja-JP" altLang="en-US"/>
          </a:p>
          <a:p>
            <a:pPr lvl="1"/>
            <a:r>
              <a:rPr lang="ja-JP" altLang="en-US"/>
              <a:t>Access with specific stride values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marL="342900" lvl="1" indent="0">
              <a:buNone/>
            </a:pPr>
            <a:endParaRPr lang="ja-JP" altLang="en-US"/>
          </a:p>
          <a:p>
            <a:pPr lvl="1"/>
            <a:r>
              <a:rPr lang="ja-JP" altLang="en-US"/>
              <a:t>Access with specific stride value</a:t>
            </a:r>
            <a:r>
              <a:rPr lang="en-US" altLang="en-US" dirty="0"/>
              <a:t>（32）</a:t>
            </a:r>
            <a:endParaRPr lang="ja-JP" altLang="en-US"/>
          </a:p>
          <a:p>
            <a:pPr lvl="1"/>
            <a:endParaRPr 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368935" y="2364740"/>
            <a:ext cx="5594985" cy="2508250"/>
            <a:chOff x="0" y="3751"/>
            <a:chExt cx="10654" cy="533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r="1311"/>
            <a:stretch>
              <a:fillRect/>
            </a:stretch>
          </p:blipFill>
          <p:spPr>
            <a:xfrm>
              <a:off x="0" y="3768"/>
              <a:ext cx="5250" cy="532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3"/>
            <a:srcRect l="1989"/>
            <a:stretch>
              <a:fillRect/>
            </a:stretch>
          </p:blipFill>
          <p:spPr>
            <a:xfrm>
              <a:off x="5250" y="3751"/>
              <a:ext cx="5404" cy="5320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6789722" y="2373660"/>
            <a:ext cx="5076216" cy="7177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row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threadIdx.x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0 to 31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[row][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// 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All threads access column </a:t>
            </a:r>
            <a:r>
              <a:rPr lang="en-US" altLang="ja-JP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0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25285" y="4244340"/>
            <a:ext cx="5076190" cy="14795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threadIdx.x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BC88D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val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smem_1d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-US" sz="14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b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sz="1400" b="0" i="1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idx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0, 32, 64, 96, ... </a:t>
            </a:r>
            <a:r>
              <a:rPr lang="ja-JP" altLang="en-US" sz="14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All mapped to </a:t>
            </a:r>
            <a:r>
              <a:rPr lang="en-US" sz="14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Bank 0</a:t>
            </a:r>
            <a:endParaRPr lang="en-US" sz="14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Resolving </a:t>
            </a:r>
            <a:r>
              <a:rPr lang="en-US" dirty="0"/>
              <a:t>Bank Conflict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10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Padding</a:t>
            </a:r>
          </a:p>
          <a:p>
            <a:pPr lvl="1"/>
            <a:r>
              <a:rPr lang="ja-JP" altLang="en-US"/>
              <a:t>Increase actual storage size per row, staggering column elements to different </a:t>
            </a:r>
            <a:r>
              <a:rPr lang="en-US" dirty="0"/>
              <a:t>Bank</a:t>
            </a:r>
          </a:p>
          <a:p>
            <a:pPr lvl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Swizzling</a:t>
            </a:r>
          </a:p>
          <a:p>
            <a:pPr lvl="1"/>
            <a:r>
              <a:rPr lang="ja-JP" altLang="en-US"/>
              <a:t>Dynamically alter address mapping via </a:t>
            </a:r>
            <a:r>
              <a:rPr lang="en-US" dirty="0"/>
              <a:t>XOR </a:t>
            </a:r>
            <a:r>
              <a:rPr lang="ja-JP" altLang="en-US"/>
              <a:t> operations, so the same column in different rows maps to different </a:t>
            </a:r>
            <a:r>
              <a:rPr lang="en-US" dirty="0"/>
              <a:t>Bank</a:t>
            </a:r>
          </a:p>
          <a:p>
            <a:pPr lvl="1"/>
            <a:r>
              <a:rPr lang="ja-JP" altLang="en-US"/>
              <a:t>Original</a:t>
            </a:r>
            <a:r>
              <a:rPr lang="en-US" altLang="ja-JP" dirty="0"/>
              <a:t>:	 </a:t>
            </a:r>
            <a:r>
              <a:rPr lang="ja-JP" altLang="en-US"/>
              <a:t>addr </a:t>
            </a:r>
            <a:r>
              <a:rPr lang="en-US" altLang="ja-JP" dirty="0"/>
              <a:t>= </a:t>
            </a:r>
            <a:r>
              <a:rPr lang="en-US" dirty="0"/>
              <a:t>row × stride + col</a:t>
            </a:r>
          </a:p>
          <a:p>
            <a:pPr lvl="1"/>
            <a:r>
              <a:rPr lang="en-US" dirty="0"/>
              <a:t>Swizzle</a:t>
            </a:r>
            <a:r>
              <a:rPr lang="en-US" altLang="ja-JP" dirty="0"/>
              <a:t>:	 </a:t>
            </a:r>
            <a:r>
              <a:rPr lang="ja-JP" altLang="en-US"/>
              <a:t>addr </a:t>
            </a:r>
            <a:r>
              <a:rPr lang="en-US" altLang="ja-JP" dirty="0"/>
              <a:t>= </a:t>
            </a:r>
            <a:r>
              <a:rPr lang="en-US" dirty="0"/>
              <a:t>row × stride + (col XOR row)</a:t>
            </a:r>
          </a:p>
          <a:p>
            <a:pPr lvl="1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6110" y="2787650"/>
            <a:ext cx="5488940" cy="151257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__shared__ float </a:t>
            </a:r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[32][32];</a:t>
            </a:r>
          </a:p>
          <a:p>
            <a:b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0: [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B0 ][B1 ][B2 ]...[B31] ← 128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bytes</a:t>
            </a:r>
          </a:p>
          <a:p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1: [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B0 ][B1 ][B2 ]...[B31] ← 128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bytes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starts at 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Bank 0</a:t>
            </a:r>
          </a:p>
          <a:p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2: [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B0 ][B1 ][B2 ]...[B31]</a:t>
            </a:r>
          </a:p>
          <a:p>
            <a:b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Column access: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[0][0], </a:t>
            </a:r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[1][0], </a:t>
            </a:r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[2][0], ...</a:t>
            </a:r>
          </a:p>
          <a:p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All in 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Bank 0 → 32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-way conflict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5947" y="4719320"/>
            <a:ext cx="5489103" cy="18089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__shared__ float </a:t>
            </a:r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[32][33]; //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Each row has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extra element(s)</a:t>
            </a:r>
          </a:p>
          <a:p>
            <a:b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0: [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B0 ][B1 ][B2 ]...[B31][B0 ] ← 132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bytes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(33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float)</a:t>
            </a:r>
          </a:p>
          <a:p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1: [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B1 ][B2 ][B3 ]...[B0 ][B1 ] ←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starts at 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Bank </a:t>
            </a:r>
            <a:r>
              <a:rPr lang="en-US" alt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1</a:t>
            </a:r>
            <a:endParaRPr lang="en-US" altLang="ja-JP" sz="10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2: [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B2 ][B3 ][B4 ]...[B1 ][B2 ] ←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starts at 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Bank 2</a:t>
            </a:r>
          </a:p>
          <a:p>
            <a:b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</a:b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Column access: </a:t>
            </a:r>
            <a:r>
              <a:rPr lang="en-US" altLang="ja-JP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[0][0] → Bank 0</a:t>
            </a:r>
          </a:p>
          <a:p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[1][0] → Bank 1 ←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Different 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Bank</a:t>
            </a:r>
          </a:p>
          <a:p>
            <a:r>
              <a:rPr lang="en-US" sz="10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smem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[2][0] → Bank 2 ← </a:t>
            </a:r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Different </a:t>
            </a:r>
            <a:r>
              <a:rPr lang="en-US" sz="10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Bank</a:t>
            </a:r>
          </a:p>
          <a:p>
            <a:r>
              <a:rPr lang="ja-JP" altLang="en-US" sz="10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No conflict</a:t>
            </a:r>
          </a:p>
        </p:txBody>
      </p:sp>
      <p:sp>
        <p:nvSpPr>
          <p:cNvPr id="9" name="Down Arrow 8"/>
          <p:cNvSpPr/>
          <p:nvPr/>
        </p:nvSpPr>
        <p:spPr>
          <a:xfrm>
            <a:off x="3241632" y="4300093"/>
            <a:ext cx="155657" cy="4097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536057" y="3263265"/>
            <a:ext cx="5132070" cy="1314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Accessing column 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0: 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0, col 0 →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0 → Bank 0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1, col 0 →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128 → Bank 0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2, col 0 →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256 → Bank 0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3, col 0 →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addr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384 → Bank 0 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32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-way conflict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6057" y="4931603"/>
            <a:ext cx="5132070" cy="13144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Accessing column 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col XOR row):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0, col 0^0=0 → Bank 0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1, col 0^1=1 → Bank 1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2, col 0^2=2 → Bank 2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 3, col 0^3=3 → Bank 3</a:t>
            </a:r>
          </a:p>
          <a:p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No conflict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014055" y="4651506"/>
            <a:ext cx="171450" cy="22494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Triton </a:t>
            </a:r>
            <a:r>
              <a:rPr lang="ja-JP" altLang="en-US"/>
              <a:t>Automatic Layout Optimization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11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The compiler automatically generates </a:t>
            </a:r>
            <a:r>
              <a:rPr lang="en-US" dirty="0"/>
              <a:t>swizzled </a:t>
            </a:r>
            <a:r>
              <a:rPr lang="ja-JP" altLang="en-US"/>
              <a:t> access code based on these parameters</a:t>
            </a:r>
            <a:endParaRPr lang="en-US" altLang="ja-JP" dirty="0"/>
          </a:p>
          <a:p>
            <a:pPr lvl="1"/>
            <a:r>
              <a:rPr lang="en-US" altLang="ja-JP" dirty="0" err="1"/>
              <a:t>vec</a:t>
            </a:r>
            <a:r>
              <a:rPr lang="en-US" altLang="ja-JP" dirty="0"/>
              <a:t>: </a:t>
            </a:r>
            <a:r>
              <a:rPr lang="ja-JP" altLang="en-US"/>
              <a:t>Number of contiguously accessed elements, affects vectorization</a:t>
            </a:r>
          </a:p>
          <a:p>
            <a:pPr lvl="1"/>
            <a:r>
              <a:rPr lang="en-US" altLang="ja-JP" dirty="0" err="1"/>
              <a:t>perPhase</a:t>
            </a:r>
            <a:r>
              <a:rPr lang="ja-JP" altLang="en-US"/>
              <a:t> and </a:t>
            </a:r>
            <a:r>
              <a:rPr lang="en-US" altLang="ja-JP" dirty="0" err="1"/>
              <a:t>maxPhase</a:t>
            </a:r>
            <a:r>
              <a:rPr lang="en-US" altLang="ja-JP" dirty="0"/>
              <a:t>: </a:t>
            </a:r>
            <a:r>
              <a:rPr lang="ja-JP" altLang="en-US"/>
              <a:t>Control </a:t>
            </a:r>
            <a:r>
              <a:rPr lang="en-US" altLang="ja-JP" dirty="0"/>
              <a:t>swizzle </a:t>
            </a:r>
            <a:r>
              <a:rPr lang="ja-JP" altLang="en-US"/>
              <a:t> period</a:t>
            </a:r>
            <a:endParaRPr lang="en-US" altLang="ja-JP" dirty="0"/>
          </a:p>
          <a:p>
            <a:pPr lvl="5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r>
              <a:rPr lang="en-US" altLang="ja-JP" dirty="0"/>
              <a:t>Triton </a:t>
            </a:r>
            <a:r>
              <a:rPr lang="ja-JP" altLang="en-US"/>
              <a:t> compiler automatically handles </a:t>
            </a:r>
            <a:r>
              <a:rPr lang="en-US" altLang="ja-JP" dirty="0"/>
              <a:t>Shared Memory </a:t>
            </a:r>
            <a:r>
              <a:rPr lang="ja-JP" altLang="en-US"/>
              <a:t> layout optimization</a:t>
            </a:r>
          </a:p>
          <a:p>
            <a:endParaRPr lang="ja-JP" altLang="en-US"/>
          </a:p>
          <a:p>
            <a:pPr lvl="1"/>
            <a:endParaRPr lang="ja-JP" altLang="en-US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765425" y="2973705"/>
            <a:ext cx="6257925" cy="15367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#shared = #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triton_gpu.shared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&lt;{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vec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4, 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Vectorization width 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accesses 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elements at once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perPhase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2, 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Rows per phase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maxPhase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8, 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Maximum phase count 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for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swizzle)</a:t>
            </a:r>
          </a:p>
          <a:p>
            <a:pPr lvl="1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order = [1, 0], 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Memory traversal order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hasLeadingOffset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false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5425" y="4912360"/>
            <a:ext cx="6257925" cy="15944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@</a:t>
            </a:r>
            <a:r>
              <a:rPr lang="en-US" sz="12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triton</a:t>
            </a:r>
            <a:r>
              <a:rPr lang="en-US" sz="12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A8CC7C"/>
                </a:solidFill>
                <a:effectLst/>
                <a:latin typeface="Menlo" panose="020B0609030804020204" pitchFamily="49" charset="0"/>
              </a:rPr>
              <a:t>jit</a:t>
            </a:r>
            <a:endParaRPr lang="en-US" sz="12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b="0" dirty="0">
                <a:solidFill>
                  <a:srgbClr val="82D2CE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EFB080"/>
                </a:solidFill>
                <a:effectLst/>
                <a:latin typeface="Menlo" panose="020B0609030804020204" pitchFamily="49" charset="0"/>
              </a:rPr>
              <a:t>kernel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(...):</a:t>
            </a:r>
          </a:p>
          <a:p>
            <a:pPr lvl="1"/>
            <a:r>
              <a:rPr lang="en-US" sz="12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Triton </a:t>
            </a:r>
            <a:r>
              <a:rPr lang="ja-JP" altLang="en-US" sz="12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automatically selects optimal layout</a:t>
            </a:r>
            <a:endParaRPr lang="ja-JP" altLang="en-US" sz="12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 </a:t>
            </a:r>
            <a:r>
              <a:rPr lang="en-US" sz="12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2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load</a:t>
            </a:r>
            <a:r>
              <a:rPr lang="en-US" sz="12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A_ptr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offs</a:t>
            </a:r>
            <a:r>
              <a:rPr lang="en-US" sz="12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Global → Register</a:t>
            </a:r>
            <a:endParaRPr lang="en-US" sz="12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2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ja-JP" altLang="en-US" sz="12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Explicitly using </a:t>
            </a:r>
            <a:r>
              <a:rPr lang="en-US" sz="12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shared memory</a:t>
            </a:r>
            <a:endParaRPr lang="en-US" sz="12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2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Triton </a:t>
            </a:r>
            <a:r>
              <a:rPr lang="ja-JP" altLang="en-US" sz="12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automatically applies </a:t>
            </a:r>
            <a:r>
              <a:rPr lang="en-US" sz="12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swizzling</a:t>
            </a:r>
            <a:endParaRPr lang="en-US" sz="12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a_shared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tl</a:t>
            </a:r>
            <a:r>
              <a:rPr lang="en-US" sz="1200" b="0" dirty="0" err="1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200" b="0" dirty="0" err="1">
                <a:solidFill>
                  <a:srgbClr val="AAA0FA"/>
                </a:solidFill>
                <a:effectLst/>
                <a:latin typeface="Menlo" panose="020B0609030804020204" pitchFamily="49" charset="0"/>
              </a:rPr>
              <a:t>trans</a:t>
            </a:r>
            <a:r>
              <a:rPr lang="en-US" sz="12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</a:t>
            </a:r>
            <a:r>
              <a:rPr lang="en-US" sz="1200" b="0" dirty="0">
                <a:solidFill>
                  <a:srgbClr val="D6D6DD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b="0" i="1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ja-JP" altLang="en-US" sz="1200" b="0" i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Auto-optimized during transpose</a:t>
            </a:r>
            <a:endParaRPr lang="ja-JP" altLang="en-US" sz="12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endParaRPr lang="ja-JP" altLang="en-US" sz="1200" b="0" dirty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Tensor Layout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12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Mapping from logical tensor elements to physical storage locations</a:t>
            </a:r>
          </a:p>
          <a:p>
            <a:pPr lvl="1"/>
            <a:r>
              <a:rPr lang="ja-JP" altLang="en-US"/>
              <a:t>Memory arrangement order</a:t>
            </a:r>
            <a:endParaRPr lang="en-US" altLang="ja-JP" dirty="0"/>
          </a:p>
          <a:p>
            <a:pPr lvl="1"/>
            <a:r>
              <a:rPr lang="ja-JP" altLang="en-US"/>
              <a:t>Distribution of elements across hardware units</a:t>
            </a:r>
            <a:endParaRPr lang="en-US" altLang="ja-JP" dirty="0"/>
          </a:p>
          <a:p>
            <a:r>
              <a:rPr lang="ja-JP" altLang="en-US"/>
              <a:t>Common Layout Types</a:t>
            </a:r>
          </a:p>
          <a:p>
            <a:pPr lvl="1"/>
            <a:r>
              <a:rPr lang="en-US" altLang="ja-JP" dirty="0"/>
              <a:t>Row-major</a:t>
            </a:r>
            <a:r>
              <a:rPr lang="en-US" altLang="en-US" dirty="0"/>
              <a:t>，</a:t>
            </a:r>
            <a:r>
              <a:rPr lang="ja-JP" altLang="en-US"/>
              <a:t>Row-contiguous storage, </a:t>
            </a:r>
            <a:r>
              <a:rPr lang="en-US" altLang="en-US" dirty="0"/>
              <a:t>，</a:t>
            </a:r>
            <a:r>
              <a:rPr lang="en-US" altLang="ja-JP" dirty="0"/>
              <a:t>C/C++ </a:t>
            </a:r>
            <a:r>
              <a:rPr lang="ja-JP" altLang="en-US"/>
              <a:t> default</a:t>
            </a:r>
            <a:endParaRPr lang="en-US" altLang="ja-JP" dirty="0"/>
          </a:p>
          <a:p>
            <a:pPr lvl="1"/>
            <a:r>
              <a:rPr lang="en-US" altLang="ja-JP" dirty="0"/>
              <a:t>Column-major</a:t>
            </a:r>
            <a:r>
              <a:rPr lang="en-US" altLang="en-US" dirty="0"/>
              <a:t>，</a:t>
            </a:r>
            <a:r>
              <a:rPr lang="ja-JP" altLang="en-US"/>
              <a:t>Column-contiguous storage</a:t>
            </a:r>
            <a:r>
              <a:rPr lang="en-US" altLang="en-US" dirty="0"/>
              <a:t>，</a:t>
            </a:r>
            <a:r>
              <a:rPr lang="en-US" altLang="ja-JP" dirty="0"/>
              <a:t>Fortran, MATLAB</a:t>
            </a:r>
          </a:p>
          <a:p>
            <a:pPr lvl="1"/>
            <a:r>
              <a:rPr lang="en-US" altLang="ja-JP" dirty="0"/>
              <a:t>Blocked</a:t>
            </a:r>
            <a:r>
              <a:rPr lang="en-US" altLang="en-US" dirty="0"/>
              <a:t>，</a:t>
            </a:r>
            <a:r>
              <a:rPr lang="ja-JP" altLang="en-US"/>
              <a:t>Block storage, </a:t>
            </a:r>
            <a:r>
              <a:rPr lang="en-US" altLang="en-US" dirty="0"/>
              <a:t>，</a:t>
            </a:r>
            <a:r>
              <a:rPr lang="en-US" altLang="ja-JP" dirty="0"/>
              <a:t>GPU </a:t>
            </a:r>
            <a:r>
              <a:rPr lang="ja-JP" altLang="en-US"/>
              <a:t> parallelism</a:t>
            </a:r>
            <a:endParaRPr lang="en-US" altLang="ja-JP" dirty="0"/>
          </a:p>
          <a:p>
            <a:pPr lvl="1"/>
            <a:r>
              <a:rPr lang="en-US" altLang="ja-JP" dirty="0" err="1"/>
              <a:t>Strided</a:t>
            </a:r>
            <a:r>
              <a:rPr lang="en-US" altLang="en-US" dirty="0"/>
              <a:t>，</a:t>
            </a:r>
            <a:r>
              <a:rPr lang="ja-JP" altLang="en-US"/>
              <a:t>Strided storage</a:t>
            </a:r>
            <a:r>
              <a:rPr lang="en-US" altLang="en-US" dirty="0"/>
              <a:t>，</a:t>
            </a:r>
            <a:r>
              <a:rPr lang="ja-JP" altLang="en-US"/>
              <a:t>Slicing operations</a:t>
            </a:r>
            <a:endParaRPr lang="en-US" altLang="ja-JP" dirty="0"/>
          </a:p>
          <a:p>
            <a:pPr lvl="1"/>
            <a:endParaRPr lang="ja-JP" altLang="en-US"/>
          </a:p>
          <a:p>
            <a:pPr lvl="1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3555" y="4139565"/>
            <a:ext cx="4434840" cy="1760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x4 </a:t>
            </a:r>
            <a:r>
              <a:rPr lang="ja-JP" altLang="en-US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matrix: </a:t>
            </a:r>
            <a:r>
              <a:rPr lang="en-US" altLang="ja-JP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: 		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Row-major: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┌─┬─┬─┬─┐ </a:t>
            </a:r>
            <a:r>
              <a:rPr lang="en-US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[0,1,2,3,4,5,6,7]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│0│1│2│3│ 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├─┼─┼─┼─┤		Column-major</a:t>
            </a:r>
            <a:r>
              <a:rPr lang="en-US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│4│5│6│7│	</a:t>
            </a:r>
            <a:r>
              <a:rPr lang="en-US" alt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[0,4,1,5,2,6,3,7]</a:t>
            </a:r>
          </a:p>
          <a:p>
            <a:r>
              <a:rPr lang="en-US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└─┴─┴─┴─┘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Triton </a:t>
            </a:r>
            <a:r>
              <a:rPr lang="ja-JP" altLang="en-US"/>
              <a:t> Layout Encoding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13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ja-JP" altLang="en-US"/>
              <a:t>Using </a:t>
            </a:r>
            <a:r>
              <a:rPr lang="en-US" dirty="0"/>
              <a:t>MLIR Attribute </a:t>
            </a:r>
            <a:r>
              <a:rPr lang="ja-JP" altLang="en-US"/>
              <a:t> to represent layouts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pPr lvl="1"/>
            <a:endParaRPr lang="en-US" altLang="ja-JP" dirty="0"/>
          </a:p>
          <a:p>
            <a:pPr lvl="1"/>
            <a:r>
              <a:rPr lang="en-US" altLang="ja-JP" dirty="0" err="1"/>
              <a:t>BlockedEncodingAttr</a:t>
            </a:r>
            <a:r>
              <a:rPr lang="en-US" altLang="ja-JP" dirty="0"/>
              <a:t>: GPU </a:t>
            </a:r>
            <a:r>
              <a:rPr lang="ja-JP" altLang="en-US"/>
              <a:t>Global memory access pattern</a:t>
            </a:r>
          </a:p>
          <a:p>
            <a:pPr lvl="1"/>
            <a:r>
              <a:rPr lang="en-US" altLang="ja-JP" dirty="0" err="1"/>
              <a:t>SharedEncodingAttr</a:t>
            </a:r>
            <a:r>
              <a:rPr lang="en-US" altLang="ja-JP" dirty="0"/>
              <a:t>: </a:t>
            </a:r>
            <a:r>
              <a:rPr lang="ja-JP" altLang="en-US"/>
              <a:t>Shared memory access pattern </a:t>
            </a:r>
            <a:r>
              <a:rPr lang="en-US" altLang="ja-JP" dirty="0"/>
              <a:t>(swizzle)</a:t>
            </a:r>
          </a:p>
          <a:p>
            <a:pPr lvl="1"/>
            <a:r>
              <a:rPr lang="en-US" altLang="ja-JP" dirty="0" err="1"/>
              <a:t>NvidiaMmaEncodingAttr</a:t>
            </a:r>
            <a:r>
              <a:rPr lang="en-US" altLang="ja-JP" dirty="0"/>
              <a:t>: Tensor Core </a:t>
            </a:r>
            <a:r>
              <a:rPr lang="ja-JP" altLang="en-US"/>
              <a:t> operation layout</a:t>
            </a:r>
          </a:p>
          <a:p>
            <a:pPr lvl="1"/>
            <a:r>
              <a:rPr lang="en-US" altLang="ja-JP" dirty="0" err="1"/>
              <a:t>DotOperandEncodingAttr</a:t>
            </a:r>
            <a:r>
              <a:rPr lang="en-US" altLang="ja-JP" dirty="0"/>
              <a:t>: </a:t>
            </a:r>
            <a:r>
              <a:rPr lang="ja-JP" altLang="en-US"/>
              <a:t>Matrix multiplication operand layout</a:t>
            </a:r>
            <a:endParaRPr lang="en-US" dirty="0"/>
          </a:p>
          <a:p>
            <a:r>
              <a:rPr lang="ja-JP" altLang="en-US"/>
              <a:t>Unified Layout Representation</a:t>
            </a:r>
            <a:endParaRPr lang="en-US" altLang="ja-JP" dirty="0"/>
          </a:p>
          <a:p>
            <a:pPr lvl="1"/>
            <a:r>
              <a:rPr lang="ja-JP" altLang="en-US"/>
              <a:t>Represent layouts as mappings from hardware positions </a:t>
            </a:r>
            <a:r>
              <a:rPr lang="en-US" altLang="ja-JP" dirty="0"/>
              <a:t>(warp, thread, register)</a:t>
            </a:r>
            <a:r>
              <a:rPr lang="ja-JP" altLang="en-US"/>
              <a:t> to logical indices </a:t>
            </a:r>
            <a:r>
              <a:rPr lang="en-US" altLang="ja-JP" dirty="0"/>
              <a:t>(m, n) </a:t>
            </a:r>
          </a:p>
          <a:p>
            <a:pPr lvl="1"/>
            <a:r>
              <a:rPr lang="ja-JP" altLang="en-US"/>
              <a:t>Use binary bits for strides</a:t>
            </a:r>
            <a:r>
              <a:rPr lang="en-US" altLang="ja-JP" dirty="0"/>
              <a:t>, XOR </a:t>
            </a:r>
            <a:r>
              <a:rPr lang="ja-JP" altLang="en-US"/>
              <a:t> operation composition</a:t>
            </a:r>
          </a:p>
          <a:p>
            <a:pPr lvl="1"/>
            <a:endParaRPr lang="ja-JP" altLang="en-US"/>
          </a:p>
          <a:p>
            <a:pPr lvl="1"/>
            <a:endParaRPr lang="ja-JP" alt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055219" y="1830229"/>
            <a:ext cx="6614160" cy="129016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#blocked = #</a:t>
            </a:r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triton_gpu.blocked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&lt;{</a:t>
            </a:r>
          </a:p>
          <a:p>
            <a:pPr lvl="1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sizePerThread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[4], 	</a:t>
            </a:r>
            <a:r>
              <a:rPr lang="en-US" alt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ja-JP" altLang="en-US" sz="14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Elements per thread</a:t>
            </a:r>
          </a:p>
          <a:p>
            <a:pPr lvl="1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threadsPerWarp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[32],</a:t>
            </a:r>
            <a:r>
              <a:rPr lang="en-US" alt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ja-JP" altLang="en-US" sz="14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Threads per 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warp </a:t>
            </a:r>
            <a:endParaRPr lang="ja-JP" altLang="en-US" sz="1400" b="0">
              <a:solidFill>
                <a:srgbClr val="E4E4E4"/>
              </a:solidFill>
              <a:effectLst/>
              <a:latin typeface="Menlo" panose="020B0609030804020204" pitchFamily="49" charset="0"/>
            </a:endParaRPr>
          </a:p>
          <a:p>
            <a:pPr lvl="1"/>
            <a:r>
              <a:rPr lang="en-US" sz="14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warpsPerCTA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[4], 	// </a:t>
            </a:r>
            <a:r>
              <a:rPr lang="ja-JP" altLang="en-US" sz="14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Threads per 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CTA warp </a:t>
            </a:r>
            <a:r>
              <a:rPr lang="ja-JP" altLang="en-US" sz="14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count</a:t>
            </a:r>
          </a:p>
          <a:p>
            <a:pPr lvl="1"/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order = [0] 			// </a:t>
            </a:r>
            <a:r>
              <a:rPr lang="ja-JP" altLang="en-US" sz="14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Dimension traversal order</a:t>
            </a:r>
          </a:p>
          <a:p>
            <a:r>
              <a:rPr lang="en-US" altLang="ja-JP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}&gt;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MMA (Matrix Multiply-Accumulate) </a:t>
            </a:r>
            <a:r>
              <a:rPr lang="ja-JP" altLang="en-US"/>
              <a:t> Layout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14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ja-JP" altLang="en-US" sz="2000"/>
              <a:t>Data arrangement designed for </a:t>
            </a:r>
            <a:r>
              <a:rPr lang="en-US" sz="2000" dirty="0"/>
              <a:t>GPU Tensor Core </a:t>
            </a:r>
            <a:endParaRPr lang="en-US" altLang="ja-JP" sz="2000" dirty="0"/>
          </a:p>
          <a:p>
            <a:pPr lvl="1">
              <a:lnSpc>
                <a:spcPct val="110000"/>
              </a:lnSpc>
            </a:pPr>
            <a:r>
              <a:rPr lang="en-US" altLang="ja-JP" sz="1800" dirty="0"/>
              <a:t>Tensor</a:t>
            </a:r>
            <a:r>
              <a:rPr lang="en-US" altLang="en-US" sz="1800" dirty="0"/>
              <a:t> Core computes D = A × B + C</a:t>
            </a:r>
          </a:p>
          <a:p>
            <a:pPr lvl="1">
              <a:lnSpc>
                <a:spcPct val="110000"/>
              </a:lnSpc>
            </a:pPr>
            <a:r>
              <a:rPr lang="ja-JP" altLang="en-US" sz="1800"/>
              <a:t>Fragment size is fixed</a:t>
            </a:r>
            <a:r>
              <a:rPr lang="en-US" altLang="en-US" sz="1800" dirty="0"/>
              <a:t> (e.g., Volta architecture 16*16), conforming to TC  hardware requirements</a:t>
            </a:r>
          </a:p>
          <a:p>
            <a:pPr lvl="1">
              <a:lnSpc>
                <a:spcPct val="110000"/>
              </a:lnSpc>
            </a:pPr>
            <a:r>
              <a:rPr lang="ja-JP" altLang="en-US" sz="1800"/>
              <a:t>Each thread holds </a:t>
            </a:r>
            <a:r>
              <a:rPr lang="en-US" altLang="ja-JP" sz="1800" dirty="0"/>
              <a:t>8 </a:t>
            </a:r>
            <a:r>
              <a:rPr lang="ja-JP" altLang="en-US" sz="1800"/>
              <a:t> elements</a:t>
            </a:r>
            <a:r>
              <a:rPr lang="en-US" altLang="en-US" sz="1800" dirty="0"/>
              <a:t> </a:t>
            </a:r>
          </a:p>
          <a:p>
            <a:pPr lvl="1">
              <a:lnSpc>
                <a:spcPct val="110000"/>
              </a:lnSpc>
            </a:pPr>
            <a:r>
              <a:rPr lang="en-US" altLang="ja-JP" sz="1800" dirty="0"/>
              <a:t>Thread 0: A[0,0:2], A[8,0:2], A[0,8:10], A[8,8:10]</a:t>
            </a:r>
            <a:r>
              <a:rPr lang="en-US" altLang="en-US" sz="1800" dirty="0"/>
              <a:t>；</a:t>
            </a:r>
            <a:r>
              <a:rPr lang="en-US" altLang="ja-JP" sz="1800" dirty="0"/>
              <a:t>Thread 1: A[0,2:4], A[8,2:4], A[0,10:12]</a:t>
            </a:r>
            <a:r>
              <a:rPr lang="en-US" altLang="en-US" sz="1800" dirty="0"/>
              <a:t>；</a:t>
            </a:r>
            <a:r>
              <a:rPr lang="en-US" altLang="ja-JP" sz="1800" dirty="0"/>
              <a:t>... </a:t>
            </a:r>
          </a:p>
          <a:p>
            <a:pPr lvl="1">
              <a:lnSpc>
                <a:spcPct val="110000"/>
              </a:lnSpc>
            </a:pPr>
            <a:endParaRPr lang="ja-JP" altLang="en-US" sz="1800"/>
          </a:p>
          <a:p>
            <a:pPr lvl="1">
              <a:lnSpc>
                <a:spcPct val="110000"/>
              </a:lnSpc>
            </a:pPr>
            <a:endParaRPr lang="ja-JP" altLang="en-US" sz="1800"/>
          </a:p>
          <a:p>
            <a:pPr>
              <a:lnSpc>
                <a:spcPct val="110000"/>
              </a:lnSpc>
            </a:pPr>
            <a:endParaRPr lang="ja-JP" altLang="en-US" sz="18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540" y="3277870"/>
            <a:ext cx="6893560" cy="307857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MMA (Matrix Multiply-Accumulate) </a:t>
            </a:r>
            <a:r>
              <a:rPr lang="ja-JP" altLang="en-US"/>
              <a:t> layout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15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/>
              <a:t>From </a:t>
            </a:r>
            <a:r>
              <a:rPr lang="en-US" dirty="0"/>
              <a:t>Blocked </a:t>
            </a:r>
            <a:r>
              <a:rPr lang="ja-JP" altLang="en-US"/>
              <a:t> to </a:t>
            </a:r>
            <a:r>
              <a:rPr lang="en-US" dirty="0"/>
              <a:t>MMA </a:t>
            </a:r>
            <a:r>
              <a:rPr lang="ja-JP" altLang="en-US"/>
              <a:t> Layout Conversion</a:t>
            </a:r>
          </a:p>
          <a:p>
            <a:pPr lvl="1"/>
            <a:r>
              <a:rPr lang="en-US" dirty="0" err="1"/>
              <a:t>ldmatrix instruction</a:t>
            </a:r>
            <a:r>
              <a:rPr lang="en-US" altLang="en-US" dirty="0"/>
              <a:t>, loads from shared memory and rearranges to MMA  layout</a:t>
            </a:r>
          </a:p>
          <a:p>
            <a:pPr lvl="1"/>
            <a:r>
              <a:rPr lang="en-US" altLang="en-US" dirty="0"/>
              <a:t>Read 8×8  matrix fragment from shared memory-&gt;</a:t>
            </a:r>
            <a:r>
              <a:rPr lang="ja-JP" altLang="en-US"/>
              <a:t>Distribute to registers of threads within the </a:t>
            </a:r>
            <a:r>
              <a:rPr lang="en-US" altLang="en-US" dirty="0"/>
              <a:t>warp </a:t>
            </a:r>
            <a:r>
              <a:rPr lang="en-US" altLang="ja-JP" dirty="0"/>
              <a:t>-&gt;</a:t>
            </a:r>
            <a:r>
              <a:rPr lang="ja-JP" altLang="en-US"/>
              <a:t>Rearrange to </a:t>
            </a:r>
            <a:r>
              <a:rPr lang="en-US" altLang="ja-JP" dirty="0"/>
              <a:t>MMA</a:t>
            </a:r>
          </a:p>
          <a:p>
            <a:r>
              <a:rPr lang="en-US" altLang="ja-JP" dirty="0"/>
              <a:t>Triton </a:t>
            </a:r>
            <a:r>
              <a:rPr lang="ja-JP" altLang="en-US"/>
              <a:t> in Triton</a:t>
            </a:r>
            <a:r>
              <a:rPr lang="en-US" altLang="ja-JP" dirty="0"/>
              <a:t>MMA </a:t>
            </a:r>
            <a:r>
              <a:rPr lang="ja-JP" altLang="en-US"/>
              <a:t> Encoding Attribute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  <a:p>
            <a:r>
              <a:rPr lang="en-US" altLang="ja-JP" dirty="0"/>
              <a:t>Triton </a:t>
            </a:r>
            <a:r>
              <a:rPr lang="ja-JP" altLang="en-US"/>
              <a:t> Layout Conversion in Triton</a:t>
            </a:r>
          </a:p>
          <a:p>
            <a:endParaRPr lang="ja-JP" altLang="en-US"/>
          </a:p>
          <a:p>
            <a:endParaRPr lang="ja-JP" altLang="en-US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91945" y="3429000"/>
            <a:ext cx="6973570" cy="11328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#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mma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#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triton_gpu.nvidia_mma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&lt;{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versionMajor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2, // MMA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version </a:t>
            </a:r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(1=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Volta, 2=Ampere, 3=Hopper)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versionMinor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0,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warpsPerCTA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[2, 2], // Warp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grid layout</a:t>
            </a:r>
          </a:p>
          <a:p>
            <a:pPr lvl="1"/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instrShape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= [16, 8, 16] // M × N × K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instruction shape</a:t>
            </a:r>
          </a:p>
          <a:p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}&gt;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1591669" y="5205730"/>
            <a:ext cx="6973846" cy="97155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From 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blocked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layout to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mma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ja-JP" altLang="en-US" sz="1200" b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layout</a:t>
            </a:r>
          </a:p>
          <a:p>
            <a:r>
              <a:rPr lang="en-US" altLang="ja-JP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%0 = 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triton_gpu.convert_layout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%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arg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: </a:t>
            </a:r>
          </a:p>
          <a:p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	tensor&lt;128x64xf16, #blocked&gt; -&gt; tensor&lt;128x64xf16, #</a:t>
            </a:r>
            <a:r>
              <a:rPr lang="en-US" sz="1200" b="0" dirty="0" err="1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mma</a:t>
            </a:r>
            <a:r>
              <a:rPr lang="en-US" sz="12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&gt;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Memory Allocation Strategies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16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Static Allocation</a:t>
            </a:r>
            <a:endParaRPr lang="en-US" dirty="0"/>
          </a:p>
          <a:p>
            <a:pPr lvl="1"/>
            <a:r>
              <a:rPr lang="ja-JP" altLang="en-US"/>
              <a:t>Compile-time allocation</a:t>
            </a:r>
            <a:r>
              <a:rPr lang="en-US" altLang="en-US" dirty="0"/>
              <a:t>，0 runtime overhead, predictable fragmentation, low flexibility</a:t>
            </a:r>
          </a:p>
          <a:p>
            <a:pPr lvl="1"/>
            <a:r>
              <a:rPr lang="ja-JP" altLang="en-US"/>
              <a:t>All tensor sizes known at compile time</a:t>
            </a:r>
            <a:endParaRPr lang="en-US" altLang="en-US" dirty="0"/>
          </a:p>
          <a:p>
            <a:r>
              <a:rPr lang="en-US" altLang="en-US" dirty="0"/>
              <a:t>Dynamic Allocation</a:t>
            </a:r>
          </a:p>
          <a:p>
            <a:pPr lvl="1"/>
            <a:r>
              <a:rPr lang="en-US" altLang="en-US" dirty="0"/>
              <a:t>Runtime allocation, with malloc overhead, high flexibility</a:t>
            </a:r>
          </a:p>
          <a:p>
            <a:r>
              <a:rPr lang="en-US" altLang="en-US" dirty="0"/>
              <a:t>ML Compiler Strategy</a:t>
            </a:r>
          </a:p>
          <a:p>
            <a:pPr lvl="1"/>
            <a:r>
              <a:rPr lang="en-US" altLang="en-US" dirty="0"/>
              <a:t>Compile-time analysis -&gt; determine tensor lifetimes -&gt; compute optimal allocation plan -&gt; generate allocation code</a:t>
            </a:r>
          </a:p>
          <a:p>
            <a:pPr lvl="1"/>
            <a:r>
              <a:rPr lang="en-US" altLang="en-US" dirty="0"/>
              <a:t>Use memory pools to support dynamic shapes</a:t>
            </a:r>
          </a:p>
          <a:p>
            <a:pPr lvl="1"/>
            <a:endParaRPr lang="en-US" altLang="en-US" dirty="0"/>
          </a:p>
          <a:p>
            <a:endParaRPr lang="ja-JP" altLang="en-US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Memory Reuse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17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/>
              <a:t>Tensors with non-overlapping lifetimes can share memory</a:t>
            </a:r>
            <a:endParaRPr lang="en-US" altLang="ja-JP" dirty="0"/>
          </a:p>
          <a:p>
            <a:pPr lvl="1"/>
            <a:r>
              <a:rPr lang="en-US" altLang="ja-JP" dirty="0"/>
              <a:t>ABC</a:t>
            </a:r>
            <a:r>
              <a:rPr lang="ja-JP" altLang="en-US"/>
              <a:t> can be reused among each other</a:t>
            </a:r>
            <a:endParaRPr lang="en-US" altLang="ja-JP" dirty="0"/>
          </a:p>
          <a:p>
            <a:pPr lvl="1"/>
            <a:r>
              <a:rPr lang="en-US" altLang="ja-JP" dirty="0"/>
              <a:t>D</a:t>
            </a:r>
            <a:r>
              <a:rPr lang="ja-JP" altLang="en-US"/>
              <a:t> and </a:t>
            </a:r>
            <a:r>
              <a:rPr lang="en-US" altLang="ja-JP" dirty="0"/>
              <a:t>ABC</a:t>
            </a:r>
            <a:r>
              <a:rPr lang="ja-JP" altLang="en-US"/>
              <a:t> cannot be reused</a:t>
            </a:r>
          </a:p>
          <a:p>
            <a:r>
              <a:rPr lang="en-US" dirty="0" err="1"/>
              <a:t>Common Algorithms</a:t>
            </a:r>
            <a:endParaRPr lang="en-US" dirty="0"/>
          </a:p>
          <a:p>
            <a:pPr lvl="1"/>
            <a:r>
              <a:rPr lang="ja-JP" altLang="en-US"/>
              <a:t>Graph Coloring</a:t>
            </a:r>
            <a:r>
              <a:rPr lang="en-US" altLang="ja-JP" dirty="0"/>
              <a:t>: </a:t>
            </a:r>
            <a:r>
              <a:rPr lang="ja-JP" altLang="en-US"/>
              <a:t> Build interference graph</a:t>
            </a:r>
            <a:r>
              <a:rPr lang="en-US" altLang="ja-JP" dirty="0"/>
              <a:t>, </a:t>
            </a:r>
            <a:r>
              <a:rPr lang="ja-JP" altLang="en-US"/>
              <a:t> minimize number of colors</a:t>
            </a:r>
          </a:p>
          <a:p>
            <a:pPr lvl="1"/>
            <a:r>
              <a:rPr lang="ja-JP" altLang="en-US"/>
              <a:t>Greedy Algorithm</a:t>
            </a:r>
            <a:r>
              <a:rPr lang="en-US" altLang="ja-JP" dirty="0"/>
              <a:t>: </a:t>
            </a:r>
            <a:r>
              <a:rPr lang="ja-JP" altLang="en-US"/>
              <a:t> Sort tensors by size</a:t>
            </a:r>
            <a:r>
              <a:rPr lang="en-US" altLang="ja-JP" dirty="0"/>
              <a:t>, </a:t>
            </a:r>
            <a:r>
              <a:rPr lang="ja-JP" altLang="en-US"/>
              <a:t> maximize reuse</a:t>
            </a:r>
          </a:p>
          <a:p>
            <a:r>
              <a:rPr lang="en-US" dirty="0"/>
              <a:t>ILP </a:t>
            </a:r>
            <a:r>
              <a:rPr lang="ja-JP" altLang="en-US"/>
              <a:t> Method</a:t>
            </a:r>
            <a:r>
              <a:rPr lang="en-US" altLang="ja-JP" dirty="0"/>
              <a:t>: </a:t>
            </a:r>
            <a:r>
              <a:rPr lang="ja-JP" altLang="en-US"/>
              <a:t> Integer Linear Programming for optimal solution</a:t>
            </a:r>
            <a:endParaRPr lang="en-US" altLang="ja-JP" dirty="0"/>
          </a:p>
          <a:p>
            <a:pPr lvl="1"/>
            <a:r>
              <a:rPr lang="ja-JP" altLang="en-US"/>
              <a:t>Minimize: </a:t>
            </a:r>
            <a:r>
              <a:rPr lang="en-US" altLang="ja-JP" dirty="0"/>
              <a:t>: max(offset[</a:t>
            </a:r>
            <a:r>
              <a:rPr lang="en-US" altLang="ja-JP" dirty="0" err="1"/>
              <a:t>i</a:t>
            </a:r>
            <a:r>
              <a:rPr lang="en-US" altLang="ja-JP" dirty="0"/>
              <a:t>] + size[</a:t>
            </a:r>
            <a:r>
              <a:rPr lang="en-US" altLang="ja-JP" dirty="0" err="1"/>
              <a:t>i</a:t>
            </a:r>
            <a:r>
              <a:rPr lang="en-US" altLang="ja-JP" dirty="0"/>
              <a:t>]) for all </a:t>
            </a:r>
            <a:r>
              <a:rPr lang="en-US" altLang="ja-JP" dirty="0" err="1"/>
              <a:t>i</a:t>
            </a:r>
            <a:endParaRPr lang="en-US" altLang="ja-JP" dirty="0"/>
          </a:p>
          <a:p>
            <a:pPr lvl="1"/>
            <a:r>
              <a:rPr lang="ja-JP" altLang="en-US"/>
              <a:t>Constraints: </a:t>
            </a:r>
            <a:r>
              <a:rPr lang="en-US" altLang="ja-JP" dirty="0"/>
              <a:t>:	</a:t>
            </a:r>
            <a:r>
              <a:rPr lang="en-US" altLang="en-US" dirty="0"/>
              <a:t>1. </a:t>
            </a:r>
            <a:r>
              <a:rPr lang="en-US" altLang="ja-JP" dirty="0"/>
              <a:t>offset[</a:t>
            </a:r>
            <a:r>
              <a:rPr lang="en-US" altLang="ja-JP" dirty="0" err="1"/>
              <a:t>i</a:t>
            </a:r>
            <a:r>
              <a:rPr lang="en-US" altLang="ja-JP" dirty="0"/>
              <a:t>] &gt;= 0 (</a:t>
            </a:r>
            <a:r>
              <a:rPr lang="ja-JP" altLang="en-US"/>
              <a:t>Non-negative offset</a:t>
            </a:r>
            <a:r>
              <a:rPr lang="en-US" altLang="ja-JP" dirty="0"/>
              <a:t>)</a:t>
            </a:r>
          </a:p>
          <a:p>
            <a:pPr lvl="1"/>
            <a:r>
              <a:rPr lang="en-US" altLang="en-US" dirty="0"/>
              <a:t>2. </a:t>
            </a:r>
            <a:r>
              <a:rPr lang="en-US" altLang="ja-JP" dirty="0"/>
              <a:t>offset[</a:t>
            </a:r>
            <a:r>
              <a:rPr lang="en-US" altLang="ja-JP" dirty="0" err="1"/>
              <a:t>i</a:t>
            </a:r>
            <a:r>
              <a:rPr lang="en-US" altLang="ja-JP" dirty="0"/>
              <a:t>] + size[</a:t>
            </a:r>
            <a:r>
              <a:rPr lang="en-US" altLang="ja-JP" dirty="0" err="1"/>
              <a:t>i</a:t>
            </a:r>
            <a:r>
              <a:rPr lang="en-US" altLang="ja-JP" dirty="0"/>
              <a:t>] &lt;= offset[j] (</a:t>
            </a:r>
            <a:r>
              <a:rPr lang="ja-JP" altLang="en-US"/>
              <a:t>if </a:t>
            </a:r>
            <a:r>
              <a:rPr lang="en-US" altLang="ja-JP" dirty="0" err="1"/>
              <a:t>i</a:t>
            </a:r>
            <a:r>
              <a:rPr lang="en-US" altLang="ja-JP" dirty="0"/>
              <a:t>, j </a:t>
            </a:r>
            <a:r>
              <a:rPr lang="ja-JP" altLang="en-US"/>
              <a:t> non-overlapping and </a:t>
            </a:r>
            <a:r>
              <a:rPr lang="en-US" altLang="ja-JP" dirty="0" err="1"/>
              <a:t>i</a:t>
            </a:r>
            <a:r>
              <a:rPr lang="en-US" altLang="ja-JP" dirty="0"/>
              <a:t> </a:t>
            </a:r>
            <a:r>
              <a:rPr lang="ja-JP" altLang="en-US"/>
              <a:t> precedes</a:t>
            </a:r>
            <a:r>
              <a:rPr lang="en-US" altLang="ja-JP" dirty="0"/>
              <a:t>)</a:t>
            </a:r>
            <a:r>
              <a:rPr lang="en-US" altLang="en-US" dirty="0"/>
              <a:t> </a:t>
            </a:r>
            <a:r>
              <a:rPr lang="ja-JP" altLang="en-US"/>
              <a:t> or </a:t>
            </a:r>
            <a:r>
              <a:rPr lang="en-US" altLang="ja-JP" dirty="0"/>
              <a:t>offset[j] + size[j] &lt;= offset[</a:t>
            </a:r>
            <a:r>
              <a:rPr lang="en-US" altLang="ja-JP" dirty="0" err="1"/>
              <a:t>i</a:t>
            </a:r>
            <a:r>
              <a:rPr lang="en-US" altLang="ja-JP" dirty="0"/>
              <a:t>] (</a:t>
            </a:r>
            <a:r>
              <a:rPr lang="ja-JP" altLang="en-US"/>
              <a:t>if </a:t>
            </a:r>
            <a:r>
              <a:rPr lang="en-US" altLang="ja-JP" dirty="0"/>
              <a:t>j </a:t>
            </a:r>
            <a:r>
              <a:rPr lang="ja-JP" altLang="en-US"/>
              <a:t> precedes</a:t>
            </a:r>
            <a:r>
              <a:rPr lang="en-US" altLang="ja-JP" dirty="0"/>
              <a:t>)</a:t>
            </a:r>
          </a:p>
          <a:p>
            <a:pPr lvl="1"/>
            <a:r>
              <a:rPr lang="en-US" altLang="en-US" dirty="0"/>
              <a:t>3. </a:t>
            </a:r>
            <a:r>
              <a:rPr lang="ja-JP" altLang="en-US"/>
              <a:t>Tensors with overlapping lifetimes must have distinct address spaces</a:t>
            </a:r>
          </a:p>
          <a:p>
            <a:endParaRPr lang="ja-JP" altLang="en-US"/>
          </a:p>
          <a:p>
            <a:pPr lvl="1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981698" y="1868170"/>
            <a:ext cx="5223510" cy="10972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Tensor A: ████████████</a:t>
            </a:r>
          </a:p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Tensor B: 			</a:t>
            </a:r>
            <a:r>
              <a:rPr lang="en-US" alt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████████████</a:t>
            </a:r>
          </a:p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Tensor C: 						</a:t>
            </a:r>
            <a:r>
              <a:rPr lang="en-US" alt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██████████</a:t>
            </a:r>
          </a:p>
          <a:p>
            <a:r>
              <a:rPr lang="en-US" sz="1400" b="0" dirty="0">
                <a:solidFill>
                  <a:srgbClr val="E4E4E4"/>
                </a:solidFill>
                <a:effectLst/>
                <a:latin typeface="Menlo" panose="020B0609030804020204" pitchFamily="49" charset="0"/>
              </a:rPr>
              <a:t>Tensor D: 		████████████████████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Tensor Rematerialization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/>
              <a:t>Image Source: Capuchin: Tensor-based GPU Memory Management for Deep Learning</a:t>
            </a:r>
          </a:p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18</a:t>
            </a:fld>
            <a:endParaRPr lang="en-US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GPU </a:t>
            </a:r>
            <a:r>
              <a:rPr lang="ja-JP" altLang="en-US"/>
              <a:t> memory insufficient to store all intermediate tensors</a:t>
            </a:r>
          </a:p>
          <a:p>
            <a:r>
              <a:rPr lang="ja-JP" altLang="en-US"/>
              <a:t>Selectively discard and recompute</a:t>
            </a:r>
          </a:p>
          <a:p>
            <a:pPr lvl="1"/>
            <a:r>
              <a:rPr lang="en-US" dirty="0"/>
              <a:t>Input-&gt;A-&gt;B-&gt;C-&gt;Output</a:t>
            </a:r>
          </a:p>
          <a:p>
            <a:pPr lvl="1"/>
            <a:r>
              <a:rPr lang="ja-JP" altLang="en-US"/>
              <a:t>Do not store </a:t>
            </a:r>
            <a:r>
              <a:rPr lang="en-US" dirty="0"/>
              <a:t>A</a:t>
            </a:r>
            <a:r>
              <a:rPr lang="en-US" altLang="en-US" dirty="0"/>
              <a:t>, retain B and C for backward pass</a:t>
            </a:r>
            <a:endParaRPr lang="en-US" dirty="0"/>
          </a:p>
          <a:p>
            <a:pPr lvl="1"/>
            <a:r>
              <a:rPr lang="ja-JP" altLang="en-US"/>
              <a:t>Recompute during backward pass: </a:t>
            </a:r>
            <a:r>
              <a:rPr lang="en-US" dirty="0"/>
              <a:t>A</a:t>
            </a:r>
          </a:p>
          <a:p>
            <a:r>
              <a:rPr lang="en-US" dirty="0" err="1"/>
              <a:t>Optimization Objective</a:t>
            </a:r>
            <a:r>
              <a:rPr lang="en-US" altLang="en-US" dirty="0"/>
              <a:t>: Minimize (computation time +  peak memory)</a:t>
            </a:r>
          </a:p>
          <a:p>
            <a:pPr lvl="1"/>
            <a:r>
              <a:rPr lang="ja-JP" altLang="en-US"/>
              <a:t>Runtime dynamic decision-making</a:t>
            </a:r>
            <a:endParaRPr lang="en-US" altLang="ja-JP" dirty="0"/>
          </a:p>
          <a:p>
            <a:pPr lvl="1"/>
            <a:r>
              <a:rPr lang="ja-JP" altLang="en-US"/>
              <a:t>Optimization problem solving</a:t>
            </a:r>
            <a:endParaRPr lang="en-US" alt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973" y="4325122"/>
            <a:ext cx="4932237" cy="154608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Layout and Memory Planning Optimization Strategies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19</a:t>
            </a:fld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Layout Conversion</a:t>
            </a:r>
            <a:endParaRPr lang="en-US" dirty="0"/>
          </a:p>
          <a:p>
            <a:pPr lvl="1"/>
            <a:r>
              <a:rPr lang="ja-JP" altLang="en-US"/>
              <a:t>Defer conversions as late as possible</a:t>
            </a:r>
          </a:p>
          <a:p>
            <a:pPr lvl="1"/>
            <a:r>
              <a:rPr lang="ja-JP" altLang="en-US"/>
              <a:t>Detect and remove redundant conversions</a:t>
            </a:r>
          </a:p>
          <a:p>
            <a:pPr lvl="1"/>
            <a:r>
              <a:rPr lang="ja-JP" altLang="en-US"/>
              <a:t>Merge adjacent conversions</a:t>
            </a:r>
            <a:endParaRPr lang="en-US" altLang="ja-JP" dirty="0"/>
          </a:p>
          <a:p>
            <a:r>
              <a:rPr lang="ja-JP" altLang="en-US"/>
              <a:t>Prefer layouts favorable to dominant operations</a:t>
            </a:r>
          </a:p>
          <a:p>
            <a:pPr lvl="1"/>
            <a:r>
              <a:rPr lang="ja-JP" altLang="en-US"/>
              <a:t>Consider the entire computation graph</a:t>
            </a:r>
            <a:r>
              <a:rPr lang="en-US" altLang="ja-JP" dirty="0"/>
              <a:t>, </a:t>
            </a:r>
            <a:r>
              <a:rPr lang="ja-JP" altLang="en-US"/>
              <a:t>not just individual operators</a:t>
            </a:r>
          </a:p>
          <a:p>
            <a:r>
              <a:rPr lang="ja-JP" altLang="en-US"/>
              <a:t>Reduce Conversions</a:t>
            </a:r>
            <a:endParaRPr lang="en-US" altLang="ja-JP" dirty="0"/>
          </a:p>
          <a:p>
            <a:pPr lvl="1"/>
            <a:r>
              <a:rPr lang="ja-JP" altLang="en-US"/>
              <a:t>Unify to the same layout</a:t>
            </a:r>
          </a:p>
          <a:p>
            <a:pPr lvl="1"/>
            <a:r>
              <a:rPr lang="ja-JP" altLang="en-US"/>
              <a:t>Perform conversions at compute-intensive points</a:t>
            </a:r>
          </a:p>
          <a:p>
            <a:pPr lvl="1"/>
            <a:endParaRPr lang="ja-JP" altLang="en-US"/>
          </a:p>
          <a:p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Combined with Dead</a:t>
            </a:r>
            <a:r>
              <a:rPr lang="en-US" altLang="en-US" dirty="0"/>
              <a:t> Code Elimination</a:t>
            </a:r>
          </a:p>
          <a:p>
            <a:pPr lvl="1"/>
            <a:r>
              <a:rPr lang="ja-JP" altLang="en-US"/>
              <a:t>Reduce memory allocation</a:t>
            </a:r>
            <a:r>
              <a:rPr lang="en-US" altLang="ja-JP" dirty="0"/>
              <a:t>: </a:t>
            </a:r>
            <a:r>
              <a:rPr lang="ja-JP" altLang="en-US"/>
              <a:t>Remove dead variables -&gt; no allocation needed</a:t>
            </a:r>
            <a:endParaRPr lang="en-US" altLang="ja-JP" dirty="0"/>
          </a:p>
          <a:p>
            <a:pPr lvl="1"/>
            <a:r>
              <a:rPr lang="ja-JP" altLang="en-US"/>
              <a:t>Shorten lifetimes</a:t>
            </a:r>
            <a:r>
              <a:rPr lang="en-US" altLang="ja-JP" dirty="0"/>
              <a:t>: </a:t>
            </a:r>
            <a:r>
              <a:rPr lang="ja-JP" altLang="en-US"/>
              <a:t>Remove useless operations -&gt; free memory earlier</a:t>
            </a:r>
            <a:endParaRPr lang="en-US" altLang="ja-JP" dirty="0"/>
          </a:p>
          <a:p>
            <a:pPr lvl="1"/>
            <a:r>
              <a:rPr lang="ja-JP" altLang="en-US"/>
              <a:t>Enable more reuse</a:t>
            </a:r>
            <a:r>
              <a:rPr lang="en-US" altLang="ja-JP" dirty="0"/>
              <a:t>: </a:t>
            </a:r>
            <a:r>
              <a:rPr lang="ja-JP" altLang="en-US"/>
              <a:t>Shorter lifetimes -&gt; more reuse opportunities</a:t>
            </a:r>
          </a:p>
          <a:p>
            <a:pPr lvl="1"/>
            <a:endParaRPr lang="ja-JP" altLang="en-US"/>
          </a:p>
          <a:p>
            <a:pPr lvl="1"/>
            <a:endParaRPr lang="ja-JP" altLang="en-US"/>
          </a:p>
          <a:p>
            <a:pPr lvl="1"/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 err="1"/>
              <a:t>Hands-on</a:t>
            </a:r>
            <a:r>
              <a:rPr lang="en-US" dirty="0" err="1"/>
              <a:t> Lab</a:t>
            </a:r>
            <a:r>
              <a:rPr lang="en-US" altLang="en-US" dirty="0"/>
              <a:t>: Comparing Operator Performance Under Different Layout  Layouts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20</a:t>
            </a:fld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VjMjNiN2ZkZTMzMDA4ZWE3OTY1NzI2MTg5NDIzY2IifQ=="/>
  <p:tag name="KSO_WPP_MARK_KEY" val="bcc4c946-421a-4a56-a7c9-e84bf867b56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封面</Template>
  <TotalTime>0</TotalTime>
  <Words>2031</Words>
  <Application>Microsoft Office PowerPoint</Application>
  <PresentationFormat>宽屏</PresentationFormat>
  <Paragraphs>283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Menlo</vt:lpstr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24：Layout and Memory Planning</vt:lpstr>
      <vt:lpstr>GPU  Memory Hierarchy</vt:lpstr>
      <vt:lpstr>GPU Memory Transaction Mechanism</vt:lpstr>
      <vt:lpstr>GPU Memory Transaction Mechanism</vt:lpstr>
      <vt:lpstr>GPU Memory Transaction Mechanism</vt:lpstr>
      <vt:lpstr>Matrix Access: Row-Major vs  Column-Major</vt:lpstr>
      <vt:lpstr>GPU Shared Memory</vt:lpstr>
      <vt:lpstr>GPU Shared Memory</vt:lpstr>
      <vt:lpstr>Resolving Bank Conflict</vt:lpstr>
      <vt:lpstr>Triton Automatic Layout Optimization</vt:lpstr>
      <vt:lpstr>Tensor Layout</vt:lpstr>
      <vt:lpstr>Triton  Layout Encoding</vt:lpstr>
      <vt:lpstr>MMA (Matrix Multiply-Accumulate)  Layout</vt:lpstr>
      <vt:lpstr>MMA (Matrix Multiply-Accumulate)  layout</vt:lpstr>
      <vt:lpstr>Memory Allocation Strategies</vt:lpstr>
      <vt:lpstr>Memory Reuse</vt:lpstr>
      <vt:lpstr>Tensor Rematerialization</vt:lpstr>
      <vt:lpstr>Layout and Memory Planning Optimization Strategies</vt:lpstr>
      <vt:lpstr>Hands-on Lab: Comparing Operator Performance Under Different Layout  Layouts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容错域量子EDA研究</dc:title>
  <dc:creator>王丰</dc:creator>
  <cp:lastModifiedBy>Xiang Li</cp:lastModifiedBy>
  <cp:revision>1622</cp:revision>
  <dcterms:created xsi:type="dcterms:W3CDTF">2026-03-13T02:56:00Z</dcterms:created>
  <dcterms:modified xsi:type="dcterms:W3CDTF">2026-03-17T14:54:24Z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924826DFE40CD9B08FE28F699C5B3061_43</vt:lpwstr>
  </property>
  <property fmtid="{D5CDD505-2E9C-101B-9397-08002B2CF9AE}" pid="3" name="KSOProductBuildVer">
    <vt:lpwstr>2052-12.1.0.19302</vt:lpwstr>
  </property>
</Properties>
</file>