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33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9" r:id="rId22"/>
    <p:sldId id="280" r:id="rId23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E781C4E-AC06-48FD-845F-A2D2DCA824F6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8B0012"/>
              </a:solidFill>
            </a:ln>
          </a:top>
          <a:bottom>
            <a:ln w="12700" cmpd="sng">
              <a:solidFill>
                <a:srgbClr val="8B0012"/>
              </a:solidFill>
            </a:ln>
          </a:bottom>
          <a:insideH>
            <a:ln w="9525" cmpd="sng">
              <a:solidFill>
                <a:srgbClr val="8B0012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8B0012">
              <a:lumMod val="10000"/>
              <a:lumOff val="90000"/>
            </a:srgb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8B0012"/>
              </a:solidFill>
            </a:ln>
          </a:top>
          <a:bottom>
            <a:ln w="12700" cmpd="sng">
              <a:solidFill>
                <a:srgbClr val="8B0012"/>
              </a:solidFill>
            </a:ln>
          </a:bottom>
          <a:insideH>
            <a:ln w="9525" cmpd="sng">
              <a:solidFill>
                <a:srgbClr val="8B0012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8B0012">
              <a:lumMod val="10000"/>
              <a:lumOff val="90000"/>
            </a:srgb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8B0012"/>
              </a:solidFill>
            </a:ln>
          </a:top>
          <a:bottom>
            <a:ln w="12700" cmpd="sng">
              <a:solidFill>
                <a:srgbClr val="8B0012"/>
              </a:solidFill>
            </a:ln>
          </a:bottom>
          <a:insideH>
            <a:ln w="9525" cmpd="sng">
              <a:solidFill>
                <a:srgbClr val="8B0012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8B0012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8B0012"/>
              </a:solidFill>
            </a:ln>
          </a:top>
          <a:bottom>
            <a:ln w="12700" cmpd="sng">
              <a:solidFill>
                <a:srgbClr val="8B0012"/>
              </a:solidFill>
            </a:ln>
          </a:bottom>
          <a:insideH>
            <a:ln w="9525" cmpd="sng">
              <a:solidFill>
                <a:srgbClr val="8B0012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8B0012">
              <a:lumMod val="20000"/>
              <a:lumOff val="80000"/>
            </a:srgbClr>
          </a:solidFill>
        </a:fill>
      </a:tcStyle>
    </a:firstCol>
    <a:lastRow>
      <a:tcTxStyle b="on">
        <a:fontRef idx="none">
          <a:srgbClr val="8B0012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8B0012">
                  <a:lumMod val="40000"/>
                  <a:lumOff val="60000"/>
                </a:srgbClr>
              </a:solidFill>
            </a:ln>
          </a:top>
          <a:bottom>
            <a:ln w="12700" cmpd="sng">
              <a:solidFill>
                <a:srgbClr val="8B001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8B0012">
                  <a:lumMod val="40000"/>
                  <a:lumOff val="60000"/>
                </a:srgbClr>
              </a:solidFill>
            </a:ln>
          </a:top>
          <a:bottom>
            <a:ln w="12700" cmpd="sng">
              <a:solidFill>
                <a:srgbClr val="8B001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8B0012">
                  <a:lumMod val="40000"/>
                  <a:lumOff val="60000"/>
                </a:srgbClr>
              </a:solidFill>
            </a:ln>
          </a:top>
          <a:bottom>
            <a:ln w="12700" cmpd="sng">
              <a:solidFill>
                <a:srgbClr val="8B001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/>
        <a:fill>
          <a:solidFill>
            <a:srgbClr val="8B001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442" autoAdjust="0"/>
  </p:normalViewPr>
  <p:slideViewPr>
    <p:cSldViewPr snapToGrid="0" snapToObjects="1">
      <p:cViewPr varScale="1">
        <p:scale>
          <a:sx n="50" d="100"/>
          <a:sy n="50" d="100"/>
        </p:scale>
        <p:origin x="10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7367475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80576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image" Target="../media/image18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2.xml"/><Relationship Id="rId21" Type="http://schemas.openxmlformats.org/officeDocument/2006/relationships/image" Target="../media/image21.png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image" Target="../media/image20.png"/><Relationship Id="rId29" Type="http://schemas.openxmlformats.org/officeDocument/2006/relationships/image" Target="../media/image25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23" Type="http://schemas.openxmlformats.org/officeDocument/2006/relationships/image" Target="../media/image23.png"/><Relationship Id="rId28" Type="http://schemas.openxmlformats.org/officeDocument/2006/relationships/image" Target="../media/image24.jpeg"/><Relationship Id="rId10" Type="http://schemas.openxmlformats.org/officeDocument/2006/relationships/tags" Target="../tags/tag19.xml"/><Relationship Id="rId19" Type="http://schemas.openxmlformats.org/officeDocument/2006/relationships/image" Target="../media/image19.png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image" Target="../media/image22.png"/><Relationship Id="rId27" Type="http://schemas.openxmlformats.org/officeDocument/2006/relationships/hyperlink" Target="https://flagos.io/Home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Lecture 26: Multi-Chip Backend Support II </a:t>
            </a:r>
            <a:br>
              <a:rPr lang="en-US" altLang="zh-CN"/>
            </a:br>
            <a:r>
              <a:rPr lang="en-US" altLang="zh-CN"/>
              <a:t>(Runtime Integration)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Runtime </a:t>
            </a:r>
            <a:r>
              <a:rPr lang="zh-CN" altLang="en-US"/>
              <a:t>Multi-Backend Support Layer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https://github.com/flagos-ai/KernelGen/blob/main/AtenOperator.md, visualized by Claucd Sonnet 4.6 Extended.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198235" cy="485330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/>
              <a:t>Necessity</a:t>
            </a:r>
          </a:p>
          <a:p>
            <a:pPr lvl="1">
              <a:lnSpc>
                <a:spcPct val="150000"/>
              </a:lnSpc>
            </a:pPr>
            <a:r>
              <a:rPr lang="zh-CN" altLang="en-US" sz="1600"/>
              <a:t>Taking</a:t>
            </a:r>
            <a:r>
              <a:rPr lang="en-US" altLang="zh-CN" sz="1600"/>
              <a:t> PyTorch </a:t>
            </a:r>
            <a:r>
              <a:rPr lang="zh-CN" altLang="en-US" sz="1600"/>
              <a:t> as an example, the native framework contains over</a:t>
            </a:r>
            <a:r>
              <a:rPr lang="en-US" altLang="zh-CN" sz="1600"/>
              <a:t> 2600 </a:t>
            </a:r>
            <a:r>
              <a:rPr lang="zh-CN" altLang="en-US" sz="1600"/>
              <a:t> low-level operators</a:t>
            </a:r>
            <a:r>
              <a:rPr lang="en-US" altLang="zh-CN" sz="1600"/>
              <a:t> </a:t>
            </a:r>
            <a:r>
              <a:rPr lang="zh-CN" altLang="en-US" sz="1600"/>
              <a:t>.</a:t>
            </a:r>
          </a:p>
          <a:p>
            <a:pPr lvl="1">
              <a:lnSpc>
                <a:spcPct val="150000"/>
              </a:lnSpc>
            </a:pPr>
            <a:r>
              <a:rPr lang="zh-CN" altLang="en-US" sz="1600"/>
              <a:t>For hardware vendors to integrate, the traditional approach requires writing</a:t>
            </a:r>
            <a:r>
              <a:rPr lang="en-US" altLang="zh-CN" sz="1600"/>
              <a:t> C++ </a:t>
            </a:r>
            <a:r>
              <a:rPr lang="zh-CN" altLang="en-US" sz="1600"/>
              <a:t> backend implementations one by one and modifying the framework's core code.</a:t>
            </a:r>
          </a:p>
          <a:p>
            <a:pPr lvl="1">
              <a:lnSpc>
                <a:spcPct val="150000"/>
              </a:lnSpc>
            </a:pPr>
            <a:r>
              <a:rPr lang="zh-CN" altLang="en-US" sz="1600"/>
              <a:t>The ecosystem is severely fragmented, and the cost of compute migration is extremely high.</a:t>
            </a:r>
          </a:p>
          <a:p>
            <a:pPr>
              <a:lnSpc>
                <a:spcPct val="150000"/>
              </a:lnSpc>
            </a:pPr>
            <a:r>
              <a:rPr lang="en-US" altLang="zh-CN" sz="1800"/>
              <a:t>FlagTree/FlagGems </a:t>
            </a:r>
            <a:r>
              <a:rPr lang="zh-CN" altLang="en-US" sz="1800"/>
              <a:t>Solution Approach</a:t>
            </a:r>
          </a:p>
          <a:p>
            <a:pPr lvl="1">
              <a:lnSpc>
                <a:spcPct val="150000"/>
              </a:lnSpc>
            </a:pPr>
            <a:r>
              <a:rPr lang="zh-CN" altLang="en-US" sz="1600"/>
              <a:t>Decouple compile-time and runtime through a unified</a:t>
            </a:r>
            <a:r>
              <a:rPr lang="en-US" altLang="zh-CN" sz="1600"/>
              <a:t> Runtime </a:t>
            </a:r>
            <a:r>
              <a:rPr lang="zh-CN" altLang="en-US" sz="1600"/>
              <a:t>.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6904355" y="1457960"/>
            <a:ext cx="4897120" cy="4396105"/>
            <a:chOff x="11175" y="1952"/>
            <a:chExt cx="7712" cy="6923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75" y="1952"/>
              <a:ext cx="7711" cy="5435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75" y="7387"/>
              <a:ext cx="7713" cy="1488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Runtime </a:t>
            </a:r>
            <a:r>
              <a:rPr lang="zh-CN" altLang="en-US"/>
              <a:t>System Responsibility Boundaries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https://www.techtarget.com/searchsoftwarequality/definition/runtime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913880" cy="485330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000"/>
              <a:t>Device Management:</a:t>
            </a:r>
            <a:r>
              <a:rPr lang="en-US" altLang="zh-CN" sz="2000"/>
              <a:t> </a:t>
            </a:r>
            <a:r>
              <a:rPr lang="zh-CN" altLang="en-US" sz="2000"/>
              <a:t>Initialization and state maintenance of hardware contexts.</a:t>
            </a:r>
            <a:endParaRPr lang="en-US" altLang="zh-CN" sz="2000"/>
          </a:p>
          <a:p>
            <a:pPr>
              <a:lnSpc>
                <a:spcPct val="110000"/>
              </a:lnSpc>
            </a:pPr>
            <a:r>
              <a:rPr lang="zh-CN" altLang="en-US" sz="2000"/>
              <a:t>Memory Scheduling:</a:t>
            </a:r>
            <a:r>
              <a:rPr lang="en-US" altLang="zh-CN" sz="2000"/>
              <a:t> </a:t>
            </a:r>
            <a:r>
              <a:rPr lang="zh-CN" altLang="en-US" sz="2000"/>
              <a:t>Managing the allocation and deallocation of device memory.</a:t>
            </a:r>
            <a:endParaRPr lang="en-US" altLang="zh-CN" sz="2000"/>
          </a:p>
          <a:p>
            <a:pPr>
              <a:lnSpc>
                <a:spcPct val="110000"/>
              </a:lnSpc>
            </a:pPr>
            <a:r>
              <a:rPr lang="zh-CN" altLang="en-US" sz="2000"/>
              <a:t>Data Transfer:</a:t>
            </a:r>
            <a:r>
              <a:rPr lang="en-US" altLang="zh-CN" sz="2000"/>
              <a:t> </a:t>
            </a:r>
            <a:r>
              <a:rPr lang="zh-CN" altLang="en-US" sz="2000"/>
              <a:t>Host-to-Device (</a:t>
            </a:r>
            <a:r>
              <a:rPr lang="en-US" altLang="zh-CN" sz="2000"/>
              <a:t>H2D</a:t>
            </a:r>
            <a:r>
              <a:rPr lang="zh-CN" altLang="en-US" sz="2000"/>
              <a:t>) and Device-to-Host (</a:t>
            </a:r>
            <a:r>
              <a:rPr lang="en-US" altLang="zh-CN" sz="2000"/>
              <a:t>D2H</a:t>
            </a:r>
            <a:r>
              <a:rPr lang="zh-CN" altLang="en-US" sz="2000"/>
              <a:t>) data movement.</a:t>
            </a:r>
            <a:endParaRPr lang="en-US" altLang="zh-CN" sz="2000"/>
          </a:p>
          <a:p>
            <a:pPr>
              <a:lnSpc>
                <a:spcPct val="110000"/>
              </a:lnSpc>
            </a:pPr>
            <a:r>
              <a:rPr lang="zh-CN" altLang="en-US" sz="2000"/>
              <a:t>Instruction Dispatch:</a:t>
            </a:r>
            <a:r>
              <a:rPr lang="en-US" altLang="zh-CN" sz="2000"/>
              <a:t> </a:t>
            </a:r>
          </a:p>
          <a:p>
            <a:pPr lvl="1">
              <a:lnSpc>
                <a:spcPct val="110000"/>
              </a:lnSpc>
            </a:pPr>
            <a:r>
              <a:rPr lang="zh-CN" altLang="en-US" sz="1800"/>
              <a:t>Distributing compiled kernel binaries to the correct physical devices and synchronizing execution streams.</a:t>
            </a:r>
          </a:p>
          <a:p>
            <a:pPr lvl="1">
              <a:lnSpc>
                <a:spcPct val="110000"/>
              </a:lnSpc>
            </a:pPr>
            <a:r>
              <a:rPr lang="zh-CN" altLang="en-US" sz="1800"/>
              <a:t>Providing a highly abstracted layer of</a:t>
            </a:r>
            <a:r>
              <a:rPr lang="en-US" altLang="zh-CN" sz="1800"/>
              <a:t> API </a:t>
            </a:r>
            <a:r>
              <a:rPr lang="zh-CN" altLang="en-US" sz="1800"/>
              <a:t> Wrapping</a:t>
            </a:r>
            <a:r>
              <a:rPr lang="en-US" altLang="zh-CN" sz="1800"/>
              <a:t>,</a:t>
            </a:r>
            <a:r>
              <a:rPr lang="zh-CN" altLang="en-US" sz="1800"/>
              <a:t> shielding the vast differences in low-level driver</a:t>
            </a:r>
            <a:r>
              <a:rPr lang="en-US" altLang="zh-CN" sz="1800"/>
              <a:t> API </a:t>
            </a:r>
            <a:r>
              <a:rPr lang="zh-CN" altLang="en-US" sz="1800"/>
              <a:t>s across different hardware vendors</a:t>
            </a:r>
            <a:r>
              <a:rPr lang="en-US" altLang="zh-CN" sz="1800"/>
              <a:t>.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l="10168" t="22724" r="10191" b="12149"/>
          <a:stretch>
            <a:fillRect/>
          </a:stretch>
        </p:blipFill>
        <p:spPr>
          <a:xfrm>
            <a:off x="7439660" y="1630045"/>
            <a:ext cx="4361815" cy="35979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API </a:t>
            </a:r>
            <a:r>
              <a:rPr lang="zh-CN" altLang="en-US"/>
              <a:t>Wrapping Paradigm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https://github.com/pytorch/pytorch/issues/139602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356985" cy="485330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>
                <a:sym typeface="+mn-ea"/>
              </a:rPr>
              <a:t>Case Study</a:t>
            </a:r>
            <a:r>
              <a:rPr lang="en-US" altLang="zh-CN" sz="1800">
                <a:sym typeface="+mn-ea"/>
              </a:rPr>
              <a:t>: FlagGems</a:t>
            </a:r>
            <a:r>
              <a:rPr lang="zh-CN" altLang="en-US" sz="1800">
                <a:sym typeface="+mn-ea"/>
              </a:rPr>
              <a:t>'s</a:t>
            </a:r>
            <a:r>
              <a:rPr lang="en-US" altLang="zh-CN" sz="1800">
                <a:sym typeface="+mn-ea"/>
              </a:rPr>
              <a:t> ATen </a:t>
            </a:r>
            <a:r>
              <a:rPr lang="zh-CN" altLang="en-US" sz="1800">
                <a:sym typeface="+mn-ea"/>
              </a:rPr>
              <a:t> Transparent Interception</a:t>
            </a:r>
          </a:p>
          <a:p>
            <a:pPr lvl="1">
              <a:lnSpc>
                <a:spcPct val="150000"/>
              </a:lnSpc>
            </a:pPr>
            <a:r>
              <a:rPr lang="zh-CN" altLang="en-US" sz="1600"/>
              <a:t>Design Philosophy:</a:t>
            </a:r>
            <a:r>
              <a:rPr lang="en-US" altLang="zh-CN" sz="1600"/>
              <a:t> </a:t>
            </a:r>
            <a:r>
              <a:rPr lang="zh-CN" altLang="en-US" sz="1600"/>
              <a:t>Avoid modifying users' existing model code; expose a fully consistent</a:t>
            </a:r>
            <a:r>
              <a:rPr lang="en-US" altLang="zh-CN" sz="1600"/>
              <a:t> API</a:t>
            </a:r>
            <a:r>
              <a:rPr lang="zh-CN" altLang="en-US" sz="1600"/>
              <a:t>.</a:t>
            </a:r>
            <a:endParaRPr lang="en-US" altLang="zh-CN" sz="1600"/>
          </a:p>
          <a:p>
            <a:pPr lvl="1">
              <a:lnSpc>
                <a:spcPct val="150000"/>
              </a:lnSpc>
            </a:pPr>
            <a:r>
              <a:rPr lang="zh-CN" altLang="en-US" sz="1600"/>
              <a:t>Out-of-Tree Registration Mechanism:</a:t>
            </a:r>
            <a:r>
              <a:rPr lang="en-US" altLang="zh-CN" sz="1600"/>
              <a:t> FlagGems </a:t>
            </a:r>
            <a:r>
              <a:rPr lang="zh-CN" altLang="en-US" sz="1600"/>
              <a:t> leverages</a:t>
            </a:r>
            <a:r>
              <a:rPr lang="en-US" altLang="zh-CN" sz="1600"/>
              <a:t> torch.Library </a:t>
            </a:r>
            <a:r>
              <a:rPr lang="zh-CN" altLang="en-US" sz="1600"/>
              <a:t> and other low-level</a:t>
            </a:r>
            <a:r>
              <a:rPr lang="en-US" altLang="zh-CN" sz="1600"/>
              <a:t> API </a:t>
            </a:r>
            <a:r>
              <a:rPr lang="zh-CN" altLang="en-US" sz="1600"/>
              <a:t> for out-of-tree (</a:t>
            </a:r>
            <a:r>
              <a:rPr lang="en-US" altLang="zh-CN" sz="1600"/>
              <a:t>Out-of-tree</a:t>
            </a:r>
            <a:r>
              <a:rPr lang="zh-CN" altLang="en-US" sz="1600"/>
              <a:t>) extension</a:t>
            </a:r>
            <a:r>
              <a:rPr lang="en-US" altLang="zh-CN" sz="1600"/>
              <a:t> </a:t>
            </a:r>
            <a:r>
              <a:rPr lang="zh-CN" altLang="en-US" sz="1600"/>
              <a:t>.</a:t>
            </a:r>
            <a:endParaRPr lang="en-US" altLang="zh-CN" sz="1600"/>
          </a:p>
          <a:p>
            <a:pPr lvl="1">
              <a:lnSpc>
                <a:spcPct val="150000"/>
              </a:lnSpc>
            </a:pPr>
            <a:r>
              <a:rPr lang="zh-CN" altLang="en-US" sz="1600"/>
              <a:t>Interception Workflow:</a:t>
            </a:r>
            <a:r>
              <a:rPr lang="en-US" altLang="zh-CN" sz="1600"/>
              <a:t> </a:t>
            </a:r>
            <a:r>
              <a:rPr lang="zh-CN" altLang="en-US" sz="1600"/>
              <a:t> Intercept native</a:t>
            </a:r>
            <a:r>
              <a:rPr lang="en-US" altLang="zh-CN" sz="1600"/>
              <a:t> ATen </a:t>
            </a:r>
            <a:r>
              <a:rPr lang="zh-CN" altLang="en-US" sz="1600"/>
              <a:t> operator calls</a:t>
            </a:r>
            <a:r>
              <a:rPr lang="en-US" altLang="zh-CN" sz="1600"/>
              <a:t> -&gt; </a:t>
            </a:r>
            <a:r>
              <a:rPr lang="zh-CN" altLang="en-US" sz="1600"/>
              <a:t> Provide backend-specific</a:t>
            </a:r>
            <a:r>
              <a:rPr lang="en-US" altLang="zh-CN" sz="1600"/>
              <a:t> Triton </a:t>
            </a:r>
            <a:r>
              <a:rPr lang="zh-CN" altLang="en-US" sz="1600"/>
              <a:t> implementation</a:t>
            </a:r>
            <a:r>
              <a:rPr lang="en-US" altLang="zh-CN" sz="1600"/>
              <a:t> -&gt; </a:t>
            </a:r>
            <a:r>
              <a:rPr lang="zh-CN" altLang="en-US" sz="1600"/>
              <a:t> Forcibly override native behavior</a:t>
            </a:r>
            <a:r>
              <a:rPr lang="en-US" altLang="zh-CN" sz="1600"/>
              <a:t> </a:t>
            </a:r>
            <a:r>
              <a:rPr lang="zh-CN" altLang="en-US" sz="1600"/>
              <a:t>.</a:t>
            </a:r>
            <a:endParaRPr lang="en-US" altLang="zh-CN" sz="1600"/>
          </a:p>
          <a:p>
            <a:pPr lvl="1">
              <a:lnSpc>
                <a:spcPct val="150000"/>
              </a:lnSpc>
            </a:pPr>
            <a:r>
              <a:rPr lang="zh-CN" altLang="en-US" sz="1600"/>
              <a:t>Enable seamless compute migration for model developers</a:t>
            </a:r>
            <a:r>
              <a:rPr lang="en-US" altLang="zh-CN" sz="1600"/>
              <a:t>,</a:t>
            </a:r>
            <a:r>
              <a:rPr lang="zh-CN" altLang="en-US" sz="1600"/>
              <a:t> without modifying any existing code.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800" y="803275"/>
            <a:ext cx="4662170" cy="55530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ReducingOverhead:</a:t>
            </a:r>
            <a:r>
              <a:rPr lang="en-US" altLang="zh-CN"/>
              <a:t>Runtime </a:t>
            </a:r>
            <a:r>
              <a:rPr lang="zh-CN" altLang="en-US"/>
              <a:t>Optimization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236335" cy="485330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/>
              <a:t>Problem:</a:t>
            </a:r>
            <a:r>
              <a:rPr lang="en-US" altLang="zh-CN" sz="2000"/>
              <a:t> </a:t>
            </a:r>
            <a:r>
              <a:rPr lang="zh-CN" altLang="en-US" sz="2000"/>
              <a:t> Frequent</a:t>
            </a:r>
            <a:r>
              <a:rPr lang="en-US" altLang="zh-CN" sz="2000"/>
              <a:t> Python API </a:t>
            </a:r>
            <a:r>
              <a:rPr lang="zh-CN" altLang="en-US" sz="2000"/>
              <a:t> calls and Just-In-Time compilation (</a:t>
            </a:r>
            <a:r>
              <a:rPr lang="en-US" altLang="zh-CN" sz="2000"/>
              <a:t>JIT</a:t>
            </a:r>
            <a:r>
              <a:rPr lang="zh-CN" altLang="en-US" sz="2000"/>
              <a:t>) introduce significant runtime overhead.</a:t>
            </a:r>
            <a:endParaRPr lang="en-US" altLang="zh-CN" sz="2000"/>
          </a:p>
          <a:p>
            <a:pPr>
              <a:lnSpc>
                <a:spcPct val="150000"/>
              </a:lnSpc>
            </a:pPr>
            <a:r>
              <a:rPr lang="zh-CN" altLang="en-US" sz="2000"/>
              <a:t>Solution:</a:t>
            </a:r>
            <a:r>
              <a:rPr lang="en-US" altLang="zh-CN" sz="2000"/>
              <a:t> </a:t>
            </a:r>
            <a:r>
              <a:rPr lang="zh-CN" altLang="en-US" sz="2000"/>
              <a:t>Introduce</a:t>
            </a:r>
            <a:r>
              <a:rPr lang="en-US" altLang="zh-CN" sz="2000"/>
              <a:t> </a:t>
            </a:r>
            <a:r>
              <a:rPr lang="en-US" altLang="zh-CN" sz="2000">
                <a:sym typeface="+mn-ea"/>
              </a:rPr>
              <a:t>LibEntry</a:t>
            </a:r>
            <a:r>
              <a:rPr lang="en-US" altLang="zh-CN" sz="2000"/>
              <a:t> </a:t>
            </a:r>
            <a:r>
              <a:rPr lang="zh-CN" altLang="en-US" sz="2000"/>
              <a:t> runtime wrapper.</a:t>
            </a:r>
            <a:endParaRPr lang="en-US" altLang="zh-CN" sz="2000"/>
          </a:p>
          <a:p>
            <a:pPr>
              <a:lnSpc>
                <a:spcPct val="150000"/>
              </a:lnSpc>
            </a:pPr>
            <a:r>
              <a:rPr lang="zh-CN" altLang="en-US" sz="2000"/>
              <a:t>Advantages:</a:t>
            </a:r>
            <a:r>
              <a:rPr lang="en-US" altLang="zh-CN" sz="2000"/>
              <a:t> </a:t>
            </a:r>
            <a:r>
              <a:rPr lang="zh-CN" altLang="en-US" sz="2000"/>
              <a:t> Eliminate</a:t>
            </a:r>
            <a:r>
              <a:rPr lang="en-US" altLang="zh-CN" sz="2000"/>
              <a:t> Python GIL </a:t>
            </a:r>
            <a:r>
              <a:rPr lang="zh-CN" altLang="en-US" sz="2000"/>
              <a:t> contention.</a:t>
            </a:r>
            <a:endParaRPr lang="en-US" altLang="zh-CN" sz="2000"/>
          </a:p>
          <a:p>
            <a:pPr>
              <a:lnSpc>
                <a:spcPct val="150000"/>
              </a:lnSpc>
            </a:pPr>
            <a:r>
              <a:rPr lang="zh-CN" altLang="en-US" sz="2000"/>
              <a:t>Fully offload operator wrapping logic, registration mechanisms, and execution stream management to the</a:t>
            </a:r>
            <a:r>
              <a:rPr lang="en-US" altLang="zh-CN" sz="2000"/>
              <a:t> C++ </a:t>
            </a:r>
            <a:r>
              <a:rPr lang="zh-CN" altLang="en-US" sz="2000"/>
              <a:t> layer, deeply integrating</a:t>
            </a:r>
            <a:r>
              <a:rPr lang="en-US" altLang="zh-CN" sz="2000"/>
              <a:t> CUDA/</a:t>
            </a:r>
            <a:r>
              <a:rPr lang="zh-CN" altLang="en-US" sz="2000"/>
              <a:t>low-level driver workflows</a:t>
            </a:r>
            <a:r>
              <a:rPr lang="en-US" altLang="zh-CN" sz="2000"/>
              <a:t> </a:t>
            </a:r>
            <a:r>
              <a:rPr lang="zh-CN" altLang="en-US" sz="2000"/>
              <a:t>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055" y="1624330"/>
            <a:ext cx="4820285" cy="39630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Environment Variable-Driven Backend Routing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https://github.com/flagos-ai/FlagGems/blob/master/docs/how_to_use_flaggems.md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sz="2000"/>
              <a:t>FlagTree </a:t>
            </a:r>
            <a:r>
              <a:rPr lang="zh-CN" altLang="en-US" sz="2000"/>
              <a:t> compiler and</a:t>
            </a:r>
            <a:r>
              <a:rPr lang="en-US" altLang="zh-CN" sz="2000"/>
              <a:t> FlagGems </a:t>
            </a:r>
            <a:r>
              <a:rPr lang="zh-CN" altLang="en-US" sz="2000"/>
              <a:t> operator library integrate over</a:t>
            </a:r>
            <a:r>
              <a:rPr lang="en-US" altLang="zh-CN" sz="2000"/>
              <a:t> 10 </a:t>
            </a:r>
            <a:r>
              <a:rPr lang="zh-CN" altLang="en-US" sz="2000"/>
              <a:t> hardware platforms</a:t>
            </a:r>
            <a:r>
              <a:rPr lang="en-US" altLang="zh-CN" sz="2000"/>
              <a:t>:</a:t>
            </a:r>
          </a:p>
          <a:p>
            <a:pPr lvl="1">
              <a:lnSpc>
                <a:spcPct val="110000"/>
              </a:lnSpc>
            </a:pPr>
            <a:r>
              <a:rPr lang="en-US" altLang="zh-CN" sz="1800"/>
              <a:t>NVIDIA GPU</a:t>
            </a:r>
            <a:r>
              <a:rPr lang="zh-CN" altLang="en-US" sz="1800"/>
              <a:t>, Kunlunxin (</a:t>
            </a:r>
            <a:r>
              <a:rPr lang="en-US" altLang="zh-CN" sz="1800"/>
              <a:t>Kunlunxin</a:t>
            </a:r>
            <a:r>
              <a:rPr lang="zh-CN" altLang="en-US" sz="1800"/>
              <a:t>), Iluvatar (</a:t>
            </a:r>
            <a:r>
              <a:rPr lang="en-US" altLang="zh-CN" sz="1800"/>
              <a:t>Iluvatar</a:t>
            </a:r>
            <a:r>
              <a:rPr lang="zh-CN" altLang="en-US" sz="1800"/>
              <a:t>), MetaX (</a:t>
            </a:r>
            <a:r>
              <a:rPr lang="en-US" altLang="zh-CN" sz="1800"/>
              <a:t>MetaX</a:t>
            </a:r>
            <a:r>
              <a:rPr lang="zh-CN" altLang="en-US" sz="1800"/>
              <a:t>), Moore Threads (</a:t>
            </a:r>
            <a:r>
              <a:rPr lang="en-US" altLang="zh-CN" sz="1800"/>
              <a:t>MThreads</a:t>
            </a:r>
            <a:r>
              <a:rPr lang="zh-CN" altLang="en-US" sz="1800"/>
              <a:t>), Huawei Ascend (</a:t>
            </a:r>
            <a:r>
              <a:rPr lang="en-US" altLang="zh-CN" sz="1800"/>
              <a:t>Ascend</a:t>
            </a:r>
            <a:r>
              <a:rPr lang="zh-CN" altLang="en-US" sz="1800"/>
              <a:t>), and Tsingmicro (</a:t>
            </a:r>
            <a:r>
              <a:rPr lang="en-US" altLang="zh-CN" sz="1800"/>
              <a:t>Tsingmicro</a:t>
            </a:r>
            <a:r>
              <a:rPr lang="zh-CN" altLang="en-US" sz="1800"/>
              <a:t>) and other</a:t>
            </a:r>
            <a:r>
              <a:rPr lang="en-US" altLang="zh-CN" sz="1800"/>
              <a:t>.</a:t>
            </a:r>
            <a:endParaRPr lang="zh-CN" altLang="en-US" sz="1800"/>
          </a:p>
          <a:p>
            <a:pPr>
              <a:lnSpc>
                <a:spcPct val="110000"/>
              </a:lnSpc>
            </a:pPr>
            <a:r>
              <a:rPr lang="en-US" altLang="zh-CN" sz="2000"/>
              <a:t>Lazy Loading </a:t>
            </a:r>
            <a:r>
              <a:rPr lang="zh-CN" altLang="en-US" sz="2000"/>
              <a:t>Lazy Loading backend support:</a:t>
            </a:r>
          </a:p>
          <a:p>
            <a:pPr lvl="1">
              <a:lnSpc>
                <a:spcPct val="110000"/>
              </a:lnSpc>
            </a:pPr>
            <a:r>
              <a:rPr lang="zh-CN" altLang="en-US" sz="1800"/>
              <a:t>The user interface is unified as</a:t>
            </a:r>
            <a:r>
              <a:rPr lang="en-US" altLang="zh-CN" sz="1800"/>
              <a:t> </a:t>
            </a:r>
            <a:r>
              <a:rPr lang="en-US" altLang="zh-CN" sz="1800">
                <a:latin typeface="Courier New Regular" panose="02070409020205090404" charset="0"/>
                <a:cs typeface="Courier New Regular" panose="02070409020205090404" charset="0"/>
              </a:rPr>
              <a:t>import flag_gems; flag_gems.enable()</a:t>
            </a:r>
            <a:r>
              <a:rPr lang="en-US" altLang="zh-CN" sz="1800"/>
              <a:t> </a:t>
            </a:r>
            <a:r>
              <a:rPr lang="zh-CN" altLang="en-US" sz="1800"/>
              <a:t>.</a:t>
            </a:r>
            <a:endParaRPr lang="en-US" altLang="zh-CN" sz="1800"/>
          </a:p>
          <a:p>
            <a:pPr>
              <a:lnSpc>
                <a:spcPct val="110000"/>
              </a:lnSpc>
            </a:pPr>
            <a:r>
              <a:rPr lang="zh-CN" altLang="en-US" sz="2000"/>
              <a:t>Auto-detection and Manual Override:</a:t>
            </a:r>
            <a:r>
              <a:rPr lang="en-US" altLang="zh-CN" sz="2000"/>
              <a:t> </a:t>
            </a:r>
            <a:r>
              <a:rPr lang="zh-CN" altLang="en-US" sz="2000"/>
              <a:t> The system attempts to automatically detect hardware; if it fails, it relies on environment variables</a:t>
            </a:r>
            <a:r>
              <a:rPr lang="en-US" altLang="zh-CN" sz="2000"/>
              <a:t> </a:t>
            </a:r>
            <a:r>
              <a:rPr lang="zh-CN" altLang="en-US" sz="2000"/>
              <a:t>.</a:t>
            </a:r>
            <a:endParaRPr lang="en-US" altLang="zh-CN" sz="2000"/>
          </a:p>
          <a:p>
            <a:pPr>
              <a:lnSpc>
                <a:spcPct val="110000"/>
              </a:lnSpc>
            </a:pPr>
            <a:r>
              <a:rPr lang="zh-CN" altLang="en-US" sz="2000"/>
              <a:t>Routing Switch:</a:t>
            </a:r>
            <a:r>
              <a:rPr lang="en-US" altLang="zh-CN" sz="2000"/>
              <a:t> </a:t>
            </a:r>
            <a:r>
              <a:rPr lang="zh-CN" altLang="en-US" sz="2000"/>
              <a:t> Use</a:t>
            </a:r>
            <a:r>
              <a:rPr lang="en-US" altLang="zh-CN" sz="2000"/>
              <a:t> export GEMS_VENDOR=&lt;vendor_name&gt; </a:t>
            </a:r>
            <a:r>
              <a:rPr lang="zh-CN" altLang="en-US" sz="2000"/>
              <a:t> to forcibly specify the dispatch target (e.g.,</a:t>
            </a:r>
            <a:r>
              <a:rPr lang="en-US" altLang="zh-CN" sz="2000"/>
              <a:t> nvidia, tsingmicro</a:t>
            </a:r>
            <a:r>
              <a:rPr lang="zh-CN" altLang="en-US" sz="2000"/>
              <a:t>).</a:t>
            </a:r>
            <a:endParaRPr lang="en-US" altLang="zh-CN" sz="2000"/>
          </a:p>
          <a:p>
            <a:pPr>
              <a:lnSpc>
                <a:spcPct val="110000"/>
              </a:lnSpc>
            </a:pPr>
            <a:r>
              <a:rPr lang="zh-CN" altLang="en-US" sz="2000"/>
              <a:t>Ensure strict isolation of multi-branch physical files to reduce code conflicts.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FlagGems </a:t>
            </a:r>
            <a:r>
              <a:rPr lang="zh-CN" altLang="en-US"/>
              <a:t>Hardware Specialization Priority Dispatch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https://github.com/flagos-ai/FlagGems/blob/master/src/flag_gems/runtime/backend/_tsingmicro/heuristics_config_utils.py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674485" cy="4853305"/>
          </a:xfrm>
        </p:spPr>
        <p:txBody>
          <a:bodyPr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/>
              <a:t> Generic</a:t>
            </a:r>
            <a:r>
              <a:rPr lang="en-US" altLang="zh-CN" sz="2000"/>
              <a:t> MLIR </a:t>
            </a:r>
            <a:r>
              <a:rPr lang="zh-CN" altLang="en-US" sz="2000"/>
              <a:t> lowering code is functionally correct but may not achieve the specific hardware's optimal performance.</a:t>
            </a:r>
            <a:endParaRPr lang="en-US" altLang="zh-CN" sz="2000"/>
          </a:p>
          <a:p>
            <a:pPr>
              <a:lnSpc>
                <a:spcPct val="140000"/>
              </a:lnSpc>
            </a:pPr>
            <a:r>
              <a:rPr lang="zh-CN" altLang="en-US" sz="2000"/>
              <a:t>Specialization Dispatch Logic:</a:t>
            </a:r>
            <a:r>
              <a:rPr lang="en-US" altLang="zh-CN" sz="2000"/>
              <a:t> </a:t>
            </a:r>
            <a:r>
              <a:rPr lang="zh-CN" altLang="en-US" sz="2000"/>
              <a:t> Before dispatch, the system first checks whether vendor-optimized versions exist under</a:t>
            </a:r>
            <a:r>
              <a:rPr lang="en-US" altLang="zh-CN" sz="2000"/>
              <a:t> backend/&lt;vendor&gt;/ops/ </a:t>
            </a:r>
            <a:r>
              <a:rPr lang="zh-CN" altLang="en-US" sz="2000"/>
              <a:t> or</a:t>
            </a:r>
            <a:r>
              <a:rPr lang="en-US" altLang="zh-CN" sz="2000"/>
              <a:t> fused/  </a:t>
            </a:r>
            <a:r>
              <a:rPr lang="zh-CN" altLang="en-US" sz="2000"/>
              <a:t>.</a:t>
            </a:r>
            <a:endParaRPr lang="en-US" altLang="zh-CN" sz="2000"/>
          </a:p>
          <a:p>
            <a:pPr>
              <a:lnSpc>
                <a:spcPct val="140000"/>
              </a:lnSpc>
            </a:pPr>
            <a:r>
              <a:rPr lang="zh-CN" altLang="en-US" sz="2000"/>
              <a:t>If a specialized version exists, the generic cross-platform logic is short-circuited (</a:t>
            </a:r>
            <a:r>
              <a:rPr lang="en-US" altLang="zh-CN" sz="2000"/>
              <a:t>Short-circuit</a:t>
            </a:r>
            <a:r>
              <a:rPr lang="zh-CN" altLang="en-US" sz="2000"/>
              <a:t>), routing directly to the specialized code.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545" y="1323975"/>
            <a:ext cx="4300855" cy="4526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Case Analysis: Tsingmicro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https://docs.pytorch.org/docs/stable/generated/torch.nn.CrossEntropyLoss.html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521450" cy="4853305"/>
          </a:xfrm>
        </p:spPr>
        <p:txBody>
          <a:bodyPr>
            <a:normAutofit lnSpcReduction="10000"/>
          </a:bodyPr>
          <a:lstStyle/>
          <a:p>
            <a:r>
              <a:rPr lang="zh-CN" altLang="en-US"/>
              <a:t>Cross-Entropy is central to </a:t>
            </a:r>
            <a:r>
              <a:rPr lang="en-US" altLang="zh-CN"/>
              <a:t>LLM</a:t>
            </a:r>
            <a:r>
              <a:rPr lang="zh-CN" altLang="en-US"/>
              <a:t> training.</a:t>
            </a:r>
          </a:p>
          <a:p>
            <a:r>
              <a:rPr lang="zh-CN" altLang="en-US"/>
              <a:t>Mathematical Expansion: </a:t>
            </a:r>
          </a:p>
          <a:p>
            <a:pPr lvl="1"/>
            <a:r>
              <a:rPr lang="zh-CN" altLang="en-US"/>
              <a:t>Hidden state projection to compute</a:t>
            </a:r>
            <a:r>
              <a:rPr lang="en-US" altLang="zh-CN"/>
              <a:t> Logits -&gt; Softmax </a:t>
            </a:r>
            <a:r>
              <a:rPr lang="zh-CN" altLang="en-US"/>
              <a:t> normalization extraction</a:t>
            </a:r>
            <a:r>
              <a:rPr lang="en-US" altLang="zh-CN"/>
              <a:t> -&gt; </a:t>
            </a:r>
            <a:r>
              <a:rPr lang="zh-CN" altLang="en-US"/>
              <a:t> negative log-likelihood evaluation.</a:t>
            </a:r>
          </a:p>
          <a:p>
            <a:r>
              <a:rPr lang="zh-CN" altLang="en-US"/>
              <a:t> Modern</a:t>
            </a:r>
            <a:r>
              <a:rPr lang="en-US" altLang="zh-CN"/>
              <a:t> LLM </a:t>
            </a:r>
            <a:r>
              <a:rPr lang="zh-CN" altLang="en-US"/>
              <a:t> have large vocabulary sizes (</a:t>
            </a:r>
            <a:r>
              <a:rPr lang="en-US" altLang="zh-CN"/>
              <a:t>32K-128K</a:t>
            </a:r>
            <a:r>
              <a:rPr lang="zh-CN" altLang="en-US"/>
              <a:t>), making intermediate variable matrices grow significantly.</a:t>
            </a:r>
          </a:p>
          <a:p>
            <a:pPr lvl="1"/>
            <a:r>
              <a:rPr lang="zh-CN" altLang="en-US"/>
              <a:t>Default Execution</a:t>
            </a:r>
            <a:r>
              <a:rPr lang="en-US" altLang="zh-CN"/>
              <a:t>:</a:t>
            </a:r>
            <a:r>
              <a:rPr lang="zh-CN" altLang="en-US"/>
              <a:t>Replace</a:t>
            </a:r>
            <a:r>
              <a:rPr lang="zh-CN" altLang="en-US">
                <a:sym typeface="+mn-ea"/>
              </a:rPr>
              <a:t>intermediate variable matrices back to</a:t>
            </a:r>
            <a:r>
              <a:rPr lang="en-US" altLang="zh-CN">
                <a:sym typeface="+mn-ea"/>
              </a:rPr>
              <a:t> HBM,</a:t>
            </a:r>
            <a:r>
              <a:rPr lang="zh-CN" altLang="en-US">
                <a:sym typeface="+mn-ea"/>
              </a:rPr>
              <a:t> and reload them for the next computation.</a:t>
            </a:r>
            <a:r>
              <a:rPr lang="en-US" altLang="zh-CN">
                <a:sym typeface="+mn-ea"/>
              </a:rPr>
              <a:t>.</a:t>
            </a:r>
          </a:p>
          <a:p>
            <a:pPr lvl="1"/>
            <a:r>
              <a:rPr lang="zh-CN" altLang="en-US">
                <a:sym typeface="+mn-ea"/>
              </a:rPr>
              <a:t>Memory access becomes a bottleneck</a:t>
            </a:r>
            <a:r>
              <a:rPr lang="en-US" altLang="zh-CN">
                <a:sym typeface="+mn-ea"/>
              </a:rPr>
              <a:t>,</a:t>
            </a:r>
            <a:r>
              <a:rPr lang="zh-CN" altLang="en-US">
                <a:sym typeface="+mn-ea"/>
              </a:rPr>
              <a:t>significant waste of compute resources</a:t>
            </a:r>
            <a:r>
              <a:rPr lang="en-US" altLang="zh-CN">
                <a:sym typeface="+mn-ea"/>
              </a:rPr>
              <a:t>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540" y="1627505"/>
            <a:ext cx="4402455" cy="427799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Case Analysis: Tsingmicro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Code Location</a:t>
            </a:r>
            <a:r>
              <a:rPr lang="en-US" altLang="zh-CN" dirty="0">
                <a:sym typeface="+mn-ea"/>
              </a:rPr>
              <a:t>: src/flag_gems/runtime/backend/_tsingmicro/fused/cross_entropy_loss.py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sz="2000"/>
              <a:t>Online </a:t>
            </a:r>
            <a:r>
              <a:rPr lang="en-US" altLang="zh-CN" sz="2000">
                <a:sym typeface="+mn-ea"/>
              </a:rPr>
              <a:t>Log-Sum-Exp </a:t>
            </a:r>
            <a:r>
              <a:rPr lang="zh-CN" altLang="en-US" sz="2000">
                <a:sym typeface="+mn-ea"/>
              </a:rPr>
              <a:t> Algorithm</a:t>
            </a:r>
            <a:endParaRPr lang="zh-CN" altLang="en-US" sz="2000"/>
          </a:p>
          <a:p>
            <a:pPr lvl="1"/>
            <a:r>
              <a:rPr lang="zh-CN" altLang="en-US" sz="1800"/>
              <a:t>Tsingmicro implements a specialized fused linear cross-entropy</a:t>
            </a:r>
            <a:r>
              <a:rPr lang="en-US" altLang="zh-CN" sz="1800"/>
              <a:t> Triton </a:t>
            </a:r>
            <a:r>
              <a:rPr lang="zh-CN" altLang="en-US" sz="1800"/>
              <a:t> kernel</a:t>
            </a:r>
            <a:r>
              <a:rPr lang="en-US" altLang="zh-CN" sz="1800"/>
              <a:t>.</a:t>
            </a:r>
          </a:p>
          <a:p>
            <a:pPr lvl="1"/>
            <a:r>
              <a:rPr lang="zh-CN" altLang="en-US" sz="1800"/>
              <a:t>Avoid materializing intermediate</a:t>
            </a:r>
            <a:r>
              <a:rPr lang="en-US" altLang="zh-CN" sz="1800"/>
              <a:t> Logits </a:t>
            </a:r>
            <a:r>
              <a:rPr lang="zh-CN" altLang="en-US" sz="1800"/>
              <a:t> tensor materialization</a:t>
            </a:r>
            <a:r>
              <a:rPr lang="en-US" altLang="zh-CN" sz="1800"/>
              <a:t>,</a:t>
            </a:r>
            <a:r>
              <a:rPr lang="zh-CN" altLang="en-US" sz="1800"/>
              <a:t> leverages</a:t>
            </a:r>
            <a:r>
              <a:rPr lang="en-US" altLang="zh-CN" sz="1800"/>
              <a:t> SRAM </a:t>
            </a:r>
            <a:r>
              <a:rPr lang="zh-CN" altLang="en-US" sz="1800"/>
              <a:t> to perform efficient</a:t>
            </a:r>
            <a:r>
              <a:rPr lang="en-US" altLang="zh-CN" sz="1800"/>
              <a:t> Online LSE.</a:t>
            </a:r>
          </a:p>
          <a:p>
            <a:pPr lvl="1"/>
            <a:r>
              <a:rPr lang="zh-CN" altLang="en-US" sz="1800"/>
              <a:t>Optimize with Tsingmicro chip-specific shared memory management instructions and warp (</a:t>
            </a:r>
            <a:r>
              <a:rPr lang="en-US" altLang="zh-CN" sz="1800"/>
              <a:t>Warp</a:t>
            </a:r>
            <a:r>
              <a:rPr lang="zh-CN" altLang="en-US" sz="1800"/>
              <a:t>) synchronization strategies for optimization</a:t>
            </a:r>
            <a:r>
              <a:rPr lang="en-US" altLang="zh-CN" sz="1800"/>
              <a:t>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935" y="3429000"/>
            <a:ext cx="2995930" cy="27482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005" y="3429000"/>
            <a:ext cx="5142865" cy="27476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Case Analysis: Tsingmicro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https://docs.flagos.io/en/latest/overview.html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sz="2000"/>
              <a:t>System-Level Significance of Specialization Priority</a:t>
            </a:r>
          </a:p>
          <a:p>
            <a:pPr lvl="1"/>
            <a:r>
              <a:rPr lang="zh-CN" altLang="en-US" sz="1800"/>
              <a:t> An advanced</a:t>
            </a:r>
            <a:r>
              <a:rPr lang="en-US" altLang="zh-CN" sz="1800"/>
              <a:t> Runtime </a:t>
            </a:r>
            <a:r>
              <a:rPr lang="zh-CN" altLang="en-US" sz="1800"/>
              <a:t> integration mechanism is essentially a router that intelligently balances generality and specialization.</a:t>
            </a:r>
          </a:p>
          <a:p>
            <a:pPr lvl="1"/>
            <a:r>
              <a:rPr lang="en-US" altLang="zh-CN" sz="1800"/>
              <a:t>FlagTree </a:t>
            </a:r>
            <a:r>
              <a:rPr lang="zh-CN" altLang="en-US" sz="1800"/>
              <a:t> is responsible for generic graph lowering and code generation (generalization)</a:t>
            </a:r>
            <a:r>
              <a:rPr lang="en-US" altLang="zh-CN" sz="1800"/>
              <a:t>.</a:t>
            </a:r>
          </a:p>
          <a:p>
            <a:pPr lvl="1"/>
            <a:r>
              <a:rPr lang="en-US" altLang="zh-CN" sz="1800"/>
              <a:t>FlagGems </a:t>
            </a:r>
            <a:r>
              <a:rPr lang="zh-CN" altLang="en-US" sz="1800"/>
              <a:t>'s</a:t>
            </a:r>
            <a:r>
              <a:rPr lang="en-US" altLang="zh-CN" sz="1800"/>
              <a:t> Backend </a:t>
            </a:r>
            <a:r>
              <a:rPr lang="zh-CN" altLang="en-US" sz="1800"/>
              <a:t> folder provides a</a:t>
            </a:r>
            <a:r>
              <a:rPr lang="en-US" altLang="zh-CN" sz="1800"/>
              <a:t> </a:t>
            </a:r>
            <a:r>
              <a:rPr lang="en-US" altLang="zh-CN" sz="1800">
                <a:sym typeface="+mn-ea"/>
              </a:rPr>
              <a:t>Short-circuit</a:t>
            </a:r>
            <a:r>
              <a:rPr lang="zh-CN" altLang="en-US" sz="1800"/>
              <a:t> (specialization</a:t>
            </a:r>
            <a:r>
              <a:rPr lang="en-US" altLang="zh-CN" sz="1800"/>
              <a:t>).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745" y="3155315"/>
            <a:ext cx="5858510" cy="302196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010535" y="4478020"/>
            <a:ext cx="1993265" cy="1699260"/>
          </a:xfrm>
          <a:prstGeom prst="rect">
            <a:avLst/>
          </a:prstGeom>
          <a:noFill/>
          <a:ln w="38100">
            <a:solidFill>
              <a:srgbClr val="8B001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8B001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Lab: Adding a New Hardware Backend to</a:t>
            </a:r>
            <a:r>
              <a:rPr lang="en-US" altLang="zh-CN"/>
              <a:t> FlagTree 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https://github.com/flagos-ai/FlagTree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418580" cy="485330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/>
              <a:t>Lab Description: New Chip</a:t>
            </a:r>
            <a:r>
              <a:rPr lang="en-US" altLang="zh-CN" sz="2000"/>
              <a:t> NeuroX </a:t>
            </a:r>
            <a:r>
              <a:rPr lang="zh-CN" altLang="en-US" sz="2000"/>
              <a:t> Integration Plan</a:t>
            </a:r>
          </a:p>
          <a:p>
            <a:pPr lvl="1">
              <a:lnSpc>
                <a:spcPct val="150000"/>
              </a:lnSpc>
            </a:pPr>
            <a:r>
              <a:rPr lang="zh-CN" altLang="en-US" sz="1800"/>
              <a:t>Lab Objective:</a:t>
            </a:r>
            <a:r>
              <a:rPr lang="en-US" altLang="zh-CN" sz="1800"/>
              <a:t> </a:t>
            </a:r>
            <a:r>
              <a:rPr lang="zh-CN" altLang="en-US" sz="1800"/>
              <a:t> Learn how to use</a:t>
            </a:r>
            <a:r>
              <a:rPr lang="en-US" altLang="zh-CN" sz="1800"/>
              <a:t> FlagGems </a:t>
            </a:r>
            <a:r>
              <a:rPr lang="zh-CN" altLang="en-US" sz="1800"/>
              <a:t> plugin mechanism to add Runtime backend support for a fictional new</a:t>
            </a:r>
            <a:r>
              <a:rPr lang="en-US" altLang="zh-CN" sz="1800"/>
              <a:t> AI </a:t>
            </a:r>
            <a:r>
              <a:rPr lang="zh-CN" altLang="en-US" sz="1800"/>
              <a:t> chip</a:t>
            </a:r>
            <a:r>
              <a:rPr lang="en-US" altLang="zh-CN" sz="1800"/>
              <a:t> NeuroX </a:t>
            </a:r>
            <a:r>
              <a:rPr lang="zh-CN" altLang="en-US" sz="1800"/>
              <a:t> and add</a:t>
            </a:r>
            <a:r>
              <a:rPr lang="en-US" altLang="zh-CN" sz="1800"/>
              <a:t> Runtime </a:t>
            </a:r>
            <a:r>
              <a:rPr lang="zh-CN" altLang="en-US" sz="1800"/>
              <a:t> backend support.</a:t>
            </a:r>
            <a:endParaRPr lang="en-US" altLang="zh-CN" sz="1800"/>
          </a:p>
          <a:p>
            <a:pPr lvl="1">
              <a:lnSpc>
                <a:spcPct val="150000"/>
              </a:lnSpc>
            </a:pPr>
            <a:r>
              <a:rPr lang="zh-CN" altLang="en-US" sz="1800"/>
              <a:t>Applicable Scenario:</a:t>
            </a:r>
            <a:r>
              <a:rPr lang="en-US" altLang="zh-CN" sz="1800"/>
              <a:t> </a:t>
            </a:r>
            <a:r>
              <a:rPr lang="zh-CN" altLang="en-US" sz="1800"/>
              <a:t> Simulate the real engineering process of a chip vendor integrating into a unified large model infrastructure.</a:t>
            </a:r>
            <a:endParaRPr lang="en-US" altLang="zh-CN" sz="1800"/>
          </a:p>
          <a:p>
            <a:pPr lvl="1">
              <a:lnSpc>
                <a:spcPct val="150000"/>
              </a:lnSpc>
            </a:pPr>
            <a:r>
              <a:rPr lang="zh-CN" altLang="en-US" sz="1800"/>
              <a:t>Core Requirements:</a:t>
            </a:r>
            <a:r>
              <a:rPr lang="en-US" altLang="zh-CN" sz="1800"/>
              <a:t> </a:t>
            </a:r>
            <a:r>
              <a:rPr lang="zh-CN" altLang="en-US" sz="1800"/>
              <a:t> Follow unified</a:t>
            </a:r>
            <a:r>
              <a:rPr lang="en-US" altLang="zh-CN" sz="1800"/>
              <a:t> API </a:t>
            </a:r>
            <a:r>
              <a:rPr lang="zh-CN" altLang="en-US" sz="1800"/>
              <a:t> wrapping and enable independent maintenance.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155" y="1932305"/>
            <a:ext cx="4956175" cy="42449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Lab Phase 1: Low-Level Compilation Support and Build Environment Initialization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000"/>
              <a:t>Confirm that the underlying</a:t>
            </a:r>
            <a:r>
              <a:rPr lang="en-US" altLang="zh-CN" sz="2000"/>
              <a:t> FlagTree </a:t>
            </a:r>
            <a:r>
              <a:rPr lang="zh-CN" altLang="en-US" sz="2000"/>
              <a:t> compiler has merged the target chip's branch.</a:t>
            </a:r>
            <a:endParaRPr lang="en-US" altLang="zh-CN" sz="2000"/>
          </a:p>
          <a:p>
            <a:pPr>
              <a:lnSpc>
                <a:spcPct val="120000"/>
              </a:lnSpc>
            </a:pPr>
            <a:r>
              <a:rPr lang="zh-CN" altLang="en-US" sz="2000"/>
              <a:t>Set host environment variables to force routing directives to the detection mechanism:</a:t>
            </a:r>
          </a:p>
          <a:p>
            <a:pPr lvl="1">
              <a:lnSpc>
                <a:spcPct val="120000"/>
              </a:lnSpc>
            </a:pPr>
            <a:r>
              <a:rPr lang="en-US" altLang="zh-CN" sz="1800">
                <a:latin typeface="Courier New Regular" panose="02070409020205090404" charset="0"/>
                <a:cs typeface="Courier New Regular" panose="02070409020205090404" charset="0"/>
              </a:rPr>
              <a:t>export FLAGTREE_BACKEND=neurox</a:t>
            </a:r>
          </a:p>
          <a:p>
            <a:pPr lvl="1">
              <a:lnSpc>
                <a:spcPct val="120000"/>
              </a:lnSpc>
            </a:pPr>
            <a:r>
              <a:rPr lang="en-US" altLang="zh-CN" sz="1800">
                <a:latin typeface="Courier New Regular" panose="02070409020205090404" charset="0"/>
                <a:cs typeface="Courier New Regular" panose="02070409020205090404" charset="0"/>
              </a:rPr>
              <a:t>export GEMS_VENDOR=neurox </a:t>
            </a:r>
          </a:p>
          <a:p>
            <a:pPr>
              <a:lnSpc>
                <a:spcPct val="120000"/>
              </a:lnSpc>
            </a:pPr>
            <a:r>
              <a:rPr lang="zh-CN" altLang="en-US" sz="2000"/>
              <a:t>Execute in the source root directory:</a:t>
            </a:r>
            <a:r>
              <a:rPr lang="en-US" altLang="zh-CN" sz="2000"/>
              <a:t> </a:t>
            </a:r>
            <a:r>
              <a:rPr lang="en-US" altLang="zh-CN" sz="2000">
                <a:latin typeface="Courier New Regular" panose="02070409020205090404" charset="0"/>
                <a:cs typeface="Courier New Regular" panose="02070409020205090404" charset="0"/>
              </a:rPr>
              <a:t>pip install --no-build-isolation -e.</a:t>
            </a:r>
            <a:r>
              <a:rPr lang="en-US" altLang="zh-CN" sz="2000"/>
              <a:t> </a:t>
            </a:r>
            <a:r>
              <a:rPr lang="zh-CN" altLang="en-US" sz="2000"/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Lab Phase 2: Building the Hardware Plugin Directory Architecture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/>
              <a:t>Under</a:t>
            </a:r>
            <a:r>
              <a:rPr lang="en-US" altLang="zh-CN" sz="2000"/>
              <a:t> src/flag_gems/runtime/backend/ </a:t>
            </a:r>
            <a:r>
              <a:rPr lang="zh-CN" altLang="en-US" sz="2000"/>
              <a:t>, strictly create an independent namespace</a:t>
            </a:r>
            <a:r>
              <a:rPr lang="en-US" altLang="zh-CN" sz="2000"/>
              <a:t> _neurox </a:t>
            </a:r>
            <a:r>
              <a:rPr lang="zh-CN" altLang="en-US" sz="2000"/>
              <a:t>.</a:t>
            </a:r>
            <a:endParaRPr lang="en-US" altLang="zh-CN" sz="2000"/>
          </a:p>
          <a:p>
            <a:pPr>
              <a:lnSpc>
                <a:spcPct val="120000"/>
              </a:lnSpc>
            </a:pPr>
            <a:r>
              <a:rPr lang="zh-CN" altLang="en-US" sz="2000"/>
              <a:t>Directory structure breakdown:</a:t>
            </a:r>
            <a:endParaRPr lang="en-US" altLang="zh-CN" sz="2000"/>
          </a:p>
          <a:p>
            <a:pPr lvl="1">
              <a:lnSpc>
                <a:spcPct val="120000"/>
              </a:lnSpc>
            </a:pPr>
            <a:r>
              <a:rPr lang="en-US" altLang="zh-CN" sz="1800"/>
              <a:t>__init__.py</a:t>
            </a:r>
            <a:r>
              <a:rPr lang="zh-CN" altLang="en-US" sz="1800"/>
              <a:t>: Registration binding layer.</a:t>
            </a:r>
            <a:endParaRPr lang="en-US" altLang="zh-CN" sz="1800"/>
          </a:p>
          <a:p>
            <a:pPr lvl="1">
              <a:lnSpc>
                <a:spcPct val="120000"/>
              </a:lnSpc>
            </a:pPr>
            <a:r>
              <a:rPr lang="en-US" altLang="zh-CN" sz="1800"/>
              <a:t>device.py</a:t>
            </a:r>
            <a:r>
              <a:rPr lang="zh-CN" altLang="en-US" sz="1800"/>
              <a:t>: Driver wrapping layer.</a:t>
            </a:r>
            <a:endParaRPr lang="en-US" altLang="zh-CN" sz="1800"/>
          </a:p>
          <a:p>
            <a:pPr lvl="1">
              <a:lnSpc>
                <a:spcPct val="120000"/>
              </a:lnSpc>
            </a:pPr>
            <a:r>
              <a:rPr lang="en-US" altLang="zh-CN" sz="1800"/>
              <a:t>ops/ </a:t>
            </a:r>
            <a:r>
              <a:rPr lang="zh-CN" altLang="en-US" sz="1800"/>
              <a:t> and</a:t>
            </a:r>
            <a:r>
              <a:rPr lang="en-US" altLang="zh-CN" sz="1800"/>
              <a:t> fused/</a:t>
            </a:r>
            <a:r>
              <a:rPr lang="zh-CN" altLang="en-US" sz="1800"/>
              <a:t>: Specialized primitive operators and composite optimized operators</a:t>
            </a:r>
            <a:r>
              <a:rPr lang="en-US" altLang="zh-CN" sz="1800"/>
              <a:t> </a:t>
            </a:r>
            <a:r>
              <a:rPr lang="zh-CN" altLang="en-US" sz="1800"/>
              <a:t>.</a:t>
            </a:r>
            <a:endParaRPr lang="en-US" altLang="zh-CN" sz="1800"/>
          </a:p>
          <a:p>
            <a:pPr>
              <a:lnSpc>
                <a:spcPct val="120000"/>
              </a:lnSpc>
            </a:pPr>
            <a:r>
              <a:rPr lang="zh-CN" altLang="en-US" sz="2000"/>
              <a:t>Achieve separation of concerns at the physical code level.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Lab Phase 3: Device Abstraction Layer</a:t>
            </a:r>
            <a:r>
              <a:rPr lang="en-US" altLang="zh-CN"/>
              <a:t> (Device API) </a:t>
            </a:r>
            <a:r>
              <a:rPr lang="zh-CN" altLang="en-US"/>
              <a:t> Wrapping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000"/>
              <a:t>Implement the</a:t>
            </a:r>
            <a:r>
              <a:rPr lang="en-US" altLang="zh-CN" sz="2000"/>
              <a:t> _neurox/device.py </a:t>
            </a:r>
            <a:r>
              <a:rPr lang="zh-CN" altLang="en-US" sz="2000"/>
              <a:t> file.</a:t>
            </a:r>
            <a:endParaRPr lang="en-US" altLang="zh-CN" sz="2000"/>
          </a:p>
          <a:p>
            <a:pPr>
              <a:lnSpc>
                <a:spcPct val="120000"/>
              </a:lnSpc>
            </a:pPr>
            <a:r>
              <a:rPr lang="zh-CN" altLang="en-US" sz="2000"/>
              <a:t>Follow the system-specified</a:t>
            </a:r>
            <a:r>
              <a:rPr lang="en-US" altLang="zh-CN" sz="2000"/>
              <a:t> Backend </a:t>
            </a:r>
            <a:r>
              <a:rPr lang="zh-CN" altLang="en-US" sz="2000"/>
              <a:t> interface abstraction contract.</a:t>
            </a:r>
            <a:endParaRPr lang="en-US" altLang="zh-CN" sz="2000"/>
          </a:p>
          <a:p>
            <a:pPr>
              <a:lnSpc>
                <a:spcPct val="120000"/>
              </a:lnSpc>
            </a:pPr>
            <a:r>
              <a:rPr lang="zh-CN" altLang="en-US" sz="2000"/>
              <a:t>Specific Implementation: Obtain the current device's asynchronous execution stream (</a:t>
            </a:r>
            <a:r>
              <a:rPr lang="en-US" altLang="zh-CN" sz="2000"/>
              <a:t>Stream</a:t>
            </a:r>
            <a:r>
              <a:rPr lang="zh-CN" altLang="en-US" sz="2000"/>
              <a:t>) and other low-level primitives.</a:t>
            </a:r>
            <a:endParaRPr lang="en-US" altLang="zh-CN" sz="2000"/>
          </a:p>
          <a:p>
            <a:pPr>
              <a:lnSpc>
                <a:spcPct val="120000"/>
              </a:lnSpc>
            </a:pPr>
            <a:r>
              <a:rPr lang="zh-CN" altLang="en-US" sz="2000"/>
              <a:t>Ensure precise mapping between upper-layer</a:t>
            </a:r>
            <a:r>
              <a:rPr lang="en-US" altLang="zh-CN" sz="2000"/>
              <a:t> Python </a:t>
            </a:r>
            <a:r>
              <a:rPr lang="zh-CN" altLang="en-US" sz="2000"/>
              <a:t> calls and the underlying</a:t>
            </a:r>
            <a:r>
              <a:rPr lang="en-US" altLang="zh-CN" sz="2000"/>
              <a:t> NeuroX </a:t>
            </a:r>
            <a:r>
              <a:rPr lang="zh-CN" altLang="en-US" sz="2000"/>
              <a:t> private driver</a:t>
            </a:r>
            <a:r>
              <a:rPr lang="en-US" altLang="zh-CN" sz="2000"/>
              <a:t> API </a:t>
            </a:r>
            <a:r>
              <a:rPr lang="zh-CN" altLang="en-US" sz="2000"/>
              <a:t>'s precise mapping.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Lab Phase 4: Specialized Operator Development and Dispatch System Registration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000"/>
              <a:t>Under</a:t>
            </a:r>
            <a:r>
              <a:rPr lang="en-US" altLang="zh-CN" sz="2000"/>
              <a:t> fused/ </a:t>
            </a:r>
            <a:r>
              <a:rPr lang="zh-CN" altLang="en-US" sz="2000"/>
              <a:t> directory, develop optimized operators for</a:t>
            </a:r>
            <a:r>
              <a:rPr lang="en-US" altLang="zh-CN" sz="2000"/>
              <a:t> NeuroX </a:t>
            </a:r>
            <a:r>
              <a:rPr lang="zh-CN" altLang="en-US" sz="2000"/>
              <a:t> (e.g.,</a:t>
            </a:r>
            <a:r>
              <a:rPr lang="en-US" altLang="zh-CN" sz="2000"/>
              <a:t> layer_norm.py</a:t>
            </a:r>
            <a:r>
              <a:rPr lang="zh-CN" altLang="en-US" sz="2000"/>
              <a:t>).</a:t>
            </a:r>
            <a:endParaRPr lang="en-US" altLang="zh-CN" sz="2000"/>
          </a:p>
          <a:p>
            <a:pPr>
              <a:lnSpc>
                <a:spcPct val="120000"/>
              </a:lnSpc>
            </a:pPr>
            <a:r>
              <a:rPr lang="zh-CN" altLang="en-US" sz="2000"/>
              <a:t>Core Action:</a:t>
            </a:r>
            <a:r>
              <a:rPr lang="en-US" altLang="zh-CN" sz="2000"/>
              <a:t> </a:t>
            </a:r>
            <a:r>
              <a:rPr lang="zh-CN" altLang="en-US" sz="2000"/>
              <a:t> leverages</a:t>
            </a:r>
            <a:r>
              <a:rPr lang="en-US" altLang="zh-CN" sz="2000"/>
              <a:t> torch.Library </a:t>
            </a:r>
            <a:r>
              <a:rPr lang="zh-CN" altLang="en-US" sz="2000"/>
              <a:t> to mount functions onto the</a:t>
            </a:r>
            <a:r>
              <a:rPr lang="en-US" altLang="zh-CN" sz="2000"/>
              <a:t> PrivateUse1 </a:t>
            </a:r>
            <a:r>
              <a:rPr lang="zh-CN" altLang="en-US" sz="2000"/>
              <a:t> dispatch key reserved for custom extensions</a:t>
            </a:r>
            <a:r>
              <a:rPr lang="en-US" altLang="zh-CN" sz="2000"/>
              <a:t> </a:t>
            </a:r>
            <a:r>
              <a:rPr lang="zh-CN" altLang="en-US" sz="2000"/>
              <a:t>.</a:t>
            </a:r>
            <a:endParaRPr lang="en-US" altLang="zh-CN" sz="2000"/>
          </a:p>
          <a:p>
            <a:pPr>
              <a:lnSpc>
                <a:spcPct val="120000"/>
              </a:lnSpc>
            </a:pPr>
            <a:r>
              <a:rPr lang="zh-CN" altLang="en-US" sz="2000"/>
              <a:t>Under</a:t>
            </a:r>
            <a:r>
              <a:rPr lang="en-US" altLang="zh-CN" sz="2000"/>
              <a:t> __init__.py </a:t>
            </a:r>
            <a:r>
              <a:rPr lang="zh-CN" altLang="en-US" sz="2000"/>
              <a:t>, trigger registration injection to forcibly intercept the framework's default operator dispatch logic</a:t>
            </a:r>
            <a:r>
              <a:rPr lang="en-US" altLang="zh-CN" sz="2000"/>
              <a:t> </a:t>
            </a:r>
            <a:r>
              <a:rPr lang="zh-CN" altLang="en-US" sz="2000"/>
              <a:t>.</a:t>
            </a:r>
          </a:p>
          <a:p>
            <a:pPr lvl="1">
              <a:lnSpc>
                <a:spcPct val="120000"/>
              </a:lnSpc>
            </a:pPr>
            <a:r>
              <a:rPr lang="zh-CN" altLang="en-US" sz="1800"/>
              <a:t>Import the</a:t>
            </a:r>
            <a:r>
              <a:rPr lang="en-US" altLang="zh-CN" sz="1800"/>
              <a:t> Triton </a:t>
            </a:r>
            <a:r>
              <a:rPr lang="zh-CN" altLang="en-US" sz="1800"/>
              <a:t> language and optimized for the</a:t>
            </a:r>
            <a:r>
              <a:rPr lang="en-US" altLang="zh-CN" sz="1800"/>
              <a:t> NeuroX </a:t>
            </a:r>
            <a:r>
              <a:rPr lang="zh-CN" altLang="en-US" sz="1800"/>
              <a:t> chip's cache hierarchy with tuned parameters:</a:t>
            </a:r>
            <a:r>
              <a:rPr lang="en-US" altLang="zh-CN" sz="1800"/>
              <a:t> layer_norm </a:t>
            </a:r>
            <a:r>
              <a:rPr lang="zh-CN" altLang="en-US" sz="1800"/>
              <a:t> function.</a:t>
            </a:r>
            <a:endParaRPr lang="en-US" altLang="zh-CN" sz="1800"/>
          </a:p>
          <a:p>
            <a:pPr lvl="1">
              <a:lnSpc>
                <a:spcPct val="120000"/>
              </a:lnSpc>
            </a:pPr>
            <a:r>
              <a:rPr lang="zh-CN" altLang="en-US" sz="1800"/>
              <a:t>Create a wrapper function matching the native signature of</a:t>
            </a:r>
            <a:r>
              <a:rPr lang="en-US" altLang="zh-CN" sz="1800"/>
              <a:t> aten::native_layer_norm </a:t>
            </a:r>
          </a:p>
          <a:p>
            <a:pPr lvl="1">
              <a:lnSpc>
                <a:spcPct val="120000"/>
              </a:lnSpc>
            </a:pPr>
            <a:r>
              <a:rPr lang="zh-CN" altLang="en-US" sz="1800"/>
              <a:t>Execute the registration injection logic to notify</a:t>
            </a:r>
            <a:r>
              <a:rPr lang="en-US" altLang="zh-CN" sz="1800"/>
              <a:t> PyTorch </a:t>
            </a:r>
            <a:r>
              <a:rPr lang="zh-CN" altLang="en-US" sz="1800"/>
              <a:t> system: when any computation graph performs layer normalization within this hardware context, abandon generic</a:t>
            </a:r>
            <a:r>
              <a:rPr lang="en-US" altLang="zh-CN" sz="1800"/>
              <a:t> C++ </a:t>
            </a:r>
            <a:r>
              <a:rPr lang="zh-CN" altLang="en-US" sz="1800"/>
              <a:t> derivation and instead execute the just-loaded</a:t>
            </a:r>
            <a:r>
              <a:rPr lang="en-US" altLang="zh-CN" sz="1800"/>
              <a:t> Triton </a:t>
            </a:r>
            <a:r>
              <a:rPr lang="zh-CN" altLang="en-US" sz="1800"/>
              <a:t> high-speed kernel</a:t>
            </a:r>
            <a:r>
              <a:rPr lang="en-US" altLang="zh-CN" sz="1800"/>
              <a:t> </a:t>
            </a:r>
            <a:r>
              <a:rPr lang="zh-CN" altLang="en-US" sz="1800"/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Lab Phase 5: Automated Benchmarking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000"/>
              <a:t>Based on</a:t>
            </a:r>
            <a:r>
              <a:rPr lang="en-US" altLang="zh-CN" sz="2000"/>
              <a:t> Pytest </a:t>
            </a:r>
            <a:r>
              <a:rPr lang="zh-CN" altLang="en-US" sz="2000"/>
              <a:t> Accuracy Verification</a:t>
            </a:r>
          </a:p>
          <a:p>
            <a:pPr lvl="1">
              <a:lnSpc>
                <a:spcPct val="120000"/>
              </a:lnSpc>
            </a:pPr>
            <a:r>
              <a:rPr lang="zh-CN" altLang="en-US" sz="1800"/>
              <a:t>Constrain the absolute error between the output tensors of new hardware-specialized operators and the CPU reference implementation strictly following</a:t>
            </a:r>
            <a:r>
              <a:rPr lang="en-US" altLang="zh-CN" sz="1800"/>
              <a:t> IEEE 754 </a:t>
            </a:r>
            <a:r>
              <a:rPr lang="zh-CN" altLang="en-US" sz="1800"/>
              <a:t> standard</a:t>
            </a:r>
            <a:r>
              <a:rPr lang="en-US" altLang="zh-CN" sz="1800"/>
              <a:t> CPU </a:t>
            </a:r>
            <a:r>
              <a:rPr lang="zh-CN" altLang="en-US" sz="1800"/>
              <a:t> within the preset tolerance range</a:t>
            </a:r>
            <a:r>
              <a:rPr lang="en-US" altLang="zh-CN" sz="1800"/>
              <a:t>.</a:t>
            </a:r>
            <a:endParaRPr lang="zh-CN" altLang="en-US" sz="1800"/>
          </a:p>
          <a:p>
            <a:pPr>
              <a:lnSpc>
                <a:spcPct val="120000"/>
              </a:lnSpc>
            </a:pPr>
            <a:r>
              <a:rPr lang="zh-CN" altLang="en-US" sz="2000"/>
              <a:t>Throughput Analysis and Performance Feedback</a:t>
            </a:r>
            <a:r>
              <a:rPr lang="en-US" altLang="zh-CN" sz="2000"/>
              <a:t>:</a:t>
            </a:r>
            <a:r>
              <a:rPr lang="zh-CN" altLang="en-US" sz="2000"/>
              <a:t>Run performance test scripts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Summary and Outlook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*Generated by Gemini 3.1 Pro.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FlagGems </a:t>
            </a:r>
            <a:r>
              <a:rPr lang="zh-CN" altLang="en-US"/>
              <a:t>Key Optimization Techniques</a:t>
            </a:r>
          </a:p>
        </p:txBody>
      </p:sp>
      <p:graphicFrame>
        <p:nvGraphicFramePr>
          <p:cNvPr id="6" name="表格 5"/>
          <p:cNvGraphicFramePr/>
          <p:nvPr/>
        </p:nvGraphicFramePr>
        <p:xfrm>
          <a:off x="215900" y="1811999"/>
          <a:ext cx="11760200" cy="4186555"/>
        </p:xfrm>
        <a:graphic>
          <a:graphicData uri="http://schemas.openxmlformats.org/drawingml/2006/table">
            <a:tbl>
              <a:tblPr firstRow="1" bandRow="1">
                <a:tableStyleId>{5E781C4E-AC06-48FD-845F-A2D2DCA824F6}</a:tableStyleId>
              </a:tblPr>
              <a:tblGrid>
                <a:gridCol w="2672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8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8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/>
                        <a:t>Abstraction Level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1" spc="120"/>
                        <a:t>Core Component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1" spc="120"/>
                        <a:t>Technical Mechanism and Objective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Framework Interface Layer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120"/>
                        <a:t>ATen Dispatcher Hook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spc="120"/>
                        <a:t>Use </a:t>
                      </a:r>
                      <a:r>
                        <a:rPr lang="en-US" altLang="zh-CN" sz="1400" b="0" spc="120"/>
                        <a:t>torch.Library </a:t>
                      </a:r>
                      <a:r>
                        <a:rPr lang="zh-CN" altLang="en-US" sz="1400" b="0" spc="120"/>
                        <a:t> registry to override native operators, enabling transparent interception without modifying user code </a:t>
                      </a:r>
                      <a:r>
                        <a:rPr lang="zh-CN" altLang="en-US" sz="1400" b="0" spc="120" baseline="30000"/>
                        <a:t> </a:t>
                      </a:r>
                      <a:r>
                        <a:rPr lang="en-US" altLang="zh-CN" sz="1400" b="0" spc="120" baseline="30000"/>
                        <a:t>1 </a:t>
                      </a:r>
                      <a:r>
                        <a:rPr lang="zh-CN" altLang="en-US" sz="1400" b="0" spc="120"/>
                        <a:t>.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3615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spc="120"/>
                        <a:t>Logic Control Layer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120"/>
                        <a:t>C++ LibEntry Wrapper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spc="120"/>
                        <a:t>Eliminate </a:t>
                      </a:r>
                      <a:r>
                        <a:rPr lang="en-US" altLang="zh-CN" sz="1400" b="0" spc="120"/>
                        <a:t>Python GIL </a:t>
                      </a:r>
                      <a:r>
                        <a:rPr lang="zh-CN" altLang="en-US" sz="1400" b="0" spc="120"/>
                        <a:t> bottleneck; at the </a:t>
                      </a:r>
                      <a:r>
                        <a:rPr lang="en-US" altLang="zh-CN" sz="1400" b="0" spc="120"/>
                        <a:t>C++ </a:t>
                      </a:r>
                      <a:r>
                        <a:rPr lang="zh-CN" altLang="en-US" sz="1400" b="0" spc="120"/>
                        <a:t> layer for tensor shape validation, contiguity checks, and memory pointer extraction </a:t>
                      </a:r>
                      <a:r>
                        <a:rPr lang="zh-CN" altLang="en-US" sz="1400" b="0" spc="120" baseline="30000"/>
                        <a:t> </a:t>
                      </a:r>
                      <a:r>
                        <a:rPr lang="en-US" altLang="zh-CN" sz="1400" b="0" spc="120" baseline="30000"/>
                        <a:t>2 </a:t>
                      </a:r>
                      <a:r>
                        <a:rPr lang="zh-CN" altLang="en-US" sz="1400" b="0" spc="120"/>
                        <a:t>.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3615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spc="120"/>
                        <a:t>Hardware Dispatch Layer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120"/>
                        <a:t>GEMS_VENDOR </a:t>
                      </a:r>
                      <a:r>
                        <a:rPr lang="zh-CN" altLang="en-US" sz="1400" b="0" spc="120"/>
                        <a:t> Routing Mechanism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spc="120"/>
                        <a:t>Parse environment variables to dynamically map unified operator calls to the dedicated backend execution modules of specific hardware vendors </a:t>
                      </a:r>
                      <a:r>
                        <a:rPr lang="zh-CN" altLang="en-US" sz="1400" b="0" spc="120" baseline="30000"/>
                        <a:t> </a:t>
                      </a:r>
                      <a:r>
                        <a:rPr lang="en-US" altLang="zh-CN" sz="1400" b="0" spc="120" baseline="30000"/>
                        <a:t>3 </a:t>
                      </a:r>
                      <a:r>
                        <a:rPr lang="zh-CN" altLang="en-US" sz="1400" b="0" spc="120"/>
                        <a:t>.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3615"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spc="120"/>
                        <a:t>Driver Adaptation Layer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120"/>
                        <a:t>Backend Device </a:t>
                      </a:r>
                      <a:r>
                        <a:rPr lang="zh-CN" altLang="en-US" sz="1400" b="0" spc="120"/>
                        <a:t> Interface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spc="120"/>
                        <a:t>Unify device context abstraction, converting logical execution streams (</a:t>
                      </a:r>
                      <a:r>
                        <a:rPr lang="en-US" altLang="zh-CN" sz="1400" b="0" spc="120"/>
                        <a:t>Stream</a:t>
                      </a:r>
                      <a:r>
                        <a:rPr lang="zh-CN" altLang="en-US" sz="1400" b="0" spc="120"/>
                        <a:t>) into hardware-specific command queues (</a:t>
                      </a:r>
                      <a:r>
                        <a:rPr lang="en-US" altLang="zh-CN" sz="1400" b="0" spc="120"/>
                        <a:t>Command Queue</a:t>
                      </a:r>
                      <a:r>
                        <a:rPr lang="zh-CN" altLang="en-US" sz="1400" b="0" spc="120"/>
                        <a:t>) calls </a:t>
                      </a:r>
                      <a:r>
                        <a:rPr lang="zh-CN" altLang="en-US" sz="1400" b="0" spc="120" baseline="30000"/>
                        <a:t> </a:t>
                      </a:r>
                      <a:r>
                        <a:rPr lang="en-US" altLang="zh-CN" sz="1400" b="0" spc="120" baseline="30000"/>
                        <a:t>4 </a:t>
                      </a:r>
                      <a:r>
                        <a:rPr lang="zh-CN" altLang="en-US" sz="1400" b="0" spc="120"/>
                        <a:t>.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Summary and Outlook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858000" cy="485330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/>
              <a:t>Write Once, Run Anywhere</a:t>
            </a:r>
          </a:p>
          <a:p>
            <a:pPr lvl="0">
              <a:lnSpc>
                <a:spcPct val="150000"/>
              </a:lnSpc>
            </a:pPr>
            <a:r>
              <a:rPr lang="zh-CN" altLang="en-US" sz="1800"/>
              <a:t> A highly robust</a:t>
            </a:r>
            <a:r>
              <a:rPr lang="en-US" altLang="zh-CN" sz="1800"/>
              <a:t> Runtime </a:t>
            </a:r>
            <a:r>
              <a:rPr lang="zh-CN" altLang="en-US" sz="1800"/>
              <a:t> requires support for both</a:t>
            </a:r>
            <a:r>
              <a:rPr lang="en-US" altLang="zh-CN" sz="1800"/>
              <a:t>“</a:t>
            </a:r>
            <a:r>
              <a:rPr lang="zh-CN" altLang="en-US" sz="1800"/>
              <a:t> generality</a:t>
            </a:r>
            <a:r>
              <a:rPr lang="en-US" altLang="zh-CN" sz="1800"/>
              <a:t>”</a:t>
            </a:r>
            <a:r>
              <a:rPr lang="zh-CN" altLang="en-US" sz="1800"/>
              <a:t> and</a:t>
            </a:r>
            <a:r>
              <a:rPr lang="en-US" altLang="zh-CN" sz="1800"/>
              <a:t>“</a:t>
            </a:r>
            <a:r>
              <a:rPr lang="zh-CN" altLang="en-US" sz="1800"/>
              <a:t> specificity (hardware specialization priority)</a:t>
            </a:r>
            <a:r>
              <a:rPr lang="en-US" altLang="zh-CN" sz="1800"/>
              <a:t>”</a:t>
            </a:r>
            <a:r>
              <a:rPr lang="zh-CN" altLang="en-US" sz="1800"/>
              <a:t>'s support.</a:t>
            </a:r>
            <a:endParaRPr lang="en-US" altLang="zh-CN" sz="1800"/>
          </a:p>
          <a:p>
            <a:pPr lvl="0">
              <a:lnSpc>
                <a:spcPct val="150000"/>
              </a:lnSpc>
            </a:pPr>
            <a:r>
              <a:rPr lang="zh-CN" altLang="en-US" sz="1800"/>
              <a:t>Plugin-based directory isolation and</a:t>
            </a:r>
            <a:r>
              <a:rPr lang="en-US" altLang="zh-CN" sz="1800"/>
              <a:t> ATen </a:t>
            </a:r>
            <a:r>
              <a:rPr lang="zh-CN" altLang="en-US" sz="1800"/>
              <a:t> out-of-tree registration truly decentralize ecosystem development, enabling hardware vendors to independently maintain and optimize.</a:t>
            </a:r>
            <a:endParaRPr lang="en-US" altLang="zh-CN" sz="1800"/>
          </a:p>
          <a:p>
            <a:pPr lvl="0">
              <a:lnSpc>
                <a:spcPct val="150000"/>
              </a:lnSpc>
            </a:pPr>
            <a:r>
              <a:rPr lang="en-US" altLang="zh-CN" sz="1800"/>
              <a:t>FlagTree/FlagGems </a:t>
            </a:r>
            <a:r>
              <a:rPr lang="zh-CN" altLang="en-US" sz="1800"/>
              <a:t> is reshaping the large model compute infrastructure through this architecture, reducing industry R&amp;D and migration costs.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735" y="958850"/>
            <a:ext cx="4269740" cy="50863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1736</Words>
  <Application>Microsoft Office PowerPoint</Application>
  <PresentationFormat>宽屏</PresentationFormat>
  <Paragraphs>145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Courier New Regular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26: Multi-Chip Backend Support II  (Runtime Integration)</vt:lpstr>
      <vt:lpstr>Runtime Multi-Backend Support Layer</vt:lpstr>
      <vt:lpstr>Runtime System Responsibility Boundaries</vt:lpstr>
      <vt:lpstr>API Wrapping Paradigm</vt:lpstr>
      <vt:lpstr>ReducingOverhead:Runtime Optimization</vt:lpstr>
      <vt:lpstr>Environment Variable-Driven Backend Routing</vt:lpstr>
      <vt:lpstr>FlagGems Hardware Specialization Priority Dispatch</vt:lpstr>
      <vt:lpstr>Case Analysis: Tsingmicro</vt:lpstr>
      <vt:lpstr>Case Analysis: Tsingmicro</vt:lpstr>
      <vt:lpstr>Case Analysis: Tsingmicro</vt:lpstr>
      <vt:lpstr>Lab: Adding a New Hardware Backend to FlagTree </vt:lpstr>
      <vt:lpstr>Lab Phase 1: Low-Level Compilation Support and Build Environment Initialization</vt:lpstr>
      <vt:lpstr>Lab Phase 2: Building the Hardware Plugin Directory Architecture</vt:lpstr>
      <vt:lpstr>Lab Phase 3: Device Abstraction Layer (Device API)  Wrapping</vt:lpstr>
      <vt:lpstr>Lab Phase 4: Specialized Operator Development and Dispatch System Registration</vt:lpstr>
      <vt:lpstr>Lab Phase 5: Automated Benchmarking</vt:lpstr>
      <vt:lpstr>Summary and Outlook</vt:lpstr>
      <vt:lpstr>Summary and Outlook</vt:lpstr>
      <vt:lpstr>The Solution: FlagOS, a Unified AI Software Stack</vt:lpstr>
      <vt:lpstr>PowerPoint 演示文稿</vt:lpstr>
      <vt:lpstr>Thanks for your time！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开源社区与AI系统软件贡献</dc:title>
  <dc:subject>开源社区与AI系统软件贡献</dc:subject>
  <dc:creator>Kimi</dc:creator>
  <cp:lastModifiedBy>Xiang Li</cp:lastModifiedBy>
  <cp:revision>10</cp:revision>
  <dcterms:created xsi:type="dcterms:W3CDTF">2026-03-12T02:57:00Z</dcterms:created>
  <dcterms:modified xsi:type="dcterms:W3CDTF">2026-03-17T14:54:29Z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开源社区与AI系统软件贡献","ContentProducer":"001191110108MACG2KBH8F10000","ProduceID":"19cbf9a2-ac82-8bf3-8000-00008c4ccf4f","ReservedCode1":"","ContentPropagator":"001191110108MACG2KBH8F20000","PropagateID":"19cbf9a2-ac82-8bf3-8000-00008c4ccf4f","ReservedCode2":""}</vt:lpwstr>
  </property>
  <property fmtid="{D5CDD505-2E9C-101B-9397-08002B2CF9AE}" pid="3" name="ICV">
    <vt:lpwstr>423D73E912CD1A00385CAA69CA7CE0B6_42</vt:lpwstr>
  </property>
  <property fmtid="{D5CDD505-2E9C-101B-9397-08002B2CF9AE}" pid="4" name="KSOProductBuildVer">
    <vt:lpwstr>2052-12.1.0.19302</vt:lpwstr>
  </property>
</Properties>
</file>