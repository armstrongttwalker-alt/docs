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handoutMasterIdLst>
    <p:handoutMasterId r:id="rId25"/>
  </p:handoutMasterIdLst>
  <p:sldIdLst>
    <p:sldId id="337" r:id="rId2"/>
    <p:sldId id="257" r:id="rId3"/>
    <p:sldId id="306" r:id="rId4"/>
    <p:sldId id="307" r:id="rId5"/>
    <p:sldId id="308"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277" r:id="rId21"/>
    <p:sldId id="279" r:id="rId22"/>
    <p:sldId id="28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0012"/>
    <a:srgbClr val="70AD47"/>
    <a:srgbClr val="2774AE"/>
    <a:srgbClr val="70AE47"/>
    <a:srgbClr val="549E39"/>
    <a:srgbClr val="90B085"/>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4786E-E08D-4BA8-B76A-A9A0836F9826}" styleName="表样式 1">
    <a:wholeTbl>
      <a:tcTxStyle>
        <a:fontRef idx="none">
          <a:srgbClr val="000000"/>
        </a:fontRef>
      </a:tcTxStyle>
      <a:tcStyle>
        <a:tcBdr>
          <a:left>
            <a:ln w="12700" cmpd="sng">
              <a:solidFill>
                <a:srgbClr val="8B0012"/>
              </a:solidFill>
            </a:ln>
          </a:left>
          <a:right>
            <a:ln w="12700" cmpd="sng">
              <a:solidFill>
                <a:srgbClr val="8B0012"/>
              </a:solidFill>
            </a:ln>
          </a:right>
          <a:top>
            <a:ln w="12700" cmpd="sng">
              <a:solidFill>
                <a:srgbClr val="8B0012"/>
              </a:solidFill>
            </a:ln>
          </a:top>
          <a:bottom>
            <a:ln w="12700" cmpd="sng">
              <a:solidFill>
                <a:srgbClr val="8B0012"/>
              </a:solidFill>
            </a:ln>
          </a:bottom>
          <a:insideH>
            <a:ln>
              <a:noFill/>
            </a:ln>
          </a:insideH>
          <a:insideV>
            <a:ln>
              <a:noFill/>
            </a:ln>
          </a:insideV>
        </a:tcBdr>
        <a:fill>
          <a:solidFill>
            <a:srgbClr val="FFFFFF"/>
          </a:solidFill>
        </a:fill>
      </a:tcStyle>
    </a:wholeTbl>
    <a:band2H>
      <a:tcStyle>
        <a:tcBdr/>
        <a:fill>
          <a:solidFill>
            <a:srgbClr val="8B0012">
              <a:lumMod val="10000"/>
              <a:lumOff val="90000"/>
            </a:srgbClr>
          </a:solidFill>
        </a:fill>
      </a:tcStyle>
    </a:band2H>
    <a:band1V>
      <a:tcStyle>
        <a:tcBdr/>
        <a:fill>
          <a:solidFill>
            <a:srgbClr val="8B0012">
              <a:lumMod val="10000"/>
              <a:lumOff val="90000"/>
            </a:srgbClr>
          </a:solidFill>
        </a:fill>
      </a:tcStyle>
    </a:band1V>
    <a:lastCol>
      <a:tcTxStyle b="on">
        <a:fontRef idx="none">
          <a:srgbClr val="08090C"/>
        </a:fontRef>
      </a:tcTxStyle>
      <a:tcStyle>
        <a:tcBdr>
          <a:left>
            <a:ln>
              <a:noFill/>
            </a:ln>
          </a:left>
          <a:right>
            <a:ln w="12700" cmpd="sng">
              <a:solidFill>
                <a:srgbClr val="8B0012"/>
              </a:solidFill>
            </a:ln>
          </a:right>
          <a:top>
            <a:ln w="12700" cmpd="sng">
              <a:solidFill>
                <a:srgbClr val="8B0012"/>
              </a:solidFill>
            </a:ln>
          </a:top>
          <a:bottom>
            <a:ln w="12700" cmpd="sng">
              <a:solidFill>
                <a:srgbClr val="8B0012"/>
              </a:solidFill>
            </a:ln>
          </a:bottom>
          <a:insideH>
            <a:ln>
              <a:noFill/>
            </a:ln>
          </a:insideH>
          <a:insideV>
            <a:ln>
              <a:noFill/>
            </a:ln>
          </a:insideV>
        </a:tcBdr>
        <a:fill>
          <a:solidFill>
            <a:srgbClr val="8B0012">
              <a:lumMod val="20000"/>
              <a:lumOff val="80000"/>
            </a:srgbClr>
          </a:solidFill>
        </a:fill>
      </a:tcStyle>
    </a:lastCol>
    <a:firstCol>
      <a:tcTxStyle b="on">
        <a:fontRef idx="none">
          <a:srgbClr val="08090C"/>
        </a:fontRef>
      </a:tcTxStyle>
      <a:tcStyle>
        <a:tcBdr>
          <a:left>
            <a:ln w="12700" cmpd="sng">
              <a:solidFill>
                <a:srgbClr val="8B0012"/>
              </a:solidFill>
            </a:ln>
          </a:left>
          <a:right>
            <a:ln>
              <a:noFill/>
            </a:ln>
          </a:right>
          <a:top>
            <a:ln w="12700" cmpd="sng">
              <a:solidFill>
                <a:srgbClr val="8B0012"/>
              </a:solidFill>
            </a:ln>
          </a:top>
          <a:bottom>
            <a:ln w="12700" cmpd="sng">
              <a:solidFill>
                <a:srgbClr val="8B0012"/>
              </a:solidFill>
            </a:ln>
          </a:bottom>
          <a:insideH>
            <a:ln>
              <a:noFill/>
            </a:ln>
          </a:insideH>
          <a:insideV>
            <a:ln>
              <a:noFill/>
            </a:ln>
          </a:insideV>
        </a:tcBdr>
        <a:fill>
          <a:solidFill>
            <a:srgbClr val="8B0012">
              <a:lumMod val="20000"/>
              <a:lumOff val="80000"/>
            </a:srgbClr>
          </a:solidFill>
        </a:fill>
      </a:tcStyle>
    </a:firstCol>
    <a:lastRow>
      <a:tcTxStyle b="on">
        <a:fontRef idx="none">
          <a:srgbClr val="FFFFFF"/>
        </a:fontRef>
      </a:tcTxStyle>
      <a:tcStyle>
        <a:tcBdr>
          <a:left>
            <a:ln w="12700" cmpd="sng">
              <a:solidFill>
                <a:srgbClr val="8B0012"/>
              </a:solidFill>
            </a:ln>
          </a:left>
          <a:right>
            <a:ln w="12700" cmpd="sng">
              <a:solidFill>
                <a:srgbClr val="8B0012"/>
              </a:solidFill>
            </a:ln>
          </a:right>
          <a:top>
            <a:ln w="12700" cmpd="sng">
              <a:solidFill>
                <a:srgbClr val="8B0012"/>
              </a:solidFill>
            </a:ln>
          </a:top>
          <a:bottom>
            <a:ln w="12700" cmpd="sng">
              <a:solidFill>
                <a:srgbClr val="8B0012"/>
              </a:solidFill>
            </a:ln>
          </a:bottom>
          <a:insideH>
            <a:ln>
              <a:noFill/>
            </a:ln>
          </a:insideH>
          <a:insideV>
            <a:ln>
              <a:noFill/>
            </a:ln>
          </a:insideV>
        </a:tcBdr>
        <a:fill>
          <a:solidFill>
            <a:srgbClr val="8B0012"/>
          </a:solidFill>
        </a:fill>
      </a:tcStyle>
    </a:lastRow>
    <a:seCell>
      <a:tcStyle>
        <a:tcBdr>
          <a:left>
            <a:ln>
              <a:noFill/>
            </a:ln>
          </a:left>
          <a:right>
            <a:ln>
              <a:noFill/>
            </a:ln>
          </a:right>
          <a:top>
            <a:ln w="9525" cmpd="sng">
              <a:solidFill>
                <a:srgbClr val="8B0012"/>
              </a:solidFill>
            </a:ln>
          </a:top>
          <a:bottom>
            <a:ln w="9525" cmpd="sng">
              <a:solidFill>
                <a:srgbClr val="8B0012"/>
              </a:solidFill>
            </a:ln>
          </a:bottom>
          <a:insideH>
            <a:ln>
              <a:noFill/>
            </a:ln>
          </a:insideH>
          <a:insideV>
            <a:ln>
              <a:noFill/>
            </a:ln>
          </a:insideV>
        </a:tcBdr>
        <a:fill>
          <a:solidFill>
            <a:srgbClr val="FFFFFF"/>
          </a:solidFill>
        </a:fill>
      </a:tcStyle>
    </a:seCell>
    <a:swCell>
      <a:tcStyle>
        <a:tcBdr>
          <a:left>
            <a:ln>
              <a:noFill/>
            </a:ln>
          </a:left>
          <a:right>
            <a:ln>
              <a:noFill/>
            </a:ln>
          </a:right>
          <a:top>
            <a:ln w="9525" cmpd="sng">
              <a:solidFill>
                <a:srgbClr val="8B0012"/>
              </a:solidFill>
            </a:ln>
          </a:top>
          <a:bottom>
            <a:ln w="9525" cmpd="sng">
              <a:solidFill>
                <a:srgbClr val="8B0012"/>
              </a:solidFill>
            </a:ln>
          </a:bottom>
          <a:insideH>
            <a:ln>
              <a:noFill/>
            </a:ln>
          </a:insideH>
          <a:insideV>
            <a:ln>
              <a:noFill/>
            </a:ln>
          </a:insideV>
        </a:tcBdr>
        <a:fill>
          <a:solidFill>
            <a:srgbClr val="FFFFFF"/>
          </a:solidFill>
        </a:fill>
      </a:tcStyle>
    </a:swCell>
    <a:firstRow>
      <a:tcTxStyle b="on">
        <a:fontRef idx="none">
          <a:srgbClr val="FFFFFF"/>
        </a:fontRef>
      </a:tcTxStyle>
      <a:tcStyle>
        <a:tcBdr>
          <a:left>
            <a:ln w="12700" cmpd="sng">
              <a:solidFill>
                <a:srgbClr val="8B0012"/>
              </a:solidFill>
            </a:ln>
          </a:left>
          <a:right>
            <a:ln w="12700" cmpd="sng">
              <a:solidFill>
                <a:srgbClr val="8B0012"/>
              </a:solidFill>
            </a:ln>
          </a:right>
          <a:top>
            <a:ln w="12700" cmpd="sng">
              <a:solidFill>
                <a:srgbClr val="8B0012"/>
              </a:solidFill>
            </a:ln>
          </a:top>
          <a:bottom>
            <a:ln w="12700" cmpd="sng">
              <a:solidFill>
                <a:srgbClr val="8B0012"/>
              </a:solidFill>
            </a:ln>
          </a:bottom>
          <a:insideH>
            <a:ln>
              <a:noFill/>
            </a:ln>
          </a:insideH>
          <a:insideV>
            <a:ln>
              <a:noFill/>
            </a:ln>
          </a:insideV>
        </a:tcBdr>
        <a:fill>
          <a:solidFill>
            <a:srgbClr val="8B001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5"/>
    <p:restoredTop sz="91926" autoAdjust="0"/>
  </p:normalViewPr>
  <p:slideViewPr>
    <p:cSldViewPr snapToGrid="0" snapToObjects="1">
      <p:cViewPr varScale="1">
        <p:scale>
          <a:sx n="56" d="100"/>
          <a:sy n="56" d="100"/>
        </p:scale>
        <p:origin x="896" y="4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1" d="100"/>
          <a:sy n="81" d="100"/>
        </p:scale>
        <p:origin x="338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006"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007"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AD35F3-BE5B-41CC-A973-5F94E77F22B3}" type="datetimeFigureOut">
              <a:rPr lang="zh-CN" altLang="en-US" smtClean="0"/>
              <a:t>2026/3/17</a:t>
            </a:fld>
            <a:endParaRPr lang="zh-CN" altLang="en-US"/>
          </a:p>
        </p:txBody>
      </p:sp>
      <p:sp>
        <p:nvSpPr>
          <p:cNvPr id="1049008"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009"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6126E5-09CE-4398-8EB0-4AC849D0A16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000"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9001"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E8E16-D6C5-3248-816C-85B3C8E8792E}" type="datetimeFigureOut">
              <a:rPr lang="en-US" smtClean="0"/>
              <a:t>3/17/2026</a:t>
            </a:fld>
            <a:endParaRPr lang="en-US"/>
          </a:p>
        </p:txBody>
      </p:sp>
      <p:sp>
        <p:nvSpPr>
          <p:cNvPr id="1049002"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9003"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004"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9005"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4C98A-D9C5-894D-9A13-8F52E37846C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48630"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1048631"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1048633"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244399059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401368884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image" Target="../media/image23.png"/><Relationship Id="rId26" Type="http://schemas.openxmlformats.org/officeDocument/2006/relationships/hyperlink" Target="https://www.zhihu.com/people/95-22-20-18/posts" TargetMode="External"/><Relationship Id="rId3" Type="http://schemas.openxmlformats.org/officeDocument/2006/relationships/tags" Target="../tags/tag12.xml"/><Relationship Id="rId21" Type="http://schemas.openxmlformats.org/officeDocument/2006/relationships/image" Target="../media/image26.png"/><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image" Target="../media/image25.png"/><Relationship Id="rId29" Type="http://schemas.openxmlformats.org/officeDocument/2006/relationships/image" Target="../media/image30.pn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hyperlink" Target="https://github.com/flagos-ai" TargetMode="External"/><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image" Target="../media/image28.png"/><Relationship Id="rId28" Type="http://schemas.openxmlformats.org/officeDocument/2006/relationships/image" Target="../media/image29.jpeg"/><Relationship Id="rId10" Type="http://schemas.openxmlformats.org/officeDocument/2006/relationships/tags" Target="../tags/tag19.xml"/><Relationship Id="rId19" Type="http://schemas.openxmlformats.org/officeDocument/2006/relationships/image" Target="../media/image24.png"/><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image" Target="../media/image27.png"/><Relationship Id="rId27" Type="http://schemas.openxmlformats.org/officeDocument/2006/relationships/hyperlink" Target="https://flagos.io/Home"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jpeg"/><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标题 1"/>
          <p:cNvSpPr>
            <a:spLocks noGrp="1"/>
          </p:cNvSpPr>
          <p:nvPr>
            <p:ph type="ctrTitle"/>
          </p:nvPr>
        </p:nvSpPr>
        <p:spPr/>
        <p:txBody>
          <a:bodyPr>
            <a:normAutofit/>
          </a:bodyPr>
          <a:lstStyle/>
          <a:p>
            <a:r>
              <a:rPr lang="x-none"/>
              <a:t>Lecture </a:t>
            </a:r>
            <a:r>
              <a:rPr lang="en-US" altLang="zh-CN"/>
              <a:t>20: Intermediate Representation (IR) Fundamentals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Deep Learning Compilation Framework</a:t>
            </a:r>
          </a:p>
        </p:txBody>
      </p:sp>
      <p:sp>
        <p:nvSpPr>
          <p:cNvPr id="4" name="页脚占位符 3"/>
          <p:cNvSpPr>
            <a:spLocks noGrp="1"/>
          </p:cNvSpPr>
          <p:nvPr>
            <p:ph type="ftr" sz="quarter" idx="11"/>
          </p:nvPr>
        </p:nvSpPr>
        <p:spPr/>
        <p:txBody>
          <a:bodyPr/>
          <a:lstStyle/>
          <a:p>
            <a:r>
              <a:rPr lang="en-US" altLang="zh-CN" dirty="0"/>
              <a:t>LLVM, Chris Lattner, http://aosabook.org/en/llvm.html</a:t>
            </a:r>
          </a:p>
        </p:txBody>
      </p:sp>
      <p:sp>
        <p:nvSpPr>
          <p:cNvPr id="5" name="灯片编号占位符 4"/>
          <p:cNvSpPr>
            <a:spLocks noGrp="1"/>
          </p:cNvSpPr>
          <p:nvPr>
            <p:ph type="sldNum" sz="quarter" idx="12"/>
          </p:nvPr>
        </p:nvSpPr>
        <p:spPr/>
        <p:txBody>
          <a:bodyPr/>
          <a:lstStyle/>
          <a:p>
            <a:fld id="{B33F7469-D28B-482F-B1B6-3B8E7CF51519}" type="slidenum">
              <a:rPr lang="en-US" altLang="en-US" smtClean="0"/>
              <a:t>3</a:t>
            </a:fld>
            <a:endParaRPr lang="en-US" altLang="en-US" dirty="0"/>
          </a:p>
        </p:txBody>
      </p:sp>
      <p:sp>
        <p:nvSpPr>
          <p:cNvPr id="3" name="内容占位符 2"/>
          <p:cNvSpPr>
            <a:spLocks noGrp="1"/>
          </p:cNvSpPr>
          <p:nvPr>
            <p:ph sz="quarter" idx="13"/>
          </p:nvPr>
        </p:nvSpPr>
        <p:spPr>
          <a:xfrm>
            <a:off x="523875" y="1323975"/>
            <a:ext cx="5443855" cy="4853305"/>
          </a:xfrm>
        </p:spPr>
        <p:txBody>
          <a:bodyPr/>
          <a:lstStyle/>
          <a:p>
            <a:r>
              <a:rPr lang="en-US" altLang="en-US"/>
              <a:t>Frontend</a:t>
            </a:r>
          </a:p>
          <a:p>
            <a:pPr lvl="1"/>
            <a:r>
              <a:rPr lang="en-US" altLang="en-US"/>
              <a:t>Lexical and Syntactic Analysis</a:t>
            </a:r>
            <a:r>
              <a:rPr lang="en-US" altLang="zh-CN"/>
              <a:t>, </a:t>
            </a:r>
            <a:r>
              <a:rPr lang="en-US" altLang="en-US"/>
              <a:t>AST Construction</a:t>
            </a:r>
            <a:r>
              <a:rPr lang="en-US" altLang="zh-CN"/>
              <a:t>, </a:t>
            </a:r>
            <a:r>
              <a:rPr lang="en-US" altLang="en-US"/>
              <a:t>Semantic Checking</a:t>
            </a:r>
            <a:r>
              <a:rPr lang="en-US" altLang="zh-CN"/>
              <a:t>, IR</a:t>
            </a:r>
            <a:r>
              <a:rPr lang="en-US" altLang="en-US"/>
              <a:t> Transformation</a:t>
            </a:r>
          </a:p>
          <a:p>
            <a:pPr lvl="0"/>
            <a:r>
              <a:rPr lang="en-US" altLang="en-US"/>
              <a:t>Middle-End</a:t>
            </a:r>
            <a:r>
              <a:rPr lang="en-US" altLang="zh-CN"/>
              <a:t>/</a:t>
            </a:r>
            <a:r>
              <a:rPr lang="en-US" altLang="en-US"/>
              <a:t>/Optimizer</a:t>
            </a:r>
          </a:p>
          <a:p>
            <a:pPr lvl="1"/>
            <a:r>
              <a:rPr lang="en-US" altLang="en-US"/>
              <a:t>Performing various</a:t>
            </a:r>
            <a:r>
              <a:rPr lang="en-US" altLang="zh-CN"/>
              <a:t> IR </a:t>
            </a:r>
            <a:r>
              <a:rPr lang="en-US" altLang="en-US"/>
              <a:t>-level optimizations</a:t>
            </a:r>
          </a:p>
          <a:p>
            <a:pPr lvl="0"/>
            <a:r>
              <a:rPr lang="en-US" altLang="en-US"/>
              <a:t>Backend</a:t>
            </a:r>
          </a:p>
          <a:p>
            <a:pPr lvl="1"/>
            <a:r>
              <a:rPr lang="en-US" altLang="en-US"/>
              <a:t>Instruction Selection</a:t>
            </a:r>
            <a:r>
              <a:rPr lang="en-US" altLang="zh-CN"/>
              <a:t>, </a:t>
            </a:r>
            <a:r>
              <a:rPr lang="en-US" altLang="en-US"/>
              <a:t>Register Allocation</a:t>
            </a:r>
            <a:r>
              <a:rPr lang="en-US" altLang="zh-CN"/>
              <a:t>, </a:t>
            </a:r>
            <a:r>
              <a:rPr lang="en-US" altLang="en-US"/>
              <a:t>Code Generation</a:t>
            </a:r>
          </a:p>
        </p:txBody>
      </p:sp>
      <p:pic>
        <p:nvPicPr>
          <p:cNvPr id="6" name="图片 5"/>
          <p:cNvPicPr>
            <a:picLocks noChangeAspect="1"/>
          </p:cNvPicPr>
          <p:nvPr/>
        </p:nvPicPr>
        <p:blipFill>
          <a:blip r:embed="rId2"/>
          <a:stretch>
            <a:fillRect/>
          </a:stretch>
        </p:blipFill>
        <p:spPr>
          <a:xfrm>
            <a:off x="6093460" y="1950720"/>
            <a:ext cx="5708015" cy="3402965"/>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IR </a:t>
            </a:r>
            <a:r>
              <a:rPr>
                <a:sym typeface="+mn-ea"/>
              </a:rPr>
              <a:t> Design Goals</a:t>
            </a:r>
            <a:endParaRPr lang="en-US" altLang="en-US"/>
          </a:p>
        </p:txBody>
      </p:sp>
      <p:sp>
        <p:nvSpPr>
          <p:cNvPr id="4" name="页脚占位符 3"/>
          <p:cNvSpPr>
            <a:spLocks noGrp="1"/>
          </p:cNvSpPr>
          <p:nvPr>
            <p:ph type="ftr" sz="quarter" idx="11"/>
          </p:nvPr>
        </p:nvSpPr>
        <p:spPr/>
        <p:txBody>
          <a:bodyPr/>
          <a:lstStyle/>
          <a:p>
            <a:r>
              <a:rPr lang="en-US" altLang="zh-CN" dirty="0"/>
              <a:t>Li, Mingzhen, et al. "The deep learning compiler: A comprehensive survey." IEEE Transactions on Parallel and Distributed Systems 32.3 (2020): 708-727.</a:t>
            </a:r>
          </a:p>
        </p:txBody>
      </p:sp>
      <p:sp>
        <p:nvSpPr>
          <p:cNvPr id="5" name="灯片编号占位符 4"/>
          <p:cNvSpPr>
            <a:spLocks noGrp="1"/>
          </p:cNvSpPr>
          <p:nvPr>
            <p:ph type="sldNum" sz="quarter" idx="12"/>
          </p:nvPr>
        </p:nvSpPr>
        <p:spPr/>
        <p:txBody>
          <a:bodyPr/>
          <a:lstStyle/>
          <a:p>
            <a:fld id="{B33F7469-D28B-482F-B1B6-3B8E7CF51519}" type="slidenum">
              <a:rPr lang="en-US" altLang="en-US" smtClean="0"/>
              <a:t>4</a:t>
            </a:fld>
            <a:endParaRPr lang="en-US" altLang="en-US" dirty="0"/>
          </a:p>
        </p:txBody>
      </p:sp>
      <p:sp>
        <p:nvSpPr>
          <p:cNvPr id="3" name="内容占位符 2"/>
          <p:cNvSpPr>
            <a:spLocks noGrp="1"/>
          </p:cNvSpPr>
          <p:nvPr>
            <p:ph sz="quarter" idx="13"/>
          </p:nvPr>
        </p:nvSpPr>
        <p:spPr>
          <a:xfrm>
            <a:off x="523875" y="1323975"/>
            <a:ext cx="6042025" cy="4853305"/>
          </a:xfrm>
        </p:spPr>
        <p:txBody>
          <a:bodyPr>
            <a:noAutofit/>
          </a:bodyPr>
          <a:lstStyle/>
          <a:p>
            <a:r>
              <a:rPr lang="en-US" altLang="en-US" sz="2000"/>
              <a:t>Decoupling Hardware Constraints: </a:t>
            </a:r>
            <a:r>
              <a:rPr lang="en-US" altLang="zh-CN" sz="2000"/>
              <a:t> </a:t>
            </a:r>
          </a:p>
          <a:p>
            <a:pPr lvl="1"/>
            <a:r>
              <a:rPr lang="en-US" altLang="en-US" sz="1800"/>
              <a:t>In modern software development, there is a huge semantic gap between frontend languages and underlying hardware.</a:t>
            </a:r>
          </a:p>
          <a:p>
            <a:pPr lvl="1"/>
            <a:r>
              <a:rPr lang="en-US" altLang="zh-CN" sz="1800"/>
              <a:t>IR </a:t>
            </a:r>
            <a:r>
              <a:rPr lang="en-US" altLang="en-US" sz="1800"/>
              <a:t>'s core role is to completely decouple high-level framework intent from low-level silicon instructions.</a:t>
            </a:r>
          </a:p>
          <a:p>
            <a:pPr lvl="0"/>
            <a:r>
              <a:rPr lang="en-US" altLang="en-US" sz="2000"/>
              <a:t>Resolving the Catastrophic</a:t>
            </a:r>
            <a:r>
              <a:rPr lang="en-US" altLang="zh-CN" sz="2000"/>
              <a:t> M x N </a:t>
            </a:r>
            <a:r>
              <a:rPr lang="en-US" altLang="en-US" sz="2000"/>
              <a:t>Problem: </a:t>
            </a:r>
          </a:p>
          <a:p>
            <a:pPr lvl="1"/>
            <a:r>
              <a:rPr lang="en-US" altLang="en-US" sz="1800"/>
              <a:t>Suppose there are</a:t>
            </a:r>
            <a:r>
              <a:rPr lang="en-US" altLang="zh-CN" sz="1800"/>
              <a:t> M </a:t>
            </a:r>
            <a:r>
              <a:rPr lang="en-US" altLang="en-US" sz="1800"/>
              <a:t> deep learning frontend frameworks and</a:t>
            </a:r>
            <a:r>
              <a:rPr lang="en-US" altLang="zh-CN" sz="1800"/>
              <a:t> N </a:t>
            </a:r>
            <a:r>
              <a:rPr lang="en-US" altLang="en-US" sz="1800"/>
              <a:t> different hardware accelerators.</a:t>
            </a:r>
          </a:p>
          <a:p>
            <a:pPr lvl="1"/>
            <a:r>
              <a:rPr lang="en-US" altLang="en-US" sz="1800"/>
              <a:t>Without a unified</a:t>
            </a:r>
            <a:r>
              <a:rPr lang="en-US" altLang="zh-CN" sz="1800"/>
              <a:t> IR</a:t>
            </a:r>
            <a:r>
              <a:rPr lang="en-US" altLang="en-US" sz="1800"/>
              <a:t>, the industry would need to develop</a:t>
            </a:r>
            <a:r>
              <a:rPr lang="en-US" altLang="zh-CN" sz="1800"/>
              <a:t> M x N </a:t>
            </a:r>
            <a:r>
              <a:rPr lang="en-US" altLang="en-US" sz="1800"/>
              <a:t> independent compilers.</a:t>
            </a:r>
          </a:p>
          <a:p>
            <a:pPr lvl="1"/>
            <a:r>
              <a:rPr lang="en-US" altLang="en-US" sz="1800"/>
              <a:t>After introducing a standard</a:t>
            </a:r>
            <a:r>
              <a:rPr lang="en-US" altLang="zh-CN" sz="1800"/>
              <a:t> IR </a:t>
            </a:r>
            <a:r>
              <a:rPr lang="en-US" altLang="en-US" sz="1800"/>
              <a:t>, only</a:t>
            </a:r>
            <a:r>
              <a:rPr lang="en-US" altLang="zh-CN" sz="1800"/>
              <a:t> M </a:t>
            </a:r>
            <a:r>
              <a:rPr lang="en-US" altLang="en-US" sz="1800"/>
              <a:t> frontend translators and</a:t>
            </a:r>
            <a:r>
              <a:rPr lang="en-US" altLang="zh-CN" sz="1800"/>
              <a:t> N </a:t>
            </a:r>
            <a:r>
              <a:rPr lang="en-US" altLang="en-US" sz="1800"/>
              <a:t> backend code generators, reducing engineering complexity to</a:t>
            </a:r>
            <a:r>
              <a:rPr lang="en-US" altLang="zh-CN" sz="1800"/>
              <a:t> M + N</a:t>
            </a:r>
            <a:r>
              <a:rPr lang="en-US" altLang="en-US" sz="1800"/>
              <a:t>.</a:t>
            </a:r>
          </a:p>
        </p:txBody>
      </p:sp>
      <p:pic>
        <p:nvPicPr>
          <p:cNvPr id="7" name="图片 6"/>
          <p:cNvPicPr>
            <a:picLocks noChangeAspect="1"/>
          </p:cNvPicPr>
          <p:nvPr/>
        </p:nvPicPr>
        <p:blipFill>
          <a:blip r:embed="rId2"/>
          <a:stretch>
            <a:fillRect/>
          </a:stretch>
        </p:blipFill>
        <p:spPr>
          <a:xfrm>
            <a:off x="6719570" y="1833880"/>
            <a:ext cx="5219065" cy="3542030"/>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IR </a:t>
            </a:r>
            <a:r>
              <a:rPr lang="en-US" altLang="en-US"/>
              <a:t>Design Goals</a:t>
            </a:r>
          </a:p>
        </p:txBody>
      </p:sp>
      <p:sp>
        <p:nvSpPr>
          <p:cNvPr id="4" name="页脚占位符 3"/>
          <p:cNvSpPr>
            <a:spLocks noGrp="1"/>
          </p:cNvSpPr>
          <p:nvPr>
            <p:ph type="ftr" sz="quarter" idx="11"/>
          </p:nvPr>
        </p:nvSpPr>
        <p:spPr/>
        <p:txBody>
          <a:bodyPr/>
          <a:lstStyle/>
          <a:p>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5</a:t>
            </a:fld>
            <a:endParaRPr lang="en-US" altLang="en-US" dirty="0"/>
          </a:p>
        </p:txBody>
      </p:sp>
      <p:sp>
        <p:nvSpPr>
          <p:cNvPr id="3" name="内容占位符 2"/>
          <p:cNvSpPr>
            <a:spLocks noGrp="1"/>
          </p:cNvSpPr>
          <p:nvPr>
            <p:ph sz="quarter" idx="13"/>
          </p:nvPr>
        </p:nvSpPr>
        <p:spPr/>
        <p:txBody>
          <a:bodyPr>
            <a:normAutofit/>
          </a:bodyPr>
          <a:lstStyle/>
          <a:p>
            <a:r>
              <a:rPr lang="en-US" altLang="en-US" sz="2000"/>
              <a:t>Preserving High-Level Semantics, Rejecting Premature Lowering</a:t>
            </a:r>
            <a:endParaRPr lang="en-US" altLang="zh-CN" sz="2000"/>
          </a:p>
          <a:p>
            <a:r>
              <a:rPr lang="en-US" altLang="en-US" sz="2000"/>
              <a:t>Value of Semantic Information: </a:t>
            </a:r>
          </a:p>
          <a:p>
            <a:pPr lvl="1"/>
            <a:r>
              <a:rPr lang="en-US" altLang="zh-CN" sz="1800"/>
              <a:t> </a:t>
            </a:r>
            <a:r>
              <a:rPr lang="en-US" altLang="en-US" sz="1800"/>
              <a:t>In traditional general-purpose compilers (e.g.,</a:t>
            </a:r>
            <a:r>
              <a:rPr lang="en-US" altLang="zh-CN" sz="1800"/>
              <a:t> GCC/LLVM</a:t>
            </a:r>
            <a:r>
              <a:rPr lang="en-US" altLang="en-US" sz="1800"/>
              <a:t>), an operation is typically lowered to scalar loops and pointer arithmetic. But in deep learning</a:t>
            </a:r>
            <a:r>
              <a:rPr lang="en-US" altLang="zh-CN" sz="1800"/>
              <a:t> IR </a:t>
            </a:r>
            <a:r>
              <a:rPr lang="en-US" altLang="en-US" sz="1800"/>
              <a:t>, a 2D convolution must be preserved as an atomic</a:t>
            </a:r>
            <a:r>
              <a:rPr lang="en-US" altLang="zh-CN" sz="1800"/>
              <a:t> conv2d(input, weight) </a:t>
            </a:r>
            <a:r>
              <a:rPr lang="en-US" altLang="en-US" sz="1800"/>
              <a:t> nodes</a:t>
            </a:r>
            <a:r>
              <a:rPr lang="en-US" altLang="zh-CN" sz="1800"/>
              <a:t> </a:t>
            </a:r>
            <a:r>
              <a:rPr lang="en-US" altLang="en-US" sz="1800"/>
              <a:t>.</a:t>
            </a:r>
            <a:endParaRPr lang="en-US" altLang="zh-CN" sz="1800"/>
          </a:p>
          <a:p>
            <a:r>
              <a:rPr lang="en-US" altLang="en-US" sz="2000"/>
              <a:t>Foundation for Global Optimization: </a:t>
            </a:r>
            <a:r>
              <a:rPr lang="en-US" altLang="zh-CN" sz="2000"/>
              <a:t> </a:t>
            </a:r>
          </a:p>
          <a:p>
            <a:pPr lvl="1"/>
            <a:r>
              <a:rPr lang="en-US" altLang="en-US" sz="1800"/>
              <a:t>If neural network operations are prematurely lowered to</a:t>
            </a:r>
            <a:r>
              <a:rPr lang="en-US" altLang="zh-CN" sz="1800"/>
              <a:t> for </a:t>
            </a:r>
            <a:r>
              <a:rPr lang="en-US" altLang="en-US" sz="1800"/>
              <a:t> loops, the compiler loses the</a:t>
            </a:r>
            <a:r>
              <a:rPr lang="en-US" altLang="zh-CN" sz="1800"/>
              <a:t>“</a:t>
            </a:r>
            <a:r>
              <a:rPr lang="en-US" altLang="en-US" sz="1800"/>
              <a:t>this is a convolution</a:t>
            </a:r>
            <a:r>
              <a:rPr lang="en-US" altLang="zh-CN" sz="1800"/>
              <a:t>”</a:t>
            </a:r>
            <a:r>
              <a:rPr lang="en-US" altLang="en-US" sz="1800"/>
              <a:t> macro-level understanding, preventing invocation of convolution-specific hardware acceleration libraries.</a:t>
            </a:r>
            <a:endParaRPr lang="en-US" altLang="zh-CN" sz="1800"/>
          </a:p>
          <a:p>
            <a:r>
              <a:rPr lang="en-US" altLang="en-US" sz="2000"/>
              <a:t>Macro-Level Graph Optimization: </a:t>
            </a:r>
            <a:r>
              <a:rPr lang="en-US" altLang="zh-CN" sz="2000"/>
              <a:t> </a:t>
            </a:r>
          </a:p>
          <a:p>
            <a:pPr lvl="1"/>
            <a:r>
              <a:rPr lang="en-US" altLang="en-US" sz="1800"/>
              <a:t>Leveraging this high-level semantic-preserving</a:t>
            </a:r>
            <a:r>
              <a:rPr lang="en-US" altLang="zh-CN" sz="1800"/>
              <a:t> IR </a:t>
            </a:r>
            <a:r>
              <a:rPr lang="en-US" altLang="en-US" sz="1800"/>
              <a:t> data structure, the compiler can perform computation graph-level algebraic simplification, operator fusion, and memory planning from a global perspective</a:t>
            </a:r>
            <a:r>
              <a:rPr lang="en-US" altLang="zh-CN" sz="1800"/>
              <a:t> </a:t>
            </a:r>
            <a:r>
              <a:rPr lang="en-US" altLang="en-US" sz="1800"/>
              <a:t>.</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Execution Model</a:t>
            </a:r>
            <a:r>
              <a:rPr lang="en-US" altLang="zh-CN"/>
              <a:t> — </a:t>
            </a:r>
            <a:r>
              <a:rPr>
                <a:sym typeface="+mn-ea"/>
              </a:rPr>
              <a:t>Control Flow Graph</a:t>
            </a:r>
            <a:r>
              <a:rPr lang="en-US" altLang="zh-CN">
                <a:sym typeface="+mn-ea"/>
              </a:rPr>
              <a:t> (CFG)</a:t>
            </a:r>
            <a:endParaRPr lang="en-US" altLang="zh-CN"/>
          </a:p>
        </p:txBody>
      </p:sp>
      <p:sp>
        <p:nvSpPr>
          <p:cNvPr id="4" name="页脚占位符 3"/>
          <p:cNvSpPr>
            <a:spLocks noGrp="1"/>
          </p:cNvSpPr>
          <p:nvPr>
            <p:ph type="ftr" sz="quarter" idx="11"/>
          </p:nvPr>
        </p:nvSpPr>
        <p:spPr/>
        <p:txBody>
          <a:bodyPr/>
          <a:lstStyle/>
          <a:p>
            <a:r>
              <a:rPr lang="en-US" altLang="zh-CN" dirty="0"/>
              <a:t>https://www.csl.cornell.edu/~zhiruz/5997/pdf/lecture04.pdf</a:t>
            </a:r>
          </a:p>
        </p:txBody>
      </p:sp>
      <p:sp>
        <p:nvSpPr>
          <p:cNvPr id="5" name="灯片编号占位符 4"/>
          <p:cNvSpPr>
            <a:spLocks noGrp="1"/>
          </p:cNvSpPr>
          <p:nvPr>
            <p:ph type="sldNum" sz="quarter" idx="12"/>
          </p:nvPr>
        </p:nvSpPr>
        <p:spPr/>
        <p:txBody>
          <a:bodyPr/>
          <a:lstStyle/>
          <a:p>
            <a:fld id="{B33F7469-D28B-482F-B1B6-3B8E7CF51519}" type="slidenum">
              <a:rPr lang="en-US" altLang="en-US" smtClean="0"/>
              <a:t>6</a:t>
            </a:fld>
            <a:endParaRPr lang="en-US" altLang="en-US" dirty="0"/>
          </a:p>
        </p:txBody>
      </p:sp>
      <p:sp>
        <p:nvSpPr>
          <p:cNvPr id="3" name="内容占位符 2"/>
          <p:cNvSpPr>
            <a:spLocks noGrp="1"/>
          </p:cNvSpPr>
          <p:nvPr>
            <p:ph sz="quarter" idx="13"/>
          </p:nvPr>
        </p:nvSpPr>
        <p:spPr>
          <a:xfrm>
            <a:off x="523875" y="1323975"/>
            <a:ext cx="6519545" cy="4853305"/>
          </a:xfrm>
        </p:spPr>
        <p:txBody>
          <a:bodyPr>
            <a:noAutofit/>
          </a:bodyPr>
          <a:lstStyle/>
          <a:p>
            <a:pPr>
              <a:lnSpc>
                <a:spcPct val="150000"/>
              </a:lnSpc>
            </a:pPr>
            <a:r>
              <a:rPr lang="en-US" altLang="en-US" sz="2000"/>
              <a:t>Program Counter-Based</a:t>
            </a:r>
            <a:r>
              <a:rPr lang="en-US" altLang="zh-CN" sz="2000"/>
              <a:t> (PC) </a:t>
            </a:r>
            <a:r>
              <a:rPr lang="en-US" altLang="en-US" sz="2000"/>
              <a:t> Traditional Logic</a:t>
            </a:r>
            <a:endParaRPr lang="en-US" altLang="zh-CN" sz="2000"/>
          </a:p>
          <a:p>
            <a:pPr lvl="1">
              <a:lnSpc>
                <a:spcPct val="150000"/>
              </a:lnSpc>
            </a:pPr>
            <a:r>
              <a:rPr lang="en-US" altLang="en-US" sz="1800"/>
              <a:t>Node Definition: as Basic Blocks</a:t>
            </a:r>
            <a:r>
              <a:rPr lang="en-US" altLang="zh-CN" sz="1800"/>
              <a:t> (Basic Blocks)</a:t>
            </a:r>
            <a:r>
              <a:rPr lang="en-US" altLang="en-US" sz="1800"/>
              <a:t>:</a:t>
            </a:r>
            <a:r>
              <a:rPr lang="en-US" altLang="zh-CN" sz="1800"/>
              <a:t> </a:t>
            </a:r>
            <a:r>
              <a:rPr lang="en-US" altLang="en-US" sz="1800"/>
              <a:t>Graph nodes are segments of</a:t>
            </a:r>
            <a:r>
              <a:rPr lang="en-US" altLang="zh-CN" sz="1800"/>
              <a:t>“</a:t>
            </a:r>
            <a:r>
              <a:rPr lang="en-US" altLang="en-US" sz="1800"/>
              <a:t>branch-free</a:t>
            </a:r>
            <a:r>
              <a:rPr lang="en-US" altLang="zh-CN" sz="1800"/>
              <a:t>”</a:t>
            </a:r>
            <a:r>
              <a:rPr lang="en-US" altLang="en-US" sz="1800"/>
              <a:t> continuous straight-line instruction sequences. Once entered, instructions execute from beginning to end.</a:t>
            </a:r>
            <a:endParaRPr lang="en-US" altLang="zh-CN" sz="1800"/>
          </a:p>
          <a:p>
            <a:pPr lvl="1">
              <a:lnSpc>
                <a:spcPct val="150000"/>
              </a:lnSpc>
            </a:pPr>
            <a:r>
              <a:rPr lang="en-US" altLang="en-US" sz="1800"/>
              <a:t>Graph Edgesas Control Flow Directions: </a:t>
            </a:r>
            <a:r>
              <a:rPr lang="en-US" altLang="zh-CN" sz="1800"/>
              <a:t> </a:t>
            </a:r>
            <a:r>
              <a:rPr lang="en-US" altLang="en-US" sz="1800"/>
              <a:t>Directed edges in the graph represent the temporal execution sequence logic and jump targets (corresponding to</a:t>
            </a:r>
            <a:r>
              <a:rPr lang="en-US" altLang="zh-CN" sz="1800"/>
              <a:t> if/else</a:t>
            </a:r>
            <a:r>
              <a:rPr lang="en-US" altLang="en-US" sz="1800"/>
              <a:t>, </a:t>
            </a:r>
            <a:r>
              <a:rPr lang="en-US" altLang="zh-CN" sz="1800"/>
              <a:t>while</a:t>
            </a:r>
            <a:r>
              <a:rPr lang="en-US" altLang="en-US" sz="1800"/>
              <a:t>, </a:t>
            </a:r>
            <a:r>
              <a:rPr lang="en-US" altLang="zh-CN" sz="1800"/>
              <a:t>for </a:t>
            </a:r>
            <a:r>
              <a:rPr lang="en-US" altLang="en-US" sz="1800"/>
              <a:t> and other control statements in high-level languages).</a:t>
            </a:r>
            <a:endParaRPr lang="en-US" altLang="zh-CN" sz="1800"/>
          </a:p>
          <a:p>
            <a:pPr lvl="1">
              <a:lnSpc>
                <a:spcPct val="150000"/>
              </a:lnSpc>
            </a:pPr>
            <a:r>
              <a:rPr lang="en-US" altLang="en-US" sz="1800"/>
              <a:t>Execution Driving Mechanism: </a:t>
            </a:r>
            <a:r>
              <a:rPr lang="en-US" altLang="zh-CN" sz="1800"/>
              <a:t> </a:t>
            </a:r>
            <a:r>
              <a:rPr lang="en-US" altLang="en-US" sz="1800"/>
              <a:t>Highly dependent on the von</a:t>
            </a:r>
            <a:r>
              <a:rPr lang="en-US" altLang="zh-CN" sz="1800"/>
              <a:t>·</a:t>
            </a:r>
            <a:r>
              <a:rPr lang="en-US" altLang="en-US" sz="1800"/>
              <a:t> Neumann architecture's core program counter (</a:t>
            </a:r>
            <a:r>
              <a:rPr lang="en-US" altLang="zh-CN" sz="1800"/>
              <a:t>PC</a:t>
            </a:r>
            <a:r>
              <a:rPr lang="en-US" altLang="en-US" sz="1800"/>
              <a:t>）.</a:t>
            </a:r>
          </a:p>
        </p:txBody>
      </p:sp>
      <p:pic>
        <p:nvPicPr>
          <p:cNvPr id="6" name="图片 5"/>
          <p:cNvPicPr>
            <a:picLocks noChangeAspect="1"/>
          </p:cNvPicPr>
          <p:nvPr/>
        </p:nvPicPr>
        <p:blipFill>
          <a:blip r:embed="rId2"/>
          <a:stretch>
            <a:fillRect/>
          </a:stretch>
        </p:blipFill>
        <p:spPr>
          <a:xfrm>
            <a:off x="7191375" y="2221865"/>
            <a:ext cx="4806950" cy="356235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Execution Model</a:t>
            </a:r>
            <a:r>
              <a:rPr lang="en-US" altLang="zh-CN"/>
              <a:t> — </a:t>
            </a:r>
            <a:r>
              <a:rPr lang="en-US" altLang="en-US"/>
              <a:t>Data Flow Graph</a:t>
            </a:r>
            <a:r>
              <a:rPr lang="en-US" altLang="zh-CN"/>
              <a:t> (DFG)</a:t>
            </a:r>
          </a:p>
        </p:txBody>
      </p:sp>
      <p:sp>
        <p:nvSpPr>
          <p:cNvPr id="4" name="页脚占位符 3"/>
          <p:cNvSpPr>
            <a:spLocks noGrp="1"/>
          </p:cNvSpPr>
          <p:nvPr>
            <p:ph type="ftr" sz="quarter" idx="11"/>
          </p:nvPr>
        </p:nvSpPr>
        <p:spPr/>
        <p:txBody>
          <a:bodyPr/>
          <a:lstStyle/>
          <a:p>
            <a:r>
              <a:rPr lang="en-US" altLang="zh-CN" dirty="0"/>
              <a:t>https://www.researchgate.net/figure/Data-flow-graph-example_fig2_224517165</a:t>
            </a:r>
          </a:p>
        </p:txBody>
      </p:sp>
      <p:sp>
        <p:nvSpPr>
          <p:cNvPr id="5" name="灯片编号占位符 4"/>
          <p:cNvSpPr>
            <a:spLocks noGrp="1"/>
          </p:cNvSpPr>
          <p:nvPr>
            <p:ph type="sldNum" sz="quarter" idx="12"/>
          </p:nvPr>
        </p:nvSpPr>
        <p:spPr/>
        <p:txBody>
          <a:bodyPr/>
          <a:lstStyle/>
          <a:p>
            <a:fld id="{B33F7469-D28B-482F-B1B6-3B8E7CF51519}" type="slidenum">
              <a:rPr lang="en-US" altLang="en-US" smtClean="0"/>
              <a:t>7</a:t>
            </a:fld>
            <a:endParaRPr lang="en-US" altLang="en-US" dirty="0"/>
          </a:p>
        </p:txBody>
      </p:sp>
      <p:sp>
        <p:nvSpPr>
          <p:cNvPr id="3" name="内容占位符 2"/>
          <p:cNvSpPr>
            <a:spLocks noGrp="1"/>
          </p:cNvSpPr>
          <p:nvPr>
            <p:ph sz="quarter" idx="13"/>
          </p:nvPr>
        </p:nvSpPr>
        <p:spPr>
          <a:xfrm>
            <a:off x="523875" y="1323975"/>
            <a:ext cx="6934200" cy="4853305"/>
          </a:xfrm>
        </p:spPr>
        <p:txBody>
          <a:bodyPr>
            <a:noAutofit/>
          </a:bodyPr>
          <a:lstStyle/>
          <a:p>
            <a:pPr>
              <a:lnSpc>
                <a:spcPct val="150000"/>
              </a:lnSpc>
            </a:pPr>
            <a:r>
              <a:rPr lang="en-US" altLang="en-US" sz="2000"/>
              <a:t>Data-Driven Computation Discarding Temporal Ordering</a:t>
            </a:r>
            <a:endParaRPr lang="en-US" altLang="zh-CN" sz="2000"/>
          </a:p>
          <a:p>
            <a:pPr lvl="1">
              <a:lnSpc>
                <a:spcPct val="150000"/>
              </a:lnSpc>
            </a:pPr>
            <a:r>
              <a:rPr lang="en-US" altLang="en-US" sz="1800"/>
              <a:t>Node Definition: Mathematical Operations: </a:t>
            </a:r>
            <a:r>
              <a:rPr lang="en-US" altLang="zh-CN" sz="1800"/>
              <a:t> </a:t>
            </a:r>
            <a:r>
              <a:rPr lang="en-US" altLang="en-US" sz="1800"/>
              <a:t>Graph nodes are no longer basic blocks but represent specific mathematical operations or primitives.</a:t>
            </a:r>
            <a:endParaRPr lang="en-US" altLang="zh-CN" sz="1800"/>
          </a:p>
          <a:p>
            <a:pPr lvl="1">
              <a:lnSpc>
                <a:spcPct val="150000"/>
              </a:lnSpc>
            </a:pPr>
            <a:r>
              <a:rPr lang="en-US" altLang="en-US" sz="1800"/>
              <a:t>Graph Edgesas Data Lifecycles: </a:t>
            </a:r>
            <a:r>
              <a:rPr lang="en-US" altLang="zh-CN" sz="1800"/>
              <a:t> </a:t>
            </a:r>
            <a:r>
              <a:rPr lang="en-US" altLang="en-US" sz="1800"/>
              <a:t>Directed edges represent the pure mathematical dependencies and flow paths of data (i.e., multi-dimensional tensors in deep learning) between operation nodes.</a:t>
            </a:r>
            <a:endParaRPr lang="en-US" altLang="zh-CN" sz="1800"/>
          </a:p>
          <a:p>
            <a:pPr lvl="1">
              <a:lnSpc>
                <a:spcPct val="150000"/>
              </a:lnSpc>
            </a:pPr>
            <a:r>
              <a:rPr lang="en-US" altLang="en-US" sz="1800"/>
              <a:t>Execution Driving Mechanism: </a:t>
            </a:r>
            <a:r>
              <a:rPr lang="en-US" altLang="zh-CN" sz="1800"/>
              <a:t> </a:t>
            </a:r>
            <a:r>
              <a:rPr lang="en-US" altLang="en-US" sz="1800"/>
              <a:t>Completely discarding code-line sequential constraints. The sole condition for triggering a computation node is: all its required upstream input data is ready.</a:t>
            </a:r>
          </a:p>
        </p:txBody>
      </p:sp>
      <p:pic>
        <p:nvPicPr>
          <p:cNvPr id="6" name="图片 5"/>
          <p:cNvPicPr>
            <a:picLocks noChangeAspect="1"/>
          </p:cNvPicPr>
          <p:nvPr/>
        </p:nvPicPr>
        <p:blipFill>
          <a:blip r:embed="rId2"/>
          <a:stretch>
            <a:fillRect/>
          </a:stretch>
        </p:blipFill>
        <p:spPr>
          <a:xfrm>
            <a:off x="7675245" y="1493520"/>
            <a:ext cx="4389755" cy="2518410"/>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CFG  v.s. DFG</a:t>
            </a:r>
          </a:p>
        </p:txBody>
      </p:sp>
      <p:sp>
        <p:nvSpPr>
          <p:cNvPr id="4" name="页脚占位符 3"/>
          <p:cNvSpPr>
            <a:spLocks noGrp="1"/>
          </p:cNvSpPr>
          <p:nvPr>
            <p:ph type="ftr" sz="quarter" idx="11"/>
          </p:nvPr>
        </p:nvSpPr>
        <p:spPr/>
        <p:txBody>
          <a:bodyPr/>
          <a:lstStyle/>
          <a:p>
            <a:r>
              <a:rPr lang="en-US" altLang="zh-CN" dirty="0">
                <a:sym typeface="+mn-ea"/>
              </a:rPr>
              <a:t>*Generated by Gemini 3.1 Pro.</a:t>
            </a:r>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8</a:t>
            </a:fld>
            <a:endParaRPr lang="en-US" altLang="en-US" dirty="0"/>
          </a:p>
        </p:txBody>
      </p:sp>
      <p:sp>
        <p:nvSpPr>
          <p:cNvPr id="7" name="内容占位符 6"/>
          <p:cNvSpPr>
            <a:spLocks noGrp="1"/>
          </p:cNvSpPr>
          <p:nvPr>
            <p:ph sz="quarter" idx="13"/>
          </p:nvPr>
        </p:nvSpPr>
        <p:spPr/>
        <p:txBody>
          <a:bodyPr/>
          <a:lstStyle/>
          <a:p>
            <a:endParaRPr lang="zh-CN" altLang="en-US"/>
          </a:p>
        </p:txBody>
      </p:sp>
      <p:graphicFrame>
        <p:nvGraphicFramePr>
          <p:cNvPr id="6" name="表格 5"/>
          <p:cNvGraphicFramePr/>
          <p:nvPr/>
        </p:nvGraphicFramePr>
        <p:xfrm>
          <a:off x="215900" y="1254469"/>
          <a:ext cx="11760200" cy="5301615"/>
        </p:xfrm>
        <a:graphic>
          <a:graphicData uri="http://schemas.openxmlformats.org/drawingml/2006/table">
            <a:tbl>
              <a:tblPr firstRow="1" firstCol="1">
                <a:tableStyleId>{3574786E-E08D-4BA8-B76A-A9A0836F9826}</a:tableStyleId>
              </a:tblPr>
              <a:tblGrid>
                <a:gridCol w="2548255">
                  <a:extLst>
                    <a:ext uri="{9D8B030D-6E8A-4147-A177-3AD203B41FA5}">
                      <a16:colId xmlns:a16="http://schemas.microsoft.com/office/drawing/2014/main" val="20000"/>
                    </a:ext>
                  </a:extLst>
                </a:gridCol>
                <a:gridCol w="4706620">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525145">
                <a:tc>
                  <a:txBody>
                    <a:bodyPr/>
                    <a:lstStyle/>
                    <a:p>
                      <a:pPr indent="0" algn="ctr">
                        <a:lnSpc>
                          <a:spcPct val="120000"/>
                        </a:lnSpc>
                        <a:spcBef>
                          <a:spcPts val="0"/>
                        </a:spcBef>
                        <a:spcAft>
                          <a:spcPts val="0"/>
                        </a:spcAft>
                      </a:pPr>
                      <a:r>
                        <a:rPr lang="en-US" altLang="en-US" sz="1600" b="1" spc="120"/>
                        <a:t>Characteristic</a:t>
                      </a:r>
                    </a:p>
                  </a:txBody>
                  <a:tcPr marL="177800" marR="177800" marT="107950" marB="107950" anchor="ctr"/>
                </a:tc>
                <a:tc>
                  <a:txBody>
                    <a:bodyPr/>
                    <a:lstStyle/>
                    <a:p>
                      <a:pPr indent="0" algn="ctr">
                        <a:lnSpc>
                          <a:spcPct val="120000"/>
                        </a:lnSpc>
                        <a:spcBef>
                          <a:spcPts val="0"/>
                        </a:spcBef>
                        <a:spcAft>
                          <a:spcPts val="0"/>
                        </a:spcAft>
                      </a:pPr>
                      <a:r>
                        <a:rPr lang="en-US" altLang="en-US" sz="1600" b="1" spc="120"/>
                        <a:t>Control Flow Graph </a:t>
                      </a:r>
                      <a:r>
                        <a:rPr lang="en-US" altLang="zh-CN" sz="1600" b="1" spc="120"/>
                        <a:t>(CFG)</a:t>
                      </a:r>
                    </a:p>
                  </a:txBody>
                  <a:tcPr marL="177800" marR="177800" marT="107950" marB="107950" anchor="ctr"/>
                </a:tc>
                <a:tc>
                  <a:txBody>
                    <a:bodyPr/>
                    <a:lstStyle/>
                    <a:p>
                      <a:pPr indent="0" algn="ctr">
                        <a:lnSpc>
                          <a:spcPct val="120000"/>
                        </a:lnSpc>
                        <a:spcBef>
                          <a:spcPts val="0"/>
                        </a:spcBef>
                        <a:spcAft>
                          <a:spcPts val="0"/>
                        </a:spcAft>
                      </a:pPr>
                      <a:r>
                        <a:rPr lang="en-US" altLang="en-US" sz="1600" b="1" spc="120"/>
                        <a:t>Data Flow Graph </a:t>
                      </a:r>
                      <a:r>
                        <a:rPr lang="en-US" altLang="zh-CN" sz="1600" b="1" spc="120"/>
                        <a:t>(DFG)</a:t>
                      </a:r>
                    </a:p>
                  </a:txBody>
                  <a:tcPr marL="177800" marR="177800" marT="107950" marB="107950" anchor="ctr"/>
                </a:tc>
                <a:extLst>
                  <a:ext uri="{0D108BD9-81ED-4DB2-BD59-A6C34878D82A}">
                    <a16:rowId xmlns:a16="http://schemas.microsoft.com/office/drawing/2014/main" val="10000"/>
                  </a:ext>
                </a:extLst>
              </a:tr>
              <a:tr h="751840">
                <a:tc>
                  <a:txBody>
                    <a:bodyPr/>
                    <a:lstStyle/>
                    <a:p>
                      <a:pPr indent="0" algn="l">
                        <a:lnSpc>
                          <a:spcPct val="120000"/>
                        </a:lnSpc>
                        <a:spcBef>
                          <a:spcPts val="0"/>
                        </a:spcBef>
                        <a:spcAft>
                          <a:spcPts val="0"/>
                        </a:spcAft>
                      </a:pPr>
                      <a:r>
                        <a:rPr lang="en-US" altLang="en-US" sz="1400" b="0" spc="120"/>
                        <a:t>Core Modeling Object</a:t>
                      </a:r>
                    </a:p>
                  </a:txBody>
                  <a:tcPr marL="177800" marR="177800" marT="107950" marB="107950" anchor="ctr"/>
                </a:tc>
                <a:tc>
                  <a:txBody>
                    <a:bodyPr/>
                    <a:lstStyle/>
                    <a:p>
                      <a:pPr indent="0" algn="l">
                        <a:lnSpc>
                          <a:spcPct val="120000"/>
                        </a:lnSpc>
                        <a:spcBef>
                          <a:spcPts val="0"/>
                        </a:spcBef>
                        <a:spcAft>
                          <a:spcPts val="0"/>
                        </a:spcAft>
                      </a:pPr>
                      <a:r>
                        <a:rPr lang="en-US" altLang="en-US" sz="1400" b="0" spc="120"/>
                        <a:t>Program execution order and logical branch paths.</a:t>
                      </a:r>
                    </a:p>
                  </a:txBody>
                  <a:tcPr marL="177800" marR="177800" marT="107950" marB="107950" anchor="ctr"/>
                </a:tc>
                <a:tc>
                  <a:txBody>
                    <a:bodyPr/>
                    <a:lstStyle/>
                    <a:p>
                      <a:pPr indent="0" algn="l">
                        <a:lnSpc>
                          <a:spcPct val="120000"/>
                        </a:lnSpc>
                        <a:spcBef>
                          <a:spcPts val="0"/>
                        </a:spcBef>
                        <a:spcAft>
                          <a:spcPts val="0"/>
                        </a:spcAft>
                      </a:pPr>
                      <a:r>
                        <a:rPr lang="en-US" altLang="en-US" sz="1400" b="0" spc="120"/>
                        <a:t>Data value transfer paths and mathematical operation dependencies.</a:t>
                      </a:r>
                    </a:p>
                  </a:txBody>
                  <a:tcPr marL="177800" marR="177800" marT="107950" marB="107950" anchor="ctr"/>
                </a:tc>
                <a:extLst>
                  <a:ext uri="{0D108BD9-81ED-4DB2-BD59-A6C34878D82A}">
                    <a16:rowId xmlns:a16="http://schemas.microsoft.com/office/drawing/2014/main" val="10001"/>
                  </a:ext>
                </a:extLst>
              </a:tr>
              <a:tr h="751840">
                <a:tc>
                  <a:txBody>
                    <a:bodyPr/>
                    <a:lstStyle/>
                    <a:p>
                      <a:pPr indent="0" algn="l">
                        <a:lnSpc>
                          <a:spcPct val="120000"/>
                        </a:lnSpc>
                        <a:spcBef>
                          <a:spcPts val="0"/>
                        </a:spcBef>
                        <a:spcAft>
                          <a:spcPts val="0"/>
                        </a:spcAft>
                      </a:pPr>
                      <a:r>
                        <a:rPr lang="en-US" altLang="en-US" sz="1400" b="0" spc="120"/>
                        <a:t>Graph Nodes </a:t>
                      </a:r>
                      <a:r>
                        <a:rPr lang="en-US" altLang="zh-CN" sz="1400" b="0" spc="120"/>
                        <a:t>(Nodes) </a:t>
                      </a:r>
                      <a:r>
                        <a:rPr lang="en-US" altLang="en-US" sz="1400" b="0" spc="120"/>
                        <a:t>Represent</a:t>
                      </a:r>
                    </a:p>
                  </a:txBody>
                  <a:tcPr marL="177800" marR="177800" marT="107950" marB="107950" anchor="ctr"/>
                </a:tc>
                <a:tc>
                  <a:txBody>
                    <a:bodyPr/>
                    <a:lstStyle/>
                    <a:p>
                      <a:pPr indent="0" algn="l">
                        <a:lnSpc>
                          <a:spcPct val="120000"/>
                        </a:lnSpc>
                        <a:spcBef>
                          <a:spcPts val="0"/>
                        </a:spcBef>
                        <a:spcAft>
                          <a:spcPts val="0"/>
                        </a:spcAft>
                      </a:pPr>
                      <a:r>
                        <a:rPr lang="en-US" altLang="en-US" sz="1400" b="0" spc="120"/>
                        <a:t>Basic blocks (contiguous instruction sequences without branches).</a:t>
                      </a:r>
                    </a:p>
                  </a:txBody>
                  <a:tcPr marL="177800" marR="177800" marT="107950" marB="107950" anchor="ctr"/>
                </a:tc>
                <a:tc>
                  <a:txBody>
                    <a:bodyPr/>
                    <a:lstStyle/>
                    <a:p>
                      <a:pPr indent="0" algn="l">
                        <a:lnSpc>
                          <a:spcPct val="120000"/>
                        </a:lnSpc>
                        <a:spcBef>
                          <a:spcPts val="0"/>
                        </a:spcBef>
                        <a:spcAft>
                          <a:spcPts val="0"/>
                        </a:spcAft>
                      </a:pPr>
                      <a:r>
                        <a:rPr lang="en-US" altLang="en-US" sz="1400" b="0" spc="120"/>
                        <a:t>Mathematical operators (e.g., matrix multiplication, convolution).</a:t>
                      </a:r>
                    </a:p>
                  </a:txBody>
                  <a:tcPr marL="177800" marR="177800" marT="107950" marB="107950" anchor="ctr"/>
                </a:tc>
                <a:extLst>
                  <a:ext uri="{0D108BD9-81ED-4DB2-BD59-A6C34878D82A}">
                    <a16:rowId xmlns:a16="http://schemas.microsoft.com/office/drawing/2014/main" val="10002"/>
                  </a:ext>
                </a:extLst>
              </a:tr>
              <a:tr h="752475">
                <a:tc>
                  <a:txBody>
                    <a:bodyPr/>
                    <a:lstStyle/>
                    <a:p>
                      <a:pPr indent="0" algn="l">
                        <a:lnSpc>
                          <a:spcPct val="120000"/>
                        </a:lnSpc>
                        <a:spcBef>
                          <a:spcPts val="0"/>
                        </a:spcBef>
                        <a:spcAft>
                          <a:spcPts val="0"/>
                        </a:spcAft>
                      </a:pPr>
                      <a:r>
                        <a:rPr lang="en-US" altLang="en-US" sz="1400" b="0" spc="120"/>
                        <a:t>Graph Edges </a:t>
                      </a:r>
                      <a:r>
                        <a:rPr lang="en-US" altLang="zh-CN" sz="1400" b="0" spc="120"/>
                        <a:t>(Edges) </a:t>
                      </a:r>
                      <a:r>
                        <a:rPr lang="en-US" altLang="en-US" sz="1400" b="0" spc="120"/>
                        <a:t>Represent</a:t>
                      </a:r>
                    </a:p>
                  </a:txBody>
                  <a:tcPr marL="177800" marR="177800" marT="107950" marB="107950" anchor="ctr"/>
                </a:tc>
                <a:tc>
                  <a:txBody>
                    <a:bodyPr/>
                    <a:lstStyle/>
                    <a:p>
                      <a:pPr indent="0" algn="l">
                        <a:lnSpc>
                          <a:spcPct val="120000"/>
                        </a:lnSpc>
                        <a:spcBef>
                          <a:spcPts val="0"/>
                        </a:spcBef>
                        <a:spcAft>
                          <a:spcPts val="0"/>
                        </a:spcAft>
                      </a:pPr>
                      <a:r>
                        <a:rPr lang="en-US" altLang="en-US" sz="1400" b="0" spc="120"/>
                        <a:t>Control flow directions, loop jumps, conditional branch targets.</a:t>
                      </a:r>
                    </a:p>
                  </a:txBody>
                  <a:tcPr marL="177800" marR="177800" marT="107950" marB="107950" anchor="ctr"/>
                </a:tc>
                <a:tc>
                  <a:txBody>
                    <a:bodyPr/>
                    <a:lstStyle/>
                    <a:p>
                      <a:pPr indent="0" algn="l">
                        <a:lnSpc>
                          <a:spcPct val="120000"/>
                        </a:lnSpc>
                        <a:spcBef>
                          <a:spcPts val="0"/>
                        </a:spcBef>
                        <a:spcAft>
                          <a:spcPts val="0"/>
                        </a:spcAft>
                      </a:pPr>
                      <a:r>
                        <a:rPr lang="en-US" altLang="en-US" sz="1400" b="0" spc="120"/>
                        <a:t>Data definition (output) flowing to data usage (input).</a:t>
                      </a:r>
                    </a:p>
                  </a:txBody>
                  <a:tcPr marL="177800" marR="177800" marT="107950" marB="107950" anchor="ctr"/>
                </a:tc>
                <a:extLst>
                  <a:ext uri="{0D108BD9-81ED-4DB2-BD59-A6C34878D82A}">
                    <a16:rowId xmlns:a16="http://schemas.microsoft.com/office/drawing/2014/main" val="10003"/>
                  </a:ext>
                </a:extLst>
              </a:tr>
              <a:tr h="751840">
                <a:tc>
                  <a:txBody>
                    <a:bodyPr/>
                    <a:lstStyle/>
                    <a:p>
                      <a:pPr indent="0" algn="l">
                        <a:lnSpc>
                          <a:spcPct val="120000"/>
                        </a:lnSpc>
                        <a:spcBef>
                          <a:spcPts val="0"/>
                        </a:spcBef>
                        <a:spcAft>
                          <a:spcPts val="0"/>
                        </a:spcAft>
                      </a:pPr>
                      <a:r>
                        <a:rPr lang="en-US" altLang="en-US" sz="1400" b="0" spc="120"/>
                        <a:t>Execution Trigger Condition</a:t>
                      </a:r>
                    </a:p>
                  </a:txBody>
                  <a:tcPr marL="177800" marR="177800" marT="107950" marB="107950" anchor="ctr"/>
                </a:tc>
                <a:tc>
                  <a:txBody>
                    <a:bodyPr/>
                    <a:lstStyle/>
                    <a:p>
                      <a:pPr indent="0" algn="l">
                        <a:lnSpc>
                          <a:spcPct val="120000"/>
                        </a:lnSpc>
                        <a:spcBef>
                          <a:spcPts val="0"/>
                        </a:spcBef>
                        <a:spcAft>
                          <a:spcPts val="0"/>
                        </a:spcAft>
                      </a:pPr>
                      <a:r>
                        <a:rPr lang="en-US" altLang="en-US" sz="1400" b="0" spc="120"/>
                        <a:t>Program counter (</a:t>
                      </a:r>
                      <a:r>
                        <a:rPr lang="en-US" altLang="zh-CN" sz="1400" b="0" spc="120"/>
                        <a:t>PC</a:t>
                      </a:r>
                      <a:r>
                        <a:rPr lang="en-US" altLang="en-US" sz="1400" b="0" spc="120"/>
                        <a:t>) sequentially pointing to the node.</a:t>
                      </a:r>
                    </a:p>
                  </a:txBody>
                  <a:tcPr marL="177800" marR="177800" marT="107950" marB="107950" anchor="ctr"/>
                </a:tc>
                <a:tc>
                  <a:txBody>
                    <a:bodyPr/>
                    <a:lstStyle/>
                    <a:p>
                      <a:pPr indent="0" algn="l">
                        <a:lnSpc>
                          <a:spcPct val="120000"/>
                        </a:lnSpc>
                        <a:spcBef>
                          <a:spcPts val="0"/>
                        </a:spcBef>
                        <a:spcAft>
                          <a:spcPts val="0"/>
                        </a:spcAft>
                      </a:pPr>
                      <a:r>
                        <a:rPr lang="en-US" altLang="en-US" sz="1400" b="0" spc="120"/>
                        <a:t>All required upstream input data has been computed and is ready.</a:t>
                      </a:r>
                    </a:p>
                  </a:txBody>
                  <a:tcPr marL="177800" marR="177800" marT="107950" marB="107950" anchor="ctr"/>
                </a:tc>
                <a:extLst>
                  <a:ext uri="{0D108BD9-81ED-4DB2-BD59-A6C34878D82A}">
                    <a16:rowId xmlns:a16="http://schemas.microsoft.com/office/drawing/2014/main" val="10004"/>
                  </a:ext>
                </a:extLst>
              </a:tr>
              <a:tr h="1016635">
                <a:tc>
                  <a:txBody>
                    <a:bodyPr/>
                    <a:lstStyle/>
                    <a:p>
                      <a:pPr indent="0" algn="l">
                        <a:lnSpc>
                          <a:spcPct val="120000"/>
                        </a:lnSpc>
                        <a:spcBef>
                          <a:spcPts val="0"/>
                        </a:spcBef>
                        <a:spcAft>
                          <a:spcPts val="0"/>
                        </a:spcAft>
                      </a:pPr>
                      <a:r>
                        <a:rPr lang="en-US" altLang="en-US" sz="1400" b="0" spc="120"/>
                        <a:t>Parallelization Potential</a:t>
                      </a:r>
                    </a:p>
                  </a:txBody>
                  <a:tcPr marL="177800" marR="177800" marT="107950" marB="107950" anchor="ctr"/>
                </a:tc>
                <a:tc>
                  <a:txBody>
                    <a:bodyPr/>
                    <a:lstStyle/>
                    <a:p>
                      <a:pPr indent="0" algn="l">
                        <a:lnSpc>
                          <a:spcPct val="120000"/>
                        </a:lnSpc>
                        <a:spcBef>
                          <a:spcPts val="0"/>
                        </a:spcBef>
                        <a:spcAft>
                          <a:spcPts val="0"/>
                        </a:spcAft>
                      </a:pPr>
                      <a:r>
                        <a:rPr lang="en-US" altLang="en-US" sz="1400" b="0" spc="120"/>
                        <a:t>Very low. Constrained by strict instruction execution order and hard-to-predict branches.</a:t>
                      </a:r>
                    </a:p>
                  </a:txBody>
                  <a:tcPr marL="177800" marR="177800" marT="107950" marB="107950" anchor="ctr"/>
                </a:tc>
                <a:tc>
                  <a:txBody>
                    <a:bodyPr/>
                    <a:lstStyle/>
                    <a:p>
                      <a:pPr indent="0" algn="l">
                        <a:lnSpc>
                          <a:spcPct val="120000"/>
                        </a:lnSpc>
                        <a:spcBef>
                          <a:spcPts val="0"/>
                        </a:spcBef>
                        <a:spcAft>
                          <a:spcPts val="0"/>
                        </a:spcAft>
                      </a:pPr>
                      <a:r>
                        <a:rPr lang="en-US" altLang="en-US" sz="1400" b="0" spc="120"/>
                        <a:t>Very high. Naturally exposes maximum parallelism at both operator and instruction levels.</a:t>
                      </a:r>
                    </a:p>
                  </a:txBody>
                  <a:tcPr marL="177800" marR="177800" marT="107950" marB="107950" anchor="ctr"/>
                </a:tc>
                <a:extLst>
                  <a:ext uri="{0D108BD9-81ED-4DB2-BD59-A6C34878D82A}">
                    <a16:rowId xmlns:a16="http://schemas.microsoft.com/office/drawing/2014/main" val="10005"/>
                  </a:ext>
                </a:extLst>
              </a:tr>
              <a:tr h="751840">
                <a:tc>
                  <a:txBody>
                    <a:bodyPr/>
                    <a:lstStyle/>
                    <a:p>
                      <a:pPr indent="0" algn="l">
                        <a:lnSpc>
                          <a:spcPct val="120000"/>
                        </a:lnSpc>
                        <a:spcBef>
                          <a:spcPts val="0"/>
                        </a:spcBef>
                        <a:spcAft>
                          <a:spcPts val="0"/>
                        </a:spcAft>
                      </a:pPr>
                      <a:r>
                        <a:rPr lang="en-US" altLang="en-US" sz="1400" b="0" spc="120"/>
                        <a:t>Typical Application Scenarios</a:t>
                      </a:r>
                    </a:p>
                  </a:txBody>
                  <a:tcPr marL="177800" marR="177800" marT="107950" marB="107950" anchor="ctr"/>
                </a:tc>
                <a:tc>
                  <a:txBody>
                    <a:bodyPr/>
                    <a:lstStyle/>
                    <a:p>
                      <a:pPr indent="0" algn="l">
                        <a:lnSpc>
                          <a:spcPct val="120000"/>
                        </a:lnSpc>
                        <a:spcBef>
                          <a:spcPts val="0"/>
                        </a:spcBef>
                        <a:spcAft>
                          <a:spcPts val="0"/>
                        </a:spcAft>
                      </a:pPr>
                      <a:r>
                        <a:rPr lang="en-US" altLang="en-US" sz="1400" b="0" spc="120"/>
                        <a:t>General software, OS kernels, business logic control.</a:t>
                      </a:r>
                    </a:p>
                  </a:txBody>
                  <a:tcPr marL="177800" marR="177800" marT="107950" marB="107950" anchor="ctr"/>
                </a:tc>
                <a:tc>
                  <a:txBody>
                    <a:bodyPr/>
                    <a:lstStyle/>
                    <a:p>
                      <a:pPr indent="0" algn="l">
                        <a:lnSpc>
                          <a:spcPct val="120000"/>
                        </a:lnSpc>
                        <a:spcBef>
                          <a:spcPts val="0"/>
                        </a:spcBef>
                        <a:spcAft>
                          <a:spcPts val="0"/>
                        </a:spcAft>
                      </a:pPr>
                      <a:r>
                        <a:rPr lang="en-US" altLang="en-US" sz="1400" b="0" spc="120"/>
                        <a:t>Deep learning tensor computation graphs, digital signal processing.</a:t>
                      </a:r>
                    </a:p>
                  </a:txBody>
                  <a:tcPr marL="177800" marR="177800" marT="107950" marB="107950" anchor="ctr"/>
                </a:tc>
                <a:extLst>
                  <a:ext uri="{0D108BD9-81ED-4DB2-BD59-A6C34878D82A}">
                    <a16:rowId xmlns:a16="http://schemas.microsoft.com/office/drawing/2014/main" val="10006"/>
                  </a:ext>
                </a:extLst>
              </a:tr>
            </a:tbl>
          </a:graphicData>
        </a:graphic>
      </p:graphicFrame>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Static Single Assignment</a:t>
            </a:r>
            <a:r>
              <a:rPr lang="en-US" altLang="zh-CN"/>
              <a:t> (SSA) </a:t>
            </a:r>
            <a:r>
              <a:rPr lang="en-US" altLang="en-US"/>
              <a:t> Form</a:t>
            </a:r>
          </a:p>
        </p:txBody>
      </p:sp>
      <p:sp>
        <p:nvSpPr>
          <p:cNvPr id="4" name="页脚占位符 3"/>
          <p:cNvSpPr>
            <a:spLocks noGrp="1"/>
          </p:cNvSpPr>
          <p:nvPr>
            <p:ph type="ftr" sz="quarter" idx="11"/>
          </p:nvPr>
        </p:nvSpPr>
        <p:spPr/>
        <p:txBody>
          <a:bodyPr/>
          <a:lstStyle/>
          <a:p>
            <a:r>
              <a:rPr lang="en-US" altLang="zh-CN" dirty="0"/>
              <a:t>https://en.wikipedia.org/wiki/Static_single-assignment_form</a:t>
            </a:r>
          </a:p>
        </p:txBody>
      </p:sp>
      <p:sp>
        <p:nvSpPr>
          <p:cNvPr id="5" name="灯片编号占位符 4"/>
          <p:cNvSpPr>
            <a:spLocks noGrp="1"/>
          </p:cNvSpPr>
          <p:nvPr>
            <p:ph type="sldNum" sz="quarter" idx="12"/>
          </p:nvPr>
        </p:nvSpPr>
        <p:spPr/>
        <p:txBody>
          <a:bodyPr/>
          <a:lstStyle/>
          <a:p>
            <a:fld id="{B33F7469-D28B-482F-B1B6-3B8E7CF51519}" type="slidenum">
              <a:rPr lang="en-US" altLang="en-US" smtClean="0"/>
              <a:t>9</a:t>
            </a:fld>
            <a:endParaRPr lang="en-US" altLang="en-US" dirty="0"/>
          </a:p>
        </p:txBody>
      </p:sp>
      <p:sp>
        <p:nvSpPr>
          <p:cNvPr id="3" name="内容占位符 2"/>
          <p:cNvSpPr>
            <a:spLocks noGrp="1"/>
          </p:cNvSpPr>
          <p:nvPr>
            <p:ph sz="quarter" idx="13"/>
          </p:nvPr>
        </p:nvSpPr>
        <p:spPr>
          <a:xfrm>
            <a:off x="523875" y="1323975"/>
            <a:ext cx="6727825" cy="4853305"/>
          </a:xfrm>
        </p:spPr>
        <p:txBody>
          <a:bodyPr>
            <a:noAutofit/>
          </a:bodyPr>
          <a:lstStyle/>
          <a:p>
            <a:r>
              <a:rPr lang="en-US" altLang="en-US" sz="2000"/>
              <a:t>The Nightmare of Traditional Code: </a:t>
            </a:r>
            <a:r>
              <a:rPr lang="en-US" altLang="zh-CN" sz="2000"/>
              <a:t> </a:t>
            </a:r>
          </a:p>
          <a:p>
            <a:pPr lvl="1"/>
            <a:r>
              <a:rPr lang="en-US" altLang="en-US" sz="1800"/>
              <a:t>Variables can be repeatedly overwritten (e.g.,</a:t>
            </a:r>
            <a:r>
              <a:rPr lang="en-US" altLang="zh-CN" sz="1800"/>
              <a:t> x = 1; x = x + 1</a:t>
            </a:r>
            <a:r>
              <a:rPr lang="en-US" altLang="en-US" sz="1800"/>
              <a:t>), making it difficult for the compiler to track </a:t>
            </a:r>
            <a:r>
              <a:rPr lang="en-US" altLang="zh-CN" sz="1800"/>
              <a:t>“</a:t>
            </a:r>
            <a:r>
              <a:rPr lang="en-US" altLang="en-US" sz="1800"/>
              <a:t>which line generated the current</a:t>
            </a:r>
            <a:r>
              <a:rPr lang="en-US" altLang="zh-CN" sz="1800"/>
              <a:t> x ” </a:t>
            </a:r>
            <a:r>
              <a:rPr lang="en-US" altLang="en-US" sz="1800"/>
              <a:t>.</a:t>
            </a:r>
          </a:p>
          <a:p>
            <a:pPr lvl="0"/>
            <a:r>
              <a:rPr lang="en-US" altLang="zh-CN" sz="2000"/>
              <a:t>SSA </a:t>
            </a:r>
            <a:r>
              <a:rPr lang="en-US" altLang="en-US" sz="2000"/>
              <a:t> Requirement: </a:t>
            </a:r>
            <a:r>
              <a:rPr lang="en-US" altLang="zh-CN" sz="2000"/>
              <a:t> </a:t>
            </a:r>
          </a:p>
          <a:p>
            <a:pPr lvl="1"/>
            <a:r>
              <a:rPr lang="en-US" altLang="en-US" sz="1800"/>
              <a:t>in</a:t>
            </a:r>
            <a:r>
              <a:rPr lang="en-US" altLang="zh-CN" sz="1800"/>
              <a:t> SSA </a:t>
            </a:r>
            <a:r>
              <a:rPr lang="en-US" altLang="en-US" sz="1800"/>
              <a:t> form, the</a:t>
            </a:r>
            <a:r>
              <a:rPr lang="en-US" altLang="zh-CN" sz="1800"/>
              <a:t> IR </a:t>
            </a:r>
            <a:r>
              <a:rPr lang="en-US" altLang="en-US" sz="1800"/>
              <a:t>, every variable in the program can be assigned exactly once throughout its entire lifetime</a:t>
            </a:r>
            <a:r>
              <a:rPr lang="en-US" altLang="zh-CN" sz="1800"/>
              <a:t> </a:t>
            </a:r>
            <a:r>
              <a:rPr lang="en-US" altLang="en-US" sz="1800"/>
              <a:t>.</a:t>
            </a:r>
          </a:p>
          <a:p>
            <a:pPr lvl="1"/>
            <a:r>
              <a:rPr lang="en-US" altLang="en-US" sz="1800"/>
              <a:t>Version Splitting Mechanism: </a:t>
            </a:r>
            <a:r>
              <a:rPr lang="en-US" altLang="zh-CN" sz="1800"/>
              <a:t> </a:t>
            </a:r>
            <a:r>
              <a:rPr lang="en-US" altLang="en-US" sz="1800"/>
              <a:t>If a variable is assigned multiple times in the original code, the compiler automatically generates multiple new versions with incrementing subscripts (e.g.,</a:t>
            </a:r>
            <a:r>
              <a:rPr lang="en-US" altLang="zh-CN" sz="1800"/>
              <a:t> $x_1, x_2, x_3$</a:t>
            </a:r>
            <a:r>
              <a:rPr lang="en-US" altLang="en-US" sz="1800"/>
              <a:t>）.</a:t>
            </a:r>
          </a:p>
          <a:p>
            <a:pPr lvl="1"/>
            <a:r>
              <a:rPr lang="en-US" altLang="en-US" sz="1800"/>
              <a:t>Functional Transparency: </a:t>
            </a:r>
            <a:r>
              <a:rPr lang="en-US" altLang="zh-CN" sz="1800"/>
              <a:t> </a:t>
            </a:r>
            <a:r>
              <a:rPr lang="en-US" altLang="en-US" sz="1800"/>
              <a:t>in</a:t>
            </a:r>
            <a:r>
              <a:rPr lang="en-US" altLang="zh-CN" sz="1800"/>
              <a:t> SSA </a:t>
            </a:r>
            <a:r>
              <a:rPr lang="en-US" altLang="en-US" sz="1800"/>
              <a:t>, </a:t>
            </a:r>
            <a:r>
              <a:rPr lang="en-US" altLang="zh-CN" sz="1800"/>
              <a:t>“</a:t>
            </a:r>
            <a:r>
              <a:rPr lang="en-US" altLang="en-US" sz="1800"/>
              <a:t>a variable name</a:t>
            </a:r>
            <a:r>
              <a:rPr lang="en-US" altLang="zh-CN" sz="1800"/>
              <a:t>”</a:t>
            </a:r>
            <a:r>
              <a:rPr lang="en-US" altLang="en-US" sz="1800"/>
              <a:t> is equivalent to</a:t>
            </a:r>
            <a:r>
              <a:rPr lang="en-US" altLang="zh-CN" sz="1800"/>
              <a:t>“</a:t>
            </a:r>
            <a:r>
              <a:rPr lang="en-US" altLang="en-US" sz="1800"/>
              <a:t>the unique instruction that produced it</a:t>
            </a:r>
            <a:r>
              <a:rPr lang="en-US" altLang="zh-CN" sz="1800"/>
              <a:t>”</a:t>
            </a:r>
            <a:r>
              <a:rPr lang="en-US" altLang="en-US" sz="1800"/>
              <a:t>, making the code mathematically unambiguous</a:t>
            </a:r>
            <a:r>
              <a:rPr lang="en-US" altLang="zh-CN" sz="1800"/>
              <a:t> </a:t>
            </a:r>
            <a:r>
              <a:rPr lang="en-US" altLang="en-US" sz="1800"/>
              <a:t>.</a:t>
            </a:r>
          </a:p>
        </p:txBody>
      </p:sp>
      <p:pic>
        <p:nvPicPr>
          <p:cNvPr id="7" name="图片 6"/>
          <p:cNvPicPr>
            <a:picLocks noChangeAspect="1"/>
          </p:cNvPicPr>
          <p:nvPr/>
        </p:nvPicPr>
        <p:blipFill>
          <a:blip r:embed="rId2"/>
          <a:stretch>
            <a:fillRect/>
          </a:stretch>
        </p:blipFill>
        <p:spPr>
          <a:xfrm>
            <a:off x="7433310" y="1430020"/>
            <a:ext cx="1905000" cy="2762250"/>
          </a:xfrm>
          <a:prstGeom prst="rect">
            <a:avLst/>
          </a:prstGeom>
        </p:spPr>
      </p:pic>
      <p:pic>
        <p:nvPicPr>
          <p:cNvPr id="8" name="图片 7"/>
          <p:cNvPicPr>
            <a:picLocks noChangeAspect="1"/>
          </p:cNvPicPr>
          <p:nvPr/>
        </p:nvPicPr>
        <p:blipFill>
          <a:blip r:embed="rId3"/>
          <a:stretch>
            <a:fillRect/>
          </a:stretch>
        </p:blipFill>
        <p:spPr>
          <a:xfrm>
            <a:off x="9608820" y="1430020"/>
            <a:ext cx="1905000" cy="276225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Φ (Phi) </a:t>
            </a:r>
            <a:r>
              <a:rPr lang="en-US" altLang="en-US"/>
              <a:t> Function</a:t>
            </a:r>
          </a:p>
        </p:txBody>
      </p:sp>
      <p:sp>
        <p:nvSpPr>
          <p:cNvPr id="4" name="页脚占位符 3"/>
          <p:cNvSpPr>
            <a:spLocks noGrp="1"/>
          </p:cNvSpPr>
          <p:nvPr>
            <p:ph type="ftr" sz="quarter" idx="11"/>
          </p:nvPr>
        </p:nvSpPr>
        <p:spPr/>
        <p:txBody>
          <a:bodyPr/>
          <a:lstStyle/>
          <a:p>
            <a:r>
              <a:rPr lang="en-US" altLang="zh-CN" dirty="0">
                <a:sym typeface="+mn-ea"/>
              </a:rPr>
              <a:t>https://en.wikipedia.org/wiki/Static_single-assignment_form</a:t>
            </a:r>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10</a:t>
            </a:fld>
            <a:endParaRPr lang="en-US" altLang="en-US" dirty="0"/>
          </a:p>
        </p:txBody>
      </p:sp>
      <p:sp>
        <p:nvSpPr>
          <p:cNvPr id="3" name="内容占位符 2"/>
          <p:cNvSpPr>
            <a:spLocks noGrp="1"/>
          </p:cNvSpPr>
          <p:nvPr>
            <p:ph sz="quarter" idx="13"/>
          </p:nvPr>
        </p:nvSpPr>
        <p:spPr>
          <a:xfrm>
            <a:off x="523875" y="1323975"/>
            <a:ext cx="8176260" cy="4853305"/>
          </a:xfrm>
        </p:spPr>
        <p:txBody>
          <a:bodyPr/>
          <a:lstStyle/>
          <a:p>
            <a:pPr>
              <a:lnSpc>
                <a:spcPct val="110000"/>
              </a:lnSpc>
            </a:pPr>
            <a:r>
              <a:rPr lang="en-US" altLang="en-US" sz="2000"/>
              <a:t>Logical Conflict: </a:t>
            </a:r>
            <a:r>
              <a:rPr lang="en-US" altLang="zh-CN" sz="2000"/>
              <a:t> </a:t>
            </a:r>
          </a:p>
          <a:p>
            <a:pPr lvl="1">
              <a:lnSpc>
                <a:spcPct val="110000"/>
              </a:lnSpc>
            </a:pPr>
            <a:r>
              <a:rPr lang="en-US" altLang="en-US" sz="1800"/>
              <a:t>When execution flow passes through</a:t>
            </a:r>
            <a:r>
              <a:rPr lang="en-US" altLang="zh-CN" sz="1800"/>
              <a:t> if/else </a:t>
            </a:r>
            <a:r>
              <a:rPr lang="en-US" altLang="en-US" sz="1800"/>
              <a:t> branches and reconverges at a basic block, which version of the variable should subsequent code use? (e.g., if</a:t>
            </a:r>
            <a:r>
              <a:rPr lang="en-US" altLang="zh-CN" sz="1800"/>
              <a:t> if </a:t>
            </a:r>
            <a:r>
              <a:rPr lang="en-US" altLang="en-US" sz="1800"/>
              <a:t> produces</a:t>
            </a:r>
            <a:r>
              <a:rPr lang="en-US" altLang="zh-CN" sz="1800"/>
              <a:t> x_1</a:t>
            </a:r>
            <a:r>
              <a:rPr lang="en-US" altLang="en-US" sz="1800"/>
              <a:t>, </a:t>
            </a:r>
            <a:r>
              <a:rPr lang="en-US" altLang="zh-CN" sz="1800"/>
              <a:t>else </a:t>
            </a:r>
            <a:r>
              <a:rPr lang="en-US" altLang="en-US" sz="1800"/>
              <a:t> produces</a:t>
            </a:r>
            <a:r>
              <a:rPr lang="en-US" altLang="zh-CN" sz="1800"/>
              <a:t> x_2</a:t>
            </a:r>
            <a:r>
              <a:rPr lang="en-US" altLang="en-US" sz="1800"/>
              <a:t>）.</a:t>
            </a:r>
          </a:p>
          <a:p>
            <a:pPr>
              <a:lnSpc>
                <a:spcPct val="110000"/>
              </a:lnSpc>
            </a:pPr>
            <a:r>
              <a:rPr lang="en-US" altLang="zh-CN" sz="2000">
                <a:sym typeface="+mn-ea"/>
              </a:rPr>
              <a:t>Φ</a:t>
            </a:r>
            <a:r>
              <a:rPr lang="en-US" altLang="zh-CN" sz="2000"/>
              <a:t> </a:t>
            </a:r>
            <a:r>
              <a:rPr lang="en-US" altLang="en-US" sz="2000"/>
              <a:t> Function</a:t>
            </a:r>
            <a:r>
              <a:rPr lang="en-US" altLang="zh-CN" sz="2000"/>
              <a:t> (Phi-node)</a:t>
            </a:r>
            <a:r>
              <a:rPr lang="en-US" altLang="en-US" sz="2000"/>
              <a:t>:</a:t>
            </a:r>
            <a:r>
              <a:rPr lang="en-US" altLang="zh-CN" sz="2000"/>
              <a:t> </a:t>
            </a:r>
          </a:p>
          <a:p>
            <a:pPr lvl="1">
              <a:lnSpc>
                <a:spcPct val="110000"/>
              </a:lnSpc>
            </a:pPr>
            <a:r>
              <a:rPr lang="en-US" altLang="en-US" sz="1800"/>
              <a:t>To maintain the</a:t>
            </a:r>
            <a:r>
              <a:rPr lang="en-US" altLang="zh-CN" sz="1800"/>
              <a:t> SSA </a:t>
            </a:r>
            <a:r>
              <a:rPr lang="en-US" altLang="en-US" sz="1800"/>
              <a:t> single-assignment rule, the compiler inserts a virtual instruction at the join point, e.g.,</a:t>
            </a:r>
            <a:r>
              <a:rPr lang="en-US" altLang="zh-CN" sz="1800"/>
              <a:t> x_3 = </a:t>
            </a:r>
            <a:r>
              <a:rPr lang="en-US" altLang="zh-CN" sz="1800">
                <a:sym typeface="+mn-ea"/>
              </a:rPr>
              <a:t>Φ</a:t>
            </a:r>
            <a:r>
              <a:rPr lang="en-US" altLang="zh-CN" sz="1800"/>
              <a:t>(x_1, x_2) </a:t>
            </a:r>
            <a:r>
              <a:rPr lang="en-US" altLang="en-US" sz="1800"/>
              <a:t>.</a:t>
            </a:r>
          </a:p>
          <a:p>
            <a:pPr>
              <a:lnSpc>
                <a:spcPct val="110000"/>
              </a:lnSpc>
            </a:pPr>
            <a:r>
              <a:rPr lang="en-US" altLang="en-US" sz="2000"/>
              <a:t>Runtime Dynamic Routing: </a:t>
            </a:r>
            <a:r>
              <a:rPr lang="en-US" altLang="zh-CN" sz="2000"/>
              <a:t> </a:t>
            </a:r>
          </a:p>
          <a:p>
            <a:pPr lvl="1">
              <a:lnSpc>
                <a:spcPct val="110000"/>
              </a:lnSpc>
            </a:pPr>
            <a:r>
              <a:rPr lang="en-US" altLang="zh-CN" sz="1800">
                <a:sym typeface="+mn-ea"/>
              </a:rPr>
              <a:t>Φ </a:t>
            </a:r>
            <a:r>
              <a:rPr lang="en-US" altLang="en-US" sz="1800"/>
              <a:t> function acts as a multiplexer. During actual program execution, it selects the correct source variable based on which control flow edge was taken</a:t>
            </a:r>
            <a:r>
              <a:rPr lang="en-US" altLang="zh-CN" sz="1800"/>
              <a:t> (x_1 </a:t>
            </a:r>
            <a:r>
              <a:rPr lang="en-US" altLang="en-US" sz="1800"/>
              <a:t>or</a:t>
            </a:r>
            <a:r>
              <a:rPr lang="en-US" altLang="zh-CN" sz="1800"/>
              <a:t> x_2)</a:t>
            </a:r>
            <a:r>
              <a:rPr lang="en-US" altLang="en-US" sz="1800"/>
              <a:t>, and assigns the value to a brand new variable</a:t>
            </a:r>
            <a:r>
              <a:rPr lang="en-US" altLang="zh-CN" sz="1800"/>
              <a:t> x_3</a:t>
            </a:r>
            <a:r>
              <a:rPr lang="en-US" altLang="en-US" sz="1800"/>
              <a:t>.</a:t>
            </a:r>
          </a:p>
        </p:txBody>
      </p:sp>
      <p:pic>
        <p:nvPicPr>
          <p:cNvPr id="9" name="图片 8"/>
          <p:cNvPicPr>
            <a:picLocks noChangeAspect="1"/>
          </p:cNvPicPr>
          <p:nvPr/>
        </p:nvPicPr>
        <p:blipFill>
          <a:blip r:embed="rId2"/>
          <a:stretch>
            <a:fillRect/>
          </a:stretch>
        </p:blipFill>
        <p:spPr>
          <a:xfrm>
            <a:off x="9425940" y="1491615"/>
            <a:ext cx="1905000" cy="2838450"/>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Def-Use chains</a:t>
            </a:r>
          </a:p>
        </p:txBody>
      </p:sp>
      <p:sp>
        <p:nvSpPr>
          <p:cNvPr id="4" name="页脚占位符 3"/>
          <p:cNvSpPr>
            <a:spLocks noGrp="1"/>
          </p:cNvSpPr>
          <p:nvPr>
            <p:ph type="ftr" sz="quarter" idx="11"/>
          </p:nvPr>
        </p:nvSpPr>
        <p:spPr/>
        <p:txBody>
          <a:bodyPr/>
          <a:lstStyle/>
          <a:p>
            <a:r>
              <a:rPr lang="en-US" altLang="zh-CN" dirty="0"/>
              <a:t>https://www.researchgate.net/figure/Comparison-of-data-flow-representations-a-def-use-chains-b-SSA-and-c-Gated_fig4_2729044</a:t>
            </a:r>
          </a:p>
        </p:txBody>
      </p:sp>
      <p:sp>
        <p:nvSpPr>
          <p:cNvPr id="5" name="灯片编号占位符 4"/>
          <p:cNvSpPr>
            <a:spLocks noGrp="1"/>
          </p:cNvSpPr>
          <p:nvPr>
            <p:ph type="sldNum" sz="quarter" idx="12"/>
          </p:nvPr>
        </p:nvSpPr>
        <p:spPr/>
        <p:txBody>
          <a:bodyPr/>
          <a:lstStyle/>
          <a:p>
            <a:fld id="{B33F7469-D28B-482F-B1B6-3B8E7CF51519}" type="slidenum">
              <a:rPr lang="en-US" altLang="en-US" smtClean="0"/>
              <a:t>11</a:t>
            </a:fld>
            <a:endParaRPr lang="en-US" altLang="en-US" dirty="0"/>
          </a:p>
        </p:txBody>
      </p:sp>
      <p:sp>
        <p:nvSpPr>
          <p:cNvPr id="3" name="内容占位符 2"/>
          <p:cNvSpPr>
            <a:spLocks noGrp="1"/>
          </p:cNvSpPr>
          <p:nvPr>
            <p:ph sz="quarter" idx="13"/>
          </p:nvPr>
        </p:nvSpPr>
        <p:spPr>
          <a:xfrm>
            <a:off x="523875" y="1323975"/>
            <a:ext cx="6779895" cy="4853305"/>
          </a:xfrm>
        </p:spPr>
        <p:txBody>
          <a:bodyPr>
            <a:normAutofit/>
          </a:bodyPr>
          <a:lstStyle/>
          <a:p>
            <a:r>
              <a:rPr lang="en-US" altLang="en-US" sz="2000"/>
              <a:t>Traditional Non-</a:t>
            </a:r>
            <a:r>
              <a:rPr lang="en-US" altLang="zh-CN" sz="2000"/>
              <a:t> SSA </a:t>
            </a:r>
            <a:r>
              <a:rPr lang="en-US" altLang="en-US" sz="2000"/>
              <a:t> Combinatorial Explosion: </a:t>
            </a:r>
            <a:r>
              <a:rPr lang="en-US" altLang="zh-CN" sz="2000"/>
              <a:t> </a:t>
            </a:r>
          </a:p>
          <a:p>
            <a:pPr lvl="1"/>
            <a:r>
              <a:rPr lang="en-US" altLang="en-US" sz="1800"/>
              <a:t>Since state can be overwritten, finding all possible sources of a variable requires complex bit-vector dataflow analysis, with time and space complexity reaching macroscopic</a:t>
            </a:r>
            <a:r>
              <a:rPr lang="en-US" altLang="zh-CN" sz="1800"/>
              <a:t> O(N^2)</a:t>
            </a:r>
            <a:r>
              <a:rPr lang="en-US" altLang="en-US" sz="1800"/>
              <a:t>.</a:t>
            </a:r>
          </a:p>
          <a:p>
            <a:pPr lvl="1"/>
            <a:r>
              <a:rPr lang="en-US" altLang="zh-CN" sz="1800"/>
              <a:t> </a:t>
            </a:r>
            <a:r>
              <a:rPr lang="en-US" altLang="en-US" sz="1800"/>
              <a:t>State Transfer Equations</a:t>
            </a:r>
            <a:r>
              <a:rPr lang="en-US" altLang="zh-CN" sz="1800"/>
              <a:t>:</a:t>
            </a:r>
            <a:endParaRPr lang="en-US" altLang="en-US" sz="1800"/>
          </a:p>
          <a:p>
            <a:pPr lvl="1"/>
            <a:endParaRPr lang="en-US" altLang="en-US" sz="1800"/>
          </a:p>
          <a:p>
            <a:r>
              <a:rPr lang="en-US" altLang="zh-CN" sz="2000"/>
              <a:t>SSA </a:t>
            </a:r>
            <a:r>
              <a:rPr lang="en-US" altLang="en-US" sz="2000"/>
              <a:t> </a:t>
            </a:r>
            <a:r>
              <a:rPr lang="en-US" altLang="zh-CN" sz="2000"/>
              <a:t> O(N) </a:t>
            </a:r>
            <a:r>
              <a:rPr lang="en-US" altLang="en-US" sz="2000"/>
              <a:t> Complexity: </a:t>
            </a:r>
            <a:r>
              <a:rPr lang="en-US" altLang="zh-CN" sz="2000"/>
              <a:t> </a:t>
            </a:r>
          </a:p>
          <a:p>
            <a:pPr lvl="1"/>
            <a:r>
              <a:rPr lang="en-US" altLang="en-US" sz="1800"/>
              <a:t>For any variable usage (</a:t>
            </a:r>
            <a:r>
              <a:rPr lang="en-US" altLang="zh-CN" sz="1800"/>
              <a:t>Use</a:t>
            </a:r>
            <a:r>
              <a:rPr lang="en-US" altLang="en-US" sz="1800"/>
              <a:t>), its uniquely corresponding source definition (</a:t>
            </a:r>
            <a:r>
              <a:rPr lang="en-US" altLang="zh-CN" sz="1800"/>
              <a:t>Definition</a:t>
            </a:r>
            <a:r>
              <a:rPr lang="en-US" altLang="en-US" sz="1800"/>
              <a:t>) in the code is absolutely determined.</a:t>
            </a:r>
          </a:p>
          <a:p>
            <a:pPr lvl="1"/>
            <a:r>
              <a:rPr lang="en-US" altLang="en-US" sz="1800"/>
              <a:t>Every variable definition point can clearly hold a list directly pointing to all its use points in the global graph</a:t>
            </a:r>
          </a:p>
        </p:txBody>
      </p:sp>
      <p:pic>
        <p:nvPicPr>
          <p:cNvPr id="6" name="图片 5"/>
          <p:cNvPicPr>
            <a:picLocks noChangeAspect="1"/>
          </p:cNvPicPr>
          <p:nvPr/>
        </p:nvPicPr>
        <p:blipFill>
          <a:blip r:embed="rId2"/>
          <a:stretch>
            <a:fillRect/>
          </a:stretch>
        </p:blipFill>
        <p:spPr>
          <a:xfrm>
            <a:off x="1871980" y="3248660"/>
            <a:ext cx="4330700" cy="558800"/>
          </a:xfrm>
          <a:prstGeom prst="rect">
            <a:avLst/>
          </a:prstGeom>
        </p:spPr>
      </p:pic>
      <p:pic>
        <p:nvPicPr>
          <p:cNvPr id="8" name="图片 7"/>
          <p:cNvPicPr>
            <a:picLocks noChangeAspect="1"/>
          </p:cNvPicPr>
          <p:nvPr/>
        </p:nvPicPr>
        <p:blipFill>
          <a:blip r:embed="rId3"/>
          <a:stretch>
            <a:fillRect/>
          </a:stretch>
        </p:blipFill>
        <p:spPr>
          <a:xfrm>
            <a:off x="7430770" y="1479550"/>
            <a:ext cx="4700270" cy="2682240"/>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SSA </a:t>
            </a:r>
            <a:r>
              <a:t> in</a:t>
            </a:r>
            <a:r>
              <a:rPr lang="en-US" altLang="en-US"/>
              <a:t>Constant Folding and Propagation</a:t>
            </a:r>
          </a:p>
        </p:txBody>
      </p:sp>
      <p:sp>
        <p:nvSpPr>
          <p:cNvPr id="4" name="页脚占位符 3"/>
          <p:cNvSpPr>
            <a:spLocks noGrp="1"/>
          </p:cNvSpPr>
          <p:nvPr>
            <p:ph type="ftr" sz="quarter" idx="11"/>
          </p:nvPr>
        </p:nvSpPr>
        <p:spPr/>
        <p:txBody>
          <a:bodyPr/>
          <a:lstStyle/>
          <a:p>
            <a:r>
              <a:rPr lang="en-US" altLang="zh-CN" dirty="0"/>
              <a:t>https://www.cs.utexas.edu/~pingali/CS380C/2013/lectures/ssa-slides.pdf</a:t>
            </a:r>
          </a:p>
        </p:txBody>
      </p:sp>
      <p:sp>
        <p:nvSpPr>
          <p:cNvPr id="5" name="灯片编号占位符 4"/>
          <p:cNvSpPr>
            <a:spLocks noGrp="1"/>
          </p:cNvSpPr>
          <p:nvPr>
            <p:ph type="sldNum" sz="quarter" idx="12"/>
          </p:nvPr>
        </p:nvSpPr>
        <p:spPr/>
        <p:txBody>
          <a:bodyPr/>
          <a:lstStyle/>
          <a:p>
            <a:fld id="{B33F7469-D28B-482F-B1B6-3B8E7CF51519}" type="slidenum">
              <a:rPr lang="en-US" altLang="en-US" smtClean="0"/>
              <a:t>12</a:t>
            </a:fld>
            <a:endParaRPr lang="en-US" altLang="en-US" dirty="0"/>
          </a:p>
        </p:txBody>
      </p:sp>
      <p:sp>
        <p:nvSpPr>
          <p:cNvPr id="3" name="内容占位符 2"/>
          <p:cNvSpPr>
            <a:spLocks noGrp="1"/>
          </p:cNvSpPr>
          <p:nvPr>
            <p:ph sz="quarter" idx="13"/>
          </p:nvPr>
        </p:nvSpPr>
        <p:spPr/>
        <p:txBody>
          <a:bodyPr/>
          <a:lstStyle/>
          <a:p>
            <a:r>
              <a:rPr lang="en-US" altLang="en-US" sz="2000"/>
              <a:t>Concept: </a:t>
            </a:r>
            <a:r>
              <a:rPr lang="en-US" altLang="zh-CN" sz="2000"/>
              <a:t> </a:t>
            </a:r>
            <a:r>
              <a:rPr lang="en-US" altLang="en-US" sz="2000"/>
              <a:t>Pre-computing at compile time expressions that would otherwise be computed at runtime.</a:t>
            </a:r>
          </a:p>
          <a:p>
            <a:r>
              <a:rPr lang="en-US" altLang="zh-CN" sz="2000"/>
              <a:t>SSA </a:t>
            </a:r>
            <a:r>
              <a:rPr lang="en-US" altLang="en-US" sz="2000"/>
              <a:t>'s: </a:t>
            </a:r>
            <a:r>
              <a:rPr lang="en-US" altLang="zh-CN" sz="2000"/>
              <a:t> </a:t>
            </a:r>
            <a:r>
              <a:rPr lang="en-US" altLang="en-US" sz="2000"/>
              <a:t>When the compiler encounters</a:t>
            </a:r>
            <a:r>
              <a:rPr lang="en-US" altLang="zh-CN" sz="2000"/>
              <a:t> y = x + 2 </a:t>
            </a:r>
            <a:r>
              <a:rPr lang="en-US" altLang="en-US" sz="2000"/>
              <a:t>, it can be directly folded to</a:t>
            </a:r>
            <a:r>
              <a:rPr lang="en-US" altLang="zh-CN" sz="2000"/>
              <a:t> 3</a:t>
            </a:r>
            <a:r>
              <a:rPr lang="en-US" altLang="en-US" sz="2000"/>
              <a:t>. Because</a:t>
            </a:r>
            <a:r>
              <a:rPr lang="en-US" altLang="zh-CN" sz="2000"/>
              <a:t> SSA </a:t>
            </a:r>
            <a:r>
              <a:rPr lang="en-US" altLang="en-US" sz="2000"/>
              <a:t> guarantees that</a:t>
            </a:r>
            <a:r>
              <a:rPr lang="en-US" altLang="zh-CN" sz="2000"/>
              <a:t> x </a:t>
            </a:r>
            <a:r>
              <a:rPr lang="en-US" altLang="en-US" sz="2000"/>
              <a:t>'s value will never be accidentally altered downstream.</a:t>
            </a:r>
          </a:p>
          <a:p>
            <a:r>
              <a:rPr lang="en-US" altLang="en-US" sz="2000"/>
              <a:t>Constant Propagation</a:t>
            </a:r>
            <a:r>
              <a:rPr lang="en-US" altLang="zh-CN" sz="2000"/>
              <a:t> (Constant Propagation)</a:t>
            </a:r>
            <a:r>
              <a:rPr lang="en-US" altLang="en-US" sz="2000"/>
              <a:t>:</a:t>
            </a:r>
            <a:r>
              <a:rPr lang="en-US" altLang="zh-CN" sz="2000"/>
              <a:t> </a:t>
            </a:r>
            <a:r>
              <a:rPr lang="en-US" altLang="en-US" sz="2000"/>
              <a:t>Following the</a:t>
            </a:r>
            <a:r>
              <a:rPr lang="en-US" altLang="zh-CN" sz="2000"/>
              <a:t> SSA </a:t>
            </a:r>
            <a:r>
              <a:rPr lang="en-US" altLang="en-US" sz="2000"/>
              <a:t>-provided</a:t>
            </a:r>
            <a:r>
              <a:rPr lang="en-US" altLang="zh-CN" sz="2000"/>
              <a:t> O(N) </a:t>
            </a:r>
            <a:r>
              <a:rPr lang="en-US" altLang="en-US" sz="2000"/>
              <a:t> complexity</a:t>
            </a:r>
            <a:r>
              <a:rPr lang="en-US" altLang="zh-CN" sz="2000"/>
              <a:t> DU </a:t>
            </a:r>
            <a:r>
              <a:rPr lang="en-US" altLang="en-US" sz="2000"/>
              <a:t> chain, the compiler can propagate this constant</a:t>
            </a:r>
            <a:r>
              <a:rPr lang="en-US" altLang="zh-CN" sz="2000"/>
              <a:t> 3 </a:t>
            </a:r>
            <a:r>
              <a:rPr lang="en-US" altLang="en-US" sz="2000"/>
              <a:t> to all places in the global graph using</a:t>
            </a:r>
            <a:r>
              <a:rPr lang="en-US" altLang="zh-CN" sz="2000"/>
              <a:t> y </a:t>
            </a:r>
            <a:r>
              <a:rPr lang="en-US" altLang="en-US" sz="2000"/>
              <a:t> and replace them, significantly reducing computation and potentially simplifyingcontrol flow.</a:t>
            </a:r>
          </a:p>
        </p:txBody>
      </p:sp>
      <p:pic>
        <p:nvPicPr>
          <p:cNvPr id="6" name="图片 5"/>
          <p:cNvPicPr>
            <a:picLocks noChangeAspect="1"/>
          </p:cNvPicPr>
          <p:nvPr/>
        </p:nvPicPr>
        <p:blipFill>
          <a:blip r:embed="rId2"/>
          <a:stretch>
            <a:fillRect/>
          </a:stretch>
        </p:blipFill>
        <p:spPr>
          <a:xfrm>
            <a:off x="3444240" y="4064000"/>
            <a:ext cx="5659755" cy="1952625"/>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SSA </a:t>
            </a:r>
            <a:r>
              <a:t> in</a:t>
            </a:r>
            <a:r>
              <a:rPr lang="en-US" altLang="en-US"/>
              <a:t>Dead Code Elimination</a:t>
            </a:r>
          </a:p>
        </p:txBody>
      </p:sp>
      <p:sp>
        <p:nvSpPr>
          <p:cNvPr id="4" name="页脚占位符 3"/>
          <p:cNvSpPr>
            <a:spLocks noGrp="1"/>
          </p:cNvSpPr>
          <p:nvPr>
            <p:ph type="ftr" sz="quarter" idx="11"/>
          </p:nvPr>
        </p:nvSpPr>
        <p:spPr/>
        <p:txBody>
          <a:bodyPr/>
          <a:lstStyle/>
          <a:p>
            <a:r>
              <a:rPr lang="en-US" altLang="zh-CN" dirty="0">
                <a:sym typeface="+mn-ea"/>
              </a:rPr>
              <a:t>https://www.cs.utexas.edu/~pingali/CS380C/2013/lectures/ssa-slides.pdf</a:t>
            </a:r>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13</a:t>
            </a:fld>
            <a:endParaRPr lang="en-US" altLang="en-US" dirty="0"/>
          </a:p>
        </p:txBody>
      </p:sp>
      <p:sp>
        <p:nvSpPr>
          <p:cNvPr id="3" name="内容占位符 2"/>
          <p:cNvSpPr>
            <a:spLocks noGrp="1"/>
          </p:cNvSpPr>
          <p:nvPr>
            <p:ph sz="quarter" idx="13"/>
          </p:nvPr>
        </p:nvSpPr>
        <p:spPr/>
        <p:txBody>
          <a:bodyPr/>
          <a:lstStyle/>
          <a:p>
            <a:r>
              <a:rPr lang="en-US" altLang="en-US" sz="2000"/>
              <a:t>Concept: </a:t>
            </a:r>
            <a:r>
              <a:rPr lang="en-US" altLang="zh-CN" sz="2000"/>
              <a:t> </a:t>
            </a:r>
            <a:r>
              <a:rPr lang="en-US" altLang="en-US" sz="2000"/>
              <a:t>Removing redundant instructions whose computation results never substantively impact the final program output.</a:t>
            </a:r>
            <a:endParaRPr lang="en-US" altLang="zh-CN" sz="2000"/>
          </a:p>
          <a:p>
            <a:r>
              <a:rPr lang="en-US" altLang="en-US" sz="2000"/>
              <a:t>in</a:t>
            </a:r>
            <a:r>
              <a:rPr lang="en-US" altLang="zh-CN" sz="2000"/>
              <a:t> SSA </a:t>
            </a:r>
            <a:r>
              <a:rPr lang="en-US" altLang="en-US" sz="2000"/>
              <a:t>, identifying dead code becomes a simple operation</a:t>
            </a:r>
            <a:r>
              <a:rPr lang="en-US" altLang="zh-CN" sz="2000"/>
              <a:t>:</a:t>
            </a:r>
            <a:r>
              <a:rPr lang="en-US" altLang="en-US" sz="2000"/>
              <a:t>: If an</a:t>
            </a:r>
            <a:r>
              <a:rPr lang="en-US" altLang="zh-CN" sz="2000"/>
              <a:t> SSA </a:t>
            </a:r>
            <a:r>
              <a:rPr lang="en-US" altLang="en-US" sz="2000"/>
              <a:t> variable's</a:t>
            </a:r>
            <a:r>
              <a:rPr lang="en-US" altLang="zh-CN" sz="2000"/>
              <a:t> Use-chain</a:t>
            </a:r>
            <a:r>
              <a:rPr lang="en-US" altLang="en-US" sz="2000"/>
              <a:t> list is empty, it is eliminable dead code.</a:t>
            </a:r>
            <a:endParaRPr lang="en-US" altLang="zh-CN" sz="2000"/>
          </a:p>
          <a:p>
            <a:r>
              <a:rPr lang="en-US" altLang="en-US" sz="2000"/>
              <a:t>Cascading Elimination Effect: </a:t>
            </a:r>
            <a:r>
              <a:rPr lang="en-US" altLang="zh-CN" sz="2000"/>
              <a:t> </a:t>
            </a:r>
            <a:r>
              <a:rPr lang="en-US" altLang="en-US" sz="2000"/>
              <a:t>After removing the node, its upstream input variables' use-chains also become empty, causing dead code marking to propagate backward through the graph instantly, triggering cascading elimination. This is crucial for cleaning up the massive redundant nodes generated by automatic differentiation</a:t>
            </a:r>
            <a:r>
              <a:rPr lang="en-US" altLang="zh-CN" sz="2000"/>
              <a:t> (Autograd) </a:t>
            </a:r>
            <a:r>
              <a:rPr lang="en-US" altLang="en-US" sz="2000"/>
              <a:t>.</a:t>
            </a:r>
          </a:p>
        </p:txBody>
      </p:sp>
      <p:pic>
        <p:nvPicPr>
          <p:cNvPr id="6" name="图片 5"/>
          <p:cNvPicPr>
            <a:picLocks noChangeAspect="1"/>
          </p:cNvPicPr>
          <p:nvPr/>
        </p:nvPicPr>
        <p:blipFill>
          <a:blip r:embed="rId2"/>
          <a:stretch>
            <a:fillRect/>
          </a:stretch>
        </p:blipFill>
        <p:spPr>
          <a:xfrm>
            <a:off x="3335655" y="4303395"/>
            <a:ext cx="6355715" cy="1833245"/>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Computation Graph Optimization Techniques</a:t>
            </a:r>
          </a:p>
        </p:txBody>
      </p:sp>
      <p:sp>
        <p:nvSpPr>
          <p:cNvPr id="4" name="页脚占位符 3"/>
          <p:cNvSpPr>
            <a:spLocks noGrp="1"/>
          </p:cNvSpPr>
          <p:nvPr>
            <p:ph type="ftr" sz="quarter" idx="11"/>
          </p:nvPr>
        </p:nvSpPr>
        <p:spPr/>
        <p:txBody>
          <a:bodyPr/>
          <a:lstStyle/>
          <a:p>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14</a:t>
            </a:fld>
            <a:endParaRPr lang="en-US" altLang="en-US" dirty="0"/>
          </a:p>
        </p:txBody>
      </p:sp>
      <p:sp>
        <p:nvSpPr>
          <p:cNvPr id="3" name="内容占位符 2"/>
          <p:cNvSpPr>
            <a:spLocks noGrp="1"/>
          </p:cNvSpPr>
          <p:nvPr>
            <p:ph sz="quarter" idx="13"/>
          </p:nvPr>
        </p:nvSpPr>
        <p:spPr/>
        <p:txBody>
          <a:bodyPr>
            <a:normAutofit/>
          </a:bodyPr>
          <a:lstStyle/>
          <a:p>
            <a:r>
              <a:rPr lang="en-US" altLang="en-US"/>
              <a:t>Core Objective: </a:t>
            </a:r>
            <a:r>
              <a:rPr lang="en-US" altLang="zh-CN"/>
              <a:t> </a:t>
            </a:r>
          </a:p>
          <a:p>
            <a:pPr lvl="1"/>
            <a:r>
              <a:rPr lang="en-US" altLang="en-US"/>
              <a:t>Improving hardware execution efficiency, reducing GPU memory usage, and minimizing kernel (</a:t>
            </a:r>
            <a:r>
              <a:rPr lang="en-US" altLang="zh-CN"/>
              <a:t>Kernel</a:t>
            </a:r>
            <a:r>
              <a:rPr lang="en-US" altLang="en-US"/>
              <a:t>) launch overhead while preserving model mathematical equivalence</a:t>
            </a:r>
            <a:r>
              <a:rPr lang="en-US" altLang="zh-CN"/>
              <a:t> </a:t>
            </a:r>
            <a:r>
              <a:rPr lang="en-US" altLang="en-US"/>
              <a:t>.</a:t>
            </a:r>
            <a:endParaRPr lang="en-US" altLang="zh-CN"/>
          </a:p>
          <a:p>
            <a:r>
              <a:rPr lang="en-US" altLang="en-US"/>
              <a:t>Optimization Level Hierarchy: </a:t>
            </a:r>
            <a:endParaRPr lang="en-US" altLang="zh-CN"/>
          </a:p>
          <a:p>
            <a:pPr lvl="1"/>
            <a:r>
              <a:rPr lang="en-US" altLang="en-US"/>
              <a:t>Node-level Optimization</a:t>
            </a:r>
            <a:r>
              <a:rPr lang="en-US" altLang="zh-CN"/>
              <a:t> (Node-level)</a:t>
            </a:r>
            <a:r>
              <a:rPr lang="en-US" altLang="en-US"/>
              <a:t>: Examining individual computation nodes in isolation</a:t>
            </a:r>
            <a:r>
              <a:rPr lang="en-US" altLang="zh-CN"/>
              <a:t> </a:t>
            </a:r>
            <a:r>
              <a:rPr lang="en-US" altLang="en-US"/>
              <a:t>.</a:t>
            </a:r>
            <a:endParaRPr lang="en-US" altLang="zh-CN"/>
          </a:p>
          <a:p>
            <a:pPr lvl="1"/>
            <a:r>
              <a:rPr lang="en-US" altLang="en-US"/>
              <a:t>Block-level Optimization</a:t>
            </a:r>
            <a:r>
              <a:rPr lang="en-US" altLang="zh-CN"/>
              <a:t> (Block-level)</a:t>
            </a:r>
            <a:r>
              <a:rPr lang="en-US" altLang="en-US"/>
              <a:t>: Analyzing adjacent node sequences or computation blocks</a:t>
            </a:r>
            <a:r>
              <a:rPr lang="en-US" altLang="zh-CN"/>
              <a:t> </a:t>
            </a:r>
            <a:r>
              <a:rPr lang="en-US" altLang="en-US"/>
              <a:t>.</a:t>
            </a:r>
            <a:endParaRPr lang="en-US" altLang="zh-CN"/>
          </a:p>
          <a:p>
            <a:pPr lvl="1"/>
            <a:r>
              <a:rPr lang="en-US" altLang="en-US"/>
              <a:t>Dataflow</a:t>
            </a:r>
            <a:r>
              <a:rPr lang="en-US" altLang="zh-CN"/>
              <a:t>/</a:t>
            </a:r>
            <a:r>
              <a:rPr lang="en-US" altLang="en-US"/>
              <a:t>/Graph-level Optimization</a:t>
            </a:r>
            <a:r>
              <a:rPr lang="en-US" altLang="zh-CN"/>
              <a:t> (Dataflow/Graph-level)</a:t>
            </a:r>
            <a:r>
              <a:rPr lang="en-US" altLang="en-US"/>
              <a:t>: Macro-level optimization surveying the global topology</a:t>
            </a:r>
            <a:r>
              <a:rPr lang="en-US" altLang="zh-CN"/>
              <a:t> </a:t>
            </a:r>
            <a:r>
              <a:rPr lang="en-US" altLang="en-US"/>
              <a:t>.</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Computation Graph Optimization Techniques</a:t>
            </a:r>
          </a:p>
        </p:txBody>
      </p:sp>
      <p:sp>
        <p:nvSpPr>
          <p:cNvPr id="4" name="页脚占位符 3"/>
          <p:cNvSpPr>
            <a:spLocks noGrp="1"/>
          </p:cNvSpPr>
          <p:nvPr>
            <p:ph type="ftr" sz="quarter" idx="11"/>
          </p:nvPr>
        </p:nvSpPr>
        <p:spPr/>
        <p:txBody>
          <a:bodyPr/>
          <a:lstStyle/>
          <a:p>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15</a:t>
            </a:fld>
            <a:endParaRPr lang="en-US" altLang="en-US" dirty="0"/>
          </a:p>
        </p:txBody>
      </p:sp>
      <p:pic>
        <p:nvPicPr>
          <p:cNvPr id="8" name="内容占位符 7"/>
          <p:cNvPicPr>
            <a:picLocks noGrp="1" noChangeAspect="1"/>
          </p:cNvPicPr>
          <p:nvPr>
            <p:ph sz="quarter" idx="13"/>
          </p:nvPr>
        </p:nvPicPr>
        <p:blipFill>
          <a:blip r:embed="rId2"/>
          <a:stretch>
            <a:fillRect/>
          </a:stretch>
        </p:blipFill>
        <p:spPr>
          <a:xfrm>
            <a:off x="1552338" y="1413549"/>
            <a:ext cx="9220674" cy="4673840"/>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Computation Graph Optimization Techniques</a:t>
            </a:r>
            <a:endParaRPr lang="en-US" altLang="en-US"/>
          </a:p>
        </p:txBody>
      </p:sp>
      <p:sp>
        <p:nvSpPr>
          <p:cNvPr id="4" name="页脚占位符 3"/>
          <p:cNvSpPr>
            <a:spLocks noGrp="1"/>
          </p:cNvSpPr>
          <p:nvPr>
            <p:ph type="ftr" sz="quarter" idx="11"/>
          </p:nvPr>
        </p:nvSpPr>
        <p:spPr/>
        <p:txBody>
          <a:bodyPr/>
          <a:lstStyle/>
          <a:p>
            <a:r>
              <a:rPr lang="en-US" altLang="zh-CN" dirty="0"/>
              <a:t>https://zhuanlan.zhihu.com/p/661774755</a:t>
            </a:r>
          </a:p>
        </p:txBody>
      </p:sp>
      <p:sp>
        <p:nvSpPr>
          <p:cNvPr id="5" name="灯片编号占位符 4"/>
          <p:cNvSpPr>
            <a:spLocks noGrp="1"/>
          </p:cNvSpPr>
          <p:nvPr>
            <p:ph type="sldNum" sz="quarter" idx="12"/>
          </p:nvPr>
        </p:nvSpPr>
        <p:spPr/>
        <p:txBody>
          <a:bodyPr/>
          <a:lstStyle/>
          <a:p>
            <a:fld id="{B33F7469-D28B-482F-B1B6-3B8E7CF51519}" type="slidenum">
              <a:rPr lang="en-US" altLang="en-US" smtClean="0"/>
              <a:t>16</a:t>
            </a:fld>
            <a:endParaRPr lang="en-US" altLang="en-US" dirty="0"/>
          </a:p>
        </p:txBody>
      </p:sp>
      <p:sp>
        <p:nvSpPr>
          <p:cNvPr id="3" name="内容占位符 2"/>
          <p:cNvSpPr>
            <a:spLocks noGrp="1"/>
          </p:cNvSpPr>
          <p:nvPr>
            <p:ph sz="quarter" idx="13"/>
          </p:nvPr>
        </p:nvSpPr>
        <p:spPr>
          <a:xfrm>
            <a:off x="523875" y="1323975"/>
            <a:ext cx="7434580" cy="4853305"/>
          </a:xfrm>
        </p:spPr>
        <p:txBody>
          <a:bodyPr>
            <a:noAutofit/>
          </a:bodyPr>
          <a:lstStyle/>
          <a:p>
            <a:pPr>
              <a:lnSpc>
                <a:spcPct val="150000"/>
              </a:lnSpc>
            </a:pPr>
            <a:r>
              <a:rPr lang="en-US" altLang="en-US" sz="2000"/>
              <a:t>Node-level Optimization</a:t>
            </a:r>
            <a:r>
              <a:rPr lang="en-US" altLang="zh-CN" sz="2000"/>
              <a:t> </a:t>
            </a:r>
            <a:r>
              <a:rPr lang="en-US" altLang="en-US" sz="1600"/>
              <a:t>Nop Elimination</a:t>
            </a:r>
            <a:r>
              <a:rPr lang="en-US" altLang="zh-CN" sz="1600"/>
              <a:t> (Nop Elimination)</a:t>
            </a:r>
            <a:r>
              <a:rPr lang="en-US" altLang="en-US" sz="1600"/>
              <a:t>:</a:t>
            </a:r>
            <a:r>
              <a:rPr lang="en-US" altLang="zh-CN" sz="1600"/>
              <a:t> </a:t>
            </a:r>
            <a:r>
              <a:rPr lang="en-US" altLang="en-US" sz="1600"/>
              <a:t> Removing redundant nodes that have no substantive impact on results.</a:t>
            </a:r>
            <a:endParaRPr lang="en-US" altLang="zh-CN" sz="1600"/>
          </a:p>
          <a:p>
            <a:pPr lvl="1">
              <a:lnSpc>
                <a:spcPct val="150000"/>
              </a:lnSpc>
            </a:pPr>
            <a:r>
              <a:rPr lang="en-US" altLang="en-US" sz="1600"/>
              <a:t>Zero-dim-tensor Elimination</a:t>
            </a:r>
            <a:r>
              <a:rPr lang="en-US" altLang="zh-CN" sz="1600"/>
              <a:t> (Zero-dim-tensor Elimination)</a:t>
            </a:r>
            <a:r>
              <a:rPr lang="en-US" altLang="en-US" sz="1600"/>
              <a:t>:</a:t>
            </a:r>
            <a:r>
              <a:rPr lang="en-US" altLang="zh-CN" sz="1600"/>
              <a:t> </a:t>
            </a:r>
            <a:r>
              <a:rPr lang="en-US" altLang="en-US" sz="1600"/>
              <a:t> Safely removing computations on tensors with shape</a:t>
            </a:r>
            <a:r>
              <a:rPr lang="en-US" altLang="zh-CN" sz="1600"/>
              <a:t> 0 </a:t>
            </a:r>
            <a:r>
              <a:rPr lang="en-US" altLang="en-US" sz="1600"/>
              <a:t> (e.g.,</a:t>
            </a:r>
            <a:r>
              <a:rPr lang="en-US" altLang="zh-CN" sz="1600"/>
              <a:t> shape=(0, 5, 3)</a:t>
            </a:r>
            <a:r>
              <a:rPr lang="en-US" altLang="en-US" sz="1600"/>
              <a:t>)'s computation.</a:t>
            </a:r>
          </a:p>
          <a:p>
            <a:pPr lvl="0">
              <a:lnSpc>
                <a:spcPct val="150000"/>
              </a:lnSpc>
            </a:pPr>
            <a:r>
              <a:rPr lang="en-US" altLang="en-US" sz="2000"/>
              <a:t>Block-level Optimization</a:t>
            </a:r>
            <a:r>
              <a:rPr lang="en-US" altLang="zh-CN" sz="2000"/>
              <a:t>:</a:t>
            </a:r>
            <a:r>
              <a:rPr lang="en-US" altLang="en-US" sz="2000"/>
              <a:t>Algebraic Simplification</a:t>
            </a:r>
            <a:endParaRPr lang="en-US" altLang="zh-CN" sz="2000"/>
          </a:p>
          <a:p>
            <a:pPr lvl="1">
              <a:lnSpc>
                <a:spcPct val="150000"/>
              </a:lnSpc>
            </a:pPr>
            <a:r>
              <a:rPr lang="en-US" altLang="en-US" sz="1600"/>
              <a:t>Concept: </a:t>
            </a:r>
            <a:r>
              <a:rPr lang="en-US" altLang="zh-CN" sz="1600"/>
              <a:t> </a:t>
            </a:r>
            <a:r>
              <a:rPr lang="en-US" altLang="en-US" sz="1600"/>
              <a:t> Using mathematical rules such as commutativity, associativity, and distributivity to replace complex local node sequences with computationally cheaper equivalent forms</a:t>
            </a:r>
            <a:r>
              <a:rPr lang="en-US" altLang="zh-CN" sz="1600"/>
              <a:t> </a:t>
            </a:r>
            <a:r>
              <a:rPr lang="en-US" altLang="en-US" sz="1600"/>
              <a:t>.</a:t>
            </a:r>
          </a:p>
          <a:p>
            <a:pPr lvl="1">
              <a:lnSpc>
                <a:spcPct val="150000"/>
              </a:lnSpc>
            </a:pPr>
            <a:r>
              <a:rPr lang="en-US" altLang="en-US" sz="1600"/>
              <a:t>Constant Folding</a:t>
            </a:r>
            <a:r>
              <a:rPr lang="en-US" altLang="zh-CN" sz="1600"/>
              <a:t> (Constant Folding)</a:t>
            </a:r>
            <a:r>
              <a:rPr lang="en-US" altLang="en-US" sz="1600"/>
              <a:t>:</a:t>
            </a:r>
            <a:r>
              <a:rPr lang="en-US" altLang="zh-CN" sz="1600"/>
              <a:t> </a:t>
            </a:r>
            <a:r>
              <a:rPr lang="en-US" altLang="en-US" sz="1600"/>
              <a:t> Identifying all constant expressions known at compile time, pre-computing the results, and folding them into a single constant value in the graph</a:t>
            </a:r>
            <a:r>
              <a:rPr lang="en-US" altLang="zh-CN" sz="1600"/>
              <a:t> </a:t>
            </a:r>
            <a:r>
              <a:rPr lang="en-US" altLang="en-US" sz="1600"/>
              <a:t>.</a:t>
            </a:r>
          </a:p>
        </p:txBody>
      </p:sp>
      <p:pic>
        <p:nvPicPr>
          <p:cNvPr id="7" name="图片 6"/>
          <p:cNvPicPr>
            <a:picLocks noChangeAspect="1"/>
          </p:cNvPicPr>
          <p:nvPr/>
        </p:nvPicPr>
        <p:blipFill>
          <a:blip r:embed="rId2"/>
          <a:stretch>
            <a:fillRect/>
          </a:stretch>
        </p:blipFill>
        <p:spPr>
          <a:xfrm>
            <a:off x="8155940" y="1580515"/>
            <a:ext cx="3975735" cy="1968500"/>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Computation Graph Optimization Techniques</a:t>
            </a:r>
            <a:endParaRPr lang="en-US" altLang="en-US"/>
          </a:p>
        </p:txBody>
      </p:sp>
      <p:sp>
        <p:nvSpPr>
          <p:cNvPr id="4" name="页脚占位符 3"/>
          <p:cNvSpPr>
            <a:spLocks noGrp="1"/>
          </p:cNvSpPr>
          <p:nvPr>
            <p:ph type="ftr" sz="quarter" idx="11"/>
          </p:nvPr>
        </p:nvSpPr>
        <p:spPr/>
        <p:txBody>
          <a:bodyPr/>
          <a:lstStyle/>
          <a:p>
            <a:r>
              <a:rPr lang="en-US" altLang="zh-CN" dirty="0">
                <a:sym typeface="+mn-ea"/>
              </a:rPr>
              <a:t>https://zhuanlan.zhihu.com/p/661774755</a:t>
            </a:r>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17</a:t>
            </a:fld>
            <a:endParaRPr lang="en-US" altLang="en-US" dirty="0"/>
          </a:p>
        </p:txBody>
      </p:sp>
      <p:sp>
        <p:nvSpPr>
          <p:cNvPr id="3" name="内容占位符 2"/>
          <p:cNvSpPr>
            <a:spLocks noGrp="1"/>
          </p:cNvSpPr>
          <p:nvPr>
            <p:ph sz="quarter" idx="13"/>
          </p:nvPr>
        </p:nvSpPr>
        <p:spPr/>
        <p:txBody>
          <a:bodyPr>
            <a:normAutofit/>
          </a:bodyPr>
          <a:lstStyle/>
          <a:p>
            <a:r>
              <a:rPr lang="en-US" altLang="en-US" sz="2000"/>
              <a:t>Block-level Optimization</a:t>
            </a:r>
            <a:r>
              <a:rPr lang="en-US" altLang="zh-CN" sz="2000"/>
              <a:t>:</a:t>
            </a:r>
            <a:r>
              <a:rPr lang="en-US" altLang="en-US" sz="2000"/>
              <a:t>Operator Fusion</a:t>
            </a:r>
            <a:endParaRPr lang="en-US" altLang="zh-CN" sz="2000"/>
          </a:p>
          <a:p>
            <a:pPr lvl="1"/>
            <a:r>
              <a:rPr lang="en-US" altLang="en-US" sz="1800"/>
              <a:t>Problem: </a:t>
            </a:r>
            <a:r>
              <a:rPr lang="en-US" altLang="zh-CN" sz="1800"/>
              <a:t> </a:t>
            </a:r>
            <a:r>
              <a:rPr lang="en-US" altLang="en-US" sz="1800"/>
              <a:t>Each small operator needs to read/write data from global memory, causing memory bandwidth bottleneck and</a:t>
            </a:r>
            <a:r>
              <a:rPr lang="en-US" altLang="zh-CN" sz="1800"/>
              <a:t> GPU Kernel </a:t>
            </a:r>
            <a:r>
              <a:rPr lang="en-US" altLang="en-US" sz="1800"/>
              <a:t> launch latency.</a:t>
            </a:r>
          </a:p>
          <a:p>
            <a:r>
              <a:rPr lang="en-US" altLang="en-US" sz="2000"/>
              <a:t>Vertical Fusion:</a:t>
            </a:r>
            <a:r>
              <a:rPr lang="en-US" altLang="zh-CN" sz="2000"/>
              <a:t> </a:t>
            </a:r>
          </a:p>
          <a:p>
            <a:pPr lvl="1"/>
            <a:r>
              <a:rPr lang="en-US" altLang="en-US" sz="1800"/>
              <a:t> Merging sequentially dependent operations into a single</a:t>
            </a:r>
            <a:r>
              <a:rPr lang="en-US" altLang="zh-CN" sz="1800"/>
              <a:t> Kernel</a:t>
            </a:r>
            <a:r>
              <a:rPr lang="en-US" altLang="en-US" sz="1800"/>
              <a:t>, with data flowing directly through registers, reducing global memory accesses.</a:t>
            </a:r>
            <a:endParaRPr lang="en-US" altLang="zh-CN" sz="1800"/>
          </a:p>
          <a:p>
            <a:r>
              <a:rPr lang="en-US" altLang="en-US" sz="2000"/>
              <a:t>Horizontal Fusion:</a:t>
            </a:r>
            <a:r>
              <a:rPr lang="en-US" altLang="zh-CN" sz="2000"/>
              <a:t> </a:t>
            </a:r>
          </a:p>
          <a:p>
            <a:pPr lvl="1"/>
            <a:r>
              <a:rPr lang="en-US" altLang="en-US" sz="1800"/>
              <a:t> Merging adjacent operators that can be processed in parallel into a single</a:t>
            </a:r>
            <a:r>
              <a:rPr lang="en-US" altLang="zh-CN" sz="1800"/>
              <a:t> Kernel</a:t>
            </a:r>
            <a:r>
              <a:rPr lang="en-US" altLang="en-US" sz="1800"/>
              <a:t>, improving the utilization of underlying hardware compute units.</a:t>
            </a:r>
          </a:p>
        </p:txBody>
      </p:sp>
      <p:pic>
        <p:nvPicPr>
          <p:cNvPr id="6" name="图片 5"/>
          <p:cNvPicPr>
            <a:picLocks noChangeAspect="1"/>
          </p:cNvPicPr>
          <p:nvPr/>
        </p:nvPicPr>
        <p:blipFill>
          <a:blip r:embed="rId2"/>
          <a:stretch>
            <a:fillRect/>
          </a:stretch>
        </p:blipFill>
        <p:spPr>
          <a:xfrm>
            <a:off x="4331335" y="4737100"/>
            <a:ext cx="6548755" cy="1856105"/>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Computation Graph Optimization Techniques</a:t>
            </a:r>
            <a:endParaRPr lang="en-US" altLang="en-US"/>
          </a:p>
        </p:txBody>
      </p:sp>
      <p:sp>
        <p:nvSpPr>
          <p:cNvPr id="4" name="页脚占位符 3"/>
          <p:cNvSpPr>
            <a:spLocks noGrp="1"/>
          </p:cNvSpPr>
          <p:nvPr>
            <p:ph type="ftr" sz="quarter" idx="11"/>
          </p:nvPr>
        </p:nvSpPr>
        <p:spPr/>
        <p:txBody>
          <a:bodyPr/>
          <a:lstStyle/>
          <a:p>
            <a:r>
              <a:rPr lang="en-US" altLang="zh-CN" dirty="0"/>
              <a:t>https://zhuanlan.zhihu.com/p/661774755</a:t>
            </a:r>
          </a:p>
        </p:txBody>
      </p:sp>
      <p:sp>
        <p:nvSpPr>
          <p:cNvPr id="5" name="灯片编号占位符 4"/>
          <p:cNvSpPr>
            <a:spLocks noGrp="1"/>
          </p:cNvSpPr>
          <p:nvPr>
            <p:ph type="sldNum" sz="quarter" idx="12"/>
          </p:nvPr>
        </p:nvSpPr>
        <p:spPr/>
        <p:txBody>
          <a:bodyPr/>
          <a:lstStyle/>
          <a:p>
            <a:fld id="{B33F7469-D28B-482F-B1B6-3B8E7CF51519}" type="slidenum">
              <a:rPr lang="en-US" altLang="en-US" smtClean="0"/>
              <a:t>18</a:t>
            </a:fld>
            <a:endParaRPr lang="en-US" altLang="en-US" dirty="0"/>
          </a:p>
        </p:txBody>
      </p:sp>
      <p:sp>
        <p:nvSpPr>
          <p:cNvPr id="3" name="内容占位符 2"/>
          <p:cNvSpPr>
            <a:spLocks noGrp="1"/>
          </p:cNvSpPr>
          <p:nvPr>
            <p:ph sz="quarter" idx="13"/>
          </p:nvPr>
        </p:nvSpPr>
        <p:spPr/>
        <p:txBody>
          <a:bodyPr/>
          <a:lstStyle/>
          <a:p>
            <a:r>
              <a:rPr lang="en-US" altLang="en-US" sz="2000"/>
              <a:t>Graph-level Optimization</a:t>
            </a:r>
            <a:r>
              <a:rPr lang="en-US" altLang="zh-CN" sz="2000"/>
              <a:t>:</a:t>
            </a:r>
            <a:r>
              <a:rPr lang="en-US" altLang="en-US" sz="2000"/>
              <a:t>Dataflow Structure Reshaping</a:t>
            </a:r>
          </a:p>
          <a:p>
            <a:pPr lvl="1"/>
            <a:r>
              <a:rPr lang="en-US" altLang="en-US" sz="1800"/>
              <a:t>Common Subexpression Elimination</a:t>
            </a:r>
            <a:r>
              <a:rPr lang="en-US" altLang="zh-CN" sz="1800"/>
              <a:t> (Common Subexpression Elimination, CSE)</a:t>
            </a:r>
            <a:r>
              <a:rPr lang="en-US" altLang="en-US" sz="1800"/>
              <a:t>:</a:t>
            </a:r>
            <a:r>
              <a:rPr lang="en-US" altLang="zh-CN" sz="1800"/>
              <a:t> </a:t>
            </a:r>
            <a:r>
              <a:rPr lang="en-US" altLang="en-US" sz="1800"/>
              <a:t> Identifying identical substructures repeatedly computed in the graph, replacing them with references to a single common output to avoid wasting computational resources.</a:t>
            </a:r>
          </a:p>
          <a:p>
            <a:pPr lvl="1"/>
            <a:r>
              <a:rPr lang="en-US" altLang="en-US" sz="1800"/>
              <a:t>Dead Code Elimination</a:t>
            </a:r>
            <a:r>
              <a:rPr lang="en-US" altLang="zh-CN" sz="1800"/>
              <a:t> (Dead Code Elimination, DCE)</a:t>
            </a:r>
            <a:r>
              <a:rPr lang="en-US" altLang="en-US" sz="1800"/>
              <a:t>:</a:t>
            </a:r>
            <a:r>
              <a:rPr lang="en-US" altLang="zh-CN" sz="1800"/>
              <a:t> </a:t>
            </a:r>
            <a:r>
              <a:rPr lang="en-US" altLang="en-US" sz="1800"/>
              <a:t> Combining</a:t>
            </a:r>
            <a:r>
              <a:rPr lang="en-US" altLang="zh-CN" sz="1800"/>
              <a:t> Def-Use </a:t>
            </a:r>
            <a:r>
              <a:rPr lang="en-US" altLang="en-US" sz="1800"/>
              <a:t> chain analysis, from the graph deleting useless operation branches</a:t>
            </a:r>
            <a:r>
              <a:rPr lang="en-US" altLang="zh-CN" sz="1800"/>
              <a:t> </a:t>
            </a:r>
            <a:r>
              <a:rPr lang="en-US" altLang="en-US" sz="1800"/>
              <a:t>.</a:t>
            </a:r>
          </a:p>
          <a:p>
            <a:pPr lvl="1"/>
            <a:r>
              <a:rPr lang="en-US" altLang="en-US" sz="1800"/>
              <a:t>Operator Sinking</a:t>
            </a:r>
            <a:r>
              <a:rPr lang="en-US" altLang="zh-CN" sz="1800"/>
              <a:t> (Operator Sinking)</a:t>
            </a:r>
            <a:r>
              <a:rPr lang="en-US" altLang="en-US" sz="1800"/>
              <a:t>:</a:t>
            </a:r>
            <a:r>
              <a:rPr lang="en-US" altLang="zh-CN" sz="1800"/>
              <a:t> </a:t>
            </a:r>
            <a:r>
              <a:rPr lang="en-US" altLang="en-US" sz="1800"/>
              <a:t> Deferring certain dimension transformation operations (e.g.,</a:t>
            </a:r>
            <a:r>
              <a:rPr lang="en-US" altLang="zh-CN" sz="1800"/>
              <a:t> Transpose</a:t>
            </a:r>
            <a:r>
              <a:rPr lang="en-US" altLang="en-US" sz="1800"/>
              <a:t>) along the graph's dataflow direction to merge potential subsequent redundant transformation operations.</a:t>
            </a:r>
          </a:p>
        </p:txBody>
      </p:sp>
      <p:pic>
        <p:nvPicPr>
          <p:cNvPr id="6" name="图片 5"/>
          <p:cNvPicPr>
            <a:picLocks noChangeAspect="1"/>
          </p:cNvPicPr>
          <p:nvPr/>
        </p:nvPicPr>
        <p:blipFill>
          <a:blip r:embed="rId2"/>
          <a:stretch>
            <a:fillRect/>
          </a:stretch>
        </p:blipFill>
        <p:spPr>
          <a:xfrm>
            <a:off x="4386580" y="4052570"/>
            <a:ext cx="5628640" cy="2594610"/>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a:t>Hardware-RelatedOptimization</a:t>
            </a:r>
          </a:p>
        </p:txBody>
      </p:sp>
      <p:sp>
        <p:nvSpPr>
          <p:cNvPr id="4" name="页脚占位符 3"/>
          <p:cNvSpPr>
            <a:spLocks noGrp="1"/>
          </p:cNvSpPr>
          <p:nvPr>
            <p:ph type="ftr" sz="quarter" idx="11"/>
          </p:nvPr>
        </p:nvSpPr>
        <p:spPr/>
        <p:txBody>
          <a:bodyPr/>
          <a:lstStyle/>
          <a:p>
            <a:r>
              <a:rPr lang="en-US" altLang="zh-CN" dirty="0">
                <a:sym typeface="+mn-ea"/>
              </a:rPr>
              <a:t>Li, Mingzhen, et al. "The deep learning compiler: A comprehensive survey." IEEE Transactions on Parallel and Distributed Systems 32.3 (2020): 708-727.</a:t>
            </a:r>
            <a:endParaRPr lang="en-US" altLang="en-US" dirty="0"/>
          </a:p>
        </p:txBody>
      </p:sp>
      <p:sp>
        <p:nvSpPr>
          <p:cNvPr id="5" name="灯片编号占位符 4"/>
          <p:cNvSpPr>
            <a:spLocks noGrp="1"/>
          </p:cNvSpPr>
          <p:nvPr>
            <p:ph type="sldNum" sz="quarter" idx="12"/>
          </p:nvPr>
        </p:nvSpPr>
        <p:spPr/>
        <p:txBody>
          <a:bodyPr/>
          <a:lstStyle/>
          <a:p>
            <a:fld id="{B33F7469-D28B-482F-B1B6-3B8E7CF51519}" type="slidenum">
              <a:rPr lang="en-US" altLang="en-US" smtClean="0"/>
              <a:t>19</a:t>
            </a:fld>
            <a:endParaRPr lang="en-US" altLang="en-US" dirty="0"/>
          </a:p>
        </p:txBody>
      </p:sp>
      <p:pic>
        <p:nvPicPr>
          <p:cNvPr id="6" name="内容占位符 5"/>
          <p:cNvPicPr>
            <a:picLocks noGrp="1" noChangeAspect="1"/>
          </p:cNvPicPr>
          <p:nvPr>
            <p:ph sz="quarter" idx="13"/>
          </p:nvPr>
        </p:nvPicPr>
        <p:blipFill>
          <a:blip r:embed="rId2"/>
          <a:stretch>
            <a:fillRect/>
          </a:stretch>
        </p:blipFill>
        <p:spPr>
          <a:xfrm>
            <a:off x="2432487" y="1323975"/>
            <a:ext cx="7460376" cy="4852988"/>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1936</Words>
  <Application>Microsoft Office PowerPoint</Application>
  <PresentationFormat>宽屏</PresentationFormat>
  <Paragraphs>151</Paragraphs>
  <Slides>22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等线</vt:lpstr>
      <vt:lpstr>微软雅黑</vt:lpstr>
      <vt:lpstr>文泉驿微米黑</vt:lpstr>
      <vt:lpstr>Arial</vt:lpstr>
      <vt:lpstr>Calibri</vt:lpstr>
      <vt:lpstr>Calibri Light</vt:lpstr>
      <vt:lpstr>Ebrima</vt:lpstr>
      <vt:lpstr>Garamond</vt:lpstr>
      <vt:lpstr>Montserrat SemiBold</vt:lpstr>
      <vt:lpstr>Wingdings 3</vt:lpstr>
      <vt:lpstr>母版</vt:lpstr>
      <vt:lpstr>Hardware and Software Fundamentals of  Intelligent Computing  Systems</vt:lpstr>
      <vt:lpstr>Lecture 20: Intermediate Representation (IR) Fundamentals</vt:lpstr>
      <vt:lpstr>Deep Learning Compilation Framework</vt:lpstr>
      <vt:lpstr>IR  Design Goals</vt:lpstr>
      <vt:lpstr>IR Design Goals</vt:lpstr>
      <vt:lpstr>Execution Model — Control Flow Graph (CFG)</vt:lpstr>
      <vt:lpstr>Execution Model — Data Flow Graph (DFG)</vt:lpstr>
      <vt:lpstr>CFG  v.s. DFG</vt:lpstr>
      <vt:lpstr>Static Single Assignment (SSA)  Form</vt:lpstr>
      <vt:lpstr>Φ (Phi)  Function</vt:lpstr>
      <vt:lpstr>Def-Use chains</vt:lpstr>
      <vt:lpstr>SSA  inConstant Folding and Propagation</vt:lpstr>
      <vt:lpstr>SSA  inDead Code Elimination</vt:lpstr>
      <vt:lpstr>Computation Graph Optimization Techniques</vt:lpstr>
      <vt:lpstr>Computation Graph Optimization Techniques</vt:lpstr>
      <vt:lpstr>Computation Graph Optimization Techniques</vt:lpstr>
      <vt:lpstr>Computation Graph Optimization Techniques</vt:lpstr>
      <vt:lpstr>Computation Graph Optimization Techniques</vt:lpstr>
      <vt:lpstr>Hardware-RelatedOptimization</vt:lpstr>
      <vt:lpstr>The Solution: FlagOS, a Unified AI Software Stack</vt:lpstr>
      <vt:lpstr>PowerPoint 演示文稿</vt:lpstr>
      <vt:lpstr>Thanks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20: Intermediate Representation (IR) Fundamentals</dc:title>
  <dc:creator>王丰</dc:creator>
  <cp:lastModifiedBy>Xiang Li</cp:lastModifiedBy>
  <cp:revision>3</cp:revision>
  <dcterms:created xsi:type="dcterms:W3CDTF">2026-03-10T06:35:00Z</dcterms:created>
  <dcterms:modified xsi:type="dcterms:W3CDTF">2026-03-17T14:54:12Z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5c219163d81546ca98407b16b34f85e0_23</vt:lpwstr>
  </property>
  <property fmtid="{D5CDD505-2E9C-101B-9397-08002B2CF9AE}" pid="3" name="KSOProductBuildVer">
    <vt:lpwstr>2052-12.1.0.19302</vt:lpwstr>
  </property>
</Properties>
</file>