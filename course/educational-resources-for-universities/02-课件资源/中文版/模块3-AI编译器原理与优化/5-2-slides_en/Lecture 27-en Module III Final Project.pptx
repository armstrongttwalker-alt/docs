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337" r:id="rId2"/>
    <p:sldId id="256" r:id="rId3"/>
    <p:sldId id="259" r:id="rId4"/>
    <p:sldId id="260" r:id="rId5"/>
    <p:sldId id="261" r:id="rId6"/>
    <p:sldId id="262" r:id="rId7"/>
    <p:sldId id="277" r:id="rId8"/>
    <p:sldId id="279" r:id="rId9"/>
    <p:sldId id="280" r:id="rId10"/>
  </p:sldIdLst>
  <p:sldSz cx="12192000" cy="6858000"/>
  <p:notesSz cx="6858000" cy="12192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83DEB3A-1B30-4ED8-929D-D4389515C9ED}" styleName="补充样式1">
    <a:wholeTbl>
      <a:tcTxStyle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rgbClr val="8B0012"/>
              </a:solidFill>
            </a:ln>
          </a:top>
          <a:bottom>
            <a:ln w="19050" cmpd="sng">
              <a:solidFill>
                <a:srgbClr val="8B001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rgbClr val="8B0012">
              <a:lumMod val="10001"/>
              <a:lumOff val="89999"/>
            </a:srgbClr>
          </a:solidFill>
        </a:fill>
      </a:tcStyle>
    </a:band2H>
    <a:band1V>
      <a:tcStyle>
        <a:tcBdr/>
        <a:fill>
          <a:solidFill>
            <a:srgbClr val="8B0012">
              <a:lumMod val="10001"/>
              <a:lumOff val="89999"/>
            </a:srgbClr>
          </a:solidFill>
        </a:fill>
      </a:tcStyle>
    </a:band1V>
    <a:lastCol>
      <a:tcTxStyle b="on">
        <a:fontRef idx="none">
          <a:srgbClr val="08090C"/>
        </a:fontRef>
      </a:tcTxStyle>
      <a:tcStyle>
        <a:tcBdr/>
        <a:fill>
          <a:solidFill>
            <a:srgbClr val="8B0012">
              <a:lumMod val="20002"/>
              <a:lumOff val="79998"/>
            </a:srgbClr>
          </a:solidFill>
        </a:fill>
      </a:tcStyle>
    </a:lastCol>
    <a:firstCol>
      <a:tcTxStyle b="on">
        <a:fontRef idx="none">
          <a:srgbClr val="8B0012"/>
        </a:fontRef>
      </a:tcTxStyle>
      <a:tcStyle>
        <a:tcBdr/>
        <a:fill>
          <a:solidFill>
            <a:srgbClr val="8B0012">
              <a:lumMod val="20002"/>
              <a:lumOff val="79998"/>
            </a:srgbClr>
          </a:solidFill>
        </a:fill>
      </a:tcStyle>
    </a:firstCol>
    <a:lastRow>
      <a:tcTxStyle b="on">
        <a:fontRef idx="none">
          <a:srgbClr val="8B0012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rgbClr val="8B0012"/>
              </a:solidFill>
            </a:ln>
          </a:top>
          <a:bottom>
            <a:ln w="12700" cmpd="sng">
              <a:solidFill>
                <a:srgbClr val="8B001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none">
          <a:srgbClr val="8B0012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rgbClr val="8B0012"/>
              </a:solidFill>
            </a:ln>
          </a:top>
          <a:bottom>
            <a:ln w="9525" cmpd="sng">
              <a:solidFill>
                <a:srgbClr val="8B001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2442" autoAdjust="0"/>
  </p:normalViewPr>
  <p:slideViewPr>
    <p:cSldViewPr snapToGrid="0" snapToObjects="1">
      <p:cViewPr varScale="1">
        <p:scale>
          <a:sx n="50" d="100"/>
          <a:sy n="50" d="100"/>
        </p:scale>
        <p:origin x="103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grpSp>
        <p:nvGrpSpPr>
          <p:cNvPr id="83" name="Group 7"/>
          <p:cNvGrpSpPr/>
          <p:nvPr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549E39"/>
          </a:solidFill>
        </p:grpSpPr>
        <p:sp>
          <p:nvSpPr>
            <p:cNvPr id="1048651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84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048652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3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4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5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6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7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0575251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6695433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image" Target="../media/image7.png"/><Relationship Id="rId26" Type="http://schemas.openxmlformats.org/officeDocument/2006/relationships/hyperlink" Target="https://www.zhihu.com/people/95-22-20-18/posts" TargetMode="External"/><Relationship Id="rId3" Type="http://schemas.openxmlformats.org/officeDocument/2006/relationships/tags" Target="../tags/tag13.xml"/><Relationship Id="rId21" Type="http://schemas.openxmlformats.org/officeDocument/2006/relationships/image" Target="../media/image10.png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slideLayout" Target="../slideLayouts/slideLayout6.xml"/><Relationship Id="rId25" Type="http://schemas.openxmlformats.org/officeDocument/2006/relationships/hyperlink" Target="https://space.bilibili.com/3546791834290849" TargetMode="Externa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image" Target="../media/image9.png"/><Relationship Id="rId29" Type="http://schemas.openxmlformats.org/officeDocument/2006/relationships/image" Target="../media/image14.png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24" Type="http://schemas.openxmlformats.org/officeDocument/2006/relationships/hyperlink" Target="https://github.com/flagos-ai" TargetMode="Externa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23" Type="http://schemas.openxmlformats.org/officeDocument/2006/relationships/image" Target="../media/image12.png"/><Relationship Id="rId28" Type="http://schemas.openxmlformats.org/officeDocument/2006/relationships/image" Target="../media/image13.jpeg"/><Relationship Id="rId10" Type="http://schemas.openxmlformats.org/officeDocument/2006/relationships/tags" Target="../tags/tag20.xml"/><Relationship Id="rId19" Type="http://schemas.openxmlformats.org/officeDocument/2006/relationships/image" Target="../media/image8.png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image" Target="../media/image11.png"/><Relationship Id="rId27" Type="http://schemas.openxmlformats.org/officeDocument/2006/relationships/hyperlink" Target="https://flagos.io/Home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0" b="350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727710" y="1622425"/>
            <a:ext cx="5553710" cy="3028315"/>
          </a:xfrm>
        </p:spPr>
        <p:txBody>
          <a:bodyPr/>
          <a:lstStyle/>
          <a:p>
            <a:pPr algn="l"/>
            <a:r>
              <a:rPr lang="en-US" altLang="zh-CN" sz="4000">
                <a:latin typeface="+mj-cs"/>
                <a:cs typeface="+mj-cs"/>
              </a:rPr>
              <a:t>Hardware and Software Fundamentals of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Intelligent Computing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Systems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364100" y="6255612"/>
            <a:ext cx="409904" cy="409904"/>
            <a:chOff x="11591418" y="6255612"/>
            <a:chExt cx="409904" cy="409904"/>
          </a:xfrm>
        </p:grpSpPr>
        <p:sp>
          <p:nvSpPr>
            <p:cNvPr id="10" name="타원 9"/>
            <p:cNvSpPr/>
            <p:nvPr/>
          </p:nvSpPr>
          <p:spPr>
            <a:xfrm>
              <a:off x="11591418" y="6255612"/>
              <a:ext cx="409904" cy="4099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갈매기형 수장[C] 10"/>
            <p:cNvSpPr/>
            <p:nvPr/>
          </p:nvSpPr>
          <p:spPr>
            <a:xfrm>
              <a:off x="11732864" y="6397058"/>
              <a:ext cx="127012" cy="127012"/>
            </a:xfrm>
            <a:prstGeom prst="chevr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US">
                <a:sym typeface="+mn-ea"/>
              </a:rPr>
              <a:t>Lecture 27：Module III Final Project</a:t>
            </a:r>
            <a:br>
              <a:rPr lang="en-US" altLang="en-US">
                <a:sym typeface="+mn-ea"/>
              </a:rPr>
            </a:br>
            <a:r>
              <a:rPr lang="en-US" altLang="en-US">
                <a:sym typeface="+mn-ea"/>
              </a:rPr>
              <a:t>(FlagTree Pass Contribution)</a:t>
            </a:r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Course Projects Overview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3</a:t>
            </a:fld>
            <a:endParaRPr lang="en-US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6" name="表格 5"/>
          <p:cNvGraphicFramePr/>
          <p:nvPr/>
        </p:nvGraphicFramePr>
        <p:xfrm>
          <a:off x="215900" y="1318604"/>
          <a:ext cx="11760200" cy="5173345"/>
        </p:xfrm>
        <a:graphic>
          <a:graphicData uri="http://schemas.openxmlformats.org/drawingml/2006/table">
            <a:tbl>
              <a:tblPr firstRow="1">
                <a:tableStyleId>{F83DEB3A-1B30-4ED8-929D-D4389515C9ED}</a:tableStyleId>
              </a:tblPr>
              <a:tblGrid>
                <a:gridCol w="1196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9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66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911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600" b="1" spc="120"/>
                        <a:t>Lecture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600" b="1" spc="120"/>
                        <a:t>Project Name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600" b="1" spc="120"/>
                        <a:t>Type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600" b="1" spc="120"/>
                        <a:t>Key Assessment Criteria</a:t>
                      </a:r>
                    </a:p>
                  </a:txBody>
                  <a:tcPr marL="177800" marR="177800" marT="107950" marB="1079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5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Environment Setup and Toolchain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Lab Session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Four-Phase Operational Verification + + Lab Report</a:t>
                      </a:r>
                    </a:p>
                  </a:txBody>
                  <a:tcPr marL="177800" marR="177800" marT="107950" marB="1079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279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9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Softmax Kernel (Midterm)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Individual Project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Correctness 40pts + Performance70% Threshold</a:t>
                      </a:r>
                    </a:p>
                  </a:txBody>
                  <a:tcPr marL="177800" marR="177800" marT="107950" marB="1079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18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RMSNorm+Residual  Fusion (Final)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Individual Project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Performance must reach FlagGems Benchmark 90%</a:t>
                      </a:r>
                    </a:p>
                  </a:txBody>
                  <a:tcPr marL="177800" marR="177800" marT="107950" marB="1079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27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FlagTree Pass  Contribution (Final)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Individual Project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Choose from 3 directions, FileCheck Test Verification</a:t>
                      </a:r>
                    </a:p>
                  </a:txBody>
                  <a:tcPr marL="177800" marR="177800" marT="107950" marB="1079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279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36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7B  Multi-Node Distributed Training (Final)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3-Person Team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Comparison of 3 Parallelism Strategies + + Linear Speedup Ratio</a:t>
                      </a:r>
                    </a:p>
                  </a:txBody>
                  <a:tcPr marL="177800" marR="177800" marT="107950" marB="1079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46-47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Capstone Project Defense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Group Defense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Proposal Feasibility + + Authenticity of Progress</a:t>
                      </a:r>
                    </a:p>
                  </a:txBody>
                  <a:tcPr marL="177800" marR="177800" marT="107950" marB="10795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Project Overview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4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en-US"/>
              <a:t>Project Background</a:t>
            </a:r>
          </a:p>
          <a:p>
            <a:pPr lvl="1"/>
            <a:r>
              <a:rPr lang="en-US" altLang="en-US"/>
              <a:t>Compiler Pass  is  AI  the core mechanism of AI compiler optimization. FlagTree  is built on the  MLIR  framework, through a series of  Pass  progressively lowering high-level operator representations  Lower to target hardware code. Students must choose one of the following directions to contribute a functional optimization  FlagTree  Pass  or operator extension to FlagTree, gaining real-world compiler engineering experience.</a:t>
            </a:r>
          </a:p>
          <a:p>
            <a:pPr lvl="0"/>
            <a:r>
              <a:rPr lang="en-US" altLang="en-US"/>
              <a:t>Development Process Requirements</a:t>
            </a:r>
          </a:p>
          <a:p>
            <a:pPr lvl="1"/>
            <a:r>
              <a:rPr lang="en-US" altLang="en-US"/>
              <a:t>Week 1: Read  FlagTree  source code, choose direction, submit design document (1–2  pages)</a:t>
            </a:r>
          </a:p>
          <a:p>
            <a:pPr lvl="1"/>
            <a:r>
              <a:rPr lang="en-US" altLang="en-US"/>
              <a:t>Week 2: Complete core  Pass  implementation, submit code  PR Draft</a:t>
            </a:r>
          </a:p>
          <a:p>
            <a:pPr lvl="1"/>
            <a:r>
              <a:rPr lang="en-US" altLang="en-US"/>
              <a:t>Week 3: Write  FileCheck  unit tests, complete performance//correctness verification, final submission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Selectable Directions (Choose One of Three)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5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7500" lnSpcReduction="20000"/>
          </a:bodyPr>
          <a:lstStyle/>
          <a:p>
            <a:r>
              <a:rPr lang="en-US" altLang="en-US"/>
              <a:t>Direction A: Implement a New  Fusion Pass</a:t>
            </a:r>
          </a:p>
          <a:p>
            <a:pPr lvl="1"/>
            <a:r>
              <a:rPr lang="en-US" altLang="en-US"/>
              <a:t>In  MLIR  implement a pattern-matching fusion rule, e.g.:</a:t>
            </a:r>
          </a:p>
          <a:p>
            <a:pPr lvl="1"/>
            <a:r>
              <a:rPr lang="en-US" altLang="en-US"/>
              <a:t>Add + LayerNorm → FusedAddLayerNorm</a:t>
            </a:r>
          </a:p>
          <a:p>
            <a:pPr lvl="1"/>
            <a:r>
              <a:rPr lang="en-US" altLang="en-US"/>
              <a:t>Mul + Softmax → ScaledSoftmax</a:t>
            </a:r>
          </a:p>
          <a:p>
            <a:pPr lvl="1"/>
            <a:r>
              <a:rPr lang="en-US" altLang="en-US"/>
              <a:t>Requirement: Pass  correctly identifies and rewrites the computation graph, generating fused operator  Triton Kernel  calls.</a:t>
            </a:r>
          </a:p>
          <a:p>
            <a:r>
              <a:rPr lang="en-US" altLang="en-US"/>
              <a:t>Direction B: Extend Multi-Chip Support for Existing Operators</a:t>
            </a:r>
          </a:p>
          <a:p>
            <a:pPr lvl="1"/>
            <a:r>
              <a:rPr lang="en-US" altLang="en-US"/>
              <a:t>For  FlagTree  add support for an existing operator (e.g.,  GELU  or  LayerNorm) targeting Ascend  NPU  or  AMD GPU  backend:</a:t>
            </a:r>
          </a:p>
          <a:p>
            <a:pPr lvl="1"/>
            <a:r>
              <a:rPr lang="en-US" altLang="en-US"/>
              <a:t>Implement the corresponding  Codegen  path (SPIR-V  or  Ascend C  target code)</a:t>
            </a:r>
          </a:p>
          <a:p>
            <a:pPr lvl="1"/>
            <a:r>
              <a:rPr lang="en-US" altLang="en-US"/>
              <a:t>Via  FlagTree 's  Runtime  interface for operator registration</a:t>
            </a:r>
          </a:p>
          <a:p>
            <a:r>
              <a:rPr lang="en-US" altLang="en-US"/>
              <a:t>Direction C: Implement a Graph Optimization  Pass</a:t>
            </a:r>
          </a:p>
          <a:p>
            <a:pPr lvl="1"/>
            <a:r>
              <a:rPr lang="en-US" altLang="en-US"/>
              <a:t>Implement Loop-Invariant Code Motion (LICM) or Common Subexpression Elimination (CSE）Pass：</a:t>
            </a:r>
          </a:p>
          <a:p>
            <a:pPr lvl="1"/>
            <a:r>
              <a:rPr lang="en-US" altLang="en-US"/>
              <a:t>In  Affine Dialect  level to identify hoistable computations</a:t>
            </a:r>
          </a:p>
          <a:p>
            <a:pPr lvl="1"/>
            <a:r>
              <a:rPr lang="en-US" altLang="en-US"/>
              <a:t>Verify semantic equivalence before and after transformation (using  MLIR 's  FileCheck  tests)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Submission Requirements and</a:t>
            </a:r>
            <a:r>
              <a:t> Grading Criteria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6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en-US" sz="2000"/>
              <a:t>Code Requirements</a:t>
            </a:r>
          </a:p>
          <a:p>
            <a:pPr lvl="1"/>
            <a:r>
              <a:rPr lang="en-US" altLang="en-US" sz="1800"/>
              <a:t>Using  C++17, conforming to  LLVM  Coding Standards</a:t>
            </a:r>
          </a:p>
          <a:p>
            <a:pPr lvl="1"/>
            <a:r>
              <a:rPr lang="en-US" altLang="en-US" sz="1800"/>
              <a:t>Pass  must pass at least  3   FileCheck  test cases</a:t>
            </a:r>
          </a:p>
          <a:p>
            <a:pPr lvl="1"/>
            <a:r>
              <a:rPr lang="en-US" altLang="en-US" sz="1800"/>
              <a:t>Provide  Python -level verification script for end-to-end operator output correctness validation</a:t>
            </a:r>
          </a:p>
          <a:p>
            <a:r>
              <a:rPr lang="en-US" altLang="en-US" sz="2000"/>
              <a:t>Documentation Requirements</a:t>
            </a:r>
          </a:p>
          <a:p>
            <a:pPr lvl="1"/>
            <a:r>
              <a:rPr lang="en-US" altLang="en-US" sz="1800"/>
              <a:t>Pass  Design Description: describe  Pattern  matching logic and transformation rules</a:t>
            </a:r>
          </a:p>
          <a:p>
            <a:pPr lvl="1"/>
            <a:r>
              <a:rPr lang="en-US" altLang="en-US" sz="1800"/>
              <a:t>Test Report: demonstrate optimization results (Kernel  count reduction, execution time comparison)</a:t>
            </a:r>
          </a:p>
          <a:p>
            <a:r>
              <a:rPr lang="en-US" altLang="en-US" sz="2000"/>
              <a:t>Grading Criteria</a:t>
            </a:r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998220" y="4571365"/>
          <a:ext cx="9603740" cy="1887220"/>
        </p:xfrm>
        <a:graphic>
          <a:graphicData uri="http://schemas.openxmlformats.org/drawingml/2006/table">
            <a:tbl>
              <a:tblPr/>
              <a:tblGrid>
                <a:gridCol w="3077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6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9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Assessment Dimension</a:t>
                      </a:r>
                    </a:p>
                  </a:txBody>
                  <a:tcPr marL="76200" marR="50800" marT="50800" marB="50800" anchor="ctr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B00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Score</a:t>
                      </a:r>
                    </a:p>
                  </a:txBody>
                  <a:tcPr marL="76200" marR="50800" marT="50800" marB="50800" anchor="ctr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B00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Grading Criteria</a:t>
                      </a:r>
                    </a:p>
                  </a:txBody>
                  <a:tcPr marL="76200" marR="50800" marT="50800" marB="50800" anchor="ctr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B00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200">
                          <a:latin typeface="Arial" panose="020B0604020202020204"/>
                          <a:ea typeface="Arial" panose="020B0604020202020204"/>
                        </a:rPr>
                        <a:t>Pass  Correctness</a:t>
                      </a: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200">
                          <a:latin typeface="Arial" panose="020B0604020202020204"/>
                          <a:ea typeface="Arial" panose="020B0604020202020204"/>
                        </a:rPr>
                        <a:t>40  pts</a:t>
                      </a: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200">
                          <a:latin typeface="Arial" panose="020B0604020202020204"/>
                          <a:ea typeface="Arial" panose="020B0604020202020204"/>
                        </a:rPr>
                        <a:t>FileCheck  tests all passed, end-to-end verification correct</a:t>
                      </a: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Arial" panose="020B0604020202020204"/>
                          <a:ea typeface="Arial" panose="020B0604020202020204"/>
                        </a:rPr>
                        <a:t>Optimization Effect</a:t>
                      </a: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200">
                          <a:latin typeface="Arial" panose="020B0604020202020204"/>
                          <a:ea typeface="Arial" panose="020B0604020202020204"/>
                        </a:rPr>
                        <a:t>25  pts</a:t>
                      </a: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Arial" panose="020B0604020202020204"/>
                          <a:ea typeface="Arial" panose="020B0604020202020204"/>
                        </a:rPr>
                        <a:t>Quantitatively demonstrate performance gains from fusion/</a:t>
                      </a:r>
                      <a:r>
                        <a:rPr lang="en-US" altLang="en-US" sz="1200">
                          <a:latin typeface="Arial" panose="020B0604020202020204"/>
                          <a:ea typeface="Arial" panose="020B0604020202020204"/>
                        </a:rPr>
                        <a:t>/optimization</a:t>
                      </a: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Arial" panose="020B0604020202020204"/>
                          <a:ea typeface="Arial" panose="020B0604020202020204"/>
                        </a:rPr>
                        <a:t>Code Quality</a:t>
                      </a: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200">
                          <a:latin typeface="Arial" panose="020B0604020202020204"/>
                          <a:ea typeface="Arial" panose="020B0604020202020204"/>
                        </a:rPr>
                        <a:t>20  pts</a:t>
                      </a: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Arial" panose="020B0604020202020204"/>
                          <a:ea typeface="Arial" panose="020B0604020202020204"/>
                        </a:rPr>
                        <a:t>Conforms to </a:t>
                      </a:r>
                      <a:r>
                        <a:rPr lang="en-US" altLang="en-US" sz="1200">
                          <a:latin typeface="Arial" panose="020B0604020202020204"/>
                          <a:ea typeface="Arial" panose="020B0604020202020204"/>
                        </a:rPr>
                        <a:t> LLVM  standards, complete comments, clear structure</a:t>
                      </a: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Arial" panose="020B0604020202020204"/>
                          <a:ea typeface="Arial" panose="020B0604020202020204"/>
                        </a:rPr>
                        <a:t>Design Document</a:t>
                      </a: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200">
                          <a:latin typeface="Arial" panose="020B0604020202020204"/>
                          <a:ea typeface="Arial" panose="020B0604020202020204"/>
                        </a:rPr>
                        <a:t>15  pts</a:t>
                      </a: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Arial" panose="020B0604020202020204"/>
                          <a:ea typeface="Arial" panose="020B0604020202020204"/>
                        </a:rPr>
                        <a:t>Clear approach, describes </a:t>
                      </a:r>
                      <a:r>
                        <a:rPr lang="en-US" altLang="en-US" sz="1200">
                          <a:latin typeface="Arial" panose="020B0604020202020204"/>
                          <a:ea typeface="Arial" panose="020B0604020202020204"/>
                        </a:rPr>
                        <a:t> Pattern  matching logic</a:t>
                      </a: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The Solution: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FlagOS,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a Unified AI Software Stack</a:t>
            </a:r>
            <a:endParaRPr lang="zh-CN" altLang="en-US"/>
          </a:p>
        </p:txBody>
      </p:sp>
      <p:pic>
        <p:nvPicPr>
          <p:cNvPr id="7" name="内容占位符 6" descr="flagos-architecture-e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832"/>
          <p:cNvSpPr/>
          <p:nvPr>
            <p:custDataLst>
              <p:tags r:id="rId1"/>
            </p:custDataLst>
          </p:nvPr>
        </p:nvSpPr>
        <p:spPr>
          <a:xfrm>
            <a:off x="89535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832"/>
          <p:cNvSpPr/>
          <p:nvPr>
            <p:custDataLst>
              <p:tags r:id="rId2"/>
            </p:custDataLst>
          </p:nvPr>
        </p:nvSpPr>
        <p:spPr>
          <a:xfrm>
            <a:off x="440023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832"/>
          <p:cNvSpPr/>
          <p:nvPr>
            <p:custDataLst>
              <p:tags r:id="rId3"/>
            </p:custDataLst>
          </p:nvPr>
        </p:nvSpPr>
        <p:spPr>
          <a:xfrm>
            <a:off x="790511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832"/>
          <p:cNvSpPr/>
          <p:nvPr>
            <p:custDataLst>
              <p:tags r:id="rId4"/>
            </p:custDataLst>
          </p:nvPr>
        </p:nvSpPr>
        <p:spPr>
          <a:xfrm>
            <a:off x="89535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832"/>
          <p:cNvSpPr/>
          <p:nvPr>
            <p:custDataLst>
              <p:tags r:id="rId5"/>
            </p:custDataLst>
          </p:nvPr>
        </p:nvSpPr>
        <p:spPr>
          <a:xfrm>
            <a:off x="440023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832"/>
          <p:cNvSpPr/>
          <p:nvPr>
            <p:custDataLst>
              <p:tags r:id="rId6"/>
            </p:custDataLst>
          </p:nvPr>
        </p:nvSpPr>
        <p:spPr>
          <a:xfrm>
            <a:off x="790511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72"/>
          <p:cNvSpPr/>
          <p:nvPr>
            <p:custDataLst>
              <p:tags r:id="rId7"/>
            </p:custDataLst>
          </p:nvPr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사각형: 둥근 모서리 72"/>
          <p:cNvSpPr/>
          <p:nvPr>
            <p:custDataLst>
              <p:tags r:id="rId8"/>
            </p:custDataLst>
          </p:nvPr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1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사각형: 둥근 모서리 72"/>
          <p:cNvSpPr/>
          <p:nvPr>
            <p:custDataLst>
              <p:tags r:id="rId9"/>
            </p:custDataLst>
          </p:nvPr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2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사각형: 둥근 모서리 72"/>
          <p:cNvSpPr/>
          <p:nvPr>
            <p:custDataLst>
              <p:tags r:id="rId10"/>
            </p:custDataLst>
          </p:nvPr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2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사각형: 둥근 모서리 72"/>
          <p:cNvSpPr/>
          <p:nvPr>
            <p:custDataLst>
              <p:tags r:id="rId11"/>
            </p:custDataLst>
          </p:nvPr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2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사각형: 둥근 모서리 72"/>
          <p:cNvSpPr/>
          <p:nvPr>
            <p:custDataLst>
              <p:tags r:id="rId12"/>
            </p:custDataLst>
          </p:nvPr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2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object 3"/>
          <p:cNvSpPr txBox="1"/>
          <p:nvPr>
            <p:custDataLst>
              <p:tags r:id="rId13"/>
            </p:custDataLst>
          </p:nvPr>
        </p:nvSpPr>
        <p:spPr>
          <a:xfrm>
            <a:off x="1219842" y="251790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4" action="ppaction://hlinkfile"/>
              </a:rPr>
              <a:t>https://github.com/flagos-ai</a:t>
            </a:r>
          </a:p>
          <a:p>
            <a:endParaRPr lang="en-US" altLang="ko-KR" sz="1600" dirty="0"/>
          </a:p>
        </p:txBody>
      </p:sp>
      <p:sp>
        <p:nvSpPr>
          <p:cNvPr id="36" name="object 3"/>
          <p:cNvSpPr txBox="1"/>
          <p:nvPr>
            <p:custDataLst>
              <p:tags r:id="rId14"/>
            </p:custDataLst>
          </p:nvPr>
        </p:nvSpPr>
        <p:spPr>
          <a:xfrm>
            <a:off x="8015605" y="2341245"/>
            <a:ext cx="2882265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5" action="ppaction://hlinkfile"/>
              </a:rPr>
              <a:t>https://space.bilibili.com/3546791834290849</a:t>
            </a:r>
            <a:endParaRPr lang="en-US" altLang="zh-CN" sz="1600" dirty="0"/>
          </a:p>
        </p:txBody>
      </p:sp>
      <p:sp>
        <p:nvSpPr>
          <p:cNvPr id="42" name="object 3"/>
          <p:cNvSpPr txBox="1"/>
          <p:nvPr>
            <p:custDataLst>
              <p:tags r:id="rId15"/>
            </p:custDataLst>
          </p:nvPr>
        </p:nvSpPr>
        <p:spPr>
          <a:xfrm>
            <a:off x="1219842" y="440385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6" action="ppaction://hlinkfile"/>
              </a:rPr>
              <a:t>https://www.zhihu.com/people/95-22-20-18/posts</a:t>
            </a:r>
            <a:endParaRPr lang="en-US" altLang="ko-KR" sz="1600" dirty="0"/>
          </a:p>
        </p:txBody>
      </p:sp>
      <p:sp>
        <p:nvSpPr>
          <p:cNvPr id="45" name="object 3"/>
          <p:cNvSpPr txBox="1"/>
          <p:nvPr>
            <p:custDataLst>
              <p:tags r:id="rId16"/>
            </p:custDataLst>
          </p:nvPr>
        </p:nvSpPr>
        <p:spPr>
          <a:xfrm>
            <a:off x="4724722" y="4403854"/>
            <a:ext cx="2513958" cy="39687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7" action="ppaction://hlinkfile"/>
              </a:rPr>
              <a:t>https://flagos.io/Home</a:t>
            </a:r>
            <a:endParaRPr lang="en-US" altLang="ko-KR" sz="1600" dirty="0"/>
          </a:p>
        </p:txBody>
      </p:sp>
      <p:pic>
        <p:nvPicPr>
          <p:cNvPr id="54" name="图片 53" descr="weixin-DL0TqDNO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</p:spPr>
      </p:pic>
      <p:pic>
        <p:nvPicPr>
          <p:cNvPr id="55" name="图片 54" descr="feishu-qrcode-C75xQn5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306" r="2306"/>
          <a:stretch>
            <a:fillRect/>
          </a:stretch>
        </p:blipFill>
        <p:spPr/>
      </p:pic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5625465" y="2373630"/>
            <a:ext cx="5739130" cy="2664460"/>
          </a:xfrm>
        </p:spPr>
        <p:txBody>
          <a:bodyPr/>
          <a:lstStyle/>
          <a:p>
            <a:pPr algn="l"/>
            <a:r>
              <a:rPr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 for your time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kumimoji="1" lang="ko-KR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56*148"/>
  <p:tag name="TABLE_ENDDRAG_RECT" val="78*359*756*14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heme/theme1.xml><?xml version="1.0" encoding="utf-8"?>
<a:theme xmlns:a="http://schemas.openxmlformats.org/drawingml/2006/main" name="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578</Words>
  <Application>Microsoft Office PowerPoint</Application>
  <PresentationFormat>宽屏</PresentationFormat>
  <Paragraphs>86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微软雅黑</vt:lpstr>
      <vt:lpstr>文泉驿微米黑</vt:lpstr>
      <vt:lpstr>Arial</vt:lpstr>
      <vt:lpstr>Calibri</vt:lpstr>
      <vt:lpstr>Calibri Light</vt:lpstr>
      <vt:lpstr>Ebrima</vt:lpstr>
      <vt:lpstr>Garamond</vt:lpstr>
      <vt:lpstr>Montserrat SemiBold</vt:lpstr>
      <vt:lpstr>Wingdings 3</vt:lpstr>
      <vt:lpstr>母版</vt:lpstr>
      <vt:lpstr>Hardware and Software Fundamentals of  Intelligent Computing  Systems</vt:lpstr>
      <vt:lpstr>Lecture 27：Module III Final Project (FlagTree Pass Contribution)</vt:lpstr>
      <vt:lpstr>Course Projects Overview</vt:lpstr>
      <vt:lpstr>Project Overview</vt:lpstr>
      <vt:lpstr>Selectable Directions (Choose One of Three)</vt:lpstr>
      <vt:lpstr>Submission Requirements and Grading Criteria</vt:lpstr>
      <vt:lpstr>The Solution: FlagOS, a Unified AI Software Stack</vt:lpstr>
      <vt:lpstr>PowerPoint 演示文稿</vt:lpstr>
      <vt:lpstr>Thanks for your time！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开源社区与AI系统软件贡献</dc:title>
  <dc:subject>开源社区与AI系统软件贡献</dc:subject>
  <dc:creator>Kimi</dc:creator>
  <cp:lastModifiedBy>Xiang Li</cp:lastModifiedBy>
  <cp:revision>13</cp:revision>
  <dcterms:created xsi:type="dcterms:W3CDTF">2026-03-12T02:57:00Z</dcterms:created>
  <dcterms:modified xsi:type="dcterms:W3CDTF">2026-03-17T14:54:32Z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开源社区与AI系统软件贡献","ContentProducer":"001191110108MACG2KBH8F10000","ProduceID":"19cbf9a2-ac82-8bf3-8000-00008c4ccf4f","ReservedCode1":"","ContentPropagator":"001191110108MACG2KBH8F20000","PropagateID":"19cbf9a2-ac82-8bf3-8000-00008c4ccf4f","ReservedCode2":""}</vt:lpwstr>
  </property>
  <property fmtid="{D5CDD505-2E9C-101B-9397-08002B2CF9AE}" pid="3" name="ICV">
    <vt:lpwstr>423D73E912CD1A00385CAA69CA7CE0B6_42</vt:lpwstr>
  </property>
  <property fmtid="{D5CDD505-2E9C-101B-9397-08002B2CF9AE}" pid="4" name="KSOProductBuildVer">
    <vt:lpwstr>2052-12.1.0.19302</vt:lpwstr>
  </property>
</Properties>
</file>