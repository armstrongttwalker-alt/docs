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0" Target="notesSlides/notesSlide19.xml" Type="http://schemas.openxmlformats.org/officeDocument/2006/relationships/notesSlide"/><Relationship Id="rId51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同学们，大家好。欢迎来到第 24 课时。今天我们将深入探讨 GPU 编程和编译器优化中的一个核心主题——布局与内存规划。如何高效地组织数据在内存中的存放方式，以及如何规划数据在各级内存之间的流动，直接决定了我们能否充分利用 GPU 强大的计算能力。这节课我们将从 GPU 的硬件内存结构出发，一步步理解内存事务、共享内存的 Bank 冲突、张量布局的概念，并学习现代编译器（如 Triton）是如何自动进行布局优化，以及高层的内存分配策略。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 GPU 的内存层次结构。这张图清晰地展示了不同层级内存的带宽和容量关系。从全局内存（Global Memory）到共享内存（Shared Memory），再到寄存器（Register），带宽从左到右逐级增加 10 到 100 倍，而容量则从右到左逐级减少 100 到 1000 倍。布局优化的核心目标，就是最大化利用靠近计算单元的高速内存，减少低速内存（尤其是全局内存）的大量数据搬运。这正是 FlashAttention 这类高性能算法设计的核心思路：通过合理设计内存访问模式，将尽可能多的计算放在片上高速内存中完成。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要理解如何高效访问全局内存，我们必须先了解 GPU 的内存事务机制。GPU 访问全局内存并不是逐字节进行的，而是以固定大小的“事务”为单位。每个事务通常传输 32 字节或 128 字节，并且事务必须对齐到其大小的边界。一个 warp（包含 32 个线程）的内存请求会被硬件合并成尽可能少的事务。同时，最大并发事务数受限于内存控制器的队列深度。事务的数量乘以每个事务的延迟，就构成了总等待时间。因此，减少事务数量是优化内存访问延迟的关键。当一个 warp 的 32 个线程访问的地址满足特定条件时，就可以实现“合并访问”，从而将多个线程的请求合并为最少的事务。最基本的条件是：所有线程访问的地址落在同一个或相邻的缓存行内，并且每个线程访问的是连续的元素。此时，一次内存事务就可以服务整个 warp 的请求，达到最高的带宽利用率。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这里我们看两个具体的例子。左边是连续访问：每个线程按照自己的线程 ID 顺序访问数组中的连续元素，即 idx = threadIdx.x。这种情况下，32 个线程访问的是连续的 32 个元素，这些元素恰好落在一个或两个缓存行内，因此只需要 1 个内存事务即可完成。右边是跨步访问：线程访问的地址步长为 2，即 idx = threadIdx.x * 2。这样地址不再连续，而是间隔分布，可能需要 2 个事务才能完成。步长越大，事务数可能越多。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最坏的情况是随机访问。当每个线程访问的地址完全随机（例如通过查表 index_table 获得）时，这些地址可能分散在全局内存的各个角落，导致无法合并。此时，每个线程的访问都可能需要单独的事务，最坏情况下需要 32 个事务。通过对比可以看出，连续访问效率最高，随机访问效率最低。因此，在编写 GPU 程序时，我们要尽量保证同一个 warp 内的线程访问连续的地址。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这个例子展示了矩阵访问中行优先与列优先存储对内存事务的影响。假设我们有一个 32x32 的矩阵，并让一个 warp 的 32 个线程分别读取矩阵的一行或一列。如果矩阵按行优先存储（即 C/C++ 默认方式），那么读取一行时，32 个元素在内存中是连续的，可以合并访问。而读取一列时，这 32 个元素在内存中间隔 32 个元素（即矩阵的一行），此时它们分散在不同的缓存行中，导致无法合并，需要更多事务。这就是为什么在 GPU 编程中，我们通常需要根据存储布局来调整访问模式，或者对矩阵进行转置。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共享内存是 GPU 中一块由程序员显式控制的片上内存，速度比全局内存快约 100 倍，但容量也小约 1000 倍。它与 L1 缓存共享物理空间，可以通过配置调整两者的大小比例。共享内存被划分为 32 个独立的 Bank，每个 Bank 可以同时服务一个访问请求。理想情况下，如果一个 warp 内的 32 个线程同时访问 32 个不同的 Bank，那么所有请求可以并行处理，达到最高效率。因此，如何设计共享内存中的数据布局，以避免 Bank 冲突，是内存规划的核心。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当多个线程的访问映射到同一个 Bank 时，就会发生 Bank 冲突，这些访问必须串行化，从而降低效率。图中展示了一种最坏情况：所有线程访问同一行中的第 0 列，即 smem[row][0]，由于每一行的起始地址都对齐到 Bank 0，因此所有访问都落到了 Bank 0，导致 32 路冲突。另一种典型情况是步长为 32 的访问：例如访问一维共享内存数组中的索引 threadIdx.x * 32，由于 Bank 数量也是 32，这些索引也全部映射到同一个 Bank。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为了解决 Bank 冲突，常用的技术有 Padding（填充）和 Swizzling（交错）。Padding 通过在每行末尾增加额外的元素，使行的实际大小不是 Bank 数量的整数倍，这样不同行的同一列就会落在不同的 Bank 上。Swizzling 则通过 XOR 操作动态改变地址映射，使原本冲突的地址分散到不同 Bank。图中给出了一个例子：原始的列访问全部在 Bank 0，经过 Padding 后，不同行的同一列落到了不同的 Bank。这里展示了 Padding 的具体实现。原始共享内存声明为 __shared__ float smem[32][32];，此时每行 32 个 float 正好占满 32 个 Bank。列访问时所有行第 0 列都在 Bank 0。如果改为 __shared__ float smem[32][33];，每行有 33 个 float，那么第一行起始于 Bank 0，第二行起始于 Bank 1（因为上一行末尾多出的 1 个元素占据了 Bank 0 的下一个地址），第三行起始于 Bank 2，以此类推。这样，当 warp 访问第 0 列时，不同行对应的 Bank 分别是 0、1、2、……，实现了无冲突访问。Swizzling 是一种更灵活的地址重映射技术。它通过 XOR 操作将行号和列号组合，使得访问同一列时，实际地址的 Bank 索引变为 col XOR row。图中示例：原始访问 smem[row][0]，所有地址都落在 Bank 0。应用 XOR 重映射后，row 0 的地址仍然是 Bank 0，row 1 的地址映射到 Bank 1，row 2 映射到 Bank 2，……这样就消除了冲突。Swizzling 在 Triton 等编译器中得到了广泛应用，由编译器自动生成优化后的访问代码。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Triton 编译器能够自动处理共享内存的布局优化。它通过一些参数来控制 Swizzling 的行为，例如 vec 表示连续访问的元素数（影响向量化），perPhase 和 maxPhase 控制 Swizzle 的周期。Triton 会根据这些参数自动生成无冲突的共享内存访问代码。这大大减轻了程序员手动优化布局的负担。这是一个 Triton 内核的代码片段，其中使用了共享内存。Triton 会在编译时自动选择最优布局。例如，tl.load 负责从全局内存加载数据到寄存器。如果需要显式使用共享内存，比如在进行转置操作 tl.trans 时，Triton 会自动应用 Swizzling 优化，确保转置后的共享内存访问不会产生 Bank 冲突。开发者只需要专注于算法逻辑，编译器会处理底层的布局细节。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张量布局描述了逻辑张量元素到物理存储位置的映射，包括内存排列顺序以及元素在硬件单元间的分布。常见的布局类型有：行优先（Row-major，C/C++ 默认）、列优先（Column-major，Fortran、MATLAB）、分块存储（Blocked，适用于 GPU 并行）、带步长存储（Strided，常见于切片操作）。图中以 2x4 矩阵为例，展示了行优先和列优先在内存中的排列顺序。理解这些布局对编写高效 GPU 程序至关重要。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 Triton 的 MLIR 表示中，布局使用特定的 Attribute 来编码。例如，BlockedEncodingAttr 描述全局内存的访问模式；SharedEncodingAttr 描述共享内存的访问模式，其中包含了 Swizzle 参数；NvidiaMmaEncodingAttr 和 DotOperandEncodingAttr 则用于描述 Tensor Core 矩阵乘法操作所需的布局。这些编码将布局表示为从硬件位置（warp、thread、register）到逻辑索引的映射，并使用二进制位和 XOR 操作来实现高效的地址计算。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MMA 布局是专门为 GPU Tensor Core 设计的数据排列方式。Tensor Core 执行 D = A × B + C 的运算，每次处理固定大小的片段（例如 Volta 架构的 16x16）。为了充分利用 Tensor Core，数据必须按照特定的模式分布在 warp 内的各个线程的寄存器中。图中展示了一个例子：每个线程持有 8 个元素，分布方式非常复杂，例如 Thread 0 持有 A[0,0:2]、A[8,0:2] 等。这种布局与常规的行优先或列优先完全不同，需要专门的指令进行布局转换。这张图进一步说明了从 Blocked 布局到 MMA 布局的转换过程。通常使用 ldmatrix 指令，从共享内存中加载 8x8 的矩阵片段，然后将其重排并分发到 warp 内各线程的寄存器中，最终形成 Tensor Core 所需的 MMA 布局。这个转换是矩阵乘法核心计算前的关键步骤。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 Triton 中，MMA 布局也通过属性来描述，例如 #triton_gpu.nvidia_mma 包含了版本号（如 Volta、Ampere、Hopper）、warp 网格布局、指令形状（M×N×K）等信息。这些属性告诉编译器如何为 Tensor Core 生成正确的数据移动和计算指令。Triton 提供了 triton_gpu.convert_layout 操作来实现不同布局之间的显式转换。例如，将一个 blocked 布局的张量转换为 mma 布局的张量。编译器会插入必要的 ldmatrix 指令和其他重排操作。布局转换是编译过程中的重要环节，合理的转换策略能够显著提升性能。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内存分配可以分为静态分配和动态分配。静态分配在编译时完成，没有运行时开销，碎片化可预测，但灵活性低，要求所有张量大小在编译时已知。动态分配则在运行时进行，有 malloc 开销，但灵活性高。机器学习编译器的常见策略是：先进行编译时分析，确定张量的生命周期，然后计算最优的静态分配方案，并生成分配代码。对于动态形状，可以使用内存池来支持。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内存复用是指让生命周期不重叠的张量共享同一块内存空间，从而降低内存峰值。图中 A、B、C 彼此生命周期不重叠，可以复用同一块内存；而 D 的生命周期与它们重叠，因此不能复用。实现内存复用的常用算法包括图着色算法（构建干扰图，最小化颜色数）、贪心算法（按张量大小排序，尽量复用）和整数线性规划（ILP）方法（求最优解）。约束条件如偏移量非负、不重叠张量的地址空间无冲突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当 GPU 内存不足以存储所有中间张量时，可以采用张量重算（Rematerialization）技术：选择性地丢弃某些中间结果，在需要时重新计算。例如在反向传播中，可以不存储前向的某个中间张量 A，只保留 B 和 C，反向传播时重新计算 A。优化目标是在计算时间和内存峰值之间取得平衡，通常需要运行时动态决策或求解最优化问题。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我们总结一些布局与内存规划的优化策略。布局转换方面，应尽量推迟转换，发现并删除冗余转换，合并相邻转换，优先选择对主要操作友好的布局，考虑整个计算图而非单个算子。减少转换方面，可以统一使用相同布局，在计算密集处进行转换，并结合死代码消除。减少内存分配方面，删除死变量可以避免分配空间，删除无用操作可以缩短张量生命周期，从而支持更多复用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课的上机实验是：对比不同布局下算子的性能差异。请大家动手实现几个简单的内核，分别采用不同的内存访问模式和共享内存布局，测量并分析其性能。通过实验，加深对今天所讲内容的理解，并学会在实际编程中应用布局优化的思想。希望大家认真完成实验，下次课我们请同学分享实验结果和心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5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4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5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22.jpeg" Type="http://schemas.openxmlformats.org/officeDocument/2006/relationships/image"/><Relationship Id="rId13" Target="../media/image23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2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24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：布局与内存规划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内存层次结构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带宽从左到右增加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10-100x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容量从右到左减少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100-1000x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布局优化的核心是最大化高速内存的利用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合理设计程序使用内存，减少大量数据搬运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FlashAttention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设计的核心思路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3873" y="2497302"/>
            <a:ext cx="7772400" cy="15624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内存事务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(Memory Transaction)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机制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访问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Global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不是逐字节进行的，而是以固定大小的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事务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为单位：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每次内存事务传输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字节或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128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字节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事务必须对齐到其大小的边界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个线程）的内存请求会被合并成尽可能少的事务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最大并发事务有限，受限于内存控制器队列深度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事务数量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延迟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总等待时间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合并访问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当一个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个线程访问的地址满足以下条件时，可以合并为最少的事务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地址落在同一个或相邻的缓存行内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每个线程访问连续的元素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内存事务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(Memory Transaction)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机制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连续访问：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个事务即可完成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跨步访问：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个事务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10297" y="1814051"/>
            <a:ext cx="5761703" cy="63418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idx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 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2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T0→0, T1→2, T2→4, ...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data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[idx]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5736" y="1814051"/>
            <a:ext cx="5187449" cy="63418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idx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T0→0, T1→1, T2→2, ...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data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[idx]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连续地址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92789" y="2624444"/>
            <a:ext cx="4453341" cy="283394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199012" y="2532255"/>
            <a:ext cx="5613746" cy="301832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内存事务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(Memory Transaction)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机制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随机访问：最差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个事务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效率对比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9587" y="1768840"/>
            <a:ext cx="5105570" cy="70453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idx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index_table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threadIdx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x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随机地址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data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[idx]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29587" y="3043141"/>
          <a:ext cx="3949704" cy="22250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16568"/>
                <a:gridCol w="1316568"/>
                <a:gridCol w="1316568"/>
              </a:tblGrid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Stride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事务数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带宽利用率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50%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25%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3.125%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随机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最多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～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3.125%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矩阵访问的行优先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列优先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一个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warp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读取一行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一个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warp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读取一列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3874" y="1757083"/>
            <a:ext cx="4980456" cy="555812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0,1,2,...,31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M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[row 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32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+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col]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10297" y="1757082"/>
            <a:ext cx="4690785" cy="555813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row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0,1,2,...,31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M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[row 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32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+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col]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3872" y="2320535"/>
            <a:ext cx="4702614" cy="410583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10297" y="2495205"/>
            <a:ext cx="4835958" cy="393116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中的共享内存（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Shared Memory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比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Global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快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~100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倍，但容量小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~1000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倍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程序员可显式控制数据放置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L1 Cache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共享空间，可以手动配置占比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Shared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被划分为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个独立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可以同时服务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个请求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理想情况：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个线程同时访问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个不同的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Bank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高效利用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Shared Memory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是内存布局规划的核心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当同一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内多个线程的请求映射到同一个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Bank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时，必须访问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01243" y="2962975"/>
            <a:ext cx="4836436" cy="32139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1311" t="0" b="0"/>
          <a:stretch>
            <a:fillRect/>
          </a:stretch>
        </p:blipFill>
        <p:spPr>
          <a:xfrm rot="0" flipH="false" flipV="false">
            <a:off x="329565" y="2073275"/>
            <a:ext cx="3004185" cy="3044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中的共享内存（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Shared Memory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4" id="4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理想情况与最坏情况</a:t>
            </a:r>
          </a:p>
        </p:txBody>
      </p:sp>
      <p:sp>
        <p:nvSpPr>
          <p:cNvPr name="AutoShape 6" id="6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7" id="7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导致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Bank Conflict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的访问模式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步长为特定值的访问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步长为特定值（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）的访问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1988" r="0" t="0" b="0"/>
          <a:stretch>
            <a:fillRect/>
          </a:stretch>
        </p:blipFill>
        <p:spPr>
          <a:xfrm rot="0" flipH="false" flipV="false">
            <a:off x="3333750" y="2033905"/>
            <a:ext cx="3081020" cy="303339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467777" y="2381915"/>
            <a:ext cx="5076216" cy="71774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row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0 to 31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smem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[row][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//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所有线程访问第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列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67777" y="3989070"/>
            <a:ext cx="5076216" cy="82296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idx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threadIdx.x 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32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float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val </a:t>
            </a: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smem_1d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[idx]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;</a:t>
            </a:r>
            <a:b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idx = 0, 32, 64, 96, ...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全部映射到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 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Bank Conflict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增加每行的实际存储大小，错开列元素到不同的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Bank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Swizzling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XOR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操作动态改变地址映射，使不同行的同一列落在不同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Bank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	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地址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= row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stride + col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Swizzle:	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地址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= row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stride + (col XOR row)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5947" y="2457450"/>
            <a:ext cx="5489102" cy="146304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__shared__ float smem[32][32];</a:t>
            </a:r>
            <a:b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0: [B0 ][B1 ][B2 ]...[B31] ← 128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字节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1: [B0 ][B1 ][B2 ]...[B31] ← 128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字节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,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起始于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2: [B0 ][B1 ][B2 ]...[B31]</a:t>
            </a:r>
            <a:b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列访问时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smem[0][0], smem[1][0], smem[2][0], ...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全部在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 0 → 32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路冲突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5947" y="4457700"/>
            <a:ext cx="5489103" cy="180895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__shared__ float smem[32][33]; //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每行多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1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个元素</a:t>
            </a:r>
            <a:b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0: [B0 ][B1 ][B2 ]...[B31][B0 ] ← 132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字节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(33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个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float)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1: [B1 ][B2 ][B3 ]...[B0 ][B1 ] ←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起始于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 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2: [B2 ][B3 ][B4 ]...[B1 ][B2 ] ←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起始于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 2</a:t>
            </a:r>
            <a:b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列访问时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smem[0][0] →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smem[1][0] → Bank 1 ←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不同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smem[2][0] → Bank 2 ←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不同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Bank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无冲突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241632" y="3969893"/>
            <a:ext cx="155657" cy="40976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36057" y="3263265"/>
            <a:ext cx="5132070" cy="13144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访问第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列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0, col 0 → addr 0 →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1, col 0 → addr 128 →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2, col 0 → addr 256 →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3, col 0 → addr 384 → Bank 0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32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路冲突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36057" y="4931603"/>
            <a:ext cx="5132070" cy="13144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访问第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列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(col XOR row):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0, col 0^0=0 → Bank 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1, col 0^1=1 → Bank 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2, col 0^2=2 → Bank 2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row 3, col 0^3=3 → Bank 3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无冲突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14055" y="4651506"/>
            <a:ext cx="171450" cy="2249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中的自动布局优化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编译器根据这些参数自动生成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swizzled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访问代码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vec: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连续访问的元素数，影响向量化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perPhase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maxPhase: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控制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swizzle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的周期</a:t>
            </a:r>
          </a:p>
          <a:p>
            <a:pPr algn="l" indent="0" lvl="5" marL="17145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9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编译器自动处理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Shared Memory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的布局优化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404" y="2703195"/>
            <a:ext cx="5545095" cy="14516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#shared = #triton_gpu.shared&lt;{</a:t>
            </a:r>
            <a:endParaRPr lang="en-US" sz="1100"/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vec = 4,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向量化宽度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一次访问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4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个元素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perPhase = 2,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每个相位的行数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maxPhase = 8,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最大相位数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用于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swizzle)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order = [1, 0],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内存遍历顺序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hasLeadingOffset = false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1404" y="4636438"/>
            <a:ext cx="5545096" cy="1630219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@triton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jit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kernel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(...):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Triton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自动选择最优布局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load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A_ptr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+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offs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Global → Register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显式使用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shared memory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Triton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会自动应用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swizzling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a_shared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trans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转置时自动优化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张量布局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(Tensor Layout)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描述逻辑张量元素到物理存储位置的映射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内存排列顺序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元素在硬件单元间的分布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常见布局类型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Row-major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，按行连续存储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C/C++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默认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Column-major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，按列连续存储，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Fortran, MATLAB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Blocked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，分块存储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并行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Strided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，带步长存储，切片操作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006590" y="3017520"/>
            <a:ext cx="4434840" cy="176022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2x4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矩阵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		Row-major: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┌─┬─┬─┬─┐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   [0,1,2,3,4,5,6,7]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1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2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3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├─┼─┼─┼─┤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Column-major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4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5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6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7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   [0,4,1,5,2,6,3,7]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└─┴─┴─┴─┘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布局编码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MLIR Attribute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表示布局</a:t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BlockedEncodingAttr: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全局内存访问模式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SharedEncodingAttr: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共享内存访问模式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(swizzle)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NvidiaMmaEncodingAttr: Tensor Core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操作布局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DotOperandEncodingAttr: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矩阵乘法操作数布局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统一布局表示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将布局表示为从硬件位置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(warp, thread, register)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到逻辑索引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(m, n)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的映射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使用二进制位表示步长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XOR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操作组合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7104" y="1830229"/>
            <a:ext cx="6614160" cy="129016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#blocked = #triton_gpu.blocked&lt;{</a:t>
            </a:r>
            <a:endParaRPr lang="en-US" sz="1100"/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sizePerThread = [4], 	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每个线程处理的元素数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threadsPerWarp = [32], 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warp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的线程数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warpsPerCTA = [4], 	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CTA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warp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order = [0] 			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维度遍历顺序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}&gt;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MMA (Matrix Multiply-Accumulate)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布局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Tensor Core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设计的数据排列方式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 = A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 + C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片段大小固定（如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Volta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架构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16*16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），符合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TC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硬件要求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每个线程持有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8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个元素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Thread 0: A[0,0:2], A[8,0:2], A[0,8:10], A[8,8:10]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Thread 1: A[0,2:4], A[8,2:4], A[0,10:12]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... 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27430" y="3429000"/>
            <a:ext cx="6893560" cy="307857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MMA (Matrix Multiply-Accumulate)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布局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Blocked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到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MMA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的布局转换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ldmatrix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指令，从共享内存加载并重排到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MMA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布局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从共享内存读取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矩阵片段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分发到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内各线程的寄存器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重排为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MMA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中的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MMA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编码属性</a:t>
            </a:r>
          </a:p>
          <a:p>
            <a:pPr algn="l" indent="0" lvl="2" marL="6858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中的布局转换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404" y="3200400"/>
            <a:ext cx="6973846" cy="13373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#mma = #triton_gpu.nvidia_mma&lt;{</a:t>
            </a:r>
            <a:endParaRPr lang="en-US" sz="1100"/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versionMajor = 2, // MMA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版本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(1=Volta, 2=Ampere, 3=Hopper)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versionMinor = 0,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warpsPerCTA = [2, 2], // Warp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网格布局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instrShape = [16, 8, 16] // M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N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K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指令形状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}&gt;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1404" y="4994910"/>
            <a:ext cx="6973846" cy="9715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从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blocked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布局转换为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mma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布局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%0 = triton_gpu.convert_layout %arg 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tensor&lt;128x64xf16, #blocked&gt; -&gt; tensor&lt;128x64xf16, #mma&gt;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内存分配策略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静态分配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编译时分配，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运行时开销，碎片化可预测，灵活性低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所有张量大小编译时已知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动态分配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运行时分配，有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malloc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开销，灵活性高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机器学习编译器策略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编译时分析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确定张量生命周期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计算最优分配方案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生成分配代码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使用内存池支持动态形状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内存复用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生命周期不重叠的张量可以共享内存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ABC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彼此可复用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ABC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不可复用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常见算法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图着色算法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构建干扰图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最小化颜色数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贪心算法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按张量大小排序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尽量复用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ILP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方法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整数线性规划求最优解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最小化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max(offset[i] + size[i]) for all i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约束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	1. offset[i] &gt;= 0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非负偏移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offset[i] + size[i] &lt;= offset[j]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i, j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不重叠且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在前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offset[j] + size[j] &lt;= offset[i]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j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在前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生命周期重叠的张量必须有不同地址空间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0918" y="1851660"/>
            <a:ext cx="5223510" cy="109728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Tensor A: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████████████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Tensor B: 			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████████████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Tensor C: 						 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██████████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Tensor D: 		</a:t>
            </a:r>
            <a:r>
              <a:rPr lang="en-US" b="false" i="fals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████████████████████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张量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Rematerialization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Image Source: Capuchin: Tensor-based GPU Memory Management for Deep Learning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内存不足以存储所有中间张量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选择性地丢弃并重新计算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Input-&gt;A-&gt;B-&gt;C-&gt;Output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，保留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用于反向传播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反向传播时重新计算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优化目标：最小化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计算时间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内存峰值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运行时动态决策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最优化问题求解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269038" y="4102237"/>
            <a:ext cx="4932237" cy="154608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布局与内存规划优化策略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布局转换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尽量推迟转换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发现并删除冗余转换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合并相邻转换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优先选择对主要操作友好的布局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考虑整个计算图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不只是单个算子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减少转换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统一使用相同布局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在计算密集处进行转换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Dead Code Elimination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减少内存分配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删除死变量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不需要分配空间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缩短生命周期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删除无用操作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提前释放内存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支持更多复用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生命周期缩短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更多复用机会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上机实验：对比不同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Layout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下算子的性能差异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4" id="4"/>
          <p:cNvSpPr/>
          <p:nvPr>
            <p:ph idx="12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