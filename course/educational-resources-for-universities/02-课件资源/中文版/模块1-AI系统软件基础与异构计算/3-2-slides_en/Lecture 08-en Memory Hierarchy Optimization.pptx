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33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7" r:id="rId23"/>
    <p:sldId id="279" r:id="rId24"/>
    <p:sldId id="280" r:id="rId25"/>
  </p:sldIdLst>
  <p:sldSz cx="12192000" cy="6858000"/>
  <p:notesSz cx="6858000" cy="9144000"/>
  <p:custDataLst>
    <p:tags r:id="rId2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  <p:cmAuthor id="3" name="王 家琦" initials="王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0012"/>
    <a:srgbClr val="E3A7A8"/>
    <a:srgbClr val="70AD47"/>
    <a:srgbClr val="2774AE"/>
    <a:srgbClr val="70AE47"/>
    <a:srgbClr val="549E39"/>
    <a:srgbClr val="90B085"/>
    <a:srgbClr val="2D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5"/>
    <p:restoredTop sz="92019" autoAdjust="0"/>
  </p:normalViewPr>
  <p:slideViewPr>
    <p:cSldViewPr snapToGrid="0" snapToObjects="1">
      <p:cViewPr varScale="1">
        <p:scale>
          <a:sx n="56" d="100"/>
          <a:sy n="56" d="100"/>
        </p:scale>
        <p:origin x="896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1" d="100"/>
          <a:sy n="81" d="100"/>
        </p:scale>
        <p:origin x="338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D35F3-BE5B-41CC-A973-5F94E77F22B3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126E5-09CE-4398-8EB0-4AC849D0A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E8E16-D6C5-3248-816C-85B3C8E8792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4C98A-D9C5-894D-9A13-8F52E37846C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 err="1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配图建议：GPU</a:t>
            </a:r>
            <a:r>
              <a:rPr lang="en-US" altLang="zh-CN" sz="12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Memory Hierarchy </a:t>
            </a:r>
            <a:r>
              <a:rPr lang="en-US" altLang="zh-CN" sz="1200" dirty="0" err="1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总图（CUDA官方图</a:t>
            </a:r>
            <a:r>
              <a:rPr lang="en-US" altLang="zh-CN" sz="12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）</a:t>
            </a:r>
            <a:endParaRPr lang="en-US" altLang="zh-C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 err="1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代码示例：CUDA</a:t>
            </a:r>
            <a:r>
              <a:rPr lang="en-US" altLang="zh-CN" sz="12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Shared Memory </a:t>
            </a:r>
            <a:r>
              <a:rPr lang="en-US" altLang="zh-CN" sz="1200" dirty="0" err="1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声明与使用</a:t>
            </a:r>
            <a:endParaRPr lang="en-US" altLang="zh-CN" sz="24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 err="1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配图建议：memory</a:t>
            </a:r>
            <a:r>
              <a:rPr lang="en-US" altLang="zh-CN" sz="12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access flow 图</a:t>
            </a:r>
            <a:endParaRPr lang="en-US" altLang="zh-CN" sz="20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 err="1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图片来源：NVIDIA</a:t>
            </a:r>
            <a:r>
              <a:rPr lang="en-US" altLang="zh-CN" sz="12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Developer Forums</a:t>
            </a:r>
            <a:endParaRPr lang="en-US" altLang="zh-CN" sz="20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 err="1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配图建议：padding</a:t>
            </a:r>
            <a:r>
              <a:rPr lang="en-US" altLang="zh-CN" sz="12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</a:t>
            </a:r>
            <a:r>
              <a:rPr lang="en-US" altLang="zh-CN" sz="1200" dirty="0" err="1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避免</a:t>
            </a:r>
            <a:r>
              <a:rPr lang="en-US" altLang="zh-CN" sz="12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conflict 图</a:t>
            </a:r>
            <a:endParaRPr lang="en-US" altLang="zh-C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 err="1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配图建议：reduction</a:t>
            </a:r>
            <a:r>
              <a:rPr lang="en-US" altLang="zh-CN" sz="12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shared memory 图</a:t>
            </a:r>
            <a:endParaRPr lang="en-US" altLang="zh-CN" sz="20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grpSp>
        <p:nvGrpSpPr>
          <p:cNvPr id="83" name="Group 7"/>
          <p:cNvGrpSpPr/>
          <p:nvPr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549E39"/>
          </a:solidFill>
        </p:grpSpPr>
        <p:sp>
          <p:nvSpPr>
            <p:cNvPr id="1048651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84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048652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3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4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5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6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7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22478610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20175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image" Target="../media/image17.png"/><Relationship Id="rId26" Type="http://schemas.openxmlformats.org/officeDocument/2006/relationships/hyperlink" Target="https://www.zhihu.com/people/95-22-20-18/posts" TargetMode="External"/><Relationship Id="rId3" Type="http://schemas.openxmlformats.org/officeDocument/2006/relationships/tags" Target="../tags/tag13.xml"/><Relationship Id="rId21" Type="http://schemas.openxmlformats.org/officeDocument/2006/relationships/image" Target="../media/image20.png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slideLayout" Target="../slideLayouts/slideLayout6.xml"/><Relationship Id="rId25" Type="http://schemas.openxmlformats.org/officeDocument/2006/relationships/hyperlink" Target="https://space.bilibili.com/3546791834290849" TargetMode="Externa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image" Target="../media/image19.png"/><Relationship Id="rId29" Type="http://schemas.openxmlformats.org/officeDocument/2006/relationships/image" Target="../media/image24.png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24" Type="http://schemas.openxmlformats.org/officeDocument/2006/relationships/hyperlink" Target="https://github.com/flagos-ai" TargetMode="Externa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23" Type="http://schemas.openxmlformats.org/officeDocument/2006/relationships/image" Target="../media/image22.png"/><Relationship Id="rId28" Type="http://schemas.openxmlformats.org/officeDocument/2006/relationships/image" Target="../media/image23.jpeg"/><Relationship Id="rId10" Type="http://schemas.openxmlformats.org/officeDocument/2006/relationships/tags" Target="../tags/tag20.xml"/><Relationship Id="rId19" Type="http://schemas.openxmlformats.org/officeDocument/2006/relationships/image" Target="../media/image18.png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image" Target="../media/image21.png"/><Relationship Id="rId27" Type="http://schemas.openxmlformats.org/officeDocument/2006/relationships/hyperlink" Target="https://flagos.io/Home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0" b="350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727710" y="1622425"/>
            <a:ext cx="5553710" cy="3028315"/>
          </a:xfrm>
        </p:spPr>
        <p:txBody>
          <a:bodyPr/>
          <a:lstStyle/>
          <a:p>
            <a:pPr algn="l"/>
            <a:r>
              <a:rPr lang="en-US" altLang="zh-CN" sz="4000">
                <a:latin typeface="+mj-cs"/>
                <a:cs typeface="+mj-cs"/>
              </a:rPr>
              <a:t>Hardware and Software Fundamentals of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Intelligent Computing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Systems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364100" y="6255612"/>
            <a:ext cx="409904" cy="409904"/>
            <a:chOff x="11591418" y="6255612"/>
            <a:chExt cx="409904" cy="409904"/>
          </a:xfrm>
        </p:grpSpPr>
        <p:sp>
          <p:nvSpPr>
            <p:cNvPr id="10" name="타원 9"/>
            <p:cNvSpPr/>
            <p:nvPr/>
          </p:nvSpPr>
          <p:spPr>
            <a:xfrm>
              <a:off x="11591418" y="6255612"/>
              <a:ext cx="409904" cy="4099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갈매기형 수장[C] 10"/>
            <p:cNvSpPr/>
            <p:nvPr/>
          </p:nvSpPr>
          <p:spPr>
            <a:xfrm>
              <a:off x="11732864" y="6397058"/>
              <a:ext cx="127012" cy="127012"/>
            </a:xfrm>
            <a:prstGeom prst="chevr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80956" y="3124206"/>
            <a:ext cx="115728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12279" y="492573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8" name="Text 6"/>
          <p:cNvSpPr/>
          <p:nvPr/>
        </p:nvSpPr>
        <p:spPr>
          <a:xfrm>
            <a:off x="2716968" y="4716188"/>
            <a:ext cx="326038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GPU Memory Hierarchy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16969" y="5020953"/>
            <a:ext cx="2133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Memory Hierarchy Overview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23744" y="4968691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11" name="Text 9"/>
          <p:cNvSpPr/>
          <p:nvPr/>
        </p:nvSpPr>
        <p:spPr>
          <a:xfrm>
            <a:off x="8028434" y="4759147"/>
            <a:ext cx="305483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Shared Memory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4" y="5063912"/>
            <a:ext cx="1466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200" dirty="0">
              <a:solidFill>
                <a:srgbClr val="4A4A4A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Optimization Strategies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412279" y="576383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14" name="Text 12"/>
          <p:cNvSpPr/>
          <p:nvPr/>
        </p:nvSpPr>
        <p:spPr>
          <a:xfrm>
            <a:off x="2716969" y="5554291"/>
            <a:ext cx="2198698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Bank Conflict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16969" y="5859055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Bank Conflicts and Solutions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23744" y="5806794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17" name="Text 15"/>
          <p:cNvSpPr/>
          <p:nvPr/>
        </p:nvSpPr>
        <p:spPr>
          <a:xfrm>
            <a:off x="8028434" y="5597250"/>
            <a:ext cx="2919818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Reduction Kernel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28434" y="5902014"/>
            <a:ext cx="15716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Reduction Kernel Optimization</a:t>
            </a:r>
            <a:endParaRPr lang="en-US" sz="1600" dirty="0"/>
          </a:p>
        </p:txBody>
      </p:sp>
      <p:sp>
        <p:nvSpPr>
          <p:cNvPr id="20" name="标题 1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Lecture 08: </a:t>
            </a:r>
            <a:r>
              <a:rPr lang="zh-CN" altLang="en-US" dirty="0"/>
              <a:t>Memory Hierarchy Optimization</a:t>
            </a:r>
          </a:p>
        </p:txBody>
      </p:sp>
      <p:sp>
        <p:nvSpPr>
          <p:cNvPr id="21" name="副标题 20"/>
          <p:cNvSpPr>
            <a:spLocks noGrp="1"/>
          </p:cNvSpPr>
          <p:nvPr>
            <p:ph type="subTitle" idx="4294967295"/>
          </p:nvPr>
        </p:nvSpPr>
        <p:spPr>
          <a:xfrm>
            <a:off x="1800225" y="3938588"/>
            <a:ext cx="10391775" cy="474662"/>
          </a:xfrm>
        </p:spPr>
        <p:txBody>
          <a:bodyPr/>
          <a:lstStyle/>
          <a:p>
            <a:r>
              <a:rPr lang="en-US" altLang="zh-CN" sz="24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Shared Memory &amp; Cache </a:t>
            </a:r>
            <a:r>
              <a:rPr lang="en-US" altLang="zh-CN" sz="2400" dirty="0" err="1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Optimization Techniques</a:t>
            </a:r>
            <a:endParaRPr lang="en-US" altLang="zh-CN" sz="18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59136" y="616033"/>
            <a:ext cx="11607839" cy="3768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GPU Memory Hierarchy Overview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6834" y="1318809"/>
            <a:ext cx="5606059" cy="4447159"/>
          </a:xfrm>
          <a:custGeom>
            <a:avLst/>
            <a:gdLst/>
            <a:ahLst/>
            <a:cxnLst/>
            <a:rect l="l" t="t" r="r" b="b"/>
            <a:pathLst>
              <a:path w="5606059" h="4447159">
                <a:moveTo>
                  <a:pt x="75379" y="0"/>
                </a:moveTo>
                <a:lnTo>
                  <a:pt x="5530679" y="0"/>
                </a:lnTo>
                <a:cubicBezTo>
                  <a:pt x="5572310" y="0"/>
                  <a:pt x="5606059" y="33748"/>
                  <a:pt x="5606059" y="75379"/>
                </a:cubicBezTo>
                <a:lnTo>
                  <a:pt x="5606059" y="4371780"/>
                </a:lnTo>
                <a:cubicBezTo>
                  <a:pt x="5606059" y="4413411"/>
                  <a:pt x="5572310" y="4447159"/>
                  <a:pt x="5530679" y="4447159"/>
                </a:cubicBezTo>
                <a:lnTo>
                  <a:pt x="75379" y="4447159"/>
                </a:lnTo>
                <a:cubicBezTo>
                  <a:pt x="33748" y="4447159"/>
                  <a:pt x="0" y="4413411"/>
                  <a:pt x="0" y="4371780"/>
                </a:cubicBezTo>
                <a:lnTo>
                  <a:pt x="0" y="75379"/>
                </a:lnTo>
                <a:cubicBezTo>
                  <a:pt x="0" y="33776"/>
                  <a:pt x="33776" y="0"/>
                  <a:pt x="75379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6" name="Shape 4"/>
          <p:cNvSpPr/>
          <p:nvPr/>
        </p:nvSpPr>
        <p:spPr>
          <a:xfrm>
            <a:off x="588769" y="1544837"/>
            <a:ext cx="188439" cy="188439"/>
          </a:xfrm>
          <a:custGeom>
            <a:avLst/>
            <a:gdLst/>
            <a:ahLst/>
            <a:cxnLst/>
            <a:rect l="l" t="t" r="r" b="b"/>
            <a:pathLst>
              <a:path w="188439" h="188439">
                <a:moveTo>
                  <a:pt x="85570" y="1914"/>
                </a:moveTo>
                <a:cubicBezTo>
                  <a:pt x="91054" y="-626"/>
                  <a:pt x="97385" y="-626"/>
                  <a:pt x="102869" y="1914"/>
                </a:cubicBezTo>
                <a:lnTo>
                  <a:pt x="183323" y="39086"/>
                </a:lnTo>
                <a:cubicBezTo>
                  <a:pt x="186452" y="40522"/>
                  <a:pt x="188439" y="43650"/>
                  <a:pt x="188439" y="47110"/>
                </a:cubicBezTo>
                <a:cubicBezTo>
                  <a:pt x="188439" y="50569"/>
                  <a:pt x="186452" y="53698"/>
                  <a:pt x="183323" y="55133"/>
                </a:cubicBezTo>
                <a:lnTo>
                  <a:pt x="102869" y="92306"/>
                </a:lnTo>
                <a:cubicBezTo>
                  <a:pt x="97385" y="94845"/>
                  <a:pt x="91054" y="94845"/>
                  <a:pt x="85570" y="92306"/>
                </a:cubicBezTo>
                <a:lnTo>
                  <a:pt x="5116" y="55133"/>
                </a:lnTo>
                <a:cubicBezTo>
                  <a:pt x="1987" y="53661"/>
                  <a:pt x="0" y="50533"/>
                  <a:pt x="0" y="47110"/>
                </a:cubicBezTo>
                <a:cubicBezTo>
                  <a:pt x="0" y="43687"/>
                  <a:pt x="1987" y="40522"/>
                  <a:pt x="5116" y="39086"/>
                </a:cubicBezTo>
                <a:lnTo>
                  <a:pt x="85570" y="1914"/>
                </a:lnTo>
                <a:close/>
                <a:moveTo>
                  <a:pt x="17703" y="80381"/>
                </a:moveTo>
                <a:lnTo>
                  <a:pt x="78173" y="108316"/>
                </a:lnTo>
                <a:cubicBezTo>
                  <a:pt x="88368" y="113027"/>
                  <a:pt x="100108" y="113027"/>
                  <a:pt x="110303" y="108316"/>
                </a:cubicBezTo>
                <a:lnTo>
                  <a:pt x="170773" y="80381"/>
                </a:lnTo>
                <a:lnTo>
                  <a:pt x="183323" y="86196"/>
                </a:lnTo>
                <a:cubicBezTo>
                  <a:pt x="186452" y="87631"/>
                  <a:pt x="188439" y="90760"/>
                  <a:pt x="188439" y="94219"/>
                </a:cubicBezTo>
                <a:cubicBezTo>
                  <a:pt x="188439" y="97679"/>
                  <a:pt x="186452" y="100807"/>
                  <a:pt x="183323" y="102243"/>
                </a:cubicBezTo>
                <a:lnTo>
                  <a:pt x="102869" y="139415"/>
                </a:lnTo>
                <a:cubicBezTo>
                  <a:pt x="97385" y="141955"/>
                  <a:pt x="91054" y="141955"/>
                  <a:pt x="85570" y="139415"/>
                </a:cubicBezTo>
                <a:lnTo>
                  <a:pt x="5116" y="102243"/>
                </a:lnTo>
                <a:cubicBezTo>
                  <a:pt x="1987" y="100771"/>
                  <a:pt x="0" y="97642"/>
                  <a:pt x="0" y="94219"/>
                </a:cubicBezTo>
                <a:cubicBezTo>
                  <a:pt x="0" y="90797"/>
                  <a:pt x="1987" y="87631"/>
                  <a:pt x="5116" y="86196"/>
                </a:cubicBezTo>
                <a:lnTo>
                  <a:pt x="17666" y="80381"/>
                </a:lnTo>
                <a:close/>
                <a:moveTo>
                  <a:pt x="5116" y="133306"/>
                </a:moveTo>
                <a:lnTo>
                  <a:pt x="17666" y="127491"/>
                </a:lnTo>
                <a:lnTo>
                  <a:pt x="78136" y="155425"/>
                </a:lnTo>
                <a:cubicBezTo>
                  <a:pt x="88331" y="160136"/>
                  <a:pt x="100071" y="160136"/>
                  <a:pt x="110266" y="155425"/>
                </a:cubicBezTo>
                <a:lnTo>
                  <a:pt x="170736" y="127491"/>
                </a:lnTo>
                <a:lnTo>
                  <a:pt x="183286" y="133306"/>
                </a:lnTo>
                <a:cubicBezTo>
                  <a:pt x="186415" y="134741"/>
                  <a:pt x="188402" y="137870"/>
                  <a:pt x="188402" y="141329"/>
                </a:cubicBezTo>
                <a:cubicBezTo>
                  <a:pt x="188402" y="144789"/>
                  <a:pt x="186415" y="147917"/>
                  <a:pt x="183286" y="149353"/>
                </a:cubicBezTo>
                <a:lnTo>
                  <a:pt x="102832" y="186525"/>
                </a:lnTo>
                <a:cubicBezTo>
                  <a:pt x="97348" y="189065"/>
                  <a:pt x="91017" y="189065"/>
                  <a:pt x="85534" y="186525"/>
                </a:cubicBezTo>
                <a:lnTo>
                  <a:pt x="5116" y="149353"/>
                </a:lnTo>
                <a:cubicBezTo>
                  <a:pt x="1987" y="147880"/>
                  <a:pt x="0" y="144752"/>
                  <a:pt x="0" y="141329"/>
                </a:cubicBezTo>
                <a:cubicBezTo>
                  <a:pt x="0" y="137906"/>
                  <a:pt x="1987" y="134741"/>
                  <a:pt x="5116" y="133306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7" name="Text 5"/>
          <p:cNvSpPr/>
          <p:nvPr/>
        </p:nvSpPr>
        <p:spPr>
          <a:xfrm>
            <a:off x="843722" y="1501053"/>
            <a:ext cx="5087852" cy="263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5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Memory Structure (Fastest to Slowest)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3964" y="1921744"/>
            <a:ext cx="5210243" cy="640692"/>
          </a:xfrm>
          <a:custGeom>
            <a:avLst/>
            <a:gdLst/>
            <a:ahLst/>
            <a:cxnLst/>
            <a:rect l="l" t="t" r="r" b="b"/>
            <a:pathLst>
              <a:path w="5210243" h="640692">
                <a:moveTo>
                  <a:pt x="37500" y="0"/>
                </a:moveTo>
                <a:lnTo>
                  <a:pt x="5134866" y="0"/>
                </a:lnTo>
                <a:cubicBezTo>
                  <a:pt x="5176496" y="0"/>
                  <a:pt x="5210243" y="33748"/>
                  <a:pt x="5210243" y="75377"/>
                </a:cubicBezTo>
                <a:lnTo>
                  <a:pt x="5210243" y="565315"/>
                </a:lnTo>
                <a:cubicBezTo>
                  <a:pt x="5210243" y="606945"/>
                  <a:pt x="5176496" y="640692"/>
                  <a:pt x="5134866" y="640692"/>
                </a:cubicBezTo>
                <a:lnTo>
                  <a:pt x="37500" y="640692"/>
                </a:lnTo>
                <a:cubicBezTo>
                  <a:pt x="16789" y="640692"/>
                  <a:pt x="0" y="623903"/>
                  <a:pt x="0" y="603192"/>
                </a:cubicBezTo>
                <a:lnTo>
                  <a:pt x="0" y="37500"/>
                </a:lnTo>
                <a:cubicBezTo>
                  <a:pt x="0" y="16789"/>
                  <a:pt x="16789" y="0"/>
                  <a:pt x="375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9" name="Shape 7"/>
          <p:cNvSpPr/>
          <p:nvPr/>
        </p:nvSpPr>
        <p:spPr>
          <a:xfrm>
            <a:off x="583964" y="1921744"/>
            <a:ext cx="37500" cy="640692"/>
          </a:xfrm>
          <a:custGeom>
            <a:avLst/>
            <a:gdLst/>
            <a:ahLst/>
            <a:cxnLst/>
            <a:rect l="l" t="t" r="r" b="b"/>
            <a:pathLst>
              <a:path w="37500" h="640692">
                <a:moveTo>
                  <a:pt x="37500" y="0"/>
                </a:moveTo>
                <a:lnTo>
                  <a:pt x="37500" y="0"/>
                </a:lnTo>
                <a:lnTo>
                  <a:pt x="37500" y="640692"/>
                </a:lnTo>
                <a:lnTo>
                  <a:pt x="37500" y="640692"/>
                </a:lnTo>
                <a:cubicBezTo>
                  <a:pt x="16789" y="640692"/>
                  <a:pt x="0" y="623903"/>
                  <a:pt x="0" y="603192"/>
                </a:cubicBezTo>
                <a:lnTo>
                  <a:pt x="0" y="37500"/>
                </a:lnTo>
                <a:cubicBezTo>
                  <a:pt x="0" y="16789"/>
                  <a:pt x="16789" y="0"/>
                  <a:pt x="37500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10" name="Shape 8"/>
          <p:cNvSpPr/>
          <p:nvPr/>
        </p:nvSpPr>
        <p:spPr>
          <a:xfrm>
            <a:off x="715728" y="2091227"/>
            <a:ext cx="301502" cy="301502"/>
          </a:xfrm>
          <a:custGeom>
            <a:avLst/>
            <a:gdLst/>
            <a:ahLst/>
            <a:cxnLst/>
            <a:rect l="l" t="t" r="r" b="b"/>
            <a:pathLst>
              <a:path w="301502" h="301502">
                <a:moveTo>
                  <a:pt x="150751" y="0"/>
                </a:moveTo>
                <a:lnTo>
                  <a:pt x="150751" y="0"/>
                </a:lnTo>
                <a:cubicBezTo>
                  <a:pt x="233953" y="0"/>
                  <a:pt x="301502" y="67549"/>
                  <a:pt x="301502" y="150751"/>
                </a:cubicBezTo>
                <a:lnTo>
                  <a:pt x="301502" y="150751"/>
                </a:lnTo>
                <a:cubicBezTo>
                  <a:pt x="301502" y="233953"/>
                  <a:pt x="233953" y="301502"/>
                  <a:pt x="150751" y="301502"/>
                </a:cubicBezTo>
                <a:lnTo>
                  <a:pt x="150751" y="301502"/>
                </a:lnTo>
                <a:cubicBezTo>
                  <a:pt x="67549" y="301502"/>
                  <a:pt x="0" y="233953"/>
                  <a:pt x="0" y="150751"/>
                </a:cubicBezTo>
                <a:lnTo>
                  <a:pt x="0" y="150751"/>
                </a:lnTo>
                <a:cubicBezTo>
                  <a:pt x="0" y="67549"/>
                  <a:pt x="67549" y="0"/>
                  <a:pt x="150751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11" name="Text 9"/>
          <p:cNvSpPr/>
          <p:nvPr/>
        </p:nvSpPr>
        <p:spPr>
          <a:xfrm>
            <a:off x="678040" y="2091227"/>
            <a:ext cx="376878" cy="301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30209" y="2034757"/>
            <a:ext cx="4626176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Register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30209" y="2260858"/>
            <a:ext cx="4616754" cy="1884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Fastest, private to each thread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3964" y="2675265"/>
            <a:ext cx="5210243" cy="640692"/>
          </a:xfrm>
          <a:custGeom>
            <a:avLst/>
            <a:gdLst/>
            <a:ahLst/>
            <a:cxnLst/>
            <a:rect l="l" t="t" r="r" b="b"/>
            <a:pathLst>
              <a:path w="5210243" h="640692">
                <a:moveTo>
                  <a:pt x="37500" y="0"/>
                </a:moveTo>
                <a:lnTo>
                  <a:pt x="5134866" y="0"/>
                </a:lnTo>
                <a:cubicBezTo>
                  <a:pt x="5176496" y="0"/>
                  <a:pt x="5210243" y="33748"/>
                  <a:pt x="5210243" y="75377"/>
                </a:cubicBezTo>
                <a:lnTo>
                  <a:pt x="5210243" y="565315"/>
                </a:lnTo>
                <a:cubicBezTo>
                  <a:pt x="5210243" y="606945"/>
                  <a:pt x="5176496" y="640692"/>
                  <a:pt x="5134866" y="640692"/>
                </a:cubicBezTo>
                <a:lnTo>
                  <a:pt x="37500" y="640692"/>
                </a:lnTo>
                <a:cubicBezTo>
                  <a:pt x="16789" y="640692"/>
                  <a:pt x="0" y="623903"/>
                  <a:pt x="0" y="603192"/>
                </a:cubicBezTo>
                <a:lnTo>
                  <a:pt x="0" y="37500"/>
                </a:lnTo>
                <a:cubicBezTo>
                  <a:pt x="0" y="16789"/>
                  <a:pt x="16789" y="0"/>
                  <a:pt x="375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5" name="Shape 13"/>
          <p:cNvSpPr/>
          <p:nvPr/>
        </p:nvSpPr>
        <p:spPr>
          <a:xfrm>
            <a:off x="583964" y="2675265"/>
            <a:ext cx="37500" cy="640692"/>
          </a:xfrm>
          <a:custGeom>
            <a:avLst/>
            <a:gdLst/>
            <a:ahLst/>
            <a:cxnLst/>
            <a:rect l="l" t="t" r="r" b="b"/>
            <a:pathLst>
              <a:path w="37500" h="640692">
                <a:moveTo>
                  <a:pt x="37500" y="0"/>
                </a:moveTo>
                <a:lnTo>
                  <a:pt x="37500" y="0"/>
                </a:lnTo>
                <a:lnTo>
                  <a:pt x="37500" y="640692"/>
                </a:lnTo>
                <a:lnTo>
                  <a:pt x="37500" y="640692"/>
                </a:lnTo>
                <a:cubicBezTo>
                  <a:pt x="16789" y="640692"/>
                  <a:pt x="0" y="623903"/>
                  <a:pt x="0" y="603192"/>
                </a:cubicBezTo>
                <a:lnTo>
                  <a:pt x="0" y="37500"/>
                </a:lnTo>
                <a:cubicBezTo>
                  <a:pt x="0" y="16789"/>
                  <a:pt x="16789" y="0"/>
                  <a:pt x="37500" y="0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16" name="Shape 14"/>
          <p:cNvSpPr/>
          <p:nvPr/>
        </p:nvSpPr>
        <p:spPr>
          <a:xfrm>
            <a:off x="715728" y="2844748"/>
            <a:ext cx="301502" cy="301502"/>
          </a:xfrm>
          <a:custGeom>
            <a:avLst/>
            <a:gdLst/>
            <a:ahLst/>
            <a:cxnLst/>
            <a:rect l="l" t="t" r="r" b="b"/>
            <a:pathLst>
              <a:path w="301502" h="301502">
                <a:moveTo>
                  <a:pt x="150751" y="0"/>
                </a:moveTo>
                <a:lnTo>
                  <a:pt x="150751" y="0"/>
                </a:lnTo>
                <a:cubicBezTo>
                  <a:pt x="233953" y="0"/>
                  <a:pt x="301502" y="67549"/>
                  <a:pt x="301502" y="150751"/>
                </a:cubicBezTo>
                <a:lnTo>
                  <a:pt x="301502" y="150751"/>
                </a:lnTo>
                <a:cubicBezTo>
                  <a:pt x="301502" y="233953"/>
                  <a:pt x="233953" y="301502"/>
                  <a:pt x="150751" y="301502"/>
                </a:cubicBezTo>
                <a:lnTo>
                  <a:pt x="150751" y="301502"/>
                </a:lnTo>
                <a:cubicBezTo>
                  <a:pt x="67549" y="301502"/>
                  <a:pt x="0" y="233953"/>
                  <a:pt x="0" y="150751"/>
                </a:cubicBezTo>
                <a:lnTo>
                  <a:pt x="0" y="150751"/>
                </a:lnTo>
                <a:cubicBezTo>
                  <a:pt x="0" y="67549"/>
                  <a:pt x="67549" y="0"/>
                  <a:pt x="150751" y="0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17" name="Text 15"/>
          <p:cNvSpPr/>
          <p:nvPr/>
        </p:nvSpPr>
        <p:spPr>
          <a:xfrm>
            <a:off x="678040" y="2844748"/>
            <a:ext cx="376878" cy="301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30209" y="2788279"/>
            <a:ext cx="4626176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Shared Memory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30209" y="3014379"/>
            <a:ext cx="4616754" cy="1884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High-speed memory inside SM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83964" y="3428786"/>
            <a:ext cx="5210243" cy="640692"/>
          </a:xfrm>
          <a:custGeom>
            <a:avLst/>
            <a:gdLst/>
            <a:ahLst/>
            <a:cxnLst/>
            <a:rect l="l" t="t" r="r" b="b"/>
            <a:pathLst>
              <a:path w="5210243" h="640692">
                <a:moveTo>
                  <a:pt x="37500" y="0"/>
                </a:moveTo>
                <a:lnTo>
                  <a:pt x="5134866" y="0"/>
                </a:lnTo>
                <a:cubicBezTo>
                  <a:pt x="5176496" y="0"/>
                  <a:pt x="5210243" y="33748"/>
                  <a:pt x="5210243" y="75377"/>
                </a:cubicBezTo>
                <a:lnTo>
                  <a:pt x="5210243" y="565315"/>
                </a:lnTo>
                <a:cubicBezTo>
                  <a:pt x="5210243" y="606945"/>
                  <a:pt x="5176496" y="640692"/>
                  <a:pt x="5134866" y="640692"/>
                </a:cubicBezTo>
                <a:lnTo>
                  <a:pt x="37500" y="640692"/>
                </a:lnTo>
                <a:cubicBezTo>
                  <a:pt x="16789" y="640692"/>
                  <a:pt x="0" y="623903"/>
                  <a:pt x="0" y="603192"/>
                </a:cubicBezTo>
                <a:lnTo>
                  <a:pt x="0" y="37500"/>
                </a:lnTo>
                <a:cubicBezTo>
                  <a:pt x="0" y="16789"/>
                  <a:pt x="16789" y="0"/>
                  <a:pt x="375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1" name="Shape 19"/>
          <p:cNvSpPr/>
          <p:nvPr/>
        </p:nvSpPr>
        <p:spPr>
          <a:xfrm>
            <a:off x="583964" y="3428786"/>
            <a:ext cx="37500" cy="640692"/>
          </a:xfrm>
          <a:custGeom>
            <a:avLst/>
            <a:gdLst/>
            <a:ahLst/>
            <a:cxnLst/>
            <a:rect l="l" t="t" r="r" b="b"/>
            <a:pathLst>
              <a:path w="37500" h="640692">
                <a:moveTo>
                  <a:pt x="37500" y="0"/>
                </a:moveTo>
                <a:lnTo>
                  <a:pt x="37500" y="0"/>
                </a:lnTo>
                <a:lnTo>
                  <a:pt x="37500" y="640692"/>
                </a:lnTo>
                <a:lnTo>
                  <a:pt x="37500" y="640692"/>
                </a:lnTo>
                <a:cubicBezTo>
                  <a:pt x="16789" y="640692"/>
                  <a:pt x="0" y="623903"/>
                  <a:pt x="0" y="603192"/>
                </a:cubicBezTo>
                <a:lnTo>
                  <a:pt x="0" y="37500"/>
                </a:lnTo>
                <a:cubicBezTo>
                  <a:pt x="0" y="16789"/>
                  <a:pt x="16789" y="0"/>
                  <a:pt x="37500" y="0"/>
                </a:cubicBezTo>
                <a:close/>
              </a:path>
            </a:pathLst>
          </a:custGeom>
          <a:solidFill>
            <a:srgbClr val="4A4A4A"/>
          </a:solidFill>
        </p:spPr>
      </p:sp>
      <p:sp>
        <p:nvSpPr>
          <p:cNvPr id="22" name="Shape 20"/>
          <p:cNvSpPr/>
          <p:nvPr/>
        </p:nvSpPr>
        <p:spPr>
          <a:xfrm>
            <a:off x="715728" y="3598270"/>
            <a:ext cx="301502" cy="301502"/>
          </a:xfrm>
          <a:custGeom>
            <a:avLst/>
            <a:gdLst/>
            <a:ahLst/>
            <a:cxnLst/>
            <a:rect l="l" t="t" r="r" b="b"/>
            <a:pathLst>
              <a:path w="301502" h="301502">
                <a:moveTo>
                  <a:pt x="150751" y="0"/>
                </a:moveTo>
                <a:lnTo>
                  <a:pt x="150751" y="0"/>
                </a:lnTo>
                <a:cubicBezTo>
                  <a:pt x="233953" y="0"/>
                  <a:pt x="301502" y="67549"/>
                  <a:pt x="301502" y="150751"/>
                </a:cubicBezTo>
                <a:lnTo>
                  <a:pt x="301502" y="150751"/>
                </a:lnTo>
                <a:cubicBezTo>
                  <a:pt x="301502" y="233953"/>
                  <a:pt x="233953" y="301502"/>
                  <a:pt x="150751" y="301502"/>
                </a:cubicBezTo>
                <a:lnTo>
                  <a:pt x="150751" y="301502"/>
                </a:lnTo>
                <a:cubicBezTo>
                  <a:pt x="67549" y="301502"/>
                  <a:pt x="0" y="233953"/>
                  <a:pt x="0" y="150751"/>
                </a:cubicBezTo>
                <a:lnTo>
                  <a:pt x="0" y="150751"/>
                </a:lnTo>
                <a:cubicBezTo>
                  <a:pt x="0" y="67549"/>
                  <a:pt x="67549" y="0"/>
                  <a:pt x="150751" y="0"/>
                </a:cubicBezTo>
                <a:close/>
              </a:path>
            </a:pathLst>
          </a:custGeom>
          <a:solidFill>
            <a:srgbClr val="4A4A4A"/>
          </a:solidFill>
        </p:spPr>
      </p:sp>
      <p:sp>
        <p:nvSpPr>
          <p:cNvPr id="23" name="Text 21"/>
          <p:cNvSpPr/>
          <p:nvPr/>
        </p:nvSpPr>
        <p:spPr>
          <a:xfrm>
            <a:off x="678040" y="3598270"/>
            <a:ext cx="376878" cy="301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30209" y="3541800"/>
            <a:ext cx="4626176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L1 Cache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30209" y="3767900"/>
            <a:ext cx="4616754" cy="1884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L1 Cache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83964" y="4182307"/>
            <a:ext cx="5210243" cy="640692"/>
          </a:xfrm>
          <a:custGeom>
            <a:avLst/>
            <a:gdLst/>
            <a:ahLst/>
            <a:cxnLst/>
            <a:rect l="l" t="t" r="r" b="b"/>
            <a:pathLst>
              <a:path w="5210243" h="640692">
                <a:moveTo>
                  <a:pt x="37500" y="0"/>
                </a:moveTo>
                <a:lnTo>
                  <a:pt x="5134866" y="0"/>
                </a:lnTo>
                <a:cubicBezTo>
                  <a:pt x="5176496" y="0"/>
                  <a:pt x="5210243" y="33748"/>
                  <a:pt x="5210243" y="75377"/>
                </a:cubicBezTo>
                <a:lnTo>
                  <a:pt x="5210243" y="565315"/>
                </a:lnTo>
                <a:cubicBezTo>
                  <a:pt x="5210243" y="606945"/>
                  <a:pt x="5176496" y="640692"/>
                  <a:pt x="5134866" y="640692"/>
                </a:cubicBezTo>
                <a:lnTo>
                  <a:pt x="37500" y="640692"/>
                </a:lnTo>
                <a:cubicBezTo>
                  <a:pt x="16789" y="640692"/>
                  <a:pt x="0" y="623903"/>
                  <a:pt x="0" y="603192"/>
                </a:cubicBezTo>
                <a:lnTo>
                  <a:pt x="0" y="37500"/>
                </a:lnTo>
                <a:cubicBezTo>
                  <a:pt x="0" y="16789"/>
                  <a:pt x="16789" y="0"/>
                  <a:pt x="375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7" name="Shape 25"/>
          <p:cNvSpPr/>
          <p:nvPr/>
        </p:nvSpPr>
        <p:spPr>
          <a:xfrm>
            <a:off x="583964" y="4182307"/>
            <a:ext cx="37500" cy="640692"/>
          </a:xfrm>
          <a:custGeom>
            <a:avLst/>
            <a:gdLst/>
            <a:ahLst/>
            <a:cxnLst/>
            <a:rect l="l" t="t" r="r" b="b"/>
            <a:pathLst>
              <a:path w="37500" h="640692">
                <a:moveTo>
                  <a:pt x="37500" y="0"/>
                </a:moveTo>
                <a:lnTo>
                  <a:pt x="37500" y="0"/>
                </a:lnTo>
                <a:lnTo>
                  <a:pt x="37500" y="640692"/>
                </a:lnTo>
                <a:lnTo>
                  <a:pt x="37500" y="640692"/>
                </a:lnTo>
                <a:cubicBezTo>
                  <a:pt x="16789" y="640692"/>
                  <a:pt x="0" y="623903"/>
                  <a:pt x="0" y="603192"/>
                </a:cubicBezTo>
                <a:lnTo>
                  <a:pt x="0" y="37500"/>
                </a:lnTo>
                <a:cubicBezTo>
                  <a:pt x="0" y="16789"/>
                  <a:pt x="16789" y="0"/>
                  <a:pt x="37500" y="0"/>
                </a:cubicBezTo>
                <a:close/>
              </a:path>
            </a:pathLst>
          </a:custGeom>
          <a:solidFill>
            <a:srgbClr val="4A4A4A"/>
          </a:solidFill>
        </p:spPr>
      </p:sp>
      <p:sp>
        <p:nvSpPr>
          <p:cNvPr id="28" name="Shape 26"/>
          <p:cNvSpPr/>
          <p:nvPr/>
        </p:nvSpPr>
        <p:spPr>
          <a:xfrm>
            <a:off x="715728" y="4351792"/>
            <a:ext cx="301502" cy="301502"/>
          </a:xfrm>
          <a:custGeom>
            <a:avLst/>
            <a:gdLst/>
            <a:ahLst/>
            <a:cxnLst/>
            <a:rect l="l" t="t" r="r" b="b"/>
            <a:pathLst>
              <a:path w="301502" h="301502">
                <a:moveTo>
                  <a:pt x="150751" y="0"/>
                </a:moveTo>
                <a:lnTo>
                  <a:pt x="150751" y="0"/>
                </a:lnTo>
                <a:cubicBezTo>
                  <a:pt x="233953" y="0"/>
                  <a:pt x="301502" y="67549"/>
                  <a:pt x="301502" y="150751"/>
                </a:cubicBezTo>
                <a:lnTo>
                  <a:pt x="301502" y="150751"/>
                </a:lnTo>
                <a:cubicBezTo>
                  <a:pt x="301502" y="233953"/>
                  <a:pt x="233953" y="301502"/>
                  <a:pt x="150751" y="301502"/>
                </a:cubicBezTo>
                <a:lnTo>
                  <a:pt x="150751" y="301502"/>
                </a:lnTo>
                <a:cubicBezTo>
                  <a:pt x="67549" y="301502"/>
                  <a:pt x="0" y="233953"/>
                  <a:pt x="0" y="150751"/>
                </a:cubicBezTo>
                <a:lnTo>
                  <a:pt x="0" y="150751"/>
                </a:lnTo>
                <a:cubicBezTo>
                  <a:pt x="0" y="67549"/>
                  <a:pt x="67549" y="0"/>
                  <a:pt x="150751" y="0"/>
                </a:cubicBezTo>
                <a:close/>
              </a:path>
            </a:pathLst>
          </a:custGeom>
          <a:solidFill>
            <a:srgbClr val="4A4A4A"/>
          </a:solidFill>
        </p:spPr>
      </p:sp>
      <p:sp>
        <p:nvSpPr>
          <p:cNvPr id="29" name="Text 27"/>
          <p:cNvSpPr/>
          <p:nvPr/>
        </p:nvSpPr>
        <p:spPr>
          <a:xfrm>
            <a:off x="678040" y="4351792"/>
            <a:ext cx="376878" cy="301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30209" y="4295321"/>
            <a:ext cx="4626176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L2 Cache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30209" y="4521421"/>
            <a:ext cx="4616754" cy="1884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L2 Cache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83964" y="4935830"/>
            <a:ext cx="5210243" cy="640692"/>
          </a:xfrm>
          <a:custGeom>
            <a:avLst/>
            <a:gdLst/>
            <a:ahLst/>
            <a:cxnLst/>
            <a:rect l="l" t="t" r="r" b="b"/>
            <a:pathLst>
              <a:path w="5210243" h="640692">
                <a:moveTo>
                  <a:pt x="37500" y="0"/>
                </a:moveTo>
                <a:lnTo>
                  <a:pt x="5134866" y="0"/>
                </a:lnTo>
                <a:cubicBezTo>
                  <a:pt x="5176496" y="0"/>
                  <a:pt x="5210243" y="33748"/>
                  <a:pt x="5210243" y="75377"/>
                </a:cubicBezTo>
                <a:lnTo>
                  <a:pt x="5210243" y="565315"/>
                </a:lnTo>
                <a:cubicBezTo>
                  <a:pt x="5210243" y="606945"/>
                  <a:pt x="5176496" y="640692"/>
                  <a:pt x="5134866" y="640692"/>
                </a:cubicBezTo>
                <a:lnTo>
                  <a:pt x="37500" y="640692"/>
                </a:lnTo>
                <a:cubicBezTo>
                  <a:pt x="16789" y="640692"/>
                  <a:pt x="0" y="623903"/>
                  <a:pt x="0" y="603192"/>
                </a:cubicBezTo>
                <a:lnTo>
                  <a:pt x="0" y="37500"/>
                </a:lnTo>
                <a:cubicBezTo>
                  <a:pt x="0" y="16789"/>
                  <a:pt x="16789" y="0"/>
                  <a:pt x="375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3" name="Shape 31"/>
          <p:cNvSpPr/>
          <p:nvPr/>
        </p:nvSpPr>
        <p:spPr>
          <a:xfrm>
            <a:off x="583964" y="4935830"/>
            <a:ext cx="37500" cy="640692"/>
          </a:xfrm>
          <a:custGeom>
            <a:avLst/>
            <a:gdLst/>
            <a:ahLst/>
            <a:cxnLst/>
            <a:rect l="l" t="t" r="r" b="b"/>
            <a:pathLst>
              <a:path w="37500" h="640692">
                <a:moveTo>
                  <a:pt x="37500" y="0"/>
                </a:moveTo>
                <a:lnTo>
                  <a:pt x="37500" y="0"/>
                </a:lnTo>
                <a:lnTo>
                  <a:pt x="37500" y="640692"/>
                </a:lnTo>
                <a:lnTo>
                  <a:pt x="37500" y="640692"/>
                </a:lnTo>
                <a:cubicBezTo>
                  <a:pt x="16789" y="640692"/>
                  <a:pt x="0" y="623903"/>
                  <a:pt x="0" y="603192"/>
                </a:cubicBezTo>
                <a:lnTo>
                  <a:pt x="0" y="37500"/>
                </a:lnTo>
                <a:cubicBezTo>
                  <a:pt x="0" y="16789"/>
                  <a:pt x="16789" y="0"/>
                  <a:pt x="37500" y="0"/>
                </a:cubicBezTo>
                <a:close/>
              </a:path>
            </a:pathLst>
          </a:custGeom>
          <a:solidFill>
            <a:srgbClr val="4A4A4A"/>
          </a:solidFill>
        </p:spPr>
      </p:sp>
      <p:sp>
        <p:nvSpPr>
          <p:cNvPr id="34" name="Shape 32"/>
          <p:cNvSpPr/>
          <p:nvPr/>
        </p:nvSpPr>
        <p:spPr>
          <a:xfrm>
            <a:off x="715728" y="5105313"/>
            <a:ext cx="301502" cy="301502"/>
          </a:xfrm>
          <a:custGeom>
            <a:avLst/>
            <a:gdLst/>
            <a:ahLst/>
            <a:cxnLst/>
            <a:rect l="l" t="t" r="r" b="b"/>
            <a:pathLst>
              <a:path w="301502" h="301502">
                <a:moveTo>
                  <a:pt x="150751" y="0"/>
                </a:moveTo>
                <a:lnTo>
                  <a:pt x="150751" y="0"/>
                </a:lnTo>
                <a:cubicBezTo>
                  <a:pt x="233953" y="0"/>
                  <a:pt x="301502" y="67549"/>
                  <a:pt x="301502" y="150751"/>
                </a:cubicBezTo>
                <a:lnTo>
                  <a:pt x="301502" y="150751"/>
                </a:lnTo>
                <a:cubicBezTo>
                  <a:pt x="301502" y="233953"/>
                  <a:pt x="233953" y="301502"/>
                  <a:pt x="150751" y="301502"/>
                </a:cubicBezTo>
                <a:lnTo>
                  <a:pt x="150751" y="301502"/>
                </a:lnTo>
                <a:cubicBezTo>
                  <a:pt x="67549" y="301502"/>
                  <a:pt x="0" y="233953"/>
                  <a:pt x="0" y="150751"/>
                </a:cubicBezTo>
                <a:lnTo>
                  <a:pt x="0" y="150751"/>
                </a:lnTo>
                <a:cubicBezTo>
                  <a:pt x="0" y="67549"/>
                  <a:pt x="67549" y="0"/>
                  <a:pt x="150751" y="0"/>
                </a:cubicBezTo>
                <a:close/>
              </a:path>
            </a:pathLst>
          </a:custGeom>
          <a:solidFill>
            <a:srgbClr val="4A4A4A"/>
          </a:solidFill>
        </p:spPr>
      </p:sp>
      <p:sp>
        <p:nvSpPr>
          <p:cNvPr id="35" name="Text 33"/>
          <p:cNvSpPr/>
          <p:nvPr/>
        </p:nvSpPr>
        <p:spPr>
          <a:xfrm>
            <a:off x="678040" y="5105313"/>
            <a:ext cx="376878" cy="301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30209" y="5048842"/>
            <a:ext cx="4626176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Global Memory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30209" y="5274943"/>
            <a:ext cx="4616754" cy="1884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Slowest, largest capacity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10033" y="1318809"/>
            <a:ext cx="5606059" cy="1846702"/>
          </a:xfrm>
          <a:custGeom>
            <a:avLst/>
            <a:gdLst/>
            <a:ahLst/>
            <a:cxnLst/>
            <a:rect l="l" t="t" r="r" b="b"/>
            <a:pathLst>
              <a:path w="5606059" h="1846702">
                <a:moveTo>
                  <a:pt x="75382" y="0"/>
                </a:moveTo>
                <a:lnTo>
                  <a:pt x="5530676" y="0"/>
                </a:lnTo>
                <a:cubicBezTo>
                  <a:pt x="5572309" y="0"/>
                  <a:pt x="5606059" y="33750"/>
                  <a:pt x="5606059" y="75382"/>
                </a:cubicBezTo>
                <a:lnTo>
                  <a:pt x="5606059" y="1771319"/>
                </a:lnTo>
                <a:cubicBezTo>
                  <a:pt x="5606059" y="1812952"/>
                  <a:pt x="5572309" y="1846702"/>
                  <a:pt x="5530676" y="1846702"/>
                </a:cubicBezTo>
                <a:lnTo>
                  <a:pt x="75382" y="1846702"/>
                </a:lnTo>
                <a:cubicBezTo>
                  <a:pt x="33750" y="1846702"/>
                  <a:pt x="0" y="1812952"/>
                  <a:pt x="0" y="1771319"/>
                </a:cubicBezTo>
                <a:lnTo>
                  <a:pt x="0" y="75382"/>
                </a:lnTo>
                <a:cubicBezTo>
                  <a:pt x="0" y="33778"/>
                  <a:pt x="33778" y="0"/>
                  <a:pt x="75382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39" name="Shape 37"/>
          <p:cNvSpPr/>
          <p:nvPr/>
        </p:nvSpPr>
        <p:spPr>
          <a:xfrm>
            <a:off x="6421968" y="1544837"/>
            <a:ext cx="188439" cy="188439"/>
          </a:xfrm>
          <a:custGeom>
            <a:avLst/>
            <a:gdLst/>
            <a:ahLst/>
            <a:cxnLst/>
            <a:rect l="l" t="t" r="r" b="b"/>
            <a:pathLst>
              <a:path w="188439" h="188439">
                <a:moveTo>
                  <a:pt x="0" y="94219"/>
                </a:moveTo>
                <a:cubicBezTo>
                  <a:pt x="0" y="42218"/>
                  <a:pt x="42218" y="0"/>
                  <a:pt x="94219" y="0"/>
                </a:cubicBezTo>
                <a:cubicBezTo>
                  <a:pt x="146221" y="0"/>
                  <a:pt x="188439" y="42218"/>
                  <a:pt x="188439" y="94219"/>
                </a:cubicBezTo>
                <a:cubicBezTo>
                  <a:pt x="188439" y="146221"/>
                  <a:pt x="146221" y="188439"/>
                  <a:pt x="94219" y="188439"/>
                </a:cubicBezTo>
                <a:cubicBezTo>
                  <a:pt x="42218" y="188439"/>
                  <a:pt x="0" y="146221"/>
                  <a:pt x="0" y="94219"/>
                </a:cubicBezTo>
                <a:close/>
                <a:moveTo>
                  <a:pt x="105997" y="35332"/>
                </a:moveTo>
                <a:cubicBezTo>
                  <a:pt x="105997" y="28832"/>
                  <a:pt x="100720" y="23555"/>
                  <a:pt x="94219" y="23555"/>
                </a:cubicBezTo>
                <a:cubicBezTo>
                  <a:pt x="87719" y="23555"/>
                  <a:pt x="82442" y="28832"/>
                  <a:pt x="82442" y="35332"/>
                </a:cubicBezTo>
                <a:cubicBezTo>
                  <a:pt x="82442" y="41832"/>
                  <a:pt x="87719" y="47110"/>
                  <a:pt x="94219" y="47110"/>
                </a:cubicBezTo>
                <a:cubicBezTo>
                  <a:pt x="100720" y="47110"/>
                  <a:pt x="105997" y="41832"/>
                  <a:pt x="105997" y="35332"/>
                </a:cubicBezTo>
                <a:close/>
                <a:moveTo>
                  <a:pt x="94219" y="153107"/>
                </a:moveTo>
                <a:cubicBezTo>
                  <a:pt x="107211" y="153107"/>
                  <a:pt x="117774" y="142544"/>
                  <a:pt x="117774" y="129552"/>
                </a:cubicBezTo>
                <a:cubicBezTo>
                  <a:pt x="117774" y="123589"/>
                  <a:pt x="115566" y="118106"/>
                  <a:pt x="111886" y="113983"/>
                </a:cubicBezTo>
                <a:lnTo>
                  <a:pt x="137465" y="62862"/>
                </a:lnTo>
                <a:cubicBezTo>
                  <a:pt x="139636" y="58482"/>
                  <a:pt x="137870" y="53182"/>
                  <a:pt x="133527" y="51011"/>
                </a:cubicBezTo>
                <a:cubicBezTo>
                  <a:pt x="129184" y="48840"/>
                  <a:pt x="123847" y="50606"/>
                  <a:pt x="121676" y="54949"/>
                </a:cubicBezTo>
                <a:lnTo>
                  <a:pt x="96097" y="106071"/>
                </a:lnTo>
                <a:cubicBezTo>
                  <a:pt x="95471" y="106034"/>
                  <a:pt x="94845" y="105997"/>
                  <a:pt x="94219" y="105997"/>
                </a:cubicBezTo>
                <a:cubicBezTo>
                  <a:pt x="81227" y="105997"/>
                  <a:pt x="70665" y="116560"/>
                  <a:pt x="70665" y="129552"/>
                </a:cubicBezTo>
                <a:cubicBezTo>
                  <a:pt x="70665" y="142544"/>
                  <a:pt x="81227" y="153107"/>
                  <a:pt x="94219" y="153107"/>
                </a:cubicBezTo>
                <a:close/>
                <a:moveTo>
                  <a:pt x="64776" y="52998"/>
                </a:moveTo>
                <a:cubicBezTo>
                  <a:pt x="64776" y="46498"/>
                  <a:pt x="59499" y="41221"/>
                  <a:pt x="52998" y="41221"/>
                </a:cubicBezTo>
                <a:cubicBezTo>
                  <a:pt x="46498" y="41221"/>
                  <a:pt x="41221" y="46498"/>
                  <a:pt x="41221" y="52998"/>
                </a:cubicBezTo>
                <a:cubicBezTo>
                  <a:pt x="41221" y="59499"/>
                  <a:pt x="46498" y="64776"/>
                  <a:pt x="52998" y="64776"/>
                </a:cubicBezTo>
                <a:cubicBezTo>
                  <a:pt x="59499" y="64776"/>
                  <a:pt x="64776" y="59499"/>
                  <a:pt x="64776" y="52998"/>
                </a:cubicBezTo>
                <a:close/>
                <a:moveTo>
                  <a:pt x="35332" y="105997"/>
                </a:moveTo>
                <a:cubicBezTo>
                  <a:pt x="41832" y="105997"/>
                  <a:pt x="47110" y="100720"/>
                  <a:pt x="47110" y="94219"/>
                </a:cubicBezTo>
                <a:cubicBezTo>
                  <a:pt x="47110" y="87719"/>
                  <a:pt x="41832" y="82442"/>
                  <a:pt x="35332" y="82442"/>
                </a:cubicBezTo>
                <a:cubicBezTo>
                  <a:pt x="28832" y="82442"/>
                  <a:pt x="23555" y="87719"/>
                  <a:pt x="23555" y="94219"/>
                </a:cubicBezTo>
                <a:cubicBezTo>
                  <a:pt x="23555" y="100720"/>
                  <a:pt x="28832" y="105997"/>
                  <a:pt x="35332" y="105997"/>
                </a:cubicBezTo>
                <a:close/>
                <a:moveTo>
                  <a:pt x="164884" y="94219"/>
                </a:moveTo>
                <a:cubicBezTo>
                  <a:pt x="164884" y="87719"/>
                  <a:pt x="159607" y="82442"/>
                  <a:pt x="153107" y="82442"/>
                </a:cubicBezTo>
                <a:cubicBezTo>
                  <a:pt x="146607" y="82442"/>
                  <a:pt x="141329" y="87719"/>
                  <a:pt x="141329" y="94219"/>
                </a:cubicBezTo>
                <a:cubicBezTo>
                  <a:pt x="141329" y="100720"/>
                  <a:pt x="146607" y="105997"/>
                  <a:pt x="153107" y="105997"/>
                </a:cubicBezTo>
                <a:cubicBezTo>
                  <a:pt x="159607" y="105997"/>
                  <a:pt x="164884" y="100720"/>
                  <a:pt x="164884" y="94219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0" name="Text 38"/>
          <p:cNvSpPr/>
          <p:nvPr/>
        </p:nvSpPr>
        <p:spPr>
          <a:xfrm>
            <a:off x="6633962" y="1507190"/>
            <a:ext cx="5087852" cy="263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Speed Difference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98413" y="1884023"/>
            <a:ext cx="5455308" cy="4522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6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100×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398413" y="2411664"/>
            <a:ext cx="5313978" cy="263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Register vs Global Memory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98413" y="2750851"/>
            <a:ext cx="5304556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Up to 100× performance gap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210033" y="3316065"/>
            <a:ext cx="5606059" cy="3325947"/>
          </a:xfrm>
          <a:custGeom>
            <a:avLst/>
            <a:gdLst/>
            <a:ahLst/>
            <a:cxnLst/>
            <a:rect l="l" t="t" r="r" b="b"/>
            <a:pathLst>
              <a:path w="5606059" h="3325947">
                <a:moveTo>
                  <a:pt x="75366" y="0"/>
                </a:moveTo>
                <a:lnTo>
                  <a:pt x="5530693" y="0"/>
                </a:lnTo>
                <a:cubicBezTo>
                  <a:pt x="5572316" y="0"/>
                  <a:pt x="5606059" y="33742"/>
                  <a:pt x="5606059" y="75366"/>
                </a:cubicBezTo>
                <a:lnTo>
                  <a:pt x="5606059" y="3250581"/>
                </a:lnTo>
                <a:cubicBezTo>
                  <a:pt x="5606059" y="3292205"/>
                  <a:pt x="5572316" y="3325947"/>
                  <a:pt x="5530693" y="3325947"/>
                </a:cubicBezTo>
                <a:lnTo>
                  <a:pt x="75366" y="3325947"/>
                </a:lnTo>
                <a:cubicBezTo>
                  <a:pt x="33742" y="3325947"/>
                  <a:pt x="0" y="3292205"/>
                  <a:pt x="0" y="3250581"/>
                </a:cubicBezTo>
                <a:lnTo>
                  <a:pt x="0" y="75366"/>
                </a:lnTo>
                <a:cubicBezTo>
                  <a:pt x="0" y="33770"/>
                  <a:pt x="33770" y="0"/>
                  <a:pt x="75366" y="0"/>
                </a:cubicBezTo>
                <a:close/>
              </a:path>
            </a:pathLst>
          </a:custGeom>
          <a:solidFill>
            <a:srgbClr val="F8F8F8"/>
          </a:solidFill>
        </p:spPr>
      </p:sp>
      <p:pic>
        <p:nvPicPr>
          <p:cNvPr id="45" name="Image 0" descr="https://kimi-web-img.moonshot.cn/img/developer-blogs.nvidia.com/d5984d65ca553cbd1afa2ff1d8bc811825e17613.png"/>
          <p:cNvPicPr>
            <a:picLocks noChangeAspect="1"/>
          </p:cNvPicPr>
          <p:nvPr/>
        </p:nvPicPr>
        <p:blipFill>
          <a:blip r:embed="rId3"/>
          <a:srcRect l="88" r="88"/>
          <a:stretch>
            <a:fillRect/>
          </a:stretch>
        </p:blipFill>
        <p:spPr>
          <a:xfrm>
            <a:off x="6398487" y="3504446"/>
            <a:ext cx="5229181" cy="2949070"/>
          </a:xfrm>
          <a:prstGeom prst="roundRect">
            <a:avLst>
              <a:gd name="adj" fmla="val 1278"/>
            </a:avLst>
          </a:prstGeom>
        </p:spPr>
      </p:pic>
      <p:sp>
        <p:nvSpPr>
          <p:cNvPr id="46" name="Text 43"/>
          <p:cNvSpPr/>
          <p:nvPr/>
        </p:nvSpPr>
        <p:spPr>
          <a:xfrm>
            <a:off x="310880" y="6669561"/>
            <a:ext cx="11504198" cy="1884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4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NVIDIA Developer Blog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63258" y="586217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Register</a:t>
            </a:r>
            <a:endParaRPr lang="en-US" sz="1600" dirty="0"/>
          </a:p>
        </p:txBody>
      </p:sp>
      <p:grpSp>
        <p:nvGrpSpPr>
          <p:cNvPr id="54" name="组合 53"/>
          <p:cNvGrpSpPr/>
          <p:nvPr/>
        </p:nvGrpSpPr>
        <p:grpSpPr>
          <a:xfrm>
            <a:off x="380956" y="1333234"/>
            <a:ext cx="6762750" cy="4228632"/>
            <a:chOff x="380956" y="1333234"/>
            <a:chExt cx="6762750" cy="4228632"/>
          </a:xfrm>
        </p:grpSpPr>
        <p:sp>
          <p:nvSpPr>
            <p:cNvPr id="5" name="Shape 3"/>
            <p:cNvSpPr/>
            <p:nvPr/>
          </p:nvSpPr>
          <p:spPr>
            <a:xfrm>
              <a:off x="380956" y="1333234"/>
              <a:ext cx="6762750" cy="2590800"/>
            </a:xfrm>
            <a:custGeom>
              <a:avLst/>
              <a:gdLst/>
              <a:ahLst/>
              <a:cxnLst/>
              <a:rect l="l" t="t" r="r" b="b"/>
              <a:pathLst>
                <a:path w="6762750" h="2590800">
                  <a:moveTo>
                    <a:pt x="76195" y="0"/>
                  </a:moveTo>
                  <a:lnTo>
                    <a:pt x="6686555" y="0"/>
                  </a:lnTo>
                  <a:cubicBezTo>
                    <a:pt x="6728608" y="0"/>
                    <a:pt x="6762750" y="34142"/>
                    <a:pt x="6762750" y="76195"/>
                  </a:cubicBezTo>
                  <a:lnTo>
                    <a:pt x="6762750" y="2514605"/>
                  </a:lnTo>
                  <a:cubicBezTo>
                    <a:pt x="6762750" y="2556686"/>
                    <a:pt x="6728636" y="2590800"/>
                    <a:pt x="6686555" y="2590800"/>
                  </a:cubicBezTo>
                  <a:lnTo>
                    <a:pt x="76195" y="2590800"/>
                  </a:lnTo>
                  <a:cubicBezTo>
                    <a:pt x="34142" y="2590800"/>
                    <a:pt x="0" y="2556658"/>
                    <a:pt x="0" y="2514605"/>
                  </a:cubicBezTo>
                  <a:lnTo>
                    <a:pt x="0" y="76195"/>
                  </a:lnTo>
                  <a:cubicBezTo>
                    <a:pt x="0" y="34142"/>
                    <a:pt x="34142" y="0"/>
                    <a:pt x="76195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6" name="Shape 4"/>
            <p:cNvSpPr/>
            <p:nvPr/>
          </p:nvSpPr>
          <p:spPr>
            <a:xfrm>
              <a:off x="607115" y="1561733"/>
              <a:ext cx="166688" cy="190500"/>
            </a:xfrm>
            <a:custGeom>
              <a:avLst/>
              <a:gdLst/>
              <a:ahLst/>
              <a:cxnLst/>
              <a:rect l="l" t="t" r="r" b="b"/>
              <a:pathLst>
                <a:path w="166688" h="190500">
                  <a:moveTo>
                    <a:pt x="126057" y="-3683"/>
                  </a:moveTo>
                  <a:cubicBezTo>
                    <a:pt x="130485" y="-484"/>
                    <a:pt x="132122" y="5321"/>
                    <a:pt x="130113" y="10381"/>
                  </a:cubicBezTo>
                  <a:lnTo>
                    <a:pt x="100943" y="83344"/>
                  </a:lnTo>
                  <a:lnTo>
                    <a:pt x="154781" y="83344"/>
                  </a:lnTo>
                  <a:cubicBezTo>
                    <a:pt x="159804" y="83344"/>
                    <a:pt x="164269" y="86469"/>
                    <a:pt x="165981" y="91194"/>
                  </a:cubicBezTo>
                  <a:cubicBezTo>
                    <a:pt x="167692" y="95920"/>
                    <a:pt x="166241" y="101203"/>
                    <a:pt x="162409" y="104403"/>
                  </a:cubicBezTo>
                  <a:lnTo>
                    <a:pt x="55252" y="193700"/>
                  </a:lnTo>
                  <a:cubicBezTo>
                    <a:pt x="51048" y="197197"/>
                    <a:pt x="45058" y="197383"/>
                    <a:pt x="40630" y="194183"/>
                  </a:cubicBezTo>
                  <a:cubicBezTo>
                    <a:pt x="36202" y="190984"/>
                    <a:pt x="34565" y="185179"/>
                    <a:pt x="36575" y="180119"/>
                  </a:cubicBezTo>
                  <a:lnTo>
                    <a:pt x="65745" y="107156"/>
                  </a:lnTo>
                  <a:lnTo>
                    <a:pt x="11906" y="107156"/>
                  </a:lnTo>
                  <a:cubicBezTo>
                    <a:pt x="6883" y="107156"/>
                    <a:pt x="2418" y="104031"/>
                    <a:pt x="707" y="99306"/>
                  </a:cubicBezTo>
                  <a:cubicBezTo>
                    <a:pt x="-1005" y="94580"/>
                    <a:pt x="446" y="89297"/>
                    <a:pt x="4279" y="86097"/>
                  </a:cubicBezTo>
                  <a:lnTo>
                    <a:pt x="111435" y="-3200"/>
                  </a:lnTo>
                  <a:cubicBezTo>
                    <a:pt x="115639" y="-6697"/>
                    <a:pt x="121630" y="-6883"/>
                    <a:pt x="126057" y="-3683"/>
                  </a:cubicBezTo>
                  <a:close/>
                </a:path>
              </a:pathLst>
            </a:custGeom>
            <a:solidFill>
              <a:srgbClr val="8B2635"/>
            </a:solidFill>
          </p:spPr>
        </p:sp>
        <p:sp>
          <p:nvSpPr>
            <p:cNvPr id="7" name="Text 5"/>
            <p:cNvSpPr/>
            <p:nvPr/>
          </p:nvSpPr>
          <p:spPr>
            <a:xfrm>
              <a:off x="809521" y="1523674"/>
              <a:ext cx="6238875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Register Characteristics</a:t>
              </a:r>
              <a:endParaRPr lang="en-US" sz="16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571396" y="201895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38100" y="0"/>
                  </a:lnTo>
                  <a:cubicBezTo>
                    <a:pt x="59128" y="0"/>
                    <a:pt x="76200" y="17072"/>
                    <a:pt x="76200" y="38100"/>
                  </a:cubicBezTo>
                  <a:lnTo>
                    <a:pt x="76200" y="38100"/>
                  </a:lnTo>
                  <a:cubicBezTo>
                    <a:pt x="76200" y="59128"/>
                    <a:pt x="59128" y="76200"/>
                    <a:pt x="38100" y="76200"/>
                  </a:cubicBezTo>
                  <a:lnTo>
                    <a:pt x="38100" y="76200"/>
                  </a:lnTo>
                  <a:cubicBezTo>
                    <a:pt x="17072" y="76200"/>
                    <a:pt x="0" y="59128"/>
                    <a:pt x="0" y="381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8B2635"/>
            </a:solidFill>
          </p:spPr>
        </p:sp>
        <p:sp>
          <p:nvSpPr>
            <p:cNvPr id="9" name="Text 7"/>
            <p:cNvSpPr/>
            <p:nvPr/>
          </p:nvSpPr>
          <p:spPr>
            <a:xfrm>
              <a:off x="761837" y="1942763"/>
              <a:ext cx="2371725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Fastest storage</a:t>
              </a:r>
              <a:endParaRPr lang="en-US" sz="16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761837" y="2209393"/>
              <a:ext cx="4890260" cy="30386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Located inside GPU cores, extremely fast access</a:t>
              </a:r>
              <a:endParaRPr lang="en-US" sz="16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571396" y="26665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38100" y="0"/>
                  </a:lnTo>
                  <a:cubicBezTo>
                    <a:pt x="59128" y="0"/>
                    <a:pt x="76200" y="17072"/>
                    <a:pt x="76200" y="38100"/>
                  </a:cubicBezTo>
                  <a:lnTo>
                    <a:pt x="76200" y="38100"/>
                  </a:lnTo>
                  <a:cubicBezTo>
                    <a:pt x="76200" y="59128"/>
                    <a:pt x="59128" y="76200"/>
                    <a:pt x="38100" y="76200"/>
                  </a:cubicBezTo>
                  <a:lnTo>
                    <a:pt x="38100" y="76200"/>
                  </a:lnTo>
                  <a:cubicBezTo>
                    <a:pt x="17072" y="76200"/>
                    <a:pt x="0" y="59128"/>
                    <a:pt x="0" y="381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8B2635"/>
            </a:solidFill>
          </p:spPr>
        </p:sp>
        <p:sp>
          <p:nvSpPr>
            <p:cNvPr id="12" name="Text 10"/>
            <p:cNvSpPr/>
            <p:nvPr/>
          </p:nvSpPr>
          <p:spPr>
            <a:xfrm>
              <a:off x="761837" y="2590350"/>
              <a:ext cx="220980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Private to each thread</a:t>
              </a:r>
              <a:endParaRPr lang="en-US" sz="16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761837" y="2856981"/>
              <a:ext cx="4405444" cy="30386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Not visible between threads, ensures data independence</a:t>
              </a:r>
              <a:endParaRPr lang="en-US" sz="16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571396" y="331412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38100" y="0"/>
                  </a:lnTo>
                  <a:cubicBezTo>
                    <a:pt x="59128" y="0"/>
                    <a:pt x="76200" y="17072"/>
                    <a:pt x="76200" y="38100"/>
                  </a:cubicBezTo>
                  <a:lnTo>
                    <a:pt x="76200" y="38100"/>
                  </a:lnTo>
                  <a:cubicBezTo>
                    <a:pt x="76200" y="59128"/>
                    <a:pt x="59128" y="76200"/>
                    <a:pt x="38100" y="76200"/>
                  </a:cubicBezTo>
                  <a:lnTo>
                    <a:pt x="38100" y="76200"/>
                  </a:lnTo>
                  <a:cubicBezTo>
                    <a:pt x="17072" y="76200"/>
                    <a:pt x="0" y="59128"/>
                    <a:pt x="0" y="381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8B2635"/>
            </a:solidFill>
          </p:spPr>
        </p:sp>
        <p:sp>
          <p:nvSpPr>
            <p:cNvPr id="15" name="Text 13"/>
            <p:cNvSpPr/>
            <p:nvPr/>
          </p:nvSpPr>
          <p:spPr>
            <a:xfrm>
              <a:off x="761837" y="3237937"/>
              <a:ext cx="150495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Small capacity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761836" y="3504570"/>
              <a:ext cx="2371725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Example: 64 KB per SM</a:t>
              </a:r>
              <a:endParaRPr lang="en-US" sz="16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80956" y="4075966"/>
              <a:ext cx="6762750" cy="1485900"/>
            </a:xfrm>
            <a:custGeom>
              <a:avLst/>
              <a:gdLst/>
              <a:ahLst/>
              <a:cxnLst/>
              <a:rect l="l" t="t" r="r" b="b"/>
              <a:pathLst>
                <a:path w="6762750" h="1485900">
                  <a:moveTo>
                    <a:pt x="76197" y="0"/>
                  </a:moveTo>
                  <a:lnTo>
                    <a:pt x="6686553" y="0"/>
                  </a:lnTo>
                  <a:cubicBezTo>
                    <a:pt x="6728635" y="0"/>
                    <a:pt x="6762750" y="34115"/>
                    <a:pt x="6762750" y="76197"/>
                  </a:cubicBezTo>
                  <a:lnTo>
                    <a:pt x="6762750" y="1409703"/>
                  </a:lnTo>
                  <a:cubicBezTo>
                    <a:pt x="6762750" y="1451785"/>
                    <a:pt x="6728635" y="1485900"/>
                    <a:pt x="6686553" y="1485900"/>
                  </a:cubicBezTo>
                  <a:lnTo>
                    <a:pt x="76197" y="1485900"/>
                  </a:lnTo>
                  <a:cubicBezTo>
                    <a:pt x="34115" y="1485900"/>
                    <a:pt x="0" y="1451785"/>
                    <a:pt x="0" y="1409703"/>
                  </a:cubicBezTo>
                  <a:lnTo>
                    <a:pt x="0" y="76197"/>
                  </a:lnTo>
                  <a:cubicBezTo>
                    <a:pt x="0" y="34143"/>
                    <a:pt x="34143" y="0"/>
                    <a:pt x="76197" y="0"/>
                  </a:cubicBezTo>
                  <a:close/>
                </a:path>
              </a:pathLst>
            </a:custGeom>
            <a:solidFill>
              <a:srgbClr val="8B2635"/>
            </a:solidFill>
          </p:spPr>
        </p:sp>
        <p:sp>
          <p:nvSpPr>
            <p:cNvPr id="18" name="Shape 16"/>
            <p:cNvSpPr/>
            <p:nvPr/>
          </p:nvSpPr>
          <p:spPr>
            <a:xfrm>
              <a:off x="583303" y="4304465"/>
              <a:ext cx="214313" cy="190500"/>
            </a:xfrm>
            <a:custGeom>
              <a:avLst/>
              <a:gdLst/>
              <a:ahLst/>
              <a:cxnLst/>
              <a:rect l="l" t="t" r="r" b="b"/>
              <a:pathLst>
                <a:path w="214313" h="190500">
                  <a:moveTo>
                    <a:pt x="134243" y="446"/>
                  </a:moveTo>
                  <a:cubicBezTo>
                    <a:pt x="127918" y="-1377"/>
                    <a:pt x="121332" y="2307"/>
                    <a:pt x="119509" y="8632"/>
                  </a:cubicBezTo>
                  <a:lnTo>
                    <a:pt x="71884" y="175320"/>
                  </a:lnTo>
                  <a:cubicBezTo>
                    <a:pt x="70061" y="181645"/>
                    <a:pt x="73744" y="188230"/>
                    <a:pt x="80070" y="190054"/>
                  </a:cubicBezTo>
                  <a:cubicBezTo>
                    <a:pt x="86395" y="191877"/>
                    <a:pt x="92980" y="188193"/>
                    <a:pt x="94804" y="181868"/>
                  </a:cubicBezTo>
                  <a:lnTo>
                    <a:pt x="142429" y="15180"/>
                  </a:lnTo>
                  <a:cubicBezTo>
                    <a:pt x="144252" y="8855"/>
                    <a:pt x="140568" y="2270"/>
                    <a:pt x="134243" y="446"/>
                  </a:cubicBezTo>
                  <a:close/>
                  <a:moveTo>
                    <a:pt x="158279" y="51085"/>
                  </a:moveTo>
                  <a:cubicBezTo>
                    <a:pt x="153628" y="55736"/>
                    <a:pt x="153628" y="63289"/>
                    <a:pt x="158279" y="67940"/>
                  </a:cubicBezTo>
                  <a:lnTo>
                    <a:pt x="185589" y="95250"/>
                  </a:lnTo>
                  <a:lnTo>
                    <a:pt x="158279" y="122560"/>
                  </a:lnTo>
                  <a:cubicBezTo>
                    <a:pt x="153628" y="127211"/>
                    <a:pt x="153628" y="134764"/>
                    <a:pt x="158279" y="139415"/>
                  </a:cubicBezTo>
                  <a:cubicBezTo>
                    <a:pt x="162930" y="144066"/>
                    <a:pt x="170483" y="144066"/>
                    <a:pt x="175133" y="139415"/>
                  </a:cubicBezTo>
                  <a:lnTo>
                    <a:pt x="210852" y="103696"/>
                  </a:lnTo>
                  <a:cubicBezTo>
                    <a:pt x="215503" y="99045"/>
                    <a:pt x="215503" y="91492"/>
                    <a:pt x="210852" y="86841"/>
                  </a:cubicBezTo>
                  <a:lnTo>
                    <a:pt x="175133" y="51122"/>
                  </a:lnTo>
                  <a:cubicBezTo>
                    <a:pt x="170483" y="46472"/>
                    <a:pt x="162930" y="46472"/>
                    <a:pt x="158279" y="51122"/>
                  </a:cubicBezTo>
                  <a:close/>
                  <a:moveTo>
                    <a:pt x="56071" y="51085"/>
                  </a:moveTo>
                  <a:cubicBezTo>
                    <a:pt x="51420" y="46434"/>
                    <a:pt x="43867" y="46434"/>
                    <a:pt x="39216" y="51085"/>
                  </a:cubicBezTo>
                  <a:lnTo>
                    <a:pt x="3497" y="86804"/>
                  </a:lnTo>
                  <a:cubicBezTo>
                    <a:pt x="-1153" y="91455"/>
                    <a:pt x="-1153" y="99008"/>
                    <a:pt x="3497" y="103659"/>
                  </a:cubicBezTo>
                  <a:lnTo>
                    <a:pt x="39216" y="139378"/>
                  </a:lnTo>
                  <a:cubicBezTo>
                    <a:pt x="43867" y="144028"/>
                    <a:pt x="51420" y="144028"/>
                    <a:pt x="56071" y="139378"/>
                  </a:cubicBezTo>
                  <a:cubicBezTo>
                    <a:pt x="60722" y="134727"/>
                    <a:pt x="60722" y="127174"/>
                    <a:pt x="56071" y="122523"/>
                  </a:cubicBezTo>
                  <a:lnTo>
                    <a:pt x="28761" y="95250"/>
                  </a:lnTo>
                  <a:lnTo>
                    <a:pt x="56034" y="67940"/>
                  </a:lnTo>
                  <a:cubicBezTo>
                    <a:pt x="60685" y="63289"/>
                    <a:pt x="60685" y="55736"/>
                    <a:pt x="56034" y="510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 17"/>
            <p:cNvSpPr/>
            <p:nvPr/>
          </p:nvSpPr>
          <p:spPr>
            <a:xfrm>
              <a:off x="809521" y="4266407"/>
              <a:ext cx="6238875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Primary Uses</a:t>
              </a:r>
              <a:endParaRPr lang="en-US" sz="16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571396" y="4685494"/>
              <a:ext cx="3133725" cy="685800"/>
            </a:xfrm>
            <a:custGeom>
              <a:avLst/>
              <a:gdLst/>
              <a:ahLst/>
              <a:cxnLst/>
              <a:rect l="l" t="t" r="r" b="b"/>
              <a:pathLst>
                <a:path w="3133725" h="685800">
                  <a:moveTo>
                    <a:pt x="76199" y="0"/>
                  </a:moveTo>
                  <a:lnTo>
                    <a:pt x="3057526" y="0"/>
                  </a:lnTo>
                  <a:cubicBezTo>
                    <a:pt x="3099609" y="0"/>
                    <a:pt x="3133725" y="34116"/>
                    <a:pt x="3133725" y="76199"/>
                  </a:cubicBezTo>
                  <a:lnTo>
                    <a:pt x="3133725" y="609601"/>
                  </a:lnTo>
                  <a:cubicBezTo>
                    <a:pt x="3133725" y="651684"/>
                    <a:pt x="3099609" y="685800"/>
                    <a:pt x="3057526" y="685800"/>
                  </a:cubicBezTo>
                  <a:lnTo>
                    <a:pt x="76199" y="685800"/>
                  </a:lnTo>
                  <a:cubicBezTo>
                    <a:pt x="34116" y="685800"/>
                    <a:pt x="0" y="651684"/>
                    <a:pt x="0" y="609601"/>
                  </a:cubicBezTo>
                  <a:lnTo>
                    <a:pt x="0" y="76199"/>
                  </a:lnTo>
                  <a:cubicBezTo>
                    <a:pt x="0" y="34144"/>
                    <a:pt x="34144" y="0"/>
                    <a:pt x="76199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</p:spPr>
        </p:sp>
        <p:sp>
          <p:nvSpPr>
            <p:cNvPr id="21" name="Text 19"/>
            <p:cNvSpPr/>
            <p:nvPr/>
          </p:nvSpPr>
          <p:spPr>
            <a:xfrm>
              <a:off x="685646" y="4799745"/>
              <a:ext cx="2981325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Local variables</a:t>
              </a:r>
              <a:endParaRPr lang="en-US" sz="16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685646" y="5066376"/>
              <a:ext cx="2971800" cy="1905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rgbClr val="FFFFFF">
                      <a:alpha val="9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Store temporary computation results</a:t>
              </a:r>
              <a:endParaRPr lang="en-US" sz="16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3821329" y="4685494"/>
              <a:ext cx="3133725" cy="685800"/>
            </a:xfrm>
            <a:custGeom>
              <a:avLst/>
              <a:gdLst/>
              <a:ahLst/>
              <a:cxnLst/>
              <a:rect l="l" t="t" r="r" b="b"/>
              <a:pathLst>
                <a:path w="3133725" h="685800">
                  <a:moveTo>
                    <a:pt x="76199" y="0"/>
                  </a:moveTo>
                  <a:lnTo>
                    <a:pt x="3057526" y="0"/>
                  </a:lnTo>
                  <a:cubicBezTo>
                    <a:pt x="3099609" y="0"/>
                    <a:pt x="3133725" y="34116"/>
                    <a:pt x="3133725" y="76199"/>
                  </a:cubicBezTo>
                  <a:lnTo>
                    <a:pt x="3133725" y="609601"/>
                  </a:lnTo>
                  <a:cubicBezTo>
                    <a:pt x="3133725" y="651684"/>
                    <a:pt x="3099609" y="685800"/>
                    <a:pt x="3057526" y="685800"/>
                  </a:cubicBezTo>
                  <a:lnTo>
                    <a:pt x="76199" y="685800"/>
                  </a:lnTo>
                  <a:cubicBezTo>
                    <a:pt x="34116" y="685800"/>
                    <a:pt x="0" y="651684"/>
                    <a:pt x="0" y="609601"/>
                  </a:cubicBezTo>
                  <a:lnTo>
                    <a:pt x="0" y="76199"/>
                  </a:lnTo>
                  <a:cubicBezTo>
                    <a:pt x="0" y="34144"/>
                    <a:pt x="34144" y="0"/>
                    <a:pt x="76199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</p:spPr>
        </p:sp>
        <p:sp>
          <p:nvSpPr>
            <p:cNvPr id="24" name="Text 22"/>
            <p:cNvSpPr/>
            <p:nvPr/>
          </p:nvSpPr>
          <p:spPr>
            <a:xfrm>
              <a:off x="3935578" y="4799745"/>
              <a:ext cx="2981325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Temporary results</a:t>
              </a:r>
              <a:endParaRPr lang="en-US" sz="16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3935578" y="5066376"/>
              <a:ext cx="2971800" cy="1905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rgbClr val="FFFFFF">
                      <a:alpha val="9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Cache intermediate computation data</a:t>
              </a:r>
              <a:endParaRPr lang="en-US" sz="1600" dirty="0"/>
            </a:p>
          </p:txBody>
        </p:sp>
      </p:grpSp>
      <p:sp>
        <p:nvSpPr>
          <p:cNvPr id="26" name="Shape 24"/>
          <p:cNvSpPr/>
          <p:nvPr/>
        </p:nvSpPr>
        <p:spPr>
          <a:xfrm>
            <a:off x="7376099" y="1333234"/>
            <a:ext cx="4438650" cy="4876800"/>
          </a:xfrm>
          <a:custGeom>
            <a:avLst/>
            <a:gdLst/>
            <a:ahLst/>
            <a:cxnLst/>
            <a:rect l="l" t="t" r="r" b="b"/>
            <a:pathLst>
              <a:path w="4438650" h="4876800">
                <a:moveTo>
                  <a:pt x="76212" y="0"/>
                </a:moveTo>
                <a:lnTo>
                  <a:pt x="4362438" y="0"/>
                </a:lnTo>
                <a:cubicBezTo>
                  <a:pt x="4404529" y="0"/>
                  <a:pt x="4438650" y="34121"/>
                  <a:pt x="4438650" y="76212"/>
                </a:cubicBezTo>
                <a:lnTo>
                  <a:pt x="4438650" y="4800588"/>
                </a:lnTo>
                <a:cubicBezTo>
                  <a:pt x="4438650" y="4842679"/>
                  <a:pt x="4404529" y="4876800"/>
                  <a:pt x="4362438" y="4876800"/>
                </a:cubicBezTo>
                <a:lnTo>
                  <a:pt x="76212" y="4876800"/>
                </a:lnTo>
                <a:cubicBezTo>
                  <a:pt x="34121" y="4876800"/>
                  <a:pt x="0" y="4842679"/>
                  <a:pt x="0" y="4800588"/>
                </a:cubicBezTo>
                <a:lnTo>
                  <a:pt x="0" y="76212"/>
                </a:lnTo>
                <a:cubicBezTo>
                  <a:pt x="0" y="34121"/>
                  <a:pt x="34121" y="0"/>
                  <a:pt x="76212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27" name="Text 25"/>
          <p:cNvSpPr/>
          <p:nvPr/>
        </p:nvSpPr>
        <p:spPr>
          <a:xfrm>
            <a:off x="8768725" y="2476544"/>
            <a:ext cx="1647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Register per Thread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412565" y="297182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38101" y="0"/>
                </a:moveTo>
                <a:lnTo>
                  <a:pt x="495299" y="0"/>
                </a:lnTo>
                <a:cubicBezTo>
                  <a:pt x="516342" y="0"/>
                  <a:pt x="533400" y="17058"/>
                  <a:pt x="533400" y="38101"/>
                </a:cubicBezTo>
                <a:lnTo>
                  <a:pt x="533400" y="495299"/>
                </a:lnTo>
                <a:cubicBezTo>
                  <a:pt x="533400" y="516342"/>
                  <a:pt x="516342" y="533400"/>
                  <a:pt x="49529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29" name="Text 27"/>
          <p:cNvSpPr/>
          <p:nvPr/>
        </p:nvSpPr>
        <p:spPr>
          <a:xfrm>
            <a:off x="8379227" y="2971824"/>
            <a:ext cx="600075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R0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022094" y="297182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38101" y="0"/>
                </a:moveTo>
                <a:lnTo>
                  <a:pt x="495299" y="0"/>
                </a:lnTo>
                <a:cubicBezTo>
                  <a:pt x="516342" y="0"/>
                  <a:pt x="533400" y="17058"/>
                  <a:pt x="533400" y="38101"/>
                </a:cubicBezTo>
                <a:lnTo>
                  <a:pt x="533400" y="495299"/>
                </a:lnTo>
                <a:cubicBezTo>
                  <a:pt x="533400" y="516342"/>
                  <a:pt x="516342" y="533400"/>
                  <a:pt x="49529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31" name="Text 29"/>
          <p:cNvSpPr/>
          <p:nvPr/>
        </p:nvSpPr>
        <p:spPr>
          <a:xfrm>
            <a:off x="8988757" y="2971824"/>
            <a:ext cx="600075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R1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631623" y="297182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38101" y="0"/>
                </a:moveTo>
                <a:lnTo>
                  <a:pt x="495299" y="0"/>
                </a:lnTo>
                <a:cubicBezTo>
                  <a:pt x="516342" y="0"/>
                  <a:pt x="533400" y="17058"/>
                  <a:pt x="533400" y="38101"/>
                </a:cubicBezTo>
                <a:lnTo>
                  <a:pt x="533400" y="495299"/>
                </a:lnTo>
                <a:cubicBezTo>
                  <a:pt x="533400" y="516342"/>
                  <a:pt x="516342" y="533400"/>
                  <a:pt x="49529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33" name="Text 31"/>
          <p:cNvSpPr/>
          <p:nvPr/>
        </p:nvSpPr>
        <p:spPr>
          <a:xfrm>
            <a:off x="9598286" y="2971824"/>
            <a:ext cx="600075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R2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241152" y="297182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38101" y="0"/>
                </a:moveTo>
                <a:lnTo>
                  <a:pt x="495299" y="0"/>
                </a:lnTo>
                <a:cubicBezTo>
                  <a:pt x="516342" y="0"/>
                  <a:pt x="533400" y="17058"/>
                  <a:pt x="533400" y="38101"/>
                </a:cubicBezTo>
                <a:lnTo>
                  <a:pt x="533400" y="495299"/>
                </a:lnTo>
                <a:cubicBezTo>
                  <a:pt x="533400" y="516342"/>
                  <a:pt x="516342" y="533400"/>
                  <a:pt x="49529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35" name="Text 33"/>
          <p:cNvSpPr/>
          <p:nvPr/>
        </p:nvSpPr>
        <p:spPr>
          <a:xfrm>
            <a:off x="10207814" y="2971824"/>
            <a:ext cx="600075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R3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412565" y="358135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38101" y="0"/>
                </a:moveTo>
                <a:lnTo>
                  <a:pt x="495299" y="0"/>
                </a:lnTo>
                <a:cubicBezTo>
                  <a:pt x="516342" y="0"/>
                  <a:pt x="533400" y="17058"/>
                  <a:pt x="533400" y="38101"/>
                </a:cubicBezTo>
                <a:lnTo>
                  <a:pt x="533400" y="495299"/>
                </a:lnTo>
                <a:cubicBezTo>
                  <a:pt x="533400" y="516342"/>
                  <a:pt x="516342" y="533400"/>
                  <a:pt x="49529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37" name="Text 35"/>
          <p:cNvSpPr/>
          <p:nvPr/>
        </p:nvSpPr>
        <p:spPr>
          <a:xfrm>
            <a:off x="8379227" y="3581352"/>
            <a:ext cx="600075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R4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022094" y="358135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38101" y="0"/>
                </a:moveTo>
                <a:lnTo>
                  <a:pt x="495299" y="0"/>
                </a:lnTo>
                <a:cubicBezTo>
                  <a:pt x="516342" y="0"/>
                  <a:pt x="533400" y="17058"/>
                  <a:pt x="533400" y="38101"/>
                </a:cubicBezTo>
                <a:lnTo>
                  <a:pt x="533400" y="495299"/>
                </a:lnTo>
                <a:cubicBezTo>
                  <a:pt x="533400" y="516342"/>
                  <a:pt x="516342" y="533400"/>
                  <a:pt x="49529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39" name="Text 37"/>
          <p:cNvSpPr/>
          <p:nvPr/>
        </p:nvSpPr>
        <p:spPr>
          <a:xfrm>
            <a:off x="8988757" y="3581352"/>
            <a:ext cx="600075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R5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631623" y="358135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38101" y="0"/>
                </a:moveTo>
                <a:lnTo>
                  <a:pt x="495299" y="0"/>
                </a:lnTo>
                <a:cubicBezTo>
                  <a:pt x="516342" y="0"/>
                  <a:pt x="533400" y="17058"/>
                  <a:pt x="533400" y="38101"/>
                </a:cubicBezTo>
                <a:lnTo>
                  <a:pt x="533400" y="495299"/>
                </a:lnTo>
                <a:cubicBezTo>
                  <a:pt x="533400" y="516342"/>
                  <a:pt x="516342" y="533400"/>
                  <a:pt x="49529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41" name="Text 39"/>
          <p:cNvSpPr/>
          <p:nvPr/>
        </p:nvSpPr>
        <p:spPr>
          <a:xfrm>
            <a:off x="9598286" y="3581352"/>
            <a:ext cx="600075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R6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241152" y="358135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38101" y="0"/>
                </a:moveTo>
                <a:lnTo>
                  <a:pt x="495299" y="0"/>
                </a:lnTo>
                <a:cubicBezTo>
                  <a:pt x="516342" y="0"/>
                  <a:pt x="533400" y="17058"/>
                  <a:pt x="533400" y="38101"/>
                </a:cubicBezTo>
                <a:lnTo>
                  <a:pt x="533400" y="495299"/>
                </a:lnTo>
                <a:cubicBezTo>
                  <a:pt x="533400" y="516342"/>
                  <a:pt x="516342" y="533400"/>
                  <a:pt x="49529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43" name="Text 41"/>
          <p:cNvSpPr/>
          <p:nvPr/>
        </p:nvSpPr>
        <p:spPr>
          <a:xfrm>
            <a:off x="10207814" y="3581352"/>
            <a:ext cx="600075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R7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412565" y="419088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38101" y="0"/>
                </a:moveTo>
                <a:lnTo>
                  <a:pt x="495299" y="0"/>
                </a:lnTo>
                <a:cubicBezTo>
                  <a:pt x="516342" y="0"/>
                  <a:pt x="533400" y="17058"/>
                  <a:pt x="533400" y="38101"/>
                </a:cubicBezTo>
                <a:lnTo>
                  <a:pt x="533400" y="495299"/>
                </a:lnTo>
                <a:cubicBezTo>
                  <a:pt x="533400" y="516342"/>
                  <a:pt x="516342" y="533400"/>
                  <a:pt x="49529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45" name="Text 43"/>
          <p:cNvSpPr/>
          <p:nvPr/>
        </p:nvSpPr>
        <p:spPr>
          <a:xfrm>
            <a:off x="8379227" y="4190881"/>
            <a:ext cx="600075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R8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022094" y="419088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38101" y="0"/>
                </a:moveTo>
                <a:lnTo>
                  <a:pt x="495299" y="0"/>
                </a:lnTo>
                <a:cubicBezTo>
                  <a:pt x="516342" y="0"/>
                  <a:pt x="533400" y="17058"/>
                  <a:pt x="533400" y="38101"/>
                </a:cubicBezTo>
                <a:lnTo>
                  <a:pt x="533400" y="495299"/>
                </a:lnTo>
                <a:cubicBezTo>
                  <a:pt x="533400" y="516342"/>
                  <a:pt x="516342" y="533400"/>
                  <a:pt x="49529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47" name="Text 45"/>
          <p:cNvSpPr/>
          <p:nvPr/>
        </p:nvSpPr>
        <p:spPr>
          <a:xfrm>
            <a:off x="8988757" y="4190881"/>
            <a:ext cx="600075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R9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631623" y="419088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38101" y="0"/>
                </a:moveTo>
                <a:lnTo>
                  <a:pt x="495299" y="0"/>
                </a:lnTo>
                <a:cubicBezTo>
                  <a:pt x="516342" y="0"/>
                  <a:pt x="533400" y="17058"/>
                  <a:pt x="533400" y="38101"/>
                </a:cubicBezTo>
                <a:lnTo>
                  <a:pt x="533400" y="495299"/>
                </a:lnTo>
                <a:cubicBezTo>
                  <a:pt x="533400" y="516342"/>
                  <a:pt x="516342" y="533400"/>
                  <a:pt x="49529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49" name="Text 47"/>
          <p:cNvSpPr/>
          <p:nvPr/>
        </p:nvSpPr>
        <p:spPr>
          <a:xfrm>
            <a:off x="9598286" y="4190881"/>
            <a:ext cx="600075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R10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0241152" y="419088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38101" y="0"/>
                </a:moveTo>
                <a:lnTo>
                  <a:pt x="495299" y="0"/>
                </a:lnTo>
                <a:cubicBezTo>
                  <a:pt x="516342" y="0"/>
                  <a:pt x="533400" y="17058"/>
                  <a:pt x="533400" y="38101"/>
                </a:cubicBezTo>
                <a:lnTo>
                  <a:pt x="533400" y="495299"/>
                </a:lnTo>
                <a:cubicBezTo>
                  <a:pt x="533400" y="516342"/>
                  <a:pt x="516342" y="533400"/>
                  <a:pt x="49529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51" name="Text 49"/>
          <p:cNvSpPr/>
          <p:nvPr/>
        </p:nvSpPr>
        <p:spPr>
          <a:xfrm>
            <a:off x="10207814" y="4190881"/>
            <a:ext cx="600075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R11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626682" y="4876601"/>
            <a:ext cx="1933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Each thread has its own independent set of registers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314281" y="6286545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4A4A4A"/>
                </a:solidFill>
                <a:latin typeface="+mn-ea"/>
                <a:cs typeface="MiSans" panose="00000500000000000000" pitchFamily="34" charset="-120"/>
              </a:rPr>
              <a:t>Register per thread diagram</a:t>
            </a:r>
            <a:endParaRPr lang="en-US" sz="1600" dirty="0">
              <a:latin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7596" y="60146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+mn-ea"/>
                <a:cs typeface="MiSans" panose="00000500000000000000" pitchFamily="34" charset="-120"/>
              </a:rPr>
              <a:t>Global Memory</a:t>
            </a:r>
            <a:endParaRPr lang="en-US" sz="1600" dirty="0">
              <a:latin typeface="+mn-ea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380956" y="1333233"/>
            <a:ext cx="5600700" cy="5180858"/>
            <a:chOff x="380956" y="1333233"/>
            <a:chExt cx="5600700" cy="5180858"/>
          </a:xfrm>
        </p:grpSpPr>
        <p:sp>
          <p:nvSpPr>
            <p:cNvPr id="5" name="Shape 3"/>
            <p:cNvSpPr/>
            <p:nvPr/>
          </p:nvSpPr>
          <p:spPr>
            <a:xfrm>
              <a:off x="380956" y="1333233"/>
              <a:ext cx="5600700" cy="2514600"/>
            </a:xfrm>
            <a:custGeom>
              <a:avLst/>
              <a:gdLst/>
              <a:ahLst/>
              <a:cxnLst/>
              <a:rect l="l" t="t" r="r" b="b"/>
              <a:pathLst>
                <a:path w="5600700" h="2514600">
                  <a:moveTo>
                    <a:pt x="76192" y="0"/>
                  </a:moveTo>
                  <a:lnTo>
                    <a:pt x="5524508" y="0"/>
                  </a:lnTo>
                  <a:cubicBezTo>
                    <a:pt x="5566588" y="0"/>
                    <a:pt x="5600700" y="34112"/>
                    <a:pt x="5600700" y="76192"/>
                  </a:cubicBezTo>
                  <a:lnTo>
                    <a:pt x="5600700" y="2438408"/>
                  </a:lnTo>
                  <a:cubicBezTo>
                    <a:pt x="5600700" y="2480488"/>
                    <a:pt x="5566588" y="2514600"/>
                    <a:pt x="5524508" y="2514600"/>
                  </a:cubicBezTo>
                  <a:lnTo>
                    <a:pt x="76192" y="2514600"/>
                  </a:lnTo>
                  <a:cubicBezTo>
                    <a:pt x="34112" y="2514600"/>
                    <a:pt x="0" y="2480488"/>
                    <a:pt x="0" y="2438408"/>
                  </a:cubicBezTo>
                  <a:lnTo>
                    <a:pt x="0" y="76192"/>
                  </a:lnTo>
                  <a:cubicBezTo>
                    <a:pt x="0" y="34141"/>
                    <a:pt x="34141" y="0"/>
                    <a:pt x="76192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7" name="Text 5"/>
            <p:cNvSpPr/>
            <p:nvPr/>
          </p:nvSpPr>
          <p:spPr>
            <a:xfrm>
              <a:off x="809521" y="1523674"/>
              <a:ext cx="5076825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Global Memory Characteristics</a:t>
              </a:r>
              <a:endParaRPr lang="en-US" sz="16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571396" y="201895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38100" y="0"/>
                  </a:lnTo>
                  <a:cubicBezTo>
                    <a:pt x="59128" y="0"/>
                    <a:pt x="76200" y="17072"/>
                    <a:pt x="76200" y="38100"/>
                  </a:cubicBezTo>
                  <a:lnTo>
                    <a:pt x="76200" y="38100"/>
                  </a:lnTo>
                  <a:cubicBezTo>
                    <a:pt x="76200" y="59128"/>
                    <a:pt x="59128" y="76200"/>
                    <a:pt x="38100" y="76200"/>
                  </a:cubicBezTo>
                  <a:lnTo>
                    <a:pt x="38100" y="76200"/>
                  </a:lnTo>
                  <a:cubicBezTo>
                    <a:pt x="17072" y="76200"/>
                    <a:pt x="0" y="59128"/>
                    <a:pt x="0" y="381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8B2635"/>
            </a:solidFill>
          </p:spPr>
        </p:sp>
        <p:sp>
          <p:nvSpPr>
            <p:cNvPr id="9" name="Text 7"/>
            <p:cNvSpPr/>
            <p:nvPr/>
          </p:nvSpPr>
          <p:spPr>
            <a:xfrm>
              <a:off x="761837" y="1942763"/>
              <a:ext cx="180975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Large capacity</a:t>
              </a:r>
              <a:endParaRPr lang="en-US" sz="16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761837" y="2209395"/>
              <a:ext cx="3509454" cy="3047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GB-scale, can store large amounts of data</a:t>
              </a:r>
              <a:endParaRPr lang="en-US" sz="16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571396" y="262840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38100" y="0"/>
                  </a:lnTo>
                  <a:cubicBezTo>
                    <a:pt x="59128" y="0"/>
                    <a:pt x="76200" y="17072"/>
                    <a:pt x="76200" y="38100"/>
                  </a:cubicBezTo>
                  <a:lnTo>
                    <a:pt x="76200" y="38100"/>
                  </a:lnTo>
                  <a:cubicBezTo>
                    <a:pt x="76200" y="59128"/>
                    <a:pt x="59128" y="76200"/>
                    <a:pt x="38100" y="76200"/>
                  </a:cubicBezTo>
                  <a:lnTo>
                    <a:pt x="38100" y="76200"/>
                  </a:lnTo>
                  <a:cubicBezTo>
                    <a:pt x="17072" y="76200"/>
                    <a:pt x="0" y="59128"/>
                    <a:pt x="0" y="381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8B2635"/>
            </a:solidFill>
          </p:spPr>
        </p:sp>
        <p:sp>
          <p:nvSpPr>
            <p:cNvPr id="12" name="Text 10"/>
            <p:cNvSpPr/>
            <p:nvPr/>
          </p:nvSpPr>
          <p:spPr>
            <a:xfrm>
              <a:off x="761837" y="2552216"/>
              <a:ext cx="1190625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High latency</a:t>
              </a:r>
              <a:endParaRPr lang="en-US" sz="16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761837" y="2818849"/>
              <a:ext cx="1190625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400-800 cycles</a:t>
              </a:r>
              <a:endParaRPr lang="en-US" sz="16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571396" y="323786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38100" y="0"/>
                  </a:lnTo>
                  <a:cubicBezTo>
                    <a:pt x="59128" y="0"/>
                    <a:pt x="76200" y="17072"/>
                    <a:pt x="76200" y="38100"/>
                  </a:cubicBezTo>
                  <a:lnTo>
                    <a:pt x="76200" y="38100"/>
                  </a:lnTo>
                  <a:cubicBezTo>
                    <a:pt x="76200" y="59128"/>
                    <a:pt x="59128" y="76200"/>
                    <a:pt x="38100" y="76200"/>
                  </a:cubicBezTo>
                  <a:lnTo>
                    <a:pt x="38100" y="76200"/>
                  </a:lnTo>
                  <a:cubicBezTo>
                    <a:pt x="17072" y="76200"/>
                    <a:pt x="0" y="59128"/>
                    <a:pt x="0" y="381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8B2635"/>
            </a:solidFill>
          </p:spPr>
        </p:sp>
        <p:sp>
          <p:nvSpPr>
            <p:cNvPr id="15" name="Text 13"/>
            <p:cNvSpPr/>
            <p:nvPr/>
          </p:nvSpPr>
          <p:spPr>
            <a:xfrm>
              <a:off x="761837" y="3161672"/>
              <a:ext cx="2834394" cy="22798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Accessible by all threads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761836" y="3428304"/>
              <a:ext cx="3257841" cy="26643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Globally visible, shared across threads</a:t>
              </a:r>
              <a:endParaRPr lang="en-US" sz="16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80956" y="3999700"/>
              <a:ext cx="5600700" cy="1333500"/>
            </a:xfrm>
            <a:custGeom>
              <a:avLst/>
              <a:gdLst/>
              <a:ahLst/>
              <a:cxnLst/>
              <a:rect l="l" t="t" r="r" b="b"/>
              <a:pathLst>
                <a:path w="5600700" h="1333500">
                  <a:moveTo>
                    <a:pt x="76196" y="0"/>
                  </a:moveTo>
                  <a:lnTo>
                    <a:pt x="5524504" y="0"/>
                  </a:lnTo>
                  <a:cubicBezTo>
                    <a:pt x="5566586" y="0"/>
                    <a:pt x="5600700" y="34114"/>
                    <a:pt x="5600700" y="76196"/>
                  </a:cubicBezTo>
                  <a:lnTo>
                    <a:pt x="5600700" y="1257304"/>
                  </a:lnTo>
                  <a:cubicBezTo>
                    <a:pt x="5600700" y="1299386"/>
                    <a:pt x="5566586" y="1333500"/>
                    <a:pt x="5524504" y="1333500"/>
                  </a:cubicBezTo>
                  <a:lnTo>
                    <a:pt x="76196" y="1333500"/>
                  </a:lnTo>
                  <a:cubicBezTo>
                    <a:pt x="34114" y="1333500"/>
                    <a:pt x="0" y="1299386"/>
                    <a:pt x="0" y="1257304"/>
                  </a:cubicBezTo>
                  <a:lnTo>
                    <a:pt x="0" y="76196"/>
                  </a:lnTo>
                  <a:cubicBezTo>
                    <a:pt x="0" y="34142"/>
                    <a:pt x="34142" y="0"/>
                    <a:pt x="76196" y="0"/>
                  </a:cubicBezTo>
                  <a:close/>
                </a:path>
              </a:pathLst>
            </a:custGeom>
            <a:solidFill>
              <a:srgbClr val="8B2635"/>
            </a:solidFill>
          </p:spPr>
        </p:sp>
        <p:sp>
          <p:nvSpPr>
            <p:cNvPr id="19" name="Text 17"/>
            <p:cNvSpPr/>
            <p:nvPr/>
          </p:nvSpPr>
          <p:spPr>
            <a:xfrm>
              <a:off x="809521" y="4190142"/>
              <a:ext cx="5076825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Main Problem</a:t>
              </a:r>
              <a:endParaRPr lang="en-US" sz="16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571396" y="4571098"/>
              <a:ext cx="5305425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Slow access speed</a:t>
              </a:r>
              <a:endParaRPr lang="en-US" sz="16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571396" y="4913993"/>
              <a:ext cx="529590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FFFFFF">
                      <a:alpha val="9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High latency becomes a performance bottleneck</a:t>
              </a:r>
              <a:endParaRPr lang="en-US" sz="16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380956" y="5485391"/>
              <a:ext cx="5600700" cy="1028700"/>
            </a:xfrm>
            <a:custGeom>
              <a:avLst/>
              <a:gdLst/>
              <a:ahLst/>
              <a:cxnLst/>
              <a:rect l="l" t="t" r="r" b="b"/>
              <a:pathLst>
                <a:path w="5600700" h="1028700">
                  <a:moveTo>
                    <a:pt x="76196" y="0"/>
                  </a:moveTo>
                  <a:lnTo>
                    <a:pt x="5524504" y="0"/>
                  </a:lnTo>
                  <a:cubicBezTo>
                    <a:pt x="5566586" y="0"/>
                    <a:pt x="5600700" y="34114"/>
                    <a:pt x="5600700" y="76196"/>
                  </a:cubicBezTo>
                  <a:lnTo>
                    <a:pt x="5600700" y="952504"/>
                  </a:lnTo>
                  <a:cubicBezTo>
                    <a:pt x="5600700" y="994586"/>
                    <a:pt x="5566586" y="1028700"/>
                    <a:pt x="5524504" y="1028700"/>
                  </a:cubicBezTo>
                  <a:lnTo>
                    <a:pt x="76196" y="1028700"/>
                  </a:lnTo>
                  <a:cubicBezTo>
                    <a:pt x="34114" y="1028700"/>
                    <a:pt x="0" y="994586"/>
                    <a:pt x="0" y="952504"/>
                  </a:cubicBezTo>
                  <a:lnTo>
                    <a:pt x="0" y="76196"/>
                  </a:lnTo>
                  <a:cubicBezTo>
                    <a:pt x="0" y="34142"/>
                    <a:pt x="34142" y="0"/>
                    <a:pt x="76196" y="0"/>
                  </a:cubicBezTo>
                  <a:close/>
                </a:path>
              </a:pathLst>
            </a:custGeom>
            <a:solidFill>
              <a:srgbClr val="B89A6A"/>
            </a:solidFill>
          </p:spPr>
        </p:sp>
        <p:sp>
          <p:nvSpPr>
            <p:cNvPr id="24" name="Text 22"/>
            <p:cNvSpPr/>
            <p:nvPr/>
          </p:nvSpPr>
          <p:spPr>
            <a:xfrm>
              <a:off x="809521" y="5675830"/>
              <a:ext cx="5076825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Optimization Goal</a:t>
              </a:r>
              <a:endParaRPr lang="en-US" sz="16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571396" y="6056786"/>
              <a:ext cx="5305425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Reduce Global Memory accesses</a:t>
              </a:r>
              <a:endParaRPr lang="en-US" sz="1600" dirty="0"/>
            </a:p>
          </p:txBody>
        </p:sp>
      </p:grpSp>
      <p:sp>
        <p:nvSpPr>
          <p:cNvPr id="26" name="Shape 24"/>
          <p:cNvSpPr/>
          <p:nvPr/>
        </p:nvSpPr>
        <p:spPr>
          <a:xfrm>
            <a:off x="6210279" y="1333233"/>
            <a:ext cx="5600700" cy="4038600"/>
          </a:xfrm>
          <a:custGeom>
            <a:avLst/>
            <a:gdLst/>
            <a:ahLst/>
            <a:cxnLst/>
            <a:rect l="l" t="t" r="r" b="b"/>
            <a:pathLst>
              <a:path w="5600700" h="4038600">
                <a:moveTo>
                  <a:pt x="76208" y="0"/>
                </a:moveTo>
                <a:lnTo>
                  <a:pt x="5524492" y="0"/>
                </a:lnTo>
                <a:cubicBezTo>
                  <a:pt x="5566580" y="0"/>
                  <a:pt x="5600700" y="34120"/>
                  <a:pt x="5600700" y="76208"/>
                </a:cubicBezTo>
                <a:lnTo>
                  <a:pt x="5600700" y="3962392"/>
                </a:lnTo>
                <a:cubicBezTo>
                  <a:pt x="5600700" y="4004480"/>
                  <a:pt x="5566580" y="4038600"/>
                  <a:pt x="5524492" y="4038600"/>
                </a:cubicBezTo>
                <a:lnTo>
                  <a:pt x="76208" y="4038600"/>
                </a:lnTo>
                <a:cubicBezTo>
                  <a:pt x="34120" y="4038600"/>
                  <a:pt x="0" y="4004480"/>
                  <a:pt x="0" y="39623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F8F8F8"/>
          </a:solidFill>
        </p:spPr>
      </p:sp>
      <p:pic>
        <p:nvPicPr>
          <p:cNvPr id="27" name="Image 0" descr="https://kimi-web-img.moonshot.cn/img/co-design.pop-coe.eu/08de3ce631986fee9c8d86170029a93b578e1caf.png"/>
          <p:cNvPicPr>
            <a:picLocks noChangeAspect="1"/>
          </p:cNvPicPr>
          <p:nvPr/>
        </p:nvPicPr>
        <p:blipFill>
          <a:blip r:embed="rId3"/>
          <a:srcRect l="61" r="61"/>
          <a:stretch>
            <a:fillRect/>
          </a:stretch>
        </p:blipFill>
        <p:spPr>
          <a:xfrm>
            <a:off x="6400720" y="2343785"/>
            <a:ext cx="5219700" cy="2019300"/>
          </a:xfrm>
          <a:prstGeom prst="roundRect">
            <a:avLst>
              <a:gd name="adj" fmla="val 1887"/>
            </a:avLst>
          </a:prstGeom>
        </p:spPr>
      </p:pic>
      <p:sp>
        <p:nvSpPr>
          <p:cNvPr id="28" name="Shape 25"/>
          <p:cNvSpPr/>
          <p:nvPr/>
        </p:nvSpPr>
        <p:spPr>
          <a:xfrm>
            <a:off x="6219757" y="5533147"/>
            <a:ext cx="5581555" cy="971455"/>
          </a:xfrm>
          <a:custGeom>
            <a:avLst/>
            <a:gdLst/>
            <a:ahLst/>
            <a:cxnLst/>
            <a:rect l="l" t="t" r="r" b="b"/>
            <a:pathLst>
              <a:path w="5581555" h="971455">
                <a:moveTo>
                  <a:pt x="76201" y="0"/>
                </a:moveTo>
                <a:lnTo>
                  <a:pt x="5505354" y="0"/>
                </a:lnTo>
                <a:cubicBezTo>
                  <a:pt x="5547439" y="0"/>
                  <a:pt x="5581555" y="34116"/>
                  <a:pt x="5581555" y="76201"/>
                </a:cubicBezTo>
                <a:lnTo>
                  <a:pt x="5581555" y="895254"/>
                </a:lnTo>
                <a:cubicBezTo>
                  <a:pt x="5581555" y="937339"/>
                  <a:pt x="5547439" y="971455"/>
                  <a:pt x="5505354" y="971455"/>
                </a:cubicBezTo>
                <a:lnTo>
                  <a:pt x="76201" y="971455"/>
                </a:lnTo>
                <a:cubicBezTo>
                  <a:pt x="34116" y="971455"/>
                  <a:pt x="0" y="937339"/>
                  <a:pt x="0" y="895254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FFFFF"/>
          </a:solidFill>
          <a:ln w="25274">
            <a:solidFill>
              <a:srgbClr val="8B263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295892" y="5695008"/>
            <a:ext cx="54292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8B263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400-800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343517" y="6114022"/>
            <a:ext cx="5334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cycles latency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314281" y="6590123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Image source: POP CoE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7596" y="589669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+mj-ea"/>
                <a:ea typeface="+mj-ea"/>
                <a:cs typeface="MiSans" panose="00000500000000000000" pitchFamily="34" charset="-120"/>
              </a:rPr>
              <a:t>Shared Memory Concepts</a:t>
            </a:r>
            <a:endParaRPr lang="en-US" sz="1600" dirty="0">
              <a:latin typeface="+mj-ea"/>
              <a:ea typeface="+mj-ea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380956" y="1333235"/>
            <a:ext cx="5600700" cy="1143000"/>
            <a:chOff x="380956" y="1333235"/>
            <a:chExt cx="5600700" cy="1143000"/>
          </a:xfrm>
        </p:grpSpPr>
        <p:sp>
          <p:nvSpPr>
            <p:cNvPr id="5" name="Shape 3"/>
            <p:cNvSpPr/>
            <p:nvPr/>
          </p:nvSpPr>
          <p:spPr>
            <a:xfrm>
              <a:off x="380956" y="1333235"/>
              <a:ext cx="5600700" cy="1143000"/>
            </a:xfrm>
            <a:custGeom>
              <a:avLst/>
              <a:gdLst/>
              <a:ahLst/>
              <a:cxnLst/>
              <a:rect l="l" t="t" r="r" b="b"/>
              <a:pathLst>
                <a:path w="5600700" h="1143000">
                  <a:moveTo>
                    <a:pt x="76204" y="0"/>
                  </a:moveTo>
                  <a:lnTo>
                    <a:pt x="5524496" y="0"/>
                  </a:lnTo>
                  <a:cubicBezTo>
                    <a:pt x="5566582" y="0"/>
                    <a:pt x="5600700" y="34118"/>
                    <a:pt x="5600700" y="76204"/>
                  </a:cubicBezTo>
                  <a:lnTo>
                    <a:pt x="5600700" y="1066796"/>
                  </a:lnTo>
                  <a:cubicBezTo>
                    <a:pt x="5600700" y="1108882"/>
                    <a:pt x="5566582" y="1143000"/>
                    <a:pt x="5524496" y="1143000"/>
                  </a:cubicBezTo>
                  <a:lnTo>
                    <a:pt x="76204" y="1143000"/>
                  </a:lnTo>
                  <a:cubicBezTo>
                    <a:pt x="34118" y="1143000"/>
                    <a:pt x="0" y="1108882"/>
                    <a:pt x="0" y="1066796"/>
                  </a:cubicBezTo>
                  <a:lnTo>
                    <a:pt x="0" y="76204"/>
                  </a:lnTo>
                  <a:cubicBezTo>
                    <a:pt x="0" y="34146"/>
                    <a:pt x="34146" y="0"/>
                    <a:pt x="76204" y="0"/>
                  </a:cubicBezTo>
                  <a:close/>
                </a:path>
              </a:pathLst>
            </a:custGeom>
            <a:solidFill>
              <a:srgbClr val="8B2635"/>
            </a:solidFill>
          </p:spPr>
        </p:sp>
        <p:sp>
          <p:nvSpPr>
            <p:cNvPr id="6" name="Text 4"/>
            <p:cNvSpPr/>
            <p:nvPr/>
          </p:nvSpPr>
          <p:spPr>
            <a:xfrm>
              <a:off x="609529" y="1561807"/>
              <a:ext cx="5257800" cy="304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Shared Memory</a:t>
              </a:r>
              <a:endParaRPr lang="en-US" sz="16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609529" y="1980749"/>
              <a:ext cx="5229225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dirty="0">
                  <a:solidFill>
                    <a:srgbClr val="FFFFFF">
                      <a:alpha val="9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High-speed memory inside the SM</a:t>
              </a:r>
              <a:endParaRPr lang="en-US" sz="1600" dirty="0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380956" y="2628409"/>
            <a:ext cx="5600700" cy="3714750"/>
            <a:chOff x="380956" y="2628409"/>
            <a:chExt cx="5600700" cy="3714750"/>
          </a:xfrm>
        </p:grpSpPr>
        <p:sp>
          <p:nvSpPr>
            <p:cNvPr id="8" name="Shape 6"/>
            <p:cNvSpPr/>
            <p:nvPr/>
          </p:nvSpPr>
          <p:spPr>
            <a:xfrm>
              <a:off x="380956" y="2628409"/>
              <a:ext cx="5600700" cy="3714750"/>
            </a:xfrm>
            <a:custGeom>
              <a:avLst/>
              <a:gdLst/>
              <a:ahLst/>
              <a:cxnLst/>
              <a:rect l="l" t="t" r="r" b="b"/>
              <a:pathLst>
                <a:path w="5600700" h="3714750">
                  <a:moveTo>
                    <a:pt x="76190" y="0"/>
                  </a:moveTo>
                  <a:lnTo>
                    <a:pt x="5524510" y="0"/>
                  </a:lnTo>
                  <a:cubicBezTo>
                    <a:pt x="5566589" y="0"/>
                    <a:pt x="5600700" y="34111"/>
                    <a:pt x="5600700" y="76190"/>
                  </a:cubicBezTo>
                  <a:lnTo>
                    <a:pt x="5600700" y="3638560"/>
                  </a:lnTo>
                  <a:cubicBezTo>
                    <a:pt x="5600700" y="3680639"/>
                    <a:pt x="5566589" y="3714750"/>
                    <a:pt x="5524510" y="3714750"/>
                  </a:cubicBezTo>
                  <a:lnTo>
                    <a:pt x="76190" y="3714750"/>
                  </a:lnTo>
                  <a:cubicBezTo>
                    <a:pt x="34111" y="3714750"/>
                    <a:pt x="0" y="3680639"/>
                    <a:pt x="0" y="3638560"/>
                  </a:cubicBezTo>
                  <a:lnTo>
                    <a:pt x="0" y="76190"/>
                  </a:lnTo>
                  <a:cubicBezTo>
                    <a:pt x="0" y="34111"/>
                    <a:pt x="34111" y="0"/>
                    <a:pt x="7619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9" name="Shape 7"/>
            <p:cNvSpPr/>
            <p:nvPr/>
          </p:nvSpPr>
          <p:spPr>
            <a:xfrm>
              <a:off x="583303" y="2856909"/>
              <a:ext cx="214313" cy="190500"/>
            </a:xfrm>
            <a:custGeom>
              <a:avLst/>
              <a:gdLst/>
              <a:ahLst/>
              <a:cxnLst/>
              <a:rect l="l" t="t" r="r" b="b"/>
              <a:pathLst>
                <a:path w="214313" h="190500">
                  <a:moveTo>
                    <a:pt x="115156" y="-7032"/>
                  </a:moveTo>
                  <a:cubicBezTo>
                    <a:pt x="113630" y="-10009"/>
                    <a:pt x="110542" y="-11906"/>
                    <a:pt x="107193" y="-11906"/>
                  </a:cubicBezTo>
                  <a:cubicBezTo>
                    <a:pt x="103845" y="-11906"/>
                    <a:pt x="100757" y="-10009"/>
                    <a:pt x="99231" y="-7032"/>
                  </a:cubicBezTo>
                  <a:lnTo>
                    <a:pt x="71847" y="46620"/>
                  </a:lnTo>
                  <a:lnTo>
                    <a:pt x="12353" y="56071"/>
                  </a:lnTo>
                  <a:cubicBezTo>
                    <a:pt x="9041" y="56592"/>
                    <a:pt x="6288" y="58936"/>
                    <a:pt x="5246" y="62136"/>
                  </a:cubicBezTo>
                  <a:cubicBezTo>
                    <a:pt x="4204" y="65336"/>
                    <a:pt x="5060" y="68833"/>
                    <a:pt x="7404" y="71214"/>
                  </a:cubicBezTo>
                  <a:lnTo>
                    <a:pt x="49969" y="113816"/>
                  </a:lnTo>
                  <a:lnTo>
                    <a:pt x="40593" y="173310"/>
                  </a:lnTo>
                  <a:cubicBezTo>
                    <a:pt x="40072" y="176622"/>
                    <a:pt x="41449" y="179970"/>
                    <a:pt x="44165" y="181942"/>
                  </a:cubicBezTo>
                  <a:cubicBezTo>
                    <a:pt x="46881" y="183914"/>
                    <a:pt x="50453" y="184212"/>
                    <a:pt x="53467" y="182687"/>
                  </a:cubicBezTo>
                  <a:lnTo>
                    <a:pt x="107193" y="155377"/>
                  </a:lnTo>
                  <a:lnTo>
                    <a:pt x="160883" y="182687"/>
                  </a:lnTo>
                  <a:cubicBezTo>
                    <a:pt x="163860" y="184212"/>
                    <a:pt x="167469" y="183914"/>
                    <a:pt x="170185" y="181942"/>
                  </a:cubicBezTo>
                  <a:cubicBezTo>
                    <a:pt x="172901" y="179970"/>
                    <a:pt x="174278" y="176659"/>
                    <a:pt x="173757" y="173310"/>
                  </a:cubicBezTo>
                  <a:lnTo>
                    <a:pt x="164343" y="113816"/>
                  </a:lnTo>
                  <a:lnTo>
                    <a:pt x="206908" y="71214"/>
                  </a:lnTo>
                  <a:cubicBezTo>
                    <a:pt x="209290" y="68833"/>
                    <a:pt x="210108" y="65336"/>
                    <a:pt x="209066" y="62136"/>
                  </a:cubicBezTo>
                  <a:cubicBezTo>
                    <a:pt x="208025" y="58936"/>
                    <a:pt x="205308" y="56592"/>
                    <a:pt x="201960" y="56071"/>
                  </a:cubicBezTo>
                  <a:lnTo>
                    <a:pt x="142503" y="46620"/>
                  </a:lnTo>
                  <a:lnTo>
                    <a:pt x="115156" y="-7032"/>
                  </a:lnTo>
                  <a:close/>
                </a:path>
              </a:pathLst>
            </a:custGeom>
            <a:solidFill>
              <a:srgbClr val="8B2635"/>
            </a:solidFill>
          </p:spPr>
        </p:sp>
        <p:sp>
          <p:nvSpPr>
            <p:cNvPr id="10" name="Text 8"/>
            <p:cNvSpPr/>
            <p:nvPr/>
          </p:nvSpPr>
          <p:spPr>
            <a:xfrm>
              <a:off x="809521" y="2818849"/>
              <a:ext cx="5076825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Key Characteristics</a:t>
              </a:r>
              <a:endParaRPr lang="en-US" sz="16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571396" y="331413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38100" y="0"/>
                  </a:lnTo>
                  <a:cubicBezTo>
                    <a:pt x="59128" y="0"/>
                    <a:pt x="76200" y="17072"/>
                    <a:pt x="76200" y="38100"/>
                  </a:cubicBezTo>
                  <a:lnTo>
                    <a:pt x="76200" y="38100"/>
                  </a:lnTo>
                  <a:cubicBezTo>
                    <a:pt x="76200" y="59128"/>
                    <a:pt x="59128" y="76200"/>
                    <a:pt x="38100" y="76200"/>
                  </a:cubicBezTo>
                  <a:lnTo>
                    <a:pt x="38100" y="76200"/>
                  </a:lnTo>
                  <a:cubicBezTo>
                    <a:pt x="17072" y="76200"/>
                    <a:pt x="0" y="59128"/>
                    <a:pt x="0" y="381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8B2635"/>
            </a:solidFill>
          </p:spPr>
        </p:sp>
        <p:sp>
          <p:nvSpPr>
            <p:cNvPr id="12" name="Text 10"/>
            <p:cNvSpPr/>
            <p:nvPr/>
          </p:nvSpPr>
          <p:spPr>
            <a:xfrm>
              <a:off x="761837" y="3237937"/>
              <a:ext cx="3038475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Low latency</a:t>
              </a:r>
              <a:endParaRPr lang="en-US" sz="16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761837" y="3504570"/>
              <a:ext cx="4546593" cy="30479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~20 cycles, 20–40× faster than Global Memory</a:t>
              </a:r>
              <a:endParaRPr lang="en-US" sz="16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571396" y="392358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38100" y="0"/>
                  </a:lnTo>
                  <a:cubicBezTo>
                    <a:pt x="59128" y="0"/>
                    <a:pt x="76200" y="17072"/>
                    <a:pt x="76200" y="38100"/>
                  </a:cubicBezTo>
                  <a:lnTo>
                    <a:pt x="76200" y="38100"/>
                  </a:lnTo>
                  <a:cubicBezTo>
                    <a:pt x="76200" y="59128"/>
                    <a:pt x="59128" y="76200"/>
                    <a:pt x="38100" y="76200"/>
                  </a:cubicBezTo>
                  <a:lnTo>
                    <a:pt x="38100" y="76200"/>
                  </a:lnTo>
                  <a:cubicBezTo>
                    <a:pt x="17072" y="76200"/>
                    <a:pt x="0" y="59128"/>
                    <a:pt x="0" y="381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8B2635"/>
            </a:solidFill>
          </p:spPr>
        </p:sp>
        <p:sp>
          <p:nvSpPr>
            <p:cNvPr id="15" name="Text 13"/>
            <p:cNvSpPr/>
            <p:nvPr/>
          </p:nvSpPr>
          <p:spPr>
            <a:xfrm>
              <a:off x="761837" y="3847393"/>
              <a:ext cx="220980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Shared within a block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761837" y="4114026"/>
              <a:ext cx="3951312" cy="30479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Threads within the same block can share access</a:t>
              </a:r>
              <a:endParaRPr lang="en-US" sz="16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571396" y="453304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38100" y="0"/>
                  </a:lnTo>
                  <a:cubicBezTo>
                    <a:pt x="59128" y="0"/>
                    <a:pt x="76200" y="17072"/>
                    <a:pt x="76200" y="38100"/>
                  </a:cubicBezTo>
                  <a:lnTo>
                    <a:pt x="76200" y="38100"/>
                  </a:lnTo>
                  <a:cubicBezTo>
                    <a:pt x="76200" y="59128"/>
                    <a:pt x="59128" y="76200"/>
                    <a:pt x="38100" y="76200"/>
                  </a:cubicBezTo>
                  <a:lnTo>
                    <a:pt x="38100" y="76200"/>
                  </a:lnTo>
                  <a:cubicBezTo>
                    <a:pt x="17072" y="76200"/>
                    <a:pt x="0" y="59128"/>
                    <a:pt x="0" y="381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8B2635"/>
            </a:solidFill>
          </p:spPr>
        </p:sp>
        <p:sp>
          <p:nvSpPr>
            <p:cNvPr id="18" name="Text 16"/>
            <p:cNvSpPr/>
            <p:nvPr/>
          </p:nvSpPr>
          <p:spPr>
            <a:xfrm>
              <a:off x="761837" y="4456849"/>
              <a:ext cx="150495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Limited capacity</a:t>
              </a:r>
              <a:endParaRPr lang="en-US" sz="16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761836" y="4723479"/>
              <a:ext cx="2521411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Example: 48 KB per SM</a:t>
              </a:r>
              <a:endParaRPr lang="en-US" sz="1600" dirty="0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6210279" y="1333235"/>
            <a:ext cx="5600700" cy="4996311"/>
            <a:chOff x="6210279" y="1333235"/>
            <a:chExt cx="5600700" cy="4996311"/>
          </a:xfrm>
        </p:grpSpPr>
        <p:sp>
          <p:nvSpPr>
            <p:cNvPr id="20" name="Shape 18"/>
            <p:cNvSpPr/>
            <p:nvPr/>
          </p:nvSpPr>
          <p:spPr>
            <a:xfrm>
              <a:off x="6210279" y="1333235"/>
              <a:ext cx="5600700" cy="4019550"/>
            </a:xfrm>
            <a:custGeom>
              <a:avLst/>
              <a:gdLst/>
              <a:ahLst/>
              <a:cxnLst/>
              <a:rect l="l" t="t" r="r" b="b"/>
              <a:pathLst>
                <a:path w="5600700" h="4019550">
                  <a:moveTo>
                    <a:pt x="76211" y="0"/>
                  </a:moveTo>
                  <a:lnTo>
                    <a:pt x="5524489" y="0"/>
                  </a:lnTo>
                  <a:cubicBezTo>
                    <a:pt x="5566579" y="0"/>
                    <a:pt x="5600700" y="34121"/>
                    <a:pt x="5600700" y="76211"/>
                  </a:cubicBezTo>
                  <a:lnTo>
                    <a:pt x="5600700" y="3943339"/>
                  </a:lnTo>
                  <a:cubicBezTo>
                    <a:pt x="5600700" y="3985429"/>
                    <a:pt x="5566579" y="4019550"/>
                    <a:pt x="5524489" y="4019550"/>
                  </a:cubicBezTo>
                  <a:lnTo>
                    <a:pt x="76211" y="4019550"/>
                  </a:lnTo>
                  <a:cubicBezTo>
                    <a:pt x="34121" y="4019550"/>
                    <a:pt x="0" y="3985429"/>
                    <a:pt x="0" y="3943339"/>
                  </a:cubicBezTo>
                  <a:lnTo>
                    <a:pt x="0" y="76211"/>
                  </a:lnTo>
                  <a:cubicBezTo>
                    <a:pt x="0" y="34149"/>
                    <a:pt x="34149" y="0"/>
                    <a:pt x="76211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pic>
          <p:nvPicPr>
            <p:cNvPr id="21" name="Image 0" descr="https://kimi-web-img.moonshot.cn/img/thebeardsage.com/9cf52b3a6e568e566d7f86fcce9f0c3a6beb6896.png"/>
            <p:cNvPicPr>
              <a:picLocks noChangeAspect="1"/>
            </p:cNvPicPr>
            <p:nvPr/>
          </p:nvPicPr>
          <p:blipFill>
            <a:blip r:embed="rId3"/>
            <a:srcRect l="57" r="57"/>
            <a:stretch>
              <a:fillRect/>
            </a:stretch>
          </p:blipFill>
          <p:spPr>
            <a:xfrm>
              <a:off x="6400720" y="1523674"/>
              <a:ext cx="5219700" cy="3638550"/>
            </a:xfrm>
            <a:prstGeom prst="roundRect">
              <a:avLst>
                <a:gd name="adj" fmla="val 1047"/>
              </a:avLst>
            </a:prstGeom>
          </p:spPr>
        </p:pic>
        <p:sp>
          <p:nvSpPr>
            <p:cNvPr id="22" name="Shape 19"/>
            <p:cNvSpPr/>
            <p:nvPr/>
          </p:nvSpPr>
          <p:spPr>
            <a:xfrm>
              <a:off x="6219757" y="5510491"/>
              <a:ext cx="2724055" cy="819055"/>
            </a:xfrm>
            <a:custGeom>
              <a:avLst/>
              <a:gdLst/>
              <a:ahLst/>
              <a:cxnLst/>
              <a:rect l="l" t="t" r="r" b="b"/>
              <a:pathLst>
                <a:path w="2724055" h="819055">
                  <a:moveTo>
                    <a:pt x="76197" y="0"/>
                  </a:moveTo>
                  <a:lnTo>
                    <a:pt x="2647859" y="0"/>
                  </a:lnTo>
                  <a:cubicBezTo>
                    <a:pt x="2689913" y="0"/>
                    <a:pt x="2724055" y="34143"/>
                    <a:pt x="2724055" y="76197"/>
                  </a:cubicBezTo>
                  <a:lnTo>
                    <a:pt x="2724055" y="742859"/>
                  </a:lnTo>
                  <a:cubicBezTo>
                    <a:pt x="2724055" y="784913"/>
                    <a:pt x="2689913" y="819055"/>
                    <a:pt x="2647859" y="819055"/>
                  </a:cubicBezTo>
                  <a:lnTo>
                    <a:pt x="76197" y="819055"/>
                  </a:lnTo>
                  <a:cubicBezTo>
                    <a:pt x="34143" y="819055"/>
                    <a:pt x="0" y="784913"/>
                    <a:pt x="0" y="742859"/>
                  </a:cubicBezTo>
                  <a:lnTo>
                    <a:pt x="0" y="76197"/>
                  </a:lnTo>
                  <a:cubicBezTo>
                    <a:pt x="0" y="34143"/>
                    <a:pt x="34143" y="0"/>
                    <a:pt x="76197" y="0"/>
                  </a:cubicBezTo>
                  <a:close/>
                </a:path>
              </a:pathLst>
            </a:custGeom>
            <a:solidFill>
              <a:srgbClr val="FFFFFF"/>
            </a:solidFill>
            <a:ln w="25274">
              <a:solidFill>
                <a:srgbClr val="8B2635"/>
              </a:solidFill>
              <a:prstDash val="solid"/>
            </a:ln>
          </p:spPr>
        </p:sp>
        <p:sp>
          <p:nvSpPr>
            <p:cNvPr id="23" name="Text 20"/>
            <p:cNvSpPr/>
            <p:nvPr/>
          </p:nvSpPr>
          <p:spPr>
            <a:xfrm>
              <a:off x="6272047" y="5634219"/>
              <a:ext cx="2619375" cy="3429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2250" b="1" dirty="0">
                  <a:solidFill>
                    <a:srgbClr val="8B263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~20</a:t>
              </a:r>
              <a:endParaRPr lang="en-US" sz="1600" dirty="0"/>
            </a:p>
          </p:txBody>
        </p:sp>
        <p:sp>
          <p:nvSpPr>
            <p:cNvPr id="24" name="Text 21"/>
            <p:cNvSpPr/>
            <p:nvPr/>
          </p:nvSpPr>
          <p:spPr>
            <a:xfrm>
              <a:off x="6310147" y="6015100"/>
              <a:ext cx="2543175" cy="1905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rgbClr val="4A4A4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cycles</a:t>
              </a:r>
              <a:endParaRPr lang="en-US" sz="1600" dirty="0"/>
            </a:p>
          </p:txBody>
        </p:sp>
        <p:sp>
          <p:nvSpPr>
            <p:cNvPr id="25" name="Shape 22"/>
            <p:cNvSpPr/>
            <p:nvPr/>
          </p:nvSpPr>
          <p:spPr>
            <a:xfrm>
              <a:off x="9077257" y="5510491"/>
              <a:ext cx="2724055" cy="819055"/>
            </a:xfrm>
            <a:custGeom>
              <a:avLst/>
              <a:gdLst/>
              <a:ahLst/>
              <a:cxnLst/>
              <a:rect l="l" t="t" r="r" b="b"/>
              <a:pathLst>
                <a:path w="2724055" h="819055">
                  <a:moveTo>
                    <a:pt x="76197" y="0"/>
                  </a:moveTo>
                  <a:lnTo>
                    <a:pt x="2647859" y="0"/>
                  </a:lnTo>
                  <a:cubicBezTo>
                    <a:pt x="2689913" y="0"/>
                    <a:pt x="2724055" y="34143"/>
                    <a:pt x="2724055" y="76197"/>
                  </a:cubicBezTo>
                  <a:lnTo>
                    <a:pt x="2724055" y="742859"/>
                  </a:lnTo>
                  <a:cubicBezTo>
                    <a:pt x="2724055" y="784913"/>
                    <a:pt x="2689913" y="819055"/>
                    <a:pt x="2647859" y="819055"/>
                  </a:cubicBezTo>
                  <a:lnTo>
                    <a:pt x="76197" y="819055"/>
                  </a:lnTo>
                  <a:cubicBezTo>
                    <a:pt x="34143" y="819055"/>
                    <a:pt x="0" y="784913"/>
                    <a:pt x="0" y="742859"/>
                  </a:cubicBezTo>
                  <a:lnTo>
                    <a:pt x="0" y="76197"/>
                  </a:lnTo>
                  <a:cubicBezTo>
                    <a:pt x="0" y="34143"/>
                    <a:pt x="34143" y="0"/>
                    <a:pt x="76197" y="0"/>
                  </a:cubicBezTo>
                  <a:close/>
                </a:path>
              </a:pathLst>
            </a:custGeom>
            <a:solidFill>
              <a:srgbClr val="FFFFFF"/>
            </a:solidFill>
            <a:ln w="25274">
              <a:solidFill>
                <a:srgbClr val="B89A6A"/>
              </a:solidFill>
              <a:prstDash val="solid"/>
            </a:ln>
          </p:spPr>
        </p:sp>
        <p:sp>
          <p:nvSpPr>
            <p:cNvPr id="26" name="Text 23"/>
            <p:cNvSpPr/>
            <p:nvPr/>
          </p:nvSpPr>
          <p:spPr>
            <a:xfrm>
              <a:off x="9129546" y="5634219"/>
              <a:ext cx="2619375" cy="3429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2250" b="1" dirty="0">
                  <a:solidFill>
                    <a:srgbClr val="B89A6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48KB</a:t>
              </a:r>
              <a:endParaRPr lang="en-US" sz="1600" dirty="0"/>
            </a:p>
          </p:txBody>
        </p:sp>
        <p:sp>
          <p:nvSpPr>
            <p:cNvPr id="27" name="Text 24"/>
            <p:cNvSpPr/>
            <p:nvPr/>
          </p:nvSpPr>
          <p:spPr>
            <a:xfrm>
              <a:off x="9167646" y="6015100"/>
              <a:ext cx="2543175" cy="1905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rgbClr val="4A4A4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per SM</a:t>
              </a:r>
              <a:endParaRPr lang="en-US" sz="1600" dirty="0"/>
            </a:p>
          </p:txBody>
        </p:sp>
      </p:grpSp>
      <p:sp>
        <p:nvSpPr>
          <p:cNvPr id="28" name="Text 25"/>
          <p:cNvSpPr/>
          <p:nvPr/>
        </p:nvSpPr>
        <p:spPr>
          <a:xfrm>
            <a:off x="314281" y="6414936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Image source: The Beard Sage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63235" y="633523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Why Shared Memory is Faster</a:t>
            </a:r>
            <a:endParaRPr lang="en-US" sz="1600" dirty="0"/>
          </a:p>
        </p:txBody>
      </p:sp>
      <p:grpSp>
        <p:nvGrpSpPr>
          <p:cNvPr id="40" name="组合 39"/>
          <p:cNvGrpSpPr/>
          <p:nvPr/>
        </p:nvGrpSpPr>
        <p:grpSpPr>
          <a:xfrm>
            <a:off x="317514" y="1589087"/>
            <a:ext cx="5683250" cy="3555537"/>
            <a:chOff x="317463" y="1111027"/>
            <a:chExt cx="5683250" cy="3555537"/>
          </a:xfrm>
        </p:grpSpPr>
        <p:sp>
          <p:nvSpPr>
            <p:cNvPr id="5" name="Shape 3"/>
            <p:cNvSpPr/>
            <p:nvPr/>
          </p:nvSpPr>
          <p:spPr>
            <a:xfrm>
              <a:off x="333259" y="1111027"/>
              <a:ext cx="5667296" cy="1333500"/>
            </a:xfrm>
            <a:custGeom>
              <a:avLst/>
              <a:gdLst/>
              <a:ahLst/>
              <a:cxnLst/>
              <a:rect l="l" t="t" r="r" b="b"/>
              <a:pathLst>
                <a:path w="5667296" h="1333500">
                  <a:moveTo>
                    <a:pt x="31592" y="0"/>
                  </a:moveTo>
                  <a:lnTo>
                    <a:pt x="5603795" y="0"/>
                  </a:lnTo>
                  <a:cubicBezTo>
                    <a:pt x="5638866" y="0"/>
                    <a:pt x="5667296" y="28430"/>
                    <a:pt x="5667296" y="63501"/>
                  </a:cubicBezTo>
                  <a:lnTo>
                    <a:pt x="5667296" y="1269999"/>
                  </a:lnTo>
                  <a:cubicBezTo>
                    <a:pt x="5667296" y="1305070"/>
                    <a:pt x="5638866" y="1333500"/>
                    <a:pt x="5603795" y="1333500"/>
                  </a:cubicBezTo>
                  <a:lnTo>
                    <a:pt x="31592" y="1333500"/>
                  </a:lnTo>
                  <a:cubicBezTo>
                    <a:pt x="14144" y="1333500"/>
                    <a:pt x="0" y="1319356"/>
                    <a:pt x="0" y="1301908"/>
                  </a:cubicBezTo>
                  <a:lnTo>
                    <a:pt x="0" y="31592"/>
                  </a:lnTo>
                  <a:cubicBezTo>
                    <a:pt x="0" y="14156"/>
                    <a:pt x="14156" y="0"/>
                    <a:pt x="31592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6" name="Shape 4"/>
            <p:cNvSpPr/>
            <p:nvPr/>
          </p:nvSpPr>
          <p:spPr>
            <a:xfrm>
              <a:off x="333259" y="1111027"/>
              <a:ext cx="31592" cy="1333500"/>
            </a:xfrm>
            <a:custGeom>
              <a:avLst/>
              <a:gdLst/>
              <a:ahLst/>
              <a:cxnLst/>
              <a:rect l="l" t="t" r="r" b="b"/>
              <a:pathLst>
                <a:path w="31592" h="1333500">
                  <a:moveTo>
                    <a:pt x="31592" y="0"/>
                  </a:moveTo>
                  <a:lnTo>
                    <a:pt x="31592" y="0"/>
                  </a:lnTo>
                  <a:lnTo>
                    <a:pt x="31592" y="1333500"/>
                  </a:lnTo>
                  <a:lnTo>
                    <a:pt x="31592" y="1333500"/>
                  </a:lnTo>
                  <a:cubicBezTo>
                    <a:pt x="14144" y="1333500"/>
                    <a:pt x="0" y="1319356"/>
                    <a:pt x="0" y="1301908"/>
                  </a:cubicBezTo>
                  <a:lnTo>
                    <a:pt x="0" y="31592"/>
                  </a:lnTo>
                  <a:cubicBezTo>
                    <a:pt x="0" y="14156"/>
                    <a:pt x="14156" y="0"/>
                    <a:pt x="31592" y="0"/>
                  </a:cubicBezTo>
                  <a:close/>
                </a:path>
              </a:pathLst>
            </a:custGeom>
            <a:solidFill>
              <a:srgbClr val="4A4A4A"/>
            </a:solidFill>
          </p:spPr>
        </p:sp>
        <p:sp>
          <p:nvSpPr>
            <p:cNvPr id="7" name="Shape 5"/>
            <p:cNvSpPr/>
            <p:nvPr/>
          </p:nvSpPr>
          <p:spPr>
            <a:xfrm>
              <a:off x="527599" y="1301444"/>
              <a:ext cx="158750" cy="158750"/>
            </a:xfrm>
            <a:custGeom>
              <a:avLst/>
              <a:gdLst/>
              <a:ahLst/>
              <a:cxnLst/>
              <a:rect l="l" t="t" r="r" b="b"/>
              <a:pathLst>
                <a:path w="158750" h="158750">
                  <a:moveTo>
                    <a:pt x="109110" y="86816"/>
                  </a:moveTo>
                  <a:lnTo>
                    <a:pt x="49919" y="86816"/>
                  </a:lnTo>
                  <a:cubicBezTo>
                    <a:pt x="50819" y="106815"/>
                    <a:pt x="55252" y="125233"/>
                    <a:pt x="61547" y="138720"/>
                  </a:cubicBezTo>
                  <a:cubicBezTo>
                    <a:pt x="65081" y="146317"/>
                    <a:pt x="68895" y="151681"/>
                    <a:pt x="72430" y="154967"/>
                  </a:cubicBezTo>
                  <a:cubicBezTo>
                    <a:pt x="75902" y="158223"/>
                    <a:pt x="78290" y="158750"/>
                    <a:pt x="79530" y="158750"/>
                  </a:cubicBezTo>
                  <a:cubicBezTo>
                    <a:pt x="80770" y="158750"/>
                    <a:pt x="83158" y="158223"/>
                    <a:pt x="86630" y="154967"/>
                  </a:cubicBezTo>
                  <a:cubicBezTo>
                    <a:pt x="90165" y="151681"/>
                    <a:pt x="93979" y="146286"/>
                    <a:pt x="97513" y="138720"/>
                  </a:cubicBezTo>
                  <a:cubicBezTo>
                    <a:pt x="103808" y="125233"/>
                    <a:pt x="108241" y="106815"/>
                    <a:pt x="109141" y="86816"/>
                  </a:cubicBezTo>
                  <a:close/>
                  <a:moveTo>
                    <a:pt x="49888" y="71934"/>
                  </a:moveTo>
                  <a:lnTo>
                    <a:pt x="109079" y="71934"/>
                  </a:lnTo>
                  <a:cubicBezTo>
                    <a:pt x="108210" y="51935"/>
                    <a:pt x="103777" y="33517"/>
                    <a:pt x="97482" y="20030"/>
                  </a:cubicBezTo>
                  <a:cubicBezTo>
                    <a:pt x="93948" y="12464"/>
                    <a:pt x="90134" y="7069"/>
                    <a:pt x="86599" y="3783"/>
                  </a:cubicBezTo>
                  <a:cubicBezTo>
                    <a:pt x="83127" y="527"/>
                    <a:pt x="80739" y="0"/>
                    <a:pt x="79499" y="0"/>
                  </a:cubicBezTo>
                  <a:cubicBezTo>
                    <a:pt x="78259" y="0"/>
                    <a:pt x="75871" y="527"/>
                    <a:pt x="72399" y="3783"/>
                  </a:cubicBezTo>
                  <a:cubicBezTo>
                    <a:pt x="68864" y="7069"/>
                    <a:pt x="65050" y="12464"/>
                    <a:pt x="61516" y="20030"/>
                  </a:cubicBezTo>
                  <a:cubicBezTo>
                    <a:pt x="55221" y="33517"/>
                    <a:pt x="50788" y="51935"/>
                    <a:pt x="49888" y="71934"/>
                  </a:cubicBezTo>
                  <a:close/>
                  <a:moveTo>
                    <a:pt x="35006" y="71934"/>
                  </a:moveTo>
                  <a:cubicBezTo>
                    <a:pt x="36091" y="45393"/>
                    <a:pt x="42943" y="20743"/>
                    <a:pt x="52958" y="4558"/>
                  </a:cubicBezTo>
                  <a:cubicBezTo>
                    <a:pt x="24402" y="14666"/>
                    <a:pt x="3380" y="40680"/>
                    <a:pt x="465" y="71934"/>
                  </a:cubicBezTo>
                  <a:lnTo>
                    <a:pt x="35006" y="71934"/>
                  </a:lnTo>
                  <a:close/>
                  <a:moveTo>
                    <a:pt x="465" y="86816"/>
                  </a:moveTo>
                  <a:cubicBezTo>
                    <a:pt x="3380" y="118070"/>
                    <a:pt x="24402" y="144084"/>
                    <a:pt x="52958" y="154192"/>
                  </a:cubicBezTo>
                  <a:cubicBezTo>
                    <a:pt x="42943" y="138007"/>
                    <a:pt x="36091" y="113357"/>
                    <a:pt x="35006" y="86816"/>
                  </a:cubicBezTo>
                  <a:lnTo>
                    <a:pt x="465" y="86816"/>
                  </a:lnTo>
                  <a:close/>
                  <a:moveTo>
                    <a:pt x="123992" y="86816"/>
                  </a:moveTo>
                  <a:cubicBezTo>
                    <a:pt x="122907" y="113357"/>
                    <a:pt x="116055" y="138007"/>
                    <a:pt x="106040" y="154192"/>
                  </a:cubicBezTo>
                  <a:cubicBezTo>
                    <a:pt x="134596" y="144053"/>
                    <a:pt x="155618" y="118070"/>
                    <a:pt x="158533" y="86816"/>
                  </a:cubicBezTo>
                  <a:lnTo>
                    <a:pt x="123992" y="86816"/>
                  </a:lnTo>
                  <a:close/>
                  <a:moveTo>
                    <a:pt x="158533" y="71934"/>
                  </a:moveTo>
                  <a:cubicBezTo>
                    <a:pt x="155618" y="40680"/>
                    <a:pt x="134596" y="14666"/>
                    <a:pt x="106040" y="4558"/>
                  </a:cubicBezTo>
                  <a:cubicBezTo>
                    <a:pt x="116055" y="20743"/>
                    <a:pt x="122907" y="45393"/>
                    <a:pt x="123992" y="71934"/>
                  </a:cubicBezTo>
                  <a:lnTo>
                    <a:pt x="158533" y="71934"/>
                  </a:lnTo>
                  <a:close/>
                </a:path>
              </a:pathLst>
            </a:custGeom>
            <a:solidFill>
              <a:srgbClr val="4A4A4A"/>
            </a:solidFill>
          </p:spPr>
        </p:sp>
        <p:sp>
          <p:nvSpPr>
            <p:cNvPr id="8" name="Text 6"/>
            <p:cNvSpPr/>
            <p:nvPr/>
          </p:nvSpPr>
          <p:spPr>
            <a:xfrm>
              <a:off x="706193" y="1269729"/>
              <a:ext cx="5214938" cy="2222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50" b="1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Global Memory</a:t>
              </a:r>
              <a:endParaRPr lang="en-US" sz="16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507756" y="1650684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31750" y="0"/>
                  </a:moveTo>
                  <a:lnTo>
                    <a:pt x="31750" y="0"/>
                  </a:lnTo>
                  <a:cubicBezTo>
                    <a:pt x="49273" y="0"/>
                    <a:pt x="63500" y="14227"/>
                    <a:pt x="63500" y="31750"/>
                  </a:cubicBezTo>
                  <a:lnTo>
                    <a:pt x="63500" y="31750"/>
                  </a:lnTo>
                  <a:cubicBezTo>
                    <a:pt x="63500" y="49273"/>
                    <a:pt x="49273" y="63500"/>
                    <a:pt x="31750" y="63500"/>
                  </a:cubicBezTo>
                  <a:lnTo>
                    <a:pt x="31750" y="63500"/>
                  </a:lnTo>
                  <a:cubicBezTo>
                    <a:pt x="14227" y="63500"/>
                    <a:pt x="0" y="49273"/>
                    <a:pt x="0" y="31750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solidFill>
              <a:srgbClr val="4A4A4A"/>
            </a:solidFill>
          </p:spPr>
        </p:sp>
        <p:sp>
          <p:nvSpPr>
            <p:cNvPr id="10" name="Text 8"/>
            <p:cNvSpPr/>
            <p:nvPr/>
          </p:nvSpPr>
          <p:spPr>
            <a:xfrm>
              <a:off x="634741" y="1587192"/>
              <a:ext cx="2562540" cy="19018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00" dirty="0">
                  <a:solidFill>
                    <a:srgbClr val="4A4A4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Far from compute units</a:t>
              </a:r>
              <a:endParaRPr lang="en-US" sz="16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507756" y="1904653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31750" y="0"/>
                  </a:moveTo>
                  <a:lnTo>
                    <a:pt x="31750" y="0"/>
                  </a:lnTo>
                  <a:cubicBezTo>
                    <a:pt x="49273" y="0"/>
                    <a:pt x="63500" y="14227"/>
                    <a:pt x="63500" y="31750"/>
                  </a:cubicBezTo>
                  <a:lnTo>
                    <a:pt x="63500" y="31750"/>
                  </a:lnTo>
                  <a:cubicBezTo>
                    <a:pt x="63500" y="49273"/>
                    <a:pt x="49273" y="63500"/>
                    <a:pt x="31750" y="63500"/>
                  </a:cubicBezTo>
                  <a:lnTo>
                    <a:pt x="31750" y="63500"/>
                  </a:lnTo>
                  <a:cubicBezTo>
                    <a:pt x="14227" y="63500"/>
                    <a:pt x="0" y="49273"/>
                    <a:pt x="0" y="31750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solidFill>
              <a:srgbClr val="4A4A4A"/>
            </a:solidFill>
          </p:spPr>
        </p:sp>
        <p:sp>
          <p:nvSpPr>
            <p:cNvPr id="12" name="Text 10"/>
            <p:cNvSpPr/>
            <p:nvPr/>
          </p:nvSpPr>
          <p:spPr>
            <a:xfrm>
              <a:off x="634741" y="1841161"/>
              <a:ext cx="2310926" cy="1905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00" dirty="0">
                  <a:solidFill>
                    <a:srgbClr val="4A4A4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High-latency access</a:t>
              </a:r>
              <a:endParaRPr lang="en-US" sz="16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507756" y="2158624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31750" y="0"/>
                  </a:moveTo>
                  <a:lnTo>
                    <a:pt x="31750" y="0"/>
                  </a:lnTo>
                  <a:cubicBezTo>
                    <a:pt x="49273" y="0"/>
                    <a:pt x="63500" y="14227"/>
                    <a:pt x="63500" y="31750"/>
                  </a:cubicBezTo>
                  <a:lnTo>
                    <a:pt x="63500" y="31750"/>
                  </a:lnTo>
                  <a:cubicBezTo>
                    <a:pt x="63500" y="49273"/>
                    <a:pt x="49273" y="63500"/>
                    <a:pt x="31750" y="63500"/>
                  </a:cubicBezTo>
                  <a:lnTo>
                    <a:pt x="31750" y="63500"/>
                  </a:lnTo>
                  <a:cubicBezTo>
                    <a:pt x="14227" y="63500"/>
                    <a:pt x="0" y="49273"/>
                    <a:pt x="0" y="31750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solidFill>
              <a:srgbClr val="4A4A4A"/>
            </a:solidFill>
          </p:spPr>
        </p:sp>
        <p:sp>
          <p:nvSpPr>
            <p:cNvPr id="14" name="Text 12"/>
            <p:cNvSpPr/>
            <p:nvPr/>
          </p:nvSpPr>
          <p:spPr>
            <a:xfrm>
              <a:off x="634740" y="2095131"/>
              <a:ext cx="1832247" cy="22199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00" dirty="0">
                  <a:solidFill>
                    <a:srgbClr val="4A4A4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Large capacity but slow</a:t>
              </a:r>
              <a:endParaRPr lang="en-US" sz="16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317463" y="2571297"/>
              <a:ext cx="5683250" cy="1333500"/>
            </a:xfrm>
            <a:custGeom>
              <a:avLst/>
              <a:gdLst/>
              <a:ahLst/>
              <a:cxnLst/>
              <a:rect l="l" t="t" r="r" b="b"/>
              <a:pathLst>
                <a:path w="5683250" h="1333500">
                  <a:moveTo>
                    <a:pt x="63501" y="0"/>
                  </a:moveTo>
                  <a:lnTo>
                    <a:pt x="5619749" y="0"/>
                  </a:lnTo>
                  <a:cubicBezTo>
                    <a:pt x="5654820" y="0"/>
                    <a:pt x="5683250" y="28430"/>
                    <a:pt x="5683250" y="63501"/>
                  </a:cubicBezTo>
                  <a:lnTo>
                    <a:pt x="5683250" y="1269999"/>
                  </a:lnTo>
                  <a:cubicBezTo>
                    <a:pt x="5683250" y="1305070"/>
                    <a:pt x="5654820" y="1333500"/>
                    <a:pt x="5619749" y="1333500"/>
                  </a:cubicBezTo>
                  <a:lnTo>
                    <a:pt x="63501" y="1333500"/>
                  </a:lnTo>
                  <a:cubicBezTo>
                    <a:pt x="28430" y="1333500"/>
                    <a:pt x="0" y="1305070"/>
                    <a:pt x="0" y="1269999"/>
                  </a:cubicBezTo>
                  <a:lnTo>
                    <a:pt x="0" y="63501"/>
                  </a:lnTo>
                  <a:cubicBezTo>
                    <a:pt x="0" y="28454"/>
                    <a:pt x="28454" y="0"/>
                    <a:pt x="63501" y="0"/>
                  </a:cubicBezTo>
                  <a:close/>
                </a:path>
              </a:pathLst>
            </a:custGeom>
            <a:solidFill>
              <a:srgbClr val="8B2635"/>
            </a:solidFill>
          </p:spPr>
        </p:sp>
        <p:sp>
          <p:nvSpPr>
            <p:cNvPr id="16" name="Shape 14"/>
            <p:cNvSpPr/>
            <p:nvPr/>
          </p:nvSpPr>
          <p:spPr>
            <a:xfrm>
              <a:off x="496007" y="2761711"/>
              <a:ext cx="158750" cy="158750"/>
            </a:xfrm>
            <a:custGeom>
              <a:avLst/>
              <a:gdLst/>
              <a:ahLst/>
              <a:cxnLst/>
              <a:rect l="l" t="t" r="r" b="b"/>
              <a:pathLst>
                <a:path w="158750" h="158750">
                  <a:moveTo>
                    <a:pt x="54570" y="7441"/>
                  </a:moveTo>
                  <a:cubicBezTo>
                    <a:pt x="54570" y="3318"/>
                    <a:pt x="51253" y="0"/>
                    <a:pt x="47129" y="0"/>
                  </a:cubicBezTo>
                  <a:cubicBezTo>
                    <a:pt x="43005" y="0"/>
                    <a:pt x="39688" y="3318"/>
                    <a:pt x="39688" y="7441"/>
                  </a:cubicBezTo>
                  <a:lnTo>
                    <a:pt x="39688" y="19844"/>
                  </a:lnTo>
                  <a:cubicBezTo>
                    <a:pt x="28742" y="19844"/>
                    <a:pt x="19844" y="28742"/>
                    <a:pt x="19844" y="39688"/>
                  </a:cubicBezTo>
                  <a:lnTo>
                    <a:pt x="7441" y="39688"/>
                  </a:lnTo>
                  <a:cubicBezTo>
                    <a:pt x="3318" y="39688"/>
                    <a:pt x="0" y="43005"/>
                    <a:pt x="0" y="47129"/>
                  </a:cubicBezTo>
                  <a:cubicBezTo>
                    <a:pt x="0" y="51253"/>
                    <a:pt x="3318" y="54570"/>
                    <a:pt x="7441" y="54570"/>
                  </a:cubicBezTo>
                  <a:lnTo>
                    <a:pt x="19844" y="54570"/>
                  </a:lnTo>
                  <a:lnTo>
                    <a:pt x="19844" y="71934"/>
                  </a:lnTo>
                  <a:lnTo>
                    <a:pt x="7441" y="71934"/>
                  </a:lnTo>
                  <a:cubicBezTo>
                    <a:pt x="3318" y="71934"/>
                    <a:pt x="0" y="75251"/>
                    <a:pt x="0" y="79375"/>
                  </a:cubicBezTo>
                  <a:cubicBezTo>
                    <a:pt x="0" y="83499"/>
                    <a:pt x="3318" y="86816"/>
                    <a:pt x="7441" y="86816"/>
                  </a:cubicBezTo>
                  <a:lnTo>
                    <a:pt x="19844" y="86816"/>
                  </a:lnTo>
                  <a:lnTo>
                    <a:pt x="19844" y="104180"/>
                  </a:lnTo>
                  <a:lnTo>
                    <a:pt x="7441" y="104180"/>
                  </a:lnTo>
                  <a:cubicBezTo>
                    <a:pt x="3318" y="104180"/>
                    <a:pt x="0" y="107497"/>
                    <a:pt x="0" y="111621"/>
                  </a:cubicBezTo>
                  <a:cubicBezTo>
                    <a:pt x="0" y="115745"/>
                    <a:pt x="3318" y="119062"/>
                    <a:pt x="7441" y="119062"/>
                  </a:cubicBezTo>
                  <a:lnTo>
                    <a:pt x="19844" y="119062"/>
                  </a:lnTo>
                  <a:cubicBezTo>
                    <a:pt x="19844" y="130008"/>
                    <a:pt x="28742" y="138906"/>
                    <a:pt x="39688" y="138906"/>
                  </a:cubicBezTo>
                  <a:lnTo>
                    <a:pt x="39688" y="151309"/>
                  </a:lnTo>
                  <a:cubicBezTo>
                    <a:pt x="39688" y="155432"/>
                    <a:pt x="43005" y="158750"/>
                    <a:pt x="47129" y="158750"/>
                  </a:cubicBezTo>
                  <a:cubicBezTo>
                    <a:pt x="51253" y="158750"/>
                    <a:pt x="54570" y="155432"/>
                    <a:pt x="54570" y="151309"/>
                  </a:cubicBezTo>
                  <a:lnTo>
                    <a:pt x="54570" y="138906"/>
                  </a:lnTo>
                  <a:lnTo>
                    <a:pt x="71934" y="138906"/>
                  </a:lnTo>
                  <a:lnTo>
                    <a:pt x="71934" y="151309"/>
                  </a:lnTo>
                  <a:cubicBezTo>
                    <a:pt x="71934" y="155432"/>
                    <a:pt x="75251" y="158750"/>
                    <a:pt x="79375" y="158750"/>
                  </a:cubicBezTo>
                  <a:cubicBezTo>
                    <a:pt x="83499" y="158750"/>
                    <a:pt x="86816" y="155432"/>
                    <a:pt x="86816" y="151309"/>
                  </a:cubicBezTo>
                  <a:lnTo>
                    <a:pt x="86816" y="138906"/>
                  </a:lnTo>
                  <a:lnTo>
                    <a:pt x="104180" y="138906"/>
                  </a:lnTo>
                  <a:lnTo>
                    <a:pt x="104180" y="151309"/>
                  </a:lnTo>
                  <a:cubicBezTo>
                    <a:pt x="104180" y="155432"/>
                    <a:pt x="107497" y="158750"/>
                    <a:pt x="111621" y="158750"/>
                  </a:cubicBezTo>
                  <a:cubicBezTo>
                    <a:pt x="115745" y="158750"/>
                    <a:pt x="119062" y="155432"/>
                    <a:pt x="119062" y="151309"/>
                  </a:cubicBezTo>
                  <a:lnTo>
                    <a:pt x="119062" y="138906"/>
                  </a:lnTo>
                  <a:cubicBezTo>
                    <a:pt x="130008" y="138906"/>
                    <a:pt x="138906" y="130008"/>
                    <a:pt x="138906" y="119062"/>
                  </a:cubicBezTo>
                  <a:lnTo>
                    <a:pt x="151309" y="119062"/>
                  </a:lnTo>
                  <a:cubicBezTo>
                    <a:pt x="155432" y="119062"/>
                    <a:pt x="158750" y="115745"/>
                    <a:pt x="158750" y="111621"/>
                  </a:cubicBezTo>
                  <a:cubicBezTo>
                    <a:pt x="158750" y="107497"/>
                    <a:pt x="155432" y="104180"/>
                    <a:pt x="151309" y="104180"/>
                  </a:cubicBezTo>
                  <a:lnTo>
                    <a:pt x="138906" y="104180"/>
                  </a:lnTo>
                  <a:lnTo>
                    <a:pt x="138906" y="86816"/>
                  </a:lnTo>
                  <a:lnTo>
                    <a:pt x="151309" y="86816"/>
                  </a:lnTo>
                  <a:cubicBezTo>
                    <a:pt x="155432" y="86816"/>
                    <a:pt x="158750" y="83499"/>
                    <a:pt x="158750" y="79375"/>
                  </a:cubicBezTo>
                  <a:cubicBezTo>
                    <a:pt x="158750" y="75251"/>
                    <a:pt x="155432" y="71934"/>
                    <a:pt x="151309" y="71934"/>
                  </a:cubicBezTo>
                  <a:lnTo>
                    <a:pt x="138906" y="71934"/>
                  </a:lnTo>
                  <a:lnTo>
                    <a:pt x="138906" y="54570"/>
                  </a:lnTo>
                  <a:lnTo>
                    <a:pt x="151309" y="54570"/>
                  </a:lnTo>
                  <a:cubicBezTo>
                    <a:pt x="155432" y="54570"/>
                    <a:pt x="158750" y="51253"/>
                    <a:pt x="158750" y="47129"/>
                  </a:cubicBezTo>
                  <a:cubicBezTo>
                    <a:pt x="158750" y="43005"/>
                    <a:pt x="155432" y="39688"/>
                    <a:pt x="151309" y="39688"/>
                  </a:cubicBezTo>
                  <a:lnTo>
                    <a:pt x="138906" y="39688"/>
                  </a:lnTo>
                  <a:cubicBezTo>
                    <a:pt x="138906" y="28742"/>
                    <a:pt x="130008" y="19844"/>
                    <a:pt x="119062" y="19844"/>
                  </a:cubicBezTo>
                  <a:lnTo>
                    <a:pt x="119062" y="7441"/>
                  </a:lnTo>
                  <a:cubicBezTo>
                    <a:pt x="119062" y="3318"/>
                    <a:pt x="115745" y="0"/>
                    <a:pt x="111621" y="0"/>
                  </a:cubicBezTo>
                  <a:cubicBezTo>
                    <a:pt x="107497" y="0"/>
                    <a:pt x="104180" y="3318"/>
                    <a:pt x="104180" y="7441"/>
                  </a:cubicBezTo>
                  <a:lnTo>
                    <a:pt x="104180" y="19844"/>
                  </a:lnTo>
                  <a:lnTo>
                    <a:pt x="86816" y="19844"/>
                  </a:lnTo>
                  <a:lnTo>
                    <a:pt x="86816" y="7441"/>
                  </a:lnTo>
                  <a:cubicBezTo>
                    <a:pt x="86816" y="3318"/>
                    <a:pt x="83499" y="0"/>
                    <a:pt x="79375" y="0"/>
                  </a:cubicBezTo>
                  <a:cubicBezTo>
                    <a:pt x="75251" y="0"/>
                    <a:pt x="71934" y="3318"/>
                    <a:pt x="71934" y="7441"/>
                  </a:cubicBezTo>
                  <a:lnTo>
                    <a:pt x="71934" y="19844"/>
                  </a:lnTo>
                  <a:lnTo>
                    <a:pt x="54570" y="19844"/>
                  </a:lnTo>
                  <a:lnTo>
                    <a:pt x="54570" y="7441"/>
                  </a:lnTo>
                  <a:close/>
                  <a:moveTo>
                    <a:pt x="49609" y="39688"/>
                  </a:moveTo>
                  <a:lnTo>
                    <a:pt x="109141" y="39688"/>
                  </a:lnTo>
                  <a:cubicBezTo>
                    <a:pt x="114629" y="39688"/>
                    <a:pt x="119062" y="44121"/>
                    <a:pt x="119062" y="49609"/>
                  </a:cubicBezTo>
                  <a:lnTo>
                    <a:pt x="119062" y="109141"/>
                  </a:lnTo>
                  <a:cubicBezTo>
                    <a:pt x="119062" y="114629"/>
                    <a:pt x="114629" y="119062"/>
                    <a:pt x="109141" y="119062"/>
                  </a:cubicBezTo>
                  <a:lnTo>
                    <a:pt x="49609" y="119062"/>
                  </a:lnTo>
                  <a:cubicBezTo>
                    <a:pt x="44121" y="119062"/>
                    <a:pt x="39688" y="114629"/>
                    <a:pt x="39688" y="109141"/>
                  </a:cubicBezTo>
                  <a:lnTo>
                    <a:pt x="39688" y="49609"/>
                  </a:lnTo>
                  <a:cubicBezTo>
                    <a:pt x="39688" y="44121"/>
                    <a:pt x="44121" y="39688"/>
                    <a:pt x="49609" y="39688"/>
                  </a:cubicBezTo>
                  <a:close/>
                  <a:moveTo>
                    <a:pt x="54570" y="54570"/>
                  </a:moveTo>
                  <a:lnTo>
                    <a:pt x="54570" y="104180"/>
                  </a:lnTo>
                  <a:lnTo>
                    <a:pt x="104180" y="104180"/>
                  </a:lnTo>
                  <a:lnTo>
                    <a:pt x="104180" y="54570"/>
                  </a:lnTo>
                  <a:lnTo>
                    <a:pt x="54570" y="5457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 15"/>
            <p:cNvSpPr/>
            <p:nvPr/>
          </p:nvSpPr>
          <p:spPr>
            <a:xfrm>
              <a:off x="674601" y="2729996"/>
              <a:ext cx="5246688" cy="2222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50" b="1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Shared Memory</a:t>
              </a:r>
              <a:endParaRPr lang="en-US" sz="16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76164" y="3110950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31750" y="0"/>
                  </a:moveTo>
                  <a:lnTo>
                    <a:pt x="31750" y="0"/>
                  </a:lnTo>
                  <a:cubicBezTo>
                    <a:pt x="49273" y="0"/>
                    <a:pt x="63500" y="14227"/>
                    <a:pt x="63500" y="31750"/>
                  </a:cubicBezTo>
                  <a:lnTo>
                    <a:pt x="63500" y="31750"/>
                  </a:lnTo>
                  <a:cubicBezTo>
                    <a:pt x="63500" y="49273"/>
                    <a:pt x="49273" y="63500"/>
                    <a:pt x="31750" y="63500"/>
                  </a:cubicBezTo>
                  <a:lnTo>
                    <a:pt x="31750" y="63500"/>
                  </a:lnTo>
                  <a:cubicBezTo>
                    <a:pt x="14227" y="63500"/>
                    <a:pt x="0" y="49273"/>
                    <a:pt x="0" y="31750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 17"/>
            <p:cNvSpPr/>
            <p:nvPr/>
          </p:nvSpPr>
          <p:spPr>
            <a:xfrm>
              <a:off x="603149" y="3047457"/>
              <a:ext cx="1250148" cy="1905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00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Inside the SM</a:t>
              </a:r>
              <a:endParaRPr lang="en-US" sz="16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476164" y="3364923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31750" y="0"/>
                  </a:moveTo>
                  <a:lnTo>
                    <a:pt x="31750" y="0"/>
                  </a:lnTo>
                  <a:cubicBezTo>
                    <a:pt x="49273" y="0"/>
                    <a:pt x="63500" y="14227"/>
                    <a:pt x="63500" y="31750"/>
                  </a:cubicBezTo>
                  <a:lnTo>
                    <a:pt x="63500" y="31750"/>
                  </a:lnTo>
                  <a:cubicBezTo>
                    <a:pt x="63500" y="49273"/>
                    <a:pt x="49273" y="63500"/>
                    <a:pt x="31750" y="63500"/>
                  </a:cubicBezTo>
                  <a:lnTo>
                    <a:pt x="31750" y="63500"/>
                  </a:lnTo>
                  <a:cubicBezTo>
                    <a:pt x="14227" y="63500"/>
                    <a:pt x="0" y="49273"/>
                    <a:pt x="0" y="31750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Text 19"/>
            <p:cNvSpPr/>
            <p:nvPr/>
          </p:nvSpPr>
          <p:spPr>
            <a:xfrm>
              <a:off x="603149" y="3301429"/>
              <a:ext cx="1863838" cy="22224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00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Physically close, faster access</a:t>
              </a:r>
              <a:endParaRPr lang="en-US" sz="16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476164" y="3618892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31750" y="0"/>
                  </a:moveTo>
                  <a:lnTo>
                    <a:pt x="31750" y="0"/>
                  </a:lnTo>
                  <a:cubicBezTo>
                    <a:pt x="49273" y="0"/>
                    <a:pt x="63500" y="14227"/>
                    <a:pt x="63500" y="31750"/>
                  </a:cubicBezTo>
                  <a:lnTo>
                    <a:pt x="63500" y="31750"/>
                  </a:lnTo>
                  <a:cubicBezTo>
                    <a:pt x="63500" y="49273"/>
                    <a:pt x="49273" y="63500"/>
                    <a:pt x="31750" y="63500"/>
                  </a:cubicBezTo>
                  <a:lnTo>
                    <a:pt x="31750" y="63500"/>
                  </a:lnTo>
                  <a:cubicBezTo>
                    <a:pt x="14227" y="63500"/>
                    <a:pt x="0" y="49273"/>
                    <a:pt x="0" y="31750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3" name="Text 21"/>
            <p:cNvSpPr/>
            <p:nvPr/>
          </p:nvSpPr>
          <p:spPr>
            <a:xfrm>
              <a:off x="603149" y="3555399"/>
              <a:ext cx="1800336" cy="1905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00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Similar to CPU cache</a:t>
              </a:r>
              <a:endParaRPr lang="en-US" sz="16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317463" y="4031564"/>
              <a:ext cx="5683250" cy="635000"/>
            </a:xfrm>
            <a:custGeom>
              <a:avLst/>
              <a:gdLst/>
              <a:ahLst/>
              <a:cxnLst/>
              <a:rect l="l" t="t" r="r" b="b"/>
              <a:pathLst>
                <a:path w="5683250" h="635000">
                  <a:moveTo>
                    <a:pt x="63500" y="0"/>
                  </a:moveTo>
                  <a:lnTo>
                    <a:pt x="5619750" y="0"/>
                  </a:lnTo>
                  <a:cubicBezTo>
                    <a:pt x="5654797" y="0"/>
                    <a:pt x="5683250" y="28453"/>
                    <a:pt x="5683250" y="63500"/>
                  </a:cubicBezTo>
                  <a:lnTo>
                    <a:pt x="5683250" y="571500"/>
                  </a:lnTo>
                  <a:cubicBezTo>
                    <a:pt x="5683250" y="606547"/>
                    <a:pt x="5654797" y="635000"/>
                    <a:pt x="5619750" y="635000"/>
                  </a:cubicBezTo>
                  <a:lnTo>
                    <a:pt x="63500" y="635000"/>
                  </a:lnTo>
                  <a:cubicBezTo>
                    <a:pt x="28453" y="635000"/>
                    <a:pt x="0" y="606547"/>
                    <a:pt x="0" y="571500"/>
                  </a:cubicBezTo>
                  <a:lnTo>
                    <a:pt x="0" y="63500"/>
                  </a:lnTo>
                  <a:cubicBezTo>
                    <a:pt x="0" y="28453"/>
                    <a:pt x="28453" y="0"/>
                    <a:pt x="63500" y="0"/>
                  </a:cubicBezTo>
                  <a:close/>
                </a:path>
              </a:pathLst>
            </a:custGeom>
            <a:solidFill>
              <a:srgbClr val="B89A6A"/>
            </a:solidFill>
          </p:spPr>
        </p:sp>
        <p:sp>
          <p:nvSpPr>
            <p:cNvPr id="25" name="Shape 23"/>
            <p:cNvSpPr/>
            <p:nvPr/>
          </p:nvSpPr>
          <p:spPr>
            <a:xfrm>
              <a:off x="492073" y="4253756"/>
              <a:ext cx="142875" cy="190500"/>
            </a:xfrm>
            <a:custGeom>
              <a:avLst/>
              <a:gdLst/>
              <a:ahLst/>
              <a:cxnLst/>
              <a:rect l="l" t="t" r="r" b="b"/>
              <a:pathLst>
                <a:path w="142875" h="190500">
                  <a:moveTo>
                    <a:pt x="108979" y="142875"/>
                  </a:moveTo>
                  <a:cubicBezTo>
                    <a:pt x="111696" y="134578"/>
                    <a:pt x="117128" y="127062"/>
                    <a:pt x="123267" y="120588"/>
                  </a:cubicBezTo>
                  <a:cubicBezTo>
                    <a:pt x="135434" y="107789"/>
                    <a:pt x="142875" y="90488"/>
                    <a:pt x="142875" y="71438"/>
                  </a:cubicBezTo>
                  <a:cubicBezTo>
                    <a:pt x="142875" y="31998"/>
                    <a:pt x="110877" y="0"/>
                    <a:pt x="71437" y="0"/>
                  </a:cubicBezTo>
                  <a:cubicBezTo>
                    <a:pt x="31998" y="0"/>
                    <a:pt x="0" y="31998"/>
                    <a:pt x="0" y="71438"/>
                  </a:cubicBezTo>
                  <a:cubicBezTo>
                    <a:pt x="0" y="90488"/>
                    <a:pt x="7441" y="107789"/>
                    <a:pt x="19608" y="120588"/>
                  </a:cubicBezTo>
                  <a:cubicBezTo>
                    <a:pt x="25747" y="127062"/>
                    <a:pt x="31217" y="134578"/>
                    <a:pt x="33896" y="142875"/>
                  </a:cubicBezTo>
                  <a:lnTo>
                    <a:pt x="108942" y="142875"/>
                  </a:lnTo>
                  <a:close/>
                  <a:moveTo>
                    <a:pt x="107156" y="160734"/>
                  </a:moveTo>
                  <a:lnTo>
                    <a:pt x="35719" y="160734"/>
                  </a:lnTo>
                  <a:lnTo>
                    <a:pt x="35719" y="166688"/>
                  </a:lnTo>
                  <a:cubicBezTo>
                    <a:pt x="35719" y="183133"/>
                    <a:pt x="49039" y="196453"/>
                    <a:pt x="65484" y="196453"/>
                  </a:cubicBezTo>
                  <a:lnTo>
                    <a:pt x="77391" y="196453"/>
                  </a:lnTo>
                  <a:cubicBezTo>
                    <a:pt x="93836" y="196453"/>
                    <a:pt x="107156" y="183133"/>
                    <a:pt x="107156" y="166688"/>
                  </a:cubicBezTo>
                  <a:lnTo>
                    <a:pt x="107156" y="160734"/>
                  </a:lnTo>
                  <a:close/>
                  <a:moveTo>
                    <a:pt x="68461" y="41672"/>
                  </a:moveTo>
                  <a:cubicBezTo>
                    <a:pt x="53653" y="41672"/>
                    <a:pt x="41672" y="53653"/>
                    <a:pt x="41672" y="68461"/>
                  </a:cubicBezTo>
                  <a:cubicBezTo>
                    <a:pt x="41672" y="73409"/>
                    <a:pt x="37691" y="77391"/>
                    <a:pt x="32742" y="77391"/>
                  </a:cubicBezTo>
                  <a:cubicBezTo>
                    <a:pt x="27794" y="77391"/>
                    <a:pt x="23812" y="73409"/>
                    <a:pt x="23812" y="68461"/>
                  </a:cubicBezTo>
                  <a:cubicBezTo>
                    <a:pt x="23812" y="43793"/>
                    <a:pt x="43793" y="23812"/>
                    <a:pt x="68461" y="23812"/>
                  </a:cubicBezTo>
                  <a:cubicBezTo>
                    <a:pt x="73409" y="23812"/>
                    <a:pt x="77391" y="27794"/>
                    <a:pt x="77391" y="32742"/>
                  </a:cubicBezTo>
                  <a:cubicBezTo>
                    <a:pt x="77391" y="37691"/>
                    <a:pt x="73409" y="41672"/>
                    <a:pt x="68461" y="4167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6" name="Text 24"/>
            <p:cNvSpPr/>
            <p:nvPr/>
          </p:nvSpPr>
          <p:spPr>
            <a:xfrm>
              <a:off x="777769" y="4158548"/>
              <a:ext cx="1174750" cy="1905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00" b="1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Key Insight</a:t>
              </a:r>
              <a:endParaRPr lang="en-US" sz="16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777769" y="4380739"/>
              <a:ext cx="2419512" cy="19049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875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Physical location determines access speed</a:t>
              </a:r>
              <a:endParaRPr lang="en-US" sz="1600" dirty="0"/>
            </a:p>
          </p:txBody>
        </p:sp>
      </p:grpSp>
      <p:sp>
        <p:nvSpPr>
          <p:cNvPr id="28" name="Shape 26"/>
          <p:cNvSpPr/>
          <p:nvPr/>
        </p:nvSpPr>
        <p:spPr>
          <a:xfrm>
            <a:off x="6191237" y="1111027"/>
            <a:ext cx="5683250" cy="5498428"/>
          </a:xfrm>
          <a:custGeom>
            <a:avLst/>
            <a:gdLst/>
            <a:ahLst/>
            <a:cxnLst/>
            <a:rect l="l" t="t" r="r" b="b"/>
            <a:pathLst>
              <a:path w="5683250" h="6604000">
                <a:moveTo>
                  <a:pt x="63482" y="0"/>
                </a:moveTo>
                <a:lnTo>
                  <a:pt x="5619768" y="0"/>
                </a:lnTo>
                <a:cubicBezTo>
                  <a:pt x="5654828" y="0"/>
                  <a:pt x="5683250" y="28422"/>
                  <a:pt x="5683250" y="63482"/>
                </a:cubicBezTo>
                <a:lnTo>
                  <a:pt x="5683250" y="6540518"/>
                </a:lnTo>
                <a:cubicBezTo>
                  <a:pt x="5683250" y="6575578"/>
                  <a:pt x="5654828" y="6604000"/>
                  <a:pt x="5619768" y="6604000"/>
                </a:cubicBezTo>
                <a:lnTo>
                  <a:pt x="63482" y="6604000"/>
                </a:lnTo>
                <a:cubicBezTo>
                  <a:pt x="28422" y="6604000"/>
                  <a:pt x="0" y="6575578"/>
                  <a:pt x="0" y="6540518"/>
                </a:cubicBezTo>
                <a:lnTo>
                  <a:pt x="0" y="63482"/>
                </a:lnTo>
                <a:cubicBezTo>
                  <a:pt x="0" y="28445"/>
                  <a:pt x="28445" y="0"/>
                  <a:pt x="63482" y="0"/>
                </a:cubicBezTo>
                <a:close/>
              </a:path>
            </a:pathLst>
          </a:custGeom>
          <a:solidFill>
            <a:srgbClr val="F8F8F8"/>
          </a:solidFill>
        </p:spPr>
      </p:sp>
      <p:pic>
        <p:nvPicPr>
          <p:cNvPr id="29" name="Image 0" descr="https://kimi-web-img.moonshot.cn/img/doc.sling.si/b18eb8f07cc80f1c85f2a0d4e417be4562c0da04.png"/>
          <p:cNvPicPr>
            <a:picLocks noChangeAspect="1"/>
          </p:cNvPicPr>
          <p:nvPr/>
        </p:nvPicPr>
        <p:blipFill>
          <a:blip r:embed="rId3"/>
          <a:srcRect t="2" b="2"/>
          <a:stretch>
            <a:fillRect/>
          </a:stretch>
        </p:blipFill>
        <p:spPr>
          <a:xfrm>
            <a:off x="7286627" y="1234509"/>
            <a:ext cx="3420027" cy="4006896"/>
          </a:xfrm>
          <a:prstGeom prst="roundRect">
            <a:avLst>
              <a:gd name="adj" fmla="val 592"/>
            </a:avLst>
          </a:prstGeom>
        </p:spPr>
      </p:pic>
      <p:grpSp>
        <p:nvGrpSpPr>
          <p:cNvPr id="39" name="组合 38"/>
          <p:cNvGrpSpPr/>
          <p:nvPr/>
        </p:nvGrpSpPr>
        <p:grpSpPr>
          <a:xfrm>
            <a:off x="6207167" y="5381741"/>
            <a:ext cx="5667296" cy="1158796"/>
            <a:chOff x="6199135" y="7850253"/>
            <a:chExt cx="5667296" cy="1158796"/>
          </a:xfrm>
        </p:grpSpPr>
        <p:sp>
          <p:nvSpPr>
            <p:cNvPr id="30" name="Shape 27"/>
            <p:cNvSpPr/>
            <p:nvPr/>
          </p:nvSpPr>
          <p:spPr>
            <a:xfrm>
              <a:off x="6199135" y="7850253"/>
              <a:ext cx="5667296" cy="1158796"/>
            </a:xfrm>
            <a:custGeom>
              <a:avLst/>
              <a:gdLst/>
              <a:ahLst/>
              <a:cxnLst/>
              <a:rect l="l" t="t" r="r" b="b"/>
              <a:pathLst>
                <a:path w="5667296" h="1158796">
                  <a:moveTo>
                    <a:pt x="63502" y="0"/>
                  </a:moveTo>
                  <a:lnTo>
                    <a:pt x="5603794" y="0"/>
                  </a:lnTo>
                  <a:cubicBezTo>
                    <a:pt x="5638865" y="0"/>
                    <a:pt x="5667296" y="28431"/>
                    <a:pt x="5667296" y="63502"/>
                  </a:cubicBezTo>
                  <a:lnTo>
                    <a:pt x="5667296" y="1095294"/>
                  </a:lnTo>
                  <a:cubicBezTo>
                    <a:pt x="5667296" y="1130365"/>
                    <a:pt x="5638865" y="1158796"/>
                    <a:pt x="5603794" y="1158796"/>
                  </a:cubicBezTo>
                  <a:lnTo>
                    <a:pt x="63502" y="1158796"/>
                  </a:lnTo>
                  <a:cubicBezTo>
                    <a:pt x="28431" y="1158796"/>
                    <a:pt x="0" y="1130365"/>
                    <a:pt x="0" y="1095294"/>
                  </a:cubicBezTo>
                  <a:lnTo>
                    <a:pt x="0" y="63502"/>
                  </a:lnTo>
                  <a:cubicBezTo>
                    <a:pt x="0" y="28454"/>
                    <a:pt x="28454" y="0"/>
                    <a:pt x="63502" y="0"/>
                  </a:cubicBezTo>
                  <a:close/>
                </a:path>
              </a:pathLst>
            </a:custGeom>
            <a:solidFill>
              <a:srgbClr val="FFFFFF"/>
            </a:solidFill>
            <a:ln w="25274">
              <a:solidFill>
                <a:srgbClr val="8B2635"/>
              </a:solidFill>
              <a:prstDash val="solid"/>
            </a:ln>
          </p:spPr>
        </p:sp>
        <p:sp>
          <p:nvSpPr>
            <p:cNvPr id="31" name="Text 28"/>
            <p:cNvSpPr/>
            <p:nvPr/>
          </p:nvSpPr>
          <p:spPr>
            <a:xfrm>
              <a:off x="6302269" y="7985133"/>
              <a:ext cx="5461000" cy="1905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000" dirty="0">
                  <a:solidFill>
                    <a:srgbClr val="4A4A4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Speed Comparison</a:t>
              </a:r>
              <a:endParaRPr lang="en-US" sz="1600" dirty="0"/>
            </a:p>
          </p:txBody>
        </p:sp>
        <p:sp>
          <p:nvSpPr>
            <p:cNvPr id="32" name="Text 29"/>
            <p:cNvSpPr/>
            <p:nvPr/>
          </p:nvSpPr>
          <p:spPr>
            <a:xfrm>
              <a:off x="8165442" y="8239106"/>
              <a:ext cx="889000" cy="254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500" b="1" dirty="0">
                  <a:solidFill>
                    <a:srgbClr val="4A4A4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400-800</a:t>
              </a:r>
              <a:endParaRPr lang="en-US" sz="1600" dirty="0"/>
            </a:p>
          </p:txBody>
        </p:sp>
        <p:sp>
          <p:nvSpPr>
            <p:cNvPr id="33" name="Text 30"/>
            <p:cNvSpPr/>
            <p:nvPr/>
          </p:nvSpPr>
          <p:spPr>
            <a:xfrm>
              <a:off x="8185285" y="8493013"/>
              <a:ext cx="849313" cy="1587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875" dirty="0">
                  <a:solidFill>
                    <a:srgbClr val="4A4A4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Global</a:t>
              </a:r>
              <a:endParaRPr lang="en-US" sz="1600" dirty="0"/>
            </a:p>
          </p:txBody>
        </p:sp>
        <p:sp>
          <p:nvSpPr>
            <p:cNvPr id="34" name="Text 31"/>
            <p:cNvSpPr/>
            <p:nvPr/>
          </p:nvSpPr>
          <p:spPr>
            <a:xfrm>
              <a:off x="9074147" y="8302536"/>
              <a:ext cx="349250" cy="2857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1875" dirty="0">
                  <a:solidFill>
                    <a:srgbClr val="8B263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vs</a:t>
              </a:r>
              <a:endParaRPr lang="en-US" sz="1600" dirty="0"/>
            </a:p>
          </p:txBody>
        </p:sp>
        <p:sp>
          <p:nvSpPr>
            <p:cNvPr id="35" name="Text 32"/>
            <p:cNvSpPr/>
            <p:nvPr/>
          </p:nvSpPr>
          <p:spPr>
            <a:xfrm>
              <a:off x="9444549" y="8239106"/>
              <a:ext cx="452438" cy="254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500" b="1" dirty="0">
                  <a:solidFill>
                    <a:srgbClr val="8B263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~20</a:t>
              </a:r>
              <a:endParaRPr lang="en-US" sz="1600" dirty="0"/>
            </a:p>
          </p:txBody>
        </p:sp>
        <p:sp>
          <p:nvSpPr>
            <p:cNvPr id="36" name="Text 33"/>
            <p:cNvSpPr/>
            <p:nvPr/>
          </p:nvSpPr>
          <p:spPr>
            <a:xfrm>
              <a:off x="9464392" y="8493013"/>
              <a:ext cx="412750" cy="1587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875" dirty="0">
                  <a:solidFill>
                    <a:srgbClr val="4A4A4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Shared</a:t>
              </a:r>
              <a:endParaRPr lang="en-US" sz="1600" dirty="0"/>
            </a:p>
          </p:txBody>
        </p:sp>
        <p:sp>
          <p:nvSpPr>
            <p:cNvPr id="37" name="Text 34"/>
            <p:cNvSpPr/>
            <p:nvPr/>
          </p:nvSpPr>
          <p:spPr>
            <a:xfrm>
              <a:off x="6306238" y="8715208"/>
              <a:ext cx="5453063" cy="1587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875" dirty="0">
                  <a:solidFill>
                    <a:srgbClr val="4A4A4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cycles</a:t>
              </a:r>
              <a:endParaRPr lang="en-US" sz="1600" dirty="0"/>
            </a:p>
          </p:txBody>
        </p:sp>
      </p:grpSp>
      <p:sp>
        <p:nvSpPr>
          <p:cNvPr id="38" name="Text 35"/>
          <p:cNvSpPr/>
          <p:nvPr/>
        </p:nvSpPr>
        <p:spPr>
          <a:xfrm>
            <a:off x="261900" y="9080182"/>
            <a:ext cx="11612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Image source: SLING Documentation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95904" y="608970"/>
            <a:ext cx="11652454" cy="3480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65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Shared Memory Usage Example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8054" y="1218088"/>
            <a:ext cx="6813944" cy="5395460"/>
          </a:xfrm>
          <a:custGeom>
            <a:avLst/>
            <a:gdLst/>
            <a:ahLst/>
            <a:cxnLst/>
            <a:rect l="l" t="t" r="r" b="b"/>
            <a:pathLst>
              <a:path w="6813944" h="5395460">
                <a:moveTo>
                  <a:pt x="69601" y="0"/>
                </a:moveTo>
                <a:lnTo>
                  <a:pt x="6744343" y="0"/>
                </a:lnTo>
                <a:cubicBezTo>
                  <a:pt x="6782783" y="0"/>
                  <a:pt x="6813944" y="31162"/>
                  <a:pt x="6813944" y="69601"/>
                </a:cubicBezTo>
                <a:lnTo>
                  <a:pt x="6813944" y="5325859"/>
                </a:lnTo>
                <a:cubicBezTo>
                  <a:pt x="6813944" y="5364299"/>
                  <a:pt x="6782783" y="5395460"/>
                  <a:pt x="6744343" y="5395460"/>
                </a:cubicBezTo>
                <a:lnTo>
                  <a:pt x="69601" y="5395460"/>
                </a:lnTo>
                <a:cubicBezTo>
                  <a:pt x="31162" y="5395460"/>
                  <a:pt x="0" y="5364299"/>
                  <a:pt x="0" y="5325859"/>
                </a:cubicBezTo>
                <a:lnTo>
                  <a:pt x="0" y="69601"/>
                </a:lnTo>
                <a:cubicBezTo>
                  <a:pt x="0" y="31187"/>
                  <a:pt x="31187" y="0"/>
                  <a:pt x="69601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6" name="Shape 4"/>
          <p:cNvSpPr/>
          <p:nvPr/>
        </p:nvSpPr>
        <p:spPr>
          <a:xfrm>
            <a:off x="532925" y="1426851"/>
            <a:ext cx="195803" cy="174047"/>
          </a:xfrm>
          <a:custGeom>
            <a:avLst/>
            <a:gdLst/>
            <a:ahLst/>
            <a:cxnLst/>
            <a:rect l="l" t="t" r="r" b="b"/>
            <a:pathLst>
              <a:path w="195803" h="174047">
                <a:moveTo>
                  <a:pt x="122649" y="408"/>
                </a:moveTo>
                <a:cubicBezTo>
                  <a:pt x="116870" y="-1258"/>
                  <a:pt x="110853" y="2108"/>
                  <a:pt x="109187" y="7887"/>
                </a:cubicBezTo>
                <a:lnTo>
                  <a:pt x="65676" y="160178"/>
                </a:lnTo>
                <a:cubicBezTo>
                  <a:pt x="64010" y="165957"/>
                  <a:pt x="67375" y="171974"/>
                  <a:pt x="73154" y="173639"/>
                </a:cubicBezTo>
                <a:cubicBezTo>
                  <a:pt x="78933" y="175305"/>
                  <a:pt x="84950" y="171940"/>
                  <a:pt x="86616" y="166161"/>
                </a:cubicBezTo>
                <a:lnTo>
                  <a:pt x="130127" y="13869"/>
                </a:lnTo>
                <a:cubicBezTo>
                  <a:pt x="131793" y="8090"/>
                  <a:pt x="128428" y="2074"/>
                  <a:pt x="122649" y="408"/>
                </a:cubicBezTo>
                <a:close/>
                <a:moveTo>
                  <a:pt x="144609" y="46673"/>
                </a:moveTo>
                <a:cubicBezTo>
                  <a:pt x="140359" y="50922"/>
                  <a:pt x="140359" y="57823"/>
                  <a:pt x="144609" y="62072"/>
                </a:cubicBezTo>
                <a:lnTo>
                  <a:pt x="169560" y="87024"/>
                </a:lnTo>
                <a:lnTo>
                  <a:pt x="144609" y="111975"/>
                </a:lnTo>
                <a:cubicBezTo>
                  <a:pt x="140359" y="116224"/>
                  <a:pt x="140359" y="123125"/>
                  <a:pt x="144609" y="127374"/>
                </a:cubicBezTo>
                <a:cubicBezTo>
                  <a:pt x="148858" y="131623"/>
                  <a:pt x="155759" y="131623"/>
                  <a:pt x="160008" y="127374"/>
                </a:cubicBezTo>
                <a:lnTo>
                  <a:pt x="192642" y="94740"/>
                </a:lnTo>
                <a:cubicBezTo>
                  <a:pt x="196891" y="90491"/>
                  <a:pt x="196891" y="83590"/>
                  <a:pt x="192642" y="79341"/>
                </a:cubicBezTo>
                <a:lnTo>
                  <a:pt x="160008" y="46707"/>
                </a:lnTo>
                <a:cubicBezTo>
                  <a:pt x="155759" y="42458"/>
                  <a:pt x="148858" y="42458"/>
                  <a:pt x="144609" y="46707"/>
                </a:cubicBezTo>
                <a:close/>
                <a:moveTo>
                  <a:pt x="51228" y="46673"/>
                </a:moveTo>
                <a:cubicBezTo>
                  <a:pt x="46979" y="42424"/>
                  <a:pt x="40078" y="42424"/>
                  <a:pt x="35829" y="46673"/>
                </a:cubicBezTo>
                <a:lnTo>
                  <a:pt x="3195" y="79307"/>
                </a:lnTo>
                <a:cubicBezTo>
                  <a:pt x="-1054" y="83556"/>
                  <a:pt x="-1054" y="90457"/>
                  <a:pt x="3195" y="94706"/>
                </a:cubicBezTo>
                <a:lnTo>
                  <a:pt x="35829" y="127340"/>
                </a:lnTo>
                <a:cubicBezTo>
                  <a:pt x="40078" y="131589"/>
                  <a:pt x="46979" y="131589"/>
                  <a:pt x="51228" y="127340"/>
                </a:cubicBezTo>
                <a:cubicBezTo>
                  <a:pt x="55478" y="123091"/>
                  <a:pt x="55478" y="116190"/>
                  <a:pt x="51228" y="111941"/>
                </a:cubicBezTo>
                <a:lnTo>
                  <a:pt x="26277" y="87024"/>
                </a:lnTo>
                <a:lnTo>
                  <a:pt x="51194" y="62072"/>
                </a:lnTo>
                <a:cubicBezTo>
                  <a:pt x="55444" y="57823"/>
                  <a:pt x="55444" y="50922"/>
                  <a:pt x="51194" y="46673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7" name="Text 5"/>
          <p:cNvSpPr/>
          <p:nvPr/>
        </p:nvSpPr>
        <p:spPr>
          <a:xfrm>
            <a:off x="739606" y="1392079"/>
            <a:ext cx="6335315" cy="2436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CUDA Example Code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9365" y="1774970"/>
            <a:ext cx="6448359" cy="4664463"/>
          </a:xfrm>
          <a:custGeom>
            <a:avLst/>
            <a:gdLst/>
            <a:ahLst/>
            <a:cxnLst/>
            <a:rect l="l" t="t" r="r" b="b"/>
            <a:pathLst>
              <a:path w="6448359" h="4664463">
                <a:moveTo>
                  <a:pt x="34636" y="0"/>
                </a:moveTo>
                <a:lnTo>
                  <a:pt x="6378718" y="0"/>
                </a:lnTo>
                <a:cubicBezTo>
                  <a:pt x="6417180" y="0"/>
                  <a:pt x="6448359" y="31179"/>
                  <a:pt x="6448359" y="69640"/>
                </a:cubicBezTo>
                <a:lnTo>
                  <a:pt x="6448359" y="4594822"/>
                </a:lnTo>
                <a:cubicBezTo>
                  <a:pt x="6448359" y="4633283"/>
                  <a:pt x="6417180" y="4664463"/>
                  <a:pt x="6378718" y="4664463"/>
                </a:cubicBezTo>
                <a:lnTo>
                  <a:pt x="34636" y="4664463"/>
                </a:lnTo>
                <a:cubicBezTo>
                  <a:pt x="15507" y="4664463"/>
                  <a:pt x="0" y="4648955"/>
                  <a:pt x="0" y="4629826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F5F5F5"/>
          </a:solidFill>
        </p:spPr>
      </p:sp>
      <p:sp>
        <p:nvSpPr>
          <p:cNvPr id="9" name="Shape 7"/>
          <p:cNvSpPr/>
          <p:nvPr/>
        </p:nvSpPr>
        <p:spPr>
          <a:xfrm>
            <a:off x="539365" y="1774970"/>
            <a:ext cx="34636" cy="4664463"/>
          </a:xfrm>
          <a:custGeom>
            <a:avLst/>
            <a:gdLst/>
            <a:ahLst/>
            <a:cxnLst/>
            <a:rect l="l" t="t" r="r" b="b"/>
            <a:pathLst>
              <a:path w="34636" h="4664463">
                <a:moveTo>
                  <a:pt x="34636" y="0"/>
                </a:moveTo>
                <a:lnTo>
                  <a:pt x="34636" y="0"/>
                </a:lnTo>
                <a:lnTo>
                  <a:pt x="34636" y="4664463"/>
                </a:lnTo>
                <a:lnTo>
                  <a:pt x="34636" y="4664463"/>
                </a:lnTo>
                <a:cubicBezTo>
                  <a:pt x="15507" y="4664463"/>
                  <a:pt x="0" y="4648955"/>
                  <a:pt x="0" y="4629826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10" name="Text 8"/>
          <p:cNvSpPr/>
          <p:nvPr/>
        </p:nvSpPr>
        <p:spPr>
          <a:xfrm>
            <a:off x="717850" y="1548109"/>
            <a:ext cx="6222184" cy="438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95" dirty="0">
                <a:solidFill>
                  <a:srgbClr val="1A1A1A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// Declare Shared Memory</a:t>
            </a:r>
            <a:endParaRPr lang="en-US" sz="16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095" dirty="0">
                <a:solidFill>
                  <a:srgbClr val="1A1A1A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__shared__ float tile[32][32];</a:t>
            </a:r>
            <a:endParaRPr lang="en-US" sz="16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095" dirty="0">
                <a:solidFill>
                  <a:srgbClr val="1A1A1A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// Use inside the kernel function</a:t>
            </a:r>
            <a:endParaRPr lang="en-US" sz="16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095" dirty="0">
                <a:solidFill>
                  <a:srgbClr val="1A1A1A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__global__ void kernel(float* input, float* output) {</a:t>
            </a:r>
            <a:endParaRPr lang="en-US" sz="16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095" dirty="0">
                <a:solidFill>
                  <a:srgbClr val="1A1A1A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   // Get thread indices</a:t>
            </a:r>
            <a:endParaRPr lang="en-US" sz="16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095" dirty="0">
                <a:solidFill>
                  <a:srgbClr val="1A1A1A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    int tx = threadIdx.x;</a:t>
            </a:r>
            <a:endParaRPr lang="en-US" sz="16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095" dirty="0">
                <a:solidFill>
                  <a:srgbClr val="1A1A1A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    int ty = threadIdx.y;</a:t>
            </a:r>
            <a:endParaRPr lang="en-US" sz="16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095" dirty="0">
                <a:solidFill>
                  <a:srgbClr val="1A1A1A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    </a:t>
            </a:r>
            <a:endParaRPr lang="en-US" sz="16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095" dirty="0">
                <a:solidFill>
                  <a:srgbClr val="1A1A1A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   // Load data from Global Memory to Shared Memory</a:t>
            </a:r>
            <a:endParaRPr lang="en-US" sz="16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095" dirty="0">
                <a:solidFill>
                  <a:srgbClr val="1A1A1A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    tile[ty][tx] = input[...];</a:t>
            </a:r>
            <a:endParaRPr lang="en-US" sz="16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095" dirty="0">
                <a:solidFill>
                  <a:srgbClr val="1A1A1A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    </a:t>
            </a:r>
            <a:endParaRPr lang="en-US" sz="16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095" dirty="0">
                <a:solidFill>
                  <a:srgbClr val="1A1A1A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   // Sync threads to ensure data is loaded</a:t>
            </a:r>
            <a:endParaRPr lang="en-US" sz="16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095" dirty="0">
                <a:solidFill>
                  <a:srgbClr val="1A1A1A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    __syncthreads();</a:t>
            </a:r>
            <a:endParaRPr lang="en-US" sz="16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095" dirty="0">
                <a:solidFill>
                  <a:srgbClr val="1A1A1A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    </a:t>
            </a:r>
            <a:endParaRPr lang="en-US" sz="16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095" dirty="0">
                <a:solidFill>
                  <a:srgbClr val="1A1A1A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   // Compute using data in Shared Memory</a:t>
            </a:r>
            <a:endParaRPr lang="en-US" sz="16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095" dirty="0">
                <a:solidFill>
                  <a:srgbClr val="1A1A1A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    float result = tile[ty][tx] * 2.0f;</a:t>
            </a:r>
            <a:endParaRPr lang="en-US" sz="16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095" dirty="0">
                <a:solidFill>
                  <a:srgbClr val="1A1A1A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    </a:t>
            </a:r>
            <a:endParaRPr lang="en-US" sz="16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095" dirty="0">
                <a:solidFill>
                  <a:srgbClr val="1A1A1A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   // Write back to Global Memory</a:t>
            </a:r>
            <a:endParaRPr lang="en-US" sz="16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095" dirty="0">
                <a:solidFill>
                  <a:srgbClr val="1A1A1A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    output[...] = result;</a:t>
            </a:r>
            <a:endParaRPr lang="en-US" sz="16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095" dirty="0">
                <a:solidFill>
                  <a:srgbClr val="1A1A1A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}</a:t>
            </a:r>
            <a:endParaRPr lang="en-US" sz="16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70281" y="1218088"/>
            <a:ext cx="4473011" cy="2088565"/>
          </a:xfrm>
          <a:custGeom>
            <a:avLst/>
            <a:gdLst/>
            <a:ahLst/>
            <a:cxnLst/>
            <a:rect l="l" t="t" r="r" b="b"/>
            <a:pathLst>
              <a:path w="4473011" h="2088565">
                <a:moveTo>
                  <a:pt x="69612" y="0"/>
                </a:moveTo>
                <a:lnTo>
                  <a:pt x="4403399" y="0"/>
                </a:lnTo>
                <a:cubicBezTo>
                  <a:pt x="4441844" y="0"/>
                  <a:pt x="4473011" y="31166"/>
                  <a:pt x="4473011" y="69612"/>
                </a:cubicBezTo>
                <a:lnTo>
                  <a:pt x="4473011" y="2018953"/>
                </a:lnTo>
                <a:cubicBezTo>
                  <a:pt x="4473011" y="2057399"/>
                  <a:pt x="4441844" y="2088565"/>
                  <a:pt x="4403399" y="2088565"/>
                </a:cubicBezTo>
                <a:lnTo>
                  <a:pt x="69612" y="2088565"/>
                </a:lnTo>
                <a:cubicBezTo>
                  <a:pt x="31166" y="2088565"/>
                  <a:pt x="0" y="2057399"/>
                  <a:pt x="0" y="2018953"/>
                </a:cubicBezTo>
                <a:lnTo>
                  <a:pt x="0" y="69612"/>
                </a:lnTo>
                <a:cubicBezTo>
                  <a:pt x="0" y="31192"/>
                  <a:pt x="31192" y="0"/>
                  <a:pt x="69612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12" name="Shape 10"/>
          <p:cNvSpPr/>
          <p:nvPr/>
        </p:nvSpPr>
        <p:spPr>
          <a:xfrm>
            <a:off x="7566029" y="1426851"/>
            <a:ext cx="174047" cy="174047"/>
          </a:xfrm>
          <a:custGeom>
            <a:avLst/>
            <a:gdLst/>
            <a:ahLst/>
            <a:cxnLst/>
            <a:rect l="l" t="t" r="r" b="b"/>
            <a:pathLst>
              <a:path w="174047" h="174047">
                <a:moveTo>
                  <a:pt x="152291" y="87024"/>
                </a:moveTo>
                <a:cubicBezTo>
                  <a:pt x="152291" y="51001"/>
                  <a:pt x="123046" y="21756"/>
                  <a:pt x="87024" y="21756"/>
                </a:cubicBezTo>
                <a:cubicBezTo>
                  <a:pt x="51001" y="21756"/>
                  <a:pt x="21756" y="51001"/>
                  <a:pt x="21756" y="87024"/>
                </a:cubicBezTo>
                <a:cubicBezTo>
                  <a:pt x="21756" y="123046"/>
                  <a:pt x="51001" y="152291"/>
                  <a:pt x="87024" y="152291"/>
                </a:cubicBezTo>
                <a:cubicBezTo>
                  <a:pt x="123046" y="152291"/>
                  <a:pt x="152291" y="123046"/>
                  <a:pt x="152291" y="87024"/>
                </a:cubicBezTo>
                <a:close/>
                <a:moveTo>
                  <a:pt x="0" y="87024"/>
                </a:moveTo>
                <a:cubicBezTo>
                  <a:pt x="0" y="38994"/>
                  <a:pt x="38994" y="0"/>
                  <a:pt x="87024" y="0"/>
                </a:cubicBezTo>
                <a:cubicBezTo>
                  <a:pt x="135053" y="0"/>
                  <a:pt x="174047" y="38994"/>
                  <a:pt x="174047" y="87024"/>
                </a:cubicBezTo>
                <a:cubicBezTo>
                  <a:pt x="174047" y="135053"/>
                  <a:pt x="135053" y="174047"/>
                  <a:pt x="87024" y="174047"/>
                </a:cubicBezTo>
                <a:cubicBezTo>
                  <a:pt x="38994" y="174047"/>
                  <a:pt x="0" y="135053"/>
                  <a:pt x="0" y="87024"/>
                </a:cubicBezTo>
                <a:close/>
                <a:moveTo>
                  <a:pt x="87024" y="114218"/>
                </a:moveTo>
                <a:cubicBezTo>
                  <a:pt x="102033" y="114218"/>
                  <a:pt x="114218" y="102033"/>
                  <a:pt x="114218" y="87024"/>
                </a:cubicBezTo>
                <a:cubicBezTo>
                  <a:pt x="114218" y="72014"/>
                  <a:pt x="102033" y="59829"/>
                  <a:pt x="87024" y="59829"/>
                </a:cubicBezTo>
                <a:cubicBezTo>
                  <a:pt x="72014" y="59829"/>
                  <a:pt x="59829" y="72014"/>
                  <a:pt x="59829" y="87024"/>
                </a:cubicBezTo>
                <a:cubicBezTo>
                  <a:pt x="59829" y="102033"/>
                  <a:pt x="72014" y="114218"/>
                  <a:pt x="87024" y="114218"/>
                </a:cubicBezTo>
                <a:close/>
                <a:moveTo>
                  <a:pt x="87024" y="38073"/>
                </a:moveTo>
                <a:cubicBezTo>
                  <a:pt x="114040" y="38073"/>
                  <a:pt x="135974" y="60007"/>
                  <a:pt x="135974" y="87024"/>
                </a:cubicBezTo>
                <a:cubicBezTo>
                  <a:pt x="135974" y="114040"/>
                  <a:pt x="114040" y="135974"/>
                  <a:pt x="87024" y="135974"/>
                </a:cubicBezTo>
                <a:cubicBezTo>
                  <a:pt x="60007" y="135974"/>
                  <a:pt x="38073" y="114040"/>
                  <a:pt x="38073" y="87024"/>
                </a:cubicBezTo>
                <a:cubicBezTo>
                  <a:pt x="38073" y="60007"/>
                  <a:pt x="60007" y="38073"/>
                  <a:pt x="87024" y="38073"/>
                </a:cubicBezTo>
                <a:close/>
                <a:moveTo>
                  <a:pt x="76146" y="87024"/>
                </a:moveTo>
                <a:cubicBezTo>
                  <a:pt x="76146" y="81020"/>
                  <a:pt x="81020" y="76146"/>
                  <a:pt x="87024" y="76146"/>
                </a:cubicBezTo>
                <a:cubicBezTo>
                  <a:pt x="93027" y="76146"/>
                  <a:pt x="97901" y="81020"/>
                  <a:pt x="97901" y="87024"/>
                </a:cubicBezTo>
                <a:cubicBezTo>
                  <a:pt x="97901" y="93027"/>
                  <a:pt x="93027" y="97901"/>
                  <a:pt x="87024" y="97901"/>
                </a:cubicBezTo>
                <a:cubicBezTo>
                  <a:pt x="81020" y="97901"/>
                  <a:pt x="76146" y="93027"/>
                  <a:pt x="76146" y="8702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3" name="Text 11"/>
          <p:cNvSpPr/>
          <p:nvPr/>
        </p:nvSpPr>
        <p:spPr>
          <a:xfrm>
            <a:off x="7761832" y="1392079"/>
            <a:ext cx="3994381" cy="2436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Primary Uses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544273" y="1774970"/>
            <a:ext cx="4124916" cy="626570"/>
          </a:xfrm>
          <a:custGeom>
            <a:avLst/>
            <a:gdLst/>
            <a:ahLst/>
            <a:cxnLst/>
            <a:rect l="l" t="t" r="r" b="b"/>
            <a:pathLst>
              <a:path w="4124916" h="626570">
                <a:moveTo>
                  <a:pt x="69618" y="0"/>
                </a:moveTo>
                <a:lnTo>
                  <a:pt x="4055298" y="0"/>
                </a:lnTo>
                <a:cubicBezTo>
                  <a:pt x="4093747" y="0"/>
                  <a:pt x="4124916" y="31169"/>
                  <a:pt x="4124916" y="69618"/>
                </a:cubicBezTo>
                <a:lnTo>
                  <a:pt x="4124916" y="556951"/>
                </a:lnTo>
                <a:cubicBezTo>
                  <a:pt x="4124916" y="595400"/>
                  <a:pt x="4093747" y="626570"/>
                  <a:pt x="4055298" y="626570"/>
                </a:cubicBezTo>
                <a:lnTo>
                  <a:pt x="69618" y="626570"/>
                </a:lnTo>
                <a:cubicBezTo>
                  <a:pt x="31169" y="626570"/>
                  <a:pt x="0" y="595400"/>
                  <a:pt x="0" y="556951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7648656" y="1879356"/>
            <a:ext cx="3985679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Cache data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48656" y="2122958"/>
            <a:ext cx="3976976" cy="1740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Temporarily store frequently accessed data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544273" y="2505717"/>
            <a:ext cx="4124916" cy="626570"/>
          </a:xfrm>
          <a:custGeom>
            <a:avLst/>
            <a:gdLst/>
            <a:ahLst/>
            <a:cxnLst/>
            <a:rect l="l" t="t" r="r" b="b"/>
            <a:pathLst>
              <a:path w="4124916" h="626570">
                <a:moveTo>
                  <a:pt x="69618" y="0"/>
                </a:moveTo>
                <a:lnTo>
                  <a:pt x="4055298" y="0"/>
                </a:lnTo>
                <a:cubicBezTo>
                  <a:pt x="4093747" y="0"/>
                  <a:pt x="4124916" y="31169"/>
                  <a:pt x="4124916" y="69618"/>
                </a:cubicBezTo>
                <a:lnTo>
                  <a:pt x="4124916" y="556951"/>
                </a:lnTo>
                <a:cubicBezTo>
                  <a:pt x="4124916" y="595400"/>
                  <a:pt x="4093747" y="626570"/>
                  <a:pt x="4055298" y="626570"/>
                </a:cubicBezTo>
                <a:lnTo>
                  <a:pt x="69618" y="626570"/>
                </a:lnTo>
                <a:cubicBezTo>
                  <a:pt x="31169" y="626570"/>
                  <a:pt x="0" y="595400"/>
                  <a:pt x="0" y="556951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7648656" y="2610099"/>
            <a:ext cx="3985679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Reduce global memory accesses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48656" y="2853701"/>
            <a:ext cx="3976976" cy="1740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Reduce memory bandwidth pressure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70281" y="3445291"/>
            <a:ext cx="4473011" cy="3167657"/>
          </a:xfrm>
          <a:custGeom>
            <a:avLst/>
            <a:gdLst/>
            <a:ahLst/>
            <a:cxnLst/>
            <a:rect l="l" t="t" r="r" b="b"/>
            <a:pathLst>
              <a:path w="4473011" h="3167657">
                <a:moveTo>
                  <a:pt x="69625" y="0"/>
                </a:moveTo>
                <a:lnTo>
                  <a:pt x="4403386" y="0"/>
                </a:lnTo>
                <a:cubicBezTo>
                  <a:pt x="4441838" y="0"/>
                  <a:pt x="4473011" y="31172"/>
                  <a:pt x="4473011" y="69625"/>
                </a:cubicBezTo>
                <a:lnTo>
                  <a:pt x="4473011" y="3098032"/>
                </a:lnTo>
                <a:cubicBezTo>
                  <a:pt x="4473011" y="3136485"/>
                  <a:pt x="4441838" y="3167657"/>
                  <a:pt x="4403386" y="3167657"/>
                </a:cubicBezTo>
                <a:lnTo>
                  <a:pt x="69625" y="3167657"/>
                </a:lnTo>
                <a:cubicBezTo>
                  <a:pt x="31172" y="3167657"/>
                  <a:pt x="0" y="3136485"/>
                  <a:pt x="0" y="3098032"/>
                </a:cubicBezTo>
                <a:lnTo>
                  <a:pt x="0" y="69625"/>
                </a:lnTo>
                <a:cubicBezTo>
                  <a:pt x="0" y="31198"/>
                  <a:pt x="31198" y="0"/>
                  <a:pt x="69625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21" name="Shape 19"/>
          <p:cNvSpPr/>
          <p:nvPr/>
        </p:nvSpPr>
        <p:spPr>
          <a:xfrm>
            <a:off x="7561678" y="3662782"/>
            <a:ext cx="156642" cy="156642"/>
          </a:xfrm>
          <a:custGeom>
            <a:avLst/>
            <a:gdLst/>
            <a:ahLst/>
            <a:cxnLst/>
            <a:rect l="l" t="t" r="r" b="b"/>
            <a:pathLst>
              <a:path w="156642" h="156642">
                <a:moveTo>
                  <a:pt x="102797" y="107692"/>
                </a:moveTo>
                <a:cubicBezTo>
                  <a:pt x="132534" y="107692"/>
                  <a:pt x="156642" y="83583"/>
                  <a:pt x="156642" y="53846"/>
                </a:cubicBezTo>
                <a:cubicBezTo>
                  <a:pt x="156642" y="24108"/>
                  <a:pt x="132534" y="0"/>
                  <a:pt x="102797" y="0"/>
                </a:cubicBezTo>
                <a:cubicBezTo>
                  <a:pt x="73059" y="0"/>
                  <a:pt x="48951" y="24108"/>
                  <a:pt x="48951" y="53846"/>
                </a:cubicBezTo>
                <a:cubicBezTo>
                  <a:pt x="48951" y="59567"/>
                  <a:pt x="49838" y="65104"/>
                  <a:pt x="51490" y="70275"/>
                </a:cubicBezTo>
                <a:lnTo>
                  <a:pt x="2142" y="119623"/>
                </a:lnTo>
                <a:cubicBezTo>
                  <a:pt x="765" y="121000"/>
                  <a:pt x="0" y="122866"/>
                  <a:pt x="0" y="124824"/>
                </a:cubicBezTo>
                <a:lnTo>
                  <a:pt x="0" y="149300"/>
                </a:lnTo>
                <a:cubicBezTo>
                  <a:pt x="0" y="153369"/>
                  <a:pt x="3274" y="156642"/>
                  <a:pt x="7343" y="156642"/>
                </a:cubicBezTo>
                <a:lnTo>
                  <a:pt x="31818" y="156642"/>
                </a:lnTo>
                <a:cubicBezTo>
                  <a:pt x="35887" y="156642"/>
                  <a:pt x="39161" y="153369"/>
                  <a:pt x="39161" y="149300"/>
                </a:cubicBezTo>
                <a:lnTo>
                  <a:pt x="39161" y="137062"/>
                </a:lnTo>
                <a:lnTo>
                  <a:pt x="51398" y="137062"/>
                </a:lnTo>
                <a:cubicBezTo>
                  <a:pt x="55467" y="137062"/>
                  <a:pt x="58741" y="133789"/>
                  <a:pt x="58741" y="129719"/>
                </a:cubicBezTo>
                <a:lnTo>
                  <a:pt x="58741" y="117482"/>
                </a:lnTo>
                <a:lnTo>
                  <a:pt x="70979" y="117482"/>
                </a:lnTo>
                <a:cubicBezTo>
                  <a:pt x="72937" y="117482"/>
                  <a:pt x="74803" y="116717"/>
                  <a:pt x="76180" y="115340"/>
                </a:cubicBezTo>
                <a:lnTo>
                  <a:pt x="86367" y="105152"/>
                </a:lnTo>
                <a:cubicBezTo>
                  <a:pt x="91538" y="106804"/>
                  <a:pt x="97075" y="107692"/>
                  <a:pt x="102797" y="107692"/>
                </a:cubicBezTo>
                <a:close/>
                <a:moveTo>
                  <a:pt x="115034" y="29370"/>
                </a:moveTo>
                <a:cubicBezTo>
                  <a:pt x="121788" y="29370"/>
                  <a:pt x="127272" y="34854"/>
                  <a:pt x="127272" y="41608"/>
                </a:cubicBezTo>
                <a:cubicBezTo>
                  <a:pt x="127272" y="48362"/>
                  <a:pt x="121788" y="53846"/>
                  <a:pt x="115034" y="53846"/>
                </a:cubicBezTo>
                <a:cubicBezTo>
                  <a:pt x="108280" y="53846"/>
                  <a:pt x="102797" y="48362"/>
                  <a:pt x="102797" y="41608"/>
                </a:cubicBezTo>
                <a:cubicBezTo>
                  <a:pt x="102797" y="34854"/>
                  <a:pt x="108280" y="29370"/>
                  <a:pt x="115034" y="2937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22" name="Text 20"/>
          <p:cNvSpPr/>
          <p:nvPr/>
        </p:nvSpPr>
        <p:spPr>
          <a:xfrm>
            <a:off x="7735725" y="3619283"/>
            <a:ext cx="4011786" cy="2436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5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Keywords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561592" y="3967339"/>
            <a:ext cx="4107425" cy="626570"/>
          </a:xfrm>
          <a:custGeom>
            <a:avLst/>
            <a:gdLst/>
            <a:ahLst/>
            <a:cxnLst/>
            <a:rect l="l" t="t" r="r" b="b"/>
            <a:pathLst>
              <a:path w="4107425" h="626570">
                <a:moveTo>
                  <a:pt x="34636" y="0"/>
                </a:moveTo>
                <a:lnTo>
                  <a:pt x="4037807" y="0"/>
                </a:lnTo>
                <a:cubicBezTo>
                  <a:pt x="4076256" y="0"/>
                  <a:pt x="4107425" y="31169"/>
                  <a:pt x="4107425" y="69618"/>
                </a:cubicBezTo>
                <a:lnTo>
                  <a:pt x="4107425" y="556951"/>
                </a:lnTo>
                <a:cubicBezTo>
                  <a:pt x="4107425" y="595400"/>
                  <a:pt x="4076256" y="626570"/>
                  <a:pt x="4037807" y="626570"/>
                </a:cubicBezTo>
                <a:lnTo>
                  <a:pt x="34636" y="626570"/>
                </a:lnTo>
                <a:cubicBezTo>
                  <a:pt x="15507" y="626570"/>
                  <a:pt x="0" y="611062"/>
                  <a:pt x="0" y="591933"/>
                </a:cubicBezTo>
                <a:lnTo>
                  <a:pt x="0" y="34636"/>
                </a:lnTo>
                <a:cubicBezTo>
                  <a:pt x="0" y="15507"/>
                  <a:pt x="15507" y="0"/>
                  <a:pt x="34636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4" name="Shape 22"/>
          <p:cNvSpPr/>
          <p:nvPr/>
        </p:nvSpPr>
        <p:spPr>
          <a:xfrm>
            <a:off x="7561592" y="3967339"/>
            <a:ext cx="34636" cy="626570"/>
          </a:xfrm>
          <a:custGeom>
            <a:avLst/>
            <a:gdLst/>
            <a:ahLst/>
            <a:cxnLst/>
            <a:rect l="l" t="t" r="r" b="b"/>
            <a:pathLst>
              <a:path w="34636" h="626570">
                <a:moveTo>
                  <a:pt x="34636" y="0"/>
                </a:moveTo>
                <a:lnTo>
                  <a:pt x="34636" y="0"/>
                </a:lnTo>
                <a:lnTo>
                  <a:pt x="34636" y="626570"/>
                </a:lnTo>
                <a:lnTo>
                  <a:pt x="34636" y="626570"/>
                </a:lnTo>
                <a:cubicBezTo>
                  <a:pt x="15507" y="626570"/>
                  <a:pt x="0" y="611062"/>
                  <a:pt x="0" y="591933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25" name="Text 23"/>
          <p:cNvSpPr/>
          <p:nvPr/>
        </p:nvSpPr>
        <p:spPr>
          <a:xfrm>
            <a:off x="7683292" y="4071721"/>
            <a:ext cx="3950869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b="1" dirty="0">
                <a:solidFill>
                  <a:srgbClr val="8B263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__shared__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83292" y="4315323"/>
            <a:ext cx="3942167" cy="1740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Declare shared memory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561592" y="4663311"/>
            <a:ext cx="4107425" cy="626570"/>
          </a:xfrm>
          <a:custGeom>
            <a:avLst/>
            <a:gdLst/>
            <a:ahLst/>
            <a:cxnLst/>
            <a:rect l="l" t="t" r="r" b="b"/>
            <a:pathLst>
              <a:path w="4107425" h="626570">
                <a:moveTo>
                  <a:pt x="34636" y="0"/>
                </a:moveTo>
                <a:lnTo>
                  <a:pt x="4037807" y="0"/>
                </a:lnTo>
                <a:cubicBezTo>
                  <a:pt x="4076256" y="0"/>
                  <a:pt x="4107425" y="31169"/>
                  <a:pt x="4107425" y="69618"/>
                </a:cubicBezTo>
                <a:lnTo>
                  <a:pt x="4107425" y="556951"/>
                </a:lnTo>
                <a:cubicBezTo>
                  <a:pt x="4107425" y="595400"/>
                  <a:pt x="4076256" y="626570"/>
                  <a:pt x="4037807" y="626570"/>
                </a:cubicBezTo>
                <a:lnTo>
                  <a:pt x="34636" y="626570"/>
                </a:lnTo>
                <a:cubicBezTo>
                  <a:pt x="15507" y="626570"/>
                  <a:pt x="0" y="611062"/>
                  <a:pt x="0" y="591933"/>
                </a:cubicBezTo>
                <a:lnTo>
                  <a:pt x="0" y="34636"/>
                </a:lnTo>
                <a:cubicBezTo>
                  <a:pt x="0" y="15507"/>
                  <a:pt x="15507" y="0"/>
                  <a:pt x="34636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8" name="Shape 26"/>
          <p:cNvSpPr/>
          <p:nvPr/>
        </p:nvSpPr>
        <p:spPr>
          <a:xfrm>
            <a:off x="7561592" y="4663311"/>
            <a:ext cx="34636" cy="626570"/>
          </a:xfrm>
          <a:custGeom>
            <a:avLst/>
            <a:gdLst/>
            <a:ahLst/>
            <a:cxnLst/>
            <a:rect l="l" t="t" r="r" b="b"/>
            <a:pathLst>
              <a:path w="34636" h="626570">
                <a:moveTo>
                  <a:pt x="34636" y="0"/>
                </a:moveTo>
                <a:lnTo>
                  <a:pt x="34636" y="0"/>
                </a:lnTo>
                <a:lnTo>
                  <a:pt x="34636" y="626570"/>
                </a:lnTo>
                <a:lnTo>
                  <a:pt x="34636" y="626570"/>
                </a:lnTo>
                <a:cubicBezTo>
                  <a:pt x="15507" y="626570"/>
                  <a:pt x="0" y="611062"/>
                  <a:pt x="0" y="591933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29" name="Text 27"/>
          <p:cNvSpPr/>
          <p:nvPr/>
        </p:nvSpPr>
        <p:spPr>
          <a:xfrm>
            <a:off x="7683292" y="4767693"/>
            <a:ext cx="3950869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b="1" dirty="0">
                <a:solidFill>
                  <a:srgbClr val="B89A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__syncthreads()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83292" y="5011295"/>
            <a:ext cx="3942167" cy="1740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Thread synchronization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87137" y="6682495"/>
            <a:ext cx="11556728" cy="1740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507" y="609125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Shared Memory </a:t>
            </a:r>
            <a:r>
              <a:rPr lang="en-US" sz="2700" b="1" dirty="0" err="1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Optimization Principle</a:t>
            </a:r>
            <a:endParaRPr lang="en-US" sz="1600" dirty="0"/>
          </a:p>
        </p:txBody>
      </p:sp>
      <p:grpSp>
        <p:nvGrpSpPr>
          <p:cNvPr id="46" name="组合 45"/>
          <p:cNvGrpSpPr/>
          <p:nvPr/>
        </p:nvGrpSpPr>
        <p:grpSpPr>
          <a:xfrm>
            <a:off x="399911" y="1333235"/>
            <a:ext cx="5581555" cy="1714500"/>
            <a:chOff x="399911" y="1333235"/>
            <a:chExt cx="5581555" cy="1714500"/>
          </a:xfrm>
        </p:grpSpPr>
        <p:sp>
          <p:nvSpPr>
            <p:cNvPr id="5" name="Shape 3"/>
            <p:cNvSpPr/>
            <p:nvPr/>
          </p:nvSpPr>
          <p:spPr>
            <a:xfrm>
              <a:off x="399911" y="1333235"/>
              <a:ext cx="5581555" cy="1714500"/>
            </a:xfrm>
            <a:custGeom>
              <a:avLst/>
              <a:gdLst/>
              <a:ahLst/>
              <a:cxnLst/>
              <a:rect l="l" t="t" r="r" b="b"/>
              <a:pathLst>
                <a:path w="5581555" h="1714500">
                  <a:moveTo>
                    <a:pt x="37910" y="0"/>
                  </a:moveTo>
                  <a:lnTo>
                    <a:pt x="5505363" y="0"/>
                  </a:lnTo>
                  <a:cubicBezTo>
                    <a:pt x="5547443" y="0"/>
                    <a:pt x="5581555" y="34112"/>
                    <a:pt x="5581555" y="76192"/>
                  </a:cubicBezTo>
                  <a:lnTo>
                    <a:pt x="5581555" y="1638308"/>
                  </a:lnTo>
                  <a:cubicBezTo>
                    <a:pt x="5581555" y="1680388"/>
                    <a:pt x="5547443" y="1714500"/>
                    <a:pt x="5505363" y="1714500"/>
                  </a:cubicBezTo>
                  <a:lnTo>
                    <a:pt x="37910" y="1714500"/>
                  </a:lnTo>
                  <a:cubicBezTo>
                    <a:pt x="16973" y="1714500"/>
                    <a:pt x="0" y="1697527"/>
                    <a:pt x="0" y="1676590"/>
                  </a:cubicBezTo>
                  <a:lnTo>
                    <a:pt x="0" y="37910"/>
                  </a:lnTo>
                  <a:cubicBezTo>
                    <a:pt x="0" y="16987"/>
                    <a:pt x="16987" y="0"/>
                    <a:pt x="3791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6" name="Shape 4"/>
            <p:cNvSpPr/>
            <p:nvPr/>
          </p:nvSpPr>
          <p:spPr>
            <a:xfrm>
              <a:off x="399911" y="1333235"/>
              <a:ext cx="37910" cy="1714500"/>
            </a:xfrm>
            <a:custGeom>
              <a:avLst/>
              <a:gdLst/>
              <a:ahLst/>
              <a:cxnLst/>
              <a:rect l="l" t="t" r="r" b="b"/>
              <a:pathLst>
                <a:path w="37910" h="1714500">
                  <a:moveTo>
                    <a:pt x="37910" y="0"/>
                  </a:moveTo>
                  <a:lnTo>
                    <a:pt x="37910" y="0"/>
                  </a:lnTo>
                  <a:lnTo>
                    <a:pt x="37910" y="1714500"/>
                  </a:lnTo>
                  <a:lnTo>
                    <a:pt x="37910" y="1714500"/>
                  </a:lnTo>
                  <a:cubicBezTo>
                    <a:pt x="16973" y="1714500"/>
                    <a:pt x="0" y="1697527"/>
                    <a:pt x="0" y="1676590"/>
                  </a:cubicBezTo>
                  <a:lnTo>
                    <a:pt x="0" y="37910"/>
                  </a:lnTo>
                  <a:cubicBezTo>
                    <a:pt x="0" y="16987"/>
                    <a:pt x="16987" y="0"/>
                    <a:pt x="37910" y="0"/>
                  </a:cubicBezTo>
                  <a:close/>
                </a:path>
              </a:pathLst>
            </a:custGeom>
            <a:solidFill>
              <a:srgbClr val="4A4A4A"/>
            </a:solidFill>
          </p:spPr>
        </p:sp>
        <p:sp>
          <p:nvSpPr>
            <p:cNvPr id="7" name="Shape 5"/>
            <p:cNvSpPr/>
            <p:nvPr/>
          </p:nvSpPr>
          <p:spPr>
            <a:xfrm>
              <a:off x="633119" y="1561733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190500"/>
                  </a:moveTo>
                  <a:cubicBezTo>
                    <a:pt x="147820" y="190500"/>
                    <a:pt x="190500" y="147820"/>
                    <a:pt x="190500" y="95250"/>
                  </a:cubicBezTo>
                  <a:cubicBezTo>
                    <a:pt x="190500" y="42680"/>
                    <a:pt x="147820" y="0"/>
                    <a:pt x="95250" y="0"/>
                  </a:cubicBezTo>
                  <a:cubicBezTo>
                    <a:pt x="42680" y="0"/>
                    <a:pt x="0" y="42680"/>
                    <a:pt x="0" y="95250"/>
                  </a:cubicBezTo>
                  <a:cubicBezTo>
                    <a:pt x="0" y="147820"/>
                    <a:pt x="42680" y="190500"/>
                    <a:pt x="95250" y="190500"/>
                  </a:cubicBezTo>
                  <a:close/>
                  <a:moveTo>
                    <a:pt x="62136" y="62136"/>
                  </a:moveTo>
                  <a:cubicBezTo>
                    <a:pt x="65633" y="58638"/>
                    <a:pt x="71289" y="58638"/>
                    <a:pt x="74749" y="62136"/>
                  </a:cubicBezTo>
                  <a:lnTo>
                    <a:pt x="95213" y="82600"/>
                  </a:lnTo>
                  <a:lnTo>
                    <a:pt x="115677" y="62136"/>
                  </a:lnTo>
                  <a:cubicBezTo>
                    <a:pt x="119174" y="58638"/>
                    <a:pt x="124830" y="58638"/>
                    <a:pt x="128290" y="62136"/>
                  </a:cubicBezTo>
                  <a:cubicBezTo>
                    <a:pt x="131750" y="65633"/>
                    <a:pt x="131787" y="71289"/>
                    <a:pt x="128290" y="74749"/>
                  </a:cubicBezTo>
                  <a:lnTo>
                    <a:pt x="107826" y="95213"/>
                  </a:lnTo>
                  <a:lnTo>
                    <a:pt x="128290" y="115677"/>
                  </a:lnTo>
                  <a:cubicBezTo>
                    <a:pt x="131787" y="119174"/>
                    <a:pt x="131787" y="124830"/>
                    <a:pt x="128290" y="128290"/>
                  </a:cubicBezTo>
                  <a:cubicBezTo>
                    <a:pt x="124792" y="131750"/>
                    <a:pt x="119137" y="131787"/>
                    <a:pt x="115677" y="128290"/>
                  </a:cubicBezTo>
                  <a:lnTo>
                    <a:pt x="95213" y="107826"/>
                  </a:lnTo>
                  <a:lnTo>
                    <a:pt x="74749" y="128290"/>
                  </a:lnTo>
                  <a:cubicBezTo>
                    <a:pt x="71251" y="131787"/>
                    <a:pt x="65596" y="131787"/>
                    <a:pt x="62136" y="128290"/>
                  </a:cubicBezTo>
                  <a:cubicBezTo>
                    <a:pt x="58675" y="124792"/>
                    <a:pt x="58638" y="119137"/>
                    <a:pt x="62136" y="115677"/>
                  </a:cubicBezTo>
                  <a:lnTo>
                    <a:pt x="82600" y="95213"/>
                  </a:lnTo>
                  <a:lnTo>
                    <a:pt x="62136" y="74749"/>
                  </a:lnTo>
                  <a:cubicBezTo>
                    <a:pt x="58638" y="71251"/>
                    <a:pt x="58638" y="65596"/>
                    <a:pt x="62136" y="62136"/>
                  </a:cubicBezTo>
                  <a:close/>
                </a:path>
              </a:pathLst>
            </a:custGeom>
            <a:solidFill>
              <a:srgbClr val="4A4A4A"/>
            </a:solidFill>
          </p:spPr>
        </p:sp>
        <p:sp>
          <p:nvSpPr>
            <p:cNvPr id="8" name="Text 6"/>
            <p:cNvSpPr/>
            <p:nvPr/>
          </p:nvSpPr>
          <p:spPr>
            <a:xfrm>
              <a:off x="847432" y="1523674"/>
              <a:ext cx="5038725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Naive Approach</a:t>
              </a:r>
              <a:endParaRPr lang="en-US" sz="16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609307" y="201895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38100" y="0"/>
                  </a:lnTo>
                  <a:cubicBezTo>
                    <a:pt x="59128" y="0"/>
                    <a:pt x="76200" y="17072"/>
                    <a:pt x="76200" y="38100"/>
                  </a:cubicBezTo>
                  <a:lnTo>
                    <a:pt x="76200" y="38100"/>
                  </a:lnTo>
                  <a:cubicBezTo>
                    <a:pt x="76200" y="59128"/>
                    <a:pt x="59128" y="76200"/>
                    <a:pt x="38100" y="76200"/>
                  </a:cubicBezTo>
                  <a:lnTo>
                    <a:pt x="38100" y="76200"/>
                  </a:lnTo>
                  <a:cubicBezTo>
                    <a:pt x="17072" y="76200"/>
                    <a:pt x="0" y="59128"/>
                    <a:pt x="0" y="381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4A4A4A"/>
            </a:solidFill>
          </p:spPr>
        </p:sp>
        <p:sp>
          <p:nvSpPr>
            <p:cNvPr id="10" name="Text 8"/>
            <p:cNvSpPr/>
            <p:nvPr/>
          </p:nvSpPr>
          <p:spPr>
            <a:xfrm>
              <a:off x="761689" y="1942765"/>
              <a:ext cx="3331632" cy="26641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Read from global memory every time</a:t>
              </a:r>
              <a:endParaRPr lang="en-US" sz="16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609307" y="236177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38100" y="0"/>
                  </a:lnTo>
                  <a:cubicBezTo>
                    <a:pt x="59128" y="0"/>
                    <a:pt x="76200" y="17072"/>
                    <a:pt x="76200" y="38100"/>
                  </a:cubicBezTo>
                  <a:lnTo>
                    <a:pt x="76200" y="38100"/>
                  </a:lnTo>
                  <a:cubicBezTo>
                    <a:pt x="76200" y="59128"/>
                    <a:pt x="59128" y="76200"/>
                    <a:pt x="38100" y="76200"/>
                  </a:cubicBezTo>
                  <a:lnTo>
                    <a:pt x="38100" y="76200"/>
                  </a:lnTo>
                  <a:cubicBezTo>
                    <a:pt x="17072" y="76200"/>
                    <a:pt x="0" y="59128"/>
                    <a:pt x="0" y="381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4A4A4A"/>
            </a:solidFill>
          </p:spPr>
        </p:sp>
        <p:sp>
          <p:nvSpPr>
            <p:cNvPr id="12" name="Text 10"/>
            <p:cNvSpPr/>
            <p:nvPr/>
          </p:nvSpPr>
          <p:spPr>
            <a:xfrm>
              <a:off x="761689" y="2285586"/>
              <a:ext cx="2994102" cy="26641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High latency, poor performance</a:t>
              </a:r>
              <a:endParaRPr lang="en-US" sz="16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609307" y="270460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38100" y="0"/>
                  </a:lnTo>
                  <a:cubicBezTo>
                    <a:pt x="59128" y="0"/>
                    <a:pt x="76200" y="17072"/>
                    <a:pt x="76200" y="38100"/>
                  </a:cubicBezTo>
                  <a:lnTo>
                    <a:pt x="76200" y="38100"/>
                  </a:lnTo>
                  <a:cubicBezTo>
                    <a:pt x="76200" y="59128"/>
                    <a:pt x="59128" y="76200"/>
                    <a:pt x="38100" y="76200"/>
                  </a:cubicBezTo>
                  <a:lnTo>
                    <a:pt x="38100" y="76200"/>
                  </a:lnTo>
                  <a:cubicBezTo>
                    <a:pt x="17072" y="76200"/>
                    <a:pt x="0" y="59128"/>
                    <a:pt x="0" y="381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4A4A4A"/>
            </a:solidFill>
          </p:spPr>
        </p:sp>
        <p:sp>
          <p:nvSpPr>
            <p:cNvPr id="14" name="Text 12"/>
            <p:cNvSpPr/>
            <p:nvPr/>
          </p:nvSpPr>
          <p:spPr>
            <a:xfrm>
              <a:off x="761689" y="2628412"/>
              <a:ext cx="2994102" cy="26641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Frequent global memory accesses</a:t>
              </a:r>
              <a:endParaRPr lang="en-US" sz="1600" dirty="0"/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6210279" y="1333235"/>
            <a:ext cx="5600700" cy="1714500"/>
            <a:chOff x="6210279" y="1333235"/>
            <a:chExt cx="5600700" cy="1714500"/>
          </a:xfrm>
        </p:grpSpPr>
        <p:sp>
          <p:nvSpPr>
            <p:cNvPr id="15" name="Shape 13"/>
            <p:cNvSpPr/>
            <p:nvPr/>
          </p:nvSpPr>
          <p:spPr>
            <a:xfrm>
              <a:off x="6210279" y="1333235"/>
              <a:ext cx="5600700" cy="1714500"/>
            </a:xfrm>
            <a:custGeom>
              <a:avLst/>
              <a:gdLst/>
              <a:ahLst/>
              <a:cxnLst/>
              <a:rect l="l" t="t" r="r" b="b"/>
              <a:pathLst>
                <a:path w="5600700" h="1714500">
                  <a:moveTo>
                    <a:pt x="76192" y="0"/>
                  </a:moveTo>
                  <a:lnTo>
                    <a:pt x="5524508" y="0"/>
                  </a:lnTo>
                  <a:cubicBezTo>
                    <a:pt x="5566588" y="0"/>
                    <a:pt x="5600700" y="34112"/>
                    <a:pt x="5600700" y="76192"/>
                  </a:cubicBezTo>
                  <a:lnTo>
                    <a:pt x="5600700" y="1638308"/>
                  </a:lnTo>
                  <a:cubicBezTo>
                    <a:pt x="5600700" y="1680388"/>
                    <a:pt x="5566588" y="1714500"/>
                    <a:pt x="5524508" y="1714500"/>
                  </a:cubicBezTo>
                  <a:lnTo>
                    <a:pt x="76192" y="1714500"/>
                  </a:lnTo>
                  <a:cubicBezTo>
                    <a:pt x="34112" y="1714500"/>
                    <a:pt x="0" y="1680388"/>
                    <a:pt x="0" y="1638308"/>
                  </a:cubicBezTo>
                  <a:lnTo>
                    <a:pt x="0" y="76192"/>
                  </a:lnTo>
                  <a:cubicBezTo>
                    <a:pt x="0" y="34141"/>
                    <a:pt x="34141" y="0"/>
                    <a:pt x="76192" y="0"/>
                  </a:cubicBezTo>
                  <a:close/>
                </a:path>
              </a:pathLst>
            </a:custGeom>
            <a:solidFill>
              <a:srgbClr val="8B2635"/>
            </a:solidFill>
          </p:spPr>
        </p:sp>
        <p:sp>
          <p:nvSpPr>
            <p:cNvPr id="16" name="Shape 14"/>
            <p:cNvSpPr/>
            <p:nvPr/>
          </p:nvSpPr>
          <p:spPr>
            <a:xfrm>
              <a:off x="6424532" y="1561733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190500"/>
                  </a:moveTo>
                  <a:cubicBezTo>
                    <a:pt x="147820" y="190500"/>
                    <a:pt x="190500" y="147820"/>
                    <a:pt x="190500" y="95250"/>
                  </a:cubicBezTo>
                  <a:cubicBezTo>
                    <a:pt x="190500" y="42680"/>
                    <a:pt x="147820" y="0"/>
                    <a:pt x="95250" y="0"/>
                  </a:cubicBezTo>
                  <a:cubicBezTo>
                    <a:pt x="42680" y="0"/>
                    <a:pt x="0" y="42680"/>
                    <a:pt x="0" y="95250"/>
                  </a:cubicBezTo>
                  <a:cubicBezTo>
                    <a:pt x="0" y="147820"/>
                    <a:pt x="42680" y="190500"/>
                    <a:pt x="95250" y="190500"/>
                  </a:cubicBezTo>
                  <a:close/>
                  <a:moveTo>
                    <a:pt x="126653" y="79139"/>
                  </a:moveTo>
                  <a:lnTo>
                    <a:pt x="96887" y="126764"/>
                  </a:lnTo>
                  <a:cubicBezTo>
                    <a:pt x="95324" y="129257"/>
                    <a:pt x="92646" y="130820"/>
                    <a:pt x="89706" y="130969"/>
                  </a:cubicBezTo>
                  <a:cubicBezTo>
                    <a:pt x="86767" y="131118"/>
                    <a:pt x="83939" y="129778"/>
                    <a:pt x="82190" y="127397"/>
                  </a:cubicBezTo>
                  <a:lnTo>
                    <a:pt x="64331" y="103584"/>
                  </a:lnTo>
                  <a:cubicBezTo>
                    <a:pt x="61354" y="99640"/>
                    <a:pt x="62173" y="94059"/>
                    <a:pt x="66117" y="91083"/>
                  </a:cubicBezTo>
                  <a:cubicBezTo>
                    <a:pt x="70061" y="88106"/>
                    <a:pt x="75642" y="88925"/>
                    <a:pt x="78618" y="92869"/>
                  </a:cubicBezTo>
                  <a:lnTo>
                    <a:pt x="88664" y="106263"/>
                  </a:lnTo>
                  <a:lnTo>
                    <a:pt x="111509" y="69689"/>
                  </a:lnTo>
                  <a:cubicBezTo>
                    <a:pt x="114114" y="65522"/>
                    <a:pt x="119621" y="64219"/>
                    <a:pt x="123825" y="66861"/>
                  </a:cubicBezTo>
                  <a:cubicBezTo>
                    <a:pt x="128029" y="69503"/>
                    <a:pt x="129294" y="74972"/>
                    <a:pt x="126653" y="7917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 15"/>
            <p:cNvSpPr/>
            <p:nvPr/>
          </p:nvSpPr>
          <p:spPr>
            <a:xfrm>
              <a:off x="6638845" y="1523674"/>
              <a:ext cx="5076825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Optimized Approach</a:t>
              </a:r>
              <a:endParaRPr lang="en-US" sz="16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6400720" y="201895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38100" y="0"/>
                  </a:lnTo>
                  <a:cubicBezTo>
                    <a:pt x="59128" y="0"/>
                    <a:pt x="76200" y="17072"/>
                    <a:pt x="76200" y="38100"/>
                  </a:cubicBezTo>
                  <a:lnTo>
                    <a:pt x="76200" y="38100"/>
                  </a:lnTo>
                  <a:cubicBezTo>
                    <a:pt x="76200" y="59128"/>
                    <a:pt x="59128" y="76200"/>
                    <a:pt x="38100" y="76200"/>
                  </a:cubicBezTo>
                  <a:lnTo>
                    <a:pt x="38100" y="76200"/>
                  </a:lnTo>
                  <a:cubicBezTo>
                    <a:pt x="17072" y="76200"/>
                    <a:pt x="0" y="59128"/>
                    <a:pt x="0" y="381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 17"/>
            <p:cNvSpPr/>
            <p:nvPr/>
          </p:nvSpPr>
          <p:spPr>
            <a:xfrm>
              <a:off x="6553102" y="1942765"/>
              <a:ext cx="2149040" cy="22846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global → shared memory</a:t>
              </a:r>
              <a:endParaRPr lang="en-US" sz="16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6400720" y="236177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38100" y="0"/>
                  </a:lnTo>
                  <a:cubicBezTo>
                    <a:pt x="59128" y="0"/>
                    <a:pt x="76200" y="17072"/>
                    <a:pt x="76200" y="38100"/>
                  </a:cubicBezTo>
                  <a:lnTo>
                    <a:pt x="76200" y="38100"/>
                  </a:lnTo>
                  <a:cubicBezTo>
                    <a:pt x="76200" y="59128"/>
                    <a:pt x="59128" y="76200"/>
                    <a:pt x="38100" y="76200"/>
                  </a:cubicBezTo>
                  <a:lnTo>
                    <a:pt x="38100" y="76200"/>
                  </a:lnTo>
                  <a:cubicBezTo>
                    <a:pt x="17072" y="76200"/>
                    <a:pt x="0" y="59128"/>
                    <a:pt x="0" y="381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Text 19"/>
            <p:cNvSpPr/>
            <p:nvPr/>
          </p:nvSpPr>
          <p:spPr>
            <a:xfrm>
              <a:off x="6553101" y="2285586"/>
              <a:ext cx="3339601" cy="22846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shared memory → register</a:t>
              </a:r>
              <a:endParaRPr lang="en-US" sz="16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6400720" y="270460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38100" y="0"/>
                  </a:lnTo>
                  <a:cubicBezTo>
                    <a:pt x="59128" y="0"/>
                    <a:pt x="76200" y="17072"/>
                    <a:pt x="76200" y="38100"/>
                  </a:cubicBezTo>
                  <a:lnTo>
                    <a:pt x="76200" y="38100"/>
                  </a:lnTo>
                  <a:cubicBezTo>
                    <a:pt x="76200" y="59128"/>
                    <a:pt x="59128" y="76200"/>
                    <a:pt x="38100" y="76200"/>
                  </a:cubicBezTo>
                  <a:lnTo>
                    <a:pt x="38100" y="76200"/>
                  </a:lnTo>
                  <a:cubicBezTo>
                    <a:pt x="17072" y="76200"/>
                    <a:pt x="0" y="59128"/>
                    <a:pt x="0" y="381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3" name="Text 21"/>
            <p:cNvSpPr/>
            <p:nvPr/>
          </p:nvSpPr>
          <p:spPr>
            <a:xfrm>
              <a:off x="6553102" y="2628412"/>
              <a:ext cx="3517572" cy="26641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Reduce global memory accesses</a:t>
              </a:r>
              <a:endParaRPr lang="en-US" sz="1600" dirty="0"/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380956" y="3199805"/>
            <a:ext cx="11430000" cy="3390900"/>
            <a:chOff x="380956" y="3199805"/>
            <a:chExt cx="11430000" cy="3390900"/>
          </a:xfrm>
        </p:grpSpPr>
        <p:sp>
          <p:nvSpPr>
            <p:cNvPr id="24" name="Shape 22"/>
            <p:cNvSpPr/>
            <p:nvPr/>
          </p:nvSpPr>
          <p:spPr>
            <a:xfrm>
              <a:off x="380956" y="3199805"/>
              <a:ext cx="11430000" cy="3390900"/>
            </a:xfrm>
            <a:custGeom>
              <a:avLst/>
              <a:gdLst/>
              <a:ahLst/>
              <a:cxnLst/>
              <a:rect l="l" t="t" r="r" b="b"/>
              <a:pathLst>
                <a:path w="11430000" h="3390900">
                  <a:moveTo>
                    <a:pt x="76194" y="0"/>
                  </a:moveTo>
                  <a:lnTo>
                    <a:pt x="11353806" y="0"/>
                  </a:lnTo>
                  <a:cubicBezTo>
                    <a:pt x="11395887" y="0"/>
                    <a:pt x="11430000" y="34113"/>
                    <a:pt x="11430000" y="76194"/>
                  </a:cubicBezTo>
                  <a:lnTo>
                    <a:pt x="11430000" y="3314706"/>
                  </a:lnTo>
                  <a:cubicBezTo>
                    <a:pt x="11430000" y="3356787"/>
                    <a:pt x="11395887" y="3390900"/>
                    <a:pt x="11353806" y="3390900"/>
                  </a:cubicBezTo>
                  <a:lnTo>
                    <a:pt x="76194" y="3390900"/>
                  </a:lnTo>
                  <a:cubicBezTo>
                    <a:pt x="34113" y="3390900"/>
                    <a:pt x="0" y="3356787"/>
                    <a:pt x="0" y="3314706"/>
                  </a:cubicBezTo>
                  <a:lnTo>
                    <a:pt x="0" y="76194"/>
                  </a:lnTo>
                  <a:cubicBezTo>
                    <a:pt x="0" y="34113"/>
                    <a:pt x="34113" y="0"/>
                    <a:pt x="76194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25" name="Shape 23"/>
            <p:cNvSpPr/>
            <p:nvPr/>
          </p:nvSpPr>
          <p:spPr>
            <a:xfrm>
              <a:off x="595209" y="3428307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90500" y="35719"/>
                  </a:moveTo>
                  <a:cubicBezTo>
                    <a:pt x="190500" y="54397"/>
                    <a:pt x="168511" y="82265"/>
                    <a:pt x="159023" y="93390"/>
                  </a:cubicBezTo>
                  <a:cubicBezTo>
                    <a:pt x="157609" y="95027"/>
                    <a:pt x="155525" y="95659"/>
                    <a:pt x="153628" y="95250"/>
                  </a:cubicBezTo>
                  <a:lnTo>
                    <a:pt x="119063" y="95250"/>
                  </a:lnTo>
                  <a:cubicBezTo>
                    <a:pt x="112477" y="95250"/>
                    <a:pt x="107156" y="100571"/>
                    <a:pt x="107156" y="107156"/>
                  </a:cubicBezTo>
                  <a:cubicBezTo>
                    <a:pt x="107156" y="113742"/>
                    <a:pt x="112477" y="119063"/>
                    <a:pt x="119063" y="119063"/>
                  </a:cubicBezTo>
                  <a:lnTo>
                    <a:pt x="154781" y="119063"/>
                  </a:lnTo>
                  <a:cubicBezTo>
                    <a:pt x="174501" y="119063"/>
                    <a:pt x="190500" y="135062"/>
                    <a:pt x="190500" y="154781"/>
                  </a:cubicBezTo>
                  <a:cubicBezTo>
                    <a:pt x="190500" y="174501"/>
                    <a:pt x="174501" y="190500"/>
                    <a:pt x="154781" y="190500"/>
                  </a:cubicBezTo>
                  <a:lnTo>
                    <a:pt x="51941" y="190500"/>
                  </a:lnTo>
                  <a:cubicBezTo>
                    <a:pt x="55178" y="186817"/>
                    <a:pt x="59122" y="182091"/>
                    <a:pt x="63103" y="176808"/>
                  </a:cubicBezTo>
                  <a:cubicBezTo>
                    <a:pt x="65447" y="173682"/>
                    <a:pt x="67866" y="170259"/>
                    <a:pt x="70172" y="166688"/>
                  </a:cubicBezTo>
                  <a:lnTo>
                    <a:pt x="154781" y="166688"/>
                  </a:lnTo>
                  <a:cubicBezTo>
                    <a:pt x="161367" y="166688"/>
                    <a:pt x="166688" y="161367"/>
                    <a:pt x="166688" y="154781"/>
                  </a:cubicBezTo>
                  <a:cubicBezTo>
                    <a:pt x="166688" y="148196"/>
                    <a:pt x="161367" y="142875"/>
                    <a:pt x="154781" y="142875"/>
                  </a:cubicBezTo>
                  <a:lnTo>
                    <a:pt x="119063" y="142875"/>
                  </a:lnTo>
                  <a:cubicBezTo>
                    <a:pt x="99343" y="142875"/>
                    <a:pt x="83344" y="126876"/>
                    <a:pt x="83344" y="107156"/>
                  </a:cubicBezTo>
                  <a:cubicBezTo>
                    <a:pt x="83344" y="87437"/>
                    <a:pt x="99343" y="71438"/>
                    <a:pt x="119063" y="71438"/>
                  </a:cubicBezTo>
                  <a:lnTo>
                    <a:pt x="133871" y="71438"/>
                  </a:lnTo>
                  <a:cubicBezTo>
                    <a:pt x="126057" y="59717"/>
                    <a:pt x="119063" y="46248"/>
                    <a:pt x="119063" y="35719"/>
                  </a:cubicBezTo>
                  <a:cubicBezTo>
                    <a:pt x="119063" y="15999"/>
                    <a:pt x="135062" y="0"/>
                    <a:pt x="154781" y="0"/>
                  </a:cubicBezTo>
                  <a:cubicBezTo>
                    <a:pt x="174501" y="0"/>
                    <a:pt x="190500" y="15999"/>
                    <a:pt x="190500" y="35719"/>
                  </a:cubicBezTo>
                  <a:close/>
                  <a:moveTo>
                    <a:pt x="43569" y="181980"/>
                  </a:moveTo>
                  <a:cubicBezTo>
                    <a:pt x="42156" y="183579"/>
                    <a:pt x="40891" y="184993"/>
                    <a:pt x="39812" y="186184"/>
                  </a:cubicBezTo>
                  <a:lnTo>
                    <a:pt x="39142" y="186928"/>
                  </a:lnTo>
                  <a:lnTo>
                    <a:pt x="39067" y="186854"/>
                  </a:lnTo>
                  <a:cubicBezTo>
                    <a:pt x="36835" y="188565"/>
                    <a:pt x="33635" y="188342"/>
                    <a:pt x="31626" y="186184"/>
                  </a:cubicBezTo>
                  <a:cubicBezTo>
                    <a:pt x="22250" y="175989"/>
                    <a:pt x="0" y="149758"/>
                    <a:pt x="0" y="130969"/>
                  </a:cubicBezTo>
                  <a:cubicBezTo>
                    <a:pt x="0" y="111249"/>
                    <a:pt x="15999" y="95250"/>
                    <a:pt x="35719" y="95250"/>
                  </a:cubicBezTo>
                  <a:cubicBezTo>
                    <a:pt x="55438" y="95250"/>
                    <a:pt x="71438" y="111249"/>
                    <a:pt x="71438" y="130969"/>
                  </a:cubicBezTo>
                  <a:cubicBezTo>
                    <a:pt x="71438" y="142131"/>
                    <a:pt x="63587" y="155897"/>
                    <a:pt x="55252" y="167394"/>
                  </a:cubicBezTo>
                  <a:cubicBezTo>
                    <a:pt x="51271" y="172864"/>
                    <a:pt x="47179" y="177812"/>
                    <a:pt x="43793" y="181719"/>
                  </a:cubicBezTo>
                  <a:lnTo>
                    <a:pt x="43569" y="181980"/>
                  </a:lnTo>
                  <a:close/>
                  <a:moveTo>
                    <a:pt x="47625" y="130969"/>
                  </a:moveTo>
                  <a:cubicBezTo>
                    <a:pt x="47625" y="124398"/>
                    <a:pt x="42290" y="119063"/>
                    <a:pt x="35719" y="119063"/>
                  </a:cubicBezTo>
                  <a:cubicBezTo>
                    <a:pt x="29148" y="119063"/>
                    <a:pt x="23812" y="124398"/>
                    <a:pt x="23812" y="130969"/>
                  </a:cubicBezTo>
                  <a:cubicBezTo>
                    <a:pt x="23812" y="137540"/>
                    <a:pt x="29148" y="142875"/>
                    <a:pt x="35719" y="142875"/>
                  </a:cubicBezTo>
                  <a:cubicBezTo>
                    <a:pt x="42290" y="142875"/>
                    <a:pt x="47625" y="137540"/>
                    <a:pt x="47625" y="130969"/>
                  </a:cubicBezTo>
                  <a:close/>
                  <a:moveTo>
                    <a:pt x="154781" y="47625"/>
                  </a:moveTo>
                  <a:cubicBezTo>
                    <a:pt x="161352" y="47625"/>
                    <a:pt x="166688" y="42290"/>
                    <a:pt x="166688" y="35719"/>
                  </a:cubicBezTo>
                  <a:cubicBezTo>
                    <a:pt x="166688" y="29148"/>
                    <a:pt x="161352" y="23812"/>
                    <a:pt x="154781" y="23812"/>
                  </a:cubicBezTo>
                  <a:cubicBezTo>
                    <a:pt x="148210" y="23812"/>
                    <a:pt x="142875" y="29148"/>
                    <a:pt x="142875" y="35719"/>
                  </a:cubicBezTo>
                  <a:cubicBezTo>
                    <a:pt x="142875" y="42290"/>
                    <a:pt x="148210" y="47625"/>
                    <a:pt x="154781" y="47625"/>
                  </a:cubicBezTo>
                  <a:close/>
                </a:path>
              </a:pathLst>
            </a:custGeom>
            <a:solidFill>
              <a:srgbClr val="8B2635"/>
            </a:solidFill>
          </p:spPr>
        </p:sp>
        <p:sp>
          <p:nvSpPr>
            <p:cNvPr id="26" name="Text 24"/>
            <p:cNvSpPr/>
            <p:nvPr/>
          </p:nvSpPr>
          <p:spPr>
            <a:xfrm>
              <a:off x="809521" y="3390249"/>
              <a:ext cx="10906125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Memory Access Flow Comparison</a:t>
              </a:r>
              <a:endParaRPr lang="en-US" sz="16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533296" y="3809335"/>
              <a:ext cx="548640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b="1" dirty="0">
                  <a:solidFill>
                    <a:srgbClr val="4A4A4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Naive</a:t>
              </a:r>
              <a:endParaRPr lang="en-US" sz="16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571396" y="4114098"/>
              <a:ext cx="5410200" cy="457200"/>
            </a:xfrm>
            <a:custGeom>
              <a:avLst/>
              <a:gdLst/>
              <a:ahLst/>
              <a:cxnLst/>
              <a:rect l="l" t="t" r="r" b="b"/>
              <a:pathLst>
                <a:path w="5410200" h="457200">
                  <a:moveTo>
                    <a:pt x="76202" y="0"/>
                  </a:moveTo>
                  <a:lnTo>
                    <a:pt x="5333998" y="0"/>
                  </a:lnTo>
                  <a:cubicBezTo>
                    <a:pt x="5376083" y="0"/>
                    <a:pt x="5410200" y="34117"/>
                    <a:pt x="5410200" y="76202"/>
                  </a:cubicBezTo>
                  <a:lnTo>
                    <a:pt x="5410200" y="380998"/>
                  </a:lnTo>
                  <a:cubicBezTo>
                    <a:pt x="5410200" y="423083"/>
                    <a:pt x="5376083" y="457200"/>
                    <a:pt x="5333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4A4A4A"/>
            </a:solidFill>
          </p:spPr>
        </p:sp>
        <p:sp>
          <p:nvSpPr>
            <p:cNvPr id="29" name="Text 27"/>
            <p:cNvSpPr/>
            <p:nvPr/>
          </p:nvSpPr>
          <p:spPr>
            <a:xfrm>
              <a:off x="647546" y="4228351"/>
              <a:ext cx="525780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Global Memory</a:t>
              </a:r>
              <a:endParaRPr lang="en-US" sz="16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3162190" y="4647363"/>
              <a:ext cx="342900" cy="304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dirty="0">
                  <a:solidFill>
                    <a:srgbClr val="4A4A4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↓</a:t>
              </a:r>
              <a:endParaRPr lang="en-US" sz="16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571396" y="5028247"/>
              <a:ext cx="5410200" cy="457200"/>
            </a:xfrm>
            <a:custGeom>
              <a:avLst/>
              <a:gdLst/>
              <a:ahLst/>
              <a:cxnLst/>
              <a:rect l="l" t="t" r="r" b="b"/>
              <a:pathLst>
                <a:path w="5410200" h="457200">
                  <a:moveTo>
                    <a:pt x="76202" y="0"/>
                  </a:moveTo>
                  <a:lnTo>
                    <a:pt x="5333998" y="0"/>
                  </a:lnTo>
                  <a:cubicBezTo>
                    <a:pt x="5376083" y="0"/>
                    <a:pt x="5410200" y="34117"/>
                    <a:pt x="5410200" y="76202"/>
                  </a:cubicBezTo>
                  <a:lnTo>
                    <a:pt x="5410200" y="380998"/>
                  </a:lnTo>
                  <a:cubicBezTo>
                    <a:pt x="5410200" y="423083"/>
                    <a:pt x="5376083" y="457200"/>
                    <a:pt x="5333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8B2635"/>
            </a:solidFill>
          </p:spPr>
        </p:sp>
        <p:sp>
          <p:nvSpPr>
            <p:cNvPr id="32" name="Text 30"/>
            <p:cNvSpPr/>
            <p:nvPr/>
          </p:nvSpPr>
          <p:spPr>
            <a:xfrm>
              <a:off x="647546" y="5142495"/>
              <a:ext cx="525780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Register</a:t>
              </a:r>
              <a:endParaRPr lang="en-US" sz="16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3162190" y="5561507"/>
              <a:ext cx="342900" cy="304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dirty="0">
                  <a:solidFill>
                    <a:srgbClr val="4A4A4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↓</a:t>
              </a:r>
              <a:endParaRPr lang="en-US" sz="16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571396" y="5942391"/>
              <a:ext cx="5410200" cy="457200"/>
            </a:xfrm>
            <a:custGeom>
              <a:avLst/>
              <a:gdLst/>
              <a:ahLst/>
              <a:cxnLst/>
              <a:rect l="l" t="t" r="r" b="b"/>
              <a:pathLst>
                <a:path w="5410200" h="457200">
                  <a:moveTo>
                    <a:pt x="76202" y="0"/>
                  </a:moveTo>
                  <a:lnTo>
                    <a:pt x="5333998" y="0"/>
                  </a:lnTo>
                  <a:cubicBezTo>
                    <a:pt x="5376083" y="0"/>
                    <a:pt x="5410200" y="34117"/>
                    <a:pt x="5410200" y="76202"/>
                  </a:cubicBezTo>
                  <a:lnTo>
                    <a:pt x="5410200" y="380998"/>
                  </a:lnTo>
                  <a:cubicBezTo>
                    <a:pt x="5410200" y="423083"/>
                    <a:pt x="5376083" y="457200"/>
                    <a:pt x="5333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4A4A4A"/>
            </a:solidFill>
          </p:spPr>
        </p:sp>
        <p:sp>
          <p:nvSpPr>
            <p:cNvPr id="35" name="Text 33"/>
            <p:cNvSpPr/>
            <p:nvPr/>
          </p:nvSpPr>
          <p:spPr>
            <a:xfrm>
              <a:off x="647546" y="6056640"/>
              <a:ext cx="525780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Global Memory</a:t>
              </a:r>
              <a:endParaRPr lang="en-US" sz="16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6172179" y="3809335"/>
              <a:ext cx="548640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b="1" dirty="0">
                  <a:solidFill>
                    <a:srgbClr val="8B263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Optimized</a:t>
              </a:r>
              <a:endParaRPr lang="en-US" sz="16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6210279" y="4114098"/>
              <a:ext cx="5410200" cy="457200"/>
            </a:xfrm>
            <a:custGeom>
              <a:avLst/>
              <a:gdLst/>
              <a:ahLst/>
              <a:cxnLst/>
              <a:rect l="l" t="t" r="r" b="b"/>
              <a:pathLst>
                <a:path w="5410200" h="457200">
                  <a:moveTo>
                    <a:pt x="76202" y="0"/>
                  </a:moveTo>
                  <a:lnTo>
                    <a:pt x="5333998" y="0"/>
                  </a:lnTo>
                  <a:cubicBezTo>
                    <a:pt x="5376083" y="0"/>
                    <a:pt x="5410200" y="34117"/>
                    <a:pt x="5410200" y="76202"/>
                  </a:cubicBezTo>
                  <a:lnTo>
                    <a:pt x="5410200" y="380998"/>
                  </a:lnTo>
                  <a:cubicBezTo>
                    <a:pt x="5410200" y="423083"/>
                    <a:pt x="5376083" y="457200"/>
                    <a:pt x="5333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4A4A4A"/>
            </a:solidFill>
          </p:spPr>
        </p:sp>
        <p:sp>
          <p:nvSpPr>
            <p:cNvPr id="38" name="Text 36"/>
            <p:cNvSpPr/>
            <p:nvPr/>
          </p:nvSpPr>
          <p:spPr>
            <a:xfrm>
              <a:off x="6286429" y="4228351"/>
              <a:ext cx="525780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Global Memory</a:t>
              </a:r>
              <a:endParaRPr lang="en-US" sz="16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8801073" y="4647363"/>
              <a:ext cx="342900" cy="304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dirty="0">
                  <a:solidFill>
                    <a:srgbClr val="8B263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↓</a:t>
              </a:r>
              <a:endParaRPr lang="en-US" sz="16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6210279" y="5028247"/>
              <a:ext cx="5410200" cy="457200"/>
            </a:xfrm>
            <a:custGeom>
              <a:avLst/>
              <a:gdLst/>
              <a:ahLst/>
              <a:cxnLst/>
              <a:rect l="l" t="t" r="r" b="b"/>
              <a:pathLst>
                <a:path w="5410200" h="457200">
                  <a:moveTo>
                    <a:pt x="76202" y="0"/>
                  </a:moveTo>
                  <a:lnTo>
                    <a:pt x="5333998" y="0"/>
                  </a:lnTo>
                  <a:cubicBezTo>
                    <a:pt x="5376083" y="0"/>
                    <a:pt x="5410200" y="34117"/>
                    <a:pt x="5410200" y="76202"/>
                  </a:cubicBezTo>
                  <a:lnTo>
                    <a:pt x="5410200" y="380998"/>
                  </a:lnTo>
                  <a:cubicBezTo>
                    <a:pt x="5410200" y="423083"/>
                    <a:pt x="5376083" y="457200"/>
                    <a:pt x="5333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B89A6A"/>
            </a:solidFill>
          </p:spPr>
        </p:sp>
        <p:sp>
          <p:nvSpPr>
            <p:cNvPr id="41" name="Text 39"/>
            <p:cNvSpPr/>
            <p:nvPr/>
          </p:nvSpPr>
          <p:spPr>
            <a:xfrm>
              <a:off x="6286429" y="5142495"/>
              <a:ext cx="525780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Shared Memory</a:t>
              </a:r>
              <a:endParaRPr lang="en-US" sz="16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8801073" y="5561507"/>
              <a:ext cx="342900" cy="304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dirty="0">
                  <a:solidFill>
                    <a:srgbClr val="8B263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↓</a:t>
              </a:r>
              <a:endParaRPr lang="en-US" sz="160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6210279" y="5942391"/>
              <a:ext cx="5410200" cy="457200"/>
            </a:xfrm>
            <a:custGeom>
              <a:avLst/>
              <a:gdLst/>
              <a:ahLst/>
              <a:cxnLst/>
              <a:rect l="l" t="t" r="r" b="b"/>
              <a:pathLst>
                <a:path w="5410200" h="457200">
                  <a:moveTo>
                    <a:pt x="76202" y="0"/>
                  </a:moveTo>
                  <a:lnTo>
                    <a:pt x="5333998" y="0"/>
                  </a:lnTo>
                  <a:cubicBezTo>
                    <a:pt x="5376083" y="0"/>
                    <a:pt x="5410200" y="34117"/>
                    <a:pt x="5410200" y="76202"/>
                  </a:cubicBezTo>
                  <a:lnTo>
                    <a:pt x="5410200" y="380998"/>
                  </a:lnTo>
                  <a:cubicBezTo>
                    <a:pt x="5410200" y="423083"/>
                    <a:pt x="5376083" y="457200"/>
                    <a:pt x="5333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8B2635"/>
            </a:solidFill>
          </p:spPr>
        </p:sp>
        <p:sp>
          <p:nvSpPr>
            <p:cNvPr id="44" name="Text 42"/>
            <p:cNvSpPr/>
            <p:nvPr/>
          </p:nvSpPr>
          <p:spPr>
            <a:xfrm>
              <a:off x="6286429" y="6056640"/>
              <a:ext cx="525780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Register</a:t>
              </a:r>
              <a:endParaRPr lang="en-US" sz="1600" dirty="0"/>
            </a:p>
          </p:txBody>
        </p:sp>
      </p:grpSp>
      <p:sp>
        <p:nvSpPr>
          <p:cNvPr id="45" name="Text 43"/>
          <p:cNvSpPr/>
          <p:nvPr/>
        </p:nvSpPr>
        <p:spPr>
          <a:xfrm>
            <a:off x="314281" y="6666095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74601" y="634733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Bank Structure Introduction</a:t>
            </a:r>
            <a:endParaRPr lang="en-US" sz="1600" dirty="0"/>
          </a:p>
        </p:txBody>
      </p:sp>
      <p:grpSp>
        <p:nvGrpSpPr>
          <p:cNvPr id="29" name="组合 28"/>
          <p:cNvGrpSpPr/>
          <p:nvPr/>
        </p:nvGrpSpPr>
        <p:grpSpPr>
          <a:xfrm>
            <a:off x="353160" y="1341841"/>
            <a:ext cx="5683250" cy="952500"/>
            <a:chOff x="317463" y="1111029"/>
            <a:chExt cx="5683250" cy="952500"/>
          </a:xfrm>
        </p:grpSpPr>
        <p:sp>
          <p:nvSpPr>
            <p:cNvPr id="5" name="Shape 3"/>
            <p:cNvSpPr/>
            <p:nvPr/>
          </p:nvSpPr>
          <p:spPr>
            <a:xfrm>
              <a:off x="317463" y="1111029"/>
              <a:ext cx="5683250" cy="952500"/>
            </a:xfrm>
            <a:custGeom>
              <a:avLst/>
              <a:gdLst/>
              <a:ahLst/>
              <a:cxnLst/>
              <a:rect l="l" t="t" r="r" b="b"/>
              <a:pathLst>
                <a:path w="5683250" h="952500">
                  <a:moveTo>
                    <a:pt x="63503" y="0"/>
                  </a:moveTo>
                  <a:lnTo>
                    <a:pt x="5619747" y="0"/>
                  </a:lnTo>
                  <a:cubicBezTo>
                    <a:pt x="5654819" y="0"/>
                    <a:pt x="5683250" y="28431"/>
                    <a:pt x="5683250" y="63503"/>
                  </a:cubicBezTo>
                  <a:lnTo>
                    <a:pt x="5683250" y="888997"/>
                  </a:lnTo>
                  <a:cubicBezTo>
                    <a:pt x="5683250" y="924069"/>
                    <a:pt x="5654819" y="952500"/>
                    <a:pt x="5619747" y="952500"/>
                  </a:cubicBezTo>
                  <a:lnTo>
                    <a:pt x="63503" y="952500"/>
                  </a:lnTo>
                  <a:cubicBezTo>
                    <a:pt x="28431" y="952500"/>
                    <a:pt x="0" y="924069"/>
                    <a:pt x="0" y="888997"/>
                  </a:cubicBezTo>
                  <a:lnTo>
                    <a:pt x="0" y="63503"/>
                  </a:lnTo>
                  <a:cubicBezTo>
                    <a:pt x="0" y="28431"/>
                    <a:pt x="28431" y="0"/>
                    <a:pt x="63503" y="0"/>
                  </a:cubicBezTo>
                  <a:close/>
                </a:path>
              </a:pathLst>
            </a:custGeom>
            <a:solidFill>
              <a:srgbClr val="8B2635"/>
            </a:solidFill>
          </p:spPr>
        </p:sp>
        <p:sp>
          <p:nvSpPr>
            <p:cNvPr id="6" name="Text 4"/>
            <p:cNvSpPr/>
            <p:nvPr/>
          </p:nvSpPr>
          <p:spPr>
            <a:xfrm>
              <a:off x="507941" y="1301506"/>
              <a:ext cx="5397500" cy="254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Shared Memory is divided into multiple Banks</a:t>
              </a:r>
              <a:endParaRPr lang="en-US" sz="16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507941" y="1650624"/>
              <a:ext cx="5373688" cy="2222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25" dirty="0">
                  <a:solidFill>
                    <a:srgbClr val="FFFFFF">
                      <a:alpha val="9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Key structure enabling parallel access</a:t>
              </a:r>
              <a:endParaRPr lang="en-US" sz="1600" dirty="0"/>
            </a:p>
          </p:txBody>
        </p:sp>
      </p:grpSp>
      <p:sp>
        <p:nvSpPr>
          <p:cNvPr id="8" name="Shape 6"/>
          <p:cNvSpPr/>
          <p:nvPr/>
        </p:nvSpPr>
        <p:spPr>
          <a:xfrm>
            <a:off x="353160" y="2542870"/>
            <a:ext cx="5683250" cy="4444985"/>
          </a:xfrm>
          <a:custGeom>
            <a:avLst/>
            <a:gdLst/>
            <a:ahLst/>
            <a:cxnLst/>
            <a:rect l="l" t="t" r="r" b="b"/>
            <a:pathLst>
              <a:path w="5683250" h="5937250">
                <a:moveTo>
                  <a:pt x="63482" y="0"/>
                </a:moveTo>
                <a:lnTo>
                  <a:pt x="5619768" y="0"/>
                </a:lnTo>
                <a:cubicBezTo>
                  <a:pt x="5654828" y="0"/>
                  <a:pt x="5683250" y="28422"/>
                  <a:pt x="5683250" y="63482"/>
                </a:cubicBezTo>
                <a:lnTo>
                  <a:pt x="5683250" y="5873768"/>
                </a:lnTo>
                <a:cubicBezTo>
                  <a:pt x="5683250" y="5908828"/>
                  <a:pt x="5654828" y="5937250"/>
                  <a:pt x="5619768" y="5937250"/>
                </a:cubicBezTo>
                <a:lnTo>
                  <a:pt x="63482" y="5937250"/>
                </a:lnTo>
                <a:cubicBezTo>
                  <a:pt x="28422" y="5937250"/>
                  <a:pt x="0" y="5908828"/>
                  <a:pt x="0" y="5873768"/>
                </a:cubicBezTo>
                <a:lnTo>
                  <a:pt x="0" y="63482"/>
                </a:lnTo>
                <a:cubicBezTo>
                  <a:pt x="0" y="28445"/>
                  <a:pt x="28445" y="0"/>
                  <a:pt x="63482" y="0"/>
                </a:cubicBezTo>
                <a:close/>
              </a:path>
            </a:pathLst>
          </a:custGeom>
          <a:solidFill>
            <a:srgbClr val="F8F8F8"/>
          </a:solidFill>
        </p:spPr>
      </p:sp>
      <p:grpSp>
        <p:nvGrpSpPr>
          <p:cNvPr id="28" name="组合 27"/>
          <p:cNvGrpSpPr/>
          <p:nvPr/>
        </p:nvGrpSpPr>
        <p:grpSpPr>
          <a:xfrm>
            <a:off x="545324" y="2793822"/>
            <a:ext cx="5445125" cy="1835626"/>
            <a:chOff x="476164" y="2349043"/>
            <a:chExt cx="5445125" cy="1835626"/>
          </a:xfrm>
        </p:grpSpPr>
        <p:sp>
          <p:nvSpPr>
            <p:cNvPr id="10" name="Text 8"/>
            <p:cNvSpPr/>
            <p:nvPr/>
          </p:nvSpPr>
          <p:spPr>
            <a:xfrm>
              <a:off x="674601" y="2349043"/>
              <a:ext cx="5246688" cy="2222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50" b="1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Bank Characteristics</a:t>
              </a:r>
              <a:endParaRPr lang="en-US" sz="1600" dirty="0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476164" y="2380758"/>
              <a:ext cx="4020538" cy="1803911"/>
              <a:chOff x="476164" y="2380758"/>
              <a:chExt cx="4020538" cy="1803911"/>
            </a:xfrm>
          </p:grpSpPr>
          <p:sp>
            <p:nvSpPr>
              <p:cNvPr id="9" name="Shape 7"/>
              <p:cNvSpPr/>
              <p:nvPr/>
            </p:nvSpPr>
            <p:spPr>
              <a:xfrm>
                <a:off x="496007" y="2380758"/>
                <a:ext cx="158750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158750">
                    <a:moveTo>
                      <a:pt x="79375" y="158750"/>
                    </a:moveTo>
                    <a:cubicBezTo>
                      <a:pt x="123183" y="158750"/>
                      <a:pt x="158750" y="123183"/>
                      <a:pt x="158750" y="79375"/>
                    </a:cubicBezTo>
                    <a:cubicBezTo>
                      <a:pt x="158750" y="35567"/>
                      <a:pt x="123183" y="0"/>
                      <a:pt x="79375" y="0"/>
                    </a:cubicBezTo>
                    <a:cubicBezTo>
                      <a:pt x="35567" y="0"/>
                      <a:pt x="0" y="35567"/>
                      <a:pt x="0" y="79375"/>
                    </a:cubicBezTo>
                    <a:cubicBezTo>
                      <a:pt x="0" y="123183"/>
                      <a:pt x="35567" y="158750"/>
                      <a:pt x="79375" y="158750"/>
                    </a:cubicBezTo>
                    <a:close/>
                    <a:moveTo>
                      <a:pt x="69453" y="49609"/>
                    </a:moveTo>
                    <a:cubicBezTo>
                      <a:pt x="69453" y="44133"/>
                      <a:pt x="73899" y="39688"/>
                      <a:pt x="79375" y="39688"/>
                    </a:cubicBezTo>
                    <a:cubicBezTo>
                      <a:pt x="84851" y="39688"/>
                      <a:pt x="89297" y="44133"/>
                      <a:pt x="89297" y="49609"/>
                    </a:cubicBezTo>
                    <a:cubicBezTo>
                      <a:pt x="89297" y="55085"/>
                      <a:pt x="84851" y="59531"/>
                      <a:pt x="79375" y="59531"/>
                    </a:cubicBezTo>
                    <a:cubicBezTo>
                      <a:pt x="73899" y="59531"/>
                      <a:pt x="69453" y="55085"/>
                      <a:pt x="69453" y="49609"/>
                    </a:cubicBezTo>
                    <a:close/>
                    <a:moveTo>
                      <a:pt x="66973" y="69453"/>
                    </a:moveTo>
                    <a:lnTo>
                      <a:pt x="81855" y="69453"/>
                    </a:lnTo>
                    <a:cubicBezTo>
                      <a:pt x="85979" y="69453"/>
                      <a:pt x="89297" y="72771"/>
                      <a:pt x="89297" y="76895"/>
                    </a:cubicBezTo>
                    <a:lnTo>
                      <a:pt x="89297" y="104180"/>
                    </a:lnTo>
                    <a:lnTo>
                      <a:pt x="91777" y="104180"/>
                    </a:lnTo>
                    <a:cubicBezTo>
                      <a:pt x="95901" y="104180"/>
                      <a:pt x="99219" y="107497"/>
                      <a:pt x="99219" y="111621"/>
                    </a:cubicBezTo>
                    <a:cubicBezTo>
                      <a:pt x="99219" y="115745"/>
                      <a:pt x="95901" y="119062"/>
                      <a:pt x="91777" y="119062"/>
                    </a:cubicBezTo>
                    <a:lnTo>
                      <a:pt x="66973" y="119062"/>
                    </a:lnTo>
                    <a:cubicBezTo>
                      <a:pt x="62849" y="119062"/>
                      <a:pt x="59531" y="115745"/>
                      <a:pt x="59531" y="111621"/>
                    </a:cubicBezTo>
                    <a:cubicBezTo>
                      <a:pt x="59531" y="107497"/>
                      <a:pt x="62849" y="104180"/>
                      <a:pt x="66973" y="104180"/>
                    </a:cubicBezTo>
                    <a:lnTo>
                      <a:pt x="74414" y="104180"/>
                    </a:lnTo>
                    <a:lnTo>
                      <a:pt x="74414" y="84336"/>
                    </a:lnTo>
                    <a:lnTo>
                      <a:pt x="66973" y="84336"/>
                    </a:lnTo>
                    <a:cubicBezTo>
                      <a:pt x="62849" y="84336"/>
                      <a:pt x="59531" y="81018"/>
                      <a:pt x="59531" y="76895"/>
                    </a:cubicBezTo>
                    <a:cubicBezTo>
                      <a:pt x="59531" y="72771"/>
                      <a:pt x="62849" y="69453"/>
                      <a:pt x="66973" y="69453"/>
                    </a:cubicBezTo>
                    <a:close/>
                  </a:path>
                </a:pathLst>
              </a:custGeom>
              <a:solidFill>
                <a:srgbClr val="8B2635"/>
              </a:solidFill>
            </p:spPr>
          </p:sp>
          <p:sp>
            <p:nvSpPr>
              <p:cNvPr id="11" name="Shape 9"/>
              <p:cNvSpPr/>
              <p:nvPr/>
            </p:nvSpPr>
            <p:spPr>
              <a:xfrm>
                <a:off x="476164" y="2761773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31750" y="0"/>
                    </a:moveTo>
                    <a:lnTo>
                      <a:pt x="31750" y="0"/>
                    </a:lnTo>
                    <a:cubicBezTo>
                      <a:pt x="49273" y="0"/>
                      <a:pt x="63500" y="14227"/>
                      <a:pt x="63500" y="31750"/>
                    </a:cubicBezTo>
                    <a:lnTo>
                      <a:pt x="63500" y="31750"/>
                    </a:lnTo>
                    <a:cubicBezTo>
                      <a:pt x="63500" y="49273"/>
                      <a:pt x="49273" y="63500"/>
                      <a:pt x="31750" y="63500"/>
                    </a:cubicBezTo>
                    <a:lnTo>
                      <a:pt x="31750" y="63500"/>
                    </a:lnTo>
                    <a:cubicBezTo>
                      <a:pt x="14227" y="63500"/>
                      <a:pt x="0" y="49273"/>
                      <a:pt x="0" y="31750"/>
                    </a:cubicBezTo>
                    <a:lnTo>
                      <a:pt x="0" y="31750"/>
                    </a:lnTo>
                    <a:cubicBezTo>
                      <a:pt x="0" y="14227"/>
                      <a:pt x="14227" y="0"/>
                      <a:pt x="31750" y="0"/>
                    </a:cubicBezTo>
                    <a:close/>
                  </a:path>
                </a:pathLst>
              </a:custGeom>
              <a:solidFill>
                <a:srgbClr val="8B2635"/>
              </a:solidFill>
            </p:spPr>
          </p:sp>
          <p:sp>
            <p:nvSpPr>
              <p:cNvPr id="12" name="Text 10"/>
              <p:cNvSpPr/>
              <p:nvPr/>
            </p:nvSpPr>
            <p:spPr>
              <a:xfrm>
                <a:off x="634864" y="2698281"/>
                <a:ext cx="968375" cy="1905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000" b="1" dirty="0">
                    <a:solidFill>
                      <a:srgbClr val="1A1A1A"/>
                    </a:solidFill>
                    <a:latin typeface="MiSans" panose="00000500000000000000" pitchFamily="34" charset="-122"/>
                    <a:ea typeface="MiSans" panose="00000500000000000000" pitchFamily="34" charset="-122"/>
                    <a:cs typeface="MiSans" panose="00000500000000000000" pitchFamily="34" charset="-120"/>
                  </a:rPr>
                  <a:t>Multiple Banks</a:t>
                </a:r>
                <a:endParaRPr lang="en-US" sz="1600" dirty="0"/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634864" y="2920472"/>
                <a:ext cx="1996218" cy="21683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000" dirty="0">
                    <a:solidFill>
                      <a:srgbClr val="4A4A4A"/>
                    </a:solidFill>
                    <a:latin typeface="MiSans" panose="00000500000000000000" pitchFamily="34" charset="-122"/>
                    <a:ea typeface="MiSans" panose="00000500000000000000" pitchFamily="34" charset="-122"/>
                    <a:cs typeface="MiSans" panose="00000500000000000000" pitchFamily="34" charset="-120"/>
                  </a:rPr>
                  <a:t>Example: 32 banks</a:t>
                </a:r>
                <a:endParaRPr lang="en-US" sz="1600" dirty="0"/>
              </a:p>
            </p:txBody>
          </p:sp>
          <p:sp>
            <p:nvSpPr>
              <p:cNvPr id="14" name="Shape 12"/>
              <p:cNvSpPr/>
              <p:nvPr/>
            </p:nvSpPr>
            <p:spPr>
              <a:xfrm>
                <a:off x="476164" y="3269653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31750" y="0"/>
                    </a:moveTo>
                    <a:lnTo>
                      <a:pt x="31750" y="0"/>
                    </a:lnTo>
                    <a:cubicBezTo>
                      <a:pt x="49273" y="0"/>
                      <a:pt x="63500" y="14227"/>
                      <a:pt x="63500" y="31750"/>
                    </a:cubicBezTo>
                    <a:lnTo>
                      <a:pt x="63500" y="31750"/>
                    </a:lnTo>
                    <a:cubicBezTo>
                      <a:pt x="63500" y="49273"/>
                      <a:pt x="49273" y="63500"/>
                      <a:pt x="31750" y="63500"/>
                    </a:cubicBezTo>
                    <a:lnTo>
                      <a:pt x="31750" y="63500"/>
                    </a:lnTo>
                    <a:cubicBezTo>
                      <a:pt x="14227" y="63500"/>
                      <a:pt x="0" y="49273"/>
                      <a:pt x="0" y="31750"/>
                    </a:cubicBezTo>
                    <a:lnTo>
                      <a:pt x="0" y="31750"/>
                    </a:lnTo>
                    <a:cubicBezTo>
                      <a:pt x="0" y="14227"/>
                      <a:pt x="14227" y="0"/>
                      <a:pt x="31750" y="0"/>
                    </a:cubicBezTo>
                    <a:close/>
                  </a:path>
                </a:pathLst>
              </a:custGeom>
              <a:solidFill>
                <a:srgbClr val="8B2635"/>
              </a:solidFill>
            </p:spPr>
          </p:sp>
          <p:sp>
            <p:nvSpPr>
              <p:cNvPr id="15" name="Text 13"/>
              <p:cNvSpPr/>
              <p:nvPr/>
            </p:nvSpPr>
            <p:spPr>
              <a:xfrm>
                <a:off x="634864" y="3206161"/>
                <a:ext cx="2929028" cy="19040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000" b="1" dirty="0">
                    <a:solidFill>
                      <a:srgbClr val="1A1A1A"/>
                    </a:solidFill>
                    <a:latin typeface="MiSans" panose="00000500000000000000" pitchFamily="34" charset="-122"/>
                    <a:ea typeface="MiSans" panose="00000500000000000000" pitchFamily="34" charset="-122"/>
                    <a:cs typeface="MiSans" panose="00000500000000000000" pitchFamily="34" charset="-120"/>
                  </a:rPr>
                  <a:t>Each bank can be accessed independently</a:t>
                </a:r>
                <a:endParaRPr lang="en-US" sz="1600" dirty="0"/>
              </a:p>
            </p:txBody>
          </p:sp>
          <p:sp>
            <p:nvSpPr>
              <p:cNvPr id="16" name="Text 14"/>
              <p:cNvSpPr/>
              <p:nvPr/>
            </p:nvSpPr>
            <p:spPr>
              <a:xfrm>
                <a:off x="634863" y="3428353"/>
                <a:ext cx="3861839" cy="21674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000" dirty="0">
                    <a:solidFill>
                      <a:srgbClr val="4A4A4A"/>
                    </a:solidFill>
                    <a:latin typeface="MiSans" panose="00000500000000000000" pitchFamily="34" charset="-122"/>
                    <a:ea typeface="MiSans" panose="00000500000000000000" pitchFamily="34" charset="-122"/>
                    <a:cs typeface="MiSans" panose="00000500000000000000" pitchFamily="34" charset="-120"/>
                  </a:rPr>
                  <a:t>Different banks can be accessed simultaneously</a:t>
                </a:r>
                <a:endParaRPr lang="en-US" sz="1600" dirty="0"/>
              </a:p>
            </p:txBody>
          </p:sp>
          <p:sp>
            <p:nvSpPr>
              <p:cNvPr id="17" name="Shape 15"/>
              <p:cNvSpPr/>
              <p:nvPr/>
            </p:nvSpPr>
            <p:spPr>
              <a:xfrm>
                <a:off x="476164" y="3777533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31750" y="0"/>
                    </a:moveTo>
                    <a:lnTo>
                      <a:pt x="31750" y="0"/>
                    </a:lnTo>
                    <a:cubicBezTo>
                      <a:pt x="49273" y="0"/>
                      <a:pt x="63500" y="14227"/>
                      <a:pt x="63500" y="31750"/>
                    </a:cubicBezTo>
                    <a:lnTo>
                      <a:pt x="63500" y="31750"/>
                    </a:lnTo>
                    <a:cubicBezTo>
                      <a:pt x="63500" y="49273"/>
                      <a:pt x="49273" y="63500"/>
                      <a:pt x="31750" y="63500"/>
                    </a:cubicBezTo>
                    <a:lnTo>
                      <a:pt x="31750" y="63500"/>
                    </a:lnTo>
                    <a:cubicBezTo>
                      <a:pt x="14227" y="63500"/>
                      <a:pt x="0" y="49273"/>
                      <a:pt x="0" y="31750"/>
                    </a:cubicBezTo>
                    <a:lnTo>
                      <a:pt x="0" y="31750"/>
                    </a:lnTo>
                    <a:cubicBezTo>
                      <a:pt x="0" y="14227"/>
                      <a:pt x="14227" y="0"/>
                      <a:pt x="31750" y="0"/>
                    </a:cubicBezTo>
                    <a:close/>
                  </a:path>
                </a:pathLst>
              </a:custGeom>
              <a:solidFill>
                <a:srgbClr val="8B2635"/>
              </a:solidFill>
            </p:spPr>
          </p:sp>
          <p:sp>
            <p:nvSpPr>
              <p:cNvPr id="18" name="Text 16"/>
              <p:cNvSpPr/>
              <p:nvPr/>
            </p:nvSpPr>
            <p:spPr>
              <a:xfrm>
                <a:off x="634864" y="3714041"/>
                <a:ext cx="1817688" cy="1905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000" b="1" dirty="0">
                    <a:solidFill>
                      <a:srgbClr val="1A1A1A"/>
                    </a:solidFill>
                    <a:latin typeface="MiSans" panose="00000500000000000000" pitchFamily="34" charset="-122"/>
                    <a:ea typeface="MiSans" panose="00000500000000000000" pitchFamily="34" charset="-122"/>
                    <a:cs typeface="MiSans" panose="00000500000000000000" pitchFamily="34" charset="-120"/>
                  </a:rPr>
                  <a:t>Bank Conflict</a:t>
                </a:r>
                <a:endParaRPr lang="en-US" sz="1600" dirty="0"/>
              </a:p>
            </p:txBody>
          </p:sp>
          <p:sp>
            <p:nvSpPr>
              <p:cNvPr id="19" name="Text 17"/>
              <p:cNvSpPr/>
              <p:nvPr/>
            </p:nvSpPr>
            <p:spPr>
              <a:xfrm>
                <a:off x="634863" y="3936233"/>
                <a:ext cx="3714085" cy="24843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000" dirty="0">
                    <a:solidFill>
                      <a:srgbClr val="4A4A4A"/>
                    </a:solidFill>
                    <a:latin typeface="MiSans" panose="00000500000000000000" pitchFamily="34" charset="-122"/>
                    <a:ea typeface="MiSans" panose="00000500000000000000" pitchFamily="34" charset="-122"/>
                    <a:cs typeface="MiSans" panose="00000500000000000000" pitchFamily="34" charset="-120"/>
                  </a:rPr>
                  <a:t>Simultaneous access to the same bank causes a conflict</a:t>
                </a:r>
                <a:endParaRPr lang="en-US" sz="1600" dirty="0"/>
              </a:p>
            </p:txBody>
          </p:sp>
        </p:grpSp>
      </p:grpSp>
      <p:sp>
        <p:nvSpPr>
          <p:cNvPr id="20" name="Shape 18"/>
          <p:cNvSpPr/>
          <p:nvPr/>
        </p:nvSpPr>
        <p:spPr>
          <a:xfrm>
            <a:off x="6191237" y="1111029"/>
            <a:ext cx="5683250" cy="6064250"/>
          </a:xfrm>
          <a:custGeom>
            <a:avLst/>
            <a:gdLst/>
            <a:ahLst/>
            <a:cxnLst/>
            <a:rect l="l" t="t" r="r" b="b"/>
            <a:pathLst>
              <a:path w="5683250" h="6064250">
                <a:moveTo>
                  <a:pt x="63482" y="0"/>
                </a:moveTo>
                <a:lnTo>
                  <a:pt x="5619768" y="0"/>
                </a:lnTo>
                <a:cubicBezTo>
                  <a:pt x="5654828" y="0"/>
                  <a:pt x="5683250" y="28422"/>
                  <a:pt x="5683250" y="63482"/>
                </a:cubicBezTo>
                <a:lnTo>
                  <a:pt x="5683250" y="6000768"/>
                </a:lnTo>
                <a:cubicBezTo>
                  <a:pt x="5683250" y="6035828"/>
                  <a:pt x="5654828" y="6064250"/>
                  <a:pt x="5619768" y="6064250"/>
                </a:cubicBezTo>
                <a:lnTo>
                  <a:pt x="63482" y="6064250"/>
                </a:lnTo>
                <a:cubicBezTo>
                  <a:pt x="28422" y="6064250"/>
                  <a:pt x="0" y="6035828"/>
                  <a:pt x="0" y="6000768"/>
                </a:cubicBezTo>
                <a:lnTo>
                  <a:pt x="0" y="63482"/>
                </a:lnTo>
                <a:cubicBezTo>
                  <a:pt x="0" y="28445"/>
                  <a:pt x="28445" y="0"/>
                  <a:pt x="63482" y="0"/>
                </a:cubicBezTo>
                <a:close/>
              </a:path>
            </a:pathLst>
          </a:custGeom>
          <a:solidFill>
            <a:srgbClr val="F8F8F8"/>
          </a:solidFill>
        </p:spPr>
      </p:sp>
      <p:pic>
        <p:nvPicPr>
          <p:cNvPr id="21" name="Image 0" descr="https://kimi-web-img.moonshot.cn/img/leimao.github.io/1148ea444f99e60cc1781f27e5ed3e15ff8a283b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00127" y="1269791"/>
            <a:ext cx="3001232" cy="4461790"/>
          </a:xfrm>
          <a:prstGeom prst="roundRect">
            <a:avLst>
              <a:gd name="adj" fmla="val 821"/>
            </a:avLst>
          </a:prstGeom>
        </p:spPr>
      </p:pic>
      <p:grpSp>
        <p:nvGrpSpPr>
          <p:cNvPr id="26" name="组合 25"/>
          <p:cNvGrpSpPr/>
          <p:nvPr/>
        </p:nvGrpSpPr>
        <p:grpSpPr>
          <a:xfrm>
            <a:off x="6207191" y="5894035"/>
            <a:ext cx="5667296" cy="809546"/>
            <a:chOff x="6199135" y="7309979"/>
            <a:chExt cx="5667296" cy="809546"/>
          </a:xfrm>
        </p:grpSpPr>
        <p:sp>
          <p:nvSpPr>
            <p:cNvPr id="22" name="Shape 19"/>
            <p:cNvSpPr/>
            <p:nvPr/>
          </p:nvSpPr>
          <p:spPr>
            <a:xfrm>
              <a:off x="6199135" y="7309979"/>
              <a:ext cx="5667296" cy="809546"/>
            </a:xfrm>
            <a:custGeom>
              <a:avLst/>
              <a:gdLst/>
              <a:ahLst/>
              <a:cxnLst/>
              <a:rect l="l" t="t" r="r" b="b"/>
              <a:pathLst>
                <a:path w="5667296" h="809546">
                  <a:moveTo>
                    <a:pt x="63501" y="0"/>
                  </a:moveTo>
                  <a:lnTo>
                    <a:pt x="5603795" y="0"/>
                  </a:lnTo>
                  <a:cubicBezTo>
                    <a:pt x="5638866" y="0"/>
                    <a:pt x="5667296" y="28430"/>
                    <a:pt x="5667296" y="63501"/>
                  </a:cubicBezTo>
                  <a:lnTo>
                    <a:pt x="5667296" y="746045"/>
                  </a:lnTo>
                  <a:cubicBezTo>
                    <a:pt x="5667296" y="781116"/>
                    <a:pt x="5638866" y="809546"/>
                    <a:pt x="5603795" y="809546"/>
                  </a:cubicBezTo>
                  <a:lnTo>
                    <a:pt x="63501" y="809546"/>
                  </a:lnTo>
                  <a:cubicBezTo>
                    <a:pt x="28430" y="809546"/>
                    <a:pt x="0" y="781116"/>
                    <a:pt x="0" y="746045"/>
                  </a:cubicBezTo>
                  <a:lnTo>
                    <a:pt x="0" y="63501"/>
                  </a:lnTo>
                  <a:cubicBezTo>
                    <a:pt x="0" y="28454"/>
                    <a:pt x="28454" y="0"/>
                    <a:pt x="63501" y="0"/>
                  </a:cubicBezTo>
                  <a:close/>
                </a:path>
              </a:pathLst>
            </a:custGeom>
            <a:solidFill>
              <a:srgbClr val="FFFFFF"/>
            </a:solidFill>
            <a:ln w="25274">
              <a:solidFill>
                <a:srgbClr val="8B2635"/>
              </a:solidFill>
              <a:prstDash val="solid"/>
            </a:ln>
          </p:spPr>
        </p:sp>
        <p:sp>
          <p:nvSpPr>
            <p:cNvPr id="23" name="Text 20"/>
            <p:cNvSpPr/>
            <p:nvPr/>
          </p:nvSpPr>
          <p:spPr>
            <a:xfrm>
              <a:off x="6262581" y="7444863"/>
              <a:ext cx="5540375" cy="3175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2250" b="1" dirty="0">
                  <a:solidFill>
                    <a:srgbClr val="8B263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32</a:t>
              </a:r>
              <a:endParaRPr lang="en-US" sz="1600" dirty="0"/>
            </a:p>
          </p:txBody>
        </p:sp>
        <p:sp>
          <p:nvSpPr>
            <p:cNvPr id="24" name="Text 21"/>
            <p:cNvSpPr/>
            <p:nvPr/>
          </p:nvSpPr>
          <p:spPr>
            <a:xfrm>
              <a:off x="6302269" y="7794040"/>
              <a:ext cx="5461000" cy="1905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000" dirty="0">
                  <a:solidFill>
                    <a:srgbClr val="4A4A4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banks (typical configuration)</a:t>
              </a:r>
              <a:endParaRPr lang="en-US" sz="1600" dirty="0"/>
            </a:p>
          </p:txBody>
        </p:sp>
      </p:grpSp>
      <p:sp>
        <p:nvSpPr>
          <p:cNvPr id="25" name="Text 22"/>
          <p:cNvSpPr/>
          <p:nvPr/>
        </p:nvSpPr>
        <p:spPr>
          <a:xfrm>
            <a:off x="261900" y="8190791"/>
            <a:ext cx="11612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Image source: Lei Mao's Log Book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34963" y="633814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Bank Conflict Definition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463" y="1111029"/>
            <a:ext cx="4508500" cy="952500"/>
          </a:xfrm>
          <a:custGeom>
            <a:avLst/>
            <a:gdLst/>
            <a:ahLst/>
            <a:cxnLst/>
            <a:rect l="l" t="t" r="r" b="b"/>
            <a:pathLst>
              <a:path w="4508500" h="952500">
                <a:moveTo>
                  <a:pt x="63503" y="0"/>
                </a:moveTo>
                <a:lnTo>
                  <a:pt x="4444997" y="0"/>
                </a:lnTo>
                <a:cubicBezTo>
                  <a:pt x="4480069" y="0"/>
                  <a:pt x="4508500" y="28431"/>
                  <a:pt x="4508500" y="63503"/>
                </a:cubicBezTo>
                <a:lnTo>
                  <a:pt x="4508500" y="888997"/>
                </a:lnTo>
                <a:cubicBezTo>
                  <a:pt x="4508500" y="924069"/>
                  <a:pt x="4480069" y="952500"/>
                  <a:pt x="4444997" y="952500"/>
                </a:cubicBezTo>
                <a:lnTo>
                  <a:pt x="63503" y="952500"/>
                </a:lnTo>
                <a:cubicBezTo>
                  <a:pt x="28431" y="952500"/>
                  <a:pt x="0" y="924069"/>
                  <a:pt x="0" y="88899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6" name="Text 4"/>
          <p:cNvSpPr/>
          <p:nvPr/>
        </p:nvSpPr>
        <p:spPr>
          <a:xfrm>
            <a:off x="507941" y="1301506"/>
            <a:ext cx="42227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Bank Conflict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7941" y="1650624"/>
            <a:ext cx="41989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Shared Memory Performance Killer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17463" y="2190339"/>
            <a:ext cx="4508500" cy="2984356"/>
          </a:xfrm>
          <a:custGeom>
            <a:avLst/>
            <a:gdLst/>
            <a:ahLst/>
            <a:cxnLst/>
            <a:rect l="l" t="t" r="r" b="b"/>
            <a:pathLst>
              <a:path w="4508500" h="5048250">
                <a:moveTo>
                  <a:pt x="63480" y="0"/>
                </a:moveTo>
                <a:lnTo>
                  <a:pt x="4445020" y="0"/>
                </a:lnTo>
                <a:cubicBezTo>
                  <a:pt x="4480079" y="0"/>
                  <a:pt x="4508500" y="28421"/>
                  <a:pt x="4508500" y="63480"/>
                </a:cubicBezTo>
                <a:lnTo>
                  <a:pt x="4508500" y="4984770"/>
                </a:lnTo>
                <a:cubicBezTo>
                  <a:pt x="4508500" y="5019829"/>
                  <a:pt x="4480079" y="5048250"/>
                  <a:pt x="4445020" y="5048250"/>
                </a:cubicBezTo>
                <a:lnTo>
                  <a:pt x="63480" y="5048250"/>
                </a:lnTo>
                <a:cubicBezTo>
                  <a:pt x="28421" y="5048250"/>
                  <a:pt x="0" y="5019829"/>
                  <a:pt x="0" y="4984770"/>
                </a:cubicBezTo>
                <a:lnTo>
                  <a:pt x="0" y="63480"/>
                </a:lnTo>
                <a:cubicBezTo>
                  <a:pt x="0" y="28444"/>
                  <a:pt x="28444" y="0"/>
                  <a:pt x="63480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9" name="Shape 7"/>
          <p:cNvSpPr/>
          <p:nvPr/>
        </p:nvSpPr>
        <p:spPr>
          <a:xfrm>
            <a:off x="496007" y="238075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3933" y="0"/>
                  <a:pt x="88119" y="2511"/>
                  <a:pt x="90289" y="6511"/>
                </a:cubicBezTo>
                <a:lnTo>
                  <a:pt x="157262" y="130535"/>
                </a:lnTo>
                <a:cubicBezTo>
                  <a:pt x="159339" y="134379"/>
                  <a:pt x="159246" y="139030"/>
                  <a:pt x="157014" y="142782"/>
                </a:cubicBezTo>
                <a:cubicBezTo>
                  <a:pt x="154781" y="146534"/>
                  <a:pt x="150719" y="148828"/>
                  <a:pt x="146348" y="148828"/>
                </a:cubicBezTo>
                <a:lnTo>
                  <a:pt x="12402" y="148828"/>
                </a:lnTo>
                <a:cubicBezTo>
                  <a:pt x="8031" y="148828"/>
                  <a:pt x="4000" y="146534"/>
                  <a:pt x="1736" y="142782"/>
                </a:cubicBezTo>
                <a:cubicBezTo>
                  <a:pt x="-527" y="139030"/>
                  <a:pt x="-589" y="134379"/>
                  <a:pt x="1488" y="130535"/>
                </a:cubicBezTo>
                <a:lnTo>
                  <a:pt x="68461" y="6511"/>
                </a:lnTo>
                <a:cubicBezTo>
                  <a:pt x="70631" y="2511"/>
                  <a:pt x="74817" y="0"/>
                  <a:pt x="79375" y="0"/>
                </a:cubicBezTo>
                <a:close/>
                <a:moveTo>
                  <a:pt x="79375" y="52090"/>
                </a:moveTo>
                <a:cubicBezTo>
                  <a:pt x="75251" y="52090"/>
                  <a:pt x="71934" y="55407"/>
                  <a:pt x="71934" y="59531"/>
                </a:cubicBezTo>
                <a:lnTo>
                  <a:pt x="71934" y="94258"/>
                </a:lnTo>
                <a:cubicBezTo>
                  <a:pt x="71934" y="98382"/>
                  <a:pt x="75251" y="101699"/>
                  <a:pt x="79375" y="101699"/>
                </a:cubicBezTo>
                <a:cubicBezTo>
                  <a:pt x="83499" y="101699"/>
                  <a:pt x="86816" y="98382"/>
                  <a:pt x="86816" y="94258"/>
                </a:cubicBezTo>
                <a:lnTo>
                  <a:pt x="86816" y="59531"/>
                </a:lnTo>
                <a:cubicBezTo>
                  <a:pt x="86816" y="55407"/>
                  <a:pt x="83499" y="52090"/>
                  <a:pt x="79375" y="52090"/>
                </a:cubicBezTo>
                <a:close/>
                <a:moveTo>
                  <a:pt x="87654" y="119062"/>
                </a:moveTo>
                <a:cubicBezTo>
                  <a:pt x="87842" y="115990"/>
                  <a:pt x="86309" y="113066"/>
                  <a:pt x="83675" y="111473"/>
                </a:cubicBezTo>
                <a:cubicBezTo>
                  <a:pt x="81041" y="109879"/>
                  <a:pt x="77740" y="109879"/>
                  <a:pt x="75106" y="111473"/>
                </a:cubicBezTo>
                <a:cubicBezTo>
                  <a:pt x="72472" y="113066"/>
                  <a:pt x="70939" y="115990"/>
                  <a:pt x="71127" y="119062"/>
                </a:cubicBezTo>
                <a:cubicBezTo>
                  <a:pt x="70939" y="122135"/>
                  <a:pt x="72472" y="125059"/>
                  <a:pt x="75106" y="126652"/>
                </a:cubicBezTo>
                <a:cubicBezTo>
                  <a:pt x="77740" y="128246"/>
                  <a:pt x="81041" y="128246"/>
                  <a:pt x="83675" y="126652"/>
                </a:cubicBezTo>
                <a:cubicBezTo>
                  <a:pt x="86309" y="125059"/>
                  <a:pt x="87842" y="122135"/>
                  <a:pt x="87654" y="119062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10" name="Text 8"/>
          <p:cNvSpPr/>
          <p:nvPr/>
        </p:nvSpPr>
        <p:spPr>
          <a:xfrm>
            <a:off x="674601" y="2349043"/>
            <a:ext cx="40719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Problem Definition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1960" y="2698281"/>
            <a:ext cx="4175046" cy="603250"/>
          </a:xfrm>
          <a:custGeom>
            <a:avLst/>
            <a:gdLst/>
            <a:ahLst/>
            <a:cxnLst/>
            <a:rect l="l" t="t" r="r" b="b"/>
            <a:pathLst>
              <a:path w="4175046" h="603250">
                <a:moveTo>
                  <a:pt x="31592" y="0"/>
                </a:moveTo>
                <a:lnTo>
                  <a:pt x="4111548" y="0"/>
                </a:lnTo>
                <a:cubicBezTo>
                  <a:pt x="4146617" y="0"/>
                  <a:pt x="4175046" y="28429"/>
                  <a:pt x="4175046" y="63498"/>
                </a:cubicBezTo>
                <a:lnTo>
                  <a:pt x="4175046" y="539752"/>
                </a:lnTo>
                <a:cubicBezTo>
                  <a:pt x="4175046" y="574821"/>
                  <a:pt x="4146617" y="603250"/>
                  <a:pt x="4111548" y="603250"/>
                </a:cubicBezTo>
                <a:lnTo>
                  <a:pt x="31592" y="603250"/>
                </a:lnTo>
                <a:cubicBezTo>
                  <a:pt x="14144" y="603250"/>
                  <a:pt x="0" y="589106"/>
                  <a:pt x="0" y="571658"/>
                </a:cubicBezTo>
                <a:lnTo>
                  <a:pt x="0" y="31592"/>
                </a:lnTo>
                <a:cubicBezTo>
                  <a:pt x="0" y="14156"/>
                  <a:pt x="14156" y="0"/>
                  <a:pt x="3159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2" name="Shape 10"/>
          <p:cNvSpPr/>
          <p:nvPr/>
        </p:nvSpPr>
        <p:spPr>
          <a:xfrm>
            <a:off x="491960" y="2698281"/>
            <a:ext cx="31592" cy="603250"/>
          </a:xfrm>
          <a:custGeom>
            <a:avLst/>
            <a:gdLst/>
            <a:ahLst/>
            <a:cxnLst/>
            <a:rect l="l" t="t" r="r" b="b"/>
            <a:pathLst>
              <a:path w="31592" h="603250">
                <a:moveTo>
                  <a:pt x="31592" y="0"/>
                </a:moveTo>
                <a:lnTo>
                  <a:pt x="31592" y="0"/>
                </a:lnTo>
                <a:lnTo>
                  <a:pt x="31592" y="603250"/>
                </a:lnTo>
                <a:lnTo>
                  <a:pt x="31592" y="603250"/>
                </a:lnTo>
                <a:cubicBezTo>
                  <a:pt x="14144" y="603250"/>
                  <a:pt x="0" y="589106"/>
                  <a:pt x="0" y="571658"/>
                </a:cubicBezTo>
                <a:lnTo>
                  <a:pt x="0" y="31592"/>
                </a:lnTo>
                <a:cubicBezTo>
                  <a:pt x="0" y="14156"/>
                  <a:pt x="14156" y="0"/>
                  <a:pt x="31592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13" name="Text 11"/>
          <p:cNvSpPr/>
          <p:nvPr/>
        </p:nvSpPr>
        <p:spPr>
          <a:xfrm>
            <a:off x="602964" y="2793488"/>
            <a:ext cx="4032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Multiple threads simultaneously access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2964" y="3015684"/>
            <a:ext cx="4032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the same bank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1960" y="3396576"/>
            <a:ext cx="4175046" cy="603250"/>
          </a:xfrm>
          <a:custGeom>
            <a:avLst/>
            <a:gdLst/>
            <a:ahLst/>
            <a:cxnLst/>
            <a:rect l="l" t="t" r="r" b="b"/>
            <a:pathLst>
              <a:path w="4175046" h="603250">
                <a:moveTo>
                  <a:pt x="31592" y="0"/>
                </a:moveTo>
                <a:lnTo>
                  <a:pt x="4111548" y="0"/>
                </a:lnTo>
                <a:cubicBezTo>
                  <a:pt x="4146617" y="0"/>
                  <a:pt x="4175046" y="28429"/>
                  <a:pt x="4175046" y="63498"/>
                </a:cubicBezTo>
                <a:lnTo>
                  <a:pt x="4175046" y="539752"/>
                </a:lnTo>
                <a:cubicBezTo>
                  <a:pt x="4175046" y="574821"/>
                  <a:pt x="4146617" y="603250"/>
                  <a:pt x="4111548" y="603250"/>
                </a:cubicBezTo>
                <a:lnTo>
                  <a:pt x="31592" y="603250"/>
                </a:lnTo>
                <a:cubicBezTo>
                  <a:pt x="14144" y="603250"/>
                  <a:pt x="0" y="589106"/>
                  <a:pt x="0" y="571658"/>
                </a:cubicBezTo>
                <a:lnTo>
                  <a:pt x="0" y="31592"/>
                </a:lnTo>
                <a:cubicBezTo>
                  <a:pt x="0" y="14156"/>
                  <a:pt x="14156" y="0"/>
                  <a:pt x="3159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6" name="Shape 14"/>
          <p:cNvSpPr/>
          <p:nvPr/>
        </p:nvSpPr>
        <p:spPr>
          <a:xfrm>
            <a:off x="491960" y="3396576"/>
            <a:ext cx="31592" cy="603250"/>
          </a:xfrm>
          <a:custGeom>
            <a:avLst/>
            <a:gdLst/>
            <a:ahLst/>
            <a:cxnLst/>
            <a:rect l="l" t="t" r="r" b="b"/>
            <a:pathLst>
              <a:path w="31592" h="603250">
                <a:moveTo>
                  <a:pt x="31592" y="0"/>
                </a:moveTo>
                <a:lnTo>
                  <a:pt x="31592" y="0"/>
                </a:lnTo>
                <a:lnTo>
                  <a:pt x="31592" y="603250"/>
                </a:lnTo>
                <a:lnTo>
                  <a:pt x="31592" y="603250"/>
                </a:lnTo>
                <a:cubicBezTo>
                  <a:pt x="14144" y="603250"/>
                  <a:pt x="0" y="589106"/>
                  <a:pt x="0" y="571658"/>
                </a:cubicBezTo>
                <a:lnTo>
                  <a:pt x="0" y="31592"/>
                </a:lnTo>
                <a:cubicBezTo>
                  <a:pt x="0" y="14156"/>
                  <a:pt x="14156" y="0"/>
                  <a:pt x="31592" y="0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17" name="Text 15"/>
          <p:cNvSpPr/>
          <p:nvPr/>
        </p:nvSpPr>
        <p:spPr>
          <a:xfrm>
            <a:off x="602964" y="3491783"/>
            <a:ext cx="4032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Causes access to be serialized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2964" y="3713979"/>
            <a:ext cx="4032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Cannot execute in parallel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1960" y="4094870"/>
            <a:ext cx="4175046" cy="603250"/>
          </a:xfrm>
          <a:custGeom>
            <a:avLst/>
            <a:gdLst/>
            <a:ahLst/>
            <a:cxnLst/>
            <a:rect l="l" t="t" r="r" b="b"/>
            <a:pathLst>
              <a:path w="4175046" h="603250">
                <a:moveTo>
                  <a:pt x="31592" y="0"/>
                </a:moveTo>
                <a:lnTo>
                  <a:pt x="4111548" y="0"/>
                </a:lnTo>
                <a:cubicBezTo>
                  <a:pt x="4146617" y="0"/>
                  <a:pt x="4175046" y="28429"/>
                  <a:pt x="4175046" y="63498"/>
                </a:cubicBezTo>
                <a:lnTo>
                  <a:pt x="4175046" y="539752"/>
                </a:lnTo>
                <a:cubicBezTo>
                  <a:pt x="4175046" y="574821"/>
                  <a:pt x="4146617" y="603250"/>
                  <a:pt x="4111548" y="603250"/>
                </a:cubicBezTo>
                <a:lnTo>
                  <a:pt x="31592" y="603250"/>
                </a:lnTo>
                <a:cubicBezTo>
                  <a:pt x="14144" y="603250"/>
                  <a:pt x="0" y="589106"/>
                  <a:pt x="0" y="571658"/>
                </a:cubicBezTo>
                <a:lnTo>
                  <a:pt x="0" y="31592"/>
                </a:lnTo>
                <a:cubicBezTo>
                  <a:pt x="0" y="14156"/>
                  <a:pt x="14156" y="0"/>
                  <a:pt x="3159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0" name="Shape 18"/>
          <p:cNvSpPr/>
          <p:nvPr/>
        </p:nvSpPr>
        <p:spPr>
          <a:xfrm>
            <a:off x="491960" y="4094870"/>
            <a:ext cx="31592" cy="603250"/>
          </a:xfrm>
          <a:custGeom>
            <a:avLst/>
            <a:gdLst/>
            <a:ahLst/>
            <a:cxnLst/>
            <a:rect l="l" t="t" r="r" b="b"/>
            <a:pathLst>
              <a:path w="31592" h="603250">
                <a:moveTo>
                  <a:pt x="31592" y="0"/>
                </a:moveTo>
                <a:lnTo>
                  <a:pt x="31592" y="0"/>
                </a:lnTo>
                <a:lnTo>
                  <a:pt x="31592" y="603250"/>
                </a:lnTo>
                <a:lnTo>
                  <a:pt x="31592" y="603250"/>
                </a:lnTo>
                <a:cubicBezTo>
                  <a:pt x="14144" y="603250"/>
                  <a:pt x="0" y="589106"/>
                  <a:pt x="0" y="571658"/>
                </a:cubicBezTo>
                <a:lnTo>
                  <a:pt x="0" y="31592"/>
                </a:lnTo>
                <a:cubicBezTo>
                  <a:pt x="0" y="14156"/>
                  <a:pt x="14156" y="0"/>
                  <a:pt x="31592" y="0"/>
                </a:cubicBezTo>
                <a:close/>
              </a:path>
            </a:pathLst>
          </a:custGeom>
          <a:solidFill>
            <a:srgbClr val="4A4A4A"/>
          </a:solidFill>
        </p:spPr>
      </p:sp>
      <p:sp>
        <p:nvSpPr>
          <p:cNvPr id="21" name="Text 19"/>
          <p:cNvSpPr/>
          <p:nvPr/>
        </p:nvSpPr>
        <p:spPr>
          <a:xfrm>
            <a:off x="602964" y="4190081"/>
            <a:ext cx="4032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Severe performance degradation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2964" y="4412273"/>
            <a:ext cx="4032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Loses the parallel advantage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16470" y="1111029"/>
            <a:ext cx="6858000" cy="5334000"/>
          </a:xfrm>
          <a:custGeom>
            <a:avLst/>
            <a:gdLst/>
            <a:ahLst/>
            <a:cxnLst/>
            <a:rect l="l" t="t" r="r" b="b"/>
            <a:pathLst>
              <a:path w="6858000" h="5334000">
                <a:moveTo>
                  <a:pt x="63475" y="0"/>
                </a:moveTo>
                <a:lnTo>
                  <a:pt x="6794525" y="0"/>
                </a:lnTo>
                <a:cubicBezTo>
                  <a:pt x="6829581" y="0"/>
                  <a:pt x="6858000" y="28419"/>
                  <a:pt x="6858000" y="63475"/>
                </a:cubicBezTo>
                <a:lnTo>
                  <a:pt x="6858000" y="5270525"/>
                </a:lnTo>
                <a:cubicBezTo>
                  <a:pt x="6858000" y="5305581"/>
                  <a:pt x="6829581" y="5334000"/>
                  <a:pt x="6794525" y="5334000"/>
                </a:cubicBezTo>
                <a:lnTo>
                  <a:pt x="63475" y="5334000"/>
                </a:lnTo>
                <a:cubicBezTo>
                  <a:pt x="28419" y="5334000"/>
                  <a:pt x="0" y="5305581"/>
                  <a:pt x="0" y="5270525"/>
                </a:cubicBezTo>
                <a:lnTo>
                  <a:pt x="0" y="63475"/>
                </a:lnTo>
                <a:cubicBezTo>
                  <a:pt x="0" y="28442"/>
                  <a:pt x="28442" y="0"/>
                  <a:pt x="63475" y="0"/>
                </a:cubicBezTo>
                <a:close/>
              </a:path>
            </a:pathLst>
          </a:custGeom>
          <a:solidFill>
            <a:srgbClr val="F8F8F8"/>
          </a:solidFill>
        </p:spPr>
      </p:sp>
      <p:pic>
        <p:nvPicPr>
          <p:cNvPr id="24" name="Image 0" descr="https://kimi-web-img.moonshot.cn/img/homepages.math.uic.edu/ac87319ed34f150339e888cef068a47dbbee292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691342" y="1269791"/>
            <a:ext cx="3213635" cy="4595062"/>
          </a:xfrm>
          <a:prstGeom prst="roundRect">
            <a:avLst>
              <a:gd name="adj" fmla="val 905"/>
            </a:avLst>
          </a:prstGeom>
        </p:spPr>
      </p:pic>
      <p:grpSp>
        <p:nvGrpSpPr>
          <p:cNvPr id="35" name="组合 34"/>
          <p:cNvGrpSpPr/>
          <p:nvPr/>
        </p:nvGrpSpPr>
        <p:grpSpPr>
          <a:xfrm>
            <a:off x="5024368" y="6039674"/>
            <a:ext cx="6842061" cy="650796"/>
            <a:chOff x="5024368" y="6579722"/>
            <a:chExt cx="6842061" cy="650796"/>
          </a:xfrm>
        </p:grpSpPr>
        <p:sp>
          <p:nvSpPr>
            <p:cNvPr id="25" name="Shape 22"/>
            <p:cNvSpPr/>
            <p:nvPr/>
          </p:nvSpPr>
          <p:spPr>
            <a:xfrm>
              <a:off x="5024368" y="6579722"/>
              <a:ext cx="2206546" cy="650796"/>
            </a:xfrm>
            <a:custGeom>
              <a:avLst/>
              <a:gdLst/>
              <a:ahLst/>
              <a:cxnLst/>
              <a:rect l="l" t="t" r="r" b="b"/>
              <a:pathLst>
                <a:path w="2206546" h="650796">
                  <a:moveTo>
                    <a:pt x="63498" y="0"/>
                  </a:moveTo>
                  <a:lnTo>
                    <a:pt x="2143048" y="0"/>
                  </a:lnTo>
                  <a:cubicBezTo>
                    <a:pt x="2178117" y="0"/>
                    <a:pt x="2206546" y="28429"/>
                    <a:pt x="2206546" y="63498"/>
                  </a:cubicBezTo>
                  <a:lnTo>
                    <a:pt x="2206546" y="587298"/>
                  </a:lnTo>
                  <a:cubicBezTo>
                    <a:pt x="2206546" y="622367"/>
                    <a:pt x="2178117" y="650796"/>
                    <a:pt x="2143048" y="650796"/>
                  </a:cubicBezTo>
                  <a:lnTo>
                    <a:pt x="63498" y="650796"/>
                  </a:lnTo>
                  <a:cubicBezTo>
                    <a:pt x="28429" y="650796"/>
                    <a:pt x="0" y="622367"/>
                    <a:pt x="0" y="587298"/>
                  </a:cubicBezTo>
                  <a:lnTo>
                    <a:pt x="0" y="63498"/>
                  </a:lnTo>
                  <a:cubicBezTo>
                    <a:pt x="0" y="28453"/>
                    <a:pt x="28453" y="0"/>
                    <a:pt x="63498" y="0"/>
                  </a:cubicBezTo>
                  <a:close/>
                </a:path>
              </a:pathLst>
            </a:custGeom>
            <a:solidFill>
              <a:srgbClr val="FFFFFF"/>
            </a:solidFill>
            <a:ln w="25274">
              <a:solidFill>
                <a:srgbClr val="8B2635"/>
              </a:solidFill>
              <a:prstDash val="solid"/>
            </a:ln>
          </p:spPr>
        </p:sp>
        <p:sp>
          <p:nvSpPr>
            <p:cNvPr id="26" name="Text 23"/>
            <p:cNvSpPr/>
            <p:nvPr/>
          </p:nvSpPr>
          <p:spPr>
            <a:xfrm>
              <a:off x="5079849" y="6682829"/>
              <a:ext cx="2095500" cy="254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500" b="1" dirty="0">
                  <a:solidFill>
                    <a:srgbClr val="8B263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N</a:t>
              </a:r>
              <a:endParaRPr lang="en-US" sz="1600" dirty="0"/>
            </a:p>
          </p:txBody>
        </p:sp>
        <p:sp>
          <p:nvSpPr>
            <p:cNvPr id="27" name="Text 24"/>
            <p:cNvSpPr/>
            <p:nvPr/>
          </p:nvSpPr>
          <p:spPr>
            <a:xfrm>
              <a:off x="5099693" y="6968451"/>
              <a:ext cx="2055813" cy="1587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875" dirty="0">
                  <a:solidFill>
                    <a:srgbClr val="4A4A4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threads</a:t>
              </a:r>
              <a:endParaRPr lang="en-US" sz="1600" dirty="0"/>
            </a:p>
          </p:txBody>
        </p:sp>
        <p:sp>
          <p:nvSpPr>
            <p:cNvPr id="28" name="Shape 25"/>
            <p:cNvSpPr/>
            <p:nvPr/>
          </p:nvSpPr>
          <p:spPr>
            <a:xfrm>
              <a:off x="7342126" y="6579722"/>
              <a:ext cx="2206546" cy="650796"/>
            </a:xfrm>
            <a:custGeom>
              <a:avLst/>
              <a:gdLst/>
              <a:ahLst/>
              <a:cxnLst/>
              <a:rect l="l" t="t" r="r" b="b"/>
              <a:pathLst>
                <a:path w="2206546" h="650796">
                  <a:moveTo>
                    <a:pt x="63498" y="0"/>
                  </a:moveTo>
                  <a:lnTo>
                    <a:pt x="2143048" y="0"/>
                  </a:lnTo>
                  <a:cubicBezTo>
                    <a:pt x="2178117" y="0"/>
                    <a:pt x="2206546" y="28429"/>
                    <a:pt x="2206546" y="63498"/>
                  </a:cubicBezTo>
                  <a:lnTo>
                    <a:pt x="2206546" y="587298"/>
                  </a:lnTo>
                  <a:cubicBezTo>
                    <a:pt x="2206546" y="622367"/>
                    <a:pt x="2178117" y="650796"/>
                    <a:pt x="2143048" y="650796"/>
                  </a:cubicBezTo>
                  <a:lnTo>
                    <a:pt x="63498" y="650796"/>
                  </a:lnTo>
                  <a:cubicBezTo>
                    <a:pt x="28429" y="650796"/>
                    <a:pt x="0" y="622367"/>
                    <a:pt x="0" y="587298"/>
                  </a:cubicBezTo>
                  <a:lnTo>
                    <a:pt x="0" y="63498"/>
                  </a:lnTo>
                  <a:cubicBezTo>
                    <a:pt x="0" y="28453"/>
                    <a:pt x="28453" y="0"/>
                    <a:pt x="63498" y="0"/>
                  </a:cubicBezTo>
                  <a:close/>
                </a:path>
              </a:pathLst>
            </a:custGeom>
            <a:solidFill>
              <a:srgbClr val="FFFFFF"/>
            </a:solidFill>
            <a:ln w="25274">
              <a:solidFill>
                <a:srgbClr val="8B2635"/>
              </a:solidFill>
              <a:prstDash val="solid"/>
            </a:ln>
          </p:spPr>
        </p:sp>
        <p:sp>
          <p:nvSpPr>
            <p:cNvPr id="29" name="Text 26"/>
            <p:cNvSpPr/>
            <p:nvPr/>
          </p:nvSpPr>
          <p:spPr>
            <a:xfrm>
              <a:off x="7397607" y="6682829"/>
              <a:ext cx="2095500" cy="254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500" b="1" dirty="0">
                  <a:solidFill>
                    <a:srgbClr val="8B263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1</a:t>
              </a:r>
              <a:endParaRPr lang="en-US" sz="1600" dirty="0"/>
            </a:p>
          </p:txBody>
        </p:sp>
        <p:sp>
          <p:nvSpPr>
            <p:cNvPr id="30" name="Text 27"/>
            <p:cNvSpPr/>
            <p:nvPr/>
          </p:nvSpPr>
          <p:spPr>
            <a:xfrm>
              <a:off x="7417450" y="6968451"/>
              <a:ext cx="2055813" cy="1587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875" dirty="0">
                  <a:solidFill>
                    <a:srgbClr val="4A4A4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bank</a:t>
              </a:r>
              <a:endParaRPr lang="en-US" sz="1600" dirty="0"/>
            </a:p>
          </p:txBody>
        </p:sp>
        <p:sp>
          <p:nvSpPr>
            <p:cNvPr id="31" name="Shape 28"/>
            <p:cNvSpPr/>
            <p:nvPr/>
          </p:nvSpPr>
          <p:spPr>
            <a:xfrm>
              <a:off x="9659883" y="6579722"/>
              <a:ext cx="2206546" cy="650796"/>
            </a:xfrm>
            <a:custGeom>
              <a:avLst/>
              <a:gdLst/>
              <a:ahLst/>
              <a:cxnLst/>
              <a:rect l="l" t="t" r="r" b="b"/>
              <a:pathLst>
                <a:path w="2206546" h="650796">
                  <a:moveTo>
                    <a:pt x="63498" y="0"/>
                  </a:moveTo>
                  <a:lnTo>
                    <a:pt x="2143048" y="0"/>
                  </a:lnTo>
                  <a:cubicBezTo>
                    <a:pt x="2178117" y="0"/>
                    <a:pt x="2206546" y="28429"/>
                    <a:pt x="2206546" y="63498"/>
                  </a:cubicBezTo>
                  <a:lnTo>
                    <a:pt x="2206546" y="587298"/>
                  </a:lnTo>
                  <a:cubicBezTo>
                    <a:pt x="2206546" y="622367"/>
                    <a:pt x="2178117" y="650796"/>
                    <a:pt x="2143048" y="650796"/>
                  </a:cubicBezTo>
                  <a:lnTo>
                    <a:pt x="63498" y="650796"/>
                  </a:lnTo>
                  <a:cubicBezTo>
                    <a:pt x="28429" y="650796"/>
                    <a:pt x="0" y="622367"/>
                    <a:pt x="0" y="587298"/>
                  </a:cubicBezTo>
                  <a:lnTo>
                    <a:pt x="0" y="63498"/>
                  </a:lnTo>
                  <a:cubicBezTo>
                    <a:pt x="0" y="28453"/>
                    <a:pt x="28453" y="0"/>
                    <a:pt x="63498" y="0"/>
                  </a:cubicBezTo>
                  <a:close/>
                </a:path>
              </a:pathLst>
            </a:custGeom>
            <a:solidFill>
              <a:srgbClr val="FFFFFF"/>
            </a:solidFill>
            <a:ln w="25274">
              <a:solidFill>
                <a:srgbClr val="8B2635"/>
              </a:solidFill>
              <a:prstDash val="solid"/>
            </a:ln>
          </p:spPr>
        </p:sp>
        <p:sp>
          <p:nvSpPr>
            <p:cNvPr id="32" name="Text 29"/>
            <p:cNvSpPr/>
            <p:nvPr/>
          </p:nvSpPr>
          <p:spPr>
            <a:xfrm>
              <a:off x="9715364" y="6682829"/>
              <a:ext cx="2095500" cy="254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500" b="1" dirty="0">
                  <a:solidFill>
                    <a:srgbClr val="8B263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N×</a:t>
              </a:r>
              <a:endParaRPr lang="en-US" sz="1600" dirty="0"/>
            </a:p>
          </p:txBody>
        </p:sp>
        <p:sp>
          <p:nvSpPr>
            <p:cNvPr id="33" name="Text 30"/>
            <p:cNvSpPr/>
            <p:nvPr/>
          </p:nvSpPr>
          <p:spPr>
            <a:xfrm>
              <a:off x="9735208" y="6968451"/>
              <a:ext cx="2055813" cy="1587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875" dirty="0">
                  <a:solidFill>
                    <a:srgbClr val="4A4A4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slower</a:t>
              </a:r>
              <a:endParaRPr lang="en-US" sz="1600" dirty="0"/>
            </a:p>
          </p:txBody>
        </p:sp>
      </p:grpSp>
      <p:sp>
        <p:nvSpPr>
          <p:cNvPr id="34" name="Text 31"/>
          <p:cNvSpPr/>
          <p:nvPr/>
        </p:nvSpPr>
        <p:spPr>
          <a:xfrm>
            <a:off x="261900" y="7301647"/>
            <a:ext cx="11612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Image source: UIC Mathematics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498" y="598795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No Bank Conflict Case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80956" y="1333235"/>
            <a:ext cx="5600700" cy="1143000"/>
          </a:xfrm>
          <a:custGeom>
            <a:avLst/>
            <a:gdLst/>
            <a:ahLst/>
            <a:cxnLst/>
            <a:rect l="l" t="t" r="r" b="b"/>
            <a:pathLst>
              <a:path w="5600700" h="1143000">
                <a:moveTo>
                  <a:pt x="76204" y="0"/>
                </a:moveTo>
                <a:lnTo>
                  <a:pt x="5524496" y="0"/>
                </a:lnTo>
                <a:cubicBezTo>
                  <a:pt x="5566582" y="0"/>
                  <a:pt x="5600700" y="34118"/>
                  <a:pt x="5600700" y="76204"/>
                </a:cubicBezTo>
                <a:lnTo>
                  <a:pt x="5600700" y="1066796"/>
                </a:lnTo>
                <a:cubicBezTo>
                  <a:pt x="5600700" y="1108882"/>
                  <a:pt x="5566582" y="1143000"/>
                  <a:pt x="5524496" y="1143000"/>
                </a:cubicBezTo>
                <a:lnTo>
                  <a:pt x="76204" y="1143000"/>
                </a:lnTo>
                <a:cubicBezTo>
                  <a:pt x="34118" y="1143000"/>
                  <a:pt x="0" y="1108882"/>
                  <a:pt x="0" y="106679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6" name="Text 4"/>
          <p:cNvSpPr/>
          <p:nvPr/>
        </p:nvSpPr>
        <p:spPr>
          <a:xfrm>
            <a:off x="609529" y="1561807"/>
            <a:ext cx="5257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Ideal Case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529" y="1980749"/>
            <a:ext cx="5229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Each thread accesses a different bank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0956" y="2628412"/>
            <a:ext cx="5600700" cy="3581400"/>
          </a:xfrm>
          <a:custGeom>
            <a:avLst/>
            <a:gdLst/>
            <a:ahLst/>
            <a:cxnLst/>
            <a:rect l="l" t="t" r="r" b="b"/>
            <a:pathLst>
              <a:path w="5600700" h="3581400">
                <a:moveTo>
                  <a:pt x="76212" y="0"/>
                </a:moveTo>
                <a:lnTo>
                  <a:pt x="5524488" y="0"/>
                </a:lnTo>
                <a:cubicBezTo>
                  <a:pt x="5566579" y="0"/>
                  <a:pt x="5600700" y="34121"/>
                  <a:pt x="5600700" y="76212"/>
                </a:cubicBezTo>
                <a:lnTo>
                  <a:pt x="5600700" y="3505188"/>
                </a:lnTo>
                <a:cubicBezTo>
                  <a:pt x="5600700" y="3547279"/>
                  <a:pt x="5566579" y="3581400"/>
                  <a:pt x="5524488" y="3581400"/>
                </a:cubicBezTo>
                <a:lnTo>
                  <a:pt x="76212" y="3581400"/>
                </a:lnTo>
                <a:cubicBezTo>
                  <a:pt x="34121" y="3581400"/>
                  <a:pt x="0" y="3547279"/>
                  <a:pt x="0" y="3505188"/>
                </a:cubicBezTo>
                <a:lnTo>
                  <a:pt x="0" y="76212"/>
                </a:lnTo>
                <a:cubicBezTo>
                  <a:pt x="0" y="34150"/>
                  <a:pt x="34150" y="0"/>
                  <a:pt x="76212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9" name="Shape 7"/>
          <p:cNvSpPr/>
          <p:nvPr/>
        </p:nvSpPr>
        <p:spPr>
          <a:xfrm>
            <a:off x="595209" y="285690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10" name="Text 8"/>
          <p:cNvSpPr/>
          <p:nvPr/>
        </p:nvSpPr>
        <p:spPr>
          <a:xfrm>
            <a:off x="809521" y="2818847"/>
            <a:ext cx="5076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Access Pattern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0352" y="3237937"/>
            <a:ext cx="5200555" cy="457200"/>
          </a:xfrm>
          <a:custGeom>
            <a:avLst/>
            <a:gdLst/>
            <a:ahLst/>
            <a:cxnLst/>
            <a:rect l="l" t="t" r="r" b="b"/>
            <a:pathLst>
              <a:path w="5200555" h="457200">
                <a:moveTo>
                  <a:pt x="37910" y="0"/>
                </a:moveTo>
                <a:lnTo>
                  <a:pt x="5124354" y="0"/>
                </a:lnTo>
                <a:cubicBezTo>
                  <a:pt x="5166439" y="0"/>
                  <a:pt x="5200555" y="34117"/>
                  <a:pt x="5200555" y="76202"/>
                </a:cubicBezTo>
                <a:lnTo>
                  <a:pt x="5200555" y="380998"/>
                </a:lnTo>
                <a:cubicBezTo>
                  <a:pt x="5200555" y="423083"/>
                  <a:pt x="5166439" y="457200"/>
                  <a:pt x="5124354" y="457200"/>
                </a:cubicBezTo>
                <a:lnTo>
                  <a:pt x="37910" y="457200"/>
                </a:lnTo>
                <a:cubicBezTo>
                  <a:pt x="16973" y="457200"/>
                  <a:pt x="0" y="440227"/>
                  <a:pt x="0" y="4192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2" name="Shape 10"/>
          <p:cNvSpPr/>
          <p:nvPr/>
        </p:nvSpPr>
        <p:spPr>
          <a:xfrm>
            <a:off x="590352" y="3237937"/>
            <a:ext cx="37910" cy="457200"/>
          </a:xfrm>
          <a:custGeom>
            <a:avLst/>
            <a:gdLst/>
            <a:ahLst/>
            <a:cxnLst/>
            <a:rect l="l" t="t" r="r" b="b"/>
            <a:pathLst>
              <a:path w="37910" h="457200">
                <a:moveTo>
                  <a:pt x="37910" y="0"/>
                </a:moveTo>
                <a:lnTo>
                  <a:pt x="37910" y="0"/>
                </a:lnTo>
                <a:lnTo>
                  <a:pt x="37910" y="457200"/>
                </a:lnTo>
                <a:lnTo>
                  <a:pt x="37910" y="457200"/>
                </a:lnTo>
                <a:cubicBezTo>
                  <a:pt x="16973" y="457200"/>
                  <a:pt x="0" y="440227"/>
                  <a:pt x="0" y="4192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13" name="Text 11"/>
          <p:cNvSpPr/>
          <p:nvPr/>
        </p:nvSpPr>
        <p:spPr>
          <a:xfrm>
            <a:off x="685498" y="3352191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263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thread 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14115" y="3314128"/>
            <a:ext cx="342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57012" y="3352191"/>
            <a:ext cx="581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B89A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bank 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0352" y="3771198"/>
            <a:ext cx="5200555" cy="457200"/>
          </a:xfrm>
          <a:custGeom>
            <a:avLst/>
            <a:gdLst/>
            <a:ahLst/>
            <a:cxnLst/>
            <a:rect l="l" t="t" r="r" b="b"/>
            <a:pathLst>
              <a:path w="5200555" h="457200">
                <a:moveTo>
                  <a:pt x="37910" y="0"/>
                </a:moveTo>
                <a:lnTo>
                  <a:pt x="5124354" y="0"/>
                </a:lnTo>
                <a:cubicBezTo>
                  <a:pt x="5166439" y="0"/>
                  <a:pt x="5200555" y="34117"/>
                  <a:pt x="5200555" y="76202"/>
                </a:cubicBezTo>
                <a:lnTo>
                  <a:pt x="5200555" y="380998"/>
                </a:lnTo>
                <a:cubicBezTo>
                  <a:pt x="5200555" y="423083"/>
                  <a:pt x="5166439" y="457200"/>
                  <a:pt x="5124354" y="457200"/>
                </a:cubicBezTo>
                <a:lnTo>
                  <a:pt x="37910" y="457200"/>
                </a:lnTo>
                <a:cubicBezTo>
                  <a:pt x="16973" y="457200"/>
                  <a:pt x="0" y="440227"/>
                  <a:pt x="0" y="4192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7" name="Shape 15"/>
          <p:cNvSpPr/>
          <p:nvPr/>
        </p:nvSpPr>
        <p:spPr>
          <a:xfrm>
            <a:off x="590352" y="3771198"/>
            <a:ext cx="37910" cy="457200"/>
          </a:xfrm>
          <a:custGeom>
            <a:avLst/>
            <a:gdLst/>
            <a:ahLst/>
            <a:cxnLst/>
            <a:rect l="l" t="t" r="r" b="b"/>
            <a:pathLst>
              <a:path w="37910" h="457200">
                <a:moveTo>
                  <a:pt x="37910" y="0"/>
                </a:moveTo>
                <a:lnTo>
                  <a:pt x="37910" y="0"/>
                </a:lnTo>
                <a:lnTo>
                  <a:pt x="37910" y="457200"/>
                </a:lnTo>
                <a:lnTo>
                  <a:pt x="37910" y="457200"/>
                </a:lnTo>
                <a:cubicBezTo>
                  <a:pt x="16973" y="457200"/>
                  <a:pt x="0" y="440227"/>
                  <a:pt x="0" y="4192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18" name="Text 16"/>
          <p:cNvSpPr/>
          <p:nvPr/>
        </p:nvSpPr>
        <p:spPr>
          <a:xfrm>
            <a:off x="685498" y="3885451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263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thread 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14115" y="3847398"/>
            <a:ext cx="342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057012" y="3885451"/>
            <a:ext cx="581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B89A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bank 1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0352" y="4304467"/>
            <a:ext cx="5200555" cy="457200"/>
          </a:xfrm>
          <a:custGeom>
            <a:avLst/>
            <a:gdLst/>
            <a:ahLst/>
            <a:cxnLst/>
            <a:rect l="l" t="t" r="r" b="b"/>
            <a:pathLst>
              <a:path w="5200555" h="457200">
                <a:moveTo>
                  <a:pt x="37910" y="0"/>
                </a:moveTo>
                <a:lnTo>
                  <a:pt x="5124354" y="0"/>
                </a:lnTo>
                <a:cubicBezTo>
                  <a:pt x="5166439" y="0"/>
                  <a:pt x="5200555" y="34117"/>
                  <a:pt x="5200555" y="76202"/>
                </a:cubicBezTo>
                <a:lnTo>
                  <a:pt x="5200555" y="380998"/>
                </a:lnTo>
                <a:cubicBezTo>
                  <a:pt x="5200555" y="423083"/>
                  <a:pt x="5166439" y="457200"/>
                  <a:pt x="5124354" y="457200"/>
                </a:cubicBezTo>
                <a:lnTo>
                  <a:pt x="37910" y="457200"/>
                </a:lnTo>
                <a:cubicBezTo>
                  <a:pt x="16973" y="457200"/>
                  <a:pt x="0" y="440227"/>
                  <a:pt x="0" y="4192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2" name="Shape 20"/>
          <p:cNvSpPr/>
          <p:nvPr/>
        </p:nvSpPr>
        <p:spPr>
          <a:xfrm>
            <a:off x="590352" y="4304467"/>
            <a:ext cx="37910" cy="457200"/>
          </a:xfrm>
          <a:custGeom>
            <a:avLst/>
            <a:gdLst/>
            <a:ahLst/>
            <a:cxnLst/>
            <a:rect l="l" t="t" r="r" b="b"/>
            <a:pathLst>
              <a:path w="37910" h="457200">
                <a:moveTo>
                  <a:pt x="37910" y="0"/>
                </a:moveTo>
                <a:lnTo>
                  <a:pt x="37910" y="0"/>
                </a:lnTo>
                <a:lnTo>
                  <a:pt x="37910" y="457200"/>
                </a:lnTo>
                <a:lnTo>
                  <a:pt x="37910" y="457200"/>
                </a:lnTo>
                <a:cubicBezTo>
                  <a:pt x="16973" y="457200"/>
                  <a:pt x="0" y="440227"/>
                  <a:pt x="0" y="4192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23" name="Text 21"/>
          <p:cNvSpPr/>
          <p:nvPr/>
        </p:nvSpPr>
        <p:spPr>
          <a:xfrm>
            <a:off x="685498" y="4418712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263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thread 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714115" y="4380658"/>
            <a:ext cx="342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057012" y="4418712"/>
            <a:ext cx="581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B89A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bank 2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90352" y="4837728"/>
            <a:ext cx="5200555" cy="457200"/>
          </a:xfrm>
          <a:custGeom>
            <a:avLst/>
            <a:gdLst/>
            <a:ahLst/>
            <a:cxnLst/>
            <a:rect l="l" t="t" r="r" b="b"/>
            <a:pathLst>
              <a:path w="5200555" h="457200">
                <a:moveTo>
                  <a:pt x="37910" y="0"/>
                </a:moveTo>
                <a:lnTo>
                  <a:pt x="5124354" y="0"/>
                </a:lnTo>
                <a:cubicBezTo>
                  <a:pt x="5166439" y="0"/>
                  <a:pt x="5200555" y="34117"/>
                  <a:pt x="5200555" y="76202"/>
                </a:cubicBezTo>
                <a:lnTo>
                  <a:pt x="5200555" y="380998"/>
                </a:lnTo>
                <a:cubicBezTo>
                  <a:pt x="5200555" y="423083"/>
                  <a:pt x="5166439" y="457200"/>
                  <a:pt x="5124354" y="457200"/>
                </a:cubicBezTo>
                <a:lnTo>
                  <a:pt x="37910" y="457200"/>
                </a:lnTo>
                <a:cubicBezTo>
                  <a:pt x="16973" y="457200"/>
                  <a:pt x="0" y="440227"/>
                  <a:pt x="0" y="4192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7" name="Shape 25"/>
          <p:cNvSpPr/>
          <p:nvPr/>
        </p:nvSpPr>
        <p:spPr>
          <a:xfrm>
            <a:off x="590352" y="4837728"/>
            <a:ext cx="37910" cy="457200"/>
          </a:xfrm>
          <a:custGeom>
            <a:avLst/>
            <a:gdLst/>
            <a:ahLst/>
            <a:cxnLst/>
            <a:rect l="l" t="t" r="r" b="b"/>
            <a:pathLst>
              <a:path w="37910" h="457200">
                <a:moveTo>
                  <a:pt x="37910" y="0"/>
                </a:moveTo>
                <a:lnTo>
                  <a:pt x="37910" y="0"/>
                </a:lnTo>
                <a:lnTo>
                  <a:pt x="37910" y="457200"/>
                </a:lnTo>
                <a:lnTo>
                  <a:pt x="37910" y="457200"/>
                </a:lnTo>
                <a:cubicBezTo>
                  <a:pt x="16973" y="457200"/>
                  <a:pt x="0" y="440227"/>
                  <a:pt x="0" y="4192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28" name="Text 26"/>
          <p:cNvSpPr/>
          <p:nvPr/>
        </p:nvSpPr>
        <p:spPr>
          <a:xfrm>
            <a:off x="685498" y="4951981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263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thread 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714115" y="4913919"/>
            <a:ext cx="342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057012" y="4951981"/>
            <a:ext cx="581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B89A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bank 3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0279" y="1333235"/>
            <a:ext cx="5600700" cy="3657600"/>
          </a:xfrm>
          <a:custGeom>
            <a:avLst/>
            <a:gdLst/>
            <a:ahLst/>
            <a:cxnLst/>
            <a:rect l="l" t="t" r="r" b="b"/>
            <a:pathLst>
              <a:path w="5600700" h="3657600">
                <a:moveTo>
                  <a:pt x="76188" y="0"/>
                </a:moveTo>
                <a:lnTo>
                  <a:pt x="5524512" y="0"/>
                </a:lnTo>
                <a:cubicBezTo>
                  <a:pt x="5566590" y="0"/>
                  <a:pt x="5600700" y="34110"/>
                  <a:pt x="5600700" y="76188"/>
                </a:cubicBezTo>
                <a:lnTo>
                  <a:pt x="5600700" y="3581412"/>
                </a:lnTo>
                <a:cubicBezTo>
                  <a:pt x="5600700" y="3623490"/>
                  <a:pt x="5566590" y="3657600"/>
                  <a:pt x="5524512" y="3657600"/>
                </a:cubicBezTo>
                <a:lnTo>
                  <a:pt x="76188" y="3657600"/>
                </a:lnTo>
                <a:cubicBezTo>
                  <a:pt x="34110" y="3657600"/>
                  <a:pt x="0" y="3623490"/>
                  <a:pt x="0" y="3581412"/>
                </a:cubicBezTo>
                <a:lnTo>
                  <a:pt x="0" y="76188"/>
                </a:lnTo>
                <a:cubicBezTo>
                  <a:pt x="0" y="34110"/>
                  <a:pt x="34110" y="0"/>
                  <a:pt x="76188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33" name="Shape 30"/>
          <p:cNvSpPr/>
          <p:nvPr/>
        </p:nvSpPr>
        <p:spPr>
          <a:xfrm>
            <a:off x="6210279" y="5143756"/>
            <a:ext cx="5600700" cy="1066800"/>
          </a:xfrm>
          <a:custGeom>
            <a:avLst/>
            <a:gdLst/>
            <a:ahLst/>
            <a:cxnLst/>
            <a:rect l="l" t="t" r="r" b="b"/>
            <a:pathLst>
              <a:path w="5600700" h="1066800">
                <a:moveTo>
                  <a:pt x="76202" y="0"/>
                </a:moveTo>
                <a:lnTo>
                  <a:pt x="5524498" y="0"/>
                </a:lnTo>
                <a:cubicBezTo>
                  <a:pt x="5566583" y="0"/>
                  <a:pt x="5600700" y="34117"/>
                  <a:pt x="5600700" y="76202"/>
                </a:cubicBezTo>
                <a:lnTo>
                  <a:pt x="5600700" y="990598"/>
                </a:lnTo>
                <a:cubicBezTo>
                  <a:pt x="5600700" y="1032683"/>
                  <a:pt x="5566583" y="1066800"/>
                  <a:pt x="552449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34" name="Text 31"/>
          <p:cNvSpPr/>
          <p:nvPr/>
        </p:nvSpPr>
        <p:spPr>
          <a:xfrm>
            <a:off x="6329282" y="5334191"/>
            <a:ext cx="53625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Parallel access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357857" y="5753207"/>
            <a:ext cx="5305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Maximum performance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314281" y="6286542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54757" y="618924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Bank Conflict 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463" y="1111033"/>
            <a:ext cx="5683250" cy="952500"/>
          </a:xfrm>
          <a:custGeom>
            <a:avLst/>
            <a:gdLst/>
            <a:ahLst/>
            <a:cxnLst/>
            <a:rect l="l" t="t" r="r" b="b"/>
            <a:pathLst>
              <a:path w="5683250" h="952500">
                <a:moveTo>
                  <a:pt x="63503" y="0"/>
                </a:moveTo>
                <a:lnTo>
                  <a:pt x="5619747" y="0"/>
                </a:lnTo>
                <a:cubicBezTo>
                  <a:pt x="5654819" y="0"/>
                  <a:pt x="5683250" y="28431"/>
                  <a:pt x="5683250" y="63503"/>
                </a:cubicBezTo>
                <a:lnTo>
                  <a:pt x="5683250" y="888997"/>
                </a:lnTo>
                <a:cubicBezTo>
                  <a:pt x="5683250" y="924069"/>
                  <a:pt x="5654819" y="952500"/>
                  <a:pt x="5619747" y="952500"/>
                </a:cubicBezTo>
                <a:lnTo>
                  <a:pt x="63503" y="952500"/>
                </a:lnTo>
                <a:cubicBezTo>
                  <a:pt x="28431" y="952500"/>
                  <a:pt x="0" y="924069"/>
                  <a:pt x="0" y="88899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6" name="Text 4"/>
          <p:cNvSpPr/>
          <p:nvPr/>
        </p:nvSpPr>
        <p:spPr>
          <a:xfrm>
            <a:off x="508000" y="1301750"/>
            <a:ext cx="389001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Conflict Case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8000" y="1650365"/>
            <a:ext cx="387350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Multiple threads access the same bank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17500" y="2190115"/>
            <a:ext cx="4096385" cy="4324985"/>
          </a:xfrm>
          <a:custGeom>
            <a:avLst/>
            <a:gdLst/>
            <a:ahLst/>
            <a:cxnLst/>
            <a:rect l="l" t="t" r="r" b="b"/>
            <a:pathLst>
              <a:path w="5683250" h="6000750">
                <a:moveTo>
                  <a:pt x="63482" y="0"/>
                </a:moveTo>
                <a:lnTo>
                  <a:pt x="5619768" y="0"/>
                </a:lnTo>
                <a:cubicBezTo>
                  <a:pt x="5654828" y="0"/>
                  <a:pt x="5683250" y="28422"/>
                  <a:pt x="5683250" y="63482"/>
                </a:cubicBezTo>
                <a:lnTo>
                  <a:pt x="5683250" y="5937268"/>
                </a:lnTo>
                <a:cubicBezTo>
                  <a:pt x="5683250" y="5972328"/>
                  <a:pt x="5654828" y="6000750"/>
                  <a:pt x="5619768" y="6000750"/>
                </a:cubicBezTo>
                <a:lnTo>
                  <a:pt x="63482" y="6000750"/>
                </a:lnTo>
                <a:cubicBezTo>
                  <a:pt x="28422" y="6000750"/>
                  <a:pt x="0" y="5972328"/>
                  <a:pt x="0" y="5937268"/>
                </a:cubicBezTo>
                <a:lnTo>
                  <a:pt x="0" y="63482"/>
                </a:lnTo>
                <a:cubicBezTo>
                  <a:pt x="0" y="28445"/>
                  <a:pt x="28445" y="0"/>
                  <a:pt x="63482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9" name="Shape 7"/>
          <p:cNvSpPr/>
          <p:nvPr/>
        </p:nvSpPr>
        <p:spPr>
          <a:xfrm>
            <a:off x="495935" y="2380615"/>
            <a:ext cx="114935" cy="114935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51780" y="51780"/>
                </a:moveTo>
                <a:cubicBezTo>
                  <a:pt x="54694" y="48865"/>
                  <a:pt x="59407" y="48865"/>
                  <a:pt x="62291" y="51780"/>
                </a:cubicBezTo>
                <a:lnTo>
                  <a:pt x="79344" y="68833"/>
                </a:lnTo>
                <a:lnTo>
                  <a:pt x="96397" y="51780"/>
                </a:lnTo>
                <a:cubicBezTo>
                  <a:pt x="99312" y="48865"/>
                  <a:pt x="104025" y="48865"/>
                  <a:pt x="106908" y="51780"/>
                </a:cubicBezTo>
                <a:cubicBezTo>
                  <a:pt x="109792" y="54694"/>
                  <a:pt x="109823" y="59407"/>
                  <a:pt x="106908" y="62291"/>
                </a:cubicBezTo>
                <a:lnTo>
                  <a:pt x="89855" y="79344"/>
                </a:lnTo>
                <a:lnTo>
                  <a:pt x="106908" y="96397"/>
                </a:lnTo>
                <a:cubicBezTo>
                  <a:pt x="109823" y="99312"/>
                  <a:pt x="109823" y="104025"/>
                  <a:pt x="106908" y="106908"/>
                </a:cubicBezTo>
                <a:cubicBezTo>
                  <a:pt x="103994" y="109792"/>
                  <a:pt x="99281" y="109823"/>
                  <a:pt x="96397" y="106908"/>
                </a:cubicBezTo>
                <a:lnTo>
                  <a:pt x="79344" y="89855"/>
                </a:lnTo>
                <a:lnTo>
                  <a:pt x="62291" y="106908"/>
                </a:lnTo>
                <a:cubicBezTo>
                  <a:pt x="59376" y="109823"/>
                  <a:pt x="54663" y="109823"/>
                  <a:pt x="51780" y="106908"/>
                </a:cubicBezTo>
                <a:cubicBezTo>
                  <a:pt x="48896" y="103994"/>
                  <a:pt x="48865" y="99281"/>
                  <a:pt x="51780" y="96397"/>
                </a:cubicBezTo>
                <a:lnTo>
                  <a:pt x="68833" y="79344"/>
                </a:lnTo>
                <a:lnTo>
                  <a:pt x="51780" y="62291"/>
                </a:lnTo>
                <a:cubicBezTo>
                  <a:pt x="48865" y="59376"/>
                  <a:pt x="48865" y="54663"/>
                  <a:pt x="51780" y="5178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10" name="Text 8"/>
          <p:cNvSpPr/>
          <p:nvPr/>
        </p:nvSpPr>
        <p:spPr>
          <a:xfrm>
            <a:off x="674370" y="2348865"/>
            <a:ext cx="3781425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Access Pattern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2125" y="2698115"/>
            <a:ext cx="3855720" cy="274320"/>
          </a:xfrm>
          <a:custGeom>
            <a:avLst/>
            <a:gdLst/>
            <a:ahLst/>
            <a:cxnLst/>
            <a:rect l="l" t="t" r="r" b="b"/>
            <a:pathLst>
              <a:path w="5349796" h="381000">
                <a:moveTo>
                  <a:pt x="31592" y="0"/>
                </a:moveTo>
                <a:lnTo>
                  <a:pt x="5286295" y="0"/>
                </a:lnTo>
                <a:cubicBezTo>
                  <a:pt x="5321366" y="0"/>
                  <a:pt x="5349796" y="28430"/>
                  <a:pt x="5349796" y="63501"/>
                </a:cubicBezTo>
                <a:lnTo>
                  <a:pt x="5349796" y="317499"/>
                </a:lnTo>
                <a:cubicBezTo>
                  <a:pt x="5349796" y="352570"/>
                  <a:pt x="5321366" y="381000"/>
                  <a:pt x="5286295" y="381000"/>
                </a:cubicBezTo>
                <a:lnTo>
                  <a:pt x="31592" y="381000"/>
                </a:lnTo>
                <a:cubicBezTo>
                  <a:pt x="14144" y="381000"/>
                  <a:pt x="0" y="366856"/>
                  <a:pt x="0" y="349408"/>
                </a:cubicBezTo>
                <a:lnTo>
                  <a:pt x="0" y="31592"/>
                </a:lnTo>
                <a:cubicBezTo>
                  <a:pt x="0" y="14156"/>
                  <a:pt x="14156" y="0"/>
                  <a:pt x="3159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2" name="Shape 10"/>
          <p:cNvSpPr/>
          <p:nvPr/>
        </p:nvSpPr>
        <p:spPr>
          <a:xfrm>
            <a:off x="492125" y="2698115"/>
            <a:ext cx="76200" cy="281940"/>
          </a:xfrm>
          <a:custGeom>
            <a:avLst/>
            <a:gdLst/>
            <a:ahLst/>
            <a:cxnLst/>
            <a:rect l="l" t="t" r="r" b="b"/>
            <a:pathLst>
              <a:path w="31592" h="381000">
                <a:moveTo>
                  <a:pt x="31592" y="0"/>
                </a:moveTo>
                <a:lnTo>
                  <a:pt x="31592" y="0"/>
                </a:lnTo>
                <a:lnTo>
                  <a:pt x="31592" y="381000"/>
                </a:lnTo>
                <a:lnTo>
                  <a:pt x="31592" y="381000"/>
                </a:lnTo>
                <a:cubicBezTo>
                  <a:pt x="14144" y="381000"/>
                  <a:pt x="0" y="366856"/>
                  <a:pt x="0" y="349408"/>
                </a:cubicBezTo>
                <a:lnTo>
                  <a:pt x="0" y="31592"/>
                </a:lnTo>
                <a:cubicBezTo>
                  <a:pt x="0" y="14156"/>
                  <a:pt x="14156" y="0"/>
                  <a:pt x="31592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13" name="Text 11"/>
          <p:cNvSpPr/>
          <p:nvPr/>
        </p:nvSpPr>
        <p:spPr>
          <a:xfrm>
            <a:off x="571500" y="2793365"/>
            <a:ext cx="594995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B263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thread 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28115" y="2761615"/>
            <a:ext cx="206375" cy="1835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13865" y="2793365"/>
            <a:ext cx="349250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B263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bank 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2125" y="3142615"/>
            <a:ext cx="3855720" cy="274320"/>
          </a:xfrm>
          <a:custGeom>
            <a:avLst/>
            <a:gdLst/>
            <a:ahLst/>
            <a:cxnLst/>
            <a:rect l="l" t="t" r="r" b="b"/>
            <a:pathLst>
              <a:path w="5349796" h="381000">
                <a:moveTo>
                  <a:pt x="31592" y="0"/>
                </a:moveTo>
                <a:lnTo>
                  <a:pt x="5286295" y="0"/>
                </a:lnTo>
                <a:cubicBezTo>
                  <a:pt x="5321366" y="0"/>
                  <a:pt x="5349796" y="28430"/>
                  <a:pt x="5349796" y="63501"/>
                </a:cubicBezTo>
                <a:lnTo>
                  <a:pt x="5349796" y="317499"/>
                </a:lnTo>
                <a:cubicBezTo>
                  <a:pt x="5349796" y="352570"/>
                  <a:pt x="5321366" y="381000"/>
                  <a:pt x="5286295" y="381000"/>
                </a:cubicBezTo>
                <a:lnTo>
                  <a:pt x="31592" y="381000"/>
                </a:lnTo>
                <a:cubicBezTo>
                  <a:pt x="14144" y="381000"/>
                  <a:pt x="0" y="366856"/>
                  <a:pt x="0" y="349408"/>
                </a:cubicBezTo>
                <a:lnTo>
                  <a:pt x="0" y="31592"/>
                </a:lnTo>
                <a:cubicBezTo>
                  <a:pt x="0" y="14156"/>
                  <a:pt x="14156" y="0"/>
                  <a:pt x="3159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7" name="Shape 15"/>
          <p:cNvSpPr/>
          <p:nvPr/>
        </p:nvSpPr>
        <p:spPr>
          <a:xfrm>
            <a:off x="492125" y="3142615"/>
            <a:ext cx="76200" cy="281940"/>
          </a:xfrm>
          <a:custGeom>
            <a:avLst/>
            <a:gdLst/>
            <a:ahLst/>
            <a:cxnLst/>
            <a:rect l="l" t="t" r="r" b="b"/>
            <a:pathLst>
              <a:path w="31592" h="381000">
                <a:moveTo>
                  <a:pt x="31592" y="0"/>
                </a:moveTo>
                <a:lnTo>
                  <a:pt x="31592" y="0"/>
                </a:lnTo>
                <a:lnTo>
                  <a:pt x="31592" y="381000"/>
                </a:lnTo>
                <a:lnTo>
                  <a:pt x="31592" y="381000"/>
                </a:lnTo>
                <a:cubicBezTo>
                  <a:pt x="14144" y="381000"/>
                  <a:pt x="0" y="366856"/>
                  <a:pt x="0" y="349408"/>
                </a:cubicBezTo>
                <a:lnTo>
                  <a:pt x="0" y="31592"/>
                </a:lnTo>
                <a:cubicBezTo>
                  <a:pt x="0" y="14156"/>
                  <a:pt x="14156" y="0"/>
                  <a:pt x="31592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18" name="Text 16"/>
          <p:cNvSpPr/>
          <p:nvPr/>
        </p:nvSpPr>
        <p:spPr>
          <a:xfrm>
            <a:off x="571500" y="3237865"/>
            <a:ext cx="594995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B263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thread 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28115" y="3206115"/>
            <a:ext cx="206375" cy="1835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13865" y="3237865"/>
            <a:ext cx="349250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B263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bank 0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2125" y="3587115"/>
            <a:ext cx="3855720" cy="274320"/>
          </a:xfrm>
          <a:custGeom>
            <a:avLst/>
            <a:gdLst/>
            <a:ahLst/>
            <a:cxnLst/>
            <a:rect l="l" t="t" r="r" b="b"/>
            <a:pathLst>
              <a:path w="5349796" h="381000">
                <a:moveTo>
                  <a:pt x="31592" y="0"/>
                </a:moveTo>
                <a:lnTo>
                  <a:pt x="5286295" y="0"/>
                </a:lnTo>
                <a:cubicBezTo>
                  <a:pt x="5321366" y="0"/>
                  <a:pt x="5349796" y="28430"/>
                  <a:pt x="5349796" y="63501"/>
                </a:cubicBezTo>
                <a:lnTo>
                  <a:pt x="5349796" y="317499"/>
                </a:lnTo>
                <a:cubicBezTo>
                  <a:pt x="5349796" y="352570"/>
                  <a:pt x="5321366" y="381000"/>
                  <a:pt x="5286295" y="381000"/>
                </a:cubicBezTo>
                <a:lnTo>
                  <a:pt x="31592" y="381000"/>
                </a:lnTo>
                <a:cubicBezTo>
                  <a:pt x="14144" y="381000"/>
                  <a:pt x="0" y="366856"/>
                  <a:pt x="0" y="349408"/>
                </a:cubicBezTo>
                <a:lnTo>
                  <a:pt x="0" y="31592"/>
                </a:lnTo>
                <a:cubicBezTo>
                  <a:pt x="0" y="14156"/>
                  <a:pt x="14156" y="0"/>
                  <a:pt x="3159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2" name="Shape 20"/>
          <p:cNvSpPr/>
          <p:nvPr/>
        </p:nvSpPr>
        <p:spPr>
          <a:xfrm>
            <a:off x="492125" y="3587115"/>
            <a:ext cx="76200" cy="281940"/>
          </a:xfrm>
          <a:custGeom>
            <a:avLst/>
            <a:gdLst/>
            <a:ahLst/>
            <a:cxnLst/>
            <a:rect l="l" t="t" r="r" b="b"/>
            <a:pathLst>
              <a:path w="31592" h="381000">
                <a:moveTo>
                  <a:pt x="31592" y="0"/>
                </a:moveTo>
                <a:lnTo>
                  <a:pt x="31592" y="0"/>
                </a:lnTo>
                <a:lnTo>
                  <a:pt x="31592" y="381000"/>
                </a:lnTo>
                <a:lnTo>
                  <a:pt x="31592" y="381000"/>
                </a:lnTo>
                <a:cubicBezTo>
                  <a:pt x="14144" y="381000"/>
                  <a:pt x="0" y="366856"/>
                  <a:pt x="0" y="349408"/>
                </a:cubicBezTo>
                <a:lnTo>
                  <a:pt x="0" y="31592"/>
                </a:lnTo>
                <a:cubicBezTo>
                  <a:pt x="0" y="14156"/>
                  <a:pt x="14156" y="0"/>
                  <a:pt x="31592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23" name="Text 21"/>
          <p:cNvSpPr/>
          <p:nvPr/>
        </p:nvSpPr>
        <p:spPr>
          <a:xfrm>
            <a:off x="571500" y="3682365"/>
            <a:ext cx="594995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B263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thread 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28115" y="3650615"/>
            <a:ext cx="206375" cy="1835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713865" y="3682365"/>
            <a:ext cx="349250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B263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bank 0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92125" y="4031615"/>
            <a:ext cx="3855720" cy="274320"/>
          </a:xfrm>
          <a:custGeom>
            <a:avLst/>
            <a:gdLst/>
            <a:ahLst/>
            <a:cxnLst/>
            <a:rect l="l" t="t" r="r" b="b"/>
            <a:pathLst>
              <a:path w="5349796" h="381000">
                <a:moveTo>
                  <a:pt x="31592" y="0"/>
                </a:moveTo>
                <a:lnTo>
                  <a:pt x="5286295" y="0"/>
                </a:lnTo>
                <a:cubicBezTo>
                  <a:pt x="5321366" y="0"/>
                  <a:pt x="5349796" y="28430"/>
                  <a:pt x="5349796" y="63501"/>
                </a:cubicBezTo>
                <a:lnTo>
                  <a:pt x="5349796" y="317499"/>
                </a:lnTo>
                <a:cubicBezTo>
                  <a:pt x="5349796" y="352570"/>
                  <a:pt x="5321366" y="381000"/>
                  <a:pt x="5286295" y="381000"/>
                </a:cubicBezTo>
                <a:lnTo>
                  <a:pt x="31592" y="381000"/>
                </a:lnTo>
                <a:cubicBezTo>
                  <a:pt x="14144" y="381000"/>
                  <a:pt x="0" y="366856"/>
                  <a:pt x="0" y="349408"/>
                </a:cubicBezTo>
                <a:lnTo>
                  <a:pt x="0" y="31592"/>
                </a:lnTo>
                <a:cubicBezTo>
                  <a:pt x="0" y="14156"/>
                  <a:pt x="14156" y="0"/>
                  <a:pt x="3159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7" name="Shape 25"/>
          <p:cNvSpPr/>
          <p:nvPr/>
        </p:nvSpPr>
        <p:spPr>
          <a:xfrm>
            <a:off x="492125" y="4031615"/>
            <a:ext cx="76200" cy="281940"/>
          </a:xfrm>
          <a:custGeom>
            <a:avLst/>
            <a:gdLst/>
            <a:ahLst/>
            <a:cxnLst/>
            <a:rect l="l" t="t" r="r" b="b"/>
            <a:pathLst>
              <a:path w="31592" h="381000">
                <a:moveTo>
                  <a:pt x="31592" y="0"/>
                </a:moveTo>
                <a:lnTo>
                  <a:pt x="31592" y="0"/>
                </a:lnTo>
                <a:lnTo>
                  <a:pt x="31592" y="381000"/>
                </a:lnTo>
                <a:lnTo>
                  <a:pt x="31592" y="381000"/>
                </a:lnTo>
                <a:cubicBezTo>
                  <a:pt x="14144" y="381000"/>
                  <a:pt x="0" y="366856"/>
                  <a:pt x="0" y="349408"/>
                </a:cubicBezTo>
                <a:lnTo>
                  <a:pt x="0" y="31592"/>
                </a:lnTo>
                <a:cubicBezTo>
                  <a:pt x="0" y="14156"/>
                  <a:pt x="14156" y="0"/>
                  <a:pt x="31592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28" name="Text 26"/>
          <p:cNvSpPr/>
          <p:nvPr/>
        </p:nvSpPr>
        <p:spPr>
          <a:xfrm>
            <a:off x="571500" y="4126865"/>
            <a:ext cx="594995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B263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thread 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28115" y="4095115"/>
            <a:ext cx="206375" cy="1835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713865" y="4126865"/>
            <a:ext cx="349250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B263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bank 0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91250" y="1111250"/>
            <a:ext cx="4818380" cy="5141595"/>
          </a:xfrm>
          <a:custGeom>
            <a:avLst/>
            <a:gdLst/>
            <a:ahLst/>
            <a:cxnLst/>
            <a:rect l="l" t="t" r="r" b="b"/>
            <a:pathLst>
              <a:path w="5683250" h="6064250">
                <a:moveTo>
                  <a:pt x="63482" y="0"/>
                </a:moveTo>
                <a:lnTo>
                  <a:pt x="5619768" y="0"/>
                </a:lnTo>
                <a:cubicBezTo>
                  <a:pt x="5654828" y="0"/>
                  <a:pt x="5683250" y="28422"/>
                  <a:pt x="5683250" y="63482"/>
                </a:cubicBezTo>
                <a:lnTo>
                  <a:pt x="5683250" y="6000768"/>
                </a:lnTo>
                <a:cubicBezTo>
                  <a:pt x="5683250" y="6035828"/>
                  <a:pt x="5654828" y="6064250"/>
                  <a:pt x="5619768" y="6064250"/>
                </a:cubicBezTo>
                <a:lnTo>
                  <a:pt x="63482" y="6064250"/>
                </a:lnTo>
                <a:cubicBezTo>
                  <a:pt x="28422" y="6064250"/>
                  <a:pt x="0" y="6035828"/>
                  <a:pt x="0" y="6000768"/>
                </a:cubicBezTo>
                <a:lnTo>
                  <a:pt x="0" y="63482"/>
                </a:lnTo>
                <a:cubicBezTo>
                  <a:pt x="0" y="28445"/>
                  <a:pt x="28445" y="0"/>
                  <a:pt x="63482" y="0"/>
                </a:cubicBezTo>
                <a:close/>
              </a:path>
            </a:pathLst>
          </a:custGeom>
          <a:solidFill>
            <a:srgbClr val="F8F8F8"/>
          </a:solidFill>
        </p:spPr>
      </p:sp>
      <p:pic>
        <p:nvPicPr>
          <p:cNvPr id="32" name="Image 0" descr="https://kimi-web-img.moonshot.cn/img/leimao.github.io/1148ea444f99e60cc1781f27e5ed3e15ff8a283b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501765" y="1301750"/>
            <a:ext cx="3008630" cy="4473575"/>
          </a:xfrm>
          <a:prstGeom prst="roundRect">
            <a:avLst>
              <a:gd name="adj" fmla="val 821"/>
            </a:avLst>
          </a:prstGeom>
        </p:spPr>
      </p:pic>
      <p:sp>
        <p:nvSpPr>
          <p:cNvPr id="33" name="Shape 30"/>
          <p:cNvSpPr/>
          <p:nvPr/>
        </p:nvSpPr>
        <p:spPr>
          <a:xfrm>
            <a:off x="6402692" y="5935561"/>
            <a:ext cx="5683250" cy="889000"/>
          </a:xfrm>
          <a:custGeom>
            <a:avLst/>
            <a:gdLst/>
            <a:ahLst/>
            <a:cxnLst/>
            <a:rect l="l" t="t" r="r" b="b"/>
            <a:pathLst>
              <a:path w="5683250" h="889000">
                <a:moveTo>
                  <a:pt x="63501" y="0"/>
                </a:moveTo>
                <a:lnTo>
                  <a:pt x="5619749" y="0"/>
                </a:lnTo>
                <a:cubicBezTo>
                  <a:pt x="5654820" y="0"/>
                  <a:pt x="5683250" y="28430"/>
                  <a:pt x="5683250" y="63501"/>
                </a:cubicBezTo>
                <a:lnTo>
                  <a:pt x="5683250" y="825499"/>
                </a:lnTo>
                <a:cubicBezTo>
                  <a:pt x="5683250" y="860570"/>
                  <a:pt x="5654820" y="889000"/>
                  <a:pt x="5619749" y="889000"/>
                </a:cubicBezTo>
                <a:lnTo>
                  <a:pt x="63501" y="889000"/>
                </a:lnTo>
                <a:cubicBezTo>
                  <a:pt x="28430" y="889000"/>
                  <a:pt x="0" y="860570"/>
                  <a:pt x="0" y="825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A4A4A"/>
          </a:solidFill>
        </p:spPr>
      </p:sp>
      <p:sp>
        <p:nvSpPr>
          <p:cNvPr id="34" name="Text 31"/>
          <p:cNvSpPr/>
          <p:nvPr/>
        </p:nvSpPr>
        <p:spPr>
          <a:xfrm>
            <a:off x="6501862" y="6094265"/>
            <a:ext cx="5484813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Serialized execution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525674" y="6443445"/>
            <a:ext cx="543718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Performance degraded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261900" y="8254411"/>
            <a:ext cx="11612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Image source: Lei Mao's Log Book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90459" y="618734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How to Avoid Bank Conflicts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0956" y="1333230"/>
            <a:ext cx="6762750" cy="1143000"/>
          </a:xfrm>
          <a:custGeom>
            <a:avLst/>
            <a:gdLst/>
            <a:ahLst/>
            <a:cxnLst/>
            <a:rect l="l" t="t" r="r" b="b"/>
            <a:pathLst>
              <a:path w="6762750" h="1143000">
                <a:moveTo>
                  <a:pt x="76204" y="0"/>
                </a:moveTo>
                <a:lnTo>
                  <a:pt x="6686546" y="0"/>
                </a:lnTo>
                <a:cubicBezTo>
                  <a:pt x="6728632" y="0"/>
                  <a:pt x="6762750" y="34118"/>
                  <a:pt x="6762750" y="76204"/>
                </a:cubicBezTo>
                <a:lnTo>
                  <a:pt x="6762750" y="1066796"/>
                </a:lnTo>
                <a:cubicBezTo>
                  <a:pt x="6762750" y="1108882"/>
                  <a:pt x="6728632" y="1143000"/>
                  <a:pt x="6686546" y="1143000"/>
                </a:cubicBezTo>
                <a:lnTo>
                  <a:pt x="76204" y="1143000"/>
                </a:lnTo>
                <a:cubicBezTo>
                  <a:pt x="34118" y="1143000"/>
                  <a:pt x="0" y="1108882"/>
                  <a:pt x="0" y="106679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6" name="Text 4"/>
          <p:cNvSpPr/>
          <p:nvPr/>
        </p:nvSpPr>
        <p:spPr>
          <a:xfrm>
            <a:off x="609529" y="1561812"/>
            <a:ext cx="64198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Padding Method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529" y="1980744"/>
            <a:ext cx="63912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Avoid conflicts by adding padding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0956" y="2628407"/>
            <a:ext cx="6762750" cy="3848100"/>
          </a:xfrm>
          <a:custGeom>
            <a:avLst/>
            <a:gdLst/>
            <a:ahLst/>
            <a:cxnLst/>
            <a:rect l="l" t="t" r="r" b="b"/>
            <a:pathLst>
              <a:path w="6762750" h="3848100">
                <a:moveTo>
                  <a:pt x="76192" y="0"/>
                </a:moveTo>
                <a:lnTo>
                  <a:pt x="6686558" y="0"/>
                </a:lnTo>
                <a:cubicBezTo>
                  <a:pt x="6728638" y="0"/>
                  <a:pt x="6762750" y="34112"/>
                  <a:pt x="6762750" y="76192"/>
                </a:cubicBezTo>
                <a:lnTo>
                  <a:pt x="6762750" y="3771908"/>
                </a:lnTo>
                <a:cubicBezTo>
                  <a:pt x="6762750" y="3813988"/>
                  <a:pt x="6728638" y="3848100"/>
                  <a:pt x="6686558" y="3848100"/>
                </a:cubicBezTo>
                <a:lnTo>
                  <a:pt x="76192" y="3848100"/>
                </a:lnTo>
                <a:cubicBezTo>
                  <a:pt x="34112" y="3848100"/>
                  <a:pt x="0" y="3813988"/>
                  <a:pt x="0" y="37719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9" name="Shape 7"/>
          <p:cNvSpPr/>
          <p:nvPr/>
        </p:nvSpPr>
        <p:spPr>
          <a:xfrm>
            <a:off x="583303" y="285690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10" name="Text 8"/>
          <p:cNvSpPr/>
          <p:nvPr/>
        </p:nvSpPr>
        <p:spPr>
          <a:xfrm>
            <a:off x="809521" y="2818851"/>
            <a:ext cx="6238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0352" y="3237942"/>
            <a:ext cx="6362605" cy="3048000"/>
          </a:xfrm>
          <a:custGeom>
            <a:avLst/>
            <a:gdLst/>
            <a:ahLst/>
            <a:cxnLst/>
            <a:rect l="l" t="t" r="r" b="b"/>
            <a:pathLst>
              <a:path w="6362605" h="3048000">
                <a:moveTo>
                  <a:pt x="37910" y="0"/>
                </a:moveTo>
                <a:lnTo>
                  <a:pt x="6286405" y="0"/>
                </a:lnTo>
                <a:cubicBezTo>
                  <a:pt x="6328461" y="0"/>
                  <a:pt x="6362605" y="34144"/>
                  <a:pt x="6362605" y="76200"/>
                </a:cubicBezTo>
                <a:lnTo>
                  <a:pt x="6362605" y="2971800"/>
                </a:lnTo>
                <a:cubicBezTo>
                  <a:pt x="6362605" y="3013856"/>
                  <a:pt x="6328461" y="3048000"/>
                  <a:pt x="6286405" y="3048000"/>
                </a:cubicBezTo>
                <a:lnTo>
                  <a:pt x="37910" y="3048000"/>
                </a:lnTo>
                <a:cubicBezTo>
                  <a:pt x="16973" y="3048000"/>
                  <a:pt x="0" y="3031027"/>
                  <a:pt x="0" y="30100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5F5F5"/>
          </a:solidFill>
        </p:spPr>
      </p:sp>
      <p:sp>
        <p:nvSpPr>
          <p:cNvPr id="12" name="Shape 10"/>
          <p:cNvSpPr/>
          <p:nvPr/>
        </p:nvSpPr>
        <p:spPr>
          <a:xfrm>
            <a:off x="590352" y="3237942"/>
            <a:ext cx="37910" cy="3048000"/>
          </a:xfrm>
          <a:custGeom>
            <a:avLst/>
            <a:gdLst/>
            <a:ahLst/>
            <a:cxnLst/>
            <a:rect l="l" t="t" r="r" b="b"/>
            <a:pathLst>
              <a:path w="37910" h="3048000">
                <a:moveTo>
                  <a:pt x="37910" y="0"/>
                </a:moveTo>
                <a:lnTo>
                  <a:pt x="37910" y="0"/>
                </a:lnTo>
                <a:lnTo>
                  <a:pt x="37910" y="3048000"/>
                </a:lnTo>
                <a:lnTo>
                  <a:pt x="37910" y="3048000"/>
                </a:lnTo>
                <a:cubicBezTo>
                  <a:pt x="16973" y="3048000"/>
                  <a:pt x="0" y="3031027"/>
                  <a:pt x="0" y="30100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13" name="Text 11"/>
          <p:cNvSpPr/>
          <p:nvPr/>
        </p:nvSpPr>
        <p:spPr>
          <a:xfrm>
            <a:off x="761689" y="3390323"/>
            <a:ext cx="6115050" cy="274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// Original declaration (may cause bank conflict)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__shared__ float tile[32][32];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// After padding (avoids bank conflict)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__shared__ float tile[32][33];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// Explanation: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// Original: 32 floats per row, exactly occupying 32 banks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// Result: elements in the same column share the same bank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//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// Padding: 33 floats per row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// Result: elements in the same column are spread across different banks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76099" y="1333230"/>
            <a:ext cx="4438650" cy="4229100"/>
          </a:xfrm>
          <a:custGeom>
            <a:avLst/>
            <a:gdLst/>
            <a:ahLst/>
            <a:cxnLst/>
            <a:rect l="l" t="t" r="r" b="b"/>
            <a:pathLst>
              <a:path w="4438650" h="4229100">
                <a:moveTo>
                  <a:pt x="76208" y="0"/>
                </a:moveTo>
                <a:lnTo>
                  <a:pt x="4362442" y="0"/>
                </a:lnTo>
                <a:cubicBezTo>
                  <a:pt x="4404530" y="0"/>
                  <a:pt x="4438650" y="34120"/>
                  <a:pt x="4438650" y="76208"/>
                </a:cubicBezTo>
                <a:lnTo>
                  <a:pt x="4438650" y="4152892"/>
                </a:lnTo>
                <a:cubicBezTo>
                  <a:pt x="4438650" y="4194980"/>
                  <a:pt x="4404530" y="4229100"/>
                  <a:pt x="4362442" y="4229100"/>
                </a:cubicBezTo>
                <a:lnTo>
                  <a:pt x="76208" y="4229100"/>
                </a:lnTo>
                <a:cubicBezTo>
                  <a:pt x="34120" y="4229100"/>
                  <a:pt x="0" y="4194980"/>
                  <a:pt x="0" y="41528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15" name="Shape 13"/>
          <p:cNvSpPr/>
          <p:nvPr/>
        </p:nvSpPr>
        <p:spPr>
          <a:xfrm>
            <a:off x="7607022" y="1571281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16" name="Text 14"/>
          <p:cNvSpPr/>
          <p:nvPr/>
        </p:nvSpPr>
        <p:spPr>
          <a:xfrm>
            <a:off x="7776090" y="1523674"/>
            <a:ext cx="3933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585496" y="1904628"/>
            <a:ext cx="4038505" cy="914400"/>
          </a:xfrm>
          <a:custGeom>
            <a:avLst/>
            <a:gdLst/>
            <a:ahLst/>
            <a:cxnLst/>
            <a:rect l="l" t="t" r="r" b="b"/>
            <a:pathLst>
              <a:path w="4038505" h="914400">
                <a:moveTo>
                  <a:pt x="37910" y="0"/>
                </a:moveTo>
                <a:lnTo>
                  <a:pt x="3962308" y="0"/>
                </a:lnTo>
                <a:cubicBezTo>
                  <a:pt x="4004391" y="0"/>
                  <a:pt x="4038505" y="34115"/>
                  <a:pt x="4038505" y="76197"/>
                </a:cubicBezTo>
                <a:lnTo>
                  <a:pt x="4038505" y="838203"/>
                </a:lnTo>
                <a:cubicBezTo>
                  <a:pt x="4038505" y="880285"/>
                  <a:pt x="4004391" y="914400"/>
                  <a:pt x="3962308" y="914400"/>
                </a:cubicBezTo>
                <a:lnTo>
                  <a:pt x="37910" y="914400"/>
                </a:lnTo>
                <a:cubicBezTo>
                  <a:pt x="16973" y="914400"/>
                  <a:pt x="0" y="897427"/>
                  <a:pt x="0" y="8764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8" name="Shape 16"/>
          <p:cNvSpPr/>
          <p:nvPr/>
        </p:nvSpPr>
        <p:spPr>
          <a:xfrm>
            <a:off x="7585496" y="1904628"/>
            <a:ext cx="37910" cy="914400"/>
          </a:xfrm>
          <a:custGeom>
            <a:avLst/>
            <a:gdLst/>
            <a:ahLst/>
            <a:cxnLst/>
            <a:rect l="l" t="t" r="r" b="b"/>
            <a:pathLst>
              <a:path w="37910" h="914400">
                <a:moveTo>
                  <a:pt x="37910" y="0"/>
                </a:moveTo>
                <a:lnTo>
                  <a:pt x="37910" y="0"/>
                </a:lnTo>
                <a:lnTo>
                  <a:pt x="37910" y="914400"/>
                </a:lnTo>
                <a:lnTo>
                  <a:pt x="37910" y="914400"/>
                </a:lnTo>
                <a:cubicBezTo>
                  <a:pt x="16973" y="914400"/>
                  <a:pt x="0" y="897427"/>
                  <a:pt x="0" y="8764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19" name="Text 17"/>
          <p:cNvSpPr/>
          <p:nvPr/>
        </p:nvSpPr>
        <p:spPr>
          <a:xfrm>
            <a:off x="7718700" y="2018881"/>
            <a:ext cx="3867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Original array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18700" y="2285516"/>
            <a:ext cx="3857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tile[32][32]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18700" y="2514014"/>
            <a:ext cx="3857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32 elements per row, aligned to 32 banks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585496" y="2932947"/>
            <a:ext cx="4038505" cy="914400"/>
          </a:xfrm>
          <a:custGeom>
            <a:avLst/>
            <a:gdLst/>
            <a:ahLst/>
            <a:cxnLst/>
            <a:rect l="l" t="t" r="r" b="b"/>
            <a:pathLst>
              <a:path w="4038505" h="914400">
                <a:moveTo>
                  <a:pt x="37910" y="0"/>
                </a:moveTo>
                <a:lnTo>
                  <a:pt x="3962308" y="0"/>
                </a:lnTo>
                <a:cubicBezTo>
                  <a:pt x="4004391" y="0"/>
                  <a:pt x="4038505" y="34115"/>
                  <a:pt x="4038505" y="76197"/>
                </a:cubicBezTo>
                <a:lnTo>
                  <a:pt x="4038505" y="838203"/>
                </a:lnTo>
                <a:cubicBezTo>
                  <a:pt x="4038505" y="880285"/>
                  <a:pt x="4004391" y="914400"/>
                  <a:pt x="3962308" y="914400"/>
                </a:cubicBezTo>
                <a:lnTo>
                  <a:pt x="37910" y="914400"/>
                </a:lnTo>
                <a:cubicBezTo>
                  <a:pt x="16973" y="914400"/>
                  <a:pt x="0" y="897427"/>
                  <a:pt x="0" y="8764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3" name="Shape 21"/>
          <p:cNvSpPr/>
          <p:nvPr/>
        </p:nvSpPr>
        <p:spPr>
          <a:xfrm>
            <a:off x="7585496" y="2932947"/>
            <a:ext cx="37910" cy="914400"/>
          </a:xfrm>
          <a:custGeom>
            <a:avLst/>
            <a:gdLst/>
            <a:ahLst/>
            <a:cxnLst/>
            <a:rect l="l" t="t" r="r" b="b"/>
            <a:pathLst>
              <a:path w="37910" h="914400">
                <a:moveTo>
                  <a:pt x="37910" y="0"/>
                </a:moveTo>
                <a:lnTo>
                  <a:pt x="37910" y="0"/>
                </a:lnTo>
                <a:lnTo>
                  <a:pt x="37910" y="914400"/>
                </a:lnTo>
                <a:lnTo>
                  <a:pt x="37910" y="914400"/>
                </a:lnTo>
                <a:cubicBezTo>
                  <a:pt x="16973" y="914400"/>
                  <a:pt x="0" y="897427"/>
                  <a:pt x="0" y="8764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24" name="Text 22"/>
          <p:cNvSpPr/>
          <p:nvPr/>
        </p:nvSpPr>
        <p:spPr>
          <a:xfrm>
            <a:off x="7718700" y="3047200"/>
            <a:ext cx="3867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After padding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18700" y="3313835"/>
            <a:ext cx="3857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tile[32][33]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18700" y="3542333"/>
            <a:ext cx="3857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33 elements per row, staggering the bank distribution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585496" y="3961274"/>
            <a:ext cx="4038505" cy="685800"/>
          </a:xfrm>
          <a:custGeom>
            <a:avLst/>
            <a:gdLst/>
            <a:ahLst/>
            <a:cxnLst/>
            <a:rect l="l" t="t" r="r" b="b"/>
            <a:pathLst>
              <a:path w="4038505" h="685800">
                <a:moveTo>
                  <a:pt x="37910" y="0"/>
                </a:moveTo>
                <a:lnTo>
                  <a:pt x="3962306" y="0"/>
                </a:lnTo>
                <a:cubicBezTo>
                  <a:pt x="4004390" y="0"/>
                  <a:pt x="4038505" y="34116"/>
                  <a:pt x="4038505" y="76199"/>
                </a:cubicBezTo>
                <a:lnTo>
                  <a:pt x="4038505" y="609601"/>
                </a:lnTo>
                <a:cubicBezTo>
                  <a:pt x="4038505" y="651684"/>
                  <a:pt x="4004390" y="685800"/>
                  <a:pt x="3962306" y="685800"/>
                </a:cubicBezTo>
                <a:lnTo>
                  <a:pt x="37910" y="685800"/>
                </a:lnTo>
                <a:cubicBezTo>
                  <a:pt x="16973" y="685800"/>
                  <a:pt x="0" y="668827"/>
                  <a:pt x="0" y="6478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8" name="Shape 26"/>
          <p:cNvSpPr/>
          <p:nvPr/>
        </p:nvSpPr>
        <p:spPr>
          <a:xfrm>
            <a:off x="7585496" y="3961274"/>
            <a:ext cx="37910" cy="685800"/>
          </a:xfrm>
          <a:custGeom>
            <a:avLst/>
            <a:gdLst/>
            <a:ahLst/>
            <a:cxnLst/>
            <a:rect l="l" t="t" r="r" b="b"/>
            <a:pathLst>
              <a:path w="37910" h="685800">
                <a:moveTo>
                  <a:pt x="37910" y="0"/>
                </a:moveTo>
                <a:lnTo>
                  <a:pt x="37910" y="0"/>
                </a:lnTo>
                <a:lnTo>
                  <a:pt x="37910" y="685800"/>
                </a:lnTo>
                <a:lnTo>
                  <a:pt x="37910" y="685800"/>
                </a:lnTo>
                <a:cubicBezTo>
                  <a:pt x="16973" y="685800"/>
                  <a:pt x="0" y="668827"/>
                  <a:pt x="0" y="6478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4A4A4A"/>
          </a:solidFill>
        </p:spPr>
      </p:sp>
      <p:sp>
        <p:nvSpPr>
          <p:cNvPr id="29" name="Text 27"/>
          <p:cNvSpPr/>
          <p:nvPr/>
        </p:nvSpPr>
        <p:spPr>
          <a:xfrm>
            <a:off x="7718700" y="4075519"/>
            <a:ext cx="3867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Effect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718700" y="4342154"/>
            <a:ext cx="3857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Elements in the same column are distributed across different banks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376099" y="5714181"/>
            <a:ext cx="4438650" cy="762000"/>
          </a:xfrm>
          <a:custGeom>
            <a:avLst/>
            <a:gdLst/>
            <a:ahLst/>
            <a:cxnLst/>
            <a:rect l="l" t="t" r="r" b="b"/>
            <a:pathLst>
              <a:path w="4438650" h="762000">
                <a:moveTo>
                  <a:pt x="76200" y="0"/>
                </a:moveTo>
                <a:lnTo>
                  <a:pt x="4362450" y="0"/>
                </a:lnTo>
                <a:cubicBezTo>
                  <a:pt x="4404506" y="0"/>
                  <a:pt x="4438650" y="34144"/>
                  <a:pt x="4438650" y="76200"/>
                </a:cubicBezTo>
                <a:lnTo>
                  <a:pt x="4438650" y="685800"/>
                </a:lnTo>
                <a:cubicBezTo>
                  <a:pt x="4438650" y="727856"/>
                  <a:pt x="4404506" y="762000"/>
                  <a:pt x="436245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32" name="Shape 30"/>
          <p:cNvSpPr/>
          <p:nvPr/>
        </p:nvSpPr>
        <p:spPr>
          <a:xfrm>
            <a:off x="7557057" y="598081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3" name="Text 31"/>
          <p:cNvSpPr/>
          <p:nvPr/>
        </p:nvSpPr>
        <p:spPr>
          <a:xfrm>
            <a:off x="7928467" y="5866572"/>
            <a:ext cx="1981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Key Technique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928467" y="6133198"/>
            <a:ext cx="1971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Adding one column of padding is enough to avoid conflicts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14281" y="6552214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7596" y="610201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Memory Coalescing Concept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0956" y="1333230"/>
            <a:ext cx="5600700" cy="1143000"/>
          </a:xfrm>
          <a:custGeom>
            <a:avLst/>
            <a:gdLst/>
            <a:ahLst/>
            <a:cxnLst/>
            <a:rect l="l" t="t" r="r" b="b"/>
            <a:pathLst>
              <a:path w="5600700" h="1143000">
                <a:moveTo>
                  <a:pt x="76204" y="0"/>
                </a:moveTo>
                <a:lnTo>
                  <a:pt x="5524496" y="0"/>
                </a:lnTo>
                <a:cubicBezTo>
                  <a:pt x="5566582" y="0"/>
                  <a:pt x="5600700" y="34118"/>
                  <a:pt x="5600700" y="76204"/>
                </a:cubicBezTo>
                <a:lnTo>
                  <a:pt x="5600700" y="1066796"/>
                </a:lnTo>
                <a:cubicBezTo>
                  <a:pt x="5600700" y="1108882"/>
                  <a:pt x="5566582" y="1143000"/>
                  <a:pt x="5524496" y="1143000"/>
                </a:cubicBezTo>
                <a:lnTo>
                  <a:pt x="76204" y="1143000"/>
                </a:lnTo>
                <a:cubicBezTo>
                  <a:pt x="34118" y="1143000"/>
                  <a:pt x="0" y="1108882"/>
                  <a:pt x="0" y="106679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6" name="Text 4"/>
          <p:cNvSpPr/>
          <p:nvPr/>
        </p:nvSpPr>
        <p:spPr>
          <a:xfrm>
            <a:off x="609529" y="1561802"/>
            <a:ext cx="5257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Coalesced Access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529" y="1980744"/>
            <a:ext cx="5229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Key to Global Memory Optimization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0956" y="2628407"/>
            <a:ext cx="5600700" cy="3581400"/>
          </a:xfrm>
          <a:custGeom>
            <a:avLst/>
            <a:gdLst/>
            <a:ahLst/>
            <a:cxnLst/>
            <a:rect l="l" t="t" r="r" b="b"/>
            <a:pathLst>
              <a:path w="5600700" h="3581400">
                <a:moveTo>
                  <a:pt x="76212" y="0"/>
                </a:moveTo>
                <a:lnTo>
                  <a:pt x="5524488" y="0"/>
                </a:lnTo>
                <a:cubicBezTo>
                  <a:pt x="5566579" y="0"/>
                  <a:pt x="5600700" y="34121"/>
                  <a:pt x="5600700" y="76212"/>
                </a:cubicBezTo>
                <a:lnTo>
                  <a:pt x="5600700" y="3505188"/>
                </a:lnTo>
                <a:cubicBezTo>
                  <a:pt x="5600700" y="3547279"/>
                  <a:pt x="5566579" y="3581400"/>
                  <a:pt x="5524488" y="3581400"/>
                </a:cubicBezTo>
                <a:lnTo>
                  <a:pt x="76212" y="3581400"/>
                </a:lnTo>
                <a:cubicBezTo>
                  <a:pt x="34121" y="3581400"/>
                  <a:pt x="0" y="3547279"/>
                  <a:pt x="0" y="3505188"/>
                </a:cubicBezTo>
                <a:lnTo>
                  <a:pt x="0" y="76212"/>
                </a:lnTo>
                <a:cubicBezTo>
                  <a:pt x="0" y="34150"/>
                  <a:pt x="34150" y="0"/>
                  <a:pt x="76212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9" name="Shape 7"/>
          <p:cNvSpPr/>
          <p:nvPr/>
        </p:nvSpPr>
        <p:spPr>
          <a:xfrm>
            <a:off x="595209" y="285690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10" name="Text 8"/>
          <p:cNvSpPr/>
          <p:nvPr/>
        </p:nvSpPr>
        <p:spPr>
          <a:xfrm>
            <a:off x="809521" y="2818851"/>
            <a:ext cx="5076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396" y="331412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12" name="Text 10"/>
          <p:cNvSpPr/>
          <p:nvPr/>
        </p:nvSpPr>
        <p:spPr>
          <a:xfrm>
            <a:off x="761837" y="3237933"/>
            <a:ext cx="21777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Consecutive threads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1836" y="3504567"/>
            <a:ext cx="2803709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Adjacent threads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1396" y="392358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15" name="Text 13"/>
          <p:cNvSpPr/>
          <p:nvPr/>
        </p:nvSpPr>
        <p:spPr>
          <a:xfrm>
            <a:off x="761836" y="3847393"/>
            <a:ext cx="3405127" cy="304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access contiguous addresses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1836" y="4114019"/>
            <a:ext cx="313510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Contiguous memory addresses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1396" y="453303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18" name="Text 16"/>
          <p:cNvSpPr/>
          <p:nvPr/>
        </p:nvSpPr>
        <p:spPr>
          <a:xfrm>
            <a:off x="761836" y="4456843"/>
            <a:ext cx="2466179" cy="2666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Maximum efficiency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1837" y="4723479"/>
            <a:ext cx="3509454" cy="1905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Merged into a single memory transaction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0279" y="1333230"/>
            <a:ext cx="5600700" cy="3543300"/>
          </a:xfrm>
          <a:custGeom>
            <a:avLst/>
            <a:gdLst/>
            <a:ahLst/>
            <a:cxnLst/>
            <a:rect l="l" t="t" r="r" b="b"/>
            <a:pathLst>
              <a:path w="5600700" h="3543300">
                <a:moveTo>
                  <a:pt x="76216" y="0"/>
                </a:moveTo>
                <a:lnTo>
                  <a:pt x="5524484" y="0"/>
                </a:lnTo>
                <a:cubicBezTo>
                  <a:pt x="5566577" y="0"/>
                  <a:pt x="5600700" y="34123"/>
                  <a:pt x="5600700" y="76216"/>
                </a:cubicBezTo>
                <a:lnTo>
                  <a:pt x="5600700" y="3467084"/>
                </a:lnTo>
                <a:cubicBezTo>
                  <a:pt x="5600700" y="3509177"/>
                  <a:pt x="5566577" y="3543300"/>
                  <a:pt x="5524484" y="3543300"/>
                </a:cubicBezTo>
                <a:lnTo>
                  <a:pt x="76216" y="3543300"/>
                </a:lnTo>
                <a:cubicBezTo>
                  <a:pt x="34123" y="3543300"/>
                  <a:pt x="0" y="3509177"/>
                  <a:pt x="0" y="3467084"/>
                </a:cubicBezTo>
                <a:lnTo>
                  <a:pt x="0" y="76216"/>
                </a:lnTo>
                <a:cubicBezTo>
                  <a:pt x="0" y="34151"/>
                  <a:pt x="34151" y="0"/>
                  <a:pt x="76216" y="0"/>
                </a:cubicBezTo>
                <a:close/>
              </a:path>
            </a:pathLst>
          </a:custGeom>
          <a:solidFill>
            <a:srgbClr val="F8F8F8"/>
          </a:solidFill>
        </p:spPr>
      </p:sp>
      <p:pic>
        <p:nvPicPr>
          <p:cNvPr id="21" name="Image 0" descr="https://kimi-web-img.moonshot.cn/img/media.licdn.com/e59e41303ef8e30ebf3d930ea8c5e1798b801bb8"/>
          <p:cNvPicPr>
            <a:picLocks noChangeAspect="1"/>
          </p:cNvPicPr>
          <p:nvPr/>
        </p:nvPicPr>
        <p:blipFill>
          <a:blip r:embed="rId3"/>
          <a:srcRect t="58" b="58"/>
          <a:stretch>
            <a:fillRect/>
          </a:stretch>
        </p:blipFill>
        <p:spPr>
          <a:xfrm>
            <a:off x="6400720" y="1679535"/>
            <a:ext cx="5219700" cy="2847975"/>
          </a:xfrm>
          <a:prstGeom prst="roundRect">
            <a:avLst>
              <a:gd name="adj" fmla="val 1338"/>
            </a:avLst>
          </a:prstGeom>
        </p:spPr>
      </p:pic>
      <p:sp>
        <p:nvSpPr>
          <p:cNvPr id="22" name="Shape 19"/>
          <p:cNvSpPr/>
          <p:nvPr/>
        </p:nvSpPr>
        <p:spPr>
          <a:xfrm>
            <a:off x="6219757" y="5039050"/>
            <a:ext cx="5581555" cy="1161955"/>
          </a:xfrm>
          <a:custGeom>
            <a:avLst/>
            <a:gdLst/>
            <a:ahLst/>
            <a:cxnLst/>
            <a:rect l="l" t="t" r="r" b="b"/>
            <a:pathLst>
              <a:path w="5581555" h="1161955">
                <a:moveTo>
                  <a:pt x="76201" y="0"/>
                </a:moveTo>
                <a:lnTo>
                  <a:pt x="5505354" y="0"/>
                </a:lnTo>
                <a:cubicBezTo>
                  <a:pt x="5547439" y="0"/>
                  <a:pt x="5581555" y="34116"/>
                  <a:pt x="5581555" y="76201"/>
                </a:cubicBezTo>
                <a:lnTo>
                  <a:pt x="5581555" y="1085754"/>
                </a:lnTo>
                <a:cubicBezTo>
                  <a:pt x="5581555" y="1127839"/>
                  <a:pt x="5547439" y="1161955"/>
                  <a:pt x="5505354" y="1161955"/>
                </a:cubicBezTo>
                <a:lnTo>
                  <a:pt x="76201" y="1161955"/>
                </a:lnTo>
                <a:cubicBezTo>
                  <a:pt x="34116" y="1161955"/>
                  <a:pt x="0" y="1127839"/>
                  <a:pt x="0" y="108575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FFFFF"/>
          </a:solidFill>
          <a:ln w="25274">
            <a:solidFill>
              <a:srgbClr val="8B263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43517" y="5200910"/>
            <a:ext cx="5334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Example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298316" y="5524705"/>
            <a:ext cx="742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thread i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082958" y="5505673"/>
            <a:ext cx="285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B263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387722" y="5524705"/>
            <a:ext cx="4095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263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A[i]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348279" y="5848573"/>
            <a:ext cx="5324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Consecutive threads accessing contiguous addresses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14281" y="6286547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 err="1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Image source: LinkedIn</a:t>
            </a:r>
            <a:r>
              <a:rPr lang="en-US" sz="105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- Mayur Jain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498" y="59908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+mn-ea"/>
                <a:cs typeface="MiSans" panose="00000500000000000000" pitchFamily="34" charset="-120"/>
              </a:rPr>
              <a:t>Non-coalesced Access Problem</a:t>
            </a:r>
            <a:endParaRPr lang="en-US" sz="1600" dirty="0">
              <a:latin typeface="+mn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80956" y="1333230"/>
            <a:ext cx="5600700" cy="1143000"/>
          </a:xfrm>
          <a:custGeom>
            <a:avLst/>
            <a:gdLst/>
            <a:ahLst/>
            <a:cxnLst/>
            <a:rect l="l" t="t" r="r" b="b"/>
            <a:pathLst>
              <a:path w="5600700" h="1143000">
                <a:moveTo>
                  <a:pt x="76204" y="0"/>
                </a:moveTo>
                <a:lnTo>
                  <a:pt x="5524496" y="0"/>
                </a:lnTo>
                <a:cubicBezTo>
                  <a:pt x="5566582" y="0"/>
                  <a:pt x="5600700" y="34118"/>
                  <a:pt x="5600700" y="76204"/>
                </a:cubicBezTo>
                <a:lnTo>
                  <a:pt x="5600700" y="1066796"/>
                </a:lnTo>
                <a:cubicBezTo>
                  <a:pt x="5600700" y="1108882"/>
                  <a:pt x="5566582" y="1143000"/>
                  <a:pt x="5524496" y="1143000"/>
                </a:cubicBezTo>
                <a:lnTo>
                  <a:pt x="76204" y="1143000"/>
                </a:lnTo>
                <a:cubicBezTo>
                  <a:pt x="34118" y="1143000"/>
                  <a:pt x="0" y="1108882"/>
                  <a:pt x="0" y="106679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6" name="Text 4"/>
          <p:cNvSpPr/>
          <p:nvPr/>
        </p:nvSpPr>
        <p:spPr>
          <a:xfrm>
            <a:off x="609529" y="1561802"/>
            <a:ext cx="5257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Incorrect access pattern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529" y="1980744"/>
            <a:ext cx="5229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Causes severe performance degradation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0956" y="2628407"/>
            <a:ext cx="5600700" cy="3581400"/>
          </a:xfrm>
          <a:custGeom>
            <a:avLst/>
            <a:gdLst/>
            <a:ahLst/>
            <a:cxnLst/>
            <a:rect l="l" t="t" r="r" b="b"/>
            <a:pathLst>
              <a:path w="5600700" h="3581400">
                <a:moveTo>
                  <a:pt x="76212" y="0"/>
                </a:moveTo>
                <a:lnTo>
                  <a:pt x="5524488" y="0"/>
                </a:lnTo>
                <a:cubicBezTo>
                  <a:pt x="5566579" y="0"/>
                  <a:pt x="5600700" y="34121"/>
                  <a:pt x="5600700" y="76212"/>
                </a:cubicBezTo>
                <a:lnTo>
                  <a:pt x="5600700" y="3505188"/>
                </a:lnTo>
                <a:cubicBezTo>
                  <a:pt x="5600700" y="3547279"/>
                  <a:pt x="5566579" y="3581400"/>
                  <a:pt x="5524488" y="3581400"/>
                </a:cubicBezTo>
                <a:lnTo>
                  <a:pt x="76212" y="3581400"/>
                </a:lnTo>
                <a:cubicBezTo>
                  <a:pt x="34121" y="3581400"/>
                  <a:pt x="0" y="3547279"/>
                  <a:pt x="0" y="3505188"/>
                </a:cubicBezTo>
                <a:lnTo>
                  <a:pt x="0" y="76212"/>
                </a:lnTo>
                <a:cubicBezTo>
                  <a:pt x="0" y="34150"/>
                  <a:pt x="34150" y="0"/>
                  <a:pt x="76212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9" name="Shape 7"/>
          <p:cNvSpPr/>
          <p:nvPr/>
        </p:nvSpPr>
        <p:spPr>
          <a:xfrm>
            <a:off x="595209" y="285690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2136" y="62136"/>
                </a:moveTo>
                <a:cubicBezTo>
                  <a:pt x="65633" y="58638"/>
                  <a:pt x="71289" y="58638"/>
                  <a:pt x="74749" y="62136"/>
                </a:cubicBezTo>
                <a:lnTo>
                  <a:pt x="95213" y="82600"/>
                </a:lnTo>
                <a:lnTo>
                  <a:pt x="115677" y="62136"/>
                </a:lnTo>
                <a:cubicBezTo>
                  <a:pt x="119174" y="58638"/>
                  <a:pt x="124830" y="58638"/>
                  <a:pt x="128290" y="62136"/>
                </a:cubicBezTo>
                <a:cubicBezTo>
                  <a:pt x="131750" y="65633"/>
                  <a:pt x="131787" y="71289"/>
                  <a:pt x="128290" y="74749"/>
                </a:cubicBezTo>
                <a:lnTo>
                  <a:pt x="107826" y="95213"/>
                </a:lnTo>
                <a:lnTo>
                  <a:pt x="128290" y="115677"/>
                </a:lnTo>
                <a:cubicBezTo>
                  <a:pt x="131787" y="119174"/>
                  <a:pt x="131787" y="124830"/>
                  <a:pt x="128290" y="128290"/>
                </a:cubicBezTo>
                <a:cubicBezTo>
                  <a:pt x="124792" y="131750"/>
                  <a:pt x="119137" y="131787"/>
                  <a:pt x="115677" y="128290"/>
                </a:cubicBezTo>
                <a:lnTo>
                  <a:pt x="95213" y="107826"/>
                </a:lnTo>
                <a:lnTo>
                  <a:pt x="74749" y="128290"/>
                </a:lnTo>
                <a:cubicBezTo>
                  <a:pt x="71251" y="131787"/>
                  <a:pt x="65596" y="131787"/>
                  <a:pt x="62136" y="128290"/>
                </a:cubicBezTo>
                <a:cubicBezTo>
                  <a:pt x="58675" y="124792"/>
                  <a:pt x="58638" y="119137"/>
                  <a:pt x="62136" y="115677"/>
                </a:cubicBezTo>
                <a:lnTo>
                  <a:pt x="82600" y="95213"/>
                </a:lnTo>
                <a:lnTo>
                  <a:pt x="62136" y="74749"/>
                </a:lnTo>
                <a:cubicBezTo>
                  <a:pt x="58638" y="71251"/>
                  <a:pt x="58638" y="65596"/>
                  <a:pt x="62136" y="62136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10" name="Text 8"/>
          <p:cNvSpPr/>
          <p:nvPr/>
        </p:nvSpPr>
        <p:spPr>
          <a:xfrm>
            <a:off x="809521" y="2818851"/>
            <a:ext cx="5076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Problem Example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0352" y="3237933"/>
            <a:ext cx="5200555" cy="457200"/>
          </a:xfrm>
          <a:custGeom>
            <a:avLst/>
            <a:gdLst/>
            <a:ahLst/>
            <a:cxnLst/>
            <a:rect l="l" t="t" r="r" b="b"/>
            <a:pathLst>
              <a:path w="5200555" h="457200">
                <a:moveTo>
                  <a:pt x="37910" y="0"/>
                </a:moveTo>
                <a:lnTo>
                  <a:pt x="5124354" y="0"/>
                </a:lnTo>
                <a:cubicBezTo>
                  <a:pt x="5166439" y="0"/>
                  <a:pt x="5200555" y="34117"/>
                  <a:pt x="5200555" y="76202"/>
                </a:cubicBezTo>
                <a:lnTo>
                  <a:pt x="5200555" y="380998"/>
                </a:lnTo>
                <a:cubicBezTo>
                  <a:pt x="5200555" y="423083"/>
                  <a:pt x="5166439" y="457200"/>
                  <a:pt x="5124354" y="457200"/>
                </a:cubicBezTo>
                <a:lnTo>
                  <a:pt x="37910" y="457200"/>
                </a:lnTo>
                <a:cubicBezTo>
                  <a:pt x="16973" y="457200"/>
                  <a:pt x="0" y="440227"/>
                  <a:pt x="0" y="4192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2" name="Shape 10"/>
          <p:cNvSpPr/>
          <p:nvPr/>
        </p:nvSpPr>
        <p:spPr>
          <a:xfrm>
            <a:off x="590352" y="3237933"/>
            <a:ext cx="37910" cy="457200"/>
          </a:xfrm>
          <a:custGeom>
            <a:avLst/>
            <a:gdLst/>
            <a:ahLst/>
            <a:cxnLst/>
            <a:rect l="l" t="t" r="r" b="b"/>
            <a:pathLst>
              <a:path w="37910" h="457200">
                <a:moveTo>
                  <a:pt x="37910" y="0"/>
                </a:moveTo>
                <a:lnTo>
                  <a:pt x="37910" y="0"/>
                </a:lnTo>
                <a:lnTo>
                  <a:pt x="37910" y="457200"/>
                </a:lnTo>
                <a:lnTo>
                  <a:pt x="37910" y="457200"/>
                </a:lnTo>
                <a:cubicBezTo>
                  <a:pt x="16973" y="457200"/>
                  <a:pt x="0" y="440227"/>
                  <a:pt x="0" y="4192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13" name="Text 11"/>
          <p:cNvSpPr/>
          <p:nvPr/>
        </p:nvSpPr>
        <p:spPr>
          <a:xfrm>
            <a:off x="685498" y="3352186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263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thread 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14115" y="3314123"/>
            <a:ext cx="342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57012" y="3352186"/>
            <a:ext cx="4095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263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A[0]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0352" y="3809256"/>
            <a:ext cx="5200555" cy="457200"/>
          </a:xfrm>
          <a:custGeom>
            <a:avLst/>
            <a:gdLst/>
            <a:ahLst/>
            <a:cxnLst/>
            <a:rect l="l" t="t" r="r" b="b"/>
            <a:pathLst>
              <a:path w="5200555" h="457200">
                <a:moveTo>
                  <a:pt x="37910" y="0"/>
                </a:moveTo>
                <a:lnTo>
                  <a:pt x="5124354" y="0"/>
                </a:lnTo>
                <a:cubicBezTo>
                  <a:pt x="5166439" y="0"/>
                  <a:pt x="5200555" y="34117"/>
                  <a:pt x="5200555" y="76202"/>
                </a:cubicBezTo>
                <a:lnTo>
                  <a:pt x="5200555" y="380998"/>
                </a:lnTo>
                <a:cubicBezTo>
                  <a:pt x="5200555" y="423083"/>
                  <a:pt x="5166439" y="457200"/>
                  <a:pt x="5124354" y="457200"/>
                </a:cubicBezTo>
                <a:lnTo>
                  <a:pt x="37910" y="457200"/>
                </a:lnTo>
                <a:cubicBezTo>
                  <a:pt x="16973" y="457200"/>
                  <a:pt x="0" y="440227"/>
                  <a:pt x="0" y="4192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7" name="Shape 15"/>
          <p:cNvSpPr/>
          <p:nvPr/>
        </p:nvSpPr>
        <p:spPr>
          <a:xfrm>
            <a:off x="590352" y="3809256"/>
            <a:ext cx="37910" cy="457200"/>
          </a:xfrm>
          <a:custGeom>
            <a:avLst/>
            <a:gdLst/>
            <a:ahLst/>
            <a:cxnLst/>
            <a:rect l="l" t="t" r="r" b="b"/>
            <a:pathLst>
              <a:path w="37910" h="457200">
                <a:moveTo>
                  <a:pt x="37910" y="0"/>
                </a:moveTo>
                <a:lnTo>
                  <a:pt x="37910" y="0"/>
                </a:lnTo>
                <a:lnTo>
                  <a:pt x="37910" y="457200"/>
                </a:lnTo>
                <a:lnTo>
                  <a:pt x="37910" y="457200"/>
                </a:lnTo>
                <a:cubicBezTo>
                  <a:pt x="16973" y="457200"/>
                  <a:pt x="0" y="440227"/>
                  <a:pt x="0" y="4192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18" name="Text 16"/>
          <p:cNvSpPr/>
          <p:nvPr/>
        </p:nvSpPr>
        <p:spPr>
          <a:xfrm>
            <a:off x="685498" y="3923509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263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thread 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14115" y="3885447"/>
            <a:ext cx="342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057012" y="3923509"/>
            <a:ext cx="666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263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A[1000]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0352" y="4380579"/>
            <a:ext cx="5200555" cy="457200"/>
          </a:xfrm>
          <a:custGeom>
            <a:avLst/>
            <a:gdLst/>
            <a:ahLst/>
            <a:cxnLst/>
            <a:rect l="l" t="t" r="r" b="b"/>
            <a:pathLst>
              <a:path w="5200555" h="457200">
                <a:moveTo>
                  <a:pt x="37910" y="0"/>
                </a:moveTo>
                <a:lnTo>
                  <a:pt x="5124354" y="0"/>
                </a:lnTo>
                <a:cubicBezTo>
                  <a:pt x="5166439" y="0"/>
                  <a:pt x="5200555" y="34117"/>
                  <a:pt x="5200555" y="76202"/>
                </a:cubicBezTo>
                <a:lnTo>
                  <a:pt x="5200555" y="380998"/>
                </a:lnTo>
                <a:cubicBezTo>
                  <a:pt x="5200555" y="423083"/>
                  <a:pt x="5166439" y="457200"/>
                  <a:pt x="5124354" y="457200"/>
                </a:cubicBezTo>
                <a:lnTo>
                  <a:pt x="37910" y="457200"/>
                </a:lnTo>
                <a:cubicBezTo>
                  <a:pt x="16973" y="457200"/>
                  <a:pt x="0" y="440227"/>
                  <a:pt x="0" y="4192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2" name="Shape 20"/>
          <p:cNvSpPr/>
          <p:nvPr/>
        </p:nvSpPr>
        <p:spPr>
          <a:xfrm>
            <a:off x="590352" y="4380579"/>
            <a:ext cx="37910" cy="457200"/>
          </a:xfrm>
          <a:custGeom>
            <a:avLst/>
            <a:gdLst/>
            <a:ahLst/>
            <a:cxnLst/>
            <a:rect l="l" t="t" r="r" b="b"/>
            <a:pathLst>
              <a:path w="37910" h="457200">
                <a:moveTo>
                  <a:pt x="37910" y="0"/>
                </a:moveTo>
                <a:lnTo>
                  <a:pt x="37910" y="0"/>
                </a:lnTo>
                <a:lnTo>
                  <a:pt x="37910" y="457200"/>
                </a:lnTo>
                <a:lnTo>
                  <a:pt x="37910" y="457200"/>
                </a:lnTo>
                <a:cubicBezTo>
                  <a:pt x="16973" y="457200"/>
                  <a:pt x="0" y="440227"/>
                  <a:pt x="0" y="4192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23" name="Text 21"/>
          <p:cNvSpPr/>
          <p:nvPr/>
        </p:nvSpPr>
        <p:spPr>
          <a:xfrm>
            <a:off x="685498" y="4494833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263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thread 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714115" y="4456770"/>
            <a:ext cx="342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057012" y="4494833"/>
            <a:ext cx="666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263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A[2000]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80874" y="4999508"/>
            <a:ext cx="5200555" cy="857155"/>
          </a:xfrm>
          <a:custGeom>
            <a:avLst/>
            <a:gdLst/>
            <a:ahLst/>
            <a:cxnLst/>
            <a:rect l="l" t="t" r="r" b="b"/>
            <a:pathLst>
              <a:path w="5200555" h="857155">
                <a:moveTo>
                  <a:pt x="76201" y="0"/>
                </a:moveTo>
                <a:lnTo>
                  <a:pt x="5124354" y="0"/>
                </a:lnTo>
                <a:cubicBezTo>
                  <a:pt x="5166439" y="0"/>
                  <a:pt x="5200555" y="34116"/>
                  <a:pt x="5200555" y="76201"/>
                </a:cubicBezTo>
                <a:lnTo>
                  <a:pt x="5200555" y="780954"/>
                </a:lnTo>
                <a:cubicBezTo>
                  <a:pt x="5200555" y="823039"/>
                  <a:pt x="5166439" y="857155"/>
                  <a:pt x="5124354" y="857155"/>
                </a:cubicBezTo>
                <a:lnTo>
                  <a:pt x="76201" y="857155"/>
                </a:lnTo>
                <a:cubicBezTo>
                  <a:pt x="34116" y="857155"/>
                  <a:pt x="0" y="823039"/>
                  <a:pt x="0" y="78095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FFFFF"/>
          </a:solidFill>
          <a:ln w="25274">
            <a:solidFill>
              <a:srgbClr val="8B26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6501" y="5123241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Stride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3164" y="5389876"/>
            <a:ext cx="50958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8B263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1000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0279" y="1333230"/>
            <a:ext cx="5600700" cy="3429000"/>
          </a:xfrm>
          <a:custGeom>
            <a:avLst/>
            <a:gdLst/>
            <a:ahLst/>
            <a:cxnLst/>
            <a:rect l="l" t="t" r="r" b="b"/>
            <a:pathLst>
              <a:path w="5600700" h="3429000">
                <a:moveTo>
                  <a:pt x="76192" y="0"/>
                </a:moveTo>
                <a:lnTo>
                  <a:pt x="5524508" y="0"/>
                </a:lnTo>
                <a:cubicBezTo>
                  <a:pt x="5566588" y="0"/>
                  <a:pt x="5600700" y="34112"/>
                  <a:pt x="5600700" y="76192"/>
                </a:cubicBezTo>
                <a:lnTo>
                  <a:pt x="5600700" y="3352808"/>
                </a:lnTo>
                <a:cubicBezTo>
                  <a:pt x="5600700" y="3394888"/>
                  <a:pt x="5566588" y="3429000"/>
                  <a:pt x="5524508" y="3429000"/>
                </a:cubicBezTo>
                <a:lnTo>
                  <a:pt x="76192" y="3429000"/>
                </a:lnTo>
                <a:cubicBezTo>
                  <a:pt x="34112" y="3429000"/>
                  <a:pt x="0" y="3394888"/>
                  <a:pt x="0" y="33528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F8F8F8"/>
          </a:solidFill>
        </p:spPr>
      </p:sp>
      <p:pic>
        <p:nvPicPr>
          <p:cNvPr id="30" name="Image 0" descr="https://kimi-web-img.moonshot.cn/img/co-design.pop-coe.eu/08de3ce631986fee9c8d86170029a93b578e1caf.png"/>
          <p:cNvPicPr>
            <a:picLocks noChangeAspect="1"/>
          </p:cNvPicPr>
          <p:nvPr/>
        </p:nvPicPr>
        <p:blipFill>
          <a:blip r:embed="rId3"/>
          <a:srcRect l="61" r="61"/>
          <a:stretch>
            <a:fillRect/>
          </a:stretch>
        </p:blipFill>
        <p:spPr>
          <a:xfrm>
            <a:off x="6400720" y="2039531"/>
            <a:ext cx="5219700" cy="2019300"/>
          </a:xfrm>
          <a:prstGeom prst="roundRect">
            <a:avLst>
              <a:gd name="adj" fmla="val 1887"/>
            </a:avLst>
          </a:prstGeom>
        </p:spPr>
      </p:pic>
      <p:sp>
        <p:nvSpPr>
          <p:cNvPr id="31" name="Shape 28"/>
          <p:cNvSpPr/>
          <p:nvPr/>
        </p:nvSpPr>
        <p:spPr>
          <a:xfrm>
            <a:off x="6210279" y="4915179"/>
            <a:ext cx="5600700" cy="1295400"/>
          </a:xfrm>
          <a:custGeom>
            <a:avLst/>
            <a:gdLst/>
            <a:ahLst/>
            <a:cxnLst/>
            <a:rect l="l" t="t" r="r" b="b"/>
            <a:pathLst>
              <a:path w="5600700" h="1295400">
                <a:moveTo>
                  <a:pt x="76195" y="0"/>
                </a:moveTo>
                <a:lnTo>
                  <a:pt x="5524505" y="0"/>
                </a:lnTo>
                <a:cubicBezTo>
                  <a:pt x="5566558" y="0"/>
                  <a:pt x="5600700" y="34142"/>
                  <a:pt x="5600700" y="76195"/>
                </a:cubicBezTo>
                <a:lnTo>
                  <a:pt x="5600700" y="1219205"/>
                </a:lnTo>
                <a:cubicBezTo>
                  <a:pt x="5600700" y="1261286"/>
                  <a:pt x="5566586" y="1295400"/>
                  <a:pt x="5524505" y="1295400"/>
                </a:cubicBezTo>
                <a:lnTo>
                  <a:pt x="76195" y="1295400"/>
                </a:lnTo>
                <a:cubicBezTo>
                  <a:pt x="34142" y="1295400"/>
                  <a:pt x="0" y="1261258"/>
                  <a:pt x="0" y="12192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4A4A4A"/>
          </a:solidFill>
        </p:spPr>
      </p:sp>
      <p:sp>
        <p:nvSpPr>
          <p:cNvPr id="32" name="Shape 29"/>
          <p:cNvSpPr/>
          <p:nvPr/>
        </p:nvSpPr>
        <p:spPr>
          <a:xfrm>
            <a:off x="6424532" y="514367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3" name="Text 30"/>
          <p:cNvSpPr/>
          <p:nvPr/>
        </p:nvSpPr>
        <p:spPr>
          <a:xfrm>
            <a:off x="6638845" y="5105614"/>
            <a:ext cx="5076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Causes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400720" y="5562767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5" name="Text 32"/>
          <p:cNvSpPr/>
          <p:nvPr/>
        </p:nvSpPr>
        <p:spPr>
          <a:xfrm>
            <a:off x="6553102" y="5486577"/>
            <a:ext cx="3511435" cy="2666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Multiple memory transactions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400720" y="586753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7" name="Text 34"/>
          <p:cNvSpPr/>
          <p:nvPr/>
        </p:nvSpPr>
        <p:spPr>
          <a:xfrm>
            <a:off x="6553102" y="5791340"/>
            <a:ext cx="3130946" cy="2666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Severe performance degradation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314281" y="6286547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Image source: POP CoE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77490" y="664612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Cache Locality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463" y="1111025"/>
            <a:ext cx="5683250" cy="952500"/>
          </a:xfrm>
          <a:custGeom>
            <a:avLst/>
            <a:gdLst/>
            <a:ahLst/>
            <a:cxnLst/>
            <a:rect l="l" t="t" r="r" b="b"/>
            <a:pathLst>
              <a:path w="5683250" h="952500">
                <a:moveTo>
                  <a:pt x="63503" y="0"/>
                </a:moveTo>
                <a:lnTo>
                  <a:pt x="5619747" y="0"/>
                </a:lnTo>
                <a:cubicBezTo>
                  <a:pt x="5654819" y="0"/>
                  <a:pt x="5683250" y="28431"/>
                  <a:pt x="5683250" y="63503"/>
                </a:cubicBezTo>
                <a:lnTo>
                  <a:pt x="5683250" y="888997"/>
                </a:lnTo>
                <a:cubicBezTo>
                  <a:pt x="5683250" y="924069"/>
                  <a:pt x="5654819" y="952500"/>
                  <a:pt x="5619747" y="952500"/>
                </a:cubicBezTo>
                <a:lnTo>
                  <a:pt x="63503" y="952500"/>
                </a:lnTo>
                <a:cubicBezTo>
                  <a:pt x="28431" y="952500"/>
                  <a:pt x="0" y="924069"/>
                  <a:pt x="0" y="88899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6" name="Text 4"/>
          <p:cNvSpPr/>
          <p:nvPr/>
        </p:nvSpPr>
        <p:spPr>
          <a:xfrm>
            <a:off x="507941" y="1301502"/>
            <a:ext cx="5397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Two Types of Locality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7941" y="1650620"/>
            <a:ext cx="537368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Key to improving cache hit rate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3259" y="2190339"/>
            <a:ext cx="2762171" cy="4330675"/>
          </a:xfrm>
          <a:custGeom>
            <a:avLst/>
            <a:gdLst/>
            <a:ahLst/>
            <a:cxnLst/>
            <a:rect l="l" t="t" r="r" b="b"/>
            <a:pathLst>
              <a:path w="2762171" h="6731000">
                <a:moveTo>
                  <a:pt x="31592" y="0"/>
                </a:moveTo>
                <a:lnTo>
                  <a:pt x="2698669" y="0"/>
                </a:lnTo>
                <a:cubicBezTo>
                  <a:pt x="2733740" y="0"/>
                  <a:pt x="2762171" y="28431"/>
                  <a:pt x="2762171" y="63502"/>
                </a:cubicBezTo>
                <a:lnTo>
                  <a:pt x="2762171" y="6667498"/>
                </a:lnTo>
                <a:cubicBezTo>
                  <a:pt x="2762171" y="6702569"/>
                  <a:pt x="2733740" y="6731000"/>
                  <a:pt x="2698669" y="6731000"/>
                </a:cubicBezTo>
                <a:lnTo>
                  <a:pt x="31592" y="6731000"/>
                </a:lnTo>
                <a:cubicBezTo>
                  <a:pt x="14144" y="6731000"/>
                  <a:pt x="0" y="6716856"/>
                  <a:pt x="0" y="6699408"/>
                </a:cubicBezTo>
                <a:lnTo>
                  <a:pt x="0" y="31592"/>
                </a:lnTo>
                <a:cubicBezTo>
                  <a:pt x="0" y="14156"/>
                  <a:pt x="14156" y="0"/>
                  <a:pt x="31592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9" name="Shape 7"/>
          <p:cNvSpPr/>
          <p:nvPr/>
        </p:nvSpPr>
        <p:spPr>
          <a:xfrm>
            <a:off x="333258" y="2190339"/>
            <a:ext cx="45719" cy="4350200"/>
          </a:xfrm>
          <a:custGeom>
            <a:avLst/>
            <a:gdLst/>
            <a:ahLst/>
            <a:cxnLst/>
            <a:rect l="l" t="t" r="r" b="b"/>
            <a:pathLst>
              <a:path w="31592" h="6731000">
                <a:moveTo>
                  <a:pt x="31592" y="0"/>
                </a:moveTo>
                <a:lnTo>
                  <a:pt x="31592" y="0"/>
                </a:lnTo>
                <a:lnTo>
                  <a:pt x="31592" y="6731000"/>
                </a:lnTo>
                <a:lnTo>
                  <a:pt x="31592" y="6731000"/>
                </a:lnTo>
                <a:cubicBezTo>
                  <a:pt x="14144" y="6731000"/>
                  <a:pt x="0" y="6716856"/>
                  <a:pt x="0" y="6699408"/>
                </a:cubicBezTo>
                <a:lnTo>
                  <a:pt x="0" y="31592"/>
                </a:lnTo>
                <a:cubicBezTo>
                  <a:pt x="0" y="14156"/>
                  <a:pt x="14156" y="0"/>
                  <a:pt x="31592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10" name="Shape 8"/>
          <p:cNvSpPr/>
          <p:nvPr/>
        </p:nvSpPr>
        <p:spPr>
          <a:xfrm>
            <a:off x="527599" y="2380754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35403" y="23161"/>
                </a:moveTo>
                <a:lnTo>
                  <a:pt x="138906" y="26479"/>
                </a:lnTo>
                <a:lnTo>
                  <a:pt x="138906" y="9922"/>
                </a:lnTo>
                <a:cubicBezTo>
                  <a:pt x="138906" y="4434"/>
                  <a:pt x="143340" y="0"/>
                  <a:pt x="148828" y="0"/>
                </a:cubicBezTo>
                <a:cubicBezTo>
                  <a:pt x="154316" y="0"/>
                  <a:pt x="158750" y="4434"/>
                  <a:pt x="158750" y="9922"/>
                </a:cubicBezTo>
                <a:lnTo>
                  <a:pt x="158750" y="49609"/>
                </a:lnTo>
                <a:cubicBezTo>
                  <a:pt x="158750" y="55097"/>
                  <a:pt x="154316" y="59531"/>
                  <a:pt x="148828" y="59531"/>
                </a:cubicBezTo>
                <a:lnTo>
                  <a:pt x="109141" y="59531"/>
                </a:lnTo>
                <a:cubicBezTo>
                  <a:pt x="103653" y="59531"/>
                  <a:pt x="99219" y="55097"/>
                  <a:pt x="99219" y="49609"/>
                </a:cubicBezTo>
                <a:cubicBezTo>
                  <a:pt x="99219" y="44121"/>
                  <a:pt x="103653" y="39688"/>
                  <a:pt x="109141" y="39688"/>
                </a:cubicBezTo>
                <a:lnTo>
                  <a:pt x="123992" y="39688"/>
                </a:lnTo>
                <a:lnTo>
                  <a:pt x="121636" y="37455"/>
                </a:lnTo>
                <a:cubicBezTo>
                  <a:pt x="121574" y="37393"/>
                  <a:pt x="121512" y="37331"/>
                  <a:pt x="121450" y="37269"/>
                </a:cubicBezTo>
                <a:cubicBezTo>
                  <a:pt x="98196" y="14015"/>
                  <a:pt x="60523" y="14015"/>
                  <a:pt x="37269" y="37269"/>
                </a:cubicBezTo>
                <a:cubicBezTo>
                  <a:pt x="14015" y="60523"/>
                  <a:pt x="14015" y="98196"/>
                  <a:pt x="37269" y="121450"/>
                </a:cubicBezTo>
                <a:cubicBezTo>
                  <a:pt x="60523" y="144704"/>
                  <a:pt x="98196" y="144704"/>
                  <a:pt x="121450" y="121450"/>
                </a:cubicBezTo>
                <a:cubicBezTo>
                  <a:pt x="123992" y="118907"/>
                  <a:pt x="126256" y="116210"/>
                  <a:pt x="128240" y="113357"/>
                </a:cubicBezTo>
                <a:cubicBezTo>
                  <a:pt x="131372" y="108862"/>
                  <a:pt x="137573" y="107776"/>
                  <a:pt x="142069" y="110908"/>
                </a:cubicBezTo>
                <a:cubicBezTo>
                  <a:pt x="146565" y="114040"/>
                  <a:pt x="147650" y="120241"/>
                  <a:pt x="144518" y="124737"/>
                </a:cubicBezTo>
                <a:cubicBezTo>
                  <a:pt x="141883" y="128519"/>
                  <a:pt x="138875" y="132116"/>
                  <a:pt x="135496" y="135496"/>
                </a:cubicBezTo>
                <a:cubicBezTo>
                  <a:pt x="104490" y="166501"/>
                  <a:pt x="54229" y="166501"/>
                  <a:pt x="23254" y="135496"/>
                </a:cubicBezTo>
                <a:cubicBezTo>
                  <a:pt x="-7720" y="104490"/>
                  <a:pt x="-7751" y="54260"/>
                  <a:pt x="23254" y="23254"/>
                </a:cubicBezTo>
                <a:cubicBezTo>
                  <a:pt x="54229" y="-7720"/>
                  <a:pt x="104397" y="-7751"/>
                  <a:pt x="135403" y="23161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11" name="Text 9"/>
          <p:cNvSpPr/>
          <p:nvPr/>
        </p:nvSpPr>
        <p:spPr>
          <a:xfrm>
            <a:off x="706193" y="2349035"/>
            <a:ext cx="23098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Temporal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7756" y="2761769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31750"/>
                </a:lnTo>
                <a:cubicBezTo>
                  <a:pt x="63500" y="49273"/>
                  <a:pt x="49273" y="63500"/>
                  <a:pt x="317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13" name="Text 11"/>
          <p:cNvSpPr/>
          <p:nvPr/>
        </p:nvSpPr>
        <p:spPr>
          <a:xfrm>
            <a:off x="634740" y="2698277"/>
            <a:ext cx="238126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Repeatedly accessing the same data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7756" y="3047457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31750"/>
                </a:lnTo>
                <a:cubicBezTo>
                  <a:pt x="63500" y="49273"/>
                  <a:pt x="49273" y="63500"/>
                  <a:pt x="317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15" name="Text 13"/>
          <p:cNvSpPr/>
          <p:nvPr/>
        </p:nvSpPr>
        <p:spPr>
          <a:xfrm>
            <a:off x="634740" y="2983964"/>
            <a:ext cx="1329071" cy="2661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Temporal Locality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7756" y="3269653"/>
            <a:ext cx="2428875" cy="349250"/>
          </a:xfrm>
          <a:custGeom>
            <a:avLst/>
            <a:gdLst/>
            <a:ahLst/>
            <a:cxnLst/>
            <a:rect l="l" t="t" r="r" b="b"/>
            <a:pathLst>
              <a:path w="2428875" h="349250">
                <a:moveTo>
                  <a:pt x="63501" y="0"/>
                </a:moveTo>
                <a:lnTo>
                  <a:pt x="2365374" y="0"/>
                </a:lnTo>
                <a:cubicBezTo>
                  <a:pt x="2400445" y="0"/>
                  <a:pt x="2428875" y="28430"/>
                  <a:pt x="2428875" y="63501"/>
                </a:cubicBezTo>
                <a:lnTo>
                  <a:pt x="2428875" y="285749"/>
                </a:lnTo>
                <a:cubicBezTo>
                  <a:pt x="2428875" y="320820"/>
                  <a:pt x="2400445" y="349250"/>
                  <a:pt x="2365374" y="349250"/>
                </a:cubicBezTo>
                <a:lnTo>
                  <a:pt x="63501" y="349250"/>
                </a:lnTo>
                <a:cubicBezTo>
                  <a:pt x="28430" y="349250"/>
                  <a:pt x="0" y="320820"/>
                  <a:pt x="0" y="2857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7" name="Text 15"/>
          <p:cNvSpPr/>
          <p:nvPr/>
        </p:nvSpPr>
        <p:spPr>
          <a:xfrm>
            <a:off x="602964" y="3364857"/>
            <a:ext cx="2293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Example: variables reused in a loop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38369" y="2190339"/>
            <a:ext cx="2762171" cy="4350200"/>
          </a:xfrm>
          <a:custGeom>
            <a:avLst/>
            <a:gdLst/>
            <a:ahLst/>
            <a:cxnLst/>
            <a:rect l="l" t="t" r="r" b="b"/>
            <a:pathLst>
              <a:path w="2762171" h="6731000">
                <a:moveTo>
                  <a:pt x="31592" y="0"/>
                </a:moveTo>
                <a:lnTo>
                  <a:pt x="2698669" y="0"/>
                </a:lnTo>
                <a:cubicBezTo>
                  <a:pt x="2733740" y="0"/>
                  <a:pt x="2762171" y="28431"/>
                  <a:pt x="2762171" y="63502"/>
                </a:cubicBezTo>
                <a:lnTo>
                  <a:pt x="2762171" y="6667498"/>
                </a:lnTo>
                <a:cubicBezTo>
                  <a:pt x="2762171" y="6702569"/>
                  <a:pt x="2733740" y="6731000"/>
                  <a:pt x="2698669" y="6731000"/>
                </a:cubicBezTo>
                <a:lnTo>
                  <a:pt x="31592" y="6731000"/>
                </a:lnTo>
                <a:cubicBezTo>
                  <a:pt x="14144" y="6731000"/>
                  <a:pt x="0" y="6716856"/>
                  <a:pt x="0" y="6699408"/>
                </a:cubicBezTo>
                <a:lnTo>
                  <a:pt x="0" y="31592"/>
                </a:lnTo>
                <a:cubicBezTo>
                  <a:pt x="0" y="14156"/>
                  <a:pt x="14156" y="0"/>
                  <a:pt x="31592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19" name="Shape 17"/>
          <p:cNvSpPr/>
          <p:nvPr/>
        </p:nvSpPr>
        <p:spPr>
          <a:xfrm>
            <a:off x="3238369" y="2190339"/>
            <a:ext cx="51402" cy="4350200"/>
          </a:xfrm>
          <a:custGeom>
            <a:avLst/>
            <a:gdLst/>
            <a:ahLst/>
            <a:cxnLst/>
            <a:rect l="l" t="t" r="r" b="b"/>
            <a:pathLst>
              <a:path w="31592" h="6731000">
                <a:moveTo>
                  <a:pt x="31592" y="0"/>
                </a:moveTo>
                <a:lnTo>
                  <a:pt x="31592" y="0"/>
                </a:lnTo>
                <a:lnTo>
                  <a:pt x="31592" y="6731000"/>
                </a:lnTo>
                <a:lnTo>
                  <a:pt x="31592" y="6731000"/>
                </a:lnTo>
                <a:cubicBezTo>
                  <a:pt x="14144" y="6731000"/>
                  <a:pt x="0" y="6716856"/>
                  <a:pt x="0" y="6699408"/>
                </a:cubicBezTo>
                <a:lnTo>
                  <a:pt x="0" y="31592"/>
                </a:lnTo>
                <a:cubicBezTo>
                  <a:pt x="0" y="14156"/>
                  <a:pt x="14156" y="0"/>
                  <a:pt x="31592" y="0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20" name="Shape 18"/>
          <p:cNvSpPr/>
          <p:nvPr/>
        </p:nvSpPr>
        <p:spPr>
          <a:xfrm>
            <a:off x="3432710" y="2380754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55835" y="126070"/>
                </a:moveTo>
                <a:lnTo>
                  <a:pt x="126070" y="155835"/>
                </a:lnTo>
                <a:cubicBezTo>
                  <a:pt x="123217" y="158688"/>
                  <a:pt x="118969" y="159525"/>
                  <a:pt x="115249" y="157975"/>
                </a:cubicBezTo>
                <a:cubicBezTo>
                  <a:pt x="111528" y="156425"/>
                  <a:pt x="109141" y="152828"/>
                  <a:pt x="109141" y="148828"/>
                </a:cubicBezTo>
                <a:lnTo>
                  <a:pt x="109141" y="128984"/>
                </a:lnTo>
                <a:lnTo>
                  <a:pt x="9922" y="128984"/>
                </a:lnTo>
                <a:cubicBezTo>
                  <a:pt x="4434" y="128984"/>
                  <a:pt x="0" y="124551"/>
                  <a:pt x="0" y="119062"/>
                </a:cubicBezTo>
                <a:cubicBezTo>
                  <a:pt x="0" y="113574"/>
                  <a:pt x="4434" y="109141"/>
                  <a:pt x="9922" y="109141"/>
                </a:cubicBezTo>
                <a:lnTo>
                  <a:pt x="109141" y="109141"/>
                </a:lnTo>
                <a:lnTo>
                  <a:pt x="109141" y="89297"/>
                </a:lnTo>
                <a:cubicBezTo>
                  <a:pt x="109141" y="85297"/>
                  <a:pt x="111559" y="81669"/>
                  <a:pt x="115280" y="80119"/>
                </a:cubicBezTo>
                <a:cubicBezTo>
                  <a:pt x="119000" y="78569"/>
                  <a:pt x="123248" y="79437"/>
                  <a:pt x="126101" y="82259"/>
                </a:cubicBezTo>
                <a:lnTo>
                  <a:pt x="155866" y="112024"/>
                </a:lnTo>
                <a:cubicBezTo>
                  <a:pt x="159742" y="115900"/>
                  <a:pt x="159742" y="122194"/>
                  <a:pt x="155866" y="126070"/>
                </a:cubicBezTo>
                <a:close/>
                <a:moveTo>
                  <a:pt x="2915" y="46695"/>
                </a:moveTo>
                <a:cubicBezTo>
                  <a:pt x="-961" y="42819"/>
                  <a:pt x="-961" y="36525"/>
                  <a:pt x="2915" y="32649"/>
                </a:cubicBezTo>
                <a:lnTo>
                  <a:pt x="32680" y="2884"/>
                </a:lnTo>
                <a:cubicBezTo>
                  <a:pt x="35533" y="31"/>
                  <a:pt x="39781" y="-806"/>
                  <a:pt x="43501" y="744"/>
                </a:cubicBezTo>
                <a:cubicBezTo>
                  <a:pt x="47222" y="2294"/>
                  <a:pt x="49609" y="5922"/>
                  <a:pt x="49609" y="9922"/>
                </a:cubicBezTo>
                <a:lnTo>
                  <a:pt x="49609" y="29766"/>
                </a:lnTo>
                <a:lnTo>
                  <a:pt x="148828" y="29766"/>
                </a:lnTo>
                <a:cubicBezTo>
                  <a:pt x="154316" y="29766"/>
                  <a:pt x="158750" y="34199"/>
                  <a:pt x="158750" y="39688"/>
                </a:cubicBezTo>
                <a:cubicBezTo>
                  <a:pt x="158750" y="45176"/>
                  <a:pt x="154316" y="49609"/>
                  <a:pt x="148828" y="49609"/>
                </a:cubicBezTo>
                <a:lnTo>
                  <a:pt x="49609" y="49609"/>
                </a:lnTo>
                <a:lnTo>
                  <a:pt x="49609" y="69453"/>
                </a:lnTo>
                <a:cubicBezTo>
                  <a:pt x="49609" y="73453"/>
                  <a:pt x="47191" y="77081"/>
                  <a:pt x="43470" y="78631"/>
                </a:cubicBezTo>
                <a:cubicBezTo>
                  <a:pt x="39750" y="80181"/>
                  <a:pt x="35502" y="79313"/>
                  <a:pt x="32649" y="76491"/>
                </a:cubicBezTo>
                <a:lnTo>
                  <a:pt x="2884" y="46726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21" name="Text 19"/>
          <p:cNvSpPr/>
          <p:nvPr/>
        </p:nvSpPr>
        <p:spPr>
          <a:xfrm>
            <a:off x="3611303" y="2349035"/>
            <a:ext cx="23098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Spatial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412866" y="2761769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31750"/>
                </a:lnTo>
                <a:cubicBezTo>
                  <a:pt x="63500" y="49273"/>
                  <a:pt x="49273" y="63500"/>
                  <a:pt x="317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23" name="Text 21"/>
          <p:cNvSpPr/>
          <p:nvPr/>
        </p:nvSpPr>
        <p:spPr>
          <a:xfrm>
            <a:off x="3539851" y="2698277"/>
            <a:ext cx="1694936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Accessing nearby data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412866" y="3047457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31750"/>
                </a:lnTo>
                <a:cubicBezTo>
                  <a:pt x="63500" y="49273"/>
                  <a:pt x="49273" y="63500"/>
                  <a:pt x="317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25" name="Text 23"/>
          <p:cNvSpPr/>
          <p:nvPr/>
        </p:nvSpPr>
        <p:spPr>
          <a:xfrm>
            <a:off x="3539851" y="2983964"/>
            <a:ext cx="1460024" cy="2222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Spatial Locality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412866" y="3269653"/>
            <a:ext cx="2428875" cy="349250"/>
          </a:xfrm>
          <a:custGeom>
            <a:avLst/>
            <a:gdLst/>
            <a:ahLst/>
            <a:cxnLst/>
            <a:rect l="l" t="t" r="r" b="b"/>
            <a:pathLst>
              <a:path w="2428875" h="349250">
                <a:moveTo>
                  <a:pt x="63501" y="0"/>
                </a:moveTo>
                <a:lnTo>
                  <a:pt x="2365374" y="0"/>
                </a:lnTo>
                <a:cubicBezTo>
                  <a:pt x="2400445" y="0"/>
                  <a:pt x="2428875" y="28430"/>
                  <a:pt x="2428875" y="63501"/>
                </a:cubicBezTo>
                <a:lnTo>
                  <a:pt x="2428875" y="285749"/>
                </a:lnTo>
                <a:cubicBezTo>
                  <a:pt x="2428875" y="320820"/>
                  <a:pt x="2400445" y="349250"/>
                  <a:pt x="2365374" y="349250"/>
                </a:cubicBezTo>
                <a:lnTo>
                  <a:pt x="63501" y="349250"/>
                </a:lnTo>
                <a:cubicBezTo>
                  <a:pt x="28430" y="349250"/>
                  <a:pt x="0" y="320820"/>
                  <a:pt x="0" y="2857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7" name="Text 25"/>
          <p:cNvSpPr/>
          <p:nvPr/>
        </p:nvSpPr>
        <p:spPr>
          <a:xfrm>
            <a:off x="3508074" y="3364857"/>
            <a:ext cx="2293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Example: sequentially accessing array elements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31494" y="470318"/>
            <a:ext cx="5683250" cy="6131935"/>
          </a:xfrm>
          <a:custGeom>
            <a:avLst/>
            <a:gdLst/>
            <a:ahLst/>
            <a:cxnLst/>
            <a:rect l="l" t="t" r="r" b="b"/>
            <a:pathLst>
              <a:path w="5683250" h="6985000">
                <a:moveTo>
                  <a:pt x="63482" y="0"/>
                </a:moveTo>
                <a:lnTo>
                  <a:pt x="5619768" y="0"/>
                </a:lnTo>
                <a:cubicBezTo>
                  <a:pt x="5654828" y="0"/>
                  <a:pt x="5683250" y="28422"/>
                  <a:pt x="5683250" y="63482"/>
                </a:cubicBezTo>
                <a:lnTo>
                  <a:pt x="5683250" y="6921518"/>
                </a:lnTo>
                <a:cubicBezTo>
                  <a:pt x="5683250" y="6956578"/>
                  <a:pt x="5654828" y="6985000"/>
                  <a:pt x="5619768" y="6985000"/>
                </a:cubicBezTo>
                <a:lnTo>
                  <a:pt x="63482" y="6985000"/>
                </a:lnTo>
                <a:cubicBezTo>
                  <a:pt x="28422" y="6985000"/>
                  <a:pt x="0" y="6956578"/>
                  <a:pt x="0" y="6921518"/>
                </a:cubicBezTo>
                <a:lnTo>
                  <a:pt x="0" y="63482"/>
                </a:lnTo>
                <a:cubicBezTo>
                  <a:pt x="0" y="28445"/>
                  <a:pt x="28445" y="0"/>
                  <a:pt x="63482" y="0"/>
                </a:cubicBezTo>
                <a:close/>
              </a:path>
            </a:pathLst>
          </a:custGeom>
          <a:solidFill>
            <a:srgbClr val="F8F8F8"/>
          </a:solidFill>
        </p:spPr>
      </p:sp>
      <p:pic>
        <p:nvPicPr>
          <p:cNvPr id="29" name="Image 0" descr="https://kimi-web-img.moonshot.cn/img/miro.medium.com/88571c9330f39c9f2f78e1ecdf544a7859bffa1c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185760" y="524288"/>
            <a:ext cx="3918952" cy="5216988"/>
          </a:xfrm>
          <a:prstGeom prst="roundRect">
            <a:avLst>
              <a:gd name="adj" fmla="val 634"/>
            </a:avLst>
          </a:prstGeom>
        </p:spPr>
      </p:pic>
      <p:sp>
        <p:nvSpPr>
          <p:cNvPr id="30" name="Shape 27"/>
          <p:cNvSpPr/>
          <p:nvPr/>
        </p:nvSpPr>
        <p:spPr>
          <a:xfrm>
            <a:off x="6191237" y="5822514"/>
            <a:ext cx="5683250" cy="698500"/>
          </a:xfrm>
          <a:custGeom>
            <a:avLst/>
            <a:gdLst/>
            <a:ahLst/>
            <a:cxnLst/>
            <a:rect l="l" t="t" r="r" b="b"/>
            <a:pathLst>
              <a:path w="5683250" h="698500">
                <a:moveTo>
                  <a:pt x="63501" y="0"/>
                </a:moveTo>
                <a:lnTo>
                  <a:pt x="5619749" y="0"/>
                </a:lnTo>
                <a:cubicBezTo>
                  <a:pt x="5654820" y="0"/>
                  <a:pt x="5683250" y="28430"/>
                  <a:pt x="5683250" y="63501"/>
                </a:cubicBezTo>
                <a:lnTo>
                  <a:pt x="5683250" y="634999"/>
                </a:lnTo>
                <a:cubicBezTo>
                  <a:pt x="5683250" y="670070"/>
                  <a:pt x="5654820" y="698500"/>
                  <a:pt x="5619749" y="698500"/>
                </a:cubicBezTo>
                <a:lnTo>
                  <a:pt x="63501" y="698500"/>
                </a:lnTo>
                <a:cubicBezTo>
                  <a:pt x="28430" y="698500"/>
                  <a:pt x="0" y="670070"/>
                  <a:pt x="0" y="6349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31" name="Shape 28"/>
          <p:cNvSpPr/>
          <p:nvPr/>
        </p:nvSpPr>
        <p:spPr>
          <a:xfrm>
            <a:off x="6336928" y="611401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2" name="Text 29"/>
          <p:cNvSpPr/>
          <p:nvPr/>
        </p:nvSpPr>
        <p:spPr>
          <a:xfrm>
            <a:off x="6646436" y="5975841"/>
            <a:ext cx="1595437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Optimization Goal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646437" y="6216447"/>
            <a:ext cx="1902997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Improve cache hit rate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261900" y="8984599"/>
            <a:ext cx="11612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Image source: Medium - InterviewNoodle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90458" y="590429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+mn-ea"/>
                <a:cs typeface="MiSans" panose="00000500000000000000" pitchFamily="34" charset="-120"/>
              </a:rPr>
              <a:t>Reduction Kernel Problem Definition</a:t>
            </a:r>
            <a:endParaRPr lang="en-US" sz="1600" dirty="0">
              <a:latin typeface="+mn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80956" y="1333230"/>
            <a:ext cx="5600700" cy="1143000"/>
          </a:xfrm>
          <a:custGeom>
            <a:avLst/>
            <a:gdLst/>
            <a:ahLst/>
            <a:cxnLst/>
            <a:rect l="l" t="t" r="r" b="b"/>
            <a:pathLst>
              <a:path w="5600700" h="1143000">
                <a:moveTo>
                  <a:pt x="76204" y="0"/>
                </a:moveTo>
                <a:lnTo>
                  <a:pt x="5524496" y="0"/>
                </a:lnTo>
                <a:cubicBezTo>
                  <a:pt x="5566582" y="0"/>
                  <a:pt x="5600700" y="34118"/>
                  <a:pt x="5600700" y="76204"/>
                </a:cubicBezTo>
                <a:lnTo>
                  <a:pt x="5600700" y="1066796"/>
                </a:lnTo>
                <a:cubicBezTo>
                  <a:pt x="5600700" y="1108882"/>
                  <a:pt x="5566582" y="1143000"/>
                  <a:pt x="5524496" y="1143000"/>
                </a:cubicBezTo>
                <a:lnTo>
                  <a:pt x="76204" y="1143000"/>
                </a:lnTo>
                <a:cubicBezTo>
                  <a:pt x="34118" y="1143000"/>
                  <a:pt x="0" y="1108882"/>
                  <a:pt x="0" y="106679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6" name="Text 4"/>
          <p:cNvSpPr/>
          <p:nvPr/>
        </p:nvSpPr>
        <p:spPr>
          <a:xfrm>
            <a:off x="609529" y="1561812"/>
            <a:ext cx="5257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Reduction Example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529" y="1980744"/>
            <a:ext cx="5229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Compute the sum of array elements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0956" y="2628407"/>
            <a:ext cx="5600700" cy="1866900"/>
          </a:xfrm>
          <a:custGeom>
            <a:avLst/>
            <a:gdLst/>
            <a:ahLst/>
            <a:cxnLst/>
            <a:rect l="l" t="t" r="r" b="b"/>
            <a:pathLst>
              <a:path w="5600700" h="1866900">
                <a:moveTo>
                  <a:pt x="76207" y="0"/>
                </a:moveTo>
                <a:lnTo>
                  <a:pt x="5524493" y="0"/>
                </a:lnTo>
                <a:cubicBezTo>
                  <a:pt x="5566581" y="0"/>
                  <a:pt x="5600700" y="34119"/>
                  <a:pt x="5600700" y="76207"/>
                </a:cubicBezTo>
                <a:lnTo>
                  <a:pt x="5600700" y="1790693"/>
                </a:lnTo>
                <a:cubicBezTo>
                  <a:pt x="5600700" y="1832781"/>
                  <a:pt x="5566581" y="1866900"/>
                  <a:pt x="5524493" y="1866900"/>
                </a:cubicBezTo>
                <a:lnTo>
                  <a:pt x="76207" y="1866900"/>
                </a:lnTo>
                <a:cubicBezTo>
                  <a:pt x="34119" y="1866900"/>
                  <a:pt x="0" y="1832781"/>
                  <a:pt x="0" y="1790693"/>
                </a:cubicBezTo>
                <a:lnTo>
                  <a:pt x="0" y="76207"/>
                </a:lnTo>
                <a:cubicBezTo>
                  <a:pt x="0" y="34147"/>
                  <a:pt x="34147" y="0"/>
                  <a:pt x="76207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10" name="Text 8"/>
          <p:cNvSpPr/>
          <p:nvPr/>
        </p:nvSpPr>
        <p:spPr>
          <a:xfrm>
            <a:off x="809521" y="2818851"/>
            <a:ext cx="5076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Problem Definition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0352" y="3237942"/>
            <a:ext cx="5200555" cy="1066800"/>
          </a:xfrm>
          <a:custGeom>
            <a:avLst/>
            <a:gdLst/>
            <a:ahLst/>
            <a:cxnLst/>
            <a:rect l="l" t="t" r="r" b="b"/>
            <a:pathLst>
              <a:path w="5200555" h="1066800">
                <a:moveTo>
                  <a:pt x="37910" y="0"/>
                </a:moveTo>
                <a:lnTo>
                  <a:pt x="5124354" y="0"/>
                </a:lnTo>
                <a:cubicBezTo>
                  <a:pt x="5166439" y="0"/>
                  <a:pt x="5200555" y="34117"/>
                  <a:pt x="5200555" y="76202"/>
                </a:cubicBezTo>
                <a:lnTo>
                  <a:pt x="5200555" y="990598"/>
                </a:lnTo>
                <a:cubicBezTo>
                  <a:pt x="5200555" y="1032683"/>
                  <a:pt x="5166439" y="1066800"/>
                  <a:pt x="5124354" y="1066800"/>
                </a:cubicBezTo>
                <a:lnTo>
                  <a:pt x="37910" y="1066800"/>
                </a:lnTo>
                <a:cubicBezTo>
                  <a:pt x="16973" y="1066800"/>
                  <a:pt x="0" y="1049827"/>
                  <a:pt x="0" y="10288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2" name="Shape 10"/>
          <p:cNvSpPr/>
          <p:nvPr/>
        </p:nvSpPr>
        <p:spPr>
          <a:xfrm>
            <a:off x="590352" y="3237942"/>
            <a:ext cx="37910" cy="1066800"/>
          </a:xfrm>
          <a:custGeom>
            <a:avLst/>
            <a:gdLst/>
            <a:ahLst/>
            <a:cxnLst/>
            <a:rect l="l" t="t" r="r" b="b"/>
            <a:pathLst>
              <a:path w="37910" h="1066800">
                <a:moveTo>
                  <a:pt x="37910" y="0"/>
                </a:moveTo>
                <a:lnTo>
                  <a:pt x="37910" y="0"/>
                </a:lnTo>
                <a:lnTo>
                  <a:pt x="37910" y="1066800"/>
                </a:lnTo>
                <a:lnTo>
                  <a:pt x="37910" y="1066800"/>
                </a:lnTo>
                <a:cubicBezTo>
                  <a:pt x="16973" y="1066800"/>
                  <a:pt x="0" y="1049827"/>
                  <a:pt x="0" y="10288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13" name="Text 11"/>
          <p:cNvSpPr/>
          <p:nvPr/>
        </p:nvSpPr>
        <p:spPr>
          <a:xfrm>
            <a:off x="761689" y="3390323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Compute: sum(A)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1689" y="3695086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Input: array 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1689" y="3923658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Output: A[0] + A[1] + ... + A[n-1]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0956" y="4647437"/>
            <a:ext cx="5600700" cy="1905000"/>
          </a:xfrm>
          <a:custGeom>
            <a:avLst/>
            <a:gdLst/>
            <a:ahLst/>
            <a:cxnLst/>
            <a:rect l="l" t="t" r="r" b="b"/>
            <a:pathLst>
              <a:path w="5600700" h="1905000">
                <a:moveTo>
                  <a:pt x="762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1828800"/>
                </a:lnTo>
                <a:cubicBezTo>
                  <a:pt x="5600700" y="1870856"/>
                  <a:pt x="5566556" y="1905000"/>
                  <a:pt x="5524500" y="1905000"/>
                </a:cubicBezTo>
                <a:lnTo>
                  <a:pt x="76200" y="1905000"/>
                </a:lnTo>
                <a:cubicBezTo>
                  <a:pt x="34144" y="1905000"/>
                  <a:pt x="0" y="1870856"/>
                  <a:pt x="0" y="1828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18" name="Text 16"/>
          <p:cNvSpPr/>
          <p:nvPr/>
        </p:nvSpPr>
        <p:spPr>
          <a:xfrm>
            <a:off x="809521" y="4837881"/>
            <a:ext cx="5076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Problems with the Naive Approach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1396" y="533315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A4A"/>
          </a:solidFill>
        </p:spPr>
      </p:sp>
      <p:sp>
        <p:nvSpPr>
          <p:cNvPr id="20" name="Text 18"/>
          <p:cNvSpPr/>
          <p:nvPr/>
        </p:nvSpPr>
        <p:spPr>
          <a:xfrm>
            <a:off x="761837" y="5256962"/>
            <a:ext cx="3779478" cy="3041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Each thread writes to global memory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1837" y="5523598"/>
            <a:ext cx="2791435" cy="2664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Frequent global memory accesses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1396" y="594261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A4A"/>
          </a:solidFill>
        </p:spPr>
      </p:sp>
      <p:sp>
        <p:nvSpPr>
          <p:cNvPr id="23" name="Text 21"/>
          <p:cNvSpPr/>
          <p:nvPr/>
        </p:nvSpPr>
        <p:spPr>
          <a:xfrm>
            <a:off x="761837" y="5866422"/>
            <a:ext cx="2239113" cy="2476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Excessive memory accesses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1837" y="6133048"/>
            <a:ext cx="3159650" cy="2664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Becomes a performance bottleneck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0279" y="1333230"/>
            <a:ext cx="5600700" cy="3886200"/>
          </a:xfrm>
          <a:custGeom>
            <a:avLst/>
            <a:gdLst/>
            <a:ahLst/>
            <a:cxnLst/>
            <a:rect l="l" t="t" r="r" b="b"/>
            <a:pathLst>
              <a:path w="5600700" h="3886200">
                <a:moveTo>
                  <a:pt x="76208" y="0"/>
                </a:moveTo>
                <a:lnTo>
                  <a:pt x="5524492" y="0"/>
                </a:lnTo>
                <a:cubicBezTo>
                  <a:pt x="5566580" y="0"/>
                  <a:pt x="5600700" y="34120"/>
                  <a:pt x="5600700" y="76208"/>
                </a:cubicBezTo>
                <a:lnTo>
                  <a:pt x="5600700" y="3809992"/>
                </a:lnTo>
                <a:cubicBezTo>
                  <a:pt x="5600700" y="3852080"/>
                  <a:pt x="5566580" y="3886200"/>
                  <a:pt x="5524492" y="3886200"/>
                </a:cubicBezTo>
                <a:lnTo>
                  <a:pt x="76208" y="3886200"/>
                </a:lnTo>
                <a:cubicBezTo>
                  <a:pt x="34120" y="3886200"/>
                  <a:pt x="0" y="3852080"/>
                  <a:pt x="0" y="38099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F8F8F8"/>
          </a:solidFill>
        </p:spPr>
      </p:sp>
      <p:pic>
        <p:nvPicPr>
          <p:cNvPr id="26" name="Image 0" descr="https://kimi-web-img.moonshot.cn/img/enccs.github.io/db8c21061b7cb4a9048bc3a5b312fc7624643b00.png"/>
          <p:cNvPicPr>
            <a:picLocks noChangeAspect="1"/>
          </p:cNvPicPr>
          <p:nvPr/>
        </p:nvPicPr>
        <p:blipFill>
          <a:blip r:embed="rId3"/>
          <a:srcRect l="81" r="81"/>
          <a:stretch>
            <a:fillRect/>
          </a:stretch>
        </p:blipFill>
        <p:spPr>
          <a:xfrm>
            <a:off x="6400720" y="1806820"/>
            <a:ext cx="5219700" cy="2943225"/>
          </a:xfrm>
          <a:prstGeom prst="roundRect">
            <a:avLst>
              <a:gd name="adj" fmla="val 1294"/>
            </a:avLst>
          </a:prstGeom>
        </p:spPr>
      </p:pic>
      <p:sp>
        <p:nvSpPr>
          <p:cNvPr id="27" name="Shape 24"/>
          <p:cNvSpPr/>
          <p:nvPr/>
        </p:nvSpPr>
        <p:spPr>
          <a:xfrm>
            <a:off x="6219757" y="5380768"/>
            <a:ext cx="5581555" cy="1161955"/>
          </a:xfrm>
          <a:custGeom>
            <a:avLst/>
            <a:gdLst/>
            <a:ahLst/>
            <a:cxnLst/>
            <a:rect l="l" t="t" r="r" b="b"/>
            <a:pathLst>
              <a:path w="5581555" h="1161955">
                <a:moveTo>
                  <a:pt x="76201" y="0"/>
                </a:moveTo>
                <a:lnTo>
                  <a:pt x="5505354" y="0"/>
                </a:lnTo>
                <a:cubicBezTo>
                  <a:pt x="5547439" y="0"/>
                  <a:pt x="5581555" y="34116"/>
                  <a:pt x="5581555" y="76201"/>
                </a:cubicBezTo>
                <a:lnTo>
                  <a:pt x="5581555" y="1085754"/>
                </a:lnTo>
                <a:cubicBezTo>
                  <a:pt x="5581555" y="1127839"/>
                  <a:pt x="5547439" y="1161955"/>
                  <a:pt x="5505354" y="1161955"/>
                </a:cubicBezTo>
                <a:lnTo>
                  <a:pt x="76201" y="1161955"/>
                </a:lnTo>
                <a:cubicBezTo>
                  <a:pt x="34116" y="1161955"/>
                  <a:pt x="0" y="1127839"/>
                  <a:pt x="0" y="108575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FFFFF"/>
          </a:solidFill>
          <a:ln w="25274">
            <a:solidFill>
              <a:srgbClr val="8B263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43517" y="5542629"/>
            <a:ext cx="5334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Reduction Operation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338754" y="5847392"/>
            <a:ext cx="5343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A[0] ⊕ A[1] ⊕ A[2] ⊕ ... ⊕ A[n-1]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348279" y="6190292"/>
            <a:ext cx="5324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⊕ can be +, ×, max, min, etc.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314281" y="6628256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Image source: ENCCS CUDA Training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90459" y="585309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+mn-ea"/>
                <a:cs typeface="MiSans" panose="00000500000000000000" pitchFamily="34" charset="-120"/>
              </a:rPr>
              <a:t>Optimizing Reduction with Shared Memory</a:t>
            </a:r>
            <a:endParaRPr lang="en-US" sz="1600" dirty="0">
              <a:latin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80956" y="1142795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2635"/>
          </a:solidFill>
        </p:spPr>
      </p:sp>
      <p:sp>
        <p:nvSpPr>
          <p:cNvPr id="5" name="Shape 3"/>
          <p:cNvSpPr/>
          <p:nvPr/>
        </p:nvSpPr>
        <p:spPr>
          <a:xfrm>
            <a:off x="380956" y="1333230"/>
            <a:ext cx="3705225" cy="1104900"/>
          </a:xfrm>
          <a:custGeom>
            <a:avLst/>
            <a:gdLst/>
            <a:ahLst/>
            <a:cxnLst/>
            <a:rect l="l" t="t" r="r" b="b"/>
            <a:pathLst>
              <a:path w="3705225" h="1104900">
                <a:moveTo>
                  <a:pt x="76205" y="0"/>
                </a:moveTo>
                <a:lnTo>
                  <a:pt x="3629020" y="0"/>
                </a:lnTo>
                <a:cubicBezTo>
                  <a:pt x="3671107" y="0"/>
                  <a:pt x="3705225" y="34118"/>
                  <a:pt x="3705225" y="76205"/>
                </a:cubicBezTo>
                <a:lnTo>
                  <a:pt x="3705225" y="1028695"/>
                </a:lnTo>
                <a:cubicBezTo>
                  <a:pt x="3705225" y="1070782"/>
                  <a:pt x="3671107" y="1104900"/>
                  <a:pt x="3629020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6" name="Shape 4"/>
          <p:cNvSpPr/>
          <p:nvPr/>
        </p:nvSpPr>
        <p:spPr>
          <a:xfrm>
            <a:off x="571396" y="152367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523771" y="1523674"/>
            <a:ext cx="4762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8B263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6602" y="1580759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Load data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396" y="2018881"/>
            <a:ext cx="3400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global → shared memory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41750" y="1333230"/>
            <a:ext cx="3705225" cy="1104900"/>
          </a:xfrm>
          <a:custGeom>
            <a:avLst/>
            <a:gdLst/>
            <a:ahLst/>
            <a:cxnLst/>
            <a:rect l="l" t="t" r="r" b="b"/>
            <a:pathLst>
              <a:path w="3705225" h="1104900">
                <a:moveTo>
                  <a:pt x="76205" y="0"/>
                </a:moveTo>
                <a:lnTo>
                  <a:pt x="3629020" y="0"/>
                </a:lnTo>
                <a:cubicBezTo>
                  <a:pt x="3671107" y="0"/>
                  <a:pt x="3705225" y="34118"/>
                  <a:pt x="3705225" y="76205"/>
                </a:cubicBezTo>
                <a:lnTo>
                  <a:pt x="3705225" y="1028695"/>
                </a:lnTo>
                <a:cubicBezTo>
                  <a:pt x="3705225" y="1070782"/>
                  <a:pt x="3671107" y="1104900"/>
                  <a:pt x="3629020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11" name="Shape 9"/>
          <p:cNvSpPr/>
          <p:nvPr/>
        </p:nvSpPr>
        <p:spPr>
          <a:xfrm>
            <a:off x="4432190" y="152367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2" name="Text 10"/>
          <p:cNvSpPr/>
          <p:nvPr/>
        </p:nvSpPr>
        <p:spPr>
          <a:xfrm>
            <a:off x="4384565" y="1523674"/>
            <a:ext cx="4762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B89A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27395" y="1580759"/>
            <a:ext cx="2491557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Reduction computation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32190" y="2018881"/>
            <a:ext cx="3400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reduction within shared memory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02544" y="1333230"/>
            <a:ext cx="3705225" cy="1104900"/>
          </a:xfrm>
          <a:custGeom>
            <a:avLst/>
            <a:gdLst/>
            <a:ahLst/>
            <a:cxnLst/>
            <a:rect l="l" t="t" r="r" b="b"/>
            <a:pathLst>
              <a:path w="3705225" h="1104900">
                <a:moveTo>
                  <a:pt x="76205" y="0"/>
                </a:moveTo>
                <a:lnTo>
                  <a:pt x="3629020" y="0"/>
                </a:lnTo>
                <a:cubicBezTo>
                  <a:pt x="3671107" y="0"/>
                  <a:pt x="3705225" y="34118"/>
                  <a:pt x="3705225" y="76205"/>
                </a:cubicBezTo>
                <a:lnTo>
                  <a:pt x="3705225" y="1028695"/>
                </a:lnTo>
                <a:cubicBezTo>
                  <a:pt x="3705225" y="1070782"/>
                  <a:pt x="3671107" y="1104900"/>
                  <a:pt x="3629020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4A4A"/>
          </a:solidFill>
        </p:spPr>
      </p:sp>
      <p:sp>
        <p:nvSpPr>
          <p:cNvPr id="16" name="Shape 14"/>
          <p:cNvSpPr/>
          <p:nvPr/>
        </p:nvSpPr>
        <p:spPr>
          <a:xfrm>
            <a:off x="8292985" y="152367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7" name="Text 15"/>
          <p:cNvSpPr/>
          <p:nvPr/>
        </p:nvSpPr>
        <p:spPr>
          <a:xfrm>
            <a:off x="8245360" y="1523674"/>
            <a:ext cx="4762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88189" y="1580759"/>
            <a:ext cx="2068009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Write back result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92985" y="2018881"/>
            <a:ext cx="3400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Final write to global memory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0956" y="2590279"/>
            <a:ext cx="11430000" cy="2705100"/>
          </a:xfrm>
          <a:custGeom>
            <a:avLst/>
            <a:gdLst/>
            <a:ahLst/>
            <a:cxnLst/>
            <a:rect l="l" t="t" r="r" b="b"/>
            <a:pathLst>
              <a:path w="11430000" h="2705100">
                <a:moveTo>
                  <a:pt x="76203" y="0"/>
                </a:moveTo>
                <a:lnTo>
                  <a:pt x="11353797" y="0"/>
                </a:lnTo>
                <a:cubicBezTo>
                  <a:pt x="11395883" y="0"/>
                  <a:pt x="11430000" y="34117"/>
                  <a:pt x="11430000" y="76203"/>
                </a:cubicBezTo>
                <a:lnTo>
                  <a:pt x="11430000" y="2628897"/>
                </a:lnTo>
                <a:cubicBezTo>
                  <a:pt x="11430000" y="2670983"/>
                  <a:pt x="11395883" y="2705100"/>
                  <a:pt x="11353797" y="2705100"/>
                </a:cubicBezTo>
                <a:lnTo>
                  <a:pt x="76203" y="2705100"/>
                </a:lnTo>
                <a:cubicBezTo>
                  <a:pt x="34117" y="2705100"/>
                  <a:pt x="0" y="2670983"/>
                  <a:pt x="0" y="26288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21" name="Shape 19"/>
          <p:cNvSpPr/>
          <p:nvPr/>
        </p:nvSpPr>
        <p:spPr>
          <a:xfrm>
            <a:off x="595209" y="281877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35719"/>
                </a:moveTo>
                <a:cubicBezTo>
                  <a:pt x="190500" y="54397"/>
                  <a:pt x="168511" y="82265"/>
                  <a:pt x="159023" y="93390"/>
                </a:cubicBezTo>
                <a:cubicBezTo>
                  <a:pt x="157609" y="95027"/>
                  <a:pt x="155525" y="95659"/>
                  <a:pt x="153628" y="95250"/>
                </a:cubicBezTo>
                <a:lnTo>
                  <a:pt x="119063" y="95250"/>
                </a:lnTo>
                <a:cubicBezTo>
                  <a:pt x="112477" y="95250"/>
                  <a:pt x="107156" y="100571"/>
                  <a:pt x="107156" y="107156"/>
                </a:cubicBezTo>
                <a:cubicBezTo>
                  <a:pt x="107156" y="113742"/>
                  <a:pt x="112477" y="119063"/>
                  <a:pt x="119063" y="119063"/>
                </a:cubicBezTo>
                <a:lnTo>
                  <a:pt x="154781" y="119063"/>
                </a:lnTo>
                <a:cubicBezTo>
                  <a:pt x="174501" y="119063"/>
                  <a:pt x="190500" y="135062"/>
                  <a:pt x="190500" y="154781"/>
                </a:cubicBezTo>
                <a:cubicBezTo>
                  <a:pt x="190500" y="174501"/>
                  <a:pt x="174501" y="190500"/>
                  <a:pt x="154781" y="190500"/>
                </a:cubicBezTo>
                <a:lnTo>
                  <a:pt x="51941" y="190500"/>
                </a:lnTo>
                <a:cubicBezTo>
                  <a:pt x="55178" y="186817"/>
                  <a:pt x="59122" y="182091"/>
                  <a:pt x="63103" y="176808"/>
                </a:cubicBezTo>
                <a:cubicBezTo>
                  <a:pt x="65447" y="173682"/>
                  <a:pt x="67866" y="170259"/>
                  <a:pt x="70172" y="166688"/>
                </a:cubicBezTo>
                <a:lnTo>
                  <a:pt x="154781" y="166688"/>
                </a:lnTo>
                <a:cubicBezTo>
                  <a:pt x="161367" y="166688"/>
                  <a:pt x="166688" y="161367"/>
                  <a:pt x="166688" y="154781"/>
                </a:cubicBezTo>
                <a:cubicBezTo>
                  <a:pt x="166688" y="148196"/>
                  <a:pt x="161367" y="142875"/>
                  <a:pt x="154781" y="142875"/>
                </a:cubicBezTo>
                <a:lnTo>
                  <a:pt x="119063" y="142875"/>
                </a:lnTo>
                <a:cubicBezTo>
                  <a:pt x="99343" y="142875"/>
                  <a:pt x="83344" y="126876"/>
                  <a:pt x="83344" y="107156"/>
                </a:cubicBezTo>
                <a:cubicBezTo>
                  <a:pt x="83344" y="87437"/>
                  <a:pt x="99343" y="71438"/>
                  <a:pt x="119063" y="71438"/>
                </a:cubicBezTo>
                <a:lnTo>
                  <a:pt x="133871" y="71438"/>
                </a:lnTo>
                <a:cubicBezTo>
                  <a:pt x="126057" y="59717"/>
                  <a:pt x="119063" y="46248"/>
                  <a:pt x="119063" y="35719"/>
                </a:cubicBezTo>
                <a:cubicBezTo>
                  <a:pt x="119063" y="15999"/>
                  <a:pt x="135062" y="0"/>
                  <a:pt x="154781" y="0"/>
                </a:cubicBezTo>
                <a:cubicBezTo>
                  <a:pt x="174501" y="0"/>
                  <a:pt x="190500" y="15999"/>
                  <a:pt x="190500" y="35719"/>
                </a:cubicBezTo>
                <a:close/>
                <a:moveTo>
                  <a:pt x="43569" y="181980"/>
                </a:moveTo>
                <a:cubicBezTo>
                  <a:pt x="42156" y="183579"/>
                  <a:pt x="40891" y="184993"/>
                  <a:pt x="39812" y="186184"/>
                </a:cubicBezTo>
                <a:lnTo>
                  <a:pt x="39142" y="186928"/>
                </a:lnTo>
                <a:lnTo>
                  <a:pt x="39067" y="186854"/>
                </a:lnTo>
                <a:cubicBezTo>
                  <a:pt x="36835" y="188565"/>
                  <a:pt x="33635" y="188342"/>
                  <a:pt x="31626" y="186184"/>
                </a:cubicBezTo>
                <a:cubicBezTo>
                  <a:pt x="22250" y="175989"/>
                  <a:pt x="0" y="149758"/>
                  <a:pt x="0" y="130969"/>
                </a:cubicBezTo>
                <a:cubicBezTo>
                  <a:pt x="0" y="111249"/>
                  <a:pt x="15999" y="95250"/>
                  <a:pt x="35719" y="95250"/>
                </a:cubicBezTo>
                <a:cubicBezTo>
                  <a:pt x="55438" y="95250"/>
                  <a:pt x="71438" y="111249"/>
                  <a:pt x="71438" y="130969"/>
                </a:cubicBezTo>
                <a:cubicBezTo>
                  <a:pt x="71438" y="142131"/>
                  <a:pt x="63587" y="155897"/>
                  <a:pt x="55252" y="167394"/>
                </a:cubicBezTo>
                <a:cubicBezTo>
                  <a:pt x="51271" y="172864"/>
                  <a:pt x="47179" y="177812"/>
                  <a:pt x="43793" y="181719"/>
                </a:cubicBezTo>
                <a:lnTo>
                  <a:pt x="43569" y="181980"/>
                </a:lnTo>
                <a:close/>
                <a:moveTo>
                  <a:pt x="47625" y="130969"/>
                </a:moveTo>
                <a:cubicBezTo>
                  <a:pt x="47625" y="124398"/>
                  <a:pt x="42290" y="119063"/>
                  <a:pt x="35719" y="119063"/>
                </a:cubicBezTo>
                <a:cubicBezTo>
                  <a:pt x="29148" y="119063"/>
                  <a:pt x="23812" y="124398"/>
                  <a:pt x="23812" y="130969"/>
                </a:cubicBezTo>
                <a:cubicBezTo>
                  <a:pt x="23812" y="137540"/>
                  <a:pt x="29148" y="142875"/>
                  <a:pt x="35719" y="142875"/>
                </a:cubicBezTo>
                <a:cubicBezTo>
                  <a:pt x="42290" y="142875"/>
                  <a:pt x="47625" y="137540"/>
                  <a:pt x="47625" y="130969"/>
                </a:cubicBezTo>
                <a:close/>
                <a:moveTo>
                  <a:pt x="154781" y="47625"/>
                </a:moveTo>
                <a:cubicBezTo>
                  <a:pt x="161352" y="47625"/>
                  <a:pt x="166688" y="42290"/>
                  <a:pt x="166688" y="35719"/>
                </a:cubicBezTo>
                <a:cubicBezTo>
                  <a:pt x="166688" y="29148"/>
                  <a:pt x="161352" y="23812"/>
                  <a:pt x="154781" y="23812"/>
                </a:cubicBezTo>
                <a:cubicBezTo>
                  <a:pt x="148210" y="23812"/>
                  <a:pt x="142875" y="29148"/>
                  <a:pt x="142875" y="35719"/>
                </a:cubicBezTo>
                <a:cubicBezTo>
                  <a:pt x="142875" y="42290"/>
                  <a:pt x="148210" y="47625"/>
                  <a:pt x="154781" y="47625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22" name="Text 20"/>
          <p:cNvSpPr/>
          <p:nvPr/>
        </p:nvSpPr>
        <p:spPr>
          <a:xfrm>
            <a:off x="809521" y="2780714"/>
            <a:ext cx="10906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Optimization Flow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370624" y="3199805"/>
            <a:ext cx="1371600" cy="723900"/>
          </a:xfrm>
          <a:custGeom>
            <a:avLst/>
            <a:gdLst/>
            <a:ahLst/>
            <a:cxnLst/>
            <a:rect l="l" t="t" r="r" b="b"/>
            <a:pathLst>
              <a:path w="1371600" h="723900">
                <a:moveTo>
                  <a:pt x="76198" y="0"/>
                </a:moveTo>
                <a:lnTo>
                  <a:pt x="1295402" y="0"/>
                </a:lnTo>
                <a:cubicBezTo>
                  <a:pt x="1337457" y="0"/>
                  <a:pt x="1371600" y="34143"/>
                  <a:pt x="1371600" y="76198"/>
                </a:cubicBezTo>
                <a:lnTo>
                  <a:pt x="1371600" y="647702"/>
                </a:lnTo>
                <a:cubicBezTo>
                  <a:pt x="1371600" y="689757"/>
                  <a:pt x="1337457" y="723900"/>
                  <a:pt x="12954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4A4A4A"/>
          </a:solidFill>
        </p:spPr>
      </p:sp>
      <p:sp>
        <p:nvSpPr>
          <p:cNvPr id="24" name="Text 22"/>
          <p:cNvSpPr/>
          <p:nvPr/>
        </p:nvSpPr>
        <p:spPr>
          <a:xfrm>
            <a:off x="3484906" y="3352186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Global Memory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489668" y="3691224"/>
            <a:ext cx="1133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Input Data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337286" y="3999774"/>
            <a:ext cx="1438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Input Data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92003" y="3504493"/>
            <a:ext cx="5143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8B263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387356" y="3199805"/>
            <a:ext cx="1419225" cy="723900"/>
          </a:xfrm>
          <a:custGeom>
            <a:avLst/>
            <a:gdLst/>
            <a:ahLst/>
            <a:cxnLst/>
            <a:rect l="l" t="t" r="r" b="b"/>
            <a:pathLst>
              <a:path w="1419225" h="723900">
                <a:moveTo>
                  <a:pt x="76198" y="0"/>
                </a:moveTo>
                <a:lnTo>
                  <a:pt x="1343027" y="0"/>
                </a:lnTo>
                <a:cubicBezTo>
                  <a:pt x="1385082" y="0"/>
                  <a:pt x="1419225" y="34143"/>
                  <a:pt x="1419225" y="76198"/>
                </a:cubicBezTo>
                <a:lnTo>
                  <a:pt x="1419225" y="647702"/>
                </a:lnTo>
                <a:cubicBezTo>
                  <a:pt x="1419225" y="689757"/>
                  <a:pt x="1385082" y="723900"/>
                  <a:pt x="13430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29" name="Text 27"/>
          <p:cNvSpPr/>
          <p:nvPr/>
        </p:nvSpPr>
        <p:spPr>
          <a:xfrm>
            <a:off x="5501638" y="3352186"/>
            <a:ext cx="11906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Shared Memory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524812" y="3709635"/>
            <a:ext cx="11811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Load &amp; Reduce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54019" y="3999774"/>
            <a:ext cx="14859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Load &amp; Reduce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56937" y="3504493"/>
            <a:ext cx="5143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8B263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52290" y="3199805"/>
            <a:ext cx="1371600" cy="723900"/>
          </a:xfrm>
          <a:custGeom>
            <a:avLst/>
            <a:gdLst/>
            <a:ahLst/>
            <a:cxnLst/>
            <a:rect l="l" t="t" r="r" b="b"/>
            <a:pathLst>
              <a:path w="1371600" h="723900">
                <a:moveTo>
                  <a:pt x="76198" y="0"/>
                </a:moveTo>
                <a:lnTo>
                  <a:pt x="1295402" y="0"/>
                </a:lnTo>
                <a:cubicBezTo>
                  <a:pt x="1337457" y="0"/>
                  <a:pt x="1371600" y="34143"/>
                  <a:pt x="1371600" y="76198"/>
                </a:cubicBezTo>
                <a:lnTo>
                  <a:pt x="1371600" y="647702"/>
                </a:lnTo>
                <a:cubicBezTo>
                  <a:pt x="1371600" y="689757"/>
                  <a:pt x="1337457" y="723900"/>
                  <a:pt x="12954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34" name="Text 32"/>
          <p:cNvSpPr/>
          <p:nvPr/>
        </p:nvSpPr>
        <p:spPr>
          <a:xfrm>
            <a:off x="7566573" y="3352186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Global Memory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571336" y="3709635"/>
            <a:ext cx="1133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Output Result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418953" y="3999774"/>
            <a:ext cx="1438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Output Result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0956" y="5448514"/>
            <a:ext cx="11430000" cy="762000"/>
          </a:xfrm>
          <a:custGeom>
            <a:avLst/>
            <a:gdLst/>
            <a:ahLst/>
            <a:cxnLst/>
            <a:rect l="l" t="t" r="r" b="b"/>
            <a:pathLst>
              <a:path w="11430000" h="762000">
                <a:moveTo>
                  <a:pt x="76200" y="0"/>
                </a:moveTo>
                <a:lnTo>
                  <a:pt x="11353800" y="0"/>
                </a:lnTo>
                <a:cubicBezTo>
                  <a:pt x="11395856" y="0"/>
                  <a:pt x="11430000" y="34144"/>
                  <a:pt x="11430000" y="76200"/>
                </a:cubicBezTo>
                <a:lnTo>
                  <a:pt x="11430000" y="685800"/>
                </a:lnTo>
                <a:cubicBezTo>
                  <a:pt x="11430000" y="727856"/>
                  <a:pt x="11395856" y="762000"/>
                  <a:pt x="1135380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38" name="Shape 36"/>
          <p:cNvSpPr/>
          <p:nvPr/>
        </p:nvSpPr>
        <p:spPr>
          <a:xfrm>
            <a:off x="561913" y="571514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9" name="Text 37"/>
          <p:cNvSpPr/>
          <p:nvPr/>
        </p:nvSpPr>
        <p:spPr>
          <a:xfrm>
            <a:off x="933323" y="5600895"/>
            <a:ext cx="2533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Optimization Advantage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33323" y="5867530"/>
            <a:ext cx="5162677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Reduces global memory accesses and improves parallel efficiency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14281" y="6286547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74601" y="614805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Reduction Kernel Example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463" y="1111025"/>
            <a:ext cx="6858000" cy="5523973"/>
          </a:xfrm>
          <a:custGeom>
            <a:avLst/>
            <a:gdLst/>
            <a:ahLst/>
            <a:cxnLst/>
            <a:rect l="l" t="t" r="r" b="b"/>
            <a:pathLst>
              <a:path w="6858000" h="6064250">
                <a:moveTo>
                  <a:pt x="63493" y="0"/>
                </a:moveTo>
                <a:lnTo>
                  <a:pt x="6794507" y="0"/>
                </a:lnTo>
                <a:cubicBezTo>
                  <a:pt x="6829573" y="0"/>
                  <a:pt x="6858000" y="28427"/>
                  <a:pt x="6858000" y="63493"/>
                </a:cubicBezTo>
                <a:lnTo>
                  <a:pt x="6858000" y="6000757"/>
                </a:lnTo>
                <a:cubicBezTo>
                  <a:pt x="6858000" y="6035823"/>
                  <a:pt x="6829573" y="6064250"/>
                  <a:pt x="6794507" y="6064250"/>
                </a:cubicBezTo>
                <a:lnTo>
                  <a:pt x="63493" y="6064250"/>
                </a:lnTo>
                <a:cubicBezTo>
                  <a:pt x="28427" y="6064250"/>
                  <a:pt x="0" y="6035823"/>
                  <a:pt x="0" y="6000757"/>
                </a:cubicBezTo>
                <a:lnTo>
                  <a:pt x="0" y="63493"/>
                </a:lnTo>
                <a:cubicBezTo>
                  <a:pt x="0" y="28450"/>
                  <a:pt x="28450" y="0"/>
                  <a:pt x="63493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6" name="Shape 4"/>
          <p:cNvSpPr/>
          <p:nvPr/>
        </p:nvSpPr>
        <p:spPr>
          <a:xfrm>
            <a:off x="486085" y="1301440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11869" y="372"/>
                </a:moveTo>
                <a:cubicBezTo>
                  <a:pt x="106598" y="-1147"/>
                  <a:pt x="101110" y="1922"/>
                  <a:pt x="99591" y="7193"/>
                </a:cubicBezTo>
                <a:lnTo>
                  <a:pt x="59903" y="146100"/>
                </a:lnTo>
                <a:cubicBezTo>
                  <a:pt x="58384" y="151371"/>
                  <a:pt x="61454" y="156859"/>
                  <a:pt x="66725" y="158378"/>
                </a:cubicBezTo>
                <a:cubicBezTo>
                  <a:pt x="71996" y="159897"/>
                  <a:pt x="77484" y="156828"/>
                  <a:pt x="79003" y="151557"/>
                </a:cubicBezTo>
                <a:lnTo>
                  <a:pt x="118690" y="12650"/>
                </a:lnTo>
                <a:cubicBezTo>
                  <a:pt x="120210" y="7379"/>
                  <a:pt x="117140" y="1891"/>
                  <a:pt x="111869" y="372"/>
                </a:cubicBezTo>
                <a:close/>
                <a:moveTo>
                  <a:pt x="131899" y="42571"/>
                </a:moveTo>
                <a:cubicBezTo>
                  <a:pt x="128023" y="46447"/>
                  <a:pt x="128023" y="52741"/>
                  <a:pt x="131899" y="56617"/>
                </a:cubicBezTo>
                <a:lnTo>
                  <a:pt x="154657" y="79375"/>
                </a:lnTo>
                <a:lnTo>
                  <a:pt x="131899" y="102133"/>
                </a:lnTo>
                <a:cubicBezTo>
                  <a:pt x="128023" y="106009"/>
                  <a:pt x="128023" y="112303"/>
                  <a:pt x="131899" y="116179"/>
                </a:cubicBezTo>
                <a:cubicBezTo>
                  <a:pt x="135775" y="120055"/>
                  <a:pt x="142069" y="120055"/>
                  <a:pt x="145945" y="116179"/>
                </a:cubicBezTo>
                <a:lnTo>
                  <a:pt x="175710" y="86413"/>
                </a:lnTo>
                <a:cubicBezTo>
                  <a:pt x="179586" y="82538"/>
                  <a:pt x="179586" y="76243"/>
                  <a:pt x="175710" y="72368"/>
                </a:cubicBezTo>
                <a:lnTo>
                  <a:pt x="145945" y="42602"/>
                </a:lnTo>
                <a:cubicBezTo>
                  <a:pt x="142069" y="38726"/>
                  <a:pt x="135775" y="38726"/>
                  <a:pt x="131899" y="42602"/>
                </a:cubicBezTo>
                <a:close/>
                <a:moveTo>
                  <a:pt x="46726" y="42571"/>
                </a:moveTo>
                <a:cubicBezTo>
                  <a:pt x="42850" y="38695"/>
                  <a:pt x="36556" y="38695"/>
                  <a:pt x="32680" y="42571"/>
                </a:cubicBezTo>
                <a:lnTo>
                  <a:pt x="2915" y="72337"/>
                </a:lnTo>
                <a:cubicBezTo>
                  <a:pt x="-961" y="76212"/>
                  <a:pt x="-961" y="82507"/>
                  <a:pt x="2915" y="86382"/>
                </a:cubicBezTo>
                <a:lnTo>
                  <a:pt x="32680" y="116148"/>
                </a:lnTo>
                <a:cubicBezTo>
                  <a:pt x="36556" y="120024"/>
                  <a:pt x="42850" y="120024"/>
                  <a:pt x="46726" y="116148"/>
                </a:cubicBezTo>
                <a:cubicBezTo>
                  <a:pt x="50602" y="112272"/>
                  <a:pt x="50602" y="105978"/>
                  <a:pt x="46726" y="102102"/>
                </a:cubicBezTo>
                <a:lnTo>
                  <a:pt x="23968" y="79375"/>
                </a:lnTo>
                <a:lnTo>
                  <a:pt x="46695" y="56617"/>
                </a:lnTo>
                <a:cubicBezTo>
                  <a:pt x="50571" y="52741"/>
                  <a:pt x="50571" y="46447"/>
                  <a:pt x="46695" y="42571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7" name="Text 5"/>
          <p:cNvSpPr/>
          <p:nvPr/>
        </p:nvSpPr>
        <p:spPr>
          <a:xfrm>
            <a:off x="674601" y="1269729"/>
            <a:ext cx="64214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CUDA Implementation Code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91960" y="1618971"/>
            <a:ext cx="6524546" cy="4952442"/>
          </a:xfrm>
          <a:custGeom>
            <a:avLst/>
            <a:gdLst/>
            <a:ahLst/>
            <a:cxnLst/>
            <a:rect l="l" t="t" r="r" b="b"/>
            <a:pathLst>
              <a:path w="6524546" h="5397500">
                <a:moveTo>
                  <a:pt x="31592" y="0"/>
                </a:moveTo>
                <a:lnTo>
                  <a:pt x="6461071" y="0"/>
                </a:lnTo>
                <a:cubicBezTo>
                  <a:pt x="6496127" y="0"/>
                  <a:pt x="6524546" y="28419"/>
                  <a:pt x="6524546" y="63475"/>
                </a:cubicBezTo>
                <a:lnTo>
                  <a:pt x="6524546" y="5334025"/>
                </a:lnTo>
                <a:cubicBezTo>
                  <a:pt x="6524546" y="5369081"/>
                  <a:pt x="6496127" y="5397500"/>
                  <a:pt x="6461071" y="5397500"/>
                </a:cubicBezTo>
                <a:lnTo>
                  <a:pt x="31592" y="5397500"/>
                </a:lnTo>
                <a:cubicBezTo>
                  <a:pt x="14144" y="5397500"/>
                  <a:pt x="0" y="5383356"/>
                  <a:pt x="0" y="5365908"/>
                </a:cubicBezTo>
                <a:lnTo>
                  <a:pt x="0" y="31592"/>
                </a:lnTo>
                <a:cubicBezTo>
                  <a:pt x="0" y="14156"/>
                  <a:pt x="14156" y="0"/>
                  <a:pt x="31592" y="0"/>
                </a:cubicBezTo>
                <a:close/>
              </a:path>
            </a:pathLst>
          </a:custGeom>
          <a:solidFill>
            <a:srgbClr val="F5F5F5"/>
          </a:solidFill>
        </p:spPr>
      </p:sp>
      <p:sp>
        <p:nvSpPr>
          <p:cNvPr id="9" name="Shape 7"/>
          <p:cNvSpPr/>
          <p:nvPr/>
        </p:nvSpPr>
        <p:spPr>
          <a:xfrm>
            <a:off x="491959" y="1618972"/>
            <a:ext cx="45719" cy="4990484"/>
          </a:xfrm>
          <a:custGeom>
            <a:avLst/>
            <a:gdLst/>
            <a:ahLst/>
            <a:cxnLst/>
            <a:rect l="l" t="t" r="r" b="b"/>
            <a:pathLst>
              <a:path w="31592" h="5397500">
                <a:moveTo>
                  <a:pt x="31592" y="0"/>
                </a:moveTo>
                <a:lnTo>
                  <a:pt x="31592" y="0"/>
                </a:lnTo>
                <a:lnTo>
                  <a:pt x="31592" y="5397500"/>
                </a:lnTo>
                <a:lnTo>
                  <a:pt x="31592" y="5397500"/>
                </a:lnTo>
                <a:cubicBezTo>
                  <a:pt x="14144" y="5397500"/>
                  <a:pt x="0" y="5383356"/>
                  <a:pt x="0" y="5365908"/>
                </a:cubicBezTo>
                <a:lnTo>
                  <a:pt x="0" y="31592"/>
                </a:lnTo>
                <a:cubicBezTo>
                  <a:pt x="0" y="14156"/>
                  <a:pt x="14156" y="0"/>
                  <a:pt x="31592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10" name="Text 8"/>
          <p:cNvSpPr/>
          <p:nvPr/>
        </p:nvSpPr>
        <p:spPr>
          <a:xfrm>
            <a:off x="634741" y="1745955"/>
            <a:ext cx="6318250" cy="5143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__global__ void reduction_kernel(float* input, float* output, int n)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   // Declare Shared Memory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   __shared__ float sdata[256];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   // Get thread indices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   int tid = threadIdx.x;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   int i = blockIdx.x * blockDim.x + threadIdx.x;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   // Load data from Global Memory to Shared Memory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   sdata[tid] = (i &lt; n) ? input[i] : 0;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   // Sync threads to ensure data is loaded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   __syncthreads();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   // Perform reduction in Shared Memory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   for(int s = blockDim.x/2; s &gt; 0; s &gt;&gt;= 1)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       if(tid &lt; s)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           sdata[tid] += sdata[tid + s];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   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       __syncthreads();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   // Write result back to Global Memory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   if(tid == 0)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       output[blockIdx.x] = sdata[0];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}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65943" y="1111025"/>
            <a:ext cx="4508500" cy="3238500"/>
          </a:xfrm>
          <a:custGeom>
            <a:avLst/>
            <a:gdLst/>
            <a:ahLst/>
            <a:cxnLst/>
            <a:rect l="l" t="t" r="r" b="b"/>
            <a:pathLst>
              <a:path w="4508500" h="3238500">
                <a:moveTo>
                  <a:pt x="63507" y="0"/>
                </a:moveTo>
                <a:lnTo>
                  <a:pt x="4444993" y="0"/>
                </a:lnTo>
                <a:cubicBezTo>
                  <a:pt x="4480067" y="0"/>
                  <a:pt x="4508500" y="28433"/>
                  <a:pt x="4508500" y="63507"/>
                </a:cubicBezTo>
                <a:lnTo>
                  <a:pt x="4508500" y="3174993"/>
                </a:lnTo>
                <a:cubicBezTo>
                  <a:pt x="4508500" y="3210067"/>
                  <a:pt x="4480067" y="3238500"/>
                  <a:pt x="4444993" y="3238500"/>
                </a:cubicBezTo>
                <a:lnTo>
                  <a:pt x="63507" y="3238500"/>
                </a:lnTo>
                <a:cubicBezTo>
                  <a:pt x="28433" y="3238500"/>
                  <a:pt x="0" y="3210067"/>
                  <a:pt x="0" y="3174993"/>
                </a:cubicBezTo>
                <a:lnTo>
                  <a:pt x="0" y="63507"/>
                </a:lnTo>
                <a:cubicBezTo>
                  <a:pt x="0" y="28457"/>
                  <a:pt x="28457" y="0"/>
                  <a:pt x="63507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12" name="Shape 10"/>
          <p:cNvSpPr/>
          <p:nvPr/>
        </p:nvSpPr>
        <p:spPr>
          <a:xfrm>
            <a:off x="7544488" y="130144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69453" y="49609"/>
                </a:moveTo>
                <a:cubicBezTo>
                  <a:pt x="69453" y="44133"/>
                  <a:pt x="73899" y="39688"/>
                  <a:pt x="79375" y="39688"/>
                </a:cubicBezTo>
                <a:cubicBezTo>
                  <a:pt x="84851" y="39688"/>
                  <a:pt x="89297" y="44133"/>
                  <a:pt x="89297" y="49609"/>
                </a:cubicBezTo>
                <a:cubicBezTo>
                  <a:pt x="89297" y="55085"/>
                  <a:pt x="84851" y="59531"/>
                  <a:pt x="79375" y="59531"/>
                </a:cubicBezTo>
                <a:cubicBezTo>
                  <a:pt x="73899" y="59531"/>
                  <a:pt x="69453" y="55085"/>
                  <a:pt x="69453" y="49609"/>
                </a:cubicBezTo>
                <a:close/>
                <a:moveTo>
                  <a:pt x="66973" y="69453"/>
                </a:moveTo>
                <a:lnTo>
                  <a:pt x="81855" y="69453"/>
                </a:lnTo>
                <a:cubicBezTo>
                  <a:pt x="85979" y="69453"/>
                  <a:pt x="89297" y="72771"/>
                  <a:pt x="89297" y="76895"/>
                </a:cubicBezTo>
                <a:lnTo>
                  <a:pt x="89297" y="104180"/>
                </a:lnTo>
                <a:lnTo>
                  <a:pt x="91777" y="104180"/>
                </a:lnTo>
                <a:cubicBezTo>
                  <a:pt x="95901" y="104180"/>
                  <a:pt x="99219" y="107497"/>
                  <a:pt x="99219" y="111621"/>
                </a:cubicBezTo>
                <a:cubicBezTo>
                  <a:pt x="99219" y="115745"/>
                  <a:pt x="95901" y="119062"/>
                  <a:pt x="91777" y="119062"/>
                </a:cubicBezTo>
                <a:lnTo>
                  <a:pt x="66973" y="119062"/>
                </a:lnTo>
                <a:cubicBezTo>
                  <a:pt x="62849" y="119062"/>
                  <a:pt x="59531" y="115745"/>
                  <a:pt x="59531" y="111621"/>
                </a:cubicBezTo>
                <a:cubicBezTo>
                  <a:pt x="59531" y="107497"/>
                  <a:pt x="62849" y="104180"/>
                  <a:pt x="66973" y="104180"/>
                </a:cubicBezTo>
                <a:lnTo>
                  <a:pt x="74414" y="104180"/>
                </a:lnTo>
                <a:lnTo>
                  <a:pt x="74414" y="84336"/>
                </a:lnTo>
                <a:lnTo>
                  <a:pt x="66973" y="84336"/>
                </a:lnTo>
                <a:cubicBezTo>
                  <a:pt x="62849" y="84336"/>
                  <a:pt x="59531" y="81018"/>
                  <a:pt x="59531" y="76895"/>
                </a:cubicBezTo>
                <a:cubicBezTo>
                  <a:pt x="59531" y="72771"/>
                  <a:pt x="62849" y="69453"/>
                  <a:pt x="66973" y="6945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3" name="Text 11"/>
          <p:cNvSpPr/>
          <p:nvPr/>
        </p:nvSpPr>
        <p:spPr>
          <a:xfrm>
            <a:off x="7723081" y="1269729"/>
            <a:ext cx="40719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Code Notes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524644" y="1618971"/>
            <a:ext cx="4191000" cy="571500"/>
          </a:xfrm>
          <a:custGeom>
            <a:avLst/>
            <a:gdLst/>
            <a:ahLst/>
            <a:cxnLst/>
            <a:rect l="l" t="t" r="r" b="b"/>
            <a:pathLst>
              <a:path w="4191000" h="571500">
                <a:moveTo>
                  <a:pt x="63499" y="0"/>
                </a:moveTo>
                <a:lnTo>
                  <a:pt x="4127501" y="0"/>
                </a:lnTo>
                <a:cubicBezTo>
                  <a:pt x="4162570" y="0"/>
                  <a:pt x="4191000" y="28430"/>
                  <a:pt x="4191000" y="63499"/>
                </a:cubicBezTo>
                <a:lnTo>
                  <a:pt x="4191000" y="508001"/>
                </a:lnTo>
                <a:cubicBezTo>
                  <a:pt x="4191000" y="543070"/>
                  <a:pt x="4162570" y="571500"/>
                  <a:pt x="4127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7619852" y="1714174"/>
            <a:ext cx="4064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Declare shared memory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19852" y="1936370"/>
            <a:ext cx="4056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__shared__ float sdata[256]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524644" y="2285488"/>
            <a:ext cx="4191000" cy="571500"/>
          </a:xfrm>
          <a:custGeom>
            <a:avLst/>
            <a:gdLst/>
            <a:ahLst/>
            <a:cxnLst/>
            <a:rect l="l" t="t" r="r" b="b"/>
            <a:pathLst>
              <a:path w="4191000" h="571500">
                <a:moveTo>
                  <a:pt x="63499" y="0"/>
                </a:moveTo>
                <a:lnTo>
                  <a:pt x="4127501" y="0"/>
                </a:lnTo>
                <a:cubicBezTo>
                  <a:pt x="4162570" y="0"/>
                  <a:pt x="4191000" y="28430"/>
                  <a:pt x="4191000" y="63499"/>
                </a:cubicBezTo>
                <a:lnTo>
                  <a:pt x="4191000" y="508001"/>
                </a:lnTo>
                <a:cubicBezTo>
                  <a:pt x="4191000" y="543070"/>
                  <a:pt x="4162570" y="571500"/>
                  <a:pt x="4127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7619852" y="2380692"/>
            <a:ext cx="4064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Load data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19852" y="2602888"/>
            <a:ext cx="4056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global → shared memory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524644" y="2952006"/>
            <a:ext cx="4191000" cy="571500"/>
          </a:xfrm>
          <a:custGeom>
            <a:avLst/>
            <a:gdLst/>
            <a:ahLst/>
            <a:cxnLst/>
            <a:rect l="l" t="t" r="r" b="b"/>
            <a:pathLst>
              <a:path w="4191000" h="571500">
                <a:moveTo>
                  <a:pt x="63499" y="0"/>
                </a:moveTo>
                <a:lnTo>
                  <a:pt x="4127501" y="0"/>
                </a:lnTo>
                <a:cubicBezTo>
                  <a:pt x="4162570" y="0"/>
                  <a:pt x="4191000" y="28430"/>
                  <a:pt x="4191000" y="63499"/>
                </a:cubicBezTo>
                <a:lnTo>
                  <a:pt x="4191000" y="508001"/>
                </a:lnTo>
                <a:cubicBezTo>
                  <a:pt x="4191000" y="543070"/>
                  <a:pt x="4162570" y="571500"/>
                  <a:pt x="4127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7619852" y="3047209"/>
            <a:ext cx="4064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Thread synchronization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19852" y="3269405"/>
            <a:ext cx="4056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__syncthreads()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524644" y="3618523"/>
            <a:ext cx="4191000" cy="571500"/>
          </a:xfrm>
          <a:custGeom>
            <a:avLst/>
            <a:gdLst/>
            <a:ahLst/>
            <a:cxnLst/>
            <a:rect l="l" t="t" r="r" b="b"/>
            <a:pathLst>
              <a:path w="4191000" h="571500">
                <a:moveTo>
                  <a:pt x="63499" y="0"/>
                </a:moveTo>
                <a:lnTo>
                  <a:pt x="4127501" y="0"/>
                </a:lnTo>
                <a:cubicBezTo>
                  <a:pt x="4162570" y="0"/>
                  <a:pt x="4191000" y="28430"/>
                  <a:pt x="4191000" y="63499"/>
                </a:cubicBezTo>
                <a:lnTo>
                  <a:pt x="4191000" y="508001"/>
                </a:lnTo>
                <a:cubicBezTo>
                  <a:pt x="4191000" y="543070"/>
                  <a:pt x="4162570" y="571500"/>
                  <a:pt x="4127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7619852" y="3713727"/>
            <a:ext cx="4064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Reduction loop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19852" y="3935923"/>
            <a:ext cx="4056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Halving reduction strategy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61900" y="7238031"/>
            <a:ext cx="11612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Code example: CUDA Reduction Kernel implementation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55142" y="633130"/>
            <a:ext cx="11631656" cy="3615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6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Optimization Effect Comparison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1470" y="1265046"/>
            <a:ext cx="2738455" cy="1446049"/>
          </a:xfrm>
          <a:custGeom>
            <a:avLst/>
            <a:gdLst/>
            <a:ahLst/>
            <a:cxnLst/>
            <a:rect l="l" t="t" r="r" b="b"/>
            <a:pathLst>
              <a:path w="2738455" h="1446049">
                <a:moveTo>
                  <a:pt x="72302" y="0"/>
                </a:moveTo>
                <a:lnTo>
                  <a:pt x="2666153" y="0"/>
                </a:lnTo>
                <a:cubicBezTo>
                  <a:pt x="2706084" y="0"/>
                  <a:pt x="2738455" y="32371"/>
                  <a:pt x="2738455" y="72302"/>
                </a:cubicBezTo>
                <a:lnTo>
                  <a:pt x="2738455" y="1373746"/>
                </a:lnTo>
                <a:cubicBezTo>
                  <a:pt x="2738455" y="1413678"/>
                  <a:pt x="2706084" y="1446049"/>
                  <a:pt x="2666153" y="1446049"/>
                </a:cubicBezTo>
                <a:lnTo>
                  <a:pt x="72302" y="1446049"/>
                </a:lnTo>
                <a:cubicBezTo>
                  <a:pt x="32371" y="1446049"/>
                  <a:pt x="0" y="1413678"/>
                  <a:pt x="0" y="1373746"/>
                </a:cubicBezTo>
                <a:lnTo>
                  <a:pt x="0" y="72302"/>
                </a:lnTo>
                <a:cubicBezTo>
                  <a:pt x="0" y="32371"/>
                  <a:pt x="32371" y="0"/>
                  <a:pt x="72302" y="0"/>
                </a:cubicBezTo>
                <a:close/>
              </a:path>
            </a:pathLst>
          </a:custGeom>
          <a:solidFill>
            <a:srgbClr val="4A4A4A"/>
          </a:solidFill>
        </p:spPr>
      </p:sp>
      <p:sp>
        <p:nvSpPr>
          <p:cNvPr id="6" name="Shape 4"/>
          <p:cNvSpPr/>
          <p:nvPr/>
        </p:nvSpPr>
        <p:spPr>
          <a:xfrm>
            <a:off x="564764" y="1481856"/>
            <a:ext cx="180756" cy="180756"/>
          </a:xfrm>
          <a:custGeom>
            <a:avLst/>
            <a:gdLst/>
            <a:ahLst/>
            <a:cxnLst/>
            <a:rect l="l" t="t" r="r" b="b"/>
            <a:pathLst>
              <a:path w="180756" h="180756">
                <a:moveTo>
                  <a:pt x="90378" y="180756"/>
                </a:moveTo>
                <a:cubicBezTo>
                  <a:pt x="140259" y="180756"/>
                  <a:pt x="180756" y="140259"/>
                  <a:pt x="180756" y="90378"/>
                </a:cubicBezTo>
                <a:cubicBezTo>
                  <a:pt x="180756" y="40497"/>
                  <a:pt x="140259" y="0"/>
                  <a:pt x="90378" y="0"/>
                </a:cubicBezTo>
                <a:cubicBezTo>
                  <a:pt x="40497" y="0"/>
                  <a:pt x="0" y="40497"/>
                  <a:pt x="0" y="90378"/>
                </a:cubicBezTo>
                <a:cubicBezTo>
                  <a:pt x="0" y="140259"/>
                  <a:pt x="40497" y="180756"/>
                  <a:pt x="90378" y="180756"/>
                </a:cubicBezTo>
                <a:close/>
                <a:moveTo>
                  <a:pt x="58958" y="58958"/>
                </a:moveTo>
                <a:cubicBezTo>
                  <a:pt x="62276" y="55639"/>
                  <a:pt x="67642" y="55639"/>
                  <a:pt x="70926" y="58958"/>
                </a:cubicBezTo>
                <a:lnTo>
                  <a:pt x="90343" y="78375"/>
                </a:lnTo>
                <a:lnTo>
                  <a:pt x="109760" y="58958"/>
                </a:lnTo>
                <a:cubicBezTo>
                  <a:pt x="113078" y="55639"/>
                  <a:pt x="118445" y="55639"/>
                  <a:pt x="121728" y="58958"/>
                </a:cubicBezTo>
                <a:cubicBezTo>
                  <a:pt x="125011" y="62276"/>
                  <a:pt x="125047" y="67642"/>
                  <a:pt x="121728" y="70926"/>
                </a:cubicBezTo>
                <a:lnTo>
                  <a:pt x="102311" y="90343"/>
                </a:lnTo>
                <a:lnTo>
                  <a:pt x="121728" y="109760"/>
                </a:lnTo>
                <a:cubicBezTo>
                  <a:pt x="125047" y="113078"/>
                  <a:pt x="125047" y="118445"/>
                  <a:pt x="121728" y="121728"/>
                </a:cubicBezTo>
                <a:cubicBezTo>
                  <a:pt x="118409" y="125011"/>
                  <a:pt x="113043" y="125047"/>
                  <a:pt x="109760" y="121728"/>
                </a:cubicBezTo>
                <a:lnTo>
                  <a:pt x="90343" y="102311"/>
                </a:lnTo>
                <a:lnTo>
                  <a:pt x="70926" y="121728"/>
                </a:lnTo>
                <a:cubicBezTo>
                  <a:pt x="67607" y="125047"/>
                  <a:pt x="62241" y="125047"/>
                  <a:pt x="58958" y="121728"/>
                </a:cubicBezTo>
                <a:cubicBezTo>
                  <a:pt x="55674" y="118409"/>
                  <a:pt x="55639" y="113043"/>
                  <a:pt x="58958" y="109760"/>
                </a:cubicBezTo>
                <a:lnTo>
                  <a:pt x="78375" y="90343"/>
                </a:lnTo>
                <a:lnTo>
                  <a:pt x="58958" y="70926"/>
                </a:lnTo>
                <a:cubicBezTo>
                  <a:pt x="55639" y="67607"/>
                  <a:pt x="55639" y="62241"/>
                  <a:pt x="58958" y="5895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768115" y="1445740"/>
            <a:ext cx="2241376" cy="2530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Naive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3716" y="1807217"/>
            <a:ext cx="2593850" cy="433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41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Slow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6019" y="2313343"/>
            <a:ext cx="2449245" cy="216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0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Frequent global memory accesses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47540" y="1265046"/>
            <a:ext cx="2738455" cy="1446049"/>
          </a:xfrm>
          <a:custGeom>
            <a:avLst/>
            <a:gdLst/>
            <a:ahLst/>
            <a:cxnLst/>
            <a:rect l="l" t="t" r="r" b="b"/>
            <a:pathLst>
              <a:path w="2738455" h="1446049">
                <a:moveTo>
                  <a:pt x="72302" y="0"/>
                </a:moveTo>
                <a:lnTo>
                  <a:pt x="2666153" y="0"/>
                </a:lnTo>
                <a:cubicBezTo>
                  <a:pt x="2706084" y="0"/>
                  <a:pt x="2738455" y="32371"/>
                  <a:pt x="2738455" y="72302"/>
                </a:cubicBezTo>
                <a:lnTo>
                  <a:pt x="2738455" y="1373746"/>
                </a:lnTo>
                <a:cubicBezTo>
                  <a:pt x="2738455" y="1413678"/>
                  <a:pt x="2706084" y="1446049"/>
                  <a:pt x="2666153" y="1446049"/>
                </a:cubicBezTo>
                <a:lnTo>
                  <a:pt x="72302" y="1446049"/>
                </a:lnTo>
                <a:cubicBezTo>
                  <a:pt x="32371" y="1446049"/>
                  <a:pt x="0" y="1413678"/>
                  <a:pt x="0" y="1373746"/>
                </a:cubicBezTo>
                <a:lnTo>
                  <a:pt x="0" y="72302"/>
                </a:lnTo>
                <a:cubicBezTo>
                  <a:pt x="0" y="32371"/>
                  <a:pt x="32371" y="0"/>
                  <a:pt x="72302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11" name="Shape 9"/>
          <p:cNvSpPr/>
          <p:nvPr/>
        </p:nvSpPr>
        <p:spPr>
          <a:xfrm>
            <a:off x="3450834" y="1481856"/>
            <a:ext cx="180756" cy="180756"/>
          </a:xfrm>
          <a:custGeom>
            <a:avLst/>
            <a:gdLst/>
            <a:ahLst/>
            <a:cxnLst/>
            <a:rect l="l" t="t" r="r" b="b"/>
            <a:pathLst>
              <a:path w="180756" h="180756">
                <a:moveTo>
                  <a:pt x="90378" y="180756"/>
                </a:moveTo>
                <a:cubicBezTo>
                  <a:pt x="140259" y="180756"/>
                  <a:pt x="180756" y="140259"/>
                  <a:pt x="180756" y="90378"/>
                </a:cubicBezTo>
                <a:cubicBezTo>
                  <a:pt x="180756" y="40497"/>
                  <a:pt x="140259" y="0"/>
                  <a:pt x="90378" y="0"/>
                </a:cubicBezTo>
                <a:cubicBezTo>
                  <a:pt x="40497" y="0"/>
                  <a:pt x="0" y="40497"/>
                  <a:pt x="0" y="90378"/>
                </a:cubicBezTo>
                <a:cubicBezTo>
                  <a:pt x="0" y="140259"/>
                  <a:pt x="40497" y="180756"/>
                  <a:pt x="90378" y="180756"/>
                </a:cubicBezTo>
                <a:close/>
                <a:moveTo>
                  <a:pt x="120175" y="75091"/>
                </a:moveTo>
                <a:lnTo>
                  <a:pt x="91931" y="120280"/>
                </a:lnTo>
                <a:cubicBezTo>
                  <a:pt x="90449" y="122646"/>
                  <a:pt x="87907" y="124129"/>
                  <a:pt x="85118" y="124270"/>
                </a:cubicBezTo>
                <a:cubicBezTo>
                  <a:pt x="82329" y="124411"/>
                  <a:pt x="79646" y="123140"/>
                  <a:pt x="77986" y="120881"/>
                </a:cubicBezTo>
                <a:lnTo>
                  <a:pt x="61040" y="98286"/>
                </a:lnTo>
                <a:cubicBezTo>
                  <a:pt x="58216" y="94544"/>
                  <a:pt x="58993" y="89248"/>
                  <a:pt x="62735" y="86424"/>
                </a:cubicBezTo>
                <a:cubicBezTo>
                  <a:pt x="66477" y="83600"/>
                  <a:pt x="71773" y="84376"/>
                  <a:pt x="74597" y="88119"/>
                </a:cubicBezTo>
                <a:lnTo>
                  <a:pt x="84129" y="100828"/>
                </a:lnTo>
                <a:lnTo>
                  <a:pt x="105806" y="66124"/>
                </a:lnTo>
                <a:cubicBezTo>
                  <a:pt x="108277" y="62170"/>
                  <a:pt x="113502" y="60935"/>
                  <a:pt x="117491" y="63441"/>
                </a:cubicBezTo>
                <a:cubicBezTo>
                  <a:pt x="121481" y="65948"/>
                  <a:pt x="122681" y="71137"/>
                  <a:pt x="120175" y="75127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2" name="Text 10"/>
          <p:cNvSpPr/>
          <p:nvPr/>
        </p:nvSpPr>
        <p:spPr>
          <a:xfrm>
            <a:off x="3654185" y="1445740"/>
            <a:ext cx="2241376" cy="2530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Optimized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19786" y="1807217"/>
            <a:ext cx="2593850" cy="433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41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Fast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92089" y="2313343"/>
            <a:ext cx="2449245" cy="216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0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Using shared memory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1470" y="2855514"/>
            <a:ext cx="5630553" cy="3967597"/>
          </a:xfrm>
          <a:custGeom>
            <a:avLst/>
            <a:gdLst/>
            <a:ahLst/>
            <a:cxnLst/>
            <a:rect l="l" t="t" r="r" b="b"/>
            <a:pathLst>
              <a:path w="5630553" h="3967597">
                <a:moveTo>
                  <a:pt x="72290" y="0"/>
                </a:moveTo>
                <a:lnTo>
                  <a:pt x="5558263" y="0"/>
                </a:lnTo>
                <a:cubicBezTo>
                  <a:pt x="5598188" y="0"/>
                  <a:pt x="5630553" y="32365"/>
                  <a:pt x="5630553" y="72290"/>
                </a:cubicBezTo>
                <a:lnTo>
                  <a:pt x="5630553" y="3895307"/>
                </a:lnTo>
                <a:cubicBezTo>
                  <a:pt x="5630553" y="3935232"/>
                  <a:pt x="5598188" y="3967597"/>
                  <a:pt x="5558263" y="3967597"/>
                </a:cubicBezTo>
                <a:lnTo>
                  <a:pt x="72290" y="3967597"/>
                </a:lnTo>
                <a:cubicBezTo>
                  <a:pt x="32365" y="3967597"/>
                  <a:pt x="0" y="3935232"/>
                  <a:pt x="0" y="3895307"/>
                </a:cubicBezTo>
                <a:lnTo>
                  <a:pt x="0" y="72290"/>
                </a:lnTo>
                <a:cubicBezTo>
                  <a:pt x="0" y="32365"/>
                  <a:pt x="32365" y="0"/>
                  <a:pt x="72290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16" name="Shape 14"/>
          <p:cNvSpPr/>
          <p:nvPr/>
        </p:nvSpPr>
        <p:spPr>
          <a:xfrm>
            <a:off x="564764" y="3072324"/>
            <a:ext cx="180756" cy="180756"/>
          </a:xfrm>
          <a:custGeom>
            <a:avLst/>
            <a:gdLst/>
            <a:ahLst/>
            <a:cxnLst/>
            <a:rect l="l" t="t" r="r" b="b"/>
            <a:pathLst>
              <a:path w="180756" h="180756">
                <a:moveTo>
                  <a:pt x="0" y="90378"/>
                </a:moveTo>
                <a:cubicBezTo>
                  <a:pt x="0" y="40497"/>
                  <a:pt x="40497" y="0"/>
                  <a:pt x="90378" y="0"/>
                </a:cubicBezTo>
                <a:cubicBezTo>
                  <a:pt x="140259" y="0"/>
                  <a:pt x="180756" y="40497"/>
                  <a:pt x="180756" y="90378"/>
                </a:cubicBezTo>
                <a:cubicBezTo>
                  <a:pt x="180756" y="140259"/>
                  <a:pt x="140259" y="180756"/>
                  <a:pt x="90378" y="180756"/>
                </a:cubicBezTo>
                <a:cubicBezTo>
                  <a:pt x="40497" y="180756"/>
                  <a:pt x="0" y="140259"/>
                  <a:pt x="0" y="90378"/>
                </a:cubicBezTo>
                <a:close/>
                <a:moveTo>
                  <a:pt x="101675" y="33892"/>
                </a:moveTo>
                <a:cubicBezTo>
                  <a:pt x="101675" y="27657"/>
                  <a:pt x="96613" y="22595"/>
                  <a:pt x="90378" y="22595"/>
                </a:cubicBezTo>
                <a:cubicBezTo>
                  <a:pt x="84143" y="22595"/>
                  <a:pt x="79081" y="27657"/>
                  <a:pt x="79081" y="33892"/>
                </a:cubicBezTo>
                <a:cubicBezTo>
                  <a:pt x="79081" y="40127"/>
                  <a:pt x="84143" y="45189"/>
                  <a:pt x="90378" y="45189"/>
                </a:cubicBezTo>
                <a:cubicBezTo>
                  <a:pt x="96613" y="45189"/>
                  <a:pt x="101675" y="40127"/>
                  <a:pt x="101675" y="33892"/>
                </a:cubicBezTo>
                <a:close/>
                <a:moveTo>
                  <a:pt x="90378" y="146864"/>
                </a:moveTo>
                <a:cubicBezTo>
                  <a:pt x="102840" y="146864"/>
                  <a:pt x="112973" y="136732"/>
                  <a:pt x="112973" y="124270"/>
                </a:cubicBezTo>
                <a:cubicBezTo>
                  <a:pt x="112973" y="118551"/>
                  <a:pt x="110854" y="113290"/>
                  <a:pt x="107324" y="109336"/>
                </a:cubicBezTo>
                <a:lnTo>
                  <a:pt x="131860" y="60299"/>
                </a:lnTo>
                <a:cubicBezTo>
                  <a:pt x="133943" y="56098"/>
                  <a:pt x="132249" y="51014"/>
                  <a:pt x="128083" y="48931"/>
                </a:cubicBezTo>
                <a:cubicBezTo>
                  <a:pt x="123917" y="46848"/>
                  <a:pt x="118798" y="48543"/>
                  <a:pt x="116715" y="52709"/>
                </a:cubicBezTo>
                <a:lnTo>
                  <a:pt x="92179" y="101746"/>
                </a:lnTo>
                <a:cubicBezTo>
                  <a:pt x="91578" y="101711"/>
                  <a:pt x="90978" y="101675"/>
                  <a:pt x="90378" y="101675"/>
                </a:cubicBezTo>
                <a:cubicBezTo>
                  <a:pt x="77916" y="101675"/>
                  <a:pt x="67784" y="111808"/>
                  <a:pt x="67784" y="124270"/>
                </a:cubicBezTo>
                <a:cubicBezTo>
                  <a:pt x="67784" y="136732"/>
                  <a:pt x="77916" y="146864"/>
                  <a:pt x="90378" y="146864"/>
                </a:cubicBezTo>
                <a:close/>
                <a:moveTo>
                  <a:pt x="62135" y="50838"/>
                </a:moveTo>
                <a:cubicBezTo>
                  <a:pt x="62135" y="44603"/>
                  <a:pt x="57073" y="39540"/>
                  <a:pt x="50838" y="39540"/>
                </a:cubicBezTo>
                <a:cubicBezTo>
                  <a:pt x="44603" y="39540"/>
                  <a:pt x="39540" y="44603"/>
                  <a:pt x="39540" y="50838"/>
                </a:cubicBezTo>
                <a:cubicBezTo>
                  <a:pt x="39540" y="57073"/>
                  <a:pt x="44603" y="62135"/>
                  <a:pt x="50838" y="62135"/>
                </a:cubicBezTo>
                <a:cubicBezTo>
                  <a:pt x="57073" y="62135"/>
                  <a:pt x="62135" y="57073"/>
                  <a:pt x="62135" y="50838"/>
                </a:cubicBezTo>
                <a:close/>
                <a:moveTo>
                  <a:pt x="33892" y="101675"/>
                </a:moveTo>
                <a:cubicBezTo>
                  <a:pt x="40127" y="101675"/>
                  <a:pt x="45189" y="96613"/>
                  <a:pt x="45189" y="90378"/>
                </a:cubicBezTo>
                <a:cubicBezTo>
                  <a:pt x="45189" y="84143"/>
                  <a:pt x="40127" y="79081"/>
                  <a:pt x="33892" y="79081"/>
                </a:cubicBezTo>
                <a:cubicBezTo>
                  <a:pt x="27657" y="79081"/>
                  <a:pt x="22595" y="84143"/>
                  <a:pt x="22595" y="90378"/>
                </a:cubicBezTo>
                <a:cubicBezTo>
                  <a:pt x="22595" y="96613"/>
                  <a:pt x="27657" y="101675"/>
                  <a:pt x="33892" y="101675"/>
                </a:cubicBezTo>
                <a:close/>
                <a:moveTo>
                  <a:pt x="158162" y="90378"/>
                </a:moveTo>
                <a:cubicBezTo>
                  <a:pt x="158162" y="84143"/>
                  <a:pt x="153099" y="79081"/>
                  <a:pt x="146864" y="79081"/>
                </a:cubicBezTo>
                <a:cubicBezTo>
                  <a:pt x="140629" y="79081"/>
                  <a:pt x="135567" y="84143"/>
                  <a:pt x="135567" y="90378"/>
                </a:cubicBezTo>
                <a:cubicBezTo>
                  <a:pt x="135567" y="96613"/>
                  <a:pt x="140629" y="101675"/>
                  <a:pt x="146864" y="101675"/>
                </a:cubicBezTo>
                <a:cubicBezTo>
                  <a:pt x="153099" y="101675"/>
                  <a:pt x="158162" y="96613"/>
                  <a:pt x="158162" y="90378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17" name="Text 15"/>
          <p:cNvSpPr/>
          <p:nvPr/>
        </p:nvSpPr>
        <p:spPr>
          <a:xfrm>
            <a:off x="768115" y="3036208"/>
            <a:ext cx="5133474" cy="2530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5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Performance improvement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2170" y="3433863"/>
            <a:ext cx="5269041" cy="1301444"/>
          </a:xfrm>
          <a:custGeom>
            <a:avLst/>
            <a:gdLst/>
            <a:ahLst/>
            <a:cxnLst/>
            <a:rect l="l" t="t" r="r" b="b"/>
            <a:pathLst>
              <a:path w="5269041" h="1301444">
                <a:moveTo>
                  <a:pt x="72308" y="0"/>
                </a:moveTo>
                <a:lnTo>
                  <a:pt x="5196733" y="0"/>
                </a:lnTo>
                <a:cubicBezTo>
                  <a:pt x="5236667" y="0"/>
                  <a:pt x="5269041" y="32373"/>
                  <a:pt x="5269041" y="72308"/>
                </a:cubicBezTo>
                <a:lnTo>
                  <a:pt x="5269041" y="1229136"/>
                </a:lnTo>
                <a:cubicBezTo>
                  <a:pt x="5269041" y="1269071"/>
                  <a:pt x="5236667" y="1301444"/>
                  <a:pt x="5196733" y="1301444"/>
                </a:cubicBezTo>
                <a:lnTo>
                  <a:pt x="72308" y="1301444"/>
                </a:lnTo>
                <a:cubicBezTo>
                  <a:pt x="32400" y="1301444"/>
                  <a:pt x="0" y="1269044"/>
                  <a:pt x="0" y="1229136"/>
                </a:cubicBezTo>
                <a:lnTo>
                  <a:pt x="0" y="72308"/>
                </a:lnTo>
                <a:cubicBezTo>
                  <a:pt x="0" y="32373"/>
                  <a:pt x="32373" y="0"/>
                  <a:pt x="72308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19" name="Text 17"/>
          <p:cNvSpPr/>
          <p:nvPr/>
        </p:nvSpPr>
        <p:spPr>
          <a:xfrm>
            <a:off x="623485" y="3650744"/>
            <a:ext cx="5106360" cy="5422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27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10-50×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8382" y="4265279"/>
            <a:ext cx="4916566" cy="2530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Performance improvement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05904" y="1265046"/>
            <a:ext cx="5630553" cy="3895294"/>
          </a:xfrm>
          <a:custGeom>
            <a:avLst/>
            <a:gdLst/>
            <a:ahLst/>
            <a:cxnLst/>
            <a:rect l="l" t="t" r="r" b="b"/>
            <a:pathLst>
              <a:path w="5630553" h="3895294">
                <a:moveTo>
                  <a:pt x="72297" y="0"/>
                </a:moveTo>
                <a:lnTo>
                  <a:pt x="5558256" y="0"/>
                </a:lnTo>
                <a:cubicBezTo>
                  <a:pt x="5598185" y="0"/>
                  <a:pt x="5630553" y="32368"/>
                  <a:pt x="5630553" y="72297"/>
                </a:cubicBezTo>
                <a:lnTo>
                  <a:pt x="5630553" y="3822998"/>
                </a:lnTo>
                <a:cubicBezTo>
                  <a:pt x="5630553" y="3862926"/>
                  <a:pt x="5598185" y="3895294"/>
                  <a:pt x="5558256" y="3895294"/>
                </a:cubicBezTo>
                <a:lnTo>
                  <a:pt x="72297" y="3895294"/>
                </a:lnTo>
                <a:cubicBezTo>
                  <a:pt x="32368" y="3895294"/>
                  <a:pt x="0" y="3862926"/>
                  <a:pt x="0" y="3822998"/>
                </a:cubicBezTo>
                <a:lnTo>
                  <a:pt x="0" y="72297"/>
                </a:lnTo>
                <a:cubicBezTo>
                  <a:pt x="0" y="32395"/>
                  <a:pt x="32395" y="0"/>
                  <a:pt x="72297" y="0"/>
                </a:cubicBezTo>
                <a:close/>
              </a:path>
            </a:pathLst>
          </a:custGeom>
          <a:solidFill>
            <a:srgbClr val="F8F8F8"/>
          </a:solidFill>
        </p:spPr>
      </p:sp>
      <p:pic>
        <p:nvPicPr>
          <p:cNvPr id="22" name="Image 0" descr="https://kimi-web-img.moonshot.cn/img/miro.medium.com/4328cda83427291b931055e91375a040f2cbde8c.png"/>
          <p:cNvPicPr>
            <a:picLocks noChangeAspect="1"/>
          </p:cNvPicPr>
          <p:nvPr/>
        </p:nvPicPr>
        <p:blipFill>
          <a:blip r:embed="rId3"/>
          <a:srcRect t="3" b="3"/>
          <a:stretch>
            <a:fillRect/>
          </a:stretch>
        </p:blipFill>
        <p:spPr>
          <a:xfrm>
            <a:off x="6386674" y="1445740"/>
            <a:ext cx="5269041" cy="3533782"/>
          </a:xfrm>
          <a:prstGeom prst="roundRect">
            <a:avLst>
              <a:gd name="adj" fmla="val 1023"/>
            </a:avLst>
          </a:prstGeom>
        </p:spPr>
      </p:pic>
      <p:sp>
        <p:nvSpPr>
          <p:cNvPr id="23" name="Shape 20"/>
          <p:cNvSpPr/>
          <p:nvPr/>
        </p:nvSpPr>
        <p:spPr>
          <a:xfrm>
            <a:off x="6205904" y="5303109"/>
            <a:ext cx="5630553" cy="1518351"/>
          </a:xfrm>
          <a:custGeom>
            <a:avLst/>
            <a:gdLst/>
            <a:ahLst/>
            <a:cxnLst/>
            <a:rect l="l" t="t" r="r" b="b"/>
            <a:pathLst>
              <a:path w="5630553" h="1518351">
                <a:moveTo>
                  <a:pt x="72304" y="0"/>
                </a:moveTo>
                <a:lnTo>
                  <a:pt x="5558249" y="0"/>
                </a:lnTo>
                <a:cubicBezTo>
                  <a:pt x="5598181" y="0"/>
                  <a:pt x="5630553" y="32372"/>
                  <a:pt x="5630553" y="72304"/>
                </a:cubicBezTo>
                <a:lnTo>
                  <a:pt x="5630553" y="1446047"/>
                </a:lnTo>
                <a:cubicBezTo>
                  <a:pt x="5630553" y="1485980"/>
                  <a:pt x="5598181" y="1518351"/>
                  <a:pt x="5558249" y="1518351"/>
                </a:cubicBezTo>
                <a:lnTo>
                  <a:pt x="72304" y="1518351"/>
                </a:lnTo>
                <a:cubicBezTo>
                  <a:pt x="32372" y="1518351"/>
                  <a:pt x="0" y="1485980"/>
                  <a:pt x="0" y="1446047"/>
                </a:cubicBezTo>
                <a:lnTo>
                  <a:pt x="0" y="72304"/>
                </a:lnTo>
                <a:cubicBezTo>
                  <a:pt x="0" y="32372"/>
                  <a:pt x="32372" y="0"/>
                  <a:pt x="72304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24" name="Shape 21"/>
          <p:cNvSpPr/>
          <p:nvPr/>
        </p:nvSpPr>
        <p:spPr>
          <a:xfrm>
            <a:off x="6431793" y="5519919"/>
            <a:ext cx="135567" cy="180756"/>
          </a:xfrm>
          <a:custGeom>
            <a:avLst/>
            <a:gdLst/>
            <a:ahLst/>
            <a:cxnLst/>
            <a:rect l="l" t="t" r="r" b="b"/>
            <a:pathLst>
              <a:path w="135567" h="180756">
                <a:moveTo>
                  <a:pt x="103405" y="135567"/>
                </a:moveTo>
                <a:cubicBezTo>
                  <a:pt x="105982" y="127694"/>
                  <a:pt x="111137" y="120563"/>
                  <a:pt x="116962" y="114420"/>
                </a:cubicBezTo>
                <a:cubicBezTo>
                  <a:pt x="128506" y="102275"/>
                  <a:pt x="135567" y="85859"/>
                  <a:pt x="135567" y="67784"/>
                </a:cubicBezTo>
                <a:cubicBezTo>
                  <a:pt x="135567" y="30361"/>
                  <a:pt x="105206" y="0"/>
                  <a:pt x="67784" y="0"/>
                </a:cubicBezTo>
                <a:cubicBezTo>
                  <a:pt x="30361" y="0"/>
                  <a:pt x="0" y="30361"/>
                  <a:pt x="0" y="67784"/>
                </a:cubicBezTo>
                <a:cubicBezTo>
                  <a:pt x="0" y="85859"/>
                  <a:pt x="7061" y="102275"/>
                  <a:pt x="18605" y="114420"/>
                </a:cubicBezTo>
                <a:cubicBezTo>
                  <a:pt x="24430" y="120563"/>
                  <a:pt x="29620" y="127694"/>
                  <a:pt x="32162" y="135567"/>
                </a:cubicBezTo>
                <a:lnTo>
                  <a:pt x="103370" y="135567"/>
                </a:lnTo>
                <a:close/>
                <a:moveTo>
                  <a:pt x="101675" y="152513"/>
                </a:moveTo>
                <a:lnTo>
                  <a:pt x="33892" y="152513"/>
                </a:lnTo>
                <a:lnTo>
                  <a:pt x="33892" y="158162"/>
                </a:lnTo>
                <a:cubicBezTo>
                  <a:pt x="33892" y="173766"/>
                  <a:pt x="46531" y="186405"/>
                  <a:pt x="62135" y="186405"/>
                </a:cubicBezTo>
                <a:lnTo>
                  <a:pt x="73432" y="186405"/>
                </a:lnTo>
                <a:cubicBezTo>
                  <a:pt x="89037" y="186405"/>
                  <a:pt x="101675" y="173766"/>
                  <a:pt x="101675" y="158162"/>
                </a:cubicBezTo>
                <a:lnTo>
                  <a:pt x="101675" y="152513"/>
                </a:lnTo>
                <a:close/>
                <a:moveTo>
                  <a:pt x="64959" y="39540"/>
                </a:moveTo>
                <a:cubicBezTo>
                  <a:pt x="50908" y="39540"/>
                  <a:pt x="39540" y="50908"/>
                  <a:pt x="39540" y="64959"/>
                </a:cubicBezTo>
                <a:cubicBezTo>
                  <a:pt x="39540" y="69655"/>
                  <a:pt x="35763" y="73432"/>
                  <a:pt x="31067" y="73432"/>
                </a:cubicBezTo>
                <a:cubicBezTo>
                  <a:pt x="26372" y="73432"/>
                  <a:pt x="22595" y="69655"/>
                  <a:pt x="22595" y="64959"/>
                </a:cubicBezTo>
                <a:cubicBezTo>
                  <a:pt x="22595" y="41553"/>
                  <a:pt x="41553" y="22595"/>
                  <a:pt x="64959" y="22595"/>
                </a:cubicBezTo>
                <a:cubicBezTo>
                  <a:pt x="69655" y="22595"/>
                  <a:pt x="73432" y="26372"/>
                  <a:pt x="73432" y="31067"/>
                </a:cubicBezTo>
                <a:cubicBezTo>
                  <a:pt x="73432" y="35763"/>
                  <a:pt x="69655" y="39540"/>
                  <a:pt x="64959" y="3954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25" name="Text 22"/>
          <p:cNvSpPr/>
          <p:nvPr/>
        </p:nvSpPr>
        <p:spPr>
          <a:xfrm>
            <a:off x="6612549" y="5483812"/>
            <a:ext cx="5133474" cy="2530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5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Reasons for Improvement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386604" y="5917574"/>
            <a:ext cx="72302" cy="72302"/>
          </a:xfrm>
          <a:custGeom>
            <a:avLst/>
            <a:gdLst/>
            <a:ahLst/>
            <a:cxnLst/>
            <a:rect l="l" t="t" r="r" b="b"/>
            <a:pathLst>
              <a:path w="72302" h="72302">
                <a:moveTo>
                  <a:pt x="36151" y="0"/>
                </a:moveTo>
                <a:lnTo>
                  <a:pt x="36151" y="0"/>
                </a:lnTo>
                <a:cubicBezTo>
                  <a:pt x="56117" y="0"/>
                  <a:pt x="72302" y="16185"/>
                  <a:pt x="72302" y="36151"/>
                </a:cubicBezTo>
                <a:lnTo>
                  <a:pt x="72302" y="36151"/>
                </a:lnTo>
                <a:cubicBezTo>
                  <a:pt x="72302" y="56117"/>
                  <a:pt x="56117" y="72302"/>
                  <a:pt x="36151" y="72302"/>
                </a:cubicBezTo>
                <a:lnTo>
                  <a:pt x="36151" y="72302"/>
                </a:lnTo>
                <a:cubicBezTo>
                  <a:pt x="16185" y="72302"/>
                  <a:pt x="0" y="56117"/>
                  <a:pt x="0" y="36151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27" name="Text 24"/>
          <p:cNvSpPr/>
          <p:nvPr/>
        </p:nvSpPr>
        <p:spPr>
          <a:xfrm>
            <a:off x="6531191" y="5845280"/>
            <a:ext cx="3330827" cy="1807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Reduced global memory access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386604" y="6206748"/>
            <a:ext cx="72302" cy="72302"/>
          </a:xfrm>
          <a:custGeom>
            <a:avLst/>
            <a:gdLst/>
            <a:ahLst/>
            <a:cxnLst/>
            <a:rect l="l" t="t" r="r" b="b"/>
            <a:pathLst>
              <a:path w="72302" h="72302">
                <a:moveTo>
                  <a:pt x="36151" y="0"/>
                </a:moveTo>
                <a:lnTo>
                  <a:pt x="36151" y="0"/>
                </a:lnTo>
                <a:cubicBezTo>
                  <a:pt x="56117" y="0"/>
                  <a:pt x="72302" y="16185"/>
                  <a:pt x="72302" y="36151"/>
                </a:cubicBezTo>
                <a:lnTo>
                  <a:pt x="72302" y="36151"/>
                </a:lnTo>
                <a:cubicBezTo>
                  <a:pt x="72302" y="56117"/>
                  <a:pt x="56117" y="72302"/>
                  <a:pt x="36151" y="72302"/>
                </a:cubicBezTo>
                <a:lnTo>
                  <a:pt x="36151" y="72302"/>
                </a:lnTo>
                <a:cubicBezTo>
                  <a:pt x="16185" y="72302"/>
                  <a:pt x="0" y="56117"/>
                  <a:pt x="0" y="36151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29" name="Text 26"/>
          <p:cNvSpPr/>
          <p:nvPr/>
        </p:nvSpPr>
        <p:spPr>
          <a:xfrm>
            <a:off x="6531191" y="6134455"/>
            <a:ext cx="2931927" cy="1807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Improved parallel efficiency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386604" y="6495923"/>
            <a:ext cx="72302" cy="72302"/>
          </a:xfrm>
          <a:custGeom>
            <a:avLst/>
            <a:gdLst/>
            <a:ahLst/>
            <a:cxnLst/>
            <a:rect l="l" t="t" r="r" b="b"/>
            <a:pathLst>
              <a:path w="72302" h="72302">
                <a:moveTo>
                  <a:pt x="36151" y="0"/>
                </a:moveTo>
                <a:lnTo>
                  <a:pt x="36151" y="0"/>
                </a:lnTo>
                <a:cubicBezTo>
                  <a:pt x="56117" y="0"/>
                  <a:pt x="72302" y="16185"/>
                  <a:pt x="72302" y="36151"/>
                </a:cubicBezTo>
                <a:lnTo>
                  <a:pt x="72302" y="36151"/>
                </a:lnTo>
                <a:cubicBezTo>
                  <a:pt x="72302" y="56117"/>
                  <a:pt x="56117" y="72302"/>
                  <a:pt x="36151" y="72302"/>
                </a:cubicBezTo>
                <a:lnTo>
                  <a:pt x="36151" y="72302"/>
                </a:lnTo>
                <a:cubicBezTo>
                  <a:pt x="16185" y="72302"/>
                  <a:pt x="0" y="56117"/>
                  <a:pt x="0" y="36151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8B2635"/>
          </a:solidFill>
        </p:spPr>
      </p:sp>
      <p:sp>
        <p:nvSpPr>
          <p:cNvPr id="31" name="Text 28"/>
          <p:cNvSpPr/>
          <p:nvPr/>
        </p:nvSpPr>
        <p:spPr>
          <a:xfrm>
            <a:off x="6531192" y="6423630"/>
            <a:ext cx="4079530" cy="180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Fully leverages shared memory's low latency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298205" y="6680312"/>
            <a:ext cx="11532240" cy="180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95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Image source: Medium - Rimika Dhara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The Solution: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FlagOS,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a Unified AI Software Stack</a:t>
            </a:r>
            <a:endParaRPr lang="zh-CN" altLang="en-US"/>
          </a:p>
        </p:txBody>
      </p:sp>
      <p:pic>
        <p:nvPicPr>
          <p:cNvPr id="7" name="内容占位符 6" descr="flagos-architecture-e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832"/>
          <p:cNvSpPr/>
          <p:nvPr>
            <p:custDataLst>
              <p:tags r:id="rId1"/>
            </p:custDataLst>
          </p:nvPr>
        </p:nvSpPr>
        <p:spPr>
          <a:xfrm>
            <a:off x="89535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832"/>
          <p:cNvSpPr/>
          <p:nvPr>
            <p:custDataLst>
              <p:tags r:id="rId2"/>
            </p:custDataLst>
          </p:nvPr>
        </p:nvSpPr>
        <p:spPr>
          <a:xfrm>
            <a:off x="440023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832"/>
          <p:cNvSpPr/>
          <p:nvPr>
            <p:custDataLst>
              <p:tags r:id="rId3"/>
            </p:custDataLst>
          </p:nvPr>
        </p:nvSpPr>
        <p:spPr>
          <a:xfrm>
            <a:off x="790511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832"/>
          <p:cNvSpPr/>
          <p:nvPr>
            <p:custDataLst>
              <p:tags r:id="rId4"/>
            </p:custDataLst>
          </p:nvPr>
        </p:nvSpPr>
        <p:spPr>
          <a:xfrm>
            <a:off x="89535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832"/>
          <p:cNvSpPr/>
          <p:nvPr>
            <p:custDataLst>
              <p:tags r:id="rId5"/>
            </p:custDataLst>
          </p:nvPr>
        </p:nvSpPr>
        <p:spPr>
          <a:xfrm>
            <a:off x="440023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832"/>
          <p:cNvSpPr/>
          <p:nvPr>
            <p:custDataLst>
              <p:tags r:id="rId6"/>
            </p:custDataLst>
          </p:nvPr>
        </p:nvSpPr>
        <p:spPr>
          <a:xfrm>
            <a:off x="790511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72"/>
          <p:cNvSpPr/>
          <p:nvPr>
            <p:custDataLst>
              <p:tags r:id="rId7"/>
            </p:custDataLst>
          </p:nvPr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사각형: 둥근 모서리 72"/>
          <p:cNvSpPr/>
          <p:nvPr>
            <p:custDataLst>
              <p:tags r:id="rId8"/>
            </p:custDataLst>
          </p:nvPr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1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사각형: 둥근 모서리 72"/>
          <p:cNvSpPr/>
          <p:nvPr>
            <p:custDataLst>
              <p:tags r:id="rId9"/>
            </p:custDataLst>
          </p:nvPr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2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사각형: 둥근 모서리 72"/>
          <p:cNvSpPr/>
          <p:nvPr>
            <p:custDataLst>
              <p:tags r:id="rId10"/>
            </p:custDataLst>
          </p:nvPr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2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사각형: 둥근 모서리 72"/>
          <p:cNvSpPr/>
          <p:nvPr>
            <p:custDataLst>
              <p:tags r:id="rId11"/>
            </p:custDataLst>
          </p:nvPr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2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사각형: 둥근 모서리 72"/>
          <p:cNvSpPr/>
          <p:nvPr>
            <p:custDataLst>
              <p:tags r:id="rId12"/>
            </p:custDataLst>
          </p:nvPr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2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object 3"/>
          <p:cNvSpPr txBox="1"/>
          <p:nvPr>
            <p:custDataLst>
              <p:tags r:id="rId13"/>
            </p:custDataLst>
          </p:nvPr>
        </p:nvSpPr>
        <p:spPr>
          <a:xfrm>
            <a:off x="1219842" y="251790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4" action="ppaction://hlinkfile"/>
              </a:rPr>
              <a:t>https://github.com/flagos-ai</a:t>
            </a:r>
          </a:p>
          <a:p>
            <a:endParaRPr lang="en-US" altLang="ko-KR" sz="1600" dirty="0"/>
          </a:p>
        </p:txBody>
      </p:sp>
      <p:sp>
        <p:nvSpPr>
          <p:cNvPr id="36" name="object 3"/>
          <p:cNvSpPr txBox="1"/>
          <p:nvPr>
            <p:custDataLst>
              <p:tags r:id="rId14"/>
            </p:custDataLst>
          </p:nvPr>
        </p:nvSpPr>
        <p:spPr>
          <a:xfrm>
            <a:off x="8015605" y="2341245"/>
            <a:ext cx="2882265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5" action="ppaction://hlinkfile"/>
              </a:rPr>
              <a:t>https://space.bilibili.com/3546791834290849</a:t>
            </a:r>
            <a:endParaRPr lang="en-US" altLang="zh-CN" sz="1600" dirty="0"/>
          </a:p>
        </p:txBody>
      </p:sp>
      <p:sp>
        <p:nvSpPr>
          <p:cNvPr id="42" name="object 3"/>
          <p:cNvSpPr txBox="1"/>
          <p:nvPr>
            <p:custDataLst>
              <p:tags r:id="rId15"/>
            </p:custDataLst>
          </p:nvPr>
        </p:nvSpPr>
        <p:spPr>
          <a:xfrm>
            <a:off x="1219842" y="440385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6" action="ppaction://hlinkfile"/>
              </a:rPr>
              <a:t>https://www.zhihu.com/people/95-22-20-18/posts</a:t>
            </a:r>
            <a:endParaRPr lang="en-US" altLang="ko-KR" sz="1600" dirty="0"/>
          </a:p>
        </p:txBody>
      </p:sp>
      <p:sp>
        <p:nvSpPr>
          <p:cNvPr id="45" name="object 3"/>
          <p:cNvSpPr txBox="1"/>
          <p:nvPr>
            <p:custDataLst>
              <p:tags r:id="rId16"/>
            </p:custDataLst>
          </p:nvPr>
        </p:nvSpPr>
        <p:spPr>
          <a:xfrm>
            <a:off x="4724722" y="4403854"/>
            <a:ext cx="2513958" cy="39687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7" action="ppaction://hlinkfile"/>
              </a:rPr>
              <a:t>https://flagos.io/Home</a:t>
            </a:r>
            <a:endParaRPr lang="en-US" altLang="ko-KR" sz="1600" dirty="0"/>
          </a:p>
        </p:txBody>
      </p:sp>
      <p:pic>
        <p:nvPicPr>
          <p:cNvPr id="54" name="图片 53" descr="weixin-DL0TqDNO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</p:spPr>
      </p:pic>
      <p:pic>
        <p:nvPicPr>
          <p:cNvPr id="55" name="图片 54" descr="feishu-qrcode-C75xQn5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306" r="2306"/>
          <a:stretch>
            <a:fillRect/>
          </a:stretch>
        </p:blipFill>
        <p:spPr/>
      </p:pic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5625465" y="2373630"/>
            <a:ext cx="5739130" cy="2664460"/>
          </a:xfrm>
        </p:spPr>
        <p:txBody>
          <a:bodyPr/>
          <a:lstStyle/>
          <a:p>
            <a:pPr algn="l"/>
            <a:r>
              <a:rPr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 for your time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kumimoji="1" lang="ko-KR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GVjMjNiN2ZkZTMzMDA4ZWE3OTY1NzI2MTg5NDIzY2IifQ=="/>
  <p:tag name="KSO_WPP_MARK_KEY" val="bcc4c946-421a-4a56-a7c9-e84bf867b56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heme/theme1.xml><?xml version="1.0" encoding="utf-8"?>
<a:theme xmlns:a="http://schemas.openxmlformats.org/drawingml/2006/main" name="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封面</Template>
  <TotalTime>0</TotalTime>
  <Words>1610</Words>
  <Application>Microsoft Office PowerPoint</Application>
  <PresentationFormat>宽屏</PresentationFormat>
  <Paragraphs>433</Paragraphs>
  <Slides>24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6" baseType="lpstr">
      <vt:lpstr>MiSans</vt:lpstr>
      <vt:lpstr>等线</vt:lpstr>
      <vt:lpstr>微软雅黑</vt:lpstr>
      <vt:lpstr>文泉驿微米黑</vt:lpstr>
      <vt:lpstr>Arial</vt:lpstr>
      <vt:lpstr>Calibri</vt:lpstr>
      <vt:lpstr>Calibri Light</vt:lpstr>
      <vt:lpstr>Ebrima</vt:lpstr>
      <vt:lpstr>Garamond</vt:lpstr>
      <vt:lpstr>Montserrat SemiBold</vt:lpstr>
      <vt:lpstr>Wingdings 3</vt:lpstr>
      <vt:lpstr>母版</vt:lpstr>
      <vt:lpstr>Hardware and Software Fundamentals of  Intelligent Computing  Systems</vt:lpstr>
      <vt:lpstr>Lecture 08: Memory Hierarchy Optimization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The Solution: FlagOS, a Unified AI Software Stack</vt:lpstr>
      <vt:lpstr>PowerPoint 演示文稿</vt:lpstr>
      <vt:lpstr>Thanks for your time！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容错域量子EDA研究</dc:title>
  <dc:creator>王丰</dc:creator>
  <cp:lastModifiedBy>Xiang Li</cp:lastModifiedBy>
  <cp:revision>1621</cp:revision>
  <dcterms:created xsi:type="dcterms:W3CDTF">2026-03-12T02:45:00Z</dcterms:created>
  <dcterms:modified xsi:type="dcterms:W3CDTF">2026-03-17T14:53:25Z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F7191C2708FD07F82CD87F6915CBD24F_43</vt:lpwstr>
  </property>
  <property fmtid="{D5CDD505-2E9C-101B-9397-08002B2CF9AE}" pid="3" name="KSOProductBuildVer">
    <vt:lpwstr>2052-12.1.0.19302</vt:lpwstr>
  </property>
</Properties>
</file>