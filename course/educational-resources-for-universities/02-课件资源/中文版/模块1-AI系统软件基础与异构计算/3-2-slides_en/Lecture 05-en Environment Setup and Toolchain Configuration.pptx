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33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7" r:id="rId12"/>
    <p:sldId id="279" r:id="rId13"/>
    <p:sldId id="280" r:id="rId14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3DEB3A-1B30-4ED8-929D-D4389515C9ED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1905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2H>
    <a:band1V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lastCol>
    <a:firstCol>
      <a:tcTxStyle b="on">
        <a:fontRef idx="none">
          <a:srgbClr val="8B0012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9525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004619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5365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image" Target="../media/image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7.xml"/><Relationship Id="rId21" Type="http://schemas.openxmlformats.org/officeDocument/2006/relationships/image" Target="../media/image11.png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image" Target="../media/image10.png"/><Relationship Id="rId29" Type="http://schemas.openxmlformats.org/officeDocument/2006/relationships/image" Target="../media/image15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image" Target="../media/image13.png"/><Relationship Id="rId28" Type="http://schemas.openxmlformats.org/officeDocument/2006/relationships/image" Target="../media/image14.jpeg"/><Relationship Id="rId10" Type="http://schemas.openxmlformats.org/officeDocument/2006/relationships/tags" Target="../tags/tag24.xml"/><Relationship Id="rId19" Type="http://schemas.openxmlformats.org/officeDocument/2006/relationships/image" Target="../media/image9.png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image" Target="../media/image12.png"/><Relationship Id="rId27" Type="http://schemas.openxmlformats.org/officeDocument/2006/relationships/hyperlink" Target="https://flagos.io/Hom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Lecture 05: Environment Setup and Toolchain Configuration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Projects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 firstRow="1">
                <a:tableStyleId>{F83DEB3A-1B30-4ED8-929D-D4389515C9ED}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Lecture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Project Name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Type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Key Assessment Criteria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5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Environment Setup and Toolchain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Lab Session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Four-Phase Operational Verification + + Lab Report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9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Softmax Kernel (Midterm)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Correctness 40pts + Performance70% Threshold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18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RMSNorm+Residual  Fusion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Performance must reach FlagGems Benchmark 90%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27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FlagTree Pass  Contribution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Choose from 3 directions, FileCheck Test Verification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36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7B  Multi-Node Distributed Training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3-Person Team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Comparison of 3 Parallelism Strategies + + Linear Speedup Ratio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46-47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Capstone Project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Group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Proposal Feasibility + + Authenticity of Progress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FlagOS  Ecosystem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https://docs.flagos.io/en/latest/overview.html</a:t>
            </a:r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Design Philosophy: “Model-System-Chip” Decoupling, “Develop Once, Run Everywhere” 。</a:t>
            </a:r>
          </a:p>
          <a:p>
            <a:pPr lvl="1"/>
            <a:r>
              <a:rPr lang="en-US" altLang="en-US" sz="1800"/>
              <a:t>KernelGen (Intelligent Source): LLM -Driven Operator Generation and Test Verification Agent 。</a:t>
            </a:r>
          </a:p>
          <a:p>
            <a:pPr lvl="1"/>
            <a:r>
              <a:rPr lang="en-US" altLang="en-US" sz="1800"/>
              <a:t>FlagGems (High-Performance Operator Library): Based on  Triton , a High-Performance Generalized Operator Library.</a:t>
            </a:r>
          </a:p>
          <a:p>
            <a:pPr lvl="1"/>
            <a:r>
              <a:rPr lang="en-US" altLang="en-US" sz="1800"/>
              <a:t>FlagTree (Compilation Engine): A Unified  MLIR  Compiler Bridging Operators to Over Ten Heterogeneous Chip Architectures.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01720" y="3537585"/>
            <a:ext cx="5531485" cy="2639695"/>
            <a:chOff x="4471" y="4747"/>
            <a:chExt cx="9912" cy="511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71" y="4747"/>
              <a:ext cx="9913" cy="5113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4471" y="7184"/>
              <a:ext cx="3139" cy="2676"/>
            </a:xfrm>
            <a:prstGeom prst="rect">
              <a:avLst/>
            </a:prstGeom>
            <a:noFill/>
            <a:ln w="38100">
              <a:solidFill>
                <a:srgbClr val="8B001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B001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Project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/>
              <a:t>LabObjectives</a:t>
            </a:r>
          </a:p>
          <a:p>
            <a:pPr lvl="1"/>
            <a:r>
              <a:rPr lang="en-US" altLang="en-US"/>
              <a:t>Independently complete  FlagOS  development environment setup (Docker  or  Conda  route)</a:t>
            </a:r>
          </a:p>
          <a:p>
            <a:pPr lvl="1"/>
            <a:r>
              <a:rPr lang="en-US" altLang="en-US"/>
              <a:t>Successfully install and verify  CUDA Toolkit（NVCC) and  Triton  Compiler</a:t>
            </a:r>
          </a:p>
          <a:p>
            <a:pPr lvl="1"/>
            <a:r>
              <a:rPr lang="en-US" altLang="en-US"/>
              <a:t>Clone  flagos-ai/FlagGems  repository and pass compilation verification</a:t>
            </a:r>
          </a:p>
          <a:p>
            <a:pPr lvl="1"/>
            <a:r>
              <a:rPr lang="en-US" altLang="en-US"/>
              <a:t>Run the first  Hello World Triton Kernel, understand the basic execution workflow</a:t>
            </a:r>
          </a:p>
          <a:p>
            <a:pPr lvl="0"/>
            <a:r>
              <a:rPr lang="en-US" altLang="en-US"/>
              <a:t>Prerequisites: Lectures  1–4  foundational theory; basic  Linux  command-line proficiency; GitHub  account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Environment Specifications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/>
              <a:t>Hardware Requirements</a:t>
            </a:r>
          </a:p>
          <a:p>
            <a:pPr lvl="1"/>
            <a:r>
              <a:rPr lang="en-US" altLang="en-US"/>
              <a:t>NVIDIA GPU（Compute Capability ≥ 8.0, recommended:  A100/A800  or  RTX 30  series or above)</a:t>
            </a:r>
          </a:p>
          <a:p>
            <a:pPr lvl="1"/>
            <a:r>
              <a:rPr lang="en-US" altLang="en-US"/>
              <a:t>Memory  ≥ 16 GB, Disk Space  ≥ 50 GB</a:t>
            </a:r>
          </a:p>
          <a:p>
            <a:pPr lvl="0"/>
            <a:r>
              <a:rPr lang="en-US" altLang="en-US"/>
              <a:t>Software Dependencies</a:t>
            </a:r>
          </a:p>
          <a:p>
            <a:pPr lvl="1"/>
            <a:r>
              <a:rPr lang="en-US" altLang="en-US"/>
              <a:t>OS	Ubuntu 20.04 / 22.04 LTS (recommended)</a:t>
            </a:r>
          </a:p>
          <a:p>
            <a:pPr lvl="1"/>
            <a:r>
              <a:rPr lang="en-US" altLang="en-US"/>
              <a:t>CUDA Toolkit	12.1  or  12.2 (compatible with  PyTorch 2.x )</a:t>
            </a:r>
          </a:p>
          <a:p>
            <a:pPr lvl="1"/>
            <a:r>
              <a:rPr lang="en-US" altLang="en-US"/>
              <a:t>Python  Environment	3.10  or  3.11</a:t>
            </a:r>
          </a:p>
          <a:p>
            <a:pPr lvl="1"/>
            <a:r>
              <a:rPr lang="en-US" altLang="en-US"/>
              <a:t>Docker  Version	≥ 24.0 (optional route)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Procedures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7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/>
              <a:t>Phase A: Environment Selection and Initialization</a:t>
            </a:r>
          </a:p>
          <a:p>
            <a:pPr lvl="1"/>
            <a:r>
              <a:rPr lang="en-US" altLang="en-US"/>
              <a:t>Choose one of the following two routes based on available resources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758950" y="2364740"/>
          <a:ext cx="9097645" cy="1311910"/>
        </p:xfrm>
        <a:graphic>
          <a:graphicData uri="http://schemas.openxmlformats.org/drawingml/2006/table">
            <a:tbl>
              <a:tblPr/>
              <a:tblGrid>
                <a:gridCol w="909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</a:rPr>
                        <a:t>Route</a:t>
                      </a:r>
                      <a:r>
                        <a:rPr lang="en-US" altLang="en-US" sz="1600" b="1">
                          <a:latin typeface="Arial" panose="020B0604020202020204"/>
                          <a:ea typeface="Arial" panose="020B0604020202020204"/>
                        </a:rPr>
                        <a:t> 1 — Docker (Recommended)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docker pull nvcr.io/nvidia/pytorch:24.03-py3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docker run --gpus all -it --name flaggems-dev -v $(pwd):/workspace ...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1758950" y="4133215"/>
          <a:ext cx="9097645" cy="1860550"/>
        </p:xfrm>
        <a:graphic>
          <a:graphicData uri="http://schemas.openxmlformats.org/drawingml/2006/table">
            <a:tbl>
              <a:tblPr/>
              <a:tblGrid>
                <a:gridCol w="909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</a:rPr>
                        <a:t>Route</a:t>
                      </a:r>
                      <a:r>
                        <a:rPr lang="en-US" altLang="en-US" sz="1600" b="1">
                          <a:latin typeface="Arial" panose="020B0604020202020204"/>
                          <a:ea typeface="Arial" panose="020B0604020202020204"/>
                        </a:rPr>
                        <a:t> 2 — Conda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conda create -n flaggems python=3.11 -y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conda activate flaggems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pip install torch==2.3.0 triton==2.3.0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Lab Procedures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8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/>
              <a:t>Phase B：NVCC  and  CUDA  Verification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Phase C: Clone  FlagGems  and Install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635760" y="1878965"/>
          <a:ext cx="8004810" cy="1352550"/>
        </p:xfrm>
        <a:graphic>
          <a:graphicData uri="http://schemas.openxmlformats.org/drawingml/2006/table">
            <a:tbl>
              <a:tblPr/>
              <a:tblGrid>
                <a:gridCol w="800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nvcc --version          # Verify CUDA  version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nvidia-smi              # Verify GPU  visibility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python -c "import torch; print(torch.cuda.is_available())"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635760" y="4038600"/>
          <a:ext cx="8047990" cy="2080260"/>
        </p:xfrm>
        <a:graphic>
          <a:graphicData uri="http://schemas.openxmlformats.org/drawingml/2006/table">
            <a:tbl>
              <a:tblPr/>
              <a:tblGrid>
                <a:gridCol w="804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git clone https://github.com/flagos-ai/FlagGems.git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cd FlagGems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pip install -e .         #  Install in development mode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python -c "import flag_gems; print('FlagGems OK')"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Lab Procedures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9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Phase D：Hello World Triton Kernel</a:t>
            </a:r>
          </a:p>
          <a:p>
            <a:pPr lvl="1"/>
            <a:r>
              <a:rPr lang="en-US" altLang="en-US" sz="1800"/>
              <a:t>Write and run the following minimal  Triton Kernel to complete print output verification</a:t>
            </a:r>
          </a:p>
          <a:p>
            <a:pPr lvl="1"/>
            <a:r>
              <a:rPr lang="en-US" altLang="en-US" sz="1800"/>
              <a:t>Observe  Triton 's  JIT  compilation output; record in the lab report the  PTX  file path and  Kernel  launch time.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690370" y="2830195"/>
          <a:ext cx="8373110" cy="3196590"/>
        </p:xfrm>
        <a:graphic>
          <a:graphicData uri="http://schemas.openxmlformats.org/drawingml/2006/table">
            <a:tbl>
              <a:tblPr/>
              <a:tblGrid>
                <a:gridCol w="8373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import triton, triton.language as tl, torch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@triton.jit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def hello_kernel(x_ptr, out_ptr, n: tl.constexpr):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    idx = tl.program_id(0)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    x = tl.load(x_ptr + idx)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6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    tl.store(out_ptr + idx, x * 2)</a:t>
                      </a: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Submission Requirements and Grading Criteria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Lab Report Requirements</a:t>
            </a:r>
          </a:p>
          <a:p>
            <a:pPr lvl="1"/>
            <a:r>
              <a:rPr lang="en-US" altLang="en-US" sz="1800"/>
              <a:t>Screenshots: terminal output of all four phases (nvcc version, GPU info, FlagGems import success, Kernel output)</a:t>
            </a:r>
          </a:p>
          <a:p>
            <a:pPr lvl="1"/>
            <a:r>
              <a:rPr lang="en-US" altLang="en-US" sz="1800"/>
              <a:t>Text: describe encountered environment issues and resolution </a:t>
            </a:r>
          </a:p>
          <a:p>
            <a:pPr lvl="1"/>
            <a:r>
              <a:rPr lang="en-US" altLang="en-US" sz="1800"/>
              <a:t>Analysis: compare  Docker  and  Conda  routes - pros and cons (within 200  words)</a:t>
            </a:r>
          </a:p>
          <a:p>
            <a:pPr lvl="1"/>
            <a:r>
              <a:rPr lang="en-US" altLang="en-US" sz="1800"/>
              <a:t>Bonus (optional): draw a toolchain call graph from  Python  code to  GPU  execution</a:t>
            </a:r>
          </a:p>
          <a:p>
            <a:pPr lvl="0"/>
            <a:r>
              <a:rPr lang="en-US" altLang="en-US" sz="2000"/>
              <a:t>Grading Criteria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081405" y="3841115"/>
          <a:ext cx="9110980" cy="1967865"/>
        </p:xfrm>
        <a:graphic>
          <a:graphicData uri="http://schemas.openxmlformats.org/drawingml/2006/table">
            <a:tbl>
              <a:tblPr/>
              <a:tblGrid>
                <a:gridCol w="292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11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 Bold" panose="020B0604020202090204" charset="0"/>
                          <a:ea typeface="Arial" panose="020B0604020202020204"/>
                        </a:rPr>
                        <a:t>Assessment Dimension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 Bold" panose="020B0604020202090204" charset="0"/>
                          <a:ea typeface="Arial" panose="020B0604020202020204"/>
                        </a:rPr>
                        <a:t>Score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 Bold" panose="020B0604020202090204" charset="0"/>
                          <a:ea typeface="Arial" panose="020B0604020202020204"/>
                        </a:rPr>
                        <a:t>Grading Criteria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Environment Configuration Completeness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40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All four phases completed with screenshot evidence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Kernel  Execution Verification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30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Hello World  output correct, compilation parameters recorded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Lab Report Quality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20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Thorough analysis, clear troubleshooting approach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Bonus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10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Toolchain call graph accurate and complete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6*146"/>
  <p:tag name="TABLE_ENDDRAG_RECT" val="170*337*716*14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0*106"/>
  <p:tag name="TABLE_ENDDRAG_RECT" val="128*140*630*10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3*163"/>
  <p:tag name="TABLE_ENDDRAG_RECT" val="128*318*633*16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9*251"/>
  <p:tag name="TABLE_ENDDRAG_RECT" val="154*222*659*25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7*154"/>
  <p:tag name="TABLE_ENDDRAG_RECT" val="137*320*717*15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宽屏</PresentationFormat>
  <Paragraphs>122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微软雅黑</vt:lpstr>
      <vt:lpstr>文泉驿微米黑</vt:lpstr>
      <vt:lpstr>Arial</vt:lpstr>
      <vt:lpstr>Arial Bold</vt:lpstr>
      <vt:lpstr>Calibri</vt:lpstr>
      <vt:lpstr>Calibri Light</vt:lpstr>
      <vt:lpstr>Courier New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05: Environment Setup and Toolchain Configuration</vt:lpstr>
      <vt:lpstr>Course Projects Overview</vt:lpstr>
      <vt:lpstr>FlagOS  Ecosystem Overview</vt:lpstr>
      <vt:lpstr>Project Overview</vt:lpstr>
      <vt:lpstr>Lab Environment Specifications</vt:lpstr>
      <vt:lpstr>Lab Procedures</vt:lpstr>
      <vt:lpstr>Lab Procedures</vt:lpstr>
      <vt:lpstr>Lab Procedures</vt:lpstr>
      <vt:lpstr>Submission Requirements and Grading Criteria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11</cp:revision>
  <dcterms:created xsi:type="dcterms:W3CDTF">2026-03-12T02:39:00Z</dcterms:created>
  <dcterms:modified xsi:type="dcterms:W3CDTF">2026-03-17T14:53:17Z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