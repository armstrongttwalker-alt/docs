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2"/>
  </p:notesMasterIdLst>
  <p:handoutMasterIdLst>
    <p:handoutMasterId r:id="rId33"/>
  </p:handoutMasterIdLst>
  <p:sldIdLst>
    <p:sldId id="337" r:id="rId2"/>
    <p:sldId id="257" r:id="rId3"/>
    <p:sldId id="258" r:id="rId4"/>
    <p:sldId id="279" r:id="rId5"/>
    <p:sldId id="280" r:id="rId6"/>
    <p:sldId id="281" r:id="rId7"/>
    <p:sldId id="282" r:id="rId8"/>
    <p:sldId id="283"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338" r:id="rId29"/>
    <p:sldId id="339" r:id="rId30"/>
    <p:sldId id="34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8B0012"/>
    <a:srgbClr val="21B5C2"/>
    <a:srgbClr val="70AD47"/>
    <a:srgbClr val="2774AE"/>
    <a:srgbClr val="70AE47"/>
    <a:srgbClr val="549E39"/>
    <a:srgbClr val="90B085"/>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5"/>
    <p:restoredTop sz="80094" autoAdjust="0"/>
  </p:normalViewPr>
  <p:slideViewPr>
    <p:cSldViewPr snapToGrid="0" snapToObjects="1">
      <p:cViewPr varScale="1">
        <p:scale>
          <a:sx n="49" d="100"/>
          <a:sy n="49" d="100"/>
        </p:scale>
        <p:origin x="1164" y="3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1" d="100"/>
          <a:sy n="81" d="100"/>
        </p:scale>
        <p:origin x="3384"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6"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67"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AD35F3-BE5B-41CC-A973-5F94E77F22B3}" type="datetimeFigureOut">
              <a:rPr lang="zh-CN" altLang="en-US" smtClean="0"/>
              <a:t>2026/3/17</a:t>
            </a:fld>
            <a:endParaRPr lang="zh-CN" altLang="en-US"/>
          </a:p>
        </p:txBody>
      </p:sp>
      <p:sp>
        <p:nvSpPr>
          <p:cNvPr id="1048768"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69"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126E5-09CE-4398-8EB0-4AC849D0A16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0"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61"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E8E16-D6C5-3248-816C-85B3C8E8792E}" type="datetimeFigureOut">
              <a:rPr lang="en-US" smtClean="0"/>
              <a:t>3/17/2026</a:t>
            </a:fld>
            <a:endParaRPr lang="en-US"/>
          </a:p>
        </p:txBody>
      </p:sp>
      <p:sp>
        <p:nvSpPr>
          <p:cNvPr id="1048762"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63"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4"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65"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4C98A-D9C5-894D-9A13-8F52E37846C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gn="l">
              <a:lnSpc>
                <a:spcPct val="100000"/>
              </a:lnSpc>
              <a:buClr>
                <a:srgbClr val="1F2329"/>
              </a:buClr>
              <a:defRPr/>
            </a:pPr>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521923-619F-5B45-A948-9939ACA14418}" type="slidenum">
              <a:rPr lang="en-US"/>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gn="l">
              <a:lnSpc>
                <a:spcPct val="100000"/>
              </a:lnSpc>
              <a:buClr>
                <a:srgbClr val="1F2329"/>
              </a:buClr>
              <a:defRPr/>
            </a:pPr>
            <a:r>
              <a:rPr kumimoji="1" lang="en-US" altLang="zh-CN" dirty="0"/>
              <a:t>Triton</a:t>
            </a:r>
            <a:r>
              <a:rPr kumimoji="1" lang="zh-CN" altLang="en-US" dirty="0"/>
              <a:t>既是一种编程语言，也是一个编译器。从程序员的视角来看，</a:t>
            </a:r>
            <a:r>
              <a:rPr kumimoji="1" lang="en-US" altLang="zh-CN" dirty="0"/>
              <a:t>Triton</a:t>
            </a:r>
            <a:r>
              <a:rPr kumimoji="1" lang="zh-CN" altLang="en-US" dirty="0"/>
              <a:t>作为一门编程语言，专门用于并行编程，它为了运行在</a:t>
            </a:r>
            <a:r>
              <a:rPr kumimoji="1" lang="en-US" altLang="zh-CN" dirty="0"/>
              <a:t>GPU</a:t>
            </a:r>
            <a:r>
              <a:rPr kumimoji="1" lang="zh-CN" altLang="en-US" dirty="0"/>
              <a:t>硬件上而设计，但也可以用在一些其他的、和</a:t>
            </a:r>
            <a:r>
              <a:rPr kumimoji="1" lang="en-US" altLang="zh-CN" dirty="0"/>
              <a:t>CPU</a:t>
            </a:r>
            <a:r>
              <a:rPr kumimoji="1" lang="zh-CN" altLang="en-US" dirty="0"/>
              <a:t>、</a:t>
            </a:r>
            <a:r>
              <a:rPr kumimoji="1" lang="en-US" altLang="zh-CN" dirty="0"/>
              <a:t>GPU</a:t>
            </a:r>
            <a:r>
              <a:rPr kumimoji="1" lang="zh-CN" altLang="en-US" dirty="0"/>
              <a:t>都不同的加速器芯片上。</a:t>
            </a:r>
            <a:r>
              <a:rPr kumimoji="1" lang="en-US" altLang="zh-CN" dirty="0"/>
              <a:t>Triton</a:t>
            </a:r>
            <a:r>
              <a:rPr kumimoji="1" lang="zh-CN" altLang="en-US" dirty="0"/>
              <a:t>语言可以用来编写神经网络当中的算子，实现非常好的计算性能，使大模型的程序能够更快地运行在</a:t>
            </a:r>
            <a:r>
              <a:rPr kumimoji="1" lang="en-US" altLang="zh-CN" dirty="0"/>
              <a:t>GPU</a:t>
            </a:r>
            <a:r>
              <a:rPr kumimoji="1" lang="zh-CN" altLang="en-US" dirty="0"/>
              <a:t>上，更迅速地给我们问题的答案。</a:t>
            </a:r>
            <a:br>
              <a:rPr kumimoji="1" lang="en-US" altLang="zh-CN" dirty="0"/>
            </a:br>
            <a:r>
              <a:rPr kumimoji="1" lang="zh-CN" altLang="en-US" dirty="0"/>
              <a:t>而从芯片的角度来看，</a:t>
            </a:r>
            <a:r>
              <a:rPr kumimoji="1" lang="en-US" altLang="zh-CN" dirty="0"/>
              <a:t>Triton</a:t>
            </a:r>
            <a:r>
              <a:rPr kumimoji="1" lang="zh-CN" altLang="en-US" dirty="0"/>
              <a:t>作为编译器，可以把人类程序员能够理解的</a:t>
            </a:r>
            <a:r>
              <a:rPr kumimoji="1" lang="en-US" altLang="zh-CN" dirty="0"/>
              <a:t>Triton</a:t>
            </a:r>
            <a:r>
              <a:rPr kumimoji="1" lang="zh-CN" altLang="en-US" dirty="0"/>
              <a:t>编程语言，一步步地转换成芯片可以理解的机器语言，把程序代码生成出一个可以执行的二进制文件。在转换的过程中，编译器还会进行分析、思考和调整，让编译出的机器语言更优美、更高效。</a:t>
            </a:r>
            <a:endParaRPr kumimoji="1" lang="en-US" altLang="zh-CN" dirty="0"/>
          </a:p>
          <a:p>
            <a:pPr lvl="0" algn="l">
              <a:lnSpc>
                <a:spcPct val="100000"/>
              </a:lnSpc>
              <a:buClr>
                <a:srgbClr val="1F2329"/>
              </a:buClr>
              <a:defRPr/>
            </a:pPr>
            <a:r>
              <a:rPr kumimoji="1" lang="zh-CN" altLang="en-US" dirty="0"/>
              <a:t>下面两个网址分别是</a:t>
            </a:r>
            <a:r>
              <a:rPr kumimoji="1" lang="en-US" altLang="zh-CN" dirty="0"/>
              <a:t>Triton</a:t>
            </a:r>
            <a:r>
              <a:rPr kumimoji="1" lang="zh-CN" altLang="en-US" dirty="0"/>
              <a:t>在</a:t>
            </a:r>
            <a:r>
              <a:rPr kumimoji="1" lang="en-US" altLang="zh-CN" dirty="0" err="1"/>
              <a:t>Github</a:t>
            </a:r>
            <a:r>
              <a:rPr kumimoji="1" lang="zh-CN" altLang="en-US" dirty="0"/>
              <a:t>上的开源项目地址，和</a:t>
            </a:r>
            <a:r>
              <a:rPr kumimoji="1" lang="en-US" altLang="zh-CN" dirty="0"/>
              <a:t>Triton</a:t>
            </a:r>
            <a:r>
              <a:rPr kumimoji="1" lang="zh-CN" altLang="en-US" dirty="0"/>
              <a:t>编程语言的说明文档地址。</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dirty="0"/>
          </a:p>
        </p:txBody>
      </p:sp>
      <p:sp>
        <p:nvSpPr>
          <p:cNvPr id="4" name="灯片编号占位符 3"/>
          <p:cNvSpPr>
            <a:spLocks noGrp="1"/>
          </p:cNvSpPr>
          <p:nvPr>
            <p:ph type="sldNum" sz="quarter" idx="5"/>
          </p:nvPr>
        </p:nvSpPr>
        <p:spPr/>
        <p:txBody>
          <a:bodyPr/>
          <a:lstStyle/>
          <a:p>
            <a:fld id="{08F0E6B4-E9A0-6649-A015-7380BB376315}" type="slidenum">
              <a:rPr kumimoji="1" lang="zh-CN" altLang="en-US" smtClean="0"/>
              <a:t>7</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幻灯片图像占位符 1"/>
          <p:cNvSpPr>
            <a:spLocks noGrp="1" noRot="1" noChangeAspect="1"/>
          </p:cNvSpPr>
          <p:nvPr>
            <p:ph type="sldImg" idx="2"/>
          </p:nvPr>
        </p:nvSpPr>
        <p:spPr/>
      </p:sp>
      <p:sp>
        <p:nvSpPr>
          <p:cNvPr id="1048661" name="文本占位符 2"/>
          <p:cNvSpPr>
            <a:spLocks noGrp="1"/>
          </p:cNvSpPr>
          <p:nvPr>
            <p:ph type="body" idx="3"/>
          </p:nvPr>
        </p:nvSpPr>
        <p:spPr/>
        <p:txBody>
          <a:bodyPr/>
          <a:lstStyle/>
          <a:p>
            <a:r>
              <a:rPr lang="x-none" altLang="zh-CN"/>
              <a:t>Feature	PyTorch (Eager)		CUDA C++		Triton</a:t>
            </a:r>
          </a:p>
          <a:p>
            <a:r>
              <a:rPr lang="x-none" altLang="zh-CN"/>
              <a:t>Ease of Use	Excellent (Python)	Low (C++)		Great (Pythonic)</a:t>
            </a:r>
          </a:p>
          <a:p>
            <a:r>
              <a:rPr lang="x-none" altLang="zh-CN"/>
              <a:t>Performance	Moderate		Maximum		Near-Maximum</a:t>
            </a:r>
          </a:p>
          <a:p>
            <a:r>
              <a:rPr lang="x-none" altLang="zh-CN"/>
              <a:t>Memory Mgmt.	Automatic		Manual (Shared/Global)	Automatic (Tiled)</a:t>
            </a:r>
          </a:p>
          <a:p>
            <a:r>
              <a:rPr lang="x-none" altLang="zh-CN"/>
              <a:t>Optimization	Limited		Manual (Hard)		Compiler-Driven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2" name="幻灯片图像占位符 1"/>
          <p:cNvSpPr>
            <a:spLocks noGrp="1" noRot="1" noChangeAspect="1"/>
          </p:cNvSpPr>
          <p:nvPr>
            <p:ph type="sldImg" idx="2"/>
          </p:nvPr>
        </p:nvSpPr>
        <p:spPr/>
      </p:sp>
      <p:sp>
        <p:nvSpPr>
          <p:cNvPr id="1048733" name="文本占位符 2"/>
          <p:cNvSpPr>
            <a:spLocks noGrp="1"/>
          </p:cNvSpPr>
          <p:nvPr>
            <p:ph type="body" idx="3"/>
          </p:nvPr>
        </p:nvSpPr>
        <p:spPr/>
        <p:txBody>
          <a:bodyPr/>
          <a:lstStyle/>
          <a:p>
            <a:endParaRPr lang="x-none"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186915214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329314663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triton-lang/triton/tree/main/docs/meetups" TargetMode="External"/><Relationship Id="rId2" Type="http://schemas.openxmlformats.org/officeDocument/2006/relationships/hyperlink" Target="https://triton-lang.org/main/index.html" TargetMode="External"/><Relationship Id="rId1" Type="http://schemas.openxmlformats.org/officeDocument/2006/relationships/slideLayout" Target="../slideLayouts/slideLayout2.xml"/><Relationship Id="rId4" Type="http://schemas.openxmlformats.org/officeDocument/2006/relationships/hyperlink" Target="https://github.com/dao-ailab/flash-attention/blob/main/flash_attn/flash_attn_triton.py"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image" Target="../media/image16.png"/><Relationship Id="rId26" Type="http://schemas.openxmlformats.org/officeDocument/2006/relationships/hyperlink" Target="https://www.zhihu.com/people/95-22-20-18/posts" TargetMode="External"/><Relationship Id="rId3" Type="http://schemas.openxmlformats.org/officeDocument/2006/relationships/tags" Target="../tags/tag13.xml"/><Relationship Id="rId21" Type="http://schemas.openxmlformats.org/officeDocument/2006/relationships/image" Target="../media/image19.png"/><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image" Target="../media/image18.png"/><Relationship Id="rId29" Type="http://schemas.openxmlformats.org/officeDocument/2006/relationships/image" Target="../media/image23.png"/><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24" Type="http://schemas.openxmlformats.org/officeDocument/2006/relationships/hyperlink" Target="https://github.com/flagos-ai" TargetMode="External"/><Relationship Id="rId5" Type="http://schemas.openxmlformats.org/officeDocument/2006/relationships/tags" Target="../tags/tag15.xml"/><Relationship Id="rId15" Type="http://schemas.openxmlformats.org/officeDocument/2006/relationships/tags" Target="../tags/tag25.xml"/><Relationship Id="rId23" Type="http://schemas.openxmlformats.org/officeDocument/2006/relationships/image" Target="../media/image21.png"/><Relationship Id="rId28" Type="http://schemas.openxmlformats.org/officeDocument/2006/relationships/image" Target="../media/image22.jpeg"/><Relationship Id="rId10" Type="http://schemas.openxmlformats.org/officeDocument/2006/relationships/tags" Target="../tags/tag20.xml"/><Relationship Id="rId19" Type="http://schemas.openxmlformats.org/officeDocument/2006/relationships/image" Target="../media/image17.png"/><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image" Target="../media/image20.png"/><Relationship Id="rId27" Type="http://schemas.openxmlformats.org/officeDocument/2006/relationships/hyperlink" Target="https://flagos.io/Home"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标题 1"/>
          <p:cNvSpPr>
            <a:spLocks noGrp="1"/>
          </p:cNvSpPr>
          <p:nvPr>
            <p:ph type="ctrTitle"/>
          </p:nvPr>
        </p:nvSpPr>
        <p:spPr/>
        <p:txBody>
          <a:bodyPr/>
          <a:lstStyle/>
          <a:p>
            <a:r>
              <a:rPr lang="en-US" altLang="zh-CN"/>
              <a:t>Lecture 04: Introduction to the Triton Language</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标题 1"/>
          <p:cNvSpPr>
            <a:spLocks noGrp="1"/>
          </p:cNvSpPr>
          <p:nvPr>
            <p:ph type="title"/>
          </p:nvPr>
        </p:nvSpPr>
        <p:spPr/>
        <p:txBody>
          <a:bodyPr/>
          <a:lstStyle/>
          <a:p>
            <a:r>
              <a:rPr lang="x-none" altLang="zh-CN"/>
              <a:t>T</a:t>
            </a:r>
            <a:r>
              <a:rPr lang="zh-CN" altLang="en-US"/>
              <a:t>riton Programming: </a:t>
            </a:r>
            <a:r>
              <a:rPr lang="zh-CN" altLang="en-US" sz="2000"/>
              <a:t>High-Performance GPU Kernels with Pythonic Ease</a:t>
            </a:r>
          </a:p>
        </p:txBody>
      </p:sp>
      <p:sp>
        <p:nvSpPr>
          <p:cNvPr id="1048648" name="页脚占位符 3"/>
          <p:cNvSpPr>
            <a:spLocks noGrp="1"/>
          </p:cNvSpPr>
          <p:nvPr>
            <p:ph type="ftr" sz="quarter" idx="11"/>
          </p:nvPr>
        </p:nvSpPr>
        <p:spPr/>
        <p:txBody>
          <a:bodyPr/>
          <a:lstStyle/>
          <a:p>
            <a:endParaRPr lang="zh-CN" altLang="en-US" dirty="0"/>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3</a:t>
            </a:fld>
            <a:endParaRPr lang="zh-CN" altLang="en-US" dirty="0"/>
          </a:p>
        </p:txBody>
      </p:sp>
      <p:sp>
        <p:nvSpPr>
          <p:cNvPr id="1048647" name="内容占位符 2"/>
          <p:cNvSpPr>
            <a:spLocks noGrp="1"/>
          </p:cNvSpPr>
          <p:nvPr>
            <p:ph sz="quarter" idx="13"/>
          </p:nvPr>
        </p:nvSpPr>
        <p:spPr/>
        <p:txBody>
          <a:bodyPr>
            <a:normAutofit/>
          </a:bodyPr>
          <a:lstStyle/>
          <a:p>
            <a:r>
              <a:rPr lang="zh-CN" altLang="en-US"/>
              <a:t>Overview</a:t>
            </a:r>
          </a:p>
          <a:p>
            <a:pPr lvl="1"/>
            <a:r>
              <a:rPr lang="zh-CN" altLang="en-US"/>
              <a:t>The Problem: barrier between Python productivity and CUDA C++ performance</a:t>
            </a:r>
          </a:p>
          <a:p>
            <a:pPr lvl="1"/>
            <a:r>
              <a:rPr lang="zh-CN" altLang="en-US"/>
              <a:t>The Solution: a</a:t>
            </a:r>
            <a:r>
              <a:rPr lang="x-none" altLang="zh-CN"/>
              <a:t>n embedded DSL</a:t>
            </a:r>
            <a:r>
              <a:rPr lang="zh-CN" altLang="en-US"/>
              <a:t> and compiler for writing efficient custom </a:t>
            </a:r>
            <a:r>
              <a:rPr lang="x-none" altLang="zh-CN"/>
              <a:t>deep-learning ops</a:t>
            </a:r>
            <a:endParaRPr lang="zh-CN" altLang="en-US"/>
          </a:p>
          <a:p>
            <a:pPr lvl="1"/>
            <a:r>
              <a:rPr lang="zh-CN" altLang="en-US"/>
              <a:t>The Goal: </a:t>
            </a:r>
            <a:r>
              <a:rPr lang="x-none" altLang="zh-CN"/>
              <a:t>Enabling</a:t>
            </a:r>
            <a:r>
              <a:rPr lang="zh-CN" altLang="en-US"/>
              <a:t> developers to write </a:t>
            </a:r>
            <a:r>
              <a:rPr lang="x-none" altLang="zh-CN"/>
              <a:t>“block-based” </a:t>
            </a:r>
            <a:r>
              <a:rPr lang="zh-CN" altLang="en-US"/>
              <a:t>algorithms that rival hand-tuned CUDA.</a:t>
            </a:r>
          </a:p>
          <a:p>
            <a:pPr lvl="2"/>
            <a:r>
              <a:rPr lang="x-none"/>
              <a:t>in contrast to “thread-based”; also being called “tile-centric”</a:t>
            </a:r>
          </a:p>
          <a:p>
            <a:pPr lvl="0"/>
            <a:r>
              <a:rPr lang="x-none"/>
              <a:t>I</a:t>
            </a:r>
            <a:r>
              <a:rPr lang="x-none" altLang="zh-CN"/>
              <a:t>n</a:t>
            </a:r>
            <a:r>
              <a:rPr lang="zh-CN" altLang="en-US"/>
              <a:t> </a:t>
            </a:r>
            <a:r>
              <a:rPr lang="x-none" altLang="zh-CN"/>
              <a:t>this lecture</a:t>
            </a:r>
            <a:r>
              <a:rPr lang="zh-CN" altLang="en-US"/>
              <a:t>:</a:t>
            </a:r>
          </a:p>
          <a:p>
            <a:pPr lvl="1"/>
            <a:r>
              <a:rPr lang="zh-CN" altLang="en-US"/>
              <a:t>The Triton Philosophy: Why not just use CUDA?</a:t>
            </a:r>
          </a:p>
          <a:p>
            <a:pPr lvl="1"/>
            <a:r>
              <a:rPr lang="zh-CN" altLang="en-US"/>
              <a:t>The Execution Model: Understanding Grids and Programs.</a:t>
            </a:r>
          </a:p>
          <a:p>
            <a:pPr lvl="1"/>
            <a:r>
              <a:rPr lang="zh-CN" altLang="en-US"/>
              <a:t>The Building Blocks: Master Block-based programming and Pointer Arithmetic.</a:t>
            </a:r>
          </a:p>
          <a:p>
            <a:pPr lvl="1"/>
            <a:r>
              <a:rPr lang="zh-CN" altLang="en-US"/>
              <a:t>Hands-on Syntax: Defining and launching your first @triton.jit kernel.</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Triton</a:t>
            </a:r>
            <a:r>
              <a:t> </a:t>
            </a:r>
            <a:r>
              <a:rPr lang="en-US" altLang="zh-CN"/>
              <a:t>Overview</a:t>
            </a:r>
          </a:p>
        </p:txBody>
      </p:sp>
      <p:sp>
        <p:nvSpPr>
          <p:cNvPr id="8" name="灯片编号占位符 7"/>
          <p:cNvSpPr>
            <a:spLocks noGrp="1"/>
          </p:cNvSpPr>
          <p:nvPr>
            <p:ph type="sldNum" sz="quarter" idx="12"/>
          </p:nvPr>
        </p:nvSpPr>
        <p:spPr/>
        <p:txBody>
          <a:bodyPr/>
          <a:lstStyle/>
          <a:p>
            <a:fld id="{B33F7469-D28B-482F-B1B6-3B8E7CF51519}" type="slidenum">
              <a:rPr lang="zh-CN" altLang="en-US" smtClean="0"/>
              <a:t>4</a:t>
            </a:fld>
            <a:endParaRPr lang="zh-CN" altLang="en-US" dirty="0"/>
          </a:p>
        </p:txBody>
      </p:sp>
      <p:sp>
        <p:nvSpPr>
          <p:cNvPr id="7" name="内容占位符 6"/>
          <p:cNvSpPr>
            <a:spLocks noGrp="1"/>
          </p:cNvSpPr>
          <p:nvPr>
            <p:ph sz="quarter" idx="13"/>
          </p:nvPr>
        </p:nvSpPr>
        <p:spPr/>
        <p:txBody>
          <a:bodyPr/>
          <a:lstStyle/>
          <a:p>
            <a:endParaRPr lang="zh-CN" altLang="en-US"/>
          </a:p>
        </p:txBody>
      </p:sp>
      <p:sp>
        <p:nvSpPr>
          <p:cNvPr id="3" name="文本框 2"/>
          <p:cNvSpPr txBox="1"/>
          <p:nvPr/>
        </p:nvSpPr>
        <p:spPr>
          <a:xfrm>
            <a:off x="3849370" y="1365250"/>
            <a:ext cx="6634480" cy="1753235"/>
          </a:xfrm>
          <a:prstGeom prst="rect">
            <a:avLst/>
          </a:prstGeom>
          <a:noFill/>
        </p:spPr>
        <p:txBody>
          <a:bodyPr wrap="square">
            <a:noAutofit/>
          </a:bodyPr>
          <a:lstStyle/>
          <a:p>
            <a:r>
              <a:rPr lang="en-US" altLang="zh-CN" dirty="0">
                <a:solidFill>
                  <a:srgbClr val="21B5C2"/>
                </a:solidFill>
                <a:latin typeface="微软雅黑" panose="020B0503020204020204" charset="-122"/>
                <a:ea typeface="微软雅黑" panose="020B0503020204020204" charset="-122"/>
              </a:rPr>
              <a:t>Triton</a:t>
            </a:r>
            <a:r>
              <a:rPr lang="en-US" altLang="zh-CN" dirty="0">
                <a:latin typeface="微软雅黑" panose="020B0503020204020204" charset="-122"/>
                <a:ea typeface="微软雅黑" panose="020B0503020204020204" charset="-122"/>
              </a:rPr>
              <a:t> is a </a:t>
            </a:r>
            <a:r>
              <a:rPr lang="en-US" altLang="zh-CN" dirty="0">
                <a:solidFill>
                  <a:srgbClr val="8B0012"/>
                </a:solidFill>
                <a:latin typeface="微软雅黑" panose="020B0503020204020204" charset="-122"/>
                <a:ea typeface="微软雅黑" panose="020B0503020204020204" charset="-122"/>
              </a:rPr>
              <a:t>language</a:t>
            </a:r>
            <a:r>
              <a:rPr lang="en-US" altLang="zh-CN" dirty="0">
                <a:latin typeface="微软雅黑" panose="020B0503020204020204" charset="-122"/>
                <a:ea typeface="微软雅黑" panose="020B0503020204020204" charset="-122"/>
              </a:rPr>
              <a:t> and </a:t>
            </a:r>
            <a:r>
              <a:rPr lang="en-US" altLang="zh-CN" dirty="0">
                <a:solidFill>
                  <a:srgbClr val="8B0012"/>
                </a:solidFill>
                <a:latin typeface="微软雅黑" panose="020B0503020204020204" charset="-122"/>
                <a:ea typeface="微软雅黑" panose="020B0503020204020204" charset="-122"/>
              </a:rPr>
              <a:t>compiler</a:t>
            </a:r>
            <a:r>
              <a:rPr lang="en-US" altLang="zh-CN" dirty="0">
                <a:latin typeface="微软雅黑" panose="020B0503020204020204" charset="-122"/>
                <a:ea typeface="微软雅黑" panose="020B0503020204020204" charset="-122"/>
              </a:rPr>
              <a:t> designed for parallel programming. It aims to provide a Python-based programming environment for efficiently writing custom DNN compute kernels, enabling them to run at maximum throughput on modern GPU hardware.</a:t>
            </a:r>
          </a:p>
        </p:txBody>
      </p:sp>
      <p:pic>
        <p:nvPicPr>
          <p:cNvPr id="4" name="图片 3"/>
          <p:cNvPicPr>
            <a:picLocks noChangeAspect="1"/>
          </p:cNvPicPr>
          <p:nvPr/>
        </p:nvPicPr>
        <p:blipFill rotWithShape="1">
          <a:blip r:embed="rId3"/>
          <a:srcRect t="14452" r="831" b="10334"/>
          <a:stretch>
            <a:fillRect/>
          </a:stretch>
        </p:blipFill>
        <p:spPr>
          <a:xfrm>
            <a:off x="1510030" y="3300730"/>
            <a:ext cx="9646920" cy="3106420"/>
          </a:xfrm>
          <a:prstGeom prst="rect">
            <a:avLst/>
          </a:prstGeom>
        </p:spPr>
      </p:pic>
      <p:pic>
        <p:nvPicPr>
          <p:cNvPr id="5" name="图片 4"/>
          <p:cNvPicPr>
            <a:picLocks noChangeAspect="1"/>
          </p:cNvPicPr>
          <p:nvPr/>
        </p:nvPicPr>
        <p:blipFill>
          <a:blip r:embed="rId4"/>
          <a:stretch>
            <a:fillRect/>
          </a:stretch>
        </p:blipFill>
        <p:spPr>
          <a:xfrm>
            <a:off x="1126841" y="1324157"/>
            <a:ext cx="1737383" cy="1976273"/>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Triton vs. Other Open-Source Programming Models</a:t>
            </a:r>
          </a:p>
        </p:txBody>
      </p:sp>
      <p:sp>
        <p:nvSpPr>
          <p:cNvPr id="4" name="Slide Number Placeholder 3"/>
          <p:cNvSpPr>
            <a:spLocks noGrp="1"/>
          </p:cNvSpPr>
          <p:nvPr>
            <p:ph type="sldNum" sz="quarter" idx="12"/>
          </p:nvPr>
        </p:nvSpPr>
        <p:spPr/>
        <p:txBody>
          <a:bodyPr/>
          <a:lstStyle/>
          <a:p>
            <a:r>
              <a:rPr lang="zh-CN" altLang="en-US"/>
              <a:t>*</a:t>
            </a:r>
          </a:p>
        </p:txBody>
      </p:sp>
      <p:sp>
        <p:nvSpPr>
          <p:cNvPr id="3" name="内容占位符 2"/>
          <p:cNvSpPr>
            <a:spLocks noGrp="1"/>
          </p:cNvSpPr>
          <p:nvPr>
            <p:ph sz="quarter" idx="13"/>
          </p:nvPr>
        </p:nvSpPr>
        <p:spPr/>
        <p:txBody>
          <a:bodyPr/>
          <a:lstStyle/>
          <a:p>
            <a:endParaRPr lang="zh-CN" altLang="en-US"/>
          </a:p>
        </p:txBody>
      </p:sp>
      <p:sp>
        <p:nvSpPr>
          <p:cNvPr id="26" name="Rounded Rectangle 25"/>
          <p:cNvSpPr/>
          <p:nvPr/>
        </p:nvSpPr>
        <p:spPr>
          <a:xfrm>
            <a:off x="5748030" y="2316787"/>
            <a:ext cx="1743096" cy="30847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r"/>
            <a:r>
              <a:rPr lang="en-US" sz="1600" dirty="0"/>
              <a:t>MLIR</a:t>
            </a:r>
          </a:p>
        </p:txBody>
      </p:sp>
      <p:sp>
        <p:nvSpPr>
          <p:cNvPr id="10" name="Text Placeholder 2"/>
          <p:cNvSpPr txBox="1"/>
          <p:nvPr/>
        </p:nvSpPr>
        <p:spPr>
          <a:xfrm>
            <a:off x="467360" y="5026025"/>
            <a:ext cx="8201025" cy="1443355"/>
          </a:xfrm>
          <a:prstGeom prst="rect">
            <a:avLst/>
          </a:prstGeom>
        </p:spPr>
        <p:txBody>
          <a:bodyPr/>
          <a:lstStyle>
            <a:lvl1pPr marL="228600" indent="-228600" algn="l" defTabSz="914400" rtl="0" eaLnBrk="1" latinLnBrk="0" hangingPunct="1">
              <a:lnSpc>
                <a:spcPct val="100000"/>
              </a:lnSpc>
              <a:spcBef>
                <a:spcPts val="1000"/>
              </a:spcBef>
              <a:buFont typeface="Arial" panose="020B0604020202020204" pitchFamily="34" charset="0"/>
              <a:buChar char="•"/>
              <a:defRPr sz="2200" b="0" i="0" kern="1200">
                <a:solidFill>
                  <a:schemeClr val="tx1">
                    <a:lumMod val="75000"/>
                    <a:lumOff val="2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200" b="0" i="0" kern="120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200" b="0" i="0" kern="120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200" b="0" i="0" kern="1200">
                <a:solidFill>
                  <a:schemeClr val="tx1">
                    <a:lumMod val="75000"/>
                    <a:lumOff val="2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200" b="0" i="0" kern="1200">
                <a:solidFill>
                  <a:schemeClr val="tx1">
                    <a:lumMod val="75000"/>
                    <a:lumOff val="2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200" b="1" dirty="0"/>
              <a:t>Evaluation Criteria</a:t>
            </a:r>
          </a:p>
          <a:p>
            <a:pPr marL="457200" lvl="1" indent="0">
              <a:buNone/>
            </a:pPr>
            <a:r>
              <a:rPr lang="en-US" altLang="zh-CN" sz="900" b="1" dirty="0"/>
              <a:t>Architectural Advancement: </a:t>
            </a:r>
            <a:r>
              <a:rPr lang="en-US" altLang="zh-CN" sz="900" dirty="0"/>
              <a:t>Evaluates technical generation and the sophistication of software architecture.</a:t>
            </a:r>
          </a:p>
          <a:p>
            <a:pPr marL="457200" lvl="1" indent="0">
              <a:buNone/>
            </a:pPr>
            <a:r>
              <a:rPr lang="en-US" altLang="zh-CN" sz="900" b="1" dirty="0"/>
              <a:t>Implementation Efficiency: </a:t>
            </a:r>
            <a:r>
              <a:rPr lang="en-US" altLang="zh-CN" sz="900" dirty="0"/>
              <a:t>Assesses whether critical and complex operators are efficiently implemented, with performance approaching or exceeding manual optimization.</a:t>
            </a:r>
          </a:p>
          <a:p>
            <a:pPr marL="457200" lvl="1" indent="0">
              <a:buNone/>
            </a:pPr>
            <a:r>
              <a:rPr lang="en-US" altLang="zh-CN" sz="900" b="1" dirty="0"/>
              <a:t>Implementation Quality:</a:t>
            </a:r>
            <a:r>
              <a:rPr lang="en-US" altLang="zh-CN" sz="900" dirty="0"/>
              <a:t> Evaluates the quality of the software as an infrastructure for broader adoption and secondary development.</a:t>
            </a:r>
          </a:p>
          <a:p>
            <a:pPr marL="457200" lvl="1" indent="0">
              <a:buNone/>
            </a:pPr>
            <a:r>
              <a:rPr lang="en-US" altLang="zh-CN" sz="900" b="1" dirty="0"/>
              <a:t>Programmability: </a:t>
            </a:r>
            <a:r>
              <a:rPr lang="en-US" altLang="zh-CN" sz="900" dirty="0"/>
              <a:t>Measures the reduction in programming complexity and the effective improvement in development productivity.</a:t>
            </a:r>
          </a:p>
          <a:p>
            <a:pPr marL="457200" lvl="1" indent="0">
              <a:buNone/>
            </a:pPr>
            <a:r>
              <a:rPr lang="en-US" altLang="zh-CN" sz="900" b="1" dirty="0"/>
              <a:t>Compatibility:</a:t>
            </a:r>
            <a:r>
              <a:rPr lang="en-US" altLang="zh-CN" sz="900" dirty="0"/>
              <a:t> Examines the applicability and constraints across different frameworks, as well as the breadth of the high-level ecosystem.</a:t>
            </a:r>
          </a:p>
        </p:txBody>
      </p:sp>
      <p:sp>
        <p:nvSpPr>
          <p:cNvPr id="11" name="TextBox 10"/>
          <p:cNvSpPr txBox="1"/>
          <p:nvPr/>
        </p:nvSpPr>
        <p:spPr>
          <a:xfrm>
            <a:off x="1714041" y="956108"/>
            <a:ext cx="789305" cy="368300"/>
          </a:xfrm>
          <a:prstGeom prst="rect">
            <a:avLst/>
          </a:prstGeom>
          <a:noFill/>
        </p:spPr>
        <p:txBody>
          <a:bodyPr wrap="none" rtlCol="0">
            <a:spAutoFit/>
          </a:bodyPr>
          <a:lstStyle/>
          <a:p>
            <a:r>
              <a:rPr lang="en-US" dirty="0"/>
              <a:t>Triton</a:t>
            </a:r>
          </a:p>
        </p:txBody>
      </p:sp>
      <p:sp>
        <p:nvSpPr>
          <p:cNvPr id="12" name="TextBox 11"/>
          <p:cNvSpPr txBox="1"/>
          <p:nvPr/>
        </p:nvSpPr>
        <p:spPr>
          <a:xfrm>
            <a:off x="5207785" y="945820"/>
            <a:ext cx="1076960" cy="368300"/>
          </a:xfrm>
          <a:prstGeom prst="rect">
            <a:avLst/>
          </a:prstGeom>
          <a:noFill/>
        </p:spPr>
        <p:txBody>
          <a:bodyPr wrap="none" rtlCol="0">
            <a:spAutoFit/>
          </a:bodyPr>
          <a:lstStyle/>
          <a:p>
            <a:r>
              <a:rPr lang="en-US" altLang="zh-CN" dirty="0"/>
              <a:t>OpenXLA</a:t>
            </a:r>
            <a:endParaRPr lang="en-US" dirty="0"/>
          </a:p>
        </p:txBody>
      </p:sp>
      <p:sp>
        <p:nvSpPr>
          <p:cNvPr id="13" name="TextBox 12"/>
          <p:cNvSpPr txBox="1"/>
          <p:nvPr/>
        </p:nvSpPr>
        <p:spPr>
          <a:xfrm>
            <a:off x="9177323" y="945820"/>
            <a:ext cx="664845" cy="368300"/>
          </a:xfrm>
          <a:prstGeom prst="rect">
            <a:avLst/>
          </a:prstGeom>
          <a:noFill/>
        </p:spPr>
        <p:txBody>
          <a:bodyPr wrap="none" rtlCol="0">
            <a:spAutoFit/>
          </a:bodyPr>
          <a:lstStyle/>
          <a:p>
            <a:r>
              <a:rPr lang="en-US" dirty="0"/>
              <a:t>Mojo</a:t>
            </a:r>
          </a:p>
        </p:txBody>
      </p:sp>
      <p:sp>
        <p:nvSpPr>
          <p:cNvPr id="18" name="Rounded Rectangle 17"/>
          <p:cNvSpPr/>
          <p:nvPr/>
        </p:nvSpPr>
        <p:spPr>
          <a:xfrm>
            <a:off x="4449093" y="1600769"/>
            <a:ext cx="1123328" cy="30847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Pytorch</a:t>
            </a:r>
          </a:p>
        </p:txBody>
      </p:sp>
      <p:sp>
        <p:nvSpPr>
          <p:cNvPr id="19" name="Rounded Rectangle 18"/>
          <p:cNvSpPr/>
          <p:nvPr/>
        </p:nvSpPr>
        <p:spPr>
          <a:xfrm>
            <a:off x="5660833" y="1600769"/>
            <a:ext cx="870333" cy="308472"/>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TF</a:t>
            </a:r>
          </a:p>
        </p:txBody>
      </p:sp>
      <p:sp>
        <p:nvSpPr>
          <p:cNvPr id="20" name="Rounded Rectangle 19"/>
          <p:cNvSpPr/>
          <p:nvPr/>
        </p:nvSpPr>
        <p:spPr>
          <a:xfrm>
            <a:off x="6619578" y="1600769"/>
            <a:ext cx="870333" cy="308472"/>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JAX</a:t>
            </a:r>
          </a:p>
        </p:txBody>
      </p:sp>
      <p:sp>
        <p:nvSpPr>
          <p:cNvPr id="21" name="Rounded Rectangle 20"/>
          <p:cNvSpPr/>
          <p:nvPr/>
        </p:nvSpPr>
        <p:spPr>
          <a:xfrm>
            <a:off x="4594951" y="2177365"/>
            <a:ext cx="2205899" cy="369331"/>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OpenXLA</a:t>
            </a:r>
          </a:p>
        </p:txBody>
      </p:sp>
      <p:sp>
        <p:nvSpPr>
          <p:cNvPr id="22" name="Rounded Rectangle 21"/>
          <p:cNvSpPr/>
          <p:nvPr/>
        </p:nvSpPr>
        <p:spPr>
          <a:xfrm>
            <a:off x="4449093" y="2825427"/>
            <a:ext cx="1123328" cy="30847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GPU</a:t>
            </a:r>
          </a:p>
        </p:txBody>
      </p:sp>
      <p:sp>
        <p:nvSpPr>
          <p:cNvPr id="23" name="Rounded Rectangle 22"/>
          <p:cNvSpPr/>
          <p:nvPr/>
        </p:nvSpPr>
        <p:spPr>
          <a:xfrm>
            <a:off x="5660832" y="2825427"/>
            <a:ext cx="870333" cy="308472"/>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TPU</a:t>
            </a:r>
          </a:p>
        </p:txBody>
      </p:sp>
      <p:sp>
        <p:nvSpPr>
          <p:cNvPr id="24" name="Rounded Rectangle 23"/>
          <p:cNvSpPr/>
          <p:nvPr/>
        </p:nvSpPr>
        <p:spPr>
          <a:xfrm>
            <a:off x="6619578" y="2814820"/>
            <a:ext cx="870333" cy="30847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CPU</a:t>
            </a:r>
          </a:p>
        </p:txBody>
      </p:sp>
      <p:cxnSp>
        <p:nvCxnSpPr>
          <p:cNvPr id="28" name="Straight Arrow Connector 27"/>
          <p:cNvCxnSpPr>
            <a:stCxn id="19" idx="2"/>
            <a:endCxn id="21" idx="0"/>
          </p:cNvCxnSpPr>
          <p:nvPr/>
        </p:nvCxnSpPr>
        <p:spPr>
          <a:xfrm flipH="1">
            <a:off x="5697901" y="1909241"/>
            <a:ext cx="398099" cy="268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8" idx="2"/>
            <a:endCxn id="21" idx="0"/>
          </p:cNvCxnSpPr>
          <p:nvPr/>
        </p:nvCxnSpPr>
        <p:spPr>
          <a:xfrm>
            <a:off x="5010757" y="1909241"/>
            <a:ext cx="687144" cy="268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20" idx="2"/>
            <a:endCxn id="21" idx="0"/>
          </p:cNvCxnSpPr>
          <p:nvPr/>
        </p:nvCxnSpPr>
        <p:spPr>
          <a:xfrm flipH="1">
            <a:off x="5697901" y="1909241"/>
            <a:ext cx="1356844" cy="268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1" idx="2"/>
            <a:endCxn id="22" idx="0"/>
          </p:cNvCxnSpPr>
          <p:nvPr/>
        </p:nvCxnSpPr>
        <p:spPr>
          <a:xfrm flipH="1">
            <a:off x="5010757" y="2546696"/>
            <a:ext cx="687144" cy="278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1" idx="2"/>
            <a:endCxn id="23" idx="0"/>
          </p:cNvCxnSpPr>
          <p:nvPr/>
        </p:nvCxnSpPr>
        <p:spPr>
          <a:xfrm>
            <a:off x="5697901" y="2546696"/>
            <a:ext cx="398098" cy="278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1" idx="2"/>
            <a:endCxn id="24" idx="0"/>
          </p:cNvCxnSpPr>
          <p:nvPr/>
        </p:nvCxnSpPr>
        <p:spPr>
          <a:xfrm>
            <a:off x="5697901" y="2546696"/>
            <a:ext cx="1356844" cy="268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a:xfrm>
            <a:off x="2090217" y="2306180"/>
            <a:ext cx="1743096" cy="30847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r"/>
            <a:r>
              <a:rPr lang="en-US" sz="1600" dirty="0"/>
              <a:t>MLIR</a:t>
            </a:r>
          </a:p>
        </p:txBody>
      </p:sp>
      <p:sp>
        <p:nvSpPr>
          <p:cNvPr id="47" name="Rounded Rectangle 46"/>
          <p:cNvSpPr/>
          <p:nvPr/>
        </p:nvSpPr>
        <p:spPr>
          <a:xfrm>
            <a:off x="1528553" y="1600769"/>
            <a:ext cx="1123328" cy="308472"/>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Pytorch</a:t>
            </a:r>
          </a:p>
        </p:txBody>
      </p:sp>
      <p:sp>
        <p:nvSpPr>
          <p:cNvPr id="50" name="Rounded Rectangle 49"/>
          <p:cNvSpPr/>
          <p:nvPr/>
        </p:nvSpPr>
        <p:spPr>
          <a:xfrm>
            <a:off x="937138" y="2166758"/>
            <a:ext cx="2205899" cy="369331"/>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Triton</a:t>
            </a:r>
          </a:p>
        </p:txBody>
      </p:sp>
      <p:sp>
        <p:nvSpPr>
          <p:cNvPr id="51" name="Rounded Rectangle 50"/>
          <p:cNvSpPr/>
          <p:nvPr/>
        </p:nvSpPr>
        <p:spPr>
          <a:xfrm>
            <a:off x="1432193" y="2814820"/>
            <a:ext cx="1123328" cy="308472"/>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GPU</a:t>
            </a:r>
          </a:p>
        </p:txBody>
      </p:sp>
      <p:cxnSp>
        <p:nvCxnSpPr>
          <p:cNvPr id="55" name="Straight Arrow Connector 54"/>
          <p:cNvCxnSpPr>
            <a:stCxn id="47" idx="2"/>
            <a:endCxn id="50" idx="0"/>
          </p:cNvCxnSpPr>
          <p:nvPr/>
        </p:nvCxnSpPr>
        <p:spPr>
          <a:xfrm flipH="1">
            <a:off x="2040088" y="1909241"/>
            <a:ext cx="50129" cy="257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50" idx="2"/>
            <a:endCxn id="51" idx="0"/>
          </p:cNvCxnSpPr>
          <p:nvPr/>
        </p:nvCxnSpPr>
        <p:spPr>
          <a:xfrm flipH="1">
            <a:off x="1993857" y="2536089"/>
            <a:ext cx="46231" cy="278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Rounded Rectangle 63"/>
          <p:cNvSpPr/>
          <p:nvPr/>
        </p:nvSpPr>
        <p:spPr>
          <a:xfrm>
            <a:off x="9821649" y="2306180"/>
            <a:ext cx="1743096" cy="30847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r"/>
            <a:r>
              <a:rPr lang="en-US" sz="1600" dirty="0"/>
              <a:t>MLIR</a:t>
            </a:r>
          </a:p>
        </p:txBody>
      </p:sp>
      <p:sp>
        <p:nvSpPr>
          <p:cNvPr id="65" name="Rounded Rectangle 64"/>
          <p:cNvSpPr/>
          <p:nvPr/>
        </p:nvSpPr>
        <p:spPr>
          <a:xfrm>
            <a:off x="8668570" y="2166758"/>
            <a:ext cx="2205899" cy="369331"/>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Mojo</a:t>
            </a:r>
          </a:p>
        </p:txBody>
      </p:sp>
      <p:sp>
        <p:nvSpPr>
          <p:cNvPr id="66" name="Rounded Rectangle 65"/>
          <p:cNvSpPr/>
          <p:nvPr/>
        </p:nvSpPr>
        <p:spPr>
          <a:xfrm>
            <a:off x="8507403" y="2823700"/>
            <a:ext cx="1123328" cy="30847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GPU</a:t>
            </a:r>
          </a:p>
        </p:txBody>
      </p:sp>
      <p:sp>
        <p:nvSpPr>
          <p:cNvPr id="67" name="Rounded Rectangle 66"/>
          <p:cNvSpPr/>
          <p:nvPr/>
        </p:nvSpPr>
        <p:spPr>
          <a:xfrm>
            <a:off x="9719142" y="2823700"/>
            <a:ext cx="870333" cy="308472"/>
          </a:xfrm>
          <a:prstGeom prst="roundRect">
            <a:avLst/>
          </a:prstGeom>
          <a:no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a:t>
            </a:r>
          </a:p>
        </p:txBody>
      </p:sp>
      <p:sp>
        <p:nvSpPr>
          <p:cNvPr id="68" name="Rounded Rectangle 67"/>
          <p:cNvSpPr/>
          <p:nvPr/>
        </p:nvSpPr>
        <p:spPr>
          <a:xfrm>
            <a:off x="10677888" y="2813093"/>
            <a:ext cx="870333" cy="308472"/>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dirty="0"/>
              <a:t>CPU</a:t>
            </a:r>
          </a:p>
        </p:txBody>
      </p:sp>
      <p:cxnSp>
        <p:nvCxnSpPr>
          <p:cNvPr id="69" name="Straight Arrow Connector 68"/>
          <p:cNvCxnSpPr>
            <a:stCxn id="65" idx="2"/>
            <a:endCxn id="66" idx="0"/>
          </p:cNvCxnSpPr>
          <p:nvPr/>
        </p:nvCxnSpPr>
        <p:spPr>
          <a:xfrm flipH="1">
            <a:off x="9069067" y="2536089"/>
            <a:ext cx="702453" cy="287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5" idx="2"/>
            <a:endCxn id="68" idx="0"/>
          </p:cNvCxnSpPr>
          <p:nvPr/>
        </p:nvCxnSpPr>
        <p:spPr>
          <a:xfrm>
            <a:off x="9771520" y="2536089"/>
            <a:ext cx="1341535" cy="277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65" idx="2"/>
            <a:endCxn id="67" idx="0"/>
          </p:cNvCxnSpPr>
          <p:nvPr/>
        </p:nvCxnSpPr>
        <p:spPr>
          <a:xfrm>
            <a:off x="9771520" y="2536089"/>
            <a:ext cx="382789" cy="287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Rounded Rectangle 78"/>
          <p:cNvSpPr/>
          <p:nvPr/>
        </p:nvSpPr>
        <p:spPr>
          <a:xfrm>
            <a:off x="8584925" y="5966668"/>
            <a:ext cx="400497" cy="308472"/>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600" dirty="0"/>
          </a:p>
        </p:txBody>
      </p:sp>
      <p:sp>
        <p:nvSpPr>
          <p:cNvPr id="80" name="Rounded Rectangle 79"/>
          <p:cNvSpPr/>
          <p:nvPr/>
        </p:nvSpPr>
        <p:spPr>
          <a:xfrm>
            <a:off x="9151376" y="5966668"/>
            <a:ext cx="400497" cy="308472"/>
          </a:xfrm>
          <a:prstGeom prst="round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600" dirty="0"/>
          </a:p>
        </p:txBody>
      </p:sp>
      <p:cxnSp>
        <p:nvCxnSpPr>
          <p:cNvPr id="81" name="Straight Arrow Connector 80"/>
          <p:cNvCxnSpPr>
            <a:stCxn id="79" idx="3"/>
            <a:endCxn id="80" idx="1"/>
          </p:cNvCxnSpPr>
          <p:nvPr/>
        </p:nvCxnSpPr>
        <p:spPr>
          <a:xfrm>
            <a:off x="8985422" y="6120904"/>
            <a:ext cx="1659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9630962" y="5968194"/>
            <a:ext cx="2309495" cy="306705"/>
          </a:xfrm>
          <a:prstGeom prst="rect">
            <a:avLst/>
          </a:prstGeom>
          <a:noFill/>
        </p:spPr>
        <p:txBody>
          <a:bodyPr wrap="none" rtlCol="0">
            <a:spAutoFit/>
          </a:bodyPr>
          <a:lstStyle/>
          <a:p>
            <a:pPr algn="l"/>
            <a:r>
              <a:rPr lang="en-US" altLang="zh-CN" sz="1400" dirty="0"/>
              <a:t>represent the Primary Path</a:t>
            </a:r>
          </a:p>
        </p:txBody>
      </p:sp>
      <p:sp>
        <p:nvSpPr>
          <p:cNvPr id="85" name="TextBox 84"/>
          <p:cNvSpPr txBox="1"/>
          <p:nvPr/>
        </p:nvSpPr>
        <p:spPr>
          <a:xfrm>
            <a:off x="523875" y="3279140"/>
            <a:ext cx="3453765" cy="1529715"/>
          </a:xfrm>
          <a:prstGeom prst="rect">
            <a:avLst/>
          </a:prstGeom>
          <a:noFill/>
        </p:spPr>
        <p:txBody>
          <a:bodyPr wrap="square" rtlCol="0">
            <a:spAutoFit/>
          </a:bodyPr>
          <a:lstStyle/>
          <a:p>
            <a:pPr algn="l">
              <a:lnSpc>
                <a:spcPct val="130000"/>
              </a:lnSpc>
            </a:pPr>
            <a:r>
              <a:rPr lang="en-US" altLang="zh-CN" sz="1200" dirty="0"/>
              <a:t>AA: Next-generation kernel programming model.</a:t>
            </a:r>
          </a:p>
          <a:p>
            <a:pPr algn="l">
              <a:lnSpc>
                <a:spcPct val="130000"/>
              </a:lnSpc>
            </a:pPr>
            <a:r>
              <a:rPr lang="en-US" altLang="zh-CN" sz="1200" dirty="0"/>
              <a:t>IE: Leading; achieves high hardware utilization.</a:t>
            </a:r>
          </a:p>
          <a:p>
            <a:pPr algn="l">
              <a:lnSpc>
                <a:spcPct val="130000"/>
              </a:lnSpc>
            </a:pPr>
            <a:r>
              <a:rPr lang="en-US" altLang="zh-CN" sz="1200" dirty="0"/>
              <a:t>IQ: Robust; high-quality software infrastructure.</a:t>
            </a:r>
          </a:p>
          <a:p>
            <a:pPr algn="l">
              <a:lnSpc>
                <a:spcPct val="130000"/>
              </a:lnSpc>
            </a:pPr>
            <a:r>
              <a:rPr lang="en-US" altLang="zh-CN" sz="1200" dirty="0"/>
              <a:t>P: Superior to CUDA; significantly lowers the development barrier.</a:t>
            </a:r>
          </a:p>
          <a:p>
            <a:pPr algn="l">
              <a:lnSpc>
                <a:spcPct val="130000"/>
              </a:lnSpc>
            </a:pPr>
            <a:r>
              <a:rPr lang="en-US" altLang="zh-CN" sz="1200" dirty="0"/>
              <a:t>C: Native support within the PyTorch ecosystem.</a:t>
            </a:r>
          </a:p>
        </p:txBody>
      </p:sp>
      <p:sp>
        <p:nvSpPr>
          <p:cNvPr id="86" name="TextBox 85"/>
          <p:cNvSpPr txBox="1"/>
          <p:nvPr/>
        </p:nvSpPr>
        <p:spPr>
          <a:xfrm>
            <a:off x="4053205" y="3279140"/>
            <a:ext cx="4465955" cy="1861185"/>
          </a:xfrm>
          <a:prstGeom prst="rect">
            <a:avLst/>
          </a:prstGeom>
          <a:noFill/>
        </p:spPr>
        <p:txBody>
          <a:bodyPr wrap="square" rtlCol="0">
            <a:spAutoFit/>
          </a:bodyPr>
          <a:lstStyle/>
          <a:p>
            <a:pPr algn="l">
              <a:lnSpc>
                <a:spcPct val="120000"/>
              </a:lnSpc>
            </a:pPr>
            <a:r>
              <a:rPr lang="en-US" altLang="zh-CN" sz="1200" dirty="0"/>
              <a:t>AA: Overall generational lead, but lacks fine-grained kernel programming capabilities.</a:t>
            </a:r>
          </a:p>
          <a:p>
            <a:pPr algn="l">
              <a:lnSpc>
                <a:spcPct val="120000"/>
              </a:lnSpc>
            </a:pPr>
            <a:r>
              <a:rPr lang="en-US" altLang="zh-CN" sz="1200" dirty="0"/>
              <a:t>IE: Leading, though GPU performance remains inferior to Triton.</a:t>
            </a:r>
          </a:p>
          <a:p>
            <a:pPr algn="l">
              <a:lnSpc>
                <a:spcPct val="120000"/>
              </a:lnSpc>
            </a:pPr>
            <a:r>
              <a:rPr lang="en-US" altLang="zh-CN" sz="1200" dirty="0"/>
              <a:t>IQ: Solid; reliable for secondary development.</a:t>
            </a:r>
          </a:p>
          <a:p>
            <a:pPr algn="l">
              <a:lnSpc>
                <a:spcPct val="120000"/>
              </a:lnSpc>
            </a:pPr>
            <a:r>
              <a:rPr lang="en-US" altLang="zh-CN" sz="1200" dirty="0"/>
              <a:t>P: Kernel programming model heavily draws inspiration from Triton.</a:t>
            </a:r>
          </a:p>
          <a:p>
            <a:pPr algn="l">
              <a:lnSpc>
                <a:spcPct val="120000"/>
              </a:lnSpc>
            </a:pPr>
            <a:r>
              <a:rPr lang="en-US" altLang="zh-CN" sz="1200" dirty="0"/>
              <a:t>C: Strong support for TensorFlow and JAX; lacks native PyTorch support (requires model exportation).</a:t>
            </a:r>
          </a:p>
        </p:txBody>
      </p:sp>
      <p:sp>
        <p:nvSpPr>
          <p:cNvPr id="87" name="TextBox 86"/>
          <p:cNvSpPr txBox="1"/>
          <p:nvPr/>
        </p:nvSpPr>
        <p:spPr>
          <a:xfrm>
            <a:off x="8507095" y="3279140"/>
            <a:ext cx="3433445" cy="2082165"/>
          </a:xfrm>
          <a:prstGeom prst="rect">
            <a:avLst/>
          </a:prstGeom>
          <a:noFill/>
        </p:spPr>
        <p:txBody>
          <a:bodyPr wrap="square" rtlCol="0">
            <a:spAutoFit/>
          </a:bodyPr>
          <a:lstStyle/>
          <a:p>
            <a:pPr algn="l">
              <a:lnSpc>
                <a:spcPct val="120000"/>
              </a:lnSpc>
            </a:pPr>
            <a:r>
              <a:rPr lang="en-US" altLang="zh-CN" sz="1200" dirty="0"/>
              <a:t>AA: Leading by two generations in design philosophy.</a:t>
            </a:r>
          </a:p>
          <a:p>
            <a:pPr algn="l">
              <a:lnSpc>
                <a:spcPct val="120000"/>
              </a:lnSpc>
            </a:pPr>
            <a:r>
              <a:rPr lang="en-US" altLang="zh-CN" sz="1200" dirty="0"/>
              <a:t>IE: Currently lacking; primarily supports CPU execution.</a:t>
            </a:r>
          </a:p>
          <a:p>
            <a:pPr algn="l">
              <a:lnSpc>
                <a:spcPct val="120000"/>
              </a:lnSpc>
            </a:pPr>
            <a:r>
              <a:rPr lang="en-US" altLang="zh-CN" sz="1200" dirty="0"/>
              <a:t>IQ: Closed-source at present, but backed by a world-class technical team.</a:t>
            </a:r>
          </a:p>
          <a:p>
            <a:pPr algn="l">
              <a:lnSpc>
                <a:spcPct val="120000"/>
              </a:lnSpc>
            </a:pPr>
            <a:r>
              <a:rPr lang="en-US" altLang="zh-CN" sz="1200" dirty="0"/>
              <a:t>P: Introduces a novel programming model; limited user feedback for validation.</a:t>
            </a:r>
          </a:p>
          <a:p>
            <a:pPr algn="l">
              <a:lnSpc>
                <a:spcPct val="120000"/>
              </a:lnSpc>
            </a:pPr>
            <a:r>
              <a:rPr lang="en-US" altLang="zh-CN" sz="1200" dirty="0"/>
              <a:t>C: No mainstream framework support as of yet.</a:t>
            </a:r>
          </a:p>
        </p:txBody>
      </p:sp>
      <p:sp>
        <p:nvSpPr>
          <p:cNvPr id="89" name="TextBox 88"/>
          <p:cNvSpPr txBox="1"/>
          <p:nvPr/>
        </p:nvSpPr>
        <p:spPr>
          <a:xfrm>
            <a:off x="2555521" y="948450"/>
            <a:ext cx="1198245" cy="368300"/>
          </a:xfrm>
          <a:prstGeom prst="rect">
            <a:avLst/>
          </a:prstGeom>
          <a:noFill/>
        </p:spPr>
        <p:txBody>
          <a:bodyPr wrap="none" rtlCol="0">
            <a:spAutoFit/>
          </a:bodyPr>
          <a:lstStyle/>
          <a:p>
            <a:r>
              <a:rPr lang="en-US" altLang="zh-CN" dirty="0">
                <a:solidFill>
                  <a:srgbClr val="FF0000"/>
                </a:solidFill>
              </a:rPr>
              <a:t>By OpenAI</a:t>
            </a:r>
            <a:endParaRPr lang="en-US" dirty="0">
              <a:solidFill>
                <a:srgbClr val="FF0000"/>
              </a:solidFill>
            </a:endParaRPr>
          </a:p>
        </p:txBody>
      </p:sp>
      <p:sp>
        <p:nvSpPr>
          <p:cNvPr id="90" name="TextBox 89"/>
          <p:cNvSpPr txBox="1"/>
          <p:nvPr/>
        </p:nvSpPr>
        <p:spPr>
          <a:xfrm>
            <a:off x="6410770" y="934731"/>
            <a:ext cx="1170305" cy="368300"/>
          </a:xfrm>
          <a:prstGeom prst="rect">
            <a:avLst/>
          </a:prstGeom>
          <a:noFill/>
        </p:spPr>
        <p:txBody>
          <a:bodyPr wrap="none" rtlCol="0">
            <a:spAutoFit/>
          </a:bodyPr>
          <a:lstStyle/>
          <a:p>
            <a:r>
              <a:rPr lang="en-US" altLang="zh-CN" dirty="0">
                <a:solidFill>
                  <a:srgbClr val="FF0000"/>
                </a:solidFill>
              </a:rPr>
              <a:t>By Google</a:t>
            </a:r>
            <a:endParaRPr lang="en-US" dirty="0">
              <a:solidFill>
                <a:srgbClr val="FF0000"/>
              </a:solidFill>
            </a:endParaRPr>
          </a:p>
        </p:txBody>
      </p:sp>
      <p:sp>
        <p:nvSpPr>
          <p:cNvPr id="91" name="TextBox 90"/>
          <p:cNvSpPr txBox="1"/>
          <p:nvPr/>
        </p:nvSpPr>
        <p:spPr>
          <a:xfrm>
            <a:off x="9862126" y="956108"/>
            <a:ext cx="1295400" cy="368300"/>
          </a:xfrm>
          <a:prstGeom prst="rect">
            <a:avLst/>
          </a:prstGeom>
          <a:noFill/>
        </p:spPr>
        <p:txBody>
          <a:bodyPr wrap="none" rtlCol="0">
            <a:spAutoFit/>
          </a:bodyPr>
          <a:lstStyle/>
          <a:p>
            <a:r>
              <a:rPr lang="en-US" altLang="zh-CN" dirty="0">
                <a:solidFill>
                  <a:srgbClr val="FF0000"/>
                </a:solidFill>
              </a:rPr>
              <a:t>By Modular</a:t>
            </a:r>
            <a:endParaRPr lang="en-US" dirty="0">
              <a:solidFill>
                <a:srgbClr val="FF0000"/>
              </a:solidFil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Triton Language &amp; Compiler</a:t>
            </a:r>
            <a:endParaRPr lang="en-US"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6</a:t>
            </a:fld>
            <a:endParaRPr lang="zh-CN" altLang="en-US" dirty="0"/>
          </a:p>
        </p:txBody>
      </p:sp>
      <p:sp>
        <p:nvSpPr>
          <p:cNvPr id="3" name="内容占位符 2"/>
          <p:cNvSpPr>
            <a:spLocks noGrp="1"/>
          </p:cNvSpPr>
          <p:nvPr>
            <p:ph sz="quarter" idx="13"/>
          </p:nvPr>
        </p:nvSpPr>
        <p:spPr/>
        <p:txBody>
          <a:bodyPr/>
          <a:lstStyle/>
          <a:p>
            <a:endParaRPr lang="zh-CN" altLang="en-US"/>
          </a:p>
        </p:txBody>
      </p:sp>
      <p:sp>
        <p:nvSpPr>
          <p:cNvPr id="25" name="文本框 24"/>
          <p:cNvSpPr txBox="1"/>
          <p:nvPr/>
        </p:nvSpPr>
        <p:spPr>
          <a:xfrm>
            <a:off x="2673250" y="1105365"/>
            <a:ext cx="8391577" cy="5492750"/>
          </a:xfrm>
          <a:prstGeom prst="rect">
            <a:avLst/>
          </a:prstGeom>
          <a:noFill/>
        </p:spPr>
        <p:txBody>
          <a:bodyPr wrap="square" rtlCol="0">
            <a:spAutoFit/>
          </a:bodyPr>
          <a:lstStyle/>
          <a:p>
            <a:pPr>
              <a:lnSpc>
                <a:spcPct val="150000"/>
              </a:lnSpc>
            </a:pPr>
            <a:r>
              <a:rPr kumimoji="1" lang="en-US" altLang="zh-CN" b="1" dirty="0">
                <a:latin typeface="微软雅黑" panose="020B0503020204020204" charset="-122"/>
                <a:ea typeface="微软雅黑" panose="020B0503020204020204" charset="-122"/>
              </a:rPr>
              <a:t>Triton Language</a:t>
            </a:r>
          </a:p>
          <a:p>
            <a:pPr>
              <a:lnSpc>
                <a:spcPct val="150000"/>
              </a:lnSpc>
            </a:pPr>
            <a:r>
              <a:rPr kumimoji="1" lang="en-US" altLang="zh-CN" dirty="0">
                <a:latin typeface="微软雅黑" panose="020B0503020204020204" charset="-122"/>
                <a:ea typeface="微软雅黑" panose="020B0503020204020204" charset="-122"/>
              </a:rPr>
              <a:t>Target: Domain-Specific Language (DSL) for parallel programming.</a:t>
            </a:r>
          </a:p>
          <a:p>
            <a:pPr>
              <a:lnSpc>
                <a:spcPct val="150000"/>
              </a:lnSpc>
            </a:pPr>
            <a:r>
              <a:rPr kumimoji="1" lang="en-US" altLang="zh-CN" dirty="0">
                <a:latin typeface="微软雅黑" panose="020B0503020204020204" charset="-122"/>
                <a:ea typeface="微软雅黑" panose="020B0503020204020204" charset="-122"/>
              </a:rPr>
              <a:t>Hardware: Modern GPUs and AI accelerators.</a:t>
            </a:r>
          </a:p>
          <a:p>
            <a:pPr>
              <a:lnSpc>
                <a:spcPct val="150000"/>
              </a:lnSpc>
            </a:pPr>
            <a:r>
              <a:rPr kumimoji="1" lang="en-US" altLang="zh-CN" dirty="0">
                <a:latin typeface="微软雅黑" panose="020B0503020204020204" charset="-122"/>
                <a:ea typeface="微软雅黑" panose="020B0503020204020204" charset="-122"/>
              </a:rPr>
              <a:t>Capability: High-performance neural network operator development.</a:t>
            </a:r>
          </a:p>
          <a:p>
            <a:pPr>
              <a:lnSpc>
                <a:spcPct val="150000"/>
              </a:lnSpc>
            </a:pPr>
            <a:endParaRPr kumimoji="1" lang="en-US" altLang="zh-CN" dirty="0">
              <a:latin typeface="微软雅黑" panose="020B0503020204020204" charset="-122"/>
              <a:ea typeface="微软雅黑" panose="020B0503020204020204" charset="-122"/>
            </a:endParaRPr>
          </a:p>
          <a:p>
            <a:pPr>
              <a:lnSpc>
                <a:spcPct val="150000"/>
              </a:lnSpc>
            </a:pPr>
            <a:r>
              <a:rPr kumimoji="1" lang="en-US" altLang="zh-CN" b="1" dirty="0">
                <a:latin typeface="微软雅黑" panose="020B0503020204020204" charset="-122"/>
                <a:ea typeface="微软雅黑" panose="020B0503020204020204" charset="-122"/>
              </a:rPr>
              <a:t>Triton Compiler</a:t>
            </a:r>
            <a:endParaRPr kumimoji="1" lang="en-US" altLang="zh-CN" dirty="0">
              <a:latin typeface="微软雅黑" panose="020B0503020204020204" charset="-122"/>
              <a:ea typeface="微软雅黑" panose="020B0503020204020204" charset="-122"/>
            </a:endParaRPr>
          </a:p>
          <a:p>
            <a:pPr>
              <a:lnSpc>
                <a:spcPct val="150000"/>
              </a:lnSpc>
            </a:pPr>
            <a:r>
              <a:rPr kumimoji="1" lang="en-US" altLang="zh-CN" dirty="0">
                <a:latin typeface="微软雅黑" panose="020B0503020204020204" charset="-122"/>
                <a:ea typeface="微软雅黑" panose="020B0503020204020204" charset="-122"/>
              </a:rPr>
              <a:t>Core Task: Translates Triton DSL into optimized machine code.</a:t>
            </a:r>
          </a:p>
          <a:p>
            <a:pPr>
              <a:lnSpc>
                <a:spcPct val="150000"/>
              </a:lnSpc>
            </a:pPr>
            <a:r>
              <a:rPr kumimoji="1" lang="en-US" altLang="zh-CN" dirty="0">
                <a:latin typeface="微软雅黑" panose="020B0503020204020204" charset="-122"/>
                <a:ea typeface="微软雅黑" panose="020B0503020204020204" charset="-122"/>
              </a:rPr>
              <a:t>Function: Performs advanced static analysis and hardware-specific optimizations.</a:t>
            </a:r>
          </a:p>
          <a:p>
            <a:pPr>
              <a:lnSpc>
                <a:spcPct val="150000"/>
              </a:lnSpc>
            </a:pPr>
            <a:endParaRPr kumimoji="1" lang="en-US" altLang="zh-CN" dirty="0">
              <a:latin typeface="微软雅黑" panose="020B0503020204020204" charset="-122"/>
              <a:ea typeface="微软雅黑" panose="020B0503020204020204" charset="-122"/>
            </a:endParaRPr>
          </a:p>
          <a:p>
            <a:pPr>
              <a:lnSpc>
                <a:spcPct val="150000"/>
              </a:lnSpc>
            </a:pPr>
            <a:r>
              <a:rPr kumimoji="1" lang="en-US" altLang="zh-CN" b="1" dirty="0">
                <a:latin typeface="微软雅黑" panose="020B0503020204020204" charset="-122"/>
                <a:ea typeface="微软雅黑" panose="020B0503020204020204" charset="-122"/>
              </a:rPr>
              <a:t>Resources</a:t>
            </a:r>
          </a:p>
          <a:p>
            <a:pPr>
              <a:lnSpc>
                <a:spcPct val="150000"/>
              </a:lnSpc>
            </a:pPr>
            <a:r>
              <a:rPr kumimoji="1" lang="en-US" altLang="zh-CN" dirty="0">
                <a:latin typeface="微软雅黑" panose="020B0503020204020204" charset="-122"/>
                <a:ea typeface="微软雅黑" panose="020B0503020204020204" charset="-122"/>
              </a:rPr>
              <a:t>GitHub: triton-lang/triton</a:t>
            </a:r>
          </a:p>
          <a:p>
            <a:pPr>
              <a:lnSpc>
                <a:spcPct val="150000"/>
              </a:lnSpc>
            </a:pPr>
            <a:r>
              <a:rPr kumimoji="1" lang="en-US" altLang="zh-CN" dirty="0">
                <a:latin typeface="微软雅黑" panose="020B0503020204020204" charset="-122"/>
                <a:ea typeface="微软雅黑" panose="020B0503020204020204" charset="-122"/>
              </a:rPr>
              <a:t>Docs: triton-lang.org</a:t>
            </a:r>
          </a:p>
        </p:txBody>
      </p:sp>
      <p:pic>
        <p:nvPicPr>
          <p:cNvPr id="1026" name="Picture 2" descr="Triton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8985" y="4957046"/>
            <a:ext cx="1369970" cy="1556784"/>
          </a:xfrm>
          <a:prstGeom prst="rect">
            <a:avLst/>
          </a:prstGeom>
          <a:noFill/>
          <a:extLst>
            <a:ext uri="{909E8E84-426E-40DD-AFC4-6F175D3DCCD1}">
              <a14:hiddenFill xmlns:a14="http://schemas.microsoft.com/office/drawing/2010/main">
                <a:solidFill>
                  <a:srgbClr val="FFFFFF"/>
                </a:solidFill>
              </a14:hiddenFill>
            </a:ext>
          </a:extLst>
        </p:spPr>
      </p:pic>
      <p:pic>
        <p:nvPicPr>
          <p:cNvPr id="6" name="图形 5" descr="女程序员 纯色填充"/>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5821" y="1266340"/>
            <a:ext cx="764287" cy="764287"/>
          </a:xfrm>
          <a:prstGeom prst="rect">
            <a:avLst/>
          </a:prstGeom>
        </p:spPr>
      </p:pic>
      <p:pic>
        <p:nvPicPr>
          <p:cNvPr id="9" name="图形 8" descr="处理器 纯色填充"/>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35821" y="3348750"/>
            <a:ext cx="764287" cy="764287"/>
          </a:xfrm>
          <a:prstGeom prst="rect">
            <a:avLst/>
          </a:prstGeom>
        </p:spPr>
      </p:pic>
      <p:pic>
        <p:nvPicPr>
          <p:cNvPr id="20" name="图形 19" descr="链接 纯色填充"/>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35821" y="5353224"/>
            <a:ext cx="764287" cy="764287"/>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a:t>Triton Overview | Triton as a Programming Language</a:t>
            </a:r>
          </a:p>
        </p:txBody>
      </p:sp>
      <p:sp>
        <p:nvSpPr>
          <p:cNvPr id="10" name="灯片编号占位符 9"/>
          <p:cNvSpPr>
            <a:spLocks noGrp="1"/>
          </p:cNvSpPr>
          <p:nvPr>
            <p:ph type="sldNum" sz="quarter" idx="12"/>
          </p:nvPr>
        </p:nvSpPr>
        <p:spPr/>
        <p:txBody>
          <a:bodyPr/>
          <a:lstStyle/>
          <a:p>
            <a:fld id="{B33F7469-D28B-482F-B1B6-3B8E7CF51519}" type="slidenum">
              <a:rPr lang="zh-CN" altLang="en-US" smtClean="0"/>
              <a:t>7</a:t>
            </a:fld>
            <a:endParaRPr lang="zh-CN" altLang="en-US" dirty="0"/>
          </a:p>
        </p:txBody>
      </p:sp>
      <p:sp>
        <p:nvSpPr>
          <p:cNvPr id="2" name="内容占位符 1"/>
          <p:cNvSpPr>
            <a:spLocks noGrp="1"/>
          </p:cNvSpPr>
          <p:nvPr>
            <p:ph sz="quarter" idx="13"/>
          </p:nvPr>
        </p:nvSpPr>
        <p:spPr/>
        <p:txBody>
          <a:bodyPr/>
          <a:lstStyle/>
          <a:p>
            <a:endParaRPr lang="zh-CN" altLang="en-US"/>
          </a:p>
        </p:txBody>
      </p:sp>
      <p:sp>
        <p:nvSpPr>
          <p:cNvPr id="3" name="灯片编号占位符 4"/>
          <p:cNvSpPr txBox="1"/>
          <p:nvPr/>
        </p:nvSpPr>
        <p:spPr>
          <a:xfrm>
            <a:off x="11315785" y="6333924"/>
            <a:ext cx="4953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CC9FD4-7953-474F-BDDD-03B89B9227C0}" type="slidenum">
              <a:rPr lang="zh-CN" altLang="en-US" smtClean="0"/>
              <a:t>7</a:t>
            </a:fld>
            <a:endParaRPr lang="zh-CN" altLang="en-US" dirty="0"/>
          </a:p>
        </p:txBody>
      </p:sp>
      <p:pic>
        <p:nvPicPr>
          <p:cNvPr id="4" name="图片 3"/>
          <p:cNvPicPr>
            <a:picLocks noChangeAspect="1"/>
          </p:cNvPicPr>
          <p:nvPr/>
        </p:nvPicPr>
        <p:blipFill>
          <a:blip r:embed="rId4"/>
          <a:stretch>
            <a:fillRect/>
          </a:stretch>
        </p:blipFill>
        <p:spPr>
          <a:xfrm>
            <a:off x="2315210" y="1066165"/>
            <a:ext cx="7278370" cy="2362835"/>
          </a:xfrm>
          <a:prstGeom prst="rect">
            <a:avLst/>
          </a:prstGeom>
        </p:spPr>
      </p:pic>
      <p:sp>
        <p:nvSpPr>
          <p:cNvPr id="5" name="文本框 4"/>
          <p:cNvSpPr txBox="1"/>
          <p:nvPr/>
        </p:nvSpPr>
        <p:spPr>
          <a:xfrm>
            <a:off x="283210" y="3535045"/>
            <a:ext cx="6908800" cy="2913380"/>
          </a:xfrm>
          <a:prstGeom prst="rect">
            <a:avLst/>
          </a:prstGeom>
          <a:noFill/>
        </p:spPr>
        <p:txBody>
          <a:bodyPr wrap="square">
            <a:spAutoFit/>
          </a:bodyPr>
          <a:lstStyle/>
          <a:p>
            <a:pPr indent="0" algn="l">
              <a:lnSpc>
                <a:spcPct val="170000"/>
              </a:lnSpc>
              <a:buClrTx/>
              <a:buSzTx/>
              <a:buFont typeface="Arial" panose="020B0604020202020204" pitchFamily="34" charset="0"/>
              <a:buNone/>
            </a:pPr>
            <a:r>
              <a:rPr kumimoji="1" lang="en-US" altLang="zh-CN" sz="1200" dirty="0">
                <a:solidFill>
                  <a:srgbClr val="ED7D31"/>
                </a:solidFill>
                <a:latin typeface="微软雅黑" panose="020B0503020204020204" charset="-122"/>
                <a:ea typeface="微软雅黑" panose="020B0503020204020204" charset="-122"/>
              </a:rPr>
              <a:t>Challenges in GPU Programming</a:t>
            </a:r>
          </a:p>
          <a:p>
            <a:pPr indent="0" algn="l">
              <a:lnSpc>
                <a:spcPct val="170000"/>
              </a:lnSpc>
              <a:buClrTx/>
              <a:buSzTx/>
              <a:buFont typeface="Arial" panose="020B0604020202020204" pitchFamily="34" charset="0"/>
              <a:buNone/>
            </a:pPr>
            <a:r>
              <a:rPr kumimoji="1" lang="en-US" altLang="zh-CN" sz="1200" dirty="0">
                <a:latin typeface="微软雅黑" panose="020B0503020204020204" charset="-122"/>
                <a:ea typeface="微软雅黑" panose="020B0503020204020204" charset="-122"/>
              </a:rPr>
              <a:t>- Achieving peak performance in CUDA requires manual orchestration of DRAM, SRAM, and ALUs:</a:t>
            </a:r>
          </a:p>
          <a:p>
            <a:pPr indent="0" algn="l">
              <a:lnSpc>
                <a:spcPct val="170000"/>
              </a:lnSpc>
              <a:buClrTx/>
              <a:buSzTx/>
              <a:buFont typeface="Arial" panose="020B0604020202020204" pitchFamily="34" charset="0"/>
              <a:buNone/>
            </a:pPr>
            <a:r>
              <a:rPr kumimoji="1" lang="en-US" altLang="zh-CN" sz="1200" dirty="0">
                <a:latin typeface="微软雅黑" panose="020B0503020204020204" charset="-122"/>
                <a:ea typeface="微软雅黑" panose="020B0503020204020204" charset="-122"/>
              </a:rPr>
              <a:t>- </a:t>
            </a:r>
            <a:r>
              <a:rPr kumimoji="1" lang="en-US" altLang="zh-CN" sz="1200" b="1" dirty="0">
                <a:latin typeface="微软雅黑" panose="020B0503020204020204" charset="-122"/>
                <a:ea typeface="微软雅黑" panose="020B0503020204020204" charset="-122"/>
              </a:rPr>
              <a:t>Memory Coalescing: </a:t>
            </a:r>
            <a:r>
              <a:rPr kumimoji="1" lang="en-US" altLang="zh-CN" sz="1200" dirty="0">
                <a:latin typeface="微软雅黑" panose="020B0503020204020204" charset="-122"/>
                <a:ea typeface="微软雅黑" panose="020B0503020204020204" charset="-122"/>
              </a:rPr>
              <a:t>DRAM accesses must be coalesced to saturate available bandwidth.</a:t>
            </a:r>
          </a:p>
          <a:p>
            <a:pPr indent="0" algn="l">
              <a:lnSpc>
                <a:spcPct val="170000"/>
              </a:lnSpc>
              <a:buClrTx/>
              <a:buSzTx/>
              <a:buFont typeface="Arial" panose="020B0604020202020204" pitchFamily="34" charset="0"/>
              <a:buNone/>
            </a:pPr>
            <a:r>
              <a:rPr kumimoji="1" lang="en-US" altLang="zh-CN" sz="1200" dirty="0">
                <a:latin typeface="微软雅黑" panose="020B0503020204020204" charset="-122"/>
                <a:ea typeface="微软雅黑" panose="020B0503020204020204" charset="-122"/>
              </a:rPr>
              <a:t>- </a:t>
            </a:r>
            <a:r>
              <a:rPr kumimoji="1" lang="en-US" altLang="zh-CN" sz="1200" b="1" dirty="0">
                <a:latin typeface="微软雅黑" panose="020B0503020204020204" charset="-122"/>
                <a:ea typeface="微软雅黑" panose="020B0503020204020204" charset="-122"/>
              </a:rPr>
              <a:t>Shared Memory Management:</a:t>
            </a:r>
            <a:r>
              <a:rPr kumimoji="1" lang="en-US" altLang="zh-CN" sz="1200" dirty="0">
                <a:latin typeface="微软雅黑" panose="020B0503020204020204" charset="-122"/>
                <a:ea typeface="微软雅黑" panose="020B0503020204020204" charset="-122"/>
              </a:rPr>
              <a:t> Data must be manually staged and managed in SRAM to minimize bank conflicts during retrieval.</a:t>
            </a:r>
          </a:p>
          <a:p>
            <a:pPr indent="0" algn="l">
              <a:lnSpc>
                <a:spcPct val="170000"/>
              </a:lnSpc>
              <a:buClrTx/>
              <a:buSzTx/>
              <a:buFont typeface="Arial" panose="020B0604020202020204" pitchFamily="34" charset="0"/>
              <a:buNone/>
            </a:pPr>
            <a:r>
              <a:rPr kumimoji="1" lang="en-US" altLang="zh-CN" sz="1200" dirty="0">
                <a:latin typeface="微软雅黑" panose="020B0503020204020204" charset="-122"/>
                <a:ea typeface="微软雅黑" panose="020B0503020204020204" charset="-122"/>
              </a:rPr>
              <a:t>- </a:t>
            </a:r>
            <a:r>
              <a:rPr kumimoji="1" lang="en-US" altLang="zh-CN" sz="1200" b="1" dirty="0">
                <a:latin typeface="微软雅黑" panose="020B0503020204020204" charset="-122"/>
                <a:ea typeface="微软雅黑" panose="020B0503020204020204" charset="-122"/>
              </a:rPr>
              <a:t>Execution Scheduling:</a:t>
            </a:r>
            <a:r>
              <a:rPr kumimoji="1" lang="en-US" altLang="zh-CN" sz="1200" dirty="0">
                <a:latin typeface="微软雅黑" panose="020B0503020204020204" charset="-122"/>
                <a:ea typeface="微软雅黑" panose="020B0503020204020204" charset="-122"/>
              </a:rPr>
              <a:t> Computation must be precisely partitioned and scheduled—both across and within Streaming Multiprocessors (SMs)—to maximize Instruction/Thread-Level - </a:t>
            </a:r>
            <a:r>
              <a:rPr kumimoji="1" lang="en-US" altLang="zh-CN" sz="1200" b="1" dirty="0">
                <a:latin typeface="微软雅黑" panose="020B0503020204020204" charset="-122"/>
                <a:ea typeface="微软雅黑" panose="020B0503020204020204" charset="-122"/>
              </a:rPr>
              <a:t>Parallelism (ILP/TLP)</a:t>
            </a:r>
            <a:r>
              <a:rPr kumimoji="1" lang="en-US" altLang="zh-CN" sz="1200" dirty="0">
                <a:latin typeface="微软雅黑" panose="020B0503020204020204" charset="-122"/>
                <a:ea typeface="微软雅黑" panose="020B0503020204020204" charset="-122"/>
              </a:rPr>
              <a:t> and leverage specialized units like Tensor Cores.</a:t>
            </a:r>
          </a:p>
        </p:txBody>
      </p:sp>
      <p:graphicFrame>
        <p:nvGraphicFramePr>
          <p:cNvPr id="7" name="表格 6"/>
          <p:cNvGraphicFramePr>
            <a:graphicFrameLocks noGrp="1"/>
          </p:cNvGraphicFramePr>
          <p:nvPr>
            <p:custDataLst>
              <p:tags r:id="rId1"/>
            </p:custDataLst>
          </p:nvPr>
        </p:nvGraphicFramePr>
        <p:xfrm>
          <a:off x="7499350" y="3800475"/>
          <a:ext cx="4311650" cy="2383155"/>
        </p:xfrm>
        <a:graphic>
          <a:graphicData uri="http://schemas.openxmlformats.org/drawingml/2006/table">
            <a:tbl>
              <a:tblPr firstRow="1" bandRow="1">
                <a:tableStyleId>{0E3FDE45-AF77-4B5C-9715-49D594BDF05E}</a:tableStyleId>
              </a:tblPr>
              <a:tblGrid>
                <a:gridCol w="2075180">
                  <a:extLst>
                    <a:ext uri="{9D8B030D-6E8A-4147-A177-3AD203B41FA5}">
                      <a16:colId xmlns:a16="http://schemas.microsoft.com/office/drawing/2014/main" val="20000"/>
                    </a:ext>
                  </a:extLst>
                </a:gridCol>
                <a:gridCol w="977265">
                  <a:extLst>
                    <a:ext uri="{9D8B030D-6E8A-4147-A177-3AD203B41FA5}">
                      <a16:colId xmlns:a16="http://schemas.microsoft.com/office/drawing/2014/main" val="20001"/>
                    </a:ext>
                  </a:extLst>
                </a:gridCol>
                <a:gridCol w="1259205">
                  <a:extLst>
                    <a:ext uri="{9D8B030D-6E8A-4147-A177-3AD203B41FA5}">
                      <a16:colId xmlns:a16="http://schemas.microsoft.com/office/drawing/2014/main" val="20002"/>
                    </a:ext>
                  </a:extLst>
                </a:gridCol>
              </a:tblGrid>
              <a:tr h="305435">
                <a:tc>
                  <a:txBody>
                    <a:bodyPr/>
                    <a:lstStyle/>
                    <a:p>
                      <a:endParaRPr lang="zh-CN" altLang="en-US" sz="1400" dirty="0"/>
                    </a:p>
                  </a:txBody>
                  <a:tcPr anchor="ctr"/>
                </a:tc>
                <a:tc>
                  <a:txBody>
                    <a:bodyPr/>
                    <a:lstStyle/>
                    <a:p>
                      <a:r>
                        <a:rPr lang="en-US" altLang="zh-CN" sz="1400" dirty="0"/>
                        <a:t>CUDA</a:t>
                      </a:r>
                      <a:endParaRPr lang="zh-CN" altLang="en-US" sz="1400" dirty="0"/>
                    </a:p>
                  </a:txBody>
                  <a:tcPr anchor="ctr"/>
                </a:tc>
                <a:tc>
                  <a:txBody>
                    <a:bodyPr/>
                    <a:lstStyle/>
                    <a:p>
                      <a:r>
                        <a:rPr lang="en-US" altLang="zh-CN" sz="1400" dirty="0"/>
                        <a:t>Triton</a:t>
                      </a:r>
                      <a:endParaRPr lang="zh-CN" altLang="en-US" sz="1400" dirty="0"/>
                    </a:p>
                  </a:txBody>
                  <a:tcPr anchor="ctr"/>
                </a:tc>
                <a:extLst>
                  <a:ext uri="{0D108BD9-81ED-4DB2-BD59-A6C34878D82A}">
                    <a16:rowId xmlns:a16="http://schemas.microsoft.com/office/drawing/2014/main" val="10000"/>
                  </a:ext>
                </a:extLst>
              </a:tr>
              <a:tr h="52133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Memory Coalescing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Manual</a:t>
                      </a:r>
                    </a:p>
                  </a:txBody>
                  <a:tcPr anchor="ctr"/>
                </a:tc>
                <a:tc>
                  <a:txBody>
                    <a:bodyPr/>
                    <a:lstStyle/>
                    <a:p>
                      <a:r>
                        <a:rPr lang="en-US" altLang="zh-CN" sz="1400" dirty="0"/>
                        <a:t>Automatic</a:t>
                      </a:r>
                    </a:p>
                  </a:txBody>
                  <a:tcPr anchor="ctr"/>
                </a:tc>
                <a:extLst>
                  <a:ext uri="{0D108BD9-81ED-4DB2-BD59-A6C34878D82A}">
                    <a16:rowId xmlns:a16="http://schemas.microsoft.com/office/drawing/2014/main" val="10001"/>
                  </a:ext>
                </a:extLst>
              </a:tr>
              <a:tr h="51879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Shared Memory Management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Manual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Automatic</a:t>
                      </a:r>
                    </a:p>
                  </a:txBody>
                  <a:tcPr anchor="ctr"/>
                </a:tc>
                <a:extLst>
                  <a:ext uri="{0D108BD9-81ED-4DB2-BD59-A6C34878D82A}">
                    <a16:rowId xmlns:a16="http://schemas.microsoft.com/office/drawing/2014/main" val="10002"/>
                  </a:ext>
                </a:extLst>
              </a:tr>
              <a:tr h="51879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Intra-SM Scheduling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Manual</a:t>
                      </a:r>
                    </a:p>
                  </a:txBody>
                  <a:tcPr anchor="ctr"/>
                </a:tc>
                <a:tc>
                  <a:txBody>
                    <a:bodyPr/>
                    <a:lstStyle/>
                    <a:p>
                      <a:r>
                        <a:rPr lang="en-US" altLang="zh-CN" sz="1400" dirty="0"/>
                        <a:t>Automatic</a:t>
                      </a:r>
                    </a:p>
                  </a:txBody>
                  <a:tcPr anchor="ctr"/>
                </a:tc>
                <a:extLst>
                  <a:ext uri="{0D108BD9-81ED-4DB2-BD59-A6C34878D82A}">
                    <a16:rowId xmlns:a16="http://schemas.microsoft.com/office/drawing/2014/main" val="10003"/>
                  </a:ext>
                </a:extLst>
              </a:tr>
              <a:tr h="51879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Inter-SM Scheduling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Manual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t>Manual</a:t>
                      </a:r>
                    </a:p>
                  </a:txBody>
                  <a:tcPr anchor="ct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a:t>Triton Open-Source Advantages</a:t>
            </a:r>
          </a:p>
        </p:txBody>
      </p:sp>
      <p:sp>
        <p:nvSpPr>
          <p:cNvPr id="4" name="Slide Number Placeholder 3"/>
          <p:cNvSpPr>
            <a:spLocks noGrp="1"/>
          </p:cNvSpPr>
          <p:nvPr>
            <p:ph type="sldNum" sz="quarter" idx="12"/>
          </p:nvPr>
        </p:nvSpPr>
        <p:spPr/>
        <p:txBody>
          <a:bodyPr/>
          <a:lstStyle/>
          <a:p>
            <a:r>
              <a:rPr lang="zh-CN" altLang="en-US"/>
              <a:t>*</a:t>
            </a:r>
          </a:p>
        </p:txBody>
      </p:sp>
      <p:sp>
        <p:nvSpPr>
          <p:cNvPr id="2" name="Text Placeholder 1"/>
          <p:cNvSpPr>
            <a:spLocks noGrp="1"/>
          </p:cNvSpPr>
          <p:nvPr>
            <p:ph sz="quarter" idx="13"/>
          </p:nvPr>
        </p:nvSpPr>
        <p:spPr/>
        <p:txBody>
          <a:bodyPr/>
          <a:lstStyle/>
          <a:p>
            <a:r>
              <a:rPr lang="en-US" altLang="zh-CN"/>
              <a:t>PyTorch Ecosystem Integration</a:t>
            </a:r>
          </a:p>
          <a:p>
            <a:r>
              <a:rPr lang="en-US" altLang="zh-CN"/>
              <a:t>Custom Operators for LLMs</a:t>
            </a:r>
          </a:p>
        </p:txBody>
      </p:sp>
      <p:cxnSp>
        <p:nvCxnSpPr>
          <p:cNvPr id="6" name="Straight Arrow Connector 5"/>
          <p:cNvCxnSpPr/>
          <p:nvPr/>
        </p:nvCxnSpPr>
        <p:spPr>
          <a:xfrm flipV="1">
            <a:off x="264577" y="5716228"/>
            <a:ext cx="10929654" cy="158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34"/>
          <p:cNvCxnSpPr>
            <a:stCxn id="10" idx="1"/>
          </p:cNvCxnSpPr>
          <p:nvPr/>
        </p:nvCxnSpPr>
        <p:spPr>
          <a:xfrm flipV="1">
            <a:off x="1869428" y="5715593"/>
            <a:ext cx="1276" cy="42541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69428" y="5956980"/>
            <a:ext cx="652780" cy="368300"/>
          </a:xfrm>
          <a:prstGeom prst="rect">
            <a:avLst/>
          </a:prstGeom>
          <a:noFill/>
        </p:spPr>
        <p:txBody>
          <a:bodyPr wrap="none" rtlCol="0">
            <a:spAutoFit/>
          </a:bodyPr>
          <a:lstStyle/>
          <a:p>
            <a:r>
              <a:rPr lang="en-US" altLang="zh-CN"/>
              <a:t>2016</a:t>
            </a:r>
            <a:endParaRPr lang="en-US"/>
          </a:p>
        </p:txBody>
      </p:sp>
      <p:cxnSp>
        <p:nvCxnSpPr>
          <p:cNvPr id="16" name="直接连接符 34"/>
          <p:cNvCxnSpPr/>
          <p:nvPr/>
        </p:nvCxnSpPr>
        <p:spPr>
          <a:xfrm flipV="1">
            <a:off x="3455296" y="5747837"/>
            <a:ext cx="0" cy="35621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455296" y="5956980"/>
            <a:ext cx="652780" cy="368300"/>
          </a:xfrm>
          <a:prstGeom prst="rect">
            <a:avLst/>
          </a:prstGeom>
          <a:noFill/>
        </p:spPr>
        <p:txBody>
          <a:bodyPr wrap="none" rtlCol="0">
            <a:spAutoFit/>
          </a:bodyPr>
          <a:lstStyle/>
          <a:p>
            <a:r>
              <a:rPr lang="en-US" altLang="zh-CN"/>
              <a:t>2018</a:t>
            </a:r>
            <a:endParaRPr lang="en-US"/>
          </a:p>
        </p:txBody>
      </p:sp>
      <p:cxnSp>
        <p:nvCxnSpPr>
          <p:cNvPr id="18" name="直接连接符 34"/>
          <p:cNvCxnSpPr/>
          <p:nvPr/>
        </p:nvCxnSpPr>
        <p:spPr>
          <a:xfrm flipV="1">
            <a:off x="4993937" y="5747837"/>
            <a:ext cx="0" cy="35621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993937" y="5956980"/>
            <a:ext cx="652780" cy="368300"/>
          </a:xfrm>
          <a:prstGeom prst="rect">
            <a:avLst/>
          </a:prstGeom>
          <a:noFill/>
        </p:spPr>
        <p:txBody>
          <a:bodyPr wrap="none" rtlCol="0">
            <a:spAutoFit/>
          </a:bodyPr>
          <a:lstStyle/>
          <a:p>
            <a:r>
              <a:rPr lang="en-US" altLang="zh-CN"/>
              <a:t>2020</a:t>
            </a:r>
            <a:endParaRPr lang="en-US"/>
          </a:p>
        </p:txBody>
      </p:sp>
      <p:cxnSp>
        <p:nvCxnSpPr>
          <p:cNvPr id="20" name="直接连接符 34"/>
          <p:cNvCxnSpPr/>
          <p:nvPr/>
        </p:nvCxnSpPr>
        <p:spPr>
          <a:xfrm flipV="1">
            <a:off x="8142063" y="5747837"/>
            <a:ext cx="0" cy="35621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42063" y="5956980"/>
            <a:ext cx="652780" cy="368300"/>
          </a:xfrm>
          <a:prstGeom prst="rect">
            <a:avLst/>
          </a:prstGeom>
          <a:noFill/>
        </p:spPr>
        <p:txBody>
          <a:bodyPr wrap="none" rtlCol="0">
            <a:spAutoFit/>
          </a:bodyPr>
          <a:lstStyle/>
          <a:p>
            <a:r>
              <a:rPr lang="en-US" altLang="zh-CN"/>
              <a:t>2023</a:t>
            </a:r>
            <a:endParaRPr lang="en-US"/>
          </a:p>
        </p:txBody>
      </p:sp>
      <p:sp>
        <p:nvSpPr>
          <p:cNvPr id="25" name="Freeform 24"/>
          <p:cNvSpPr/>
          <p:nvPr/>
        </p:nvSpPr>
        <p:spPr>
          <a:xfrm>
            <a:off x="1388297" y="2734778"/>
            <a:ext cx="4682169" cy="2057400"/>
          </a:xfrm>
          <a:custGeom>
            <a:avLst/>
            <a:gdLst>
              <a:gd name="connsiteX0" fmla="*/ 0 w 4682169"/>
              <a:gd name="connsiteY0" fmla="*/ 2060154 h 2060154"/>
              <a:gd name="connsiteX1" fmla="*/ 2677099 w 4682169"/>
              <a:gd name="connsiteY1" fmla="*/ 1410159 h 2060154"/>
              <a:gd name="connsiteX2" fmla="*/ 4682169 w 4682169"/>
              <a:gd name="connsiteY2" fmla="*/ 0 h 2060154"/>
            </a:gdLst>
            <a:ahLst/>
            <a:cxnLst>
              <a:cxn ang="0">
                <a:pos x="connsiteX0" y="connsiteY0"/>
              </a:cxn>
              <a:cxn ang="0">
                <a:pos x="connsiteX1" y="connsiteY1"/>
              </a:cxn>
              <a:cxn ang="0">
                <a:pos x="connsiteX2" y="connsiteY2"/>
              </a:cxn>
            </a:cxnLst>
            <a:rect l="l" t="t" r="r" b="b"/>
            <a:pathLst>
              <a:path w="4682169" h="2060154">
                <a:moveTo>
                  <a:pt x="0" y="2060154"/>
                </a:moveTo>
                <a:cubicBezTo>
                  <a:pt x="948369" y="1906836"/>
                  <a:pt x="1896738" y="1753518"/>
                  <a:pt x="2677099" y="1410159"/>
                </a:cubicBezTo>
                <a:cubicBezTo>
                  <a:pt x="3457461" y="1066800"/>
                  <a:pt x="4069815" y="533400"/>
                  <a:pt x="4682169" y="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892539" y="2381622"/>
            <a:ext cx="5501096" cy="1932468"/>
          </a:xfrm>
          <a:custGeom>
            <a:avLst/>
            <a:gdLst>
              <a:gd name="connsiteX0" fmla="*/ 0 w 4153359"/>
              <a:gd name="connsiteY0" fmla="*/ 1927952 h 1932468"/>
              <a:gd name="connsiteX1" fmla="*/ 2236424 w 4153359"/>
              <a:gd name="connsiteY1" fmla="*/ 1630496 h 1932468"/>
              <a:gd name="connsiteX2" fmla="*/ 4153359 w 4153359"/>
              <a:gd name="connsiteY2" fmla="*/ 0 h 1932468"/>
              <a:gd name="connsiteX3" fmla="*/ 4153359 w 4153359"/>
              <a:gd name="connsiteY3" fmla="*/ 0 h 1932468"/>
            </a:gdLst>
            <a:ahLst/>
            <a:cxnLst>
              <a:cxn ang="0">
                <a:pos x="connsiteX0" y="connsiteY0"/>
              </a:cxn>
              <a:cxn ang="0">
                <a:pos x="connsiteX1" y="connsiteY1"/>
              </a:cxn>
              <a:cxn ang="0">
                <a:pos x="connsiteX2" y="connsiteY2"/>
              </a:cxn>
              <a:cxn ang="0">
                <a:pos x="connsiteX3" y="connsiteY3"/>
              </a:cxn>
            </a:cxnLst>
            <a:rect l="l" t="t" r="r" b="b"/>
            <a:pathLst>
              <a:path w="4153359" h="1932468">
                <a:moveTo>
                  <a:pt x="0" y="1927952"/>
                </a:moveTo>
                <a:cubicBezTo>
                  <a:pt x="772099" y="1939886"/>
                  <a:pt x="1544198" y="1951821"/>
                  <a:pt x="2236424" y="1630496"/>
                </a:cubicBezTo>
                <a:cubicBezTo>
                  <a:pt x="2928650" y="1309171"/>
                  <a:pt x="4153359" y="0"/>
                  <a:pt x="4153359" y="0"/>
                </a:cubicBezTo>
                <a:lnTo>
                  <a:pt x="4153359" y="0"/>
                </a:lnTo>
              </a:path>
            </a:pathLst>
          </a:custGeom>
          <a:noFill/>
          <a:ln w="57150">
            <a:solidFill>
              <a:schemeClr val="accent5">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1855479" y="4317446"/>
            <a:ext cx="1292860" cy="368300"/>
          </a:xfrm>
          <a:prstGeom prst="rect">
            <a:avLst/>
          </a:prstGeom>
          <a:noFill/>
        </p:spPr>
        <p:txBody>
          <a:bodyPr wrap="none" rtlCol="0">
            <a:spAutoFit/>
          </a:bodyPr>
          <a:lstStyle/>
          <a:p>
            <a:r>
              <a:rPr lang="en-US" err="1"/>
              <a:t>Tensorflow</a:t>
            </a:r>
            <a:endParaRPr lang="en-US"/>
          </a:p>
        </p:txBody>
      </p:sp>
      <p:sp>
        <p:nvSpPr>
          <p:cNvPr id="30" name="TextBox 29"/>
          <p:cNvSpPr txBox="1"/>
          <p:nvPr/>
        </p:nvSpPr>
        <p:spPr>
          <a:xfrm>
            <a:off x="4249757" y="3749108"/>
            <a:ext cx="955675" cy="368300"/>
          </a:xfrm>
          <a:prstGeom prst="rect">
            <a:avLst/>
          </a:prstGeom>
          <a:noFill/>
        </p:spPr>
        <p:txBody>
          <a:bodyPr wrap="none" rtlCol="0">
            <a:spAutoFit/>
          </a:bodyPr>
          <a:lstStyle/>
          <a:p>
            <a:r>
              <a:rPr lang="en-US" err="1"/>
              <a:t>Pytorch</a:t>
            </a:r>
            <a:endParaRPr lang="en-US"/>
          </a:p>
        </p:txBody>
      </p:sp>
      <p:sp>
        <p:nvSpPr>
          <p:cNvPr id="31" name="TextBox 30"/>
          <p:cNvSpPr txBox="1"/>
          <p:nvPr/>
        </p:nvSpPr>
        <p:spPr>
          <a:xfrm>
            <a:off x="1464327" y="4600935"/>
            <a:ext cx="693420" cy="368300"/>
          </a:xfrm>
          <a:prstGeom prst="rect">
            <a:avLst/>
          </a:prstGeom>
          <a:noFill/>
        </p:spPr>
        <p:txBody>
          <a:bodyPr wrap="none" rtlCol="0">
            <a:spAutoFit/>
          </a:bodyPr>
          <a:lstStyle/>
          <a:p>
            <a:r>
              <a:rPr lang="en-US"/>
              <a:t>Caffe</a:t>
            </a:r>
          </a:p>
        </p:txBody>
      </p:sp>
      <p:sp>
        <p:nvSpPr>
          <p:cNvPr id="32" name="TextBox 31"/>
          <p:cNvSpPr txBox="1"/>
          <p:nvPr/>
        </p:nvSpPr>
        <p:spPr>
          <a:xfrm>
            <a:off x="2440640" y="4689207"/>
            <a:ext cx="672465" cy="306705"/>
          </a:xfrm>
          <a:prstGeom prst="rect">
            <a:avLst/>
          </a:prstGeom>
          <a:noFill/>
        </p:spPr>
        <p:txBody>
          <a:bodyPr wrap="none" rtlCol="0">
            <a:spAutoFit/>
          </a:bodyPr>
          <a:lstStyle/>
          <a:p>
            <a:r>
              <a:rPr lang="en-US" sz="1400" err="1"/>
              <a:t>MxNet</a:t>
            </a:r>
            <a:endParaRPr lang="en-US" sz="1400"/>
          </a:p>
        </p:txBody>
      </p:sp>
      <p:sp>
        <p:nvSpPr>
          <p:cNvPr id="33" name="TextBox 32"/>
          <p:cNvSpPr txBox="1"/>
          <p:nvPr/>
        </p:nvSpPr>
        <p:spPr>
          <a:xfrm>
            <a:off x="3963241" y="4027791"/>
            <a:ext cx="1250950" cy="306705"/>
          </a:xfrm>
          <a:prstGeom prst="rect">
            <a:avLst/>
          </a:prstGeom>
          <a:noFill/>
        </p:spPr>
        <p:txBody>
          <a:bodyPr wrap="none" rtlCol="0">
            <a:spAutoFit/>
          </a:bodyPr>
          <a:lstStyle/>
          <a:p>
            <a:r>
              <a:rPr lang="en-US" sz="1400" err="1"/>
              <a:t>PaddlePaddle</a:t>
            </a:r>
            <a:endParaRPr lang="en-US" sz="1400"/>
          </a:p>
        </p:txBody>
      </p:sp>
      <p:sp>
        <p:nvSpPr>
          <p:cNvPr id="34" name="TextBox 33"/>
          <p:cNvSpPr txBox="1"/>
          <p:nvPr/>
        </p:nvSpPr>
        <p:spPr>
          <a:xfrm>
            <a:off x="5085346" y="3236757"/>
            <a:ext cx="485775" cy="337185"/>
          </a:xfrm>
          <a:prstGeom prst="rect">
            <a:avLst/>
          </a:prstGeom>
          <a:noFill/>
        </p:spPr>
        <p:txBody>
          <a:bodyPr wrap="none" rtlCol="0">
            <a:spAutoFit/>
          </a:bodyPr>
          <a:lstStyle/>
          <a:p>
            <a:r>
              <a:rPr lang="en-US" sz="1600"/>
              <a:t>Jax</a:t>
            </a:r>
          </a:p>
        </p:txBody>
      </p:sp>
      <p:sp>
        <p:nvSpPr>
          <p:cNvPr id="35" name="Freeform 34"/>
          <p:cNvSpPr/>
          <p:nvPr/>
        </p:nvSpPr>
        <p:spPr>
          <a:xfrm>
            <a:off x="3910363" y="2556689"/>
            <a:ext cx="5221995" cy="1803935"/>
          </a:xfrm>
          <a:custGeom>
            <a:avLst/>
            <a:gdLst>
              <a:gd name="connsiteX0" fmla="*/ 0 w 5221995"/>
              <a:gd name="connsiteY0" fmla="*/ 1795749 h 1803935"/>
              <a:gd name="connsiteX1" fmla="*/ 3415228 w 5221995"/>
              <a:gd name="connsiteY1" fmla="*/ 1531344 h 1803935"/>
              <a:gd name="connsiteX2" fmla="*/ 5221995 w 5221995"/>
              <a:gd name="connsiteY2" fmla="*/ 0 h 1803935"/>
              <a:gd name="connsiteX3" fmla="*/ 5221995 w 5221995"/>
              <a:gd name="connsiteY3" fmla="*/ 0 h 1803935"/>
              <a:gd name="connsiteX4" fmla="*/ 5221995 w 5221995"/>
              <a:gd name="connsiteY4" fmla="*/ 0 h 1803935"/>
              <a:gd name="connsiteX5" fmla="*/ 5221995 w 5221995"/>
              <a:gd name="connsiteY5" fmla="*/ 0 h 180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1995" h="1803935">
                <a:moveTo>
                  <a:pt x="0" y="1795749"/>
                </a:moveTo>
                <a:cubicBezTo>
                  <a:pt x="1272448" y="1813192"/>
                  <a:pt x="2544896" y="1830635"/>
                  <a:pt x="3415228" y="1531344"/>
                </a:cubicBezTo>
                <a:cubicBezTo>
                  <a:pt x="4285560" y="1232053"/>
                  <a:pt x="5221995" y="0"/>
                  <a:pt x="5221995" y="0"/>
                </a:cubicBezTo>
                <a:lnTo>
                  <a:pt x="5221995" y="0"/>
                </a:lnTo>
                <a:lnTo>
                  <a:pt x="5221995" y="0"/>
                </a:lnTo>
                <a:lnTo>
                  <a:pt x="5221995" y="0"/>
                </a:lnTo>
              </a:path>
            </a:pathLst>
          </a:custGeom>
          <a:noFill/>
          <a:ln w="5715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5875153" y="2932084"/>
            <a:ext cx="608965" cy="306705"/>
          </a:xfrm>
          <a:prstGeom prst="rect">
            <a:avLst/>
          </a:prstGeom>
          <a:noFill/>
        </p:spPr>
        <p:txBody>
          <a:bodyPr wrap="none" rtlCol="0">
            <a:spAutoFit/>
          </a:bodyPr>
          <a:lstStyle/>
          <a:p>
            <a:r>
              <a:rPr lang="en-US" sz="1400" err="1"/>
              <a:t>Jittor</a:t>
            </a:r>
            <a:endParaRPr lang="en-US" sz="1400"/>
          </a:p>
        </p:txBody>
      </p:sp>
      <p:sp>
        <p:nvSpPr>
          <p:cNvPr id="37" name="TextBox 36"/>
          <p:cNvSpPr txBox="1"/>
          <p:nvPr/>
        </p:nvSpPr>
        <p:spPr>
          <a:xfrm>
            <a:off x="4231895" y="2460109"/>
            <a:ext cx="1414780" cy="368300"/>
          </a:xfrm>
          <a:prstGeom prst="rect">
            <a:avLst/>
          </a:prstGeom>
          <a:noFill/>
        </p:spPr>
        <p:txBody>
          <a:bodyPr wrap="none" rtlCol="0">
            <a:spAutoFit/>
          </a:bodyPr>
          <a:lstStyle/>
          <a:p>
            <a:r>
              <a:rPr lang="en-US" err="1">
                <a:solidFill>
                  <a:srgbClr val="FF0000"/>
                </a:solidFill>
              </a:rPr>
              <a:t>Ecosystems</a:t>
            </a:r>
            <a:endParaRPr lang="en-US">
              <a:solidFill>
                <a:srgbClr val="FF0000"/>
              </a:solidFill>
            </a:endParaRPr>
          </a:p>
        </p:txBody>
      </p:sp>
      <p:sp>
        <p:nvSpPr>
          <p:cNvPr id="38" name="TextBox 37"/>
          <p:cNvSpPr txBox="1"/>
          <p:nvPr/>
        </p:nvSpPr>
        <p:spPr>
          <a:xfrm>
            <a:off x="7839321" y="2280314"/>
            <a:ext cx="1211580" cy="368300"/>
          </a:xfrm>
          <a:prstGeom prst="rect">
            <a:avLst/>
          </a:prstGeom>
          <a:noFill/>
        </p:spPr>
        <p:txBody>
          <a:bodyPr wrap="none" rtlCol="0">
            <a:spAutoFit/>
          </a:bodyPr>
          <a:lstStyle/>
          <a:p>
            <a:r>
              <a:rPr lang="en-US" err="1">
                <a:solidFill>
                  <a:srgbClr val="FF0000"/>
                </a:solidFill>
              </a:rPr>
              <a:t>Compilers</a:t>
            </a:r>
          </a:p>
        </p:txBody>
      </p:sp>
      <p:sp>
        <p:nvSpPr>
          <p:cNvPr id="39" name="TextBox 38"/>
          <p:cNvSpPr txBox="1"/>
          <p:nvPr/>
        </p:nvSpPr>
        <p:spPr>
          <a:xfrm>
            <a:off x="4073262" y="4487887"/>
            <a:ext cx="600710" cy="368300"/>
          </a:xfrm>
          <a:prstGeom prst="rect">
            <a:avLst/>
          </a:prstGeom>
          <a:noFill/>
        </p:spPr>
        <p:txBody>
          <a:bodyPr wrap="none" rtlCol="0">
            <a:spAutoFit/>
          </a:bodyPr>
          <a:lstStyle/>
          <a:p>
            <a:r>
              <a:rPr lang="en-US"/>
              <a:t>TVM</a:t>
            </a:r>
          </a:p>
        </p:txBody>
      </p:sp>
      <p:sp>
        <p:nvSpPr>
          <p:cNvPr id="40" name="TextBox 39"/>
          <p:cNvSpPr txBox="1"/>
          <p:nvPr/>
        </p:nvSpPr>
        <p:spPr>
          <a:xfrm>
            <a:off x="6027260" y="4401090"/>
            <a:ext cx="668020" cy="368300"/>
          </a:xfrm>
          <a:prstGeom prst="rect">
            <a:avLst/>
          </a:prstGeom>
          <a:noFill/>
        </p:spPr>
        <p:txBody>
          <a:bodyPr wrap="none" rtlCol="0">
            <a:spAutoFit/>
          </a:bodyPr>
          <a:lstStyle/>
          <a:p>
            <a:r>
              <a:rPr lang="en-US"/>
              <a:t>MLIR</a:t>
            </a:r>
          </a:p>
        </p:txBody>
      </p:sp>
      <p:sp>
        <p:nvSpPr>
          <p:cNvPr id="41" name="TextBox 40"/>
          <p:cNvSpPr txBox="1"/>
          <p:nvPr/>
        </p:nvSpPr>
        <p:spPr>
          <a:xfrm>
            <a:off x="4003735" y="4819437"/>
            <a:ext cx="1983105" cy="306705"/>
          </a:xfrm>
          <a:prstGeom prst="rect">
            <a:avLst/>
          </a:prstGeom>
          <a:noFill/>
        </p:spPr>
        <p:txBody>
          <a:bodyPr wrap="none" rtlCol="0">
            <a:spAutoFit/>
          </a:bodyPr>
          <a:lstStyle/>
          <a:p>
            <a:r>
              <a:rPr lang="en-US" sz="1400" err="1"/>
              <a:t>Tensorcomprehensions</a:t>
            </a:r>
            <a:endParaRPr lang="en-US" sz="1400"/>
          </a:p>
        </p:txBody>
      </p:sp>
      <p:sp>
        <p:nvSpPr>
          <p:cNvPr id="42" name="TextBox 41"/>
          <p:cNvSpPr txBox="1"/>
          <p:nvPr/>
        </p:nvSpPr>
        <p:spPr>
          <a:xfrm>
            <a:off x="7370495" y="3930803"/>
            <a:ext cx="1599565" cy="368300"/>
          </a:xfrm>
          <a:prstGeom prst="rect">
            <a:avLst/>
          </a:prstGeom>
          <a:noFill/>
        </p:spPr>
        <p:txBody>
          <a:bodyPr wrap="none" rtlCol="0">
            <a:spAutoFit/>
          </a:bodyPr>
          <a:lstStyle/>
          <a:p>
            <a:r>
              <a:rPr lang="en-US" err="1">
                <a:solidFill>
                  <a:schemeClr val="accent1"/>
                </a:solidFill>
              </a:rPr>
              <a:t>TorchInductor</a:t>
            </a:r>
            <a:endParaRPr lang="en-US">
              <a:solidFill>
                <a:schemeClr val="accent1"/>
              </a:solidFill>
            </a:endParaRPr>
          </a:p>
        </p:txBody>
      </p:sp>
      <p:sp>
        <p:nvSpPr>
          <p:cNvPr id="43" name="TextBox 42"/>
          <p:cNvSpPr txBox="1"/>
          <p:nvPr/>
        </p:nvSpPr>
        <p:spPr>
          <a:xfrm>
            <a:off x="7062682" y="4226599"/>
            <a:ext cx="1555115" cy="368300"/>
          </a:xfrm>
          <a:prstGeom prst="rect">
            <a:avLst/>
          </a:prstGeom>
          <a:noFill/>
        </p:spPr>
        <p:txBody>
          <a:bodyPr wrap="none" rtlCol="0">
            <a:spAutoFit/>
          </a:bodyPr>
          <a:lstStyle/>
          <a:p>
            <a:r>
              <a:rPr lang="en-US" err="1">
                <a:solidFill>
                  <a:schemeClr val="accent1"/>
                </a:solidFill>
              </a:rPr>
              <a:t>OpenAI</a:t>
            </a:r>
            <a:r>
              <a:rPr lang="en-US">
                <a:solidFill>
                  <a:schemeClr val="accent1"/>
                </a:solidFill>
              </a:rPr>
              <a:t> Triton</a:t>
            </a:r>
          </a:p>
        </p:txBody>
      </p:sp>
      <p:sp>
        <p:nvSpPr>
          <p:cNvPr id="44" name="TextBox 43"/>
          <p:cNvSpPr txBox="1"/>
          <p:nvPr/>
        </p:nvSpPr>
        <p:spPr>
          <a:xfrm>
            <a:off x="8161769" y="3552909"/>
            <a:ext cx="1076960" cy="368300"/>
          </a:xfrm>
          <a:prstGeom prst="rect">
            <a:avLst/>
          </a:prstGeom>
          <a:noFill/>
        </p:spPr>
        <p:txBody>
          <a:bodyPr wrap="none" rtlCol="0">
            <a:spAutoFit/>
          </a:bodyPr>
          <a:lstStyle/>
          <a:p>
            <a:r>
              <a:rPr lang="en-US" err="1"/>
              <a:t>OpenXLA</a:t>
            </a:r>
            <a:endParaRPr lang="en-US"/>
          </a:p>
        </p:txBody>
      </p:sp>
      <p:sp>
        <p:nvSpPr>
          <p:cNvPr id="45" name="TextBox 44"/>
          <p:cNvSpPr txBox="1"/>
          <p:nvPr/>
        </p:nvSpPr>
        <p:spPr>
          <a:xfrm>
            <a:off x="5188840" y="4422846"/>
            <a:ext cx="549275" cy="368300"/>
          </a:xfrm>
          <a:prstGeom prst="rect">
            <a:avLst/>
          </a:prstGeom>
          <a:noFill/>
        </p:spPr>
        <p:txBody>
          <a:bodyPr wrap="none" rtlCol="0">
            <a:spAutoFit/>
          </a:bodyPr>
          <a:lstStyle/>
          <a:p>
            <a:r>
              <a:rPr lang="en-US"/>
              <a:t>XLA</a:t>
            </a:r>
          </a:p>
        </p:txBody>
      </p:sp>
      <p:sp>
        <p:nvSpPr>
          <p:cNvPr id="48" name="TextBox 47"/>
          <p:cNvSpPr txBox="1"/>
          <p:nvPr/>
        </p:nvSpPr>
        <p:spPr>
          <a:xfrm>
            <a:off x="8872894" y="2913362"/>
            <a:ext cx="664845" cy="368300"/>
          </a:xfrm>
          <a:prstGeom prst="rect">
            <a:avLst/>
          </a:prstGeom>
          <a:noFill/>
        </p:spPr>
        <p:txBody>
          <a:bodyPr wrap="none" rtlCol="0">
            <a:spAutoFit/>
          </a:bodyPr>
          <a:lstStyle/>
          <a:p>
            <a:r>
              <a:rPr lang="en-US"/>
              <a:t>Mojo</a:t>
            </a:r>
          </a:p>
        </p:txBody>
      </p:sp>
      <p:sp>
        <p:nvSpPr>
          <p:cNvPr id="13" name="Freeform 12"/>
          <p:cNvSpPr/>
          <p:nvPr/>
        </p:nvSpPr>
        <p:spPr>
          <a:xfrm>
            <a:off x="7629424" y="2205213"/>
            <a:ext cx="3926141" cy="2524743"/>
          </a:xfrm>
          <a:custGeom>
            <a:avLst/>
            <a:gdLst>
              <a:gd name="connsiteX0" fmla="*/ 0 w 5221995"/>
              <a:gd name="connsiteY0" fmla="*/ 1795749 h 1803935"/>
              <a:gd name="connsiteX1" fmla="*/ 3415228 w 5221995"/>
              <a:gd name="connsiteY1" fmla="*/ 1531344 h 1803935"/>
              <a:gd name="connsiteX2" fmla="*/ 5221995 w 5221995"/>
              <a:gd name="connsiteY2" fmla="*/ 0 h 1803935"/>
              <a:gd name="connsiteX3" fmla="*/ 5221995 w 5221995"/>
              <a:gd name="connsiteY3" fmla="*/ 0 h 1803935"/>
              <a:gd name="connsiteX4" fmla="*/ 5221995 w 5221995"/>
              <a:gd name="connsiteY4" fmla="*/ 0 h 1803935"/>
              <a:gd name="connsiteX5" fmla="*/ 5221995 w 5221995"/>
              <a:gd name="connsiteY5" fmla="*/ 0 h 180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1995" h="1803935">
                <a:moveTo>
                  <a:pt x="0" y="1795749"/>
                </a:moveTo>
                <a:cubicBezTo>
                  <a:pt x="1272448" y="1813192"/>
                  <a:pt x="2544896" y="1830635"/>
                  <a:pt x="3415228" y="1531344"/>
                </a:cubicBezTo>
                <a:cubicBezTo>
                  <a:pt x="4285560" y="1232053"/>
                  <a:pt x="5221995" y="0"/>
                  <a:pt x="5221995" y="0"/>
                </a:cubicBezTo>
                <a:lnTo>
                  <a:pt x="5221995" y="0"/>
                </a:lnTo>
                <a:lnTo>
                  <a:pt x="5221995" y="0"/>
                </a:lnTo>
                <a:lnTo>
                  <a:pt x="5221995" y="0"/>
                </a:lnTo>
              </a:path>
            </a:pathLst>
          </a:custGeom>
          <a:noFill/>
          <a:ln w="5715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161769" y="4804129"/>
            <a:ext cx="1127125" cy="368300"/>
          </a:xfrm>
          <a:prstGeom prst="rect">
            <a:avLst/>
          </a:prstGeom>
          <a:noFill/>
        </p:spPr>
        <p:txBody>
          <a:bodyPr wrap="none" rtlCol="0">
            <a:spAutoFit/>
          </a:bodyPr>
          <a:lstStyle/>
          <a:p>
            <a:r>
              <a:rPr lang="en-US"/>
              <a:t>Flash</a:t>
            </a:r>
            <a:r>
              <a:rPr lang="en-US" altLang="zh-CN"/>
              <a:t>Attn</a:t>
            </a:r>
            <a:endParaRPr lang="en-US"/>
          </a:p>
        </p:txBody>
      </p:sp>
      <p:sp>
        <p:nvSpPr>
          <p:cNvPr id="15" name="TextBox 14"/>
          <p:cNvSpPr txBox="1"/>
          <p:nvPr/>
        </p:nvSpPr>
        <p:spPr>
          <a:xfrm>
            <a:off x="10560724" y="2071171"/>
            <a:ext cx="741680" cy="368300"/>
          </a:xfrm>
          <a:prstGeom prst="rect">
            <a:avLst/>
          </a:prstGeom>
          <a:noFill/>
        </p:spPr>
        <p:txBody>
          <a:bodyPr wrap="none" rtlCol="0">
            <a:spAutoFit/>
          </a:bodyPr>
          <a:lstStyle/>
          <a:p>
            <a:r>
              <a:rPr lang="en-US">
                <a:solidFill>
                  <a:srgbClr val="FF0000"/>
                </a:solidFill>
              </a:rPr>
              <a:t>LLMs</a:t>
            </a:r>
          </a:p>
        </p:txBody>
      </p:sp>
      <p:sp>
        <p:nvSpPr>
          <p:cNvPr id="22" name="TextBox 21"/>
          <p:cNvSpPr txBox="1"/>
          <p:nvPr/>
        </p:nvSpPr>
        <p:spPr>
          <a:xfrm>
            <a:off x="9160969" y="4634435"/>
            <a:ext cx="1908175" cy="306705"/>
          </a:xfrm>
          <a:prstGeom prst="rect">
            <a:avLst/>
          </a:prstGeom>
          <a:noFill/>
        </p:spPr>
        <p:txBody>
          <a:bodyPr wrap="none" rtlCol="0">
            <a:spAutoFit/>
          </a:bodyPr>
          <a:lstStyle/>
          <a:p>
            <a:r>
              <a:rPr lang="en-US" sz="1400"/>
              <a:t>Segment anything fast</a:t>
            </a:r>
          </a:p>
        </p:txBody>
      </p:sp>
      <p:sp>
        <p:nvSpPr>
          <p:cNvPr id="23" name="TextBox 22"/>
          <p:cNvSpPr txBox="1"/>
          <p:nvPr/>
        </p:nvSpPr>
        <p:spPr>
          <a:xfrm>
            <a:off x="10296760" y="4137627"/>
            <a:ext cx="934720" cy="368300"/>
          </a:xfrm>
          <a:prstGeom prst="rect">
            <a:avLst/>
          </a:prstGeom>
          <a:noFill/>
        </p:spPr>
        <p:txBody>
          <a:bodyPr wrap="none" rtlCol="0">
            <a:spAutoFit/>
          </a:bodyPr>
          <a:lstStyle/>
          <a:p>
            <a:r>
              <a:rPr lang="en-US"/>
              <a:t>unsloth</a:t>
            </a:r>
          </a:p>
        </p:txBody>
      </p:sp>
      <p:sp>
        <p:nvSpPr>
          <p:cNvPr id="24" name="TextBox 23"/>
          <p:cNvSpPr txBox="1"/>
          <p:nvPr/>
        </p:nvSpPr>
        <p:spPr>
          <a:xfrm>
            <a:off x="9897939" y="4380765"/>
            <a:ext cx="884555" cy="368300"/>
          </a:xfrm>
          <a:prstGeom prst="rect">
            <a:avLst/>
          </a:prstGeom>
          <a:noFill/>
        </p:spPr>
        <p:txBody>
          <a:bodyPr wrap="none" rtlCol="0">
            <a:spAutoFit/>
          </a:bodyPr>
          <a:lstStyle/>
          <a:p>
            <a:r>
              <a:rPr lang="en-US"/>
              <a:t>gptfast</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标题 1"/>
          <p:cNvSpPr>
            <a:spLocks noGrp="1"/>
          </p:cNvSpPr>
          <p:nvPr>
            <p:ph type="title"/>
          </p:nvPr>
        </p:nvSpPr>
        <p:spPr/>
        <p:txBody>
          <a:bodyPr/>
          <a:lstStyle/>
          <a:p>
            <a:r>
              <a:rPr lang="zh-CN" altLang="en-US"/>
              <a:t> Why Triton? </a:t>
            </a:r>
            <a:r>
              <a:rPr lang="x-none" altLang="zh-CN" sz="3200"/>
              <a:t>Balancing Productivity and</a:t>
            </a:r>
            <a:r>
              <a:rPr lang="zh-CN" altLang="en-US" sz="3200"/>
              <a:t> Performance</a:t>
            </a:r>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9</a:t>
            </a:fld>
            <a:endParaRPr lang="zh-CN" altLang="en-US" dirty="0"/>
          </a:p>
        </p:txBody>
      </p:sp>
      <p:sp>
        <p:nvSpPr>
          <p:cNvPr id="1048656" name="内容占位符 2"/>
          <p:cNvSpPr>
            <a:spLocks noGrp="1"/>
          </p:cNvSpPr>
          <p:nvPr>
            <p:ph sz="quarter" idx="13"/>
          </p:nvPr>
        </p:nvSpPr>
        <p:spPr/>
        <p:txBody>
          <a:bodyPr/>
          <a:lstStyle/>
          <a:p>
            <a:r>
              <a:rPr lang="zh-CN" altLang="en-US"/>
              <a:t>Productivity-Performance Dilemma</a:t>
            </a:r>
          </a:p>
          <a:p>
            <a:pPr lvl="1"/>
            <a:r>
              <a:rPr lang="zh-CN" altLang="en-US"/>
              <a:t>Frameworks </a:t>
            </a:r>
            <a:r>
              <a:rPr lang="x-none" altLang="zh-CN"/>
              <a:t>like </a:t>
            </a:r>
            <a:r>
              <a:rPr lang="zh-CN" altLang="en-US"/>
              <a:t>PyTorch</a:t>
            </a:r>
          </a:p>
          <a:p>
            <a:pPr lvl="2"/>
            <a:r>
              <a:rPr lang="zh-CN" altLang="en-US"/>
              <a:t>High productivity, but "fusing" custom operat</a:t>
            </a:r>
            <a:r>
              <a:rPr lang="x-none" altLang="zh-CN"/>
              <a:t>or</a:t>
            </a:r>
            <a:r>
              <a:rPr lang="zh-CN" altLang="en-US"/>
              <a:t>s often requires </a:t>
            </a:r>
            <a:r>
              <a:rPr lang="x-none" altLang="zh-CN"/>
              <a:t>using</a:t>
            </a:r>
            <a:r>
              <a:rPr lang="zh-CN" altLang="en-US"/>
              <a:t> CUDA</a:t>
            </a:r>
            <a:r>
              <a:rPr lang="x-none" altLang="zh-CN"/>
              <a:t> C++</a:t>
            </a:r>
            <a:r>
              <a:rPr lang="zh-CN" altLang="en-US"/>
              <a:t> to avoid overhead</a:t>
            </a:r>
          </a:p>
          <a:p>
            <a:pPr lvl="1"/>
            <a:r>
              <a:rPr lang="zh-CN" altLang="en-US"/>
              <a:t>CUDA C++</a:t>
            </a:r>
          </a:p>
          <a:p>
            <a:pPr lvl="2"/>
            <a:r>
              <a:rPr lang="zh-CN" altLang="en-US"/>
              <a:t>Offers maximum hardware utilization but is notoriously difficult to write, debug, and maintain</a:t>
            </a:r>
          </a:p>
          <a:p>
            <a:pPr lvl="1"/>
            <a:r>
              <a:rPr lang="zh-CN" altLang="en-US"/>
              <a:t>The Gap</a:t>
            </a:r>
          </a:p>
          <a:p>
            <a:pPr lvl="2"/>
            <a:r>
              <a:rPr lang="zh-CN" altLang="en-US"/>
              <a:t>Most researchers can</a:t>
            </a:r>
            <a:r>
              <a:rPr lang="x-none" altLang="zh-CN"/>
              <a:t>not</a:t>
            </a:r>
            <a:r>
              <a:rPr lang="zh-CN" altLang="en-US"/>
              <a:t> afford weeks of development time </a:t>
            </a:r>
            <a:r>
              <a:rPr lang="x-none" altLang="zh-CN"/>
              <a:t>to optimize </a:t>
            </a:r>
            <a:r>
              <a:rPr lang="zh-CN" altLang="en-US"/>
              <a:t>a single CUDA kernel</a:t>
            </a:r>
          </a:p>
          <a:p>
            <a:pPr lvl="0"/>
            <a:endParaRPr lang="zh-CN" altLang="en-US"/>
          </a:p>
        </p:txBody>
      </p:sp>
      <p:sp>
        <p:nvSpPr>
          <p:cNvPr id="1048658" name="页脚占位符 3"/>
          <p:cNvSpPr>
            <a:spLocks noGrp="1"/>
          </p:cNvSpPr>
          <p:nvPr>
            <p:ph type="ftr" sz="quarter" idx="11"/>
          </p:nvPr>
        </p:nvSpPr>
        <p:spPr/>
        <p:txBody>
          <a:bodyPr/>
          <a:lstStyle/>
          <a:p>
            <a:endParaRPr lang="zh-CN" altLang="en-US"/>
          </a:p>
        </p:txBody>
      </p:sp>
      <p:sp>
        <p:nvSpPr>
          <p:cNvPr id="1048657" name="内容占位符 5"/>
          <p:cNvSpPr>
            <a:spLocks noGrp="1"/>
          </p:cNvSpPr>
          <p:nvPr>
            <p:ph sz="quarter" idx="14"/>
          </p:nvPr>
        </p:nvSpPr>
        <p:spPr/>
        <p:txBody>
          <a:bodyPr/>
          <a:lstStyle/>
          <a:p>
            <a:pPr lvl="0"/>
            <a:r>
              <a:rPr lang="zh-CN" altLang="en-US"/>
              <a:t>Triton</a:t>
            </a:r>
            <a:r>
              <a:rPr lang="x-none" altLang="zh-CN"/>
              <a:t>’</a:t>
            </a:r>
            <a:r>
              <a:rPr lang="zh-CN" altLang="en-US"/>
              <a:t>s "Secret Sauce"</a:t>
            </a:r>
          </a:p>
          <a:p>
            <a:pPr lvl="1"/>
            <a:r>
              <a:rPr lang="zh-CN" altLang="en-US"/>
              <a:t>Block-Level Abstraction</a:t>
            </a:r>
          </a:p>
          <a:p>
            <a:pPr lvl="2"/>
            <a:r>
              <a:rPr lang="x-none" altLang="zh-CN"/>
              <a:t>D</a:t>
            </a:r>
            <a:r>
              <a:rPr lang="zh-CN" altLang="en-US"/>
              <a:t>on't manage individual threads; you manage blocks of data.</a:t>
            </a:r>
          </a:p>
          <a:p>
            <a:pPr lvl="1"/>
            <a:r>
              <a:rPr lang="zh-CN" altLang="en-US"/>
              <a:t>Automatic Parallelization</a:t>
            </a:r>
          </a:p>
          <a:p>
            <a:pPr lvl="2"/>
            <a:r>
              <a:rPr lang="zh-CN" altLang="en-US"/>
              <a:t>The compiler handles memory coalescing, shared memory allocation, and hardware scheduling.</a:t>
            </a:r>
          </a:p>
          <a:p>
            <a:pPr lvl="1"/>
            <a:r>
              <a:rPr lang="zh-CN" altLang="en-US"/>
              <a:t>OpenAI Backing</a:t>
            </a:r>
          </a:p>
          <a:p>
            <a:pPr lvl="2"/>
            <a:r>
              <a:rPr lang="zh-CN" altLang="en-US"/>
              <a:t>Developed specifically to make GPU programming accessible for the next generation of AI models.</a:t>
            </a:r>
          </a:p>
          <a:p>
            <a:endParaRPr lang="zh-CN" alt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标题 1"/>
          <p:cNvSpPr>
            <a:spLocks noGrp="1"/>
          </p:cNvSpPr>
          <p:nvPr>
            <p:ph type="title"/>
          </p:nvPr>
        </p:nvSpPr>
        <p:spPr/>
        <p:txBody>
          <a:bodyPr/>
          <a:lstStyle/>
          <a:p>
            <a:r>
              <a:rPr lang="zh-CN" altLang="en-US"/>
              <a:t>The Triton Execution Model</a:t>
            </a:r>
          </a:p>
        </p:txBody>
      </p:sp>
      <p:sp>
        <p:nvSpPr>
          <p:cNvPr id="1048664" name="页脚占位符 3"/>
          <p:cNvSpPr>
            <a:spLocks noGrp="1"/>
          </p:cNvSpPr>
          <p:nvPr>
            <p:ph type="ftr" sz="quarter" idx="11"/>
          </p:nvPr>
        </p:nvSpPr>
        <p:spPr/>
        <p:txBody>
          <a:bodyPr/>
          <a:lstStyle/>
          <a:p>
            <a:endParaRPr lang="zh-CN" altLang="en-US"/>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10</a:t>
            </a:fld>
            <a:endParaRPr lang="zh-CN" altLang="en-US" dirty="0"/>
          </a:p>
        </p:txBody>
      </p:sp>
      <p:sp>
        <p:nvSpPr>
          <p:cNvPr id="1048663" name="内容占位符 2"/>
          <p:cNvSpPr>
            <a:spLocks noGrp="1"/>
          </p:cNvSpPr>
          <p:nvPr>
            <p:ph sz="quarter" idx="13"/>
          </p:nvPr>
        </p:nvSpPr>
        <p:spPr/>
        <p:txBody>
          <a:bodyPr>
            <a:normAutofit fontScale="95000"/>
          </a:bodyPr>
          <a:lstStyle/>
          <a:p>
            <a:r>
              <a:rPr lang="zh-CN" altLang="en-US"/>
              <a:t>From Threads to Blocks</a:t>
            </a:r>
          </a:p>
          <a:p>
            <a:pPr lvl="1"/>
            <a:r>
              <a:rPr lang="zh-CN" altLang="en-US"/>
              <a:t>CUDA Model</a:t>
            </a:r>
            <a:r>
              <a:rPr lang="x-none" altLang="zh-CN"/>
              <a:t>: </a:t>
            </a:r>
            <a:r>
              <a:rPr lang="zh-CN" altLang="en-US"/>
              <a:t>Focuses on Threads and Warps. Developers must manually manage synchronization and shared memory.</a:t>
            </a:r>
          </a:p>
          <a:p>
            <a:pPr lvl="1"/>
            <a:r>
              <a:rPr lang="zh-CN" altLang="en-US"/>
              <a:t>Triton Model: Focuses on Programs and Blocks. You write code that operates on a "tile" (Block) of data as a single unit.</a:t>
            </a:r>
          </a:p>
          <a:p>
            <a:pPr lvl="0"/>
            <a:r>
              <a:rPr lang="zh-CN" altLang="en-US"/>
              <a:t>Key Components</a:t>
            </a:r>
          </a:p>
          <a:p>
            <a:pPr lvl="1"/>
            <a:r>
              <a:rPr lang="zh-CN" altLang="en-US"/>
              <a:t>The Grid (Coordinate Space) The Grid is a 1D, 2D, or 3D space of execution instances. When you launch a kernel, you define the grid size (e.g., grid=(1024, )). Each point in this grid is called a Program.</a:t>
            </a:r>
          </a:p>
          <a:p>
            <a:pPr lvl="1"/>
            <a:r>
              <a:rPr lang="zh-CN" altLang="en-US"/>
              <a:t>The Program (Instance) A Program is an independent execution instance of your kernel. Programs run in parallel across the GPU's Compute Units. Each program identifies itself using tl.program_id(axis).</a:t>
            </a:r>
          </a:p>
          <a:p>
            <a:pPr lvl="1"/>
            <a:r>
              <a:rPr lang="zh-CN" altLang="en-US"/>
              <a:t>The Block (Data Unit) A Block is a contiguous chunk of data (a "tile") processed by one Program. Constraint: Block sizes must be powers of two (e.g., 128, 256, 512, 1024) to allow for hardware-level optimizations.</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标题 1"/>
          <p:cNvSpPr>
            <a:spLocks noGrp="1"/>
          </p:cNvSpPr>
          <p:nvPr>
            <p:ph type="title"/>
          </p:nvPr>
        </p:nvSpPr>
        <p:spPr/>
        <p:txBody>
          <a:bodyPr/>
          <a:lstStyle/>
          <a:p>
            <a:r>
              <a:rPr>
                <a:sym typeface="+mn-ea"/>
              </a:rPr>
              <a:t>Kernel Anatomy &amp; Pointer Arithmetic</a:t>
            </a:r>
            <a:endParaRPr lang="zh-CN" altLang="en-US"/>
          </a:p>
        </p:txBody>
      </p:sp>
      <p:sp>
        <p:nvSpPr>
          <p:cNvPr id="1048668" name="页脚占位符 3"/>
          <p:cNvSpPr>
            <a:spLocks noGrp="1"/>
          </p:cNvSpPr>
          <p:nvPr>
            <p:ph type="ftr" sz="quarter" idx="11"/>
          </p:nvPr>
        </p:nvSpPr>
        <p:spPr/>
        <p:txBody>
          <a:bodyPr/>
          <a:lstStyle/>
          <a:p>
            <a:endParaRPr lang="zh-CN" altLang="en-US" dirty="0"/>
          </a:p>
        </p:txBody>
      </p:sp>
      <p:sp>
        <p:nvSpPr>
          <p:cNvPr id="1048669" name="灯片编号占位符 4"/>
          <p:cNvSpPr>
            <a:spLocks noGrp="1"/>
          </p:cNvSpPr>
          <p:nvPr>
            <p:ph type="sldNum" sz="quarter" idx="12"/>
          </p:nvPr>
        </p:nvSpPr>
        <p:spPr/>
        <p:txBody>
          <a:bodyPr/>
          <a:lstStyle/>
          <a:p>
            <a:fld id="{B33F7469-D28B-482F-B1B6-3B8E7CF51519}" type="slidenum">
              <a:rPr lang="zh-CN" altLang="en-US" smtClean="0"/>
              <a:t>11</a:t>
            </a:fld>
            <a:endParaRPr lang="zh-CN" altLang="en-US" dirty="0"/>
          </a:p>
        </p:txBody>
      </p:sp>
      <p:sp>
        <p:nvSpPr>
          <p:cNvPr id="1048667" name="内容占位符 2"/>
          <p:cNvSpPr>
            <a:spLocks noGrp="1"/>
          </p:cNvSpPr>
          <p:nvPr>
            <p:ph sz="quarter" idx="13"/>
          </p:nvPr>
        </p:nvSpPr>
        <p:spPr/>
        <p:txBody>
          <a:bodyPr>
            <a:normAutofit fontScale="90000"/>
          </a:bodyPr>
          <a:lstStyle/>
          <a:p>
            <a:r>
              <a:rPr lang="zh-CN" altLang="en-US"/>
              <a:t>Defining a Triton Kernel</a:t>
            </a:r>
          </a:p>
          <a:p>
            <a:pPr lvl="1"/>
            <a:r>
              <a:rPr lang="zh-CN" altLang="en-US"/>
              <a:t>The @triton.jit Decorator: Transforms a standard Python function into a GPU-executable kernel.</a:t>
            </a:r>
          </a:p>
          <a:p>
            <a:pPr lvl="1"/>
            <a:r>
              <a:rPr lang="zh-CN" altLang="en-US"/>
              <a:t>Function Signature:</a:t>
            </a:r>
          </a:p>
          <a:p>
            <a:pPr lvl="2"/>
            <a:r>
              <a:rPr lang="zh-CN" altLang="en-US"/>
              <a:t>Pointers: Memory addresses for inputs/outputs (e.g., x_ptr).</a:t>
            </a:r>
          </a:p>
          <a:p>
            <a:pPr lvl="2"/>
            <a:r>
              <a:rPr lang="zh-CN" altLang="en-US"/>
              <a:t>Metadata: Size constants or strides (e.g., n_elements).tl.constexpr: Special arguments that must be known at compile-time (like BLOCK_SIZE).</a:t>
            </a:r>
          </a:p>
          <a:p>
            <a:pPr lvl="0"/>
            <a:r>
              <a:rPr lang="zh-CN" altLang="en-US"/>
              <a:t>The Core Logic: Pointer Arithmetic</a:t>
            </a:r>
          </a:p>
          <a:p>
            <a:pPr lvl="1"/>
            <a:r>
              <a:rPr lang="zh-CN" altLang="en-US"/>
              <a:t>Identify the Program: pid = tl.program_id(axis=0)Calculate the Start Offset: block_start = pid * BLOCK_SIZE</a:t>
            </a:r>
          </a:p>
          <a:p>
            <a:pPr lvl="1"/>
            <a:r>
              <a:rPr lang="zh-CN" altLang="en-US"/>
              <a:t>Generate a Range of Offsets: offsets = block_start + tl.arange(0, BLOCK_SIZE)</a:t>
            </a:r>
          </a:p>
          <a:p>
            <a:pPr lvl="1"/>
            <a:r>
              <a:rPr lang="zh-CN" altLang="en-US"/>
              <a:t>Construct Pointers: pointers = base_ptr + offsets</a:t>
            </a:r>
          </a:p>
          <a:p>
            <a:pPr lvl="0"/>
            <a:r>
              <a:rPr lang="zh-CN" altLang="en-US"/>
              <a:t>Visualizing the Address Map</a:t>
            </a:r>
          </a:p>
          <a:p>
            <a:pPr lvl="1"/>
            <a:r>
              <a:rPr lang="zh-CN" altLang="en-US"/>
              <a:t>tl.arange(0, 4) $\rightarrow$ [0, 1, 2, 3]</a:t>
            </a:r>
          </a:p>
          <a:p>
            <a:pPr lvl="1"/>
            <a:r>
              <a:rPr lang="zh-CN" altLang="en-US"/>
              <a:t>base_ptr + [0, 1, 2, 3] $\rightarrow$ A vector of 4 memory addresses.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标题 1"/>
          <p:cNvSpPr>
            <a:spLocks noGrp="1"/>
          </p:cNvSpPr>
          <p:nvPr>
            <p:ph type="title"/>
          </p:nvPr>
        </p:nvSpPr>
        <p:spPr/>
        <p:txBody>
          <a:bodyPr/>
          <a:lstStyle/>
          <a:p>
            <a:r>
              <a:rPr>
                <a:sym typeface="+mn-ea"/>
              </a:rPr>
              <a:t>Memory Operations — Load, Store, and Masking</a:t>
            </a:r>
            <a:endParaRPr lang="zh-CN" altLang="en-US"/>
          </a:p>
        </p:txBody>
      </p:sp>
      <p:sp>
        <p:nvSpPr>
          <p:cNvPr id="1048672" name="页脚占位符 3"/>
          <p:cNvSpPr>
            <a:spLocks noGrp="1"/>
          </p:cNvSpPr>
          <p:nvPr>
            <p:ph type="ftr" sz="quarter" idx="11"/>
          </p:nvPr>
        </p:nvSpPr>
        <p:spPr/>
        <p:txBody>
          <a:bodyPr/>
          <a:lstStyle/>
          <a:p>
            <a:endParaRPr lang="zh-CN" altLang="en-US" dirty="0"/>
          </a:p>
        </p:txBody>
      </p:sp>
      <p:sp>
        <p:nvSpPr>
          <p:cNvPr id="1048673" name="灯片编号占位符 4"/>
          <p:cNvSpPr>
            <a:spLocks noGrp="1"/>
          </p:cNvSpPr>
          <p:nvPr>
            <p:ph type="sldNum" sz="quarter" idx="12"/>
          </p:nvPr>
        </p:nvSpPr>
        <p:spPr/>
        <p:txBody>
          <a:bodyPr/>
          <a:lstStyle/>
          <a:p>
            <a:fld id="{B33F7469-D28B-482F-B1B6-3B8E7CF51519}" type="slidenum">
              <a:rPr lang="zh-CN" altLang="en-US" smtClean="0"/>
              <a:t>12</a:t>
            </a:fld>
            <a:endParaRPr lang="zh-CN" altLang="en-US" dirty="0"/>
          </a:p>
        </p:txBody>
      </p:sp>
      <p:sp>
        <p:nvSpPr>
          <p:cNvPr id="1048671" name="内容占位符 2"/>
          <p:cNvSpPr>
            <a:spLocks noGrp="1"/>
          </p:cNvSpPr>
          <p:nvPr>
            <p:ph sz="quarter" idx="13"/>
          </p:nvPr>
        </p:nvSpPr>
        <p:spPr/>
        <p:txBody>
          <a:bodyPr>
            <a:normAutofit lnSpcReduction="10000"/>
          </a:bodyPr>
          <a:lstStyle/>
          <a:p>
            <a:r>
              <a:rPr lang="zh-CN" altLang="en-US"/>
              <a:t>The Data Bridge</a:t>
            </a:r>
            <a:r>
              <a:rPr lang="x-none" altLang="zh-CN"/>
              <a:t>:</a:t>
            </a:r>
            <a:r>
              <a:rPr lang="zh-CN" altLang="en-US"/>
              <a:t> Global Memory (DRAM) </a:t>
            </a:r>
            <a:r>
              <a:rPr lang="x-none" altLang="zh-CN"/>
              <a:t>&lt;-&gt;</a:t>
            </a:r>
            <a:r>
              <a:rPr lang="zh-CN" altLang="en-US"/>
              <a:t> SRAM/Registers</a:t>
            </a:r>
          </a:p>
          <a:p>
            <a:pPr lvl="1"/>
            <a:r>
              <a:rPr lang="zh-CN" altLang="en-US"/>
              <a:t>tl.load(pointers, mask)</a:t>
            </a:r>
          </a:p>
          <a:p>
            <a:pPr lvl="2"/>
            <a:r>
              <a:rPr lang="zh-CN" altLang="en-US"/>
              <a:t>Reads a block of data from the addresses specified by the pointers.</a:t>
            </a:r>
          </a:p>
          <a:p>
            <a:pPr lvl="2"/>
            <a:r>
              <a:rPr lang="zh-CN" altLang="en-US"/>
              <a:t>Efficiency: Triton automatically ensures "Coalesced Memory Access," meaning the hardware reads data in the most efficient bursts possible.</a:t>
            </a:r>
          </a:p>
          <a:p>
            <a:pPr lvl="1"/>
            <a:r>
              <a:rPr lang="zh-CN" altLang="en-US"/>
              <a:t>tl.store(pointers, data, mask)</a:t>
            </a:r>
          </a:p>
          <a:p>
            <a:pPr lvl="2"/>
            <a:r>
              <a:rPr lang="zh-CN" altLang="en-US"/>
              <a:t>Writes the computed results from the registers back to Global Memory.</a:t>
            </a:r>
          </a:p>
          <a:p>
            <a:pPr lvl="0"/>
            <a:r>
              <a:rPr lang="zh-CN" altLang="en-US"/>
              <a:t>The "Masking" Essential</a:t>
            </a:r>
          </a:p>
          <a:p>
            <a:pPr lvl="1"/>
            <a:r>
              <a:rPr lang="zh-CN" altLang="en-US"/>
              <a:t>Because Triton requires Block Sizes to be powers of two (e.g., 512), but your actual data might not be (e.g., 500 elements), you must prevent out-of-bounds memory access.</a:t>
            </a:r>
          </a:p>
          <a:p>
            <a:pPr lvl="1"/>
            <a:r>
              <a:rPr lang="zh-CN" altLang="en-US"/>
              <a:t>The Logic: Create a boolean mask where offsets &lt; total_elements.</a:t>
            </a:r>
          </a:p>
          <a:p>
            <a:pPr lvl="1"/>
            <a:r>
              <a:rPr lang="zh-CN" altLang="en-US"/>
              <a:t>The Syntax: Python mask = offsets &lt; n_elements data = tl.load(ptr + offsets, mask=mask)</a:t>
            </a:r>
          </a:p>
          <a:p>
            <a:pPr lvl="1"/>
            <a:r>
              <a:rPr lang="zh-CN" altLang="en-US"/>
              <a:t>Benefit: If the mask is False, the operation is safely ignored, preventing segmentation faults.</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标题 1"/>
          <p:cNvSpPr>
            <a:spLocks noGrp="1"/>
          </p:cNvSpPr>
          <p:nvPr>
            <p:ph type="title"/>
          </p:nvPr>
        </p:nvSpPr>
        <p:spPr/>
        <p:txBody>
          <a:bodyPr/>
          <a:lstStyle/>
          <a:p>
            <a:r>
              <a:rPr lang="zh-CN" altLang="en-US"/>
              <a:t>Case Study</a:t>
            </a:r>
            <a:r>
              <a:rPr lang="x-none" altLang="zh-CN"/>
              <a:t>:</a:t>
            </a:r>
            <a:r>
              <a:rPr lang="zh-CN" altLang="en-US"/>
              <a:t> Vector Addition Kernel</a:t>
            </a:r>
          </a:p>
        </p:txBody>
      </p:sp>
      <p:sp>
        <p:nvSpPr>
          <p:cNvPr id="1048676" name="页脚占位符 3"/>
          <p:cNvSpPr>
            <a:spLocks noGrp="1"/>
          </p:cNvSpPr>
          <p:nvPr>
            <p:ph type="ftr" sz="quarter" idx="11"/>
          </p:nvPr>
        </p:nvSpPr>
        <p:spPr/>
        <p:txBody>
          <a:bodyPr/>
          <a:lstStyle/>
          <a:p>
            <a:endParaRPr lang="zh-CN" altLang="en-US" dirty="0"/>
          </a:p>
        </p:txBody>
      </p:sp>
      <p:sp>
        <p:nvSpPr>
          <p:cNvPr id="1048677" name="灯片编号占位符 4"/>
          <p:cNvSpPr>
            <a:spLocks noGrp="1"/>
          </p:cNvSpPr>
          <p:nvPr>
            <p:ph type="sldNum" sz="quarter" idx="12"/>
          </p:nvPr>
        </p:nvSpPr>
        <p:spPr/>
        <p:txBody>
          <a:bodyPr/>
          <a:lstStyle/>
          <a:p>
            <a:fld id="{B33F7469-D28B-482F-B1B6-3B8E7CF51519}" type="slidenum">
              <a:rPr lang="zh-CN" altLang="en-US" smtClean="0"/>
              <a:t>13</a:t>
            </a:fld>
            <a:endParaRPr lang="zh-CN" altLang="en-US" dirty="0"/>
          </a:p>
        </p:txBody>
      </p:sp>
      <p:sp>
        <p:nvSpPr>
          <p:cNvPr id="2" name="内容占位符 1"/>
          <p:cNvSpPr>
            <a:spLocks noGrp="1"/>
          </p:cNvSpPr>
          <p:nvPr>
            <p:ph sz="quarter" idx="13"/>
          </p:nvPr>
        </p:nvSpPr>
        <p:spPr/>
        <p:txBody>
          <a:bodyPr/>
          <a:lstStyle/>
          <a:p>
            <a:endParaRPr lang="zh-CN" altLang="en-US"/>
          </a:p>
        </p:txBody>
      </p:sp>
      <p:sp>
        <p:nvSpPr>
          <p:cNvPr id="1048678" name="文本框 5"/>
          <p:cNvSpPr txBox="1"/>
          <p:nvPr/>
        </p:nvSpPr>
        <p:spPr>
          <a:xfrm>
            <a:off x="1904365" y="1323975"/>
            <a:ext cx="8382635" cy="5069841"/>
          </a:xfrm>
          <a:prstGeom prst="rect">
            <a:avLst/>
          </a:prstGeom>
          <a:noFill/>
          <a:ln>
            <a:solidFill>
              <a:schemeClr val="tx1">
                <a:lumMod val="85000"/>
                <a:lumOff val="15000"/>
              </a:schemeClr>
            </a:solidFill>
          </a:ln>
        </p:spPr>
        <p:txBody>
          <a:bodyPr wrap="square" rtlCol="0">
            <a:spAutoFit/>
          </a:bodyPr>
          <a:lstStyle/>
          <a:p>
            <a:r>
              <a:rPr lang="zh-CN" altLang="en-US" sz="1200">
                <a:latin typeface="Droid Sans Mono" panose="020B0609030804020204" charset="0"/>
                <a:cs typeface="Droid Sans Mono" panose="020B0609030804020204" charset="0"/>
              </a:rPr>
              <a:t>import triton</a:t>
            </a:r>
          </a:p>
          <a:p>
            <a:r>
              <a:rPr lang="zh-CN" altLang="en-US" sz="1200">
                <a:latin typeface="Droid Sans Mono" panose="020B0609030804020204" charset="0"/>
                <a:cs typeface="Droid Sans Mono" panose="020B0609030804020204" charset="0"/>
              </a:rPr>
              <a:t>import triton.language as tl</a:t>
            </a:r>
          </a:p>
          <a:p>
            <a:endParaRPr lang="zh-CN" altLang="en-US" sz="1200">
              <a:latin typeface="Droid Sans Mono" panose="020B0609030804020204" charset="0"/>
              <a:cs typeface="Droid Sans Mono" panose="020B0609030804020204" charset="0"/>
            </a:endParaRPr>
          </a:p>
          <a:p>
            <a:r>
              <a:rPr lang="zh-CN" altLang="en-US" sz="1200">
                <a:latin typeface="Droid Sans Mono" panose="020B0609030804020204" charset="0"/>
                <a:cs typeface="Droid Sans Mono" panose="020B0609030804020204" charset="0"/>
              </a:rPr>
              <a:t>@triton.jit</a:t>
            </a:r>
          </a:p>
          <a:p>
            <a:r>
              <a:rPr lang="zh-CN" altLang="en-US" sz="1200">
                <a:latin typeface="Droid Sans Mono" panose="020B0609030804020204" charset="0"/>
                <a:cs typeface="Droid Sans Mono" panose="020B0609030804020204" charset="0"/>
              </a:rPr>
              <a:t>def add_kernel(</a:t>
            </a:r>
          </a:p>
          <a:p>
            <a:r>
              <a:rPr lang="zh-CN" altLang="en-US" sz="1200">
                <a:latin typeface="Droid Sans Mono" panose="020B0609030804020204" charset="0"/>
                <a:cs typeface="Droid Sans Mono" panose="020B0609030804020204" charset="0"/>
              </a:rPr>
              <a:t>    x_ptr,  # Pointer to first input vector</a:t>
            </a:r>
          </a:p>
          <a:p>
            <a:r>
              <a:rPr lang="zh-CN" altLang="en-US" sz="1200">
                <a:latin typeface="Droid Sans Mono" panose="020B0609030804020204" charset="0"/>
                <a:cs typeface="Droid Sans Mono" panose="020B0609030804020204" charset="0"/>
              </a:rPr>
              <a:t>    y_ptr,  # Pointer to second input vector</a:t>
            </a:r>
          </a:p>
          <a:p>
            <a:r>
              <a:rPr lang="zh-CN" altLang="en-US" sz="1200">
                <a:latin typeface="Droid Sans Mono" panose="020B0609030804020204" charset="0"/>
                <a:cs typeface="Droid Sans Mono" panose="020B0609030804020204" charset="0"/>
              </a:rPr>
              <a:t>    out_ptr, # Pointer to output vector</a:t>
            </a:r>
          </a:p>
          <a:p>
            <a:r>
              <a:rPr lang="zh-CN" altLang="en-US" sz="1200">
                <a:latin typeface="Droid Sans Mono" panose="020B0609030804020204" charset="0"/>
                <a:cs typeface="Droid Sans Mono" panose="020B0609030804020204" charset="0"/>
              </a:rPr>
              <a:t>    n_elements, # Size of the vector</a:t>
            </a:r>
          </a:p>
          <a:p>
            <a:r>
              <a:rPr lang="zh-CN" altLang="en-US" sz="1200">
                <a:latin typeface="Droid Sans Mono" panose="020B0609030804020204" charset="0"/>
                <a:cs typeface="Droid Sans Mono" panose="020B0609030804020204" charset="0"/>
              </a:rPr>
              <a:t>    BLOCK_SIZE: tl.constexpr, # Compile-time constant</a:t>
            </a:r>
          </a:p>
          <a:p>
            <a:r>
              <a:rPr lang="zh-CN" altLang="en-US" sz="1200">
                <a:latin typeface="Droid Sans Mono" panose="020B0609030804020204" charset="0"/>
                <a:cs typeface="Droid Sans Mono" panose="020B0609030804020204" charset="0"/>
              </a:rPr>
              <a:t>):</a:t>
            </a:r>
          </a:p>
          <a:p>
            <a:r>
              <a:rPr lang="zh-CN" altLang="en-US" sz="1200">
                <a:latin typeface="Droid Sans Mono" panose="020B0609030804020204" charset="0"/>
                <a:cs typeface="Droid Sans Mono" panose="020B0609030804020204" charset="0"/>
              </a:rPr>
              <a:t>    # 1. Identify which "Tile" this program handles</a:t>
            </a:r>
          </a:p>
          <a:p>
            <a:r>
              <a:rPr lang="zh-CN" altLang="en-US" sz="1200">
                <a:latin typeface="Droid Sans Mono" panose="020B0609030804020204" charset="0"/>
                <a:cs typeface="Droid Sans Mono" panose="020B0609030804020204" charset="0"/>
              </a:rPr>
              <a:t>    pid = tl.program_id(axis=0) </a:t>
            </a:r>
          </a:p>
          <a:p>
            <a:r>
              <a:rPr lang="zh-CN" altLang="en-US" sz="1200">
                <a:latin typeface="Droid Sans Mono" panose="020B0609030804020204" charset="0"/>
                <a:cs typeface="Droid Sans Mono" panose="020B0609030804020204" charset="0"/>
              </a:rPr>
              <a:t>    </a:t>
            </a:r>
          </a:p>
          <a:p>
            <a:r>
              <a:rPr lang="zh-CN" altLang="en-US" sz="1200">
                <a:latin typeface="Droid Sans Mono" panose="020B0609030804020204" charset="0"/>
                <a:cs typeface="Droid Sans Mono" panose="020B0609030804020204" charset="0"/>
              </a:rPr>
              <a:t>    # 2. Calculate memory offsets</a:t>
            </a:r>
          </a:p>
          <a:p>
            <a:r>
              <a:rPr lang="zh-CN" altLang="en-US" sz="1200">
                <a:latin typeface="Droid Sans Mono" panose="020B0609030804020204" charset="0"/>
                <a:cs typeface="Droid Sans Mono" panose="020B0609030804020204" charset="0"/>
              </a:rPr>
              <a:t>    block_start = pid * BLOCK_SIZE</a:t>
            </a:r>
          </a:p>
          <a:p>
            <a:r>
              <a:rPr lang="zh-CN" altLang="en-US" sz="1200">
                <a:latin typeface="Droid Sans Mono" panose="020B0609030804020204" charset="0"/>
                <a:cs typeface="Droid Sans Mono" panose="020B0609030804020204" charset="0"/>
              </a:rPr>
              <a:t>    offsets = block_start + tl.arange(0, BLOCK_SIZE)</a:t>
            </a:r>
          </a:p>
          <a:p>
            <a:r>
              <a:rPr lang="zh-CN" altLang="en-US" sz="1200">
                <a:latin typeface="Droid Sans Mono" panose="020B0609030804020204" charset="0"/>
                <a:cs typeface="Droid Sans Mono" panose="020B0609030804020204" charset="0"/>
              </a:rPr>
              <a:t>    </a:t>
            </a:r>
          </a:p>
          <a:p>
            <a:r>
              <a:rPr lang="zh-CN" altLang="en-US" sz="1200">
                <a:latin typeface="Droid Sans Mono" panose="020B0609030804020204" charset="0"/>
                <a:cs typeface="Droid Sans Mono" panose="020B0609030804020204" charset="0"/>
              </a:rPr>
              <a:t>    # 3. Create a mask to avoid out-of-bounds access</a:t>
            </a:r>
          </a:p>
          <a:p>
            <a:r>
              <a:rPr lang="zh-CN" altLang="en-US" sz="1200">
                <a:latin typeface="Droid Sans Mono" panose="020B0609030804020204" charset="0"/>
                <a:cs typeface="Droid Sans Mono" panose="020B0609030804020204" charset="0"/>
              </a:rPr>
              <a:t>    mask = offsets &lt; n_elements</a:t>
            </a:r>
          </a:p>
          <a:p>
            <a:r>
              <a:rPr lang="zh-CN" altLang="en-US" sz="1200">
                <a:latin typeface="Droid Sans Mono" panose="020B0609030804020204" charset="0"/>
                <a:cs typeface="Droid Sans Mono" panose="020B0609030804020204" charset="0"/>
              </a:rPr>
              <a:t>    </a:t>
            </a:r>
          </a:p>
          <a:p>
            <a:r>
              <a:rPr lang="zh-CN" altLang="en-US" sz="1200">
                <a:latin typeface="Droid Sans Mono" panose="020B0609030804020204" charset="0"/>
                <a:cs typeface="Droid Sans Mono" panose="020B0609030804020204" charset="0"/>
              </a:rPr>
              <a:t>    # 4. Load data from DRAM to Registers</a:t>
            </a:r>
          </a:p>
          <a:p>
            <a:r>
              <a:rPr lang="zh-CN" altLang="en-US" sz="1200">
                <a:latin typeface="Droid Sans Mono" panose="020B0609030804020204" charset="0"/>
                <a:cs typeface="Droid Sans Mono" panose="020B0609030804020204" charset="0"/>
              </a:rPr>
              <a:t>    x = tl.load(x_ptr + offsets, mask=mask)</a:t>
            </a:r>
          </a:p>
          <a:p>
            <a:r>
              <a:rPr lang="zh-CN" altLang="en-US" sz="1200">
                <a:latin typeface="Droid Sans Mono" panose="020B0609030804020204" charset="0"/>
                <a:cs typeface="Droid Sans Mono" panose="020B0609030804020204" charset="0"/>
              </a:rPr>
              <a:t>    y = tl.load(y_ptr + offsets, mask=mask)</a:t>
            </a:r>
          </a:p>
          <a:p>
            <a:r>
              <a:rPr lang="zh-CN" altLang="en-US" sz="1200">
                <a:latin typeface="Droid Sans Mono" panose="020B0609030804020204" charset="0"/>
                <a:cs typeface="Droid Sans Mono" panose="020B0609030804020204" charset="0"/>
              </a:rPr>
              <a:t>    </a:t>
            </a:r>
          </a:p>
          <a:p>
            <a:r>
              <a:rPr lang="zh-CN" altLang="en-US" sz="1200">
                <a:latin typeface="Droid Sans Mono" panose="020B0609030804020204" charset="0"/>
                <a:cs typeface="Droid Sans Mono" panose="020B0609030804020204" charset="0"/>
              </a:rPr>
              <a:t>    # 5. Perform the operation and Store back to DRAM</a:t>
            </a:r>
          </a:p>
          <a:p>
            <a:r>
              <a:rPr lang="zh-CN" altLang="en-US" sz="1200">
                <a:latin typeface="Droid Sans Mono" panose="020B0609030804020204" charset="0"/>
                <a:cs typeface="Droid Sans Mono" panose="020B0609030804020204" charset="0"/>
              </a:rPr>
              <a:t>    output = x + y</a:t>
            </a:r>
          </a:p>
          <a:p>
            <a:r>
              <a:rPr lang="zh-CN" altLang="en-US" sz="1200">
                <a:latin typeface="Droid Sans Mono" panose="020B0609030804020204" charset="0"/>
                <a:cs typeface="Droid Sans Mono" panose="020B0609030804020204" charset="0"/>
              </a:rPr>
              <a:t>    tl.store(out_ptr + offsets, output, mask=mask)</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9" name="标题 1"/>
          <p:cNvSpPr>
            <a:spLocks noGrp="1"/>
          </p:cNvSpPr>
          <p:nvPr>
            <p:ph type="title"/>
          </p:nvPr>
        </p:nvSpPr>
        <p:spPr/>
        <p:txBody>
          <a:bodyPr/>
          <a:lstStyle/>
          <a:p>
            <a:r>
              <a:rPr lang="zh-CN" altLang="en-US"/>
              <a:t>Launching the Kernel from Python</a:t>
            </a:r>
            <a:endParaRPr lang="x-none" altLang="zh-CN"/>
          </a:p>
        </p:txBody>
      </p:sp>
      <p:sp>
        <p:nvSpPr>
          <p:cNvPr id="1048681" name="页脚占位符 3"/>
          <p:cNvSpPr>
            <a:spLocks noGrp="1"/>
          </p:cNvSpPr>
          <p:nvPr>
            <p:ph type="ftr" sz="quarter" idx="11"/>
          </p:nvPr>
        </p:nvSpPr>
        <p:spPr/>
        <p:txBody>
          <a:bodyPr/>
          <a:lstStyle/>
          <a:p>
            <a:endParaRPr lang="zh-CN" altLang="en-US" dirty="0"/>
          </a:p>
        </p:txBody>
      </p:sp>
      <p:sp>
        <p:nvSpPr>
          <p:cNvPr id="1048682" name="灯片编号占位符 4"/>
          <p:cNvSpPr>
            <a:spLocks noGrp="1"/>
          </p:cNvSpPr>
          <p:nvPr>
            <p:ph type="sldNum" sz="quarter" idx="12"/>
          </p:nvPr>
        </p:nvSpPr>
        <p:spPr/>
        <p:txBody>
          <a:bodyPr/>
          <a:lstStyle/>
          <a:p>
            <a:fld id="{B33F7469-D28B-482F-B1B6-3B8E7CF51519}" type="slidenum">
              <a:rPr lang="zh-CN" altLang="en-US" smtClean="0"/>
              <a:t>14</a:t>
            </a:fld>
            <a:endParaRPr lang="zh-CN" altLang="en-US" dirty="0"/>
          </a:p>
        </p:txBody>
      </p:sp>
      <p:sp>
        <p:nvSpPr>
          <p:cNvPr id="1048680" name="内容占位符 2"/>
          <p:cNvSpPr>
            <a:spLocks noGrp="1"/>
          </p:cNvSpPr>
          <p:nvPr>
            <p:ph sz="quarter" idx="13"/>
          </p:nvPr>
        </p:nvSpPr>
        <p:spPr/>
        <p:txBody>
          <a:bodyPr>
            <a:normAutofit lnSpcReduction="10000"/>
          </a:bodyPr>
          <a:lstStyle/>
          <a:p>
            <a:r>
              <a:rPr lang="zh-CN" altLang="en-US"/>
              <a:t>The Host-Device Interaction</a:t>
            </a:r>
          </a:p>
          <a:p>
            <a:pPr lvl="1"/>
            <a:r>
              <a:rPr lang="zh-CN" altLang="en-US"/>
              <a:t>Calculating the Grid Size</a:t>
            </a:r>
          </a:p>
          <a:p>
            <a:pPr lvl="2"/>
            <a:endParaRPr lang="zh-CN" altLang="en-US"/>
          </a:p>
          <a:p>
            <a:pPr lvl="2"/>
            <a:endParaRPr lang="zh-CN" altLang="en-US"/>
          </a:p>
          <a:p>
            <a:pPr lvl="1"/>
            <a:r>
              <a:rPr lang="zh-CN" altLang="en-US"/>
              <a:t>The Call Syntax</a:t>
            </a:r>
          </a:p>
          <a:p>
            <a:pPr lvl="2"/>
            <a:endParaRPr lang="zh-CN" altLang="en-US" sz="1600"/>
          </a:p>
          <a:p>
            <a:pPr lvl="2"/>
            <a:endParaRPr lang="zh-CN" altLang="en-US" sz="1600"/>
          </a:p>
          <a:p>
            <a:pPr lvl="2"/>
            <a:endParaRPr lang="zh-CN" altLang="en-US"/>
          </a:p>
          <a:p>
            <a:pPr lvl="0"/>
            <a:r>
              <a:rPr lang="zh-CN" altLang="en-US"/>
              <a:t>Key Mechanics</a:t>
            </a:r>
          </a:p>
          <a:p>
            <a:pPr lvl="1"/>
            <a:r>
              <a:rPr lang="zh-CN" altLang="en-US"/>
              <a:t>Lazy Compilation: Triton compiles the kernel the first time it is called. Subsequent calls are near-instant.</a:t>
            </a:r>
          </a:p>
          <a:p>
            <a:pPr lvl="1"/>
            <a:r>
              <a:rPr lang="zh-CN" altLang="en-US"/>
              <a:t>Autotuning (Preview): Triton can automatically test different BLOCK_SIZE values to find the fastest one for your specific GPU.</a:t>
            </a:r>
          </a:p>
        </p:txBody>
      </p:sp>
      <p:sp>
        <p:nvSpPr>
          <p:cNvPr id="1048683" name="文本框 5"/>
          <p:cNvSpPr txBox="1"/>
          <p:nvPr/>
        </p:nvSpPr>
        <p:spPr>
          <a:xfrm>
            <a:off x="1172210" y="2129790"/>
            <a:ext cx="6407150" cy="460375"/>
          </a:xfrm>
          <a:prstGeom prst="rect">
            <a:avLst/>
          </a:prstGeom>
          <a:noFill/>
          <a:ln>
            <a:solidFill>
              <a:schemeClr val="tx1">
                <a:lumMod val="85000"/>
                <a:lumOff val="15000"/>
              </a:schemeClr>
            </a:solidFill>
          </a:ln>
        </p:spPr>
        <p:txBody>
          <a:bodyPr wrap="square" rtlCol="0">
            <a:spAutoFit/>
          </a:bodyPr>
          <a:lstStyle/>
          <a:p>
            <a:pPr marL="0" lvl="2" indent="0" fontAlgn="auto"/>
            <a:r>
              <a:rPr lang="zh-CN" altLang="en-US" sz="1200">
                <a:latin typeface="Droid Sans Mono" panose="020B0609030804020204" charset="0"/>
                <a:cs typeface="Droid Sans Mono" panose="020B0609030804020204" charset="0"/>
                <a:sym typeface="+mn-ea"/>
              </a:rPr>
              <a:t># A common pattern to calculate grid size</a:t>
            </a:r>
            <a:endParaRPr lang="zh-CN" altLang="en-US" sz="1200">
              <a:latin typeface="Droid Sans Mono" panose="020B0609030804020204" charset="0"/>
              <a:cs typeface="Droid Sans Mono" panose="020B0609030804020204" charset="0"/>
            </a:endParaRPr>
          </a:p>
          <a:p>
            <a:pPr marL="0" lvl="2" indent="0" fontAlgn="auto"/>
            <a:r>
              <a:rPr lang="zh-CN" altLang="en-US" sz="1200">
                <a:latin typeface="Droid Sans Mono" panose="020B0609030804020204" charset="0"/>
                <a:cs typeface="Droid Sans Mono" panose="020B0609030804020204" charset="0"/>
                <a:sym typeface="+mn-ea"/>
              </a:rPr>
              <a:t>grid = lambda meta: (triton.cdiv(n_elements, meta['BLOCK_SIZE']), )</a:t>
            </a:r>
            <a:endParaRPr lang="zh-CN" altLang="en-US" sz="1200">
              <a:latin typeface="Droid Sans Mono" panose="020B0609030804020204" charset="0"/>
              <a:cs typeface="Droid Sans Mono" panose="020B0609030804020204" charset="0"/>
            </a:endParaRPr>
          </a:p>
        </p:txBody>
      </p:sp>
      <p:sp>
        <p:nvSpPr>
          <p:cNvPr id="1048684" name="文本框 6"/>
          <p:cNvSpPr txBox="1"/>
          <p:nvPr/>
        </p:nvSpPr>
        <p:spPr>
          <a:xfrm>
            <a:off x="1172210" y="3145790"/>
            <a:ext cx="6407150" cy="802641"/>
          </a:xfrm>
          <a:prstGeom prst="rect">
            <a:avLst/>
          </a:prstGeom>
          <a:noFill/>
          <a:ln>
            <a:solidFill>
              <a:schemeClr val="tx1">
                <a:lumMod val="85000"/>
                <a:lumOff val="15000"/>
              </a:schemeClr>
            </a:solidFill>
          </a:ln>
        </p:spPr>
        <p:txBody>
          <a:bodyPr wrap="square" rtlCol="0">
            <a:spAutoFit/>
          </a:bodyPr>
          <a:lstStyle/>
          <a:p>
            <a:pPr marL="0" lvl="2" indent="0" fontAlgn="auto"/>
            <a:r>
              <a:rPr lang="zh-CN" altLang="en-US" sz="1200">
                <a:latin typeface="Droid Sans Mono" panose="020B0609030804020204" charset="0"/>
                <a:cs typeface="Droid Sans Mono" panose="020B0609030804020204" charset="0"/>
                <a:sym typeface="+mn-ea"/>
              </a:rPr>
              <a:t>add_kernel[grid](</a:t>
            </a:r>
          </a:p>
          <a:p>
            <a:pPr marL="0" lvl="2" indent="0" fontAlgn="auto"/>
            <a:r>
              <a:rPr lang="zh-CN" altLang="en-US" sz="1200">
                <a:latin typeface="Droid Sans Mono" panose="020B0609030804020204" charset="0"/>
                <a:cs typeface="Droid Sans Mono" panose="020B0609030804020204" charset="0"/>
                <a:sym typeface="+mn-ea"/>
              </a:rPr>
              <a:t>    x, y, output, n_elements, </a:t>
            </a:r>
          </a:p>
          <a:p>
            <a:pPr marL="0" lvl="2" indent="0" fontAlgn="auto"/>
            <a:r>
              <a:rPr lang="zh-CN" altLang="en-US" sz="1200">
                <a:latin typeface="Droid Sans Mono" panose="020B0609030804020204" charset="0"/>
                <a:cs typeface="Droid Sans Mono" panose="020B0609030804020204" charset="0"/>
                <a:sym typeface="+mn-ea"/>
              </a:rPr>
              <a:t>    BLOCK_SIZE=1024  # Passed as a tl.constexpr</a:t>
            </a:r>
          </a:p>
          <a:p>
            <a:pPr marL="0" lvl="2" indent="0" fontAlgn="auto"/>
            <a:r>
              <a:rPr lang="zh-CN" altLang="en-US" sz="1200">
                <a:latin typeface="Droid Sans Mono" panose="020B0609030804020204" charset="0"/>
                <a:cs typeface="Droid Sans Mono" panose="020B0609030804020204" charset="0"/>
                <a:sym typeface="+mn-ea"/>
              </a:rPr>
              <a:t>)</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标题 1"/>
          <p:cNvSpPr>
            <a:spLocks noGrp="1"/>
          </p:cNvSpPr>
          <p:nvPr>
            <p:ph type="title"/>
          </p:nvPr>
        </p:nvSpPr>
        <p:spPr/>
        <p:txBody>
          <a:bodyPr/>
          <a:lstStyle/>
          <a:p>
            <a:r>
              <a:rPr lang="zh-CN" altLang="en-US" sz="3200"/>
              <a:t>The Power of </a:t>
            </a:r>
            <a:r>
              <a:rPr lang="x-none" altLang="zh-CN" sz="3200"/>
              <a:t>Compile-Time Constants &amp; Specialization</a:t>
            </a:r>
          </a:p>
        </p:txBody>
      </p:sp>
      <p:sp>
        <p:nvSpPr>
          <p:cNvPr id="1048687" name="页脚占位符 3"/>
          <p:cNvSpPr>
            <a:spLocks noGrp="1"/>
          </p:cNvSpPr>
          <p:nvPr>
            <p:ph type="ftr" sz="quarter" idx="11"/>
          </p:nvPr>
        </p:nvSpPr>
        <p:spPr/>
        <p:txBody>
          <a:bodyPr/>
          <a:lstStyle/>
          <a:p>
            <a:endParaRPr lang="zh-CN" altLang="en-US" dirty="0"/>
          </a:p>
        </p:txBody>
      </p:sp>
      <p:sp>
        <p:nvSpPr>
          <p:cNvPr id="1048688" name="灯片编号占位符 4"/>
          <p:cNvSpPr>
            <a:spLocks noGrp="1"/>
          </p:cNvSpPr>
          <p:nvPr>
            <p:ph type="sldNum" sz="quarter" idx="12"/>
          </p:nvPr>
        </p:nvSpPr>
        <p:spPr/>
        <p:txBody>
          <a:bodyPr/>
          <a:lstStyle/>
          <a:p>
            <a:fld id="{B33F7469-D28B-482F-B1B6-3B8E7CF51519}" type="slidenum">
              <a:rPr lang="zh-CN" altLang="en-US" smtClean="0"/>
              <a:t>15</a:t>
            </a:fld>
            <a:endParaRPr lang="zh-CN" altLang="en-US" dirty="0"/>
          </a:p>
        </p:txBody>
      </p:sp>
      <p:sp>
        <p:nvSpPr>
          <p:cNvPr id="1048686" name="内容占位符 2"/>
          <p:cNvSpPr>
            <a:spLocks noGrp="1"/>
          </p:cNvSpPr>
          <p:nvPr>
            <p:ph sz="quarter" idx="13"/>
          </p:nvPr>
        </p:nvSpPr>
        <p:spPr/>
        <p:txBody>
          <a:bodyPr>
            <a:normAutofit lnSpcReduction="10000"/>
          </a:bodyPr>
          <a:lstStyle/>
          <a:p>
            <a:r>
              <a:rPr lang="zh-CN" altLang="en-US"/>
              <a:t>Why use tl.constexpr?</a:t>
            </a:r>
          </a:p>
          <a:p>
            <a:pPr lvl="1"/>
            <a:r>
              <a:rPr lang="zh-CN" altLang="en-US"/>
              <a:t>Loop Unrolling: The compiler can unroll loops if the number of iterations is a constant.</a:t>
            </a:r>
          </a:p>
          <a:p>
            <a:pPr lvl="1"/>
            <a:r>
              <a:rPr lang="zh-CN" altLang="en-US"/>
              <a:t>Shared Memory Allocation: Hardware needs to know exactly how much memory to reserve before the kernel starts.</a:t>
            </a:r>
          </a:p>
          <a:p>
            <a:pPr lvl="1"/>
            <a:r>
              <a:rPr lang="zh-CN" altLang="en-US"/>
              <a:t>Dead Code Elimination: If a tl.constexpr value makes a condition always False, the compiler removes that code entirely.</a:t>
            </a:r>
          </a:p>
          <a:p>
            <a:pPr lvl="0"/>
            <a:r>
              <a:rPr lang="zh-CN" altLang="en-US"/>
              <a:t>Kernel Specialization</a:t>
            </a:r>
          </a:p>
          <a:p>
            <a:pPr lvl="1"/>
            <a:r>
              <a:rPr lang="zh-CN" altLang="en-US"/>
              <a:t>Triton generates a new version of the kernel for every unique combination of constexpr values and data types.</a:t>
            </a:r>
          </a:p>
          <a:p>
            <a:pPr lvl="1"/>
            <a:r>
              <a:rPr lang="zh-CN" altLang="en-US"/>
              <a:t>Scenario A: Launch with BLOCK_SIZE=128 </a:t>
            </a:r>
            <a:r>
              <a:rPr lang="x-none" altLang="zh-CN"/>
              <a:t>→</a:t>
            </a:r>
            <a:r>
              <a:rPr lang="zh-CN" altLang="en-US"/>
              <a:t> Compiled Kernel V1.</a:t>
            </a:r>
          </a:p>
          <a:p>
            <a:pPr lvl="1"/>
            <a:r>
              <a:rPr lang="zh-CN" altLang="en-US"/>
              <a:t>Scenario B: Launch with BLOCK_SIZE=512 </a:t>
            </a:r>
            <a:r>
              <a:rPr lang="x-none" altLang="zh-CN">
                <a:sym typeface="+mn-ea"/>
              </a:rPr>
              <a:t>→</a:t>
            </a:r>
            <a:r>
              <a:rPr lang="zh-CN" altLang="en-US"/>
              <a:t> Compiled Kernel V2.</a:t>
            </a:r>
          </a:p>
          <a:p>
            <a:pPr lvl="1"/>
            <a:r>
              <a:rPr lang="zh-CN" altLang="en-US"/>
              <a:t>Result: No "if-statements" at runtime to check the block size; the code is hard-coded for that specific size, leading to maximum performance.</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标题 1"/>
          <p:cNvSpPr>
            <a:spLocks noGrp="1"/>
          </p:cNvSpPr>
          <p:nvPr>
            <p:ph type="title"/>
          </p:nvPr>
        </p:nvSpPr>
        <p:spPr/>
        <p:txBody>
          <a:bodyPr/>
          <a:lstStyle/>
          <a:p>
            <a:r>
              <a:rPr>
                <a:sym typeface="+mn-ea"/>
              </a:rPr>
              <a:t>Moving to 2D</a:t>
            </a:r>
            <a:r>
              <a:rPr lang="x-none" altLang="zh-CN">
                <a:sym typeface="+mn-ea"/>
              </a:rPr>
              <a:t>:</a:t>
            </a:r>
            <a:r>
              <a:rPr>
                <a:sym typeface="+mn-ea"/>
              </a:rPr>
              <a:t> Tiling &amp; Matrix Multiplication</a:t>
            </a:r>
            <a:endParaRPr lang="zh-CN" altLang="en-US"/>
          </a:p>
        </p:txBody>
      </p:sp>
      <p:sp>
        <p:nvSpPr>
          <p:cNvPr id="1048691" name="页脚占位符 3"/>
          <p:cNvSpPr>
            <a:spLocks noGrp="1"/>
          </p:cNvSpPr>
          <p:nvPr>
            <p:ph type="ftr" sz="quarter" idx="11"/>
          </p:nvPr>
        </p:nvSpPr>
        <p:spPr/>
        <p:txBody>
          <a:bodyPr/>
          <a:lstStyle/>
          <a:p>
            <a:endParaRPr lang="zh-CN" altLang="en-US" dirty="0"/>
          </a:p>
        </p:txBody>
      </p:sp>
      <p:sp>
        <p:nvSpPr>
          <p:cNvPr id="1048692" name="灯片编号占位符 4"/>
          <p:cNvSpPr>
            <a:spLocks noGrp="1"/>
          </p:cNvSpPr>
          <p:nvPr>
            <p:ph type="sldNum" sz="quarter" idx="12"/>
          </p:nvPr>
        </p:nvSpPr>
        <p:spPr/>
        <p:txBody>
          <a:bodyPr/>
          <a:lstStyle/>
          <a:p>
            <a:fld id="{B33F7469-D28B-482F-B1B6-3B8E7CF51519}" type="slidenum">
              <a:rPr lang="zh-CN" altLang="en-US" smtClean="0"/>
              <a:t>16</a:t>
            </a:fld>
            <a:endParaRPr lang="zh-CN" altLang="en-US" dirty="0"/>
          </a:p>
        </p:txBody>
      </p:sp>
      <p:sp>
        <p:nvSpPr>
          <p:cNvPr id="1048690" name="内容占位符 2"/>
          <p:cNvSpPr>
            <a:spLocks noGrp="1"/>
          </p:cNvSpPr>
          <p:nvPr>
            <p:ph sz="quarter" idx="13"/>
          </p:nvPr>
        </p:nvSpPr>
        <p:spPr/>
        <p:txBody>
          <a:bodyPr>
            <a:normAutofit fontScale="87500"/>
          </a:bodyPr>
          <a:lstStyle/>
          <a:p>
            <a:r>
              <a:rPr lang="zh-CN" altLang="en-US"/>
              <a:t>Beyond Vectors: Thinking in Tiles</a:t>
            </a:r>
          </a:p>
          <a:p>
            <a:pPr lvl="1"/>
            <a:r>
              <a:rPr lang="zh-CN" altLang="en-US"/>
              <a:t>offs_m = tl.arange(0, BLOCK_SIZE_M) (Vertical)</a:t>
            </a:r>
          </a:p>
          <a:p>
            <a:pPr lvl="1"/>
            <a:r>
              <a:rPr lang="zh-CN" altLang="en-US"/>
              <a:t>offs_n = tl.arange(0, BLOCK_SIZE_N) (Horizontal)</a:t>
            </a:r>
          </a:p>
          <a:p>
            <a:pPr lvl="1"/>
            <a:r>
              <a:rPr lang="zh-CN" altLang="en-US"/>
              <a:t>tile_pointers = base_ptr + offs_m[:, None] * stride_m + offs_n[None, :] * stride_n</a:t>
            </a:r>
          </a:p>
          <a:p>
            <a:pPr lvl="0"/>
            <a:r>
              <a:rPr lang="zh-CN" altLang="en-US"/>
              <a:t>The tl.dot Primitive</a:t>
            </a:r>
          </a:p>
          <a:p>
            <a:pPr lvl="1"/>
            <a:r>
              <a:rPr lang="zh-CN" altLang="en-US"/>
              <a:t>Matrix Multiplication ($C = A \times B$) is the "heavy lifter" of AI. Triton provides a hardware-accelerated primitive for this:</a:t>
            </a:r>
          </a:p>
          <a:p>
            <a:pPr lvl="1"/>
            <a:r>
              <a:rPr lang="zh-CN" altLang="en-US"/>
              <a:t>Syntax: accumulator = tl.dot(a_tile, b_tile, accumulator)</a:t>
            </a:r>
          </a:p>
          <a:p>
            <a:pPr lvl="1"/>
            <a:r>
              <a:rPr lang="zh-CN" altLang="en-US"/>
              <a:t>Requirement: Triton's tl.dot requires input tiles to be powers of two and typically at least 16 in dimension (depending on GPU architecture).</a:t>
            </a:r>
          </a:p>
          <a:p>
            <a:pPr lvl="0"/>
            <a:r>
              <a:rPr lang="zh-CN" altLang="en-US"/>
              <a:t>Memory Layout: Strides</a:t>
            </a:r>
          </a:p>
          <a:p>
            <a:pPr lvl="1"/>
            <a:r>
              <a:rPr lang="zh-CN" altLang="en-US"/>
              <a:t>To navigate 2D memory, Triton uses Strides. A stride tells the kernel how many elements to skip in memory to move to the next row or column.</a:t>
            </a:r>
          </a:p>
          <a:p>
            <a:pPr lvl="1"/>
            <a:r>
              <a:rPr lang="zh-CN" altLang="en-US"/>
              <a:t>row_major_stride = [Width, 1]</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标题 1"/>
          <p:cNvSpPr>
            <a:spLocks noGrp="1"/>
          </p:cNvSpPr>
          <p:nvPr>
            <p:ph type="title"/>
          </p:nvPr>
        </p:nvSpPr>
        <p:spPr/>
        <p:txBody>
          <a:bodyPr/>
          <a:lstStyle/>
          <a:p>
            <a:r>
              <a:rPr lang="zh-CN" altLang="en-US"/>
              <a:t>Understanding the Memory Hierarchy</a:t>
            </a:r>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17</a:t>
            </a:fld>
            <a:endParaRPr lang="zh-CN" altLang="en-US" dirty="0"/>
          </a:p>
        </p:txBody>
      </p:sp>
      <p:sp>
        <p:nvSpPr>
          <p:cNvPr id="1048694" name="内容占位符 2"/>
          <p:cNvSpPr>
            <a:spLocks noGrp="1"/>
          </p:cNvSpPr>
          <p:nvPr>
            <p:ph sz="quarter" idx="13"/>
          </p:nvPr>
        </p:nvSpPr>
        <p:spPr>
          <a:xfrm>
            <a:off x="523875" y="1132840"/>
            <a:ext cx="6553835" cy="4853305"/>
          </a:xfrm>
        </p:spPr>
        <p:txBody>
          <a:bodyPr>
            <a:normAutofit fontScale="90000" lnSpcReduction="20000"/>
          </a:bodyPr>
          <a:lstStyle/>
          <a:p>
            <a:r>
              <a:rPr lang="zh-CN" altLang="en-US"/>
              <a:t>Global Memory (DRAM)</a:t>
            </a:r>
          </a:p>
          <a:p>
            <a:pPr lvl="1"/>
            <a:r>
              <a:rPr lang="zh-CN" altLang="en-US"/>
              <a:t>Location: The large, "slow" memory on the GPU (e.g., 16GB HBM).</a:t>
            </a:r>
          </a:p>
          <a:p>
            <a:pPr lvl="1"/>
            <a:r>
              <a:rPr lang="zh-CN" altLang="en-US"/>
              <a:t>Role: Where your input and output tensors (PyTorch tensors) reside.</a:t>
            </a:r>
          </a:p>
          <a:p>
            <a:pPr lvl="1"/>
            <a:r>
              <a:rPr lang="zh-CN" altLang="en-US"/>
              <a:t>Access: Costly. We use tl.load and tl.store to access it.</a:t>
            </a:r>
          </a:p>
          <a:p>
            <a:pPr lvl="0"/>
            <a:r>
              <a:rPr lang="zh-CN" altLang="en-US"/>
              <a:t>Shared Memory (SRAM)</a:t>
            </a:r>
          </a:p>
          <a:p>
            <a:pPr lvl="1"/>
            <a:r>
              <a:rPr lang="zh-CN" altLang="en-US"/>
              <a:t>Location: Fast, on-chip memory shared by a multiprocessor.</a:t>
            </a:r>
          </a:p>
          <a:p>
            <a:pPr lvl="1"/>
            <a:r>
              <a:rPr lang="zh-CN" altLang="en-US"/>
              <a:t>Triton</a:t>
            </a:r>
            <a:r>
              <a:rPr lang="x-none" altLang="zh-CN"/>
              <a:t>’</a:t>
            </a:r>
            <a:r>
              <a:rPr lang="zh-CN" altLang="en-US"/>
              <a:t>s Advantage: In CUDA, you must manage this manually (__shared__). In Triton, the compiler automatically uses SRAM to buffer data during operations like tl.dot.</a:t>
            </a:r>
          </a:p>
          <a:p>
            <a:pPr lvl="0"/>
            <a:r>
              <a:rPr lang="zh-CN" altLang="en-US"/>
              <a:t>Registers</a:t>
            </a:r>
          </a:p>
          <a:p>
            <a:pPr lvl="1"/>
            <a:r>
              <a:rPr lang="zh-CN" altLang="en-US"/>
              <a:t>Location: The fastest, immediate storage for the "Program."</a:t>
            </a:r>
          </a:p>
          <a:p>
            <a:pPr lvl="1"/>
            <a:r>
              <a:rPr lang="zh-CN" altLang="en-US"/>
              <a:t>Role: Where actual arithmetic ($+, -, \times$) happens.Scale: Smallest capacity; Triton optimizes register allocation to prevent "spilling."</a:t>
            </a:r>
          </a:p>
          <a:p>
            <a:pPr lvl="0"/>
            <a:endParaRPr lang="zh-CN" altLang="en-US"/>
          </a:p>
        </p:txBody>
      </p:sp>
      <p:sp>
        <p:nvSpPr>
          <p:cNvPr id="1048696" name="页脚占位符 3"/>
          <p:cNvSpPr>
            <a:spLocks noGrp="1"/>
          </p:cNvSpPr>
          <p:nvPr>
            <p:ph type="ftr" sz="quarter" idx="11"/>
          </p:nvPr>
        </p:nvSpPr>
        <p:spPr/>
        <p:txBody>
          <a:bodyPr/>
          <a:lstStyle/>
          <a:p>
            <a:endParaRPr lang="zh-CN" altLang="en-US"/>
          </a:p>
        </p:txBody>
      </p:sp>
      <p:sp>
        <p:nvSpPr>
          <p:cNvPr id="1048695" name="内容占位符 5"/>
          <p:cNvSpPr>
            <a:spLocks noGrp="1"/>
          </p:cNvSpPr>
          <p:nvPr>
            <p:ph sz="quarter" idx="14"/>
          </p:nvPr>
        </p:nvSpPr>
        <p:spPr>
          <a:xfrm>
            <a:off x="7247890" y="1132840"/>
            <a:ext cx="4601210" cy="4855845"/>
          </a:xfrm>
        </p:spPr>
        <p:txBody>
          <a:bodyPr>
            <a:normAutofit/>
          </a:bodyPr>
          <a:lstStyle/>
          <a:p>
            <a:pPr lvl="0"/>
            <a:r>
              <a:rPr lang="zh-CN" altLang="en-US"/>
              <a:t>The Flow of Data</a:t>
            </a:r>
          </a:p>
          <a:p>
            <a:pPr lvl="1"/>
            <a:r>
              <a:rPr lang="zh-CN" altLang="en-US"/>
              <a:t>Load: Global Memory $\rightarrow$ Registers (via SRAM)</a:t>
            </a:r>
          </a:p>
          <a:p>
            <a:pPr lvl="1"/>
            <a:r>
              <a:rPr lang="zh-CN" altLang="en-US"/>
              <a:t>Compute: Arithmetic performed on Registers.</a:t>
            </a:r>
          </a:p>
          <a:p>
            <a:pPr lvl="1"/>
            <a:r>
              <a:rPr lang="zh-CN" altLang="en-US"/>
              <a:t>Store: Registers $\rightarrow$ Global Memory.</a:t>
            </a:r>
          </a:p>
          <a:p>
            <a:endParaRPr lang="zh-CN" altLang="en-US"/>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标题 1"/>
          <p:cNvSpPr>
            <a:spLocks noGrp="1"/>
          </p:cNvSpPr>
          <p:nvPr>
            <p:ph type="title"/>
          </p:nvPr>
        </p:nvSpPr>
        <p:spPr/>
        <p:txBody>
          <a:bodyPr/>
          <a:lstStyle/>
          <a:p>
            <a:r>
              <a:rPr lang="zh-CN" altLang="en-US"/>
              <a:t>Common Built-in Functions &amp; Reduction</a:t>
            </a:r>
          </a:p>
        </p:txBody>
      </p:sp>
      <p:sp>
        <p:nvSpPr>
          <p:cNvPr id="1048700" name="页脚占位符 3"/>
          <p:cNvSpPr>
            <a:spLocks noGrp="1"/>
          </p:cNvSpPr>
          <p:nvPr>
            <p:ph type="ftr" sz="quarter" idx="11"/>
          </p:nvPr>
        </p:nvSpPr>
        <p:spPr/>
        <p:txBody>
          <a:bodyPr/>
          <a:lstStyle/>
          <a:p>
            <a:endParaRPr lang="zh-CN" altLang="en-US"/>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18</a:t>
            </a:fld>
            <a:endParaRPr lang="zh-CN" altLang="en-US" dirty="0"/>
          </a:p>
        </p:txBody>
      </p:sp>
      <p:sp>
        <p:nvSpPr>
          <p:cNvPr id="1048699" name="内容占位符 2"/>
          <p:cNvSpPr>
            <a:spLocks noGrp="1"/>
          </p:cNvSpPr>
          <p:nvPr>
            <p:ph sz="quarter" idx="13"/>
          </p:nvPr>
        </p:nvSpPr>
        <p:spPr/>
        <p:txBody>
          <a:bodyPr/>
          <a:lstStyle/>
          <a:p>
            <a:r>
              <a:rPr lang="zh-CN" altLang="en-US"/>
              <a:t>Element-wise Math</a:t>
            </a:r>
          </a:p>
          <a:p>
            <a:pPr lvl="1"/>
            <a:r>
              <a:rPr lang="zh-CN" altLang="en-US"/>
              <a:t>Arithmetic: +, -, *, /, **</a:t>
            </a:r>
          </a:p>
          <a:p>
            <a:pPr lvl="1"/>
            <a:r>
              <a:rPr lang="zh-CN" altLang="en-US"/>
              <a:t>Math: tl.exp(), tl.log(), tl.sqrt(), tl.sin(), tl.cos()</a:t>
            </a:r>
          </a:p>
          <a:p>
            <a:pPr lvl="1"/>
            <a:r>
              <a:rPr lang="zh-CN" altLang="en-US"/>
              <a:t>Comparison: ==, !=, &lt;, &gt;, tl.where(condition, x, y)</a:t>
            </a:r>
          </a:p>
          <a:p>
            <a:pPr lvl="0"/>
            <a:r>
              <a:rPr lang="zh-CN" altLang="en-US"/>
              <a:t>Reduction Operations</a:t>
            </a:r>
          </a:p>
          <a:p>
            <a:pPr lvl="1"/>
            <a:r>
              <a:rPr lang="zh-CN" altLang="en-US"/>
              <a:t>tl.sum(data, axis=...): Computes the sum along the specified axis.</a:t>
            </a:r>
          </a:p>
          <a:p>
            <a:pPr lvl="1"/>
            <a:r>
              <a:rPr lang="zh-CN" altLang="en-US"/>
              <a:t>tl.max(data, axis=...): Finds the maximum value.</a:t>
            </a:r>
          </a:p>
          <a:p>
            <a:pPr lvl="1"/>
            <a:r>
              <a:rPr lang="zh-CN" altLang="en-US"/>
              <a:t>tl.argmin() / tl.argmax(): Finds the index of the min/max.</a:t>
            </a:r>
          </a:p>
          <a:p>
            <a:pPr lvl="0"/>
            <a:r>
              <a:rPr lang="zh-CN" altLang="en-US"/>
              <a:t>Atomic Operations</a:t>
            </a:r>
          </a:p>
          <a:p>
            <a:pPr lvl="1"/>
            <a:r>
              <a:rPr lang="zh-CN" altLang="en-US"/>
              <a:t>tl.atomic_add(pointer, value, mask)</a:t>
            </a:r>
          </a:p>
          <a:p>
            <a:pPr lvl="1"/>
            <a:r>
              <a:rPr lang="zh-CN" altLang="en-US"/>
              <a:t>tl.atomic_max(pointer, value, mask)</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标题 1"/>
          <p:cNvSpPr>
            <a:spLocks noGrp="1"/>
          </p:cNvSpPr>
          <p:nvPr>
            <p:ph type="title"/>
          </p:nvPr>
        </p:nvSpPr>
        <p:spPr/>
        <p:txBody>
          <a:bodyPr/>
          <a:lstStyle/>
          <a:p>
            <a:r>
              <a:rPr lang="zh-CN" altLang="en-US"/>
              <a:t>Case Study</a:t>
            </a:r>
            <a:r>
              <a:rPr lang="x-none" altLang="zh-CN"/>
              <a:t>:</a:t>
            </a:r>
            <a:r>
              <a:rPr lang="zh-CN" altLang="en-US"/>
              <a:t> Softmax &amp; Dimensional Reduction</a:t>
            </a:r>
          </a:p>
        </p:txBody>
      </p:sp>
      <p:sp>
        <p:nvSpPr>
          <p:cNvPr id="1048704" name="页脚占位符 3"/>
          <p:cNvSpPr>
            <a:spLocks noGrp="1"/>
          </p:cNvSpPr>
          <p:nvPr>
            <p:ph type="ftr" sz="quarter" idx="11"/>
          </p:nvPr>
        </p:nvSpPr>
        <p:spPr/>
        <p:txBody>
          <a:bodyPr/>
          <a:lstStyle/>
          <a:p>
            <a:endParaRPr lang="zh-CN" altLang="en-US" dirty="0"/>
          </a:p>
        </p:txBody>
      </p:sp>
      <p:sp>
        <p:nvSpPr>
          <p:cNvPr id="1048705" name="灯片编号占位符 4"/>
          <p:cNvSpPr>
            <a:spLocks noGrp="1"/>
          </p:cNvSpPr>
          <p:nvPr>
            <p:ph type="sldNum" sz="quarter" idx="12"/>
          </p:nvPr>
        </p:nvSpPr>
        <p:spPr/>
        <p:txBody>
          <a:bodyPr/>
          <a:lstStyle/>
          <a:p>
            <a:fld id="{B33F7469-D28B-482F-B1B6-3B8E7CF51519}" type="slidenum">
              <a:rPr lang="zh-CN" altLang="en-US" smtClean="0"/>
              <a:t>19</a:t>
            </a:fld>
            <a:endParaRPr lang="zh-CN" altLang="en-US" dirty="0"/>
          </a:p>
        </p:txBody>
      </p:sp>
      <p:sp>
        <p:nvSpPr>
          <p:cNvPr id="2" name="内容占位符 1"/>
          <p:cNvSpPr>
            <a:spLocks noGrp="1"/>
          </p:cNvSpPr>
          <p:nvPr>
            <p:ph sz="quarter" idx="13"/>
          </p:nvPr>
        </p:nvSpPr>
        <p:spPr/>
        <p:txBody>
          <a:bodyPr/>
          <a:lstStyle/>
          <a:p>
            <a:endParaRPr lang="zh-CN" altLang="en-US"/>
          </a:p>
        </p:txBody>
      </p:sp>
      <p:sp>
        <p:nvSpPr>
          <p:cNvPr id="1048706" name="文本框 5"/>
          <p:cNvSpPr txBox="1"/>
          <p:nvPr/>
        </p:nvSpPr>
        <p:spPr>
          <a:xfrm>
            <a:off x="1776095" y="1132840"/>
            <a:ext cx="8640000" cy="5158741"/>
          </a:xfrm>
          <a:prstGeom prst="rect">
            <a:avLst/>
          </a:prstGeom>
          <a:noFill/>
          <a:ln>
            <a:solidFill>
              <a:schemeClr val="tx1">
                <a:lumMod val="85000"/>
                <a:lumOff val="15000"/>
              </a:schemeClr>
            </a:solidFill>
          </a:ln>
        </p:spPr>
        <p:txBody>
          <a:bodyPr wrap="square" rtlCol="0">
            <a:spAutoFit/>
          </a:bodyPr>
          <a:lstStyle/>
          <a:p>
            <a:r>
              <a:rPr lang="zh-CN" altLang="en-US" sz="1600">
                <a:latin typeface="Droid Sans Mono" panose="020B0609030804020204" charset="0"/>
                <a:cs typeface="Droid Sans Mono" panose="020B0609030804020204" charset="0"/>
              </a:rPr>
              <a:t>@triton.jit</a:t>
            </a:r>
          </a:p>
          <a:p>
            <a:r>
              <a:rPr lang="zh-CN" altLang="en-US" sz="1600">
                <a:latin typeface="Droid Sans Mono" panose="020B0609030804020204" charset="0"/>
                <a:cs typeface="Droid Sans Mono" panose="020B0609030804020204" charset="0"/>
              </a:rPr>
              <a:t>def softmax_kernel(output_ptr, input_ptr, row_stride, n_cols, BLOCK_SIZE: tl.constexpr):</a:t>
            </a:r>
          </a:p>
          <a:p>
            <a:r>
              <a:rPr lang="zh-CN" altLang="en-US" sz="1600">
                <a:latin typeface="Droid Sans Mono" panose="020B0609030804020204" charset="0"/>
                <a:cs typeface="Droid Sans Mono" panose="020B0609030804020204" charset="0"/>
              </a:rPr>
              <a:t>    row_idx = tl.program_id(0)</a:t>
            </a:r>
          </a:p>
          <a:p>
            <a:r>
              <a:rPr lang="zh-CN" altLang="en-US" sz="1600">
                <a:latin typeface="Droid Sans Mono" panose="020B0609030804020204" charset="0"/>
                <a:cs typeface="Droid Sans Mono" panose="020B0609030804020204" charset="0"/>
              </a:rPr>
              <a:t>    # Move pointer to the start of the current row</a:t>
            </a:r>
          </a:p>
          <a:p>
            <a:r>
              <a:rPr lang="zh-CN" altLang="en-US" sz="1600">
                <a:latin typeface="Droid Sans Mono" panose="020B0609030804020204" charset="0"/>
                <a:cs typeface="Droid Sans Mono" panose="020B0609030804020204" charset="0"/>
              </a:rPr>
              <a:t>    row_start_ptr = input_ptr + row_idx * row_stride</a:t>
            </a:r>
          </a:p>
          <a:p>
            <a:r>
              <a:rPr lang="zh-CN" altLang="en-US" sz="1600">
                <a:latin typeface="Droid Sans Mono" panose="020B0609030804020204" charset="0"/>
                <a:cs typeface="Droid Sans Mono" panose="020B0609030804020204" charset="0"/>
              </a:rPr>
              <a:t>    offsets = tl.arange(0, BLOCK_SIZE)</a:t>
            </a:r>
          </a:p>
          <a:p>
            <a:r>
              <a:rPr lang="zh-CN" altLang="en-US" sz="1600">
                <a:latin typeface="Droid Sans Mono" panose="020B0609030804020204" charset="0"/>
                <a:cs typeface="Droid Sans Mono" panose="020B0609030804020204" charset="0"/>
              </a:rPr>
              <a:t>    mask = offsets &lt; n_cols</a:t>
            </a:r>
          </a:p>
          <a:p>
            <a:r>
              <a:rPr lang="zh-CN" altLang="en-US" sz="1600">
                <a:latin typeface="Droid Sans Mono" panose="020B0609030804020204" charset="0"/>
                <a:cs typeface="Droid Sans Mono" panose="020B0609030804020204" charset="0"/>
              </a:rPr>
              <a:t>    </a:t>
            </a:r>
          </a:p>
          <a:p>
            <a:r>
              <a:rPr lang="zh-CN" altLang="en-US" sz="1600">
                <a:latin typeface="Droid Sans Mono" panose="020B0609030804020204" charset="0"/>
                <a:cs typeface="Droid Sans Mono" panose="020B0609030804020204" charset="0"/>
              </a:rPr>
              <a:t>    # Load data</a:t>
            </a:r>
          </a:p>
          <a:p>
            <a:r>
              <a:rPr lang="zh-CN" altLang="en-US" sz="1600">
                <a:latin typeface="Droid Sans Mono" panose="020B0609030804020204" charset="0"/>
                <a:cs typeface="Droid Sans Mono" panose="020B0609030804020204" charset="0"/>
              </a:rPr>
              <a:t>    x = tl.load(row_start_ptr + offsets, mask=mask, other=-float('inf'))</a:t>
            </a:r>
          </a:p>
          <a:p>
            <a:r>
              <a:rPr lang="zh-CN" altLang="en-US" sz="1600">
                <a:latin typeface="Droid Sans Mono" panose="020B0609030804020204" charset="0"/>
                <a:cs typeface="Droid Sans Mono" panose="020B0609030804020204" charset="0"/>
              </a:rPr>
              <a:t>    # Compute Safe Softmax</a:t>
            </a:r>
          </a:p>
          <a:p>
            <a:r>
              <a:rPr lang="zh-CN" altLang="en-US" sz="1600">
                <a:latin typeface="Droid Sans Mono" panose="020B0609030804020204" charset="0"/>
                <a:cs typeface="Droid Sans Mono" panose="020B0609030804020204" charset="0"/>
              </a:rPr>
              <a:t>    z = x - tl.max(x, axis=0)</a:t>
            </a:r>
          </a:p>
          <a:p>
            <a:r>
              <a:rPr lang="zh-CN" altLang="en-US" sz="1600">
                <a:latin typeface="Droid Sans Mono" panose="020B0609030804020204" charset="0"/>
                <a:cs typeface="Droid Sans Mono" panose="020B0609030804020204" charset="0"/>
              </a:rPr>
              <a:t>    numerator = tl.exp(z)</a:t>
            </a:r>
          </a:p>
          <a:p>
            <a:r>
              <a:rPr lang="zh-CN" altLang="en-US" sz="1600">
                <a:latin typeface="Droid Sans Mono" panose="020B0609030804020204" charset="0"/>
                <a:cs typeface="Droid Sans Mono" panose="020B0609030804020204" charset="0"/>
              </a:rPr>
              <a:t>    denominator = tl.sum(numerator, axis=0)</a:t>
            </a:r>
          </a:p>
          <a:p>
            <a:r>
              <a:rPr lang="zh-CN" altLang="en-US" sz="1600">
                <a:latin typeface="Droid Sans Mono" panose="020B0609030804020204" charset="0"/>
                <a:cs typeface="Droid Sans Mono" panose="020B0609030804020204" charset="0"/>
              </a:rPr>
              <a:t>    softmax_out = numerator / denominator</a:t>
            </a:r>
          </a:p>
          <a:p>
            <a:r>
              <a:rPr lang="zh-CN" altLang="en-US" sz="1600">
                <a:latin typeface="Droid Sans Mono" panose="020B0609030804020204" charset="0"/>
                <a:cs typeface="Droid Sans Mono" panose="020B0609030804020204" charset="0"/>
              </a:rPr>
              <a:t>    </a:t>
            </a:r>
          </a:p>
          <a:p>
            <a:r>
              <a:rPr lang="zh-CN" altLang="en-US" sz="1600">
                <a:latin typeface="Droid Sans Mono" panose="020B0609030804020204" charset="0"/>
                <a:cs typeface="Droid Sans Mono" panose="020B0609030804020204" charset="0"/>
              </a:rPr>
              <a:t>    # Store result</a:t>
            </a:r>
          </a:p>
          <a:p>
            <a:r>
              <a:rPr lang="zh-CN" altLang="en-US" sz="1600">
                <a:latin typeface="Droid Sans Mono" panose="020B0609030804020204" charset="0"/>
                <a:cs typeface="Droid Sans Mono" panose="020B0609030804020204" charset="0"/>
              </a:rPr>
              <a:t>    tl.store(output_ptr + row_idx * row_stride + offsets, softmax_out, mask=mask)</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标题 1"/>
          <p:cNvSpPr>
            <a:spLocks noGrp="1"/>
          </p:cNvSpPr>
          <p:nvPr>
            <p:ph type="title"/>
          </p:nvPr>
        </p:nvSpPr>
        <p:spPr/>
        <p:txBody>
          <a:bodyPr/>
          <a:lstStyle/>
          <a:p>
            <a:r>
              <a:rPr lang="zh-CN" altLang="en-US"/>
              <a:t>Debugging &amp; The Triton Interpreter</a:t>
            </a:r>
          </a:p>
        </p:txBody>
      </p:sp>
      <p:sp>
        <p:nvSpPr>
          <p:cNvPr id="1048709" name="页脚占位符 3"/>
          <p:cNvSpPr>
            <a:spLocks noGrp="1"/>
          </p:cNvSpPr>
          <p:nvPr>
            <p:ph type="ftr" sz="quarter" idx="11"/>
          </p:nvPr>
        </p:nvSpPr>
        <p:spPr/>
        <p:txBody>
          <a:bodyPr/>
          <a:lstStyle/>
          <a:p>
            <a:endParaRPr lang="zh-CN" altLang="en-US" dirty="0"/>
          </a:p>
        </p:txBody>
      </p:sp>
      <p:sp>
        <p:nvSpPr>
          <p:cNvPr id="1048710" name="灯片编号占位符 4"/>
          <p:cNvSpPr>
            <a:spLocks noGrp="1"/>
          </p:cNvSpPr>
          <p:nvPr>
            <p:ph type="sldNum" sz="quarter" idx="12"/>
          </p:nvPr>
        </p:nvSpPr>
        <p:spPr/>
        <p:txBody>
          <a:bodyPr/>
          <a:lstStyle/>
          <a:p>
            <a:fld id="{B33F7469-D28B-482F-B1B6-3B8E7CF51519}" type="slidenum">
              <a:rPr lang="zh-CN" altLang="en-US" smtClean="0"/>
              <a:t>20</a:t>
            </a:fld>
            <a:endParaRPr lang="zh-CN" altLang="en-US" dirty="0"/>
          </a:p>
        </p:txBody>
      </p:sp>
      <p:sp>
        <p:nvSpPr>
          <p:cNvPr id="1048708" name="内容占位符 2"/>
          <p:cNvSpPr>
            <a:spLocks noGrp="1"/>
          </p:cNvSpPr>
          <p:nvPr>
            <p:ph sz="quarter" idx="13"/>
          </p:nvPr>
        </p:nvSpPr>
        <p:spPr/>
        <p:txBody>
          <a:bodyPr>
            <a:normAutofit fontScale="75000" lnSpcReduction="10000"/>
          </a:bodyPr>
          <a:lstStyle/>
          <a:p>
            <a:r>
              <a:rPr lang="zh-CN" altLang="en-US"/>
              <a:t>The Challenge: Debugging the GPU</a:t>
            </a:r>
          </a:p>
          <a:p>
            <a:pPr lvl="1"/>
            <a:r>
              <a:rPr lang="zh-CN" altLang="en-US"/>
              <a:t>Traditional GPU debugging (using cuda-gdb or Nsight) is complex. Because Triton kernels are JIT-compiled and highly parallel, "printing" variables from inside the GPU is not straightforward.</a:t>
            </a:r>
          </a:p>
          <a:p>
            <a:pPr lvl="0"/>
            <a:r>
              <a:rPr lang="zh-CN" altLang="en-US"/>
              <a:t>The Triton Interpreter (CPU Mode)</a:t>
            </a:r>
          </a:p>
          <a:p>
            <a:pPr lvl="1"/>
            <a:r>
              <a:rPr lang="zh-CN" altLang="en-US"/>
              <a:t>Triton provides a built-in Interpreter that allows you to run your kernel on the CPU for debugging purposes.</a:t>
            </a:r>
          </a:p>
          <a:p>
            <a:pPr lvl="1"/>
            <a:r>
              <a:rPr lang="zh-CN" altLang="en-US"/>
              <a:t>How it works: Instead of compiling to PTX (GPU machine code), Triton executes the logic using NumPy-like operations on the CPU.</a:t>
            </a:r>
          </a:p>
          <a:p>
            <a:pPr lvl="1"/>
            <a:r>
              <a:rPr lang="zh-CN" altLang="en-US"/>
              <a:t>Key Benefit: You can use standard Python tools like print() or pdb.set_trace() inside your @triton.jit function.Activation:Python# Force execution on the CPU interpreter</a:t>
            </a:r>
          </a:p>
          <a:p>
            <a:pPr lvl="1"/>
            <a:endParaRPr lang="zh-CN" altLang="en-US"/>
          </a:p>
          <a:p>
            <a:pPr lvl="1"/>
            <a:endParaRPr lang="zh-CN" altLang="en-US"/>
          </a:p>
          <a:p>
            <a:pPr lvl="1"/>
            <a:endParaRPr lang="zh-CN" altLang="en-US"/>
          </a:p>
          <a:p>
            <a:r>
              <a:rPr lang="zh-CN" altLang="en-US"/>
              <a:t>Best Practices for Debugging</a:t>
            </a:r>
          </a:p>
          <a:p>
            <a:pPr lvl="1"/>
            <a:r>
              <a:rPr lang="zh-CN" altLang="en-US"/>
              <a:t>Start Small: Use a small BLOCK_SIZE (e.g., 8 or 16) and a small input vector.</a:t>
            </a:r>
          </a:p>
          <a:p>
            <a:pPr lvl="1"/>
            <a:r>
              <a:rPr lang="zh-CN" altLang="en-US"/>
              <a:t>Verify Masks: Check if your masking logic is correctly handling out-of-bounds indices.</a:t>
            </a:r>
          </a:p>
          <a:p>
            <a:pPr lvl="1"/>
            <a:r>
              <a:rPr lang="zh-CN" altLang="en-US"/>
              <a:t>Check Shapes: Ensure that your 2D tiles and tl.dot inputs have compatible dimensions.</a:t>
            </a:r>
          </a:p>
        </p:txBody>
      </p:sp>
      <p:sp>
        <p:nvSpPr>
          <p:cNvPr id="1048711" name="文本框 5"/>
          <p:cNvSpPr txBox="1"/>
          <p:nvPr/>
        </p:nvSpPr>
        <p:spPr>
          <a:xfrm>
            <a:off x="1172210" y="3822065"/>
            <a:ext cx="4320000" cy="802641"/>
          </a:xfrm>
          <a:prstGeom prst="rect">
            <a:avLst/>
          </a:prstGeom>
          <a:noFill/>
          <a:ln>
            <a:solidFill>
              <a:schemeClr val="tx1">
                <a:lumMod val="85000"/>
                <a:lumOff val="15000"/>
              </a:schemeClr>
            </a:solidFill>
          </a:ln>
        </p:spPr>
        <p:txBody>
          <a:bodyPr wrap="square" rtlCol="0">
            <a:spAutoFit/>
          </a:bodyPr>
          <a:lstStyle/>
          <a:p>
            <a:pPr marL="0" lvl="1" indent="0" fontAlgn="auto"/>
            <a:r>
              <a:rPr lang="zh-CN" altLang="en-US" sz="1200">
                <a:latin typeface="Droid Sans Mono" panose="020B0609030804020204" charset="0"/>
                <a:cs typeface="Droid Sans Mono" panose="020B0609030804020204" charset="0"/>
                <a:sym typeface="+mn-ea"/>
              </a:rPr>
              <a:t>import os</a:t>
            </a:r>
            <a:endParaRPr lang="zh-CN" altLang="en-US" sz="1200">
              <a:latin typeface="Droid Sans Mono" panose="020B0609030804020204" charset="0"/>
              <a:cs typeface="Droid Sans Mono" panose="020B0609030804020204" charset="0"/>
            </a:endParaRPr>
          </a:p>
          <a:p>
            <a:pPr marL="0" lvl="1" indent="0" fontAlgn="auto"/>
            <a:r>
              <a:rPr lang="zh-CN" altLang="en-US" sz="1200">
                <a:latin typeface="Droid Sans Mono" panose="020B0609030804020204" charset="0"/>
                <a:cs typeface="Droid Sans Mono" panose="020B0609030804020204" charset="0"/>
                <a:sym typeface="+mn-ea"/>
              </a:rPr>
              <a:t>os.environ["TRITON_INTERPRET"] = "1"</a:t>
            </a:r>
            <a:endParaRPr lang="zh-CN" altLang="en-US" sz="1200">
              <a:latin typeface="Droid Sans Mono" panose="020B0609030804020204" charset="0"/>
              <a:cs typeface="Droid Sans Mono" panose="020B0609030804020204" charset="0"/>
            </a:endParaRPr>
          </a:p>
          <a:p>
            <a:pPr marL="0" lvl="1" indent="0" fontAlgn="auto"/>
            <a:r>
              <a:rPr lang="zh-CN" altLang="en-US" sz="1200">
                <a:latin typeface="Droid Sans Mono" panose="020B0609030804020204" charset="0"/>
                <a:cs typeface="Droid Sans Mono" panose="020B0609030804020204" charset="0"/>
                <a:sym typeface="+mn-ea"/>
              </a:rPr>
              <a:t># Now calling the kernel will run on CPU</a:t>
            </a:r>
            <a:endParaRPr lang="zh-CN" altLang="en-US" sz="1200">
              <a:latin typeface="Droid Sans Mono" panose="020B0609030804020204" charset="0"/>
              <a:cs typeface="Droid Sans Mono" panose="020B0609030804020204" charset="0"/>
            </a:endParaRPr>
          </a:p>
          <a:p>
            <a:pPr marL="0" lvl="1" indent="0" fontAlgn="auto"/>
            <a:r>
              <a:rPr lang="zh-CN" altLang="en-US" sz="1200">
                <a:latin typeface="Droid Sans Mono" panose="020B0609030804020204" charset="0"/>
                <a:cs typeface="Droid Sans Mono" panose="020B0609030804020204" charset="0"/>
                <a:sym typeface="+mn-ea"/>
              </a:rPr>
              <a:t>add_kernel[grid](...)</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标题 1"/>
          <p:cNvSpPr>
            <a:spLocks noGrp="1"/>
          </p:cNvSpPr>
          <p:nvPr>
            <p:ph type="title"/>
          </p:nvPr>
        </p:nvSpPr>
        <p:spPr/>
        <p:txBody>
          <a:bodyPr/>
          <a:lstStyle/>
          <a:p>
            <a:r>
              <a:rPr lang="zh-CN" altLang="en-US"/>
              <a:t>Performance Optimization &amp; Autotuning</a:t>
            </a:r>
          </a:p>
        </p:txBody>
      </p:sp>
      <p:sp>
        <p:nvSpPr>
          <p:cNvPr id="1048714" name="页脚占位符 3"/>
          <p:cNvSpPr>
            <a:spLocks noGrp="1"/>
          </p:cNvSpPr>
          <p:nvPr>
            <p:ph type="ftr" sz="quarter" idx="11"/>
          </p:nvPr>
        </p:nvSpPr>
        <p:spPr/>
        <p:txBody>
          <a:bodyPr/>
          <a:lstStyle/>
          <a:p>
            <a:endParaRPr lang="zh-CN" altLang="en-US" dirty="0"/>
          </a:p>
        </p:txBody>
      </p:sp>
      <p:sp>
        <p:nvSpPr>
          <p:cNvPr id="1048715" name="灯片编号占位符 4"/>
          <p:cNvSpPr>
            <a:spLocks noGrp="1"/>
          </p:cNvSpPr>
          <p:nvPr>
            <p:ph type="sldNum" sz="quarter" idx="12"/>
          </p:nvPr>
        </p:nvSpPr>
        <p:spPr/>
        <p:txBody>
          <a:bodyPr/>
          <a:lstStyle/>
          <a:p>
            <a:fld id="{B33F7469-D28B-482F-B1B6-3B8E7CF51519}" type="slidenum">
              <a:rPr lang="zh-CN" altLang="en-US" smtClean="0"/>
              <a:t>21</a:t>
            </a:fld>
            <a:endParaRPr lang="zh-CN" altLang="en-US" dirty="0"/>
          </a:p>
        </p:txBody>
      </p:sp>
      <p:sp>
        <p:nvSpPr>
          <p:cNvPr id="1048713" name="内容占位符 2"/>
          <p:cNvSpPr>
            <a:spLocks noGrp="1"/>
          </p:cNvSpPr>
          <p:nvPr>
            <p:ph sz="quarter" idx="13"/>
          </p:nvPr>
        </p:nvSpPr>
        <p:spPr/>
        <p:txBody>
          <a:bodyPr>
            <a:normAutofit/>
          </a:bodyPr>
          <a:lstStyle/>
          <a:p>
            <a:r>
              <a:rPr lang="zh-CN" altLang="en-US"/>
              <a:t>Finding the "Sweet Spot"</a:t>
            </a:r>
          </a:p>
          <a:p>
            <a:pPr lvl="1"/>
            <a:r>
              <a:rPr lang="zh-CN" altLang="en-US"/>
              <a:t>Performance on a GPU depends heavily on hardware-specific parameters like Block Size and the number of Warps. A configuration that is fast on an NVIDIA A100 might be slow on an RTX 4090.</a:t>
            </a:r>
          </a:p>
          <a:p>
            <a:pPr lvl="1"/>
            <a:r>
              <a:rPr lang="zh-CN" altLang="en-US"/>
              <a:t>The triton.autotune DecoratorInstead of hard-coding values, you can provide Triton with a list of configurations to test. Triton will automatically benchmark them and pick the winner.</a:t>
            </a:r>
          </a:p>
          <a:p>
            <a:pPr lvl="1"/>
            <a:endParaRPr lang="zh-CN" altLang="en-US"/>
          </a:p>
          <a:p>
            <a:pPr lvl="1"/>
            <a:endParaRPr lang="zh-CN" altLang="en-US"/>
          </a:p>
          <a:p>
            <a:pPr lvl="1"/>
            <a:endParaRPr lang="zh-CN" altLang="en-US"/>
          </a:p>
          <a:p>
            <a:pPr lvl="1"/>
            <a:endParaRPr lang="zh-CN" altLang="en-US"/>
          </a:p>
          <a:p>
            <a:pPr lvl="1"/>
            <a:endParaRPr lang="zh-CN" altLang="en-US"/>
          </a:p>
          <a:p>
            <a:pPr lvl="1"/>
            <a:endParaRPr lang="zh-CN" altLang="en-US"/>
          </a:p>
        </p:txBody>
      </p:sp>
      <p:sp>
        <p:nvSpPr>
          <p:cNvPr id="1048716" name="文本框 5"/>
          <p:cNvSpPr txBox="1"/>
          <p:nvPr/>
        </p:nvSpPr>
        <p:spPr>
          <a:xfrm>
            <a:off x="523875" y="3721735"/>
            <a:ext cx="5400000" cy="1767841"/>
          </a:xfrm>
          <a:prstGeom prst="rect">
            <a:avLst/>
          </a:prstGeom>
          <a:noFill/>
          <a:ln>
            <a:solidFill>
              <a:schemeClr val="tx1">
                <a:lumMod val="85000"/>
                <a:lumOff val="15000"/>
              </a:schemeClr>
            </a:solidFill>
          </a:ln>
        </p:spPr>
        <p:txBody>
          <a:bodyPr wrap="square" rtlCol="0">
            <a:spAutoFit/>
          </a:bodyPr>
          <a:lstStyle/>
          <a:p>
            <a:r>
              <a:rPr lang="zh-CN" altLang="en-US" sz="1000">
                <a:latin typeface="Droid Sans Mono" panose="020B0609030804020204" charset="0"/>
                <a:cs typeface="Droid Sans Mono" panose="020B0609030804020204" charset="0"/>
                <a:sym typeface="+mn-ea"/>
              </a:rPr>
              <a:t>@triton.autotune(</a:t>
            </a:r>
          </a:p>
          <a:p>
            <a:r>
              <a:rPr lang="zh-CN" altLang="en-US" sz="1000">
                <a:latin typeface="Droid Sans Mono" panose="020B0609030804020204" charset="0"/>
                <a:cs typeface="Droid Sans Mono" panose="020B0609030804020204" charset="0"/>
                <a:sym typeface="+mn-ea"/>
              </a:rPr>
              <a:t>configs=[</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        triton.Config({'BLOCK_SIZE': 128}, num_warps=4),</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        triton.Config({'BLOCK_SIZE': 256}, num_warps=8),</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        triton.Config({'BLOCK_SIZE': 512}, num_warps=8),</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    ],</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    key=['n_elements'], # Re-run tuning if N changes significantly</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@triton.jit</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def optimized_kernel(..., BLOCK_SIZE: tl.constexpr):</a:t>
            </a:r>
            <a:endParaRPr lang="zh-CN" altLang="en-US" sz="1000">
              <a:latin typeface="Droid Sans Mono" panose="020B0609030804020204" charset="0"/>
              <a:cs typeface="Droid Sans Mono" panose="020B0609030804020204" charset="0"/>
            </a:endParaRPr>
          </a:p>
          <a:p>
            <a:r>
              <a:rPr lang="zh-CN" altLang="en-US" sz="1000">
                <a:latin typeface="Droid Sans Mono" panose="020B0609030804020204" charset="0"/>
                <a:cs typeface="Droid Sans Mono" panose="020B0609030804020204" charset="0"/>
                <a:sym typeface="+mn-ea"/>
              </a:rPr>
              <a:t>    ...</a:t>
            </a:r>
            <a:endParaRPr lang="zh-CN" altLang="en-US" sz="1000">
              <a:latin typeface="Droid Sans Mono" panose="020B0609030804020204" charset="0"/>
              <a:cs typeface="Droid Sans Mono" panose="020B0609030804020204" charset="0"/>
            </a:endParaRPr>
          </a:p>
          <a:p>
            <a:endParaRPr lang="zh-CN" altLang="en-US" sz="1000">
              <a:latin typeface="Droid Sans Mono" panose="020B0609030804020204" charset="0"/>
              <a:cs typeface="Droid Sans Mono" panose="020B0609030804020204" charset="0"/>
            </a:endParaRPr>
          </a:p>
        </p:txBody>
      </p:sp>
      <p:sp>
        <p:nvSpPr>
          <p:cNvPr id="1048717" name="文本框 6"/>
          <p:cNvSpPr txBox="1"/>
          <p:nvPr/>
        </p:nvSpPr>
        <p:spPr>
          <a:xfrm>
            <a:off x="6401435" y="3721735"/>
            <a:ext cx="5400000" cy="1844041"/>
          </a:xfrm>
          <a:prstGeom prst="rect">
            <a:avLst/>
          </a:prstGeom>
          <a:noFill/>
          <a:ln>
            <a:noFill/>
          </a:ln>
        </p:spPr>
        <p:txBody>
          <a:bodyPr wrap="square" rtlCol="0">
            <a:spAutoFit/>
          </a:bodyPr>
          <a:lstStyle/>
          <a:p>
            <a:r>
              <a:rPr lang="zh-CN" altLang="en-US" sz="2000">
                <a:sym typeface="+mn-ea"/>
              </a:rPr>
              <a:t>Key Tuning Knobs</a:t>
            </a:r>
            <a:endParaRPr lang="zh-CN" altLang="en-US" sz="2000"/>
          </a:p>
          <a:p>
            <a:pPr marL="457200" lvl="1" indent="-406400" fontAlgn="auto">
              <a:buFont typeface="Arial" panose="020B0604020202020204" pitchFamily="34" charset="0"/>
              <a:buChar char="•"/>
            </a:pPr>
            <a:r>
              <a:rPr lang="zh-CN" altLang="en-US" sz="1600">
                <a:sym typeface="+mn-ea"/>
              </a:rPr>
              <a:t>num_warps: Controls how many warps (groups of 32 threads) execute the block. More warps can hide memory latency but use more registers.</a:t>
            </a:r>
            <a:endParaRPr lang="zh-CN" altLang="en-US" sz="1600"/>
          </a:p>
          <a:p>
            <a:pPr marL="457200" lvl="1" indent="-406400" fontAlgn="auto">
              <a:buFont typeface="Arial" panose="020B0604020202020204" pitchFamily="34" charset="0"/>
              <a:buChar char="•"/>
            </a:pPr>
            <a:r>
              <a:rPr lang="zh-CN" altLang="en-US" sz="1600">
                <a:sym typeface="+mn-ea"/>
              </a:rPr>
              <a:t>num_stages: Controls software pipelining. Higher values allow the GPU to load the next block of data while calculating the current one.</a:t>
            </a:r>
            <a:endParaRPr lang="zh-CN" altLang="en-US" sz="1600">
              <a:latin typeface="Droid Sans Mono" panose="020B0609030804020204" charset="0"/>
              <a:cs typeface="Droid Sans Mono" panose="020B0609030804020204" charset="0"/>
              <a:sym typeface="+mn-ea"/>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8" name="标题 1"/>
          <p:cNvSpPr>
            <a:spLocks noGrp="1"/>
          </p:cNvSpPr>
          <p:nvPr>
            <p:ph type="title"/>
          </p:nvPr>
        </p:nvSpPr>
        <p:spPr/>
        <p:txBody>
          <a:bodyPr/>
          <a:lstStyle/>
          <a:p>
            <a:r>
              <a:rPr lang="zh-CN" altLang="en-US"/>
              <a:t>Matrix Multiplication</a:t>
            </a:r>
            <a:r>
              <a:rPr lang="x-none" altLang="zh-CN"/>
              <a:t>:</a:t>
            </a:r>
            <a:r>
              <a:rPr lang="zh-CN" altLang="en-US"/>
              <a:t> Strides &amp; Layout</a:t>
            </a:r>
          </a:p>
        </p:txBody>
      </p:sp>
      <p:sp>
        <p:nvSpPr>
          <p:cNvPr id="1048720" name="页脚占位符 3"/>
          <p:cNvSpPr>
            <a:spLocks noGrp="1"/>
          </p:cNvSpPr>
          <p:nvPr>
            <p:ph type="ftr" sz="quarter" idx="11"/>
          </p:nvPr>
        </p:nvSpPr>
        <p:spPr/>
        <p:txBody>
          <a:bodyPr/>
          <a:lstStyle/>
          <a:p>
            <a:endParaRPr lang="zh-CN" altLang="en-US" dirty="0"/>
          </a:p>
        </p:txBody>
      </p:sp>
      <p:sp>
        <p:nvSpPr>
          <p:cNvPr id="1048721" name="灯片编号占位符 4"/>
          <p:cNvSpPr>
            <a:spLocks noGrp="1"/>
          </p:cNvSpPr>
          <p:nvPr>
            <p:ph type="sldNum" sz="quarter" idx="12"/>
          </p:nvPr>
        </p:nvSpPr>
        <p:spPr/>
        <p:txBody>
          <a:bodyPr/>
          <a:lstStyle/>
          <a:p>
            <a:fld id="{B33F7469-D28B-482F-B1B6-3B8E7CF51519}" type="slidenum">
              <a:rPr lang="zh-CN" altLang="en-US" smtClean="0"/>
              <a:t>22</a:t>
            </a:fld>
            <a:endParaRPr lang="zh-CN" altLang="en-US" dirty="0"/>
          </a:p>
        </p:txBody>
      </p:sp>
      <p:sp>
        <p:nvSpPr>
          <p:cNvPr id="1048719" name="内容占位符 2"/>
          <p:cNvSpPr>
            <a:spLocks noGrp="1"/>
          </p:cNvSpPr>
          <p:nvPr>
            <p:ph sz="quarter" idx="13"/>
          </p:nvPr>
        </p:nvSpPr>
        <p:spPr/>
        <p:txBody>
          <a:bodyPr/>
          <a:lstStyle/>
          <a:p>
            <a:r>
              <a:rPr lang="zh-CN" altLang="en-US"/>
              <a:t>Constructing 2D Tile Pointers</a:t>
            </a:r>
          </a:p>
          <a:p>
            <a:pPr lvl="1"/>
            <a:endParaRPr lang="zh-CN" altLang="en-US" sz="2000"/>
          </a:p>
          <a:p>
            <a:pPr lvl="1"/>
            <a:endParaRPr lang="zh-CN" altLang="en-US" sz="2000"/>
          </a:p>
          <a:p>
            <a:pPr lvl="1"/>
            <a:endParaRPr lang="zh-CN" altLang="en-US" sz="2000"/>
          </a:p>
          <a:p>
            <a:pPr lvl="1"/>
            <a:endParaRPr lang="zh-CN" altLang="en-US" sz="2000"/>
          </a:p>
          <a:p>
            <a:pPr lvl="1"/>
            <a:endParaRPr lang="zh-CN" altLang="en-US"/>
          </a:p>
          <a:p>
            <a:r>
              <a:rPr lang="zh-CN" altLang="en-US"/>
              <a:t>Why Strides Matter</a:t>
            </a:r>
          </a:p>
          <a:p>
            <a:pPr lvl="1"/>
            <a:r>
              <a:rPr lang="zh-CN" altLang="en-US"/>
              <a:t>Flexibility: Strides allow your kernel to handle Transposed Matrices or Sub-views (Slices) without copying data.</a:t>
            </a:r>
          </a:p>
          <a:p>
            <a:pPr lvl="1"/>
            <a:r>
              <a:rPr lang="zh-CN" altLang="en-US"/>
              <a:t>Efficiency: Proper strides ensure "Coalesced" access, where the GPU reads contiguous memory blocks.</a:t>
            </a:r>
          </a:p>
        </p:txBody>
      </p:sp>
      <p:sp>
        <p:nvSpPr>
          <p:cNvPr id="1048722" name="文本框 6"/>
          <p:cNvSpPr txBox="1"/>
          <p:nvPr/>
        </p:nvSpPr>
        <p:spPr>
          <a:xfrm>
            <a:off x="997585" y="1736725"/>
            <a:ext cx="7200000" cy="2021841"/>
          </a:xfrm>
          <a:prstGeom prst="rect">
            <a:avLst/>
          </a:prstGeom>
          <a:noFill/>
          <a:ln>
            <a:solidFill>
              <a:schemeClr val="tx1">
                <a:lumMod val="85000"/>
                <a:lumOff val="15000"/>
              </a:schemeClr>
            </a:solidFill>
          </a:ln>
        </p:spPr>
        <p:txBody>
          <a:bodyPr wrap="square" rtlCol="0">
            <a:spAutoFit/>
          </a:bodyPr>
          <a:lstStyle/>
          <a:p>
            <a:r>
              <a:rPr lang="x-none" altLang="zh-CN" sz="1600">
                <a:latin typeface="Droid Sans Mono" panose="020B0609030804020204" charset="0"/>
                <a:cs typeface="Droid Sans Mono" panose="020B0609030804020204" charset="0"/>
              </a:rPr>
              <a:t># Create 1D offset vectors</a:t>
            </a:r>
          </a:p>
          <a:p>
            <a:r>
              <a:rPr lang="x-none" altLang="zh-CN" sz="1600">
                <a:latin typeface="Droid Sans Mono" panose="020B0609030804020204" charset="0"/>
                <a:cs typeface="Droid Sans Mono" panose="020B0609030804020204" charset="0"/>
              </a:rPr>
              <a:t>offs_m = tl.arange(0, BLOCK_SIZE_M)</a:t>
            </a:r>
          </a:p>
          <a:p>
            <a:r>
              <a:rPr lang="x-none" altLang="zh-CN" sz="1600">
                <a:latin typeface="Droid Sans Mono" panose="020B0609030804020204" charset="0"/>
                <a:cs typeface="Droid Sans Mono" panose="020B0609030804020204" charset="0"/>
              </a:rPr>
              <a:t>offs_n = tl.arange(0, BLOCK_SIZE_N)</a:t>
            </a:r>
          </a:p>
          <a:p>
            <a:endParaRPr lang="x-none" altLang="zh-CN" sz="1600">
              <a:latin typeface="Droid Sans Mono" panose="020B0609030804020204" charset="0"/>
              <a:cs typeface="Droid Sans Mono" panose="020B0609030804020204" charset="0"/>
            </a:endParaRPr>
          </a:p>
          <a:p>
            <a:r>
              <a:rPr lang="x-none" altLang="zh-CN" sz="1600">
                <a:latin typeface="Droid Sans Mono" panose="020B0609030804020204" charset="0"/>
                <a:cs typeface="Droid Sans Mono" panose="020B0609030804020204" charset="0"/>
              </a:rPr>
              <a:t># Combine into 2D pointer grid (M, N)</a:t>
            </a:r>
          </a:p>
          <a:p>
            <a:r>
              <a:rPr lang="x-none" altLang="zh-CN" sz="1600">
                <a:latin typeface="Droid Sans Mono" panose="020B0609030804020204" charset="0"/>
                <a:cs typeface="Droid Sans Mono" panose="020B0609030804020204" charset="0"/>
              </a:rPr>
              <a:t># [M, 1] * stride_m + [1, N] * stride_n</a:t>
            </a:r>
          </a:p>
          <a:p>
            <a:r>
              <a:rPr lang="x-none" altLang="zh-CN" sz="1600">
                <a:latin typeface="Droid Sans Mono" panose="020B0609030804020204" charset="0"/>
                <a:cs typeface="Droid Sans Mono" panose="020B0609030804020204" charset="0"/>
              </a:rPr>
              <a:t>tile_ptr = base_ptr + (offs_m[:, None] * stride_m + </a:t>
            </a:r>
          </a:p>
          <a:p>
            <a:r>
              <a:rPr lang="x-none" altLang="zh-CN" sz="1600">
                <a:latin typeface="Droid Sans Mono" panose="020B0609030804020204" charset="0"/>
                <a:cs typeface="Droid Sans Mono" panose="020B0609030804020204" charset="0"/>
              </a:rPr>
              <a:t>                       offs_n[None, :] * stride_n)</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标题 1"/>
          <p:cNvSpPr>
            <a:spLocks noGrp="1"/>
          </p:cNvSpPr>
          <p:nvPr>
            <p:ph type="title"/>
          </p:nvPr>
        </p:nvSpPr>
        <p:spPr/>
        <p:txBody>
          <a:bodyPr/>
          <a:lstStyle/>
          <a:p>
            <a:r>
              <a:rPr lang="zh-CN" altLang="en-US"/>
              <a:t> Software Pipelining &amp; num_stages</a:t>
            </a:r>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23</a:t>
            </a:fld>
            <a:endParaRPr lang="zh-CN" altLang="en-US" dirty="0"/>
          </a:p>
        </p:txBody>
      </p:sp>
      <p:sp>
        <p:nvSpPr>
          <p:cNvPr id="1048724" name="内容占位符 2"/>
          <p:cNvSpPr>
            <a:spLocks noGrp="1"/>
          </p:cNvSpPr>
          <p:nvPr>
            <p:ph sz="quarter" idx="13"/>
          </p:nvPr>
        </p:nvSpPr>
        <p:spPr/>
        <p:txBody>
          <a:bodyPr>
            <a:normAutofit/>
          </a:bodyPr>
          <a:lstStyle/>
          <a:p>
            <a:r>
              <a:rPr lang="zh-CN" altLang="en-US"/>
              <a:t>Overcoming the Memory Wall</a:t>
            </a:r>
          </a:p>
          <a:p>
            <a:pPr lvl="1"/>
            <a:r>
              <a:rPr lang="zh-CN" altLang="en-US"/>
              <a:t>Arithmetic operations on a GPU (like floating-point additions) are much faster than the time it takes to fetch data from Global Memory. To prevent the GPU from sitting idle while waiting for data, we use Software Pipelining</a:t>
            </a:r>
          </a:p>
          <a:p>
            <a:pPr lvl="0"/>
            <a:r>
              <a:rPr lang="zh-CN" altLang="en-US"/>
              <a:t>What is Software Pipelining?</a:t>
            </a:r>
          </a:p>
          <a:p>
            <a:pPr lvl="1"/>
            <a:r>
              <a:rPr lang="zh-CN" altLang="en-US"/>
              <a:t>Instead of a "Load-then-Compute" sequence, the compiler overlaps them</a:t>
            </a:r>
          </a:p>
          <a:p>
            <a:pPr lvl="1"/>
            <a:r>
              <a:rPr lang="zh-CN" altLang="en-US"/>
              <a:t>Load data for the next iteration while computing the current iteration</a:t>
            </a:r>
          </a:p>
          <a:p>
            <a:pPr lvl="1"/>
            <a:r>
              <a:rPr lang="zh-CN" altLang="en-US"/>
              <a:t>Benefit: Hides memory latency by keeping the arithmetic logic units (ALUs) busy.</a:t>
            </a:r>
          </a:p>
          <a:p>
            <a:pPr lvl="0"/>
            <a:endParaRPr lang="zh-CN" altLang="en-US"/>
          </a:p>
        </p:txBody>
      </p:sp>
      <p:sp>
        <p:nvSpPr>
          <p:cNvPr id="1048726" name="页脚占位符 3"/>
          <p:cNvSpPr>
            <a:spLocks noGrp="1"/>
          </p:cNvSpPr>
          <p:nvPr>
            <p:ph type="ftr" sz="quarter" idx="11"/>
          </p:nvPr>
        </p:nvSpPr>
        <p:spPr/>
        <p:txBody>
          <a:bodyPr/>
          <a:lstStyle/>
          <a:p>
            <a:endParaRPr lang="zh-CN" altLang="en-US"/>
          </a:p>
        </p:txBody>
      </p:sp>
      <p:sp>
        <p:nvSpPr>
          <p:cNvPr id="1048725" name="内容占位符 5"/>
          <p:cNvSpPr>
            <a:spLocks noGrp="1"/>
          </p:cNvSpPr>
          <p:nvPr>
            <p:ph sz="quarter" idx="14"/>
          </p:nvPr>
        </p:nvSpPr>
        <p:spPr/>
        <p:txBody>
          <a:bodyPr>
            <a:normAutofit fontScale="90000" lnSpcReduction="20000"/>
          </a:bodyPr>
          <a:lstStyle/>
          <a:p>
            <a:pPr lvl="0"/>
            <a:r>
              <a:rPr lang="zh-CN" altLang="en-US"/>
              <a:t>The num_stages Parameter</a:t>
            </a:r>
          </a:p>
          <a:p>
            <a:pPr lvl="1"/>
            <a:r>
              <a:rPr lang="zh-CN" altLang="en-US"/>
              <a:t>In Triton, this is a tuning knob that determines the depth of the pipeline.</a:t>
            </a:r>
          </a:p>
          <a:p>
            <a:pPr lvl="1"/>
            <a:r>
              <a:rPr lang="zh-CN" altLang="en-US"/>
              <a:t>num_stages=2: Standard double-buffering.</a:t>
            </a:r>
          </a:p>
          <a:p>
            <a:pPr lvl="1"/>
            <a:r>
              <a:rPr lang="zh-CN" altLang="en-US"/>
              <a:t>num_stages=3+: Used for complex kernels (like FlashAttention) to pre-fetch data even further in advance.</a:t>
            </a:r>
          </a:p>
          <a:p>
            <a:pPr lvl="1"/>
            <a:r>
              <a:rPr lang="zh-CN" altLang="en-US"/>
              <a:t>Hardware Requirement: This feature leverages NVIDIA's cp.async instructions, which allow the hardware to move data from Global Memory to SRAM asynchronously.</a:t>
            </a:r>
          </a:p>
          <a:p>
            <a:pPr lvl="0"/>
            <a:r>
              <a:rPr lang="zh-CN" altLang="en-US"/>
              <a:t>Balancing Act</a:t>
            </a:r>
          </a:p>
          <a:p>
            <a:pPr lvl="1"/>
            <a:r>
              <a:rPr lang="zh-CN" altLang="en-US"/>
              <a:t>Higher num_stages: Better latency hiding but uses more SRAM.</a:t>
            </a:r>
          </a:p>
          <a:p>
            <a:pPr lvl="1"/>
            <a:r>
              <a:rPr lang="zh-CN" altLang="en-US"/>
              <a:t>Lower num_stages: Saves memory but might lead to "pipeline stalls" where the compute units wait for data.</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标题 1"/>
          <p:cNvSpPr>
            <a:spLocks noGrp="1"/>
          </p:cNvSpPr>
          <p:nvPr>
            <p:ph type="title"/>
          </p:nvPr>
        </p:nvSpPr>
        <p:spPr/>
        <p:txBody>
          <a:bodyPr/>
          <a:lstStyle/>
          <a:p>
            <a:r>
              <a:rPr lang="zh-CN" altLang="en-US"/>
              <a:t>Triton vs. CUDA — Shifting Your Mental Model</a:t>
            </a:r>
          </a:p>
        </p:txBody>
      </p:sp>
      <p:sp>
        <p:nvSpPr>
          <p:cNvPr id="1048730" name="页脚占位符 3"/>
          <p:cNvSpPr>
            <a:spLocks noGrp="1"/>
          </p:cNvSpPr>
          <p:nvPr>
            <p:ph type="ftr" sz="quarter" idx="11"/>
          </p:nvPr>
        </p:nvSpPr>
        <p:spPr/>
        <p:txBody>
          <a:bodyPr/>
          <a:lstStyle/>
          <a:p>
            <a:endParaRPr lang="zh-CN" altLang="en-US" dirty="0"/>
          </a:p>
        </p:txBody>
      </p:sp>
      <p:sp>
        <p:nvSpPr>
          <p:cNvPr id="1048731" name="灯片编号占位符 4"/>
          <p:cNvSpPr>
            <a:spLocks noGrp="1"/>
          </p:cNvSpPr>
          <p:nvPr>
            <p:ph type="sldNum" sz="quarter" idx="12"/>
          </p:nvPr>
        </p:nvSpPr>
        <p:spPr/>
        <p:txBody>
          <a:bodyPr/>
          <a:lstStyle/>
          <a:p>
            <a:fld id="{B33F7469-D28B-482F-B1B6-3B8E7CF51519}" type="slidenum">
              <a:rPr lang="zh-CN" altLang="en-US" smtClean="0"/>
              <a:t>24</a:t>
            </a:fld>
            <a:endParaRPr lang="zh-CN" altLang="en-US" dirty="0"/>
          </a:p>
        </p:txBody>
      </p:sp>
      <p:sp>
        <p:nvSpPr>
          <p:cNvPr id="1048729" name="内容占位符 2"/>
          <p:cNvSpPr>
            <a:spLocks noGrp="1"/>
          </p:cNvSpPr>
          <p:nvPr>
            <p:ph sz="quarter" idx="13"/>
          </p:nvPr>
        </p:nvSpPr>
        <p:spPr/>
        <p:txBody>
          <a:bodyPr>
            <a:normAutofit fontScale="95000" lnSpcReduction="10000"/>
          </a:bodyPr>
          <a:lstStyle/>
          <a:p>
            <a:r>
              <a:rPr lang="zh-CN" altLang="en-US"/>
              <a:t>A Philosophical Shift</a:t>
            </a:r>
          </a:p>
          <a:p>
            <a:pPr lvl="1"/>
            <a:endParaRPr lang="zh-CN" altLang="en-US"/>
          </a:p>
          <a:p>
            <a:pPr lvl="1"/>
            <a:endParaRPr lang="zh-CN" altLang="en-US"/>
          </a:p>
          <a:p>
            <a:pPr lvl="1"/>
            <a:endParaRPr lang="zh-CN" altLang="en-US"/>
          </a:p>
          <a:p>
            <a:pPr lvl="1"/>
            <a:endParaRPr lang="zh-CN" altLang="en-US"/>
          </a:p>
          <a:p>
            <a:pPr lvl="1"/>
            <a:endParaRPr lang="zh-CN" altLang="en-US"/>
          </a:p>
          <a:p>
            <a:pPr lvl="1"/>
            <a:endParaRPr lang="zh-CN" altLang="en-US"/>
          </a:p>
          <a:p>
            <a:pPr lvl="1"/>
            <a:endParaRPr lang="zh-CN" altLang="en-US"/>
          </a:p>
          <a:p>
            <a:pPr lvl="1"/>
            <a:endParaRPr lang="zh-CN" altLang="en-US"/>
          </a:p>
          <a:p>
            <a:r>
              <a:rPr lang="zh-CN" altLang="en-US"/>
              <a:t>When to use which?</a:t>
            </a:r>
          </a:p>
          <a:p>
            <a:pPr lvl="1"/>
            <a:r>
              <a:rPr lang="zh-CN" altLang="en-US"/>
              <a:t>Use CUDA if: extreme bit-level manipulation, irregular data structures, or legacy </a:t>
            </a:r>
            <a:r>
              <a:rPr lang="x-none" altLang="zh-CN"/>
              <a:t>h/w</a:t>
            </a:r>
            <a:r>
              <a:rPr lang="zh-CN" altLang="en-US"/>
              <a:t> support.</a:t>
            </a:r>
          </a:p>
          <a:p>
            <a:pPr lvl="1"/>
            <a:r>
              <a:rPr lang="zh-CN" altLang="en-US"/>
              <a:t>Use Triton if: building </a:t>
            </a:r>
            <a:r>
              <a:rPr lang="x-none" altLang="zh-CN"/>
              <a:t>DL</a:t>
            </a:r>
            <a:r>
              <a:rPr lang="zh-CN" altLang="en-US"/>
              <a:t> ops (MatMul, Att</a:t>
            </a:r>
            <a:r>
              <a:rPr lang="x-none" altLang="zh-CN"/>
              <a:t>n</a:t>
            </a:r>
            <a:r>
              <a:rPr lang="zh-CN" altLang="en-US"/>
              <a:t>, Norms) and want high perf</a:t>
            </a:r>
            <a:r>
              <a:rPr lang="x-none" altLang="zh-CN"/>
              <a:t>.</a:t>
            </a:r>
            <a:r>
              <a:rPr lang="zh-CN" altLang="en-US"/>
              <a:t> with 10x faster devel.</a:t>
            </a:r>
          </a:p>
        </p:txBody>
      </p:sp>
      <p:graphicFrame>
        <p:nvGraphicFramePr>
          <p:cNvPr id="4194304" name="表格 7"/>
          <p:cNvGraphicFramePr/>
          <p:nvPr/>
        </p:nvGraphicFramePr>
        <p:xfrm>
          <a:off x="1018540" y="1908175"/>
          <a:ext cx="8534400" cy="2286000"/>
        </p:xfrm>
        <a:graphic>
          <a:graphicData uri="http://schemas.openxmlformats.org/drawingml/2006/table">
            <a:tbl>
              <a:tblPr firstRow="1" bandRow="1">
                <a:tableStyleId>{5940675A-B579-460E-94D1-54222C63F5DA}</a:tableStyleId>
              </a:tblPr>
              <a:tblGrid>
                <a:gridCol w="180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3240000">
                  <a:extLst>
                    <a:ext uri="{9D8B030D-6E8A-4147-A177-3AD203B41FA5}">
                      <a16:colId xmlns:a16="http://schemas.microsoft.com/office/drawing/2014/main" val="20002"/>
                    </a:ext>
                  </a:extLst>
                </a:gridCol>
              </a:tblGrid>
              <a:tr h="381000">
                <a:tc>
                  <a:txBody>
                    <a:bodyPr/>
                    <a:lstStyle/>
                    <a:p>
                      <a:pPr algn="l">
                        <a:buNone/>
                      </a:pPr>
                      <a:r>
                        <a:rPr lang="x-none" altLang="zh-CN" sz="2000"/>
                        <a:t>Feature</a:t>
                      </a:r>
                    </a:p>
                  </a:txBody>
                  <a:tcPr anchor="ctr"/>
                </a:tc>
                <a:tc>
                  <a:txBody>
                    <a:bodyPr/>
                    <a:lstStyle/>
                    <a:p>
                      <a:pPr algn="l">
                        <a:buNone/>
                      </a:pPr>
                      <a:r>
                        <a:rPr lang="zh-CN" altLang="en-US" sz="2000">
                          <a:sym typeface="+mn-ea"/>
                        </a:rPr>
                        <a:t>CUDA C++ (Thread-Centric)</a:t>
                      </a:r>
                    </a:p>
                  </a:txBody>
                  <a:tcPr anchor="ctr"/>
                </a:tc>
                <a:tc>
                  <a:txBody>
                    <a:bodyPr/>
                    <a:lstStyle/>
                    <a:p>
                      <a:pPr algn="l">
                        <a:buNone/>
                      </a:pPr>
                      <a:r>
                        <a:rPr lang="zh-CN" altLang="en-US" sz="2000">
                          <a:sym typeface="+mn-ea"/>
                        </a:rPr>
                        <a:t>Triton (Block-Centric)</a:t>
                      </a:r>
                    </a:p>
                  </a:txBody>
                  <a:tcPr anchor="ctr"/>
                </a:tc>
                <a:extLst>
                  <a:ext uri="{0D108BD9-81ED-4DB2-BD59-A6C34878D82A}">
                    <a16:rowId xmlns:a16="http://schemas.microsoft.com/office/drawing/2014/main" val="10000"/>
                  </a:ext>
                </a:extLst>
              </a:tr>
              <a:tr h="381000">
                <a:tc>
                  <a:txBody>
                    <a:bodyPr/>
                    <a:lstStyle/>
                    <a:p>
                      <a:pPr algn="l">
                        <a:buNone/>
                      </a:pPr>
                      <a:r>
                        <a:rPr lang="x-none" altLang="zh-CN" sz="1600"/>
                        <a:t>Unit of Work</a:t>
                      </a:r>
                    </a:p>
                  </a:txBody>
                  <a:tcPr anchor="ctr"/>
                </a:tc>
                <a:tc>
                  <a:txBody>
                    <a:bodyPr/>
                    <a:lstStyle/>
                    <a:p>
                      <a:pPr algn="l">
                        <a:buNone/>
                      </a:pPr>
                      <a:r>
                        <a:rPr lang="zh-CN" altLang="en-US" sz="1600">
                          <a:sym typeface="+mn-ea"/>
                        </a:rPr>
                        <a:t>Single Thread</a:t>
                      </a:r>
                      <a:endParaRPr lang="zh-CN" altLang="en-US" sz="1600"/>
                    </a:p>
                  </a:txBody>
                  <a:tcPr anchor="ctr"/>
                </a:tc>
                <a:tc>
                  <a:txBody>
                    <a:bodyPr/>
                    <a:lstStyle/>
                    <a:p>
                      <a:pPr algn="l">
                        <a:buNone/>
                      </a:pPr>
                      <a:r>
                        <a:rPr lang="zh-CN" altLang="en-US" sz="1600">
                          <a:sym typeface="+mn-ea"/>
                        </a:rPr>
                        <a:t>Block / Tile (e.g., 128x128)</a:t>
                      </a:r>
                      <a:endParaRPr lang="zh-CN" altLang="en-US" sz="1600"/>
                    </a:p>
                  </a:txBody>
                  <a:tcPr anchor="ctr"/>
                </a:tc>
                <a:extLst>
                  <a:ext uri="{0D108BD9-81ED-4DB2-BD59-A6C34878D82A}">
                    <a16:rowId xmlns:a16="http://schemas.microsoft.com/office/drawing/2014/main" val="10001"/>
                  </a:ext>
                </a:extLst>
              </a:tr>
              <a:tr h="381000">
                <a:tc>
                  <a:txBody>
                    <a:bodyPr/>
                    <a:lstStyle/>
                    <a:p>
                      <a:pPr algn="l">
                        <a:buNone/>
                      </a:pPr>
                      <a:r>
                        <a:rPr lang="x-none" altLang="zh-CN" sz="1600"/>
                        <a:t>Index</a:t>
                      </a:r>
                    </a:p>
                  </a:txBody>
                  <a:tcPr anchor="ctr"/>
                </a:tc>
                <a:tc>
                  <a:txBody>
                    <a:bodyPr/>
                    <a:lstStyle/>
                    <a:p>
                      <a:pPr algn="l">
                        <a:buNone/>
                      </a:pPr>
                      <a:r>
                        <a:rPr lang="zh-CN" altLang="en-US" sz="1600">
                          <a:sym typeface="+mn-ea"/>
                        </a:rPr>
                        <a:t>threadIdx, blockIdx</a:t>
                      </a:r>
                      <a:endParaRPr lang="x-none" altLang="zh-CN" sz="1600"/>
                    </a:p>
                  </a:txBody>
                  <a:tcPr anchor="ctr"/>
                </a:tc>
                <a:tc>
                  <a:txBody>
                    <a:bodyPr/>
                    <a:lstStyle/>
                    <a:p>
                      <a:pPr algn="l">
                        <a:buNone/>
                      </a:pPr>
                      <a:r>
                        <a:rPr lang="zh-CN" altLang="en-US" sz="1600">
                          <a:sym typeface="+mn-ea"/>
                        </a:rPr>
                        <a:t>tl.program_id, tl.arange</a:t>
                      </a:r>
                      <a:endParaRPr lang="zh-CN" altLang="en-US" sz="1600"/>
                    </a:p>
                  </a:txBody>
                  <a:tcPr anchor="ctr"/>
                </a:tc>
                <a:extLst>
                  <a:ext uri="{0D108BD9-81ED-4DB2-BD59-A6C34878D82A}">
                    <a16:rowId xmlns:a16="http://schemas.microsoft.com/office/drawing/2014/main" val="10002"/>
                  </a:ext>
                </a:extLst>
              </a:tr>
              <a:tr h="381000">
                <a:tc>
                  <a:txBody>
                    <a:bodyPr/>
                    <a:lstStyle/>
                    <a:p>
                      <a:pPr algn="l">
                        <a:buNone/>
                      </a:pPr>
                      <a:r>
                        <a:rPr lang="x-none" altLang="zh-CN" sz="1600"/>
                        <a:t>Communication</a:t>
                      </a:r>
                    </a:p>
                  </a:txBody>
                  <a:tcPr anchor="ctr"/>
                </a:tc>
                <a:tc>
                  <a:txBody>
                    <a:bodyPr/>
                    <a:lstStyle/>
                    <a:p>
                      <a:pPr algn="l">
                        <a:buNone/>
                      </a:pPr>
                      <a:r>
                        <a:rPr lang="zh-CN" altLang="en-US" sz="1600">
                          <a:sym typeface="+mn-ea"/>
                        </a:rPr>
                        <a:t>Implicit (Handled by Compiler)</a:t>
                      </a:r>
                      <a:endParaRPr lang="zh-CN" altLang="en-US" sz="1600"/>
                    </a:p>
                  </a:txBody>
                  <a:tcPr anchor="ctr"/>
                </a:tc>
                <a:tc>
                  <a:txBody>
                    <a:bodyPr/>
                    <a:lstStyle/>
                    <a:p>
                      <a:pPr algn="l">
                        <a:buNone/>
                      </a:pPr>
                      <a:r>
                        <a:rPr lang="zh-CN" altLang="en-US" sz="1600">
                          <a:sym typeface="+mn-ea"/>
                        </a:rPr>
                        <a:t>Implicit (Handled by Compiler)</a:t>
                      </a:r>
                      <a:endParaRPr lang="zh-CN" altLang="en-US" sz="1600"/>
                    </a:p>
                  </a:txBody>
                  <a:tcPr anchor="ctr"/>
                </a:tc>
                <a:extLst>
                  <a:ext uri="{0D108BD9-81ED-4DB2-BD59-A6C34878D82A}">
                    <a16:rowId xmlns:a16="http://schemas.microsoft.com/office/drawing/2014/main" val="10003"/>
                  </a:ext>
                </a:extLst>
              </a:tr>
              <a:tr h="381000">
                <a:tc>
                  <a:txBody>
                    <a:bodyPr/>
                    <a:lstStyle/>
                    <a:p>
                      <a:pPr algn="l">
                        <a:buNone/>
                      </a:pPr>
                      <a:r>
                        <a:rPr lang="x-none" altLang="zh-CN" sz="1600"/>
                        <a:t>Optimization</a:t>
                      </a:r>
                    </a:p>
                  </a:txBody>
                  <a:tcPr anchor="ctr"/>
                </a:tc>
                <a:tc>
                  <a:txBody>
                    <a:bodyPr/>
                    <a:lstStyle/>
                    <a:p>
                      <a:pPr algn="l">
                        <a:buNone/>
                      </a:pPr>
                      <a:r>
                        <a:rPr lang="zh-CN" altLang="en-US" sz="1600">
                          <a:sym typeface="+mn-ea"/>
                        </a:rPr>
                        <a:t>Automatic via Tiled Abstraction</a:t>
                      </a:r>
                      <a:endParaRPr lang="zh-CN" altLang="en-US" sz="1600"/>
                    </a:p>
                  </a:txBody>
                  <a:tcPr anchor="ctr"/>
                </a:tc>
                <a:tc>
                  <a:txBody>
                    <a:bodyPr/>
                    <a:lstStyle/>
                    <a:p>
                      <a:pPr algn="l">
                        <a:buNone/>
                      </a:pPr>
                      <a:r>
                        <a:rPr lang="zh-CN" altLang="en-US" sz="1600">
                          <a:sym typeface="+mn-ea"/>
                        </a:rPr>
                        <a:t>Automatic via Tiled Abstraction</a:t>
                      </a:r>
                      <a:endParaRPr lang="zh-CN" altLang="en-US" sz="1600"/>
                    </a:p>
                  </a:txBody>
                  <a:tcPr anchor="ctr"/>
                </a:tc>
                <a:extLst>
                  <a:ext uri="{0D108BD9-81ED-4DB2-BD59-A6C34878D82A}">
                    <a16:rowId xmlns:a16="http://schemas.microsoft.com/office/drawing/2014/main" val="10004"/>
                  </a:ext>
                </a:extLst>
              </a:tr>
              <a:tr h="381000">
                <a:tc>
                  <a:txBody>
                    <a:bodyPr/>
                    <a:lstStyle/>
                    <a:p>
                      <a:pPr algn="l">
                        <a:buNone/>
                      </a:pPr>
                      <a:r>
                        <a:rPr lang="x-none" altLang="zh-CN" sz="1600"/>
                        <a:t>Portability</a:t>
                      </a:r>
                    </a:p>
                  </a:txBody>
                  <a:tcPr anchor="ctr"/>
                </a:tc>
                <a:tc>
                  <a:txBody>
                    <a:bodyPr/>
                    <a:lstStyle/>
                    <a:p>
                      <a:pPr algn="l">
                        <a:buNone/>
                      </a:pPr>
                      <a:r>
                        <a:rPr lang="zh-CN" altLang="en-US" sz="1600">
                          <a:sym typeface="+mn-ea"/>
                        </a:rPr>
                        <a:t>Target-specific (PTX/SASS)</a:t>
                      </a:r>
                      <a:endParaRPr lang="zh-CN" altLang="en-US" sz="1600"/>
                    </a:p>
                  </a:txBody>
                  <a:tcPr anchor="ctr"/>
                </a:tc>
                <a:tc>
                  <a:txBody>
                    <a:bodyPr/>
                    <a:lstStyle/>
                    <a:p>
                      <a:pPr algn="l">
                        <a:buNone/>
                      </a:pPr>
                      <a:r>
                        <a:rPr lang="zh-CN" altLang="en-US" sz="1600">
                          <a:sym typeface="+mn-ea"/>
                        </a:rPr>
                        <a:t>High-level IR (Easier to retarget)</a:t>
                      </a:r>
                      <a:endParaRPr lang="zh-CN" altLang="en-US" sz="1600"/>
                    </a:p>
                  </a:txBody>
                  <a:tcPr anchor="ct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4" name="标题 1"/>
          <p:cNvSpPr>
            <a:spLocks noGrp="1"/>
          </p:cNvSpPr>
          <p:nvPr>
            <p:ph type="title"/>
          </p:nvPr>
        </p:nvSpPr>
        <p:spPr/>
        <p:txBody>
          <a:bodyPr/>
          <a:lstStyle/>
          <a:p>
            <a:r>
              <a:rPr lang="zh-CN" altLang="en-US"/>
              <a:t>Limitations &amp; Current Constraints</a:t>
            </a:r>
          </a:p>
        </p:txBody>
      </p:sp>
      <p:sp>
        <p:nvSpPr>
          <p:cNvPr id="1048736" name="页脚占位符 3"/>
          <p:cNvSpPr>
            <a:spLocks noGrp="1"/>
          </p:cNvSpPr>
          <p:nvPr>
            <p:ph type="ftr" sz="quarter" idx="11"/>
          </p:nvPr>
        </p:nvSpPr>
        <p:spPr/>
        <p:txBody>
          <a:bodyPr/>
          <a:lstStyle/>
          <a:p>
            <a:endParaRPr lang="zh-CN" altLang="en-US"/>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25</a:t>
            </a:fld>
            <a:endParaRPr lang="zh-CN" altLang="en-US" dirty="0"/>
          </a:p>
        </p:txBody>
      </p:sp>
      <p:sp>
        <p:nvSpPr>
          <p:cNvPr id="1048735" name="内容占位符 2"/>
          <p:cNvSpPr>
            <a:spLocks noGrp="1"/>
          </p:cNvSpPr>
          <p:nvPr>
            <p:ph sz="quarter" idx="13"/>
          </p:nvPr>
        </p:nvSpPr>
        <p:spPr/>
        <p:txBody>
          <a:bodyPr>
            <a:normAutofit fontScale="95000" lnSpcReduction="10000"/>
          </a:bodyPr>
          <a:lstStyle/>
          <a:p>
            <a:r>
              <a:rPr lang="zh-CN" altLang="en-US"/>
              <a:t>Structural Constraints</a:t>
            </a:r>
          </a:p>
          <a:p>
            <a:pPr lvl="1"/>
            <a:r>
              <a:rPr lang="zh-CN" altLang="en-US"/>
              <a:t>Power of Two: Block sizes (M, N, K) must be powers of two (e.g., 64, 128, 1024). This is a hard requirement for the compiler's tiling logic.</a:t>
            </a:r>
          </a:p>
          <a:p>
            <a:pPr lvl="1"/>
            <a:r>
              <a:rPr lang="zh-CN" altLang="en-US"/>
              <a:t>Static Shapes: While tensors can have dynamic sizes, the BLOCK_SIZE must be a tl.constexpr (fixed at compile time for each specialized version).</a:t>
            </a:r>
          </a:p>
          <a:p>
            <a:pPr lvl="0"/>
            <a:r>
              <a:rPr lang="zh-CN" altLang="en-US"/>
              <a:t>Control Flow Restrictions</a:t>
            </a:r>
          </a:p>
          <a:p>
            <a:pPr lvl="1"/>
            <a:r>
              <a:rPr lang="zh-CN" altLang="en-US"/>
              <a:t>No Unstructured Jumps: Triton supports if and else, but complex, highly divergent branching (common in graph algorithms) can lead to significant performance degradation.</a:t>
            </a:r>
          </a:p>
          <a:p>
            <a:pPr lvl="1"/>
            <a:r>
              <a:rPr lang="zh-CN" altLang="en-US"/>
              <a:t>Limited Recursion: High-performance kernels are generally flat; recursive logic is not supported.</a:t>
            </a:r>
          </a:p>
          <a:p>
            <a:pPr lvl="0"/>
            <a:r>
              <a:rPr lang="zh-CN" altLang="en-US"/>
              <a:t>Hardware Support</a:t>
            </a:r>
          </a:p>
          <a:p>
            <a:pPr lvl="1"/>
            <a:r>
              <a:rPr lang="zh-CN" altLang="en-US"/>
              <a:t>Primary Platform: Highly optimized for NVIDIA GPUs (Ampere, Hopper, etc.).</a:t>
            </a:r>
          </a:p>
          <a:p>
            <a:pPr lvl="1"/>
            <a:r>
              <a:rPr lang="zh-CN" altLang="en-US"/>
              <a:t>Evolving Support: Support for AMD (ROCm) and Intel GPUs is improving but may lag behind in feature parity or specialized performance primitives</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8" name="标题 1"/>
          <p:cNvSpPr>
            <a:spLocks noGrp="1"/>
          </p:cNvSpPr>
          <p:nvPr>
            <p:ph type="title"/>
          </p:nvPr>
        </p:nvSpPr>
        <p:spPr/>
        <p:txBody>
          <a:bodyPr/>
          <a:lstStyle/>
          <a:p>
            <a:r>
              <a:t>Learning Path</a:t>
            </a:r>
            <a:r>
              <a:rPr lang="x-none" altLang="zh-CN"/>
              <a:t>: </a:t>
            </a:r>
            <a:r>
              <a:t>The 4-Stage Roadmap</a:t>
            </a:r>
            <a:endParaRPr lang="zh-CN" altLang="en-US"/>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26</a:t>
            </a:fld>
            <a:endParaRPr lang="zh-CN" altLang="en-US" dirty="0"/>
          </a:p>
        </p:txBody>
      </p:sp>
      <p:sp>
        <p:nvSpPr>
          <p:cNvPr id="1048739" name="内容占位符 2"/>
          <p:cNvSpPr>
            <a:spLocks noGrp="1"/>
          </p:cNvSpPr>
          <p:nvPr>
            <p:ph sz="quarter" idx="13"/>
          </p:nvPr>
        </p:nvSpPr>
        <p:spPr/>
        <p:txBody>
          <a:bodyPr>
            <a:normAutofit fontScale="92500"/>
          </a:bodyPr>
          <a:lstStyle/>
          <a:p>
            <a:r>
              <a:rPr lang="zh-CN" altLang="en-US"/>
              <a:t>Level 1: The Basics (1D)</a:t>
            </a:r>
          </a:p>
          <a:p>
            <a:pPr lvl="1"/>
            <a:r>
              <a:rPr lang="zh-CN" altLang="en-US"/>
              <a:t>Goal: Master the "Triton Mindset."</a:t>
            </a:r>
          </a:p>
          <a:p>
            <a:pPr lvl="1"/>
            <a:r>
              <a:rPr lang="zh-CN" altLang="en-US"/>
              <a:t>Task: Implement Vector Addition and Layer Normalization.</a:t>
            </a:r>
          </a:p>
          <a:p>
            <a:pPr lvl="1"/>
            <a:r>
              <a:rPr lang="zh-CN" altLang="en-US"/>
              <a:t>Focus: Pointer arithmetic, tl.arange, and the critical importance of Masking.</a:t>
            </a:r>
          </a:p>
          <a:p>
            <a:r>
              <a:rPr lang="zh-CN" altLang="en-US"/>
              <a:t>Level 2: Reductions &amp; Memory (Intermediate)</a:t>
            </a:r>
          </a:p>
          <a:p>
            <a:pPr lvl="1"/>
            <a:r>
              <a:rPr lang="zh-CN" altLang="en-US"/>
              <a:t>Goal: Understand how blocks communicate internally.</a:t>
            </a:r>
          </a:p>
          <a:p>
            <a:pPr lvl="1"/>
            <a:r>
              <a:rPr lang="zh-CN" altLang="en-US"/>
              <a:t>Task: Implement Softmax or a Fast Dropout kernel.</a:t>
            </a:r>
          </a:p>
          <a:p>
            <a:pPr lvl="1"/>
            <a:r>
              <a:rPr lang="zh-CN" altLang="en-US"/>
              <a:t>Focus: tl.sum, tl.max, and using other values in loads for numerical stability.</a:t>
            </a:r>
          </a:p>
          <a:p>
            <a:endParaRPr lang="zh-CN" altLang="en-US"/>
          </a:p>
        </p:txBody>
      </p:sp>
      <p:sp>
        <p:nvSpPr>
          <p:cNvPr id="1048741" name="页脚占位符 3"/>
          <p:cNvSpPr>
            <a:spLocks noGrp="1"/>
          </p:cNvSpPr>
          <p:nvPr>
            <p:ph type="ftr" sz="quarter" idx="11"/>
          </p:nvPr>
        </p:nvSpPr>
        <p:spPr/>
        <p:txBody>
          <a:bodyPr/>
          <a:lstStyle/>
          <a:p>
            <a:endParaRPr lang="zh-CN" altLang="en-US"/>
          </a:p>
        </p:txBody>
      </p:sp>
      <p:sp>
        <p:nvSpPr>
          <p:cNvPr id="1048740" name="内容占位符 5"/>
          <p:cNvSpPr>
            <a:spLocks noGrp="1"/>
          </p:cNvSpPr>
          <p:nvPr>
            <p:ph sz="quarter" idx="14"/>
          </p:nvPr>
        </p:nvSpPr>
        <p:spPr/>
        <p:txBody>
          <a:bodyPr>
            <a:normAutofit lnSpcReduction="10000"/>
          </a:bodyPr>
          <a:lstStyle/>
          <a:p>
            <a:r>
              <a:rPr lang="zh-CN" altLang="en-US"/>
              <a:t>Level 3: Tiling &amp; Strides (Advanced)</a:t>
            </a:r>
          </a:p>
          <a:p>
            <a:pPr lvl="1"/>
            <a:r>
              <a:rPr lang="zh-CN" altLang="en-US"/>
              <a:t>Goal: High-performance 2D operations.</a:t>
            </a:r>
          </a:p>
          <a:p>
            <a:pPr lvl="1"/>
            <a:r>
              <a:rPr lang="zh-CN" altLang="en-US"/>
              <a:t>Task: Build a Matrix Multiplication (MatMul) from scratch.</a:t>
            </a:r>
          </a:p>
          <a:p>
            <a:pPr lvl="1"/>
            <a:r>
              <a:rPr lang="zh-CN" altLang="en-US"/>
              <a:t>Focus: 2D broadcasting, tl.dot, and optimizing Strides for memory coalescing.</a:t>
            </a:r>
          </a:p>
          <a:p>
            <a:r>
              <a:rPr lang="zh-CN" altLang="en-US"/>
              <a:t>Level 4: Production Optimization (Expert)</a:t>
            </a:r>
          </a:p>
          <a:p>
            <a:pPr lvl="1"/>
            <a:r>
              <a:rPr lang="zh-CN" altLang="en-US"/>
              <a:t>Goal: Squeeze every TFLOPS out of the hardware.</a:t>
            </a:r>
          </a:p>
          <a:p>
            <a:pPr lvl="1"/>
            <a:r>
              <a:rPr lang="zh-CN" altLang="en-US"/>
              <a:t>Task: Implement FlashAttention or fused Transformer blocks.</a:t>
            </a:r>
          </a:p>
          <a:p>
            <a:pPr lvl="1"/>
            <a:r>
              <a:rPr lang="zh-CN" altLang="en-US"/>
              <a:t>Focus: autotune, num_stages (pipelining), and num_warps.</a:t>
            </a:r>
          </a:p>
          <a:p>
            <a:endParaRPr lang="zh-CN" altLang="en-US"/>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标题 1"/>
          <p:cNvSpPr>
            <a:spLocks noGrp="1"/>
          </p:cNvSpPr>
          <p:nvPr>
            <p:ph type="title"/>
          </p:nvPr>
        </p:nvSpPr>
        <p:spPr/>
        <p:txBody>
          <a:bodyPr/>
          <a:lstStyle/>
          <a:p>
            <a:r>
              <a:t>Conclusion &amp; Next Steps</a:t>
            </a:r>
            <a:endParaRPr lang="zh-CN" altLang="en-US"/>
          </a:p>
        </p:txBody>
      </p:sp>
      <p:sp>
        <p:nvSpPr>
          <p:cNvPr id="1048745" name="页脚占位符 3"/>
          <p:cNvSpPr>
            <a:spLocks noGrp="1"/>
          </p:cNvSpPr>
          <p:nvPr>
            <p:ph type="ftr" sz="quarter" idx="11"/>
          </p:nvPr>
        </p:nvSpPr>
        <p:spPr/>
        <p:txBody>
          <a:bodyPr/>
          <a:lstStyle/>
          <a:p>
            <a:endParaRPr lang="zh-CN" altLang="en-US"/>
          </a:p>
        </p:txBody>
      </p:sp>
      <p:sp>
        <p:nvSpPr>
          <p:cNvPr id="1048649" name="灯片编号占位符 4"/>
          <p:cNvSpPr>
            <a:spLocks noGrp="1"/>
          </p:cNvSpPr>
          <p:nvPr>
            <p:ph type="sldNum" sz="quarter" idx="12"/>
          </p:nvPr>
        </p:nvSpPr>
        <p:spPr/>
        <p:txBody>
          <a:bodyPr/>
          <a:lstStyle/>
          <a:p>
            <a:fld id="{B33F7469-D28B-482F-B1B6-3B8E7CF51519}" type="slidenum">
              <a:rPr lang="zh-CN" altLang="en-US" smtClean="0"/>
              <a:t>27</a:t>
            </a:fld>
            <a:endParaRPr lang="zh-CN" altLang="en-US" dirty="0"/>
          </a:p>
        </p:txBody>
      </p:sp>
      <p:sp>
        <p:nvSpPr>
          <p:cNvPr id="1048744" name="内容占位符 2"/>
          <p:cNvSpPr>
            <a:spLocks noGrp="1"/>
          </p:cNvSpPr>
          <p:nvPr>
            <p:ph sz="quarter" idx="13"/>
          </p:nvPr>
        </p:nvSpPr>
        <p:spPr/>
        <p:txBody>
          <a:bodyPr>
            <a:normAutofit fontScale="90000" lnSpcReduction="10000"/>
          </a:bodyPr>
          <a:lstStyle/>
          <a:p>
            <a:r>
              <a:rPr lang="zh-CN" altLang="en-US"/>
              <a:t>The Triton Revolution</a:t>
            </a:r>
          </a:p>
          <a:p>
            <a:pPr lvl="1"/>
            <a:r>
              <a:rPr lang="zh-CN" altLang="en-US"/>
              <a:t>Performance: Near-CUDA speeds with a fraction of the code complexity.</a:t>
            </a:r>
          </a:p>
          <a:p>
            <a:pPr lvl="1"/>
            <a:r>
              <a:rPr lang="zh-CN" altLang="en-US"/>
              <a:t>Accessibility: If you can write Python and understand NumPy, you can write GPU kernels.</a:t>
            </a:r>
          </a:p>
          <a:p>
            <a:pPr lvl="1"/>
            <a:r>
              <a:rPr lang="zh-CN" altLang="en-US"/>
              <a:t>Optimization: Let the compiler handle the "dirty work" of memory management, synchronization, and hardware specialized instructions.</a:t>
            </a:r>
          </a:p>
          <a:p>
            <a:pPr lvl="0"/>
            <a:r>
              <a:rPr lang="zh-CN" altLang="en-US"/>
              <a:t>Key Resources for Further Exploration</a:t>
            </a:r>
          </a:p>
          <a:p>
            <a:pPr lvl="1"/>
            <a:r>
              <a:rPr lang="x-none" altLang="zh-CN"/>
              <a:t>Official documents </a:t>
            </a:r>
            <a:r>
              <a:rPr lang="zh-CN" altLang="en-US">
                <a:hlinkClick r:id="rId2"/>
              </a:rPr>
              <a:t>https://triton-lang.org/main/index.html</a:t>
            </a:r>
            <a:endParaRPr lang="zh-CN" altLang="en-US"/>
          </a:p>
          <a:p>
            <a:pPr lvl="1"/>
            <a:r>
              <a:rPr lang="zh-CN" altLang="en-US"/>
              <a:t>Triton community meetup notes </a:t>
            </a:r>
            <a:r>
              <a:rPr lang="zh-CN" altLang="en-US">
                <a:hlinkClick r:id="rId3"/>
              </a:rPr>
              <a:t>https://github.com/triton-lang/triton/tree/main/docs/meetups</a:t>
            </a:r>
            <a:endParaRPr lang="zh-CN" altLang="en-US"/>
          </a:p>
          <a:p>
            <a:pPr lvl="1"/>
            <a:r>
              <a:rPr lang="x-none" altLang="zh-CN"/>
              <a:t>Triton Blog (</a:t>
            </a:r>
            <a:r>
              <a:rPr lang="zh-CN" altLang="en-US"/>
              <a:t>OpenAI</a:t>
            </a:r>
            <a:r>
              <a:rPr lang="x-none" altLang="zh-CN"/>
              <a:t>)</a:t>
            </a:r>
            <a:r>
              <a:rPr lang="zh-CN" altLang="en-US"/>
              <a:t> https://openai.com/index/triton/</a:t>
            </a:r>
          </a:p>
          <a:p>
            <a:pPr lvl="1"/>
            <a:r>
              <a:rPr lang="x-none" altLang="zh-CN"/>
              <a:t>Example: FlashAttention in Triton </a:t>
            </a:r>
            <a:r>
              <a:rPr lang="x-none" altLang="zh-CN">
                <a:hlinkClick r:id="rId4"/>
              </a:rPr>
              <a:t>https://github.com/Dao-AILab/flash-attention/blob/main/flash_attn/flash_attn_triton.py</a:t>
            </a:r>
            <a:endParaRPr lang="zh-CN" altLang="en-US"/>
          </a:p>
          <a:p>
            <a:pPr lvl="0"/>
            <a:r>
              <a:rPr lang="zh-CN" altLang="en-US"/>
              <a:t>Final Thought</a:t>
            </a:r>
            <a:r>
              <a:rPr lang="x-none" altLang="zh-CN"/>
              <a:t>: </a:t>
            </a:r>
            <a:r>
              <a:rPr lang="zh-CN" altLang="en-US"/>
              <a:t>"The goal of Triton is not just to make GPU programming faster, but to make it programmable by the researchers who are actually designing the models."</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339*187"/>
  <p:tag name="TABLE_ENDDRAG_RECT" val="588*291*339*18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4586</Words>
  <Application>Microsoft Office PowerPoint</Application>
  <PresentationFormat>宽屏</PresentationFormat>
  <Paragraphs>469</Paragraphs>
  <Slides>30</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Droid Sans Mono</vt:lpstr>
      <vt:lpstr>等线</vt:lpstr>
      <vt:lpstr>微软雅黑</vt:lpstr>
      <vt:lpstr>文泉驿微米黑</vt:lpstr>
      <vt:lpstr>Arial</vt:lpstr>
      <vt:lpstr>Calibri</vt:lpstr>
      <vt:lpstr>Calibri Light</vt:lpstr>
      <vt:lpstr>Ebrima</vt:lpstr>
      <vt:lpstr>Garamond</vt:lpstr>
      <vt:lpstr>Montserrat SemiBold</vt:lpstr>
      <vt:lpstr>Wingdings 3</vt:lpstr>
      <vt:lpstr>母版</vt:lpstr>
      <vt:lpstr>Hardware and Software Fundamentals of  Intelligent Computing  Systems</vt:lpstr>
      <vt:lpstr>Lecture 04: Introduction to the Triton Language</vt:lpstr>
      <vt:lpstr>Triton Programming: High-Performance GPU Kernels with Pythonic Ease</vt:lpstr>
      <vt:lpstr>Triton Overview</vt:lpstr>
      <vt:lpstr>Triton vs. Other Open-Source Programming Models</vt:lpstr>
      <vt:lpstr>Triton Language &amp; Compiler</vt:lpstr>
      <vt:lpstr>Triton Overview | Triton as a Programming Language</vt:lpstr>
      <vt:lpstr>Triton Open-Source Advantages</vt:lpstr>
      <vt:lpstr> Why Triton? Balancing Productivity and Performance</vt:lpstr>
      <vt:lpstr>The Triton Execution Model</vt:lpstr>
      <vt:lpstr>Kernel Anatomy &amp; Pointer Arithmetic</vt:lpstr>
      <vt:lpstr>Memory Operations — Load, Store, and Masking</vt:lpstr>
      <vt:lpstr>Case Study: Vector Addition Kernel</vt:lpstr>
      <vt:lpstr>Launching the Kernel from Python</vt:lpstr>
      <vt:lpstr>The Power of Compile-Time Constants &amp; Specialization</vt:lpstr>
      <vt:lpstr>Moving to 2D: Tiling &amp; Matrix Multiplication</vt:lpstr>
      <vt:lpstr>Understanding the Memory Hierarchy</vt:lpstr>
      <vt:lpstr>Common Built-in Functions &amp; Reduction</vt:lpstr>
      <vt:lpstr>Case Study: Softmax &amp; Dimensional Reduction</vt:lpstr>
      <vt:lpstr>Debugging &amp; The Triton Interpreter</vt:lpstr>
      <vt:lpstr>Performance Optimization &amp; Autotuning</vt:lpstr>
      <vt:lpstr>Matrix Multiplication: Strides &amp; Layout</vt:lpstr>
      <vt:lpstr> Software Pipelining &amp; num_stages</vt:lpstr>
      <vt:lpstr>Triton vs. CUDA — Shifting Your Mental Model</vt:lpstr>
      <vt:lpstr>Limitations &amp; Current Constraints</vt:lpstr>
      <vt:lpstr>Learning Path: The 4-Stage Roadmap</vt:lpstr>
      <vt:lpstr>Conclusion &amp; Next Steps</vt:lpstr>
      <vt:lpstr>The Solution: FlagOS, a Unified AI Software Stack</vt:lpstr>
      <vt:lpstr>PowerPoint 演示文稿</vt:lpstr>
      <vt:lpstr>Thanks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4：Triton 语言入门</dc:title>
  <dc:creator>王丰</dc:creator>
  <cp:lastModifiedBy>Xiang Li</cp:lastModifiedBy>
  <cp:revision>25</cp:revision>
  <dcterms:created xsi:type="dcterms:W3CDTF">2026-03-12T05:07:00Z</dcterms:created>
  <dcterms:modified xsi:type="dcterms:W3CDTF">2026-03-17T14:53:14Z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73a59436b4354da09f2a1aff800eacb2_23</vt:lpwstr>
  </property>
  <property fmtid="{D5CDD505-2E9C-101B-9397-08002B2CF9AE}" pid="3" name="KSOProductBuildVer">
    <vt:lpwstr>2052-12.1.0.19302</vt:lpwstr>
  </property>
</Properties>
</file>