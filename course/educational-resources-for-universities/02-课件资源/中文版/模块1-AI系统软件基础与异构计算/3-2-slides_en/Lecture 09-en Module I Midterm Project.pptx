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337" r:id="rId2"/>
    <p:sldId id="256" r:id="rId3"/>
    <p:sldId id="259" r:id="rId4"/>
    <p:sldId id="260" r:id="rId5"/>
    <p:sldId id="261" r:id="rId6"/>
    <p:sldId id="262" r:id="rId7"/>
    <p:sldId id="263" r:id="rId8"/>
    <p:sldId id="277" r:id="rId9"/>
    <p:sldId id="279" r:id="rId10"/>
    <p:sldId id="280" r:id="rId11"/>
  </p:sldIdLst>
  <p:sldSz cx="12192000" cy="6858000"/>
  <p:notesSz cx="6858000" cy="12192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83DEB3A-1B30-4ED8-929D-D4389515C9ED}" styleName="补充样式1">
    <a:wholeTbl>
      <a:tcTxStyle>
        <a:fontRef idx="none">
          <a:srgbClr val="08090C"/>
        </a:fontRef>
      </a:tcTxStyle>
      <a:tcStyle>
        <a:tcBdr>
          <a:left>
            <a:ln>
              <a:noFill/>
            </a:ln>
          </a:left>
          <a:right>
            <a:ln>
              <a:noFill/>
            </a:ln>
          </a:right>
          <a:top>
            <a:ln w="19050" cmpd="sng">
              <a:solidFill>
                <a:srgbClr val="8B0012"/>
              </a:solidFill>
            </a:ln>
          </a:top>
          <a:bottom>
            <a:ln w="19050" cmpd="sng">
              <a:solidFill>
                <a:srgbClr val="8B0012"/>
              </a:solidFill>
            </a:ln>
          </a:bottom>
          <a:insideH>
            <a:ln>
              <a:noFill/>
            </a:ln>
          </a:insideH>
          <a:insideV>
            <a:ln>
              <a:noFill/>
            </a:ln>
          </a:insideV>
        </a:tcBdr>
        <a:fill>
          <a:solidFill>
            <a:srgbClr val="FFFFFF"/>
          </a:solidFill>
        </a:fill>
      </a:tcStyle>
    </a:wholeTbl>
    <a:band2H>
      <a:tcStyle>
        <a:tcBdr/>
        <a:fill>
          <a:solidFill>
            <a:srgbClr val="8B0012">
              <a:lumMod val="10001"/>
              <a:lumOff val="89999"/>
            </a:srgbClr>
          </a:solidFill>
        </a:fill>
      </a:tcStyle>
    </a:band2H>
    <a:band1V>
      <a:tcStyle>
        <a:tcBdr/>
        <a:fill>
          <a:solidFill>
            <a:srgbClr val="8B0012">
              <a:lumMod val="10001"/>
              <a:lumOff val="89999"/>
            </a:srgbClr>
          </a:solidFill>
        </a:fill>
      </a:tcStyle>
    </a:band1V>
    <a:lastCol>
      <a:tcTxStyle b="on">
        <a:fontRef idx="none">
          <a:srgbClr val="08090C"/>
        </a:fontRef>
      </a:tcTxStyle>
      <a:tcStyle>
        <a:tcBdr/>
        <a:fill>
          <a:solidFill>
            <a:srgbClr val="8B0012">
              <a:lumMod val="20002"/>
              <a:lumOff val="79998"/>
            </a:srgbClr>
          </a:solidFill>
        </a:fill>
      </a:tcStyle>
    </a:lastCol>
    <a:firstCol>
      <a:tcTxStyle b="on">
        <a:fontRef idx="none">
          <a:srgbClr val="8B0012"/>
        </a:fontRef>
      </a:tcTxStyle>
      <a:tcStyle>
        <a:tcBdr/>
        <a:fill>
          <a:solidFill>
            <a:srgbClr val="8B0012">
              <a:lumMod val="20002"/>
              <a:lumOff val="79998"/>
            </a:srgbClr>
          </a:solidFill>
        </a:fill>
      </a:tcStyle>
    </a:firstCol>
    <a:lastRow>
      <a:tcTxStyle b="on">
        <a:fontRef idx="none">
          <a:srgbClr val="8B0012"/>
        </a:fontRef>
      </a:tcTxStyle>
      <a:tcStyle>
        <a:tcBdr>
          <a:left>
            <a:ln>
              <a:noFill/>
            </a:ln>
          </a:left>
          <a:right>
            <a:ln>
              <a:noFill/>
            </a:ln>
          </a:right>
          <a:top>
            <a:ln w="9525" cmpd="sng">
              <a:solidFill>
                <a:srgbClr val="8B0012"/>
              </a:solidFill>
            </a:ln>
          </a:top>
          <a:bottom>
            <a:ln w="12700" cmpd="sng">
              <a:solidFill>
                <a:srgbClr val="8B0012"/>
              </a:solidFill>
            </a:ln>
          </a:bottom>
          <a:insideH>
            <a:ln>
              <a:noFill/>
            </a:ln>
          </a:insideH>
          <a:insideV>
            <a:ln>
              <a:noFill/>
            </a:ln>
          </a:insideV>
        </a:tcBdr>
        <a:fill>
          <a:solidFill>
            <a:srgbClr val="FFFFFF"/>
          </a:solidFill>
        </a:fill>
      </a:tcStyle>
    </a:lastRow>
    <a:firstRow>
      <a:tcTxStyle b="on">
        <a:fontRef idx="none">
          <a:srgbClr val="8B0012"/>
        </a:fontRef>
      </a:tcTxStyle>
      <a:tcStyle>
        <a:tcBdr>
          <a:left>
            <a:ln>
              <a:noFill/>
            </a:ln>
          </a:left>
          <a:right>
            <a:ln>
              <a:noFill/>
            </a:ln>
          </a:right>
          <a:top>
            <a:ln w="19050" cmpd="sng">
              <a:solidFill>
                <a:srgbClr val="8B0012"/>
              </a:solidFill>
            </a:ln>
          </a:top>
          <a:bottom>
            <a:ln w="9525" cmpd="sng">
              <a:solidFill>
                <a:srgbClr val="8B0012"/>
              </a:solidFill>
            </a:ln>
          </a:bottom>
          <a:insideH>
            <a:ln>
              <a:noFill/>
            </a:ln>
          </a:insideH>
          <a:insideV>
            <a:ln>
              <a:noFill/>
            </a:ln>
          </a:insideV>
        </a:tcBdr>
        <a:fill>
          <a:solidFill>
            <a:srgbClr val="FFFFFF"/>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442" autoAdjust="0"/>
  </p:normalViewPr>
  <p:slideViewPr>
    <p:cSldViewPr snapToGrid="0" snapToObjects="1">
      <p:cViewPr varScale="1">
        <p:scale>
          <a:sx n="50" d="100"/>
          <a:sy n="50" d="100"/>
        </p:scale>
        <p:origin x="103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4" name="图片 3"/>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上下">
    <p:spTree>
      <p:nvGrpSpPr>
        <p:cNvPr id="1" name=""/>
        <p:cNvGrpSpPr/>
        <p:nvPr/>
      </p:nvGrpSpPr>
      <p:grpSpPr>
        <a:xfrm>
          <a:off x="0" y="0"/>
          <a:ext cx="0" cy="0"/>
          <a:chOff x="0" y="0"/>
          <a:chExt cx="0" cy="0"/>
        </a:xfrm>
      </p:grpSpPr>
      <p:sp>
        <p:nvSpPr>
          <p:cNvPr id="1048642" name="标题 1"/>
          <p:cNvSpPr>
            <a:spLocks noGrp="1"/>
          </p:cNvSpPr>
          <p:nvPr>
            <p:ph type="title"/>
          </p:nvPr>
        </p:nvSpPr>
        <p:spPr/>
        <p:txBody>
          <a:bodyPr/>
          <a:lstStyle/>
          <a:p>
            <a:r>
              <a:rPr lang="zh-CN" altLang="en-US"/>
              <a:t>单击此处编辑母版标题样式</a:t>
            </a:r>
          </a:p>
        </p:txBody>
      </p:sp>
      <p:sp>
        <p:nvSpPr>
          <p:cNvPr id="1048643"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48644"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48645" name="内容占位符 3"/>
          <p:cNvSpPr>
            <a:spLocks noGrp="1"/>
          </p:cNvSpPr>
          <p:nvPr>
            <p:ph sz="quarter" idx="13" hasCustomPrompt="1"/>
          </p:nvPr>
        </p:nvSpPr>
        <p:spPr>
          <a:xfrm>
            <a:off x="523874" y="1323975"/>
            <a:ext cx="11277601"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1050438" name="标题 1"/>
          <p:cNvSpPr>
            <a:spLocks noGrp="1"/>
          </p:cNvSpPr>
          <p:nvPr>
            <p:ph type="title"/>
          </p:nvPr>
        </p:nvSpPr>
        <p:spPr/>
        <p:txBody>
          <a:bodyPr/>
          <a:lstStyle/>
          <a:p>
            <a:r>
              <a:rPr lang="zh-CN" altLang="en-US"/>
              <a:t>单击此处编辑母版标题样式</a:t>
            </a:r>
          </a:p>
        </p:txBody>
      </p:sp>
      <p:sp>
        <p:nvSpPr>
          <p:cNvPr id="1050439"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50440" name="内容占位符 3"/>
          <p:cNvSpPr>
            <a:spLocks noGrp="1"/>
          </p:cNvSpPr>
          <p:nvPr>
            <p:ph sz="quarter" idx="13" hasCustomPrompt="1"/>
          </p:nvPr>
        </p:nvSpPr>
        <p:spPr>
          <a:xfrm>
            <a:off x="523873" y="1323976"/>
            <a:ext cx="5591177"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1"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50442" name="内容占位符 3"/>
          <p:cNvSpPr>
            <a:spLocks noGrp="1"/>
          </p:cNvSpPr>
          <p:nvPr>
            <p:ph sz="quarter" idx="14" hasCustomPrompt="1"/>
          </p:nvPr>
        </p:nvSpPr>
        <p:spPr>
          <a:xfrm>
            <a:off x="6210297" y="1323977"/>
            <a:ext cx="5591177" cy="4856162"/>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左右">
    <p:spTree>
      <p:nvGrpSpPr>
        <p:cNvPr id="1" name=""/>
        <p:cNvGrpSpPr/>
        <p:nvPr/>
      </p:nvGrpSpPr>
      <p:grpSpPr>
        <a:xfrm>
          <a:off x="0" y="0"/>
          <a:ext cx="0" cy="0"/>
          <a:chOff x="0" y="0"/>
          <a:chExt cx="0" cy="0"/>
        </a:xfrm>
      </p:grpSpPr>
      <p:sp>
        <p:nvSpPr>
          <p:cNvPr id="1050443" name="标题 1"/>
          <p:cNvSpPr>
            <a:spLocks noGrp="1"/>
          </p:cNvSpPr>
          <p:nvPr>
            <p:ph type="title"/>
          </p:nvPr>
        </p:nvSpPr>
        <p:spPr>
          <a:xfrm>
            <a:off x="666749" y="457201"/>
            <a:ext cx="2771775" cy="5719762"/>
          </a:xfrm>
        </p:spPr>
        <p:txBody>
          <a:bodyPr/>
          <a:lstStyle/>
          <a:p>
            <a:r>
              <a:rPr kumimoji="1" lang="zh-CN" altLang="en-US"/>
              <a:t>单击此处编辑母版标题样式</a:t>
            </a:r>
            <a:endParaRPr kumimoji="1" lang="zh-CN" altLang="en-US" dirty="0"/>
          </a:p>
        </p:txBody>
      </p:sp>
      <p:sp>
        <p:nvSpPr>
          <p:cNvPr id="1050444" name="幻灯片编号占位符 3"/>
          <p:cNvSpPr>
            <a:spLocks noGrp="1"/>
          </p:cNvSpPr>
          <p:nvPr>
            <p:ph type="sldNum" sz="quarter" idx="11"/>
          </p:nvPr>
        </p:nvSpPr>
        <p:spPr/>
        <p:txBody>
          <a:bodyPr/>
          <a:lstStyle/>
          <a:p>
            <a:fld id="{B33F7469-D28B-482F-B1B6-3B8E7CF51519}" type="slidenum">
              <a:rPr lang="zh-CN" altLang="en-US" smtClean="0"/>
              <a:t>‹#›</a:t>
            </a:fld>
            <a:endParaRPr lang="zh-CN" altLang="en-US" dirty="0"/>
          </a:p>
        </p:txBody>
      </p:sp>
      <p:sp>
        <p:nvSpPr>
          <p:cNvPr id="1050445" name="内容占位符 3"/>
          <p:cNvSpPr>
            <a:spLocks noGrp="1"/>
          </p:cNvSpPr>
          <p:nvPr>
            <p:ph sz="quarter" idx="14" hasCustomPrompt="1"/>
          </p:nvPr>
        </p:nvSpPr>
        <p:spPr>
          <a:xfrm>
            <a:off x="3657600" y="457201"/>
            <a:ext cx="8001000" cy="5719763"/>
          </a:xfrm>
        </p:spPr>
        <p:txBody>
          <a:bodyPr anchor="t"/>
          <a:lstStyle>
            <a:lvl1pPr algn="l"/>
            <a:lvl2pPr algn="l"/>
            <a:lvl3pPr algn="l"/>
            <a:lvl4pPr algn="l"/>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6"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大纲">
    <p:spTree>
      <p:nvGrpSpPr>
        <p:cNvPr id="1" name=""/>
        <p:cNvGrpSpPr/>
        <p:nvPr/>
      </p:nvGrpSpPr>
      <p:grpSpPr>
        <a:xfrm>
          <a:off x="0" y="0"/>
          <a:ext cx="0" cy="0"/>
          <a:chOff x="0" y="0"/>
          <a:chExt cx="0" cy="0"/>
        </a:xfrm>
      </p:grpSpPr>
      <p:sp>
        <p:nvSpPr>
          <p:cNvPr id="1048650" name="内容占位符 2"/>
          <p:cNvSpPr>
            <a:spLocks noGrp="1"/>
          </p:cNvSpPr>
          <p:nvPr>
            <p:ph sz="quarter" idx="10" hasCustomPrompt="1"/>
            <p:custDataLst>
              <p:tags r:id="rId1"/>
            </p:custDataLst>
          </p:nvPr>
        </p:nvSpPr>
        <p:spPr>
          <a:xfrm>
            <a:off x="5452216" y="0"/>
            <a:ext cx="6110447" cy="6858000"/>
          </a:xfrm>
        </p:spPr>
        <p:txBody>
          <a:bodyPr anchor="ctr"/>
          <a:lstStyle>
            <a:lvl1pPr algn="l">
              <a:lnSpc>
                <a:spcPct val="100000"/>
              </a:lnSpc>
              <a:spcBef>
                <a:spcPts val="3000"/>
              </a:spcBef>
              <a:defRPr sz="2800" baseline="0">
                <a:latin typeface="Ebrima" panose="02000000000000000000" charset="0"/>
              </a:defRPr>
            </a:lvl1pPr>
            <a:lvl2pPr algn="l">
              <a:lnSpc>
                <a:spcPct val="100000"/>
              </a:lnSpc>
              <a:defRPr sz="2400" baseline="0">
                <a:latin typeface="Ebrima" panose="02000000000000000000" charset="0"/>
              </a:defRPr>
            </a:lvl2pPr>
            <a:lvl3pPr algn="l">
              <a:lnSpc>
                <a:spcPct val="100000"/>
              </a:lnSpc>
              <a:defRPr sz="2000" baseline="0">
                <a:latin typeface="Ebrima" panose="02000000000000000000" charset="0"/>
              </a:defRPr>
            </a:lvl3pPr>
            <a:lvl4pPr algn="l">
              <a:lnSpc>
                <a:spcPct val="100000"/>
              </a:lnSpc>
              <a:defRPr sz="1600" baseline="0">
                <a:latin typeface="Ebrima" panose="02000000000000000000" charset="0"/>
              </a:defRP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grpSp>
        <p:nvGrpSpPr>
          <p:cNvPr id="83" name="Group 7"/>
          <p:cNvGrpSpPr/>
          <p:nvPr/>
        </p:nvGrpSpPr>
        <p:grpSpPr>
          <a:xfrm>
            <a:off x="3057633" y="31667"/>
            <a:ext cx="9134367" cy="6838951"/>
            <a:chOff x="-4763" y="9525"/>
            <a:chExt cx="9032249" cy="6838951"/>
          </a:xfrm>
          <a:solidFill>
            <a:srgbClr val="549E39"/>
          </a:solidFill>
        </p:grpSpPr>
        <p:sp>
          <p:nvSpPr>
            <p:cNvPr id="1048651" name="Line 16"/>
            <p:cNvSpPr>
              <a:spLocks noChangeShapeType="1"/>
            </p:cNvSpPr>
            <p:nvPr>
              <p:custDataLst>
                <p:tags r:id="rId3"/>
              </p:custDataLst>
            </p:nvPr>
          </p:nvSpPr>
          <p:spPr bwMode="auto">
            <a:xfrm>
              <a:off x="-4763" y="9525"/>
              <a:ext cx="0" cy="0"/>
            </a:xfrm>
            <a:prstGeom prst="line">
              <a:avLst/>
            </a:prstGeom>
            <a:grpFill/>
            <a:ln w="15" cap="flat">
              <a:solidFill>
                <a:srgbClr val="FFFFFF"/>
              </a:solidFill>
              <a:prstDash val="solid"/>
              <a:miter lim="800000"/>
            </a:ln>
          </p:spPr>
        </p:sp>
        <p:grpSp>
          <p:nvGrpSpPr>
            <p:cNvPr id="84" name="Group 9"/>
            <p:cNvGrpSpPr/>
            <p:nvPr/>
          </p:nvGrpSpPr>
          <p:grpSpPr>
            <a:xfrm>
              <a:off x="8428998" y="4867275"/>
              <a:ext cx="598488" cy="1981201"/>
              <a:chOff x="11441112" y="4867275"/>
              <a:chExt cx="598488" cy="1981201"/>
            </a:xfrm>
            <a:grpFill/>
          </p:grpSpPr>
          <p:sp>
            <p:nvSpPr>
              <p:cNvPr id="1048652" name="Freeform 35"/>
              <p:cNvSpPr/>
              <p:nvPr>
                <p:custDataLst>
                  <p:tags r:id="rId4"/>
                </p:custData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048653" name="Freeform 36"/>
              <p:cNvSpPr>
                <a:spLocks noEditPoints="1"/>
              </p:cNvSpPr>
              <p:nvPr>
                <p:custDataLst>
                  <p:tags r:id="rId5"/>
                </p:custData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048654" name="Freeform 38"/>
              <p:cNvSpPr>
                <a:spLocks noEditPoints="1"/>
              </p:cNvSpPr>
              <p:nvPr>
                <p:custDataLst>
                  <p:tags r:id="rId6"/>
                </p:custData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55" name="Freeform 39"/>
              <p:cNvSpPr/>
              <p:nvPr>
                <p:custDataLst>
                  <p:tags r:id="rId7"/>
                </p:custData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048656" name="Freeform 40"/>
              <p:cNvSpPr>
                <a:spLocks noEditPoints="1"/>
              </p:cNvSpPr>
              <p:nvPr>
                <p:custDataLst>
                  <p:tags r:id="rId8"/>
                </p:custData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57" name="Rectangle 41"/>
              <p:cNvSpPr>
                <a:spLocks noChangeArrowheads="1"/>
              </p:cNvSpPr>
              <p:nvPr>
                <p:custDataLst>
                  <p:tags r:id="rId9"/>
                </p:custDataLst>
              </p:nvPr>
            </p:nvSpPr>
            <p:spPr bwMode="auto">
              <a:xfrm>
                <a:off x="11939587" y="6596063"/>
                <a:ext cx="23813" cy="252413"/>
              </a:xfrm>
              <a:prstGeom prst="rect">
                <a:avLst/>
              </a:prstGeom>
              <a:grpFill/>
              <a:ln>
                <a:noFill/>
              </a:ln>
            </p:spPr>
          </p:sp>
        </p:grpSp>
      </p:grpSp>
      <p:sp>
        <p:nvSpPr>
          <p:cNvPr id="1048658" name="内容占位符 22"/>
          <p:cNvSpPr>
            <a:spLocks noGrp="1"/>
          </p:cNvSpPr>
          <p:nvPr>
            <p:ph sz="quarter" idx="11" hasCustomPrompt="1"/>
            <p:custDataLst>
              <p:tags r:id="rId2"/>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Unnamed Layou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1256418" y="5448300"/>
            <a:ext cx="10396122" cy="447675"/>
          </a:xfrm>
          <a:prstGeom prst="rect">
            <a:avLst/>
          </a:prstGeom>
        </p:spPr>
        <p:txBody>
          <a:bodyPr/>
          <a:lstStyle>
            <a:lvl1pPr algn="ctr">
              <a:defRPr lang="zh-CN" altLang="en-US" sz="2400" b="0" i="0" kern="1200" baseline="0" smtClean="0">
                <a:solidFill>
                  <a:schemeClr val="tx1">
                    <a:lumMod val="85000"/>
                    <a:lumOff val="15000"/>
                  </a:schemeClr>
                </a:solidFill>
                <a:latin typeface="Calibri Light" panose="020F0302020204030204" pitchFamily="34" charset="0"/>
                <a:ea typeface="微软雅黑" panose="020B0503020204020204" charset="-122"/>
                <a:cs typeface="Calibri Light" panose="020F0302020204030204" pitchFamily="34" charset="0"/>
              </a:defRPr>
            </a:lvl1pPr>
          </a:lstStyle>
          <a:p>
            <a:endParaRPr lang="en-US" dirty="0"/>
          </a:p>
        </p:txBody>
      </p:sp>
      <p:sp>
        <p:nvSpPr>
          <p:cNvPr id="4" name="页脚占位符 3"/>
          <p:cNvSpPr>
            <a:spLocks noGrp="1"/>
          </p:cNvSpPr>
          <p:nvPr>
            <p:ph type="ftr" sz="quarter" idx="11"/>
          </p:nvPr>
        </p:nvSpPr>
        <p:spPr>
          <a:xfrm>
            <a:off x="1256418" y="6356351"/>
            <a:ext cx="10396122" cy="365125"/>
          </a:xfrm>
          <a:prstGeom prst="rect">
            <a:avLst/>
          </a:prstGeom>
        </p:spPr>
        <p:txBody>
          <a:bodyPr/>
          <a:lstStyle/>
          <a:p>
            <a:endParaRPr lang="zh-CN" altLang="en-US" dirty="0"/>
          </a:p>
        </p:txBody>
      </p:sp>
      <p:sp>
        <p:nvSpPr>
          <p:cNvPr id="5"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1260390" y="4846320"/>
            <a:ext cx="10392032"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727587" y="1622323"/>
            <a:ext cx="10943800" cy="3028335"/>
          </a:xfrm>
        </p:spPr>
        <p:txBody>
          <a:bodyPr anchor="ctr">
            <a:noAutofit/>
          </a:bodyPr>
          <a:lstStyle>
            <a:lvl1pPr algn="l"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135007975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3136489" y="3716594"/>
            <a:ext cx="8534897" cy="2664541"/>
          </a:xfrm>
        </p:spPr>
        <p:txBody>
          <a:bodyPr anchor="ctr">
            <a:noAutofit/>
          </a:bodyPr>
          <a:lstStyle>
            <a:lvl1pPr algn="r"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300232077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1048637"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38" name="标题占位符 1"/>
          <p:cNvSpPr>
            <a:spLocks noGrp="1"/>
          </p:cNvSpPr>
          <p:nvPr>
            <p:ph type="title"/>
          </p:nvPr>
        </p:nvSpPr>
        <p:spPr>
          <a:xfrm>
            <a:off x="741404" y="431629"/>
            <a:ext cx="9987507" cy="700925"/>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1048639"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chemeClr val="accent3"/>
                </a:solidFill>
                <a:latin typeface="Garamond" panose="02020404030301010803" charset="0"/>
                <a:ea typeface="微软雅黑" panose="020B0503020204020204" charset="-122"/>
              </a:defRPr>
            </a:lvl1pPr>
          </a:lstStyle>
          <a:p>
            <a:endParaRPr lang="zh-CN" altLang="en-US" dirty="0"/>
          </a:p>
        </p:txBody>
      </p:sp>
      <p:sp>
        <p:nvSpPr>
          <p:cNvPr id="1048640" name="Freeform 5"/>
          <p:cNvSpPr/>
          <p:nvPr/>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1048641"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Garamond" panose="02020404030301010803" charset="0"/>
                <a:ea typeface="微软雅黑" panose="020B0503020204020204" charset="-122"/>
                <a:cs typeface="Calibri" panose="020F0502020204030204" charset="0"/>
              </a:defRPr>
            </a:lvl1pPr>
          </a:lstStyle>
          <a:p>
            <a:fld id="{B33F7469-D28B-482F-B1B6-3B8E7CF51519}" type="slidenum">
              <a:rPr lang="zh-CN" altLang="en-US" smtClean="0"/>
              <a:t>‹#›</a:t>
            </a:fld>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14"/>
            <a:stretch>
              <a:fillRect/>
            </a:stretch>
          </p:blipFill>
          <p:spPr>
            <a:xfrm>
              <a:off x="9247450" y="319584"/>
              <a:ext cx="1096400" cy="336123"/>
            </a:xfrm>
            <a:prstGeom prst="rect">
              <a:avLst/>
            </a:prstGeom>
          </p:spPr>
        </p:pic>
        <p:pic>
          <p:nvPicPr>
            <p:cNvPr id="4" name="图片 3"/>
            <p:cNvPicPr>
              <a:picLocks noChangeAspect="1"/>
            </p:cNvPicPr>
            <p:nvPr/>
          </p:nvPicPr>
          <p:blipFill>
            <a:blip r:embed="rId15"/>
            <a:srcRect l="13229" t="29812" r="10431" b="29796"/>
            <a:stretch>
              <a:fillRect/>
            </a:stretch>
          </p:blipFill>
          <p:spPr>
            <a:xfrm>
              <a:off x="10553199" y="217531"/>
              <a:ext cx="1274701" cy="547850"/>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tags" Target="../tags/tag25.xml"/><Relationship Id="rId18" Type="http://schemas.openxmlformats.org/officeDocument/2006/relationships/image" Target="../media/image7.png"/><Relationship Id="rId26" Type="http://schemas.openxmlformats.org/officeDocument/2006/relationships/hyperlink" Target="https://www.zhihu.com/people/95-22-20-18/posts" TargetMode="External"/><Relationship Id="rId3" Type="http://schemas.openxmlformats.org/officeDocument/2006/relationships/tags" Target="../tags/tag15.xml"/><Relationship Id="rId21" Type="http://schemas.openxmlformats.org/officeDocument/2006/relationships/image" Target="../media/image10.png"/><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slideLayout" Target="../slideLayouts/slideLayout6.xml"/><Relationship Id="rId25" Type="http://schemas.openxmlformats.org/officeDocument/2006/relationships/hyperlink" Target="https://space.bilibili.com/3546791834290849" TargetMode="External"/><Relationship Id="rId2" Type="http://schemas.openxmlformats.org/officeDocument/2006/relationships/tags" Target="../tags/tag14.xml"/><Relationship Id="rId16" Type="http://schemas.openxmlformats.org/officeDocument/2006/relationships/tags" Target="../tags/tag28.xml"/><Relationship Id="rId20" Type="http://schemas.openxmlformats.org/officeDocument/2006/relationships/image" Target="../media/image9.png"/><Relationship Id="rId29" Type="http://schemas.openxmlformats.org/officeDocument/2006/relationships/image" Target="../media/image14.png"/><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24" Type="http://schemas.openxmlformats.org/officeDocument/2006/relationships/hyperlink" Target="https://github.com/flagos-ai" TargetMode="External"/><Relationship Id="rId5" Type="http://schemas.openxmlformats.org/officeDocument/2006/relationships/tags" Target="../tags/tag17.xml"/><Relationship Id="rId15" Type="http://schemas.openxmlformats.org/officeDocument/2006/relationships/tags" Target="../tags/tag27.xml"/><Relationship Id="rId23" Type="http://schemas.openxmlformats.org/officeDocument/2006/relationships/image" Target="../media/image12.png"/><Relationship Id="rId28" Type="http://schemas.openxmlformats.org/officeDocument/2006/relationships/image" Target="../media/image13.jpeg"/><Relationship Id="rId10" Type="http://schemas.openxmlformats.org/officeDocument/2006/relationships/tags" Target="../tags/tag22.xml"/><Relationship Id="rId19" Type="http://schemas.openxmlformats.org/officeDocument/2006/relationships/image" Target="../media/image8.png"/><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tags" Target="../tags/tag26.xml"/><Relationship Id="rId22" Type="http://schemas.openxmlformats.org/officeDocument/2006/relationships/image" Target="../media/image11.png"/><Relationship Id="rId27" Type="http://schemas.openxmlformats.org/officeDocument/2006/relationships/hyperlink" Target="https://flagos.io/Home"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eg"/><Relationship Id="rId1" Type="http://schemas.openxmlformats.org/officeDocument/2006/relationships/slideLayout" Target="../slideLayouts/slideLayout1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개체 틀 3"/>
          <p:cNvPicPr>
            <a:picLocks noGrp="1" noChangeAspect="1"/>
          </p:cNvPicPr>
          <p:nvPr>
            <p:ph type="pic" sz="quarter" idx="10"/>
          </p:nvPr>
        </p:nvPicPr>
        <p:blipFill>
          <a:blip r:embed="rId2"/>
          <a:srcRect t="350" b="350"/>
          <a:stretch>
            <a:fillRect/>
          </a:stretch>
        </p:blipFill>
        <p:spPr>
          <a:xfrm>
            <a:off x="0" y="1"/>
            <a:ext cx="12192000" cy="6858000"/>
          </a:xfrm>
        </p:spPr>
      </p:pic>
      <p:sp>
        <p:nvSpPr>
          <p:cNvPr id="6" name="제목 5"/>
          <p:cNvSpPr>
            <a:spLocks noGrp="1"/>
          </p:cNvSpPr>
          <p:nvPr>
            <p:ph type="ctrTitle"/>
          </p:nvPr>
        </p:nvSpPr>
        <p:spPr>
          <a:xfrm>
            <a:off x="727710" y="1622425"/>
            <a:ext cx="5553710" cy="3028315"/>
          </a:xfrm>
        </p:spPr>
        <p:txBody>
          <a:bodyPr/>
          <a:lstStyle/>
          <a:p>
            <a:pPr algn="l"/>
            <a:r>
              <a:rPr lang="en-US" altLang="zh-CN" sz="4000">
                <a:latin typeface="+mj-cs"/>
                <a:cs typeface="+mj-cs"/>
              </a:rPr>
              <a:t>Hardware and Software Fundamentals of </a:t>
            </a:r>
            <a:br>
              <a:rPr lang="en-US" altLang="zh-CN" sz="4000">
                <a:latin typeface="+mj-cs"/>
                <a:cs typeface="+mj-cs"/>
              </a:rPr>
            </a:br>
            <a:r>
              <a:rPr lang="en-US" altLang="zh-CN" sz="4000">
                <a:latin typeface="+mj-cs"/>
                <a:cs typeface="+mj-cs"/>
              </a:rPr>
              <a:t>Intelligent Computing </a:t>
            </a:r>
            <a:br>
              <a:rPr lang="en-US" altLang="zh-CN" sz="4000">
                <a:latin typeface="+mj-cs"/>
                <a:cs typeface="+mj-cs"/>
              </a:rPr>
            </a:br>
            <a:r>
              <a:rPr lang="en-US" altLang="zh-CN" sz="4000">
                <a:latin typeface="+mj-cs"/>
                <a:cs typeface="+mj-cs"/>
              </a:rPr>
              <a:t>Systems</a:t>
            </a:r>
          </a:p>
        </p:txBody>
      </p:sp>
      <p:grpSp>
        <p:nvGrpSpPr>
          <p:cNvPr id="9" name="그룹 8"/>
          <p:cNvGrpSpPr/>
          <p:nvPr/>
        </p:nvGrpSpPr>
        <p:grpSpPr>
          <a:xfrm>
            <a:off x="364100" y="6255612"/>
            <a:ext cx="409904" cy="409904"/>
            <a:chOff x="11591418" y="6255612"/>
            <a:chExt cx="409904" cy="409904"/>
          </a:xfrm>
        </p:grpSpPr>
        <p:sp>
          <p:nvSpPr>
            <p:cNvPr id="10" name="타원 9"/>
            <p:cNvSpPr/>
            <p:nvPr/>
          </p:nvSpPr>
          <p:spPr>
            <a:xfrm>
              <a:off x="11591418" y="6255612"/>
              <a:ext cx="409904" cy="4099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1" name="갈매기형 수장[C] 10"/>
            <p:cNvSpPr/>
            <p:nvPr/>
          </p:nvSpPr>
          <p:spPr>
            <a:xfrm>
              <a:off x="11732864" y="6397058"/>
              <a:ext cx="127012" cy="127012"/>
            </a:xfrm>
            <a:prstGeom prst="chevr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chemeClr val="tx1"/>
                </a:solidFill>
              </a:endParaRPr>
            </a:p>
          </p:txBody>
        </p:sp>
      </p:grpSp>
      <p:grpSp>
        <p:nvGrpSpPr>
          <p:cNvPr id="13" name="组合 12"/>
          <p:cNvGrpSpPr/>
          <p:nvPr/>
        </p:nvGrpSpPr>
        <p:grpSpPr>
          <a:xfrm>
            <a:off x="9247450" y="217531"/>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12" name="图片 11"/>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en-US" altLang="en-US">
                <a:sym typeface="+mn-ea"/>
              </a:rPr>
              <a:t>Lecture 9：Module I Midterm Project</a:t>
            </a:r>
            <a:br>
              <a:rPr lang="en-US" altLang="en-US">
                <a:sym typeface="+mn-ea"/>
              </a:rPr>
            </a:br>
            <a:r>
              <a:rPr lang="en-US" altLang="en-US">
                <a:sym typeface="+mn-ea"/>
              </a:rPr>
              <a:t>Softmax Kernel  Implementation</a:t>
            </a:r>
            <a:endParaRPr lang="zh-CN" altLang="en-US"/>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a:t>Course Projects Overview</a:t>
            </a:r>
          </a:p>
        </p:txBody>
      </p:sp>
      <p:sp>
        <p:nvSpPr>
          <p:cNvPr id="4" name="页脚占位符 3"/>
          <p:cNvSpPr>
            <a:spLocks noGrp="1"/>
          </p:cNvSpPr>
          <p:nvPr>
            <p:ph type="ftr" sz="quarter" idx="11"/>
          </p:nvPr>
        </p:nvSpPr>
        <p:spPr/>
        <p:txBody>
          <a:bodyPr/>
          <a:lstStyle/>
          <a:p>
            <a:endParaRPr lang="en-US" altLang="en-US" dirty="0"/>
          </a:p>
        </p:txBody>
      </p:sp>
      <p:sp>
        <p:nvSpPr>
          <p:cNvPr id="5" name="灯片编号占位符 4"/>
          <p:cNvSpPr>
            <a:spLocks noGrp="1"/>
          </p:cNvSpPr>
          <p:nvPr>
            <p:ph type="sldNum" sz="quarter" idx="12"/>
          </p:nvPr>
        </p:nvSpPr>
        <p:spPr/>
        <p:txBody>
          <a:bodyPr/>
          <a:lstStyle/>
          <a:p>
            <a:fld id="{B33F7469-D28B-482F-B1B6-3B8E7CF51519}" type="slidenum">
              <a:rPr lang="en-US" altLang="en-US" smtClean="0"/>
              <a:t>3</a:t>
            </a:fld>
            <a:endParaRPr lang="en-US" altLang="en-US" dirty="0"/>
          </a:p>
        </p:txBody>
      </p:sp>
      <p:sp>
        <p:nvSpPr>
          <p:cNvPr id="7" name="内容占位符 6"/>
          <p:cNvSpPr>
            <a:spLocks noGrp="1"/>
          </p:cNvSpPr>
          <p:nvPr>
            <p:ph sz="quarter" idx="13"/>
          </p:nvPr>
        </p:nvSpPr>
        <p:spPr/>
        <p:txBody>
          <a:bodyPr/>
          <a:lstStyle/>
          <a:p>
            <a:endParaRPr lang="zh-CN" altLang="en-US"/>
          </a:p>
        </p:txBody>
      </p:sp>
      <p:graphicFrame>
        <p:nvGraphicFramePr>
          <p:cNvPr id="6" name="表格 5"/>
          <p:cNvGraphicFramePr/>
          <p:nvPr/>
        </p:nvGraphicFramePr>
        <p:xfrm>
          <a:off x="215900" y="1318604"/>
          <a:ext cx="11760200" cy="5173345"/>
        </p:xfrm>
        <a:graphic>
          <a:graphicData uri="http://schemas.openxmlformats.org/drawingml/2006/table">
            <a:tbl>
              <a:tblPr firstRow="1">
                <a:tableStyleId>{F83DEB3A-1B30-4ED8-929D-D4389515C9ED}</a:tableStyleId>
              </a:tblPr>
              <a:tblGrid>
                <a:gridCol w="1196340">
                  <a:extLst>
                    <a:ext uri="{9D8B030D-6E8A-4147-A177-3AD203B41FA5}">
                      <a16:colId xmlns:a16="http://schemas.microsoft.com/office/drawing/2014/main" val="20000"/>
                    </a:ext>
                  </a:extLst>
                </a:gridCol>
                <a:gridCol w="3369945">
                  <a:extLst>
                    <a:ext uri="{9D8B030D-6E8A-4147-A177-3AD203B41FA5}">
                      <a16:colId xmlns:a16="http://schemas.microsoft.com/office/drawing/2014/main" val="20001"/>
                    </a:ext>
                  </a:extLst>
                </a:gridCol>
                <a:gridCol w="1627505">
                  <a:extLst>
                    <a:ext uri="{9D8B030D-6E8A-4147-A177-3AD203B41FA5}">
                      <a16:colId xmlns:a16="http://schemas.microsoft.com/office/drawing/2014/main" val="20002"/>
                    </a:ext>
                  </a:extLst>
                </a:gridCol>
                <a:gridCol w="5566410">
                  <a:extLst>
                    <a:ext uri="{9D8B030D-6E8A-4147-A177-3AD203B41FA5}">
                      <a16:colId xmlns:a16="http://schemas.microsoft.com/office/drawing/2014/main" val="20003"/>
                    </a:ext>
                  </a:extLst>
                </a:gridCol>
              </a:tblGrid>
              <a:tr h="539115">
                <a:tc>
                  <a:txBody>
                    <a:bodyPr/>
                    <a:lstStyle/>
                    <a:p>
                      <a:pPr indent="0" algn="ctr">
                        <a:lnSpc>
                          <a:spcPct val="120000"/>
                        </a:lnSpc>
                        <a:spcBef>
                          <a:spcPts val="0"/>
                        </a:spcBef>
                        <a:spcAft>
                          <a:spcPts val="0"/>
                        </a:spcAft>
                      </a:pPr>
                      <a:r>
                        <a:rPr lang="en-US" altLang="en-US" sz="1600" b="1" spc="120"/>
                        <a:t>Lecture</a:t>
                      </a:r>
                    </a:p>
                  </a:txBody>
                  <a:tcPr marL="177800" marR="177800" marT="107950" marB="107950" anchor="ctr"/>
                </a:tc>
                <a:tc>
                  <a:txBody>
                    <a:bodyPr/>
                    <a:lstStyle/>
                    <a:p>
                      <a:pPr indent="0" algn="ctr">
                        <a:lnSpc>
                          <a:spcPct val="120000"/>
                        </a:lnSpc>
                        <a:spcBef>
                          <a:spcPts val="0"/>
                        </a:spcBef>
                        <a:spcAft>
                          <a:spcPts val="0"/>
                        </a:spcAft>
                      </a:pPr>
                      <a:r>
                        <a:rPr lang="en-US" altLang="en-US" sz="1600" b="1" spc="120"/>
                        <a:t>Project Name</a:t>
                      </a:r>
                    </a:p>
                  </a:txBody>
                  <a:tcPr marL="177800" marR="177800" marT="107950" marB="107950" anchor="ctr"/>
                </a:tc>
                <a:tc>
                  <a:txBody>
                    <a:bodyPr/>
                    <a:lstStyle/>
                    <a:p>
                      <a:pPr indent="0" algn="ctr">
                        <a:lnSpc>
                          <a:spcPct val="120000"/>
                        </a:lnSpc>
                        <a:spcBef>
                          <a:spcPts val="0"/>
                        </a:spcBef>
                        <a:spcAft>
                          <a:spcPts val="0"/>
                        </a:spcAft>
                      </a:pPr>
                      <a:r>
                        <a:rPr lang="en-US" altLang="en-US" sz="1600" b="1" spc="120"/>
                        <a:t>Type</a:t>
                      </a:r>
                    </a:p>
                  </a:txBody>
                  <a:tcPr marL="177800" marR="177800" marT="107950" marB="107950" anchor="ctr"/>
                </a:tc>
                <a:tc>
                  <a:txBody>
                    <a:bodyPr/>
                    <a:lstStyle/>
                    <a:p>
                      <a:pPr indent="0" algn="ctr">
                        <a:lnSpc>
                          <a:spcPct val="120000"/>
                        </a:lnSpc>
                        <a:spcBef>
                          <a:spcPts val="0"/>
                        </a:spcBef>
                        <a:spcAft>
                          <a:spcPts val="0"/>
                        </a:spcAft>
                      </a:pPr>
                      <a:r>
                        <a:rPr lang="en-US" altLang="en-US" sz="1600" b="1" spc="120"/>
                        <a:t>Key Assessment Criteria</a:t>
                      </a:r>
                    </a:p>
                  </a:txBody>
                  <a:tcPr marL="177800" marR="177800" marT="107950" marB="107950" anchor="ctr"/>
                </a:tc>
                <a:extLst>
                  <a:ext uri="{0D108BD9-81ED-4DB2-BD59-A6C34878D82A}">
                    <a16:rowId xmlns:a16="http://schemas.microsoft.com/office/drawing/2014/main" val="10000"/>
                  </a:ext>
                </a:extLst>
              </a:tr>
              <a:tr h="772160">
                <a:tc>
                  <a:txBody>
                    <a:bodyPr/>
                    <a:lstStyle/>
                    <a:p>
                      <a:pPr indent="0" algn="ctr">
                        <a:lnSpc>
                          <a:spcPct val="120000"/>
                        </a:lnSpc>
                        <a:spcBef>
                          <a:spcPts val="0"/>
                        </a:spcBef>
                        <a:spcAft>
                          <a:spcPts val="0"/>
                        </a:spcAft>
                      </a:pPr>
                      <a:r>
                        <a:rPr lang="en-US" altLang="en-US" sz="1400" b="0" spc="120"/>
                        <a:t>5</a:t>
                      </a:r>
                    </a:p>
                  </a:txBody>
                  <a:tcPr marL="177800" marR="177800" marT="107950" marB="107950" anchor="ctr"/>
                </a:tc>
                <a:tc>
                  <a:txBody>
                    <a:bodyPr/>
                    <a:lstStyle/>
                    <a:p>
                      <a:pPr indent="0" algn="l">
                        <a:lnSpc>
                          <a:spcPct val="120000"/>
                        </a:lnSpc>
                        <a:spcBef>
                          <a:spcPts val="0"/>
                        </a:spcBef>
                        <a:spcAft>
                          <a:spcPts val="0"/>
                        </a:spcAft>
                      </a:pPr>
                      <a:r>
                        <a:rPr lang="en-US" altLang="en-US" sz="1400" b="0" spc="120"/>
                        <a:t>Environment Setup and Toolchain</a:t>
                      </a:r>
                    </a:p>
                  </a:txBody>
                  <a:tcPr marL="177800" marR="177800" marT="107950" marB="107950" anchor="ctr"/>
                </a:tc>
                <a:tc>
                  <a:txBody>
                    <a:bodyPr/>
                    <a:lstStyle/>
                    <a:p>
                      <a:pPr indent="0" algn="l">
                        <a:lnSpc>
                          <a:spcPct val="120000"/>
                        </a:lnSpc>
                        <a:spcBef>
                          <a:spcPts val="0"/>
                        </a:spcBef>
                        <a:spcAft>
                          <a:spcPts val="0"/>
                        </a:spcAft>
                      </a:pPr>
                      <a:r>
                        <a:rPr lang="en-US" altLang="en-US" sz="1400" b="0" spc="120"/>
                        <a:t>Lab Session</a:t>
                      </a:r>
                    </a:p>
                  </a:txBody>
                  <a:tcPr marL="177800" marR="177800" marT="107950" marB="107950" anchor="ctr"/>
                </a:tc>
                <a:tc>
                  <a:txBody>
                    <a:bodyPr/>
                    <a:lstStyle/>
                    <a:p>
                      <a:pPr indent="0" algn="l">
                        <a:lnSpc>
                          <a:spcPct val="120000"/>
                        </a:lnSpc>
                        <a:spcBef>
                          <a:spcPts val="0"/>
                        </a:spcBef>
                        <a:spcAft>
                          <a:spcPts val="0"/>
                        </a:spcAft>
                      </a:pPr>
                      <a:r>
                        <a:rPr lang="en-US" altLang="en-US" sz="1400" b="0" spc="120"/>
                        <a:t>Four-Phase Operational Verification + + Lab Report</a:t>
                      </a:r>
                    </a:p>
                  </a:txBody>
                  <a:tcPr marL="177800" marR="177800" marT="107950" marB="107950" anchor="ctr"/>
                </a:tc>
                <a:extLst>
                  <a:ext uri="{0D108BD9-81ED-4DB2-BD59-A6C34878D82A}">
                    <a16:rowId xmlns:a16="http://schemas.microsoft.com/office/drawing/2014/main" val="10001"/>
                  </a:ext>
                </a:extLst>
              </a:tr>
              <a:tr h="772795">
                <a:tc>
                  <a:txBody>
                    <a:bodyPr/>
                    <a:lstStyle/>
                    <a:p>
                      <a:pPr indent="0" algn="ctr">
                        <a:lnSpc>
                          <a:spcPct val="120000"/>
                        </a:lnSpc>
                        <a:spcBef>
                          <a:spcPts val="0"/>
                        </a:spcBef>
                        <a:spcAft>
                          <a:spcPts val="0"/>
                        </a:spcAft>
                      </a:pPr>
                      <a:r>
                        <a:rPr lang="en-US" altLang="en-US" sz="1400" b="0" spc="120"/>
                        <a:t>9</a:t>
                      </a:r>
                    </a:p>
                  </a:txBody>
                  <a:tcPr marL="177800" marR="177800" marT="107950" marB="107950" anchor="ctr"/>
                </a:tc>
                <a:tc>
                  <a:txBody>
                    <a:bodyPr/>
                    <a:lstStyle/>
                    <a:p>
                      <a:pPr indent="0" algn="l">
                        <a:lnSpc>
                          <a:spcPct val="120000"/>
                        </a:lnSpc>
                        <a:spcBef>
                          <a:spcPts val="0"/>
                        </a:spcBef>
                        <a:spcAft>
                          <a:spcPts val="0"/>
                        </a:spcAft>
                      </a:pPr>
                      <a:r>
                        <a:rPr lang="en-US" altLang="en-US" sz="1400" b="0" spc="120"/>
                        <a:t>Softmax Kernel (Midterm)</a:t>
                      </a:r>
                    </a:p>
                  </a:txBody>
                  <a:tcPr marL="177800" marR="177800" marT="107950" marB="107950" anchor="ctr"/>
                </a:tc>
                <a:tc>
                  <a:txBody>
                    <a:bodyPr/>
                    <a:lstStyle/>
                    <a:p>
                      <a:pPr indent="0" algn="l">
                        <a:lnSpc>
                          <a:spcPct val="120000"/>
                        </a:lnSpc>
                        <a:spcBef>
                          <a:spcPts val="0"/>
                        </a:spcBef>
                        <a:spcAft>
                          <a:spcPts val="0"/>
                        </a:spcAft>
                      </a:pPr>
                      <a:r>
                        <a:rPr lang="en-US" altLang="en-US" sz="1400" b="0" spc="120"/>
                        <a:t>Individual Project</a:t>
                      </a:r>
                    </a:p>
                  </a:txBody>
                  <a:tcPr marL="177800" marR="177800" marT="107950" marB="107950" anchor="ctr"/>
                </a:tc>
                <a:tc>
                  <a:txBody>
                    <a:bodyPr/>
                    <a:lstStyle/>
                    <a:p>
                      <a:pPr indent="0" algn="l">
                        <a:lnSpc>
                          <a:spcPct val="120000"/>
                        </a:lnSpc>
                        <a:spcBef>
                          <a:spcPts val="0"/>
                        </a:spcBef>
                        <a:spcAft>
                          <a:spcPts val="0"/>
                        </a:spcAft>
                      </a:pPr>
                      <a:r>
                        <a:rPr lang="en-US" altLang="en-US" sz="1400" b="0" spc="120"/>
                        <a:t>Correctness 40pts + Performance70% Threshold</a:t>
                      </a:r>
                    </a:p>
                  </a:txBody>
                  <a:tcPr marL="177800" marR="177800" marT="107950" marB="107950" anchor="ctr"/>
                </a:tc>
                <a:extLst>
                  <a:ext uri="{0D108BD9-81ED-4DB2-BD59-A6C34878D82A}">
                    <a16:rowId xmlns:a16="http://schemas.microsoft.com/office/drawing/2014/main" val="10002"/>
                  </a:ext>
                </a:extLst>
              </a:tr>
              <a:tr h="772160">
                <a:tc>
                  <a:txBody>
                    <a:bodyPr/>
                    <a:lstStyle/>
                    <a:p>
                      <a:pPr indent="0" algn="ctr">
                        <a:lnSpc>
                          <a:spcPct val="120000"/>
                        </a:lnSpc>
                        <a:spcBef>
                          <a:spcPts val="0"/>
                        </a:spcBef>
                        <a:spcAft>
                          <a:spcPts val="0"/>
                        </a:spcAft>
                      </a:pPr>
                      <a:r>
                        <a:rPr lang="en-US" altLang="en-US" sz="1400" b="0" spc="120"/>
                        <a:t>18</a:t>
                      </a:r>
                    </a:p>
                  </a:txBody>
                  <a:tcPr marL="177800" marR="177800" marT="107950" marB="107950" anchor="ctr"/>
                </a:tc>
                <a:tc>
                  <a:txBody>
                    <a:bodyPr/>
                    <a:lstStyle/>
                    <a:p>
                      <a:pPr indent="0" algn="l">
                        <a:lnSpc>
                          <a:spcPct val="120000"/>
                        </a:lnSpc>
                        <a:spcBef>
                          <a:spcPts val="0"/>
                        </a:spcBef>
                        <a:spcAft>
                          <a:spcPts val="0"/>
                        </a:spcAft>
                      </a:pPr>
                      <a:r>
                        <a:rPr lang="en-US" altLang="en-US" sz="1400" b="0" spc="120"/>
                        <a:t>RMSNorm+Residual  Fusion (Final)</a:t>
                      </a:r>
                    </a:p>
                  </a:txBody>
                  <a:tcPr marL="177800" marR="177800" marT="107950" marB="107950" anchor="ctr"/>
                </a:tc>
                <a:tc>
                  <a:txBody>
                    <a:bodyPr/>
                    <a:lstStyle/>
                    <a:p>
                      <a:pPr indent="0" algn="l">
                        <a:lnSpc>
                          <a:spcPct val="120000"/>
                        </a:lnSpc>
                        <a:spcBef>
                          <a:spcPts val="0"/>
                        </a:spcBef>
                        <a:spcAft>
                          <a:spcPts val="0"/>
                        </a:spcAft>
                      </a:pPr>
                      <a:r>
                        <a:rPr lang="en-US" altLang="en-US" sz="1400" b="0" spc="120"/>
                        <a:t>Individual Project</a:t>
                      </a:r>
                    </a:p>
                  </a:txBody>
                  <a:tcPr marL="177800" marR="177800" marT="107950" marB="107950" anchor="ctr"/>
                </a:tc>
                <a:tc>
                  <a:txBody>
                    <a:bodyPr/>
                    <a:lstStyle/>
                    <a:p>
                      <a:pPr indent="0" algn="l">
                        <a:lnSpc>
                          <a:spcPct val="120000"/>
                        </a:lnSpc>
                        <a:spcBef>
                          <a:spcPts val="0"/>
                        </a:spcBef>
                        <a:spcAft>
                          <a:spcPts val="0"/>
                        </a:spcAft>
                      </a:pPr>
                      <a:r>
                        <a:rPr lang="en-US" altLang="en-US" sz="1400" b="0" spc="120"/>
                        <a:t>Performance must reach FlagGems Benchmark 90%</a:t>
                      </a:r>
                    </a:p>
                  </a:txBody>
                  <a:tcPr marL="177800" marR="177800" marT="107950" marB="107950" anchor="ctr"/>
                </a:tc>
                <a:extLst>
                  <a:ext uri="{0D108BD9-81ED-4DB2-BD59-A6C34878D82A}">
                    <a16:rowId xmlns:a16="http://schemas.microsoft.com/office/drawing/2014/main" val="10003"/>
                  </a:ext>
                </a:extLst>
              </a:tr>
              <a:tr h="772160">
                <a:tc>
                  <a:txBody>
                    <a:bodyPr/>
                    <a:lstStyle/>
                    <a:p>
                      <a:pPr indent="0" algn="ctr">
                        <a:lnSpc>
                          <a:spcPct val="120000"/>
                        </a:lnSpc>
                        <a:spcBef>
                          <a:spcPts val="0"/>
                        </a:spcBef>
                        <a:spcAft>
                          <a:spcPts val="0"/>
                        </a:spcAft>
                      </a:pPr>
                      <a:r>
                        <a:rPr lang="en-US" altLang="en-US" sz="1400" b="0" spc="120"/>
                        <a:t>27</a:t>
                      </a:r>
                    </a:p>
                  </a:txBody>
                  <a:tcPr marL="177800" marR="177800" marT="107950" marB="107950" anchor="ctr"/>
                </a:tc>
                <a:tc>
                  <a:txBody>
                    <a:bodyPr/>
                    <a:lstStyle/>
                    <a:p>
                      <a:pPr indent="0" algn="l">
                        <a:lnSpc>
                          <a:spcPct val="120000"/>
                        </a:lnSpc>
                        <a:spcBef>
                          <a:spcPts val="0"/>
                        </a:spcBef>
                        <a:spcAft>
                          <a:spcPts val="0"/>
                        </a:spcAft>
                      </a:pPr>
                      <a:r>
                        <a:rPr lang="en-US" altLang="en-US" sz="1400" b="0" spc="120"/>
                        <a:t>FlagTree Pass  Contribution (Final)</a:t>
                      </a:r>
                    </a:p>
                  </a:txBody>
                  <a:tcPr marL="177800" marR="177800" marT="107950" marB="107950" anchor="ctr"/>
                </a:tc>
                <a:tc>
                  <a:txBody>
                    <a:bodyPr/>
                    <a:lstStyle/>
                    <a:p>
                      <a:pPr indent="0" algn="l">
                        <a:lnSpc>
                          <a:spcPct val="120000"/>
                        </a:lnSpc>
                        <a:spcBef>
                          <a:spcPts val="0"/>
                        </a:spcBef>
                        <a:spcAft>
                          <a:spcPts val="0"/>
                        </a:spcAft>
                      </a:pPr>
                      <a:r>
                        <a:rPr lang="en-US" altLang="en-US" sz="1400" b="0" spc="120"/>
                        <a:t>Individual Project</a:t>
                      </a:r>
                    </a:p>
                  </a:txBody>
                  <a:tcPr marL="177800" marR="177800" marT="107950" marB="107950" anchor="ctr"/>
                </a:tc>
                <a:tc>
                  <a:txBody>
                    <a:bodyPr/>
                    <a:lstStyle/>
                    <a:p>
                      <a:pPr indent="0" algn="l">
                        <a:lnSpc>
                          <a:spcPct val="120000"/>
                        </a:lnSpc>
                        <a:spcBef>
                          <a:spcPts val="0"/>
                        </a:spcBef>
                        <a:spcAft>
                          <a:spcPts val="0"/>
                        </a:spcAft>
                      </a:pPr>
                      <a:r>
                        <a:rPr lang="en-US" altLang="en-US" sz="1400" b="0" spc="120"/>
                        <a:t>Choose from 3 directions, FileCheck Test Verification</a:t>
                      </a:r>
                    </a:p>
                  </a:txBody>
                  <a:tcPr marL="177800" marR="177800" marT="107950" marB="107950" anchor="ctr"/>
                </a:tc>
                <a:extLst>
                  <a:ext uri="{0D108BD9-81ED-4DB2-BD59-A6C34878D82A}">
                    <a16:rowId xmlns:a16="http://schemas.microsoft.com/office/drawing/2014/main" val="10004"/>
                  </a:ext>
                </a:extLst>
              </a:tr>
              <a:tr h="772795">
                <a:tc>
                  <a:txBody>
                    <a:bodyPr/>
                    <a:lstStyle/>
                    <a:p>
                      <a:pPr indent="0" algn="ctr">
                        <a:lnSpc>
                          <a:spcPct val="120000"/>
                        </a:lnSpc>
                        <a:spcBef>
                          <a:spcPts val="0"/>
                        </a:spcBef>
                        <a:spcAft>
                          <a:spcPts val="0"/>
                        </a:spcAft>
                      </a:pPr>
                      <a:r>
                        <a:rPr lang="en-US" altLang="en-US" sz="1400" b="0" spc="120"/>
                        <a:t>36</a:t>
                      </a:r>
                    </a:p>
                  </a:txBody>
                  <a:tcPr marL="177800" marR="177800" marT="107950" marB="107950" anchor="ctr"/>
                </a:tc>
                <a:tc>
                  <a:txBody>
                    <a:bodyPr/>
                    <a:lstStyle/>
                    <a:p>
                      <a:pPr indent="0" algn="l">
                        <a:lnSpc>
                          <a:spcPct val="120000"/>
                        </a:lnSpc>
                        <a:spcBef>
                          <a:spcPts val="0"/>
                        </a:spcBef>
                        <a:spcAft>
                          <a:spcPts val="0"/>
                        </a:spcAft>
                      </a:pPr>
                      <a:r>
                        <a:rPr lang="en-US" altLang="en-US" sz="1400" b="0" spc="120"/>
                        <a:t>7B  Multi-Node Distributed Training (Final)</a:t>
                      </a:r>
                    </a:p>
                  </a:txBody>
                  <a:tcPr marL="177800" marR="177800" marT="107950" marB="107950" anchor="ctr"/>
                </a:tc>
                <a:tc>
                  <a:txBody>
                    <a:bodyPr/>
                    <a:lstStyle/>
                    <a:p>
                      <a:pPr indent="0" algn="l">
                        <a:lnSpc>
                          <a:spcPct val="120000"/>
                        </a:lnSpc>
                        <a:spcBef>
                          <a:spcPts val="0"/>
                        </a:spcBef>
                        <a:spcAft>
                          <a:spcPts val="0"/>
                        </a:spcAft>
                      </a:pPr>
                      <a:r>
                        <a:rPr lang="en-US" altLang="en-US" sz="1400" b="0" spc="120"/>
                        <a:t>3-Person Team</a:t>
                      </a:r>
                    </a:p>
                  </a:txBody>
                  <a:tcPr marL="177800" marR="177800" marT="107950" marB="107950" anchor="ctr"/>
                </a:tc>
                <a:tc>
                  <a:txBody>
                    <a:bodyPr/>
                    <a:lstStyle/>
                    <a:p>
                      <a:pPr indent="0" algn="l">
                        <a:lnSpc>
                          <a:spcPct val="120000"/>
                        </a:lnSpc>
                        <a:spcBef>
                          <a:spcPts val="0"/>
                        </a:spcBef>
                        <a:spcAft>
                          <a:spcPts val="0"/>
                        </a:spcAft>
                      </a:pPr>
                      <a:r>
                        <a:rPr lang="en-US" altLang="en-US" sz="1400" b="0" spc="120"/>
                        <a:t>Comparison of 3 Parallelism Strategies + + Linear Speedup Ratio</a:t>
                      </a:r>
                    </a:p>
                  </a:txBody>
                  <a:tcPr marL="177800" marR="177800" marT="107950" marB="107950" anchor="ctr"/>
                </a:tc>
                <a:extLst>
                  <a:ext uri="{0D108BD9-81ED-4DB2-BD59-A6C34878D82A}">
                    <a16:rowId xmlns:a16="http://schemas.microsoft.com/office/drawing/2014/main" val="10005"/>
                  </a:ext>
                </a:extLst>
              </a:tr>
              <a:tr h="772160">
                <a:tc>
                  <a:txBody>
                    <a:bodyPr/>
                    <a:lstStyle/>
                    <a:p>
                      <a:pPr indent="0" algn="ctr">
                        <a:lnSpc>
                          <a:spcPct val="120000"/>
                        </a:lnSpc>
                        <a:spcBef>
                          <a:spcPts val="0"/>
                        </a:spcBef>
                        <a:spcAft>
                          <a:spcPts val="0"/>
                        </a:spcAft>
                      </a:pPr>
                      <a:r>
                        <a:rPr lang="en-US" altLang="en-US" sz="1400" b="0" spc="120"/>
                        <a:t>46-47</a:t>
                      </a:r>
                    </a:p>
                  </a:txBody>
                  <a:tcPr marL="177800" marR="177800" marT="107950" marB="107950" anchor="ctr"/>
                </a:tc>
                <a:tc>
                  <a:txBody>
                    <a:bodyPr/>
                    <a:lstStyle/>
                    <a:p>
                      <a:pPr indent="0" algn="l">
                        <a:lnSpc>
                          <a:spcPct val="120000"/>
                        </a:lnSpc>
                        <a:spcBef>
                          <a:spcPts val="0"/>
                        </a:spcBef>
                        <a:spcAft>
                          <a:spcPts val="0"/>
                        </a:spcAft>
                      </a:pPr>
                      <a:r>
                        <a:rPr lang="en-US" altLang="en-US" sz="1400" b="0" spc="120"/>
                        <a:t>Capstone Project Defense</a:t>
                      </a:r>
                    </a:p>
                  </a:txBody>
                  <a:tcPr marL="177800" marR="177800" marT="107950" marB="107950" anchor="ctr"/>
                </a:tc>
                <a:tc>
                  <a:txBody>
                    <a:bodyPr/>
                    <a:lstStyle/>
                    <a:p>
                      <a:pPr indent="0" algn="l">
                        <a:lnSpc>
                          <a:spcPct val="120000"/>
                        </a:lnSpc>
                        <a:spcBef>
                          <a:spcPts val="0"/>
                        </a:spcBef>
                        <a:spcAft>
                          <a:spcPts val="0"/>
                        </a:spcAft>
                      </a:pPr>
                      <a:r>
                        <a:rPr lang="en-US" altLang="en-US" sz="1400" b="0" spc="120"/>
                        <a:t>Group Defense</a:t>
                      </a:r>
                    </a:p>
                  </a:txBody>
                  <a:tcPr marL="177800" marR="177800" marT="107950" marB="107950" anchor="ctr"/>
                </a:tc>
                <a:tc>
                  <a:txBody>
                    <a:bodyPr/>
                    <a:lstStyle/>
                    <a:p>
                      <a:pPr indent="0" algn="l">
                        <a:lnSpc>
                          <a:spcPct val="120000"/>
                        </a:lnSpc>
                        <a:spcBef>
                          <a:spcPts val="0"/>
                        </a:spcBef>
                        <a:spcAft>
                          <a:spcPts val="0"/>
                        </a:spcAft>
                      </a:pPr>
                      <a:r>
                        <a:rPr lang="en-US" altLang="en-US" sz="1400" b="0" spc="120"/>
                        <a:t>Proposal Feasibility + + Authenticity of Progress</a:t>
                      </a:r>
                    </a:p>
                  </a:txBody>
                  <a:tcPr marL="177800" marR="177800" marT="107950" marB="107950" anchor="ctr"/>
                </a:tc>
                <a:extLst>
                  <a:ext uri="{0D108BD9-81ED-4DB2-BD59-A6C34878D82A}">
                    <a16:rowId xmlns:a16="http://schemas.microsoft.com/office/drawing/2014/main" val="10006"/>
                  </a:ext>
                </a:extLst>
              </a:tr>
            </a:tbl>
          </a:graphicData>
        </a:graphic>
      </p:graphicFrame>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a:t>Project Overview</a:t>
            </a:r>
          </a:p>
        </p:txBody>
      </p:sp>
      <p:sp>
        <p:nvSpPr>
          <p:cNvPr id="4" name="页脚占位符 3"/>
          <p:cNvSpPr>
            <a:spLocks noGrp="1"/>
          </p:cNvSpPr>
          <p:nvPr>
            <p:ph type="ftr" sz="quarter" idx="11"/>
          </p:nvPr>
        </p:nvSpPr>
        <p:spPr/>
        <p:txBody>
          <a:bodyPr/>
          <a:lstStyle/>
          <a:p>
            <a:endParaRPr lang="en-US" altLang="en-US" dirty="0"/>
          </a:p>
        </p:txBody>
      </p:sp>
      <p:sp>
        <p:nvSpPr>
          <p:cNvPr id="5" name="灯片编号占位符 4"/>
          <p:cNvSpPr>
            <a:spLocks noGrp="1"/>
          </p:cNvSpPr>
          <p:nvPr>
            <p:ph type="sldNum" sz="quarter" idx="12"/>
          </p:nvPr>
        </p:nvSpPr>
        <p:spPr/>
        <p:txBody>
          <a:bodyPr/>
          <a:lstStyle/>
          <a:p>
            <a:fld id="{B33F7469-D28B-482F-B1B6-3B8E7CF51519}" type="slidenum">
              <a:rPr lang="en-US" altLang="en-US" smtClean="0"/>
              <a:t>4</a:t>
            </a:fld>
            <a:endParaRPr lang="en-US" altLang="en-US" dirty="0"/>
          </a:p>
        </p:txBody>
      </p:sp>
      <p:sp>
        <p:nvSpPr>
          <p:cNvPr id="3" name="内容占位符 2"/>
          <p:cNvSpPr>
            <a:spLocks noGrp="1"/>
          </p:cNvSpPr>
          <p:nvPr>
            <p:ph sz="quarter" idx="13"/>
          </p:nvPr>
        </p:nvSpPr>
        <p:spPr/>
        <p:txBody>
          <a:bodyPr/>
          <a:lstStyle/>
          <a:p>
            <a:r>
              <a:rPr lang="en-US" altLang="en-US"/>
              <a:t>Project Background</a:t>
            </a:r>
          </a:p>
          <a:p>
            <a:pPr lvl="1"/>
            <a:r>
              <a:rPr lang="en-US" altLang="en-US"/>
              <a:t>Softmax  is one of the most fundamental operators in deep learning, ubiquitous in  Transformer  attention mechanisms and classification tasks. An efficient  Softmax  implementation requires the combined use of  Tiling (Tiling), Online Normalization (Online Normalization), and  Reduction  optimization techniques, making it an ideal project for assessing Module I comprehensive skills.</a:t>
            </a:r>
          </a:p>
          <a:p>
            <a:pPr lvl="0"/>
            <a:r>
              <a:rPr lang="en-US" altLang="en-US"/>
              <a:t>Project Objectives</a:t>
            </a:r>
          </a:p>
          <a:p>
            <a:pPr lvl="1"/>
            <a:r>
              <a:rPr lang="en-US" altLang="en-US"/>
              <a:t>Using  Triton  to implement a numerically stable  Safe Softmax Kernel</a:t>
            </a:r>
          </a:p>
          <a:p>
            <a:pPr lvl="1"/>
            <a:r>
              <a:rPr lang="en-US" altLang="en-US"/>
              <a:t>Support arbitrary-shaped  2D  input tensors, computing along the last dimension (dim=-1)</a:t>
            </a:r>
          </a:p>
          <a:p>
            <a:pPr lvl="1"/>
            <a:r>
              <a:rPr lang="en-US" altLang="en-US"/>
              <a:t>Compare with  PyTorch  native  F.softmax  output, maximum absolute error  &lt; 1e-5（float32）</a:t>
            </a:r>
          </a:p>
          <a:p>
            <a:pPr lvl="1"/>
            <a:r>
              <a:rPr lang="en-US" altLang="en-US"/>
              <a:t>Performance (throughput) reaching  PyTorch  of the built-in implementation 70%  or above</a:t>
            </a:r>
          </a:p>
          <a:p>
            <a:pPr lvl="1"/>
            <a:r>
              <a:rPr lang="en-US" altLang="en-US"/>
              <a:t>(Advanced) Register the operator in the  FlagGems  framework and pass its test suite</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a:t>Implementation Specifications</a:t>
            </a:r>
          </a:p>
        </p:txBody>
      </p:sp>
      <p:sp>
        <p:nvSpPr>
          <p:cNvPr id="4" name="页脚占位符 3"/>
          <p:cNvSpPr>
            <a:spLocks noGrp="1"/>
          </p:cNvSpPr>
          <p:nvPr>
            <p:ph type="ftr" sz="quarter" idx="11"/>
          </p:nvPr>
        </p:nvSpPr>
        <p:spPr/>
        <p:txBody>
          <a:bodyPr/>
          <a:lstStyle/>
          <a:p>
            <a:endParaRPr lang="en-US" altLang="en-US" dirty="0"/>
          </a:p>
        </p:txBody>
      </p:sp>
      <p:sp>
        <p:nvSpPr>
          <p:cNvPr id="5" name="灯片编号占位符 4"/>
          <p:cNvSpPr>
            <a:spLocks noGrp="1"/>
          </p:cNvSpPr>
          <p:nvPr>
            <p:ph type="sldNum" sz="quarter" idx="12"/>
          </p:nvPr>
        </p:nvSpPr>
        <p:spPr/>
        <p:txBody>
          <a:bodyPr/>
          <a:lstStyle/>
          <a:p>
            <a:fld id="{B33F7469-D28B-482F-B1B6-3B8E7CF51519}" type="slidenum">
              <a:rPr lang="en-US" altLang="en-US" smtClean="0"/>
              <a:t>5</a:t>
            </a:fld>
            <a:endParaRPr lang="en-US" altLang="en-US" dirty="0"/>
          </a:p>
        </p:txBody>
      </p:sp>
      <p:sp>
        <p:nvSpPr>
          <p:cNvPr id="3" name="内容占位符 2"/>
          <p:cNvSpPr>
            <a:spLocks noGrp="1"/>
          </p:cNvSpPr>
          <p:nvPr>
            <p:ph sz="quarter" idx="13"/>
          </p:nvPr>
        </p:nvSpPr>
        <p:spPr/>
        <p:txBody>
          <a:bodyPr/>
          <a:lstStyle/>
          <a:p>
            <a:r>
              <a:rPr lang="en-US" altLang="en-US" sz="1800"/>
              <a:t>Numerical Stability</a:t>
            </a:r>
          </a:p>
          <a:p>
            <a:pPr lvl="1"/>
            <a:r>
              <a:rPr lang="en-US" altLang="en-US" sz="1600"/>
              <a:t>Must implement  Safe Softmax, i.e., subtract the row-wise maximum before computing exponentials to prevent overflow</a:t>
            </a:r>
          </a:p>
          <a:p>
            <a:pPr lvl="1"/>
            <a:endParaRPr lang="en-US" altLang="en-US" sz="1600"/>
          </a:p>
          <a:p>
            <a:pPr lvl="0"/>
            <a:r>
              <a:rPr lang="en-US" altLang="en-US" sz="1800"/>
              <a:t>Kernel  Structure Requirements</a:t>
            </a:r>
          </a:p>
          <a:p>
            <a:pPr lvl="1"/>
            <a:r>
              <a:rPr lang="en-US" altLang="en-US" sz="1600"/>
              <a:t>Each  Program（Block) processes one row of data</a:t>
            </a:r>
          </a:p>
          <a:p>
            <a:pPr lvl="1"/>
            <a:r>
              <a:rPr lang="en-US" altLang="en-US" sz="1600"/>
              <a:t>Use  tl.load  for block-wise loading, handle boundary cases where row length is not divisible by  BLOCK_SIZE </a:t>
            </a:r>
          </a:p>
          <a:p>
            <a:pPr lvl="1"/>
            <a:r>
              <a:rPr lang="en-US" altLang="en-US" sz="1600"/>
              <a:t>Complete a three-step  Reduction: compute maximum →  compute exponential sum →  normalize and write back</a:t>
            </a:r>
          </a:p>
          <a:p>
            <a:pPr lvl="0"/>
            <a:r>
              <a:rPr lang="en-US" altLang="en-US" sz="1800"/>
              <a:t>Interface Specification</a:t>
            </a:r>
          </a:p>
        </p:txBody>
      </p:sp>
      <p:graphicFrame>
        <p:nvGraphicFramePr>
          <p:cNvPr id="7" name="表格 6"/>
          <p:cNvGraphicFramePr/>
          <p:nvPr>
            <p:custDataLst>
              <p:tags r:id="rId1"/>
            </p:custDataLst>
          </p:nvPr>
        </p:nvGraphicFramePr>
        <p:xfrm>
          <a:off x="2586355" y="2066925"/>
          <a:ext cx="7934960" cy="396240"/>
        </p:xfrm>
        <a:graphic>
          <a:graphicData uri="http://schemas.openxmlformats.org/drawingml/2006/table">
            <a:tbl>
              <a:tblPr/>
              <a:tblGrid>
                <a:gridCol w="7934960">
                  <a:extLst>
                    <a:ext uri="{9D8B030D-6E8A-4147-A177-3AD203B41FA5}">
                      <a16:colId xmlns:a16="http://schemas.microsoft.com/office/drawing/2014/main" val="20000"/>
                    </a:ext>
                  </a:extLst>
                </a:gridCol>
              </a:tblGrid>
              <a:tr h="396240">
                <a:tc>
                  <a:txBody>
                    <a:bodyPr/>
                    <a:lstStyle/>
                    <a:p>
                      <a:pPr marL="0" indent="0" algn="just">
                        <a:spcBef>
                          <a:spcPct val="0"/>
                        </a:spcBef>
                        <a:spcAft>
                          <a:spcPct val="0"/>
                        </a:spcAft>
                      </a:pPr>
                      <a:r>
                        <a:rPr lang="en-US" altLang="en-US" sz="1600">
                          <a:solidFill>
                            <a:srgbClr val="1A5276"/>
                          </a:solidFill>
                          <a:latin typeface="Courier New" panose="02070309020205020404"/>
                          <a:ea typeface="Courier New" panose="02070309020205020404"/>
                        </a:rPr>
                        <a:t>softmax(x_i) = exp(x_i - max(x)) / sum(exp(x_j - max(x)))</a:t>
                      </a:r>
                    </a:p>
                  </a:txBody>
                  <a:tcPr marL="114300" marR="114300" marT="76200" marB="762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EBF5FB"/>
                    </a:solidFill>
                  </a:tcPr>
                </a:tc>
                <a:extLst>
                  <a:ext uri="{0D108BD9-81ED-4DB2-BD59-A6C34878D82A}">
                    <a16:rowId xmlns:a16="http://schemas.microsoft.com/office/drawing/2014/main" val="10000"/>
                  </a:ext>
                </a:extLst>
              </a:tr>
            </a:tbl>
          </a:graphicData>
        </a:graphic>
      </p:graphicFrame>
      <p:graphicFrame>
        <p:nvGraphicFramePr>
          <p:cNvPr id="8" name="表格 7"/>
          <p:cNvGraphicFramePr/>
          <p:nvPr>
            <p:custDataLst>
              <p:tags r:id="rId2"/>
            </p:custDataLst>
          </p:nvPr>
        </p:nvGraphicFramePr>
        <p:xfrm>
          <a:off x="2681605" y="4830445"/>
          <a:ext cx="7935595" cy="909320"/>
        </p:xfrm>
        <a:graphic>
          <a:graphicData uri="http://schemas.openxmlformats.org/drawingml/2006/table">
            <a:tbl>
              <a:tblPr/>
              <a:tblGrid>
                <a:gridCol w="7935595">
                  <a:extLst>
                    <a:ext uri="{9D8B030D-6E8A-4147-A177-3AD203B41FA5}">
                      <a16:colId xmlns:a16="http://schemas.microsoft.com/office/drawing/2014/main" val="20000"/>
                    </a:ext>
                  </a:extLst>
                </a:gridCol>
              </a:tblGrid>
              <a:tr h="454660">
                <a:tc>
                  <a:txBody>
                    <a:bodyPr/>
                    <a:lstStyle/>
                    <a:p>
                      <a:pPr marL="0" indent="0" algn="just">
                        <a:spcBef>
                          <a:spcPct val="0"/>
                        </a:spcBef>
                        <a:spcAft>
                          <a:spcPct val="0"/>
                        </a:spcAft>
                      </a:pPr>
                      <a:r>
                        <a:rPr lang="en-US" altLang="en-US" sz="1600">
                          <a:solidFill>
                            <a:srgbClr val="1A5276"/>
                          </a:solidFill>
                          <a:latin typeface="Courier New" panose="02070309020205020404"/>
                          <a:ea typeface="Courier New" panose="02070309020205020404"/>
                        </a:rPr>
                        <a:t>def flaggems_softmax(x: torch.Tensor) -&gt; torch.Tensor:</a:t>
                      </a:r>
                    </a:p>
                  </a:txBody>
                  <a:tcPr marL="114300" marR="114300" marT="76200" marB="762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EBF5FB"/>
                    </a:solidFill>
                  </a:tcPr>
                </a:tc>
                <a:extLst>
                  <a:ext uri="{0D108BD9-81ED-4DB2-BD59-A6C34878D82A}">
                    <a16:rowId xmlns:a16="http://schemas.microsoft.com/office/drawing/2014/main" val="10000"/>
                  </a:ext>
                </a:extLst>
              </a:tr>
              <a:tr h="454660">
                <a:tc>
                  <a:txBody>
                    <a:bodyPr/>
                    <a:lstStyle/>
                    <a:p>
                      <a:pPr marL="0" indent="0" algn="just">
                        <a:spcBef>
                          <a:spcPct val="0"/>
                        </a:spcBef>
                        <a:spcAft>
                          <a:spcPct val="0"/>
                        </a:spcAft>
                      </a:pPr>
                      <a:r>
                        <a:rPr lang="en-US" altLang="en-US" sz="1600">
                          <a:solidFill>
                            <a:srgbClr val="1A5276"/>
                          </a:solidFill>
                          <a:latin typeface="Courier New" panose="02070309020205020404"/>
                          <a:ea typeface="Courier New" panose="02070309020205020404"/>
                        </a:rPr>
                        <a:t>    # x: [M, N], Returns a tensor of the same shape , with values being the softmax  result</a:t>
                      </a:r>
                    </a:p>
                  </a:txBody>
                  <a:tcPr marL="114300" marR="114300" marT="76200" marB="762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EBF5FB"/>
                    </a:solidFill>
                  </a:tcPr>
                </a:tc>
                <a:extLst>
                  <a:ext uri="{0D108BD9-81ED-4DB2-BD59-A6C34878D82A}">
                    <a16:rowId xmlns:a16="http://schemas.microsoft.com/office/drawing/2014/main" val="10001"/>
                  </a:ext>
                </a:extLst>
              </a:tr>
            </a:tbl>
          </a:graphicData>
        </a:graphic>
      </p:graphicFrame>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a:t>Testing and Validation</a:t>
            </a:r>
          </a:p>
        </p:txBody>
      </p:sp>
      <p:sp>
        <p:nvSpPr>
          <p:cNvPr id="4" name="页脚占位符 3"/>
          <p:cNvSpPr>
            <a:spLocks noGrp="1"/>
          </p:cNvSpPr>
          <p:nvPr>
            <p:ph type="ftr" sz="quarter" idx="11"/>
          </p:nvPr>
        </p:nvSpPr>
        <p:spPr/>
        <p:txBody>
          <a:bodyPr/>
          <a:lstStyle/>
          <a:p>
            <a:endParaRPr lang="en-US" altLang="en-US" dirty="0"/>
          </a:p>
        </p:txBody>
      </p:sp>
      <p:sp>
        <p:nvSpPr>
          <p:cNvPr id="5" name="灯片编号占位符 4"/>
          <p:cNvSpPr>
            <a:spLocks noGrp="1"/>
          </p:cNvSpPr>
          <p:nvPr>
            <p:ph type="sldNum" sz="quarter" idx="12"/>
          </p:nvPr>
        </p:nvSpPr>
        <p:spPr/>
        <p:txBody>
          <a:bodyPr/>
          <a:lstStyle/>
          <a:p>
            <a:fld id="{B33F7469-D28B-482F-B1B6-3B8E7CF51519}" type="slidenum">
              <a:rPr lang="en-US" altLang="en-US" smtClean="0"/>
              <a:t>6</a:t>
            </a:fld>
            <a:endParaRPr lang="en-US" altLang="en-US" dirty="0"/>
          </a:p>
        </p:txBody>
      </p:sp>
      <p:sp>
        <p:nvSpPr>
          <p:cNvPr id="3" name="内容占位符 2"/>
          <p:cNvSpPr>
            <a:spLocks noGrp="1"/>
          </p:cNvSpPr>
          <p:nvPr>
            <p:ph sz="quarter" idx="13"/>
          </p:nvPr>
        </p:nvSpPr>
        <p:spPr/>
        <p:txBody>
          <a:bodyPr/>
          <a:lstStyle/>
          <a:p>
            <a:r>
              <a:rPr lang="en-US" altLang="en-US"/>
              <a:t>Correctness Test Cases</a:t>
            </a:r>
          </a:p>
          <a:p>
            <a:pPr lvl="1"/>
            <a:r>
              <a:rPr lang="en-US" altLang="en-US"/>
              <a:t>Basic: shape  [128, 256]，dtype=float32</a:t>
            </a:r>
          </a:p>
          <a:p>
            <a:pPr lvl="1"/>
            <a:r>
              <a:rPr lang="en-US" altLang="en-US"/>
              <a:t>Boundary: N=1, N=65537 (non-power-of- 2 ), M=1</a:t>
            </a:r>
          </a:p>
          <a:p>
            <a:pPr lvl="1"/>
            <a:r>
              <a:rPr lang="en-US" altLang="en-US"/>
              <a:t>Precision: compare with  torch.nn.functional.softmax(x, dim=-1) , atol=1e-5</a:t>
            </a:r>
          </a:p>
          <a:p>
            <a:pPr lvl="0"/>
            <a:r>
              <a:rPr lang="en-US" altLang="en-US"/>
              <a:t>Performance Benchmark</a:t>
            </a:r>
          </a:p>
          <a:p>
            <a:pPr lvl="1"/>
            <a:r>
              <a:rPr lang="en-US" altLang="en-US"/>
              <a:t>Test shape: [1024, 4096] (simulating  Transformer Attention  scenario)</a:t>
            </a:r>
          </a:p>
          <a:p>
            <a:pPr lvl="1"/>
            <a:r>
              <a:rPr lang="en-US" altLang="en-US"/>
              <a:t>Tools: triton.testing.Benchmark  or  torch.utils.benchmark</a:t>
            </a:r>
          </a:p>
          <a:p>
            <a:pPr lvl="1"/>
            <a:r>
              <a:rPr lang="en-US" altLang="en-US"/>
              <a:t>Reported metrics: GB/s (memory bandwidth utilization) and  ms (latency)</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Submission Requirements and Grading Criteria</a:t>
            </a:r>
            <a:endParaRPr lang="en-US" altLang="en-US"/>
          </a:p>
        </p:txBody>
      </p:sp>
      <p:sp>
        <p:nvSpPr>
          <p:cNvPr id="4" name="页脚占位符 3"/>
          <p:cNvSpPr>
            <a:spLocks noGrp="1"/>
          </p:cNvSpPr>
          <p:nvPr>
            <p:ph type="ftr" sz="quarter" idx="11"/>
          </p:nvPr>
        </p:nvSpPr>
        <p:spPr/>
        <p:txBody>
          <a:bodyPr/>
          <a:lstStyle/>
          <a:p>
            <a:endParaRPr lang="en-US" altLang="en-US" dirty="0"/>
          </a:p>
        </p:txBody>
      </p:sp>
      <p:sp>
        <p:nvSpPr>
          <p:cNvPr id="5" name="灯片编号占位符 4"/>
          <p:cNvSpPr>
            <a:spLocks noGrp="1"/>
          </p:cNvSpPr>
          <p:nvPr>
            <p:ph type="sldNum" sz="quarter" idx="12"/>
          </p:nvPr>
        </p:nvSpPr>
        <p:spPr/>
        <p:txBody>
          <a:bodyPr/>
          <a:lstStyle/>
          <a:p>
            <a:fld id="{B33F7469-D28B-482F-B1B6-3B8E7CF51519}" type="slidenum">
              <a:rPr lang="en-US" altLang="en-US" smtClean="0"/>
              <a:t>7</a:t>
            </a:fld>
            <a:endParaRPr lang="en-US" altLang="en-US" dirty="0"/>
          </a:p>
        </p:txBody>
      </p:sp>
      <p:sp>
        <p:nvSpPr>
          <p:cNvPr id="3" name="内容占位符 2"/>
          <p:cNvSpPr>
            <a:spLocks noGrp="1"/>
          </p:cNvSpPr>
          <p:nvPr>
            <p:ph sz="quarter" idx="13"/>
          </p:nvPr>
        </p:nvSpPr>
        <p:spPr/>
        <p:txBody>
          <a:bodyPr/>
          <a:lstStyle/>
          <a:p>
            <a:r>
              <a:rPr lang="en-US" altLang="en-US" sz="2000"/>
              <a:t>Submission Checklist</a:t>
            </a:r>
          </a:p>
          <a:p>
            <a:pPr lvl="1"/>
            <a:r>
              <a:rPr lang="en-US" altLang="en-US" sz="1800"/>
              <a:t>softmax_kernel.py: contains  Kernel  implementation and test code</a:t>
            </a:r>
          </a:p>
          <a:p>
            <a:pPr lvl="1"/>
            <a:r>
              <a:rPr lang="en-US" altLang="en-US" sz="1800"/>
              <a:t>eport.pdf: no more than  4  pages, including implementation approach, correctness verification screenshots, and performance comparison charts</a:t>
            </a:r>
          </a:p>
          <a:p>
            <a:pPr lvl="1"/>
            <a:r>
              <a:rPr lang="en-US" altLang="en-US" sz="1800"/>
              <a:t>(Advanced)  FlagGems  repository  PR  link or  diff  file</a:t>
            </a:r>
          </a:p>
          <a:p>
            <a:pPr lvl="0"/>
            <a:r>
              <a:rPr lang="en-US" altLang="en-US" sz="2000"/>
              <a:t>Grading Criteria</a:t>
            </a:r>
          </a:p>
        </p:txBody>
      </p:sp>
      <p:graphicFrame>
        <p:nvGraphicFramePr>
          <p:cNvPr id="6" name="表格 5"/>
          <p:cNvGraphicFramePr/>
          <p:nvPr>
            <p:custDataLst>
              <p:tags r:id="rId1"/>
            </p:custDataLst>
          </p:nvPr>
        </p:nvGraphicFramePr>
        <p:xfrm>
          <a:off x="2004695" y="3737610"/>
          <a:ext cx="8947150" cy="2289175"/>
        </p:xfrm>
        <a:graphic>
          <a:graphicData uri="http://schemas.openxmlformats.org/drawingml/2006/table">
            <a:tbl>
              <a:tblPr/>
              <a:tblGrid>
                <a:gridCol w="2867660">
                  <a:extLst>
                    <a:ext uri="{9D8B030D-6E8A-4147-A177-3AD203B41FA5}">
                      <a16:colId xmlns:a16="http://schemas.microsoft.com/office/drawing/2014/main" val="20000"/>
                    </a:ext>
                  </a:extLst>
                </a:gridCol>
                <a:gridCol w="1720850">
                  <a:extLst>
                    <a:ext uri="{9D8B030D-6E8A-4147-A177-3AD203B41FA5}">
                      <a16:colId xmlns:a16="http://schemas.microsoft.com/office/drawing/2014/main" val="20001"/>
                    </a:ext>
                  </a:extLst>
                </a:gridCol>
                <a:gridCol w="4358640">
                  <a:extLst>
                    <a:ext uri="{9D8B030D-6E8A-4147-A177-3AD203B41FA5}">
                      <a16:colId xmlns:a16="http://schemas.microsoft.com/office/drawing/2014/main" val="20002"/>
                    </a:ext>
                  </a:extLst>
                </a:gridCol>
              </a:tblGrid>
              <a:tr h="400685">
                <a:tc>
                  <a:txBody>
                    <a:bodyPr/>
                    <a:lstStyle/>
                    <a:p>
                      <a:pPr marL="0" indent="0" algn="ctr">
                        <a:spcBef>
                          <a:spcPct val="0"/>
                        </a:spcBef>
                        <a:spcAft>
                          <a:spcPct val="0"/>
                        </a:spcAft>
                      </a:pPr>
                      <a:r>
                        <a:rPr lang="en-US" sz="1400" b="1">
                          <a:solidFill>
                            <a:srgbClr val="FFFFFF"/>
                          </a:solidFill>
                          <a:latin typeface="Arial" panose="020B0604020202020204"/>
                          <a:ea typeface="Arial" panose="020B0604020202020204"/>
                        </a:rPr>
                        <a:t>Assessment Dimension</a:t>
                      </a:r>
                    </a:p>
                  </a:txBody>
                  <a:tcPr marL="76200" marR="50800" marT="50800" marB="50800" anchor="ctr">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8B0012"/>
                    </a:solidFill>
                  </a:tcPr>
                </a:tc>
                <a:tc>
                  <a:txBody>
                    <a:bodyPr/>
                    <a:lstStyle/>
                    <a:p>
                      <a:pPr marL="0" indent="0" algn="ctr">
                        <a:spcBef>
                          <a:spcPct val="0"/>
                        </a:spcBef>
                        <a:spcAft>
                          <a:spcPct val="0"/>
                        </a:spcAft>
                      </a:pPr>
                      <a:r>
                        <a:rPr lang="en-US" sz="1400" b="1">
                          <a:solidFill>
                            <a:srgbClr val="FFFFFF"/>
                          </a:solidFill>
                          <a:latin typeface="Arial" panose="020B0604020202020204"/>
                          <a:ea typeface="Arial" panose="020B0604020202020204"/>
                        </a:rPr>
                        <a:t>Score</a:t>
                      </a:r>
                    </a:p>
                  </a:txBody>
                  <a:tcPr marL="76200" marR="50800" marT="50800" marB="50800" anchor="ctr">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8B0012"/>
                    </a:solidFill>
                  </a:tcPr>
                </a:tc>
                <a:tc>
                  <a:txBody>
                    <a:bodyPr/>
                    <a:lstStyle/>
                    <a:p>
                      <a:pPr marL="0" indent="0" algn="ctr">
                        <a:spcBef>
                          <a:spcPct val="0"/>
                        </a:spcBef>
                        <a:spcAft>
                          <a:spcPct val="0"/>
                        </a:spcAft>
                      </a:pPr>
                      <a:r>
                        <a:rPr lang="en-US" sz="1400" b="1">
                          <a:solidFill>
                            <a:srgbClr val="FFFFFF"/>
                          </a:solidFill>
                          <a:latin typeface="Arial" panose="020B0604020202020204"/>
                          <a:ea typeface="Arial" panose="020B0604020202020204"/>
                        </a:rPr>
                        <a:t>Grading Criteria</a:t>
                      </a:r>
                    </a:p>
                  </a:txBody>
                  <a:tcPr marL="76200" marR="50800" marT="50800" marB="50800" anchor="ctr">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8B0012"/>
                    </a:solidFill>
                  </a:tcPr>
                </a:tc>
                <a:extLst>
                  <a:ext uri="{0D108BD9-81ED-4DB2-BD59-A6C34878D82A}">
                    <a16:rowId xmlns:a16="http://schemas.microsoft.com/office/drawing/2014/main" val="10000"/>
                  </a:ext>
                </a:extLst>
              </a:tr>
              <a:tr h="377190">
                <a:tc>
                  <a:txBody>
                    <a:bodyPr/>
                    <a:lstStyle/>
                    <a:p>
                      <a:pPr marL="0" indent="0" algn="just">
                        <a:spcBef>
                          <a:spcPct val="0"/>
                        </a:spcBef>
                        <a:spcAft>
                          <a:spcPct val="0"/>
                        </a:spcAft>
                      </a:pPr>
                      <a:r>
                        <a:rPr lang="en-US" sz="1400">
                          <a:latin typeface="Arial" panose="020B0604020202020204"/>
                          <a:ea typeface="Arial" panose="020B0604020202020204"/>
                        </a:rPr>
                        <a:t>Code Correctness</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FFFFF"/>
                    </a:solidFill>
                  </a:tcPr>
                </a:tc>
                <a:tc>
                  <a:txBody>
                    <a:bodyPr/>
                    <a:lstStyle/>
                    <a:p>
                      <a:pPr marL="0" indent="0" algn="just">
                        <a:spcBef>
                          <a:spcPct val="0"/>
                        </a:spcBef>
                        <a:spcAft>
                          <a:spcPct val="0"/>
                        </a:spcAft>
                      </a:pPr>
                      <a:r>
                        <a:rPr lang="en-US" altLang="en-US" sz="1400">
                          <a:latin typeface="Arial" panose="020B0604020202020204"/>
                          <a:ea typeface="Arial" panose="020B0604020202020204"/>
                        </a:rPr>
                        <a:t>40  pts</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FFFFF"/>
                    </a:solidFill>
                  </a:tcPr>
                </a:tc>
                <a:tc>
                  <a:txBody>
                    <a:bodyPr/>
                    <a:lstStyle/>
                    <a:p>
                      <a:pPr marL="0" indent="0" algn="just">
                        <a:spcBef>
                          <a:spcPct val="0"/>
                        </a:spcBef>
                        <a:spcAft>
                          <a:spcPct val="0"/>
                        </a:spcAft>
                      </a:pPr>
                      <a:r>
                        <a:rPr lang="en-US" sz="1400">
                          <a:latin typeface="Arial" panose="020B0604020202020204"/>
                          <a:ea typeface="Arial" panose="020B0604020202020204"/>
                        </a:rPr>
                        <a:t>All test cases passed, including boundary </a:t>
                      </a:r>
                      <a:r>
                        <a:rPr lang="en-US" altLang="en-US" sz="1400">
                          <a:latin typeface="Arial" panose="020B0604020202020204"/>
                          <a:ea typeface="Arial" panose="020B0604020202020204"/>
                        </a:rPr>
                        <a:t> case</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FFFFF"/>
                    </a:solidFill>
                  </a:tcPr>
                </a:tc>
                <a:extLst>
                  <a:ext uri="{0D108BD9-81ED-4DB2-BD59-A6C34878D82A}">
                    <a16:rowId xmlns:a16="http://schemas.microsoft.com/office/drawing/2014/main" val="10001"/>
                  </a:ext>
                </a:extLst>
              </a:tr>
              <a:tr h="377825">
                <a:tc>
                  <a:txBody>
                    <a:bodyPr/>
                    <a:lstStyle/>
                    <a:p>
                      <a:pPr marL="0" indent="0" algn="just">
                        <a:spcBef>
                          <a:spcPct val="0"/>
                        </a:spcBef>
                        <a:spcAft>
                          <a:spcPct val="0"/>
                        </a:spcAft>
                      </a:pPr>
                      <a:r>
                        <a:rPr lang="en-US" sz="1400">
                          <a:latin typeface="Arial" panose="020B0604020202020204"/>
                          <a:ea typeface="Arial" panose="020B0604020202020204"/>
                        </a:rPr>
                        <a:t>Numerical Stability</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5F5F5"/>
                    </a:solidFill>
                  </a:tcPr>
                </a:tc>
                <a:tc>
                  <a:txBody>
                    <a:bodyPr/>
                    <a:lstStyle/>
                    <a:p>
                      <a:pPr marL="0" indent="0" algn="just">
                        <a:spcBef>
                          <a:spcPct val="0"/>
                        </a:spcBef>
                        <a:spcAft>
                          <a:spcPct val="0"/>
                        </a:spcAft>
                      </a:pPr>
                      <a:r>
                        <a:rPr lang="en-US" altLang="en-US" sz="1400">
                          <a:latin typeface="Arial" panose="020B0604020202020204"/>
                          <a:ea typeface="Arial" panose="020B0604020202020204"/>
                        </a:rPr>
                        <a:t>15  pts</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5F5F5"/>
                    </a:solidFill>
                  </a:tcPr>
                </a:tc>
                <a:tc>
                  <a:txBody>
                    <a:bodyPr/>
                    <a:lstStyle/>
                    <a:p>
                      <a:pPr marL="0" indent="0" algn="just">
                        <a:spcBef>
                          <a:spcPct val="0"/>
                        </a:spcBef>
                        <a:spcAft>
                          <a:spcPct val="0"/>
                        </a:spcAft>
                      </a:pPr>
                      <a:r>
                        <a:rPr lang="en-US" altLang="en-US" sz="1400">
                          <a:latin typeface="Arial" panose="020B0604020202020204"/>
                          <a:ea typeface="Arial" panose="020B0604020202020204"/>
                        </a:rPr>
                        <a:t>Safe Softmax  implemented correctly, no NaN/Inf</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5F5F5"/>
                    </a:solidFill>
                  </a:tcPr>
                </a:tc>
                <a:extLst>
                  <a:ext uri="{0D108BD9-81ED-4DB2-BD59-A6C34878D82A}">
                    <a16:rowId xmlns:a16="http://schemas.microsoft.com/office/drawing/2014/main" val="10002"/>
                  </a:ext>
                </a:extLst>
              </a:tr>
              <a:tr h="377825">
                <a:tc>
                  <a:txBody>
                    <a:bodyPr/>
                    <a:lstStyle/>
                    <a:p>
                      <a:pPr marL="0" indent="0" algn="just">
                        <a:spcBef>
                          <a:spcPct val="0"/>
                        </a:spcBef>
                        <a:spcAft>
                          <a:spcPct val="0"/>
                        </a:spcAft>
                      </a:pPr>
                      <a:r>
                        <a:rPr lang="en-US" sz="1400">
                          <a:latin typeface="Arial" panose="020B0604020202020204"/>
                          <a:ea typeface="Arial" panose="020B0604020202020204"/>
                        </a:rPr>
                        <a:t>Performance (Throughput)</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FFFFF"/>
                    </a:solidFill>
                  </a:tcPr>
                </a:tc>
                <a:tc>
                  <a:txBody>
                    <a:bodyPr/>
                    <a:lstStyle/>
                    <a:p>
                      <a:pPr marL="0" indent="0" algn="just">
                        <a:spcBef>
                          <a:spcPct val="0"/>
                        </a:spcBef>
                        <a:spcAft>
                          <a:spcPct val="0"/>
                        </a:spcAft>
                      </a:pPr>
                      <a:r>
                        <a:rPr lang="en-US" altLang="en-US" sz="1400">
                          <a:latin typeface="Arial" panose="020B0604020202020204"/>
                          <a:ea typeface="Arial" panose="020B0604020202020204"/>
                        </a:rPr>
                        <a:t>25  pts</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FFFFF"/>
                    </a:solidFill>
                  </a:tcPr>
                </a:tc>
                <a:tc>
                  <a:txBody>
                    <a:bodyPr/>
                    <a:lstStyle/>
                    <a:p>
                      <a:pPr marL="0" indent="0" algn="just">
                        <a:spcBef>
                          <a:spcPct val="0"/>
                        </a:spcBef>
                        <a:spcAft>
                          <a:spcPct val="0"/>
                        </a:spcAft>
                      </a:pPr>
                      <a:r>
                        <a:rPr lang="en-US" altLang="en-US" sz="1400">
                          <a:latin typeface="Arial" panose="020B0604020202020204"/>
                          <a:ea typeface="Arial" panose="020B0604020202020204"/>
                        </a:rPr>
                        <a:t>≥70%  of reference implementation for full score, linear interpolation</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FFFFF"/>
                    </a:solidFill>
                  </a:tcPr>
                </a:tc>
                <a:extLst>
                  <a:ext uri="{0D108BD9-81ED-4DB2-BD59-A6C34878D82A}">
                    <a16:rowId xmlns:a16="http://schemas.microsoft.com/office/drawing/2014/main" val="10003"/>
                  </a:ext>
                </a:extLst>
              </a:tr>
              <a:tr h="377825">
                <a:tc>
                  <a:txBody>
                    <a:bodyPr/>
                    <a:lstStyle/>
                    <a:p>
                      <a:pPr marL="0" indent="0" algn="just">
                        <a:spcBef>
                          <a:spcPct val="0"/>
                        </a:spcBef>
                        <a:spcAft>
                          <a:spcPct val="0"/>
                        </a:spcAft>
                      </a:pPr>
                      <a:r>
                        <a:rPr lang="en-US" sz="1400">
                          <a:latin typeface="Arial" panose="020B0604020202020204"/>
                          <a:ea typeface="Arial" panose="020B0604020202020204"/>
                        </a:rPr>
                        <a:t>Lab Report</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5F5F5"/>
                    </a:solidFill>
                  </a:tcPr>
                </a:tc>
                <a:tc>
                  <a:txBody>
                    <a:bodyPr/>
                    <a:lstStyle/>
                    <a:p>
                      <a:pPr marL="0" indent="0" algn="just">
                        <a:spcBef>
                          <a:spcPct val="0"/>
                        </a:spcBef>
                        <a:spcAft>
                          <a:spcPct val="0"/>
                        </a:spcAft>
                      </a:pPr>
                      <a:r>
                        <a:rPr lang="en-US" altLang="en-US" sz="1400">
                          <a:latin typeface="Arial" panose="020B0604020202020204"/>
                          <a:ea typeface="Arial" panose="020B0604020202020204"/>
                        </a:rPr>
                        <a:t>15  pts</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5F5F5"/>
                    </a:solidFill>
                  </a:tcPr>
                </a:tc>
                <a:tc>
                  <a:txBody>
                    <a:bodyPr/>
                    <a:lstStyle/>
                    <a:p>
                      <a:pPr marL="0" indent="0" algn="just">
                        <a:spcBef>
                          <a:spcPct val="0"/>
                        </a:spcBef>
                        <a:spcAft>
                          <a:spcPct val="0"/>
                        </a:spcAft>
                      </a:pPr>
                      <a:r>
                        <a:rPr lang="en-US" sz="1400">
                          <a:latin typeface="Arial" panose="020B0604020202020204"/>
                          <a:ea typeface="Arial" panose="020B0604020202020204"/>
                        </a:rPr>
                        <a:t> Analysis</a:t>
                      </a:r>
                      <a:r>
                        <a:rPr lang="en-US" altLang="en-US" sz="1400">
                          <a:latin typeface="Arial" panose="020B0604020202020204"/>
                          <a:ea typeface="Arial" panose="020B0604020202020204"/>
                        </a:rPr>
                        <a:t> Block Size  selection, Occupancy  impact</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5F5F5"/>
                    </a:solidFill>
                  </a:tcPr>
                </a:tc>
                <a:extLst>
                  <a:ext uri="{0D108BD9-81ED-4DB2-BD59-A6C34878D82A}">
                    <a16:rowId xmlns:a16="http://schemas.microsoft.com/office/drawing/2014/main" val="10004"/>
                  </a:ext>
                </a:extLst>
              </a:tr>
              <a:tr h="377825">
                <a:tc>
                  <a:txBody>
                    <a:bodyPr/>
                    <a:lstStyle/>
                    <a:p>
                      <a:pPr marL="0" indent="0" algn="just">
                        <a:spcBef>
                          <a:spcPct val="0"/>
                        </a:spcBef>
                        <a:spcAft>
                          <a:spcPct val="0"/>
                        </a:spcAft>
                      </a:pPr>
                      <a:r>
                        <a:rPr lang="en-US" sz="1400">
                          <a:latin typeface="Arial" panose="020B0604020202020204"/>
                          <a:ea typeface="Arial" panose="020B0604020202020204"/>
                        </a:rPr>
                        <a:t>Advanced: </a:t>
                      </a:r>
                      <a:r>
                        <a:rPr lang="en-US" altLang="en-US" sz="1400">
                          <a:latin typeface="Arial" panose="020B0604020202020204"/>
                          <a:ea typeface="Arial" panose="020B0604020202020204"/>
                        </a:rPr>
                        <a:t>FlagGems  Integration</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FFFFF"/>
                    </a:solidFill>
                  </a:tcPr>
                </a:tc>
                <a:tc>
                  <a:txBody>
                    <a:bodyPr/>
                    <a:lstStyle/>
                    <a:p>
                      <a:pPr marL="0" indent="0" algn="just">
                        <a:spcBef>
                          <a:spcPct val="0"/>
                        </a:spcBef>
                        <a:spcAft>
                          <a:spcPct val="0"/>
                        </a:spcAft>
                      </a:pPr>
                      <a:r>
                        <a:rPr lang="en-US" altLang="en-US" sz="1400">
                          <a:latin typeface="Arial" panose="020B0604020202020204"/>
                          <a:ea typeface="Arial" panose="020B0604020202020204"/>
                        </a:rPr>
                        <a:t>5  pts</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FFFFF"/>
                    </a:solidFill>
                  </a:tcPr>
                </a:tc>
                <a:tc>
                  <a:txBody>
                    <a:bodyPr/>
                    <a:lstStyle/>
                    <a:p>
                      <a:pPr marL="0" indent="0" algn="just">
                        <a:spcBef>
                          <a:spcPct val="0"/>
                        </a:spcBef>
                        <a:spcAft>
                          <a:spcPct val="0"/>
                        </a:spcAft>
                      </a:pPr>
                      <a:r>
                        <a:rPr lang="en-US" altLang="en-US" sz="1400">
                          <a:latin typeface="Arial" panose="020B0604020202020204"/>
                          <a:ea typeface="Arial" panose="020B0604020202020204"/>
                        </a:rPr>
                        <a:t>PR  merged or test suite passed</a:t>
                      </a:r>
                    </a:p>
                  </a:txBody>
                  <a:tcPr marL="76200" marR="50800" marT="50800" marB="50800">
                    <a:lnL w="9525" cap="flat" cmpd="sng">
                      <a:solidFill>
                        <a:srgbClr val="BBBBBB"/>
                      </a:solidFill>
                      <a:prstDash val="solid"/>
                      <a:headEnd type="none" w="med" len="med"/>
                      <a:tailEnd type="none" w="med" len="med"/>
                    </a:lnL>
                    <a:lnR w="9525" cap="flat" cmpd="sng">
                      <a:solidFill>
                        <a:srgbClr val="BBBBBB"/>
                      </a:solidFill>
                      <a:prstDash val="solid"/>
                      <a:headEnd type="none" w="med" len="med"/>
                      <a:tailEnd type="none" w="med" len="med"/>
                    </a:lnR>
                    <a:lnT w="9525" cap="flat" cmpd="sng">
                      <a:solidFill>
                        <a:srgbClr val="BBBBBB"/>
                      </a:solidFill>
                      <a:prstDash val="solid"/>
                      <a:headEnd type="none" w="med" len="med"/>
                      <a:tailEnd type="none" w="med" len="med"/>
                    </a:lnT>
                    <a:lnB w="9525" cap="flat" cmpd="sng">
                      <a:solidFill>
                        <a:srgbClr val="BBBBBB"/>
                      </a:solidFill>
                      <a:prstDash val="soli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The Solution:</a:t>
            </a:r>
            <a:r>
              <a:rPr lang="x-none" altLang="zh-CN">
                <a:sym typeface="+mn-ea"/>
              </a:rPr>
              <a:t> </a:t>
            </a:r>
            <a:r>
              <a:rPr>
                <a:sym typeface="+mn-ea"/>
              </a:rPr>
              <a:t>FlagOS,</a:t>
            </a:r>
            <a:r>
              <a:rPr lang="x-none" altLang="zh-CN">
                <a:sym typeface="+mn-ea"/>
              </a:rPr>
              <a:t> </a:t>
            </a:r>
            <a:r>
              <a:rPr>
                <a:sym typeface="+mn-ea"/>
              </a:rPr>
              <a:t>a Unified AI Software Stack</a:t>
            </a:r>
            <a:endParaRPr lang="zh-CN" altLang="en-US"/>
          </a:p>
        </p:txBody>
      </p:sp>
      <p:pic>
        <p:nvPicPr>
          <p:cNvPr id="7" name="内容占位符 6" descr="flagos-architecture-e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2170" y="1318260"/>
            <a:ext cx="9408795" cy="4853305"/>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사각형: 둥근 모서리 832"/>
          <p:cNvSpPr/>
          <p:nvPr>
            <p:custDataLst>
              <p:tags r:id="rId1"/>
            </p:custDataLst>
          </p:nvPr>
        </p:nvSpPr>
        <p:spPr>
          <a:xfrm>
            <a:off x="89535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832"/>
          <p:cNvSpPr/>
          <p:nvPr>
            <p:custDataLst>
              <p:tags r:id="rId2"/>
            </p:custDataLst>
          </p:nvPr>
        </p:nvSpPr>
        <p:spPr>
          <a:xfrm>
            <a:off x="440023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사각형: 둥근 모서리 832"/>
          <p:cNvSpPr/>
          <p:nvPr>
            <p:custDataLst>
              <p:tags r:id="rId3"/>
            </p:custDataLst>
          </p:nvPr>
        </p:nvSpPr>
        <p:spPr>
          <a:xfrm>
            <a:off x="790511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사각형: 둥근 모서리 832"/>
          <p:cNvSpPr/>
          <p:nvPr>
            <p:custDataLst>
              <p:tags r:id="rId4"/>
            </p:custDataLst>
          </p:nvPr>
        </p:nvSpPr>
        <p:spPr>
          <a:xfrm>
            <a:off x="89535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사각형: 둥근 모서리 832"/>
          <p:cNvSpPr/>
          <p:nvPr>
            <p:custDataLst>
              <p:tags r:id="rId5"/>
            </p:custDataLst>
          </p:nvPr>
        </p:nvSpPr>
        <p:spPr>
          <a:xfrm>
            <a:off x="440023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사각형: 둥근 모서리 832"/>
          <p:cNvSpPr/>
          <p:nvPr>
            <p:custDataLst>
              <p:tags r:id="rId6"/>
            </p:custDataLst>
          </p:nvPr>
        </p:nvSpPr>
        <p:spPr>
          <a:xfrm>
            <a:off x="790511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사각형: 둥근 모서리 72"/>
          <p:cNvSpPr/>
          <p:nvPr>
            <p:custDataLst>
              <p:tags r:id="rId7"/>
            </p:custDataLst>
          </p:nvPr>
        </p:nvSpPr>
        <p:spPr>
          <a:xfrm>
            <a:off x="2298364" y="1689569"/>
            <a:ext cx="356915" cy="356915"/>
          </a:xfrm>
          <a:prstGeom prst="ellipse">
            <a:avLst/>
          </a:prstGeom>
          <a:blipFill rotWithShape="1">
            <a:blip r:embed="rId18"/>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1" name="사각형: 둥근 모서리 72"/>
          <p:cNvSpPr/>
          <p:nvPr>
            <p:custDataLst>
              <p:tags r:id="rId8"/>
            </p:custDataLst>
          </p:nvPr>
        </p:nvSpPr>
        <p:spPr>
          <a:xfrm>
            <a:off x="5803244" y="1689569"/>
            <a:ext cx="356915" cy="356915"/>
          </a:xfrm>
          <a:prstGeom prst="ellipse">
            <a:avLst/>
          </a:prstGeom>
          <a:blipFill rotWithShape="1">
            <a:blip r:embed="rId19"/>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2" name="사각형: 둥근 모서리 72"/>
          <p:cNvSpPr/>
          <p:nvPr>
            <p:custDataLst>
              <p:tags r:id="rId9"/>
            </p:custDataLst>
          </p:nvPr>
        </p:nvSpPr>
        <p:spPr>
          <a:xfrm>
            <a:off x="9308124" y="1689569"/>
            <a:ext cx="356915" cy="356915"/>
          </a:xfrm>
          <a:prstGeom prst="ellipse">
            <a:avLst/>
          </a:prstGeom>
          <a:blipFill rotWithShape="1">
            <a:blip r:embed="rId20"/>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5" name="사각형: 둥근 모서리 72"/>
          <p:cNvSpPr/>
          <p:nvPr>
            <p:custDataLst>
              <p:tags r:id="rId10"/>
            </p:custDataLst>
          </p:nvPr>
        </p:nvSpPr>
        <p:spPr>
          <a:xfrm>
            <a:off x="2298364" y="3577269"/>
            <a:ext cx="356915" cy="356915"/>
          </a:xfrm>
          <a:prstGeom prst="ellipse">
            <a:avLst/>
          </a:prstGeom>
          <a:blipFill rotWithShape="1">
            <a:blip r:embed="rId2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6" name="사각형: 둥근 모서리 72"/>
          <p:cNvSpPr/>
          <p:nvPr>
            <p:custDataLst>
              <p:tags r:id="rId11"/>
            </p:custDataLst>
          </p:nvPr>
        </p:nvSpPr>
        <p:spPr>
          <a:xfrm>
            <a:off x="5803244" y="3577269"/>
            <a:ext cx="356915" cy="356915"/>
          </a:xfrm>
          <a:prstGeom prst="ellipse">
            <a:avLst/>
          </a:prstGeom>
          <a:blipFill rotWithShape="1">
            <a:blip r:embed="rId2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7" name="사각형: 둥근 모서리 72"/>
          <p:cNvSpPr/>
          <p:nvPr>
            <p:custDataLst>
              <p:tags r:id="rId12"/>
            </p:custDataLst>
          </p:nvPr>
        </p:nvSpPr>
        <p:spPr>
          <a:xfrm>
            <a:off x="9308124" y="3577269"/>
            <a:ext cx="356915" cy="356915"/>
          </a:xfrm>
          <a:prstGeom prst="ellipse">
            <a:avLst/>
          </a:prstGeom>
          <a:blipFill rotWithShape="1">
            <a:blip r:embed="rId2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8" name="object 3"/>
          <p:cNvSpPr txBox="1"/>
          <p:nvPr>
            <p:custDataLst>
              <p:tags r:id="rId13"/>
            </p:custDataLst>
          </p:nvPr>
        </p:nvSpPr>
        <p:spPr>
          <a:xfrm>
            <a:off x="1219842" y="251790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4" action="ppaction://hlinkfile"/>
              </a:rPr>
              <a:t>https://github.com/flagos-ai</a:t>
            </a:r>
          </a:p>
          <a:p>
            <a:endParaRPr lang="en-US" altLang="ko-KR" sz="1600" dirty="0"/>
          </a:p>
        </p:txBody>
      </p:sp>
      <p:sp>
        <p:nvSpPr>
          <p:cNvPr id="36" name="object 3"/>
          <p:cNvSpPr txBox="1"/>
          <p:nvPr>
            <p:custDataLst>
              <p:tags r:id="rId14"/>
            </p:custDataLst>
          </p:nvPr>
        </p:nvSpPr>
        <p:spPr>
          <a:xfrm>
            <a:off x="8015605" y="2341245"/>
            <a:ext cx="2882265"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5" action="ppaction://hlinkfile"/>
              </a:rPr>
              <a:t>https://space.bilibili.com/3546791834290849</a:t>
            </a:r>
            <a:endParaRPr lang="en-US" altLang="zh-CN" sz="1600" dirty="0"/>
          </a:p>
        </p:txBody>
      </p:sp>
      <p:sp>
        <p:nvSpPr>
          <p:cNvPr id="42" name="object 3"/>
          <p:cNvSpPr txBox="1"/>
          <p:nvPr>
            <p:custDataLst>
              <p:tags r:id="rId15"/>
            </p:custDataLst>
          </p:nvPr>
        </p:nvSpPr>
        <p:spPr>
          <a:xfrm>
            <a:off x="1219842" y="440385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6" action="ppaction://hlinkfile"/>
              </a:rPr>
              <a:t>https://www.zhihu.com/people/95-22-20-18/posts</a:t>
            </a:r>
            <a:endParaRPr lang="en-US" altLang="ko-KR" sz="1600" dirty="0"/>
          </a:p>
        </p:txBody>
      </p:sp>
      <p:sp>
        <p:nvSpPr>
          <p:cNvPr id="45" name="object 3"/>
          <p:cNvSpPr txBox="1"/>
          <p:nvPr>
            <p:custDataLst>
              <p:tags r:id="rId16"/>
            </p:custDataLst>
          </p:nvPr>
        </p:nvSpPr>
        <p:spPr>
          <a:xfrm>
            <a:off x="4724722" y="4403854"/>
            <a:ext cx="2513958" cy="39687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7" action="ppaction://hlinkfile"/>
              </a:rPr>
              <a:t>https://flagos.io/Home</a:t>
            </a:r>
            <a:endParaRPr lang="en-US" altLang="ko-KR" sz="1600" dirty="0"/>
          </a:p>
        </p:txBody>
      </p:sp>
      <p:pic>
        <p:nvPicPr>
          <p:cNvPr id="54" name="图片 53" descr="weixin-DL0TqDNO"/>
          <p:cNvPicPr>
            <a:picLocks noChangeAspect="1"/>
          </p:cNvPicPr>
          <p:nvPr/>
        </p:nvPicPr>
        <p:blipFill>
          <a:blip r:embed="rId28"/>
          <a:stretch>
            <a:fillRect/>
          </a:stretch>
        </p:blipFill>
        <p:spPr>
          <a:xfrm>
            <a:off x="5408930" y="2046605"/>
            <a:ext cx="1255395" cy="1255395"/>
          </a:xfrm>
          <a:prstGeom prst="rect">
            <a:avLst/>
          </a:prstGeom>
        </p:spPr>
      </p:pic>
      <p:pic>
        <p:nvPicPr>
          <p:cNvPr id="55" name="图片 54" descr="feishu-qrcode-C75xQn56"/>
          <p:cNvPicPr>
            <a:picLocks noChangeAspect="1"/>
          </p:cNvPicPr>
          <p:nvPr/>
        </p:nvPicPr>
        <p:blipFill>
          <a:blip r:embed="rId29"/>
          <a:stretch>
            <a:fillRect/>
          </a:stretch>
        </p:blipFill>
        <p:spPr>
          <a:xfrm>
            <a:off x="8903970" y="3953510"/>
            <a:ext cx="1299210" cy="1308735"/>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개체 틀 4"/>
          <p:cNvPicPr>
            <a:picLocks noGrp="1" noChangeAspect="1"/>
          </p:cNvPicPr>
          <p:nvPr>
            <p:ph type="pic" sz="quarter" idx="10"/>
          </p:nvPr>
        </p:nvPicPr>
        <p:blipFill>
          <a:blip r:embed="rId2"/>
          <a:srcRect l="2306" r="2306"/>
          <a:stretch>
            <a:fillRect/>
          </a:stretch>
        </p:blipFill>
        <p:spPr/>
      </p:pic>
      <p:sp>
        <p:nvSpPr>
          <p:cNvPr id="3" name="제목 2"/>
          <p:cNvSpPr>
            <a:spLocks noGrp="1"/>
          </p:cNvSpPr>
          <p:nvPr>
            <p:ph type="ctrTitle"/>
          </p:nvPr>
        </p:nvSpPr>
        <p:spPr>
          <a:xfrm>
            <a:off x="5625465" y="2373630"/>
            <a:ext cx="5739130" cy="2664460"/>
          </a:xfrm>
        </p:spPr>
        <p:txBody>
          <a:bodyPr/>
          <a:lstStyle/>
          <a:p>
            <a:pPr algn="l"/>
            <a:r>
              <a:rPr altLang="zh-CN" dirty="0">
                <a:latin typeface="微软雅黑" panose="020B0503020204020204" charset="-122"/>
                <a:ea typeface="微软雅黑" panose="020B0503020204020204" charset="-122"/>
                <a:cs typeface="微软雅黑" panose="020B0503020204020204" charset="-122"/>
              </a:rPr>
              <a:t>Thanks for your time</a:t>
            </a:r>
            <a:r>
              <a:rPr lang="zh-CN" altLang="en-US" dirty="0">
                <a:latin typeface="微软雅黑" panose="020B0503020204020204" charset="-122"/>
                <a:ea typeface="微软雅黑" panose="020B0503020204020204" charset="-122"/>
                <a:cs typeface="微软雅黑" panose="020B0503020204020204" charset="-122"/>
              </a:rPr>
              <a:t>！</a:t>
            </a:r>
            <a:endParaRPr kumimoji="1" lang="ko-KR" altLang="en-US" dirty="0">
              <a:latin typeface="微软雅黑" panose="020B0503020204020204" charset="-122"/>
              <a:ea typeface="微软雅黑" panose="020B0503020204020204" charset="-122"/>
              <a:cs typeface="微软雅黑" panose="020B0503020204020204" charset="-122"/>
            </a:endParaRPr>
          </a:p>
        </p:txBody>
      </p:sp>
      <p:grpSp>
        <p:nvGrpSpPr>
          <p:cNvPr id="2" name="组合 1"/>
          <p:cNvGrpSpPr/>
          <p:nvPr/>
        </p:nvGrpSpPr>
        <p:grpSpPr>
          <a:xfrm>
            <a:off x="9247450" y="217531"/>
            <a:ext cx="2580450" cy="547850"/>
            <a:chOff x="9247450" y="217531"/>
            <a:chExt cx="2580450" cy="547850"/>
          </a:xfrm>
        </p:grpSpPr>
        <p:pic>
          <p:nvPicPr>
            <p:cNvPr id="4" name="图片 3"/>
            <p:cNvPicPr>
              <a:picLocks noChangeAspect="1"/>
            </p:cNvPicPr>
            <p:nvPr/>
          </p:nvPicPr>
          <p:blipFill>
            <a:blip r:embed="rId3"/>
            <a:stretch>
              <a:fillRect/>
            </a:stretch>
          </p:blipFill>
          <p:spPr>
            <a:xfrm>
              <a:off x="9247450" y="319584"/>
              <a:ext cx="1096400" cy="336123"/>
            </a:xfrm>
            <a:prstGeom prst="rect">
              <a:avLst/>
            </a:prstGeom>
          </p:spPr>
        </p:pic>
        <p:pic>
          <p:nvPicPr>
            <p:cNvPr id="8" name="图片 7"/>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TABLE_ENDDRAG_ORIGIN_RECT" val="624*28"/>
  <p:tag name="TABLE_ENDDRAG_RECT" val="217*196*624*28"/>
</p:tagLst>
</file>

<file path=ppt/tags/tag11.xml><?xml version="1.0" encoding="utf-8"?>
<p:tagLst xmlns:a="http://schemas.openxmlformats.org/drawingml/2006/main" xmlns:r="http://schemas.openxmlformats.org/officeDocument/2006/relationships" xmlns:p="http://schemas.openxmlformats.org/presentationml/2006/main">
  <p:tag name="TABLE_ENDDRAG_ORIGIN_RECT" val="624*71"/>
  <p:tag name="TABLE_ENDDRAG_RECT" val="211*380*624*71"/>
</p:tagLst>
</file>

<file path=ppt/tags/tag12.xml><?xml version="1.0" encoding="utf-8"?>
<p:tagLst xmlns:a="http://schemas.openxmlformats.org/drawingml/2006/main" xmlns:r="http://schemas.openxmlformats.org/officeDocument/2006/relationships" xmlns:p="http://schemas.openxmlformats.org/presentationml/2006/main">
  <p:tag name="TABLE_ENDDRAG_ORIGIN_RECT" val="704*180"/>
  <p:tag name="TABLE_ENDDRAG_RECT" val="157*294*704*18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heme/theme1.xml><?xml version="1.0" encoding="utf-8"?>
<a:theme xmlns:a="http://schemas.openxmlformats.org/drawingml/2006/main" name="母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686</Words>
  <Application>Microsoft Office PowerPoint</Application>
  <PresentationFormat>宽屏</PresentationFormat>
  <Paragraphs>96</Paragraphs>
  <Slides>10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微软雅黑</vt:lpstr>
      <vt:lpstr>文泉驿微米黑</vt:lpstr>
      <vt:lpstr>Arial</vt:lpstr>
      <vt:lpstr>Calibri</vt:lpstr>
      <vt:lpstr>Calibri Light</vt:lpstr>
      <vt:lpstr>Courier New</vt:lpstr>
      <vt:lpstr>Ebrima</vt:lpstr>
      <vt:lpstr>Garamond</vt:lpstr>
      <vt:lpstr>Montserrat SemiBold</vt:lpstr>
      <vt:lpstr>Wingdings 3</vt:lpstr>
      <vt:lpstr>母版</vt:lpstr>
      <vt:lpstr>Hardware and Software Fundamentals of  Intelligent Computing  Systems</vt:lpstr>
      <vt:lpstr>Lecture 9：Module I Midterm Project Softmax Kernel  Implementation</vt:lpstr>
      <vt:lpstr>Course Projects Overview</vt:lpstr>
      <vt:lpstr>Project Overview</vt:lpstr>
      <vt:lpstr>Implementation Specifications</vt:lpstr>
      <vt:lpstr>Testing and Validation</vt:lpstr>
      <vt:lpstr>Submission Requirements and Grading Criteria</vt:lpstr>
      <vt:lpstr>The Solution: FlagOS, a Unified AI Software Stack</vt:lpstr>
      <vt:lpstr>PowerPoint 演示文稿</vt:lpstr>
      <vt:lpstr>Thanks for your time！</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开源社区与AI系统软件贡献</dc:title>
  <dc:subject>开源社区与AI系统软件贡献</dc:subject>
  <dc:creator>Kimi</dc:creator>
  <cp:lastModifiedBy>Xiang Li</cp:lastModifiedBy>
  <cp:revision>10</cp:revision>
  <dcterms:created xsi:type="dcterms:W3CDTF">2026-03-10T09:28:00Z</dcterms:created>
  <dcterms:modified xsi:type="dcterms:W3CDTF">2026-03-17T14:53:29Z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开源社区与AI系统软件贡献","ContentProducer":"001191110108MACG2KBH8F10000","ProduceID":"19cbf9a2-ac82-8bf3-8000-00008c4ccf4f","ReservedCode1":"","ContentPropagator":"001191110108MACG2KBH8F20000","PropagateID":"19cbf9a2-ac82-8bf3-8000-00008c4ccf4f","ReservedCode2":""}</vt:lpwstr>
  </property>
  <property fmtid="{D5CDD505-2E9C-101B-9397-08002B2CF9AE}" pid="3" name="ICV">
    <vt:lpwstr>423D73E912CD1A00385CAA69CA7CE0B6_42</vt:lpwstr>
  </property>
  <property fmtid="{D5CDD505-2E9C-101B-9397-08002B2CF9AE}" pid="4" name="KSOProductBuildVer">
    <vt:lpwstr>2052-12.1.0.19302</vt:lpwstr>
  </property>
</Properties>
</file>