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72" r:id="rId3"/>
  </p:sldMasterIdLst>
  <p:notesMasterIdLst>
    <p:notesMasterId r:id="rId29"/>
  </p:notesMasterIdLst>
  <p:sldIdLst>
    <p:sldId id="279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33" r:id="rId26"/>
    <p:sldId id="334" r:id="rId27"/>
    <p:sldId id="335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commentAuthors" Target="commentAuthor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 userDrawn="1"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  <p:pic>
        <p:nvPicPr>
          <p:cNvPr id="10" name="图片 9" descr="/Users/jieran/Library/Containers/com.kingsoft.wpsoffice.mac/Data/tmp/picturecompress_20260414164557/output_1.pngoutput_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94650" y="196215"/>
            <a:ext cx="1017905" cy="4241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30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29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7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26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25.png"/><Relationship Id="rId9" Type="http://schemas.openxmlformats.org/officeDocument/2006/relationships/hyperlink" Target="https://space.bilibili.com/3546791834290849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28: Data Parallelism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Ebrima" panose="02000000000000000000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Introduction to DP/DDP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ZeRO-1/2/3, FSDP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Memory/Communication Comparison</a:t>
            </a:r>
          </a:p>
          <a:p>
            <a:pPr indent="0" algn="l">
              <a:lnSpc>
                <a:spcPct val="100000"/>
              </a:lnSpc>
              <a:spcBef>
                <a:spcPts val="3000"/>
              </a:spcBef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 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0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Introduction to Distributed LLM Training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67055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3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92100" indent="-2921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Transition from foundational LLM inference to the computational realities of training.</a:t>
            </a:r>
          </a:p>
          <a:p>
            <a:pPr marL="584200" lvl="1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Inference memory is dominated by model weights and transient KV cache.</a:t>
            </a:r>
          </a:p>
          <a:p>
            <a:pPr marL="584200" lvl="1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Training introduces a massive memory footprint due to the need to preserve the entire computational graph and maintain high-precision optimizer states.</a:t>
            </a:r>
          </a:p>
          <a:p>
            <a:pPr marL="584200" lvl="1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single hardware accelerator is insufficient; computation and memory must scale horizontally.</a:t>
            </a:r>
          </a:p>
          <a:p>
            <a:pPr marL="292100" indent="-2921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Introduction to the three core paradigms</a:t>
            </a:r>
          </a:p>
          <a:p>
            <a:pPr marL="584200" lvl="1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Parallelism, Tensor Parallelism, and Pipeline Parallelism.</a:t>
            </a: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6558844" y="4861782"/>
            <a:ext cx="5396089" cy="6248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Split memory/compute across GPUs and machines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77333" y="1873956"/>
            <a:ext cx="5714667" cy="298782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Introduction to Data Parallelism (DP)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Parallelism (DP) is the foundational distributed training strategy.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Operates under the Single-Program Multiple-Data (SPMD) paradigm.   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training dataset is partitioned into non-overlapping mini-batches.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Every GPU receives a complete, identical replica of the model weight and optimizer states.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accelerator computes forward and backward passes independently on its respective data shard.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DistributedDataParallel (DDP) is the standard module for DP in PyTorch.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16511" b="4796"/>
          <a:stretch>
            <a:fillRect/>
          </a:stretch>
        </p:blipFill>
        <p:spPr>
          <a:xfrm>
            <a:off x="2480310" y="4222115"/>
            <a:ext cx="6415405" cy="253047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Introduction to Data Parallelism (DP)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467360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Because each GPU computes gradients based on a different data shard, replicas would diverge without synchronization.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gradients computed by each GPU must be aggregated and averaged after every step.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All-Reduce efficiently sums the gradients across all nodes and broadcasts the result back, ensuring all replicas update identically.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17353" y="1715910"/>
            <a:ext cx="6974647" cy="412569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Gradient Bucketing in DDP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https://docs.pytorch.org/docs/stable/notes/ddp.html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04825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Launching independent All-Reduce operations for every individual parameter tensor results in network congestion.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DDP mitigates this via gradient bucketing.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Parameter gradients are organized into configurable memory buckets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All-Reduce is only triggered when a bucket is completely filled during the backward pass.   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 dramatically reduces the total number of network calls and optimizes bandwidth.</a:t>
            </a: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35157" y="2096382"/>
            <a:ext cx="6203282" cy="292717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Compute-Communication Overlap in DDP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Communications (red blocks) are not on the backward compute critical path (blue blocks). Thus good compute communication </a:t>
            </a: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overlap capability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grad_calc(layer i, gpu k) depends only on grad_calc(layer i -1, gpu k)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All-reduce(layer i, gpu k) depends on grad_calc(layer i, all gpus)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86037" y="3146242"/>
            <a:ext cx="9105553" cy="328012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Memory Crisis in LLM Training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707263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consumption comes from two folds: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Storing the models weights in memory (usually in FP16)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Storing the optimizer states (momentum and variance) in memory (usually inFP32, for accuracy purpose)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a 7B model, storing the model’s weights in FP16 requires 14GB memory. The backward pass generates gradients requiring an additional 14GB.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Storing the optimizer states in FP32 requires 56G memory.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total 70G memory used! Note that H100 GPU only has 80G memory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r="47076"/>
          <a:stretch>
            <a:fillRect/>
          </a:stretch>
        </p:blipFill>
        <p:spPr>
          <a:xfrm>
            <a:off x="7851838" y="1209280"/>
            <a:ext cx="3816287" cy="47320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7583745" y="5987019"/>
            <a:ext cx="435247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Memory composition during LLM training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Memory Crisis in LLM Training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Standard DDP suffers from severe memory redundancy.   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Training across 8 GPUs forces the cluster to maintain 8 complete copies of model weights, gradients, and massive FP32 optimizer states.   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Redundant replication consumes High Bandwidth Memory without providing additional computational capacity.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Strictly limits the maximum trainable model size to the capacity of a single GPU, creating an insurmountable barrier for LLMs.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– Solving the Memory Overhead Issue of DP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idea of ZeRO (Zero Redundancy Optimizer)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Split up the expensive parts (state) and use the reduce-scatter equivalence.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62754" y="2360120"/>
            <a:ext cx="9482668" cy="40859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Stage 1: Optimizer State Sharding (P</a:t>
            </a:r>
            <a:r>
              <a:rPr lang="en-US" sz="3600" b="0" i="0" u="none" strike="noStrike" baseline="-25000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os</a:t>
            </a: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Split up the optimizer state (first + second moments) across GPUs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worker has the full parameters, and computes gradient on its subset of data.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worker is responsible for updating a shard of the full parameters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07968" y="3280745"/>
            <a:ext cx="9976064" cy="211534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Stage 1: Optimizer State Sharding (P</a:t>
            </a:r>
            <a:r>
              <a:rPr lang="en-US" sz="3600" b="0" i="0" u="none" strike="noStrike" baseline="-25000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os</a:t>
            </a: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79577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Each worker computes a full gradient on their subset of the data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ReduceScatter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the gradients: each worker gets the full gradient corresponding to their parameter shard (#params communication cost).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worker updates their param using their gradient + state.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 an </a:t>
            </a:r>
            <a:r>
              <a:rPr lang="en-US" sz="24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AllGather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to synchronize params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#params communication cost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73245" y="2205569"/>
            <a:ext cx="4601282" cy="149320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326487" y="4368800"/>
            <a:ext cx="4865513" cy="167075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Compare Naïve DP with ZeRO-1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stage 1 is free (in the bandwidth limited regime) memory wins.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41986" y="2200911"/>
          <a:ext cx="10802007" cy="32429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600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50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Naïve DDP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ZeRO-1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63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Communication Primitive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One all-reduce (full gradients)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One reduce-scatter (collect gradient slices) + one all-gather (sync the params)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50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Communication Cost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2x #params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2x #params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30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Memory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(4 + K) x #params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(4 + K / nGPUs) x #params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2614344" y="5897325"/>
            <a:ext cx="9187130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 is the bytes used by optimizer states for each param (typically 12 for FP32 momentum)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Stage-2: Optimizer State + Gradient Sharding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High-level idea: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Also keep the gradients (pink slices) sharded across the machines.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the same (rough) tricks as stage 1.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Complexity: we can never instantiate a full gradient vector, but each worker must compute a full gradient (since we’re data parallel)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97515" y="3518694"/>
            <a:ext cx="9098811" cy="274796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Stage-2: Optimizer State + Gradient Sharding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Step 1. Everyone incrementally goes backward on the computation graph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Step 1a. After computing a layer’s gradients, immediately reduce to send this to the right worker.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Step 1b. Once gradients are not needed in the backward graph, immediately free it.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Step 2. Each machine updates their param using their gradient + state.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Step 3. All Gather the parameters.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158772" y="2184401"/>
            <a:ext cx="5126714" cy="159737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35157" y="4812987"/>
            <a:ext cx="5126714" cy="172592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Stage-3 (aka FSDP) Shard </a:t>
            </a:r>
            <a:r>
              <a:rPr lang="en-US" sz="3600" b="0" i="1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Everything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High-level ideas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Shard everything, including parameters!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the same “incremental communication / computation” ideas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Send and request parameters on demand while stepping through the compute graph.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3873" y="3147761"/>
            <a:ext cx="10858884" cy="180806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Stage-3 (aka FSDP) Shard </a:t>
            </a:r>
            <a:r>
              <a:rPr lang="en-US" sz="3600" b="0" i="1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Everything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https://pytorch.org/tutorials/intermediate/FSDP_tutorial.html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Communication cost – 2 all gather (#param), 1 reduce-scatter (#param).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6182" y="1788388"/>
            <a:ext cx="9892729" cy="447826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FSDP / ZeRO-3: Actual Picture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https://arxiv.org/pdf/2304.11277.pdf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Incremental computation / communication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Parameters / gradients are requested / sent and then immediately freed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Overlapping communication and computation</a:t>
            </a:r>
            <a:endParaRPr lang="en-US" sz="240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all-gathers happen all at once while forward happens, masking the comm cost.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71411" y="3283384"/>
            <a:ext cx="8800850" cy="289357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Communication Overhead Recap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DDP (All reduce): 2x #params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Stage-1 / 2 (Reduce-Scatter + All-gather): 2x #params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saved for free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Stage-3 / FSDP (All-gather + Reduce-scatter + All-gather): 3x #params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More overhead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Revisiting GPU Memory Calculation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960880" y="1624965"/>
            <a:ext cx="8270240" cy="2676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GPU memory consumption :=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Model parameters (in FP16) +</a:t>
            </a: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Gradients (FP16) +</a:t>
            </a: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Master weights (FP32) +</a:t>
            </a: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Adam momentum (FP32) +</a:t>
            </a: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Adam variance (FP32) +</a:t>
            </a: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highlight>
                  <a:srgbClr val="FFFF00">
                    <a:alpha val="10000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Model Activations (This scales with the batch size)!</a:t>
            </a:r>
          </a:p>
        </p:txBody>
      </p:sp>
      <p:sp>
        <p:nvSpPr>
          <p:cNvPr id="6" name="AutoShape 6"/>
          <p:cNvSpPr/>
          <p:nvPr/>
        </p:nvSpPr>
        <p:spPr>
          <a:xfrm>
            <a:off x="2027470" y="4584470"/>
            <a:ext cx="8270406" cy="4001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1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We will go through activation consumption more in the coming chapters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Conclusion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Summary: Training massive LLMs requires breaking the single-GPU memory barrier via state sharding.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and FSDP elegantly solve capacity issues by partitioning states without sacrificing data-parallel simplicity.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Next Bottleneck: As models reach hundreds of billions of parameters, even the pipelined layer-by-layer communication of FSDP bottlenecks the training cluster.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Solution: We must slice the actual matrix mathematics themselves -&gt; Tensor Parallelism.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1341</Words>
  <Application>Microsoft Office PowerPoint</Application>
  <PresentationFormat>宽屏</PresentationFormat>
  <Paragraphs>162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Noto Sans SC</vt:lpstr>
      <vt:lpstr>Pretendard</vt:lpstr>
      <vt:lpstr>微软雅黑</vt:lpstr>
      <vt:lpstr>文泉驿微米黑</vt:lpstr>
      <vt:lpstr>Arial</vt:lpstr>
      <vt:lpstr>Calibri</vt:lpstr>
      <vt:lpstr>Calibri Light</vt:lpstr>
      <vt:lpstr>Courier New</vt:lpstr>
      <vt:lpstr>Ebrima</vt:lpstr>
      <vt:lpstr>Garamond</vt:lpstr>
      <vt:lpstr>Montserrat SemiBold</vt:lpstr>
      <vt:lpstr>Wingdings 3</vt:lpstr>
      <vt:lpstr>Office 主题​​</vt:lpstr>
      <vt:lpstr>母版</vt:lpstr>
      <vt:lpstr>1_母版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41</cp:revision>
  <dcterms:created xsi:type="dcterms:W3CDTF">2026-04-21T01:52:00Z</dcterms:created>
  <dcterms:modified xsi:type="dcterms:W3CDTF">2026-05-27T10:18:34Z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EE3857BD207AEED703D2E6693413B488_42</vt:lpwstr>
  </property>
  <property fmtid="{D5CDD505-2E9C-101B-9397-08002B2CF9AE}" pid="3" name="KSOProductBuildVer">
    <vt:lpwstr>2052-12.1.0.21915</vt:lpwstr>
  </property>
</Properties>
</file>