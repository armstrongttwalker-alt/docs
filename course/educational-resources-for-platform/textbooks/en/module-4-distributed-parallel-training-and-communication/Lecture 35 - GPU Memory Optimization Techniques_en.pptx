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72" r:id="rId3"/>
  </p:sldMasterIdLst>
  <p:notesMasterIdLst>
    <p:notesMasterId r:id="rId24"/>
  </p:notesMasterIdLst>
  <p:sldIdLst>
    <p:sldId id="279" r:id="rId4"/>
    <p:sldId id="572" r:id="rId5"/>
    <p:sldId id="573" r:id="rId6"/>
    <p:sldId id="574" r:id="rId7"/>
    <p:sldId id="575" r:id="rId8"/>
    <p:sldId id="576" r:id="rId9"/>
    <p:sldId id="577" r:id="rId10"/>
    <p:sldId id="578" r:id="rId11"/>
    <p:sldId id="579" r:id="rId12"/>
    <p:sldId id="580" r:id="rId13"/>
    <p:sldId id="581" r:id="rId14"/>
    <p:sldId id="582" r:id="rId15"/>
    <p:sldId id="583" r:id="rId16"/>
    <p:sldId id="584" r:id="rId17"/>
    <p:sldId id="585" r:id="rId18"/>
    <p:sldId id="586" r:id="rId19"/>
    <p:sldId id="587" r:id="rId20"/>
    <p:sldId id="333" r:id="rId21"/>
    <p:sldId id="334" r:id="rId22"/>
    <p:sldId id="335"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 Memory Optimization Techniques: Gradient Checkpointing (Activation Recomputation), Offloading (CPU Offload).</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Gradient Checkpointing</a:t>
            </a: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Basic: https://github.com/rasbt/deeplearning-models/blob/master/pytorch_ipynb/mechanics/gradient-checkpointing-nin.ipynb</a:t>
            </a: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https://www.newline.co/@zaoyang/fine-tuning-llms-with-gradient-checkpointing-and-partitioning--42a48e66</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Offloading</a:t>
            </a: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ZERO-Offload: https://www.usenix.org/conference/atc21/presentation/ren-jie </a:t>
            </a: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ZeRO-Infinity: https://arxiv.org/abs/2104.07857</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Others</a:t>
            </a: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Parameter Compression, Distributed Sharding, and Memory Management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https://github.com/rasbt/deeplearning-models/blob/master/pytorch_ipynb/mechanics/gradient-checkpointing-nin.ipynb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https://github.com/rasbt/deeplearning-models/blob/master/pytorch_ipynb/mechanics/gradient-checkpointing-nin.ipynb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https://residentmario.github.io/pytorch-training-performance-guide/gradient-checkpoints.html</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https://www.newline.co/@zaoyang/fine-tuning-llms-with-gradient-checkpointing-and-partitioning--42a48e66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Generated by Kimi 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https://raw.githubusercontent.com/microsoft/DeepSpeed/master/docs/assets/files/SC21-ZeRO-Infinity.pdf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Master" Target="../slideMasters/slideMaster3.xml"/><Relationship Id="rId4" Type="http://schemas.openxmlformats.org/officeDocument/2006/relationships/tags" Target="../tags/tag4.xml"/><Relationship Id="rId9" Type="http://schemas.openxmlformats.org/officeDocument/2006/relationships/tags" Target="../tags/tag9.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grpSp>
        <p:nvGrpSpPr>
          <p:cNvPr id="83" name="Group 7"/>
          <p:cNvGrpSpPr/>
          <p:nvPr/>
        </p:nvGrpSpPr>
        <p:grpSpPr>
          <a:xfrm>
            <a:off x="3057633" y="31667"/>
            <a:ext cx="9134367" cy="6838951"/>
            <a:chOff x="-4763" y="9525"/>
            <a:chExt cx="9032249" cy="6838951"/>
          </a:xfrm>
          <a:solidFill>
            <a:srgbClr val="549E39"/>
          </a:solidFill>
        </p:grpSpPr>
        <p:sp>
          <p:nvSpPr>
            <p:cNvPr id="1048651"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sp>
        <p:grpSp>
          <p:nvGrpSpPr>
            <p:cNvPr id="84" name="Group 9"/>
            <p:cNvGrpSpPr/>
            <p:nvPr/>
          </p:nvGrpSpPr>
          <p:grpSpPr>
            <a:xfrm>
              <a:off x="8428998" y="4867275"/>
              <a:ext cx="598488" cy="1981201"/>
              <a:chOff x="11441112" y="4867275"/>
              <a:chExt cx="598488" cy="1981201"/>
            </a:xfrm>
            <a:grpFill/>
          </p:grpSpPr>
          <p:sp>
            <p:nvSpPr>
              <p:cNvPr id="1048652"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53"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54"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55"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56"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57" name="Rectangle 41"/>
              <p:cNvSpPr>
                <a:spLocks noChangeArrowheads="1"/>
              </p:cNvSpPr>
              <p:nvPr>
                <p:custDataLst>
                  <p:tags r:id="rId9"/>
                </p:custDataLst>
              </p:nvPr>
            </p:nvSpPr>
            <p:spPr bwMode="auto">
              <a:xfrm>
                <a:off x="11939587" y="6596063"/>
                <a:ext cx="23813" cy="252413"/>
              </a:xfrm>
              <a:prstGeom prst="rect">
                <a:avLst/>
              </a:prstGeom>
              <a:grpFill/>
              <a:ln>
                <a:noFill/>
              </a:ln>
            </p:spPr>
          </p:sp>
        </p:grpSp>
      </p:grpSp>
      <p:sp>
        <p:nvSpPr>
          <p:cNvPr id="1048658" name="内容占位符 22"/>
          <p:cNvSpPr>
            <a:spLocks noGrp="1"/>
          </p:cNvSpPr>
          <p:nvPr>
            <p:ph sz="quarter" idx="11" hasCustomPrompt="1"/>
            <p:custDataLst>
              <p:tags r:id="rId2"/>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48630"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1048631"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1048633"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4"/>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5"/>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userDrawn="1"/>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userDrawn="1"/>
        </p:nvGrpSpPr>
        <p:grpSpPr>
          <a:xfrm>
            <a:off x="9221415" y="158476"/>
            <a:ext cx="2580450" cy="547850"/>
            <a:chOff x="9247450" y="217531"/>
            <a:chExt cx="2580450" cy="547850"/>
          </a:xfrm>
        </p:grpSpPr>
        <p:pic>
          <p:nvPicPr>
            <p:cNvPr id="3" name="图片 2"/>
            <p:cNvPicPr>
              <a:picLocks noChangeAspect="1"/>
            </p:cNvPicPr>
            <p:nvPr/>
          </p:nvPicPr>
          <p:blipFill>
            <a:blip r:embed="rId14"/>
            <a:stretch>
              <a:fillRect/>
            </a:stretch>
          </p:blipFill>
          <p:spPr>
            <a:xfrm>
              <a:off x="9247450" y="319584"/>
              <a:ext cx="1096400" cy="336123"/>
            </a:xfrm>
            <a:prstGeom prst="rect">
              <a:avLst/>
            </a:prstGeom>
          </p:spPr>
        </p:pic>
        <p:pic>
          <p:nvPicPr>
            <p:cNvPr id="4" name="图片 3"/>
            <p:cNvPicPr>
              <a:picLocks noChangeAspect="1"/>
            </p:cNvPicPr>
            <p:nvPr/>
          </p:nvPicPr>
          <p:blipFill>
            <a:blip r:embed="rId15"/>
            <a:srcRect l="13229" t="29812" r="10431" b="29796"/>
            <a:stretch>
              <a:fillRect/>
            </a:stretch>
          </p:blipFill>
          <p:spPr>
            <a:xfrm>
              <a:off x="10553199" y="217531"/>
              <a:ext cx="1274701" cy="547850"/>
            </a:xfrm>
            <a:prstGeom prst="rect">
              <a:avLst/>
            </a:prstGeom>
          </p:spPr>
        </p:pic>
      </p:grpSp>
      <p:pic>
        <p:nvPicPr>
          <p:cNvPr id="10" name="图片 9" descr="/Users/jieran/Library/Containers/com.kingsoft.wpsoffice.mac/Data/tmp/picturecompress_20260414164557/output_1.pngoutput_1"/>
          <p:cNvPicPr>
            <a:picLocks noChangeAspect="1"/>
          </p:cNvPicPr>
          <p:nvPr userDrawn="1"/>
        </p:nvPicPr>
        <p:blipFill>
          <a:blip r:embed="rId16"/>
          <a:stretch>
            <a:fillRect/>
          </a:stretch>
        </p:blipFill>
        <p:spPr>
          <a:xfrm>
            <a:off x="7994650" y="196215"/>
            <a:ext cx="1017905" cy="424180"/>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hyperlink" Target="https://github.com/flagos-ai" TargetMode="External"/><Relationship Id="rId13" Type="http://schemas.openxmlformats.org/officeDocument/2006/relationships/image" Target="../media/image31.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0.jpeg"/><Relationship Id="rId2" Type="http://schemas.openxmlformats.org/officeDocument/2006/relationships/image" Target="../media/image24.png"/><Relationship Id="rId1" Type="http://schemas.openxmlformats.org/officeDocument/2006/relationships/slideLayout" Target="../slideLayouts/slideLayout17.xml"/><Relationship Id="rId6" Type="http://schemas.openxmlformats.org/officeDocument/2006/relationships/image" Target="../media/image28.png"/><Relationship Id="rId11" Type="http://schemas.openxmlformats.org/officeDocument/2006/relationships/hyperlink" Target="https://flagos.io/Home" TargetMode="External"/><Relationship Id="rId5" Type="http://schemas.openxmlformats.org/officeDocument/2006/relationships/image" Target="../media/image27.png"/><Relationship Id="rId10" Type="http://schemas.openxmlformats.org/officeDocument/2006/relationships/hyperlink" Target="https://www.zhihu.com/people/95-22-20-18/posts" TargetMode="External"/><Relationship Id="rId4" Type="http://schemas.openxmlformats.org/officeDocument/2006/relationships/image" Target="../media/image26.png"/><Relationship Id="rId9" Type="http://schemas.openxmlformats.org/officeDocument/2006/relationships/hyperlink" Target="https://space.bilibili.com/3546791834290849"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2.jpeg"/><Relationship Id="rId1" Type="http://schemas.openxmlformats.org/officeDocument/2006/relationships/slideLayout" Target="../slideLayouts/slideLayout2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2"/>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35: GPU Memory Optimization Techniques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Outlines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Background</a:t>
            </a: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Training ultra-large language models incurs enormous GPU memory overhead</a:t>
            </a:r>
          </a:p>
          <a:p>
            <a:pPr marL="342900" lvl="1" indent="0" algn="l">
              <a:lnSpc>
                <a:spcPct val="100000"/>
              </a:lnSpc>
              <a:spcBef>
                <a:spcPts val="750"/>
              </a:spcBef>
            </a:pP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Optimization:</a:t>
            </a: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 Gradient Checkpointing (Activation Recomputation)</a:t>
            </a: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Discard most intermediate activations from the forward pass, and when needed during the backward pass, temporarily recompute them from the nearest checkpoint.</a:t>
            </a:r>
          </a:p>
          <a:p>
            <a:pPr marL="342900" lvl="1" indent="0" algn="l">
              <a:lnSpc>
                <a:spcPct val="100000"/>
              </a:lnSpc>
              <a:spcBef>
                <a:spcPts val="750"/>
              </a:spcBef>
            </a:pP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Optimization Method:</a:t>
            </a: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 Offloading (Data Offloading)</a:t>
            </a: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Leverage Host Memory as an extension of GPU Memory, taking advantage of its lower access frequency but enormous capacity.</a:t>
            </a:r>
          </a:p>
          <a:p>
            <a:pPr marL="558800" lvl="1" indent="-215900" algn="l">
              <a:lnSpc>
                <a:spcPct val="100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ZeRO-Offload:</a:t>
            </a: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 Offload optimizer states and gradients to CPU. Utilizing CPU for weight update, as this operation places relatively low demands on compute but accounts for an exceptionally large share of GPU Memory consumption.</a:t>
            </a:r>
          </a:p>
          <a:p>
            <a:pPr marL="558800" lvl="1" indent="-215900" algn="l">
              <a:lnSpc>
                <a:spcPct val="100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ZeRO-Infinity:</a:t>
            </a: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 further supports offloading model parameters to NVMe SSD. Through asynchronous prefetching and bandwidth optimization, it enables training of trillion-scale models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LLM Training GPU Memory Overhead</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http://deepseekpro.org/guide/the-carbon-footprint-of-gpt-4/</a:t>
            </a:r>
          </a:p>
        </p:txBody>
      </p:sp>
      <p:sp>
        <p:nvSpPr>
          <p:cNvPr id="5" name="AutoShape 5"/>
          <p:cNvSpPr>
            <a:spLocks noGrp="1"/>
          </p:cNvSpPr>
          <p:nvPr>
            <p:ph type="body" sz="quarter" idx="9" hasCustomPrompt="1"/>
          </p:nvPr>
        </p:nvSpPr>
        <p:spPr>
          <a:xfrm>
            <a:off x="523875" y="1323975"/>
            <a:ext cx="7152640" cy="4853305"/>
          </a:xfrm>
          <a:prstGeom prst="rect">
            <a:avLst/>
          </a:prstGeom>
        </p:spPr>
        <p:txBody>
          <a:bodyPr wrap="square" lIns="91440" tIns="45720" rIns="91440" bIns="45720" anchor="t">
            <a:normAutofit/>
          </a:bodyPr>
          <a:lstStyle>
            <a:lvl1pPr algn="l">
              <a:lnSpc>
                <a:spcPct val="100000"/>
              </a:lnSpc>
              <a:defRPr sz="1800" b="1"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Exponential Growth in Model Scale</a:t>
            </a:r>
          </a:p>
          <a:p>
            <a:pPr marL="495300" lvl="1"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From GPT-3 (1750 billion parameters) to GPT-4 (trillion-scale parameters)</a:t>
            </a:r>
          </a:p>
          <a:p>
            <a:pPr marL="495300" lvl="1"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For a 100B model with 200GB of parameters, full training requires approximately 1.6TB ~ 2TB of GPU Memory</a:t>
            </a:r>
          </a:p>
          <a:p>
            <a:pPr marL="342900" lvl="1" indent="0" algn="l">
              <a:lnSpc>
                <a:spcPct val="100000"/>
              </a:lnSpc>
              <a:spcBef>
                <a:spcPts val="750"/>
              </a:spcBef>
            </a:pP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Real-World Challenges Caused by Insufficient GPU Memory</a:t>
            </a:r>
          </a:p>
          <a:p>
            <a:pPr marL="495300" lvl="1"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Training infeasible: a single GPU cannot load the model, making distributed training mandatory</a:t>
            </a:r>
          </a:p>
          <a:p>
            <a:pPr marL="495300" lvl="1"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Soaring costs: multi-GPU parallelism introduces communication overhead, making linear speedup difficult to achieve</a:t>
            </a:r>
          </a:p>
          <a:p>
            <a:pPr marL="495300" lvl="1"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Sequence length constraints: long-context (&gt;8K tokens) GPU Memory overhead grows quadratically</a:t>
            </a:r>
          </a:p>
          <a:p>
            <a:pPr indent="0" algn="l">
              <a:lnSpc>
                <a:spcPct val="100000"/>
              </a:lnSpc>
              <a:spcBef>
                <a:spcPts val="1500"/>
              </a:spcBef>
            </a:pP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graphicFrame>
        <p:nvGraphicFramePr>
          <p:cNvPr id="6" name="Table 6"/>
          <p:cNvGraphicFramePr>
            <a:graphicFrameLocks noGrp="1"/>
          </p:cNvGraphicFramePr>
          <p:nvPr/>
        </p:nvGraphicFramePr>
        <p:xfrm>
          <a:off x="741680" y="2465070"/>
          <a:ext cx="6752590" cy="1911985"/>
        </p:xfrm>
        <a:graphic>
          <a:graphicData uri="http://schemas.openxmlformats.org/drawingml/2006/table">
            <a:tbl>
              <a:tblPr>
                <a:effectLst/>
              </a:tblPr>
              <a:tblGrid>
                <a:gridCol w="1424940">
                  <a:extLst>
                    <a:ext uri="{9D8B030D-6E8A-4147-A177-3AD203B41FA5}">
                      <a16:colId xmlns:a16="http://schemas.microsoft.com/office/drawing/2014/main" val="20000"/>
                    </a:ext>
                  </a:extLst>
                </a:gridCol>
                <a:gridCol w="1054735">
                  <a:extLst>
                    <a:ext uri="{9D8B030D-6E8A-4147-A177-3AD203B41FA5}">
                      <a16:colId xmlns:a16="http://schemas.microsoft.com/office/drawing/2014/main" val="20001"/>
                    </a:ext>
                  </a:extLst>
                </a:gridCol>
                <a:gridCol w="4272915">
                  <a:extLst>
                    <a:ext uri="{9D8B030D-6E8A-4147-A177-3AD203B41FA5}">
                      <a16:colId xmlns:a16="http://schemas.microsoft.com/office/drawing/2014/main" val="20002"/>
                    </a:ext>
                  </a:extLst>
                </a:gridCol>
              </a:tblGrid>
              <a:tr h="387985">
                <a:tc>
                  <a:txBody>
                    <a:bodyPr/>
                    <a:lstStyle/>
                    <a:p>
                      <a:pPr indent="0" algn="l">
                        <a:lnSpc>
                          <a:spcPts val="825"/>
                        </a:lnSpc>
                        <a:defRPr/>
                      </a:pPr>
                      <a:endParaRPr lang="en-US" sz="1100"/>
                    </a:p>
                    <a:p>
                      <a:pPr indent="0" algn="l">
                        <a:lnSpc>
                          <a:spcPts val="825"/>
                        </a:lnSpc>
                      </a:pPr>
                      <a:r>
                        <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rPr>
                        <a:t>Component</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ts val="825"/>
                        </a:lnSpc>
                        <a:defRPr/>
                      </a:pPr>
                      <a:endParaRPr lang="en-US" sz="1100"/>
                    </a:p>
                    <a:p>
                      <a:pPr indent="0" algn="l">
                        <a:lnSpc>
                          <a:spcPts val="825"/>
                        </a:lnSpc>
                      </a:pPr>
                      <a:r>
                        <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rPr>
                        <a:t>Estimated Proportion</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ts val="825"/>
                        </a:lnSpc>
                        <a:defRPr/>
                      </a:pPr>
                      <a:endParaRPr lang="en-US" sz="1100"/>
                    </a:p>
                    <a:p>
                      <a:pPr indent="0" algn="l">
                        <a:lnSpc>
                          <a:spcPts val="825"/>
                        </a:lnSpc>
                      </a:pPr>
                      <a:r>
                        <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rPr>
                        <a:t>Description</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extLst>
                  <a:ext uri="{0D108BD9-81ED-4DB2-BD59-A6C34878D82A}">
                    <a16:rowId xmlns:a16="http://schemas.microsoft.com/office/drawing/2014/main" val="10000"/>
                  </a:ext>
                </a:extLst>
              </a:tr>
              <a:tr h="381000">
                <a:tc>
                  <a:txBody>
                    <a:bodyPr/>
                    <a:lstStyle/>
                    <a:p>
                      <a:pPr indent="0" algn="l">
                        <a:lnSpc>
                          <a:spcPts val="825"/>
                        </a:lnSpc>
                        <a:defRPr/>
                      </a:pPr>
                      <a:endParaRPr lang="en-US" sz="1100"/>
                    </a:p>
                    <a:p>
                      <a:pPr indent="0" algn="l">
                        <a:lnSpc>
                          <a:spcPts val="825"/>
                        </a:lnSpc>
                      </a:pPr>
                      <a:r>
                        <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rPr>
                        <a:t>Model Parameters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~20-30%</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Weight matrices (FP16/BF16 precision)</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10001"/>
                  </a:ext>
                </a:extLst>
              </a:tr>
              <a:tr h="381000">
                <a:tc>
                  <a:txBody>
                    <a:bodyPr/>
                    <a:lstStyle/>
                    <a:p>
                      <a:pPr indent="0" algn="l">
                        <a:lnSpc>
                          <a:spcPts val="825"/>
                        </a:lnSpc>
                        <a:defRPr/>
                      </a:pPr>
                      <a:endParaRPr lang="en-US" sz="1100"/>
                    </a:p>
                    <a:p>
                      <a:pPr indent="0" algn="l">
                        <a:lnSpc>
                          <a:spcPts val="825"/>
                        </a:lnSpc>
                      </a:pPr>
                      <a:r>
                        <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rPr>
                        <a:t>Optimizer States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~40-60%</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Adam requires storing momentum + second moments (FP32)</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2"/>
                  </a:ext>
                </a:extLst>
              </a:tr>
              <a:tr h="381000">
                <a:tc>
                  <a:txBody>
                    <a:bodyPr/>
                    <a:lstStyle/>
                    <a:p>
                      <a:pPr indent="0" algn="l">
                        <a:lnSpc>
                          <a:spcPts val="825"/>
                        </a:lnSpc>
                        <a:defRPr/>
                      </a:pPr>
                      <a:endParaRPr lang="en-US" sz="1100"/>
                    </a:p>
                    <a:p>
                      <a:pPr indent="0" algn="l">
                        <a:lnSpc>
                          <a:spcPts val="825"/>
                        </a:lnSpc>
                      </a:pPr>
                      <a:r>
                        <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rPr>
                        <a:t>Gradients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~20-30%</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Backward Pass Gradient Cache</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10003"/>
                  </a:ext>
                </a:extLst>
              </a:tr>
              <a:tr h="381000">
                <a:tc>
                  <a:txBody>
                    <a:bodyPr/>
                    <a:lstStyle/>
                    <a:p>
                      <a:pPr indent="0" algn="l">
                        <a:lnSpc>
                          <a:spcPts val="825"/>
                        </a:lnSpc>
                        <a:defRPr/>
                      </a:pPr>
                      <a:endParaRPr lang="en-US" sz="1100"/>
                    </a:p>
                    <a:p>
                      <a:pPr indent="0" algn="l">
                        <a:lnSpc>
                          <a:spcPts val="825"/>
                        </a:lnSpc>
                      </a:pPr>
                      <a:r>
                        <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rPr>
                        <a:t>Activations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Variable</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Dominant for long sequences (proportional to square of seq length)</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4"/>
                  </a:ext>
                </a:extLst>
              </a:tr>
            </a:tbl>
          </a:graphicData>
        </a:graphic>
      </p:graphicFrame>
      <p:graphicFrame>
        <p:nvGraphicFramePr>
          <p:cNvPr id="7" name="Table 7"/>
          <p:cNvGraphicFramePr>
            <a:graphicFrameLocks noGrp="1"/>
          </p:cNvGraphicFramePr>
          <p:nvPr/>
        </p:nvGraphicFramePr>
        <p:xfrm>
          <a:off x="7700645" y="1174115"/>
          <a:ext cx="4146550" cy="386715"/>
        </p:xfrm>
        <a:graphic>
          <a:graphicData uri="http://schemas.openxmlformats.org/drawingml/2006/table">
            <a:tbl>
              <a:tblPr>
                <a:effectLst/>
              </a:tblPr>
              <a:tblGrid>
                <a:gridCol w="2157095">
                  <a:extLst>
                    <a:ext uri="{9D8B030D-6E8A-4147-A177-3AD203B41FA5}">
                      <a16:colId xmlns:a16="http://schemas.microsoft.com/office/drawing/2014/main" val="20000"/>
                    </a:ext>
                  </a:extLst>
                </a:gridCol>
                <a:gridCol w="1989455">
                  <a:extLst>
                    <a:ext uri="{9D8B030D-6E8A-4147-A177-3AD203B41FA5}">
                      <a16:colId xmlns:a16="http://schemas.microsoft.com/office/drawing/2014/main" val="20001"/>
                    </a:ext>
                  </a:extLst>
                </a:gridCol>
              </a:tblGrid>
              <a:tr h="386715">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Dimension</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GPT-3 (175B)</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 Scale</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~10,000 A100s</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Training Duration</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~34 days</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Total Power Consumption</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~1.287 million kWh</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Carbon Emissions</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~502 tons CO2e</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Overhead</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~350 GB (parameters)</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Total Training GPU Memory</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~2.8 TB</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Estimated Total Cost</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~$10M - $20M</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8" name="Table 8"/>
          <p:cNvGraphicFramePr>
            <a:graphicFrameLocks noGrp="1"/>
          </p:cNvGraphicFramePr>
          <p:nvPr/>
        </p:nvGraphicFramePr>
        <p:xfrm>
          <a:off x="7713345" y="3957320"/>
          <a:ext cx="4195445" cy="386715"/>
        </p:xfrm>
        <a:graphic>
          <a:graphicData uri="http://schemas.openxmlformats.org/drawingml/2006/table">
            <a:tbl>
              <a:tblPr>
                <a:effectLst/>
              </a:tblPr>
              <a:tblGrid>
                <a:gridCol w="2144395">
                  <a:extLst>
                    <a:ext uri="{9D8B030D-6E8A-4147-A177-3AD203B41FA5}">
                      <a16:colId xmlns:a16="http://schemas.microsoft.com/office/drawing/2014/main" val="20000"/>
                    </a:ext>
                  </a:extLst>
                </a:gridCol>
                <a:gridCol w="2051050">
                  <a:extLst>
                    <a:ext uri="{9D8B030D-6E8A-4147-A177-3AD203B41FA5}">
                      <a16:colId xmlns:a16="http://schemas.microsoft.com/office/drawing/2014/main" val="20001"/>
                    </a:ext>
                  </a:extLst>
                </a:gridCol>
              </a:tblGrid>
              <a:tr h="386715">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Dimension</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GPT-4 (1.8T rumored scale)</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 Scale</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~25,000 A100s</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Training Duration</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90 - 100 Days</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Total Power Consumption</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~51.77M - 62.31M kWh</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Carbon Emissions</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~1,035 - 14,994 Tons CO2e</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Overhead</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~3,600 GB (Parameters)</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Total Training GPU Memory</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~20 TB+</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Estimated Total Cost</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$100M - $500M USD</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9" name="AutoShape 9"/>
          <p:cNvSpPr/>
          <p:nvPr/>
        </p:nvSpPr>
        <p:spPr>
          <a:xfrm>
            <a:off x="8256270" y="3677920"/>
            <a:ext cx="279019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GPT-3 Training Cost Estimate</a:t>
            </a:r>
            <a:endParaRPr lang="en-US" sz="1100"/>
          </a:p>
        </p:txBody>
      </p:sp>
      <p:sp>
        <p:nvSpPr>
          <p:cNvPr id="10" name="AutoShape 10"/>
          <p:cNvSpPr/>
          <p:nvPr/>
        </p:nvSpPr>
        <p:spPr>
          <a:xfrm>
            <a:off x="8311515" y="6458585"/>
            <a:ext cx="279019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GPT-4 Training Cost Estimate</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Memory Mechanisms of the Backward Pass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Standard Backward Pass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(Vanilla)</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Memory requirements grow linearly with the number of network layers</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Root Cause Analysis</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Node Retention: All intermediate activations generated during the forward pass must be retained in memory.</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Dependency: When computing the gradients for layer i , the input and output of layer i are typically required.</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Release condition:  The corresponding memory is only released after all child nodes (dependencies) have been fully processed.</a:t>
            </a:r>
          </a:p>
        </p:txBody>
      </p:sp>
      <p:pic>
        <p:nvPicPr>
          <p:cNvPr id="6" name="Picture 6"/>
          <p:cNvPicPr>
            <a:picLocks noChangeAspect="1"/>
          </p:cNvPicPr>
          <p:nvPr/>
        </p:nvPicPr>
        <p:blipFill>
          <a:blip r:embed="rId3"/>
          <a:srcRect/>
          <a:stretch>
            <a:fillRect/>
          </a:stretch>
        </p:blipFill>
        <p:spPr>
          <a:xfrm>
            <a:off x="170815" y="4032250"/>
            <a:ext cx="6080760" cy="1641475"/>
          </a:xfrm>
          <a:prstGeom prst="rect">
            <a:avLst/>
          </a:prstGeom>
          <a:ln w="12700">
            <a:noFill/>
            <a:prstDash val="solid"/>
          </a:ln>
        </p:spPr>
      </p:pic>
      <p:pic>
        <p:nvPicPr>
          <p:cNvPr id="7" name="Picture 7"/>
          <p:cNvPicPr>
            <a:picLocks noChangeAspect="1"/>
          </p:cNvPicPr>
          <p:nvPr/>
        </p:nvPicPr>
        <p:blipFill>
          <a:blip r:embed="rId4"/>
          <a:srcRect t="22264"/>
          <a:stretch>
            <a:fillRect/>
          </a:stretch>
        </p:blipFill>
        <p:spPr>
          <a:xfrm>
            <a:off x="6376035" y="4210050"/>
            <a:ext cx="5694045" cy="1463675"/>
          </a:xfrm>
          <a:prstGeom prst="rect">
            <a:avLst/>
          </a:prstGeom>
          <a:ln w="12700">
            <a:noFill/>
            <a:prstDash val="solid"/>
          </a:ln>
        </p:spPr>
      </p:pic>
      <p:sp>
        <p:nvSpPr>
          <p:cNvPr id="8" name="AutoShape 8"/>
          <p:cNvSpPr/>
          <p:nvPr/>
        </p:nvSpPr>
        <p:spPr>
          <a:xfrm>
            <a:off x="55245" y="5817235"/>
            <a:ext cx="5553710"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Forward Pass: </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All intermediate activations must be retained in memory</a:t>
            </a:r>
            <a:endParaRPr lang="en-US" sz="1100"/>
          </a:p>
        </p:txBody>
      </p:sp>
      <p:sp>
        <p:nvSpPr>
          <p:cNvPr id="9" name="AutoShape 9"/>
          <p:cNvSpPr/>
          <p:nvPr/>
        </p:nvSpPr>
        <p:spPr>
          <a:xfrm>
            <a:off x="5831840" y="5817235"/>
            <a:ext cx="5553710"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Backward Pass: </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Once child nodes have been processed, the corresponding memory is released</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Memory Mechanisms of the Backward Pass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Low-Memory Backward Pass</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Discard intermediate values and recompute them on demand.</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Basic Workflow</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 longer store all activations from the forward pass in memory.</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When the backward pass requires data from a certain layer, rerun the forward computation from the nearest checkpoint.</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Computational complexity increases from  O(n)  to  O(n^2)</a:t>
            </a:r>
          </a:p>
        </p:txBody>
      </p:sp>
      <p:sp>
        <p:nvSpPr>
          <p:cNvPr id="6" name="AutoShape 6"/>
          <p:cNvSpPr/>
          <p:nvPr/>
        </p:nvSpPr>
        <p:spPr>
          <a:xfrm>
            <a:off x="85090" y="5806440"/>
            <a:ext cx="5553710"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Forward Pass: </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Does not store the Activations of the Forward Pass in memory</a:t>
            </a:r>
            <a:endParaRPr lang="en-US" sz="1100"/>
          </a:p>
        </p:txBody>
      </p:sp>
      <p:sp>
        <p:nvSpPr>
          <p:cNvPr id="7" name="AutoShape 7"/>
          <p:cNvSpPr/>
          <p:nvPr/>
        </p:nvSpPr>
        <p:spPr>
          <a:xfrm>
            <a:off x="6153785" y="5827395"/>
            <a:ext cx="5553710"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Backward Pass:</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Re-runs the forward computation from the nearest "Checkpoint"</a:t>
            </a:r>
            <a:endParaRPr lang="en-US" sz="1100"/>
          </a:p>
        </p:txBody>
      </p:sp>
      <p:pic>
        <p:nvPicPr>
          <p:cNvPr id="8" name="Picture 8"/>
          <p:cNvPicPr>
            <a:picLocks noChangeAspect="1"/>
          </p:cNvPicPr>
          <p:nvPr/>
        </p:nvPicPr>
        <p:blipFill>
          <a:blip r:embed="rId3"/>
          <a:srcRect/>
          <a:stretch>
            <a:fillRect/>
          </a:stretch>
        </p:blipFill>
        <p:spPr>
          <a:xfrm>
            <a:off x="85090" y="3839210"/>
            <a:ext cx="6132830" cy="1598930"/>
          </a:xfrm>
          <a:prstGeom prst="rect">
            <a:avLst/>
          </a:prstGeom>
          <a:ln w="12700">
            <a:noFill/>
            <a:prstDash val="solid"/>
          </a:ln>
        </p:spPr>
      </p:pic>
      <p:pic>
        <p:nvPicPr>
          <p:cNvPr id="9" name="Picture 9"/>
          <p:cNvPicPr>
            <a:picLocks noChangeAspect="1"/>
          </p:cNvPicPr>
          <p:nvPr/>
        </p:nvPicPr>
        <p:blipFill>
          <a:blip r:embed="rId4"/>
          <a:srcRect/>
          <a:stretch>
            <a:fillRect/>
          </a:stretch>
        </p:blipFill>
        <p:spPr>
          <a:xfrm>
            <a:off x="6217920" y="3860165"/>
            <a:ext cx="5688965" cy="167132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Gradient Checkpointing</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Between "Standard Backward Pass" and "Low-Memory Backward Pass"</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By storing a subset of critical layers, the computational overhead is kept within a reasonable range while significantly reducing memory usage.</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Non-checkpoint nodes are locally recomputed starting from the nearest Checkpoint when required during the backward pass.</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Optimal Choice</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To balance memory and computation, </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the mathematically optimal solution is to place a checkpoint every  nodes.</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Memory Complexity: O( ) ;</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Computational Complexity: O(n) , approximately 1.5x the standard backward pass computation</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Spending 50% more time to gain the significant benefit of reducing GPU memory usage from n down to</a:t>
            </a:r>
          </a:p>
        </p:txBody>
      </p:sp>
      <p:pic>
        <p:nvPicPr>
          <p:cNvPr id="6" name="Picture 6"/>
          <p:cNvPicPr>
            <a:picLocks noChangeAspect="1"/>
          </p:cNvPicPr>
          <p:nvPr/>
        </p:nvPicPr>
        <p:blipFill>
          <a:blip r:embed="rId2"/>
          <a:srcRect/>
          <a:stretch>
            <a:fillRect/>
          </a:stretch>
        </p:blipFill>
        <p:spPr>
          <a:xfrm>
            <a:off x="297815" y="4655185"/>
            <a:ext cx="6009640" cy="1568450"/>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307455" y="4755515"/>
            <a:ext cx="5761990" cy="1715135"/>
          </a:xfrm>
          <a:prstGeom prst="rect">
            <a:avLst/>
          </a:prstGeom>
          <a:ln w="12700">
            <a:noFill/>
            <a:prstDash val="solid"/>
          </a:ln>
        </p:spPr>
      </p:pic>
      <p:sp>
        <p:nvSpPr>
          <p:cNvPr id="8" name="AutoShape 8"/>
          <p:cNvSpPr/>
          <p:nvPr/>
        </p:nvSpPr>
        <p:spPr>
          <a:xfrm>
            <a:off x="-43180" y="6407785"/>
            <a:ext cx="5553710" cy="30670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Forward Pass:</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store partial key layers</a:t>
            </a:r>
            <a:endParaRPr lang="en-US" sz="1100"/>
          </a:p>
        </p:txBody>
      </p:sp>
      <p:sp>
        <p:nvSpPr>
          <p:cNvPr id="9" name="AutoShape 9"/>
          <p:cNvSpPr/>
          <p:nvPr/>
        </p:nvSpPr>
        <p:spPr>
          <a:xfrm>
            <a:off x="5292090" y="6403340"/>
            <a:ext cx="6771640" cy="30670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Backward Pass:</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perform local recomputation starting from the nearest checkpoint</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Gradient Checkpoint Code</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pic>
        <p:nvPicPr>
          <p:cNvPr id="5" name="Picture 5"/>
          <p:cNvPicPr>
            <a:picLocks noChangeAspect="1"/>
          </p:cNvPicPr>
          <p:nvPr/>
        </p:nvPicPr>
        <p:blipFill>
          <a:blip r:embed="rId3"/>
          <a:srcRect/>
          <a:stretch>
            <a:fillRect/>
          </a:stretch>
        </p:blipFill>
        <p:spPr>
          <a:xfrm>
            <a:off x="6664325" y="4195445"/>
            <a:ext cx="5062220" cy="2216785"/>
          </a:xfrm>
          <a:prstGeom prst="rect">
            <a:avLst/>
          </a:prstGeom>
          <a:ln w="12700">
            <a:noFill/>
            <a:prstDash val="solid"/>
          </a:ln>
        </p:spPr>
      </p:pic>
      <p:sp>
        <p:nvSpPr>
          <p:cNvPr id="6" name="AutoShape 6"/>
          <p:cNvSpPr/>
          <p:nvPr/>
        </p:nvSpPr>
        <p:spPr>
          <a:xfrm>
            <a:off x="523875" y="1390650"/>
            <a:ext cx="5923915" cy="485330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Native PyTorch custom implementation</a:t>
            </a:r>
            <a:endParaRPr lang="en-US" sz="1100"/>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module: </a:t>
            </a:r>
            <a:r>
              <a:rPr lang="en-US" sz="2000" b="0" i="1" u="none" strike="noStrike">
                <a:solidFill>
                  <a:srgbClr val="AFABAB"/>
                </a:solidFill>
                <a:latin typeface="Calibri" panose="020F0502020204030204"/>
                <a:ea typeface="Calibri" panose="020F0502020204030204"/>
                <a:cs typeface="Calibri" panose="020F0502020204030204"/>
                <a:sym typeface="Calibri" panose="020F0502020204030204"/>
              </a:rPr>
              <a:t>torch.utils.checkpoint</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 general models:  use the checkpoint  function, which can wrap any nn.Module.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 sequential models:  use </a:t>
            </a:r>
            <a:r>
              <a:rPr lang="en-US" sz="2000" b="0" i="1" u="none" strike="noStrike">
                <a:solidFill>
                  <a:srgbClr val="AFABAB"/>
                </a:solidFill>
                <a:latin typeface="Calibri" panose="020F0502020204030204"/>
                <a:ea typeface="Calibri" panose="020F0502020204030204"/>
                <a:cs typeface="Calibri" panose="020F0502020204030204"/>
                <a:sym typeface="Calibri" panose="020F0502020204030204"/>
              </a:rPr>
              <a:t>checkpoint_sequential</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designed specifically for </a:t>
            </a:r>
            <a:r>
              <a:rPr lang="en-US" sz="2000" b="0" i="1" u="none" strike="noStrike">
                <a:solidFill>
                  <a:srgbClr val="AFABAB"/>
                </a:solidFill>
                <a:latin typeface="Calibri" panose="020F0502020204030204"/>
                <a:ea typeface="Calibri" panose="020F0502020204030204"/>
                <a:cs typeface="Calibri" panose="020F0502020204030204"/>
                <a:sym typeface="Calibri" panose="020F0502020204030204"/>
              </a:rPr>
              <a:t>nn.Sequential</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with built-in support for automatic segmentation.</a:t>
            </a: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Hugging Face Simple Model Integration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Enable the </a:t>
            </a:r>
            <a:r>
              <a:rPr lang="en-US" sz="2000" b="0" i="1" u="none" strike="noStrike">
                <a:solidFill>
                  <a:srgbClr val="AFABAB"/>
                </a:solidFill>
                <a:latin typeface="Calibri" panose="020F0502020204030204"/>
                <a:ea typeface="Calibri" panose="020F0502020204030204"/>
                <a:cs typeface="Calibri" panose="020F0502020204030204"/>
                <a:sym typeface="Calibri" panose="020F0502020204030204"/>
              </a:rPr>
              <a:t>gradient_checkpointing</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flag in training parameters</a:t>
            </a: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7" name="Picture 7"/>
          <p:cNvPicPr>
            <a:picLocks noChangeAspect="1"/>
          </p:cNvPicPr>
          <p:nvPr/>
        </p:nvPicPr>
        <p:blipFill>
          <a:blip r:embed="rId4"/>
          <a:srcRect/>
          <a:stretch>
            <a:fillRect/>
          </a:stretch>
        </p:blipFill>
        <p:spPr>
          <a:xfrm>
            <a:off x="7276465" y="424815"/>
            <a:ext cx="3661410" cy="3517265"/>
          </a:xfrm>
          <a:prstGeom prst="rect">
            <a:avLst/>
          </a:prstGeom>
          <a:ln w="12700">
            <a:noFill/>
            <a:prstDash val="solid"/>
          </a:ln>
        </p:spPr>
      </p:pic>
      <p:sp>
        <p:nvSpPr>
          <p:cNvPr id="8" name="AutoShape 8"/>
          <p:cNvSpPr/>
          <p:nvPr/>
        </p:nvSpPr>
        <p:spPr>
          <a:xfrm>
            <a:off x="6330315" y="3921125"/>
            <a:ext cx="555371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Native Pytorch Implementation Checkpoint</a:t>
            </a:r>
            <a:endParaRPr lang="en-US" sz="1100"/>
          </a:p>
        </p:txBody>
      </p:sp>
      <p:sp>
        <p:nvSpPr>
          <p:cNvPr id="9" name="AutoShape 9"/>
          <p:cNvSpPr/>
          <p:nvPr/>
        </p:nvSpPr>
        <p:spPr>
          <a:xfrm>
            <a:off x="6247765" y="6438900"/>
            <a:ext cx="555371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HF Simple Model Integration Checkpoint</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Offloading </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000" b="0" i="0" u="none" strike="noStrike" spc="0">
                <a:solidFill>
                  <a:srgbClr val="A5A5A5">
                    <a:alpha val="100000"/>
                  </a:srgbClr>
                </a:solidFill>
                <a:latin typeface="Garamond" panose="02020404030301010803"/>
              </a:defRPr>
            </a:lvl1pPr>
          </a:lstStyle>
          <a:p>
            <a:pPr indent="0" algn="l">
              <a:lnSpc>
                <a:spcPct val="100000"/>
              </a:lnSpc>
            </a:pPr>
            <a:r>
              <a:rPr lang="en-US" sz="1000" b="0" i="0" u="none" strike="noStrike">
                <a:solidFill>
                  <a:srgbClr val="A5A5A5"/>
                </a:solidFill>
                <a:latin typeface="Garamond" panose="02020404030301010803"/>
                <a:ea typeface="Garamond" panose="02020404030301010803"/>
                <a:cs typeface="Garamond" panose="02020404030301010803"/>
                <a:sym typeface="Garamond" panose="02020404030301010803"/>
              </a:rPr>
              <a:t>[1] Ren J, Rajbhandari S, Aminabadi R Y, et al. {Zero-offload}: Democratizing {billion-scale} model training[C]//2021 USENIX Annual Technical Conference (USENIX ATC 21). 2021: 551-564.</a:t>
            </a:r>
          </a:p>
          <a:p>
            <a:pPr indent="0" algn="l">
              <a:lnSpc>
                <a:spcPct val="100000"/>
              </a:lnSpc>
            </a:pPr>
            <a:r>
              <a:rPr lang="en-US" sz="1000" b="0" i="0" u="none" strike="noStrike">
                <a:solidFill>
                  <a:srgbClr val="A5A5A5"/>
                </a:solidFill>
                <a:latin typeface="Garamond" panose="02020404030301010803"/>
                <a:ea typeface="Garamond" panose="02020404030301010803"/>
                <a:cs typeface="Garamond" panose="02020404030301010803"/>
                <a:sym typeface="Garamond" panose="02020404030301010803"/>
              </a:rPr>
              <a:t>[2] Rajbhandari S, Ruwase O, Rasley J, et al. Zero-infinity: Breaking the gpu memory wall for extreme scale deep learning[C]//Proceedings of the international conference for high performance computing, networking, storage and analysis. 2021: 1-14.</a:t>
            </a: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Principle</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By temporarily migrating model parameters, optimizer states, or activations from GPU GPU memory to CPU memory or NVMe storage, the GPU Memory capacity constraint is overcome, enabling training of larger models.</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Motivation</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Offload inactive parameters to CPU/Disk</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 and storage are tiered</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Dynamic swap-in and swap-out</a:t>
            </a:r>
          </a:p>
          <a:p>
            <a:pPr marL="342900" lvl="1" indent="0" algn="l">
              <a:lnSpc>
                <a:spcPct val="100000"/>
              </a:lnSpc>
              <a:spcBef>
                <a:spcPts val="75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Techniques</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ZeRO-Offload (DeepSpeed):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Offload optimizer states and gradients to CPU memory</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ZeRO-Infinity:</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Scaling to NVMe SSD, Supporting TB-Scale model training</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FSDP + CPU Offload (PyTorch):</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Based on Fully Sharded Data Parallel, supports partial offloading after parameter sharding</a:t>
            </a:r>
          </a:p>
        </p:txBody>
      </p:sp>
      <p:graphicFrame>
        <p:nvGraphicFramePr>
          <p:cNvPr id="6" name="Table 6"/>
          <p:cNvGraphicFramePr>
            <a:graphicFrameLocks noGrp="1"/>
          </p:cNvGraphicFramePr>
          <p:nvPr/>
        </p:nvGraphicFramePr>
        <p:xfrm>
          <a:off x="4761230" y="2569210"/>
          <a:ext cx="7272020" cy="1524000"/>
        </p:xfrm>
        <a:graphic>
          <a:graphicData uri="http://schemas.openxmlformats.org/drawingml/2006/table">
            <a:tbl>
              <a:tblPr>
                <a:effectLst/>
              </a:tblPr>
              <a:tblGrid>
                <a:gridCol w="1612265">
                  <a:extLst>
                    <a:ext uri="{9D8B030D-6E8A-4147-A177-3AD203B41FA5}">
                      <a16:colId xmlns:a16="http://schemas.microsoft.com/office/drawing/2014/main" val="20000"/>
                    </a:ext>
                  </a:extLst>
                </a:gridCol>
                <a:gridCol w="2306320">
                  <a:extLst>
                    <a:ext uri="{9D8B030D-6E8A-4147-A177-3AD203B41FA5}">
                      <a16:colId xmlns:a16="http://schemas.microsoft.com/office/drawing/2014/main" val="20001"/>
                    </a:ext>
                  </a:extLst>
                </a:gridCol>
                <a:gridCol w="3353435">
                  <a:extLst>
                    <a:ext uri="{9D8B030D-6E8A-4147-A177-3AD203B41FA5}">
                      <a16:colId xmlns:a16="http://schemas.microsoft.com/office/drawing/2014/main" val="20002"/>
                    </a:ext>
                  </a:extLst>
                </a:gridCol>
              </a:tblGrid>
              <a:tr h="381000">
                <a:tc>
                  <a:txBody>
                    <a:bodyPr/>
                    <a:lstStyle/>
                    <a:p>
                      <a:pPr indent="0" algn="l">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Dimension</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Impact</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Optimization Strategies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extLst>
                  <a:ext uri="{0D108BD9-81ED-4DB2-BD59-A6C34878D82A}">
                    <a16:rowId xmlns:a16="http://schemas.microsoft.com/office/drawing/2014/main" val="10000"/>
                  </a:ext>
                </a:extLst>
              </a:tr>
              <a:tr h="381000">
                <a:tc>
                  <a:txBody>
                    <a:bodyPr/>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Communication Overhead</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CPU↔GPU bandwidth is far lower than GPU Memory bandwidth</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Prefetching, computation-communication overlap</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10001"/>
                  </a:ext>
                </a:extLst>
              </a:tr>
              <a:tr h="381000">
                <a:tc>
                  <a:txBody>
                    <a:bodyPr/>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Computation Latency</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CPU computation is slower than GPU</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Offload only the optimizer states (e.g., adam computation), keeping forward/ backward passes on the GPU</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2"/>
                  </a:ext>
                </a:extLst>
              </a:tr>
              <a:tr h="381000">
                <a:tc>
                  <a:txBody>
                    <a:bodyPr/>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Scalability</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NVMe bandwidth limitation</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Multi-channel SSD parallelism, asynchronous I/O</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Large Model Training Offloading Technology Comparison</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pic>
        <p:nvPicPr>
          <p:cNvPr id="6" name="Picture 6"/>
          <p:cNvPicPr>
            <a:picLocks noChangeAspect="1"/>
          </p:cNvPicPr>
          <p:nvPr/>
        </p:nvPicPr>
        <p:blipFill>
          <a:blip r:embed="rId3"/>
          <a:srcRect t="10951"/>
          <a:stretch>
            <a:fillRect/>
          </a:stretch>
        </p:blipFill>
        <p:spPr>
          <a:xfrm>
            <a:off x="523875" y="1327785"/>
            <a:ext cx="10276205" cy="553021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DeepSpeed ZeRO-Offloading</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1"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Strategy 1: Limit CPU Computation</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CPU computation is far slower than GPU; only offload low-complexity tasks.</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 retains: forward and backward pass (complexity O(MB), where B is Batch Size).</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CPU handles: parameter updates (complexity O(M)), such as norm computation, weight update, etc.</a:t>
            </a: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Strategy 2: Minimize Communication Volume</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minimum communication volume for any model state offloading scheme is 4M</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p32, m32, v32 are merged with the "weight update" computation</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p16 and FWD-BWD super-node remain together on the GPU </a:t>
            </a:r>
          </a:p>
        </p:txBody>
      </p:sp>
      <p:pic>
        <p:nvPicPr>
          <p:cNvPr id="6" name="Picture 6"/>
          <p:cNvPicPr>
            <a:picLocks noChangeAspect="1"/>
          </p:cNvPicPr>
          <p:nvPr/>
        </p:nvPicPr>
        <p:blipFill>
          <a:blip r:embed="rId2"/>
          <a:srcRect/>
          <a:stretch>
            <a:fillRect/>
          </a:stretch>
        </p:blipFill>
        <p:spPr>
          <a:xfrm>
            <a:off x="6814185" y="3596640"/>
            <a:ext cx="5057775" cy="3004185"/>
          </a:xfrm>
          <a:prstGeom prst="rect">
            <a:avLst/>
          </a:prstGeom>
          <a:ln w="12700">
            <a:noFill/>
            <a:prstDash val="solid"/>
          </a:ln>
        </p:spPr>
      </p:pic>
      <p:graphicFrame>
        <p:nvGraphicFramePr>
          <p:cNvPr id="7" name="Table 7"/>
          <p:cNvGraphicFramePr>
            <a:graphicFrameLocks noGrp="1"/>
          </p:cNvGraphicFramePr>
          <p:nvPr/>
        </p:nvGraphicFramePr>
        <p:xfrm>
          <a:off x="476250" y="4220210"/>
          <a:ext cx="5728970" cy="368935"/>
        </p:xfrm>
        <a:graphic>
          <a:graphicData uri="http://schemas.openxmlformats.org/drawingml/2006/table">
            <a:tbl>
              <a:tblPr>
                <a:effectLst/>
              </a:tblPr>
              <a:tblGrid>
                <a:gridCol w="1590040">
                  <a:extLst>
                    <a:ext uri="{9D8B030D-6E8A-4147-A177-3AD203B41FA5}">
                      <a16:colId xmlns:a16="http://schemas.microsoft.com/office/drawing/2014/main" val="20000"/>
                    </a:ext>
                  </a:extLst>
                </a:gridCol>
                <a:gridCol w="1066165">
                  <a:extLst>
                    <a:ext uri="{9D8B030D-6E8A-4147-A177-3AD203B41FA5}">
                      <a16:colId xmlns:a16="http://schemas.microsoft.com/office/drawing/2014/main" val="20001"/>
                    </a:ext>
                  </a:extLst>
                </a:gridCol>
                <a:gridCol w="3072765">
                  <a:extLst>
                    <a:ext uri="{9D8B030D-6E8A-4147-A177-3AD203B41FA5}">
                      <a16:colId xmlns:a16="http://schemas.microsoft.com/office/drawing/2014/main" val="20002"/>
                    </a:ext>
                  </a:extLst>
                </a:gridCol>
              </a:tblGrid>
              <a:tr h="368935">
                <a:tc>
                  <a:txBody>
                    <a:bodyPr/>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Node Type</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Device</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Reason</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FWD-BWD </a:t>
                      </a:r>
                      <a:endParaRPr lang="en-US" sz="1100"/>
                    </a:p>
                    <a:p>
                      <a:pPr indent="0" algn="l">
                        <a:lnSpc>
                          <a:spcPct val="100000"/>
                        </a:lnSpc>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Super Node</a:t>
                      </a: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Extremely high computational demand O(MB)</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p16</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Reduce communication overhead with compute nodes</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Update Super Node</a:t>
                      </a:r>
                      <a:endParaRPr lang="en-US" sz="1100"/>
                    </a:p>
                    <a:p>
                      <a:pPr indent="0" algn="l">
                        <a:lnSpc>
                          <a:spcPct val="100000"/>
                        </a:lnSpc>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(p32, m32, v32)</a:t>
                      </a: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Highest memory footprint,</a:t>
                      </a:r>
                      <a:endParaRPr lang="en-US" sz="1100"/>
                    </a:p>
                    <a:p>
                      <a:pPr indent="0" algn="l">
                        <a:lnSpc>
                          <a:spcPct val="100000"/>
                        </a:lnSpc>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with low computational complexity (O(M)</a:t>
                      </a:r>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g16</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Reduce communication overhead with compute nodes</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ZeRO-Offloading Single-GPU Scheduling</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1"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Computation and Communication Overlap</a:t>
            </a:r>
          </a:p>
          <a:p>
            <a:pPr marL="342900" lvl="1" indent="0" algn="l">
              <a:lnSpc>
                <a:spcPct val="92000"/>
              </a:lnSpc>
              <a:spcBef>
                <a:spcPts val="750"/>
              </a:spcBef>
            </a:pP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Forward Pass</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FP16 parameters are already on GPU ; no communication with CPU is required.</a:t>
            </a: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Backward Pass</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On-the-fly transfer: Gradients are immediately sent to CPU in small groups as soon as they are computed.</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Pipeline parallelism: leverages asynchronous transfer to overlap gradient back-propagation with the remaining backward computation, hiding communication overhead.</a:t>
            </a: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Update Phase</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Directly update FP32 states (parameters, momentum, and variance) on the CPU.</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After the update, only convert the FP32 parameters back to the GPU and update them to FP16.</a:t>
            </a:r>
          </a:p>
        </p:txBody>
      </p:sp>
      <p:pic>
        <p:nvPicPr>
          <p:cNvPr id="6" name="Picture 6"/>
          <p:cNvPicPr>
            <a:picLocks noChangeAspect="1"/>
          </p:cNvPicPr>
          <p:nvPr/>
        </p:nvPicPr>
        <p:blipFill>
          <a:blip r:embed="rId2"/>
          <a:srcRect/>
          <a:stretch>
            <a:fillRect/>
          </a:stretch>
        </p:blipFill>
        <p:spPr>
          <a:xfrm>
            <a:off x="6572885" y="1132840"/>
            <a:ext cx="5323840" cy="180657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ZeRO-Offloading Multi-GPU Scaling</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1"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Combining ZeRO-2 "state partitioning" with Offload "path redirection ".</a:t>
            </a:r>
          </a:p>
          <a:p>
            <a:pPr marL="342900" lvl="1" indent="0" algn="l">
              <a:lnSpc>
                <a:spcPct val="92000"/>
              </a:lnSpc>
              <a:spcBef>
                <a:spcPts val="750"/>
              </a:spcBef>
            </a:pP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Data Layout</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Each GPU is only responsible for maintaining a partition of the parameters, gradients, and optimizer states.</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partition corresponding to each GPU is offloaded to its connected CPU memory.</a:t>
            </a: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Parallelism Advantage</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Constant Communication: The total communication volume does not grow as the number of GPU units increases.</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Compute Acceleration: Optimizer updates on the CPU side are processed in parallel across multiple CPU cores.</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more GPUs are used, the less CPU computation each card shoulders, delivering exceptional scalability.</a:t>
            </a:r>
          </a:p>
        </p:txBody>
      </p:sp>
      <p:pic>
        <p:nvPicPr>
          <p:cNvPr id="6" name="Picture 6"/>
          <p:cNvPicPr>
            <a:picLocks noChangeAspect="1"/>
          </p:cNvPicPr>
          <p:nvPr/>
        </p:nvPicPr>
        <p:blipFill>
          <a:blip r:embed="rId2"/>
          <a:srcRect t="6083" b="21595"/>
          <a:stretch>
            <a:fillRect/>
          </a:stretch>
        </p:blipFill>
        <p:spPr>
          <a:xfrm>
            <a:off x="3004820" y="1807845"/>
            <a:ext cx="4702175" cy="1739265"/>
          </a:xfrm>
          <a:prstGeom prst="rect">
            <a:avLst/>
          </a:prstGeom>
          <a:ln w="12700">
            <a:noFill/>
            <a:prstDash val="solid"/>
          </a:ln>
        </p:spPr>
      </p:pic>
      <p:sp>
        <p:nvSpPr>
          <p:cNvPr id="7" name="AutoShape 7"/>
          <p:cNvSpPr/>
          <p:nvPr/>
        </p:nvSpPr>
        <p:spPr>
          <a:xfrm>
            <a:off x="6817360" y="2466975"/>
            <a:ext cx="5553710" cy="2914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ZeRO-Offload data placement with multiple GPUs</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ZeRO-Infinity Features and Capabilities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Features</a:t>
            </a:r>
          </a:p>
          <a:p>
            <a:pPr marL="571500" lvl="1" indent="-2286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Unlimited Scale: Supports training models with hundreds of trillions of parameters on limited GPU resources</a:t>
            </a: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For example, training a model with over 1 trillion parameters on a single GPU node.</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Extreme Heterogeneous Utilization: Treats HBM, DRAM, and NVMe as a unified memory hierarchy.</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Compute Communication Overlap: The Infinity Offload Engine mitigates the low-bandwidth impact of NVMe/PCIe.</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Ease of Use: No model refactoring required; developers can train large models just as writing PyTorch code.</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Features </a:t>
            </a:r>
          </a:p>
          <a:p>
            <a:pPr marL="571500" lvl="1" indent="-2286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ZeRO-3 All-Round Optimization: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Eliminate redundancy entirely by distributing parameters, gradients, and optimizer states across all heterogeneous storage media.</a:t>
            </a:r>
          </a:p>
          <a:p>
            <a:pPr marL="571500" lvl="1" indent="-2286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NVMe Memory Expansion:</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Leverage NVMe storage for optimizer states and weights, breaking through the capacity constraints of DRAM.</a:t>
            </a:r>
          </a:p>
          <a:p>
            <a:pPr marL="571500" lvl="1" indent="-2286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Efficient Prefetching Mechanism: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Prefetch the required parameters from slow storage (NVMe/CPU) before computing the next layer.</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Data Parallelism and Operator Splitting</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Supports automatic splitting of extremely large operators, ensuring that a single GPU can fit even the most massive network layers.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ZeRO-Infinity Overall Workflow </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xfrm>
            <a:off x="523875" y="1323975"/>
            <a:ext cx="5944870" cy="4853305"/>
          </a:xfrm>
          <a:prstGeom prst="rect">
            <a:avLst/>
          </a:prstGeom>
        </p:spPr>
        <p:txBody>
          <a:bodyPr wrap="square" lIns="91440" tIns="45720" rIns="91440" bIns="45720" anchor="t">
            <a:normAutofit lnSpcReduction="20000"/>
          </a:bodyPr>
          <a:lstStyle>
            <a:lvl1pPr algn="l">
              <a:lnSpc>
                <a:spcPct val="83000"/>
              </a:lnSpc>
              <a:defRPr sz="1800" b="1" i="0" u="none" strike="noStrike" spc="0">
                <a:solidFill>
                  <a:srgbClr val="404040">
                    <a:alpha val="100000"/>
                  </a:srgbClr>
                </a:solidFill>
                <a:latin typeface="Calibri" panose="020F0502020204030204"/>
              </a:defRPr>
            </a:lvl1pPr>
          </a:lstStyle>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Step 1: Parameter Fetching</a:t>
            </a: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Each GPU holds only a small shard of the parameters for that layer.</a:t>
            </a: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sharded parameters are moved from slow storage into the GPU memory of the corresponding device.</a:t>
            </a: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Step 2: All-Gather</a:t>
            </a: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complete parameters of the Layer are temporarily assembled in the GPU memory of every device.</a:t>
            </a: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Step 3: Gradient Computation and Aggregation</a:t>
            </a: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backward pass is performed using the complete parameters to generate gradients.</a:t>
            </a: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Each GPU ultimately retains only the shard of gradients it is responsible for.</a:t>
            </a: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Step 4: Gradient Write-Back</a:t>
            </a: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aggregated gradient shards are written back from GPU memory to slow storage.</a:t>
            </a:r>
          </a:p>
        </p:txBody>
      </p:sp>
      <p:pic>
        <p:nvPicPr>
          <p:cNvPr id="6" name="Picture 6"/>
          <p:cNvPicPr>
            <a:picLocks noChangeAspect="1"/>
          </p:cNvPicPr>
          <p:nvPr/>
        </p:nvPicPr>
        <p:blipFill>
          <a:blip r:embed="rId2"/>
          <a:srcRect/>
          <a:stretch>
            <a:fillRect/>
          </a:stretch>
        </p:blipFill>
        <p:spPr>
          <a:xfrm>
            <a:off x="6637655" y="1214120"/>
            <a:ext cx="5357495" cy="52851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ZeRO-Infinity Efficiency Optimization</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1700" b="1" i="0" u="none" strike="noStrike" spc="0">
                <a:solidFill>
                  <a:srgbClr val="404040">
                    <a:alpha val="100000"/>
                  </a:srgbClr>
                </a:solidFill>
                <a:latin typeface="Calibri" panose="020F0502020204030204"/>
              </a:defRPr>
            </a:lvl1pPr>
          </a:lstStyle>
          <a:p>
            <a:pPr marL="215900" indent="-215900" algn="l">
              <a:lnSpc>
                <a:spcPct val="92000"/>
              </a:lnSpc>
              <a:spcBef>
                <a:spcPts val="150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1. Bandwidth-Centric Parallel Partitioning</a:t>
            </a: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Abandon ZeRO-Offload single-owner/broadcast model, and store each parameter as shards </a:t>
            </a:r>
            <a:b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b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distributed across all DP rank nodes.</a:t>
            </a: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Parallel PCIe throughput: Engaging all PCIe lanes across all nodes simultaneously for parallel reads,</a:t>
            </a:r>
            <a:b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b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with effective bandwidth scaling linearly with the DP degree.</a:t>
            </a:r>
          </a:p>
          <a:p>
            <a:pPr marL="215900" indent="-215900" algn="l">
              <a:lnSpc>
                <a:spcPct val="92000"/>
              </a:lnSpc>
              <a:spcBef>
                <a:spcPts val="150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2. Full End-to-End Pipeline Overlap Design</a:t>
            </a: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Three-Level Prefetch Engine: NVMe → CPU, CPU → GPU, and GPU ↔ GPU.</a:t>
            </a: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Example: While executing operator i, concurrently prefetch the GPU communication for i+1, the GPU Memory copy for i+2, and the disk read for i+3.</a:t>
            </a: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Dynamic Flow Awareness: Builds operator mapping tables in real time, supporting complex or dynamically changing computation graphs to mask data movement overhead.</a:t>
            </a:r>
          </a:p>
          <a:p>
            <a:pPr marL="215900" indent="-215900" algn="l">
              <a:lnSpc>
                <a:spcPct val="92000"/>
              </a:lnSpc>
              <a:spcBef>
                <a:spcPts val="150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3. Infinity Offload Engine and Optimizations</a:t>
            </a: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DeepNVMe Library: A high-performance C++ asynchronous I/O library that achieves maximum NVMe read/write performance through request parallelization, intelligent scheduling, and zero-copy technology.</a:t>
            </a: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Pinned Memory Management: </a:t>
            </a: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Minimal memory footprint: Only tens of GB of pinned buffers are required to manage tens of TB of model states, completely eliminating memory fragmentation.</a:t>
            </a: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In-place Computation: Supports optimizer updates directly within buffers, eliminating unnecessary memory copies and improving end-to-end throughput.</a:t>
            </a:r>
          </a:p>
          <a:p>
            <a:pPr marL="342900" lvl="1" indent="0" algn="l">
              <a:lnSpc>
                <a:spcPct val="92000"/>
              </a:lnSpc>
              <a:spcBef>
                <a:spcPts val="750"/>
              </a:spcBef>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3"/>
          <a:srcRect/>
          <a:stretch>
            <a:fillRect/>
          </a:stretch>
        </p:blipFill>
        <p:spPr>
          <a:xfrm>
            <a:off x="9403080" y="711200"/>
            <a:ext cx="2239645" cy="271780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DeepSpeed ZeRO-Offloading &amp; Infinity Code Examples</a:t>
            </a:r>
          </a:p>
        </p:txBody>
      </p:sp>
      <p:pic>
        <p:nvPicPr>
          <p:cNvPr id="4" name="Picture 4"/>
          <p:cNvPicPr>
            <a:picLocks noChangeAspect="1"/>
          </p:cNvPicPr>
          <p:nvPr/>
        </p:nvPicPr>
        <p:blipFill>
          <a:blip r:embed="rId2"/>
          <a:srcRect/>
          <a:stretch>
            <a:fillRect/>
          </a:stretch>
        </p:blipFill>
        <p:spPr>
          <a:xfrm>
            <a:off x="823595" y="1751330"/>
            <a:ext cx="2653665" cy="4114800"/>
          </a:xfrm>
          <a:prstGeom prst="rect">
            <a:avLst/>
          </a:prstGeom>
          <a:ln w="12700">
            <a:noFill/>
            <a:prstDash val="solid"/>
          </a:ln>
        </p:spPr>
      </p:pic>
      <p:pic>
        <p:nvPicPr>
          <p:cNvPr id="5" name="Picture 5"/>
          <p:cNvPicPr>
            <a:picLocks noChangeAspect="1"/>
          </p:cNvPicPr>
          <p:nvPr/>
        </p:nvPicPr>
        <p:blipFill>
          <a:blip r:embed="rId3"/>
          <a:srcRect/>
          <a:stretch>
            <a:fillRect/>
          </a:stretch>
        </p:blipFill>
        <p:spPr>
          <a:xfrm>
            <a:off x="3910330" y="2318385"/>
            <a:ext cx="3242945" cy="2981325"/>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7586345" y="1219200"/>
            <a:ext cx="3828415" cy="4813935"/>
          </a:xfrm>
          <a:prstGeom prst="rect">
            <a:avLst/>
          </a:prstGeom>
          <a:ln w="12700">
            <a:noFill/>
            <a:prstDash val="solid"/>
          </a:ln>
        </p:spPr>
      </p:pic>
      <p:sp>
        <p:nvSpPr>
          <p:cNvPr id="7" name="AutoShape 7"/>
          <p:cNvSpPr/>
          <p:nvPr/>
        </p:nvSpPr>
        <p:spPr>
          <a:xfrm>
            <a:off x="889635" y="5996940"/>
            <a:ext cx="252158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DeepSpeed Configuration</a:t>
            </a:r>
            <a:endParaRPr lang="en-US" sz="1100"/>
          </a:p>
          <a:p>
            <a:pPr indent="0" algn="ctr">
              <a:lnSpc>
                <a:spcPct val="100000"/>
              </a:lnSpc>
            </a:pPr>
            <a:r>
              <a:rPr lang="en-US" sz="1600" b="1" i="0" u="none" strike="noStrike">
                <a:solidFill>
                  <a:srgbClr val="000000"/>
                </a:solidFill>
                <a:latin typeface="Arial" panose="020B0604020202020204"/>
                <a:ea typeface="Arial" panose="020B0604020202020204"/>
                <a:cs typeface="Arial" panose="020B0604020202020204"/>
                <a:sym typeface="Arial" panose="020B0604020202020204"/>
              </a:rPr>
              <a:t>ZeRO-Offload (Stage 2)</a:t>
            </a:r>
          </a:p>
        </p:txBody>
      </p:sp>
      <p:sp>
        <p:nvSpPr>
          <p:cNvPr id="8" name="AutoShape 8"/>
          <p:cNvSpPr/>
          <p:nvPr/>
        </p:nvSpPr>
        <p:spPr>
          <a:xfrm>
            <a:off x="3910330" y="5996940"/>
            <a:ext cx="322008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DeepSpeed Configuration</a:t>
            </a:r>
            <a:endParaRPr lang="en-US" sz="1100"/>
          </a:p>
          <a:p>
            <a:pPr indent="0" algn="ctr">
              <a:lnSpc>
                <a:spcPct val="100000"/>
              </a:lnSpc>
            </a:pPr>
            <a:r>
              <a:rPr lang="en-US" sz="1600" b="1" i="0" u="none" strike="noStrike">
                <a:solidFill>
                  <a:srgbClr val="000000"/>
                </a:solidFill>
                <a:latin typeface="Arial" panose="020B0604020202020204"/>
                <a:ea typeface="Arial" panose="020B0604020202020204"/>
                <a:cs typeface="Arial" panose="020B0604020202020204"/>
                <a:sym typeface="Arial" panose="020B0604020202020204"/>
              </a:rPr>
              <a:t>ZeRO-Infinity (Stage 3 + NVMe)</a:t>
            </a:r>
          </a:p>
        </p:txBody>
      </p:sp>
      <p:sp>
        <p:nvSpPr>
          <p:cNvPr id="9" name="AutoShape 9"/>
          <p:cNvSpPr/>
          <p:nvPr/>
        </p:nvSpPr>
        <p:spPr>
          <a:xfrm>
            <a:off x="7780655" y="6155690"/>
            <a:ext cx="322008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Training Code Examples</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p>
        </p:txBody>
      </p:sp>
      <p:pic>
        <p:nvPicPr>
          <p:cNvPr id="3" name="Picture 3"/>
          <p:cNvPicPr>
            <a:picLocks noChangeAspect="1"/>
          </p:cNvPicPr>
          <p:nvPr/>
        </p:nvPicPr>
        <p:blipFill>
          <a:blip r:embed="rId2"/>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7"/>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1" tooltip="https://flagos.io/Home"/>
              </a:rPr>
              <a:t>https://flagos.io/Home</a:t>
            </a:r>
            <a:endParaRPr lang="en-US" sz="1100"/>
          </a:p>
        </p:txBody>
      </p:sp>
      <p:pic>
        <p:nvPicPr>
          <p:cNvPr id="18" name="Picture 18"/>
          <p:cNvPicPr>
            <a:picLocks noChangeAspect="1"/>
          </p:cNvPicPr>
          <p:nvPr/>
        </p:nvPicPr>
        <p:blipFill>
          <a:blip r:embed="rId12"/>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3"/>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2"/>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2322</Words>
  <Application>Microsoft Office PowerPoint</Application>
  <PresentationFormat>宽屏</PresentationFormat>
  <Paragraphs>311</Paragraphs>
  <Slides>20</Slides>
  <Notes>8</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20</vt:i4>
      </vt:variant>
    </vt:vector>
  </HeadingPairs>
  <TitlesOfParts>
    <vt:vector size="34" baseType="lpstr">
      <vt:lpstr>Noto Sans SC</vt:lpstr>
      <vt:lpstr>Pretendard</vt:lpstr>
      <vt:lpstr>微软雅黑</vt:lpstr>
      <vt:lpstr>文泉驿微米黑</vt:lpstr>
      <vt:lpstr>Arial</vt:lpstr>
      <vt:lpstr>Calibri</vt:lpstr>
      <vt:lpstr>Calibri Light</vt:lpstr>
      <vt:lpstr>Ebrima</vt:lpstr>
      <vt:lpstr>Garamond</vt:lpstr>
      <vt:lpstr>Montserrat SemiBold</vt:lpstr>
      <vt:lpstr>Wingdings 3</vt:lpstr>
      <vt:lpstr>Office 主题​​</vt:lpstr>
      <vt:lpstr>母版</vt:lpstr>
      <vt:lpstr>1_母版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Xiang Li</cp:lastModifiedBy>
  <cp:revision>41</cp:revision>
  <dcterms:created xsi:type="dcterms:W3CDTF">2026-04-21T01:52:00Z</dcterms:created>
  <dcterms:modified xsi:type="dcterms:W3CDTF">2026-05-27T10:18:53Z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EE3857BD207AEED703D2E6693413B488_42</vt:lpwstr>
  </property>
  <property fmtid="{D5CDD505-2E9C-101B-9397-08002B2CF9AE}" pid="3" name="KSOProductBuildVer">
    <vt:lpwstr>2052-12.1.0.21915</vt:lpwstr>
  </property>
</Properties>
</file>