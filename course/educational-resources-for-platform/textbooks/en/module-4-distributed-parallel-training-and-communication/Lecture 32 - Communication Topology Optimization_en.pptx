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  <p:sldMasterId id="2147483672" r:id="rId3"/>
  </p:sldMasterIdLst>
  <p:notesMasterIdLst>
    <p:notesMasterId r:id="rId28"/>
  </p:notesMasterIdLst>
  <p:sldIdLst>
    <p:sldId id="279" r:id="rId4"/>
    <p:sldId id="516" r:id="rId5"/>
    <p:sldId id="517" r:id="rId6"/>
    <p:sldId id="518" r:id="rId7"/>
    <p:sldId id="519" r:id="rId8"/>
    <p:sldId id="520" r:id="rId9"/>
    <p:sldId id="521" r:id="rId10"/>
    <p:sldId id="522" r:id="rId11"/>
    <p:sldId id="523" r:id="rId12"/>
    <p:sldId id="524" r:id="rId13"/>
    <p:sldId id="525" r:id="rId14"/>
    <p:sldId id="526" r:id="rId15"/>
    <p:sldId id="527" r:id="rId16"/>
    <p:sldId id="528" r:id="rId17"/>
    <p:sldId id="529" r:id="rId18"/>
    <p:sldId id="530" r:id="rId19"/>
    <p:sldId id="531" r:id="rId20"/>
    <p:sldId id="532" r:id="rId21"/>
    <p:sldId id="533" r:id="rId22"/>
    <p:sldId id="534" r:id="rId23"/>
    <p:sldId id="535" r:id="rId24"/>
    <p:sldId id="333" r:id="rId25"/>
    <p:sldId id="334" r:id="rId26"/>
    <p:sldId id="335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  <a:latin typeface="-apple-system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https://zhuanlan.zhihu.com/p/1976385706453652306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单击此处添加文本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200" b="0" i="0" u="none" strike="noStrike">
                <a:solidFill>
                  <a:srgbClr val="191B1F">
                    <a:alpha val="100000"/>
                  </a:srgbClr>
                </a:solidFill>
                <a:latin typeface="-apple-system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191B1F"/>
                </a:solidFill>
                <a:latin typeface="-apple-system"/>
                <a:ea typeface="-apple-system"/>
                <a:cs typeface="-apple-system"/>
                <a:sym typeface="-apple-system"/>
              </a:rPr>
              <a:t>https://zhuanlan.zhihu.com/p/1976385706453652306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3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4863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1048633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 userDrawn="1"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  <p:pic>
        <p:nvPicPr>
          <p:cNvPr id="10" name="图片 9" descr="/Users/jieran/Library/Containers/com.kingsoft.wpsoffice.mac/Data/tmp/picturecompress_20260414164557/output_1.pngoutput_1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994650" y="196215"/>
            <a:ext cx="1017905" cy="4241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hyperlink" Target="https://docs.pytorch.org/tutorials/intermediate/FSDP_tutorial.html" TargetMode="External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hyperlink" Target="https://arxiv.org/abs/2304.1127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document/6337589/" TargetMode="External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emanticscholar.org/paper/Optimization-of-Collective-Reduction-Operations-Rabenseifner/e2584fdc3f9e696423d96522038f3fa35137ab92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35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4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32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31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30.png"/><Relationship Id="rId9" Type="http://schemas.openxmlformats.org/officeDocument/2006/relationships/hyperlink" Target="https://space.bilibili.com/3546791834290849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32: Communication Topology Optimization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Implementations of collective communication op.s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docs.pytorch.org/tutorials/intermediate/FSDP_tutorial.html"/>
              </a:rPr>
              <a:t>https://docs.pytorch.org/tutorials/intermediate/FSDP_tutorial.html</a:t>
            </a:r>
            <a:endParaRPr lang="en-US" sz="1400" b="0" i="0" u="none" strike="noStrike">
              <a:solidFill>
                <a:srgbClr val="A5A5A5"/>
              </a:solidFill>
              <a:latin typeface="Garamond" panose="02020404030301010803"/>
              <a:ea typeface="Garamond" panose="02020404030301010803"/>
              <a:cs typeface="Garamond" panose="02020404030301010803"/>
              <a:sym typeface="Garamond" panose="02020404030301010803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[2]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4" tooltip="https://arxiv.org/abs/2304.11277"/>
              </a:rPr>
              <a:t>https://arxiv.org/abs/2304.11277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40734" y="1343025"/>
            <a:ext cx="3116417" cy="1711189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419100" y="3186033"/>
            <a:ext cx="415968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All-reduce = Reduce-scatter + all-gather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628868" y="3554049"/>
            <a:ext cx="3740149" cy="22097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9" name="AutoShape 9"/>
          <p:cNvSpPr/>
          <p:nvPr/>
        </p:nvSpPr>
        <p:spPr>
          <a:xfrm>
            <a:off x="1696383" y="5758487"/>
            <a:ext cx="1605119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 All-reduce</a:t>
            </a:r>
            <a:endParaRPr lang="en-US" sz="1100"/>
          </a:p>
        </p:txBody>
      </p:sp>
      <p:grpSp>
        <p:nvGrpSpPr>
          <p:cNvPr id="10" name="Group 10"/>
          <p:cNvGrpSpPr/>
          <p:nvPr/>
        </p:nvGrpSpPr>
        <p:grpSpPr>
          <a:xfrm>
            <a:off x="7463045" y="1343025"/>
            <a:ext cx="3740149" cy="1960850"/>
            <a:chOff x="7463045" y="1343025"/>
            <a:chExt cx="3740149" cy="196085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7463045" y="1343025"/>
              <a:ext cx="3740149" cy="1960850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12" name="AutoShape 12"/>
            <p:cNvSpPr/>
            <p:nvPr/>
          </p:nvSpPr>
          <p:spPr>
            <a:xfrm>
              <a:off x="10516721" y="1374429"/>
              <a:ext cx="644848" cy="10962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sp>
        <p:nvSpPr>
          <p:cNvPr id="13" name="AutoShape 13"/>
          <p:cNvSpPr/>
          <p:nvPr/>
        </p:nvSpPr>
        <p:spPr>
          <a:xfrm>
            <a:off x="7960788" y="3322541"/>
            <a:ext cx="2744662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NVIDIA GPU CLOS Topology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7368928" y="3710539"/>
            <a:ext cx="3928383" cy="22097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5" name="AutoShape 15"/>
          <p:cNvSpPr/>
          <p:nvPr/>
        </p:nvSpPr>
        <p:spPr>
          <a:xfrm>
            <a:off x="7680263" y="5759286"/>
            <a:ext cx="3305713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HUAWEI NPU Full-mesh Topology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554466" y="2736607"/>
            <a:ext cx="2744663" cy="1827193"/>
          </a:xfrm>
          <a:prstGeom prst="rect">
            <a:avLst/>
          </a:prstGeom>
          <a:solidFill>
            <a:srgbClr val="DAE3F3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endParaRPr lang="en-US" sz="1100"/>
          </a:p>
          <a:p>
            <a:pPr indent="0" algn="ctr">
              <a:lnSpc>
                <a:spcPct val="100000"/>
              </a:lnSpc>
            </a:pPr>
            <a:endParaRPr lang="en-US" sz="1100"/>
          </a:p>
          <a:p>
            <a:pPr indent="0" algn="ctr">
              <a:lnSpc>
                <a:spcPct val="100000"/>
              </a:lnSpc>
            </a:pP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7" name="AutoShape 17"/>
          <p:cNvSpPr/>
          <p:nvPr/>
        </p:nvSpPr>
        <p:spPr>
          <a:xfrm>
            <a:off x="2921874" y="3075677"/>
            <a:ext cx="6109138" cy="92333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implementations 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highly depends on </a:t>
            </a:r>
          </a:p>
          <a:p>
            <a:pPr indent="0" algn="ctr">
              <a:lnSpc>
                <a:spcPct val="100000"/>
              </a:lnSpc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the hardware topology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Topologies in the modern AI systems 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ieeexplore.ieee.org/document/6337589/"/>
              </a:rPr>
              <a:t>https://ieeexplore.ieee.org/document/6337589/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53472" y="1275212"/>
            <a:ext cx="9166321" cy="4938480"/>
            <a:chOff x="1253472" y="1275212"/>
            <a:chExt cx="9166321" cy="4938480"/>
          </a:xfrm>
        </p:grpSpPr>
        <p:grpSp>
          <p:nvGrpSpPr>
            <p:cNvPr id="6" name="Group 6"/>
            <p:cNvGrpSpPr/>
            <p:nvPr/>
          </p:nvGrpSpPr>
          <p:grpSpPr>
            <a:xfrm>
              <a:off x="1347589" y="1327491"/>
              <a:ext cx="3740149" cy="1960850"/>
              <a:chOff x="1347589" y="1327491"/>
              <a:chExt cx="3740149" cy="1960850"/>
            </a:xfrm>
          </p:grpSpPr>
          <p:pic>
            <p:nvPicPr>
              <p:cNvPr id="7" name="Picture 7"/>
              <p:cNvPicPr>
                <a:picLocks noChangeAspect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>
              <a:xfrm>
                <a:off x="1347589" y="1327491"/>
                <a:ext cx="3740149" cy="1960850"/>
              </a:xfrm>
              <a:prstGeom prst="rect">
                <a:avLst/>
              </a:prstGeom>
              <a:ln w="12700">
                <a:noFill/>
                <a:prstDash val="solid"/>
              </a:ln>
            </p:spPr>
          </p:pic>
          <p:sp>
            <p:nvSpPr>
              <p:cNvPr id="8" name="AutoShape 8"/>
              <p:cNvSpPr/>
              <p:nvPr/>
            </p:nvSpPr>
            <p:spPr>
              <a:xfrm>
                <a:off x="4401265" y="1358895"/>
                <a:ext cx="644848" cy="109629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2700" cap="flat">
                <a:noFill/>
                <a:prstDash val="solid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indent="0" algn="ctr">
                  <a:lnSpc>
                    <a:spcPct val="100000"/>
                  </a:lnSpc>
                  <a:defRPr/>
                </a:pPr>
                <a:r>
                  <a:rPr lang="en-US" sz="1800" b="0" i="0" u="none" strike="noStrike">
                    <a:solidFill>
                      <a:srgbClr val="FFFFFF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 </a:t>
                </a:r>
                <a:endParaRPr lang="en-US" sz="1100"/>
              </a:p>
            </p:txBody>
          </p:sp>
        </p:grpSp>
        <p:sp>
          <p:nvSpPr>
            <p:cNvPr id="9" name="AutoShape 9"/>
            <p:cNvSpPr/>
            <p:nvPr/>
          </p:nvSpPr>
          <p:spPr>
            <a:xfrm>
              <a:off x="7033492" y="3237695"/>
              <a:ext cx="2878352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GOOGLE TPU Torus Topology</a:t>
              </a:r>
              <a:endParaRPr lang="en-US" sz="1100"/>
            </a:p>
          </p:txBody>
        </p:sp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>
            <a:xfrm>
              <a:off x="1253472" y="3695005"/>
              <a:ext cx="3928383" cy="2209716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11" name="AutoShape 11"/>
            <p:cNvSpPr/>
            <p:nvPr/>
          </p:nvSpPr>
          <p:spPr>
            <a:xfrm>
              <a:off x="1564807" y="5743752"/>
              <a:ext cx="3305713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HUAWEI NPU Full-mesh Topology</a:t>
              </a:r>
              <a:endParaRPr lang="en-US" sz="1100"/>
            </a:p>
          </p:txBody>
        </p:sp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>
            <a:xfrm>
              <a:off x="6525543" y="1275212"/>
              <a:ext cx="3894250" cy="2013129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13" name="AutoShape 13"/>
            <p:cNvSpPr/>
            <p:nvPr/>
          </p:nvSpPr>
          <p:spPr>
            <a:xfrm>
              <a:off x="1887651" y="3288341"/>
              <a:ext cx="2660024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NVIDIA GPU Clos Topology</a:t>
              </a:r>
              <a:endParaRPr lang="en-US" sz="1100"/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>
            <a:xfrm>
              <a:off x="7258601" y="3607027"/>
              <a:ext cx="2978023" cy="2250947"/>
            </a:xfrm>
            <a:prstGeom prst="rect">
              <a:avLst/>
            </a:prstGeom>
            <a:ln w="12700">
              <a:noFill/>
              <a:prstDash val="solid"/>
            </a:ln>
          </p:spPr>
        </p:pic>
        <p:sp>
          <p:nvSpPr>
            <p:cNvPr id="15" name="AutoShape 15"/>
            <p:cNvSpPr/>
            <p:nvPr/>
          </p:nvSpPr>
          <p:spPr>
            <a:xfrm>
              <a:off x="7478327" y="5844360"/>
              <a:ext cx="1988686" cy="369332"/>
            </a:xfrm>
            <a:prstGeom prst="rect">
              <a:avLst/>
            </a:prstGeom>
            <a:noFill/>
            <a:ln w="12700">
              <a:noFill/>
              <a:prstDash val="solid"/>
            </a:ln>
          </p:spPr>
          <p:txBody>
            <a:bodyPr wrap="none" lIns="91440" tIns="45720" rIns="91440" bIns="45720" rtlCol="0" anchor="t">
              <a:sp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00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Dragonfly Topology</a:t>
              </a:r>
              <a:endParaRPr lang="en-US" sz="110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793877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Start from a naive implementation with root rank = 0.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transfer volume: 2 * (N-1) * K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 are three disadvantages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bandwidth and computation of Rank 0 become bottleneck.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There are many idle resources during the allreduce (Rank 1 – N-1).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Poor scalability and lacks the consideration of topology.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How can we improve it?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Scatter the data transfer and computation workload to all of the ranks.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Solutions: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Tree-based, ring-based, halving-doubling, etc.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535217" y="1402079"/>
            <a:ext cx="3581217" cy="3871341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Tree-based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 a hierarchical relation with the root of tree (Rank 0).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Bottom-up Reduce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Top-down Broadcast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1107164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9696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8369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3694652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52344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410036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67728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12542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400000">
            <a:off x="1969660" y="3251752"/>
            <a:ext cx="12700" cy="862496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6" name="Connector 16"/>
          <p:cNvCxnSpPr/>
          <p:nvPr/>
        </p:nvCxnSpPr>
        <p:spPr>
          <a:xfrm rot="5400000">
            <a:off x="3697054" y="3254154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7" name="Connector 17"/>
          <p:cNvCxnSpPr/>
          <p:nvPr/>
        </p:nvCxnSpPr>
        <p:spPr>
          <a:xfrm rot="5400000">
            <a:off x="5412438" y="3254154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8" name="Connector 18"/>
          <p:cNvCxnSpPr/>
          <p:nvPr/>
        </p:nvCxnSpPr>
        <p:spPr>
          <a:xfrm rot="5400000">
            <a:off x="7127822" y="3254154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9" name="AutoShape 19"/>
          <p:cNvSpPr/>
          <p:nvPr/>
        </p:nvSpPr>
        <p:spPr>
          <a:xfrm>
            <a:off x="1107164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0+1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969660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836960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2+3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94652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552344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4+5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5410036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267728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6+7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125420" y="415036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5400000">
            <a:off x="2403310" y="3539462"/>
            <a:ext cx="12700" cy="1729796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28" name="Connector 28"/>
          <p:cNvCxnSpPr/>
          <p:nvPr/>
        </p:nvCxnSpPr>
        <p:spPr>
          <a:xfrm rot="5400000">
            <a:off x="5841284" y="3546668"/>
            <a:ext cx="12700" cy="1715384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9" name="AutoShape 29"/>
          <p:cNvSpPr/>
          <p:nvPr/>
        </p:nvSpPr>
        <p:spPr>
          <a:xfrm>
            <a:off x="1082959" y="3030974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Rank 0            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7036427" y="3025156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Rank 7            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-28704" y="4586495"/>
            <a:ext cx="1040481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S1 Reduce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1102360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0+1+2+3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1964856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2832156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2+3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3689848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4547540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4+5+6+7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5405232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62924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6+7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120616" y="490966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100"/>
          </a:p>
        </p:txBody>
      </p:sp>
      <p:cxnSp>
        <p:nvCxnSpPr>
          <p:cNvPr id="40" name="Connector 40"/>
          <p:cNvCxnSpPr/>
          <p:nvPr/>
        </p:nvCxnSpPr>
        <p:spPr>
          <a:xfrm rot="5400000">
            <a:off x="3256198" y="3441071"/>
            <a:ext cx="12700" cy="344518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1" name="AutoShape 41"/>
          <p:cNvSpPr/>
          <p:nvPr/>
        </p:nvSpPr>
        <p:spPr>
          <a:xfrm>
            <a:off x="11023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1964856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2832156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2+3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3689848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4547540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4+5+6+7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5405232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262924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6+7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7120616" y="5661025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Tree-based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 a hierarchical relation with the root of tree (Rank 0).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Bottom-up Reduce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Top-down Broadcast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19696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83696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694652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552344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4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5410036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67728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25420" y="3429000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82959" y="3030974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Rank 0            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036427" y="3025156"/>
            <a:ext cx="1040481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Rank 7            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-82861" y="4603248"/>
            <a:ext cx="1240089" cy="64633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rtlCol="0" anchor="t">
            <a:sp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S2 Broadcast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400000" flipV="1">
            <a:off x="3258600" y="1958008"/>
            <a:ext cx="12700" cy="3449984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8" name="AutoShape 18"/>
          <p:cNvSpPr/>
          <p:nvPr/>
        </p:nvSpPr>
        <p:spPr>
          <a:xfrm>
            <a:off x="11023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102360" y="3429000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1964856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832156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2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3689848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5405232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62924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6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20616" y="4157827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5400000" flipV="1">
            <a:off x="2396104" y="3544527"/>
            <a:ext cx="12700" cy="173460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97556" y="4157827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4556292" y="4157827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cxnSp>
        <p:nvCxnSpPr>
          <p:cNvPr id="29" name="Connector 29"/>
          <p:cNvCxnSpPr/>
          <p:nvPr/>
        </p:nvCxnSpPr>
        <p:spPr>
          <a:xfrm rot="5400000" flipV="1">
            <a:off x="5840856" y="3558511"/>
            <a:ext cx="12700" cy="170663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0" name="AutoShape 30"/>
          <p:cNvSpPr/>
          <p:nvPr/>
        </p:nvSpPr>
        <p:spPr>
          <a:xfrm>
            <a:off x="1971206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2838506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3696198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3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5411582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5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6269274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126966" y="4904831"/>
            <a:ext cx="862496" cy="254000"/>
          </a:xfrm>
          <a:prstGeom prst="rect">
            <a:avLst/>
          </a:prstGeom>
          <a:solidFill>
            <a:srgbClr val="D0CECE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7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5400000" flipV="1">
            <a:off x="1968804" y="4725181"/>
            <a:ext cx="12700" cy="86730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7" name="AutoShape 37"/>
          <p:cNvSpPr/>
          <p:nvPr/>
        </p:nvSpPr>
        <p:spPr>
          <a:xfrm>
            <a:off x="1103906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4562642" y="4904831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cxnSp>
        <p:nvCxnSpPr>
          <p:cNvPr id="39" name="Connector 39"/>
          <p:cNvCxnSpPr/>
          <p:nvPr/>
        </p:nvCxnSpPr>
        <p:spPr>
          <a:xfrm rot="5400000" flipV="1">
            <a:off x="5418360" y="4734361"/>
            <a:ext cx="12700" cy="848940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0" name="Connector 40"/>
          <p:cNvCxnSpPr/>
          <p:nvPr/>
        </p:nvCxnSpPr>
        <p:spPr>
          <a:xfrm rot="5400000" flipV="1">
            <a:off x="3698600" y="4729985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41" name="Connector 41"/>
          <p:cNvCxnSpPr/>
          <p:nvPr/>
        </p:nvCxnSpPr>
        <p:spPr>
          <a:xfrm rot="5400000" flipV="1">
            <a:off x="7129368" y="4729985"/>
            <a:ext cx="12700" cy="857692"/>
          </a:xfrm>
          <a:prstGeom prst="curvedConnector3">
            <a:avLst>
              <a:gd name="adj1" fmla="val 1800000"/>
            </a:avLst>
          </a:prstGeom>
          <a:noFill/>
          <a:ln w="12700" cap="flat">
            <a:solidFill>
              <a:srgbClr val="4472C4">
                <a:alpha val="100000"/>
              </a:srgbClr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2" name="AutoShape 42"/>
          <p:cNvSpPr/>
          <p:nvPr/>
        </p:nvSpPr>
        <p:spPr>
          <a:xfrm>
            <a:off x="19634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43" name="AutoShape 43"/>
          <p:cNvSpPr/>
          <p:nvPr/>
        </p:nvSpPr>
        <p:spPr>
          <a:xfrm>
            <a:off x="28245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44" name="AutoShape 44"/>
          <p:cNvSpPr/>
          <p:nvPr/>
        </p:nvSpPr>
        <p:spPr>
          <a:xfrm>
            <a:off x="36856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45" name="AutoShape 45"/>
          <p:cNvSpPr/>
          <p:nvPr/>
        </p:nvSpPr>
        <p:spPr>
          <a:xfrm>
            <a:off x="45467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46" name="AutoShape 46"/>
          <p:cNvSpPr/>
          <p:nvPr/>
        </p:nvSpPr>
        <p:spPr>
          <a:xfrm>
            <a:off x="54078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47" name="AutoShape 47"/>
          <p:cNvSpPr/>
          <p:nvPr/>
        </p:nvSpPr>
        <p:spPr>
          <a:xfrm>
            <a:off x="6268960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  <p:sp>
        <p:nvSpPr>
          <p:cNvPr id="48" name="AutoShape 48"/>
          <p:cNvSpPr/>
          <p:nvPr/>
        </p:nvSpPr>
        <p:spPr>
          <a:xfrm>
            <a:off x="7130058" y="5661025"/>
            <a:ext cx="862496" cy="254000"/>
          </a:xfrm>
          <a:prstGeom prst="rect">
            <a:avLst/>
          </a:prstGeom>
          <a:solidFill>
            <a:srgbClr val="44546A">
              <a:alpha val="100000"/>
            </a:srgbClr>
          </a:solidFill>
          <a:ln w="12700" cap="flat">
            <a:solidFill>
              <a:srgbClr val="2F528F">
                <a:alpha val="100000"/>
              </a:srgbClr>
            </a:solidFill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SUM(0,7)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Tree-based AllReduce Algorithm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Build a hierarchical relation with the root of tree (Rank 0).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Bottom-up Reduce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Top-down Broadcast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Parallel data transfer and reduce operations.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Logarithmic complexity (the naive version has linear complexity).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excels with small data sizes because of the low latency.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Disadvantages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It still has idle computing and bandwidth resources.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Further Opt: Double Binary Tree (NCCL)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415906" y="1261379"/>
            <a:ext cx="3394047" cy="5094972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12075" y="1292225"/>
            <a:ext cx="4089400" cy="51181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452129" y="3020290"/>
            <a:ext cx="3763055" cy="296487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1405" y="2861359"/>
            <a:ext cx="5908778" cy="354384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AutoShape 8"/>
          <p:cNvSpPr/>
          <p:nvPr/>
        </p:nvSpPr>
        <p:spPr>
          <a:xfrm>
            <a:off x="110837" y="2649552"/>
            <a:ext cx="3236784" cy="36933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none" lIns="91440" tIns="45720" rIns="91440" bIns="45720" rtlCol="0" anchor="t">
            <a:sp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1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Split the data with N partitions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41404" y="2548808"/>
            <a:ext cx="5919650" cy="412865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03" y="2552707"/>
            <a:ext cx="5919649" cy="426214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03" y="2548375"/>
            <a:ext cx="5919649" cy="4157516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41403" y="2571659"/>
            <a:ext cx="5958976" cy="416078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02265" y="2538665"/>
            <a:ext cx="6098114" cy="428634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6" name="AutoShape 6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91642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Quantitative Analysis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Transfer Volume: 2 * (N-1) * K / 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Overall Time: 2 * (N-1) * alpha + 2 * (N-1) * K / N / beta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Tree-based AllReduce Time : 2 * log(N) * (alpha + K / beta)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alpha: latency; beta: bandwidth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Advantages: Optimal bandwidth utilization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5" y="1323975"/>
            <a:ext cx="6809740" cy="4853305"/>
          </a:xfrm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Ring-based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Iterative Reduce with N-1 steps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Iterative Gather with N-1 steps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Quantitative Analysis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Data Transfer Volume: 2 * (N-1) * K / N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Overall Time: 2 * (N-1) * alpha + 2 * (N-1) * K / N / beta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Tree-based AllReduce Time : 2 * log(N) * (alpha + K / beta)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alpha: latency; beta: bandwidth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Advantages: Optimal bandwidth utilization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550532" y="1090396"/>
            <a:ext cx="4250942" cy="532014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  <a:hlinkClick r:id="rId3" tooltip="https://www.semanticscholar.org/paper/Optimization-of-Collective-Reduction-Operations-Rabenseifner/e2584fdc3f9e696423d96522038f3fa35137ab92"/>
              </a:rPr>
              <a:t>https://www.semanticscholar.org/paper/Optimization-of-Collective-Reduction-Operations-Rabenseifner/e2584fdc3f9e696423d96522038f3fa35137ab92</a:t>
            </a: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 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Halving-doubling AllReduce Algorithm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1: Recursive halving reduce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Stage 2: Recursive doubling gather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157845" y="2760460"/>
            <a:ext cx="7876309" cy="360792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AllReduce as an example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Comparisons among ring-based, tree-based, and halving-doubling Allreduce algorithms.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Modern CCLs can select an efficient strategy according to the topology and the communication domain.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7649" y="3110288"/>
          <a:ext cx="10767580" cy="178642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153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35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66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Algorithm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Steps (Complexity)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Latency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Bandwidth Efficiency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Ideal Data Size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6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Ring-based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O(N)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High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Optimal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Large Data (&gt; 64MB)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66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Tree-based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O(log N)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Lowest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Moderate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Small-Medium (&lt; 16MB)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6607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Halving-Doubling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O(log N)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Low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Moderate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Very Small (&lt; 1MB)</a:t>
                      </a:r>
                      <a:endParaRPr lang="en-US" sz="1100"/>
                    </a:p>
                  </a:txBody>
                  <a:tcPr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Besides, the protocol designs are also important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https://arxiv.org/pdf/2507.04786v1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NCCL as an example.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582624" y="1797890"/>
            <a:ext cx="3907249" cy="259084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57937" y="1780207"/>
            <a:ext cx="3907249" cy="2256069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127105" y="4282458"/>
            <a:ext cx="7937790" cy="250313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Besides, the protocol designs are also important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A5A5A5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[1] https://arxiv.org/pdf/2507.04786v1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Take NCCL as an example.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79951" y="1800977"/>
            <a:ext cx="10023578" cy="4555374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1136</Words>
  <Application>Microsoft Office PowerPoint</Application>
  <PresentationFormat>宽屏</PresentationFormat>
  <Paragraphs>288</Paragraphs>
  <Slides>24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24</vt:i4>
      </vt:variant>
    </vt:vector>
  </HeadingPairs>
  <TitlesOfParts>
    <vt:vector size="39" baseType="lpstr">
      <vt:lpstr>-apple-system</vt:lpstr>
      <vt:lpstr>Noto Sans SC</vt:lpstr>
      <vt:lpstr>Pretendard</vt:lpstr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Office 主题​​</vt:lpstr>
      <vt:lpstr>母版</vt:lpstr>
      <vt:lpstr>1_母版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41</cp:revision>
  <dcterms:created xsi:type="dcterms:W3CDTF">2026-04-21T01:52:00Z</dcterms:created>
  <dcterms:modified xsi:type="dcterms:W3CDTF">2026-05-27T10:18:45Z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EE3857BD207AEED703D2E6693413B488_42</vt:lpwstr>
  </property>
  <property fmtid="{D5CDD505-2E9C-101B-9397-08002B2CF9AE}" pid="3" name="KSOProductBuildVer">
    <vt:lpwstr>2052-12.1.0.21915</vt:lpwstr>
  </property>
</Properties>
</file>