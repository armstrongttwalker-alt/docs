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  <p:sldMasterId id="2147483672" r:id="rId3"/>
  </p:sldMasterIdLst>
  <p:notesMasterIdLst>
    <p:notesMasterId r:id="rId30"/>
  </p:notesMasterIdLst>
  <p:sldIdLst>
    <p:sldId id="279" r:id="rId4"/>
    <p:sldId id="373" r:id="rId5"/>
    <p:sldId id="374" r:id="rId6"/>
    <p:sldId id="375" r:id="rId7"/>
    <p:sldId id="376" r:id="rId8"/>
    <p:sldId id="377" r:id="rId9"/>
    <p:sldId id="378" r:id="rId10"/>
    <p:sldId id="379" r:id="rId11"/>
    <p:sldId id="380" r:id="rId12"/>
    <p:sldId id="381" r:id="rId13"/>
    <p:sldId id="382" r:id="rId14"/>
    <p:sldId id="383" r:id="rId15"/>
    <p:sldId id="384" r:id="rId16"/>
    <p:sldId id="385" r:id="rId17"/>
    <p:sldId id="386" r:id="rId18"/>
    <p:sldId id="387" r:id="rId19"/>
    <p:sldId id="388" r:id="rId20"/>
    <p:sldId id="389" r:id="rId21"/>
    <p:sldId id="390" r:id="rId22"/>
    <p:sldId id="391" r:id="rId23"/>
    <p:sldId id="392" r:id="rId24"/>
    <p:sldId id="393" r:id="rId25"/>
    <p:sldId id="394" r:id="rId26"/>
    <p:sldId id="333" r:id="rId27"/>
    <p:sldId id="334" r:id="rId28"/>
    <p:sldId id="335" r:id="rId2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章 嘉玺" initials="章" lastIdx="1" clrIdx="0"/>
  <p:cmAuthor id="2" name="webuser" initials="webuser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0" d="100"/>
          <a:sy n="90" d="100"/>
        </p:scale>
        <p:origin x="63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commentAuthors" Target="commentAuthor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4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xfrm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xfrm>
            <a:off x="6210297" y="1323977"/>
            <a:ext cx="5591177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5" hasCustomPrompt="1"/>
          </p:nvPr>
        </p:nvSpPr>
        <p:spPr>
          <a:xfrm>
            <a:off x="666749" y="457201"/>
            <a:ext cx="2771775" cy="571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7" hasCustomPrompt="1"/>
          </p:nvPr>
        </p:nvSpPr>
        <p:spPr>
          <a:xfrm>
            <a:off x="3657600" y="457201"/>
            <a:ext cx="8001000" cy="57197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8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9" hasCustomPrompt="1"/>
          </p:nvPr>
        </p:nvSpPr>
        <p:spPr>
          <a:xfrm>
            <a:off x="5452216" y="0"/>
            <a:ext cx="6110447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647700" lvl="1" indent="-304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939800" lvl="2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231900" lvl="3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3057633" y="31667"/>
            <a:ext cx="9134367" cy="6838951"/>
            <a:chOff x="3057633" y="31667"/>
            <a:chExt cx="9134367" cy="6838951"/>
          </a:xfrm>
        </p:grpSpPr>
        <p:cxnSp>
          <p:nvCxnSpPr>
            <p:cNvPr id="4" name="Connector 4"/>
            <p:cNvCxnSpPr/>
            <p:nvPr/>
          </p:nvCxnSpPr>
          <p:spPr>
            <a:xfrm>
              <a:off x="3057633" y="31667"/>
              <a:ext cx="0" cy="0"/>
            </a:xfrm>
            <a:prstGeom prst="line">
              <a:avLst/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  <a:miter lim="8000000"/>
              <a:headEnd type="none" w="med" len="med"/>
              <a:tailEnd type="none" w="med" len="med"/>
            </a:ln>
          </p:spPr>
        </p:cxnSp>
        <p:grpSp>
          <p:nvGrpSpPr>
            <p:cNvPr id="5" name="Group 5"/>
            <p:cNvGrpSpPr/>
            <p:nvPr/>
          </p:nvGrpSpPr>
          <p:grpSpPr>
            <a:xfrm>
              <a:off x="11586746" y="4889417"/>
              <a:ext cx="605254" cy="1981201"/>
              <a:chOff x="11586746" y="4889417"/>
              <a:chExt cx="605254" cy="19812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1678257" y="5716505"/>
                <a:ext cx="301824" cy="1154112"/>
              </a:xfrm>
              <a:custGeom>
                <a:avLst/>
                <a:gdLst/>
                <a:ahLst/>
                <a:cxnLst/>
                <a:rect l="l" t="t" r="r" b="b"/>
                <a:pathLst>
                  <a:path w="301824" h="1154112">
                    <a:moveTo>
                      <a:pt x="24082" y="1154113"/>
                    </a:moveTo>
                    <a:lnTo>
                      <a:pt x="0" y="1154113"/>
                    </a:lnTo>
                    <a:lnTo>
                      <a:pt x="0" y="646113"/>
                    </a:lnTo>
                    <a:lnTo>
                      <a:pt x="0" y="646113"/>
                    </a:lnTo>
                    <a:lnTo>
                      <a:pt x="282558" y="0"/>
                    </a:lnTo>
                    <a:lnTo>
                      <a:pt x="301824" y="9525"/>
                    </a:lnTo>
                    <a:lnTo>
                      <a:pt x="24082" y="650875"/>
                    </a:lnTo>
                    <a:lnTo>
                      <a:pt x="24082" y="11541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11922285" y="5573630"/>
                <a:ext cx="158940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8940" h="155575">
                    <a:moveTo>
                      <a:pt x="81878" y="155575"/>
                    </a:moveTo>
                    <a:cubicBezTo>
                      <a:pt x="38531" y="155575"/>
                      <a:pt x="0" y="117860"/>
                      <a:pt x="0" y="75430"/>
                    </a:cubicBezTo>
                    <a:cubicBezTo>
                      <a:pt x="0" y="33001"/>
                      <a:pt x="38531" y="0"/>
                      <a:pt x="81878" y="0"/>
                    </a:cubicBezTo>
                    <a:cubicBezTo>
                      <a:pt x="125226" y="0"/>
                      <a:pt x="158941" y="33001"/>
                      <a:pt x="158941" y="75430"/>
                    </a:cubicBezTo>
                    <a:cubicBezTo>
                      <a:pt x="158941" y="117860"/>
                      <a:pt x="125226" y="155575"/>
                      <a:pt x="81878" y="155575"/>
                    </a:cubicBezTo>
                    <a:close/>
                    <a:moveTo>
                      <a:pt x="81878" y="18857"/>
                    </a:moveTo>
                    <a:cubicBezTo>
                      <a:pt x="48163" y="18857"/>
                      <a:pt x="19266" y="42429"/>
                      <a:pt x="19266" y="75430"/>
                    </a:cubicBezTo>
                    <a:cubicBezTo>
                      <a:pt x="19266" y="108431"/>
                      <a:pt x="48163" y="136718"/>
                      <a:pt x="81878" y="136718"/>
                    </a:cubicBezTo>
                    <a:cubicBezTo>
                      <a:pt x="110776" y="136718"/>
                      <a:pt x="139675" y="108431"/>
                      <a:pt x="139675" y="75430"/>
                    </a:cubicBezTo>
                    <a:cubicBezTo>
                      <a:pt x="139675" y="42429"/>
                      <a:pt x="110776" y="18857"/>
                      <a:pt x="81878" y="18857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1784216" y="4889417"/>
                <a:ext cx="191049" cy="188912"/>
              </a:xfrm>
              <a:custGeom>
                <a:avLst/>
                <a:gdLst/>
                <a:ahLst/>
                <a:cxnLst/>
                <a:rect l="l" t="t" r="r" b="b"/>
                <a:pathLst>
                  <a:path w="191049" h="188912">
                    <a:moveTo>
                      <a:pt x="95524" y="188913"/>
                    </a:moveTo>
                    <a:cubicBezTo>
                      <a:pt x="42986" y="188913"/>
                      <a:pt x="0" y="146408"/>
                      <a:pt x="0" y="94456"/>
                    </a:cubicBezTo>
                    <a:cubicBezTo>
                      <a:pt x="0" y="42506"/>
                      <a:pt x="42986" y="0"/>
                      <a:pt x="95524" y="0"/>
                    </a:cubicBezTo>
                    <a:cubicBezTo>
                      <a:pt x="148063" y="0"/>
                      <a:pt x="191049" y="42506"/>
                      <a:pt x="191049" y="94456"/>
                    </a:cubicBezTo>
                    <a:cubicBezTo>
                      <a:pt x="191049" y="146408"/>
                      <a:pt x="148063" y="188913"/>
                      <a:pt x="95524" y="188913"/>
                    </a:cubicBezTo>
                    <a:close/>
                    <a:moveTo>
                      <a:pt x="95524" y="18891"/>
                    </a:moveTo>
                    <a:cubicBezTo>
                      <a:pt x="52539" y="18891"/>
                      <a:pt x="19105" y="51951"/>
                      <a:pt x="19105" y="94456"/>
                    </a:cubicBezTo>
                    <a:cubicBezTo>
                      <a:pt x="19105" y="136962"/>
                      <a:pt x="52539" y="170021"/>
                      <a:pt x="95524" y="170021"/>
                    </a:cubicBezTo>
                    <a:cubicBezTo>
                      <a:pt x="138510" y="170021"/>
                      <a:pt x="171944" y="136962"/>
                      <a:pt x="171944" y="94456"/>
                    </a:cubicBezTo>
                    <a:cubicBezTo>
                      <a:pt x="171944" y="51951"/>
                      <a:pt x="138510" y="18891"/>
                      <a:pt x="95524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11586746" y="5068805"/>
                <a:ext cx="311457" cy="1801812"/>
              </a:xfrm>
              <a:custGeom>
                <a:avLst/>
                <a:gdLst/>
                <a:ahLst/>
                <a:cxnLst/>
                <a:rect l="l" t="t" r="r" b="b"/>
                <a:pathLst>
                  <a:path w="311457" h="1801812">
                    <a:moveTo>
                      <a:pt x="28898" y="1801813"/>
                    </a:moveTo>
                    <a:lnTo>
                      <a:pt x="0" y="1801813"/>
                    </a:lnTo>
                    <a:lnTo>
                      <a:pt x="0" y="561975"/>
                    </a:lnTo>
                    <a:lnTo>
                      <a:pt x="282558" y="280987"/>
                    </a:lnTo>
                    <a:lnTo>
                      <a:pt x="282558" y="0"/>
                    </a:lnTo>
                    <a:lnTo>
                      <a:pt x="311457" y="0"/>
                    </a:lnTo>
                    <a:lnTo>
                      <a:pt x="311457" y="290513"/>
                    </a:lnTo>
                    <a:lnTo>
                      <a:pt x="28898" y="571500"/>
                    </a:lnTo>
                    <a:lnTo>
                      <a:pt x="28898" y="18018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11999346" y="6438817"/>
                <a:ext cx="192654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92654" h="188913">
                    <a:moveTo>
                      <a:pt x="96327" y="188913"/>
                    </a:moveTo>
                    <a:cubicBezTo>
                      <a:pt x="43348" y="188913"/>
                      <a:pt x="0" y="146408"/>
                      <a:pt x="0" y="94456"/>
                    </a:cubicBezTo>
                    <a:cubicBezTo>
                      <a:pt x="0" y="42506"/>
                      <a:pt x="43348" y="0"/>
                      <a:pt x="96327" y="0"/>
                    </a:cubicBezTo>
                    <a:cubicBezTo>
                      <a:pt x="149306" y="0"/>
                      <a:pt x="192654" y="42506"/>
                      <a:pt x="192654" y="94456"/>
                    </a:cubicBezTo>
                    <a:cubicBezTo>
                      <a:pt x="192654" y="146408"/>
                      <a:pt x="149306" y="188913"/>
                      <a:pt x="96327" y="188913"/>
                    </a:cubicBezTo>
                    <a:close/>
                    <a:moveTo>
                      <a:pt x="96327" y="18891"/>
                    </a:moveTo>
                    <a:cubicBezTo>
                      <a:pt x="57796" y="18891"/>
                      <a:pt x="19266" y="51951"/>
                      <a:pt x="19266" y="94456"/>
                    </a:cubicBezTo>
                    <a:cubicBezTo>
                      <a:pt x="19266" y="136962"/>
                      <a:pt x="57796" y="170021"/>
                      <a:pt x="96327" y="170021"/>
                    </a:cubicBezTo>
                    <a:cubicBezTo>
                      <a:pt x="139675" y="170021"/>
                      <a:pt x="173388" y="136962"/>
                      <a:pt x="173388" y="94456"/>
                    </a:cubicBezTo>
                    <a:cubicBezTo>
                      <a:pt x="173388" y="51951"/>
                      <a:pt x="139675" y="18891"/>
                      <a:pt x="96327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1" name="AutoShape 11"/>
              <p:cNvSpPr/>
              <p:nvPr/>
            </p:nvSpPr>
            <p:spPr>
              <a:xfrm>
                <a:off x="12090856" y="6618205"/>
                <a:ext cx="24082" cy="252413"/>
              </a:xfrm>
              <a:prstGeom prst="rect">
                <a:avLst/>
              </a:pr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</p:grpSp>
      </p:grpSp>
      <p:sp>
        <p:nvSpPr>
          <p:cNvPr id="12" name="AutoShape 12"/>
          <p:cNvSpPr>
            <a:spLocks noGrp="1"/>
          </p:cNvSpPr>
          <p:nvPr>
            <p:ph type="body" sz="quarter" idx="20" hasCustomPrompt="1"/>
          </p:nvPr>
        </p:nvSpPr>
        <p:spPr>
          <a:xfrm>
            <a:off x="0" y="0"/>
            <a:ext cx="4659313" cy="6858000"/>
          </a:xfrm>
          <a:prstGeom prst="rect">
            <a:avLst/>
          </a:pr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3200" b="1" i="0" u="none" strike="noStrike" spc="0">
                <a:solidFill>
                  <a:srgbClr val="FFFFFF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3200" b="1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Outline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Unnamed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26262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rPr>
              <a:t>日期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5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587" y="1622323"/>
            <a:ext cx="10943800" cy="3028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7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3136489" y="3716594"/>
            <a:ext cx="8534897" cy="26645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r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4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4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48645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4" y="1323975"/>
            <a:ext cx="11277601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5043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0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3" y="1323976"/>
            <a:ext cx="5591177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50442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6210297" y="1323977"/>
            <a:ext cx="5591177" cy="4856162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43" name="标题 1"/>
          <p:cNvSpPr>
            <a:spLocks noGrp="1"/>
          </p:cNvSpPr>
          <p:nvPr>
            <p:ph type="title"/>
          </p:nvPr>
        </p:nvSpPr>
        <p:spPr>
          <a:xfrm>
            <a:off x="666749" y="457201"/>
            <a:ext cx="2771775" cy="571976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050444" name="幻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5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3657600" y="457201"/>
            <a:ext cx="8001000" cy="5719763"/>
          </a:xfrm>
        </p:spPr>
        <p:txBody>
          <a:bodyPr anchor="t"/>
          <a:lstStyle>
            <a:lvl1pPr algn="l"/>
            <a:lvl2pPr algn="l"/>
            <a:lvl3pPr algn="l"/>
            <a:lvl4pPr algn="l"/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6" name="页脚占位符 3"/>
          <p:cNvSpPr>
            <a:spLocks noGrp="1"/>
          </p:cNvSpPr>
          <p:nvPr>
            <p:ph type="ftr" sz="quarter" idx="15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内容占位符 2"/>
          <p:cNvSpPr>
            <a:spLocks noGrp="1"/>
          </p:cNvSpPr>
          <p:nvPr>
            <p:ph sz="quarter" idx="10" hasCustomPrompt="1"/>
            <p:custDataLst>
              <p:tags r:id="rId1"/>
            </p:custDataLst>
          </p:nvPr>
        </p:nvSpPr>
        <p:spPr>
          <a:xfrm>
            <a:off x="5452216" y="0"/>
            <a:ext cx="6110447" cy="6858000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3000"/>
              </a:spcBef>
              <a:defRPr sz="2800" baseline="0">
                <a:latin typeface="Ebrima" panose="02000000000000000000" charset="0"/>
              </a:defRPr>
            </a:lvl1pPr>
            <a:lvl2pPr algn="l">
              <a:lnSpc>
                <a:spcPct val="100000"/>
              </a:lnSpc>
              <a:defRPr sz="2400" baseline="0">
                <a:latin typeface="Ebrima" panose="02000000000000000000" charset="0"/>
              </a:defRPr>
            </a:lvl2pPr>
            <a:lvl3pPr algn="l">
              <a:lnSpc>
                <a:spcPct val="100000"/>
              </a:lnSpc>
              <a:defRPr sz="2000" baseline="0">
                <a:latin typeface="Ebrima" panose="02000000000000000000" charset="0"/>
              </a:defRPr>
            </a:lvl3pPr>
            <a:lvl4pPr algn="l">
              <a:lnSpc>
                <a:spcPct val="100000"/>
              </a:lnSpc>
              <a:defRPr sz="1600" baseline="0">
                <a:latin typeface="Ebrima" panose="02000000000000000000" charset="0"/>
              </a:defRPr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grpSp>
        <p:nvGrpSpPr>
          <p:cNvPr id="83" name="Group 7"/>
          <p:cNvGrpSpPr/>
          <p:nvPr/>
        </p:nvGrpSpPr>
        <p:grpSpPr>
          <a:xfrm>
            <a:off x="3057633" y="31667"/>
            <a:ext cx="9134367" cy="6838951"/>
            <a:chOff x="-4763" y="9525"/>
            <a:chExt cx="9032249" cy="6838951"/>
          </a:xfrm>
          <a:solidFill>
            <a:srgbClr val="549E39"/>
          </a:solidFill>
        </p:grpSpPr>
        <p:sp>
          <p:nvSpPr>
            <p:cNvPr id="1048651" name="Line 16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</a:ln>
          </p:spPr>
        </p:sp>
        <p:grpSp>
          <p:nvGrpSpPr>
            <p:cNvPr id="84" name="Group 9"/>
            <p:cNvGrpSpPr/>
            <p:nvPr/>
          </p:nvGrpSpPr>
          <p:grpSpPr>
            <a:xfrm>
              <a:off x="8428998" y="4867275"/>
              <a:ext cx="598488" cy="1981201"/>
              <a:chOff x="11441112" y="4867275"/>
              <a:chExt cx="598488" cy="1981201"/>
            </a:xfrm>
            <a:grpFill/>
          </p:grpSpPr>
          <p:sp>
            <p:nvSpPr>
              <p:cNvPr id="1048652" name="Freeform 35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3" name="Freeform 36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4" name="Freeform 38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5" name="Freeform 39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6" name="Freeform 40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7" name="Rectangle 41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1048658" name="内容占位符 22"/>
          <p:cNvSpPr>
            <a:spLocks noGrp="1"/>
          </p:cNvSpPr>
          <p:nvPr>
            <p:ph sz="quarter" idx="11" hasCustomPrompt="1"/>
            <p:custDataLst>
              <p:tags r:id="rId2"/>
            </p:custDataLst>
          </p:nvPr>
        </p:nvSpPr>
        <p:spPr>
          <a:xfrm>
            <a:off x="0" y="0"/>
            <a:ext cx="4659313" cy="6858000"/>
          </a:xfrm>
          <a:solidFill>
            <a:srgbClr val="8B001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Outline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named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日期占位符 2"/>
          <p:cNvSpPr>
            <a:spLocks noGrp="1"/>
          </p:cNvSpPr>
          <p:nvPr>
            <p:ph type="dt" sz="half" idx="10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2400" b="0" i="0" kern="12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微软雅黑" panose="020B0503020204020204" charset="-122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4863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048633" name="副标题 2"/>
          <p:cNvSpPr>
            <a:spLocks noGrp="1"/>
          </p:cNvSpPr>
          <p:nvPr>
            <p:ph type="subTitle" idx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727587" y="1622323"/>
            <a:ext cx="10943800" cy="3028335"/>
          </a:xfr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3136489" y="3716594"/>
            <a:ext cx="8534897" cy="2664541"/>
          </a:xfrm>
        </p:spPr>
        <p:txBody>
          <a:bodyPr anchor="ctr">
            <a:no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"/>
          <p:cNvSpPr/>
          <p:nvPr userDrawn="1"/>
        </p:nvSpPr>
        <p:spPr>
          <a:xfrm flipV="1">
            <a:off x="-4185" y="529393"/>
            <a:ext cx="567982" cy="507999"/>
          </a:xfrm>
          <a:custGeom>
            <a:avLst/>
            <a:gdLst/>
            <a:ahLst/>
            <a:cxnLst/>
            <a:rect l="l" t="t" r="r" b="b"/>
            <a:pathLst>
              <a:path w="567982" h="507999">
                <a:moveTo>
                  <a:pt x="564624" y="238811"/>
                </a:moveTo>
                <a:lnTo>
                  <a:pt x="483240" y="9550"/>
                </a:lnTo>
                <a:cubicBezTo>
                  <a:pt x="482690" y="7925"/>
                  <a:pt x="482018" y="6401"/>
                  <a:pt x="481468" y="4775"/>
                </a:cubicBezTo>
                <a:cubicBezTo>
                  <a:pt x="479820" y="0"/>
                  <a:pt x="478111" y="0"/>
                  <a:pt x="476401" y="0"/>
                </a:cubicBezTo>
                <a:lnTo>
                  <a:pt x="444165" y="0"/>
                </a:lnTo>
                <a:lnTo>
                  <a:pt x="0" y="3556"/>
                </a:lnTo>
                <a:cubicBezTo>
                  <a:pt x="489" y="171704"/>
                  <a:pt x="1038" y="339851"/>
                  <a:pt x="1527" y="507999"/>
                </a:cubicBezTo>
                <a:lnTo>
                  <a:pt x="444165" y="506272"/>
                </a:lnTo>
                <a:lnTo>
                  <a:pt x="476401" y="506272"/>
                </a:lnTo>
                <a:cubicBezTo>
                  <a:pt x="478111" y="506272"/>
                  <a:pt x="479820" y="501496"/>
                  <a:pt x="481468" y="501496"/>
                </a:cubicBezTo>
                <a:cubicBezTo>
                  <a:pt x="481468" y="496721"/>
                  <a:pt x="483240" y="496721"/>
                  <a:pt x="483240" y="496721"/>
                </a:cubicBezTo>
                <a:lnTo>
                  <a:pt x="564624" y="267462"/>
                </a:lnTo>
                <a:cubicBezTo>
                  <a:pt x="567982" y="257912"/>
                  <a:pt x="567982" y="248361"/>
                  <a:pt x="564624" y="238811"/>
                </a:cubicBezTo>
                <a:close/>
              </a:path>
            </a:pathLst>
          </a:cu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grpSp>
        <p:nvGrpSpPr>
          <p:cNvPr id="2" name="Group 2"/>
          <p:cNvGrpSpPr/>
          <p:nvPr userDrawn="1"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15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文本占位符 2"/>
          <p:cNvSpPr>
            <a:spLocks noGrp="1"/>
          </p:cNvSpPr>
          <p:nvPr>
            <p:ph type="body" idx="1"/>
          </p:nvPr>
        </p:nvSpPr>
        <p:spPr>
          <a:xfrm>
            <a:off x="523874" y="1323975"/>
            <a:ext cx="11277601" cy="4832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48638" name="标题占位符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9987507" cy="7009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486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523874" y="6356351"/>
            <a:ext cx="11277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accent3"/>
                </a:solidFill>
                <a:latin typeface="Garamond" panose="02020404030301010803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48640" name="Freeform 5"/>
          <p:cNvSpPr/>
          <p:nvPr userDrawn="1"/>
        </p:nvSpPr>
        <p:spPr bwMode="auto">
          <a:xfrm flipV="1">
            <a:off x="-4185" y="529393"/>
            <a:ext cx="564624" cy="50799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rgbClr val="8B0012"/>
          </a:solidFill>
          <a:ln>
            <a:noFill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104864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" y="593458"/>
            <a:ext cx="419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baseline="0">
                <a:solidFill>
                  <a:schemeClr val="bg1"/>
                </a:solidFill>
                <a:latin typeface="Garamond" panose="02020404030301010803" charset="0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5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  <p:pic>
        <p:nvPicPr>
          <p:cNvPr id="10" name="图片 9" descr="/Users/jieran/Library/Containers/com.kingsoft.wpsoffice.mac/Data/tmp/picturecompress_20260414164557/output_1.pngoutput_1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7994650" y="196215"/>
            <a:ext cx="1017905" cy="4241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lang="zh-CN" altLang="en-US" sz="3600" b="0" i="0" kern="1200" baseline="0" dirty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■"/>
        <a:defRPr sz="2400" b="0" i="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Pct val="75000"/>
        <a:buFont typeface="文泉驿微米黑" panose="020B0606030804020204" charset="-122"/>
        <a:buChar char="♦"/>
        <a:defRPr sz="20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▶"/>
        <a:defRPr sz="16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●"/>
        <a:defRPr sz="12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549E39"/>
        </a:buClr>
        <a:buSzTx/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flagos-ai" TargetMode="External"/><Relationship Id="rId13" Type="http://schemas.openxmlformats.org/officeDocument/2006/relationships/image" Target="../media/image35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4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2.png"/><Relationship Id="rId11" Type="http://schemas.openxmlformats.org/officeDocument/2006/relationships/hyperlink" Target="https://flagos.io/Home" TargetMode="External"/><Relationship Id="rId5" Type="http://schemas.openxmlformats.org/officeDocument/2006/relationships/image" Target="../media/image31.png"/><Relationship Id="rId10" Type="http://schemas.openxmlformats.org/officeDocument/2006/relationships/hyperlink" Target="https://www.zhihu.com/people/95-22-20-18/posts" TargetMode="External"/><Relationship Id="rId4" Type="http://schemas.openxmlformats.org/officeDocument/2006/relationships/image" Target="../media/image30.png"/><Relationship Id="rId9" Type="http://schemas.openxmlformats.org/officeDocument/2006/relationships/hyperlink" Target="https://space.bilibili.com/3546791834290849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5"/>
          </p:nvPr>
        </p:nvPicPr>
        <p:blipFill>
          <a:blip r:embed="rId2"/>
          <a:srcRect t="349" b="349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710" y="1622425"/>
            <a:ext cx="5553710" cy="3028315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000" b="0" i="0" u="none" strike="noStrike" spc="0">
                <a:solidFill>
                  <a:srgbClr val="44546A">
                    <a:alpha val="100000"/>
                  </a:srgbClr>
                </a:solidFill>
                <a:latin typeface="Montserrat SemiBol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Hardware and Software Fundamentals of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Intelligent Computing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Systems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64100" y="6255612"/>
            <a:ext cx="409904" cy="409904"/>
            <a:chOff x="364100" y="6255612"/>
            <a:chExt cx="409904" cy="409904"/>
          </a:xfrm>
        </p:grpSpPr>
        <p:sp>
          <p:nvSpPr>
            <p:cNvPr id="5" name="AutoShape 5"/>
            <p:cNvSpPr/>
            <p:nvPr/>
          </p:nvSpPr>
          <p:spPr>
            <a:xfrm>
              <a:off x="364100" y="6255612"/>
              <a:ext cx="409904" cy="409904"/>
            </a:xfrm>
            <a:prstGeom prst="ellipse">
              <a:avLst/>
            </a:prstGeom>
            <a:solidFill>
              <a:srgbClr val="ED7D3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505546" y="6397058"/>
              <a:ext cx="127012" cy="127012"/>
            </a:xfrm>
            <a:prstGeom prst="chevron">
              <a:avLst>
                <a:gd name="adj" fmla="val 50000"/>
              </a:avLst>
            </a:prstGeom>
            <a:solidFill>
              <a:srgbClr val="DAE3F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Lecture 30: Model Parallelism II (Pipeline Parallelism)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404040">
                    <a:alpha val="100000"/>
                  </a:srgbClr>
                </a:solidFill>
                <a:latin typeface="Ebrima" panose="02000000000000000000"/>
              </a:defRPr>
            </a:lvl1pPr>
          </a:lstStyle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Ebrima" panose="02000000000000000000"/>
                <a:ea typeface="Ebrima" panose="02000000000000000000"/>
                <a:cs typeface="Ebrima" panose="02000000000000000000"/>
                <a:sym typeface="Ebrima" panose="02000000000000000000"/>
              </a:rPr>
              <a:t>Introduction to PP</a:t>
            </a:r>
          </a:p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Ebrima" panose="02000000000000000000"/>
                <a:ea typeface="Ebrima" panose="02000000000000000000"/>
                <a:cs typeface="Ebrima" panose="02000000000000000000"/>
                <a:sym typeface="Ebrima" panose="02000000000000000000"/>
              </a:rPr>
              <a:t>PP Optimizations</a:t>
            </a:r>
          </a:p>
          <a:p>
            <a:pPr marL="647700" lvl="1" indent="-304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Ebrima" panose="02000000000000000000"/>
                <a:ea typeface="Ebrima" panose="02000000000000000000"/>
                <a:cs typeface="Ebrima" panose="02000000000000000000"/>
                <a:sym typeface="Ebrima" panose="02000000000000000000"/>
              </a:rPr>
              <a:t>F-then-B</a:t>
            </a:r>
          </a:p>
          <a:p>
            <a:pPr marL="647700" lvl="1" indent="-304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Ebrima" panose="02000000000000000000"/>
                <a:ea typeface="Ebrima" panose="02000000000000000000"/>
                <a:cs typeface="Ebrima" panose="02000000000000000000"/>
                <a:sym typeface="Ebrima" panose="02000000000000000000"/>
              </a:rPr>
              <a:t>1F1B</a:t>
            </a:r>
          </a:p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Ebrima" panose="02000000000000000000"/>
                <a:ea typeface="Ebrima" panose="02000000000000000000"/>
                <a:cs typeface="Ebrima" panose="02000000000000000000"/>
                <a:sym typeface="Ebrima" panose="02000000000000000000"/>
              </a:rPr>
              <a:t>Advanced PP</a:t>
            </a: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Ebrima" panose="02000000000000000000"/>
                <a:ea typeface="Ebrima" panose="02000000000000000000"/>
                <a:cs typeface="Ebrima" panose="02000000000000000000"/>
                <a:sym typeface="Ebrima" panose="02000000000000000000"/>
              </a:rPr>
              <a:t> 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0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3200" b="1" i="0" u="none" strike="noStrike" spc="0">
                <a:solidFill>
                  <a:srgbClr val="FFFFFF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Introduction to Inter-Node Scaling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TP is computationally efficient but mathematically requires synchronous All-Reduce operations, rendering it unsuitable for inter-node scaling.   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Ethernet/Infiniband latency would catastrophically bottleneck GPU utilization.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 scale deep LLMs across multiple nodes, the system must slice the model longitudinally.   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Pipeline Parallelism (PP) assigns sequential blocks of layers to different physical nodes.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b="17541"/>
          <a:stretch>
            <a:fillRect/>
          </a:stretch>
        </p:blipFill>
        <p:spPr>
          <a:xfrm>
            <a:off x="2574117" y="3622410"/>
            <a:ext cx="6818239" cy="3144222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Pipeline Parallelism (PP)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Layer-wise parallel cuts up layers, assigns some subset to GPUs (</a:t>
            </a:r>
            <a:r>
              <a:rPr lang="en-US" sz="24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stages)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Activations and partial gradients are passed back and forth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41404" y="2514688"/>
            <a:ext cx="3701344" cy="2347021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123853" y="2514688"/>
            <a:ext cx="5996517" cy="252378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8" name="AutoShape 8"/>
          <p:cNvSpPr/>
          <p:nvPr/>
        </p:nvSpPr>
        <p:spPr>
          <a:xfrm>
            <a:off x="1836733" y="5334670"/>
            <a:ext cx="9111774" cy="3581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Each GPU is idling most of the time, waiting for the backward pass to propagate back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Pipeline Parallelism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Communication pattern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52550" y="1975909"/>
            <a:ext cx="9281583" cy="4039096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Pipeline Parallel: Forward-then-Backward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Execution timeline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797050" y="1845469"/>
            <a:ext cx="8597900" cy="21844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7" name="AutoShape 7"/>
          <p:cNvSpPr/>
          <p:nvPr/>
        </p:nvSpPr>
        <p:spPr>
          <a:xfrm>
            <a:off x="4040929" y="4402667"/>
            <a:ext cx="3794630" cy="83099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How to make GPUs busy?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24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Batch split!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Pipeline Parallel: Forward-then-Backward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3429635" cy="4853305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GPipe (Google, 2019)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Divide the global mini-batch into </a:t>
            </a:r>
            <a:r>
              <a:rPr lang="en-US" sz="24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smaller "micro-batches"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 maximize TFLOPS, increase Global Batch Size to fit more micro-batches into the pipe.</a:t>
            </a: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962401" y="1323975"/>
            <a:ext cx="8004236" cy="3863378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Pipeline Parallel: Forward-then-Backward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  <a:blipFill rotWithShape="1">
            <a:blip r:embed="rId2"/>
            <a:stretch>
              <a:fillRect l="-1012" t="-2089"/>
            </a:stretch>
          </a:blipFill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664634" y="3746882"/>
            <a:ext cx="5835764" cy="2621502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Why pipeline parallel?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Pipelines save memory (compared to DDP)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Pipelines can have good communication properties (compared to FDSP and TP) 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It depends only on activations and is point to point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Generally, we will use pipelines on slower network links (i.e. inter-node) as a way to get better memory-wise scaling.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Pipeline Schedule Optimization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PipeDream proposes a “1F1B” schedule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Once the warm-up phase concludes, GPUs alternate: compute one forward pass, immediately compute one backward pass.   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Prioritizes backward passes to change the lifecycle of cached data.</a:t>
            </a: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920040" y="3280630"/>
            <a:ext cx="8115781" cy="3091726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6" name="AutoShape 6"/>
          <p:cNvSpPr/>
          <p:nvPr/>
        </p:nvSpPr>
        <p:spPr>
          <a:xfrm>
            <a:off x="369474" y="3680671"/>
            <a:ext cx="1409360" cy="70788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GPipe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20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(F-then-B)</a:t>
            </a:r>
          </a:p>
        </p:txBody>
      </p:sp>
      <p:sp>
        <p:nvSpPr>
          <p:cNvPr id="7" name="AutoShape 7"/>
          <p:cNvSpPr/>
          <p:nvPr/>
        </p:nvSpPr>
        <p:spPr>
          <a:xfrm>
            <a:off x="311766" y="5251883"/>
            <a:ext cx="1524776" cy="70788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PipeDream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20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(1F1B)</a:t>
            </a:r>
          </a:p>
        </p:txBody>
      </p:sp>
      <p:sp>
        <p:nvSpPr>
          <p:cNvPr id="8" name="AutoShape 8"/>
          <p:cNvSpPr/>
          <p:nvPr/>
        </p:nvSpPr>
        <p:spPr>
          <a:xfrm>
            <a:off x="10034786" y="2735266"/>
            <a:ext cx="1907895" cy="70788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0" i="0" u="none" strike="noStrik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Peak on-the-fly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Micro-batches</a:t>
            </a:r>
          </a:p>
        </p:txBody>
      </p:sp>
      <p:sp>
        <p:nvSpPr>
          <p:cNvPr id="9" name="AutoShape 9"/>
          <p:cNvSpPr/>
          <p:nvPr/>
        </p:nvSpPr>
        <p:spPr>
          <a:xfrm>
            <a:off x="10596693" y="3623809"/>
            <a:ext cx="885179" cy="4616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O(M)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639621" y="5413976"/>
            <a:ext cx="833883" cy="4616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O(K)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Pipeline Schedule Optimization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GPipe memory crisis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GPipe is strictly synchronous: all M forward passes must complete before </a:t>
            </a:r>
            <a:r>
              <a:rPr lang="en-US" sz="2000" b="0" i="1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any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backward pass begins.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Backward passes absolutely require intermediate activations.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Every pipeline stage must cache activations for </a:t>
            </a:r>
            <a:r>
              <a:rPr lang="en-US" sz="2000" b="0" i="1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all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M micro-batches simultaneously.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As M scales to shrink the bubble, activation memory scales linearly O(M), rapidly triggering OOM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596444" y="3680985"/>
            <a:ext cx="7713839" cy="304049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Pipeline Schedule Optimization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1F1B memory footprint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1F1B executes backward passes as early as mathematically possible.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Heavily cached activations are consumed for gradients and instantly discarded.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Max in-flight activations any GPU must store is strictly bounded by pipeline depth K, rather than M.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Decouples peak activation memory from micro-batch count, allowing infinite M scaling (memory permitting).</a:t>
            </a: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596444" y="3680985"/>
            <a:ext cx="7713839" cy="304049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Pipeline Schedule Optimization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  <a:blipFill rotWithShape="1">
            <a:blip r:embed="rId3"/>
            <a:stretch>
              <a:fillRect l="-1012" t="-2089"/>
            </a:stretch>
          </a:blipFill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334910" y="3946225"/>
            <a:ext cx="8821617" cy="264648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Limitations of 1F1B and Larger Batch Sizes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 achieve negligible bubble rates (&lt;5%), M must be exceedingly high.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Global batch size is mathematically constrained by optimizer convergence limits.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If global batch size is fixed, scaling M shrinks individual micro-batch sizes toward 1.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Small micro-batches underutilize modern GPU Tensor Cores, destroying arithmetic intensity.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novel schedule is required to reduce bubbles </a:t>
            </a:r>
            <a:r>
              <a:rPr lang="en-US" sz="2400" b="0" i="1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without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increasing M.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Interleaved 1F1B (Megatron-LM)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algn="l"/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837267" y="1481277"/>
            <a:ext cx="8293734" cy="27097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7" name="AutoShape 7"/>
          <p:cNvSpPr/>
          <p:nvPr/>
        </p:nvSpPr>
        <p:spPr>
          <a:xfrm>
            <a:off x="1424632" y="4699730"/>
            <a:ext cx="4052712" cy="70788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254000" indent="-254000" algn="l">
              <a:lnSpc>
                <a:spcPct val="100000"/>
              </a:lnSpc>
              <a:buClr>
                <a:srgbClr val="000000"/>
              </a:buClr>
              <a:buChar char="•"/>
              <a:defRPr/>
            </a:pPr>
            <a:r>
              <a:rPr lang="en-US" sz="20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One micro-batch will go through both GPU but only once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78102" y="4391954"/>
            <a:ext cx="4350809" cy="132343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254000" indent="-254000" algn="l">
              <a:lnSpc>
                <a:spcPct val="100000"/>
              </a:lnSpc>
              <a:buClr>
                <a:srgbClr val="000000"/>
              </a:buClr>
              <a:buChar char="•"/>
              <a:defRPr/>
            </a:pPr>
            <a:r>
              <a:rPr lang="en-US" sz="20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One micro batch will go through both GPU but now twice.</a:t>
            </a:r>
            <a:endParaRPr lang="en-US" sz="1100"/>
          </a:p>
          <a:p>
            <a:pPr marL="254000" indent="-2540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GPU are now busy working, just like we have two batches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Interleaved 1F1B (Megatron-LM)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Divides the model into a larger number of "virtual stages" (V stages per GPU).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GPU 1 is assigned Virtual Stage 1 (e.g., layers 1-2) and Virtual Stage 5 (e.g., layers 9-10) simultaneously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848485" y="2491105"/>
            <a:ext cx="8705850" cy="407924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Interleaved 1F1B (Megatron-LM)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  <a:blipFill rotWithShape="1">
            <a:blip r:embed="rId2"/>
            <a:stretch>
              <a:fillRect l="-1012" t="-1828"/>
            </a:stretch>
          </a:blipFill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Interleaved 1F1B (Megatron-LM)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Megatron-core recommends </a:t>
            </a:r>
            <a:r>
              <a:rPr lang="en-US" sz="24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Interleaved 1F1B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by default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#layers in virtual pipeline state typically set to 2-4.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746726" y="2268204"/>
            <a:ext cx="5697361" cy="4453272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Advanced PP: Zero-bubble Pipeline (ICLR’24)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Key insight: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Separate blocking and non-blocking computation to enable more flexible pipeline schedule.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28233" y="2381250"/>
            <a:ext cx="8712622" cy="379571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Advanced PP: Zero-bubble Pipeline (ICLR’24)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Small scale: Integer Linear Programming, for both memory and end-to-end makespan optimization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Large scale: heuristics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Less #PP communications than interleaved 1F1B, but similar/less bubbles.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41404" y="3429000"/>
            <a:ext cx="10571480" cy="3287889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Advanced PP: DeepSeek-V3 DualPipe (2025)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DeepSeek V3: https://arxiv.org/pdf/2412.19437v1, 2025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Sharding strategy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18845" y="1407653"/>
            <a:ext cx="5025784" cy="2389191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87958" y="3880521"/>
            <a:ext cx="11816084" cy="2281384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Advanced PP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https://selamjie.medium.com/the-frontier-of-pipeline-parallelism-an-overview-d4264cc9f877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652395" y="1132840"/>
            <a:ext cx="6536055" cy="504317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Solution: FlagOS, a Unified AI Software Stack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9535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40023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90511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9535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40023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90511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6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7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219842" y="251790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8" tooltip="https://github.com/flagos-ai"/>
              </a:rPr>
              <a:t>https://github.com/flagos-ai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015605" y="2341245"/>
            <a:ext cx="2882265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9" tooltip="https://space.bilibili.com/3546791834290849"/>
              </a:rPr>
              <a:t>https://space.bilibili.com/3546791834290849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19842" y="440385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0" tooltip="https://www.zhihu.com/people/95-22-20-18/posts"/>
              </a:rPr>
              <a:t>https://www.zhihu.com/people/95-22-20-18/posts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724722" y="4403854"/>
            <a:ext cx="2513958" cy="396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1" tooltip="https://flagos.io/Home"/>
              </a:rPr>
              <a:t>https://flagos.io/Home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7"/>
          </p:nvPr>
        </p:nvPicPr>
        <p:blipFill>
          <a:blip r:embed="rId2"/>
          <a:srcRect l="2306" r="230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5625465" y="2373630"/>
            <a:ext cx="5739130" cy="2664460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Thanks for your time！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母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母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818</Words>
  <Application>Microsoft Office PowerPoint</Application>
  <PresentationFormat>宽屏</PresentationFormat>
  <Paragraphs>125</Paragraphs>
  <Slides>26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26</vt:i4>
      </vt:variant>
    </vt:vector>
  </HeadingPairs>
  <TitlesOfParts>
    <vt:vector size="40" baseType="lpstr">
      <vt:lpstr>Noto Sans SC</vt:lpstr>
      <vt:lpstr>Pretendard</vt:lpstr>
      <vt:lpstr>微软雅黑</vt:lpstr>
      <vt:lpstr>文泉驿微米黑</vt:lpstr>
      <vt:lpstr>Arial</vt:lpstr>
      <vt:lpstr>Calibri</vt:lpstr>
      <vt:lpstr>Calibri Light</vt:lpstr>
      <vt:lpstr>Ebrima</vt:lpstr>
      <vt:lpstr>Garamond</vt:lpstr>
      <vt:lpstr>Montserrat SemiBold</vt:lpstr>
      <vt:lpstr>Wingdings 3</vt:lpstr>
      <vt:lpstr>Office 主题​​</vt:lpstr>
      <vt:lpstr>母版</vt:lpstr>
      <vt:lpstr>1_母版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Xiang Li</cp:lastModifiedBy>
  <cp:revision>41</cp:revision>
  <dcterms:created xsi:type="dcterms:W3CDTF">2026-04-21T01:52:00Z</dcterms:created>
  <dcterms:modified xsi:type="dcterms:W3CDTF">2026-05-27T10:18:40Z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EE3857BD207AEED703D2E6693413B488_42</vt:lpwstr>
  </property>
  <property fmtid="{D5CDD505-2E9C-101B-9397-08002B2CF9AE}" pid="3" name="KSOProductBuildVer">
    <vt:lpwstr>2052-12.1.0.21915</vt:lpwstr>
  </property>
</Properties>
</file>