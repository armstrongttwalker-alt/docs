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28"/>
  </p:notesMasterIdLst>
  <p:sldIdLst>
    <p:sldId id="279" r:id="rId4"/>
    <p:sldId id="496" r:id="rId5"/>
    <p:sldId id="497" r:id="rId6"/>
    <p:sldId id="498" r:id="rId7"/>
    <p:sldId id="499" r:id="rId8"/>
    <p:sldId id="500" r:id="rId9"/>
    <p:sldId id="501" r:id="rId10"/>
    <p:sldId id="502" r:id="rId11"/>
    <p:sldId id="503" r:id="rId12"/>
    <p:sldId id="504" r:id="rId13"/>
    <p:sldId id="505" r:id="rId14"/>
    <p:sldId id="506" r:id="rId15"/>
    <p:sldId id="507" r:id="rId16"/>
    <p:sldId id="508" r:id="rId17"/>
    <p:sldId id="509" r:id="rId18"/>
    <p:sldId id="510" r:id="rId19"/>
    <p:sldId id="511" r:id="rId20"/>
    <p:sldId id="512" r:id="rId21"/>
    <p:sldId id="513" r:id="rId22"/>
    <p:sldId id="514" r:id="rId23"/>
    <p:sldId id="515" r:id="rId24"/>
    <p:sldId id="333" r:id="rId25"/>
    <p:sldId id="334" r:id="rId26"/>
    <p:sldId id="335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线程同步开销比较大；单进程多线程；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是汇聚到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卡上算，不均衡；不支持多机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线程同步开销比较大；单进程多线程；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是汇聚到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卡上算，不均衡；不支持多机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略过过程，直接到结论，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Zero1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的通信量和普通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一样，每张卡都是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倍的参数量；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标准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</a:t>
            </a:r>
            <a:r>
              <a:rPr lang="en-US" sz="1200" b="0" i="0" u="none" strike="noStrike">
                <a:solidFill>
                  <a:srgbClr val="000000"/>
                </a:solidFill>
              </a:rPr>
              <a:t>：用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ReduceScatter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Allgather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两步完成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</a:t>
            </a:r>
            <a:r>
              <a:rPr lang="en-US" sz="1200" b="0" i="0" u="none" strike="noStrike">
                <a:solidFill>
                  <a:srgbClr val="000000"/>
                </a:solidFill>
              </a:rPr>
              <a:t>，正好是二倍的参数量。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Zero1: </a:t>
            </a:r>
            <a:r>
              <a:rPr lang="en-US" sz="1200" b="0" i="0" u="none" strike="noStrike">
                <a:solidFill>
                  <a:srgbClr val="191B1F"/>
                </a:solidFill>
              </a:rPr>
              <a:t>先用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ReduceScatter 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把梯度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Reduce 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到不同显卡上，每个显卡有一份平均后的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Gradient </a:t>
            </a:r>
            <a:r>
              <a:rPr lang="en-US" sz="1200" b="0" i="0" u="none" strike="noStrike">
                <a:solidFill>
                  <a:srgbClr val="191B1F"/>
                </a:solidFill>
              </a:rPr>
              <a:t>（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这里的一份代表的是每个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Device 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有一小份平均后的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Gradient</a:t>
            </a:r>
            <a:r>
              <a:rPr lang="en-US" sz="1200" b="0" i="0" u="none" strike="noStrike">
                <a:solidFill>
                  <a:srgbClr val="191B1F"/>
                </a:solidFill>
              </a:rPr>
              <a:t>），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利用这个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Gradient 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更新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Optimizer 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和参数，再把更新后的模型参数通过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 AllGather 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分发到所有显卡上，整体来看跟原来的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DP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保持一致。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191B1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Zero2: Zero1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相当于白存了很多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gradient</a:t>
            </a:r>
            <a:r>
              <a:rPr lang="en-US" sz="1200" b="0" i="0" u="none" strike="noStrike">
                <a:solidFill>
                  <a:srgbClr val="191B1F"/>
                </a:solidFill>
              </a:rPr>
              <a:t>？所以每次发过去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gradient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就可以；也是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倍参数量；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191B1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Zero3: </a:t>
            </a:r>
            <a:r>
              <a:rPr lang="en-US" sz="1200" b="0" i="0" u="none" strike="noStrike">
                <a:solidFill>
                  <a:srgbClr val="191B1F"/>
                </a:solidFill>
              </a:rPr>
              <a:t>在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Zero2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的基础上再切参数；增加了一次参数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all-gather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的参数量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还是以数据并行度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为例，假设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batchsize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1024</a:t>
            </a:r>
            <a:r>
              <a:rPr lang="en-US" sz="1200" b="0" i="0" u="none" strike="noStrike">
                <a:solidFill>
                  <a:srgbClr val="191B1F"/>
                </a:solidFill>
              </a:rPr>
              <a:t>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FSDP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步骤如下：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191B1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数据并行将数据拆分为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512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小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batch</a:t>
            </a:r>
            <a:r>
              <a:rPr lang="en-US" sz="1200" b="0" i="0" u="none" strike="noStrike">
                <a:solidFill>
                  <a:srgbClr val="191B1F"/>
                </a:solidFill>
              </a:rPr>
              <a:t>，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并送到两张卡的训练进程上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两个进程各自维护模型的一部分参数，利用自己的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512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数据进行前向和反向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模型前向时需要执行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all_gather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操作，以使每个进程拿到所有权重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模型反向时也需要执行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all_gather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拿到权重，以及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reduce_scatter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同步进程间的梯度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当内存不足时，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FSDP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还支持将梯度卸载到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CPU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最后使用同步后的梯度更新各自进程上的模型参数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还是以数据并行度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为例，假设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batchsize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1024</a:t>
            </a:r>
            <a:r>
              <a:rPr lang="en-US" sz="1200" b="0" i="0" u="none" strike="noStrike">
                <a:solidFill>
                  <a:srgbClr val="191B1F"/>
                </a:solidFill>
              </a:rPr>
              <a:t>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FSDP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步骤如下：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191B1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数据并行将数据拆分为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512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小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batch</a:t>
            </a:r>
            <a:r>
              <a:rPr lang="en-US" sz="1200" b="0" i="0" u="none" strike="noStrike">
                <a:solidFill>
                  <a:srgbClr val="191B1F"/>
                </a:solidFill>
              </a:rPr>
              <a:t>，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并送到两张卡的训练进程上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两个进程各自维护模型的一部分参数，利用自己的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512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数据进行前向和反向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模型前向时需要执行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all_gather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操作，以使每个进程拿到所有权重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模型反向时也需要执行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all_gather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拿到权重，以及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reduce_scatter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同步进程间的梯度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当内存不足时，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FSDP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还支持将梯度卸载到</a:t>
            </a: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CPU</a:t>
            </a: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</a:t>
            </a:r>
          </a:p>
          <a:p>
            <a:pPr marL="152400" indent="-152400" algn="l">
              <a:lnSpc>
                <a:spcPct val="100000"/>
              </a:lnSpc>
              <a:buClr>
                <a:srgbClr val="191B1F"/>
              </a:buClr>
              <a:buChar char="•"/>
            </a:pPr>
            <a:r>
              <a:rPr lang="en-US" sz="1200" b="0" i="0" u="none" strike="noStrike">
                <a:solidFill>
                  <a:srgbClr val="191B1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最后使用同步后的梯度更新各自进程上的模型参数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  <p:pic>
        <p:nvPicPr>
          <p:cNvPr id="10" name="图片 9" descr="/Users/jieran/Library/Containers/com.kingsoft.wpsoffice.mac/Data/tmp/picturecompress_20260414164557/output_1.pngoutput_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94650" y="196215"/>
            <a:ext cx="1017905" cy="42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nacap.fund/insights/exploring-the-landscape-of-large-language-models" TargetMode="External"/><Relationship Id="rId2" Type="http://schemas.openxmlformats.org/officeDocument/2006/relationships/hyperlink" Target="https://arxiv.org/abs/2001.08361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nemo/megatron-bridge/0.2.0/parallelisms.html" TargetMode="External"/><Relationship Id="rId7" Type="http://schemas.openxmlformats.org/officeDocument/2006/relationships/image" Target="../media/image13.png"/><Relationship Id="rId2" Type="http://schemas.openxmlformats.org/officeDocument/2006/relationships/hyperlink" Target="https://robotchinwag.com/posts/demystifying-tensor-parallelis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aclanthology.org/2023.acl-long.134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rxiv.org/html/2507.04786v1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ascend.com/developer/techArticles/20240809-1" TargetMode="External"/><Relationship Id="rId2" Type="http://schemas.openxmlformats.org/officeDocument/2006/relationships/hyperlink" Target="https://developer.nvidia.com/blog/scaling-ai-inference-performance-and-flexibility-with-nvidia-nvlink-and-nvlink-fusion/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ber.com/en-JP/blog/horovo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docs/stable/notes/ddp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utorials/intermediate/FSDP_tutorial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arxiv.org/abs/2304.11277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hyperlink" Target="https://docs.pytorch.org/tutorials/intermediate/FSDP_tutorial.html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hyperlink" Target="https://arxiv.org/abs/2304.11277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46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5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3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42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41.png"/><Relationship Id="rId9" Type="http://schemas.openxmlformats.org/officeDocument/2006/relationships/hyperlink" Target="https://space.bilibili.com/354679183429084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31: Communication Primitives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Scaling Law of LLMs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arxiv.org/abs/2001.08361"/>
              </a:rPr>
              <a:t>https://arxiv.org/abs/2001.08361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dnacap.fund/insights/exploring-the-landscape-of-large-language-models"/>
              </a:rPr>
              <a:t>https://dnacap.fund/insights/exploring-the-landscape-of-large-language-models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performance improves predictably as a power-law function of compute, data size, and parameter count.</a:t>
            </a:r>
          </a:p>
        </p:txBody>
      </p:sp>
      <p:sp>
        <p:nvSpPr>
          <p:cNvPr id="6" name="AutoShape 6"/>
          <p:cNvSpPr/>
          <p:nvPr/>
        </p:nvSpPr>
        <p:spPr>
          <a:xfrm>
            <a:off x="5004871" y="3839061"/>
            <a:ext cx="101822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NVL576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59984" y="2279475"/>
            <a:ext cx="7950345" cy="398718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computing systems are also scaling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Scale-up supernodes are on the rise…</a:t>
            </a:r>
          </a:p>
        </p:txBody>
      </p:sp>
      <p:sp>
        <p:nvSpPr>
          <p:cNvPr id="6" name="AutoShape 6"/>
          <p:cNvSpPr/>
          <p:nvPr/>
        </p:nvSpPr>
        <p:spPr>
          <a:xfrm>
            <a:off x="1736536" y="6051200"/>
            <a:ext cx="88998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NVL72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30342" y="1972453"/>
            <a:ext cx="2767286" cy="186791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5004871" y="3839061"/>
            <a:ext cx="101822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NVL576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21741" r="25207"/>
          <a:stretch>
            <a:fillRect/>
          </a:stretch>
        </p:blipFill>
        <p:spPr>
          <a:xfrm>
            <a:off x="7327622" y="1970934"/>
            <a:ext cx="3817186" cy="40473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0" name="AutoShape 10"/>
          <p:cNvSpPr/>
          <p:nvPr/>
        </p:nvSpPr>
        <p:spPr>
          <a:xfrm>
            <a:off x="8584644" y="6055877"/>
            <a:ext cx="140294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AMD Helios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30341" y="4461724"/>
            <a:ext cx="2767286" cy="155659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/>
          <p:nvPr/>
        </p:nvSpPr>
        <p:spPr>
          <a:xfrm>
            <a:off x="4196957" y="6048466"/>
            <a:ext cx="263405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Huawei CloudMatrix384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15055" r="12828"/>
          <a:stretch>
            <a:fillRect/>
          </a:stretch>
        </p:blipFill>
        <p:spPr>
          <a:xfrm>
            <a:off x="737193" y="1970934"/>
            <a:ext cx="2949262" cy="404738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Mapping LLMs on multiple GPUs/NPUs…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robotchinwag.com/posts/demystifying-tensor-parallelism/"/>
              </a:rPr>
              <a:t>https://robotchinwag.com/posts/demystifying-tensor-parallelism/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docs.nvidia.com/nemo/megatron-bridge/0.2.0/parallelisms.html"/>
              </a:rPr>
              <a:t>https://docs.nvidia.com/nemo/megatron-bridge/0.2.0/parallelisms.html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4" tooltip="https://aclanthology.org/2023.acl-long.134.pdf"/>
              </a:rPr>
              <a:t>https://aclanthology.org/2023.acl-long.134.pdf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Multi-dimension Parallelisms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36386" y="1681401"/>
            <a:ext cx="3431740" cy="156716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8886390" y="3236656"/>
            <a:ext cx="267287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Expert Parallelism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895" y="2330683"/>
            <a:ext cx="8005713" cy="316584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36386" y="3797409"/>
            <a:ext cx="3267530" cy="193061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0" name="AutoShape 10"/>
          <p:cNvSpPr/>
          <p:nvPr/>
        </p:nvSpPr>
        <p:spPr>
          <a:xfrm>
            <a:off x="8886390" y="5712659"/>
            <a:ext cx="267287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Sequence Parallelism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datapath in the AI systems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arxiv.org/html/2507.04786v1"/>
              </a:rPr>
              <a:t>https://arxiv.org/html/2507.04786v1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Scale-up: NVLINK, HCCS, Unified Bus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Scale-out: InifiniBand (IB), RoCE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3873" y="2763997"/>
            <a:ext cx="5418740" cy="32395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29505" y="1323975"/>
            <a:ext cx="5276429" cy="46795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357041" y="6017030"/>
            <a:ext cx="580563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Intra-node GPU communications via NVLINK or PCIe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52499" y="5996627"/>
            <a:ext cx="580563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Inter-node communications via RDMA NIC (IB)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Collective v.s. Point-to-point communications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eveloper.nvidia.com/blog/scaling-ai-inference-performance-and-flexibility-with-nvidia-nvlink-and-nvlink-fusion/"/>
              </a:rPr>
              <a:t>https://developer.nvidia.com/blog/scaling-ai-inference-performance-and-flexibility-with-nvidia-nvlink-and-nvlink-fusion/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www.hiascend.com/developer/techArticles/20240809-1"/>
              </a:rPr>
              <a:t>https://www.hiascend.com/developer/techArticles/20240809-1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Collective operations involve communication among a group of processes rather than just between pairs of processes. e.g., AllReduce, AllGather, Broadcast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Point-to-point: Send/Recv (Two-side), Put/Get (One-side)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62850" y="2739080"/>
            <a:ext cx="3464379" cy="333469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4771" y="3227888"/>
            <a:ext cx="4541317" cy="230613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Broadcast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copy an N-element buffer from the root rank (2) to all the ranks (0-3).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48758" y="2678339"/>
            <a:ext cx="8255000" cy="2540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performs reduction on data (for example, sum, min, max) across devices and stores the result in the receive buffer of a specified root rank.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68500" y="2779486"/>
            <a:ext cx="8255000" cy="2540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Gather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gathers N values from k ranks into an output buffer on the root rank of size k*N.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85472" y="2660650"/>
            <a:ext cx="8255000" cy="260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Scatter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distributes a total of N*k values from the root rank to k ranks, each rank receiving N values.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68500" y="2714171"/>
            <a:ext cx="8255000" cy="2540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AllReduce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performs reductions on data (for example, sum, min, max) across devices and stores the result in the receive buffer of every rank.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68500" y="2768600"/>
            <a:ext cx="8255000" cy="2540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AllGather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gathers N values from k ranks into an output buffer of size k*N, and distributes that result to all ranks.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output is ordered by the rank index.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operation is therefore impacted by a different rank to device mapping.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68500" y="3429000"/>
            <a:ext cx="8255000" cy="260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ReduceScatter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performs the same operation as Reduce, except that the result is scattered in equal-sized blocks between ranks, each rank getting a chunk of data based on its rank index.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operation is therefore impacted by a different rank to device mapping.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68500" y="3291115"/>
            <a:ext cx="8255000" cy="2540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AlltoAll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2" tooltip="https://docs.nvidia.com/deeplearning/nccl/user-guide/docs/usage/collectives.html"/>
              </a:rPr>
              <a:t>https://docs.nvidia.com/deeplearning/nccl/user-guide/docs/usage/collectives.html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Operations: each rank provides an input buffer of size N values, where the j-th chunk of N/k values is sent to destination rank j. Each rank receives an output buffer of size N values, where the i-th chunk of N/k values comes from source rank i.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68500" y="3429000"/>
            <a:ext cx="8255000" cy="260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FSDP (PyTorch)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3" tooltip="https://www.uber.com/en-JP/blog/horovod/"/>
              </a:rPr>
              <a:t>https://www.uber.com/en-JP/blog/horovod/</a:t>
            </a: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DP, DDP, FSDP: Data Parallelism, Distributed DP, Fully Sharded DP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is DP: multiple model copies on different devices.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84162" y="3550510"/>
            <a:ext cx="3017980" cy="24712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1403564" y="6021755"/>
            <a:ext cx="2196370" cy="4001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Inference is simple.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299891" y="2401669"/>
            <a:ext cx="6218740" cy="402019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13290" y="2629719"/>
            <a:ext cx="4648200" cy="889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>
            <a:off x="8970380" y="2338086"/>
            <a:ext cx="682906" cy="4083779"/>
          </a:xfrm>
          <a:prstGeom prst="rect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66816" y="6421865"/>
            <a:ext cx="210179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 operators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FSDP (PyTorch)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 https://docs.pytorch.org/docs/stable/notes/ddp.html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DP, DDP, FSDP: Data Parallelism, Distributed DP, Fully Sharded DP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DDP is recommended: optimized all-reduce (ring-based) + distributed support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DP: reduce op is executed on node 0 (imbalance); DDP: ring-based all-reduce.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DDP: robust multi-process support.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94400" y="3120880"/>
            <a:ext cx="6017865" cy="28396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100" y="3980657"/>
            <a:ext cx="5575300" cy="1524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FSDP (PyTorch)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 https://docs.pytorch.org/docs/stable/notes/ddp.html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59117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DP, DDP, FSDP: Data Parallelism, Distributed DP, Fully Sharded DP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Before FSDP, we profile the memory utilization during the LLM training.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params account for only a portion of the 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total memory consumption during training.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 need to consider </a:t>
            </a:r>
            <a:r>
              <a:rPr lang="en-US" sz="2000" b="0" i="0" u="sng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optimizer states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</a:t>
            </a:r>
            <a:r>
              <a:rPr lang="en-US" sz="2000" b="0" i="0" u="sng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gradients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Idea: removing redundant data.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(Zero Redundancy Optimizer).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12325" y="2323879"/>
            <a:ext cx="5679675" cy="37404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FSDP (PyTorch)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3" tooltip="https://docs.pytorch.org/docs/stable/notes/ddp.html"/>
              </a:rPr>
              <a:t>https://docs.pytorch.org/docs/stable/notes/ddp.html</a:t>
            </a:r>
            <a:endParaRPr lang="en-US" sz="1400" b="0" i="0" u="none" strike="noStrike">
              <a:solidFill>
                <a:srgbClr val="A5A5A5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[2] https://www.youtube.com/watch?v=czgA-MbAdvA&amp;t=2550s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DP, DDP, FSDP: Data Parallelism, Distributed DP, Fully Sharded DP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with different opt levels: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ZeRO-1: Shards the optimizer states (Optimizer States Sharding).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ZeRO-2: Shards both optimizer states and gradients (Optimizer States &amp; Gradients Sharding).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ZeRO-3: Shards the optimizer states, gradients, and model parameters (Optimizer States &amp; Gradients &amp; Parameters Sharding).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69165" y="3581400"/>
            <a:ext cx="6382947" cy="284497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184785" y="4650105"/>
            <a:ext cx="5483860" cy="10147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0" i="0" u="sng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ZeRO3 will introduce the extra communications because of the partitions of model parameters.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86356" y="6344809"/>
            <a:ext cx="610564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 denotes the memory multiplier of the optimizer states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FSDP (PyTorch)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3" tooltip="https://docs.pytorch.org/tutorials/intermediate/FSDP_tutorial.html"/>
              </a:rPr>
              <a:t>https://docs.pytorch.org/tutorials/intermediate/FSDP_tutorial.html</a:t>
            </a:r>
            <a:endParaRPr lang="en-US" sz="1400" b="0" i="0" u="none" strike="noStrike">
              <a:solidFill>
                <a:srgbClr val="A5A5A5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4" tooltip="https://arxiv.org/abs/2304.11277"/>
              </a:rPr>
              <a:t>https://arxiv.org/abs/2304.11277</a:t>
            </a:r>
            <a:r>
              <a:rPr lang="en-US" sz="1400" b="0" i="0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DP, DDP, FSDP: Data Parallelism, Distributed DP, Fully Sharded DP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FSDP: sharding model parameters/gradient/optimizer states for GPU memory reduction (ZeRO3).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9550" y="2788751"/>
            <a:ext cx="7898291" cy="3567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389937" y="3541852"/>
            <a:ext cx="3802063" cy="208766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8939988" y="5669770"/>
            <a:ext cx="2701958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 =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Reduce-scatter + all-gather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22428" y="3970116"/>
            <a:ext cx="751730" cy="902826"/>
          </a:xfrm>
          <a:prstGeom prst="rect">
            <a:avLst/>
          </a:prstGeom>
          <a:noFill/>
          <a:ln w="12700" cap="flat">
            <a:solidFill>
              <a:srgbClr val="FF0000">
                <a:alpha val="100000"/>
              </a:srgbClr>
            </a:solidFill>
            <a:prstDash val="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Implementations of collective communication op.s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docs.pytorch.org/tutorials/intermediate/FSDP_tutorial.html"/>
              </a:rPr>
              <a:t>https://docs.pytorch.org/tutorials/intermediate/FSDP_tutorial.html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4" tooltip="https://arxiv.org/abs/2304.11277"/>
              </a:rPr>
              <a:t>https://arxiv.org/abs/2304.11277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0734" y="1343025"/>
            <a:ext cx="3116417" cy="171118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419100" y="3186033"/>
            <a:ext cx="415968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 = Reduce-scatter + all-gather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28868" y="3554049"/>
            <a:ext cx="3740149" cy="22097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1696383" y="5758487"/>
            <a:ext cx="1605119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 All-reduce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7463045" y="1343025"/>
            <a:ext cx="3740149" cy="1960850"/>
            <a:chOff x="7463045" y="1343025"/>
            <a:chExt cx="3740149" cy="196085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7463045" y="1343025"/>
              <a:ext cx="3740149" cy="1960850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12" name="AutoShape 12"/>
            <p:cNvSpPr/>
            <p:nvPr/>
          </p:nvSpPr>
          <p:spPr>
            <a:xfrm>
              <a:off x="10516721" y="1374429"/>
              <a:ext cx="644848" cy="1096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7960788" y="3322541"/>
            <a:ext cx="274466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GPU CLOS Topology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368928" y="3710539"/>
            <a:ext cx="3928383" cy="22097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7680263" y="5759286"/>
            <a:ext cx="330571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HUAWEI NPU Full-mesh Topology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54466" y="2736607"/>
            <a:ext cx="2744663" cy="1827193"/>
          </a:xfrm>
          <a:prstGeom prst="rect">
            <a:avLst/>
          </a:prstGeom>
          <a:solidFill>
            <a:srgbClr val="DAE3F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  <a:p>
            <a:pPr indent="0" algn="ctr">
              <a:lnSpc>
                <a:spcPct val="100000"/>
              </a:lnSpc>
            </a:pPr>
            <a:endParaRPr lang="en-US" sz="1100"/>
          </a:p>
          <a:p>
            <a:pPr indent="0" algn="ctr">
              <a:lnSpc>
                <a:spcPct val="100000"/>
              </a:lnSpc>
            </a:pP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921874" y="3075677"/>
            <a:ext cx="610913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implementations 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highly depends on </a:t>
            </a: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hardware topology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1552</Words>
  <Application>Microsoft Office PowerPoint</Application>
  <PresentationFormat>宽屏</PresentationFormat>
  <Paragraphs>180</Paragraphs>
  <Slides>24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-apple-system</vt:lpstr>
      <vt:lpstr>Noto Sans SC</vt:lpstr>
      <vt:lpstr>Pretendard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Office 主题​​</vt:lpstr>
      <vt:lpstr>母版</vt:lpstr>
      <vt:lpstr>1_母版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41</cp:revision>
  <dcterms:created xsi:type="dcterms:W3CDTF">2026-04-21T01:52:00Z</dcterms:created>
  <dcterms:modified xsi:type="dcterms:W3CDTF">2026-05-27T10:18:43Z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EE3857BD207AEED703D2E6693413B488_42</vt:lpwstr>
  </property>
  <property fmtid="{D5CDD505-2E9C-101B-9397-08002B2CF9AE}" pid="3" name="KSOProductBuildVer">
    <vt:lpwstr>2052-12.1.0.21915</vt:lpwstr>
  </property>
</Properties>
</file>