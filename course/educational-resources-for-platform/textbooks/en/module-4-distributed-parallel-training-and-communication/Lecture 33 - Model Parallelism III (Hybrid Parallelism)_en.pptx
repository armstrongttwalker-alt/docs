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sldIdLst>
    <p:sldId id="279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333" r:id="rId20"/>
    <p:sldId id="334" r:id="rId21"/>
    <p:sldId id="33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0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7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6.png"/><Relationship Id="rId9" Type="http://schemas.openxmlformats.org/officeDocument/2006/relationships/hyperlink" Target="https://space.bilibili.com/354679183429084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33: Model Parallelism III</a:t>
            </a:r>
            <a:b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(Hybrid Parallelism)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Hybrid Parallelism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3D Parallelism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5D Parallelism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Automatic Model Parallelism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FlexFLow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Alpa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Etc.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Mathematical Orthogonality of Hybrid Parallelism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https://www.microsoft.com/en-us/research/blog/deepspeed-extreme-scale-model-training-for-everyone/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22554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Orthogonal Axes: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DP (batch), TP (intra-layer/hidden dims), PP (inter-layer/depth).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Scaling Wall: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Isolated paradigms fail. DP hits memory limits; TP hits network bottlenecks; PP requires massive micro-batches, exploding memory.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Resource Scaling: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Multiplicative combination: 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Synergy: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TP reduces layer memory -&gt; fits larger micro-batches -&gt; lowers PP bubble ratio.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51135" y="2053836"/>
            <a:ext cx="5329743" cy="307823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3D Parallelism System Architecture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Symbiosis: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Nests DP, PP, and TP to match data center topologies.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Inner Loop (TP):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Confined to a single node via NVLink for heavy MatMul communication.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Intermediate Loop (PP):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Scales across nodes via RDMA for low-bandwidth stage boundaries.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Outer Loop (DP):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Wraps TP+PP logically, scaling globally for massive batch throughput.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39763" y="3553431"/>
          <a:ext cx="10912474" cy="271322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8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385"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Parallelism Dimension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Execution Granularity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Communication Primitive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Physical Mapping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Tensor (TP)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Intra-layer Operations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Dense All-Reduce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Intra-Node (NVLink)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Pipeline (PP)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Inter-layer Stages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Peer-to-Peer Send/Recv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Inter-Node (InfiniBand)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Data (DP)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Global Batch Replicas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Sparse All-Reduce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Global Cluster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Study: Megatron-Turing NLG 530B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https://developer.nvidia.com/blog/using-deepspeed-and-megatron-to-train-megatron-turing-nlg-530b-the-worlds-largest-and-most-powerful-generative-language-model/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09854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530B parameters, 105 layers, requiring &gt;10 TB aggregate HBM.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NVIDIA Selene Supercomputer (4480 A100 GPUs via NVSwitch/InfiniBand).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3D Configuration: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8-way TP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(intra-node) x </a:t>
            </a: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35-way PP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(inter-node) = 280 GPUs per model replica.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16-way DP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globally (280 x 16 = 4480 GPUs).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Result: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Global batch size of 1920, sustaining a historic 113 teraFLOP/s per GPU.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21723" r="20112"/>
          <a:stretch>
            <a:fillRect/>
          </a:stretch>
        </p:blipFill>
        <p:spPr>
          <a:xfrm>
            <a:off x="6679095" y="1311942"/>
            <a:ext cx="4797288" cy="46384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Cost and Power Formulation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AutoShape 5"/>
              <p:cNvSpPr>
                <a:spLocks noGrp="1"/>
              </p:cNvSpPr>
              <p:nvPr>
                <p:ph type="body" sz="quarter" idx="9" hasCustomPrompt="1"/>
              </p:nvPr>
            </p:nvSpPr>
            <p:spPr>
              <a:prstGeom prst="rect">
                <a:avLst/>
              </a:prstGeom>
            </p:spPr>
            <p:txBody>
              <a:bodyPr wrap="square" lIns="91440" tIns="45720" rIns="91440" bIns="45720" anchor="t">
                <a:normAutofit lnSpcReduction="10000"/>
              </a:bodyPr>
              <a:lstStyle>
                <a:lvl1pPr algn="l">
                  <a:lnSpc>
                    <a:spcPct val="100000"/>
                  </a:lnSpc>
                  <a:defRPr sz="2400" b="1" i="0" u="none" strike="noStrike" spc="0">
                    <a:solidFill>
                      <a:srgbClr val="404040">
                        <a:alpha val="100000"/>
                      </a:srgbClr>
                    </a:solidFill>
                    <a:latin typeface="Calibri" panose="020F0502020204030204"/>
                  </a:defRPr>
                </a:lvl1pPr>
              </a:lstStyle>
              <a:p>
                <a:pPr marL="304800" indent="-304800" algn="l">
                  <a:lnSpc>
                    <a:spcPct val="100000"/>
                  </a:lnSpc>
                  <a:spcBef>
                    <a:spcPts val="1500"/>
                  </a:spcBef>
                  <a:buClr>
                    <a:srgbClr val="404040"/>
                  </a:buClr>
                  <a:buChar char="•"/>
                </a:pPr>
                <a:r>
                  <a:rPr lang="en-US" sz="2400" b="1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Effective Computing Power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b="1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):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1500"/>
                  </a:spcBef>
                </a:pPr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				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1500"/>
                  </a:spcBef>
                </a:pPr>
                <a:r>
                  <a:rPr lang="en-US" sz="2000" b="0" i="1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		</a:t>
                </a:r>
                <a:r>
                  <a:rPr lang="en-US" sz="2000" i="1" dirty="0">
                    <a:sym typeface="+mn-ea"/>
                  </a:rPr>
                  <a:t>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>
                    <a:sym typeface="+mn-ea"/>
                  </a:rPr>
                  <a:t> = GPU power,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i="1" dirty="0">
                    <a:sym typeface="+mn-ea"/>
                  </a:rPr>
                  <a:t> = binary assignment,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>
                    <a:sym typeface="+mn-ea"/>
                  </a:rPr>
                  <a:t> = PP bubble ratio).</a:t>
                </a:r>
                <a:endParaRPr lang="en-US" sz="2000" dirty="0"/>
              </a:p>
              <a:p>
                <a:pPr marL="304800" indent="-304800" algn="l">
                  <a:lnSpc>
                    <a:spcPct val="100000"/>
                  </a:lnSpc>
                  <a:spcBef>
                    <a:spcPts val="1500"/>
                  </a:spcBef>
                  <a:buClr>
                    <a:srgbClr val="404040"/>
                  </a:buClr>
                  <a:buChar char="•"/>
                </a:pPr>
                <a:r>
                  <a:rPr lang="en-US" sz="2400" b="1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Objective:</a:t>
                </a:r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Maximize  to prevent global synchronization stragglers.</a:t>
                </a:r>
              </a:p>
              <a:p>
                <a:pPr marL="304800" indent="-304800" algn="l">
                  <a:lnSpc>
                    <a:spcPct val="100000"/>
                  </a:lnSpc>
                  <a:spcBef>
                    <a:spcPts val="1500"/>
                  </a:spcBef>
                  <a:buClr>
                    <a:srgbClr val="404040"/>
                  </a:buClr>
                  <a:buChar char="•"/>
                </a:pPr>
                <a:r>
                  <a:rPr lang="en-US" sz="2400" b="1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Constraints:</a:t>
                </a:r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Bound by GPU memory limits  and TP communication costs.</a:t>
                </a:r>
              </a:p>
              <a:p>
                <a:pPr marL="304800" indent="-304800" algn="l">
                  <a:lnSpc>
                    <a:spcPct val="100000"/>
                  </a:lnSpc>
                  <a:spcBef>
                    <a:spcPts val="1500"/>
                  </a:spcBef>
                  <a:buClr>
                    <a:srgbClr val="404040"/>
                  </a:buClr>
                  <a:buChar char="•"/>
                </a:pPr>
                <a:r>
                  <a:rPr lang="en-US" sz="2400" b="1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Execution:</a:t>
                </a:r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Integer-Linear Programming (ILP) solvers calculate optimal DP/TP/PP ratios pre-training.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1500"/>
                  </a:spcBef>
                </a:pPr>
                <a:r>
                  <a:rPr lang="en-US" sz="2400" b="0" i="0" u="none" strike="noStrike">
                    <a:solidFill>
                      <a:srgbClr val="40404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 </a:t>
                </a:r>
              </a:p>
            </p:txBody>
          </p:sp>
        </mc:Choice>
        <mc:Fallback xmlns="">
          <p:sp>
            <p:nvSpPr>
              <p:cNvPr id="5" name="AutoShape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9" hasCustomPrompt="1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Expanding to 4D and 5D Parallelism: CP and EP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93420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Catalyst: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Massive sequence lengths and Mixture of Experts (MoE) break 3D parallelism.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Context Parallelism (CP):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Partitions tokens across GPUs, exchanging KV states via ring protocols to prevent sequence-induced OOM.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Expert Parallelism (EP):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Uses All-to-All routing to dynamically dispatch tokens to discrete MoE experts.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5D Formula: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TotalGPUs = TP x CP x EP x PP x DP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Outcome: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Fractures every bottleneck (dense weights, batch throughput, infinite context, sparse compute).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33252" y="1441174"/>
            <a:ext cx="4356652" cy="435665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Overcoming ZeRO and Pipeline Integration Bottlenecks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Conflict: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ZeRO-3's dynamic All-Gather parameter fetching clashes with PP's high-frequency micro-batch switching.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Problem: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Causes a network storm of repeated parameter communications.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ZeroPP Solution: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Introduces a blockwise task-interleaved PP schedule.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Mechanism: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Batches micro-computations per layer before dropping weights, slashing network calls while preserving memory.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Paradigm Shift to Automatic Model Parallelism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Manual Brittleness: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Hardcoding primitives (All-Reduce) fails when transitioning to new architectures or asymmetric hardware.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 Model Parallelism (AMP):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Abstracts distribution logic into a compiler optimization problem.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Mechanism: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Represents the neural network as a computation DAG and the hardware as a topology graph to automatically search for optimal sharding.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Impact: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AI researchers write single-device code; compilers synthesize n-dimensional execution plans.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Defining the Search Space: The SOAP Framework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https://arxiv.org/pdf/1807.05358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57034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FlexFlow's SOAP Dimensions: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Sample: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DP (batch partitioning).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Operation: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PP (graph node distribution).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Attribute: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CP (sequence/image feature partitioning).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Parameter: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TP (weight matrix slicing).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Search Engine: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Uses Markov Chain Monte Carlo (MCMC) to explore the vast configuration space.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Oracle Simulator: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Predicts strategy performance in milliseconds instead of hours, discovering non-intuitive plans up to 3.3x faster than manual tuning.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63020" y="1500257"/>
            <a:ext cx="4538454" cy="421657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Hierarchical Space Search in Alpa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https://arxiv.org/pdf/2201.12023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11441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Scaling Issue: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Flat MCMC searches fail at 100B+ parameters due to exponential complexity.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Alpa's Hierarchy: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Restructures the search to mirror physical data center bandwidths: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Level 1 (Intra-op):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ILP solves TP/DP assignments within high-bandwidth "device meshes" (intra-node).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Level 2 (Inter-op):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Dynamic Programming solves PP staging across distant meshes (inter-node).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Result: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Outperforms specialized manual systems (e.g., DeepSpeed) by up to 9.7x on complex MoE models.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74526" y="1993125"/>
            <a:ext cx="5355020" cy="35026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Compiler-Based SPMD Parallelization (GSPMD)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https://arxiv.org/abs/2105.04663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42734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83000"/>
              </a:lnSpc>
              <a:defRPr sz="22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SPMD Paradigm: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Essential for scaling; compiling unique programs per GPU is computationally catastrophic.</a:t>
            </a:r>
          </a:p>
          <a:p>
            <a:pPr marL="279400" indent="-279400" algn="l">
              <a:lnSpc>
                <a:spcPct val="10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API Abstraction: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Developers write single-device JAX/TF code with sparse NamedSharding hints.</a:t>
            </a:r>
          </a:p>
          <a:p>
            <a:pPr marL="279400" indent="-279400" algn="l">
              <a:lnSpc>
                <a:spcPct val="10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XLA Completion Pass: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GSPMD propagates user annotations forward and backward through the graph.</a:t>
            </a:r>
          </a:p>
          <a:p>
            <a:pPr marL="279400" indent="-279400" algn="l">
              <a:lnSpc>
                <a:spcPct val="10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Automated Deduction: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Algorithmically deduces optimal sharding for all unannotated intermediate tensors, achieving up to 62% utilization on 2048 TPU cores.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453832"/>
            <a:ext cx="5947410" cy="35543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Joint Optimization of Algebra and Parallelism (Unity)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https://www.usenix.org/system/files/osdi22-unger.pdf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13918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2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Sequential Flaw: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Standard compilers fuse operators </a:t>
            </a:r>
            <a:r>
              <a:rPr lang="en-US" sz="22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before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parallelizing, which can lock out efficient network strategies.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Unity's Innovation: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Jointly optimizes algebraic fusions and parallelization simultaneously via mathematical graph substitutions.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Counter-Intuitive Strategies: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Unity may selectively </a:t>
            </a:r>
            <a:r>
              <a:rPr lang="en-US" sz="2200" b="0" i="1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unfuse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operations to enable faster communication patterns.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Performance:</a:t>
            </a: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Yields up to 3.6x throughput speedups over traditional sequential distributed frameworks.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84671" y="2017252"/>
            <a:ext cx="5105400" cy="34544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System-Level Hybrid Strategy Search (Galvatron)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Production Focus: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Tailored for massive Transformers, explicitly integrating Activation Checkpointing and ZeRO offloading.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Two-Step Workflow: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Decision Tree: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Prunes mathematically impossible strategies based on strict hardware memory budgets.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Programming: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Assigns optimal parallelism layer-by-layer.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Accurate Cost Modeling: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Uniquely accounts for GPU performance drops caused by compute/communication overlap.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15839" y="4505325"/>
          <a:ext cx="9313072" cy="14833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28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Feature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FlexFlow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Alpa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Galvatron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Search Space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MCMC (SOAP)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ILP + Dynamic Programming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Decision Tree + DP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Granularity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Operator Level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Intra-op vs Inter-op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Layer-wise assignments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Optimization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Multi-dim Tensor Slicing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Bandwidth Hierarchy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5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Checkpointing Integration</a:t>
                      </a:r>
                      <a:endParaRPr lang="en-US" sz="1100"/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Future of Distributed Training Frameworks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Trajectory: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Moving from imperative manual engineering to declarative, fully automated compilation.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Scheduling: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Evolving beyond LLM-centric limits (e.g., FlexPipe for programmable PP, Pfeife for non-sequential models).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Heterogeneous Training: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Orchestrators will dynamically adapt to clusters with asymmetric memory/bandwidth profiles.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Ultimate Goal: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Virtualizing hardware to democratize trillion-parameter AI, making extreme-scale training an out-of-the-box process.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宽屏</PresentationFormat>
  <Paragraphs>148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Cambria Math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