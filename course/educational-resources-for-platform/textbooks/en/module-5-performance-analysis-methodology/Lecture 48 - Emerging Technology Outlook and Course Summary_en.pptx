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543" r:id="rId4"/>
    <p:sldId id="544" r:id="rId5"/>
    <p:sldId id="545" r:id="rId6"/>
    <p:sldId id="546" r:id="rId7"/>
    <p:sldId id="547" r:id="rId8"/>
    <p:sldId id="548" r:id="rId9"/>
    <p:sldId id="549" r:id="rId10"/>
    <p:sldId id="550" r:id="rId11"/>
    <p:sldId id="551" r:id="rId12"/>
    <p:sldId id="552" r:id="rId13"/>
    <p:sldId id="553" r:id="rId14"/>
    <p:sldId id="554" r:id="rId15"/>
    <p:sldId id="365" r:id="rId16"/>
    <p:sldId id="366" r:id="rId17"/>
    <p:sldId id="32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内容：回顾 FlagOS 体系，探讨 AI 系统软件的未来（WebGPU, MoE, TPU 等）。FlagOS 结合： 展望 FlagOS-Robo (具身智能工具包) 等新兴方向。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Image: GPU compute resources severely wasted while “waiting for external environment feedback”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1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space.bilibili.com/354679183429084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48: Emerging Technology Outlook and Course Summary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Towards Sustainable AI and AGI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the previous lecture notes: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1: Fundamentals of AI System and Heterogeneous Computing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2: High-Performance AI Operators and Operator Engineering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3: Principles and Optimization of AI Compilers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4: Distributed Parallel Training &amp; Inference and Communication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5: Performance Evaluation and AI-assisted Kernel Generation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Driving Forces in the Near Future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Scaling law (pre-train, post-train, test-time)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Agentic workflow and multi-agent system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Embodied AI and world models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Need Design-for-10X AI System &amp; Software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 source: nvidia.com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Pre-train scaling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Post-train scaling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Test-time scaling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01210" y="1323975"/>
            <a:ext cx="7200000" cy="405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Challenges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does the bottleneck persist after Moore's Law slows down?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Memory: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bandwidth grows far more slowly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GPUs spend significant time waiting for data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Power: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Dennard Scaling ended around 2005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Interconnect: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Multi-GPU comm &gt; 30% of training time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21335" y="4535170"/>
            <a:ext cx="3649980" cy="1642110"/>
            <a:chOff x="521335" y="4535170"/>
            <a:chExt cx="3649980" cy="1642110"/>
          </a:xfrm>
        </p:grpSpPr>
        <p:sp>
          <p:nvSpPr>
            <p:cNvPr id="7" name="AutoShape 7"/>
            <p:cNvSpPr/>
            <p:nvPr/>
          </p:nvSpPr>
          <p:spPr>
            <a:xfrm>
              <a:off x="521335" y="4535170"/>
              <a:ext cx="3649980" cy="1642110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521335" y="4535170"/>
              <a:ext cx="3649980" cy="45720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46216" y="4572000"/>
              <a:ext cx="3471932" cy="3841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400" b="1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Memory Wall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46216" y="5083810"/>
              <a:ext cx="3471932" cy="65849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3400" b="1" i="0" u="none" strike="noStrike">
                  <a:solidFill>
                    <a:srgbClr val="8B0012"/>
                  </a:solidFill>
                  <a:latin typeface="Calibri Light" panose="020F0302020204030204"/>
                  <a:ea typeface="Calibri Light" panose="020F0302020204030204"/>
                  <a:cs typeface="Calibri Light" panose="020F0302020204030204"/>
                  <a:sym typeface="Calibri Light" panose="020F0302020204030204"/>
                </a:rPr>
                <a:t>~2% / yr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46216" y="5723890"/>
              <a:ext cx="3471932" cy="2559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1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DRAM bandwidth annual growth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46216" y="6016625"/>
              <a:ext cx="3382908" cy="13970"/>
            </a:xfrm>
            <a:prstGeom prst="rect">
              <a:avLst/>
            </a:prstGeom>
            <a:solidFill>
              <a:srgbClr val="DDDDDD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63390" y="4535170"/>
            <a:ext cx="3649980" cy="1679575"/>
            <a:chOff x="4263390" y="4535170"/>
            <a:chExt cx="3649980" cy="1679575"/>
          </a:xfrm>
        </p:grpSpPr>
        <p:sp>
          <p:nvSpPr>
            <p:cNvPr id="14" name="AutoShape 14"/>
            <p:cNvSpPr/>
            <p:nvPr/>
          </p:nvSpPr>
          <p:spPr>
            <a:xfrm>
              <a:off x="4263390" y="4535170"/>
              <a:ext cx="3649980" cy="167957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4263390" y="4535170"/>
              <a:ext cx="3649980" cy="467631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4388271" y="4572840"/>
              <a:ext cx="3471932" cy="3929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400" b="1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Power Wall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4388271" y="5096327"/>
              <a:ext cx="3471932" cy="67351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3400" b="1" i="0" u="none" strike="noStrike">
                  <a:solidFill>
                    <a:srgbClr val="8B0012"/>
                  </a:solidFill>
                  <a:latin typeface="Calibri Light" panose="020F0302020204030204"/>
                  <a:ea typeface="Calibri Light" panose="020F0302020204030204"/>
                  <a:cs typeface="Calibri Light" panose="020F0302020204030204"/>
                  <a:sym typeface="Calibri Light" panose="020F0302020204030204"/>
                </a:rPr>
                <a:t>700 W+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388271" y="5751011"/>
              <a:ext cx="3471932" cy="2617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1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H100 SXM single-card TDP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388271" y="6050425"/>
              <a:ext cx="3382908" cy="14289"/>
            </a:xfrm>
            <a:prstGeom prst="rect">
              <a:avLst/>
            </a:prstGeom>
            <a:solidFill>
              <a:srgbClr val="DDDDDD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88300" y="4535170"/>
            <a:ext cx="3649980" cy="1679575"/>
            <a:chOff x="7988300" y="4535170"/>
            <a:chExt cx="3649980" cy="1679575"/>
          </a:xfrm>
        </p:grpSpPr>
        <p:sp>
          <p:nvSpPr>
            <p:cNvPr id="21" name="AutoShape 21"/>
            <p:cNvSpPr/>
            <p:nvPr/>
          </p:nvSpPr>
          <p:spPr>
            <a:xfrm>
              <a:off x="7988300" y="4535170"/>
              <a:ext cx="3649980" cy="167957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7988300" y="4535170"/>
              <a:ext cx="3649980" cy="467631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8113181" y="4572840"/>
              <a:ext cx="3471932" cy="3929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400" b="1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Interconnect Wall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8113181" y="5096327"/>
              <a:ext cx="3471932" cy="67351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3400" b="1" i="0" u="none" strike="noStrike">
                  <a:solidFill>
                    <a:srgbClr val="8B0012"/>
                  </a:solidFill>
                  <a:latin typeface="Calibri Light" panose="020F0302020204030204"/>
                  <a:ea typeface="Calibri Light" panose="020F0302020204030204"/>
                  <a:cs typeface="Calibri Light" panose="020F0302020204030204"/>
                  <a:sym typeface="Calibri Light" panose="020F0302020204030204"/>
                </a:rPr>
                <a:t>400 GB/s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8113181" y="5751011"/>
              <a:ext cx="3471932" cy="2617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1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PCIe 5.0 peak bandwidth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8113181" y="6050425"/>
              <a:ext cx="3382908" cy="14289"/>
            </a:xfrm>
            <a:prstGeom prst="rect">
              <a:avLst/>
            </a:prstGeom>
            <a:solidFill>
              <a:srgbClr val="DDDDDD">
                <a:alpha val="100000"/>
              </a:srgbClr>
            </a:solidFill>
            <a:ln w="12700">
              <a:solidFill>
                <a:srgbClr val="DDDDDD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85635" y="1929130"/>
            <a:ext cx="4652645" cy="24523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Emerging Architectures I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In-Memory Computing (d-Matrix Corsair)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idea: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embed logic inside SRAM, eliminating data movement entirely.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 SW Challenge: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Compiler must understand In-Memory execution; FlagTree needs a DIMC backend.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Wafer-Scale Integration (Cerebras WSE-3)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idea: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entire wafer = one processor; on-chip SRAM holds the full model.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 SW Challenge: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No DRAM paging; runtime must be wafer-topology-aware; FlagGems needs on-chip mapping.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0380" y="3235325"/>
            <a:ext cx="4723130" cy="2753995"/>
            <a:chOff x="500380" y="3235325"/>
            <a:chExt cx="4723130" cy="2753995"/>
          </a:xfrm>
        </p:grpSpPr>
        <p:sp>
          <p:nvSpPr>
            <p:cNvPr id="8" name="AutoShape 8"/>
            <p:cNvSpPr/>
            <p:nvPr/>
          </p:nvSpPr>
          <p:spPr>
            <a:xfrm>
              <a:off x="500380" y="3235325"/>
              <a:ext cx="1048385" cy="454025"/>
            </a:xfrm>
            <a:prstGeom prst="rect">
              <a:avLst/>
            </a:prstGeom>
            <a:solidFill>
              <a:srgbClr val="F9ECEE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500380" y="3295650"/>
              <a:ext cx="1048385" cy="3327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8B0012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Efficiency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38935" y="3310890"/>
              <a:ext cx="142811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38 TOPS/W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2584450" y="3326130"/>
              <a:ext cx="2639060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vs. H100 ~2.8 TOPS/W  (~13x)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500380" y="3810000"/>
              <a:ext cx="1048385" cy="454025"/>
            </a:xfrm>
            <a:prstGeom prst="rect">
              <a:avLst/>
            </a:prstGeom>
            <a:solidFill>
              <a:srgbClr val="F9ECEE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00380" y="3870960"/>
              <a:ext cx="1048385" cy="3327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8B0012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Precision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638935" y="3885565"/>
              <a:ext cx="142811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MXINT8 / 4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2584450" y="3900805"/>
              <a:ext cx="2639060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Block floating-point, configurable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500380" y="4385310"/>
              <a:ext cx="1048385" cy="454025"/>
            </a:xfrm>
            <a:prstGeom prst="rect">
              <a:avLst/>
            </a:prstGeom>
            <a:solidFill>
              <a:srgbClr val="F9ECEE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00380" y="4445635"/>
              <a:ext cx="1048385" cy="3327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8B0012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Bandwidth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638935" y="4460875"/>
              <a:ext cx="142811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150 TB/s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584450" y="4476115"/>
              <a:ext cx="2639060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Aggregate; 6 MB SRAM per slice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500380" y="4960620"/>
              <a:ext cx="1048385" cy="454025"/>
            </a:xfrm>
            <a:prstGeom prst="rect">
              <a:avLst/>
            </a:prstGeom>
            <a:solidFill>
              <a:srgbClr val="F9ECEE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500380" y="5020945"/>
              <a:ext cx="1048385" cy="3327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8B0012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Scale-Out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638935" y="5036185"/>
              <a:ext cx="142811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Transparent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2584450" y="5051425"/>
              <a:ext cx="2639060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No RDMA; bypasses host stack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500380" y="5535295"/>
              <a:ext cx="1048385" cy="454025"/>
            </a:xfrm>
            <a:prstGeom prst="rect">
              <a:avLst/>
            </a:prstGeom>
            <a:solidFill>
              <a:srgbClr val="F9ECEE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500380" y="5596255"/>
              <a:ext cx="1048385" cy="33274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8B0012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Runtime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638935" y="5610860"/>
              <a:ext cx="142811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RISC-V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584450" y="5626100"/>
              <a:ext cx="2639060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Host-Free; removes CPU scheduling bottleneck</a:t>
              </a:r>
              <a:endParaRPr lang="en-US" sz="110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78730" y="3232150"/>
            <a:ext cx="4687570" cy="2755900"/>
            <a:chOff x="5078730" y="3232150"/>
            <a:chExt cx="4687570" cy="2755900"/>
          </a:xfrm>
        </p:grpSpPr>
        <p:sp>
          <p:nvSpPr>
            <p:cNvPr id="29" name="AutoShape 29"/>
            <p:cNvSpPr/>
            <p:nvPr/>
          </p:nvSpPr>
          <p:spPr>
            <a:xfrm>
              <a:off x="5078730" y="3232150"/>
              <a:ext cx="1060450" cy="45402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BBBBB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5078730" y="3292475"/>
              <a:ext cx="1060450" cy="3333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444444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Die Area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193790" y="3307715"/>
              <a:ext cx="1444625" cy="3181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46,225 mm²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7096125" y="3322955"/>
              <a:ext cx="2670175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57x vs. H100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5078730" y="3807460"/>
              <a:ext cx="1060450" cy="45402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BBBBB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5078730" y="3867785"/>
              <a:ext cx="1060450" cy="3333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444444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AI Cores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6193790" y="3883025"/>
              <a:ext cx="1444625" cy="3181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900,000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7096125" y="3898265"/>
              <a:ext cx="2670175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52x vs. H100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5078730" y="4382770"/>
              <a:ext cx="1060450" cy="45402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BBBBB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5078730" y="4443730"/>
              <a:ext cx="1060450" cy="3333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444444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On-chip SRAM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193790" y="4458335"/>
              <a:ext cx="1444625" cy="3181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44 GB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7096125" y="4473575"/>
              <a:ext cx="2670175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880x vs. H100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5078730" y="4958080"/>
              <a:ext cx="1060450" cy="45402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BBBBB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5078730" y="5019040"/>
              <a:ext cx="1060450" cy="3333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444444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Memory BW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6193790" y="5034280"/>
              <a:ext cx="1444625" cy="3181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21 PB/s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7096125" y="5049520"/>
              <a:ext cx="2670175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7,000x vs. H100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5078730" y="5534025"/>
              <a:ext cx="1060450" cy="45402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2700">
              <a:solidFill>
                <a:srgbClr val="BBBBB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5078730" y="5594350"/>
              <a:ext cx="1060450" cy="3333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100" b="1" i="0" u="none" strike="noStrike">
                  <a:solidFill>
                    <a:srgbClr val="444444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Inference</a:t>
              </a:r>
              <a:endParaRPr lang="en-US" sz="110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6193790" y="5609590"/>
              <a:ext cx="1444625" cy="3181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On-chip PP</a:t>
              </a:r>
              <a:endParaRPr lang="en-US" sz="110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7096125" y="5624830"/>
              <a:ext cx="2670175" cy="2876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99999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Model layers mapped across wafer regions</a:t>
              </a:r>
              <a:endParaRPr lang="en-US" sz="1100"/>
            </a:p>
          </p:txBody>
        </p:sp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2"/>
          <a:srcRect l="12641" r="29852" b="-777"/>
          <a:stretch>
            <a:fillRect/>
          </a:stretch>
        </p:blipFill>
        <p:spPr>
          <a:xfrm>
            <a:off x="9846945" y="1132840"/>
            <a:ext cx="2233930" cy="25419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rcRect t="7681"/>
          <a:stretch>
            <a:fillRect/>
          </a:stretch>
        </p:blipFill>
        <p:spPr>
          <a:xfrm>
            <a:off x="9818370" y="3929380"/>
            <a:ext cx="2262505" cy="242697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1" name="AutoShape 51"/>
          <p:cNvSpPr/>
          <p:nvPr/>
        </p:nvSpPr>
        <p:spPr>
          <a:xfrm>
            <a:off x="10241915" y="6356350"/>
            <a:ext cx="1444625" cy="2851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  <a:sym typeface="Arial Bold" panose="020B0604020202090204"/>
              </a:rPr>
              <a:t>WSE-3 Core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10241915" y="3625850"/>
            <a:ext cx="1444625" cy="2851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Arial Bold" panose="020B0604020202090204"/>
                <a:ea typeface="Arial Bold" panose="020B0604020202090204"/>
                <a:cs typeface="Arial Bold" panose="020B0604020202090204"/>
                <a:sym typeface="Arial Bold" panose="020B0604020202090204"/>
              </a:rPr>
              <a:t>d-Matrix Corsair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Emerging Architectures II  &amp;  Outlook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Supernode Architectures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NVL72: "The Rack is the Chip"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72 Blackwell GPUs interconnected via copper-backplane NVLink Switch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Goal: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Emulate wafer-scale performance using discrete components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BW: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Rack-level NVLink aggregate bandwidth reaches PB/s range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Huawei CloudMatrix 384: Unified Supernode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Hundreds of Ascend processors connected via HCCS protocol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Goal: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memory pool; balanced for both training and inference</a:t>
            </a:r>
          </a:p>
          <a:p>
            <a:pPr marL="889000" lvl="2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BW: </a:t>
            </a: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Mature CANN stack; co-evolves with FlagOS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81975" y="1226820"/>
            <a:ext cx="2963545" cy="29635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52665" y="4284980"/>
            <a:ext cx="4622165" cy="19932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System-Level Challenges from VLA &amp; WM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Times New Roman Regular" panose="0202050305040509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Times New Roman Regular" panose="02020503050405090304"/>
                <a:ea typeface="Times New Roman Regular" panose="02020503050405090304"/>
                <a:cs typeface="Times New Roman Regular" panose="02020503050405090304"/>
                <a:sym typeface="Times New Roman Regular" panose="02020503050405090304"/>
              </a:rPr>
              <a:t>How Fast Can I Run My VLA? Demystifying VLA Inference Performance with VLA-Perf</a:t>
            </a:r>
            <a:r>
              <a:rPr lang="en-US" sz="1400" b="0" i="0" u="none" strike="noStrike">
                <a:solidFill>
                  <a:srgbClr val="A5A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400" b="0" i="0" u="none" strike="noStrike">
                <a:solidFill>
                  <a:srgbClr val="A5A5A5"/>
                </a:solidFill>
                <a:latin typeface="Times New Roman Regular" panose="02020503050405090304"/>
                <a:ea typeface="Times New Roman Regular" panose="02020503050405090304"/>
                <a:cs typeface="Times New Roman Regular" panose="02020503050405090304"/>
                <a:sym typeface="Times New Roman Regular" panose="02020503050405090304"/>
              </a:rPr>
              <a:t>2026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Real-Time Requirements for Robot Reasoning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Robot perception and reasoning must keep up with RGB cameras operating at 24–60 Hz.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target inference rate ranges from 10 Hz (acceptable) to 100 Hz (high performance).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Cliff on Edge Hardware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Even advanced edge GPUs (e.g., Jetson Thor) reach only ~19 Hz when running the π0 model (2.7B), making ultra-large models impractical on edge devices.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Because edge GPUs use LPDDR memory (~270 GB/s vs. ~8 TB/s HBM in data centers), the vision encoder and VLM backbone are memory-bandwidth limited, preventing full compute utilization.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900" r="11370"/>
          <a:stretch>
            <a:fillRect/>
          </a:stretch>
        </p:blipFill>
        <p:spPr>
          <a:xfrm>
            <a:off x="523864" y="4487391"/>
            <a:ext cx="5610724" cy="137233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04286" y="4558000"/>
            <a:ext cx="5392225" cy="12310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System-Level Challenges from VLA &amp; WM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Software Stack Fragmentation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Bridging AI frameworks and robot RTOS via middleware (e.g., ROS 2) adds heavy serialization and communication overhead. In many systems, middleware latency exceeds GPU inference time.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Wall from Model Scaling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14B WAM + World State Cache exceeds edge memory and bandwidth limits.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Even on GB200, WAM inference takes 5.7s; after 38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optimization still far from real-time control.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Long-Context Bottleneck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VLA models lack long contexts, but adding memory would create similar limits.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44795" y="4626603"/>
            <a:ext cx="4680994" cy="148370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Differences between Agents and Traditional LLMs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911987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66700" indent="-2667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LLM</a:t>
            </a:r>
          </a:p>
          <a:p>
            <a:pPr marL="197485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Single-turn, deterministic, token-level autoregressive inference; compute overhead scales linearly with token count; optimizable via batch parallelism.</a:t>
            </a:r>
          </a:p>
          <a:p>
            <a:pPr marL="266700" indent="-2667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Agent</a:t>
            </a:r>
            <a:b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Closed-loop autonomous decision system with multi-step nondeterministic, multimodal, multi-agent interactive continuous compute flow; compute demand undergoes paradigm shift.</a:t>
            </a:r>
          </a:p>
          <a:p>
            <a:pPr marL="266700" indent="-2667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Three Core Differences</a:t>
            </a:r>
          </a:p>
          <a:p>
            <a:pPr marL="197485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Non-deterministic compute chain: a single task requires 5~hundreds of rounds of LLM calls, compute overhead surges 8~200x.</a:t>
            </a:r>
          </a:p>
          <a:p>
            <a:pPr marL="197485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Hybrid compute paradigm: spanning inference+retrieval+tool use+interaction+reinforcement learning in heterogeneous mixed compute.</a:t>
            </a:r>
          </a:p>
          <a:p>
            <a:pPr marL="197485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Persistent compute mode: shifting from burst consumption to continuous inference+online alignment+lifelong memory as persistent workload.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69" r="68"/>
          <a:stretch>
            <a:fillRect/>
          </a:stretch>
        </p:blipFill>
        <p:spPr>
          <a:xfrm>
            <a:off x="9561830" y="1690370"/>
            <a:ext cx="2144395" cy="36042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Challenges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24979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16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 1: Compute Paradigm Disruption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issue: single inference evolves into iterative computation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Non-linear compute explosion: based on ReAct, ToT and similar frameworks, Agent adopts the “think-act-observe” loop; compute cost per task is tens to hundreds of times that of traditional LLM single-turn Q&amp;A.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utilization (MFU)  plummets: multi-step reasoning paths diverge, rely on environment feedback; traditional large Batch Size optimization fails, causing GPU/TPU compute to idle with utilization generally below 15%.</a:t>
            </a:r>
          </a:p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 2: Hardware Architecture Bottleneck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issue: physical impact of ultra-long context on memory systems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KV Cache capacity crisis: 1M+ context windows instantly exhaust cloud GPU HBM; concurrent Agent count per GPU drops sharply.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bandwidth bottleneck: frequent RAG and memory reads shift the bottleneck from compute units to data movement.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Frontier solutions: software-level PagedAttention; hardware-level Processing-in-Memory (PIM) architecture.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99300" y="2428996"/>
            <a:ext cx="4024511" cy="309384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Challenges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6435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03200" indent="-2032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 3: Interaction Pipeline Bottleneck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issue: interfaces to the physical world/external systems have extremely low latency tolerance; millisecond-level delays can cause task failure.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High-concurrency vs. ultra-low-latency trade-off: embodied AI and voice Agent demand time-to-first-token (TTFT) and inter-token latency (ITL) at millisecond-level limits, beyond the reach of traditional architectures.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I/O blocking causes compute waste: uncontrollable I/O waits during external tool calls; slow OS context switching causes expensive AI compute to be wasted idle.</a:t>
            </a:r>
          </a:p>
          <a:p>
            <a:pPr marL="203200" indent="-2032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 4: Compute Distribution Restructuring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issue: compute is no longer confined to a single node; network communication becomes an extension of compute.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bandwidth equals effective compute: under the “edge sensing, cloud planning” model, seamless context migration critically depends on high-bandwidth, low-latency networks.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Heterogeneous compute scheduling: tasks must be dynamically partitioned and offloaded across edge NPU, edge CPU, and cloud GPU; intelligent routing mechanisms are urgently needed.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2" b="22"/>
          <a:stretch>
            <a:fillRect/>
          </a:stretch>
        </p:blipFill>
        <p:spPr>
          <a:xfrm>
            <a:off x="7556846" y="1323770"/>
            <a:ext cx="4600757" cy="472481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PresentationFormat>宽屏</PresentationFormat>
  <Paragraphs>165</Paragraphs>
  <Slides>16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Noto Sans SC</vt:lpstr>
      <vt:lpstr>Pretendard</vt:lpstr>
      <vt:lpstr>Times New Roman Regular</vt:lpstr>
      <vt:lpstr>等线</vt:lpstr>
      <vt:lpstr>微软雅黑</vt:lpstr>
      <vt:lpstr>Arial</vt:lpstr>
      <vt:lpstr>Arial Bold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