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22"/>
  </p:notesMasterIdLst>
  <p:sldIdLst>
    <p:sldId id="256" r:id="rId3"/>
    <p:sldId id="464" r:id="rId4"/>
    <p:sldId id="465" r:id="rId5"/>
    <p:sldId id="466" r:id="rId6"/>
    <p:sldId id="467" r:id="rId7"/>
    <p:sldId id="468" r:id="rId8"/>
    <p:sldId id="469" r:id="rId9"/>
    <p:sldId id="470" r:id="rId10"/>
    <p:sldId id="471" r:id="rId11"/>
    <p:sldId id="472" r:id="rId12"/>
    <p:sldId id="473" r:id="rId13"/>
    <p:sldId id="474" r:id="rId14"/>
    <p:sldId id="475" r:id="rId15"/>
    <p:sldId id="476" r:id="rId16"/>
    <p:sldId id="477" r:id="rId17"/>
    <p:sldId id="478" r:id="rId18"/>
    <p:sldId id="365" r:id="rId19"/>
    <p:sldId id="366" r:id="rId20"/>
    <p:sldId id="322"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20"/>
        <p:guide pos="286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4"/>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5"/>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8" Type="http://schemas.openxmlformats.org/officeDocument/2006/relationships/hyperlink" Target="https://github.com/flagos-ai" TargetMode="External"/><Relationship Id="rId13" Type="http://schemas.openxmlformats.org/officeDocument/2006/relationships/image" Target="../media/image21.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0.jpeg"/><Relationship Id="rId2" Type="http://schemas.openxmlformats.org/officeDocument/2006/relationships/image" Target="../media/image14.png"/><Relationship Id="rId1" Type="http://schemas.openxmlformats.org/officeDocument/2006/relationships/slideLayout" Target="../slideLayouts/slideLayout17.xml"/><Relationship Id="rId6" Type="http://schemas.openxmlformats.org/officeDocument/2006/relationships/image" Target="../media/image18.png"/><Relationship Id="rId11" Type="http://schemas.openxmlformats.org/officeDocument/2006/relationships/hyperlink" Target="https://flagos.io/Home" TargetMode="External"/><Relationship Id="rId5" Type="http://schemas.openxmlformats.org/officeDocument/2006/relationships/image" Target="../media/image17.png"/><Relationship Id="rId10" Type="http://schemas.openxmlformats.org/officeDocument/2006/relationships/hyperlink" Target="https://www.zhihu.com/people/95-22-20-18/posts" TargetMode="External"/><Relationship Id="rId4" Type="http://schemas.openxmlformats.org/officeDocument/2006/relationships/image" Target="../media/image16.png"/><Relationship Id="rId9" Type="http://schemas.openxmlformats.org/officeDocument/2006/relationships/hyperlink" Target="https://space.bilibili.com/3546791834290849"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jpeg"/><Relationship Id="rId1" Type="http://schemas.openxmlformats.org/officeDocument/2006/relationships/slideLayout" Target="../slideLayouts/slideLayout2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2"/>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46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Lecture 42:</a:t>
            </a:r>
            <a:b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From Generation to Deployment</a:t>
            </a:r>
            <a:b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Integration of Generated Code</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FlagOS  Ecosystem Overview</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https://docs.flagos.io/en/latest/overview.html</a:t>
            </a: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Design Philosophy:“ model- system- chip” decoupling,“ Write Once, Run Anywhere”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(Intelligent Source):LLM -driven operator generation and test verification agent .</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FlagGems (High-Performance Operator Library): Based on Triton , a high-performance generalized operator library.</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FlagTree (Compilation Engine): A unified MLIR  compiler connecting operators with over ten types of heterogeneous chips.</a:t>
            </a:r>
          </a:p>
        </p:txBody>
      </p:sp>
      <p:grpSp>
        <p:nvGrpSpPr>
          <p:cNvPr id="6" name="Group 6"/>
          <p:cNvGrpSpPr/>
          <p:nvPr/>
        </p:nvGrpSpPr>
        <p:grpSpPr>
          <a:xfrm>
            <a:off x="3663950" y="3429000"/>
            <a:ext cx="5407571" cy="2578100"/>
            <a:chOff x="3663950" y="3429000"/>
            <a:chExt cx="5407571" cy="2578100"/>
          </a:xfrm>
        </p:grpSpPr>
        <p:pic>
          <p:nvPicPr>
            <p:cNvPr id="7" name="Picture 7"/>
            <p:cNvPicPr>
              <a:picLocks noChangeAspect="1"/>
            </p:cNvPicPr>
            <p:nvPr/>
          </p:nvPicPr>
          <p:blipFill>
            <a:blip r:embed="rId2"/>
            <a:srcRect/>
            <a:stretch>
              <a:fillRect/>
            </a:stretch>
          </p:blipFill>
          <p:spPr>
            <a:xfrm>
              <a:off x="3663950" y="3429000"/>
              <a:ext cx="5407571" cy="2578100"/>
            </a:xfrm>
            <a:prstGeom prst="rect">
              <a:avLst/>
            </a:prstGeom>
            <a:ln w="12700">
              <a:noFill/>
              <a:prstDash val="solid"/>
            </a:ln>
          </p:spPr>
        </p:pic>
        <p:sp>
          <p:nvSpPr>
            <p:cNvPr id="8" name="AutoShape 8"/>
            <p:cNvSpPr/>
            <p:nvPr/>
          </p:nvSpPr>
          <p:spPr>
            <a:xfrm>
              <a:off x="3663950" y="4657795"/>
              <a:ext cx="1712334" cy="1349305"/>
            </a:xfrm>
            <a:prstGeom prst="rect">
              <a:avLst/>
            </a:prstGeom>
            <a:noFill/>
            <a:ln w="381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Overview</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xfrm>
            <a:off x="523875" y="1323975"/>
            <a:ext cx="6447155" cy="4853305"/>
          </a:xfrm>
          <a:prstGeom prst="rect">
            <a:avLst/>
          </a:prstGeom>
        </p:spPr>
        <p:txBody>
          <a:bodyPr wrap="square" lIns="91440" tIns="45720" rIns="91440" bIns="45720" anchor="t">
            <a:noAutofit/>
          </a:bodyPr>
          <a:lstStyle>
            <a:lvl1pPr algn="l">
              <a:lnSpc>
                <a:spcPct val="92000"/>
              </a:lnSpc>
              <a:defRPr sz="1800" b="0" i="0" u="none" strike="noStrike" spc="0">
                <a:solidFill>
                  <a:srgbClr val="404040">
                    <a:alpha val="100000"/>
                  </a:srgbClr>
                </a:solidFill>
                <a:latin typeface="Calibri" panose="020F0502020204030204"/>
              </a:defRPr>
            </a:lvl1pPr>
          </a:lstStyle>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 -written, Cross-Hardware Unified:</a:t>
            </a: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Natively supports CUDA,MLU,XPU,NPU  etc. 10+  hardware backends</a:t>
            </a:r>
          </a:p>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High-Performance Operators:</a:t>
            </a: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training and inference operators including matrix operations, attention mechanisms, normalization, and activation functions</a:t>
            </a:r>
          </a:p>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LibEntry  Kernel Cache:</a:t>
            </a: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In-house dispatch layer replacing Triton  native Autotuner, significantly reducing first-compilation overhead and dispatch  dispatch latency</a:t>
            </a:r>
          </a:p>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Dual-Mode Deployment:</a:t>
            </a: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Pure Python  package (quick validation) and C++  extension (production acceleration) freely switchable;C++  path eliminates Python  call frame overhead</a:t>
            </a:r>
          </a:p>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Configuration-Driven Tuning:</a:t>
            </a: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LibTuner  automatically searches for optimal hyperparameters and persists them as YAML; cold start directly reuses them without re-running benchmark</a:t>
            </a:r>
          </a:p>
        </p:txBody>
      </p:sp>
      <p:pic>
        <p:nvPicPr>
          <p:cNvPr id="6" name="Picture 6"/>
          <p:cNvPicPr>
            <a:picLocks noChangeAspect="1"/>
          </p:cNvPicPr>
          <p:nvPr/>
        </p:nvPicPr>
        <p:blipFill>
          <a:blip r:embed="rId2"/>
          <a:srcRect/>
          <a:stretch>
            <a:fillRect/>
          </a:stretch>
        </p:blipFill>
        <p:spPr>
          <a:xfrm>
            <a:off x="6990715" y="1323975"/>
            <a:ext cx="4810760" cy="472186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Operator Registration and Dispatch</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xfrm>
            <a:off x="523875" y="1323975"/>
            <a:ext cx="6190615" cy="4853305"/>
          </a:xfrm>
          <a:prstGeom prst="rect">
            <a:avLst/>
          </a:prstGeom>
        </p:spPr>
        <p:txBody>
          <a:bodyPr wrap="square" lIns="91440" tIns="45720" rIns="91440" bIns="45720" anchor="t">
            <a:normAutofit/>
          </a:bodyPr>
          <a:lstStyle>
            <a:lvl1pPr algn="l">
              <a:lnSpc>
                <a:spcPct val="100000"/>
              </a:lnSpc>
              <a:defRPr sz="2000" b="0" i="0" u="none" strike="noStrike" spc="0">
                <a:solidFill>
                  <a:srgbClr val="0F172A">
                    <a:alpha val="100000"/>
                  </a:srgbClr>
                </a:solidFill>
                <a:latin typeface="Calibri" panose="020F0502020204030204"/>
              </a:defRPr>
            </a:lvl1pPr>
          </a:lstStyle>
          <a:p>
            <a:pPr marL="254000" indent="-254000" algn="l">
              <a:lnSpc>
                <a:spcPct val="100000"/>
              </a:lnSpc>
              <a:spcBef>
                <a:spcPts val="1500"/>
              </a:spcBef>
              <a:buClr>
                <a:srgbClr val="0F172A"/>
              </a:buClr>
              <a:buChar char="•"/>
            </a:pPr>
            <a:r>
              <a:rPr lang="en-US" sz="2000" b="0" i="0" u="none" strike="noStrike">
                <a:solidFill>
                  <a:srgbClr val="0F172A"/>
                </a:solidFill>
                <a:latin typeface="Calibri" panose="020F0502020204030204"/>
                <a:ea typeface="Calibri" panose="020F0502020204030204"/>
                <a:cs typeface="Calibri" panose="020F0502020204030204"/>
                <a:sym typeface="Calibri" panose="020F0502020204030204"/>
              </a:rPr>
              <a:t>User calls</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flag_gems.enable()  or flag_gems.use_gems()</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Triggers module initialization, traversing ops/init.py</a:t>
            </a:r>
          </a:p>
          <a:p>
            <a:pPr marL="254000" indent="-254000" algn="l">
              <a:lnSpc>
                <a:spcPct val="100000"/>
              </a:lnSpc>
              <a:spcBef>
                <a:spcPts val="1500"/>
              </a:spcBef>
              <a:buClr>
                <a:srgbClr val="0F172A"/>
              </a:buClr>
              <a:buChar char="•"/>
            </a:pPr>
            <a:r>
              <a:rPr lang="en-US" sz="2000" b="0" i="0" u="none" strike="noStrike">
                <a:solidFill>
                  <a:srgbClr val="0F172A"/>
                </a:solidFill>
                <a:latin typeface="Calibri" panose="020F0502020204030204"/>
                <a:ea typeface="Calibri" panose="020F0502020204030204"/>
                <a:cs typeface="Calibri" panose="020F0502020204030204"/>
                <a:sym typeface="Calibri" panose="020F0502020204030204"/>
              </a:rPr>
              <a:t>Library Registration</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torch.library.Library("aten", "IMPL")</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registers implementations by dispatch key(CUDA/XPU…</a:t>
            </a:r>
          </a:p>
          <a:p>
            <a:pPr marL="254000" indent="-254000" algn="l">
              <a:lnSpc>
                <a:spcPct val="100000"/>
              </a:lnSpc>
              <a:spcBef>
                <a:spcPts val="1500"/>
              </a:spcBef>
              <a:buClr>
                <a:srgbClr val="0F172A"/>
              </a:buClr>
              <a:buChar char="•"/>
            </a:pPr>
            <a:r>
              <a:rPr lang="en-US" sz="2000" b="0" i="0" u="none" strike="noStrike">
                <a:solidFill>
                  <a:srgbClr val="0F172A"/>
                </a:solidFill>
                <a:latin typeface="Calibri" panose="020F0502020204030204"/>
                <a:ea typeface="Calibri" panose="020F0502020204030204"/>
                <a:cs typeface="Calibri" panose="020F0502020204030204"/>
                <a:sym typeface="Calibri" panose="020F0502020204030204"/>
              </a:rPr>
              <a:t>TORCH_LIBRARY_IMPL</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 side: aten::mm → mm,aten::add.Tensor → add, overridesATen operator table default implementations in.</a:t>
            </a:r>
          </a:p>
          <a:p>
            <a:pPr marL="254000" indent="-254000" algn="l">
              <a:lnSpc>
                <a:spcPct val="100000"/>
              </a:lnSpc>
              <a:spcBef>
                <a:spcPts val="1500"/>
              </a:spcBef>
              <a:buClr>
                <a:srgbClr val="0F172A"/>
              </a:buClr>
              <a:buChar char="•"/>
            </a:pPr>
            <a:r>
              <a:rPr lang="en-US" sz="2000" b="0" i="0" u="none" strike="noStrike">
                <a:solidFill>
                  <a:srgbClr val="0F172A"/>
                </a:solidFill>
                <a:latin typeface="Calibri" panose="020F0502020204030204"/>
                <a:ea typeface="Calibri" panose="020F0502020204030204"/>
                <a:cs typeface="Calibri" panose="020F0502020204030204"/>
                <a:sym typeface="Calibri" panose="020F0502020204030204"/>
              </a:rPr>
              <a:t>ATen Dispatcher Routing</a:t>
            </a:r>
          </a:p>
          <a:p>
            <a:pPr marL="571500" lvl="1" indent="-228600" algn="l">
              <a:lnSpc>
                <a:spcPct val="100000"/>
              </a:lnSpc>
              <a:spcBef>
                <a:spcPts val="750"/>
              </a:spcBef>
              <a:buClr>
                <a:srgbClr val="334155"/>
              </a:buClr>
              <a:buChar char="•"/>
            </a:pPr>
            <a:r>
              <a:rPr lang="en-US" sz="1800" b="0" i="0" u="none" strike="noStrike">
                <a:solidFill>
                  <a:srgbClr val="334155"/>
                </a:solidFill>
                <a:latin typeface="Calibri" panose="020F0502020204030204"/>
                <a:ea typeface="Calibri" panose="020F0502020204030204"/>
                <a:cs typeface="Calibri" panose="020F0502020204030204"/>
                <a:sym typeface="Calibri" panose="020F0502020204030204"/>
              </a:rPr>
              <a:t>config.aten_patch_list decision</a:t>
            </a:r>
          </a:p>
        </p:txBody>
      </p:sp>
      <p:pic>
        <p:nvPicPr>
          <p:cNvPr id="6" name="Picture 6"/>
          <p:cNvPicPr>
            <a:picLocks noChangeAspect="1"/>
          </p:cNvPicPr>
          <p:nvPr/>
        </p:nvPicPr>
        <p:blipFill>
          <a:blip r:embed="rId2"/>
          <a:srcRect/>
          <a:stretch>
            <a:fillRect/>
          </a:stretch>
        </p:blipFill>
        <p:spPr>
          <a:xfrm>
            <a:off x="6728460" y="1334135"/>
            <a:ext cx="5073015" cy="484314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Operator Compilation</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8000"/>
              </a:lnSpc>
              <a:defRPr sz="1800" b="0" i="0" u="none" strike="noStrike" spc="0">
                <a:solidFill>
                  <a:srgbClr val="404040">
                    <a:alpha val="100000"/>
                  </a:srgbClr>
                </a:solidFill>
                <a:latin typeface="Calibri" panose="020F0502020204030204"/>
              </a:defRPr>
            </a:lvl1pPr>
          </a:lstStyle>
          <a:p>
            <a:pPr marL="228600" indent="-228600" algn="l">
              <a:lnSpc>
                <a:spcPct val="108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  source code (.py)</a:t>
            </a: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Operators are written in Triton DSL  (ops/mm.py,ops/attention.py , etc.)</a:t>
            </a: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decorator @triton.jit  marks JIT  JIT compilation entry point</a:t>
            </a:r>
          </a:p>
          <a:p>
            <a:pPr marL="228600" indent="-228600" algn="l">
              <a:lnSpc>
                <a:spcPct val="108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@libentry()  decorator —  replaces Autotuner</a:t>
            </a: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LibEntry  independently manages kernel_cache, bypassing Triton  native Autotuner  runtime</a:t>
            </a:r>
          </a:p>
          <a:p>
            <a:pPr marL="228600" indent="-228600" algn="l">
              <a:lnSpc>
                <a:spcPct val="108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First call triggers JIT  compilation;LibEntry  independently manages cache to avoid Autotuner  overhead</a:t>
            </a: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@triton.jit → Triton Compiler → PTX / ISA (varies by backend)</a:t>
            </a: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Compiled artifacts cached in kernel_cache; subsequent calls directly hit the cache</a:t>
            </a:r>
          </a:p>
          <a:p>
            <a:pPr marL="228600" indent="-228600" algn="l">
              <a:lnSpc>
                <a:spcPct val="108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LibTuner — Hyperparameter Search</a:t>
            </a: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BenchmarkCache  records BLOCK_M/N/K,num_warps,stages  and other optimal configurations</a:t>
            </a:r>
          </a:p>
          <a:p>
            <a:pPr indent="0" algn="l">
              <a:lnSpc>
                <a:spcPct val="108000"/>
              </a:lnSpc>
              <a:spcBef>
                <a:spcPts val="1500"/>
              </a:spcBef>
            </a:pP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8000"/>
              </a:lnSpc>
              <a:spcBef>
                <a:spcPts val="150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
        <p:nvSpPr>
          <p:cNvPr id="6" name="AutoShape 6"/>
          <p:cNvSpPr/>
          <p:nvPr/>
        </p:nvSpPr>
        <p:spPr>
          <a:xfrm>
            <a:off x="741680" y="5811520"/>
            <a:ext cx="10874375" cy="365760"/>
          </a:xfrm>
          <a:prstGeom prst="rect">
            <a:avLst/>
          </a:prstGeom>
          <a:solidFill>
            <a:srgbClr val="8B0012">
              <a:alpha val="100000"/>
            </a:srgbClr>
          </a:solidFill>
          <a:ln w="12700">
            <a:noFill/>
            <a:prstDash val="solid"/>
          </a:ln>
          <a:effectLst>
            <a:outerShdw blurRad="101600" dist="38100" dir="8100000" algn="bl" rotWithShape="0">
              <a:srgbClr val="000000">
                <a:alpha val="18000"/>
              </a:srgbClr>
            </a:outerShdw>
          </a:effectLst>
        </p:spPr>
        <p:txBody>
          <a:bodyPr wrap="square" lIns="91440" tIns="45720" rIns="91440" bIns="45720" rtlCol="0" anchor="t">
            <a:noAutofit/>
          </a:bodyPr>
          <a:lstStyle/>
          <a:p>
            <a:pPr algn="ctr">
              <a:defRPr/>
            </a:pPr>
            <a:endParaRPr/>
          </a:p>
        </p:txBody>
      </p:sp>
      <p:sp>
        <p:nvSpPr>
          <p:cNvPr id="7" name="AutoShape 7"/>
          <p:cNvSpPr/>
          <p:nvPr/>
        </p:nvSpPr>
        <p:spPr>
          <a:xfrm>
            <a:off x="787400" y="5811520"/>
            <a:ext cx="10758805" cy="36576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FFFFFF"/>
                </a:solidFill>
                <a:latin typeface="Calibri" panose="020F0502020204030204"/>
                <a:ea typeface="Calibri" panose="020F0502020204030204"/>
                <a:cs typeface="Calibri" panose="020F0502020204030204"/>
                <a:sym typeface="Calibri" panose="020F0502020204030204"/>
              </a:rPr>
              <a:t>★  1st call → Triton JIT compilation (slow)    |    Subsequent calls → kernel_cache direct hit (fast)    |    Cold start optimization: Preload ConfigCache</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Runtime Loading</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xfrm>
            <a:off x="523875" y="1323975"/>
            <a:ext cx="4669155" cy="4853305"/>
          </a:xfrm>
          <a:prstGeom prst="rect">
            <a:avLst/>
          </a:prstGeom>
        </p:spPr>
        <p:txBody>
          <a:bodyPr wrap="square" lIns="91440" tIns="45720" rIns="91440" bIns="45720" anchor="t">
            <a:noAutofit/>
          </a:bodyPr>
          <a:lstStyle>
            <a:lvl1pPr algn="l">
              <a:lnSpc>
                <a:spcPct val="117000"/>
              </a:lnSpc>
              <a:defRPr sz="2000" b="0" i="0" u="none" strike="noStrike" spc="0">
                <a:solidFill>
                  <a:srgbClr val="404040">
                    <a:alpha val="100000"/>
                  </a:srgbClr>
                </a:solidFill>
                <a:latin typeface="Calibri" panose="020F0502020204030204"/>
              </a:defRPr>
            </a:lvl1pPr>
          </a:lstStyle>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[PY] Pure Python  Mode (Pure Package)</a:t>
            </a: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pip install flaggems (no C++  compilation)</a:t>
            </a: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ops/__init__.py  Verify via torch.library  registration</a:t>
            </a: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dispatch path:Python  function call stack</a:t>
            </a: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Suitable for quick validation / CI  testing environments</a:t>
            </a: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Overhead:Python  call frame + GIL  contention</a:t>
            </a:r>
          </a:p>
          <a:p>
            <a:pPr indent="0" algn="l">
              <a:lnSpc>
                <a:spcPct val="117000"/>
              </a:lnSpc>
              <a:spcBef>
                <a:spcPts val="150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
        <p:nvSpPr>
          <p:cNvPr id="6" name="AutoShape 6"/>
          <p:cNvSpPr/>
          <p:nvPr/>
        </p:nvSpPr>
        <p:spPr>
          <a:xfrm>
            <a:off x="5995035" y="1327785"/>
            <a:ext cx="6196965" cy="4853305"/>
          </a:xfrm>
          <a:prstGeom prst="rect">
            <a:avLst/>
          </a:prstGeom>
          <a:noFill/>
          <a:ln w="12700">
            <a:noFill/>
            <a:prstDash val="solid"/>
          </a:ln>
        </p:spPr>
        <p:txBody>
          <a:bodyPr vert="horz" wrap="square" lIns="91440" tIns="45720" rIns="91440" bIns="45720" rtlCol="0" anchor="t">
            <a:normAutofit/>
          </a:bodyPr>
          <a:lstStyle/>
          <a:p>
            <a:pPr marL="254000" indent="-254000" algn="l">
              <a:lnSpc>
                <a:spcPct val="117000"/>
              </a:lnSpc>
              <a:spcBef>
                <a:spcPts val="1500"/>
              </a:spcBef>
              <a:buClr>
                <a:srgbClr val="404040"/>
              </a:buClr>
              <a:buChar char="•"/>
              <a:defRP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 C++  Extension Mode (with C++ Runtime)</a:t>
            </a:r>
            <a:endParaRPr lang="en-US" sz="1100"/>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pip install flaggems[cpp] (compiles cstub.cpp)</a:t>
            </a: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lib/cstub.cpp → TORCH_LIBRARY_IMPL  macro registration</a:t>
            </a: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dispatch path:C++  function pointers, zero Python  overhead</a:t>
            </a: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Suitable for production deployment /  inference acceleration scenarios</a:t>
            </a: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Significantly reduces short-operator dispatch  dispatch latency</a:t>
            </a:r>
          </a:p>
          <a:p>
            <a:pPr marL="342900" lvl="1" indent="0" algn="l">
              <a:lnSpc>
                <a:spcPct val="117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
        <p:nvSpPr>
          <p:cNvPr id="7" name="AutoShape 7"/>
          <p:cNvSpPr/>
          <p:nvPr/>
        </p:nvSpPr>
        <p:spPr>
          <a:xfrm>
            <a:off x="5589905" y="2496820"/>
            <a:ext cx="594360" cy="594360"/>
          </a:xfrm>
          <a:prstGeom prst="ellipse">
            <a:avLst/>
          </a:prstGeom>
          <a:solidFill>
            <a:srgbClr val="8B0012">
              <a:alpha val="100000"/>
            </a:srgbClr>
          </a:solidFill>
          <a:ln w="12700">
            <a:noFill/>
            <a:prstDash val="solid"/>
          </a:ln>
          <a:effectLst>
            <a:outerShdw blurRad="101600" dist="38100" dir="8100000" algn="bl" rotWithShape="0">
              <a:srgbClr val="000000">
                <a:alpha val="18000"/>
              </a:srgbClr>
            </a:outerShdw>
          </a:effectLst>
        </p:spPr>
        <p:txBody>
          <a:bodyPr wrap="square" lIns="91440" tIns="45720" rIns="91440" bIns="45720" rtlCol="0" anchor="t">
            <a:noAutofit/>
          </a:bodyPr>
          <a:lstStyle/>
          <a:p>
            <a:pPr algn="ctr">
              <a:defRPr/>
            </a:pPr>
            <a:endParaRPr/>
          </a:p>
        </p:txBody>
      </p:sp>
      <p:sp>
        <p:nvSpPr>
          <p:cNvPr id="8" name="AutoShape 8"/>
          <p:cNvSpPr/>
          <p:nvPr/>
        </p:nvSpPr>
        <p:spPr>
          <a:xfrm>
            <a:off x="5589905" y="2496820"/>
            <a:ext cx="594360" cy="594360"/>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300" b="1" i="0" u="none" strike="noStrike">
                <a:solidFill>
                  <a:srgbClr val="FFFFFF"/>
                </a:solidFill>
                <a:latin typeface="Calibri" panose="020F0502020204030204"/>
                <a:ea typeface="Calibri" panose="020F0502020204030204"/>
                <a:cs typeface="Calibri" panose="020F0502020204030204"/>
                <a:sym typeface="Calibri" panose="020F0502020204030204"/>
              </a:rPr>
              <a:t>VS</a:t>
            </a:r>
            <a:endParaRPr lang="en-US" sz="1100"/>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FlagTree System Overview</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Unified Multi-Chip AI  Operator Compiler · Based on Triton &amp; MLIR  Ecosystem</a:t>
            </a: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Supported Chip Backends (10+  domestic and international mainstream AI  chips)</a:t>
            </a: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NVIDIA,Cambricon,Tsingmicro,Huawei Ascend,Moore Threads, etc.</a:t>
            </a: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Multiple Triton  version branches (v3.1 ~ v3.5) maintained in parallel; independent CI/CD</a:t>
            </a:r>
          </a:p>
          <a:p>
            <a:pPr marL="342900" lvl="1" indent="0" algn="l">
              <a:lnSpc>
                <a:spcPct val="108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grpSp>
        <p:nvGrpSpPr>
          <p:cNvPr id="6" name="Group 6"/>
          <p:cNvGrpSpPr/>
          <p:nvPr/>
        </p:nvGrpSpPr>
        <p:grpSpPr>
          <a:xfrm>
            <a:off x="741680" y="3359150"/>
            <a:ext cx="10964545" cy="2765907"/>
            <a:chOff x="741680" y="3359150"/>
            <a:chExt cx="10964545" cy="2765907"/>
          </a:xfrm>
        </p:grpSpPr>
        <p:sp>
          <p:nvSpPr>
            <p:cNvPr id="7" name="AutoShape 7"/>
            <p:cNvSpPr/>
            <p:nvPr/>
          </p:nvSpPr>
          <p:spPr>
            <a:xfrm>
              <a:off x="741680" y="3359150"/>
              <a:ext cx="2582578" cy="2765907"/>
            </a:xfrm>
            <a:prstGeom prst="rect">
              <a:avLst/>
            </a:prstGeom>
            <a:solidFill>
              <a:srgbClr val="FBF0F1">
                <a:alpha val="100000"/>
              </a:srgbClr>
            </a:solidFill>
            <a:ln w="25400">
              <a:solidFill>
                <a:srgbClr val="8B0012">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endParaRPr/>
            </a:p>
          </p:txBody>
        </p:sp>
        <p:sp>
          <p:nvSpPr>
            <p:cNvPr id="8" name="AutoShape 8"/>
            <p:cNvSpPr/>
            <p:nvPr/>
          </p:nvSpPr>
          <p:spPr>
            <a:xfrm>
              <a:off x="741680" y="3359150"/>
              <a:ext cx="2582578" cy="176428"/>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endParaRPr/>
            </a:p>
          </p:txBody>
        </p:sp>
        <p:sp>
          <p:nvSpPr>
            <p:cNvPr id="9" name="AutoShape 9"/>
            <p:cNvSpPr/>
            <p:nvPr/>
          </p:nvSpPr>
          <p:spPr>
            <a:xfrm>
              <a:off x="741680"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Python Frontend</a:t>
              </a:r>
              <a:endParaRPr lang="en-US" sz="1100"/>
            </a:p>
          </p:txBody>
        </p:sp>
        <p:sp>
          <p:nvSpPr>
            <p:cNvPr id="10" name="AutoShape 10"/>
            <p:cNvSpPr/>
            <p:nvPr/>
          </p:nvSpPr>
          <p:spPr>
            <a:xfrm>
              <a:off x="741680"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@triton.jit</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FlagGems LibEntry</a:t>
              </a:r>
            </a:p>
          </p:txBody>
        </p:sp>
        <p:sp>
          <p:nvSpPr>
            <p:cNvPr id="11" name="AutoShape 11"/>
            <p:cNvSpPr/>
            <p:nvPr/>
          </p:nvSpPr>
          <p:spPr>
            <a:xfrm>
              <a:off x="3324258"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endParaRPr/>
            </a:p>
          </p:txBody>
        </p:sp>
        <p:sp>
          <p:nvSpPr>
            <p:cNvPr id="12" name="AutoShape 12"/>
            <p:cNvSpPr/>
            <p:nvPr/>
          </p:nvSpPr>
          <p:spPr>
            <a:xfrm>
              <a:off x="3465289"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13" name="AutoShape 13"/>
            <p:cNvSpPr/>
            <p:nvPr/>
          </p:nvSpPr>
          <p:spPr>
            <a:xfrm>
              <a:off x="3535397" y="3359150"/>
              <a:ext cx="2582578" cy="2765907"/>
            </a:xfrm>
            <a:prstGeom prst="rect">
              <a:avLst/>
            </a:prstGeom>
            <a:solidFill>
              <a:srgbClr val="FBF0F1">
                <a:alpha val="100000"/>
              </a:srgbClr>
            </a:solidFill>
            <a:ln w="25400">
              <a:solidFill>
                <a:srgbClr val="B8860B">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endParaRPr/>
            </a:p>
          </p:txBody>
        </p:sp>
        <p:sp>
          <p:nvSpPr>
            <p:cNvPr id="14" name="AutoShape 14"/>
            <p:cNvSpPr/>
            <p:nvPr/>
          </p:nvSpPr>
          <p:spPr>
            <a:xfrm>
              <a:off x="3535397" y="3359150"/>
              <a:ext cx="2582578" cy="176428"/>
            </a:xfrm>
            <a:prstGeom prst="rect">
              <a:avLst/>
            </a:prstGeom>
            <a:solidFill>
              <a:srgbClr val="B8860B">
                <a:alpha val="100000"/>
              </a:srgbClr>
            </a:solidFill>
            <a:ln w="12700">
              <a:solidFill>
                <a:srgbClr val="B8860B">
                  <a:alpha val="100000"/>
                </a:srgbClr>
              </a:solidFill>
              <a:prstDash val="solid"/>
            </a:ln>
          </p:spPr>
          <p:txBody>
            <a:bodyPr wrap="square" lIns="91440" tIns="45720" rIns="91440" bIns="45720" rtlCol="0" anchor="t">
              <a:noAutofit/>
            </a:bodyPr>
            <a:lstStyle/>
            <a:p>
              <a:pPr algn="ctr">
                <a:defRPr/>
              </a:pPr>
              <a:endParaRPr/>
            </a:p>
          </p:txBody>
        </p:sp>
        <p:sp>
          <p:nvSpPr>
            <p:cNvPr id="15" name="AutoShape 15"/>
            <p:cNvSpPr/>
            <p:nvPr/>
          </p:nvSpPr>
          <p:spPr>
            <a:xfrm>
              <a:off x="3535397"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Compiler Middle Layer</a:t>
              </a:r>
              <a:endParaRPr lang="en-US" sz="1100"/>
            </a:p>
          </p:txBody>
        </p:sp>
        <p:sp>
          <p:nvSpPr>
            <p:cNvPr id="16" name="AutoShape 16"/>
            <p:cNvSpPr/>
            <p:nvPr/>
          </p:nvSpPr>
          <p:spPr>
            <a:xfrm>
              <a:off x="3535397"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MLIR Dialects</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Triton-IR / TTGIR</a:t>
              </a:r>
            </a:p>
          </p:txBody>
        </p:sp>
        <p:sp>
          <p:nvSpPr>
            <p:cNvPr id="17" name="AutoShape 17"/>
            <p:cNvSpPr/>
            <p:nvPr/>
          </p:nvSpPr>
          <p:spPr>
            <a:xfrm>
              <a:off x="6117975"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endParaRPr/>
            </a:p>
          </p:txBody>
        </p:sp>
        <p:sp>
          <p:nvSpPr>
            <p:cNvPr id="18" name="AutoShape 18"/>
            <p:cNvSpPr/>
            <p:nvPr/>
          </p:nvSpPr>
          <p:spPr>
            <a:xfrm>
              <a:off x="6259006"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19" name="AutoShape 19"/>
            <p:cNvSpPr/>
            <p:nvPr/>
          </p:nvSpPr>
          <p:spPr>
            <a:xfrm>
              <a:off x="6329930" y="3359150"/>
              <a:ext cx="2582578" cy="2765907"/>
            </a:xfrm>
            <a:prstGeom prst="rect">
              <a:avLst/>
            </a:prstGeom>
            <a:solidFill>
              <a:srgbClr val="FBF0F1">
                <a:alpha val="100000"/>
              </a:srgbClr>
            </a:solidFill>
            <a:ln w="25400">
              <a:solidFill>
                <a:srgbClr val="C4314A">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endParaRPr/>
            </a:p>
          </p:txBody>
        </p:sp>
        <p:sp>
          <p:nvSpPr>
            <p:cNvPr id="20" name="AutoShape 20"/>
            <p:cNvSpPr/>
            <p:nvPr/>
          </p:nvSpPr>
          <p:spPr>
            <a:xfrm>
              <a:off x="6329930" y="3359150"/>
              <a:ext cx="2582578" cy="176428"/>
            </a:xfrm>
            <a:prstGeom prst="rect">
              <a:avLst/>
            </a:prstGeom>
            <a:solidFill>
              <a:srgbClr val="C4314A">
                <a:alpha val="100000"/>
              </a:srgbClr>
            </a:solidFill>
            <a:ln w="12700">
              <a:solidFill>
                <a:srgbClr val="C4314A">
                  <a:alpha val="100000"/>
                </a:srgbClr>
              </a:solidFill>
              <a:prstDash val="solid"/>
            </a:ln>
          </p:spPr>
          <p:txBody>
            <a:bodyPr wrap="square" lIns="91440" tIns="45720" rIns="91440" bIns="45720" rtlCol="0" anchor="t">
              <a:noAutofit/>
            </a:bodyPr>
            <a:lstStyle/>
            <a:p>
              <a:pPr algn="ctr">
                <a:defRPr/>
              </a:pPr>
              <a:endParaRPr/>
            </a:p>
          </p:txBody>
        </p:sp>
        <p:sp>
          <p:nvSpPr>
            <p:cNvPr id="21" name="AutoShape 21"/>
            <p:cNvSpPr/>
            <p:nvPr/>
          </p:nvSpPr>
          <p:spPr>
            <a:xfrm>
              <a:off x="6329930"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Backend Code Generation</a:t>
              </a:r>
              <a:endParaRPr lang="en-US" sz="1100"/>
            </a:p>
          </p:txBody>
        </p:sp>
        <p:sp>
          <p:nvSpPr>
            <p:cNvPr id="22" name="AutoShape 22"/>
            <p:cNvSpPr/>
            <p:nvPr/>
          </p:nvSpPr>
          <p:spPr>
            <a:xfrm>
              <a:off x="6329930"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LLVM-IR → PTX</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ASM / Vendor Toolchain</a:t>
              </a:r>
            </a:p>
          </p:txBody>
        </p:sp>
        <p:sp>
          <p:nvSpPr>
            <p:cNvPr id="23" name="AutoShape 23"/>
            <p:cNvSpPr/>
            <p:nvPr/>
          </p:nvSpPr>
          <p:spPr>
            <a:xfrm>
              <a:off x="8912508"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endParaRPr/>
            </a:p>
          </p:txBody>
        </p:sp>
        <p:sp>
          <p:nvSpPr>
            <p:cNvPr id="24" name="AutoShape 24"/>
            <p:cNvSpPr/>
            <p:nvPr/>
          </p:nvSpPr>
          <p:spPr>
            <a:xfrm>
              <a:off x="9052724"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25" name="AutoShape 25"/>
            <p:cNvSpPr/>
            <p:nvPr/>
          </p:nvSpPr>
          <p:spPr>
            <a:xfrm>
              <a:off x="9123647" y="3359150"/>
              <a:ext cx="2582578" cy="2765907"/>
            </a:xfrm>
            <a:prstGeom prst="rect">
              <a:avLst/>
            </a:prstGeom>
            <a:solidFill>
              <a:srgbClr val="FBF0F1">
                <a:alpha val="100000"/>
              </a:srgbClr>
            </a:solidFill>
            <a:ln w="25400">
              <a:solidFill>
                <a:srgbClr val="5C0009">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endParaRPr/>
            </a:p>
          </p:txBody>
        </p:sp>
        <p:sp>
          <p:nvSpPr>
            <p:cNvPr id="26" name="AutoShape 26"/>
            <p:cNvSpPr/>
            <p:nvPr/>
          </p:nvSpPr>
          <p:spPr>
            <a:xfrm>
              <a:off x="9123647" y="3359150"/>
              <a:ext cx="2582578" cy="176428"/>
            </a:xfrm>
            <a:prstGeom prst="rect">
              <a:avLst/>
            </a:prstGeom>
            <a:solidFill>
              <a:srgbClr val="5C0009">
                <a:alpha val="100000"/>
              </a:srgbClr>
            </a:solidFill>
            <a:ln w="12700">
              <a:solidFill>
                <a:srgbClr val="5C0009">
                  <a:alpha val="100000"/>
                </a:srgbClr>
              </a:solidFill>
              <a:prstDash val="solid"/>
            </a:ln>
          </p:spPr>
          <p:txBody>
            <a:bodyPr wrap="square" lIns="91440" tIns="45720" rIns="91440" bIns="45720" rtlCol="0" anchor="t">
              <a:noAutofit/>
            </a:bodyPr>
            <a:lstStyle/>
            <a:p>
              <a:pPr algn="ctr">
                <a:defRPr/>
              </a:pPr>
              <a:endParaRPr/>
            </a:p>
          </p:txBody>
        </p:sp>
        <p:sp>
          <p:nvSpPr>
            <p:cNvPr id="27" name="AutoShape 27"/>
            <p:cNvSpPr/>
            <p:nvPr/>
          </p:nvSpPr>
          <p:spPr>
            <a:xfrm>
              <a:off x="9123647"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Runtime Loading</a:t>
              </a:r>
              <a:endParaRPr lang="en-US" sz="1100"/>
            </a:p>
          </p:txBody>
        </p:sp>
        <p:sp>
          <p:nvSpPr>
            <p:cNvPr id="28" name="AutoShape 28"/>
            <p:cNvSpPr/>
            <p:nvPr/>
          </p:nvSpPr>
          <p:spPr>
            <a:xfrm>
              <a:off x="9123647"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JIT Cache</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Unified HW Manager</a:t>
              </a:r>
            </a:p>
          </p:txBody>
        </p:sp>
      </p:gr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FlagTree Operator Compilation Pipeline </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①</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Frontend Parsing · Triton-IR  · TritonGPU-IR Optimization</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Python  kernel + AST  parsing</a:t>
            </a:r>
          </a:p>
          <a:p>
            <a:pPr marL="596900" lvl="1" indent="-2540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@triton.jit  decorator triggers JIT; the frontend traverses the Python AST AST, identifies tile-level tensor operations, and builds Triton-IR. tile  Triton-IR.</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Triton-IR → TritonGPU-IR</a:t>
            </a:r>
          </a:p>
          <a:p>
            <a:pPr marL="596900" lvl="1" indent="-2540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The optimization module injects Layout Encoding,, generates TritonGPU IR, and executes common passes: pass:CSE,DCE inline, etc..</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TritonGPU-IR → LLVM-IR</a:t>
            </a:r>
          </a:p>
          <a:p>
            <a:pPr marL="596900" lvl="1" indent="-2540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Vendor-specific pass  passes further optimize TTGIR; finally, through the MLIR → LLVM  bridge layer, outputs LLVM-IR, completing the high-level optimization phase.</a:t>
            </a: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FlagTree  Operator Compilation Pipeline </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②</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LLVM-IR →  Assembly →  binary  ·  Pluggable Backend  ·  Compilation Cache</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Backend pluggable architecture (third_party/)</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Compilation result caching mechanism</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graphicFrame>
        <p:nvGraphicFramePr>
          <p:cNvPr id="6" name="Table 6"/>
          <p:cNvGraphicFramePr>
            <a:graphicFrameLocks noGrp="1"/>
          </p:cNvGraphicFramePr>
          <p:nvPr/>
        </p:nvGraphicFramePr>
        <p:xfrm>
          <a:off x="523240" y="3288030"/>
          <a:ext cx="11263630" cy="2841625"/>
        </p:xfrm>
        <a:graphic>
          <a:graphicData uri="http://schemas.openxmlformats.org/drawingml/2006/table">
            <a:tbl>
              <a:tblPr>
                <a:effectLst/>
              </a:tblPr>
              <a:tblGrid>
                <a:gridCol w="2011680">
                  <a:extLst>
                    <a:ext uri="{9D8B030D-6E8A-4147-A177-3AD203B41FA5}">
                      <a16:colId xmlns:a16="http://schemas.microsoft.com/office/drawing/2014/main" val="20000"/>
                    </a:ext>
                  </a:extLst>
                </a:gridCol>
                <a:gridCol w="2010410">
                  <a:extLst>
                    <a:ext uri="{9D8B030D-6E8A-4147-A177-3AD203B41FA5}">
                      <a16:colId xmlns:a16="http://schemas.microsoft.com/office/drawing/2014/main" val="20001"/>
                    </a:ext>
                  </a:extLst>
                </a:gridCol>
                <a:gridCol w="3431540">
                  <a:extLst>
                    <a:ext uri="{9D8B030D-6E8A-4147-A177-3AD203B41FA5}">
                      <a16:colId xmlns:a16="http://schemas.microsoft.com/office/drawing/2014/main" val="20002"/>
                    </a:ext>
                  </a:extLst>
                </a:gridCol>
                <a:gridCol w="3810000">
                  <a:extLst>
                    <a:ext uri="{9D8B030D-6E8A-4147-A177-3AD203B41FA5}">
                      <a16:colId xmlns:a16="http://schemas.microsoft.com/office/drawing/2014/main" val="20003"/>
                    </a:ext>
                  </a:extLst>
                </a:gridCol>
              </a:tblGrid>
              <a:tr h="568325">
                <a:tc>
                  <a:txBody>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Phase</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8B0012">
                        <a:alpha val="100000"/>
                      </a:srgbClr>
                    </a:solidFill>
                  </a:tcPr>
                </a:tc>
                <a:tc>
                  <a:txBody>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Input</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8B0012">
                        <a:alpha val="100000"/>
                      </a:srgbClr>
                    </a:solidFill>
                  </a:tcPr>
                </a:tc>
                <a:tc>
                  <a:txBody>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Output</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8B0012">
                        <a:alpha val="100000"/>
                      </a:srgbClr>
                    </a:solidFill>
                  </a:tcPr>
                </a:tc>
                <a:tc>
                  <a:txBody>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Toolchain</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8B0012">
                        <a:alpha val="100000"/>
                      </a:srgbClr>
                    </a:solidFill>
                  </a:tcPr>
                </a:tc>
                <a:extLst>
                  <a:ext uri="{0D108BD9-81ED-4DB2-BD59-A6C34878D82A}">
                    <a16:rowId xmlns:a16="http://schemas.microsoft.com/office/drawing/2014/main" val="10000"/>
                  </a:ext>
                </a:extLst>
              </a:tr>
              <a:tr h="568325">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LLVM Optimization</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LLVM-IR</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Optimized LLVM-IR</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LLVM opt passes</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568325">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Assembly Generation</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LLVM-IR</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PTX / AMDGCN / Vendor ASM</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LLVM backend + Vendor Driver</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extLst>
                  <a:ext uri="{0D108BD9-81ED-4DB2-BD59-A6C34878D82A}">
                    <a16:rowId xmlns:a16="http://schemas.microsoft.com/office/drawing/2014/main" val="10002"/>
                  </a:ext>
                </a:extLst>
              </a:tr>
              <a:tr h="568325">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Device Compilation</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ASM / BC</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.cubin / .hsaco / binary</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NVCC / HIPCC / Vendor Compiler</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3"/>
                  </a:ext>
                </a:extLst>
              </a:tr>
              <a:tr h="568325">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Cache Write</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Compiled artifacts</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kernel_hash.bin</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~/.triton/cache/</a:t>
                      </a:r>
                      <a:endParaRPr lang="en-US" sz="1100"/>
                    </a:p>
                  </a:txBody>
                  <a:tcPr marL="101600" marR="101600" marT="50800" marB="50800">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FlagTree Runtime Loading and Unified Hardware Abstraction Layer</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FlagTree Hints —— Runtime Behavior Extension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flagtree_hints (shared_mem)</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flagtree_hints (async_dma)</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FLIR  Middle Layer</a:t>
            </a: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grpSp>
        <p:nvGrpSpPr>
          <p:cNvPr id="6" name="Group 6"/>
          <p:cNvGrpSpPr/>
          <p:nvPr/>
        </p:nvGrpSpPr>
        <p:grpSpPr>
          <a:xfrm>
            <a:off x="523875" y="3602355"/>
            <a:ext cx="11277600" cy="2574925"/>
            <a:chOff x="523875" y="3602355"/>
            <a:chExt cx="11277600" cy="2574925"/>
          </a:xfrm>
        </p:grpSpPr>
        <p:sp>
          <p:nvSpPr>
            <p:cNvPr id="7" name="AutoShape 7"/>
            <p:cNvSpPr/>
            <p:nvPr/>
          </p:nvSpPr>
          <p:spPr>
            <a:xfrm>
              <a:off x="523875" y="3602355"/>
              <a:ext cx="2685143" cy="2574925"/>
            </a:xfrm>
            <a:prstGeom prst="rect">
              <a:avLst/>
            </a:prstGeom>
            <a:solidFill>
              <a:srgbClr val="FBF0F1">
                <a:alpha val="100000"/>
              </a:srgbClr>
            </a:solidFill>
            <a:ln w="25400">
              <a:solidFill>
                <a:srgbClr val="8B0012">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endParaRPr/>
            </a:p>
          </p:txBody>
        </p:sp>
        <p:sp>
          <p:nvSpPr>
            <p:cNvPr id="8" name="AutoShape 8"/>
            <p:cNvSpPr/>
            <p:nvPr/>
          </p:nvSpPr>
          <p:spPr>
            <a:xfrm>
              <a:off x="523875" y="3602355"/>
              <a:ext cx="2685143" cy="116229"/>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endParaRPr/>
            </a:p>
          </p:txBody>
        </p:sp>
        <p:sp>
          <p:nvSpPr>
            <p:cNvPr id="9" name="AutoShape 9"/>
            <p:cNvSpPr/>
            <p:nvPr/>
          </p:nvSpPr>
          <p:spPr>
            <a:xfrm>
              <a:off x="523875" y="3731101"/>
              <a:ext cx="2685143" cy="51498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800" b="1" i="0" u="none" strike="noStrike">
                  <a:solidFill>
                    <a:srgbClr val="8B0012"/>
                  </a:solidFill>
                  <a:latin typeface="Arial" panose="020B0604020202020204"/>
                  <a:ea typeface="Arial" panose="020B0604020202020204"/>
                  <a:cs typeface="Arial" panose="020B0604020202020204"/>
                  <a:sym typeface="Arial" panose="020B0604020202020204"/>
                </a:rPr>
                <a:t>①</a:t>
              </a:r>
              <a:endParaRPr lang="en-US" sz="1100"/>
            </a:p>
          </p:txBody>
        </p:sp>
        <p:sp>
          <p:nvSpPr>
            <p:cNvPr id="10" name="AutoShape 10"/>
            <p:cNvSpPr/>
            <p:nvPr/>
          </p:nvSpPr>
          <p:spPr>
            <a:xfrm>
              <a:off x="643215" y="4272014"/>
              <a:ext cx="2446463" cy="46312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1C1C1C"/>
                  </a:solidFill>
                  <a:latin typeface="Arial" panose="020B0604020202020204"/>
                  <a:ea typeface="Arial" panose="020B0604020202020204"/>
                  <a:cs typeface="Arial" panose="020B0604020202020204"/>
                  <a:sym typeface="Arial" panose="020B0604020202020204"/>
                </a:rPr>
                <a:t>First call triggers JIT</a:t>
              </a:r>
              <a:endParaRPr lang="en-US" sz="1100"/>
            </a:p>
          </p:txBody>
        </p:sp>
        <p:sp>
          <p:nvSpPr>
            <p:cNvPr id="11" name="AutoShape 11"/>
            <p:cNvSpPr/>
            <p:nvPr/>
          </p:nvSpPr>
          <p:spPr>
            <a:xfrm>
              <a:off x="643215" y="4761071"/>
              <a:ext cx="2446463" cy="135183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00" b="0" i="0" u="none" strike="noStrike">
                  <a:solidFill>
                    <a:srgbClr val="4A3A3B"/>
                  </a:solidFill>
                  <a:latin typeface="Arial" panose="020B0604020202020204"/>
                  <a:ea typeface="Arial" panose="020B0604020202020204"/>
                  <a:cs typeface="Arial" panose="020B0604020202020204"/>
                  <a:sym typeface="Arial" panose="020B0604020202020204"/>
                </a:rPr>
                <a:t>The kernel wrapped by @triton.jit is called for the first time; a specialization key based on actual dtype/shape is used to query the disk cache.</a:t>
              </a:r>
              <a:endParaRPr lang="en-US" sz="1100"/>
            </a:p>
          </p:txBody>
        </p:sp>
        <p:sp>
          <p:nvSpPr>
            <p:cNvPr id="12" name="AutoShape 12"/>
            <p:cNvSpPr/>
            <p:nvPr/>
          </p:nvSpPr>
          <p:spPr>
            <a:xfrm>
              <a:off x="3209018" y="4825444"/>
              <a:ext cx="179010" cy="64373"/>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endParaRPr/>
            </a:p>
          </p:txBody>
        </p:sp>
        <p:sp>
          <p:nvSpPr>
            <p:cNvPr id="13" name="AutoShape 13"/>
            <p:cNvSpPr/>
            <p:nvPr/>
          </p:nvSpPr>
          <p:spPr>
            <a:xfrm>
              <a:off x="3304324" y="4728885"/>
              <a:ext cx="143373" cy="257492"/>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000" b="0"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14" name="AutoShape 14"/>
            <p:cNvSpPr/>
            <p:nvPr/>
          </p:nvSpPr>
          <p:spPr>
            <a:xfrm>
              <a:off x="3388027" y="3602355"/>
              <a:ext cx="2685143" cy="2574925"/>
            </a:xfrm>
            <a:prstGeom prst="rect">
              <a:avLst/>
            </a:prstGeom>
            <a:solidFill>
              <a:srgbClr val="FBF0F1">
                <a:alpha val="100000"/>
              </a:srgbClr>
            </a:solidFill>
            <a:ln w="25400">
              <a:solidFill>
                <a:srgbClr val="B8860B">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endParaRPr/>
            </a:p>
          </p:txBody>
        </p:sp>
        <p:sp>
          <p:nvSpPr>
            <p:cNvPr id="15" name="AutoShape 15"/>
            <p:cNvSpPr/>
            <p:nvPr/>
          </p:nvSpPr>
          <p:spPr>
            <a:xfrm>
              <a:off x="3388027" y="3602355"/>
              <a:ext cx="2685143" cy="116229"/>
            </a:xfrm>
            <a:prstGeom prst="rect">
              <a:avLst/>
            </a:prstGeom>
            <a:solidFill>
              <a:srgbClr val="B8860B">
                <a:alpha val="100000"/>
              </a:srgbClr>
            </a:solidFill>
            <a:ln w="12700">
              <a:solidFill>
                <a:srgbClr val="B8860B">
                  <a:alpha val="100000"/>
                </a:srgbClr>
              </a:solidFill>
              <a:prstDash val="solid"/>
            </a:ln>
          </p:spPr>
          <p:txBody>
            <a:bodyPr wrap="square" lIns="91440" tIns="45720" rIns="91440" bIns="45720" rtlCol="0" anchor="t">
              <a:noAutofit/>
            </a:bodyPr>
            <a:lstStyle/>
            <a:p>
              <a:pPr algn="ctr">
                <a:defRPr/>
              </a:pPr>
              <a:endParaRPr/>
            </a:p>
          </p:txBody>
        </p:sp>
        <p:sp>
          <p:nvSpPr>
            <p:cNvPr id="16" name="AutoShape 16"/>
            <p:cNvSpPr/>
            <p:nvPr/>
          </p:nvSpPr>
          <p:spPr>
            <a:xfrm>
              <a:off x="3388027" y="3731101"/>
              <a:ext cx="2685143" cy="51498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800" b="1" i="0" u="none" strike="noStrike">
                  <a:solidFill>
                    <a:srgbClr val="B8860B"/>
                  </a:solidFill>
                  <a:latin typeface="Arial" panose="020B0604020202020204"/>
                  <a:ea typeface="Arial" panose="020B0604020202020204"/>
                  <a:cs typeface="Arial" panose="020B0604020202020204"/>
                  <a:sym typeface="Arial" panose="020B0604020202020204"/>
                </a:rPr>
                <a:t>②</a:t>
              </a:r>
              <a:endParaRPr lang="en-US" sz="1100"/>
            </a:p>
          </p:txBody>
        </p:sp>
        <p:sp>
          <p:nvSpPr>
            <p:cNvPr id="17" name="AutoShape 17"/>
            <p:cNvSpPr/>
            <p:nvPr/>
          </p:nvSpPr>
          <p:spPr>
            <a:xfrm>
              <a:off x="3507367" y="4272014"/>
              <a:ext cx="2446463" cy="46312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1C1C1C"/>
                  </a:solidFill>
                  <a:latin typeface="Arial" panose="020B0604020202020204"/>
                  <a:ea typeface="Arial" panose="020B0604020202020204"/>
                  <a:cs typeface="Arial" panose="020B0604020202020204"/>
                  <a:sym typeface="Arial" panose="020B0604020202020204"/>
                </a:rPr>
                <a:t>Compilation or cache hit</a:t>
              </a:r>
              <a:endParaRPr lang="en-US" sz="1100"/>
            </a:p>
          </p:txBody>
        </p:sp>
        <p:sp>
          <p:nvSpPr>
            <p:cNvPr id="18" name="AutoShape 18"/>
            <p:cNvSpPr/>
            <p:nvPr/>
          </p:nvSpPr>
          <p:spPr>
            <a:xfrm>
              <a:off x="3507367" y="4761071"/>
              <a:ext cx="2446463" cy="135183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00" b="0" i="0" u="none" strike="noStrike">
                  <a:solidFill>
                    <a:srgbClr val="4A3A3B"/>
                  </a:solidFill>
                  <a:latin typeface="Arial" panose="020B0604020202020204"/>
                  <a:ea typeface="Arial" panose="020B0604020202020204"/>
                  <a:cs typeface="Arial" panose="020B0604020202020204"/>
                  <a:sym typeface="Arial" panose="020B0604020202020204"/>
                </a:rPr>
                <a:t>On cache miss, the full compilation pipeline starts and results are written to disk; on cache hit, the pre-compiled binary is read directly.</a:t>
              </a:r>
              <a:endParaRPr lang="en-US" sz="1100"/>
            </a:p>
          </p:txBody>
        </p:sp>
        <p:sp>
          <p:nvSpPr>
            <p:cNvPr id="19" name="AutoShape 19"/>
            <p:cNvSpPr/>
            <p:nvPr/>
          </p:nvSpPr>
          <p:spPr>
            <a:xfrm>
              <a:off x="6073170" y="4825444"/>
              <a:ext cx="179010" cy="64373"/>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endParaRPr/>
            </a:p>
          </p:txBody>
        </p:sp>
        <p:sp>
          <p:nvSpPr>
            <p:cNvPr id="20" name="AutoShape 20"/>
            <p:cNvSpPr/>
            <p:nvPr/>
          </p:nvSpPr>
          <p:spPr>
            <a:xfrm>
              <a:off x="6168476" y="4728885"/>
              <a:ext cx="143373" cy="257492"/>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000" b="0"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21" name="AutoShape 21"/>
            <p:cNvSpPr/>
            <p:nvPr/>
          </p:nvSpPr>
          <p:spPr>
            <a:xfrm>
              <a:off x="6252180" y="3602355"/>
              <a:ext cx="2685143" cy="2574925"/>
            </a:xfrm>
            <a:prstGeom prst="rect">
              <a:avLst/>
            </a:prstGeom>
            <a:solidFill>
              <a:srgbClr val="FBF0F1">
                <a:alpha val="100000"/>
              </a:srgbClr>
            </a:solidFill>
            <a:ln w="25400">
              <a:solidFill>
                <a:srgbClr val="C4314A">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endParaRPr/>
            </a:p>
          </p:txBody>
        </p:sp>
        <p:sp>
          <p:nvSpPr>
            <p:cNvPr id="22" name="AutoShape 22"/>
            <p:cNvSpPr/>
            <p:nvPr/>
          </p:nvSpPr>
          <p:spPr>
            <a:xfrm>
              <a:off x="6252180" y="3602355"/>
              <a:ext cx="2685143" cy="116229"/>
            </a:xfrm>
            <a:prstGeom prst="rect">
              <a:avLst/>
            </a:prstGeom>
            <a:solidFill>
              <a:srgbClr val="C4314A">
                <a:alpha val="100000"/>
              </a:srgbClr>
            </a:solidFill>
            <a:ln w="12700">
              <a:solidFill>
                <a:srgbClr val="C4314A">
                  <a:alpha val="100000"/>
                </a:srgbClr>
              </a:solidFill>
              <a:prstDash val="solid"/>
            </a:ln>
          </p:spPr>
          <p:txBody>
            <a:bodyPr wrap="square" lIns="91440" tIns="45720" rIns="91440" bIns="45720" rtlCol="0" anchor="t">
              <a:noAutofit/>
            </a:bodyPr>
            <a:lstStyle/>
            <a:p>
              <a:pPr algn="ctr">
                <a:defRPr/>
              </a:pPr>
              <a:endParaRPr/>
            </a:p>
          </p:txBody>
        </p:sp>
        <p:sp>
          <p:nvSpPr>
            <p:cNvPr id="23" name="AutoShape 23"/>
            <p:cNvSpPr/>
            <p:nvPr/>
          </p:nvSpPr>
          <p:spPr>
            <a:xfrm>
              <a:off x="6252180" y="3731101"/>
              <a:ext cx="2685143" cy="51498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800" b="1" i="0" u="none" strike="noStrike">
                  <a:solidFill>
                    <a:srgbClr val="C4314A"/>
                  </a:solidFill>
                  <a:latin typeface="Arial" panose="020B0604020202020204"/>
                  <a:ea typeface="Arial" panose="020B0604020202020204"/>
                  <a:cs typeface="Arial" panose="020B0604020202020204"/>
                  <a:sym typeface="Arial" panose="020B0604020202020204"/>
                </a:rPr>
                <a:t>③</a:t>
              </a:r>
              <a:endParaRPr lang="en-US" sz="1100"/>
            </a:p>
          </p:txBody>
        </p:sp>
        <p:sp>
          <p:nvSpPr>
            <p:cNvPr id="24" name="AutoShape 24"/>
            <p:cNvSpPr/>
            <p:nvPr/>
          </p:nvSpPr>
          <p:spPr>
            <a:xfrm>
              <a:off x="6371519" y="4272014"/>
              <a:ext cx="2446463" cy="46312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1C1C1C"/>
                  </a:solidFill>
                  <a:latin typeface="Arial" panose="020B0604020202020204"/>
                  <a:ea typeface="Arial" panose="020B0604020202020204"/>
                  <a:cs typeface="Arial" panose="020B0604020202020204"/>
                  <a:sym typeface="Arial" panose="020B0604020202020204"/>
                </a:rPr>
                <a:t>Dynamic library loading</a:t>
              </a:r>
              <a:endParaRPr lang="en-US" sz="1100"/>
            </a:p>
          </p:txBody>
        </p:sp>
        <p:sp>
          <p:nvSpPr>
            <p:cNvPr id="25" name="AutoShape 25"/>
            <p:cNvSpPr/>
            <p:nvPr/>
          </p:nvSpPr>
          <p:spPr>
            <a:xfrm>
              <a:off x="6371519" y="4761071"/>
              <a:ext cx="2446463" cy="135183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00" b="0" i="0" u="none" strike="noStrike">
                  <a:solidFill>
                    <a:srgbClr val="4A3A3B"/>
                  </a:solidFill>
                  <a:latin typeface="Arial" panose="020B0604020202020204"/>
                  <a:ea typeface="Arial" panose="020B0604020202020204"/>
                  <a:cs typeface="Arial" panose="020B0604020202020204"/>
                  <a:sym typeface="Arial" panose="020B0604020202020204"/>
                </a:rPr>
                <a:t>Via cuModuleLoadData (NVIDIA) / hipModuleLoad (AMD) or vendor-equivalent API to load onto the device and obtain the kernel handle.</a:t>
              </a:r>
              <a:endParaRPr lang="en-US" sz="1100"/>
            </a:p>
          </p:txBody>
        </p:sp>
        <p:sp>
          <p:nvSpPr>
            <p:cNvPr id="26" name="AutoShape 26"/>
            <p:cNvSpPr/>
            <p:nvPr/>
          </p:nvSpPr>
          <p:spPr>
            <a:xfrm>
              <a:off x="8937323" y="4825444"/>
              <a:ext cx="179010" cy="64373"/>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endParaRPr/>
            </a:p>
          </p:txBody>
        </p:sp>
        <p:sp>
          <p:nvSpPr>
            <p:cNvPr id="27" name="AutoShape 27"/>
            <p:cNvSpPr/>
            <p:nvPr/>
          </p:nvSpPr>
          <p:spPr>
            <a:xfrm>
              <a:off x="9032629" y="4728885"/>
              <a:ext cx="143373" cy="257492"/>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000" b="0"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28" name="AutoShape 28"/>
            <p:cNvSpPr/>
            <p:nvPr/>
          </p:nvSpPr>
          <p:spPr>
            <a:xfrm>
              <a:off x="9116332" y="3602355"/>
              <a:ext cx="2685143" cy="2574925"/>
            </a:xfrm>
            <a:prstGeom prst="rect">
              <a:avLst/>
            </a:prstGeom>
            <a:solidFill>
              <a:srgbClr val="FBF0F1">
                <a:alpha val="100000"/>
              </a:srgbClr>
            </a:solidFill>
            <a:ln w="25400">
              <a:solidFill>
                <a:srgbClr val="5C0009">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endParaRPr/>
            </a:p>
          </p:txBody>
        </p:sp>
        <p:sp>
          <p:nvSpPr>
            <p:cNvPr id="29" name="AutoShape 29"/>
            <p:cNvSpPr/>
            <p:nvPr/>
          </p:nvSpPr>
          <p:spPr>
            <a:xfrm>
              <a:off x="9116332" y="3602355"/>
              <a:ext cx="2685143" cy="116229"/>
            </a:xfrm>
            <a:prstGeom prst="rect">
              <a:avLst/>
            </a:prstGeom>
            <a:solidFill>
              <a:srgbClr val="5C0009">
                <a:alpha val="100000"/>
              </a:srgbClr>
            </a:solidFill>
            <a:ln w="12700">
              <a:solidFill>
                <a:srgbClr val="5C0009">
                  <a:alpha val="100000"/>
                </a:srgbClr>
              </a:solidFill>
              <a:prstDash val="solid"/>
            </a:ln>
          </p:spPr>
          <p:txBody>
            <a:bodyPr wrap="square" lIns="91440" tIns="45720" rIns="91440" bIns="45720" rtlCol="0" anchor="t">
              <a:noAutofit/>
            </a:bodyPr>
            <a:lstStyle/>
            <a:p>
              <a:pPr algn="ctr">
                <a:defRPr/>
              </a:pPr>
              <a:endParaRPr/>
            </a:p>
          </p:txBody>
        </p:sp>
        <p:sp>
          <p:nvSpPr>
            <p:cNvPr id="30" name="AutoShape 30"/>
            <p:cNvSpPr/>
            <p:nvPr/>
          </p:nvSpPr>
          <p:spPr>
            <a:xfrm>
              <a:off x="9116332" y="3731101"/>
              <a:ext cx="2685143" cy="51498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800" b="1" i="0" u="none" strike="noStrike">
                  <a:solidFill>
                    <a:srgbClr val="5C0009"/>
                  </a:solidFill>
                  <a:latin typeface="Arial" panose="020B0604020202020204"/>
                  <a:ea typeface="Arial" panose="020B0604020202020204"/>
                  <a:cs typeface="Arial" panose="020B0604020202020204"/>
                  <a:sym typeface="Arial" panose="020B0604020202020204"/>
                </a:rPr>
                <a:t>④</a:t>
              </a:r>
              <a:endParaRPr lang="en-US" sz="1100"/>
            </a:p>
          </p:txBody>
        </p:sp>
        <p:sp>
          <p:nvSpPr>
            <p:cNvPr id="31" name="AutoShape 31"/>
            <p:cNvSpPr/>
            <p:nvPr/>
          </p:nvSpPr>
          <p:spPr>
            <a:xfrm>
              <a:off x="9235672" y="4272014"/>
              <a:ext cx="2446463" cy="46312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1C1C1C"/>
                  </a:solidFill>
                  <a:latin typeface="Arial" panose="020B0604020202020204"/>
                  <a:ea typeface="Arial" panose="020B0604020202020204"/>
                  <a:cs typeface="Arial" panose="020B0604020202020204"/>
                  <a:sym typeface="Arial" panose="020B0604020202020204"/>
                </a:rPr>
                <a:t>Kernel dispatch and execution</a:t>
              </a:r>
              <a:endParaRPr lang="en-US" sz="1100"/>
            </a:p>
          </p:txBody>
        </p:sp>
        <p:sp>
          <p:nvSpPr>
            <p:cNvPr id="32" name="AutoShape 32"/>
            <p:cNvSpPr/>
            <p:nvPr/>
          </p:nvSpPr>
          <p:spPr>
            <a:xfrm>
              <a:off x="9235672" y="4761071"/>
              <a:ext cx="2446463" cy="135183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00" b="0" i="0" u="none" strike="noStrike">
                  <a:solidFill>
                    <a:srgbClr val="4A3A3B"/>
                  </a:solidFill>
                  <a:latin typeface="Arial" panose="020B0604020202020204"/>
                  <a:ea typeface="Arial" panose="020B0604020202020204"/>
                  <a:cs typeface="Arial" panose="020B0604020202020204"/>
                  <a:sym typeface="Arial" panose="020B0604020202020204"/>
                </a:rPr>
                <a:t>UnifiedHardware Manager provides unified launch API wrapping, shielding vendor differences; FlagTree replaces the system triton package for seamless upper-layer framework switching.</a:t>
              </a:r>
              <a:endParaRPr lang="en-US" sz="1100"/>
            </a:p>
          </p:txBody>
        </p:sp>
      </p:gr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KernelGen  Generated Code Examples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The code generated by KernelGen is functionally complete</a:t>
            </a: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 terms of engineering structure, it typically manifests as a hybrid single file containing business logic, test utilities, and plotting scripts</a:t>
            </a:r>
          </a:p>
        </p:txBody>
      </p:sp>
      <p:pic>
        <p:nvPicPr>
          <p:cNvPr id="6" name="Picture 6"/>
          <p:cNvPicPr>
            <a:picLocks noChangeAspect="1"/>
          </p:cNvPicPr>
          <p:nvPr/>
        </p:nvPicPr>
        <p:blipFill>
          <a:blip r:embed="rId2"/>
          <a:srcRect/>
          <a:stretch>
            <a:fillRect/>
          </a:stretch>
        </p:blipFill>
        <p:spPr>
          <a:xfrm>
            <a:off x="618490" y="2918460"/>
            <a:ext cx="5240655" cy="1976755"/>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316345" y="2497455"/>
            <a:ext cx="5485130" cy="350012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Engineering Criteria for Operator Integration</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's generated operators must satisfy:</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Pass correctness verification in an isolated environment</a:t>
            </a: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andCUDA baseline implementation comparison</a:t>
            </a: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The baseline implementation is also generated byKernelGen</a:t>
            </a: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Meet preset benchmarks in performance testing</a:t>
            </a:r>
          </a:p>
        </p:txBody>
      </p:sp>
      <p:pic>
        <p:nvPicPr>
          <p:cNvPr id="6" name="Picture 6"/>
          <p:cNvPicPr>
            <a:picLocks noChangeAspect="1"/>
          </p:cNvPicPr>
          <p:nvPr/>
        </p:nvPicPr>
        <p:blipFill>
          <a:blip r:embed="rId2"/>
          <a:srcRect/>
          <a:stretch>
            <a:fillRect/>
          </a:stretch>
        </p:blipFill>
        <p:spPr>
          <a:xfrm>
            <a:off x="7193280" y="1464945"/>
            <a:ext cx="4057650" cy="5032375"/>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706120" y="3429000"/>
            <a:ext cx="5534660" cy="128143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Standardized Refactoring</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https://github.com/flagos-ai/KernelGen/tree/main/tools</a:t>
            </a: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Execution Logic:AST  parsing and structural cleanup, transforming the original code into standardized operator library modules .</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Kernel Extraction: Strip benchmarking code, dynamize grid configuration.</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Dependency Injection: Mount FlagGems 's dedicated @libentry  decorator to integrate with the cache dispatch mechanism .</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Test Migration: Refactor assertions into the standard pytest  parameterized test framework.</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Standardized Refactoring</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https://github.com/flagos-ai/KernelGen/tree/main/tools</a:t>
            </a:r>
          </a:p>
        </p:txBody>
      </p:sp>
      <p:graphicFrame>
        <p:nvGraphicFramePr>
          <p:cNvPr id="5" name="Table 5"/>
          <p:cNvGraphicFramePr>
            <a:graphicFrameLocks noGrp="1"/>
          </p:cNvGraphicFramePr>
          <p:nvPr/>
        </p:nvGraphicFramePr>
        <p:xfrm>
          <a:off x="215900" y="2198079"/>
          <a:ext cx="11760200" cy="3414395"/>
        </p:xfrm>
        <a:graphic>
          <a:graphicData uri="http://schemas.openxmlformats.org/drawingml/2006/table">
            <a:tbl>
              <a:tblPr>
                <a:effectLst/>
              </a:tblPr>
              <a:tblGrid>
                <a:gridCol w="2910840">
                  <a:extLst>
                    <a:ext uri="{9D8B030D-6E8A-4147-A177-3AD203B41FA5}">
                      <a16:colId xmlns:a16="http://schemas.microsoft.com/office/drawing/2014/main" val="20000"/>
                    </a:ext>
                  </a:extLst>
                </a:gridCol>
                <a:gridCol w="5627370">
                  <a:extLst>
                    <a:ext uri="{9D8B030D-6E8A-4147-A177-3AD203B41FA5}">
                      <a16:colId xmlns:a16="http://schemas.microsoft.com/office/drawing/2014/main" val="20001"/>
                    </a:ext>
                  </a:extLst>
                </a:gridCol>
                <a:gridCol w="3221990">
                  <a:extLst>
                    <a:ext uri="{9D8B030D-6E8A-4147-A177-3AD203B41FA5}">
                      <a16:colId xmlns:a16="http://schemas.microsoft.com/office/drawing/2014/main" val="20002"/>
                    </a:ext>
                  </a:extLst>
                </a:gridCol>
              </a:tblGrid>
              <a:tr h="346075">
                <a:tc>
                  <a:txBody>
                    <a:bodyPr/>
                    <a:lstStyle/>
                    <a:p>
                      <a:pPr indent="0" algn="ctr">
                        <a:lnSpc>
                          <a:spcPct val="117000"/>
                        </a:lnSpc>
                        <a:defRPr/>
                      </a:pPr>
                      <a:r>
                        <a:rPr lang="en-US" sz="1200" b="1" i="0" u="none" strike="noStrike" spc="120">
                          <a:solidFill>
                            <a:srgbClr val="000000"/>
                          </a:solidFill>
                          <a:latin typeface="Arial" panose="020B0604020202020204"/>
                          <a:ea typeface="Arial" panose="020B0604020202020204"/>
                          <a:cs typeface="Arial" panose="020B0604020202020204"/>
                          <a:sym typeface="Arial" panose="020B0604020202020204"/>
                        </a:rPr>
                        <a:t>KernelGen Original File Output</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c>
                  <a:txBody>
                    <a:bodyPr/>
                    <a:lstStyle/>
                    <a:p>
                      <a:pPr indent="0" algn="ctr">
                        <a:lnSpc>
                          <a:spcPct val="117000"/>
                        </a:lnSpc>
                        <a:defRPr/>
                      </a:pPr>
                      <a:r>
                        <a:rPr lang="en-US" sz="1200" b="1" i="0" u="none" strike="noStrike" spc="120">
                          <a:solidFill>
                            <a:srgbClr val="000000"/>
                          </a:solidFill>
                          <a:latin typeface="Arial" panose="020B0604020202020204"/>
                          <a:ea typeface="Arial" panose="020B0604020202020204"/>
                          <a:cs typeface="Arial" panose="020B0604020202020204"/>
                          <a:sym typeface="Arial" panose="020B0604020202020204"/>
                        </a:rPr>
                        <a:t>convert.py  Parsing Behavior and Structural Cleanup</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c>
                  <a:txBody>
                    <a:bodyPr/>
                    <a:lstStyle/>
                    <a:p>
                      <a:pPr indent="0" algn="ctr">
                        <a:lnSpc>
                          <a:spcPct val="117000"/>
                        </a:lnSpc>
                        <a:defRPr/>
                      </a:pPr>
                      <a:r>
                        <a:rPr lang="en-US" sz="1200" b="1" i="0" u="none" strike="noStrike" spc="120">
                          <a:solidFill>
                            <a:srgbClr val="000000"/>
                          </a:solidFill>
                          <a:latin typeface="Arial" panose="020B0604020202020204"/>
                          <a:ea typeface="Arial" panose="020B0604020202020204"/>
                          <a:cs typeface="Arial" panose="020B0604020202020204"/>
                          <a:sym typeface="Arial" panose="020B0604020202020204"/>
                        </a:rPr>
                        <a:t>FlagGems  Target Module Mapping</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extLst>
                  <a:ext uri="{0D108BD9-81ED-4DB2-BD59-A6C34878D82A}">
                    <a16:rowId xmlns:a16="http://schemas.microsoft.com/office/drawing/2014/main" val="10000"/>
                  </a:ext>
                </a:extLst>
              </a:tr>
              <a:tr h="858520">
                <a:tc>
                  <a:txBody>
                    <a:bodyPr/>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[operator]_triton.py</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Strip all performance benchmarks and test stub code. Extract the main kernel function containing @triton.jit. Convert KernelGen-generated hardcoded launch parameters to dynamic grid configurations; inject FlagGems' dedicated @libentry decorator for mounting auto-tuning and heuristic rule caching mechanisms.</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src/flag_gems/ops/[operator].py</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1"/>
                  </a:ext>
                </a:extLst>
              </a:tr>
              <a:tr h="492760">
                <a:tc>
                  <a:txBody>
                    <a:bodyPr/>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[operator]_baseline.py</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Extract the native PyTorch  or CUDA  operator implementation as the baseline reference, wrapping it as the benchmark function in the test suite.</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Extracted for test module invocation.</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2"/>
                  </a:ext>
                </a:extLst>
              </a:tr>
              <a:tr h="858520">
                <a:tc>
                  <a:txBody>
                    <a:bodyPr/>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test_[op]_accuracy.py</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Refactor assertion logic. Transform standalone assertion scripts into standard pytest  framework unit test classes. Inject parameterized decorators for different data types (FP16, BF16, FP32) parameterized decorators, and add boundary tests for NaN,Inf  and other atypical values with boundary condition handling.</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tests/[operator]_test.py</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3"/>
                  </a:ext>
                </a:extLst>
              </a:tr>
              <a:tr h="858520">
                <a:tc>
                  <a:txBody>
                    <a:bodyPr/>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test_[op]_performance.py</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l">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Clean up chart generation code. Retain key Throughput (Throughput) and Latency (Latency) evaluation logic, and integrate into FlagGems 's automated CI/CD  performance benchmark (Benchmark) evaluation pipeline to ensure regression test stability.</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tests/[operator]_test.py</a:t>
                      </a:r>
                      <a:endParaRPr lang="en-US" sz="1100"/>
                    </a:p>
                  </a:txBody>
                  <a:tcPr marL="107950" marR="107950" marT="63500" marB="63500">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SubmitPR toexperimental_ops</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https://github.com/flagos-ai/FlagGems/tree/master/src/flag_gems/experimental_ops</a:t>
            </a:r>
          </a:p>
        </p:txBody>
      </p:sp>
      <p:pic>
        <p:nvPicPr>
          <p:cNvPr id="5" name="Picture 5"/>
          <p:cNvPicPr>
            <a:picLocks noGrp="1" noChangeAspect="1"/>
          </p:cNvPicPr>
          <p:nvPr>
            <p:ph type="body" sz="quarter" idx="9"/>
          </p:nvPr>
        </p:nvPicPr>
        <p:blipFill>
          <a:blip r:embed="rId2"/>
          <a:srcRect/>
          <a:stretch>
            <a:fillRect/>
          </a:stretch>
        </p:blipFill>
        <p:spPr>
          <a:xfrm>
            <a:off x="1945272" y="1323975"/>
            <a:ext cx="8434806" cy="48529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p>
        </p:txBody>
      </p:sp>
      <p:pic>
        <p:nvPicPr>
          <p:cNvPr id="3" name="Picture 3"/>
          <p:cNvPicPr>
            <a:picLocks noChangeAspect="1"/>
          </p:cNvPicPr>
          <p:nvPr/>
        </p:nvPicPr>
        <p:blipFill>
          <a:blip r:embed="rId2"/>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7"/>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1" tooltip="https://flagos.io/Home"/>
              </a:rPr>
              <a:t>https://flagos.io/Home</a:t>
            </a:r>
            <a:endParaRPr lang="en-US" sz="1100"/>
          </a:p>
        </p:txBody>
      </p:sp>
      <p:pic>
        <p:nvPicPr>
          <p:cNvPr id="18" name="Picture 18"/>
          <p:cNvPicPr>
            <a:picLocks noChangeAspect="1"/>
          </p:cNvPicPr>
          <p:nvPr/>
        </p:nvPicPr>
        <p:blipFill>
          <a:blip r:embed="rId12"/>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3"/>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2"/>
          <a:srcRect l="2306" r="2305"/>
          <a:stretch>
            <a:fillRect/>
          </a:stretch>
        </p:blipFill>
        <p:spPr>
          <a:xfrm>
            <a:off x="0" y="1"/>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1547</Words>
  <Application>Microsoft Office PowerPoint</Application>
  <PresentationFormat>宽屏</PresentationFormat>
  <Paragraphs>192</Paragraphs>
  <Slides>19</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19</vt:i4>
      </vt:variant>
    </vt:vector>
  </HeadingPairs>
  <TitlesOfParts>
    <vt:vector size="29" baseType="lpstr">
      <vt:lpstr>Noto Sans SC</vt:lpstr>
      <vt:lpstr>Pretendard</vt:lpstr>
      <vt:lpstr>微软雅黑</vt:lpstr>
      <vt:lpstr>Arial</vt:lpstr>
      <vt:lpstr>Calibri</vt:lpstr>
      <vt:lpstr>Calibri Light</vt:lpstr>
      <vt:lpstr>Garamond</vt:lpstr>
      <vt:lpstr>Montserrat SemiBold</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Xiang Li</cp:lastModifiedBy>
  <cp:revision>27</cp:revision>
  <dcterms:created xsi:type="dcterms:W3CDTF">2026-04-24T01:53:00Z</dcterms:created>
  <dcterms:modified xsi:type="dcterms:W3CDTF">2026-05-27T10:19:25Z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3BE014298C8173DBA087E969CE223784_42</vt:lpwstr>
  </property>
  <property fmtid="{D5CDD505-2E9C-101B-9397-08002B2CF9AE}" pid="3" name="KSOProductBuildVer">
    <vt:lpwstr>2052-12.1.0.21915</vt:lpwstr>
  </property>
</Properties>
</file>