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8"/>
  </p:notesMasterIdLst>
  <p:sldIdLst>
    <p:sldId id="256" r:id="rId3"/>
    <p:sldId id="375" r:id="rId4"/>
    <p:sldId id="376" r:id="rId5"/>
    <p:sldId id="377" r:id="rId6"/>
    <p:sldId id="378" r:id="rId7"/>
    <p:sldId id="379" r:id="rId8"/>
    <p:sldId id="380" r:id="rId9"/>
    <p:sldId id="381" r:id="rId10"/>
    <p:sldId id="382" r:id="rId11"/>
    <p:sldId id="383" r:id="rId12"/>
    <p:sldId id="384" r:id="rId13"/>
    <p:sldId id="385" r:id="rId14"/>
    <p:sldId id="386" r:id="rId15"/>
    <p:sldId id="387" r:id="rId16"/>
    <p:sldId id="388" r:id="rId17"/>
    <p:sldId id="389" r:id="rId18"/>
    <p:sldId id="390" r:id="rId19"/>
    <p:sldId id="391" r:id="rId20"/>
    <p:sldId id="392" r:id="rId21"/>
    <p:sldId id="393" r:id="rId22"/>
    <p:sldId id="394" r:id="rId23"/>
    <p:sldId id="395" r:id="rId24"/>
    <p:sldId id="365" r:id="rId25"/>
    <p:sldId id="366" r:id="rId26"/>
    <p:sldId id="322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6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27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26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23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22.png"/><Relationship Id="rId9" Type="http://schemas.openxmlformats.org/officeDocument/2006/relationships/hyperlink" Target="https://space.bilibili.com/3546791834290849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37: Performances Metrics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800225" y="4846638"/>
            <a:ext cx="10391775" cy="4746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FLOPS, Bandwidth, Latency, Utilization, Roofline Model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878" y="628223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Why Do We Need Performance Metrics?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206068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 High-Performance Computing (HPC) and system optimization,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0956" y="1575916"/>
            <a:ext cx="5657850" cy="9960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 need to </a:t>
            </a: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quantify </a:t>
            </a:r>
            <a:r>
              <a:rPr lang="en-US" sz="15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program and hardware performance — different metrics reveal bottlenecks at different levels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380956" y="3124280"/>
            <a:ext cx="5562600" cy="2895600"/>
          </a:xfrm>
          <a:custGeom>
            <a:avLst/>
            <a:gdLst/>
            <a:ahLst/>
            <a:cxnLst/>
            <a:rect l="l" t="t" r="r" b="b"/>
            <a:pathLst>
              <a:path w="5562600" h="2895600">
                <a:moveTo>
                  <a:pt x="76211" y="0"/>
                </a:moveTo>
                <a:lnTo>
                  <a:pt x="5486389" y="0"/>
                </a:lnTo>
                <a:cubicBezTo>
                  <a:pt x="5528479" y="0"/>
                  <a:pt x="5562600" y="34121"/>
                  <a:pt x="5562600" y="76211"/>
                </a:cubicBezTo>
                <a:lnTo>
                  <a:pt x="5562600" y="2819389"/>
                </a:lnTo>
                <a:cubicBezTo>
                  <a:pt x="5562600" y="2861479"/>
                  <a:pt x="5528479" y="2895600"/>
                  <a:pt x="5486389" y="2895600"/>
                </a:cubicBezTo>
                <a:lnTo>
                  <a:pt x="76211" y="2895600"/>
                </a:lnTo>
                <a:cubicBezTo>
                  <a:pt x="34121" y="2895600"/>
                  <a:pt x="0" y="2861479"/>
                  <a:pt x="0" y="2819389"/>
                </a:cubicBezTo>
                <a:lnTo>
                  <a:pt x="0" y="76211"/>
                </a:lnTo>
                <a:cubicBezTo>
                  <a:pt x="0" y="34150"/>
                  <a:pt x="34150" y="0"/>
                  <a:pt x="7621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09529" y="3352853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Common Performance Metrics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609529" y="382910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33309" y="3933801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7" y="161839"/>
                  <a:pt x="128587" y="150019"/>
                </a:cubicBezTo>
                <a:lnTo>
                  <a:pt x="128587" y="21431"/>
                </a:lnTo>
                <a:cubicBezTo>
                  <a:pt x="128587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8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8"/>
                </a:cubicBezTo>
                <a:lnTo>
                  <a:pt x="107156" y="42863"/>
                </a:lnTo>
                <a:cubicBezTo>
                  <a:pt x="107156" y="48790"/>
                  <a:pt x="102368" y="53577"/>
                  <a:pt x="96441" y="53577"/>
                </a:cubicBezTo>
                <a:lnTo>
                  <a:pt x="32148" y="53577"/>
                </a:lnTo>
                <a:cubicBezTo>
                  <a:pt x="26220" y="53577"/>
                  <a:pt x="21431" y="48790"/>
                  <a:pt x="21431" y="42863"/>
                </a:cubicBezTo>
                <a:lnTo>
                  <a:pt x="21431" y="32148"/>
                </a:lnTo>
                <a:cubicBezTo>
                  <a:pt x="21431" y="26220"/>
                  <a:pt x="26220" y="21431"/>
                  <a:pt x="32148" y="21431"/>
                </a:cubicBezTo>
                <a:close/>
                <a:moveTo>
                  <a:pt x="37504" y="77688"/>
                </a:moveTo>
                <a:cubicBezTo>
                  <a:pt x="37504" y="82125"/>
                  <a:pt x="33904" y="85725"/>
                  <a:pt x="29468" y="85725"/>
                </a:cubicBezTo>
                <a:cubicBezTo>
                  <a:pt x="25032" y="85725"/>
                  <a:pt x="21431" y="82125"/>
                  <a:pt x="21431" y="77688"/>
                </a:cubicBezTo>
                <a:cubicBezTo>
                  <a:pt x="21431" y="73254"/>
                  <a:pt x="25032" y="69652"/>
                  <a:pt x="29468" y="69652"/>
                </a:cubicBezTo>
                <a:cubicBezTo>
                  <a:pt x="33904" y="69652"/>
                  <a:pt x="37504" y="73254"/>
                  <a:pt x="37504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5"/>
                  <a:pt x="56257" y="77688"/>
                </a:cubicBezTo>
                <a:cubicBezTo>
                  <a:pt x="56257" y="73254"/>
                  <a:pt x="59858" y="69652"/>
                  <a:pt x="64294" y="69652"/>
                </a:cubicBezTo>
                <a:cubicBezTo>
                  <a:pt x="68729" y="69652"/>
                  <a:pt x="72330" y="73254"/>
                  <a:pt x="72330" y="77688"/>
                </a:cubicBezTo>
                <a:cubicBezTo>
                  <a:pt x="72330" y="82125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5"/>
                  <a:pt x="103555" y="85725"/>
                  <a:pt x="99120" y="85725"/>
                </a:cubicBezTo>
                <a:cubicBezTo>
                  <a:pt x="94684" y="85725"/>
                  <a:pt x="91083" y="82125"/>
                  <a:pt x="91083" y="77688"/>
                </a:cubicBezTo>
                <a:cubicBezTo>
                  <a:pt x="91083" y="73254"/>
                  <a:pt x="94684" y="69652"/>
                  <a:pt x="99120" y="69652"/>
                </a:cubicBezTo>
                <a:cubicBezTo>
                  <a:pt x="103555" y="69652"/>
                  <a:pt x="107156" y="73254"/>
                  <a:pt x="107156" y="77688"/>
                </a:cubicBezTo>
                <a:close/>
                <a:moveTo>
                  <a:pt x="29468" y="117873"/>
                </a:moveTo>
                <a:cubicBezTo>
                  <a:pt x="25032" y="117873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4" y="105400"/>
                  <a:pt x="37504" y="109835"/>
                </a:cubicBezTo>
                <a:cubicBezTo>
                  <a:pt x="37504" y="114271"/>
                  <a:pt x="33904" y="117873"/>
                  <a:pt x="29468" y="117873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3"/>
                  <a:pt x="64294" y="117873"/>
                </a:cubicBezTo>
                <a:cubicBezTo>
                  <a:pt x="59858" y="117873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3"/>
                </a:moveTo>
                <a:cubicBezTo>
                  <a:pt x="94684" y="117873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3"/>
                  <a:pt x="99120" y="117873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6"/>
                  <a:pt x="29468" y="133946"/>
                </a:cubicBezTo>
                <a:lnTo>
                  <a:pt x="66973" y="133946"/>
                </a:lnTo>
                <a:cubicBezTo>
                  <a:pt x="71426" y="133946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6"/>
                </a:moveTo>
                <a:cubicBezTo>
                  <a:pt x="103574" y="133946"/>
                  <a:pt x="107156" y="137528"/>
                  <a:pt x="107156" y="141982"/>
                </a:cubicBezTo>
                <a:cubicBezTo>
                  <a:pt x="107156" y="146436"/>
                  <a:pt x="103574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6"/>
                  <a:pt x="99120" y="1339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04734" y="3771941"/>
            <a:ext cx="695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FLOPS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04733" y="4038647"/>
            <a:ext cx="1374697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Compute Capacity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3238456" y="382910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3340805" y="393380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8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8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8"/>
                </a:cubicBezTo>
                <a:close/>
                <a:moveTo>
                  <a:pt x="85725" y="139302"/>
                </a:moveTo>
                <a:cubicBezTo>
                  <a:pt x="97546" y="139302"/>
                  <a:pt x="107156" y="129692"/>
                  <a:pt x="107156" y="117873"/>
                </a:cubicBezTo>
                <a:cubicBezTo>
                  <a:pt x="107156" y="112447"/>
                  <a:pt x="105147" y="107459"/>
                  <a:pt x="101798" y="103707"/>
                </a:cubicBezTo>
                <a:lnTo>
                  <a:pt x="125071" y="57194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9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3"/>
                </a:cubicBezTo>
                <a:cubicBezTo>
                  <a:pt x="64294" y="129692"/>
                  <a:pt x="73904" y="139302"/>
                  <a:pt x="85725" y="139302"/>
                </a:cubicBezTo>
                <a:close/>
                <a:moveTo>
                  <a:pt x="58936" y="48221"/>
                </a:moveTo>
                <a:cubicBezTo>
                  <a:pt x="58936" y="42306"/>
                  <a:pt x="54134" y="37504"/>
                  <a:pt x="48221" y="37504"/>
                </a:cubicBezTo>
                <a:cubicBezTo>
                  <a:pt x="42306" y="37504"/>
                  <a:pt x="37504" y="42306"/>
                  <a:pt x="37504" y="48221"/>
                </a:cubicBezTo>
                <a:cubicBezTo>
                  <a:pt x="37504" y="54134"/>
                  <a:pt x="42306" y="58936"/>
                  <a:pt x="48221" y="58936"/>
                </a:cubicBezTo>
                <a:cubicBezTo>
                  <a:pt x="54134" y="58936"/>
                  <a:pt x="58936" y="54134"/>
                  <a:pt x="58936" y="48221"/>
                </a:cubicBezTo>
                <a:close/>
                <a:moveTo>
                  <a:pt x="32148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8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8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2" y="75009"/>
                </a:cubicBezTo>
                <a:cubicBezTo>
                  <a:pt x="133389" y="75009"/>
                  <a:pt x="128587" y="79811"/>
                  <a:pt x="128587" y="85725"/>
                </a:cubicBezTo>
                <a:cubicBezTo>
                  <a:pt x="128587" y="91639"/>
                  <a:pt x="133389" y="96441"/>
                  <a:pt x="139302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733661" y="3771941"/>
            <a:ext cx="10191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Bandwidth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33661" y="4038647"/>
            <a:ext cx="10096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Bandwidth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09529" y="447676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711878" y="45814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3"/>
                  <a:pt x="79028" y="90915"/>
                  <a:pt x="81271" y="92422"/>
                </a:cubicBezTo>
                <a:lnTo>
                  <a:pt x="113419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2" y="102937"/>
                  <a:pt x="122326" y="100460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8"/>
                  <a:pt x="85725" y="32148"/>
                </a:cubicBezTo>
                <a:cubicBezTo>
                  <a:pt x="81271" y="32148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04734" y="4419603"/>
            <a:ext cx="742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Latency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04734" y="4686309"/>
            <a:ext cx="7334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Latency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3238456" y="447676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3340805" y="4592179"/>
            <a:ext cx="171450" cy="150017"/>
          </a:xfrm>
          <a:custGeom>
            <a:avLst/>
            <a:gdLst/>
            <a:ahLst/>
            <a:cxnLst/>
            <a:rect l="l" t="t" r="r" b="b"/>
            <a:pathLst>
              <a:path w="171450" h="150017">
                <a:moveTo>
                  <a:pt x="21431" y="10715"/>
                </a:moveTo>
                <a:cubicBezTo>
                  <a:pt x="21431" y="4788"/>
                  <a:pt x="16643" y="0"/>
                  <a:pt x="10716" y="0"/>
                </a:cubicBezTo>
                <a:cubicBezTo>
                  <a:pt x="4789" y="0"/>
                  <a:pt x="0" y="4788"/>
                  <a:pt x="0" y="10715"/>
                </a:cubicBezTo>
                <a:lnTo>
                  <a:pt x="0" y="123230"/>
                </a:lnTo>
                <a:cubicBezTo>
                  <a:pt x="0" y="138030"/>
                  <a:pt x="11988" y="150018"/>
                  <a:pt x="26789" y="150018"/>
                </a:cubicBezTo>
                <a:lnTo>
                  <a:pt x="160734" y="150018"/>
                </a:lnTo>
                <a:cubicBezTo>
                  <a:pt x="166661" y="150018"/>
                  <a:pt x="171450" y="145230"/>
                  <a:pt x="171450" y="139303"/>
                </a:cubicBezTo>
                <a:cubicBezTo>
                  <a:pt x="171450" y="133376"/>
                  <a:pt x="166661" y="128586"/>
                  <a:pt x="160734" y="128586"/>
                </a:cubicBezTo>
                <a:lnTo>
                  <a:pt x="26789" y="128586"/>
                </a:lnTo>
                <a:cubicBezTo>
                  <a:pt x="23842" y="128586"/>
                  <a:pt x="21431" y="126176"/>
                  <a:pt x="21431" y="123230"/>
                </a:cubicBezTo>
                <a:lnTo>
                  <a:pt x="21431" y="10715"/>
                </a:lnTo>
                <a:close/>
                <a:moveTo>
                  <a:pt x="157587" y="39714"/>
                </a:moveTo>
                <a:cubicBezTo>
                  <a:pt x="161773" y="35529"/>
                  <a:pt x="161773" y="28731"/>
                  <a:pt x="157587" y="24546"/>
                </a:cubicBezTo>
                <a:cubicBezTo>
                  <a:pt x="153401" y="20360"/>
                  <a:pt x="146602" y="20360"/>
                  <a:pt x="142417" y="24546"/>
                </a:cubicBezTo>
                <a:lnTo>
                  <a:pt x="107156" y="59840"/>
                </a:lnTo>
                <a:lnTo>
                  <a:pt x="87935" y="40652"/>
                </a:lnTo>
                <a:cubicBezTo>
                  <a:pt x="83749" y="36466"/>
                  <a:pt x="76952" y="36466"/>
                  <a:pt x="72766" y="40652"/>
                </a:cubicBezTo>
                <a:lnTo>
                  <a:pt x="40618" y="72799"/>
                </a:lnTo>
                <a:cubicBezTo>
                  <a:pt x="36432" y="76985"/>
                  <a:pt x="36432" y="83782"/>
                  <a:pt x="40618" y="87968"/>
                </a:cubicBezTo>
                <a:cubicBezTo>
                  <a:pt x="44806" y="92154"/>
                  <a:pt x="51601" y="92154"/>
                  <a:pt x="55789" y="87968"/>
                </a:cubicBezTo>
                <a:lnTo>
                  <a:pt x="80367" y="63389"/>
                </a:lnTo>
                <a:lnTo>
                  <a:pt x="99588" y="82610"/>
                </a:lnTo>
                <a:cubicBezTo>
                  <a:pt x="103774" y="86796"/>
                  <a:pt x="110573" y="86796"/>
                  <a:pt x="114758" y="82610"/>
                </a:cubicBezTo>
                <a:lnTo>
                  <a:pt x="157620" y="3974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3733661" y="4419603"/>
            <a:ext cx="971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Utilization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733661" y="4686309"/>
            <a:ext cx="1981078" cy="26661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Resource Utilization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628484" y="5067265"/>
            <a:ext cx="5086255" cy="723900"/>
          </a:xfrm>
          <a:custGeom>
            <a:avLst/>
            <a:gdLst/>
            <a:ahLst/>
            <a:cxnLst/>
            <a:rect l="l" t="t" r="r" b="b"/>
            <a:pathLst>
              <a:path w="5086255" h="723900">
                <a:moveTo>
                  <a:pt x="37910" y="0"/>
                </a:moveTo>
                <a:lnTo>
                  <a:pt x="5048156" y="0"/>
                </a:lnTo>
                <a:cubicBezTo>
                  <a:pt x="5069183" y="0"/>
                  <a:pt x="5086255" y="17073"/>
                  <a:pt x="5086255" y="38099"/>
                </a:cubicBezTo>
                <a:lnTo>
                  <a:pt x="5086255" y="685801"/>
                </a:lnTo>
                <a:cubicBezTo>
                  <a:pt x="5086255" y="706827"/>
                  <a:pt x="5069183" y="723900"/>
                  <a:pt x="5048156" y="723900"/>
                </a:cubicBezTo>
                <a:lnTo>
                  <a:pt x="37910" y="723900"/>
                </a:lnTo>
                <a:cubicBezTo>
                  <a:pt x="16974" y="723900"/>
                  <a:pt x="0" y="706926"/>
                  <a:pt x="0" y="6859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628484" y="5067265"/>
            <a:ext cx="37909" cy="723900"/>
          </a:xfrm>
          <a:custGeom>
            <a:avLst/>
            <a:gdLst/>
            <a:ahLst/>
            <a:cxnLst/>
            <a:rect l="l" t="t" r="r" b="b"/>
            <a:pathLst>
              <a:path w="37909" h="723900">
                <a:moveTo>
                  <a:pt x="37910" y="0"/>
                </a:moveTo>
                <a:lnTo>
                  <a:pt x="37910" y="0"/>
                </a:lnTo>
                <a:lnTo>
                  <a:pt x="37910" y="723900"/>
                </a:lnTo>
                <a:lnTo>
                  <a:pt x="37910" y="723900"/>
                </a:lnTo>
                <a:cubicBezTo>
                  <a:pt x="16974" y="723900"/>
                  <a:pt x="0" y="706926"/>
                  <a:pt x="0" y="6859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61689" y="5181514"/>
            <a:ext cx="4924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Roofline Model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1689" y="5448220"/>
            <a:ext cx="49149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Performance Ceiling Model</a:t>
            </a:r>
            <a:endParaRPr lang="en-US" sz="1100"/>
          </a:p>
        </p:txBody>
      </p:sp>
      <p:sp>
        <p:nvSpPr>
          <p:cNvPr id="27" name="Freeform 27"/>
          <p:cNvSpPr/>
          <p:nvPr/>
        </p:nvSpPr>
        <p:spPr>
          <a:xfrm>
            <a:off x="6248338" y="1066676"/>
            <a:ext cx="5562600" cy="4648200"/>
          </a:xfrm>
          <a:custGeom>
            <a:avLst/>
            <a:gdLst/>
            <a:ahLst/>
            <a:cxnLst/>
            <a:rect l="l" t="t" r="r" b="b"/>
            <a:pathLst>
              <a:path w="5562600" h="4648200">
                <a:moveTo>
                  <a:pt x="76183" y="0"/>
                </a:moveTo>
                <a:lnTo>
                  <a:pt x="5486417" y="0"/>
                </a:lnTo>
                <a:cubicBezTo>
                  <a:pt x="5528462" y="0"/>
                  <a:pt x="5562600" y="34138"/>
                  <a:pt x="5562600" y="76183"/>
                </a:cubicBezTo>
                <a:lnTo>
                  <a:pt x="5562600" y="4572017"/>
                </a:lnTo>
                <a:cubicBezTo>
                  <a:pt x="5562600" y="4614092"/>
                  <a:pt x="5528492" y="4648200"/>
                  <a:pt x="5486417" y="4648200"/>
                </a:cubicBezTo>
                <a:lnTo>
                  <a:pt x="76183" y="4648200"/>
                </a:lnTo>
                <a:cubicBezTo>
                  <a:pt x="34138" y="4648200"/>
                  <a:pt x="0" y="4614062"/>
                  <a:pt x="0" y="4572017"/>
                </a:cubicBezTo>
                <a:lnTo>
                  <a:pt x="0" y="76183"/>
                </a:lnTo>
                <a:cubicBezTo>
                  <a:pt x="0" y="34108"/>
                  <a:pt x="34108" y="0"/>
                  <a:pt x="7618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rcRect t="5" b="4"/>
          <a:stretch>
            <a:fillRect/>
          </a:stretch>
        </p:blipFill>
        <p:spPr>
          <a:xfrm>
            <a:off x="6400720" y="1771351"/>
            <a:ext cx="5257800" cy="3238500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29" name="AutoShape 29"/>
          <p:cNvSpPr/>
          <p:nvPr/>
        </p:nvSpPr>
        <p:spPr>
          <a:xfrm>
            <a:off x="6210238" y="5791043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Medium - CPU vs GPU Architecture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6233" y="607604"/>
            <a:ext cx="11629571" cy="362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Classification of Performance Metrics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71841" y="1194893"/>
            <a:ext cx="5569767" cy="4698910"/>
          </a:xfrm>
          <a:custGeom>
            <a:avLst/>
            <a:gdLst/>
            <a:ahLst/>
            <a:cxnLst/>
            <a:rect l="l" t="t" r="r" b="b"/>
            <a:pathLst>
              <a:path w="5569767" h="4698910">
                <a:moveTo>
                  <a:pt x="108875" y="0"/>
                </a:moveTo>
                <a:lnTo>
                  <a:pt x="5460893" y="0"/>
                </a:lnTo>
                <a:cubicBezTo>
                  <a:pt x="5521021" y="0"/>
                  <a:pt x="5569767" y="48744"/>
                  <a:pt x="5569767" y="108875"/>
                </a:cubicBezTo>
                <a:lnTo>
                  <a:pt x="5569767" y="4590037"/>
                </a:lnTo>
                <a:cubicBezTo>
                  <a:pt x="5569767" y="4650165"/>
                  <a:pt x="5521021" y="4698910"/>
                  <a:pt x="5460893" y="4698910"/>
                </a:cubicBezTo>
                <a:lnTo>
                  <a:pt x="108875" y="4698910"/>
                </a:lnTo>
                <a:cubicBezTo>
                  <a:pt x="48744" y="4698910"/>
                  <a:pt x="0" y="4650165"/>
                  <a:pt x="0" y="4590037"/>
                </a:cubicBezTo>
                <a:lnTo>
                  <a:pt x="0" y="108875"/>
                </a:lnTo>
                <a:cubicBezTo>
                  <a:pt x="0" y="48785"/>
                  <a:pt x="48785" y="0"/>
                  <a:pt x="108875" y="0"/>
                </a:cubicBezTo>
                <a:close/>
              </a:path>
            </a:pathLst>
          </a:custGeom>
          <a:gradFill rotWithShape="1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598556" y="1421608"/>
            <a:ext cx="580572" cy="580572"/>
          </a:xfrm>
          <a:custGeom>
            <a:avLst/>
            <a:gdLst/>
            <a:ahLst/>
            <a:cxnLst/>
            <a:rect l="l" t="t" r="r" b="b"/>
            <a:pathLst>
              <a:path w="580572" h="580572">
                <a:moveTo>
                  <a:pt x="108857" y="0"/>
                </a:moveTo>
                <a:lnTo>
                  <a:pt x="471714" y="0"/>
                </a:lnTo>
                <a:cubicBezTo>
                  <a:pt x="531834" y="0"/>
                  <a:pt x="580572" y="48738"/>
                  <a:pt x="580572" y="108857"/>
                </a:cubicBezTo>
                <a:lnTo>
                  <a:pt x="580572" y="471714"/>
                </a:lnTo>
                <a:cubicBezTo>
                  <a:pt x="580572" y="531834"/>
                  <a:pt x="531834" y="580572"/>
                  <a:pt x="471714" y="580572"/>
                </a:cubicBezTo>
                <a:lnTo>
                  <a:pt x="108857" y="580572"/>
                </a:lnTo>
                <a:cubicBezTo>
                  <a:pt x="48738" y="580572"/>
                  <a:pt x="0" y="531834"/>
                  <a:pt x="0" y="471714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blurRad="127000" dist="889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55005" y="1575760"/>
            <a:ext cx="272143" cy="272143"/>
          </a:xfrm>
          <a:custGeom>
            <a:avLst/>
            <a:gdLst/>
            <a:ahLst/>
            <a:cxnLst/>
            <a:rect l="l" t="t" r="r" b="b"/>
            <a:pathLst>
              <a:path w="272143" h="272143">
                <a:moveTo>
                  <a:pt x="93549" y="12757"/>
                </a:moveTo>
                <a:cubicBezTo>
                  <a:pt x="93549" y="5687"/>
                  <a:pt x="87862" y="0"/>
                  <a:pt x="80792" y="0"/>
                </a:cubicBezTo>
                <a:cubicBezTo>
                  <a:pt x="73723" y="0"/>
                  <a:pt x="68036" y="5687"/>
                  <a:pt x="68036" y="12757"/>
                </a:cubicBezTo>
                <a:lnTo>
                  <a:pt x="68036" y="34018"/>
                </a:lnTo>
                <a:cubicBezTo>
                  <a:pt x="49273" y="34018"/>
                  <a:pt x="34018" y="49273"/>
                  <a:pt x="34018" y="68036"/>
                </a:cubicBezTo>
                <a:lnTo>
                  <a:pt x="12757" y="68036"/>
                </a:lnTo>
                <a:cubicBezTo>
                  <a:pt x="5687" y="68036"/>
                  <a:pt x="0" y="73724"/>
                  <a:pt x="0" y="80792"/>
                </a:cubicBezTo>
                <a:cubicBezTo>
                  <a:pt x="0" y="87862"/>
                  <a:pt x="5687" y="93549"/>
                  <a:pt x="12757" y="93549"/>
                </a:cubicBezTo>
                <a:lnTo>
                  <a:pt x="34018" y="93549"/>
                </a:lnTo>
                <a:lnTo>
                  <a:pt x="34018" y="123314"/>
                </a:lnTo>
                <a:lnTo>
                  <a:pt x="12757" y="123314"/>
                </a:lnTo>
                <a:cubicBezTo>
                  <a:pt x="5687" y="123314"/>
                  <a:pt x="0" y="129002"/>
                  <a:pt x="0" y="136072"/>
                </a:cubicBezTo>
                <a:cubicBezTo>
                  <a:pt x="0" y="143140"/>
                  <a:pt x="5687" y="148827"/>
                  <a:pt x="12757" y="148827"/>
                </a:cubicBezTo>
                <a:lnTo>
                  <a:pt x="34018" y="148827"/>
                </a:lnTo>
                <a:lnTo>
                  <a:pt x="34018" y="178594"/>
                </a:lnTo>
                <a:lnTo>
                  <a:pt x="12757" y="178594"/>
                </a:lnTo>
                <a:cubicBezTo>
                  <a:pt x="5687" y="178594"/>
                  <a:pt x="0" y="184281"/>
                  <a:pt x="0" y="191350"/>
                </a:cubicBezTo>
                <a:cubicBezTo>
                  <a:pt x="0" y="198420"/>
                  <a:pt x="5687" y="204107"/>
                  <a:pt x="12757" y="204107"/>
                </a:cubicBezTo>
                <a:lnTo>
                  <a:pt x="34018" y="204107"/>
                </a:lnTo>
                <a:cubicBezTo>
                  <a:pt x="34018" y="222870"/>
                  <a:pt x="49273" y="238125"/>
                  <a:pt x="68036" y="238125"/>
                </a:cubicBezTo>
                <a:lnTo>
                  <a:pt x="68036" y="259386"/>
                </a:lnTo>
                <a:cubicBezTo>
                  <a:pt x="68036" y="266455"/>
                  <a:pt x="73723" y="272143"/>
                  <a:pt x="80792" y="272143"/>
                </a:cubicBezTo>
                <a:cubicBezTo>
                  <a:pt x="87862" y="272143"/>
                  <a:pt x="93549" y="266455"/>
                  <a:pt x="93549" y="259386"/>
                </a:cubicBezTo>
                <a:lnTo>
                  <a:pt x="93549" y="238125"/>
                </a:lnTo>
                <a:lnTo>
                  <a:pt x="123314" y="238125"/>
                </a:lnTo>
                <a:lnTo>
                  <a:pt x="123314" y="259386"/>
                </a:lnTo>
                <a:cubicBezTo>
                  <a:pt x="123314" y="266455"/>
                  <a:pt x="129002" y="272143"/>
                  <a:pt x="136072" y="272143"/>
                </a:cubicBezTo>
                <a:cubicBezTo>
                  <a:pt x="143140" y="272143"/>
                  <a:pt x="148827" y="266455"/>
                  <a:pt x="148827" y="259386"/>
                </a:cubicBezTo>
                <a:lnTo>
                  <a:pt x="148827" y="238125"/>
                </a:lnTo>
                <a:lnTo>
                  <a:pt x="178594" y="238125"/>
                </a:lnTo>
                <a:lnTo>
                  <a:pt x="178594" y="259386"/>
                </a:lnTo>
                <a:cubicBezTo>
                  <a:pt x="178594" y="266455"/>
                  <a:pt x="184281" y="272143"/>
                  <a:pt x="191350" y="272143"/>
                </a:cubicBezTo>
                <a:cubicBezTo>
                  <a:pt x="198420" y="272143"/>
                  <a:pt x="204107" y="266455"/>
                  <a:pt x="204107" y="259386"/>
                </a:cubicBezTo>
                <a:lnTo>
                  <a:pt x="204107" y="238125"/>
                </a:lnTo>
                <a:cubicBezTo>
                  <a:pt x="222870" y="238125"/>
                  <a:pt x="238125" y="222870"/>
                  <a:pt x="238125" y="204107"/>
                </a:cubicBezTo>
                <a:lnTo>
                  <a:pt x="259386" y="204107"/>
                </a:lnTo>
                <a:cubicBezTo>
                  <a:pt x="266455" y="204107"/>
                  <a:pt x="272143" y="198420"/>
                  <a:pt x="272143" y="191350"/>
                </a:cubicBezTo>
                <a:cubicBezTo>
                  <a:pt x="272143" y="184281"/>
                  <a:pt x="266455" y="178594"/>
                  <a:pt x="259386" y="178594"/>
                </a:cubicBezTo>
                <a:lnTo>
                  <a:pt x="238125" y="178594"/>
                </a:lnTo>
                <a:lnTo>
                  <a:pt x="238125" y="148827"/>
                </a:lnTo>
                <a:lnTo>
                  <a:pt x="259386" y="148827"/>
                </a:lnTo>
                <a:cubicBezTo>
                  <a:pt x="266455" y="148827"/>
                  <a:pt x="272143" y="143140"/>
                  <a:pt x="272143" y="136072"/>
                </a:cubicBezTo>
                <a:cubicBezTo>
                  <a:pt x="272143" y="129002"/>
                  <a:pt x="266455" y="123314"/>
                  <a:pt x="259386" y="123314"/>
                </a:cubicBezTo>
                <a:lnTo>
                  <a:pt x="238125" y="123314"/>
                </a:lnTo>
                <a:lnTo>
                  <a:pt x="238125" y="93549"/>
                </a:lnTo>
                <a:lnTo>
                  <a:pt x="259386" y="93549"/>
                </a:lnTo>
                <a:cubicBezTo>
                  <a:pt x="266455" y="93549"/>
                  <a:pt x="272143" y="87862"/>
                  <a:pt x="272143" y="80792"/>
                </a:cubicBezTo>
                <a:cubicBezTo>
                  <a:pt x="272143" y="73724"/>
                  <a:pt x="266455" y="68036"/>
                  <a:pt x="259386" y="68036"/>
                </a:cubicBezTo>
                <a:lnTo>
                  <a:pt x="238125" y="68036"/>
                </a:lnTo>
                <a:cubicBezTo>
                  <a:pt x="238125" y="49273"/>
                  <a:pt x="222870" y="34018"/>
                  <a:pt x="204107" y="34018"/>
                </a:cubicBezTo>
                <a:lnTo>
                  <a:pt x="204107" y="12757"/>
                </a:lnTo>
                <a:cubicBezTo>
                  <a:pt x="204107" y="5687"/>
                  <a:pt x="198420" y="0"/>
                  <a:pt x="191350" y="0"/>
                </a:cubicBezTo>
                <a:cubicBezTo>
                  <a:pt x="184281" y="0"/>
                  <a:pt x="178594" y="5687"/>
                  <a:pt x="178594" y="12757"/>
                </a:cubicBezTo>
                <a:lnTo>
                  <a:pt x="178594" y="34018"/>
                </a:lnTo>
                <a:lnTo>
                  <a:pt x="148827" y="34018"/>
                </a:lnTo>
                <a:lnTo>
                  <a:pt x="148827" y="12757"/>
                </a:lnTo>
                <a:cubicBezTo>
                  <a:pt x="148827" y="5687"/>
                  <a:pt x="143140" y="0"/>
                  <a:pt x="136072" y="0"/>
                </a:cubicBezTo>
                <a:cubicBezTo>
                  <a:pt x="129002" y="0"/>
                  <a:pt x="123314" y="5687"/>
                  <a:pt x="123314" y="12757"/>
                </a:cubicBezTo>
                <a:lnTo>
                  <a:pt x="123314" y="34018"/>
                </a:lnTo>
                <a:lnTo>
                  <a:pt x="93549" y="34018"/>
                </a:lnTo>
                <a:lnTo>
                  <a:pt x="93549" y="12757"/>
                </a:lnTo>
                <a:close/>
                <a:moveTo>
                  <a:pt x="85046" y="68036"/>
                </a:moveTo>
                <a:lnTo>
                  <a:pt x="187098" y="68036"/>
                </a:lnTo>
                <a:cubicBezTo>
                  <a:pt x="196506" y="68036"/>
                  <a:pt x="204107" y="75637"/>
                  <a:pt x="204107" y="85046"/>
                </a:cubicBezTo>
                <a:lnTo>
                  <a:pt x="204107" y="187098"/>
                </a:lnTo>
                <a:cubicBezTo>
                  <a:pt x="204107" y="196506"/>
                  <a:pt x="196506" y="204107"/>
                  <a:pt x="187098" y="204107"/>
                </a:cubicBezTo>
                <a:lnTo>
                  <a:pt x="85046" y="204107"/>
                </a:lnTo>
                <a:cubicBezTo>
                  <a:pt x="75637" y="204107"/>
                  <a:pt x="68036" y="196506"/>
                  <a:pt x="68036" y="187098"/>
                </a:cubicBezTo>
                <a:lnTo>
                  <a:pt x="68036" y="85046"/>
                </a:lnTo>
                <a:cubicBezTo>
                  <a:pt x="68036" y="75637"/>
                  <a:pt x="75637" y="68036"/>
                  <a:pt x="85046" y="68036"/>
                </a:cubicBezTo>
                <a:close/>
                <a:moveTo>
                  <a:pt x="93549" y="93549"/>
                </a:moveTo>
                <a:lnTo>
                  <a:pt x="93549" y="178594"/>
                </a:lnTo>
                <a:lnTo>
                  <a:pt x="178594" y="178594"/>
                </a:lnTo>
                <a:lnTo>
                  <a:pt x="178594" y="93549"/>
                </a:lnTo>
                <a:lnTo>
                  <a:pt x="93549" y="935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324186" y="1439731"/>
            <a:ext cx="2292383" cy="2902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Compute Capacity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24186" y="1729912"/>
            <a:ext cx="1578429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Compute Bound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616609" y="2505681"/>
            <a:ext cx="5098053" cy="1288143"/>
          </a:xfrm>
          <a:custGeom>
            <a:avLst/>
            <a:gdLst/>
            <a:ahLst/>
            <a:cxnLst/>
            <a:rect l="l" t="t" r="r" b="b"/>
            <a:pathLst>
              <a:path w="5098053" h="1288143">
                <a:moveTo>
                  <a:pt x="36105" y="0"/>
                </a:moveTo>
                <a:lnTo>
                  <a:pt x="5025479" y="0"/>
                </a:lnTo>
                <a:cubicBezTo>
                  <a:pt x="5065560" y="0"/>
                  <a:pt x="5098053" y="32492"/>
                  <a:pt x="5098053" y="72574"/>
                </a:cubicBezTo>
                <a:lnTo>
                  <a:pt x="5098053" y="1215569"/>
                </a:lnTo>
                <a:cubicBezTo>
                  <a:pt x="5098053" y="1255650"/>
                  <a:pt x="5065560" y="1288143"/>
                  <a:pt x="5025479" y="1288143"/>
                </a:cubicBez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616609" y="2505681"/>
            <a:ext cx="36105" cy="1288143"/>
          </a:xfrm>
          <a:custGeom>
            <a:avLst/>
            <a:gdLst/>
            <a:ahLst/>
            <a:cxnLst/>
            <a:rect l="l" t="t" r="r" b="b"/>
            <a:pathLst>
              <a:path w="36105" h="1288143">
                <a:moveTo>
                  <a:pt x="36105" y="0"/>
                </a:moveTo>
                <a:lnTo>
                  <a:pt x="36105" y="0"/>
                </a:lnTo>
                <a:lnTo>
                  <a:pt x="36105" y="1288143"/>
                </a:ln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897708" y="2759615"/>
            <a:ext cx="136072" cy="181428"/>
          </a:xfrm>
          <a:custGeom>
            <a:avLst/>
            <a:gdLst/>
            <a:ahLst/>
            <a:cxnLst/>
            <a:rect l="l" t="t" r="r" b="b"/>
            <a:pathLst>
              <a:path w="136072" h="181428">
                <a:moveTo>
                  <a:pt x="22678" y="0"/>
                </a:moveTo>
                <a:cubicBezTo>
                  <a:pt x="10170" y="0"/>
                  <a:pt x="0" y="10170"/>
                  <a:pt x="0" y="22678"/>
                </a:cubicBezTo>
                <a:lnTo>
                  <a:pt x="0" y="158750"/>
                </a:lnTo>
                <a:cubicBezTo>
                  <a:pt x="0" y="171259"/>
                  <a:pt x="10170" y="181428"/>
                  <a:pt x="22678" y="181428"/>
                </a:cubicBezTo>
                <a:lnTo>
                  <a:pt x="113393" y="181428"/>
                </a:lnTo>
                <a:cubicBezTo>
                  <a:pt x="125901" y="181428"/>
                  <a:pt x="136072" y="171259"/>
                  <a:pt x="136072" y="158750"/>
                </a:cubicBezTo>
                <a:lnTo>
                  <a:pt x="136072" y="22678"/>
                </a:lnTo>
                <a:cubicBezTo>
                  <a:pt x="136072" y="10170"/>
                  <a:pt x="125901" y="0"/>
                  <a:pt x="113393" y="0"/>
                </a:cubicBezTo>
                <a:lnTo>
                  <a:pt x="22678" y="0"/>
                </a:lnTo>
                <a:close/>
                <a:moveTo>
                  <a:pt x="34018" y="22678"/>
                </a:moveTo>
                <a:lnTo>
                  <a:pt x="102053" y="22678"/>
                </a:lnTo>
                <a:cubicBezTo>
                  <a:pt x="108326" y="22678"/>
                  <a:pt x="113393" y="27746"/>
                  <a:pt x="113393" y="34018"/>
                </a:cubicBezTo>
                <a:lnTo>
                  <a:pt x="113393" y="45357"/>
                </a:lnTo>
                <a:cubicBezTo>
                  <a:pt x="113393" y="51629"/>
                  <a:pt x="108326" y="56697"/>
                  <a:pt x="102053" y="56697"/>
                </a:cubicBezTo>
                <a:lnTo>
                  <a:pt x="34018" y="56697"/>
                </a:lnTo>
                <a:cubicBezTo>
                  <a:pt x="27746" y="56697"/>
                  <a:pt x="22678" y="51629"/>
                  <a:pt x="22678" y="45357"/>
                </a:cubicBezTo>
                <a:lnTo>
                  <a:pt x="22678" y="34018"/>
                </a:lnTo>
                <a:cubicBezTo>
                  <a:pt x="22678" y="27746"/>
                  <a:pt x="27746" y="22678"/>
                  <a:pt x="34018" y="22678"/>
                </a:cubicBezTo>
                <a:close/>
                <a:moveTo>
                  <a:pt x="39688" y="82210"/>
                </a:moveTo>
                <a:cubicBezTo>
                  <a:pt x="39688" y="86904"/>
                  <a:pt x="35878" y="90714"/>
                  <a:pt x="31184" y="90714"/>
                </a:cubicBezTo>
                <a:cubicBezTo>
                  <a:pt x="26488" y="90714"/>
                  <a:pt x="22678" y="86904"/>
                  <a:pt x="22678" y="82210"/>
                </a:cubicBezTo>
                <a:cubicBezTo>
                  <a:pt x="22678" y="77516"/>
                  <a:pt x="26488" y="73704"/>
                  <a:pt x="31184" y="73704"/>
                </a:cubicBezTo>
                <a:cubicBezTo>
                  <a:pt x="35878" y="73704"/>
                  <a:pt x="39688" y="77516"/>
                  <a:pt x="39688" y="82210"/>
                </a:cubicBezTo>
                <a:close/>
                <a:moveTo>
                  <a:pt x="68036" y="90714"/>
                </a:moveTo>
                <a:cubicBezTo>
                  <a:pt x="63343" y="90714"/>
                  <a:pt x="59531" y="86904"/>
                  <a:pt x="59531" y="82210"/>
                </a:cubicBezTo>
                <a:cubicBezTo>
                  <a:pt x="59531" y="77516"/>
                  <a:pt x="63343" y="73704"/>
                  <a:pt x="68036" y="73704"/>
                </a:cubicBezTo>
                <a:cubicBezTo>
                  <a:pt x="72729" y="73704"/>
                  <a:pt x="76540" y="77516"/>
                  <a:pt x="76540" y="82210"/>
                </a:cubicBezTo>
                <a:cubicBezTo>
                  <a:pt x="76540" y="86904"/>
                  <a:pt x="72729" y="90714"/>
                  <a:pt x="68036" y="90714"/>
                </a:cubicBezTo>
                <a:close/>
                <a:moveTo>
                  <a:pt x="113393" y="82210"/>
                </a:moveTo>
                <a:cubicBezTo>
                  <a:pt x="113393" y="86904"/>
                  <a:pt x="109582" y="90714"/>
                  <a:pt x="104888" y="90714"/>
                </a:cubicBezTo>
                <a:cubicBezTo>
                  <a:pt x="100195" y="90714"/>
                  <a:pt x="96384" y="86904"/>
                  <a:pt x="96384" y="82210"/>
                </a:cubicBezTo>
                <a:cubicBezTo>
                  <a:pt x="96384" y="77516"/>
                  <a:pt x="100195" y="73704"/>
                  <a:pt x="104888" y="73704"/>
                </a:cubicBezTo>
                <a:cubicBezTo>
                  <a:pt x="109582" y="73704"/>
                  <a:pt x="113393" y="77516"/>
                  <a:pt x="113393" y="82210"/>
                </a:cubicBezTo>
                <a:close/>
                <a:moveTo>
                  <a:pt x="31184" y="124732"/>
                </a:moveTo>
                <a:cubicBezTo>
                  <a:pt x="26488" y="124732"/>
                  <a:pt x="22678" y="120921"/>
                  <a:pt x="22678" y="116228"/>
                </a:cubicBezTo>
                <a:cubicBezTo>
                  <a:pt x="22678" y="111534"/>
                  <a:pt x="26488" y="107723"/>
                  <a:pt x="31184" y="107723"/>
                </a:cubicBezTo>
                <a:cubicBezTo>
                  <a:pt x="35878" y="107723"/>
                  <a:pt x="39688" y="111534"/>
                  <a:pt x="39688" y="116228"/>
                </a:cubicBezTo>
                <a:cubicBezTo>
                  <a:pt x="39688" y="120921"/>
                  <a:pt x="35878" y="124732"/>
                  <a:pt x="31184" y="124732"/>
                </a:cubicBezTo>
                <a:close/>
                <a:moveTo>
                  <a:pt x="76540" y="116228"/>
                </a:moveTo>
                <a:cubicBezTo>
                  <a:pt x="76540" y="120921"/>
                  <a:pt x="72729" y="124732"/>
                  <a:pt x="68036" y="124732"/>
                </a:cubicBezTo>
                <a:cubicBezTo>
                  <a:pt x="63343" y="124732"/>
                  <a:pt x="59531" y="120921"/>
                  <a:pt x="59531" y="116228"/>
                </a:cubicBezTo>
                <a:cubicBezTo>
                  <a:pt x="59531" y="111534"/>
                  <a:pt x="63343" y="107723"/>
                  <a:pt x="68036" y="107723"/>
                </a:cubicBezTo>
                <a:cubicBezTo>
                  <a:pt x="72729" y="107723"/>
                  <a:pt x="76540" y="111534"/>
                  <a:pt x="76540" y="116228"/>
                </a:cubicBezTo>
                <a:close/>
                <a:moveTo>
                  <a:pt x="104888" y="124732"/>
                </a:moveTo>
                <a:cubicBezTo>
                  <a:pt x="100195" y="124732"/>
                  <a:pt x="96384" y="120921"/>
                  <a:pt x="96384" y="116228"/>
                </a:cubicBezTo>
                <a:cubicBezTo>
                  <a:pt x="96384" y="111534"/>
                  <a:pt x="100195" y="107723"/>
                  <a:pt x="104888" y="107723"/>
                </a:cubicBezTo>
                <a:cubicBezTo>
                  <a:pt x="109582" y="107723"/>
                  <a:pt x="113393" y="111534"/>
                  <a:pt x="113393" y="116228"/>
                </a:cubicBezTo>
                <a:cubicBezTo>
                  <a:pt x="113393" y="120921"/>
                  <a:pt x="109582" y="124732"/>
                  <a:pt x="104888" y="124732"/>
                </a:cubicBezTo>
                <a:close/>
                <a:moveTo>
                  <a:pt x="22678" y="150246"/>
                </a:moveTo>
                <a:cubicBezTo>
                  <a:pt x="22678" y="145533"/>
                  <a:pt x="26471" y="141741"/>
                  <a:pt x="31184" y="141741"/>
                </a:cubicBezTo>
                <a:lnTo>
                  <a:pt x="70871" y="141741"/>
                </a:lnTo>
                <a:cubicBezTo>
                  <a:pt x="75583" y="141741"/>
                  <a:pt x="79375" y="145533"/>
                  <a:pt x="79375" y="150246"/>
                </a:cubicBezTo>
                <a:cubicBezTo>
                  <a:pt x="79375" y="154958"/>
                  <a:pt x="75583" y="158750"/>
                  <a:pt x="70871" y="158750"/>
                </a:cubicBezTo>
                <a:lnTo>
                  <a:pt x="31184" y="158750"/>
                </a:lnTo>
                <a:cubicBezTo>
                  <a:pt x="26471" y="158750"/>
                  <a:pt x="22678" y="154958"/>
                  <a:pt x="22678" y="150246"/>
                </a:cubicBezTo>
                <a:close/>
                <a:moveTo>
                  <a:pt x="104888" y="141741"/>
                </a:moveTo>
                <a:cubicBezTo>
                  <a:pt x="109601" y="141741"/>
                  <a:pt x="113393" y="145533"/>
                  <a:pt x="113393" y="150246"/>
                </a:cubicBezTo>
                <a:cubicBezTo>
                  <a:pt x="113393" y="154958"/>
                  <a:pt x="109601" y="158750"/>
                  <a:pt x="104888" y="158750"/>
                </a:cubicBezTo>
                <a:cubicBezTo>
                  <a:pt x="100176" y="158750"/>
                  <a:pt x="96384" y="154958"/>
                  <a:pt x="96384" y="150246"/>
                </a:cubicBezTo>
                <a:cubicBezTo>
                  <a:pt x="96384" y="145533"/>
                  <a:pt x="100176" y="141741"/>
                  <a:pt x="104888" y="141741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87945" y="2723370"/>
            <a:ext cx="671286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FLOPS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52350" y="3049938"/>
            <a:ext cx="4726214" cy="53521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Measures the number of floating-point operations a processor can execute per second — the core metric for compute-intensive task performance.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616609" y="4088597"/>
            <a:ext cx="5098053" cy="1288143"/>
          </a:xfrm>
          <a:custGeom>
            <a:avLst/>
            <a:gdLst/>
            <a:ahLst/>
            <a:cxnLst/>
            <a:rect l="l" t="t" r="r" b="b"/>
            <a:pathLst>
              <a:path w="5098053" h="1288143">
                <a:moveTo>
                  <a:pt x="36105" y="0"/>
                </a:moveTo>
                <a:lnTo>
                  <a:pt x="5025479" y="0"/>
                </a:lnTo>
                <a:cubicBezTo>
                  <a:pt x="5065560" y="0"/>
                  <a:pt x="5098053" y="32492"/>
                  <a:pt x="5098053" y="72574"/>
                </a:cubicBezTo>
                <a:lnTo>
                  <a:pt x="5098053" y="1215569"/>
                </a:lnTo>
                <a:cubicBezTo>
                  <a:pt x="5098053" y="1255650"/>
                  <a:pt x="5065560" y="1288143"/>
                  <a:pt x="5025479" y="1288143"/>
                </a:cubicBez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616609" y="4088597"/>
            <a:ext cx="36105" cy="1288143"/>
          </a:xfrm>
          <a:custGeom>
            <a:avLst/>
            <a:gdLst/>
            <a:ahLst/>
            <a:cxnLst/>
            <a:rect l="l" t="t" r="r" b="b"/>
            <a:pathLst>
              <a:path w="36105" h="1288143">
                <a:moveTo>
                  <a:pt x="36105" y="0"/>
                </a:moveTo>
                <a:lnTo>
                  <a:pt x="36105" y="0"/>
                </a:lnTo>
                <a:lnTo>
                  <a:pt x="36105" y="1288143"/>
                </a:ln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875029" y="4353871"/>
            <a:ext cx="181428" cy="158750"/>
          </a:xfrm>
          <a:custGeom>
            <a:avLst/>
            <a:gdLst/>
            <a:ahLst/>
            <a:cxnLst/>
            <a:rect l="l" t="t" r="r" b="b"/>
            <a:pathLst>
              <a:path w="181428" h="158750">
                <a:moveTo>
                  <a:pt x="22678" y="11339"/>
                </a:moveTo>
                <a:cubicBezTo>
                  <a:pt x="22678" y="5068"/>
                  <a:pt x="17611" y="0"/>
                  <a:pt x="11339" y="0"/>
                </a:cubicBezTo>
                <a:cubicBezTo>
                  <a:pt x="5067" y="0"/>
                  <a:pt x="0" y="5068"/>
                  <a:pt x="0" y="11339"/>
                </a:cubicBezTo>
                <a:lnTo>
                  <a:pt x="0" y="130402"/>
                </a:lnTo>
                <a:cubicBezTo>
                  <a:pt x="0" y="146064"/>
                  <a:pt x="12686" y="158750"/>
                  <a:pt x="28348" y="158750"/>
                </a:cubicBezTo>
                <a:lnTo>
                  <a:pt x="170089" y="158750"/>
                </a:lnTo>
                <a:cubicBezTo>
                  <a:pt x="176361" y="158750"/>
                  <a:pt x="181428" y="153684"/>
                  <a:pt x="181428" y="147411"/>
                </a:cubicBezTo>
                <a:cubicBezTo>
                  <a:pt x="181428" y="141138"/>
                  <a:pt x="176361" y="136072"/>
                  <a:pt x="170089" y="136072"/>
                </a:cubicBezTo>
                <a:lnTo>
                  <a:pt x="28348" y="136072"/>
                </a:lnTo>
                <a:cubicBezTo>
                  <a:pt x="25230" y="136072"/>
                  <a:pt x="22678" y="133520"/>
                  <a:pt x="22678" y="130402"/>
                </a:cubicBezTo>
                <a:lnTo>
                  <a:pt x="22678" y="11339"/>
                </a:lnTo>
                <a:close/>
                <a:moveTo>
                  <a:pt x="166759" y="42026"/>
                </a:moveTo>
                <a:cubicBezTo>
                  <a:pt x="171188" y="37597"/>
                  <a:pt x="171188" y="30405"/>
                  <a:pt x="166759" y="25974"/>
                </a:cubicBezTo>
                <a:cubicBezTo>
                  <a:pt x="162329" y="21545"/>
                  <a:pt x="155136" y="21545"/>
                  <a:pt x="150706" y="25974"/>
                </a:cubicBezTo>
                <a:lnTo>
                  <a:pt x="113393" y="63323"/>
                </a:lnTo>
                <a:lnTo>
                  <a:pt x="93053" y="43020"/>
                </a:lnTo>
                <a:cubicBezTo>
                  <a:pt x="88624" y="38589"/>
                  <a:pt x="81430" y="38589"/>
                  <a:pt x="77001" y="43020"/>
                </a:cubicBezTo>
                <a:lnTo>
                  <a:pt x="42983" y="77036"/>
                </a:lnTo>
                <a:cubicBezTo>
                  <a:pt x="38553" y="81466"/>
                  <a:pt x="38553" y="88660"/>
                  <a:pt x="42983" y="93089"/>
                </a:cubicBezTo>
                <a:cubicBezTo>
                  <a:pt x="47412" y="97518"/>
                  <a:pt x="54606" y="97518"/>
                  <a:pt x="59035" y="93089"/>
                </a:cubicBezTo>
                <a:lnTo>
                  <a:pt x="85046" y="67078"/>
                </a:lnTo>
                <a:lnTo>
                  <a:pt x="105385" y="87419"/>
                </a:lnTo>
                <a:cubicBezTo>
                  <a:pt x="109814" y="91849"/>
                  <a:pt x="117006" y="91849"/>
                  <a:pt x="121437" y="87419"/>
                </a:cubicBezTo>
                <a:lnTo>
                  <a:pt x="166794" y="4206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187945" y="4306286"/>
            <a:ext cx="1034143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Utilization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52350" y="4632854"/>
            <a:ext cx="4726214" cy="53521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Reflects the actual usage efficiency of hardware resources, helping identify whether compute units are fully utilized.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6250146" y="1194893"/>
            <a:ext cx="5569767" cy="4698910"/>
          </a:xfrm>
          <a:custGeom>
            <a:avLst/>
            <a:gdLst/>
            <a:ahLst/>
            <a:cxnLst/>
            <a:rect l="l" t="t" r="r" b="b"/>
            <a:pathLst>
              <a:path w="5569767" h="4698910">
                <a:moveTo>
                  <a:pt x="108875" y="0"/>
                </a:moveTo>
                <a:lnTo>
                  <a:pt x="5460893" y="0"/>
                </a:lnTo>
                <a:cubicBezTo>
                  <a:pt x="5521021" y="0"/>
                  <a:pt x="5569767" y="48744"/>
                  <a:pt x="5569767" y="108875"/>
                </a:cubicBezTo>
                <a:lnTo>
                  <a:pt x="5569767" y="4590037"/>
                </a:lnTo>
                <a:cubicBezTo>
                  <a:pt x="5569767" y="4650165"/>
                  <a:pt x="5521021" y="4698910"/>
                  <a:pt x="5460893" y="4698910"/>
                </a:cubicBezTo>
                <a:lnTo>
                  <a:pt x="108875" y="4698910"/>
                </a:lnTo>
                <a:cubicBezTo>
                  <a:pt x="48744" y="4698910"/>
                  <a:pt x="0" y="4650165"/>
                  <a:pt x="0" y="4590037"/>
                </a:cubicBezTo>
                <a:lnTo>
                  <a:pt x="0" y="108875"/>
                </a:lnTo>
                <a:cubicBezTo>
                  <a:pt x="0" y="48785"/>
                  <a:pt x="48785" y="0"/>
                  <a:pt x="108875" y="0"/>
                </a:cubicBezTo>
                <a:close/>
              </a:path>
            </a:pathLst>
          </a:custGeom>
          <a:gradFill rotWithShape="1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6476862" y="1421608"/>
            <a:ext cx="580572" cy="580572"/>
          </a:xfrm>
          <a:custGeom>
            <a:avLst/>
            <a:gdLst/>
            <a:ahLst/>
            <a:cxnLst/>
            <a:rect l="l" t="t" r="r" b="b"/>
            <a:pathLst>
              <a:path w="580572" h="580572">
                <a:moveTo>
                  <a:pt x="108857" y="0"/>
                </a:moveTo>
                <a:lnTo>
                  <a:pt x="471714" y="0"/>
                </a:lnTo>
                <a:cubicBezTo>
                  <a:pt x="531834" y="0"/>
                  <a:pt x="580572" y="48738"/>
                  <a:pt x="580572" y="108857"/>
                </a:cubicBezTo>
                <a:lnTo>
                  <a:pt x="580572" y="471714"/>
                </a:lnTo>
                <a:cubicBezTo>
                  <a:pt x="580572" y="531834"/>
                  <a:pt x="531834" y="580572"/>
                  <a:pt x="471714" y="580572"/>
                </a:cubicBezTo>
                <a:lnTo>
                  <a:pt x="108857" y="580572"/>
                </a:lnTo>
                <a:cubicBezTo>
                  <a:pt x="48738" y="580572"/>
                  <a:pt x="0" y="531834"/>
                  <a:pt x="0" y="471714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blurRad="127000" dist="889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650319" y="1575760"/>
            <a:ext cx="238125" cy="272143"/>
          </a:xfrm>
          <a:custGeom>
            <a:avLst/>
            <a:gdLst/>
            <a:ahLst/>
            <a:cxnLst/>
            <a:rect l="l" t="t" r="r" b="b"/>
            <a:pathLst>
              <a:path w="238125" h="272143">
                <a:moveTo>
                  <a:pt x="238125" y="109389"/>
                </a:moveTo>
                <a:cubicBezTo>
                  <a:pt x="230259" y="114598"/>
                  <a:pt x="221223" y="118797"/>
                  <a:pt x="211814" y="122145"/>
                </a:cubicBezTo>
                <a:cubicBezTo>
                  <a:pt x="186832" y="131075"/>
                  <a:pt x="154037" y="136072"/>
                  <a:pt x="119063" y="136072"/>
                </a:cubicBezTo>
                <a:cubicBezTo>
                  <a:pt x="84088" y="136072"/>
                  <a:pt x="51239" y="131022"/>
                  <a:pt x="26311" y="122145"/>
                </a:cubicBezTo>
                <a:cubicBezTo>
                  <a:pt x="16956" y="118797"/>
                  <a:pt x="7866" y="114598"/>
                  <a:pt x="0" y="109389"/>
                </a:cubicBezTo>
                <a:lnTo>
                  <a:pt x="0" y="153079"/>
                </a:lnTo>
                <a:cubicBezTo>
                  <a:pt x="0" y="176574"/>
                  <a:pt x="53312" y="195603"/>
                  <a:pt x="119063" y="195603"/>
                </a:cubicBezTo>
                <a:cubicBezTo>
                  <a:pt x="184813" y="195603"/>
                  <a:pt x="238125" y="176574"/>
                  <a:pt x="238125" y="153079"/>
                </a:cubicBezTo>
                <a:lnTo>
                  <a:pt x="238125" y="109389"/>
                </a:lnTo>
                <a:close/>
                <a:moveTo>
                  <a:pt x="238125" y="68036"/>
                </a:moveTo>
                <a:lnTo>
                  <a:pt x="238125" y="42522"/>
                </a:lnTo>
                <a:cubicBezTo>
                  <a:pt x="238125" y="19028"/>
                  <a:pt x="184813" y="0"/>
                  <a:pt x="119063" y="0"/>
                </a:cubicBezTo>
                <a:cubicBezTo>
                  <a:pt x="53312" y="0"/>
                  <a:pt x="0" y="19028"/>
                  <a:pt x="0" y="42522"/>
                </a:cubicBezTo>
                <a:lnTo>
                  <a:pt x="0" y="68036"/>
                </a:lnTo>
                <a:cubicBezTo>
                  <a:pt x="0" y="91529"/>
                  <a:pt x="53312" y="110559"/>
                  <a:pt x="119063" y="110559"/>
                </a:cubicBezTo>
                <a:cubicBezTo>
                  <a:pt x="184813" y="110559"/>
                  <a:pt x="238125" y="91529"/>
                  <a:pt x="238125" y="68036"/>
                </a:cubicBezTo>
                <a:close/>
                <a:moveTo>
                  <a:pt x="211814" y="207190"/>
                </a:moveTo>
                <a:cubicBezTo>
                  <a:pt x="186886" y="216066"/>
                  <a:pt x="154090" y="221116"/>
                  <a:pt x="119063" y="221116"/>
                </a:cubicBezTo>
                <a:cubicBezTo>
                  <a:pt x="84035" y="221116"/>
                  <a:pt x="51239" y="216066"/>
                  <a:pt x="26311" y="207190"/>
                </a:cubicBezTo>
                <a:cubicBezTo>
                  <a:pt x="16956" y="203841"/>
                  <a:pt x="7866" y="199641"/>
                  <a:pt x="0" y="194433"/>
                </a:cubicBezTo>
                <a:lnTo>
                  <a:pt x="0" y="229621"/>
                </a:lnTo>
                <a:cubicBezTo>
                  <a:pt x="0" y="253114"/>
                  <a:pt x="53312" y="272143"/>
                  <a:pt x="119063" y="272143"/>
                </a:cubicBezTo>
                <a:cubicBezTo>
                  <a:pt x="184813" y="272143"/>
                  <a:pt x="238125" y="253114"/>
                  <a:pt x="238125" y="229621"/>
                </a:cubicBezTo>
                <a:lnTo>
                  <a:pt x="238125" y="194433"/>
                </a:lnTo>
                <a:cubicBezTo>
                  <a:pt x="230259" y="199641"/>
                  <a:pt x="221223" y="203841"/>
                  <a:pt x="211814" y="20719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202491" y="1439731"/>
            <a:ext cx="2545247" cy="2902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 Access Capability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02491" y="1729912"/>
            <a:ext cx="1514929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Memory Bound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6494914" y="2505681"/>
            <a:ext cx="5098053" cy="1288143"/>
          </a:xfrm>
          <a:custGeom>
            <a:avLst/>
            <a:gdLst/>
            <a:ahLst/>
            <a:cxnLst/>
            <a:rect l="l" t="t" r="r" b="b"/>
            <a:pathLst>
              <a:path w="5098053" h="1288143">
                <a:moveTo>
                  <a:pt x="36105" y="0"/>
                </a:moveTo>
                <a:lnTo>
                  <a:pt x="5025479" y="0"/>
                </a:lnTo>
                <a:cubicBezTo>
                  <a:pt x="5065560" y="0"/>
                  <a:pt x="5098053" y="32492"/>
                  <a:pt x="5098053" y="72574"/>
                </a:cubicBezTo>
                <a:lnTo>
                  <a:pt x="5098053" y="1215569"/>
                </a:lnTo>
                <a:cubicBezTo>
                  <a:pt x="5098053" y="1255650"/>
                  <a:pt x="5065560" y="1288143"/>
                  <a:pt x="5025479" y="1288143"/>
                </a:cubicBez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6494914" y="2505681"/>
            <a:ext cx="36105" cy="1288143"/>
          </a:xfrm>
          <a:custGeom>
            <a:avLst/>
            <a:gdLst/>
            <a:ahLst/>
            <a:cxnLst/>
            <a:rect l="l" t="t" r="r" b="b"/>
            <a:pathLst>
              <a:path w="36105" h="1288143">
                <a:moveTo>
                  <a:pt x="36105" y="0"/>
                </a:moveTo>
                <a:lnTo>
                  <a:pt x="36105" y="0"/>
                </a:lnTo>
                <a:lnTo>
                  <a:pt x="36105" y="1288143"/>
                </a:ln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6753334" y="2759615"/>
            <a:ext cx="181428" cy="181428"/>
          </a:xfrm>
          <a:custGeom>
            <a:avLst/>
            <a:gdLst/>
            <a:ahLst/>
            <a:cxnLst/>
            <a:rect l="l" t="t" r="r" b="b"/>
            <a:pathLst>
              <a:path w="181428" h="181428">
                <a:moveTo>
                  <a:pt x="0" y="90714"/>
                </a:moveTo>
                <a:cubicBezTo>
                  <a:pt x="0" y="40648"/>
                  <a:pt x="40648" y="0"/>
                  <a:pt x="90714" y="0"/>
                </a:cubicBezTo>
                <a:cubicBezTo>
                  <a:pt x="140781" y="0"/>
                  <a:pt x="181428" y="40648"/>
                  <a:pt x="181428" y="90714"/>
                </a:cubicBezTo>
                <a:cubicBezTo>
                  <a:pt x="181428" y="140781"/>
                  <a:pt x="140781" y="181428"/>
                  <a:pt x="90714" y="181428"/>
                </a:cubicBezTo>
                <a:cubicBezTo>
                  <a:pt x="40648" y="181428"/>
                  <a:pt x="0" y="140781"/>
                  <a:pt x="0" y="90714"/>
                </a:cubicBezTo>
                <a:close/>
                <a:moveTo>
                  <a:pt x="102053" y="34018"/>
                </a:moveTo>
                <a:cubicBezTo>
                  <a:pt x="102053" y="27760"/>
                  <a:pt x="96973" y="22678"/>
                  <a:pt x="90714" y="22678"/>
                </a:cubicBezTo>
                <a:cubicBezTo>
                  <a:pt x="84456" y="22678"/>
                  <a:pt x="79375" y="27760"/>
                  <a:pt x="79375" y="34018"/>
                </a:cubicBezTo>
                <a:cubicBezTo>
                  <a:pt x="79375" y="40276"/>
                  <a:pt x="84456" y="45357"/>
                  <a:pt x="90714" y="45357"/>
                </a:cubicBezTo>
                <a:cubicBezTo>
                  <a:pt x="96973" y="45357"/>
                  <a:pt x="102053" y="40276"/>
                  <a:pt x="102053" y="34018"/>
                </a:cubicBezTo>
                <a:close/>
                <a:moveTo>
                  <a:pt x="90714" y="147411"/>
                </a:moveTo>
                <a:cubicBezTo>
                  <a:pt x="103223" y="147411"/>
                  <a:pt x="113393" y="137241"/>
                  <a:pt x="113393" y="124732"/>
                </a:cubicBezTo>
                <a:cubicBezTo>
                  <a:pt x="113393" y="118991"/>
                  <a:pt x="111267" y="113712"/>
                  <a:pt x="107723" y="109743"/>
                </a:cubicBezTo>
                <a:lnTo>
                  <a:pt x="132351" y="60523"/>
                </a:lnTo>
                <a:cubicBezTo>
                  <a:pt x="134441" y="56307"/>
                  <a:pt x="132740" y="51204"/>
                  <a:pt x="128560" y="49113"/>
                </a:cubicBezTo>
                <a:cubicBezTo>
                  <a:pt x="124377" y="47023"/>
                  <a:pt x="119240" y="48724"/>
                  <a:pt x="117149" y="52904"/>
                </a:cubicBezTo>
                <a:lnTo>
                  <a:pt x="92521" y="102125"/>
                </a:lnTo>
                <a:cubicBezTo>
                  <a:pt x="91919" y="102089"/>
                  <a:pt x="91317" y="102053"/>
                  <a:pt x="90714" y="102053"/>
                </a:cubicBezTo>
                <a:cubicBezTo>
                  <a:pt x="78207" y="102053"/>
                  <a:pt x="68036" y="112224"/>
                  <a:pt x="68036" y="124732"/>
                </a:cubicBezTo>
                <a:cubicBezTo>
                  <a:pt x="68036" y="137241"/>
                  <a:pt x="78207" y="147411"/>
                  <a:pt x="90714" y="147411"/>
                </a:cubicBezTo>
                <a:close/>
                <a:moveTo>
                  <a:pt x="62366" y="51027"/>
                </a:moveTo>
                <a:cubicBezTo>
                  <a:pt x="62366" y="44767"/>
                  <a:pt x="57285" y="39687"/>
                  <a:pt x="51027" y="39687"/>
                </a:cubicBezTo>
                <a:cubicBezTo>
                  <a:pt x="44768" y="39687"/>
                  <a:pt x="39688" y="44767"/>
                  <a:pt x="39688" y="51027"/>
                </a:cubicBezTo>
                <a:cubicBezTo>
                  <a:pt x="39688" y="57285"/>
                  <a:pt x="44768" y="62366"/>
                  <a:pt x="51027" y="62366"/>
                </a:cubicBezTo>
                <a:cubicBezTo>
                  <a:pt x="57285" y="62366"/>
                  <a:pt x="62366" y="57285"/>
                  <a:pt x="62366" y="51027"/>
                </a:cubicBezTo>
                <a:close/>
                <a:moveTo>
                  <a:pt x="34018" y="102053"/>
                </a:moveTo>
                <a:cubicBezTo>
                  <a:pt x="40276" y="102053"/>
                  <a:pt x="45357" y="96973"/>
                  <a:pt x="45357" y="90714"/>
                </a:cubicBezTo>
                <a:cubicBezTo>
                  <a:pt x="45357" y="84456"/>
                  <a:pt x="40276" y="79375"/>
                  <a:pt x="34018" y="79375"/>
                </a:cubicBezTo>
                <a:cubicBezTo>
                  <a:pt x="27760" y="79375"/>
                  <a:pt x="22678" y="84456"/>
                  <a:pt x="22678" y="90714"/>
                </a:cubicBezTo>
                <a:cubicBezTo>
                  <a:pt x="22678" y="96973"/>
                  <a:pt x="27760" y="102053"/>
                  <a:pt x="34018" y="102053"/>
                </a:cubicBezTo>
                <a:close/>
                <a:moveTo>
                  <a:pt x="158750" y="90714"/>
                </a:moveTo>
                <a:cubicBezTo>
                  <a:pt x="158750" y="84456"/>
                  <a:pt x="153669" y="79375"/>
                  <a:pt x="147411" y="79375"/>
                </a:cubicBezTo>
                <a:cubicBezTo>
                  <a:pt x="141152" y="79375"/>
                  <a:pt x="136072" y="84456"/>
                  <a:pt x="136072" y="90714"/>
                </a:cubicBezTo>
                <a:cubicBezTo>
                  <a:pt x="136072" y="96973"/>
                  <a:pt x="141152" y="102053"/>
                  <a:pt x="147411" y="102053"/>
                </a:cubicBezTo>
                <a:cubicBezTo>
                  <a:pt x="153669" y="102053"/>
                  <a:pt x="158750" y="96973"/>
                  <a:pt x="158750" y="90714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066251" y="2723370"/>
            <a:ext cx="10795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Bandwidth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730656" y="3049938"/>
            <a:ext cx="4726214" cy="53521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Represents the amount of data transferable per unit time, determining throughput capacity for data-intensive applications.</a:t>
            </a:r>
            <a:endParaRPr lang="en-US" sz="1100"/>
          </a:p>
        </p:txBody>
      </p:sp>
      <p:sp>
        <p:nvSpPr>
          <p:cNvPr id="28" name="Freeform 28"/>
          <p:cNvSpPr/>
          <p:nvPr/>
        </p:nvSpPr>
        <p:spPr>
          <a:xfrm>
            <a:off x="6494914" y="4088597"/>
            <a:ext cx="5098053" cy="1288143"/>
          </a:xfrm>
          <a:custGeom>
            <a:avLst/>
            <a:gdLst/>
            <a:ahLst/>
            <a:cxnLst/>
            <a:rect l="l" t="t" r="r" b="b"/>
            <a:pathLst>
              <a:path w="5098053" h="1288143">
                <a:moveTo>
                  <a:pt x="36105" y="0"/>
                </a:moveTo>
                <a:lnTo>
                  <a:pt x="5025479" y="0"/>
                </a:lnTo>
                <a:cubicBezTo>
                  <a:pt x="5065560" y="0"/>
                  <a:pt x="5098053" y="32492"/>
                  <a:pt x="5098053" y="72574"/>
                </a:cubicBezTo>
                <a:lnTo>
                  <a:pt x="5098053" y="1215569"/>
                </a:lnTo>
                <a:cubicBezTo>
                  <a:pt x="5098053" y="1255650"/>
                  <a:pt x="5065560" y="1288143"/>
                  <a:pt x="5025479" y="1288143"/>
                </a:cubicBez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6494914" y="4088597"/>
            <a:ext cx="36105" cy="1288143"/>
          </a:xfrm>
          <a:custGeom>
            <a:avLst/>
            <a:gdLst/>
            <a:ahLst/>
            <a:cxnLst/>
            <a:rect l="l" t="t" r="r" b="b"/>
            <a:pathLst>
              <a:path w="36105" h="1288143">
                <a:moveTo>
                  <a:pt x="36105" y="0"/>
                </a:moveTo>
                <a:lnTo>
                  <a:pt x="36105" y="0"/>
                </a:lnTo>
                <a:lnTo>
                  <a:pt x="36105" y="1288143"/>
                </a:lnTo>
                <a:lnTo>
                  <a:pt x="36105" y="1288143"/>
                </a:lnTo>
                <a:cubicBezTo>
                  <a:pt x="16165" y="1288143"/>
                  <a:pt x="0" y="1271977"/>
                  <a:pt x="0" y="1252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6753334" y="4342532"/>
            <a:ext cx="181428" cy="181428"/>
          </a:xfrm>
          <a:custGeom>
            <a:avLst/>
            <a:gdLst/>
            <a:ahLst/>
            <a:cxnLst/>
            <a:rect l="l" t="t" r="r" b="b"/>
            <a:pathLst>
              <a:path w="181428" h="181428">
                <a:moveTo>
                  <a:pt x="90714" y="0"/>
                </a:moveTo>
                <a:cubicBezTo>
                  <a:pt x="140781" y="0"/>
                  <a:pt x="181428" y="40648"/>
                  <a:pt x="181428" y="90714"/>
                </a:cubicBezTo>
                <a:cubicBezTo>
                  <a:pt x="181428" y="140781"/>
                  <a:pt x="140781" y="181428"/>
                  <a:pt x="90714" y="181428"/>
                </a:cubicBezTo>
                <a:cubicBezTo>
                  <a:pt x="40648" y="181428"/>
                  <a:pt x="0" y="140781"/>
                  <a:pt x="0" y="90714"/>
                </a:cubicBezTo>
                <a:cubicBezTo>
                  <a:pt x="0" y="40648"/>
                  <a:pt x="40648" y="0"/>
                  <a:pt x="90714" y="0"/>
                </a:cubicBezTo>
                <a:close/>
                <a:moveTo>
                  <a:pt x="82210" y="42522"/>
                </a:moveTo>
                <a:lnTo>
                  <a:pt x="82210" y="90714"/>
                </a:lnTo>
                <a:cubicBezTo>
                  <a:pt x="82210" y="93549"/>
                  <a:pt x="83627" y="96208"/>
                  <a:pt x="86001" y="97801"/>
                </a:cubicBezTo>
                <a:lnTo>
                  <a:pt x="120019" y="120480"/>
                </a:lnTo>
                <a:cubicBezTo>
                  <a:pt x="123916" y="123102"/>
                  <a:pt x="129197" y="122039"/>
                  <a:pt x="131818" y="118106"/>
                </a:cubicBezTo>
                <a:cubicBezTo>
                  <a:pt x="134441" y="114172"/>
                  <a:pt x="133378" y="108928"/>
                  <a:pt x="129445" y="106307"/>
                </a:cubicBezTo>
                <a:lnTo>
                  <a:pt x="99219" y="86178"/>
                </a:lnTo>
                <a:lnTo>
                  <a:pt x="99219" y="42522"/>
                </a:lnTo>
                <a:cubicBezTo>
                  <a:pt x="99219" y="37809"/>
                  <a:pt x="95427" y="34018"/>
                  <a:pt x="90714" y="34018"/>
                </a:cubicBezTo>
                <a:cubicBezTo>
                  <a:pt x="86001" y="34018"/>
                  <a:pt x="82210" y="37809"/>
                  <a:pt x="82210" y="4252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7066251" y="4306286"/>
            <a:ext cx="789214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Latency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730656" y="4632854"/>
            <a:ext cx="4726214" cy="53521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Represents the time required to complete one data access, directly affecting program responsiveness and real-time performance.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380867" y="5950657"/>
            <a:ext cx="11448053" cy="544286"/>
          </a:xfrm>
          <a:custGeom>
            <a:avLst/>
            <a:gdLst/>
            <a:ahLst/>
            <a:cxnLst/>
            <a:rect l="l" t="t" r="r" b="b"/>
            <a:pathLst>
              <a:path w="11448053" h="544286">
                <a:moveTo>
                  <a:pt x="36105" y="0"/>
                </a:moveTo>
                <a:lnTo>
                  <a:pt x="11375483" y="0"/>
                </a:lnTo>
                <a:cubicBezTo>
                  <a:pt x="11415561" y="0"/>
                  <a:pt x="11448053" y="32490"/>
                  <a:pt x="11448053" y="72570"/>
                </a:cubicBezTo>
                <a:lnTo>
                  <a:pt x="11448053" y="471716"/>
                </a:lnTo>
                <a:cubicBezTo>
                  <a:pt x="11448053" y="511795"/>
                  <a:pt x="11415561" y="544286"/>
                  <a:pt x="11375483" y="544286"/>
                </a:cubicBezTo>
                <a:lnTo>
                  <a:pt x="36105" y="544286"/>
                </a:lnTo>
                <a:cubicBezTo>
                  <a:pt x="16165" y="544286"/>
                  <a:pt x="0" y="528121"/>
                  <a:pt x="0" y="508182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380867" y="5950657"/>
            <a:ext cx="36105" cy="544286"/>
          </a:xfrm>
          <a:custGeom>
            <a:avLst/>
            <a:gdLst/>
            <a:ahLst/>
            <a:cxnLst/>
            <a:rect l="l" t="t" r="r" b="b"/>
            <a:pathLst>
              <a:path w="36105" h="544286">
                <a:moveTo>
                  <a:pt x="36105" y="0"/>
                </a:moveTo>
                <a:lnTo>
                  <a:pt x="36105" y="0"/>
                </a:lnTo>
                <a:lnTo>
                  <a:pt x="36105" y="544286"/>
                </a:lnTo>
                <a:lnTo>
                  <a:pt x="36105" y="544286"/>
                </a:lnTo>
                <a:cubicBezTo>
                  <a:pt x="16165" y="544286"/>
                  <a:pt x="0" y="528121"/>
                  <a:pt x="0" y="508182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544046" y="6095783"/>
            <a:ext cx="11221357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Roofline Model</a:t>
            </a:r>
            <a:r>
              <a:rPr lang="en-US" sz="13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used to analyze both bottleneck types, helping determine whether a program is compute-bound or memory-bound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9202" y="619758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is FLOPS?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153721"/>
            <a:ext cx="5543455" cy="1409700"/>
          </a:xfrm>
          <a:custGeom>
            <a:avLst/>
            <a:gdLst/>
            <a:ahLst/>
            <a:cxnLst/>
            <a:rect l="l" t="t" r="r" b="b"/>
            <a:pathLst>
              <a:path w="5543455" h="1409700">
                <a:moveTo>
                  <a:pt x="37910" y="0"/>
                </a:moveTo>
                <a:lnTo>
                  <a:pt x="5429157" y="0"/>
                </a:lnTo>
                <a:cubicBezTo>
                  <a:pt x="5492281" y="0"/>
                  <a:pt x="5543455" y="51173"/>
                  <a:pt x="5543455" y="114297"/>
                </a:cubicBezTo>
                <a:lnTo>
                  <a:pt x="5543455" y="1295403"/>
                </a:lnTo>
                <a:cubicBezTo>
                  <a:pt x="5543455" y="1358527"/>
                  <a:pt x="5492281" y="1409700"/>
                  <a:pt x="5429157" y="1409700"/>
                </a:cubicBezTo>
                <a:lnTo>
                  <a:pt x="37910" y="1409700"/>
                </a:lnTo>
                <a:cubicBezTo>
                  <a:pt x="16974" y="1409700"/>
                  <a:pt x="0" y="1392726"/>
                  <a:pt x="0" y="1371790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380956" y="1153721"/>
            <a:ext cx="37909" cy="1409700"/>
          </a:xfrm>
          <a:custGeom>
            <a:avLst/>
            <a:gdLst/>
            <a:ahLst/>
            <a:cxnLst/>
            <a:rect l="l" t="t" r="r" b="b"/>
            <a:pathLst>
              <a:path w="37909" h="1409700">
                <a:moveTo>
                  <a:pt x="37910" y="0"/>
                </a:moveTo>
                <a:lnTo>
                  <a:pt x="37910" y="0"/>
                </a:lnTo>
                <a:lnTo>
                  <a:pt x="37910" y="1409700"/>
                </a:lnTo>
                <a:lnTo>
                  <a:pt x="37910" y="1409700"/>
                </a:lnTo>
                <a:cubicBezTo>
                  <a:pt x="16974" y="1409700"/>
                  <a:pt x="0" y="1392726"/>
                  <a:pt x="0" y="1371790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28484" y="1382294"/>
            <a:ext cx="5315072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FLOPS = Floating Point Operations Per Second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8484" y="2067866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6415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Represents how many floating-point operations can be executed per second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0956" y="2628483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Common Units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380956" y="3085556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7580" y="3199805"/>
            <a:ext cx="85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MFLOPS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409573" y="3199805"/>
            <a:ext cx="5238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= 10⁶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380956" y="3695011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7580" y="3809261"/>
            <a:ext cx="85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GFLOPS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409573" y="3809261"/>
            <a:ext cx="5238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= 10⁹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380956" y="4304465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47580" y="4418714"/>
            <a:ext cx="85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TFLOPS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09573" y="4418714"/>
            <a:ext cx="6000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= 10¹²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380956" y="4913921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47580" y="5028170"/>
            <a:ext cx="85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PFLOPS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409573" y="5028170"/>
            <a:ext cx="6000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= 10¹⁵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380956" y="5561507"/>
            <a:ext cx="5562600" cy="647700"/>
          </a:xfrm>
          <a:custGeom>
            <a:avLst/>
            <a:gdLst/>
            <a:ahLst/>
            <a:cxnLst/>
            <a:rect l="l" t="t" r="r" b="b"/>
            <a:pathLst>
              <a:path w="5562600" h="647700">
                <a:moveTo>
                  <a:pt x="114300" y="0"/>
                </a:moveTo>
                <a:lnTo>
                  <a:pt x="5448300" y="0"/>
                </a:lnTo>
                <a:cubicBezTo>
                  <a:pt x="5511427" y="0"/>
                  <a:pt x="5562600" y="51173"/>
                  <a:pt x="5562600" y="114300"/>
                </a:cubicBezTo>
                <a:lnTo>
                  <a:pt x="5562600" y="533400"/>
                </a:lnTo>
                <a:cubicBezTo>
                  <a:pt x="5562600" y="596527"/>
                  <a:pt x="5511427" y="647700"/>
                  <a:pt x="5448300" y="647700"/>
                </a:cubicBezTo>
                <a:lnTo>
                  <a:pt x="114300" y="647700"/>
                </a:lnTo>
                <a:cubicBezTo>
                  <a:pt x="51217" y="647700"/>
                  <a:pt x="0" y="596483"/>
                  <a:pt x="0" y="533400"/>
                </a:cubicBezTo>
                <a:lnTo>
                  <a:pt x="0" y="114300"/>
                </a:lnTo>
                <a:cubicBezTo>
                  <a:pt x="0" y="51217"/>
                  <a:pt x="51217" y="0"/>
                  <a:pt x="1143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504575" y="5751949"/>
            <a:ext cx="5410367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FLOPS is the core metric for measuring compute capacity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6248338" y="990485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rcRect l="21" r="21"/>
          <a:stretch>
            <a:fillRect/>
          </a:stretch>
        </p:blipFill>
        <p:spPr>
          <a:xfrm>
            <a:off x="6400720" y="1400835"/>
            <a:ext cx="5257800" cy="4019550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24" name="AutoShape 24"/>
          <p:cNvSpPr/>
          <p:nvPr/>
        </p:nvSpPr>
        <p:spPr>
          <a:xfrm>
            <a:off x="6210238" y="5905367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The FPS Review - GPU Performance Growth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6213" y="599243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FLOPS Calculation Example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189787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Assumed CPU Specs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80956" y="1652712"/>
            <a:ext cx="5562600" cy="876300"/>
          </a:xfrm>
          <a:custGeom>
            <a:avLst/>
            <a:gdLst/>
            <a:ahLst/>
            <a:cxnLst/>
            <a:rect l="l" t="t" r="r" b="b"/>
            <a:pathLst>
              <a:path w="5562600" h="876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800097"/>
                </a:lnTo>
                <a:cubicBezTo>
                  <a:pt x="5562600" y="842183"/>
                  <a:pt x="5528483" y="876300"/>
                  <a:pt x="54863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561913" y="197650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6"/>
                  <a:pt x="73804" y="0"/>
                  <a:pt x="67866" y="0"/>
                </a:cubicBezTo>
                <a:cubicBezTo>
                  <a:pt x="61926" y="0"/>
                  <a:pt x="57150" y="4776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6" y="57150"/>
                  <a:pt x="0" y="61926"/>
                  <a:pt x="0" y="67866"/>
                </a:cubicBezTo>
                <a:cubicBezTo>
                  <a:pt x="0" y="73804"/>
                  <a:pt x="4776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6" y="103584"/>
                  <a:pt x="0" y="108361"/>
                  <a:pt x="0" y="114300"/>
                </a:cubicBezTo>
                <a:cubicBezTo>
                  <a:pt x="0" y="120239"/>
                  <a:pt x="4776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6" y="150019"/>
                  <a:pt x="0" y="154796"/>
                  <a:pt x="0" y="160734"/>
                </a:cubicBezTo>
                <a:cubicBezTo>
                  <a:pt x="0" y="166674"/>
                  <a:pt x="4776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4"/>
                  <a:pt x="61926" y="228600"/>
                  <a:pt x="67866" y="228600"/>
                </a:cubicBezTo>
                <a:cubicBezTo>
                  <a:pt x="73804" y="228600"/>
                  <a:pt x="78581" y="223824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4"/>
                  <a:pt x="108361" y="228600"/>
                  <a:pt x="114300" y="228600"/>
                </a:cubicBezTo>
                <a:cubicBezTo>
                  <a:pt x="120239" y="228600"/>
                  <a:pt x="125016" y="223824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4"/>
                  <a:pt x="154796" y="228600"/>
                  <a:pt x="160734" y="228600"/>
                </a:cubicBezTo>
                <a:cubicBezTo>
                  <a:pt x="166674" y="228600"/>
                  <a:pt x="171450" y="223824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4" y="171450"/>
                  <a:pt x="228600" y="166674"/>
                  <a:pt x="228600" y="160734"/>
                </a:cubicBezTo>
                <a:cubicBezTo>
                  <a:pt x="228600" y="154796"/>
                  <a:pt x="223824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4" y="125016"/>
                  <a:pt x="228600" y="120239"/>
                  <a:pt x="228600" y="114300"/>
                </a:cubicBezTo>
                <a:cubicBezTo>
                  <a:pt x="228600" y="108361"/>
                  <a:pt x="223824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4" y="78581"/>
                  <a:pt x="228600" y="73804"/>
                  <a:pt x="228600" y="67866"/>
                </a:cubicBezTo>
                <a:cubicBezTo>
                  <a:pt x="228600" y="61926"/>
                  <a:pt x="223824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6"/>
                  <a:pt x="166674" y="0"/>
                  <a:pt x="160734" y="0"/>
                </a:cubicBezTo>
                <a:cubicBezTo>
                  <a:pt x="154796" y="0"/>
                  <a:pt x="150019" y="4776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6"/>
                  <a:pt x="120239" y="0"/>
                  <a:pt x="114300" y="0"/>
                </a:cubicBezTo>
                <a:cubicBezTo>
                  <a:pt x="108361" y="0"/>
                  <a:pt x="103584" y="4776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7" y="57150"/>
                </a:moveTo>
                <a:lnTo>
                  <a:pt x="157163" y="57150"/>
                </a:lnTo>
                <a:cubicBezTo>
                  <a:pt x="165064" y="57150"/>
                  <a:pt x="171450" y="63536"/>
                  <a:pt x="171450" y="71438"/>
                </a:cubicBezTo>
                <a:lnTo>
                  <a:pt x="171450" y="157162"/>
                </a:lnTo>
                <a:cubicBezTo>
                  <a:pt x="171450" y="165064"/>
                  <a:pt x="165064" y="171450"/>
                  <a:pt x="157163" y="171450"/>
                </a:cubicBezTo>
                <a:lnTo>
                  <a:pt x="71437" y="171450"/>
                </a:lnTo>
                <a:cubicBezTo>
                  <a:pt x="63536" y="171450"/>
                  <a:pt x="57150" y="165064"/>
                  <a:pt x="57150" y="157162"/>
                </a:cubicBezTo>
                <a:lnTo>
                  <a:pt x="57150" y="71438"/>
                </a:lnTo>
                <a:cubicBezTo>
                  <a:pt x="57150" y="63536"/>
                  <a:pt x="63536" y="57150"/>
                  <a:pt x="71437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71455" y="1805093"/>
            <a:ext cx="1531422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Clock Frequency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71455" y="2071800"/>
            <a:ext cx="800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 GHz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380956" y="2681256"/>
            <a:ext cx="5562600" cy="876300"/>
          </a:xfrm>
          <a:custGeom>
            <a:avLst/>
            <a:gdLst/>
            <a:ahLst/>
            <a:cxnLst/>
            <a:rect l="l" t="t" r="r" b="b"/>
            <a:pathLst>
              <a:path w="5562600" h="876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800097"/>
                </a:lnTo>
                <a:cubicBezTo>
                  <a:pt x="5562600" y="842183"/>
                  <a:pt x="5528483" y="876300"/>
                  <a:pt x="54863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540348" y="2983304"/>
            <a:ext cx="272132" cy="272132"/>
          </a:xfrm>
          <a:custGeom>
            <a:avLst/>
            <a:gdLst/>
            <a:ahLst/>
            <a:cxnLst/>
            <a:rect l="l" t="t" r="r" b="b"/>
            <a:pathLst>
              <a:path w="272132" h="272132">
                <a:moveTo>
                  <a:pt x="178683" y="115729"/>
                </a:moveTo>
                <a:cubicBezTo>
                  <a:pt x="184130" y="114256"/>
                  <a:pt x="189845" y="116845"/>
                  <a:pt x="192301" y="121890"/>
                </a:cubicBezTo>
                <a:lnTo>
                  <a:pt x="200605" y="138678"/>
                </a:lnTo>
                <a:cubicBezTo>
                  <a:pt x="205204" y="139303"/>
                  <a:pt x="209714" y="140552"/>
                  <a:pt x="213955" y="142295"/>
                </a:cubicBezTo>
                <a:lnTo>
                  <a:pt x="229582" y="131892"/>
                </a:lnTo>
                <a:cubicBezTo>
                  <a:pt x="234270" y="128766"/>
                  <a:pt x="240476" y="129390"/>
                  <a:pt x="244450" y="133366"/>
                </a:cubicBezTo>
                <a:lnTo>
                  <a:pt x="253022" y="141938"/>
                </a:lnTo>
                <a:cubicBezTo>
                  <a:pt x="256996" y="145911"/>
                  <a:pt x="257621" y="152162"/>
                  <a:pt x="254496" y="156806"/>
                </a:cubicBezTo>
                <a:lnTo>
                  <a:pt x="244093" y="172388"/>
                </a:lnTo>
                <a:cubicBezTo>
                  <a:pt x="244941" y="174486"/>
                  <a:pt x="245700" y="176674"/>
                  <a:pt x="246325" y="178951"/>
                </a:cubicBezTo>
                <a:cubicBezTo>
                  <a:pt x="246951" y="181228"/>
                  <a:pt x="247352" y="183461"/>
                  <a:pt x="247664" y="185738"/>
                </a:cubicBezTo>
                <a:lnTo>
                  <a:pt x="264497" y="194042"/>
                </a:lnTo>
                <a:cubicBezTo>
                  <a:pt x="269541" y="196543"/>
                  <a:pt x="272132" y="202258"/>
                  <a:pt x="270659" y="207661"/>
                </a:cubicBezTo>
                <a:lnTo>
                  <a:pt x="267534" y="219359"/>
                </a:lnTo>
                <a:cubicBezTo>
                  <a:pt x="266060" y="224760"/>
                  <a:pt x="261015" y="228423"/>
                  <a:pt x="255389" y="228064"/>
                </a:cubicBezTo>
                <a:lnTo>
                  <a:pt x="236637" y="226859"/>
                </a:lnTo>
                <a:cubicBezTo>
                  <a:pt x="233824" y="230475"/>
                  <a:pt x="230564" y="233824"/>
                  <a:pt x="226859" y="236683"/>
                </a:cubicBezTo>
                <a:lnTo>
                  <a:pt x="228064" y="255388"/>
                </a:lnTo>
                <a:cubicBezTo>
                  <a:pt x="228421" y="261015"/>
                  <a:pt x="224760" y="266105"/>
                  <a:pt x="219359" y="267533"/>
                </a:cubicBezTo>
                <a:lnTo>
                  <a:pt x="207659" y="270659"/>
                </a:lnTo>
                <a:cubicBezTo>
                  <a:pt x="202214" y="272132"/>
                  <a:pt x="196542" y="269543"/>
                  <a:pt x="194042" y="264498"/>
                </a:cubicBezTo>
                <a:lnTo>
                  <a:pt x="185737" y="247710"/>
                </a:lnTo>
                <a:cubicBezTo>
                  <a:pt x="181139" y="247085"/>
                  <a:pt x="176629" y="245836"/>
                  <a:pt x="172386" y="244093"/>
                </a:cubicBezTo>
                <a:lnTo>
                  <a:pt x="156760" y="254496"/>
                </a:lnTo>
                <a:cubicBezTo>
                  <a:pt x="152071" y="257622"/>
                  <a:pt x="145866" y="256998"/>
                  <a:pt x="141892" y="253022"/>
                </a:cubicBezTo>
                <a:lnTo>
                  <a:pt x="133320" y="244450"/>
                </a:lnTo>
                <a:cubicBezTo>
                  <a:pt x="129346" y="240477"/>
                  <a:pt x="128721" y="234271"/>
                  <a:pt x="131847" y="229582"/>
                </a:cubicBezTo>
                <a:lnTo>
                  <a:pt x="142251" y="213956"/>
                </a:lnTo>
                <a:cubicBezTo>
                  <a:pt x="141401" y="211857"/>
                  <a:pt x="140641" y="209668"/>
                  <a:pt x="140017" y="207393"/>
                </a:cubicBezTo>
                <a:cubicBezTo>
                  <a:pt x="139392" y="205115"/>
                  <a:pt x="138990" y="202838"/>
                  <a:pt x="138678" y="200606"/>
                </a:cubicBezTo>
                <a:lnTo>
                  <a:pt x="121845" y="192301"/>
                </a:lnTo>
                <a:cubicBezTo>
                  <a:pt x="116800" y="189801"/>
                  <a:pt x="114255" y="184086"/>
                  <a:pt x="115683" y="178683"/>
                </a:cubicBezTo>
                <a:lnTo>
                  <a:pt x="118809" y="166985"/>
                </a:lnTo>
                <a:cubicBezTo>
                  <a:pt x="120283" y="161582"/>
                  <a:pt x="125328" y="157922"/>
                  <a:pt x="130954" y="158279"/>
                </a:cubicBezTo>
                <a:lnTo>
                  <a:pt x="149661" y="159484"/>
                </a:lnTo>
                <a:cubicBezTo>
                  <a:pt x="152474" y="155867"/>
                  <a:pt x="155734" y="152518"/>
                  <a:pt x="159439" y="149662"/>
                </a:cubicBezTo>
                <a:lnTo>
                  <a:pt x="158234" y="131000"/>
                </a:lnTo>
                <a:cubicBezTo>
                  <a:pt x="157877" y="125373"/>
                  <a:pt x="161538" y="120283"/>
                  <a:pt x="166941" y="118855"/>
                </a:cubicBezTo>
                <a:lnTo>
                  <a:pt x="178639" y="115729"/>
                </a:lnTo>
                <a:close/>
                <a:moveTo>
                  <a:pt x="193194" y="173548"/>
                </a:moveTo>
                <a:cubicBezTo>
                  <a:pt x="182351" y="173561"/>
                  <a:pt x="173559" y="182374"/>
                  <a:pt x="173571" y="193216"/>
                </a:cubicBezTo>
                <a:cubicBezTo>
                  <a:pt x="173583" y="204059"/>
                  <a:pt x="182397" y="212852"/>
                  <a:pt x="193239" y="212840"/>
                </a:cubicBezTo>
                <a:cubicBezTo>
                  <a:pt x="204081" y="212827"/>
                  <a:pt x="212874" y="204014"/>
                  <a:pt x="212861" y="193172"/>
                </a:cubicBezTo>
                <a:cubicBezTo>
                  <a:pt x="212849" y="182329"/>
                  <a:pt x="204036" y="173536"/>
                  <a:pt x="193194" y="173548"/>
                </a:cubicBezTo>
                <a:close/>
                <a:moveTo>
                  <a:pt x="93404" y="1429"/>
                </a:moveTo>
                <a:lnTo>
                  <a:pt x="105102" y="4555"/>
                </a:lnTo>
                <a:cubicBezTo>
                  <a:pt x="110504" y="6028"/>
                  <a:pt x="114166" y="11118"/>
                  <a:pt x="113809" y="16700"/>
                </a:cubicBezTo>
                <a:lnTo>
                  <a:pt x="112602" y="35362"/>
                </a:lnTo>
                <a:cubicBezTo>
                  <a:pt x="116310" y="38218"/>
                  <a:pt x="119568" y="41523"/>
                  <a:pt x="122381" y="45184"/>
                </a:cubicBezTo>
                <a:lnTo>
                  <a:pt x="141134" y="43979"/>
                </a:lnTo>
                <a:cubicBezTo>
                  <a:pt x="146715" y="43622"/>
                  <a:pt x="151804" y="47282"/>
                  <a:pt x="153278" y="52685"/>
                </a:cubicBezTo>
                <a:lnTo>
                  <a:pt x="156403" y="64383"/>
                </a:lnTo>
                <a:cubicBezTo>
                  <a:pt x="157832" y="69786"/>
                  <a:pt x="155287" y="75501"/>
                  <a:pt x="150241" y="78001"/>
                </a:cubicBezTo>
                <a:lnTo>
                  <a:pt x="133409" y="86306"/>
                </a:lnTo>
                <a:cubicBezTo>
                  <a:pt x="133096" y="88583"/>
                  <a:pt x="132651" y="90860"/>
                  <a:pt x="132070" y="93093"/>
                </a:cubicBezTo>
                <a:cubicBezTo>
                  <a:pt x="131489" y="95325"/>
                  <a:pt x="130686" y="97557"/>
                  <a:pt x="129838" y="99656"/>
                </a:cubicBezTo>
                <a:lnTo>
                  <a:pt x="140241" y="115282"/>
                </a:lnTo>
                <a:cubicBezTo>
                  <a:pt x="143366" y="119971"/>
                  <a:pt x="142741" y="126177"/>
                  <a:pt x="138767" y="130150"/>
                </a:cubicBezTo>
                <a:lnTo>
                  <a:pt x="130194" y="138722"/>
                </a:lnTo>
                <a:cubicBezTo>
                  <a:pt x="126221" y="142698"/>
                  <a:pt x="120015" y="143322"/>
                  <a:pt x="115327" y="140196"/>
                </a:cubicBezTo>
                <a:lnTo>
                  <a:pt x="99700" y="129793"/>
                </a:lnTo>
                <a:cubicBezTo>
                  <a:pt x="95457" y="131536"/>
                  <a:pt x="90949" y="132785"/>
                  <a:pt x="86350" y="133410"/>
                </a:cubicBezTo>
                <a:lnTo>
                  <a:pt x="78044" y="150198"/>
                </a:lnTo>
                <a:cubicBezTo>
                  <a:pt x="75545" y="155243"/>
                  <a:pt x="69830" y="157788"/>
                  <a:pt x="64428" y="156359"/>
                </a:cubicBezTo>
                <a:lnTo>
                  <a:pt x="52730" y="153233"/>
                </a:lnTo>
                <a:cubicBezTo>
                  <a:pt x="47282" y="151760"/>
                  <a:pt x="43666" y="146670"/>
                  <a:pt x="44022" y="141088"/>
                </a:cubicBezTo>
                <a:lnTo>
                  <a:pt x="45229" y="122383"/>
                </a:lnTo>
                <a:cubicBezTo>
                  <a:pt x="41523" y="119524"/>
                  <a:pt x="38264" y="116221"/>
                  <a:pt x="35451" y="112559"/>
                </a:cubicBezTo>
                <a:lnTo>
                  <a:pt x="16698" y="113764"/>
                </a:lnTo>
                <a:cubicBezTo>
                  <a:pt x="11117" y="114123"/>
                  <a:pt x="6027" y="110460"/>
                  <a:pt x="4555" y="105059"/>
                </a:cubicBezTo>
                <a:lnTo>
                  <a:pt x="1429" y="93361"/>
                </a:lnTo>
                <a:cubicBezTo>
                  <a:pt x="0" y="87958"/>
                  <a:pt x="2545" y="82243"/>
                  <a:pt x="7590" y="79742"/>
                </a:cubicBezTo>
                <a:lnTo>
                  <a:pt x="24422" y="71438"/>
                </a:lnTo>
                <a:cubicBezTo>
                  <a:pt x="24735" y="69161"/>
                  <a:pt x="25182" y="66928"/>
                  <a:pt x="25762" y="64651"/>
                </a:cubicBezTo>
                <a:cubicBezTo>
                  <a:pt x="26387" y="62374"/>
                  <a:pt x="27101" y="60186"/>
                  <a:pt x="27994" y="58088"/>
                </a:cubicBezTo>
                <a:lnTo>
                  <a:pt x="17591" y="42506"/>
                </a:lnTo>
                <a:cubicBezTo>
                  <a:pt x="14466" y="37817"/>
                  <a:pt x="15091" y="31611"/>
                  <a:pt x="19064" y="27638"/>
                </a:cubicBezTo>
                <a:lnTo>
                  <a:pt x="27637" y="19066"/>
                </a:lnTo>
                <a:cubicBezTo>
                  <a:pt x="31611" y="15090"/>
                  <a:pt x="37817" y="14466"/>
                  <a:pt x="42505" y="17592"/>
                </a:cubicBezTo>
                <a:lnTo>
                  <a:pt x="58132" y="27995"/>
                </a:lnTo>
                <a:cubicBezTo>
                  <a:pt x="62374" y="26252"/>
                  <a:pt x="66882" y="25003"/>
                  <a:pt x="71482" y="24378"/>
                </a:cubicBezTo>
                <a:lnTo>
                  <a:pt x="79787" y="7590"/>
                </a:lnTo>
                <a:cubicBezTo>
                  <a:pt x="82288" y="2545"/>
                  <a:pt x="87957" y="0"/>
                  <a:pt x="93404" y="1429"/>
                </a:cubicBezTo>
                <a:close/>
                <a:moveTo>
                  <a:pt x="78894" y="59248"/>
                </a:moveTo>
                <a:cubicBezTo>
                  <a:pt x="68051" y="59248"/>
                  <a:pt x="59248" y="68051"/>
                  <a:pt x="59248" y="78894"/>
                </a:cubicBezTo>
                <a:cubicBezTo>
                  <a:pt x="59248" y="89737"/>
                  <a:pt x="68051" y="98540"/>
                  <a:pt x="78894" y="98540"/>
                </a:cubicBezTo>
                <a:cubicBezTo>
                  <a:pt x="89736" y="98540"/>
                  <a:pt x="98538" y="89737"/>
                  <a:pt x="98538" y="78894"/>
                </a:cubicBezTo>
                <a:cubicBezTo>
                  <a:pt x="98538" y="68051"/>
                  <a:pt x="89736" y="59248"/>
                  <a:pt x="78894" y="5924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71455" y="2833637"/>
            <a:ext cx="1578314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FLOPs per Cycle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71455" y="3100344"/>
            <a:ext cx="104775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 FLOP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80956" y="3657023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Theoretical Performance Calculation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399911" y="4114098"/>
            <a:ext cx="5543455" cy="1562100"/>
          </a:xfrm>
          <a:custGeom>
            <a:avLst/>
            <a:gdLst/>
            <a:ahLst/>
            <a:cxnLst/>
            <a:rect l="l" t="t" r="r" b="b"/>
            <a:pathLst>
              <a:path w="5543455" h="1562100">
                <a:moveTo>
                  <a:pt x="37909" y="0"/>
                </a:moveTo>
                <a:lnTo>
                  <a:pt x="5429156" y="0"/>
                </a:lnTo>
                <a:cubicBezTo>
                  <a:pt x="5492281" y="0"/>
                  <a:pt x="5543455" y="51173"/>
                  <a:pt x="5543455" y="114299"/>
                </a:cubicBezTo>
                <a:lnTo>
                  <a:pt x="5543455" y="1447801"/>
                </a:lnTo>
                <a:cubicBezTo>
                  <a:pt x="5543455" y="1510927"/>
                  <a:pt x="5492281" y="1562100"/>
                  <a:pt x="5429156" y="1562100"/>
                </a:cubicBezTo>
                <a:lnTo>
                  <a:pt x="37909" y="1562100"/>
                </a:lnTo>
                <a:cubicBezTo>
                  <a:pt x="16974" y="1562100"/>
                  <a:pt x="0" y="1545126"/>
                  <a:pt x="0" y="15241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399911" y="4114098"/>
            <a:ext cx="37909" cy="1562100"/>
          </a:xfrm>
          <a:custGeom>
            <a:avLst/>
            <a:gdLst/>
            <a:ahLst/>
            <a:cxnLst/>
            <a:rect l="l" t="t" r="r" b="b"/>
            <a:pathLst>
              <a:path w="37909" h="1562100">
                <a:moveTo>
                  <a:pt x="37909" y="0"/>
                </a:moveTo>
                <a:lnTo>
                  <a:pt x="37909" y="0"/>
                </a:lnTo>
                <a:lnTo>
                  <a:pt x="37909" y="1562100"/>
                </a:lnTo>
                <a:lnTo>
                  <a:pt x="37909" y="1562100"/>
                </a:lnTo>
                <a:cubicBezTo>
                  <a:pt x="16974" y="1562100"/>
                  <a:pt x="0" y="1545126"/>
                  <a:pt x="0" y="15241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439" y="4342670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FLOPS = Frequency × FLOPs per Cycle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439" y="4723626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 3×10⁹ × 8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439" y="5104581"/>
            <a:ext cx="52101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 24 GFLOPS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399911" y="5828361"/>
            <a:ext cx="5543455" cy="571500"/>
          </a:xfrm>
          <a:custGeom>
            <a:avLst/>
            <a:gdLst/>
            <a:ahLst/>
            <a:cxnLst/>
            <a:rect l="l" t="t" r="r" b="b"/>
            <a:pathLst>
              <a:path w="5543455" h="571500">
                <a:moveTo>
                  <a:pt x="37909" y="0"/>
                </a:moveTo>
                <a:lnTo>
                  <a:pt x="5467257" y="0"/>
                </a:lnTo>
                <a:cubicBezTo>
                  <a:pt x="5509340" y="0"/>
                  <a:pt x="5543455" y="34115"/>
                  <a:pt x="5543455" y="76197"/>
                </a:cubicBezTo>
                <a:lnTo>
                  <a:pt x="5543455" y="495303"/>
                </a:lnTo>
                <a:cubicBezTo>
                  <a:pt x="5543455" y="537385"/>
                  <a:pt x="5509340" y="571500"/>
                  <a:pt x="5467257" y="571500"/>
                </a:cubicBezTo>
                <a:lnTo>
                  <a:pt x="37909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EFCE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399911" y="5828361"/>
            <a:ext cx="37909" cy="571500"/>
          </a:xfrm>
          <a:custGeom>
            <a:avLst/>
            <a:gdLst/>
            <a:ahLst/>
            <a:cxnLst/>
            <a:rect l="l" t="t" r="r" b="b"/>
            <a:pathLst>
              <a:path w="37909" h="571500">
                <a:moveTo>
                  <a:pt x="37909" y="0"/>
                </a:moveTo>
                <a:lnTo>
                  <a:pt x="37909" y="0"/>
                </a:lnTo>
                <a:lnTo>
                  <a:pt x="37909" y="571500"/>
                </a:lnTo>
                <a:lnTo>
                  <a:pt x="37909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0B1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571248" y="5980742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Note:</a:t>
            </a: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This is the theoretical peak; actual performance is typically lower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248338" y="990484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 l="59" r="58"/>
          <a:stretch>
            <a:fillRect/>
          </a:stretch>
        </p:blipFill>
        <p:spPr>
          <a:xfrm>
            <a:off x="6400720" y="1863830"/>
            <a:ext cx="5257800" cy="3095625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23" name="AutoShape 23"/>
          <p:cNvSpPr/>
          <p:nvPr/>
        </p:nvSpPr>
        <p:spPr>
          <a:xfrm>
            <a:off x="6210238" y="5905365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University of Florida - CPU Pipeline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2406" y="638738"/>
            <a:ext cx="11685701" cy="3266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3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Actual FLOPS vs Theoretical FLOPS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34732" y="1162104"/>
            <a:ext cx="5626368" cy="4393286"/>
          </a:xfrm>
          <a:custGeom>
            <a:avLst/>
            <a:gdLst/>
            <a:ahLst/>
            <a:cxnLst/>
            <a:rect l="l" t="t" r="r" b="b"/>
            <a:pathLst>
              <a:path w="5626368" h="4393286">
                <a:moveTo>
                  <a:pt x="98014" y="0"/>
                </a:moveTo>
                <a:lnTo>
                  <a:pt x="5528353" y="0"/>
                </a:lnTo>
                <a:cubicBezTo>
                  <a:pt x="5582484" y="0"/>
                  <a:pt x="5626368" y="43882"/>
                  <a:pt x="5626368" y="98014"/>
                </a:cubicBezTo>
                <a:lnTo>
                  <a:pt x="5626368" y="4295271"/>
                </a:lnTo>
                <a:cubicBezTo>
                  <a:pt x="5626368" y="4349403"/>
                  <a:pt x="5582484" y="4393286"/>
                  <a:pt x="5528353" y="4393286"/>
                </a:cubicBezTo>
                <a:lnTo>
                  <a:pt x="98014" y="4393286"/>
                </a:lnTo>
                <a:cubicBezTo>
                  <a:pt x="43882" y="4393286"/>
                  <a:pt x="0" y="4349403"/>
                  <a:pt x="0" y="4295271"/>
                </a:cubicBezTo>
                <a:lnTo>
                  <a:pt x="0" y="98014"/>
                </a:lnTo>
                <a:cubicBezTo>
                  <a:pt x="0" y="43919"/>
                  <a:pt x="43919" y="0"/>
                  <a:pt x="98014" y="0"/>
                </a:cubicBezTo>
                <a:close/>
              </a:path>
            </a:pathLst>
          </a:custGeom>
          <a:gradFill rotWithShape="1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538821" y="1366194"/>
            <a:ext cx="457302" cy="457302"/>
          </a:xfrm>
          <a:custGeom>
            <a:avLst/>
            <a:gdLst/>
            <a:ahLst/>
            <a:cxnLst/>
            <a:rect l="l" t="t" r="r" b="b"/>
            <a:pathLst>
              <a:path w="457302" h="457302">
                <a:moveTo>
                  <a:pt x="97994" y="0"/>
                </a:moveTo>
                <a:lnTo>
                  <a:pt x="359307" y="0"/>
                </a:lnTo>
                <a:cubicBezTo>
                  <a:pt x="413428" y="0"/>
                  <a:pt x="457302" y="43873"/>
                  <a:pt x="457302" y="97994"/>
                </a:cubicBezTo>
                <a:lnTo>
                  <a:pt x="457302" y="359307"/>
                </a:lnTo>
                <a:cubicBezTo>
                  <a:pt x="457302" y="413428"/>
                  <a:pt x="413428" y="457302"/>
                  <a:pt x="359307" y="457302"/>
                </a:cubicBezTo>
                <a:lnTo>
                  <a:pt x="97994" y="457302"/>
                </a:lnTo>
                <a:cubicBezTo>
                  <a:pt x="43873" y="457302"/>
                  <a:pt x="0" y="413428"/>
                  <a:pt x="0" y="359307"/>
                </a:cubicBezTo>
                <a:lnTo>
                  <a:pt x="0" y="97994"/>
                </a:lnTo>
                <a:cubicBezTo>
                  <a:pt x="0" y="43873"/>
                  <a:pt x="43873" y="0"/>
                  <a:pt x="97994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blurRad="38100" dist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663448" y="1506253"/>
            <a:ext cx="192580" cy="192579"/>
          </a:xfrm>
          <a:custGeom>
            <a:avLst/>
            <a:gdLst/>
            <a:ahLst/>
            <a:cxnLst/>
            <a:rect l="l" t="t" r="r" b="b"/>
            <a:pathLst>
              <a:path w="192580" h="192579">
                <a:moveTo>
                  <a:pt x="55007" y="113074"/>
                </a:moveTo>
                <a:lnTo>
                  <a:pt x="15388" y="113074"/>
                </a:lnTo>
                <a:cubicBezTo>
                  <a:pt x="5858" y="113074"/>
                  <a:pt x="0" y="102701"/>
                  <a:pt x="4900" y="94508"/>
                </a:cubicBezTo>
                <a:lnTo>
                  <a:pt x="25149" y="60748"/>
                </a:lnTo>
                <a:cubicBezTo>
                  <a:pt x="28480" y="55197"/>
                  <a:pt x="34450" y="51829"/>
                  <a:pt x="40920" y="51829"/>
                </a:cubicBezTo>
                <a:lnTo>
                  <a:pt x="77285" y="51829"/>
                </a:lnTo>
                <a:cubicBezTo>
                  <a:pt x="106415" y="2488"/>
                  <a:pt x="149862" y="0"/>
                  <a:pt x="178915" y="4248"/>
                </a:cubicBezTo>
                <a:cubicBezTo>
                  <a:pt x="183814" y="4976"/>
                  <a:pt x="187642" y="8804"/>
                  <a:pt x="188331" y="13665"/>
                </a:cubicBezTo>
                <a:cubicBezTo>
                  <a:pt x="192581" y="42718"/>
                  <a:pt x="190091" y="86164"/>
                  <a:pt x="140751" y="115294"/>
                </a:cubicBezTo>
                <a:lnTo>
                  <a:pt x="140751" y="151658"/>
                </a:lnTo>
                <a:cubicBezTo>
                  <a:pt x="140751" y="158129"/>
                  <a:pt x="137383" y="164101"/>
                  <a:pt x="131831" y="167431"/>
                </a:cubicBezTo>
                <a:lnTo>
                  <a:pt x="98070" y="187679"/>
                </a:lnTo>
                <a:cubicBezTo>
                  <a:pt x="89918" y="192579"/>
                  <a:pt x="79505" y="186684"/>
                  <a:pt x="79505" y="177190"/>
                </a:cubicBezTo>
                <a:lnTo>
                  <a:pt x="79505" y="137573"/>
                </a:lnTo>
                <a:cubicBezTo>
                  <a:pt x="79505" y="124061"/>
                  <a:pt x="68519" y="113074"/>
                  <a:pt x="55007" y="113074"/>
                </a:cubicBezTo>
                <a:lnTo>
                  <a:pt x="54968" y="113074"/>
                </a:lnTo>
                <a:close/>
                <a:moveTo>
                  <a:pt x="159125" y="51829"/>
                </a:moveTo>
                <a:cubicBezTo>
                  <a:pt x="159125" y="41688"/>
                  <a:pt x="150892" y="33454"/>
                  <a:pt x="140751" y="33454"/>
                </a:cubicBezTo>
                <a:cubicBezTo>
                  <a:pt x="130610" y="33454"/>
                  <a:pt x="122378" y="41688"/>
                  <a:pt x="122378" y="51829"/>
                </a:cubicBezTo>
                <a:cubicBezTo>
                  <a:pt x="122378" y="61970"/>
                  <a:pt x="130610" y="70203"/>
                  <a:pt x="140751" y="70203"/>
                </a:cubicBezTo>
                <a:cubicBezTo>
                  <a:pt x="150892" y="70203"/>
                  <a:pt x="159125" y="61970"/>
                  <a:pt x="159125" y="5182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26712" y="1464207"/>
            <a:ext cx="1921288" cy="261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Theoretical Peak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538821" y="2557801"/>
            <a:ext cx="5218143" cy="2196683"/>
          </a:xfrm>
          <a:custGeom>
            <a:avLst/>
            <a:gdLst/>
            <a:ahLst/>
            <a:cxnLst/>
            <a:rect l="l" t="t" r="r" b="b"/>
            <a:pathLst>
              <a:path w="5218143" h="2196683">
                <a:moveTo>
                  <a:pt x="65329" y="0"/>
                </a:moveTo>
                <a:lnTo>
                  <a:pt x="5152814" y="0"/>
                </a:lnTo>
                <a:cubicBezTo>
                  <a:pt x="5188894" y="0"/>
                  <a:pt x="5218143" y="29249"/>
                  <a:pt x="5218143" y="65329"/>
                </a:cubicBezTo>
                <a:lnTo>
                  <a:pt x="5218143" y="2131353"/>
                </a:lnTo>
                <a:cubicBezTo>
                  <a:pt x="5218143" y="2167434"/>
                  <a:pt x="5188894" y="2196683"/>
                  <a:pt x="5152814" y="2196683"/>
                </a:cubicBezTo>
                <a:lnTo>
                  <a:pt x="65329" y="2196683"/>
                </a:lnTo>
                <a:cubicBezTo>
                  <a:pt x="29249" y="2196683"/>
                  <a:pt x="0" y="2167434"/>
                  <a:pt x="0" y="2131353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127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00106" y="2848396"/>
            <a:ext cx="4777173" cy="5307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theoretical peak is entirely determined by </a:t>
            </a:r>
            <a:r>
              <a:rPr lang="en-US" sz="13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hardware specifications</a:t>
            </a:r>
            <a:r>
              <a:rPr lang="en-US" sz="13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representing the maximum performance a processor can achieve under ideal conditions.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820521" y="3607810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108584" y="67848"/>
                </a:moveTo>
                <a:lnTo>
                  <a:pt x="83066" y="108679"/>
                </a:lnTo>
                <a:cubicBezTo>
                  <a:pt x="81724" y="110816"/>
                  <a:pt x="79428" y="112156"/>
                  <a:pt x="76907" y="112285"/>
                </a:cubicBezTo>
                <a:cubicBezTo>
                  <a:pt x="74388" y="112412"/>
                  <a:pt x="71965" y="111263"/>
                  <a:pt x="70465" y="109223"/>
                </a:cubicBezTo>
                <a:lnTo>
                  <a:pt x="55154" y="88806"/>
                </a:lnTo>
                <a:cubicBezTo>
                  <a:pt x="52601" y="85425"/>
                  <a:pt x="53303" y="80640"/>
                  <a:pt x="56684" y="78088"/>
                </a:cubicBezTo>
                <a:cubicBezTo>
                  <a:pt x="60066" y="75537"/>
                  <a:pt x="64850" y="76238"/>
                  <a:pt x="67401" y="79620"/>
                </a:cubicBezTo>
                <a:lnTo>
                  <a:pt x="76015" y="91103"/>
                </a:lnTo>
                <a:lnTo>
                  <a:pt x="95601" y="59747"/>
                </a:lnTo>
                <a:cubicBezTo>
                  <a:pt x="97834" y="56173"/>
                  <a:pt x="102555" y="55057"/>
                  <a:pt x="106159" y="57321"/>
                </a:cubicBezTo>
                <a:cubicBezTo>
                  <a:pt x="109764" y="59587"/>
                  <a:pt x="110849" y="64276"/>
                  <a:pt x="108584" y="6788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102208" y="3575182"/>
            <a:ext cx="2519889" cy="26126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Based on CPU/GPU core count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820521" y="3967109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108584" y="67848"/>
                </a:moveTo>
                <a:lnTo>
                  <a:pt x="83066" y="108679"/>
                </a:lnTo>
                <a:cubicBezTo>
                  <a:pt x="81724" y="110816"/>
                  <a:pt x="79428" y="112156"/>
                  <a:pt x="76907" y="112285"/>
                </a:cubicBezTo>
                <a:cubicBezTo>
                  <a:pt x="74388" y="112412"/>
                  <a:pt x="71965" y="111263"/>
                  <a:pt x="70465" y="109223"/>
                </a:cubicBezTo>
                <a:lnTo>
                  <a:pt x="55154" y="88806"/>
                </a:lnTo>
                <a:cubicBezTo>
                  <a:pt x="52601" y="85425"/>
                  <a:pt x="53303" y="80640"/>
                  <a:pt x="56684" y="78088"/>
                </a:cubicBezTo>
                <a:cubicBezTo>
                  <a:pt x="60066" y="75537"/>
                  <a:pt x="64850" y="76238"/>
                  <a:pt x="67401" y="79620"/>
                </a:cubicBezTo>
                <a:lnTo>
                  <a:pt x="76015" y="91103"/>
                </a:lnTo>
                <a:lnTo>
                  <a:pt x="95601" y="59747"/>
                </a:lnTo>
                <a:cubicBezTo>
                  <a:pt x="97834" y="56173"/>
                  <a:pt x="102555" y="55057"/>
                  <a:pt x="106159" y="57321"/>
                </a:cubicBezTo>
                <a:cubicBezTo>
                  <a:pt x="109764" y="59587"/>
                  <a:pt x="110849" y="64276"/>
                  <a:pt x="108584" y="6788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102209" y="3934481"/>
            <a:ext cx="1998545" cy="2966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Based on clock frequency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820521" y="4326408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108584" y="67848"/>
                </a:moveTo>
                <a:lnTo>
                  <a:pt x="83066" y="108679"/>
                </a:lnTo>
                <a:cubicBezTo>
                  <a:pt x="81724" y="110816"/>
                  <a:pt x="79428" y="112156"/>
                  <a:pt x="76907" y="112285"/>
                </a:cubicBezTo>
                <a:cubicBezTo>
                  <a:pt x="74388" y="112412"/>
                  <a:pt x="71965" y="111263"/>
                  <a:pt x="70465" y="109223"/>
                </a:cubicBezTo>
                <a:lnTo>
                  <a:pt x="55154" y="88806"/>
                </a:lnTo>
                <a:cubicBezTo>
                  <a:pt x="52601" y="85425"/>
                  <a:pt x="53303" y="80640"/>
                  <a:pt x="56684" y="78088"/>
                </a:cubicBezTo>
                <a:cubicBezTo>
                  <a:pt x="60066" y="75537"/>
                  <a:pt x="64850" y="76238"/>
                  <a:pt x="67401" y="79620"/>
                </a:cubicBezTo>
                <a:lnTo>
                  <a:pt x="76015" y="91103"/>
                </a:lnTo>
                <a:lnTo>
                  <a:pt x="95601" y="59747"/>
                </a:lnTo>
                <a:cubicBezTo>
                  <a:pt x="97834" y="56173"/>
                  <a:pt x="102555" y="55057"/>
                  <a:pt x="106159" y="57321"/>
                </a:cubicBezTo>
                <a:cubicBezTo>
                  <a:pt x="109764" y="59587"/>
                  <a:pt x="110849" y="64276"/>
                  <a:pt x="108584" y="6788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102209" y="4293780"/>
            <a:ext cx="3399453" cy="2966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Based on instructions per cycle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236116" y="1162104"/>
            <a:ext cx="5626368" cy="4393286"/>
          </a:xfrm>
          <a:custGeom>
            <a:avLst/>
            <a:gdLst/>
            <a:ahLst/>
            <a:cxnLst/>
            <a:rect l="l" t="t" r="r" b="b"/>
            <a:pathLst>
              <a:path w="5626368" h="4393286">
                <a:moveTo>
                  <a:pt x="98014" y="0"/>
                </a:moveTo>
                <a:lnTo>
                  <a:pt x="5528353" y="0"/>
                </a:lnTo>
                <a:cubicBezTo>
                  <a:pt x="5582484" y="0"/>
                  <a:pt x="5626368" y="43882"/>
                  <a:pt x="5626368" y="98014"/>
                </a:cubicBezTo>
                <a:lnTo>
                  <a:pt x="5626368" y="4295271"/>
                </a:lnTo>
                <a:cubicBezTo>
                  <a:pt x="5626368" y="4349403"/>
                  <a:pt x="5582484" y="4393286"/>
                  <a:pt x="5528353" y="4393286"/>
                </a:cubicBezTo>
                <a:lnTo>
                  <a:pt x="98014" y="4393286"/>
                </a:lnTo>
                <a:cubicBezTo>
                  <a:pt x="43882" y="4393286"/>
                  <a:pt x="0" y="4349403"/>
                  <a:pt x="0" y="4295271"/>
                </a:cubicBezTo>
                <a:lnTo>
                  <a:pt x="0" y="98014"/>
                </a:lnTo>
                <a:cubicBezTo>
                  <a:pt x="0" y="43919"/>
                  <a:pt x="43919" y="0"/>
                  <a:pt x="98014" y="0"/>
                </a:cubicBezTo>
                <a:close/>
              </a:path>
            </a:pathLst>
          </a:custGeom>
          <a:gradFill rotWithShape="1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6440206" y="1366194"/>
            <a:ext cx="457302" cy="457302"/>
          </a:xfrm>
          <a:custGeom>
            <a:avLst/>
            <a:gdLst/>
            <a:ahLst/>
            <a:cxnLst/>
            <a:rect l="l" t="t" r="r" b="b"/>
            <a:pathLst>
              <a:path w="457302" h="457302">
                <a:moveTo>
                  <a:pt x="97994" y="0"/>
                </a:moveTo>
                <a:lnTo>
                  <a:pt x="359307" y="0"/>
                </a:lnTo>
                <a:cubicBezTo>
                  <a:pt x="413428" y="0"/>
                  <a:pt x="457302" y="43873"/>
                  <a:pt x="457302" y="97994"/>
                </a:cubicBezTo>
                <a:lnTo>
                  <a:pt x="457302" y="359307"/>
                </a:lnTo>
                <a:cubicBezTo>
                  <a:pt x="457302" y="413428"/>
                  <a:pt x="413428" y="457302"/>
                  <a:pt x="359307" y="457302"/>
                </a:cubicBezTo>
                <a:lnTo>
                  <a:pt x="97994" y="457302"/>
                </a:lnTo>
                <a:cubicBezTo>
                  <a:pt x="43873" y="457302"/>
                  <a:pt x="0" y="413428"/>
                  <a:pt x="0" y="359307"/>
                </a:cubicBezTo>
                <a:lnTo>
                  <a:pt x="0" y="97994"/>
                </a:lnTo>
                <a:cubicBezTo>
                  <a:pt x="0" y="43873"/>
                  <a:pt x="43873" y="0"/>
                  <a:pt x="97994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blurRad="38100" dist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6570843" y="1509085"/>
            <a:ext cx="195986" cy="171488"/>
          </a:xfrm>
          <a:custGeom>
            <a:avLst/>
            <a:gdLst/>
            <a:ahLst/>
            <a:cxnLst/>
            <a:rect l="l" t="t" r="r" b="b"/>
            <a:pathLst>
              <a:path w="195986" h="171488">
                <a:moveTo>
                  <a:pt x="24498" y="12249"/>
                </a:moveTo>
                <a:cubicBezTo>
                  <a:pt x="24498" y="5474"/>
                  <a:pt x="19025" y="0"/>
                  <a:pt x="12249" y="0"/>
                </a:cubicBezTo>
                <a:cubicBezTo>
                  <a:pt x="5474" y="0"/>
                  <a:pt x="0" y="5474"/>
                  <a:pt x="0" y="12249"/>
                </a:cubicBezTo>
                <a:lnTo>
                  <a:pt x="0" y="140866"/>
                </a:lnTo>
                <a:cubicBezTo>
                  <a:pt x="0" y="157785"/>
                  <a:pt x="13705" y="171488"/>
                  <a:pt x="30624" y="171488"/>
                </a:cubicBezTo>
                <a:lnTo>
                  <a:pt x="183737" y="171488"/>
                </a:lnTo>
                <a:cubicBezTo>
                  <a:pt x="190513" y="171488"/>
                  <a:pt x="195986" y="166015"/>
                  <a:pt x="195986" y="159239"/>
                </a:cubicBezTo>
                <a:cubicBezTo>
                  <a:pt x="195986" y="152464"/>
                  <a:pt x="190513" y="146990"/>
                  <a:pt x="183737" y="146990"/>
                </a:cubicBezTo>
                <a:lnTo>
                  <a:pt x="30624" y="146990"/>
                </a:lnTo>
                <a:cubicBezTo>
                  <a:pt x="27254" y="146990"/>
                  <a:pt x="24498" y="144234"/>
                  <a:pt x="24498" y="140866"/>
                </a:cubicBezTo>
                <a:lnTo>
                  <a:pt x="24498" y="12249"/>
                </a:lnTo>
                <a:close/>
                <a:moveTo>
                  <a:pt x="180139" y="45399"/>
                </a:moveTo>
                <a:cubicBezTo>
                  <a:pt x="184923" y="40613"/>
                  <a:pt x="184923" y="32844"/>
                  <a:pt x="180139" y="28058"/>
                </a:cubicBezTo>
                <a:cubicBezTo>
                  <a:pt x="175354" y="23274"/>
                  <a:pt x="167584" y="23274"/>
                  <a:pt x="162799" y="28058"/>
                </a:cubicBezTo>
                <a:lnTo>
                  <a:pt x="122491" y="68404"/>
                </a:lnTo>
                <a:lnTo>
                  <a:pt x="100520" y="46469"/>
                </a:lnTo>
                <a:cubicBezTo>
                  <a:pt x="95735" y="41687"/>
                  <a:pt x="87964" y="41687"/>
                  <a:pt x="83179" y="46469"/>
                </a:cubicBezTo>
                <a:lnTo>
                  <a:pt x="46432" y="83218"/>
                </a:lnTo>
                <a:cubicBezTo>
                  <a:pt x="41647" y="88004"/>
                  <a:pt x="41647" y="95773"/>
                  <a:pt x="46432" y="100557"/>
                </a:cubicBezTo>
                <a:cubicBezTo>
                  <a:pt x="51217" y="105343"/>
                  <a:pt x="58986" y="105343"/>
                  <a:pt x="63772" y="100557"/>
                </a:cubicBezTo>
                <a:lnTo>
                  <a:pt x="91869" y="72463"/>
                </a:lnTo>
                <a:lnTo>
                  <a:pt x="113842" y="94434"/>
                </a:lnTo>
                <a:cubicBezTo>
                  <a:pt x="118626" y="99218"/>
                  <a:pt x="126395" y="99218"/>
                  <a:pt x="131181" y="94434"/>
                </a:cubicBezTo>
                <a:lnTo>
                  <a:pt x="180177" y="4543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028097" y="1464207"/>
            <a:ext cx="1683512" cy="261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Actual FLOPS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6440206" y="2587111"/>
            <a:ext cx="5218143" cy="2196683"/>
          </a:xfrm>
          <a:custGeom>
            <a:avLst/>
            <a:gdLst/>
            <a:ahLst/>
            <a:cxnLst/>
            <a:rect l="l" t="t" r="r" b="b"/>
            <a:pathLst>
              <a:path w="5218143" h="2196683">
                <a:moveTo>
                  <a:pt x="65329" y="0"/>
                </a:moveTo>
                <a:lnTo>
                  <a:pt x="5152814" y="0"/>
                </a:lnTo>
                <a:cubicBezTo>
                  <a:pt x="5188894" y="0"/>
                  <a:pt x="5218143" y="29249"/>
                  <a:pt x="5218143" y="65329"/>
                </a:cubicBezTo>
                <a:lnTo>
                  <a:pt x="5218143" y="2131353"/>
                </a:lnTo>
                <a:cubicBezTo>
                  <a:pt x="5218143" y="2167434"/>
                  <a:pt x="5188894" y="2196683"/>
                  <a:pt x="5152814" y="2196683"/>
                </a:cubicBezTo>
                <a:lnTo>
                  <a:pt x="65329" y="2196683"/>
                </a:lnTo>
                <a:cubicBezTo>
                  <a:pt x="29249" y="2196683"/>
                  <a:pt x="0" y="2167434"/>
                  <a:pt x="0" y="2131353"/>
                </a:cubicBezTo>
                <a:lnTo>
                  <a:pt x="0" y="65329"/>
                </a:lnTo>
                <a:cubicBezTo>
                  <a:pt x="0" y="29273"/>
                  <a:pt x="29274" y="0"/>
                  <a:pt x="6532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127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701490" y="2848396"/>
            <a:ext cx="4777173" cy="5307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Actual FLOPS is determined by </a:t>
            </a:r>
            <a:r>
              <a:rPr lang="en-US" sz="13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program execution conditions</a:t>
            </a:r>
            <a:r>
              <a:rPr lang="en-US" sz="13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influenced by a variety of complex factors.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721906" y="3607810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53271" y="53271"/>
                </a:moveTo>
                <a:cubicBezTo>
                  <a:pt x="56270" y="50273"/>
                  <a:pt x="61117" y="50273"/>
                  <a:pt x="64085" y="53271"/>
                </a:cubicBezTo>
                <a:lnTo>
                  <a:pt x="81629" y="70815"/>
                </a:lnTo>
                <a:lnTo>
                  <a:pt x="99174" y="53271"/>
                </a:lnTo>
                <a:cubicBezTo>
                  <a:pt x="102171" y="50273"/>
                  <a:pt x="107022" y="50273"/>
                  <a:pt x="109987" y="53271"/>
                </a:cubicBezTo>
                <a:cubicBezTo>
                  <a:pt x="112954" y="56270"/>
                  <a:pt x="112986" y="61117"/>
                  <a:pt x="109987" y="64085"/>
                </a:cubicBezTo>
                <a:lnTo>
                  <a:pt x="92443" y="81629"/>
                </a:lnTo>
                <a:lnTo>
                  <a:pt x="109987" y="99174"/>
                </a:lnTo>
                <a:cubicBezTo>
                  <a:pt x="112986" y="102172"/>
                  <a:pt x="112986" y="107022"/>
                  <a:pt x="109987" y="109987"/>
                </a:cubicBezTo>
                <a:cubicBezTo>
                  <a:pt x="106989" y="112954"/>
                  <a:pt x="102140" y="112986"/>
                  <a:pt x="99174" y="109987"/>
                </a:cubicBezTo>
                <a:lnTo>
                  <a:pt x="81629" y="92443"/>
                </a:lnTo>
                <a:lnTo>
                  <a:pt x="64085" y="109987"/>
                </a:lnTo>
                <a:cubicBezTo>
                  <a:pt x="61086" y="112986"/>
                  <a:pt x="56238" y="112986"/>
                  <a:pt x="53271" y="109987"/>
                </a:cubicBezTo>
                <a:cubicBezTo>
                  <a:pt x="50305" y="106989"/>
                  <a:pt x="50273" y="102140"/>
                  <a:pt x="53271" y="99174"/>
                </a:cubicBezTo>
                <a:lnTo>
                  <a:pt x="70815" y="81629"/>
                </a:lnTo>
                <a:lnTo>
                  <a:pt x="53271" y="64085"/>
                </a:lnTo>
                <a:cubicBezTo>
                  <a:pt x="50273" y="61086"/>
                  <a:pt x="50273" y="56238"/>
                  <a:pt x="53271" y="53271"/>
                </a:cubicBezTo>
                <a:close/>
              </a:path>
            </a:pathLst>
          </a:custGeom>
          <a:solidFill>
            <a:srgbClr val="E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003593" y="3575182"/>
            <a:ext cx="2843792" cy="26126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Usually far below the theoretical peak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6721906" y="3967109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53271" y="53271"/>
                </a:moveTo>
                <a:cubicBezTo>
                  <a:pt x="56270" y="50273"/>
                  <a:pt x="61117" y="50273"/>
                  <a:pt x="64085" y="53271"/>
                </a:cubicBezTo>
                <a:lnTo>
                  <a:pt x="81629" y="70815"/>
                </a:lnTo>
                <a:lnTo>
                  <a:pt x="99174" y="53271"/>
                </a:lnTo>
                <a:cubicBezTo>
                  <a:pt x="102171" y="50273"/>
                  <a:pt x="107022" y="50273"/>
                  <a:pt x="109987" y="53271"/>
                </a:cubicBezTo>
                <a:cubicBezTo>
                  <a:pt x="112954" y="56270"/>
                  <a:pt x="112986" y="61117"/>
                  <a:pt x="109987" y="64085"/>
                </a:cubicBezTo>
                <a:lnTo>
                  <a:pt x="92443" y="81629"/>
                </a:lnTo>
                <a:lnTo>
                  <a:pt x="109987" y="99174"/>
                </a:lnTo>
                <a:cubicBezTo>
                  <a:pt x="112986" y="102172"/>
                  <a:pt x="112986" y="107022"/>
                  <a:pt x="109987" y="109987"/>
                </a:cubicBezTo>
                <a:cubicBezTo>
                  <a:pt x="106989" y="112954"/>
                  <a:pt x="102140" y="112986"/>
                  <a:pt x="99174" y="109987"/>
                </a:cubicBezTo>
                <a:lnTo>
                  <a:pt x="81629" y="92443"/>
                </a:lnTo>
                <a:lnTo>
                  <a:pt x="64085" y="109987"/>
                </a:lnTo>
                <a:cubicBezTo>
                  <a:pt x="61086" y="112986"/>
                  <a:pt x="56238" y="112986"/>
                  <a:pt x="53271" y="109987"/>
                </a:cubicBezTo>
                <a:cubicBezTo>
                  <a:pt x="50305" y="106989"/>
                  <a:pt x="50273" y="102140"/>
                  <a:pt x="53271" y="99174"/>
                </a:cubicBezTo>
                <a:lnTo>
                  <a:pt x="70815" y="81629"/>
                </a:lnTo>
                <a:lnTo>
                  <a:pt x="53271" y="64085"/>
                </a:lnTo>
                <a:cubicBezTo>
                  <a:pt x="50273" y="61086"/>
                  <a:pt x="50273" y="56238"/>
                  <a:pt x="53271" y="53271"/>
                </a:cubicBezTo>
                <a:close/>
              </a:path>
            </a:pathLst>
          </a:custGeom>
          <a:solidFill>
            <a:srgbClr val="E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003593" y="3934481"/>
            <a:ext cx="2597607" cy="26126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Affected by multiple factors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6721906" y="4326408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53271" y="53271"/>
                </a:moveTo>
                <a:cubicBezTo>
                  <a:pt x="56270" y="50273"/>
                  <a:pt x="61117" y="50273"/>
                  <a:pt x="64085" y="53271"/>
                </a:cubicBezTo>
                <a:lnTo>
                  <a:pt x="81629" y="70815"/>
                </a:lnTo>
                <a:lnTo>
                  <a:pt x="99174" y="53271"/>
                </a:lnTo>
                <a:cubicBezTo>
                  <a:pt x="102171" y="50273"/>
                  <a:pt x="107022" y="50273"/>
                  <a:pt x="109987" y="53271"/>
                </a:cubicBezTo>
                <a:cubicBezTo>
                  <a:pt x="112954" y="56270"/>
                  <a:pt x="112986" y="61117"/>
                  <a:pt x="109987" y="64085"/>
                </a:cubicBezTo>
                <a:lnTo>
                  <a:pt x="92443" y="81629"/>
                </a:lnTo>
                <a:lnTo>
                  <a:pt x="109987" y="99174"/>
                </a:lnTo>
                <a:cubicBezTo>
                  <a:pt x="112986" y="102172"/>
                  <a:pt x="112986" y="107022"/>
                  <a:pt x="109987" y="109987"/>
                </a:cubicBezTo>
                <a:cubicBezTo>
                  <a:pt x="106989" y="112954"/>
                  <a:pt x="102140" y="112986"/>
                  <a:pt x="99174" y="109987"/>
                </a:cubicBezTo>
                <a:lnTo>
                  <a:pt x="81629" y="92443"/>
                </a:lnTo>
                <a:lnTo>
                  <a:pt x="64085" y="109987"/>
                </a:lnTo>
                <a:cubicBezTo>
                  <a:pt x="61086" y="112986"/>
                  <a:pt x="56238" y="112986"/>
                  <a:pt x="53271" y="109987"/>
                </a:cubicBezTo>
                <a:cubicBezTo>
                  <a:pt x="50305" y="106989"/>
                  <a:pt x="50273" y="102140"/>
                  <a:pt x="53271" y="99174"/>
                </a:cubicBezTo>
                <a:lnTo>
                  <a:pt x="70815" y="81629"/>
                </a:lnTo>
                <a:lnTo>
                  <a:pt x="53271" y="64085"/>
                </a:lnTo>
                <a:cubicBezTo>
                  <a:pt x="50273" y="61086"/>
                  <a:pt x="50273" y="56238"/>
                  <a:pt x="53271" y="53271"/>
                </a:cubicBezTo>
                <a:close/>
              </a:path>
            </a:pathLst>
          </a:custGeom>
          <a:solidFill>
            <a:srgbClr val="E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003593" y="4293780"/>
            <a:ext cx="2691392" cy="26126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Requires optimization to improve</a:t>
            </a:r>
            <a:endParaRPr lang="en-US" sz="1100"/>
          </a:p>
        </p:txBody>
      </p:sp>
      <p:sp>
        <p:nvSpPr>
          <p:cNvPr id="27" name="Freeform 27"/>
          <p:cNvSpPr/>
          <p:nvPr/>
        </p:nvSpPr>
        <p:spPr>
          <a:xfrm>
            <a:off x="342857" y="5454801"/>
            <a:ext cx="11522299" cy="1077926"/>
          </a:xfrm>
          <a:custGeom>
            <a:avLst/>
            <a:gdLst/>
            <a:ahLst/>
            <a:cxnLst/>
            <a:rect l="l" t="t" r="r" b="b"/>
            <a:pathLst>
              <a:path w="11522299" h="1077926">
                <a:moveTo>
                  <a:pt x="32502" y="0"/>
                </a:moveTo>
                <a:lnTo>
                  <a:pt x="11424304" y="0"/>
                </a:lnTo>
                <a:cubicBezTo>
                  <a:pt x="11478424" y="0"/>
                  <a:pt x="11522299" y="43873"/>
                  <a:pt x="11522299" y="97994"/>
                </a:cubicBezTo>
                <a:lnTo>
                  <a:pt x="11522299" y="979932"/>
                </a:lnTo>
                <a:cubicBezTo>
                  <a:pt x="11522299" y="1034053"/>
                  <a:pt x="11478424" y="1077926"/>
                  <a:pt x="11424304" y="1077926"/>
                </a:cubicBezTo>
                <a:lnTo>
                  <a:pt x="32502" y="1077926"/>
                </a:lnTo>
                <a:cubicBezTo>
                  <a:pt x="14552" y="1077926"/>
                  <a:pt x="0" y="1063375"/>
                  <a:pt x="0" y="1045425"/>
                </a:cubicBezTo>
                <a:lnTo>
                  <a:pt x="0" y="32502"/>
                </a:lnTo>
                <a:cubicBezTo>
                  <a:pt x="0" y="14564"/>
                  <a:pt x="14564" y="0"/>
                  <a:pt x="3250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342857" y="5454801"/>
            <a:ext cx="32502" cy="1077926"/>
          </a:xfrm>
          <a:custGeom>
            <a:avLst/>
            <a:gdLst/>
            <a:ahLst/>
            <a:cxnLst/>
            <a:rect l="l" t="t" r="r" b="b"/>
            <a:pathLst>
              <a:path w="32502" h="1077926">
                <a:moveTo>
                  <a:pt x="32502" y="0"/>
                </a:moveTo>
                <a:lnTo>
                  <a:pt x="32502" y="0"/>
                </a:lnTo>
                <a:lnTo>
                  <a:pt x="32502" y="1077926"/>
                </a:lnTo>
                <a:lnTo>
                  <a:pt x="32502" y="1077926"/>
                </a:lnTo>
                <a:cubicBezTo>
                  <a:pt x="14552" y="1077926"/>
                  <a:pt x="0" y="1063375"/>
                  <a:pt x="0" y="1045425"/>
                </a:cubicBezTo>
                <a:lnTo>
                  <a:pt x="0" y="32502"/>
                </a:lnTo>
                <a:cubicBezTo>
                  <a:pt x="0" y="14564"/>
                  <a:pt x="14564" y="0"/>
                  <a:pt x="3250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522380" y="5618071"/>
            <a:ext cx="11261064" cy="2286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Key Influencing Factors</a:t>
            </a:r>
            <a:endParaRPr lang="en-US" sz="1100"/>
          </a:p>
        </p:txBody>
      </p:sp>
      <p:sp>
        <p:nvSpPr>
          <p:cNvPr id="30" name="Freeform 30"/>
          <p:cNvSpPr/>
          <p:nvPr/>
        </p:nvSpPr>
        <p:spPr>
          <a:xfrm>
            <a:off x="522380" y="5944678"/>
            <a:ext cx="2694816" cy="424638"/>
          </a:xfrm>
          <a:custGeom>
            <a:avLst/>
            <a:gdLst/>
            <a:ahLst/>
            <a:cxnLst/>
            <a:rect l="l" t="t" r="r" b="b"/>
            <a:pathLst>
              <a:path w="2694816" h="424638">
                <a:moveTo>
                  <a:pt x="65331" y="0"/>
                </a:moveTo>
                <a:lnTo>
                  <a:pt x="2629485" y="0"/>
                </a:lnTo>
                <a:cubicBezTo>
                  <a:pt x="2665566" y="0"/>
                  <a:pt x="2694816" y="29249"/>
                  <a:pt x="2694816" y="65331"/>
                </a:cubicBezTo>
                <a:lnTo>
                  <a:pt x="2694816" y="359307"/>
                </a:lnTo>
                <a:cubicBezTo>
                  <a:pt x="2694816" y="395388"/>
                  <a:pt x="2665566" y="424638"/>
                  <a:pt x="2629485" y="424638"/>
                </a:cubicBezTo>
                <a:lnTo>
                  <a:pt x="65331" y="424638"/>
                </a:lnTo>
                <a:cubicBezTo>
                  <a:pt x="29249" y="424638"/>
                  <a:pt x="0" y="395388"/>
                  <a:pt x="0" y="359307"/>
                </a:cubicBezTo>
                <a:lnTo>
                  <a:pt x="0" y="65331"/>
                </a:lnTo>
                <a:cubicBezTo>
                  <a:pt x="0" y="29274"/>
                  <a:pt x="29273" y="0"/>
                  <a:pt x="6533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127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640745" y="6095673"/>
            <a:ext cx="163322" cy="122491"/>
          </a:xfrm>
          <a:custGeom>
            <a:avLst/>
            <a:gdLst/>
            <a:ahLst/>
            <a:cxnLst/>
            <a:rect l="l" t="t" r="r" b="b"/>
            <a:pathLst>
              <a:path w="163322" h="122491">
                <a:moveTo>
                  <a:pt x="20415" y="0"/>
                </a:moveTo>
                <a:cubicBezTo>
                  <a:pt x="9155" y="0"/>
                  <a:pt x="0" y="9154"/>
                  <a:pt x="0" y="20415"/>
                </a:cubicBezTo>
                <a:lnTo>
                  <a:pt x="0" y="22776"/>
                </a:lnTo>
                <a:cubicBezTo>
                  <a:pt x="0" y="24946"/>
                  <a:pt x="1405" y="26795"/>
                  <a:pt x="3222" y="27976"/>
                </a:cubicBezTo>
                <a:cubicBezTo>
                  <a:pt x="7432" y="30719"/>
                  <a:pt x="10208" y="35440"/>
                  <a:pt x="10208" y="40831"/>
                </a:cubicBezTo>
                <a:cubicBezTo>
                  <a:pt x="10208" y="46222"/>
                  <a:pt x="7432" y="50942"/>
                  <a:pt x="3222" y="53686"/>
                </a:cubicBezTo>
                <a:cubicBezTo>
                  <a:pt x="1405" y="54866"/>
                  <a:pt x="0" y="56716"/>
                  <a:pt x="0" y="58886"/>
                </a:cubicBezTo>
                <a:lnTo>
                  <a:pt x="0" y="76558"/>
                </a:lnTo>
                <a:lnTo>
                  <a:pt x="163322" y="76558"/>
                </a:lnTo>
                <a:lnTo>
                  <a:pt x="163322" y="58886"/>
                </a:lnTo>
                <a:cubicBezTo>
                  <a:pt x="163322" y="56716"/>
                  <a:pt x="161919" y="54866"/>
                  <a:pt x="160100" y="53686"/>
                </a:cubicBezTo>
                <a:cubicBezTo>
                  <a:pt x="155890" y="50942"/>
                  <a:pt x="153115" y="46222"/>
                  <a:pt x="153115" y="40831"/>
                </a:cubicBezTo>
                <a:cubicBezTo>
                  <a:pt x="153115" y="35440"/>
                  <a:pt x="155890" y="30719"/>
                  <a:pt x="160100" y="27976"/>
                </a:cubicBezTo>
                <a:cubicBezTo>
                  <a:pt x="161919" y="26795"/>
                  <a:pt x="163322" y="24946"/>
                  <a:pt x="163322" y="22776"/>
                </a:cubicBezTo>
                <a:lnTo>
                  <a:pt x="163322" y="20415"/>
                </a:lnTo>
                <a:cubicBezTo>
                  <a:pt x="163322" y="9154"/>
                  <a:pt x="154167" y="0"/>
                  <a:pt x="142907" y="0"/>
                </a:cubicBezTo>
                <a:lnTo>
                  <a:pt x="20415" y="0"/>
                </a:lnTo>
                <a:close/>
                <a:moveTo>
                  <a:pt x="163322" y="112283"/>
                </a:moveTo>
                <a:lnTo>
                  <a:pt x="163322" y="91870"/>
                </a:lnTo>
                <a:lnTo>
                  <a:pt x="0" y="91870"/>
                </a:lnTo>
                <a:lnTo>
                  <a:pt x="0" y="112283"/>
                </a:lnTo>
                <a:cubicBezTo>
                  <a:pt x="0" y="117930"/>
                  <a:pt x="4562" y="122492"/>
                  <a:pt x="10208" y="122492"/>
                </a:cubicBezTo>
                <a:lnTo>
                  <a:pt x="30624" y="122492"/>
                </a:lnTo>
                <a:lnTo>
                  <a:pt x="30624" y="114836"/>
                </a:lnTo>
                <a:cubicBezTo>
                  <a:pt x="30624" y="110594"/>
                  <a:pt x="34036" y="107181"/>
                  <a:pt x="38279" y="107181"/>
                </a:cubicBezTo>
                <a:cubicBezTo>
                  <a:pt x="42521" y="107181"/>
                  <a:pt x="45935" y="110594"/>
                  <a:pt x="45935" y="114836"/>
                </a:cubicBezTo>
                <a:lnTo>
                  <a:pt x="45935" y="122492"/>
                </a:lnTo>
                <a:lnTo>
                  <a:pt x="74005" y="122492"/>
                </a:lnTo>
                <a:lnTo>
                  <a:pt x="74005" y="114836"/>
                </a:lnTo>
                <a:cubicBezTo>
                  <a:pt x="74005" y="110594"/>
                  <a:pt x="77419" y="107181"/>
                  <a:pt x="81661" y="107181"/>
                </a:cubicBezTo>
                <a:cubicBezTo>
                  <a:pt x="85904" y="107181"/>
                  <a:pt x="89317" y="110594"/>
                  <a:pt x="89317" y="114836"/>
                </a:cubicBezTo>
                <a:lnTo>
                  <a:pt x="89317" y="122492"/>
                </a:lnTo>
                <a:lnTo>
                  <a:pt x="117387" y="122492"/>
                </a:lnTo>
                <a:lnTo>
                  <a:pt x="117387" y="114836"/>
                </a:lnTo>
                <a:cubicBezTo>
                  <a:pt x="117387" y="110594"/>
                  <a:pt x="120801" y="107181"/>
                  <a:pt x="125044" y="107181"/>
                </a:cubicBezTo>
                <a:cubicBezTo>
                  <a:pt x="129286" y="107181"/>
                  <a:pt x="132698" y="110594"/>
                  <a:pt x="132698" y="114836"/>
                </a:cubicBezTo>
                <a:lnTo>
                  <a:pt x="132698" y="122492"/>
                </a:lnTo>
                <a:lnTo>
                  <a:pt x="153115" y="122492"/>
                </a:lnTo>
                <a:cubicBezTo>
                  <a:pt x="158761" y="122492"/>
                  <a:pt x="163322" y="117930"/>
                  <a:pt x="163322" y="112283"/>
                </a:cubicBezTo>
                <a:close/>
                <a:moveTo>
                  <a:pt x="51037" y="30622"/>
                </a:moveTo>
                <a:lnTo>
                  <a:pt x="51037" y="51038"/>
                </a:lnTo>
                <a:cubicBezTo>
                  <a:pt x="51037" y="56685"/>
                  <a:pt x="46477" y="61246"/>
                  <a:pt x="40831" y="61246"/>
                </a:cubicBezTo>
                <a:cubicBezTo>
                  <a:pt x="35184" y="61246"/>
                  <a:pt x="30624" y="56685"/>
                  <a:pt x="30624" y="51038"/>
                </a:cubicBezTo>
                <a:lnTo>
                  <a:pt x="30624" y="30622"/>
                </a:lnTo>
                <a:cubicBezTo>
                  <a:pt x="30624" y="24977"/>
                  <a:pt x="35184" y="20415"/>
                  <a:pt x="40831" y="20415"/>
                </a:cubicBezTo>
                <a:cubicBezTo>
                  <a:pt x="46477" y="20415"/>
                  <a:pt x="51037" y="24977"/>
                  <a:pt x="51037" y="30622"/>
                </a:cubicBezTo>
                <a:close/>
                <a:moveTo>
                  <a:pt x="91869" y="30622"/>
                </a:moveTo>
                <a:lnTo>
                  <a:pt x="91869" y="51038"/>
                </a:lnTo>
                <a:cubicBezTo>
                  <a:pt x="91869" y="56685"/>
                  <a:pt x="87307" y="61246"/>
                  <a:pt x="81661" y="61246"/>
                </a:cubicBezTo>
                <a:cubicBezTo>
                  <a:pt x="76015" y="61246"/>
                  <a:pt x="71453" y="56685"/>
                  <a:pt x="71453" y="51038"/>
                </a:cubicBezTo>
                <a:lnTo>
                  <a:pt x="71453" y="30622"/>
                </a:lnTo>
                <a:cubicBezTo>
                  <a:pt x="71453" y="24977"/>
                  <a:pt x="76015" y="20415"/>
                  <a:pt x="81661" y="20415"/>
                </a:cubicBezTo>
                <a:cubicBezTo>
                  <a:pt x="87307" y="20415"/>
                  <a:pt x="91869" y="24977"/>
                  <a:pt x="91869" y="30622"/>
                </a:cubicBezTo>
                <a:close/>
                <a:moveTo>
                  <a:pt x="132698" y="30622"/>
                </a:moveTo>
                <a:lnTo>
                  <a:pt x="132698" y="51038"/>
                </a:lnTo>
                <a:cubicBezTo>
                  <a:pt x="132698" y="56685"/>
                  <a:pt x="128138" y="61246"/>
                  <a:pt x="122491" y="61246"/>
                </a:cubicBezTo>
                <a:cubicBezTo>
                  <a:pt x="116846" y="61246"/>
                  <a:pt x="112285" y="56685"/>
                  <a:pt x="112285" y="51038"/>
                </a:cubicBezTo>
                <a:lnTo>
                  <a:pt x="112285" y="30622"/>
                </a:lnTo>
                <a:cubicBezTo>
                  <a:pt x="112285" y="24977"/>
                  <a:pt x="116846" y="20415"/>
                  <a:pt x="122491" y="20415"/>
                </a:cubicBezTo>
                <a:cubicBezTo>
                  <a:pt x="128138" y="20415"/>
                  <a:pt x="132698" y="24977"/>
                  <a:pt x="132698" y="3062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922433" y="6042627"/>
            <a:ext cx="1351844" cy="2130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Access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3350618" y="5944678"/>
            <a:ext cx="2694816" cy="424638"/>
          </a:xfrm>
          <a:custGeom>
            <a:avLst/>
            <a:gdLst/>
            <a:ahLst/>
            <a:cxnLst/>
            <a:rect l="l" t="t" r="r" b="b"/>
            <a:pathLst>
              <a:path w="2694816" h="424638">
                <a:moveTo>
                  <a:pt x="65331" y="0"/>
                </a:moveTo>
                <a:lnTo>
                  <a:pt x="2629485" y="0"/>
                </a:lnTo>
                <a:cubicBezTo>
                  <a:pt x="2665566" y="0"/>
                  <a:pt x="2694816" y="29249"/>
                  <a:pt x="2694816" y="65331"/>
                </a:cubicBezTo>
                <a:lnTo>
                  <a:pt x="2694816" y="359307"/>
                </a:lnTo>
                <a:cubicBezTo>
                  <a:pt x="2694816" y="395388"/>
                  <a:pt x="2665566" y="424638"/>
                  <a:pt x="2629485" y="424638"/>
                </a:cubicBezTo>
                <a:lnTo>
                  <a:pt x="65331" y="424638"/>
                </a:lnTo>
                <a:cubicBezTo>
                  <a:pt x="29249" y="424638"/>
                  <a:pt x="0" y="395388"/>
                  <a:pt x="0" y="359307"/>
                </a:cubicBezTo>
                <a:lnTo>
                  <a:pt x="0" y="65331"/>
                </a:lnTo>
                <a:cubicBezTo>
                  <a:pt x="0" y="29274"/>
                  <a:pt x="29274" y="0"/>
                  <a:pt x="6533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127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3479191" y="6075258"/>
            <a:ext cx="142907" cy="163322"/>
          </a:xfrm>
          <a:custGeom>
            <a:avLst/>
            <a:gdLst/>
            <a:ahLst/>
            <a:cxnLst/>
            <a:rect l="l" t="t" r="r" b="b"/>
            <a:pathLst>
              <a:path w="142907" h="163322">
                <a:moveTo>
                  <a:pt x="25519" y="33175"/>
                </a:moveTo>
                <a:cubicBezTo>
                  <a:pt x="29743" y="33175"/>
                  <a:pt x="33175" y="29743"/>
                  <a:pt x="33175" y="25519"/>
                </a:cubicBezTo>
                <a:cubicBezTo>
                  <a:pt x="33175" y="21294"/>
                  <a:pt x="29743" y="17863"/>
                  <a:pt x="25519" y="17863"/>
                </a:cubicBezTo>
                <a:cubicBezTo>
                  <a:pt x="21294" y="17863"/>
                  <a:pt x="17863" y="21294"/>
                  <a:pt x="17863" y="25519"/>
                </a:cubicBezTo>
                <a:cubicBezTo>
                  <a:pt x="17863" y="29743"/>
                  <a:pt x="21294" y="33175"/>
                  <a:pt x="25519" y="33175"/>
                </a:cubicBezTo>
                <a:close/>
                <a:moveTo>
                  <a:pt x="51037" y="25519"/>
                </a:moveTo>
                <a:cubicBezTo>
                  <a:pt x="51037" y="35982"/>
                  <a:pt x="44754" y="44977"/>
                  <a:pt x="35726" y="48901"/>
                </a:cubicBezTo>
                <a:lnTo>
                  <a:pt x="35726" y="71453"/>
                </a:lnTo>
                <a:lnTo>
                  <a:pt x="91869" y="71453"/>
                </a:lnTo>
                <a:cubicBezTo>
                  <a:pt x="100322" y="71453"/>
                  <a:pt x="107180" y="64595"/>
                  <a:pt x="107180" y="56142"/>
                </a:cubicBezTo>
                <a:lnTo>
                  <a:pt x="107180" y="48901"/>
                </a:lnTo>
                <a:cubicBezTo>
                  <a:pt x="98153" y="44977"/>
                  <a:pt x="91869" y="35982"/>
                  <a:pt x="91869" y="25519"/>
                </a:cubicBezTo>
                <a:cubicBezTo>
                  <a:pt x="91869" y="11420"/>
                  <a:pt x="103289" y="0"/>
                  <a:pt x="117387" y="0"/>
                </a:cubicBezTo>
                <a:cubicBezTo>
                  <a:pt x="131487" y="0"/>
                  <a:pt x="142907" y="11420"/>
                  <a:pt x="142907" y="25519"/>
                </a:cubicBezTo>
                <a:cubicBezTo>
                  <a:pt x="142907" y="35982"/>
                  <a:pt x="136623" y="44977"/>
                  <a:pt x="127596" y="48901"/>
                </a:cubicBezTo>
                <a:lnTo>
                  <a:pt x="127596" y="56142"/>
                </a:lnTo>
                <a:cubicBezTo>
                  <a:pt x="127596" y="75888"/>
                  <a:pt x="111614" y="91869"/>
                  <a:pt x="91869" y="91869"/>
                </a:cubicBezTo>
                <a:lnTo>
                  <a:pt x="35726" y="91869"/>
                </a:lnTo>
                <a:lnTo>
                  <a:pt x="35726" y="114421"/>
                </a:lnTo>
                <a:cubicBezTo>
                  <a:pt x="44754" y="118345"/>
                  <a:pt x="51037" y="127340"/>
                  <a:pt x="51037" y="137803"/>
                </a:cubicBezTo>
                <a:cubicBezTo>
                  <a:pt x="51037" y="151902"/>
                  <a:pt x="39618" y="163322"/>
                  <a:pt x="25519" y="163322"/>
                </a:cubicBezTo>
                <a:cubicBezTo>
                  <a:pt x="11420" y="163322"/>
                  <a:pt x="0" y="151902"/>
                  <a:pt x="0" y="137803"/>
                </a:cubicBezTo>
                <a:cubicBezTo>
                  <a:pt x="0" y="127340"/>
                  <a:pt x="6284" y="118345"/>
                  <a:pt x="15311" y="114421"/>
                </a:cubicBezTo>
                <a:lnTo>
                  <a:pt x="15311" y="48933"/>
                </a:lnTo>
                <a:cubicBezTo>
                  <a:pt x="6284" y="44977"/>
                  <a:pt x="0" y="35982"/>
                  <a:pt x="0" y="25519"/>
                </a:cubicBezTo>
                <a:cubicBezTo>
                  <a:pt x="0" y="11420"/>
                  <a:pt x="11420" y="0"/>
                  <a:pt x="25519" y="0"/>
                </a:cubicBezTo>
                <a:cubicBezTo>
                  <a:pt x="39618" y="0"/>
                  <a:pt x="51037" y="11420"/>
                  <a:pt x="51037" y="25519"/>
                </a:cubicBezTo>
                <a:close/>
                <a:moveTo>
                  <a:pt x="125044" y="25519"/>
                </a:moveTo>
                <a:cubicBezTo>
                  <a:pt x="125044" y="21294"/>
                  <a:pt x="121613" y="17863"/>
                  <a:pt x="117387" y="17863"/>
                </a:cubicBezTo>
                <a:cubicBezTo>
                  <a:pt x="113162" y="17863"/>
                  <a:pt x="109732" y="21294"/>
                  <a:pt x="109732" y="25519"/>
                </a:cubicBezTo>
                <a:cubicBezTo>
                  <a:pt x="109732" y="29743"/>
                  <a:pt x="113162" y="33175"/>
                  <a:pt x="117387" y="33175"/>
                </a:cubicBezTo>
                <a:cubicBezTo>
                  <a:pt x="121613" y="33175"/>
                  <a:pt x="125044" y="29743"/>
                  <a:pt x="125044" y="25519"/>
                </a:cubicBezTo>
                <a:close/>
                <a:moveTo>
                  <a:pt x="25519" y="145459"/>
                </a:moveTo>
                <a:cubicBezTo>
                  <a:pt x="29743" y="145459"/>
                  <a:pt x="33175" y="142028"/>
                  <a:pt x="33175" y="137803"/>
                </a:cubicBezTo>
                <a:cubicBezTo>
                  <a:pt x="33175" y="133579"/>
                  <a:pt x="29743" y="130147"/>
                  <a:pt x="25519" y="130147"/>
                </a:cubicBezTo>
                <a:cubicBezTo>
                  <a:pt x="21294" y="130147"/>
                  <a:pt x="17863" y="133579"/>
                  <a:pt x="17863" y="137803"/>
                </a:cubicBezTo>
                <a:cubicBezTo>
                  <a:pt x="17863" y="142028"/>
                  <a:pt x="21294" y="145459"/>
                  <a:pt x="25519" y="145459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3750671" y="6042627"/>
            <a:ext cx="1542298" cy="2130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Branch Prediction</a:t>
            </a:r>
            <a:endParaRPr lang="en-US" sz="1100"/>
          </a:p>
        </p:txBody>
      </p:sp>
      <p:sp>
        <p:nvSpPr>
          <p:cNvPr id="36" name="Freeform 36"/>
          <p:cNvSpPr/>
          <p:nvPr/>
        </p:nvSpPr>
        <p:spPr>
          <a:xfrm>
            <a:off x="6178921" y="5944678"/>
            <a:ext cx="2694816" cy="424638"/>
          </a:xfrm>
          <a:custGeom>
            <a:avLst/>
            <a:gdLst/>
            <a:ahLst/>
            <a:cxnLst/>
            <a:rect l="l" t="t" r="r" b="b"/>
            <a:pathLst>
              <a:path w="2694816" h="424638">
                <a:moveTo>
                  <a:pt x="65331" y="0"/>
                </a:moveTo>
                <a:lnTo>
                  <a:pt x="2629485" y="0"/>
                </a:lnTo>
                <a:cubicBezTo>
                  <a:pt x="2665566" y="0"/>
                  <a:pt x="2694816" y="29249"/>
                  <a:pt x="2694816" y="65331"/>
                </a:cubicBezTo>
                <a:lnTo>
                  <a:pt x="2694816" y="359307"/>
                </a:lnTo>
                <a:cubicBezTo>
                  <a:pt x="2694816" y="395388"/>
                  <a:pt x="2665566" y="424638"/>
                  <a:pt x="2629485" y="424638"/>
                </a:cubicBezTo>
                <a:lnTo>
                  <a:pt x="65331" y="424638"/>
                </a:lnTo>
                <a:cubicBezTo>
                  <a:pt x="29249" y="424638"/>
                  <a:pt x="0" y="395388"/>
                  <a:pt x="0" y="359307"/>
                </a:cubicBezTo>
                <a:lnTo>
                  <a:pt x="0" y="65331"/>
                </a:lnTo>
                <a:cubicBezTo>
                  <a:pt x="0" y="29274"/>
                  <a:pt x="29273" y="0"/>
                  <a:pt x="6533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127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6287078" y="6085466"/>
            <a:ext cx="183737" cy="142970"/>
          </a:xfrm>
          <a:custGeom>
            <a:avLst/>
            <a:gdLst/>
            <a:ahLst/>
            <a:cxnLst/>
            <a:rect l="l" t="t" r="r" b="b"/>
            <a:pathLst>
              <a:path w="183737" h="142970">
                <a:moveTo>
                  <a:pt x="133816" y="20416"/>
                </a:moveTo>
                <a:cubicBezTo>
                  <a:pt x="128521" y="20416"/>
                  <a:pt x="123386" y="21851"/>
                  <a:pt x="118887" y="24466"/>
                </a:cubicBezTo>
                <a:cubicBezTo>
                  <a:pt x="113847" y="19361"/>
                  <a:pt x="107978" y="15088"/>
                  <a:pt x="101502" y="11866"/>
                </a:cubicBezTo>
                <a:cubicBezTo>
                  <a:pt x="110498" y="4210"/>
                  <a:pt x="121949" y="0"/>
                  <a:pt x="133816" y="0"/>
                </a:cubicBezTo>
                <a:cubicBezTo>
                  <a:pt x="161376" y="0"/>
                  <a:pt x="183737" y="22329"/>
                  <a:pt x="183737" y="49921"/>
                </a:cubicBezTo>
                <a:cubicBezTo>
                  <a:pt x="183737" y="63159"/>
                  <a:pt x="178474" y="75855"/>
                  <a:pt x="169128" y="85201"/>
                </a:cubicBezTo>
                <a:lnTo>
                  <a:pt x="146448" y="107882"/>
                </a:lnTo>
                <a:cubicBezTo>
                  <a:pt x="137102" y="117228"/>
                  <a:pt x="124405" y="122490"/>
                  <a:pt x="111168" y="122490"/>
                </a:cubicBezTo>
                <a:cubicBezTo>
                  <a:pt x="83607" y="122490"/>
                  <a:pt x="61246" y="100163"/>
                  <a:pt x="61246" y="72571"/>
                </a:cubicBezTo>
                <a:cubicBezTo>
                  <a:pt x="61246" y="72091"/>
                  <a:pt x="61246" y="71613"/>
                  <a:pt x="61278" y="71134"/>
                </a:cubicBezTo>
                <a:cubicBezTo>
                  <a:pt x="61438" y="65488"/>
                  <a:pt x="66126" y="61054"/>
                  <a:pt x="71772" y="61214"/>
                </a:cubicBezTo>
                <a:cubicBezTo>
                  <a:pt x="77419" y="61373"/>
                  <a:pt x="81852" y="66062"/>
                  <a:pt x="81693" y="71708"/>
                </a:cubicBezTo>
                <a:cubicBezTo>
                  <a:pt x="81693" y="71995"/>
                  <a:pt x="81693" y="72282"/>
                  <a:pt x="81693" y="72538"/>
                </a:cubicBezTo>
                <a:cubicBezTo>
                  <a:pt x="81693" y="88838"/>
                  <a:pt x="94899" y="102043"/>
                  <a:pt x="111199" y="102043"/>
                </a:cubicBezTo>
                <a:cubicBezTo>
                  <a:pt x="119016" y="102043"/>
                  <a:pt x="126511" y="98950"/>
                  <a:pt x="132061" y="93400"/>
                </a:cubicBezTo>
                <a:lnTo>
                  <a:pt x="154741" y="70719"/>
                </a:lnTo>
                <a:cubicBezTo>
                  <a:pt x="160260" y="65201"/>
                  <a:pt x="163386" y="57674"/>
                  <a:pt x="163386" y="49858"/>
                </a:cubicBezTo>
                <a:cubicBezTo>
                  <a:pt x="163386" y="33557"/>
                  <a:pt x="150180" y="20351"/>
                  <a:pt x="133880" y="20351"/>
                </a:cubicBezTo>
                <a:close/>
                <a:moveTo>
                  <a:pt x="87786" y="45073"/>
                </a:moveTo>
                <a:cubicBezTo>
                  <a:pt x="87180" y="44819"/>
                  <a:pt x="86575" y="44467"/>
                  <a:pt x="86031" y="44084"/>
                </a:cubicBezTo>
                <a:cubicBezTo>
                  <a:pt x="82012" y="42011"/>
                  <a:pt x="77419" y="40829"/>
                  <a:pt x="72602" y="40829"/>
                </a:cubicBezTo>
                <a:cubicBezTo>
                  <a:pt x="64787" y="40829"/>
                  <a:pt x="57290" y="43924"/>
                  <a:pt x="51740" y="49474"/>
                </a:cubicBezTo>
                <a:lnTo>
                  <a:pt x="29060" y="72155"/>
                </a:lnTo>
                <a:cubicBezTo>
                  <a:pt x="23541" y="77673"/>
                  <a:pt x="20415" y="85201"/>
                  <a:pt x="20415" y="93018"/>
                </a:cubicBezTo>
                <a:cubicBezTo>
                  <a:pt x="20415" y="109317"/>
                  <a:pt x="33621" y="122524"/>
                  <a:pt x="49922" y="122524"/>
                </a:cubicBezTo>
                <a:cubicBezTo>
                  <a:pt x="55185" y="122524"/>
                  <a:pt x="60321" y="121120"/>
                  <a:pt x="64818" y="118504"/>
                </a:cubicBezTo>
                <a:cubicBezTo>
                  <a:pt x="69859" y="123608"/>
                  <a:pt x="75728" y="127882"/>
                  <a:pt x="82235" y="131104"/>
                </a:cubicBezTo>
                <a:cubicBezTo>
                  <a:pt x="73240" y="138727"/>
                  <a:pt x="61820" y="142971"/>
                  <a:pt x="49922" y="142971"/>
                </a:cubicBezTo>
                <a:cubicBezTo>
                  <a:pt x="22361" y="142971"/>
                  <a:pt x="0" y="120641"/>
                  <a:pt x="0" y="93049"/>
                </a:cubicBezTo>
                <a:cubicBezTo>
                  <a:pt x="0" y="79811"/>
                  <a:pt x="5263" y="67115"/>
                  <a:pt x="14610" y="57767"/>
                </a:cubicBezTo>
                <a:lnTo>
                  <a:pt x="37290" y="35088"/>
                </a:lnTo>
                <a:cubicBezTo>
                  <a:pt x="46636" y="25742"/>
                  <a:pt x="59332" y="20479"/>
                  <a:pt x="72570" y="20479"/>
                </a:cubicBezTo>
                <a:cubicBezTo>
                  <a:pt x="100194" y="20479"/>
                  <a:pt x="122492" y="42999"/>
                  <a:pt x="122492" y="70528"/>
                </a:cubicBezTo>
                <a:cubicBezTo>
                  <a:pt x="122492" y="70942"/>
                  <a:pt x="122492" y="71356"/>
                  <a:pt x="122492" y="71772"/>
                </a:cubicBezTo>
                <a:cubicBezTo>
                  <a:pt x="122364" y="77418"/>
                  <a:pt x="117674" y="81852"/>
                  <a:pt x="112029" y="81725"/>
                </a:cubicBezTo>
                <a:cubicBezTo>
                  <a:pt x="106383" y="81596"/>
                  <a:pt x="101949" y="76908"/>
                  <a:pt x="102076" y="71262"/>
                </a:cubicBezTo>
                <a:cubicBezTo>
                  <a:pt x="102076" y="71007"/>
                  <a:pt x="102076" y="70782"/>
                  <a:pt x="102076" y="70528"/>
                </a:cubicBezTo>
                <a:cubicBezTo>
                  <a:pt x="102076" y="59778"/>
                  <a:pt x="96335" y="50335"/>
                  <a:pt x="87786" y="4513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6578973" y="6042627"/>
            <a:ext cx="2265006" cy="270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Instruction Dependencies</a:t>
            </a:r>
            <a:endParaRPr lang="en-US" sz="1100"/>
          </a:p>
        </p:txBody>
      </p:sp>
      <p:sp>
        <p:nvSpPr>
          <p:cNvPr id="39" name="Freeform 39"/>
          <p:cNvSpPr/>
          <p:nvPr/>
        </p:nvSpPr>
        <p:spPr>
          <a:xfrm>
            <a:off x="9007159" y="5944678"/>
            <a:ext cx="2694816" cy="424638"/>
          </a:xfrm>
          <a:custGeom>
            <a:avLst/>
            <a:gdLst/>
            <a:ahLst/>
            <a:cxnLst/>
            <a:rect l="l" t="t" r="r" b="b"/>
            <a:pathLst>
              <a:path w="2694816" h="424638">
                <a:moveTo>
                  <a:pt x="65331" y="0"/>
                </a:moveTo>
                <a:lnTo>
                  <a:pt x="2629485" y="0"/>
                </a:lnTo>
                <a:cubicBezTo>
                  <a:pt x="2665566" y="0"/>
                  <a:pt x="2694816" y="29249"/>
                  <a:pt x="2694816" y="65331"/>
                </a:cubicBezTo>
                <a:lnTo>
                  <a:pt x="2694816" y="359307"/>
                </a:lnTo>
                <a:cubicBezTo>
                  <a:pt x="2694816" y="395388"/>
                  <a:pt x="2665566" y="424638"/>
                  <a:pt x="2629485" y="424638"/>
                </a:cubicBezTo>
                <a:lnTo>
                  <a:pt x="65331" y="424638"/>
                </a:lnTo>
                <a:cubicBezTo>
                  <a:pt x="29249" y="424638"/>
                  <a:pt x="0" y="395388"/>
                  <a:pt x="0" y="359307"/>
                </a:cubicBezTo>
                <a:lnTo>
                  <a:pt x="0" y="65331"/>
                </a:lnTo>
                <a:cubicBezTo>
                  <a:pt x="0" y="29274"/>
                  <a:pt x="29273" y="0"/>
                  <a:pt x="6533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127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9145079" y="6094653"/>
            <a:ext cx="124534" cy="124532"/>
          </a:xfrm>
          <a:custGeom>
            <a:avLst/>
            <a:gdLst/>
            <a:ahLst/>
            <a:cxnLst/>
            <a:rect l="l" t="t" r="r" b="b"/>
            <a:pathLst>
              <a:path w="124534" h="124532">
                <a:moveTo>
                  <a:pt x="18437" y="4019"/>
                </a:moveTo>
                <a:cubicBezTo>
                  <a:pt x="14450" y="31"/>
                  <a:pt x="7974" y="31"/>
                  <a:pt x="3986" y="4019"/>
                </a:cubicBezTo>
                <a:cubicBezTo>
                  <a:pt x="0" y="8007"/>
                  <a:pt x="0" y="14482"/>
                  <a:pt x="3986" y="18469"/>
                </a:cubicBezTo>
                <a:lnTo>
                  <a:pt x="47815" y="62266"/>
                </a:lnTo>
                <a:lnTo>
                  <a:pt x="4019" y="106095"/>
                </a:lnTo>
                <a:cubicBezTo>
                  <a:pt x="32" y="110081"/>
                  <a:pt x="32" y="116559"/>
                  <a:pt x="4019" y="120545"/>
                </a:cubicBezTo>
                <a:cubicBezTo>
                  <a:pt x="8006" y="124533"/>
                  <a:pt x="14482" y="124533"/>
                  <a:pt x="18470" y="120545"/>
                </a:cubicBezTo>
                <a:lnTo>
                  <a:pt x="62266" y="76716"/>
                </a:lnTo>
                <a:lnTo>
                  <a:pt x="106094" y="120513"/>
                </a:lnTo>
                <a:cubicBezTo>
                  <a:pt x="110084" y="124501"/>
                  <a:pt x="116558" y="124501"/>
                  <a:pt x="120546" y="120513"/>
                </a:cubicBezTo>
                <a:cubicBezTo>
                  <a:pt x="124534" y="116525"/>
                  <a:pt x="124534" y="110051"/>
                  <a:pt x="120546" y="106063"/>
                </a:cubicBezTo>
                <a:lnTo>
                  <a:pt x="76716" y="62266"/>
                </a:lnTo>
                <a:lnTo>
                  <a:pt x="120514" y="18437"/>
                </a:lnTo>
                <a:cubicBezTo>
                  <a:pt x="124501" y="14451"/>
                  <a:pt x="124501" y="7973"/>
                  <a:pt x="120514" y="3987"/>
                </a:cubicBezTo>
                <a:cubicBezTo>
                  <a:pt x="116526" y="0"/>
                  <a:pt x="110051" y="0"/>
                  <a:pt x="106063" y="3987"/>
                </a:cubicBezTo>
                <a:lnTo>
                  <a:pt x="62266" y="47816"/>
                </a:lnTo>
                <a:lnTo>
                  <a:pt x="18437" y="401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9407212" y="6042627"/>
            <a:ext cx="890106" cy="2286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Cache miss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6787" y="60347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Bandwidth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9911" y="1213226"/>
            <a:ext cx="5543455" cy="1104900"/>
          </a:xfrm>
          <a:custGeom>
            <a:avLst/>
            <a:gdLst/>
            <a:ahLst/>
            <a:cxnLst/>
            <a:rect l="l" t="t" r="r" b="b"/>
            <a:pathLst>
              <a:path w="5543455" h="1104900">
                <a:moveTo>
                  <a:pt x="37909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3"/>
                </a:cubicBezTo>
                <a:lnTo>
                  <a:pt x="5543455" y="990597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399911" y="1213226"/>
            <a:ext cx="37909" cy="1104900"/>
          </a:xfrm>
          <a:custGeom>
            <a:avLst/>
            <a:gdLst/>
            <a:ahLst/>
            <a:cxnLst/>
            <a:rect l="l" t="t" r="r" b="b"/>
            <a:pathLst>
              <a:path w="37909" h="1104900">
                <a:moveTo>
                  <a:pt x="37909" y="0"/>
                </a:moveTo>
                <a:lnTo>
                  <a:pt x="37909" y="0"/>
                </a:lnTo>
                <a:lnTo>
                  <a:pt x="37909" y="1104900"/>
                </a:ln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47439" y="1441800"/>
            <a:ext cx="5181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Bandwidth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439" y="1822679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6415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Represents the amount of data transferable per unit time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0956" y="2546533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Common Units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380956" y="3003607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7580" y="3117856"/>
            <a:ext cx="1009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MB/s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61955" y="3117856"/>
            <a:ext cx="2476601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Megabytes/second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380956" y="3613063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7580" y="3727312"/>
            <a:ext cx="1009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GB/s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61955" y="3727312"/>
            <a:ext cx="1966691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Gigabytes/second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380956" y="4222514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47580" y="4336763"/>
            <a:ext cx="1009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TB/s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61955" y="4336763"/>
            <a:ext cx="2025307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Terabytes/second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80956" y="4743471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 Cases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380956" y="5200541"/>
            <a:ext cx="1752600" cy="933450"/>
          </a:xfrm>
          <a:custGeom>
            <a:avLst/>
            <a:gdLst/>
            <a:ahLst/>
            <a:cxnLst/>
            <a:rect l="l" t="t" r="r" b="b"/>
            <a:pathLst>
              <a:path w="1752600" h="933450">
                <a:moveTo>
                  <a:pt x="76197" y="0"/>
                </a:moveTo>
                <a:lnTo>
                  <a:pt x="1676403" y="0"/>
                </a:lnTo>
                <a:cubicBezTo>
                  <a:pt x="1718485" y="0"/>
                  <a:pt x="1752600" y="34115"/>
                  <a:pt x="1752600" y="76197"/>
                </a:cubicBezTo>
                <a:lnTo>
                  <a:pt x="1752600" y="857253"/>
                </a:lnTo>
                <a:cubicBezTo>
                  <a:pt x="1752600" y="899335"/>
                  <a:pt x="1718485" y="933450"/>
                  <a:pt x="1676403" y="933450"/>
                </a:cubicBezTo>
                <a:lnTo>
                  <a:pt x="76197" y="933450"/>
                </a:lnTo>
                <a:cubicBezTo>
                  <a:pt x="34115" y="933450"/>
                  <a:pt x="0" y="899335"/>
                  <a:pt x="0" y="8572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116771" y="5388646"/>
            <a:ext cx="285750" cy="214312"/>
          </a:xfrm>
          <a:custGeom>
            <a:avLst/>
            <a:gdLst/>
            <a:ahLst/>
            <a:cxnLst/>
            <a:rect l="l" t="t" r="r" b="b"/>
            <a:pathLst>
              <a:path w="285750" h="214312">
                <a:moveTo>
                  <a:pt x="35719" y="0"/>
                </a:moveTo>
                <a:cubicBezTo>
                  <a:pt x="16019" y="0"/>
                  <a:pt x="0" y="16017"/>
                  <a:pt x="0" y="35718"/>
                </a:cubicBezTo>
                <a:lnTo>
                  <a:pt x="0" y="39849"/>
                </a:lnTo>
                <a:cubicBezTo>
                  <a:pt x="0" y="43645"/>
                  <a:pt x="2456" y="46881"/>
                  <a:pt x="5638" y="48946"/>
                </a:cubicBezTo>
                <a:cubicBezTo>
                  <a:pt x="13004" y="53745"/>
                  <a:pt x="17859" y="62005"/>
                  <a:pt x="17859" y="71437"/>
                </a:cubicBezTo>
                <a:cubicBezTo>
                  <a:pt x="17859" y="80870"/>
                  <a:pt x="13004" y="89130"/>
                  <a:pt x="5638" y="93929"/>
                </a:cubicBezTo>
                <a:cubicBezTo>
                  <a:pt x="2456" y="95994"/>
                  <a:pt x="0" y="99231"/>
                  <a:pt x="0" y="103026"/>
                </a:cubicBezTo>
                <a:lnTo>
                  <a:pt x="0" y="133945"/>
                </a:lnTo>
                <a:lnTo>
                  <a:pt x="285750" y="133945"/>
                </a:lnTo>
                <a:lnTo>
                  <a:pt x="285750" y="103026"/>
                </a:lnTo>
                <a:cubicBezTo>
                  <a:pt x="285750" y="99231"/>
                  <a:pt x="283294" y="95994"/>
                  <a:pt x="280112" y="93929"/>
                </a:cubicBezTo>
                <a:cubicBezTo>
                  <a:pt x="272746" y="89130"/>
                  <a:pt x="267891" y="80870"/>
                  <a:pt x="267891" y="71437"/>
                </a:cubicBezTo>
                <a:cubicBezTo>
                  <a:pt x="267891" y="62005"/>
                  <a:pt x="272746" y="53745"/>
                  <a:pt x="280112" y="48946"/>
                </a:cubicBezTo>
                <a:cubicBezTo>
                  <a:pt x="283294" y="46881"/>
                  <a:pt x="285750" y="43645"/>
                  <a:pt x="285750" y="39849"/>
                </a:cubicBezTo>
                <a:lnTo>
                  <a:pt x="285750" y="35718"/>
                </a:lnTo>
                <a:cubicBezTo>
                  <a:pt x="285750" y="16017"/>
                  <a:pt x="269731" y="0"/>
                  <a:pt x="250031" y="0"/>
                </a:cubicBezTo>
                <a:lnTo>
                  <a:pt x="35719" y="0"/>
                </a:lnTo>
                <a:close/>
                <a:moveTo>
                  <a:pt x="285750" y="196454"/>
                </a:moveTo>
                <a:lnTo>
                  <a:pt x="285750" y="160733"/>
                </a:lnTo>
                <a:lnTo>
                  <a:pt x="0" y="160733"/>
                </a:lnTo>
                <a:lnTo>
                  <a:pt x="0" y="196454"/>
                </a:lnTo>
                <a:cubicBezTo>
                  <a:pt x="0" y="206332"/>
                  <a:pt x="7981" y="214312"/>
                  <a:pt x="17859" y="214312"/>
                </a:cubicBezTo>
                <a:lnTo>
                  <a:pt x="53577" y="214312"/>
                </a:lnTo>
                <a:lnTo>
                  <a:pt x="53577" y="200918"/>
                </a:lnTo>
                <a:cubicBezTo>
                  <a:pt x="53577" y="193494"/>
                  <a:pt x="59550" y="187523"/>
                  <a:pt x="66973" y="187523"/>
                </a:cubicBezTo>
                <a:cubicBezTo>
                  <a:pt x="74395" y="187523"/>
                  <a:pt x="80367" y="193494"/>
                  <a:pt x="80367" y="200918"/>
                </a:cubicBezTo>
                <a:lnTo>
                  <a:pt x="80367" y="214312"/>
                </a:lnTo>
                <a:lnTo>
                  <a:pt x="129480" y="214312"/>
                </a:lnTo>
                <a:lnTo>
                  <a:pt x="129480" y="200918"/>
                </a:lnTo>
                <a:cubicBezTo>
                  <a:pt x="129480" y="193494"/>
                  <a:pt x="135452" y="187523"/>
                  <a:pt x="142875" y="187523"/>
                </a:cubicBezTo>
                <a:cubicBezTo>
                  <a:pt x="150298" y="187523"/>
                  <a:pt x="156270" y="193494"/>
                  <a:pt x="156270" y="200918"/>
                </a:cubicBezTo>
                <a:lnTo>
                  <a:pt x="156270" y="214312"/>
                </a:lnTo>
                <a:lnTo>
                  <a:pt x="205383" y="214312"/>
                </a:lnTo>
                <a:lnTo>
                  <a:pt x="205383" y="200918"/>
                </a:lnTo>
                <a:cubicBezTo>
                  <a:pt x="205383" y="193494"/>
                  <a:pt x="211355" y="187523"/>
                  <a:pt x="218777" y="187523"/>
                </a:cubicBezTo>
                <a:cubicBezTo>
                  <a:pt x="226200" y="187523"/>
                  <a:pt x="232173" y="193494"/>
                  <a:pt x="232173" y="200918"/>
                </a:cubicBezTo>
                <a:lnTo>
                  <a:pt x="232173" y="214312"/>
                </a:lnTo>
                <a:lnTo>
                  <a:pt x="267891" y="214312"/>
                </a:lnTo>
                <a:cubicBezTo>
                  <a:pt x="277769" y="214312"/>
                  <a:pt x="285750" y="206332"/>
                  <a:pt x="285750" y="196454"/>
                </a:cubicBezTo>
                <a:close/>
                <a:moveTo>
                  <a:pt x="89298" y="53579"/>
                </a:moveTo>
                <a:lnTo>
                  <a:pt x="89298" y="89297"/>
                </a:lnTo>
                <a:cubicBezTo>
                  <a:pt x="89298" y="99175"/>
                  <a:pt x="81316" y="107156"/>
                  <a:pt x="71437" y="107156"/>
                </a:cubicBezTo>
                <a:cubicBezTo>
                  <a:pt x="61559" y="107156"/>
                  <a:pt x="53577" y="99175"/>
                  <a:pt x="53577" y="89297"/>
                </a:cubicBezTo>
                <a:lnTo>
                  <a:pt x="53577" y="53579"/>
                </a:lnTo>
                <a:cubicBezTo>
                  <a:pt x="53577" y="43699"/>
                  <a:pt x="61559" y="35718"/>
                  <a:pt x="71437" y="35718"/>
                </a:cubicBezTo>
                <a:cubicBezTo>
                  <a:pt x="81316" y="35718"/>
                  <a:pt x="89298" y="43699"/>
                  <a:pt x="89298" y="53579"/>
                </a:cubicBezTo>
                <a:close/>
                <a:moveTo>
                  <a:pt x="160734" y="53579"/>
                </a:moveTo>
                <a:lnTo>
                  <a:pt x="160734" y="89297"/>
                </a:lnTo>
                <a:cubicBezTo>
                  <a:pt x="160734" y="99175"/>
                  <a:pt x="152753" y="107156"/>
                  <a:pt x="142875" y="107156"/>
                </a:cubicBezTo>
                <a:cubicBezTo>
                  <a:pt x="132997" y="107156"/>
                  <a:pt x="125016" y="99175"/>
                  <a:pt x="125016" y="89297"/>
                </a:cubicBezTo>
                <a:lnTo>
                  <a:pt x="125016" y="53579"/>
                </a:lnTo>
                <a:cubicBezTo>
                  <a:pt x="125016" y="43699"/>
                  <a:pt x="132997" y="35718"/>
                  <a:pt x="142875" y="35718"/>
                </a:cubicBezTo>
                <a:cubicBezTo>
                  <a:pt x="152753" y="35718"/>
                  <a:pt x="160734" y="43699"/>
                  <a:pt x="160734" y="53579"/>
                </a:cubicBezTo>
                <a:close/>
                <a:moveTo>
                  <a:pt x="232173" y="53579"/>
                </a:moveTo>
                <a:lnTo>
                  <a:pt x="232173" y="89297"/>
                </a:lnTo>
                <a:cubicBezTo>
                  <a:pt x="232173" y="99175"/>
                  <a:pt x="224191" y="107156"/>
                  <a:pt x="214313" y="107156"/>
                </a:cubicBezTo>
                <a:cubicBezTo>
                  <a:pt x="204434" y="107156"/>
                  <a:pt x="196452" y="99175"/>
                  <a:pt x="196452" y="89297"/>
                </a:cubicBezTo>
                <a:lnTo>
                  <a:pt x="196452" y="53579"/>
                </a:lnTo>
                <a:cubicBezTo>
                  <a:pt x="196452" y="43699"/>
                  <a:pt x="204434" y="35718"/>
                  <a:pt x="214313" y="35718"/>
                </a:cubicBezTo>
                <a:cubicBezTo>
                  <a:pt x="224191" y="35718"/>
                  <a:pt x="232173" y="43699"/>
                  <a:pt x="232173" y="53579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90475" y="5714849"/>
            <a:ext cx="1533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Bandwidth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2285956" y="5200541"/>
            <a:ext cx="1752600" cy="933450"/>
          </a:xfrm>
          <a:custGeom>
            <a:avLst/>
            <a:gdLst/>
            <a:ahLst/>
            <a:cxnLst/>
            <a:rect l="l" t="t" r="r" b="b"/>
            <a:pathLst>
              <a:path w="1752600" h="933450">
                <a:moveTo>
                  <a:pt x="76197" y="0"/>
                </a:moveTo>
                <a:lnTo>
                  <a:pt x="1676403" y="0"/>
                </a:lnTo>
                <a:cubicBezTo>
                  <a:pt x="1718485" y="0"/>
                  <a:pt x="1752600" y="34115"/>
                  <a:pt x="1752600" y="76197"/>
                </a:cubicBezTo>
                <a:lnTo>
                  <a:pt x="1752600" y="857253"/>
                </a:lnTo>
                <a:cubicBezTo>
                  <a:pt x="1752600" y="899335"/>
                  <a:pt x="1718485" y="933450"/>
                  <a:pt x="1676403" y="933450"/>
                </a:cubicBezTo>
                <a:lnTo>
                  <a:pt x="76197" y="933450"/>
                </a:lnTo>
                <a:cubicBezTo>
                  <a:pt x="34115" y="933450"/>
                  <a:pt x="0" y="899335"/>
                  <a:pt x="0" y="8572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3039630" y="5370786"/>
            <a:ext cx="250031" cy="250033"/>
          </a:xfrm>
          <a:custGeom>
            <a:avLst/>
            <a:gdLst/>
            <a:ahLst/>
            <a:cxnLst/>
            <a:rect l="l" t="t" r="r" b="b"/>
            <a:pathLst>
              <a:path w="250031" h="250033">
                <a:moveTo>
                  <a:pt x="35719" y="0"/>
                </a:moveTo>
                <a:cubicBezTo>
                  <a:pt x="16019" y="0"/>
                  <a:pt x="0" y="16018"/>
                  <a:pt x="0" y="35718"/>
                </a:cubicBezTo>
                <a:lnTo>
                  <a:pt x="0" y="127305"/>
                </a:lnTo>
                <a:cubicBezTo>
                  <a:pt x="10102" y="120215"/>
                  <a:pt x="22436" y="116087"/>
                  <a:pt x="35719" y="116087"/>
                </a:cubicBezTo>
                <a:lnTo>
                  <a:pt x="214312" y="116087"/>
                </a:lnTo>
                <a:cubicBezTo>
                  <a:pt x="227595" y="116087"/>
                  <a:pt x="239930" y="120215"/>
                  <a:pt x="250031" y="127305"/>
                </a:cubicBezTo>
                <a:lnTo>
                  <a:pt x="250031" y="35718"/>
                </a:lnTo>
                <a:cubicBezTo>
                  <a:pt x="250031" y="16018"/>
                  <a:pt x="234014" y="0"/>
                  <a:pt x="214312" y="0"/>
                </a:cubicBezTo>
                <a:lnTo>
                  <a:pt x="35719" y="0"/>
                </a:lnTo>
                <a:close/>
                <a:moveTo>
                  <a:pt x="250031" y="178593"/>
                </a:moveTo>
                <a:cubicBezTo>
                  <a:pt x="250031" y="158893"/>
                  <a:pt x="234014" y="142875"/>
                  <a:pt x="214312" y="142875"/>
                </a:cubicBezTo>
                <a:lnTo>
                  <a:pt x="35719" y="142875"/>
                </a:lnTo>
                <a:cubicBezTo>
                  <a:pt x="16019" y="142875"/>
                  <a:pt x="0" y="158893"/>
                  <a:pt x="0" y="178593"/>
                </a:cubicBezTo>
                <a:lnTo>
                  <a:pt x="0" y="214314"/>
                </a:lnTo>
                <a:cubicBezTo>
                  <a:pt x="0" y="234014"/>
                  <a:pt x="16019" y="250032"/>
                  <a:pt x="35719" y="250032"/>
                </a:cubicBezTo>
                <a:lnTo>
                  <a:pt x="214312" y="250032"/>
                </a:lnTo>
                <a:cubicBezTo>
                  <a:pt x="234014" y="250032"/>
                  <a:pt x="250031" y="234014"/>
                  <a:pt x="250031" y="214314"/>
                </a:cubicBezTo>
                <a:lnTo>
                  <a:pt x="250031" y="178593"/>
                </a:lnTo>
                <a:close/>
                <a:moveTo>
                  <a:pt x="125016" y="196454"/>
                </a:moveTo>
                <a:cubicBezTo>
                  <a:pt x="125016" y="186597"/>
                  <a:pt x="133019" y="178593"/>
                  <a:pt x="142875" y="178593"/>
                </a:cubicBezTo>
                <a:cubicBezTo>
                  <a:pt x="152731" y="178593"/>
                  <a:pt x="160734" y="186597"/>
                  <a:pt x="160734" y="196454"/>
                </a:cubicBezTo>
                <a:cubicBezTo>
                  <a:pt x="160734" y="206310"/>
                  <a:pt x="152731" y="214314"/>
                  <a:pt x="142875" y="214314"/>
                </a:cubicBezTo>
                <a:cubicBezTo>
                  <a:pt x="133019" y="214314"/>
                  <a:pt x="125016" y="206310"/>
                  <a:pt x="125016" y="196454"/>
                </a:cubicBezTo>
                <a:close/>
                <a:moveTo>
                  <a:pt x="196452" y="178593"/>
                </a:moveTo>
                <a:cubicBezTo>
                  <a:pt x="206310" y="178593"/>
                  <a:pt x="214312" y="186597"/>
                  <a:pt x="214312" y="196454"/>
                </a:cubicBezTo>
                <a:cubicBezTo>
                  <a:pt x="214312" y="206310"/>
                  <a:pt x="206310" y="214314"/>
                  <a:pt x="196452" y="214314"/>
                </a:cubicBezTo>
                <a:cubicBezTo>
                  <a:pt x="186596" y="214314"/>
                  <a:pt x="178594" y="206310"/>
                  <a:pt x="178594" y="196454"/>
                </a:cubicBezTo>
                <a:cubicBezTo>
                  <a:pt x="178594" y="186597"/>
                  <a:pt x="186596" y="178593"/>
                  <a:pt x="196452" y="17859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2395475" y="5714849"/>
            <a:ext cx="1533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Disk Bandwidth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4190956" y="5200541"/>
            <a:ext cx="1752600" cy="933450"/>
          </a:xfrm>
          <a:custGeom>
            <a:avLst/>
            <a:gdLst/>
            <a:ahLst/>
            <a:cxnLst/>
            <a:rect l="l" t="t" r="r" b="b"/>
            <a:pathLst>
              <a:path w="1752600" h="933450">
                <a:moveTo>
                  <a:pt x="76197" y="0"/>
                </a:moveTo>
                <a:lnTo>
                  <a:pt x="1676403" y="0"/>
                </a:lnTo>
                <a:cubicBezTo>
                  <a:pt x="1718485" y="0"/>
                  <a:pt x="1752600" y="34115"/>
                  <a:pt x="1752600" y="76197"/>
                </a:cubicBezTo>
                <a:lnTo>
                  <a:pt x="1752600" y="857253"/>
                </a:lnTo>
                <a:cubicBezTo>
                  <a:pt x="1752600" y="899335"/>
                  <a:pt x="1718485" y="933450"/>
                  <a:pt x="1676403" y="933450"/>
                </a:cubicBezTo>
                <a:lnTo>
                  <a:pt x="76197" y="933450"/>
                </a:lnTo>
                <a:cubicBezTo>
                  <a:pt x="34115" y="933450"/>
                  <a:pt x="0" y="899335"/>
                  <a:pt x="0" y="8572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4908911" y="5370786"/>
            <a:ext cx="321469" cy="250033"/>
          </a:xfrm>
          <a:custGeom>
            <a:avLst/>
            <a:gdLst/>
            <a:ahLst/>
            <a:cxnLst/>
            <a:rect l="l" t="t" r="r" b="b"/>
            <a:pathLst>
              <a:path w="321469" h="250033">
                <a:moveTo>
                  <a:pt x="138410" y="31254"/>
                </a:moveTo>
                <a:lnTo>
                  <a:pt x="183059" y="31254"/>
                </a:lnTo>
                <a:lnTo>
                  <a:pt x="183059" y="58043"/>
                </a:lnTo>
                <a:lnTo>
                  <a:pt x="138410" y="58043"/>
                </a:lnTo>
                <a:lnTo>
                  <a:pt x="138410" y="31254"/>
                </a:lnTo>
                <a:close/>
                <a:moveTo>
                  <a:pt x="133946" y="0"/>
                </a:moveTo>
                <a:cubicBezTo>
                  <a:pt x="119156" y="0"/>
                  <a:pt x="107156" y="12000"/>
                  <a:pt x="107156" y="26789"/>
                </a:cubicBezTo>
                <a:lnTo>
                  <a:pt x="107156" y="62508"/>
                </a:lnTo>
                <a:cubicBezTo>
                  <a:pt x="107156" y="77298"/>
                  <a:pt x="119156" y="89297"/>
                  <a:pt x="133946" y="89297"/>
                </a:cubicBezTo>
                <a:lnTo>
                  <a:pt x="142875" y="89297"/>
                </a:lnTo>
                <a:lnTo>
                  <a:pt x="142875" y="107157"/>
                </a:lnTo>
                <a:lnTo>
                  <a:pt x="17859" y="107157"/>
                </a:lnTo>
                <a:cubicBezTo>
                  <a:pt x="7981" y="107157"/>
                  <a:pt x="0" y="115138"/>
                  <a:pt x="0" y="125016"/>
                </a:cubicBezTo>
                <a:cubicBezTo>
                  <a:pt x="0" y="134894"/>
                  <a:pt x="7981" y="142875"/>
                  <a:pt x="17859" y="142875"/>
                </a:cubicBezTo>
                <a:lnTo>
                  <a:pt x="71437" y="142875"/>
                </a:lnTo>
                <a:lnTo>
                  <a:pt x="71437" y="160735"/>
                </a:lnTo>
                <a:lnTo>
                  <a:pt x="62508" y="160735"/>
                </a:lnTo>
                <a:cubicBezTo>
                  <a:pt x="47718" y="160735"/>
                  <a:pt x="35719" y="172734"/>
                  <a:pt x="35719" y="187524"/>
                </a:cubicBezTo>
                <a:lnTo>
                  <a:pt x="35719" y="223243"/>
                </a:lnTo>
                <a:cubicBezTo>
                  <a:pt x="35719" y="238032"/>
                  <a:pt x="47718" y="250032"/>
                  <a:pt x="62508" y="250032"/>
                </a:cubicBezTo>
                <a:lnTo>
                  <a:pt x="116086" y="250032"/>
                </a:lnTo>
                <a:cubicBezTo>
                  <a:pt x="130876" y="250032"/>
                  <a:pt x="142875" y="238032"/>
                  <a:pt x="142875" y="223243"/>
                </a:cubicBezTo>
                <a:lnTo>
                  <a:pt x="142875" y="187524"/>
                </a:lnTo>
                <a:cubicBezTo>
                  <a:pt x="142875" y="172734"/>
                  <a:pt x="130876" y="160735"/>
                  <a:pt x="116086" y="160735"/>
                </a:cubicBezTo>
                <a:lnTo>
                  <a:pt x="107156" y="160735"/>
                </a:lnTo>
                <a:lnTo>
                  <a:pt x="107156" y="142875"/>
                </a:lnTo>
                <a:lnTo>
                  <a:pt x="214313" y="142875"/>
                </a:lnTo>
                <a:lnTo>
                  <a:pt x="214313" y="160735"/>
                </a:lnTo>
                <a:lnTo>
                  <a:pt x="205383" y="160735"/>
                </a:lnTo>
                <a:cubicBezTo>
                  <a:pt x="190593" y="160735"/>
                  <a:pt x="178594" y="172734"/>
                  <a:pt x="178594" y="187524"/>
                </a:cubicBezTo>
                <a:lnTo>
                  <a:pt x="178594" y="223243"/>
                </a:lnTo>
                <a:cubicBezTo>
                  <a:pt x="178594" y="238032"/>
                  <a:pt x="190593" y="250032"/>
                  <a:pt x="205383" y="250032"/>
                </a:cubicBezTo>
                <a:lnTo>
                  <a:pt x="258961" y="250032"/>
                </a:lnTo>
                <a:cubicBezTo>
                  <a:pt x="273751" y="250032"/>
                  <a:pt x="285750" y="238032"/>
                  <a:pt x="285750" y="223243"/>
                </a:cubicBezTo>
                <a:lnTo>
                  <a:pt x="285750" y="187524"/>
                </a:lnTo>
                <a:cubicBezTo>
                  <a:pt x="285750" y="172734"/>
                  <a:pt x="273751" y="160735"/>
                  <a:pt x="258961" y="160735"/>
                </a:cubicBezTo>
                <a:lnTo>
                  <a:pt x="250031" y="160735"/>
                </a:lnTo>
                <a:lnTo>
                  <a:pt x="250031" y="142875"/>
                </a:lnTo>
                <a:lnTo>
                  <a:pt x="303609" y="142875"/>
                </a:lnTo>
                <a:cubicBezTo>
                  <a:pt x="313488" y="142875"/>
                  <a:pt x="321469" y="134894"/>
                  <a:pt x="321469" y="125016"/>
                </a:cubicBezTo>
                <a:cubicBezTo>
                  <a:pt x="321469" y="115138"/>
                  <a:pt x="313488" y="107157"/>
                  <a:pt x="303609" y="107157"/>
                </a:cubicBezTo>
                <a:lnTo>
                  <a:pt x="178594" y="107157"/>
                </a:lnTo>
                <a:lnTo>
                  <a:pt x="178594" y="89297"/>
                </a:lnTo>
                <a:lnTo>
                  <a:pt x="187523" y="89297"/>
                </a:lnTo>
                <a:cubicBezTo>
                  <a:pt x="202314" y="89297"/>
                  <a:pt x="214313" y="77298"/>
                  <a:pt x="214313" y="62508"/>
                </a:cubicBezTo>
                <a:lnTo>
                  <a:pt x="214313" y="26789"/>
                </a:lnTo>
                <a:cubicBezTo>
                  <a:pt x="214313" y="12000"/>
                  <a:pt x="202314" y="0"/>
                  <a:pt x="187523" y="0"/>
                </a:cubicBezTo>
                <a:lnTo>
                  <a:pt x="133946" y="0"/>
                </a:lnTo>
                <a:close/>
                <a:moveTo>
                  <a:pt x="250031" y="191989"/>
                </a:moveTo>
                <a:lnTo>
                  <a:pt x="254497" y="191989"/>
                </a:lnTo>
                <a:lnTo>
                  <a:pt x="254497" y="218778"/>
                </a:lnTo>
                <a:lnTo>
                  <a:pt x="209848" y="218778"/>
                </a:lnTo>
                <a:lnTo>
                  <a:pt x="209848" y="191989"/>
                </a:lnTo>
                <a:lnTo>
                  <a:pt x="250031" y="191989"/>
                </a:lnTo>
                <a:close/>
                <a:moveTo>
                  <a:pt x="107156" y="191989"/>
                </a:moveTo>
                <a:lnTo>
                  <a:pt x="111622" y="191989"/>
                </a:lnTo>
                <a:lnTo>
                  <a:pt x="111622" y="218778"/>
                </a:lnTo>
                <a:lnTo>
                  <a:pt x="66973" y="218778"/>
                </a:lnTo>
                <a:lnTo>
                  <a:pt x="66973" y="191989"/>
                </a:lnTo>
                <a:lnTo>
                  <a:pt x="107156" y="19198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4300475" y="5714849"/>
            <a:ext cx="1533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Network Bandwidth</a:t>
            </a:r>
            <a:endParaRPr lang="en-US" sz="1100"/>
          </a:p>
        </p:txBody>
      </p:sp>
      <p:sp>
        <p:nvSpPr>
          <p:cNvPr id="27" name="Freeform 27"/>
          <p:cNvSpPr/>
          <p:nvPr/>
        </p:nvSpPr>
        <p:spPr>
          <a:xfrm>
            <a:off x="6248338" y="990484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rcRect t="49" b="49"/>
          <a:stretch>
            <a:fillRect/>
          </a:stretch>
        </p:blipFill>
        <p:spPr>
          <a:xfrm>
            <a:off x="6400720" y="1989188"/>
            <a:ext cx="5257800" cy="2838450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29" name="AutoShape 29"/>
          <p:cNvSpPr/>
          <p:nvPr/>
        </p:nvSpPr>
        <p:spPr>
          <a:xfrm>
            <a:off x="6210238" y="5905367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ForrestTheWoods - Memory Bandwidth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6244" y="629883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Bandwidth Example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148750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Assumed Conditions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80956" y="1605824"/>
            <a:ext cx="5562600" cy="1104900"/>
          </a:xfrm>
          <a:custGeom>
            <a:avLst/>
            <a:gdLst/>
            <a:ahLst/>
            <a:cxnLst/>
            <a:rect l="l" t="t" r="r" b="b"/>
            <a:pathLst>
              <a:path w="5562600" h="1104900">
                <a:moveTo>
                  <a:pt x="114303" y="0"/>
                </a:moveTo>
                <a:lnTo>
                  <a:pt x="5448297" y="0"/>
                </a:lnTo>
                <a:cubicBezTo>
                  <a:pt x="5511425" y="0"/>
                  <a:pt x="5562600" y="51175"/>
                  <a:pt x="5562600" y="114303"/>
                </a:cubicBezTo>
                <a:lnTo>
                  <a:pt x="5562600" y="990597"/>
                </a:lnTo>
                <a:cubicBezTo>
                  <a:pt x="5562600" y="1053725"/>
                  <a:pt x="5511425" y="1104900"/>
                  <a:pt x="5448297" y="1104900"/>
                </a:cubicBezTo>
                <a:lnTo>
                  <a:pt x="114303" y="1104900"/>
                </a:lnTo>
                <a:cubicBezTo>
                  <a:pt x="51175" y="1104900"/>
                  <a:pt x="0" y="1053725"/>
                  <a:pt x="0" y="9905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647629" y="201536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19"/>
                  <a:pt x="64019" y="0"/>
                  <a:pt x="142875" y="0"/>
                </a:cubicBezTo>
                <a:cubicBezTo>
                  <a:pt x="221731" y="0"/>
                  <a:pt x="285750" y="64019"/>
                  <a:pt x="285750" y="142875"/>
                </a:cubicBezTo>
                <a:cubicBezTo>
                  <a:pt x="285750" y="221731"/>
                  <a:pt x="221731" y="285750"/>
                  <a:pt x="142875" y="285750"/>
                </a:cubicBezTo>
                <a:cubicBezTo>
                  <a:pt x="64019" y="285750"/>
                  <a:pt x="0" y="221731"/>
                  <a:pt x="0" y="142875"/>
                </a:cubicBezTo>
                <a:close/>
                <a:moveTo>
                  <a:pt x="160734" y="53577"/>
                </a:moveTo>
                <a:cubicBezTo>
                  <a:pt x="160734" y="43721"/>
                  <a:pt x="152731" y="35719"/>
                  <a:pt x="142875" y="35719"/>
                </a:cubicBezTo>
                <a:cubicBezTo>
                  <a:pt x="133019" y="35719"/>
                  <a:pt x="125016" y="43721"/>
                  <a:pt x="125016" y="53577"/>
                </a:cubicBezTo>
                <a:cubicBezTo>
                  <a:pt x="125016" y="63435"/>
                  <a:pt x="133019" y="71438"/>
                  <a:pt x="142875" y="71438"/>
                </a:cubicBezTo>
                <a:cubicBezTo>
                  <a:pt x="152731" y="71438"/>
                  <a:pt x="160734" y="63435"/>
                  <a:pt x="160734" y="53577"/>
                </a:cubicBezTo>
                <a:close/>
                <a:moveTo>
                  <a:pt x="142875" y="232173"/>
                </a:moveTo>
                <a:cubicBezTo>
                  <a:pt x="162577" y="232173"/>
                  <a:pt x="178594" y="216154"/>
                  <a:pt x="178594" y="196452"/>
                </a:cubicBezTo>
                <a:cubicBezTo>
                  <a:pt x="178594" y="187413"/>
                  <a:pt x="175245" y="179095"/>
                  <a:pt x="169664" y="172844"/>
                </a:cubicBezTo>
                <a:lnTo>
                  <a:pt x="208451" y="95324"/>
                </a:lnTo>
                <a:cubicBezTo>
                  <a:pt x="211745" y="88683"/>
                  <a:pt x="209066" y="80646"/>
                  <a:pt x="202481" y="77353"/>
                </a:cubicBezTo>
                <a:cubicBezTo>
                  <a:pt x="195895" y="74061"/>
                  <a:pt x="187803" y="76740"/>
                  <a:pt x="184509" y="83325"/>
                </a:cubicBezTo>
                <a:lnTo>
                  <a:pt x="145721" y="160846"/>
                </a:lnTo>
                <a:cubicBezTo>
                  <a:pt x="144772" y="160790"/>
                  <a:pt x="143824" y="160734"/>
                  <a:pt x="142875" y="160734"/>
                </a:cubicBezTo>
                <a:cubicBezTo>
                  <a:pt x="123173" y="160734"/>
                  <a:pt x="107156" y="176752"/>
                  <a:pt x="107156" y="196452"/>
                </a:cubicBezTo>
                <a:cubicBezTo>
                  <a:pt x="107156" y="216154"/>
                  <a:pt x="123173" y="232173"/>
                  <a:pt x="142875" y="232173"/>
                </a:cubicBezTo>
                <a:close/>
                <a:moveTo>
                  <a:pt x="98227" y="80367"/>
                </a:moveTo>
                <a:cubicBezTo>
                  <a:pt x="98227" y="70510"/>
                  <a:pt x="90225" y="62508"/>
                  <a:pt x="80367" y="62508"/>
                </a:cubicBezTo>
                <a:cubicBezTo>
                  <a:pt x="70510" y="62508"/>
                  <a:pt x="62508" y="70510"/>
                  <a:pt x="62508" y="80367"/>
                </a:cubicBezTo>
                <a:cubicBezTo>
                  <a:pt x="62508" y="90225"/>
                  <a:pt x="70510" y="98227"/>
                  <a:pt x="80367" y="98227"/>
                </a:cubicBezTo>
                <a:cubicBezTo>
                  <a:pt x="90225" y="98227"/>
                  <a:pt x="98227" y="90225"/>
                  <a:pt x="98227" y="80367"/>
                </a:cubicBezTo>
                <a:close/>
                <a:moveTo>
                  <a:pt x="53577" y="160734"/>
                </a:moveTo>
                <a:cubicBezTo>
                  <a:pt x="63435" y="160734"/>
                  <a:pt x="71437" y="152731"/>
                  <a:pt x="71437" y="142875"/>
                </a:cubicBezTo>
                <a:cubicBezTo>
                  <a:pt x="71437" y="133019"/>
                  <a:pt x="63435" y="125016"/>
                  <a:pt x="53577" y="125016"/>
                </a:cubicBezTo>
                <a:cubicBezTo>
                  <a:pt x="43721" y="125016"/>
                  <a:pt x="35719" y="133019"/>
                  <a:pt x="35719" y="142875"/>
                </a:cubicBezTo>
                <a:cubicBezTo>
                  <a:pt x="35719" y="152731"/>
                  <a:pt x="43721" y="160734"/>
                  <a:pt x="53577" y="160734"/>
                </a:cubicBezTo>
                <a:close/>
                <a:moveTo>
                  <a:pt x="250031" y="142875"/>
                </a:moveTo>
                <a:cubicBezTo>
                  <a:pt x="250031" y="133019"/>
                  <a:pt x="242029" y="125016"/>
                  <a:pt x="232173" y="125016"/>
                </a:cubicBezTo>
                <a:cubicBezTo>
                  <a:pt x="222315" y="125016"/>
                  <a:pt x="214313" y="133019"/>
                  <a:pt x="214313" y="142875"/>
                </a:cubicBezTo>
                <a:cubicBezTo>
                  <a:pt x="214313" y="152731"/>
                  <a:pt x="222315" y="160734"/>
                  <a:pt x="232173" y="160734"/>
                </a:cubicBezTo>
                <a:cubicBezTo>
                  <a:pt x="242029" y="160734"/>
                  <a:pt x="250031" y="152731"/>
                  <a:pt x="250031" y="142875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19099" y="1834396"/>
            <a:ext cx="1647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Bandwidth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19099" y="2101101"/>
            <a:ext cx="17335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 GB/s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399911" y="2939203"/>
            <a:ext cx="5543455" cy="1028700"/>
          </a:xfrm>
          <a:custGeom>
            <a:avLst/>
            <a:gdLst/>
            <a:ahLst/>
            <a:cxnLst/>
            <a:rect l="l" t="t" r="r" b="b"/>
            <a:pathLst>
              <a:path w="5543455" h="1028700">
                <a:moveTo>
                  <a:pt x="37909" y="0"/>
                </a:moveTo>
                <a:lnTo>
                  <a:pt x="5429156" y="0"/>
                </a:lnTo>
                <a:cubicBezTo>
                  <a:pt x="5492281" y="0"/>
                  <a:pt x="5543455" y="51173"/>
                  <a:pt x="5543455" y="114299"/>
                </a:cubicBezTo>
                <a:lnTo>
                  <a:pt x="5543455" y="914401"/>
                </a:lnTo>
                <a:cubicBezTo>
                  <a:pt x="5543455" y="977527"/>
                  <a:pt x="5492281" y="1028700"/>
                  <a:pt x="5429156" y="1028700"/>
                </a:cubicBezTo>
                <a:lnTo>
                  <a:pt x="37909" y="1028700"/>
                </a:lnTo>
                <a:cubicBezTo>
                  <a:pt x="16974" y="1028700"/>
                  <a:pt x="0" y="1011726"/>
                  <a:pt x="0" y="9907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399911" y="2939203"/>
            <a:ext cx="37909" cy="1028700"/>
          </a:xfrm>
          <a:custGeom>
            <a:avLst/>
            <a:gdLst/>
            <a:ahLst/>
            <a:cxnLst/>
            <a:rect l="l" t="t" r="r" b="b"/>
            <a:pathLst>
              <a:path w="37909" h="1028700">
                <a:moveTo>
                  <a:pt x="37909" y="0"/>
                </a:moveTo>
                <a:lnTo>
                  <a:pt x="37909" y="0"/>
                </a:lnTo>
                <a:lnTo>
                  <a:pt x="37909" y="1028700"/>
                </a:lnTo>
                <a:lnTo>
                  <a:pt x="37909" y="1028700"/>
                </a:lnTo>
                <a:cubicBezTo>
                  <a:pt x="16974" y="1028700"/>
                  <a:pt x="0" y="1011726"/>
                  <a:pt x="0" y="9907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09307" y="3129647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This means: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307" y="3472543"/>
            <a:ext cx="5257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Up to 100 GB of data can be read per second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80956" y="4037981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Calculation Example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380956" y="4495056"/>
            <a:ext cx="5562600" cy="914400"/>
          </a:xfrm>
          <a:custGeom>
            <a:avLst/>
            <a:gdLst/>
            <a:ahLst/>
            <a:cxnLst/>
            <a:rect l="l" t="t" r="r" b="b"/>
            <a:pathLst>
              <a:path w="5562600" h="9144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838203"/>
                </a:lnTo>
                <a:cubicBezTo>
                  <a:pt x="5562600" y="880285"/>
                  <a:pt x="5528485" y="914400"/>
                  <a:pt x="54864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33338" y="4647437"/>
            <a:ext cx="5343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If the program needs to read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3338" y="4952200"/>
            <a:ext cx="5372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 GB of data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399911" y="5561656"/>
            <a:ext cx="5543455" cy="1295400"/>
          </a:xfrm>
          <a:custGeom>
            <a:avLst/>
            <a:gdLst/>
            <a:ahLst/>
            <a:cxnLst/>
            <a:rect l="l" t="t" r="r" b="b"/>
            <a:pathLst>
              <a:path w="5543455" h="1295400">
                <a:moveTo>
                  <a:pt x="37909" y="0"/>
                </a:moveTo>
                <a:lnTo>
                  <a:pt x="5467260" y="0"/>
                </a:lnTo>
                <a:cubicBezTo>
                  <a:pt x="5509313" y="0"/>
                  <a:pt x="5543455" y="34141"/>
                  <a:pt x="5543455" y="76195"/>
                </a:cubicBezTo>
                <a:lnTo>
                  <a:pt x="5543455" y="1219205"/>
                </a:lnTo>
                <a:cubicBezTo>
                  <a:pt x="5543455" y="1261287"/>
                  <a:pt x="5509341" y="1295400"/>
                  <a:pt x="5467260" y="1295400"/>
                </a:cubicBezTo>
                <a:lnTo>
                  <a:pt x="37909" y="1295400"/>
                </a:lnTo>
                <a:cubicBezTo>
                  <a:pt x="16974" y="1295400"/>
                  <a:pt x="0" y="1278426"/>
                  <a:pt x="0" y="12574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399911" y="5561656"/>
            <a:ext cx="37909" cy="1295400"/>
          </a:xfrm>
          <a:custGeom>
            <a:avLst/>
            <a:gdLst/>
            <a:ahLst/>
            <a:cxnLst/>
            <a:rect l="l" t="t" r="r" b="b"/>
            <a:pathLst>
              <a:path w="37909" h="1295400">
                <a:moveTo>
                  <a:pt x="37909" y="0"/>
                </a:moveTo>
                <a:lnTo>
                  <a:pt x="37909" y="0"/>
                </a:lnTo>
                <a:lnTo>
                  <a:pt x="37909" y="1295400"/>
                </a:lnTo>
                <a:lnTo>
                  <a:pt x="37909" y="1295400"/>
                </a:lnTo>
                <a:cubicBezTo>
                  <a:pt x="16974" y="1295400"/>
                  <a:pt x="0" y="1278426"/>
                  <a:pt x="0" y="12574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71248" y="5714037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Theoretical minimum time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71248" y="6018800"/>
            <a:ext cx="5314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 200 GB ÷ 100 GB/s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71248" y="6361700"/>
            <a:ext cx="53625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 2 seconds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248338" y="990484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00886" y="2443079"/>
            <a:ext cx="4257675" cy="1933575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23" name="AutoShape 23"/>
          <p:cNvSpPr/>
          <p:nvPr/>
        </p:nvSpPr>
        <p:spPr>
          <a:xfrm>
            <a:off x="6210238" y="5905365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University of Pittsburgh - Memory Controller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1424" y="609484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is Latency?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9911" y="1178058"/>
            <a:ext cx="5543455" cy="1104900"/>
          </a:xfrm>
          <a:custGeom>
            <a:avLst/>
            <a:gdLst/>
            <a:ahLst/>
            <a:cxnLst/>
            <a:rect l="l" t="t" r="r" b="b"/>
            <a:pathLst>
              <a:path w="5543455" h="1104900">
                <a:moveTo>
                  <a:pt x="37909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3"/>
                </a:cubicBezTo>
                <a:lnTo>
                  <a:pt x="5543455" y="990597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399911" y="1178058"/>
            <a:ext cx="37909" cy="1104900"/>
          </a:xfrm>
          <a:custGeom>
            <a:avLst/>
            <a:gdLst/>
            <a:ahLst/>
            <a:cxnLst/>
            <a:rect l="l" t="t" r="r" b="b"/>
            <a:pathLst>
              <a:path w="37909" h="1104900">
                <a:moveTo>
                  <a:pt x="37909" y="0"/>
                </a:moveTo>
                <a:lnTo>
                  <a:pt x="37909" y="0"/>
                </a:lnTo>
                <a:lnTo>
                  <a:pt x="37909" y="1104900"/>
                </a:ln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47439" y="1406630"/>
            <a:ext cx="5181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Latency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439" y="1787514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6415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Represents the time required to complete one operation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0956" y="2323788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Typical Scenarios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380956" y="2780863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519018" y="2956982"/>
            <a:ext cx="190500" cy="142875"/>
          </a:xfrm>
          <a:custGeom>
            <a:avLst/>
            <a:gdLst/>
            <a:ahLst/>
            <a:cxnLst/>
            <a:rect l="l" t="t" r="r" b="b"/>
            <a:pathLst>
              <a:path w="190500" h="142875">
                <a:moveTo>
                  <a:pt x="23812" y="0"/>
                </a:moveTo>
                <a:cubicBezTo>
                  <a:pt x="10678" y="0"/>
                  <a:pt x="0" y="10679"/>
                  <a:pt x="0" y="23813"/>
                </a:cubicBezTo>
                <a:lnTo>
                  <a:pt x="0" y="26566"/>
                </a:lnTo>
                <a:cubicBezTo>
                  <a:pt x="0" y="29096"/>
                  <a:pt x="1637" y="31254"/>
                  <a:pt x="3758" y="32631"/>
                </a:cubicBezTo>
                <a:cubicBezTo>
                  <a:pt x="8669" y="35831"/>
                  <a:pt x="11906" y="41338"/>
                  <a:pt x="11906" y="47626"/>
                </a:cubicBezTo>
                <a:cubicBezTo>
                  <a:pt x="11906" y="53913"/>
                  <a:pt x="8669" y="59420"/>
                  <a:pt x="3758" y="62620"/>
                </a:cubicBezTo>
                <a:cubicBezTo>
                  <a:pt x="1637" y="63997"/>
                  <a:pt x="0" y="66155"/>
                  <a:pt x="0" y="68685"/>
                </a:cubicBezTo>
                <a:lnTo>
                  <a:pt x="0" y="89297"/>
                </a:lnTo>
                <a:lnTo>
                  <a:pt x="190500" y="89297"/>
                </a:lnTo>
                <a:lnTo>
                  <a:pt x="190500" y="68685"/>
                </a:lnTo>
                <a:cubicBezTo>
                  <a:pt x="190500" y="66155"/>
                  <a:pt x="188863" y="63997"/>
                  <a:pt x="186742" y="62620"/>
                </a:cubicBezTo>
                <a:cubicBezTo>
                  <a:pt x="181831" y="59420"/>
                  <a:pt x="178594" y="53913"/>
                  <a:pt x="178594" y="47626"/>
                </a:cubicBezTo>
                <a:cubicBezTo>
                  <a:pt x="178594" y="41338"/>
                  <a:pt x="181831" y="35831"/>
                  <a:pt x="186742" y="32631"/>
                </a:cubicBezTo>
                <a:cubicBezTo>
                  <a:pt x="188863" y="31254"/>
                  <a:pt x="190500" y="29096"/>
                  <a:pt x="190500" y="26566"/>
                </a:cubicBezTo>
                <a:lnTo>
                  <a:pt x="190500" y="23813"/>
                </a:lnTo>
                <a:cubicBezTo>
                  <a:pt x="190500" y="10679"/>
                  <a:pt x="179822" y="0"/>
                  <a:pt x="166688" y="0"/>
                </a:cubicBezTo>
                <a:lnTo>
                  <a:pt x="23812" y="0"/>
                </a:lnTo>
                <a:close/>
                <a:moveTo>
                  <a:pt x="190500" y="130969"/>
                </a:moveTo>
                <a:lnTo>
                  <a:pt x="190500" y="107157"/>
                </a:lnTo>
                <a:lnTo>
                  <a:pt x="0" y="107157"/>
                </a:lnTo>
                <a:lnTo>
                  <a:pt x="0" y="130969"/>
                </a:lnTo>
                <a:cubicBezTo>
                  <a:pt x="0" y="137555"/>
                  <a:pt x="5321" y="142876"/>
                  <a:pt x="11906" y="142876"/>
                </a:cubicBezTo>
                <a:lnTo>
                  <a:pt x="35719" y="142876"/>
                </a:lnTo>
                <a:lnTo>
                  <a:pt x="35719" y="133946"/>
                </a:lnTo>
                <a:cubicBezTo>
                  <a:pt x="35719" y="128997"/>
                  <a:pt x="39700" y="125015"/>
                  <a:pt x="44648" y="125015"/>
                </a:cubicBezTo>
                <a:cubicBezTo>
                  <a:pt x="49597" y="125015"/>
                  <a:pt x="53577" y="128997"/>
                  <a:pt x="53577" y="133946"/>
                </a:cubicBezTo>
                <a:lnTo>
                  <a:pt x="53577" y="142876"/>
                </a:lnTo>
                <a:lnTo>
                  <a:pt x="86321" y="142876"/>
                </a:lnTo>
                <a:lnTo>
                  <a:pt x="86321" y="133946"/>
                </a:lnTo>
                <a:cubicBezTo>
                  <a:pt x="86321" y="128997"/>
                  <a:pt x="90301" y="125015"/>
                  <a:pt x="95250" y="125015"/>
                </a:cubicBezTo>
                <a:cubicBezTo>
                  <a:pt x="100199" y="125015"/>
                  <a:pt x="104179" y="128997"/>
                  <a:pt x="104179" y="133946"/>
                </a:cubicBezTo>
                <a:lnTo>
                  <a:pt x="104179" y="142876"/>
                </a:lnTo>
                <a:lnTo>
                  <a:pt x="136923" y="142876"/>
                </a:lnTo>
                <a:lnTo>
                  <a:pt x="136923" y="133946"/>
                </a:lnTo>
                <a:cubicBezTo>
                  <a:pt x="136923" y="128997"/>
                  <a:pt x="140903" y="125015"/>
                  <a:pt x="145852" y="125015"/>
                </a:cubicBezTo>
                <a:cubicBezTo>
                  <a:pt x="150800" y="125015"/>
                  <a:pt x="154781" y="128997"/>
                  <a:pt x="154781" y="133946"/>
                </a:cubicBezTo>
                <a:lnTo>
                  <a:pt x="154781" y="142876"/>
                </a:lnTo>
                <a:lnTo>
                  <a:pt x="178594" y="142876"/>
                </a:lnTo>
                <a:cubicBezTo>
                  <a:pt x="185179" y="142876"/>
                  <a:pt x="190500" y="137555"/>
                  <a:pt x="190500" y="130969"/>
                </a:cubicBezTo>
                <a:close/>
                <a:moveTo>
                  <a:pt x="59531" y="35719"/>
                </a:moveTo>
                <a:lnTo>
                  <a:pt x="59531" y="59532"/>
                </a:lnTo>
                <a:cubicBezTo>
                  <a:pt x="59531" y="66117"/>
                  <a:pt x="54211" y="71438"/>
                  <a:pt x="47625" y="71438"/>
                </a:cubicBezTo>
                <a:cubicBezTo>
                  <a:pt x="41039" y="71438"/>
                  <a:pt x="35719" y="66117"/>
                  <a:pt x="35719" y="59532"/>
                </a:cubicBezTo>
                <a:lnTo>
                  <a:pt x="35719" y="35719"/>
                </a:lnTo>
                <a:cubicBezTo>
                  <a:pt x="35719" y="29134"/>
                  <a:pt x="41039" y="23813"/>
                  <a:pt x="47625" y="23813"/>
                </a:cubicBezTo>
                <a:cubicBezTo>
                  <a:pt x="54211" y="23813"/>
                  <a:pt x="59531" y="29134"/>
                  <a:pt x="59531" y="35719"/>
                </a:cubicBezTo>
                <a:close/>
                <a:moveTo>
                  <a:pt x="107156" y="35719"/>
                </a:moveTo>
                <a:lnTo>
                  <a:pt x="107156" y="59532"/>
                </a:lnTo>
                <a:cubicBezTo>
                  <a:pt x="107156" y="66117"/>
                  <a:pt x="101836" y="71438"/>
                  <a:pt x="95250" y="71438"/>
                </a:cubicBezTo>
                <a:cubicBezTo>
                  <a:pt x="88664" y="71438"/>
                  <a:pt x="83344" y="66117"/>
                  <a:pt x="83344" y="59532"/>
                </a:cubicBezTo>
                <a:lnTo>
                  <a:pt x="83344" y="35719"/>
                </a:lnTo>
                <a:cubicBezTo>
                  <a:pt x="83344" y="29134"/>
                  <a:pt x="88664" y="23813"/>
                  <a:pt x="95250" y="23813"/>
                </a:cubicBezTo>
                <a:cubicBezTo>
                  <a:pt x="101836" y="23813"/>
                  <a:pt x="107156" y="29134"/>
                  <a:pt x="107156" y="35719"/>
                </a:cubicBezTo>
                <a:close/>
                <a:moveTo>
                  <a:pt x="154781" y="35719"/>
                </a:moveTo>
                <a:lnTo>
                  <a:pt x="154781" y="59532"/>
                </a:lnTo>
                <a:cubicBezTo>
                  <a:pt x="154781" y="66117"/>
                  <a:pt x="149461" y="71438"/>
                  <a:pt x="142875" y="71438"/>
                </a:cubicBezTo>
                <a:cubicBezTo>
                  <a:pt x="136289" y="71438"/>
                  <a:pt x="130969" y="66117"/>
                  <a:pt x="130969" y="59532"/>
                </a:cubicBezTo>
                <a:lnTo>
                  <a:pt x="130969" y="35719"/>
                </a:lnTo>
                <a:cubicBezTo>
                  <a:pt x="130969" y="29134"/>
                  <a:pt x="136289" y="23813"/>
                  <a:pt x="142875" y="23813"/>
                </a:cubicBezTo>
                <a:cubicBezTo>
                  <a:pt x="149461" y="23813"/>
                  <a:pt x="154781" y="29134"/>
                  <a:pt x="154781" y="35719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85712" y="2895112"/>
            <a:ext cx="2033588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Access Latency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380956" y="3390319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507111" y="3554532"/>
            <a:ext cx="214312" cy="166688"/>
          </a:xfrm>
          <a:custGeom>
            <a:avLst/>
            <a:gdLst/>
            <a:ahLst/>
            <a:cxnLst/>
            <a:rect l="l" t="t" r="r" b="b"/>
            <a:pathLst>
              <a:path w="214312" h="166688">
                <a:moveTo>
                  <a:pt x="92273" y="20836"/>
                </a:moveTo>
                <a:lnTo>
                  <a:pt x="122039" y="20836"/>
                </a:lnTo>
                <a:lnTo>
                  <a:pt x="122039" y="38696"/>
                </a:lnTo>
                <a:lnTo>
                  <a:pt x="92273" y="38696"/>
                </a:lnTo>
                <a:lnTo>
                  <a:pt x="92273" y="20836"/>
                </a:lnTo>
                <a:close/>
                <a:moveTo>
                  <a:pt x="89298" y="0"/>
                </a:moveTo>
                <a:cubicBezTo>
                  <a:pt x="79437" y="0"/>
                  <a:pt x="71437" y="8000"/>
                  <a:pt x="71437" y="17860"/>
                </a:cubicBezTo>
                <a:lnTo>
                  <a:pt x="71437" y="41671"/>
                </a:lnTo>
                <a:cubicBezTo>
                  <a:pt x="71437" y="51532"/>
                  <a:pt x="79437" y="59531"/>
                  <a:pt x="89298" y="59531"/>
                </a:cubicBezTo>
                <a:lnTo>
                  <a:pt x="95250" y="59531"/>
                </a:lnTo>
                <a:lnTo>
                  <a:pt x="95250" y="71438"/>
                </a:lnTo>
                <a:lnTo>
                  <a:pt x="11906" y="71438"/>
                </a:lnTo>
                <a:cubicBezTo>
                  <a:pt x="5321" y="71438"/>
                  <a:pt x="0" y="76758"/>
                  <a:pt x="0" y="83344"/>
                </a:cubicBezTo>
                <a:cubicBezTo>
                  <a:pt x="0" y="89930"/>
                  <a:pt x="5321" y="95250"/>
                  <a:pt x="11906" y="95250"/>
                </a:cubicBezTo>
                <a:lnTo>
                  <a:pt x="47625" y="95250"/>
                </a:lnTo>
                <a:lnTo>
                  <a:pt x="47625" y="107156"/>
                </a:lnTo>
                <a:lnTo>
                  <a:pt x="41673" y="107156"/>
                </a:lnTo>
                <a:cubicBezTo>
                  <a:pt x="31812" y="107156"/>
                  <a:pt x="23813" y="115156"/>
                  <a:pt x="23813" y="125017"/>
                </a:cubicBezTo>
                <a:lnTo>
                  <a:pt x="23813" y="148828"/>
                </a:lnTo>
                <a:cubicBezTo>
                  <a:pt x="23813" y="158688"/>
                  <a:pt x="31812" y="166688"/>
                  <a:pt x="41673" y="166688"/>
                </a:cubicBezTo>
                <a:lnTo>
                  <a:pt x="77391" y="166688"/>
                </a:lnTo>
                <a:cubicBezTo>
                  <a:pt x="87250" y="166688"/>
                  <a:pt x="95250" y="158688"/>
                  <a:pt x="95250" y="148828"/>
                </a:cubicBezTo>
                <a:lnTo>
                  <a:pt x="95250" y="125017"/>
                </a:lnTo>
                <a:cubicBezTo>
                  <a:pt x="95250" y="115156"/>
                  <a:pt x="87250" y="107156"/>
                  <a:pt x="77391" y="107156"/>
                </a:cubicBezTo>
                <a:lnTo>
                  <a:pt x="71437" y="107156"/>
                </a:lnTo>
                <a:lnTo>
                  <a:pt x="71437" y="95250"/>
                </a:lnTo>
                <a:lnTo>
                  <a:pt x="142875" y="95250"/>
                </a:lnTo>
                <a:lnTo>
                  <a:pt x="142875" y="107156"/>
                </a:lnTo>
                <a:lnTo>
                  <a:pt x="136923" y="107156"/>
                </a:lnTo>
                <a:cubicBezTo>
                  <a:pt x="127062" y="107156"/>
                  <a:pt x="119063" y="115156"/>
                  <a:pt x="119063" y="125017"/>
                </a:cubicBezTo>
                <a:lnTo>
                  <a:pt x="119063" y="148828"/>
                </a:lnTo>
                <a:cubicBezTo>
                  <a:pt x="119063" y="158688"/>
                  <a:pt x="127062" y="166688"/>
                  <a:pt x="136923" y="166688"/>
                </a:cubicBezTo>
                <a:lnTo>
                  <a:pt x="172641" y="166688"/>
                </a:lnTo>
                <a:cubicBezTo>
                  <a:pt x="182500" y="166688"/>
                  <a:pt x="190500" y="158688"/>
                  <a:pt x="190500" y="148828"/>
                </a:cubicBezTo>
                <a:lnTo>
                  <a:pt x="190500" y="125017"/>
                </a:lnTo>
                <a:cubicBezTo>
                  <a:pt x="190500" y="115156"/>
                  <a:pt x="182500" y="107156"/>
                  <a:pt x="172641" y="107156"/>
                </a:cubicBezTo>
                <a:lnTo>
                  <a:pt x="166687" y="107156"/>
                </a:lnTo>
                <a:lnTo>
                  <a:pt x="166687" y="95250"/>
                </a:lnTo>
                <a:lnTo>
                  <a:pt x="202406" y="95250"/>
                </a:lnTo>
                <a:cubicBezTo>
                  <a:pt x="208992" y="95250"/>
                  <a:pt x="214313" y="89930"/>
                  <a:pt x="214313" y="83344"/>
                </a:cubicBezTo>
                <a:cubicBezTo>
                  <a:pt x="214313" y="76758"/>
                  <a:pt x="208992" y="71438"/>
                  <a:pt x="202406" y="71438"/>
                </a:cubicBezTo>
                <a:lnTo>
                  <a:pt x="119063" y="71438"/>
                </a:lnTo>
                <a:lnTo>
                  <a:pt x="119063" y="59531"/>
                </a:lnTo>
                <a:lnTo>
                  <a:pt x="125016" y="59531"/>
                </a:lnTo>
                <a:cubicBezTo>
                  <a:pt x="134875" y="59531"/>
                  <a:pt x="142875" y="51532"/>
                  <a:pt x="142875" y="41671"/>
                </a:cubicBezTo>
                <a:lnTo>
                  <a:pt x="142875" y="17860"/>
                </a:lnTo>
                <a:cubicBezTo>
                  <a:pt x="142875" y="8000"/>
                  <a:pt x="134875" y="0"/>
                  <a:pt x="125016" y="0"/>
                </a:cubicBezTo>
                <a:lnTo>
                  <a:pt x="89298" y="0"/>
                </a:lnTo>
                <a:close/>
                <a:moveTo>
                  <a:pt x="166687" y="127992"/>
                </a:moveTo>
                <a:lnTo>
                  <a:pt x="169664" y="127992"/>
                </a:lnTo>
                <a:lnTo>
                  <a:pt x="169664" y="145852"/>
                </a:lnTo>
                <a:lnTo>
                  <a:pt x="139898" y="145852"/>
                </a:lnTo>
                <a:lnTo>
                  <a:pt x="139898" y="127992"/>
                </a:lnTo>
                <a:lnTo>
                  <a:pt x="166687" y="127992"/>
                </a:lnTo>
                <a:close/>
                <a:moveTo>
                  <a:pt x="71437" y="127992"/>
                </a:moveTo>
                <a:lnTo>
                  <a:pt x="74414" y="127992"/>
                </a:lnTo>
                <a:lnTo>
                  <a:pt x="74414" y="145852"/>
                </a:lnTo>
                <a:lnTo>
                  <a:pt x="44648" y="145852"/>
                </a:lnTo>
                <a:lnTo>
                  <a:pt x="44648" y="127992"/>
                </a:lnTo>
                <a:lnTo>
                  <a:pt x="71437" y="12799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85712" y="3504567"/>
            <a:ext cx="2097811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Network Latency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380956" y="3999774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530924" y="4163987"/>
            <a:ext cx="166688" cy="166688"/>
          </a:xfrm>
          <a:custGeom>
            <a:avLst/>
            <a:gdLst/>
            <a:ahLst/>
            <a:cxnLst/>
            <a:rect l="l" t="t" r="r" b="b"/>
            <a:pathLst>
              <a:path w="166688" h="166688">
                <a:moveTo>
                  <a:pt x="23812" y="0"/>
                </a:moveTo>
                <a:cubicBezTo>
                  <a:pt x="10678" y="0"/>
                  <a:pt x="0" y="10678"/>
                  <a:pt x="0" y="23813"/>
                </a:cubicBezTo>
                <a:lnTo>
                  <a:pt x="0" y="84869"/>
                </a:lnTo>
                <a:cubicBezTo>
                  <a:pt x="6734" y="80144"/>
                  <a:pt x="14957" y="77392"/>
                  <a:pt x="23812" y="77392"/>
                </a:cubicBezTo>
                <a:lnTo>
                  <a:pt x="142875" y="77392"/>
                </a:lnTo>
                <a:cubicBezTo>
                  <a:pt x="151729" y="77392"/>
                  <a:pt x="159953" y="80144"/>
                  <a:pt x="166688" y="84869"/>
                </a:cubicBezTo>
                <a:lnTo>
                  <a:pt x="166688" y="23813"/>
                </a:lnTo>
                <a:cubicBezTo>
                  <a:pt x="166688" y="10678"/>
                  <a:pt x="156009" y="0"/>
                  <a:pt x="142875" y="0"/>
                </a:cubicBezTo>
                <a:lnTo>
                  <a:pt x="23812" y="0"/>
                </a:lnTo>
                <a:close/>
                <a:moveTo>
                  <a:pt x="166688" y="119063"/>
                </a:moveTo>
                <a:cubicBezTo>
                  <a:pt x="166688" y="105928"/>
                  <a:pt x="156009" y="95250"/>
                  <a:pt x="142875" y="95250"/>
                </a:cubicBezTo>
                <a:lnTo>
                  <a:pt x="23812" y="95250"/>
                </a:lnTo>
                <a:cubicBezTo>
                  <a:pt x="10678" y="95250"/>
                  <a:pt x="0" y="105928"/>
                  <a:pt x="0" y="119063"/>
                </a:cubicBezTo>
                <a:lnTo>
                  <a:pt x="0" y="142875"/>
                </a:lnTo>
                <a:cubicBezTo>
                  <a:pt x="0" y="156010"/>
                  <a:pt x="10678" y="166688"/>
                  <a:pt x="23812" y="166688"/>
                </a:cubicBezTo>
                <a:lnTo>
                  <a:pt x="142875" y="166688"/>
                </a:lnTo>
                <a:cubicBezTo>
                  <a:pt x="156009" y="166688"/>
                  <a:pt x="166688" y="156010"/>
                  <a:pt x="166688" y="142875"/>
                </a:cubicBezTo>
                <a:lnTo>
                  <a:pt x="166688" y="119063"/>
                </a:lnTo>
                <a:close/>
                <a:moveTo>
                  <a:pt x="83344" y="130969"/>
                </a:moveTo>
                <a:cubicBezTo>
                  <a:pt x="83344" y="124398"/>
                  <a:pt x="88679" y="119063"/>
                  <a:pt x="95250" y="119063"/>
                </a:cubicBezTo>
                <a:cubicBezTo>
                  <a:pt x="101821" y="119063"/>
                  <a:pt x="107156" y="124398"/>
                  <a:pt x="107156" y="130969"/>
                </a:cubicBezTo>
                <a:cubicBezTo>
                  <a:pt x="107156" y="137540"/>
                  <a:pt x="101821" y="142875"/>
                  <a:pt x="95250" y="142875"/>
                </a:cubicBezTo>
                <a:cubicBezTo>
                  <a:pt x="88679" y="142875"/>
                  <a:pt x="83344" y="137540"/>
                  <a:pt x="83344" y="130969"/>
                </a:cubicBezTo>
                <a:close/>
                <a:moveTo>
                  <a:pt x="130969" y="119063"/>
                </a:moveTo>
                <a:cubicBezTo>
                  <a:pt x="137540" y="119063"/>
                  <a:pt x="142875" y="124398"/>
                  <a:pt x="142875" y="130969"/>
                </a:cubicBezTo>
                <a:cubicBezTo>
                  <a:pt x="142875" y="137540"/>
                  <a:pt x="137540" y="142875"/>
                  <a:pt x="130969" y="142875"/>
                </a:cubicBezTo>
                <a:cubicBezTo>
                  <a:pt x="124398" y="142875"/>
                  <a:pt x="119062" y="137540"/>
                  <a:pt x="119062" y="130969"/>
                </a:cubicBezTo>
                <a:cubicBezTo>
                  <a:pt x="119062" y="124398"/>
                  <a:pt x="124398" y="119063"/>
                  <a:pt x="130969" y="11906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85712" y="4114023"/>
            <a:ext cx="2185734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Disk Access Latency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80956" y="4647358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Common Units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380956" y="5104433"/>
            <a:ext cx="1752600" cy="1066800"/>
          </a:xfrm>
          <a:custGeom>
            <a:avLst/>
            <a:gdLst/>
            <a:ahLst/>
            <a:cxnLst/>
            <a:rect l="l" t="t" r="r" b="b"/>
            <a:pathLst>
              <a:path w="1752600" h="1066800">
                <a:moveTo>
                  <a:pt x="76203" y="0"/>
                </a:moveTo>
                <a:lnTo>
                  <a:pt x="1676397" y="0"/>
                </a:lnTo>
                <a:cubicBezTo>
                  <a:pt x="1718483" y="0"/>
                  <a:pt x="1752600" y="34117"/>
                  <a:pt x="1752600" y="76203"/>
                </a:cubicBezTo>
                <a:lnTo>
                  <a:pt x="1752600" y="990597"/>
                </a:lnTo>
                <a:cubicBezTo>
                  <a:pt x="1752600" y="1032683"/>
                  <a:pt x="1718483" y="1066800"/>
                  <a:pt x="1676397" y="1066800"/>
                </a:cubicBezTo>
                <a:lnTo>
                  <a:pt x="76203" y="1066800"/>
                </a:lnTo>
                <a:cubicBezTo>
                  <a:pt x="34117" y="1066800"/>
                  <a:pt x="0" y="1032683"/>
                  <a:pt x="0" y="9905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76188" y="5256814"/>
            <a:ext cx="1562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ns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95238" y="5599565"/>
            <a:ext cx="152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Nanosecond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00000" y="5828137"/>
            <a:ext cx="1514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10⁻⁹ second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2285956" y="5104433"/>
            <a:ext cx="1752600" cy="1066800"/>
          </a:xfrm>
          <a:custGeom>
            <a:avLst/>
            <a:gdLst/>
            <a:ahLst/>
            <a:cxnLst/>
            <a:rect l="l" t="t" r="r" b="b"/>
            <a:pathLst>
              <a:path w="1752600" h="1066800">
                <a:moveTo>
                  <a:pt x="76203" y="0"/>
                </a:moveTo>
                <a:lnTo>
                  <a:pt x="1676397" y="0"/>
                </a:lnTo>
                <a:cubicBezTo>
                  <a:pt x="1718483" y="0"/>
                  <a:pt x="1752600" y="34117"/>
                  <a:pt x="1752600" y="76203"/>
                </a:cubicBezTo>
                <a:lnTo>
                  <a:pt x="1752600" y="990597"/>
                </a:lnTo>
                <a:cubicBezTo>
                  <a:pt x="1752600" y="1032683"/>
                  <a:pt x="1718483" y="1066800"/>
                  <a:pt x="1676397" y="1066800"/>
                </a:cubicBezTo>
                <a:lnTo>
                  <a:pt x="76203" y="1066800"/>
                </a:lnTo>
                <a:cubicBezTo>
                  <a:pt x="34117" y="1066800"/>
                  <a:pt x="0" y="1032683"/>
                  <a:pt x="0" y="9905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2381188" y="5256814"/>
            <a:ext cx="1562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μs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400238" y="5599565"/>
            <a:ext cx="152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Microsecond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405000" y="5828137"/>
            <a:ext cx="1514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10⁻⁶ second</a:t>
            </a:r>
            <a:endParaRPr lang="en-US" sz="1100"/>
          </a:p>
        </p:txBody>
      </p:sp>
      <p:sp>
        <p:nvSpPr>
          <p:cNvPr id="26" name="Freeform 26"/>
          <p:cNvSpPr/>
          <p:nvPr/>
        </p:nvSpPr>
        <p:spPr>
          <a:xfrm>
            <a:off x="4190956" y="5104433"/>
            <a:ext cx="1752600" cy="1066800"/>
          </a:xfrm>
          <a:custGeom>
            <a:avLst/>
            <a:gdLst/>
            <a:ahLst/>
            <a:cxnLst/>
            <a:rect l="l" t="t" r="r" b="b"/>
            <a:pathLst>
              <a:path w="1752600" h="1066800">
                <a:moveTo>
                  <a:pt x="76203" y="0"/>
                </a:moveTo>
                <a:lnTo>
                  <a:pt x="1676397" y="0"/>
                </a:lnTo>
                <a:cubicBezTo>
                  <a:pt x="1718483" y="0"/>
                  <a:pt x="1752600" y="34117"/>
                  <a:pt x="1752600" y="76203"/>
                </a:cubicBezTo>
                <a:lnTo>
                  <a:pt x="1752600" y="990597"/>
                </a:lnTo>
                <a:cubicBezTo>
                  <a:pt x="1752600" y="1032683"/>
                  <a:pt x="1718483" y="1066800"/>
                  <a:pt x="1676397" y="1066800"/>
                </a:cubicBezTo>
                <a:lnTo>
                  <a:pt x="76203" y="1066800"/>
                </a:lnTo>
                <a:cubicBezTo>
                  <a:pt x="34117" y="1066800"/>
                  <a:pt x="0" y="1032683"/>
                  <a:pt x="0" y="9905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4286188" y="5256814"/>
            <a:ext cx="1562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ms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305238" y="5599565"/>
            <a:ext cx="152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Millisecond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310000" y="5828137"/>
            <a:ext cx="1514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10⁻³ second</a:t>
            </a:r>
            <a:endParaRPr lang="en-US" sz="1100"/>
          </a:p>
        </p:txBody>
      </p:sp>
      <p:sp>
        <p:nvSpPr>
          <p:cNvPr id="30" name="Freeform 30"/>
          <p:cNvSpPr/>
          <p:nvPr/>
        </p:nvSpPr>
        <p:spPr>
          <a:xfrm>
            <a:off x="6248338" y="990484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rcRect t="109" b="109"/>
          <a:stretch>
            <a:fillRect/>
          </a:stretch>
        </p:blipFill>
        <p:spPr>
          <a:xfrm>
            <a:off x="6400720" y="2631811"/>
            <a:ext cx="5257800" cy="1552575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32" name="AutoShape 32"/>
          <p:cNvSpPr/>
          <p:nvPr/>
        </p:nvSpPr>
        <p:spPr>
          <a:xfrm>
            <a:off x="6210238" y="5905365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Scalable Developer - Latency Timeline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1618" y="615552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Latency Examples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261307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Typical Memory Hierarchy Latency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99911" y="1898890"/>
            <a:ext cx="5543455" cy="876300"/>
          </a:xfrm>
          <a:custGeom>
            <a:avLst/>
            <a:gdLst/>
            <a:ahLst/>
            <a:cxnLst/>
            <a:rect l="l" t="t" r="r" b="b"/>
            <a:pathLst>
              <a:path w="5543455" h="876300">
                <a:moveTo>
                  <a:pt x="37909" y="0"/>
                </a:moveTo>
                <a:lnTo>
                  <a:pt x="5429159" y="0"/>
                </a:lnTo>
                <a:cubicBezTo>
                  <a:pt x="5492283" y="0"/>
                  <a:pt x="5543455" y="51172"/>
                  <a:pt x="5543455" y="114296"/>
                </a:cubicBezTo>
                <a:lnTo>
                  <a:pt x="5543455" y="762004"/>
                </a:lnTo>
                <a:cubicBezTo>
                  <a:pt x="5543455" y="825128"/>
                  <a:pt x="5492283" y="876300"/>
                  <a:pt x="5429159" y="876300"/>
                </a:cubicBezTo>
                <a:lnTo>
                  <a:pt x="37909" y="876300"/>
                </a:lnTo>
                <a:cubicBezTo>
                  <a:pt x="16974" y="876300"/>
                  <a:pt x="0" y="859326"/>
                  <a:pt x="0" y="838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gradFill rotWithShape="1">
            <a:gsLst>
              <a:gs pos="0">
                <a:srgbClr val="F0FDF4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399911" y="1898890"/>
            <a:ext cx="37909" cy="876300"/>
          </a:xfrm>
          <a:custGeom>
            <a:avLst/>
            <a:gdLst/>
            <a:ahLst/>
            <a:cxnLst/>
            <a:rect l="l" t="t" r="r" b="b"/>
            <a:pathLst>
              <a:path w="37909" h="876300">
                <a:moveTo>
                  <a:pt x="37909" y="0"/>
                </a:moveTo>
                <a:lnTo>
                  <a:pt x="37909" y="0"/>
                </a:lnTo>
                <a:lnTo>
                  <a:pt x="37909" y="876300"/>
                </a:lnTo>
                <a:lnTo>
                  <a:pt x="37909" y="876300"/>
                </a:lnTo>
                <a:cubicBezTo>
                  <a:pt x="16974" y="876300"/>
                  <a:pt x="0" y="859326"/>
                  <a:pt x="0" y="838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00C95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09307" y="21083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0C95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753531" y="2234758"/>
            <a:ext cx="168697" cy="204267"/>
          </a:xfrm>
          <a:custGeom>
            <a:avLst/>
            <a:gdLst/>
            <a:ahLst/>
            <a:cxnLst/>
            <a:rect l="l" t="t" r="r" b="b"/>
            <a:pathLst>
              <a:path w="168697" h="204267">
                <a:moveTo>
                  <a:pt x="127061" y="3200"/>
                </a:moveTo>
                <a:cubicBezTo>
                  <a:pt x="131490" y="6399"/>
                  <a:pt x="133127" y="12204"/>
                  <a:pt x="131118" y="17264"/>
                </a:cubicBezTo>
                <a:lnTo>
                  <a:pt x="101948" y="90227"/>
                </a:lnTo>
                <a:lnTo>
                  <a:pt x="155786" y="90227"/>
                </a:lnTo>
                <a:cubicBezTo>
                  <a:pt x="160809" y="90227"/>
                  <a:pt x="165274" y="93352"/>
                  <a:pt x="166986" y="98077"/>
                </a:cubicBezTo>
                <a:cubicBezTo>
                  <a:pt x="168697" y="102804"/>
                  <a:pt x="167245" y="108085"/>
                  <a:pt x="163414" y="111286"/>
                </a:cubicBezTo>
                <a:lnTo>
                  <a:pt x="56258" y="200583"/>
                </a:lnTo>
                <a:cubicBezTo>
                  <a:pt x="52053" y="204080"/>
                  <a:pt x="46063" y="204266"/>
                  <a:pt x="41635" y="201066"/>
                </a:cubicBezTo>
                <a:cubicBezTo>
                  <a:pt x="37208" y="197867"/>
                  <a:pt x="35571" y="192062"/>
                  <a:pt x="37580" y="187002"/>
                </a:cubicBezTo>
                <a:lnTo>
                  <a:pt x="66750" y="114039"/>
                </a:lnTo>
                <a:lnTo>
                  <a:pt x="12911" y="114039"/>
                </a:lnTo>
                <a:cubicBezTo>
                  <a:pt x="7888" y="114039"/>
                  <a:pt x="3423" y="110914"/>
                  <a:pt x="1712" y="106189"/>
                </a:cubicBezTo>
                <a:cubicBezTo>
                  <a:pt x="0" y="101462"/>
                  <a:pt x="1451" y="96181"/>
                  <a:pt x="5284" y="92980"/>
                </a:cubicBezTo>
                <a:lnTo>
                  <a:pt x="112440" y="3683"/>
                </a:lnTo>
                <a:cubicBezTo>
                  <a:pt x="116644" y="186"/>
                  <a:pt x="122635" y="0"/>
                  <a:pt x="127061" y="320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18836" y="2089334"/>
            <a:ext cx="9429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L1 Cache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18836" y="2356039"/>
            <a:ext cx="9239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L1 Cache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948054" y="2165525"/>
            <a:ext cx="9525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0A6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~1 ns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399911" y="2965495"/>
            <a:ext cx="5543455" cy="876300"/>
          </a:xfrm>
          <a:custGeom>
            <a:avLst/>
            <a:gdLst/>
            <a:ahLst/>
            <a:cxnLst/>
            <a:rect l="l" t="t" r="r" b="b"/>
            <a:pathLst>
              <a:path w="5543455" h="876300">
                <a:moveTo>
                  <a:pt x="37909" y="0"/>
                </a:moveTo>
                <a:lnTo>
                  <a:pt x="5429159" y="0"/>
                </a:lnTo>
                <a:cubicBezTo>
                  <a:pt x="5492283" y="0"/>
                  <a:pt x="5543455" y="51172"/>
                  <a:pt x="5543455" y="114296"/>
                </a:cubicBezTo>
                <a:lnTo>
                  <a:pt x="5543455" y="762004"/>
                </a:lnTo>
                <a:cubicBezTo>
                  <a:pt x="5543455" y="825128"/>
                  <a:pt x="5492283" y="876300"/>
                  <a:pt x="5429159" y="876300"/>
                </a:cubicBezTo>
                <a:lnTo>
                  <a:pt x="37909" y="876300"/>
                </a:lnTo>
                <a:cubicBezTo>
                  <a:pt x="16974" y="876300"/>
                  <a:pt x="0" y="859326"/>
                  <a:pt x="0" y="8383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gradFill rotWithShape="1">
            <a:gsLst>
              <a:gs pos="0">
                <a:srgbClr val="FEFCE8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399911" y="2965495"/>
            <a:ext cx="37909" cy="876300"/>
          </a:xfrm>
          <a:custGeom>
            <a:avLst/>
            <a:gdLst/>
            <a:ahLst/>
            <a:cxnLst/>
            <a:rect l="l" t="t" r="r" b="b"/>
            <a:pathLst>
              <a:path w="37909" h="876300">
                <a:moveTo>
                  <a:pt x="37909" y="0"/>
                </a:moveTo>
                <a:lnTo>
                  <a:pt x="37909" y="0"/>
                </a:lnTo>
                <a:lnTo>
                  <a:pt x="37909" y="876300"/>
                </a:lnTo>
                <a:lnTo>
                  <a:pt x="37909" y="876300"/>
                </a:lnTo>
                <a:cubicBezTo>
                  <a:pt x="16974" y="876300"/>
                  <a:pt x="0" y="859326"/>
                  <a:pt x="0" y="8383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0B1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609307" y="31749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0B1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753531" y="3301358"/>
            <a:ext cx="168697" cy="204267"/>
          </a:xfrm>
          <a:custGeom>
            <a:avLst/>
            <a:gdLst/>
            <a:ahLst/>
            <a:cxnLst/>
            <a:rect l="l" t="t" r="r" b="b"/>
            <a:pathLst>
              <a:path w="168697" h="204267">
                <a:moveTo>
                  <a:pt x="127061" y="3200"/>
                </a:moveTo>
                <a:cubicBezTo>
                  <a:pt x="131490" y="6399"/>
                  <a:pt x="133127" y="12204"/>
                  <a:pt x="131118" y="17264"/>
                </a:cubicBezTo>
                <a:lnTo>
                  <a:pt x="101948" y="90227"/>
                </a:lnTo>
                <a:lnTo>
                  <a:pt x="155786" y="90227"/>
                </a:lnTo>
                <a:cubicBezTo>
                  <a:pt x="160809" y="90227"/>
                  <a:pt x="165274" y="93352"/>
                  <a:pt x="166986" y="98077"/>
                </a:cubicBezTo>
                <a:cubicBezTo>
                  <a:pt x="168697" y="102804"/>
                  <a:pt x="167245" y="108085"/>
                  <a:pt x="163414" y="111286"/>
                </a:cubicBezTo>
                <a:lnTo>
                  <a:pt x="56258" y="200583"/>
                </a:lnTo>
                <a:cubicBezTo>
                  <a:pt x="52053" y="204080"/>
                  <a:pt x="46063" y="204266"/>
                  <a:pt x="41635" y="201066"/>
                </a:cubicBezTo>
                <a:cubicBezTo>
                  <a:pt x="37208" y="197867"/>
                  <a:pt x="35571" y="192062"/>
                  <a:pt x="37580" y="187002"/>
                </a:cubicBezTo>
                <a:lnTo>
                  <a:pt x="66750" y="114039"/>
                </a:lnTo>
                <a:lnTo>
                  <a:pt x="12911" y="114039"/>
                </a:lnTo>
                <a:cubicBezTo>
                  <a:pt x="7888" y="114039"/>
                  <a:pt x="3423" y="110914"/>
                  <a:pt x="1712" y="106189"/>
                </a:cubicBezTo>
                <a:cubicBezTo>
                  <a:pt x="0" y="101462"/>
                  <a:pt x="1451" y="96181"/>
                  <a:pt x="5284" y="92980"/>
                </a:cubicBezTo>
                <a:lnTo>
                  <a:pt x="112440" y="3683"/>
                </a:lnTo>
                <a:cubicBezTo>
                  <a:pt x="116644" y="186"/>
                  <a:pt x="122635" y="0"/>
                  <a:pt x="127061" y="320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18836" y="3155934"/>
            <a:ext cx="9429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Cache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8836" y="3422639"/>
            <a:ext cx="9239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L2 Cache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948054" y="3232125"/>
            <a:ext cx="9525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D08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~4 ns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399911" y="4032095"/>
            <a:ext cx="5543455" cy="876300"/>
          </a:xfrm>
          <a:custGeom>
            <a:avLst/>
            <a:gdLst/>
            <a:ahLst/>
            <a:cxnLst/>
            <a:rect l="l" t="t" r="r" b="b"/>
            <a:pathLst>
              <a:path w="5543455" h="876300">
                <a:moveTo>
                  <a:pt x="37909" y="0"/>
                </a:moveTo>
                <a:lnTo>
                  <a:pt x="5429159" y="0"/>
                </a:lnTo>
                <a:cubicBezTo>
                  <a:pt x="5492283" y="0"/>
                  <a:pt x="5543455" y="51172"/>
                  <a:pt x="5543455" y="114296"/>
                </a:cubicBezTo>
                <a:lnTo>
                  <a:pt x="5543455" y="762004"/>
                </a:lnTo>
                <a:cubicBezTo>
                  <a:pt x="5543455" y="825128"/>
                  <a:pt x="5492283" y="876300"/>
                  <a:pt x="5429159" y="876300"/>
                </a:cubicBezTo>
                <a:lnTo>
                  <a:pt x="37909" y="876300"/>
                </a:lnTo>
                <a:cubicBezTo>
                  <a:pt x="16974" y="876300"/>
                  <a:pt x="0" y="859326"/>
                  <a:pt x="0" y="8383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gradFill rotWithShape="1">
            <a:gsLst>
              <a:gs pos="0">
                <a:srgbClr val="FEF2F2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399911" y="4032095"/>
            <a:ext cx="37909" cy="876300"/>
          </a:xfrm>
          <a:custGeom>
            <a:avLst/>
            <a:gdLst/>
            <a:ahLst/>
            <a:cxnLst/>
            <a:rect l="l" t="t" r="r" b="b"/>
            <a:pathLst>
              <a:path w="37909" h="876300">
                <a:moveTo>
                  <a:pt x="37909" y="0"/>
                </a:moveTo>
                <a:lnTo>
                  <a:pt x="37909" y="0"/>
                </a:lnTo>
                <a:lnTo>
                  <a:pt x="37909" y="876300"/>
                </a:lnTo>
                <a:lnTo>
                  <a:pt x="37909" y="876300"/>
                </a:lnTo>
                <a:cubicBezTo>
                  <a:pt x="16974" y="876300"/>
                  <a:pt x="0" y="859326"/>
                  <a:pt x="0" y="8383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09307" y="42415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742630" y="4398654"/>
            <a:ext cx="190500" cy="142875"/>
          </a:xfrm>
          <a:custGeom>
            <a:avLst/>
            <a:gdLst/>
            <a:ahLst/>
            <a:cxnLst/>
            <a:rect l="l" t="t" r="r" b="b"/>
            <a:pathLst>
              <a:path w="190500" h="142875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26565"/>
                </a:lnTo>
                <a:cubicBezTo>
                  <a:pt x="0" y="29095"/>
                  <a:pt x="1637" y="31253"/>
                  <a:pt x="3758" y="32630"/>
                </a:cubicBezTo>
                <a:cubicBezTo>
                  <a:pt x="8669" y="35830"/>
                  <a:pt x="11906" y="41337"/>
                  <a:pt x="11906" y="47624"/>
                </a:cubicBezTo>
                <a:cubicBezTo>
                  <a:pt x="11906" y="53912"/>
                  <a:pt x="8669" y="59419"/>
                  <a:pt x="3758" y="62619"/>
                </a:cubicBezTo>
                <a:cubicBezTo>
                  <a:pt x="1637" y="63996"/>
                  <a:pt x="0" y="66154"/>
                  <a:pt x="0" y="68684"/>
                </a:cubicBezTo>
                <a:lnTo>
                  <a:pt x="0" y="89296"/>
                </a:lnTo>
                <a:lnTo>
                  <a:pt x="190500" y="89296"/>
                </a:lnTo>
                <a:lnTo>
                  <a:pt x="190500" y="68684"/>
                </a:lnTo>
                <a:cubicBezTo>
                  <a:pt x="190500" y="66154"/>
                  <a:pt x="188863" y="63996"/>
                  <a:pt x="186742" y="62619"/>
                </a:cubicBezTo>
                <a:cubicBezTo>
                  <a:pt x="181831" y="59419"/>
                  <a:pt x="178594" y="53912"/>
                  <a:pt x="178594" y="47624"/>
                </a:cubicBezTo>
                <a:cubicBezTo>
                  <a:pt x="178594" y="41337"/>
                  <a:pt x="181831" y="35830"/>
                  <a:pt x="186742" y="32630"/>
                </a:cubicBezTo>
                <a:cubicBezTo>
                  <a:pt x="188863" y="31253"/>
                  <a:pt x="190500" y="29095"/>
                  <a:pt x="190500" y="26565"/>
                </a:cubicBezTo>
                <a:lnTo>
                  <a:pt x="190500" y="23812"/>
                </a:lnTo>
                <a:cubicBezTo>
                  <a:pt x="190500" y="10678"/>
                  <a:pt x="179822" y="0"/>
                  <a:pt x="166688" y="0"/>
                </a:cubicBezTo>
                <a:lnTo>
                  <a:pt x="23812" y="0"/>
                </a:lnTo>
                <a:close/>
                <a:moveTo>
                  <a:pt x="190500" y="130968"/>
                </a:moveTo>
                <a:lnTo>
                  <a:pt x="190500" y="107156"/>
                </a:lnTo>
                <a:lnTo>
                  <a:pt x="0" y="107156"/>
                </a:lnTo>
                <a:lnTo>
                  <a:pt x="0" y="130968"/>
                </a:lnTo>
                <a:cubicBezTo>
                  <a:pt x="0" y="137554"/>
                  <a:pt x="5321" y="142874"/>
                  <a:pt x="11906" y="142874"/>
                </a:cubicBezTo>
                <a:lnTo>
                  <a:pt x="35719" y="142874"/>
                </a:lnTo>
                <a:lnTo>
                  <a:pt x="35719" y="133945"/>
                </a:lnTo>
                <a:cubicBezTo>
                  <a:pt x="35719" y="128996"/>
                  <a:pt x="39700" y="125014"/>
                  <a:pt x="44648" y="125014"/>
                </a:cubicBezTo>
                <a:cubicBezTo>
                  <a:pt x="49597" y="125014"/>
                  <a:pt x="53577" y="128996"/>
                  <a:pt x="53577" y="133945"/>
                </a:cubicBezTo>
                <a:lnTo>
                  <a:pt x="53577" y="142874"/>
                </a:lnTo>
                <a:lnTo>
                  <a:pt x="86321" y="142874"/>
                </a:lnTo>
                <a:lnTo>
                  <a:pt x="86321" y="133945"/>
                </a:lnTo>
                <a:cubicBezTo>
                  <a:pt x="86321" y="128996"/>
                  <a:pt x="90301" y="125014"/>
                  <a:pt x="95250" y="125014"/>
                </a:cubicBezTo>
                <a:cubicBezTo>
                  <a:pt x="100199" y="125014"/>
                  <a:pt x="104179" y="128996"/>
                  <a:pt x="104179" y="133945"/>
                </a:cubicBezTo>
                <a:lnTo>
                  <a:pt x="104179" y="142874"/>
                </a:lnTo>
                <a:lnTo>
                  <a:pt x="136923" y="142874"/>
                </a:lnTo>
                <a:lnTo>
                  <a:pt x="136923" y="133945"/>
                </a:lnTo>
                <a:cubicBezTo>
                  <a:pt x="136923" y="128996"/>
                  <a:pt x="140903" y="125014"/>
                  <a:pt x="145852" y="125014"/>
                </a:cubicBezTo>
                <a:cubicBezTo>
                  <a:pt x="150800" y="125014"/>
                  <a:pt x="154781" y="128996"/>
                  <a:pt x="154781" y="133945"/>
                </a:cubicBezTo>
                <a:lnTo>
                  <a:pt x="154781" y="142874"/>
                </a:lnTo>
                <a:lnTo>
                  <a:pt x="178594" y="142874"/>
                </a:lnTo>
                <a:cubicBezTo>
                  <a:pt x="185179" y="142874"/>
                  <a:pt x="190500" y="137554"/>
                  <a:pt x="190500" y="130968"/>
                </a:cubicBezTo>
                <a:close/>
                <a:moveTo>
                  <a:pt x="59531" y="35718"/>
                </a:moveTo>
                <a:lnTo>
                  <a:pt x="59531" y="59531"/>
                </a:lnTo>
                <a:cubicBezTo>
                  <a:pt x="59531" y="66116"/>
                  <a:pt x="54211" y="71437"/>
                  <a:pt x="47625" y="71437"/>
                </a:cubicBezTo>
                <a:cubicBezTo>
                  <a:pt x="41039" y="71437"/>
                  <a:pt x="35719" y="66116"/>
                  <a:pt x="35719" y="59531"/>
                </a:cubicBezTo>
                <a:lnTo>
                  <a:pt x="35719" y="35718"/>
                </a:lnTo>
                <a:cubicBezTo>
                  <a:pt x="35719" y="29133"/>
                  <a:pt x="41039" y="23812"/>
                  <a:pt x="47625" y="23812"/>
                </a:cubicBezTo>
                <a:cubicBezTo>
                  <a:pt x="54211" y="23812"/>
                  <a:pt x="59531" y="29133"/>
                  <a:pt x="59531" y="35718"/>
                </a:cubicBezTo>
                <a:close/>
                <a:moveTo>
                  <a:pt x="107156" y="35718"/>
                </a:moveTo>
                <a:lnTo>
                  <a:pt x="107156" y="59531"/>
                </a:lnTo>
                <a:cubicBezTo>
                  <a:pt x="107156" y="66116"/>
                  <a:pt x="101836" y="71437"/>
                  <a:pt x="95250" y="71437"/>
                </a:cubicBezTo>
                <a:cubicBezTo>
                  <a:pt x="88664" y="71437"/>
                  <a:pt x="83344" y="66116"/>
                  <a:pt x="83344" y="59531"/>
                </a:cubicBezTo>
                <a:lnTo>
                  <a:pt x="83344" y="35718"/>
                </a:lnTo>
                <a:cubicBezTo>
                  <a:pt x="83344" y="29133"/>
                  <a:pt x="88664" y="23812"/>
                  <a:pt x="95250" y="23812"/>
                </a:cubicBezTo>
                <a:cubicBezTo>
                  <a:pt x="101836" y="23812"/>
                  <a:pt x="107156" y="29133"/>
                  <a:pt x="107156" y="35718"/>
                </a:cubicBezTo>
                <a:close/>
                <a:moveTo>
                  <a:pt x="154781" y="35718"/>
                </a:moveTo>
                <a:lnTo>
                  <a:pt x="154781" y="59531"/>
                </a:lnTo>
                <a:cubicBezTo>
                  <a:pt x="154781" y="66116"/>
                  <a:pt x="149461" y="71437"/>
                  <a:pt x="142875" y="71437"/>
                </a:cubicBezTo>
                <a:cubicBezTo>
                  <a:pt x="136289" y="71437"/>
                  <a:pt x="130969" y="66116"/>
                  <a:pt x="130969" y="59531"/>
                </a:cubicBezTo>
                <a:lnTo>
                  <a:pt x="130969" y="35718"/>
                </a:lnTo>
                <a:cubicBezTo>
                  <a:pt x="130969" y="29133"/>
                  <a:pt x="136289" y="23812"/>
                  <a:pt x="142875" y="23812"/>
                </a:cubicBezTo>
                <a:cubicBezTo>
                  <a:pt x="149461" y="23812"/>
                  <a:pt x="154781" y="29133"/>
                  <a:pt x="154781" y="3571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218836" y="4222534"/>
            <a:ext cx="714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DRAM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218836" y="4489239"/>
            <a:ext cx="1386808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Main Memory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595605" y="4298725"/>
            <a:ext cx="130492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E700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~100 ns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399911" y="5486353"/>
            <a:ext cx="5543455" cy="647700"/>
          </a:xfrm>
          <a:custGeom>
            <a:avLst/>
            <a:gdLst/>
            <a:ahLst/>
            <a:cxnLst/>
            <a:rect l="l" t="t" r="r" b="b"/>
            <a:pathLst>
              <a:path w="5543455" h="647700">
                <a:moveTo>
                  <a:pt x="37909" y="0"/>
                </a:moveTo>
                <a:lnTo>
                  <a:pt x="5429156" y="0"/>
                </a:lnTo>
                <a:cubicBezTo>
                  <a:pt x="5492281" y="0"/>
                  <a:pt x="5543455" y="51173"/>
                  <a:pt x="5543455" y="114300"/>
                </a:cubicBezTo>
                <a:lnTo>
                  <a:pt x="5543455" y="533400"/>
                </a:lnTo>
                <a:cubicBezTo>
                  <a:pt x="5543455" y="596527"/>
                  <a:pt x="5492281" y="647700"/>
                  <a:pt x="5429156" y="647700"/>
                </a:cubicBez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399911" y="5486353"/>
            <a:ext cx="37909" cy="647700"/>
          </a:xfrm>
          <a:custGeom>
            <a:avLst/>
            <a:gdLst/>
            <a:ahLst/>
            <a:cxnLst/>
            <a:rect l="l" t="t" r="r" b="b"/>
            <a:pathLst>
              <a:path w="37909" h="647700">
                <a:moveTo>
                  <a:pt x="37909" y="0"/>
                </a:moveTo>
                <a:lnTo>
                  <a:pt x="37909" y="0"/>
                </a:lnTo>
                <a:lnTo>
                  <a:pt x="37909" y="647700"/>
                </a:ln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09307" y="5676793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Note:</a:t>
            </a:r>
            <a:r>
              <a:rPr lang="en-US" sz="15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The farther the memory level, the greater the latency</a:t>
            </a:r>
            <a:endParaRPr lang="en-US" sz="1100"/>
          </a:p>
        </p:txBody>
      </p:sp>
      <p:sp>
        <p:nvSpPr>
          <p:cNvPr id="28" name="Freeform 28"/>
          <p:cNvSpPr/>
          <p:nvPr/>
        </p:nvSpPr>
        <p:spPr>
          <a:xfrm>
            <a:off x="6248338" y="990488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3"/>
          <a:srcRect l="77" r="76"/>
          <a:stretch>
            <a:fillRect/>
          </a:stretch>
        </p:blipFill>
        <p:spPr>
          <a:xfrm>
            <a:off x="6400720" y="1921441"/>
            <a:ext cx="5257800" cy="2981325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30" name="AutoShape 30"/>
          <p:cNvSpPr/>
          <p:nvPr/>
        </p:nvSpPr>
        <p:spPr>
          <a:xfrm>
            <a:off x="6210238" y="5905370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Brown University - Memory Hierarchy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0331" y="664813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3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Latency vs Bandwidth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25361" y="1349161"/>
            <a:ext cx="5635546" cy="3754435"/>
          </a:xfrm>
          <a:custGeom>
            <a:avLst/>
            <a:gdLst/>
            <a:ahLst/>
            <a:cxnLst/>
            <a:rect l="l" t="t" r="r" b="b"/>
            <a:pathLst>
              <a:path w="5635546" h="3754435">
                <a:moveTo>
                  <a:pt x="95270" y="0"/>
                </a:moveTo>
                <a:lnTo>
                  <a:pt x="5540276" y="0"/>
                </a:lnTo>
                <a:cubicBezTo>
                  <a:pt x="5592892" y="0"/>
                  <a:pt x="5635546" y="37502"/>
                  <a:pt x="5635546" y="83762"/>
                </a:cubicBezTo>
                <a:lnTo>
                  <a:pt x="5635546" y="3670673"/>
                </a:lnTo>
                <a:cubicBezTo>
                  <a:pt x="5635546" y="3716933"/>
                  <a:pt x="5592892" y="3754435"/>
                  <a:pt x="5540276" y="3754435"/>
                </a:cubicBezTo>
                <a:lnTo>
                  <a:pt x="95270" y="3754435"/>
                </a:lnTo>
                <a:cubicBezTo>
                  <a:pt x="42654" y="3754435"/>
                  <a:pt x="0" y="3716933"/>
                  <a:pt x="0" y="3670673"/>
                </a:cubicBezTo>
                <a:lnTo>
                  <a:pt x="0" y="83762"/>
                </a:lnTo>
                <a:cubicBezTo>
                  <a:pt x="0" y="37532"/>
                  <a:pt x="42689" y="0"/>
                  <a:pt x="95270" y="0"/>
                </a:cubicBezTo>
                <a:close/>
              </a:path>
            </a:pathLst>
          </a:custGeom>
          <a:gradFill rotWithShape="1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523737" y="1500609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3" y="0"/>
                </a:moveTo>
                <a:lnTo>
                  <a:pt x="349247" y="0"/>
                </a:lnTo>
                <a:cubicBezTo>
                  <a:pt x="401819" y="0"/>
                  <a:pt x="444500" y="42681"/>
                  <a:pt x="444500" y="95253"/>
                </a:cubicBezTo>
                <a:lnTo>
                  <a:pt x="444500" y="349247"/>
                </a:lnTo>
                <a:cubicBezTo>
                  <a:pt x="444500" y="401853"/>
                  <a:pt x="401853" y="444500"/>
                  <a:pt x="349247" y="444500"/>
                </a:cubicBezTo>
                <a:lnTo>
                  <a:pt x="95253" y="444500"/>
                </a:lnTo>
                <a:cubicBezTo>
                  <a:pt x="42681" y="444500"/>
                  <a:pt x="0" y="401819"/>
                  <a:pt x="0" y="349247"/>
                </a:cubicBezTo>
                <a:lnTo>
                  <a:pt x="0" y="95253"/>
                </a:lnTo>
                <a:cubicBezTo>
                  <a:pt x="0" y="42647"/>
                  <a:pt x="42647" y="0"/>
                  <a:pt x="9525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blurRad="38100" dist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650717" y="16275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1" y="44648"/>
                </a:moveTo>
                <a:lnTo>
                  <a:pt x="86321" y="95250"/>
                </a:lnTo>
                <a:cubicBezTo>
                  <a:pt x="86321" y="98227"/>
                  <a:pt x="87809" y="101017"/>
                  <a:pt x="90301" y="102691"/>
                </a:cubicBezTo>
                <a:lnTo>
                  <a:pt x="126020" y="126503"/>
                </a:lnTo>
                <a:cubicBezTo>
                  <a:pt x="130113" y="129257"/>
                  <a:pt x="135658" y="128140"/>
                  <a:pt x="138410" y="124010"/>
                </a:cubicBezTo>
                <a:cubicBezTo>
                  <a:pt x="141163" y="119880"/>
                  <a:pt x="140047" y="114374"/>
                  <a:pt x="135917" y="111622"/>
                </a:cubicBezTo>
                <a:lnTo>
                  <a:pt x="104179" y="90488"/>
                </a:lnTo>
                <a:lnTo>
                  <a:pt x="104179" y="44648"/>
                </a:lnTo>
                <a:cubicBezTo>
                  <a:pt x="104179" y="39700"/>
                  <a:pt x="100199" y="35719"/>
                  <a:pt x="95250" y="35719"/>
                </a:cubicBezTo>
                <a:cubicBezTo>
                  <a:pt x="90301" y="35719"/>
                  <a:pt x="86321" y="39700"/>
                  <a:pt x="86321" y="446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95170" y="1595879"/>
            <a:ext cx="833438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Latency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523737" y="2583575"/>
            <a:ext cx="5238750" cy="1404938"/>
          </a:xfrm>
          <a:custGeom>
            <a:avLst/>
            <a:gdLst/>
            <a:ahLst/>
            <a:cxnLst/>
            <a:rect l="l" t="t" r="r" b="b"/>
            <a:pathLst>
              <a:path w="5238750" h="1404938">
                <a:moveTo>
                  <a:pt x="63503" y="0"/>
                </a:moveTo>
                <a:lnTo>
                  <a:pt x="5175247" y="0"/>
                </a:lnTo>
                <a:cubicBezTo>
                  <a:pt x="5210319" y="0"/>
                  <a:pt x="5238750" y="28431"/>
                  <a:pt x="5238750" y="63503"/>
                </a:cubicBezTo>
                <a:lnTo>
                  <a:pt x="5238750" y="1341434"/>
                </a:lnTo>
                <a:cubicBezTo>
                  <a:pt x="5238750" y="1376506"/>
                  <a:pt x="5210319" y="1404937"/>
                  <a:pt x="5175247" y="1404937"/>
                </a:cubicBezTo>
                <a:lnTo>
                  <a:pt x="63503" y="1404937"/>
                </a:lnTo>
                <a:cubicBezTo>
                  <a:pt x="28431" y="1404937"/>
                  <a:pt x="0" y="1376506"/>
                  <a:pt x="0" y="1341434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127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77707" y="2837544"/>
            <a:ext cx="4826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How long does a single access take?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77707" y="3218439"/>
            <a:ext cx="4810125" cy="515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36415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Measures the time to complete one independent operation, focusing on the response speed of individual requests.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6230851" y="1349161"/>
            <a:ext cx="5635546" cy="3754435"/>
          </a:xfrm>
          <a:custGeom>
            <a:avLst/>
            <a:gdLst/>
            <a:ahLst/>
            <a:cxnLst/>
            <a:rect l="l" t="t" r="r" b="b"/>
            <a:pathLst>
              <a:path w="5635546" h="3754435">
                <a:moveTo>
                  <a:pt x="95270" y="0"/>
                </a:moveTo>
                <a:lnTo>
                  <a:pt x="5540276" y="0"/>
                </a:lnTo>
                <a:cubicBezTo>
                  <a:pt x="5592892" y="0"/>
                  <a:pt x="5635546" y="37502"/>
                  <a:pt x="5635546" y="83762"/>
                </a:cubicBezTo>
                <a:lnTo>
                  <a:pt x="5635546" y="3670673"/>
                </a:lnTo>
                <a:cubicBezTo>
                  <a:pt x="5635546" y="3716933"/>
                  <a:pt x="5592892" y="3754435"/>
                  <a:pt x="5540276" y="3754435"/>
                </a:cubicBezTo>
                <a:lnTo>
                  <a:pt x="95270" y="3754435"/>
                </a:lnTo>
                <a:cubicBezTo>
                  <a:pt x="42654" y="3754435"/>
                  <a:pt x="0" y="3716933"/>
                  <a:pt x="0" y="3670673"/>
                </a:cubicBezTo>
                <a:lnTo>
                  <a:pt x="0" y="83762"/>
                </a:lnTo>
                <a:cubicBezTo>
                  <a:pt x="0" y="37532"/>
                  <a:pt x="42689" y="0"/>
                  <a:pt x="95270" y="0"/>
                </a:cubicBezTo>
                <a:close/>
              </a:path>
            </a:pathLst>
          </a:custGeom>
          <a:gradFill rotWithShape="1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6429227" y="1547493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3" y="0"/>
                </a:moveTo>
                <a:lnTo>
                  <a:pt x="349247" y="0"/>
                </a:lnTo>
                <a:cubicBezTo>
                  <a:pt x="401819" y="0"/>
                  <a:pt x="444500" y="42681"/>
                  <a:pt x="444500" y="95253"/>
                </a:cubicBezTo>
                <a:lnTo>
                  <a:pt x="444500" y="349247"/>
                </a:lnTo>
                <a:cubicBezTo>
                  <a:pt x="444500" y="401853"/>
                  <a:pt x="401853" y="444500"/>
                  <a:pt x="349247" y="444500"/>
                </a:cubicBezTo>
                <a:lnTo>
                  <a:pt x="95253" y="444500"/>
                </a:lnTo>
                <a:cubicBezTo>
                  <a:pt x="42681" y="444500"/>
                  <a:pt x="0" y="401819"/>
                  <a:pt x="0" y="349247"/>
                </a:cubicBezTo>
                <a:lnTo>
                  <a:pt x="0" y="95253"/>
                </a:lnTo>
                <a:cubicBezTo>
                  <a:pt x="0" y="42647"/>
                  <a:pt x="42647" y="0"/>
                  <a:pt x="9525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blurRad="38100" dist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6556207" y="167447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7" y="53764"/>
                  <a:pt x="134987" y="51570"/>
                </a:cubicBezTo>
                <a:cubicBezTo>
                  <a:pt x="130597" y="49374"/>
                  <a:pt x="125202" y="51159"/>
                  <a:pt x="123006" y="55550"/>
                </a:cubicBezTo>
                <a:lnTo>
                  <a:pt x="97147" y="107231"/>
                </a:lnTo>
                <a:cubicBezTo>
                  <a:pt x="96515" y="107193"/>
                  <a:pt x="95882" y="107156"/>
                  <a:pt x="95250" y="107156"/>
                </a:cubicBezTo>
                <a:cubicBezTo>
                  <a:pt x="82116" y="107156"/>
                  <a:pt x="71437" y="117834"/>
                  <a:pt x="71437" y="130969"/>
                </a:cubicBezTo>
                <a:cubicBezTo>
                  <a:pt x="71437" y="144103"/>
                  <a:pt x="82116" y="154781"/>
                  <a:pt x="95250" y="154781"/>
                </a:cubicBezTo>
                <a:close/>
                <a:moveTo>
                  <a:pt x="65484" y="53577"/>
                </a:moveTo>
                <a:cubicBezTo>
                  <a:pt x="65484" y="47007"/>
                  <a:pt x="60148" y="41673"/>
                  <a:pt x="53577" y="41673"/>
                </a:cubicBezTo>
                <a:cubicBezTo>
                  <a:pt x="47007" y="41673"/>
                  <a:pt x="41673" y="47007"/>
                  <a:pt x="41673" y="53577"/>
                </a:cubicBezTo>
                <a:cubicBezTo>
                  <a:pt x="41673" y="60148"/>
                  <a:pt x="47007" y="65484"/>
                  <a:pt x="53577" y="65484"/>
                </a:cubicBezTo>
                <a:cubicBezTo>
                  <a:pt x="60148" y="65484"/>
                  <a:pt x="65484" y="60148"/>
                  <a:pt x="65484" y="53577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3" y="88679"/>
                  <a:pt x="23813" y="95250"/>
                </a:cubicBezTo>
                <a:cubicBezTo>
                  <a:pt x="23813" y="101821"/>
                  <a:pt x="29148" y="107156"/>
                  <a:pt x="35719" y="107156"/>
                </a:cubicBezTo>
                <a:close/>
                <a:moveTo>
                  <a:pt x="166687" y="95250"/>
                </a:moveTo>
                <a:cubicBezTo>
                  <a:pt x="166687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7" y="101821"/>
                  <a:pt x="166687" y="952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000660" y="1642763"/>
            <a:ext cx="1135063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Bandwidth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429227" y="2583575"/>
            <a:ext cx="5238750" cy="1404938"/>
          </a:xfrm>
          <a:custGeom>
            <a:avLst/>
            <a:gdLst/>
            <a:ahLst/>
            <a:cxnLst/>
            <a:rect l="l" t="t" r="r" b="b"/>
            <a:pathLst>
              <a:path w="5238750" h="1404938">
                <a:moveTo>
                  <a:pt x="63503" y="0"/>
                </a:moveTo>
                <a:lnTo>
                  <a:pt x="5175247" y="0"/>
                </a:lnTo>
                <a:cubicBezTo>
                  <a:pt x="5210319" y="0"/>
                  <a:pt x="5238750" y="28431"/>
                  <a:pt x="5238750" y="63503"/>
                </a:cubicBezTo>
                <a:lnTo>
                  <a:pt x="5238750" y="1341434"/>
                </a:lnTo>
                <a:cubicBezTo>
                  <a:pt x="5238750" y="1376506"/>
                  <a:pt x="5210319" y="1404937"/>
                  <a:pt x="5175247" y="1404937"/>
                </a:cubicBezTo>
                <a:lnTo>
                  <a:pt x="63503" y="1404937"/>
                </a:lnTo>
                <a:cubicBezTo>
                  <a:pt x="28431" y="1404937"/>
                  <a:pt x="0" y="1376506"/>
                  <a:pt x="0" y="1341434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127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683197" y="2837544"/>
            <a:ext cx="4826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How much data can be processed per unit time?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83197" y="3218439"/>
            <a:ext cx="4810125" cy="515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36415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Measures the total data a system can process per unit time, focusing on overall throughput capacity.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333259" y="5302095"/>
            <a:ext cx="11541046" cy="1397000"/>
          </a:xfrm>
          <a:custGeom>
            <a:avLst/>
            <a:gdLst/>
            <a:ahLst/>
            <a:cxnLst/>
            <a:rect l="l" t="t" r="r" b="b"/>
            <a:pathLst>
              <a:path w="11541046" h="1397000">
                <a:moveTo>
                  <a:pt x="31593" y="0"/>
                </a:moveTo>
                <a:lnTo>
                  <a:pt x="11445799" y="0"/>
                </a:lnTo>
                <a:cubicBezTo>
                  <a:pt x="11498402" y="0"/>
                  <a:pt x="11541046" y="42644"/>
                  <a:pt x="11541046" y="95247"/>
                </a:cubicBezTo>
                <a:lnTo>
                  <a:pt x="11541046" y="1301753"/>
                </a:lnTo>
                <a:cubicBezTo>
                  <a:pt x="11541046" y="1354356"/>
                  <a:pt x="11498402" y="1397000"/>
                  <a:pt x="11445799" y="1397000"/>
                </a:cubicBezTo>
                <a:lnTo>
                  <a:pt x="31593" y="1397000"/>
                </a:lnTo>
                <a:cubicBezTo>
                  <a:pt x="14144" y="1397000"/>
                  <a:pt x="0" y="1382856"/>
                  <a:pt x="0" y="136540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333259" y="5302095"/>
            <a:ext cx="31593" cy="1397000"/>
          </a:xfrm>
          <a:custGeom>
            <a:avLst/>
            <a:gdLst/>
            <a:ahLst/>
            <a:cxnLst/>
            <a:rect l="l" t="t" r="r" b="b"/>
            <a:pathLst>
              <a:path w="31593" h="1397000">
                <a:moveTo>
                  <a:pt x="31593" y="0"/>
                </a:moveTo>
                <a:lnTo>
                  <a:pt x="31593" y="0"/>
                </a:lnTo>
                <a:lnTo>
                  <a:pt x="31593" y="1397000"/>
                </a:lnTo>
                <a:lnTo>
                  <a:pt x="31593" y="1397000"/>
                </a:lnTo>
                <a:cubicBezTo>
                  <a:pt x="14144" y="1397000"/>
                  <a:pt x="0" y="1382856"/>
                  <a:pt x="0" y="136540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39533" y="5492572"/>
            <a:ext cx="11223625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Analogy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539533" y="5841814"/>
            <a:ext cx="5476875" cy="666750"/>
          </a:xfrm>
          <a:custGeom>
            <a:avLst/>
            <a:gdLst/>
            <a:ahLst/>
            <a:cxnLst/>
            <a:rect l="l" t="t" r="r" b="b"/>
            <a:pathLst>
              <a:path w="5476875" h="666750">
                <a:moveTo>
                  <a:pt x="63501" y="0"/>
                </a:moveTo>
                <a:lnTo>
                  <a:pt x="5413374" y="0"/>
                </a:lnTo>
                <a:cubicBezTo>
                  <a:pt x="5448445" y="0"/>
                  <a:pt x="5476875" y="28430"/>
                  <a:pt x="5476875" y="63501"/>
                </a:cubicBezTo>
                <a:lnTo>
                  <a:pt x="5476875" y="603249"/>
                </a:lnTo>
                <a:cubicBezTo>
                  <a:pt x="5476875" y="638320"/>
                  <a:pt x="5448445" y="666750"/>
                  <a:pt x="541337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127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690331" y="6091829"/>
            <a:ext cx="190500" cy="166688"/>
          </a:xfrm>
          <a:custGeom>
            <a:avLst/>
            <a:gdLst/>
            <a:ahLst/>
            <a:cxnLst/>
            <a:rect l="l" t="t" r="r" b="b"/>
            <a:pathLst>
              <a:path w="190500" h="166688">
                <a:moveTo>
                  <a:pt x="50303" y="31774"/>
                </a:moveTo>
                <a:lnTo>
                  <a:pt x="40593" y="59531"/>
                </a:lnTo>
                <a:lnTo>
                  <a:pt x="149907" y="59531"/>
                </a:lnTo>
                <a:lnTo>
                  <a:pt x="140197" y="31774"/>
                </a:lnTo>
                <a:cubicBezTo>
                  <a:pt x="138521" y="27013"/>
                  <a:pt x="134021" y="23813"/>
                  <a:pt x="128960" y="23813"/>
                </a:cubicBezTo>
                <a:lnTo>
                  <a:pt x="61540" y="23813"/>
                </a:lnTo>
                <a:cubicBezTo>
                  <a:pt x="56479" y="23813"/>
                  <a:pt x="51979" y="27013"/>
                  <a:pt x="50303" y="31774"/>
                </a:cubicBezTo>
                <a:close/>
                <a:moveTo>
                  <a:pt x="14735" y="61317"/>
                </a:moveTo>
                <a:lnTo>
                  <a:pt x="27831" y="23925"/>
                </a:lnTo>
                <a:cubicBezTo>
                  <a:pt x="32854" y="9600"/>
                  <a:pt x="46360" y="0"/>
                  <a:pt x="61540" y="0"/>
                </a:cubicBezTo>
                <a:lnTo>
                  <a:pt x="128960" y="0"/>
                </a:lnTo>
                <a:cubicBezTo>
                  <a:pt x="144140" y="0"/>
                  <a:pt x="157646" y="9600"/>
                  <a:pt x="162669" y="23925"/>
                </a:cubicBezTo>
                <a:lnTo>
                  <a:pt x="175765" y="61317"/>
                </a:lnTo>
                <a:cubicBezTo>
                  <a:pt x="184398" y="64890"/>
                  <a:pt x="190500" y="73410"/>
                  <a:pt x="190500" y="83344"/>
                </a:cubicBezTo>
                <a:lnTo>
                  <a:pt x="190500" y="154781"/>
                </a:lnTo>
                <a:cubicBezTo>
                  <a:pt x="190500" y="161366"/>
                  <a:pt x="185179" y="166688"/>
                  <a:pt x="178594" y="166688"/>
                </a:cubicBezTo>
                <a:lnTo>
                  <a:pt x="166687" y="166688"/>
                </a:lnTo>
                <a:cubicBezTo>
                  <a:pt x="160103" y="166688"/>
                  <a:pt x="154781" y="161366"/>
                  <a:pt x="154781" y="154781"/>
                </a:cubicBezTo>
                <a:lnTo>
                  <a:pt x="154781" y="142875"/>
                </a:lnTo>
                <a:lnTo>
                  <a:pt x="35719" y="142875"/>
                </a:lnTo>
                <a:lnTo>
                  <a:pt x="35719" y="154781"/>
                </a:lnTo>
                <a:cubicBezTo>
                  <a:pt x="35719" y="161366"/>
                  <a:pt x="30397" y="166688"/>
                  <a:pt x="23813" y="166688"/>
                </a:cubicBezTo>
                <a:lnTo>
                  <a:pt x="11906" y="166688"/>
                </a:lnTo>
                <a:cubicBezTo>
                  <a:pt x="5321" y="166688"/>
                  <a:pt x="0" y="161366"/>
                  <a:pt x="0" y="154781"/>
                </a:cubicBezTo>
                <a:lnTo>
                  <a:pt x="0" y="83344"/>
                </a:lnTo>
                <a:cubicBezTo>
                  <a:pt x="0" y="73410"/>
                  <a:pt x="6102" y="64890"/>
                  <a:pt x="14735" y="61317"/>
                </a:cubicBezTo>
                <a:close/>
                <a:moveTo>
                  <a:pt x="47625" y="101203"/>
                </a:moveTo>
                <a:cubicBezTo>
                  <a:pt x="47625" y="94632"/>
                  <a:pt x="42290" y="89296"/>
                  <a:pt x="35719" y="89296"/>
                </a:cubicBezTo>
                <a:cubicBezTo>
                  <a:pt x="29148" y="89296"/>
                  <a:pt x="23813" y="94632"/>
                  <a:pt x="23813" y="101203"/>
                </a:cubicBezTo>
                <a:cubicBezTo>
                  <a:pt x="23813" y="107775"/>
                  <a:pt x="29148" y="113110"/>
                  <a:pt x="35719" y="113110"/>
                </a:cubicBezTo>
                <a:cubicBezTo>
                  <a:pt x="42290" y="113110"/>
                  <a:pt x="47625" y="107775"/>
                  <a:pt x="47625" y="101203"/>
                </a:cubicBezTo>
                <a:close/>
                <a:moveTo>
                  <a:pt x="154781" y="113110"/>
                </a:moveTo>
                <a:cubicBezTo>
                  <a:pt x="161352" y="113110"/>
                  <a:pt x="166687" y="107775"/>
                  <a:pt x="166687" y="101203"/>
                </a:cubicBezTo>
                <a:cubicBezTo>
                  <a:pt x="166687" y="94632"/>
                  <a:pt x="161352" y="89296"/>
                  <a:pt x="154781" y="89296"/>
                </a:cubicBezTo>
                <a:cubicBezTo>
                  <a:pt x="148210" y="89296"/>
                  <a:pt x="142875" y="94632"/>
                  <a:pt x="142875" y="101203"/>
                </a:cubicBezTo>
                <a:cubicBezTo>
                  <a:pt x="142875" y="107775"/>
                  <a:pt x="148210" y="113110"/>
                  <a:pt x="154781" y="11311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55513" y="5909211"/>
            <a:ext cx="2436898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Latency = Car startup time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31616" y="6191052"/>
            <a:ext cx="3288338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Time required to start moving from a standstill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6207033" y="5841814"/>
            <a:ext cx="5476875" cy="666750"/>
          </a:xfrm>
          <a:custGeom>
            <a:avLst/>
            <a:gdLst/>
            <a:ahLst/>
            <a:cxnLst/>
            <a:rect l="l" t="t" r="r" b="b"/>
            <a:pathLst>
              <a:path w="5476875" h="666750">
                <a:moveTo>
                  <a:pt x="63501" y="0"/>
                </a:moveTo>
                <a:lnTo>
                  <a:pt x="5413374" y="0"/>
                </a:lnTo>
                <a:cubicBezTo>
                  <a:pt x="5448445" y="0"/>
                  <a:pt x="5476875" y="28430"/>
                  <a:pt x="5476875" y="63501"/>
                </a:cubicBezTo>
                <a:lnTo>
                  <a:pt x="5476875" y="603249"/>
                </a:lnTo>
                <a:cubicBezTo>
                  <a:pt x="5476875" y="638320"/>
                  <a:pt x="5448445" y="666750"/>
                  <a:pt x="541337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127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6355562" y="6091829"/>
            <a:ext cx="195039" cy="166688"/>
          </a:xfrm>
          <a:custGeom>
            <a:avLst/>
            <a:gdLst/>
            <a:ahLst/>
            <a:cxnLst/>
            <a:rect l="l" t="t" r="r" b="b"/>
            <a:pathLst>
              <a:path w="195039" h="166688">
                <a:moveTo>
                  <a:pt x="85576" y="0"/>
                </a:moveTo>
                <a:lnTo>
                  <a:pt x="57224" y="0"/>
                </a:lnTo>
                <a:cubicBezTo>
                  <a:pt x="46285" y="0"/>
                  <a:pt x="36723" y="7479"/>
                  <a:pt x="34118" y="18083"/>
                </a:cubicBezTo>
                <a:lnTo>
                  <a:pt x="2790" y="144550"/>
                </a:lnTo>
                <a:cubicBezTo>
                  <a:pt x="0" y="155786"/>
                  <a:pt x="8520" y="166688"/>
                  <a:pt x="20128" y="166688"/>
                </a:cubicBezTo>
                <a:lnTo>
                  <a:pt x="85576" y="166688"/>
                </a:lnTo>
                <a:lnTo>
                  <a:pt x="85576" y="142875"/>
                </a:lnTo>
                <a:cubicBezTo>
                  <a:pt x="85576" y="136290"/>
                  <a:pt x="90896" y="130969"/>
                  <a:pt x="97482" y="130969"/>
                </a:cubicBezTo>
                <a:cubicBezTo>
                  <a:pt x="104067" y="130969"/>
                  <a:pt x="109388" y="136290"/>
                  <a:pt x="109388" y="142875"/>
                </a:cubicBezTo>
                <a:lnTo>
                  <a:pt x="109388" y="166688"/>
                </a:lnTo>
                <a:lnTo>
                  <a:pt x="174910" y="166688"/>
                </a:lnTo>
                <a:cubicBezTo>
                  <a:pt x="186518" y="166688"/>
                  <a:pt x="195038" y="155786"/>
                  <a:pt x="192248" y="144550"/>
                </a:cubicBezTo>
                <a:lnTo>
                  <a:pt x="160957" y="18083"/>
                </a:lnTo>
                <a:cubicBezTo>
                  <a:pt x="158315" y="7479"/>
                  <a:pt x="148790" y="0"/>
                  <a:pt x="137814" y="0"/>
                </a:cubicBezTo>
                <a:lnTo>
                  <a:pt x="109388" y="0"/>
                </a:lnTo>
                <a:lnTo>
                  <a:pt x="109388" y="23813"/>
                </a:lnTo>
                <a:cubicBezTo>
                  <a:pt x="109388" y="30398"/>
                  <a:pt x="104067" y="35719"/>
                  <a:pt x="97482" y="35719"/>
                </a:cubicBezTo>
                <a:cubicBezTo>
                  <a:pt x="90896" y="35719"/>
                  <a:pt x="85576" y="30398"/>
                  <a:pt x="85576" y="23813"/>
                </a:cubicBezTo>
                <a:lnTo>
                  <a:pt x="85576" y="0"/>
                </a:lnTo>
                <a:close/>
                <a:moveTo>
                  <a:pt x="109388" y="71438"/>
                </a:moveTo>
                <a:lnTo>
                  <a:pt x="109388" y="95250"/>
                </a:lnTo>
                <a:cubicBezTo>
                  <a:pt x="109388" y="101836"/>
                  <a:pt x="104067" y="107157"/>
                  <a:pt x="97482" y="107157"/>
                </a:cubicBezTo>
                <a:cubicBezTo>
                  <a:pt x="90896" y="107157"/>
                  <a:pt x="85576" y="101836"/>
                  <a:pt x="85576" y="95250"/>
                </a:cubicBezTo>
                <a:lnTo>
                  <a:pt x="85576" y="71438"/>
                </a:lnTo>
                <a:cubicBezTo>
                  <a:pt x="85576" y="64852"/>
                  <a:pt x="90896" y="59531"/>
                  <a:pt x="97482" y="59531"/>
                </a:cubicBezTo>
                <a:cubicBezTo>
                  <a:pt x="104067" y="59531"/>
                  <a:pt x="109388" y="64852"/>
                  <a:pt x="109388" y="7143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699116" y="5968798"/>
            <a:ext cx="3306529" cy="111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Bandwidth = Number of highway lanes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99117" y="6191052"/>
            <a:ext cx="3447206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Number of vehicles that can pass simultaneously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1617" y="59068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Utilization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9911" y="1172200"/>
            <a:ext cx="5543455" cy="1104900"/>
          </a:xfrm>
          <a:custGeom>
            <a:avLst/>
            <a:gdLst/>
            <a:ahLst/>
            <a:cxnLst/>
            <a:rect l="l" t="t" r="r" b="b"/>
            <a:pathLst>
              <a:path w="5543455" h="1104900">
                <a:moveTo>
                  <a:pt x="37909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3"/>
                </a:cubicBezTo>
                <a:lnTo>
                  <a:pt x="5543455" y="990597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399911" y="1172200"/>
            <a:ext cx="37909" cy="1104900"/>
          </a:xfrm>
          <a:custGeom>
            <a:avLst/>
            <a:gdLst/>
            <a:ahLst/>
            <a:cxnLst/>
            <a:rect l="l" t="t" r="r" b="b"/>
            <a:pathLst>
              <a:path w="37909" h="1104900">
                <a:moveTo>
                  <a:pt x="37909" y="0"/>
                </a:moveTo>
                <a:lnTo>
                  <a:pt x="37909" y="0"/>
                </a:lnTo>
                <a:lnTo>
                  <a:pt x="37909" y="1104900"/>
                </a:ln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47439" y="1400776"/>
            <a:ext cx="5181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Utilization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439" y="1781656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6415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Actual usage level of hardware resources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0956" y="2417580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Formula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380956" y="2874654"/>
            <a:ext cx="5562600" cy="1352550"/>
          </a:xfrm>
          <a:custGeom>
            <a:avLst/>
            <a:gdLst/>
            <a:ahLst/>
            <a:cxnLst/>
            <a:rect l="l" t="t" r="r" b="b"/>
            <a:pathLst>
              <a:path w="5562600" h="1352550">
                <a:moveTo>
                  <a:pt x="114304" y="0"/>
                </a:moveTo>
                <a:lnTo>
                  <a:pt x="5448296" y="0"/>
                </a:lnTo>
                <a:cubicBezTo>
                  <a:pt x="5511424" y="0"/>
                  <a:pt x="5562600" y="51176"/>
                  <a:pt x="5562600" y="114304"/>
                </a:cubicBezTo>
                <a:lnTo>
                  <a:pt x="5562600" y="1238246"/>
                </a:lnTo>
                <a:cubicBezTo>
                  <a:pt x="5562600" y="1301374"/>
                  <a:pt x="5511424" y="1352550"/>
                  <a:pt x="5448296" y="1352550"/>
                </a:cubicBezTo>
                <a:lnTo>
                  <a:pt x="114304" y="1352550"/>
                </a:lnTo>
                <a:cubicBezTo>
                  <a:pt x="51176" y="1352550"/>
                  <a:pt x="0" y="1301374"/>
                  <a:pt x="0" y="123824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6943" y="3107507"/>
            <a:ext cx="5543541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Utilization = Actual Performance / Theoretical Peak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609529" y="3569774"/>
            <a:ext cx="5105400" cy="18955"/>
          </a:xfrm>
          <a:custGeom>
            <a:avLst/>
            <a:gdLst/>
            <a:ahLst/>
            <a:cxnLst/>
            <a:rect l="l" t="t" r="r" b="b"/>
            <a:pathLst>
              <a:path w="5105400" h="18955">
                <a:moveTo>
                  <a:pt x="0" y="0"/>
                </a:moveTo>
                <a:lnTo>
                  <a:pt x="5105400" y="0"/>
                </a:lnTo>
                <a:lnTo>
                  <a:pt x="5105400" y="18955"/>
                </a:lnTo>
                <a:lnTo>
                  <a:pt x="0" y="18955"/>
                </a:lnTo>
                <a:lnTo>
                  <a:pt x="0" y="0"/>
                </a:lnTo>
                <a:close/>
              </a:path>
            </a:pathLst>
          </a:custGeom>
          <a:solidFill>
            <a:srgbClr val="D1D5DC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66666" y="3731635"/>
            <a:ext cx="5191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Typically expressed as a percentage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80956" y="4361701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Calculation Example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380956" y="4818771"/>
            <a:ext cx="5562600" cy="571500"/>
          </a:xfrm>
          <a:custGeom>
            <a:avLst/>
            <a:gdLst/>
            <a:ahLst/>
            <a:cxnLst/>
            <a:rect l="l" t="t" r="r" b="b"/>
            <a:pathLst>
              <a:path w="5562600" h="5715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495303"/>
                </a:lnTo>
                <a:cubicBezTo>
                  <a:pt x="5562600" y="537385"/>
                  <a:pt x="5528485" y="571500"/>
                  <a:pt x="5486403" y="571500"/>
                </a:cubicBezTo>
                <a:lnTo>
                  <a:pt x="76197" y="571500"/>
                </a:lnTo>
                <a:cubicBezTo>
                  <a:pt x="34115" y="571500"/>
                  <a:pt x="0" y="537385"/>
                  <a:pt x="0" y="49530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33338" y="4971152"/>
            <a:ext cx="3464231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GPU Theoretical Performance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774125" y="4971152"/>
            <a:ext cx="1114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TFLOPS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380956" y="5504497"/>
            <a:ext cx="5562600" cy="571500"/>
          </a:xfrm>
          <a:custGeom>
            <a:avLst/>
            <a:gdLst/>
            <a:ahLst/>
            <a:cxnLst/>
            <a:rect l="l" t="t" r="r" b="b"/>
            <a:pathLst>
              <a:path w="5562600" h="5715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495303"/>
                </a:lnTo>
                <a:cubicBezTo>
                  <a:pt x="5562600" y="537385"/>
                  <a:pt x="5528485" y="571500"/>
                  <a:pt x="5486403" y="571500"/>
                </a:cubicBezTo>
                <a:lnTo>
                  <a:pt x="76197" y="571500"/>
                </a:lnTo>
                <a:cubicBezTo>
                  <a:pt x="34115" y="571500"/>
                  <a:pt x="0" y="537385"/>
                  <a:pt x="0" y="49530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33338" y="5656878"/>
            <a:ext cx="3065647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Actual Program Performance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891558" y="5656878"/>
            <a:ext cx="9906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 TFLOPS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380956" y="6190213"/>
            <a:ext cx="5562600" cy="609600"/>
          </a:xfrm>
          <a:custGeom>
            <a:avLst/>
            <a:gdLst/>
            <a:ahLst/>
            <a:cxnLst/>
            <a:rect l="l" t="t" r="r" b="b"/>
            <a:pathLst>
              <a:path w="5562600" h="609600">
                <a:moveTo>
                  <a:pt x="76200" y="0"/>
                </a:moveTo>
                <a:lnTo>
                  <a:pt x="5486400" y="0"/>
                </a:lnTo>
                <a:cubicBezTo>
                  <a:pt x="5528456" y="0"/>
                  <a:pt x="5562600" y="34144"/>
                  <a:pt x="5562600" y="76200"/>
                </a:cubicBezTo>
                <a:lnTo>
                  <a:pt x="5562600" y="533400"/>
                </a:lnTo>
                <a:cubicBezTo>
                  <a:pt x="5562600" y="575456"/>
                  <a:pt x="5528456" y="609600"/>
                  <a:pt x="5486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533338" y="6361551"/>
            <a:ext cx="9144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Utilization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296356" y="6342594"/>
            <a:ext cx="609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50%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6248338" y="990484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rcRect l="85" r="84"/>
          <a:stretch>
            <a:fillRect/>
          </a:stretch>
        </p:blipFill>
        <p:spPr>
          <a:xfrm>
            <a:off x="6400720" y="2045238"/>
            <a:ext cx="5257800" cy="2733675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24" name="AutoShape 24"/>
          <p:cNvSpPr/>
          <p:nvPr/>
        </p:nvSpPr>
        <p:spPr>
          <a:xfrm>
            <a:off x="6210238" y="5905365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Grafana - GPU Metrics Dashboard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8558" y="571463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Why Utilization Matters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9911" y="1178060"/>
            <a:ext cx="5543455" cy="1104900"/>
          </a:xfrm>
          <a:custGeom>
            <a:avLst/>
            <a:gdLst/>
            <a:ahLst/>
            <a:cxnLst/>
            <a:rect l="l" t="t" r="r" b="b"/>
            <a:pathLst>
              <a:path w="5543455" h="1104900">
                <a:moveTo>
                  <a:pt x="37909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3"/>
                </a:cubicBezTo>
                <a:lnTo>
                  <a:pt x="5543455" y="990597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399911" y="1178060"/>
            <a:ext cx="37909" cy="1104900"/>
          </a:xfrm>
          <a:custGeom>
            <a:avLst/>
            <a:gdLst/>
            <a:ahLst/>
            <a:cxnLst/>
            <a:rect l="l" t="t" r="r" b="b"/>
            <a:pathLst>
              <a:path w="37909" h="1104900">
                <a:moveTo>
                  <a:pt x="37909" y="0"/>
                </a:moveTo>
                <a:lnTo>
                  <a:pt x="37909" y="0"/>
                </a:lnTo>
                <a:lnTo>
                  <a:pt x="37909" y="1104900"/>
                </a:ln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47439" y="1406632"/>
            <a:ext cx="5181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Even with powerful hardware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439" y="1787512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6415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 utilization is low → </a:t>
            </a: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performance will still be poor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0956" y="2323793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Common Causes of Low Utilization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380956" y="2780872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533338" y="29904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647608" y="3123716"/>
            <a:ext cx="152400" cy="114300"/>
          </a:xfrm>
          <a:custGeom>
            <a:avLst/>
            <a:gdLst/>
            <a:ahLst/>
            <a:cxnLst/>
            <a:rect l="l" t="t" r="r" b="b"/>
            <a:pathLst>
              <a:path w="152400" h="1143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21253"/>
                </a:lnTo>
                <a:cubicBezTo>
                  <a:pt x="0" y="23277"/>
                  <a:pt x="1309" y="25002"/>
                  <a:pt x="3006" y="26104"/>
                </a:cubicBezTo>
                <a:cubicBezTo>
                  <a:pt x="6935" y="28664"/>
                  <a:pt x="9525" y="33070"/>
                  <a:pt x="9525" y="38100"/>
                </a:cubicBezTo>
                <a:cubicBezTo>
                  <a:pt x="9525" y="43130"/>
                  <a:pt x="6935" y="47536"/>
                  <a:pt x="3006" y="50096"/>
                </a:cubicBezTo>
                <a:cubicBezTo>
                  <a:pt x="1309" y="51198"/>
                  <a:pt x="0" y="52923"/>
                  <a:pt x="0" y="54947"/>
                </a:cubicBezTo>
                <a:lnTo>
                  <a:pt x="0" y="71438"/>
                </a:lnTo>
                <a:lnTo>
                  <a:pt x="152400" y="71438"/>
                </a:lnTo>
                <a:lnTo>
                  <a:pt x="152400" y="54947"/>
                </a:lnTo>
                <a:cubicBezTo>
                  <a:pt x="152400" y="52923"/>
                  <a:pt x="151091" y="51198"/>
                  <a:pt x="149394" y="50096"/>
                </a:cubicBezTo>
                <a:cubicBezTo>
                  <a:pt x="145465" y="47536"/>
                  <a:pt x="142875" y="43130"/>
                  <a:pt x="142875" y="38100"/>
                </a:cubicBezTo>
                <a:cubicBezTo>
                  <a:pt x="142875" y="33070"/>
                  <a:pt x="145465" y="28664"/>
                  <a:pt x="149394" y="26104"/>
                </a:cubicBezTo>
                <a:cubicBezTo>
                  <a:pt x="151091" y="25002"/>
                  <a:pt x="152400" y="23277"/>
                  <a:pt x="152400" y="21253"/>
                </a:cubicBezTo>
                <a:lnTo>
                  <a:pt x="152400" y="19050"/>
                </a:lnTo>
                <a:cubicBezTo>
                  <a:pt x="152400" y="8543"/>
                  <a:pt x="143857" y="0"/>
                  <a:pt x="133350" y="0"/>
                </a:cubicBezTo>
                <a:lnTo>
                  <a:pt x="19050" y="0"/>
                </a:lnTo>
                <a:close/>
                <a:moveTo>
                  <a:pt x="152400" y="104775"/>
                </a:moveTo>
                <a:lnTo>
                  <a:pt x="152400" y="85725"/>
                </a:lnTo>
                <a:lnTo>
                  <a:pt x="0" y="85725"/>
                </a:lnTo>
                <a:lnTo>
                  <a:pt x="0" y="104775"/>
                </a:lnTo>
                <a:cubicBezTo>
                  <a:pt x="0" y="110044"/>
                  <a:pt x="4256" y="114300"/>
                  <a:pt x="9525" y="114300"/>
                </a:cubicBezTo>
                <a:lnTo>
                  <a:pt x="28575" y="114300"/>
                </a:lnTo>
                <a:lnTo>
                  <a:pt x="28575" y="107156"/>
                </a:lnTo>
                <a:cubicBezTo>
                  <a:pt x="28575" y="103196"/>
                  <a:pt x="31760" y="100012"/>
                  <a:pt x="35719" y="100012"/>
                </a:cubicBezTo>
                <a:cubicBezTo>
                  <a:pt x="39679" y="100012"/>
                  <a:pt x="42862" y="103196"/>
                  <a:pt x="42862" y="107156"/>
                </a:cubicBezTo>
                <a:lnTo>
                  <a:pt x="42862" y="114300"/>
                </a:lnTo>
                <a:lnTo>
                  <a:pt x="69056" y="114300"/>
                </a:lnTo>
                <a:lnTo>
                  <a:pt x="69056" y="107156"/>
                </a:lnTo>
                <a:cubicBezTo>
                  <a:pt x="69056" y="103196"/>
                  <a:pt x="72241" y="100012"/>
                  <a:pt x="76200" y="100012"/>
                </a:cubicBezTo>
                <a:cubicBezTo>
                  <a:pt x="80159" y="100012"/>
                  <a:pt x="83344" y="103196"/>
                  <a:pt x="83344" y="107156"/>
                </a:cubicBezTo>
                <a:lnTo>
                  <a:pt x="83344" y="114300"/>
                </a:lnTo>
                <a:lnTo>
                  <a:pt x="109538" y="114300"/>
                </a:lnTo>
                <a:lnTo>
                  <a:pt x="109538" y="107156"/>
                </a:lnTo>
                <a:cubicBezTo>
                  <a:pt x="109538" y="103196"/>
                  <a:pt x="112721" y="100012"/>
                  <a:pt x="116681" y="100012"/>
                </a:cubicBezTo>
                <a:cubicBezTo>
                  <a:pt x="120640" y="100012"/>
                  <a:pt x="123825" y="103196"/>
                  <a:pt x="123825" y="107156"/>
                </a:cubicBezTo>
                <a:lnTo>
                  <a:pt x="123825" y="114300"/>
                </a:lnTo>
                <a:lnTo>
                  <a:pt x="142875" y="114300"/>
                </a:lnTo>
                <a:cubicBezTo>
                  <a:pt x="148144" y="114300"/>
                  <a:pt x="152400" y="110044"/>
                  <a:pt x="152400" y="104775"/>
                </a:cubicBezTo>
                <a:close/>
                <a:moveTo>
                  <a:pt x="47625" y="28575"/>
                </a:moveTo>
                <a:lnTo>
                  <a:pt x="47625" y="47625"/>
                </a:lnTo>
                <a:cubicBezTo>
                  <a:pt x="47625" y="52894"/>
                  <a:pt x="43369" y="57150"/>
                  <a:pt x="38100" y="57150"/>
                </a:cubicBezTo>
                <a:cubicBezTo>
                  <a:pt x="32831" y="57150"/>
                  <a:pt x="28575" y="52894"/>
                  <a:pt x="28575" y="47625"/>
                </a:cubicBezTo>
                <a:lnTo>
                  <a:pt x="28575" y="28575"/>
                </a:lnTo>
                <a:cubicBezTo>
                  <a:pt x="28575" y="23306"/>
                  <a:pt x="32831" y="19050"/>
                  <a:pt x="38100" y="19050"/>
                </a:cubicBezTo>
                <a:cubicBezTo>
                  <a:pt x="43369" y="19050"/>
                  <a:pt x="47625" y="23306"/>
                  <a:pt x="47625" y="28575"/>
                </a:cubicBezTo>
                <a:close/>
                <a:moveTo>
                  <a:pt x="85725" y="28575"/>
                </a:moveTo>
                <a:lnTo>
                  <a:pt x="85725" y="47625"/>
                </a:lnTo>
                <a:cubicBezTo>
                  <a:pt x="85725" y="52894"/>
                  <a:pt x="81469" y="57150"/>
                  <a:pt x="76200" y="57150"/>
                </a:cubicBezTo>
                <a:cubicBezTo>
                  <a:pt x="70931" y="57150"/>
                  <a:pt x="66675" y="52894"/>
                  <a:pt x="66675" y="47625"/>
                </a:cubicBezTo>
                <a:lnTo>
                  <a:pt x="66675" y="28575"/>
                </a:lnTo>
                <a:cubicBezTo>
                  <a:pt x="66675" y="23306"/>
                  <a:pt x="70931" y="19050"/>
                  <a:pt x="76200" y="19050"/>
                </a:cubicBezTo>
                <a:cubicBezTo>
                  <a:pt x="81469" y="19050"/>
                  <a:pt x="85725" y="23306"/>
                  <a:pt x="85725" y="28575"/>
                </a:cubicBezTo>
                <a:close/>
                <a:moveTo>
                  <a:pt x="123825" y="28575"/>
                </a:moveTo>
                <a:lnTo>
                  <a:pt x="123825" y="47625"/>
                </a:lnTo>
                <a:cubicBezTo>
                  <a:pt x="123825" y="52894"/>
                  <a:pt x="119569" y="57150"/>
                  <a:pt x="114300" y="57150"/>
                </a:cubicBezTo>
                <a:cubicBezTo>
                  <a:pt x="109031" y="57150"/>
                  <a:pt x="104775" y="52894"/>
                  <a:pt x="104775" y="47625"/>
                </a:cubicBezTo>
                <a:lnTo>
                  <a:pt x="104775" y="28575"/>
                </a:lnTo>
                <a:cubicBezTo>
                  <a:pt x="104775" y="23306"/>
                  <a:pt x="109031" y="19050"/>
                  <a:pt x="114300" y="19050"/>
                </a:cubicBezTo>
                <a:cubicBezTo>
                  <a:pt x="119569" y="19050"/>
                  <a:pt x="123825" y="23306"/>
                  <a:pt x="123825" y="2857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66676" y="2933254"/>
            <a:ext cx="1762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Bottleneck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66676" y="3199953"/>
            <a:ext cx="4161816" cy="26656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Data supply cannot keep up with computation speed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380956" y="3695160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33338" y="3904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47608" y="401895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57150"/>
                </a:moveTo>
                <a:lnTo>
                  <a:pt x="66675" y="95250"/>
                </a:lnTo>
                <a:cubicBezTo>
                  <a:pt x="66675" y="100519"/>
                  <a:pt x="62419" y="104775"/>
                  <a:pt x="57150" y="104775"/>
                </a:cubicBezTo>
                <a:cubicBezTo>
                  <a:pt x="51881" y="104775"/>
                  <a:pt x="47625" y="100519"/>
                  <a:pt x="47625" y="95250"/>
                </a:cubicBezTo>
                <a:lnTo>
                  <a:pt x="47625" y="57150"/>
                </a:lnTo>
                <a:cubicBezTo>
                  <a:pt x="47625" y="51881"/>
                  <a:pt x="51881" y="47625"/>
                  <a:pt x="57150" y="47625"/>
                </a:cubicBezTo>
                <a:cubicBezTo>
                  <a:pt x="62419" y="47625"/>
                  <a:pt x="66675" y="51881"/>
                  <a:pt x="66675" y="57150"/>
                </a:cubicBezTo>
                <a:close/>
                <a:moveTo>
                  <a:pt x="104775" y="57150"/>
                </a:moveTo>
                <a:lnTo>
                  <a:pt x="104775" y="95250"/>
                </a:lnTo>
                <a:cubicBezTo>
                  <a:pt x="104775" y="100519"/>
                  <a:pt x="100519" y="104775"/>
                  <a:pt x="95250" y="104775"/>
                </a:cubicBezTo>
                <a:cubicBezTo>
                  <a:pt x="89981" y="104775"/>
                  <a:pt x="85725" y="100519"/>
                  <a:pt x="85725" y="95250"/>
                </a:cubicBezTo>
                <a:lnTo>
                  <a:pt x="85725" y="57150"/>
                </a:lnTo>
                <a:cubicBezTo>
                  <a:pt x="85725" y="51881"/>
                  <a:pt x="89981" y="47625"/>
                  <a:pt x="95250" y="47625"/>
                </a:cubicBezTo>
                <a:cubicBezTo>
                  <a:pt x="100519" y="47625"/>
                  <a:pt x="104775" y="51881"/>
                  <a:pt x="104775" y="571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66676" y="3847541"/>
            <a:ext cx="2262678" cy="26670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Synchronization Wait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66676" y="4114251"/>
            <a:ext cx="3739786" cy="266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Threads/processes waiting for synchronization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380956" y="4609458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533338" y="48189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28053" y="4933252"/>
            <a:ext cx="191185" cy="152400"/>
          </a:xfrm>
          <a:custGeom>
            <a:avLst/>
            <a:gdLst/>
            <a:ahLst/>
            <a:cxnLst/>
            <a:rect l="l" t="t" r="r" b="b"/>
            <a:pathLst>
              <a:path w="191185" h="152400">
                <a:moveTo>
                  <a:pt x="114805" y="9525"/>
                </a:moveTo>
                <a:lnTo>
                  <a:pt x="152905" y="9525"/>
                </a:lnTo>
                <a:cubicBezTo>
                  <a:pt x="158174" y="9525"/>
                  <a:pt x="162430" y="13781"/>
                  <a:pt x="162430" y="19050"/>
                </a:cubicBezTo>
                <a:cubicBezTo>
                  <a:pt x="162430" y="24319"/>
                  <a:pt x="158174" y="28575"/>
                  <a:pt x="152905" y="28575"/>
                </a:cubicBezTo>
                <a:lnTo>
                  <a:pt x="119091" y="28575"/>
                </a:lnTo>
                <a:cubicBezTo>
                  <a:pt x="117543" y="36255"/>
                  <a:pt x="112275" y="42595"/>
                  <a:pt x="105280" y="45631"/>
                </a:cubicBezTo>
                <a:lnTo>
                  <a:pt x="105280" y="133350"/>
                </a:lnTo>
                <a:lnTo>
                  <a:pt x="152905" y="133350"/>
                </a:lnTo>
                <a:cubicBezTo>
                  <a:pt x="158174" y="133350"/>
                  <a:pt x="162430" y="137606"/>
                  <a:pt x="162430" y="142875"/>
                </a:cubicBezTo>
                <a:cubicBezTo>
                  <a:pt x="162430" y="148144"/>
                  <a:pt x="158174" y="152400"/>
                  <a:pt x="152905" y="152400"/>
                </a:cubicBezTo>
                <a:lnTo>
                  <a:pt x="38605" y="152400"/>
                </a:lnTo>
                <a:cubicBezTo>
                  <a:pt x="33336" y="152400"/>
                  <a:pt x="29080" y="148144"/>
                  <a:pt x="29080" y="142875"/>
                </a:cubicBezTo>
                <a:cubicBezTo>
                  <a:pt x="29080" y="137606"/>
                  <a:pt x="33336" y="133350"/>
                  <a:pt x="38605" y="133350"/>
                </a:cubicBezTo>
                <a:lnTo>
                  <a:pt x="86230" y="133350"/>
                </a:lnTo>
                <a:lnTo>
                  <a:pt x="86230" y="45631"/>
                </a:lnTo>
                <a:cubicBezTo>
                  <a:pt x="79235" y="42565"/>
                  <a:pt x="73967" y="36225"/>
                  <a:pt x="72419" y="28575"/>
                </a:cubicBezTo>
                <a:lnTo>
                  <a:pt x="38605" y="28575"/>
                </a:lnTo>
                <a:cubicBezTo>
                  <a:pt x="33336" y="28575"/>
                  <a:pt x="29080" y="24319"/>
                  <a:pt x="29080" y="19050"/>
                </a:cubicBezTo>
                <a:cubicBezTo>
                  <a:pt x="29080" y="13781"/>
                  <a:pt x="33336" y="9525"/>
                  <a:pt x="38605" y="9525"/>
                </a:cubicBezTo>
                <a:lnTo>
                  <a:pt x="76705" y="9525"/>
                </a:lnTo>
                <a:cubicBezTo>
                  <a:pt x="81051" y="3750"/>
                  <a:pt x="87956" y="0"/>
                  <a:pt x="95755" y="0"/>
                </a:cubicBezTo>
                <a:cubicBezTo>
                  <a:pt x="103554" y="0"/>
                  <a:pt x="110459" y="3750"/>
                  <a:pt x="114805" y="9525"/>
                </a:cubicBezTo>
                <a:close/>
                <a:moveTo>
                  <a:pt x="131354" y="95250"/>
                </a:moveTo>
                <a:lnTo>
                  <a:pt x="174456" y="95250"/>
                </a:lnTo>
                <a:lnTo>
                  <a:pt x="152905" y="58282"/>
                </a:lnTo>
                <a:lnTo>
                  <a:pt x="131354" y="95250"/>
                </a:lnTo>
                <a:close/>
                <a:moveTo>
                  <a:pt x="152905" y="123825"/>
                </a:moveTo>
                <a:cubicBezTo>
                  <a:pt x="134181" y="123825"/>
                  <a:pt x="118615" y="113704"/>
                  <a:pt x="115401" y="100340"/>
                </a:cubicBezTo>
                <a:cubicBezTo>
                  <a:pt x="114626" y="97066"/>
                  <a:pt x="115698" y="93702"/>
                  <a:pt x="117395" y="90785"/>
                </a:cubicBezTo>
                <a:lnTo>
                  <a:pt x="145731" y="42208"/>
                </a:lnTo>
                <a:cubicBezTo>
                  <a:pt x="147220" y="39648"/>
                  <a:pt x="149959" y="38100"/>
                  <a:pt x="152905" y="38100"/>
                </a:cubicBezTo>
                <a:cubicBezTo>
                  <a:pt x="155851" y="38100"/>
                  <a:pt x="158590" y="39679"/>
                  <a:pt x="160079" y="42208"/>
                </a:cubicBezTo>
                <a:lnTo>
                  <a:pt x="188415" y="90785"/>
                </a:lnTo>
                <a:cubicBezTo>
                  <a:pt x="190112" y="93702"/>
                  <a:pt x="191184" y="97066"/>
                  <a:pt x="190409" y="100340"/>
                </a:cubicBezTo>
                <a:cubicBezTo>
                  <a:pt x="187195" y="113675"/>
                  <a:pt x="171629" y="123825"/>
                  <a:pt x="152905" y="123825"/>
                </a:cubicBezTo>
                <a:close/>
                <a:moveTo>
                  <a:pt x="38248" y="58282"/>
                </a:moveTo>
                <a:lnTo>
                  <a:pt x="16697" y="95250"/>
                </a:lnTo>
                <a:lnTo>
                  <a:pt x="59828" y="95250"/>
                </a:lnTo>
                <a:lnTo>
                  <a:pt x="38248" y="58282"/>
                </a:lnTo>
                <a:close/>
                <a:moveTo>
                  <a:pt x="773" y="100340"/>
                </a:moveTo>
                <a:cubicBezTo>
                  <a:pt x="0" y="97066"/>
                  <a:pt x="1071" y="93702"/>
                  <a:pt x="2767" y="90785"/>
                </a:cubicBezTo>
                <a:lnTo>
                  <a:pt x="31104" y="42208"/>
                </a:lnTo>
                <a:cubicBezTo>
                  <a:pt x="32592" y="39648"/>
                  <a:pt x="35331" y="38100"/>
                  <a:pt x="38279" y="38100"/>
                </a:cubicBezTo>
                <a:cubicBezTo>
                  <a:pt x="41224" y="38100"/>
                  <a:pt x="43963" y="39679"/>
                  <a:pt x="45452" y="42208"/>
                </a:cubicBezTo>
                <a:lnTo>
                  <a:pt x="73788" y="90785"/>
                </a:lnTo>
                <a:cubicBezTo>
                  <a:pt x="75485" y="93702"/>
                  <a:pt x="76556" y="97066"/>
                  <a:pt x="75782" y="100340"/>
                </a:cubicBezTo>
                <a:cubicBezTo>
                  <a:pt x="72569" y="113675"/>
                  <a:pt x="57000" y="123825"/>
                  <a:pt x="38279" y="123825"/>
                </a:cubicBezTo>
                <a:cubicBezTo>
                  <a:pt x="19555" y="123825"/>
                  <a:pt x="3989" y="113704"/>
                  <a:pt x="773" y="10034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66676" y="4761840"/>
            <a:ext cx="1762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Load Imbalance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66676" y="5028540"/>
            <a:ext cx="3405678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Some cores idle, others overloaded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380956" y="5523747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533338" y="573329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657133" y="58475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4" y="64174"/>
                  <a:pt x="123885" y="66526"/>
                  <a:pt x="118615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5" y="68401"/>
                </a:cubicBezTo>
                <a:cubicBezTo>
                  <a:pt x="9495" y="66526"/>
                  <a:pt x="4406" y="64174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7"/>
                  <a:pt x="103495" y="0"/>
                  <a:pt x="66675" y="0"/>
                </a:cubicBezTo>
                <a:cubicBezTo>
                  <a:pt x="29855" y="0"/>
                  <a:pt x="0" y="10657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3"/>
                  <a:pt x="66675" y="61913"/>
                </a:cubicBezTo>
                <a:cubicBezTo>
                  <a:pt x="103495" y="61913"/>
                  <a:pt x="133350" y="51256"/>
                  <a:pt x="133350" y="38100"/>
                </a:cubicBezTo>
                <a:close/>
                <a:moveTo>
                  <a:pt x="118615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5" y="116026"/>
                </a:cubicBezTo>
                <a:cubicBezTo>
                  <a:pt x="9495" y="114151"/>
                  <a:pt x="4406" y="111799"/>
                  <a:pt x="0" y="108883"/>
                </a:cubicBezTo>
                <a:lnTo>
                  <a:pt x="0" y="128587"/>
                </a:lnTo>
                <a:cubicBezTo>
                  <a:pt x="0" y="141743"/>
                  <a:pt x="29855" y="152400"/>
                  <a:pt x="66675" y="152400"/>
                </a:cubicBezTo>
                <a:cubicBezTo>
                  <a:pt x="103495" y="152400"/>
                  <a:pt x="133350" y="141743"/>
                  <a:pt x="133350" y="128587"/>
                </a:cubicBezTo>
                <a:lnTo>
                  <a:pt x="133350" y="108883"/>
                </a:lnTo>
                <a:cubicBezTo>
                  <a:pt x="128944" y="111799"/>
                  <a:pt x="123885" y="114151"/>
                  <a:pt x="118615" y="11602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66676" y="5676128"/>
            <a:ext cx="1628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I/O Wait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66676" y="5942837"/>
            <a:ext cx="4161816" cy="1911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Waiting for disk or network I/O to complete</a:t>
            </a:r>
            <a:endParaRPr lang="en-US" sz="1100"/>
          </a:p>
        </p:txBody>
      </p:sp>
      <p:sp>
        <p:nvSpPr>
          <p:cNvPr id="28" name="Freeform 28"/>
          <p:cNvSpPr/>
          <p:nvPr/>
        </p:nvSpPr>
        <p:spPr>
          <a:xfrm>
            <a:off x="6248338" y="990488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3"/>
          <a:srcRect t="46" b="45"/>
          <a:stretch>
            <a:fillRect/>
          </a:stretch>
        </p:blipFill>
        <p:spPr>
          <a:xfrm>
            <a:off x="6400720" y="1617418"/>
            <a:ext cx="5257800" cy="3581400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30" name="AutoShape 30"/>
          <p:cNvSpPr/>
          <p:nvPr/>
        </p:nvSpPr>
        <p:spPr>
          <a:xfrm>
            <a:off x="6210238" y="5905370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Lambda Labs - GPU Monitoring Tools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2846" y="622613"/>
            <a:ext cx="11644243" cy="3533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Two Types of Performance Bottlenecks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62141" y="1179555"/>
            <a:ext cx="5583495" cy="4753025"/>
          </a:xfrm>
          <a:custGeom>
            <a:avLst/>
            <a:gdLst/>
            <a:ahLst/>
            <a:cxnLst/>
            <a:rect l="l" t="t" r="r" b="b"/>
            <a:pathLst>
              <a:path w="5583495" h="4753025">
                <a:moveTo>
                  <a:pt x="106040" y="0"/>
                </a:moveTo>
                <a:lnTo>
                  <a:pt x="5477455" y="0"/>
                </a:lnTo>
                <a:cubicBezTo>
                  <a:pt x="5536019" y="0"/>
                  <a:pt x="5583495" y="47476"/>
                  <a:pt x="5583495" y="106040"/>
                </a:cubicBezTo>
                <a:lnTo>
                  <a:pt x="5583495" y="4646985"/>
                </a:lnTo>
                <a:cubicBezTo>
                  <a:pt x="5583495" y="4705549"/>
                  <a:pt x="5536019" y="4753025"/>
                  <a:pt x="5477455" y="4753025"/>
                </a:cubicBezTo>
                <a:lnTo>
                  <a:pt x="106040" y="4753025"/>
                </a:lnTo>
                <a:cubicBezTo>
                  <a:pt x="47476" y="4753025"/>
                  <a:pt x="0" y="4705549"/>
                  <a:pt x="0" y="4646985"/>
                </a:cubicBezTo>
                <a:lnTo>
                  <a:pt x="0" y="106040"/>
                </a:lnTo>
                <a:cubicBezTo>
                  <a:pt x="0" y="47515"/>
                  <a:pt x="47515" y="0"/>
                  <a:pt x="106040" y="0"/>
                </a:cubicBezTo>
                <a:close/>
              </a:path>
            </a:pathLst>
          </a:custGeom>
          <a:gradFill rotWithShape="1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582942" y="1418008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blurRad="50800" dist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24276" y="1559348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72887" y="9939"/>
                </a:moveTo>
                <a:cubicBezTo>
                  <a:pt x="72887" y="4431"/>
                  <a:pt x="68456" y="0"/>
                  <a:pt x="62948" y="0"/>
                </a:cubicBezTo>
                <a:cubicBezTo>
                  <a:pt x="57440" y="0"/>
                  <a:pt x="53009" y="4431"/>
                  <a:pt x="53009" y="9939"/>
                </a:cubicBezTo>
                <a:lnTo>
                  <a:pt x="53009" y="26504"/>
                </a:lnTo>
                <a:cubicBezTo>
                  <a:pt x="38390" y="26504"/>
                  <a:pt x="26504" y="38390"/>
                  <a:pt x="26504" y="53009"/>
                </a:cubicBezTo>
                <a:lnTo>
                  <a:pt x="9939" y="53009"/>
                </a:lnTo>
                <a:cubicBezTo>
                  <a:pt x="4431" y="53009"/>
                  <a:pt x="0" y="57440"/>
                  <a:pt x="0" y="62948"/>
                </a:cubicBezTo>
                <a:cubicBezTo>
                  <a:pt x="0" y="68456"/>
                  <a:pt x="4431" y="72887"/>
                  <a:pt x="9939" y="72887"/>
                </a:cubicBezTo>
                <a:lnTo>
                  <a:pt x="26504" y="72887"/>
                </a:lnTo>
                <a:lnTo>
                  <a:pt x="26504" y="96078"/>
                </a:lnTo>
                <a:lnTo>
                  <a:pt x="9939" y="96078"/>
                </a:lnTo>
                <a:cubicBezTo>
                  <a:pt x="4431" y="96078"/>
                  <a:pt x="0" y="100509"/>
                  <a:pt x="0" y="106017"/>
                </a:cubicBezTo>
                <a:cubicBezTo>
                  <a:pt x="0" y="111525"/>
                  <a:pt x="4431" y="115957"/>
                  <a:pt x="9939" y="115957"/>
                </a:cubicBezTo>
                <a:lnTo>
                  <a:pt x="26504" y="115957"/>
                </a:lnTo>
                <a:lnTo>
                  <a:pt x="26504" y="139148"/>
                </a:lnTo>
                <a:lnTo>
                  <a:pt x="9939" y="139148"/>
                </a:lnTo>
                <a:cubicBezTo>
                  <a:pt x="4431" y="139148"/>
                  <a:pt x="0" y="143579"/>
                  <a:pt x="0" y="149087"/>
                </a:cubicBezTo>
                <a:cubicBezTo>
                  <a:pt x="0" y="154595"/>
                  <a:pt x="4431" y="159026"/>
                  <a:pt x="9939" y="159026"/>
                </a:cubicBezTo>
                <a:lnTo>
                  <a:pt x="26504" y="159026"/>
                </a:lnTo>
                <a:cubicBezTo>
                  <a:pt x="26504" y="173645"/>
                  <a:pt x="38390" y="185530"/>
                  <a:pt x="53009" y="185530"/>
                </a:cubicBezTo>
                <a:lnTo>
                  <a:pt x="53009" y="202096"/>
                </a:lnTo>
                <a:cubicBezTo>
                  <a:pt x="53009" y="207604"/>
                  <a:pt x="57440" y="212035"/>
                  <a:pt x="62948" y="212035"/>
                </a:cubicBezTo>
                <a:cubicBezTo>
                  <a:pt x="68456" y="212035"/>
                  <a:pt x="72887" y="207604"/>
                  <a:pt x="72887" y="202096"/>
                </a:cubicBezTo>
                <a:lnTo>
                  <a:pt x="72887" y="185530"/>
                </a:lnTo>
                <a:lnTo>
                  <a:pt x="96078" y="185530"/>
                </a:lnTo>
                <a:lnTo>
                  <a:pt x="96078" y="202096"/>
                </a:lnTo>
                <a:cubicBezTo>
                  <a:pt x="96078" y="207604"/>
                  <a:pt x="100509" y="212035"/>
                  <a:pt x="106017" y="212035"/>
                </a:cubicBezTo>
                <a:cubicBezTo>
                  <a:pt x="111525" y="212035"/>
                  <a:pt x="115957" y="207604"/>
                  <a:pt x="115957" y="202096"/>
                </a:cubicBezTo>
                <a:lnTo>
                  <a:pt x="115957" y="185530"/>
                </a:lnTo>
                <a:lnTo>
                  <a:pt x="139148" y="185530"/>
                </a:lnTo>
                <a:lnTo>
                  <a:pt x="139148" y="202096"/>
                </a:lnTo>
                <a:cubicBezTo>
                  <a:pt x="139148" y="207604"/>
                  <a:pt x="143579" y="212035"/>
                  <a:pt x="149087" y="212035"/>
                </a:cubicBezTo>
                <a:cubicBezTo>
                  <a:pt x="154595" y="212035"/>
                  <a:pt x="159026" y="207604"/>
                  <a:pt x="159026" y="202096"/>
                </a:cubicBezTo>
                <a:lnTo>
                  <a:pt x="159026" y="185530"/>
                </a:lnTo>
                <a:cubicBezTo>
                  <a:pt x="173645" y="185530"/>
                  <a:pt x="185530" y="173645"/>
                  <a:pt x="185530" y="159026"/>
                </a:cubicBezTo>
                <a:lnTo>
                  <a:pt x="202096" y="159026"/>
                </a:lnTo>
                <a:cubicBezTo>
                  <a:pt x="207604" y="159026"/>
                  <a:pt x="212035" y="154595"/>
                  <a:pt x="212035" y="149087"/>
                </a:cubicBezTo>
                <a:cubicBezTo>
                  <a:pt x="212035" y="143579"/>
                  <a:pt x="207604" y="139148"/>
                  <a:pt x="202096" y="139148"/>
                </a:cubicBezTo>
                <a:lnTo>
                  <a:pt x="185530" y="139148"/>
                </a:lnTo>
                <a:lnTo>
                  <a:pt x="185530" y="115957"/>
                </a:lnTo>
                <a:lnTo>
                  <a:pt x="202096" y="115957"/>
                </a:lnTo>
                <a:cubicBezTo>
                  <a:pt x="207604" y="115957"/>
                  <a:pt x="212035" y="111525"/>
                  <a:pt x="212035" y="106017"/>
                </a:cubicBezTo>
                <a:cubicBezTo>
                  <a:pt x="212035" y="100509"/>
                  <a:pt x="207604" y="96078"/>
                  <a:pt x="202096" y="96078"/>
                </a:cubicBezTo>
                <a:lnTo>
                  <a:pt x="185530" y="96078"/>
                </a:lnTo>
                <a:lnTo>
                  <a:pt x="185530" y="72887"/>
                </a:lnTo>
                <a:lnTo>
                  <a:pt x="202096" y="72887"/>
                </a:lnTo>
                <a:cubicBezTo>
                  <a:pt x="207604" y="72887"/>
                  <a:pt x="212035" y="68456"/>
                  <a:pt x="212035" y="62948"/>
                </a:cubicBezTo>
                <a:cubicBezTo>
                  <a:pt x="212035" y="57440"/>
                  <a:pt x="207604" y="53009"/>
                  <a:pt x="202096" y="53009"/>
                </a:cubicBezTo>
                <a:lnTo>
                  <a:pt x="185530" y="53009"/>
                </a:lnTo>
                <a:cubicBezTo>
                  <a:pt x="185530" y="38390"/>
                  <a:pt x="173645" y="26504"/>
                  <a:pt x="159026" y="26504"/>
                </a:cubicBezTo>
                <a:lnTo>
                  <a:pt x="159026" y="9939"/>
                </a:lnTo>
                <a:cubicBezTo>
                  <a:pt x="159026" y="4431"/>
                  <a:pt x="154595" y="0"/>
                  <a:pt x="149087" y="0"/>
                </a:cubicBezTo>
                <a:cubicBezTo>
                  <a:pt x="143579" y="0"/>
                  <a:pt x="139148" y="4431"/>
                  <a:pt x="139148" y="9939"/>
                </a:cubicBezTo>
                <a:lnTo>
                  <a:pt x="139148" y="26504"/>
                </a:lnTo>
                <a:lnTo>
                  <a:pt x="115957" y="26504"/>
                </a:lnTo>
                <a:lnTo>
                  <a:pt x="115957" y="9939"/>
                </a:lnTo>
                <a:cubicBezTo>
                  <a:pt x="115957" y="4431"/>
                  <a:pt x="111525" y="0"/>
                  <a:pt x="106017" y="0"/>
                </a:cubicBezTo>
                <a:cubicBezTo>
                  <a:pt x="100509" y="0"/>
                  <a:pt x="96078" y="4431"/>
                  <a:pt x="96078" y="9939"/>
                </a:cubicBezTo>
                <a:lnTo>
                  <a:pt x="96078" y="26504"/>
                </a:lnTo>
                <a:lnTo>
                  <a:pt x="72887" y="26504"/>
                </a:lnTo>
                <a:lnTo>
                  <a:pt x="72887" y="9939"/>
                </a:lnTo>
                <a:close/>
                <a:moveTo>
                  <a:pt x="66261" y="53009"/>
                </a:moveTo>
                <a:lnTo>
                  <a:pt x="145774" y="53009"/>
                </a:lnTo>
                <a:cubicBezTo>
                  <a:pt x="153104" y="53009"/>
                  <a:pt x="159026" y="58931"/>
                  <a:pt x="159026" y="66261"/>
                </a:cubicBezTo>
                <a:lnTo>
                  <a:pt x="159026" y="145774"/>
                </a:lnTo>
                <a:cubicBezTo>
                  <a:pt x="159026" y="153104"/>
                  <a:pt x="153104" y="159026"/>
                  <a:pt x="145774" y="159026"/>
                </a:cubicBezTo>
                <a:lnTo>
                  <a:pt x="66261" y="159026"/>
                </a:lnTo>
                <a:cubicBezTo>
                  <a:pt x="58931" y="159026"/>
                  <a:pt x="53009" y="153104"/>
                  <a:pt x="53009" y="145774"/>
                </a:cubicBezTo>
                <a:lnTo>
                  <a:pt x="53009" y="66261"/>
                </a:lnTo>
                <a:cubicBezTo>
                  <a:pt x="53009" y="58931"/>
                  <a:pt x="58931" y="53009"/>
                  <a:pt x="66261" y="53009"/>
                </a:cubicBezTo>
                <a:close/>
                <a:moveTo>
                  <a:pt x="72887" y="72887"/>
                </a:moveTo>
                <a:lnTo>
                  <a:pt x="72887" y="139148"/>
                </a:lnTo>
                <a:lnTo>
                  <a:pt x="139148" y="139148"/>
                </a:lnTo>
                <a:lnTo>
                  <a:pt x="139148" y="72887"/>
                </a:lnTo>
                <a:lnTo>
                  <a:pt x="72887" y="7288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18972" y="1400356"/>
            <a:ext cx="2292090" cy="2827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Compute Bottleneck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18972" y="1682966"/>
            <a:ext cx="1537252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Compute Bound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582942" y="2655111"/>
            <a:ext cx="5141843" cy="883478"/>
          </a:xfrm>
          <a:custGeom>
            <a:avLst/>
            <a:gdLst/>
            <a:ahLst/>
            <a:cxnLst/>
            <a:rect l="l" t="t" r="r" b="b"/>
            <a:pathLst>
              <a:path w="5141843" h="883478">
                <a:moveTo>
                  <a:pt x="70678" y="0"/>
                </a:moveTo>
                <a:lnTo>
                  <a:pt x="5071165" y="0"/>
                </a:lnTo>
                <a:cubicBezTo>
                  <a:pt x="5110201" y="0"/>
                  <a:pt x="5141843" y="31645"/>
                  <a:pt x="5141843" y="70678"/>
                </a:cubicBezTo>
                <a:lnTo>
                  <a:pt x="5141843" y="812800"/>
                </a:lnTo>
                <a:cubicBezTo>
                  <a:pt x="5141843" y="851835"/>
                  <a:pt x="5110201" y="883478"/>
                  <a:pt x="5071165" y="883478"/>
                </a:cubicBezTo>
                <a:lnTo>
                  <a:pt x="70678" y="883478"/>
                </a:lnTo>
                <a:cubicBezTo>
                  <a:pt x="31645" y="883478"/>
                  <a:pt x="0" y="851835"/>
                  <a:pt x="0" y="812800"/>
                </a:cubicBezTo>
                <a:lnTo>
                  <a:pt x="0" y="70678"/>
                </a:lnTo>
                <a:cubicBezTo>
                  <a:pt x="0" y="31645"/>
                  <a:pt x="31645" y="0"/>
                  <a:pt x="70678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59582" y="2849329"/>
            <a:ext cx="2751480" cy="2065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Characteristics: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59582" y="3149798"/>
            <a:ext cx="4859130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FLOPS-limited, compute units at full load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582942" y="3679790"/>
            <a:ext cx="5141843" cy="883478"/>
          </a:xfrm>
          <a:custGeom>
            <a:avLst/>
            <a:gdLst/>
            <a:ahLst/>
            <a:cxnLst/>
            <a:rect l="l" t="t" r="r" b="b"/>
            <a:pathLst>
              <a:path w="5141843" h="883478">
                <a:moveTo>
                  <a:pt x="70678" y="0"/>
                </a:moveTo>
                <a:lnTo>
                  <a:pt x="5071165" y="0"/>
                </a:lnTo>
                <a:cubicBezTo>
                  <a:pt x="5110201" y="0"/>
                  <a:pt x="5141843" y="31645"/>
                  <a:pt x="5141843" y="70678"/>
                </a:cubicBezTo>
                <a:lnTo>
                  <a:pt x="5141843" y="812800"/>
                </a:lnTo>
                <a:cubicBezTo>
                  <a:pt x="5141843" y="851835"/>
                  <a:pt x="5110201" y="883478"/>
                  <a:pt x="5071165" y="883478"/>
                </a:cubicBezTo>
                <a:lnTo>
                  <a:pt x="70678" y="883478"/>
                </a:lnTo>
                <a:cubicBezTo>
                  <a:pt x="31645" y="883478"/>
                  <a:pt x="0" y="851835"/>
                  <a:pt x="0" y="812800"/>
                </a:cubicBezTo>
                <a:lnTo>
                  <a:pt x="0" y="70678"/>
                </a:lnTo>
                <a:cubicBezTo>
                  <a:pt x="0" y="31645"/>
                  <a:pt x="31645" y="0"/>
                  <a:pt x="70678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59582" y="3874009"/>
            <a:ext cx="2487710" cy="2065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Optimization Approach: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59582" y="4174478"/>
            <a:ext cx="4859130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Algorithm optimization, parallelization, SIMD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00523" y="4704470"/>
            <a:ext cx="5124086" cy="494748"/>
          </a:xfrm>
          <a:custGeom>
            <a:avLst/>
            <a:gdLst/>
            <a:ahLst/>
            <a:cxnLst/>
            <a:rect l="l" t="t" r="r" b="b"/>
            <a:pathLst>
              <a:path w="5124086" h="494748">
                <a:moveTo>
                  <a:pt x="35162" y="0"/>
                </a:moveTo>
                <a:lnTo>
                  <a:pt x="5053406" y="0"/>
                </a:lnTo>
                <a:cubicBezTo>
                  <a:pt x="5092442" y="0"/>
                  <a:pt x="5124086" y="31645"/>
                  <a:pt x="5124086" y="70681"/>
                </a:cubicBezTo>
                <a:lnTo>
                  <a:pt x="5124086" y="424068"/>
                </a:lnTo>
                <a:cubicBezTo>
                  <a:pt x="5124086" y="463078"/>
                  <a:pt x="5092416" y="494748"/>
                  <a:pt x="5053406" y="494748"/>
                </a:cubicBezTo>
                <a:lnTo>
                  <a:pt x="35162" y="494748"/>
                </a:lnTo>
                <a:cubicBezTo>
                  <a:pt x="15756" y="494748"/>
                  <a:pt x="0" y="478992"/>
                  <a:pt x="0" y="459585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00523" y="4704470"/>
            <a:ext cx="35162" cy="494748"/>
          </a:xfrm>
          <a:custGeom>
            <a:avLst/>
            <a:gdLst/>
            <a:ahLst/>
            <a:cxnLst/>
            <a:rect l="l" t="t" r="r" b="b"/>
            <a:pathLst>
              <a:path w="35162" h="494748">
                <a:moveTo>
                  <a:pt x="35162" y="0"/>
                </a:moveTo>
                <a:lnTo>
                  <a:pt x="35162" y="0"/>
                </a:lnTo>
                <a:lnTo>
                  <a:pt x="35162" y="494748"/>
                </a:lnTo>
                <a:lnTo>
                  <a:pt x="35162" y="494748"/>
                </a:lnTo>
                <a:cubicBezTo>
                  <a:pt x="15756" y="494748"/>
                  <a:pt x="0" y="478992"/>
                  <a:pt x="0" y="459585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794784" y="4876576"/>
            <a:ext cx="106017" cy="145774"/>
          </a:xfrm>
          <a:custGeom>
            <a:avLst/>
            <a:gdLst/>
            <a:ahLst/>
            <a:cxnLst/>
            <a:rect l="l" t="t" r="r" b="b"/>
            <a:pathLst>
              <a:path w="106017" h="145774">
                <a:moveTo>
                  <a:pt x="80866" y="106017"/>
                </a:moveTo>
                <a:cubicBezTo>
                  <a:pt x="82881" y="99861"/>
                  <a:pt x="86912" y="94284"/>
                  <a:pt x="91468" y="89480"/>
                </a:cubicBezTo>
                <a:cubicBezTo>
                  <a:pt x="100496" y="79982"/>
                  <a:pt x="106017" y="67144"/>
                  <a:pt x="106017" y="53009"/>
                </a:cubicBezTo>
                <a:cubicBezTo>
                  <a:pt x="106017" y="23743"/>
                  <a:pt x="82274" y="0"/>
                  <a:pt x="53009" y="0"/>
                </a:cubicBezTo>
                <a:cubicBezTo>
                  <a:pt x="23743" y="0"/>
                  <a:pt x="0" y="23743"/>
                  <a:pt x="0" y="53009"/>
                </a:cubicBezTo>
                <a:cubicBezTo>
                  <a:pt x="0" y="67144"/>
                  <a:pt x="5522" y="79982"/>
                  <a:pt x="14550" y="89480"/>
                </a:cubicBezTo>
                <a:cubicBezTo>
                  <a:pt x="19105" y="94284"/>
                  <a:pt x="23164" y="99861"/>
                  <a:pt x="25152" y="106017"/>
                </a:cubicBezTo>
                <a:lnTo>
                  <a:pt x="80838" y="106017"/>
                </a:lnTo>
                <a:close/>
                <a:moveTo>
                  <a:pt x="79513" y="119270"/>
                </a:moveTo>
                <a:lnTo>
                  <a:pt x="26504" y="119270"/>
                </a:lnTo>
                <a:lnTo>
                  <a:pt x="26504" y="123687"/>
                </a:lnTo>
                <a:cubicBezTo>
                  <a:pt x="26504" y="135890"/>
                  <a:pt x="36388" y="145774"/>
                  <a:pt x="48591" y="145774"/>
                </a:cubicBezTo>
                <a:lnTo>
                  <a:pt x="57426" y="145774"/>
                </a:lnTo>
                <a:cubicBezTo>
                  <a:pt x="69629" y="145774"/>
                  <a:pt x="79513" y="135890"/>
                  <a:pt x="79513" y="123687"/>
                </a:cubicBezTo>
                <a:lnTo>
                  <a:pt x="79513" y="119270"/>
                </a:lnTo>
                <a:close/>
                <a:moveTo>
                  <a:pt x="50800" y="30922"/>
                </a:moveTo>
                <a:cubicBezTo>
                  <a:pt x="39812" y="30922"/>
                  <a:pt x="30922" y="39812"/>
                  <a:pt x="30922" y="50800"/>
                </a:cubicBezTo>
                <a:cubicBezTo>
                  <a:pt x="30922" y="54472"/>
                  <a:pt x="27968" y="57426"/>
                  <a:pt x="24296" y="57426"/>
                </a:cubicBezTo>
                <a:cubicBezTo>
                  <a:pt x="20624" y="57426"/>
                  <a:pt x="17670" y="54472"/>
                  <a:pt x="17670" y="50800"/>
                </a:cubicBezTo>
                <a:cubicBezTo>
                  <a:pt x="17670" y="32495"/>
                  <a:pt x="32495" y="17670"/>
                  <a:pt x="50800" y="17670"/>
                </a:cubicBezTo>
                <a:cubicBezTo>
                  <a:pt x="54472" y="17670"/>
                  <a:pt x="57426" y="20624"/>
                  <a:pt x="57426" y="24296"/>
                </a:cubicBezTo>
                <a:cubicBezTo>
                  <a:pt x="57426" y="27968"/>
                  <a:pt x="54472" y="30922"/>
                  <a:pt x="50800" y="3092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85308" y="4845809"/>
            <a:ext cx="4668606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Need to improve compute efficiency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6244167" y="1179555"/>
            <a:ext cx="5583495" cy="4753025"/>
          </a:xfrm>
          <a:custGeom>
            <a:avLst/>
            <a:gdLst/>
            <a:ahLst/>
            <a:cxnLst/>
            <a:rect l="l" t="t" r="r" b="b"/>
            <a:pathLst>
              <a:path w="5583495" h="4753025">
                <a:moveTo>
                  <a:pt x="106040" y="0"/>
                </a:moveTo>
                <a:lnTo>
                  <a:pt x="5477455" y="0"/>
                </a:lnTo>
                <a:cubicBezTo>
                  <a:pt x="5536019" y="0"/>
                  <a:pt x="5583495" y="47476"/>
                  <a:pt x="5583495" y="106040"/>
                </a:cubicBezTo>
                <a:lnTo>
                  <a:pt x="5583495" y="4646985"/>
                </a:lnTo>
                <a:cubicBezTo>
                  <a:pt x="5583495" y="4705549"/>
                  <a:pt x="5536019" y="4753025"/>
                  <a:pt x="5477455" y="4753025"/>
                </a:cubicBezTo>
                <a:lnTo>
                  <a:pt x="106040" y="4753025"/>
                </a:lnTo>
                <a:cubicBezTo>
                  <a:pt x="47476" y="4753025"/>
                  <a:pt x="0" y="4705549"/>
                  <a:pt x="0" y="4646985"/>
                </a:cubicBezTo>
                <a:lnTo>
                  <a:pt x="0" y="106040"/>
                </a:lnTo>
                <a:cubicBezTo>
                  <a:pt x="0" y="47515"/>
                  <a:pt x="47515" y="0"/>
                  <a:pt x="106040" y="0"/>
                </a:cubicBezTo>
                <a:close/>
              </a:path>
            </a:pathLst>
          </a:custGeom>
          <a:gradFill rotWithShape="1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6464968" y="1418008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blurRad="50800" dist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619554" y="1559348"/>
            <a:ext cx="185530" cy="212035"/>
          </a:xfrm>
          <a:custGeom>
            <a:avLst/>
            <a:gdLst/>
            <a:ahLst/>
            <a:cxnLst/>
            <a:rect l="l" t="t" r="r" b="b"/>
            <a:pathLst>
              <a:path w="185530" h="212035">
                <a:moveTo>
                  <a:pt x="185530" y="85228"/>
                </a:moveTo>
                <a:cubicBezTo>
                  <a:pt x="179401" y="89287"/>
                  <a:pt x="172361" y="92558"/>
                  <a:pt x="165031" y="95167"/>
                </a:cubicBezTo>
                <a:cubicBezTo>
                  <a:pt x="145567" y="102125"/>
                  <a:pt x="120015" y="106017"/>
                  <a:pt x="92765" y="106017"/>
                </a:cubicBezTo>
                <a:cubicBezTo>
                  <a:pt x="65515" y="106017"/>
                  <a:pt x="39922" y="102083"/>
                  <a:pt x="20499" y="95167"/>
                </a:cubicBezTo>
                <a:cubicBezTo>
                  <a:pt x="13211" y="92558"/>
                  <a:pt x="6129" y="89287"/>
                  <a:pt x="0" y="85228"/>
                </a:cubicBezTo>
                <a:lnTo>
                  <a:pt x="0" y="119270"/>
                </a:lnTo>
                <a:cubicBezTo>
                  <a:pt x="0" y="137574"/>
                  <a:pt x="41537" y="152400"/>
                  <a:pt x="92765" y="152400"/>
                </a:cubicBezTo>
                <a:cubicBezTo>
                  <a:pt x="143993" y="152400"/>
                  <a:pt x="185530" y="137574"/>
                  <a:pt x="185530" y="119270"/>
                </a:cubicBezTo>
                <a:lnTo>
                  <a:pt x="185530" y="85228"/>
                </a:lnTo>
                <a:close/>
                <a:moveTo>
                  <a:pt x="185530" y="53009"/>
                </a:moveTo>
                <a:lnTo>
                  <a:pt x="185530" y="33130"/>
                </a:lnTo>
                <a:cubicBezTo>
                  <a:pt x="185530" y="14826"/>
                  <a:pt x="143993" y="0"/>
                  <a:pt x="92765" y="0"/>
                </a:cubicBezTo>
                <a:cubicBezTo>
                  <a:pt x="41537" y="0"/>
                  <a:pt x="0" y="14826"/>
                  <a:pt x="0" y="33130"/>
                </a:cubicBezTo>
                <a:lnTo>
                  <a:pt x="0" y="53009"/>
                </a:lnTo>
                <a:cubicBezTo>
                  <a:pt x="0" y="71313"/>
                  <a:pt x="41537" y="86139"/>
                  <a:pt x="92765" y="86139"/>
                </a:cubicBezTo>
                <a:cubicBezTo>
                  <a:pt x="143993" y="86139"/>
                  <a:pt x="185530" y="71313"/>
                  <a:pt x="185530" y="53009"/>
                </a:cubicBezTo>
                <a:close/>
                <a:moveTo>
                  <a:pt x="165031" y="161428"/>
                </a:moveTo>
                <a:cubicBezTo>
                  <a:pt x="145608" y="168344"/>
                  <a:pt x="120056" y="172278"/>
                  <a:pt x="92765" y="172278"/>
                </a:cubicBezTo>
                <a:cubicBezTo>
                  <a:pt x="65474" y="172278"/>
                  <a:pt x="39922" y="168344"/>
                  <a:pt x="20499" y="161428"/>
                </a:cubicBezTo>
                <a:cubicBezTo>
                  <a:pt x="13211" y="158819"/>
                  <a:pt x="6129" y="155547"/>
                  <a:pt x="0" y="151489"/>
                </a:cubicBezTo>
                <a:lnTo>
                  <a:pt x="0" y="178904"/>
                </a:lnTo>
                <a:cubicBezTo>
                  <a:pt x="0" y="197209"/>
                  <a:pt x="41537" y="212035"/>
                  <a:pt x="92765" y="212035"/>
                </a:cubicBezTo>
                <a:cubicBezTo>
                  <a:pt x="143993" y="212035"/>
                  <a:pt x="185530" y="197209"/>
                  <a:pt x="185530" y="178904"/>
                </a:cubicBezTo>
                <a:lnTo>
                  <a:pt x="185530" y="151489"/>
                </a:lnTo>
                <a:cubicBezTo>
                  <a:pt x="179401" y="155547"/>
                  <a:pt x="172361" y="158819"/>
                  <a:pt x="165031" y="1614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100997" y="1400356"/>
            <a:ext cx="2693633" cy="2827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Memory Bottleneck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100998" y="1682966"/>
            <a:ext cx="1475409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Memory Bound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6464968" y="2655111"/>
            <a:ext cx="5141843" cy="883478"/>
          </a:xfrm>
          <a:custGeom>
            <a:avLst/>
            <a:gdLst/>
            <a:ahLst/>
            <a:cxnLst/>
            <a:rect l="l" t="t" r="r" b="b"/>
            <a:pathLst>
              <a:path w="5141843" h="883478">
                <a:moveTo>
                  <a:pt x="70678" y="0"/>
                </a:moveTo>
                <a:lnTo>
                  <a:pt x="5071165" y="0"/>
                </a:lnTo>
                <a:cubicBezTo>
                  <a:pt x="5110201" y="0"/>
                  <a:pt x="5141843" y="31645"/>
                  <a:pt x="5141843" y="70678"/>
                </a:cubicBezTo>
                <a:lnTo>
                  <a:pt x="5141843" y="812800"/>
                </a:lnTo>
                <a:cubicBezTo>
                  <a:pt x="5141843" y="851835"/>
                  <a:pt x="5110201" y="883478"/>
                  <a:pt x="5071165" y="883478"/>
                </a:cubicBezTo>
                <a:lnTo>
                  <a:pt x="70678" y="883478"/>
                </a:lnTo>
                <a:cubicBezTo>
                  <a:pt x="31645" y="883478"/>
                  <a:pt x="0" y="851835"/>
                  <a:pt x="0" y="812800"/>
                </a:cubicBezTo>
                <a:lnTo>
                  <a:pt x="0" y="70678"/>
                </a:lnTo>
                <a:cubicBezTo>
                  <a:pt x="0" y="31645"/>
                  <a:pt x="31645" y="0"/>
                  <a:pt x="70678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641607" y="2849329"/>
            <a:ext cx="1552823" cy="2065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Characteristics: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41608" y="3149798"/>
            <a:ext cx="4859130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Bandwidth-limited, insufficient data supply</a:t>
            </a:r>
            <a:endParaRPr lang="en-US" sz="1100"/>
          </a:p>
        </p:txBody>
      </p:sp>
      <p:sp>
        <p:nvSpPr>
          <p:cNvPr id="26" name="Freeform 26"/>
          <p:cNvSpPr/>
          <p:nvPr/>
        </p:nvSpPr>
        <p:spPr>
          <a:xfrm>
            <a:off x="6464968" y="3679790"/>
            <a:ext cx="5141843" cy="883478"/>
          </a:xfrm>
          <a:custGeom>
            <a:avLst/>
            <a:gdLst/>
            <a:ahLst/>
            <a:cxnLst/>
            <a:rect l="l" t="t" r="r" b="b"/>
            <a:pathLst>
              <a:path w="5141843" h="883478">
                <a:moveTo>
                  <a:pt x="70678" y="0"/>
                </a:moveTo>
                <a:lnTo>
                  <a:pt x="5071165" y="0"/>
                </a:lnTo>
                <a:cubicBezTo>
                  <a:pt x="5110201" y="0"/>
                  <a:pt x="5141843" y="31645"/>
                  <a:pt x="5141843" y="70678"/>
                </a:cubicBezTo>
                <a:lnTo>
                  <a:pt x="5141843" y="812800"/>
                </a:lnTo>
                <a:cubicBezTo>
                  <a:pt x="5141843" y="851835"/>
                  <a:pt x="5110201" y="883478"/>
                  <a:pt x="5071165" y="883478"/>
                </a:cubicBezTo>
                <a:lnTo>
                  <a:pt x="70678" y="883478"/>
                </a:lnTo>
                <a:cubicBezTo>
                  <a:pt x="31645" y="883478"/>
                  <a:pt x="0" y="851835"/>
                  <a:pt x="0" y="812800"/>
                </a:cubicBezTo>
                <a:lnTo>
                  <a:pt x="0" y="70678"/>
                </a:lnTo>
                <a:cubicBezTo>
                  <a:pt x="0" y="31645"/>
                  <a:pt x="31645" y="0"/>
                  <a:pt x="70678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641608" y="3874009"/>
            <a:ext cx="2144838" cy="2065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Optimization Approach: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641608" y="4174478"/>
            <a:ext cx="4859130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Data layout optimization, cache optimization, blocking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6482549" y="4704470"/>
            <a:ext cx="5124086" cy="494748"/>
          </a:xfrm>
          <a:custGeom>
            <a:avLst/>
            <a:gdLst/>
            <a:ahLst/>
            <a:cxnLst/>
            <a:rect l="l" t="t" r="r" b="b"/>
            <a:pathLst>
              <a:path w="5124086" h="494748">
                <a:moveTo>
                  <a:pt x="35162" y="0"/>
                </a:moveTo>
                <a:lnTo>
                  <a:pt x="5053406" y="0"/>
                </a:lnTo>
                <a:cubicBezTo>
                  <a:pt x="5092442" y="0"/>
                  <a:pt x="5124086" y="31645"/>
                  <a:pt x="5124086" y="70681"/>
                </a:cubicBezTo>
                <a:lnTo>
                  <a:pt x="5124086" y="424068"/>
                </a:lnTo>
                <a:cubicBezTo>
                  <a:pt x="5124086" y="463078"/>
                  <a:pt x="5092416" y="494748"/>
                  <a:pt x="5053406" y="494748"/>
                </a:cubicBezTo>
                <a:lnTo>
                  <a:pt x="35162" y="494748"/>
                </a:lnTo>
                <a:cubicBezTo>
                  <a:pt x="15756" y="494748"/>
                  <a:pt x="0" y="478992"/>
                  <a:pt x="0" y="459585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6482549" y="4704470"/>
            <a:ext cx="35162" cy="494748"/>
          </a:xfrm>
          <a:custGeom>
            <a:avLst/>
            <a:gdLst/>
            <a:ahLst/>
            <a:cxnLst/>
            <a:rect l="l" t="t" r="r" b="b"/>
            <a:pathLst>
              <a:path w="35162" h="494748">
                <a:moveTo>
                  <a:pt x="35162" y="0"/>
                </a:moveTo>
                <a:lnTo>
                  <a:pt x="35162" y="0"/>
                </a:lnTo>
                <a:lnTo>
                  <a:pt x="35162" y="494748"/>
                </a:lnTo>
                <a:lnTo>
                  <a:pt x="35162" y="494748"/>
                </a:lnTo>
                <a:cubicBezTo>
                  <a:pt x="15756" y="494748"/>
                  <a:pt x="0" y="478992"/>
                  <a:pt x="0" y="459585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6676810" y="4876576"/>
            <a:ext cx="106017" cy="145774"/>
          </a:xfrm>
          <a:custGeom>
            <a:avLst/>
            <a:gdLst/>
            <a:ahLst/>
            <a:cxnLst/>
            <a:rect l="l" t="t" r="r" b="b"/>
            <a:pathLst>
              <a:path w="106017" h="145774">
                <a:moveTo>
                  <a:pt x="80866" y="106017"/>
                </a:moveTo>
                <a:cubicBezTo>
                  <a:pt x="82881" y="99861"/>
                  <a:pt x="86912" y="94284"/>
                  <a:pt x="91468" y="89480"/>
                </a:cubicBezTo>
                <a:cubicBezTo>
                  <a:pt x="100496" y="79982"/>
                  <a:pt x="106017" y="67144"/>
                  <a:pt x="106017" y="53009"/>
                </a:cubicBezTo>
                <a:cubicBezTo>
                  <a:pt x="106017" y="23743"/>
                  <a:pt x="82274" y="0"/>
                  <a:pt x="53009" y="0"/>
                </a:cubicBezTo>
                <a:cubicBezTo>
                  <a:pt x="23743" y="0"/>
                  <a:pt x="0" y="23743"/>
                  <a:pt x="0" y="53009"/>
                </a:cubicBezTo>
                <a:cubicBezTo>
                  <a:pt x="0" y="67144"/>
                  <a:pt x="5522" y="79982"/>
                  <a:pt x="14550" y="89480"/>
                </a:cubicBezTo>
                <a:cubicBezTo>
                  <a:pt x="19105" y="94284"/>
                  <a:pt x="23164" y="99861"/>
                  <a:pt x="25152" y="106017"/>
                </a:cubicBezTo>
                <a:lnTo>
                  <a:pt x="80838" y="106017"/>
                </a:lnTo>
                <a:close/>
                <a:moveTo>
                  <a:pt x="79513" y="119270"/>
                </a:moveTo>
                <a:lnTo>
                  <a:pt x="26504" y="119270"/>
                </a:lnTo>
                <a:lnTo>
                  <a:pt x="26504" y="123687"/>
                </a:lnTo>
                <a:cubicBezTo>
                  <a:pt x="26504" y="135890"/>
                  <a:pt x="36388" y="145774"/>
                  <a:pt x="48591" y="145774"/>
                </a:cubicBezTo>
                <a:lnTo>
                  <a:pt x="57426" y="145774"/>
                </a:lnTo>
                <a:cubicBezTo>
                  <a:pt x="69629" y="145774"/>
                  <a:pt x="79513" y="135890"/>
                  <a:pt x="79513" y="123687"/>
                </a:cubicBezTo>
                <a:lnTo>
                  <a:pt x="79513" y="119270"/>
                </a:lnTo>
                <a:close/>
                <a:moveTo>
                  <a:pt x="50800" y="30922"/>
                </a:moveTo>
                <a:cubicBezTo>
                  <a:pt x="39812" y="30922"/>
                  <a:pt x="30922" y="39812"/>
                  <a:pt x="30922" y="50800"/>
                </a:cubicBezTo>
                <a:cubicBezTo>
                  <a:pt x="30922" y="54472"/>
                  <a:pt x="27968" y="57426"/>
                  <a:pt x="24296" y="57426"/>
                </a:cubicBezTo>
                <a:cubicBezTo>
                  <a:pt x="20624" y="57426"/>
                  <a:pt x="17670" y="54472"/>
                  <a:pt x="17670" y="50800"/>
                </a:cubicBezTo>
                <a:cubicBezTo>
                  <a:pt x="17670" y="32495"/>
                  <a:pt x="32495" y="17670"/>
                  <a:pt x="50800" y="17670"/>
                </a:cubicBezTo>
                <a:cubicBezTo>
                  <a:pt x="54472" y="17670"/>
                  <a:pt x="57426" y="20624"/>
                  <a:pt x="57426" y="24296"/>
                </a:cubicBezTo>
                <a:cubicBezTo>
                  <a:pt x="57426" y="27968"/>
                  <a:pt x="54472" y="30922"/>
                  <a:pt x="50800" y="3092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867334" y="4845809"/>
            <a:ext cx="4668606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Need to improve data access efficiency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370932" y="5901462"/>
            <a:ext cx="11467460" cy="600765"/>
          </a:xfrm>
          <a:custGeom>
            <a:avLst/>
            <a:gdLst/>
            <a:ahLst/>
            <a:cxnLst/>
            <a:rect l="l" t="t" r="r" b="b"/>
            <a:pathLst>
              <a:path w="11467460" h="600765">
                <a:moveTo>
                  <a:pt x="35162" y="0"/>
                </a:moveTo>
                <a:lnTo>
                  <a:pt x="11361443" y="0"/>
                </a:lnTo>
                <a:cubicBezTo>
                  <a:pt x="11419994" y="0"/>
                  <a:pt x="11467460" y="47465"/>
                  <a:pt x="11467460" y="106017"/>
                </a:cubicBezTo>
                <a:lnTo>
                  <a:pt x="11467460" y="494748"/>
                </a:lnTo>
                <a:cubicBezTo>
                  <a:pt x="11467460" y="553300"/>
                  <a:pt x="11419994" y="600765"/>
                  <a:pt x="11361443" y="600765"/>
                </a:cubicBezTo>
                <a:lnTo>
                  <a:pt x="35162" y="600765"/>
                </a:lnTo>
                <a:cubicBezTo>
                  <a:pt x="15743" y="600765"/>
                  <a:pt x="0" y="585022"/>
                  <a:pt x="0" y="565602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370932" y="5901462"/>
            <a:ext cx="35162" cy="600765"/>
          </a:xfrm>
          <a:custGeom>
            <a:avLst/>
            <a:gdLst/>
            <a:ahLst/>
            <a:cxnLst/>
            <a:rect l="l" t="t" r="r" b="b"/>
            <a:pathLst>
              <a:path w="35162" h="600765">
                <a:moveTo>
                  <a:pt x="35162" y="0"/>
                </a:moveTo>
                <a:lnTo>
                  <a:pt x="35162" y="0"/>
                </a:lnTo>
                <a:lnTo>
                  <a:pt x="35162" y="600765"/>
                </a:lnTo>
                <a:lnTo>
                  <a:pt x="35162" y="600765"/>
                </a:lnTo>
                <a:cubicBezTo>
                  <a:pt x="15756" y="600765"/>
                  <a:pt x="0" y="585009"/>
                  <a:pt x="0" y="565602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565154" y="6078106"/>
            <a:ext cx="11184835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Key Insight:</a:t>
            </a: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Different bottlenecks require different optimization strategies — identifying the bottleneck type is the first step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608" y="647541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Introducing the Roofline Model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9911" y="1195650"/>
            <a:ext cx="5543455" cy="1104900"/>
          </a:xfrm>
          <a:custGeom>
            <a:avLst/>
            <a:gdLst/>
            <a:ahLst/>
            <a:cxnLst/>
            <a:rect l="l" t="t" r="r" b="b"/>
            <a:pathLst>
              <a:path w="5543455" h="1104900">
                <a:moveTo>
                  <a:pt x="37909" y="0"/>
                </a:moveTo>
                <a:lnTo>
                  <a:pt x="5429153" y="0"/>
                </a:lnTo>
                <a:cubicBezTo>
                  <a:pt x="5492281" y="0"/>
                  <a:pt x="5543455" y="51175"/>
                  <a:pt x="5543455" y="114303"/>
                </a:cubicBezTo>
                <a:lnTo>
                  <a:pt x="5543455" y="990597"/>
                </a:lnTo>
                <a:cubicBezTo>
                  <a:pt x="5543455" y="1053725"/>
                  <a:pt x="5492281" y="1104900"/>
                  <a:pt x="5429153" y="1104900"/>
                </a:cubicBez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399911" y="1195650"/>
            <a:ext cx="37909" cy="1104900"/>
          </a:xfrm>
          <a:custGeom>
            <a:avLst/>
            <a:gdLst/>
            <a:ahLst/>
            <a:cxnLst/>
            <a:rect l="l" t="t" r="r" b="b"/>
            <a:pathLst>
              <a:path w="37909" h="1104900">
                <a:moveTo>
                  <a:pt x="37909" y="0"/>
                </a:moveTo>
                <a:lnTo>
                  <a:pt x="37909" y="0"/>
                </a:lnTo>
                <a:lnTo>
                  <a:pt x="37909" y="1104900"/>
                </a:lnTo>
                <a:lnTo>
                  <a:pt x="37909" y="1104900"/>
                </a:lnTo>
                <a:cubicBezTo>
                  <a:pt x="16974" y="1104900"/>
                  <a:pt x="0" y="1087926"/>
                  <a:pt x="0" y="10669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47439" y="1424222"/>
            <a:ext cx="5181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Roofline Model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439" y="1805102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6415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 visual performance analysis model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380956" y="2323793"/>
            <a:ext cx="5562600" cy="990600"/>
          </a:xfrm>
          <a:custGeom>
            <a:avLst/>
            <a:gdLst/>
            <a:ahLst/>
            <a:cxnLst/>
            <a:rect l="l" t="t" r="r" b="b"/>
            <a:pathLst>
              <a:path w="5562600" h="990600">
                <a:moveTo>
                  <a:pt x="114295" y="0"/>
                </a:moveTo>
                <a:lnTo>
                  <a:pt x="5448305" y="0"/>
                </a:lnTo>
                <a:cubicBezTo>
                  <a:pt x="5511386" y="0"/>
                  <a:pt x="5562600" y="51214"/>
                  <a:pt x="5562600" y="114295"/>
                </a:cubicBezTo>
                <a:lnTo>
                  <a:pt x="5562600" y="876305"/>
                </a:lnTo>
                <a:cubicBezTo>
                  <a:pt x="5562600" y="939386"/>
                  <a:pt x="5511386" y="990600"/>
                  <a:pt x="5448305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71396" y="2537617"/>
            <a:ext cx="3631327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Proposed by:</a:t>
            </a: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Berkeley Lab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71396" y="2895191"/>
            <a:ext cx="5257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Lawrence Berkeley National Laboratory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80956" y="3962530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Purpose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380956" y="4419609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533338" y="45719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647608" y="4686235"/>
            <a:ext cx="153323" cy="153352"/>
          </a:xfrm>
          <a:custGeom>
            <a:avLst/>
            <a:gdLst/>
            <a:ahLst/>
            <a:cxnLst/>
            <a:rect l="l" t="t" r="r" b="b"/>
            <a:pathLst>
              <a:path w="153323" h="153352">
                <a:moveTo>
                  <a:pt x="123825" y="61913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2"/>
                  <a:pt x="149602" y="149631"/>
                </a:cubicBezTo>
                <a:cubicBezTo>
                  <a:pt x="145881" y="153353"/>
                  <a:pt x="139838" y="153353"/>
                  <a:pt x="136119" y="149631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1" y="123825"/>
                  <a:pt x="0" y="96114"/>
                  <a:pt x="0" y="61913"/>
                </a:cubicBezTo>
                <a:cubicBezTo>
                  <a:pt x="0" y="27711"/>
                  <a:pt x="27711" y="0"/>
                  <a:pt x="61912" y="0"/>
                </a:cubicBezTo>
                <a:cubicBezTo>
                  <a:pt x="96114" y="0"/>
                  <a:pt x="123825" y="27711"/>
                  <a:pt x="123825" y="61913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3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3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66676" y="4571991"/>
            <a:ext cx="31813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Identify program bottleneck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66676" y="4838691"/>
            <a:ext cx="3991832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Determine if it's Compute Bound or Memory Bound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380956" y="5333898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533338" y="54862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647608" y="56005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91291" y="96768"/>
                </a:moveTo>
                <a:lnTo>
                  <a:pt x="48339" y="113288"/>
                </a:lnTo>
                <a:cubicBezTo>
                  <a:pt x="42565" y="115520"/>
                  <a:pt x="36880" y="109835"/>
                  <a:pt x="39112" y="104061"/>
                </a:cubicBezTo>
                <a:lnTo>
                  <a:pt x="55632" y="61109"/>
                </a:lnTo>
                <a:cubicBezTo>
                  <a:pt x="56614" y="58579"/>
                  <a:pt x="58579" y="56614"/>
                  <a:pt x="61109" y="55632"/>
                </a:cubicBezTo>
                <a:lnTo>
                  <a:pt x="104061" y="39112"/>
                </a:lnTo>
                <a:cubicBezTo>
                  <a:pt x="109835" y="36880"/>
                  <a:pt x="115520" y="42565"/>
                  <a:pt x="113288" y="48339"/>
                </a:cubicBezTo>
                <a:lnTo>
                  <a:pt x="96768" y="91291"/>
                </a:lnTo>
                <a:cubicBezTo>
                  <a:pt x="95816" y="93821"/>
                  <a:pt x="93821" y="95786"/>
                  <a:pt x="91291" y="96768"/>
                </a:cubicBezTo>
                <a:close/>
                <a:moveTo>
                  <a:pt x="85725" y="76200"/>
                </a:moveTo>
                <a:cubicBezTo>
                  <a:pt x="85725" y="70943"/>
                  <a:pt x="81457" y="66675"/>
                  <a:pt x="76200" y="66675"/>
                </a:cubicBezTo>
                <a:cubicBezTo>
                  <a:pt x="70943" y="66675"/>
                  <a:pt x="66675" y="70943"/>
                  <a:pt x="66675" y="76200"/>
                </a:cubicBezTo>
                <a:cubicBezTo>
                  <a:pt x="66675" y="81457"/>
                  <a:pt x="70943" y="85725"/>
                  <a:pt x="76200" y="85725"/>
                </a:cubicBezTo>
                <a:cubicBezTo>
                  <a:pt x="81457" y="85725"/>
                  <a:pt x="85725" y="81457"/>
                  <a:pt x="85725" y="7620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66676" y="5486279"/>
            <a:ext cx="2813662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Guide optimization direction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66676" y="5752988"/>
            <a:ext cx="4109062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Choose optimization strategy based on bottleneck type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248338" y="990488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 t="19" b="19"/>
          <a:stretch>
            <a:fillRect/>
          </a:stretch>
        </p:blipFill>
        <p:spPr>
          <a:xfrm>
            <a:off x="6400720" y="1399208"/>
            <a:ext cx="5257800" cy="4019550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23" name="AutoShape 23"/>
          <p:cNvSpPr/>
          <p:nvPr/>
        </p:nvSpPr>
        <p:spPr>
          <a:xfrm>
            <a:off x="6210238" y="5905370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NERSC - Roofline Performance Model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7479" y="627026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Roofline Model Axes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0433" y="1281318"/>
            <a:ext cx="5543455" cy="2495455"/>
          </a:xfrm>
          <a:custGeom>
            <a:avLst/>
            <a:gdLst/>
            <a:ahLst/>
            <a:cxnLst/>
            <a:rect l="l" t="t" r="r" b="b"/>
            <a:pathLst>
              <a:path w="5543455" h="2495455">
                <a:moveTo>
                  <a:pt x="114292" y="0"/>
                </a:moveTo>
                <a:lnTo>
                  <a:pt x="5429162" y="0"/>
                </a:lnTo>
                <a:cubicBezTo>
                  <a:pt x="5492285" y="0"/>
                  <a:pt x="5543455" y="51170"/>
                  <a:pt x="5543455" y="114292"/>
                </a:cubicBezTo>
                <a:lnTo>
                  <a:pt x="5543455" y="2381162"/>
                </a:lnTo>
                <a:cubicBezTo>
                  <a:pt x="5543455" y="2444285"/>
                  <a:pt x="5492285" y="2495455"/>
                  <a:pt x="5429162" y="2495455"/>
                </a:cubicBezTo>
                <a:lnTo>
                  <a:pt x="114292" y="2495455"/>
                </a:lnTo>
                <a:cubicBezTo>
                  <a:pt x="51170" y="2495455"/>
                  <a:pt x="0" y="2444285"/>
                  <a:pt x="0" y="2381162"/>
                </a:cubicBezTo>
                <a:lnTo>
                  <a:pt x="0" y="114292"/>
                </a:lnTo>
                <a:cubicBezTo>
                  <a:pt x="0" y="51211"/>
                  <a:pt x="51211" y="0"/>
                  <a:pt x="114292" y="0"/>
                </a:cubicBezTo>
                <a:close/>
              </a:path>
            </a:pathLst>
          </a:custGeom>
          <a:gradFill rotWithShape="1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628484" y="151936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3" y="0"/>
                </a:moveTo>
                <a:lnTo>
                  <a:pt x="419097" y="0"/>
                </a:lnTo>
                <a:cubicBezTo>
                  <a:pt x="482183" y="0"/>
                  <a:pt x="533400" y="51217"/>
                  <a:pt x="533400" y="114303"/>
                </a:cubicBezTo>
                <a:lnTo>
                  <a:pt x="533400" y="419097"/>
                </a:lnTo>
                <a:cubicBezTo>
                  <a:pt x="533400" y="482183"/>
                  <a:pt x="482183" y="533400"/>
                  <a:pt x="419097" y="533400"/>
                </a:cubicBezTo>
                <a:lnTo>
                  <a:pt x="114303" y="533400"/>
                </a:lnTo>
                <a:cubicBezTo>
                  <a:pt x="51217" y="533400"/>
                  <a:pt x="0" y="482183"/>
                  <a:pt x="0" y="4190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blurRad="50800" dist="381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9476" y="1670590"/>
            <a:ext cx="231413" cy="230877"/>
          </a:xfrm>
          <a:custGeom>
            <a:avLst/>
            <a:gdLst/>
            <a:ahLst/>
            <a:cxnLst/>
            <a:rect l="l" t="t" r="r" b="b"/>
            <a:pathLst>
              <a:path w="231413" h="230877">
                <a:moveTo>
                  <a:pt x="225787" y="182702"/>
                </a:moveTo>
                <a:lnTo>
                  <a:pt x="182925" y="225564"/>
                </a:lnTo>
                <a:cubicBezTo>
                  <a:pt x="178817" y="229672"/>
                  <a:pt x="172699" y="230877"/>
                  <a:pt x="167343" y="228645"/>
                </a:cubicBezTo>
                <a:cubicBezTo>
                  <a:pt x="161984" y="226412"/>
                  <a:pt x="158546" y="221233"/>
                  <a:pt x="158546" y="215474"/>
                </a:cubicBezTo>
                <a:lnTo>
                  <a:pt x="158546" y="186898"/>
                </a:lnTo>
                <a:lnTo>
                  <a:pt x="15672" y="186898"/>
                </a:lnTo>
                <a:cubicBezTo>
                  <a:pt x="7770" y="186898"/>
                  <a:pt x="1384" y="180514"/>
                  <a:pt x="1384" y="172611"/>
                </a:cubicBezTo>
                <a:cubicBezTo>
                  <a:pt x="1384" y="164708"/>
                  <a:pt x="7770" y="158324"/>
                  <a:pt x="15672" y="158324"/>
                </a:cubicBezTo>
                <a:lnTo>
                  <a:pt x="158546" y="158324"/>
                </a:lnTo>
                <a:lnTo>
                  <a:pt x="158546" y="129748"/>
                </a:lnTo>
                <a:cubicBezTo>
                  <a:pt x="158546" y="123989"/>
                  <a:pt x="162029" y="118766"/>
                  <a:pt x="167387" y="116533"/>
                </a:cubicBezTo>
                <a:cubicBezTo>
                  <a:pt x="172745" y="114300"/>
                  <a:pt x="178861" y="115550"/>
                  <a:pt x="182969" y="119613"/>
                </a:cubicBezTo>
                <a:lnTo>
                  <a:pt x="225832" y="162476"/>
                </a:lnTo>
                <a:cubicBezTo>
                  <a:pt x="231413" y="168057"/>
                  <a:pt x="231413" y="177119"/>
                  <a:pt x="225832" y="182702"/>
                </a:cubicBezTo>
                <a:close/>
                <a:moveTo>
                  <a:pt x="5581" y="68402"/>
                </a:moveTo>
                <a:cubicBezTo>
                  <a:pt x="0" y="62819"/>
                  <a:pt x="0" y="53757"/>
                  <a:pt x="5581" y="48176"/>
                </a:cubicBezTo>
                <a:lnTo>
                  <a:pt x="48443" y="5313"/>
                </a:lnTo>
                <a:cubicBezTo>
                  <a:pt x="52551" y="1205"/>
                  <a:pt x="58669" y="0"/>
                  <a:pt x="64025" y="2233"/>
                </a:cubicBezTo>
                <a:cubicBezTo>
                  <a:pt x="69384" y="4466"/>
                  <a:pt x="72822" y="9689"/>
                  <a:pt x="72822" y="15448"/>
                </a:cubicBezTo>
                <a:lnTo>
                  <a:pt x="72822" y="44024"/>
                </a:lnTo>
                <a:lnTo>
                  <a:pt x="215696" y="44024"/>
                </a:lnTo>
                <a:cubicBezTo>
                  <a:pt x="223598" y="44024"/>
                  <a:pt x="229984" y="50408"/>
                  <a:pt x="229984" y="58311"/>
                </a:cubicBezTo>
                <a:cubicBezTo>
                  <a:pt x="229984" y="66214"/>
                  <a:pt x="223598" y="72598"/>
                  <a:pt x="215696" y="72598"/>
                </a:cubicBezTo>
                <a:lnTo>
                  <a:pt x="72822" y="72598"/>
                </a:lnTo>
                <a:lnTo>
                  <a:pt x="72822" y="101174"/>
                </a:lnTo>
                <a:cubicBezTo>
                  <a:pt x="72822" y="106933"/>
                  <a:pt x="69339" y="112156"/>
                  <a:pt x="63981" y="114389"/>
                </a:cubicBezTo>
                <a:cubicBezTo>
                  <a:pt x="58623" y="116622"/>
                  <a:pt x="52507" y="115372"/>
                  <a:pt x="48399" y="111309"/>
                </a:cubicBezTo>
                <a:lnTo>
                  <a:pt x="5536" y="6844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314203" y="1633688"/>
            <a:ext cx="152114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X-Axis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628484" y="2205086"/>
            <a:ext cx="5067300" cy="1333500"/>
          </a:xfrm>
          <a:custGeom>
            <a:avLst/>
            <a:gdLst/>
            <a:ahLst/>
            <a:cxnLst/>
            <a:rect l="l" t="t" r="r" b="b"/>
            <a:pathLst>
              <a:path w="5067300" h="1333500">
                <a:moveTo>
                  <a:pt x="76196" y="0"/>
                </a:moveTo>
                <a:lnTo>
                  <a:pt x="4991104" y="0"/>
                </a:lnTo>
                <a:cubicBezTo>
                  <a:pt x="5033187" y="0"/>
                  <a:pt x="5067300" y="34113"/>
                  <a:pt x="5067300" y="76196"/>
                </a:cubicBezTo>
                <a:lnTo>
                  <a:pt x="5067300" y="1257304"/>
                </a:lnTo>
                <a:cubicBezTo>
                  <a:pt x="5067300" y="1299387"/>
                  <a:pt x="5033187" y="1333500"/>
                  <a:pt x="4991104" y="1333500"/>
                </a:cubicBezTo>
                <a:lnTo>
                  <a:pt x="76196" y="1333500"/>
                </a:lnTo>
                <a:cubicBezTo>
                  <a:pt x="34113" y="1333500"/>
                  <a:pt x="0" y="1299387"/>
                  <a:pt x="0" y="1257304"/>
                </a:cubicBezTo>
                <a:lnTo>
                  <a:pt x="0" y="76196"/>
                </a:lnTo>
                <a:cubicBezTo>
                  <a:pt x="0" y="34141"/>
                  <a:pt x="34141" y="0"/>
                  <a:pt x="76196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18925" y="2395530"/>
            <a:ext cx="4781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Arithmetic Intensity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8925" y="2738421"/>
            <a:ext cx="4772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= FLOPs / Byte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8925" y="3119383"/>
            <a:ext cx="4762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Arithmetic Intensity: floating-point operations per byte of data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390433" y="3910683"/>
            <a:ext cx="5543455" cy="2495455"/>
          </a:xfrm>
          <a:custGeom>
            <a:avLst/>
            <a:gdLst/>
            <a:ahLst/>
            <a:cxnLst/>
            <a:rect l="l" t="t" r="r" b="b"/>
            <a:pathLst>
              <a:path w="5543455" h="2495455">
                <a:moveTo>
                  <a:pt x="114292" y="0"/>
                </a:moveTo>
                <a:lnTo>
                  <a:pt x="5429162" y="0"/>
                </a:lnTo>
                <a:cubicBezTo>
                  <a:pt x="5492285" y="0"/>
                  <a:pt x="5543455" y="51170"/>
                  <a:pt x="5543455" y="114292"/>
                </a:cubicBezTo>
                <a:lnTo>
                  <a:pt x="5543455" y="2381162"/>
                </a:lnTo>
                <a:cubicBezTo>
                  <a:pt x="5543455" y="2444285"/>
                  <a:pt x="5492285" y="2495455"/>
                  <a:pt x="5429162" y="2495455"/>
                </a:cubicBezTo>
                <a:lnTo>
                  <a:pt x="114292" y="2495455"/>
                </a:lnTo>
                <a:cubicBezTo>
                  <a:pt x="51170" y="2495455"/>
                  <a:pt x="0" y="2444285"/>
                  <a:pt x="0" y="2381162"/>
                </a:cubicBezTo>
                <a:lnTo>
                  <a:pt x="0" y="114292"/>
                </a:lnTo>
                <a:cubicBezTo>
                  <a:pt x="0" y="51211"/>
                  <a:pt x="51211" y="0"/>
                  <a:pt x="114292" y="0"/>
                </a:cubicBezTo>
                <a:close/>
              </a:path>
            </a:pathLst>
          </a:custGeom>
          <a:gradFill rotWithShape="1">
            <a:gsLst>
              <a:gs pos="0">
                <a:srgbClr val="F9FAFB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E5E7E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628484" y="414873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3" y="0"/>
                </a:moveTo>
                <a:lnTo>
                  <a:pt x="419097" y="0"/>
                </a:lnTo>
                <a:cubicBezTo>
                  <a:pt x="482183" y="0"/>
                  <a:pt x="533400" y="51217"/>
                  <a:pt x="533400" y="114303"/>
                </a:cubicBezTo>
                <a:lnTo>
                  <a:pt x="533400" y="419097"/>
                </a:lnTo>
                <a:cubicBezTo>
                  <a:pt x="533400" y="482183"/>
                  <a:pt x="482183" y="533400"/>
                  <a:pt x="419097" y="533400"/>
                </a:cubicBezTo>
                <a:lnTo>
                  <a:pt x="114303" y="533400"/>
                </a:lnTo>
                <a:cubicBezTo>
                  <a:pt x="51217" y="533400"/>
                  <a:pt x="0" y="482183"/>
                  <a:pt x="0" y="4190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blurRad="50800" dist="381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779699" y="4299732"/>
            <a:ext cx="230877" cy="231413"/>
          </a:xfrm>
          <a:custGeom>
            <a:avLst/>
            <a:gdLst/>
            <a:ahLst/>
            <a:cxnLst/>
            <a:rect l="l" t="t" r="r" b="b"/>
            <a:pathLst>
              <a:path w="230877" h="231413">
                <a:moveTo>
                  <a:pt x="182702" y="225787"/>
                </a:moveTo>
                <a:lnTo>
                  <a:pt x="225564" y="182925"/>
                </a:lnTo>
                <a:cubicBezTo>
                  <a:pt x="229672" y="178817"/>
                  <a:pt x="230877" y="172699"/>
                  <a:pt x="228645" y="167343"/>
                </a:cubicBezTo>
                <a:cubicBezTo>
                  <a:pt x="226412" y="161984"/>
                  <a:pt x="221233" y="158546"/>
                  <a:pt x="215473" y="158546"/>
                </a:cubicBezTo>
                <a:lnTo>
                  <a:pt x="186899" y="158546"/>
                </a:lnTo>
                <a:lnTo>
                  <a:pt x="186899" y="15672"/>
                </a:lnTo>
                <a:cubicBezTo>
                  <a:pt x="186899" y="7770"/>
                  <a:pt x="180514" y="1384"/>
                  <a:pt x="172611" y="1384"/>
                </a:cubicBezTo>
                <a:cubicBezTo>
                  <a:pt x="164708" y="1384"/>
                  <a:pt x="158323" y="7770"/>
                  <a:pt x="158323" y="15672"/>
                </a:cubicBezTo>
                <a:lnTo>
                  <a:pt x="158323" y="158546"/>
                </a:lnTo>
                <a:lnTo>
                  <a:pt x="129749" y="158546"/>
                </a:lnTo>
                <a:cubicBezTo>
                  <a:pt x="123989" y="158546"/>
                  <a:pt x="118766" y="162029"/>
                  <a:pt x="116533" y="167387"/>
                </a:cubicBezTo>
                <a:cubicBezTo>
                  <a:pt x="114300" y="172745"/>
                  <a:pt x="115550" y="178861"/>
                  <a:pt x="119613" y="182969"/>
                </a:cubicBezTo>
                <a:lnTo>
                  <a:pt x="162476" y="225832"/>
                </a:lnTo>
                <a:cubicBezTo>
                  <a:pt x="168057" y="231413"/>
                  <a:pt x="177119" y="231413"/>
                  <a:pt x="182702" y="225832"/>
                </a:cubicBezTo>
                <a:close/>
                <a:moveTo>
                  <a:pt x="68402" y="5581"/>
                </a:moveTo>
                <a:cubicBezTo>
                  <a:pt x="62819" y="0"/>
                  <a:pt x="53757" y="0"/>
                  <a:pt x="48176" y="5581"/>
                </a:cubicBezTo>
                <a:lnTo>
                  <a:pt x="5313" y="48443"/>
                </a:lnTo>
                <a:cubicBezTo>
                  <a:pt x="1205" y="52551"/>
                  <a:pt x="0" y="58669"/>
                  <a:pt x="2233" y="64025"/>
                </a:cubicBezTo>
                <a:cubicBezTo>
                  <a:pt x="4466" y="69384"/>
                  <a:pt x="9689" y="72822"/>
                  <a:pt x="15449" y="72822"/>
                </a:cubicBezTo>
                <a:lnTo>
                  <a:pt x="44023" y="72822"/>
                </a:lnTo>
                <a:lnTo>
                  <a:pt x="44023" y="215696"/>
                </a:lnTo>
                <a:cubicBezTo>
                  <a:pt x="44023" y="223598"/>
                  <a:pt x="50408" y="229984"/>
                  <a:pt x="58311" y="229984"/>
                </a:cubicBezTo>
                <a:cubicBezTo>
                  <a:pt x="66214" y="229984"/>
                  <a:pt x="72599" y="223598"/>
                  <a:pt x="72599" y="215696"/>
                </a:cubicBezTo>
                <a:lnTo>
                  <a:pt x="72599" y="72822"/>
                </a:lnTo>
                <a:lnTo>
                  <a:pt x="101173" y="72822"/>
                </a:lnTo>
                <a:cubicBezTo>
                  <a:pt x="106933" y="72822"/>
                  <a:pt x="112156" y="69339"/>
                  <a:pt x="114389" y="63981"/>
                </a:cubicBezTo>
                <a:cubicBezTo>
                  <a:pt x="116622" y="58623"/>
                  <a:pt x="115372" y="52507"/>
                  <a:pt x="111309" y="48399"/>
                </a:cubicBezTo>
                <a:lnTo>
                  <a:pt x="68446" y="553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314203" y="4263062"/>
            <a:ext cx="130140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Y-Axis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28484" y="4834460"/>
            <a:ext cx="5067300" cy="1333500"/>
          </a:xfrm>
          <a:custGeom>
            <a:avLst/>
            <a:gdLst/>
            <a:ahLst/>
            <a:cxnLst/>
            <a:rect l="l" t="t" r="r" b="b"/>
            <a:pathLst>
              <a:path w="5067300" h="1333500">
                <a:moveTo>
                  <a:pt x="76196" y="0"/>
                </a:moveTo>
                <a:lnTo>
                  <a:pt x="4991104" y="0"/>
                </a:lnTo>
                <a:cubicBezTo>
                  <a:pt x="5033187" y="0"/>
                  <a:pt x="5067300" y="34113"/>
                  <a:pt x="5067300" y="76196"/>
                </a:cubicBezTo>
                <a:lnTo>
                  <a:pt x="5067300" y="1257304"/>
                </a:lnTo>
                <a:cubicBezTo>
                  <a:pt x="5067300" y="1299387"/>
                  <a:pt x="5033187" y="1333500"/>
                  <a:pt x="4991104" y="1333500"/>
                </a:cubicBezTo>
                <a:lnTo>
                  <a:pt x="76196" y="1333500"/>
                </a:lnTo>
                <a:cubicBezTo>
                  <a:pt x="34113" y="1333500"/>
                  <a:pt x="0" y="1299387"/>
                  <a:pt x="0" y="1257304"/>
                </a:cubicBezTo>
                <a:lnTo>
                  <a:pt x="0" y="76196"/>
                </a:lnTo>
                <a:cubicBezTo>
                  <a:pt x="0" y="34141"/>
                  <a:pt x="34141" y="0"/>
                  <a:pt x="76196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8925" y="5024895"/>
            <a:ext cx="4781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Performance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8925" y="5367795"/>
            <a:ext cx="4772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= FLOPS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8925" y="5748749"/>
            <a:ext cx="4762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Performance: floating-point operations per second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6248338" y="990488"/>
            <a:ext cx="5562600" cy="4905375"/>
          </a:xfrm>
          <a:custGeom>
            <a:avLst/>
            <a:gdLst/>
            <a:ahLst/>
            <a:cxnLst/>
            <a:rect l="l" t="t" r="r" b="b"/>
            <a:pathLst>
              <a:path w="5562600" h="4905375">
                <a:moveTo>
                  <a:pt x="76180" y="0"/>
                </a:moveTo>
                <a:lnTo>
                  <a:pt x="5486420" y="0"/>
                </a:lnTo>
                <a:cubicBezTo>
                  <a:pt x="5528493" y="0"/>
                  <a:pt x="5562600" y="34107"/>
                  <a:pt x="5562600" y="76180"/>
                </a:cubicBezTo>
                <a:lnTo>
                  <a:pt x="5562600" y="4829195"/>
                </a:lnTo>
                <a:cubicBezTo>
                  <a:pt x="5562600" y="4871268"/>
                  <a:pt x="5528493" y="4905375"/>
                  <a:pt x="5486420" y="4905375"/>
                </a:cubicBezTo>
                <a:lnTo>
                  <a:pt x="76180" y="4905375"/>
                </a:lnTo>
                <a:cubicBezTo>
                  <a:pt x="34107" y="4905375"/>
                  <a:pt x="0" y="4871268"/>
                  <a:pt x="0" y="4829195"/>
                </a:cubicBezTo>
                <a:lnTo>
                  <a:pt x="0" y="76180"/>
                </a:lnTo>
                <a:cubicBezTo>
                  <a:pt x="0" y="34135"/>
                  <a:pt x="34135" y="0"/>
                  <a:pt x="7618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rcRect t="24" b="24"/>
          <a:stretch>
            <a:fillRect/>
          </a:stretch>
        </p:blipFill>
        <p:spPr>
          <a:xfrm>
            <a:off x="6400720" y="1142870"/>
            <a:ext cx="5257800" cy="4600575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21" name="AutoShape 21"/>
          <p:cNvSpPr/>
          <p:nvPr/>
        </p:nvSpPr>
        <p:spPr>
          <a:xfrm>
            <a:off x="6210238" y="5974380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NERSC - Roofline Hierarchy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9894" y="632887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Two Constraints in the Roofline Model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9911" y="1658704"/>
            <a:ext cx="5543455" cy="1524000"/>
          </a:xfrm>
          <a:custGeom>
            <a:avLst/>
            <a:gdLst/>
            <a:ahLst/>
            <a:cxnLst/>
            <a:rect l="l" t="t" r="r" b="b"/>
            <a:pathLst>
              <a:path w="5543455" h="1524000">
                <a:moveTo>
                  <a:pt x="37909" y="0"/>
                </a:moveTo>
                <a:lnTo>
                  <a:pt x="5429155" y="0"/>
                </a:lnTo>
                <a:cubicBezTo>
                  <a:pt x="5492239" y="0"/>
                  <a:pt x="5543455" y="51217"/>
                  <a:pt x="5543455" y="114300"/>
                </a:cubicBezTo>
                <a:lnTo>
                  <a:pt x="5543455" y="1409700"/>
                </a:lnTo>
                <a:cubicBezTo>
                  <a:pt x="5543455" y="1472783"/>
                  <a:pt x="5492239" y="1524000"/>
                  <a:pt x="5429155" y="1524000"/>
                </a:cubicBezTo>
                <a:lnTo>
                  <a:pt x="37909" y="1524000"/>
                </a:lnTo>
                <a:cubicBezTo>
                  <a:pt x="16974" y="1524000"/>
                  <a:pt x="0" y="1507026"/>
                  <a:pt x="0" y="14860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gradFill rotWithShape="1">
            <a:gsLst>
              <a:gs pos="0">
                <a:srgbClr val="EFF6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399911" y="1658704"/>
            <a:ext cx="37909" cy="1524000"/>
          </a:xfrm>
          <a:custGeom>
            <a:avLst/>
            <a:gdLst/>
            <a:ahLst/>
            <a:cxnLst/>
            <a:rect l="l" t="t" r="r" b="b"/>
            <a:pathLst>
              <a:path w="37909" h="1524000">
                <a:moveTo>
                  <a:pt x="37909" y="0"/>
                </a:moveTo>
                <a:lnTo>
                  <a:pt x="37909" y="0"/>
                </a:lnTo>
                <a:lnTo>
                  <a:pt x="37909" y="1524000"/>
                </a:lnTo>
                <a:lnTo>
                  <a:pt x="37909" y="1524000"/>
                </a:lnTo>
                <a:cubicBezTo>
                  <a:pt x="16974" y="1524000"/>
                  <a:pt x="0" y="1507026"/>
                  <a:pt x="0" y="14860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2B7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609307" y="184913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B7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79089" y="1944361"/>
            <a:ext cx="209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80703" y="1944361"/>
            <a:ext cx="15811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Bandwidth Line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09307" y="2420537"/>
            <a:ext cx="522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Constraint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307" y="2763437"/>
            <a:ext cx="5219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Diagonal line representing memory bandwidth limit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399911" y="3334835"/>
            <a:ext cx="5543455" cy="1524000"/>
          </a:xfrm>
          <a:custGeom>
            <a:avLst/>
            <a:gdLst/>
            <a:ahLst/>
            <a:cxnLst/>
            <a:rect l="l" t="t" r="r" b="b"/>
            <a:pathLst>
              <a:path w="5543455" h="1524000">
                <a:moveTo>
                  <a:pt x="37909" y="0"/>
                </a:moveTo>
                <a:lnTo>
                  <a:pt x="5429155" y="0"/>
                </a:lnTo>
                <a:cubicBezTo>
                  <a:pt x="5492239" y="0"/>
                  <a:pt x="5543455" y="51217"/>
                  <a:pt x="5543455" y="114300"/>
                </a:cubicBezTo>
                <a:lnTo>
                  <a:pt x="5543455" y="1409700"/>
                </a:lnTo>
                <a:cubicBezTo>
                  <a:pt x="5543455" y="1472783"/>
                  <a:pt x="5492239" y="1524000"/>
                  <a:pt x="5429155" y="1524000"/>
                </a:cubicBezTo>
                <a:lnTo>
                  <a:pt x="37909" y="1524000"/>
                </a:lnTo>
                <a:cubicBezTo>
                  <a:pt x="16974" y="1524000"/>
                  <a:pt x="0" y="1507026"/>
                  <a:pt x="0" y="14860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gradFill rotWithShape="1">
            <a:gsLst>
              <a:gs pos="0">
                <a:srgbClr val="FEF2F2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399911" y="3334835"/>
            <a:ext cx="37909" cy="1524000"/>
          </a:xfrm>
          <a:custGeom>
            <a:avLst/>
            <a:gdLst/>
            <a:ahLst/>
            <a:cxnLst/>
            <a:rect l="l" t="t" r="r" b="b"/>
            <a:pathLst>
              <a:path w="37909" h="1524000">
                <a:moveTo>
                  <a:pt x="37909" y="0"/>
                </a:moveTo>
                <a:lnTo>
                  <a:pt x="37909" y="0"/>
                </a:lnTo>
                <a:lnTo>
                  <a:pt x="37909" y="1524000"/>
                </a:lnTo>
                <a:lnTo>
                  <a:pt x="37909" y="1524000"/>
                </a:lnTo>
                <a:cubicBezTo>
                  <a:pt x="16974" y="1524000"/>
                  <a:pt x="0" y="1507026"/>
                  <a:pt x="0" y="14860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609307" y="35252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79089" y="3620492"/>
            <a:ext cx="209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80703" y="3620492"/>
            <a:ext cx="149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Compute Roof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307" y="4096667"/>
            <a:ext cx="522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Compute Ceiling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9307" y="4439567"/>
            <a:ext cx="5219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Horizontal line representing theoretical peak performance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399911" y="5486353"/>
            <a:ext cx="5543455" cy="647700"/>
          </a:xfrm>
          <a:custGeom>
            <a:avLst/>
            <a:gdLst/>
            <a:ahLst/>
            <a:cxnLst/>
            <a:rect l="l" t="t" r="r" b="b"/>
            <a:pathLst>
              <a:path w="5543455" h="647700">
                <a:moveTo>
                  <a:pt x="37909" y="0"/>
                </a:moveTo>
                <a:lnTo>
                  <a:pt x="5429156" y="0"/>
                </a:lnTo>
                <a:cubicBezTo>
                  <a:pt x="5492281" y="0"/>
                  <a:pt x="5543455" y="51173"/>
                  <a:pt x="5543455" y="114300"/>
                </a:cubicBezTo>
                <a:lnTo>
                  <a:pt x="5543455" y="533400"/>
                </a:lnTo>
                <a:cubicBezTo>
                  <a:pt x="5543455" y="596527"/>
                  <a:pt x="5492281" y="647700"/>
                  <a:pt x="5429156" y="647700"/>
                </a:cubicBez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399911" y="5486353"/>
            <a:ext cx="37909" cy="647700"/>
          </a:xfrm>
          <a:custGeom>
            <a:avLst/>
            <a:gdLst/>
            <a:ahLst/>
            <a:cxnLst/>
            <a:rect l="l" t="t" r="r" b="b"/>
            <a:pathLst>
              <a:path w="37909" h="647700">
                <a:moveTo>
                  <a:pt x="37909" y="0"/>
                </a:moveTo>
                <a:lnTo>
                  <a:pt x="37909" y="0"/>
                </a:lnTo>
                <a:lnTo>
                  <a:pt x="37909" y="647700"/>
                </a:ln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09307" y="5676798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Key Constraint:</a:t>
            </a:r>
            <a:r>
              <a:rPr lang="en-US" sz="15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Program performance cannot exceed either of these two lines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6248338" y="990488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rcRect t="8" b="9"/>
          <a:stretch>
            <a:fillRect/>
          </a:stretch>
        </p:blipFill>
        <p:spPr>
          <a:xfrm>
            <a:off x="6400720" y="1218614"/>
            <a:ext cx="5257800" cy="4381500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22" name="AutoShape 22"/>
          <p:cNvSpPr/>
          <p:nvPr/>
        </p:nvSpPr>
        <p:spPr>
          <a:xfrm>
            <a:off x="6210238" y="5905370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JAX-ML - Roofline Model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1617" y="618267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Arithmetic Intensity Example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389082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Matrix Multiplication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80956" y="1846152"/>
            <a:ext cx="5562600" cy="914400"/>
          </a:xfrm>
          <a:custGeom>
            <a:avLst/>
            <a:gdLst/>
            <a:ahLst/>
            <a:cxnLst/>
            <a:rect l="l" t="t" r="r" b="b"/>
            <a:pathLst>
              <a:path w="5562600" h="9144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838203"/>
                </a:lnTo>
                <a:cubicBezTo>
                  <a:pt x="5562600" y="880285"/>
                  <a:pt x="5528485" y="914400"/>
                  <a:pt x="54864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33338" y="1998534"/>
            <a:ext cx="5343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Computation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338" y="2303296"/>
            <a:ext cx="5372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O(n³)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380956" y="2912748"/>
            <a:ext cx="5562600" cy="914400"/>
          </a:xfrm>
          <a:custGeom>
            <a:avLst/>
            <a:gdLst/>
            <a:ahLst/>
            <a:cxnLst/>
            <a:rect l="l" t="t" r="r" b="b"/>
            <a:pathLst>
              <a:path w="5562600" h="9144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838203"/>
                </a:lnTo>
                <a:cubicBezTo>
                  <a:pt x="5562600" y="880285"/>
                  <a:pt x="5528485" y="914400"/>
                  <a:pt x="54864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33338" y="3065138"/>
            <a:ext cx="5343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Data Volume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33338" y="3369901"/>
            <a:ext cx="5372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O(n²)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399911" y="4055543"/>
            <a:ext cx="5543455" cy="990600"/>
          </a:xfrm>
          <a:custGeom>
            <a:avLst/>
            <a:gdLst/>
            <a:ahLst/>
            <a:cxnLst/>
            <a:rect l="l" t="t" r="r" b="b"/>
            <a:pathLst>
              <a:path w="5543455" h="990600">
                <a:moveTo>
                  <a:pt x="37909" y="0"/>
                </a:moveTo>
                <a:lnTo>
                  <a:pt x="5429160" y="0"/>
                </a:lnTo>
                <a:cubicBezTo>
                  <a:pt x="5492241" y="0"/>
                  <a:pt x="5543455" y="51214"/>
                  <a:pt x="5543455" y="114295"/>
                </a:cubicBezTo>
                <a:lnTo>
                  <a:pt x="5543455" y="876305"/>
                </a:lnTo>
                <a:cubicBezTo>
                  <a:pt x="5543455" y="939386"/>
                  <a:pt x="5492241" y="990600"/>
                  <a:pt x="5429160" y="990600"/>
                </a:cubicBezTo>
                <a:lnTo>
                  <a:pt x="37909" y="990600"/>
                </a:lnTo>
                <a:cubicBezTo>
                  <a:pt x="16974" y="990600"/>
                  <a:pt x="0" y="973626"/>
                  <a:pt x="0" y="9526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399911" y="4055543"/>
            <a:ext cx="37909" cy="990600"/>
          </a:xfrm>
          <a:custGeom>
            <a:avLst/>
            <a:gdLst/>
            <a:ahLst/>
            <a:cxnLst/>
            <a:rect l="l" t="t" r="r" b="b"/>
            <a:pathLst>
              <a:path w="37909" h="990600">
                <a:moveTo>
                  <a:pt x="37909" y="0"/>
                </a:moveTo>
                <a:lnTo>
                  <a:pt x="37909" y="0"/>
                </a:lnTo>
                <a:lnTo>
                  <a:pt x="37909" y="990600"/>
                </a:lnTo>
                <a:lnTo>
                  <a:pt x="37909" y="990600"/>
                </a:lnTo>
                <a:cubicBezTo>
                  <a:pt x="16974" y="990600"/>
                  <a:pt x="0" y="973626"/>
                  <a:pt x="0" y="9526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09307" y="4245987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Therefore: Arithmetic Intensity is </a:t>
            </a:r>
            <a:r>
              <a: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very high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307" y="4588887"/>
            <a:ext cx="522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= O(n³) / O(n²) = O(n)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399911" y="5486353"/>
            <a:ext cx="5543455" cy="647700"/>
          </a:xfrm>
          <a:custGeom>
            <a:avLst/>
            <a:gdLst/>
            <a:ahLst/>
            <a:cxnLst/>
            <a:rect l="l" t="t" r="r" b="b"/>
            <a:pathLst>
              <a:path w="5543455" h="647700">
                <a:moveTo>
                  <a:pt x="37909" y="0"/>
                </a:moveTo>
                <a:lnTo>
                  <a:pt x="5429156" y="0"/>
                </a:lnTo>
                <a:cubicBezTo>
                  <a:pt x="5492281" y="0"/>
                  <a:pt x="5543455" y="51173"/>
                  <a:pt x="5543455" y="114300"/>
                </a:cubicBezTo>
                <a:lnTo>
                  <a:pt x="5543455" y="533400"/>
                </a:lnTo>
                <a:cubicBezTo>
                  <a:pt x="5543455" y="596527"/>
                  <a:pt x="5492281" y="647700"/>
                  <a:pt x="5429156" y="647700"/>
                </a:cubicBez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0FDF4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399911" y="5486353"/>
            <a:ext cx="37909" cy="647700"/>
          </a:xfrm>
          <a:custGeom>
            <a:avLst/>
            <a:gdLst/>
            <a:ahLst/>
            <a:cxnLst/>
            <a:rect l="l" t="t" r="r" b="b"/>
            <a:pathLst>
              <a:path w="37909" h="647700">
                <a:moveTo>
                  <a:pt x="37909" y="0"/>
                </a:moveTo>
                <a:lnTo>
                  <a:pt x="37909" y="0"/>
                </a:lnTo>
                <a:lnTo>
                  <a:pt x="37909" y="647700"/>
                </a:ln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00C95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09307" y="5676788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Note:</a:t>
            </a:r>
            <a:r>
              <a:rPr lang="en-US" sz="15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more likely to be </a:t>
            </a:r>
            <a:r>
              <a:rPr lang="en-US" sz="1500" b="1" i="0" u="none" strike="noStrike">
                <a:solidFill>
                  <a:srgbClr val="00A6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Compute Bound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6248338" y="990488"/>
            <a:ext cx="5562600" cy="5438775"/>
          </a:xfrm>
          <a:custGeom>
            <a:avLst/>
            <a:gdLst/>
            <a:ahLst/>
            <a:cxnLst/>
            <a:rect l="l" t="t" r="r" b="b"/>
            <a:pathLst>
              <a:path w="5562600" h="5438775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5362578"/>
                </a:lnTo>
                <a:cubicBezTo>
                  <a:pt x="5562600" y="5404660"/>
                  <a:pt x="5528485" y="5438775"/>
                  <a:pt x="5486403" y="5438775"/>
                </a:cubicBezTo>
                <a:lnTo>
                  <a:pt x="76197" y="5438775"/>
                </a:lnTo>
                <a:cubicBezTo>
                  <a:pt x="34115" y="5438775"/>
                  <a:pt x="0" y="5404660"/>
                  <a:pt x="0" y="5362578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43791" y="1142870"/>
            <a:ext cx="3971925" cy="5133975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19" name="AutoShape 19"/>
          <p:cNvSpPr/>
          <p:nvPr/>
        </p:nvSpPr>
        <p:spPr>
          <a:xfrm>
            <a:off x="6210238" y="6505268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Eli Bendersky - Matrix Multiplication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705" y="615294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Memory Bound Example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131161"/>
            <a:ext cx="5676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Vector Addition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80956" y="1605824"/>
            <a:ext cx="5562600" cy="1504950"/>
          </a:xfrm>
          <a:custGeom>
            <a:avLst/>
            <a:gdLst/>
            <a:ahLst/>
            <a:cxnLst/>
            <a:rect l="l" t="t" r="r" b="b"/>
            <a:pathLst>
              <a:path w="5562600" h="1504950">
                <a:moveTo>
                  <a:pt x="114301" y="0"/>
                </a:moveTo>
                <a:lnTo>
                  <a:pt x="5448299" y="0"/>
                </a:lnTo>
                <a:cubicBezTo>
                  <a:pt x="5511427" y="0"/>
                  <a:pt x="5562600" y="51173"/>
                  <a:pt x="5562600" y="114301"/>
                </a:cubicBezTo>
                <a:lnTo>
                  <a:pt x="5562600" y="1390649"/>
                </a:lnTo>
                <a:cubicBezTo>
                  <a:pt x="5562600" y="1453777"/>
                  <a:pt x="5511427" y="1504950"/>
                  <a:pt x="5448299" y="1504950"/>
                </a:cubicBezTo>
                <a:lnTo>
                  <a:pt x="114301" y="1504950"/>
                </a:lnTo>
                <a:cubicBezTo>
                  <a:pt x="51173" y="1504950"/>
                  <a:pt x="0" y="1453777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396" y="1796259"/>
            <a:ext cx="5276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C[i] = A[i] + B[i]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571396" y="2186699"/>
            <a:ext cx="5181600" cy="18955"/>
          </a:xfrm>
          <a:custGeom>
            <a:avLst/>
            <a:gdLst/>
            <a:ahLst/>
            <a:cxnLst/>
            <a:rect l="l" t="t" r="r" b="b"/>
            <a:pathLst>
              <a:path w="5181600" h="18955">
                <a:moveTo>
                  <a:pt x="0" y="0"/>
                </a:moveTo>
                <a:lnTo>
                  <a:pt x="5181600" y="0"/>
                </a:lnTo>
                <a:lnTo>
                  <a:pt x="5181600" y="18955"/>
                </a:lnTo>
                <a:lnTo>
                  <a:pt x="0" y="18955"/>
                </a:lnTo>
                <a:lnTo>
                  <a:pt x="0" y="0"/>
                </a:lnTo>
                <a:close/>
              </a:path>
            </a:pathLst>
          </a:custGeom>
          <a:solidFill>
            <a:srgbClr val="D1D5DC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71396" y="2310423"/>
            <a:ext cx="5267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Operation:</a:t>
            </a: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1 addition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396" y="2653323"/>
            <a:ext cx="5267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Data:</a:t>
            </a: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Read A[i], B[i], write C[i]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380956" y="3339039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542830" y="3491346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7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2" y="190500"/>
                </a:lnTo>
                <a:cubicBezTo>
                  <a:pt x="132197" y="190500"/>
                  <a:pt x="142875" y="179822"/>
                  <a:pt x="142875" y="166687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2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2" y="29133"/>
                  <a:pt x="119062" y="35719"/>
                </a:cubicBezTo>
                <a:lnTo>
                  <a:pt x="119062" y="47625"/>
                </a:lnTo>
                <a:cubicBezTo>
                  <a:pt x="119062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3" y="86321"/>
                </a:moveTo>
                <a:cubicBezTo>
                  <a:pt x="41673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1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3" y="81392"/>
                  <a:pt x="41673" y="86321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1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1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2" y="86321"/>
                </a:moveTo>
                <a:cubicBezTo>
                  <a:pt x="119062" y="91249"/>
                  <a:pt x="115061" y="95250"/>
                  <a:pt x="110133" y="95250"/>
                </a:cubicBezTo>
                <a:cubicBezTo>
                  <a:pt x="105204" y="95250"/>
                  <a:pt x="101202" y="91249"/>
                  <a:pt x="101202" y="86321"/>
                </a:cubicBezTo>
                <a:cubicBezTo>
                  <a:pt x="101202" y="81392"/>
                  <a:pt x="105204" y="77391"/>
                  <a:pt x="110133" y="77391"/>
                </a:cubicBezTo>
                <a:cubicBezTo>
                  <a:pt x="115061" y="77391"/>
                  <a:pt x="119062" y="81392"/>
                  <a:pt x="119062" y="86321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3" y="117111"/>
                  <a:pt x="41673" y="122039"/>
                </a:cubicBezTo>
                <a:cubicBezTo>
                  <a:pt x="41673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2" y="126967"/>
                  <a:pt x="101202" y="122039"/>
                </a:cubicBezTo>
                <a:cubicBezTo>
                  <a:pt x="101202" y="117111"/>
                  <a:pt x="105204" y="113109"/>
                  <a:pt x="110133" y="113109"/>
                </a:cubicBezTo>
                <a:cubicBezTo>
                  <a:pt x="115061" y="113109"/>
                  <a:pt x="119062" y="117111"/>
                  <a:pt x="119062" y="122039"/>
                </a:cubicBezTo>
                <a:cubicBezTo>
                  <a:pt x="119062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7"/>
                  <a:pt x="32742" y="148827"/>
                </a:cubicBezTo>
                <a:lnTo>
                  <a:pt x="74414" y="148827"/>
                </a:lnTo>
                <a:cubicBezTo>
                  <a:pt x="79364" y="148827"/>
                  <a:pt x="83344" y="152809"/>
                  <a:pt x="83344" y="157758"/>
                </a:cubicBezTo>
                <a:cubicBezTo>
                  <a:pt x="83344" y="162706"/>
                  <a:pt x="79364" y="166687"/>
                  <a:pt x="74414" y="166687"/>
                </a:cubicBezTo>
                <a:lnTo>
                  <a:pt x="32742" y="166687"/>
                </a:lnTo>
                <a:cubicBezTo>
                  <a:pt x="27794" y="166687"/>
                  <a:pt x="23812" y="162706"/>
                  <a:pt x="23812" y="157758"/>
                </a:cubicBezTo>
                <a:close/>
                <a:moveTo>
                  <a:pt x="110133" y="148827"/>
                </a:moveTo>
                <a:cubicBezTo>
                  <a:pt x="115081" y="148827"/>
                  <a:pt x="119062" y="152809"/>
                  <a:pt x="119062" y="157758"/>
                </a:cubicBezTo>
                <a:cubicBezTo>
                  <a:pt x="119062" y="162706"/>
                  <a:pt x="115081" y="166687"/>
                  <a:pt x="110133" y="166687"/>
                </a:cubicBezTo>
                <a:cubicBezTo>
                  <a:pt x="105184" y="166687"/>
                  <a:pt x="101202" y="162706"/>
                  <a:pt x="101202" y="157758"/>
                </a:cubicBezTo>
                <a:cubicBezTo>
                  <a:pt x="101202" y="152809"/>
                  <a:pt x="105184" y="148827"/>
                  <a:pt x="110133" y="14882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47580" y="3453293"/>
            <a:ext cx="2745543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Few computations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380956" y="3948490"/>
            <a:ext cx="5562600" cy="495300"/>
          </a:xfrm>
          <a:custGeom>
            <a:avLst/>
            <a:gdLst/>
            <a:ahLst/>
            <a:cxnLst/>
            <a:rect l="l" t="t" r="r" b="b"/>
            <a:pathLst>
              <a:path w="5562600" h="4953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530924" y="410080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1"/>
                </a:cubicBezTo>
                <a:cubicBezTo>
                  <a:pt x="130783" y="91752"/>
                  <a:pt x="107826" y="95250"/>
                  <a:pt x="83344" y="95250"/>
                </a:cubicBezTo>
                <a:cubicBezTo>
                  <a:pt x="58862" y="95250"/>
                  <a:pt x="35869" y="91716"/>
                  <a:pt x="18418" y="85501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1"/>
                  <a:pt x="37319" y="136923"/>
                  <a:pt x="83344" y="136923"/>
                </a:cubicBezTo>
                <a:cubicBezTo>
                  <a:pt x="129369" y="136923"/>
                  <a:pt x="166688" y="123601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2"/>
                  <a:pt x="37319" y="77391"/>
                  <a:pt x="83344" y="77391"/>
                </a:cubicBezTo>
                <a:cubicBezTo>
                  <a:pt x="129369" y="77391"/>
                  <a:pt x="166688" y="64072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2" y="154781"/>
                  <a:pt x="83344" y="154781"/>
                </a:cubicBezTo>
                <a:cubicBezTo>
                  <a:pt x="58824" y="154781"/>
                  <a:pt x="35869" y="151247"/>
                  <a:pt x="18418" y="145033"/>
                </a:cubicBezTo>
                <a:cubicBezTo>
                  <a:pt x="11869" y="142690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90"/>
                  <a:pt x="148270" y="14503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47580" y="4062744"/>
            <a:ext cx="2223866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Many data accesses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399911" y="4672270"/>
            <a:ext cx="5543455" cy="571500"/>
          </a:xfrm>
          <a:custGeom>
            <a:avLst/>
            <a:gdLst/>
            <a:ahLst/>
            <a:cxnLst/>
            <a:rect l="l" t="t" r="r" b="b"/>
            <a:pathLst>
              <a:path w="5543455" h="571500">
                <a:moveTo>
                  <a:pt x="37909" y="0"/>
                </a:moveTo>
                <a:lnTo>
                  <a:pt x="5429155" y="0"/>
                </a:lnTo>
                <a:cubicBezTo>
                  <a:pt x="5492239" y="0"/>
                  <a:pt x="5543455" y="51217"/>
                  <a:pt x="5543455" y="114300"/>
                </a:cubicBezTo>
                <a:lnTo>
                  <a:pt x="5543455" y="457200"/>
                </a:lnTo>
                <a:cubicBezTo>
                  <a:pt x="5543455" y="520283"/>
                  <a:pt x="5492239" y="571500"/>
                  <a:pt x="5429155" y="571500"/>
                </a:cubicBez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399911" y="4672270"/>
            <a:ext cx="37909" cy="571500"/>
          </a:xfrm>
          <a:custGeom>
            <a:avLst/>
            <a:gdLst/>
            <a:ahLst/>
            <a:cxnLst/>
            <a:rect l="l" t="t" r="r" b="b"/>
            <a:pathLst>
              <a:path w="37909" h="571500">
                <a:moveTo>
                  <a:pt x="37909" y="0"/>
                </a:moveTo>
                <a:lnTo>
                  <a:pt x="37909" y="0"/>
                </a:lnTo>
                <a:lnTo>
                  <a:pt x="37909" y="571500"/>
                </a:ln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71248" y="4824651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Arithmetic Intensity </a:t>
            </a:r>
            <a:r>
              <a:rPr lang="en-US" sz="14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Low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399911" y="5486353"/>
            <a:ext cx="5543455" cy="647700"/>
          </a:xfrm>
          <a:custGeom>
            <a:avLst/>
            <a:gdLst/>
            <a:ahLst/>
            <a:cxnLst/>
            <a:rect l="l" t="t" r="r" b="b"/>
            <a:pathLst>
              <a:path w="5543455" h="647700">
                <a:moveTo>
                  <a:pt x="37909" y="0"/>
                </a:moveTo>
                <a:lnTo>
                  <a:pt x="5429156" y="0"/>
                </a:lnTo>
                <a:cubicBezTo>
                  <a:pt x="5492281" y="0"/>
                  <a:pt x="5543455" y="51173"/>
                  <a:pt x="5543455" y="114300"/>
                </a:cubicBezTo>
                <a:lnTo>
                  <a:pt x="5543455" y="533400"/>
                </a:lnTo>
                <a:cubicBezTo>
                  <a:pt x="5543455" y="596527"/>
                  <a:pt x="5492281" y="647700"/>
                  <a:pt x="5429156" y="647700"/>
                </a:cubicBez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EF2F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399911" y="5486353"/>
            <a:ext cx="37909" cy="647700"/>
          </a:xfrm>
          <a:custGeom>
            <a:avLst/>
            <a:gdLst/>
            <a:ahLst/>
            <a:cxnLst/>
            <a:rect l="l" t="t" r="r" b="b"/>
            <a:pathLst>
              <a:path w="37909" h="647700">
                <a:moveTo>
                  <a:pt x="37909" y="0"/>
                </a:moveTo>
                <a:lnTo>
                  <a:pt x="37909" y="0"/>
                </a:lnTo>
                <a:lnTo>
                  <a:pt x="37909" y="647700"/>
                </a:lnTo>
                <a:lnTo>
                  <a:pt x="37909" y="647700"/>
                </a:lnTo>
                <a:cubicBezTo>
                  <a:pt x="16974" y="647700"/>
                  <a:pt x="0" y="630726"/>
                  <a:pt x="0" y="6097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09307" y="5676788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Conclusion:</a:t>
            </a:r>
            <a:r>
              <a:rPr lang="en-US" sz="15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typically </a:t>
            </a:r>
            <a:r>
              <a:rPr lang="en-US" sz="1500" b="1" i="0" u="none" strike="noStrike">
                <a:solidFill>
                  <a:srgbClr val="E700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Memory Bound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248338" y="990479"/>
            <a:ext cx="5562600" cy="4838700"/>
          </a:xfrm>
          <a:custGeom>
            <a:avLst/>
            <a:gdLst/>
            <a:ahLst/>
            <a:cxnLst/>
            <a:rect l="l" t="t" r="r" b="b"/>
            <a:pathLst>
              <a:path w="5562600" h="483870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4762490"/>
                </a:lnTo>
                <a:cubicBezTo>
                  <a:pt x="5562600" y="4804580"/>
                  <a:pt x="5528480" y="4838700"/>
                  <a:pt x="5486390" y="4838700"/>
                </a:cubicBezTo>
                <a:lnTo>
                  <a:pt x="76210" y="4838700"/>
                </a:lnTo>
                <a:cubicBezTo>
                  <a:pt x="34120" y="4838700"/>
                  <a:pt x="0" y="4804580"/>
                  <a:pt x="0" y="47624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596158" y="1990595"/>
            <a:ext cx="2867025" cy="2838450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23" name="AutoShape 23"/>
          <p:cNvSpPr/>
          <p:nvPr/>
        </p:nvSpPr>
        <p:spPr>
          <a:xfrm>
            <a:off x="6210238" y="5905360"/>
            <a:ext cx="5638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HyperPhysics - Vector Addition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4276" y="599347"/>
            <a:ext cx="11644243" cy="3533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How Roofline Guides Optimization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62141" y="1165950"/>
            <a:ext cx="5583495" cy="4514571"/>
          </a:xfrm>
          <a:custGeom>
            <a:avLst/>
            <a:gdLst/>
            <a:ahLst/>
            <a:cxnLst/>
            <a:rect l="l" t="t" r="r" b="b"/>
            <a:pathLst>
              <a:path w="5583495" h="4514571">
                <a:moveTo>
                  <a:pt x="106040" y="0"/>
                </a:moveTo>
                <a:lnTo>
                  <a:pt x="5477455" y="0"/>
                </a:lnTo>
                <a:cubicBezTo>
                  <a:pt x="5536019" y="0"/>
                  <a:pt x="5583495" y="45094"/>
                  <a:pt x="5583495" y="100720"/>
                </a:cubicBezTo>
                <a:lnTo>
                  <a:pt x="5583495" y="4413851"/>
                </a:lnTo>
                <a:cubicBezTo>
                  <a:pt x="5583495" y="4469477"/>
                  <a:pt x="5536019" y="4514571"/>
                  <a:pt x="5477455" y="4514571"/>
                </a:cubicBezTo>
                <a:lnTo>
                  <a:pt x="106040" y="4514571"/>
                </a:lnTo>
                <a:cubicBezTo>
                  <a:pt x="47476" y="4514571"/>
                  <a:pt x="0" y="4469477"/>
                  <a:pt x="0" y="4413851"/>
                </a:cubicBezTo>
                <a:lnTo>
                  <a:pt x="0" y="100720"/>
                </a:lnTo>
                <a:cubicBezTo>
                  <a:pt x="0" y="45131"/>
                  <a:pt x="47515" y="0"/>
                  <a:pt x="106040" y="0"/>
                </a:cubicBezTo>
                <a:close/>
              </a:path>
            </a:pathLst>
          </a:custGeom>
          <a:gradFill rotWithShape="1">
            <a:gsLst>
              <a:gs pos="0">
                <a:srgbClr val="EFF6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8EC5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582942" y="1376968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2B7FFF">
              <a:alpha val="100000"/>
            </a:srgbClr>
          </a:solidFill>
          <a:ln w="12700">
            <a:noFill/>
            <a:prstDash val="solid"/>
          </a:ln>
          <a:effectLst>
            <a:outerShdw blurRad="50800" dist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24276" y="1544811"/>
            <a:ext cx="212035" cy="159027"/>
          </a:xfrm>
          <a:custGeom>
            <a:avLst/>
            <a:gdLst/>
            <a:ahLst/>
            <a:cxnLst/>
            <a:rect l="l" t="t" r="r" b="b"/>
            <a:pathLst>
              <a:path w="212035" h="159027">
                <a:moveTo>
                  <a:pt x="26504" y="0"/>
                </a:moveTo>
                <a:cubicBezTo>
                  <a:pt x="11886" y="0"/>
                  <a:pt x="0" y="11886"/>
                  <a:pt x="0" y="26505"/>
                </a:cubicBezTo>
                <a:lnTo>
                  <a:pt x="0" y="29569"/>
                </a:lnTo>
                <a:cubicBezTo>
                  <a:pt x="0" y="32385"/>
                  <a:pt x="1822" y="34787"/>
                  <a:pt x="4183" y="36320"/>
                </a:cubicBezTo>
                <a:cubicBezTo>
                  <a:pt x="9649" y="39881"/>
                  <a:pt x="13252" y="46010"/>
                  <a:pt x="13252" y="53009"/>
                </a:cubicBezTo>
                <a:cubicBezTo>
                  <a:pt x="13252" y="60008"/>
                  <a:pt x="9649" y="66137"/>
                  <a:pt x="4183" y="69699"/>
                </a:cubicBezTo>
                <a:cubicBezTo>
                  <a:pt x="1822" y="71231"/>
                  <a:pt x="0" y="73633"/>
                  <a:pt x="0" y="76449"/>
                </a:cubicBezTo>
                <a:lnTo>
                  <a:pt x="0" y="99392"/>
                </a:lnTo>
                <a:lnTo>
                  <a:pt x="212035" y="99392"/>
                </a:lnTo>
                <a:lnTo>
                  <a:pt x="212035" y="76449"/>
                </a:lnTo>
                <a:cubicBezTo>
                  <a:pt x="212035" y="73633"/>
                  <a:pt x="210213" y="71231"/>
                  <a:pt x="207852" y="69699"/>
                </a:cubicBezTo>
                <a:cubicBezTo>
                  <a:pt x="202386" y="66137"/>
                  <a:pt x="198783" y="60008"/>
                  <a:pt x="198783" y="53009"/>
                </a:cubicBezTo>
                <a:cubicBezTo>
                  <a:pt x="198783" y="46010"/>
                  <a:pt x="202386" y="39881"/>
                  <a:pt x="207852" y="36320"/>
                </a:cubicBezTo>
                <a:cubicBezTo>
                  <a:pt x="210213" y="34787"/>
                  <a:pt x="212035" y="32385"/>
                  <a:pt x="212035" y="29569"/>
                </a:cubicBezTo>
                <a:lnTo>
                  <a:pt x="212035" y="26505"/>
                </a:lnTo>
                <a:cubicBezTo>
                  <a:pt x="212035" y="11886"/>
                  <a:pt x="200149" y="0"/>
                  <a:pt x="185530" y="0"/>
                </a:cubicBezTo>
                <a:lnTo>
                  <a:pt x="26504" y="0"/>
                </a:lnTo>
                <a:close/>
                <a:moveTo>
                  <a:pt x="212035" y="145774"/>
                </a:moveTo>
                <a:lnTo>
                  <a:pt x="212035" y="119270"/>
                </a:lnTo>
                <a:lnTo>
                  <a:pt x="0" y="119270"/>
                </a:lnTo>
                <a:lnTo>
                  <a:pt x="0" y="145774"/>
                </a:lnTo>
                <a:cubicBezTo>
                  <a:pt x="0" y="153104"/>
                  <a:pt x="5922" y="159026"/>
                  <a:pt x="13252" y="159026"/>
                </a:cubicBezTo>
                <a:lnTo>
                  <a:pt x="39757" y="159026"/>
                </a:lnTo>
                <a:lnTo>
                  <a:pt x="39757" y="149087"/>
                </a:lnTo>
                <a:cubicBezTo>
                  <a:pt x="39757" y="143579"/>
                  <a:pt x="44188" y="139148"/>
                  <a:pt x="49696" y="139148"/>
                </a:cubicBezTo>
                <a:cubicBezTo>
                  <a:pt x="55204" y="139148"/>
                  <a:pt x="59635" y="143579"/>
                  <a:pt x="59635" y="149087"/>
                </a:cubicBezTo>
                <a:lnTo>
                  <a:pt x="59635" y="159026"/>
                </a:lnTo>
                <a:lnTo>
                  <a:pt x="96078" y="159026"/>
                </a:lnTo>
                <a:lnTo>
                  <a:pt x="96078" y="149087"/>
                </a:lnTo>
                <a:cubicBezTo>
                  <a:pt x="96078" y="143579"/>
                  <a:pt x="100509" y="139148"/>
                  <a:pt x="106017" y="139148"/>
                </a:cubicBezTo>
                <a:cubicBezTo>
                  <a:pt x="111525" y="139148"/>
                  <a:pt x="115957" y="143579"/>
                  <a:pt x="115957" y="149087"/>
                </a:cubicBezTo>
                <a:lnTo>
                  <a:pt x="115957" y="159026"/>
                </a:lnTo>
                <a:lnTo>
                  <a:pt x="152400" y="159026"/>
                </a:lnTo>
                <a:lnTo>
                  <a:pt x="152400" y="149087"/>
                </a:lnTo>
                <a:cubicBezTo>
                  <a:pt x="152400" y="143579"/>
                  <a:pt x="156831" y="139148"/>
                  <a:pt x="162339" y="139148"/>
                </a:cubicBezTo>
                <a:cubicBezTo>
                  <a:pt x="167847" y="139148"/>
                  <a:pt x="172278" y="143579"/>
                  <a:pt x="172278" y="149087"/>
                </a:cubicBezTo>
                <a:lnTo>
                  <a:pt x="172278" y="159026"/>
                </a:lnTo>
                <a:lnTo>
                  <a:pt x="198783" y="159026"/>
                </a:lnTo>
                <a:cubicBezTo>
                  <a:pt x="206113" y="159026"/>
                  <a:pt x="212035" y="153104"/>
                  <a:pt x="212035" y="145774"/>
                </a:cubicBezTo>
                <a:close/>
                <a:moveTo>
                  <a:pt x="66261" y="39757"/>
                </a:moveTo>
                <a:lnTo>
                  <a:pt x="66261" y="66261"/>
                </a:lnTo>
                <a:cubicBezTo>
                  <a:pt x="66261" y="73591"/>
                  <a:pt x="60339" y="79513"/>
                  <a:pt x="53009" y="79513"/>
                </a:cubicBezTo>
                <a:cubicBezTo>
                  <a:pt x="45679" y="79513"/>
                  <a:pt x="39757" y="73591"/>
                  <a:pt x="39757" y="66261"/>
                </a:cubicBezTo>
                <a:lnTo>
                  <a:pt x="39757" y="39757"/>
                </a:lnTo>
                <a:cubicBezTo>
                  <a:pt x="39757" y="32427"/>
                  <a:pt x="45679" y="26505"/>
                  <a:pt x="53009" y="26505"/>
                </a:cubicBezTo>
                <a:cubicBezTo>
                  <a:pt x="60339" y="26505"/>
                  <a:pt x="66261" y="32427"/>
                  <a:pt x="66261" y="39757"/>
                </a:cubicBezTo>
                <a:close/>
                <a:moveTo>
                  <a:pt x="119270" y="39757"/>
                </a:moveTo>
                <a:lnTo>
                  <a:pt x="119270" y="66261"/>
                </a:lnTo>
                <a:cubicBezTo>
                  <a:pt x="119270" y="73591"/>
                  <a:pt x="113347" y="79513"/>
                  <a:pt x="106017" y="79513"/>
                </a:cubicBezTo>
                <a:cubicBezTo>
                  <a:pt x="98687" y="79513"/>
                  <a:pt x="92765" y="73591"/>
                  <a:pt x="92765" y="66261"/>
                </a:cubicBezTo>
                <a:lnTo>
                  <a:pt x="92765" y="39757"/>
                </a:lnTo>
                <a:cubicBezTo>
                  <a:pt x="92765" y="32427"/>
                  <a:pt x="98687" y="26505"/>
                  <a:pt x="106017" y="26505"/>
                </a:cubicBezTo>
                <a:cubicBezTo>
                  <a:pt x="113347" y="26505"/>
                  <a:pt x="119270" y="32427"/>
                  <a:pt x="119270" y="39757"/>
                </a:cubicBezTo>
                <a:close/>
                <a:moveTo>
                  <a:pt x="172278" y="39757"/>
                </a:moveTo>
                <a:lnTo>
                  <a:pt x="172278" y="66261"/>
                </a:lnTo>
                <a:cubicBezTo>
                  <a:pt x="172278" y="73591"/>
                  <a:pt x="166356" y="79513"/>
                  <a:pt x="159026" y="79513"/>
                </a:cubicBezTo>
                <a:cubicBezTo>
                  <a:pt x="151696" y="79513"/>
                  <a:pt x="145774" y="73591"/>
                  <a:pt x="145774" y="66261"/>
                </a:cubicBezTo>
                <a:lnTo>
                  <a:pt x="145774" y="39757"/>
                </a:lnTo>
                <a:cubicBezTo>
                  <a:pt x="145774" y="32427"/>
                  <a:pt x="151696" y="26505"/>
                  <a:pt x="159026" y="26505"/>
                </a:cubicBezTo>
                <a:cubicBezTo>
                  <a:pt x="166356" y="26505"/>
                  <a:pt x="172278" y="32427"/>
                  <a:pt x="172278" y="3975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18972" y="1359315"/>
            <a:ext cx="2727953" cy="2827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Bandwidth Region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18972" y="1641925"/>
            <a:ext cx="1722783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155DF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Bound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582942" y="2880096"/>
            <a:ext cx="5141843" cy="1590261"/>
          </a:xfrm>
          <a:custGeom>
            <a:avLst/>
            <a:gdLst/>
            <a:ahLst/>
            <a:cxnLst/>
            <a:rect l="l" t="t" r="r" b="b"/>
            <a:pathLst>
              <a:path w="5141843" h="1590261">
                <a:moveTo>
                  <a:pt x="70670" y="0"/>
                </a:moveTo>
                <a:lnTo>
                  <a:pt x="5071172" y="0"/>
                </a:lnTo>
                <a:cubicBezTo>
                  <a:pt x="5110176" y="0"/>
                  <a:pt x="5141843" y="31667"/>
                  <a:pt x="5141843" y="70670"/>
                </a:cubicBezTo>
                <a:lnTo>
                  <a:pt x="5141843" y="1519591"/>
                </a:lnTo>
                <a:cubicBezTo>
                  <a:pt x="5141843" y="1558594"/>
                  <a:pt x="5110176" y="1590261"/>
                  <a:pt x="5071172" y="1590261"/>
                </a:cubicBezTo>
                <a:lnTo>
                  <a:pt x="70670" y="1590261"/>
                </a:lnTo>
                <a:cubicBezTo>
                  <a:pt x="31667" y="1590261"/>
                  <a:pt x="0" y="1558594"/>
                  <a:pt x="0" y="1519591"/>
                </a:cubicBezTo>
                <a:lnTo>
                  <a:pt x="0" y="70670"/>
                </a:lnTo>
                <a:cubicBezTo>
                  <a:pt x="0" y="31641"/>
                  <a:pt x="31641" y="0"/>
                  <a:pt x="7067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59582" y="3056731"/>
            <a:ext cx="4867965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Optimization Approach: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777252" y="3480749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7" y="66064"/>
                </a:moveTo>
                <a:lnTo>
                  <a:pt x="80880" y="105821"/>
                </a:lnTo>
                <a:cubicBezTo>
                  <a:pt x="79574" y="107902"/>
                  <a:pt x="77339" y="109206"/>
                  <a:pt x="74886" y="109330"/>
                </a:cubicBezTo>
                <a:cubicBezTo>
                  <a:pt x="72431" y="109455"/>
                  <a:pt x="70071" y="108337"/>
                  <a:pt x="68610" y="106349"/>
                </a:cubicBezTo>
                <a:lnTo>
                  <a:pt x="53702" y="86470"/>
                </a:lnTo>
                <a:cubicBezTo>
                  <a:pt x="51218" y="83177"/>
                  <a:pt x="51901" y="78519"/>
                  <a:pt x="55193" y="76034"/>
                </a:cubicBezTo>
                <a:cubicBezTo>
                  <a:pt x="58486" y="73550"/>
                  <a:pt x="63144" y="74233"/>
                  <a:pt x="65629" y="77525"/>
                </a:cubicBezTo>
                <a:lnTo>
                  <a:pt x="74016" y="88707"/>
                </a:lnTo>
                <a:lnTo>
                  <a:pt x="93086" y="58175"/>
                </a:lnTo>
                <a:cubicBezTo>
                  <a:pt x="95260" y="54696"/>
                  <a:pt x="99858" y="53609"/>
                  <a:pt x="103367" y="55814"/>
                </a:cubicBezTo>
                <a:cubicBezTo>
                  <a:pt x="106877" y="58020"/>
                  <a:pt x="107933" y="62586"/>
                  <a:pt x="105727" y="66095"/>
                </a:cubicBezTo>
                <a:close/>
              </a:path>
            </a:pathLst>
          </a:custGeom>
          <a:solidFill>
            <a:srgbClr val="2B7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64308" y="3445453"/>
            <a:ext cx="1960246" cy="2120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Increase data reuse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777252" y="3798732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7" y="66064"/>
                </a:moveTo>
                <a:lnTo>
                  <a:pt x="80880" y="105821"/>
                </a:lnTo>
                <a:cubicBezTo>
                  <a:pt x="79574" y="107902"/>
                  <a:pt x="77339" y="109206"/>
                  <a:pt x="74886" y="109330"/>
                </a:cubicBezTo>
                <a:cubicBezTo>
                  <a:pt x="72431" y="109455"/>
                  <a:pt x="70071" y="108337"/>
                  <a:pt x="68610" y="106349"/>
                </a:cubicBezTo>
                <a:lnTo>
                  <a:pt x="53702" y="86470"/>
                </a:lnTo>
                <a:cubicBezTo>
                  <a:pt x="51218" y="83177"/>
                  <a:pt x="51901" y="78519"/>
                  <a:pt x="55193" y="76034"/>
                </a:cubicBezTo>
                <a:cubicBezTo>
                  <a:pt x="58486" y="73550"/>
                  <a:pt x="63144" y="74233"/>
                  <a:pt x="65629" y="77525"/>
                </a:cubicBezTo>
                <a:lnTo>
                  <a:pt x="74016" y="88707"/>
                </a:lnTo>
                <a:lnTo>
                  <a:pt x="93086" y="58175"/>
                </a:lnTo>
                <a:cubicBezTo>
                  <a:pt x="95260" y="54696"/>
                  <a:pt x="99858" y="53609"/>
                  <a:pt x="103367" y="55814"/>
                </a:cubicBezTo>
                <a:cubicBezTo>
                  <a:pt x="106877" y="58020"/>
                  <a:pt x="107933" y="62586"/>
                  <a:pt x="105727" y="66095"/>
                </a:cubicBezTo>
                <a:close/>
              </a:path>
            </a:pathLst>
          </a:custGeom>
          <a:solidFill>
            <a:srgbClr val="2B7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64307" y="3763436"/>
            <a:ext cx="2018861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Cache optimization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777252" y="4116715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7" y="66064"/>
                </a:moveTo>
                <a:lnTo>
                  <a:pt x="80880" y="105821"/>
                </a:lnTo>
                <a:cubicBezTo>
                  <a:pt x="79574" y="107902"/>
                  <a:pt x="77339" y="109206"/>
                  <a:pt x="74886" y="109330"/>
                </a:cubicBezTo>
                <a:cubicBezTo>
                  <a:pt x="72431" y="109455"/>
                  <a:pt x="70071" y="108337"/>
                  <a:pt x="68610" y="106349"/>
                </a:cubicBezTo>
                <a:lnTo>
                  <a:pt x="53702" y="86470"/>
                </a:lnTo>
                <a:cubicBezTo>
                  <a:pt x="51218" y="83177"/>
                  <a:pt x="51901" y="78519"/>
                  <a:pt x="55193" y="76034"/>
                </a:cubicBezTo>
                <a:cubicBezTo>
                  <a:pt x="58486" y="73550"/>
                  <a:pt x="63144" y="74233"/>
                  <a:pt x="65629" y="77525"/>
                </a:cubicBezTo>
                <a:lnTo>
                  <a:pt x="74016" y="88707"/>
                </a:lnTo>
                <a:lnTo>
                  <a:pt x="93086" y="58175"/>
                </a:lnTo>
                <a:cubicBezTo>
                  <a:pt x="95260" y="54696"/>
                  <a:pt x="99858" y="53609"/>
                  <a:pt x="103367" y="55814"/>
                </a:cubicBezTo>
                <a:cubicBezTo>
                  <a:pt x="106877" y="58020"/>
                  <a:pt x="107933" y="62586"/>
                  <a:pt x="105727" y="66095"/>
                </a:cubicBezTo>
                <a:close/>
              </a:path>
            </a:pathLst>
          </a:custGeom>
          <a:solidFill>
            <a:srgbClr val="2B7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64308" y="4081411"/>
            <a:ext cx="1790261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Blocking technique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6244167" y="1165950"/>
            <a:ext cx="5583495" cy="4514571"/>
          </a:xfrm>
          <a:custGeom>
            <a:avLst/>
            <a:gdLst/>
            <a:ahLst/>
            <a:cxnLst/>
            <a:rect l="l" t="t" r="r" b="b"/>
            <a:pathLst>
              <a:path w="5583495" h="4514571">
                <a:moveTo>
                  <a:pt x="106040" y="0"/>
                </a:moveTo>
                <a:lnTo>
                  <a:pt x="5477455" y="0"/>
                </a:lnTo>
                <a:cubicBezTo>
                  <a:pt x="5536019" y="0"/>
                  <a:pt x="5583495" y="45094"/>
                  <a:pt x="5583495" y="100720"/>
                </a:cubicBezTo>
                <a:lnTo>
                  <a:pt x="5583495" y="4413851"/>
                </a:lnTo>
                <a:cubicBezTo>
                  <a:pt x="5583495" y="4469477"/>
                  <a:pt x="5536019" y="4514571"/>
                  <a:pt x="5477455" y="4514571"/>
                </a:cubicBezTo>
                <a:lnTo>
                  <a:pt x="106040" y="4514571"/>
                </a:lnTo>
                <a:cubicBezTo>
                  <a:pt x="47476" y="4514571"/>
                  <a:pt x="0" y="4469477"/>
                  <a:pt x="0" y="4413851"/>
                </a:cubicBezTo>
                <a:lnTo>
                  <a:pt x="0" y="100720"/>
                </a:lnTo>
                <a:cubicBezTo>
                  <a:pt x="0" y="45131"/>
                  <a:pt x="47515" y="0"/>
                  <a:pt x="106040" y="0"/>
                </a:cubicBezTo>
                <a:close/>
              </a:path>
            </a:pathLst>
          </a:custGeom>
          <a:gradFill rotWithShape="1">
            <a:gsLst>
              <a:gs pos="0">
                <a:srgbClr val="FEF2F2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2700000"/>
          </a:gradFill>
          <a:ln w="12700">
            <a:solidFill>
              <a:srgbClr val="FFA2A2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6464968" y="1429722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106020" y="0"/>
                </a:moveTo>
                <a:lnTo>
                  <a:pt x="388728" y="0"/>
                </a:lnTo>
                <a:cubicBezTo>
                  <a:pt x="447242" y="0"/>
                  <a:pt x="494748" y="47506"/>
                  <a:pt x="494748" y="106020"/>
                </a:cubicBezTo>
                <a:lnTo>
                  <a:pt x="494748" y="388728"/>
                </a:lnTo>
                <a:cubicBezTo>
                  <a:pt x="494748" y="447242"/>
                  <a:pt x="447242" y="494748"/>
                  <a:pt x="388728" y="494748"/>
                </a:cubicBezTo>
                <a:lnTo>
                  <a:pt x="106020" y="494748"/>
                </a:lnTo>
                <a:cubicBezTo>
                  <a:pt x="47506" y="494748"/>
                  <a:pt x="0" y="447242"/>
                  <a:pt x="0" y="388728"/>
                </a:cubicBezTo>
                <a:lnTo>
                  <a:pt x="0" y="106020"/>
                </a:lnTo>
                <a:cubicBezTo>
                  <a:pt x="0" y="47506"/>
                  <a:pt x="47506" y="0"/>
                  <a:pt x="106020" y="0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  <a:effectLst>
            <a:outerShdw blurRad="50800" dist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6606302" y="1571061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72887" y="9939"/>
                </a:moveTo>
                <a:cubicBezTo>
                  <a:pt x="72887" y="4431"/>
                  <a:pt x="68456" y="0"/>
                  <a:pt x="62948" y="0"/>
                </a:cubicBezTo>
                <a:cubicBezTo>
                  <a:pt x="57440" y="0"/>
                  <a:pt x="53009" y="4431"/>
                  <a:pt x="53009" y="9939"/>
                </a:cubicBezTo>
                <a:lnTo>
                  <a:pt x="53009" y="26504"/>
                </a:lnTo>
                <a:cubicBezTo>
                  <a:pt x="38390" y="26504"/>
                  <a:pt x="26504" y="38390"/>
                  <a:pt x="26504" y="53009"/>
                </a:cubicBezTo>
                <a:lnTo>
                  <a:pt x="9939" y="53009"/>
                </a:lnTo>
                <a:cubicBezTo>
                  <a:pt x="4431" y="53009"/>
                  <a:pt x="0" y="57440"/>
                  <a:pt x="0" y="62948"/>
                </a:cubicBezTo>
                <a:cubicBezTo>
                  <a:pt x="0" y="68456"/>
                  <a:pt x="4431" y="72887"/>
                  <a:pt x="9939" y="72887"/>
                </a:cubicBezTo>
                <a:lnTo>
                  <a:pt x="26504" y="72887"/>
                </a:lnTo>
                <a:lnTo>
                  <a:pt x="26504" y="96078"/>
                </a:lnTo>
                <a:lnTo>
                  <a:pt x="9939" y="96078"/>
                </a:lnTo>
                <a:cubicBezTo>
                  <a:pt x="4431" y="96078"/>
                  <a:pt x="0" y="100509"/>
                  <a:pt x="0" y="106017"/>
                </a:cubicBezTo>
                <a:cubicBezTo>
                  <a:pt x="0" y="111525"/>
                  <a:pt x="4431" y="115957"/>
                  <a:pt x="9939" y="115957"/>
                </a:cubicBezTo>
                <a:lnTo>
                  <a:pt x="26504" y="115957"/>
                </a:lnTo>
                <a:lnTo>
                  <a:pt x="26504" y="139148"/>
                </a:lnTo>
                <a:lnTo>
                  <a:pt x="9939" y="139148"/>
                </a:lnTo>
                <a:cubicBezTo>
                  <a:pt x="4431" y="139148"/>
                  <a:pt x="0" y="143579"/>
                  <a:pt x="0" y="149087"/>
                </a:cubicBezTo>
                <a:cubicBezTo>
                  <a:pt x="0" y="154595"/>
                  <a:pt x="4431" y="159026"/>
                  <a:pt x="9939" y="159026"/>
                </a:cubicBezTo>
                <a:lnTo>
                  <a:pt x="26504" y="159026"/>
                </a:lnTo>
                <a:cubicBezTo>
                  <a:pt x="26504" y="173645"/>
                  <a:pt x="38390" y="185530"/>
                  <a:pt x="53009" y="185530"/>
                </a:cubicBezTo>
                <a:lnTo>
                  <a:pt x="53009" y="202096"/>
                </a:lnTo>
                <a:cubicBezTo>
                  <a:pt x="53009" y="207604"/>
                  <a:pt x="57440" y="212035"/>
                  <a:pt x="62948" y="212035"/>
                </a:cubicBezTo>
                <a:cubicBezTo>
                  <a:pt x="68456" y="212035"/>
                  <a:pt x="72887" y="207604"/>
                  <a:pt x="72887" y="202096"/>
                </a:cubicBezTo>
                <a:lnTo>
                  <a:pt x="72887" y="185530"/>
                </a:lnTo>
                <a:lnTo>
                  <a:pt x="96078" y="185530"/>
                </a:lnTo>
                <a:lnTo>
                  <a:pt x="96078" y="202096"/>
                </a:lnTo>
                <a:cubicBezTo>
                  <a:pt x="96078" y="207604"/>
                  <a:pt x="100509" y="212035"/>
                  <a:pt x="106017" y="212035"/>
                </a:cubicBezTo>
                <a:cubicBezTo>
                  <a:pt x="111525" y="212035"/>
                  <a:pt x="115957" y="207604"/>
                  <a:pt x="115957" y="202096"/>
                </a:cubicBezTo>
                <a:lnTo>
                  <a:pt x="115957" y="185530"/>
                </a:lnTo>
                <a:lnTo>
                  <a:pt x="139148" y="185530"/>
                </a:lnTo>
                <a:lnTo>
                  <a:pt x="139148" y="202096"/>
                </a:lnTo>
                <a:cubicBezTo>
                  <a:pt x="139148" y="207604"/>
                  <a:pt x="143579" y="212035"/>
                  <a:pt x="149087" y="212035"/>
                </a:cubicBezTo>
                <a:cubicBezTo>
                  <a:pt x="154595" y="212035"/>
                  <a:pt x="159026" y="207604"/>
                  <a:pt x="159026" y="202096"/>
                </a:cubicBezTo>
                <a:lnTo>
                  <a:pt x="159026" y="185530"/>
                </a:lnTo>
                <a:cubicBezTo>
                  <a:pt x="173645" y="185530"/>
                  <a:pt x="185530" y="173645"/>
                  <a:pt x="185530" y="159026"/>
                </a:cubicBezTo>
                <a:lnTo>
                  <a:pt x="202096" y="159026"/>
                </a:lnTo>
                <a:cubicBezTo>
                  <a:pt x="207604" y="159026"/>
                  <a:pt x="212035" y="154595"/>
                  <a:pt x="212035" y="149087"/>
                </a:cubicBezTo>
                <a:cubicBezTo>
                  <a:pt x="212035" y="143579"/>
                  <a:pt x="207604" y="139148"/>
                  <a:pt x="202096" y="139148"/>
                </a:cubicBezTo>
                <a:lnTo>
                  <a:pt x="185530" y="139148"/>
                </a:lnTo>
                <a:lnTo>
                  <a:pt x="185530" y="115957"/>
                </a:lnTo>
                <a:lnTo>
                  <a:pt x="202096" y="115957"/>
                </a:lnTo>
                <a:cubicBezTo>
                  <a:pt x="207604" y="115957"/>
                  <a:pt x="212035" y="111525"/>
                  <a:pt x="212035" y="106017"/>
                </a:cubicBezTo>
                <a:cubicBezTo>
                  <a:pt x="212035" y="100509"/>
                  <a:pt x="207604" y="96078"/>
                  <a:pt x="202096" y="96078"/>
                </a:cubicBezTo>
                <a:lnTo>
                  <a:pt x="185530" y="96078"/>
                </a:lnTo>
                <a:lnTo>
                  <a:pt x="185530" y="72887"/>
                </a:lnTo>
                <a:lnTo>
                  <a:pt x="202096" y="72887"/>
                </a:lnTo>
                <a:cubicBezTo>
                  <a:pt x="207604" y="72887"/>
                  <a:pt x="212035" y="68456"/>
                  <a:pt x="212035" y="62948"/>
                </a:cubicBezTo>
                <a:cubicBezTo>
                  <a:pt x="212035" y="57440"/>
                  <a:pt x="207604" y="53009"/>
                  <a:pt x="202096" y="53009"/>
                </a:cubicBezTo>
                <a:lnTo>
                  <a:pt x="185530" y="53009"/>
                </a:lnTo>
                <a:cubicBezTo>
                  <a:pt x="185530" y="38390"/>
                  <a:pt x="173645" y="26504"/>
                  <a:pt x="159026" y="26504"/>
                </a:cubicBezTo>
                <a:lnTo>
                  <a:pt x="159026" y="9939"/>
                </a:lnTo>
                <a:cubicBezTo>
                  <a:pt x="159026" y="4431"/>
                  <a:pt x="154595" y="0"/>
                  <a:pt x="149087" y="0"/>
                </a:cubicBezTo>
                <a:cubicBezTo>
                  <a:pt x="143579" y="0"/>
                  <a:pt x="139148" y="4431"/>
                  <a:pt x="139148" y="9939"/>
                </a:cubicBezTo>
                <a:lnTo>
                  <a:pt x="139148" y="26504"/>
                </a:lnTo>
                <a:lnTo>
                  <a:pt x="115957" y="26504"/>
                </a:lnTo>
                <a:lnTo>
                  <a:pt x="115957" y="9939"/>
                </a:lnTo>
                <a:cubicBezTo>
                  <a:pt x="115957" y="4431"/>
                  <a:pt x="111525" y="0"/>
                  <a:pt x="106017" y="0"/>
                </a:cubicBezTo>
                <a:cubicBezTo>
                  <a:pt x="100509" y="0"/>
                  <a:pt x="96078" y="4431"/>
                  <a:pt x="96078" y="9939"/>
                </a:cubicBezTo>
                <a:lnTo>
                  <a:pt x="96078" y="26504"/>
                </a:lnTo>
                <a:lnTo>
                  <a:pt x="72887" y="26504"/>
                </a:lnTo>
                <a:lnTo>
                  <a:pt x="72887" y="9939"/>
                </a:lnTo>
                <a:close/>
                <a:moveTo>
                  <a:pt x="66261" y="53009"/>
                </a:moveTo>
                <a:lnTo>
                  <a:pt x="145774" y="53009"/>
                </a:lnTo>
                <a:cubicBezTo>
                  <a:pt x="153104" y="53009"/>
                  <a:pt x="159026" y="58931"/>
                  <a:pt x="159026" y="66261"/>
                </a:cubicBezTo>
                <a:lnTo>
                  <a:pt x="159026" y="145774"/>
                </a:lnTo>
                <a:cubicBezTo>
                  <a:pt x="159026" y="153104"/>
                  <a:pt x="153104" y="159026"/>
                  <a:pt x="145774" y="159026"/>
                </a:cubicBezTo>
                <a:lnTo>
                  <a:pt x="66261" y="159026"/>
                </a:lnTo>
                <a:cubicBezTo>
                  <a:pt x="58931" y="159026"/>
                  <a:pt x="53009" y="153104"/>
                  <a:pt x="53009" y="145774"/>
                </a:cubicBezTo>
                <a:lnTo>
                  <a:pt x="53009" y="66261"/>
                </a:lnTo>
                <a:cubicBezTo>
                  <a:pt x="53009" y="58931"/>
                  <a:pt x="58931" y="53009"/>
                  <a:pt x="66261" y="53009"/>
                </a:cubicBezTo>
                <a:close/>
                <a:moveTo>
                  <a:pt x="72887" y="72887"/>
                </a:moveTo>
                <a:lnTo>
                  <a:pt x="72887" y="139148"/>
                </a:lnTo>
                <a:lnTo>
                  <a:pt x="139148" y="139148"/>
                </a:lnTo>
                <a:lnTo>
                  <a:pt x="139148" y="72887"/>
                </a:lnTo>
                <a:lnTo>
                  <a:pt x="72887" y="7288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100998" y="1412069"/>
            <a:ext cx="2769833" cy="2827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Compute Region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00998" y="1694679"/>
            <a:ext cx="1546087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E7000B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Compute Bound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467215" y="2887305"/>
            <a:ext cx="5141843" cy="1590261"/>
          </a:xfrm>
          <a:custGeom>
            <a:avLst/>
            <a:gdLst/>
            <a:ahLst/>
            <a:cxnLst/>
            <a:rect l="l" t="t" r="r" b="b"/>
            <a:pathLst>
              <a:path w="5141843" h="1590261">
                <a:moveTo>
                  <a:pt x="70670" y="0"/>
                </a:moveTo>
                <a:lnTo>
                  <a:pt x="5071172" y="0"/>
                </a:lnTo>
                <a:cubicBezTo>
                  <a:pt x="5110176" y="0"/>
                  <a:pt x="5141843" y="31667"/>
                  <a:pt x="5141843" y="70670"/>
                </a:cubicBezTo>
                <a:lnTo>
                  <a:pt x="5141843" y="1519591"/>
                </a:lnTo>
                <a:cubicBezTo>
                  <a:pt x="5141843" y="1558594"/>
                  <a:pt x="5110176" y="1590261"/>
                  <a:pt x="5071172" y="1590261"/>
                </a:cubicBezTo>
                <a:lnTo>
                  <a:pt x="70670" y="1590261"/>
                </a:lnTo>
                <a:cubicBezTo>
                  <a:pt x="31667" y="1590261"/>
                  <a:pt x="0" y="1558594"/>
                  <a:pt x="0" y="1519591"/>
                </a:cubicBezTo>
                <a:lnTo>
                  <a:pt x="0" y="70670"/>
                </a:lnTo>
                <a:cubicBezTo>
                  <a:pt x="0" y="31641"/>
                  <a:pt x="31641" y="0"/>
                  <a:pt x="7067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254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41608" y="3056731"/>
            <a:ext cx="4867965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00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Optimization Approach: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6659278" y="3480749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8" y="66064"/>
                </a:moveTo>
                <a:lnTo>
                  <a:pt x="80880" y="105821"/>
                </a:lnTo>
                <a:cubicBezTo>
                  <a:pt x="79574" y="107902"/>
                  <a:pt x="77339" y="109206"/>
                  <a:pt x="74886" y="109330"/>
                </a:cubicBezTo>
                <a:cubicBezTo>
                  <a:pt x="72431" y="109455"/>
                  <a:pt x="70071" y="108337"/>
                  <a:pt x="68610" y="106349"/>
                </a:cubicBezTo>
                <a:lnTo>
                  <a:pt x="53702" y="86470"/>
                </a:lnTo>
                <a:cubicBezTo>
                  <a:pt x="51218" y="83177"/>
                  <a:pt x="51901" y="78519"/>
                  <a:pt x="55193" y="76034"/>
                </a:cubicBezTo>
                <a:cubicBezTo>
                  <a:pt x="58486" y="73550"/>
                  <a:pt x="63144" y="74233"/>
                  <a:pt x="65629" y="77525"/>
                </a:cubicBezTo>
                <a:lnTo>
                  <a:pt x="74016" y="88707"/>
                </a:lnTo>
                <a:lnTo>
                  <a:pt x="93086" y="58175"/>
                </a:lnTo>
                <a:cubicBezTo>
                  <a:pt x="95260" y="54696"/>
                  <a:pt x="99858" y="53609"/>
                  <a:pt x="103367" y="55814"/>
                </a:cubicBezTo>
                <a:cubicBezTo>
                  <a:pt x="106877" y="58020"/>
                  <a:pt x="107933" y="62586"/>
                  <a:pt x="105728" y="66095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946334" y="3445453"/>
            <a:ext cx="1640820" cy="3179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SIMD vectorization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6659278" y="3798732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8" y="66064"/>
                </a:moveTo>
                <a:lnTo>
                  <a:pt x="80880" y="105821"/>
                </a:lnTo>
                <a:cubicBezTo>
                  <a:pt x="79574" y="107902"/>
                  <a:pt x="77339" y="109206"/>
                  <a:pt x="74886" y="109330"/>
                </a:cubicBezTo>
                <a:cubicBezTo>
                  <a:pt x="72431" y="109455"/>
                  <a:pt x="70071" y="108337"/>
                  <a:pt x="68610" y="106349"/>
                </a:cubicBezTo>
                <a:lnTo>
                  <a:pt x="53702" y="86470"/>
                </a:lnTo>
                <a:cubicBezTo>
                  <a:pt x="51218" y="83177"/>
                  <a:pt x="51901" y="78519"/>
                  <a:pt x="55193" y="76034"/>
                </a:cubicBezTo>
                <a:cubicBezTo>
                  <a:pt x="58486" y="73550"/>
                  <a:pt x="63144" y="74233"/>
                  <a:pt x="65629" y="77525"/>
                </a:cubicBezTo>
                <a:lnTo>
                  <a:pt x="74016" y="88707"/>
                </a:lnTo>
                <a:lnTo>
                  <a:pt x="93086" y="58175"/>
                </a:lnTo>
                <a:cubicBezTo>
                  <a:pt x="95260" y="54696"/>
                  <a:pt x="99858" y="53609"/>
                  <a:pt x="103367" y="55814"/>
                </a:cubicBezTo>
                <a:cubicBezTo>
                  <a:pt x="106877" y="58020"/>
                  <a:pt x="107933" y="62586"/>
                  <a:pt x="105728" y="66095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946334" y="3763436"/>
            <a:ext cx="1312574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Parallelization</a:t>
            </a:r>
            <a:endParaRPr lang="en-US" sz="1100"/>
          </a:p>
        </p:txBody>
      </p:sp>
      <p:sp>
        <p:nvSpPr>
          <p:cNvPr id="27" name="Freeform 27"/>
          <p:cNvSpPr/>
          <p:nvPr/>
        </p:nvSpPr>
        <p:spPr>
          <a:xfrm>
            <a:off x="6659278" y="4116715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79513" y="159026"/>
                </a:moveTo>
                <a:cubicBezTo>
                  <a:pt x="123397" y="159026"/>
                  <a:pt x="159026" y="123397"/>
                  <a:pt x="159026" y="79513"/>
                </a:cubicBezTo>
                <a:cubicBezTo>
                  <a:pt x="159026" y="35629"/>
                  <a:pt x="123397" y="0"/>
                  <a:pt x="79513" y="0"/>
                </a:cubicBezTo>
                <a:cubicBezTo>
                  <a:pt x="35629" y="0"/>
                  <a:pt x="0" y="35629"/>
                  <a:pt x="0" y="79513"/>
                </a:cubicBezTo>
                <a:cubicBezTo>
                  <a:pt x="0" y="123397"/>
                  <a:pt x="35629" y="159026"/>
                  <a:pt x="79513" y="159026"/>
                </a:cubicBezTo>
                <a:close/>
                <a:moveTo>
                  <a:pt x="105728" y="66064"/>
                </a:moveTo>
                <a:lnTo>
                  <a:pt x="80880" y="105821"/>
                </a:lnTo>
                <a:cubicBezTo>
                  <a:pt x="79574" y="107902"/>
                  <a:pt x="77339" y="109206"/>
                  <a:pt x="74886" y="109330"/>
                </a:cubicBezTo>
                <a:cubicBezTo>
                  <a:pt x="72431" y="109455"/>
                  <a:pt x="70071" y="108337"/>
                  <a:pt x="68610" y="106349"/>
                </a:cubicBezTo>
                <a:lnTo>
                  <a:pt x="53702" y="86470"/>
                </a:lnTo>
                <a:cubicBezTo>
                  <a:pt x="51218" y="83177"/>
                  <a:pt x="51901" y="78519"/>
                  <a:pt x="55193" y="76034"/>
                </a:cubicBezTo>
                <a:cubicBezTo>
                  <a:pt x="58486" y="73550"/>
                  <a:pt x="63144" y="74233"/>
                  <a:pt x="65629" y="77525"/>
                </a:cubicBezTo>
                <a:lnTo>
                  <a:pt x="74016" y="88707"/>
                </a:lnTo>
                <a:lnTo>
                  <a:pt x="93086" y="58175"/>
                </a:lnTo>
                <a:cubicBezTo>
                  <a:pt x="95260" y="54696"/>
                  <a:pt x="99858" y="53609"/>
                  <a:pt x="103367" y="55814"/>
                </a:cubicBezTo>
                <a:cubicBezTo>
                  <a:pt x="106877" y="58020"/>
                  <a:pt x="107933" y="62586"/>
                  <a:pt x="105728" y="66095"/>
                </a:cubicBezTo>
                <a:close/>
              </a:path>
            </a:pathLst>
          </a:custGeom>
          <a:solidFill>
            <a:srgbClr val="FB2C36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946333" y="4081411"/>
            <a:ext cx="1910451" cy="3206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GPU acceleration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370932" y="5901462"/>
            <a:ext cx="11467460" cy="600765"/>
          </a:xfrm>
          <a:custGeom>
            <a:avLst/>
            <a:gdLst/>
            <a:ahLst/>
            <a:cxnLst/>
            <a:rect l="l" t="t" r="r" b="b"/>
            <a:pathLst>
              <a:path w="11467460" h="600765">
                <a:moveTo>
                  <a:pt x="35162" y="0"/>
                </a:moveTo>
                <a:lnTo>
                  <a:pt x="11361443" y="0"/>
                </a:lnTo>
                <a:cubicBezTo>
                  <a:pt x="11419994" y="0"/>
                  <a:pt x="11467460" y="47465"/>
                  <a:pt x="11467460" y="106017"/>
                </a:cubicBezTo>
                <a:lnTo>
                  <a:pt x="11467460" y="494748"/>
                </a:lnTo>
                <a:cubicBezTo>
                  <a:pt x="11467460" y="553300"/>
                  <a:pt x="11419994" y="600765"/>
                  <a:pt x="11361443" y="600765"/>
                </a:cubicBezTo>
                <a:lnTo>
                  <a:pt x="35162" y="600765"/>
                </a:lnTo>
                <a:cubicBezTo>
                  <a:pt x="15743" y="600765"/>
                  <a:pt x="0" y="585022"/>
                  <a:pt x="0" y="565602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370932" y="5901462"/>
            <a:ext cx="35162" cy="600765"/>
          </a:xfrm>
          <a:custGeom>
            <a:avLst/>
            <a:gdLst/>
            <a:ahLst/>
            <a:cxnLst/>
            <a:rect l="l" t="t" r="r" b="b"/>
            <a:pathLst>
              <a:path w="35162" h="600765">
                <a:moveTo>
                  <a:pt x="35162" y="0"/>
                </a:moveTo>
                <a:lnTo>
                  <a:pt x="35162" y="0"/>
                </a:lnTo>
                <a:lnTo>
                  <a:pt x="35162" y="600765"/>
                </a:lnTo>
                <a:lnTo>
                  <a:pt x="35162" y="600765"/>
                </a:lnTo>
                <a:cubicBezTo>
                  <a:pt x="15756" y="600765"/>
                  <a:pt x="0" y="585009"/>
                  <a:pt x="0" y="565602"/>
                </a:cubicBezTo>
                <a:lnTo>
                  <a:pt x="0" y="35162"/>
                </a:lnTo>
                <a:cubicBezTo>
                  <a:pt x="0" y="15756"/>
                  <a:pt x="15756" y="0"/>
                  <a:pt x="3516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565154" y="6078097"/>
            <a:ext cx="11184835" cy="2473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Idea:</a:t>
            </a: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Select targeted optimization strategies based on where the program falls in the Roofline chart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4720" y="608842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Summary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236667"/>
            <a:ext cx="115443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Key Performance Metrics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80956" y="1731800"/>
            <a:ext cx="3686175" cy="1181100"/>
          </a:xfrm>
          <a:custGeom>
            <a:avLst/>
            <a:gdLst/>
            <a:ahLst/>
            <a:cxnLst/>
            <a:rect l="l" t="t" r="r" b="b"/>
            <a:pathLst>
              <a:path w="3686175" h="1181100">
                <a:moveTo>
                  <a:pt x="114295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571396" y="19222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728532" y="2055519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3"/>
                </a:cubicBezTo>
                <a:lnTo>
                  <a:pt x="0" y="166687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7"/>
                </a:cubicBezTo>
                <a:lnTo>
                  <a:pt x="142875" y="23813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3"/>
                </a:moveTo>
                <a:lnTo>
                  <a:pt x="107156" y="23813"/>
                </a:lnTo>
                <a:cubicBezTo>
                  <a:pt x="113742" y="23813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3"/>
                  <a:pt x="35719" y="23813"/>
                </a:cubicBezTo>
                <a:close/>
                <a:moveTo>
                  <a:pt x="41673" y="86321"/>
                </a:moveTo>
                <a:cubicBezTo>
                  <a:pt x="41673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1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3" y="81392"/>
                  <a:pt x="41673" y="86321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1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1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1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2" y="91249"/>
                  <a:pt x="101202" y="86321"/>
                </a:cubicBezTo>
                <a:cubicBezTo>
                  <a:pt x="101202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1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3" y="117111"/>
                  <a:pt x="41673" y="122039"/>
                </a:cubicBezTo>
                <a:cubicBezTo>
                  <a:pt x="41673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2" y="126967"/>
                  <a:pt x="101202" y="122039"/>
                </a:cubicBezTo>
                <a:cubicBezTo>
                  <a:pt x="101202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7"/>
                  <a:pt x="32742" y="148827"/>
                </a:cubicBezTo>
                <a:lnTo>
                  <a:pt x="74414" y="148827"/>
                </a:lnTo>
                <a:cubicBezTo>
                  <a:pt x="79364" y="148827"/>
                  <a:pt x="83344" y="152809"/>
                  <a:pt x="83344" y="157758"/>
                </a:cubicBezTo>
                <a:cubicBezTo>
                  <a:pt x="83344" y="162706"/>
                  <a:pt x="79364" y="166687"/>
                  <a:pt x="74414" y="166687"/>
                </a:cubicBezTo>
                <a:lnTo>
                  <a:pt x="32742" y="166687"/>
                </a:lnTo>
                <a:cubicBezTo>
                  <a:pt x="27794" y="166687"/>
                  <a:pt x="23812" y="162706"/>
                  <a:pt x="23812" y="157758"/>
                </a:cubicBezTo>
                <a:close/>
                <a:moveTo>
                  <a:pt x="110133" y="148827"/>
                </a:moveTo>
                <a:cubicBezTo>
                  <a:pt x="115081" y="148827"/>
                  <a:pt x="119063" y="152809"/>
                  <a:pt x="119063" y="157758"/>
                </a:cubicBezTo>
                <a:cubicBezTo>
                  <a:pt x="119063" y="162706"/>
                  <a:pt x="115081" y="166687"/>
                  <a:pt x="110133" y="166687"/>
                </a:cubicBezTo>
                <a:cubicBezTo>
                  <a:pt x="105184" y="166687"/>
                  <a:pt x="101202" y="162706"/>
                  <a:pt x="101202" y="157758"/>
                </a:cubicBezTo>
                <a:cubicBezTo>
                  <a:pt x="101202" y="152809"/>
                  <a:pt x="105184" y="148827"/>
                  <a:pt x="110133" y="1488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2793" y="2017466"/>
            <a:ext cx="704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FLOPS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396" y="2493642"/>
            <a:ext cx="33813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Compute Capacity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4254411" y="1731800"/>
            <a:ext cx="3686175" cy="1181100"/>
          </a:xfrm>
          <a:custGeom>
            <a:avLst/>
            <a:gdLst/>
            <a:ahLst/>
            <a:cxnLst/>
            <a:rect l="l" t="t" r="r" b="b"/>
            <a:pathLst>
              <a:path w="3686175" h="1181100">
                <a:moveTo>
                  <a:pt x="114295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4444852" y="19222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4578175" y="20555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3"/>
                  <a:pt x="95250" y="23813"/>
                </a:cubicBezTo>
                <a:cubicBezTo>
                  <a:pt x="88679" y="23813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7" y="53764"/>
                  <a:pt x="134987" y="51570"/>
                </a:cubicBezTo>
                <a:cubicBezTo>
                  <a:pt x="130597" y="49374"/>
                  <a:pt x="125202" y="51159"/>
                  <a:pt x="123006" y="55550"/>
                </a:cubicBezTo>
                <a:lnTo>
                  <a:pt x="97147" y="107231"/>
                </a:lnTo>
                <a:cubicBezTo>
                  <a:pt x="96515" y="107193"/>
                  <a:pt x="95882" y="107156"/>
                  <a:pt x="95250" y="107156"/>
                </a:cubicBezTo>
                <a:cubicBezTo>
                  <a:pt x="82116" y="107156"/>
                  <a:pt x="71437" y="117834"/>
                  <a:pt x="71437" y="130969"/>
                </a:cubicBezTo>
                <a:cubicBezTo>
                  <a:pt x="71437" y="144103"/>
                  <a:pt x="82116" y="154781"/>
                  <a:pt x="95250" y="154781"/>
                </a:cubicBezTo>
                <a:close/>
                <a:moveTo>
                  <a:pt x="65484" y="53577"/>
                </a:moveTo>
                <a:cubicBezTo>
                  <a:pt x="65484" y="47007"/>
                  <a:pt x="60148" y="41673"/>
                  <a:pt x="53577" y="41673"/>
                </a:cubicBezTo>
                <a:cubicBezTo>
                  <a:pt x="47007" y="41673"/>
                  <a:pt x="41673" y="47007"/>
                  <a:pt x="41673" y="53577"/>
                </a:cubicBezTo>
                <a:cubicBezTo>
                  <a:pt x="41673" y="60148"/>
                  <a:pt x="47007" y="65484"/>
                  <a:pt x="53577" y="65484"/>
                </a:cubicBezTo>
                <a:cubicBezTo>
                  <a:pt x="60148" y="65484"/>
                  <a:pt x="65484" y="60148"/>
                  <a:pt x="65484" y="53577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3" y="88679"/>
                  <a:pt x="23813" y="95250"/>
                </a:cubicBezTo>
                <a:cubicBezTo>
                  <a:pt x="23813" y="101821"/>
                  <a:pt x="29148" y="107156"/>
                  <a:pt x="35719" y="107156"/>
                </a:cubicBezTo>
                <a:close/>
                <a:moveTo>
                  <a:pt x="166687" y="95250"/>
                </a:moveTo>
                <a:cubicBezTo>
                  <a:pt x="166687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7" y="101821"/>
                  <a:pt x="166687" y="952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016248" y="2017466"/>
            <a:ext cx="11334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Bandwidth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4852" y="2493642"/>
            <a:ext cx="33813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Data Throughput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8127941" y="1731800"/>
            <a:ext cx="3686175" cy="1181100"/>
          </a:xfrm>
          <a:custGeom>
            <a:avLst/>
            <a:gdLst/>
            <a:ahLst/>
            <a:cxnLst/>
            <a:rect l="l" t="t" r="r" b="b"/>
            <a:pathLst>
              <a:path w="3686175" h="1181100">
                <a:moveTo>
                  <a:pt x="114295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8318381" y="19222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8451704" y="20555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1" y="44648"/>
                </a:moveTo>
                <a:lnTo>
                  <a:pt x="86321" y="95250"/>
                </a:lnTo>
                <a:cubicBezTo>
                  <a:pt x="86321" y="98227"/>
                  <a:pt x="87809" y="101017"/>
                  <a:pt x="90301" y="102691"/>
                </a:cubicBezTo>
                <a:lnTo>
                  <a:pt x="126020" y="126503"/>
                </a:lnTo>
                <a:cubicBezTo>
                  <a:pt x="130113" y="129257"/>
                  <a:pt x="135658" y="128140"/>
                  <a:pt x="138410" y="124010"/>
                </a:cubicBezTo>
                <a:cubicBezTo>
                  <a:pt x="141163" y="119880"/>
                  <a:pt x="140047" y="114374"/>
                  <a:pt x="135917" y="111622"/>
                </a:cubicBezTo>
                <a:lnTo>
                  <a:pt x="104179" y="90487"/>
                </a:lnTo>
                <a:lnTo>
                  <a:pt x="104179" y="44648"/>
                </a:lnTo>
                <a:cubicBezTo>
                  <a:pt x="104179" y="39700"/>
                  <a:pt x="100199" y="35719"/>
                  <a:pt x="95250" y="35719"/>
                </a:cubicBezTo>
                <a:cubicBezTo>
                  <a:pt x="90301" y="35719"/>
                  <a:pt x="86321" y="39700"/>
                  <a:pt x="86321" y="446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889778" y="2017466"/>
            <a:ext cx="8286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Latency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381" y="2493642"/>
            <a:ext cx="33813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Single Access Time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380956" y="3103093"/>
            <a:ext cx="3686175" cy="1181100"/>
          </a:xfrm>
          <a:custGeom>
            <a:avLst/>
            <a:gdLst/>
            <a:ahLst/>
            <a:cxnLst/>
            <a:rect l="l" t="t" r="r" b="b"/>
            <a:pathLst>
              <a:path w="3686175" h="1181100">
                <a:moveTo>
                  <a:pt x="114295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71396" y="32935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704720" y="3438718"/>
            <a:ext cx="190500" cy="166688"/>
          </a:xfrm>
          <a:custGeom>
            <a:avLst/>
            <a:gdLst/>
            <a:ahLst/>
            <a:cxnLst/>
            <a:rect l="l" t="t" r="r" b="b"/>
            <a:pathLst>
              <a:path w="190500" h="166688">
                <a:moveTo>
                  <a:pt x="23812" y="11906"/>
                </a:moveTo>
                <a:cubicBezTo>
                  <a:pt x="23812" y="5322"/>
                  <a:pt x="18492" y="0"/>
                  <a:pt x="11906" y="0"/>
                </a:cubicBezTo>
                <a:cubicBezTo>
                  <a:pt x="5321" y="0"/>
                  <a:pt x="0" y="5322"/>
                  <a:pt x="0" y="11906"/>
                </a:cubicBezTo>
                <a:lnTo>
                  <a:pt x="0" y="136921"/>
                </a:lnTo>
                <a:cubicBezTo>
                  <a:pt x="0" y="153368"/>
                  <a:pt x="13320" y="166688"/>
                  <a:pt x="29766" y="166688"/>
                </a:cubicBezTo>
                <a:lnTo>
                  <a:pt x="178594" y="166688"/>
                </a:lnTo>
                <a:cubicBezTo>
                  <a:pt x="185179" y="166688"/>
                  <a:pt x="190500" y="161366"/>
                  <a:pt x="190500" y="154782"/>
                </a:cubicBezTo>
                <a:cubicBezTo>
                  <a:pt x="190500" y="148197"/>
                  <a:pt x="185179" y="142875"/>
                  <a:pt x="178594" y="142875"/>
                </a:cubicBezTo>
                <a:lnTo>
                  <a:pt x="29766" y="142875"/>
                </a:lnTo>
                <a:cubicBezTo>
                  <a:pt x="26491" y="142875"/>
                  <a:pt x="23812" y="140196"/>
                  <a:pt x="23812" y="136921"/>
                </a:cubicBezTo>
                <a:lnTo>
                  <a:pt x="23812" y="11906"/>
                </a:lnTo>
                <a:close/>
                <a:moveTo>
                  <a:pt x="175096" y="44128"/>
                </a:moveTo>
                <a:cubicBezTo>
                  <a:pt x="179747" y="39477"/>
                  <a:pt x="179747" y="31924"/>
                  <a:pt x="175096" y="27273"/>
                </a:cubicBezTo>
                <a:cubicBezTo>
                  <a:pt x="170445" y="22621"/>
                  <a:pt x="162891" y="22621"/>
                  <a:pt x="158242" y="27273"/>
                </a:cubicBezTo>
                <a:lnTo>
                  <a:pt x="119062" y="66489"/>
                </a:lnTo>
                <a:lnTo>
                  <a:pt x="97706" y="45170"/>
                </a:lnTo>
                <a:cubicBezTo>
                  <a:pt x="93055" y="40520"/>
                  <a:pt x="85501" y="40520"/>
                  <a:pt x="80851" y="45170"/>
                </a:cubicBezTo>
                <a:lnTo>
                  <a:pt x="45132" y="80888"/>
                </a:lnTo>
                <a:cubicBezTo>
                  <a:pt x="40481" y="85539"/>
                  <a:pt x="40481" y="93093"/>
                  <a:pt x="45132" y="97743"/>
                </a:cubicBezTo>
                <a:cubicBezTo>
                  <a:pt x="49783" y="102394"/>
                  <a:pt x="57335" y="102394"/>
                  <a:pt x="61987" y="97743"/>
                </a:cubicBezTo>
                <a:lnTo>
                  <a:pt x="89298" y="70433"/>
                </a:lnTo>
                <a:lnTo>
                  <a:pt x="110654" y="91790"/>
                </a:lnTo>
                <a:cubicBezTo>
                  <a:pt x="115305" y="96442"/>
                  <a:pt x="122859" y="96442"/>
                  <a:pt x="127508" y="91790"/>
                </a:cubicBezTo>
                <a:lnTo>
                  <a:pt x="175133" y="4416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142793" y="3388759"/>
            <a:ext cx="1085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Utilization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71396" y="3864935"/>
            <a:ext cx="33813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Resource Utilization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4254411" y="3103093"/>
            <a:ext cx="7553325" cy="1181100"/>
          </a:xfrm>
          <a:custGeom>
            <a:avLst/>
            <a:gdLst/>
            <a:ahLst/>
            <a:cxnLst/>
            <a:rect l="l" t="t" r="r" b="b"/>
            <a:pathLst>
              <a:path w="7553325" h="1181100">
                <a:moveTo>
                  <a:pt x="114295" y="0"/>
                </a:moveTo>
                <a:lnTo>
                  <a:pt x="7439030" y="0"/>
                </a:lnTo>
                <a:cubicBezTo>
                  <a:pt x="7502153" y="0"/>
                  <a:pt x="7553325" y="51172"/>
                  <a:pt x="7553325" y="114295"/>
                </a:cubicBezTo>
                <a:lnTo>
                  <a:pt x="7553325" y="1066805"/>
                </a:lnTo>
                <a:cubicBezTo>
                  <a:pt x="7553325" y="1129928"/>
                  <a:pt x="7502153" y="1181100"/>
                  <a:pt x="743903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4444852" y="329353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3" y="0"/>
                </a:moveTo>
                <a:lnTo>
                  <a:pt x="380997" y="0"/>
                </a:lnTo>
                <a:cubicBezTo>
                  <a:pt x="423055" y="0"/>
                  <a:pt x="457200" y="34145"/>
                  <a:pt x="457200" y="76203"/>
                </a:cubicBezTo>
                <a:lnTo>
                  <a:pt x="457200" y="380997"/>
                </a:lnTo>
                <a:cubicBezTo>
                  <a:pt x="457200" y="423055"/>
                  <a:pt x="423055" y="457200"/>
                  <a:pt x="380997" y="457200"/>
                </a:cubicBezTo>
                <a:lnTo>
                  <a:pt x="76203" y="457200"/>
                </a:lnTo>
                <a:cubicBezTo>
                  <a:pt x="34145" y="457200"/>
                  <a:pt x="0" y="423055"/>
                  <a:pt x="0" y="380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4578175" y="3438718"/>
            <a:ext cx="190500" cy="166688"/>
          </a:xfrm>
          <a:custGeom>
            <a:avLst/>
            <a:gdLst/>
            <a:ahLst/>
            <a:cxnLst/>
            <a:rect l="l" t="t" r="r" b="b"/>
            <a:pathLst>
              <a:path w="190500" h="166688">
                <a:moveTo>
                  <a:pt x="0" y="17860"/>
                </a:moveTo>
                <a:cubicBezTo>
                  <a:pt x="0" y="8000"/>
                  <a:pt x="8000" y="0"/>
                  <a:pt x="17859" y="0"/>
                </a:cubicBezTo>
                <a:lnTo>
                  <a:pt x="53577" y="0"/>
                </a:lnTo>
                <a:cubicBezTo>
                  <a:pt x="63438" y="0"/>
                  <a:pt x="71437" y="8000"/>
                  <a:pt x="71437" y="17860"/>
                </a:cubicBezTo>
                <a:lnTo>
                  <a:pt x="71437" y="23813"/>
                </a:lnTo>
                <a:lnTo>
                  <a:pt x="119063" y="23813"/>
                </a:lnTo>
                <a:lnTo>
                  <a:pt x="119063" y="17860"/>
                </a:lnTo>
                <a:cubicBezTo>
                  <a:pt x="119063" y="8000"/>
                  <a:pt x="127062" y="0"/>
                  <a:pt x="136923" y="0"/>
                </a:cubicBezTo>
                <a:lnTo>
                  <a:pt x="172641" y="0"/>
                </a:lnTo>
                <a:cubicBezTo>
                  <a:pt x="182500" y="0"/>
                  <a:pt x="190500" y="8000"/>
                  <a:pt x="190500" y="17860"/>
                </a:cubicBezTo>
                <a:lnTo>
                  <a:pt x="190500" y="53578"/>
                </a:lnTo>
                <a:cubicBezTo>
                  <a:pt x="190500" y="63438"/>
                  <a:pt x="182500" y="71438"/>
                  <a:pt x="172641" y="71438"/>
                </a:cubicBezTo>
                <a:lnTo>
                  <a:pt x="136923" y="71438"/>
                </a:lnTo>
                <a:cubicBezTo>
                  <a:pt x="127062" y="71438"/>
                  <a:pt x="119063" y="63438"/>
                  <a:pt x="119063" y="53578"/>
                </a:cubicBezTo>
                <a:lnTo>
                  <a:pt x="119063" y="47625"/>
                </a:lnTo>
                <a:lnTo>
                  <a:pt x="71437" y="47625"/>
                </a:lnTo>
                <a:lnTo>
                  <a:pt x="71437" y="53578"/>
                </a:lnTo>
                <a:cubicBezTo>
                  <a:pt x="71437" y="56294"/>
                  <a:pt x="70805" y="58899"/>
                  <a:pt x="69726" y="61207"/>
                </a:cubicBezTo>
                <a:lnTo>
                  <a:pt x="95250" y="95250"/>
                </a:lnTo>
                <a:lnTo>
                  <a:pt x="125016" y="95250"/>
                </a:lnTo>
                <a:cubicBezTo>
                  <a:pt x="134875" y="95250"/>
                  <a:pt x="142875" y="103250"/>
                  <a:pt x="142875" y="113110"/>
                </a:cubicBezTo>
                <a:lnTo>
                  <a:pt x="142875" y="148828"/>
                </a:lnTo>
                <a:cubicBezTo>
                  <a:pt x="142875" y="158688"/>
                  <a:pt x="134875" y="166688"/>
                  <a:pt x="125016" y="166688"/>
                </a:cubicBezTo>
                <a:lnTo>
                  <a:pt x="89298" y="166688"/>
                </a:lnTo>
                <a:cubicBezTo>
                  <a:pt x="79437" y="166688"/>
                  <a:pt x="71437" y="158688"/>
                  <a:pt x="71437" y="148828"/>
                </a:cubicBezTo>
                <a:lnTo>
                  <a:pt x="71437" y="113110"/>
                </a:lnTo>
                <a:cubicBezTo>
                  <a:pt x="71437" y="110394"/>
                  <a:pt x="72070" y="107789"/>
                  <a:pt x="73149" y="105481"/>
                </a:cubicBezTo>
                <a:lnTo>
                  <a:pt x="47625" y="71438"/>
                </a:lnTo>
                <a:lnTo>
                  <a:pt x="17859" y="71438"/>
                </a:lnTo>
                <a:cubicBezTo>
                  <a:pt x="8000" y="71438"/>
                  <a:pt x="0" y="63438"/>
                  <a:pt x="0" y="53578"/>
                </a:cubicBezTo>
                <a:lnTo>
                  <a:pt x="0" y="1786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5016248" y="3388759"/>
            <a:ext cx="15716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Roofline Model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444852" y="3864935"/>
            <a:ext cx="72485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Performance analysis tool for identifying bottleneck types and guiding optimization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380956" y="5029200"/>
            <a:ext cx="11430000" cy="1104900"/>
          </a:xfrm>
          <a:custGeom>
            <a:avLst/>
            <a:gdLst/>
            <a:ahLst/>
            <a:cxnLst/>
            <a:rect l="l" t="t" r="r" b="b"/>
            <a:pathLst>
              <a:path w="11430000" h="1104900">
                <a:moveTo>
                  <a:pt x="114303" y="0"/>
                </a:moveTo>
                <a:lnTo>
                  <a:pt x="11315697" y="0"/>
                </a:lnTo>
                <a:cubicBezTo>
                  <a:pt x="11378825" y="0"/>
                  <a:pt x="11430000" y="51175"/>
                  <a:pt x="11430000" y="114303"/>
                </a:cubicBezTo>
                <a:lnTo>
                  <a:pt x="11430000" y="990597"/>
                </a:lnTo>
                <a:cubicBezTo>
                  <a:pt x="11430000" y="1053725"/>
                  <a:pt x="11378825" y="1104900"/>
                  <a:pt x="11315697" y="1104900"/>
                </a:cubicBezTo>
                <a:lnTo>
                  <a:pt x="114303" y="1104900"/>
                </a:lnTo>
                <a:cubicBezTo>
                  <a:pt x="51175" y="1104900"/>
                  <a:pt x="0" y="1053725"/>
                  <a:pt x="0" y="9905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630960" y="5431519"/>
            <a:ext cx="385763" cy="300038"/>
          </a:xfrm>
          <a:custGeom>
            <a:avLst/>
            <a:gdLst/>
            <a:ahLst/>
            <a:cxnLst/>
            <a:rect l="l" t="t" r="r" b="b"/>
            <a:pathLst>
              <a:path w="385763" h="300038">
                <a:moveTo>
                  <a:pt x="32148" y="109702"/>
                </a:moveTo>
                <a:lnTo>
                  <a:pt x="172254" y="167365"/>
                </a:lnTo>
                <a:cubicBezTo>
                  <a:pt x="178817" y="170044"/>
                  <a:pt x="185782" y="171450"/>
                  <a:pt x="192881" y="171450"/>
                </a:cubicBezTo>
                <a:cubicBezTo>
                  <a:pt x="199981" y="171450"/>
                  <a:pt x="206946" y="170044"/>
                  <a:pt x="213509" y="167365"/>
                </a:cubicBezTo>
                <a:lnTo>
                  <a:pt x="375851" y="100526"/>
                </a:lnTo>
                <a:cubicBezTo>
                  <a:pt x="381878" y="98048"/>
                  <a:pt x="385763" y="92223"/>
                  <a:pt x="385763" y="85725"/>
                </a:cubicBezTo>
                <a:cubicBezTo>
                  <a:pt x="385763" y="79229"/>
                  <a:pt x="381878" y="73402"/>
                  <a:pt x="375851" y="70923"/>
                </a:cubicBezTo>
                <a:lnTo>
                  <a:pt x="213509" y="4086"/>
                </a:lnTo>
                <a:cubicBezTo>
                  <a:pt x="206946" y="1407"/>
                  <a:pt x="199981" y="0"/>
                  <a:pt x="192881" y="0"/>
                </a:cubicBezTo>
                <a:cubicBezTo>
                  <a:pt x="185782" y="0"/>
                  <a:pt x="178817" y="1407"/>
                  <a:pt x="172254" y="4086"/>
                </a:cubicBezTo>
                <a:lnTo>
                  <a:pt x="9912" y="70923"/>
                </a:lnTo>
                <a:cubicBezTo>
                  <a:pt x="3884" y="73402"/>
                  <a:pt x="0" y="79229"/>
                  <a:pt x="0" y="85725"/>
                </a:cubicBezTo>
                <a:lnTo>
                  <a:pt x="0" y="283965"/>
                </a:lnTo>
                <a:cubicBezTo>
                  <a:pt x="0" y="292872"/>
                  <a:pt x="7167" y="300038"/>
                  <a:pt x="16073" y="300038"/>
                </a:cubicBezTo>
                <a:cubicBezTo>
                  <a:pt x="24981" y="300038"/>
                  <a:pt x="32148" y="292872"/>
                  <a:pt x="32148" y="283965"/>
                </a:cubicBezTo>
                <a:lnTo>
                  <a:pt x="32148" y="109702"/>
                </a:lnTo>
                <a:close/>
                <a:moveTo>
                  <a:pt x="64294" y="157722"/>
                </a:moveTo>
                <a:lnTo>
                  <a:pt x="64294" y="235744"/>
                </a:lnTo>
                <a:cubicBezTo>
                  <a:pt x="64294" y="271241"/>
                  <a:pt x="121890" y="300038"/>
                  <a:pt x="192881" y="300038"/>
                </a:cubicBezTo>
                <a:cubicBezTo>
                  <a:pt x="263872" y="300038"/>
                  <a:pt x="321469" y="271241"/>
                  <a:pt x="321469" y="235744"/>
                </a:cubicBezTo>
                <a:lnTo>
                  <a:pt x="321469" y="157654"/>
                </a:lnTo>
                <a:lnTo>
                  <a:pt x="225765" y="197100"/>
                </a:lnTo>
                <a:cubicBezTo>
                  <a:pt x="215317" y="201387"/>
                  <a:pt x="204199" y="203596"/>
                  <a:pt x="192881" y="203596"/>
                </a:cubicBezTo>
                <a:cubicBezTo>
                  <a:pt x="181563" y="203596"/>
                  <a:pt x="170445" y="201387"/>
                  <a:pt x="159998" y="197100"/>
                </a:cubicBezTo>
                <a:lnTo>
                  <a:pt x="64294" y="15765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190476" y="5257781"/>
            <a:ext cx="10421231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Understanding these metrics is the foundation of high-performance computing optimization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190477" y="5638660"/>
            <a:ext cx="830521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Mastering performance analysis is the key to writing efficient programs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1343</Words>
  <Application>Microsoft Office PowerPoint</Application>
  <PresentationFormat>宽屏</PresentationFormat>
  <Paragraphs>349</Paragraphs>
  <Slides>25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MiSans</vt:lpstr>
      <vt:lpstr>Noto Sans SC</vt:lpstr>
      <vt:lpstr>Pretendard</vt:lpstr>
      <vt:lpstr>等线</vt:lpstr>
      <vt:lpstr>微软雅黑</vt:lpstr>
      <vt:lpstr>Arial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27</cp:revision>
  <dcterms:created xsi:type="dcterms:W3CDTF">2026-04-24T01:53:00Z</dcterms:created>
  <dcterms:modified xsi:type="dcterms:W3CDTF">2026-05-27T10:19:07Z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3BE014298C8173DBA087E969CE223784_42</vt:lpwstr>
  </property>
  <property fmtid="{D5CDD505-2E9C-101B-9397-08002B2CF9AE}" pid="3" name="KSOProductBuildVer">
    <vt:lpwstr>2052-12.1.0.21915</vt:lpwstr>
  </property>
</Properties>
</file>