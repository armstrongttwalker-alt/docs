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9"/>
  </p:notesMasterIdLst>
  <p:sldIdLst>
    <p:sldId id="256" r:id="rId3"/>
    <p:sldId id="494" r:id="rId4"/>
    <p:sldId id="495" r:id="rId5"/>
    <p:sldId id="496" r:id="rId6"/>
    <p:sldId id="497" r:id="rId7"/>
    <p:sldId id="498" r:id="rId8"/>
    <p:sldId id="499" r:id="rId9"/>
    <p:sldId id="500" r:id="rId10"/>
    <p:sldId id="501" r:id="rId11"/>
    <p:sldId id="502" r:id="rId12"/>
    <p:sldId id="503" r:id="rId13"/>
    <p:sldId id="504" r:id="rId14"/>
    <p:sldId id="505" r:id="rId15"/>
    <p:sldId id="506" r:id="rId16"/>
    <p:sldId id="507" r:id="rId17"/>
    <p:sldId id="508" r:id="rId18"/>
    <p:sldId id="509" r:id="rId19"/>
    <p:sldId id="510" r:id="rId20"/>
    <p:sldId id="511" r:id="rId21"/>
    <p:sldId id="512" r:id="rId22"/>
    <p:sldId id="513" r:id="rId23"/>
    <p:sldId id="514" r:id="rId24"/>
    <p:sldId id="515" r:id="rId25"/>
    <p:sldId id="365" r:id="rId26"/>
    <p:sldId id="366" r:id="rId27"/>
    <p:sldId id="322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6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在人工智能领域，大语言模型（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LLM</a:t>
            </a:r>
            <a:r>
              <a:rPr lang="en-US" sz="1200" b="0" i="0" u="none" strike="noStrike">
                <a:solidFill>
                  <a:srgbClr val="000000"/>
                </a:solidFill>
              </a:rPr>
              <a:t>）的参数规模已从百亿级跃升至万亿级，这种规模化的增长虽然带来了涌现能力，但也对底层算力基础设施提出了前所未有的挑战。传统的软件栈开发模式往往呈现出烟囱式、碎片化的特征，不同层级之间的优化策略缺乏协同，导致硬件潜能难以被充分挖掘。端到端性能优化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End-to-End Performance Optimization</a:t>
            </a:r>
            <a:r>
              <a:rPr lang="en-US" sz="1200" b="0" i="0" u="none" strike="noStrike">
                <a:solidFill>
                  <a:srgbClr val="000000"/>
                </a:solidFill>
              </a:rPr>
              <a:t>）作为一种突破性的方法论，主张打破算法、系统软件、编译优化与硬件芯片之间的壁垒，通过宏观全链路的视角实现全局最优。在当前的智算生态中，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FlagOS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等统一智算底座的出现，正是为了解决多芯片、大规模场景下的高效计算问题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什么是端到端协同优化？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端到端协同优化可以抽象为一个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“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漏斗模型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”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。在漏斗的顶部，算法设计决定了计算图的拓扑结构和算术强度。通过算法层面的结构优化（如引入混合专家模型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MoE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或优化注意力机制），可以从源头上降低计算复杂度或显存压力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。进入编译器层后，计算图会被进一步精简和重组，算子融合（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Operator Fusion</a:t>
            </a:r>
            <a:r>
              <a:rPr lang="en-US" sz="1200" b="0" i="0" u="none" strike="noStrike">
                <a:solidFill>
                  <a:srgbClr val="000000"/>
                </a:solidFill>
              </a:rPr>
              <a:t>）等策略将多个零散的数学运算合并为单一的硬件调用，从而减少昂贵的数据搬运开销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。漏斗的底部则是算子实现层，通过对手写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Kernel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的极致调优，利用硬件特定的指令集（如张量核心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Tensor Core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或向量单元）实现峰值吞吐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这种协同不仅是正向的，更包含关键的逆向反馈机制。底层硬件的存储层次结构（如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HBM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带宽、片上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SRAM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大小）会反过来制约算子的分块（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Tiling</a:t>
            </a:r>
            <a:r>
              <a:rPr lang="en-US" sz="1200" b="0" i="0" u="none" strike="noStrike">
                <a:solidFill>
                  <a:srgbClr val="000000"/>
                </a:solidFill>
              </a:rPr>
              <a:t>）策略，并最终影响算法层对块大小（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Block Size</a:t>
            </a:r>
            <a:r>
              <a:rPr lang="en-US" sz="1200" b="0" i="0" u="none" strike="noStrike">
                <a:solidFill>
                  <a:srgbClr val="000000"/>
                </a:solidFill>
              </a:rPr>
              <a:t>）或量化精度的选择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FlagOS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社区倡导的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“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模型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-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系统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-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芯片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”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三层开放技术生态，正是基于这一设计理念，旨在实现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“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一次开发，跨芯迁移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”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的高效工作流，打破不同芯片软件栈之间的生态隔阂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大模型推理面临的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内存墙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”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与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计算墙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”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当前大模型推理主要面临双重物理制约：内存墙（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Memory Wall</a:t>
            </a:r>
            <a:r>
              <a:rPr lang="en-US" sz="1200" b="0" i="0" u="none" strike="noStrike">
                <a:solidFill>
                  <a:srgbClr val="000000"/>
                </a:solidFill>
              </a:rPr>
              <a:t>）与计算墙（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Compute Wall</a:t>
            </a:r>
            <a:r>
              <a:rPr lang="en-US" sz="1200" b="0" i="0" u="none" strike="noStrike">
                <a:solidFill>
                  <a:srgbClr val="000000"/>
                </a:solidFill>
              </a:rPr>
              <a:t>）。内存墙是指由于内存带宽增长速度远滞后于处理器算力增长速度，导致模型在解码阶段（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Decoding Phase</a:t>
            </a:r>
            <a:r>
              <a:rPr lang="en-US" sz="1200" b="0" i="0" u="none" strike="noStrike">
                <a:solidFill>
                  <a:srgbClr val="000000"/>
                </a:solidFill>
              </a:rPr>
              <a:t>）大部分时间处于等待数据读取的状态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。在处理长上下文或大规模批处理时，频繁访问外部存储器（如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DRAM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或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HBM</a:t>
            </a:r>
            <a:r>
              <a:rPr lang="en-US" sz="1200" b="0" i="0" u="none" strike="noStrike">
                <a:solidFill>
                  <a:srgbClr val="000000"/>
                </a:solidFill>
              </a:rPr>
              <a:t>）不仅增加了延迟，更显著拉高了系统功耗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计算墙则通常出现在预填充阶段（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Prefill Phase</a:t>
            </a:r>
            <a:r>
              <a:rPr lang="en-US" sz="1200" b="0" i="0" u="none" strike="noStrike">
                <a:solidFill>
                  <a:srgbClr val="000000"/>
                </a:solidFill>
              </a:rPr>
              <a:t>），此时模型需要并行处理大量输入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Token</a:t>
            </a:r>
            <a:r>
              <a:rPr lang="en-US" sz="1200" b="0" i="0" u="none" strike="noStrike">
                <a:solidFill>
                  <a:srgbClr val="000000"/>
                </a:solidFill>
              </a:rPr>
              <a:t>，算术强度极高，硬件的峰值浮点运算能力（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TFLOPS</a:t>
            </a:r>
            <a:r>
              <a:rPr lang="en-US" sz="1200" b="0" i="0" u="none" strike="noStrike">
                <a:solidFill>
                  <a:srgbClr val="000000"/>
                </a:solidFill>
              </a:rPr>
              <a:t>）成为主要瓶颈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。端到端优化的核心必要性在于：通过全链路协同，在内存受限时提升缓存复用率以突破内存墙；在计算受限时通过算子并行化与硬件指令优化来填满计算墙。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E3E3E3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3E3E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端到端优化的核心必要性在于：通过全链路协同，在内存受限时提升缓存复用率以突破内存墙；在计算受限时通过算子并行化与硬件指令优化来填满计算墙。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模型结构优化：从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MHA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到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GQA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与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MoE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多头注意力机制（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MHA</a:t>
            </a:r>
            <a:r>
              <a:rPr lang="en-US" sz="1200" b="0" i="0" u="none" strike="noStrike">
                <a:solidFill>
                  <a:srgbClr val="000000"/>
                </a:solidFill>
              </a:rPr>
              <a:t>）在长序列处理中会导致巨大的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Key-Value</a:t>
            </a:r>
            <a:r>
              <a:rPr lang="en-US" sz="1200" b="0" i="0" u="none" strike="noStrike">
                <a:solidFill>
                  <a:srgbClr val="000000"/>
                </a:solidFill>
              </a:rPr>
              <a:t>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KV</a:t>
            </a:r>
            <a:r>
              <a:rPr lang="en-US" sz="1200" b="0" i="0" u="none" strike="noStrike">
                <a:solidFill>
                  <a:srgbClr val="000000"/>
                </a:solidFill>
              </a:rPr>
              <a:t>）缓存开销，严重占据显存并限制批处理大小。为了缓解这一瓶颈，多查询注意力（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MQA</a:t>
            </a:r>
            <a:r>
              <a:rPr lang="en-US" sz="1200" b="0" i="0" u="none" strike="noStrike">
                <a:solidFill>
                  <a:srgbClr val="000000"/>
                </a:solidFill>
              </a:rPr>
              <a:t>）和分组查询注意力（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GQA</a:t>
            </a:r>
            <a:r>
              <a:rPr lang="en-US" sz="1200" b="0" i="0" u="none" strike="noStrike">
                <a:solidFill>
                  <a:srgbClr val="000000"/>
                </a:solidFill>
              </a:rPr>
              <a:t>）通过共享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Key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Value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向量，显著降低了显存带宽的需求。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GQA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在维持模型表现力与减少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KV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缓存之间找到了平衡点，使端到端推理吞吐量得到了显著提升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混合专家模型（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MoE</a:t>
            </a:r>
            <a:r>
              <a:rPr lang="en-US" sz="1200" b="0" i="0" u="none" strike="noStrike">
                <a:solidFill>
                  <a:srgbClr val="000000"/>
                </a:solidFill>
              </a:rPr>
              <a:t>）架构对计算图产生了更为深刻的影响。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MoE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通过门控网络动态激活部分参数（专家），在保持巨量参数空间的同时降低了单次推理的活跃计算量。然而，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MoE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引入了动态路由（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Routing</a:t>
            </a:r>
            <a:r>
              <a:rPr lang="en-US" sz="1200" b="0" i="0" u="none" strike="noStrike">
                <a:solidFill>
                  <a:srgbClr val="000000"/>
                </a:solidFill>
              </a:rPr>
              <a:t>）和不规则的存储访问模式，这对底层的计算掩盖和通信调度提出了更高要求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。在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FlagScale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生态中，针对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DeepSeek-V3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等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MoE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模型，开发者通过优化的并行策略实现了跨芯片的异构预训练与推理支持，确保了专家调度与计算内核的高效协同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量化与稀疏化：算子实现的依赖性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量化（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Quantization</a:t>
            </a:r>
            <a:r>
              <a:rPr lang="en-US" sz="1200" b="0" i="0" u="none" strike="noStrike">
                <a:solidFill>
                  <a:srgbClr val="000000"/>
                </a:solidFill>
              </a:rPr>
              <a:t>）技术将模型权重和激活从高精度的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FP16/BF16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转换为低精度的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INT8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INT4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甚至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FP8</a:t>
            </a:r>
            <a:r>
              <a:rPr lang="en-US" sz="1200" b="0" i="0" u="none" strike="noStrike">
                <a:solidFill>
                  <a:srgbClr val="000000"/>
                </a:solidFill>
              </a:rPr>
              <a:t>，从而直接压缩模型体积并降低带宽需求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。然而，量化的收益高度依赖于底层算子对低位宽计算的支持。例如，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INT4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量化若缺乏高效的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Fused Dequant-GEMM</a:t>
            </a:r>
            <a:r>
              <a:rPr lang="en-US" sz="1200" b="0" i="0" u="none" strike="noStrike">
                <a:solidFill>
                  <a:srgbClr val="000000"/>
                </a:solidFill>
              </a:rPr>
              <a:t>（融合解量化矩阵乘）算子，其在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端的解包开销可能会抵消访存节省带来的增益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稀疏化（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Sparsification</a:t>
            </a:r>
            <a:r>
              <a:rPr lang="en-US" sz="1200" b="0" i="0" u="none" strike="noStrike">
                <a:solidFill>
                  <a:srgbClr val="000000"/>
                </a:solidFill>
              </a:rPr>
              <a:t>）则通过剔除冗余参数来进一步减少计算量。无论是结构化稀疏还是非结构化稀疏，都需要底层硬件与编译器层面的配合，以处理稀疏矩阵的索引开销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。这些算法层面的改动，实质上是在重塑计算任务的微观特征，为后续各层的优化指明了方向。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第二层：编译器级优化策略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编译器层是算法逻辑向机器码转化的关键节点。其任务是在不改变算法语义的前提下，最大限度地减少冗余操作和非必要的内存读写。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计算图级优化：算子融合与代码消除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计算图优化专注于宏观算术逻辑的重组。算子融合（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Operator Fusion</a:t>
            </a:r>
            <a:r>
              <a:rPr lang="en-US" sz="1200" b="0" i="0" u="none" strike="noStrike">
                <a:solidFill>
                  <a:srgbClr val="000000"/>
                </a:solidFill>
              </a:rPr>
              <a:t>）是最核心的技术之一，它将相邻的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Pointwise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操作（如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Add, Mul, Sigmoid</a:t>
            </a:r>
            <a:r>
              <a:rPr lang="en-US" sz="1200" b="0" i="0" u="none" strike="noStrike">
                <a:solidFill>
                  <a:srgbClr val="000000"/>
                </a:solidFill>
              </a:rPr>
              <a:t>）或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Reduce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操作合并为一个单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Kernel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执行。这种融合避免了将中间结果写回主存的昂贵代价，将数据保留在寄存器或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L1/L2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缓存中，极大提升了访存密集型（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Memory-bound</a:t>
            </a:r>
            <a:r>
              <a:rPr lang="en-US" sz="1200" b="0" i="0" u="none" strike="noStrike">
                <a:solidFill>
                  <a:srgbClr val="000000"/>
                </a:solidFill>
              </a:rPr>
              <a:t>）任务的执行速度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此外，常量折叠（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Constant Folding</a:t>
            </a:r>
            <a:r>
              <a:rPr lang="en-US" sz="1200" b="0" i="0" u="none" strike="noStrike">
                <a:solidFill>
                  <a:srgbClr val="000000"/>
                </a:solidFill>
              </a:rPr>
              <a:t>）在编译阶段预先计算静态子图，死代码消除（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Dead Code Elimination</a:t>
            </a:r>
            <a:r>
              <a:rPr lang="en-US" sz="1200" b="0" i="0" u="none" strike="noStrike">
                <a:solidFill>
                  <a:srgbClr val="000000"/>
                </a:solidFill>
              </a:rPr>
              <a:t>）则移除不影响最终输出的冗余计算分支。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FlagTree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作为一个统一的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AI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芯片编译器框架，能够针对多种后端（如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NVIDIA, Huawei Ascend, Moore Threads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等）生成高度优化的中间表示（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FLIR</a:t>
            </a:r>
            <a:r>
              <a:rPr lang="en-US" sz="1200" b="0" i="0" u="none" strike="noStrike">
                <a:solidFill>
                  <a:srgbClr val="000000"/>
                </a:solidFill>
              </a:rPr>
              <a:t>），并结合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“flagtree_hints”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引导硬件特有的内存管理策略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显存与显存规划优化：显存复用与通信掩盖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显存规划的目标是在有限的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HBM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空间内塞入更大的模型或更高的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Batch Size</a:t>
            </a:r>
            <a:r>
              <a:rPr lang="en-US" sz="1200" b="0" i="0" u="none" strike="noStrike">
                <a:solidFill>
                  <a:srgbClr val="000000"/>
                </a:solidFill>
              </a:rPr>
              <a:t>。通过静态分析计算图，编译器可以识别张量的生命周期，并对不重叠的张量实施显存复用（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Memory Reuse</a:t>
            </a:r>
            <a:r>
              <a:rPr lang="en-US" sz="1200" b="0" i="0" u="none" strike="noStrike">
                <a:solidFill>
                  <a:srgbClr val="000000"/>
                </a:solidFill>
              </a:rPr>
              <a:t>）。在分布式场景中，通信掩盖（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Communication Overlapping</a:t>
            </a:r>
            <a:r>
              <a:rPr lang="en-US" sz="1200" b="0" i="0" u="none" strike="noStrike">
                <a:solidFill>
                  <a:srgbClr val="000000"/>
                </a:solidFill>
              </a:rPr>
              <a:t>）通过在计算过程中异步启动集体通信（如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All-Reduce</a:t>
            </a:r>
            <a:r>
              <a:rPr lang="en-US" sz="1200" b="0" i="0" u="none" strike="noStrike">
                <a:solidFill>
                  <a:srgbClr val="000000"/>
                </a:solidFill>
              </a:rPr>
              <a:t>），消除了通信延迟对整体执行时间的直接贡献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FlagCX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通信库在这一层发挥了关键作用。作为一种可扩展且适应性强的统一通信库，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FlagCX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支持拓扑自动检测和设备缓冲区的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RDMA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技术，能够优化跨芯片环境下的数据同步效率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。在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Megatron-LM-FL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的分布式实践中，这种通信掩盖机制确保了即便在异构芯片集群中，计算与通信也能保持紧密的流水线协同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算子实现与硬件微结构优化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当优化进入算子实现层，竞争的焦点转变为对硬件指令集和存储层次结构的极致利用。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算子级手写与调优：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Kernel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集成全链路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虽然自动化编译技术在快速迭代，但针对大模型中的热点算子（如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LayerNorm, Softmax, RMSNorm</a:t>
            </a:r>
            <a:r>
              <a:rPr lang="en-US" sz="1200" b="0" i="0" u="none" strike="noStrike">
                <a:solidFill>
                  <a:srgbClr val="000000"/>
                </a:solidFill>
              </a:rPr>
              <a:t>），手写高性能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Kernel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仍不可或缺。利用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OpenAI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推出的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Triton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语言，开发者可以编写具有高度可读性且性能媲美原生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CUDA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的算子代码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。在端到端链路中，这些调优好的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Kernel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需要通过标准化的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API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集成到上层推理框架中。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FlagGems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作为高性能通用算子库，提供了大量经过深度调优的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Triton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实现。其核心价值在于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“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后端中立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”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的内核集合，能够根据运行时的硬件后端自动派发最优实现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。例如，在复杂的反向传播场景中，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FlagGems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提供的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gather_backward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等算子极大缓解了训练过程中的性能瓶颈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  <a:latin typeface="Google Sans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FlagGems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算子库的设计理念及其作用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FlagGems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的设计理念主要围绕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“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无缝替换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”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“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高效运行时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”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展开。它通过覆盖重写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PyTorch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ATen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算子，使得模型开发者无需修改底层代码，仅通过一行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flag_gems.enable()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即可切换到高性能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Triton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算子库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为了解决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Triton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运行时由于复杂的装饰器（如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Autotuner</a:t>
            </a:r>
            <a:r>
              <a:rPr lang="en-US" sz="1200" b="0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）带来的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端侧开销，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FlagGems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创新性地引入了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LibEntry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机制。该机制通过独立维护的缓存绕过多层调用，将算子执行的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耗时降低了约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70%</a:t>
            </a:r>
            <a:r>
              <a:rPr lang="en-US" sz="1200" b="0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，确保了在处理小规模算子时也能达到与原生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ATen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相当的效率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。此外，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FlagGems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支持自动化的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Pointwise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代码生成，能够灵活处理非连续张量和多种输入类型，大幅提升了算子开发的覆盖面和通用性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智算生态引入：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FlagOS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与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FlagScale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协同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性能优化不再是孤立的代码改进，而是一场生态级别的协同。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FlagOS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提供了一个统一的异构计算软件栈，将模型、系统与芯片层紧密联结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FlagScale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的系统定位：全生命周期加速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FlagScale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被定位为一个支持大模型全生命周期的综合工具包，涵盖开发、训练、微调与部署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。其核心目标是在保障跨架构迁移能力的同时，最大化硬件计算资源的利用效率。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FlagScale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并不重造轮子，而是基于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Megatron-LM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vLLM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等成熟开源项目进行深度定制，形成针对异构芯片优化的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FL</a:t>
            </a:r>
            <a:r>
              <a:rPr lang="en-US" sz="1200" b="0" i="0" u="none" strike="noStrike">
                <a:solidFill>
                  <a:srgbClr val="000000"/>
                </a:solidFill>
              </a:rPr>
              <a:t>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FlagOpen</a:t>
            </a:r>
            <a:r>
              <a:rPr lang="en-US" sz="1200" b="0" i="0" u="none" strike="noStrike">
                <a:solidFill>
                  <a:srgbClr val="000000"/>
                </a:solidFill>
              </a:rPr>
              <a:t>）版本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全链路协同框架设计：训练与推理的融合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FlagScale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的架构设计强调模块化与可插拔性。自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v1.0.0-alpha.0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版本起，硬件特定的多芯片支持被解耦到插件仓库中，如专门负责训练加速的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TransformerEngine-FL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和负责分布式训练的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Megatron-LM-FL </a:t>
            </a:r>
            <a:r>
              <a:rPr lang="en-US" sz="1200" b="0" i="0" u="none" strike="noStrike">
                <a:solidFill>
                  <a:srgbClr val="000000"/>
                </a:solidFill>
              </a:rPr>
              <a:t>。这种设计允许开发者针对不同代的英伟达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GPU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或国产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AI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芯片应用差异化的补丁机制，实现异构混合训练。例如，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FlagScale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已成功实现在英伟达与天数智芯（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Iluvatar</a:t>
            </a:r>
            <a:r>
              <a:rPr lang="en-US" sz="1200" b="0" i="0" u="none" strike="noStrike">
                <a:solidFill>
                  <a:srgbClr val="000000"/>
                </a:solidFill>
              </a:rPr>
              <a:t>）混合集群上进行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Aquila2-70B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模型的高效训练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核心组件拆解：vLLM-Plugin-FL 设计初衷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原生 vLLM 的痛点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</a:p>
          <a:p>
            <a:pPr marL="609600" lvl="1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对国产化及异构算力生态支持不够灵活。</a:t>
            </a:r>
          </a:p>
          <a:p>
            <a:pPr marL="609600" lvl="1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代码耦合度高，定制化深度优化（特别是针对特定调度策略或新算子库）侵入性强。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vLLM-Plugin-FL 的插件化设计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</a:p>
          <a:p>
            <a:pPr marL="609600" lvl="1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解耦</a:t>
            </a:r>
            <a:r>
              <a:rPr lang="en-US" sz="1200" b="0" i="0" u="none" strike="noStrike">
                <a:solidFill>
                  <a:srgbClr val="000000"/>
                </a:solidFill>
              </a:rPr>
              <a:t>：将核心调度逻辑与底层硬件执行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/算子库分离。</a:t>
            </a:r>
          </a:p>
          <a:p>
            <a:pPr marL="609600" lvl="1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热插拔</a:t>
            </a:r>
            <a:r>
              <a:rPr lang="en-US" sz="1200" b="0" i="0" u="none" strike="noStrike">
                <a:solidFill>
                  <a:srgbClr val="000000"/>
                </a:solidFill>
              </a:rPr>
              <a:t>：方便快速接入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FlagGems 等自研优化库。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核心组件拆解：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vLLM-Plugin-FL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加速策略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在端到端推理优化中，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vLLM-Plugin-FL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是联结上层服务框架与底层高性能算子的关键枢纽。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vLLM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原生瓶颈与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Plugin-FL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的插件化初衷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原生的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vLLM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框架虽然在调度层面表现卓越，但在面对多样化的国产芯片时，其对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CUDA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的强依赖成为了生态扩张的瓶颈。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vLLM-Plugin-FL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的初衷是基于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FlagOS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的统一后端，为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vLLM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提供一个非侵入式的多芯片支持层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。通过该插件，同样的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vllm serve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命令可以在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NVIDIA</a:t>
            </a:r>
            <a:r>
              <a:rPr lang="en-US" sz="1200" b="0" i="0" u="none" strike="noStrike">
                <a:solidFill>
                  <a:srgbClr val="000000"/>
                </a:solidFill>
              </a:rPr>
              <a:t>、平头哥（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Pingtouge-Zhenwu</a:t>
            </a:r>
            <a:r>
              <a:rPr lang="en-US" sz="1200" b="0" i="0" u="none" strike="noStrike">
                <a:solidFill>
                  <a:srgbClr val="000000"/>
                </a:solidFill>
              </a:rPr>
              <a:t>）、昇腾（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Ascend</a:t>
            </a:r>
            <a:r>
              <a:rPr lang="en-US" sz="1200" b="0" i="0" u="none" strike="noStrike">
                <a:solidFill>
                  <a:srgbClr val="000000"/>
                </a:solidFill>
              </a:rPr>
              <a:t>）、寒武纪（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Cambricon</a:t>
            </a:r>
            <a:r>
              <a:rPr lang="en-US" sz="1200" b="0" i="0" u="none" strike="noStrike">
                <a:solidFill>
                  <a:srgbClr val="000000"/>
                </a:solidFill>
              </a:rPr>
              <a:t>）等多种芯片上运行，而无需修改核心代码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Google Sans Text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LLM-Plugin-FL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深度整合了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vLLM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的核心技术并进行了定制化改进：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200" b="1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PagedAttention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的深度优化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：PagedAttention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是解决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KV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缓存内存碎片化的关键。在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Plugin-FL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PagedAttention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的逻辑被重新实现并适配了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FlagGems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FlagTree。通过在不同芯片后端优化页面大小（Page Size）和块对齐策略，显存利用率得到了极大提升，支持了更大的批处理规模 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核心加速策略：Continuous Batching (动态批处理)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传统 Static Batching 的低效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</a:p>
          <a:p>
            <a:pPr marL="609600" lvl="1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请求必须等待同 Batch 中的所有序列生成完毕才能返回，短序列的算力被严重浪费（气泡现象）。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Continuous Batching (In-flight Batching)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</a:p>
          <a:p>
            <a:pPr marL="609600" lvl="1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细粒度的 iteration 级别调度。</a:t>
            </a:r>
          </a:p>
          <a:p>
            <a:pPr marL="609600" lvl="1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一旦有请求生成遇到 EOS</a:t>
            </a:r>
            <a:r>
              <a:rPr lang="en-US" sz="1200" b="0" i="0" u="none" strike="noStrike">
                <a:solidFill>
                  <a:srgbClr val="000000"/>
                </a:solidFill>
              </a:rPr>
              <a:t>（结束符），立刻将其踢出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Batch</a:t>
            </a:r>
            <a:r>
              <a:rPr lang="en-US" sz="1200" b="0" i="0" u="none" strike="noStrike">
                <a:solidFill>
                  <a:srgbClr val="000000"/>
                </a:solidFill>
              </a:rPr>
              <a:t>，并将新请求插入，保持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GPU 始终高负荷运转。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吞吐量跃升</a:t>
            </a:r>
            <a:r>
              <a:rPr lang="en-US" sz="1200" b="0" i="0" u="none" strike="noStrike">
                <a:solidFill>
                  <a:srgbClr val="000000"/>
                </a:solidFill>
              </a:rPr>
              <a:t>：配合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PagedAttention</a:t>
            </a:r>
            <a:r>
              <a:rPr lang="en-US" sz="1200" b="0" i="0" u="none" strike="noStrike">
                <a:solidFill>
                  <a:srgbClr val="000000"/>
                </a:solidFill>
              </a:rPr>
              <a:t>，实现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2x - 4x 的推理吞吐提升。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200" b="1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Continuous Batching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的定制改进</a:t>
            </a:r>
            <a:r>
              <a:rPr lang="en-US" sz="1200" b="0" i="0" u="none" strike="noStrike">
                <a:solidFill>
                  <a:srgbClr val="000000"/>
                </a:solidFill>
              </a:rPr>
              <a:t>：传统的批处理需要等待批次中所有序列完成，而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Continuous Batching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允许在迭代级别动态插入新请求。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Plugin-FL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通过与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FlagScale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的自动调优器（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Autotuner</a:t>
            </a:r>
            <a:r>
              <a:rPr lang="en-US" sz="1200" b="0" i="0" u="none" strike="noStrike">
                <a:solidFill>
                  <a:srgbClr val="000000"/>
                </a:solidFill>
              </a:rPr>
              <a:t>）协同，能够根据当前硬件的即时算力与带宽状态，动态调整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max_num_batched_tokens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等关键参数，从而平滑推理延迟并提升总体吞吐量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深度整合：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vLLM-Plugin-FL + FlagGems + FlagTree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这三个组件构成了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FlagOS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智算底座的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“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铁三角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”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，实现了从算子级到系统级的全面打通。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组件协同机制：从算子到系统的闭环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协同机制可以描述为以下流程：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vLLM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负责全局的请求调度与批处理逻辑；当计算图执行到具体的算子（如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RMSNorm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或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Linear</a:t>
            </a:r>
            <a:r>
              <a:rPr lang="en-US" sz="1200" b="0" i="0" u="none" strike="noStrike">
                <a:solidFill>
                  <a:srgbClr val="000000"/>
                </a:solidFill>
              </a:rPr>
              <a:t>）时，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vLLM-Plugin-FL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通过派发机制调用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FlagGems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提供的预编译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Kernel </a:t>
            </a:r>
            <a:r>
              <a:rPr lang="en-US" sz="1200" b="0" i="0" u="none" strike="noStrike">
                <a:solidFill>
                  <a:srgbClr val="000000"/>
                </a:solidFill>
              </a:rPr>
              <a:t>。如果面临全新的、未经调优的算子需求，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FlagTree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编译器则负责即时（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JIT</a:t>
            </a:r>
            <a:r>
              <a:rPr lang="en-US" sz="1200" b="0" i="0" u="none" strike="noStrike">
                <a:solidFill>
                  <a:srgbClr val="000000"/>
                </a:solidFill>
              </a:rPr>
              <a:t>）生成适配目标芯片的代码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。这种分层协作确保了系统既有预置算子的高性能，又有应对模型快速迭代的灵活性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特定场景下的推理延伸：具身智能与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FlagOS-Robo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端到端优化的影响力已延伸至具身智能（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Embodied AI</a:t>
            </a:r>
            <a:r>
              <a:rPr lang="en-US" sz="1200" b="0" i="0" u="none" strike="noStrike">
                <a:solidFill>
                  <a:srgbClr val="000000"/>
                </a:solidFill>
              </a:rPr>
              <a:t>）等前沿领域。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FlagOS-Robo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作为一个面向机器人大模型的端到端工具包，集成了数据加载、模型训练及云边端协同推理能力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。在具身智能场景下，推理不仅要求高吞吐，更要求极低的端到端延迟（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Latency</a:t>
            </a:r>
            <a:r>
              <a:rPr lang="en-US" sz="1200" b="0" i="0" u="none" strike="noStrike">
                <a:solidFill>
                  <a:srgbClr val="000000"/>
                </a:solidFill>
              </a:rPr>
              <a:t>）以保证实时控制。通过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vLLM-Plugin-FL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对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PI0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RoboBrain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等视觉语言动作（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VLA</a:t>
            </a:r>
            <a:r>
              <a:rPr lang="en-US" sz="1200" b="0" i="0" u="none" strike="noStrike">
                <a:solidFill>
                  <a:srgbClr val="000000"/>
                </a:solidFill>
              </a:rPr>
              <a:t>）模型的加速，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FlagOS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实现了从云端大规模训练到边缘侧实时部署的高效迁移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实验牵引环节：核心实战与收益展示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实验是检验端到端优化成果的最终标准。通过在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FlagScale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环境下部署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vLLM-Plugin-FL</a:t>
            </a:r>
            <a:r>
              <a:rPr lang="en-US" sz="1200" b="0" i="0" u="none" strike="noStrike">
                <a:solidFill>
                  <a:srgbClr val="000000"/>
                </a:solidFill>
              </a:rPr>
              <a:t>，可以直观看到全链路优化的巨大潜力。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实验环境搭建：在</a:t>
            </a:r>
            <a:r>
              <a:rPr lang="en-US" sz="1200" b="1" i="0" u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FlagScale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中安装部署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部署流程强调了环境的一致性。首先需要安装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vLLM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FL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分支或官方版本，随后通过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Git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克隆并安装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vllm-plugin-FL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及其依赖项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scikit-build-core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sz="1200" b="0" i="0" u="none" strike="noStrike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ninja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3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1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40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39.png"/><Relationship Id="rId9" Type="http://schemas.openxmlformats.org/officeDocument/2006/relationships/hyperlink" Target="https://space.bilibili.com/3546791834290849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44: End-to-End Performance Optimization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End-to-End Performance Optimization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Collaborative Acceleration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From algorithm design to compiler optimization to operator implementation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1404" y="2218411"/>
            <a:ext cx="5991096" cy="463958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50030" y="2290525"/>
            <a:ext cx="5164802" cy="429134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 of End-to-End Performance Optimization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Macro Perspective: Why End-to-End Collaboration is Essential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 Algorithm: Structural Evolution and Lightweighting Methods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Compilation and Scheduling: Operator Fusion and Fine-Grained Memory Planning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 Layer: Achieving Performance Deployment with FlagGems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Ecosystem Collaboration: FlagScale and Operating System Architecture Design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Practical Analysis of vLLM Plugin-Driven Acceleration Practices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What is end-to-end collaborative optimization?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776732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Limitations of local optimization: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Amdahl's Law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Full-chain funnel model: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Top layer (algorithm layer): theoretical computational load (FLOPs) and memory requirements.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Middle layer (compilation/framework layer): execution path of the computation graph and the lifetime of GPU memory.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Bottom layer (operator/hardware layer): execution efficiency of specific instructions.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Reverse feedback mechanism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characteristics of the underlying hardware (such as TensorCore's dedicated FP16/FP8) in turn guide the design and quantization strategy of the top-level algorithm.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13710" b="9930"/>
          <a:stretch>
            <a:fillRect/>
          </a:stretch>
        </p:blipFill>
        <p:spPr>
          <a:xfrm>
            <a:off x="8291043" y="1916348"/>
            <a:ext cx="3900957" cy="444000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"Double Walls" of Large Model Inference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Wall: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decoding phase of LLM inference is primarily limited by memory access bandwidth.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massive key-value cache consumes a significant amount of GPU memory, limiting concurrent batch size.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7362" y="3005819"/>
            <a:ext cx="7315200" cy="371565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"Double Walls" of Large Model Inference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Wall: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During the prefill phase, when handling long contexts, the computational cost of the attention mechanism increases quadratically with sequence length (compute-bound).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6513" y="2550092"/>
            <a:ext cx="6952307" cy="417138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Goal of End-to-End Optimization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Breaking down both walls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Maximizing hardware computing power (High MFU)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 Fusion &amp; Kernel Optimization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Mixed Precision &amp; Quantization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Efficiency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Maximizing the utilization of GPU memory bandwidth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Access Pattern Optimization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Tiling &amp; Data Reuse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Zero-Redundancy Strategies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Algorithm Design and Model Layer Optimization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Evolution of Attention Mechanisms (Reducing KV Cache Overhead):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MHA (Multi-Head Attention): Standard structure, high memory overhead.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MQA (Multi-Query Attention): All heads share a single KV, significantly reducing GPU memory usage.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GQA (Grouped-Query Attention): A trade-off between model capability and inference overhead.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Sparse Architecture (MoE - Mixture of Experts):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Activates only a portion of the expert network, significantly reducing the activation computation cost per inference while maintaining a large number of model parameters.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4600" y="4298388"/>
            <a:ext cx="5767056" cy="247127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57578" y="4204109"/>
            <a:ext cx="4843604" cy="265389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Quantization and Sparsity Techniques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Powerful tools for reducing memory access pressure and improving computational accuracy: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PTQ (Post-Training Quantization) and QAT (Quantization-Aware Training).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Mainstream Quantization Solutions for Large Models: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Weight-Only Quantization: such as AWQ, GPTQ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Weight-Activation Quantization: such as W8A8 (SmoothQuant)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FP8 Format Support: Combined with the features of next-generation GPU hardware.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9101" y="4378742"/>
            <a:ext cx="5882112" cy="234273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53171" y="4295228"/>
            <a:ext cx="3196345" cy="256277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Compiler-Level Optimization Strategies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Optimization: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 Fusion: Merging multiple small operators (e.g., MatMul + Bias + ReLU) into a large kernel.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Benefits: Avoids repeated read/write operations to GPU memory (DRAM -&gt; SRAM -&gt; DRAM) for intermediate results; instead, it's completed directly in registers or shared memory, significantly improving bandwidth utilization.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Constant Folding &amp; Dead Code Elimination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3873" y="3862467"/>
            <a:ext cx="5666244" cy="285900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50524" y="4043694"/>
            <a:ext cx="4856430" cy="267778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and Communication Optimization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Planning: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pooling, tensor lifetime analysis, and in-place operation.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Communication Overlap: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Hiding communication time within the computation process in tensor parallelism and pipeline parallelism.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11674"/>
          <a:stretch>
            <a:fillRect/>
          </a:stretch>
        </p:blipFill>
        <p:spPr>
          <a:xfrm>
            <a:off x="2254312" y="3569260"/>
            <a:ext cx="6826313" cy="328874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 Implementation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Following up on the Automatic Tuning: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optimal schedule found by AutoTVM or heuristic algorithms is compiled into the final hardware instructions.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Optimization Techniques: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FlashAttention and its variants: Avoiding instantiating the complete Attention matrix into GPU memory through Tiling and Recomputation.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Extreme Assembly-Level Optimization: Squeezing out the last 5% of performance using PTX or a handwritten kernel tailored to a specific domestic chip microarchitecture.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60731" y="4468757"/>
            <a:ext cx="5702363" cy="225644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975239" y="4213860"/>
            <a:ext cx="2692887" cy="250761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65886" y="4422706"/>
            <a:ext cx="2115911" cy="243529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FlagGems Operator Library: Role and Ecosystem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What is FlagGems?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FlagGems is a high-efficiency operator library developed by Zhiyuan, designed to provide high-performance, cross-platform basic operator support for large language models.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Positioning in the end-to-end pipeline: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connects to the framework layer (vLLM, Megatron) above, and shields the differences between heterogeneous hardware below.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 set support: Covers various fusion operators, customized Attention, etc.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0525" y="4474411"/>
            <a:ext cx="3458143" cy="19519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83113" y="4524851"/>
            <a:ext cx="7315200" cy="201834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FlagOS and FlagScale Collaboration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System Positioning: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FlagScale is dedicated to solving the problems of efficient computation and scalability from training to inference in the era of large models.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is system-level collaboration needed?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simple inference engine or training framework is insufficient to handle cluster scheduling at the level of hundreds of thousands of GPUs.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FlagOS provides underlying hardware abstraction and scheduling, while FlagScale provides efficient distributed strategies at the model level.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55796" y="4438141"/>
            <a:ext cx="4174628" cy="23309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05258" y="4198997"/>
            <a:ext cx="2471940" cy="25701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47750" y="4251214"/>
            <a:ext cx="4634286" cy="260678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Seamless Integration of Training and Inference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Training-side Collaboration: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Megatron-LM-FL: A 3D parallel strategy optimized for ultra-large-scale clusters.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TransformerEngine-FL: Accelerates underlying computation, especially supporting low-precision computation.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Trend Towards Integrated Training and Inference: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computational flow graph and operators accumulated during training are smoothly transferred to the inference engine.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3874" y="4422664"/>
            <a:ext cx="3966645" cy="243533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90519" y="4079764"/>
            <a:ext cx="3320072" cy="277823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vLLM-Plugin-FL Design Philosophy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88911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vLLM-Plugin-FL's Plugin-Based Design: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Decoupling: Separating core scheduling logic from underlying hardware execution/operator libraries.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Hot-Swapping: Facilitating quick integration with self-developed optimization libraries such as FlagGems.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7339"/>
          <a:stretch>
            <a:fillRect/>
          </a:stretch>
        </p:blipFill>
        <p:spPr>
          <a:xfrm>
            <a:off x="7412744" y="1132554"/>
            <a:ext cx="4779256" cy="558892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2629" y="3705676"/>
            <a:ext cx="5190044" cy="283323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Deep Optimization of PagedAttention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PagedAttention: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Learns from the virtual memory and paging mechanisms of operating systems.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Divides the KV cache into fixed-size blocks (e.g., 16 tokens).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Logically contiguous KV values ​​can be physically stored non-contiguously, completely eliminating GPU memory waste.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Targeted Optimizations in Plugin-FL: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Leverages FlagGems for extreme hardware-specific acceleration of the PagedAttention operator.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1404" y="4407924"/>
            <a:ext cx="5558828" cy="185873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17762" y="4329374"/>
            <a:ext cx="5134267" cy="252862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Continuous Batching (Dynamic Batching)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Continuous Batching (In-flight Batching):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Fine-grained iteration-level scheduling.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Once a request encounters an EOS (End of Serial), it is immediately removed from the batch, and a new request is inserted, keeping the GPU constantly under high load.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Throughput Leap: Combined with PagedAttention, achieves a 2x - 4x improvement in inference throughput.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0899" y="4139603"/>
            <a:ext cx="8968192" cy="20373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vLLM-Plugin-FL + FlagGems + FlagTree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Iron Triangle Collaboration Mechanism: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vLLM-Plugin-FL: Acts as the brain, responsible for efficient request scheduling, memory management (KV Cache), and computation graph distribution.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FlagGems: Acts as the muscles, providing highly optimized underlying kernels (such as FlashAttention and various fusion operators).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FlagTree: Provides higher-level optimization of decision trees or execution paths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End-to-End Benefits: Achieves "out-of-the-box" high performance across multiple platforms.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10736"/>
          <a:stretch>
            <a:fillRect/>
          </a:stretch>
        </p:blipFill>
        <p:spPr>
          <a:xfrm>
            <a:off x="3141552" y="4290406"/>
            <a:ext cx="5269118" cy="256759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Extending the Scenario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FlagOS-Robo Inference in Embodied Intelligence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Large Models Go to the Physical World: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VLA require extremely low end-to-end latency for robotic applications.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FlagOS-Robo Platform Enablement: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fine-tuning framework and efficient inference deployment capabilities for embodied scenarios.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End-to-end latency optimization for multimodal inputs (cameras, sensors) and control flow outputs.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9314" y="4093670"/>
            <a:ext cx="4229680" cy="276432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77411" y="4094334"/>
            <a:ext cx="3773172" cy="276366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Experiment Guide (End-to-End Hands-on)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Experiment Objective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fully validate the use of vLLM-Plugin-FL to accelerate large model inference within FlagScale.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Deployment Process (Installation and Configuration):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Quickly launch the FlagScale environment.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Configure hardware parameters and Plugin environment variables.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30395" y="3750469"/>
            <a:ext cx="9609524" cy="228571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End-to-End Optimization Summary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Methodology Insights: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Optimization is not a solitary endeavor; it's a full-stack engineering process encompassing "algorithm-compilation-hardware".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Good architectural design (such as pluginization) can greatly accelerate the integration of the innovation ecosystem.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Looking to the Future: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With the increasing prevalence of Hybrid Expert (MoE) and Long Context models, end-to-end optimized memory management will face new challenges, and the FlagOS system will continue to evolve.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2484</Words>
  <Application>Microsoft Office PowerPoint</Application>
  <PresentationFormat>宽屏</PresentationFormat>
  <Paragraphs>271</Paragraphs>
  <Slides>26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Google Sans</vt:lpstr>
      <vt:lpstr>Google Sans Text</vt:lpstr>
      <vt:lpstr>Noto Sans SC</vt:lpstr>
      <vt:lpstr>Pretendard</vt:lpstr>
      <vt:lpstr>等线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27</cp:revision>
  <dcterms:created xsi:type="dcterms:W3CDTF">2026-04-24T01:53:00Z</dcterms:created>
  <dcterms:modified xsi:type="dcterms:W3CDTF">2026-05-27T10:19:32Z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3BE014298C8173DBA087E969CE223784_42</vt:lpwstr>
  </property>
  <property fmtid="{D5CDD505-2E9C-101B-9397-08002B2CF9AE}" pid="3" name="KSOProductBuildVer">
    <vt:lpwstr>2052-12.1.0.21915</vt:lpwstr>
  </property>
</Properties>
</file>