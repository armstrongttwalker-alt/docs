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479" r:id="rId4"/>
    <p:sldId id="480" r:id="rId5"/>
    <p:sldId id="481" r:id="rId6"/>
    <p:sldId id="482" r:id="rId7"/>
    <p:sldId id="483" r:id="rId8"/>
    <p:sldId id="484" r:id="rId9"/>
    <p:sldId id="485" r:id="rId10"/>
    <p:sldId id="486" r:id="rId11"/>
    <p:sldId id="487" r:id="rId12"/>
    <p:sldId id="488" r:id="rId13"/>
    <p:sldId id="489" r:id="rId14"/>
    <p:sldId id="490" r:id="rId15"/>
    <p:sldId id="491" r:id="rId16"/>
    <p:sldId id="492" r:id="rId17"/>
    <p:sldId id="493" r:id="rId18"/>
    <p:sldId id="365" r:id="rId19"/>
    <p:sldId id="366" r:id="rId20"/>
    <p:sldId id="32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3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space.bilibili.com/3546791834290849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43: Extreme Optimization of Heterogeneous Systems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Microarchitecture of Heterogeneous Systems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Architecture Evolution: From a single SIMT  model toward architectures integrating tensor engines, asynchronous memory, and massive on-chip caches.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Ecosystem Differences: Fundamental differences exist in instruction throughput, register file sizes, and memory topologies across different hardware.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Requirements: Relying on abstract general-purpose compilers often leads to pipeline stalls or idle bandwidth; targeted specialization is essential.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Typical Domestic GPU  Microarchitecture Examples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Moore Threads (Moore Threads): Fifth-generation“Huagang” architecture, supporting next-generation asynchronous programming models and FP4  quantized data format, supporting clusters of over 100,000 cards 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Biren Technology (Biren):BR100  architecture, equipped with 300MB  massive on-chip cache and 64GB HBM2E, minimizing global memory access latency to the extreme 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2195" y="3154680"/>
            <a:ext cx="4868545" cy="343027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02655" y="3429000"/>
            <a:ext cx="5925820" cy="260731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Study:Background and Challenges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https://github.com/flagos-ai/FlagTree/pull/333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Objective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Taking tle.gpu.local_ptr  as an example, introduce how toimplement microarchitecture optimization for specific architectures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Code Location:https://github.com/flagos-ai/FlagTree/pull/333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Challenges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Generic optimizations cannot reach the low-level details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Shared memory access bottleneck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Significant operator performance gaps</a:t>
            </a:r>
          </a:p>
          <a:p>
            <a:pPr marL="863600" lvl="2" indent="-177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e.g.,moe_align_block_size, topk etc.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Software stack fragmentation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66080" y="3775710"/>
            <a:ext cx="5852795" cy="227203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Access Optimization Fundamentals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29094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Shared Memory  Core Characteristics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Bank  Structure: divided into 32  bankss, every 4 bytes spanning across banks; parallel access without conflicts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Thread Block Visible: the same CTA  share it, requiring __syncthreads()  for synchronization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Explicit Management:Programmer//compiler explicitly controls allocation; not a transparent cache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Domestic Chip Differences:Some domestic GPU 's bank  bank width and address mapping differ from NVIDIA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local_ptr  Significance: Verify via local_ptr  abstraction, uniformly express shared mem  pointer operations</a:t>
            </a:r>
          </a:p>
          <a:p>
            <a:pPr marL="342900" lvl="1" indent="0" algn="l">
              <a:lnSpc>
                <a:spcPct val="108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071366" y="2126956"/>
            <a:ext cx="4728706" cy="3424542"/>
            <a:chOff x="7071366" y="2126956"/>
            <a:chExt cx="4728706" cy="3424542"/>
          </a:xfrm>
        </p:grpSpPr>
        <p:sp>
          <p:nvSpPr>
            <p:cNvPr id="7" name="AutoShape 7"/>
            <p:cNvSpPr/>
            <p:nvPr/>
          </p:nvSpPr>
          <p:spPr>
            <a:xfrm>
              <a:off x="7071366" y="2126956"/>
              <a:ext cx="4727205" cy="457436"/>
            </a:xfrm>
            <a:prstGeom prst="rect">
              <a:avLst/>
            </a:prstGeom>
            <a:solidFill>
              <a:srgbClr val="C6282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248477" y="2191711"/>
              <a:ext cx="3308818" cy="3270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Register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0380935" y="2191711"/>
              <a:ext cx="1418387" cy="32709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Fastest ~1 cycle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071366" y="2688996"/>
              <a:ext cx="4727205" cy="49645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248477" y="2754581"/>
              <a:ext cx="3308818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Shared Memory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0380935" y="2786959"/>
              <a:ext cx="1418387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0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Very Fast ~5 cycles, thread block shared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071366" y="3290055"/>
              <a:ext cx="4727205" cy="496455"/>
            </a:xfrm>
            <a:prstGeom prst="rect">
              <a:avLst/>
            </a:prstGeom>
            <a:solidFill>
              <a:srgbClr val="E57373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248477" y="3355640"/>
              <a:ext cx="3308818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L1 Cache / Texture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0380935" y="3355640"/>
              <a:ext cx="1418387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Fast ~30 cycles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071366" y="3891944"/>
              <a:ext cx="4727205" cy="496455"/>
            </a:xfrm>
            <a:prstGeom prst="rect">
              <a:avLst/>
            </a:prstGeom>
            <a:solidFill>
              <a:srgbClr val="EF9A9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7248477" y="3956699"/>
              <a:ext cx="3308818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L2 Cache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0380935" y="3956699"/>
              <a:ext cx="1418387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20000"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Moderately Fast ~100 cycles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7071366" y="4493003"/>
              <a:ext cx="4727205" cy="496455"/>
            </a:xfrm>
            <a:prstGeom prst="rect">
              <a:avLst/>
            </a:prstGeom>
            <a:solidFill>
              <a:srgbClr val="FFCCBC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7248477" y="4558588"/>
              <a:ext cx="3308818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Global Memory (HBM)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0381685" y="4571871"/>
              <a:ext cx="1418387" cy="36611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Slow ~400+ cycles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7071366" y="5159647"/>
              <a:ext cx="4727205" cy="39185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Latency increases from top to bottom  </a:t>
              </a:r>
              <a:r>
                <a:rPr lang="en-US" sz="14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▲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26554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16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03200" indent="-2032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Triton -written, Cross-Hardware Unified:</a:t>
            </a:r>
          </a:p>
          <a:p>
            <a:pPr marL="495300" lvl="1" indent="-1524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Natively supports CUDA,MLU,XPU,NPU  etc. 10+  hardware backends</a:t>
            </a:r>
          </a:p>
          <a:p>
            <a:pPr marL="203200" indent="-2032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High-Performance Operators:</a:t>
            </a:r>
          </a:p>
          <a:p>
            <a:pPr marL="495300" lvl="1" indent="-1524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training and inference operators including matrix operations, attention mechanisms, normalization, and activation functions</a:t>
            </a:r>
          </a:p>
          <a:p>
            <a:pPr marL="203200" indent="-2032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LibEntry  Kernel Cache:</a:t>
            </a:r>
          </a:p>
          <a:p>
            <a:pPr marL="495300" lvl="1" indent="-1524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In-house dispatch layer replacing Triton  native Autotuner, significantly reducing first-compilation overhead and dispatch  dispatch latency</a:t>
            </a:r>
          </a:p>
          <a:p>
            <a:pPr marL="203200" indent="-2032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Dual-Mode Deployment:</a:t>
            </a:r>
          </a:p>
          <a:p>
            <a:pPr marL="495300" lvl="1" indent="-1524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Pure Python  package (quick validation) and C++  extension (production acceleration) freely switchable;C++  path eliminates Python  call frame overhead</a:t>
            </a:r>
          </a:p>
          <a:p>
            <a:pPr marL="203200" indent="-2032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Configuration-Driven Tuning:</a:t>
            </a:r>
          </a:p>
          <a:p>
            <a:pPr marL="495300" lvl="1" indent="-1524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LibTuner  automatically searches for optimal hyperparameters and persists them as YAML; cold start directly reuses them without re-running benchmark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90715" y="1323975"/>
            <a:ext cx="4810760" cy="472186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  System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Unified Multi-Chip AI  Operator Compiler · Based on Triton &amp; MLIR  Ecosystem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Supported Chip Backends (10+  domestic and international mainstream AI  chips)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NVIDIA,Cambricon,Tsingmicro,Huawei Ascend,Moore Threads, etc.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Multiple Triton  version branches (v3.1 ~ v3.5) maintained in parallel; independent CI/CD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41680" y="3359150"/>
            <a:ext cx="10964545" cy="2765907"/>
            <a:chOff x="741680" y="3359150"/>
            <a:chExt cx="10964545" cy="2765907"/>
          </a:xfrm>
        </p:grpSpPr>
        <p:sp>
          <p:nvSpPr>
            <p:cNvPr id="7" name="AutoShape 7"/>
            <p:cNvSpPr/>
            <p:nvPr/>
          </p:nvSpPr>
          <p:spPr>
            <a:xfrm>
              <a:off x="741680" y="3359150"/>
              <a:ext cx="2582578" cy="2765907"/>
            </a:xfrm>
            <a:prstGeom prst="rect">
              <a:avLst/>
            </a:prstGeom>
            <a:solidFill>
              <a:srgbClr val="FBF0F1">
                <a:alpha val="100000"/>
              </a:srgbClr>
            </a:solidFill>
            <a:ln w="25400">
              <a:solidFill>
                <a:srgbClr val="8B0012">
                  <a:alpha val="100000"/>
                </a:srgbClr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8" name="AutoShape 8"/>
            <p:cNvSpPr/>
            <p:nvPr/>
          </p:nvSpPr>
          <p:spPr>
            <a:xfrm>
              <a:off x="741680" y="3359150"/>
              <a:ext cx="2582578" cy="176428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741680" y="3552328"/>
              <a:ext cx="2582578" cy="610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1C1C1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Python Frontend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41680" y="4227893"/>
              <a:ext cx="2582578" cy="18011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50800" tIns="50800" rIns="50800" bIns="5080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@triton.jit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FlagGems LibEntry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3324258" y="4645514"/>
              <a:ext cx="211139" cy="80398"/>
            </a:xfrm>
            <a:prstGeom prst="rect">
              <a:avLst/>
            </a:prstGeom>
            <a:solidFill>
              <a:srgbClr val="7A6065">
                <a:alpha val="100000"/>
              </a:srgbClr>
            </a:solidFill>
            <a:ln w="12700">
              <a:solidFill>
                <a:srgbClr val="7A606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465289" y="4509285"/>
              <a:ext cx="164672" cy="35397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7A606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▶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3535397" y="3359150"/>
              <a:ext cx="2582578" cy="2765907"/>
            </a:xfrm>
            <a:prstGeom prst="rect">
              <a:avLst/>
            </a:prstGeom>
            <a:solidFill>
              <a:srgbClr val="FBF0F1">
                <a:alpha val="100000"/>
              </a:srgbClr>
            </a:solidFill>
            <a:ln w="25400">
              <a:solidFill>
                <a:srgbClr val="B8860B">
                  <a:alpha val="100000"/>
                </a:srgbClr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3535397" y="3359150"/>
              <a:ext cx="2582578" cy="176428"/>
            </a:xfrm>
            <a:prstGeom prst="rect">
              <a:avLst/>
            </a:prstGeom>
            <a:solidFill>
              <a:srgbClr val="B8860B">
                <a:alpha val="100000"/>
              </a:srgbClr>
            </a:solidFill>
            <a:ln w="12700">
              <a:solidFill>
                <a:srgbClr val="B8860B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535397" y="3552328"/>
              <a:ext cx="2582578" cy="610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1C1C1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Compiler Middle Layer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3535397" y="4227893"/>
              <a:ext cx="2582578" cy="18011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50800" tIns="50800" rIns="50800" bIns="5080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MLIR Dialects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Triton-IR / TTGIR</a:t>
              </a: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117975" y="4645514"/>
              <a:ext cx="211139" cy="80398"/>
            </a:xfrm>
            <a:prstGeom prst="rect">
              <a:avLst/>
            </a:prstGeom>
            <a:solidFill>
              <a:srgbClr val="7A6065">
                <a:alpha val="100000"/>
              </a:srgbClr>
            </a:solidFill>
            <a:ln w="12700">
              <a:solidFill>
                <a:srgbClr val="7A606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259006" y="4509285"/>
              <a:ext cx="164672" cy="35397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7A606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▶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329930" y="3359150"/>
              <a:ext cx="2582578" cy="2765907"/>
            </a:xfrm>
            <a:prstGeom prst="rect">
              <a:avLst/>
            </a:prstGeom>
            <a:solidFill>
              <a:srgbClr val="FBF0F1">
                <a:alpha val="100000"/>
              </a:srgbClr>
            </a:solidFill>
            <a:ln w="25400">
              <a:solidFill>
                <a:srgbClr val="C4314A">
                  <a:alpha val="100000"/>
                </a:srgbClr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6329930" y="3359150"/>
              <a:ext cx="2582578" cy="176428"/>
            </a:xfrm>
            <a:prstGeom prst="rect">
              <a:avLst/>
            </a:prstGeom>
            <a:solidFill>
              <a:srgbClr val="C4314A">
                <a:alpha val="100000"/>
              </a:srgbClr>
            </a:solidFill>
            <a:ln w="12700">
              <a:solidFill>
                <a:srgbClr val="C4314A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329930" y="3552328"/>
              <a:ext cx="2582578" cy="610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1C1C1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Backend Code Generation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329930" y="4227893"/>
              <a:ext cx="2582578" cy="18011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50800" tIns="50800" rIns="50800" bIns="5080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LLVM-IR → PTX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ASM / Vendor Toolchain</a:t>
              </a: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8912508" y="4645514"/>
              <a:ext cx="211139" cy="80398"/>
            </a:xfrm>
            <a:prstGeom prst="rect">
              <a:avLst/>
            </a:prstGeom>
            <a:solidFill>
              <a:srgbClr val="7A6065">
                <a:alpha val="100000"/>
              </a:srgbClr>
            </a:solidFill>
            <a:ln w="12700">
              <a:solidFill>
                <a:srgbClr val="7A606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9052724" y="4509285"/>
              <a:ext cx="164672" cy="35397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1" i="0" u="none" strike="noStrike">
                  <a:solidFill>
                    <a:srgbClr val="7A606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▶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9123647" y="3359150"/>
              <a:ext cx="2582578" cy="2765907"/>
            </a:xfrm>
            <a:prstGeom prst="rect">
              <a:avLst/>
            </a:prstGeom>
            <a:solidFill>
              <a:srgbClr val="FBF0F1">
                <a:alpha val="100000"/>
              </a:srgbClr>
            </a:solidFill>
            <a:ln w="25400">
              <a:solidFill>
                <a:srgbClr val="5C0009">
                  <a:alpha val="100000"/>
                </a:srgbClr>
              </a:solidFill>
              <a:prstDash val="solid"/>
            </a:ln>
            <a:effectLst>
              <a:outerShdw blurRad="63500" dist="25400" dir="8100000" algn="bl" rotWithShape="0">
                <a:srgbClr val="8B0012">
                  <a:alpha val="12000"/>
                </a:srgbClr>
              </a:outerShdw>
            </a:effectLst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9123647" y="3359150"/>
              <a:ext cx="2582578" cy="176428"/>
            </a:xfrm>
            <a:prstGeom prst="rect">
              <a:avLst/>
            </a:prstGeom>
            <a:solidFill>
              <a:srgbClr val="5C0009">
                <a:alpha val="100000"/>
              </a:srgbClr>
            </a:solidFill>
            <a:ln w="12700">
              <a:solidFill>
                <a:srgbClr val="5C0009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9123647" y="3552328"/>
              <a:ext cx="2582578" cy="610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1C1C1C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Runtime Loading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9123647" y="4227893"/>
              <a:ext cx="2582578" cy="180113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50800" tIns="50800" rIns="50800" bIns="5080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JIT Cache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600" b="1" i="0" u="none" strike="noStrike">
                  <a:solidFill>
                    <a:srgbClr val="7A606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Unified HW Manager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tle.gpu.local_ptr  Design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 TLE  Extension:Shared Memory  Pointer Primitive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Idea: Introduce dedicated primitives at the Triton  language layer so the compiler can recognize shared memory  pointer operations and generate specialized instructions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5169535" y="3141345"/>
            <a:ext cx="6773545" cy="2553335"/>
          </a:xfrm>
          <a:prstGeom prst="rect">
            <a:avLst/>
          </a:prstGeom>
          <a:noFill/>
          <a:ln w="12700">
            <a:solidFill>
              <a:srgbClr val="8B001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# tle.gpu.local_ptr:  Obtain shared memory  pointer at a specified position in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def local_ptr(ptr: tl.tensor, offset: tl.tensor) -&gt; tl.tensor: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"""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Returns a pointer to the ( GPU Shared Memory  in (ptr + offset) ) location in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and tl.make_block_ptr : directly operates on raw shared memory </a:t>
            </a:r>
            <a:b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</a:b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addresses, enabling the compiler to emit architecture-specific local load/store  instructions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"""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>
            <a:off x="260350" y="2764155"/>
            <a:ext cx="4909185" cy="35921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Points</a:t>
            </a:r>
            <a:endParaRPr lang="en-US" sz="1100"/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Explicitly declare operations on shared memory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Compiler-visible,lowering pass  pass can recognize them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Under TLE  layer provides unified definitions; each chip backend</a:t>
            </a:r>
            <a:b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implements local_ptr 's lowering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Zero runtime overhead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Compiler Pass  Integration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Read from tle.gpu.local_ptr  to Architecture-Specialized Instruction Transformation Pipeline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Pass:LocalPtrToSharedMemPass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313180" y="2091055"/>
            <a:ext cx="9988568" cy="1191381"/>
            <a:chOff x="1313180" y="2091055"/>
            <a:chExt cx="9988568" cy="1191381"/>
          </a:xfrm>
        </p:grpSpPr>
        <p:sp>
          <p:nvSpPr>
            <p:cNvPr id="7" name="AutoShape 7"/>
            <p:cNvSpPr/>
            <p:nvPr/>
          </p:nvSpPr>
          <p:spPr>
            <a:xfrm>
              <a:off x="1313180" y="2091055"/>
              <a:ext cx="1750533" cy="1191381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313180" y="2150813"/>
              <a:ext cx="1750533" cy="47655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Triton Python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400" b="1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Source Code</a:t>
              </a:r>
            </a:p>
          </p:txBody>
        </p:sp>
        <p:sp>
          <p:nvSpPr>
            <p:cNvPr id="9" name="AutoShape 9"/>
            <p:cNvSpPr/>
            <p:nvPr/>
          </p:nvSpPr>
          <p:spPr>
            <a:xfrm>
              <a:off x="1313180" y="2686368"/>
              <a:ext cx="1750533" cy="5363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FlagGems operator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calls local_ptr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3115373" y="2567608"/>
              <a:ext cx="205984" cy="59758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3373016" y="2091055"/>
              <a:ext cx="1750533" cy="1191381"/>
            </a:xfrm>
            <a:prstGeom prst="rect">
              <a:avLst/>
            </a:prstGeom>
            <a:solidFill>
              <a:srgbClr val="FFF3E0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3373016" y="2150813"/>
              <a:ext cx="1750533" cy="47655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E651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Triton IR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400" b="1" i="0" u="none" strike="noStrike">
                  <a:solidFill>
                    <a:srgbClr val="E651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(TTIR)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3373016" y="2686368"/>
              <a:ext cx="1750533" cy="5363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local_ptr node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preserved in IR</a:t>
              </a: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5175209" y="2567608"/>
              <a:ext cx="205984" cy="59758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5432198" y="2091055"/>
              <a:ext cx="1750533" cy="1191381"/>
            </a:xfrm>
            <a:prstGeom prst="rect">
              <a:avLst/>
            </a:prstGeom>
            <a:solidFill>
              <a:srgbClr val="FCE4EC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5432198" y="2150813"/>
              <a:ext cx="1750533" cy="47655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TTGIR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4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(Triton GPU IR)</a:t>
              </a: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5432198" y="2686368"/>
              <a:ext cx="1750533" cy="5363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Pass identifies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local_ptr node</a:t>
              </a: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234391" y="2567608"/>
              <a:ext cx="205984" cy="59758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7492034" y="2091055"/>
              <a:ext cx="1750533" cy="1191381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7492034" y="2150813"/>
              <a:ext cx="1750533" cy="47655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Specialized Pass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4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Processing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7492034" y="2686368"/>
              <a:ext cx="1750533" cy="5363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Replaced with target architecture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local load/store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9294226" y="2567608"/>
              <a:ext cx="205984" cy="59758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9551215" y="2091055"/>
              <a:ext cx="1750533" cy="1191381"/>
            </a:xfrm>
            <a:prstGeom prst="rect">
              <a:avLst/>
            </a:prstGeom>
            <a:solidFill>
              <a:srgbClr val="E8F5E9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9551215" y="2150813"/>
              <a:ext cx="1750533" cy="47655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LLVM IR /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400" b="1" i="0" u="none" strike="noStrike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Target Assembly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9551215" y="2686368"/>
              <a:ext cx="1750533" cy="53631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Generates optimal</a:t>
              </a:r>
              <a:endParaRPr lang="en-US" sz="1100"/>
            </a:p>
            <a:p>
              <a:pPr indent="0" algn="ctr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memory access instruction sequence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241425" y="4070350"/>
            <a:ext cx="9761855" cy="2553335"/>
          </a:xfrm>
          <a:prstGeom prst="rect">
            <a:avLst/>
          </a:prstGeom>
          <a:noFill/>
          <a:ln w="12700">
            <a:solidFill>
              <a:srgbClr val="8B001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// FlagTree: lib/Dialect/TritonGPU/Transforms/LocalPtrToSharedMem.cpp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class LocalPtrToSharedMemPass : public ...&lt;LocalPtrToSharedMemPass&gt; {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void runOnOperation() override {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//  Traverse all tle.gpu.local_ptr  operation nodes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getOperation()-&gt;walk([&amp;](tle::gpu::LocalPtrOp op) {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  // Replace local_ptr  with target chip's shared memory intrinsic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  rewriter.replaceOpWithNewOp&lt;gpu::SharedMemLoadOp&gt;(op, ...);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});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}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};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Pass  Registration and Backend Integration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Optimization Results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global memory  round-trip overhead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Hit shared mem bank  locality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Reduce memory access latency 5~10x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Improve warp  instruction-level parallelism</a:t>
            </a: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sp>
        <p:nvSpPr>
          <p:cNvPr id="6" name="AutoShape 6"/>
          <p:cNvSpPr/>
          <p:nvPr/>
        </p:nvSpPr>
        <p:spPr>
          <a:xfrm>
            <a:off x="4825365" y="3326130"/>
            <a:ext cx="1819910" cy="9137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B00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Pass Registration Pipeline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98310" y="1258570"/>
            <a:ext cx="5003165" cy="3290570"/>
          </a:xfrm>
          <a:prstGeom prst="rect">
            <a:avLst/>
          </a:prstGeom>
          <a:noFill/>
          <a:ln w="12700">
            <a:solidFill>
              <a:srgbClr val="8B001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//  Register Pass in backend pipeline  Pass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void addPasses(PassManager &amp;pm,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           BackendType backend) {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// Common Pass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pm.addPass(createTritonGPUIRPass());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// Specialized Pass (target backend only)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if (backend == BackendType::DCU) {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pm.addPass(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  createLocalPtrToSharedMemPass()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);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}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pm.addPass(createLLVMLoweringPass());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}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8" name="AutoShape 8"/>
          <p:cNvSpPr/>
          <p:nvPr/>
        </p:nvSpPr>
        <p:spPr>
          <a:xfrm>
            <a:off x="169545" y="5051425"/>
            <a:ext cx="1595120" cy="9137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8B00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IR Transformation Example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64665" y="4977130"/>
            <a:ext cx="4471670" cy="988060"/>
          </a:xfrm>
          <a:prstGeom prst="rect">
            <a:avLst/>
          </a:prstGeom>
          <a:noFill/>
          <a:ln w="12700">
            <a:solidFill>
              <a:srgbClr val="8B001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%ptr = tle.gpu.local_ptr %base,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        %offset : !tt.ptr&lt;f32&gt;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%val = tt.load %ptr : f32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148195" y="4947285"/>
            <a:ext cx="4653280" cy="1229360"/>
          </a:xfrm>
          <a:prstGeom prst="rect">
            <a:avLst/>
          </a:prstGeom>
          <a:noFill/>
          <a:ln w="12700">
            <a:solidFill>
              <a:srgbClr val="8B001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// Domestic DCU  architecture shared mem  access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%ptr = gpu.shared_mem_ptr %base,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        %offset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%val = gpu.ds_read_b32 %ptr : i32</a:t>
            </a:r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48400" y="5102225"/>
            <a:ext cx="815975" cy="16021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8B00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Pass</a:t>
            </a:r>
            <a:br>
              <a:rPr lang="en-US" sz="1600" b="1" i="0" u="none" strike="noStrike">
                <a:solidFill>
                  <a:srgbClr val="8B00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1600" b="1" i="0" u="none" strike="noStrike">
                <a:solidFill>
                  <a:srgbClr val="8B00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==&gt;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 Operator Layer Architecture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integrate local_ptr  optimization into FlagGems  operators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831340" y="1884680"/>
            <a:ext cx="9199880" cy="4350385"/>
            <a:chOff x="1831340" y="1884680"/>
            <a:chExt cx="9199880" cy="4350385"/>
          </a:xfrm>
        </p:grpSpPr>
        <p:sp>
          <p:nvSpPr>
            <p:cNvPr id="7" name="AutoShape 7"/>
            <p:cNvSpPr/>
            <p:nvPr/>
          </p:nvSpPr>
          <p:spPr>
            <a:xfrm>
              <a:off x="1831340" y="1884680"/>
              <a:ext cx="9199880" cy="699770"/>
            </a:xfrm>
            <a:prstGeom prst="rect">
              <a:avLst/>
            </a:prstGeom>
            <a:solidFill>
              <a:srgbClr val="1A237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931035" y="1954530"/>
              <a:ext cx="8999855" cy="5600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20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FlagGems  —  PyTorch ATen Operator Registration Layer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831340" y="2734310"/>
              <a:ext cx="9199880" cy="699770"/>
            </a:xfrm>
            <a:prstGeom prst="rect">
              <a:avLst/>
            </a:prstGeom>
            <a:solidFill>
              <a:srgbClr val="283593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931035" y="2804795"/>
              <a:ext cx="8999855" cy="5600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LibEntry / LibTuner  —  Kernel Cache and Auto-Tuning Management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831340" y="3584575"/>
              <a:ext cx="9199880" cy="69977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931035" y="3654425"/>
              <a:ext cx="8999855" cy="5600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Triton Kernel  —  Operator Implementation ( .py )  ←  tle.gpu.local_ptr Injection Point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831340" y="4434840"/>
              <a:ext cx="9199880" cy="699770"/>
            </a:xfrm>
            <a:prstGeom prst="rect">
              <a:avLst/>
            </a:prstGeom>
            <a:solidFill>
              <a:srgbClr val="B71C1C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931035" y="4504690"/>
              <a:ext cx="8999855" cy="56007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FlagTree Compiler  —  Specialized Pass Processing local_ptr → Architecture Instructions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831340" y="5334635"/>
              <a:ext cx="9199880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Operators optimized with local_ptr (covered in PR #333)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831340" y="5784850"/>
              <a:ext cx="1449705" cy="45021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831340" y="5814695"/>
              <a:ext cx="1449705" cy="3898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topk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3371215" y="5784850"/>
              <a:ext cx="1449705" cy="45021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3371215" y="5814695"/>
              <a:ext cx="1449705" cy="3898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sort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4911090" y="5784850"/>
              <a:ext cx="1449705" cy="45021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4911090" y="5814695"/>
              <a:ext cx="1449705" cy="3898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argsort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451600" y="5784850"/>
              <a:ext cx="1449705" cy="45021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451600" y="5814695"/>
              <a:ext cx="1449705" cy="3898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median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7991475" y="5784850"/>
              <a:ext cx="1449705" cy="45021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7991475" y="5814695"/>
              <a:ext cx="1449705" cy="3898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kthvalue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9531350" y="5784850"/>
              <a:ext cx="1449705" cy="45021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9531350" y="5814695"/>
              <a:ext cx="1449705" cy="3898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mode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TopK  Operator Optimization Case Study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78294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local_ptr  Microarchitecture Optimization in Practice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Proximity Storage: Store intermediate sorting results in shared memory; avoid writing back to global memory  and re-reading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Bank  Access Optimization: local_ptr  carries offset  offset information, enabling the compiler to analyze bank conflict  and reorder access patterns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Fusion: Pass Replace local_ptr + load  into a single ds_read  instruction, reducing instruction count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Latency Hiding: shared memory  dispatch latency~5 cycles;warp  switching can effectively hide it, significantly improving throughput</a:t>
            </a:r>
          </a:p>
        </p:txBody>
      </p:sp>
      <p:sp>
        <p:nvSpPr>
          <p:cNvPr id="6" name="AutoShape 6"/>
          <p:cNvSpPr/>
          <p:nvPr/>
        </p:nvSpPr>
        <p:spPr>
          <a:xfrm>
            <a:off x="6466205" y="2042160"/>
            <a:ext cx="5324475" cy="3577590"/>
          </a:xfrm>
          <a:prstGeom prst="rect">
            <a:avLst/>
          </a:prstGeom>
          <a:noFill/>
          <a:ln w="12700">
            <a:solidFill>
              <a:srgbClr val="8B001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# local_ptr  optimization: via shared memory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@triton.jit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def topk_kernel_opt(X, OUT_VAL, OUT_IDX,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                BLOCK: tl.constexpr):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smem = tl.zeros([BLOCK], dtype=tl.float32)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#  Use local_ptr  to write to shared mem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ptr = tle.gpu.local_ptr(smem, xidx)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tl.store(ptr, tl.load(X + xidx))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tl.debug_barrier()  #  for synchronization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#  Read from shared mem  for sorting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    vals = tl.load(tle.gpu.local_ptr(smem, ...))</a:t>
            </a: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7" name="AutoShape 7"/>
          <p:cNvSpPr/>
          <p:nvPr/>
        </p:nvSpPr>
        <p:spPr>
          <a:xfrm>
            <a:off x="6728525" y="1662370"/>
            <a:ext cx="4800000" cy="38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8B001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Optimized: local_ptr Shared Memory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TopK  Complete Optimization Path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1429385" y="1750060"/>
            <a:ext cx="9299575" cy="4349750"/>
            <a:chOff x="1429385" y="1750060"/>
            <a:chExt cx="9299575" cy="4349750"/>
          </a:xfrm>
        </p:grpSpPr>
        <p:sp>
          <p:nvSpPr>
            <p:cNvPr id="6" name="AutoShape 6"/>
            <p:cNvSpPr/>
            <p:nvPr/>
          </p:nvSpPr>
          <p:spPr>
            <a:xfrm>
              <a:off x="1429385" y="1750060"/>
              <a:ext cx="299720" cy="89979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429385" y="2000250"/>
              <a:ext cx="29972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1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809115" y="1800225"/>
              <a:ext cx="2999740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FlagGems Registration Layer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809115" y="2129790"/>
              <a:ext cx="2999740" cy="29972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1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src/flag_gems/ops/topk.py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5029200" y="1750060"/>
              <a:ext cx="5699760" cy="899795"/>
            </a:xfrm>
            <a:prstGeom prst="rect">
              <a:avLst/>
            </a:prstGeom>
            <a:solidFill>
              <a:srgbClr val="1E1E1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182880" tIns="182880" rIns="182880" bIns="18288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def topk(input, k, dim=-1, largest=True, sorted=True):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    ...call Triton kernel...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569085" y="2649855"/>
              <a:ext cx="19685" cy="14986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429385" y="2900045"/>
              <a:ext cx="299720" cy="89979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429385" y="3150235"/>
              <a:ext cx="29972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2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809115" y="2950210"/>
              <a:ext cx="2999740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Triton Kernel Layer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809115" y="3279775"/>
              <a:ext cx="2999740" cy="29972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1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Introduce tle.gpu.local_ptr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5029200" y="2900045"/>
              <a:ext cx="5699760" cy="899795"/>
            </a:xfrm>
            <a:prstGeom prst="rect">
              <a:avLst/>
            </a:prstGeom>
            <a:solidFill>
              <a:srgbClr val="1E1E1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182880" tIns="182880" rIns="182880" bIns="18288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ptr = tle.gpu.local_ptr(shared_buf, lane_offset)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tl.store(ptr, val)  # → shared mem write</a:t>
              </a: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569085" y="3799840"/>
              <a:ext cx="19685" cy="14986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429385" y="4050030"/>
              <a:ext cx="299720" cy="89979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429385" y="4300220"/>
              <a:ext cx="29972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3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809115" y="4100195"/>
              <a:ext cx="2999740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FlagTree Compilation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809115" y="4429760"/>
              <a:ext cx="2999740" cy="29972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1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LocalPtrToSharedMemPass Processing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5029200" y="4050030"/>
              <a:ext cx="5699760" cy="899795"/>
            </a:xfrm>
            <a:prstGeom prst="rect">
              <a:avLst/>
            </a:prstGeom>
            <a:solidFill>
              <a:srgbClr val="1E1E1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182880" tIns="182880" rIns="182880" bIns="18288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tle.gpu.local_ptr → gpu.ds_write_b32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(Domestic DCU shared memory write instruction)</a:t>
              </a: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569085" y="4949825"/>
              <a:ext cx="19685" cy="14986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429385" y="5200015"/>
              <a:ext cx="299720" cy="899795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429385" y="5450205"/>
              <a:ext cx="29972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4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809115" y="5250180"/>
              <a:ext cx="2999740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Target Code Generation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809115" y="5579745"/>
              <a:ext cx="2999740" cy="29972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1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Architecture-Optimal Instruction Sequence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5029200" y="5200015"/>
              <a:ext cx="5699760" cy="899795"/>
            </a:xfrm>
            <a:prstGeom prst="rect">
              <a:avLst/>
            </a:prstGeom>
            <a:solidFill>
              <a:srgbClr val="1E1E1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182880" tIns="182880" rIns="182880" bIns="18288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ds_write_b32 v[addr], v[data]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D4D4D4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rPr>
                <a:t>ds_read_b32  v[out], v[addr]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Improvement Results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Per-operator performance improvement (relative to pre-optimization, test environment: domestic DCU GPU)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481570" y="2264410"/>
            <a:ext cx="4430395" cy="3243580"/>
            <a:chOff x="7481570" y="2264410"/>
            <a:chExt cx="4430395" cy="3243580"/>
          </a:xfrm>
        </p:grpSpPr>
        <p:sp>
          <p:nvSpPr>
            <p:cNvPr id="7" name="AutoShape 7"/>
            <p:cNvSpPr/>
            <p:nvPr/>
          </p:nvSpPr>
          <p:spPr>
            <a:xfrm>
              <a:off x="7481570" y="2264410"/>
              <a:ext cx="2150110" cy="1550035"/>
            </a:xfrm>
            <a:prstGeom prst="rect">
              <a:avLst/>
            </a:prstGeom>
            <a:solidFill>
              <a:srgbClr val="F8F8F8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481570" y="2364105"/>
              <a:ext cx="2150110" cy="774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4400" b="1" i="0" u="none" strike="noStrike">
                  <a:solidFill>
                    <a:srgbClr val="8B0012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rPr>
                <a:t>~60%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7481570" y="3089275"/>
              <a:ext cx="2150110" cy="67500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5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TopK-class operators</a:t>
              </a:r>
              <a:endParaRPr lang="en-US" sz="1100"/>
            </a:p>
            <a:p>
              <a:pPr indent="0" algn="ctr">
                <a:lnSpc>
                  <a:spcPct val="125000"/>
                </a:lnSpc>
              </a:pPr>
              <a:r>
                <a:rPr lang="en-US" sz="15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Average Improvement</a:t>
              </a: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761855" y="2264410"/>
              <a:ext cx="2150110" cy="1550035"/>
            </a:xfrm>
            <a:prstGeom prst="rect">
              <a:avLst/>
            </a:prstGeom>
            <a:solidFill>
              <a:srgbClr val="F8F8F8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9761855" y="2364105"/>
              <a:ext cx="2150110" cy="774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4400" b="1" i="0" u="none" strike="noStrike">
                  <a:solidFill>
                    <a:srgbClr val="8B0012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rPr>
                <a:t>~40%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761855" y="3089275"/>
              <a:ext cx="2150110" cy="67500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5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Sort-class operators</a:t>
              </a:r>
              <a:endParaRPr lang="en-US" sz="1100"/>
            </a:p>
            <a:p>
              <a:pPr indent="0" algn="ctr">
                <a:lnSpc>
                  <a:spcPct val="125000"/>
                </a:lnSpc>
              </a:pPr>
              <a:r>
                <a:rPr lang="en-US" sz="15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Average Improvement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481570" y="3957955"/>
              <a:ext cx="2150110" cy="1550035"/>
            </a:xfrm>
            <a:prstGeom prst="rect">
              <a:avLst/>
            </a:prstGeom>
            <a:solidFill>
              <a:srgbClr val="F8F8F8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481570" y="4057650"/>
              <a:ext cx="2150110" cy="774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4400" b="1" i="0" u="none" strike="noStrike">
                  <a:solidFill>
                    <a:srgbClr val="8B0012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rPr>
                <a:t>5~10x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481570" y="4782820"/>
              <a:ext cx="2150110" cy="67500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shared mem vs.</a:t>
              </a:r>
              <a:endParaRPr lang="en-US" sz="1100"/>
            </a:p>
            <a:p>
              <a:pPr indent="0" algn="ctr">
                <a:lnSpc>
                  <a:spcPct val="125000"/>
                </a:lnSpc>
              </a:pPr>
              <a:r>
                <a:rPr lang="en-US" sz="14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global mem latency ratio</a:t>
              </a: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9761855" y="3957955"/>
              <a:ext cx="2150110" cy="1550035"/>
            </a:xfrm>
            <a:prstGeom prst="rect">
              <a:avLst/>
            </a:prstGeom>
            <a:solidFill>
              <a:srgbClr val="F8F8F8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9761855" y="4057650"/>
              <a:ext cx="2150110" cy="774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4400" b="1" i="0" u="none" strike="noStrike">
                  <a:solidFill>
                    <a:srgbClr val="8B0012"/>
                  </a:solidFill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rPr>
                <a:t>0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9761855" y="4782820"/>
              <a:ext cx="2150110" cy="67500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Code Intrusiveness</a:t>
              </a:r>
              <a:endParaRPr lang="en-US" sz="1100"/>
            </a:p>
            <a:p>
              <a:pPr indent="0" algn="ctr">
                <a:lnSpc>
                  <a:spcPct val="125000"/>
                </a:lnSpc>
              </a:pPr>
              <a:r>
                <a:rPr lang="en-US" sz="14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(Operator code unchanged)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49555" y="2304415"/>
            <a:ext cx="6800215" cy="3180080"/>
            <a:chOff x="249555" y="2304415"/>
            <a:chExt cx="6800215" cy="3180080"/>
          </a:xfrm>
        </p:grpSpPr>
        <p:sp>
          <p:nvSpPr>
            <p:cNvPr id="20" name="AutoShape 20"/>
            <p:cNvSpPr/>
            <p:nvPr/>
          </p:nvSpPr>
          <p:spPr>
            <a:xfrm>
              <a:off x="249555" y="2304415"/>
              <a:ext cx="2200275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topk (K=10)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2549525" y="2344420"/>
              <a:ext cx="4500245" cy="29972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2549525" y="2344420"/>
              <a:ext cx="3060065" cy="29972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5709285" y="2304415"/>
              <a:ext cx="800100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+68%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249555" y="2864485"/>
              <a:ext cx="2200275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topk (K=100)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2549525" y="2904490"/>
              <a:ext cx="4500245" cy="29972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2549525" y="2904490"/>
              <a:ext cx="2339975" cy="29972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4989830" y="2864485"/>
              <a:ext cx="800100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+52%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249555" y="3424555"/>
              <a:ext cx="2200275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sort (BitonicSort)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2549525" y="3464560"/>
              <a:ext cx="4500245" cy="29972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2549525" y="3464560"/>
              <a:ext cx="2025015" cy="29972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4674870" y="3424555"/>
              <a:ext cx="800100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+45%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249555" y="3984625"/>
              <a:ext cx="2200275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argsort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2549525" y="4024630"/>
              <a:ext cx="4500245" cy="29972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2549525" y="4024630"/>
              <a:ext cx="1845310" cy="29972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4494530" y="3984625"/>
              <a:ext cx="800100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+41%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249555" y="4544695"/>
              <a:ext cx="2200275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median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2549525" y="4584700"/>
              <a:ext cx="4500245" cy="29972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2549525" y="4584700"/>
              <a:ext cx="1574800" cy="29972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4224655" y="4544695"/>
              <a:ext cx="800100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+35%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249555" y="5104765"/>
              <a:ext cx="2200275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r">
                <a:lnSpc>
                  <a:spcPct val="100000"/>
                </a:lnSpc>
                <a:defRPr/>
              </a:pPr>
              <a:r>
                <a:rPr lang="en-US" sz="16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kthvalue</a:t>
              </a:r>
              <a:endParaRPr lang="en-US" sz="1100"/>
            </a:p>
          </p:txBody>
        </p:sp>
        <p:sp>
          <p:nvSpPr>
            <p:cNvPr id="41" name="AutoShape 41"/>
            <p:cNvSpPr/>
            <p:nvPr/>
          </p:nvSpPr>
          <p:spPr>
            <a:xfrm>
              <a:off x="2549525" y="5144770"/>
              <a:ext cx="4500245" cy="299720"/>
            </a:xfrm>
            <a:prstGeom prst="rect">
              <a:avLst/>
            </a:prstGeom>
            <a:solidFill>
              <a:srgbClr val="F0F0F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2549525" y="5144770"/>
              <a:ext cx="1710055" cy="29972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4359275" y="5104765"/>
              <a:ext cx="800100" cy="37973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700" b="1" i="0" u="none" strike="noStrike">
                  <a:solidFill>
                    <a:srgbClr val="8B0012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+38%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Extensibility: Optimization Patterns for Other Op.s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1612265" y="1531620"/>
            <a:ext cx="9399905" cy="4700270"/>
            <a:chOff x="1612265" y="1531620"/>
            <a:chExt cx="9399905" cy="4700270"/>
          </a:xfrm>
        </p:grpSpPr>
        <p:sp>
          <p:nvSpPr>
            <p:cNvPr id="6" name="AutoShape 6"/>
            <p:cNvSpPr/>
            <p:nvPr/>
          </p:nvSpPr>
          <p:spPr>
            <a:xfrm>
              <a:off x="1612265" y="1531620"/>
              <a:ext cx="4399915" cy="4700270"/>
            </a:xfrm>
            <a:prstGeom prst="rect">
              <a:avLst/>
            </a:prstGeom>
            <a:solidFill>
              <a:srgbClr val="FFF5F5">
                <a:alpha val="100000"/>
              </a:srgbClr>
            </a:solidFill>
            <a:ln w="12700">
              <a:solidFill>
                <a:srgbClr val="8B0012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1612265" y="1531620"/>
              <a:ext cx="4399915" cy="560070"/>
            </a:xfrm>
            <a:prstGeom prst="rect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711960" y="1601470"/>
              <a:ext cx="4199890" cy="4197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Operator Patterns Suitable for local_ptr Optimization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711960" y="2311400"/>
              <a:ext cx="120015" cy="120015"/>
            </a:xfrm>
            <a:prstGeom prst="ellipse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951990" y="2211705"/>
              <a:ext cx="3930015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91440" bIns="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Intermediate Result Reuse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892300" y="2521585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2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0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Operators that read/write the same data multiple times internally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892300" y="2801620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2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→ Store in shared mem to avoid multiple global accesses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711960" y="3221355"/>
              <a:ext cx="120015" cy="120015"/>
            </a:xfrm>
            <a:prstGeom prst="ellipse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951990" y="3121660"/>
              <a:ext cx="3930015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91440" bIns="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Inter-Warp Communication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892300" y="3431540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Warps within the same CTA need to exchange data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892300" y="3711575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→ Achieve efficient communication via shared mem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1711960" y="4131310"/>
              <a:ext cx="120015" cy="120015"/>
            </a:xfrm>
            <a:prstGeom prst="ellipse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951990" y="4031615"/>
              <a:ext cx="3930015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91440" bIns="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Reduction Operations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892300" y="4341495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Cross-thread reductions such as Sum / Max / Min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892300" y="4621530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→ Alternative to traditional shuffle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711960" y="5041265"/>
              <a:ext cx="120015" cy="120015"/>
            </a:xfrm>
            <a:prstGeom prst="ellipse">
              <a:avLst/>
            </a:pr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1951990" y="4941570"/>
              <a:ext cx="3930015" cy="34988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91440" bIns="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Block Sorting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892300" y="5251450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Bitonic sort / Radix sort block implementation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1892300" y="5531485"/>
              <a:ext cx="4050030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666666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→ local_ptr keeps block data in shared mem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6212205" y="1531620"/>
              <a:ext cx="4799965" cy="4700270"/>
            </a:xfrm>
            <a:prstGeom prst="rect">
              <a:avLst/>
            </a:prstGeom>
            <a:solidFill>
              <a:srgbClr val="F0F8FF">
                <a:alpha val="100000"/>
              </a:srgbClr>
            </a:solidFill>
            <a:ln w="12700">
              <a:solidFill>
                <a:srgbClr val="0066CC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212205" y="1531620"/>
              <a:ext cx="4799965" cy="560070"/>
            </a:xfrm>
            <a:prstGeom prst="rect">
              <a:avLst/>
            </a:prstGeom>
            <a:solidFill>
              <a:srgbClr val="0D47A1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6312535" y="1601470"/>
              <a:ext cx="4599940" cy="4197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Steps to Integrate New Operators with local_ptr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6312535" y="2211705"/>
              <a:ext cx="80010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D47A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Step 1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7212330" y="2211705"/>
              <a:ext cx="3700145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2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1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Identify shared memory usage scenarios in the operator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6312535" y="2911475"/>
              <a:ext cx="80010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D47A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Step 2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7212330" y="2911475"/>
              <a:ext cx="3700145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Replace tl.zeros / tl.full declared shared buffer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7212330" y="3191510"/>
              <a:ext cx="3700145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 use tle.gpu.local_ptr references instead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312535" y="3611245"/>
              <a:ext cx="80010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D47A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Step 3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7212330" y="3611245"/>
              <a:ext cx="3700145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2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9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Verify via FlagTree compilation that the Pass executes correctly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7212330" y="3891280"/>
              <a:ext cx="3700145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(Inspect the generated PTX / ISA)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6312535" y="4311650"/>
              <a:ext cx="80010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D47A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Step 4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7212330" y="4311650"/>
              <a:ext cx="3700145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2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Verify result correctness in the FlagGems test suite</a:t>
              </a: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6312535" y="5011420"/>
              <a:ext cx="800100" cy="4000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D47A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Step 5</a:t>
              </a:r>
              <a:endParaRPr lang="en-US" sz="110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7212330" y="5011420"/>
              <a:ext cx="3700145" cy="2800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rmAutofit lnSpcReduction="10000"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1A1A1A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Submit PR; CI/CD automated regression testing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1963</Words>
  <Application>Microsoft Office PowerPoint</Application>
  <PresentationFormat>宽屏</PresentationFormat>
  <Paragraphs>346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Courier New Regular</vt:lpstr>
      <vt:lpstr>Noto Sans SC</vt:lpstr>
      <vt:lpstr>Pretendard</vt:lpstr>
      <vt:lpstr>微软雅黑</vt:lpstr>
      <vt:lpstr>Arial</vt:lpstr>
      <vt:lpstr>Arial Black</vt:lpstr>
      <vt:lpstr>Calibri</vt:lpstr>
      <vt:lpstr>Calibri Light</vt:lpstr>
      <vt:lpstr>Consolas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27</cp:revision>
  <dcterms:created xsi:type="dcterms:W3CDTF">2026-04-24T01:53:00Z</dcterms:created>
  <dcterms:modified xsi:type="dcterms:W3CDTF">2026-05-27T10:19:28Z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3BE014298C8173DBA087E969CE223784_42</vt:lpwstr>
  </property>
  <property fmtid="{D5CDD505-2E9C-101B-9397-08002B2CF9AE}" pid="3" name="KSOProductBuildVer">
    <vt:lpwstr>2052-12.1.0.21915</vt:lpwstr>
  </property>
</Properties>
</file>