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25"/>
  </p:notesMasterIdLst>
  <p:sldIdLst>
    <p:sldId id="256" r:id="rId3"/>
    <p:sldId id="430" r:id="rId4"/>
    <p:sldId id="431" r:id="rId5"/>
    <p:sldId id="432" r:id="rId6"/>
    <p:sldId id="433" r:id="rId7"/>
    <p:sldId id="434" r:id="rId8"/>
    <p:sldId id="435" r:id="rId9"/>
    <p:sldId id="436" r:id="rId10"/>
    <p:sldId id="437" r:id="rId11"/>
    <p:sldId id="438" r:id="rId12"/>
    <p:sldId id="439" r:id="rId13"/>
    <p:sldId id="440" r:id="rId14"/>
    <p:sldId id="441" r:id="rId15"/>
    <p:sldId id="442" r:id="rId16"/>
    <p:sldId id="443" r:id="rId17"/>
    <p:sldId id="444" r:id="rId18"/>
    <p:sldId id="445" r:id="rId19"/>
    <p:sldId id="446" r:id="rId20"/>
    <p:sldId id="447" r:id="rId21"/>
    <p:sldId id="365" r:id="rId22"/>
    <p:sldId id="366" r:id="rId23"/>
    <p:sldId id="322"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20"/>
        <p:guide pos="28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4"/>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5"/>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image" Target="../media/image11.jpe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43.jpeg"/><Relationship Id="rId5" Type="http://schemas.openxmlformats.org/officeDocument/2006/relationships/image" Target="../media/image12.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46.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50.png"/><Relationship Id="rId5" Type="http://schemas.openxmlformats.org/officeDocument/2006/relationships/image" Target="../media/image49.jpeg"/><Relationship Id="rId4" Type="http://schemas.openxmlformats.org/officeDocument/2006/relationships/image" Target="../media/image48.jpeg"/></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1.png"/><Relationship Id="rId7"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53.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png"/><Relationship Id="rId9" Type="http://schemas.openxmlformats.org/officeDocument/2006/relationships/image" Target="../media/image56.png"/></Relationships>
</file>

<file path=ppt/slides/_rels/slide2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8" Type="http://schemas.openxmlformats.org/officeDocument/2006/relationships/hyperlink" Target="https://github.com/flagos-ai" TargetMode="External"/><Relationship Id="rId13" Type="http://schemas.openxmlformats.org/officeDocument/2006/relationships/image" Target="../media/image66.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5.jpeg"/><Relationship Id="rId2" Type="http://schemas.openxmlformats.org/officeDocument/2006/relationships/image" Target="../media/image59.png"/><Relationship Id="rId1" Type="http://schemas.openxmlformats.org/officeDocument/2006/relationships/slideLayout" Target="../slideLayouts/slideLayout17.xml"/><Relationship Id="rId6" Type="http://schemas.openxmlformats.org/officeDocument/2006/relationships/image" Target="../media/image63.png"/><Relationship Id="rId11" Type="http://schemas.openxmlformats.org/officeDocument/2006/relationships/hyperlink" Target="https://flagos.io/Home" TargetMode="External"/><Relationship Id="rId5" Type="http://schemas.openxmlformats.org/officeDocument/2006/relationships/image" Target="../media/image62.png"/><Relationship Id="rId10" Type="http://schemas.openxmlformats.org/officeDocument/2006/relationships/hyperlink" Target="https://www.zhihu.com/people/95-22-20-18/posts" TargetMode="External"/><Relationship Id="rId4" Type="http://schemas.openxmlformats.org/officeDocument/2006/relationships/image" Target="../media/image61.png"/><Relationship Id="rId9" Type="http://schemas.openxmlformats.org/officeDocument/2006/relationships/hyperlink" Target="https://space.bilibili.com/3546791834290849"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7.jpeg"/><Relationship Id="rId1" Type="http://schemas.openxmlformats.org/officeDocument/2006/relationships/slideLayout" Target="../slideLayouts/slideLayout2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2"/>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40: Overview of LLM-Assisted Programming</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12" y="1548557"/>
            <a:ext cx="10159988" cy="2011548"/>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4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01 A New Era of Programming: The Rise of Large Models</a:t>
            </a:r>
            <a:endParaRPr lang="en-US" sz="1100"/>
          </a:p>
          <a:p>
            <a:pPr indent="0" algn="l">
              <a:lnSpc>
                <a:spcPct val="125000"/>
              </a:lnSpc>
            </a:pPr>
            <a:r>
              <a:rPr lang="en-US" sz="4000" b="0" i="0" u="none" strike="noStrike">
                <a:solidFill>
                  <a:srgbClr val="000000"/>
                </a:solidFill>
                <a:latin typeface="Arial" panose="020B0604020202020204"/>
                <a:ea typeface="Arial" panose="020B0604020202020204"/>
                <a:cs typeface="Arial" panose="020B0604020202020204"/>
                <a:sym typeface="Arial" panose="020B0604020202020204"/>
              </a:rPr>
              <a:t> </a:t>
            </a:r>
          </a:p>
        </p:txBody>
      </p:sp>
      <p:sp>
        <p:nvSpPr>
          <p:cNvPr id="3" name="AutoShape 3"/>
          <p:cNvSpPr/>
          <p:nvPr/>
        </p:nvSpPr>
        <p:spPr>
          <a:xfrm>
            <a:off x="1016000" y="3429000"/>
            <a:ext cx="1016000" cy="50800"/>
          </a:xfrm>
          <a:prstGeom prst="roundRect">
            <a:avLst>
              <a:gd name="adj" fmla="val 0"/>
            </a:avLst>
          </a:prstGeom>
          <a:solidFill>
            <a:srgbClr val="DC262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1016000" y="36830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000" b="0" i="0" u="none" strike="noStrike">
                <a:solidFill>
                  <a:srgbClr val="00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Manual Coding to Intelligent Assistance</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Noto Sans SC" panose="020B0200000000000000" charset="-122"/>
              </a:defRPr>
            </a:lvl1pPr>
          </a:lstStyle>
          <a:p>
            <a:pPr indent="0" algn="l">
              <a:lnSpc>
                <a:spcPct val="100000"/>
              </a:lnSpc>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Challenges of Traditional Programming Mode</a:t>
            </a:r>
          </a:p>
        </p:txBody>
      </p:sp>
      <p:sp>
        <p:nvSpPr>
          <p:cNvPr id="4" name="AutoShape 4"/>
          <p:cNvSpPr/>
          <p:nvPr/>
        </p:nvSpPr>
        <p:spPr>
          <a:xfrm>
            <a:off x="741680" y="14351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5" name="Picture 5"/>
          <p:cNvPicPr>
            <a:picLocks noChangeAspect="1"/>
          </p:cNvPicPr>
          <p:nvPr/>
        </p:nvPicPr>
        <p:blipFill>
          <a:blip r:embed="rId3"/>
          <a:srcRect/>
          <a:stretch>
            <a:fillRect/>
          </a:stretch>
        </p:blipFill>
        <p:spPr>
          <a:xfrm>
            <a:off x="932180" y="1625600"/>
            <a:ext cx="406400" cy="406400"/>
          </a:xfrm>
          <a:prstGeom prst="rect">
            <a:avLst/>
          </a:prstGeom>
          <a:ln w="12700">
            <a:noFill/>
            <a:prstDash val="solid"/>
          </a:ln>
        </p:spPr>
      </p:pic>
      <p:sp>
        <p:nvSpPr>
          <p:cNvPr id="6" name="AutoShape 6"/>
          <p:cNvSpPr/>
          <p:nvPr/>
        </p:nvSpPr>
        <p:spPr>
          <a:xfrm>
            <a:off x="1440180" y="15875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efficiency bottleneck</a:t>
            </a:r>
            <a:endParaRPr lang="en-US" sz="1100"/>
          </a:p>
        </p:txBody>
      </p:sp>
      <p:sp>
        <p:nvSpPr>
          <p:cNvPr id="7" name="AutoShape 7"/>
          <p:cNvSpPr/>
          <p:nvPr/>
        </p:nvSpPr>
        <p:spPr>
          <a:xfrm>
            <a:off x="1440180" y="19177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Repetitive code writing and tedious syntax memorization consume much development time.</a:t>
            </a:r>
            <a:endParaRPr lang="en-US" sz="1100"/>
          </a:p>
        </p:txBody>
      </p:sp>
      <p:sp>
        <p:nvSpPr>
          <p:cNvPr id="8" name="AutoShape 8"/>
          <p:cNvSpPr/>
          <p:nvPr/>
        </p:nvSpPr>
        <p:spPr>
          <a:xfrm>
            <a:off x="741680" y="26416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9" name="Picture 9"/>
          <p:cNvPicPr>
            <a:picLocks noChangeAspect="1"/>
          </p:cNvPicPr>
          <p:nvPr/>
        </p:nvPicPr>
        <p:blipFill>
          <a:blip r:embed="rId4"/>
          <a:srcRect/>
          <a:stretch>
            <a:fillRect/>
          </a:stretch>
        </p:blipFill>
        <p:spPr>
          <a:xfrm>
            <a:off x="932180" y="2832100"/>
            <a:ext cx="406400" cy="406400"/>
          </a:xfrm>
          <a:prstGeom prst="rect">
            <a:avLst/>
          </a:prstGeom>
          <a:ln w="12700">
            <a:noFill/>
            <a:prstDash val="solid"/>
          </a:ln>
        </p:spPr>
      </p:pic>
      <p:sp>
        <p:nvSpPr>
          <p:cNvPr id="10" name="AutoShape 10"/>
          <p:cNvSpPr/>
          <p:nvPr/>
        </p:nvSpPr>
        <p:spPr>
          <a:xfrm>
            <a:off x="1440180" y="27940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steep learning curve</a:t>
            </a:r>
            <a:endParaRPr lang="en-US" sz="1100"/>
          </a:p>
        </p:txBody>
      </p:sp>
      <p:sp>
        <p:nvSpPr>
          <p:cNvPr id="11" name="AutoShape 11"/>
          <p:cNvSpPr/>
          <p:nvPr/>
        </p:nvSpPr>
        <p:spPr>
          <a:xfrm>
            <a:off x="1440180" y="31242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New technologies and frameworks emerging constantly force developers to keep learning costly.</a:t>
            </a:r>
            <a:endParaRPr lang="en-US" sz="1100"/>
          </a:p>
        </p:txBody>
      </p:sp>
      <p:sp>
        <p:nvSpPr>
          <p:cNvPr id="12" name="AutoShape 12"/>
          <p:cNvSpPr/>
          <p:nvPr/>
        </p:nvSpPr>
        <p:spPr>
          <a:xfrm>
            <a:off x="741680" y="38481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3" name="Picture 13"/>
          <p:cNvPicPr>
            <a:picLocks noChangeAspect="1"/>
          </p:cNvPicPr>
          <p:nvPr/>
        </p:nvPicPr>
        <p:blipFill>
          <a:blip r:embed="rId5"/>
          <a:srcRect/>
          <a:stretch>
            <a:fillRect/>
          </a:stretch>
        </p:blipFill>
        <p:spPr>
          <a:xfrm>
            <a:off x="932180" y="4038600"/>
            <a:ext cx="406400" cy="406400"/>
          </a:xfrm>
          <a:prstGeom prst="rect">
            <a:avLst/>
          </a:prstGeom>
          <a:ln w="12700">
            <a:noFill/>
            <a:prstDash val="solid"/>
          </a:ln>
        </p:spPr>
      </p:pic>
      <p:sp>
        <p:nvSpPr>
          <p:cNvPr id="14" name="AutoShape 14"/>
          <p:cNvSpPr/>
          <p:nvPr/>
        </p:nvSpPr>
        <p:spPr>
          <a:xfrm>
            <a:off x="1440180" y="40005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knowledge blind spot</a:t>
            </a:r>
            <a:endParaRPr lang="en-US" sz="1100"/>
          </a:p>
        </p:txBody>
      </p:sp>
      <p:sp>
        <p:nvSpPr>
          <p:cNvPr id="15" name="AutoShape 15"/>
          <p:cNvSpPr/>
          <p:nvPr/>
        </p:nvSpPr>
        <p:spPr>
          <a:xfrm>
            <a:off x="1440180" y="43307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Mastering all APIs and best practices is challenging, and researching them takes much daily work.</a:t>
            </a:r>
            <a:endParaRPr lang="en-US" sz="1100"/>
          </a:p>
        </p:txBody>
      </p:sp>
      <p:sp>
        <p:nvSpPr>
          <p:cNvPr id="16" name="AutoShape 16"/>
          <p:cNvSpPr/>
          <p:nvPr/>
        </p:nvSpPr>
        <p:spPr>
          <a:xfrm>
            <a:off x="741680" y="50546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7" name="Picture 17"/>
          <p:cNvPicPr>
            <a:picLocks noChangeAspect="1"/>
          </p:cNvPicPr>
          <p:nvPr/>
        </p:nvPicPr>
        <p:blipFill>
          <a:blip r:embed="rId6"/>
          <a:srcRect/>
          <a:stretch>
            <a:fillRect/>
          </a:stretch>
        </p:blipFill>
        <p:spPr>
          <a:xfrm>
            <a:off x="932180" y="5245100"/>
            <a:ext cx="406400" cy="406400"/>
          </a:xfrm>
          <a:prstGeom prst="rect">
            <a:avLst/>
          </a:prstGeom>
          <a:ln w="12700">
            <a:noFill/>
            <a:prstDash val="solid"/>
          </a:ln>
        </p:spPr>
      </p:pic>
      <p:sp>
        <p:nvSpPr>
          <p:cNvPr id="18" name="AutoShape 18"/>
          <p:cNvSpPr/>
          <p:nvPr/>
        </p:nvSpPr>
        <p:spPr>
          <a:xfrm>
            <a:off x="1440180" y="52070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debugging time</a:t>
            </a:r>
            <a:endParaRPr lang="en-US" sz="1100"/>
          </a:p>
        </p:txBody>
      </p:sp>
      <p:sp>
        <p:nvSpPr>
          <p:cNvPr id="19" name="AutoShape 19"/>
          <p:cNvSpPr/>
          <p:nvPr/>
        </p:nvSpPr>
        <p:spPr>
          <a:xfrm>
            <a:off x="1440180" y="55372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Bug localization and resolution can take hours or even days, resulting in inefficiency.</a:t>
            </a:r>
            <a:endParaRPr lang="en-US" sz="1100"/>
          </a:p>
        </p:txBody>
      </p:sp>
      <p:pic>
        <p:nvPicPr>
          <p:cNvPr id="20" name="Picture 20"/>
          <p:cNvPicPr>
            <a:picLocks noChangeAspect="1"/>
          </p:cNvPicPr>
          <p:nvPr/>
        </p:nvPicPr>
        <p:blipFill>
          <a:blip r:embed="rId7"/>
          <a:srcRect l="18102" r="18101"/>
          <a:stretch>
            <a:fillRect/>
          </a:stretch>
        </p:blipFill>
        <p:spPr>
          <a:xfrm>
            <a:off x="6075680" y="1435100"/>
            <a:ext cx="5334000" cy="4699000"/>
          </a:xfrm>
          <a:prstGeom prst="roundRect">
            <a:avLst>
              <a:gd name="adj" fmla="val 2702"/>
            </a:avLst>
          </a:prstGeom>
          <a:ln w="12700" cap="flat" cmpd="sng">
            <a:noFill/>
            <a:prstDash val="solid"/>
            <a:roun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44323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AI-assisted programming</a:t>
            </a:r>
            <a:endParaRPr lang="en-US" sz="1100"/>
          </a:p>
        </p:txBody>
      </p:sp>
      <p:sp>
        <p:nvSpPr>
          <p:cNvPr id="4" name="AutoShape 4"/>
          <p:cNvSpPr/>
          <p:nvPr/>
        </p:nvSpPr>
        <p:spPr>
          <a:xfrm>
            <a:off x="762000" y="1272540"/>
            <a:ext cx="1016000" cy="50800"/>
          </a:xfrm>
          <a:prstGeom prst="roundRect">
            <a:avLst>
              <a:gd name="adj" fmla="val 0"/>
            </a:avLst>
          </a:prstGeom>
          <a:solidFill>
            <a:srgbClr val="DC262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5" name="Picture 5"/>
          <p:cNvPicPr>
            <a:picLocks noChangeAspect="1"/>
          </p:cNvPicPr>
          <p:nvPr/>
        </p:nvPicPr>
        <p:blipFill>
          <a:blip r:embed="rId3"/>
          <a:srcRect/>
          <a:stretch>
            <a:fillRect/>
          </a:stretch>
        </p:blipFill>
        <p:spPr>
          <a:xfrm>
            <a:off x="762000" y="1651000"/>
            <a:ext cx="304800" cy="304800"/>
          </a:xfrm>
          <a:prstGeom prst="rect">
            <a:avLst/>
          </a:prstGeom>
          <a:ln w="12700">
            <a:noFill/>
            <a:prstDash val="solid"/>
          </a:ln>
        </p:spPr>
      </p:pic>
      <p:sp>
        <p:nvSpPr>
          <p:cNvPr id="6" name="AutoShape 6"/>
          <p:cNvSpPr/>
          <p:nvPr/>
        </p:nvSpPr>
        <p:spPr>
          <a:xfrm>
            <a:off x="1143000" y="1625600"/>
            <a:ext cx="4826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definition</a:t>
            </a:r>
            <a:endParaRPr lang="en-US" sz="1100"/>
          </a:p>
        </p:txBody>
      </p:sp>
      <p:sp>
        <p:nvSpPr>
          <p:cNvPr id="7" name="AutoShape 7"/>
          <p:cNvSpPr/>
          <p:nvPr/>
        </p:nvSpPr>
        <p:spPr>
          <a:xfrm>
            <a:off x="762000" y="2032000"/>
            <a:ext cx="5207000" cy="762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Leveraging artificial intelligence technologies like large language models (LLMs), developers can accomplish diverse coding tasks—from code completion to complex feature generation—with enhanced support.</a:t>
            </a:r>
            <a:endParaRPr lang="en-US" sz="1100"/>
          </a:p>
        </p:txBody>
      </p:sp>
      <p:pic>
        <p:nvPicPr>
          <p:cNvPr id="8" name="Picture 8"/>
          <p:cNvPicPr>
            <a:picLocks noChangeAspect="1"/>
          </p:cNvPicPr>
          <p:nvPr/>
        </p:nvPicPr>
        <p:blipFill>
          <a:blip r:embed="rId4"/>
          <a:srcRect t="9628" b="9628"/>
          <a:stretch>
            <a:fillRect/>
          </a:stretch>
        </p:blipFill>
        <p:spPr>
          <a:xfrm>
            <a:off x="762000" y="2984500"/>
            <a:ext cx="5207000" cy="2540000"/>
          </a:xfrm>
          <a:prstGeom prst="roundRect">
            <a:avLst>
              <a:gd name="adj" fmla="val 5000"/>
            </a:avLst>
          </a:prstGeom>
          <a:ln w="12700" cap="flat" cmpd="sng">
            <a:noFill/>
            <a:prstDash val="solid"/>
            <a:round/>
          </a:ln>
        </p:spPr>
      </p:pic>
      <p:pic>
        <p:nvPicPr>
          <p:cNvPr id="9" name="Picture 9"/>
          <p:cNvPicPr>
            <a:picLocks noChangeAspect="1"/>
          </p:cNvPicPr>
          <p:nvPr/>
        </p:nvPicPr>
        <p:blipFill>
          <a:blip r:embed="rId5"/>
          <a:srcRect/>
          <a:stretch>
            <a:fillRect/>
          </a:stretch>
        </p:blipFill>
        <p:spPr>
          <a:xfrm>
            <a:off x="6350000" y="1651000"/>
            <a:ext cx="304800" cy="304800"/>
          </a:xfrm>
          <a:prstGeom prst="rect">
            <a:avLst/>
          </a:prstGeom>
          <a:ln w="12700">
            <a:noFill/>
            <a:prstDash val="solid"/>
          </a:ln>
        </p:spPr>
      </p:pic>
      <p:sp>
        <p:nvSpPr>
          <p:cNvPr id="10" name="AutoShape 10"/>
          <p:cNvSpPr/>
          <p:nvPr/>
        </p:nvSpPr>
        <p:spPr>
          <a:xfrm>
            <a:off x="6731000" y="1625600"/>
            <a:ext cx="4699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advantages</a:t>
            </a:r>
            <a:endParaRPr lang="en-US" sz="1100"/>
          </a:p>
        </p:txBody>
      </p:sp>
      <p:sp>
        <p:nvSpPr>
          <p:cNvPr id="11" name="AutoShape 11"/>
          <p:cNvSpPr/>
          <p:nvPr/>
        </p:nvSpPr>
        <p:spPr>
          <a:xfrm>
            <a:off x="6350000" y="2095500"/>
            <a:ext cx="2349500"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2" name="Picture 12"/>
          <p:cNvPicPr>
            <a:picLocks noChangeAspect="1"/>
          </p:cNvPicPr>
          <p:nvPr/>
        </p:nvPicPr>
        <p:blipFill>
          <a:blip r:embed="rId6"/>
          <a:srcRect/>
          <a:stretch>
            <a:fillRect/>
          </a:stretch>
        </p:blipFill>
        <p:spPr>
          <a:xfrm>
            <a:off x="6477000" y="2222500"/>
            <a:ext cx="254000" cy="254000"/>
          </a:xfrm>
          <a:prstGeom prst="rect">
            <a:avLst/>
          </a:prstGeom>
          <a:ln w="12700">
            <a:noFill/>
            <a:prstDash val="solid"/>
          </a:ln>
        </p:spPr>
      </p:pic>
      <p:sp>
        <p:nvSpPr>
          <p:cNvPr id="13" name="AutoShape 13"/>
          <p:cNvSpPr/>
          <p:nvPr/>
        </p:nvSpPr>
        <p:spPr>
          <a:xfrm>
            <a:off x="6731037" y="2476463"/>
            <a:ext cx="1778000"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Increase encoding speed</a:t>
            </a:r>
            <a:endParaRPr lang="en-US" sz="1100"/>
          </a:p>
        </p:txBody>
      </p:sp>
      <p:sp>
        <p:nvSpPr>
          <p:cNvPr id="14" name="AutoShape 14"/>
          <p:cNvSpPr/>
          <p:nvPr/>
        </p:nvSpPr>
        <p:spPr>
          <a:xfrm>
            <a:off x="8826500" y="2095500"/>
            <a:ext cx="2349500"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5" name="Picture 15"/>
          <p:cNvPicPr>
            <a:picLocks noChangeAspect="1"/>
          </p:cNvPicPr>
          <p:nvPr/>
        </p:nvPicPr>
        <p:blipFill>
          <a:blip r:embed="rId7"/>
          <a:srcRect/>
          <a:stretch>
            <a:fillRect/>
          </a:stretch>
        </p:blipFill>
        <p:spPr>
          <a:xfrm>
            <a:off x="8953500" y="2222500"/>
            <a:ext cx="254000" cy="254000"/>
          </a:xfrm>
          <a:prstGeom prst="rect">
            <a:avLst/>
          </a:prstGeom>
          <a:ln w="12700">
            <a:noFill/>
            <a:prstDash val="solid"/>
          </a:ln>
        </p:spPr>
      </p:pic>
      <p:sp>
        <p:nvSpPr>
          <p:cNvPr id="16" name="AutoShape 16"/>
          <p:cNvSpPr/>
          <p:nvPr/>
        </p:nvSpPr>
        <p:spPr>
          <a:xfrm>
            <a:off x="9271037" y="2436412"/>
            <a:ext cx="1778000"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Lowering the learning threshold</a:t>
            </a:r>
            <a:endParaRPr lang="en-US" sz="1100"/>
          </a:p>
        </p:txBody>
      </p:sp>
      <p:sp>
        <p:nvSpPr>
          <p:cNvPr id="17" name="AutoShape 17"/>
          <p:cNvSpPr/>
          <p:nvPr/>
        </p:nvSpPr>
        <p:spPr>
          <a:xfrm>
            <a:off x="6350000" y="3302000"/>
            <a:ext cx="2349500"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8" name="Picture 18"/>
          <p:cNvPicPr>
            <a:picLocks noChangeAspect="1"/>
          </p:cNvPicPr>
          <p:nvPr/>
        </p:nvPicPr>
        <p:blipFill>
          <a:blip r:embed="rId8"/>
          <a:srcRect/>
          <a:stretch>
            <a:fillRect/>
          </a:stretch>
        </p:blipFill>
        <p:spPr>
          <a:xfrm>
            <a:off x="6477000" y="3429000"/>
            <a:ext cx="254000" cy="254000"/>
          </a:xfrm>
          <a:prstGeom prst="rect">
            <a:avLst/>
          </a:prstGeom>
          <a:ln w="12700">
            <a:noFill/>
            <a:prstDash val="solid"/>
          </a:ln>
        </p:spPr>
      </p:pic>
      <p:sp>
        <p:nvSpPr>
          <p:cNvPr id="19" name="AutoShape 19"/>
          <p:cNvSpPr/>
          <p:nvPr/>
        </p:nvSpPr>
        <p:spPr>
          <a:xfrm>
            <a:off x="6731037" y="3620630"/>
            <a:ext cx="1778000"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Reduce code errors</a:t>
            </a:r>
            <a:endParaRPr lang="en-US" sz="1100"/>
          </a:p>
        </p:txBody>
      </p:sp>
      <p:sp>
        <p:nvSpPr>
          <p:cNvPr id="20" name="AutoShape 20"/>
          <p:cNvSpPr/>
          <p:nvPr/>
        </p:nvSpPr>
        <p:spPr>
          <a:xfrm>
            <a:off x="8826500" y="3302000"/>
            <a:ext cx="2349500"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1" name="Picture 21"/>
          <p:cNvPicPr>
            <a:picLocks noChangeAspect="1"/>
          </p:cNvPicPr>
          <p:nvPr/>
        </p:nvPicPr>
        <p:blipFill>
          <a:blip r:embed="rId9"/>
          <a:srcRect/>
          <a:stretch>
            <a:fillRect/>
          </a:stretch>
        </p:blipFill>
        <p:spPr>
          <a:xfrm>
            <a:off x="8953500" y="3429000"/>
            <a:ext cx="254000" cy="254000"/>
          </a:xfrm>
          <a:prstGeom prst="rect">
            <a:avLst/>
          </a:prstGeom>
          <a:ln w="12700">
            <a:noFill/>
            <a:prstDash val="solid"/>
          </a:ln>
        </p:spPr>
      </p:pic>
      <p:sp>
        <p:nvSpPr>
          <p:cNvPr id="22" name="AutoShape 22"/>
          <p:cNvSpPr/>
          <p:nvPr/>
        </p:nvSpPr>
        <p:spPr>
          <a:xfrm>
            <a:off x="9271037" y="3620603"/>
            <a:ext cx="1778000"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Stimulate creative thinking</a:t>
            </a:r>
            <a:endParaRPr lang="en-US" sz="1100"/>
          </a:p>
        </p:txBody>
      </p:sp>
      <p:pic>
        <p:nvPicPr>
          <p:cNvPr id="23" name="Picture 23"/>
          <p:cNvPicPr>
            <a:picLocks noChangeAspect="1"/>
          </p:cNvPicPr>
          <p:nvPr/>
        </p:nvPicPr>
        <p:blipFill>
          <a:blip r:embed="rId10"/>
          <a:srcRect/>
          <a:stretch>
            <a:fillRect/>
          </a:stretch>
        </p:blipFill>
        <p:spPr>
          <a:xfrm>
            <a:off x="6350000" y="4572000"/>
            <a:ext cx="304800" cy="304800"/>
          </a:xfrm>
          <a:prstGeom prst="rect">
            <a:avLst/>
          </a:prstGeom>
          <a:ln w="12700">
            <a:noFill/>
            <a:prstDash val="solid"/>
          </a:ln>
        </p:spPr>
      </p:pic>
      <p:sp>
        <p:nvSpPr>
          <p:cNvPr id="24" name="AutoShape 24"/>
          <p:cNvSpPr/>
          <p:nvPr/>
        </p:nvSpPr>
        <p:spPr>
          <a:xfrm>
            <a:off x="6731000" y="4546600"/>
            <a:ext cx="4699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Development status</a:t>
            </a:r>
            <a:endParaRPr lang="en-US" sz="1100"/>
          </a:p>
        </p:txBody>
      </p:sp>
      <p:sp>
        <p:nvSpPr>
          <p:cNvPr id="25" name="AutoShape 25"/>
          <p:cNvSpPr/>
          <p:nvPr/>
        </p:nvSpPr>
        <p:spPr>
          <a:xfrm>
            <a:off x="6350000" y="4953000"/>
            <a:ext cx="4826000" cy="762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simple code completion to complex feature generation, application scenarios continue to expand, with AI becoming an indispensable intelligent assistant for developers.</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16000" y="1915226"/>
            <a:ext cx="10160000" cy="1259774"/>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02 The Mystery of Code Generation: Core Technologies of LLM</a:t>
            </a:r>
            <a:endParaRPr lang="en-US" sz="1100"/>
          </a:p>
        </p:txBody>
      </p:sp>
      <p:cxnSp>
        <p:nvCxnSpPr>
          <p:cNvPr id="4" name="Connector 4"/>
          <p:cNvCxnSpPr/>
          <p:nvPr/>
        </p:nvCxnSpPr>
        <p:spPr>
          <a:xfrm rot="-34376">
            <a:off x="1016032" y="3295650"/>
            <a:ext cx="1270000" cy="12700"/>
          </a:xfrm>
          <a:prstGeom prst="straightConnector1">
            <a:avLst/>
          </a:prstGeom>
          <a:solidFill>
            <a:srgbClr val="DEE0E3">
              <a:alpha val="100000"/>
            </a:srgbClr>
          </a:solidFill>
          <a:ln w="38100" cap="flat" cmpd="sng">
            <a:solidFill>
              <a:srgbClr val="FFFFFF">
                <a:alpha val="100000"/>
              </a:srgbClr>
            </a:solidFill>
            <a:prstDash val="solid"/>
            <a:round/>
            <a:headEnd type="none" w="lg" len="lg"/>
            <a:tailEnd type="none" w="lg" len="lg"/>
          </a:ln>
        </p:spPr>
      </p:cxnSp>
      <p:sp>
        <p:nvSpPr>
          <p:cNvPr id="5" name="AutoShape 5"/>
          <p:cNvSpPr/>
          <p:nvPr/>
        </p:nvSpPr>
        <p:spPr>
          <a:xfrm>
            <a:off x="1016000" y="35560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000" b="0" i="0" u="none" strike="noStrike">
                <a:solidFill>
                  <a:srgbClr val="00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Understanding how large models "learn" to program</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458470"/>
            <a:ext cx="11101248"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Foundational Aspects of Large Language Models </a:t>
            </a:r>
            <a:endParaRPr lang="en-US" sz="1100"/>
          </a:p>
        </p:txBody>
      </p:sp>
      <p:sp>
        <p:nvSpPr>
          <p:cNvPr id="4" name="AutoShape 4"/>
          <p:cNvSpPr/>
          <p:nvPr/>
        </p:nvSpPr>
        <p:spPr>
          <a:xfrm>
            <a:off x="762000" y="1524000"/>
            <a:ext cx="5334000" cy="1397000"/>
          </a:xfrm>
          <a:prstGeom prst="roundRect">
            <a:avLst>
              <a:gd name="adj" fmla="val 9089"/>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5" name="Picture 5"/>
          <p:cNvPicPr>
            <a:picLocks noChangeAspect="1"/>
          </p:cNvPicPr>
          <p:nvPr/>
        </p:nvPicPr>
        <p:blipFill>
          <a:blip r:embed="rId3"/>
          <a:srcRect/>
          <a:stretch>
            <a:fillRect/>
          </a:stretch>
        </p:blipFill>
        <p:spPr>
          <a:xfrm>
            <a:off x="1016000" y="1714500"/>
            <a:ext cx="304800" cy="304800"/>
          </a:xfrm>
          <a:prstGeom prst="rect">
            <a:avLst/>
          </a:prstGeom>
          <a:ln w="12700">
            <a:noFill/>
            <a:prstDash val="solid"/>
          </a:ln>
        </p:spPr>
      </p:pic>
      <p:sp>
        <p:nvSpPr>
          <p:cNvPr id="6" name="AutoShape 6"/>
          <p:cNvSpPr/>
          <p:nvPr/>
        </p:nvSpPr>
        <p:spPr>
          <a:xfrm>
            <a:off x="1365235" y="1714463"/>
            <a:ext cx="4635482" cy="1055969"/>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essence: Transformer architecture broussonetia papyrifera</a:t>
            </a:r>
            <a:endParaRPr lang="en-US" sz="1100"/>
          </a:p>
        </p:txBody>
      </p:sp>
      <p:sp>
        <p:nvSpPr>
          <p:cNvPr id="7" name="AutoShape 7"/>
          <p:cNvSpPr/>
          <p:nvPr/>
        </p:nvSpPr>
        <p:spPr>
          <a:xfrm>
            <a:off x="762000" y="3111500"/>
            <a:ext cx="5334000" cy="1397000"/>
          </a:xfrm>
          <a:prstGeom prst="roundRect">
            <a:avLst>
              <a:gd name="adj" fmla="val 9089"/>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8" name="Picture 8"/>
          <p:cNvPicPr>
            <a:picLocks noChangeAspect="1"/>
          </p:cNvPicPr>
          <p:nvPr/>
        </p:nvPicPr>
        <p:blipFill>
          <a:blip r:embed="rId4"/>
          <a:srcRect/>
          <a:stretch>
            <a:fillRect/>
          </a:stretch>
        </p:blipFill>
        <p:spPr>
          <a:xfrm>
            <a:off x="1016000" y="3302000"/>
            <a:ext cx="304800" cy="304800"/>
          </a:xfrm>
          <a:prstGeom prst="rect">
            <a:avLst/>
          </a:prstGeom>
          <a:ln w="12700">
            <a:noFill/>
            <a:prstDash val="solid"/>
          </a:ln>
        </p:spPr>
      </p:pic>
      <p:sp>
        <p:nvSpPr>
          <p:cNvPr id="9" name="AutoShape 9"/>
          <p:cNvSpPr/>
          <p:nvPr/>
        </p:nvSpPr>
        <p:spPr>
          <a:xfrm>
            <a:off x="1365192" y="3301994"/>
            <a:ext cx="4445000" cy="1094033"/>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Competencies: Comprehension and Generation</a:t>
            </a:r>
            <a:endParaRPr lang="en-US" sz="1100"/>
          </a:p>
        </p:txBody>
      </p:sp>
      <p:sp>
        <p:nvSpPr>
          <p:cNvPr id="10" name="AutoShape 10"/>
          <p:cNvSpPr/>
          <p:nvPr/>
        </p:nvSpPr>
        <p:spPr>
          <a:xfrm>
            <a:off x="762000" y="4699000"/>
            <a:ext cx="5334000" cy="1397000"/>
          </a:xfrm>
          <a:prstGeom prst="roundRect">
            <a:avLst>
              <a:gd name="adj" fmla="val 9089"/>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nvPicPr>
        <p:blipFill>
          <a:blip r:embed="rId5"/>
          <a:srcRect/>
          <a:stretch>
            <a:fillRect/>
          </a:stretch>
        </p:blipFill>
        <p:spPr>
          <a:xfrm>
            <a:off x="1016000" y="4889500"/>
            <a:ext cx="304800" cy="304800"/>
          </a:xfrm>
          <a:prstGeom prst="rect">
            <a:avLst/>
          </a:prstGeom>
          <a:ln w="12700">
            <a:noFill/>
            <a:prstDash val="solid"/>
          </a:ln>
        </p:spPr>
      </p:pic>
      <p:sp>
        <p:nvSpPr>
          <p:cNvPr id="12" name="AutoShape 12"/>
          <p:cNvSpPr/>
          <p:nvPr/>
        </p:nvSpPr>
        <p:spPr>
          <a:xfrm>
            <a:off x="1320761" y="4889525"/>
            <a:ext cx="4445000" cy="887992"/>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Training Mechanism: Massive Pre-training</a:t>
            </a:r>
            <a:endParaRPr lang="en-US" sz="1100"/>
          </a:p>
        </p:txBody>
      </p:sp>
      <p:sp>
        <p:nvSpPr>
          <p:cNvPr id="13" name="AutoShape 13"/>
          <p:cNvSpPr/>
          <p:nvPr/>
        </p:nvSpPr>
        <p:spPr>
          <a:xfrm>
            <a:off x="6350000" y="1524000"/>
            <a:ext cx="5080000" cy="4572000"/>
          </a:xfrm>
          <a:prstGeom prst="roundRect">
            <a:avLst>
              <a:gd name="adj" fmla="val 2777"/>
            </a:avLst>
          </a:prstGeom>
          <a:solidFill>
            <a:srgbClr val="F3F4F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6"/>
          <a:srcRect/>
          <a:stretch>
            <a:fillRect/>
          </a:stretch>
        </p:blipFill>
        <p:spPr>
          <a:xfrm>
            <a:off x="6104890" y="1515110"/>
            <a:ext cx="5691505" cy="457136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Workflow of LLM Code Generation</a:t>
            </a:r>
            <a:endParaRPr lang="en-US" sz="1100"/>
          </a:p>
        </p:txBody>
      </p:sp>
      <p:sp>
        <p:nvSpPr>
          <p:cNvPr id="5" name="AutoShape 5"/>
          <p:cNvSpPr/>
          <p:nvPr/>
        </p:nvSpPr>
        <p:spPr>
          <a:xfrm>
            <a:off x="9271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3"/>
          <a:srcRect/>
          <a:stretch>
            <a:fillRect/>
          </a:stretch>
        </p:blipFill>
        <p:spPr>
          <a:xfrm>
            <a:off x="1117600" y="1896745"/>
            <a:ext cx="304800" cy="304800"/>
          </a:xfrm>
          <a:prstGeom prst="rect">
            <a:avLst/>
          </a:prstGeom>
          <a:ln w="12700">
            <a:noFill/>
            <a:prstDash val="solid"/>
          </a:ln>
        </p:spPr>
      </p:pic>
      <p:sp>
        <p:nvSpPr>
          <p:cNvPr id="7" name="AutoShape 7"/>
          <p:cNvSpPr/>
          <p:nvPr/>
        </p:nvSpPr>
        <p:spPr>
          <a:xfrm>
            <a:off x="1498600" y="1858645"/>
            <a:ext cx="18415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01 Input (Prompt)</a:t>
            </a:r>
            <a:endParaRPr lang="en-US" sz="1100"/>
          </a:p>
        </p:txBody>
      </p:sp>
      <p:sp>
        <p:nvSpPr>
          <p:cNvPr id="8" name="AutoShape 8"/>
          <p:cNvSpPr/>
          <p:nvPr/>
        </p:nvSpPr>
        <p:spPr>
          <a:xfrm>
            <a:off x="1117600"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Developers provide natural language descriptions (such as comments) or a code snippet as prompts.</a:t>
            </a:r>
            <a:endParaRPr lang="en-US" sz="1100"/>
          </a:p>
        </p:txBody>
      </p:sp>
      <p:sp>
        <p:nvSpPr>
          <p:cNvPr id="9" name="AutoShape 9"/>
          <p:cNvSpPr/>
          <p:nvPr/>
        </p:nvSpPr>
        <p:spPr>
          <a:xfrm>
            <a:off x="36322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nvPicPr>
        <p:blipFill>
          <a:blip r:embed="rId4"/>
          <a:srcRect/>
          <a:stretch>
            <a:fillRect/>
          </a:stretch>
        </p:blipFill>
        <p:spPr>
          <a:xfrm>
            <a:off x="3822700" y="1896745"/>
            <a:ext cx="304800" cy="304800"/>
          </a:xfrm>
          <a:prstGeom prst="rect">
            <a:avLst/>
          </a:prstGeom>
          <a:ln w="12700">
            <a:noFill/>
            <a:prstDash val="solid"/>
          </a:ln>
        </p:spPr>
      </p:pic>
      <p:sp>
        <p:nvSpPr>
          <p:cNvPr id="11" name="AutoShape 11"/>
          <p:cNvSpPr/>
          <p:nvPr/>
        </p:nvSpPr>
        <p:spPr>
          <a:xfrm>
            <a:off x="4203700" y="1858645"/>
            <a:ext cx="18415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02 Contextual Understanding</a:t>
            </a:r>
            <a:endParaRPr lang="en-US" sz="1100"/>
          </a:p>
        </p:txBody>
      </p:sp>
      <p:sp>
        <p:nvSpPr>
          <p:cNvPr id="12" name="AutoShape 12"/>
          <p:cNvSpPr/>
          <p:nvPr/>
        </p:nvSpPr>
        <p:spPr>
          <a:xfrm>
            <a:off x="3822700"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LLMs analyze the input intent, contextual environment, and relevant programming knowledge.</a:t>
            </a:r>
            <a:endParaRPr lang="en-US" sz="1100"/>
          </a:p>
        </p:txBody>
      </p:sp>
      <p:sp>
        <p:nvSpPr>
          <p:cNvPr id="13" name="AutoShape 13"/>
          <p:cNvSpPr/>
          <p:nvPr/>
        </p:nvSpPr>
        <p:spPr>
          <a:xfrm>
            <a:off x="63373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5"/>
          <a:srcRect/>
          <a:stretch>
            <a:fillRect/>
          </a:stretch>
        </p:blipFill>
        <p:spPr>
          <a:xfrm>
            <a:off x="6527800" y="1896745"/>
            <a:ext cx="304800" cy="304800"/>
          </a:xfrm>
          <a:prstGeom prst="rect">
            <a:avLst/>
          </a:prstGeom>
          <a:ln w="12700">
            <a:noFill/>
            <a:prstDash val="solid"/>
          </a:ln>
        </p:spPr>
      </p:pic>
      <p:sp>
        <p:nvSpPr>
          <p:cNvPr id="15" name="AutoShape 15"/>
          <p:cNvSpPr/>
          <p:nvPr/>
        </p:nvSpPr>
        <p:spPr>
          <a:xfrm>
            <a:off x="6908800" y="1858645"/>
            <a:ext cx="2072556"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03 Code Generation</a:t>
            </a:r>
            <a:endParaRPr lang="en-US" sz="1100"/>
          </a:p>
        </p:txBody>
      </p:sp>
      <p:sp>
        <p:nvSpPr>
          <p:cNvPr id="16" name="AutoShape 16"/>
          <p:cNvSpPr/>
          <p:nvPr/>
        </p:nvSpPr>
        <p:spPr>
          <a:xfrm>
            <a:off x="6509364"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the learned knowledge and patterns, the model predicts and generates the most intent-compliant subsequent code.</a:t>
            </a:r>
            <a:endParaRPr lang="en-US" sz="1100"/>
          </a:p>
        </p:txBody>
      </p:sp>
      <p:sp>
        <p:nvSpPr>
          <p:cNvPr id="17" name="AutoShape 17"/>
          <p:cNvSpPr/>
          <p:nvPr/>
        </p:nvSpPr>
        <p:spPr>
          <a:xfrm>
            <a:off x="90551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8" name="Picture 18"/>
          <p:cNvPicPr>
            <a:picLocks noChangeAspect="1"/>
          </p:cNvPicPr>
          <p:nvPr/>
        </p:nvPicPr>
        <p:blipFill>
          <a:blip r:embed="rId6"/>
          <a:srcRect/>
          <a:stretch>
            <a:fillRect/>
          </a:stretch>
        </p:blipFill>
        <p:spPr>
          <a:xfrm>
            <a:off x="9245600" y="1896745"/>
            <a:ext cx="304800" cy="304800"/>
          </a:xfrm>
          <a:prstGeom prst="rect">
            <a:avLst/>
          </a:prstGeom>
          <a:ln w="12700">
            <a:noFill/>
            <a:prstDash val="solid"/>
          </a:ln>
        </p:spPr>
      </p:pic>
      <p:sp>
        <p:nvSpPr>
          <p:cNvPr id="19" name="AutoShape 19"/>
          <p:cNvSpPr/>
          <p:nvPr/>
        </p:nvSpPr>
        <p:spPr>
          <a:xfrm>
            <a:off x="9626600" y="1858645"/>
            <a:ext cx="18415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04 Output and Optimization</a:t>
            </a:r>
            <a:endParaRPr lang="en-US" sz="1100"/>
          </a:p>
        </p:txBody>
      </p:sp>
      <p:sp>
        <p:nvSpPr>
          <p:cNvPr id="20" name="AutoShape 20"/>
          <p:cNvSpPr/>
          <p:nvPr/>
        </p:nvSpPr>
        <p:spPr>
          <a:xfrm>
            <a:off x="9245600"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Return the generated code to the user and iteratively optimize it based on feedback or interaction.</a:t>
            </a:r>
            <a:endParaRPr lang="en-US" sz="1100"/>
          </a:p>
        </p:txBody>
      </p:sp>
      <p:pic>
        <p:nvPicPr>
          <p:cNvPr id="21" name="Picture 21"/>
          <p:cNvPicPr>
            <a:picLocks noChangeAspect="1"/>
          </p:cNvPicPr>
          <p:nvPr/>
        </p:nvPicPr>
        <p:blipFill>
          <a:blip r:embed="rId7"/>
          <a:srcRect t="34960" b="35496"/>
          <a:stretch>
            <a:fillRect/>
          </a:stretch>
        </p:blipFill>
        <p:spPr>
          <a:xfrm>
            <a:off x="1117600" y="4151630"/>
            <a:ext cx="10019665" cy="16643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4064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Key technologies for code generation</a:t>
            </a:r>
            <a:endParaRPr lang="en-US" sz="1100"/>
          </a:p>
        </p:txBody>
      </p:sp>
      <p:sp>
        <p:nvSpPr>
          <p:cNvPr id="4" name="AutoShape 4"/>
          <p:cNvSpPr/>
          <p:nvPr/>
        </p:nvSpPr>
        <p:spPr>
          <a:xfrm>
            <a:off x="762000" y="1219200"/>
            <a:ext cx="1016000" cy="50800"/>
          </a:xfrm>
          <a:prstGeom prst="roundRect">
            <a:avLst>
              <a:gd name="adj" fmla="val 0"/>
            </a:avLst>
          </a:prstGeom>
          <a:solidFill>
            <a:srgbClr val="DC262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762000" y="165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3"/>
          <a:srcRect/>
          <a:stretch>
            <a:fillRect/>
          </a:stretch>
        </p:blipFill>
        <p:spPr>
          <a:xfrm>
            <a:off x="1016000" y="1905000"/>
            <a:ext cx="762000" cy="762000"/>
          </a:xfrm>
          <a:prstGeom prst="ellipse">
            <a:avLst/>
          </a:prstGeom>
          <a:ln w="12700" cap="flat" cmpd="sng">
            <a:noFill/>
            <a:prstDash val="solid"/>
            <a:round/>
          </a:ln>
        </p:spPr>
      </p:pic>
      <p:sp>
        <p:nvSpPr>
          <p:cNvPr id="7" name="AutoShape 7"/>
          <p:cNvSpPr/>
          <p:nvPr/>
        </p:nvSpPr>
        <p:spPr>
          <a:xfrm>
            <a:off x="1905000" y="190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Prompt Engineering</a:t>
            </a:r>
            <a:endParaRPr lang="en-US" sz="1100"/>
          </a:p>
        </p:txBody>
      </p:sp>
      <p:sp>
        <p:nvSpPr>
          <p:cNvPr id="8" name="AutoShape 8"/>
          <p:cNvSpPr/>
          <p:nvPr/>
        </p:nvSpPr>
        <p:spPr>
          <a:xfrm>
            <a:off x="1905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Designing effective input prompts to guide models in generating high-quality code is a core skill in using AI tools, which determines the precision of the output.</a:t>
            </a:r>
            <a:endParaRPr lang="en-US" sz="1100"/>
          </a:p>
        </p:txBody>
      </p:sp>
      <p:sp>
        <p:nvSpPr>
          <p:cNvPr id="9" name="AutoShape 9"/>
          <p:cNvSpPr/>
          <p:nvPr/>
        </p:nvSpPr>
        <p:spPr>
          <a:xfrm>
            <a:off x="6223000" y="165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nvPicPr>
        <p:blipFill>
          <a:blip r:embed="rId4"/>
          <a:srcRect/>
          <a:stretch>
            <a:fillRect/>
          </a:stretch>
        </p:blipFill>
        <p:spPr>
          <a:xfrm>
            <a:off x="6477000" y="1905000"/>
            <a:ext cx="762000" cy="762000"/>
          </a:xfrm>
          <a:prstGeom prst="ellipse">
            <a:avLst/>
          </a:prstGeom>
          <a:ln w="12700" cap="flat" cmpd="sng">
            <a:noFill/>
            <a:prstDash val="solid"/>
            <a:round/>
          </a:ln>
        </p:spPr>
      </p:pic>
      <p:sp>
        <p:nvSpPr>
          <p:cNvPr id="11" name="AutoShape 11"/>
          <p:cNvSpPr/>
          <p:nvPr/>
        </p:nvSpPr>
        <p:spPr>
          <a:xfrm>
            <a:off x="7366000" y="190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Fine-tuning</a:t>
            </a:r>
            <a:endParaRPr lang="en-US" sz="1100"/>
          </a:p>
        </p:txBody>
      </p:sp>
      <p:sp>
        <p:nvSpPr>
          <p:cNvPr id="12" name="AutoShape 12"/>
          <p:cNvSpPr/>
          <p:nvPr/>
        </p:nvSpPr>
        <p:spPr>
          <a:xfrm>
            <a:off x="7366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a general pre-training model, secondary training is conducted using domain-specific code datasets, significantly enhancing the model's professional coding capabilities in vertical domains.</a:t>
            </a:r>
            <a:endParaRPr lang="en-US" sz="1100"/>
          </a:p>
        </p:txBody>
      </p:sp>
      <p:sp>
        <p:nvSpPr>
          <p:cNvPr id="13" name="AutoShape 13"/>
          <p:cNvSpPr/>
          <p:nvPr/>
        </p:nvSpPr>
        <p:spPr>
          <a:xfrm>
            <a:off x="762000" y="419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5"/>
          <a:srcRect/>
          <a:stretch>
            <a:fillRect/>
          </a:stretch>
        </p:blipFill>
        <p:spPr>
          <a:xfrm>
            <a:off x="1016000" y="4445000"/>
            <a:ext cx="762000" cy="762000"/>
          </a:xfrm>
          <a:prstGeom prst="ellipse">
            <a:avLst/>
          </a:prstGeom>
          <a:ln w="12700" cap="flat" cmpd="sng">
            <a:noFill/>
            <a:prstDash val="solid"/>
            <a:round/>
          </a:ln>
        </p:spPr>
      </p:pic>
      <p:sp>
        <p:nvSpPr>
          <p:cNvPr id="15" name="AutoShape 15"/>
          <p:cNvSpPr/>
          <p:nvPr/>
        </p:nvSpPr>
        <p:spPr>
          <a:xfrm>
            <a:off x="1905000" y="444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RAG</a:t>
            </a:r>
            <a:endParaRPr lang="en-US" sz="1100"/>
          </a:p>
        </p:txBody>
      </p:sp>
      <p:sp>
        <p:nvSpPr>
          <p:cNvPr id="16" name="AutoShape 16"/>
          <p:cNvSpPr/>
          <p:nvPr/>
        </p:nvSpPr>
        <p:spPr>
          <a:xfrm>
            <a:off x="1905000" y="4826000"/>
            <a:ext cx="3683000" cy="1650963"/>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By integrating external knowledge base retrieval (such as API documentation, code examples) to supplement real-time model information, it effectively addresses hallucination issues and enhances generation accuracy.</a:t>
            </a:r>
            <a:endParaRPr lang="en-US" sz="1100"/>
          </a:p>
        </p:txBody>
      </p:sp>
      <p:sp>
        <p:nvSpPr>
          <p:cNvPr id="17" name="AutoShape 17"/>
          <p:cNvSpPr/>
          <p:nvPr/>
        </p:nvSpPr>
        <p:spPr>
          <a:xfrm>
            <a:off x="6223000" y="419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8" name="Picture 18"/>
          <p:cNvPicPr>
            <a:picLocks noChangeAspect="1"/>
          </p:cNvPicPr>
          <p:nvPr/>
        </p:nvPicPr>
        <p:blipFill>
          <a:blip r:embed="rId6"/>
          <a:srcRect/>
          <a:stretch>
            <a:fillRect/>
          </a:stretch>
        </p:blipFill>
        <p:spPr>
          <a:xfrm>
            <a:off x="6477000" y="4445000"/>
            <a:ext cx="762000" cy="762000"/>
          </a:xfrm>
          <a:prstGeom prst="ellipse">
            <a:avLst/>
          </a:prstGeom>
          <a:ln w="12700" cap="flat" cmpd="sng">
            <a:noFill/>
            <a:prstDash val="solid"/>
            <a:round/>
          </a:ln>
        </p:spPr>
      </p:pic>
      <p:sp>
        <p:nvSpPr>
          <p:cNvPr id="19" name="AutoShape 19"/>
          <p:cNvSpPr/>
          <p:nvPr/>
        </p:nvSpPr>
        <p:spPr>
          <a:xfrm>
            <a:off x="7366000" y="444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Multimodal</a:t>
            </a:r>
            <a:endParaRPr lang="en-US" sz="1100"/>
          </a:p>
        </p:txBody>
      </p:sp>
      <p:sp>
        <p:nvSpPr>
          <p:cNvPr id="20" name="AutoShape 20"/>
          <p:cNvSpPr/>
          <p:nvPr/>
        </p:nvSpPr>
        <p:spPr>
          <a:xfrm>
            <a:off x="7366000" y="482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Breaking through the limitations of plain text, it supports various input formats such as images (UI design drafts) and voice, making the interaction method of code generation more natural and intuitive.</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09600" y="2286000"/>
            <a:ext cx="152400" cy="1778000"/>
          </a:xfrm>
          <a:prstGeom prst="roundRect">
            <a:avLst>
              <a:gd name="adj" fmla="val 0"/>
            </a:avLst>
          </a:prstGeom>
          <a:solidFill>
            <a:srgbClr val="F85149">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1016012" y="2028921"/>
            <a:ext cx="762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400" b="1" i="0" u="none" strike="noStrike">
                <a:solidFill>
                  <a:srgbClr val="F85149"/>
                </a:solidFill>
                <a:latin typeface="Noto Sans SC" panose="020B0200000000000000" charset="-122"/>
                <a:ea typeface="Noto Sans SC" panose="020B0200000000000000" charset="-122"/>
                <a:cs typeface="Noto Sans SC" panose="020B0200000000000000" charset="-122"/>
                <a:sym typeface="Noto Sans SC" panose="020B0200000000000000" charset="-122"/>
              </a:rPr>
              <a:t>03 / CHAPTER</a:t>
            </a:r>
            <a:endParaRPr lang="en-US" sz="1100"/>
          </a:p>
        </p:txBody>
      </p:sp>
      <p:sp>
        <p:nvSpPr>
          <p:cNvPr id="4" name="AutoShape 4"/>
          <p:cNvSpPr/>
          <p:nvPr/>
        </p:nvSpPr>
        <p:spPr>
          <a:xfrm>
            <a:off x="1016000" y="2730500"/>
            <a:ext cx="11072586" cy="762000"/>
          </a:xfrm>
          <a:prstGeom prst="rect">
            <a:avLst/>
          </a:prstGeom>
          <a:noFill/>
          <a:ln w="12700" cap="flat" cmpd="sng">
            <a:noFill/>
            <a:prstDash val="solid"/>
            <a:round/>
          </a:ln>
        </p:spPr>
        <p:txBody>
          <a:bodyPr vert="horz" wrap="square" lIns="0" tIns="0" rIns="0" bIns="0" rtlCol="0" anchor="ctr">
            <a:noAutofit/>
          </a:bodyPr>
          <a:lstStyle/>
          <a:p>
            <a:pPr indent="0" algn="l">
              <a:lnSpc>
                <a:spcPct val="83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 The Intelligent Assistant in Practice</a:t>
            </a:r>
            <a:endParaRPr lang="en-US" sz="1100"/>
          </a:p>
        </p:txBody>
      </p:sp>
      <p:sp>
        <p:nvSpPr>
          <p:cNvPr id="5" name="AutoShape 5"/>
          <p:cNvSpPr/>
          <p:nvPr/>
        </p:nvSpPr>
        <p:spPr>
          <a:xfrm>
            <a:off x="1016000" y="34925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theory to practice, experience the powerful capabilities of Copilot</a:t>
            </a:r>
            <a:endParaRPr lang="en-US" sz="1100"/>
          </a:p>
        </p:txBody>
      </p:sp>
      <p:cxnSp>
        <p:nvCxnSpPr>
          <p:cNvPr id="6" name="Connector 6"/>
          <p:cNvCxnSpPr/>
          <p:nvPr/>
        </p:nvCxnSpPr>
        <p:spPr>
          <a:xfrm rot="-42969">
            <a:off x="1016040" y="4184650"/>
            <a:ext cx="1016000" cy="12700"/>
          </a:xfrm>
          <a:prstGeom prst="straightConnector1">
            <a:avLst/>
          </a:prstGeom>
          <a:solidFill>
            <a:srgbClr val="DEE0E3">
              <a:alpha val="100000"/>
            </a:srgbClr>
          </a:solidFill>
          <a:ln w="38100" cap="flat" cmpd="sng">
            <a:solidFill>
              <a:srgbClr val="F85149">
                <a:alpha val="100000"/>
              </a:srgbClr>
            </a:solidFill>
            <a:prstDash val="solid"/>
            <a:round/>
            <a:headEnd type="none" w="lg" len="lg"/>
            <a:tailEnd type="none" w="lg" len="lg"/>
          </a:ln>
        </p:spPr>
      </p:cxn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45847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a:t>
            </a:r>
            <a:endParaRPr lang="en-US" sz="1100"/>
          </a:p>
        </p:txBody>
      </p:sp>
      <p:sp>
        <p:nvSpPr>
          <p:cNvPr id="4" name="AutoShape 4"/>
          <p:cNvSpPr/>
          <p:nvPr/>
        </p:nvSpPr>
        <p:spPr>
          <a:xfrm>
            <a:off x="762000" y="1524000"/>
            <a:ext cx="4318000" cy="4318000"/>
          </a:xfrm>
          <a:prstGeom prst="roundRect">
            <a:avLst>
              <a:gd name="adj" fmla="val 5882"/>
            </a:avLst>
          </a:prstGeom>
          <a:solidFill>
            <a:srgbClr val="F8F8F8">
              <a:alpha val="100000"/>
            </a:srgbClr>
          </a:solidFill>
          <a:ln w="12700" cap="flat" cmpd="sng">
            <a:solidFill>
              <a:srgbClr val="DFC8C8">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5" name="Picture 5"/>
          <p:cNvPicPr>
            <a:picLocks noChangeAspect="1"/>
          </p:cNvPicPr>
          <p:nvPr/>
        </p:nvPicPr>
        <p:blipFill>
          <a:blip r:embed="rId3"/>
          <a:srcRect/>
          <a:stretch>
            <a:fillRect/>
          </a:stretch>
        </p:blipFill>
        <p:spPr>
          <a:xfrm>
            <a:off x="1016000" y="1778000"/>
            <a:ext cx="3810000" cy="3810000"/>
          </a:xfrm>
          <a:prstGeom prst="roundRect">
            <a:avLst>
              <a:gd name="adj" fmla="val 6665"/>
            </a:avLst>
          </a:prstGeom>
          <a:ln w="12700" cap="flat" cmpd="sng">
            <a:noFill/>
            <a:prstDash val="solid"/>
            <a:round/>
          </a:ln>
        </p:spPr>
      </p:pic>
      <p:pic>
        <p:nvPicPr>
          <p:cNvPr id="6" name="Picture 6"/>
          <p:cNvPicPr>
            <a:picLocks noChangeAspect="1"/>
          </p:cNvPicPr>
          <p:nvPr/>
        </p:nvPicPr>
        <p:blipFill>
          <a:blip r:embed="rId4"/>
          <a:srcRect/>
          <a:stretch>
            <a:fillRect/>
          </a:stretch>
        </p:blipFill>
        <p:spPr>
          <a:xfrm>
            <a:off x="5588000" y="1524000"/>
            <a:ext cx="304800" cy="304800"/>
          </a:xfrm>
          <a:prstGeom prst="rect">
            <a:avLst/>
          </a:prstGeom>
          <a:ln w="12700">
            <a:noFill/>
            <a:prstDash val="solid"/>
          </a:ln>
        </p:spPr>
      </p:pic>
      <p:sp>
        <p:nvSpPr>
          <p:cNvPr id="7" name="AutoShape 7"/>
          <p:cNvSpPr/>
          <p:nvPr/>
        </p:nvSpPr>
        <p:spPr>
          <a:xfrm>
            <a:off x="5969000" y="14986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Joint development background</a:t>
            </a:r>
            <a:endParaRPr lang="en-US" sz="1100"/>
          </a:p>
        </p:txBody>
      </p:sp>
      <p:sp>
        <p:nvSpPr>
          <p:cNvPr id="8" name="AutoShape 8"/>
          <p:cNvSpPr/>
          <p:nvPr/>
        </p:nvSpPr>
        <p:spPr>
          <a:xfrm>
            <a:off x="5969000" y="1828800"/>
            <a:ext cx="546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Developed in collaboration with GitHub, the world's largest code hosting platform, and OpenAI, a pioneer in the field of AI.</a:t>
            </a:r>
            <a:endParaRPr lang="en-US" sz="1100"/>
          </a:p>
        </p:txBody>
      </p:sp>
      <p:cxnSp>
        <p:nvCxnSpPr>
          <p:cNvPr id="9" name="Connector 9"/>
          <p:cNvCxnSpPr/>
          <p:nvPr/>
        </p:nvCxnSpPr>
        <p:spPr>
          <a:xfrm rot="-7473">
            <a:off x="5588007" y="24066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0" name="Picture 10"/>
          <p:cNvPicPr>
            <a:picLocks noChangeAspect="1"/>
          </p:cNvPicPr>
          <p:nvPr/>
        </p:nvPicPr>
        <p:blipFill>
          <a:blip r:embed="rId5"/>
          <a:srcRect/>
          <a:stretch>
            <a:fillRect/>
          </a:stretch>
        </p:blipFill>
        <p:spPr>
          <a:xfrm>
            <a:off x="5588000" y="2603500"/>
            <a:ext cx="304800" cy="304800"/>
          </a:xfrm>
          <a:prstGeom prst="rect">
            <a:avLst/>
          </a:prstGeom>
          <a:ln w="12700">
            <a:noFill/>
            <a:prstDash val="solid"/>
          </a:ln>
        </p:spPr>
      </p:pic>
      <p:sp>
        <p:nvSpPr>
          <p:cNvPr id="11" name="AutoShape 11"/>
          <p:cNvSpPr/>
          <p:nvPr/>
        </p:nvSpPr>
        <p:spPr>
          <a:xfrm>
            <a:off x="5969000" y="25781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Powerful model support</a:t>
            </a:r>
            <a:endParaRPr lang="en-US" sz="1100"/>
          </a:p>
        </p:txBody>
      </p:sp>
      <p:sp>
        <p:nvSpPr>
          <p:cNvPr id="12" name="AutoShape 12"/>
          <p:cNvSpPr/>
          <p:nvPr/>
        </p:nvSpPr>
        <p:spPr>
          <a:xfrm>
            <a:off x="5969000" y="2908300"/>
            <a:ext cx="5832487"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OpenAI's specially trained Codex model, it has been upgraded to the more powerful GPT-4 architecture broussonetia papyrifera.</a:t>
            </a:r>
            <a:endParaRPr lang="en-US" sz="1100"/>
          </a:p>
        </p:txBody>
      </p:sp>
      <p:cxnSp>
        <p:nvCxnSpPr>
          <p:cNvPr id="13" name="Connector 13"/>
          <p:cNvCxnSpPr/>
          <p:nvPr/>
        </p:nvCxnSpPr>
        <p:spPr>
          <a:xfrm rot="-7473">
            <a:off x="5588007" y="34861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4" name="Picture 14"/>
          <p:cNvPicPr>
            <a:picLocks noChangeAspect="1"/>
          </p:cNvPicPr>
          <p:nvPr/>
        </p:nvPicPr>
        <p:blipFill>
          <a:blip r:embed="rId6"/>
          <a:srcRect/>
          <a:stretch>
            <a:fillRect/>
          </a:stretch>
        </p:blipFill>
        <p:spPr>
          <a:xfrm>
            <a:off x="5588000" y="3683000"/>
            <a:ext cx="304800" cy="304800"/>
          </a:xfrm>
          <a:prstGeom prst="rect">
            <a:avLst/>
          </a:prstGeom>
          <a:ln w="12700">
            <a:noFill/>
            <a:prstDash val="solid"/>
          </a:ln>
        </p:spPr>
      </p:pic>
      <p:sp>
        <p:nvSpPr>
          <p:cNvPr id="15" name="AutoShape 15"/>
          <p:cNvSpPr/>
          <p:nvPr/>
        </p:nvSpPr>
        <p:spPr>
          <a:xfrm>
            <a:off x="5969000" y="36576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feature highlights</a:t>
            </a:r>
            <a:endParaRPr lang="en-US" sz="1100"/>
          </a:p>
        </p:txBody>
      </p:sp>
      <p:sp>
        <p:nvSpPr>
          <p:cNvPr id="16" name="AutoShape 16"/>
          <p:cNvSpPr/>
          <p:nvPr/>
        </p:nvSpPr>
        <p:spPr>
          <a:xfrm>
            <a:off x="5969000" y="3987800"/>
            <a:ext cx="5461000" cy="762000"/>
          </a:xfrm>
          <a:prstGeom prst="rect">
            <a:avLst/>
          </a:prstGeom>
          <a:noFill/>
          <a:ln w="12700" cap="flat" cmpd="sng">
            <a:noFill/>
            <a:prstDash val="solid"/>
            <a:round/>
          </a:ln>
        </p:spPr>
        <p:txBody>
          <a:bodyPr vert="horz" wrap="square" lIns="0" tIns="0" rIns="0" bIns="0" rtlCol="0" anchor="ctr">
            <a:noAutofit/>
          </a:bodyPr>
          <a:lstStyle/>
          <a:p>
            <a:pPr marL="165100" indent="-165100" algn="l">
              <a:lnSpc>
                <a:spcPct val="125000"/>
              </a:lnSpc>
              <a:buClr>
                <a:srgbClr val="505050"/>
              </a:buClr>
              <a:buChar char="•"/>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Real-time code completion and natural language to code conversion;</a:t>
            </a:r>
            <a:endParaRPr lang="en-US" sz="1100"/>
          </a:p>
          <a:p>
            <a:pPr marL="165100" indent="-165100" algn="l">
              <a:lnSpc>
                <a:spcPct val="125000"/>
              </a:lnSpc>
              <a:buClr>
                <a:srgbClr val="505050"/>
              </a:buClr>
              <a:buChar cha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Automatically generate function/class summary for broussonetia papyrifera, supporting code interpretation and comment generation.</a:t>
            </a:r>
          </a:p>
        </p:txBody>
      </p:sp>
      <p:cxnSp>
        <p:nvCxnSpPr>
          <p:cNvPr id="17" name="Connector 17"/>
          <p:cNvCxnSpPr/>
          <p:nvPr/>
        </p:nvCxnSpPr>
        <p:spPr>
          <a:xfrm rot="-7473">
            <a:off x="5588007" y="48196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8" name="Picture 18"/>
          <p:cNvPicPr>
            <a:picLocks noChangeAspect="1"/>
          </p:cNvPicPr>
          <p:nvPr/>
        </p:nvPicPr>
        <p:blipFill>
          <a:blip r:embed="rId7"/>
          <a:srcRect/>
          <a:stretch>
            <a:fillRect/>
          </a:stretch>
        </p:blipFill>
        <p:spPr>
          <a:xfrm>
            <a:off x="5588000" y="5016500"/>
            <a:ext cx="304800" cy="304800"/>
          </a:xfrm>
          <a:prstGeom prst="rect">
            <a:avLst/>
          </a:prstGeom>
          <a:ln w="12700">
            <a:noFill/>
            <a:prstDash val="solid"/>
          </a:ln>
        </p:spPr>
      </p:pic>
      <p:sp>
        <p:nvSpPr>
          <p:cNvPr id="19" name="AutoShape 19"/>
          <p:cNvSpPr/>
          <p:nvPr/>
        </p:nvSpPr>
        <p:spPr>
          <a:xfrm>
            <a:off x="5969000" y="49911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Extensive ecological compatibility</a:t>
            </a:r>
            <a:endParaRPr lang="en-US" sz="1100"/>
          </a:p>
        </p:txBody>
      </p:sp>
      <p:sp>
        <p:nvSpPr>
          <p:cNvPr id="20" name="AutoShape 20"/>
          <p:cNvSpPr/>
          <p:nvPr/>
        </p:nvSpPr>
        <p:spPr>
          <a:xfrm>
            <a:off x="5969000" y="5321300"/>
            <a:ext cx="546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Supports mainstream programming languages such as Python, Java, C++, and seamlessly integrates with IDEs like VS Code and JetBrains.</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p:nvPr/>
        </p:nvSpPr>
        <p:spPr>
          <a:xfrm>
            <a:off x="762000" y="4064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 workflow</a:t>
            </a:r>
            <a:endParaRPr lang="en-US" sz="1100"/>
          </a:p>
        </p:txBody>
      </p:sp>
      <p:pic>
        <p:nvPicPr>
          <p:cNvPr id="5" name="Picture 5"/>
          <p:cNvPicPr>
            <a:picLocks noChangeAspect="1"/>
          </p:cNvPicPr>
          <p:nvPr/>
        </p:nvPicPr>
        <p:blipFill>
          <a:blip r:embed="rId3"/>
          <a:srcRect l="3904" t="10021" r="4715" b="9706"/>
          <a:stretch>
            <a:fillRect/>
          </a:stretch>
        </p:blipFill>
        <p:spPr>
          <a:xfrm>
            <a:off x="1798955" y="3641090"/>
            <a:ext cx="7391400" cy="3155950"/>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938578" y="1288168"/>
            <a:ext cx="5322119" cy="1170500"/>
          </a:xfrm>
          <a:prstGeom prst="rect">
            <a:avLst/>
          </a:prstGeom>
          <a:ln w="12700">
            <a:noFill/>
            <a:prstDash val="solid"/>
          </a:ln>
        </p:spPr>
      </p:pic>
      <p:pic>
        <p:nvPicPr>
          <p:cNvPr id="7" name="Picture 7"/>
          <p:cNvPicPr>
            <a:picLocks noChangeAspect="1"/>
          </p:cNvPicPr>
          <p:nvPr/>
        </p:nvPicPr>
        <p:blipFill>
          <a:blip r:embed="rId5"/>
          <a:srcRect/>
          <a:stretch>
            <a:fillRect/>
          </a:stretch>
        </p:blipFill>
        <p:spPr>
          <a:xfrm>
            <a:off x="6335424" y="1318587"/>
            <a:ext cx="5291185" cy="1109739"/>
          </a:xfrm>
          <a:prstGeom prst="rect">
            <a:avLst/>
          </a:prstGeom>
          <a:ln w="12700">
            <a:noFill/>
            <a:prstDash val="solid"/>
          </a:ln>
        </p:spPr>
      </p:pic>
      <p:pic>
        <p:nvPicPr>
          <p:cNvPr id="8" name="Picture 8"/>
          <p:cNvPicPr>
            <a:picLocks noChangeAspect="1"/>
          </p:cNvPicPr>
          <p:nvPr/>
        </p:nvPicPr>
        <p:blipFill>
          <a:blip r:embed="rId6"/>
          <a:srcRect/>
          <a:stretch>
            <a:fillRect/>
          </a:stretch>
        </p:blipFill>
        <p:spPr>
          <a:xfrm>
            <a:off x="938578" y="2496117"/>
            <a:ext cx="5106334" cy="1069451"/>
          </a:xfrm>
          <a:prstGeom prst="rect">
            <a:avLst/>
          </a:prstGeom>
          <a:ln w="12700">
            <a:noFill/>
            <a:prstDash val="solid"/>
          </a:ln>
        </p:spPr>
      </p:pic>
      <p:pic>
        <p:nvPicPr>
          <p:cNvPr id="9" name="Picture 9"/>
          <p:cNvPicPr>
            <a:picLocks noChangeAspect="1"/>
          </p:cNvPicPr>
          <p:nvPr/>
        </p:nvPicPr>
        <p:blipFill>
          <a:blip r:embed="rId7"/>
          <a:srcRect/>
          <a:stretch>
            <a:fillRect/>
          </a:stretch>
        </p:blipFill>
        <p:spPr>
          <a:xfrm>
            <a:off x="6402669" y="2504113"/>
            <a:ext cx="5027331" cy="106145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p:nvPr/>
        </p:nvSpPr>
        <p:spPr>
          <a:xfrm>
            <a:off x="762000" y="45847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Practical application scenarios of Copilot</a:t>
            </a:r>
            <a:endParaRPr lang="en-US" sz="1100"/>
          </a:p>
        </p:txBody>
      </p:sp>
      <p:sp>
        <p:nvSpPr>
          <p:cNvPr id="5" name="AutoShape 5"/>
          <p:cNvSpPr/>
          <p:nvPr/>
        </p:nvSpPr>
        <p:spPr>
          <a:xfrm>
            <a:off x="762000" y="1524000"/>
            <a:ext cx="33020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3"/>
          <a:srcRect/>
          <a:stretch>
            <a:fillRect/>
          </a:stretch>
        </p:blipFill>
        <p:spPr>
          <a:xfrm>
            <a:off x="1016000" y="1778000"/>
            <a:ext cx="406400" cy="406400"/>
          </a:xfrm>
          <a:prstGeom prst="rect">
            <a:avLst/>
          </a:prstGeom>
          <a:ln w="12700">
            <a:noFill/>
            <a:prstDash val="solid"/>
          </a:ln>
        </p:spPr>
      </p:pic>
      <p:sp>
        <p:nvSpPr>
          <p:cNvPr id="7" name="AutoShape 7"/>
          <p:cNvSpPr/>
          <p:nvPr/>
        </p:nvSpPr>
        <p:spPr>
          <a:xfrm>
            <a:off x="1524000" y="1778000"/>
            <a:ext cx="2687173"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completion</a:t>
            </a:r>
            <a:endParaRPr lang="en-US" sz="1100"/>
          </a:p>
        </p:txBody>
      </p:sp>
      <p:cxnSp>
        <p:nvCxnSpPr>
          <p:cNvPr id="8" name="Connector 8"/>
          <p:cNvCxnSpPr/>
          <p:nvPr/>
        </p:nvCxnSpPr>
        <p:spPr>
          <a:xfrm rot="-15626">
            <a:off x="1016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1016000" y="2413000"/>
            <a:ext cx="2794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Auto-completing variable names, function calls, and logical statements significantly enhances coding fluency and reduces repetitive input.</a:t>
            </a:r>
            <a:endParaRPr lang="en-US" sz="1100"/>
          </a:p>
        </p:txBody>
      </p:sp>
      <p:sp>
        <p:nvSpPr>
          <p:cNvPr id="10" name="AutoShape 10"/>
          <p:cNvSpPr/>
          <p:nvPr/>
        </p:nvSpPr>
        <p:spPr>
          <a:xfrm>
            <a:off x="4445000" y="1524000"/>
            <a:ext cx="33020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nvPicPr>
        <p:blipFill>
          <a:blip r:embed="rId4"/>
          <a:srcRect/>
          <a:stretch>
            <a:fillRect/>
          </a:stretch>
        </p:blipFill>
        <p:spPr>
          <a:xfrm>
            <a:off x="4699000" y="1778000"/>
            <a:ext cx="406400" cy="406400"/>
          </a:xfrm>
          <a:prstGeom prst="rect">
            <a:avLst/>
          </a:prstGeom>
          <a:ln w="12700">
            <a:noFill/>
            <a:prstDash val="solid"/>
          </a:ln>
        </p:spPr>
      </p:pic>
      <p:sp>
        <p:nvSpPr>
          <p:cNvPr id="12" name="AutoShape 12"/>
          <p:cNvSpPr/>
          <p:nvPr/>
        </p:nvSpPr>
        <p:spPr>
          <a:xfrm>
            <a:off x="5207000" y="1778000"/>
            <a:ext cx="2286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Function logic generation</a:t>
            </a:r>
            <a:endParaRPr lang="en-US" sz="1100"/>
          </a:p>
        </p:txBody>
      </p:sp>
      <p:cxnSp>
        <p:nvCxnSpPr>
          <p:cNvPr id="13" name="Connector 13"/>
          <p:cNvCxnSpPr/>
          <p:nvPr/>
        </p:nvCxnSpPr>
        <p:spPr>
          <a:xfrm rot="-15626">
            <a:off x="4699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nvSpPr>
        <p:spPr>
          <a:xfrm>
            <a:off x="4699000" y="2413000"/>
            <a:ext cx="2794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Only functional annotations describing inputs and outputs are required to automatically generate complete function implementation code.</a:t>
            </a:r>
            <a:endParaRPr lang="en-US" sz="1100"/>
          </a:p>
        </p:txBody>
      </p:sp>
      <p:sp>
        <p:nvSpPr>
          <p:cNvPr id="15" name="AutoShape 15"/>
          <p:cNvSpPr/>
          <p:nvPr/>
        </p:nvSpPr>
        <p:spPr>
          <a:xfrm>
            <a:off x="8128000" y="1524000"/>
            <a:ext cx="33020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6" name="Picture 16"/>
          <p:cNvPicPr>
            <a:picLocks noChangeAspect="1"/>
          </p:cNvPicPr>
          <p:nvPr/>
        </p:nvPicPr>
        <p:blipFill>
          <a:blip r:embed="rId5"/>
          <a:srcRect/>
          <a:stretch>
            <a:fillRect/>
          </a:stretch>
        </p:blipFill>
        <p:spPr>
          <a:xfrm>
            <a:off x="8382000" y="1778000"/>
            <a:ext cx="406400" cy="406400"/>
          </a:xfrm>
          <a:prstGeom prst="rect">
            <a:avLst/>
          </a:prstGeom>
          <a:ln w="12700">
            <a:noFill/>
            <a:prstDash val="solid"/>
          </a:ln>
        </p:spPr>
      </p:pic>
      <p:sp>
        <p:nvSpPr>
          <p:cNvPr id="17" name="AutoShape 17"/>
          <p:cNvSpPr/>
          <p:nvPr/>
        </p:nvSpPr>
        <p:spPr>
          <a:xfrm>
            <a:off x="8890000" y="1778000"/>
            <a:ext cx="2286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Automated unit test generation</a:t>
            </a:r>
            <a:endParaRPr lang="en-US" sz="1100"/>
          </a:p>
        </p:txBody>
      </p:sp>
      <p:cxnSp>
        <p:nvCxnSpPr>
          <p:cNvPr id="18" name="Connector 18"/>
          <p:cNvCxnSpPr/>
          <p:nvPr/>
        </p:nvCxnSpPr>
        <p:spPr>
          <a:xfrm rot="-15626">
            <a:off x="8382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8382000" y="2413000"/>
            <a:ext cx="2794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the existing business code, automatically generate corresponding unit test cases to quickly achieve test coverage.</a:t>
            </a:r>
            <a:endParaRPr lang="en-US" sz="1100"/>
          </a:p>
        </p:txBody>
      </p:sp>
      <p:sp>
        <p:nvSpPr>
          <p:cNvPr id="20" name="AutoShape 20"/>
          <p:cNvSpPr/>
          <p:nvPr/>
        </p:nvSpPr>
        <p:spPr>
          <a:xfrm>
            <a:off x="762000" y="4064000"/>
            <a:ext cx="51435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1" name="Picture 21"/>
          <p:cNvPicPr>
            <a:picLocks noChangeAspect="1"/>
          </p:cNvPicPr>
          <p:nvPr/>
        </p:nvPicPr>
        <p:blipFill>
          <a:blip r:embed="rId6"/>
          <a:srcRect/>
          <a:stretch>
            <a:fillRect/>
          </a:stretch>
        </p:blipFill>
        <p:spPr>
          <a:xfrm>
            <a:off x="1016000" y="4318000"/>
            <a:ext cx="406400" cy="406400"/>
          </a:xfrm>
          <a:prstGeom prst="rect">
            <a:avLst/>
          </a:prstGeom>
          <a:ln w="12700">
            <a:noFill/>
            <a:prstDash val="solid"/>
          </a:ln>
        </p:spPr>
      </p:pic>
      <p:sp>
        <p:nvSpPr>
          <p:cNvPr id="22" name="AutoShape 22"/>
          <p:cNvSpPr/>
          <p:nvPr/>
        </p:nvSpPr>
        <p:spPr>
          <a:xfrm>
            <a:off x="1524000" y="4318000"/>
            <a:ext cx="4064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refactoring of Broussonetia papyrifera and optimization</a:t>
            </a:r>
            <a:endParaRPr lang="en-US" sz="1100"/>
          </a:p>
        </p:txBody>
      </p:sp>
      <p:cxnSp>
        <p:nvCxnSpPr>
          <p:cNvPr id="23" name="Connector 23"/>
          <p:cNvCxnSpPr/>
          <p:nvPr/>
        </p:nvCxnSpPr>
        <p:spPr>
          <a:xfrm rot="-9418">
            <a:off x="1016009" y="4819650"/>
            <a:ext cx="46355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4" name="AutoShape 24"/>
          <p:cNvSpPr/>
          <p:nvPr/>
        </p:nvSpPr>
        <p:spPr>
          <a:xfrm>
            <a:off x="1016000" y="4953000"/>
            <a:ext cx="46355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For the selected code snippet, provide refactoring suggestions for Broussonetia papyrifera, optimize complex code into a more concise and efficient writing style, and enhance code quality.</a:t>
            </a:r>
            <a:endParaRPr lang="en-US" sz="1100"/>
          </a:p>
        </p:txBody>
      </p:sp>
      <p:sp>
        <p:nvSpPr>
          <p:cNvPr id="25" name="AutoShape 25"/>
          <p:cNvSpPr/>
          <p:nvPr/>
        </p:nvSpPr>
        <p:spPr>
          <a:xfrm>
            <a:off x="6286500" y="4064000"/>
            <a:ext cx="51435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6" name="Picture 26"/>
          <p:cNvPicPr>
            <a:picLocks noChangeAspect="1"/>
          </p:cNvPicPr>
          <p:nvPr/>
        </p:nvPicPr>
        <p:blipFill>
          <a:blip r:embed="rId7"/>
          <a:srcRect/>
          <a:stretch>
            <a:fillRect/>
          </a:stretch>
        </p:blipFill>
        <p:spPr>
          <a:xfrm>
            <a:off x="6540500" y="4318000"/>
            <a:ext cx="406400" cy="406400"/>
          </a:xfrm>
          <a:prstGeom prst="rect">
            <a:avLst/>
          </a:prstGeom>
          <a:ln w="12700">
            <a:noFill/>
            <a:prstDash val="solid"/>
          </a:ln>
        </p:spPr>
      </p:pic>
      <p:sp>
        <p:nvSpPr>
          <p:cNvPr id="27" name="AutoShape 27"/>
          <p:cNvSpPr/>
          <p:nvPr/>
        </p:nvSpPr>
        <p:spPr>
          <a:xfrm>
            <a:off x="7048500" y="4318000"/>
            <a:ext cx="4064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Explanation of code logic</a:t>
            </a:r>
            <a:endParaRPr lang="en-US" sz="1100"/>
          </a:p>
        </p:txBody>
      </p:sp>
      <p:cxnSp>
        <p:nvCxnSpPr>
          <p:cNvPr id="28" name="Connector 28"/>
          <p:cNvCxnSpPr/>
          <p:nvPr/>
        </p:nvCxnSpPr>
        <p:spPr>
          <a:xfrm rot="-9418">
            <a:off x="6540509" y="4819650"/>
            <a:ext cx="46355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9" name="AutoShape 29"/>
          <p:cNvSpPr/>
          <p:nvPr/>
        </p:nvSpPr>
        <p:spPr>
          <a:xfrm>
            <a:off x="6540500" y="4953000"/>
            <a:ext cx="46355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For complex or unfamiliar code blocks, use natural language to explain their core functionality and execution logic, aiding developers in rapid comprehension.</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37" y="1863813"/>
            <a:ext cx="10160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400" b="1" i="0" u="none" strike="noStrike">
                <a:solidFill>
                  <a:srgbClr val="F85149"/>
                </a:solidFill>
                <a:latin typeface="Noto Sans SC" panose="020B0200000000000000" charset="-122"/>
                <a:ea typeface="Noto Sans SC" panose="020B0200000000000000" charset="-122"/>
                <a:cs typeface="Noto Sans SC" panose="020B0200000000000000" charset="-122"/>
                <a:sym typeface="Noto Sans SC" panose="020B0200000000000000" charset="-122"/>
              </a:rPr>
              <a:t>CHAPTER 04</a:t>
            </a:r>
            <a:endParaRPr lang="en-US" sz="1100"/>
          </a:p>
        </p:txBody>
      </p:sp>
      <p:sp>
        <p:nvSpPr>
          <p:cNvPr id="3" name="AutoShape 3"/>
          <p:cNvSpPr/>
          <p:nvPr/>
        </p:nvSpPr>
        <p:spPr>
          <a:xfrm>
            <a:off x="1016000" y="2667000"/>
            <a:ext cx="11225185" cy="889000"/>
          </a:xfrm>
          <a:prstGeom prst="rect">
            <a:avLst/>
          </a:prstGeom>
          <a:noFill/>
          <a:ln w="12700" cap="flat" cmpd="sng">
            <a:noFill/>
            <a:prstDash val="solid"/>
            <a:round/>
          </a:ln>
        </p:spPr>
        <p:txBody>
          <a:bodyPr vert="horz" wrap="square" lIns="0" tIns="0" rIns="0" bIns="0" rtlCol="0" anchor="ctr">
            <a:noAutofit/>
          </a:bodyPr>
          <a:lstStyle/>
          <a:p>
            <a:pPr indent="0" algn="l">
              <a:lnSpc>
                <a:spcPct val="83000"/>
              </a:lnSpc>
              <a:defRPr/>
            </a:pPr>
            <a:r>
              <a:rPr lang="en-US" sz="4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General to Specialized: Analysis of the KernelGen</a:t>
            </a:r>
            <a:endParaRPr lang="en-US" sz="1100"/>
          </a:p>
        </p:txBody>
      </p:sp>
      <p:cxnSp>
        <p:nvCxnSpPr>
          <p:cNvPr id="4" name="Connector 4"/>
          <p:cNvCxnSpPr/>
          <p:nvPr/>
        </p:nvCxnSpPr>
        <p:spPr>
          <a:xfrm rot="-34376">
            <a:off x="1016032" y="3676650"/>
            <a:ext cx="1270000" cy="12700"/>
          </a:xfrm>
          <a:prstGeom prst="straightConnector1">
            <a:avLst/>
          </a:prstGeom>
          <a:solidFill>
            <a:srgbClr val="DEE0E3">
              <a:alpha val="100000"/>
            </a:srgbClr>
          </a:solidFill>
          <a:ln w="38100" cap="flat" cmpd="sng">
            <a:solidFill>
              <a:srgbClr val="FFFFFF">
                <a:alpha val="100000"/>
              </a:srgbClr>
            </a:solidFill>
            <a:prstDash val="solid"/>
            <a:round/>
            <a:headEnd type="none" w="lg" len="lg"/>
            <a:tailEnd type="none" w="lg" len="lg"/>
          </a:ln>
        </p:spPr>
      </p:cxnSp>
      <p:sp>
        <p:nvSpPr>
          <p:cNvPr id="5" name="AutoShape 5"/>
          <p:cNvSpPr/>
          <p:nvPr/>
        </p:nvSpPr>
        <p:spPr>
          <a:xfrm>
            <a:off x="1016000" y="39370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000" b="0" i="0" u="none" strike="noStrike">
                <a:solidFill>
                  <a:srgbClr val="00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AI-Driven GPU Kernel Generation</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p:nvPr/>
        </p:nvSpPr>
        <p:spPr>
          <a:xfrm>
            <a:off x="762000" y="5715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background</a:t>
            </a:r>
            <a:endParaRPr lang="en-US" sz="1100"/>
          </a:p>
        </p:txBody>
      </p:sp>
      <p:sp>
        <p:nvSpPr>
          <p:cNvPr id="5" name="AutoShape 5"/>
          <p:cNvSpPr/>
          <p:nvPr/>
        </p:nvSpPr>
        <p:spPr>
          <a:xfrm>
            <a:off x="523875" y="19685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3"/>
          <a:srcRect/>
          <a:stretch>
            <a:fillRect/>
          </a:stretch>
        </p:blipFill>
        <p:spPr>
          <a:xfrm>
            <a:off x="714375" y="2159000"/>
            <a:ext cx="304800" cy="304800"/>
          </a:xfrm>
          <a:prstGeom prst="rect">
            <a:avLst/>
          </a:prstGeom>
          <a:ln w="12700">
            <a:noFill/>
            <a:prstDash val="solid"/>
          </a:ln>
        </p:spPr>
      </p:pic>
      <p:sp>
        <p:nvSpPr>
          <p:cNvPr id="7" name="AutoShape 7"/>
          <p:cNvSpPr/>
          <p:nvPr/>
        </p:nvSpPr>
        <p:spPr>
          <a:xfrm>
            <a:off x="1095375" y="21209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core objectives</a:t>
            </a:r>
            <a:endParaRPr lang="en-US" sz="1100"/>
          </a:p>
        </p:txBody>
      </p:sp>
      <p:sp>
        <p:nvSpPr>
          <p:cNvPr id="8" name="AutoShape 8"/>
          <p:cNvSpPr/>
          <p:nvPr/>
        </p:nvSpPr>
        <p:spPr>
          <a:xfrm>
            <a:off x="1095375" y="24765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Utilizing AI technology to automatically generate GPU kernel code, achieving ultimate performance optimization for target hardware and resolving the challenges of manual programming.</a:t>
            </a:r>
            <a:endParaRPr lang="en-US" sz="1100"/>
          </a:p>
        </p:txBody>
      </p:sp>
      <p:sp>
        <p:nvSpPr>
          <p:cNvPr id="9" name="AutoShape 9"/>
          <p:cNvSpPr/>
          <p:nvPr/>
        </p:nvSpPr>
        <p:spPr>
          <a:xfrm>
            <a:off x="523875" y="31750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nvPicPr>
        <p:blipFill>
          <a:blip r:embed="rId4"/>
          <a:srcRect/>
          <a:stretch>
            <a:fillRect/>
          </a:stretch>
        </p:blipFill>
        <p:spPr>
          <a:xfrm>
            <a:off x="714375" y="3365500"/>
            <a:ext cx="304800" cy="304800"/>
          </a:xfrm>
          <a:prstGeom prst="rect">
            <a:avLst/>
          </a:prstGeom>
          <a:ln w="12700">
            <a:noFill/>
            <a:prstDash val="solid"/>
          </a:ln>
        </p:spPr>
      </p:pic>
      <p:sp>
        <p:nvSpPr>
          <p:cNvPr id="11" name="AutoShape 11"/>
          <p:cNvSpPr/>
          <p:nvPr/>
        </p:nvSpPr>
        <p:spPr>
          <a:xfrm>
            <a:off x="1095375" y="33274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The industry faces challenges</a:t>
            </a:r>
            <a:endParaRPr lang="en-US" sz="1100"/>
          </a:p>
        </p:txBody>
      </p:sp>
      <p:sp>
        <p:nvSpPr>
          <p:cNvPr id="12" name="AutoShape 12"/>
          <p:cNvSpPr/>
          <p:nvPr/>
        </p:nvSpPr>
        <p:spPr>
          <a:xfrm>
            <a:off x="1095375" y="36830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The GPU programming model is complex, with large differences between architectures, lacking general optimization strategies, and having extremely high thresholds for parallel computing scheduling and memory management.</a:t>
            </a:r>
            <a:endParaRPr lang="en-US" sz="1100"/>
          </a:p>
        </p:txBody>
      </p:sp>
      <p:sp>
        <p:nvSpPr>
          <p:cNvPr id="13" name="AutoShape 13"/>
          <p:cNvSpPr/>
          <p:nvPr/>
        </p:nvSpPr>
        <p:spPr>
          <a:xfrm>
            <a:off x="523875" y="43815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5"/>
          <a:srcRect/>
          <a:stretch>
            <a:fillRect/>
          </a:stretch>
        </p:blipFill>
        <p:spPr>
          <a:xfrm>
            <a:off x="714375" y="4572000"/>
            <a:ext cx="304800" cy="304800"/>
          </a:xfrm>
          <a:prstGeom prst="rect">
            <a:avLst/>
          </a:prstGeom>
          <a:ln w="12700">
            <a:noFill/>
            <a:prstDash val="solid"/>
          </a:ln>
        </p:spPr>
      </p:pic>
      <p:sp>
        <p:nvSpPr>
          <p:cNvPr id="15" name="AutoShape 15"/>
          <p:cNvSpPr/>
          <p:nvPr/>
        </p:nvSpPr>
        <p:spPr>
          <a:xfrm>
            <a:off x="1095375" y="45339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value of the project</a:t>
            </a:r>
            <a:endParaRPr lang="en-US" sz="1100"/>
          </a:p>
        </p:txBody>
      </p:sp>
      <p:sp>
        <p:nvSpPr>
          <p:cNvPr id="16" name="AutoShape 16"/>
          <p:cNvSpPr/>
          <p:nvPr/>
        </p:nvSpPr>
        <p:spPr>
          <a:xfrm>
            <a:off x="1095375" y="48895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Significantly lowering the threshold for GPU application development, unleashing the potential of hardware computing power, and improving the execution efficiency of computing tasks as well as resource utilization.</a:t>
            </a:r>
            <a:endParaRPr lang="en-US" sz="1100"/>
          </a:p>
        </p:txBody>
      </p:sp>
      <p:pic>
        <p:nvPicPr>
          <p:cNvPr id="17" name="Picture 17"/>
          <p:cNvPicPr>
            <a:picLocks noChangeAspect="1"/>
          </p:cNvPicPr>
          <p:nvPr/>
        </p:nvPicPr>
        <p:blipFill>
          <a:blip r:embed="rId6"/>
          <a:srcRect/>
          <a:stretch>
            <a:fillRect/>
          </a:stretch>
        </p:blipFill>
        <p:spPr>
          <a:xfrm>
            <a:off x="6597650" y="1139825"/>
            <a:ext cx="4832350" cy="514921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Noto Sans SC" panose="020B0200000000000000" charset="-122"/>
              </a:defRPr>
            </a:lvl1pPr>
          </a:lstStyle>
          <a:p>
            <a:pPr indent="0" algn="l">
              <a:lnSpc>
                <a:spcPct val="100000"/>
              </a:lnSpc>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workflow</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xfrm>
            <a:off x="523875" y="1323975"/>
            <a:ext cx="6922135" cy="4853305"/>
          </a:xfrm>
          <a:prstGeom prst="rect">
            <a:avLst/>
          </a:prstGeom>
        </p:spPr>
        <p:txBody>
          <a:bodyPr wrap="square" lIns="91440" tIns="45720" rIns="91440" bIns="45720" anchor="t">
            <a:normAutofit lnSpcReduction="10000"/>
          </a:bodyPr>
          <a:lstStyle>
            <a:lvl1pPr algn="l">
              <a:lnSpc>
                <a:spcPct val="125000"/>
              </a:lnSpc>
              <a:defRPr sz="1800" b="0" i="0" u="none" strike="noStrike" spc="0">
                <a:solidFill>
                  <a:srgbClr val="404040">
                    <a:alpha val="100000"/>
                  </a:srgbClr>
                </a:solidFill>
                <a:latin typeface="Calibri" panose="020F0502020204030204"/>
              </a:defRPr>
            </a:lvl1pPr>
          </a:lstStyle>
          <a:p>
            <a:pPr marL="228600" indent="-228600" algn="l">
              <a:lnSpc>
                <a:spcPct val="125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Collect kernel information</a:t>
            </a:r>
          </a:p>
          <a:p>
            <a:pPr marL="533400" lvl="1" indent="-190500" algn="l">
              <a:lnSpc>
                <a:spcPct val="125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The user inputs the operator definition semantics to KernelGen.</a:t>
            </a:r>
          </a:p>
          <a:p>
            <a:pPr marL="228600" indent="-228600" algn="l">
              <a:lnSpc>
                <a:spcPct val="125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Search code snippets</a:t>
            </a:r>
          </a:p>
          <a:p>
            <a:pPr marL="533400" lvl="1" indent="-190500" algn="l">
              <a:lnSpc>
                <a:spcPct val="125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searches for code snippets similar to user-defined ones as referencesKernelGen.</a:t>
            </a:r>
          </a:p>
          <a:p>
            <a:pPr marL="228600" indent="-228600" algn="l">
              <a:lnSpc>
                <a:spcPct val="125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Generate kernel code and CUDA version benchmark implementation code</a:t>
            </a:r>
          </a:p>
          <a:p>
            <a:pPr marL="533400" lvl="1" indent="-190500" algn="l">
              <a:lnSpc>
                <a:spcPct val="125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generates Kernel code and CUDA-based benchmark implementation code.</a:t>
            </a:r>
          </a:p>
          <a:p>
            <a:pPr marL="228600" indent="-228600" algn="l">
              <a:lnSpc>
                <a:spcPct val="125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Based on the CUDA version of the benchmark implementation code, test the Kernel</a:t>
            </a:r>
          </a:p>
          <a:p>
            <a:pPr marL="533400" lvl="1" indent="-190500" algn="l">
              <a:lnSpc>
                <a:spcPct val="125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benchmarks kernels based on PyTorch and outputs test results for correctness and speedup ratios.</a:t>
            </a:r>
          </a:p>
        </p:txBody>
      </p:sp>
      <p:pic>
        <p:nvPicPr>
          <p:cNvPr id="6" name="Picture 6"/>
          <p:cNvPicPr>
            <a:picLocks noChangeAspect="1"/>
          </p:cNvPicPr>
          <p:nvPr/>
        </p:nvPicPr>
        <p:blipFill>
          <a:blip r:embed="rId3"/>
          <a:srcRect t="1307" b="1307"/>
          <a:stretch>
            <a:fillRect/>
          </a:stretch>
        </p:blipFill>
        <p:spPr>
          <a:xfrm>
            <a:off x="8360410" y="1017270"/>
            <a:ext cx="2863215" cy="533908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p:nvPr/>
        </p:nvSpPr>
        <p:spPr>
          <a:xfrm>
            <a:off x="762000" y="4445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vs General LLM (like ChatGPT)</a:t>
            </a:r>
            <a:endParaRPr lang="en-US" sz="1100"/>
          </a:p>
        </p:txBody>
      </p:sp>
      <p:sp>
        <p:nvSpPr>
          <p:cNvPr id="5" name="AutoShape 5"/>
          <p:cNvSpPr/>
          <p:nvPr/>
        </p:nvSpPr>
        <p:spPr>
          <a:xfrm>
            <a:off x="2714098" y="1397000"/>
            <a:ext cx="4397902" cy="508000"/>
          </a:xfrm>
          <a:prstGeom prst="roundRect">
            <a:avLst>
              <a:gd name="adj" fmla="val 25000"/>
            </a:avLst>
          </a:prstGeom>
          <a:solidFill>
            <a:srgbClr val="DC2626">
              <a:alpha val="100000"/>
            </a:srgbClr>
          </a:solidFill>
          <a:ln w="12700" cap="flat" cmpd="sng">
            <a:noFill/>
            <a:prstDash val="solid"/>
            <a:round/>
          </a:ln>
        </p:spPr>
        <p:txBody>
          <a:bodyPr vert="horz" wrap="square" lIns="0" tIns="0" rIns="0" bIns="0" rtlCol="0" anchor="ctr">
            <a:noAutofit/>
          </a:bodyPr>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(Specialized Optimization)</a:t>
            </a:r>
            <a:endParaRPr lang="en-US" sz="1100"/>
          </a:p>
        </p:txBody>
      </p:sp>
      <p:sp>
        <p:nvSpPr>
          <p:cNvPr id="6" name="AutoShape 6"/>
          <p:cNvSpPr/>
          <p:nvPr/>
        </p:nvSpPr>
        <p:spPr>
          <a:xfrm>
            <a:off x="7366000" y="1397000"/>
            <a:ext cx="3937000" cy="508000"/>
          </a:xfrm>
          <a:prstGeom prst="roundRect">
            <a:avLst>
              <a:gd name="adj" fmla="val 25000"/>
            </a:avLst>
          </a:prstGeom>
          <a:solidFill>
            <a:srgbClr val="6B7280">
              <a:alpha val="100000"/>
            </a:srgbClr>
          </a:solidFill>
          <a:ln w="12700" cap="flat" cmpd="sng">
            <a:noFill/>
            <a:prstDash val="solid"/>
            <a:round/>
          </a:ln>
        </p:spPr>
        <p:txBody>
          <a:bodyPr vert="horz" wrap="square" lIns="0" tIns="0" rIns="0" bIns="0" rtlCol="0" anchor="ctr">
            <a:noAutofit/>
          </a:bodyPr>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 LLM (like ChatGPT)</a:t>
            </a:r>
            <a:endParaRPr lang="en-US" sz="1100"/>
          </a:p>
        </p:txBody>
      </p:sp>
      <p:sp>
        <p:nvSpPr>
          <p:cNvPr id="7" name="AutoShape 7"/>
          <p:cNvSpPr/>
          <p:nvPr/>
        </p:nvSpPr>
        <p:spPr>
          <a:xfrm>
            <a:off x="762000" y="2032000"/>
            <a:ext cx="10668000" cy="7620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8" name="Picture 8"/>
          <p:cNvPicPr>
            <a:picLocks noChangeAspect="1"/>
          </p:cNvPicPr>
          <p:nvPr/>
        </p:nvPicPr>
        <p:blipFill>
          <a:blip r:embed="rId3"/>
          <a:srcRect/>
          <a:stretch>
            <a:fillRect/>
          </a:stretch>
        </p:blipFill>
        <p:spPr>
          <a:xfrm>
            <a:off x="952500" y="2222500"/>
            <a:ext cx="304800" cy="304800"/>
          </a:xfrm>
          <a:prstGeom prst="rect">
            <a:avLst/>
          </a:prstGeom>
          <a:ln w="12700">
            <a:noFill/>
            <a:prstDash val="solid"/>
          </a:ln>
        </p:spPr>
      </p:pic>
      <p:sp>
        <p:nvSpPr>
          <p:cNvPr id="9" name="AutoShape 9"/>
          <p:cNvSpPr/>
          <p:nvPr/>
        </p:nvSpPr>
        <p:spPr>
          <a:xfrm>
            <a:off x="1333500" y="2184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objectives</a:t>
            </a:r>
            <a:endParaRPr lang="en-US" sz="1100"/>
          </a:p>
        </p:txBody>
      </p:sp>
      <p:sp>
        <p:nvSpPr>
          <p:cNvPr id="10" name="AutoShape 10"/>
          <p:cNvSpPr/>
          <p:nvPr/>
        </p:nvSpPr>
        <p:spPr>
          <a:xfrm>
            <a:off x="3175000" y="2159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Generate dedicated, high-performance GPU kernel code</a:t>
            </a:r>
            <a:endParaRPr lang="en-US" sz="1100"/>
          </a:p>
        </p:txBody>
      </p:sp>
      <p:sp>
        <p:nvSpPr>
          <p:cNvPr id="11" name="AutoShape 11"/>
          <p:cNvSpPr/>
          <p:nvPr/>
        </p:nvSpPr>
        <p:spPr>
          <a:xfrm>
            <a:off x="7366000" y="2159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Provide general programming assistance to enhance coding efficiency</a:t>
            </a:r>
            <a:endParaRPr lang="en-US" sz="1100"/>
          </a:p>
        </p:txBody>
      </p:sp>
      <p:pic>
        <p:nvPicPr>
          <p:cNvPr id="12" name="Picture 12"/>
          <p:cNvPicPr>
            <a:picLocks noChangeAspect="1"/>
          </p:cNvPicPr>
          <p:nvPr/>
        </p:nvPicPr>
        <p:blipFill>
          <a:blip r:embed="rId4"/>
          <a:srcRect/>
          <a:stretch>
            <a:fillRect/>
          </a:stretch>
        </p:blipFill>
        <p:spPr>
          <a:xfrm>
            <a:off x="952500" y="2984500"/>
            <a:ext cx="304800" cy="304800"/>
          </a:xfrm>
          <a:prstGeom prst="rect">
            <a:avLst/>
          </a:prstGeom>
          <a:ln w="12700">
            <a:noFill/>
            <a:prstDash val="solid"/>
          </a:ln>
        </p:spPr>
      </p:pic>
      <p:sp>
        <p:nvSpPr>
          <p:cNvPr id="13" name="AutoShape 13"/>
          <p:cNvSpPr/>
          <p:nvPr/>
        </p:nvSpPr>
        <p:spPr>
          <a:xfrm>
            <a:off x="1333500" y="2946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Optimization objective</a:t>
            </a:r>
            <a:endParaRPr lang="en-US" sz="1100"/>
          </a:p>
        </p:txBody>
      </p:sp>
      <p:sp>
        <p:nvSpPr>
          <p:cNvPr id="14" name="AutoShape 14"/>
          <p:cNvSpPr/>
          <p:nvPr/>
        </p:nvSpPr>
        <p:spPr>
          <a:xfrm>
            <a:off x="3175000" y="2921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Ultimate execution efficiency and hardware resource utilization</a:t>
            </a:r>
            <a:endParaRPr lang="en-US" sz="1100"/>
          </a:p>
        </p:txBody>
      </p:sp>
      <p:sp>
        <p:nvSpPr>
          <p:cNvPr id="15" name="AutoShape 15"/>
          <p:cNvSpPr/>
          <p:nvPr/>
        </p:nvSpPr>
        <p:spPr>
          <a:xfrm>
            <a:off x="7366000" y="2921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correctness, readability, and development efficiency</a:t>
            </a:r>
            <a:endParaRPr lang="en-US" sz="1100"/>
          </a:p>
        </p:txBody>
      </p:sp>
      <p:sp>
        <p:nvSpPr>
          <p:cNvPr id="16" name="AutoShape 16"/>
          <p:cNvSpPr/>
          <p:nvPr/>
        </p:nvSpPr>
        <p:spPr>
          <a:xfrm>
            <a:off x="762000" y="3556000"/>
            <a:ext cx="10668000" cy="7620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7" name="Picture 17"/>
          <p:cNvPicPr>
            <a:picLocks noChangeAspect="1"/>
          </p:cNvPicPr>
          <p:nvPr/>
        </p:nvPicPr>
        <p:blipFill>
          <a:blip r:embed="rId5"/>
          <a:srcRect/>
          <a:stretch>
            <a:fillRect/>
          </a:stretch>
        </p:blipFill>
        <p:spPr>
          <a:xfrm>
            <a:off x="952500" y="3746500"/>
            <a:ext cx="304800" cy="304800"/>
          </a:xfrm>
          <a:prstGeom prst="rect">
            <a:avLst/>
          </a:prstGeom>
          <a:ln w="12700">
            <a:noFill/>
            <a:prstDash val="solid"/>
          </a:ln>
        </p:spPr>
      </p:pic>
      <p:sp>
        <p:nvSpPr>
          <p:cNvPr id="18" name="AutoShape 18"/>
          <p:cNvSpPr/>
          <p:nvPr/>
        </p:nvSpPr>
        <p:spPr>
          <a:xfrm>
            <a:off x="1333500" y="3708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Arial" panose="020B0604020202020204"/>
                <a:ea typeface="Arial" panose="020B0604020202020204"/>
                <a:cs typeface="Arial" panose="020B0604020202020204"/>
                <a:sym typeface="Arial" panose="020B0604020202020204"/>
              </a:rPr>
              <a:t>Input</a:t>
            </a:r>
            <a:endParaRPr lang="en-US" sz="1100"/>
          </a:p>
        </p:txBody>
      </p:sp>
      <p:sp>
        <p:nvSpPr>
          <p:cNvPr id="19" name="AutoShape 19"/>
          <p:cNvSpPr/>
          <p:nvPr/>
        </p:nvSpPr>
        <p:spPr>
          <a:xfrm>
            <a:off x="3175000" y="3683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Domain-Specific Language (DSL) or Task Description</a:t>
            </a:r>
            <a:endParaRPr lang="en-US" sz="1100"/>
          </a:p>
        </p:txBody>
      </p:sp>
      <p:sp>
        <p:nvSpPr>
          <p:cNvPr id="20" name="AutoShape 20"/>
          <p:cNvSpPr/>
          <p:nvPr/>
        </p:nvSpPr>
        <p:spPr>
          <a:xfrm>
            <a:off x="7366000" y="3683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Natural language annotations or code snippets</a:t>
            </a:r>
            <a:endParaRPr lang="en-US" sz="1100"/>
          </a:p>
        </p:txBody>
      </p:sp>
      <p:pic>
        <p:nvPicPr>
          <p:cNvPr id="21" name="Picture 21"/>
          <p:cNvPicPr>
            <a:picLocks noChangeAspect="1"/>
          </p:cNvPicPr>
          <p:nvPr/>
        </p:nvPicPr>
        <p:blipFill>
          <a:blip r:embed="rId6"/>
          <a:srcRect/>
          <a:stretch>
            <a:fillRect/>
          </a:stretch>
        </p:blipFill>
        <p:spPr>
          <a:xfrm>
            <a:off x="952500" y="4508500"/>
            <a:ext cx="304800" cy="304800"/>
          </a:xfrm>
          <a:prstGeom prst="rect">
            <a:avLst/>
          </a:prstGeom>
          <a:ln w="12700">
            <a:noFill/>
            <a:prstDash val="solid"/>
          </a:ln>
        </p:spPr>
      </p:pic>
      <p:sp>
        <p:nvSpPr>
          <p:cNvPr id="22" name="AutoShape 22"/>
          <p:cNvSpPr/>
          <p:nvPr/>
        </p:nvSpPr>
        <p:spPr>
          <a:xfrm>
            <a:off x="1333500" y="4470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Knowledge dependence</a:t>
            </a:r>
            <a:endParaRPr lang="en-US" sz="1100"/>
          </a:p>
        </p:txBody>
      </p:sp>
      <p:sp>
        <p:nvSpPr>
          <p:cNvPr id="23" name="AutoShape 23"/>
          <p:cNvSpPr/>
          <p:nvPr/>
        </p:nvSpPr>
        <p:spPr>
          <a:xfrm>
            <a:off x="3175000" y="4445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Deep integration of hardware architecture broussonetia papyrifera knowledge and parallel computing theory</a:t>
            </a:r>
            <a:endParaRPr lang="en-US" sz="1100"/>
          </a:p>
        </p:txBody>
      </p:sp>
      <p:sp>
        <p:nvSpPr>
          <p:cNvPr id="24" name="AutoShape 24"/>
          <p:cNvSpPr/>
          <p:nvPr/>
        </p:nvSpPr>
        <p:spPr>
          <a:xfrm>
            <a:off x="7366000" y="4445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 knowledge of code syntax and semantics</a:t>
            </a:r>
            <a:endParaRPr lang="en-US" sz="1100"/>
          </a:p>
        </p:txBody>
      </p:sp>
      <p:sp>
        <p:nvSpPr>
          <p:cNvPr id="25" name="AutoShape 25"/>
          <p:cNvSpPr/>
          <p:nvPr/>
        </p:nvSpPr>
        <p:spPr>
          <a:xfrm>
            <a:off x="762000" y="5080000"/>
            <a:ext cx="10668000" cy="7620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6" name="Picture 26"/>
          <p:cNvPicPr>
            <a:picLocks noChangeAspect="1"/>
          </p:cNvPicPr>
          <p:nvPr/>
        </p:nvPicPr>
        <p:blipFill>
          <a:blip r:embed="rId7"/>
          <a:srcRect/>
          <a:stretch>
            <a:fillRect/>
          </a:stretch>
        </p:blipFill>
        <p:spPr>
          <a:xfrm>
            <a:off x="952500" y="5270500"/>
            <a:ext cx="304800" cy="304800"/>
          </a:xfrm>
          <a:prstGeom prst="rect">
            <a:avLst/>
          </a:prstGeom>
          <a:ln w="12700">
            <a:noFill/>
            <a:prstDash val="solid"/>
          </a:ln>
        </p:spPr>
      </p:pic>
      <p:sp>
        <p:nvSpPr>
          <p:cNvPr id="27" name="AutoShape 27"/>
          <p:cNvSpPr/>
          <p:nvPr/>
        </p:nvSpPr>
        <p:spPr>
          <a:xfrm>
            <a:off x="1333500" y="5232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Arial" panose="020B0604020202020204"/>
                <a:ea typeface="Arial" panose="020B0604020202020204"/>
                <a:cs typeface="Arial" panose="020B0604020202020204"/>
                <a:sym typeface="Arial" panose="020B0604020202020204"/>
              </a:rPr>
              <a:t>Output</a:t>
            </a:r>
            <a:endParaRPr lang="en-US" sz="1100"/>
          </a:p>
        </p:txBody>
      </p:sp>
      <p:sp>
        <p:nvSpPr>
          <p:cNvPr id="28" name="AutoShape 28"/>
          <p:cNvSpPr/>
          <p:nvPr/>
        </p:nvSpPr>
        <p:spPr>
          <a:xfrm>
            <a:off x="3175000" y="5207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 code optimized for specific GPUs, highly specialized</a:t>
            </a:r>
            <a:endParaRPr lang="en-US" sz="1100"/>
          </a:p>
        </p:txBody>
      </p:sp>
      <p:sp>
        <p:nvSpPr>
          <p:cNvPr id="29" name="AutoShape 29"/>
          <p:cNvSpPr/>
          <p:nvPr/>
        </p:nvSpPr>
        <p:spPr>
          <a:xfrm>
            <a:off x="7366000" y="5207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Universal, code snippets applicable to multiple scenarios</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p:nvPr/>
        </p:nvSpPr>
        <p:spPr>
          <a:xfrm>
            <a:off x="762000" y="3937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Application Prospects of the KernelGen Project</a:t>
            </a:r>
            <a:endParaRPr lang="en-US" sz="1100"/>
          </a:p>
        </p:txBody>
      </p:sp>
      <p:sp>
        <p:nvSpPr>
          <p:cNvPr id="5" name="AutoShape 5"/>
          <p:cNvSpPr/>
          <p:nvPr/>
        </p:nvSpPr>
        <p:spPr>
          <a:xfrm>
            <a:off x="762000" y="1219200"/>
            <a:ext cx="1016000" cy="50800"/>
          </a:xfrm>
          <a:prstGeom prst="roundRect">
            <a:avLst>
              <a:gd name="adj" fmla="val 0"/>
            </a:avLst>
          </a:prstGeom>
          <a:solidFill>
            <a:srgbClr val="DC262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762000" y="165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3"/>
          <a:srcRect l="3998" r="4000"/>
          <a:stretch>
            <a:fillRect/>
          </a:stretch>
        </p:blipFill>
        <p:spPr>
          <a:xfrm>
            <a:off x="1016000" y="1905000"/>
            <a:ext cx="812800" cy="812800"/>
          </a:xfrm>
          <a:prstGeom prst="rect">
            <a:avLst/>
          </a:prstGeom>
          <a:ln w="12700" cap="flat" cmpd="sng">
            <a:noFill/>
            <a:prstDash val="solid"/>
            <a:round/>
          </a:ln>
        </p:spPr>
      </p:pic>
      <p:sp>
        <p:nvSpPr>
          <p:cNvPr id="8" name="AutoShape 8"/>
          <p:cNvSpPr/>
          <p:nvPr/>
        </p:nvSpPr>
        <p:spPr>
          <a:xfrm>
            <a:off x="2032000" y="190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Simplifying GPU Development</a:t>
            </a:r>
            <a:endParaRPr lang="en-US" sz="1100"/>
          </a:p>
        </p:txBody>
      </p:sp>
      <p:sp>
        <p:nvSpPr>
          <p:cNvPr id="9" name="AutoShape 9"/>
          <p:cNvSpPr/>
          <p:nvPr/>
        </p:nvSpPr>
        <p:spPr>
          <a:xfrm>
            <a:off x="2032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Significantly reduce the technical barriers to developing and optimizing GPU applications, enabling scientists and engineers across more fields to easily leverage the powerful computing capabilities of GPUs for research and development.</a:t>
            </a:r>
            <a:endParaRPr lang="en-US" sz="1100"/>
          </a:p>
        </p:txBody>
      </p:sp>
      <p:sp>
        <p:nvSpPr>
          <p:cNvPr id="10" name="AutoShape 10"/>
          <p:cNvSpPr/>
          <p:nvPr/>
        </p:nvSpPr>
        <p:spPr>
          <a:xfrm>
            <a:off x="6223000" y="165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nvPicPr>
        <p:blipFill>
          <a:blip r:embed="rId4"/>
          <a:srcRect/>
          <a:stretch>
            <a:fillRect/>
          </a:stretch>
        </p:blipFill>
        <p:spPr>
          <a:xfrm>
            <a:off x="6477000" y="1905000"/>
            <a:ext cx="812800" cy="812800"/>
          </a:xfrm>
          <a:prstGeom prst="rect">
            <a:avLst/>
          </a:prstGeom>
          <a:ln w="12700" cap="flat" cmpd="sng">
            <a:noFill/>
            <a:prstDash val="solid"/>
            <a:round/>
          </a:ln>
        </p:spPr>
      </p:pic>
      <p:sp>
        <p:nvSpPr>
          <p:cNvPr id="12" name="AutoShape 12"/>
          <p:cNvSpPr/>
          <p:nvPr/>
        </p:nvSpPr>
        <p:spPr>
          <a:xfrm>
            <a:off x="7493000" y="1905000"/>
            <a:ext cx="4355917"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Empowering Scientific Computing</a:t>
            </a:r>
            <a:endParaRPr lang="en-US" sz="1100"/>
          </a:p>
        </p:txBody>
      </p:sp>
      <p:sp>
        <p:nvSpPr>
          <p:cNvPr id="13" name="AutoShape 13"/>
          <p:cNvSpPr/>
          <p:nvPr/>
        </p:nvSpPr>
        <p:spPr>
          <a:xfrm>
            <a:off x="7493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In the fields of large-scale parallel computing such as AI model training and fluid dynamics simulation, it significantly accelerates the computational process, shortens research cycles, and enhances scientific research efficiency.</a:t>
            </a:r>
            <a:endParaRPr lang="en-US" sz="1100"/>
          </a:p>
        </p:txBody>
      </p:sp>
      <p:sp>
        <p:nvSpPr>
          <p:cNvPr id="14" name="AutoShape 14"/>
          <p:cNvSpPr/>
          <p:nvPr/>
        </p:nvSpPr>
        <p:spPr>
          <a:xfrm>
            <a:off x="762000" y="419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5" name="Picture 15"/>
          <p:cNvPicPr>
            <a:picLocks noChangeAspect="1"/>
          </p:cNvPicPr>
          <p:nvPr/>
        </p:nvPicPr>
        <p:blipFill>
          <a:blip r:embed="rId5"/>
          <a:srcRect/>
          <a:stretch>
            <a:fillRect/>
          </a:stretch>
        </p:blipFill>
        <p:spPr>
          <a:xfrm>
            <a:off x="1016000" y="4445000"/>
            <a:ext cx="812800" cy="812800"/>
          </a:xfrm>
          <a:prstGeom prst="rect">
            <a:avLst/>
          </a:prstGeom>
          <a:ln w="12700" cap="flat" cmpd="sng">
            <a:noFill/>
            <a:prstDash val="solid"/>
            <a:round/>
          </a:ln>
        </p:spPr>
      </p:pic>
      <p:sp>
        <p:nvSpPr>
          <p:cNvPr id="16" name="AutoShape 16"/>
          <p:cNvSpPr/>
          <p:nvPr/>
        </p:nvSpPr>
        <p:spPr>
          <a:xfrm>
            <a:off x="2032000" y="4445000"/>
            <a:ext cx="4355917"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Hardware Adaptation Automation</a:t>
            </a:r>
            <a:endParaRPr lang="en-US" sz="1100"/>
          </a:p>
        </p:txBody>
      </p:sp>
      <p:sp>
        <p:nvSpPr>
          <p:cNvPr id="17" name="AutoShape 17"/>
          <p:cNvSpPr/>
          <p:nvPr/>
        </p:nvSpPr>
        <p:spPr>
          <a:xfrm>
            <a:off x="2032000" y="482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Targeting the new GPU architecture broussonetia papyrifera to rapidly generate optimized code, significantly shortening the software ecosystem adaptation cycle for new hardware and accelerating the industrial adoption of cutting-edge technologies.</a:t>
            </a:r>
            <a:endParaRPr lang="en-US" sz="1100"/>
          </a:p>
        </p:txBody>
      </p:sp>
      <p:sp>
        <p:nvSpPr>
          <p:cNvPr id="18" name="AutoShape 18"/>
          <p:cNvSpPr/>
          <p:nvPr/>
        </p:nvSpPr>
        <p:spPr>
          <a:xfrm>
            <a:off x="6223000" y="419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9" name="Picture 19"/>
          <p:cNvPicPr>
            <a:picLocks noChangeAspect="1"/>
          </p:cNvPicPr>
          <p:nvPr/>
        </p:nvPicPr>
        <p:blipFill>
          <a:blip r:embed="rId6"/>
          <a:srcRect/>
          <a:stretch>
            <a:fillRect/>
          </a:stretch>
        </p:blipFill>
        <p:spPr>
          <a:xfrm>
            <a:off x="6477000" y="4445000"/>
            <a:ext cx="812800" cy="812800"/>
          </a:xfrm>
          <a:prstGeom prst="rect">
            <a:avLst/>
          </a:prstGeom>
          <a:ln w="12700">
            <a:noFill/>
            <a:prstDash val="solid"/>
          </a:ln>
        </p:spPr>
      </p:pic>
      <p:sp>
        <p:nvSpPr>
          <p:cNvPr id="20" name="AutoShape 20"/>
          <p:cNvSpPr/>
          <p:nvPr/>
        </p:nvSpPr>
        <p:spPr>
          <a:xfrm>
            <a:off x="7493000" y="4445000"/>
            <a:ext cx="3627692"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Promote hardware-software co-design</a:t>
            </a:r>
            <a:endParaRPr lang="en-US" sz="1100"/>
          </a:p>
        </p:txBody>
      </p:sp>
      <p:sp>
        <p:nvSpPr>
          <p:cNvPr id="21" name="AutoShape 21"/>
          <p:cNvSpPr/>
          <p:nvPr/>
        </p:nvSpPr>
        <p:spPr>
          <a:xfrm>
            <a:off x="7493000" y="482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AI-driven code generation technology will reciprocally benefit hardware architecture broussonetia papyrifera design, making hardware designs more amenable to AI optimization and fostering a virtuous cycle of software-hardware co-evolution.</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p:nvPr/>
        </p:nvSpPr>
        <p:spPr>
          <a:xfrm>
            <a:off x="762000" y="441325"/>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Summary and Outlook</a:t>
            </a:r>
            <a:endParaRPr lang="en-US" sz="1100"/>
          </a:p>
        </p:txBody>
      </p:sp>
      <p:sp>
        <p:nvSpPr>
          <p:cNvPr id="5" name="AutoShape 5"/>
          <p:cNvSpPr/>
          <p:nvPr/>
        </p:nvSpPr>
        <p:spPr>
          <a:xfrm>
            <a:off x="762000" y="1397000"/>
            <a:ext cx="5143500" cy="4953000"/>
          </a:xfrm>
          <a:prstGeom prst="roundRect">
            <a:avLst>
              <a:gd name="adj" fmla="val 25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3"/>
          <a:srcRect/>
          <a:stretch>
            <a:fillRect/>
          </a:stretch>
        </p:blipFill>
        <p:spPr>
          <a:xfrm>
            <a:off x="1016000" y="1651000"/>
            <a:ext cx="355600" cy="355600"/>
          </a:xfrm>
          <a:prstGeom prst="rect">
            <a:avLst/>
          </a:prstGeom>
          <a:ln w="12700">
            <a:noFill/>
            <a:prstDash val="solid"/>
          </a:ln>
        </p:spPr>
      </p:pic>
      <p:sp>
        <p:nvSpPr>
          <p:cNvPr id="7" name="AutoShape 7"/>
          <p:cNvSpPr/>
          <p:nvPr/>
        </p:nvSpPr>
        <p:spPr>
          <a:xfrm>
            <a:off x="1460500" y="1625600"/>
            <a:ext cx="3810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83000"/>
              </a:lnSpc>
              <a:defRPr/>
            </a:pPr>
            <a:r>
              <a:rPr lang="en-US" sz="20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Review: Current Status and Transformation</a:t>
            </a:r>
            <a:endParaRPr lang="en-US" sz="1100"/>
          </a:p>
        </p:txBody>
      </p:sp>
      <p:cxnSp>
        <p:nvCxnSpPr>
          <p:cNvPr id="8" name="Connector 8"/>
          <p:cNvCxnSpPr/>
          <p:nvPr/>
        </p:nvCxnSpPr>
        <p:spPr>
          <a:xfrm rot="-9418">
            <a:off x="1016009" y="2089150"/>
            <a:ext cx="4635500" cy="12700"/>
          </a:xfrm>
          <a:prstGeom prst="straightConnector1">
            <a:avLst/>
          </a:prstGeom>
          <a:solidFill>
            <a:srgbClr val="DEE0E3">
              <a:alpha val="100000"/>
            </a:srgbClr>
          </a:solidFill>
          <a:ln w="12700" cap="flat" cmpd="sng">
            <a:solidFill>
              <a:srgbClr val="FCA5A5">
                <a:alpha val="100000"/>
              </a:srgbClr>
            </a:solidFill>
            <a:prstDash val="solid"/>
            <a:round/>
            <a:headEnd type="none" w="med" len="med"/>
            <a:tailEnd type="none" w="med" len="med"/>
          </a:ln>
        </p:spPr>
      </p:cxnSp>
      <p:pic>
        <p:nvPicPr>
          <p:cNvPr id="9" name="Picture 9"/>
          <p:cNvPicPr>
            <a:picLocks noChangeAspect="1"/>
          </p:cNvPicPr>
          <p:nvPr/>
        </p:nvPicPr>
        <p:blipFill>
          <a:blip r:embed="rId4"/>
          <a:srcRect/>
          <a:stretch>
            <a:fillRect/>
          </a:stretch>
        </p:blipFill>
        <p:spPr>
          <a:xfrm>
            <a:off x="1016012" y="2495156"/>
            <a:ext cx="304800" cy="304800"/>
          </a:xfrm>
          <a:prstGeom prst="rect">
            <a:avLst/>
          </a:prstGeom>
          <a:ln w="12700">
            <a:noFill/>
            <a:prstDash val="solid"/>
          </a:ln>
        </p:spPr>
      </p:pic>
      <p:sp>
        <p:nvSpPr>
          <p:cNvPr id="10" name="AutoShape 10"/>
          <p:cNvSpPr/>
          <p:nvPr/>
        </p:nvSpPr>
        <p:spPr>
          <a:xfrm>
            <a:off x="1397000" y="2324100"/>
            <a:ext cx="4254500" cy="657523"/>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Efficiency revolution: AI-assisted programming is irreversible</a:t>
            </a:r>
            <a:endParaRPr lang="en-US" sz="1100"/>
          </a:p>
        </p:txBody>
      </p:sp>
      <p:pic>
        <p:nvPicPr>
          <p:cNvPr id="11" name="Picture 11"/>
          <p:cNvPicPr>
            <a:picLocks noChangeAspect="1"/>
          </p:cNvPicPr>
          <p:nvPr/>
        </p:nvPicPr>
        <p:blipFill>
          <a:blip r:embed="rId5"/>
          <a:srcRect/>
          <a:stretch>
            <a:fillRect/>
          </a:stretch>
        </p:blipFill>
        <p:spPr>
          <a:xfrm>
            <a:off x="1016000" y="3302000"/>
            <a:ext cx="304800" cy="304800"/>
          </a:xfrm>
          <a:prstGeom prst="rect">
            <a:avLst/>
          </a:prstGeom>
          <a:ln w="12700">
            <a:noFill/>
            <a:prstDash val="solid"/>
          </a:ln>
        </p:spPr>
      </p:pic>
      <p:sp>
        <p:nvSpPr>
          <p:cNvPr id="12" name="AutoShape 12"/>
          <p:cNvSpPr/>
          <p:nvPr/>
        </p:nvSpPr>
        <p:spPr>
          <a:xfrm>
            <a:off x="1397000" y="32766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General-purpose and specialized applications go hand in hand: a dual-track parallel approach</a:t>
            </a:r>
            <a:endParaRPr lang="en-US" sz="1100"/>
          </a:p>
        </p:txBody>
      </p:sp>
      <p:pic>
        <p:nvPicPr>
          <p:cNvPr id="13" name="Picture 13"/>
          <p:cNvPicPr>
            <a:picLocks noChangeAspect="1"/>
          </p:cNvPicPr>
          <p:nvPr/>
        </p:nvPicPr>
        <p:blipFill>
          <a:blip r:embed="rId6"/>
          <a:srcRect/>
          <a:stretch>
            <a:fillRect/>
          </a:stretch>
        </p:blipFill>
        <p:spPr>
          <a:xfrm>
            <a:off x="1016000" y="4254500"/>
            <a:ext cx="304800" cy="304800"/>
          </a:xfrm>
          <a:prstGeom prst="rect">
            <a:avLst/>
          </a:prstGeom>
          <a:ln w="12700">
            <a:noFill/>
            <a:prstDash val="solid"/>
          </a:ln>
        </p:spPr>
      </p:pic>
      <p:sp>
        <p:nvSpPr>
          <p:cNvPr id="14" name="AutoShape 14"/>
          <p:cNvSpPr/>
          <p:nvPr/>
        </p:nvSpPr>
        <p:spPr>
          <a:xfrm>
            <a:off x="1397000" y="42291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Homo sapiens-machine collaboration new paradigm: role transformation</a:t>
            </a:r>
            <a:endParaRPr lang="en-US" sz="1100"/>
          </a:p>
        </p:txBody>
      </p:sp>
      <p:sp>
        <p:nvSpPr>
          <p:cNvPr id="15" name="AutoShape 15"/>
          <p:cNvSpPr/>
          <p:nvPr/>
        </p:nvSpPr>
        <p:spPr>
          <a:xfrm>
            <a:off x="6286500" y="1397000"/>
            <a:ext cx="5143500" cy="4953000"/>
          </a:xfrm>
          <a:prstGeom prst="roundRect">
            <a:avLst>
              <a:gd name="adj" fmla="val 2564"/>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6" name="Picture 16"/>
          <p:cNvPicPr>
            <a:picLocks noChangeAspect="1"/>
          </p:cNvPicPr>
          <p:nvPr/>
        </p:nvPicPr>
        <p:blipFill>
          <a:blip r:embed="rId7"/>
          <a:srcRect/>
          <a:stretch>
            <a:fillRect/>
          </a:stretch>
        </p:blipFill>
        <p:spPr>
          <a:xfrm>
            <a:off x="6540500" y="1651000"/>
            <a:ext cx="355600" cy="355600"/>
          </a:xfrm>
          <a:prstGeom prst="rect">
            <a:avLst/>
          </a:prstGeom>
          <a:ln w="12700">
            <a:noFill/>
            <a:prstDash val="solid"/>
          </a:ln>
        </p:spPr>
      </p:pic>
      <p:sp>
        <p:nvSpPr>
          <p:cNvPr id="17" name="AutoShape 17"/>
          <p:cNvSpPr/>
          <p:nvPr/>
        </p:nvSpPr>
        <p:spPr>
          <a:xfrm>
            <a:off x="6985000" y="1625600"/>
            <a:ext cx="3810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83000"/>
              </a:lnSpc>
              <a:defRPr/>
            </a:pPr>
            <a:r>
              <a:rPr lang="en-US" sz="20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Future Outlook: Trends and Possibilities</a:t>
            </a:r>
            <a:endParaRPr lang="en-US" sz="1100"/>
          </a:p>
        </p:txBody>
      </p:sp>
      <p:cxnSp>
        <p:nvCxnSpPr>
          <p:cNvPr id="18" name="Connector 18"/>
          <p:cNvCxnSpPr/>
          <p:nvPr/>
        </p:nvCxnSpPr>
        <p:spPr>
          <a:xfrm rot="-9418">
            <a:off x="6540509" y="2089150"/>
            <a:ext cx="46355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pic>
        <p:nvPicPr>
          <p:cNvPr id="19" name="Picture 19"/>
          <p:cNvPicPr>
            <a:picLocks noChangeAspect="1"/>
          </p:cNvPicPr>
          <p:nvPr/>
        </p:nvPicPr>
        <p:blipFill>
          <a:blip r:embed="rId8"/>
          <a:srcRect/>
          <a:stretch>
            <a:fillRect/>
          </a:stretch>
        </p:blipFill>
        <p:spPr>
          <a:xfrm>
            <a:off x="6540500" y="2349500"/>
            <a:ext cx="304800" cy="304800"/>
          </a:xfrm>
          <a:prstGeom prst="rect">
            <a:avLst/>
          </a:prstGeom>
          <a:ln w="12700">
            <a:noFill/>
            <a:prstDash val="solid"/>
          </a:ln>
        </p:spPr>
      </p:pic>
      <p:sp>
        <p:nvSpPr>
          <p:cNvPr id="20" name="AutoShape 20"/>
          <p:cNvSpPr/>
          <p:nvPr/>
        </p:nvSpPr>
        <p:spPr>
          <a:xfrm>
            <a:off x="6921500" y="2324100"/>
            <a:ext cx="4641658"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Smarter collaboration: in-depth interaction</a:t>
            </a:r>
            <a:endParaRPr lang="en-US" sz="1100"/>
          </a:p>
        </p:txBody>
      </p:sp>
      <p:pic>
        <p:nvPicPr>
          <p:cNvPr id="21" name="Picture 21"/>
          <p:cNvPicPr>
            <a:picLocks noChangeAspect="1"/>
          </p:cNvPicPr>
          <p:nvPr/>
        </p:nvPicPr>
        <p:blipFill>
          <a:blip r:embed="rId9"/>
          <a:srcRect/>
          <a:stretch>
            <a:fillRect/>
          </a:stretch>
        </p:blipFill>
        <p:spPr>
          <a:xfrm>
            <a:off x="6540500" y="3302000"/>
            <a:ext cx="304800" cy="304800"/>
          </a:xfrm>
          <a:prstGeom prst="rect">
            <a:avLst/>
          </a:prstGeom>
          <a:ln w="12700">
            <a:noFill/>
            <a:prstDash val="solid"/>
          </a:ln>
        </p:spPr>
      </p:pic>
      <p:sp>
        <p:nvSpPr>
          <p:cNvPr id="22" name="AutoShape 22"/>
          <p:cNvSpPr/>
          <p:nvPr/>
        </p:nvSpPr>
        <p:spPr>
          <a:xfrm>
            <a:off x="6921500" y="32766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Vertical domain deepening: industry customization</a:t>
            </a:r>
            <a:endParaRPr lang="en-US" sz="1100"/>
          </a:p>
        </p:txBody>
      </p:sp>
      <p:pic>
        <p:nvPicPr>
          <p:cNvPr id="23" name="Picture 23"/>
          <p:cNvPicPr>
            <a:picLocks noChangeAspect="1"/>
          </p:cNvPicPr>
          <p:nvPr/>
        </p:nvPicPr>
        <p:blipFill>
          <a:blip r:embed="rId10"/>
          <a:srcRect/>
          <a:stretch>
            <a:fillRect/>
          </a:stretch>
        </p:blipFill>
        <p:spPr>
          <a:xfrm>
            <a:off x="6540500" y="4254500"/>
            <a:ext cx="304800" cy="304800"/>
          </a:xfrm>
          <a:prstGeom prst="rect">
            <a:avLst/>
          </a:prstGeom>
          <a:ln w="12700">
            <a:noFill/>
            <a:prstDash val="solid"/>
          </a:ln>
        </p:spPr>
      </p:pic>
      <p:sp>
        <p:nvSpPr>
          <p:cNvPr id="24" name="AutoShape 24"/>
          <p:cNvSpPr/>
          <p:nvPr/>
        </p:nvSpPr>
        <p:spPr>
          <a:xfrm>
            <a:off x="6921500" y="42291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Independent programming exploration: high-level automation</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p>
        </p:txBody>
      </p:sp>
      <p:pic>
        <p:nvPicPr>
          <p:cNvPr id="3" name="Picture 3"/>
          <p:cNvPicPr>
            <a:picLocks noChangeAspect="1"/>
          </p:cNvPicPr>
          <p:nvPr/>
        </p:nvPicPr>
        <p:blipFill>
          <a:blip r:embed="rId2"/>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7"/>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1" tooltip="https://flagos.io/Home"/>
              </a:rPr>
              <a:t>https://flagos.io/Home</a:t>
            </a:r>
            <a:endParaRPr lang="en-US" sz="1100"/>
          </a:p>
        </p:txBody>
      </p:sp>
      <p:pic>
        <p:nvPicPr>
          <p:cNvPr id="18" name="Picture 18"/>
          <p:cNvPicPr>
            <a:picLocks noChangeAspect="1"/>
          </p:cNvPicPr>
          <p:nvPr/>
        </p:nvPicPr>
        <p:blipFill>
          <a:blip r:embed="rId12"/>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3"/>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2"/>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1386</Words>
  <Application>Microsoft Office PowerPoint</Application>
  <PresentationFormat>宽屏</PresentationFormat>
  <Paragraphs>243</Paragraphs>
  <Slides>22</Slides>
  <Notes>17</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22</vt:i4>
      </vt:variant>
    </vt:vector>
  </HeadingPairs>
  <TitlesOfParts>
    <vt:vector size="33" baseType="lpstr">
      <vt:lpstr>Noto Sans SC</vt:lpstr>
      <vt:lpstr>Pretendard</vt:lpstr>
      <vt:lpstr>等线</vt:lpstr>
      <vt:lpstr>微软雅黑</vt:lpstr>
      <vt:lpstr>Arial</vt:lpstr>
      <vt:lpstr>Calibri</vt:lpstr>
      <vt:lpstr>Calibri Light</vt:lpstr>
      <vt:lpstr>Garamond</vt:lpstr>
      <vt:lpstr>Montserrat SemiBold</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Xiang Li</cp:lastModifiedBy>
  <cp:revision>27</cp:revision>
  <dcterms:created xsi:type="dcterms:W3CDTF">2026-04-24T01:53:00Z</dcterms:created>
  <dcterms:modified xsi:type="dcterms:W3CDTF">2026-05-27T10:19:18Z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3BE014298C8173DBA087E969CE223784_42</vt:lpwstr>
  </property>
  <property fmtid="{D5CDD505-2E9C-101B-9397-08002B2CF9AE}" pid="3" name="KSOProductBuildVer">
    <vt:lpwstr>2052-12.1.0.21915</vt:lpwstr>
  </property>
</Properties>
</file>