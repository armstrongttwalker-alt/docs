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2"/>
  </p:notesMasterIdLst>
  <p:sldIdLst>
    <p:sldId id="256" r:id="rId3"/>
    <p:sldId id="415" r:id="rId4"/>
    <p:sldId id="416" r:id="rId5"/>
    <p:sldId id="417" r:id="rId6"/>
    <p:sldId id="418" r:id="rId7"/>
    <p:sldId id="419" r:id="rId8"/>
    <p:sldId id="420" r:id="rId9"/>
    <p:sldId id="421" r:id="rId10"/>
    <p:sldId id="422" r:id="rId11"/>
    <p:sldId id="423" r:id="rId12"/>
    <p:sldId id="424" r:id="rId13"/>
    <p:sldId id="425" r:id="rId14"/>
    <p:sldId id="426" r:id="rId15"/>
    <p:sldId id="427" r:id="rId16"/>
    <p:sldId id="428" r:id="rId17"/>
    <p:sldId id="429" r:id="rId18"/>
    <p:sldId id="365" r:id="rId19"/>
    <p:sldId id="366" r:id="rId20"/>
    <p:sldId id="322"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6.jpeg"/><Relationship Id="rId2" Type="http://schemas.openxmlformats.org/officeDocument/2006/relationships/image" Target="../media/image20.png"/><Relationship Id="rId1" Type="http://schemas.openxmlformats.org/officeDocument/2006/relationships/slideLayout" Target="../slideLayouts/slideLayout17.xml"/><Relationship Id="rId6" Type="http://schemas.openxmlformats.org/officeDocument/2006/relationships/image" Target="../media/image24.png"/><Relationship Id="rId11" Type="http://schemas.openxmlformats.org/officeDocument/2006/relationships/hyperlink" Target="https://flagos.io/Home" TargetMode="External"/><Relationship Id="rId5" Type="http://schemas.openxmlformats.org/officeDocument/2006/relationships/image" Target="../media/image23.png"/><Relationship Id="rId10" Type="http://schemas.openxmlformats.org/officeDocument/2006/relationships/hyperlink" Target="https://www.zhihu.com/people/95-22-20-18/posts" TargetMode="External"/><Relationship Id="rId4" Type="http://schemas.openxmlformats.org/officeDocument/2006/relationships/image" Target="../media/image22.png"/><Relationship Id="rId9" Type="http://schemas.openxmlformats.org/officeDocument/2006/relationships/hyperlink" Target="https://space.bilibili.com/3546791834290849"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39: In-Depth Operator Performance Profiling Lab</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Architecture</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model</a:t>
            </a:r>
          </a:p>
          <a:p>
            <a:pPr marL="647700" lvl="1" indent="-3048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execution without/with batched thread groups</a:t>
            </a:r>
          </a:p>
          <a:p>
            <a:pPr marL="647700" lvl="1" indent="-3048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Single-instruction multiple threads (SIMT) </a:t>
            </a:r>
          </a:p>
          <a:p>
            <a:pPr marL="647700" lvl="1" indent="-3048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Hierachical thread execution model</a:t>
            </a: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5" name="Picture 5"/>
          <p:cNvPicPr>
            <a:picLocks noChangeAspect="1"/>
          </p:cNvPicPr>
          <p:nvPr/>
        </p:nvPicPr>
        <p:blipFill>
          <a:blip r:embed="rId2"/>
          <a:srcRect/>
          <a:stretch>
            <a:fillRect/>
          </a:stretch>
        </p:blipFill>
        <p:spPr>
          <a:xfrm>
            <a:off x="5814695" y="2959735"/>
            <a:ext cx="5760000" cy="3070468"/>
          </a:xfrm>
          <a:prstGeom prst="rect">
            <a:avLst/>
          </a:prstGeom>
          <a:ln w="12700">
            <a:noFill/>
            <a:prstDash val="solid"/>
          </a:ln>
        </p:spPr>
      </p:pic>
      <p:pic>
        <p:nvPicPr>
          <p:cNvPr id="6" name="Picture 6"/>
          <p:cNvPicPr>
            <a:picLocks noChangeAspect="1"/>
          </p:cNvPicPr>
          <p:nvPr/>
        </p:nvPicPr>
        <p:blipFill>
          <a:blip r:embed="rId3"/>
          <a:srcRect/>
          <a:stretch>
            <a:fillRect/>
          </a:stretch>
        </p:blipFill>
        <p:spPr>
          <a:xfrm>
            <a:off x="984250" y="3527425"/>
            <a:ext cx="4320000" cy="193396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Registers</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availability of registers is one of the major limiting factor for larger kernels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 Consider a GPU with 16384 registers per SM running a kernel that requires 35 registers per thread </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Each SM can execute at most 468 threads</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This affects the choice of block size</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 block size of 512 is not possible</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Only 1 block of 256 threads is allowed at a time, even though 212 more threads could be running</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3 blockss of 128 threads are allowed, providing 384 threads to be scheduled, etc.</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Registers</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another example: </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A GPU has 16384 registers per SM</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The block size of a kernel is fixed at 256 threads</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The kernel currently requires 17 registers per thread</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Given the information, each block requires 4352 registers</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This allows for 3 active blocks if registers are the only limiting factor</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the code can be restructured to only use 16 registers, then 4 active blocks would be possible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Shared Memory</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GPUs have a limited amount of shared memory on each SM</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tens or a hundred KB of shared memory on recent GPUs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limits the number of active blocks per SM</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Depending on the kernel, the data per block may be fixed regardless of number of threads (e.g., histograms), or may vary based on the number of threads (e.g., matrix multiplication, convolution)</a:t>
            </a: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Threads</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GPUs have hardware limitations on the maximum number of threads per block</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256 threads per block on AMD GPUs</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512 threads per block on NVIDIA GPUs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GPUs have per-SM limits on the number of active threads and blocks (depending on the GPU model)</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for example, 768 or 1024 threads per SM</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for example, 8 or 16 warps per SM</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AMD GPUs have GPU-wide limits on the number of wavefronts</a:t>
            </a: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496 wavefronts on the 5870 GPU (~25 wavefronts or ~1600 threads per compute unit)</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Limiting Factors</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minimum of these three factors is what limits the active number of threads (or occupancy) of a compute unit </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interactions between the factors are complex</a:t>
            </a:r>
          </a:p>
          <a:p>
            <a:pPr marL="647700" lvl="1" indent="-3048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The limiting factor may have either thread or wavefront granularity</a:t>
            </a:r>
          </a:p>
          <a:p>
            <a:pPr marL="647700" lvl="1" indent="-3048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Changing work group size may affect register or shared memory usage</a:t>
            </a:r>
          </a:p>
          <a:p>
            <a:pPr marL="647700" lvl="1" indent="-3048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Reducing any factor (such as register usage) slightly may have allow another work group to be active</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Nsight occupancy calculator from NVIDIA plots these factors visually allowing the tradeoffs to be visualized</a:t>
            </a:r>
          </a:p>
        </p:txBody>
      </p:sp>
      <p:pic>
        <p:nvPicPr>
          <p:cNvPr id="5" name="Picture 5"/>
          <p:cNvPicPr>
            <a:picLocks noChangeAspect="1"/>
          </p:cNvPicPr>
          <p:nvPr/>
        </p:nvPicPr>
        <p:blipFill>
          <a:blip r:embed="rId2"/>
          <a:srcRect/>
          <a:stretch>
            <a:fillRect/>
          </a:stretch>
        </p:blipFill>
        <p:spPr>
          <a:xfrm>
            <a:off x="7623175" y="4791075"/>
            <a:ext cx="3486150" cy="188595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Tradeoffs</a:t>
            </a:r>
          </a:p>
        </p:txBody>
      </p:sp>
      <p:sp>
        <p:nvSpPr>
          <p:cNvPr id="4" name="AutoShape 4"/>
          <p:cNvSpPr>
            <a:spLocks noGrp="1"/>
          </p:cNvSpPr>
          <p:nvPr>
            <p:ph type="body" sz="quarter" idx="9" hasCustomPrompt="1"/>
          </p:nvPr>
        </p:nvSpPr>
        <p:spPr>
          <a:xfrm>
            <a:off x="523875" y="1323975"/>
            <a:ext cx="8452485" cy="485330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and registers are persistent within SM when other warps execute</a:t>
            </a:r>
          </a:p>
          <a:p>
            <a:pPr marL="647700" lvl="1" indent="-304800" algn="l">
              <a:lnSpc>
                <a:spcPct val="92000"/>
              </a:lnSpc>
              <a:spcBef>
                <a:spcPts val="75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Allows for lower overhead context switch</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active warps that can be supported per SM is limited</a:t>
            </a:r>
          </a:p>
          <a:p>
            <a:pPr marL="647700" lvl="1" indent="-304800" algn="l">
              <a:lnSpc>
                <a:spcPct val="92000"/>
              </a:lnSpc>
              <a:spcBef>
                <a:spcPts val="75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Decided by the </a:t>
            </a:r>
            <a:r>
              <a:rPr lang="en-US" sz="2400" b="0" i="0" u="sng" strike="noStrike">
                <a:solidFill>
                  <a:srgbClr val="404040"/>
                </a:solidFill>
                <a:latin typeface="Calibri" panose="020F0502020204030204"/>
                <a:ea typeface="Calibri" panose="020F0502020204030204"/>
                <a:cs typeface="Calibri" panose="020F0502020204030204"/>
                <a:sym typeface="Calibri" panose="020F0502020204030204"/>
              </a:rPr>
              <a:t>shared memory per block</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and </a:t>
            </a:r>
            <a:r>
              <a:rPr lang="en-US" sz="2400" b="0" i="0" u="sng" strike="noStrike">
                <a:solidFill>
                  <a:srgbClr val="404040"/>
                </a:solidFill>
                <a:latin typeface="Calibri" panose="020F0502020204030204"/>
                <a:ea typeface="Calibri" panose="020F0502020204030204"/>
                <a:cs typeface="Calibri" panose="020F0502020204030204"/>
                <a:sym typeface="Calibri" panose="020F0502020204030204"/>
              </a:rPr>
              <a:t>register usage per thread</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active warps possible on an SM can be expressed using a metric called utilization</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Larger numbers of active warps allow for better latency hiding on both NV and AMD hardware</a:t>
            </a:r>
          </a:p>
        </p:txBody>
      </p:sp>
      <p:pic>
        <p:nvPicPr>
          <p:cNvPr id="5" name="Picture 5"/>
          <p:cNvPicPr>
            <a:picLocks noChangeAspect="1"/>
          </p:cNvPicPr>
          <p:nvPr/>
        </p:nvPicPr>
        <p:blipFill>
          <a:blip r:embed="rId2"/>
          <a:srcRect/>
          <a:stretch>
            <a:fillRect/>
          </a:stretch>
        </p:blipFill>
        <p:spPr>
          <a:xfrm>
            <a:off x="9150350" y="1370330"/>
            <a:ext cx="2520000" cy="411793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 kernel profiler.</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Curates performance statistics into targeted metrics.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Able to select amount of data to collect and how it’s presented</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Fully featured Command Line and User Friendly GUI interfaces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5" name="Picture 5"/>
          <p:cNvPicPr>
            <a:picLocks noChangeAspect="1"/>
          </p:cNvPicPr>
          <p:nvPr/>
        </p:nvPicPr>
        <p:blipFill>
          <a:blip r:embed="rId2"/>
          <a:srcRect/>
          <a:stretch>
            <a:fillRect/>
          </a:stretch>
        </p:blipFill>
        <p:spPr>
          <a:xfrm>
            <a:off x="2228850" y="3741420"/>
            <a:ext cx="7734300" cy="261493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CLI Options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5" name="Picture 5"/>
          <p:cNvPicPr>
            <a:picLocks noChangeAspect="1"/>
          </p:cNvPicPr>
          <p:nvPr/>
        </p:nvPicPr>
        <p:blipFill>
          <a:blip r:embed="rId2"/>
          <a:srcRect/>
          <a:stretch>
            <a:fillRect/>
          </a:stretch>
        </p:blipFill>
        <p:spPr>
          <a:xfrm>
            <a:off x="523875" y="2557780"/>
            <a:ext cx="5751195" cy="1214755"/>
          </a:xfrm>
          <a:prstGeom prst="rect">
            <a:avLst/>
          </a:prstGeom>
          <a:ln w="12700">
            <a:noFill/>
            <a:prstDash val="solid"/>
          </a:ln>
        </p:spPr>
      </p:pic>
      <p:pic>
        <p:nvPicPr>
          <p:cNvPr id="6" name="Picture 6"/>
          <p:cNvPicPr>
            <a:picLocks noChangeAspect="1"/>
          </p:cNvPicPr>
          <p:nvPr/>
        </p:nvPicPr>
        <p:blipFill>
          <a:blip r:embed="rId3"/>
          <a:srcRect/>
          <a:stretch>
            <a:fillRect/>
          </a:stretch>
        </p:blipFill>
        <p:spPr>
          <a:xfrm>
            <a:off x="523875" y="3772535"/>
            <a:ext cx="5295265" cy="1522730"/>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6275070" y="2571115"/>
            <a:ext cx="5321935" cy="2656840"/>
          </a:xfrm>
          <a:prstGeom prst="rect">
            <a:avLst/>
          </a:prstGeom>
          <a:ln w="12700">
            <a:noFill/>
            <a:prstDash val="solid"/>
          </a:ln>
        </p:spPr>
      </p:pic>
      <p:sp>
        <p:nvSpPr>
          <p:cNvPr id="8" name="AutoShape 8"/>
          <p:cNvSpPr/>
          <p:nvPr/>
        </p:nvSpPr>
        <p:spPr>
          <a:xfrm>
            <a:off x="6096000" y="1323975"/>
            <a:ext cx="589343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GPU Speed of Light</a:t>
            </a:r>
            <a:endParaRPr lang="en-US" sz="1100"/>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Roofline Analysis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
        <p:nvSpPr>
          <p:cNvPr id="5" name="AutoShape 5"/>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Memory Workload Analysis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523875" y="2514600"/>
            <a:ext cx="5306060" cy="312483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115050" y="2549525"/>
            <a:ext cx="5641975" cy="308991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p>
        </p:txBody>
      </p:sp>
      <p:sp>
        <p:nvSpPr>
          <p:cNvPr id="4" name="AutoShape 4"/>
          <p:cNvSpPr>
            <a:spLocks noGrp="1"/>
          </p:cNvSpPr>
          <p:nvPr>
            <p:ph type="body" sz="quarter" idx="12" hasCustomPrompt="1"/>
          </p:nvPr>
        </p:nvSpPr>
        <p:spPr>
          <a:xfrm>
            <a:off x="523875" y="1323975"/>
            <a:ext cx="106324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Source/SASS and Instruction Hotspots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5" name="Picture 5"/>
          <p:cNvPicPr>
            <a:picLocks noChangeAspect="1"/>
          </p:cNvPicPr>
          <p:nvPr/>
        </p:nvPicPr>
        <p:blipFill>
          <a:blip r:embed="rId2"/>
          <a:srcRect/>
          <a:stretch>
            <a:fillRect/>
          </a:stretch>
        </p:blipFill>
        <p:spPr>
          <a:xfrm>
            <a:off x="1016000" y="2025650"/>
            <a:ext cx="7567930" cy="429704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 Profiling Report Example (1/3)</a:t>
            </a:r>
          </a:p>
        </p:txBody>
      </p:sp>
      <p:pic>
        <p:nvPicPr>
          <p:cNvPr id="4" name="Picture 4"/>
          <p:cNvPicPr>
            <a:picLocks noChangeAspect="1"/>
          </p:cNvPicPr>
          <p:nvPr/>
        </p:nvPicPr>
        <p:blipFill>
          <a:blip r:embed="rId2"/>
          <a:srcRect/>
          <a:stretch>
            <a:fillRect/>
          </a:stretch>
        </p:blipFill>
        <p:spPr>
          <a:xfrm>
            <a:off x="402590" y="1913890"/>
            <a:ext cx="11520000" cy="3673694"/>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 Profiling Report Example (2/3)</a:t>
            </a:r>
          </a:p>
        </p:txBody>
      </p:sp>
      <p:pic>
        <p:nvPicPr>
          <p:cNvPr id="4" name="Picture 4"/>
          <p:cNvPicPr>
            <a:picLocks noChangeAspect="1"/>
          </p:cNvPicPr>
          <p:nvPr/>
        </p:nvPicPr>
        <p:blipFill>
          <a:blip r:embed="rId2"/>
          <a:srcRect/>
          <a:stretch>
            <a:fillRect/>
          </a:stretch>
        </p:blipFill>
        <p:spPr>
          <a:xfrm>
            <a:off x="2022475" y="1323975"/>
            <a:ext cx="8280000" cy="518107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 Profiling Report Example (3/3)</a:t>
            </a:r>
          </a:p>
        </p:txBody>
      </p:sp>
      <p:pic>
        <p:nvPicPr>
          <p:cNvPr id="4" name="Picture 4"/>
          <p:cNvPicPr>
            <a:picLocks noChangeAspect="1"/>
          </p:cNvPicPr>
          <p:nvPr/>
        </p:nvPicPr>
        <p:blipFill>
          <a:blip r:embed="rId2"/>
          <a:srcRect/>
          <a:stretch>
            <a:fillRect/>
          </a:stretch>
        </p:blipFill>
        <p:spPr>
          <a:xfrm>
            <a:off x="1955800" y="1323975"/>
            <a:ext cx="8280000" cy="5131964"/>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726</Words>
  <Application>Microsoft Office PowerPoint</Application>
  <PresentationFormat>宽屏</PresentationFormat>
  <Paragraphs>98</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19</vt:i4>
      </vt:variant>
    </vt:vector>
  </HeadingPairs>
  <TitlesOfParts>
    <vt:vector size="29" baseType="lpstr">
      <vt:lpstr>Noto Sans SC</vt:lpstr>
      <vt:lpstr>Pretendard</vt:lpstr>
      <vt:lpstr>微软雅黑</vt:lpstr>
      <vt:lpstr>Arial</vt:lpstr>
      <vt:lpstr>Calibri</vt:lpstr>
      <vt:lpstr>Calibri Light</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27</cp:revision>
  <dcterms:created xsi:type="dcterms:W3CDTF">2026-04-24T01:53:00Z</dcterms:created>
  <dcterms:modified xsi:type="dcterms:W3CDTF">2026-05-27T10:19:14Z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3BE014298C8173DBA087E969CE223784_42</vt:lpwstr>
  </property>
  <property fmtid="{D5CDD505-2E9C-101B-9397-08002B2CF9AE}" pid="3" name="KSOProductBuildVer">
    <vt:lpwstr>2052-12.1.0.21915</vt:lpwstr>
  </property>
</Properties>
</file>